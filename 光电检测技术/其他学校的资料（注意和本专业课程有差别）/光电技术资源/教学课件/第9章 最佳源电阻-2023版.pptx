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vml" ContentType="application/vnd.openxmlformats-officedocument.vmlDrawing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7"/>
  </p:notesMasterIdLst>
  <p:handoutMasterIdLst>
    <p:handoutMasterId r:id="rId8"/>
  </p:handoutMasterIdLst>
  <p:sldIdLst>
    <p:sldId id="342" r:id="rId2"/>
    <p:sldId id="323" r:id="rId3"/>
    <p:sldId id="324" r:id="rId4"/>
    <p:sldId id="343" r:id="rId5"/>
    <p:sldId id="325" r:id="rId6"/>
  </p:sldIdLst>
  <p:sldSz cx="13717588" cy="771525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1pPr>
    <a:lvl2pPr marL="68582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2pPr>
    <a:lvl3pPr marL="13716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3pPr>
    <a:lvl4pPr marL="205746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4pPr>
    <a:lvl5pPr marL="274329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5pPr>
    <a:lvl6pPr marL="3429115" algn="l" defTabSz="1371645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6pPr>
    <a:lvl7pPr marL="4114936" algn="l" defTabSz="1371645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7pPr>
    <a:lvl8pPr marL="4800760" algn="l" defTabSz="1371645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8pPr>
    <a:lvl9pPr marL="5486583" algn="l" defTabSz="1371645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66"/>
    <a:srgbClr val="000000"/>
    <a:srgbClr val="FF00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737" autoAdjust="0"/>
  </p:normalViewPr>
  <p:slideViewPr>
    <p:cSldViewPr>
      <p:cViewPr varScale="1">
        <p:scale>
          <a:sx n="72" d="100"/>
          <a:sy n="72" d="100"/>
        </p:scale>
        <p:origin x="-294" y="-90"/>
      </p:cViewPr>
      <p:guideLst>
        <p:guide orient="horz" pos="2430"/>
        <p:guide pos="43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362" y="-7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6ACBF184-DB0A-4333-BB2D-59222810A4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3926577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79F7CB0A-316D-4F8F-A784-7DC75E23CB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23621738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685823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1371645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2057468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2743291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3429115" algn="l" defTabSz="13716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936" algn="l" defTabSz="13716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760" algn="l" defTabSz="13716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583" algn="l" defTabSz="13716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242209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80" y="309563"/>
            <a:ext cx="12345829" cy="1285875"/>
          </a:xfrm>
          <a:prstGeom prst="rect">
            <a:avLst/>
          </a:prstGeom>
        </p:spPr>
        <p:txBody>
          <a:bodyPr lIns="137169" tIns="68585" rIns="137169" bIns="6858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80" y="1800226"/>
            <a:ext cx="12345829" cy="5091113"/>
          </a:xfrm>
          <a:prstGeom prst="rect">
            <a:avLst/>
          </a:prstGeom>
        </p:spPr>
        <p:txBody>
          <a:bodyPr lIns="137169" tIns="68585" rIns="137169" bIns="68585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79" y="7150895"/>
            <a:ext cx="3200771" cy="411956"/>
          </a:xfrm>
          <a:prstGeom prst="rect">
            <a:avLst/>
          </a:prstGeom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686843" y="7150895"/>
            <a:ext cx="4343903" cy="411956"/>
          </a:xfrm>
          <a:prstGeom prst="rect">
            <a:avLst/>
          </a:prstGeom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30938" y="7150895"/>
            <a:ext cx="3200771" cy="411956"/>
          </a:xfrm>
          <a:prstGeom prst="rect">
            <a:avLst/>
          </a:prstGeom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fld id="{82B07DAA-8C11-4806-9372-AD2DBEF0D5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983617998"/>
      </p:ext>
    </p:extLst>
  </p:cSld>
  <p:clrMapOvr>
    <a:masterClrMapping/>
  </p:clrMapOvr>
  <p:transition spd="slow">
    <p:blinds dir="vert"/>
    <p:sndAc>
      <p:stSnd>
        <p:snd r:embed="rId1" name="projctor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685879" y="7150895"/>
            <a:ext cx="3200771" cy="411956"/>
          </a:xfrm>
          <a:prstGeom prst="rect">
            <a:avLst/>
          </a:prstGeom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686843" y="7150895"/>
            <a:ext cx="4343903" cy="411956"/>
          </a:xfrm>
          <a:prstGeom prst="rect">
            <a:avLst/>
          </a:prstGeom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30938" y="7150895"/>
            <a:ext cx="3200771" cy="411956"/>
          </a:xfrm>
          <a:prstGeom prst="rect">
            <a:avLst/>
          </a:prstGeom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fld id="{E26A6670-7B05-461F-9D42-A1DD78F5826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446640470"/>
      </p:ext>
    </p:extLst>
  </p:cSld>
  <p:clrMapOvr>
    <a:masterClrMapping/>
  </p:clrMapOvr>
  <p:transition spd="slow">
    <p:blinds dir="vert"/>
    <p:sndAc>
      <p:stSnd>
        <p:snd r:embed="rId1" name="projctor.wav"/>
      </p:stSnd>
    </p:sndAc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0" y="0"/>
            <a:ext cx="277082" cy="41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7169" tIns="68585" rIns="137169" bIns="68585" anchor="ctr">
            <a:spAutoFit/>
          </a:bodyPr>
          <a:lstStyle/>
          <a:p>
            <a:endParaRPr lang="zh-CN" altLang="en-US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0" y="2200275"/>
            <a:ext cx="13717588" cy="41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69" tIns="68585" rIns="137169" bIns="68585" anchor="ctr">
            <a:spAutoFit/>
          </a:bodyPr>
          <a:lstStyle/>
          <a:p>
            <a:endParaRPr lang="zh-CN" altLang="en-US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3429000"/>
            <a:ext cx="277082" cy="41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7169" tIns="68585" rIns="137169" bIns="68585" anchor="ctr">
            <a:spAutoFit/>
          </a:bodyPr>
          <a:lstStyle/>
          <a:p>
            <a:endParaRPr lang="zh-CN" altLang="en-US"/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0" y="4471988"/>
            <a:ext cx="277082" cy="41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7169" tIns="68585" rIns="137169" bIns="68585" anchor="ctr">
            <a:spAutoFit/>
          </a:bodyPr>
          <a:lstStyle/>
          <a:p>
            <a:endParaRPr lang="zh-CN" altLang="zh-CN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</p:sldLayoutIdLst>
  <p:transition spd="slow">
    <p:blinds dir="vert"/>
    <p:sndAc>
      <p:stSnd>
        <p:snd r:embed="rId5" name="projctor.wav"/>
      </p:stSnd>
    </p:sndAc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685846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371691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2057537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743383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514384" indent="-51438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99" indent="-42865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614" indent="-34292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460" indent="-34292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306" indent="-34292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2151" indent="-342923" algn="l" defTabSz="1371691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997" indent="-342923" algn="l" defTabSz="1371691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843" indent="-342923" algn="l" defTabSz="1371691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689" indent="-342923" algn="l" defTabSz="1371691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6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91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537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383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229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5074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920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766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最佳源电阻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最佳源电阻</a:t>
            </a: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9.6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.6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xmlns="" val="3136255466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77324" y="833289"/>
            <a:ext cx="12962941" cy="5743575"/>
          </a:xfrm>
          <a:noFill/>
          <a:ln>
            <a:miter lim="800000"/>
            <a:headEnd/>
            <a:tailEnd/>
          </a:ln>
        </p:spPr>
        <p:txBody>
          <a:bodyPr vert="horz" wrap="square" lIns="137165" tIns="68583" rIns="137165" bIns="68583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根据前面导出的噪声系数表达式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36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36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36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36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上式可见，</a:t>
            </a:r>
            <a:r>
              <a:rPr lang="en-US" altLang="zh-CN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是四个变量</a:t>
            </a:r>
            <a:r>
              <a:rPr lang="en-US" altLang="zh-CN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600" b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36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600" b="1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36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Δf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的函数。放大器一旦设计好以后，</a:t>
            </a:r>
            <a:r>
              <a:rPr lang="en-US" altLang="zh-CN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600" b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就基本不变了</a:t>
            </a:r>
            <a:r>
              <a:rPr lang="en-US" altLang="zh-CN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,NF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只是</a:t>
            </a:r>
            <a:r>
              <a:rPr lang="en-US" altLang="zh-CN" sz="36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600" b="1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36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Δf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的函数</a:t>
            </a:r>
            <a:endParaRPr lang="zh-CN" altLang="en-US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0242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4564017"/>
              </p:ext>
            </p:extLst>
          </p:nvPr>
        </p:nvGraphicFramePr>
        <p:xfrm>
          <a:off x="2105716" y="1805397"/>
          <a:ext cx="8001926" cy="1028700"/>
        </p:xfrm>
        <a:graphic>
          <a:graphicData uri="http://schemas.openxmlformats.org/presentationml/2006/ole">
            <p:oleObj spid="_x0000_s10359" r:id="rId3" imgW="2540000" imgH="457200" progId="Equation.3">
              <p:embed/>
            </p:oleObj>
          </a:graphicData>
        </a:graphic>
      </p:graphicFrame>
      <p:graphicFrame>
        <p:nvGraphicFramePr>
          <p:cNvPr id="1024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87515052"/>
              </p:ext>
            </p:extLst>
          </p:nvPr>
        </p:nvGraphicFramePr>
        <p:xfrm>
          <a:off x="2105716" y="2885517"/>
          <a:ext cx="2972144" cy="530424"/>
        </p:xfrm>
        <a:graphic>
          <a:graphicData uri="http://schemas.openxmlformats.org/presentationml/2006/ole">
            <p:oleObj spid="_x0000_s10360" r:id="rId4" imgW="1002865" imgH="241195" progId="Equation.3">
              <p:embed/>
            </p:oleObj>
          </a:graphicData>
        </a:graphic>
      </p:graphicFrame>
      <p:graphicFrame>
        <p:nvGraphicFramePr>
          <p:cNvPr id="102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71655132"/>
              </p:ext>
            </p:extLst>
          </p:nvPr>
        </p:nvGraphicFramePr>
        <p:xfrm>
          <a:off x="2105716" y="3641601"/>
          <a:ext cx="6058601" cy="1044774"/>
        </p:xfrm>
        <a:graphic>
          <a:graphicData uri="http://schemas.openxmlformats.org/presentationml/2006/ole">
            <p:oleObj spid="_x0000_s10361" r:id="rId5" imgW="1993900" imgH="457200" progId="Equation.3">
              <p:embed/>
            </p:oleObj>
          </a:graphicData>
        </a:graphic>
      </p:graphicFrame>
      <p:sp>
        <p:nvSpPr>
          <p:cNvPr id="7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最佳源电阻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.6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77324" y="833289"/>
            <a:ext cx="13178990" cy="6264696"/>
          </a:xfrm>
          <a:noFill/>
          <a:ln>
            <a:miter lim="800000"/>
            <a:headEnd/>
            <a:tailEnd/>
          </a:ln>
        </p:spPr>
        <p:txBody>
          <a:bodyPr vert="horz" wrap="square" lIns="137165" tIns="68583" rIns="137165" bIns="68583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en-US" altLang="zh-CN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30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000" b="1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的关系</a:t>
            </a:r>
            <a:r>
              <a:rPr lang="en-US" altLang="zh-CN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3000" b="1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对于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一个确定的放大器，我们只能通过改变</a:t>
            </a:r>
            <a:r>
              <a:rPr lang="zh-CN" altLang="en-US" sz="3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源电阻来减小它的噪声系数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en-US" altLang="zh-CN" sz="3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3000" b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Δf</a:t>
            </a:r>
            <a:r>
              <a:rPr lang="zh-CN" altLang="en-US" sz="3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的的关系</a:t>
            </a:r>
            <a:r>
              <a:rPr lang="en-US" altLang="zh-CN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  <a:r>
              <a:rPr lang="zh-CN" altLang="en-US" sz="3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增大</a:t>
            </a:r>
            <a:r>
              <a:rPr lang="en-US" altLang="zh-CN" sz="3000" b="1" dirty="0" err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Δf</a:t>
            </a:r>
            <a:r>
              <a:rPr lang="zh-CN" altLang="en-US" sz="3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可以减小</a:t>
            </a:r>
            <a:r>
              <a:rPr lang="en-US" altLang="zh-CN" sz="3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。但在后面的分析我们会看到，增大</a:t>
            </a:r>
            <a:r>
              <a:rPr lang="en-US" altLang="zh-CN" sz="30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Δf</a:t>
            </a:r>
            <a:r>
              <a:rPr lang="en-US" altLang="zh-CN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会使</a:t>
            </a:r>
            <a:r>
              <a:rPr lang="zh-CN" altLang="en-US" sz="3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等效输入噪声</a:t>
            </a:r>
            <a:r>
              <a:rPr lang="en-US" altLang="zh-CN" sz="3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增加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，这对提高系统的信噪比是非常不利的，因此不能采取增加</a:t>
            </a:r>
            <a:r>
              <a:rPr lang="en-US" altLang="zh-CN" sz="30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Δf</a:t>
            </a:r>
            <a:r>
              <a:rPr lang="en-US" altLang="zh-CN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方法。</a:t>
            </a:r>
            <a:endParaRPr lang="en-US" altLang="zh-CN" sz="30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en-US" altLang="zh-CN" sz="3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3000" b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000" b="1" baseline="-30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有关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30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000" b="1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增大时第二项减小而第三项增大，</a:t>
            </a:r>
            <a:r>
              <a:rPr lang="en-US" altLang="zh-CN" sz="30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Rs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减小时第二项增大第三项减小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，因此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是有极值的。</a:t>
            </a:r>
            <a:endParaRPr lang="en-US" altLang="zh-CN" sz="3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348091109"/>
              </p:ext>
            </p:extLst>
          </p:nvPr>
        </p:nvGraphicFramePr>
        <p:xfrm>
          <a:off x="4914353" y="941302"/>
          <a:ext cx="5829975" cy="1076921"/>
        </p:xfrm>
        <a:graphic>
          <a:graphicData uri="http://schemas.openxmlformats.org/presentationml/2006/ole">
            <p:oleObj spid="_x0000_s11305" r:id="rId3" imgW="1854200" imgH="457200" progId="Equation.3">
              <p:embed/>
            </p:oleObj>
          </a:graphicData>
        </a:graphic>
      </p:graphicFrame>
      <p:sp>
        <p:nvSpPr>
          <p:cNvPr id="5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最佳源电阻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.6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3673" y="1283048"/>
            <a:ext cx="2160490" cy="692498"/>
          </a:xfrm>
          <a:prstGeom prst="rect">
            <a:avLst/>
          </a:prstGeom>
          <a:noFill/>
        </p:spPr>
        <p:txBody>
          <a:bodyPr wrap="square" lIns="137169" tIns="68585" rIns="137169" bIns="68585" rtlCol="0">
            <a:spAutoFit/>
          </a:bodyPr>
          <a:lstStyle/>
          <a:p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求偏导：</a:t>
            </a:r>
            <a:endParaRPr lang="zh-CN" altLang="en-US" sz="3600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79795944"/>
              </p:ext>
            </p:extLst>
          </p:nvPr>
        </p:nvGraphicFramePr>
        <p:xfrm>
          <a:off x="3144163" y="1246883"/>
          <a:ext cx="1486072" cy="728663"/>
        </p:xfrm>
        <a:graphic>
          <a:graphicData uri="http://schemas.openxmlformats.org/presentationml/2006/ole">
            <p:oleObj spid="_x0000_s21656" r:id="rId3" imgW="495085" imgH="431613" progId="Equation.3">
              <p:embed/>
            </p:oleObj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71767572"/>
              </p:ext>
            </p:extLst>
          </p:nvPr>
        </p:nvGraphicFramePr>
        <p:xfrm>
          <a:off x="5130402" y="980704"/>
          <a:ext cx="6630168" cy="1023938"/>
        </p:xfrm>
        <a:graphic>
          <a:graphicData uri="http://schemas.openxmlformats.org/presentationml/2006/ole">
            <p:oleObj spid="_x0000_s21657" r:id="rId4" imgW="2222500" imgH="457200" progId="Equation.3">
              <p:embed/>
            </p:oleObj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99273633"/>
              </p:ext>
            </p:extLst>
          </p:nvPr>
        </p:nvGraphicFramePr>
        <p:xfrm>
          <a:off x="2417212" y="2801207"/>
          <a:ext cx="4686843" cy="1164431"/>
        </p:xfrm>
        <a:graphic>
          <a:graphicData uri="http://schemas.openxmlformats.org/presentationml/2006/ole">
            <p:oleObj spid="_x0000_s21658" r:id="rId5" imgW="1282700" imgH="444500" progId="Equation.3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1229" y="3061159"/>
            <a:ext cx="1362777" cy="692498"/>
          </a:xfrm>
          <a:prstGeom prst="rect">
            <a:avLst/>
          </a:prstGeom>
          <a:noFill/>
        </p:spPr>
        <p:txBody>
          <a:bodyPr wrap="square" lIns="137169" tIns="68585" rIns="137169" bIns="68585" rtlCol="0">
            <a:spAutoFit/>
          </a:bodyPr>
          <a:lstStyle/>
          <a:p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得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3600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06459817"/>
              </p:ext>
            </p:extLst>
          </p:nvPr>
        </p:nvGraphicFramePr>
        <p:xfrm>
          <a:off x="4838797" y="4629224"/>
          <a:ext cx="1143132" cy="740570"/>
        </p:xfrm>
        <a:graphic>
          <a:graphicData uri="http://schemas.openxmlformats.org/presentationml/2006/ole">
            <p:oleObj spid="_x0000_s21659" r:id="rId6" imgW="571252" imgH="444307" progId="Equation.3">
              <p:embed/>
            </p:oleObj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62495" y="4653262"/>
            <a:ext cx="3583460" cy="692498"/>
          </a:xfrm>
          <a:prstGeom prst="rect">
            <a:avLst/>
          </a:prstGeom>
          <a:noFill/>
        </p:spPr>
        <p:txBody>
          <a:bodyPr wrap="square" lIns="137169" tIns="68585" rIns="137169" bIns="68585" rtlCol="0">
            <a:spAutoFit/>
          </a:bodyPr>
          <a:lstStyle/>
          <a:p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当信号源内阻为</a:t>
            </a:r>
            <a:endParaRPr lang="zh-CN" altLang="en-US" sz="3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4890" y="4680960"/>
            <a:ext cx="5549744" cy="637098"/>
          </a:xfrm>
          <a:prstGeom prst="rect">
            <a:avLst/>
          </a:prstGeom>
          <a:noFill/>
        </p:spPr>
        <p:txBody>
          <a:bodyPr wrap="square" lIns="137169" tIns="68585" rIns="137169" bIns="68585" rtlCol="0">
            <a:sp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噪声系数</a:t>
            </a:r>
            <a:r>
              <a:rPr lang="en-US" altLang="zh-CN" sz="3600" b="1" dirty="0">
                <a:latin typeface="微软雅黑" pitchFamily="34" charset="-122"/>
                <a:ea typeface="微软雅黑" pitchFamily="34" charset="-122"/>
              </a:rPr>
              <a:t>NF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取得最小值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513150322"/>
              </p:ext>
            </p:extLst>
          </p:nvPr>
        </p:nvGraphicFramePr>
        <p:xfrm>
          <a:off x="1241520" y="6017865"/>
          <a:ext cx="6858794" cy="826293"/>
        </p:xfrm>
        <a:graphic>
          <a:graphicData uri="http://schemas.openxmlformats.org/presentationml/2006/ole">
            <p:oleObj spid="_x0000_s21660" r:id="rId7" imgW="2667000" imgH="431800" progId="Equation.3">
              <p:embed/>
            </p:oleObj>
          </a:graphicData>
        </a:graphic>
      </p:graphicFrame>
      <p:sp>
        <p:nvSpPr>
          <p:cNvPr id="12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最佳源电阻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.6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xmlns="" val="2246276969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01397" y="1157325"/>
            <a:ext cx="12311445" cy="5076564"/>
          </a:xfrm>
          <a:noFill/>
          <a:ln>
            <a:miter lim="800000"/>
            <a:headEnd/>
            <a:tailEnd/>
          </a:ln>
        </p:spPr>
        <p:txBody>
          <a:bodyPr vert="horz" wrap="square" lIns="137165" tIns="68583" rIns="137165" bIns="68583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称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此时的</a:t>
            </a:r>
            <a:r>
              <a:rPr lang="zh-CN" altLang="en-US" sz="36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源电阻为最佳源电阻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，记为</a:t>
            </a:r>
            <a:r>
              <a:rPr lang="en-US" altLang="zh-CN" sz="36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600" b="1" i="1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opt</a:t>
            </a:r>
            <a:endParaRPr lang="en-US" altLang="zh-CN" sz="36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当</a:t>
            </a:r>
            <a:r>
              <a:rPr lang="en-US" altLang="zh-CN" sz="36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6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</a:t>
            </a:r>
            <a:r>
              <a:rPr lang="en-US" altLang="zh-CN" sz="36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6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opt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时，可使放大器的噪声系数为最小，这时源电阻和放大器的配置称为“噪声匹配”，这是</a:t>
            </a:r>
            <a:r>
              <a:rPr lang="zh-CN" altLang="en-US" sz="3600" b="1" u="sng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低噪声设计的一个重要原则</a:t>
            </a:r>
            <a:r>
              <a:rPr lang="zh-CN" altLang="en-US" sz="3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 </a:t>
            </a:r>
          </a:p>
        </p:txBody>
      </p:sp>
      <p:sp>
        <p:nvSpPr>
          <p:cNvPr id="4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最佳源电阻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.6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光电系统与信号处理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2397</TotalTime>
  <Words>261</Words>
  <Application>Microsoft Office PowerPoint</Application>
  <PresentationFormat>自定义</PresentationFormat>
  <Paragraphs>44</Paragraphs>
  <Slides>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光电系统与信号处理</vt:lpstr>
      <vt:lpstr>Microsoft 公式 3.0</vt:lpstr>
      <vt:lpstr>幻灯片 1</vt:lpstr>
      <vt:lpstr>幻灯片 2</vt:lpstr>
      <vt:lpstr>幻灯片 3</vt:lpstr>
      <vt:lpstr>幻灯片 4</vt:lpstr>
      <vt:lpstr>幻灯片 5</vt:lpstr>
    </vt:vector>
  </TitlesOfParts>
  <Company>hust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本节主要介绍8051单片机的存贮器结构</dc:title>
  <dc:creator>zy</dc:creator>
  <cp:lastModifiedBy>yyp</cp:lastModifiedBy>
  <cp:revision>129</cp:revision>
  <cp:lastPrinted>1601-01-01T00:00:00Z</cp:lastPrinted>
  <dcterms:created xsi:type="dcterms:W3CDTF">2002-10-11T11:07:31Z</dcterms:created>
  <dcterms:modified xsi:type="dcterms:W3CDTF">2022-05-02T04:30:50Z</dcterms:modified>
</cp:coreProperties>
</file>