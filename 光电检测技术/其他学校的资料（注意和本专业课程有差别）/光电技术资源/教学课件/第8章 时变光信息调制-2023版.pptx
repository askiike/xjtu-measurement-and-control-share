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2" r:id="rId3"/>
    <p:sldId id="334" r:id="rId4"/>
    <p:sldId id="313" r:id="rId5"/>
    <p:sldId id="314" r:id="rId6"/>
    <p:sldId id="316" r:id="rId7"/>
    <p:sldId id="318" r:id="rId8"/>
    <p:sldId id="319" r:id="rId9"/>
    <p:sldId id="320" r:id="rId10"/>
    <p:sldId id="321" r:id="rId11"/>
    <p:sldId id="335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30" r:id="rId20"/>
    <p:sldId id="331" r:id="rId21"/>
    <p:sldId id="332" r:id="rId22"/>
    <p:sldId id="333" r:id="rId23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398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62" y="-9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e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28.wmf"/><Relationship Id="rId7" Type="http://schemas.openxmlformats.org/officeDocument/2006/relationships/image" Target="../media/image34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0B85A-814D-4522-830B-EA2B73E81006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0FC6D-90CF-486C-9DDE-41D05F073C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A323A-3F5B-4803-8F6E-75EB0599F551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8E41E-29BD-400D-AEDC-793B998551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8D2FC9-D3FF-4B56-9B68-E94AEE2E1568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4F51C-D6D9-42FE-8406-8B1A62EF34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CE2FE-A4F7-461A-B679-738DCCB9F2F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44DF1-8AB3-4AC8-8846-8D7AC53D4C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7D16C-6742-4D87-B286-505BFCC485E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48CD92-017C-4BDF-B1F0-541AAC9178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8C45-7112-4018-A6C3-08A2B95FCAB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909AF-2F9A-4F17-9832-37F27436F3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1FB8E-32A2-4FAB-9DCF-1E7B8AE28FF5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0E2A1-1590-4207-8BCA-1574684B61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0318A-E83E-4483-BFCC-C271C5DAE065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4571C-1262-4289-8B7E-176947018E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FF0FD-FEC7-4A54-8110-AA77D02431C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3B411-970A-46D2-9B44-999FDB8B70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0961D-D191-41E5-BCCE-EDEDBD1415C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9B775-7492-4246-87A5-B7C17C2975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F2CE-FFAA-40E0-8999-7C71913CE4F8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7B3F0-F29F-41DA-A7AB-51B5104F55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D1A1D20-A6C5-4998-AB23-06FC87464E8A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728E60B-7259-4FAC-8AAA-739236121B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8.bin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1.bin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0.bin"/><Relationship Id="rId9" Type="http://schemas.openxmlformats.org/officeDocument/2006/relationships/oleObject" Target="../embeddings/oleObject3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时变光信息的调制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时变光信息的调制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3" name="Rectangle 5"/>
          <p:cNvSpPr>
            <a:spLocks noChangeArrowheads="1"/>
          </p:cNvSpPr>
          <p:nvPr/>
        </p:nvSpPr>
        <p:spPr bwMode="auto">
          <a:xfrm>
            <a:off x="648567" y="1320631"/>
            <a:ext cx="12374707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在光电系统中</a:t>
            </a: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</a:rPr>
              <a:t>，使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光载波信号的一个或几个特征参数按被传送信息的特征变化，以实现信息检测或传送目的的方法称为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光学调制。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 </a:t>
            </a:r>
          </a:p>
        </p:txBody>
      </p:sp>
      <p:sp>
        <p:nvSpPr>
          <p:cNvPr id="201734" name="Rectangle 6"/>
          <p:cNvSpPr>
            <a:spLocks noChangeArrowheads="1"/>
          </p:cNvSpPr>
          <p:nvPr/>
        </p:nvSpPr>
        <p:spPr bwMode="auto">
          <a:xfrm>
            <a:off x="617395" y="2751366"/>
            <a:ext cx="12530570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</a:rPr>
              <a:t>        使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光载波只随信息而不随时间变化，这种是将信息直接调制到光载波上的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广义调制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。在更多情况下，往往</a:t>
            </a: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</a:rPr>
              <a:t>是人为地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使载波光通量随时间或空间变化，形成多变量的载波信号，然后再使其特征参数随被测信息而改变，这种方法称为</a:t>
            </a:r>
            <a:r>
              <a:rPr lang="zh-CN" altLang="en-US" sz="2400" b="1" u="sng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</a:rPr>
              <a:t>二次调制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，因为它是对已随时间调制的光通量特征参数的再调制。 </a:t>
            </a:r>
          </a:p>
        </p:txBody>
      </p:sp>
      <p:sp>
        <p:nvSpPr>
          <p:cNvPr id="201735" name="Rectangle 7"/>
          <p:cNvSpPr>
            <a:spLocks noChangeArrowheads="1"/>
          </p:cNvSpPr>
          <p:nvPr/>
        </p:nvSpPr>
        <p:spPr bwMode="auto">
          <a:xfrm>
            <a:off x="762571" y="5255490"/>
            <a:ext cx="12126623" cy="17543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</a:rPr>
              <a:t>        调制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技术给辐射参数以确定的时间或空间变换，看起来似乎增加了信号的复杂性，但它可以改善光电系统的工作品质，有助于传输过程的信号处理，提高传输能力，还能更好地从背景噪声干扰中分离出有用的信号，以提高信噪比和测量灵敏度。 </a:t>
            </a: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时变光信息的调制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3" grpId="0"/>
      <p:bldP spid="201734" grpId="0"/>
      <p:bldP spid="2017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5070623" y="3476625"/>
            <a:ext cx="5376084" cy="850403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光信号调制的基本原理</a:t>
            </a: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2860247" y="3283064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80" name="Rectangle 3"/>
          <p:cNvSpPr>
            <a:spLocks noChangeArrowheads="1"/>
          </p:cNvSpPr>
          <p:nvPr/>
        </p:nvSpPr>
        <p:spPr bwMode="auto">
          <a:xfrm>
            <a:off x="3617169" y="1181257"/>
            <a:ext cx="65532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40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一、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光信号调制的基本原理</a:t>
            </a:r>
          </a:p>
        </p:txBody>
      </p:sp>
      <p:sp>
        <p:nvSpPr>
          <p:cNvPr id="79881" name="Rectangle 6"/>
          <p:cNvSpPr>
            <a:spLocks noChangeArrowheads="1"/>
          </p:cNvSpPr>
          <p:nvPr/>
        </p:nvSpPr>
        <p:spPr bwMode="auto">
          <a:xfrm>
            <a:off x="488949" y="2292765"/>
            <a:ext cx="12492759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2400" b="1" dirty="0" smtClean="0">
                <a:latin typeface="Times New Roman" pitchFamily="18" charset="0"/>
                <a:ea typeface="微软雅黑" pitchFamily="34" charset="-122"/>
              </a:rPr>
              <a:t>        </a:t>
            </a: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</a:rPr>
              <a:t>光学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调制按时空状态和载波性质可分为不同的调制形式</a:t>
            </a: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</a:rPr>
              <a:t>。以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光强度调制为例介绍光信号调制的基本原理，包括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连续波调制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脉冲调制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编码调制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</a:rPr>
              <a:t>。</a:t>
            </a:r>
          </a:p>
        </p:txBody>
      </p:sp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1198995" y="3600885"/>
            <a:ext cx="27749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连续波调制</a:t>
            </a:r>
          </a:p>
        </p:txBody>
      </p:sp>
      <p:sp>
        <p:nvSpPr>
          <p:cNvPr id="79883" name="Rectangle 9"/>
          <p:cNvSpPr>
            <a:spLocks noChangeArrowheads="1"/>
          </p:cNvSpPr>
          <p:nvPr/>
        </p:nvSpPr>
        <p:spPr bwMode="auto">
          <a:xfrm>
            <a:off x="238125" y="37465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2760" name="Object 8"/>
          <p:cNvGraphicFramePr>
            <a:graphicFrameLocks noChangeAspect="1"/>
          </p:cNvGraphicFramePr>
          <p:nvPr/>
        </p:nvGraphicFramePr>
        <p:xfrm>
          <a:off x="2994747" y="4474152"/>
          <a:ext cx="6697662" cy="571500"/>
        </p:xfrm>
        <a:graphic>
          <a:graphicData uri="http://schemas.openxmlformats.org/presentationml/2006/ole">
            <p:oleObj spid="_x0000_s79884" name="公式" r:id="rId3" imgW="2679700" imgH="228600" progId="Equation.3">
              <p:embed/>
            </p:oleObj>
          </a:graphicData>
        </a:graphic>
      </p:graphicFrame>
      <p:sp>
        <p:nvSpPr>
          <p:cNvPr id="202762" name="AutoShape 10"/>
          <p:cNvSpPr>
            <a:spLocks noChangeArrowheads="1"/>
          </p:cNvSpPr>
          <p:nvPr/>
        </p:nvSpPr>
        <p:spPr bwMode="auto">
          <a:xfrm>
            <a:off x="3216420" y="5818909"/>
            <a:ext cx="2305050" cy="942109"/>
          </a:xfrm>
          <a:prstGeom prst="wedgeEllipseCallout">
            <a:avLst>
              <a:gd name="adj1" fmla="val 53979"/>
              <a:gd name="adj2" fmla="val -12556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defTabSz="914400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振幅调制</a:t>
            </a:r>
          </a:p>
        </p:txBody>
      </p:sp>
      <p:sp>
        <p:nvSpPr>
          <p:cNvPr id="202763" name="AutoShape 11"/>
          <p:cNvSpPr>
            <a:spLocks noChangeArrowheads="1"/>
          </p:cNvSpPr>
          <p:nvPr/>
        </p:nvSpPr>
        <p:spPr bwMode="auto">
          <a:xfrm>
            <a:off x="6236856" y="5876058"/>
            <a:ext cx="2305050" cy="863600"/>
          </a:xfrm>
          <a:prstGeom prst="wedgeEllipseCallout">
            <a:avLst>
              <a:gd name="adj1" fmla="val -7532"/>
              <a:gd name="adj2" fmla="val -151939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defTabSz="914400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频率调制</a:t>
            </a:r>
          </a:p>
        </p:txBody>
      </p:sp>
      <p:sp>
        <p:nvSpPr>
          <p:cNvPr id="202764" name="AutoShape 12"/>
          <p:cNvSpPr>
            <a:spLocks noChangeArrowheads="1"/>
          </p:cNvSpPr>
          <p:nvPr/>
        </p:nvSpPr>
        <p:spPr bwMode="auto">
          <a:xfrm flipH="1">
            <a:off x="8929974" y="5834496"/>
            <a:ext cx="2541587" cy="863600"/>
          </a:xfrm>
          <a:prstGeom prst="wedgeEllipseCallout">
            <a:avLst>
              <a:gd name="adj1" fmla="val 50307"/>
              <a:gd name="adj2" fmla="val -15610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defTabSz="914400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相位调制</a:t>
            </a:r>
          </a:p>
        </p:txBody>
      </p:sp>
      <p:sp>
        <p:nvSpPr>
          <p:cNvPr id="1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9" grpId="0"/>
      <p:bldP spid="202762" grpId="0" animBg="1"/>
      <p:bldP spid="202763" grpId="0" animBg="1"/>
      <p:bldP spid="20276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4" name="Rectangle 5"/>
          <p:cNvSpPr>
            <a:spLocks noChangeArrowheads="1"/>
          </p:cNvSpPr>
          <p:nvPr/>
        </p:nvSpPr>
        <p:spPr bwMode="auto">
          <a:xfrm>
            <a:off x="4582089" y="1146714"/>
            <a:ext cx="4176712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1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） 振幅调制</a:t>
            </a:r>
          </a:p>
        </p:txBody>
      </p:sp>
      <p:sp>
        <p:nvSpPr>
          <p:cNvPr id="80906" name="Rectangle 11"/>
          <p:cNvSpPr>
            <a:spLocks noChangeArrowheads="1"/>
          </p:cNvSpPr>
          <p:nvPr/>
        </p:nvSpPr>
        <p:spPr bwMode="auto">
          <a:xfrm>
            <a:off x="628716" y="1887634"/>
            <a:ext cx="12751378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振幅调制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是指光载波信号的幅度瞬时值随调制信号变化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，频率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和相位保持不变。 </a:t>
            </a:r>
          </a:p>
        </p:txBody>
      </p:sp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4002657" y="3504153"/>
          <a:ext cx="4944193" cy="3439888"/>
        </p:xfrm>
        <a:graphic>
          <a:graphicData uri="http://schemas.openxmlformats.org/presentationml/2006/ole">
            <p:oleObj spid="_x0000_s80919" name="Visio" r:id="rId3" imgW="3774240" imgH="2620800" progId="">
              <p:embed/>
            </p:oleObj>
          </a:graphicData>
        </a:graphic>
      </p:graphicFrame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2609761" y="2787443"/>
            <a:ext cx="40322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若调制函数为正弦函数 </a:t>
            </a:r>
          </a:p>
        </p:txBody>
      </p:sp>
      <p:graphicFrame>
        <p:nvGraphicFramePr>
          <p:cNvPr id="25" name="Object 16"/>
          <p:cNvGraphicFramePr>
            <a:graphicFrameLocks noChangeAspect="1"/>
          </p:cNvGraphicFramePr>
          <p:nvPr/>
        </p:nvGraphicFramePr>
        <p:xfrm>
          <a:off x="6591447" y="2817058"/>
          <a:ext cx="3139150" cy="548947"/>
        </p:xfrm>
        <a:graphic>
          <a:graphicData uri="http://schemas.openxmlformats.org/presentationml/2006/ole">
            <p:oleObj spid="_x0000_s80920" name="公式" r:id="rId4" imgW="1143000" imgH="203200" progId="Equation.3">
              <p:embed/>
            </p:oleObj>
          </a:graphicData>
        </a:graphic>
      </p:graphicFrame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2" name="Rectangle 3"/>
          <p:cNvSpPr>
            <a:spLocks noChangeArrowheads="1"/>
          </p:cNvSpPr>
          <p:nvPr/>
        </p:nvSpPr>
        <p:spPr bwMode="auto">
          <a:xfrm>
            <a:off x="4468837" y="1019784"/>
            <a:ext cx="417671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2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） 频率调制</a:t>
            </a:r>
          </a:p>
        </p:txBody>
      </p:sp>
      <p:sp>
        <p:nvSpPr>
          <p:cNvPr id="82954" name="Rectangle 5"/>
          <p:cNvSpPr>
            <a:spLocks noChangeArrowheads="1"/>
          </p:cNvSpPr>
          <p:nvPr/>
        </p:nvSpPr>
        <p:spPr bwMode="auto">
          <a:xfrm>
            <a:off x="753342" y="1752770"/>
            <a:ext cx="12062115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         频率调制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简称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调频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，是指载波的频率按调制信号的变化规律而改变，使调制后的调频波频率瞬时偏离原有的载波频率，频率偏离值与调制信号的幅度瞬时值成正比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508581" y="3947070"/>
            <a:ext cx="40322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若调制函数为余弦函数 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7364908" y="4018508"/>
          <a:ext cx="2447925" cy="417512"/>
        </p:xfrm>
        <a:graphic>
          <a:graphicData uri="http://schemas.openxmlformats.org/presentationml/2006/ole">
            <p:oleObj spid="_x0000_s82971" name="公式" r:id="rId3" imgW="1167893" imgH="203112" progId="Equation.3">
              <p:embed/>
            </p:oleObj>
          </a:graphicData>
        </a:graphic>
      </p:graphicFrame>
      <p:graphicFrame>
        <p:nvGraphicFramePr>
          <p:cNvPr id="82972" name="Object 5"/>
          <p:cNvGraphicFramePr>
            <a:graphicFrameLocks noChangeAspect="1"/>
          </p:cNvGraphicFramePr>
          <p:nvPr/>
        </p:nvGraphicFramePr>
        <p:xfrm>
          <a:off x="2684044" y="4719128"/>
          <a:ext cx="8370887" cy="2533650"/>
        </p:xfrm>
        <a:graphic>
          <a:graphicData uri="http://schemas.openxmlformats.org/presentationml/2006/ole">
            <p:oleObj spid="_x0000_s82972" name="Visio" r:id="rId4" imgW="4427280" imgH="1338120" progId="">
              <p:embed/>
            </p:oleObj>
          </a:graphicData>
        </a:graphic>
      </p:graphicFrame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00" name="Rectangle 3"/>
          <p:cNvSpPr>
            <a:spLocks noChangeArrowheads="1"/>
          </p:cNvSpPr>
          <p:nvPr/>
        </p:nvSpPr>
        <p:spPr bwMode="auto">
          <a:xfrm>
            <a:off x="4797534" y="1243140"/>
            <a:ext cx="4176713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3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） 相位调制</a:t>
            </a:r>
          </a:p>
        </p:txBody>
      </p:sp>
      <p:sp>
        <p:nvSpPr>
          <p:cNvPr id="85002" name="Rectangle 5"/>
          <p:cNvSpPr>
            <a:spLocks noChangeArrowheads="1"/>
          </p:cNvSpPr>
          <p:nvPr/>
        </p:nvSpPr>
        <p:spPr bwMode="auto">
          <a:xfrm>
            <a:off x="1415511" y="2761866"/>
            <a:ext cx="10920264" cy="1477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       相位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调制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是指载波的相位随调制信号的变化而变化的调制。调频和调相两种调制波最终都表现为总相角的变化。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4" name="Rectangle 5"/>
          <p:cNvSpPr>
            <a:spLocks noChangeArrowheads="1"/>
          </p:cNvSpPr>
          <p:nvPr/>
        </p:nvSpPr>
        <p:spPr bwMode="auto">
          <a:xfrm>
            <a:off x="5301152" y="1393804"/>
            <a:ext cx="27749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脉冲调制</a:t>
            </a:r>
          </a:p>
        </p:txBody>
      </p:sp>
      <p:sp>
        <p:nvSpPr>
          <p:cNvPr id="86025" name="Rectangle 6"/>
          <p:cNvSpPr>
            <a:spLocks noChangeArrowheads="1"/>
          </p:cNvSpPr>
          <p:nvPr/>
        </p:nvSpPr>
        <p:spPr bwMode="auto">
          <a:xfrm>
            <a:off x="323850" y="35750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6026" name="Rectangle 11"/>
          <p:cNvSpPr>
            <a:spLocks noChangeArrowheads="1"/>
          </p:cNvSpPr>
          <p:nvPr/>
        </p:nvSpPr>
        <p:spPr bwMode="auto">
          <a:xfrm>
            <a:off x="685512" y="2786435"/>
            <a:ext cx="12116089" cy="29596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3200" b="1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光信号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脉冲调制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是指将被测物理量信息加载在光脉冲序列的参量（振幅、相位、频率或宽度等）上。例如，将直流信号用间歇通断的方法进行调制得到脉冲载波，然后使载波脉冲的幅度、相位、频率、脉宽等参量按调制信号改变，从而得到不同的脉冲调制。 </a:t>
            </a:r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8" name="Rectangle 4"/>
          <p:cNvSpPr>
            <a:spLocks noChangeArrowheads="1"/>
          </p:cNvSpPr>
          <p:nvPr/>
        </p:nvSpPr>
        <p:spPr bwMode="auto">
          <a:xfrm>
            <a:off x="5024004" y="1544491"/>
            <a:ext cx="27749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脉冲调制</a:t>
            </a:r>
          </a:p>
        </p:txBody>
      </p:sp>
      <p:sp>
        <p:nvSpPr>
          <p:cNvPr id="87049" name="Rectangle 5"/>
          <p:cNvSpPr>
            <a:spLocks noChangeArrowheads="1"/>
          </p:cNvSpPr>
          <p:nvPr/>
        </p:nvSpPr>
        <p:spPr bwMode="auto">
          <a:xfrm>
            <a:off x="323850" y="34067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7050" name="Object 9"/>
          <p:cNvGraphicFramePr>
            <a:graphicFrameLocks noChangeAspect="1"/>
          </p:cNvGraphicFramePr>
          <p:nvPr/>
        </p:nvGraphicFramePr>
        <p:xfrm>
          <a:off x="2249199" y="2566122"/>
          <a:ext cx="8985884" cy="4181042"/>
        </p:xfrm>
        <a:graphic>
          <a:graphicData uri="http://schemas.openxmlformats.org/presentationml/2006/ole">
            <p:oleObj spid="_x0000_s87050" name="Visio" r:id="rId3" imgW="4003920" imgH="1860480" progId="">
              <p:embed/>
            </p:oleObj>
          </a:graphicData>
        </a:graphic>
      </p:graphicFrame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5304643" y="1205912"/>
            <a:ext cx="277495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3.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编码调制</a:t>
            </a:r>
          </a:p>
        </p:txBody>
      </p:sp>
      <p:sp>
        <p:nvSpPr>
          <p:cNvPr id="88073" name="Rectangle 5"/>
          <p:cNvSpPr>
            <a:spLocks noChangeArrowheads="1"/>
          </p:cNvSpPr>
          <p:nvPr/>
        </p:nvSpPr>
        <p:spPr bwMode="auto">
          <a:xfrm>
            <a:off x="352425" y="38576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0950" name="Rectangle 6"/>
          <p:cNvSpPr>
            <a:spLocks noChangeArrowheads="1"/>
          </p:cNvSpPr>
          <p:nvPr/>
        </p:nvSpPr>
        <p:spPr bwMode="auto">
          <a:xfrm>
            <a:off x="617105" y="2604772"/>
            <a:ext cx="12184495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编码调制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是把模拟信号先变成脉冲序列，再变成代表信号信息的二进制编码，然后对载波进行强度调制。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166610" y="5132821"/>
            <a:ext cx="4968875" cy="582613"/>
            <a:chOff x="4166610" y="5132821"/>
            <a:chExt cx="4968875" cy="582613"/>
          </a:xfrm>
        </p:grpSpPr>
        <p:sp>
          <p:nvSpPr>
            <p:cNvPr id="88075" name="Rectangle 7"/>
            <p:cNvSpPr>
              <a:spLocks noChangeArrowheads="1"/>
            </p:cNvSpPr>
            <p:nvPr/>
          </p:nvSpPr>
          <p:spPr bwMode="auto">
            <a:xfrm>
              <a:off x="4166610" y="5135996"/>
              <a:ext cx="1223962" cy="579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400" eaLnBrk="0" hangingPunct="0"/>
              <a:r>
                <a:rPr lang="zh-CN" altLang="en-US" sz="32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采样</a:t>
              </a:r>
              <a:endParaRPr lang="zh-CN" altLang="en-US" sz="3200" b="1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210952" name="Rectangle 8"/>
            <p:cNvSpPr>
              <a:spLocks noChangeArrowheads="1"/>
            </p:cNvSpPr>
            <p:nvPr/>
          </p:nvSpPr>
          <p:spPr bwMode="auto">
            <a:xfrm>
              <a:off x="6038272" y="5135996"/>
              <a:ext cx="1223963" cy="579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400" eaLnBrk="0" hangingPunct="0"/>
              <a:r>
                <a:rPr lang="zh-CN" altLang="en-US" sz="32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量化</a:t>
              </a:r>
              <a:endParaRPr lang="zh-CN" altLang="en-US" sz="3200" b="1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210953" name="Rectangle 9"/>
            <p:cNvSpPr>
              <a:spLocks noChangeArrowheads="1"/>
            </p:cNvSpPr>
            <p:nvPr/>
          </p:nvSpPr>
          <p:spPr bwMode="auto">
            <a:xfrm>
              <a:off x="7911522" y="5132821"/>
              <a:ext cx="1223963" cy="579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400" eaLnBrk="0" hangingPunct="0"/>
              <a:r>
                <a:rPr lang="zh-CN" altLang="en-US" sz="32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编码</a:t>
              </a:r>
              <a:endParaRPr lang="zh-CN" altLang="en-US" sz="3200" b="1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210954" name="AutoShape 10"/>
            <p:cNvSpPr>
              <a:spLocks noChangeArrowheads="1"/>
            </p:cNvSpPr>
            <p:nvPr/>
          </p:nvSpPr>
          <p:spPr bwMode="auto">
            <a:xfrm>
              <a:off x="5246110" y="5351896"/>
              <a:ext cx="719137" cy="215900"/>
            </a:xfrm>
            <a:prstGeom prst="rightArrow">
              <a:avLst>
                <a:gd name="adj1" fmla="val 50000"/>
                <a:gd name="adj2" fmla="val 832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/>
              <a:endParaRPr lang="zh-CN" altLang="en-US" sz="32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10955" name="AutoShape 11"/>
            <p:cNvSpPr>
              <a:spLocks noChangeArrowheads="1"/>
            </p:cNvSpPr>
            <p:nvPr/>
          </p:nvSpPr>
          <p:spPr bwMode="auto">
            <a:xfrm>
              <a:off x="7119360" y="5351896"/>
              <a:ext cx="719137" cy="215900"/>
            </a:xfrm>
            <a:prstGeom prst="rightArrow">
              <a:avLst>
                <a:gd name="adj1" fmla="val 50000"/>
                <a:gd name="adj2" fmla="val 832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/>
              <a:endParaRPr lang="zh-CN" altLang="en-US" sz="3200" b="1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545505" y="3291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光信号调制的基本原理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96186" y="3291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545506" y="6985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4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5223023" y="3629025"/>
            <a:ext cx="5376084" cy="850403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光调制的方法</a:t>
            </a: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3012647" y="3435464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Rectangle 3"/>
          <p:cNvSpPr>
            <a:spLocks noChangeArrowheads="1"/>
          </p:cNvSpPr>
          <p:nvPr/>
        </p:nvSpPr>
        <p:spPr bwMode="auto">
          <a:xfrm>
            <a:off x="3893500" y="1220540"/>
            <a:ext cx="5183188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zh-CN" altLang="en-US" sz="40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二、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光调制方法</a:t>
            </a:r>
          </a:p>
        </p:txBody>
      </p:sp>
      <p:sp>
        <p:nvSpPr>
          <p:cNvPr id="89097" name="Rectangle 5"/>
          <p:cNvSpPr>
            <a:spLocks noChangeArrowheads="1"/>
          </p:cNvSpPr>
          <p:nvPr/>
        </p:nvSpPr>
        <p:spPr bwMode="auto">
          <a:xfrm>
            <a:off x="393700" y="35909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1974" name="Rectangle 6"/>
          <p:cNvSpPr>
            <a:spLocks noChangeArrowheads="1"/>
          </p:cNvSpPr>
          <p:nvPr/>
        </p:nvSpPr>
        <p:spPr bwMode="auto">
          <a:xfrm>
            <a:off x="644525" y="2196043"/>
            <a:ext cx="12420311" cy="13086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        可以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实现单色光波或复合光通量调制作用的装置称为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光调制器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。典型的光信号调制方法主要有辐射源调制、机电调制和光控调制等。</a:t>
            </a:r>
          </a:p>
        </p:txBody>
      </p:sp>
      <p:sp>
        <p:nvSpPr>
          <p:cNvPr id="211980" name="Rectangle 12"/>
          <p:cNvSpPr>
            <a:spLocks noChangeArrowheads="1"/>
          </p:cNvSpPr>
          <p:nvPr/>
        </p:nvSpPr>
        <p:spPr bwMode="auto">
          <a:xfrm>
            <a:off x="948634" y="3828834"/>
            <a:ext cx="12163518" cy="26776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       由于双折射，各向异性材料具有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旋光性，可以改变入射偏振光的偏振方向。材料折射率各向异性能在电场、磁场和机械力等外力作用下形成和改变。利用这些光控效应可以进行光波的振幅、频率、相位、偏振状态和传播方向等参量进行调制，这些调制器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光控调制器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。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4" grpId="0"/>
      <p:bldP spid="2119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20" name="Rectangle 3"/>
          <p:cNvSpPr>
            <a:spLocks noChangeArrowheads="1"/>
          </p:cNvSpPr>
          <p:nvPr/>
        </p:nvSpPr>
        <p:spPr bwMode="auto">
          <a:xfrm>
            <a:off x="4717715" y="1160368"/>
            <a:ext cx="36734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1.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 电光调制</a:t>
            </a:r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475390" y="39195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1364570" y="2196816"/>
            <a:ext cx="10936698" cy="12126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3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        某些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晶体在外加电场的作用下，其折射率随外加电场的改变而发生变化的现象称为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电光效应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。</a:t>
            </a:r>
          </a:p>
        </p:txBody>
      </p:sp>
      <p:sp>
        <p:nvSpPr>
          <p:cNvPr id="213001" name="Rectangle 9"/>
          <p:cNvSpPr>
            <a:spLocks noChangeArrowheads="1"/>
          </p:cNvSpPr>
          <p:nvPr/>
        </p:nvSpPr>
        <p:spPr bwMode="auto">
          <a:xfrm>
            <a:off x="475390" y="39052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3011" name="Rectangle 19"/>
          <p:cNvSpPr>
            <a:spLocks noChangeArrowheads="1"/>
          </p:cNvSpPr>
          <p:nvPr/>
        </p:nvSpPr>
        <p:spPr bwMode="auto">
          <a:xfrm>
            <a:off x="1262640" y="4111010"/>
            <a:ext cx="11487202" cy="17727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3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        具有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电光效应的晶体称为电光晶体，主要有铌酸锂（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LiNbO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</a:rPr>
              <a:t>3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）晶体、砷化镓（</a:t>
            </a:r>
            <a:r>
              <a:rPr lang="en-US" altLang="zh-CN" sz="2800" b="1" dirty="0" err="1">
                <a:latin typeface="Times New Roman" pitchFamily="18" charset="0"/>
                <a:ea typeface="微软雅黑" pitchFamily="34" charset="-122"/>
              </a:rPr>
              <a:t>GaAs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）晶体和钽酸锂（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LiTaO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</a:rPr>
              <a:t>3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）晶体等。利用晶体的电光效应制成的调制器称为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电光调制器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 。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 animBg="1"/>
      <p:bldP spid="212997" grpId="0"/>
      <p:bldP spid="213001" grpId="0" animBg="1"/>
      <p:bldP spid="2130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4" name="Rectangle 4"/>
          <p:cNvSpPr>
            <a:spLocks noChangeArrowheads="1"/>
          </p:cNvSpPr>
          <p:nvPr/>
        </p:nvSpPr>
        <p:spPr bwMode="auto">
          <a:xfrm>
            <a:off x="254000" y="4112132"/>
            <a:ext cx="184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45" name="Rectangle 5"/>
          <p:cNvSpPr>
            <a:spLocks noChangeArrowheads="1"/>
          </p:cNvSpPr>
          <p:nvPr/>
        </p:nvSpPr>
        <p:spPr bwMode="auto">
          <a:xfrm>
            <a:off x="682625" y="1759934"/>
            <a:ext cx="11911157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3200" b="1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调制器通常利用一阶电光效应，在这种情况下，施加电场引起的折射率变化为</a:t>
            </a:r>
          </a:p>
        </p:txBody>
      </p:sp>
      <p:sp>
        <p:nvSpPr>
          <p:cNvPr id="91147" name="Rectangle 7"/>
          <p:cNvSpPr>
            <a:spLocks noChangeArrowheads="1"/>
          </p:cNvSpPr>
          <p:nvPr/>
        </p:nvSpPr>
        <p:spPr bwMode="auto">
          <a:xfrm>
            <a:off x="254000" y="7715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48" name="Rectangle 8"/>
          <p:cNvSpPr>
            <a:spLocks noChangeArrowheads="1"/>
          </p:cNvSpPr>
          <p:nvPr/>
        </p:nvSpPr>
        <p:spPr bwMode="auto">
          <a:xfrm>
            <a:off x="254000" y="4097844"/>
            <a:ext cx="184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49" name="Rectangle 12"/>
          <p:cNvSpPr>
            <a:spLocks noChangeArrowheads="1"/>
          </p:cNvSpPr>
          <p:nvPr/>
        </p:nvSpPr>
        <p:spPr bwMode="auto">
          <a:xfrm>
            <a:off x="254000" y="3729544"/>
            <a:ext cx="184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50" name="Rectangle 17"/>
          <p:cNvSpPr>
            <a:spLocks noChangeArrowheads="1"/>
          </p:cNvSpPr>
          <p:nvPr/>
        </p:nvSpPr>
        <p:spPr bwMode="auto">
          <a:xfrm>
            <a:off x="254000" y="3729544"/>
            <a:ext cx="184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3200" b="1" i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1151" name="Object 16"/>
          <p:cNvGraphicFramePr>
            <a:graphicFrameLocks noChangeAspect="1"/>
          </p:cNvGraphicFramePr>
          <p:nvPr/>
        </p:nvGraphicFramePr>
        <p:xfrm>
          <a:off x="5081011" y="3385128"/>
          <a:ext cx="2455862" cy="1227932"/>
        </p:xfrm>
        <a:graphic>
          <a:graphicData uri="http://schemas.openxmlformats.org/presentationml/2006/ole">
            <p:oleObj spid="_x0000_s91151" name="公式" r:id="rId3" imgW="838080" imgH="419040" progId="Equation.3">
              <p:embed/>
            </p:oleObj>
          </a:graphicData>
        </a:graphic>
      </p:graphicFrame>
      <p:sp>
        <p:nvSpPr>
          <p:cNvPr id="91152" name="Rectangle 5"/>
          <p:cNvSpPr>
            <a:spLocks noChangeArrowheads="1"/>
          </p:cNvSpPr>
          <p:nvPr/>
        </p:nvSpPr>
        <p:spPr bwMode="auto">
          <a:xfrm>
            <a:off x="892752" y="4687283"/>
            <a:ext cx="1197812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     是</a:t>
            </a:r>
            <a:r>
              <a:rPr lang="en-US" altLang="zh-CN" sz="3200" b="1" i="1" dirty="0">
                <a:latin typeface="Times New Roman" pitchFamily="18" charset="0"/>
                <a:ea typeface="微软雅黑" pitchFamily="34" charset="-122"/>
              </a:rPr>
              <a:t>E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</a:rPr>
              <a:t>=0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时材料的折射率，     是线性电光系数，</a:t>
            </a:r>
            <a:r>
              <a:rPr lang="en-US" altLang="zh-CN" sz="3200" b="1" i="1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en-US" altLang="zh-CN" sz="3200" b="1" i="1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和 </a:t>
            </a:r>
            <a:r>
              <a:rPr lang="en-US" altLang="zh-CN" sz="3200" b="1" i="1" dirty="0">
                <a:latin typeface="Times New Roman" pitchFamily="18" charset="0"/>
                <a:ea typeface="微软雅黑" pitchFamily="34" charset="-122"/>
              </a:rPr>
              <a:t>j 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对应于适当坐标系中各向异性材料的轴线 。</a:t>
            </a:r>
            <a:endParaRPr lang="en-US" altLang="zh-CN" sz="3200" b="1" dirty="0">
              <a:latin typeface="Times New Roman" pitchFamily="18" charset="0"/>
              <a:ea typeface="微软雅黑" pitchFamily="34" charset="-122"/>
            </a:endParaRPr>
          </a:p>
        </p:txBody>
      </p:sp>
      <p:graphicFrame>
        <p:nvGraphicFramePr>
          <p:cNvPr id="91153" name="Object 43"/>
          <p:cNvGraphicFramePr>
            <a:graphicFrameLocks noChangeAspect="1"/>
          </p:cNvGraphicFramePr>
          <p:nvPr/>
        </p:nvGraphicFramePr>
        <p:xfrm>
          <a:off x="965774" y="4781404"/>
          <a:ext cx="477838" cy="647700"/>
        </p:xfrm>
        <a:graphic>
          <a:graphicData uri="http://schemas.openxmlformats.org/presentationml/2006/ole">
            <p:oleObj spid="_x0000_s91153" name="公式" r:id="rId4" imgW="177480" imgH="241200" progId="Equation.3">
              <p:embed/>
            </p:oleObj>
          </a:graphicData>
        </a:graphic>
      </p:graphicFrame>
      <p:graphicFrame>
        <p:nvGraphicFramePr>
          <p:cNvPr id="91154" name="Object 44"/>
          <p:cNvGraphicFramePr>
            <a:graphicFrameLocks noChangeAspect="1"/>
          </p:cNvGraphicFramePr>
          <p:nvPr/>
        </p:nvGraphicFramePr>
        <p:xfrm>
          <a:off x="5771573" y="4822969"/>
          <a:ext cx="477838" cy="647700"/>
        </p:xfrm>
        <a:graphic>
          <a:graphicData uri="http://schemas.openxmlformats.org/presentationml/2006/ole">
            <p:oleObj spid="_x0000_s91154" name="公式" r:id="rId5" imgW="177480" imgH="241200" progId="Equation.3">
              <p:embed/>
            </p:oleObj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8" name="Rectangle 3"/>
          <p:cNvSpPr>
            <a:spLocks noChangeArrowheads="1"/>
          </p:cNvSpPr>
          <p:nvPr/>
        </p:nvSpPr>
        <p:spPr bwMode="auto">
          <a:xfrm>
            <a:off x="0" y="39195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69" name="Rectangle 5"/>
          <p:cNvSpPr>
            <a:spLocks noChangeArrowheads="1"/>
          </p:cNvSpPr>
          <p:nvPr/>
        </p:nvSpPr>
        <p:spPr bwMode="auto">
          <a:xfrm>
            <a:off x="0" y="3175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70" name="Rectangle 6"/>
          <p:cNvSpPr>
            <a:spLocks noChangeArrowheads="1"/>
          </p:cNvSpPr>
          <p:nvPr/>
        </p:nvSpPr>
        <p:spPr bwMode="auto">
          <a:xfrm>
            <a:off x="0" y="5461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71" name="Rectangle 7"/>
          <p:cNvSpPr>
            <a:spLocks noChangeArrowheads="1"/>
          </p:cNvSpPr>
          <p:nvPr/>
        </p:nvSpPr>
        <p:spPr bwMode="auto">
          <a:xfrm>
            <a:off x="0" y="39052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72" name="Rectangle 8"/>
          <p:cNvSpPr>
            <a:spLocks noChangeArrowheads="1"/>
          </p:cNvSpPr>
          <p:nvPr/>
        </p:nvSpPr>
        <p:spPr bwMode="auto">
          <a:xfrm>
            <a:off x="0" y="35369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73" name="Rectangle 10"/>
          <p:cNvSpPr>
            <a:spLocks noChangeArrowheads="1"/>
          </p:cNvSpPr>
          <p:nvPr/>
        </p:nvSpPr>
        <p:spPr bwMode="auto">
          <a:xfrm>
            <a:off x="4083716" y="1319085"/>
            <a:ext cx="511333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36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1</a:t>
            </a:r>
            <a:r>
              <a:rPr lang="zh-CN" altLang="en-US" sz="3600" b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） 电光相位调制</a:t>
            </a:r>
          </a:p>
        </p:txBody>
      </p:sp>
      <p:graphicFrame>
        <p:nvGraphicFramePr>
          <p:cNvPr id="92174" name="Object 16"/>
          <p:cNvGraphicFramePr>
            <a:graphicFrameLocks noChangeAspect="1"/>
          </p:cNvGraphicFramePr>
          <p:nvPr/>
        </p:nvGraphicFramePr>
        <p:xfrm>
          <a:off x="3967740" y="6048953"/>
          <a:ext cx="5930900" cy="877888"/>
        </p:xfrm>
        <a:graphic>
          <a:graphicData uri="http://schemas.openxmlformats.org/presentationml/2006/ole">
            <p:oleObj spid="_x0000_s92174" name="公式" r:id="rId3" imgW="2831760" imgH="419040" progId="Equation.3">
              <p:embed/>
            </p:oleObj>
          </a:graphicData>
        </a:graphic>
      </p:graphicFrame>
      <p:graphicFrame>
        <p:nvGraphicFramePr>
          <p:cNvPr id="92175" name="Object 12"/>
          <p:cNvGraphicFramePr>
            <a:graphicFrameLocks noChangeAspect="1"/>
          </p:cNvGraphicFramePr>
          <p:nvPr/>
        </p:nvGraphicFramePr>
        <p:xfrm>
          <a:off x="3135311" y="2308081"/>
          <a:ext cx="7643523" cy="3498454"/>
        </p:xfrm>
        <a:graphic>
          <a:graphicData uri="http://schemas.openxmlformats.org/presentationml/2006/ole">
            <p:oleObj spid="_x0000_s92175" name="Visio" r:id="rId4" imgW="2581275" imgH="1176909" progId="">
              <p:embed/>
            </p:oleObj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2" name="Rectangle 3"/>
          <p:cNvSpPr>
            <a:spLocks noChangeArrowheads="1"/>
          </p:cNvSpPr>
          <p:nvPr/>
        </p:nvSpPr>
        <p:spPr bwMode="auto">
          <a:xfrm>
            <a:off x="14288" y="40052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3193" name="Rectangle 4"/>
          <p:cNvSpPr>
            <a:spLocks noChangeArrowheads="1"/>
          </p:cNvSpPr>
          <p:nvPr/>
        </p:nvSpPr>
        <p:spPr bwMode="auto">
          <a:xfrm>
            <a:off x="14288" y="4032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3194" name="Rectangle 5"/>
          <p:cNvSpPr>
            <a:spLocks noChangeArrowheads="1"/>
          </p:cNvSpPr>
          <p:nvPr/>
        </p:nvSpPr>
        <p:spPr bwMode="auto">
          <a:xfrm>
            <a:off x="14288" y="6318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3195" name="Rectangle 6"/>
          <p:cNvSpPr>
            <a:spLocks noChangeArrowheads="1"/>
          </p:cNvSpPr>
          <p:nvPr/>
        </p:nvSpPr>
        <p:spPr bwMode="auto">
          <a:xfrm>
            <a:off x="14288" y="39909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3196" name="Rectangle 7"/>
          <p:cNvSpPr>
            <a:spLocks noChangeArrowheads="1"/>
          </p:cNvSpPr>
          <p:nvPr/>
        </p:nvSpPr>
        <p:spPr bwMode="auto">
          <a:xfrm>
            <a:off x="14288" y="36226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3197" name="Rectangle 8"/>
          <p:cNvSpPr>
            <a:spLocks noChangeArrowheads="1"/>
          </p:cNvSpPr>
          <p:nvPr/>
        </p:nvSpPr>
        <p:spPr bwMode="auto">
          <a:xfrm>
            <a:off x="4070295" y="1380677"/>
            <a:ext cx="511333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36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2</a:t>
            </a:r>
            <a:r>
              <a:rPr lang="zh-CN" altLang="en-US" sz="36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） 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电光强度调制</a:t>
            </a:r>
          </a:p>
        </p:txBody>
      </p:sp>
      <p:sp>
        <p:nvSpPr>
          <p:cNvPr id="93198" name="Rectangle 13"/>
          <p:cNvSpPr>
            <a:spLocks noChangeArrowheads="1"/>
          </p:cNvSpPr>
          <p:nvPr/>
        </p:nvSpPr>
        <p:spPr bwMode="auto">
          <a:xfrm>
            <a:off x="-382588" y="40481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6076" name="Object 12"/>
          <p:cNvGraphicFramePr>
            <a:graphicFrameLocks noChangeAspect="1"/>
          </p:cNvGraphicFramePr>
          <p:nvPr/>
        </p:nvGraphicFramePr>
        <p:xfrm>
          <a:off x="4069918" y="5528541"/>
          <a:ext cx="3168650" cy="747713"/>
        </p:xfrm>
        <a:graphic>
          <a:graphicData uri="http://schemas.openxmlformats.org/presentationml/2006/ole">
            <p:oleObj spid="_x0000_s93199" name="公式" r:id="rId3" imgW="1816100" imgH="431800" progId="Equation.3">
              <p:embed/>
            </p:oleObj>
          </a:graphicData>
        </a:graphic>
      </p:graphicFrame>
      <p:graphicFrame>
        <p:nvGraphicFramePr>
          <p:cNvPr id="216078" name="Object 14"/>
          <p:cNvGraphicFramePr>
            <a:graphicFrameLocks noChangeAspect="1"/>
          </p:cNvGraphicFramePr>
          <p:nvPr/>
        </p:nvGraphicFramePr>
        <p:xfrm>
          <a:off x="3566680" y="6531841"/>
          <a:ext cx="1081088" cy="371475"/>
        </p:xfrm>
        <a:graphic>
          <a:graphicData uri="http://schemas.openxmlformats.org/presentationml/2006/ole">
            <p:oleObj spid="_x0000_s93200" name="公式" r:id="rId4" imgW="583947" imgH="203112" progId="Equation.3">
              <p:embed/>
            </p:oleObj>
          </a:graphicData>
        </a:graphic>
      </p:graphicFrame>
      <p:sp>
        <p:nvSpPr>
          <p:cNvPr id="93201" name="Rectangle 17"/>
          <p:cNvSpPr>
            <a:spLocks noChangeArrowheads="1"/>
          </p:cNvSpPr>
          <p:nvPr/>
        </p:nvSpPr>
        <p:spPr bwMode="auto">
          <a:xfrm>
            <a:off x="14288" y="43370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6080" name="Object 16"/>
          <p:cNvGraphicFramePr>
            <a:graphicFrameLocks noChangeAspect="1"/>
          </p:cNvGraphicFramePr>
          <p:nvPr/>
        </p:nvGraphicFramePr>
        <p:xfrm>
          <a:off x="4862080" y="6463579"/>
          <a:ext cx="2808288" cy="539750"/>
        </p:xfrm>
        <a:graphic>
          <a:graphicData uri="http://schemas.openxmlformats.org/presentationml/2006/ole">
            <p:oleObj spid="_x0000_s93202" name="公式" r:id="rId5" imgW="1193800" imgH="228600" progId="Equation.3">
              <p:embed/>
            </p:oleObj>
          </a:graphicData>
        </a:graphic>
      </p:graphicFrame>
      <p:graphicFrame>
        <p:nvGraphicFramePr>
          <p:cNvPr id="216082" name="Object 18"/>
          <p:cNvGraphicFramePr>
            <a:graphicFrameLocks noChangeAspect="1"/>
          </p:cNvGraphicFramePr>
          <p:nvPr/>
        </p:nvGraphicFramePr>
        <p:xfrm>
          <a:off x="8318068" y="6320704"/>
          <a:ext cx="2376487" cy="781050"/>
        </p:xfrm>
        <a:graphic>
          <a:graphicData uri="http://schemas.openxmlformats.org/presentationml/2006/ole">
            <p:oleObj spid="_x0000_s93203" name="公式" r:id="rId6" imgW="1307532" imgH="431613" progId="Equation.3">
              <p:embed/>
            </p:oleObj>
          </a:graphicData>
        </a:graphic>
      </p:graphicFrame>
      <p:sp>
        <p:nvSpPr>
          <p:cNvPr id="216084" name="Rectangle 20"/>
          <p:cNvSpPr>
            <a:spLocks noChangeArrowheads="1"/>
          </p:cNvSpPr>
          <p:nvPr/>
        </p:nvSpPr>
        <p:spPr bwMode="auto">
          <a:xfrm>
            <a:off x="3061855" y="6490566"/>
            <a:ext cx="6477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若</a:t>
            </a:r>
            <a:endParaRPr lang="zh-CN" altLang="en-US" sz="2800" b="1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216085" name="Rectangle 21"/>
          <p:cNvSpPr>
            <a:spLocks noChangeArrowheads="1"/>
          </p:cNvSpPr>
          <p:nvPr/>
        </p:nvSpPr>
        <p:spPr bwMode="auto">
          <a:xfrm>
            <a:off x="7670368" y="6422304"/>
            <a:ext cx="6477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或</a:t>
            </a:r>
            <a:endParaRPr lang="zh-CN" altLang="en-US" sz="2800" b="1">
              <a:latin typeface="Times New Roman" pitchFamily="18" charset="0"/>
              <a:ea typeface="微软雅黑" pitchFamily="34" charset="-122"/>
            </a:endParaRPr>
          </a:p>
        </p:txBody>
      </p:sp>
      <p:graphicFrame>
        <p:nvGraphicFramePr>
          <p:cNvPr id="93206" name="Object 21"/>
          <p:cNvGraphicFramePr>
            <a:graphicFrameLocks noChangeAspect="1"/>
          </p:cNvGraphicFramePr>
          <p:nvPr/>
        </p:nvGraphicFramePr>
        <p:xfrm>
          <a:off x="1662401" y="2370282"/>
          <a:ext cx="6367579" cy="2686627"/>
        </p:xfrm>
        <a:graphic>
          <a:graphicData uri="http://schemas.openxmlformats.org/presentationml/2006/ole">
            <p:oleObj spid="_x0000_s93206" name="Visio" r:id="rId7" imgW="3112560" imgH="1314720" progId="">
              <p:embed/>
            </p:oleObj>
          </a:graphicData>
        </a:graphic>
      </p:graphicFrame>
      <p:graphicFrame>
        <p:nvGraphicFramePr>
          <p:cNvPr id="93207" name="Object 22"/>
          <p:cNvGraphicFramePr>
            <a:graphicFrameLocks noChangeAspect="1"/>
          </p:cNvGraphicFramePr>
          <p:nvPr/>
        </p:nvGraphicFramePr>
        <p:xfrm>
          <a:off x="8683913" y="2251363"/>
          <a:ext cx="3785178" cy="3338279"/>
        </p:xfrm>
        <a:graphic>
          <a:graphicData uri="http://schemas.openxmlformats.org/presentationml/2006/ole">
            <p:oleObj spid="_x0000_s93207" name="Visio" r:id="rId8" imgW="2638806" imgH="2071497" progId="">
              <p:embed/>
            </p:oleObj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6" name="Rectangle 3"/>
          <p:cNvSpPr>
            <a:spLocks noChangeArrowheads="1"/>
          </p:cNvSpPr>
          <p:nvPr/>
        </p:nvSpPr>
        <p:spPr bwMode="auto">
          <a:xfrm>
            <a:off x="268288" y="40052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217" name="Rectangle 4"/>
          <p:cNvSpPr>
            <a:spLocks noChangeArrowheads="1"/>
          </p:cNvSpPr>
          <p:nvPr/>
        </p:nvSpPr>
        <p:spPr bwMode="auto">
          <a:xfrm>
            <a:off x="960438" y="2791594"/>
            <a:ext cx="7075198" cy="3323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当超声波在某些介质中传播时，产生时间与空间的周期性弹性应变，造成介质密度（或折射率）周期性变化。介质随超声应变与折射率变化的这一特性，可使光在介质中传播时发生衍射，从而产生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声光效应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。</a:t>
            </a:r>
          </a:p>
        </p:txBody>
      </p:sp>
      <p:sp>
        <p:nvSpPr>
          <p:cNvPr id="94220" name="Rectangle 7"/>
          <p:cNvSpPr>
            <a:spLocks noChangeArrowheads="1"/>
          </p:cNvSpPr>
          <p:nvPr/>
        </p:nvSpPr>
        <p:spPr bwMode="auto">
          <a:xfrm>
            <a:off x="268288" y="39909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221" name="Rectangle 8"/>
          <p:cNvSpPr>
            <a:spLocks noChangeArrowheads="1"/>
          </p:cNvSpPr>
          <p:nvPr/>
        </p:nvSpPr>
        <p:spPr bwMode="auto">
          <a:xfrm>
            <a:off x="268288" y="36226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222" name="Rectangle 10"/>
          <p:cNvSpPr>
            <a:spLocks noChangeArrowheads="1"/>
          </p:cNvSpPr>
          <p:nvPr/>
        </p:nvSpPr>
        <p:spPr bwMode="auto">
          <a:xfrm>
            <a:off x="4815232" y="1319895"/>
            <a:ext cx="36734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2.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 声光调制</a:t>
            </a:r>
          </a:p>
        </p:txBody>
      </p:sp>
      <p:graphicFrame>
        <p:nvGraphicFramePr>
          <p:cNvPr id="94223" name="Object 12"/>
          <p:cNvGraphicFramePr>
            <a:graphicFrameLocks noChangeAspect="1"/>
          </p:cNvGraphicFramePr>
          <p:nvPr/>
        </p:nvGraphicFramePr>
        <p:xfrm>
          <a:off x="8118042" y="2277052"/>
          <a:ext cx="4448031" cy="4282313"/>
        </p:xfrm>
        <a:graphic>
          <a:graphicData uri="http://schemas.openxmlformats.org/presentationml/2006/ole">
            <p:oleObj spid="_x0000_s94223" name="Visio" r:id="rId3" imgW="1938240" imgH="1866960" progId="">
              <p:embed/>
            </p:oleObj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1" name="Rectangle 4"/>
          <p:cNvSpPr>
            <a:spLocks noChangeArrowheads="1"/>
          </p:cNvSpPr>
          <p:nvPr/>
        </p:nvSpPr>
        <p:spPr bwMode="auto">
          <a:xfrm>
            <a:off x="695324" y="2066321"/>
            <a:ext cx="12300239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3200" b="1" dirty="0" smtClean="0">
                <a:latin typeface="Times New Roman" pitchFamily="18" charset="0"/>
                <a:ea typeface="微软雅黑" pitchFamily="34" charset="-122"/>
              </a:rPr>
              <a:t> 理论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分析指出，当入射角（入射光与超声波面间的夹角）     满足以下条件时，衍射光最强。</a:t>
            </a:r>
          </a:p>
        </p:txBody>
      </p:sp>
      <p:sp>
        <p:nvSpPr>
          <p:cNvPr id="95245" name="Rectangle 8"/>
          <p:cNvSpPr>
            <a:spLocks noChangeArrowheads="1"/>
          </p:cNvSpPr>
          <p:nvPr/>
        </p:nvSpPr>
        <p:spPr bwMode="auto">
          <a:xfrm>
            <a:off x="155575" y="37338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5246" name="Rectangle 9"/>
          <p:cNvSpPr>
            <a:spLocks noChangeArrowheads="1"/>
          </p:cNvSpPr>
          <p:nvPr/>
        </p:nvSpPr>
        <p:spPr bwMode="auto">
          <a:xfrm>
            <a:off x="4853132" y="1155271"/>
            <a:ext cx="36734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2.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 声光调制</a:t>
            </a:r>
          </a:p>
        </p:txBody>
      </p:sp>
      <p:graphicFrame>
        <p:nvGraphicFramePr>
          <p:cNvPr id="95248" name="Object 11"/>
          <p:cNvGraphicFramePr>
            <a:graphicFrameLocks noChangeAspect="1"/>
          </p:cNvGraphicFramePr>
          <p:nvPr/>
        </p:nvGraphicFramePr>
        <p:xfrm>
          <a:off x="11005708" y="2310968"/>
          <a:ext cx="334963" cy="503237"/>
        </p:xfrm>
        <a:graphic>
          <a:graphicData uri="http://schemas.openxmlformats.org/presentationml/2006/ole">
            <p:oleObj spid="_x0000_s95248" name="公式" r:id="rId3" imgW="152334" imgH="228501" progId="Equation.3">
              <p:embed/>
            </p:oleObj>
          </a:graphicData>
        </a:graphic>
      </p:graphicFrame>
      <p:sp>
        <p:nvSpPr>
          <p:cNvPr id="95249" name="Rectangle 14"/>
          <p:cNvSpPr>
            <a:spLocks noChangeArrowheads="1"/>
          </p:cNvSpPr>
          <p:nvPr/>
        </p:nvSpPr>
        <p:spPr bwMode="auto">
          <a:xfrm>
            <a:off x="155575" y="37004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5250" name="Object 13"/>
          <p:cNvGraphicFramePr>
            <a:graphicFrameLocks noChangeAspect="1"/>
          </p:cNvGraphicFramePr>
          <p:nvPr/>
        </p:nvGraphicFramePr>
        <p:xfrm>
          <a:off x="3694114" y="3764396"/>
          <a:ext cx="4897437" cy="908050"/>
        </p:xfrm>
        <a:graphic>
          <a:graphicData uri="http://schemas.openxmlformats.org/presentationml/2006/ole">
            <p:oleObj spid="_x0000_s95250" name="公式" r:id="rId4" imgW="2616120" imgH="482400" progId="Equation.3">
              <p:embed/>
            </p:oleObj>
          </a:graphicData>
        </a:graphic>
      </p:graphicFrame>
      <p:sp>
        <p:nvSpPr>
          <p:cNvPr id="95251" name="Rectangle 4"/>
          <p:cNvSpPr>
            <a:spLocks noChangeArrowheads="1"/>
          </p:cNvSpPr>
          <p:nvPr/>
        </p:nvSpPr>
        <p:spPr bwMode="auto">
          <a:xfrm>
            <a:off x="1714644" y="5188614"/>
            <a:ext cx="10588192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</a:rPr>
              <a:t>N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为衍射光的级数，     、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</a:rPr>
              <a:t>k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分别为入射光的波长和波数             ，</a:t>
            </a:r>
          </a:p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     为超声波的波长，           为超声波的波数。 </a:t>
            </a:r>
          </a:p>
        </p:txBody>
      </p:sp>
      <p:sp>
        <p:nvSpPr>
          <p:cNvPr id="95252" name="Rectangle 22"/>
          <p:cNvSpPr>
            <a:spLocks noChangeArrowheads="1"/>
          </p:cNvSpPr>
          <p:nvPr/>
        </p:nvSpPr>
        <p:spPr bwMode="auto">
          <a:xfrm>
            <a:off x="155575" y="38528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 i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5253" name="Object 21"/>
          <p:cNvGraphicFramePr>
            <a:graphicFrameLocks noChangeAspect="1"/>
          </p:cNvGraphicFramePr>
          <p:nvPr/>
        </p:nvGraphicFramePr>
        <p:xfrm>
          <a:off x="4858182" y="5376430"/>
          <a:ext cx="369887" cy="433388"/>
        </p:xfrm>
        <a:graphic>
          <a:graphicData uri="http://schemas.openxmlformats.org/presentationml/2006/ole">
            <p:oleObj spid="_x0000_s95253" name="公式" r:id="rId5" imgW="139579" imgH="177646" progId="Equation.3">
              <p:embed/>
            </p:oleObj>
          </a:graphicData>
        </a:graphic>
      </p:graphicFrame>
      <p:sp>
        <p:nvSpPr>
          <p:cNvPr id="95254" name="Rectangle 24"/>
          <p:cNvSpPr>
            <a:spLocks noChangeArrowheads="1"/>
          </p:cNvSpPr>
          <p:nvPr/>
        </p:nvSpPr>
        <p:spPr bwMode="auto">
          <a:xfrm>
            <a:off x="155575" y="37480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 i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5255" name="Object 23"/>
          <p:cNvGraphicFramePr>
            <a:graphicFrameLocks noChangeAspect="1"/>
          </p:cNvGraphicFramePr>
          <p:nvPr/>
        </p:nvGraphicFramePr>
        <p:xfrm>
          <a:off x="10348478" y="5218113"/>
          <a:ext cx="1087438" cy="811212"/>
        </p:xfrm>
        <a:graphic>
          <a:graphicData uri="http://schemas.openxmlformats.org/presentationml/2006/ole">
            <p:oleObj spid="_x0000_s95255" name="公式" r:id="rId6" imgW="482391" imgH="393529" progId="Equation.3">
              <p:embed/>
            </p:oleObj>
          </a:graphicData>
        </a:graphic>
      </p:graphicFrame>
      <p:graphicFrame>
        <p:nvGraphicFramePr>
          <p:cNvPr id="95257" name="Object 25"/>
          <p:cNvGraphicFramePr>
            <a:graphicFrameLocks noChangeAspect="1"/>
          </p:cNvGraphicFramePr>
          <p:nvPr/>
        </p:nvGraphicFramePr>
        <p:xfrm>
          <a:off x="1731528" y="5897129"/>
          <a:ext cx="431800" cy="546100"/>
        </p:xfrm>
        <a:graphic>
          <a:graphicData uri="http://schemas.openxmlformats.org/presentationml/2006/ole">
            <p:oleObj spid="_x0000_s95257" name="公式" r:id="rId7" imgW="177646" imgH="228402" progId="Equation.3">
              <p:embed/>
            </p:oleObj>
          </a:graphicData>
        </a:graphic>
      </p:graphicFrame>
      <p:graphicFrame>
        <p:nvGraphicFramePr>
          <p:cNvPr id="95259" name="Object 27"/>
          <p:cNvGraphicFramePr>
            <a:graphicFrameLocks noChangeAspect="1"/>
          </p:cNvGraphicFramePr>
          <p:nvPr/>
        </p:nvGraphicFramePr>
        <p:xfrm>
          <a:off x="5099770" y="5919211"/>
          <a:ext cx="900112" cy="736600"/>
        </p:xfrm>
        <a:graphic>
          <a:graphicData uri="http://schemas.openxmlformats.org/presentationml/2006/ole">
            <p:oleObj spid="_x0000_s95259" name="公式" r:id="rId8" imgW="520474" imgH="431613" progId="Equation.3">
              <p:embed/>
            </p:oleObj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1059152" y="2283849"/>
            <a:ext cx="7378266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若掠射角           ，一般情况下衍射光都很弱。只有在掠射角满足下式条件下，衍射光最强。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97294" name="Rectangle 9"/>
          <p:cNvSpPr>
            <a:spLocks noChangeArrowheads="1"/>
          </p:cNvSpPr>
          <p:nvPr/>
        </p:nvSpPr>
        <p:spPr bwMode="auto">
          <a:xfrm>
            <a:off x="2853859" y="1263981"/>
            <a:ext cx="77755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布拉格衍射</a:t>
            </a:r>
          </a:p>
        </p:txBody>
      </p:sp>
      <p:sp>
        <p:nvSpPr>
          <p:cNvPr id="97296" name="Rectangle 11"/>
          <p:cNvSpPr>
            <a:spLocks noChangeArrowheads="1"/>
          </p:cNvSpPr>
          <p:nvPr/>
        </p:nvSpPr>
        <p:spPr bwMode="auto">
          <a:xfrm>
            <a:off x="309563" y="3433763"/>
            <a:ext cx="91440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20175" name="Object 15"/>
          <p:cNvGraphicFramePr>
            <a:graphicFrameLocks noChangeAspect="1"/>
          </p:cNvGraphicFramePr>
          <p:nvPr/>
        </p:nvGraphicFramePr>
        <p:xfrm>
          <a:off x="2694565" y="2483715"/>
          <a:ext cx="755650" cy="442913"/>
        </p:xfrm>
        <a:graphic>
          <a:graphicData uri="http://schemas.openxmlformats.org/presentationml/2006/ole">
            <p:oleObj spid="_x0000_s97299" name="公式" r:id="rId3" imgW="393529" imgH="228501" progId="Equation.3">
              <p:embed/>
            </p:oleObj>
          </a:graphicData>
        </a:graphic>
      </p:graphicFrame>
      <p:graphicFrame>
        <p:nvGraphicFramePr>
          <p:cNvPr id="220177" name="Object 17"/>
          <p:cNvGraphicFramePr>
            <a:graphicFrameLocks noChangeAspect="1"/>
          </p:cNvGraphicFramePr>
          <p:nvPr/>
        </p:nvGraphicFramePr>
        <p:xfrm>
          <a:off x="2791401" y="3774930"/>
          <a:ext cx="3706381" cy="998382"/>
        </p:xfrm>
        <a:graphic>
          <a:graphicData uri="http://schemas.openxmlformats.org/presentationml/2006/ole">
            <p:oleObj spid="_x0000_s97301" name="公式" r:id="rId4" imgW="1587500" imgH="431800" progId="Equation.3">
              <p:embed/>
            </p:oleObj>
          </a:graphicData>
        </a:graphic>
      </p:graphicFrame>
      <p:sp>
        <p:nvSpPr>
          <p:cNvPr id="220182" name="Rectangle 22"/>
          <p:cNvSpPr>
            <a:spLocks noChangeArrowheads="1"/>
          </p:cNvSpPr>
          <p:nvPr/>
        </p:nvSpPr>
        <p:spPr bwMode="auto">
          <a:xfrm>
            <a:off x="1011380" y="4787666"/>
            <a:ext cx="7647711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布拉格条件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，    称为布拉格角。此时的衍射光是不对称的，只有正一级或负一级。衍射效率可接近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</a:rPr>
              <a:t>100%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，这种衍射称为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布拉格衍射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。</a:t>
            </a:r>
            <a:endParaRPr lang="zh-CN" altLang="en-US" sz="2800" b="1" dirty="0">
              <a:latin typeface="Times New Roman" pitchFamily="18" charset="0"/>
              <a:ea typeface="微软雅黑" pitchFamily="34" charset="-122"/>
            </a:endParaRPr>
          </a:p>
        </p:txBody>
      </p:sp>
      <p:graphicFrame>
        <p:nvGraphicFramePr>
          <p:cNvPr id="220183" name="Object 23"/>
          <p:cNvGraphicFramePr>
            <a:graphicFrameLocks noChangeAspect="1"/>
          </p:cNvGraphicFramePr>
          <p:nvPr/>
        </p:nvGraphicFramePr>
        <p:xfrm>
          <a:off x="3960380" y="4988647"/>
          <a:ext cx="328613" cy="396875"/>
        </p:xfrm>
        <a:graphic>
          <a:graphicData uri="http://schemas.openxmlformats.org/presentationml/2006/ole">
            <p:oleObj spid="_x0000_s97304" name="公式" r:id="rId5" imgW="177569" imgH="215619" progId="Equation.3">
              <p:embed/>
            </p:oleObj>
          </a:graphicData>
        </a:graphic>
      </p:graphicFrame>
      <p:graphicFrame>
        <p:nvGraphicFramePr>
          <p:cNvPr id="97305" name="Object 22"/>
          <p:cNvGraphicFramePr>
            <a:graphicFrameLocks noChangeAspect="1"/>
          </p:cNvGraphicFramePr>
          <p:nvPr/>
        </p:nvGraphicFramePr>
        <p:xfrm>
          <a:off x="8825346" y="2247469"/>
          <a:ext cx="3879271" cy="4303878"/>
        </p:xfrm>
        <a:graphic>
          <a:graphicData uri="http://schemas.openxmlformats.org/presentationml/2006/ole">
            <p:oleObj spid="_x0000_s97305" name="Visio" r:id="rId6" imgW="1472760" imgH="1641600" progId="">
              <p:embed/>
            </p:oleObj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4" name="Rectangle 6"/>
          <p:cNvSpPr>
            <a:spLocks noChangeArrowheads="1"/>
          </p:cNvSpPr>
          <p:nvPr/>
        </p:nvSpPr>
        <p:spPr bwMode="auto">
          <a:xfrm>
            <a:off x="379413" y="6032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1193" name="Rectangle 9"/>
          <p:cNvSpPr>
            <a:spLocks noChangeArrowheads="1"/>
          </p:cNvSpPr>
          <p:nvPr/>
        </p:nvSpPr>
        <p:spPr bwMode="auto">
          <a:xfrm>
            <a:off x="2865609" y="1247969"/>
            <a:ext cx="77755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声光调制原理</a:t>
            </a:r>
          </a:p>
        </p:txBody>
      </p:sp>
      <p:graphicFrame>
        <p:nvGraphicFramePr>
          <p:cNvPr id="221206" name="Object 22"/>
          <p:cNvGraphicFramePr>
            <a:graphicFrameLocks noChangeAspect="1"/>
          </p:cNvGraphicFramePr>
          <p:nvPr/>
        </p:nvGraphicFramePr>
        <p:xfrm>
          <a:off x="2381249" y="2996768"/>
          <a:ext cx="3496265" cy="1021050"/>
        </p:xfrm>
        <a:graphic>
          <a:graphicData uri="http://schemas.openxmlformats.org/presentationml/2006/ole">
            <p:oleObj spid="_x0000_s98324" name="公式" r:id="rId3" imgW="1473120" imgH="431640" progId="Equation.3">
              <p:embed/>
            </p:oleObj>
          </a:graphicData>
        </a:graphic>
      </p:graphicFrame>
      <p:graphicFrame>
        <p:nvGraphicFramePr>
          <p:cNvPr id="221210" name="Object 26"/>
          <p:cNvGraphicFramePr>
            <a:graphicFrameLocks noChangeAspect="1"/>
          </p:cNvGraphicFramePr>
          <p:nvPr/>
        </p:nvGraphicFramePr>
        <p:xfrm>
          <a:off x="1926936" y="5796973"/>
          <a:ext cx="5178560" cy="1019463"/>
        </p:xfrm>
        <a:graphic>
          <a:graphicData uri="http://schemas.openxmlformats.org/presentationml/2006/ole">
            <p:oleObj spid="_x0000_s98326" name="公式" r:id="rId4" imgW="2184400" imgH="431800" progId="Equation.3">
              <p:embed/>
            </p:oleObj>
          </a:graphicData>
        </a:graphic>
      </p:graphicFrame>
      <p:graphicFrame>
        <p:nvGraphicFramePr>
          <p:cNvPr id="98327" name="Object 25"/>
          <p:cNvGraphicFramePr>
            <a:graphicFrameLocks noChangeAspect="1"/>
          </p:cNvGraphicFramePr>
          <p:nvPr/>
        </p:nvGraphicFramePr>
        <p:xfrm>
          <a:off x="8795038" y="2222068"/>
          <a:ext cx="4006562" cy="4446017"/>
        </p:xfrm>
        <a:graphic>
          <a:graphicData uri="http://schemas.openxmlformats.org/presentationml/2006/ole">
            <p:oleObj spid="_x0000_s98327" name="Visio" r:id="rId5" imgW="1472760" imgH="1641600" progId="">
              <p:embed/>
            </p:oleObj>
          </a:graphicData>
        </a:graphic>
      </p:graphicFrame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962758" y="2326533"/>
            <a:ext cx="7654780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当满足入射角    较小且              的布拉格条件时 </a:t>
            </a:r>
          </a:p>
        </p:txBody>
      </p:sp>
      <p:graphicFrame>
        <p:nvGraphicFramePr>
          <p:cNvPr id="98330" name="Object 27"/>
          <p:cNvGraphicFramePr>
            <a:graphicFrameLocks noChangeAspect="1"/>
          </p:cNvGraphicFramePr>
          <p:nvPr/>
        </p:nvGraphicFramePr>
        <p:xfrm>
          <a:off x="3253808" y="2525426"/>
          <a:ext cx="269875" cy="404812"/>
        </p:xfrm>
        <a:graphic>
          <a:graphicData uri="http://schemas.openxmlformats.org/presentationml/2006/ole">
            <p:oleObj spid="_x0000_s98330" name="公式" r:id="rId6" imgW="152334" imgH="228501" progId="Equation.3">
              <p:embed/>
            </p:oleObj>
          </a:graphicData>
        </a:graphic>
      </p:graphicFrame>
      <p:graphicFrame>
        <p:nvGraphicFramePr>
          <p:cNvPr id="98332" name="Object 29"/>
          <p:cNvGraphicFramePr>
            <a:graphicFrameLocks noChangeAspect="1"/>
          </p:cNvGraphicFramePr>
          <p:nvPr/>
        </p:nvGraphicFramePr>
        <p:xfrm>
          <a:off x="4756017" y="2440133"/>
          <a:ext cx="998537" cy="496888"/>
        </p:xfrm>
        <a:graphic>
          <a:graphicData uri="http://schemas.openxmlformats.org/presentationml/2006/ole">
            <p:oleObj spid="_x0000_s98332" name="公式" r:id="rId7" imgW="457200" imgH="228600" progId="Equation.3">
              <p:embed/>
            </p:oleObj>
          </a:graphicData>
        </a:graphic>
      </p:graphicFrame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962759" y="3919594"/>
            <a:ext cx="6380162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</a:rPr>
              <a:t>F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与     分别为超声波的频率与速度。 </a:t>
            </a:r>
          </a:p>
        </p:txBody>
      </p:sp>
      <p:graphicFrame>
        <p:nvGraphicFramePr>
          <p:cNvPr id="98335" name="Object 32"/>
          <p:cNvGraphicFramePr>
            <a:graphicFrameLocks noChangeAspect="1"/>
          </p:cNvGraphicFramePr>
          <p:nvPr/>
        </p:nvGraphicFramePr>
        <p:xfrm>
          <a:off x="1663711" y="3997620"/>
          <a:ext cx="412750" cy="619125"/>
        </p:xfrm>
        <a:graphic>
          <a:graphicData uri="http://schemas.openxmlformats.org/presentationml/2006/ole">
            <p:oleObj spid="_x0000_s98335" name="公式" r:id="rId8" imgW="152334" imgH="228501" progId="Equation.3">
              <p:embed/>
            </p:oleObj>
          </a:graphicData>
        </a:graphic>
      </p:graphicFrame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0238" y="4730731"/>
            <a:ext cx="7682489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入射（掠射）角     与衍射角     之和称为偏转角 </a:t>
            </a:r>
          </a:p>
        </p:txBody>
      </p:sp>
      <p:graphicFrame>
        <p:nvGraphicFramePr>
          <p:cNvPr id="98337" name="Object 35"/>
          <p:cNvGraphicFramePr>
            <a:graphicFrameLocks noChangeAspect="1"/>
          </p:cNvGraphicFramePr>
          <p:nvPr/>
        </p:nvGraphicFramePr>
        <p:xfrm>
          <a:off x="3323215" y="4901914"/>
          <a:ext cx="269875" cy="404813"/>
        </p:xfrm>
        <a:graphic>
          <a:graphicData uri="http://schemas.openxmlformats.org/presentationml/2006/ole">
            <p:oleObj spid="_x0000_s98337" name="公式" r:id="rId9" imgW="152334" imgH="228501" progId="Equation.3">
              <p:embed/>
            </p:oleObj>
          </a:graphicData>
        </a:graphic>
      </p:graphicFrame>
      <p:graphicFrame>
        <p:nvGraphicFramePr>
          <p:cNvPr id="98338" name="Object 36"/>
          <p:cNvGraphicFramePr>
            <a:graphicFrameLocks noChangeAspect="1"/>
          </p:cNvGraphicFramePr>
          <p:nvPr/>
        </p:nvGraphicFramePr>
        <p:xfrm>
          <a:off x="5083031" y="4933086"/>
          <a:ext cx="388937" cy="469900"/>
        </p:xfrm>
        <a:graphic>
          <a:graphicData uri="http://schemas.openxmlformats.org/presentationml/2006/ole">
            <p:oleObj spid="_x0000_s98338" name="公式" r:id="rId10" imgW="177480" imgH="215640" progId="Equation.3">
              <p:embed/>
            </p:oleObj>
          </a:graphicData>
        </a:graphic>
      </p:graphicFrame>
      <p:graphicFrame>
        <p:nvGraphicFramePr>
          <p:cNvPr id="98339" name="Object 37"/>
          <p:cNvGraphicFramePr>
            <a:graphicFrameLocks noChangeAspect="1"/>
          </p:cNvGraphicFramePr>
          <p:nvPr/>
        </p:nvGraphicFramePr>
        <p:xfrm>
          <a:off x="8148064" y="4886615"/>
          <a:ext cx="388937" cy="496888"/>
        </p:xfrm>
        <a:graphic>
          <a:graphicData uri="http://schemas.openxmlformats.org/presentationml/2006/ole">
            <p:oleObj spid="_x0000_s98339" name="公式" r:id="rId11" imgW="177480" imgH="228600" progId="Equation.3">
              <p:embed/>
            </p:oleObj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6" name="Rectangle 3"/>
          <p:cNvSpPr>
            <a:spLocks noChangeArrowheads="1"/>
          </p:cNvSpPr>
          <p:nvPr/>
        </p:nvSpPr>
        <p:spPr bwMode="auto">
          <a:xfrm>
            <a:off x="280988" y="38496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676275" y="1896716"/>
            <a:ext cx="12194598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2800" b="1" dirty="0" smtClean="0">
                <a:latin typeface="Times New Roman" pitchFamily="18" charset="0"/>
                <a:ea typeface="微软雅黑" pitchFamily="34" charset="-122"/>
              </a:rPr>
              <a:t>        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当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偏振光通过某些透明物质时，光的振动面将以光的传播方向为轴线旋转一定的角度，这种现象称为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旋光现象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。</a:t>
            </a:r>
          </a:p>
        </p:txBody>
      </p:sp>
      <p:sp>
        <p:nvSpPr>
          <p:cNvPr id="99340" name="Rectangle 7"/>
          <p:cNvSpPr>
            <a:spLocks noChangeArrowheads="1"/>
          </p:cNvSpPr>
          <p:nvPr/>
        </p:nvSpPr>
        <p:spPr bwMode="auto">
          <a:xfrm>
            <a:off x="280988" y="38354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9341" name="Rectangle 8"/>
          <p:cNvSpPr>
            <a:spLocks noChangeArrowheads="1"/>
          </p:cNvSpPr>
          <p:nvPr/>
        </p:nvSpPr>
        <p:spPr bwMode="auto">
          <a:xfrm>
            <a:off x="280988" y="34671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9342" name="Rectangle 9"/>
          <p:cNvSpPr>
            <a:spLocks noChangeArrowheads="1"/>
          </p:cNvSpPr>
          <p:nvPr/>
        </p:nvSpPr>
        <p:spPr bwMode="auto">
          <a:xfrm>
            <a:off x="4821220" y="1133037"/>
            <a:ext cx="36734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3.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 磁光调制</a:t>
            </a:r>
          </a:p>
        </p:txBody>
      </p:sp>
      <p:sp>
        <p:nvSpPr>
          <p:cNvPr id="222219" name="Rectangle 11"/>
          <p:cNvSpPr>
            <a:spLocks noChangeArrowheads="1"/>
          </p:cNvSpPr>
          <p:nvPr/>
        </p:nvSpPr>
        <p:spPr bwMode="auto">
          <a:xfrm>
            <a:off x="676275" y="3252332"/>
            <a:ext cx="12014489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en-US" altLang="zh-CN" sz="2800" b="1" dirty="0" smtClean="0">
                <a:latin typeface="Times New Roman" pitchFamily="18" charset="0"/>
                <a:ea typeface="微软雅黑" pitchFamily="34" charset="-122"/>
              </a:rPr>
              <a:t>       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除了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旋光物质外，一些不具有旋光性的物质，如水、铅玻璃等，在磁场作用下也可使穿过它的偏振光的振动方向发生旋转。这种在磁场作用下产生的旋光效应称为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磁光效应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，也称为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法拉第旋光效应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。 </a:t>
            </a:r>
          </a:p>
        </p:txBody>
      </p:sp>
      <p:sp>
        <p:nvSpPr>
          <p:cNvPr id="99344" name="Rectangle 13"/>
          <p:cNvSpPr>
            <a:spLocks noChangeArrowheads="1"/>
          </p:cNvSpPr>
          <p:nvPr/>
        </p:nvSpPr>
        <p:spPr bwMode="auto">
          <a:xfrm>
            <a:off x="280988" y="35766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158710" y="5443238"/>
            <a:ext cx="9257434" cy="1368377"/>
            <a:chOff x="2158710" y="5443238"/>
            <a:chExt cx="9257434" cy="1368377"/>
          </a:xfrm>
        </p:grpSpPr>
        <p:graphicFrame>
          <p:nvGraphicFramePr>
            <p:cNvPr id="222220" name="Object 12"/>
            <p:cNvGraphicFramePr>
              <a:graphicFrameLocks noChangeAspect="1"/>
            </p:cNvGraphicFramePr>
            <p:nvPr/>
          </p:nvGraphicFramePr>
          <p:xfrm>
            <a:off x="7994217" y="5521182"/>
            <a:ext cx="1512887" cy="557212"/>
          </p:xfrm>
          <a:graphic>
            <a:graphicData uri="http://schemas.openxmlformats.org/presentationml/2006/ole">
              <p:oleObj spid="_x0000_s99345" name="公式" r:id="rId3" imgW="545760" imgH="203040" progId="Equation.3">
                <p:embed/>
              </p:oleObj>
            </a:graphicData>
          </a:graphic>
        </p:graphicFrame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3142382" y="5443238"/>
              <a:ext cx="6444961" cy="6524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defTabSz="914400" eaLnBrk="0" hangingPunct="0">
                <a:lnSpc>
                  <a:spcPct val="130000"/>
                </a:lnSpc>
              </a:pPr>
              <a:r>
                <a:rPr lang="zh-CN" altLang="en-US" sz="2800" b="1" dirty="0">
                  <a:latin typeface="Times New Roman" pitchFamily="18" charset="0"/>
                  <a:ea typeface="微软雅黑" pitchFamily="34" charset="-122"/>
                </a:rPr>
                <a:t>振动面的旋转角度    可表示为 </a:t>
              </a:r>
            </a:p>
          </p:txBody>
        </p:sp>
        <p:graphicFrame>
          <p:nvGraphicFramePr>
            <p:cNvPr id="99347" name="Object 17"/>
            <p:cNvGraphicFramePr>
              <a:graphicFrameLocks noChangeAspect="1"/>
            </p:cNvGraphicFramePr>
            <p:nvPr/>
          </p:nvGraphicFramePr>
          <p:xfrm>
            <a:off x="6092822" y="5557693"/>
            <a:ext cx="320675" cy="449263"/>
          </p:xfrm>
          <a:graphic>
            <a:graphicData uri="http://schemas.openxmlformats.org/presentationml/2006/ole">
              <p:oleObj spid="_x0000_s99347" name="公式" r:id="rId4" imgW="126720" imgH="177480" progId="Equation.3">
                <p:embed/>
              </p:oleObj>
            </a:graphicData>
          </a:graphic>
        </p:graphicFrame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2158710" y="6159129"/>
              <a:ext cx="9257434" cy="6524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defTabSz="914400" eaLnBrk="0" hangingPunct="0">
                <a:lnSpc>
                  <a:spcPct val="130000"/>
                </a:lnSpc>
              </a:pPr>
              <a:r>
                <a:rPr lang="en-US" altLang="zh-CN" sz="2800" b="1" i="1" dirty="0">
                  <a:latin typeface="Times New Roman" pitchFamily="18" charset="0"/>
                  <a:ea typeface="微软雅黑" pitchFamily="34" charset="-122"/>
                </a:rPr>
                <a:t>l  </a:t>
              </a:r>
              <a:r>
                <a:rPr lang="zh-CN" altLang="en-US" sz="2800" b="1" dirty="0">
                  <a:latin typeface="Times New Roman" pitchFamily="18" charset="0"/>
                  <a:ea typeface="微软雅黑" pitchFamily="34" charset="-122"/>
                </a:rPr>
                <a:t>为光程，</a:t>
              </a:r>
              <a:r>
                <a:rPr lang="en-US" altLang="zh-CN" sz="2800" b="1" i="1" dirty="0">
                  <a:latin typeface="Times New Roman" pitchFamily="18" charset="0"/>
                  <a:ea typeface="微软雅黑" pitchFamily="34" charset="-122"/>
                </a:rPr>
                <a:t>H</a:t>
              </a:r>
              <a:r>
                <a:rPr lang="zh-CN" altLang="en-US" sz="2800" b="1" dirty="0">
                  <a:latin typeface="Times New Roman" pitchFamily="18" charset="0"/>
                  <a:ea typeface="微软雅黑" pitchFamily="34" charset="-122"/>
                </a:rPr>
                <a:t>为磁场强度，    为维尔德（</a:t>
              </a:r>
              <a:r>
                <a:rPr lang="en-US" altLang="zh-CN" sz="2800" b="1" dirty="0" err="1">
                  <a:latin typeface="Times New Roman" pitchFamily="18" charset="0"/>
                  <a:ea typeface="微软雅黑" pitchFamily="34" charset="-122"/>
                </a:rPr>
                <a:t>Verdet</a:t>
              </a:r>
              <a:r>
                <a:rPr lang="zh-CN" altLang="en-US" sz="2800" b="1" dirty="0">
                  <a:latin typeface="Times New Roman" pitchFamily="18" charset="0"/>
                  <a:ea typeface="微软雅黑" pitchFamily="34" charset="-122"/>
                </a:rPr>
                <a:t>）常数</a:t>
              </a:r>
              <a:r>
                <a:rPr lang="zh-CN" altLang="en-US" sz="2800" b="1" i="1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99349" name="Object 19"/>
            <p:cNvGraphicFramePr>
              <a:graphicFrameLocks noChangeAspect="1"/>
            </p:cNvGraphicFramePr>
            <p:nvPr/>
          </p:nvGraphicFramePr>
          <p:xfrm>
            <a:off x="6325032" y="6257060"/>
            <a:ext cx="409575" cy="442913"/>
          </p:xfrm>
          <a:graphic>
            <a:graphicData uri="http://schemas.openxmlformats.org/presentationml/2006/ole">
              <p:oleObj spid="_x0000_s99349" name="公式" r:id="rId5" imgW="152280" imgH="164880" progId="Equation.3">
                <p:embed/>
              </p:oleObj>
            </a:graphicData>
          </a:graphic>
        </p:graphicFrame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/>
      <p:bldP spid="2222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0" name="Rectangle 3"/>
          <p:cNvSpPr>
            <a:spLocks noChangeArrowheads="1"/>
          </p:cNvSpPr>
          <p:nvPr/>
        </p:nvSpPr>
        <p:spPr bwMode="auto">
          <a:xfrm>
            <a:off x="239713" y="39624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3236" name="Rectangle 4"/>
          <p:cNvSpPr>
            <a:spLocks noChangeArrowheads="1"/>
          </p:cNvSpPr>
          <p:nvPr/>
        </p:nvSpPr>
        <p:spPr bwMode="auto">
          <a:xfrm>
            <a:off x="1208953" y="2908879"/>
            <a:ext cx="4859337" cy="3046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光输出的强弱与磁致旋转角有关，即与流经激磁线圈的调制电流相关，这就是磁光调制的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工作原理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</a:rPr>
              <a:t>。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00364" name="Rectangle 7"/>
          <p:cNvSpPr>
            <a:spLocks noChangeArrowheads="1"/>
          </p:cNvSpPr>
          <p:nvPr/>
        </p:nvSpPr>
        <p:spPr bwMode="auto">
          <a:xfrm>
            <a:off x="239713" y="394811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0365" name="Rectangle 8"/>
          <p:cNvSpPr>
            <a:spLocks noChangeArrowheads="1"/>
          </p:cNvSpPr>
          <p:nvPr/>
        </p:nvSpPr>
        <p:spPr bwMode="auto">
          <a:xfrm>
            <a:off x="239713" y="357981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0366" name="Rectangle 9"/>
          <p:cNvSpPr>
            <a:spLocks noChangeArrowheads="1"/>
          </p:cNvSpPr>
          <p:nvPr/>
        </p:nvSpPr>
        <p:spPr bwMode="auto">
          <a:xfrm>
            <a:off x="4818836" y="1248430"/>
            <a:ext cx="36734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 eaLnBrk="0" hangingPunct="0"/>
            <a:r>
              <a:rPr lang="en-US" altLang="zh-CN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3.</a:t>
            </a:r>
            <a:r>
              <a:rPr lang="zh-CN" altLang="en-US" sz="36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 磁光调制</a:t>
            </a:r>
          </a:p>
        </p:txBody>
      </p:sp>
      <p:sp>
        <p:nvSpPr>
          <p:cNvPr id="100367" name="Rectangle 11"/>
          <p:cNvSpPr>
            <a:spLocks noChangeArrowheads="1"/>
          </p:cNvSpPr>
          <p:nvPr/>
        </p:nvSpPr>
        <p:spPr bwMode="auto">
          <a:xfrm>
            <a:off x="239713" y="36893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0368" name="Object 13"/>
          <p:cNvGraphicFramePr>
            <a:graphicFrameLocks noChangeAspect="1"/>
          </p:cNvGraphicFramePr>
          <p:nvPr/>
        </p:nvGraphicFramePr>
        <p:xfrm>
          <a:off x="6306561" y="2742713"/>
          <a:ext cx="6241293" cy="3717491"/>
        </p:xfrm>
        <a:graphic>
          <a:graphicData uri="http://schemas.openxmlformats.org/presentationml/2006/ole">
            <p:oleObj spid="_x0000_s100368" name="Visio" r:id="rId3" imgW="2446920" imgH="1456920" progId="">
              <p:embed/>
            </p:oleObj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697905" y="481589"/>
            <a:ext cx="25505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光调制的方法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348586" y="481589"/>
            <a:ext cx="1271415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584917" y="445682"/>
            <a:ext cx="1017989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8.3.2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97906" y="850921"/>
            <a:ext cx="1577704" cy="12478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6" grpId="0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725</TotalTime>
  <Words>1122</Words>
  <Application>Microsoft Office PowerPoint</Application>
  <PresentationFormat>自定义</PresentationFormat>
  <Paragraphs>173</Paragraphs>
  <Slides>22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光电技术模板-2015-6-18</vt:lpstr>
      <vt:lpstr>公式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yyp</cp:lastModifiedBy>
  <cp:revision>65</cp:revision>
  <dcterms:created xsi:type="dcterms:W3CDTF">2015-06-18T01:42:52Z</dcterms:created>
  <dcterms:modified xsi:type="dcterms:W3CDTF">2022-05-02T03:20:33Z</dcterms:modified>
</cp:coreProperties>
</file>