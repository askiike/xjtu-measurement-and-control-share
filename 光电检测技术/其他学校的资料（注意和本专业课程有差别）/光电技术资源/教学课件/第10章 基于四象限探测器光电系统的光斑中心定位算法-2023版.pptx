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Default Extension="bin" ContentType="application/vnd.openxmlformats-officedocument.oleObject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934" r:id="rId1"/>
  </p:sldMasterIdLst>
  <p:notesMasterIdLst>
    <p:notesMasterId r:id="rId21"/>
  </p:notesMasterIdLst>
  <p:sldIdLst>
    <p:sldId id="256" r:id="rId2"/>
    <p:sldId id="317" r:id="rId3"/>
    <p:sldId id="376" r:id="rId4"/>
    <p:sldId id="366" r:id="rId5"/>
    <p:sldId id="377" r:id="rId6"/>
    <p:sldId id="378" r:id="rId7"/>
    <p:sldId id="381" r:id="rId8"/>
    <p:sldId id="342" r:id="rId9"/>
    <p:sldId id="380" r:id="rId10"/>
    <p:sldId id="379" r:id="rId11"/>
    <p:sldId id="351" r:id="rId12"/>
    <p:sldId id="352" r:id="rId13"/>
    <p:sldId id="353" r:id="rId14"/>
    <p:sldId id="354" r:id="rId15"/>
    <p:sldId id="344" r:id="rId16"/>
    <p:sldId id="359" r:id="rId17"/>
    <p:sldId id="368" r:id="rId18"/>
    <p:sldId id="369" r:id="rId19"/>
    <p:sldId id="347" r:id="rId20"/>
  </p:sldIdLst>
  <p:sldSz cx="13717588" cy="771525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613242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122648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83972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24529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3066212" algn="l" defTabSz="1226485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3679454" algn="l" defTabSz="1226485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4292697" algn="l" defTabSz="1226485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4905939" algn="l" defTabSz="1226485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3366FF"/>
    <a:srgbClr val="003300"/>
    <a:srgbClr val="FFFFFF"/>
    <a:srgbClr val="692AA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4505" autoAdjust="0"/>
    <p:restoredTop sz="99719" autoAdjust="0"/>
  </p:normalViewPr>
  <p:slideViewPr>
    <p:cSldViewPr>
      <p:cViewPr varScale="1">
        <p:scale>
          <a:sx n="62" d="100"/>
          <a:sy n="62" d="100"/>
        </p:scale>
        <p:origin x="-738" y="-90"/>
      </p:cViewPr>
      <p:guideLst>
        <p:guide orient="horz" pos="2430"/>
        <p:guide pos="4321"/>
      </p:guideLst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55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 smtClean="0"/>
              <a:t>Click to edit Master text styles</a:t>
            </a:r>
          </a:p>
          <a:p>
            <a:pPr lvl="1"/>
            <a:r>
              <a:rPr lang="en-US" altLang="zh-CN" noProof="0" smtClean="0"/>
              <a:t>Second level</a:t>
            </a:r>
          </a:p>
          <a:p>
            <a:pPr lvl="2"/>
            <a:r>
              <a:rPr lang="en-US" altLang="zh-CN" noProof="0" smtClean="0"/>
              <a:t>Third level</a:t>
            </a:r>
          </a:p>
          <a:p>
            <a:pPr lvl="3"/>
            <a:r>
              <a:rPr lang="en-US" altLang="zh-CN" noProof="0" smtClean="0"/>
              <a:t>Fourth level</a:t>
            </a:r>
          </a:p>
          <a:p>
            <a:pPr lvl="4"/>
            <a:r>
              <a:rPr lang="en-US" altLang="zh-CN" noProof="0" smtClean="0"/>
              <a:t>Fifth level</a:t>
            </a:r>
          </a:p>
        </p:txBody>
      </p:sp>
      <p:sp>
        <p:nvSpPr>
          <p:cNvPr id="675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75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C9F5C65-AE46-483B-A7EA-74FA702BAEB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13242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26485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39727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52969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66212" algn="l" defTabSz="12264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79454" algn="l" defTabSz="12264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92697" algn="l" defTabSz="12264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905939" algn="l" defTabSz="12264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4579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 smtClean="0"/>
          </a:p>
        </p:txBody>
      </p:sp>
      <p:sp>
        <p:nvSpPr>
          <p:cNvPr id="2458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7083B0-070E-414C-85B8-3A2FF3CC220E}" type="slidenum">
              <a:rPr lang="zh-CN" altLang="en-US" smtClean="0"/>
              <a:pPr/>
              <a:t>3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5603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en-US" smtClean="0"/>
          </a:p>
        </p:txBody>
      </p:sp>
      <p:sp>
        <p:nvSpPr>
          <p:cNvPr id="2560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CA6314D-8F48-44C0-8652-1FB414D7D66D}" type="slidenum">
              <a:rPr lang="zh-CN" altLang="en-US" smtClean="0"/>
              <a:pPr/>
              <a:t>8</a:t>
            </a:fld>
            <a:endParaRPr lang="en-US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66678"/>
            <a:ext cx="247756" cy="400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22648" tIns="61324" rIns="122648" bIns="61324" anchor="ctr">
            <a:spAutoFit/>
          </a:bodyPr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0" y="1924053"/>
            <a:ext cx="13717588" cy="400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22648" tIns="61324" rIns="122648" bIns="61324" anchor="ctr">
            <a:spAutoFit/>
          </a:bodyPr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0" y="3152778"/>
            <a:ext cx="247756" cy="400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22648" tIns="61324" rIns="122648" bIns="61324" anchor="ctr">
            <a:spAutoFit/>
          </a:bodyPr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0" y="4195766"/>
            <a:ext cx="247756" cy="400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22648" tIns="61324" rIns="122648" bIns="61324" anchor="ctr">
            <a:spAutoFit/>
          </a:bodyPr>
          <a:lstStyle/>
          <a:p>
            <a:endParaRPr lang="zh-CN" altLang="zh-CN">
              <a:ea typeface="宋体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28703" y="2397133"/>
            <a:ext cx="11660189" cy="1654175"/>
          </a:xfrm>
          <a:prstGeom prst="rect">
            <a:avLst/>
          </a:prstGeom>
        </p:spPr>
        <p:txBody>
          <a:bodyPr lIns="122648" tIns="61324" rIns="122648" bIns="61324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057401" y="4371978"/>
            <a:ext cx="9602788" cy="1971675"/>
          </a:xfrm>
          <a:prstGeom prst="rect">
            <a:avLst/>
          </a:prstGeom>
        </p:spPr>
        <p:txBody>
          <a:bodyPr lIns="122648" tIns="61324" rIns="122648" bIns="61324"/>
          <a:lstStyle>
            <a:lvl1pPr marL="0" indent="0" algn="ctr">
              <a:buNone/>
              <a:defRPr/>
            </a:lvl1pPr>
            <a:lvl2pPr marL="408788" indent="0" algn="ctr">
              <a:buNone/>
              <a:defRPr/>
            </a:lvl2pPr>
            <a:lvl3pPr marL="817575" indent="0" algn="ctr">
              <a:buNone/>
              <a:defRPr/>
            </a:lvl3pPr>
            <a:lvl4pPr marL="1226363" indent="0" algn="ctr">
              <a:buNone/>
              <a:defRPr/>
            </a:lvl4pPr>
            <a:lvl5pPr marL="1635149" indent="0" algn="ctr">
              <a:buNone/>
              <a:defRPr/>
            </a:lvl5pPr>
            <a:lvl6pPr marL="2043937" indent="0" algn="ctr">
              <a:buNone/>
              <a:defRPr/>
            </a:lvl6pPr>
            <a:lvl7pPr marL="2452724" indent="0" algn="ctr">
              <a:buNone/>
              <a:defRPr/>
            </a:lvl7pPr>
            <a:lvl8pPr marL="2861512" indent="0" algn="ctr">
              <a:buNone/>
              <a:defRPr/>
            </a:lvl8pPr>
            <a:lvl9pPr marL="3270299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B8540B-7DB1-4EDE-91E6-CBF6024D61C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66678"/>
            <a:ext cx="247756" cy="400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22648" tIns="61324" rIns="122648" bIns="61324" anchor="ctr">
            <a:spAutoFit/>
          </a:bodyPr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0" y="1924053"/>
            <a:ext cx="13717588" cy="400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22648" tIns="61324" rIns="122648" bIns="61324" anchor="ctr">
            <a:spAutoFit/>
          </a:bodyPr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0" y="3152778"/>
            <a:ext cx="247756" cy="400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22648" tIns="61324" rIns="122648" bIns="61324" anchor="ctr">
            <a:spAutoFit/>
          </a:bodyPr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0" y="4195766"/>
            <a:ext cx="247756" cy="400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22648" tIns="61324" rIns="122648" bIns="61324" anchor="ctr">
            <a:spAutoFit/>
          </a:bodyPr>
          <a:lstStyle/>
          <a:p>
            <a:endParaRPr lang="zh-CN" altLang="zh-CN">
              <a:ea typeface="宋体" charset="-122"/>
            </a:endParaRPr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E9B5F0-6C39-4BC7-9F89-22E9B87B95C9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943084" y="7150898"/>
            <a:ext cx="3086457" cy="409575"/>
          </a:xfrm>
          <a:prstGeom prst="rect">
            <a:avLst/>
          </a:prstGeom>
        </p:spPr>
        <p:txBody>
          <a:bodyPr vert="horz" wrap="square" lIns="122648" tIns="61324" rIns="122648" bIns="61324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宋体" charset="-122"/>
              </a:defRPr>
            </a:lvl1pPr>
          </a:lstStyle>
          <a:p>
            <a:endParaRPr lang="en-US" altLang="zh-CN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543951" y="7150898"/>
            <a:ext cx="4629686" cy="409575"/>
          </a:xfrm>
          <a:prstGeom prst="rect">
            <a:avLst/>
          </a:prstGeom>
        </p:spPr>
        <p:txBody>
          <a:bodyPr vert="horz" wrap="square" lIns="122648" tIns="61324" rIns="122648" bIns="61324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宋体" charset="-122"/>
              </a:defRPr>
            </a:lvl1pPr>
          </a:lstStyle>
          <a:p>
            <a:endParaRPr lang="en-US" altLang="zh-CN"/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688047" y="7150898"/>
            <a:ext cx="3086457" cy="409575"/>
          </a:xfrm>
          <a:prstGeom prst="rect">
            <a:avLst/>
          </a:prstGeom>
        </p:spPr>
        <p:txBody>
          <a:bodyPr vert="horz" wrap="square" lIns="122648" tIns="61324" rIns="122648" bIns="61324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宋体" charset="-122"/>
              </a:defRPr>
            </a:lvl1pPr>
          </a:lstStyle>
          <a:p>
            <a:fld id="{AC9A6E42-FB69-4C35-9A9C-3720A197B924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900" kern="1200">
          <a:solidFill>
            <a:schemeClr val="tx1"/>
          </a:solidFill>
          <a:latin typeface="Arial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Arial" charset="0"/>
          <a:ea typeface="宋体" pitchFamily="2" charset="-122"/>
        </a:defRPr>
      </a:lvl5pPr>
      <a:lvl6pPr marL="613242" algn="ctr" rtl="0" eaLnBrk="1" fontAlgn="base" hangingPunct="1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1226485" algn="ctr" rtl="0" eaLnBrk="1" fontAlgn="base" hangingPunct="1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839727" algn="ctr" rtl="0" eaLnBrk="1" fontAlgn="base" hangingPunct="1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2452969" algn="ctr" rtl="0" eaLnBrk="1" fontAlgn="base" hangingPunct="1">
        <a:spcBef>
          <a:spcPct val="0"/>
        </a:spcBef>
        <a:spcAft>
          <a:spcPct val="0"/>
        </a:spcAft>
        <a:defRPr sz="59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459932" indent="-45993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4300" kern="1200">
          <a:solidFill>
            <a:schemeClr val="tx1"/>
          </a:solidFill>
          <a:latin typeface="Arial" charset="0"/>
          <a:ea typeface="+mn-ea"/>
          <a:cs typeface="+mn-cs"/>
        </a:defRPr>
      </a:lvl1pPr>
      <a:lvl2pPr marL="996519" indent="-3832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3800" kern="1200">
          <a:solidFill>
            <a:schemeClr val="tx1"/>
          </a:solidFill>
          <a:latin typeface="Arial" charset="0"/>
          <a:ea typeface="+mn-ea"/>
          <a:cs typeface="+mn-cs"/>
        </a:defRPr>
      </a:lvl2pPr>
      <a:lvl3pPr marL="1533106" indent="-306621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 charset="0"/>
          <a:ea typeface="+mn-ea"/>
          <a:cs typeface="+mn-cs"/>
        </a:defRPr>
      </a:lvl3pPr>
      <a:lvl4pPr marL="2146348" indent="-306621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700" kern="1200">
          <a:solidFill>
            <a:schemeClr val="tx1"/>
          </a:solidFill>
          <a:latin typeface="Arial" charset="0"/>
          <a:ea typeface="+mn-ea"/>
          <a:cs typeface="+mn-cs"/>
        </a:defRPr>
      </a:lvl4pPr>
      <a:lvl5pPr marL="2759591" indent="-306621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700" kern="1200">
          <a:solidFill>
            <a:schemeClr val="tx1"/>
          </a:solidFill>
          <a:latin typeface="Arial" charset="0"/>
          <a:ea typeface="+mn-ea"/>
          <a:cs typeface="+mn-cs"/>
        </a:defRPr>
      </a:lvl5pPr>
      <a:lvl6pPr marL="3372833" indent="-306621" algn="l" defTabSz="1226485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86075" indent="-306621" algn="l" defTabSz="1226485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99318" indent="-306621" algn="l" defTabSz="1226485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212560" indent="-306621" algn="l" defTabSz="1226485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264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13242" algn="l" defTabSz="12264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26485" algn="l" defTabSz="12264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39727" algn="l" defTabSz="12264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52969" algn="l" defTabSz="12264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66212" algn="l" defTabSz="12264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79454" algn="l" defTabSz="12264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92697" algn="l" defTabSz="12264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905939" algn="l" defTabSz="12264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60">
            <a:extLst>
              <a:ext uri="{FF2B5EF4-FFF2-40B4-BE49-F238E27FC236}">
                <a16:creationId xmlns=""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5036814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基于四象限探测器光电系统的光斑中心定位算法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: 圆角 18">
            <a:extLst>
              <a:ext uri="{FF2B5EF4-FFF2-40B4-BE49-F238E27FC236}">
                <a16:creationId xmlns="" xmlns:a16="http://schemas.microsoft.com/office/drawing/2014/main" id="{71B2A563-AC54-5347-B843-4478DF223CDE}"/>
              </a:ext>
            </a:extLst>
          </p:cNvPr>
          <p:cNvSpPr/>
          <p:nvPr/>
        </p:nvSpPr>
        <p:spPr>
          <a:xfrm>
            <a:off x="4496594" y="3095625"/>
            <a:ext cx="6553200" cy="1412378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4400" b="1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基于四象限探测器光电系统的光斑中心定位算法</a:t>
            </a:r>
            <a:endParaRPr kumimoji="1" lang="zh-CN" altLang="en-US" sz="4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="" xmlns:a16="http://schemas.microsoft.com/office/drawing/2014/main" id="{045D4FB5-3BA7-4366-9C2A-762F1105D91A}"/>
              </a:ext>
            </a:extLst>
          </p:cNvPr>
          <p:cNvSpPr/>
          <p:nvPr/>
        </p:nvSpPr>
        <p:spPr>
          <a:xfrm>
            <a:off x="2354592" y="3153502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600" b="1" dirty="0" smtClean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10.5</a:t>
            </a:r>
            <a:endParaRPr kumimoji="1" lang="zh-CN" altLang="en-US" sz="66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=""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25">
            <a:extLst>
              <a:ext uri="{FF2B5EF4-FFF2-40B4-BE49-F238E27FC236}">
                <a16:creationId xmlns=""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10.5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0" name="直接连接符 58">
            <a:extLst>
              <a:ext uri="{FF2B5EF4-FFF2-40B4-BE49-F238E27FC236}">
                <a16:creationId xmlns=""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=""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=""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728988" y="1685926"/>
            <a:ext cx="5815686" cy="93107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122648" tIns="61324" rIns="122648" bIns="61324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zh-CN" altLang="en-US" sz="3800" b="1" dirty="0" smtClean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四象限探测器应用</a:t>
            </a:r>
            <a:endParaRPr lang="zh-CN" altLang="en-US" sz="2100" b="1" dirty="0" smtClean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23" name="Text Box 30"/>
          <p:cNvSpPr txBox="1">
            <a:spLocks noChangeArrowheads="1"/>
          </p:cNvSpPr>
          <p:nvPr/>
        </p:nvSpPr>
        <p:spPr bwMode="gray">
          <a:xfrm>
            <a:off x="3036447" y="3857626"/>
            <a:ext cx="475318" cy="6162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122648" tIns="61324" rIns="122648" bIns="61324">
            <a:spAutoFit/>
          </a:bodyPr>
          <a:lstStyle/>
          <a:p>
            <a:pPr algn="ctr" eaLnBrk="0" hangingPunct="0"/>
            <a:r>
              <a:rPr lang="en-US" altLang="zh-CN" sz="3200" b="1" dirty="0">
                <a:solidFill>
                  <a:schemeClr val="bg1"/>
                </a:solidFill>
                <a:ea typeface="宋体" charset="-122"/>
              </a:rPr>
              <a:t>3</a:t>
            </a:r>
          </a:p>
        </p:txBody>
      </p:sp>
      <p:sp>
        <p:nvSpPr>
          <p:cNvPr id="5124" name="Rectangle 2"/>
          <p:cNvSpPr txBox="1">
            <a:spLocks noChangeArrowheads="1"/>
          </p:cNvSpPr>
          <p:nvPr/>
        </p:nvSpPr>
        <p:spPr bwMode="auto">
          <a:xfrm>
            <a:off x="1717081" y="3305176"/>
            <a:ext cx="8573492" cy="931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22648" tIns="61324" rIns="122648" bIns="61324"/>
          <a:lstStyle/>
          <a:p>
            <a:r>
              <a:rPr lang="zh-CN" altLang="en-US" sz="3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基于四象限探测器光电系统组成</a:t>
            </a:r>
            <a:endParaRPr lang="zh-CN" altLang="en-US" sz="2100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25" name="Rectangle 2"/>
          <p:cNvSpPr txBox="1">
            <a:spLocks noChangeArrowheads="1"/>
          </p:cNvSpPr>
          <p:nvPr/>
        </p:nvSpPr>
        <p:spPr bwMode="auto">
          <a:xfrm>
            <a:off x="1714700" y="5114926"/>
            <a:ext cx="10859757" cy="931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22648" tIns="61324" rIns="122648" bIns="61324"/>
          <a:lstStyle/>
          <a:p>
            <a:r>
              <a:rPr lang="zh-CN" altLang="en-US" sz="3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四象限探测器中心定位算法仿真与数据处理</a:t>
            </a:r>
            <a:endParaRPr lang="zh-CN" altLang="en-US" sz="2100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文本框 60">
            <a:extLst>
              <a:ext uri="{FF2B5EF4-FFF2-40B4-BE49-F238E27FC236}">
                <a16:creationId xmlns=""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5036814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基于四象限探测器光电系统的光斑中心定位算法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25">
            <a:extLst>
              <a:ext uri="{FF2B5EF4-FFF2-40B4-BE49-F238E27FC236}">
                <a16:creationId xmlns=""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10.5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1" name="直接连接符 58">
            <a:extLst>
              <a:ext uri="{FF2B5EF4-FFF2-40B4-BE49-F238E27FC236}">
                <a16:creationId xmlns=""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943084" y="869157"/>
            <a:ext cx="11831420" cy="93106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122648" tIns="61324" rIns="122648" bIns="61324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4300" b="1" dirty="0" smtClean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四象限探测器应用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4294967295"/>
          </p:nvPr>
        </p:nvSpPr>
        <p:spPr bwMode="auto">
          <a:xfrm>
            <a:off x="914508" y="1457325"/>
            <a:ext cx="12574456" cy="9144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122648" tIns="61324" rIns="122648" bIns="61324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zh-CN" altLang="en-US" sz="2700" dirty="0" smtClean="0">
                <a:solidFill>
                  <a:srgbClr val="3366FF"/>
                </a:solidFill>
                <a:latin typeface="Times New Roman" pitchFamily="18" charset="0"/>
                <a:ea typeface="宋体" charset="-122"/>
              </a:rPr>
              <a:t>     自由空间通信                                                   细胞生物学</a:t>
            </a:r>
            <a:endParaRPr lang="en-US" altLang="zh-CN" sz="2700" dirty="0" smtClean="0">
              <a:solidFill>
                <a:srgbClr val="3366FF"/>
              </a:solidFill>
              <a:latin typeface="Times New Roman" pitchFamily="18" charset="0"/>
              <a:ea typeface="宋体" charset="-122"/>
            </a:endParaRPr>
          </a:p>
        </p:txBody>
      </p:sp>
      <p:pic>
        <p:nvPicPr>
          <p:cNvPr id="6148" name="Picture 2" descr="C:\Documents and Settings\Administrator\桌面\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14700" y="2171703"/>
            <a:ext cx="4717803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9" name="Picture 3" descr="C:\Documents and Settings\Administrator\桌面\1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573492" y="2571754"/>
            <a:ext cx="4286746" cy="175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0" name="Picture 4" descr="C:\Documents and Settings\Administrator\桌面\1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829013" y="4972054"/>
            <a:ext cx="3743759" cy="2290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1" name="Picture 5" descr="C:\Documents and Settings\Administrator\桌面\1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8459182" y="4972051"/>
            <a:ext cx="4115276" cy="23788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52" name="Rectangle 3"/>
          <p:cNvSpPr>
            <a:spLocks noChangeArrowheads="1"/>
          </p:cNvSpPr>
          <p:nvPr/>
        </p:nvSpPr>
        <p:spPr bwMode="auto">
          <a:xfrm>
            <a:off x="1371759" y="4086225"/>
            <a:ext cx="11317010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22648" tIns="61324" rIns="122648" bIns="61324"/>
          <a:lstStyle/>
          <a:p>
            <a:pPr marL="459932" indent="-459932">
              <a:lnSpc>
                <a:spcPct val="150000"/>
              </a:lnSpc>
              <a:spcBef>
                <a:spcPct val="20000"/>
              </a:spcBef>
            </a:pPr>
            <a:r>
              <a:rPr lang="zh-CN" altLang="en-US" sz="2700" dirty="0">
                <a:solidFill>
                  <a:srgbClr val="3366FF"/>
                </a:solidFill>
                <a:latin typeface="Times New Roman" pitchFamily="18" charset="0"/>
                <a:ea typeface="宋体" charset="-122"/>
              </a:rPr>
              <a:t> 军事武器                                                          太阳跟踪系统</a:t>
            </a:r>
            <a:endParaRPr lang="en-US" altLang="zh-CN" sz="2700" dirty="0">
              <a:solidFill>
                <a:srgbClr val="3366FF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9" name="文本框 60">
            <a:extLst>
              <a:ext uri="{FF2B5EF4-FFF2-40B4-BE49-F238E27FC236}">
                <a16:creationId xmlns=""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5036814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基于四象限探测器光电系统的光斑中心定位算法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25">
            <a:extLst>
              <a:ext uri="{FF2B5EF4-FFF2-40B4-BE49-F238E27FC236}">
                <a16:creationId xmlns=""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10.5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3" name="直接连接符 58">
            <a:extLst>
              <a:ext uri="{FF2B5EF4-FFF2-40B4-BE49-F238E27FC236}">
                <a16:creationId xmlns=""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 txBox="1">
            <a:spLocks noChangeArrowheads="1"/>
          </p:cNvSpPr>
          <p:nvPr/>
        </p:nvSpPr>
        <p:spPr bwMode="auto">
          <a:xfrm>
            <a:off x="2972145" y="1114426"/>
            <a:ext cx="8573492" cy="931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22648" tIns="61324" rIns="122648" bIns="61324"/>
          <a:lstStyle/>
          <a:p>
            <a:r>
              <a:rPr lang="zh-CN" altLang="en-US" sz="3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基于四象限探测器光电系统组成</a:t>
            </a:r>
            <a:endParaRPr lang="zh-CN" altLang="en-US" sz="2100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7171" name="Object 4"/>
          <p:cNvGraphicFramePr>
            <a:graphicFrameLocks noChangeAspect="1"/>
          </p:cNvGraphicFramePr>
          <p:nvPr/>
        </p:nvGraphicFramePr>
        <p:xfrm>
          <a:off x="3086457" y="2057400"/>
          <a:ext cx="7658986" cy="4841082"/>
        </p:xfrm>
        <a:graphic>
          <a:graphicData uri="http://schemas.openxmlformats.org/presentationml/2006/ole">
            <p:oleObj spid="_x0000_s7171" name="Visio" r:id="rId3" imgW="3031339" imgH="2553865" progId="Visio.Drawing.11">
              <p:embed/>
            </p:oleObj>
          </a:graphicData>
        </a:graphic>
      </p:graphicFrame>
      <p:sp>
        <p:nvSpPr>
          <p:cNvPr id="4" name="文本框 60">
            <a:extLst>
              <a:ext uri="{FF2B5EF4-FFF2-40B4-BE49-F238E27FC236}">
                <a16:creationId xmlns=""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5036814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基于四象限探测器光电系统的光斑中心定位算法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25">
            <a:extLst>
              <a:ext uri="{FF2B5EF4-FFF2-40B4-BE49-F238E27FC236}">
                <a16:creationId xmlns=""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10.5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8" name="直接连接符 58">
            <a:extLst>
              <a:ext uri="{FF2B5EF4-FFF2-40B4-BE49-F238E27FC236}">
                <a16:creationId xmlns=""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5"/>
          <p:cNvSpPr>
            <a:spLocks noChangeArrowheads="1"/>
          </p:cNvSpPr>
          <p:nvPr/>
        </p:nvSpPr>
        <p:spPr bwMode="auto">
          <a:xfrm>
            <a:off x="0" y="2293148"/>
            <a:ext cx="247756" cy="400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22648" tIns="61324" rIns="122648" bIns="61324" anchor="ctr">
            <a:spAutoFit/>
          </a:bodyPr>
          <a:lstStyle/>
          <a:p>
            <a:endParaRPr lang="zh-CN" altLang="en-US">
              <a:ea typeface="宋体" charset="-122"/>
            </a:endParaRPr>
          </a:p>
        </p:txBody>
      </p:sp>
      <p:graphicFrame>
        <p:nvGraphicFramePr>
          <p:cNvPr id="8195" name="Object 4"/>
          <p:cNvGraphicFramePr>
            <a:graphicFrameLocks noChangeAspect="1"/>
          </p:cNvGraphicFramePr>
          <p:nvPr/>
        </p:nvGraphicFramePr>
        <p:xfrm>
          <a:off x="1943327" y="1685926"/>
          <a:ext cx="9945251" cy="3938588"/>
        </p:xfrm>
        <a:graphic>
          <a:graphicData uri="http://schemas.openxmlformats.org/presentationml/2006/ole">
            <p:oleObj spid="_x0000_s8195" name="Visio" r:id="rId3" imgW="5743187" imgH="2277083" progId="Visio.Drawing.11">
              <p:embed/>
            </p:oleObj>
          </a:graphicData>
        </a:graphic>
      </p:graphicFrame>
      <p:sp>
        <p:nvSpPr>
          <p:cNvPr id="8196" name="Rectangle 3"/>
          <p:cNvSpPr>
            <a:spLocks noChangeArrowheads="1"/>
          </p:cNvSpPr>
          <p:nvPr/>
        </p:nvSpPr>
        <p:spPr bwMode="auto">
          <a:xfrm>
            <a:off x="4458216" y="5800725"/>
            <a:ext cx="4458216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22648" tIns="61324" rIns="122648" bIns="61324"/>
          <a:lstStyle/>
          <a:p>
            <a:pPr marL="459932" indent="-459932">
              <a:lnSpc>
                <a:spcPct val="150000"/>
              </a:lnSpc>
              <a:spcBef>
                <a:spcPct val="20000"/>
              </a:spcBef>
            </a:pPr>
            <a:r>
              <a:rPr lang="zh-CN" altLang="en-US" sz="2700" dirty="0">
                <a:solidFill>
                  <a:srgbClr val="3366FF"/>
                </a:solidFill>
                <a:latin typeface="Times New Roman" pitchFamily="18" charset="0"/>
                <a:ea typeface="宋体" charset="-122"/>
              </a:rPr>
              <a:t>     信号处理电路原理图</a:t>
            </a:r>
            <a:endParaRPr lang="en-US" altLang="zh-CN" sz="2700" dirty="0">
              <a:solidFill>
                <a:srgbClr val="3366FF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5" name="文本框 60">
            <a:extLst>
              <a:ext uri="{FF2B5EF4-FFF2-40B4-BE49-F238E27FC236}">
                <a16:creationId xmlns=""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5036814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基于四象限探测器光电系统的光斑中心定位算法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25">
            <a:extLst>
              <a:ext uri="{FF2B5EF4-FFF2-40B4-BE49-F238E27FC236}">
                <a16:creationId xmlns=""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10.5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" name="直接连接符 58">
            <a:extLst>
              <a:ext uri="{FF2B5EF4-FFF2-40B4-BE49-F238E27FC236}">
                <a16:creationId xmlns=""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Box 7"/>
          <p:cNvSpPr txBox="1">
            <a:spLocks noChangeArrowheads="1"/>
          </p:cNvSpPr>
          <p:nvPr/>
        </p:nvSpPr>
        <p:spPr bwMode="auto">
          <a:xfrm>
            <a:off x="800194" y="1885953"/>
            <a:ext cx="9602312" cy="785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22648" tIns="61324" rIns="122648" bIns="61324">
            <a:spAutoFit/>
          </a:bodyPr>
          <a:lstStyle/>
          <a:p>
            <a:r>
              <a:rPr lang="zh-CN" altLang="en-US" sz="4300" b="1" dirty="0">
                <a:solidFill>
                  <a:srgbClr val="3366FF"/>
                </a:solidFill>
                <a:latin typeface="华文新魏" pitchFamily="2" charset="-122"/>
                <a:ea typeface="华文新魏" pitchFamily="2" charset="-122"/>
              </a:rPr>
              <a:t>光斑与探测器最佳大小比例</a:t>
            </a:r>
          </a:p>
        </p:txBody>
      </p:sp>
      <p:pic>
        <p:nvPicPr>
          <p:cNvPr id="9219" name="Picture 2" descr="C:\Documents and Settings\Administrator\桌面\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506" y="3000378"/>
            <a:ext cx="5715662" cy="381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0" name="Picture 3" descr="C:\Documents and Settings\Administrator\桌面\2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01735" y="3000376"/>
            <a:ext cx="5467984" cy="3633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21" name="Rectangle 2"/>
          <p:cNvSpPr txBox="1">
            <a:spLocks noChangeArrowheads="1"/>
          </p:cNvSpPr>
          <p:nvPr/>
        </p:nvSpPr>
        <p:spPr bwMode="auto">
          <a:xfrm>
            <a:off x="2171953" y="1000126"/>
            <a:ext cx="10859757" cy="931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22648" tIns="61324" rIns="122648" bIns="61324"/>
          <a:lstStyle/>
          <a:p>
            <a:r>
              <a:rPr lang="zh-CN" altLang="en-US" sz="3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四象限探测器中心定位算法仿真与数据处理</a:t>
            </a:r>
            <a:endParaRPr lang="zh-CN" altLang="en-US" sz="2100" b="1" dirty="0">
              <a:solidFill>
                <a:srgbClr val="0000CC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文本框 60">
            <a:extLst>
              <a:ext uri="{FF2B5EF4-FFF2-40B4-BE49-F238E27FC236}">
                <a16:creationId xmlns=""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5036814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基于四象限探测器光电系统的光斑中心定位算法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25">
            <a:extLst>
              <a:ext uri="{FF2B5EF4-FFF2-40B4-BE49-F238E27FC236}">
                <a16:creationId xmlns=""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10.5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0" name="直接连接符 58">
            <a:extLst>
              <a:ext uri="{FF2B5EF4-FFF2-40B4-BE49-F238E27FC236}">
                <a16:creationId xmlns=""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 bwMode="auto">
          <a:xfrm>
            <a:off x="685881" y="1228728"/>
            <a:ext cx="8344866" cy="785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22648" tIns="61324" rIns="122648" bIns="61324">
            <a:spAutoFit/>
          </a:bodyPr>
          <a:lstStyle/>
          <a:p>
            <a:r>
              <a:rPr lang="zh-CN" altLang="en-US" sz="4300" b="1" dirty="0">
                <a:solidFill>
                  <a:srgbClr val="3366FF"/>
                </a:solidFill>
                <a:latin typeface="华文新魏" pitchFamily="2" charset="-122"/>
                <a:ea typeface="华文新魏" pitchFamily="2" charset="-122"/>
              </a:rPr>
              <a:t>光斑大小的影响</a:t>
            </a:r>
          </a:p>
        </p:txBody>
      </p:sp>
      <p:pic>
        <p:nvPicPr>
          <p:cNvPr id="10243" name="Picture 7" descr="C:\Documents and Settings\Administrator\桌面\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58024" y="2028828"/>
            <a:ext cx="7101710" cy="501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文本框 60">
            <a:extLst>
              <a:ext uri="{FF2B5EF4-FFF2-40B4-BE49-F238E27FC236}">
                <a16:creationId xmlns=""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5036814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基于四象限探测器光电系统的光斑中心定位算法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25">
            <a:extLst>
              <a:ext uri="{FF2B5EF4-FFF2-40B4-BE49-F238E27FC236}">
                <a16:creationId xmlns=""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10.5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8" name="直接连接符 58">
            <a:extLst>
              <a:ext uri="{FF2B5EF4-FFF2-40B4-BE49-F238E27FC236}">
                <a16:creationId xmlns=""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C:\Documents and Settings\Administrator\桌面\未命名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616819" y="1800228"/>
            <a:ext cx="6013351" cy="1593057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sp>
        <p:nvSpPr>
          <p:cNvPr id="11267" name="TextBox 7"/>
          <p:cNvSpPr txBox="1">
            <a:spLocks noChangeArrowheads="1"/>
          </p:cNvSpPr>
          <p:nvPr/>
        </p:nvSpPr>
        <p:spPr bwMode="auto">
          <a:xfrm>
            <a:off x="2286265" y="3526635"/>
            <a:ext cx="2629204" cy="400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22648" tIns="61324" rIns="122648" bIns="61324">
            <a:spAutoFit/>
          </a:bodyPr>
          <a:lstStyle/>
          <a:p>
            <a:r>
              <a:rPr lang="en-US" altLang="zh-CN">
                <a:solidFill>
                  <a:srgbClr val="3366FF"/>
                </a:solidFill>
                <a:ea typeface="宋体" charset="-122"/>
              </a:rPr>
              <a:t>d=100mm</a:t>
            </a:r>
            <a:endParaRPr lang="zh-CN" altLang="en-US">
              <a:solidFill>
                <a:srgbClr val="3366FF"/>
              </a:solidFill>
              <a:ea typeface="宋体" charset="-122"/>
            </a:endParaRPr>
          </a:p>
        </p:txBody>
      </p:sp>
      <p:pic>
        <p:nvPicPr>
          <p:cNvPr id="11268" name="Picture 3" descr="C:\Documents and Settings\Administrator\桌面\未命名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01734" y="1807370"/>
            <a:ext cx="5715662" cy="1593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9" name="TextBox 9"/>
          <p:cNvSpPr txBox="1">
            <a:spLocks noChangeArrowheads="1"/>
          </p:cNvSpPr>
          <p:nvPr/>
        </p:nvSpPr>
        <p:spPr bwMode="auto">
          <a:xfrm>
            <a:off x="9171258" y="3600454"/>
            <a:ext cx="2629204" cy="400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22648" tIns="61324" rIns="122648" bIns="61324">
            <a:spAutoFit/>
          </a:bodyPr>
          <a:lstStyle/>
          <a:p>
            <a:r>
              <a:rPr lang="en-US" altLang="zh-CN">
                <a:solidFill>
                  <a:srgbClr val="3366FF"/>
                </a:solidFill>
                <a:ea typeface="宋体" charset="-122"/>
              </a:rPr>
              <a:t>d=125mm</a:t>
            </a:r>
            <a:endParaRPr lang="zh-CN" altLang="en-US">
              <a:solidFill>
                <a:srgbClr val="3366FF"/>
              </a:solidFill>
              <a:ea typeface="宋体" charset="-122"/>
            </a:endParaRPr>
          </a:p>
        </p:txBody>
      </p:sp>
      <p:pic>
        <p:nvPicPr>
          <p:cNvPr id="11270" name="Picture 4" descr="C:\Documents and Settings\Administrator\桌面\未命名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57303" y="4200528"/>
            <a:ext cx="5858553" cy="15930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1" name="TextBox 12"/>
          <p:cNvSpPr txBox="1">
            <a:spLocks noChangeArrowheads="1"/>
          </p:cNvSpPr>
          <p:nvPr/>
        </p:nvSpPr>
        <p:spPr bwMode="auto">
          <a:xfrm>
            <a:off x="2171953" y="6086479"/>
            <a:ext cx="2629204" cy="400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22648" tIns="61324" rIns="122648" bIns="61324">
            <a:spAutoFit/>
          </a:bodyPr>
          <a:lstStyle/>
          <a:p>
            <a:r>
              <a:rPr lang="en-US" altLang="zh-CN">
                <a:solidFill>
                  <a:srgbClr val="3366FF"/>
                </a:solidFill>
                <a:ea typeface="宋体" charset="-122"/>
              </a:rPr>
              <a:t>d=150mm</a:t>
            </a:r>
            <a:endParaRPr lang="zh-CN" altLang="en-US">
              <a:solidFill>
                <a:srgbClr val="3366FF"/>
              </a:solidFill>
              <a:ea typeface="宋体" charset="-122"/>
            </a:endParaRPr>
          </a:p>
        </p:txBody>
      </p:sp>
      <p:pic>
        <p:nvPicPr>
          <p:cNvPr id="11272" name="Picture 5" descr="C:\Documents and Settings\Administrator\桌面\未命名.jp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201736" y="4191003"/>
            <a:ext cx="5675177" cy="15930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3" name="TextBox 13"/>
          <p:cNvSpPr txBox="1">
            <a:spLocks noChangeArrowheads="1"/>
          </p:cNvSpPr>
          <p:nvPr/>
        </p:nvSpPr>
        <p:spPr bwMode="auto">
          <a:xfrm>
            <a:off x="9373686" y="6098385"/>
            <a:ext cx="2629204" cy="400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22648" tIns="61324" rIns="122648" bIns="61324">
            <a:spAutoFit/>
          </a:bodyPr>
          <a:lstStyle/>
          <a:p>
            <a:r>
              <a:rPr lang="en-US" altLang="zh-CN">
                <a:solidFill>
                  <a:srgbClr val="3366FF"/>
                </a:solidFill>
                <a:ea typeface="宋体" charset="-122"/>
              </a:rPr>
              <a:t>d=200mm</a:t>
            </a:r>
            <a:endParaRPr lang="zh-CN" altLang="en-US">
              <a:solidFill>
                <a:srgbClr val="3366FF"/>
              </a:solidFill>
              <a:ea typeface="宋体" charset="-122"/>
            </a:endParaRPr>
          </a:p>
        </p:txBody>
      </p:sp>
      <p:sp>
        <p:nvSpPr>
          <p:cNvPr id="10" name="文本框 60">
            <a:extLst>
              <a:ext uri="{FF2B5EF4-FFF2-40B4-BE49-F238E27FC236}">
                <a16:creationId xmlns=""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5036814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基于四象限探测器光电系统的光斑中心定位算法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25">
            <a:extLst>
              <a:ext uri="{FF2B5EF4-FFF2-40B4-BE49-F238E27FC236}">
                <a16:creationId xmlns=""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10.5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4" name="直接连接符 58">
            <a:extLst>
              <a:ext uri="{FF2B5EF4-FFF2-40B4-BE49-F238E27FC236}">
                <a16:creationId xmlns=""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=""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4" descr="C:\Documents and Settings\Administrator\桌面\1.pn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171953" y="2714628"/>
            <a:ext cx="3429398" cy="981075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pic>
        <p:nvPicPr>
          <p:cNvPr id="12291" name="Picture 5" descr="C:\Documents and Settings\Administrator\桌面\2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71953" y="4000504"/>
            <a:ext cx="3772337" cy="1473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2" name="Picture 6" descr="C:\Documents and Settings\Administrator\桌面\3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400578" y="5572128"/>
            <a:ext cx="9688047" cy="162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3" name="TextBox 11"/>
          <p:cNvSpPr txBox="1">
            <a:spLocks noChangeArrowheads="1"/>
          </p:cNvSpPr>
          <p:nvPr/>
        </p:nvSpPr>
        <p:spPr bwMode="auto">
          <a:xfrm>
            <a:off x="2171951" y="1685928"/>
            <a:ext cx="3315084" cy="785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22648" tIns="61324" rIns="122648" bIns="61324">
            <a:spAutoFit/>
          </a:bodyPr>
          <a:lstStyle/>
          <a:p>
            <a:r>
              <a:rPr lang="zh-CN" altLang="en-US" sz="4300" b="1" dirty="0">
                <a:solidFill>
                  <a:srgbClr val="3366FF"/>
                </a:solidFill>
                <a:latin typeface="华文新魏" pitchFamily="2" charset="-122"/>
                <a:ea typeface="华文新魏" pitchFamily="2" charset="-122"/>
              </a:rPr>
              <a:t>加减算法</a:t>
            </a:r>
            <a:r>
              <a:rPr lang="zh-CN" altLang="en-US" sz="4300" b="1" dirty="0">
                <a:solidFill>
                  <a:srgbClr val="3366FF"/>
                </a:solidFill>
                <a:latin typeface="宋体" charset="-122"/>
                <a:ea typeface="宋体" charset="-122"/>
              </a:rPr>
              <a:t>：</a:t>
            </a:r>
          </a:p>
        </p:txBody>
      </p:sp>
      <p:sp>
        <p:nvSpPr>
          <p:cNvPr id="12294" name="Rectangle 2"/>
          <p:cNvSpPr>
            <a:spLocks noChangeArrowheads="1"/>
          </p:cNvSpPr>
          <p:nvPr/>
        </p:nvSpPr>
        <p:spPr bwMode="auto">
          <a:xfrm>
            <a:off x="2743518" y="1000125"/>
            <a:ext cx="7658986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22648" tIns="61324" rIns="122648" bIns="61324"/>
          <a:lstStyle/>
          <a:p>
            <a:pPr algn="ctr"/>
            <a:r>
              <a:rPr lang="zh-CN" altLang="en-US" sz="3800" b="1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</a:rPr>
              <a:t>中心定位算法</a:t>
            </a:r>
          </a:p>
        </p:txBody>
      </p:sp>
      <p:pic>
        <p:nvPicPr>
          <p:cNvPr id="12295" name="Picture 9" descr="QQ截图2017050416182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658989" y="2143129"/>
            <a:ext cx="3529421" cy="2671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文本框 60">
            <a:extLst>
              <a:ext uri="{FF2B5EF4-FFF2-40B4-BE49-F238E27FC236}">
                <a16:creationId xmlns=""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5036814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基于四象限探测器光电系统的光斑中心定位算法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25">
            <a:extLst>
              <a:ext uri="{FF2B5EF4-FFF2-40B4-BE49-F238E27FC236}">
                <a16:creationId xmlns=""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10.5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2" name="直接连接符 58">
            <a:extLst>
              <a:ext uri="{FF2B5EF4-FFF2-40B4-BE49-F238E27FC236}">
                <a16:creationId xmlns=""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3" descr="C:\Documents and Settings\Administrator\桌面\1.pn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201737" y="2695575"/>
            <a:ext cx="4255787" cy="1619250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sp>
        <p:nvSpPr>
          <p:cNvPr id="13315" name="TextBox 4"/>
          <p:cNvSpPr txBox="1">
            <a:spLocks noChangeArrowheads="1"/>
          </p:cNvSpPr>
          <p:nvPr/>
        </p:nvSpPr>
        <p:spPr bwMode="auto">
          <a:xfrm>
            <a:off x="7201735" y="1800228"/>
            <a:ext cx="4343903" cy="785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22648" tIns="61324" rIns="122648" bIns="61324">
            <a:spAutoFit/>
          </a:bodyPr>
          <a:lstStyle/>
          <a:p>
            <a:r>
              <a:rPr lang="zh-CN" altLang="en-US" sz="4300" b="1" dirty="0">
                <a:solidFill>
                  <a:srgbClr val="3366FF"/>
                </a:solidFill>
                <a:latin typeface="华文新魏" pitchFamily="2" charset="-122"/>
                <a:ea typeface="华文新魏" pitchFamily="2" charset="-122"/>
              </a:rPr>
              <a:t>对角线算法</a:t>
            </a:r>
            <a:r>
              <a:rPr lang="zh-CN" altLang="en-US" sz="4300" b="1" dirty="0">
                <a:solidFill>
                  <a:srgbClr val="3366FF"/>
                </a:solidFill>
                <a:latin typeface="宋体" charset="-122"/>
                <a:ea typeface="宋体" charset="-122"/>
              </a:rPr>
              <a:t>：</a:t>
            </a:r>
            <a:endParaRPr lang="zh-CN" altLang="en-US" sz="4300" b="1" dirty="0">
              <a:solidFill>
                <a:srgbClr val="3366FF"/>
              </a:solidFill>
              <a:ea typeface="宋体" charset="-122"/>
            </a:endParaRPr>
          </a:p>
        </p:txBody>
      </p:sp>
      <p:sp>
        <p:nvSpPr>
          <p:cNvPr id="13316" name="TextBox 8"/>
          <p:cNvSpPr txBox="1">
            <a:spLocks noChangeArrowheads="1"/>
          </p:cNvSpPr>
          <p:nvPr/>
        </p:nvSpPr>
        <p:spPr bwMode="auto">
          <a:xfrm>
            <a:off x="7316047" y="4429128"/>
            <a:ext cx="3086457" cy="785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22648" tIns="61324" rIns="122648" bIns="61324">
            <a:spAutoFit/>
          </a:bodyPr>
          <a:lstStyle/>
          <a:p>
            <a:r>
              <a:rPr lang="zh-CN" altLang="en-US" sz="4300" b="1" dirty="0">
                <a:solidFill>
                  <a:srgbClr val="3366FF"/>
                </a:solidFill>
                <a:latin typeface="华文新魏" pitchFamily="2" charset="-122"/>
                <a:ea typeface="华文新魏" pitchFamily="2" charset="-122"/>
              </a:rPr>
              <a:t>对数算法</a:t>
            </a:r>
            <a:r>
              <a:rPr lang="zh-CN" altLang="en-US" sz="4300" b="1" dirty="0">
                <a:solidFill>
                  <a:srgbClr val="3366FF"/>
                </a:solidFill>
                <a:ea typeface="宋体" charset="-122"/>
              </a:rPr>
              <a:t>：</a:t>
            </a:r>
          </a:p>
        </p:txBody>
      </p:sp>
      <p:pic>
        <p:nvPicPr>
          <p:cNvPr id="13317" name="Picture 5" descr="C:\Documents and Settings\Administrator\桌面\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43325" y="5457828"/>
            <a:ext cx="3300795" cy="162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8" name="Picture 6" descr="C:\Documents and Settings\Administrator\桌面\1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01736" y="5229225"/>
            <a:ext cx="3179337" cy="171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9" name="Rectangle 9"/>
          <p:cNvSpPr>
            <a:spLocks noChangeArrowheads="1"/>
          </p:cNvSpPr>
          <p:nvPr/>
        </p:nvSpPr>
        <p:spPr bwMode="auto">
          <a:xfrm>
            <a:off x="1943327" y="4429128"/>
            <a:ext cx="3126685" cy="785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22648" tIns="61324" rIns="122648" bIns="61324">
            <a:spAutoFit/>
          </a:bodyPr>
          <a:lstStyle/>
          <a:p>
            <a:r>
              <a:rPr lang="zh-CN" altLang="zh-CN" sz="3800" b="1" dirty="0">
                <a:solidFill>
                  <a:srgbClr val="3366FF"/>
                </a:solidFill>
                <a:latin typeface="宋体" charset="-122"/>
                <a:ea typeface="宋体" charset="-122"/>
              </a:rPr>
              <a:t>△</a:t>
            </a:r>
            <a:r>
              <a:rPr lang="en-US" altLang="zh-CN" sz="3800" b="1" dirty="0">
                <a:solidFill>
                  <a:srgbClr val="3366FF"/>
                </a:solidFill>
                <a:latin typeface="宋体" charset="-122"/>
                <a:ea typeface="宋体" charset="-122"/>
              </a:rPr>
              <a:t>/</a:t>
            </a:r>
            <a:r>
              <a:rPr lang="zh-CN" altLang="zh-CN" sz="3800" b="1" dirty="0">
                <a:solidFill>
                  <a:srgbClr val="3366FF"/>
                </a:solidFill>
                <a:latin typeface="宋体" charset="-122"/>
                <a:ea typeface="宋体" charset="-122"/>
              </a:rPr>
              <a:t>∑</a:t>
            </a:r>
            <a:r>
              <a:rPr lang="en-US" altLang="zh-CN" sz="4300" b="1" dirty="0" err="1">
                <a:solidFill>
                  <a:srgbClr val="3366FF"/>
                </a:solidFill>
                <a:latin typeface="华文新魏" pitchFamily="2" charset="-122"/>
                <a:ea typeface="华文新魏" pitchFamily="2" charset="-122"/>
              </a:rPr>
              <a:t>算法</a:t>
            </a:r>
            <a:r>
              <a:rPr lang="zh-CN" altLang="en-US" sz="4300" b="1" dirty="0">
                <a:solidFill>
                  <a:srgbClr val="3366FF"/>
                </a:solidFill>
                <a:ea typeface="宋体" charset="-122"/>
              </a:rPr>
              <a:t>：</a:t>
            </a:r>
          </a:p>
        </p:txBody>
      </p:sp>
      <p:pic>
        <p:nvPicPr>
          <p:cNvPr id="13320" name="Picture 10" descr="QQ截图2017050416183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829015" y="1571625"/>
            <a:ext cx="3529421" cy="2628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文本框 60">
            <a:extLst>
              <a:ext uri="{FF2B5EF4-FFF2-40B4-BE49-F238E27FC236}">
                <a16:creationId xmlns=""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5036814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基于四象限探测器光电系统的光斑中心定位算法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25">
            <a:extLst>
              <a:ext uri="{FF2B5EF4-FFF2-40B4-BE49-F238E27FC236}">
                <a16:creationId xmlns=""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10.5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3" name="直接连接符 58">
            <a:extLst>
              <a:ext uri="{FF2B5EF4-FFF2-40B4-BE49-F238E27FC236}">
                <a16:creationId xmlns=""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C:\Documents and Settings\Administrator\桌面\4.pn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85882" y="1971678"/>
            <a:ext cx="12464905" cy="4886325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sp>
        <p:nvSpPr>
          <p:cNvPr id="3" name="文本框 60">
            <a:extLst>
              <a:ext uri="{FF2B5EF4-FFF2-40B4-BE49-F238E27FC236}">
                <a16:creationId xmlns=""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5036814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基于四象限探测器光电系统的光斑中心定位算法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25">
            <a:extLst>
              <a:ext uri="{FF2B5EF4-FFF2-40B4-BE49-F238E27FC236}">
                <a16:creationId xmlns=""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10.5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7" name="直接连接符 58">
            <a:extLst>
              <a:ext uri="{FF2B5EF4-FFF2-40B4-BE49-F238E27FC236}">
                <a16:creationId xmlns=""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C:\Documents and Settings\Administrator\桌面\1.pn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14506" y="1914529"/>
            <a:ext cx="11917154" cy="4652963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sp>
        <p:nvSpPr>
          <p:cNvPr id="3" name="文本框 60">
            <a:extLst>
              <a:ext uri="{FF2B5EF4-FFF2-40B4-BE49-F238E27FC236}">
                <a16:creationId xmlns=""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5036814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基于四象限探测器光电系统的光斑中心定位算法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25">
            <a:extLst>
              <a:ext uri="{FF2B5EF4-FFF2-40B4-BE49-F238E27FC236}">
                <a16:creationId xmlns=""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10.5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7" name="直接连接符 58">
            <a:extLst>
              <a:ext uri="{FF2B5EF4-FFF2-40B4-BE49-F238E27FC236}">
                <a16:creationId xmlns=""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C:\Documents and Settings\Administrator\桌面\1.pn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28821" y="1914527"/>
            <a:ext cx="11795697" cy="4481513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sp>
        <p:nvSpPr>
          <p:cNvPr id="3" name="文本框 60">
            <a:extLst>
              <a:ext uri="{FF2B5EF4-FFF2-40B4-BE49-F238E27FC236}">
                <a16:creationId xmlns=""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5036814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基于四象限探测器光电系统的光斑中心定位算法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25">
            <a:extLst>
              <a:ext uri="{FF2B5EF4-FFF2-40B4-BE49-F238E27FC236}">
                <a16:creationId xmlns=""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10.5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7" name="直接连接符 58">
            <a:extLst>
              <a:ext uri="{FF2B5EF4-FFF2-40B4-BE49-F238E27FC236}">
                <a16:creationId xmlns=""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C:\Documents and Settings\Administrator\桌面\1.pn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00194" y="1914528"/>
            <a:ext cx="12133874" cy="4622007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sp>
        <p:nvSpPr>
          <p:cNvPr id="3" name="文本框 60">
            <a:extLst>
              <a:ext uri="{FF2B5EF4-FFF2-40B4-BE49-F238E27FC236}">
                <a16:creationId xmlns=""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5036814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基于四象限探测器光电系统的光斑中心定位算法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25">
            <a:extLst>
              <a:ext uri="{FF2B5EF4-FFF2-40B4-BE49-F238E27FC236}">
                <a16:creationId xmlns=""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10.5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7" name="直接连接符 58">
            <a:extLst>
              <a:ext uri="{FF2B5EF4-FFF2-40B4-BE49-F238E27FC236}">
                <a16:creationId xmlns=""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Box 7"/>
          <p:cNvSpPr txBox="1">
            <a:spLocks noChangeArrowheads="1"/>
          </p:cNvSpPr>
          <p:nvPr/>
        </p:nvSpPr>
        <p:spPr bwMode="auto">
          <a:xfrm>
            <a:off x="1371759" y="657225"/>
            <a:ext cx="1486072" cy="3432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22648" tIns="61324" rIns="122648" bIns="61324">
            <a:spAutoFit/>
          </a:bodyPr>
          <a:lstStyle/>
          <a:p>
            <a:r>
              <a:rPr lang="zh-CN" altLang="en-US" sz="4300" b="1" dirty="0">
                <a:solidFill>
                  <a:srgbClr val="3366FF"/>
                </a:solidFill>
                <a:latin typeface="华文新魏" pitchFamily="2" charset="-122"/>
                <a:ea typeface="华文新魏" pitchFamily="2" charset="-122"/>
              </a:rPr>
              <a:t>光斑能量分布的影响</a:t>
            </a:r>
          </a:p>
        </p:txBody>
      </p:sp>
      <p:pic>
        <p:nvPicPr>
          <p:cNvPr id="18435" name="Picture 4" descr="C:\Documents and Settings\Administrator\桌面\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86651" y="1135857"/>
            <a:ext cx="6858794" cy="2721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36" name="Picture 5" descr="C:\Documents and Settings\Administrator\桌面\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53312" y="4314828"/>
            <a:ext cx="6663509" cy="27170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文本框 60">
            <a:extLst>
              <a:ext uri="{FF2B5EF4-FFF2-40B4-BE49-F238E27FC236}">
                <a16:creationId xmlns=""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5036814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基于四象限探测器光电系统的光斑中心定位算法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25">
            <a:extLst>
              <a:ext uri="{FF2B5EF4-FFF2-40B4-BE49-F238E27FC236}">
                <a16:creationId xmlns=""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10.5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" name="直接连接符 58">
            <a:extLst>
              <a:ext uri="{FF2B5EF4-FFF2-40B4-BE49-F238E27FC236}">
                <a16:creationId xmlns=""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Box 7"/>
          <p:cNvSpPr txBox="1">
            <a:spLocks noChangeArrowheads="1"/>
          </p:cNvSpPr>
          <p:nvPr/>
        </p:nvSpPr>
        <p:spPr bwMode="auto">
          <a:xfrm>
            <a:off x="800193" y="1000128"/>
            <a:ext cx="8344866" cy="785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22648" tIns="61324" rIns="122648" bIns="61324">
            <a:spAutoFit/>
          </a:bodyPr>
          <a:lstStyle/>
          <a:p>
            <a:r>
              <a:rPr lang="zh-CN" altLang="en-US" sz="4300" b="1" dirty="0">
                <a:solidFill>
                  <a:srgbClr val="3366FF"/>
                </a:solidFill>
                <a:latin typeface="华文新魏" pitchFamily="2" charset="-122"/>
                <a:ea typeface="华文新魏" pitchFamily="2" charset="-122"/>
              </a:rPr>
              <a:t>背景光的影响</a:t>
            </a:r>
          </a:p>
        </p:txBody>
      </p:sp>
      <p:pic>
        <p:nvPicPr>
          <p:cNvPr id="19459" name="Picture 2" descr="C:\Documents and Settings\Administrator\桌面\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5007" y="2028828"/>
            <a:ext cx="11340825" cy="349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257445" y="5572128"/>
            <a:ext cx="10288192" cy="1601173"/>
          </a:xfrm>
          <a:prstGeom prst="rect">
            <a:avLst/>
          </a:prstGeom>
          <a:noFill/>
        </p:spPr>
        <p:txBody>
          <a:bodyPr lIns="122648" tIns="61324" rIns="122648" bIns="61324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chemeClr val="accent5">
                    <a:lumMod val="50000"/>
                  </a:schemeClr>
                </a:solidFill>
                <a:latin typeface="华文新魏" pitchFamily="2" charset="-122"/>
                <a:ea typeface="华文新魏" pitchFamily="2" charset="-122"/>
              </a:rPr>
              <a:t>解决方法：</a:t>
            </a:r>
            <a:endParaRPr lang="en-US" altLang="zh-CN" sz="3200" b="1" dirty="0">
              <a:solidFill>
                <a:schemeClr val="accent5">
                  <a:lumMod val="50000"/>
                </a:schemeClr>
              </a:solidFill>
              <a:latin typeface="华文新魏" pitchFamily="2" charset="-122"/>
              <a:ea typeface="华文新魏" pitchFamily="2" charset="-122"/>
            </a:endParaRPr>
          </a:p>
          <a:p>
            <a:pPr>
              <a:defRPr/>
            </a:pPr>
            <a:r>
              <a:rPr lang="zh-CN" altLang="en-US" sz="3200" b="1" dirty="0">
                <a:solidFill>
                  <a:schemeClr val="accent5">
                    <a:lumMod val="50000"/>
                  </a:schemeClr>
                </a:solidFill>
                <a:latin typeface="宋体" pitchFamily="2" charset="-122"/>
                <a:ea typeface="宋体" pitchFamily="2" charset="-122"/>
              </a:rPr>
              <a:t>（</a:t>
            </a:r>
            <a:r>
              <a:rPr lang="en-US" altLang="zh-CN" sz="3200" b="1" dirty="0">
                <a:solidFill>
                  <a:schemeClr val="accent5">
                    <a:lumMod val="50000"/>
                  </a:schemeClr>
                </a:solidFill>
                <a:latin typeface="宋体" pitchFamily="2" charset="-122"/>
                <a:ea typeface="宋体" pitchFamily="2" charset="-122"/>
              </a:rPr>
              <a:t>1</a:t>
            </a:r>
            <a:r>
              <a:rPr lang="zh-CN" altLang="en-US" sz="3200" b="1" dirty="0">
                <a:solidFill>
                  <a:schemeClr val="accent5">
                    <a:lumMod val="50000"/>
                  </a:schemeClr>
                </a:solidFill>
                <a:latin typeface="宋体" pitchFamily="2" charset="-122"/>
                <a:ea typeface="宋体" pitchFamily="2" charset="-122"/>
              </a:rPr>
              <a:t>）</a:t>
            </a:r>
            <a:r>
              <a:rPr lang="zh-CN" altLang="en-US" sz="3200" b="1" dirty="0">
                <a:solidFill>
                  <a:schemeClr val="accent5">
                    <a:lumMod val="50000"/>
                  </a:schemeClr>
                </a:solidFill>
                <a:latin typeface="华文新魏" pitchFamily="2" charset="-122"/>
                <a:ea typeface="华文新魏" pitchFamily="2" charset="-122"/>
              </a:rPr>
              <a:t>加反向偏压</a:t>
            </a:r>
            <a:r>
              <a:rPr lang="zh-CN" altLang="en-US" sz="3200" b="1" dirty="0">
                <a:solidFill>
                  <a:schemeClr val="accent5">
                    <a:lumMod val="50000"/>
                  </a:schemeClr>
                </a:solidFill>
                <a:latin typeface="宋体" pitchFamily="2" charset="-122"/>
                <a:ea typeface="宋体" pitchFamily="2" charset="-122"/>
              </a:rPr>
              <a:t>（</a:t>
            </a:r>
            <a:r>
              <a:rPr lang="zh-CN" altLang="en-US" sz="3200" b="1" dirty="0">
                <a:solidFill>
                  <a:schemeClr val="accent5">
                    <a:lumMod val="50000"/>
                  </a:schemeClr>
                </a:solidFill>
                <a:latin typeface="华文新魏" pitchFamily="2" charset="-122"/>
                <a:ea typeface="华文新魏" pitchFamily="2" charset="-122"/>
              </a:rPr>
              <a:t>无光斑</a:t>
            </a:r>
            <a:r>
              <a:rPr lang="zh-CN" altLang="en-US" sz="3200" b="1" dirty="0">
                <a:solidFill>
                  <a:schemeClr val="accent5">
                    <a:lumMod val="50000"/>
                  </a:schemeClr>
                </a:solidFill>
                <a:latin typeface="宋体" pitchFamily="2" charset="-122"/>
                <a:ea typeface="宋体" pitchFamily="2" charset="-122"/>
              </a:rPr>
              <a:t>）</a:t>
            </a:r>
            <a:endParaRPr lang="en-US" altLang="zh-CN" sz="3200" b="1" dirty="0">
              <a:solidFill>
                <a:schemeClr val="accent5">
                  <a:lumMod val="50000"/>
                </a:schemeClr>
              </a:solidFill>
              <a:latin typeface="宋体" pitchFamily="2" charset="-122"/>
              <a:ea typeface="宋体" pitchFamily="2" charset="-122"/>
            </a:endParaRPr>
          </a:p>
          <a:p>
            <a:pPr>
              <a:defRPr/>
            </a:pPr>
            <a:r>
              <a:rPr lang="zh-CN" altLang="en-US" sz="3200" b="1" dirty="0">
                <a:solidFill>
                  <a:schemeClr val="accent5">
                    <a:lumMod val="50000"/>
                  </a:schemeClr>
                </a:solidFill>
                <a:latin typeface="宋体" pitchFamily="2" charset="-122"/>
                <a:ea typeface="宋体" pitchFamily="2" charset="-122"/>
              </a:rPr>
              <a:t>（</a:t>
            </a:r>
            <a:r>
              <a:rPr lang="en-US" altLang="zh-CN" sz="3200" b="1" dirty="0">
                <a:solidFill>
                  <a:schemeClr val="accent5">
                    <a:lumMod val="50000"/>
                  </a:schemeClr>
                </a:solidFill>
                <a:latin typeface="宋体" pitchFamily="2" charset="-122"/>
                <a:ea typeface="宋体" pitchFamily="2" charset="-122"/>
              </a:rPr>
              <a:t>2</a:t>
            </a:r>
            <a:r>
              <a:rPr lang="zh-CN" altLang="en-US" sz="3200" b="1" dirty="0">
                <a:solidFill>
                  <a:schemeClr val="accent5">
                    <a:lumMod val="50000"/>
                  </a:schemeClr>
                </a:solidFill>
                <a:latin typeface="宋体" pitchFamily="2" charset="-122"/>
                <a:ea typeface="宋体" pitchFamily="2" charset="-122"/>
              </a:rPr>
              <a:t>）</a:t>
            </a:r>
            <a:r>
              <a:rPr lang="zh-CN" altLang="en-US" sz="3200" b="1" dirty="0">
                <a:solidFill>
                  <a:schemeClr val="accent5">
                    <a:lumMod val="50000"/>
                  </a:schemeClr>
                </a:solidFill>
                <a:latin typeface="华文新魏" pitchFamily="2" charset="-122"/>
                <a:ea typeface="华文新魏" pitchFamily="2" charset="-122"/>
              </a:rPr>
              <a:t>增加光斑能量</a:t>
            </a:r>
            <a:r>
              <a:rPr lang="en-US" altLang="zh-CN" sz="3200" b="1" dirty="0">
                <a:solidFill>
                  <a:schemeClr val="accent5">
                    <a:lumMod val="50000"/>
                  </a:schemeClr>
                </a:solidFill>
                <a:latin typeface="华文新魏" pitchFamily="2" charset="-122"/>
                <a:ea typeface="华文新魏" pitchFamily="2" charset="-122"/>
              </a:rPr>
              <a:t>     </a:t>
            </a:r>
            <a:r>
              <a:rPr lang="zh-CN" altLang="en-US" sz="3200" b="1" dirty="0">
                <a:solidFill>
                  <a:schemeClr val="accent5">
                    <a:lumMod val="50000"/>
                  </a:schemeClr>
                </a:solidFill>
                <a:latin typeface="宋体" pitchFamily="2" charset="-122"/>
                <a:ea typeface="宋体" pitchFamily="2" charset="-122"/>
              </a:rPr>
              <a:t>（</a:t>
            </a:r>
            <a:r>
              <a:rPr lang="en-US" altLang="zh-CN" sz="3200" b="1" dirty="0">
                <a:solidFill>
                  <a:schemeClr val="accent5">
                    <a:lumMod val="50000"/>
                  </a:schemeClr>
                </a:solidFill>
                <a:latin typeface="宋体" pitchFamily="2" charset="-122"/>
                <a:ea typeface="宋体" pitchFamily="2" charset="-122"/>
              </a:rPr>
              <a:t>3</a:t>
            </a:r>
            <a:r>
              <a:rPr lang="zh-CN" altLang="en-US" sz="3200" b="1" dirty="0">
                <a:solidFill>
                  <a:schemeClr val="accent5">
                    <a:lumMod val="50000"/>
                  </a:schemeClr>
                </a:solidFill>
                <a:latin typeface="宋体" pitchFamily="2" charset="-122"/>
                <a:ea typeface="宋体" pitchFamily="2" charset="-122"/>
              </a:rPr>
              <a:t>）</a:t>
            </a:r>
            <a:r>
              <a:rPr lang="zh-CN" altLang="en-US" sz="3200" b="1" dirty="0">
                <a:solidFill>
                  <a:schemeClr val="accent5">
                    <a:lumMod val="50000"/>
                  </a:schemeClr>
                </a:solidFill>
                <a:latin typeface="华文新魏" pitchFamily="2" charset="-122"/>
                <a:ea typeface="华文新魏" pitchFamily="2" charset="-122"/>
              </a:rPr>
              <a:t>窄带滤波</a:t>
            </a:r>
          </a:p>
        </p:txBody>
      </p:sp>
      <p:sp>
        <p:nvSpPr>
          <p:cNvPr id="6" name="文本框 60">
            <a:extLst>
              <a:ext uri="{FF2B5EF4-FFF2-40B4-BE49-F238E27FC236}">
                <a16:creationId xmlns=""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5036814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基于四象限探测器光电系统的光斑中心定位算法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25">
            <a:extLst>
              <a:ext uri="{FF2B5EF4-FFF2-40B4-BE49-F238E27FC236}">
                <a16:creationId xmlns=""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10.5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0" name="直接连接符 58">
            <a:extLst>
              <a:ext uri="{FF2B5EF4-FFF2-40B4-BE49-F238E27FC236}">
                <a16:creationId xmlns=""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914506" y="1114426"/>
            <a:ext cx="11831420" cy="93107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122648" tIns="61324" rIns="122648" bIns="61324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4300" b="1" dirty="0" smtClean="0">
                <a:solidFill>
                  <a:srgbClr val="3366FF"/>
                </a:solidFill>
                <a:latin typeface="华文新魏" pitchFamily="2" charset="-122"/>
                <a:ea typeface="华文新魏" pitchFamily="2" charset="-122"/>
              </a:rPr>
              <a:t>实验测量及数据处理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4294967295"/>
          </p:nvPr>
        </p:nvSpPr>
        <p:spPr bwMode="auto">
          <a:xfrm>
            <a:off x="1714698" y="4200528"/>
            <a:ext cx="8573492" cy="31718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122648" tIns="61324" rIns="122648" bIns="61324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zh-CN" sz="3200" b="1" dirty="0" smtClean="0">
                <a:solidFill>
                  <a:srgbClr val="33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输出波长</a:t>
            </a:r>
            <a:r>
              <a:rPr lang="zh-CN" altLang="en-US" sz="3200" b="1" dirty="0" smtClean="0">
                <a:solidFill>
                  <a:srgbClr val="33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en-US" altLang="zh-CN" sz="3200" b="1" dirty="0" smtClean="0">
                <a:solidFill>
                  <a:srgbClr val="33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650 nm</a:t>
            </a:r>
            <a:r>
              <a:rPr lang="zh-CN" altLang="en-US" sz="3200" b="1" dirty="0" smtClean="0">
                <a:solidFill>
                  <a:srgbClr val="33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；</a:t>
            </a:r>
            <a:endParaRPr lang="en-US" altLang="zh-CN" sz="3200" b="1" dirty="0" smtClean="0">
              <a:solidFill>
                <a:srgbClr val="3366FF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zh-CN" sz="3200" b="1" dirty="0" smtClean="0">
                <a:solidFill>
                  <a:srgbClr val="33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功率</a:t>
            </a:r>
            <a:r>
              <a:rPr lang="zh-CN" altLang="en-US" sz="3200" b="1" dirty="0" smtClean="0">
                <a:solidFill>
                  <a:srgbClr val="33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en-US" altLang="zh-CN" sz="3200" b="1" dirty="0" smtClean="0">
                <a:solidFill>
                  <a:srgbClr val="33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50mW</a:t>
            </a:r>
            <a:r>
              <a:rPr lang="zh-CN" altLang="en-US" sz="3200" b="1" dirty="0" smtClean="0">
                <a:solidFill>
                  <a:srgbClr val="33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；</a:t>
            </a:r>
            <a:endParaRPr lang="en-US" altLang="zh-CN" sz="3200" b="1" dirty="0" smtClean="0">
              <a:solidFill>
                <a:srgbClr val="3366FF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zh-CN" sz="3200" b="1" dirty="0" smtClean="0">
                <a:solidFill>
                  <a:srgbClr val="33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光斑形状</a:t>
            </a:r>
            <a:r>
              <a:rPr lang="zh-CN" altLang="en-US" sz="3200" b="1" dirty="0" smtClean="0">
                <a:solidFill>
                  <a:srgbClr val="33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zh-CN" altLang="zh-CN" sz="3200" b="1" dirty="0" smtClean="0">
                <a:solidFill>
                  <a:srgbClr val="33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圆形</a:t>
            </a:r>
            <a:r>
              <a:rPr lang="zh-CN" altLang="en-US" sz="3200" b="1" dirty="0" smtClean="0">
                <a:solidFill>
                  <a:srgbClr val="33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</a:t>
            </a:r>
          </a:p>
        </p:txBody>
      </p:sp>
      <p:sp>
        <p:nvSpPr>
          <p:cNvPr id="20484" name="Rectangle 5"/>
          <p:cNvSpPr>
            <a:spLocks noChangeArrowheads="1"/>
          </p:cNvSpPr>
          <p:nvPr/>
        </p:nvSpPr>
        <p:spPr bwMode="auto">
          <a:xfrm>
            <a:off x="1088360" y="3057525"/>
            <a:ext cx="11774263" cy="954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22648" tIns="61324" rIns="122648" bIns="61324"/>
          <a:lstStyle/>
          <a:p>
            <a:pPr marL="459932" indent="-459932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en-US" altLang="zh-CN" sz="3200" b="1" dirty="0">
                <a:solidFill>
                  <a:srgbClr val="33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</a:t>
            </a:r>
            <a:r>
              <a:rPr lang="zh-CN" altLang="zh-CN" sz="3200" b="1" dirty="0">
                <a:solidFill>
                  <a:srgbClr val="33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使用</a:t>
            </a:r>
            <a:r>
              <a:rPr lang="en-US" altLang="zh-CN" sz="3200" b="1" dirty="0">
                <a:solidFill>
                  <a:srgbClr val="33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650nm</a:t>
            </a:r>
            <a:r>
              <a:rPr lang="zh-CN" altLang="zh-CN" sz="3200" b="1" dirty="0">
                <a:solidFill>
                  <a:srgbClr val="33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点状激光器</a:t>
            </a:r>
            <a:r>
              <a:rPr lang="en-US" altLang="zh-CN" sz="3200" b="1" dirty="0">
                <a:solidFill>
                  <a:srgbClr val="33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RD650-50G3</a:t>
            </a:r>
            <a:r>
              <a:rPr lang="zh-CN" altLang="zh-CN" sz="3200" b="1" dirty="0">
                <a:solidFill>
                  <a:srgbClr val="33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，其具体参数为</a:t>
            </a:r>
            <a:r>
              <a:rPr lang="zh-CN" altLang="en-US" sz="3200" b="1" dirty="0">
                <a:solidFill>
                  <a:srgbClr val="33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：</a:t>
            </a:r>
          </a:p>
        </p:txBody>
      </p:sp>
      <p:sp>
        <p:nvSpPr>
          <p:cNvPr id="20485" name="TextBox 7"/>
          <p:cNvSpPr txBox="1">
            <a:spLocks noChangeArrowheads="1"/>
          </p:cNvSpPr>
          <p:nvPr/>
        </p:nvSpPr>
        <p:spPr bwMode="auto">
          <a:xfrm>
            <a:off x="800193" y="1800228"/>
            <a:ext cx="8344866" cy="785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22648" tIns="61324" rIns="122648" bIns="61324">
            <a:spAutoFit/>
          </a:bodyPr>
          <a:lstStyle/>
          <a:p>
            <a:r>
              <a:rPr lang="zh-CN" altLang="en-US" sz="4300" b="1" dirty="0">
                <a:solidFill>
                  <a:srgbClr val="3366FF"/>
                </a:solidFill>
                <a:latin typeface="华文新魏" pitchFamily="2" charset="-122"/>
                <a:ea typeface="华文新魏" pitchFamily="2" charset="-122"/>
              </a:rPr>
              <a:t>光源部分</a:t>
            </a:r>
            <a:r>
              <a:rPr lang="zh-CN" altLang="en-US" sz="4300" b="1" dirty="0">
                <a:solidFill>
                  <a:srgbClr val="3366FF"/>
                </a:solidFill>
                <a:latin typeface="宋体" charset="-122"/>
                <a:ea typeface="宋体" charset="-122"/>
              </a:rPr>
              <a:t>：</a:t>
            </a:r>
            <a:endParaRPr lang="zh-CN" altLang="en-US" sz="4300" b="1" dirty="0">
              <a:solidFill>
                <a:srgbClr val="3366FF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6" name="文本框 60">
            <a:extLst>
              <a:ext uri="{FF2B5EF4-FFF2-40B4-BE49-F238E27FC236}">
                <a16:creationId xmlns=""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5036814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基于四象限探测器光电系统的光斑中心定位算法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25">
            <a:extLst>
              <a:ext uri="{FF2B5EF4-FFF2-40B4-BE49-F238E27FC236}">
                <a16:creationId xmlns=""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10.5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0" name="直接连接符 58">
            <a:extLst>
              <a:ext uri="{FF2B5EF4-FFF2-40B4-BE49-F238E27FC236}">
                <a16:creationId xmlns=""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13" name="文本框 60">
            <a:extLst>
              <a:ext uri="{FF2B5EF4-FFF2-40B4-BE49-F238E27FC236}">
                <a16:creationId xmlns=""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1517180" y="445682"/>
            <a:ext cx="5036814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基于四象限探测器光电系统的光斑中心定位算法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408920" y="4815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13146123" y="5143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25">
            <a:extLst>
              <a:ext uri="{FF2B5EF4-FFF2-40B4-BE49-F238E27FC236}">
                <a16:creationId xmlns=""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488577" y="4456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10.5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7" name="直接连接符 58">
            <a:extLst>
              <a:ext uri="{FF2B5EF4-FFF2-40B4-BE49-F238E27FC236}">
                <a16:creationId xmlns=""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602906" y="8476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=""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11404318" y="4456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=""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152400" y="77419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/>
          <p:cNvSpPr>
            <a:spLocks noGrp="1" noChangeArrowheads="1"/>
          </p:cNvSpPr>
          <p:nvPr>
            <p:ph idx="4294967295"/>
          </p:nvPr>
        </p:nvSpPr>
        <p:spPr bwMode="auto">
          <a:xfrm>
            <a:off x="1143133" y="3257553"/>
            <a:ext cx="8573492" cy="31718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122648" tIns="61324" rIns="122648" bIns="61324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zh-CN" sz="3200" b="1" dirty="0" smtClean="0">
                <a:solidFill>
                  <a:srgbClr val="33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芯片尺寸：</a:t>
            </a:r>
            <a:r>
              <a:rPr lang="en-US" altLang="zh-CN" sz="3200" b="1" dirty="0" smtClean="0">
                <a:solidFill>
                  <a:srgbClr val="33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6*6mm</a:t>
            </a:r>
            <a:r>
              <a:rPr lang="en-US" altLang="zh-CN" sz="3200" b="1" baseline="30000" dirty="0" smtClean="0">
                <a:solidFill>
                  <a:srgbClr val="33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zh-CN" sz="3200" b="1" dirty="0" smtClean="0">
                <a:solidFill>
                  <a:srgbClr val="33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；</a:t>
            </a:r>
          </a:p>
          <a:p>
            <a:pPr eaLnBrk="1" hangingPunct="1"/>
            <a:r>
              <a:rPr lang="zh-CN" altLang="zh-CN" sz="3200" b="1" dirty="0" smtClean="0">
                <a:solidFill>
                  <a:srgbClr val="33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光谱响应范围：</a:t>
            </a:r>
            <a:r>
              <a:rPr lang="en-US" altLang="zh-CN" sz="3200" b="1" dirty="0" smtClean="0">
                <a:solidFill>
                  <a:srgbClr val="33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400~1100nm</a:t>
            </a:r>
            <a:r>
              <a:rPr lang="zh-CN" altLang="zh-CN" sz="3200" b="1" dirty="0" smtClean="0">
                <a:solidFill>
                  <a:srgbClr val="33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；</a:t>
            </a:r>
          </a:p>
          <a:p>
            <a:pPr eaLnBrk="1" hangingPunct="1"/>
            <a:r>
              <a:rPr lang="zh-CN" altLang="zh-CN" sz="3200" b="1" dirty="0" smtClean="0">
                <a:solidFill>
                  <a:srgbClr val="33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峰值波长：</a:t>
            </a:r>
            <a:r>
              <a:rPr lang="en-US" altLang="zh-CN" sz="3200" b="1" dirty="0" smtClean="0">
                <a:solidFill>
                  <a:srgbClr val="33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940nm</a:t>
            </a:r>
            <a:r>
              <a:rPr lang="zh-CN" altLang="zh-CN" sz="3200" b="1" dirty="0" smtClean="0">
                <a:solidFill>
                  <a:srgbClr val="33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；</a:t>
            </a:r>
          </a:p>
          <a:p>
            <a:pPr eaLnBrk="1" hangingPunct="1"/>
            <a:r>
              <a:rPr lang="zh-CN" altLang="zh-CN" sz="3200" b="1" dirty="0" smtClean="0">
                <a:solidFill>
                  <a:srgbClr val="33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暗电流：</a:t>
            </a:r>
            <a:r>
              <a:rPr lang="en-US" altLang="zh-CN" sz="3200" b="1" dirty="0" smtClean="0">
                <a:solidFill>
                  <a:srgbClr val="33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1nA</a:t>
            </a:r>
            <a:r>
              <a:rPr lang="zh-CN" altLang="zh-CN" sz="3200" b="1" dirty="0" smtClean="0">
                <a:solidFill>
                  <a:srgbClr val="3366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</a:t>
            </a:r>
          </a:p>
        </p:txBody>
      </p:sp>
      <p:pic>
        <p:nvPicPr>
          <p:cNvPr id="21507" name="Picture 8" descr="C:\Documents and Settings\Administrator\桌面\T1ZRewXnNaXXc0aNg3_050225.jpg_b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3494" y="3400429"/>
            <a:ext cx="3772337" cy="2405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08" name="TextBox 7"/>
          <p:cNvSpPr txBox="1">
            <a:spLocks noChangeArrowheads="1"/>
          </p:cNvSpPr>
          <p:nvPr/>
        </p:nvSpPr>
        <p:spPr bwMode="auto">
          <a:xfrm>
            <a:off x="1371761" y="1885953"/>
            <a:ext cx="8344866" cy="785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22648" tIns="61324" rIns="122648" bIns="61324">
            <a:spAutoFit/>
          </a:bodyPr>
          <a:lstStyle/>
          <a:p>
            <a:r>
              <a:rPr lang="zh-CN" altLang="en-US" sz="4300" b="1" dirty="0">
                <a:solidFill>
                  <a:srgbClr val="3366FF"/>
                </a:solidFill>
                <a:latin typeface="华文新魏" pitchFamily="2" charset="-122"/>
                <a:ea typeface="华文新魏" pitchFamily="2" charset="-122"/>
              </a:rPr>
              <a:t>探测器部分</a:t>
            </a:r>
            <a:r>
              <a:rPr lang="zh-CN" altLang="en-US" sz="4300" b="1" dirty="0">
                <a:solidFill>
                  <a:srgbClr val="3366FF"/>
                </a:solidFill>
                <a:latin typeface="宋体" charset="-122"/>
                <a:ea typeface="宋体" charset="-122"/>
              </a:rPr>
              <a:t>：</a:t>
            </a:r>
            <a:endParaRPr lang="zh-CN" altLang="en-US" sz="4300" b="1" dirty="0">
              <a:solidFill>
                <a:srgbClr val="3366FF"/>
              </a:solidFill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5" descr="C:\Documents and Settings\Administrator\桌面\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698" y="1800229"/>
            <a:ext cx="9716625" cy="4998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文本框 60">
            <a:extLst>
              <a:ext uri="{FF2B5EF4-FFF2-40B4-BE49-F238E27FC236}">
                <a16:creationId xmlns="" xmlns:a16="http://schemas.microsoft.com/office/drawing/2014/main" id="{791D85D7-F412-9C48-9F2B-E33F5B7B4F3C}"/>
              </a:ext>
            </a:extLst>
          </p:cNvPr>
          <p:cNvSpPr txBox="1"/>
          <p:nvPr/>
        </p:nvSpPr>
        <p:spPr>
          <a:xfrm>
            <a:off x="1364780" y="293282"/>
            <a:ext cx="5036814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基于四象限探测器光电系统的光斑中心定位算法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25">
            <a:extLst>
              <a:ext uri="{FF2B5EF4-FFF2-40B4-BE49-F238E27FC236}">
                <a16:creationId xmlns="" xmlns:a16="http://schemas.microsoft.com/office/drawing/2014/main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10.5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7" name="直接连接符 58">
            <a:extLst>
              <a:ext uri="{FF2B5EF4-FFF2-40B4-BE49-F238E27FC236}">
                <a16:creationId xmlns="" xmlns:a16="http://schemas.microsoft.com/office/drawing/2014/main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_光电系统与信号处理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3_光电系统与信号处理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演示文稿1</Template>
  <TotalTime>4343</TotalTime>
  <Words>495</Words>
  <Application>Microsoft Office PowerPoint</Application>
  <PresentationFormat>自定义</PresentationFormat>
  <Paragraphs>136</Paragraphs>
  <Slides>19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0" baseType="lpstr">
      <vt:lpstr>Arial</vt:lpstr>
      <vt:lpstr>Calibri</vt:lpstr>
      <vt:lpstr>宋体</vt:lpstr>
      <vt:lpstr>Times New Roman</vt:lpstr>
      <vt:lpstr>微软雅黑</vt:lpstr>
      <vt:lpstr>华文彩云</vt:lpstr>
      <vt:lpstr>华文行楷</vt:lpstr>
      <vt:lpstr>Wingdings</vt:lpstr>
      <vt:lpstr>华文新魏</vt:lpstr>
      <vt:lpstr>3_光电系统与信号处理</vt:lpstr>
      <vt:lpstr>Microsoft Visio 绘图</vt:lpstr>
      <vt:lpstr>幻灯片 1</vt:lpstr>
      <vt:lpstr>四象限探测器应用</vt:lpstr>
      <vt:lpstr>四象限探测器应用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实验测量及数据处理</vt:lpstr>
      <vt:lpstr>幻灯片 18</vt:lpstr>
      <vt:lpstr>幻灯片 19</vt:lpstr>
    </vt:vector>
  </TitlesOfParts>
  <Company>Guilddesign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ThemeGallery</dc:creator>
  <cp:lastModifiedBy>yyp</cp:lastModifiedBy>
  <cp:revision>173</cp:revision>
  <dcterms:created xsi:type="dcterms:W3CDTF">2004-07-21T02:43:03Z</dcterms:created>
  <dcterms:modified xsi:type="dcterms:W3CDTF">2022-05-02T06:10:00Z</dcterms:modified>
</cp:coreProperties>
</file>