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3" r:id="rId2"/>
    <p:sldId id="376" r:id="rId3"/>
    <p:sldId id="377" r:id="rId4"/>
    <p:sldId id="273" r:id="rId5"/>
    <p:sldId id="274" r:id="rId6"/>
    <p:sldId id="275" r:id="rId7"/>
    <p:sldId id="276" r:id="rId8"/>
    <p:sldId id="378" r:id="rId9"/>
    <p:sldId id="278" r:id="rId10"/>
    <p:sldId id="283" r:id="rId11"/>
    <p:sldId id="279" r:id="rId12"/>
    <p:sldId id="281" r:id="rId13"/>
    <p:sldId id="282" r:id="rId14"/>
  </p:sldIdLst>
  <p:sldSz cx="13717588" cy="7715250"/>
  <p:notesSz cx="6858000" cy="9144000"/>
  <p:defaultTextStyle>
    <a:defPPr>
      <a:defRPr lang="zh-CN"/>
    </a:defPPr>
    <a:lvl1pPr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514350" indent="-571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028700" indent="-1143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543050" indent="-1714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057400" indent="-2286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0">
          <p15:clr>
            <a:srgbClr val="A4A3A4"/>
          </p15:clr>
        </p15:guide>
        <p15:guide id="2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" y="270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DF147-3D8F-4CCB-8CD6-A91A4A33BC24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4E90E-0FD9-4A07-BA48-1E4E54BDE1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8528F1-5635-4421-BD93-28E230B147AD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399F76-7EC0-477A-825B-4E29623777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826A6-1F02-4E71-94FC-C0E09B19D905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9A3D2-04CE-4580-9E0F-587B3454EF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FB50F-15D5-40A2-B753-673A3F77C569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5BB5B-E30D-4632-A71D-5042C58223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A7C49-C330-4F59-A155-9618D6990FD1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2EE15-9948-4473-8D56-43EB1438775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BD460-A58A-437E-81CC-339ABA5B56E4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EBF47-8740-4996-AC8F-CB6BC970887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5F5B7-235C-45E1-9532-944666650250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9D92-0EC4-4EE9-9CD7-CD939E800A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BD64D-7C17-49AE-97DF-029FC6DF6949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7F39E-2BCD-494C-974B-3FBC2FA6C3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A0C93-748C-455B-8DD5-047E68E30874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1423D-84C4-474A-B46E-D8D7387948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54D62-847C-4A76-B2F7-0396C51D1004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6A588-9929-4D63-9301-B1C4DD3E8B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39AE0-F599-4F1D-93A4-1E703C599180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83391-910A-4D5B-887D-1B70F531162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66A2F74-E064-40E3-BD31-2AF79610A03F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4229636-E202-4DCE-802B-95F2ECA471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fontAlgn="base">
        <a:lnSpc>
          <a:spcPct val="90000"/>
        </a:lnSpc>
        <a:spcBef>
          <a:spcPts val="1125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hyperlink" Target="Si-NPN-SFC3410-&#20809;&#30005;&#19977;&#26497;&#31649;.pdf" TargetMode="External"/><Relationship Id="rId4" Type="http://schemas.openxmlformats.org/officeDocument/2006/relationships/image" Target="../media/image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1053348" y="2672562"/>
            <a:ext cx="2686050" cy="1178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3" name="矩形 2"/>
          <p:cNvSpPr/>
          <p:nvPr/>
        </p:nvSpPr>
        <p:spPr>
          <a:xfrm>
            <a:off x="1460180" y="1793603"/>
            <a:ext cx="172355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3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41AE38-A11D-4793-BDA3-DCA36976B496}"/>
              </a:ext>
            </a:extLst>
          </p:cNvPr>
          <p:cNvSpPr/>
          <p:nvPr/>
        </p:nvSpPr>
        <p:spPr>
          <a:xfrm>
            <a:off x="3936558" y="2705900"/>
            <a:ext cx="9588706" cy="1122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光伏探测器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AF438E-361B-42EE-9E70-DDB98227F7D7}"/>
              </a:ext>
            </a:extLst>
          </p:cNvPr>
          <p:cNvSpPr/>
          <p:nvPr/>
        </p:nvSpPr>
        <p:spPr>
          <a:xfrm>
            <a:off x="3190512" y="1836129"/>
            <a:ext cx="1238613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1200" b="1" spc="40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" name="直接连接符 58">
            <a:extLst>
              <a:ext uri="{FF2B5EF4-FFF2-40B4-BE49-F238E27FC236}">
                <a16:creationId xmlns:a16="http://schemas.microsoft.com/office/drawing/2014/main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1209675" y="4175630"/>
            <a:ext cx="4795114" cy="1169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1C44C9C7-7166-4DA9-8A1A-D2BB836F3F54}"/>
              </a:ext>
            </a:extLst>
          </p:cNvPr>
          <p:cNvSpPr/>
          <p:nvPr/>
        </p:nvSpPr>
        <p:spPr>
          <a:xfrm>
            <a:off x="1143000" y="4512279"/>
            <a:ext cx="715952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4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Photovoltaic detector</a:t>
            </a:r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184DEE-FEA5-431F-856D-B2DD56F698B6}"/>
              </a:ext>
            </a:extLst>
          </p:cNvPr>
          <p:cNvSpPr/>
          <p:nvPr/>
        </p:nvSpPr>
        <p:spPr>
          <a:xfrm>
            <a:off x="1209675" y="1869039"/>
            <a:ext cx="167523" cy="403125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硅光敏晶体管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硅光敏晶体管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光敏晶体管工作原理与结构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光敏晶体管工作原理与结构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4.3.1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85622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072468"/>
              </p:ext>
            </p:extLst>
          </p:nvPr>
        </p:nvGraphicFramePr>
        <p:xfrm>
          <a:off x="8948738" y="2657475"/>
          <a:ext cx="3689350" cy="402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Visio" r:id="rId3" imgW="1588320" imgH="1734480" progId="Visio.Drawing.11">
                  <p:embed/>
                </p:oleObj>
              </mc:Choice>
              <mc:Fallback>
                <p:oleObj name="Visio" r:id="rId3" imgW="1588320" imgH="17344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8738" y="2657475"/>
                        <a:ext cx="3689350" cy="402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627588" y="1037618"/>
            <a:ext cx="5856879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kumimoji="1" lang="en-US" altLang="zh-CN" sz="3600" b="1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   1  </a:t>
            </a:r>
            <a:r>
              <a:rPr kumimoji="1" lang="zh-CN" altLang="en-US" sz="3600" b="1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光电三极管的工作原理</a:t>
            </a:r>
            <a:endParaRPr kumimoji="1" lang="en-US" altLang="zh-CN" sz="3600" b="1" dirty="0">
              <a:solidFill>
                <a:srgbClr val="0000CC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043021" y="2364362"/>
            <a:ext cx="2464881" cy="58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marL="514350" indent="-5143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3200" dirty="0">
                <a:ea typeface="微软雅黑" pitchFamily="34" charset="-122"/>
                <a:cs typeface="Times New Roman" pitchFamily="18" charset="0"/>
              </a:rPr>
              <a:t>(1)</a:t>
            </a:r>
            <a:r>
              <a:rPr kumimoji="1" lang="zh-CN" altLang="en-US" sz="3200" dirty="0">
                <a:ea typeface="微软雅黑" pitchFamily="34" charset="-122"/>
                <a:cs typeface="Times New Roman" pitchFamily="18" charset="0"/>
              </a:rPr>
              <a:t>光电转换</a:t>
            </a:r>
            <a:endParaRPr kumimoji="1" lang="en-US" altLang="zh-CN" sz="3200" dirty="0"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724693" y="3434472"/>
            <a:ext cx="8176116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无光照：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开路状态，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反偏 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— </a:t>
            </a:r>
            <a:r>
              <a:rPr lang="en-US" altLang="zh-CN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200" baseline="-250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d</a:t>
            </a:r>
          </a:p>
          <a:p>
            <a:pPr marL="457200" indent="-457200"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光照：产生电子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空穴对在反偏内电场作用下，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电子漂移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到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集电区，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空穴</a:t>
            </a:r>
            <a:r>
              <a:rPr lang="en-US" altLang="zh-CN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基区</a:t>
            </a:r>
            <a:r>
              <a:rPr lang="en-US" altLang="zh-CN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, 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与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e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发射的电子流复合，形成基极光电流</a:t>
            </a:r>
            <a:r>
              <a:rPr lang="en-US" altLang="zh-CN" sz="3200" i="1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200" baseline="-250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P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4518067" y="2364362"/>
            <a:ext cx="2800350" cy="584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>
            <a:spAutoFit/>
          </a:bodyPr>
          <a:lstStyle>
            <a:lvl1pPr marL="514350" indent="-5143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 dirty="0">
                <a:ea typeface="微软雅黑" pitchFamily="34" charset="-122"/>
                <a:cs typeface="Times New Roman" pitchFamily="18" charset="0"/>
              </a:rPr>
              <a:t>(2)</a:t>
            </a:r>
            <a:r>
              <a:rPr kumimoji="1" lang="zh-CN" altLang="en-US" sz="3200" dirty="0">
                <a:ea typeface="微软雅黑" pitchFamily="34" charset="-122"/>
                <a:cs typeface="Times New Roman" pitchFamily="18" charset="0"/>
              </a:rPr>
              <a:t>光电流放大。 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17F4684-01D7-4D08-BC8E-9BEB8E6F310E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1" name="文本框 60">
              <a:extLst>
                <a:ext uri="{FF2B5EF4-FFF2-40B4-BE49-F238E27FC236}">
                  <a16:creationId xmlns:a16="http://schemas.microsoft.com/office/drawing/2014/main" id="{A98BE7E0-96CB-4785-B40A-D6F26F8BA7F4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光敏晶体管工作原理与结构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8330EC7-9E35-4168-861F-B36DECED8585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B3AF3B2-47C2-4E9B-980C-3D8CBDFB70CF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9AC3E68A-854B-498A-923C-ED2E25070895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4.3.1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58">
              <a:extLst>
                <a:ext uri="{FF2B5EF4-FFF2-40B4-BE49-F238E27FC236}">
                  <a16:creationId xmlns:a16="http://schemas.microsoft.com/office/drawing/2014/main" id="{0C2DB1D4-B550-44F3-8FEA-D77D9DEC9C76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4565EF5-B837-4CAB-9695-68FE9DE33C23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3E7C44B-D650-453D-8784-3BD981A53CD1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16756" y="1473470"/>
            <a:ext cx="12221031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基区</a:t>
            </a:r>
            <a:r>
              <a:rPr lang="en-US" altLang="zh-CN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: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电荷的变化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改变了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发射结电位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电子由发射区向基区注入</a:t>
            </a:r>
            <a:endParaRPr lang="en-US" altLang="zh-CN" sz="3200" dirty="0"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发射区</a:t>
            </a:r>
            <a:r>
              <a:rPr lang="en-US" altLang="zh-CN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: 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电子是多子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; 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正偏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扩散</a:t>
            </a:r>
            <a:r>
              <a:rPr lang="en-US" altLang="zh-CN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&gt;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漂移</a:t>
            </a:r>
            <a:r>
              <a:rPr lang="en-US" altLang="zh-CN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大量电子越过发射结到达基区</a:t>
            </a:r>
            <a:endParaRPr lang="en-US" altLang="zh-CN" sz="3200" dirty="0"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集电极：在基区扩散受到内建电场作用到达集电极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如果基极没有引线，集电极电流等于发射极电流。</a:t>
            </a:r>
            <a:endParaRPr lang="zh-CN" altLang="en-US" sz="3200" dirty="0"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968273"/>
              </p:ext>
            </p:extLst>
          </p:nvPr>
        </p:nvGraphicFramePr>
        <p:xfrm>
          <a:off x="4718859" y="5819977"/>
          <a:ext cx="4325938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" name="Equation" r:id="rId3" imgW="1548728" imgH="393529" progId="Equation.DSMT4">
                  <p:embed/>
                </p:oleObj>
              </mc:Choice>
              <mc:Fallback>
                <p:oleObj name="Equation" r:id="rId3" imgW="1548728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8859" y="5819977"/>
                        <a:ext cx="4325938" cy="11128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29F21E92-B4B0-4725-9488-32C395D3C5C2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id="{EC0514FE-FE86-405B-A495-DC64605766B6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光敏晶体管工作原理与结构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28FF9C9-9321-42F7-B919-3A4BF08951AC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A521C07-2643-41B6-B7A0-636FA3F86B97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02457AA-ACC5-4DCD-AD8C-14E99F7D06CF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4.3.1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:a16="http://schemas.microsoft.com/office/drawing/2014/main" id="{784C31B5-2244-4612-BFBC-D191BF524B5E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F5579ED-FBB5-4DA4-B6DA-F890238E2F09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BF93407-431B-46EC-8404-8E841E921DD5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Rectangle 2"/>
          <p:cNvSpPr>
            <a:spLocks noChangeArrowheads="1"/>
          </p:cNvSpPr>
          <p:nvPr/>
        </p:nvSpPr>
        <p:spPr bwMode="auto">
          <a:xfrm>
            <a:off x="252413" y="34607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0342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910836"/>
              </p:ext>
            </p:extLst>
          </p:nvPr>
        </p:nvGraphicFramePr>
        <p:xfrm>
          <a:off x="8161338" y="2917825"/>
          <a:ext cx="4902200" cy="332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Visio" r:id="rId3" imgW="2952757" imgH="2000172" progId="Visio.Drawing.11">
                  <p:embed/>
                </p:oleObj>
              </mc:Choice>
              <mc:Fallback>
                <p:oleObj name="Visio" r:id="rId3" imgW="2952757" imgH="200017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1338" y="2917825"/>
                        <a:ext cx="4902200" cy="33226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841934" y="1263887"/>
            <a:ext cx="6079788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spcBef>
                <a:spcPct val="50000"/>
              </a:spcBef>
              <a:defRPr/>
            </a:pPr>
            <a:r>
              <a:rPr kumimoji="1"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 </a:t>
            </a:r>
            <a:r>
              <a:rPr kumimoji="1"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光电三极管的结构和符号</a:t>
            </a:r>
            <a:endParaRPr kumimoji="1" lang="en-US" altLang="zh-CN" sz="3600" b="1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22203" y="3022702"/>
            <a:ext cx="7729402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用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型硅材料为衬底制作的光电三极管为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NPN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结构，称为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3DU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型；</a:t>
            </a:r>
            <a:endParaRPr lang="en-US" altLang="zh-CN" sz="32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defTabSz="91440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用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型硅材料为衬底制作的光电三极管为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PNP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结构，称为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3CU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型。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8CFD0E5-9691-484E-8B4F-3F65F9B687E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id="{A0ABED36-DAF8-48D0-BAE8-E7F32E52EDA6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光敏晶体管工作原理与结构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5A4A597-67CA-4749-8551-BE73DB534FB6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8BC8858-629D-41A0-BC3F-43775CF1BF4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9DDB6414-8619-4168-AB9F-C9F84390B5A1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4.3.1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:a16="http://schemas.microsoft.com/office/drawing/2014/main" id="{EE92EAD0-5F62-4E07-A40A-119E5D52F655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2AB1B0E-4024-4217-B22A-1E99A41DC55C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8BDA85B-54B8-476C-A7AF-990FA3EB5B33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904422" y="1223253"/>
            <a:ext cx="5760260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lnSpc>
                <a:spcPct val="130000"/>
              </a:lnSpc>
              <a:spcBef>
                <a:spcPct val="50000"/>
              </a:spcBef>
              <a:defRPr/>
            </a:pPr>
            <a:r>
              <a:rPr kumimoji="1"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 </a:t>
            </a:r>
            <a:r>
              <a:rPr kumimoji="1"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光电三极管的等效电路</a:t>
            </a:r>
            <a:endParaRPr kumimoji="1" lang="en-US" altLang="zh-CN" sz="3600" b="1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844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17308"/>
              </p:ext>
            </p:extLst>
          </p:nvPr>
        </p:nvGraphicFramePr>
        <p:xfrm>
          <a:off x="2754313" y="2601913"/>
          <a:ext cx="8253412" cy="413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0" name="Visio" r:id="rId3" imgW="3213720" imgH="1614240" progId="Visio.Drawing.11">
                  <p:embed/>
                </p:oleObj>
              </mc:Choice>
              <mc:Fallback>
                <p:oleObj name="Visio" r:id="rId3" imgW="3213720" imgH="161424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2601913"/>
                        <a:ext cx="8253412" cy="413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ACA5235F-0644-4E24-8F25-19D31FDA1323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id="{A7B61299-053E-4B7B-95CE-7D75312931C9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光敏晶体管工作原理与结构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57171AA-FF39-4E76-AF68-F6FD9D1DB191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746BC12-9DD8-4603-9D0E-7CC38225F1B9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42C1067-E73A-4996-A6BA-AB1CD92E4108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4.3.1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58">
              <a:extLst>
                <a:ext uri="{FF2B5EF4-FFF2-40B4-BE49-F238E27FC236}">
                  <a16:creationId xmlns:a16="http://schemas.microsoft.com/office/drawing/2014/main" id="{B6D27D03-D273-4266-946D-AFD3506E00D1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003263F-2135-4830-BF44-2B1B19402A0D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16C3F29-8245-4879-8FE9-F1509FDE31F8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硅光敏晶体管的特性参数 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硅光敏晶体管的特性参数 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4.3.2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916897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5392753" y="1157997"/>
            <a:ext cx="297815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 </a:t>
            </a:r>
            <a:r>
              <a:rPr lang="zh-CN" altLang="en-US" sz="3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光电特性</a:t>
            </a: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347525"/>
              </p:ext>
            </p:extLst>
          </p:nvPr>
        </p:nvGraphicFramePr>
        <p:xfrm>
          <a:off x="8058150" y="2074863"/>
          <a:ext cx="4875213" cy="386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Visio" r:id="rId3" imgW="2279880" imgH="1802880" progId="Visio.Drawing.11">
                  <p:embed/>
                </p:oleObj>
              </mc:Choice>
              <mc:Fallback>
                <p:oleObj name="Visio" r:id="rId3" imgW="2279880" imgH="18028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8150" y="2074863"/>
                        <a:ext cx="4875213" cy="386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513286" y="2153461"/>
            <a:ext cx="7717377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光电流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弱光照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弯曲；强光照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饱和</a:t>
            </a:r>
            <a:r>
              <a:rPr lang="en-US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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某段光照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线性好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原因：电流放大倍数在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小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电流或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大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电流时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都下降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造成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3A12D05-DCA4-469F-AC07-5F760484C964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6" name="文本框 60">
              <a:extLst>
                <a:ext uri="{FF2B5EF4-FFF2-40B4-BE49-F238E27FC236}">
                  <a16:creationId xmlns:a16="http://schemas.microsoft.com/office/drawing/2014/main" id="{314AD2A0-9CD7-43A3-984B-74A18B851ADD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硅光敏晶体管的特性参数 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AF838B0-D045-44F3-AEEA-A8CE718AC26C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2478BA0-A100-4977-84E3-AFBE63F522B2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F7021D6-6AEA-46FE-BF36-92B53D31CE63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4.3.2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id="{36DCE1B2-5E86-47EE-A4A3-9221CEAC8CC8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70E5B4F-BFA9-4970-877A-22B2F77F03EB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AF36F73-5D25-42B4-9201-C2C92DF45496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3" t="42429" r="9515" b="23764"/>
          <a:stretch>
            <a:fillRect/>
          </a:stretch>
        </p:blipFill>
        <p:spPr bwMode="auto">
          <a:xfrm>
            <a:off x="5765564" y="3822666"/>
            <a:ext cx="4573587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168106" y="1109358"/>
            <a:ext cx="3200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3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光谱特性</a:t>
            </a:r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393700" y="3540125"/>
            <a:ext cx="431165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Si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900nm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1500nm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2288" y="2055543"/>
            <a:ext cx="8054975" cy="130817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2800" b="1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入射光波长增</a:t>
            </a:r>
            <a:r>
              <a:rPr lang="en-US" altLang="zh-CN" sz="2800" b="1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/</a:t>
            </a:r>
            <a:r>
              <a:rPr lang="zh-CN" altLang="en-US" sz="2800" b="1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减</a:t>
            </a:r>
            <a:r>
              <a:rPr lang="en-US" altLang="zh-CN" sz="2800" b="1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2800" b="1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相对灵敏度都下降 </a:t>
            </a:r>
            <a:endParaRPr lang="en-US" altLang="zh-CN" sz="2800" b="1" dirty="0"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800" b="1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		——</a:t>
            </a:r>
            <a:r>
              <a:rPr lang="zh-CN" altLang="en-US" sz="2800" b="1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最佳灵敏度峰值波长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5195A0F-65B8-45AE-AF6F-58149D057C0A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id="{8D2C992A-B24B-42D9-9C51-7278134A79D4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硅光敏晶体管的特性参数 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F364681-CD38-4CE7-AD5A-50AAAF4C448E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B6F7B45-6330-499D-85B6-74E09A298F2E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C42CECE7-5CA0-49D6-B6CC-8E803CBE9E28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4.3.2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:a16="http://schemas.microsoft.com/office/drawing/2014/main" id="{02F8778E-3677-40BB-9F5A-9F619477DA24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758060B-7B14-42F9-ADB3-40BC3721CADB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192F640-60D2-45D6-B85B-67A9556E1179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5202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5106530" y="1042279"/>
            <a:ext cx="3200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3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伏安特性</a:t>
            </a:r>
          </a:p>
        </p:txBody>
      </p:sp>
      <p:sp>
        <p:nvSpPr>
          <p:cNvPr id="15" name="TextBox 9"/>
          <p:cNvSpPr txBox="1">
            <a:spLocks noChangeArrowheads="1"/>
          </p:cNvSpPr>
          <p:nvPr/>
        </p:nvSpPr>
        <p:spPr bwMode="auto">
          <a:xfrm>
            <a:off x="484346" y="2675822"/>
            <a:ext cx="832891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偏置电压</a:t>
            </a:r>
            <a:r>
              <a:rPr lang="en-US" altLang="zh-CN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保证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 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发射结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处于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正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向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偏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置；而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集电结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处于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向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偏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置。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4346" y="1688610"/>
            <a:ext cx="1244476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特性曲线：偏置电压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=0: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无论光照多强，</a:t>
            </a:r>
            <a:r>
              <a:rPr lang="en-US" altLang="zh-CN" sz="32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2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=0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在偏压下工作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530156" y="2385137"/>
            <a:ext cx="4616963" cy="3592268"/>
            <a:chOff x="8557942" y="2001150"/>
            <a:chExt cx="5205413" cy="3962400"/>
          </a:xfrm>
        </p:grpSpPr>
        <p:graphicFrame>
          <p:nvGraphicFramePr>
            <p:cNvPr id="14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4215397"/>
                </p:ext>
              </p:extLst>
            </p:nvPr>
          </p:nvGraphicFramePr>
          <p:xfrm>
            <a:off x="8557942" y="2001150"/>
            <a:ext cx="5205413" cy="396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3" name="Visio" r:id="rId3" imgW="2546640" imgH="1940400" progId="Visio.Drawing.11">
                    <p:embed/>
                  </p:oleObj>
                </mc:Choice>
                <mc:Fallback>
                  <p:oleObj name="Visio" r:id="rId3" imgW="2546640" imgH="1940400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57942" y="2001150"/>
                          <a:ext cx="5205413" cy="3962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椭圆 16"/>
            <p:cNvSpPr/>
            <p:nvPr/>
          </p:nvSpPr>
          <p:spPr>
            <a:xfrm>
              <a:off x="9012951" y="4411167"/>
              <a:ext cx="588963" cy="674688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1" name="TextBox 9"/>
          <p:cNvSpPr txBox="1">
            <a:spLocks noChangeArrowheads="1"/>
          </p:cNvSpPr>
          <p:nvPr/>
        </p:nvSpPr>
        <p:spPr bwMode="auto">
          <a:xfrm>
            <a:off x="407548" y="4909979"/>
            <a:ext cx="1247086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偏置电压（与光电二极管相比）：</a:t>
            </a:r>
            <a:endParaRPr lang="en-US" altLang="zh-CN" sz="32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伏安特性曲线向上倾斜，间距增大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光电灵敏度</a:t>
            </a:r>
            <a:r>
              <a:rPr lang="en-US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电流增益</a:t>
            </a:r>
            <a:endParaRPr lang="en-US" altLang="zh-CN" sz="3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饱和：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偏置电压太低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&gt;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5V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工作于线性区</a:t>
            </a:r>
            <a:endParaRPr lang="en-US" altLang="zh-CN" sz="32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F339A39-0CE7-4DC3-8273-326BDC98D49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1" name="文本框 60">
              <a:extLst>
                <a:ext uri="{FF2B5EF4-FFF2-40B4-BE49-F238E27FC236}">
                  <a16:creationId xmlns:a16="http://schemas.microsoft.com/office/drawing/2014/main" id="{8DAB0AA5-45F6-4DCF-BE77-DC9D2937CEB1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硅光敏晶体管的特性参数 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2E3AC91-F2A3-47A1-9468-5EC01F434FA1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2E946E9-BF2C-4F70-89E3-510372470DD3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F15F5601-1B67-4722-86C1-5A57346A0A7D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4.3.2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58">
              <a:extLst>
                <a:ext uri="{FF2B5EF4-FFF2-40B4-BE49-F238E27FC236}">
                  <a16:creationId xmlns:a16="http://schemas.microsoft.com/office/drawing/2014/main" id="{0B2DA981-8FCD-4561-A01D-6FA9D718EF82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35718B9-51A8-4144-BF9F-0B959FEF6BB0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709EC39-A35F-4EA0-A61E-48BAB9F27A77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4911117" y="1086324"/>
            <a:ext cx="3022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频率特性</a:t>
            </a: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1081088" y="1732655"/>
            <a:ext cx="11616649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响应时间由</a:t>
            </a:r>
            <a:r>
              <a:rPr lang="en-US" altLang="zh-CN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部分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组成：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①光生载流子对发射结和集电结电容的充放电时间；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②光生载流子渡越基区所需要的时间；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③光生载流子被收集到集电结的时间；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④输出电路的等效负载电阻与等效电容构成的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RC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时间</a:t>
            </a:r>
            <a:endParaRPr lang="en-US" altLang="zh-CN" sz="3200" dirty="0"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	</a:t>
            </a:r>
            <a:r>
              <a:rPr lang="en-US" altLang="zh-CN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比光敏二极管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长得多</a:t>
            </a:r>
            <a:endParaRPr lang="en-US" altLang="zh-CN" sz="3200" dirty="0">
              <a:solidFill>
                <a:srgbClr val="FF0000"/>
              </a:solidFill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marL="457200" indent="-4572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对策：减小</a:t>
            </a:r>
            <a:r>
              <a:rPr lang="en-US" altLang="zh-CN" sz="3200" dirty="0" err="1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C</a:t>
            </a:r>
            <a:r>
              <a:rPr lang="en-US" altLang="zh-CN" sz="3200" baseline="-25000" dirty="0" err="1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be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，</a:t>
            </a:r>
            <a:r>
              <a:rPr lang="en-US" altLang="zh-CN" sz="3200" dirty="0" err="1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C</a:t>
            </a:r>
            <a:r>
              <a:rPr lang="en-US" altLang="zh-CN" sz="3200" baseline="-25000" dirty="0" err="1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ce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；降低负载</a:t>
            </a:r>
            <a:r>
              <a:rPr lang="en-US" altLang="zh-CN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R</a:t>
            </a:r>
            <a:r>
              <a:rPr lang="en-US" altLang="zh-CN" sz="3200" baseline="-250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L</a:t>
            </a:r>
            <a:endParaRPr lang="zh-CN" altLang="en-US" sz="3200" baseline="-25000" dirty="0">
              <a:solidFill>
                <a:srgbClr val="0000CC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AD7EDAF-30B2-4ADC-835E-B6E3A50F63E2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id="{BBF88984-F413-4730-8D7C-3390BEE6D4CE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硅光敏晶体管的特性参数 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7A9FDA6-541B-4DD3-8531-F34023D4395C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6ADE4C6-FBC7-4114-8EA2-C99769246EA8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065303E-8CE8-4475-89A4-D8C4FAAB899D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4.3.2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:a16="http://schemas.microsoft.com/office/drawing/2014/main" id="{74435295-D611-4BB4-BB4D-EA6E163EF895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3F61045-D296-46DB-A307-ED11035CF9C0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9753614-1A43-41B7-BCBE-9D38D1B0A3D2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5072670" y="1039914"/>
            <a:ext cx="3022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3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温度特性</a:t>
            </a: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364053"/>
              </p:ext>
            </p:extLst>
          </p:nvPr>
        </p:nvGraphicFramePr>
        <p:xfrm>
          <a:off x="2994025" y="1730341"/>
          <a:ext cx="8188325" cy="391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name="Visio" r:id="rId3" imgW="3851200" imgH="1624000" progId="Visio.Drawing.11">
                  <p:embed/>
                </p:oleObj>
              </mc:Choice>
              <mc:Fallback>
                <p:oleObj name="Visio" r:id="rId3" imgW="3851200" imgH="16240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025" y="1730341"/>
                        <a:ext cx="8188325" cy="391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4">
            <a:hlinkClick r:id="rId5" action="ppaction://hlinkfile"/>
          </p:cNvPr>
          <p:cNvSpPr txBox="1">
            <a:spLocks noChangeArrowheads="1"/>
          </p:cNvSpPr>
          <p:nvPr/>
        </p:nvSpPr>
        <p:spPr bwMode="auto">
          <a:xfrm>
            <a:off x="10986884" y="5757828"/>
            <a:ext cx="1689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SFH3410</a:t>
            </a:r>
            <a:endParaRPr lang="zh-CN" alt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3935142" y="5627613"/>
            <a:ext cx="5607050" cy="1308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b="1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受温度影响</a:t>
            </a:r>
            <a:r>
              <a:rPr lang="en-US" altLang="zh-CN" sz="2800" b="1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2800" b="1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比光敏二极管</a:t>
            </a:r>
            <a:r>
              <a:rPr lang="zh-CN" altLang="en-US" sz="2800" b="1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大</a:t>
            </a:r>
            <a:endParaRPr lang="en-US" altLang="zh-CN" sz="2800" b="1" dirty="0">
              <a:solidFill>
                <a:srgbClr val="FF0000"/>
              </a:solidFill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  <a:sym typeface="Wingdings" pitchFamily="2" charset="2"/>
              </a:rPr>
              <a:t>对策：恒温 或 补偿</a:t>
            </a:r>
            <a:endParaRPr lang="zh-CN" altLang="en-US" sz="2800" b="1" baseline="-25000" dirty="0">
              <a:solidFill>
                <a:srgbClr val="0000CC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B81D36-3487-4742-A974-3A3BF8F59B7A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8" name="文本框 60">
              <a:extLst>
                <a:ext uri="{FF2B5EF4-FFF2-40B4-BE49-F238E27FC236}">
                  <a16:creationId xmlns:a16="http://schemas.microsoft.com/office/drawing/2014/main" id="{46A61FA5-BED6-4793-9431-6BEF67F0853E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硅光敏晶体管的特性参数 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87DF9CF-C982-4847-A62F-0ACC2E9FAD68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6D214AE-48AD-4375-9D21-4A810A57B48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D47EABDB-4BE6-43DE-B33E-75A1CB80EF36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4.3.2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58">
              <a:extLst>
                <a:ext uri="{FF2B5EF4-FFF2-40B4-BE49-F238E27FC236}">
                  <a16:creationId xmlns:a16="http://schemas.microsoft.com/office/drawing/2014/main" id="{5A7E04A8-15F0-4AD7-A233-7D8FF041A0B6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5E2A2D9-49E4-40CC-A832-4F92A9830234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004008-985F-4E88-B6EC-D58280DBC595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141</TotalTime>
  <Words>543</Words>
  <Application>Microsoft Office PowerPoint</Application>
  <PresentationFormat>自定义</PresentationFormat>
  <Paragraphs>111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冬青黑体简体中文 W3</vt:lpstr>
      <vt:lpstr>冬青黑体简体中文 W6</vt:lpstr>
      <vt:lpstr>微软雅黑</vt:lpstr>
      <vt:lpstr>微软雅黑</vt:lpstr>
      <vt:lpstr>Arial</vt:lpstr>
      <vt:lpstr>Calibri</vt:lpstr>
      <vt:lpstr>Calibri Light</vt:lpstr>
      <vt:lpstr>Microsoft Yi Baiti</vt:lpstr>
      <vt:lpstr>Times New Roman</vt:lpstr>
      <vt:lpstr>Wingdings</vt:lpstr>
      <vt:lpstr>光电技术模板-2015-6-18</vt:lpstr>
      <vt:lpstr>Visio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yp yang</cp:lastModifiedBy>
  <cp:revision>20</cp:revision>
  <dcterms:created xsi:type="dcterms:W3CDTF">2015-06-18T01:42:52Z</dcterms:created>
  <dcterms:modified xsi:type="dcterms:W3CDTF">2022-05-02T04:55:19Z</dcterms:modified>
</cp:coreProperties>
</file>