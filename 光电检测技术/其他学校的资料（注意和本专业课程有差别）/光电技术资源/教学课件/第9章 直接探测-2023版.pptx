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73" r:id="rId2"/>
    <p:sldId id="274" r:id="rId3"/>
    <p:sldId id="275" r:id="rId4"/>
    <p:sldId id="276" r:id="rId5"/>
    <p:sldId id="277" r:id="rId6"/>
    <p:sldId id="293" r:id="rId7"/>
    <p:sldId id="294" r:id="rId8"/>
    <p:sldId id="295" r:id="rId9"/>
    <p:sldId id="296" r:id="rId10"/>
  </p:sldIdLst>
  <p:sldSz cx="13717588" cy="7715250"/>
  <p:notesSz cx="6858000" cy="9144000"/>
  <p:defaultTextStyle>
    <a:defPPr>
      <a:defRPr lang="zh-CN"/>
    </a:defPPr>
    <a:lvl1pPr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514350" indent="-571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1028700" indent="-1143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543050" indent="-1714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2057400" indent="-2286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7" userDrawn="1">
          <p15:clr>
            <a:srgbClr val="A4A3A4"/>
          </p15:clr>
        </p15:guide>
        <p15:guide id="2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5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614" y="90"/>
      </p:cViewPr>
      <p:guideLst>
        <p:guide orient="horz" pos="2407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-270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1DB3B-568F-4A7F-8C6C-98D47C5783FF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80C99-30B8-4F10-93BB-6F260A413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2492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5464F-A856-47FD-B180-3E7919C6BB30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7681E2-5C0B-477D-A2A7-980F8FE47E9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11E86-2E29-4D5E-B3AC-E9FF143C93E4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DB8DC-DFF0-4D1B-8408-4721BC6209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4D327-616C-4B47-839E-D64ABA99F51B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EF9B4B-A625-4577-A300-B707FA7E0A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1723B-62F7-4E3D-BE37-A3A570E0C4E9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5D8F2-5CCF-4112-BA41-46C00C8A78E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1E71D-105D-4686-8D38-892D9512BBF3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6E0DB-7BA9-4467-824D-5AD3C4E105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723CC3-B866-4AED-9383-F4E2C8AE1DB2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F2911-9F69-4B8E-9C0A-E2B46D6717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C74DC-C179-47D1-88EE-48CAF13DD192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33BD8-C72D-4B00-9FAB-F8FC7F8AD38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84C97-75B2-4C20-8978-EBCC5D3E2A0F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606E3-7E43-47FE-8676-0D010A7A4AB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E5007-BCA2-46F7-9C74-B1F162F6CA74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9FE2A-47F2-49C7-80DC-47819D231E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1F3377-5903-480A-A889-173A31FD0E82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598B1-0A0E-48D8-B9DB-9942AA71901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E33CE6-C1CF-4111-BD21-EB9622EB2C59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3A188-7B78-44A6-86B4-4680AD5AE7B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AE0A83-FBCF-4F7A-83B9-D06CD666EF2D}" type="datetimeFigureOut">
              <a:rPr lang="zh-CN" altLang="en-US"/>
              <a:pPr>
                <a:defRPr/>
              </a:pPr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DB029F2-5187-4596-B9F1-BF794AC522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eaLnBrk="0" fontAlgn="base" hangingPunct="0">
        <a:lnSpc>
          <a:spcPct val="90000"/>
        </a:lnSpc>
        <a:spcBef>
          <a:spcPts val="1125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914399" y="2672562"/>
            <a:ext cx="2824999" cy="1178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60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60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kumimoji="1" lang="zh-CN" altLang="en-US" sz="60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10" name="矩形 9"/>
          <p:cNvSpPr/>
          <p:nvPr/>
        </p:nvSpPr>
        <p:spPr>
          <a:xfrm>
            <a:off x="1325710" y="1282617"/>
            <a:ext cx="172355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3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5441AE38-A11D-4793-BDA3-DCA36976B496}"/>
              </a:ext>
            </a:extLst>
          </p:cNvPr>
          <p:cNvSpPr/>
          <p:nvPr/>
        </p:nvSpPr>
        <p:spPr>
          <a:xfrm>
            <a:off x="3407710" y="2672562"/>
            <a:ext cx="10100328" cy="1122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微弱光电信号的探测与处理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B4AF438E-361B-42EE-9E70-DDB98227F7D7}"/>
              </a:ext>
            </a:extLst>
          </p:cNvPr>
          <p:cNvSpPr/>
          <p:nvPr/>
        </p:nvSpPr>
        <p:spPr>
          <a:xfrm>
            <a:off x="3056042" y="1325143"/>
            <a:ext cx="1238613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1200" b="1" spc="40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13" name="直接连接符 58">
            <a:extLst>
              <a:ext uri="{FF2B5EF4-FFF2-40B4-BE49-F238E27FC236}">
                <a16:creationId xmlns:a16="http://schemas.microsoft.com/office/drawing/2014/main" xmlns="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1209675" y="4175630"/>
            <a:ext cx="4795114" cy="1169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1C44C9C7-7166-4DA9-8A1A-D2BB836F3F54}"/>
              </a:ext>
            </a:extLst>
          </p:cNvPr>
          <p:cNvSpPr/>
          <p:nvPr/>
        </p:nvSpPr>
        <p:spPr>
          <a:xfrm>
            <a:off x="1143000" y="4512279"/>
            <a:ext cx="8417859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4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Detection And Processing Of Weak Photoelectric Signal</a:t>
            </a:r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AE184DEE-FEA5-431F-856D-B2DD56F698B6}"/>
              </a:ext>
            </a:extLst>
          </p:cNvPr>
          <p:cNvSpPr/>
          <p:nvPr/>
        </p:nvSpPr>
        <p:spPr>
          <a:xfrm>
            <a:off x="1075205" y="1358053"/>
            <a:ext cx="167523" cy="403125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613965" y="2005054"/>
            <a:ext cx="12121599" cy="11350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defTabSz="914400" eaLnBrk="0" hangingPunct="0"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      通过</a:t>
            </a:r>
            <a:r>
              <a:rPr lang="zh-CN" altLang="en-US" sz="2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</a:rPr>
              <a:t>光学信息变换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，可将待测信息载荷到光波的强度、频率、相位或偏振等特征参数上，然后再通过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</a:t>
            </a:r>
            <a:r>
              <a:rPr lang="en-US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电信号变换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的方法来获取光载波所载荷的这些信息。</a:t>
            </a:r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1238276" y="3720387"/>
            <a:ext cx="867568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光</a:t>
            </a:r>
            <a:r>
              <a:rPr lang="en-US" altLang="en-US" sz="2400" b="1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电信号变换方法有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直接探测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外差探测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两种。</a:t>
            </a: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720439" y="4640576"/>
            <a:ext cx="12247419" cy="16890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defTabSz="914400" eaLnBrk="0" hangingPunct="0"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     经过光学变换和光</a:t>
            </a:r>
            <a:r>
              <a:rPr lang="en-US" altLang="en-US" sz="2400" b="1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电变换两个处理过程后所得到的电学信号通常非常微弱，通常还需由电子系统进一步</a:t>
            </a:r>
            <a:r>
              <a:rPr lang="zh-CN" altLang="en-US" sz="2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</a:rPr>
              <a:t>处理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后方能提取真实有用的信号，如放大、滤波和相关检测等多种处理手段。</a:t>
            </a:r>
          </a:p>
        </p:txBody>
      </p:sp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545506" y="329189"/>
            <a:ext cx="322837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微弱光电信号的探测与处理</a:t>
            </a:r>
          </a:p>
        </p:txBody>
      </p:sp>
      <p:sp>
        <p:nvSpPr>
          <p:cNvPr id="12" name="矩形 11"/>
          <p:cNvSpPr/>
          <p:nvPr/>
        </p:nvSpPr>
        <p:spPr>
          <a:xfrm>
            <a:off x="10241280" y="329189"/>
            <a:ext cx="122632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545506" y="698521"/>
            <a:ext cx="3228375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2" grpId="0"/>
      <p:bldP spid="2868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直接探测</a:t>
            </a:r>
          </a:p>
        </p:txBody>
      </p:sp>
      <p:sp>
        <p:nvSpPr>
          <p:cNvPr id="10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直接探测</a:t>
            </a:r>
          </a:p>
        </p:txBody>
      </p:sp>
      <p:sp>
        <p:nvSpPr>
          <p:cNvPr id="11" name="矩形 1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9.1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847032" y="2306785"/>
            <a:ext cx="12023524" cy="113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      光电探测器的基本功能就是把入射到探测器上的辐射通量（光功率）转换为相应的光电流或电压，即</a:t>
            </a:r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829839" y="5074378"/>
            <a:ext cx="11971770" cy="17543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defTabSz="914400" eaLnBrk="0" hangingPunct="0"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     光电流或电压随时间的变化也就反映了辐射通量（光功率）随时间的变化。因此，只要通过光学信息变换将待测信息转换为辐射通量（光功率）的变化，利用光电探测器的这种直接光电转换功能就能实现信息的解调，这种探测方式通常称为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直接探测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4871029" y="1109695"/>
            <a:ext cx="395431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/>
            <a:r>
              <a:rPr lang="zh-CN" altLang="en-US" sz="4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一、</a:t>
            </a:r>
            <a:r>
              <a:rPr lang="en-US" altLang="zh-CN" sz="4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 </a:t>
            </a:r>
            <a:r>
              <a:rPr lang="zh-CN" altLang="en-US" sz="4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直接探测</a:t>
            </a:r>
          </a:p>
        </p:txBody>
      </p:sp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直接探测</a:t>
            </a:r>
          </a:p>
        </p:txBody>
      </p:sp>
      <p:sp>
        <p:nvSpPr>
          <p:cNvPr id="13" name="矩形 12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xmlns="" id="{FEFF36FC-A450-01C2-F802-E0E6C3718B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506304"/>
              </p:ext>
            </p:extLst>
          </p:nvPr>
        </p:nvGraphicFramePr>
        <p:xfrm>
          <a:off x="4560913" y="3635114"/>
          <a:ext cx="46767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3" imgW="1739880" imgH="393480" progId="Equation.DSMT4">
                  <p:embed/>
                </p:oleObj>
              </mc:Choice>
              <mc:Fallback>
                <p:oleObj name="Equation" r:id="rId3" imgW="173988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913" y="3635114"/>
                        <a:ext cx="4676775" cy="1058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2" grpId="0"/>
      <p:bldP spid="286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938645" y="5170990"/>
            <a:ext cx="12015355" cy="11350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     直接探测是系统只能解调出由光强度调制所形成的信息，不涉及光辐射的相干性质，因而又称为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非相干探测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pic>
        <p:nvPicPr>
          <p:cNvPr id="17416" name="Picture 2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6135" y="1590242"/>
            <a:ext cx="9886319" cy="3045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直接探测</a:t>
            </a:r>
          </a:p>
        </p:txBody>
      </p:sp>
      <p:sp>
        <p:nvSpPr>
          <p:cNvPr id="11" name="矩形 1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7" name="Rectangle 10"/>
          <p:cNvSpPr>
            <a:spLocks noChangeArrowheads="1"/>
          </p:cNvSpPr>
          <p:nvPr/>
        </p:nvSpPr>
        <p:spPr bwMode="auto">
          <a:xfrm>
            <a:off x="3922840" y="1262765"/>
            <a:ext cx="584315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/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1.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光电探测器的平方律特性</a:t>
            </a: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1579852" y="2488844"/>
            <a:ext cx="59266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00025" defTabSz="914400" eaLnBrk="0" hangingPunct="0"/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若入射到光电探测器上的信号光的电场为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742417" y="3313949"/>
            <a:ext cx="9525532" cy="2216281"/>
            <a:chOff x="742417" y="3313949"/>
            <a:chExt cx="9525532" cy="2216281"/>
          </a:xfrm>
        </p:grpSpPr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4338676" y="3313949"/>
              <a:ext cx="315663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indent="200025" defTabSz="914400" eaLnBrk="0" hangingPunct="0"/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</a:rPr>
                <a:t>光电探测器的光电流</a:t>
              </a:r>
            </a:p>
          </p:txBody>
        </p:sp>
        <p:sp>
          <p:nvSpPr>
            <p:cNvPr id="18" name="下箭头 17"/>
            <p:cNvSpPr/>
            <p:nvPr/>
          </p:nvSpPr>
          <p:spPr>
            <a:xfrm>
              <a:off x="9982199" y="4022581"/>
              <a:ext cx="285750" cy="642937"/>
            </a:xfrm>
            <a:prstGeom prst="downArrow">
              <a:avLst/>
            </a:prstGeom>
            <a:solidFill>
              <a:srgbClr val="FF0000"/>
            </a:soli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2400" b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742417" y="4395368"/>
              <a:ext cx="6999638" cy="1134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indent="200025" defTabSz="914400" eaLnBrk="0" hangingPunct="0">
                <a:lnSpc>
                  <a:spcPct val="150000"/>
                </a:lnSpc>
              </a:pPr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</a:rPr>
                <a:t>    光电探测器输出光电流与光波电场强度振幅的平方成正比，所以光电探测器又称为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平方律器件</a:t>
              </a:r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</a:rPr>
                <a:t>。</a:t>
              </a:r>
            </a:p>
          </p:txBody>
        </p:sp>
      </p:grpSp>
      <p:sp>
        <p:nvSpPr>
          <p:cNvPr id="37907" name="Rectangle 19"/>
          <p:cNvSpPr>
            <a:spLocks noChangeArrowheads="1"/>
          </p:cNvSpPr>
          <p:nvPr/>
        </p:nvSpPr>
        <p:spPr bwMode="auto">
          <a:xfrm>
            <a:off x="419100" y="5603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1710569" y="6175168"/>
            <a:ext cx="57847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/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若入射光信号是调幅波，调制函数为</a:t>
            </a:r>
          </a:p>
        </p:txBody>
      </p:sp>
      <p:sp>
        <p:nvSpPr>
          <p:cNvPr id="23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直接探测</a:t>
            </a:r>
          </a:p>
        </p:txBody>
      </p:sp>
      <p:sp>
        <p:nvSpPr>
          <p:cNvPr id="24" name="矩形 2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7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xmlns="" id="{38B42DA4-1724-864D-5111-6CD3F2347C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215610"/>
              </p:ext>
            </p:extLst>
          </p:nvPr>
        </p:nvGraphicFramePr>
        <p:xfrm>
          <a:off x="8673605" y="3253925"/>
          <a:ext cx="2935288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3" imgW="1091880" imgH="241200" progId="Equation.DSMT4">
                  <p:embed/>
                </p:oleObj>
              </mc:Choice>
              <mc:Fallback>
                <p:oleObj name="Equation" r:id="rId3" imgW="1091880" imgH="2412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3605" y="3253925"/>
                        <a:ext cx="2935288" cy="649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xmlns="" id="{B11D8E7A-90C6-CFE8-91CF-B737775961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764276"/>
              </p:ext>
            </p:extLst>
          </p:nvPr>
        </p:nvGraphicFramePr>
        <p:xfrm>
          <a:off x="8673605" y="4607442"/>
          <a:ext cx="2662238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5" imgW="990360" imgH="393480" progId="Equation.DSMT4">
                  <p:embed/>
                </p:oleObj>
              </mc:Choice>
              <mc:Fallback>
                <p:oleObj name="Equation" r:id="rId5" imgW="99036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3605" y="4607442"/>
                        <a:ext cx="2662238" cy="10588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xmlns="" id="{09CF4ED1-5AC2-41C0-C8C2-A2463361FF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072645"/>
              </p:ext>
            </p:extLst>
          </p:nvPr>
        </p:nvGraphicFramePr>
        <p:xfrm>
          <a:off x="8284291" y="5826415"/>
          <a:ext cx="4198938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7" imgW="1562040" imgH="393480" progId="Equation.DSMT4">
                  <p:embed/>
                </p:oleObj>
              </mc:Choice>
              <mc:Fallback>
                <p:oleObj name="Equation" r:id="rId7" imgW="156204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4291" y="5826415"/>
                        <a:ext cx="4198938" cy="1058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xmlns="" id="{C440E12F-04C8-7CD7-9853-22FE8D51BE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125442"/>
              </p:ext>
            </p:extLst>
          </p:nvPr>
        </p:nvGraphicFramePr>
        <p:xfrm>
          <a:off x="8587880" y="2346244"/>
          <a:ext cx="3106738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9" imgW="1155600" imgH="253800" progId="Equation.DSMT4">
                  <p:embed/>
                </p:oleObj>
              </mc:Choice>
              <mc:Fallback>
                <p:oleObj name="Equation" r:id="rId9" imgW="1155600" imgH="253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7880" y="2346244"/>
                        <a:ext cx="3106738" cy="684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xmlns="" id="{9BB68EA9-30E5-F7E6-EB55-D959ED7219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945999"/>
              </p:ext>
            </p:extLst>
          </p:nvPr>
        </p:nvGraphicFramePr>
        <p:xfrm>
          <a:off x="6687324" y="6209059"/>
          <a:ext cx="8191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11" imgW="304560" imgH="203040" progId="Equation.DSMT4">
                  <p:embed/>
                </p:oleObj>
              </mc:Choice>
              <mc:Fallback>
                <p:oleObj name="Equation" r:id="rId11" imgW="304560" imgH="20304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xmlns="" id="{09CF4ED1-5AC2-41C0-C8C2-A2463361FF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7324" y="6209059"/>
                        <a:ext cx="819150" cy="5476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Rectangle 10"/>
          <p:cNvSpPr>
            <a:spLocks noChangeArrowheads="1"/>
          </p:cNvSpPr>
          <p:nvPr/>
        </p:nvSpPr>
        <p:spPr bwMode="auto">
          <a:xfrm>
            <a:off x="4904509" y="1361298"/>
            <a:ext cx="3990109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/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2.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信噪比性能分析</a:t>
            </a: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1489797" y="2466330"/>
            <a:ext cx="46955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00025" defTabSz="914400" eaLnBrk="0" hangingPunct="0"/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由光电探测器的平方律特性可得</a:t>
            </a: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1450506" y="4078340"/>
            <a:ext cx="5109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200025" defTabSz="914400" eaLnBrk="0" hangingPunct="0"/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考虑到信号和噪声的独立性</a:t>
            </a:r>
          </a:p>
        </p:txBody>
      </p:sp>
      <p:sp>
        <p:nvSpPr>
          <p:cNvPr id="38925" name="Rectangle 19"/>
          <p:cNvSpPr>
            <a:spLocks noChangeArrowheads="1"/>
          </p:cNvSpPr>
          <p:nvPr/>
        </p:nvSpPr>
        <p:spPr bwMode="auto">
          <a:xfrm>
            <a:off x="342900" y="57943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27" name="Rectangle 6"/>
          <p:cNvSpPr>
            <a:spLocks noChangeArrowheads="1"/>
          </p:cNvSpPr>
          <p:nvPr/>
        </p:nvSpPr>
        <p:spPr bwMode="auto">
          <a:xfrm>
            <a:off x="342900" y="57943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33" name="Rectangle 11"/>
          <p:cNvSpPr>
            <a:spLocks noChangeArrowheads="1"/>
          </p:cNvSpPr>
          <p:nvPr/>
        </p:nvSpPr>
        <p:spPr bwMode="auto">
          <a:xfrm>
            <a:off x="342900" y="149383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" name="Rectangle 11"/>
          <p:cNvSpPr>
            <a:spLocks noChangeArrowheads="1"/>
          </p:cNvSpPr>
          <p:nvPr/>
        </p:nvSpPr>
        <p:spPr bwMode="auto">
          <a:xfrm>
            <a:off x="2463945" y="5057130"/>
            <a:ext cx="42862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/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输出信噪比为</a:t>
            </a:r>
          </a:p>
        </p:txBody>
      </p:sp>
      <p:sp>
        <p:nvSpPr>
          <p:cNvPr id="2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直接探测</a:t>
            </a:r>
          </a:p>
        </p:txBody>
      </p:sp>
      <p:sp>
        <p:nvSpPr>
          <p:cNvPr id="21" name="矩形 2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xmlns="" id="{00AA80D5-3F8A-8476-030E-C4D13E1A4D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214805"/>
              </p:ext>
            </p:extLst>
          </p:nvPr>
        </p:nvGraphicFramePr>
        <p:xfrm>
          <a:off x="4164806" y="2992996"/>
          <a:ext cx="65214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3" imgW="2425680" imgH="291960" progId="Equation.DSMT4">
                  <p:embed/>
                </p:oleObj>
              </mc:Choice>
              <mc:Fallback>
                <p:oleObj name="Equation" r:id="rId3" imgW="2425680" imgH="2919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806" y="2992996"/>
                        <a:ext cx="6521450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xmlns="" id="{45AF8A22-DD87-792F-490B-04FCB03F54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821984"/>
              </p:ext>
            </p:extLst>
          </p:nvPr>
        </p:nvGraphicFramePr>
        <p:xfrm>
          <a:off x="6532296" y="3934855"/>
          <a:ext cx="13652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5" imgW="507960" imgH="241200" progId="Equation.DSMT4">
                  <p:embed/>
                </p:oleObj>
              </mc:Choice>
              <mc:Fallback>
                <p:oleObj name="Equation" r:id="rId5" imgW="507960" imgH="2412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2296" y="3934855"/>
                        <a:ext cx="1365250" cy="650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xmlns="" id="{45415BA6-1B30-B817-C18E-26B2AF6422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567628"/>
              </p:ext>
            </p:extLst>
          </p:nvPr>
        </p:nvGraphicFramePr>
        <p:xfrm>
          <a:off x="8559436" y="3907026"/>
          <a:ext cx="300355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7" imgW="1117440" imgH="279360" progId="Equation.DSMT4">
                  <p:embed/>
                </p:oleObj>
              </mc:Choice>
              <mc:Fallback>
                <p:oleObj name="Equation" r:id="rId7" imgW="1117440" imgH="279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436" y="3907026"/>
                        <a:ext cx="3003550" cy="754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xmlns="" id="{D03D14CC-B54F-4D3B-253F-735E657EB4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674942"/>
              </p:ext>
            </p:extLst>
          </p:nvPr>
        </p:nvGraphicFramePr>
        <p:xfrm>
          <a:off x="4733643" y="5444655"/>
          <a:ext cx="65182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9" imgW="2425680" imgH="507960" progId="Equation.DSMT4">
                  <p:embed/>
                </p:oleObj>
              </mc:Choice>
              <mc:Fallback>
                <p:oleObj name="Equation" r:id="rId9" imgW="2425680" imgH="5079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643" y="5444655"/>
                        <a:ext cx="6518275" cy="1371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7" grpId="0"/>
      <p:bldP spid="19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2773507" y="3334340"/>
            <a:ext cx="2071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200025" defTabSz="914400" eaLnBrk="0" hangingPunct="0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）若</a:t>
            </a:r>
            <a:endParaRPr lang="zh-CN" altLang="en-US" sz="2400" b="1" dirty="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9951" name="Rectangle 11"/>
          <p:cNvSpPr>
            <a:spLocks noChangeArrowheads="1"/>
          </p:cNvSpPr>
          <p:nvPr/>
        </p:nvSpPr>
        <p:spPr bwMode="auto">
          <a:xfrm>
            <a:off x="438150" y="141763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" name="右箭头 24"/>
          <p:cNvSpPr/>
          <p:nvPr/>
        </p:nvSpPr>
        <p:spPr>
          <a:xfrm>
            <a:off x="6273945" y="3404984"/>
            <a:ext cx="1214437" cy="285750"/>
          </a:xfrm>
          <a:prstGeom prst="rightArrow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2800" b="1"/>
          </a:p>
        </p:txBody>
      </p:sp>
      <p:sp>
        <p:nvSpPr>
          <p:cNvPr id="39957" name="Rectangle 11"/>
          <p:cNvSpPr>
            <a:spLocks noChangeArrowheads="1"/>
          </p:cNvSpPr>
          <p:nvPr/>
        </p:nvSpPr>
        <p:spPr bwMode="auto">
          <a:xfrm>
            <a:off x="438150" y="138906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" name="Rectangle 11"/>
          <p:cNvSpPr>
            <a:spLocks noChangeArrowheads="1"/>
          </p:cNvSpPr>
          <p:nvPr/>
        </p:nvSpPr>
        <p:spPr bwMode="auto">
          <a:xfrm>
            <a:off x="2809463" y="4683702"/>
            <a:ext cx="1857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200025" defTabSz="914400" eaLnBrk="0" hangingPunct="0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）若</a:t>
            </a:r>
            <a:endParaRPr lang="zh-CN" altLang="en-US" sz="2400" b="1" dirty="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2" name="右箭头 31"/>
          <p:cNvSpPr/>
          <p:nvPr/>
        </p:nvSpPr>
        <p:spPr>
          <a:xfrm>
            <a:off x="6273945" y="4769427"/>
            <a:ext cx="1214437" cy="285750"/>
          </a:xfrm>
          <a:prstGeom prst="rightArrow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2800" b="1"/>
          </a:p>
        </p:txBody>
      </p:sp>
      <p:sp>
        <p:nvSpPr>
          <p:cNvPr id="34" name="Rectangle 11"/>
          <p:cNvSpPr>
            <a:spLocks noChangeArrowheads="1"/>
          </p:cNvSpPr>
          <p:nvPr/>
        </p:nvSpPr>
        <p:spPr bwMode="auto">
          <a:xfrm>
            <a:off x="938213" y="5493068"/>
            <a:ext cx="11946514" cy="113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200025" defTabSz="914400" eaLnBrk="0" hangingPunct="0"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直接探测方式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不适宜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于输入信噪比小于</a:t>
            </a:r>
            <a:r>
              <a:rPr lang="en-US" altLang="en-US" sz="2400" b="1" dirty="0">
                <a:latin typeface="Times New Roman" pitchFamily="18" charset="0"/>
                <a:ea typeface="微软雅黑" pitchFamily="34" charset="-122"/>
              </a:rPr>
              <a:t>1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的场合或微弱光信号的探测；直接探测方式由于实现简单，可靠性高，在强光信号的探测中得到广泛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应用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。</a:t>
            </a:r>
          </a:p>
        </p:txBody>
      </p:sp>
      <p:sp>
        <p:nvSpPr>
          <p:cNvPr id="2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直接探测</a:t>
            </a:r>
          </a:p>
        </p:txBody>
      </p:sp>
      <p:sp>
        <p:nvSpPr>
          <p:cNvPr id="28" name="矩形 27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xmlns="" id="{75B25942-C775-5609-F90A-B58F67A3A7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538800"/>
              </p:ext>
            </p:extLst>
          </p:nvPr>
        </p:nvGraphicFramePr>
        <p:xfrm>
          <a:off x="3202132" y="1275476"/>
          <a:ext cx="65182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3" imgW="2425680" imgH="507960" progId="Equation.DSMT4">
                  <p:embed/>
                </p:oleObj>
              </mc:Choice>
              <mc:Fallback>
                <p:oleObj name="Equation" r:id="rId3" imgW="2425680" imgH="5079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xmlns="" id="{D03D14CC-B54F-4D3B-253F-735E657EB4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2132" y="1275476"/>
                        <a:ext cx="6518275" cy="1371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xmlns="" id="{F3B19ADB-3B16-06D4-C7DC-5A58FCFD50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949288"/>
              </p:ext>
            </p:extLst>
          </p:nvPr>
        </p:nvGraphicFramePr>
        <p:xfrm>
          <a:off x="4439588" y="3239090"/>
          <a:ext cx="17399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5" imgW="647640" imgH="228600" progId="Equation.DSMT4">
                  <p:embed/>
                </p:oleObj>
              </mc:Choice>
              <mc:Fallback>
                <p:oleObj name="Equation" r:id="rId5" imgW="647640" imgH="228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xmlns="" id="{2FD0DD1B-A95D-7B5C-24B1-5FD288E8A0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588" y="3239090"/>
                        <a:ext cx="1739900" cy="617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xmlns="" id="{E013B7CE-D27F-4701-836B-607D145F4F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477531"/>
              </p:ext>
            </p:extLst>
          </p:nvPr>
        </p:nvGraphicFramePr>
        <p:xfrm>
          <a:off x="4391170" y="4618615"/>
          <a:ext cx="17399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7" imgW="647640" imgH="228600" progId="Equation.DSMT4">
                  <p:embed/>
                </p:oleObj>
              </mc:Choice>
              <mc:Fallback>
                <p:oleObj name="Equation" r:id="rId7" imgW="647640" imgH="228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xmlns="" id="{F3B19ADB-3B16-06D4-C7DC-5A58FCFD50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170" y="4618615"/>
                        <a:ext cx="1739900" cy="617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xmlns="" id="{B7016A68-D149-C3A9-876D-EA75F6D1B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69138"/>
              </p:ext>
            </p:extLst>
          </p:nvPr>
        </p:nvGraphicFramePr>
        <p:xfrm>
          <a:off x="7731765" y="2991356"/>
          <a:ext cx="17399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9" imgW="647640" imgH="431640" progId="Equation.DSMT4">
                  <p:embed/>
                </p:oleObj>
              </mc:Choice>
              <mc:Fallback>
                <p:oleObj name="Equation" r:id="rId9" imgW="647640" imgH="431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765" y="2991356"/>
                        <a:ext cx="1739900" cy="1165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xmlns="" id="{19BCDD83-F3DB-B5AD-F6D5-4F09400DDF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397789"/>
              </p:ext>
            </p:extLst>
          </p:nvPr>
        </p:nvGraphicFramePr>
        <p:xfrm>
          <a:off x="7629525" y="4329113"/>
          <a:ext cx="1944688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11" imgW="723600" imgH="431640" progId="Equation.DSMT4">
                  <p:embed/>
                </p:oleObj>
              </mc:Choice>
              <mc:Fallback>
                <p:oleObj name="Equation" r:id="rId11" imgW="723600" imgH="431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xmlns="" id="{B7016A68-D149-C3A9-876D-EA75F6D1B6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9525" y="4329113"/>
                        <a:ext cx="1944688" cy="1165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 animBg="1"/>
      <p:bldP spid="30" grpId="0"/>
      <p:bldP spid="32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8" name="Rectangle 10"/>
          <p:cNvSpPr>
            <a:spLocks noChangeArrowheads="1"/>
          </p:cNvSpPr>
          <p:nvPr/>
        </p:nvSpPr>
        <p:spPr bwMode="auto">
          <a:xfrm>
            <a:off x="4788773" y="1204568"/>
            <a:ext cx="4000500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3.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噪声等效功率</a:t>
            </a:r>
          </a:p>
        </p:txBody>
      </p:sp>
      <p:sp>
        <p:nvSpPr>
          <p:cNvPr id="40973" name="Rectangle 11"/>
          <p:cNvSpPr>
            <a:spLocks noChangeArrowheads="1"/>
          </p:cNvSpPr>
          <p:nvPr/>
        </p:nvSpPr>
        <p:spPr bwMode="auto">
          <a:xfrm>
            <a:off x="381000" y="164623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76" name="Rectangle 11"/>
          <p:cNvSpPr>
            <a:spLocks noChangeArrowheads="1"/>
          </p:cNvSpPr>
          <p:nvPr/>
        </p:nvSpPr>
        <p:spPr bwMode="auto">
          <a:xfrm>
            <a:off x="381000" y="161766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" name="Rectangle 11"/>
          <p:cNvSpPr>
            <a:spLocks noChangeArrowheads="1"/>
          </p:cNvSpPr>
          <p:nvPr/>
        </p:nvSpPr>
        <p:spPr bwMode="auto">
          <a:xfrm>
            <a:off x="819150" y="4227541"/>
            <a:ext cx="11608377" cy="113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200025" defTabSz="914400" eaLnBrk="0" hangingPunct="0"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理想情况下，直接探测系统只受信号光引起的散粒噪声限制（即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量子噪声限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），此时信噪比为</a:t>
            </a:r>
          </a:p>
        </p:txBody>
      </p:sp>
      <p:sp>
        <p:nvSpPr>
          <p:cNvPr id="40982" name="Rectangle 9"/>
          <p:cNvSpPr>
            <a:spLocks noChangeArrowheads="1"/>
          </p:cNvSpPr>
          <p:nvPr/>
        </p:nvSpPr>
        <p:spPr bwMode="auto">
          <a:xfrm>
            <a:off x="381000" y="161766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5" name="右箭头 34"/>
          <p:cNvSpPr/>
          <p:nvPr/>
        </p:nvSpPr>
        <p:spPr>
          <a:xfrm>
            <a:off x="6329795" y="6051406"/>
            <a:ext cx="1071563" cy="571500"/>
          </a:xfrm>
          <a:prstGeom prst="rightArrow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2800" b="1"/>
          </a:p>
        </p:txBody>
      </p:sp>
      <p:sp>
        <p:nvSpPr>
          <p:cNvPr id="2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直接探测</a:t>
            </a:r>
          </a:p>
        </p:txBody>
      </p:sp>
      <p:sp>
        <p:nvSpPr>
          <p:cNvPr id="27" name="矩形 2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xmlns="" id="{A9CD0E8D-4BA3-3EDD-550C-54F7C4FCC1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315791"/>
              </p:ext>
            </p:extLst>
          </p:nvPr>
        </p:nvGraphicFramePr>
        <p:xfrm>
          <a:off x="3673138" y="2086357"/>
          <a:ext cx="6051595" cy="215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3" imgW="2577960" imgH="914400" progId="Equation.DSMT4">
                  <p:embed/>
                </p:oleObj>
              </mc:Choice>
              <mc:Fallback>
                <p:oleObj name="Equation" r:id="rId3" imgW="2577960" imgH="914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138" y="2086357"/>
                        <a:ext cx="6051595" cy="2156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xmlns="" id="{D67DFDE7-9BA3-13C7-6EA6-7F7FCD28D9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217544"/>
              </p:ext>
            </p:extLst>
          </p:nvPr>
        </p:nvGraphicFramePr>
        <p:xfrm>
          <a:off x="2516726" y="5765656"/>
          <a:ext cx="3208337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5" imgW="1193760" imgH="431640" progId="Equation.DSMT4">
                  <p:embed/>
                </p:oleObj>
              </mc:Choice>
              <mc:Fallback>
                <p:oleObj name="Equation" r:id="rId5" imgW="1193760" imgH="431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7E8D99B6-3727-746F-E027-A389A2ADE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726" y="5765656"/>
                        <a:ext cx="3208337" cy="1166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xmlns="" id="{AEF59D95-74C0-6344-27D0-97E2A3179D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496891"/>
              </p:ext>
            </p:extLst>
          </p:nvPr>
        </p:nvGraphicFramePr>
        <p:xfrm>
          <a:off x="7992527" y="5819207"/>
          <a:ext cx="2593975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7" imgW="965160" imgH="419040" progId="Equation.DSMT4">
                  <p:embed/>
                </p:oleObj>
              </mc:Choice>
              <mc:Fallback>
                <p:oleObj name="Equation" r:id="rId7" imgW="965160" imgH="4190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xmlns="" id="{D67DFDE7-9BA3-13C7-6EA6-7F7FCD28D9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2527" y="5819207"/>
                        <a:ext cx="2593975" cy="1131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35" grpId="0" animBg="1"/>
    </p:bld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849</TotalTime>
  <Words>474</Words>
  <Application>Microsoft Office PowerPoint</Application>
  <PresentationFormat>自定义</PresentationFormat>
  <Paragraphs>69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Yu Gothic UI</vt:lpstr>
      <vt:lpstr>阿里巴巴普惠体 M</vt:lpstr>
      <vt:lpstr>阿里巴巴普惠体 R</vt:lpstr>
      <vt:lpstr>冬青黑体简体中文 W3</vt:lpstr>
      <vt:lpstr>冬青黑体简体中文 W6</vt:lpstr>
      <vt:lpstr>楷体_GB2312</vt:lpstr>
      <vt:lpstr>宋体</vt:lpstr>
      <vt:lpstr>Microsoft YaHei</vt:lpstr>
      <vt:lpstr>Microsoft YaHei</vt:lpstr>
      <vt:lpstr>Arial</vt:lpstr>
      <vt:lpstr>Calibri</vt:lpstr>
      <vt:lpstr>Calibri Light</vt:lpstr>
      <vt:lpstr>Microsoft Yi Baiti</vt:lpstr>
      <vt:lpstr>Times New Roman</vt:lpstr>
      <vt:lpstr>光电技术模板-2015-6-18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user</cp:lastModifiedBy>
  <cp:revision>67</cp:revision>
  <dcterms:created xsi:type="dcterms:W3CDTF">2015-06-18T01:42:52Z</dcterms:created>
  <dcterms:modified xsi:type="dcterms:W3CDTF">2023-03-11T09:53:51Z</dcterms:modified>
</cp:coreProperties>
</file>