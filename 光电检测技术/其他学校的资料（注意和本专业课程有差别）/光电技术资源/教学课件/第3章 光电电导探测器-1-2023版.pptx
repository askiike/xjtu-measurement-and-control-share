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336" r:id="rId3"/>
    <p:sldId id="337" r:id="rId4"/>
    <p:sldId id="367" r:id="rId5"/>
    <p:sldId id="345" r:id="rId6"/>
    <p:sldId id="335" r:id="rId7"/>
    <p:sldId id="277" r:id="rId8"/>
    <p:sldId id="340" r:id="rId9"/>
    <p:sldId id="341" r:id="rId10"/>
    <p:sldId id="342" r:id="rId11"/>
    <p:sldId id="334" r:id="rId12"/>
    <p:sldId id="346" r:id="rId13"/>
    <p:sldId id="347" r:id="rId14"/>
    <p:sldId id="348" r:id="rId15"/>
    <p:sldId id="349" r:id="rId16"/>
    <p:sldId id="350" r:id="rId17"/>
    <p:sldId id="351" r:id="rId18"/>
    <p:sldId id="352" r:id="rId19"/>
    <p:sldId id="353" r:id="rId20"/>
    <p:sldId id="354" r:id="rId21"/>
    <p:sldId id="355" r:id="rId22"/>
    <p:sldId id="357" r:id="rId23"/>
    <p:sldId id="358" r:id="rId24"/>
    <p:sldId id="359" r:id="rId25"/>
    <p:sldId id="360" r:id="rId26"/>
    <p:sldId id="361" r:id="rId27"/>
    <p:sldId id="362" r:id="rId28"/>
    <p:sldId id="363" r:id="rId29"/>
    <p:sldId id="364" r:id="rId30"/>
    <p:sldId id="365" r:id="rId31"/>
    <p:sldId id="366" r:id="rId32"/>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FF"/>
    <a:srgbClr val="1271FE"/>
    <a:srgbClr val="0066FF"/>
    <a:srgbClr val="3366FF"/>
    <a:srgbClr val="A5CC82"/>
    <a:srgbClr val="2F5597"/>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20" autoAdjust="0"/>
    <p:restoredTop sz="94660"/>
  </p:normalViewPr>
  <p:slideViewPr>
    <p:cSldViewPr snapToGrid="0">
      <p:cViewPr varScale="1">
        <p:scale>
          <a:sx n="100" d="100"/>
          <a:sy n="100" d="100"/>
        </p:scale>
        <p:origin x="2574" y="90"/>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emf"/><Relationship Id="rId4"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7.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5.emf"/><Relationship Id="rId13" Type="http://schemas.openxmlformats.org/officeDocument/2006/relationships/image" Target="../media/image30.emf"/><Relationship Id="rId3" Type="http://schemas.openxmlformats.org/officeDocument/2006/relationships/image" Target="../media/image20.emf"/><Relationship Id="rId7" Type="http://schemas.openxmlformats.org/officeDocument/2006/relationships/image" Target="../media/image24.emf"/><Relationship Id="rId12" Type="http://schemas.openxmlformats.org/officeDocument/2006/relationships/image" Target="../media/image29.emf"/><Relationship Id="rId2" Type="http://schemas.openxmlformats.org/officeDocument/2006/relationships/image" Target="../media/image19.emf"/><Relationship Id="rId1" Type="http://schemas.openxmlformats.org/officeDocument/2006/relationships/image" Target="../media/image18.emf"/><Relationship Id="rId6" Type="http://schemas.openxmlformats.org/officeDocument/2006/relationships/image" Target="../media/image23.emf"/><Relationship Id="rId11" Type="http://schemas.openxmlformats.org/officeDocument/2006/relationships/image" Target="../media/image28.emf"/><Relationship Id="rId5" Type="http://schemas.openxmlformats.org/officeDocument/2006/relationships/image" Target="../media/image22.emf"/><Relationship Id="rId15" Type="http://schemas.openxmlformats.org/officeDocument/2006/relationships/image" Target="../media/image32.emf"/><Relationship Id="rId10" Type="http://schemas.openxmlformats.org/officeDocument/2006/relationships/image" Target="../media/image27.emf"/><Relationship Id="rId4" Type="http://schemas.openxmlformats.org/officeDocument/2006/relationships/image" Target="../media/image21.emf"/><Relationship Id="rId9" Type="http://schemas.openxmlformats.org/officeDocument/2006/relationships/image" Target="../media/image26.emf"/><Relationship Id="rId14" Type="http://schemas.openxmlformats.org/officeDocument/2006/relationships/image" Target="../media/image31.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5" Type="http://schemas.openxmlformats.org/officeDocument/2006/relationships/image" Target="../media/image48.wmf"/><Relationship Id="rId4" Type="http://schemas.openxmlformats.org/officeDocument/2006/relationships/image" Target="../media/image47.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AF0B85A-814D-4522-830B-EA2B73E81006}" type="datetimeFigureOut">
              <a:rPr lang="zh-CN" altLang="en-US"/>
              <a:pPr>
                <a:defRPr/>
              </a:pPr>
              <a:t>2023/4/1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230FC6D-90CF-486C-9DDE-41D05F073C2E}"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ABA323A-3F5B-4803-8F6E-75EB0599F551}" type="datetimeFigureOut">
              <a:rPr lang="zh-CN" altLang="en-US"/>
              <a:pPr>
                <a:defRPr/>
              </a:pPr>
              <a:t>2023/4/1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9F8E41E-29BD-400D-AEDC-793B998551C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6D8D2FC9-D3FF-4B56-9B68-E94AEE2E1568}" type="datetimeFigureOut">
              <a:rPr lang="zh-CN" altLang="en-US"/>
              <a:pPr>
                <a:defRPr/>
              </a:pPr>
              <a:t>2023/4/1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E14F51C-D6D9-42FE-8406-8B1A62EF34D4}"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8BCE2FE-A4F7-461A-B679-738DCCB9F2FB}" type="datetimeFigureOut">
              <a:rPr lang="zh-CN" altLang="en-US"/>
              <a:pPr>
                <a:defRPr/>
              </a:pPr>
              <a:t>2023/4/1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1244DF1-8AB3-4AC8-8846-8D7AC53D4C59}"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D27D16C-6742-4D87-B286-505BFCC485E0}" type="datetimeFigureOut">
              <a:rPr lang="zh-CN" altLang="en-US"/>
              <a:pPr>
                <a:defRPr/>
              </a:pPr>
              <a:t>2023/4/1</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548CD92-017C-4BDF-B1F0-541AAC91782D}"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6518C45-7112-4018-A6C3-08A2B95FCAB3}" type="datetimeFigureOut">
              <a:rPr lang="zh-CN" altLang="en-US"/>
              <a:pPr>
                <a:defRPr/>
              </a:pPr>
              <a:t>2023/4/1</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03909AF-2F9A-4F17-9832-37F27436F3BE}"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3991FB8E-32A2-4FAB-9DCF-1E7B8AE28FF5}" type="datetimeFigureOut">
              <a:rPr lang="zh-CN" altLang="en-US"/>
              <a:pPr>
                <a:defRPr/>
              </a:pPr>
              <a:t>2023/4/1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850E2A1-1590-4207-8BCA-1574684B6113}"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5F0318A-E83E-4483-BFCC-C271C5DAE065}" type="datetimeFigureOut">
              <a:rPr lang="zh-CN" altLang="en-US"/>
              <a:pPr>
                <a:defRPr/>
              </a:pPr>
              <a:t>2023/4/1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7E4571C-1262-4289-8B7E-176947018E55}"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17FF0FD-FEC7-4A54-8110-AA77D02431CB}" type="datetimeFigureOut">
              <a:rPr lang="zh-CN" altLang="en-US"/>
              <a:pPr>
                <a:defRPr/>
              </a:pPr>
              <a:t>2023/4/1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FF3B411-970A-46D2-9B44-999FDB8B70E4}"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D50961D-D191-41E5-BCCE-EDEDBD1415CB}" type="datetimeFigureOut">
              <a:rPr lang="zh-CN" altLang="en-US"/>
              <a:pPr>
                <a:defRPr/>
              </a:pPr>
              <a:t>2023/4/1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B49B775-7492-4246-87A5-B7C17C29753E}"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D9FF2CE-FFAA-40E0-8999-7C71913CE4F8}" type="datetimeFigureOut">
              <a:rPr lang="zh-CN" altLang="en-US"/>
              <a:pPr>
                <a:defRPr/>
              </a:pPr>
              <a:t>2023/4/1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5A7B3F0-F29F-41DA-A7AB-51B5104F556C}"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6D1A1D20-A6C5-4998-AB23-06FC87464E8A}" type="datetimeFigureOut">
              <a:rPr lang="zh-CN" altLang="en-US"/>
              <a:pPr>
                <a:defRPr/>
              </a:pPr>
              <a:t>2023/4/1</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D728E60B-7259-4FAC-8AAA-739236121BD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10" Type="http://schemas.openxmlformats.org/officeDocument/2006/relationships/image" Target="../media/image9.wmf"/><Relationship Id="rId4" Type="http://schemas.openxmlformats.org/officeDocument/2006/relationships/image" Target="../media/image6.e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oleObject" Target="../embeddings/oleObject6.bin"/><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7.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4.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3" Type="http://schemas.openxmlformats.org/officeDocument/2006/relationships/oleObject" Target="../embeddings/oleObject18.bin"/><Relationship Id="rId18" Type="http://schemas.openxmlformats.org/officeDocument/2006/relationships/image" Target="../media/image25.emf"/><Relationship Id="rId26" Type="http://schemas.openxmlformats.org/officeDocument/2006/relationships/image" Target="../media/image29.emf"/><Relationship Id="rId3" Type="http://schemas.openxmlformats.org/officeDocument/2006/relationships/oleObject" Target="../embeddings/oleObject13.bin"/><Relationship Id="rId21" Type="http://schemas.openxmlformats.org/officeDocument/2006/relationships/oleObject" Target="../embeddings/oleObject22.bin"/><Relationship Id="rId34" Type="http://schemas.openxmlformats.org/officeDocument/2006/relationships/image" Target="../media/image33.jpeg"/><Relationship Id="rId7" Type="http://schemas.openxmlformats.org/officeDocument/2006/relationships/oleObject" Target="../embeddings/oleObject15.bin"/><Relationship Id="rId12" Type="http://schemas.openxmlformats.org/officeDocument/2006/relationships/image" Target="../media/image22.emf"/><Relationship Id="rId17" Type="http://schemas.openxmlformats.org/officeDocument/2006/relationships/oleObject" Target="../embeddings/oleObject20.bin"/><Relationship Id="rId25" Type="http://schemas.openxmlformats.org/officeDocument/2006/relationships/oleObject" Target="../embeddings/oleObject24.bin"/><Relationship Id="rId33" Type="http://schemas.openxmlformats.org/officeDocument/2006/relationships/oleObject" Target="../embeddings/oleObject28.bin"/><Relationship Id="rId2" Type="http://schemas.openxmlformats.org/officeDocument/2006/relationships/slideLayout" Target="../slideLayouts/slideLayout7.xml"/><Relationship Id="rId16" Type="http://schemas.openxmlformats.org/officeDocument/2006/relationships/image" Target="../media/image24.emf"/><Relationship Id="rId20" Type="http://schemas.openxmlformats.org/officeDocument/2006/relationships/image" Target="../media/image26.emf"/><Relationship Id="rId29" Type="http://schemas.openxmlformats.org/officeDocument/2006/relationships/oleObject" Target="../embeddings/oleObject26.bin"/><Relationship Id="rId1" Type="http://schemas.openxmlformats.org/officeDocument/2006/relationships/vmlDrawing" Target="../drawings/vmlDrawing4.vml"/><Relationship Id="rId6" Type="http://schemas.openxmlformats.org/officeDocument/2006/relationships/image" Target="../media/image19.emf"/><Relationship Id="rId11" Type="http://schemas.openxmlformats.org/officeDocument/2006/relationships/oleObject" Target="../embeddings/oleObject17.bin"/><Relationship Id="rId24" Type="http://schemas.openxmlformats.org/officeDocument/2006/relationships/image" Target="../media/image28.emf"/><Relationship Id="rId32" Type="http://schemas.openxmlformats.org/officeDocument/2006/relationships/image" Target="../media/image32.emf"/><Relationship Id="rId5" Type="http://schemas.openxmlformats.org/officeDocument/2006/relationships/oleObject" Target="../embeddings/oleObject14.bin"/><Relationship Id="rId15" Type="http://schemas.openxmlformats.org/officeDocument/2006/relationships/oleObject" Target="../embeddings/oleObject19.bin"/><Relationship Id="rId23" Type="http://schemas.openxmlformats.org/officeDocument/2006/relationships/oleObject" Target="../embeddings/oleObject23.bin"/><Relationship Id="rId28" Type="http://schemas.openxmlformats.org/officeDocument/2006/relationships/image" Target="../media/image30.emf"/><Relationship Id="rId10" Type="http://schemas.openxmlformats.org/officeDocument/2006/relationships/image" Target="../media/image21.emf"/><Relationship Id="rId19" Type="http://schemas.openxmlformats.org/officeDocument/2006/relationships/oleObject" Target="../embeddings/oleObject21.bin"/><Relationship Id="rId31" Type="http://schemas.openxmlformats.org/officeDocument/2006/relationships/oleObject" Target="../embeddings/oleObject27.bin"/><Relationship Id="rId4" Type="http://schemas.openxmlformats.org/officeDocument/2006/relationships/image" Target="../media/image18.emf"/><Relationship Id="rId9" Type="http://schemas.openxmlformats.org/officeDocument/2006/relationships/oleObject" Target="../embeddings/oleObject16.bin"/><Relationship Id="rId14" Type="http://schemas.openxmlformats.org/officeDocument/2006/relationships/image" Target="../media/image23.emf"/><Relationship Id="rId22" Type="http://schemas.openxmlformats.org/officeDocument/2006/relationships/image" Target="../media/image27.emf"/><Relationship Id="rId27" Type="http://schemas.openxmlformats.org/officeDocument/2006/relationships/oleObject" Target="../embeddings/oleObject25.bin"/><Relationship Id="rId30" Type="http://schemas.openxmlformats.org/officeDocument/2006/relationships/image" Target="../media/image31.emf"/><Relationship Id="rId35" Type="http://schemas.openxmlformats.org/officeDocument/2006/relationships/image" Target="../media/image34.jpeg"/><Relationship Id="rId8" Type="http://schemas.openxmlformats.org/officeDocument/2006/relationships/image" Target="../media/image20.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36.wmf"/><Relationship Id="rId5" Type="http://schemas.openxmlformats.org/officeDocument/2006/relationships/oleObject" Target="../embeddings/oleObject30.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2.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40.emf"/><Relationship Id="rId5" Type="http://schemas.openxmlformats.org/officeDocument/2006/relationships/oleObject" Target="../embeddings/oleObject34.bin"/><Relationship Id="rId4" Type="http://schemas.openxmlformats.org/officeDocument/2006/relationships/image" Target="../media/image39.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xml"/><Relationship Id="rId1" Type="http://schemas.openxmlformats.org/officeDocument/2006/relationships/vmlDrawing" Target="../drawings/vmlDrawing7.vml"/><Relationship Id="rId4" Type="http://schemas.openxmlformats.org/officeDocument/2006/relationships/image" Target="../media/image41.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xml"/><Relationship Id="rId1" Type="http://schemas.openxmlformats.org/officeDocument/2006/relationships/vmlDrawing" Target="../drawings/vmlDrawing8.vml"/><Relationship Id="rId5" Type="http://schemas.openxmlformats.org/officeDocument/2006/relationships/image" Target="../media/image43.emf"/><Relationship Id="rId4" Type="http://schemas.openxmlformats.org/officeDocument/2006/relationships/image" Target="../media/image42.wmf"/></Relationships>
</file>

<file path=ppt/slides/_rels/slide16.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8.wmf"/><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45.wmf"/><Relationship Id="rId11" Type="http://schemas.openxmlformats.org/officeDocument/2006/relationships/oleObject" Target="../embeddings/oleObject41.bin"/><Relationship Id="rId5" Type="http://schemas.openxmlformats.org/officeDocument/2006/relationships/oleObject" Target="../embeddings/oleObject38.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40.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2.bin"/><Relationship Id="rId7" Type="http://schemas.openxmlformats.org/officeDocument/2006/relationships/image" Target="../media/image50.emf"/><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package" Target="../embeddings/Microsoft_Visio___1.vsdx"/><Relationship Id="rId5" Type="http://schemas.openxmlformats.org/officeDocument/2006/relationships/oleObject" Target="../embeddings/oleObject43.bin"/><Relationship Id="rId4" Type="http://schemas.openxmlformats.org/officeDocument/2006/relationships/image" Target="../media/image4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xml"/><Relationship Id="rId1" Type="http://schemas.openxmlformats.org/officeDocument/2006/relationships/vmlDrawing" Target="../drawings/vmlDrawing11.vml"/><Relationship Id="rId5" Type="http://schemas.openxmlformats.org/officeDocument/2006/relationships/image" Target="../media/image51.emf"/><Relationship Id="rId4" Type="http://schemas.openxmlformats.org/officeDocument/2006/relationships/package" Target="../embeddings/Microsoft_Visio___2.vsd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xml"/><Relationship Id="rId1" Type="http://schemas.openxmlformats.org/officeDocument/2006/relationships/vmlDrawing" Target="../drawings/vmlDrawing12.vml"/><Relationship Id="rId5" Type="http://schemas.openxmlformats.org/officeDocument/2006/relationships/image" Target="../media/image52.emf"/><Relationship Id="rId4" Type="http://schemas.openxmlformats.org/officeDocument/2006/relationships/package" Target="../embeddings/Microsoft_Visio___3.vsdx"/></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54.emf"/><Relationship Id="rId5" Type="http://schemas.openxmlformats.org/officeDocument/2006/relationships/oleObject" Target="../embeddings/oleObject47.bin"/><Relationship Id="rId4" Type="http://schemas.openxmlformats.org/officeDocument/2006/relationships/image" Target="../media/image53.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xml"/><Relationship Id="rId1" Type="http://schemas.openxmlformats.org/officeDocument/2006/relationships/vmlDrawing" Target="../drawings/vmlDrawing14.vml"/><Relationship Id="rId4" Type="http://schemas.openxmlformats.org/officeDocument/2006/relationships/image" Target="../media/image55.wmf"/></Relationships>
</file>

<file path=ppt/slides/_rels/slide2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hyperlink" Target="CdS-&#25216;&#26415;&#25163;&#20876;&#31995;&#21015;.pdf"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hyperlink" Target="Pbs-&#20809;&#25935;&#30005;&#38459;-&#25216;&#26415;&#25163;&#20876;.pdf"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98" descr="光敏电阻1"/>
          <p:cNvPicPr>
            <a:picLocks noChangeAspect="1" noChangeArrowheads="1"/>
          </p:cNvPicPr>
          <p:nvPr/>
        </p:nvPicPr>
        <p:blipFill>
          <a:blip r:embed="rId2" cstate="print"/>
          <a:srcRect/>
          <a:stretch>
            <a:fillRect/>
          </a:stretch>
        </p:blipFill>
        <p:spPr bwMode="auto">
          <a:xfrm>
            <a:off x="5838825" y="1859150"/>
            <a:ext cx="7878763" cy="4547396"/>
          </a:xfrm>
          <a:prstGeom prst="rect">
            <a:avLst/>
          </a:prstGeom>
          <a:noFill/>
          <a:ln w="9525">
            <a:noFill/>
            <a:miter lim="800000"/>
            <a:headEnd/>
            <a:tailEnd/>
          </a:ln>
        </p:spPr>
      </p:pic>
      <p:sp>
        <p:nvSpPr>
          <p:cNvPr id="10" name="矩形 9">
            <a:extLst>
              <a:ext uri="{FF2B5EF4-FFF2-40B4-BE49-F238E27FC236}">
                <a16:creationId xmlns="" xmlns:a16="http://schemas.microsoft.com/office/drawing/2014/main"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3</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 xmlns:a16="http://schemas.microsoft.com/office/drawing/2014/main" id="{5441AE38-A11D-4793-BDA3-DCA36976B496}"/>
              </a:ext>
            </a:extLst>
          </p:cNvPr>
          <p:cNvSpPr/>
          <p:nvPr/>
        </p:nvSpPr>
        <p:spPr>
          <a:xfrm>
            <a:off x="3998268" y="2700290"/>
            <a:ext cx="5721052"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光电导探测器</a:t>
            </a:r>
          </a:p>
        </p:txBody>
      </p:sp>
      <p:sp>
        <p:nvSpPr>
          <p:cNvPr id="5" name="矩形 4">
            <a:extLst>
              <a:ext uri="{FF2B5EF4-FFF2-40B4-BE49-F238E27FC236}">
                <a16:creationId xmlns="" xmlns:a16="http://schemas.microsoft.com/office/drawing/2014/main"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 xmlns:a16="http://schemas.microsoft.com/office/drawing/2014/main"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 xmlns:a16="http://schemas.microsoft.com/office/drawing/2014/main" id="{1C44C9C7-7166-4DA9-8A1A-D2BB836F3F54}"/>
              </a:ext>
            </a:extLst>
          </p:cNvPr>
          <p:cNvSpPr/>
          <p:nvPr/>
        </p:nvSpPr>
        <p:spPr>
          <a:xfrm>
            <a:off x="1209675" y="4512279"/>
            <a:ext cx="3895725" cy="461665"/>
          </a:xfrm>
          <a:prstGeom prst="rect">
            <a:avLst/>
          </a:prstGeom>
          <a:noFill/>
        </p:spPr>
        <p:txBody>
          <a:bodyPr wrap="square" lIns="91440" tIns="45720" rIns="91440" bIns="45720">
            <a:spAutoFit/>
          </a:bodyPr>
          <a:lstStyle/>
          <a:p>
            <a:r>
              <a:rPr lang="en-US" altLang="zh-CN" sz="2400" dirty="0" smtClean="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Photoconductive </a:t>
            </a:r>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detector</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 xmlns:a16="http://schemas.microsoft.com/office/drawing/2014/main"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60">
            <a:extLst>
              <a:ext uri="{FF2B5EF4-FFF2-40B4-BE49-F238E27FC236}">
                <a16:creationId xmlns="" xmlns:a16="http://schemas.microsoft.com/office/drawing/2014/main" id="{791D85D7-F412-9C48-9F2B-E33F5B7B4F3C}"/>
              </a:ext>
            </a:extLst>
          </p:cNvPr>
          <p:cNvSpPr txBox="1"/>
          <p:nvPr/>
        </p:nvSpPr>
        <p:spPr>
          <a:xfrm>
            <a:off x="1476183" y="274232"/>
            <a:ext cx="2130894"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光电导探测器</a:t>
            </a:r>
          </a:p>
        </p:txBody>
      </p:sp>
      <p:sp>
        <p:nvSpPr>
          <p:cNvPr id="6" name="矩形: 圆角 25">
            <a:extLst>
              <a:ext uri="{FF2B5EF4-FFF2-40B4-BE49-F238E27FC236}">
                <a16:creationId xmlns=""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7"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64806" y="693392"/>
            <a:ext cx="1990689"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0337881" y="293282"/>
            <a:ext cx="2823365" cy="523220"/>
            <a:chOff x="10337881" y="293282"/>
            <a:chExt cx="2823365" cy="523220"/>
          </a:xfrm>
        </p:grpSpPr>
        <p:sp>
          <p:nvSpPr>
            <p:cNvPr id="4" name="矩形 3"/>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5" name="矩形 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9" name="矩形 8">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2" name="组合 11"/>
          <p:cNvGrpSpPr/>
          <p:nvPr/>
        </p:nvGrpSpPr>
        <p:grpSpPr>
          <a:xfrm>
            <a:off x="1181100" y="2203148"/>
            <a:ext cx="6572250" cy="1248167"/>
            <a:chOff x="1181100" y="2203148"/>
            <a:chExt cx="6572250" cy="1248167"/>
          </a:xfrm>
        </p:grpSpPr>
        <p:sp>
          <p:nvSpPr>
            <p:cNvPr id="13" name="圆角矩形 12"/>
            <p:cNvSpPr/>
            <p:nvPr/>
          </p:nvSpPr>
          <p:spPr>
            <a:xfrm>
              <a:off x="1181100" y="2203148"/>
              <a:ext cx="6572250" cy="1248167"/>
            </a:xfrm>
            <a:prstGeom prst="round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5875">
              <a:solidFill>
                <a:srgbClr val="1271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
            <p:cNvSpPr>
              <a:spLocks noChangeArrowheads="1"/>
            </p:cNvSpPr>
            <p:nvPr/>
          </p:nvSpPr>
          <p:spPr bwMode="auto">
            <a:xfrm>
              <a:off x="1284624" y="2203148"/>
              <a:ext cx="6376707" cy="1248167"/>
            </a:xfrm>
            <a:prstGeom prst="rect">
              <a:avLst/>
            </a:prstGeom>
            <a:noFill/>
            <a:ln w="9525">
              <a:noFill/>
              <a:miter lim="800000"/>
              <a:headEnd/>
              <a:tailEnd/>
            </a:ln>
          </p:spPr>
          <p:txBody>
            <a:bodyPr/>
            <a:lstStyle/>
            <a:p>
              <a:pPr algn="just" defTabSz="914400" eaLnBrk="0" hangingPunct="0">
                <a:lnSpc>
                  <a:spcPct val="140000"/>
                </a:lnSpc>
                <a:spcBef>
                  <a:spcPct val="20000"/>
                </a:spcBef>
                <a:buClr>
                  <a:schemeClr val="tx2"/>
                </a:buClr>
                <a:buSzPct val="70000"/>
                <a:buFont typeface="Wingdings" pitchFamily="2" charset="2"/>
                <a:buNone/>
              </a:pPr>
              <a:r>
                <a:rPr lang="zh-CN" altLang="en-US" sz="2400" b="1" dirty="0" smtClean="0">
                  <a:latin typeface="微软雅黑" pitchFamily="34" charset="-122"/>
                  <a:ea typeface="微软雅黑" pitchFamily="34" charset="-122"/>
                </a:rPr>
                <a:t>物质</a:t>
              </a:r>
              <a:r>
                <a:rPr lang="zh-CN" altLang="en-US" sz="2400" b="1" dirty="0">
                  <a:latin typeface="微软雅黑" pitchFamily="34" charset="-122"/>
                  <a:ea typeface="微软雅黑" pitchFamily="34" charset="-122"/>
                </a:rPr>
                <a:t>吸收了光子的能量产生本征吸收或杂质吸收，从而改变物质电导率的</a:t>
              </a:r>
              <a:r>
                <a:rPr lang="zh-CN" altLang="en-US" sz="2400" b="1" dirty="0" smtClean="0">
                  <a:latin typeface="微软雅黑" pitchFamily="34" charset="-122"/>
                  <a:ea typeface="微软雅黑" pitchFamily="34" charset="-122"/>
                </a:rPr>
                <a:t>现象</a:t>
              </a:r>
              <a:r>
                <a:rPr lang="zh-CN" altLang="en-US" sz="2400" b="1" dirty="0">
                  <a:latin typeface="微软雅黑" pitchFamily="34" charset="-122"/>
                  <a:ea typeface="微软雅黑" pitchFamily="34" charset="-122"/>
                </a:rPr>
                <a:t>。</a:t>
              </a:r>
              <a:endParaRPr lang="zh-CN" altLang="en-US" sz="2400" b="1" dirty="0">
                <a:solidFill>
                  <a:srgbClr val="FF0000"/>
                </a:solidFill>
                <a:latin typeface="微软雅黑" pitchFamily="34" charset="-122"/>
                <a:ea typeface="微软雅黑" pitchFamily="34" charset="-122"/>
              </a:endParaRPr>
            </a:p>
          </p:txBody>
        </p:sp>
      </p:grpSp>
      <p:grpSp>
        <p:nvGrpSpPr>
          <p:cNvPr id="56" name="组合 55"/>
          <p:cNvGrpSpPr/>
          <p:nvPr/>
        </p:nvGrpSpPr>
        <p:grpSpPr>
          <a:xfrm>
            <a:off x="1016901" y="5277130"/>
            <a:ext cx="6804332" cy="1288611"/>
            <a:chOff x="948362" y="5258609"/>
            <a:chExt cx="6804332" cy="1288611"/>
          </a:xfrm>
        </p:grpSpPr>
        <p:sp>
          <p:nvSpPr>
            <p:cNvPr id="55" name="圆角矩形 54"/>
            <p:cNvSpPr/>
            <p:nvPr/>
          </p:nvSpPr>
          <p:spPr>
            <a:xfrm>
              <a:off x="961369" y="5261684"/>
              <a:ext cx="6791325" cy="1285536"/>
            </a:xfrm>
            <a:prstGeom prst="round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w="15875">
              <a:solidFill>
                <a:srgbClr val="1271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 Box 5"/>
            <p:cNvSpPr txBox="1">
              <a:spLocks noChangeArrowheads="1"/>
            </p:cNvSpPr>
            <p:nvPr/>
          </p:nvSpPr>
          <p:spPr bwMode="auto">
            <a:xfrm>
              <a:off x="948362" y="5258609"/>
              <a:ext cx="6788177" cy="1200329"/>
            </a:xfrm>
            <a:prstGeom prst="rect">
              <a:avLst/>
            </a:prstGeom>
            <a:noFill/>
            <a:ln w="9525">
              <a:noFill/>
              <a:miter lim="800000"/>
              <a:headEnd/>
              <a:tailEnd/>
            </a:ln>
          </p:spPr>
          <p:txBody>
            <a:bodyPr wrap="square">
              <a:spAutoFit/>
            </a:bodyPr>
            <a:lstStyle/>
            <a:p>
              <a:pPr algn="just" defTabSz="914400" eaLnBrk="0" hangingPunct="0">
                <a:lnSpc>
                  <a:spcPct val="150000"/>
                </a:lnSpc>
                <a:spcBef>
                  <a:spcPts val="0"/>
                </a:spcBef>
                <a:buClr>
                  <a:schemeClr val="tx2"/>
                </a:buClr>
                <a:buSzPct val="70000"/>
                <a:buFont typeface="Wingdings" pitchFamily="2" charset="2"/>
                <a:buNone/>
              </a:pPr>
              <a:r>
                <a:rPr lang="zh-CN" altLang="en-US" sz="2400" dirty="0" smtClean="0">
                  <a:latin typeface="Times New Roman" pitchFamily="18" charset="0"/>
                  <a:ea typeface="黑体" pitchFamily="49"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利用具有光电导效应的材料（如</a:t>
              </a:r>
              <a:r>
                <a:rPr lang="en-US" altLang="zh-CN" sz="2400" b="1"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本征半导体与杂质半导体）可以制成电导随入射辐射变化</a:t>
              </a:r>
              <a:r>
                <a:rPr lang="zh-CN" altLang="en-US" sz="2400" b="1" dirty="0" smtClean="0">
                  <a:latin typeface="Times New Roman" pitchFamily="18" charset="0"/>
                  <a:ea typeface="微软雅黑" pitchFamily="34" charset="-122"/>
                  <a:cs typeface="Times New Roman" pitchFamily="18" charset="0"/>
                </a:rPr>
                <a:t>器件。  </a:t>
              </a:r>
              <a:endParaRPr lang="zh-CN" altLang="en-US" sz="2400" b="1" dirty="0">
                <a:latin typeface="Times New Roman" pitchFamily="18" charset="0"/>
                <a:ea typeface="微软雅黑" pitchFamily="34" charset="-122"/>
                <a:cs typeface="Times New Roman" pitchFamily="18" charset="0"/>
              </a:endParaRPr>
            </a:p>
          </p:txBody>
        </p:sp>
      </p:grpSp>
      <p:sp>
        <p:nvSpPr>
          <p:cNvPr id="16" name="Rectangle 4"/>
          <p:cNvSpPr>
            <a:spLocks noChangeArrowheads="1"/>
          </p:cNvSpPr>
          <p:nvPr/>
        </p:nvSpPr>
        <p:spPr bwMode="auto">
          <a:xfrm>
            <a:off x="3158802" y="1383213"/>
            <a:ext cx="2156571" cy="709956"/>
          </a:xfrm>
          <a:prstGeom prst="rect">
            <a:avLst/>
          </a:prstGeom>
          <a:noFill/>
          <a:ln w="9525">
            <a:noFill/>
            <a:miter lim="800000"/>
            <a:headEnd/>
            <a:tailEnd/>
          </a:ln>
        </p:spPr>
        <p:txBody>
          <a:bodyPr/>
          <a:lstStyle/>
          <a:p>
            <a:pPr algn="just" defTabSz="914400" eaLnBrk="0" hangingPunct="0">
              <a:lnSpc>
                <a:spcPct val="140000"/>
              </a:lnSpc>
              <a:spcBef>
                <a:spcPct val="20000"/>
              </a:spcBef>
              <a:buClr>
                <a:schemeClr val="tx2"/>
              </a:buClr>
              <a:buSzPct val="70000"/>
              <a:buFont typeface="Wingdings" pitchFamily="2" charset="2"/>
              <a:buNone/>
            </a:pPr>
            <a:r>
              <a:rPr lang="zh-CN" altLang="en-US" sz="2800" b="1" dirty="0" smtClean="0">
                <a:solidFill>
                  <a:srgbClr val="0066FF"/>
                </a:solidFill>
                <a:latin typeface="微软雅黑" pitchFamily="34" charset="-122"/>
                <a:ea typeface="微软雅黑" pitchFamily="34" charset="-122"/>
              </a:rPr>
              <a:t>光电导效应</a:t>
            </a:r>
            <a:endParaRPr lang="zh-CN" altLang="en-US" sz="2800" b="1" dirty="0">
              <a:solidFill>
                <a:srgbClr val="0066FF"/>
              </a:solidFill>
              <a:latin typeface="微软雅黑" pitchFamily="34" charset="-122"/>
              <a:ea typeface="微软雅黑" pitchFamily="34" charset="-122"/>
            </a:endParaRPr>
          </a:p>
        </p:txBody>
      </p:sp>
      <p:sp>
        <p:nvSpPr>
          <p:cNvPr id="17" name="Text Box 5"/>
          <p:cNvSpPr txBox="1">
            <a:spLocks noChangeArrowheads="1"/>
          </p:cNvSpPr>
          <p:nvPr/>
        </p:nvSpPr>
        <p:spPr bwMode="auto">
          <a:xfrm>
            <a:off x="1724025" y="3996556"/>
            <a:ext cx="4452026" cy="954107"/>
          </a:xfrm>
          <a:prstGeom prst="rect">
            <a:avLst/>
          </a:prstGeom>
          <a:noFill/>
          <a:ln w="9525">
            <a:noFill/>
            <a:miter lim="800000"/>
            <a:headEnd/>
            <a:tailEnd/>
          </a:ln>
        </p:spPr>
        <p:txBody>
          <a:bodyPr wrap="square">
            <a:spAutoFit/>
          </a:bodyPr>
          <a:lstStyle/>
          <a:p>
            <a:pPr algn="ctr" defTabSz="914400" eaLnBrk="0" hangingPunct="0">
              <a:spcBef>
                <a:spcPts val="0"/>
              </a:spcBef>
              <a:buClr>
                <a:schemeClr val="tx2"/>
              </a:buClr>
              <a:buSzPct val="70000"/>
              <a:buFont typeface="Wingdings" pitchFamily="2" charset="2"/>
              <a:buNone/>
            </a:pPr>
            <a:r>
              <a:rPr lang="zh-CN" altLang="en-US" sz="2800" b="1" dirty="0" smtClean="0">
                <a:solidFill>
                  <a:srgbClr val="0066FF"/>
                </a:solidFill>
                <a:latin typeface="Times New Roman" pitchFamily="18" charset="0"/>
                <a:ea typeface="微软雅黑" pitchFamily="34" charset="-122"/>
                <a:cs typeface="Times New Roman" pitchFamily="18" charset="0"/>
              </a:rPr>
              <a:t>光电导</a:t>
            </a:r>
            <a:r>
              <a:rPr lang="zh-CN" altLang="en-US" sz="2800" b="1" dirty="0">
                <a:solidFill>
                  <a:srgbClr val="0066FF"/>
                </a:solidFill>
                <a:latin typeface="Times New Roman" pitchFamily="18" charset="0"/>
                <a:ea typeface="微软雅黑" pitchFamily="34" charset="-122"/>
                <a:cs typeface="Times New Roman" pitchFamily="18" charset="0"/>
              </a:rPr>
              <a:t>探测器</a:t>
            </a:r>
            <a:r>
              <a:rPr lang="zh-CN" altLang="en-US" sz="2800" b="1" dirty="0" smtClean="0">
                <a:solidFill>
                  <a:srgbClr val="0066FF"/>
                </a:solidFill>
                <a:latin typeface="Times New Roman" pitchFamily="18" charset="0"/>
                <a:ea typeface="微软雅黑" pitchFamily="34" charset="-122"/>
                <a:cs typeface="Times New Roman" pitchFamily="18" charset="0"/>
              </a:rPr>
              <a:t>或光敏电阻</a:t>
            </a:r>
            <a:endParaRPr lang="en-US" altLang="zh-CN" sz="2800" b="1" dirty="0" smtClean="0">
              <a:solidFill>
                <a:srgbClr val="0066FF"/>
              </a:solidFill>
              <a:latin typeface="Times New Roman" pitchFamily="18" charset="0"/>
              <a:ea typeface="微软雅黑" pitchFamily="34" charset="-122"/>
              <a:cs typeface="Times New Roman" pitchFamily="18" charset="0"/>
            </a:endParaRPr>
          </a:p>
          <a:p>
            <a:pPr algn="ctr" defTabSz="914400" eaLnBrk="0" hangingPunct="0">
              <a:spcBef>
                <a:spcPts val="0"/>
              </a:spcBef>
              <a:buClr>
                <a:schemeClr val="tx2"/>
              </a:buClr>
              <a:buSzPct val="70000"/>
              <a:buFont typeface="Wingdings" pitchFamily="2" charset="2"/>
              <a:buNone/>
            </a:pPr>
            <a:r>
              <a:rPr lang="en-US" altLang="zh-CN" b="1" dirty="0" smtClean="0">
                <a:solidFill>
                  <a:srgbClr val="0066FF"/>
                </a:solidFill>
                <a:latin typeface="Times New Roman" pitchFamily="18" charset="0"/>
                <a:ea typeface="微软雅黑" pitchFamily="34" charset="-122"/>
                <a:cs typeface="Times New Roman" pitchFamily="18" charset="0"/>
              </a:rPr>
              <a:t>(</a:t>
            </a:r>
            <a:r>
              <a:rPr lang="en-US" altLang="zh-CN" b="1" dirty="0">
                <a:solidFill>
                  <a:srgbClr val="0066FF"/>
                </a:solidFill>
                <a:latin typeface="Times New Roman" pitchFamily="18" charset="0"/>
                <a:ea typeface="微软雅黑" pitchFamily="34" charset="-122"/>
                <a:cs typeface="Times New Roman" pitchFamily="18" charset="0"/>
              </a:rPr>
              <a:t>Photoconductive resistance</a:t>
            </a:r>
            <a:r>
              <a:rPr lang="en-US" altLang="zh-CN" b="1" dirty="0" smtClean="0">
                <a:solidFill>
                  <a:srgbClr val="0066FF"/>
                </a:solidFill>
                <a:latin typeface="Times New Roman" pitchFamily="18" charset="0"/>
                <a:ea typeface="微软雅黑" pitchFamily="34" charset="-122"/>
                <a:cs typeface="Times New Roman" pitchFamily="18" charset="0"/>
              </a:rPr>
              <a:t>)</a:t>
            </a:r>
            <a:r>
              <a:rPr lang="zh-CN" altLang="en-US" b="1" dirty="0" smtClean="0">
                <a:solidFill>
                  <a:srgbClr val="0066FF"/>
                </a:solidFill>
                <a:latin typeface="Times New Roman" pitchFamily="18" charset="0"/>
                <a:ea typeface="微软雅黑" pitchFamily="34" charset="-122"/>
                <a:cs typeface="Times New Roman" pitchFamily="18" charset="0"/>
              </a:rPr>
              <a:t> </a:t>
            </a:r>
            <a:r>
              <a:rPr lang="zh-CN" altLang="en-US" sz="2800" b="1" dirty="0" smtClean="0">
                <a:solidFill>
                  <a:srgbClr val="0066FF"/>
                </a:solidFill>
                <a:latin typeface="Times New Roman" pitchFamily="18" charset="0"/>
                <a:ea typeface="微软雅黑" pitchFamily="34" charset="-122"/>
                <a:cs typeface="Times New Roman" pitchFamily="18" charset="0"/>
              </a:rPr>
              <a:t> </a:t>
            </a:r>
            <a:endParaRPr lang="zh-CN" altLang="en-US" sz="2800" b="1" dirty="0">
              <a:solidFill>
                <a:srgbClr val="0066FF"/>
              </a:solidFill>
              <a:latin typeface="Times New Roman" pitchFamily="18" charset="0"/>
              <a:ea typeface="微软雅黑" pitchFamily="34" charset="-122"/>
              <a:cs typeface="Times New Roman" pitchFamily="18" charset="0"/>
            </a:endParaRPr>
          </a:p>
        </p:txBody>
      </p:sp>
      <p:grpSp>
        <p:nvGrpSpPr>
          <p:cNvPr id="30" name="组合 29"/>
          <p:cNvGrpSpPr>
            <a:grpSpLocks/>
          </p:cNvGrpSpPr>
          <p:nvPr/>
        </p:nvGrpSpPr>
        <p:grpSpPr bwMode="auto">
          <a:xfrm>
            <a:off x="8400721" y="4286087"/>
            <a:ext cx="803275" cy="608012"/>
            <a:chOff x="6233339" y="4340729"/>
            <a:chExt cx="1896702" cy="670916"/>
          </a:xfrm>
        </p:grpSpPr>
        <p:sp>
          <p:nvSpPr>
            <p:cNvPr id="31" name="圆角矩形 30"/>
            <p:cNvSpPr/>
            <p:nvPr/>
          </p:nvSpPr>
          <p:spPr>
            <a:xfrm>
              <a:off x="6345168" y="4340729"/>
              <a:ext cx="1773005" cy="670916"/>
            </a:xfrm>
            <a:prstGeom prst="roundRect">
              <a:avLst/>
            </a:prstGeom>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latin typeface="Times New Roman" panose="02020603050405020304" pitchFamily="18" charset="0"/>
                <a:ea typeface="冬青黑体简体中文 W6" panose="020B0600000000000000"/>
                <a:cs typeface="Times New Roman" panose="02020603050405020304" pitchFamily="18" charset="0"/>
              </a:endParaRPr>
            </a:p>
          </p:txBody>
        </p:sp>
        <p:sp>
          <p:nvSpPr>
            <p:cNvPr id="32" name="TextBox 9"/>
            <p:cNvSpPr txBox="1">
              <a:spLocks noChangeArrowheads="1"/>
            </p:cNvSpPr>
            <p:nvPr/>
          </p:nvSpPr>
          <p:spPr bwMode="auto">
            <a:xfrm>
              <a:off x="6233339" y="4376956"/>
              <a:ext cx="1896702" cy="54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smtClean="0">
                  <a:latin typeface="Times New Roman" panose="02020603050405020304" pitchFamily="18" charset="0"/>
                  <a:ea typeface="冬青黑体简体中文 W6" panose="020B0600000000000000"/>
                  <a:cs typeface="Times New Roman" panose="02020603050405020304" pitchFamily="18" charset="0"/>
                </a:rPr>
                <a:t>硅</a:t>
              </a:r>
              <a:endParaRPr lang="en-US" altLang="zh-CN" sz="1600" b="1" dirty="0" smtClean="0">
                <a:latin typeface="Times New Roman" panose="02020603050405020304" pitchFamily="18" charset="0"/>
                <a:ea typeface="冬青黑体简体中文 W6" panose="020B0600000000000000"/>
                <a:cs typeface="Times New Roman" panose="02020603050405020304" pitchFamily="18" charset="0"/>
              </a:endParaRPr>
            </a:p>
            <a:p>
              <a:pPr algn="ctr" eaLnBrk="1" hangingPunct="1">
                <a:lnSpc>
                  <a:spcPct val="100000"/>
                </a:lnSpc>
                <a:spcBef>
                  <a:spcPct val="0"/>
                </a:spcBef>
                <a:buFontTx/>
                <a:buNone/>
              </a:pPr>
              <a:r>
                <a:rPr lang="zh-CN" altLang="en-US" sz="1600" b="1" dirty="0" smtClean="0">
                  <a:latin typeface="Times New Roman" panose="02020603050405020304" pitchFamily="18" charset="0"/>
                  <a:ea typeface="冬青黑体简体中文 W6" panose="020B0600000000000000"/>
                  <a:cs typeface="Times New Roman" panose="02020603050405020304" pitchFamily="18" charset="0"/>
                </a:rPr>
                <a:t> </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(Si)</a:t>
              </a:r>
              <a:endParaRPr lang="zh-CN" altLang="en-US" sz="1600" b="1" dirty="0">
                <a:latin typeface="Times New Roman" panose="02020603050405020304" pitchFamily="18" charset="0"/>
                <a:ea typeface="冬青黑体简体中文 W6" panose="020B0600000000000000"/>
                <a:cs typeface="Times New Roman" panose="02020603050405020304" pitchFamily="18" charset="0"/>
              </a:endParaRPr>
            </a:p>
          </p:txBody>
        </p:sp>
      </p:grpSp>
      <p:grpSp>
        <p:nvGrpSpPr>
          <p:cNvPr id="33" name="组合 29"/>
          <p:cNvGrpSpPr>
            <a:grpSpLocks/>
          </p:cNvGrpSpPr>
          <p:nvPr/>
        </p:nvGrpSpPr>
        <p:grpSpPr bwMode="auto">
          <a:xfrm>
            <a:off x="10015356" y="2533271"/>
            <a:ext cx="803275" cy="584200"/>
            <a:chOff x="6233339" y="4340729"/>
            <a:chExt cx="1896702" cy="645069"/>
          </a:xfrm>
        </p:grpSpPr>
        <p:sp>
          <p:nvSpPr>
            <p:cNvPr id="34" name="圆角矩形 33"/>
            <p:cNvSpPr/>
            <p:nvPr/>
          </p:nvSpPr>
          <p:spPr>
            <a:xfrm>
              <a:off x="6233339" y="4340729"/>
              <a:ext cx="1773005" cy="645069"/>
            </a:xfrm>
            <a:prstGeom prst="roundRect">
              <a:avLst/>
            </a:prstGeom>
            <a:gradFill>
              <a:gsLst>
                <a:gs pos="0">
                  <a:srgbClr val="03D4A8"/>
                </a:gs>
                <a:gs pos="25000">
                  <a:srgbClr val="21D6E0"/>
                </a:gs>
                <a:gs pos="75000">
                  <a:srgbClr val="0087E6"/>
                </a:gs>
                <a:gs pos="100000">
                  <a:srgbClr val="005CB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latin typeface="Times New Roman" panose="02020603050405020304" pitchFamily="18" charset="0"/>
                <a:ea typeface="冬青黑体简体中文 W6" panose="020B0600000000000000"/>
                <a:cs typeface="Times New Roman" panose="02020603050405020304" pitchFamily="18" charset="0"/>
              </a:endParaRPr>
            </a:p>
          </p:txBody>
        </p:sp>
        <p:sp>
          <p:nvSpPr>
            <p:cNvPr id="35" name="TextBox 9"/>
            <p:cNvSpPr txBox="1">
              <a:spLocks noChangeArrowheads="1"/>
            </p:cNvSpPr>
            <p:nvPr/>
          </p:nvSpPr>
          <p:spPr bwMode="auto">
            <a:xfrm>
              <a:off x="6233339" y="4376958"/>
              <a:ext cx="1896702" cy="543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zh-CN" sz="1600" b="1" dirty="0">
                  <a:latin typeface="Times New Roman" panose="02020603050405020304" pitchFamily="18" charset="0"/>
                  <a:ea typeface="冬青黑体简体中文 W6" panose="020B0600000000000000"/>
                  <a:cs typeface="Times New Roman" panose="02020603050405020304" pitchFamily="18" charset="0"/>
                </a:rPr>
                <a:t>硫化镉 </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r>
                <a:rPr lang="en-US" altLang="zh-CN" sz="1600" b="1" dirty="0" err="1">
                  <a:latin typeface="Times New Roman" panose="02020603050405020304" pitchFamily="18" charset="0"/>
                  <a:ea typeface="冬青黑体简体中文 W6" panose="020B0600000000000000"/>
                  <a:cs typeface="Times New Roman" panose="02020603050405020304" pitchFamily="18" charset="0"/>
                </a:rPr>
                <a:t>CdS</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endParaRPr lang="zh-CN" altLang="en-US" sz="1600" b="1" dirty="0">
                <a:latin typeface="Times New Roman" panose="02020603050405020304" pitchFamily="18" charset="0"/>
                <a:ea typeface="冬青黑体简体中文 W6" panose="020B0600000000000000"/>
                <a:cs typeface="Times New Roman" panose="02020603050405020304" pitchFamily="18" charset="0"/>
              </a:endParaRPr>
            </a:p>
          </p:txBody>
        </p:sp>
      </p:grpSp>
      <p:grpSp>
        <p:nvGrpSpPr>
          <p:cNvPr id="36" name="组合 29"/>
          <p:cNvGrpSpPr>
            <a:grpSpLocks/>
          </p:cNvGrpSpPr>
          <p:nvPr/>
        </p:nvGrpSpPr>
        <p:grpSpPr bwMode="auto">
          <a:xfrm>
            <a:off x="11144246" y="3051100"/>
            <a:ext cx="803182" cy="593441"/>
            <a:chOff x="6233339" y="4340730"/>
            <a:chExt cx="1896702" cy="655274"/>
          </a:xfrm>
          <a:noFill/>
        </p:grpSpPr>
        <p:sp>
          <p:nvSpPr>
            <p:cNvPr id="37" name="圆角矩形 36"/>
            <p:cNvSpPr/>
            <p:nvPr/>
          </p:nvSpPr>
          <p:spPr>
            <a:xfrm>
              <a:off x="6233339" y="4340730"/>
              <a:ext cx="1774252" cy="655274"/>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latin typeface="Times New Roman" panose="02020603050405020304" pitchFamily="18" charset="0"/>
                <a:ea typeface="冬青黑体简体中文 W6" panose="020B0600000000000000"/>
                <a:cs typeface="Times New Roman" panose="02020603050405020304" pitchFamily="18" charset="0"/>
              </a:endParaRPr>
            </a:p>
          </p:txBody>
        </p:sp>
        <p:sp>
          <p:nvSpPr>
            <p:cNvPr id="38" name="TextBox 9"/>
            <p:cNvSpPr txBox="1">
              <a:spLocks noChangeArrowheads="1"/>
            </p:cNvSpPr>
            <p:nvPr/>
          </p:nvSpPr>
          <p:spPr bwMode="auto">
            <a:xfrm>
              <a:off x="6233339" y="4377384"/>
              <a:ext cx="1896702" cy="543752"/>
            </a:xfrm>
            <a:prstGeom prst="rect">
              <a:avLst/>
            </a:prstGeom>
            <a:grpFill/>
            <a:ln w="9525">
              <a:noFill/>
              <a:miter lim="800000"/>
              <a:headEnd/>
              <a:tailEnd/>
            </a:ln>
          </p:spPr>
          <p:txBody>
            <a:bodyPr lIns="0" tIns="0" rIns="0" bIns="0">
              <a:spAutoFit/>
            </a:bodyPr>
            <a:lstStyle/>
            <a:p>
              <a:pPr algn="ctr" defTabSz="609539" eaLnBrk="1" hangingPunct="1">
                <a:defRPr/>
              </a:pPr>
              <a:r>
                <a:rPr lang="zh-CN" altLang="en-US" sz="1600" b="1" dirty="0">
                  <a:latin typeface="Times New Roman" panose="02020603050405020304" pitchFamily="18" charset="0"/>
                  <a:ea typeface="冬青黑体简体中文 W6" panose="020B0600000000000000"/>
                  <a:cs typeface="Times New Roman" panose="02020603050405020304" pitchFamily="18" charset="0"/>
                </a:rPr>
                <a:t>硒化镉 </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r>
                <a:rPr lang="en-US" altLang="zh-CN" sz="1600" b="1" dirty="0" err="1">
                  <a:latin typeface="Times New Roman" panose="02020603050405020304" pitchFamily="18" charset="0"/>
                  <a:ea typeface="冬青黑体简体中文 W6" panose="020B0600000000000000"/>
                  <a:cs typeface="Times New Roman" panose="02020603050405020304" pitchFamily="18" charset="0"/>
                </a:rPr>
                <a:t>CdSe</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endParaRPr lang="zh-CN" altLang="en-US" sz="1600" b="1" dirty="0">
                <a:latin typeface="Times New Roman" panose="02020603050405020304" pitchFamily="18" charset="0"/>
                <a:ea typeface="冬青黑体简体中文 W6" panose="020B0600000000000000"/>
                <a:cs typeface="Times New Roman" panose="02020603050405020304" pitchFamily="18" charset="0"/>
              </a:endParaRPr>
            </a:p>
          </p:txBody>
        </p:sp>
      </p:grpSp>
      <p:grpSp>
        <p:nvGrpSpPr>
          <p:cNvPr id="39" name="组合 29"/>
          <p:cNvGrpSpPr>
            <a:grpSpLocks/>
          </p:cNvGrpSpPr>
          <p:nvPr/>
        </p:nvGrpSpPr>
        <p:grpSpPr bwMode="auto">
          <a:xfrm>
            <a:off x="11674157" y="4110249"/>
            <a:ext cx="719766" cy="584200"/>
            <a:chOff x="6233341" y="4340729"/>
            <a:chExt cx="1699542" cy="645069"/>
          </a:xfrm>
        </p:grpSpPr>
        <p:sp>
          <p:nvSpPr>
            <p:cNvPr id="40" name="圆角矩形 39"/>
            <p:cNvSpPr/>
            <p:nvPr/>
          </p:nvSpPr>
          <p:spPr>
            <a:xfrm>
              <a:off x="6233341" y="4340729"/>
              <a:ext cx="1699542" cy="645069"/>
            </a:xfrm>
            <a:prstGeom prst="roundRect">
              <a:avLst/>
            </a:prstGeom>
            <a:gradFill>
              <a:gsLst>
                <a:gs pos="0">
                  <a:srgbClr val="CCCCFF"/>
                </a:gs>
                <a:gs pos="17999">
                  <a:srgbClr val="99CCFF"/>
                </a:gs>
                <a:gs pos="36000">
                  <a:srgbClr val="9966FF"/>
                </a:gs>
                <a:gs pos="61000">
                  <a:srgbClr val="CC99FF"/>
                </a:gs>
                <a:gs pos="82001">
                  <a:srgbClr val="99CCFF"/>
                </a:gs>
                <a:gs pos="100000">
                  <a:srgbClr val="CCCCF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latin typeface="Times New Roman" panose="02020603050405020304" pitchFamily="18" charset="0"/>
                <a:ea typeface="冬青黑体简体中文 W6" panose="020B0600000000000000"/>
                <a:cs typeface="Times New Roman" panose="02020603050405020304" pitchFamily="18" charset="0"/>
              </a:endParaRPr>
            </a:p>
          </p:txBody>
        </p:sp>
        <p:sp>
          <p:nvSpPr>
            <p:cNvPr id="41" name="TextBox 9"/>
            <p:cNvSpPr txBox="1">
              <a:spLocks noChangeArrowheads="1"/>
            </p:cNvSpPr>
            <p:nvPr/>
          </p:nvSpPr>
          <p:spPr bwMode="auto">
            <a:xfrm>
              <a:off x="6233341" y="4376956"/>
              <a:ext cx="1645125" cy="54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Times New Roman" panose="02020603050405020304" pitchFamily="18" charset="0"/>
                  <a:ea typeface="冬青黑体简体中文 W6" panose="020B0600000000000000"/>
                  <a:cs typeface="Times New Roman" panose="02020603050405020304" pitchFamily="18" charset="0"/>
                </a:rPr>
                <a:t>硫化铅 </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r>
                <a:rPr lang="en-US" altLang="zh-CN" sz="1600" b="1" dirty="0" err="1">
                  <a:latin typeface="Times New Roman" panose="02020603050405020304" pitchFamily="18" charset="0"/>
                  <a:ea typeface="冬青黑体简体中文 W6" panose="020B0600000000000000"/>
                  <a:cs typeface="Times New Roman" panose="02020603050405020304" pitchFamily="18" charset="0"/>
                </a:rPr>
                <a:t>PbS</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endParaRPr lang="zh-CN" altLang="en-US" sz="1600" b="1" dirty="0">
                <a:latin typeface="Times New Roman" panose="02020603050405020304" pitchFamily="18" charset="0"/>
                <a:ea typeface="冬青黑体简体中文 W6" panose="020B0600000000000000"/>
                <a:cs typeface="Times New Roman" panose="02020603050405020304" pitchFamily="18" charset="0"/>
              </a:endParaRPr>
            </a:p>
          </p:txBody>
        </p:sp>
      </p:grpSp>
      <p:grpSp>
        <p:nvGrpSpPr>
          <p:cNvPr id="42" name="组合 29"/>
          <p:cNvGrpSpPr>
            <a:grpSpLocks/>
          </p:cNvGrpSpPr>
          <p:nvPr/>
        </p:nvGrpSpPr>
        <p:grpSpPr bwMode="auto">
          <a:xfrm>
            <a:off x="9075203" y="5333664"/>
            <a:ext cx="536575" cy="584200"/>
            <a:chOff x="6233339" y="4340729"/>
            <a:chExt cx="1501289" cy="645069"/>
          </a:xfrm>
        </p:grpSpPr>
        <p:sp>
          <p:nvSpPr>
            <p:cNvPr id="43" name="圆角矩形 42"/>
            <p:cNvSpPr/>
            <p:nvPr/>
          </p:nvSpPr>
          <p:spPr>
            <a:xfrm>
              <a:off x="6233339" y="4340729"/>
              <a:ext cx="1501289" cy="645069"/>
            </a:xfrm>
            <a:prstGeom prst="round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latin typeface="Times New Roman" panose="02020603050405020304" pitchFamily="18" charset="0"/>
                <a:ea typeface="冬青黑体简体中文 W6" panose="020B0600000000000000"/>
                <a:cs typeface="Times New Roman" panose="02020603050405020304" pitchFamily="18" charset="0"/>
              </a:endParaRPr>
            </a:p>
          </p:txBody>
        </p:sp>
        <p:sp>
          <p:nvSpPr>
            <p:cNvPr id="44" name="TextBox 9"/>
            <p:cNvSpPr txBox="1">
              <a:spLocks noChangeArrowheads="1"/>
            </p:cNvSpPr>
            <p:nvPr/>
          </p:nvSpPr>
          <p:spPr bwMode="auto">
            <a:xfrm>
              <a:off x="6233339" y="4376956"/>
              <a:ext cx="1495356" cy="543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Times New Roman" panose="02020603050405020304" pitchFamily="18" charset="0"/>
                  <a:ea typeface="冬青黑体简体中文 W6" panose="020B0600000000000000"/>
                  <a:cs typeface="Times New Roman" panose="02020603050405020304" pitchFamily="18" charset="0"/>
                </a:rPr>
                <a:t>锗 </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(Ge)</a:t>
              </a:r>
              <a:endParaRPr lang="zh-CN" altLang="en-US" sz="1600" b="1" dirty="0">
                <a:latin typeface="Times New Roman" panose="02020603050405020304" pitchFamily="18" charset="0"/>
                <a:ea typeface="冬青黑体简体中文 W6" panose="020B0600000000000000"/>
                <a:cs typeface="Times New Roman" panose="02020603050405020304" pitchFamily="18" charset="0"/>
              </a:endParaRPr>
            </a:p>
          </p:txBody>
        </p:sp>
      </p:grpSp>
      <p:grpSp>
        <p:nvGrpSpPr>
          <p:cNvPr id="45" name="组合 29"/>
          <p:cNvGrpSpPr>
            <a:grpSpLocks/>
          </p:cNvGrpSpPr>
          <p:nvPr/>
        </p:nvGrpSpPr>
        <p:grpSpPr bwMode="auto">
          <a:xfrm>
            <a:off x="10040910" y="5654305"/>
            <a:ext cx="901131" cy="636633"/>
            <a:chOff x="6233339" y="4340728"/>
            <a:chExt cx="1775541" cy="886982"/>
          </a:xfr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p:grpSpPr>
        <p:sp>
          <p:nvSpPr>
            <p:cNvPr id="46" name="圆角矩形 45"/>
            <p:cNvSpPr/>
            <p:nvPr/>
          </p:nvSpPr>
          <p:spPr>
            <a:xfrm>
              <a:off x="6233339" y="4340728"/>
              <a:ext cx="1775541" cy="88698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latin typeface="Times New Roman" panose="02020603050405020304" pitchFamily="18" charset="0"/>
                <a:ea typeface="冬青黑体简体中文 W6" panose="020B0600000000000000"/>
                <a:cs typeface="Times New Roman" panose="02020603050405020304" pitchFamily="18" charset="0"/>
              </a:endParaRPr>
            </a:p>
          </p:txBody>
        </p:sp>
        <p:sp>
          <p:nvSpPr>
            <p:cNvPr id="47" name="TextBox 9"/>
            <p:cNvSpPr txBox="1">
              <a:spLocks noChangeArrowheads="1"/>
            </p:cNvSpPr>
            <p:nvPr/>
          </p:nvSpPr>
          <p:spPr bwMode="auto">
            <a:xfrm>
              <a:off x="6233339" y="4474107"/>
              <a:ext cx="1775539" cy="54375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Times New Roman" panose="02020603050405020304" pitchFamily="18" charset="0"/>
                  <a:ea typeface="冬青黑体简体中文 W6" panose="020B0600000000000000"/>
                  <a:cs typeface="Times New Roman" panose="02020603050405020304" pitchFamily="18" charset="0"/>
                </a:rPr>
                <a:t>碲镉汞 </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r>
                <a:rPr lang="en-US" altLang="zh-CN" sz="1600" b="1" dirty="0" err="1">
                  <a:latin typeface="Times New Roman" panose="02020603050405020304" pitchFamily="18" charset="0"/>
                  <a:ea typeface="冬青黑体简体中文 W6" panose="020B0600000000000000"/>
                  <a:cs typeface="Times New Roman" panose="02020603050405020304" pitchFamily="18" charset="0"/>
                </a:rPr>
                <a:t>HgCdTe</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endParaRPr lang="zh-CN" altLang="en-US" sz="1600" b="1" dirty="0">
                <a:latin typeface="Times New Roman" panose="02020603050405020304" pitchFamily="18" charset="0"/>
                <a:ea typeface="冬青黑体简体中文 W6" panose="020B0600000000000000"/>
                <a:cs typeface="Times New Roman" panose="02020603050405020304" pitchFamily="18" charset="0"/>
              </a:endParaRPr>
            </a:p>
          </p:txBody>
        </p:sp>
      </p:grpSp>
      <p:grpSp>
        <p:nvGrpSpPr>
          <p:cNvPr id="48" name="组合 29"/>
          <p:cNvGrpSpPr>
            <a:grpSpLocks/>
          </p:cNvGrpSpPr>
          <p:nvPr/>
        </p:nvGrpSpPr>
        <p:grpSpPr bwMode="auto">
          <a:xfrm>
            <a:off x="11116739" y="5180826"/>
            <a:ext cx="803275" cy="584200"/>
            <a:chOff x="6233339" y="4340729"/>
            <a:chExt cx="1896702" cy="645069"/>
          </a:xfrm>
        </p:grpSpPr>
        <p:sp>
          <p:nvSpPr>
            <p:cNvPr id="49" name="圆角矩形 48"/>
            <p:cNvSpPr/>
            <p:nvPr/>
          </p:nvSpPr>
          <p:spPr>
            <a:xfrm>
              <a:off x="6233339" y="4340729"/>
              <a:ext cx="1773003" cy="645069"/>
            </a:xfrm>
            <a:prstGeom prst="roundRect">
              <a:avLst/>
            </a:prstGeom>
            <a:gradFill>
              <a:gsLst>
                <a:gs pos="0">
                  <a:srgbClr val="DDEBCF"/>
                </a:gs>
                <a:gs pos="50000">
                  <a:srgbClr val="9CB86E"/>
                </a:gs>
                <a:gs pos="100000">
                  <a:srgbClr val="156B1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latin typeface="Times New Roman" panose="02020603050405020304" pitchFamily="18" charset="0"/>
                <a:ea typeface="冬青黑体简体中文 W6" panose="020B0600000000000000"/>
                <a:cs typeface="Times New Roman" panose="02020603050405020304" pitchFamily="18" charset="0"/>
              </a:endParaRPr>
            </a:p>
          </p:txBody>
        </p:sp>
        <p:sp>
          <p:nvSpPr>
            <p:cNvPr id="50" name="TextBox 9"/>
            <p:cNvSpPr txBox="1">
              <a:spLocks noChangeArrowheads="1"/>
            </p:cNvSpPr>
            <p:nvPr/>
          </p:nvSpPr>
          <p:spPr bwMode="auto">
            <a:xfrm>
              <a:off x="6233339" y="4376956"/>
              <a:ext cx="1896702" cy="543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Times New Roman" panose="02020603050405020304" pitchFamily="18" charset="0"/>
                  <a:ea typeface="冬青黑体简体中文 W6" panose="020B0600000000000000"/>
                  <a:cs typeface="Times New Roman" panose="02020603050405020304" pitchFamily="18" charset="0"/>
                </a:rPr>
                <a:t>硒化铅 </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r>
                <a:rPr lang="en-US" altLang="zh-CN" sz="1600" b="1" dirty="0" err="1">
                  <a:latin typeface="Times New Roman" panose="02020603050405020304" pitchFamily="18" charset="0"/>
                  <a:ea typeface="冬青黑体简体中文 W6" panose="020B0600000000000000"/>
                  <a:cs typeface="Times New Roman" panose="02020603050405020304" pitchFamily="18" charset="0"/>
                </a:rPr>
                <a:t>PbSe</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endParaRPr lang="zh-CN" altLang="en-US" sz="1600" b="1" dirty="0">
                <a:latin typeface="Times New Roman" panose="02020603050405020304" pitchFamily="18" charset="0"/>
                <a:ea typeface="冬青黑体简体中文 W6" panose="020B0600000000000000"/>
                <a:cs typeface="Times New Roman" panose="02020603050405020304" pitchFamily="18" charset="0"/>
              </a:endParaRPr>
            </a:p>
          </p:txBody>
        </p:sp>
      </p:grpSp>
      <p:grpSp>
        <p:nvGrpSpPr>
          <p:cNvPr id="57" name="组合 56"/>
          <p:cNvGrpSpPr/>
          <p:nvPr/>
        </p:nvGrpSpPr>
        <p:grpSpPr>
          <a:xfrm>
            <a:off x="8075040" y="2203148"/>
            <a:ext cx="4612260" cy="4521502"/>
            <a:chOff x="8075040" y="2203148"/>
            <a:chExt cx="4612260" cy="4521502"/>
          </a:xfrm>
        </p:grpSpPr>
        <p:sp>
          <p:nvSpPr>
            <p:cNvPr id="14" name="AutoShape 12"/>
            <p:cNvSpPr>
              <a:spLocks noChangeArrowheads="1"/>
            </p:cNvSpPr>
            <p:nvPr/>
          </p:nvSpPr>
          <p:spPr bwMode="auto">
            <a:xfrm rot="10800000" flipH="1">
              <a:off x="9739611" y="2779732"/>
              <a:ext cx="1285875" cy="1284287"/>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15" name="AutoShape 12"/>
            <p:cNvSpPr>
              <a:spLocks noChangeArrowheads="1"/>
            </p:cNvSpPr>
            <p:nvPr/>
          </p:nvSpPr>
          <p:spPr bwMode="auto">
            <a:xfrm rot="13529412" flipH="1">
              <a:off x="10486530" y="3039288"/>
              <a:ext cx="1285875" cy="1284287"/>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18" name="AutoShape 12"/>
            <p:cNvSpPr>
              <a:spLocks noChangeArrowheads="1"/>
            </p:cNvSpPr>
            <p:nvPr/>
          </p:nvSpPr>
          <p:spPr bwMode="auto">
            <a:xfrm rot="4971893" flipH="1">
              <a:off x="8741074" y="3846532"/>
              <a:ext cx="1284287" cy="1284287"/>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19" name="AutoShape 12"/>
            <p:cNvSpPr>
              <a:spLocks noChangeArrowheads="1"/>
            </p:cNvSpPr>
            <p:nvPr/>
          </p:nvSpPr>
          <p:spPr bwMode="auto">
            <a:xfrm rot="2349091" flipH="1">
              <a:off x="9120486" y="4495819"/>
              <a:ext cx="1282700" cy="1282700"/>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20" name="AutoShape 12"/>
            <p:cNvSpPr>
              <a:spLocks noChangeArrowheads="1"/>
            </p:cNvSpPr>
            <p:nvPr/>
          </p:nvSpPr>
          <p:spPr bwMode="auto">
            <a:xfrm flipH="1">
              <a:off x="9807874" y="4768869"/>
              <a:ext cx="1284287" cy="1284288"/>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21" name="AutoShape 12"/>
            <p:cNvSpPr>
              <a:spLocks noChangeArrowheads="1"/>
            </p:cNvSpPr>
            <p:nvPr/>
          </p:nvSpPr>
          <p:spPr bwMode="auto">
            <a:xfrm rot="18919140" flipH="1">
              <a:off x="10511136" y="4524394"/>
              <a:ext cx="1285875" cy="1284288"/>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22" name="AutoShape 12"/>
            <p:cNvSpPr>
              <a:spLocks noChangeArrowheads="1"/>
            </p:cNvSpPr>
            <p:nvPr/>
          </p:nvSpPr>
          <p:spPr bwMode="auto">
            <a:xfrm rot="16200000" flipH="1">
              <a:off x="10804823" y="3748107"/>
              <a:ext cx="1285875" cy="1282700"/>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23" name="AutoShape 12"/>
            <p:cNvSpPr>
              <a:spLocks noChangeArrowheads="1"/>
            </p:cNvSpPr>
            <p:nvPr/>
          </p:nvSpPr>
          <p:spPr bwMode="auto">
            <a:xfrm rot="7801550" flipH="1">
              <a:off x="9064924" y="3149619"/>
              <a:ext cx="1284288" cy="1284287"/>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24" name="Oval 19"/>
            <p:cNvSpPr>
              <a:spLocks noChangeArrowheads="1"/>
            </p:cNvSpPr>
            <p:nvPr/>
          </p:nvSpPr>
          <p:spPr bwMode="auto">
            <a:xfrm>
              <a:off x="9649124" y="3673494"/>
              <a:ext cx="1495425" cy="1454150"/>
            </a:xfrm>
            <a:prstGeom prst="ellipse">
              <a:avLst/>
            </a:prstGeom>
            <a:solidFill>
              <a:srgbClr val="FFFF00">
                <a:alpha val="25098"/>
              </a:srgbClr>
            </a:solidFill>
            <a:ln w="12700">
              <a:solidFill>
                <a:srgbClr val="FFFF00"/>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25" name="Oval 20"/>
            <p:cNvSpPr>
              <a:spLocks noChangeArrowheads="1"/>
            </p:cNvSpPr>
            <p:nvPr/>
          </p:nvSpPr>
          <p:spPr bwMode="auto">
            <a:xfrm>
              <a:off x="9707861" y="3722707"/>
              <a:ext cx="1373188" cy="1336675"/>
            </a:xfrm>
            <a:prstGeom prst="ellipse">
              <a:avLst/>
            </a:prstGeom>
            <a:solidFill>
              <a:srgbClr val="FFFF66">
                <a:alpha val="50195"/>
              </a:srgbClr>
            </a:solidFill>
            <a:ln w="57150">
              <a:solidFill>
                <a:srgbClr val="FFFF66"/>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26" name="Oval 48"/>
            <p:cNvSpPr>
              <a:spLocks noChangeAspect="1" noChangeArrowheads="1"/>
            </p:cNvSpPr>
            <p:nvPr/>
          </p:nvSpPr>
          <p:spPr bwMode="auto">
            <a:xfrm>
              <a:off x="9806286" y="3844944"/>
              <a:ext cx="1158875" cy="1123950"/>
            </a:xfrm>
            <a:prstGeom prst="ellipse">
              <a:avLst/>
            </a:prstGeom>
            <a:solidFill>
              <a:schemeClr val="accent6">
                <a:lumMod val="20000"/>
                <a:lumOff val="80000"/>
              </a:schemeClr>
            </a:solidFill>
            <a:ln w="9525">
              <a:noFill/>
              <a:round/>
              <a:headEnd/>
              <a:tailEnd/>
            </a:ln>
          </p:spPr>
          <p:txBody>
            <a:bodyPr wrap="none" lIns="60954" tIns="30477" rIns="60954" bIns="30477" anchor="ctr"/>
            <a:lstStyle/>
            <a:p>
              <a:pPr defTabSz="609539">
                <a:defRPr/>
              </a:pPr>
              <a:endParaRPr lang="zh-CN" altLang="en-US" sz="1500" b="1" dirty="0">
                <a:latin typeface="Times New Roman" panose="02020603050405020304" pitchFamily="18" charset="0"/>
                <a:ea typeface="冬青黑体简体中文 W6" panose="020B0600000000000000"/>
                <a:cs typeface="Times New Roman" panose="02020603050405020304" pitchFamily="18" charset="0"/>
              </a:endParaRPr>
            </a:p>
          </p:txBody>
        </p:sp>
        <p:grpSp>
          <p:nvGrpSpPr>
            <p:cNvPr id="27" name="组合 67"/>
            <p:cNvGrpSpPr>
              <a:grpSpLocks/>
            </p:cNvGrpSpPr>
            <p:nvPr/>
          </p:nvGrpSpPr>
          <p:grpSpPr bwMode="auto">
            <a:xfrm>
              <a:off x="9945986" y="3992582"/>
              <a:ext cx="876300" cy="817562"/>
              <a:chOff x="3728509" y="2516175"/>
              <a:chExt cx="1314468" cy="1226837"/>
            </a:xfrm>
          </p:grpSpPr>
          <p:sp>
            <p:nvSpPr>
              <p:cNvPr id="28" name="Oval 49"/>
              <p:cNvSpPr>
                <a:spLocks noChangeAspect="1" noChangeArrowheads="1"/>
              </p:cNvSpPr>
              <p:nvPr/>
            </p:nvSpPr>
            <p:spPr bwMode="auto">
              <a:xfrm>
                <a:off x="3745971" y="2516175"/>
                <a:ext cx="1297005" cy="1226837"/>
              </a:xfrm>
              <a:prstGeom prst="ellipse">
                <a:avLst/>
              </a:pr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latinLnBrk="1">
                  <a:lnSpc>
                    <a:spcPct val="100000"/>
                  </a:lnSpc>
                  <a:spcBef>
                    <a:spcPct val="0"/>
                  </a:spcBef>
                  <a:buFontTx/>
                  <a:buNone/>
                </a:pPr>
                <a:endParaRPr lang="zh-CN" altLang="en-US" sz="1100" b="1">
                  <a:latin typeface="Times New Roman" panose="02020603050405020304" pitchFamily="18" charset="0"/>
                  <a:ea typeface="冬青黑体简体中文 W6" panose="020B0600000000000000"/>
                  <a:cs typeface="Times New Roman" panose="02020603050405020304" pitchFamily="18" charset="0"/>
                </a:endParaRPr>
              </a:p>
            </p:txBody>
          </p:sp>
          <p:sp>
            <p:nvSpPr>
              <p:cNvPr id="29" name="TextBox 2"/>
              <p:cNvSpPr txBox="1">
                <a:spLocks noChangeArrowheads="1"/>
              </p:cNvSpPr>
              <p:nvPr/>
            </p:nvSpPr>
            <p:spPr bwMode="auto">
              <a:xfrm>
                <a:off x="3728509" y="2625688"/>
                <a:ext cx="1314468" cy="9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b="1" dirty="0" smtClean="0">
                    <a:solidFill>
                      <a:schemeClr val="bg1"/>
                    </a:solidFill>
                    <a:latin typeface="Times New Roman" panose="02020603050405020304" pitchFamily="18" charset="0"/>
                    <a:ea typeface="冬青黑体简体中文 W6" panose="020B0600000000000000"/>
                    <a:cs typeface="Times New Roman" panose="02020603050405020304" pitchFamily="18" charset="0"/>
                  </a:rPr>
                  <a:t>光敏</a:t>
                </a:r>
                <a:endParaRPr lang="en-US" altLang="zh-CN" b="1" dirty="0" smtClean="0">
                  <a:solidFill>
                    <a:schemeClr val="bg1"/>
                  </a:solidFill>
                  <a:latin typeface="Times New Roman" panose="02020603050405020304" pitchFamily="18" charset="0"/>
                  <a:ea typeface="冬青黑体简体中文 W6" panose="020B0600000000000000"/>
                  <a:cs typeface="Times New Roman" panose="02020603050405020304" pitchFamily="18" charset="0"/>
                </a:endParaRPr>
              </a:p>
              <a:p>
                <a:pPr algn="ctr" eaLnBrk="1" hangingPunct="1">
                  <a:lnSpc>
                    <a:spcPct val="100000"/>
                  </a:lnSpc>
                  <a:spcBef>
                    <a:spcPct val="0"/>
                  </a:spcBef>
                  <a:buFontTx/>
                  <a:buNone/>
                </a:pPr>
                <a:r>
                  <a:rPr lang="zh-CN" altLang="en-US" b="1" dirty="0" smtClean="0">
                    <a:solidFill>
                      <a:schemeClr val="bg1"/>
                    </a:solidFill>
                    <a:latin typeface="Times New Roman" panose="02020603050405020304" pitchFamily="18" charset="0"/>
                    <a:ea typeface="冬青黑体简体中文 W6" panose="020B0600000000000000"/>
                    <a:cs typeface="Times New Roman" panose="02020603050405020304" pitchFamily="18" charset="0"/>
                  </a:rPr>
                  <a:t>材料</a:t>
                </a:r>
                <a:endParaRPr lang="zh-CN" altLang="en-US" b="1" dirty="0">
                  <a:solidFill>
                    <a:schemeClr val="bg1"/>
                  </a:solidFill>
                  <a:latin typeface="Times New Roman" panose="02020603050405020304" pitchFamily="18" charset="0"/>
                  <a:ea typeface="冬青黑体简体中文 W6" panose="020B0600000000000000"/>
                  <a:cs typeface="Times New Roman" panose="02020603050405020304" pitchFamily="18" charset="0"/>
                </a:endParaRPr>
              </a:p>
            </p:txBody>
          </p:sp>
        </p:grpSp>
        <p:sp>
          <p:nvSpPr>
            <p:cNvPr id="51" name="Oval 2"/>
            <p:cNvSpPr>
              <a:spLocks noChangeAspect="1" noChangeArrowheads="1"/>
            </p:cNvSpPr>
            <p:nvPr/>
          </p:nvSpPr>
          <p:spPr bwMode="auto">
            <a:xfrm>
              <a:off x="8075040" y="2203148"/>
              <a:ext cx="4612260" cy="4521502"/>
            </a:xfrm>
            <a:prstGeom prst="ellipse">
              <a:avLst/>
            </a:prstGeom>
            <a:noFill/>
            <a:ln w="28575" cap="rnd">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prstDash val="dash"/>
              <a:round/>
              <a:headEnd/>
              <a:tailEnd/>
            </a:ln>
            <a:extLst>
              <a:ext uri="{909E8E84-426E-40DD-AFC4-6F175D3DCCD1}">
                <a14:hiddenFill xmlns:a14="http://schemas.microsoft.com/office/drawing/2010/main">
                  <a:solidFill>
                    <a:srgbClr val="FFFFFF"/>
                  </a:solidFill>
                </a14:hiddenFill>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Times New Roman" panose="02020603050405020304" pitchFamily="18" charset="0"/>
                <a:ea typeface="冬青黑体简体中文 W6" panose="020B0600000000000000"/>
                <a:cs typeface="Times New Roman" panose="02020603050405020304" pitchFamily="18" charset="0"/>
              </a:endParaRPr>
            </a:p>
          </p:txBody>
        </p:sp>
      </p:grpSp>
      <p:grpSp>
        <p:nvGrpSpPr>
          <p:cNvPr id="52" name="组合 29"/>
          <p:cNvGrpSpPr>
            <a:grpSpLocks/>
          </p:cNvGrpSpPr>
          <p:nvPr/>
        </p:nvGrpSpPr>
        <p:grpSpPr bwMode="auto">
          <a:xfrm>
            <a:off x="8789640" y="3146748"/>
            <a:ext cx="803275" cy="584200"/>
            <a:chOff x="6233339" y="4340729"/>
            <a:chExt cx="1896702" cy="645078"/>
          </a:xfrm>
        </p:grpSpPr>
        <p:sp>
          <p:nvSpPr>
            <p:cNvPr id="53" name="圆角矩形 52"/>
            <p:cNvSpPr/>
            <p:nvPr/>
          </p:nvSpPr>
          <p:spPr>
            <a:xfrm>
              <a:off x="6233339" y="4340729"/>
              <a:ext cx="1773005" cy="645078"/>
            </a:xfrm>
            <a:prstGeom prst="roundRect">
              <a:avLst/>
            </a:prstGeom>
            <a:gradFill>
              <a:gsLst>
                <a:gs pos="0">
                  <a:srgbClr val="FF3399"/>
                </a:gs>
                <a:gs pos="25000">
                  <a:srgbClr val="FF6633"/>
                </a:gs>
                <a:gs pos="50000">
                  <a:srgbClr val="FFFF00"/>
                </a:gs>
                <a:gs pos="75000">
                  <a:srgbClr val="01A78F"/>
                </a:gs>
                <a:gs pos="100000">
                  <a:srgbClr val="3366F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latin typeface="Times New Roman" panose="02020603050405020304" pitchFamily="18" charset="0"/>
                <a:ea typeface="冬青黑体简体中文 W6" panose="020B0600000000000000"/>
                <a:cs typeface="Times New Roman" panose="02020603050405020304" pitchFamily="18" charset="0"/>
              </a:endParaRPr>
            </a:p>
          </p:txBody>
        </p:sp>
        <p:sp>
          <p:nvSpPr>
            <p:cNvPr id="54" name="TextBox 9"/>
            <p:cNvSpPr txBox="1">
              <a:spLocks noChangeArrowheads="1"/>
            </p:cNvSpPr>
            <p:nvPr/>
          </p:nvSpPr>
          <p:spPr bwMode="auto">
            <a:xfrm>
              <a:off x="6233339" y="4376955"/>
              <a:ext cx="1896702" cy="543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Times New Roman" panose="02020603050405020304" pitchFamily="18" charset="0"/>
                  <a:ea typeface="冬青黑体简体中文 W6" panose="020B0600000000000000"/>
                  <a:cs typeface="Times New Roman" panose="02020603050405020304" pitchFamily="18" charset="0"/>
                </a:rPr>
                <a:t>锑化铟 </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r>
                <a:rPr lang="en-US" altLang="zh-CN" sz="1600" b="1" dirty="0" err="1">
                  <a:latin typeface="Times New Roman" panose="02020603050405020304" pitchFamily="18" charset="0"/>
                  <a:ea typeface="冬青黑体简体中文 W6" panose="020B0600000000000000"/>
                  <a:cs typeface="Times New Roman" panose="02020603050405020304" pitchFamily="18" charset="0"/>
                </a:rPr>
                <a:t>InSb</a:t>
              </a:r>
              <a:r>
                <a:rPr lang="en-US" altLang="zh-CN" sz="1600" b="1" dirty="0">
                  <a:latin typeface="Times New Roman" panose="02020603050405020304" pitchFamily="18" charset="0"/>
                  <a:ea typeface="冬青黑体简体中文 W6" panose="020B0600000000000000"/>
                  <a:cs typeface="Times New Roman" panose="02020603050405020304" pitchFamily="18" charset="0"/>
                </a:rPr>
                <a:t>)</a:t>
              </a:r>
              <a:endParaRPr lang="zh-CN" altLang="en-US" sz="1600" b="1" dirty="0">
                <a:latin typeface="Times New Roman" panose="02020603050405020304" pitchFamily="18" charset="0"/>
                <a:ea typeface="冬青黑体简体中文 W6" panose="020B0600000000000000"/>
                <a:cs typeface="Times New Roman" panose="02020603050405020304" pitchFamily="18" charset="0"/>
              </a:endParaRPr>
            </a:p>
          </p:txBody>
        </p:sp>
      </p:grpSp>
    </p:spTree>
    <p:extLst>
      <p:ext uri="{BB962C8B-B14F-4D97-AF65-F5344CB8AC3E}">
        <p14:creationId xmlns:p14="http://schemas.microsoft.com/office/powerpoint/2010/main" val="106749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ox(in)">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wheel(1)">
                                      <p:cBhvr>
                                        <p:cTn id="27" dur="2000"/>
                                        <p:tgtEl>
                                          <p:spTgt spid="5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1"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additive="base">
                                        <p:cTn id="32" dur="500" fill="hold"/>
                                        <p:tgtEl>
                                          <p:spTgt spid="33"/>
                                        </p:tgtEl>
                                        <p:attrNameLst>
                                          <p:attrName>ppt_x</p:attrName>
                                        </p:attrNameLst>
                                      </p:cBhvr>
                                      <p:tavLst>
                                        <p:tav tm="0">
                                          <p:val>
                                            <p:strVal val="#ppt_x"/>
                                          </p:val>
                                        </p:tav>
                                        <p:tav tm="100000">
                                          <p:val>
                                            <p:strVal val="#ppt_x"/>
                                          </p:val>
                                        </p:tav>
                                      </p:tavLst>
                                    </p:anim>
                                    <p:anim calcmode="lin" valueType="num">
                                      <p:cBhvr additive="base">
                                        <p:cTn id="33" dur="500" fill="hold"/>
                                        <p:tgtEl>
                                          <p:spTgt spid="33"/>
                                        </p:tgtEl>
                                        <p:attrNameLst>
                                          <p:attrName>ppt_y</p:attrName>
                                        </p:attrNameLst>
                                      </p:cBhvr>
                                      <p:tavLst>
                                        <p:tav tm="0">
                                          <p:val>
                                            <p:strVal val="0-#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1" fill="hold" nodeType="clickEffect">
                                  <p:stCondLst>
                                    <p:cond delay="0"/>
                                  </p:stCondLst>
                                  <p:childTnLst>
                                    <p:set>
                                      <p:cBhvr>
                                        <p:cTn id="37" dur="1" fill="hold">
                                          <p:stCondLst>
                                            <p:cond delay="0"/>
                                          </p:stCondLst>
                                        </p:cTn>
                                        <p:tgtEl>
                                          <p:spTgt spid="36"/>
                                        </p:tgtEl>
                                        <p:attrNameLst>
                                          <p:attrName>style.visibility</p:attrName>
                                        </p:attrNameLst>
                                      </p:cBhvr>
                                      <p:to>
                                        <p:strVal val="visible"/>
                                      </p:to>
                                    </p:set>
                                    <p:anim calcmode="lin" valueType="num">
                                      <p:cBhvr additive="base">
                                        <p:cTn id="38" dur="500" fill="hold"/>
                                        <p:tgtEl>
                                          <p:spTgt spid="36"/>
                                        </p:tgtEl>
                                        <p:attrNameLst>
                                          <p:attrName>ppt_x</p:attrName>
                                        </p:attrNameLst>
                                      </p:cBhvr>
                                      <p:tavLst>
                                        <p:tav tm="0">
                                          <p:val>
                                            <p:strVal val="#ppt_x"/>
                                          </p:val>
                                        </p:tav>
                                        <p:tav tm="100000">
                                          <p:val>
                                            <p:strVal val="#ppt_x"/>
                                          </p:val>
                                        </p:tav>
                                      </p:tavLst>
                                    </p:anim>
                                    <p:anim calcmode="lin" valueType="num">
                                      <p:cBhvr additive="base">
                                        <p:cTn id="39" dur="500" fill="hold"/>
                                        <p:tgtEl>
                                          <p:spTgt spid="36"/>
                                        </p:tgtEl>
                                        <p:attrNameLst>
                                          <p:attrName>ppt_y</p:attrName>
                                        </p:attrNameLst>
                                      </p:cBhvr>
                                      <p:tavLst>
                                        <p:tav tm="0">
                                          <p:val>
                                            <p:strVal val="0-#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fill="hold"/>
                                        <p:tgtEl>
                                          <p:spTgt spid="39"/>
                                        </p:tgtEl>
                                        <p:attrNameLst>
                                          <p:attrName>ppt_x</p:attrName>
                                        </p:attrNameLst>
                                      </p:cBhvr>
                                      <p:tavLst>
                                        <p:tav tm="0">
                                          <p:val>
                                            <p:strVal val="1+#ppt_w/2"/>
                                          </p:val>
                                        </p:tav>
                                        <p:tav tm="100000">
                                          <p:val>
                                            <p:strVal val="#ppt_x"/>
                                          </p:val>
                                        </p:tav>
                                      </p:tavLst>
                                    </p:anim>
                                    <p:anim calcmode="lin" valueType="num">
                                      <p:cBhvr additive="base">
                                        <p:cTn id="45"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500" fill="hold"/>
                                        <p:tgtEl>
                                          <p:spTgt spid="48"/>
                                        </p:tgtEl>
                                        <p:attrNameLst>
                                          <p:attrName>ppt_x</p:attrName>
                                        </p:attrNameLst>
                                      </p:cBhvr>
                                      <p:tavLst>
                                        <p:tav tm="0">
                                          <p:val>
                                            <p:strVal val="#ppt_x"/>
                                          </p:val>
                                        </p:tav>
                                        <p:tav tm="100000">
                                          <p:val>
                                            <p:strVal val="#ppt_x"/>
                                          </p:val>
                                        </p:tav>
                                      </p:tavLst>
                                    </p:anim>
                                    <p:anim calcmode="lin" valueType="num">
                                      <p:cBhvr additive="base">
                                        <p:cTn id="51"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45"/>
                                        </p:tgtEl>
                                        <p:attrNameLst>
                                          <p:attrName>style.visibility</p:attrName>
                                        </p:attrNameLst>
                                      </p:cBhvr>
                                      <p:to>
                                        <p:strVal val="visible"/>
                                      </p:to>
                                    </p:set>
                                    <p:anim calcmode="lin" valueType="num">
                                      <p:cBhvr additive="base">
                                        <p:cTn id="56" dur="500" fill="hold"/>
                                        <p:tgtEl>
                                          <p:spTgt spid="45"/>
                                        </p:tgtEl>
                                        <p:attrNameLst>
                                          <p:attrName>ppt_x</p:attrName>
                                        </p:attrNameLst>
                                      </p:cBhvr>
                                      <p:tavLst>
                                        <p:tav tm="0">
                                          <p:val>
                                            <p:strVal val="#ppt_x"/>
                                          </p:val>
                                        </p:tav>
                                        <p:tav tm="100000">
                                          <p:val>
                                            <p:strVal val="#ppt_x"/>
                                          </p:val>
                                        </p:tav>
                                      </p:tavLst>
                                    </p:anim>
                                    <p:anim calcmode="lin" valueType="num">
                                      <p:cBhvr additive="base">
                                        <p:cTn id="57"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42"/>
                                        </p:tgtEl>
                                        <p:attrNameLst>
                                          <p:attrName>style.visibility</p:attrName>
                                        </p:attrNameLst>
                                      </p:cBhvr>
                                      <p:to>
                                        <p:strVal val="visible"/>
                                      </p:to>
                                    </p:set>
                                    <p:anim calcmode="lin" valueType="num">
                                      <p:cBhvr additive="base">
                                        <p:cTn id="62" dur="500" fill="hold"/>
                                        <p:tgtEl>
                                          <p:spTgt spid="42"/>
                                        </p:tgtEl>
                                        <p:attrNameLst>
                                          <p:attrName>ppt_x</p:attrName>
                                        </p:attrNameLst>
                                      </p:cBhvr>
                                      <p:tavLst>
                                        <p:tav tm="0">
                                          <p:val>
                                            <p:strVal val="#ppt_x"/>
                                          </p:val>
                                        </p:tav>
                                        <p:tav tm="100000">
                                          <p:val>
                                            <p:strVal val="#ppt_x"/>
                                          </p:val>
                                        </p:tav>
                                      </p:tavLst>
                                    </p:anim>
                                    <p:anim calcmode="lin" valueType="num">
                                      <p:cBhvr additive="base">
                                        <p:cTn id="63"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8" fill="hold" nodeType="clickEffect">
                                  <p:stCondLst>
                                    <p:cond delay="0"/>
                                  </p:stCondLst>
                                  <p:childTnLst>
                                    <p:set>
                                      <p:cBhvr>
                                        <p:cTn id="67" dur="1" fill="hold">
                                          <p:stCondLst>
                                            <p:cond delay="0"/>
                                          </p:stCondLst>
                                        </p:cTn>
                                        <p:tgtEl>
                                          <p:spTgt spid="30"/>
                                        </p:tgtEl>
                                        <p:attrNameLst>
                                          <p:attrName>style.visibility</p:attrName>
                                        </p:attrNameLst>
                                      </p:cBhvr>
                                      <p:to>
                                        <p:strVal val="visible"/>
                                      </p:to>
                                    </p:set>
                                    <p:anim calcmode="lin" valueType="num">
                                      <p:cBhvr additive="base">
                                        <p:cTn id="68" dur="500" fill="hold"/>
                                        <p:tgtEl>
                                          <p:spTgt spid="30"/>
                                        </p:tgtEl>
                                        <p:attrNameLst>
                                          <p:attrName>ppt_x</p:attrName>
                                        </p:attrNameLst>
                                      </p:cBhvr>
                                      <p:tavLst>
                                        <p:tav tm="0">
                                          <p:val>
                                            <p:strVal val="0-#ppt_w/2"/>
                                          </p:val>
                                        </p:tav>
                                        <p:tav tm="100000">
                                          <p:val>
                                            <p:strVal val="#ppt_x"/>
                                          </p:val>
                                        </p:tav>
                                      </p:tavLst>
                                    </p:anim>
                                    <p:anim calcmode="lin" valueType="num">
                                      <p:cBhvr additive="base">
                                        <p:cTn id="69"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1" fill="hold" nodeType="clickEffect">
                                  <p:stCondLst>
                                    <p:cond delay="0"/>
                                  </p:stCondLst>
                                  <p:childTnLst>
                                    <p:set>
                                      <p:cBhvr>
                                        <p:cTn id="73" dur="1" fill="hold">
                                          <p:stCondLst>
                                            <p:cond delay="0"/>
                                          </p:stCondLst>
                                        </p:cTn>
                                        <p:tgtEl>
                                          <p:spTgt spid="52"/>
                                        </p:tgtEl>
                                        <p:attrNameLst>
                                          <p:attrName>style.visibility</p:attrName>
                                        </p:attrNameLst>
                                      </p:cBhvr>
                                      <p:to>
                                        <p:strVal val="visible"/>
                                      </p:to>
                                    </p:set>
                                    <p:anim calcmode="lin" valueType="num">
                                      <p:cBhvr additive="base">
                                        <p:cTn id="74" dur="500" fill="hold"/>
                                        <p:tgtEl>
                                          <p:spTgt spid="52"/>
                                        </p:tgtEl>
                                        <p:attrNameLst>
                                          <p:attrName>ppt_x</p:attrName>
                                        </p:attrNameLst>
                                      </p:cBhvr>
                                      <p:tavLst>
                                        <p:tav tm="0">
                                          <p:val>
                                            <p:strVal val="#ppt_x"/>
                                          </p:val>
                                        </p:tav>
                                        <p:tav tm="100000">
                                          <p:val>
                                            <p:strVal val="#ppt_x"/>
                                          </p:val>
                                        </p:tav>
                                      </p:tavLst>
                                    </p:anim>
                                    <p:anim calcmode="lin" valueType="num">
                                      <p:cBhvr additive="base">
                                        <p:cTn id="75" dur="500" fill="hold"/>
                                        <p:tgtEl>
                                          <p:spTgt spid="5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2"/>
          <p:cNvSpPr>
            <a:spLocks noChangeArrowheads="1"/>
          </p:cNvSpPr>
          <p:nvPr/>
        </p:nvSpPr>
        <p:spPr bwMode="auto">
          <a:xfrm rot="14897276" flipH="1">
            <a:off x="6997700" y="2374902"/>
            <a:ext cx="2536825" cy="2120900"/>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vert="eaVert" wrap="none" anchor="ctr"/>
          <a:lstStyle/>
          <a:p>
            <a:pPr defTabSz="914400" eaLnBrk="0" hangingPunct="0"/>
            <a:endParaRPr lang="zh-CN" altLang="en-US" sz="2200" b="1">
              <a:ea typeface="楷体_GB2312" pitchFamily="49" charset="-122"/>
            </a:endParaRPr>
          </a:p>
        </p:txBody>
      </p:sp>
      <p:sp>
        <p:nvSpPr>
          <p:cNvPr id="3" name="AutoShape 12"/>
          <p:cNvSpPr>
            <a:spLocks noChangeArrowheads="1"/>
          </p:cNvSpPr>
          <p:nvPr/>
        </p:nvSpPr>
        <p:spPr bwMode="auto">
          <a:xfrm rot="10800000" flipH="1">
            <a:off x="5445125" y="1546227"/>
            <a:ext cx="2924175" cy="2154237"/>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rot="10800000" wrap="none" anchor="ctr"/>
          <a:lstStyle/>
          <a:p>
            <a:pPr defTabSz="914400" eaLnBrk="0" hangingPunct="0"/>
            <a:endParaRPr lang="zh-CN" altLang="en-US" sz="2200" b="1">
              <a:ea typeface="楷体_GB2312" pitchFamily="49" charset="-122"/>
            </a:endParaRPr>
          </a:p>
        </p:txBody>
      </p:sp>
      <p:sp>
        <p:nvSpPr>
          <p:cNvPr id="4" name="AutoShape 12"/>
          <p:cNvSpPr>
            <a:spLocks noChangeArrowheads="1"/>
          </p:cNvSpPr>
          <p:nvPr/>
        </p:nvSpPr>
        <p:spPr bwMode="auto">
          <a:xfrm rot="6250560" flipH="1">
            <a:off x="4175919" y="2499521"/>
            <a:ext cx="2727325" cy="2135187"/>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rot="10800000" vert="eaVert" wrap="none" anchor="ctr"/>
          <a:lstStyle/>
          <a:p>
            <a:pPr defTabSz="914400" eaLnBrk="0" hangingPunct="0"/>
            <a:endParaRPr lang="zh-CN" altLang="en-US" sz="2200" b="1">
              <a:ea typeface="楷体_GB2312" pitchFamily="49" charset="-122"/>
            </a:endParaRPr>
          </a:p>
        </p:txBody>
      </p:sp>
      <p:sp>
        <p:nvSpPr>
          <p:cNvPr id="5" name="AutoShape 12"/>
          <p:cNvSpPr>
            <a:spLocks noChangeArrowheads="1"/>
          </p:cNvSpPr>
          <p:nvPr/>
        </p:nvSpPr>
        <p:spPr bwMode="auto">
          <a:xfrm rot="18728198" flipH="1">
            <a:off x="6471444" y="3996533"/>
            <a:ext cx="2773363" cy="2117725"/>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vert="eaVert" wrap="none" anchor="ctr"/>
          <a:lstStyle/>
          <a:p>
            <a:pPr defTabSz="914400" eaLnBrk="0" hangingPunct="0"/>
            <a:endParaRPr lang="zh-CN" altLang="en-US" sz="2200" b="1">
              <a:ea typeface="楷体_GB2312" pitchFamily="49" charset="-122"/>
            </a:endParaRPr>
          </a:p>
        </p:txBody>
      </p:sp>
      <p:sp>
        <p:nvSpPr>
          <p:cNvPr id="6" name="AutoShape 12"/>
          <p:cNvSpPr>
            <a:spLocks noChangeArrowheads="1"/>
          </p:cNvSpPr>
          <p:nvPr/>
        </p:nvSpPr>
        <p:spPr bwMode="auto">
          <a:xfrm rot="1925912" flipH="1">
            <a:off x="4725988" y="4014789"/>
            <a:ext cx="2908300" cy="2227263"/>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wrap="none" anchor="ctr"/>
          <a:lstStyle/>
          <a:p>
            <a:pPr defTabSz="914400" eaLnBrk="0" hangingPunct="0"/>
            <a:endParaRPr lang="zh-CN" altLang="en-US" sz="2200" b="1">
              <a:ea typeface="楷体_GB2312" pitchFamily="49" charset="-122"/>
            </a:endParaRPr>
          </a:p>
        </p:txBody>
      </p:sp>
      <p:sp>
        <p:nvSpPr>
          <p:cNvPr id="7" name="Oval 19"/>
          <p:cNvSpPr>
            <a:spLocks noChangeArrowheads="1"/>
          </p:cNvSpPr>
          <p:nvPr/>
        </p:nvSpPr>
        <p:spPr bwMode="auto">
          <a:xfrm>
            <a:off x="5830888" y="2851152"/>
            <a:ext cx="2243137" cy="2181225"/>
          </a:xfrm>
          <a:prstGeom prst="ellipse">
            <a:avLst/>
          </a:prstGeom>
          <a:solidFill>
            <a:srgbClr val="FFFF00">
              <a:alpha val="25098"/>
            </a:srgbClr>
          </a:solidFill>
          <a:ln w="12700">
            <a:solidFill>
              <a:srgbClr val="FFFF00"/>
            </a:solidFill>
            <a:round/>
            <a:headEnd/>
            <a:tailEnd/>
          </a:ln>
        </p:spPr>
        <p:txBody>
          <a:bodyPr wrap="none" anchor="ctr"/>
          <a:lstStyle/>
          <a:p>
            <a:pPr defTabSz="914400" eaLnBrk="0" hangingPunct="0"/>
            <a:endParaRPr lang="zh-CN" altLang="en-US" sz="2200" b="1">
              <a:ea typeface="楷体_GB2312" pitchFamily="49" charset="-122"/>
            </a:endParaRPr>
          </a:p>
        </p:txBody>
      </p:sp>
      <p:sp>
        <p:nvSpPr>
          <p:cNvPr id="8" name="Oval 20"/>
          <p:cNvSpPr>
            <a:spLocks noChangeArrowheads="1"/>
          </p:cNvSpPr>
          <p:nvPr/>
        </p:nvSpPr>
        <p:spPr bwMode="auto">
          <a:xfrm>
            <a:off x="5919788" y="2924177"/>
            <a:ext cx="2058987" cy="2005012"/>
          </a:xfrm>
          <a:prstGeom prst="ellipse">
            <a:avLst/>
          </a:prstGeom>
          <a:solidFill>
            <a:srgbClr val="FFFF66">
              <a:alpha val="50195"/>
            </a:srgbClr>
          </a:solidFill>
          <a:ln w="57150">
            <a:solidFill>
              <a:srgbClr val="FFFF66"/>
            </a:solidFill>
            <a:round/>
            <a:headEnd/>
            <a:tailEnd/>
          </a:ln>
        </p:spPr>
        <p:txBody>
          <a:bodyPr wrap="none" anchor="ctr"/>
          <a:lstStyle/>
          <a:p>
            <a:pPr defTabSz="914400" eaLnBrk="0" hangingPunct="0"/>
            <a:endParaRPr lang="zh-CN" altLang="en-US" sz="2200" b="1">
              <a:ea typeface="楷体_GB2312" pitchFamily="49" charset="-122"/>
            </a:endParaRPr>
          </a:p>
        </p:txBody>
      </p:sp>
      <p:sp>
        <p:nvSpPr>
          <p:cNvPr id="9" name="Oval 48"/>
          <p:cNvSpPr>
            <a:spLocks noChangeAspect="1" noChangeArrowheads="1"/>
          </p:cNvSpPr>
          <p:nvPr/>
        </p:nvSpPr>
        <p:spPr bwMode="auto">
          <a:xfrm>
            <a:off x="6065838" y="3106739"/>
            <a:ext cx="1738312" cy="1687513"/>
          </a:xfrm>
          <a:prstGeom prst="ellipse">
            <a:avLst/>
          </a:prstGeom>
          <a:solidFill>
            <a:schemeClr val="accent6">
              <a:lumMod val="20000"/>
              <a:lumOff val="80000"/>
            </a:schemeClr>
          </a:solidFill>
          <a:ln w="9525">
            <a:noFill/>
            <a:round/>
            <a:headEnd/>
            <a:tailEnd/>
          </a:ln>
        </p:spPr>
        <p:txBody>
          <a:bodyPr wrap="none" anchor="ctr"/>
          <a:lstStyle/>
          <a:p>
            <a:pPr defTabSz="914400" eaLnBrk="0" hangingPunct="0">
              <a:defRPr/>
            </a:pPr>
            <a:endParaRPr lang="zh-CN" altLang="en-US" sz="2200" b="1">
              <a:ea typeface="楷体_GB2312" pitchFamily="49" charset="-122"/>
            </a:endParaRPr>
          </a:p>
        </p:txBody>
      </p:sp>
      <p:grpSp>
        <p:nvGrpSpPr>
          <p:cNvPr id="10" name="组合 67"/>
          <p:cNvGrpSpPr>
            <a:grpSpLocks/>
          </p:cNvGrpSpPr>
          <p:nvPr/>
        </p:nvGrpSpPr>
        <p:grpSpPr bwMode="auto">
          <a:xfrm>
            <a:off x="6165850" y="3179764"/>
            <a:ext cx="1546225" cy="1533525"/>
            <a:chOff x="3728508" y="2516175"/>
            <a:chExt cx="1314468" cy="1226837"/>
          </a:xfrm>
        </p:grpSpPr>
        <p:sp>
          <p:nvSpPr>
            <p:cNvPr id="11" name="Oval 49"/>
            <p:cNvSpPr>
              <a:spLocks noChangeAspect="1" noChangeArrowheads="1"/>
            </p:cNvSpPr>
            <p:nvPr/>
          </p:nvSpPr>
          <p:spPr bwMode="auto">
            <a:xfrm>
              <a:off x="3745971" y="2516175"/>
              <a:ext cx="1297005" cy="1226837"/>
            </a:xfrm>
            <a:prstGeom prst="ellipse">
              <a:avLst/>
            </a:prstGeom>
            <a:solidFill>
              <a:srgbClr val="0000FF"/>
            </a:solidFill>
            <a:ln w="9525">
              <a:noFill/>
              <a:round/>
              <a:headEnd/>
              <a:tailEnd/>
            </a:ln>
          </p:spPr>
          <p:txBody>
            <a:bodyPr wrap="none" anchor="ctr"/>
            <a:lstStyle/>
            <a:p>
              <a:pPr algn="ctr" defTabSz="914400" eaLnBrk="0" latinLnBrk="1" hangingPunct="0"/>
              <a:endParaRPr lang="zh-CN" altLang="en-US" sz="1600" b="1">
                <a:ea typeface="HY견고딕"/>
                <a:cs typeface="HY견고딕"/>
              </a:endParaRPr>
            </a:p>
          </p:txBody>
        </p:sp>
        <p:sp>
          <p:nvSpPr>
            <p:cNvPr id="12" name="TextBox 2"/>
            <p:cNvSpPr txBox="1">
              <a:spLocks noChangeArrowheads="1"/>
            </p:cNvSpPr>
            <p:nvPr/>
          </p:nvSpPr>
          <p:spPr bwMode="auto">
            <a:xfrm>
              <a:off x="3728508" y="2729538"/>
              <a:ext cx="1314468" cy="779791"/>
            </a:xfrm>
            <a:prstGeom prst="rect">
              <a:avLst/>
            </a:prstGeom>
            <a:noFill/>
            <a:ln w="9525">
              <a:noFill/>
              <a:miter lim="800000"/>
              <a:headEnd/>
              <a:tailEnd/>
            </a:ln>
          </p:spPr>
          <p:txBody>
            <a:bodyPr lIns="0" tIns="0" rIns="0" bIns="0">
              <a:spAutoFit/>
            </a:bodyPr>
            <a:lstStyle/>
            <a:p>
              <a:pPr algn="ctr" defTabSz="914400"/>
              <a:r>
                <a:rPr lang="zh-CN" altLang="en-US" sz="3200" b="1">
                  <a:solidFill>
                    <a:schemeClr val="bg1"/>
                  </a:solidFill>
                  <a:latin typeface="微软雅黑" pitchFamily="34" charset="-122"/>
                  <a:ea typeface="微软雅黑" pitchFamily="34" charset="-122"/>
                </a:rPr>
                <a:t>光电导特点</a:t>
              </a:r>
            </a:p>
          </p:txBody>
        </p:sp>
      </p:grpSp>
      <p:grpSp>
        <p:nvGrpSpPr>
          <p:cNvPr id="13" name="组合 29"/>
          <p:cNvGrpSpPr>
            <a:grpSpLocks/>
          </p:cNvGrpSpPr>
          <p:nvPr/>
        </p:nvGrpSpPr>
        <p:grpSpPr bwMode="auto">
          <a:xfrm>
            <a:off x="6088063" y="1536702"/>
            <a:ext cx="1911350" cy="842962"/>
            <a:chOff x="6098342" y="4340728"/>
            <a:chExt cx="2031698" cy="770971"/>
          </a:xfrm>
        </p:grpSpPr>
        <p:sp>
          <p:nvSpPr>
            <p:cNvPr id="14" name="圆角矩形 13"/>
            <p:cNvSpPr/>
            <p:nvPr/>
          </p:nvSpPr>
          <p:spPr>
            <a:xfrm>
              <a:off x="6098342" y="4340728"/>
              <a:ext cx="1984449" cy="770971"/>
            </a:xfrm>
            <a:prstGeom prst="roundRect">
              <a:avLst/>
            </a:prstGeom>
            <a:gradFill>
              <a:gsLst>
                <a:gs pos="0">
                  <a:srgbClr val="03D4A8"/>
                </a:gs>
                <a:gs pos="25000">
                  <a:srgbClr val="21D6E0"/>
                </a:gs>
                <a:gs pos="75000">
                  <a:srgbClr val="0087E6"/>
                </a:gs>
                <a:gs pos="100000">
                  <a:srgbClr val="005CB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15" name="TextBox 9"/>
            <p:cNvSpPr txBox="1">
              <a:spLocks noChangeArrowheads="1"/>
            </p:cNvSpPr>
            <p:nvPr/>
          </p:nvSpPr>
          <p:spPr bwMode="auto">
            <a:xfrm>
              <a:off x="6145591" y="4377026"/>
              <a:ext cx="1984449" cy="667885"/>
            </a:xfrm>
            <a:prstGeom prst="rect">
              <a:avLst/>
            </a:prstGeom>
            <a:noFill/>
            <a:ln w="9525">
              <a:noFill/>
              <a:miter lim="800000"/>
              <a:headEnd/>
              <a:tailEnd/>
            </a:ln>
          </p:spPr>
          <p:txBody>
            <a:bodyPr lIns="0" tIns="0" rIns="0" bIns="0">
              <a:spAutoFit/>
            </a:bodyPr>
            <a:lstStyle/>
            <a:p>
              <a:pPr algn="ctr" defTabSz="914400"/>
              <a:r>
                <a:rPr lang="zh-CN" altLang="en-US" sz="2400" b="1" dirty="0">
                  <a:latin typeface="微软雅黑" pitchFamily="34" charset="-122"/>
                  <a:ea typeface="微软雅黑" pitchFamily="34" charset="-122"/>
                  <a:cs typeface="Times New Roman" pitchFamily="18" charset="0"/>
                </a:rPr>
                <a:t>光谱响应</a:t>
              </a:r>
              <a:endParaRPr lang="en-US" altLang="zh-CN" sz="2400" b="1" dirty="0">
                <a:latin typeface="微软雅黑" pitchFamily="34" charset="-122"/>
                <a:ea typeface="微软雅黑" pitchFamily="34" charset="-122"/>
                <a:cs typeface="Times New Roman" pitchFamily="18" charset="0"/>
              </a:endParaRPr>
            </a:p>
            <a:p>
              <a:pPr algn="ctr" defTabSz="914400"/>
              <a:r>
                <a:rPr lang="zh-CN" altLang="en-US" sz="2400" b="1" dirty="0">
                  <a:latin typeface="微软雅黑" pitchFamily="34" charset="-122"/>
                  <a:ea typeface="微软雅黑" pitchFamily="34" charset="-122"/>
                  <a:cs typeface="Times New Roman" pitchFamily="18" charset="0"/>
                </a:rPr>
                <a:t>紫外</a:t>
              </a:r>
              <a:r>
                <a:rPr lang="en-US" altLang="zh-CN" sz="2400" b="1" dirty="0">
                  <a:latin typeface="微软雅黑" pitchFamily="34" charset="-122"/>
                  <a:ea typeface="微软雅黑" pitchFamily="34" charset="-122"/>
                  <a:cs typeface="Times New Roman" pitchFamily="18" charset="0"/>
                </a:rPr>
                <a:t>~</a:t>
              </a:r>
              <a:r>
                <a:rPr lang="zh-CN" altLang="en-US" sz="2400" b="1" dirty="0">
                  <a:latin typeface="微软雅黑" pitchFamily="34" charset="-122"/>
                  <a:ea typeface="微软雅黑" pitchFamily="34" charset="-122"/>
                  <a:cs typeface="Times New Roman" pitchFamily="18" charset="0"/>
                </a:rPr>
                <a:t>远红外</a:t>
              </a:r>
            </a:p>
          </p:txBody>
        </p:sp>
      </p:grpSp>
      <p:grpSp>
        <p:nvGrpSpPr>
          <p:cNvPr id="16" name="组合 29"/>
          <p:cNvGrpSpPr>
            <a:grpSpLocks/>
          </p:cNvGrpSpPr>
          <p:nvPr/>
        </p:nvGrpSpPr>
        <p:grpSpPr bwMode="auto">
          <a:xfrm>
            <a:off x="8399463" y="2735264"/>
            <a:ext cx="1422400" cy="1566317"/>
            <a:chOff x="6108668" y="4308876"/>
            <a:chExt cx="1718326" cy="1206010"/>
          </a:xfrm>
          <a:noFill/>
        </p:grpSpPr>
        <p:sp>
          <p:nvSpPr>
            <p:cNvPr id="17" name="圆角矩形 16"/>
            <p:cNvSpPr/>
            <p:nvPr/>
          </p:nvSpPr>
          <p:spPr>
            <a:xfrm>
              <a:off x="6108668" y="4308876"/>
              <a:ext cx="1718326" cy="960662"/>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18" name="TextBox 9"/>
            <p:cNvSpPr txBox="1">
              <a:spLocks noChangeArrowheads="1"/>
            </p:cNvSpPr>
            <p:nvPr/>
          </p:nvSpPr>
          <p:spPr bwMode="auto">
            <a:xfrm>
              <a:off x="6233352" y="4377394"/>
              <a:ext cx="1593642" cy="1137492"/>
            </a:xfrm>
            <a:prstGeom prst="rect">
              <a:avLst/>
            </a:prstGeom>
            <a:grpFill/>
            <a:ln w="9525">
              <a:noFill/>
              <a:miter lim="800000"/>
              <a:headEnd/>
              <a:tailEnd/>
            </a:ln>
          </p:spPr>
          <p:txBody>
            <a:bodyPr lIns="0" tIns="0" rIns="0" bIns="0">
              <a:spAutoFit/>
            </a:bodyPr>
            <a:lstStyle/>
            <a:p>
              <a:pPr algn="ctr" defTabSz="914400">
                <a:defRPr/>
              </a:pPr>
              <a:r>
                <a:rPr lang="zh-CN" altLang="en-US" sz="2400" b="1" dirty="0">
                  <a:latin typeface="微软雅黑" pitchFamily="34" charset="-122"/>
                  <a:ea typeface="微软雅黑" pitchFamily="34" charset="-122"/>
                </a:rPr>
                <a:t>工作电流大，可达数毫安</a:t>
              </a:r>
            </a:p>
            <a:p>
              <a:pPr algn="ctr" defTabSz="914400">
                <a:defRPr/>
              </a:pPr>
              <a:endParaRPr lang="zh-CN" altLang="en-US" sz="2400" b="1" dirty="0">
                <a:latin typeface="微软雅黑" pitchFamily="34" charset="-122"/>
                <a:ea typeface="微软雅黑" pitchFamily="34" charset="-122"/>
                <a:cs typeface="Times New Roman" pitchFamily="18" charset="0"/>
              </a:endParaRPr>
            </a:p>
          </p:txBody>
        </p:sp>
      </p:grpSp>
      <p:grpSp>
        <p:nvGrpSpPr>
          <p:cNvPr id="19" name="组合 29"/>
          <p:cNvGrpSpPr>
            <a:grpSpLocks/>
          </p:cNvGrpSpPr>
          <p:nvPr/>
        </p:nvGrpSpPr>
        <p:grpSpPr bwMode="auto">
          <a:xfrm>
            <a:off x="7836411" y="5195000"/>
            <a:ext cx="1350963" cy="1168400"/>
            <a:chOff x="6233339" y="4340729"/>
            <a:chExt cx="1896758" cy="589785"/>
          </a:xfrm>
        </p:grpSpPr>
        <p:sp>
          <p:nvSpPr>
            <p:cNvPr id="20" name="圆角矩形 19"/>
            <p:cNvSpPr/>
            <p:nvPr/>
          </p:nvSpPr>
          <p:spPr>
            <a:xfrm>
              <a:off x="6233339" y="4340729"/>
              <a:ext cx="1896758" cy="442339"/>
            </a:xfrm>
            <a:prstGeom prst="roundRect">
              <a:avLst/>
            </a:prstGeom>
            <a:gradFill>
              <a:gsLst>
                <a:gs pos="0">
                  <a:srgbClr val="CCCCFF"/>
                </a:gs>
                <a:gs pos="17999">
                  <a:srgbClr val="99CCFF"/>
                </a:gs>
                <a:gs pos="36000">
                  <a:srgbClr val="9966FF"/>
                </a:gs>
                <a:gs pos="61000">
                  <a:srgbClr val="CC99FF"/>
                </a:gs>
                <a:gs pos="82001">
                  <a:srgbClr val="99CCFF"/>
                </a:gs>
                <a:gs pos="100000">
                  <a:srgbClr val="CCCCF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21" name="TextBox 9"/>
            <p:cNvSpPr txBox="1">
              <a:spLocks noChangeArrowheads="1"/>
            </p:cNvSpPr>
            <p:nvPr/>
          </p:nvSpPr>
          <p:spPr bwMode="auto">
            <a:xfrm>
              <a:off x="6233339" y="4377591"/>
              <a:ext cx="1896758" cy="552923"/>
            </a:xfrm>
            <a:prstGeom prst="rect">
              <a:avLst/>
            </a:prstGeom>
            <a:noFill/>
            <a:ln w="9525">
              <a:noFill/>
              <a:miter lim="800000"/>
              <a:headEnd/>
              <a:tailEnd/>
            </a:ln>
          </p:spPr>
          <p:txBody>
            <a:bodyPr lIns="0" tIns="0" rIns="0" bIns="0">
              <a:spAutoFit/>
            </a:bodyPr>
            <a:lstStyle/>
            <a:p>
              <a:pPr defTabSz="914400"/>
              <a:r>
                <a:rPr lang="zh-CN" altLang="en-US" sz="2400" b="1">
                  <a:latin typeface="微软雅黑" pitchFamily="34" charset="-122"/>
                  <a:ea typeface="微软雅黑" pitchFamily="34" charset="-122"/>
                </a:rPr>
                <a:t>可测强光，可测弱光</a:t>
              </a:r>
            </a:p>
          </p:txBody>
        </p:sp>
      </p:grpSp>
      <p:grpSp>
        <p:nvGrpSpPr>
          <p:cNvPr id="22" name="组合 29"/>
          <p:cNvGrpSpPr>
            <a:grpSpLocks/>
          </p:cNvGrpSpPr>
          <p:nvPr/>
        </p:nvGrpSpPr>
        <p:grpSpPr bwMode="auto">
          <a:xfrm>
            <a:off x="4185956" y="2908907"/>
            <a:ext cx="1130300" cy="949325"/>
            <a:chOff x="6233338" y="4374424"/>
            <a:chExt cx="1839237" cy="607814"/>
          </a:xfrm>
        </p:grpSpPr>
        <p:sp>
          <p:nvSpPr>
            <p:cNvPr id="23" name="圆角矩形 22"/>
            <p:cNvSpPr/>
            <p:nvPr/>
          </p:nvSpPr>
          <p:spPr>
            <a:xfrm>
              <a:off x="6233338" y="4374424"/>
              <a:ext cx="1839237" cy="607814"/>
            </a:xfrm>
            <a:prstGeom prst="roundRect">
              <a:avLst/>
            </a:prstGeom>
            <a:gradFill>
              <a:gsLst>
                <a:gs pos="0">
                  <a:srgbClr val="FFF200"/>
                </a:gs>
                <a:gs pos="45000">
                  <a:srgbClr val="FF7A00"/>
                </a:gs>
                <a:gs pos="70000">
                  <a:srgbClr val="FF0300"/>
                </a:gs>
                <a:gs pos="100000">
                  <a:srgbClr val="4D0808"/>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24" name="TextBox 9"/>
            <p:cNvSpPr txBox="1">
              <a:spLocks noChangeArrowheads="1"/>
            </p:cNvSpPr>
            <p:nvPr/>
          </p:nvSpPr>
          <p:spPr bwMode="auto">
            <a:xfrm>
              <a:off x="6233338" y="4394752"/>
              <a:ext cx="1839237" cy="467549"/>
            </a:xfrm>
            <a:prstGeom prst="rect">
              <a:avLst/>
            </a:prstGeom>
            <a:noFill/>
            <a:ln w="9525">
              <a:noFill/>
              <a:miter lim="800000"/>
              <a:headEnd/>
              <a:tailEnd/>
            </a:ln>
          </p:spPr>
          <p:txBody>
            <a:bodyPr lIns="0" tIns="0" rIns="0" bIns="0">
              <a:spAutoFit/>
            </a:bodyPr>
            <a:lstStyle/>
            <a:p>
              <a:pPr algn="ctr" defTabSz="914400"/>
              <a:r>
                <a:rPr lang="zh-CN" altLang="en-US" sz="2400" b="1">
                  <a:latin typeface="微软雅黑" pitchFamily="34" charset="-122"/>
                  <a:ea typeface="微软雅黑" pitchFamily="34" charset="-122"/>
                </a:rPr>
                <a:t>无极性之分</a:t>
              </a:r>
            </a:p>
          </p:txBody>
        </p:sp>
      </p:grpSp>
      <p:grpSp>
        <p:nvGrpSpPr>
          <p:cNvPr id="25" name="组合 29"/>
          <p:cNvGrpSpPr>
            <a:grpSpLocks/>
          </p:cNvGrpSpPr>
          <p:nvPr/>
        </p:nvGrpSpPr>
        <p:grpSpPr bwMode="auto">
          <a:xfrm>
            <a:off x="4900196" y="5192717"/>
            <a:ext cx="1778000" cy="1139825"/>
            <a:chOff x="6233339" y="4340728"/>
            <a:chExt cx="1639319" cy="949752"/>
          </a:xfrm>
        </p:grpSpPr>
        <p:sp>
          <p:nvSpPr>
            <p:cNvPr id="26" name="圆角矩形 25"/>
            <p:cNvSpPr/>
            <p:nvPr/>
          </p:nvSpPr>
          <p:spPr>
            <a:xfrm>
              <a:off x="6233339" y="4340728"/>
              <a:ext cx="1639319" cy="928588"/>
            </a:xfrm>
            <a:prstGeom prst="roundRect">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27" name="TextBox 9"/>
            <p:cNvSpPr txBox="1">
              <a:spLocks noChangeArrowheads="1"/>
            </p:cNvSpPr>
            <p:nvPr/>
          </p:nvSpPr>
          <p:spPr bwMode="auto">
            <a:xfrm>
              <a:off x="6365070" y="4377766"/>
              <a:ext cx="1507588" cy="912714"/>
            </a:xfrm>
            <a:prstGeom prst="rect">
              <a:avLst/>
            </a:prstGeom>
            <a:noFill/>
            <a:ln w="9525">
              <a:noFill/>
              <a:miter lim="800000"/>
              <a:headEnd/>
              <a:tailEnd/>
            </a:ln>
          </p:spPr>
          <p:txBody>
            <a:bodyPr lIns="0" tIns="0" rIns="0" bIns="0">
              <a:spAutoFit/>
            </a:bodyPr>
            <a:lstStyle/>
            <a:p>
              <a:pPr algn="ctr" defTabSz="914400"/>
              <a:r>
                <a:rPr lang="zh-CN" altLang="en-US" sz="2400" b="1">
                  <a:latin typeface="微软雅黑" pitchFamily="34" charset="-122"/>
                  <a:ea typeface="微软雅黑" pitchFamily="34" charset="-122"/>
                  <a:cs typeface="Times New Roman" pitchFamily="18" charset="0"/>
                </a:rPr>
                <a:t>灵敏度高，光电导增益大于</a:t>
              </a:r>
              <a:r>
                <a:rPr lang="en-US" altLang="zh-CN" sz="2400" b="1">
                  <a:latin typeface="微软雅黑" pitchFamily="34" charset="-122"/>
                  <a:ea typeface="微软雅黑" pitchFamily="34" charset="-122"/>
                  <a:cs typeface="Times New Roman" pitchFamily="18" charset="0"/>
                </a:rPr>
                <a:t>1</a:t>
              </a:r>
              <a:endParaRPr lang="zh-CN" altLang="en-US" sz="2400" b="1">
                <a:latin typeface="微软雅黑" pitchFamily="34" charset="-122"/>
                <a:ea typeface="微软雅黑" pitchFamily="34" charset="-122"/>
                <a:cs typeface="Times New Roman" pitchFamily="18" charset="0"/>
              </a:endParaRPr>
            </a:p>
          </p:txBody>
        </p:sp>
      </p:grpSp>
      <p:sp>
        <p:nvSpPr>
          <p:cNvPr id="28" name="Oval 2"/>
          <p:cNvSpPr>
            <a:spLocks noChangeAspect="1" noChangeArrowheads="1"/>
          </p:cNvSpPr>
          <p:nvPr/>
        </p:nvSpPr>
        <p:spPr bwMode="auto">
          <a:xfrm>
            <a:off x="3817938" y="1065214"/>
            <a:ext cx="6334125" cy="6097588"/>
          </a:xfrm>
          <a:prstGeom prst="ellipse">
            <a:avLst/>
          </a:prstGeom>
          <a:noFill/>
          <a:ln w="38100" cap="rnd">
            <a:solidFill>
              <a:srgbClr val="FF0000"/>
            </a:solidFill>
            <a:prstDash val="dash"/>
            <a:round/>
            <a:headEnd/>
            <a:tailEnd/>
          </a:ln>
        </p:spPr>
        <p:txBody>
          <a:bodyPr wrap="none" anchor="ctr"/>
          <a:lstStyle/>
          <a:p>
            <a:pPr defTabSz="914400" eaLnBrk="0" hangingPunct="0"/>
            <a:endParaRPr lang="zh-CN" altLang="en-US" sz="2200" b="1">
              <a:ea typeface="楷体_GB2312" pitchFamily="49" charset="-122"/>
            </a:endParaRPr>
          </a:p>
        </p:txBody>
      </p:sp>
      <p:grpSp>
        <p:nvGrpSpPr>
          <p:cNvPr id="29" name="组合 38"/>
          <p:cNvGrpSpPr>
            <a:grpSpLocks/>
          </p:cNvGrpSpPr>
          <p:nvPr/>
        </p:nvGrpSpPr>
        <p:grpSpPr bwMode="auto">
          <a:xfrm>
            <a:off x="6689725" y="2420939"/>
            <a:ext cx="379413" cy="427038"/>
            <a:chOff x="555577" y="982629"/>
            <a:chExt cx="379735" cy="427707"/>
          </a:xfrm>
        </p:grpSpPr>
        <p:sp>
          <p:nvSpPr>
            <p:cNvPr id="30" name="椭圆 29"/>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31" name="TextBox 37"/>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1</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nvGrpSpPr>
          <p:cNvPr id="32" name="组合 39"/>
          <p:cNvGrpSpPr>
            <a:grpSpLocks/>
          </p:cNvGrpSpPr>
          <p:nvPr/>
        </p:nvGrpSpPr>
        <p:grpSpPr bwMode="auto">
          <a:xfrm>
            <a:off x="7967663" y="3179764"/>
            <a:ext cx="379412" cy="427038"/>
            <a:chOff x="555577" y="982629"/>
            <a:chExt cx="379735" cy="427707"/>
          </a:xfrm>
        </p:grpSpPr>
        <p:sp>
          <p:nvSpPr>
            <p:cNvPr id="33" name="椭圆 32"/>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34" name="TextBox 41"/>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2</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nvGrpSpPr>
          <p:cNvPr id="35" name="组合 42"/>
          <p:cNvGrpSpPr>
            <a:grpSpLocks/>
          </p:cNvGrpSpPr>
          <p:nvPr/>
        </p:nvGrpSpPr>
        <p:grpSpPr bwMode="auto">
          <a:xfrm>
            <a:off x="7688263" y="4691064"/>
            <a:ext cx="379412" cy="427038"/>
            <a:chOff x="555577" y="982629"/>
            <a:chExt cx="379735" cy="427707"/>
          </a:xfrm>
        </p:grpSpPr>
        <p:sp>
          <p:nvSpPr>
            <p:cNvPr id="36" name="椭圆 35"/>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37" name="TextBox 44"/>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3</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nvGrpSpPr>
          <p:cNvPr id="38" name="组合 45"/>
          <p:cNvGrpSpPr>
            <a:grpSpLocks/>
          </p:cNvGrpSpPr>
          <p:nvPr/>
        </p:nvGrpSpPr>
        <p:grpSpPr bwMode="auto">
          <a:xfrm>
            <a:off x="5865813" y="4735514"/>
            <a:ext cx="379412" cy="427038"/>
            <a:chOff x="555577" y="982629"/>
            <a:chExt cx="379735" cy="427707"/>
          </a:xfrm>
        </p:grpSpPr>
        <p:sp>
          <p:nvSpPr>
            <p:cNvPr id="39" name="椭圆 38"/>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40" name="TextBox 47"/>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4</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nvGrpSpPr>
          <p:cNvPr id="41" name="组合 48"/>
          <p:cNvGrpSpPr>
            <a:grpSpLocks/>
          </p:cNvGrpSpPr>
          <p:nvPr/>
        </p:nvGrpSpPr>
        <p:grpSpPr bwMode="auto">
          <a:xfrm>
            <a:off x="5434013" y="3406777"/>
            <a:ext cx="379412" cy="427037"/>
            <a:chOff x="555577" y="982629"/>
            <a:chExt cx="379735" cy="427707"/>
          </a:xfrm>
        </p:grpSpPr>
        <p:sp>
          <p:nvSpPr>
            <p:cNvPr id="42" name="椭圆 41"/>
            <p:cNvSpPr>
              <a:spLocks noChangeAspect="1"/>
            </p:cNvSpPr>
            <p:nvPr/>
          </p:nvSpPr>
          <p:spPr>
            <a:xfrm>
              <a:off x="555577" y="1019198"/>
              <a:ext cx="379735" cy="380008"/>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43" name="TextBox 50"/>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5</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sp>
        <p:nvSpPr>
          <p:cNvPr id="44" name="Text Box 4"/>
          <p:cNvSpPr txBox="1">
            <a:spLocks noChangeArrowheads="1"/>
          </p:cNvSpPr>
          <p:nvPr/>
        </p:nvSpPr>
        <p:spPr bwMode="auto">
          <a:xfrm>
            <a:off x="1040953" y="3179764"/>
            <a:ext cx="1911626" cy="1754326"/>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100000" t="100000"/>
            </a:path>
            <a:tileRect r="-100000" b="-100000"/>
          </a:gradFill>
          <a:ln w="9525">
            <a:noFill/>
            <a:miter lim="800000"/>
            <a:headEnd/>
            <a:tailEnd/>
          </a:ln>
        </p:spPr>
        <p:txBody>
          <a:bodyPr wrap="square">
            <a:spAutoFit/>
          </a:bodyPr>
          <a:lstStyle/>
          <a:p>
            <a:pPr algn="ctr" defTabSz="914400">
              <a:lnSpc>
                <a:spcPct val="150000"/>
              </a:lnSpc>
              <a:spcBef>
                <a:spcPct val="50000"/>
              </a:spcBef>
              <a:defRPr/>
            </a:pPr>
            <a:r>
              <a:rPr lang="zh-CN" altLang="en-US" sz="2400" b="1" dirty="0">
                <a:latin typeface="微软雅黑" pitchFamily="34" charset="-122"/>
                <a:ea typeface="微软雅黑" pitchFamily="34" charset="-122"/>
              </a:rPr>
              <a:t>体积小，坚固耐用，价格低廉</a:t>
            </a:r>
          </a:p>
        </p:txBody>
      </p:sp>
      <p:sp>
        <p:nvSpPr>
          <p:cNvPr id="45" name="TextBox 59"/>
          <p:cNvSpPr txBox="1">
            <a:spLocks noChangeArrowheads="1"/>
          </p:cNvSpPr>
          <p:nvPr/>
        </p:nvSpPr>
        <p:spPr bwMode="auto">
          <a:xfrm>
            <a:off x="10759039" y="3176591"/>
            <a:ext cx="1937786" cy="1754326"/>
          </a:xfrm>
          <a:prstGeom prst="rect">
            <a:avLst/>
          </a:prstGeom>
          <a:gradFill>
            <a:gsLst>
              <a:gs pos="0">
                <a:schemeClr val="accent1">
                  <a:lumMod val="0"/>
                  <a:lumOff val="100000"/>
                </a:schemeClr>
              </a:gs>
              <a:gs pos="35000">
                <a:schemeClr val="accent1">
                  <a:lumMod val="0"/>
                  <a:lumOff val="100000"/>
                </a:schemeClr>
              </a:gs>
              <a:gs pos="100000">
                <a:schemeClr val="accent1">
                  <a:lumMod val="100000"/>
                </a:schemeClr>
              </a:gs>
            </a:gsLst>
            <a:path path="circle">
              <a:fillToRect l="100000" t="100000"/>
            </a:path>
          </a:gradFill>
          <a:ln w="9525">
            <a:noFill/>
            <a:miter lim="800000"/>
            <a:headEnd/>
            <a:tailEnd/>
          </a:ln>
        </p:spPr>
        <p:txBody>
          <a:bodyPr wrap="square">
            <a:spAutoFit/>
          </a:bodyPr>
          <a:lstStyle/>
          <a:p>
            <a:pPr algn="ctr" defTabSz="914400">
              <a:lnSpc>
                <a:spcPct val="150000"/>
              </a:lnSpc>
              <a:defRPr/>
            </a:pPr>
            <a:r>
              <a:rPr lang="zh-CN" altLang="en-US" sz="2400" b="1" dirty="0">
                <a:latin typeface="微软雅黑" pitchFamily="34" charset="-122"/>
                <a:ea typeface="微软雅黑" pitchFamily="34" charset="-122"/>
              </a:rPr>
              <a:t>广泛应用于弱辐射信号的探测领域</a:t>
            </a:r>
          </a:p>
        </p:txBody>
      </p:sp>
      <p:sp>
        <p:nvSpPr>
          <p:cNvPr id="49" name="矩形: 圆角 25">
            <a:extLst>
              <a:ext uri="{FF2B5EF4-FFF2-40B4-BE49-F238E27FC236}">
                <a16:creationId xmlns=""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2" name="矩形 51">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53" name="组合 52"/>
          <p:cNvGrpSpPr/>
          <p:nvPr/>
        </p:nvGrpSpPr>
        <p:grpSpPr>
          <a:xfrm>
            <a:off x="10337881" y="293282"/>
            <a:ext cx="2823365" cy="523220"/>
            <a:chOff x="10337881" y="293282"/>
            <a:chExt cx="2823365" cy="523220"/>
          </a:xfrm>
        </p:grpSpPr>
        <p:sp>
          <p:nvSpPr>
            <p:cNvPr id="54" name="矩形 53"/>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55" name="矩形 5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57" name="文本框 60">
            <a:extLst>
              <a:ext uri="{FF2B5EF4-FFF2-40B4-BE49-F238E27FC236}">
                <a16:creationId xmlns="" xmlns:a16="http://schemas.microsoft.com/office/drawing/2014/main" id="{791D85D7-F412-9C48-9F2B-E33F5B7B4F3C}"/>
              </a:ext>
            </a:extLst>
          </p:cNvPr>
          <p:cNvSpPr txBox="1"/>
          <p:nvPr/>
        </p:nvSpPr>
        <p:spPr>
          <a:xfrm>
            <a:off x="1476183" y="274232"/>
            <a:ext cx="2130894"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光电导探测器</a:t>
            </a:r>
          </a:p>
        </p:txBody>
      </p:sp>
      <p:cxnSp>
        <p:nvCxnSpPr>
          <p:cNvPr id="58"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64806" y="693392"/>
            <a:ext cx="1990689"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16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ox(i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box(in)">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1+#ppt_w/2"/>
                                          </p:val>
                                        </p:tav>
                                        <p:tav tm="100000">
                                          <p:val>
                                            <p:strVal val="#ppt_x"/>
                                          </p:val>
                                        </p:tav>
                                      </p:tavLst>
                                    </p:anim>
                                    <p:anim calcmode="lin" valueType="num">
                                      <p:cBhvr additive="base">
                                        <p:cTn id="29"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box(in)">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1+#ppt_w/2"/>
                                          </p:val>
                                        </p:tav>
                                        <p:tav tm="100000">
                                          <p:val>
                                            <p:strVal val="#ppt_x"/>
                                          </p:val>
                                        </p:tav>
                                      </p:tavLst>
                                    </p:anim>
                                    <p:anim calcmode="lin" valueType="num">
                                      <p:cBhvr additive="base">
                                        <p:cTn id="4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box(in)">
                                      <p:cBhvr>
                                        <p:cTn id="45" dur="500"/>
                                        <p:tgtEl>
                                          <p:spTgt spid="38"/>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additive="base">
                                        <p:cTn id="50" dur="500" fill="hold"/>
                                        <p:tgtEl>
                                          <p:spTgt spid="25"/>
                                        </p:tgtEl>
                                        <p:attrNameLst>
                                          <p:attrName>ppt_x</p:attrName>
                                        </p:attrNameLst>
                                      </p:cBhvr>
                                      <p:tavLst>
                                        <p:tav tm="0">
                                          <p:val>
                                            <p:strVal val="#ppt_x"/>
                                          </p:val>
                                        </p:tav>
                                        <p:tav tm="100000">
                                          <p:val>
                                            <p:strVal val="#ppt_x"/>
                                          </p:val>
                                        </p:tav>
                                      </p:tavLst>
                                    </p:anim>
                                    <p:anim calcmode="lin" valueType="num">
                                      <p:cBhvr additive="base">
                                        <p:cTn id="51"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box(in)">
                                      <p:cBhvr>
                                        <p:cTn id="56" dur="500"/>
                                        <p:tgtEl>
                                          <p:spTgt spid="41"/>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0-#ppt_w/2"/>
                                          </p:val>
                                        </p:tav>
                                        <p:tav tm="100000">
                                          <p:val>
                                            <p:strVal val="#ppt_x"/>
                                          </p:val>
                                        </p:tav>
                                      </p:tavLst>
                                    </p:anim>
                                    <p:anim calcmode="lin" valueType="num">
                                      <p:cBhvr additive="base">
                                        <p:cTn id="62"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box(in)">
                                      <p:cBhvr>
                                        <p:cTn id="67" dur="500"/>
                                        <p:tgtEl>
                                          <p:spTgt spid="44"/>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box(in)">
                                      <p:cBhvr>
                                        <p:cTn id="7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25">
            <a:extLst>
              <a:ext uri="{FF2B5EF4-FFF2-40B4-BE49-F238E27FC236}">
                <a16:creationId xmlns=""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8" name="矩形 7">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9" name="AutoShape 12"/>
          <p:cNvSpPr>
            <a:spLocks noChangeArrowheads="1"/>
          </p:cNvSpPr>
          <p:nvPr/>
        </p:nvSpPr>
        <p:spPr bwMode="auto">
          <a:xfrm rot="15252475" flipH="1">
            <a:off x="7210214" y="2620171"/>
            <a:ext cx="2251075" cy="1925637"/>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vert="eaVert" wrap="none" anchor="ctr"/>
          <a:lstStyle/>
          <a:p>
            <a:pPr defTabSz="914400" eaLnBrk="0" hangingPunct="0"/>
            <a:endParaRPr lang="zh-CN" altLang="en-US" sz="2200" b="1">
              <a:ea typeface="楷体_GB2312" pitchFamily="49" charset="-122"/>
            </a:endParaRPr>
          </a:p>
        </p:txBody>
      </p:sp>
      <p:sp>
        <p:nvSpPr>
          <p:cNvPr id="10" name="AutoShape 12"/>
          <p:cNvSpPr>
            <a:spLocks noChangeArrowheads="1"/>
          </p:cNvSpPr>
          <p:nvPr/>
        </p:nvSpPr>
        <p:spPr bwMode="auto">
          <a:xfrm rot="10575427" flipH="1">
            <a:off x="5790195" y="1760539"/>
            <a:ext cx="2251075" cy="1925638"/>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rot="10800000" wrap="none" anchor="ctr"/>
          <a:lstStyle/>
          <a:p>
            <a:pPr defTabSz="914400" eaLnBrk="0" hangingPunct="0"/>
            <a:endParaRPr lang="zh-CN" altLang="en-US" sz="2200" b="1">
              <a:ea typeface="楷体_GB2312" pitchFamily="49" charset="-122"/>
            </a:endParaRPr>
          </a:p>
        </p:txBody>
      </p:sp>
      <p:sp>
        <p:nvSpPr>
          <p:cNvPr id="11" name="AutoShape 12"/>
          <p:cNvSpPr>
            <a:spLocks noChangeArrowheads="1"/>
          </p:cNvSpPr>
          <p:nvPr/>
        </p:nvSpPr>
        <p:spPr bwMode="auto">
          <a:xfrm rot="6096286" flipH="1">
            <a:off x="4546389" y="2742408"/>
            <a:ext cx="2251075" cy="1925637"/>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rot="10800000" vert="eaVert" wrap="none" anchor="ctr"/>
          <a:lstStyle/>
          <a:p>
            <a:pPr defTabSz="914400" eaLnBrk="0" hangingPunct="0"/>
            <a:endParaRPr lang="zh-CN" altLang="en-US" sz="2200" b="1">
              <a:ea typeface="楷体_GB2312" pitchFamily="49" charset="-122"/>
            </a:endParaRPr>
          </a:p>
        </p:txBody>
      </p:sp>
      <p:sp>
        <p:nvSpPr>
          <p:cNvPr id="12" name="AutoShape 12"/>
          <p:cNvSpPr>
            <a:spLocks noChangeArrowheads="1"/>
          </p:cNvSpPr>
          <p:nvPr/>
        </p:nvSpPr>
        <p:spPr bwMode="auto">
          <a:xfrm rot="19386032" flipH="1">
            <a:off x="6663320" y="4173539"/>
            <a:ext cx="2251075" cy="1925638"/>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wrap="none" anchor="ctr"/>
          <a:lstStyle/>
          <a:p>
            <a:pPr defTabSz="914400" eaLnBrk="0" hangingPunct="0"/>
            <a:endParaRPr lang="zh-CN" altLang="en-US" sz="2200" b="1">
              <a:ea typeface="楷体_GB2312" pitchFamily="49" charset="-122"/>
            </a:endParaRPr>
          </a:p>
        </p:txBody>
      </p:sp>
      <p:sp>
        <p:nvSpPr>
          <p:cNvPr id="13" name="AutoShape 12"/>
          <p:cNvSpPr>
            <a:spLocks noChangeArrowheads="1"/>
          </p:cNvSpPr>
          <p:nvPr/>
        </p:nvSpPr>
        <p:spPr bwMode="auto">
          <a:xfrm rot="2201505" flipH="1">
            <a:off x="5104395" y="4105277"/>
            <a:ext cx="2251075" cy="1925637"/>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wrap="none" anchor="ctr"/>
          <a:lstStyle/>
          <a:p>
            <a:pPr defTabSz="914400" eaLnBrk="0" hangingPunct="0"/>
            <a:endParaRPr lang="zh-CN" altLang="en-US" sz="2200" b="1">
              <a:ea typeface="楷体_GB2312" pitchFamily="49" charset="-122"/>
            </a:endParaRPr>
          </a:p>
        </p:txBody>
      </p:sp>
      <p:sp>
        <p:nvSpPr>
          <p:cNvPr id="14" name="Oval 19"/>
          <p:cNvSpPr>
            <a:spLocks noChangeArrowheads="1"/>
          </p:cNvSpPr>
          <p:nvPr/>
        </p:nvSpPr>
        <p:spPr bwMode="auto">
          <a:xfrm>
            <a:off x="5872745" y="2851152"/>
            <a:ext cx="2243138" cy="2181225"/>
          </a:xfrm>
          <a:prstGeom prst="ellipse">
            <a:avLst/>
          </a:prstGeom>
          <a:solidFill>
            <a:srgbClr val="FFFF00">
              <a:alpha val="25098"/>
            </a:srgbClr>
          </a:solidFill>
          <a:ln w="12700">
            <a:solidFill>
              <a:srgbClr val="FFFF00"/>
            </a:solidFill>
            <a:round/>
            <a:headEnd/>
            <a:tailEnd/>
          </a:ln>
        </p:spPr>
        <p:txBody>
          <a:bodyPr wrap="none" anchor="ctr"/>
          <a:lstStyle/>
          <a:p>
            <a:pPr defTabSz="914400" eaLnBrk="0" hangingPunct="0"/>
            <a:endParaRPr lang="zh-CN" altLang="en-US" sz="2200" b="1">
              <a:ea typeface="楷体_GB2312" pitchFamily="49" charset="-122"/>
            </a:endParaRPr>
          </a:p>
        </p:txBody>
      </p:sp>
      <p:sp>
        <p:nvSpPr>
          <p:cNvPr id="15" name="Oval 20"/>
          <p:cNvSpPr>
            <a:spLocks noChangeArrowheads="1"/>
          </p:cNvSpPr>
          <p:nvPr/>
        </p:nvSpPr>
        <p:spPr bwMode="auto">
          <a:xfrm>
            <a:off x="5961645" y="2924177"/>
            <a:ext cx="2058988" cy="2005012"/>
          </a:xfrm>
          <a:prstGeom prst="ellipse">
            <a:avLst/>
          </a:prstGeom>
          <a:solidFill>
            <a:srgbClr val="FFFF66">
              <a:alpha val="50195"/>
            </a:srgbClr>
          </a:solidFill>
          <a:ln w="57150">
            <a:solidFill>
              <a:srgbClr val="FFFF66"/>
            </a:solidFill>
            <a:round/>
            <a:headEnd/>
            <a:tailEnd/>
          </a:ln>
        </p:spPr>
        <p:txBody>
          <a:bodyPr wrap="none" anchor="ctr"/>
          <a:lstStyle/>
          <a:p>
            <a:pPr defTabSz="914400" eaLnBrk="0" hangingPunct="0"/>
            <a:endParaRPr lang="zh-CN" altLang="en-US" sz="2200" b="1">
              <a:ea typeface="楷体_GB2312" pitchFamily="49" charset="-122"/>
            </a:endParaRPr>
          </a:p>
        </p:txBody>
      </p:sp>
      <p:sp>
        <p:nvSpPr>
          <p:cNvPr id="16" name="Oval 48"/>
          <p:cNvSpPr>
            <a:spLocks noChangeAspect="1" noChangeArrowheads="1"/>
          </p:cNvSpPr>
          <p:nvPr/>
        </p:nvSpPr>
        <p:spPr bwMode="auto">
          <a:xfrm>
            <a:off x="6107695" y="3106739"/>
            <a:ext cx="1738313" cy="1687513"/>
          </a:xfrm>
          <a:prstGeom prst="ellipse">
            <a:avLst/>
          </a:prstGeom>
          <a:solidFill>
            <a:schemeClr val="accent6">
              <a:lumMod val="20000"/>
              <a:lumOff val="80000"/>
            </a:schemeClr>
          </a:solidFill>
          <a:ln w="9525">
            <a:noFill/>
            <a:round/>
            <a:headEnd/>
            <a:tailEnd/>
          </a:ln>
        </p:spPr>
        <p:txBody>
          <a:bodyPr wrap="none" anchor="ctr"/>
          <a:lstStyle/>
          <a:p>
            <a:pPr defTabSz="914400" eaLnBrk="0" hangingPunct="0">
              <a:defRPr/>
            </a:pPr>
            <a:endParaRPr lang="zh-CN" altLang="en-US" sz="2200" b="1">
              <a:ea typeface="楷体_GB2312" pitchFamily="49" charset="-122"/>
            </a:endParaRPr>
          </a:p>
        </p:txBody>
      </p:sp>
      <p:grpSp>
        <p:nvGrpSpPr>
          <p:cNvPr id="17" name="组合 67"/>
          <p:cNvGrpSpPr>
            <a:grpSpLocks/>
          </p:cNvGrpSpPr>
          <p:nvPr/>
        </p:nvGrpSpPr>
        <p:grpSpPr bwMode="auto">
          <a:xfrm>
            <a:off x="6207708" y="3179764"/>
            <a:ext cx="1546225" cy="1533525"/>
            <a:chOff x="3728508" y="2516175"/>
            <a:chExt cx="1314468" cy="1226837"/>
          </a:xfrm>
        </p:grpSpPr>
        <p:sp>
          <p:nvSpPr>
            <p:cNvPr id="18" name="Oval 49"/>
            <p:cNvSpPr>
              <a:spLocks noChangeAspect="1" noChangeArrowheads="1"/>
            </p:cNvSpPr>
            <p:nvPr/>
          </p:nvSpPr>
          <p:spPr bwMode="auto">
            <a:xfrm>
              <a:off x="3745971" y="2516175"/>
              <a:ext cx="1297005" cy="1226837"/>
            </a:xfrm>
            <a:prstGeom prst="ellipse">
              <a:avLst/>
            </a:prstGeom>
            <a:solidFill>
              <a:srgbClr val="0000FF"/>
            </a:solidFill>
            <a:ln w="9525">
              <a:noFill/>
              <a:round/>
              <a:headEnd/>
              <a:tailEnd/>
            </a:ln>
          </p:spPr>
          <p:txBody>
            <a:bodyPr wrap="none" anchor="ctr"/>
            <a:lstStyle/>
            <a:p>
              <a:pPr algn="ctr" defTabSz="914400" eaLnBrk="0" latinLnBrk="1" hangingPunct="0"/>
              <a:endParaRPr lang="zh-CN" altLang="en-US" sz="1600" b="1">
                <a:ea typeface="HY견고딕"/>
                <a:cs typeface="HY견고딕"/>
              </a:endParaRPr>
            </a:p>
          </p:txBody>
        </p:sp>
        <p:sp>
          <p:nvSpPr>
            <p:cNvPr id="19" name="TextBox 2"/>
            <p:cNvSpPr txBox="1">
              <a:spLocks noChangeArrowheads="1"/>
            </p:cNvSpPr>
            <p:nvPr/>
          </p:nvSpPr>
          <p:spPr bwMode="auto">
            <a:xfrm>
              <a:off x="3728508" y="2729538"/>
              <a:ext cx="1314468" cy="779791"/>
            </a:xfrm>
            <a:prstGeom prst="rect">
              <a:avLst/>
            </a:prstGeom>
            <a:noFill/>
            <a:ln w="9525">
              <a:noFill/>
              <a:miter lim="800000"/>
              <a:headEnd/>
              <a:tailEnd/>
            </a:ln>
          </p:spPr>
          <p:txBody>
            <a:bodyPr lIns="0" tIns="0" rIns="0" bIns="0">
              <a:spAutoFit/>
            </a:bodyPr>
            <a:lstStyle/>
            <a:p>
              <a:pPr algn="ctr" defTabSz="914400"/>
              <a:r>
                <a:rPr lang="zh-CN" altLang="en-US" sz="3200" b="1">
                  <a:solidFill>
                    <a:schemeClr val="bg1"/>
                  </a:solidFill>
                  <a:latin typeface="微软雅黑" pitchFamily="34" charset="-122"/>
                  <a:ea typeface="微软雅黑" pitchFamily="34" charset="-122"/>
                </a:rPr>
                <a:t>光敏电阻应用</a:t>
              </a:r>
            </a:p>
          </p:txBody>
        </p:sp>
      </p:grpSp>
      <p:sp>
        <p:nvSpPr>
          <p:cNvPr id="20" name="Oval 2"/>
          <p:cNvSpPr>
            <a:spLocks noChangeAspect="1" noChangeArrowheads="1"/>
          </p:cNvSpPr>
          <p:nvPr/>
        </p:nvSpPr>
        <p:spPr bwMode="auto">
          <a:xfrm>
            <a:off x="3774070" y="989014"/>
            <a:ext cx="6389688" cy="6151563"/>
          </a:xfrm>
          <a:prstGeom prst="ellipse">
            <a:avLst/>
          </a:prstGeom>
          <a:noFill/>
          <a:ln w="38100" cap="rnd">
            <a:solidFill>
              <a:srgbClr val="FF0000"/>
            </a:solidFill>
            <a:prstDash val="dash"/>
            <a:round/>
            <a:headEnd/>
            <a:tailEnd/>
          </a:ln>
        </p:spPr>
        <p:txBody>
          <a:bodyPr wrap="none" anchor="ctr"/>
          <a:lstStyle/>
          <a:p>
            <a:pPr defTabSz="914400" eaLnBrk="0" hangingPunct="0"/>
            <a:endParaRPr lang="zh-CN" altLang="en-US" sz="2200" b="1">
              <a:ea typeface="楷体_GB2312" pitchFamily="49" charset="-122"/>
            </a:endParaRPr>
          </a:p>
        </p:txBody>
      </p:sp>
      <p:grpSp>
        <p:nvGrpSpPr>
          <p:cNvPr id="21" name="组合 50"/>
          <p:cNvGrpSpPr>
            <a:grpSpLocks/>
          </p:cNvGrpSpPr>
          <p:nvPr/>
        </p:nvGrpSpPr>
        <p:grpSpPr bwMode="auto">
          <a:xfrm>
            <a:off x="6212470" y="1670052"/>
            <a:ext cx="1562100" cy="1092200"/>
            <a:chOff x="3943350" y="896938"/>
            <a:chExt cx="1562100" cy="1092200"/>
          </a:xfrm>
        </p:grpSpPr>
        <p:grpSp>
          <p:nvGrpSpPr>
            <p:cNvPr id="22" name="组合 29"/>
            <p:cNvGrpSpPr>
              <a:grpSpLocks/>
            </p:cNvGrpSpPr>
            <p:nvPr/>
          </p:nvGrpSpPr>
          <p:grpSpPr bwMode="auto">
            <a:xfrm>
              <a:off x="3943350" y="896938"/>
              <a:ext cx="1562100" cy="487362"/>
              <a:chOff x="6233339" y="4340731"/>
              <a:chExt cx="1896702" cy="358761"/>
            </a:xfrm>
          </p:grpSpPr>
          <p:sp>
            <p:nvSpPr>
              <p:cNvPr id="26" name="圆角矩形 25"/>
              <p:cNvSpPr/>
              <p:nvPr/>
            </p:nvSpPr>
            <p:spPr>
              <a:xfrm>
                <a:off x="6233339" y="4340731"/>
                <a:ext cx="1725151" cy="358761"/>
              </a:xfrm>
              <a:prstGeom prst="roundRect">
                <a:avLst/>
              </a:prstGeom>
              <a:gradFill>
                <a:gsLst>
                  <a:gs pos="0">
                    <a:srgbClr val="03D4A8"/>
                  </a:gs>
                  <a:gs pos="25000">
                    <a:srgbClr val="21D6E0"/>
                  </a:gs>
                  <a:gs pos="75000">
                    <a:srgbClr val="0087E6"/>
                  </a:gs>
                  <a:gs pos="100000">
                    <a:srgbClr val="005CB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27" name="TextBox 9"/>
              <p:cNvSpPr txBox="1">
                <a:spLocks noChangeArrowheads="1"/>
              </p:cNvSpPr>
              <p:nvPr/>
            </p:nvSpPr>
            <p:spPr bwMode="auto">
              <a:xfrm>
                <a:off x="6233339" y="4376958"/>
                <a:ext cx="1896702" cy="268778"/>
              </a:xfrm>
              <a:prstGeom prst="rect">
                <a:avLst/>
              </a:prstGeom>
              <a:noFill/>
              <a:ln w="9525">
                <a:noFill/>
                <a:miter lim="800000"/>
                <a:headEnd/>
                <a:tailEnd/>
              </a:ln>
            </p:spPr>
            <p:txBody>
              <a:bodyPr lIns="0" tIns="0" rIns="0" bIns="0">
                <a:spAutoFit/>
              </a:bodyPr>
              <a:lstStyle/>
              <a:p>
                <a:pPr algn="ctr" defTabSz="914400">
                  <a:spcBef>
                    <a:spcPct val="50000"/>
                  </a:spcBef>
                </a:pPr>
                <a:r>
                  <a:rPr lang="zh-CN" altLang="en-US" sz="2400" b="1">
                    <a:latin typeface="微软雅黑" pitchFamily="34" charset="-122"/>
                    <a:ea typeface="微软雅黑" pitchFamily="34" charset="-122"/>
                  </a:rPr>
                  <a:t>声光控制</a:t>
                </a:r>
              </a:p>
            </p:txBody>
          </p:sp>
        </p:grpSp>
        <p:grpSp>
          <p:nvGrpSpPr>
            <p:cNvPr id="23" name="组合 38"/>
            <p:cNvGrpSpPr>
              <a:grpSpLocks/>
            </p:cNvGrpSpPr>
            <p:nvPr/>
          </p:nvGrpSpPr>
          <p:grpSpPr bwMode="auto">
            <a:xfrm>
              <a:off x="4462463" y="1562100"/>
              <a:ext cx="379412" cy="427038"/>
              <a:chOff x="555577" y="982629"/>
              <a:chExt cx="379735" cy="427707"/>
            </a:xfrm>
          </p:grpSpPr>
          <p:sp>
            <p:nvSpPr>
              <p:cNvPr id="24" name="椭圆 23"/>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25" name="TextBox 37"/>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1</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28" name="组合 51"/>
          <p:cNvGrpSpPr>
            <a:grpSpLocks/>
          </p:cNvGrpSpPr>
          <p:nvPr/>
        </p:nvGrpSpPr>
        <p:grpSpPr bwMode="auto">
          <a:xfrm>
            <a:off x="8130170" y="3224214"/>
            <a:ext cx="1765300" cy="596900"/>
            <a:chOff x="5861050" y="2450592"/>
            <a:chExt cx="1765072" cy="597408"/>
          </a:xfrm>
        </p:grpSpPr>
        <p:grpSp>
          <p:nvGrpSpPr>
            <p:cNvPr id="29" name="组合 29"/>
            <p:cNvGrpSpPr>
              <a:grpSpLocks/>
            </p:cNvGrpSpPr>
            <p:nvPr/>
          </p:nvGrpSpPr>
          <p:grpSpPr bwMode="auto">
            <a:xfrm>
              <a:off x="6350000" y="2495550"/>
              <a:ext cx="1238275" cy="531831"/>
              <a:chOff x="6233339" y="4340726"/>
              <a:chExt cx="1896702" cy="361377"/>
            </a:xfrm>
            <a:noFill/>
          </p:grpSpPr>
          <p:sp>
            <p:nvSpPr>
              <p:cNvPr id="33" name="圆角矩形 32"/>
              <p:cNvSpPr/>
              <p:nvPr/>
            </p:nvSpPr>
            <p:spPr>
              <a:xfrm>
                <a:off x="6369505" y="4340726"/>
                <a:ext cx="1624359" cy="361377"/>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dirty="0"/>
              </a:p>
            </p:txBody>
          </p:sp>
          <p:sp>
            <p:nvSpPr>
              <p:cNvPr id="34" name="TextBox 9"/>
              <p:cNvSpPr txBox="1">
                <a:spLocks noChangeArrowheads="1"/>
              </p:cNvSpPr>
              <p:nvPr/>
            </p:nvSpPr>
            <p:spPr bwMode="auto">
              <a:xfrm>
                <a:off x="6233339" y="4377384"/>
                <a:ext cx="1896702" cy="250960"/>
              </a:xfrm>
              <a:prstGeom prst="rect">
                <a:avLst/>
              </a:prstGeom>
              <a:grpFill/>
              <a:ln w="9525">
                <a:noFill/>
                <a:miter lim="800000"/>
                <a:headEnd/>
                <a:tailEnd/>
              </a:ln>
            </p:spPr>
            <p:txBody>
              <a:bodyPr lIns="0" tIns="0" rIns="0" bIns="0">
                <a:spAutoFit/>
              </a:bodyPr>
              <a:lstStyle/>
              <a:p>
                <a:pPr algn="ctr" defTabSz="914400">
                  <a:spcBef>
                    <a:spcPct val="50000"/>
                  </a:spcBef>
                  <a:defRPr/>
                </a:pPr>
                <a:r>
                  <a:rPr lang="zh-CN" altLang="en-US" sz="2400" b="1" dirty="0">
                    <a:latin typeface="黑体" pitchFamily="49" charset="-122"/>
                    <a:ea typeface="黑体" pitchFamily="49" charset="-122"/>
                  </a:rPr>
                  <a:t>照相机</a:t>
                </a:r>
              </a:p>
            </p:txBody>
          </p:sp>
        </p:grpSp>
        <p:grpSp>
          <p:nvGrpSpPr>
            <p:cNvPr id="30" name="组合 39"/>
            <p:cNvGrpSpPr>
              <a:grpSpLocks/>
            </p:cNvGrpSpPr>
            <p:nvPr/>
          </p:nvGrpSpPr>
          <p:grpSpPr bwMode="auto">
            <a:xfrm>
              <a:off x="5861050" y="2598737"/>
              <a:ext cx="379418" cy="427038"/>
              <a:chOff x="555577" y="982629"/>
              <a:chExt cx="379741" cy="427707"/>
            </a:xfrm>
          </p:grpSpPr>
          <p:sp>
            <p:nvSpPr>
              <p:cNvPr id="31" name="椭圆 30"/>
              <p:cNvSpPr>
                <a:spLocks noChangeAspect="1"/>
              </p:cNvSpPr>
              <p:nvPr/>
            </p:nvSpPr>
            <p:spPr>
              <a:xfrm>
                <a:off x="555577" y="1018847"/>
                <a:ext cx="379687" cy="380331"/>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32" name="TextBox 41"/>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2</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35" name="组合 52"/>
          <p:cNvGrpSpPr>
            <a:grpSpLocks/>
          </p:cNvGrpSpPr>
          <p:nvPr/>
        </p:nvGrpSpPr>
        <p:grpSpPr bwMode="auto">
          <a:xfrm>
            <a:off x="7572958" y="4883152"/>
            <a:ext cx="1497012" cy="1241425"/>
            <a:chOff x="5303838" y="4110037"/>
            <a:chExt cx="1497012" cy="1241424"/>
          </a:xfrm>
        </p:grpSpPr>
        <p:grpSp>
          <p:nvGrpSpPr>
            <p:cNvPr id="36" name="组合 29"/>
            <p:cNvGrpSpPr>
              <a:grpSpLocks/>
            </p:cNvGrpSpPr>
            <p:nvPr/>
          </p:nvGrpSpPr>
          <p:grpSpPr bwMode="auto">
            <a:xfrm>
              <a:off x="5638800" y="4495798"/>
              <a:ext cx="1162050" cy="855663"/>
              <a:chOff x="6233340" y="4340726"/>
              <a:chExt cx="1631523" cy="431916"/>
            </a:xfrm>
          </p:grpSpPr>
          <p:sp>
            <p:nvSpPr>
              <p:cNvPr id="40" name="圆角矩形 39"/>
              <p:cNvSpPr/>
              <p:nvPr/>
            </p:nvSpPr>
            <p:spPr>
              <a:xfrm>
                <a:off x="6233340" y="4340727"/>
                <a:ext cx="1631523" cy="431915"/>
              </a:xfrm>
              <a:prstGeom prst="roundRect">
                <a:avLst/>
              </a:prstGeom>
              <a:gradFill>
                <a:gsLst>
                  <a:gs pos="0">
                    <a:srgbClr val="CCCCFF"/>
                  </a:gs>
                  <a:gs pos="17999">
                    <a:srgbClr val="99CCFF"/>
                  </a:gs>
                  <a:gs pos="36000">
                    <a:srgbClr val="9966FF"/>
                  </a:gs>
                  <a:gs pos="61000">
                    <a:srgbClr val="CC99FF"/>
                  </a:gs>
                  <a:gs pos="82001">
                    <a:srgbClr val="99CCFF"/>
                  </a:gs>
                  <a:gs pos="100000">
                    <a:srgbClr val="CCCCF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41" name="TextBox 9"/>
              <p:cNvSpPr txBox="1">
                <a:spLocks noChangeArrowheads="1"/>
              </p:cNvSpPr>
              <p:nvPr/>
            </p:nvSpPr>
            <p:spPr bwMode="auto">
              <a:xfrm>
                <a:off x="6233340" y="4377588"/>
                <a:ext cx="1569115" cy="368610"/>
              </a:xfrm>
              <a:prstGeom prst="rect">
                <a:avLst/>
              </a:prstGeom>
              <a:noFill/>
              <a:ln w="9525">
                <a:noFill/>
                <a:miter lim="800000"/>
                <a:headEnd/>
                <a:tailEnd/>
              </a:ln>
            </p:spPr>
            <p:txBody>
              <a:bodyPr lIns="0" tIns="0" rIns="0" bIns="0">
                <a:spAutoFit/>
              </a:bodyPr>
              <a:lstStyle/>
              <a:p>
                <a:pPr algn="ctr" defTabSz="914400">
                  <a:spcBef>
                    <a:spcPct val="50000"/>
                  </a:spcBef>
                </a:pPr>
                <a:r>
                  <a:rPr lang="zh-CN" altLang="en-US" sz="2400" b="1">
                    <a:latin typeface="黑体" pitchFamily="49" charset="-122"/>
                    <a:ea typeface="黑体" pitchFamily="49" charset="-122"/>
                  </a:rPr>
                  <a:t>火焰探测器</a:t>
                </a:r>
              </a:p>
            </p:txBody>
          </p:sp>
        </p:grpSp>
        <p:grpSp>
          <p:nvGrpSpPr>
            <p:cNvPr id="37" name="组合 42"/>
            <p:cNvGrpSpPr>
              <a:grpSpLocks/>
            </p:cNvGrpSpPr>
            <p:nvPr/>
          </p:nvGrpSpPr>
          <p:grpSpPr bwMode="auto">
            <a:xfrm>
              <a:off x="5303838" y="4110037"/>
              <a:ext cx="379412" cy="427038"/>
              <a:chOff x="555577" y="982629"/>
              <a:chExt cx="379735" cy="427707"/>
            </a:xfrm>
          </p:grpSpPr>
          <p:sp>
            <p:nvSpPr>
              <p:cNvPr id="38" name="椭圆 37"/>
              <p:cNvSpPr>
                <a:spLocks noChangeAspect="1"/>
              </p:cNvSpPr>
              <p:nvPr/>
            </p:nvSpPr>
            <p:spPr>
              <a:xfrm>
                <a:off x="555577" y="1019198"/>
                <a:ext cx="379735" cy="380007"/>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39" name="TextBox 44"/>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3</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42" name="组合 53"/>
          <p:cNvGrpSpPr>
            <a:grpSpLocks/>
          </p:cNvGrpSpPr>
          <p:nvPr/>
        </p:nvGrpSpPr>
        <p:grpSpPr bwMode="auto">
          <a:xfrm>
            <a:off x="4974220" y="4927602"/>
            <a:ext cx="1357313" cy="1096962"/>
            <a:chOff x="2705100" y="4154487"/>
            <a:chExt cx="1357312" cy="1096963"/>
          </a:xfrm>
        </p:grpSpPr>
        <p:grpSp>
          <p:nvGrpSpPr>
            <p:cNvPr id="43" name="组合 29"/>
            <p:cNvGrpSpPr>
              <a:grpSpLocks/>
            </p:cNvGrpSpPr>
            <p:nvPr/>
          </p:nvGrpSpPr>
          <p:grpSpPr bwMode="auto">
            <a:xfrm>
              <a:off x="2705100" y="4762500"/>
              <a:ext cx="1200149" cy="488950"/>
              <a:chOff x="6233339" y="4340734"/>
              <a:chExt cx="1445662" cy="407613"/>
            </a:xfrm>
          </p:grpSpPr>
          <p:sp>
            <p:nvSpPr>
              <p:cNvPr id="47" name="圆角矩形 46"/>
              <p:cNvSpPr/>
              <p:nvPr/>
            </p:nvSpPr>
            <p:spPr>
              <a:xfrm>
                <a:off x="6233339" y="4340734"/>
                <a:ext cx="1445662" cy="407613"/>
              </a:xfrm>
              <a:prstGeom prst="roundRect">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48" name="TextBox 9"/>
              <p:cNvSpPr txBox="1">
                <a:spLocks noChangeArrowheads="1"/>
              </p:cNvSpPr>
              <p:nvPr/>
            </p:nvSpPr>
            <p:spPr bwMode="auto">
              <a:xfrm>
                <a:off x="6365284" y="4377790"/>
                <a:ext cx="1206632" cy="304386"/>
              </a:xfrm>
              <a:prstGeom prst="rect">
                <a:avLst/>
              </a:prstGeom>
              <a:noFill/>
              <a:ln w="9525">
                <a:noFill/>
                <a:miter lim="800000"/>
                <a:headEnd/>
                <a:tailEnd/>
              </a:ln>
            </p:spPr>
            <p:txBody>
              <a:bodyPr lIns="0" tIns="0" rIns="0" bIns="0">
                <a:spAutoFit/>
              </a:bodyPr>
              <a:lstStyle/>
              <a:p>
                <a:pPr defTabSz="914400">
                  <a:spcBef>
                    <a:spcPct val="50000"/>
                  </a:spcBef>
                </a:pPr>
                <a:r>
                  <a:rPr lang="zh-CN" altLang="en-US" sz="2400" b="1">
                    <a:latin typeface="黑体" pitchFamily="49" charset="-122"/>
                    <a:ea typeface="黑体" pitchFamily="49" charset="-122"/>
                  </a:rPr>
                  <a:t>燃烧器</a:t>
                </a:r>
              </a:p>
            </p:txBody>
          </p:sp>
        </p:grpSp>
        <p:grpSp>
          <p:nvGrpSpPr>
            <p:cNvPr id="44" name="组合 45"/>
            <p:cNvGrpSpPr>
              <a:grpSpLocks/>
            </p:cNvGrpSpPr>
            <p:nvPr/>
          </p:nvGrpSpPr>
          <p:grpSpPr bwMode="auto">
            <a:xfrm>
              <a:off x="3682999" y="4154487"/>
              <a:ext cx="379413" cy="427038"/>
              <a:chOff x="555576" y="982629"/>
              <a:chExt cx="379736" cy="427707"/>
            </a:xfrm>
          </p:grpSpPr>
          <p:sp>
            <p:nvSpPr>
              <p:cNvPr id="45" name="椭圆 44"/>
              <p:cNvSpPr>
                <a:spLocks noChangeAspect="1"/>
              </p:cNvSpPr>
              <p:nvPr/>
            </p:nvSpPr>
            <p:spPr>
              <a:xfrm>
                <a:off x="555576" y="1019198"/>
                <a:ext cx="379736" cy="380007"/>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46" name="TextBox 47"/>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4</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49" name="组合 54"/>
          <p:cNvGrpSpPr>
            <a:grpSpLocks/>
          </p:cNvGrpSpPr>
          <p:nvPr/>
        </p:nvGrpSpPr>
        <p:grpSpPr bwMode="auto">
          <a:xfrm>
            <a:off x="3986795" y="3376614"/>
            <a:ext cx="1811338" cy="558800"/>
            <a:chOff x="1717689" y="2603501"/>
            <a:chExt cx="1811324" cy="558799"/>
          </a:xfrm>
        </p:grpSpPr>
        <p:grpSp>
          <p:nvGrpSpPr>
            <p:cNvPr id="50" name="组合 29"/>
            <p:cNvGrpSpPr>
              <a:grpSpLocks/>
            </p:cNvGrpSpPr>
            <p:nvPr/>
          </p:nvGrpSpPr>
          <p:grpSpPr bwMode="auto">
            <a:xfrm>
              <a:off x="1717689" y="2603501"/>
              <a:ext cx="1387461" cy="558799"/>
              <a:chOff x="6115490" y="4374424"/>
              <a:chExt cx="1839218" cy="357706"/>
            </a:xfrm>
          </p:grpSpPr>
          <p:sp>
            <p:nvSpPr>
              <p:cNvPr id="54" name="圆角矩形 53"/>
              <p:cNvSpPr/>
              <p:nvPr/>
            </p:nvSpPr>
            <p:spPr>
              <a:xfrm>
                <a:off x="6233335" y="4374424"/>
                <a:ext cx="1649828" cy="357706"/>
              </a:xfrm>
              <a:prstGeom prst="roundRect">
                <a:avLst/>
              </a:prstGeom>
              <a:gradFill>
                <a:gsLst>
                  <a:gs pos="0">
                    <a:srgbClr val="FFF200"/>
                  </a:gs>
                  <a:gs pos="45000">
                    <a:srgbClr val="FF7A00"/>
                  </a:gs>
                  <a:gs pos="70000">
                    <a:srgbClr val="FF0300"/>
                  </a:gs>
                  <a:gs pos="100000">
                    <a:srgbClr val="4D0808"/>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55" name="TextBox 9"/>
              <p:cNvSpPr txBox="1">
                <a:spLocks noChangeArrowheads="1"/>
              </p:cNvSpPr>
              <p:nvPr/>
            </p:nvSpPr>
            <p:spPr bwMode="auto">
              <a:xfrm>
                <a:off x="6115490" y="4419137"/>
                <a:ext cx="1839218" cy="233729"/>
              </a:xfrm>
              <a:prstGeom prst="rect">
                <a:avLst/>
              </a:prstGeom>
              <a:noFill/>
              <a:ln w="9525">
                <a:noFill/>
                <a:miter lim="800000"/>
                <a:headEnd/>
                <a:tailEnd/>
              </a:ln>
            </p:spPr>
            <p:txBody>
              <a:bodyPr lIns="0" tIns="0" rIns="0" bIns="0">
                <a:spAutoFit/>
              </a:bodyPr>
              <a:lstStyle/>
              <a:p>
                <a:pPr algn="ctr" defTabSz="914400">
                  <a:spcBef>
                    <a:spcPct val="50000"/>
                  </a:spcBef>
                </a:pPr>
                <a:r>
                  <a:rPr lang="zh-CN" altLang="en-US" sz="2400" b="1">
                    <a:latin typeface="黑体" pitchFamily="49" charset="-122"/>
                    <a:ea typeface="黑体" pitchFamily="49" charset="-122"/>
                  </a:rPr>
                  <a:t>监视器</a:t>
                </a:r>
              </a:p>
            </p:txBody>
          </p:sp>
        </p:grpSp>
        <p:grpSp>
          <p:nvGrpSpPr>
            <p:cNvPr id="51" name="组合 48"/>
            <p:cNvGrpSpPr>
              <a:grpSpLocks/>
            </p:cNvGrpSpPr>
            <p:nvPr/>
          </p:nvGrpSpPr>
          <p:grpSpPr bwMode="auto">
            <a:xfrm>
              <a:off x="3149603" y="2687638"/>
              <a:ext cx="379410" cy="427037"/>
              <a:chOff x="555580" y="982629"/>
              <a:chExt cx="379732" cy="427707"/>
            </a:xfrm>
          </p:grpSpPr>
          <p:sp>
            <p:nvSpPr>
              <p:cNvPr id="52" name="椭圆 51"/>
              <p:cNvSpPr>
                <a:spLocks noChangeAspect="1"/>
              </p:cNvSpPr>
              <p:nvPr/>
            </p:nvSpPr>
            <p:spPr>
              <a:xfrm>
                <a:off x="555580" y="1019199"/>
                <a:ext cx="379732" cy="380007"/>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53" name="TextBox 50"/>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5</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pic>
        <p:nvPicPr>
          <p:cNvPr id="56" name="Picture 12" descr="光敏电阻"/>
          <p:cNvPicPr>
            <a:picLocks noChangeAspect="1" noChangeArrowheads="1"/>
          </p:cNvPicPr>
          <p:nvPr/>
        </p:nvPicPr>
        <p:blipFill>
          <a:blip r:embed="rId2" cstate="print"/>
          <a:srcRect/>
          <a:stretch>
            <a:fillRect/>
          </a:stretch>
        </p:blipFill>
        <p:spPr bwMode="auto">
          <a:xfrm>
            <a:off x="5596520" y="1135064"/>
            <a:ext cx="2466975" cy="1646238"/>
          </a:xfrm>
          <a:prstGeom prst="rect">
            <a:avLst/>
          </a:prstGeom>
          <a:noFill/>
          <a:ln w="9525">
            <a:noFill/>
            <a:miter lim="800000"/>
            <a:headEnd/>
            <a:tailEnd/>
          </a:ln>
        </p:spPr>
      </p:pic>
      <p:pic>
        <p:nvPicPr>
          <p:cNvPr id="57" name="Picture 5" descr="凤凰相机"/>
          <p:cNvPicPr>
            <a:picLocks noChangeAspect="1" noChangeArrowheads="1"/>
          </p:cNvPicPr>
          <p:nvPr/>
        </p:nvPicPr>
        <p:blipFill>
          <a:blip r:embed="rId3" cstate="print"/>
          <a:srcRect/>
          <a:stretch>
            <a:fillRect/>
          </a:stretch>
        </p:blipFill>
        <p:spPr bwMode="auto">
          <a:xfrm>
            <a:off x="8085720" y="2068514"/>
            <a:ext cx="3105150" cy="2416175"/>
          </a:xfrm>
          <a:prstGeom prst="rect">
            <a:avLst/>
          </a:prstGeom>
          <a:noFill/>
          <a:ln w="9525">
            <a:noFill/>
            <a:miter lim="800000"/>
            <a:headEnd/>
            <a:tailEnd/>
          </a:ln>
        </p:spPr>
      </p:pic>
      <p:pic>
        <p:nvPicPr>
          <p:cNvPr id="58" name="Picture 6" descr="火焰探测器"/>
          <p:cNvPicPr>
            <a:picLocks noChangeAspect="1" noChangeArrowheads="1"/>
          </p:cNvPicPr>
          <p:nvPr/>
        </p:nvPicPr>
        <p:blipFill>
          <a:blip r:embed="rId4" cstate="print"/>
          <a:srcRect/>
          <a:stretch>
            <a:fillRect/>
          </a:stretch>
        </p:blipFill>
        <p:spPr bwMode="auto">
          <a:xfrm>
            <a:off x="7747583" y="4824414"/>
            <a:ext cx="3316287" cy="2400300"/>
          </a:xfrm>
          <a:prstGeom prst="rect">
            <a:avLst/>
          </a:prstGeom>
          <a:noFill/>
          <a:ln w="9525">
            <a:noFill/>
            <a:miter lim="800000"/>
            <a:headEnd/>
            <a:tailEnd/>
          </a:ln>
        </p:spPr>
      </p:pic>
      <p:pic>
        <p:nvPicPr>
          <p:cNvPr id="59" name="Picture 4" descr="燃烧器"/>
          <p:cNvPicPr>
            <a:picLocks noChangeAspect="1" noChangeArrowheads="1"/>
          </p:cNvPicPr>
          <p:nvPr/>
        </p:nvPicPr>
        <p:blipFill>
          <a:blip r:embed="rId5" cstate="print"/>
          <a:srcRect/>
          <a:stretch>
            <a:fillRect/>
          </a:stretch>
        </p:blipFill>
        <p:spPr bwMode="auto">
          <a:xfrm>
            <a:off x="3942345" y="4824414"/>
            <a:ext cx="2320925" cy="2139950"/>
          </a:xfrm>
          <a:prstGeom prst="rect">
            <a:avLst/>
          </a:prstGeom>
          <a:noFill/>
          <a:ln w="9525">
            <a:noFill/>
            <a:miter lim="800000"/>
            <a:headEnd/>
            <a:tailEnd/>
          </a:ln>
        </p:spPr>
      </p:pic>
      <p:pic>
        <p:nvPicPr>
          <p:cNvPr id="60" name="Picture 7" descr="光敏电阻1"/>
          <p:cNvPicPr>
            <a:picLocks noChangeAspect="1" noChangeArrowheads="1"/>
          </p:cNvPicPr>
          <p:nvPr/>
        </p:nvPicPr>
        <p:blipFill>
          <a:blip r:embed="rId6" cstate="print"/>
          <a:srcRect/>
          <a:stretch>
            <a:fillRect/>
          </a:stretch>
        </p:blipFill>
        <p:spPr bwMode="auto">
          <a:xfrm>
            <a:off x="2269120" y="2344739"/>
            <a:ext cx="3282950" cy="2168525"/>
          </a:xfrm>
          <a:prstGeom prst="rect">
            <a:avLst/>
          </a:prstGeom>
          <a:noFill/>
          <a:ln w="9525">
            <a:noFill/>
            <a:miter lim="800000"/>
            <a:headEnd/>
            <a:tailEnd/>
          </a:ln>
        </p:spPr>
      </p:pic>
      <p:grpSp>
        <p:nvGrpSpPr>
          <p:cNvPr id="61" name="组合 60"/>
          <p:cNvGrpSpPr/>
          <p:nvPr/>
        </p:nvGrpSpPr>
        <p:grpSpPr>
          <a:xfrm>
            <a:off x="10337881" y="293282"/>
            <a:ext cx="2823365" cy="523220"/>
            <a:chOff x="10337881" y="293282"/>
            <a:chExt cx="2823365" cy="523220"/>
          </a:xfrm>
        </p:grpSpPr>
        <p:sp>
          <p:nvSpPr>
            <p:cNvPr id="62" name="矩形 61"/>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63" name="矩形 62">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65" name="文本框 60">
            <a:extLst>
              <a:ext uri="{FF2B5EF4-FFF2-40B4-BE49-F238E27FC236}">
                <a16:creationId xmlns="" xmlns:a16="http://schemas.microsoft.com/office/drawing/2014/main" id="{791D85D7-F412-9C48-9F2B-E33F5B7B4F3C}"/>
              </a:ext>
            </a:extLst>
          </p:cNvPr>
          <p:cNvSpPr txBox="1"/>
          <p:nvPr/>
        </p:nvSpPr>
        <p:spPr>
          <a:xfrm>
            <a:off x="1476183" y="274232"/>
            <a:ext cx="2130894"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光电导探测器</a:t>
            </a:r>
          </a:p>
        </p:txBody>
      </p:sp>
      <p:cxnSp>
        <p:nvCxnSpPr>
          <p:cNvPr id="66"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64806" y="693392"/>
            <a:ext cx="1990689"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094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ox(i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ox(i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 calcmode="lin" valueType="num">
                                      <p:cBhvr additive="base">
                                        <p:cTn id="17" dur="500" fill="hold"/>
                                        <p:tgtEl>
                                          <p:spTgt spid="56"/>
                                        </p:tgtEl>
                                        <p:attrNameLst>
                                          <p:attrName>ppt_x</p:attrName>
                                        </p:attrNameLst>
                                      </p:cBhvr>
                                      <p:tavLst>
                                        <p:tav tm="0">
                                          <p:val>
                                            <p:strVal val="#ppt_x"/>
                                          </p:val>
                                        </p:tav>
                                        <p:tav tm="100000">
                                          <p:val>
                                            <p:strVal val="#ppt_x"/>
                                          </p:val>
                                        </p:tav>
                                      </p:tavLst>
                                    </p:anim>
                                    <p:anim calcmode="lin" valueType="num">
                                      <p:cBhvr additive="base">
                                        <p:cTn id="18" dur="500" fill="hold"/>
                                        <p:tgtEl>
                                          <p:spTgt spid="56"/>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xit" presetSubtype="1" fill="hold" nodeType="clickEffect">
                                  <p:stCondLst>
                                    <p:cond delay="0"/>
                                  </p:stCondLst>
                                  <p:childTnLst>
                                    <p:anim calcmode="lin" valueType="num">
                                      <p:cBhvr additive="base">
                                        <p:cTn id="22" dur="500"/>
                                        <p:tgtEl>
                                          <p:spTgt spid="56"/>
                                        </p:tgtEl>
                                        <p:attrNameLst>
                                          <p:attrName>ppt_x</p:attrName>
                                        </p:attrNameLst>
                                      </p:cBhvr>
                                      <p:tavLst>
                                        <p:tav tm="0">
                                          <p:val>
                                            <p:strVal val="ppt_x"/>
                                          </p:val>
                                        </p:tav>
                                        <p:tav tm="100000">
                                          <p:val>
                                            <p:strVal val="ppt_x"/>
                                          </p:val>
                                        </p:tav>
                                      </p:tavLst>
                                    </p:anim>
                                    <p:anim calcmode="lin" valueType="num">
                                      <p:cBhvr additive="base">
                                        <p:cTn id="23" dur="500"/>
                                        <p:tgtEl>
                                          <p:spTgt spid="56"/>
                                        </p:tgtEl>
                                        <p:attrNameLst>
                                          <p:attrName>ppt_y</p:attrName>
                                        </p:attrNameLst>
                                      </p:cBhvr>
                                      <p:tavLst>
                                        <p:tav tm="0">
                                          <p:val>
                                            <p:strVal val="ppt_y"/>
                                          </p:val>
                                        </p:tav>
                                        <p:tav tm="100000">
                                          <p:val>
                                            <p:strVal val="0-ppt_h/2"/>
                                          </p:val>
                                        </p:tav>
                                      </p:tavLst>
                                    </p:anim>
                                    <p:set>
                                      <p:cBhvr>
                                        <p:cTn id="24" dur="1" fill="hold">
                                          <p:stCondLst>
                                            <p:cond delay="499"/>
                                          </p:stCondLst>
                                        </p:cTn>
                                        <p:tgtEl>
                                          <p:spTgt spid="5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box(in)">
                                      <p:cBhvr>
                                        <p:cTn id="29" dur="5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57"/>
                                        </p:tgtEl>
                                        <p:attrNameLst>
                                          <p:attrName>style.visibility</p:attrName>
                                        </p:attrNameLst>
                                      </p:cBhvr>
                                      <p:to>
                                        <p:strVal val="visible"/>
                                      </p:to>
                                    </p:set>
                                    <p:anim calcmode="lin" valueType="num">
                                      <p:cBhvr additive="base">
                                        <p:cTn id="34" dur="500" fill="hold"/>
                                        <p:tgtEl>
                                          <p:spTgt spid="57"/>
                                        </p:tgtEl>
                                        <p:attrNameLst>
                                          <p:attrName>ppt_x</p:attrName>
                                        </p:attrNameLst>
                                      </p:cBhvr>
                                      <p:tavLst>
                                        <p:tav tm="0">
                                          <p:val>
                                            <p:strVal val="1+#ppt_w/2"/>
                                          </p:val>
                                        </p:tav>
                                        <p:tav tm="100000">
                                          <p:val>
                                            <p:strVal val="#ppt_x"/>
                                          </p:val>
                                        </p:tav>
                                      </p:tavLst>
                                    </p:anim>
                                    <p:anim calcmode="lin" valueType="num">
                                      <p:cBhvr additive="base">
                                        <p:cTn id="35"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xit" presetSubtype="2" fill="hold" nodeType="clickEffect">
                                  <p:stCondLst>
                                    <p:cond delay="0"/>
                                  </p:stCondLst>
                                  <p:childTnLst>
                                    <p:anim calcmode="lin" valueType="num">
                                      <p:cBhvr additive="base">
                                        <p:cTn id="39" dur="500"/>
                                        <p:tgtEl>
                                          <p:spTgt spid="57"/>
                                        </p:tgtEl>
                                        <p:attrNameLst>
                                          <p:attrName>ppt_x</p:attrName>
                                        </p:attrNameLst>
                                      </p:cBhvr>
                                      <p:tavLst>
                                        <p:tav tm="0">
                                          <p:val>
                                            <p:strVal val="ppt_x"/>
                                          </p:val>
                                        </p:tav>
                                        <p:tav tm="100000">
                                          <p:val>
                                            <p:strVal val="1+ppt_w/2"/>
                                          </p:val>
                                        </p:tav>
                                      </p:tavLst>
                                    </p:anim>
                                    <p:anim calcmode="lin" valueType="num">
                                      <p:cBhvr additive="base">
                                        <p:cTn id="40" dur="500"/>
                                        <p:tgtEl>
                                          <p:spTgt spid="57"/>
                                        </p:tgtEl>
                                        <p:attrNameLst>
                                          <p:attrName>ppt_y</p:attrName>
                                        </p:attrNameLst>
                                      </p:cBhvr>
                                      <p:tavLst>
                                        <p:tav tm="0">
                                          <p:val>
                                            <p:strVal val="ppt_y"/>
                                          </p:val>
                                        </p:tav>
                                        <p:tav tm="100000">
                                          <p:val>
                                            <p:strVal val="ppt_y"/>
                                          </p:val>
                                        </p:tav>
                                      </p:tavLst>
                                    </p:anim>
                                    <p:set>
                                      <p:cBhvr>
                                        <p:cTn id="41" dur="1" fill="hold">
                                          <p:stCondLst>
                                            <p:cond delay="499"/>
                                          </p:stCondLst>
                                        </p:cTn>
                                        <p:tgtEl>
                                          <p:spTgt spid="57"/>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nodeType="click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box(in)">
                                      <p:cBhvr>
                                        <p:cTn id="46" dur="500"/>
                                        <p:tgtEl>
                                          <p:spTgt spid="35"/>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58"/>
                                        </p:tgtEl>
                                        <p:attrNameLst>
                                          <p:attrName>style.visibility</p:attrName>
                                        </p:attrNameLst>
                                      </p:cBhvr>
                                      <p:to>
                                        <p:strVal val="visible"/>
                                      </p:to>
                                    </p:set>
                                    <p:anim calcmode="lin" valueType="num">
                                      <p:cBhvr additive="base">
                                        <p:cTn id="51" dur="500" fill="hold"/>
                                        <p:tgtEl>
                                          <p:spTgt spid="58"/>
                                        </p:tgtEl>
                                        <p:attrNameLst>
                                          <p:attrName>ppt_x</p:attrName>
                                        </p:attrNameLst>
                                      </p:cBhvr>
                                      <p:tavLst>
                                        <p:tav tm="0">
                                          <p:val>
                                            <p:strVal val="#ppt_x"/>
                                          </p:val>
                                        </p:tav>
                                        <p:tav tm="100000">
                                          <p:val>
                                            <p:strVal val="#ppt_x"/>
                                          </p:val>
                                        </p:tav>
                                      </p:tavLst>
                                    </p:anim>
                                    <p:anim calcmode="lin" valueType="num">
                                      <p:cBhvr additive="base">
                                        <p:cTn id="52"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xit" presetSubtype="4" fill="hold" nodeType="clickEffect">
                                  <p:stCondLst>
                                    <p:cond delay="0"/>
                                  </p:stCondLst>
                                  <p:childTnLst>
                                    <p:anim calcmode="lin" valueType="num">
                                      <p:cBhvr additive="base">
                                        <p:cTn id="56" dur="500"/>
                                        <p:tgtEl>
                                          <p:spTgt spid="58"/>
                                        </p:tgtEl>
                                        <p:attrNameLst>
                                          <p:attrName>ppt_x</p:attrName>
                                        </p:attrNameLst>
                                      </p:cBhvr>
                                      <p:tavLst>
                                        <p:tav tm="0">
                                          <p:val>
                                            <p:strVal val="ppt_x"/>
                                          </p:val>
                                        </p:tav>
                                        <p:tav tm="100000">
                                          <p:val>
                                            <p:strVal val="ppt_x"/>
                                          </p:val>
                                        </p:tav>
                                      </p:tavLst>
                                    </p:anim>
                                    <p:anim calcmode="lin" valueType="num">
                                      <p:cBhvr additive="base">
                                        <p:cTn id="57" dur="500"/>
                                        <p:tgtEl>
                                          <p:spTgt spid="58"/>
                                        </p:tgtEl>
                                        <p:attrNameLst>
                                          <p:attrName>ppt_y</p:attrName>
                                        </p:attrNameLst>
                                      </p:cBhvr>
                                      <p:tavLst>
                                        <p:tav tm="0">
                                          <p:val>
                                            <p:strVal val="ppt_y"/>
                                          </p:val>
                                        </p:tav>
                                        <p:tav tm="100000">
                                          <p:val>
                                            <p:strVal val="1+ppt_h/2"/>
                                          </p:val>
                                        </p:tav>
                                      </p:tavLst>
                                    </p:anim>
                                    <p:set>
                                      <p:cBhvr>
                                        <p:cTn id="58" dur="1" fill="hold">
                                          <p:stCondLst>
                                            <p:cond delay="499"/>
                                          </p:stCondLst>
                                        </p:cTn>
                                        <p:tgtEl>
                                          <p:spTgt spid="58"/>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nodeType="click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box(in)">
                                      <p:cBhvr>
                                        <p:cTn id="63" dur="500"/>
                                        <p:tgtEl>
                                          <p:spTgt spid="42"/>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59"/>
                                        </p:tgtEl>
                                        <p:attrNameLst>
                                          <p:attrName>style.visibility</p:attrName>
                                        </p:attrNameLst>
                                      </p:cBhvr>
                                      <p:to>
                                        <p:strVal val="visible"/>
                                      </p:to>
                                    </p:set>
                                    <p:anim calcmode="lin" valueType="num">
                                      <p:cBhvr additive="base">
                                        <p:cTn id="68" dur="500" fill="hold"/>
                                        <p:tgtEl>
                                          <p:spTgt spid="59"/>
                                        </p:tgtEl>
                                        <p:attrNameLst>
                                          <p:attrName>ppt_x</p:attrName>
                                        </p:attrNameLst>
                                      </p:cBhvr>
                                      <p:tavLst>
                                        <p:tav tm="0">
                                          <p:val>
                                            <p:strVal val="#ppt_x"/>
                                          </p:val>
                                        </p:tav>
                                        <p:tav tm="100000">
                                          <p:val>
                                            <p:strVal val="#ppt_x"/>
                                          </p:val>
                                        </p:tav>
                                      </p:tavLst>
                                    </p:anim>
                                    <p:anim calcmode="lin" valueType="num">
                                      <p:cBhvr additive="base">
                                        <p:cTn id="69"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xit" presetSubtype="4" fill="hold" nodeType="clickEffect">
                                  <p:stCondLst>
                                    <p:cond delay="0"/>
                                  </p:stCondLst>
                                  <p:childTnLst>
                                    <p:anim calcmode="lin" valueType="num">
                                      <p:cBhvr additive="base">
                                        <p:cTn id="73" dur="500"/>
                                        <p:tgtEl>
                                          <p:spTgt spid="59"/>
                                        </p:tgtEl>
                                        <p:attrNameLst>
                                          <p:attrName>ppt_x</p:attrName>
                                        </p:attrNameLst>
                                      </p:cBhvr>
                                      <p:tavLst>
                                        <p:tav tm="0">
                                          <p:val>
                                            <p:strVal val="ppt_x"/>
                                          </p:val>
                                        </p:tav>
                                        <p:tav tm="100000">
                                          <p:val>
                                            <p:strVal val="ppt_x"/>
                                          </p:val>
                                        </p:tav>
                                      </p:tavLst>
                                    </p:anim>
                                    <p:anim calcmode="lin" valueType="num">
                                      <p:cBhvr additive="base">
                                        <p:cTn id="74" dur="500"/>
                                        <p:tgtEl>
                                          <p:spTgt spid="59"/>
                                        </p:tgtEl>
                                        <p:attrNameLst>
                                          <p:attrName>ppt_y</p:attrName>
                                        </p:attrNameLst>
                                      </p:cBhvr>
                                      <p:tavLst>
                                        <p:tav tm="0">
                                          <p:val>
                                            <p:strVal val="ppt_y"/>
                                          </p:val>
                                        </p:tav>
                                        <p:tav tm="100000">
                                          <p:val>
                                            <p:strVal val="1+ppt_h/2"/>
                                          </p:val>
                                        </p:tav>
                                      </p:tavLst>
                                    </p:anim>
                                    <p:set>
                                      <p:cBhvr>
                                        <p:cTn id="75" dur="1" fill="hold">
                                          <p:stCondLst>
                                            <p:cond delay="499"/>
                                          </p:stCondLst>
                                        </p:cTn>
                                        <p:tgtEl>
                                          <p:spTgt spid="59"/>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nodeType="click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box(in)">
                                      <p:cBhvr>
                                        <p:cTn id="80" dur="500"/>
                                        <p:tgtEl>
                                          <p:spTgt spid="49"/>
                                        </p:tgtEl>
                                      </p:cBhvr>
                                    </p:animEffect>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nodeType="clickEffect">
                                  <p:stCondLst>
                                    <p:cond delay="0"/>
                                  </p:stCondLst>
                                  <p:childTnLst>
                                    <p:set>
                                      <p:cBhvr>
                                        <p:cTn id="84" dur="1" fill="hold">
                                          <p:stCondLst>
                                            <p:cond delay="0"/>
                                          </p:stCondLst>
                                        </p:cTn>
                                        <p:tgtEl>
                                          <p:spTgt spid="60"/>
                                        </p:tgtEl>
                                        <p:attrNameLst>
                                          <p:attrName>style.visibility</p:attrName>
                                        </p:attrNameLst>
                                      </p:cBhvr>
                                      <p:to>
                                        <p:strVal val="visible"/>
                                      </p:to>
                                    </p:set>
                                    <p:anim calcmode="lin" valueType="num">
                                      <p:cBhvr additive="base">
                                        <p:cTn id="85" dur="500" fill="hold"/>
                                        <p:tgtEl>
                                          <p:spTgt spid="60"/>
                                        </p:tgtEl>
                                        <p:attrNameLst>
                                          <p:attrName>ppt_x</p:attrName>
                                        </p:attrNameLst>
                                      </p:cBhvr>
                                      <p:tavLst>
                                        <p:tav tm="0">
                                          <p:val>
                                            <p:strVal val="0-#ppt_w/2"/>
                                          </p:val>
                                        </p:tav>
                                        <p:tav tm="100000">
                                          <p:val>
                                            <p:strVal val="#ppt_x"/>
                                          </p:val>
                                        </p:tav>
                                      </p:tavLst>
                                    </p:anim>
                                    <p:anim calcmode="lin" valueType="num">
                                      <p:cBhvr additive="base">
                                        <p:cTn id="86"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xit" presetSubtype="8" fill="hold" nodeType="clickEffect">
                                  <p:stCondLst>
                                    <p:cond delay="0"/>
                                  </p:stCondLst>
                                  <p:childTnLst>
                                    <p:anim calcmode="lin" valueType="num">
                                      <p:cBhvr additive="base">
                                        <p:cTn id="90" dur="500"/>
                                        <p:tgtEl>
                                          <p:spTgt spid="60"/>
                                        </p:tgtEl>
                                        <p:attrNameLst>
                                          <p:attrName>ppt_x</p:attrName>
                                        </p:attrNameLst>
                                      </p:cBhvr>
                                      <p:tavLst>
                                        <p:tav tm="0">
                                          <p:val>
                                            <p:strVal val="ppt_x"/>
                                          </p:val>
                                        </p:tav>
                                        <p:tav tm="100000">
                                          <p:val>
                                            <p:strVal val="0-ppt_w/2"/>
                                          </p:val>
                                        </p:tav>
                                      </p:tavLst>
                                    </p:anim>
                                    <p:anim calcmode="lin" valueType="num">
                                      <p:cBhvr additive="base">
                                        <p:cTn id="91" dur="500"/>
                                        <p:tgtEl>
                                          <p:spTgt spid="60"/>
                                        </p:tgtEl>
                                        <p:attrNameLst>
                                          <p:attrName>ppt_y</p:attrName>
                                        </p:attrNameLst>
                                      </p:cBhvr>
                                      <p:tavLst>
                                        <p:tav tm="0">
                                          <p:val>
                                            <p:strVal val="ppt_y"/>
                                          </p:val>
                                        </p:tav>
                                        <p:tav tm="100000">
                                          <p:val>
                                            <p:strVal val="ppt_y"/>
                                          </p:val>
                                        </p:tav>
                                      </p:tavLst>
                                    </p:anim>
                                    <p:set>
                                      <p:cBhvr>
                                        <p:cTn id="92" dur="1" fill="hold">
                                          <p:stCondLst>
                                            <p:cond delay="499"/>
                                          </p:stCondLst>
                                        </p:cTn>
                                        <p:tgtEl>
                                          <p:spTgt spid="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光电导探测器的原理与结构</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光电导探测器的原理与结构</a:t>
            </a: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3.1</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2" name="组合 11"/>
          <p:cNvGrpSpPr/>
          <p:nvPr/>
        </p:nvGrpSpPr>
        <p:grpSpPr>
          <a:xfrm>
            <a:off x="10337881" y="293282"/>
            <a:ext cx="2823365" cy="523220"/>
            <a:chOff x="10337881" y="293282"/>
            <a:chExt cx="2823365" cy="523220"/>
          </a:xfrm>
        </p:grpSpPr>
        <p:sp>
          <p:nvSpPr>
            <p:cNvPr id="14" name="矩形 13"/>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5" name="矩形 1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21265760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0">
            <a:extLst>
              <a:ext uri="{FF2B5EF4-FFF2-40B4-BE49-F238E27FC236}">
                <a16:creationId xmlns="" xmlns:a16="http://schemas.microsoft.com/office/drawing/2014/main" id="{791D85D7-F412-9C48-9F2B-E33F5B7B4F3C}"/>
              </a:ext>
            </a:extLst>
          </p:cNvPr>
          <p:cNvSpPr txBox="1"/>
          <p:nvPr/>
        </p:nvSpPr>
        <p:spPr>
          <a:xfrm>
            <a:off x="1546613" y="312087"/>
            <a:ext cx="2617122"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光电导探测器的原理</a:t>
            </a:r>
          </a:p>
        </p:txBody>
      </p:sp>
      <p:sp>
        <p:nvSpPr>
          <p:cNvPr id="7" name="矩形: 圆角 25">
            <a:extLst>
              <a:ext uri="{FF2B5EF4-FFF2-40B4-BE49-F238E27FC236}">
                <a16:creationId xmlns="" xmlns:a16="http://schemas.microsoft.com/office/drawing/2014/main" id="{D7400AB1-4BEC-40E5-A53B-E3CB1F48EB8A}"/>
              </a:ext>
            </a:extLst>
          </p:cNvPr>
          <p:cNvSpPr/>
          <p:nvPr/>
        </p:nvSpPr>
        <p:spPr>
          <a:xfrm>
            <a:off x="346792"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8"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664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1" name="立方体 10"/>
          <p:cNvSpPr/>
          <p:nvPr/>
        </p:nvSpPr>
        <p:spPr>
          <a:xfrm rot="12543734">
            <a:off x="708227" y="2838407"/>
            <a:ext cx="6089650" cy="2602467"/>
          </a:xfrm>
          <a:prstGeom prst="cube">
            <a:avLst/>
          </a:prstGeom>
          <a:gradFill flip="none" rotWithShape="1">
            <a:gsLst>
              <a:gs pos="0">
                <a:srgbClr val="DDEBCF"/>
              </a:gs>
              <a:gs pos="50000">
                <a:srgbClr val="9CB86E"/>
              </a:gs>
              <a:gs pos="100000">
                <a:srgbClr val="156B13"/>
              </a:gs>
            </a:gsLst>
            <a:lin ang="2700000" scaled="1"/>
            <a:tileRect/>
          </a:gradFill>
          <a:ln w="50800">
            <a:solidFill>
              <a:srgbClr val="FF00FF"/>
            </a:solidFill>
          </a:ln>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grpSp>
        <p:nvGrpSpPr>
          <p:cNvPr id="12" name="组合 36"/>
          <p:cNvGrpSpPr>
            <a:grpSpLocks/>
          </p:cNvGrpSpPr>
          <p:nvPr/>
        </p:nvGrpSpPr>
        <p:grpSpPr bwMode="auto">
          <a:xfrm>
            <a:off x="805581" y="4173230"/>
            <a:ext cx="6010275" cy="2030412"/>
            <a:chOff x="1228725" y="3957638"/>
            <a:chExt cx="6010275" cy="2030412"/>
          </a:xfrm>
        </p:grpSpPr>
        <p:cxnSp>
          <p:nvCxnSpPr>
            <p:cNvPr id="13" name="直接连接符 12"/>
            <p:cNvCxnSpPr/>
            <p:nvPr/>
          </p:nvCxnSpPr>
          <p:spPr>
            <a:xfrm rot="10800000">
              <a:off x="1228725" y="3957638"/>
              <a:ext cx="666750" cy="1587"/>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直接连接符 6"/>
            <p:cNvCxnSpPr/>
            <p:nvPr/>
          </p:nvCxnSpPr>
          <p:spPr>
            <a:xfrm rot="5400000">
              <a:off x="340519" y="4845844"/>
              <a:ext cx="1778000" cy="1588"/>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0800000">
              <a:off x="6705600" y="3957638"/>
              <a:ext cx="533400" cy="1587"/>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rot="10800000">
              <a:off x="1228725" y="5735638"/>
              <a:ext cx="2489200" cy="1587"/>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rot="5400000">
              <a:off x="6341269" y="4845844"/>
              <a:ext cx="1778000" cy="1588"/>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24" idx="1"/>
            </p:cNvCxnSpPr>
            <p:nvPr/>
          </p:nvCxnSpPr>
          <p:spPr>
            <a:xfrm rot="10800000" flipV="1">
              <a:off x="3851275" y="5729288"/>
              <a:ext cx="1200150" cy="635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5400000">
              <a:off x="3496469" y="5734844"/>
              <a:ext cx="444500"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a:off x="3718719" y="5734844"/>
              <a:ext cx="266700"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0800000" flipV="1">
              <a:off x="5495925" y="5735638"/>
              <a:ext cx="1733550" cy="7937"/>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2" name="组合 31"/>
            <p:cNvGrpSpPr>
              <a:grpSpLocks/>
            </p:cNvGrpSpPr>
            <p:nvPr/>
          </p:nvGrpSpPr>
          <p:grpSpPr bwMode="auto">
            <a:xfrm>
              <a:off x="5051425" y="5468938"/>
              <a:ext cx="444500" cy="519112"/>
              <a:chOff x="5372100" y="4095750"/>
              <a:chExt cx="444500" cy="520039"/>
            </a:xfrm>
          </p:grpSpPr>
          <p:sp>
            <p:nvSpPr>
              <p:cNvPr id="23" name="椭圆 22"/>
              <p:cNvSpPr>
                <a:spLocks noChangeAspect="1"/>
              </p:cNvSpPr>
              <p:nvPr/>
            </p:nvSpPr>
            <p:spPr>
              <a:xfrm>
                <a:off x="5389563" y="4157773"/>
                <a:ext cx="427037" cy="426210"/>
              </a:xfrm>
              <a:prstGeom prst="ellipse">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24" name="TextBox 30"/>
              <p:cNvSpPr txBox="1">
                <a:spLocks noChangeArrowheads="1"/>
              </p:cNvSpPr>
              <p:nvPr/>
            </p:nvSpPr>
            <p:spPr bwMode="auto">
              <a:xfrm>
                <a:off x="5372100" y="4095750"/>
                <a:ext cx="400050" cy="520039"/>
              </a:xfrm>
              <a:prstGeom prst="rect">
                <a:avLst/>
              </a:prstGeom>
              <a:noFill/>
              <a:ln w="9525">
                <a:noFill/>
                <a:miter lim="800000"/>
                <a:headEnd/>
                <a:tailEnd/>
              </a:ln>
            </p:spPr>
            <p:txBody>
              <a:bodyPr>
                <a:spAutoFit/>
              </a:bodyPr>
              <a:lstStyle/>
              <a:p>
                <a:pPr defTabSz="914400"/>
                <a:r>
                  <a:rPr lang="en-US" altLang="zh-CN" sz="2800" b="1">
                    <a:solidFill>
                      <a:srgbClr val="FF0000"/>
                    </a:solidFill>
                    <a:latin typeface="Times New Roman" pitchFamily="18" charset="0"/>
                    <a:ea typeface="楷体_GB2312" pitchFamily="49" charset="-122"/>
                    <a:cs typeface="Times New Roman" pitchFamily="18" charset="0"/>
                  </a:rPr>
                  <a:t>A</a:t>
                </a:r>
                <a:endParaRPr lang="zh-CN" altLang="en-US" sz="2800" b="1">
                  <a:solidFill>
                    <a:srgbClr val="FF0000"/>
                  </a:solidFill>
                  <a:latin typeface="Times New Roman" pitchFamily="18" charset="0"/>
                  <a:ea typeface="楷体_GB2312" pitchFamily="49" charset="-122"/>
                  <a:cs typeface="Times New Roman" pitchFamily="18" charset="0"/>
                </a:endParaRPr>
              </a:p>
            </p:txBody>
          </p:sp>
        </p:grpSp>
      </p:grpSp>
      <p:sp>
        <p:nvSpPr>
          <p:cNvPr id="25" name="TextBox 32"/>
          <p:cNvSpPr txBox="1">
            <a:spLocks noChangeArrowheads="1"/>
          </p:cNvSpPr>
          <p:nvPr/>
        </p:nvSpPr>
        <p:spPr bwMode="auto">
          <a:xfrm>
            <a:off x="3472581" y="6040130"/>
            <a:ext cx="355600" cy="492443"/>
          </a:xfrm>
          <a:prstGeom prst="rect">
            <a:avLst/>
          </a:prstGeom>
          <a:noFill/>
          <a:ln w="9525">
            <a:noFill/>
            <a:miter lim="800000"/>
            <a:headEnd/>
            <a:tailEnd/>
          </a:ln>
        </p:spPr>
        <p:txBody>
          <a:bodyPr lIns="0" tIns="0" rIns="0" bIns="0">
            <a:spAutoFit/>
          </a:bodyPr>
          <a:lstStyle/>
          <a:p>
            <a:pPr defTabSz="914400"/>
            <a:r>
              <a:rPr lang="en-US" altLang="zh-CN" sz="3200" b="1" dirty="0">
                <a:solidFill>
                  <a:srgbClr val="FF00FF"/>
                </a:solidFill>
                <a:latin typeface="Times New Roman" pitchFamily="18" charset="0"/>
                <a:ea typeface="楷体_GB2312" pitchFamily="49" charset="-122"/>
                <a:cs typeface="Times New Roman" pitchFamily="18" charset="0"/>
              </a:rPr>
              <a:t>V</a:t>
            </a:r>
            <a:endParaRPr lang="zh-CN" altLang="en-US" sz="3200" b="1" dirty="0">
              <a:solidFill>
                <a:srgbClr val="FF00FF"/>
              </a:solidFill>
              <a:latin typeface="Times New Roman" pitchFamily="18" charset="0"/>
              <a:ea typeface="楷体_GB2312" pitchFamily="49" charset="-122"/>
              <a:cs typeface="Times New Roman" pitchFamily="18" charset="0"/>
            </a:endParaRPr>
          </a:p>
        </p:txBody>
      </p:sp>
      <p:sp>
        <p:nvSpPr>
          <p:cNvPr id="26" name="TextBox 33"/>
          <p:cNvSpPr txBox="1">
            <a:spLocks noChangeArrowheads="1"/>
          </p:cNvSpPr>
          <p:nvPr/>
        </p:nvSpPr>
        <p:spPr bwMode="auto">
          <a:xfrm>
            <a:off x="1027831" y="4262130"/>
            <a:ext cx="355600" cy="427037"/>
          </a:xfrm>
          <a:prstGeom prst="rect">
            <a:avLst/>
          </a:prstGeom>
          <a:noFill/>
          <a:ln w="9525">
            <a:noFill/>
            <a:miter lim="800000"/>
            <a:headEnd/>
            <a:tailEnd/>
          </a:ln>
        </p:spPr>
        <p:txBody>
          <a:bodyPr lIns="0" tIns="0" rIns="0" bIns="0">
            <a:spAutoFit/>
          </a:bodyPr>
          <a:lstStyle/>
          <a:p>
            <a:pPr defTabSz="914400"/>
            <a:r>
              <a:rPr lang="en-US" altLang="zh-CN" sz="2800" b="1" i="1" dirty="0">
                <a:latin typeface="Times New Roman" pitchFamily="18" charset="0"/>
                <a:ea typeface="楷体_GB2312" pitchFamily="49" charset="-122"/>
                <a:cs typeface="Times New Roman" pitchFamily="18" charset="0"/>
              </a:rPr>
              <a:t>A</a:t>
            </a:r>
            <a:endParaRPr lang="zh-CN" altLang="en-US" sz="2800" b="1" i="1" dirty="0">
              <a:latin typeface="Times New Roman" pitchFamily="18" charset="0"/>
              <a:ea typeface="楷体_GB2312" pitchFamily="49" charset="-122"/>
              <a:cs typeface="Times New Roman" pitchFamily="18" charset="0"/>
            </a:endParaRPr>
          </a:p>
        </p:txBody>
      </p:sp>
      <p:sp>
        <p:nvSpPr>
          <p:cNvPr id="27" name="TextBox 34"/>
          <p:cNvSpPr txBox="1">
            <a:spLocks noChangeArrowheads="1"/>
          </p:cNvSpPr>
          <p:nvPr/>
        </p:nvSpPr>
        <p:spPr bwMode="auto">
          <a:xfrm>
            <a:off x="4005981" y="5106680"/>
            <a:ext cx="355600" cy="427037"/>
          </a:xfrm>
          <a:prstGeom prst="rect">
            <a:avLst/>
          </a:prstGeom>
          <a:noFill/>
          <a:ln w="9525">
            <a:noFill/>
            <a:miter lim="800000"/>
            <a:headEnd/>
            <a:tailEnd/>
          </a:ln>
        </p:spPr>
        <p:txBody>
          <a:bodyPr lIns="0" tIns="0" rIns="0" bIns="0">
            <a:spAutoFit/>
          </a:bodyPr>
          <a:lstStyle/>
          <a:p>
            <a:pPr defTabSz="914400"/>
            <a:r>
              <a:rPr lang="en-US" altLang="zh-CN" sz="2800" b="1" i="1">
                <a:latin typeface="Times New Roman" pitchFamily="18" charset="0"/>
                <a:ea typeface="楷体_GB2312" pitchFamily="49" charset="-122"/>
                <a:cs typeface="Times New Roman" pitchFamily="18" charset="0"/>
              </a:rPr>
              <a:t>l</a:t>
            </a:r>
            <a:endParaRPr lang="zh-CN" altLang="en-US" sz="2800" b="1" i="1">
              <a:latin typeface="Times New Roman" pitchFamily="18" charset="0"/>
              <a:ea typeface="楷体_GB2312" pitchFamily="49" charset="-122"/>
              <a:cs typeface="Times New Roman" pitchFamily="18" charset="0"/>
            </a:endParaRPr>
          </a:p>
        </p:txBody>
      </p:sp>
      <p:sp>
        <p:nvSpPr>
          <p:cNvPr id="28" name="任意多边形 20"/>
          <p:cNvSpPr>
            <a:spLocks noChangeArrowheads="1"/>
          </p:cNvSpPr>
          <p:nvPr/>
        </p:nvSpPr>
        <p:spPr bwMode="auto">
          <a:xfrm>
            <a:off x="2672481" y="2395230"/>
            <a:ext cx="239398" cy="1508125"/>
          </a:xfrm>
          <a:custGeom>
            <a:avLst/>
            <a:gdLst>
              <a:gd name="T0" fmla="*/ 59747 w 181971"/>
              <a:gd name="T1" fmla="*/ 0 h 1869744"/>
              <a:gd name="T2" fmla="*/ 89623 w 181971"/>
              <a:gd name="T3" fmla="*/ 430884 h 1869744"/>
              <a:gd name="T4" fmla="*/ 0 w 181971"/>
              <a:gd name="T5" fmla="*/ 727113 h 1869744"/>
              <a:gd name="T6" fmla="*/ 89623 w 181971"/>
              <a:gd name="T7" fmla="*/ 982951 h 1869744"/>
              <a:gd name="T8" fmla="*/ 37341 w 181971"/>
              <a:gd name="T9" fmla="*/ 1238785 h 1869744"/>
              <a:gd name="T10" fmla="*/ 67214 w 181971"/>
              <a:gd name="T11" fmla="*/ 1561946 h 1869744"/>
              <a:gd name="T12" fmla="*/ 59747 w 181971"/>
              <a:gd name="T13" fmla="*/ 1844711 h 1869744"/>
              <a:gd name="T14" fmla="*/ 0 60000 65536"/>
              <a:gd name="T15" fmla="*/ 0 60000 65536"/>
              <a:gd name="T16" fmla="*/ 0 60000 65536"/>
              <a:gd name="T17" fmla="*/ 0 60000 65536"/>
              <a:gd name="T18" fmla="*/ 0 60000 65536"/>
              <a:gd name="T19" fmla="*/ 0 60000 65536"/>
              <a:gd name="T20" fmla="*/ 0 60000 65536"/>
              <a:gd name="T21" fmla="*/ 0 w 181971"/>
              <a:gd name="T22" fmla="*/ 0 h 1869744"/>
              <a:gd name="T23" fmla="*/ 181971 w 181971"/>
              <a:gd name="T24" fmla="*/ 1869744 h 18697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971" h="1869744">
                <a:moveTo>
                  <a:pt x="109183" y="0"/>
                </a:moveTo>
                <a:cubicBezTo>
                  <a:pt x="145577" y="156949"/>
                  <a:pt x="181971" y="313899"/>
                  <a:pt x="163774" y="436729"/>
                </a:cubicBezTo>
                <a:cubicBezTo>
                  <a:pt x="145577" y="559559"/>
                  <a:pt x="0" y="643719"/>
                  <a:pt x="0" y="736979"/>
                </a:cubicBezTo>
                <a:cubicBezTo>
                  <a:pt x="0" y="830239"/>
                  <a:pt x="152401" y="909851"/>
                  <a:pt x="163774" y="996287"/>
                </a:cubicBezTo>
                <a:cubicBezTo>
                  <a:pt x="175147" y="1082723"/>
                  <a:pt x="75063" y="1157785"/>
                  <a:pt x="68239" y="1255594"/>
                </a:cubicBezTo>
                <a:cubicBezTo>
                  <a:pt x="61415" y="1353403"/>
                  <a:pt x="116006" y="1480783"/>
                  <a:pt x="122830" y="1583141"/>
                </a:cubicBezTo>
                <a:cubicBezTo>
                  <a:pt x="129654" y="1685499"/>
                  <a:pt x="119418" y="1777621"/>
                  <a:pt x="109183" y="1869744"/>
                </a:cubicBezTo>
              </a:path>
            </a:pathLst>
          </a:custGeom>
          <a:noFill/>
          <a:ln w="38100" algn="ctr">
            <a:solidFill>
              <a:srgbClr val="FF3300"/>
            </a:solidFill>
            <a:round/>
            <a:headEnd/>
            <a:tailEnd type="stealth" w="med" len="lg"/>
          </a:ln>
        </p:spPr>
        <p:txBody>
          <a:bodyPr/>
          <a:lstStyle/>
          <a:p>
            <a:pPr defTabSz="914400"/>
            <a:endParaRPr lang="zh-CN" altLang="en-US" sz="2800" b="1">
              <a:latin typeface="楷体_GB2312" pitchFamily="49" charset="-122"/>
              <a:ea typeface="楷体_GB2312" pitchFamily="49" charset="-122"/>
            </a:endParaRPr>
          </a:p>
        </p:txBody>
      </p:sp>
      <p:sp>
        <p:nvSpPr>
          <p:cNvPr id="29" name="任意多边形 20"/>
          <p:cNvSpPr>
            <a:spLocks noChangeArrowheads="1"/>
          </p:cNvSpPr>
          <p:nvPr/>
        </p:nvSpPr>
        <p:spPr bwMode="auto">
          <a:xfrm>
            <a:off x="4270542" y="2317437"/>
            <a:ext cx="272031" cy="1140387"/>
          </a:xfrm>
          <a:custGeom>
            <a:avLst/>
            <a:gdLst>
              <a:gd name="T0" fmla="*/ 2122674 w 181971"/>
              <a:gd name="T1" fmla="*/ 0 h 1869744"/>
              <a:gd name="T2" fmla="*/ 3184021 w 181971"/>
              <a:gd name="T3" fmla="*/ 190 h 1869744"/>
              <a:gd name="T4" fmla="*/ 0 w 181971"/>
              <a:gd name="T5" fmla="*/ 319 h 1869744"/>
              <a:gd name="T6" fmla="*/ 3184021 w 181971"/>
              <a:gd name="T7" fmla="*/ 432 h 1869744"/>
              <a:gd name="T8" fmla="*/ 1326656 w 181971"/>
              <a:gd name="T9" fmla="*/ 544 h 1869744"/>
              <a:gd name="T10" fmla="*/ 2387989 w 181971"/>
              <a:gd name="T11" fmla="*/ 686 h 1869744"/>
              <a:gd name="T12" fmla="*/ 2122674 w 181971"/>
              <a:gd name="T13" fmla="*/ 810 h 1869744"/>
              <a:gd name="T14" fmla="*/ 0 60000 65536"/>
              <a:gd name="T15" fmla="*/ 0 60000 65536"/>
              <a:gd name="T16" fmla="*/ 0 60000 65536"/>
              <a:gd name="T17" fmla="*/ 0 60000 65536"/>
              <a:gd name="T18" fmla="*/ 0 60000 65536"/>
              <a:gd name="T19" fmla="*/ 0 60000 65536"/>
              <a:gd name="T20" fmla="*/ 0 60000 65536"/>
              <a:gd name="T21" fmla="*/ 0 w 181971"/>
              <a:gd name="T22" fmla="*/ 0 h 1869744"/>
              <a:gd name="T23" fmla="*/ 181971 w 181971"/>
              <a:gd name="T24" fmla="*/ 1869744 h 18697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971" h="1869744">
                <a:moveTo>
                  <a:pt x="109183" y="0"/>
                </a:moveTo>
                <a:cubicBezTo>
                  <a:pt x="145577" y="156949"/>
                  <a:pt x="181971" y="313899"/>
                  <a:pt x="163774" y="436729"/>
                </a:cubicBezTo>
                <a:cubicBezTo>
                  <a:pt x="145577" y="559559"/>
                  <a:pt x="0" y="643719"/>
                  <a:pt x="0" y="736979"/>
                </a:cubicBezTo>
                <a:cubicBezTo>
                  <a:pt x="0" y="830239"/>
                  <a:pt x="152401" y="909851"/>
                  <a:pt x="163774" y="996287"/>
                </a:cubicBezTo>
                <a:cubicBezTo>
                  <a:pt x="175147" y="1082723"/>
                  <a:pt x="75063" y="1157785"/>
                  <a:pt x="68239" y="1255594"/>
                </a:cubicBezTo>
                <a:cubicBezTo>
                  <a:pt x="61415" y="1353403"/>
                  <a:pt x="116006" y="1480783"/>
                  <a:pt x="122830" y="1583141"/>
                </a:cubicBezTo>
                <a:cubicBezTo>
                  <a:pt x="129654" y="1685499"/>
                  <a:pt x="119418" y="1777621"/>
                  <a:pt x="109183" y="1869744"/>
                </a:cubicBezTo>
              </a:path>
            </a:pathLst>
          </a:custGeom>
          <a:noFill/>
          <a:ln w="38100" algn="ctr">
            <a:solidFill>
              <a:srgbClr val="660066"/>
            </a:solidFill>
            <a:round/>
            <a:headEnd/>
            <a:tailEnd type="stealth" w="med" len="lg"/>
          </a:ln>
        </p:spPr>
        <p:txBody>
          <a:bodyPr/>
          <a:lstStyle/>
          <a:p>
            <a:pPr defTabSz="914400"/>
            <a:endParaRPr lang="zh-CN" altLang="en-US" sz="2800" b="1">
              <a:latin typeface="楷体_GB2312" pitchFamily="49" charset="-122"/>
              <a:ea typeface="楷体_GB2312" pitchFamily="49" charset="-122"/>
            </a:endParaRPr>
          </a:p>
        </p:txBody>
      </p:sp>
      <p:sp>
        <p:nvSpPr>
          <p:cNvPr id="30" name="任意多边形 20"/>
          <p:cNvSpPr>
            <a:spLocks noChangeArrowheads="1"/>
          </p:cNvSpPr>
          <p:nvPr/>
        </p:nvSpPr>
        <p:spPr bwMode="auto">
          <a:xfrm>
            <a:off x="3517030" y="2369799"/>
            <a:ext cx="208149" cy="1403382"/>
          </a:xfrm>
          <a:custGeom>
            <a:avLst/>
            <a:gdLst>
              <a:gd name="T0" fmla="*/ 59747 w 181971"/>
              <a:gd name="T1" fmla="*/ 0 h 1869744"/>
              <a:gd name="T2" fmla="*/ 89623 w 181971"/>
              <a:gd name="T3" fmla="*/ 1614 h 1869744"/>
              <a:gd name="T4" fmla="*/ 0 w 181971"/>
              <a:gd name="T5" fmla="*/ 2724 h 1869744"/>
              <a:gd name="T6" fmla="*/ 89623 w 181971"/>
              <a:gd name="T7" fmla="*/ 3683 h 1869744"/>
              <a:gd name="T8" fmla="*/ 37341 w 181971"/>
              <a:gd name="T9" fmla="*/ 4641 h 1869744"/>
              <a:gd name="T10" fmla="*/ 67214 w 181971"/>
              <a:gd name="T11" fmla="*/ 5852 h 1869744"/>
              <a:gd name="T12" fmla="*/ 59747 w 181971"/>
              <a:gd name="T13" fmla="*/ 6911 h 1869744"/>
              <a:gd name="T14" fmla="*/ 0 60000 65536"/>
              <a:gd name="T15" fmla="*/ 0 60000 65536"/>
              <a:gd name="T16" fmla="*/ 0 60000 65536"/>
              <a:gd name="T17" fmla="*/ 0 60000 65536"/>
              <a:gd name="T18" fmla="*/ 0 60000 65536"/>
              <a:gd name="T19" fmla="*/ 0 60000 65536"/>
              <a:gd name="T20" fmla="*/ 0 60000 65536"/>
              <a:gd name="T21" fmla="*/ 0 w 181971"/>
              <a:gd name="T22" fmla="*/ 0 h 1869744"/>
              <a:gd name="T23" fmla="*/ 181971 w 181971"/>
              <a:gd name="T24" fmla="*/ 1869744 h 18697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971" h="1869744">
                <a:moveTo>
                  <a:pt x="109183" y="0"/>
                </a:moveTo>
                <a:cubicBezTo>
                  <a:pt x="145577" y="156949"/>
                  <a:pt x="181971" y="313899"/>
                  <a:pt x="163774" y="436729"/>
                </a:cubicBezTo>
                <a:cubicBezTo>
                  <a:pt x="145577" y="559559"/>
                  <a:pt x="0" y="643719"/>
                  <a:pt x="0" y="736979"/>
                </a:cubicBezTo>
                <a:cubicBezTo>
                  <a:pt x="0" y="830239"/>
                  <a:pt x="152401" y="909851"/>
                  <a:pt x="163774" y="996287"/>
                </a:cubicBezTo>
                <a:cubicBezTo>
                  <a:pt x="175147" y="1082723"/>
                  <a:pt x="75063" y="1157785"/>
                  <a:pt x="68239" y="1255594"/>
                </a:cubicBezTo>
                <a:cubicBezTo>
                  <a:pt x="61415" y="1353403"/>
                  <a:pt x="116006" y="1480783"/>
                  <a:pt x="122830" y="1583141"/>
                </a:cubicBezTo>
                <a:cubicBezTo>
                  <a:pt x="129654" y="1685499"/>
                  <a:pt x="119418" y="1777621"/>
                  <a:pt x="109183" y="1869744"/>
                </a:cubicBezTo>
              </a:path>
            </a:pathLst>
          </a:custGeom>
          <a:noFill/>
          <a:ln w="38100" algn="ctr">
            <a:solidFill>
              <a:srgbClr val="0000FF"/>
            </a:solidFill>
            <a:round/>
            <a:headEnd/>
            <a:tailEnd type="stealth" w="med" len="lg"/>
          </a:ln>
        </p:spPr>
        <p:txBody>
          <a:bodyPr/>
          <a:lstStyle/>
          <a:p>
            <a:pPr defTabSz="914400"/>
            <a:endParaRPr lang="zh-CN" altLang="en-US" sz="2800" b="1">
              <a:latin typeface="楷体_GB2312" pitchFamily="49" charset="-122"/>
              <a:ea typeface="楷体_GB2312" pitchFamily="49" charset="-122"/>
            </a:endParaRPr>
          </a:p>
        </p:txBody>
      </p:sp>
      <p:sp>
        <p:nvSpPr>
          <p:cNvPr id="31" name="Text Box 6"/>
          <p:cNvSpPr txBox="1">
            <a:spLocks noChangeArrowheads="1"/>
          </p:cNvSpPr>
          <p:nvPr/>
        </p:nvSpPr>
        <p:spPr bwMode="auto">
          <a:xfrm>
            <a:off x="1105720" y="1263870"/>
            <a:ext cx="5131907" cy="525465"/>
          </a:xfrm>
          <a:prstGeom prst="rect">
            <a:avLst/>
          </a:prstGeom>
          <a:noFill/>
          <a:ln w="9525">
            <a:noFill/>
            <a:miter lim="800000"/>
            <a:headEnd/>
            <a:tailEnd/>
          </a:ln>
        </p:spPr>
        <p:txBody>
          <a:bodyPr wrap="square">
            <a:spAutoFit/>
          </a:bodyPr>
          <a:lstStyle/>
          <a:p>
            <a:pPr algn="ctr" defTabSz="914400">
              <a:lnSpc>
                <a:spcPct val="130000"/>
              </a:lnSpc>
              <a:spcBef>
                <a:spcPct val="50000"/>
              </a:spcBef>
            </a:pPr>
            <a:r>
              <a:rPr kumimoji="1" lang="zh-CN" altLang="en-US" sz="2400" b="1" dirty="0">
                <a:latin typeface="Times New Roman" pitchFamily="18" charset="0"/>
                <a:ea typeface="黑体" pitchFamily="49" charset="-122"/>
                <a:cs typeface="Times New Roman" pitchFamily="18" charset="0"/>
              </a:rPr>
              <a:t> </a:t>
            </a:r>
            <a:r>
              <a:rPr kumimoji="1" lang="zh-CN" altLang="en-US" sz="2400" b="1" dirty="0">
                <a:latin typeface="微软雅黑" pitchFamily="34" charset="-122"/>
                <a:ea typeface="微软雅黑" pitchFamily="34" charset="-122"/>
                <a:cs typeface="Times New Roman" pitchFamily="18" charset="0"/>
              </a:rPr>
              <a:t>光电导探测器原理可以用下图</a:t>
            </a:r>
            <a:r>
              <a:rPr kumimoji="1" lang="zh-CN" altLang="en-US" sz="2400" b="1" dirty="0" smtClean="0">
                <a:latin typeface="微软雅黑" pitchFamily="34" charset="-122"/>
                <a:ea typeface="微软雅黑" pitchFamily="34" charset="-122"/>
                <a:cs typeface="Times New Roman" pitchFamily="18" charset="0"/>
              </a:rPr>
              <a:t>说明</a:t>
            </a:r>
            <a:endParaRPr kumimoji="1" lang="zh-CN" altLang="en-US" sz="2400" b="1" dirty="0">
              <a:latin typeface="微软雅黑" pitchFamily="34" charset="-122"/>
              <a:ea typeface="微软雅黑" pitchFamily="34" charset="-122"/>
              <a:cs typeface="Times New Roman" pitchFamily="18" charset="0"/>
            </a:endParaRPr>
          </a:p>
        </p:txBody>
      </p:sp>
      <p:graphicFrame>
        <p:nvGraphicFramePr>
          <p:cNvPr id="32" name="Object 1"/>
          <p:cNvGraphicFramePr>
            <a:graphicFrameLocks noChangeAspect="1"/>
          </p:cNvGraphicFramePr>
          <p:nvPr>
            <p:extLst>
              <p:ext uri="{D42A27DB-BD31-4B8C-83A1-F6EECF244321}">
                <p14:modId xmlns:p14="http://schemas.microsoft.com/office/powerpoint/2010/main" val="724261986"/>
              </p:ext>
            </p:extLst>
          </p:nvPr>
        </p:nvGraphicFramePr>
        <p:xfrm>
          <a:off x="6949206" y="3604905"/>
          <a:ext cx="1511300" cy="2387600"/>
        </p:xfrm>
        <a:graphic>
          <a:graphicData uri="http://schemas.openxmlformats.org/presentationml/2006/ole">
            <mc:AlternateContent xmlns:mc="http://schemas.openxmlformats.org/markup-compatibility/2006">
              <mc:Choice xmlns:v="urn:schemas-microsoft-com:vml" Requires="v">
                <p:oleObj spid="_x0000_s1198" name="Visio" r:id="rId3" imgW="661368" imgH="1039416" progId="Visio.Drawing.11">
                  <p:embed/>
                </p:oleObj>
              </mc:Choice>
              <mc:Fallback>
                <p:oleObj name="Visio" r:id="rId3" imgW="661368" imgH="103941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9206" y="3604905"/>
                        <a:ext cx="1511300" cy="238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4" name="直接箭头连接符 33"/>
          <p:cNvCxnSpPr/>
          <p:nvPr/>
        </p:nvCxnSpPr>
        <p:spPr>
          <a:xfrm>
            <a:off x="3170956" y="3600142"/>
            <a:ext cx="146685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5" name="TextBox 33"/>
          <p:cNvSpPr txBox="1">
            <a:spLocks noChangeArrowheads="1"/>
          </p:cNvSpPr>
          <p:nvPr/>
        </p:nvSpPr>
        <p:spPr bwMode="auto">
          <a:xfrm>
            <a:off x="4904506" y="3333442"/>
            <a:ext cx="355600" cy="427038"/>
          </a:xfrm>
          <a:prstGeom prst="rect">
            <a:avLst/>
          </a:prstGeom>
          <a:noFill/>
          <a:ln w="9525">
            <a:noFill/>
            <a:miter lim="800000"/>
            <a:headEnd/>
            <a:tailEnd/>
          </a:ln>
        </p:spPr>
        <p:txBody>
          <a:bodyPr lIns="0" tIns="0" rIns="0" bIns="0">
            <a:spAutoFit/>
          </a:bodyPr>
          <a:lstStyle/>
          <a:p>
            <a:pPr defTabSz="914400"/>
            <a:r>
              <a:rPr lang="en-US" altLang="zh-CN" sz="2800" b="1" i="1" dirty="0">
                <a:latin typeface="Times New Roman" pitchFamily="18" charset="0"/>
                <a:ea typeface="楷体_GB2312" pitchFamily="49" charset="-122"/>
                <a:cs typeface="Times New Roman" pitchFamily="18" charset="0"/>
              </a:rPr>
              <a:t>I</a:t>
            </a:r>
            <a:r>
              <a:rPr lang="en-US" altLang="zh-CN" sz="2800" b="1" baseline="-25000" dirty="0">
                <a:latin typeface="Times New Roman" pitchFamily="18" charset="0"/>
                <a:ea typeface="楷体_GB2312" pitchFamily="49" charset="-122"/>
                <a:cs typeface="Times New Roman" pitchFamily="18" charset="0"/>
              </a:rPr>
              <a:t>d</a:t>
            </a:r>
            <a:endParaRPr lang="zh-CN" altLang="en-US" sz="2800" b="1" dirty="0">
              <a:latin typeface="Times New Roman" pitchFamily="18" charset="0"/>
              <a:ea typeface="楷体_GB2312" pitchFamily="49" charset="-122"/>
              <a:cs typeface="Times New Roman" pitchFamily="18" charset="0"/>
            </a:endParaRPr>
          </a:p>
        </p:txBody>
      </p:sp>
      <p:cxnSp>
        <p:nvCxnSpPr>
          <p:cNvPr id="36" name="直接箭头连接符 35"/>
          <p:cNvCxnSpPr/>
          <p:nvPr/>
        </p:nvCxnSpPr>
        <p:spPr>
          <a:xfrm>
            <a:off x="3215406" y="4266892"/>
            <a:ext cx="1466850" cy="1588"/>
          </a:xfrm>
          <a:prstGeom prst="straightConnector1">
            <a:avLst/>
          </a:prstGeom>
          <a:ln w="76200">
            <a:solidFill>
              <a:srgbClr val="FF0000"/>
            </a:solidFill>
            <a:tailEnd type="stealth"/>
          </a:ln>
        </p:spPr>
        <p:style>
          <a:lnRef idx="1">
            <a:schemeClr val="accent1"/>
          </a:lnRef>
          <a:fillRef idx="0">
            <a:schemeClr val="accent1"/>
          </a:fillRef>
          <a:effectRef idx="0">
            <a:schemeClr val="accent1"/>
          </a:effectRef>
          <a:fontRef idx="minor">
            <a:schemeClr val="tx1"/>
          </a:fontRef>
        </p:style>
      </p:cxnSp>
      <p:sp>
        <p:nvSpPr>
          <p:cNvPr id="37" name="TextBox 33"/>
          <p:cNvSpPr txBox="1">
            <a:spLocks noChangeArrowheads="1"/>
          </p:cNvSpPr>
          <p:nvPr/>
        </p:nvSpPr>
        <p:spPr bwMode="auto">
          <a:xfrm>
            <a:off x="4815606" y="3866842"/>
            <a:ext cx="488950" cy="492443"/>
          </a:xfrm>
          <a:prstGeom prst="rect">
            <a:avLst/>
          </a:prstGeom>
          <a:noFill/>
          <a:ln w="9525">
            <a:noFill/>
            <a:miter lim="800000"/>
            <a:headEnd/>
            <a:tailEnd/>
          </a:ln>
        </p:spPr>
        <p:txBody>
          <a:bodyPr lIns="0" tIns="0" rIns="0" bIns="0">
            <a:spAutoFit/>
          </a:bodyPr>
          <a:lstStyle/>
          <a:p>
            <a:pPr defTabSz="914400"/>
            <a:r>
              <a:rPr lang="en-US" altLang="zh-CN" sz="3200" b="1" i="1" dirty="0" err="1">
                <a:solidFill>
                  <a:srgbClr val="FF0000"/>
                </a:solidFill>
                <a:latin typeface="Times New Roman" pitchFamily="18" charset="0"/>
                <a:ea typeface="楷体_GB2312" pitchFamily="49" charset="-122"/>
                <a:cs typeface="Times New Roman" pitchFamily="18" charset="0"/>
              </a:rPr>
              <a:t>I</a:t>
            </a:r>
            <a:r>
              <a:rPr lang="en-US" altLang="zh-CN" sz="3200" b="1" baseline="-25000" dirty="0" err="1">
                <a:solidFill>
                  <a:srgbClr val="FF0000"/>
                </a:solidFill>
                <a:latin typeface="Times New Roman" pitchFamily="18" charset="0"/>
                <a:ea typeface="楷体_GB2312" pitchFamily="49" charset="-122"/>
                <a:cs typeface="Times New Roman" pitchFamily="18" charset="0"/>
              </a:rPr>
              <a:t>p</a:t>
            </a:r>
            <a:endParaRPr lang="zh-CN" altLang="en-US" sz="3200" b="1" dirty="0">
              <a:solidFill>
                <a:srgbClr val="FF0000"/>
              </a:solidFill>
              <a:latin typeface="Times New Roman" pitchFamily="18" charset="0"/>
              <a:ea typeface="楷体_GB2312" pitchFamily="49" charset="-122"/>
              <a:cs typeface="Times New Roman" pitchFamily="18" charset="0"/>
            </a:endParaRPr>
          </a:p>
        </p:txBody>
      </p:sp>
      <p:cxnSp>
        <p:nvCxnSpPr>
          <p:cNvPr id="38" name="直接箭头连接符 37"/>
          <p:cNvCxnSpPr/>
          <p:nvPr/>
        </p:nvCxnSpPr>
        <p:spPr>
          <a:xfrm rot="10800000">
            <a:off x="1126256" y="5778192"/>
            <a:ext cx="1111250" cy="1588"/>
          </a:xfrm>
          <a:prstGeom prst="straightConnector1">
            <a:avLst/>
          </a:prstGeom>
          <a:ln w="76200">
            <a:solidFill>
              <a:srgbClr val="0000FF"/>
            </a:solidFill>
            <a:tailEnd type="stealth"/>
          </a:ln>
        </p:spPr>
        <p:style>
          <a:lnRef idx="1">
            <a:schemeClr val="accent1"/>
          </a:lnRef>
          <a:fillRef idx="0">
            <a:schemeClr val="accent1"/>
          </a:fillRef>
          <a:effectRef idx="0">
            <a:schemeClr val="accent1"/>
          </a:effectRef>
          <a:fontRef idx="minor">
            <a:schemeClr val="tx1"/>
          </a:fontRef>
        </p:style>
      </p:cxnSp>
      <p:sp>
        <p:nvSpPr>
          <p:cNvPr id="39" name="TextBox 33"/>
          <p:cNvSpPr txBox="1">
            <a:spLocks noChangeArrowheads="1"/>
          </p:cNvSpPr>
          <p:nvPr/>
        </p:nvSpPr>
        <p:spPr bwMode="auto">
          <a:xfrm>
            <a:off x="2504206" y="5422592"/>
            <a:ext cx="266700" cy="492443"/>
          </a:xfrm>
          <a:prstGeom prst="rect">
            <a:avLst/>
          </a:prstGeom>
          <a:noFill/>
          <a:ln w="9525">
            <a:noFill/>
            <a:miter lim="800000"/>
            <a:headEnd/>
            <a:tailEnd/>
          </a:ln>
        </p:spPr>
        <p:txBody>
          <a:bodyPr lIns="0" tIns="0" rIns="0" bIns="0">
            <a:spAutoFit/>
          </a:bodyPr>
          <a:lstStyle/>
          <a:p>
            <a:pPr defTabSz="914400"/>
            <a:r>
              <a:rPr lang="en-US" altLang="zh-CN" sz="3200" b="1" i="1" dirty="0">
                <a:solidFill>
                  <a:srgbClr val="0000FF"/>
                </a:solidFill>
                <a:latin typeface="Times New Roman" pitchFamily="18" charset="0"/>
                <a:ea typeface="楷体_GB2312" pitchFamily="49" charset="-122"/>
                <a:cs typeface="Times New Roman" pitchFamily="18" charset="0"/>
              </a:rPr>
              <a:t>I</a:t>
            </a:r>
            <a:endParaRPr lang="zh-CN" altLang="en-US" sz="3200" b="1" i="1" dirty="0">
              <a:solidFill>
                <a:srgbClr val="0000FF"/>
              </a:solidFill>
              <a:latin typeface="Times New Roman" pitchFamily="18" charset="0"/>
              <a:ea typeface="楷体_GB2312" pitchFamily="49" charset="-122"/>
              <a:cs typeface="Times New Roman" pitchFamily="18" charset="0"/>
            </a:endParaRPr>
          </a:p>
        </p:txBody>
      </p:sp>
      <p:grpSp>
        <p:nvGrpSpPr>
          <p:cNvPr id="40" name="组合 128"/>
          <p:cNvGrpSpPr>
            <a:grpSpLocks/>
          </p:cNvGrpSpPr>
          <p:nvPr/>
        </p:nvGrpSpPr>
        <p:grpSpPr bwMode="auto">
          <a:xfrm rot="4827573">
            <a:off x="3735312" y="3807311"/>
            <a:ext cx="249238" cy="273050"/>
            <a:chOff x="5149850" y="4865143"/>
            <a:chExt cx="249687" cy="273256"/>
          </a:xfrm>
        </p:grpSpPr>
        <p:sp>
          <p:nvSpPr>
            <p:cNvPr id="41" name="Oval 56"/>
            <p:cNvSpPr>
              <a:spLocks noChangeAspect="1" noChangeArrowheads="1"/>
            </p:cNvSpPr>
            <p:nvPr/>
          </p:nvSpPr>
          <p:spPr bwMode="auto">
            <a:xfrm>
              <a:off x="5149850" y="4877564"/>
              <a:ext cx="249687" cy="249794"/>
            </a:xfrm>
            <a:prstGeom prst="ellipse">
              <a:avLst/>
            </a:prstGeom>
            <a:solidFill>
              <a:srgbClr val="FFFFFF"/>
            </a:solidFill>
            <a:ln w="28575">
              <a:solidFill>
                <a:srgbClr val="FF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2" name="Line 58"/>
            <p:cNvSpPr>
              <a:spLocks noChangeShapeType="1"/>
            </p:cNvSpPr>
            <p:nvPr/>
          </p:nvSpPr>
          <p:spPr bwMode="auto">
            <a:xfrm>
              <a:off x="5149850" y="5001771"/>
              <a:ext cx="248307" cy="1380"/>
            </a:xfrm>
            <a:prstGeom prst="line">
              <a:avLst/>
            </a:prstGeom>
            <a:noFill/>
            <a:ln w="28575">
              <a:solidFill>
                <a:srgbClr val="FF0000"/>
              </a:solidFill>
              <a:round/>
              <a:headEnd/>
              <a:tailEnd/>
            </a:ln>
          </p:spPr>
          <p:txBody>
            <a:bodyPr/>
            <a:lstStyle/>
            <a:p>
              <a:endParaRPr lang="zh-CN" altLang="en-US"/>
            </a:p>
          </p:txBody>
        </p:sp>
        <p:sp>
          <p:nvSpPr>
            <p:cNvPr id="43" name="Line 59"/>
            <p:cNvSpPr>
              <a:spLocks noChangeShapeType="1"/>
            </p:cNvSpPr>
            <p:nvPr/>
          </p:nvSpPr>
          <p:spPr bwMode="auto">
            <a:xfrm>
              <a:off x="5274004" y="4865143"/>
              <a:ext cx="1379" cy="273256"/>
            </a:xfrm>
            <a:prstGeom prst="line">
              <a:avLst/>
            </a:prstGeom>
            <a:noFill/>
            <a:ln w="28575">
              <a:solidFill>
                <a:srgbClr val="FF0000"/>
              </a:solidFill>
              <a:round/>
              <a:headEnd/>
              <a:tailEnd/>
            </a:ln>
          </p:spPr>
          <p:txBody>
            <a:bodyPr/>
            <a:lstStyle/>
            <a:p>
              <a:endParaRPr lang="zh-CN" altLang="en-US"/>
            </a:p>
          </p:txBody>
        </p:sp>
      </p:grpSp>
      <p:grpSp>
        <p:nvGrpSpPr>
          <p:cNvPr id="44" name="组合 127"/>
          <p:cNvGrpSpPr>
            <a:grpSpLocks/>
          </p:cNvGrpSpPr>
          <p:nvPr/>
        </p:nvGrpSpPr>
        <p:grpSpPr bwMode="auto">
          <a:xfrm rot="19781852">
            <a:off x="3350344" y="3823980"/>
            <a:ext cx="249237" cy="249237"/>
            <a:chOff x="3723561" y="4885168"/>
            <a:chExt cx="250120" cy="249766"/>
          </a:xfrm>
        </p:grpSpPr>
        <p:sp>
          <p:nvSpPr>
            <p:cNvPr id="45" name="Oval 40"/>
            <p:cNvSpPr>
              <a:spLocks noChangeAspect="1" noChangeArrowheads="1"/>
            </p:cNvSpPr>
            <p:nvPr/>
          </p:nvSpPr>
          <p:spPr bwMode="auto">
            <a:xfrm rot="-2658602">
              <a:off x="3723561" y="4885168"/>
              <a:ext cx="250120" cy="249766"/>
            </a:xfrm>
            <a:prstGeom prst="ellipse">
              <a:avLst/>
            </a:prstGeom>
            <a:solidFill>
              <a:srgbClr val="FFFFFF"/>
            </a:solidFill>
            <a:ln w="34925">
              <a:solidFill>
                <a:srgbClr val="006600"/>
              </a:solid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46" name="Line 42"/>
            <p:cNvSpPr>
              <a:spLocks noChangeShapeType="1"/>
            </p:cNvSpPr>
            <p:nvPr/>
          </p:nvSpPr>
          <p:spPr bwMode="auto">
            <a:xfrm rot="-2658602">
              <a:off x="3723788" y="5009812"/>
              <a:ext cx="248527" cy="1591"/>
            </a:xfrm>
            <a:prstGeom prst="line">
              <a:avLst/>
            </a:prstGeom>
            <a:noFill/>
            <a:ln w="34925">
              <a:solidFill>
                <a:srgbClr val="006600"/>
              </a:solidFill>
              <a:round/>
              <a:headEnd/>
              <a:tailEnd/>
            </a:ln>
          </p:spPr>
          <p:txBody>
            <a:bodyPr/>
            <a:lstStyle/>
            <a:p>
              <a:endParaRPr lang="zh-CN" altLang="en-US"/>
            </a:p>
          </p:txBody>
        </p:sp>
      </p:grpSp>
      <p:grpSp>
        <p:nvGrpSpPr>
          <p:cNvPr id="47" name="组合 46"/>
          <p:cNvGrpSpPr/>
          <p:nvPr/>
        </p:nvGrpSpPr>
        <p:grpSpPr>
          <a:xfrm>
            <a:off x="10337881" y="293282"/>
            <a:ext cx="2823365" cy="523220"/>
            <a:chOff x="10337881" y="293282"/>
            <a:chExt cx="2823365" cy="523220"/>
          </a:xfrm>
        </p:grpSpPr>
        <p:sp>
          <p:nvSpPr>
            <p:cNvPr id="48" name="矩形 47"/>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49" name="矩形 48">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graphicFrame>
        <p:nvGraphicFramePr>
          <p:cNvPr id="3" name="对象 2"/>
          <p:cNvGraphicFramePr>
            <a:graphicFrameLocks noChangeAspect="1"/>
          </p:cNvGraphicFramePr>
          <p:nvPr>
            <p:extLst>
              <p:ext uri="{D42A27DB-BD31-4B8C-83A1-F6EECF244321}">
                <p14:modId xmlns:p14="http://schemas.microsoft.com/office/powerpoint/2010/main" val="829689846"/>
              </p:ext>
            </p:extLst>
          </p:nvPr>
        </p:nvGraphicFramePr>
        <p:xfrm>
          <a:off x="3780538" y="2404507"/>
          <a:ext cx="495335" cy="405274"/>
        </p:xfrm>
        <a:graphic>
          <a:graphicData uri="http://schemas.openxmlformats.org/presentationml/2006/ole">
            <mc:AlternateContent xmlns:mc="http://schemas.openxmlformats.org/markup-compatibility/2006">
              <mc:Choice xmlns:v="urn:schemas-microsoft-com:vml" Requires="v">
                <p:oleObj spid="_x0000_s1199" name="Equation" r:id="rId5" imgW="279360" imgH="228600" progId="Equation.DSMT4">
                  <p:embed/>
                </p:oleObj>
              </mc:Choice>
              <mc:Fallback>
                <p:oleObj name="Equation" r:id="rId5" imgW="279360" imgH="228600" progId="Equation.DSMT4">
                  <p:embed/>
                  <p:pic>
                    <p:nvPicPr>
                      <p:cNvPr id="0" name=""/>
                      <p:cNvPicPr/>
                      <p:nvPr/>
                    </p:nvPicPr>
                    <p:blipFill>
                      <a:blip r:embed="rId6"/>
                      <a:stretch>
                        <a:fillRect/>
                      </a:stretch>
                    </p:blipFill>
                    <p:spPr>
                      <a:xfrm>
                        <a:off x="3780538" y="2404507"/>
                        <a:ext cx="495335" cy="405274"/>
                      </a:xfrm>
                      <a:prstGeom prst="rect">
                        <a:avLst/>
                      </a:prstGeom>
                    </p:spPr>
                  </p:pic>
                </p:oleObj>
              </mc:Fallback>
            </mc:AlternateContent>
          </a:graphicData>
        </a:graphic>
      </p:graphicFrame>
      <p:sp>
        <p:nvSpPr>
          <p:cNvPr id="51" name="TextBox 1">
            <a:extLst>
              <a:ext uri="{FF2B5EF4-FFF2-40B4-BE49-F238E27FC236}">
                <a16:creationId xmlns="" xmlns:a16="http://schemas.microsoft.com/office/drawing/2014/main" id="{34701E79-A915-4DB4-BFCA-5B7F1EFFB42F}"/>
              </a:ext>
            </a:extLst>
          </p:cNvPr>
          <p:cNvSpPr txBox="1">
            <a:spLocks noChangeArrowheads="1"/>
          </p:cNvSpPr>
          <p:nvPr/>
        </p:nvSpPr>
        <p:spPr bwMode="auto">
          <a:xfrm>
            <a:off x="11992695" y="4967282"/>
            <a:ext cx="1406395" cy="461665"/>
          </a:xfrm>
          <a:prstGeom prst="rect">
            <a:avLst/>
          </a:prstGeom>
          <a:solidFill>
            <a:schemeClr val="accent6">
              <a:lumMod val="20000"/>
              <a:lumOff val="80000"/>
            </a:schemeClr>
          </a:solidFill>
          <a:ln w="15875">
            <a:solidFill>
              <a:schemeClr val="accent6">
                <a:lumMod val="40000"/>
                <a:lumOff val="60000"/>
              </a:schemeClr>
            </a:solidFill>
            <a:miter lim="800000"/>
            <a:headEnd/>
            <a:tailEnd/>
          </a:ln>
        </p:spPr>
        <p:txBody>
          <a:bodyPr wrap="square">
            <a:spAutoFit/>
          </a:bodyPr>
          <a:lstStyle/>
          <a:p>
            <a:pPr defTabSz="914400">
              <a:defRPr/>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亮电导</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2" name="TextBox 4">
            <a:extLst>
              <a:ext uri="{FF2B5EF4-FFF2-40B4-BE49-F238E27FC236}">
                <a16:creationId xmlns="" xmlns:a16="http://schemas.microsoft.com/office/drawing/2014/main" id="{8A154F2C-A5AE-484B-8354-4823D55947B4}"/>
              </a:ext>
            </a:extLst>
          </p:cNvPr>
          <p:cNvSpPr txBox="1"/>
          <p:nvPr/>
        </p:nvSpPr>
        <p:spPr>
          <a:xfrm>
            <a:off x="9871386" y="1326109"/>
            <a:ext cx="2284813" cy="461665"/>
          </a:xfrm>
          <a:prstGeom prst="rect">
            <a:avLst/>
          </a:prstGeom>
          <a:solidFill>
            <a:srgbClr val="3399FF"/>
          </a:solidFill>
          <a:ln w="15875">
            <a:solidFill>
              <a:srgbClr val="3399FF"/>
            </a:solidFill>
          </a:ln>
        </p:spPr>
        <p:txBody>
          <a:bodyPr wrap="square">
            <a:spAutoFit/>
          </a:bodyPr>
          <a:lstStyle/>
          <a:p>
            <a:pPr algn="ctr" defTabSz="914400">
              <a:defRPr/>
            </a:pPr>
            <a:r>
              <a:rPr lang="zh-CN" altLang="en-US" sz="2400" b="1" dirty="0">
                <a:solidFill>
                  <a:srgbClr val="C00000"/>
                </a:solidFill>
                <a:latin typeface="微软雅黑" panose="020B0503020204020204" pitchFamily="34" charset="-122"/>
                <a:ea typeface="微软雅黑" panose="020B0503020204020204" pitchFamily="34" charset="-122"/>
                <a:cs typeface="Times New Roman" pitchFamily="18" charset="0"/>
              </a:rPr>
              <a:t>光敏电阻电流</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53" name="TextBox 5">
            <a:extLst>
              <a:ext uri="{FF2B5EF4-FFF2-40B4-BE49-F238E27FC236}">
                <a16:creationId xmlns="" xmlns:a16="http://schemas.microsoft.com/office/drawing/2014/main" id="{18B9550C-A434-45B8-9506-6AD7B9CA2582}"/>
              </a:ext>
            </a:extLst>
          </p:cNvPr>
          <p:cNvSpPr txBox="1">
            <a:spLocks noChangeArrowheads="1"/>
          </p:cNvSpPr>
          <p:nvPr/>
        </p:nvSpPr>
        <p:spPr bwMode="auto">
          <a:xfrm>
            <a:off x="8672675" y="2247890"/>
            <a:ext cx="1382712" cy="461665"/>
          </a:xfrm>
          <a:prstGeom prst="rect">
            <a:avLst/>
          </a:prstGeom>
          <a:solidFill>
            <a:schemeClr val="accent6">
              <a:lumMod val="20000"/>
              <a:lumOff val="80000"/>
            </a:schemeClr>
          </a:solidFill>
          <a:ln w="15875">
            <a:solidFill>
              <a:schemeClr val="accent6">
                <a:lumMod val="60000"/>
                <a:lumOff val="40000"/>
              </a:schemeClr>
            </a:solidFill>
            <a:miter lim="800000"/>
            <a:headEnd/>
            <a:tailEnd/>
          </a:ln>
        </p:spPr>
        <p:txBody>
          <a:bodyPr wrap="square">
            <a:spAutoFit/>
          </a:bodyPr>
          <a:lstStyle/>
          <a:p>
            <a:pPr algn="ctr" defTabSz="914400"/>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暗电流</a:t>
            </a:r>
            <a:r>
              <a:rPr lang="en-US" altLang="zh-CN" sz="2400" b="1"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b="1" i="1" baseline="-25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 name="TextBox 6">
            <a:extLst>
              <a:ext uri="{FF2B5EF4-FFF2-40B4-BE49-F238E27FC236}">
                <a16:creationId xmlns="" xmlns:a16="http://schemas.microsoft.com/office/drawing/2014/main" id="{2A92C8A2-42E3-42B4-B0DF-714932C448AA}"/>
              </a:ext>
            </a:extLst>
          </p:cNvPr>
          <p:cNvSpPr txBox="1">
            <a:spLocks noChangeArrowheads="1"/>
          </p:cNvSpPr>
          <p:nvPr/>
        </p:nvSpPr>
        <p:spPr bwMode="auto">
          <a:xfrm>
            <a:off x="10322437" y="2232499"/>
            <a:ext cx="1382712" cy="461665"/>
          </a:xfrm>
          <a:prstGeom prst="rect">
            <a:avLst/>
          </a:prstGeom>
          <a:solidFill>
            <a:schemeClr val="accent6">
              <a:lumMod val="20000"/>
              <a:lumOff val="80000"/>
            </a:schemeClr>
          </a:solidFill>
          <a:ln w="15875">
            <a:solidFill>
              <a:schemeClr val="accent6">
                <a:lumMod val="60000"/>
                <a:lumOff val="40000"/>
              </a:schemeClr>
            </a:solidFill>
            <a:miter lim="800000"/>
            <a:headEnd/>
            <a:tailEnd/>
          </a:ln>
        </p:spPr>
        <p:txBody>
          <a:bodyPr wrap="square">
            <a:spAutoFit/>
          </a:bodyPr>
          <a:lstStyle/>
          <a:p>
            <a:pPr algn="ctr" defTabSz="914400"/>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光电流</a:t>
            </a:r>
            <a:r>
              <a:rPr lang="en-US" altLang="zh-CN" sz="2400" b="1"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b="1" i="1" baseline="-25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5" name="TextBox 7">
            <a:extLst>
              <a:ext uri="{FF2B5EF4-FFF2-40B4-BE49-F238E27FC236}">
                <a16:creationId xmlns="" xmlns:a16="http://schemas.microsoft.com/office/drawing/2014/main" id="{19A20D11-4556-47D1-B0B6-AE0605409C78}"/>
              </a:ext>
            </a:extLst>
          </p:cNvPr>
          <p:cNvSpPr txBox="1">
            <a:spLocks noChangeArrowheads="1"/>
          </p:cNvSpPr>
          <p:nvPr/>
        </p:nvSpPr>
        <p:spPr bwMode="auto">
          <a:xfrm>
            <a:off x="11876793" y="2232498"/>
            <a:ext cx="1382712" cy="461665"/>
          </a:xfrm>
          <a:prstGeom prst="rect">
            <a:avLst/>
          </a:prstGeom>
          <a:solidFill>
            <a:schemeClr val="accent6">
              <a:lumMod val="20000"/>
              <a:lumOff val="80000"/>
            </a:schemeClr>
          </a:solidFill>
          <a:ln w="15875">
            <a:solidFill>
              <a:schemeClr val="accent6">
                <a:lumMod val="60000"/>
                <a:lumOff val="40000"/>
              </a:schemeClr>
            </a:solidFill>
            <a:miter lim="800000"/>
            <a:headEnd/>
            <a:tailEnd/>
          </a:ln>
        </p:spPr>
        <p:txBody>
          <a:bodyPr wrap="square">
            <a:spAutoFit/>
          </a:bodyPr>
          <a:lstStyle/>
          <a:p>
            <a:pPr algn="ctr" defTabSz="914400"/>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亮电流</a:t>
            </a:r>
            <a:r>
              <a:rPr lang="en-US" altLang="zh-CN" sz="2400" b="1"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6" name="TextBox 8">
            <a:extLst>
              <a:ext uri="{FF2B5EF4-FFF2-40B4-BE49-F238E27FC236}">
                <a16:creationId xmlns="" xmlns:a16="http://schemas.microsoft.com/office/drawing/2014/main" id="{44BA0DEC-7D6E-4CE7-8B03-E9AE00A12E6A}"/>
              </a:ext>
            </a:extLst>
          </p:cNvPr>
          <p:cNvSpPr txBox="1"/>
          <p:nvPr/>
        </p:nvSpPr>
        <p:spPr>
          <a:xfrm>
            <a:off x="10591801" y="4173230"/>
            <a:ext cx="949058" cy="461665"/>
          </a:xfrm>
          <a:prstGeom prst="rect">
            <a:avLst/>
          </a:prstGeom>
          <a:solidFill>
            <a:srgbClr val="3399FF"/>
          </a:solidFill>
          <a:ln w="15875">
            <a:noFill/>
          </a:ln>
        </p:spPr>
        <p:txBody>
          <a:bodyPr wrap="square">
            <a:spAutoFit/>
          </a:bodyPr>
          <a:lstStyle/>
          <a:p>
            <a:pPr algn="ctr" defTabSz="914400">
              <a:defRPr/>
            </a:pPr>
            <a:r>
              <a:rPr lang="zh-CN" altLang="en-US" sz="2400" b="1" dirty="0">
                <a:solidFill>
                  <a:srgbClr val="C00000"/>
                </a:solidFill>
                <a:latin typeface="微软雅黑" panose="020B0503020204020204" pitchFamily="34" charset="-122"/>
                <a:ea typeface="微软雅黑" panose="020B0503020204020204" pitchFamily="34" charset="-122"/>
                <a:cs typeface="Times New Roman" pitchFamily="18" charset="0"/>
              </a:rPr>
              <a:t>电导</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57" name="TextBox 9">
            <a:extLst>
              <a:ext uri="{FF2B5EF4-FFF2-40B4-BE49-F238E27FC236}">
                <a16:creationId xmlns="" xmlns:a16="http://schemas.microsoft.com/office/drawing/2014/main" id="{059F8168-4A26-4288-82AF-3E4E6E1F7AAE}"/>
              </a:ext>
            </a:extLst>
          </p:cNvPr>
          <p:cNvSpPr txBox="1"/>
          <p:nvPr/>
        </p:nvSpPr>
        <p:spPr>
          <a:xfrm>
            <a:off x="8827532" y="4967282"/>
            <a:ext cx="1437648" cy="461665"/>
          </a:xfrm>
          <a:prstGeom prst="rect">
            <a:avLst/>
          </a:prstGeom>
          <a:solidFill>
            <a:schemeClr val="accent6">
              <a:lumMod val="20000"/>
              <a:lumOff val="80000"/>
            </a:schemeClr>
          </a:solidFill>
          <a:ln w="15875">
            <a:solidFill>
              <a:schemeClr val="accent6">
                <a:lumMod val="40000"/>
                <a:lumOff val="60000"/>
              </a:schemeClr>
            </a:solidFill>
          </a:ln>
        </p:spPr>
        <p:txBody>
          <a:bodyPr wrap="square">
            <a:spAutoFit/>
          </a:bodyPr>
          <a:lstStyle/>
          <a:p>
            <a:pPr defTabSz="914400">
              <a:defRPr/>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暗电导</a:t>
            </a:r>
            <a:r>
              <a:rPr lang="en-US" altLang="zh-CN" sz="2400" b="1"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2400" b="1" i="1" baseline="-25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 name="TextBox 10">
            <a:extLst>
              <a:ext uri="{FF2B5EF4-FFF2-40B4-BE49-F238E27FC236}">
                <a16:creationId xmlns="" xmlns:a16="http://schemas.microsoft.com/office/drawing/2014/main" id="{C1D9ADFC-2B69-4524-9479-15FB1F431402}"/>
              </a:ext>
            </a:extLst>
          </p:cNvPr>
          <p:cNvSpPr txBox="1"/>
          <p:nvPr/>
        </p:nvSpPr>
        <p:spPr>
          <a:xfrm>
            <a:off x="10421979" y="4973263"/>
            <a:ext cx="1437648" cy="461665"/>
          </a:xfrm>
          <a:prstGeom prst="rect">
            <a:avLst/>
          </a:prstGeom>
          <a:solidFill>
            <a:schemeClr val="accent6">
              <a:lumMod val="20000"/>
              <a:lumOff val="80000"/>
            </a:schemeClr>
          </a:solidFill>
          <a:ln w="15875">
            <a:solidFill>
              <a:schemeClr val="accent6">
                <a:lumMod val="40000"/>
                <a:lumOff val="60000"/>
              </a:schemeClr>
            </a:solidFill>
          </a:ln>
        </p:spPr>
        <p:txBody>
          <a:bodyPr wrap="square">
            <a:spAutoFit/>
          </a:bodyPr>
          <a:lstStyle/>
          <a:p>
            <a:pPr algn="ctr" defTabSz="914400">
              <a:defRPr/>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光电导</a:t>
            </a:r>
            <a:r>
              <a:rPr lang="en-US" altLang="zh-CN" sz="2400" b="1"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2400" b="1" i="1" baseline="-25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9" name="Object 2">
            <a:extLst>
              <a:ext uri="{FF2B5EF4-FFF2-40B4-BE49-F238E27FC236}">
                <a16:creationId xmlns="" xmlns:a16="http://schemas.microsoft.com/office/drawing/2014/main" id="{082A1386-EBB6-42CD-A01E-9F0A817A055B}"/>
              </a:ext>
            </a:extLst>
          </p:cNvPr>
          <p:cNvGraphicFramePr>
            <a:graphicFrameLocks noChangeAspect="1"/>
          </p:cNvGraphicFramePr>
          <p:nvPr>
            <p:extLst>
              <p:ext uri="{D42A27DB-BD31-4B8C-83A1-F6EECF244321}">
                <p14:modId xmlns:p14="http://schemas.microsoft.com/office/powerpoint/2010/main" val="3781762531"/>
              </p:ext>
            </p:extLst>
          </p:nvPr>
        </p:nvGraphicFramePr>
        <p:xfrm>
          <a:off x="10055387" y="3106425"/>
          <a:ext cx="1990689" cy="714208"/>
        </p:xfrm>
        <a:graphic>
          <a:graphicData uri="http://schemas.openxmlformats.org/presentationml/2006/ole">
            <mc:AlternateContent xmlns:mc="http://schemas.openxmlformats.org/markup-compatibility/2006">
              <mc:Choice xmlns:v="urn:schemas-microsoft-com:vml" Requires="v">
                <p:oleObj spid="_x0000_s1200" name="公式" r:id="rId7" imgW="672840" imgH="241200" progId="Equation.3">
                  <p:embed/>
                </p:oleObj>
              </mc:Choice>
              <mc:Fallback>
                <p:oleObj name="公式" r:id="rId7" imgW="672840" imgH="24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55387" y="3106425"/>
                        <a:ext cx="1990689" cy="714208"/>
                      </a:xfrm>
                      <a:prstGeom prst="rect">
                        <a:avLst/>
                      </a:prstGeom>
                      <a:solidFill>
                        <a:srgbClr val="FFFF00"/>
                      </a:solidFill>
                    </p:spPr>
                  </p:pic>
                </p:oleObj>
              </mc:Fallback>
            </mc:AlternateContent>
          </a:graphicData>
        </a:graphic>
      </p:graphicFrame>
      <p:graphicFrame>
        <p:nvGraphicFramePr>
          <p:cNvPr id="60" name="Object 3">
            <a:extLst>
              <a:ext uri="{FF2B5EF4-FFF2-40B4-BE49-F238E27FC236}">
                <a16:creationId xmlns="" xmlns:a16="http://schemas.microsoft.com/office/drawing/2014/main" id="{CC3F9B82-943B-4E5A-AA66-9D75BF0A653C}"/>
              </a:ext>
            </a:extLst>
          </p:cNvPr>
          <p:cNvGraphicFramePr>
            <a:graphicFrameLocks noChangeAspect="1"/>
          </p:cNvGraphicFramePr>
          <p:nvPr>
            <p:extLst>
              <p:ext uri="{D42A27DB-BD31-4B8C-83A1-F6EECF244321}">
                <p14:modId xmlns:p14="http://schemas.microsoft.com/office/powerpoint/2010/main" val="3394337845"/>
              </p:ext>
            </p:extLst>
          </p:nvPr>
        </p:nvGraphicFramePr>
        <p:xfrm>
          <a:off x="10062848" y="5902645"/>
          <a:ext cx="1963112" cy="601994"/>
        </p:xfrm>
        <a:graphic>
          <a:graphicData uri="http://schemas.openxmlformats.org/presentationml/2006/ole">
            <mc:AlternateContent xmlns:mc="http://schemas.openxmlformats.org/markup-compatibility/2006">
              <mc:Choice xmlns:v="urn:schemas-microsoft-com:vml" Requires="v">
                <p:oleObj spid="_x0000_s1201" name="公式" r:id="rId9" imgW="787320" imgH="241200" progId="Equation.3">
                  <p:embed/>
                </p:oleObj>
              </mc:Choice>
              <mc:Fallback>
                <p:oleObj name="公式" r:id="rId9" imgW="787320" imgH="24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62848" y="5902645"/>
                        <a:ext cx="1963112" cy="601994"/>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118386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box(in)">
                                      <p:cBhvr>
                                        <p:cTn id="7" dur="500"/>
                                        <p:tgtEl>
                                          <p:spTgt spid="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in)">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ox(in)">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ox(in)">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amond(in)">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box(in)">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box(in)">
                                      <p:cBhvr>
                                        <p:cTn id="37" dur="500"/>
                                        <p:tgtEl>
                                          <p:spTgt spid="34"/>
                                        </p:tgtEl>
                                      </p:cBhvr>
                                    </p:animEffect>
                                  </p:childTnLst>
                                </p:cTn>
                              </p:par>
                              <p:par>
                                <p:cTn id="38" presetID="4" presetClass="entr" presetSubtype="16"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box(in)">
                                      <p:cBhvr>
                                        <p:cTn id="40" dur="500"/>
                                        <p:tgtEl>
                                          <p:spTgt spid="35"/>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1"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500" fill="hold"/>
                                        <p:tgtEl>
                                          <p:spTgt spid="28"/>
                                        </p:tgtEl>
                                        <p:attrNameLst>
                                          <p:attrName>ppt_x</p:attrName>
                                        </p:attrNameLst>
                                      </p:cBhvr>
                                      <p:tavLst>
                                        <p:tav tm="0">
                                          <p:val>
                                            <p:strVal val="#ppt_x"/>
                                          </p:val>
                                        </p:tav>
                                        <p:tav tm="100000">
                                          <p:val>
                                            <p:strVal val="#ppt_x"/>
                                          </p:val>
                                        </p:tav>
                                      </p:tavLst>
                                    </p:anim>
                                    <p:anim calcmode="lin" valueType="num">
                                      <p:cBhvr additive="base">
                                        <p:cTn id="46" dur="500" fill="hold"/>
                                        <p:tgtEl>
                                          <p:spTgt spid="28"/>
                                        </p:tgtEl>
                                        <p:attrNameLst>
                                          <p:attrName>ppt_y</p:attrName>
                                        </p:attrNameLst>
                                      </p:cBhvr>
                                      <p:tavLst>
                                        <p:tav tm="0">
                                          <p:val>
                                            <p:strVal val="0-#ppt_h/2"/>
                                          </p:val>
                                        </p:tav>
                                        <p:tav tm="100000">
                                          <p:val>
                                            <p:strVal val="#ppt_y"/>
                                          </p:val>
                                        </p:tav>
                                      </p:tavLst>
                                    </p:anim>
                                  </p:childTnLst>
                                </p:cTn>
                              </p:par>
                              <p:par>
                                <p:cTn id="47" presetID="2" presetClass="entr" presetSubtype="1"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fill="hold"/>
                                        <p:tgtEl>
                                          <p:spTgt spid="30"/>
                                        </p:tgtEl>
                                        <p:attrNameLst>
                                          <p:attrName>ppt_x</p:attrName>
                                        </p:attrNameLst>
                                      </p:cBhvr>
                                      <p:tavLst>
                                        <p:tav tm="0">
                                          <p:val>
                                            <p:strVal val="#ppt_x"/>
                                          </p:val>
                                        </p:tav>
                                        <p:tav tm="100000">
                                          <p:val>
                                            <p:strVal val="#ppt_x"/>
                                          </p:val>
                                        </p:tav>
                                      </p:tavLst>
                                    </p:anim>
                                    <p:anim calcmode="lin" valueType="num">
                                      <p:cBhvr additive="base">
                                        <p:cTn id="50" dur="500" fill="hold"/>
                                        <p:tgtEl>
                                          <p:spTgt spid="30"/>
                                        </p:tgtEl>
                                        <p:attrNameLst>
                                          <p:attrName>ppt_y</p:attrName>
                                        </p:attrNameLst>
                                      </p:cBhvr>
                                      <p:tavLst>
                                        <p:tav tm="0">
                                          <p:val>
                                            <p:strVal val="0-#ppt_h/2"/>
                                          </p:val>
                                        </p:tav>
                                        <p:tav tm="100000">
                                          <p:val>
                                            <p:strVal val="#ppt_y"/>
                                          </p:val>
                                        </p:tav>
                                      </p:tavLst>
                                    </p:anim>
                                  </p:childTnLst>
                                </p:cTn>
                              </p:par>
                              <p:par>
                                <p:cTn id="51" presetID="2" presetClass="entr" presetSubtype="1"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 calcmode="lin" valueType="num">
                                      <p:cBhvr additive="base">
                                        <p:cTn id="53" dur="500" fill="hold"/>
                                        <p:tgtEl>
                                          <p:spTgt spid="29"/>
                                        </p:tgtEl>
                                        <p:attrNameLst>
                                          <p:attrName>ppt_x</p:attrName>
                                        </p:attrNameLst>
                                      </p:cBhvr>
                                      <p:tavLst>
                                        <p:tav tm="0">
                                          <p:val>
                                            <p:strVal val="#ppt_x"/>
                                          </p:val>
                                        </p:tav>
                                        <p:tav tm="100000">
                                          <p:val>
                                            <p:strVal val="#ppt_x"/>
                                          </p:val>
                                        </p:tav>
                                      </p:tavLst>
                                    </p:anim>
                                    <p:anim calcmode="lin" valueType="num">
                                      <p:cBhvr additive="base">
                                        <p:cTn id="54"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box(in)">
                                      <p:cBhvr>
                                        <p:cTn id="63" dur="500"/>
                                        <p:tgtEl>
                                          <p:spTgt spid="44"/>
                                        </p:tgtEl>
                                      </p:cBhvr>
                                    </p:animEffect>
                                  </p:childTnLst>
                                </p:cTn>
                              </p:par>
                              <p:par>
                                <p:cTn id="64" presetID="4" presetClass="entr" presetSubtype="16" fill="hold"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box(in)">
                                      <p:cBhvr>
                                        <p:cTn id="66" dur="5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nodeType="click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box(in)">
                                      <p:cBhvr>
                                        <p:cTn id="71" dur="500"/>
                                        <p:tgtEl>
                                          <p:spTgt spid="36"/>
                                        </p:tgtEl>
                                      </p:cBhvr>
                                    </p:animEffect>
                                  </p:childTnLst>
                                </p:cTn>
                              </p:par>
                              <p:par>
                                <p:cTn id="72" presetID="4" presetClass="entr" presetSubtype="16"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box(in)">
                                      <p:cBhvr>
                                        <p:cTn id="74" dur="500"/>
                                        <p:tgtEl>
                                          <p:spTgt spid="37"/>
                                        </p:tgtEl>
                                      </p:cBhvr>
                                    </p:animEffect>
                                  </p:childTnLst>
                                </p:cTn>
                              </p:par>
                            </p:childTnLst>
                          </p:cTn>
                        </p:par>
                      </p:childTnLst>
                    </p:cTn>
                  </p:par>
                  <p:par>
                    <p:cTn id="75" fill="hold">
                      <p:stCondLst>
                        <p:cond delay="indefinite"/>
                      </p:stCondLst>
                      <p:childTnLst>
                        <p:par>
                          <p:cTn id="76" fill="hold">
                            <p:stCondLst>
                              <p:cond delay="0"/>
                            </p:stCondLst>
                            <p:childTnLst>
                              <p:par>
                                <p:cTn id="77" presetID="4" presetClass="entr" presetSubtype="16" fill="hold" nodeType="click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box(in)">
                                      <p:cBhvr>
                                        <p:cTn id="79" dur="500"/>
                                        <p:tgtEl>
                                          <p:spTgt spid="38"/>
                                        </p:tgtEl>
                                      </p:cBhvr>
                                    </p:animEffect>
                                  </p:childTnLst>
                                </p:cTn>
                              </p:par>
                              <p:par>
                                <p:cTn id="80" presetID="4" presetClass="entr" presetSubtype="16"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box(in)">
                                      <p:cBhvr>
                                        <p:cTn id="82" dur="500"/>
                                        <p:tgtEl>
                                          <p:spTgt spid="39"/>
                                        </p:tgtEl>
                                      </p:cBhvr>
                                    </p:animEffect>
                                  </p:childTnLst>
                                </p:cTn>
                              </p:par>
                            </p:childTnLst>
                          </p:cTn>
                        </p:par>
                      </p:childTnLst>
                    </p:cTn>
                  </p:par>
                  <p:par>
                    <p:cTn id="83" fill="hold">
                      <p:stCondLst>
                        <p:cond delay="indefinite"/>
                      </p:stCondLst>
                      <p:childTnLst>
                        <p:par>
                          <p:cTn id="84" fill="hold">
                            <p:stCondLst>
                              <p:cond delay="0"/>
                            </p:stCondLst>
                            <p:childTnLst>
                              <p:par>
                                <p:cTn id="85" presetID="21" presetClass="entr" presetSubtype="4" fill="hold"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wheel(4)">
                                      <p:cBhvr>
                                        <p:cTn id="87" dur="20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0" presetID="8" presetClass="entr" presetSubtype="16" fill="hold" grpId="0" nodeType="click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diamond(in)">
                                      <p:cBhvr>
                                        <p:cTn id="92" dur="2000"/>
                                        <p:tgtEl>
                                          <p:spTgt spid="52"/>
                                        </p:tgtEl>
                                      </p:cBhvr>
                                    </p:animEffect>
                                  </p:childTnLst>
                                </p:cTn>
                              </p:par>
                            </p:childTnLst>
                          </p:cTn>
                        </p:par>
                      </p:childTnLst>
                    </p:cTn>
                  </p:par>
                  <p:par>
                    <p:cTn id="93" fill="hold">
                      <p:stCondLst>
                        <p:cond delay="indefinite"/>
                      </p:stCondLst>
                      <p:childTnLst>
                        <p:par>
                          <p:cTn id="94" fill="hold">
                            <p:stCondLst>
                              <p:cond delay="0"/>
                            </p:stCondLst>
                            <p:childTnLst>
                              <p:par>
                                <p:cTn id="95" presetID="8" presetClass="entr" presetSubtype="16" fill="hold" grpId="0" nodeType="click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diamond(in)">
                                      <p:cBhvr>
                                        <p:cTn id="97" dur="2000"/>
                                        <p:tgtEl>
                                          <p:spTgt spid="53"/>
                                        </p:tgtEl>
                                      </p:cBhvr>
                                    </p:animEffect>
                                  </p:childTnLst>
                                </p:cTn>
                              </p:par>
                            </p:childTnLst>
                          </p:cTn>
                        </p:par>
                      </p:childTnLst>
                    </p:cTn>
                  </p:par>
                  <p:par>
                    <p:cTn id="98" fill="hold">
                      <p:stCondLst>
                        <p:cond delay="indefinite"/>
                      </p:stCondLst>
                      <p:childTnLst>
                        <p:par>
                          <p:cTn id="99" fill="hold">
                            <p:stCondLst>
                              <p:cond delay="0"/>
                            </p:stCondLst>
                            <p:childTnLst>
                              <p:par>
                                <p:cTn id="100" presetID="8" presetClass="entr" presetSubtype="16" fill="hold" grpId="0" nodeType="clickEffect">
                                  <p:stCondLst>
                                    <p:cond delay="0"/>
                                  </p:stCondLst>
                                  <p:childTnLst>
                                    <p:set>
                                      <p:cBhvr>
                                        <p:cTn id="101" dur="1" fill="hold">
                                          <p:stCondLst>
                                            <p:cond delay="0"/>
                                          </p:stCondLst>
                                        </p:cTn>
                                        <p:tgtEl>
                                          <p:spTgt spid="54"/>
                                        </p:tgtEl>
                                        <p:attrNameLst>
                                          <p:attrName>style.visibility</p:attrName>
                                        </p:attrNameLst>
                                      </p:cBhvr>
                                      <p:to>
                                        <p:strVal val="visible"/>
                                      </p:to>
                                    </p:set>
                                    <p:animEffect transition="in" filter="diamond(in)">
                                      <p:cBhvr>
                                        <p:cTn id="102" dur="2000"/>
                                        <p:tgtEl>
                                          <p:spTgt spid="54"/>
                                        </p:tgtEl>
                                      </p:cBhvr>
                                    </p:animEffect>
                                  </p:childTnLst>
                                </p:cTn>
                              </p:par>
                            </p:childTnLst>
                          </p:cTn>
                        </p:par>
                      </p:childTnLst>
                    </p:cTn>
                  </p:par>
                  <p:par>
                    <p:cTn id="103" fill="hold">
                      <p:stCondLst>
                        <p:cond delay="indefinite"/>
                      </p:stCondLst>
                      <p:childTnLst>
                        <p:par>
                          <p:cTn id="104" fill="hold">
                            <p:stCondLst>
                              <p:cond delay="0"/>
                            </p:stCondLst>
                            <p:childTnLst>
                              <p:par>
                                <p:cTn id="105" presetID="8" presetClass="entr" presetSubtype="16" fill="hold" grpId="0" nodeType="clickEffect">
                                  <p:stCondLst>
                                    <p:cond delay="0"/>
                                  </p:stCondLst>
                                  <p:childTnLst>
                                    <p:set>
                                      <p:cBhvr>
                                        <p:cTn id="106" dur="1" fill="hold">
                                          <p:stCondLst>
                                            <p:cond delay="0"/>
                                          </p:stCondLst>
                                        </p:cTn>
                                        <p:tgtEl>
                                          <p:spTgt spid="55"/>
                                        </p:tgtEl>
                                        <p:attrNameLst>
                                          <p:attrName>style.visibility</p:attrName>
                                        </p:attrNameLst>
                                      </p:cBhvr>
                                      <p:to>
                                        <p:strVal val="visible"/>
                                      </p:to>
                                    </p:set>
                                    <p:animEffect transition="in" filter="diamond(in)">
                                      <p:cBhvr>
                                        <p:cTn id="107" dur="2000"/>
                                        <p:tgtEl>
                                          <p:spTgt spid="55"/>
                                        </p:tgtEl>
                                      </p:cBhvr>
                                    </p:animEffect>
                                  </p:childTnLst>
                                </p:cTn>
                              </p:par>
                            </p:childTnLst>
                          </p:cTn>
                        </p:par>
                      </p:childTnLst>
                    </p:cTn>
                  </p:par>
                  <p:par>
                    <p:cTn id="108" fill="hold">
                      <p:stCondLst>
                        <p:cond delay="indefinite"/>
                      </p:stCondLst>
                      <p:childTnLst>
                        <p:par>
                          <p:cTn id="109" fill="hold">
                            <p:stCondLst>
                              <p:cond delay="0"/>
                            </p:stCondLst>
                            <p:childTnLst>
                              <p:par>
                                <p:cTn id="110" presetID="5" presetClass="entr" presetSubtype="10" fill="hold" grpId="0" nodeType="clickEffect">
                                  <p:stCondLst>
                                    <p:cond delay="0"/>
                                  </p:stCondLst>
                                  <p:childTnLst>
                                    <p:set>
                                      <p:cBhvr>
                                        <p:cTn id="111" dur="1" fill="hold">
                                          <p:stCondLst>
                                            <p:cond delay="0"/>
                                          </p:stCondLst>
                                        </p:cTn>
                                        <p:tgtEl>
                                          <p:spTgt spid="56"/>
                                        </p:tgtEl>
                                        <p:attrNameLst>
                                          <p:attrName>style.visibility</p:attrName>
                                        </p:attrNameLst>
                                      </p:cBhvr>
                                      <p:to>
                                        <p:strVal val="visible"/>
                                      </p:to>
                                    </p:set>
                                    <p:animEffect transition="in" filter="checkerboard(across)">
                                      <p:cBhvr>
                                        <p:cTn id="112" dur="500"/>
                                        <p:tgtEl>
                                          <p:spTgt spid="56"/>
                                        </p:tgtEl>
                                      </p:cBhvr>
                                    </p:animEffect>
                                  </p:childTnLst>
                                </p:cTn>
                              </p:par>
                            </p:childTnLst>
                          </p:cTn>
                        </p:par>
                      </p:childTnLst>
                    </p:cTn>
                  </p:par>
                  <p:par>
                    <p:cTn id="113" fill="hold">
                      <p:stCondLst>
                        <p:cond delay="indefinite"/>
                      </p:stCondLst>
                      <p:childTnLst>
                        <p:par>
                          <p:cTn id="114" fill="hold">
                            <p:stCondLst>
                              <p:cond delay="0"/>
                            </p:stCondLst>
                            <p:childTnLst>
                              <p:par>
                                <p:cTn id="115" presetID="8" presetClass="entr" presetSubtype="16" fill="hold" grpId="0" nodeType="clickEffect">
                                  <p:stCondLst>
                                    <p:cond delay="0"/>
                                  </p:stCondLst>
                                  <p:childTnLst>
                                    <p:set>
                                      <p:cBhvr>
                                        <p:cTn id="116" dur="1" fill="hold">
                                          <p:stCondLst>
                                            <p:cond delay="0"/>
                                          </p:stCondLst>
                                        </p:cTn>
                                        <p:tgtEl>
                                          <p:spTgt spid="57"/>
                                        </p:tgtEl>
                                        <p:attrNameLst>
                                          <p:attrName>style.visibility</p:attrName>
                                        </p:attrNameLst>
                                      </p:cBhvr>
                                      <p:to>
                                        <p:strVal val="visible"/>
                                      </p:to>
                                    </p:set>
                                    <p:animEffect transition="in" filter="diamond(in)">
                                      <p:cBhvr>
                                        <p:cTn id="117" dur="2000"/>
                                        <p:tgtEl>
                                          <p:spTgt spid="57"/>
                                        </p:tgtEl>
                                      </p:cBhvr>
                                    </p:animEffect>
                                  </p:childTnLst>
                                </p:cTn>
                              </p:par>
                            </p:childTnLst>
                          </p:cTn>
                        </p:par>
                      </p:childTnLst>
                    </p:cTn>
                  </p:par>
                  <p:par>
                    <p:cTn id="118" fill="hold">
                      <p:stCondLst>
                        <p:cond delay="indefinite"/>
                      </p:stCondLst>
                      <p:childTnLst>
                        <p:par>
                          <p:cTn id="119" fill="hold">
                            <p:stCondLst>
                              <p:cond delay="0"/>
                            </p:stCondLst>
                            <p:childTnLst>
                              <p:par>
                                <p:cTn id="120" presetID="8" presetClass="entr" presetSubtype="16" fill="hold" grpId="0" nodeType="clickEffect">
                                  <p:stCondLst>
                                    <p:cond delay="0"/>
                                  </p:stCondLst>
                                  <p:childTnLst>
                                    <p:set>
                                      <p:cBhvr>
                                        <p:cTn id="121" dur="1" fill="hold">
                                          <p:stCondLst>
                                            <p:cond delay="0"/>
                                          </p:stCondLst>
                                        </p:cTn>
                                        <p:tgtEl>
                                          <p:spTgt spid="58"/>
                                        </p:tgtEl>
                                        <p:attrNameLst>
                                          <p:attrName>style.visibility</p:attrName>
                                        </p:attrNameLst>
                                      </p:cBhvr>
                                      <p:to>
                                        <p:strVal val="visible"/>
                                      </p:to>
                                    </p:set>
                                    <p:animEffect transition="in" filter="diamond(in)">
                                      <p:cBhvr>
                                        <p:cTn id="122" dur="2000"/>
                                        <p:tgtEl>
                                          <p:spTgt spid="58"/>
                                        </p:tgtEl>
                                      </p:cBhvr>
                                    </p:animEffect>
                                  </p:childTnLst>
                                </p:cTn>
                              </p:par>
                            </p:childTnLst>
                          </p:cTn>
                        </p:par>
                      </p:childTnLst>
                    </p:cTn>
                  </p:par>
                  <p:par>
                    <p:cTn id="123" fill="hold">
                      <p:stCondLst>
                        <p:cond delay="indefinite"/>
                      </p:stCondLst>
                      <p:childTnLst>
                        <p:par>
                          <p:cTn id="124" fill="hold">
                            <p:stCondLst>
                              <p:cond delay="0"/>
                            </p:stCondLst>
                            <p:childTnLst>
                              <p:par>
                                <p:cTn id="125" presetID="8" presetClass="entr" presetSubtype="16" fill="hold" grpId="0" nodeType="clickEffect">
                                  <p:stCondLst>
                                    <p:cond delay="0"/>
                                  </p:stCondLst>
                                  <p:childTnLst>
                                    <p:set>
                                      <p:cBhvr>
                                        <p:cTn id="126" dur="1" fill="hold">
                                          <p:stCondLst>
                                            <p:cond delay="0"/>
                                          </p:stCondLst>
                                        </p:cTn>
                                        <p:tgtEl>
                                          <p:spTgt spid="51"/>
                                        </p:tgtEl>
                                        <p:attrNameLst>
                                          <p:attrName>style.visibility</p:attrName>
                                        </p:attrNameLst>
                                      </p:cBhvr>
                                      <p:to>
                                        <p:strVal val="visible"/>
                                      </p:to>
                                    </p:set>
                                    <p:animEffect transition="in" filter="diamond(in)">
                                      <p:cBhvr>
                                        <p:cTn id="127" dur="2000"/>
                                        <p:tgtEl>
                                          <p:spTgt spid="51"/>
                                        </p:tgtEl>
                                      </p:cBhvr>
                                    </p:animEffect>
                                  </p:childTnLst>
                                </p:cTn>
                              </p:par>
                            </p:childTnLst>
                          </p:cTn>
                        </p:par>
                      </p:childTnLst>
                    </p:cTn>
                  </p:par>
                  <p:par>
                    <p:cTn id="128" fill="hold">
                      <p:stCondLst>
                        <p:cond delay="indefinite"/>
                      </p:stCondLst>
                      <p:childTnLst>
                        <p:par>
                          <p:cTn id="129" fill="hold">
                            <p:stCondLst>
                              <p:cond delay="0"/>
                            </p:stCondLst>
                            <p:childTnLst>
                              <p:par>
                                <p:cTn id="130" presetID="5" presetClass="entr" presetSubtype="10" fill="hold" nodeType="clickEffect">
                                  <p:stCondLst>
                                    <p:cond delay="0"/>
                                  </p:stCondLst>
                                  <p:childTnLst>
                                    <p:set>
                                      <p:cBhvr>
                                        <p:cTn id="131" dur="1" fill="hold">
                                          <p:stCondLst>
                                            <p:cond delay="0"/>
                                          </p:stCondLst>
                                        </p:cTn>
                                        <p:tgtEl>
                                          <p:spTgt spid="59"/>
                                        </p:tgtEl>
                                        <p:attrNameLst>
                                          <p:attrName>style.visibility</p:attrName>
                                        </p:attrNameLst>
                                      </p:cBhvr>
                                      <p:to>
                                        <p:strVal val="visible"/>
                                      </p:to>
                                    </p:set>
                                    <p:animEffect transition="in" filter="checkerboard(across)">
                                      <p:cBhvr>
                                        <p:cTn id="132" dur="500"/>
                                        <p:tgtEl>
                                          <p:spTgt spid="59"/>
                                        </p:tgtEl>
                                      </p:cBhvr>
                                    </p:animEffect>
                                  </p:childTnLst>
                                </p:cTn>
                              </p:par>
                            </p:childTnLst>
                          </p:cTn>
                        </p:par>
                      </p:childTnLst>
                    </p:cTn>
                  </p:par>
                  <p:par>
                    <p:cTn id="133" fill="hold">
                      <p:stCondLst>
                        <p:cond delay="indefinite"/>
                      </p:stCondLst>
                      <p:childTnLst>
                        <p:par>
                          <p:cTn id="134" fill="hold">
                            <p:stCondLst>
                              <p:cond delay="0"/>
                            </p:stCondLst>
                            <p:childTnLst>
                              <p:par>
                                <p:cTn id="135" presetID="5" presetClass="entr" presetSubtype="10" fill="hold" nodeType="clickEffect">
                                  <p:stCondLst>
                                    <p:cond delay="0"/>
                                  </p:stCondLst>
                                  <p:childTnLst>
                                    <p:set>
                                      <p:cBhvr>
                                        <p:cTn id="136" dur="1" fill="hold">
                                          <p:stCondLst>
                                            <p:cond delay="0"/>
                                          </p:stCondLst>
                                        </p:cTn>
                                        <p:tgtEl>
                                          <p:spTgt spid="60"/>
                                        </p:tgtEl>
                                        <p:attrNameLst>
                                          <p:attrName>style.visibility</p:attrName>
                                        </p:attrNameLst>
                                      </p:cBhvr>
                                      <p:to>
                                        <p:strVal val="visible"/>
                                      </p:to>
                                    </p:set>
                                    <p:animEffect transition="in" filter="checkerboard(across)">
                                      <p:cBhvr>
                                        <p:cTn id="13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animBg="1"/>
      <p:bldP spid="29" grpId="0" animBg="1"/>
      <p:bldP spid="30" grpId="0" animBg="1"/>
      <p:bldP spid="35" grpId="0"/>
      <p:bldP spid="37" grpId="0"/>
      <p:bldP spid="39" grpId="0"/>
      <p:bldP spid="51" grpId="0" animBg="1"/>
      <p:bldP spid="52" grpId="0" animBg="1"/>
      <p:bldP spid="53" grpId="0" animBg="1"/>
      <p:bldP spid="54" grpId="0" animBg="1"/>
      <p:bldP spid="55" grpId="0" animBg="1"/>
      <p:bldP spid="56" grpId="0" animBg="1"/>
      <p:bldP spid="57" grpId="0" animBg="1"/>
      <p:bldP spid="5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60">
            <a:extLst>
              <a:ext uri="{FF2B5EF4-FFF2-40B4-BE49-F238E27FC236}">
                <a16:creationId xmlns="" xmlns:a16="http://schemas.microsoft.com/office/drawing/2014/main" id="{E95B3BCB-66D9-438A-B75C-E553D1F7998C}"/>
              </a:ext>
            </a:extLst>
          </p:cNvPr>
          <p:cNvSpPr txBox="1"/>
          <p:nvPr/>
        </p:nvSpPr>
        <p:spPr>
          <a:xfrm>
            <a:off x="1492081" y="293282"/>
            <a:ext cx="1607000"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光电导增益</a:t>
            </a:r>
          </a:p>
        </p:txBody>
      </p:sp>
      <p:sp>
        <p:nvSpPr>
          <p:cNvPr id="27" name="矩形: 圆角 25">
            <a:extLst>
              <a:ext uri="{FF2B5EF4-FFF2-40B4-BE49-F238E27FC236}">
                <a16:creationId xmlns="" xmlns:a16="http://schemas.microsoft.com/office/drawing/2014/main" id="{1BD3FBBB-6F29-4521-A138-9D603200B1A2}"/>
              </a:ext>
            </a:extLst>
          </p:cNvPr>
          <p:cNvSpPr/>
          <p:nvPr/>
        </p:nvSpPr>
        <p:spPr>
          <a:xfrm>
            <a:off x="346792"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8" name="直接连接符 58">
            <a:extLst>
              <a:ext uri="{FF2B5EF4-FFF2-40B4-BE49-F238E27FC236}">
                <a16:creationId xmlns="" xmlns:a16="http://schemas.microsoft.com/office/drawing/2014/main" id="{DC87CC66-5DF2-44F8-982C-9CC70BAB8070}"/>
              </a:ext>
            </a:extLst>
          </p:cNvPr>
          <p:cNvCxnSpPr>
            <a:cxnSpLocks/>
          </p:cNvCxnSpPr>
          <p:nvPr/>
        </p:nvCxnSpPr>
        <p:spPr>
          <a:xfrm>
            <a:off x="1450506" y="710998"/>
            <a:ext cx="1620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 xmlns:a16="http://schemas.microsoft.com/office/drawing/2014/main" id="{06019C5B-42B1-40AD-936A-CC4C785B627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1" name="TextBox 7">
            <a:extLst>
              <a:ext uri="{FF2B5EF4-FFF2-40B4-BE49-F238E27FC236}">
                <a16:creationId xmlns="" xmlns:a16="http://schemas.microsoft.com/office/drawing/2014/main" id="{CED6E987-2B60-4FB2-B08C-85863F32CD63}"/>
              </a:ext>
            </a:extLst>
          </p:cNvPr>
          <p:cNvSpPr txBox="1">
            <a:spLocks noChangeArrowheads="1"/>
          </p:cNvSpPr>
          <p:nvPr/>
        </p:nvSpPr>
        <p:spPr bwMode="auto">
          <a:xfrm>
            <a:off x="1046644" y="1840787"/>
            <a:ext cx="11917002" cy="1465262"/>
          </a:xfrm>
          <a:prstGeom prst="rect">
            <a:avLst/>
          </a:prstGeom>
          <a:noFill/>
          <a:ln w="9525">
            <a:noFill/>
            <a:miter lim="800000"/>
            <a:headEnd/>
            <a:tailEnd/>
          </a:ln>
        </p:spPr>
        <p:txBody>
          <a:bodyPr wrap="square">
            <a:spAutoFit/>
          </a:bodyPr>
          <a:lstStyle/>
          <a:p>
            <a:pPr defTabSz="914400">
              <a:lnSpc>
                <a:spcPct val="150000"/>
              </a:lnSpc>
            </a:pPr>
            <a:r>
              <a:rPr lang="zh-CN" altLang="en-US" sz="3200" b="1" dirty="0">
                <a:latin typeface="微软雅黑" pitchFamily="34" charset="-122"/>
                <a:ea typeface="微软雅黑" pitchFamily="34" charset="-122"/>
              </a:rPr>
              <a:t>    </a:t>
            </a:r>
            <a:r>
              <a:rPr lang="zh-CN" altLang="en-US" sz="2800" b="1" dirty="0">
                <a:latin typeface="微软雅黑" pitchFamily="34" charset="-122"/>
                <a:ea typeface="微软雅黑" pitchFamily="34" charset="-122"/>
                <a:cs typeface="Times New Roman" pitchFamily="18" charset="0"/>
              </a:rPr>
              <a:t>单位时间内流过回路横截面的载流子数与光生载流子数之比称为光电导增益，用</a:t>
            </a:r>
            <a:r>
              <a:rPr lang="en-US" altLang="zh-CN" sz="2800" b="1" dirty="0">
                <a:latin typeface="微软雅黑" pitchFamily="34" charset="-122"/>
                <a:ea typeface="微软雅黑" pitchFamily="34" charset="-122"/>
                <a:cs typeface="Times New Roman" pitchFamily="18" charset="0"/>
              </a:rPr>
              <a:t>M</a:t>
            </a:r>
            <a:r>
              <a:rPr lang="zh-CN" altLang="en-US" sz="2800" b="1" dirty="0">
                <a:latin typeface="微软雅黑" pitchFamily="34" charset="-122"/>
                <a:ea typeface="微软雅黑" pitchFamily="34" charset="-122"/>
                <a:cs typeface="Times New Roman" pitchFamily="18" charset="0"/>
              </a:rPr>
              <a:t>表示。</a:t>
            </a:r>
            <a:endParaRPr lang="zh-CN" altLang="en-US" sz="3200" b="1" dirty="0">
              <a:latin typeface="微软雅黑" pitchFamily="34" charset="-122"/>
              <a:ea typeface="微软雅黑" pitchFamily="34" charset="-122"/>
              <a:cs typeface="Times New Roman" pitchFamily="18" charset="0"/>
            </a:endParaRPr>
          </a:p>
        </p:txBody>
      </p:sp>
      <p:graphicFrame>
        <p:nvGraphicFramePr>
          <p:cNvPr id="32" name="Object 8">
            <a:extLst>
              <a:ext uri="{FF2B5EF4-FFF2-40B4-BE49-F238E27FC236}">
                <a16:creationId xmlns="" xmlns:a16="http://schemas.microsoft.com/office/drawing/2014/main" id="{D7D9542A-0DB3-441D-869E-2C857462C5F9}"/>
              </a:ext>
            </a:extLst>
          </p:cNvPr>
          <p:cNvGraphicFramePr>
            <a:graphicFrameLocks noChangeAspect="1"/>
          </p:cNvGraphicFramePr>
          <p:nvPr>
            <p:extLst>
              <p:ext uri="{D42A27DB-BD31-4B8C-83A1-F6EECF244321}">
                <p14:modId xmlns:p14="http://schemas.microsoft.com/office/powerpoint/2010/main" val="3698587335"/>
              </p:ext>
            </p:extLst>
          </p:nvPr>
        </p:nvGraphicFramePr>
        <p:xfrm>
          <a:off x="5079920" y="3485437"/>
          <a:ext cx="1866900" cy="1316037"/>
        </p:xfrm>
        <a:graphic>
          <a:graphicData uri="http://schemas.openxmlformats.org/presentationml/2006/ole">
            <mc:AlternateContent xmlns:mc="http://schemas.openxmlformats.org/markup-compatibility/2006">
              <mc:Choice xmlns:v="urn:schemas-microsoft-com:vml" Requires="v">
                <p:oleObj spid="_x0000_s3254" name="公式" r:id="rId3" imgW="774360" imgH="545760" progId="Equation.3">
                  <p:embed/>
                </p:oleObj>
              </mc:Choice>
              <mc:Fallback>
                <p:oleObj name="公式" r:id="rId3" imgW="774360" imgH="545760" progId="Equation.3">
                  <p:embed/>
                  <p:pic>
                    <p:nvPicPr>
                      <p:cNvPr id="9"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9920" y="3485437"/>
                        <a:ext cx="1866900" cy="1316037"/>
                      </a:xfrm>
                      <a:prstGeom prst="rect">
                        <a:avLst/>
                      </a:prstGeom>
                      <a:solidFill>
                        <a:srgbClr val="00FF00"/>
                      </a:solidFill>
                    </p:spPr>
                  </p:pic>
                </p:oleObj>
              </mc:Fallback>
            </mc:AlternateContent>
          </a:graphicData>
        </a:graphic>
      </p:graphicFrame>
      <p:graphicFrame>
        <p:nvGraphicFramePr>
          <p:cNvPr id="33" name="Object 9">
            <a:extLst>
              <a:ext uri="{FF2B5EF4-FFF2-40B4-BE49-F238E27FC236}">
                <a16:creationId xmlns="" xmlns:a16="http://schemas.microsoft.com/office/drawing/2014/main" id="{FD61E7CA-F262-4A7F-968E-8D059B1F4BF9}"/>
              </a:ext>
            </a:extLst>
          </p:cNvPr>
          <p:cNvGraphicFramePr>
            <a:graphicFrameLocks noChangeAspect="1"/>
          </p:cNvGraphicFramePr>
          <p:nvPr>
            <p:extLst>
              <p:ext uri="{D42A27DB-BD31-4B8C-83A1-F6EECF244321}">
                <p14:modId xmlns:p14="http://schemas.microsoft.com/office/powerpoint/2010/main" val="1731540298"/>
              </p:ext>
            </p:extLst>
          </p:nvPr>
        </p:nvGraphicFramePr>
        <p:xfrm>
          <a:off x="7835900" y="3573733"/>
          <a:ext cx="2419350" cy="949325"/>
        </p:xfrm>
        <a:graphic>
          <a:graphicData uri="http://schemas.openxmlformats.org/presentationml/2006/ole">
            <mc:AlternateContent xmlns:mc="http://schemas.openxmlformats.org/markup-compatibility/2006">
              <mc:Choice xmlns:v="urn:schemas-microsoft-com:vml" Requires="v">
                <p:oleObj spid="_x0000_s3255" name="Equation" r:id="rId5" imgW="1002960" imgH="393480" progId="Equation.DSMT4">
                  <p:embed/>
                </p:oleObj>
              </mc:Choice>
              <mc:Fallback>
                <p:oleObj name="Equation" r:id="rId5" imgW="1002960" imgH="393480" progId="Equation.DSMT4">
                  <p:embed/>
                  <p:pic>
                    <p:nvPicPr>
                      <p:cNvPr id="2057" name="Object 9"/>
                      <p:cNvPicPr>
                        <a:picLocks noChangeAspect="1" noChangeArrowheads="1"/>
                      </p:cNvPicPr>
                      <p:nvPr/>
                    </p:nvPicPr>
                    <p:blipFill>
                      <a:blip r:embed="rId6"/>
                      <a:srcRect/>
                      <a:stretch>
                        <a:fillRect/>
                      </a:stretch>
                    </p:blipFill>
                    <p:spPr bwMode="auto">
                      <a:xfrm>
                        <a:off x="7835900" y="3573733"/>
                        <a:ext cx="2419350" cy="949325"/>
                      </a:xfrm>
                      <a:prstGeom prst="rect">
                        <a:avLst/>
                      </a:prstGeom>
                      <a:solidFill>
                        <a:srgbClr val="FFFF99"/>
                      </a:solidFill>
                    </p:spPr>
                  </p:pic>
                </p:oleObj>
              </mc:Fallback>
            </mc:AlternateContent>
          </a:graphicData>
        </a:graphic>
      </p:graphicFrame>
      <p:graphicFrame>
        <p:nvGraphicFramePr>
          <p:cNvPr id="34" name="Object 10">
            <a:extLst>
              <a:ext uri="{FF2B5EF4-FFF2-40B4-BE49-F238E27FC236}">
                <a16:creationId xmlns="" xmlns:a16="http://schemas.microsoft.com/office/drawing/2014/main" id="{A654163E-62BF-4B8A-8AC7-13E5BC5C1C1F}"/>
              </a:ext>
            </a:extLst>
          </p:cNvPr>
          <p:cNvGraphicFramePr>
            <a:graphicFrameLocks noChangeAspect="1"/>
          </p:cNvGraphicFramePr>
          <p:nvPr>
            <p:extLst>
              <p:ext uri="{D42A27DB-BD31-4B8C-83A1-F6EECF244321}">
                <p14:modId xmlns:p14="http://schemas.microsoft.com/office/powerpoint/2010/main" val="3325332269"/>
              </p:ext>
            </p:extLst>
          </p:nvPr>
        </p:nvGraphicFramePr>
        <p:xfrm>
          <a:off x="5124370" y="5263437"/>
          <a:ext cx="1774825" cy="949325"/>
        </p:xfrm>
        <a:graphic>
          <a:graphicData uri="http://schemas.openxmlformats.org/presentationml/2006/ole">
            <mc:AlternateContent xmlns:mc="http://schemas.openxmlformats.org/markup-compatibility/2006">
              <mc:Choice xmlns:v="urn:schemas-microsoft-com:vml" Requires="v">
                <p:oleObj spid="_x0000_s3256" name="Equation" r:id="rId7" imgW="736560" imgH="393480" progId="Equation.DSMT4">
                  <p:embed/>
                </p:oleObj>
              </mc:Choice>
              <mc:Fallback>
                <p:oleObj name="Equation" r:id="rId7" imgW="736560" imgH="393480" progId="Equation.DSMT4">
                  <p:embed/>
                  <p:pic>
                    <p:nvPicPr>
                      <p:cNvPr id="2058" name="Object 10"/>
                      <p:cNvPicPr>
                        <a:picLocks noChangeAspect="1" noChangeArrowheads="1"/>
                      </p:cNvPicPr>
                      <p:nvPr/>
                    </p:nvPicPr>
                    <p:blipFill>
                      <a:blip r:embed="rId8"/>
                      <a:srcRect/>
                      <a:stretch>
                        <a:fillRect/>
                      </a:stretch>
                    </p:blipFill>
                    <p:spPr bwMode="auto">
                      <a:xfrm>
                        <a:off x="5124370" y="5263437"/>
                        <a:ext cx="1774825" cy="949325"/>
                      </a:xfrm>
                      <a:prstGeom prst="rect">
                        <a:avLst/>
                      </a:prstGeom>
                      <a:solidFill>
                        <a:srgbClr val="FFFF00"/>
                      </a:solidFill>
                    </p:spPr>
                  </p:pic>
                </p:oleObj>
              </mc:Fallback>
            </mc:AlternateContent>
          </a:graphicData>
        </a:graphic>
      </p:graphicFrame>
      <p:sp>
        <p:nvSpPr>
          <p:cNvPr id="35" name="TextBox 9">
            <a:extLst>
              <a:ext uri="{FF2B5EF4-FFF2-40B4-BE49-F238E27FC236}">
                <a16:creationId xmlns="" xmlns:a16="http://schemas.microsoft.com/office/drawing/2014/main" id="{B6B2CB44-9A9B-4EBF-BA2F-65F79D7477AC}"/>
              </a:ext>
            </a:extLst>
          </p:cNvPr>
          <p:cNvSpPr txBox="1">
            <a:spLocks noChangeArrowheads="1"/>
          </p:cNvSpPr>
          <p:nvPr/>
        </p:nvSpPr>
        <p:spPr bwMode="auto">
          <a:xfrm>
            <a:off x="2635170" y="3885487"/>
            <a:ext cx="2266950" cy="579437"/>
          </a:xfrm>
          <a:prstGeom prst="rect">
            <a:avLst/>
          </a:prstGeom>
          <a:solidFill>
            <a:srgbClr val="00FFCC"/>
          </a:solidFill>
          <a:ln w="9525">
            <a:noFill/>
            <a:miter lim="800000"/>
            <a:headEnd/>
            <a:tailEnd/>
          </a:ln>
        </p:spPr>
        <p:txBody>
          <a:bodyPr>
            <a:spAutoFit/>
          </a:bodyPr>
          <a:lstStyle/>
          <a:p>
            <a:pPr defTabSz="914400"/>
            <a:r>
              <a:rPr lang="en-US" altLang="zh-CN" sz="3200" b="1" dirty="0">
                <a:latin typeface="Times New Roman" pitchFamily="18" charset="0"/>
                <a:ea typeface="黑体" pitchFamily="49" charset="-122"/>
                <a:cs typeface="Times New Roman" pitchFamily="18" charset="0"/>
              </a:rPr>
              <a:t>N</a:t>
            </a:r>
            <a:r>
              <a:rPr lang="zh-CN" altLang="en-US" sz="3200" b="1" dirty="0">
                <a:latin typeface="Times New Roman" pitchFamily="18" charset="0"/>
                <a:ea typeface="黑体" pitchFamily="49" charset="-122"/>
                <a:cs typeface="Times New Roman" pitchFamily="18" charset="0"/>
              </a:rPr>
              <a:t>型半导体</a:t>
            </a:r>
          </a:p>
        </p:txBody>
      </p:sp>
      <p:grpSp>
        <p:nvGrpSpPr>
          <p:cNvPr id="14" name="组合 13"/>
          <p:cNvGrpSpPr/>
          <p:nvPr/>
        </p:nvGrpSpPr>
        <p:grpSpPr>
          <a:xfrm>
            <a:off x="10337881" y="293282"/>
            <a:ext cx="2823365" cy="523220"/>
            <a:chOff x="10337881" y="293282"/>
            <a:chExt cx="2823365" cy="523220"/>
          </a:xfrm>
        </p:grpSpPr>
        <p:sp>
          <p:nvSpPr>
            <p:cNvPr id="15" name="矩形 14"/>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6" name="矩形 15">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ox(in)">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box(in)">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box(in)">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box(in)">
                                      <p:cBhvr>
                                        <p:cTn id="2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圆角 25">
            <a:extLst>
              <a:ext uri="{FF2B5EF4-FFF2-40B4-BE49-F238E27FC236}">
                <a16:creationId xmlns="" xmlns:a16="http://schemas.microsoft.com/office/drawing/2014/main" id="{1BD3FBBB-6F29-4521-A138-9D603200B1A2}"/>
              </a:ext>
            </a:extLst>
          </p:cNvPr>
          <p:cNvSpPr/>
          <p:nvPr/>
        </p:nvSpPr>
        <p:spPr>
          <a:xfrm>
            <a:off x="346792"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30" name="矩形 29">
            <a:extLst>
              <a:ext uri="{FF2B5EF4-FFF2-40B4-BE49-F238E27FC236}">
                <a16:creationId xmlns="" xmlns:a16="http://schemas.microsoft.com/office/drawing/2014/main" id="{06019C5B-42B1-40AD-936A-CC4C785B627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TextBox 1">
            <a:extLst>
              <a:ext uri="{FF2B5EF4-FFF2-40B4-BE49-F238E27FC236}">
                <a16:creationId xmlns="" xmlns:a16="http://schemas.microsoft.com/office/drawing/2014/main" id="{F941D1C7-3BBC-4D31-AD66-E4DA477FB7DF}"/>
              </a:ext>
            </a:extLst>
          </p:cNvPr>
          <p:cNvSpPr txBox="1">
            <a:spLocks noChangeArrowheads="1"/>
          </p:cNvSpPr>
          <p:nvPr/>
        </p:nvSpPr>
        <p:spPr bwMode="auto">
          <a:xfrm>
            <a:off x="729124" y="1132916"/>
            <a:ext cx="12415416" cy="830997"/>
          </a:xfrm>
          <a:prstGeom prst="rect">
            <a:avLst/>
          </a:prstGeom>
          <a:noFill/>
          <a:ln w="9525">
            <a:noFill/>
            <a:miter lim="800000"/>
            <a:headEnd/>
            <a:tailEnd/>
          </a:ln>
        </p:spPr>
        <p:txBody>
          <a:bodyPr wrap="square">
            <a:spAutoFit/>
          </a:bodyPr>
          <a:lstStyle/>
          <a:p>
            <a:pPr defTabSz="914400">
              <a:lnSpc>
                <a:spcPct val="150000"/>
              </a:lnSpc>
            </a:pPr>
            <a:r>
              <a:rPr lang="zh-CN" altLang="en-US" sz="3200" b="1" dirty="0">
                <a:latin typeface="Times New Roman" pitchFamily="18" charset="0"/>
                <a:ea typeface="楷体_GB2312" pitchFamily="49" charset="-122"/>
                <a:cs typeface="Times New Roman" pitchFamily="18" charset="0"/>
              </a:rPr>
              <a:t>     </a:t>
            </a:r>
            <a:r>
              <a:rPr lang="zh-CN" altLang="en-US" sz="2800" b="1" dirty="0">
                <a:latin typeface="微软雅黑" pitchFamily="34" charset="-122"/>
                <a:ea typeface="微软雅黑" pitchFamily="34" charset="-122"/>
                <a:cs typeface="Times New Roman" pitchFamily="18" charset="0"/>
              </a:rPr>
              <a:t>光电导增益也可以表示为光生载流子</a:t>
            </a:r>
            <a:r>
              <a:rPr lang="zh-CN" altLang="en-US" sz="2800" b="1" u="sng" dirty="0">
                <a:solidFill>
                  <a:srgbClr val="FF00FF"/>
                </a:solidFill>
                <a:latin typeface="微软雅黑" pitchFamily="34" charset="-122"/>
                <a:ea typeface="微软雅黑" pitchFamily="34" charset="-122"/>
                <a:cs typeface="Times New Roman" pitchFamily="18" charset="0"/>
              </a:rPr>
              <a:t>平均寿命</a:t>
            </a:r>
            <a:r>
              <a:rPr lang="en-US" altLang="zh-CN" sz="2800" b="1" i="1" u="sng" dirty="0">
                <a:solidFill>
                  <a:srgbClr val="FF00FF"/>
                </a:solidFill>
                <a:latin typeface="微软雅黑" pitchFamily="34" charset="-122"/>
                <a:ea typeface="微软雅黑" pitchFamily="34" charset="-122"/>
                <a:cs typeface="Times New Roman" pitchFamily="18" charset="0"/>
              </a:rPr>
              <a:t>τ</a:t>
            </a:r>
            <a:r>
              <a:rPr lang="zh-CN" altLang="en-US" sz="2800" b="1" dirty="0">
                <a:latin typeface="微软雅黑" pitchFamily="34" charset="-122"/>
                <a:ea typeface="微软雅黑" pitchFamily="34" charset="-122"/>
                <a:cs typeface="Times New Roman" pitchFamily="18" charset="0"/>
              </a:rPr>
              <a:t>与载流子</a:t>
            </a:r>
            <a:r>
              <a:rPr lang="zh-CN" altLang="en-US" sz="2800" b="1" u="sng" dirty="0">
                <a:solidFill>
                  <a:srgbClr val="FF00FF"/>
                </a:solidFill>
                <a:latin typeface="微软雅黑" pitchFamily="34" charset="-122"/>
                <a:ea typeface="微软雅黑" pitchFamily="34" charset="-122"/>
                <a:cs typeface="Times New Roman" pitchFamily="18" charset="0"/>
              </a:rPr>
              <a:t>渡越时间</a:t>
            </a:r>
            <a:r>
              <a:rPr lang="en-US" altLang="zh-CN" sz="2800" b="1" i="1" u="sng" dirty="0" err="1">
                <a:solidFill>
                  <a:srgbClr val="FF00FF"/>
                </a:solidFill>
                <a:latin typeface="微软雅黑" pitchFamily="34" charset="-122"/>
                <a:ea typeface="微软雅黑" pitchFamily="34" charset="-122"/>
                <a:cs typeface="Times New Roman" pitchFamily="18" charset="0"/>
              </a:rPr>
              <a:t>τ</a:t>
            </a:r>
            <a:r>
              <a:rPr lang="en-US" altLang="zh-CN" sz="2800" b="1" i="1" u="sng" baseline="-25000" dirty="0" err="1">
                <a:solidFill>
                  <a:srgbClr val="FF00FF"/>
                </a:solidFill>
                <a:latin typeface="微软雅黑" pitchFamily="34" charset="-122"/>
                <a:ea typeface="微软雅黑" pitchFamily="34" charset="-122"/>
                <a:cs typeface="Times New Roman" pitchFamily="18" charset="0"/>
              </a:rPr>
              <a:t>t</a:t>
            </a:r>
            <a:r>
              <a:rPr lang="zh-CN" altLang="en-US" sz="2800" b="1" dirty="0">
                <a:latin typeface="微软雅黑" pitchFamily="34" charset="-122"/>
                <a:ea typeface="微软雅黑" pitchFamily="34" charset="-122"/>
                <a:cs typeface="Times New Roman" pitchFamily="18" charset="0"/>
              </a:rPr>
              <a:t>之比</a:t>
            </a:r>
          </a:p>
        </p:txBody>
      </p:sp>
      <p:graphicFrame>
        <p:nvGraphicFramePr>
          <p:cNvPr id="16" name="Object 1">
            <a:extLst>
              <a:ext uri="{FF2B5EF4-FFF2-40B4-BE49-F238E27FC236}">
                <a16:creationId xmlns="" xmlns:a16="http://schemas.microsoft.com/office/drawing/2014/main" id="{1FB0442A-FFDF-4A41-A330-DB2361EB5217}"/>
              </a:ext>
            </a:extLst>
          </p:cNvPr>
          <p:cNvGraphicFramePr>
            <a:graphicFrameLocks noChangeAspect="1"/>
          </p:cNvGraphicFramePr>
          <p:nvPr>
            <p:extLst>
              <p:ext uri="{D42A27DB-BD31-4B8C-83A1-F6EECF244321}">
                <p14:modId xmlns:p14="http://schemas.microsoft.com/office/powerpoint/2010/main" val="2984940353"/>
              </p:ext>
            </p:extLst>
          </p:nvPr>
        </p:nvGraphicFramePr>
        <p:xfrm>
          <a:off x="710306" y="3806804"/>
          <a:ext cx="1317625" cy="1163638"/>
        </p:xfrm>
        <a:graphic>
          <a:graphicData uri="http://schemas.openxmlformats.org/presentationml/2006/ole">
            <mc:AlternateContent xmlns:mc="http://schemas.openxmlformats.org/markup-compatibility/2006">
              <mc:Choice xmlns:v="urn:schemas-microsoft-com:vml" Requires="v">
                <p:oleObj spid="_x0000_s4398" name="Equation" r:id="rId3" imgW="482400" imgH="431640" progId="Equation.DSMT4">
                  <p:embed/>
                </p:oleObj>
              </mc:Choice>
              <mc:Fallback>
                <p:oleObj name="Equation" r:id="rId3" imgW="482400" imgH="431640" progId="Equation.DSMT4">
                  <p:embed/>
                  <p:pic>
                    <p:nvPicPr>
                      <p:cNvPr id="110593" name="Object 1"/>
                      <p:cNvPicPr>
                        <a:picLocks noChangeAspect="1" noChangeArrowheads="1"/>
                      </p:cNvPicPr>
                      <p:nvPr/>
                    </p:nvPicPr>
                    <p:blipFill>
                      <a:blip r:embed="rId4"/>
                      <a:srcRect/>
                      <a:stretch>
                        <a:fillRect/>
                      </a:stretch>
                    </p:blipFill>
                    <p:spPr bwMode="auto">
                      <a:xfrm>
                        <a:off x="710306" y="3806804"/>
                        <a:ext cx="1317625" cy="1163638"/>
                      </a:xfrm>
                      <a:prstGeom prst="rect">
                        <a:avLst/>
                      </a:prstGeom>
                      <a:solidFill>
                        <a:srgbClr val="FFFF00"/>
                      </a:solidFill>
                    </p:spPr>
                  </p:pic>
                </p:oleObj>
              </mc:Fallback>
            </mc:AlternateContent>
          </a:graphicData>
        </a:graphic>
      </p:graphicFrame>
      <p:graphicFrame>
        <p:nvGraphicFramePr>
          <p:cNvPr id="17" name="Object 3">
            <a:extLst>
              <a:ext uri="{FF2B5EF4-FFF2-40B4-BE49-F238E27FC236}">
                <a16:creationId xmlns="" xmlns:a16="http://schemas.microsoft.com/office/drawing/2014/main" id="{77A3237C-6B66-43BD-8C1F-F9CB84C5DD52}"/>
              </a:ext>
            </a:extLst>
          </p:cNvPr>
          <p:cNvGraphicFramePr>
            <a:graphicFrameLocks noChangeAspect="1"/>
          </p:cNvGraphicFramePr>
          <p:nvPr>
            <p:extLst>
              <p:ext uri="{D42A27DB-BD31-4B8C-83A1-F6EECF244321}">
                <p14:modId xmlns:p14="http://schemas.microsoft.com/office/powerpoint/2010/main" val="1110472515"/>
              </p:ext>
            </p:extLst>
          </p:nvPr>
        </p:nvGraphicFramePr>
        <p:xfrm>
          <a:off x="2371725" y="3806825"/>
          <a:ext cx="2876550" cy="1163638"/>
        </p:xfrm>
        <a:graphic>
          <a:graphicData uri="http://schemas.openxmlformats.org/presentationml/2006/ole">
            <mc:AlternateContent xmlns:mc="http://schemas.openxmlformats.org/markup-compatibility/2006">
              <mc:Choice xmlns:v="urn:schemas-microsoft-com:vml" Requires="v">
                <p:oleObj spid="_x0000_s4399" name="Equation" r:id="rId5" imgW="1269720" imgH="457200" progId="Equation.DSMT4">
                  <p:embed/>
                </p:oleObj>
              </mc:Choice>
              <mc:Fallback>
                <p:oleObj name="Equation" r:id="rId5" imgW="1269720" imgH="457200" progId="Equation.DSMT4">
                  <p:embed/>
                  <p:pic>
                    <p:nvPicPr>
                      <p:cNvPr id="110595" name="Object 3"/>
                      <p:cNvPicPr>
                        <a:picLocks noChangeAspect="1" noChangeArrowheads="1"/>
                      </p:cNvPicPr>
                      <p:nvPr/>
                    </p:nvPicPr>
                    <p:blipFill>
                      <a:blip r:embed="rId6"/>
                      <a:srcRect/>
                      <a:stretch>
                        <a:fillRect/>
                      </a:stretch>
                    </p:blipFill>
                    <p:spPr bwMode="auto">
                      <a:xfrm>
                        <a:off x="2371725" y="3806825"/>
                        <a:ext cx="2876550" cy="1163638"/>
                      </a:xfrm>
                      <a:prstGeom prst="rect">
                        <a:avLst/>
                      </a:prstGeom>
                      <a:solidFill>
                        <a:srgbClr val="FFFF00"/>
                      </a:solidFill>
                    </p:spPr>
                  </p:pic>
                </p:oleObj>
              </mc:Fallback>
            </mc:AlternateContent>
          </a:graphicData>
        </a:graphic>
      </p:graphicFrame>
      <p:graphicFrame>
        <p:nvGraphicFramePr>
          <p:cNvPr id="18" name="Object 10">
            <a:extLst>
              <a:ext uri="{FF2B5EF4-FFF2-40B4-BE49-F238E27FC236}">
                <a16:creationId xmlns="" xmlns:a16="http://schemas.microsoft.com/office/drawing/2014/main" id="{591B2C9D-2DBE-4A45-9D06-2306408BBBBB}"/>
              </a:ext>
            </a:extLst>
          </p:cNvPr>
          <p:cNvGraphicFramePr>
            <a:graphicFrameLocks noChangeAspect="1"/>
          </p:cNvGraphicFramePr>
          <p:nvPr>
            <p:extLst>
              <p:ext uri="{D42A27DB-BD31-4B8C-83A1-F6EECF244321}">
                <p14:modId xmlns:p14="http://schemas.microsoft.com/office/powerpoint/2010/main" val="4222821696"/>
              </p:ext>
            </p:extLst>
          </p:nvPr>
        </p:nvGraphicFramePr>
        <p:xfrm>
          <a:off x="2736175" y="5741004"/>
          <a:ext cx="1774825" cy="993775"/>
        </p:xfrm>
        <a:graphic>
          <a:graphicData uri="http://schemas.openxmlformats.org/presentationml/2006/ole">
            <mc:AlternateContent xmlns:mc="http://schemas.openxmlformats.org/markup-compatibility/2006">
              <mc:Choice xmlns:v="urn:schemas-microsoft-com:vml" Requires="v">
                <p:oleObj spid="_x0000_s4400" name="Equation" r:id="rId7" imgW="736560" imgH="393480" progId="Equation.DSMT4">
                  <p:embed/>
                </p:oleObj>
              </mc:Choice>
              <mc:Fallback>
                <p:oleObj name="Equation" r:id="rId7" imgW="736560" imgH="393480" progId="Equation.DSMT4">
                  <p:embed/>
                  <p:pic>
                    <p:nvPicPr>
                      <p:cNvPr id="2058" name="Object 10"/>
                      <p:cNvPicPr>
                        <a:picLocks noChangeAspect="1" noChangeArrowheads="1"/>
                      </p:cNvPicPr>
                      <p:nvPr/>
                    </p:nvPicPr>
                    <p:blipFill>
                      <a:blip r:embed="rId8"/>
                      <a:srcRect/>
                      <a:stretch>
                        <a:fillRect/>
                      </a:stretch>
                    </p:blipFill>
                    <p:spPr bwMode="auto">
                      <a:xfrm>
                        <a:off x="2736175" y="5741004"/>
                        <a:ext cx="1774825" cy="993775"/>
                      </a:xfrm>
                      <a:prstGeom prst="rect">
                        <a:avLst/>
                      </a:prstGeom>
                      <a:solidFill>
                        <a:srgbClr val="FFFF00"/>
                      </a:solidFill>
                    </p:spPr>
                  </p:pic>
                </p:oleObj>
              </mc:Fallback>
            </mc:AlternateContent>
          </a:graphicData>
        </a:graphic>
      </p:graphicFrame>
      <p:sp>
        <p:nvSpPr>
          <p:cNvPr id="19" name="TextBox 8">
            <a:extLst>
              <a:ext uri="{FF2B5EF4-FFF2-40B4-BE49-F238E27FC236}">
                <a16:creationId xmlns="" xmlns:a16="http://schemas.microsoft.com/office/drawing/2014/main" id="{9652EB51-B6F6-4985-89F1-C6F5F8F833BA}"/>
              </a:ext>
            </a:extLst>
          </p:cNvPr>
          <p:cNvSpPr txBox="1">
            <a:spLocks noChangeArrowheads="1"/>
          </p:cNvSpPr>
          <p:nvPr/>
        </p:nvSpPr>
        <p:spPr bwMode="auto">
          <a:xfrm>
            <a:off x="2183517" y="2642997"/>
            <a:ext cx="2175927" cy="579438"/>
          </a:xfrm>
          <a:prstGeom prst="rect">
            <a:avLst/>
          </a:prstGeom>
          <a:solidFill>
            <a:schemeClr val="accent2">
              <a:lumMod val="40000"/>
              <a:lumOff val="60000"/>
            </a:schemeClr>
          </a:solidFill>
          <a:ln w="9525">
            <a:noFill/>
            <a:miter lim="800000"/>
            <a:headEnd/>
            <a:tailEnd/>
          </a:ln>
        </p:spPr>
        <p:txBody>
          <a:bodyPr wrap="square">
            <a:spAutoFit/>
          </a:bodyPr>
          <a:lstStyle/>
          <a:p>
            <a:pPr defTabSz="914400"/>
            <a:r>
              <a:rPr lang="en-US" altLang="zh-CN" sz="3200" b="1" dirty="0">
                <a:latin typeface="微软雅黑" pitchFamily="34" charset="-122"/>
                <a:ea typeface="微软雅黑" pitchFamily="34" charset="-122"/>
                <a:cs typeface="Times New Roman" pitchFamily="18" charset="0"/>
              </a:rPr>
              <a:t>N</a:t>
            </a:r>
            <a:r>
              <a:rPr lang="zh-CN" altLang="en-US" sz="3200" b="1" dirty="0">
                <a:latin typeface="微软雅黑" pitchFamily="34" charset="-122"/>
                <a:ea typeface="微软雅黑" pitchFamily="34" charset="-122"/>
                <a:cs typeface="Times New Roman" pitchFamily="18" charset="0"/>
              </a:rPr>
              <a:t>型半导体</a:t>
            </a:r>
          </a:p>
        </p:txBody>
      </p:sp>
      <p:graphicFrame>
        <p:nvGraphicFramePr>
          <p:cNvPr id="20" name="Object 10">
            <a:extLst>
              <a:ext uri="{FF2B5EF4-FFF2-40B4-BE49-F238E27FC236}">
                <a16:creationId xmlns="" xmlns:a16="http://schemas.microsoft.com/office/drawing/2014/main" id="{FC3D620F-B75D-4112-B634-8E927C3E1A13}"/>
              </a:ext>
            </a:extLst>
          </p:cNvPr>
          <p:cNvGraphicFramePr>
            <a:graphicFrameLocks noChangeAspect="1"/>
          </p:cNvGraphicFramePr>
          <p:nvPr>
            <p:extLst>
              <p:ext uri="{D42A27DB-BD31-4B8C-83A1-F6EECF244321}">
                <p14:modId xmlns:p14="http://schemas.microsoft.com/office/powerpoint/2010/main" val="2824284770"/>
              </p:ext>
            </p:extLst>
          </p:nvPr>
        </p:nvGraphicFramePr>
        <p:xfrm>
          <a:off x="6462421" y="3805911"/>
          <a:ext cx="1806575" cy="993775"/>
        </p:xfrm>
        <a:graphic>
          <a:graphicData uri="http://schemas.openxmlformats.org/presentationml/2006/ole">
            <mc:AlternateContent xmlns:mc="http://schemas.openxmlformats.org/markup-compatibility/2006">
              <mc:Choice xmlns:v="urn:schemas-microsoft-com:vml" Requires="v">
                <p:oleObj spid="_x0000_s4401" name="Equation" r:id="rId9" imgW="749160" imgH="393480" progId="Equation.DSMT4">
                  <p:embed/>
                </p:oleObj>
              </mc:Choice>
              <mc:Fallback>
                <p:oleObj name="Equation" r:id="rId9" imgW="749160" imgH="393480" progId="Equation.DSMT4">
                  <p:embed/>
                  <p:pic>
                    <p:nvPicPr>
                      <p:cNvPr id="13" name="Object 10"/>
                      <p:cNvPicPr>
                        <a:picLocks noChangeAspect="1" noChangeArrowheads="1"/>
                      </p:cNvPicPr>
                      <p:nvPr/>
                    </p:nvPicPr>
                    <p:blipFill>
                      <a:blip r:embed="rId10"/>
                      <a:srcRect/>
                      <a:stretch>
                        <a:fillRect/>
                      </a:stretch>
                    </p:blipFill>
                    <p:spPr bwMode="auto">
                      <a:xfrm>
                        <a:off x="6462421" y="3805911"/>
                        <a:ext cx="1806575" cy="993775"/>
                      </a:xfrm>
                      <a:prstGeom prst="rect">
                        <a:avLst/>
                      </a:prstGeom>
                      <a:solidFill>
                        <a:srgbClr val="FFFF00"/>
                      </a:solidFill>
                    </p:spPr>
                  </p:pic>
                </p:oleObj>
              </mc:Fallback>
            </mc:AlternateContent>
          </a:graphicData>
        </a:graphic>
      </p:graphicFrame>
      <p:graphicFrame>
        <p:nvGraphicFramePr>
          <p:cNvPr id="21" name="Object 3">
            <a:extLst>
              <a:ext uri="{FF2B5EF4-FFF2-40B4-BE49-F238E27FC236}">
                <a16:creationId xmlns="" xmlns:a16="http://schemas.microsoft.com/office/drawing/2014/main" id="{E3E7A5ED-B7EA-45C1-9EF2-32BFBEDEA501}"/>
              </a:ext>
            </a:extLst>
          </p:cNvPr>
          <p:cNvGraphicFramePr>
            <a:graphicFrameLocks noChangeAspect="1"/>
          </p:cNvGraphicFramePr>
          <p:nvPr>
            <p:extLst>
              <p:ext uri="{D42A27DB-BD31-4B8C-83A1-F6EECF244321}">
                <p14:modId xmlns:p14="http://schemas.microsoft.com/office/powerpoint/2010/main" val="4276402633"/>
              </p:ext>
            </p:extLst>
          </p:nvPr>
        </p:nvGraphicFramePr>
        <p:xfrm>
          <a:off x="9655511" y="3806804"/>
          <a:ext cx="2862262" cy="1776412"/>
        </p:xfrm>
        <a:graphic>
          <a:graphicData uri="http://schemas.openxmlformats.org/presentationml/2006/ole">
            <mc:AlternateContent xmlns:mc="http://schemas.openxmlformats.org/markup-compatibility/2006">
              <mc:Choice xmlns:v="urn:schemas-microsoft-com:vml" Requires="v">
                <p:oleObj spid="_x0000_s4402" name="Equation" r:id="rId11" imgW="1371600" imgH="812520" progId="Equation.DSMT4">
                  <p:embed/>
                </p:oleObj>
              </mc:Choice>
              <mc:Fallback>
                <p:oleObj name="Equation" r:id="rId11" imgW="1371600" imgH="812520" progId="Equation.DSMT4">
                  <p:embed/>
                  <p:pic>
                    <p:nvPicPr>
                      <p:cNvPr id="21" name="Object 3"/>
                      <p:cNvPicPr>
                        <a:picLocks noChangeAspect="1" noChangeArrowheads="1"/>
                      </p:cNvPicPr>
                      <p:nvPr/>
                    </p:nvPicPr>
                    <p:blipFill>
                      <a:blip r:embed="rId12"/>
                      <a:srcRect/>
                      <a:stretch>
                        <a:fillRect/>
                      </a:stretch>
                    </p:blipFill>
                    <p:spPr bwMode="auto">
                      <a:xfrm>
                        <a:off x="9655511" y="3806804"/>
                        <a:ext cx="2862262" cy="1776412"/>
                      </a:xfrm>
                      <a:prstGeom prst="rect">
                        <a:avLst/>
                      </a:prstGeom>
                      <a:solidFill>
                        <a:srgbClr val="FFFF00"/>
                      </a:solidFill>
                    </p:spPr>
                  </p:pic>
                </p:oleObj>
              </mc:Fallback>
            </mc:AlternateContent>
          </a:graphicData>
        </a:graphic>
      </p:graphicFrame>
      <p:sp>
        <p:nvSpPr>
          <p:cNvPr id="22" name="TextBox 4">
            <a:extLst>
              <a:ext uri="{FF2B5EF4-FFF2-40B4-BE49-F238E27FC236}">
                <a16:creationId xmlns="" xmlns:a16="http://schemas.microsoft.com/office/drawing/2014/main" id="{3845BC76-5708-4B52-9C89-D849D604A62A}"/>
              </a:ext>
            </a:extLst>
          </p:cNvPr>
          <p:cNvSpPr txBox="1">
            <a:spLocks noChangeArrowheads="1"/>
          </p:cNvSpPr>
          <p:nvPr/>
        </p:nvSpPr>
        <p:spPr bwMode="auto">
          <a:xfrm>
            <a:off x="10004563" y="2642997"/>
            <a:ext cx="2415809" cy="584775"/>
          </a:xfrm>
          <a:prstGeom prst="rect">
            <a:avLst/>
          </a:prstGeom>
          <a:solidFill>
            <a:schemeClr val="accent2">
              <a:lumMod val="40000"/>
              <a:lumOff val="60000"/>
            </a:schemeClr>
          </a:solidFill>
          <a:ln w="9525">
            <a:noFill/>
            <a:miter lim="800000"/>
            <a:headEnd/>
            <a:tailEnd/>
          </a:ln>
        </p:spPr>
        <p:txBody>
          <a:bodyPr wrap="square">
            <a:spAutoFit/>
          </a:bodyPr>
          <a:lstStyle/>
          <a:p>
            <a:pPr defTabSz="914400"/>
            <a:r>
              <a:rPr lang="zh-CN" altLang="en-US" sz="3200" b="1" dirty="0">
                <a:latin typeface="微软雅黑" pitchFamily="34" charset="-122"/>
                <a:ea typeface="微软雅黑" pitchFamily="34" charset="-122"/>
                <a:cs typeface="Times New Roman" pitchFamily="18" charset="0"/>
              </a:rPr>
              <a:t>本征半导体</a:t>
            </a:r>
          </a:p>
        </p:txBody>
      </p:sp>
      <p:sp>
        <p:nvSpPr>
          <p:cNvPr id="23" name="TextBox 8">
            <a:extLst>
              <a:ext uri="{FF2B5EF4-FFF2-40B4-BE49-F238E27FC236}">
                <a16:creationId xmlns="" xmlns:a16="http://schemas.microsoft.com/office/drawing/2014/main" id="{3E14DDA1-9C14-4B8B-A165-8AFD3A3E57B6}"/>
              </a:ext>
            </a:extLst>
          </p:cNvPr>
          <p:cNvSpPr txBox="1">
            <a:spLocks noChangeArrowheads="1"/>
          </p:cNvSpPr>
          <p:nvPr/>
        </p:nvSpPr>
        <p:spPr bwMode="auto">
          <a:xfrm>
            <a:off x="6241150" y="2642997"/>
            <a:ext cx="2175927" cy="579438"/>
          </a:xfrm>
          <a:prstGeom prst="rect">
            <a:avLst/>
          </a:prstGeom>
          <a:solidFill>
            <a:schemeClr val="accent2">
              <a:lumMod val="40000"/>
              <a:lumOff val="60000"/>
            </a:schemeClr>
          </a:solidFill>
          <a:ln w="9525">
            <a:noFill/>
            <a:miter lim="800000"/>
            <a:headEnd/>
            <a:tailEnd/>
          </a:ln>
        </p:spPr>
        <p:txBody>
          <a:bodyPr wrap="square">
            <a:spAutoFit/>
          </a:bodyPr>
          <a:lstStyle/>
          <a:p>
            <a:pPr defTabSz="914400"/>
            <a:r>
              <a:rPr lang="en-US" altLang="zh-CN" sz="3200" b="1" dirty="0">
                <a:latin typeface="微软雅黑" pitchFamily="34" charset="-122"/>
                <a:ea typeface="微软雅黑" pitchFamily="34" charset="-122"/>
                <a:cs typeface="Times New Roman" pitchFamily="18" charset="0"/>
              </a:rPr>
              <a:t>P</a:t>
            </a:r>
            <a:r>
              <a:rPr lang="zh-CN" altLang="en-US" sz="3200" b="1" dirty="0">
                <a:latin typeface="微软雅黑" pitchFamily="34" charset="-122"/>
                <a:ea typeface="微软雅黑" pitchFamily="34" charset="-122"/>
                <a:cs typeface="Times New Roman" pitchFamily="18" charset="0"/>
              </a:rPr>
              <a:t>型半导体</a:t>
            </a:r>
          </a:p>
        </p:txBody>
      </p:sp>
      <p:grpSp>
        <p:nvGrpSpPr>
          <p:cNvPr id="31" name="组合 30"/>
          <p:cNvGrpSpPr/>
          <p:nvPr/>
        </p:nvGrpSpPr>
        <p:grpSpPr>
          <a:xfrm>
            <a:off x="10337881" y="293282"/>
            <a:ext cx="2823365" cy="523220"/>
            <a:chOff x="10337881" y="293282"/>
            <a:chExt cx="2823365" cy="523220"/>
          </a:xfrm>
        </p:grpSpPr>
        <p:sp>
          <p:nvSpPr>
            <p:cNvPr id="32" name="矩形 31"/>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33" name="矩形 32">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25" name="文本框 60">
            <a:extLst>
              <a:ext uri="{FF2B5EF4-FFF2-40B4-BE49-F238E27FC236}">
                <a16:creationId xmlns="" xmlns:a16="http://schemas.microsoft.com/office/drawing/2014/main" id="{E95B3BCB-66D9-438A-B75C-E553D1F7998C}"/>
              </a:ext>
            </a:extLst>
          </p:cNvPr>
          <p:cNvSpPr txBox="1"/>
          <p:nvPr/>
        </p:nvSpPr>
        <p:spPr>
          <a:xfrm>
            <a:off x="1492081" y="293282"/>
            <a:ext cx="1607000"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光电导增益</a:t>
            </a:r>
          </a:p>
        </p:txBody>
      </p:sp>
      <p:cxnSp>
        <p:nvCxnSpPr>
          <p:cNvPr id="26" name="直接连接符 58">
            <a:extLst>
              <a:ext uri="{FF2B5EF4-FFF2-40B4-BE49-F238E27FC236}">
                <a16:creationId xmlns="" xmlns:a16="http://schemas.microsoft.com/office/drawing/2014/main" id="{DC87CC66-5DF2-44F8-982C-9CC70BAB8070}"/>
              </a:ext>
            </a:extLst>
          </p:cNvPr>
          <p:cNvCxnSpPr>
            <a:cxnSpLocks/>
          </p:cNvCxnSpPr>
          <p:nvPr/>
        </p:nvCxnSpPr>
        <p:spPr>
          <a:xfrm>
            <a:off x="1450506" y="710998"/>
            <a:ext cx="1620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257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ox(in)">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ox(i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ox(i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ox(i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ox(in)">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ox(in)">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ox(in)">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ox(in)">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60">
            <a:extLst>
              <a:ext uri="{FF2B5EF4-FFF2-40B4-BE49-F238E27FC236}">
                <a16:creationId xmlns="" xmlns:a16="http://schemas.microsoft.com/office/drawing/2014/main" id="{E95B3BCB-66D9-438A-B75C-E553D1F7998C}"/>
              </a:ext>
            </a:extLst>
          </p:cNvPr>
          <p:cNvSpPr txBox="1"/>
          <p:nvPr/>
        </p:nvSpPr>
        <p:spPr>
          <a:xfrm>
            <a:off x="1463505" y="293282"/>
            <a:ext cx="2575095"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光敏电阻的基本结构 </a:t>
            </a:r>
          </a:p>
        </p:txBody>
      </p:sp>
      <p:sp>
        <p:nvSpPr>
          <p:cNvPr id="27" name="矩形: 圆角 25">
            <a:extLst>
              <a:ext uri="{FF2B5EF4-FFF2-40B4-BE49-F238E27FC236}">
                <a16:creationId xmlns="" xmlns:a16="http://schemas.microsoft.com/office/drawing/2014/main" id="{1BD3FBBB-6F29-4521-A138-9D603200B1A2}"/>
              </a:ext>
            </a:extLst>
          </p:cNvPr>
          <p:cNvSpPr/>
          <p:nvPr/>
        </p:nvSpPr>
        <p:spPr>
          <a:xfrm>
            <a:off x="346792"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8" name="直接连接符 58">
            <a:extLst>
              <a:ext uri="{FF2B5EF4-FFF2-40B4-BE49-F238E27FC236}">
                <a16:creationId xmlns="" xmlns:a16="http://schemas.microsoft.com/office/drawing/2014/main" id="{DC87CC66-5DF2-44F8-982C-9CC70BAB8070}"/>
              </a:ext>
            </a:extLst>
          </p:cNvPr>
          <p:cNvCxnSpPr>
            <a:cxnSpLocks/>
          </p:cNvCxnSpPr>
          <p:nvPr/>
        </p:nvCxnSpPr>
        <p:spPr>
          <a:xfrm>
            <a:off x="1450506" y="710998"/>
            <a:ext cx="2520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 xmlns:a16="http://schemas.microsoft.com/office/drawing/2014/main" id="{06019C5B-42B1-40AD-936A-CC4C785B627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1" name="Text Box 5">
            <a:extLst>
              <a:ext uri="{FF2B5EF4-FFF2-40B4-BE49-F238E27FC236}">
                <a16:creationId xmlns="" xmlns:a16="http://schemas.microsoft.com/office/drawing/2014/main" id="{00CEC571-E65A-4C18-970B-6D33426ACB10}"/>
              </a:ext>
            </a:extLst>
          </p:cNvPr>
          <p:cNvSpPr txBox="1">
            <a:spLocks noChangeArrowheads="1"/>
          </p:cNvSpPr>
          <p:nvPr/>
        </p:nvSpPr>
        <p:spPr bwMode="auto">
          <a:xfrm>
            <a:off x="7043220" y="2701050"/>
            <a:ext cx="2800350" cy="1581150"/>
          </a:xfrm>
          <a:prstGeom prst="rect">
            <a:avLst/>
          </a:prstGeom>
          <a:solidFill>
            <a:schemeClr val="accent6">
              <a:lumMod val="60000"/>
              <a:lumOff val="40000"/>
            </a:schemeClr>
          </a:solidFill>
          <a:ln w="25400">
            <a:solidFill>
              <a:srgbClr val="FF0000"/>
            </a:solidFill>
            <a:miter lim="800000"/>
            <a:headEnd/>
            <a:tailEnd/>
          </a:ln>
        </p:spPr>
        <p:txBody>
          <a:bodyPr>
            <a:spAutoFit/>
          </a:bodyPr>
          <a:lstStyle/>
          <a:p>
            <a:pPr defTabSz="914400">
              <a:lnSpc>
                <a:spcPct val="150000"/>
              </a:lnSpc>
              <a:defRPr/>
            </a:pPr>
            <a:r>
              <a:rPr lang="zh-CN" altLang="en-US" sz="3200" b="1" dirty="0">
                <a:solidFill>
                  <a:srgbClr val="0000FF"/>
                </a:solidFill>
                <a:latin typeface="Times New Roman" pitchFamily="18" charset="0"/>
                <a:ea typeface="微软雅黑" pitchFamily="34" charset="-122"/>
                <a:cs typeface="Times New Roman" pitchFamily="18" charset="0"/>
              </a:rPr>
              <a:t>缩短光敏电阻两极间的距离</a:t>
            </a:r>
            <a:r>
              <a:rPr lang="en-US" altLang="zh-CN" sz="3200" b="1" i="1" dirty="0">
                <a:solidFill>
                  <a:srgbClr val="0000FF"/>
                </a:solidFill>
                <a:latin typeface="Times New Roman" pitchFamily="18" charset="0"/>
                <a:ea typeface="微软雅黑" pitchFamily="34" charset="-122"/>
                <a:cs typeface="Times New Roman" pitchFamily="18" charset="0"/>
              </a:rPr>
              <a:t>l</a:t>
            </a:r>
            <a:endParaRPr kumimoji="1" lang="zh-CN" altLang="en-US" sz="3600" b="1" dirty="0">
              <a:solidFill>
                <a:srgbClr val="0000FF"/>
              </a:solidFill>
              <a:latin typeface="Times New Roman" pitchFamily="18" charset="0"/>
              <a:ea typeface="微软雅黑" pitchFamily="34" charset="-122"/>
              <a:cs typeface="Times New Roman" pitchFamily="18" charset="0"/>
            </a:endParaRPr>
          </a:p>
        </p:txBody>
      </p:sp>
      <p:sp>
        <p:nvSpPr>
          <p:cNvPr id="32" name="TextBox 6">
            <a:extLst>
              <a:ext uri="{FF2B5EF4-FFF2-40B4-BE49-F238E27FC236}">
                <a16:creationId xmlns="" xmlns:a16="http://schemas.microsoft.com/office/drawing/2014/main" id="{FD0070F6-FC31-4883-A78D-A2AE802561DD}"/>
              </a:ext>
            </a:extLst>
          </p:cNvPr>
          <p:cNvSpPr txBox="1">
            <a:spLocks noChangeArrowheads="1"/>
          </p:cNvSpPr>
          <p:nvPr/>
        </p:nvSpPr>
        <p:spPr bwMode="auto">
          <a:xfrm>
            <a:off x="540984" y="4339168"/>
            <a:ext cx="2752258" cy="2031325"/>
          </a:xfrm>
          <a:prstGeom prst="rect">
            <a:avLst/>
          </a:prstGeom>
          <a:noFill/>
          <a:ln w="31750">
            <a:solidFill>
              <a:srgbClr val="0000CC"/>
            </a:solidFill>
            <a:miter lim="800000"/>
            <a:headEnd/>
            <a:tailEnd/>
          </a:ln>
        </p:spPr>
        <p:txBody>
          <a:bodyPr wrap="square">
            <a:spAutoFit/>
          </a:bodyPr>
          <a:lstStyle/>
          <a:p>
            <a:pPr defTabSz="914400">
              <a:lnSpc>
                <a:spcPct val="150000"/>
              </a:lnSpc>
            </a:pPr>
            <a:r>
              <a:rPr lang="zh-CN" altLang="en-US" sz="2800" b="1" dirty="0">
                <a:latin typeface="微软雅黑" pitchFamily="34" charset="-122"/>
                <a:ea typeface="微软雅黑" pitchFamily="34" charset="-122"/>
                <a:cs typeface="Times New Roman" pitchFamily="18" charset="0"/>
              </a:rPr>
              <a:t>光电导探测器光敏面做成</a:t>
            </a:r>
            <a:r>
              <a:rPr lang="zh-CN" altLang="en-US" sz="2800" b="1" dirty="0">
                <a:solidFill>
                  <a:srgbClr val="FF0000"/>
                </a:solidFill>
                <a:latin typeface="微软雅黑" pitchFamily="34" charset="-122"/>
                <a:ea typeface="微软雅黑" pitchFamily="34" charset="-122"/>
                <a:cs typeface="Times New Roman" pitchFamily="18" charset="0"/>
              </a:rPr>
              <a:t>蛇形</a:t>
            </a:r>
            <a:r>
              <a:rPr lang="zh-CN" altLang="en-US" sz="2800" b="1" dirty="0">
                <a:latin typeface="微软雅黑" pitchFamily="34" charset="-122"/>
                <a:ea typeface="微软雅黑" pitchFamily="34" charset="-122"/>
                <a:cs typeface="Times New Roman" pitchFamily="18" charset="0"/>
              </a:rPr>
              <a:t>，电极做成</a:t>
            </a:r>
            <a:r>
              <a:rPr lang="zh-CN" altLang="en-US" sz="2800" b="1" dirty="0">
                <a:solidFill>
                  <a:srgbClr val="FF0000"/>
                </a:solidFill>
                <a:latin typeface="微软雅黑" pitchFamily="34" charset="-122"/>
                <a:ea typeface="微软雅黑" pitchFamily="34" charset="-122"/>
                <a:cs typeface="Times New Roman" pitchFamily="18" charset="0"/>
              </a:rPr>
              <a:t>梳状</a:t>
            </a:r>
            <a:endParaRPr lang="zh-CN" altLang="en-US" sz="2800" b="1" dirty="0">
              <a:latin typeface="微软雅黑" pitchFamily="34" charset="-122"/>
              <a:ea typeface="微软雅黑" pitchFamily="34" charset="-122"/>
              <a:cs typeface="Times New Roman" pitchFamily="18" charset="0"/>
            </a:endParaRPr>
          </a:p>
        </p:txBody>
      </p:sp>
      <p:sp>
        <p:nvSpPr>
          <p:cNvPr id="33" name="TextBox 4">
            <a:extLst>
              <a:ext uri="{FF2B5EF4-FFF2-40B4-BE49-F238E27FC236}">
                <a16:creationId xmlns="" xmlns:a16="http://schemas.microsoft.com/office/drawing/2014/main" id="{CAFD7925-3D18-4A4F-AC3B-3FF346CCEBC0}"/>
              </a:ext>
            </a:extLst>
          </p:cNvPr>
          <p:cNvSpPr txBox="1">
            <a:spLocks noChangeArrowheads="1"/>
          </p:cNvSpPr>
          <p:nvPr/>
        </p:nvSpPr>
        <p:spPr bwMode="auto">
          <a:xfrm>
            <a:off x="1884844" y="1845506"/>
            <a:ext cx="1555750" cy="519112"/>
          </a:xfrm>
          <a:prstGeom prst="rect">
            <a:avLst/>
          </a:prstGeom>
          <a:noFill/>
          <a:ln w="9525">
            <a:noFill/>
            <a:miter lim="800000"/>
            <a:headEnd/>
            <a:tailEnd/>
          </a:ln>
        </p:spPr>
        <p:txBody>
          <a:bodyPr>
            <a:spAutoFit/>
          </a:bodyPr>
          <a:lstStyle/>
          <a:p>
            <a:pPr defTabSz="914400"/>
            <a:r>
              <a:rPr kumimoji="1" lang="zh-CN" altLang="en-US" sz="2800" b="1">
                <a:solidFill>
                  <a:srgbClr val="FF0000"/>
                </a:solidFill>
                <a:latin typeface="微软雅黑" pitchFamily="34" charset="-122"/>
                <a:ea typeface="微软雅黑" pitchFamily="34" charset="-122"/>
              </a:rPr>
              <a:t>弱辐射</a:t>
            </a:r>
            <a:endParaRPr lang="zh-CN" altLang="en-US" sz="2800" b="1">
              <a:latin typeface="微软雅黑" pitchFamily="34" charset="-122"/>
              <a:ea typeface="微软雅黑" pitchFamily="34" charset="-122"/>
            </a:endParaRPr>
          </a:p>
        </p:txBody>
      </p:sp>
      <p:sp>
        <p:nvSpPr>
          <p:cNvPr id="34" name="TextBox 5">
            <a:extLst>
              <a:ext uri="{FF2B5EF4-FFF2-40B4-BE49-F238E27FC236}">
                <a16:creationId xmlns="" xmlns:a16="http://schemas.microsoft.com/office/drawing/2014/main" id="{DBA0FDBE-3A73-41FE-8CF8-AE5C2463EA56}"/>
              </a:ext>
            </a:extLst>
          </p:cNvPr>
          <p:cNvSpPr txBox="1">
            <a:spLocks noChangeArrowheads="1"/>
          </p:cNvSpPr>
          <p:nvPr/>
        </p:nvSpPr>
        <p:spPr bwMode="auto">
          <a:xfrm>
            <a:off x="3618394" y="1845506"/>
            <a:ext cx="5645150" cy="519112"/>
          </a:xfrm>
          <a:prstGeom prst="rect">
            <a:avLst/>
          </a:prstGeom>
          <a:noFill/>
          <a:ln w="9525">
            <a:noFill/>
            <a:miter lim="800000"/>
            <a:headEnd/>
            <a:tailEnd/>
          </a:ln>
        </p:spPr>
        <p:txBody>
          <a:bodyPr>
            <a:spAutoFit/>
          </a:bodyPr>
          <a:lstStyle/>
          <a:p>
            <a:pPr defTabSz="914400"/>
            <a:r>
              <a:rPr kumimoji="1" lang="zh-CN" altLang="en-US" sz="2800" b="1">
                <a:latin typeface="Times New Roman" pitchFamily="18" charset="0"/>
                <a:ea typeface="微软雅黑" pitchFamily="34" charset="-122"/>
                <a:cs typeface="Times New Roman" pitchFamily="18" charset="0"/>
              </a:rPr>
              <a:t>光电流与极间长度</a:t>
            </a:r>
            <a:r>
              <a:rPr kumimoji="1" lang="en-US" altLang="zh-CN" sz="2800" b="1" i="1">
                <a:solidFill>
                  <a:srgbClr val="FF0000"/>
                </a:solidFill>
                <a:latin typeface="Times New Roman" pitchFamily="18" charset="0"/>
                <a:ea typeface="微软雅黑" pitchFamily="34" charset="-122"/>
                <a:cs typeface="Times New Roman" pitchFamily="18" charset="0"/>
              </a:rPr>
              <a:t>l</a:t>
            </a:r>
            <a:r>
              <a:rPr kumimoji="1" lang="zh-CN" altLang="en-US" sz="2800" b="1">
                <a:latin typeface="Times New Roman" pitchFamily="18" charset="0"/>
                <a:ea typeface="微软雅黑" pitchFamily="34" charset="-122"/>
                <a:cs typeface="Times New Roman" pitchFamily="18" charset="0"/>
              </a:rPr>
              <a:t>的</a:t>
            </a:r>
            <a:r>
              <a:rPr kumimoji="1" lang="zh-CN" altLang="en-US" sz="2800" b="1">
                <a:solidFill>
                  <a:srgbClr val="FF0000"/>
                </a:solidFill>
                <a:latin typeface="Times New Roman" pitchFamily="18" charset="0"/>
                <a:ea typeface="微软雅黑" pitchFamily="34" charset="-122"/>
                <a:cs typeface="Times New Roman" pitchFamily="18" charset="0"/>
              </a:rPr>
              <a:t>平方</a:t>
            </a:r>
            <a:r>
              <a:rPr kumimoji="1" lang="zh-CN" altLang="en-US" sz="2800" b="1">
                <a:latin typeface="Times New Roman" pitchFamily="18" charset="0"/>
                <a:ea typeface="微软雅黑" pitchFamily="34" charset="-122"/>
                <a:cs typeface="Times New Roman" pitchFamily="18" charset="0"/>
              </a:rPr>
              <a:t>成反比</a:t>
            </a:r>
            <a:endParaRPr lang="zh-CN" altLang="en-US" sz="2800" b="1">
              <a:latin typeface="Times New Roman" pitchFamily="18" charset="0"/>
              <a:ea typeface="微软雅黑" pitchFamily="34" charset="-122"/>
              <a:cs typeface="Times New Roman" pitchFamily="18" charset="0"/>
            </a:endParaRPr>
          </a:p>
        </p:txBody>
      </p:sp>
      <p:sp>
        <p:nvSpPr>
          <p:cNvPr id="35" name="TextBox 6">
            <a:extLst>
              <a:ext uri="{FF2B5EF4-FFF2-40B4-BE49-F238E27FC236}">
                <a16:creationId xmlns="" xmlns:a16="http://schemas.microsoft.com/office/drawing/2014/main" id="{A1168A72-6A05-4215-983C-08EC29E46E48}"/>
              </a:ext>
            </a:extLst>
          </p:cNvPr>
          <p:cNvSpPr txBox="1"/>
          <p:nvPr/>
        </p:nvSpPr>
        <p:spPr>
          <a:xfrm>
            <a:off x="3618394" y="2913775"/>
            <a:ext cx="1866900" cy="1092200"/>
          </a:xfrm>
          <a:prstGeom prst="rect">
            <a:avLst/>
          </a:prstGeom>
          <a:solidFill>
            <a:schemeClr val="accent6">
              <a:lumMod val="20000"/>
              <a:lumOff val="80000"/>
            </a:schemeClr>
          </a:solidFill>
          <a:ln w="25400">
            <a:solidFill>
              <a:schemeClr val="tx2"/>
            </a:solidFill>
          </a:ln>
        </p:spPr>
        <p:txBody>
          <a:bodyPr>
            <a:spAutoFit/>
          </a:bodyPr>
          <a:lstStyle/>
          <a:p>
            <a:pPr defTabSz="914400">
              <a:defRPr/>
            </a:pPr>
            <a:r>
              <a:rPr lang="zh-CN" altLang="en-US" sz="3200" b="1" dirty="0">
                <a:solidFill>
                  <a:srgbClr val="FF0000"/>
                </a:solidFill>
                <a:latin typeface="微软雅黑" pitchFamily="34" charset="-122"/>
                <a:ea typeface="微软雅黑" pitchFamily="34" charset="-122"/>
              </a:rPr>
              <a:t>提高光电导灵敏度</a:t>
            </a:r>
          </a:p>
        </p:txBody>
      </p:sp>
      <p:sp>
        <p:nvSpPr>
          <p:cNvPr id="36" name="右箭头 7">
            <a:extLst>
              <a:ext uri="{FF2B5EF4-FFF2-40B4-BE49-F238E27FC236}">
                <a16:creationId xmlns="" xmlns:a16="http://schemas.microsoft.com/office/drawing/2014/main" id="{0BA8CD64-B0C1-43B5-9477-2C5C695B7F19}"/>
              </a:ext>
            </a:extLst>
          </p:cNvPr>
          <p:cNvSpPr>
            <a:spLocks noChangeArrowheads="1"/>
          </p:cNvSpPr>
          <p:nvPr/>
        </p:nvSpPr>
        <p:spPr bwMode="auto">
          <a:xfrm>
            <a:off x="5624974" y="3269375"/>
            <a:ext cx="1244600" cy="444500"/>
          </a:xfrm>
          <a:prstGeom prst="rightArrow">
            <a:avLst>
              <a:gd name="adj1" fmla="val 50000"/>
              <a:gd name="adj2" fmla="val 49998"/>
            </a:avLst>
          </a:prstGeom>
          <a:solidFill>
            <a:srgbClr val="FF00FF"/>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 name="TextBox 6">
            <a:extLst>
              <a:ext uri="{FF2B5EF4-FFF2-40B4-BE49-F238E27FC236}">
                <a16:creationId xmlns="" xmlns:a16="http://schemas.microsoft.com/office/drawing/2014/main" id="{F38D73F3-B96A-46B1-9A9D-29449E3F5378}"/>
              </a:ext>
            </a:extLst>
          </p:cNvPr>
          <p:cNvSpPr txBox="1">
            <a:spLocks noChangeArrowheads="1"/>
          </p:cNvSpPr>
          <p:nvPr/>
        </p:nvSpPr>
        <p:spPr bwMode="auto">
          <a:xfrm>
            <a:off x="3910723" y="4713221"/>
            <a:ext cx="4998146" cy="1384995"/>
          </a:xfrm>
          <a:prstGeom prst="rect">
            <a:avLst/>
          </a:prstGeom>
          <a:noFill/>
          <a:ln w="31750">
            <a:solidFill>
              <a:srgbClr val="0000CC">
                <a:alpha val="97000"/>
              </a:srgbClr>
            </a:solidFill>
            <a:miter lim="800000"/>
            <a:headEnd/>
            <a:tailEnd/>
          </a:ln>
        </p:spPr>
        <p:txBody>
          <a:bodyPr wrap="square">
            <a:spAutoFit/>
          </a:bodyPr>
          <a:lstStyle/>
          <a:p>
            <a:pPr marL="457200" indent="-457200" defTabSz="914400">
              <a:lnSpc>
                <a:spcPct val="150000"/>
              </a:lnSpc>
              <a:buFont typeface="Wingdings" panose="05000000000000000000" pitchFamily="2" charset="2"/>
              <a:buChar char="u"/>
            </a:pPr>
            <a:r>
              <a:rPr lang="zh-CN" altLang="en-US" sz="2800" b="1" dirty="0">
                <a:latin typeface="微软雅黑" pitchFamily="34" charset="-122"/>
                <a:ea typeface="微软雅黑" pitchFamily="34" charset="-122"/>
                <a:cs typeface="Times New Roman" pitchFamily="18" charset="0"/>
              </a:rPr>
              <a:t>可以保证有较大的受光表面</a:t>
            </a:r>
            <a:endParaRPr lang="en-US" altLang="zh-CN" sz="2800" b="1" dirty="0">
              <a:latin typeface="微软雅黑" pitchFamily="34" charset="-122"/>
              <a:ea typeface="微软雅黑" pitchFamily="34" charset="-122"/>
              <a:cs typeface="Times New Roman" pitchFamily="18" charset="0"/>
            </a:endParaRPr>
          </a:p>
          <a:p>
            <a:pPr marL="457200" indent="-457200" defTabSz="914400">
              <a:lnSpc>
                <a:spcPct val="150000"/>
              </a:lnSpc>
              <a:buFont typeface="Wingdings" panose="05000000000000000000" pitchFamily="2" charset="2"/>
              <a:buChar char="u"/>
            </a:pPr>
            <a:r>
              <a:rPr lang="zh-CN" altLang="en-US" sz="2800" b="1" dirty="0">
                <a:latin typeface="微软雅黑" pitchFamily="34" charset="-122"/>
                <a:ea typeface="微软雅黑" pitchFamily="34" charset="-122"/>
                <a:cs typeface="Times New Roman" pitchFamily="18" charset="0"/>
              </a:rPr>
              <a:t>可以减小电极间的距离</a:t>
            </a:r>
            <a:r>
              <a:rPr lang="en-US" altLang="zh-CN" sz="2800" i="1" dirty="0">
                <a:latin typeface="Times New Roman" panose="02020603050405020304" pitchFamily="18" charset="0"/>
                <a:ea typeface="微软雅黑" pitchFamily="34" charset="-122"/>
                <a:cs typeface="Times New Roman" panose="02020603050405020304" pitchFamily="18" charset="0"/>
              </a:rPr>
              <a:t>l</a:t>
            </a:r>
            <a:endParaRPr lang="zh-CN" altLang="en-US" sz="2800" dirty="0">
              <a:latin typeface="Times New Roman" panose="02020603050405020304" pitchFamily="18" charset="0"/>
              <a:ea typeface="微软雅黑" pitchFamily="34" charset="-122"/>
              <a:cs typeface="Times New Roman" panose="02020603050405020304" pitchFamily="18" charset="0"/>
            </a:endParaRPr>
          </a:p>
        </p:txBody>
      </p:sp>
      <p:sp>
        <p:nvSpPr>
          <p:cNvPr id="39" name="TextBox 6">
            <a:extLst>
              <a:ext uri="{FF2B5EF4-FFF2-40B4-BE49-F238E27FC236}">
                <a16:creationId xmlns="" xmlns:a16="http://schemas.microsoft.com/office/drawing/2014/main" id="{43CADF57-900E-4140-87BD-F066E8A963F5}"/>
              </a:ext>
            </a:extLst>
          </p:cNvPr>
          <p:cNvSpPr txBox="1">
            <a:spLocks noChangeArrowheads="1"/>
          </p:cNvSpPr>
          <p:nvPr/>
        </p:nvSpPr>
        <p:spPr bwMode="auto">
          <a:xfrm>
            <a:off x="9465618" y="4662334"/>
            <a:ext cx="3783724" cy="1384995"/>
          </a:xfrm>
          <a:prstGeom prst="rect">
            <a:avLst/>
          </a:prstGeom>
          <a:noFill/>
          <a:ln w="31750">
            <a:solidFill>
              <a:srgbClr val="0000CC"/>
            </a:solidFill>
            <a:miter lim="800000"/>
            <a:headEnd/>
            <a:tailEnd/>
          </a:ln>
        </p:spPr>
        <p:txBody>
          <a:bodyPr wrap="square">
            <a:spAutoFit/>
          </a:bodyPr>
          <a:lstStyle/>
          <a:p>
            <a:pPr defTabSz="914400">
              <a:lnSpc>
                <a:spcPct val="150000"/>
              </a:lnSpc>
            </a:pPr>
            <a:r>
              <a:rPr lang="zh-CN" altLang="en-US" sz="2800" b="1" dirty="0">
                <a:solidFill>
                  <a:srgbClr val="FF0000"/>
                </a:solidFill>
                <a:latin typeface="微软雅黑" pitchFamily="34" charset="-122"/>
                <a:ea typeface="微软雅黑" pitchFamily="34" charset="-122"/>
                <a:cs typeface="Times New Roman" pitchFamily="18" charset="0"/>
              </a:rPr>
              <a:t>减小极间电子渡越时间</a:t>
            </a:r>
            <a:r>
              <a:rPr lang="zh-CN" altLang="en-US" sz="2800" b="1" dirty="0">
                <a:latin typeface="微软雅黑" pitchFamily="34" charset="-122"/>
                <a:ea typeface="微软雅黑" pitchFamily="34" charset="-122"/>
                <a:cs typeface="Times New Roman" pitchFamily="18" charset="0"/>
              </a:rPr>
              <a:t>，有利于提高灵敏度。</a:t>
            </a:r>
          </a:p>
        </p:txBody>
      </p:sp>
      <p:sp>
        <p:nvSpPr>
          <p:cNvPr id="40" name="右箭头 22">
            <a:extLst>
              <a:ext uri="{FF2B5EF4-FFF2-40B4-BE49-F238E27FC236}">
                <a16:creationId xmlns="" xmlns:a16="http://schemas.microsoft.com/office/drawing/2014/main" id="{D6C64FC1-A639-4669-B3D2-C3C408FACC5C}"/>
              </a:ext>
            </a:extLst>
          </p:cNvPr>
          <p:cNvSpPr>
            <a:spLocks noChangeArrowheads="1"/>
          </p:cNvSpPr>
          <p:nvPr/>
        </p:nvSpPr>
        <p:spPr bwMode="auto">
          <a:xfrm>
            <a:off x="3367371" y="5096138"/>
            <a:ext cx="482620" cy="619160"/>
          </a:xfrm>
          <a:prstGeom prst="rightArrow">
            <a:avLst>
              <a:gd name="adj1" fmla="val 50000"/>
              <a:gd name="adj2" fmla="val 49998"/>
            </a:avLst>
          </a:prstGeom>
          <a:solidFill>
            <a:srgbClr val="FF00FF"/>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1" name="右箭头 23">
            <a:extLst>
              <a:ext uri="{FF2B5EF4-FFF2-40B4-BE49-F238E27FC236}">
                <a16:creationId xmlns="" xmlns:a16="http://schemas.microsoft.com/office/drawing/2014/main" id="{D9F6B9BA-D43C-41C3-9A67-7AB0824D38F5}"/>
              </a:ext>
            </a:extLst>
          </p:cNvPr>
          <p:cNvSpPr>
            <a:spLocks noChangeArrowheads="1"/>
          </p:cNvSpPr>
          <p:nvPr/>
        </p:nvSpPr>
        <p:spPr bwMode="auto">
          <a:xfrm>
            <a:off x="8951129" y="5096138"/>
            <a:ext cx="482620" cy="619160"/>
          </a:xfrm>
          <a:prstGeom prst="rightArrow">
            <a:avLst>
              <a:gd name="adj1" fmla="val 50000"/>
              <a:gd name="adj2" fmla="val 49998"/>
            </a:avLst>
          </a:prstGeom>
          <a:solidFill>
            <a:srgbClr val="FF00FF"/>
          </a:solidFill>
          <a:ln w="9525" algn="ctr">
            <a:solidFill>
              <a:schemeClr val="tx1"/>
            </a:solidFill>
            <a:round/>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19" name="组合 18"/>
          <p:cNvGrpSpPr/>
          <p:nvPr/>
        </p:nvGrpSpPr>
        <p:grpSpPr>
          <a:xfrm>
            <a:off x="10337881" y="293282"/>
            <a:ext cx="2823365" cy="523220"/>
            <a:chOff x="10337881" y="293282"/>
            <a:chExt cx="2823365" cy="523220"/>
          </a:xfrm>
        </p:grpSpPr>
        <p:sp>
          <p:nvSpPr>
            <p:cNvPr id="20" name="矩形 19"/>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21" name="矩形 20">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2868607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ox(i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ox(in)">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diamond(in)">
                                      <p:cBhvr>
                                        <p:cTn id="17" dur="20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ox(in)">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diamond(in)">
                                      <p:cBhvr>
                                        <p:cTn id="27" dur="20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checkerboard(across)">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box(in)">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checkerboard(across)">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box(in)">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checkerboard(across)">
                                      <p:cBhvr>
                                        <p:cTn id="5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p:bldP spid="34" grpId="0"/>
      <p:bldP spid="35" grpId="0" animBg="1"/>
      <p:bldP spid="36" grpId="0" animBg="1"/>
      <p:bldP spid="38" grpId="0" animBg="1"/>
      <p:bldP spid="39" grpId="0" animBg="1"/>
      <p:bldP spid="40" grpId="0" animBg="1"/>
      <p:bldP spid="4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圆角 25">
            <a:extLst>
              <a:ext uri="{FF2B5EF4-FFF2-40B4-BE49-F238E27FC236}">
                <a16:creationId xmlns="" xmlns:a16="http://schemas.microsoft.com/office/drawing/2014/main" id="{1BD3FBBB-6F29-4521-A138-9D603200B1A2}"/>
              </a:ext>
            </a:extLst>
          </p:cNvPr>
          <p:cNvSpPr/>
          <p:nvPr/>
        </p:nvSpPr>
        <p:spPr>
          <a:xfrm>
            <a:off x="346792"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30" name="矩形 29">
            <a:extLst>
              <a:ext uri="{FF2B5EF4-FFF2-40B4-BE49-F238E27FC236}">
                <a16:creationId xmlns="" xmlns:a16="http://schemas.microsoft.com/office/drawing/2014/main" id="{06019C5B-42B1-40AD-936A-CC4C785B627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Text Box 4">
            <a:extLst>
              <a:ext uri="{FF2B5EF4-FFF2-40B4-BE49-F238E27FC236}">
                <a16:creationId xmlns="" xmlns:a16="http://schemas.microsoft.com/office/drawing/2014/main" id="{F846C1F0-CB34-41B7-A4D8-A8CDBDC21D34}"/>
              </a:ext>
            </a:extLst>
          </p:cNvPr>
          <p:cNvSpPr txBox="1">
            <a:spLocks noChangeAspect="1" noChangeArrowheads="1"/>
          </p:cNvSpPr>
          <p:nvPr/>
        </p:nvSpPr>
        <p:spPr bwMode="auto">
          <a:xfrm>
            <a:off x="7444913" y="5495925"/>
            <a:ext cx="2000250" cy="533400"/>
          </a:xfrm>
          <a:prstGeom prst="rect">
            <a:avLst/>
          </a:prstGeom>
          <a:solidFill>
            <a:srgbClr val="FFFFFF"/>
          </a:solidFill>
          <a:ln w="9525">
            <a:noFill/>
            <a:miter lim="800000"/>
            <a:headEnd/>
            <a:tailEnd/>
          </a:ln>
        </p:spPr>
        <p:txBody>
          <a:bodyPr lIns="0" tIns="0" rIns="0" bIns="0"/>
          <a:lstStyle/>
          <a:p>
            <a:pPr algn="ctr" defTabSz="914400"/>
            <a:r>
              <a:rPr lang="zh-CN" altLang="en-US" sz="3200" b="1">
                <a:latin typeface="微软雅黑" pitchFamily="34" charset="-122"/>
                <a:ea typeface="微软雅黑" pitchFamily="34" charset="-122"/>
                <a:cs typeface="Times New Roman" pitchFamily="18" charset="0"/>
              </a:rPr>
              <a:t>剖面图</a:t>
            </a:r>
            <a:endParaRPr lang="zh-CN" altLang="en-US" sz="8800" b="1">
              <a:latin typeface="微软雅黑" pitchFamily="34" charset="-122"/>
              <a:ea typeface="微软雅黑" pitchFamily="34" charset="-122"/>
              <a:cs typeface="Times New Roman" pitchFamily="18" charset="0"/>
            </a:endParaRPr>
          </a:p>
        </p:txBody>
      </p:sp>
      <p:grpSp>
        <p:nvGrpSpPr>
          <p:cNvPr id="21" name="组合 31">
            <a:extLst>
              <a:ext uri="{FF2B5EF4-FFF2-40B4-BE49-F238E27FC236}">
                <a16:creationId xmlns="" xmlns:a16="http://schemas.microsoft.com/office/drawing/2014/main" id="{EF94ABA7-E78C-4171-8417-70AB74E9E4B6}"/>
              </a:ext>
            </a:extLst>
          </p:cNvPr>
          <p:cNvGrpSpPr>
            <a:grpSpLocks/>
          </p:cNvGrpSpPr>
          <p:nvPr/>
        </p:nvGrpSpPr>
        <p:grpSpPr bwMode="auto">
          <a:xfrm>
            <a:off x="7022638" y="2974975"/>
            <a:ext cx="2908300" cy="247650"/>
            <a:chOff x="4994275" y="2552700"/>
            <a:chExt cx="2908300" cy="247650"/>
          </a:xfrm>
        </p:grpSpPr>
        <p:graphicFrame>
          <p:nvGraphicFramePr>
            <p:cNvPr id="22" name="Object 25">
              <a:extLst>
                <a:ext uri="{FF2B5EF4-FFF2-40B4-BE49-F238E27FC236}">
                  <a16:creationId xmlns="" xmlns:a16="http://schemas.microsoft.com/office/drawing/2014/main" id="{A6A7E57E-FAA9-4C34-9CDA-45504C89F68E}"/>
                </a:ext>
              </a:extLst>
            </p:cNvPr>
            <p:cNvGraphicFramePr>
              <a:graphicFrameLocks noChangeAspect="1"/>
            </p:cNvGraphicFramePr>
            <p:nvPr/>
          </p:nvGraphicFramePr>
          <p:xfrm>
            <a:off x="4994275" y="2566988"/>
            <a:ext cx="422275" cy="233362"/>
          </p:xfrm>
          <a:graphic>
            <a:graphicData uri="http://schemas.openxmlformats.org/presentationml/2006/ole">
              <mc:AlternateContent xmlns:mc="http://schemas.openxmlformats.org/markup-compatibility/2006">
                <mc:Choice xmlns:v="urn:schemas-microsoft-com:vml" Requires="v">
                  <p:oleObj spid="_x0000_s6082" name="Visio" r:id="rId3" imgW="311782" imgH="148194" progId="Visio.Drawing.11">
                    <p:embed/>
                  </p:oleObj>
                </mc:Choice>
                <mc:Fallback>
                  <p:oleObj name="Visio" r:id="rId3" imgW="311782" imgH="148194" progId="Visio.Drawing.11">
                    <p:embed/>
                    <p:pic>
                      <p:nvPicPr>
                        <p:cNvPr id="2561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4275" y="2566988"/>
                          <a:ext cx="422275" cy="233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6">
              <a:extLst>
                <a:ext uri="{FF2B5EF4-FFF2-40B4-BE49-F238E27FC236}">
                  <a16:creationId xmlns="" xmlns:a16="http://schemas.microsoft.com/office/drawing/2014/main" id="{A550C964-4D08-404E-89BE-CE1F7B98B902}"/>
                </a:ext>
              </a:extLst>
            </p:cNvPr>
            <p:cNvGraphicFramePr>
              <a:graphicFrameLocks noChangeAspect="1"/>
            </p:cNvGraphicFramePr>
            <p:nvPr/>
          </p:nvGraphicFramePr>
          <p:xfrm>
            <a:off x="5576888" y="2552700"/>
            <a:ext cx="1731962" cy="247650"/>
          </p:xfrm>
          <a:graphic>
            <a:graphicData uri="http://schemas.openxmlformats.org/presentationml/2006/ole">
              <mc:AlternateContent xmlns:mc="http://schemas.openxmlformats.org/markup-compatibility/2006">
                <mc:Choice xmlns:v="urn:schemas-microsoft-com:vml" Requires="v">
                  <p:oleObj spid="_x0000_s6083" name="Visio" r:id="rId5" imgW="1284379" imgH="160071" progId="Visio.Drawing.11">
                    <p:embed/>
                  </p:oleObj>
                </mc:Choice>
                <mc:Fallback>
                  <p:oleObj name="Visio" r:id="rId5" imgW="1284379" imgH="160071" progId="Visio.Drawing.11">
                    <p:embed/>
                    <p:pic>
                      <p:nvPicPr>
                        <p:cNvPr id="25611"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6888" y="2552700"/>
                          <a:ext cx="1731962"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29">
              <a:extLst>
                <a:ext uri="{FF2B5EF4-FFF2-40B4-BE49-F238E27FC236}">
                  <a16:creationId xmlns="" xmlns:a16="http://schemas.microsoft.com/office/drawing/2014/main" id="{2D8FAD04-F537-427E-8ADD-7818839ACA9C}"/>
                </a:ext>
              </a:extLst>
            </p:cNvPr>
            <p:cNvGraphicFramePr>
              <a:graphicFrameLocks noChangeAspect="1"/>
            </p:cNvGraphicFramePr>
            <p:nvPr/>
          </p:nvGraphicFramePr>
          <p:xfrm>
            <a:off x="7453313" y="2559050"/>
            <a:ext cx="449262" cy="234950"/>
          </p:xfrm>
          <a:graphic>
            <a:graphicData uri="http://schemas.openxmlformats.org/presentationml/2006/ole">
              <mc:AlternateContent xmlns:mc="http://schemas.openxmlformats.org/markup-compatibility/2006">
                <mc:Choice xmlns:v="urn:schemas-microsoft-com:vml" Requires="v">
                  <p:oleObj spid="_x0000_s6084" name="Visio" r:id="rId7" imgW="330408" imgH="153862" progId="Visio.Drawing.11">
                    <p:embed/>
                  </p:oleObj>
                </mc:Choice>
                <mc:Fallback>
                  <p:oleObj name="Visio" r:id="rId7" imgW="330408" imgH="153862" progId="Visio.Drawing.11">
                    <p:embed/>
                    <p:pic>
                      <p:nvPicPr>
                        <p:cNvPr id="25612"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3313" y="2559050"/>
                          <a:ext cx="449262" cy="234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2" name="组合 32">
            <a:extLst>
              <a:ext uri="{FF2B5EF4-FFF2-40B4-BE49-F238E27FC236}">
                <a16:creationId xmlns="" xmlns:a16="http://schemas.microsoft.com/office/drawing/2014/main" id="{7F71A7E5-8432-46CA-87EC-CDE6287DA5F6}"/>
              </a:ext>
            </a:extLst>
          </p:cNvPr>
          <p:cNvGrpSpPr>
            <a:grpSpLocks/>
          </p:cNvGrpSpPr>
          <p:nvPr/>
        </p:nvGrpSpPr>
        <p:grpSpPr bwMode="auto">
          <a:xfrm>
            <a:off x="7022638" y="2851150"/>
            <a:ext cx="2876550" cy="244475"/>
            <a:chOff x="4992688" y="2417128"/>
            <a:chExt cx="2876550" cy="243840"/>
          </a:xfrm>
        </p:grpSpPr>
        <p:graphicFrame>
          <p:nvGraphicFramePr>
            <p:cNvPr id="44" name="Object 23">
              <a:extLst>
                <a:ext uri="{FF2B5EF4-FFF2-40B4-BE49-F238E27FC236}">
                  <a16:creationId xmlns="" xmlns:a16="http://schemas.microsoft.com/office/drawing/2014/main" id="{CE5310AC-1F59-4893-A07F-CEFEF949DC79}"/>
                </a:ext>
              </a:extLst>
            </p:cNvPr>
            <p:cNvGraphicFramePr>
              <a:graphicFrameLocks noChangeAspect="1"/>
            </p:cNvGraphicFramePr>
            <p:nvPr/>
          </p:nvGraphicFramePr>
          <p:xfrm>
            <a:off x="4992688" y="2417128"/>
            <a:ext cx="384175" cy="219075"/>
          </p:xfrm>
          <a:graphic>
            <a:graphicData uri="http://schemas.openxmlformats.org/presentationml/2006/ole">
              <mc:AlternateContent xmlns:mc="http://schemas.openxmlformats.org/markup-compatibility/2006">
                <mc:Choice xmlns:v="urn:schemas-microsoft-com:vml" Requires="v">
                  <p:oleObj spid="_x0000_s6085" name="Visio" r:id="rId9" imgW="280739" imgH="144145" progId="Visio.Drawing.11">
                    <p:embed/>
                  </p:oleObj>
                </mc:Choice>
                <mc:Fallback>
                  <p:oleObj name="Visio" r:id="rId9" imgW="280739" imgH="144145" progId="Visio.Drawing.11">
                    <p:embed/>
                    <p:pic>
                      <p:nvPicPr>
                        <p:cNvPr id="25614"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2688" y="2417128"/>
                          <a:ext cx="384175"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24">
              <a:extLst>
                <a:ext uri="{FF2B5EF4-FFF2-40B4-BE49-F238E27FC236}">
                  <a16:creationId xmlns="" xmlns:a16="http://schemas.microsoft.com/office/drawing/2014/main" id="{745AB7B9-5D9B-4F27-8A57-0BB466DFB19A}"/>
                </a:ext>
              </a:extLst>
            </p:cNvPr>
            <p:cNvGraphicFramePr>
              <a:graphicFrameLocks noChangeAspect="1"/>
            </p:cNvGraphicFramePr>
            <p:nvPr/>
          </p:nvGraphicFramePr>
          <p:xfrm>
            <a:off x="5619750" y="2424113"/>
            <a:ext cx="666750" cy="219075"/>
          </p:xfrm>
          <a:graphic>
            <a:graphicData uri="http://schemas.openxmlformats.org/presentationml/2006/ole">
              <mc:AlternateContent xmlns:mc="http://schemas.openxmlformats.org/markup-compatibility/2006">
                <mc:Choice xmlns:v="urn:schemas-microsoft-com:vml" Requires="v">
                  <p:oleObj spid="_x0000_s6086" name="Visio" r:id="rId11" imgW="495341" imgH="146574" progId="Visio.Drawing.11">
                    <p:embed/>
                  </p:oleObj>
                </mc:Choice>
                <mc:Fallback>
                  <p:oleObj name="Visio" r:id="rId11" imgW="495341" imgH="146574" progId="Visio.Drawing.11">
                    <p:embed/>
                    <p:pic>
                      <p:nvPicPr>
                        <p:cNvPr id="25615"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19750" y="2424113"/>
                          <a:ext cx="66675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Object 27">
              <a:extLst>
                <a:ext uri="{FF2B5EF4-FFF2-40B4-BE49-F238E27FC236}">
                  <a16:creationId xmlns="" xmlns:a16="http://schemas.microsoft.com/office/drawing/2014/main" id="{80F1FAC0-901C-4180-B5A5-C040EFA6B351}"/>
                </a:ext>
              </a:extLst>
            </p:cNvPr>
            <p:cNvGraphicFramePr>
              <a:graphicFrameLocks noChangeAspect="1"/>
            </p:cNvGraphicFramePr>
            <p:nvPr/>
          </p:nvGraphicFramePr>
          <p:xfrm>
            <a:off x="6607175" y="2424113"/>
            <a:ext cx="615950" cy="219075"/>
          </p:xfrm>
          <a:graphic>
            <a:graphicData uri="http://schemas.openxmlformats.org/presentationml/2006/ole">
              <mc:AlternateContent xmlns:mc="http://schemas.openxmlformats.org/markup-compatibility/2006">
                <mc:Choice xmlns:v="urn:schemas-microsoft-com:vml" Requires="v">
                  <p:oleObj spid="_x0000_s6087" name="Visio" r:id="rId13" imgW="456200" imgH="141445" progId="Visio.Drawing.11">
                    <p:embed/>
                  </p:oleObj>
                </mc:Choice>
                <mc:Fallback>
                  <p:oleObj name="Visio" r:id="rId13" imgW="456200" imgH="141445" progId="Visio.Drawing.11">
                    <p:embed/>
                    <p:pic>
                      <p:nvPicPr>
                        <p:cNvPr id="25616"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07175" y="2424113"/>
                          <a:ext cx="61595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Object 30">
              <a:extLst>
                <a:ext uri="{FF2B5EF4-FFF2-40B4-BE49-F238E27FC236}">
                  <a16:creationId xmlns="" xmlns:a16="http://schemas.microsoft.com/office/drawing/2014/main" id="{BD932FC9-42FD-4A45-9037-6BE694BB19A0}"/>
                </a:ext>
              </a:extLst>
            </p:cNvPr>
            <p:cNvGraphicFramePr>
              <a:graphicFrameLocks noChangeAspect="1"/>
            </p:cNvGraphicFramePr>
            <p:nvPr/>
          </p:nvGraphicFramePr>
          <p:xfrm>
            <a:off x="7497763" y="2427606"/>
            <a:ext cx="371475" cy="233362"/>
          </p:xfrm>
          <a:graphic>
            <a:graphicData uri="http://schemas.openxmlformats.org/presentationml/2006/ole">
              <mc:AlternateContent xmlns:mc="http://schemas.openxmlformats.org/markup-compatibility/2006">
                <mc:Choice xmlns:v="urn:schemas-microsoft-com:vml" Requires="v">
                  <p:oleObj spid="_x0000_s6088" name="Visio" r:id="rId15" imgW="276419" imgH="155752" progId="Visio.Drawing.11">
                    <p:embed/>
                  </p:oleObj>
                </mc:Choice>
                <mc:Fallback>
                  <p:oleObj name="Visio" r:id="rId15" imgW="276419" imgH="155752" progId="Visio.Drawing.11">
                    <p:embed/>
                    <p:pic>
                      <p:nvPicPr>
                        <p:cNvPr id="25617" name="Object 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97763" y="2427606"/>
                          <a:ext cx="371475" cy="233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8" name="Object 34">
            <a:extLst>
              <a:ext uri="{FF2B5EF4-FFF2-40B4-BE49-F238E27FC236}">
                <a16:creationId xmlns="" xmlns:a16="http://schemas.microsoft.com/office/drawing/2014/main" id="{64BA60B9-6539-4A1B-9073-6986150F11F1}"/>
              </a:ext>
            </a:extLst>
          </p:cNvPr>
          <p:cNvGraphicFramePr>
            <a:graphicFrameLocks noChangeAspect="1"/>
          </p:cNvGraphicFramePr>
          <p:nvPr>
            <p:extLst>
              <p:ext uri="{D42A27DB-BD31-4B8C-83A1-F6EECF244321}">
                <p14:modId xmlns:p14="http://schemas.microsoft.com/office/powerpoint/2010/main" val="3611716770"/>
              </p:ext>
            </p:extLst>
          </p:nvPr>
        </p:nvGraphicFramePr>
        <p:xfrm>
          <a:off x="6955963" y="2771775"/>
          <a:ext cx="3001962" cy="1257300"/>
        </p:xfrm>
        <a:graphic>
          <a:graphicData uri="http://schemas.openxmlformats.org/presentationml/2006/ole">
            <mc:AlternateContent xmlns:mc="http://schemas.openxmlformats.org/markup-compatibility/2006">
              <mc:Choice xmlns:v="urn:schemas-microsoft-com:vml" Requires="v">
                <p:oleObj spid="_x0000_s6089" name="Visio" r:id="rId17" imgW="2232411" imgH="823567" progId="Visio.Drawing.11">
                  <p:embed/>
                </p:oleObj>
              </mc:Choice>
              <mc:Fallback>
                <p:oleObj name="Visio" r:id="rId17" imgW="2232411" imgH="823567" progId="Visio.Drawing.11">
                  <p:embed/>
                  <p:pic>
                    <p:nvPicPr>
                      <p:cNvPr id="14" name="Object 3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55963" y="2771775"/>
                        <a:ext cx="3001962"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9" name="组合 30">
            <a:extLst>
              <a:ext uri="{FF2B5EF4-FFF2-40B4-BE49-F238E27FC236}">
                <a16:creationId xmlns="" xmlns:a16="http://schemas.microsoft.com/office/drawing/2014/main" id="{AC5B45AE-60A1-4B26-B39E-F6BA6434F6E2}"/>
              </a:ext>
            </a:extLst>
          </p:cNvPr>
          <p:cNvGrpSpPr>
            <a:grpSpLocks/>
          </p:cNvGrpSpPr>
          <p:nvPr/>
        </p:nvGrpSpPr>
        <p:grpSpPr bwMode="auto">
          <a:xfrm>
            <a:off x="7021050" y="2862263"/>
            <a:ext cx="2897188" cy="2366962"/>
            <a:chOff x="4992688" y="2444750"/>
            <a:chExt cx="2897187" cy="2366963"/>
          </a:xfrm>
        </p:grpSpPr>
        <p:graphicFrame>
          <p:nvGraphicFramePr>
            <p:cNvPr id="50" name="Object 22">
              <a:extLst>
                <a:ext uri="{FF2B5EF4-FFF2-40B4-BE49-F238E27FC236}">
                  <a16:creationId xmlns="" xmlns:a16="http://schemas.microsoft.com/office/drawing/2014/main" id="{8218C235-F021-4B24-A062-A5CAF048F9EF}"/>
                </a:ext>
              </a:extLst>
            </p:cNvPr>
            <p:cNvGraphicFramePr>
              <a:graphicFrameLocks noChangeAspect="1"/>
            </p:cNvGraphicFramePr>
            <p:nvPr/>
          </p:nvGraphicFramePr>
          <p:xfrm>
            <a:off x="5238750" y="2444750"/>
            <a:ext cx="500063" cy="2366963"/>
          </p:xfrm>
          <a:graphic>
            <a:graphicData uri="http://schemas.openxmlformats.org/presentationml/2006/ole">
              <mc:AlternateContent xmlns:mc="http://schemas.openxmlformats.org/markup-compatibility/2006">
                <mc:Choice xmlns:v="urn:schemas-microsoft-com:vml" Requires="v">
                  <p:oleObj spid="_x0000_s6090" name="Visio" r:id="rId19" imgW="369819" imgH="1539971" progId="Visio.Drawing.11">
                    <p:embed/>
                  </p:oleObj>
                </mc:Choice>
                <mc:Fallback>
                  <p:oleObj name="Visio" r:id="rId19" imgW="369819" imgH="1539971" progId="Visio.Drawing.11">
                    <p:embed/>
                    <p:pic>
                      <p:nvPicPr>
                        <p:cNvPr id="2562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38750" y="2444750"/>
                          <a:ext cx="500063" cy="2366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 name="Object 28">
              <a:extLst>
                <a:ext uri="{FF2B5EF4-FFF2-40B4-BE49-F238E27FC236}">
                  <a16:creationId xmlns="" xmlns:a16="http://schemas.microsoft.com/office/drawing/2014/main" id="{AD8CAF19-FF1B-49AF-B8FD-26AF7E711C83}"/>
                </a:ext>
              </a:extLst>
            </p:cNvPr>
            <p:cNvGraphicFramePr>
              <a:graphicFrameLocks noChangeAspect="1"/>
            </p:cNvGraphicFramePr>
            <p:nvPr/>
          </p:nvGraphicFramePr>
          <p:xfrm>
            <a:off x="7124700" y="2444751"/>
            <a:ext cx="512763" cy="2366962"/>
          </p:xfrm>
          <a:graphic>
            <a:graphicData uri="http://schemas.openxmlformats.org/presentationml/2006/ole">
              <mc:AlternateContent xmlns:mc="http://schemas.openxmlformats.org/markup-compatibility/2006">
                <mc:Choice xmlns:v="urn:schemas-microsoft-com:vml" Requires="v">
                  <p:oleObj spid="_x0000_s6091" name="Visio" r:id="rId21" imgW="384396" imgH="1539971" progId="Visio.Drawing.11">
                    <p:embed/>
                  </p:oleObj>
                </mc:Choice>
                <mc:Fallback>
                  <p:oleObj name="Visio" r:id="rId21" imgW="384396" imgH="1539971" progId="Visio.Drawing.11">
                    <p:embed/>
                    <p:pic>
                      <p:nvPicPr>
                        <p:cNvPr id="25621"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124700" y="2444751"/>
                          <a:ext cx="512763" cy="2366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31">
              <a:extLst>
                <a:ext uri="{FF2B5EF4-FFF2-40B4-BE49-F238E27FC236}">
                  <a16:creationId xmlns="" xmlns:a16="http://schemas.microsoft.com/office/drawing/2014/main" id="{41591461-966E-4478-B6E2-440E51896D5D}"/>
                </a:ext>
              </a:extLst>
            </p:cNvPr>
            <p:cNvGraphicFramePr>
              <a:graphicFrameLocks noChangeAspect="1"/>
            </p:cNvGraphicFramePr>
            <p:nvPr/>
          </p:nvGraphicFramePr>
          <p:xfrm>
            <a:off x="4992688" y="2693988"/>
            <a:ext cx="423862" cy="788987"/>
          </p:xfrm>
          <a:graphic>
            <a:graphicData uri="http://schemas.openxmlformats.org/presentationml/2006/ole">
              <mc:AlternateContent xmlns:mc="http://schemas.openxmlformats.org/markup-compatibility/2006">
                <mc:Choice xmlns:v="urn:schemas-microsoft-com:vml" Requires="v">
                  <p:oleObj spid="_x0000_s6092" name="Visio" r:id="rId23" imgW="311782" imgH="513954" progId="Visio.Drawing.11">
                    <p:embed/>
                  </p:oleObj>
                </mc:Choice>
                <mc:Fallback>
                  <p:oleObj name="Visio" r:id="rId23" imgW="311782" imgH="513954" progId="Visio.Drawing.11">
                    <p:embed/>
                    <p:pic>
                      <p:nvPicPr>
                        <p:cNvPr id="25622" name="Object 3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92688" y="2693988"/>
                          <a:ext cx="423862" cy="788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32">
              <a:extLst>
                <a:ext uri="{FF2B5EF4-FFF2-40B4-BE49-F238E27FC236}">
                  <a16:creationId xmlns="" xmlns:a16="http://schemas.microsoft.com/office/drawing/2014/main" id="{F6638A0E-CE32-42A9-8E73-E98A2A0B8CFC}"/>
                </a:ext>
              </a:extLst>
            </p:cNvPr>
            <p:cNvGraphicFramePr>
              <a:graphicFrameLocks noChangeAspect="1"/>
            </p:cNvGraphicFramePr>
            <p:nvPr/>
          </p:nvGraphicFramePr>
          <p:xfrm>
            <a:off x="5576888" y="2709863"/>
            <a:ext cx="1730375" cy="760412"/>
          </p:xfrm>
          <a:graphic>
            <a:graphicData uri="http://schemas.openxmlformats.org/presentationml/2006/ole">
              <mc:AlternateContent xmlns:mc="http://schemas.openxmlformats.org/markup-compatibility/2006">
                <mc:Choice xmlns:v="urn:schemas-microsoft-com:vml" Requires="v">
                  <p:oleObj spid="_x0000_s6093" name="Visio" r:id="rId25" imgW="1284379" imgH="494788" progId="Visio.Drawing.11">
                    <p:embed/>
                  </p:oleObj>
                </mc:Choice>
                <mc:Fallback>
                  <p:oleObj name="Visio" r:id="rId25" imgW="1284379" imgH="494788" progId="Visio.Drawing.11">
                    <p:embed/>
                    <p:pic>
                      <p:nvPicPr>
                        <p:cNvPr id="25623" name="Object 3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576888" y="2709863"/>
                          <a:ext cx="1730375" cy="760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33">
              <a:extLst>
                <a:ext uri="{FF2B5EF4-FFF2-40B4-BE49-F238E27FC236}">
                  <a16:creationId xmlns="" xmlns:a16="http://schemas.microsoft.com/office/drawing/2014/main" id="{ACC83627-D419-4E5A-9A21-415A2A6CB24F}"/>
                </a:ext>
              </a:extLst>
            </p:cNvPr>
            <p:cNvGraphicFramePr>
              <a:graphicFrameLocks noChangeAspect="1"/>
            </p:cNvGraphicFramePr>
            <p:nvPr/>
          </p:nvGraphicFramePr>
          <p:xfrm>
            <a:off x="7466013" y="2701925"/>
            <a:ext cx="423862" cy="758825"/>
          </p:xfrm>
          <a:graphic>
            <a:graphicData uri="http://schemas.openxmlformats.org/presentationml/2006/ole">
              <mc:AlternateContent xmlns:mc="http://schemas.openxmlformats.org/markup-compatibility/2006">
                <mc:Choice xmlns:v="urn:schemas-microsoft-com:vml" Requires="v">
                  <p:oleObj spid="_x0000_s6094" name="Visio" r:id="rId27" imgW="312322" imgH="495868" progId="Visio.Drawing.11">
                    <p:embed/>
                  </p:oleObj>
                </mc:Choice>
                <mc:Fallback>
                  <p:oleObj name="Visio" r:id="rId27" imgW="312322" imgH="495868" progId="Visio.Drawing.11">
                    <p:embed/>
                    <p:pic>
                      <p:nvPicPr>
                        <p:cNvPr id="25624" name="Object 3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466013" y="2701925"/>
                          <a:ext cx="423862"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5" name="组合 35">
            <a:extLst>
              <a:ext uri="{FF2B5EF4-FFF2-40B4-BE49-F238E27FC236}">
                <a16:creationId xmlns="" xmlns:a16="http://schemas.microsoft.com/office/drawing/2014/main" id="{37E31F4A-CF97-4DC1-8F49-B571AE09AD15}"/>
              </a:ext>
            </a:extLst>
          </p:cNvPr>
          <p:cNvGrpSpPr>
            <a:grpSpLocks/>
          </p:cNvGrpSpPr>
          <p:nvPr/>
        </p:nvGrpSpPr>
        <p:grpSpPr bwMode="auto">
          <a:xfrm>
            <a:off x="6955963" y="2592388"/>
            <a:ext cx="3003550" cy="339725"/>
            <a:chOff x="4927600" y="2170112"/>
            <a:chExt cx="3003550" cy="339726"/>
          </a:xfrm>
        </p:grpSpPr>
        <p:cxnSp>
          <p:nvCxnSpPr>
            <p:cNvPr id="56" name="直接箭头连接符 55">
              <a:extLst>
                <a:ext uri="{FF2B5EF4-FFF2-40B4-BE49-F238E27FC236}">
                  <a16:creationId xmlns="" xmlns:a16="http://schemas.microsoft.com/office/drawing/2014/main" id="{B094F380-13D4-4BE5-ACC2-95C835754FD0}"/>
                </a:ext>
              </a:extLst>
            </p:cNvPr>
            <p:cNvCxnSpPr/>
            <p:nvPr/>
          </p:nvCxnSpPr>
          <p:spPr>
            <a:xfrm>
              <a:off x="4927600" y="2184399"/>
              <a:ext cx="254000" cy="325439"/>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 xmlns:a16="http://schemas.microsoft.com/office/drawing/2014/main" id="{506BB474-F1CD-4DC9-96DB-072849D9378C}"/>
                </a:ext>
              </a:extLst>
            </p:cNvPr>
            <p:cNvCxnSpPr/>
            <p:nvPr/>
          </p:nvCxnSpPr>
          <p:spPr>
            <a:xfrm flipH="1">
              <a:off x="7727950" y="2170112"/>
              <a:ext cx="203200" cy="325438"/>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grpSp>
      <p:grpSp>
        <p:nvGrpSpPr>
          <p:cNvPr id="58" name="组合 44">
            <a:extLst>
              <a:ext uri="{FF2B5EF4-FFF2-40B4-BE49-F238E27FC236}">
                <a16:creationId xmlns="" xmlns:a16="http://schemas.microsoft.com/office/drawing/2014/main" id="{B5C6487C-F2E1-40C9-A715-14235BC42D02}"/>
              </a:ext>
            </a:extLst>
          </p:cNvPr>
          <p:cNvGrpSpPr>
            <a:grpSpLocks/>
          </p:cNvGrpSpPr>
          <p:nvPr/>
        </p:nvGrpSpPr>
        <p:grpSpPr bwMode="auto">
          <a:xfrm>
            <a:off x="6822613" y="3895725"/>
            <a:ext cx="3289300" cy="488950"/>
            <a:chOff x="4794250" y="3473450"/>
            <a:chExt cx="3289298" cy="488950"/>
          </a:xfrm>
        </p:grpSpPr>
        <p:cxnSp>
          <p:nvCxnSpPr>
            <p:cNvPr id="59" name="直接箭头连接符 58">
              <a:extLst>
                <a:ext uri="{FF2B5EF4-FFF2-40B4-BE49-F238E27FC236}">
                  <a16:creationId xmlns="" xmlns:a16="http://schemas.microsoft.com/office/drawing/2014/main" id="{ED9CE4DC-442F-4EA1-BFE4-1C4DB6A4DC4A}"/>
                </a:ext>
              </a:extLst>
            </p:cNvPr>
            <p:cNvCxnSpPr/>
            <p:nvPr/>
          </p:nvCxnSpPr>
          <p:spPr>
            <a:xfrm rot="5400000" flipH="1" flipV="1">
              <a:off x="4650581" y="3617119"/>
              <a:ext cx="488950" cy="201612"/>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 xmlns:a16="http://schemas.microsoft.com/office/drawing/2014/main" id="{920D16CF-3734-4F0C-8839-ABFB62D82ECC}"/>
                </a:ext>
              </a:extLst>
            </p:cNvPr>
            <p:cNvCxnSpPr/>
            <p:nvPr/>
          </p:nvCxnSpPr>
          <p:spPr>
            <a:xfrm rot="16200000" flipV="1">
              <a:off x="7727948" y="3562350"/>
              <a:ext cx="444500" cy="266700"/>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grpSp>
      <p:cxnSp>
        <p:nvCxnSpPr>
          <p:cNvPr id="61" name="直接箭头连接符 60">
            <a:extLst>
              <a:ext uri="{FF2B5EF4-FFF2-40B4-BE49-F238E27FC236}">
                <a16:creationId xmlns="" xmlns:a16="http://schemas.microsoft.com/office/drawing/2014/main" id="{55025581-5895-479C-8A12-E0D0E35E8177}"/>
              </a:ext>
            </a:extLst>
          </p:cNvPr>
          <p:cNvCxnSpPr/>
          <p:nvPr/>
        </p:nvCxnSpPr>
        <p:spPr>
          <a:xfrm rot="5400000" flipH="1" flipV="1">
            <a:off x="8291051" y="4027487"/>
            <a:ext cx="266700" cy="3175"/>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grpSp>
        <p:nvGrpSpPr>
          <p:cNvPr id="62" name="组合 34">
            <a:extLst>
              <a:ext uri="{FF2B5EF4-FFF2-40B4-BE49-F238E27FC236}">
                <a16:creationId xmlns="" xmlns:a16="http://schemas.microsoft.com/office/drawing/2014/main" id="{32309395-891A-4E04-AD77-67C60DEA605D}"/>
              </a:ext>
            </a:extLst>
          </p:cNvPr>
          <p:cNvGrpSpPr>
            <a:grpSpLocks/>
          </p:cNvGrpSpPr>
          <p:nvPr/>
        </p:nvGrpSpPr>
        <p:grpSpPr bwMode="auto">
          <a:xfrm>
            <a:off x="7622713" y="2339975"/>
            <a:ext cx="1668462" cy="690563"/>
            <a:chOff x="5594350" y="1917700"/>
            <a:chExt cx="1668463" cy="690563"/>
          </a:xfrm>
        </p:grpSpPr>
        <p:cxnSp>
          <p:nvCxnSpPr>
            <p:cNvPr id="63" name="直接箭头连接符 62">
              <a:extLst>
                <a:ext uri="{FF2B5EF4-FFF2-40B4-BE49-F238E27FC236}">
                  <a16:creationId xmlns="" xmlns:a16="http://schemas.microsoft.com/office/drawing/2014/main" id="{EE31CDA5-DBB2-4F67-A5FB-0C8BF8C5CE2E}"/>
                </a:ext>
              </a:extLst>
            </p:cNvPr>
            <p:cNvCxnSpPr/>
            <p:nvPr/>
          </p:nvCxnSpPr>
          <p:spPr>
            <a:xfrm>
              <a:off x="6411912" y="2228850"/>
              <a:ext cx="0" cy="379413"/>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
          <p:nvSpPr>
            <p:cNvPr id="64" name="TextBox 68">
              <a:extLst>
                <a:ext uri="{FF2B5EF4-FFF2-40B4-BE49-F238E27FC236}">
                  <a16:creationId xmlns="" xmlns:a16="http://schemas.microsoft.com/office/drawing/2014/main" id="{97946BFC-8274-454C-A4B9-C10296FB304B}"/>
                </a:ext>
              </a:extLst>
            </p:cNvPr>
            <p:cNvSpPr txBox="1">
              <a:spLocks noChangeArrowheads="1"/>
            </p:cNvSpPr>
            <p:nvPr/>
          </p:nvSpPr>
          <p:spPr bwMode="auto">
            <a:xfrm>
              <a:off x="5594350" y="1917700"/>
              <a:ext cx="1668463" cy="366713"/>
            </a:xfrm>
            <a:prstGeom prst="rect">
              <a:avLst/>
            </a:prstGeom>
            <a:noFill/>
            <a:ln w="9525">
              <a:noFill/>
              <a:miter lim="800000"/>
              <a:headEnd/>
              <a:tailEnd/>
            </a:ln>
          </p:spPr>
          <p:txBody>
            <a:bodyPr>
              <a:spAutoFit/>
            </a:bodyPr>
            <a:lstStyle/>
            <a:p>
              <a:pPr defTabSz="914400"/>
              <a:r>
                <a:rPr lang="zh-CN" altLang="en-US" sz="1800" b="1">
                  <a:solidFill>
                    <a:srgbClr val="FF0000"/>
                  </a:solidFill>
                  <a:latin typeface="黑体" pitchFamily="49" charset="-122"/>
                  <a:ea typeface="黑体" pitchFamily="49" charset="-122"/>
                </a:rPr>
                <a:t>半导体光敏层</a:t>
              </a:r>
            </a:p>
          </p:txBody>
        </p:sp>
      </p:grpSp>
      <p:grpSp>
        <p:nvGrpSpPr>
          <p:cNvPr id="65" name="组合 33">
            <a:extLst>
              <a:ext uri="{FF2B5EF4-FFF2-40B4-BE49-F238E27FC236}">
                <a16:creationId xmlns="" xmlns:a16="http://schemas.microsoft.com/office/drawing/2014/main" id="{0A0363CD-33AA-401B-BA6F-9112B34D3F9E}"/>
              </a:ext>
            </a:extLst>
          </p:cNvPr>
          <p:cNvGrpSpPr>
            <a:grpSpLocks/>
          </p:cNvGrpSpPr>
          <p:nvPr/>
        </p:nvGrpSpPr>
        <p:grpSpPr bwMode="auto">
          <a:xfrm>
            <a:off x="7625888" y="4292600"/>
            <a:ext cx="1668462" cy="528638"/>
            <a:chOff x="5597525" y="3870325"/>
            <a:chExt cx="1668463" cy="528638"/>
          </a:xfrm>
        </p:grpSpPr>
        <p:cxnSp>
          <p:nvCxnSpPr>
            <p:cNvPr id="66" name="直接箭头连接符 65">
              <a:extLst>
                <a:ext uri="{FF2B5EF4-FFF2-40B4-BE49-F238E27FC236}">
                  <a16:creationId xmlns="" xmlns:a16="http://schemas.microsoft.com/office/drawing/2014/main" id="{7915C2E1-0FC7-44A5-8CFD-234280C352A0}"/>
                </a:ext>
              </a:extLst>
            </p:cNvPr>
            <p:cNvCxnSpPr/>
            <p:nvPr/>
          </p:nvCxnSpPr>
          <p:spPr>
            <a:xfrm flipH="1" flipV="1">
              <a:off x="5597525" y="3924300"/>
              <a:ext cx="355600" cy="215900"/>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 xmlns:a16="http://schemas.microsoft.com/office/drawing/2014/main" id="{0F22DF62-0112-4FCF-934B-0FEB39D28C76}"/>
                </a:ext>
              </a:extLst>
            </p:cNvPr>
            <p:cNvCxnSpPr/>
            <p:nvPr/>
          </p:nvCxnSpPr>
          <p:spPr>
            <a:xfrm flipV="1">
              <a:off x="6959601" y="3870325"/>
              <a:ext cx="306387" cy="269875"/>
            </a:xfrm>
            <a:prstGeom prst="straightConnector1">
              <a:avLst/>
            </a:prstGeom>
            <a:ln w="381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
          <p:nvSpPr>
            <p:cNvPr id="68" name="TextBox 69">
              <a:extLst>
                <a:ext uri="{FF2B5EF4-FFF2-40B4-BE49-F238E27FC236}">
                  <a16:creationId xmlns="" xmlns:a16="http://schemas.microsoft.com/office/drawing/2014/main" id="{4EBCDBBB-7090-4313-9AD9-82004ABF064D}"/>
                </a:ext>
              </a:extLst>
            </p:cNvPr>
            <p:cNvSpPr txBox="1">
              <a:spLocks noChangeArrowheads="1"/>
            </p:cNvSpPr>
            <p:nvPr/>
          </p:nvSpPr>
          <p:spPr bwMode="auto">
            <a:xfrm>
              <a:off x="5862638" y="4032250"/>
              <a:ext cx="1154112" cy="366713"/>
            </a:xfrm>
            <a:prstGeom prst="rect">
              <a:avLst/>
            </a:prstGeom>
            <a:noFill/>
            <a:ln w="9525">
              <a:noFill/>
              <a:miter lim="800000"/>
              <a:headEnd/>
              <a:tailEnd/>
            </a:ln>
          </p:spPr>
          <p:txBody>
            <a:bodyPr>
              <a:spAutoFit/>
            </a:bodyPr>
            <a:lstStyle/>
            <a:p>
              <a:pPr defTabSz="914400"/>
              <a:r>
                <a:rPr lang="zh-CN" altLang="en-US" sz="1800" b="1">
                  <a:solidFill>
                    <a:srgbClr val="FF0000"/>
                  </a:solidFill>
                  <a:latin typeface="黑体" pitchFamily="49" charset="-122"/>
                  <a:ea typeface="黑体" pitchFamily="49" charset="-122"/>
                </a:rPr>
                <a:t>金属引脚</a:t>
              </a:r>
            </a:p>
          </p:txBody>
        </p:sp>
      </p:grpSp>
      <p:sp>
        <p:nvSpPr>
          <p:cNvPr id="69" name="TextBox 70">
            <a:extLst>
              <a:ext uri="{FF2B5EF4-FFF2-40B4-BE49-F238E27FC236}">
                <a16:creationId xmlns="" xmlns:a16="http://schemas.microsoft.com/office/drawing/2014/main" id="{8C90CE09-A9D0-4D23-BA39-8D22FE8F8DA9}"/>
              </a:ext>
            </a:extLst>
          </p:cNvPr>
          <p:cNvSpPr txBox="1">
            <a:spLocks noChangeArrowheads="1"/>
          </p:cNvSpPr>
          <p:nvPr/>
        </p:nvSpPr>
        <p:spPr bwMode="auto">
          <a:xfrm>
            <a:off x="6289213" y="1939925"/>
            <a:ext cx="1222375" cy="641350"/>
          </a:xfrm>
          <a:prstGeom prst="rect">
            <a:avLst/>
          </a:prstGeom>
          <a:noFill/>
          <a:ln w="9525">
            <a:noFill/>
            <a:miter lim="800000"/>
            <a:headEnd/>
            <a:tailEnd/>
          </a:ln>
        </p:spPr>
        <p:txBody>
          <a:bodyPr>
            <a:spAutoFit/>
          </a:bodyPr>
          <a:lstStyle/>
          <a:p>
            <a:pPr algn="ctr" defTabSz="914400"/>
            <a:r>
              <a:rPr lang="zh-CN" altLang="en-US" sz="1800" b="1">
                <a:solidFill>
                  <a:srgbClr val="0000FF"/>
                </a:solidFill>
                <a:latin typeface="黑体" pitchFamily="49" charset="-122"/>
                <a:ea typeface="黑体" pitchFamily="49" charset="-122"/>
              </a:rPr>
              <a:t>梳状</a:t>
            </a:r>
            <a:endParaRPr lang="en-US" altLang="zh-CN" sz="1800" b="1">
              <a:solidFill>
                <a:srgbClr val="0000FF"/>
              </a:solidFill>
              <a:latin typeface="黑体" pitchFamily="49" charset="-122"/>
              <a:ea typeface="黑体" pitchFamily="49" charset="-122"/>
            </a:endParaRPr>
          </a:p>
          <a:p>
            <a:pPr algn="ctr" defTabSz="914400"/>
            <a:r>
              <a:rPr lang="zh-CN" altLang="en-US" sz="1800" b="1">
                <a:solidFill>
                  <a:srgbClr val="0000FF"/>
                </a:solidFill>
                <a:latin typeface="黑体" pitchFamily="49" charset="-122"/>
                <a:ea typeface="黑体" pitchFamily="49" charset="-122"/>
              </a:rPr>
              <a:t>金属电极</a:t>
            </a:r>
          </a:p>
        </p:txBody>
      </p:sp>
      <p:sp>
        <p:nvSpPr>
          <p:cNvPr id="70" name="TextBox 71">
            <a:extLst>
              <a:ext uri="{FF2B5EF4-FFF2-40B4-BE49-F238E27FC236}">
                <a16:creationId xmlns="" xmlns:a16="http://schemas.microsoft.com/office/drawing/2014/main" id="{627FD605-85B4-4445-87CF-219DDDC91982}"/>
              </a:ext>
            </a:extLst>
          </p:cNvPr>
          <p:cNvSpPr txBox="1">
            <a:spLocks noChangeArrowheads="1"/>
          </p:cNvSpPr>
          <p:nvPr/>
        </p:nvSpPr>
        <p:spPr bwMode="auto">
          <a:xfrm>
            <a:off x="9400713" y="1939925"/>
            <a:ext cx="1238250" cy="641350"/>
          </a:xfrm>
          <a:prstGeom prst="rect">
            <a:avLst/>
          </a:prstGeom>
          <a:noFill/>
          <a:ln w="9525">
            <a:noFill/>
            <a:miter lim="800000"/>
            <a:headEnd/>
            <a:tailEnd/>
          </a:ln>
        </p:spPr>
        <p:txBody>
          <a:bodyPr>
            <a:spAutoFit/>
          </a:bodyPr>
          <a:lstStyle/>
          <a:p>
            <a:pPr algn="ctr" defTabSz="914400"/>
            <a:r>
              <a:rPr lang="zh-CN" altLang="en-US" sz="1800" b="1">
                <a:solidFill>
                  <a:srgbClr val="0000FF"/>
                </a:solidFill>
                <a:latin typeface="黑体" pitchFamily="49" charset="-122"/>
                <a:ea typeface="黑体" pitchFamily="49" charset="-122"/>
              </a:rPr>
              <a:t>梳状</a:t>
            </a:r>
            <a:endParaRPr lang="en-US" altLang="zh-CN" sz="1800" b="1">
              <a:solidFill>
                <a:srgbClr val="0000FF"/>
              </a:solidFill>
              <a:latin typeface="黑体" pitchFamily="49" charset="-122"/>
              <a:ea typeface="黑体" pitchFamily="49" charset="-122"/>
            </a:endParaRPr>
          </a:p>
          <a:p>
            <a:pPr algn="ctr" defTabSz="914400"/>
            <a:r>
              <a:rPr lang="zh-CN" altLang="en-US" sz="1800" b="1">
                <a:solidFill>
                  <a:srgbClr val="0000FF"/>
                </a:solidFill>
                <a:latin typeface="黑体" pitchFamily="49" charset="-122"/>
                <a:ea typeface="黑体" pitchFamily="49" charset="-122"/>
              </a:rPr>
              <a:t>金属电极</a:t>
            </a:r>
          </a:p>
        </p:txBody>
      </p:sp>
      <p:sp>
        <p:nvSpPr>
          <p:cNvPr id="71" name="TextBox 72">
            <a:extLst>
              <a:ext uri="{FF2B5EF4-FFF2-40B4-BE49-F238E27FC236}">
                <a16:creationId xmlns="" xmlns:a16="http://schemas.microsoft.com/office/drawing/2014/main" id="{191067DA-30E5-43E1-B00F-B74BBD5D2E23}"/>
              </a:ext>
            </a:extLst>
          </p:cNvPr>
          <p:cNvSpPr txBox="1">
            <a:spLocks noChangeArrowheads="1"/>
          </p:cNvSpPr>
          <p:nvPr/>
        </p:nvSpPr>
        <p:spPr bwMode="auto">
          <a:xfrm>
            <a:off x="7844963" y="4117975"/>
            <a:ext cx="1236662" cy="366713"/>
          </a:xfrm>
          <a:prstGeom prst="rect">
            <a:avLst/>
          </a:prstGeom>
          <a:noFill/>
          <a:ln w="9525">
            <a:noFill/>
            <a:miter lim="800000"/>
            <a:headEnd/>
            <a:tailEnd/>
          </a:ln>
        </p:spPr>
        <p:txBody>
          <a:bodyPr>
            <a:spAutoFit/>
          </a:bodyPr>
          <a:lstStyle/>
          <a:p>
            <a:pPr algn="ctr" defTabSz="914400"/>
            <a:r>
              <a:rPr lang="zh-CN" altLang="en-US" sz="1800" b="1">
                <a:solidFill>
                  <a:srgbClr val="FF00FF"/>
                </a:solidFill>
                <a:latin typeface="黑体" pitchFamily="49" charset="-122"/>
                <a:ea typeface="黑体" pitchFamily="49" charset="-122"/>
              </a:rPr>
              <a:t>陶瓷基板</a:t>
            </a:r>
          </a:p>
        </p:txBody>
      </p:sp>
      <p:sp>
        <p:nvSpPr>
          <p:cNvPr id="72" name="TextBox 73">
            <a:extLst>
              <a:ext uri="{FF2B5EF4-FFF2-40B4-BE49-F238E27FC236}">
                <a16:creationId xmlns="" xmlns:a16="http://schemas.microsoft.com/office/drawing/2014/main" id="{87F07CC6-11B1-45BB-B1D8-EC0178D0E102}"/>
              </a:ext>
            </a:extLst>
          </p:cNvPr>
          <p:cNvSpPr txBox="1">
            <a:spLocks noChangeArrowheads="1"/>
          </p:cNvSpPr>
          <p:nvPr/>
        </p:nvSpPr>
        <p:spPr bwMode="auto">
          <a:xfrm>
            <a:off x="6022513" y="4340225"/>
            <a:ext cx="1284287" cy="641350"/>
          </a:xfrm>
          <a:prstGeom prst="rect">
            <a:avLst/>
          </a:prstGeom>
          <a:noFill/>
          <a:ln w="9525">
            <a:noFill/>
            <a:miter lim="800000"/>
            <a:headEnd/>
            <a:tailEnd/>
          </a:ln>
        </p:spPr>
        <p:txBody>
          <a:bodyPr>
            <a:spAutoFit/>
          </a:bodyPr>
          <a:lstStyle/>
          <a:p>
            <a:pPr algn="ctr" defTabSz="914400"/>
            <a:r>
              <a:rPr lang="zh-CN" altLang="en-US" sz="1800" b="1">
                <a:solidFill>
                  <a:srgbClr val="FF00FF"/>
                </a:solidFill>
                <a:latin typeface="黑体" pitchFamily="49" charset="-122"/>
                <a:ea typeface="黑体" pitchFamily="49" charset="-122"/>
              </a:rPr>
              <a:t>透明树脂防潮模</a:t>
            </a:r>
          </a:p>
        </p:txBody>
      </p:sp>
      <p:sp>
        <p:nvSpPr>
          <p:cNvPr id="73" name="TextBox 74">
            <a:extLst>
              <a:ext uri="{FF2B5EF4-FFF2-40B4-BE49-F238E27FC236}">
                <a16:creationId xmlns="" xmlns:a16="http://schemas.microsoft.com/office/drawing/2014/main" id="{CC93BB18-5326-4D6F-ABFC-41EF244F6A0A}"/>
              </a:ext>
            </a:extLst>
          </p:cNvPr>
          <p:cNvSpPr txBox="1">
            <a:spLocks noChangeArrowheads="1"/>
          </p:cNvSpPr>
          <p:nvPr/>
        </p:nvSpPr>
        <p:spPr bwMode="auto">
          <a:xfrm>
            <a:off x="9667413" y="4206875"/>
            <a:ext cx="1163637" cy="641350"/>
          </a:xfrm>
          <a:prstGeom prst="rect">
            <a:avLst/>
          </a:prstGeom>
          <a:noFill/>
          <a:ln w="9525">
            <a:noFill/>
            <a:miter lim="800000"/>
            <a:headEnd/>
            <a:tailEnd/>
          </a:ln>
        </p:spPr>
        <p:txBody>
          <a:bodyPr>
            <a:spAutoFit/>
          </a:bodyPr>
          <a:lstStyle/>
          <a:p>
            <a:pPr algn="ctr" defTabSz="914400"/>
            <a:r>
              <a:rPr lang="zh-CN" altLang="en-US" sz="1800" b="1">
                <a:solidFill>
                  <a:srgbClr val="FF00FF"/>
                </a:solidFill>
                <a:latin typeface="黑体" pitchFamily="49" charset="-122"/>
                <a:ea typeface="黑体" pitchFamily="49" charset="-122"/>
              </a:rPr>
              <a:t>透明树脂防潮模</a:t>
            </a:r>
          </a:p>
        </p:txBody>
      </p:sp>
      <p:sp>
        <p:nvSpPr>
          <p:cNvPr id="74" name="椭圆 73">
            <a:extLst>
              <a:ext uri="{FF2B5EF4-FFF2-40B4-BE49-F238E27FC236}">
                <a16:creationId xmlns="" xmlns:a16="http://schemas.microsoft.com/office/drawing/2014/main" id="{614AC4B6-7539-4542-B215-181C00737979}"/>
              </a:ext>
            </a:extLst>
          </p:cNvPr>
          <p:cNvSpPr/>
          <p:nvPr/>
        </p:nvSpPr>
        <p:spPr>
          <a:xfrm>
            <a:off x="3269788" y="2681288"/>
            <a:ext cx="1935162" cy="184467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75" name="Text Box 5">
            <a:extLst>
              <a:ext uri="{FF2B5EF4-FFF2-40B4-BE49-F238E27FC236}">
                <a16:creationId xmlns="" xmlns:a16="http://schemas.microsoft.com/office/drawing/2014/main" id="{6F483EB3-9730-4F3B-97CB-93F0D692C6D4}"/>
              </a:ext>
            </a:extLst>
          </p:cNvPr>
          <p:cNvSpPr txBox="1">
            <a:spLocks noChangeAspect="1" noChangeArrowheads="1"/>
          </p:cNvSpPr>
          <p:nvPr/>
        </p:nvSpPr>
        <p:spPr bwMode="auto">
          <a:xfrm>
            <a:off x="3177713" y="5584825"/>
            <a:ext cx="2171700" cy="533400"/>
          </a:xfrm>
          <a:prstGeom prst="rect">
            <a:avLst/>
          </a:prstGeom>
          <a:solidFill>
            <a:srgbClr val="FFFFFF"/>
          </a:solidFill>
          <a:ln w="9525">
            <a:noFill/>
            <a:miter lim="800000"/>
            <a:headEnd/>
            <a:tailEnd/>
          </a:ln>
        </p:spPr>
        <p:txBody>
          <a:bodyPr lIns="0" tIns="0" rIns="0" bIns="0"/>
          <a:lstStyle/>
          <a:p>
            <a:pPr algn="ctr" defTabSz="914400"/>
            <a:r>
              <a:rPr lang="zh-CN" altLang="en-US" sz="3200" b="1">
                <a:latin typeface="微软雅黑" pitchFamily="34" charset="-122"/>
                <a:ea typeface="微软雅黑" pitchFamily="34" charset="-122"/>
                <a:cs typeface="Times New Roman" pitchFamily="18" charset="0"/>
              </a:rPr>
              <a:t>俯视图</a:t>
            </a:r>
            <a:endParaRPr lang="zh-CN" altLang="en-US" sz="8800" b="1">
              <a:latin typeface="微软雅黑" pitchFamily="34" charset="-122"/>
              <a:ea typeface="微软雅黑" pitchFamily="34" charset="-122"/>
              <a:cs typeface="Times New Roman" pitchFamily="18" charset="0"/>
            </a:endParaRPr>
          </a:p>
        </p:txBody>
      </p:sp>
      <p:sp>
        <p:nvSpPr>
          <p:cNvPr id="76" name="椭圆 75">
            <a:extLst>
              <a:ext uri="{FF2B5EF4-FFF2-40B4-BE49-F238E27FC236}">
                <a16:creationId xmlns="" xmlns:a16="http://schemas.microsoft.com/office/drawing/2014/main" id="{73D38906-E65B-4E7F-9BFC-ED9E7BAFAF93}"/>
              </a:ext>
            </a:extLst>
          </p:cNvPr>
          <p:cNvSpPr/>
          <p:nvPr/>
        </p:nvSpPr>
        <p:spPr>
          <a:xfrm>
            <a:off x="3269788" y="2681288"/>
            <a:ext cx="1935162" cy="18446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77" name="椭圆 76">
            <a:extLst>
              <a:ext uri="{FF2B5EF4-FFF2-40B4-BE49-F238E27FC236}">
                <a16:creationId xmlns="" xmlns:a16="http://schemas.microsoft.com/office/drawing/2014/main" id="{F196D6D1-D046-4352-9F19-08A623D82841}"/>
              </a:ext>
            </a:extLst>
          </p:cNvPr>
          <p:cNvSpPr/>
          <p:nvPr/>
        </p:nvSpPr>
        <p:spPr>
          <a:xfrm>
            <a:off x="2999913" y="2411413"/>
            <a:ext cx="2474912" cy="2384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graphicFrame>
        <p:nvGraphicFramePr>
          <p:cNvPr id="78" name="Object 10">
            <a:extLst>
              <a:ext uri="{FF2B5EF4-FFF2-40B4-BE49-F238E27FC236}">
                <a16:creationId xmlns="" xmlns:a16="http://schemas.microsoft.com/office/drawing/2014/main" id="{6C0A980C-1EEB-420B-A9EB-6709251DD50E}"/>
              </a:ext>
            </a:extLst>
          </p:cNvPr>
          <p:cNvGraphicFramePr>
            <a:graphicFrameLocks noChangeAspect="1"/>
          </p:cNvGraphicFramePr>
          <p:nvPr>
            <p:extLst>
              <p:ext uri="{D42A27DB-BD31-4B8C-83A1-F6EECF244321}">
                <p14:modId xmlns:p14="http://schemas.microsoft.com/office/powerpoint/2010/main" val="1930216909"/>
              </p:ext>
            </p:extLst>
          </p:nvPr>
        </p:nvGraphicFramePr>
        <p:xfrm>
          <a:off x="3404725" y="2725738"/>
          <a:ext cx="1665288" cy="1755775"/>
        </p:xfrm>
        <a:graphic>
          <a:graphicData uri="http://schemas.openxmlformats.org/presentationml/2006/ole">
            <mc:AlternateContent xmlns:mc="http://schemas.openxmlformats.org/markup-compatibility/2006">
              <mc:Choice xmlns:v="urn:schemas-microsoft-com:vml" Requires="v">
                <p:oleObj spid="_x0000_s6095" name="Visio" r:id="rId29" imgW="896204" imgH="909946" progId="Visio.Drawing.11">
                  <p:embed/>
                </p:oleObj>
              </mc:Choice>
              <mc:Fallback>
                <p:oleObj name="Visio" r:id="rId29" imgW="896204" imgH="909946" progId="Visio.Drawing.11">
                  <p:embed/>
                  <p:pic>
                    <p:nvPicPr>
                      <p:cNvPr id="52" name="Object 1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404725" y="2725738"/>
                        <a:ext cx="1665288" cy="175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 name="Object 15">
            <a:extLst>
              <a:ext uri="{FF2B5EF4-FFF2-40B4-BE49-F238E27FC236}">
                <a16:creationId xmlns="" xmlns:a16="http://schemas.microsoft.com/office/drawing/2014/main" id="{87290D53-1804-4C52-96EC-C52CAFC71035}"/>
              </a:ext>
            </a:extLst>
          </p:cNvPr>
          <p:cNvGraphicFramePr>
            <a:graphicFrameLocks noChangeAspect="1"/>
          </p:cNvGraphicFramePr>
          <p:nvPr>
            <p:extLst>
              <p:ext uri="{D42A27DB-BD31-4B8C-83A1-F6EECF244321}">
                <p14:modId xmlns:p14="http://schemas.microsoft.com/office/powerpoint/2010/main" val="4106155287"/>
              </p:ext>
            </p:extLst>
          </p:nvPr>
        </p:nvGraphicFramePr>
        <p:xfrm>
          <a:off x="3404725" y="3760788"/>
          <a:ext cx="315913" cy="315912"/>
        </p:xfrm>
        <a:graphic>
          <a:graphicData uri="http://schemas.openxmlformats.org/presentationml/2006/ole">
            <mc:AlternateContent xmlns:mc="http://schemas.openxmlformats.org/markup-compatibility/2006">
              <mc:Choice xmlns:v="urn:schemas-microsoft-com:vml" Requires="v">
                <p:oleObj spid="_x0000_s6096" name="Visio" r:id="rId31" imgW="103657" imgH="103654" progId="Visio.Drawing.11">
                  <p:embed/>
                </p:oleObj>
              </mc:Choice>
              <mc:Fallback>
                <p:oleObj name="Visio" r:id="rId31" imgW="103657" imgH="103654" progId="Visio.Drawing.11">
                  <p:embed/>
                  <p:pic>
                    <p:nvPicPr>
                      <p:cNvPr id="53" name="Object 1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404725" y="3760788"/>
                        <a:ext cx="315913" cy="315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 name="Object 17">
            <a:extLst>
              <a:ext uri="{FF2B5EF4-FFF2-40B4-BE49-F238E27FC236}">
                <a16:creationId xmlns="" xmlns:a16="http://schemas.microsoft.com/office/drawing/2014/main" id="{5CA29E95-B41A-4AC8-A33E-63D4E9C4F822}"/>
              </a:ext>
            </a:extLst>
          </p:cNvPr>
          <p:cNvGraphicFramePr>
            <a:graphicFrameLocks noChangeAspect="1"/>
          </p:cNvGraphicFramePr>
          <p:nvPr>
            <p:extLst>
              <p:ext uri="{D42A27DB-BD31-4B8C-83A1-F6EECF244321}">
                <p14:modId xmlns:p14="http://schemas.microsoft.com/office/powerpoint/2010/main" val="1839725789"/>
              </p:ext>
            </p:extLst>
          </p:nvPr>
        </p:nvGraphicFramePr>
        <p:xfrm>
          <a:off x="4890625" y="3402013"/>
          <a:ext cx="269875" cy="269875"/>
        </p:xfrm>
        <a:graphic>
          <a:graphicData uri="http://schemas.openxmlformats.org/presentationml/2006/ole">
            <mc:AlternateContent xmlns:mc="http://schemas.openxmlformats.org/markup-compatibility/2006">
              <mc:Choice xmlns:v="urn:schemas-microsoft-com:vml" Requires="v">
                <p:oleObj spid="_x0000_s6097" name="Visio" r:id="rId33" imgW="103657" imgH="103654" progId="Visio.Drawing.11">
                  <p:embed/>
                </p:oleObj>
              </mc:Choice>
              <mc:Fallback>
                <p:oleObj name="Visio" r:id="rId33" imgW="103657" imgH="103654" progId="Visio.Drawing.11">
                  <p:embed/>
                  <p:pic>
                    <p:nvPicPr>
                      <p:cNvPr id="54" name="Object 1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890625" y="3402013"/>
                        <a:ext cx="269875" cy="26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81" name="直接箭头连接符 80">
            <a:extLst>
              <a:ext uri="{FF2B5EF4-FFF2-40B4-BE49-F238E27FC236}">
                <a16:creationId xmlns="" xmlns:a16="http://schemas.microsoft.com/office/drawing/2014/main" id="{2B38D6D1-7913-41D1-A0E3-8471977DDC8A}"/>
              </a:ext>
            </a:extLst>
          </p:cNvPr>
          <p:cNvCxnSpPr/>
          <p:nvPr/>
        </p:nvCxnSpPr>
        <p:spPr>
          <a:xfrm flipH="1">
            <a:off x="5070013" y="2636838"/>
            <a:ext cx="315912" cy="809625"/>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 xmlns:a16="http://schemas.microsoft.com/office/drawing/2014/main" id="{76C33AF5-5BFC-40F6-A01E-9E6A40C9D23E}"/>
              </a:ext>
            </a:extLst>
          </p:cNvPr>
          <p:cNvCxnSpPr/>
          <p:nvPr/>
        </p:nvCxnSpPr>
        <p:spPr>
          <a:xfrm flipH="1">
            <a:off x="4574713" y="2141538"/>
            <a:ext cx="180975" cy="449262"/>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 xmlns:a16="http://schemas.microsoft.com/office/drawing/2014/main" id="{59439F98-6AD3-464B-99F9-20BC70496207}"/>
              </a:ext>
            </a:extLst>
          </p:cNvPr>
          <p:cNvCxnSpPr/>
          <p:nvPr/>
        </p:nvCxnSpPr>
        <p:spPr>
          <a:xfrm>
            <a:off x="3179300" y="2590800"/>
            <a:ext cx="468313" cy="557213"/>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 xmlns:a16="http://schemas.microsoft.com/office/drawing/2014/main" id="{D08B132E-6376-4A9E-903D-15D93D895FA9}"/>
              </a:ext>
            </a:extLst>
          </p:cNvPr>
          <p:cNvCxnSpPr/>
          <p:nvPr/>
        </p:nvCxnSpPr>
        <p:spPr>
          <a:xfrm flipV="1">
            <a:off x="3090400" y="3986213"/>
            <a:ext cx="404813" cy="539750"/>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 xmlns:a16="http://schemas.microsoft.com/office/drawing/2014/main" id="{9F696BC2-046B-4E1F-86BD-9E8CADA082A2}"/>
              </a:ext>
            </a:extLst>
          </p:cNvPr>
          <p:cNvCxnSpPr/>
          <p:nvPr/>
        </p:nvCxnSpPr>
        <p:spPr>
          <a:xfrm flipV="1">
            <a:off x="4260388" y="4211638"/>
            <a:ext cx="0" cy="854075"/>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sp>
        <p:nvSpPr>
          <p:cNvPr id="86" name="TextBox 59">
            <a:extLst>
              <a:ext uri="{FF2B5EF4-FFF2-40B4-BE49-F238E27FC236}">
                <a16:creationId xmlns="" xmlns:a16="http://schemas.microsoft.com/office/drawing/2014/main" id="{4009069E-CC72-41CC-8172-009F2DB0F18F}"/>
              </a:ext>
            </a:extLst>
          </p:cNvPr>
          <p:cNvSpPr txBox="1">
            <a:spLocks noChangeArrowheads="1"/>
          </p:cNvSpPr>
          <p:nvPr/>
        </p:nvSpPr>
        <p:spPr bwMode="auto">
          <a:xfrm>
            <a:off x="4169900" y="1736725"/>
            <a:ext cx="1216025" cy="396875"/>
          </a:xfrm>
          <a:prstGeom prst="rect">
            <a:avLst/>
          </a:prstGeom>
          <a:noFill/>
          <a:ln w="9525">
            <a:noFill/>
            <a:miter lim="800000"/>
            <a:headEnd/>
            <a:tailEnd/>
          </a:ln>
        </p:spPr>
        <p:txBody>
          <a:bodyPr>
            <a:spAutoFit/>
          </a:bodyPr>
          <a:lstStyle/>
          <a:p>
            <a:pPr defTabSz="914400"/>
            <a:r>
              <a:rPr lang="zh-CN" altLang="en-US" b="1">
                <a:solidFill>
                  <a:srgbClr val="0000FF"/>
                </a:solidFill>
                <a:latin typeface="黑体" pitchFamily="49" charset="-122"/>
                <a:ea typeface="黑体" pitchFamily="49" charset="-122"/>
              </a:rPr>
              <a:t>绝缘衬底</a:t>
            </a:r>
          </a:p>
        </p:txBody>
      </p:sp>
      <p:sp>
        <p:nvSpPr>
          <p:cNvPr id="87" name="TextBox 60">
            <a:extLst>
              <a:ext uri="{FF2B5EF4-FFF2-40B4-BE49-F238E27FC236}">
                <a16:creationId xmlns="" xmlns:a16="http://schemas.microsoft.com/office/drawing/2014/main" id="{95A20E11-17CB-49C1-A8E3-48C8BA44AC0A}"/>
              </a:ext>
            </a:extLst>
          </p:cNvPr>
          <p:cNvSpPr txBox="1">
            <a:spLocks noChangeArrowheads="1"/>
          </p:cNvSpPr>
          <p:nvPr/>
        </p:nvSpPr>
        <p:spPr bwMode="auto">
          <a:xfrm>
            <a:off x="2730038" y="2185988"/>
            <a:ext cx="809625" cy="396875"/>
          </a:xfrm>
          <a:prstGeom prst="rect">
            <a:avLst/>
          </a:prstGeom>
          <a:noFill/>
          <a:ln w="9525">
            <a:noFill/>
            <a:miter lim="800000"/>
            <a:headEnd/>
            <a:tailEnd/>
          </a:ln>
        </p:spPr>
        <p:txBody>
          <a:bodyPr>
            <a:spAutoFit/>
          </a:bodyPr>
          <a:lstStyle/>
          <a:p>
            <a:pPr defTabSz="914400"/>
            <a:r>
              <a:rPr lang="zh-CN" altLang="en-US" b="1">
                <a:solidFill>
                  <a:srgbClr val="0000FF"/>
                </a:solidFill>
                <a:latin typeface="黑体" pitchFamily="49" charset="-122"/>
                <a:ea typeface="黑体" pitchFamily="49" charset="-122"/>
              </a:rPr>
              <a:t>电极</a:t>
            </a:r>
          </a:p>
        </p:txBody>
      </p:sp>
      <p:sp>
        <p:nvSpPr>
          <p:cNvPr id="88" name="TextBox 61">
            <a:extLst>
              <a:ext uri="{FF2B5EF4-FFF2-40B4-BE49-F238E27FC236}">
                <a16:creationId xmlns="" xmlns:a16="http://schemas.microsoft.com/office/drawing/2014/main" id="{2EB62A35-3CEB-4D78-B20C-F10F5AEEE7CD}"/>
              </a:ext>
            </a:extLst>
          </p:cNvPr>
          <p:cNvSpPr txBox="1">
            <a:spLocks noChangeArrowheads="1"/>
          </p:cNvSpPr>
          <p:nvPr/>
        </p:nvSpPr>
        <p:spPr bwMode="auto">
          <a:xfrm>
            <a:off x="3539663" y="5116513"/>
            <a:ext cx="1485900" cy="396875"/>
          </a:xfrm>
          <a:prstGeom prst="rect">
            <a:avLst/>
          </a:prstGeom>
          <a:noFill/>
          <a:ln w="9525">
            <a:noFill/>
            <a:miter lim="800000"/>
            <a:headEnd/>
            <a:tailEnd/>
          </a:ln>
        </p:spPr>
        <p:txBody>
          <a:bodyPr>
            <a:spAutoFit/>
          </a:bodyPr>
          <a:lstStyle/>
          <a:p>
            <a:pPr defTabSz="914400"/>
            <a:r>
              <a:rPr lang="zh-CN" altLang="en-US" b="1">
                <a:solidFill>
                  <a:srgbClr val="0000FF"/>
                </a:solidFill>
                <a:latin typeface="黑体" pitchFamily="49" charset="-122"/>
                <a:ea typeface="黑体" pitchFamily="49" charset="-122"/>
              </a:rPr>
              <a:t>光电导材料</a:t>
            </a:r>
          </a:p>
        </p:txBody>
      </p:sp>
      <p:sp>
        <p:nvSpPr>
          <p:cNvPr id="89" name="TextBox 62">
            <a:extLst>
              <a:ext uri="{FF2B5EF4-FFF2-40B4-BE49-F238E27FC236}">
                <a16:creationId xmlns="" xmlns:a16="http://schemas.microsoft.com/office/drawing/2014/main" id="{2FC1B732-E79E-438E-905A-6CA76BACE644}"/>
              </a:ext>
            </a:extLst>
          </p:cNvPr>
          <p:cNvSpPr txBox="1">
            <a:spLocks noChangeArrowheads="1"/>
          </p:cNvSpPr>
          <p:nvPr/>
        </p:nvSpPr>
        <p:spPr bwMode="auto">
          <a:xfrm>
            <a:off x="5070013" y="2230438"/>
            <a:ext cx="855662" cy="396875"/>
          </a:xfrm>
          <a:prstGeom prst="rect">
            <a:avLst/>
          </a:prstGeom>
          <a:noFill/>
          <a:ln w="9525">
            <a:noFill/>
            <a:miter lim="800000"/>
            <a:headEnd/>
            <a:tailEnd/>
          </a:ln>
        </p:spPr>
        <p:txBody>
          <a:bodyPr>
            <a:spAutoFit/>
          </a:bodyPr>
          <a:lstStyle/>
          <a:p>
            <a:pPr defTabSz="914400"/>
            <a:r>
              <a:rPr lang="zh-CN" altLang="en-US" b="1">
                <a:solidFill>
                  <a:srgbClr val="0000FF"/>
                </a:solidFill>
                <a:latin typeface="黑体" pitchFamily="49" charset="-122"/>
                <a:ea typeface="黑体" pitchFamily="49" charset="-122"/>
              </a:rPr>
              <a:t>引线</a:t>
            </a:r>
          </a:p>
        </p:txBody>
      </p:sp>
      <p:sp>
        <p:nvSpPr>
          <p:cNvPr id="90" name="TextBox 63">
            <a:extLst>
              <a:ext uri="{FF2B5EF4-FFF2-40B4-BE49-F238E27FC236}">
                <a16:creationId xmlns="" xmlns:a16="http://schemas.microsoft.com/office/drawing/2014/main" id="{D9DA7A6C-12AC-424E-B833-AACD0732F63D}"/>
              </a:ext>
            </a:extLst>
          </p:cNvPr>
          <p:cNvSpPr txBox="1">
            <a:spLocks noChangeArrowheads="1"/>
          </p:cNvSpPr>
          <p:nvPr/>
        </p:nvSpPr>
        <p:spPr bwMode="auto">
          <a:xfrm>
            <a:off x="2639550" y="4525963"/>
            <a:ext cx="855663" cy="396875"/>
          </a:xfrm>
          <a:prstGeom prst="rect">
            <a:avLst/>
          </a:prstGeom>
          <a:noFill/>
          <a:ln w="9525">
            <a:noFill/>
            <a:miter lim="800000"/>
            <a:headEnd/>
            <a:tailEnd/>
          </a:ln>
        </p:spPr>
        <p:txBody>
          <a:bodyPr>
            <a:spAutoFit/>
          </a:bodyPr>
          <a:lstStyle/>
          <a:p>
            <a:pPr defTabSz="914400"/>
            <a:r>
              <a:rPr lang="zh-CN" altLang="en-US" b="1">
                <a:solidFill>
                  <a:srgbClr val="0000FF"/>
                </a:solidFill>
                <a:latin typeface="黑体" pitchFamily="49" charset="-122"/>
                <a:ea typeface="黑体" pitchFamily="49" charset="-122"/>
              </a:rPr>
              <a:t>引线</a:t>
            </a:r>
          </a:p>
        </p:txBody>
      </p:sp>
      <p:grpSp>
        <p:nvGrpSpPr>
          <p:cNvPr id="91" name="组合 90"/>
          <p:cNvGrpSpPr/>
          <p:nvPr/>
        </p:nvGrpSpPr>
        <p:grpSpPr>
          <a:xfrm>
            <a:off x="10337881" y="293282"/>
            <a:ext cx="2823365" cy="523220"/>
            <a:chOff x="10337881" y="293282"/>
            <a:chExt cx="2823365" cy="523220"/>
          </a:xfrm>
        </p:grpSpPr>
        <p:sp>
          <p:nvSpPr>
            <p:cNvPr id="92" name="矩形 91"/>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93" name="矩形 92">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95" name="文本框 60">
            <a:extLst>
              <a:ext uri="{FF2B5EF4-FFF2-40B4-BE49-F238E27FC236}">
                <a16:creationId xmlns="" xmlns:a16="http://schemas.microsoft.com/office/drawing/2014/main" id="{E95B3BCB-66D9-438A-B75C-E553D1F7998C}"/>
              </a:ext>
            </a:extLst>
          </p:cNvPr>
          <p:cNvSpPr txBox="1"/>
          <p:nvPr/>
        </p:nvSpPr>
        <p:spPr>
          <a:xfrm>
            <a:off x="1463505" y="293282"/>
            <a:ext cx="2575095"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光敏电阻的基本结构 </a:t>
            </a:r>
          </a:p>
        </p:txBody>
      </p:sp>
      <p:cxnSp>
        <p:nvCxnSpPr>
          <p:cNvPr id="96" name="直接连接符 58">
            <a:extLst>
              <a:ext uri="{FF2B5EF4-FFF2-40B4-BE49-F238E27FC236}">
                <a16:creationId xmlns="" xmlns:a16="http://schemas.microsoft.com/office/drawing/2014/main" id="{DC87CC66-5DF2-44F8-982C-9CC70BAB8070}"/>
              </a:ext>
            </a:extLst>
          </p:cNvPr>
          <p:cNvCxnSpPr>
            <a:cxnSpLocks/>
          </p:cNvCxnSpPr>
          <p:nvPr/>
        </p:nvCxnSpPr>
        <p:spPr>
          <a:xfrm>
            <a:off x="1450506" y="710998"/>
            <a:ext cx="2520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pic>
        <p:nvPicPr>
          <p:cNvPr id="97" name="图片 96" descr="光敏电阻.jpg">
            <a:extLst>
              <a:ext uri="{FF2B5EF4-FFF2-40B4-BE49-F238E27FC236}">
                <a16:creationId xmlns="" xmlns:a16="http://schemas.microsoft.com/office/drawing/2014/main" id="{44645C09-6E3B-4A51-81B6-161925D4263A}"/>
              </a:ext>
            </a:extLst>
          </p:cNvPr>
          <p:cNvPicPr>
            <a:picLocks noChangeAspect="1"/>
          </p:cNvPicPr>
          <p:nvPr/>
        </p:nvPicPr>
        <p:blipFill>
          <a:blip r:embed="rId34" cstate="print"/>
          <a:srcRect/>
          <a:stretch>
            <a:fillRect/>
          </a:stretch>
        </p:blipFill>
        <p:spPr bwMode="auto">
          <a:xfrm>
            <a:off x="172712" y="2682876"/>
            <a:ext cx="2460488" cy="1951934"/>
          </a:xfrm>
          <a:prstGeom prst="rect">
            <a:avLst/>
          </a:prstGeom>
          <a:noFill/>
          <a:ln w="9525">
            <a:noFill/>
            <a:miter lim="800000"/>
            <a:headEnd/>
            <a:tailEnd/>
          </a:ln>
        </p:spPr>
      </p:pic>
      <p:pic>
        <p:nvPicPr>
          <p:cNvPr id="98" name="图片 97" descr="金属封装gm.jpg">
            <a:extLst>
              <a:ext uri="{FF2B5EF4-FFF2-40B4-BE49-F238E27FC236}">
                <a16:creationId xmlns="" xmlns:a16="http://schemas.microsoft.com/office/drawing/2014/main" id="{322A91BB-008C-4DF2-BFCD-BEAE76134FE0}"/>
              </a:ext>
            </a:extLst>
          </p:cNvPr>
          <p:cNvPicPr>
            <a:picLocks noChangeAspect="1"/>
          </p:cNvPicPr>
          <p:nvPr/>
        </p:nvPicPr>
        <p:blipFill>
          <a:blip r:embed="rId35" cstate="print"/>
          <a:srcRect/>
          <a:stretch>
            <a:fillRect/>
          </a:stretch>
        </p:blipFill>
        <p:spPr bwMode="auto">
          <a:xfrm>
            <a:off x="11100925" y="2681288"/>
            <a:ext cx="2412074" cy="1953522"/>
          </a:xfrm>
          <a:prstGeom prst="rect">
            <a:avLst/>
          </a:prstGeom>
          <a:noFill/>
          <a:ln w="9525">
            <a:noFill/>
            <a:miter lim="800000"/>
            <a:headEnd/>
            <a:tailEnd/>
          </a:ln>
        </p:spPr>
      </p:pic>
      <p:sp>
        <p:nvSpPr>
          <p:cNvPr id="99" name="Text Box 4">
            <a:extLst>
              <a:ext uri="{FF2B5EF4-FFF2-40B4-BE49-F238E27FC236}">
                <a16:creationId xmlns="" xmlns:a16="http://schemas.microsoft.com/office/drawing/2014/main" id="{8081435E-8C55-46A3-969C-D6EFB83F9E95}"/>
              </a:ext>
            </a:extLst>
          </p:cNvPr>
          <p:cNvSpPr txBox="1">
            <a:spLocks noChangeAspect="1" noChangeArrowheads="1"/>
          </p:cNvSpPr>
          <p:nvPr/>
        </p:nvSpPr>
        <p:spPr bwMode="auto">
          <a:xfrm>
            <a:off x="618194" y="4922838"/>
            <a:ext cx="1436687" cy="533400"/>
          </a:xfrm>
          <a:prstGeom prst="rect">
            <a:avLst/>
          </a:prstGeom>
          <a:solidFill>
            <a:srgbClr val="FFFFFF"/>
          </a:solidFill>
          <a:ln w="9525">
            <a:noFill/>
            <a:miter lim="800000"/>
            <a:headEnd/>
            <a:tailEnd/>
          </a:ln>
        </p:spPr>
        <p:txBody>
          <a:bodyPr lIns="0" tIns="0" rIns="0" bIns="0"/>
          <a:lstStyle/>
          <a:p>
            <a:pPr algn="ctr" defTabSz="914400"/>
            <a:r>
              <a:rPr lang="zh-CN" altLang="en-US" sz="2400" b="1" dirty="0">
                <a:latin typeface="微软雅黑" pitchFamily="34" charset="-122"/>
                <a:ea typeface="微软雅黑" pitchFamily="34" charset="-122"/>
                <a:cs typeface="Times New Roman" pitchFamily="18" charset="0"/>
              </a:rPr>
              <a:t>实物图</a:t>
            </a:r>
            <a:endParaRPr lang="zh-CN" altLang="en-US" sz="7200" b="1" dirty="0">
              <a:latin typeface="微软雅黑" pitchFamily="34" charset="-122"/>
              <a:ea typeface="微软雅黑" pitchFamily="34" charset="-122"/>
              <a:cs typeface="Times New Roman" pitchFamily="18" charset="0"/>
            </a:endParaRPr>
          </a:p>
        </p:txBody>
      </p:sp>
      <p:sp>
        <p:nvSpPr>
          <p:cNvPr id="100" name="Text Box 4">
            <a:extLst>
              <a:ext uri="{FF2B5EF4-FFF2-40B4-BE49-F238E27FC236}">
                <a16:creationId xmlns="" xmlns:a16="http://schemas.microsoft.com/office/drawing/2014/main" id="{8081435E-8C55-46A3-969C-D6EFB83F9E95}"/>
              </a:ext>
            </a:extLst>
          </p:cNvPr>
          <p:cNvSpPr txBox="1">
            <a:spLocks noChangeAspect="1" noChangeArrowheads="1"/>
          </p:cNvSpPr>
          <p:nvPr/>
        </p:nvSpPr>
        <p:spPr bwMode="auto">
          <a:xfrm>
            <a:off x="11542719" y="4922838"/>
            <a:ext cx="1436687" cy="533400"/>
          </a:xfrm>
          <a:prstGeom prst="rect">
            <a:avLst/>
          </a:prstGeom>
          <a:solidFill>
            <a:srgbClr val="FFFFFF"/>
          </a:solidFill>
          <a:ln w="9525">
            <a:noFill/>
            <a:miter lim="800000"/>
            <a:headEnd/>
            <a:tailEnd/>
          </a:ln>
        </p:spPr>
        <p:txBody>
          <a:bodyPr lIns="0" tIns="0" rIns="0" bIns="0"/>
          <a:lstStyle/>
          <a:p>
            <a:pPr algn="ctr" defTabSz="914400"/>
            <a:r>
              <a:rPr lang="zh-CN" altLang="en-US" sz="2400" b="1" dirty="0">
                <a:latin typeface="微软雅黑" pitchFamily="34" charset="-122"/>
                <a:ea typeface="微软雅黑" pitchFamily="34" charset="-122"/>
                <a:cs typeface="Times New Roman" pitchFamily="18" charset="0"/>
              </a:rPr>
              <a:t>实物图</a:t>
            </a:r>
            <a:endParaRPr lang="zh-CN" altLang="en-US" sz="7200" b="1" dirty="0">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361544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ox(i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box(in)">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box(in)">
                                      <p:cBhvr>
                                        <p:cTn id="17" dur="500"/>
                                        <p:tgtEl>
                                          <p:spTgt spid="6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box(in)">
                                      <p:cBhvr>
                                        <p:cTn id="22" dur="5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box(in)">
                                      <p:cBhvr>
                                        <p:cTn id="27" dur="500"/>
                                        <p:tgtEl>
                                          <p:spTgt spid="6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ox(in)">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box(in)">
                                      <p:cBhvr>
                                        <p:cTn id="37" dur="5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box(in)">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box(in)">
                                      <p:cBhvr>
                                        <p:cTn id="47" dur="500"/>
                                        <p:tgtEl>
                                          <p:spTgt spid="55"/>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69"/>
                                        </p:tgtEl>
                                        <p:attrNameLst>
                                          <p:attrName>style.visibility</p:attrName>
                                        </p:attrNameLst>
                                      </p:cBhvr>
                                      <p:to>
                                        <p:strVal val="visible"/>
                                      </p:to>
                                    </p:set>
                                    <p:animEffect transition="in" filter="box(in)">
                                      <p:cBhvr>
                                        <p:cTn id="52" dur="500"/>
                                        <p:tgtEl>
                                          <p:spTgt spid="69"/>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70"/>
                                        </p:tgtEl>
                                        <p:attrNameLst>
                                          <p:attrName>style.visibility</p:attrName>
                                        </p:attrNameLst>
                                      </p:cBhvr>
                                      <p:to>
                                        <p:strVal val="visible"/>
                                      </p:to>
                                    </p:set>
                                    <p:animEffect transition="in" filter="box(in)">
                                      <p:cBhvr>
                                        <p:cTn id="55" dur="500"/>
                                        <p:tgtEl>
                                          <p:spTgt spid="70"/>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nodeType="click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box(in)">
                                      <p:cBhvr>
                                        <p:cTn id="60" dur="500"/>
                                        <p:tgtEl>
                                          <p:spTgt spid="48"/>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nodeType="click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box(in)">
                                      <p:cBhvr>
                                        <p:cTn id="65" dur="500"/>
                                        <p:tgtEl>
                                          <p:spTgt spid="58"/>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grpId="0" nodeType="clickEffect">
                                  <p:stCondLst>
                                    <p:cond delay="0"/>
                                  </p:stCondLst>
                                  <p:childTnLst>
                                    <p:set>
                                      <p:cBhvr>
                                        <p:cTn id="69" dur="1" fill="hold">
                                          <p:stCondLst>
                                            <p:cond delay="0"/>
                                          </p:stCondLst>
                                        </p:cTn>
                                        <p:tgtEl>
                                          <p:spTgt spid="72"/>
                                        </p:tgtEl>
                                        <p:attrNameLst>
                                          <p:attrName>style.visibility</p:attrName>
                                        </p:attrNameLst>
                                      </p:cBhvr>
                                      <p:to>
                                        <p:strVal val="visible"/>
                                      </p:to>
                                    </p:set>
                                    <p:animEffect transition="in" filter="box(in)">
                                      <p:cBhvr>
                                        <p:cTn id="70" dur="500"/>
                                        <p:tgtEl>
                                          <p:spTgt spid="72"/>
                                        </p:tgtEl>
                                      </p:cBhvr>
                                    </p:animEffect>
                                  </p:childTnLst>
                                </p:cTn>
                              </p:par>
                              <p:par>
                                <p:cTn id="71" presetID="4" presetClass="entr" presetSubtype="16" fill="hold" grpId="0" nodeType="withEffect">
                                  <p:stCondLst>
                                    <p:cond delay="0"/>
                                  </p:stCondLst>
                                  <p:childTnLst>
                                    <p:set>
                                      <p:cBhvr>
                                        <p:cTn id="72" dur="1" fill="hold">
                                          <p:stCondLst>
                                            <p:cond delay="0"/>
                                          </p:stCondLst>
                                        </p:cTn>
                                        <p:tgtEl>
                                          <p:spTgt spid="73"/>
                                        </p:tgtEl>
                                        <p:attrNameLst>
                                          <p:attrName>style.visibility</p:attrName>
                                        </p:attrNameLst>
                                      </p:cBhvr>
                                      <p:to>
                                        <p:strVal val="visible"/>
                                      </p:to>
                                    </p:set>
                                    <p:animEffect transition="in" filter="box(in)">
                                      <p:cBhvr>
                                        <p:cTn id="73" dur="500"/>
                                        <p:tgtEl>
                                          <p:spTgt spid="73"/>
                                        </p:tgtEl>
                                      </p:cBhvr>
                                    </p:animEffect>
                                  </p:childTnLst>
                                </p:cTn>
                              </p:par>
                            </p:childTnLst>
                          </p:cTn>
                        </p:par>
                      </p:childTnLst>
                    </p:cTn>
                  </p:par>
                  <p:par>
                    <p:cTn id="74" fill="hold">
                      <p:stCondLst>
                        <p:cond delay="indefinite"/>
                      </p:stCondLst>
                      <p:childTnLst>
                        <p:par>
                          <p:cTn id="75" fill="hold">
                            <p:stCondLst>
                              <p:cond delay="0"/>
                            </p:stCondLst>
                            <p:childTnLst>
                              <p:par>
                                <p:cTn id="76" presetID="4" presetClass="entr" presetSubtype="16" fill="hold" grpId="0" nodeType="clickEffect">
                                  <p:stCondLst>
                                    <p:cond delay="0"/>
                                  </p:stCondLst>
                                  <p:childTnLst>
                                    <p:set>
                                      <p:cBhvr>
                                        <p:cTn id="77" dur="1" fill="hold">
                                          <p:stCondLst>
                                            <p:cond delay="0"/>
                                          </p:stCondLst>
                                        </p:cTn>
                                        <p:tgtEl>
                                          <p:spTgt spid="75"/>
                                        </p:tgtEl>
                                        <p:attrNameLst>
                                          <p:attrName>style.visibility</p:attrName>
                                        </p:attrNameLst>
                                      </p:cBhvr>
                                      <p:to>
                                        <p:strVal val="visible"/>
                                      </p:to>
                                    </p:set>
                                    <p:animEffect transition="in" filter="box(in)">
                                      <p:cBhvr>
                                        <p:cTn id="78" dur="500"/>
                                        <p:tgtEl>
                                          <p:spTgt spid="75"/>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77"/>
                                        </p:tgtEl>
                                        <p:attrNameLst>
                                          <p:attrName>style.visibility</p:attrName>
                                        </p:attrNameLst>
                                      </p:cBhvr>
                                      <p:to>
                                        <p:strVal val="visible"/>
                                      </p:to>
                                    </p:set>
                                    <p:animEffect transition="in" filter="blinds(horizontal)">
                                      <p:cBhvr>
                                        <p:cTn id="83" dur="500"/>
                                        <p:tgtEl>
                                          <p:spTgt spid="77"/>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76"/>
                                        </p:tgtEl>
                                        <p:attrNameLst>
                                          <p:attrName>style.visibility</p:attrName>
                                        </p:attrNameLst>
                                      </p:cBhvr>
                                      <p:to>
                                        <p:strVal val="visible"/>
                                      </p:to>
                                    </p:set>
                                    <p:animEffect transition="in" filter="blinds(horizontal)">
                                      <p:cBhvr>
                                        <p:cTn id="86" dur="500"/>
                                        <p:tgtEl>
                                          <p:spTgt spid="76"/>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82"/>
                                        </p:tgtEl>
                                        <p:attrNameLst>
                                          <p:attrName>style.visibility</p:attrName>
                                        </p:attrNameLst>
                                      </p:cBhvr>
                                      <p:to>
                                        <p:strVal val="visible"/>
                                      </p:to>
                                    </p:set>
                                    <p:animEffect transition="in" filter="blinds(horizontal)">
                                      <p:cBhvr>
                                        <p:cTn id="91" dur="500"/>
                                        <p:tgtEl>
                                          <p:spTgt spid="82"/>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86"/>
                                        </p:tgtEl>
                                        <p:attrNameLst>
                                          <p:attrName>style.visibility</p:attrName>
                                        </p:attrNameLst>
                                      </p:cBhvr>
                                      <p:to>
                                        <p:strVal val="visible"/>
                                      </p:to>
                                    </p:set>
                                    <p:animEffect transition="in" filter="blinds(horizontal)">
                                      <p:cBhvr>
                                        <p:cTn id="96" dur="500"/>
                                        <p:tgtEl>
                                          <p:spTgt spid="86"/>
                                        </p:tgtEl>
                                      </p:cBhvr>
                                    </p:animEffec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74"/>
                                        </p:tgtEl>
                                        <p:attrNameLst>
                                          <p:attrName>style.visibility</p:attrName>
                                        </p:attrNameLst>
                                      </p:cBhvr>
                                      <p:to>
                                        <p:strVal val="visible"/>
                                      </p:to>
                                    </p:set>
                                    <p:anim calcmode="lin" valueType="num">
                                      <p:cBhvr additive="base">
                                        <p:cTn id="101" dur="500" fill="hold"/>
                                        <p:tgtEl>
                                          <p:spTgt spid="74"/>
                                        </p:tgtEl>
                                        <p:attrNameLst>
                                          <p:attrName>ppt_x</p:attrName>
                                        </p:attrNameLst>
                                      </p:cBhvr>
                                      <p:tavLst>
                                        <p:tav tm="0">
                                          <p:val>
                                            <p:strVal val="#ppt_x"/>
                                          </p:val>
                                        </p:tav>
                                        <p:tav tm="100000">
                                          <p:val>
                                            <p:strVal val="#ppt_x"/>
                                          </p:val>
                                        </p:tav>
                                      </p:tavLst>
                                    </p:anim>
                                    <p:anim calcmode="lin" valueType="num">
                                      <p:cBhvr additive="base">
                                        <p:cTn id="102"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83"/>
                                        </p:tgtEl>
                                        <p:attrNameLst>
                                          <p:attrName>style.visibility</p:attrName>
                                        </p:attrNameLst>
                                      </p:cBhvr>
                                      <p:to>
                                        <p:strVal val="visible"/>
                                      </p:to>
                                    </p:set>
                                    <p:animEffect transition="in" filter="blinds(horizontal)">
                                      <p:cBhvr>
                                        <p:cTn id="107" dur="500"/>
                                        <p:tgtEl>
                                          <p:spTgt spid="83"/>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87"/>
                                        </p:tgtEl>
                                        <p:attrNameLst>
                                          <p:attrName>style.visibility</p:attrName>
                                        </p:attrNameLst>
                                      </p:cBhvr>
                                      <p:to>
                                        <p:strVal val="visible"/>
                                      </p:to>
                                    </p:set>
                                    <p:animEffect transition="in" filter="blinds(horizontal)">
                                      <p:cBhvr>
                                        <p:cTn id="112" dur="500"/>
                                        <p:tgtEl>
                                          <p:spTgt spid="87"/>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78"/>
                                        </p:tgtEl>
                                        <p:attrNameLst>
                                          <p:attrName>style.visibility</p:attrName>
                                        </p:attrNameLst>
                                      </p:cBhvr>
                                      <p:to>
                                        <p:strVal val="visible"/>
                                      </p:to>
                                    </p:set>
                                    <p:anim calcmode="lin" valueType="num">
                                      <p:cBhvr additive="base">
                                        <p:cTn id="117" dur="500" fill="hold"/>
                                        <p:tgtEl>
                                          <p:spTgt spid="78"/>
                                        </p:tgtEl>
                                        <p:attrNameLst>
                                          <p:attrName>ppt_x</p:attrName>
                                        </p:attrNameLst>
                                      </p:cBhvr>
                                      <p:tavLst>
                                        <p:tav tm="0">
                                          <p:val>
                                            <p:strVal val="#ppt_x"/>
                                          </p:val>
                                        </p:tav>
                                        <p:tav tm="100000">
                                          <p:val>
                                            <p:strVal val="#ppt_x"/>
                                          </p:val>
                                        </p:tav>
                                      </p:tavLst>
                                    </p:anim>
                                    <p:anim calcmode="lin" valueType="num">
                                      <p:cBhvr additive="base">
                                        <p:cTn id="11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nodeType="clickEffect">
                                  <p:stCondLst>
                                    <p:cond delay="0"/>
                                  </p:stCondLst>
                                  <p:childTnLst>
                                    <p:set>
                                      <p:cBhvr>
                                        <p:cTn id="122" dur="1" fill="hold">
                                          <p:stCondLst>
                                            <p:cond delay="0"/>
                                          </p:stCondLst>
                                        </p:cTn>
                                        <p:tgtEl>
                                          <p:spTgt spid="85"/>
                                        </p:tgtEl>
                                        <p:attrNameLst>
                                          <p:attrName>style.visibility</p:attrName>
                                        </p:attrNameLst>
                                      </p:cBhvr>
                                      <p:to>
                                        <p:strVal val="visible"/>
                                      </p:to>
                                    </p:set>
                                    <p:animEffect transition="in" filter="blinds(horizontal)">
                                      <p:cBhvr>
                                        <p:cTn id="123" dur="500"/>
                                        <p:tgtEl>
                                          <p:spTgt spid="85"/>
                                        </p:tgtEl>
                                      </p:cBhvr>
                                    </p:animEffec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grpId="0" nodeType="clickEffect">
                                  <p:stCondLst>
                                    <p:cond delay="0"/>
                                  </p:stCondLst>
                                  <p:childTnLst>
                                    <p:set>
                                      <p:cBhvr>
                                        <p:cTn id="127" dur="1" fill="hold">
                                          <p:stCondLst>
                                            <p:cond delay="0"/>
                                          </p:stCondLst>
                                        </p:cTn>
                                        <p:tgtEl>
                                          <p:spTgt spid="88"/>
                                        </p:tgtEl>
                                        <p:attrNameLst>
                                          <p:attrName>style.visibility</p:attrName>
                                        </p:attrNameLst>
                                      </p:cBhvr>
                                      <p:to>
                                        <p:strVal val="visible"/>
                                      </p:to>
                                    </p:set>
                                    <p:animEffect transition="in" filter="blinds(horizontal)">
                                      <p:cBhvr>
                                        <p:cTn id="128" dur="500"/>
                                        <p:tgtEl>
                                          <p:spTgt spid="88"/>
                                        </p:tgtEl>
                                      </p:cBhvr>
                                    </p:animEffect>
                                  </p:childTnLst>
                                </p:cTn>
                              </p:par>
                            </p:childTnLst>
                          </p:cTn>
                        </p:par>
                      </p:childTnLst>
                    </p:cTn>
                  </p:par>
                  <p:par>
                    <p:cTn id="129" fill="hold">
                      <p:stCondLst>
                        <p:cond delay="indefinite"/>
                      </p:stCondLst>
                      <p:childTnLst>
                        <p:par>
                          <p:cTn id="130" fill="hold">
                            <p:stCondLst>
                              <p:cond delay="0"/>
                            </p:stCondLst>
                            <p:childTnLst>
                              <p:par>
                                <p:cTn id="131" presetID="3" presetClass="entr" presetSubtype="10" fill="hold" nodeType="clickEffect">
                                  <p:stCondLst>
                                    <p:cond delay="0"/>
                                  </p:stCondLst>
                                  <p:childTnLst>
                                    <p:set>
                                      <p:cBhvr>
                                        <p:cTn id="132" dur="1" fill="hold">
                                          <p:stCondLst>
                                            <p:cond delay="0"/>
                                          </p:stCondLst>
                                        </p:cTn>
                                        <p:tgtEl>
                                          <p:spTgt spid="79"/>
                                        </p:tgtEl>
                                        <p:attrNameLst>
                                          <p:attrName>style.visibility</p:attrName>
                                        </p:attrNameLst>
                                      </p:cBhvr>
                                      <p:to>
                                        <p:strVal val="visible"/>
                                      </p:to>
                                    </p:set>
                                    <p:animEffect transition="in" filter="blinds(horizontal)">
                                      <p:cBhvr>
                                        <p:cTn id="133" dur="500"/>
                                        <p:tgtEl>
                                          <p:spTgt spid="79"/>
                                        </p:tgtEl>
                                      </p:cBhvr>
                                    </p:animEffect>
                                  </p:childTnLst>
                                </p:cTn>
                              </p:par>
                              <p:par>
                                <p:cTn id="134" presetID="3" presetClass="entr" presetSubtype="10" fill="hold" nodeType="withEffect">
                                  <p:stCondLst>
                                    <p:cond delay="0"/>
                                  </p:stCondLst>
                                  <p:childTnLst>
                                    <p:set>
                                      <p:cBhvr>
                                        <p:cTn id="135" dur="1" fill="hold">
                                          <p:stCondLst>
                                            <p:cond delay="0"/>
                                          </p:stCondLst>
                                        </p:cTn>
                                        <p:tgtEl>
                                          <p:spTgt spid="80"/>
                                        </p:tgtEl>
                                        <p:attrNameLst>
                                          <p:attrName>style.visibility</p:attrName>
                                        </p:attrNameLst>
                                      </p:cBhvr>
                                      <p:to>
                                        <p:strVal val="visible"/>
                                      </p:to>
                                    </p:set>
                                    <p:animEffect transition="in" filter="blinds(horizontal)">
                                      <p:cBhvr>
                                        <p:cTn id="136" dur="500"/>
                                        <p:tgtEl>
                                          <p:spTgt spid="80"/>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nodeType="clickEffect">
                                  <p:stCondLst>
                                    <p:cond delay="0"/>
                                  </p:stCondLst>
                                  <p:childTnLst>
                                    <p:set>
                                      <p:cBhvr>
                                        <p:cTn id="140" dur="1" fill="hold">
                                          <p:stCondLst>
                                            <p:cond delay="0"/>
                                          </p:stCondLst>
                                        </p:cTn>
                                        <p:tgtEl>
                                          <p:spTgt spid="84"/>
                                        </p:tgtEl>
                                        <p:attrNameLst>
                                          <p:attrName>style.visibility</p:attrName>
                                        </p:attrNameLst>
                                      </p:cBhvr>
                                      <p:to>
                                        <p:strVal val="visible"/>
                                      </p:to>
                                    </p:set>
                                    <p:animEffect transition="in" filter="blinds(horizontal)">
                                      <p:cBhvr>
                                        <p:cTn id="141" dur="500"/>
                                        <p:tgtEl>
                                          <p:spTgt spid="84"/>
                                        </p:tgtEl>
                                      </p:cBhvr>
                                    </p:animEffect>
                                  </p:childTnLst>
                                </p:cTn>
                              </p:par>
                              <p:par>
                                <p:cTn id="142" presetID="3" presetClass="entr" presetSubtype="10" fill="hold" nodeType="withEffect">
                                  <p:stCondLst>
                                    <p:cond delay="0"/>
                                  </p:stCondLst>
                                  <p:childTnLst>
                                    <p:set>
                                      <p:cBhvr>
                                        <p:cTn id="143" dur="1" fill="hold">
                                          <p:stCondLst>
                                            <p:cond delay="0"/>
                                          </p:stCondLst>
                                        </p:cTn>
                                        <p:tgtEl>
                                          <p:spTgt spid="81"/>
                                        </p:tgtEl>
                                        <p:attrNameLst>
                                          <p:attrName>style.visibility</p:attrName>
                                        </p:attrNameLst>
                                      </p:cBhvr>
                                      <p:to>
                                        <p:strVal val="visible"/>
                                      </p:to>
                                    </p:set>
                                    <p:animEffect transition="in" filter="blinds(horizontal)">
                                      <p:cBhvr>
                                        <p:cTn id="144" dur="500"/>
                                        <p:tgtEl>
                                          <p:spTgt spid="81"/>
                                        </p:tgtEl>
                                      </p:cBhvr>
                                    </p:animEffect>
                                  </p:childTnLst>
                                </p:cTn>
                              </p:par>
                            </p:childTnLst>
                          </p:cTn>
                        </p:par>
                      </p:childTnLst>
                    </p:cTn>
                  </p:par>
                  <p:par>
                    <p:cTn id="145" fill="hold">
                      <p:stCondLst>
                        <p:cond delay="indefinite"/>
                      </p:stCondLst>
                      <p:childTnLst>
                        <p:par>
                          <p:cTn id="146" fill="hold">
                            <p:stCondLst>
                              <p:cond delay="0"/>
                            </p:stCondLst>
                            <p:childTnLst>
                              <p:par>
                                <p:cTn id="147" presetID="3" presetClass="entr" presetSubtype="10" fill="hold" grpId="0" nodeType="clickEffect">
                                  <p:stCondLst>
                                    <p:cond delay="0"/>
                                  </p:stCondLst>
                                  <p:childTnLst>
                                    <p:set>
                                      <p:cBhvr>
                                        <p:cTn id="148" dur="1" fill="hold">
                                          <p:stCondLst>
                                            <p:cond delay="0"/>
                                          </p:stCondLst>
                                        </p:cTn>
                                        <p:tgtEl>
                                          <p:spTgt spid="90"/>
                                        </p:tgtEl>
                                        <p:attrNameLst>
                                          <p:attrName>style.visibility</p:attrName>
                                        </p:attrNameLst>
                                      </p:cBhvr>
                                      <p:to>
                                        <p:strVal val="visible"/>
                                      </p:to>
                                    </p:set>
                                    <p:animEffect transition="in" filter="blinds(horizontal)">
                                      <p:cBhvr>
                                        <p:cTn id="149" dur="500"/>
                                        <p:tgtEl>
                                          <p:spTgt spid="90"/>
                                        </p:tgtEl>
                                      </p:cBhvr>
                                    </p:animEffect>
                                  </p:childTnLst>
                                </p:cTn>
                              </p:par>
                              <p:par>
                                <p:cTn id="150" presetID="3" presetClass="entr" presetSubtype="10" fill="hold" grpId="0" nodeType="withEffect">
                                  <p:stCondLst>
                                    <p:cond delay="0"/>
                                  </p:stCondLst>
                                  <p:childTnLst>
                                    <p:set>
                                      <p:cBhvr>
                                        <p:cTn id="151" dur="1" fill="hold">
                                          <p:stCondLst>
                                            <p:cond delay="0"/>
                                          </p:stCondLst>
                                        </p:cTn>
                                        <p:tgtEl>
                                          <p:spTgt spid="89"/>
                                        </p:tgtEl>
                                        <p:attrNameLst>
                                          <p:attrName>style.visibility</p:attrName>
                                        </p:attrNameLst>
                                      </p:cBhvr>
                                      <p:to>
                                        <p:strVal val="visible"/>
                                      </p:to>
                                    </p:set>
                                    <p:animEffect transition="in" filter="blinds(horizontal)">
                                      <p:cBhvr>
                                        <p:cTn id="152" dur="500"/>
                                        <p:tgtEl>
                                          <p:spTgt spid="89"/>
                                        </p:tgtEl>
                                      </p:cBhvr>
                                    </p:animEffect>
                                  </p:childTnLst>
                                </p:cTn>
                              </p:par>
                            </p:childTnLst>
                          </p:cTn>
                        </p:par>
                      </p:childTnLst>
                    </p:cTn>
                  </p:par>
                  <p:par>
                    <p:cTn id="153" fill="hold">
                      <p:stCondLst>
                        <p:cond delay="indefinite"/>
                      </p:stCondLst>
                      <p:childTnLst>
                        <p:par>
                          <p:cTn id="154" fill="hold">
                            <p:stCondLst>
                              <p:cond delay="0"/>
                            </p:stCondLst>
                            <p:childTnLst>
                              <p:par>
                                <p:cTn id="155" presetID="4" presetClass="entr" presetSubtype="16" fill="hold" nodeType="clickEffect">
                                  <p:stCondLst>
                                    <p:cond delay="0"/>
                                  </p:stCondLst>
                                  <p:childTnLst>
                                    <p:set>
                                      <p:cBhvr>
                                        <p:cTn id="156" dur="1" fill="hold">
                                          <p:stCondLst>
                                            <p:cond delay="0"/>
                                          </p:stCondLst>
                                        </p:cTn>
                                        <p:tgtEl>
                                          <p:spTgt spid="97"/>
                                        </p:tgtEl>
                                        <p:attrNameLst>
                                          <p:attrName>style.visibility</p:attrName>
                                        </p:attrNameLst>
                                      </p:cBhvr>
                                      <p:to>
                                        <p:strVal val="visible"/>
                                      </p:to>
                                    </p:set>
                                    <p:animEffect transition="in" filter="box(in)">
                                      <p:cBhvr>
                                        <p:cTn id="157" dur="500"/>
                                        <p:tgtEl>
                                          <p:spTgt spid="97"/>
                                        </p:tgtEl>
                                      </p:cBhvr>
                                    </p:animEffect>
                                  </p:childTnLst>
                                </p:cTn>
                              </p:par>
                            </p:childTnLst>
                          </p:cTn>
                        </p:par>
                      </p:childTnLst>
                    </p:cTn>
                  </p:par>
                  <p:par>
                    <p:cTn id="158" fill="hold">
                      <p:stCondLst>
                        <p:cond delay="indefinite"/>
                      </p:stCondLst>
                      <p:childTnLst>
                        <p:par>
                          <p:cTn id="159" fill="hold">
                            <p:stCondLst>
                              <p:cond delay="0"/>
                            </p:stCondLst>
                            <p:childTnLst>
                              <p:par>
                                <p:cTn id="160" presetID="4" presetClass="entr" presetSubtype="16" fill="hold" nodeType="clickEffect">
                                  <p:stCondLst>
                                    <p:cond delay="0"/>
                                  </p:stCondLst>
                                  <p:childTnLst>
                                    <p:set>
                                      <p:cBhvr>
                                        <p:cTn id="161" dur="1" fill="hold">
                                          <p:stCondLst>
                                            <p:cond delay="0"/>
                                          </p:stCondLst>
                                        </p:cTn>
                                        <p:tgtEl>
                                          <p:spTgt spid="98"/>
                                        </p:tgtEl>
                                        <p:attrNameLst>
                                          <p:attrName>style.visibility</p:attrName>
                                        </p:attrNameLst>
                                      </p:cBhvr>
                                      <p:to>
                                        <p:strVal val="visible"/>
                                      </p:to>
                                    </p:set>
                                    <p:animEffect transition="in" filter="box(in)">
                                      <p:cBhvr>
                                        <p:cTn id="162" dur="500"/>
                                        <p:tgtEl>
                                          <p:spTgt spid="98"/>
                                        </p:tgtEl>
                                      </p:cBhvr>
                                    </p:animEffect>
                                  </p:childTnLst>
                                </p:cTn>
                              </p:par>
                            </p:childTnLst>
                          </p:cTn>
                        </p:par>
                      </p:childTnLst>
                    </p:cTn>
                  </p:par>
                  <p:par>
                    <p:cTn id="163" fill="hold">
                      <p:stCondLst>
                        <p:cond delay="indefinite"/>
                      </p:stCondLst>
                      <p:childTnLst>
                        <p:par>
                          <p:cTn id="164" fill="hold">
                            <p:stCondLst>
                              <p:cond delay="0"/>
                            </p:stCondLst>
                            <p:childTnLst>
                              <p:par>
                                <p:cTn id="165" presetID="4" presetClass="entr" presetSubtype="16" fill="hold" grpId="0" nodeType="clickEffect">
                                  <p:stCondLst>
                                    <p:cond delay="0"/>
                                  </p:stCondLst>
                                  <p:childTnLst>
                                    <p:set>
                                      <p:cBhvr>
                                        <p:cTn id="166" dur="1" fill="hold">
                                          <p:stCondLst>
                                            <p:cond delay="0"/>
                                          </p:stCondLst>
                                        </p:cTn>
                                        <p:tgtEl>
                                          <p:spTgt spid="99"/>
                                        </p:tgtEl>
                                        <p:attrNameLst>
                                          <p:attrName>style.visibility</p:attrName>
                                        </p:attrNameLst>
                                      </p:cBhvr>
                                      <p:to>
                                        <p:strVal val="visible"/>
                                      </p:to>
                                    </p:set>
                                    <p:animEffect transition="in" filter="box(in)">
                                      <p:cBhvr>
                                        <p:cTn id="167" dur="500"/>
                                        <p:tgtEl>
                                          <p:spTgt spid="99"/>
                                        </p:tgtEl>
                                      </p:cBhvr>
                                    </p:animEffect>
                                  </p:childTnLst>
                                </p:cTn>
                              </p:par>
                            </p:childTnLst>
                          </p:cTn>
                        </p:par>
                      </p:childTnLst>
                    </p:cTn>
                  </p:par>
                  <p:par>
                    <p:cTn id="168" fill="hold">
                      <p:stCondLst>
                        <p:cond delay="indefinite"/>
                      </p:stCondLst>
                      <p:childTnLst>
                        <p:par>
                          <p:cTn id="169" fill="hold">
                            <p:stCondLst>
                              <p:cond delay="0"/>
                            </p:stCondLst>
                            <p:childTnLst>
                              <p:par>
                                <p:cTn id="170" presetID="4" presetClass="entr" presetSubtype="16" fill="hold" grpId="0" nodeType="clickEffect">
                                  <p:stCondLst>
                                    <p:cond delay="0"/>
                                  </p:stCondLst>
                                  <p:childTnLst>
                                    <p:set>
                                      <p:cBhvr>
                                        <p:cTn id="171" dur="1" fill="hold">
                                          <p:stCondLst>
                                            <p:cond delay="0"/>
                                          </p:stCondLst>
                                        </p:cTn>
                                        <p:tgtEl>
                                          <p:spTgt spid="100"/>
                                        </p:tgtEl>
                                        <p:attrNameLst>
                                          <p:attrName>style.visibility</p:attrName>
                                        </p:attrNameLst>
                                      </p:cBhvr>
                                      <p:to>
                                        <p:strVal val="visible"/>
                                      </p:to>
                                    </p:set>
                                    <p:animEffect transition="in" filter="box(in)">
                                      <p:cBhvr>
                                        <p:cTn id="172"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69" grpId="0"/>
      <p:bldP spid="70" grpId="0"/>
      <p:bldP spid="71" grpId="0"/>
      <p:bldP spid="72" grpId="0"/>
      <p:bldP spid="73" grpId="0"/>
      <p:bldP spid="74" grpId="0" animBg="1"/>
      <p:bldP spid="75" grpId="0" animBg="1"/>
      <p:bldP spid="76" grpId="0" animBg="1"/>
      <p:bldP spid="77" grpId="0" animBg="1"/>
      <p:bldP spid="86" grpId="0"/>
      <p:bldP spid="87" grpId="0"/>
      <p:bldP spid="88" grpId="0"/>
      <p:bldP spid="89" grpId="0"/>
      <p:bldP spid="90" grpId="0"/>
      <p:bldP spid="99" grpId="0" animBg="1"/>
      <p:bldP spid="10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2997669"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光敏电阻的基本特性参数 </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光敏电阻的基本特性参数 </a:t>
            </a: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3.2</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355256" y="710998"/>
            <a:ext cx="3060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2" name="组合 11"/>
          <p:cNvGrpSpPr/>
          <p:nvPr/>
        </p:nvGrpSpPr>
        <p:grpSpPr>
          <a:xfrm>
            <a:off x="10337881" y="293282"/>
            <a:ext cx="2823365" cy="523220"/>
            <a:chOff x="10337881" y="293282"/>
            <a:chExt cx="2823365" cy="523220"/>
          </a:xfrm>
        </p:grpSpPr>
        <p:sp>
          <p:nvSpPr>
            <p:cNvPr id="14" name="矩形 13"/>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5" name="矩形 1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469557" y="293282"/>
            <a:ext cx="1235544"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光电特性</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1332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6">
            <a:extLst>
              <a:ext uri="{FF2B5EF4-FFF2-40B4-BE49-F238E27FC236}">
                <a16:creationId xmlns="" xmlns:a16="http://schemas.microsoft.com/office/drawing/2014/main" id="{DB7BD351-B228-46A4-A41E-204510E953C1}"/>
              </a:ext>
            </a:extLst>
          </p:cNvPr>
          <p:cNvSpPr txBox="1">
            <a:spLocks noChangeArrowheads="1"/>
          </p:cNvSpPr>
          <p:nvPr/>
        </p:nvSpPr>
        <p:spPr bwMode="auto">
          <a:xfrm>
            <a:off x="1469557" y="2675805"/>
            <a:ext cx="6540500" cy="690563"/>
          </a:xfrm>
          <a:prstGeom prst="rect">
            <a:avLst/>
          </a:prstGeom>
          <a:noFill/>
          <a:ln w="9525">
            <a:noFill/>
            <a:miter lim="800000"/>
            <a:headEnd/>
            <a:tailEnd/>
          </a:ln>
        </p:spPr>
        <p:txBody>
          <a:bodyPr>
            <a:spAutoFit/>
          </a:bodyPr>
          <a:lstStyle/>
          <a:p>
            <a:pPr defTabSz="914400">
              <a:lnSpc>
                <a:spcPct val="140000"/>
              </a:lnSpc>
              <a:spcBef>
                <a:spcPct val="50000"/>
              </a:spcBef>
            </a:pPr>
            <a:r>
              <a:rPr lang="zh-CN" altLang="en-US" sz="2800" b="1" dirty="0">
                <a:latin typeface="微软雅黑" pitchFamily="34" charset="-122"/>
                <a:ea typeface="微软雅黑" pitchFamily="34" charset="-122"/>
              </a:rPr>
              <a:t>光电导探测器的光电特性可以表示为 </a:t>
            </a:r>
            <a:endParaRPr kumimoji="1" lang="zh-CN" altLang="en-US" sz="2800" b="1" dirty="0">
              <a:latin typeface="微软雅黑" pitchFamily="34" charset="-122"/>
              <a:ea typeface="微软雅黑" pitchFamily="34" charset="-122"/>
            </a:endParaRPr>
          </a:p>
        </p:txBody>
      </p:sp>
      <p:sp>
        <p:nvSpPr>
          <p:cNvPr id="14" name="Text Box 8">
            <a:extLst>
              <a:ext uri="{FF2B5EF4-FFF2-40B4-BE49-F238E27FC236}">
                <a16:creationId xmlns="" xmlns:a16="http://schemas.microsoft.com/office/drawing/2014/main" id="{D04F35FF-05C6-410D-90B6-FB2EF530C66C}"/>
              </a:ext>
            </a:extLst>
          </p:cNvPr>
          <p:cNvSpPr txBox="1">
            <a:spLocks noChangeArrowheads="1"/>
          </p:cNvSpPr>
          <p:nvPr/>
        </p:nvSpPr>
        <p:spPr bwMode="auto">
          <a:xfrm>
            <a:off x="1450506" y="1321207"/>
            <a:ext cx="8844781" cy="523220"/>
          </a:xfrm>
          <a:prstGeom prst="rect">
            <a:avLst/>
          </a:prstGeom>
          <a:noFill/>
          <a:ln w="9525">
            <a:noFill/>
            <a:miter lim="800000"/>
            <a:headEnd/>
            <a:tailEnd/>
          </a:ln>
        </p:spPr>
        <p:txBody>
          <a:bodyPr wrap="square">
            <a:spAutoFit/>
          </a:bodyPr>
          <a:lstStyle/>
          <a:p>
            <a:pPr defTabSz="914400">
              <a:spcBef>
                <a:spcPct val="50000"/>
              </a:spcBef>
            </a:pPr>
            <a:r>
              <a:rPr kumimoji="1" lang="zh-CN" altLang="en-US" sz="2800" b="1" dirty="0">
                <a:latin typeface="微软雅黑" pitchFamily="34" charset="-122"/>
                <a:ea typeface="微软雅黑" pitchFamily="34" charset="-122"/>
              </a:rPr>
              <a:t>光电特性：光敏电阻电导随光照量变化而变化的特性。</a:t>
            </a:r>
          </a:p>
        </p:txBody>
      </p:sp>
      <p:graphicFrame>
        <p:nvGraphicFramePr>
          <p:cNvPr id="15" name="Object 7">
            <a:extLst>
              <a:ext uri="{FF2B5EF4-FFF2-40B4-BE49-F238E27FC236}">
                <a16:creationId xmlns="" xmlns:a16="http://schemas.microsoft.com/office/drawing/2014/main" id="{8265600F-0256-4965-823E-2064487DFF2C}"/>
              </a:ext>
            </a:extLst>
          </p:cNvPr>
          <p:cNvGraphicFramePr>
            <a:graphicFrameLocks noChangeAspect="1"/>
          </p:cNvGraphicFramePr>
          <p:nvPr>
            <p:extLst>
              <p:ext uri="{D42A27DB-BD31-4B8C-83A1-F6EECF244321}">
                <p14:modId xmlns:p14="http://schemas.microsoft.com/office/powerpoint/2010/main" val="4030298838"/>
              </p:ext>
            </p:extLst>
          </p:nvPr>
        </p:nvGraphicFramePr>
        <p:xfrm>
          <a:off x="4264021" y="3478637"/>
          <a:ext cx="801687" cy="633413"/>
        </p:xfrm>
        <a:graphic>
          <a:graphicData uri="http://schemas.openxmlformats.org/presentationml/2006/ole">
            <mc:AlternateContent xmlns:mc="http://schemas.openxmlformats.org/markup-compatibility/2006">
              <mc:Choice xmlns:v="urn:schemas-microsoft-com:vml" Requires="v">
                <p:oleObj spid="_x0000_s7253" name="Equation" r:id="rId3" imgW="304560" imgH="241200" progId="Equation.DSMT4">
                  <p:embed/>
                </p:oleObj>
              </mc:Choice>
              <mc:Fallback>
                <p:oleObj name="Equation" r:id="rId3" imgW="304560" imgH="241200" progId="Equation.DSMT4">
                  <p:embed/>
                  <p:pic>
                    <p:nvPicPr>
                      <p:cNvPr id="6146" name="Object 7"/>
                      <p:cNvPicPr>
                        <a:picLocks noChangeAspect="1" noChangeArrowheads="1"/>
                      </p:cNvPicPr>
                      <p:nvPr/>
                    </p:nvPicPr>
                    <p:blipFill>
                      <a:blip r:embed="rId4"/>
                      <a:srcRect/>
                      <a:stretch>
                        <a:fillRect/>
                      </a:stretch>
                    </p:blipFill>
                    <p:spPr bwMode="auto">
                      <a:xfrm>
                        <a:off x="4264021" y="3478637"/>
                        <a:ext cx="801687" cy="633413"/>
                      </a:xfrm>
                      <a:prstGeom prst="rect">
                        <a:avLst/>
                      </a:prstGeom>
                      <a:solidFill>
                        <a:srgbClr val="FFFF00"/>
                      </a:solidFill>
                    </p:spPr>
                  </p:pic>
                </p:oleObj>
              </mc:Fallback>
            </mc:AlternateContent>
          </a:graphicData>
        </a:graphic>
      </p:graphicFrame>
      <p:sp>
        <p:nvSpPr>
          <p:cNvPr id="16" name="TextBox 8">
            <a:extLst>
              <a:ext uri="{FF2B5EF4-FFF2-40B4-BE49-F238E27FC236}">
                <a16:creationId xmlns="" xmlns:a16="http://schemas.microsoft.com/office/drawing/2014/main" id="{4E73A549-4938-4A39-8242-CF2F69E1890F}"/>
              </a:ext>
            </a:extLst>
          </p:cNvPr>
          <p:cNvSpPr txBox="1">
            <a:spLocks noChangeArrowheads="1"/>
          </p:cNvSpPr>
          <p:nvPr/>
        </p:nvSpPr>
        <p:spPr bwMode="auto">
          <a:xfrm>
            <a:off x="729289" y="2049164"/>
            <a:ext cx="2365533" cy="523220"/>
          </a:xfrm>
          <a:prstGeom prst="rect">
            <a:avLst/>
          </a:prstGeom>
          <a:noFill/>
          <a:ln w="9525">
            <a:noFill/>
            <a:miter lim="800000"/>
            <a:headEnd/>
            <a:tailEnd/>
          </a:ln>
        </p:spPr>
        <p:txBody>
          <a:bodyPr wrap="square">
            <a:spAutoFit/>
          </a:bodyPr>
          <a:lstStyle/>
          <a:p>
            <a:pPr algn="ctr" defTabSz="914400"/>
            <a:r>
              <a:rPr lang="en-US" altLang="zh-CN" sz="2800" b="1" dirty="0">
                <a:solidFill>
                  <a:srgbClr val="FF0000"/>
                </a:solidFill>
                <a:latin typeface="Times New Roman" panose="02020603050405020304" pitchFamily="18" charset="0"/>
                <a:ea typeface="微软雅黑" pitchFamily="34" charset="-122"/>
                <a:cs typeface="Times New Roman" panose="02020603050405020304" pitchFamily="18" charset="0"/>
              </a:rPr>
              <a:t>(1) </a:t>
            </a:r>
            <a:r>
              <a:rPr lang="zh-CN" altLang="en-US" sz="2800" b="1" dirty="0">
                <a:solidFill>
                  <a:srgbClr val="FF0000"/>
                </a:solidFill>
                <a:latin typeface="Times New Roman" panose="02020603050405020304" pitchFamily="18" charset="0"/>
                <a:ea typeface="微软雅黑" pitchFamily="34" charset="-122"/>
                <a:cs typeface="Times New Roman" panose="02020603050405020304" pitchFamily="18" charset="0"/>
              </a:rPr>
              <a:t>强光照射</a:t>
            </a:r>
          </a:p>
        </p:txBody>
      </p:sp>
      <p:sp>
        <p:nvSpPr>
          <p:cNvPr id="17" name="TextBox 11">
            <a:extLst>
              <a:ext uri="{FF2B5EF4-FFF2-40B4-BE49-F238E27FC236}">
                <a16:creationId xmlns="" xmlns:a16="http://schemas.microsoft.com/office/drawing/2014/main" id="{8F26C056-C412-468A-9C8A-96F36FD9835C}"/>
              </a:ext>
            </a:extLst>
          </p:cNvPr>
          <p:cNvSpPr txBox="1">
            <a:spLocks noChangeArrowheads="1"/>
          </p:cNvSpPr>
          <p:nvPr/>
        </p:nvSpPr>
        <p:spPr bwMode="auto">
          <a:xfrm>
            <a:off x="2844735" y="5221516"/>
            <a:ext cx="8231368" cy="1200329"/>
          </a:xfrm>
          <a:prstGeom prst="rect">
            <a:avLst/>
          </a:prstGeom>
          <a:noFill/>
          <a:ln w="9525">
            <a:noFill/>
            <a:miter lim="800000"/>
            <a:headEnd/>
            <a:tailEnd/>
          </a:ln>
        </p:spPr>
        <p:txBody>
          <a:bodyPr wrap="square">
            <a:spAutoFit/>
          </a:bodyPr>
          <a:lstStyle/>
          <a:p>
            <a:pPr marL="354013" indent="-354013" defTabSz="914400">
              <a:lnSpc>
                <a:spcPct val="150000"/>
              </a:lnSpc>
            </a:pPr>
            <a:r>
              <a:rPr lang="el-GR" altLang="zh-CN" sz="2400" b="1" i="1" dirty="0" smtClean="0">
                <a:solidFill>
                  <a:srgbClr val="FF0000"/>
                </a:solidFill>
                <a:latin typeface="Times New Roman" pitchFamily="18" charset="0"/>
                <a:ea typeface="微软雅黑" pitchFamily="34" charset="-122"/>
                <a:cs typeface="Times New Roman" pitchFamily="18" charset="0"/>
              </a:rPr>
              <a:t>α</a:t>
            </a:r>
            <a:r>
              <a:rPr lang="en-US" altLang="zh-CN" sz="2400" b="1" i="1" dirty="0" smtClean="0">
                <a:solidFill>
                  <a:srgbClr val="FF0000"/>
                </a:solidFill>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为电压指数，它与光电导材料和电极材料之间的接触有关。</a:t>
            </a:r>
            <a:endParaRPr lang="en-US" altLang="zh-CN" sz="2400" b="1" dirty="0">
              <a:latin typeface="Times New Roman" pitchFamily="18" charset="0"/>
              <a:ea typeface="微软雅黑" pitchFamily="34" charset="-122"/>
              <a:cs typeface="Times New Roman" pitchFamily="18" charset="0"/>
            </a:endParaRPr>
          </a:p>
          <a:p>
            <a:pPr marL="354013" indent="-354013" defTabSz="914400">
              <a:lnSpc>
                <a:spcPct val="150000"/>
              </a:lnSpc>
            </a:pPr>
            <a:r>
              <a:rPr lang="zh-CN" altLang="en-US" sz="2400" b="1" dirty="0">
                <a:latin typeface="Times New Roman" pitchFamily="18" charset="0"/>
                <a:ea typeface="微软雅黑" pitchFamily="34" charset="-122"/>
                <a:cs typeface="Times New Roman" pitchFamily="18" charset="0"/>
              </a:rPr>
              <a:t>   欧姆接触时</a:t>
            </a:r>
            <a:r>
              <a:rPr lang="zh-CN" altLang="en-US" sz="2400" b="1" dirty="0" smtClean="0">
                <a:latin typeface="Times New Roman" pitchFamily="18" charset="0"/>
                <a:ea typeface="微软雅黑" pitchFamily="34" charset="-122"/>
                <a:cs typeface="Times New Roman" pitchFamily="18" charset="0"/>
              </a:rPr>
              <a:t>，</a:t>
            </a:r>
            <a:r>
              <a:rPr lang="el-GR" altLang="zh-CN" sz="2400" b="1" i="1" dirty="0" smtClean="0">
                <a:latin typeface="Times New Roman" pitchFamily="18" charset="0"/>
                <a:ea typeface="微软雅黑" pitchFamily="34" charset="-122"/>
                <a:cs typeface="Times New Roman" pitchFamily="18" charset="0"/>
              </a:rPr>
              <a:t>α</a:t>
            </a:r>
            <a:r>
              <a:rPr lang="en-US" altLang="zh-CN" sz="2400" b="1" dirty="0" smtClean="0">
                <a:latin typeface="Times New Roman" pitchFamily="18" charset="0"/>
                <a:ea typeface="微软雅黑" pitchFamily="34" charset="-122"/>
                <a:cs typeface="Times New Roman" pitchFamily="18" charset="0"/>
              </a:rPr>
              <a:t>=1</a:t>
            </a:r>
            <a:r>
              <a:rPr lang="zh-CN" altLang="en-US" sz="2400" b="1" dirty="0" smtClean="0">
                <a:latin typeface="Times New Roman" pitchFamily="18" charset="0"/>
                <a:ea typeface="微软雅黑" pitchFamily="34" charset="-122"/>
                <a:cs typeface="Times New Roman" pitchFamily="18" charset="0"/>
              </a:rPr>
              <a:t>，</a:t>
            </a:r>
            <a:r>
              <a:rPr lang="en-US" altLang="zh-CN" sz="2400" b="1" dirty="0" smtClean="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非欧姆接触时</a:t>
            </a:r>
            <a:r>
              <a:rPr lang="zh-CN" altLang="en-US" sz="2400" b="1" dirty="0" smtClean="0">
                <a:latin typeface="Times New Roman" pitchFamily="18" charset="0"/>
                <a:ea typeface="微软雅黑" pitchFamily="34" charset="-122"/>
                <a:cs typeface="Times New Roman" pitchFamily="18" charset="0"/>
              </a:rPr>
              <a:t>，</a:t>
            </a:r>
            <a:r>
              <a:rPr lang="el-GR" altLang="zh-CN" sz="2400" b="1" i="1" dirty="0" smtClean="0">
                <a:latin typeface="Times New Roman" pitchFamily="18" charset="0"/>
                <a:ea typeface="微软雅黑" pitchFamily="34" charset="-122"/>
                <a:cs typeface="Times New Roman" pitchFamily="18" charset="0"/>
              </a:rPr>
              <a:t>α</a:t>
            </a:r>
            <a:r>
              <a:rPr lang="en-US" altLang="zh-CN" sz="2400" b="1" dirty="0" smtClean="0">
                <a:latin typeface="Times New Roman" pitchFamily="18" charset="0"/>
                <a:ea typeface="微软雅黑" pitchFamily="34" charset="-122"/>
                <a:cs typeface="Times New Roman" pitchFamily="18" charset="0"/>
              </a:rPr>
              <a:t>=1.1~1.2</a:t>
            </a:r>
            <a:r>
              <a:rPr lang="zh-CN" altLang="en-US" sz="2400" b="1" dirty="0">
                <a:latin typeface="Times New Roman" pitchFamily="18" charset="0"/>
                <a:ea typeface="微软雅黑" pitchFamily="34" charset="-122"/>
                <a:cs typeface="Times New Roman" pitchFamily="18" charset="0"/>
              </a:rPr>
              <a:t>。</a:t>
            </a:r>
          </a:p>
        </p:txBody>
      </p:sp>
      <p:sp>
        <p:nvSpPr>
          <p:cNvPr id="18" name="Text Box 6">
            <a:extLst>
              <a:ext uri="{FF2B5EF4-FFF2-40B4-BE49-F238E27FC236}">
                <a16:creationId xmlns="" xmlns:a16="http://schemas.microsoft.com/office/drawing/2014/main" id="{518A0D72-067B-47EE-B23C-C57D621E828C}"/>
              </a:ext>
            </a:extLst>
          </p:cNvPr>
          <p:cNvSpPr txBox="1">
            <a:spLocks noChangeArrowheads="1"/>
          </p:cNvSpPr>
          <p:nvPr/>
        </p:nvSpPr>
        <p:spPr bwMode="auto">
          <a:xfrm>
            <a:off x="1426755" y="3818873"/>
            <a:ext cx="2117776" cy="553357"/>
          </a:xfrm>
          <a:prstGeom prst="rect">
            <a:avLst/>
          </a:prstGeom>
          <a:noFill/>
          <a:ln w="9525">
            <a:noFill/>
            <a:miter lim="800000"/>
            <a:headEnd/>
            <a:tailEnd/>
          </a:ln>
        </p:spPr>
        <p:txBody>
          <a:bodyPr wrap="square">
            <a:spAutoFit/>
          </a:bodyPr>
          <a:lstStyle/>
          <a:p>
            <a:pPr algn="ctr" defTabSz="914400">
              <a:lnSpc>
                <a:spcPct val="140000"/>
              </a:lnSpc>
              <a:spcBef>
                <a:spcPct val="50000"/>
              </a:spcBef>
            </a:pPr>
            <a:r>
              <a:rPr lang="zh-CN" altLang="en-US" sz="2400" b="1" dirty="0">
                <a:solidFill>
                  <a:srgbClr val="7030A0"/>
                </a:solidFill>
                <a:latin typeface="微软雅黑" pitchFamily="34" charset="-122"/>
                <a:ea typeface="微软雅黑" pitchFamily="34" charset="-122"/>
              </a:rPr>
              <a:t>光电导灵敏度</a:t>
            </a:r>
            <a:endParaRPr kumimoji="1" lang="zh-CN" altLang="en-US" sz="2400" b="1" dirty="0">
              <a:solidFill>
                <a:srgbClr val="7030A0"/>
              </a:solidFill>
              <a:latin typeface="微软雅黑" pitchFamily="34" charset="-122"/>
              <a:ea typeface="微软雅黑" pitchFamily="34" charset="-122"/>
            </a:endParaRPr>
          </a:p>
        </p:txBody>
      </p:sp>
      <p:sp>
        <p:nvSpPr>
          <p:cNvPr id="23" name="TextBox 11">
            <a:extLst>
              <a:ext uri="{FF2B5EF4-FFF2-40B4-BE49-F238E27FC236}">
                <a16:creationId xmlns="" xmlns:a16="http://schemas.microsoft.com/office/drawing/2014/main" id="{F37296C6-8FEC-4CC7-8E1C-AC26F91C704E}"/>
              </a:ext>
            </a:extLst>
          </p:cNvPr>
          <p:cNvSpPr txBox="1">
            <a:spLocks noChangeArrowheads="1"/>
          </p:cNvSpPr>
          <p:nvPr/>
        </p:nvSpPr>
        <p:spPr bwMode="auto">
          <a:xfrm>
            <a:off x="8470059" y="3611713"/>
            <a:ext cx="4358038" cy="1200329"/>
          </a:xfrm>
          <a:prstGeom prst="rect">
            <a:avLst/>
          </a:prstGeom>
          <a:noFill/>
          <a:ln w="9525">
            <a:noFill/>
            <a:miter lim="800000"/>
            <a:headEnd/>
            <a:tailEnd/>
          </a:ln>
        </p:spPr>
        <p:txBody>
          <a:bodyPr wrap="square">
            <a:spAutoFit/>
          </a:bodyPr>
          <a:lstStyle/>
          <a:p>
            <a:pPr marL="354013" indent="-354013" defTabSz="914400">
              <a:lnSpc>
                <a:spcPct val="150000"/>
              </a:lnSpc>
            </a:pPr>
            <a:r>
              <a:rPr lang="el-GR" altLang="zh-CN" sz="2400" b="1" dirty="0">
                <a:solidFill>
                  <a:srgbClr val="FF0000"/>
                </a:solidFill>
                <a:latin typeface="Times New Roman" pitchFamily="18" charset="0"/>
                <a:ea typeface="微软雅黑" pitchFamily="34" charset="-122"/>
                <a:cs typeface="Times New Roman" pitchFamily="18" charset="0"/>
              </a:rPr>
              <a:t>γ</a:t>
            </a:r>
            <a:r>
              <a:rPr lang="en-US" altLang="zh-CN" sz="2400" b="1" dirty="0">
                <a:solidFill>
                  <a:srgbClr val="FF0000"/>
                </a:solidFill>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为光照指数，</a:t>
            </a:r>
            <a:endParaRPr lang="en-US" altLang="zh-CN" sz="2400" b="1" dirty="0">
              <a:latin typeface="Times New Roman" pitchFamily="18" charset="0"/>
              <a:ea typeface="微软雅黑" pitchFamily="34" charset="-122"/>
              <a:cs typeface="Times New Roman" pitchFamily="18" charset="0"/>
            </a:endParaRPr>
          </a:p>
          <a:p>
            <a:pPr marL="354013" indent="-354013" defTabSz="914400">
              <a:lnSpc>
                <a:spcPct val="150000"/>
              </a:lnSpc>
            </a:pPr>
            <a:r>
              <a:rPr lang="zh-CN" altLang="en-US" sz="2400" b="1" dirty="0">
                <a:latin typeface="Times New Roman" pitchFamily="18" charset="0"/>
                <a:ea typeface="微软雅黑" pitchFamily="34" charset="-122"/>
                <a:cs typeface="Times New Roman" pitchFamily="18" charset="0"/>
              </a:rPr>
              <a:t>它与材料和入射光照强弱有关。</a:t>
            </a:r>
          </a:p>
        </p:txBody>
      </p:sp>
      <p:grpSp>
        <p:nvGrpSpPr>
          <p:cNvPr id="19" name="组合 18"/>
          <p:cNvGrpSpPr/>
          <p:nvPr/>
        </p:nvGrpSpPr>
        <p:grpSpPr>
          <a:xfrm>
            <a:off x="10337881" y="293282"/>
            <a:ext cx="2823365" cy="523220"/>
            <a:chOff x="10337881" y="293282"/>
            <a:chExt cx="2823365" cy="523220"/>
          </a:xfrm>
        </p:grpSpPr>
        <p:sp>
          <p:nvSpPr>
            <p:cNvPr id="24" name="矩形 23"/>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28" name="矩形 27">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graphicFrame>
        <p:nvGraphicFramePr>
          <p:cNvPr id="20" name="Object 7">
            <a:extLst>
              <a:ext uri="{FF2B5EF4-FFF2-40B4-BE49-F238E27FC236}">
                <a16:creationId xmlns="" xmlns:a16="http://schemas.microsoft.com/office/drawing/2014/main" id="{8265600F-0256-4965-823E-2064487DFF2C}"/>
              </a:ext>
            </a:extLst>
          </p:cNvPr>
          <p:cNvGraphicFramePr>
            <a:graphicFrameLocks noChangeAspect="1"/>
          </p:cNvGraphicFramePr>
          <p:nvPr>
            <p:extLst>
              <p:ext uri="{D42A27DB-BD31-4B8C-83A1-F6EECF244321}">
                <p14:modId xmlns:p14="http://schemas.microsoft.com/office/powerpoint/2010/main" val="1918898264"/>
              </p:ext>
            </p:extLst>
          </p:nvPr>
        </p:nvGraphicFramePr>
        <p:xfrm>
          <a:off x="5069576" y="3445729"/>
          <a:ext cx="666750" cy="633412"/>
        </p:xfrm>
        <a:graphic>
          <a:graphicData uri="http://schemas.openxmlformats.org/presentationml/2006/ole">
            <mc:AlternateContent xmlns:mc="http://schemas.openxmlformats.org/markup-compatibility/2006">
              <mc:Choice xmlns:v="urn:schemas-microsoft-com:vml" Requires="v">
                <p:oleObj spid="_x0000_s7254" name="Equation" r:id="rId5" imgW="253800" imgH="241200" progId="Equation.DSMT4">
                  <p:embed/>
                </p:oleObj>
              </mc:Choice>
              <mc:Fallback>
                <p:oleObj name="Equation" r:id="rId5" imgW="253800" imgH="241200" progId="Equation.DSMT4">
                  <p:embed/>
                  <p:pic>
                    <p:nvPicPr>
                      <p:cNvPr id="0" name=""/>
                      <p:cNvPicPr>
                        <a:picLocks noChangeAspect="1" noChangeArrowheads="1"/>
                      </p:cNvPicPr>
                      <p:nvPr/>
                    </p:nvPicPr>
                    <p:blipFill>
                      <a:blip r:embed="rId6"/>
                      <a:srcRect/>
                      <a:stretch>
                        <a:fillRect/>
                      </a:stretch>
                    </p:blipFill>
                    <p:spPr bwMode="auto">
                      <a:xfrm>
                        <a:off x="5069576" y="3445729"/>
                        <a:ext cx="666750" cy="633412"/>
                      </a:xfrm>
                      <a:prstGeom prst="rect">
                        <a:avLst/>
                      </a:prstGeom>
                      <a:solidFill>
                        <a:srgbClr val="FFFF00"/>
                      </a:solidFill>
                    </p:spPr>
                  </p:pic>
                </p:oleObj>
              </mc:Fallback>
            </mc:AlternateContent>
          </a:graphicData>
        </a:graphic>
      </p:graphicFrame>
      <p:graphicFrame>
        <p:nvGraphicFramePr>
          <p:cNvPr id="25" name="Object 7">
            <a:extLst>
              <a:ext uri="{FF2B5EF4-FFF2-40B4-BE49-F238E27FC236}">
                <a16:creationId xmlns="" xmlns:a16="http://schemas.microsoft.com/office/drawing/2014/main" id="{8265600F-0256-4965-823E-2064487DFF2C}"/>
              </a:ext>
            </a:extLst>
          </p:cNvPr>
          <p:cNvGraphicFramePr>
            <a:graphicFrameLocks noChangeAspect="1"/>
          </p:cNvGraphicFramePr>
          <p:nvPr>
            <p:extLst>
              <p:ext uri="{D42A27DB-BD31-4B8C-83A1-F6EECF244321}">
                <p14:modId xmlns:p14="http://schemas.microsoft.com/office/powerpoint/2010/main" val="347275900"/>
              </p:ext>
            </p:extLst>
          </p:nvPr>
        </p:nvGraphicFramePr>
        <p:xfrm>
          <a:off x="6425432" y="3472367"/>
          <a:ext cx="534987" cy="603933"/>
        </p:xfrm>
        <a:graphic>
          <a:graphicData uri="http://schemas.openxmlformats.org/presentationml/2006/ole">
            <mc:AlternateContent xmlns:mc="http://schemas.openxmlformats.org/markup-compatibility/2006">
              <mc:Choice xmlns:v="urn:schemas-microsoft-com:vml" Requires="v">
                <p:oleObj spid="_x0000_s7255" name="Equation" r:id="rId7" imgW="203040" imgH="190440" progId="Equation.DSMT4">
                  <p:embed/>
                </p:oleObj>
              </mc:Choice>
              <mc:Fallback>
                <p:oleObj name="Equation" r:id="rId7" imgW="203040" imgH="190440" progId="Equation.DSMT4">
                  <p:embed/>
                  <p:pic>
                    <p:nvPicPr>
                      <p:cNvPr id="0" name=""/>
                      <p:cNvPicPr>
                        <a:picLocks noChangeAspect="1" noChangeArrowheads="1"/>
                      </p:cNvPicPr>
                      <p:nvPr/>
                    </p:nvPicPr>
                    <p:blipFill>
                      <a:blip r:embed="rId8"/>
                      <a:srcRect/>
                      <a:stretch>
                        <a:fillRect/>
                      </a:stretch>
                    </p:blipFill>
                    <p:spPr bwMode="auto">
                      <a:xfrm>
                        <a:off x="6425432" y="3472367"/>
                        <a:ext cx="534987" cy="603933"/>
                      </a:xfrm>
                      <a:prstGeom prst="rect">
                        <a:avLst/>
                      </a:prstGeom>
                      <a:solidFill>
                        <a:srgbClr val="FFFF00"/>
                      </a:solidFill>
                    </p:spPr>
                  </p:pic>
                </p:oleObj>
              </mc:Fallback>
            </mc:AlternateContent>
          </a:graphicData>
        </a:graphic>
      </p:graphicFrame>
      <p:graphicFrame>
        <p:nvGraphicFramePr>
          <p:cNvPr id="30" name="Object 7">
            <a:extLst>
              <a:ext uri="{FF2B5EF4-FFF2-40B4-BE49-F238E27FC236}">
                <a16:creationId xmlns="" xmlns:a16="http://schemas.microsoft.com/office/drawing/2014/main" id="{8265600F-0256-4965-823E-2064487DFF2C}"/>
              </a:ext>
            </a:extLst>
          </p:cNvPr>
          <p:cNvGraphicFramePr>
            <a:graphicFrameLocks noChangeAspect="1"/>
          </p:cNvGraphicFramePr>
          <p:nvPr>
            <p:extLst>
              <p:ext uri="{D42A27DB-BD31-4B8C-83A1-F6EECF244321}">
                <p14:modId xmlns:p14="http://schemas.microsoft.com/office/powerpoint/2010/main" val="4201621448"/>
              </p:ext>
            </p:extLst>
          </p:nvPr>
        </p:nvGraphicFramePr>
        <p:xfrm>
          <a:off x="5675313" y="3476624"/>
          <a:ext cx="733425" cy="599677"/>
        </p:xfrm>
        <a:graphic>
          <a:graphicData uri="http://schemas.openxmlformats.org/presentationml/2006/ole">
            <mc:AlternateContent xmlns:mc="http://schemas.openxmlformats.org/markup-compatibility/2006">
              <mc:Choice xmlns:v="urn:schemas-microsoft-com:vml" Requires="v">
                <p:oleObj spid="_x0000_s7256" name="Equation" r:id="rId9" imgW="279360" imgH="203040" progId="Equation.DSMT4">
                  <p:embed/>
                </p:oleObj>
              </mc:Choice>
              <mc:Fallback>
                <p:oleObj name="Equation" r:id="rId9" imgW="279360" imgH="203040" progId="Equation.DSMT4">
                  <p:embed/>
                  <p:pic>
                    <p:nvPicPr>
                      <p:cNvPr id="0" name=""/>
                      <p:cNvPicPr>
                        <a:picLocks noChangeAspect="1" noChangeArrowheads="1"/>
                      </p:cNvPicPr>
                      <p:nvPr/>
                    </p:nvPicPr>
                    <p:blipFill>
                      <a:blip r:embed="rId10"/>
                      <a:srcRect/>
                      <a:stretch>
                        <a:fillRect/>
                      </a:stretch>
                    </p:blipFill>
                    <p:spPr bwMode="auto">
                      <a:xfrm>
                        <a:off x="5675313" y="3476624"/>
                        <a:ext cx="733425" cy="599677"/>
                      </a:xfrm>
                      <a:prstGeom prst="rect">
                        <a:avLst/>
                      </a:prstGeom>
                      <a:solidFill>
                        <a:srgbClr val="FFFF00"/>
                      </a:solidFill>
                    </p:spPr>
                  </p:pic>
                </p:oleObj>
              </mc:Fallback>
            </mc:AlternateContent>
          </a:graphicData>
        </a:graphic>
      </p:graphicFrame>
      <p:sp>
        <p:nvSpPr>
          <p:cNvPr id="21" name="椭圆形标注 1">
            <a:extLst>
              <a:ext uri="{FF2B5EF4-FFF2-40B4-BE49-F238E27FC236}">
                <a16:creationId xmlns="" xmlns:a16="http://schemas.microsoft.com/office/drawing/2014/main" id="{7CBD21FA-623E-486A-9C27-B47A32CA041E}"/>
              </a:ext>
            </a:extLst>
          </p:cNvPr>
          <p:cNvSpPr/>
          <p:nvPr/>
        </p:nvSpPr>
        <p:spPr>
          <a:xfrm>
            <a:off x="5083273" y="3486367"/>
            <a:ext cx="504030" cy="589935"/>
          </a:xfrm>
          <a:prstGeom prst="wedgeEllipseCallout">
            <a:avLst>
              <a:gd name="adj1" fmla="val -354920"/>
              <a:gd name="adj2" fmla="val 54791"/>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形标注 21">
            <a:extLst>
              <a:ext uri="{FF2B5EF4-FFF2-40B4-BE49-F238E27FC236}">
                <a16:creationId xmlns="" xmlns:a16="http://schemas.microsoft.com/office/drawing/2014/main" id="{CF7AE513-7531-486F-BB36-FC701E874707}"/>
              </a:ext>
            </a:extLst>
          </p:cNvPr>
          <p:cNvSpPr/>
          <p:nvPr/>
        </p:nvSpPr>
        <p:spPr>
          <a:xfrm>
            <a:off x="5910869" y="3476624"/>
            <a:ext cx="424215" cy="416533"/>
          </a:xfrm>
          <a:prstGeom prst="wedgeEllipseCallout">
            <a:avLst>
              <a:gd name="adj1" fmla="val 1486"/>
              <a:gd name="adj2" fmla="val 350546"/>
            </a:avLst>
          </a:prstGeom>
          <a:noFill/>
          <a:ln w="28575">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形标注 23">
            <a:extLst>
              <a:ext uri="{FF2B5EF4-FFF2-40B4-BE49-F238E27FC236}">
                <a16:creationId xmlns="" xmlns:a16="http://schemas.microsoft.com/office/drawing/2014/main" id="{C575DE31-11B4-452D-AD53-783D7BBD4F82}"/>
              </a:ext>
            </a:extLst>
          </p:cNvPr>
          <p:cNvSpPr/>
          <p:nvPr/>
        </p:nvSpPr>
        <p:spPr>
          <a:xfrm>
            <a:off x="6628421" y="3486367"/>
            <a:ext cx="402658" cy="472944"/>
          </a:xfrm>
          <a:prstGeom prst="wedgeEllipseCallout">
            <a:avLst>
              <a:gd name="adj1" fmla="val 382003"/>
              <a:gd name="adj2" fmla="val 69955"/>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9444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ox(in)">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ox(i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ox(in)">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ox(in)">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box(in)">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box(in)">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box(in)">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box(in)">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box(in)">
                                      <p:cBhvr>
                                        <p:cTn id="6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P spid="17" grpId="0"/>
      <p:bldP spid="18" grpId="0"/>
      <p:bldP spid="23" grpId="0"/>
      <p:bldP spid="21" grpId="0" animBg="1"/>
      <p:bldP spid="22"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24" name="Object 2">
            <a:extLst>
              <a:ext uri="{FF2B5EF4-FFF2-40B4-BE49-F238E27FC236}">
                <a16:creationId xmlns="" xmlns:a16="http://schemas.microsoft.com/office/drawing/2014/main" id="{40849A5A-6773-4E24-90AC-91696029A9A1}"/>
              </a:ext>
            </a:extLst>
          </p:cNvPr>
          <p:cNvGraphicFramePr>
            <a:graphicFrameLocks noChangeAspect="1"/>
          </p:cNvGraphicFramePr>
          <p:nvPr>
            <p:extLst>
              <p:ext uri="{D42A27DB-BD31-4B8C-83A1-F6EECF244321}">
                <p14:modId xmlns:p14="http://schemas.microsoft.com/office/powerpoint/2010/main" val="2157241141"/>
              </p:ext>
            </p:extLst>
          </p:nvPr>
        </p:nvGraphicFramePr>
        <p:xfrm>
          <a:off x="2314499" y="2058875"/>
          <a:ext cx="2921000" cy="646112"/>
        </p:xfrm>
        <a:graphic>
          <a:graphicData uri="http://schemas.openxmlformats.org/presentationml/2006/ole">
            <mc:AlternateContent xmlns:mc="http://schemas.openxmlformats.org/markup-compatibility/2006">
              <mc:Choice xmlns:v="urn:schemas-microsoft-com:vml" Requires="v">
                <p:oleObj spid="_x0000_s8316" name="Equation" r:id="rId3" imgW="1091880" imgH="241200" progId="Equation.DSMT4">
                  <p:embed/>
                </p:oleObj>
              </mc:Choice>
              <mc:Fallback>
                <p:oleObj name="Equation" r:id="rId3" imgW="1091880" imgH="241200" progId="Equation.DSMT4">
                  <p:embed/>
                  <p:pic>
                    <p:nvPicPr>
                      <p:cNvPr id="3" name="Object 2"/>
                      <p:cNvPicPr>
                        <a:picLocks noChangeAspect="1" noChangeArrowheads="1"/>
                      </p:cNvPicPr>
                      <p:nvPr/>
                    </p:nvPicPr>
                    <p:blipFill>
                      <a:blip r:embed="rId4"/>
                      <a:srcRect/>
                      <a:stretch>
                        <a:fillRect/>
                      </a:stretch>
                    </p:blipFill>
                    <p:spPr bwMode="auto">
                      <a:xfrm>
                        <a:off x="2314499" y="2058875"/>
                        <a:ext cx="2921000" cy="646112"/>
                      </a:xfrm>
                      <a:prstGeom prst="rect">
                        <a:avLst/>
                      </a:prstGeom>
                      <a:solidFill>
                        <a:srgbClr val="FFFF00"/>
                      </a:solidFill>
                      <a:ln w="9525">
                        <a:solidFill>
                          <a:srgbClr val="FFFF00"/>
                        </a:solidFill>
                        <a:miter lim="800000"/>
                        <a:headEnd/>
                        <a:tailEnd/>
                      </a:ln>
                    </p:spPr>
                  </p:pic>
                </p:oleObj>
              </mc:Fallback>
            </mc:AlternateContent>
          </a:graphicData>
        </a:graphic>
      </p:graphicFrame>
      <p:sp>
        <p:nvSpPr>
          <p:cNvPr id="29" name="TextBox 7">
            <a:extLst>
              <a:ext uri="{FF2B5EF4-FFF2-40B4-BE49-F238E27FC236}">
                <a16:creationId xmlns="" xmlns:a16="http://schemas.microsoft.com/office/drawing/2014/main" id="{5DBF305E-FBB1-40F6-A8B2-0E840FBA2A81}"/>
              </a:ext>
            </a:extLst>
          </p:cNvPr>
          <p:cNvSpPr txBox="1">
            <a:spLocks noChangeArrowheads="1"/>
          </p:cNvSpPr>
          <p:nvPr/>
        </p:nvSpPr>
        <p:spPr bwMode="auto">
          <a:xfrm>
            <a:off x="1277938" y="1142164"/>
            <a:ext cx="2662397" cy="584775"/>
          </a:xfrm>
          <a:prstGeom prst="rect">
            <a:avLst/>
          </a:prstGeom>
          <a:noFill/>
          <a:ln w="9525">
            <a:noFill/>
            <a:miter lim="800000"/>
            <a:headEnd/>
            <a:tailEnd/>
          </a:ln>
        </p:spPr>
        <p:txBody>
          <a:bodyPr wrap="square">
            <a:spAutoFit/>
          </a:bodyPr>
          <a:lstStyle/>
          <a:p>
            <a:pPr defTabSz="914400">
              <a:defRPr/>
            </a:pPr>
            <a:r>
              <a:rPr lang="en-US" altLang="zh-CN" sz="3200" b="1" dirty="0">
                <a:solidFill>
                  <a:srgbClr val="FF0000"/>
                </a:solidFill>
                <a:latin typeface="微软雅黑" pitchFamily="34" charset="-122"/>
                <a:ea typeface="微软雅黑" pitchFamily="34" charset="-122"/>
              </a:rPr>
              <a:t>(2) </a:t>
            </a:r>
            <a:r>
              <a:rPr lang="zh-CN" altLang="en-US" sz="3200" b="1" dirty="0">
                <a:solidFill>
                  <a:srgbClr val="FF0000"/>
                </a:solidFill>
                <a:latin typeface="微软雅黑" pitchFamily="34" charset="-122"/>
                <a:ea typeface="微软雅黑" pitchFamily="34" charset="-122"/>
              </a:rPr>
              <a:t>弱光照射</a:t>
            </a:r>
          </a:p>
        </p:txBody>
      </p:sp>
      <p:sp>
        <p:nvSpPr>
          <p:cNvPr id="30" name="Text Box 2">
            <a:extLst>
              <a:ext uri="{FF2B5EF4-FFF2-40B4-BE49-F238E27FC236}">
                <a16:creationId xmlns="" xmlns:a16="http://schemas.microsoft.com/office/drawing/2014/main" id="{63270C15-6B3A-4C2B-BCD0-4F336D3B2323}"/>
              </a:ext>
            </a:extLst>
          </p:cNvPr>
          <p:cNvSpPr txBox="1">
            <a:spLocks noChangeArrowheads="1"/>
          </p:cNvSpPr>
          <p:nvPr/>
        </p:nvSpPr>
        <p:spPr bwMode="auto">
          <a:xfrm>
            <a:off x="5722130" y="3828878"/>
            <a:ext cx="7032585" cy="138499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dirty="0">
                <a:latin typeface="Times New Roman" panose="02020603050405020304" pitchFamily="18" charset="0"/>
                <a:ea typeface="微软雅黑" pitchFamily="34" charset="-122"/>
                <a:cs typeface="Times New Roman" panose="02020603050405020304" pitchFamily="18" charset="0"/>
              </a:rPr>
              <a:t>光电特性曲线反映了流过光敏电阻的电流</a:t>
            </a:r>
            <a:r>
              <a:rPr kumimoji="1" lang="en-US" altLang="zh-CN" sz="2800" b="1" i="1" dirty="0" err="1">
                <a:latin typeface="Times New Roman" panose="02020603050405020304" pitchFamily="18" charset="0"/>
                <a:ea typeface="微软雅黑" pitchFamily="34" charset="-122"/>
                <a:cs typeface="Times New Roman" panose="02020603050405020304" pitchFamily="18" charset="0"/>
              </a:rPr>
              <a:t>I</a:t>
            </a:r>
            <a:r>
              <a:rPr kumimoji="1" lang="en-US" altLang="zh-CN" sz="2800" b="1" baseline="-30000" dirty="0" err="1">
                <a:latin typeface="Times New Roman" panose="02020603050405020304" pitchFamily="18" charset="0"/>
                <a:ea typeface="微软雅黑" pitchFamily="34" charset="-122"/>
                <a:cs typeface="Times New Roman" panose="02020603050405020304" pitchFamily="18" charset="0"/>
              </a:rPr>
              <a:t>p</a:t>
            </a:r>
            <a:r>
              <a:rPr kumimoji="1" lang="zh-CN" altLang="en-US" sz="2800" b="1" dirty="0">
                <a:latin typeface="Times New Roman" panose="02020603050405020304" pitchFamily="18" charset="0"/>
                <a:ea typeface="微软雅黑" pitchFamily="34" charset="-122"/>
                <a:cs typeface="Times New Roman" panose="02020603050405020304" pitchFamily="18" charset="0"/>
              </a:rPr>
              <a:t>与入射光照度</a:t>
            </a:r>
            <a:r>
              <a:rPr kumimoji="1" lang="en-US" altLang="zh-CN" sz="2800" b="1" i="1" dirty="0">
                <a:latin typeface="Times New Roman" panose="02020603050405020304" pitchFamily="18" charset="0"/>
                <a:ea typeface="微软雅黑" pitchFamily="34" charset="-122"/>
                <a:cs typeface="Times New Roman" panose="02020603050405020304" pitchFamily="18" charset="0"/>
              </a:rPr>
              <a:t>E</a:t>
            </a:r>
            <a:r>
              <a:rPr kumimoji="1" lang="zh-CN" altLang="en-US" sz="2800" b="1" dirty="0">
                <a:latin typeface="Times New Roman" panose="02020603050405020304" pitchFamily="18" charset="0"/>
                <a:ea typeface="微软雅黑" pitchFamily="34" charset="-122"/>
                <a:cs typeface="Times New Roman" panose="02020603050405020304" pitchFamily="18" charset="0"/>
              </a:rPr>
              <a:t>间的变化关系。</a:t>
            </a:r>
          </a:p>
        </p:txBody>
      </p:sp>
      <p:sp>
        <p:nvSpPr>
          <p:cNvPr id="31" name="TextBox 4">
            <a:extLst>
              <a:ext uri="{FF2B5EF4-FFF2-40B4-BE49-F238E27FC236}">
                <a16:creationId xmlns="" xmlns:a16="http://schemas.microsoft.com/office/drawing/2014/main" id="{3752D983-A806-44C1-B989-E578C91B0835}"/>
              </a:ext>
            </a:extLst>
          </p:cNvPr>
          <p:cNvSpPr txBox="1"/>
          <p:nvPr/>
        </p:nvSpPr>
        <p:spPr>
          <a:xfrm>
            <a:off x="5235499" y="5883528"/>
            <a:ext cx="7645400" cy="604838"/>
          </a:xfrm>
          <a:prstGeom prst="rect">
            <a:avLst/>
          </a:prstGeom>
          <a:solidFill>
            <a:schemeClr val="accent6">
              <a:lumMod val="60000"/>
              <a:lumOff val="40000"/>
            </a:schemeClr>
          </a:solidFill>
          <a:ln w="25400">
            <a:solidFill>
              <a:srgbClr val="FF0000"/>
            </a:solidFill>
          </a:ln>
        </p:spPr>
        <p:txBody>
          <a:bodyPr>
            <a:spAutoFit/>
          </a:bodyPr>
          <a:lstStyle/>
          <a:p>
            <a:pPr algn="ctr" defTabSz="914400">
              <a:defRPr/>
            </a:pPr>
            <a:r>
              <a:rPr kumimoji="1" lang="zh-CN" altLang="en-US" sz="3200" b="1" dirty="0">
                <a:latin typeface="微软雅黑" pitchFamily="34" charset="-122"/>
                <a:ea typeface="微软雅黑" pitchFamily="34" charset="-122"/>
                <a:cs typeface="Times New Roman" pitchFamily="18" charset="0"/>
              </a:rPr>
              <a:t>由图可见它是</a:t>
            </a:r>
            <a:r>
              <a:rPr kumimoji="1" lang="zh-CN" altLang="en-US" sz="3200" b="1" dirty="0">
                <a:solidFill>
                  <a:srgbClr val="FF0000"/>
                </a:solidFill>
                <a:latin typeface="微软雅黑" pitchFamily="34" charset="-122"/>
                <a:ea typeface="微软雅黑" pitchFamily="34" charset="-122"/>
                <a:cs typeface="Times New Roman" pitchFamily="18" charset="0"/>
              </a:rPr>
              <a:t>由线性性</a:t>
            </a:r>
            <a:r>
              <a:rPr kumimoji="1" lang="zh-CN" altLang="en-US" sz="3200" b="1" dirty="0">
                <a:latin typeface="微软雅黑" pitchFamily="34" charset="-122"/>
                <a:ea typeface="微软雅黑" pitchFamily="34" charset="-122"/>
                <a:cs typeface="Times New Roman" pitchFamily="18" charset="0"/>
              </a:rPr>
              <a:t>渐变到</a:t>
            </a:r>
            <a:r>
              <a:rPr kumimoji="1" lang="zh-CN" altLang="en-US" sz="3200" b="1" dirty="0">
                <a:solidFill>
                  <a:srgbClr val="0000FF"/>
                </a:solidFill>
                <a:latin typeface="微软雅黑" pitchFamily="34" charset="-122"/>
                <a:ea typeface="微软雅黑" pitchFamily="34" charset="-122"/>
                <a:cs typeface="Times New Roman" pitchFamily="18" charset="0"/>
              </a:rPr>
              <a:t>非线性的</a:t>
            </a:r>
            <a:r>
              <a:rPr kumimoji="1" lang="zh-CN" altLang="en-US" sz="3200" b="1" dirty="0">
                <a:latin typeface="微软雅黑" pitchFamily="34" charset="-122"/>
                <a:ea typeface="微软雅黑" pitchFamily="34" charset="-122"/>
                <a:cs typeface="Times New Roman" pitchFamily="18" charset="0"/>
              </a:rPr>
              <a:t> </a:t>
            </a:r>
            <a:endParaRPr lang="zh-CN" altLang="en-US" sz="3200" b="1" dirty="0">
              <a:latin typeface="微软雅黑" pitchFamily="34" charset="-122"/>
              <a:ea typeface="微软雅黑" pitchFamily="34" charset="-122"/>
            </a:endParaRPr>
          </a:p>
        </p:txBody>
      </p:sp>
      <p:graphicFrame>
        <p:nvGraphicFramePr>
          <p:cNvPr id="32" name="Object 4">
            <a:extLst>
              <a:ext uri="{FF2B5EF4-FFF2-40B4-BE49-F238E27FC236}">
                <a16:creationId xmlns="" xmlns:a16="http://schemas.microsoft.com/office/drawing/2014/main" id="{862EE898-7617-4E56-921A-B63BCC924C46}"/>
              </a:ext>
            </a:extLst>
          </p:cNvPr>
          <p:cNvGraphicFramePr>
            <a:graphicFrameLocks noChangeAspect="1"/>
          </p:cNvGraphicFramePr>
          <p:nvPr>
            <p:extLst>
              <p:ext uri="{D42A27DB-BD31-4B8C-83A1-F6EECF244321}">
                <p14:modId xmlns:p14="http://schemas.microsoft.com/office/powerpoint/2010/main" val="4032821451"/>
              </p:ext>
            </p:extLst>
          </p:nvPr>
        </p:nvGraphicFramePr>
        <p:xfrm>
          <a:off x="981704" y="4050265"/>
          <a:ext cx="3776046" cy="3178452"/>
        </p:xfrm>
        <a:graphic>
          <a:graphicData uri="http://schemas.openxmlformats.org/presentationml/2006/ole">
            <mc:AlternateContent xmlns:mc="http://schemas.openxmlformats.org/markup-compatibility/2006">
              <mc:Choice xmlns:v="urn:schemas-microsoft-com:vml" Requires="v">
                <p:oleObj spid="_x0000_s8317" name="Visio" r:id="rId5" imgW="2463308" imgH="1705928" progId="Visio.Drawing.11">
                  <p:embed/>
                </p:oleObj>
              </mc:Choice>
              <mc:Fallback>
                <p:oleObj name="Visio" r:id="rId5" imgW="2463308" imgH="1705928" progId="Visio.Drawing.11">
                  <p:embed/>
                  <p:pic>
                    <p:nvPicPr>
                      <p:cNvPr id="2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704" y="4050265"/>
                        <a:ext cx="3776046" cy="3178452"/>
                      </a:xfrm>
                      <a:prstGeom prst="rect">
                        <a:avLst/>
                      </a:prstGeom>
                      <a:noFill/>
                      <a:extLst/>
                    </p:spPr>
                  </p:pic>
                </p:oleObj>
              </mc:Fallback>
            </mc:AlternateContent>
          </a:graphicData>
        </a:graphic>
      </p:graphicFrame>
      <p:sp>
        <p:nvSpPr>
          <p:cNvPr id="34" name="Text Box 5">
            <a:extLst>
              <a:ext uri="{FF2B5EF4-FFF2-40B4-BE49-F238E27FC236}">
                <a16:creationId xmlns="" xmlns:a16="http://schemas.microsoft.com/office/drawing/2014/main" id="{A8939279-776E-40E3-BFE5-25BFBF7DE385}"/>
              </a:ext>
            </a:extLst>
          </p:cNvPr>
          <p:cNvSpPr txBox="1">
            <a:spLocks noChangeAspect="1" noChangeArrowheads="1"/>
          </p:cNvSpPr>
          <p:nvPr/>
        </p:nvSpPr>
        <p:spPr bwMode="auto">
          <a:xfrm>
            <a:off x="981704" y="3339928"/>
            <a:ext cx="4439485" cy="488950"/>
          </a:xfrm>
          <a:prstGeom prst="rect">
            <a:avLst/>
          </a:prstGeom>
          <a:solidFill>
            <a:srgbClr val="FFFFFF"/>
          </a:solidFill>
          <a:ln w="9525">
            <a:noFill/>
            <a:miter lim="800000"/>
            <a:headEnd/>
            <a:tailEnd/>
          </a:ln>
        </p:spPr>
        <p:txBody>
          <a:bodyPr lIns="0" tIns="0" rIns="0" bIns="0"/>
          <a:lstStyle/>
          <a:p>
            <a:pPr algn="just" defTabSz="914400"/>
            <a:r>
              <a:rPr lang="zh-CN" altLang="en-US" sz="2800" b="1" dirty="0">
                <a:latin typeface="Times New Roman" pitchFamily="18" charset="0"/>
                <a:ea typeface="微软雅黑" pitchFamily="34" charset="-122"/>
                <a:cs typeface="Times New Roman" pitchFamily="18" charset="0"/>
              </a:rPr>
              <a:t>如：</a:t>
            </a:r>
            <a:r>
              <a:rPr lang="en-US" altLang="zh-CN" sz="2800" b="1" dirty="0" err="1">
                <a:latin typeface="Times New Roman" pitchFamily="18" charset="0"/>
                <a:ea typeface="微软雅黑" pitchFamily="34" charset="-122"/>
                <a:cs typeface="Times New Roman" pitchFamily="18" charset="0"/>
              </a:rPr>
              <a:t>CdS</a:t>
            </a:r>
            <a:r>
              <a:rPr lang="zh-CN" altLang="en-US" sz="2800" b="1" dirty="0">
                <a:latin typeface="Times New Roman" pitchFamily="18" charset="0"/>
                <a:ea typeface="微软雅黑" pitchFamily="34" charset="-122"/>
                <a:cs typeface="Times New Roman" pitchFamily="18" charset="0"/>
              </a:rPr>
              <a:t>的光电特性曲线</a:t>
            </a:r>
            <a:endParaRPr lang="zh-CN" altLang="en-US" sz="9600" b="1" dirty="0">
              <a:latin typeface="Times New Roman" pitchFamily="18" charset="0"/>
              <a:ea typeface="微软雅黑" pitchFamily="34" charset="-122"/>
              <a:cs typeface="Times New Roman" pitchFamily="18" charset="0"/>
            </a:endParaRPr>
          </a:p>
        </p:txBody>
      </p:sp>
      <p:grpSp>
        <p:nvGrpSpPr>
          <p:cNvPr id="15" name="组合 14"/>
          <p:cNvGrpSpPr/>
          <p:nvPr/>
        </p:nvGrpSpPr>
        <p:grpSpPr>
          <a:xfrm>
            <a:off x="10337881" y="293282"/>
            <a:ext cx="2823365" cy="523220"/>
            <a:chOff x="10337881" y="293282"/>
            <a:chExt cx="2823365" cy="523220"/>
          </a:xfrm>
        </p:grpSpPr>
        <p:sp>
          <p:nvSpPr>
            <p:cNvPr id="16" name="矩形 15"/>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7" name="矩形 16">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19" name="文本框 60">
            <a:extLst>
              <a:ext uri="{FF2B5EF4-FFF2-40B4-BE49-F238E27FC236}">
                <a16:creationId xmlns="" xmlns:a16="http://schemas.microsoft.com/office/drawing/2014/main" id="{791D85D7-F412-9C48-9F2B-E33F5B7B4F3C}"/>
              </a:ext>
            </a:extLst>
          </p:cNvPr>
          <p:cNvSpPr txBox="1"/>
          <p:nvPr/>
        </p:nvSpPr>
        <p:spPr>
          <a:xfrm>
            <a:off x="1469557" y="293282"/>
            <a:ext cx="1235544"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光电特性</a:t>
            </a:r>
          </a:p>
        </p:txBody>
      </p:sp>
      <p:cxnSp>
        <p:nvCxnSpPr>
          <p:cNvPr id="20"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1332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3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ox(i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ox(i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box(in)">
                                      <p:cBhvr>
                                        <p:cTn id="17" dur="500"/>
                                        <p:tgtEl>
                                          <p:spTgt spid="32"/>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box(in)">
                                      <p:cBhvr>
                                        <p:cTn id="20" dur="500"/>
                                        <p:tgtEl>
                                          <p:spTgt spid="34"/>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box(in)">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checkerboard(across)">
                                      <p:cBhvr>
                                        <p:cTn id="3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animBg="1"/>
      <p:bldP spid="3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16" name="Object 9">
            <a:extLst>
              <a:ext uri="{FF2B5EF4-FFF2-40B4-BE49-F238E27FC236}">
                <a16:creationId xmlns="" xmlns:a16="http://schemas.microsoft.com/office/drawing/2014/main" id="{AC33114E-A12D-4725-9F93-6C3970B2FEBB}"/>
              </a:ext>
            </a:extLst>
          </p:cNvPr>
          <p:cNvGraphicFramePr>
            <a:graphicFrameLocks noChangeAspect="1"/>
          </p:cNvGraphicFramePr>
          <p:nvPr>
            <p:extLst>
              <p:ext uri="{D42A27DB-BD31-4B8C-83A1-F6EECF244321}">
                <p14:modId xmlns:p14="http://schemas.microsoft.com/office/powerpoint/2010/main" val="2670962574"/>
              </p:ext>
            </p:extLst>
          </p:nvPr>
        </p:nvGraphicFramePr>
        <p:xfrm>
          <a:off x="1603096" y="2554518"/>
          <a:ext cx="8031163" cy="4279900"/>
        </p:xfrm>
        <a:graphic>
          <a:graphicData uri="http://schemas.openxmlformats.org/presentationml/2006/ole">
            <mc:AlternateContent xmlns:mc="http://schemas.openxmlformats.org/markup-compatibility/2006">
              <mc:Choice xmlns:v="urn:schemas-microsoft-com:vml" Requires="v">
                <p:oleObj spid="_x0000_s9279" name="Visio" r:id="rId3" imgW="2563200" imgH="1363320" progId="Visio.Drawing.11">
                  <p:embed/>
                </p:oleObj>
              </mc:Choice>
              <mc:Fallback>
                <p:oleObj name="Visio" r:id="rId3" imgW="2563200" imgH="1363320" progId="Visio.Drawing.11">
                  <p:embed/>
                  <p:pic>
                    <p:nvPicPr>
                      <p:cNvPr id="18" name="Object 9"/>
                      <p:cNvPicPr>
                        <a:picLocks noChangeAspect="1" noChangeArrowheads="1"/>
                      </p:cNvPicPr>
                      <p:nvPr/>
                    </p:nvPicPr>
                    <p:blipFill>
                      <a:blip r:embed="rId4"/>
                      <a:srcRect/>
                      <a:stretch>
                        <a:fillRect/>
                      </a:stretch>
                    </p:blipFill>
                    <p:spPr bwMode="auto">
                      <a:xfrm>
                        <a:off x="1603096" y="2554518"/>
                        <a:ext cx="8031163" cy="427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3">
            <a:extLst>
              <a:ext uri="{FF2B5EF4-FFF2-40B4-BE49-F238E27FC236}">
                <a16:creationId xmlns="" xmlns:a16="http://schemas.microsoft.com/office/drawing/2014/main" id="{E45D75DF-BCF9-45F6-9665-41AE33C6B724}"/>
              </a:ext>
            </a:extLst>
          </p:cNvPr>
          <p:cNvSpPr txBox="1">
            <a:spLocks noChangeArrowheads="1"/>
          </p:cNvSpPr>
          <p:nvPr/>
        </p:nvSpPr>
        <p:spPr bwMode="auto">
          <a:xfrm>
            <a:off x="649445" y="1353154"/>
            <a:ext cx="12442785" cy="646331"/>
          </a:xfrm>
          <a:prstGeom prst="rect">
            <a:avLst/>
          </a:prstGeom>
          <a:noFill/>
          <a:ln w="9525">
            <a:noFill/>
            <a:miter lim="800000"/>
            <a:headEnd/>
            <a:tailEnd/>
          </a:ln>
        </p:spPr>
        <p:txBody>
          <a:bodyPr wrap="square">
            <a:spAutoFit/>
          </a:bodyPr>
          <a:lstStyle/>
          <a:p>
            <a:pPr defTabSz="914400">
              <a:lnSpc>
                <a:spcPct val="150000"/>
              </a:lnSpc>
            </a:pP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在实际使用时，常常将光敏电阻的</a:t>
            </a:r>
            <a:r>
              <a:rPr lang="zh-CN" altLang="en-US" sz="2400" b="1" dirty="0">
                <a:solidFill>
                  <a:srgbClr val="0000FF"/>
                </a:solidFill>
                <a:latin typeface="微软雅黑" pitchFamily="34" charset="-122"/>
                <a:ea typeface="微软雅黑" pitchFamily="34" charset="-122"/>
              </a:rPr>
              <a:t>光电特性曲线</a:t>
            </a:r>
            <a:r>
              <a:rPr lang="zh-CN" altLang="en-US" sz="2400" b="1" dirty="0">
                <a:latin typeface="微软雅黑" pitchFamily="34" charset="-122"/>
                <a:ea typeface="微软雅黑" pitchFamily="34" charset="-122"/>
              </a:rPr>
              <a:t>改用如图所示的两种坐标曲线。</a:t>
            </a:r>
          </a:p>
        </p:txBody>
      </p:sp>
      <p:cxnSp>
        <p:nvCxnSpPr>
          <p:cNvPr id="18" name="直接箭头连接符 17">
            <a:extLst>
              <a:ext uri="{FF2B5EF4-FFF2-40B4-BE49-F238E27FC236}">
                <a16:creationId xmlns="" xmlns:a16="http://schemas.microsoft.com/office/drawing/2014/main" id="{7CFA5AE8-5BB2-4797-8600-068BF51B88F1}"/>
              </a:ext>
            </a:extLst>
          </p:cNvPr>
          <p:cNvCxnSpPr/>
          <p:nvPr/>
        </p:nvCxnSpPr>
        <p:spPr>
          <a:xfrm flipH="1">
            <a:off x="7914968" y="3245033"/>
            <a:ext cx="2630132" cy="970566"/>
          </a:xfrm>
          <a:prstGeom prst="straightConnector1">
            <a:avLst/>
          </a:prstGeom>
          <a:ln w="31750">
            <a:tailEnd type="arrow"/>
          </a:ln>
        </p:spPr>
        <p:style>
          <a:lnRef idx="2">
            <a:schemeClr val="accent6"/>
          </a:lnRef>
          <a:fillRef idx="0">
            <a:schemeClr val="accent6"/>
          </a:fillRef>
          <a:effectRef idx="1">
            <a:schemeClr val="accent6"/>
          </a:effectRef>
          <a:fontRef idx="minor">
            <a:schemeClr val="tx1"/>
          </a:fontRef>
        </p:style>
      </p:cxnSp>
      <p:sp>
        <p:nvSpPr>
          <p:cNvPr id="19" name="Text Box 4">
            <a:extLst>
              <a:ext uri="{FF2B5EF4-FFF2-40B4-BE49-F238E27FC236}">
                <a16:creationId xmlns="" xmlns:a16="http://schemas.microsoft.com/office/drawing/2014/main" id="{7504A016-1AE2-4354-94BA-F3083B50F9C5}"/>
              </a:ext>
            </a:extLst>
          </p:cNvPr>
          <p:cNvSpPr txBox="1">
            <a:spLocks noChangeArrowheads="1"/>
          </p:cNvSpPr>
          <p:nvPr/>
        </p:nvSpPr>
        <p:spPr bwMode="auto">
          <a:xfrm>
            <a:off x="10421173" y="3045008"/>
            <a:ext cx="990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eaLnBrk="1" hangingPunct="1">
              <a:spcBef>
                <a:spcPct val="50000"/>
              </a:spcBef>
            </a:pPr>
            <a:r>
              <a:rPr kumimoji="1" lang="en-US" altLang="zh-CN" sz="2000" i="1" dirty="0">
                <a:latin typeface="Euclid Symbol" panose="05050102010706020507" pitchFamily="18" charset="2"/>
                <a:ea typeface="微软雅黑" panose="020B0503020204020204" pitchFamily="34" charset="-122"/>
                <a:cs typeface="Times New Roman" panose="02020603050405020304" pitchFamily="18" charset="0"/>
              </a:rPr>
              <a:t>g</a:t>
            </a:r>
            <a:r>
              <a:rPr kumimoji="1"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斜率</a:t>
            </a:r>
            <a:r>
              <a:rPr kumimoji="1"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21" name="Text Box 6">
            <a:extLst>
              <a:ext uri="{FF2B5EF4-FFF2-40B4-BE49-F238E27FC236}">
                <a16:creationId xmlns="" xmlns:a16="http://schemas.microsoft.com/office/drawing/2014/main" id="{7AB638ED-3FC3-40A8-BD0D-308669012C36}"/>
              </a:ext>
            </a:extLst>
          </p:cNvPr>
          <p:cNvSpPr txBox="1">
            <a:spLocks noChangeArrowheads="1"/>
          </p:cNvSpPr>
          <p:nvPr/>
        </p:nvSpPr>
        <p:spPr bwMode="auto">
          <a:xfrm>
            <a:off x="9698341" y="4074288"/>
            <a:ext cx="3426864" cy="1754326"/>
          </a:xfrm>
          <a:prstGeom prst="rect">
            <a:avLst/>
          </a:prstGeom>
          <a:solidFill>
            <a:schemeClr val="accent6">
              <a:lumMod val="60000"/>
              <a:lumOff val="40000"/>
            </a:schemeClr>
          </a:solidFill>
          <a:ln>
            <a:noFill/>
          </a:ln>
        </p:spPr>
        <p:txBody>
          <a:bodyPr wrap="square">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72000" indent="-144000" eaLnBrk="1" hangingPunct="1">
              <a:lnSpc>
                <a:spcPct val="150000"/>
              </a:lnSpc>
              <a:spcBef>
                <a:spcPts val="0"/>
              </a:spcBef>
              <a:buFont typeface="Arial" pitchFamily="34" charset="0"/>
              <a:buChar char="•"/>
              <a:defRPr/>
            </a:pPr>
            <a:r>
              <a:rPr kumimoji="1" lang="en-US" altLang="zh-CN" sz="2400" dirty="0">
                <a:latin typeface="Symbol" pitchFamily="18" charset="2"/>
                <a:ea typeface="微软雅黑" pitchFamily="34" charset="-122"/>
                <a:cs typeface="Times New Roman" pitchFamily="18" charset="0"/>
              </a:rPr>
              <a:t>g</a:t>
            </a:r>
            <a:r>
              <a:rPr kumimoji="1" lang="zh-CN" altLang="en-US" sz="2400" dirty="0">
                <a:latin typeface="Times New Roman" pitchFamily="18" charset="0"/>
                <a:ea typeface="微软雅黑" pitchFamily="34" charset="-122"/>
                <a:cs typeface="Times New Roman" pitchFamily="18" charset="0"/>
              </a:rPr>
              <a:t>大 </a:t>
            </a:r>
            <a:r>
              <a:rPr kumimoji="1" lang="en-US" altLang="zh-CN" sz="2400" dirty="0">
                <a:latin typeface="Times New Roman" pitchFamily="18" charset="0"/>
                <a:ea typeface="微软雅黑" pitchFamily="34" charset="-122"/>
                <a:cs typeface="Times New Roman" pitchFamily="18" charset="0"/>
                <a:sym typeface="Wingdings" pitchFamily="2" charset="2"/>
              </a:rPr>
              <a:t> </a:t>
            </a:r>
            <a:r>
              <a:rPr kumimoji="1" lang="zh-CN" altLang="en-US" sz="2400" dirty="0">
                <a:latin typeface="Times New Roman" pitchFamily="18" charset="0"/>
                <a:ea typeface="微软雅黑" pitchFamily="34" charset="-122"/>
                <a:cs typeface="Times New Roman" pitchFamily="18" charset="0"/>
                <a:sym typeface="Wingdings" pitchFamily="2" charset="2"/>
              </a:rPr>
              <a:t>暗电阻高；</a:t>
            </a:r>
            <a:endParaRPr kumimoji="1" lang="en-US" altLang="zh-CN" sz="2400" dirty="0">
              <a:latin typeface="Times New Roman" pitchFamily="18" charset="0"/>
              <a:ea typeface="微软雅黑" pitchFamily="34" charset="-122"/>
              <a:cs typeface="Times New Roman" pitchFamily="18" charset="0"/>
              <a:sym typeface="Wingdings" pitchFamily="2" charset="2"/>
            </a:endParaRPr>
          </a:p>
          <a:p>
            <a:pPr marL="72000" indent="-144000" eaLnBrk="1" hangingPunct="1">
              <a:lnSpc>
                <a:spcPct val="150000"/>
              </a:lnSpc>
              <a:spcBef>
                <a:spcPts val="0"/>
              </a:spcBef>
              <a:buFont typeface="Arial" pitchFamily="34" charset="0"/>
              <a:buChar char="•"/>
              <a:defRPr/>
            </a:pPr>
            <a:r>
              <a:rPr kumimoji="1" lang="zh-CN" altLang="en-US" sz="2400" dirty="0">
                <a:latin typeface="Times New Roman" pitchFamily="18" charset="0"/>
                <a:ea typeface="微软雅黑" pitchFamily="34" charset="-122"/>
                <a:cs typeface="Times New Roman" pitchFamily="18" charset="0"/>
                <a:sym typeface="Wingdings" pitchFamily="2" charset="2"/>
              </a:rPr>
              <a:t>同</a:t>
            </a:r>
            <a:r>
              <a:rPr kumimoji="1" lang="zh-CN" altLang="en-US" sz="2400" dirty="0">
                <a:latin typeface="Times New Roman" pitchFamily="18" charset="0"/>
                <a:ea typeface="微软雅黑" pitchFamily="34" charset="-122"/>
                <a:cs typeface="Times New Roman" pitchFamily="18" charset="0"/>
              </a:rPr>
              <a:t>光敏电阻： </a:t>
            </a:r>
            <a:r>
              <a:rPr kumimoji="1" lang="en-US" altLang="zh-CN" sz="2400" dirty="0">
                <a:latin typeface="Symbol" pitchFamily="18" charset="2"/>
                <a:ea typeface="微软雅黑" pitchFamily="34" charset="-122"/>
                <a:cs typeface="Times New Roman" pitchFamily="18" charset="0"/>
              </a:rPr>
              <a:t>g</a:t>
            </a:r>
            <a:r>
              <a:rPr kumimoji="1" lang="zh-CN" altLang="en-US" sz="2400" dirty="0">
                <a:latin typeface="Symbol" pitchFamily="18" charset="2"/>
                <a:ea typeface="微软雅黑" pitchFamily="34" charset="-122"/>
                <a:cs typeface="Times New Roman" pitchFamily="18" charset="0"/>
              </a:rPr>
              <a:t>值不变（</a:t>
            </a:r>
            <a:r>
              <a:rPr kumimoji="1" lang="zh-CN" altLang="en-US" sz="2400" dirty="0">
                <a:solidFill>
                  <a:srgbClr val="FF0000"/>
                </a:solidFill>
                <a:latin typeface="Symbol" pitchFamily="18" charset="2"/>
                <a:ea typeface="微软雅黑" pitchFamily="34" charset="-122"/>
                <a:cs typeface="Times New Roman" pitchFamily="18" charset="0"/>
              </a:rPr>
              <a:t>一定</a:t>
            </a:r>
            <a:r>
              <a:rPr kumimoji="1" lang="en-US" altLang="zh-CN" sz="2400" dirty="0">
                <a:solidFill>
                  <a:srgbClr val="FF0000"/>
                </a:solidFill>
                <a:latin typeface="Symbol" pitchFamily="18" charset="2"/>
                <a:ea typeface="微软雅黑" pitchFamily="34" charset="-122"/>
                <a:cs typeface="Times New Roman" pitchFamily="18" charset="0"/>
              </a:rPr>
              <a:t>E</a:t>
            </a:r>
            <a:r>
              <a:rPr kumimoji="1" lang="zh-CN" altLang="en-US" sz="2400" dirty="0">
                <a:solidFill>
                  <a:srgbClr val="FF0000"/>
                </a:solidFill>
                <a:latin typeface="Symbol" pitchFamily="18" charset="2"/>
                <a:ea typeface="微软雅黑" pitchFamily="34" charset="-122"/>
                <a:cs typeface="Times New Roman" pitchFamily="18" charset="0"/>
              </a:rPr>
              <a:t>范围内</a:t>
            </a:r>
            <a:r>
              <a:rPr kumimoji="1" lang="zh-CN" altLang="en-US" sz="2400" dirty="0">
                <a:latin typeface="Symbol" pitchFamily="18" charset="2"/>
                <a:ea typeface="微软雅黑" pitchFamily="34" charset="-122"/>
                <a:cs typeface="Times New Roman" pitchFamily="18" charset="0"/>
              </a:rPr>
              <a:t>）</a:t>
            </a:r>
            <a:endParaRPr kumimoji="1" lang="zh-CN" altLang="en-US" sz="2400" dirty="0">
              <a:latin typeface="Times New Roman" pitchFamily="18" charset="0"/>
              <a:ea typeface="微软雅黑" pitchFamily="34" charset="-122"/>
              <a:cs typeface="Times New Roman" pitchFamily="18" charset="0"/>
            </a:endParaRPr>
          </a:p>
        </p:txBody>
      </p:sp>
      <p:grpSp>
        <p:nvGrpSpPr>
          <p:cNvPr id="14" name="组合 13"/>
          <p:cNvGrpSpPr/>
          <p:nvPr/>
        </p:nvGrpSpPr>
        <p:grpSpPr>
          <a:xfrm>
            <a:off x="10337881" y="293282"/>
            <a:ext cx="2823365" cy="523220"/>
            <a:chOff x="10337881" y="293282"/>
            <a:chExt cx="2823365" cy="523220"/>
          </a:xfrm>
        </p:grpSpPr>
        <p:sp>
          <p:nvSpPr>
            <p:cNvPr id="15" name="矩形 14"/>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22" name="矩形 21">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20" name="文本框 60">
            <a:extLst>
              <a:ext uri="{FF2B5EF4-FFF2-40B4-BE49-F238E27FC236}">
                <a16:creationId xmlns="" xmlns:a16="http://schemas.microsoft.com/office/drawing/2014/main" id="{791D85D7-F412-9C48-9F2B-E33F5B7B4F3C}"/>
              </a:ext>
            </a:extLst>
          </p:cNvPr>
          <p:cNvSpPr txBox="1"/>
          <p:nvPr/>
        </p:nvSpPr>
        <p:spPr>
          <a:xfrm>
            <a:off x="1469557" y="293282"/>
            <a:ext cx="1235544"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光电特性</a:t>
            </a:r>
          </a:p>
        </p:txBody>
      </p:sp>
      <p:cxnSp>
        <p:nvCxnSpPr>
          <p:cNvPr id="24"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1332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78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ox(in)">
                                      <p:cBhvr>
                                        <p:cTn id="15" dur="500"/>
                                        <p:tgtEl>
                                          <p:spTgt spid="19"/>
                                        </p:tgtEl>
                                      </p:cBhvr>
                                    </p:animEffect>
                                  </p:childTnLst>
                                </p:cTn>
                              </p:par>
                              <p:par>
                                <p:cTn id="16" presetID="22" presetClass="entr" presetSubtype="4"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down)">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up)">
                                      <p:cBhvr>
                                        <p:cTn id="2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Text Box 3">
            <a:extLst>
              <a:ext uri="{FF2B5EF4-FFF2-40B4-BE49-F238E27FC236}">
                <a16:creationId xmlns="" xmlns:a16="http://schemas.microsoft.com/office/drawing/2014/main" id="{7FC39AC3-872C-448F-BF28-263609DEE4B6}"/>
              </a:ext>
            </a:extLst>
          </p:cNvPr>
          <p:cNvSpPr txBox="1">
            <a:spLocks noChangeArrowheads="1"/>
          </p:cNvSpPr>
          <p:nvPr/>
        </p:nvSpPr>
        <p:spPr bwMode="auto">
          <a:xfrm>
            <a:off x="709220" y="1325070"/>
            <a:ext cx="12320708" cy="137477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dirty="0">
                <a:latin typeface="宋体" pitchFamily="2" charset="-122"/>
              </a:rPr>
              <a:t>    </a:t>
            </a:r>
            <a:r>
              <a:rPr kumimoji="1" lang="zh-CN" altLang="en-US" sz="2800" b="1" dirty="0">
                <a:latin typeface="Times New Roman" pitchFamily="18" charset="0"/>
                <a:ea typeface="微软雅黑" pitchFamily="34" charset="-122"/>
                <a:cs typeface="Times New Roman" pitchFamily="18" charset="0"/>
              </a:rPr>
              <a:t>对数坐标系中光敏电阻的阻值</a:t>
            </a:r>
            <a:r>
              <a:rPr kumimoji="1" lang="en-US" altLang="zh-CN" sz="2800" b="1" i="1" dirty="0">
                <a:latin typeface="Times New Roman" pitchFamily="18" charset="0"/>
                <a:ea typeface="微软雅黑" pitchFamily="34" charset="-122"/>
                <a:cs typeface="Times New Roman" pitchFamily="18" charset="0"/>
              </a:rPr>
              <a:t>R</a:t>
            </a:r>
            <a:r>
              <a:rPr kumimoji="1" lang="zh-CN" altLang="en-US" sz="2800" b="1" dirty="0">
                <a:latin typeface="Times New Roman" pitchFamily="18" charset="0"/>
                <a:ea typeface="微软雅黑" pitchFamily="34" charset="-122"/>
                <a:cs typeface="Times New Roman" pitchFamily="18" charset="0"/>
              </a:rPr>
              <a:t>在某段照度</a:t>
            </a:r>
            <a:r>
              <a:rPr kumimoji="1" lang="en-US" altLang="zh-CN" sz="2800" b="1" i="1" dirty="0">
                <a:latin typeface="Times New Roman" pitchFamily="18" charset="0"/>
                <a:ea typeface="微软雅黑" pitchFamily="34" charset="-122"/>
                <a:cs typeface="Times New Roman" pitchFamily="18" charset="0"/>
              </a:rPr>
              <a:t>E</a:t>
            </a:r>
            <a:r>
              <a:rPr kumimoji="1" lang="zh-CN" altLang="en-US" sz="2800" b="1" dirty="0">
                <a:latin typeface="Times New Roman" pitchFamily="18" charset="0"/>
                <a:ea typeface="微软雅黑" pitchFamily="34" charset="-122"/>
                <a:cs typeface="Times New Roman" pitchFamily="18" charset="0"/>
              </a:rPr>
              <a:t>范围内的光电特性表现为线性，即</a:t>
            </a:r>
            <a:r>
              <a:rPr kumimoji="1" lang="en-US" altLang="zh-CN" sz="2800" b="1" i="1" dirty="0">
                <a:latin typeface="Times New Roman" pitchFamily="18" charset="0"/>
                <a:ea typeface="微软雅黑" pitchFamily="34" charset="-122"/>
                <a:cs typeface="Times New Roman" pitchFamily="18" charset="0"/>
              </a:rPr>
              <a:t>γ</a:t>
            </a:r>
            <a:r>
              <a:rPr kumimoji="1" lang="zh-CN" altLang="en-US" sz="2800" b="1" dirty="0">
                <a:latin typeface="Times New Roman" pitchFamily="18" charset="0"/>
                <a:ea typeface="微软雅黑" pitchFamily="34" charset="-122"/>
                <a:cs typeface="Times New Roman" pitchFamily="18" charset="0"/>
              </a:rPr>
              <a:t>保持不变。 </a:t>
            </a:r>
            <a:endParaRPr kumimoji="1" lang="zh-CN" altLang="en-US" sz="3200" b="1" dirty="0">
              <a:latin typeface="Times New Roman" pitchFamily="18" charset="0"/>
              <a:ea typeface="微软雅黑" pitchFamily="34" charset="-122"/>
              <a:cs typeface="Times New Roman" pitchFamily="18" charset="0"/>
            </a:endParaRPr>
          </a:p>
        </p:txBody>
      </p:sp>
      <p:sp>
        <p:nvSpPr>
          <p:cNvPr id="22" name="Text Box 4">
            <a:extLst>
              <a:ext uri="{FF2B5EF4-FFF2-40B4-BE49-F238E27FC236}">
                <a16:creationId xmlns="" xmlns:a16="http://schemas.microsoft.com/office/drawing/2014/main" id="{6610E844-C39C-4BCD-8D5A-F576310A41CC}"/>
              </a:ext>
            </a:extLst>
          </p:cNvPr>
          <p:cNvSpPr txBox="1">
            <a:spLocks noChangeArrowheads="1"/>
          </p:cNvSpPr>
          <p:nvPr/>
        </p:nvSpPr>
        <p:spPr bwMode="auto">
          <a:xfrm>
            <a:off x="1046644" y="2993725"/>
            <a:ext cx="6000750" cy="519112"/>
          </a:xfrm>
          <a:prstGeom prst="rect">
            <a:avLst/>
          </a:prstGeom>
          <a:noFill/>
          <a:ln w="9525">
            <a:noFill/>
            <a:miter lim="800000"/>
            <a:headEnd/>
            <a:tailEnd/>
          </a:ln>
        </p:spPr>
        <p:txBody>
          <a:bodyPr>
            <a:spAutoFit/>
          </a:bodyPr>
          <a:lstStyle/>
          <a:p>
            <a:pPr defTabSz="914400">
              <a:spcBef>
                <a:spcPct val="50000"/>
              </a:spcBef>
            </a:pPr>
            <a:r>
              <a:rPr kumimoji="1" lang="zh-CN" altLang="en-US" sz="2800" b="1" i="1" dirty="0">
                <a:latin typeface="Times New Roman" pitchFamily="18" charset="0"/>
                <a:ea typeface="微软雅黑" pitchFamily="34" charset="-122"/>
                <a:cs typeface="Times New Roman" pitchFamily="18" charset="0"/>
              </a:rPr>
              <a:t>    </a:t>
            </a:r>
            <a:r>
              <a:rPr kumimoji="1" lang="en-US" altLang="zh-CN" sz="2800" b="1" i="1" dirty="0">
                <a:latin typeface="Times New Roman" pitchFamily="18" charset="0"/>
                <a:ea typeface="微软雅黑" pitchFamily="34" charset="-122"/>
                <a:cs typeface="Times New Roman" pitchFamily="18" charset="0"/>
              </a:rPr>
              <a:t>γ</a:t>
            </a:r>
            <a:r>
              <a:rPr kumimoji="1" lang="zh-CN" altLang="en-US" sz="2800" b="1" dirty="0">
                <a:latin typeface="Times New Roman" pitchFamily="18" charset="0"/>
                <a:ea typeface="微软雅黑" pitchFamily="34" charset="-122"/>
                <a:cs typeface="Times New Roman" pitchFamily="18" charset="0"/>
              </a:rPr>
              <a:t>值为对数坐标下特性曲线的斜率</a:t>
            </a:r>
            <a:r>
              <a:rPr kumimoji="1" lang="zh-CN" altLang="en-US" sz="2800" dirty="0">
                <a:latin typeface="Times New Roman" pitchFamily="18" charset="0"/>
                <a:ea typeface="微软雅黑" pitchFamily="34" charset="-122"/>
                <a:cs typeface="Times New Roman" pitchFamily="18" charset="0"/>
              </a:rPr>
              <a:t> </a:t>
            </a:r>
          </a:p>
        </p:txBody>
      </p:sp>
      <p:graphicFrame>
        <p:nvGraphicFramePr>
          <p:cNvPr id="23" name="Object 2">
            <a:extLst>
              <a:ext uri="{FF2B5EF4-FFF2-40B4-BE49-F238E27FC236}">
                <a16:creationId xmlns="" xmlns:a16="http://schemas.microsoft.com/office/drawing/2014/main" id="{CD9A4BA0-2737-451F-A346-C8E16E88BBF9}"/>
              </a:ext>
            </a:extLst>
          </p:cNvPr>
          <p:cNvGraphicFramePr>
            <a:graphicFrameLocks noChangeAspect="1"/>
          </p:cNvGraphicFramePr>
          <p:nvPr>
            <p:extLst>
              <p:ext uri="{D42A27DB-BD31-4B8C-83A1-F6EECF244321}">
                <p14:modId xmlns:p14="http://schemas.microsoft.com/office/powerpoint/2010/main" val="2401388455"/>
              </p:ext>
            </p:extLst>
          </p:nvPr>
        </p:nvGraphicFramePr>
        <p:xfrm>
          <a:off x="2506350" y="4012256"/>
          <a:ext cx="3081337" cy="1246187"/>
        </p:xfrm>
        <a:graphic>
          <a:graphicData uri="http://schemas.openxmlformats.org/presentationml/2006/ole">
            <mc:AlternateContent xmlns:mc="http://schemas.openxmlformats.org/markup-compatibility/2006">
              <mc:Choice xmlns:v="urn:schemas-microsoft-com:vml" Requires="v">
                <p:oleObj spid="_x0000_s10303" name="Equation" r:id="rId3" imgW="1066680" imgH="431640" progId="Equation.DSMT4">
                  <p:embed/>
                </p:oleObj>
              </mc:Choice>
              <mc:Fallback>
                <p:oleObj name="Equation" r:id="rId3" imgW="1066680" imgH="431640" progId="Equation.DSMT4">
                  <p:embed/>
                  <p:pic>
                    <p:nvPicPr>
                      <p:cNvPr id="21"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6350" y="4012256"/>
                        <a:ext cx="3081337" cy="124618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Text Box 6">
            <a:extLst>
              <a:ext uri="{FF2B5EF4-FFF2-40B4-BE49-F238E27FC236}">
                <a16:creationId xmlns="" xmlns:a16="http://schemas.microsoft.com/office/drawing/2014/main" id="{FBF3689C-CD60-4416-8470-4622AE9B215E}"/>
              </a:ext>
            </a:extLst>
          </p:cNvPr>
          <p:cNvSpPr txBox="1">
            <a:spLocks noChangeArrowheads="1"/>
          </p:cNvSpPr>
          <p:nvPr/>
        </p:nvSpPr>
        <p:spPr bwMode="auto">
          <a:xfrm>
            <a:off x="954088" y="5757863"/>
            <a:ext cx="7823200" cy="733425"/>
          </a:xfrm>
          <a:prstGeom prst="rect">
            <a:avLst/>
          </a:prstGeom>
          <a:noFill/>
          <a:ln w="9525">
            <a:noFill/>
            <a:miter lim="800000"/>
            <a:headEnd/>
            <a:tailEnd/>
          </a:ln>
        </p:spPr>
        <p:txBody>
          <a:bodyPr>
            <a:spAutoFit/>
          </a:bodyPr>
          <a:lstStyle/>
          <a:p>
            <a:pPr defTabSz="914400">
              <a:lnSpc>
                <a:spcPct val="150000"/>
              </a:lnSpc>
              <a:spcBef>
                <a:spcPct val="50000"/>
              </a:spcBef>
            </a:pPr>
            <a:r>
              <a:rPr kumimoji="1" lang="en-US" altLang="zh-CN" sz="2800" b="1" i="1">
                <a:latin typeface="Times New Roman" pitchFamily="18" charset="0"/>
                <a:ea typeface="微软雅黑" pitchFamily="34" charset="-122"/>
                <a:cs typeface="Times New Roman" pitchFamily="18" charset="0"/>
              </a:rPr>
              <a:t>R</a:t>
            </a:r>
            <a:r>
              <a:rPr kumimoji="1" lang="en-US" altLang="zh-CN" sz="2800" b="1" i="1" baseline="-25000">
                <a:latin typeface="Times New Roman" pitchFamily="18" charset="0"/>
                <a:ea typeface="微软雅黑" pitchFamily="34" charset="-122"/>
                <a:cs typeface="Times New Roman" pitchFamily="18" charset="0"/>
              </a:rPr>
              <a:t>A</a:t>
            </a:r>
            <a:r>
              <a:rPr kumimoji="1" lang="zh-CN" altLang="en-US" sz="2800" b="1">
                <a:latin typeface="Times New Roman" pitchFamily="18" charset="0"/>
                <a:ea typeface="微软雅黑" pitchFamily="34" charset="-122"/>
                <a:cs typeface="Times New Roman" pitchFamily="18" charset="0"/>
              </a:rPr>
              <a:t>与</a:t>
            </a:r>
            <a:r>
              <a:rPr kumimoji="1" lang="en-US" altLang="zh-CN" sz="2800" b="1" i="1">
                <a:latin typeface="Times New Roman" pitchFamily="18" charset="0"/>
                <a:ea typeface="微软雅黑" pitchFamily="34" charset="-122"/>
                <a:cs typeface="Times New Roman" pitchFamily="18" charset="0"/>
              </a:rPr>
              <a:t>R</a:t>
            </a:r>
            <a:r>
              <a:rPr kumimoji="1" lang="en-US" altLang="zh-CN" sz="2800" b="1" baseline="-30000">
                <a:latin typeface="Times New Roman" pitchFamily="18" charset="0"/>
                <a:ea typeface="微软雅黑" pitchFamily="34" charset="-122"/>
                <a:cs typeface="Times New Roman" pitchFamily="18" charset="0"/>
              </a:rPr>
              <a:t>B</a:t>
            </a:r>
            <a:r>
              <a:rPr kumimoji="1" lang="zh-CN" altLang="en-US" sz="2800" b="1">
                <a:latin typeface="Times New Roman" pitchFamily="18" charset="0"/>
                <a:ea typeface="微软雅黑" pitchFamily="34" charset="-122"/>
                <a:cs typeface="Times New Roman" pitchFamily="18" charset="0"/>
              </a:rPr>
              <a:t>分别是照度为</a:t>
            </a:r>
            <a:r>
              <a:rPr kumimoji="1" lang="en-US" altLang="zh-CN" sz="2800" b="1" i="1">
                <a:latin typeface="Times New Roman" pitchFamily="18" charset="0"/>
                <a:ea typeface="微软雅黑" pitchFamily="34" charset="-122"/>
                <a:cs typeface="Times New Roman" pitchFamily="18" charset="0"/>
              </a:rPr>
              <a:t>E</a:t>
            </a:r>
            <a:r>
              <a:rPr kumimoji="1" lang="en-US" altLang="zh-CN" sz="2800" b="1" baseline="-30000">
                <a:latin typeface="Times New Roman" pitchFamily="18" charset="0"/>
                <a:ea typeface="微软雅黑" pitchFamily="34" charset="-122"/>
                <a:cs typeface="Times New Roman" pitchFamily="18" charset="0"/>
              </a:rPr>
              <a:t>A</a:t>
            </a:r>
            <a:r>
              <a:rPr kumimoji="1" lang="zh-CN" altLang="en-US" sz="2800" b="1">
                <a:latin typeface="Times New Roman" pitchFamily="18" charset="0"/>
                <a:ea typeface="微软雅黑" pitchFamily="34" charset="-122"/>
                <a:cs typeface="Times New Roman" pitchFamily="18" charset="0"/>
              </a:rPr>
              <a:t>和</a:t>
            </a:r>
            <a:r>
              <a:rPr kumimoji="1" lang="en-US" altLang="zh-CN" sz="2800" b="1" i="1">
                <a:latin typeface="Times New Roman" pitchFamily="18" charset="0"/>
                <a:ea typeface="微软雅黑" pitchFamily="34" charset="-122"/>
                <a:cs typeface="Times New Roman" pitchFamily="18" charset="0"/>
              </a:rPr>
              <a:t>E</a:t>
            </a:r>
            <a:r>
              <a:rPr kumimoji="1" lang="en-US" altLang="zh-CN" sz="2800" b="1" baseline="-30000">
                <a:latin typeface="Times New Roman" pitchFamily="18" charset="0"/>
                <a:ea typeface="微软雅黑" pitchFamily="34" charset="-122"/>
                <a:cs typeface="Times New Roman" pitchFamily="18" charset="0"/>
              </a:rPr>
              <a:t>B</a:t>
            </a:r>
            <a:r>
              <a:rPr kumimoji="1" lang="zh-CN" altLang="en-US" sz="2800" b="1">
                <a:latin typeface="Times New Roman" pitchFamily="18" charset="0"/>
                <a:ea typeface="微软雅黑" pitchFamily="34" charset="-122"/>
                <a:cs typeface="Times New Roman" pitchFamily="18" charset="0"/>
              </a:rPr>
              <a:t>时光敏电阻的阻值。 </a:t>
            </a:r>
          </a:p>
        </p:txBody>
      </p:sp>
      <p:pic>
        <p:nvPicPr>
          <p:cNvPr id="27" name="图片 26">
            <a:extLst>
              <a:ext uri="{FF2B5EF4-FFF2-40B4-BE49-F238E27FC236}">
                <a16:creationId xmlns="" xmlns:a16="http://schemas.microsoft.com/office/drawing/2014/main" id="{7FCF4D5C-DAC6-447F-AF83-7A055BA12097}"/>
              </a:ext>
            </a:extLst>
          </p:cNvPr>
          <p:cNvPicPr>
            <a:picLocks noChangeAspect="1"/>
          </p:cNvPicPr>
          <p:nvPr/>
        </p:nvPicPr>
        <p:blipFill>
          <a:blip r:embed="rId5"/>
          <a:stretch>
            <a:fillRect/>
          </a:stretch>
        </p:blipFill>
        <p:spPr>
          <a:xfrm>
            <a:off x="8506514" y="2733697"/>
            <a:ext cx="4143948" cy="3897552"/>
          </a:xfrm>
          <a:prstGeom prst="rect">
            <a:avLst/>
          </a:prstGeom>
        </p:spPr>
      </p:pic>
      <p:grpSp>
        <p:nvGrpSpPr>
          <p:cNvPr id="14" name="组合 13"/>
          <p:cNvGrpSpPr/>
          <p:nvPr/>
        </p:nvGrpSpPr>
        <p:grpSpPr>
          <a:xfrm>
            <a:off x="10337881" y="293282"/>
            <a:ext cx="2823365" cy="523220"/>
            <a:chOff x="10337881" y="293282"/>
            <a:chExt cx="2823365" cy="523220"/>
          </a:xfrm>
        </p:grpSpPr>
        <p:sp>
          <p:nvSpPr>
            <p:cNvPr id="16" name="矩形 15"/>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7" name="矩形 16">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19" name="文本框 60">
            <a:extLst>
              <a:ext uri="{FF2B5EF4-FFF2-40B4-BE49-F238E27FC236}">
                <a16:creationId xmlns="" xmlns:a16="http://schemas.microsoft.com/office/drawing/2014/main" id="{791D85D7-F412-9C48-9F2B-E33F5B7B4F3C}"/>
              </a:ext>
            </a:extLst>
          </p:cNvPr>
          <p:cNvSpPr txBox="1"/>
          <p:nvPr/>
        </p:nvSpPr>
        <p:spPr>
          <a:xfrm>
            <a:off x="1469557" y="293282"/>
            <a:ext cx="1235544"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光电特性</a:t>
            </a:r>
          </a:p>
        </p:txBody>
      </p:sp>
      <p:cxnSp>
        <p:nvCxnSpPr>
          <p:cNvPr id="20"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1332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6229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ox(i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ox(in)">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box(in)">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1741725"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光电导灵敏度</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1656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16" name="Object 3">
            <a:extLst>
              <a:ext uri="{FF2B5EF4-FFF2-40B4-BE49-F238E27FC236}">
                <a16:creationId xmlns="" xmlns:a16="http://schemas.microsoft.com/office/drawing/2014/main" id="{B244C9CE-845D-4280-8C03-303AF705F55E}"/>
              </a:ext>
            </a:extLst>
          </p:cNvPr>
          <p:cNvGraphicFramePr>
            <a:graphicFrameLocks noChangeAspect="1"/>
          </p:cNvGraphicFramePr>
          <p:nvPr>
            <p:extLst>
              <p:ext uri="{D42A27DB-BD31-4B8C-83A1-F6EECF244321}">
                <p14:modId xmlns:p14="http://schemas.microsoft.com/office/powerpoint/2010/main" val="3359426095"/>
              </p:ext>
            </p:extLst>
          </p:nvPr>
        </p:nvGraphicFramePr>
        <p:xfrm>
          <a:off x="3781574" y="3949566"/>
          <a:ext cx="1289050" cy="966788"/>
        </p:xfrm>
        <a:graphic>
          <a:graphicData uri="http://schemas.openxmlformats.org/presentationml/2006/ole">
            <mc:AlternateContent xmlns:mc="http://schemas.openxmlformats.org/markup-compatibility/2006">
              <mc:Choice xmlns:v="urn:schemas-microsoft-com:vml" Requires="v">
                <p:oleObj spid="_x0000_s11471" name="公式" r:id="rId3" imgW="558720" imgH="419040" progId="Equation.3">
                  <p:embed/>
                </p:oleObj>
              </mc:Choice>
              <mc:Fallback>
                <p:oleObj name="公式" r:id="rId3" imgW="558720" imgH="419040" progId="Equation.3">
                  <p:embed/>
                  <p:pic>
                    <p:nvPicPr>
                      <p:cNvPr id="1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1574" y="3949566"/>
                        <a:ext cx="1289050" cy="966788"/>
                      </a:xfrm>
                      <a:prstGeom prst="rect">
                        <a:avLst/>
                      </a:prstGeom>
                      <a:solidFill>
                        <a:srgbClr val="FFFF00"/>
                      </a:solidFill>
                      <a:ln w="9525">
                        <a:solidFill>
                          <a:srgbClr val="FFFF00"/>
                        </a:solidFill>
                        <a:miter lim="800000"/>
                        <a:headEnd/>
                        <a:tailEnd/>
                      </a:ln>
                    </p:spPr>
                  </p:pic>
                </p:oleObj>
              </mc:Fallback>
            </mc:AlternateContent>
          </a:graphicData>
        </a:graphic>
      </p:graphicFrame>
      <p:sp>
        <p:nvSpPr>
          <p:cNvPr id="17" name="TextBox 4">
            <a:extLst>
              <a:ext uri="{FF2B5EF4-FFF2-40B4-BE49-F238E27FC236}">
                <a16:creationId xmlns="" xmlns:a16="http://schemas.microsoft.com/office/drawing/2014/main" id="{C33F1978-4A1C-4F60-99BA-D1035592CC0A}"/>
              </a:ext>
            </a:extLst>
          </p:cNvPr>
          <p:cNvSpPr txBox="1">
            <a:spLocks noChangeArrowheads="1"/>
          </p:cNvSpPr>
          <p:nvPr/>
        </p:nvSpPr>
        <p:spPr bwMode="auto">
          <a:xfrm>
            <a:off x="5445075" y="4130061"/>
            <a:ext cx="4357294" cy="646331"/>
          </a:xfrm>
          <a:prstGeom prst="rect">
            <a:avLst/>
          </a:prstGeom>
          <a:noFill/>
          <a:ln w="9525">
            <a:noFill/>
            <a:miter lim="800000"/>
            <a:headEnd/>
            <a:tailEnd/>
          </a:ln>
        </p:spPr>
        <p:txBody>
          <a:bodyPr wrap="square">
            <a:spAutoFit/>
          </a:bodyPr>
          <a:lstStyle/>
          <a:p>
            <a:pPr defTabSz="914400">
              <a:lnSpc>
                <a:spcPct val="150000"/>
              </a:lnSpc>
            </a:pPr>
            <a:r>
              <a:rPr lang="en-US" altLang="zh-CN" sz="2400" b="1" i="1" dirty="0" err="1" smtClean="0">
                <a:latin typeface="Times New Roman" pitchFamily="18" charset="0"/>
                <a:ea typeface="黑体" pitchFamily="49" charset="-122"/>
                <a:cs typeface="Times New Roman" pitchFamily="18" charset="0"/>
              </a:rPr>
              <a:t>S</a:t>
            </a:r>
            <a:r>
              <a:rPr lang="en-US" altLang="zh-CN" sz="2400" b="1" baseline="-25000" dirty="0" err="1" smtClean="0">
                <a:latin typeface="Times New Roman" pitchFamily="18" charset="0"/>
                <a:ea typeface="黑体" pitchFamily="49" charset="-122"/>
                <a:cs typeface="Times New Roman" pitchFamily="18" charset="0"/>
              </a:rPr>
              <a:t>g</a:t>
            </a:r>
            <a:r>
              <a:rPr lang="zh-CN" altLang="en-US" sz="2400" b="1" dirty="0" smtClean="0">
                <a:latin typeface="Times New Roman" pitchFamily="18" charset="0"/>
                <a:ea typeface="黑体" pitchFamily="49" charset="-122"/>
                <a:cs typeface="Times New Roman" pitchFamily="18" charset="0"/>
              </a:rPr>
              <a:t> </a:t>
            </a:r>
            <a:r>
              <a:rPr lang="zh-CN" altLang="en-US" sz="2400" b="1" dirty="0" smtClean="0">
                <a:latin typeface="微软雅黑" panose="020B0503020204020204" pitchFamily="34" charset="-122"/>
                <a:ea typeface="微软雅黑" panose="020B0503020204020204" pitchFamily="34" charset="-122"/>
                <a:cs typeface="Times New Roman" pitchFamily="18" charset="0"/>
              </a:rPr>
              <a:t>称为</a:t>
            </a:r>
            <a:r>
              <a:rPr lang="zh-CN" altLang="en-US" sz="2400" b="1" dirty="0" smtClean="0">
                <a:latin typeface="Times New Roman" pitchFamily="18" charset="0"/>
                <a:ea typeface="微软雅黑" pitchFamily="34" charset="-122"/>
                <a:cs typeface="Times New Roman" pitchFamily="18" charset="0"/>
              </a:rPr>
              <a:t>光电导灵敏度</a:t>
            </a:r>
            <a:endParaRPr lang="zh-CN" altLang="en-US" sz="2400" b="1" dirty="0">
              <a:latin typeface="Times New Roman" pitchFamily="18" charset="0"/>
              <a:ea typeface="微软雅黑" pitchFamily="34" charset="-122"/>
              <a:cs typeface="Times New Roman" pitchFamily="18" charset="0"/>
            </a:endParaRPr>
          </a:p>
        </p:txBody>
      </p:sp>
      <p:graphicFrame>
        <p:nvGraphicFramePr>
          <p:cNvPr id="18" name="Object 4">
            <a:extLst>
              <a:ext uri="{FF2B5EF4-FFF2-40B4-BE49-F238E27FC236}">
                <a16:creationId xmlns="" xmlns:a16="http://schemas.microsoft.com/office/drawing/2014/main" id="{8465718F-9607-4A8B-AD6F-D7FD4E37AB19}"/>
              </a:ext>
            </a:extLst>
          </p:cNvPr>
          <p:cNvGraphicFramePr>
            <a:graphicFrameLocks noChangeAspect="1"/>
          </p:cNvGraphicFramePr>
          <p:nvPr>
            <p:extLst>
              <p:ext uri="{D42A27DB-BD31-4B8C-83A1-F6EECF244321}">
                <p14:modId xmlns:p14="http://schemas.microsoft.com/office/powerpoint/2010/main" val="3806863210"/>
              </p:ext>
            </p:extLst>
          </p:nvPr>
        </p:nvGraphicFramePr>
        <p:xfrm>
          <a:off x="5460949" y="2978699"/>
          <a:ext cx="544513" cy="609600"/>
        </p:xfrm>
        <a:graphic>
          <a:graphicData uri="http://schemas.openxmlformats.org/presentationml/2006/ole">
            <mc:AlternateContent xmlns:mc="http://schemas.openxmlformats.org/markup-compatibility/2006">
              <mc:Choice xmlns:v="urn:schemas-microsoft-com:vml" Requires="v">
                <p:oleObj spid="_x0000_s11472" name="公式" r:id="rId5" imgW="215640" imgH="241200" progId="Equation.3">
                  <p:embed/>
                </p:oleObj>
              </mc:Choice>
              <mc:Fallback>
                <p:oleObj name="公式" r:id="rId5" imgW="215640" imgH="241200" progId="Equation.3">
                  <p:embed/>
                  <p:pic>
                    <p:nvPicPr>
                      <p:cNvPr id="2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0949" y="2978699"/>
                        <a:ext cx="544513" cy="609600"/>
                      </a:xfrm>
                      <a:prstGeom prst="rect">
                        <a:avLst/>
                      </a:prstGeom>
                      <a:solidFill>
                        <a:srgbClr val="FFFF00"/>
                      </a:solidFill>
                      <a:ln w="9525">
                        <a:solidFill>
                          <a:srgbClr val="FFFF00"/>
                        </a:solidFill>
                        <a:miter lim="800000"/>
                        <a:headEnd/>
                        <a:tailEnd/>
                      </a:ln>
                    </p:spPr>
                  </p:pic>
                </p:oleObj>
              </mc:Fallback>
            </mc:AlternateContent>
          </a:graphicData>
        </a:graphic>
      </p:graphicFrame>
      <p:sp>
        <p:nvSpPr>
          <p:cNvPr id="19" name="TextBox 6">
            <a:extLst>
              <a:ext uri="{FF2B5EF4-FFF2-40B4-BE49-F238E27FC236}">
                <a16:creationId xmlns="" xmlns:a16="http://schemas.microsoft.com/office/drawing/2014/main" id="{D259E724-7BFD-4265-8898-A88DD77FAD05}"/>
              </a:ext>
            </a:extLst>
          </p:cNvPr>
          <p:cNvSpPr txBox="1">
            <a:spLocks noChangeArrowheads="1"/>
          </p:cNvSpPr>
          <p:nvPr/>
        </p:nvSpPr>
        <p:spPr bwMode="auto">
          <a:xfrm>
            <a:off x="6005462" y="3060489"/>
            <a:ext cx="4356100" cy="519113"/>
          </a:xfrm>
          <a:prstGeom prst="rect">
            <a:avLst/>
          </a:prstGeom>
          <a:noFill/>
          <a:ln w="9525">
            <a:noFill/>
            <a:miter lim="800000"/>
            <a:headEnd/>
            <a:tailEnd/>
          </a:ln>
        </p:spPr>
        <p:txBody>
          <a:bodyPr>
            <a:spAutoFit/>
          </a:bodyPr>
          <a:lstStyle/>
          <a:p>
            <a:pPr defTabSz="914400"/>
            <a:r>
              <a:rPr lang="zh-CN" altLang="en-US" sz="2800" b="1" dirty="0">
                <a:latin typeface="Times New Roman" pitchFamily="18" charset="0"/>
                <a:ea typeface="微软雅黑" pitchFamily="34" charset="-122"/>
                <a:cs typeface="Times New Roman" pitchFamily="18" charset="0"/>
              </a:rPr>
              <a:t>光电导，单位为</a:t>
            </a:r>
            <a:r>
              <a:rPr lang="en-US" altLang="zh-CN" sz="2800" b="1" dirty="0">
                <a:latin typeface="Times New Roman" pitchFamily="18" charset="0"/>
                <a:ea typeface="微软雅黑" pitchFamily="34" charset="-122"/>
                <a:cs typeface="Times New Roman" pitchFamily="18" charset="0"/>
              </a:rPr>
              <a:t>S(</a:t>
            </a:r>
            <a:r>
              <a:rPr lang="zh-CN" altLang="en-US" sz="2800" b="1" dirty="0">
                <a:latin typeface="Times New Roman" pitchFamily="18" charset="0"/>
                <a:ea typeface="微软雅黑" pitchFamily="34" charset="-122"/>
                <a:cs typeface="Times New Roman" pitchFamily="18" charset="0"/>
              </a:rPr>
              <a:t>西门子</a:t>
            </a:r>
            <a:r>
              <a:rPr lang="en-US" altLang="zh-CN" sz="2800" b="1" dirty="0">
                <a:latin typeface="Times New Roman" pitchFamily="18" charset="0"/>
                <a:ea typeface="微软雅黑" pitchFamily="34" charset="-122"/>
                <a:cs typeface="Times New Roman" pitchFamily="18" charset="0"/>
              </a:rPr>
              <a:t>)</a:t>
            </a:r>
            <a:endParaRPr lang="zh-CN" altLang="en-US" sz="2800" b="1" dirty="0">
              <a:latin typeface="Times New Roman" pitchFamily="18" charset="0"/>
              <a:ea typeface="微软雅黑" pitchFamily="34" charset="-122"/>
              <a:cs typeface="Times New Roman" pitchFamily="18" charset="0"/>
            </a:endParaRPr>
          </a:p>
        </p:txBody>
      </p:sp>
      <p:graphicFrame>
        <p:nvGraphicFramePr>
          <p:cNvPr id="21" name="Object 10">
            <a:extLst>
              <a:ext uri="{FF2B5EF4-FFF2-40B4-BE49-F238E27FC236}">
                <a16:creationId xmlns="" xmlns:a16="http://schemas.microsoft.com/office/drawing/2014/main" id="{82660782-877A-4D28-B1F8-788EC4202864}"/>
              </a:ext>
            </a:extLst>
          </p:cNvPr>
          <p:cNvGraphicFramePr>
            <a:graphicFrameLocks noChangeAspect="1"/>
          </p:cNvGraphicFramePr>
          <p:nvPr>
            <p:extLst>
              <p:ext uri="{D42A27DB-BD31-4B8C-83A1-F6EECF244321}">
                <p14:modId xmlns:p14="http://schemas.microsoft.com/office/powerpoint/2010/main" val="2530147529"/>
              </p:ext>
            </p:extLst>
          </p:nvPr>
        </p:nvGraphicFramePr>
        <p:xfrm>
          <a:off x="3781574" y="5889056"/>
          <a:ext cx="1289050" cy="966788"/>
        </p:xfrm>
        <a:graphic>
          <a:graphicData uri="http://schemas.openxmlformats.org/presentationml/2006/ole">
            <mc:AlternateContent xmlns:mc="http://schemas.openxmlformats.org/markup-compatibility/2006">
              <mc:Choice xmlns:v="urn:schemas-microsoft-com:vml" Requires="v">
                <p:oleObj spid="_x0000_s11473" name="Equation" r:id="rId7" imgW="558720" imgH="419040" progId="Equation.DSMT4">
                  <p:embed/>
                </p:oleObj>
              </mc:Choice>
              <mc:Fallback>
                <p:oleObj name="Equation" r:id="rId7" imgW="558720" imgH="419040" progId="Equation.DSMT4">
                  <p:embed/>
                  <p:pic>
                    <p:nvPicPr>
                      <p:cNvPr id="22"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1574" y="5889056"/>
                        <a:ext cx="1289050" cy="966788"/>
                      </a:xfrm>
                      <a:prstGeom prst="rect">
                        <a:avLst/>
                      </a:prstGeom>
                      <a:solidFill>
                        <a:srgbClr val="FFFF00"/>
                      </a:solidFill>
                      <a:ln w="9525">
                        <a:solidFill>
                          <a:srgbClr val="FFFF00"/>
                        </a:solidFill>
                        <a:miter lim="800000"/>
                        <a:headEnd/>
                        <a:tailEnd/>
                      </a:ln>
                    </p:spPr>
                  </p:pic>
                </p:oleObj>
              </mc:Fallback>
            </mc:AlternateContent>
          </a:graphicData>
        </a:graphic>
      </p:graphicFrame>
      <p:grpSp>
        <p:nvGrpSpPr>
          <p:cNvPr id="14" name="组合 13"/>
          <p:cNvGrpSpPr/>
          <p:nvPr/>
        </p:nvGrpSpPr>
        <p:grpSpPr>
          <a:xfrm>
            <a:off x="10337881" y="293282"/>
            <a:ext cx="2823365" cy="523220"/>
            <a:chOff x="10337881" y="293282"/>
            <a:chExt cx="2823365" cy="523220"/>
          </a:xfrm>
        </p:grpSpPr>
        <p:sp>
          <p:nvSpPr>
            <p:cNvPr id="15" name="矩形 14"/>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22" name="矩形 21">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
        <p:nvSpPr>
          <p:cNvPr id="20" name="TextBox 4">
            <a:extLst>
              <a:ext uri="{FF2B5EF4-FFF2-40B4-BE49-F238E27FC236}">
                <a16:creationId xmlns="" xmlns:a16="http://schemas.microsoft.com/office/drawing/2014/main" id="{C33F1978-4A1C-4F60-99BA-D1035592CC0A}"/>
              </a:ext>
            </a:extLst>
          </p:cNvPr>
          <p:cNvSpPr txBox="1">
            <a:spLocks noChangeArrowheads="1"/>
          </p:cNvSpPr>
          <p:nvPr/>
        </p:nvSpPr>
        <p:spPr bwMode="auto">
          <a:xfrm>
            <a:off x="1673046" y="1203836"/>
            <a:ext cx="8664835"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smtClean="0">
                <a:latin typeface="微软雅黑" panose="020B0503020204020204" pitchFamily="34" charset="-122"/>
                <a:ea typeface="微软雅黑" panose="020B0503020204020204" pitchFamily="34" charset="-122"/>
                <a:cs typeface="Times New Roman" pitchFamily="18" charset="0"/>
              </a:rPr>
              <a:t>光敏电阻在弱光照射下，光照指数</a:t>
            </a:r>
            <a:r>
              <a:rPr lang="el-GR"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γ</a:t>
            </a:r>
            <a:r>
              <a:rPr lang="en-US"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，电压指数</a:t>
            </a:r>
            <a:r>
              <a:rPr lang="el-GR"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α</a:t>
            </a:r>
            <a:r>
              <a:rPr lang="en-US"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400" b="1" dirty="0">
              <a:latin typeface="Times New Roman" pitchFamily="18" charset="0"/>
              <a:ea typeface="微软雅黑" pitchFamily="34" charset="-122"/>
              <a:cs typeface="Times New Roman" pitchFamily="18" charset="0"/>
            </a:endParaRPr>
          </a:p>
        </p:txBody>
      </p:sp>
      <p:graphicFrame>
        <p:nvGraphicFramePr>
          <p:cNvPr id="24" name="Object 3">
            <a:extLst>
              <a:ext uri="{FF2B5EF4-FFF2-40B4-BE49-F238E27FC236}">
                <a16:creationId xmlns="" xmlns:a16="http://schemas.microsoft.com/office/drawing/2014/main" id="{B244C9CE-845D-4280-8C03-303AF705F55E}"/>
              </a:ext>
            </a:extLst>
          </p:cNvPr>
          <p:cNvGraphicFramePr>
            <a:graphicFrameLocks noChangeAspect="1"/>
          </p:cNvGraphicFramePr>
          <p:nvPr>
            <p:extLst>
              <p:ext uri="{D42A27DB-BD31-4B8C-83A1-F6EECF244321}">
                <p14:modId xmlns:p14="http://schemas.microsoft.com/office/powerpoint/2010/main" val="2695507600"/>
              </p:ext>
            </p:extLst>
          </p:nvPr>
        </p:nvGraphicFramePr>
        <p:xfrm>
          <a:off x="3728046" y="2237273"/>
          <a:ext cx="1670050" cy="557213"/>
        </p:xfrm>
        <a:graphic>
          <a:graphicData uri="http://schemas.openxmlformats.org/presentationml/2006/ole">
            <mc:AlternateContent xmlns:mc="http://schemas.openxmlformats.org/markup-compatibility/2006">
              <mc:Choice xmlns:v="urn:schemas-microsoft-com:vml" Requires="v">
                <p:oleObj spid="_x0000_s11474" name="Equation" r:id="rId9" imgW="723600" imgH="241200" progId="Equation.DSMT4">
                  <p:embed/>
                </p:oleObj>
              </mc:Choice>
              <mc:Fallback>
                <p:oleObj name="Equation" r:id="rId9" imgW="723600" imgH="241200" progId="Equation.DSMT4">
                  <p:embed/>
                  <p:pic>
                    <p:nvPicPr>
                      <p:cNvPr id="0" name=""/>
                      <p:cNvPicPr>
                        <a:picLocks noChangeAspect="1" noChangeArrowheads="1"/>
                      </p:cNvPicPr>
                      <p:nvPr/>
                    </p:nvPicPr>
                    <p:blipFill>
                      <a:blip r:embed="rId10"/>
                      <a:srcRect/>
                      <a:stretch>
                        <a:fillRect/>
                      </a:stretch>
                    </p:blipFill>
                    <p:spPr bwMode="auto">
                      <a:xfrm>
                        <a:off x="3728046" y="2237273"/>
                        <a:ext cx="1670050" cy="557213"/>
                      </a:xfrm>
                      <a:prstGeom prst="rect">
                        <a:avLst/>
                      </a:prstGeom>
                      <a:solidFill>
                        <a:srgbClr val="FFFF00"/>
                      </a:solidFill>
                      <a:ln w="9525">
                        <a:solidFill>
                          <a:srgbClr val="FFFF00"/>
                        </a:solidFill>
                        <a:miter lim="800000"/>
                        <a:headEnd/>
                        <a:tailEnd/>
                      </a:ln>
                    </p:spPr>
                  </p:pic>
                </p:oleObj>
              </mc:Fallback>
            </mc:AlternateContent>
          </a:graphicData>
        </a:graphic>
      </p:graphicFrame>
      <p:graphicFrame>
        <p:nvGraphicFramePr>
          <p:cNvPr id="25" name="Object 4">
            <a:extLst>
              <a:ext uri="{FF2B5EF4-FFF2-40B4-BE49-F238E27FC236}">
                <a16:creationId xmlns="" xmlns:a16="http://schemas.microsoft.com/office/drawing/2014/main" id="{8465718F-9607-4A8B-AD6F-D7FD4E37AB19}"/>
              </a:ext>
            </a:extLst>
          </p:cNvPr>
          <p:cNvGraphicFramePr>
            <a:graphicFrameLocks noChangeAspect="1"/>
          </p:cNvGraphicFramePr>
          <p:nvPr>
            <p:extLst>
              <p:ext uri="{D42A27DB-BD31-4B8C-83A1-F6EECF244321}">
                <p14:modId xmlns:p14="http://schemas.microsoft.com/office/powerpoint/2010/main" val="2469778859"/>
              </p:ext>
            </p:extLst>
          </p:nvPr>
        </p:nvGraphicFramePr>
        <p:xfrm>
          <a:off x="5445075" y="2196856"/>
          <a:ext cx="1120775" cy="609600"/>
        </p:xfrm>
        <a:graphic>
          <a:graphicData uri="http://schemas.openxmlformats.org/presentationml/2006/ole">
            <mc:AlternateContent xmlns:mc="http://schemas.openxmlformats.org/markup-compatibility/2006">
              <mc:Choice xmlns:v="urn:schemas-microsoft-com:vml" Requires="v">
                <p:oleObj spid="_x0000_s11475" name="Equation" r:id="rId11" imgW="444240" imgH="241200" progId="Equation.DSMT4">
                  <p:embed/>
                </p:oleObj>
              </mc:Choice>
              <mc:Fallback>
                <p:oleObj name="Equation" r:id="rId11" imgW="444240" imgH="241200" progId="Equation.DSMT4">
                  <p:embed/>
                  <p:pic>
                    <p:nvPicPr>
                      <p:cNvPr id="0" name=""/>
                      <p:cNvPicPr>
                        <a:picLocks noChangeAspect="1" noChangeArrowheads="1"/>
                      </p:cNvPicPr>
                      <p:nvPr/>
                    </p:nvPicPr>
                    <p:blipFill>
                      <a:blip r:embed="rId12"/>
                      <a:srcRect/>
                      <a:stretch>
                        <a:fillRect/>
                      </a:stretch>
                    </p:blipFill>
                    <p:spPr bwMode="auto">
                      <a:xfrm>
                        <a:off x="5445075" y="2196856"/>
                        <a:ext cx="1120775" cy="609600"/>
                      </a:xfrm>
                      <a:prstGeom prst="rect">
                        <a:avLst/>
                      </a:prstGeom>
                      <a:solidFill>
                        <a:srgbClr val="FFFF00"/>
                      </a:solidFill>
                      <a:ln w="9525">
                        <a:solidFill>
                          <a:srgbClr val="FFFF00"/>
                        </a:solidFill>
                        <a:miter lim="800000"/>
                        <a:headEnd/>
                        <a:tailEnd/>
                      </a:ln>
                    </p:spPr>
                  </p:pic>
                </p:oleObj>
              </mc:Fallback>
            </mc:AlternateContent>
          </a:graphicData>
        </a:graphic>
      </p:graphicFrame>
      <p:sp>
        <p:nvSpPr>
          <p:cNvPr id="27" name="TextBox 4">
            <a:extLst>
              <a:ext uri="{FF2B5EF4-FFF2-40B4-BE49-F238E27FC236}">
                <a16:creationId xmlns="" xmlns:a16="http://schemas.microsoft.com/office/drawing/2014/main" id="{C33F1978-4A1C-4F60-99BA-D1035592CC0A}"/>
              </a:ext>
            </a:extLst>
          </p:cNvPr>
          <p:cNvSpPr txBox="1">
            <a:spLocks noChangeArrowheads="1"/>
          </p:cNvSpPr>
          <p:nvPr/>
        </p:nvSpPr>
        <p:spPr bwMode="auto">
          <a:xfrm>
            <a:off x="5460949" y="5003685"/>
            <a:ext cx="5987602"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smtClean="0">
                <a:latin typeface="Times New Roman" pitchFamily="18" charset="0"/>
                <a:ea typeface="微软雅黑" pitchFamily="34" charset="-122"/>
                <a:cs typeface="Times New Roman" pitchFamily="18" charset="0"/>
              </a:rPr>
              <a:t>若用光</a:t>
            </a:r>
            <a:r>
              <a:rPr lang="zh-CN" altLang="en-US" sz="2400" b="1" dirty="0">
                <a:latin typeface="Times New Roman" pitchFamily="18" charset="0"/>
                <a:ea typeface="微软雅黑" pitchFamily="34" charset="-122"/>
                <a:cs typeface="Times New Roman" pitchFamily="18" charset="0"/>
              </a:rPr>
              <a:t>度量单位时，其单位为</a:t>
            </a:r>
            <a:r>
              <a:rPr lang="en-US" altLang="zh-CN" sz="2400" b="1" dirty="0">
                <a:latin typeface="Times New Roman" pitchFamily="18" charset="0"/>
                <a:ea typeface="微软雅黑" pitchFamily="34" charset="-122"/>
                <a:cs typeface="Times New Roman" pitchFamily="18" charset="0"/>
              </a:rPr>
              <a:t>S/lm</a:t>
            </a:r>
            <a:r>
              <a:rPr lang="zh-CN" altLang="en-US" sz="2400" b="1" dirty="0">
                <a:latin typeface="Times New Roman" pitchFamily="18" charset="0"/>
                <a:ea typeface="微软雅黑" pitchFamily="34" charset="-122"/>
                <a:cs typeface="Times New Roman" pitchFamily="18" charset="0"/>
              </a:rPr>
              <a:t>或</a:t>
            </a:r>
            <a:r>
              <a:rPr lang="en-US" altLang="zh-CN" sz="2400" b="1" dirty="0" smtClean="0">
                <a:latin typeface="Times New Roman" pitchFamily="18" charset="0"/>
                <a:ea typeface="微软雅黑" pitchFamily="34" charset="-122"/>
                <a:cs typeface="Times New Roman" pitchFamily="18" charset="0"/>
              </a:rPr>
              <a:t>S/l</a:t>
            </a:r>
            <a:r>
              <a:rPr lang="en-US" altLang="zh-CN" sz="2400" b="1" i="1" dirty="0" smtClean="0">
                <a:latin typeface="Times New Roman" pitchFamily="18" charset="0"/>
                <a:ea typeface="微软雅黑" pitchFamily="34" charset="-122"/>
                <a:cs typeface="Times New Roman" pitchFamily="18" charset="0"/>
              </a:rPr>
              <a:t>x</a:t>
            </a:r>
            <a:r>
              <a:rPr lang="zh-CN" altLang="en-US" sz="2400" b="1" dirty="0" smtClean="0">
                <a:latin typeface="Times New Roman" pitchFamily="18" charset="0"/>
                <a:ea typeface="微软雅黑" pitchFamily="34" charset="-122"/>
                <a:cs typeface="Times New Roman" pitchFamily="18" charset="0"/>
              </a:rPr>
              <a:t>。</a:t>
            </a:r>
            <a:endParaRPr lang="zh-CN" altLang="en-US" sz="2400" b="1" dirty="0">
              <a:latin typeface="Times New Roman" pitchFamily="18" charset="0"/>
              <a:ea typeface="微软雅黑" pitchFamily="34" charset="-122"/>
              <a:cs typeface="Times New Roman" pitchFamily="18" charset="0"/>
            </a:endParaRPr>
          </a:p>
        </p:txBody>
      </p:sp>
      <p:sp>
        <p:nvSpPr>
          <p:cNvPr id="28" name="TextBox 4">
            <a:extLst>
              <a:ext uri="{FF2B5EF4-FFF2-40B4-BE49-F238E27FC236}">
                <a16:creationId xmlns="" xmlns:a16="http://schemas.microsoft.com/office/drawing/2014/main" id="{C33F1978-4A1C-4F60-99BA-D1035592CC0A}"/>
              </a:ext>
            </a:extLst>
          </p:cNvPr>
          <p:cNvSpPr txBox="1">
            <a:spLocks noChangeArrowheads="1"/>
          </p:cNvSpPr>
          <p:nvPr/>
        </p:nvSpPr>
        <p:spPr bwMode="auto">
          <a:xfrm>
            <a:off x="5427910" y="6060217"/>
            <a:ext cx="5511204"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smtClean="0">
                <a:latin typeface="Times New Roman" pitchFamily="18" charset="0"/>
                <a:ea typeface="微软雅黑" pitchFamily="34" charset="-122"/>
                <a:cs typeface="Times New Roman" pitchFamily="18" charset="0"/>
              </a:rPr>
              <a:t>若</a:t>
            </a:r>
            <a:r>
              <a:rPr lang="zh-CN" altLang="en-US" sz="2400" b="1" dirty="0">
                <a:latin typeface="Times New Roman" pitchFamily="18" charset="0"/>
                <a:ea typeface="微软雅黑" pitchFamily="34" charset="-122"/>
                <a:cs typeface="Times New Roman" pitchFamily="18" charset="0"/>
              </a:rPr>
              <a:t>用辐射度量单位时，其单位为</a:t>
            </a:r>
            <a:r>
              <a:rPr lang="en-US" altLang="zh-CN" sz="2400" b="1" dirty="0">
                <a:latin typeface="Times New Roman" pitchFamily="18" charset="0"/>
                <a:ea typeface="微软雅黑" pitchFamily="34" charset="-122"/>
                <a:cs typeface="Times New Roman" pitchFamily="18" charset="0"/>
              </a:rPr>
              <a:t>S/</a:t>
            </a:r>
            <a:r>
              <a:rPr lang="en-US" altLang="zh-CN" sz="2400" b="1" dirty="0" err="1">
                <a:latin typeface="Times New Roman" pitchFamily="18" charset="0"/>
                <a:ea typeface="微软雅黑" pitchFamily="34" charset="-122"/>
                <a:cs typeface="Times New Roman" pitchFamily="18" charset="0"/>
              </a:rPr>
              <a:t>μW</a:t>
            </a:r>
            <a:r>
              <a:rPr lang="zh-CN" altLang="en-US" sz="2400" b="1" dirty="0">
                <a:latin typeface="Times New Roman" pitchFamily="18" charset="0"/>
                <a:ea typeface="微软雅黑" pitchFamily="34" charset="-122"/>
                <a:cs typeface="Times New Roman" pitchFamily="18" charset="0"/>
              </a:rPr>
              <a:t>。</a:t>
            </a:r>
          </a:p>
        </p:txBody>
      </p:sp>
    </p:spTree>
    <p:extLst>
      <p:ext uri="{BB962C8B-B14F-4D97-AF65-F5344CB8AC3E}">
        <p14:creationId xmlns:p14="http://schemas.microsoft.com/office/powerpoint/2010/main" val="195860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ox(i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ox(i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1+#ppt_w/2"/>
                                          </p:val>
                                        </p:tav>
                                        <p:tav tm="100000">
                                          <p:val>
                                            <p:strVal val="#ppt_x"/>
                                          </p:val>
                                        </p:tav>
                                      </p:tavLst>
                                    </p:anim>
                                    <p:anim calcmode="lin" valueType="num">
                                      <p:cBhvr additive="base">
                                        <p:cTn id="1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0-#ppt_w/2"/>
                                          </p:val>
                                        </p:tav>
                                        <p:tav tm="100000">
                                          <p:val>
                                            <p:strVal val="#ppt_x"/>
                                          </p:val>
                                        </p:tav>
                                      </p:tavLst>
                                    </p:anim>
                                    <p:anim calcmode="lin" valueType="num">
                                      <p:cBhvr additive="base">
                                        <p:cTn id="24"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1+#ppt_w/2"/>
                                          </p:val>
                                        </p:tav>
                                        <p:tav tm="100000">
                                          <p:val>
                                            <p:strVal val="#ppt_x"/>
                                          </p:val>
                                        </p:tav>
                                      </p:tavLst>
                                    </p:anim>
                                    <p:anim calcmode="lin" valueType="num">
                                      <p:cBhvr additive="base">
                                        <p:cTn id="3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box(in)">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ox(in)">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box(in)">
                                      <p:cBhvr>
                                        <p:cTn id="45" dur="5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box(in)">
                                      <p:cBhvr>
                                        <p:cTn id="50" dur="5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box(in)">
                                      <p:cBhvr>
                                        <p:cTn id="5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p:bldP spid="27" grpId="0"/>
      <p:bldP spid="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温度特性</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TextBox 3">
            <a:extLst>
              <a:ext uri="{FF2B5EF4-FFF2-40B4-BE49-F238E27FC236}">
                <a16:creationId xmlns="" xmlns:a16="http://schemas.microsoft.com/office/drawing/2014/main" id="{43085BF3-9F70-4176-9303-655F547E18CA}"/>
              </a:ext>
            </a:extLst>
          </p:cNvPr>
          <p:cNvSpPr txBox="1">
            <a:spLocks noChangeArrowheads="1"/>
          </p:cNvSpPr>
          <p:nvPr/>
        </p:nvSpPr>
        <p:spPr bwMode="auto">
          <a:xfrm>
            <a:off x="605872" y="1486601"/>
            <a:ext cx="12527404" cy="1477328"/>
          </a:xfrm>
          <a:prstGeom prst="rect">
            <a:avLst/>
          </a:prstGeom>
          <a:noFill/>
          <a:ln w="9525">
            <a:noFill/>
            <a:miter lim="800000"/>
            <a:headEnd/>
            <a:tailEnd/>
          </a:ln>
        </p:spPr>
        <p:txBody>
          <a:bodyPr wrap="square">
            <a:spAutoFit/>
          </a:bodyPr>
          <a:lstStyle/>
          <a:p>
            <a:pPr defTabSz="914400">
              <a:lnSpc>
                <a:spcPct val="150000"/>
              </a:lnSpc>
            </a:pPr>
            <a:r>
              <a:rPr lang="zh-CN" altLang="en-US" sz="3200" b="1" dirty="0">
                <a:latin typeface="Times New Roman" pitchFamily="18" charset="0"/>
                <a:ea typeface="黑体" pitchFamily="49" charset="-122"/>
                <a:cs typeface="Times New Roman" pitchFamily="18" charset="0"/>
              </a:rPr>
              <a:t>        </a:t>
            </a:r>
            <a:r>
              <a:rPr lang="zh-CN" altLang="en-US" sz="2800" b="1" dirty="0">
                <a:latin typeface="微软雅黑" pitchFamily="34" charset="-122"/>
                <a:ea typeface="微软雅黑" pitchFamily="34" charset="-122"/>
                <a:cs typeface="Times New Roman" pitchFamily="18" charset="0"/>
              </a:rPr>
              <a:t>光敏电阻的温度特性与光电导材料有着密切的关系，不同材料的光敏电阻有着不同的温度特性。</a:t>
            </a:r>
            <a:endParaRPr lang="zh-CN" altLang="en-US" sz="3200" b="1" dirty="0">
              <a:latin typeface="微软雅黑" pitchFamily="34" charset="-122"/>
              <a:ea typeface="微软雅黑" pitchFamily="34" charset="-122"/>
              <a:cs typeface="Times New Roman" pitchFamily="18" charset="0"/>
            </a:endParaRPr>
          </a:p>
        </p:txBody>
      </p:sp>
      <p:sp>
        <p:nvSpPr>
          <p:cNvPr id="22" name="TextBox 4">
            <a:extLst>
              <a:ext uri="{FF2B5EF4-FFF2-40B4-BE49-F238E27FC236}">
                <a16:creationId xmlns="" xmlns:a16="http://schemas.microsoft.com/office/drawing/2014/main" id="{A894436A-809D-4D74-8180-A92A6423D941}"/>
              </a:ext>
            </a:extLst>
          </p:cNvPr>
          <p:cNvSpPr txBox="1">
            <a:spLocks noChangeArrowheads="1"/>
          </p:cNvSpPr>
          <p:nvPr/>
        </p:nvSpPr>
        <p:spPr bwMode="auto">
          <a:xfrm>
            <a:off x="674287" y="2812300"/>
            <a:ext cx="8161804" cy="1384995"/>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       在一定的照度下，亮电阻的温度系数</a:t>
            </a:r>
            <a:r>
              <a:rPr lang="en-US" altLang="zh-CN" sz="2800" b="1" dirty="0">
                <a:latin typeface="Times New Roman" pitchFamily="18" charset="0"/>
                <a:ea typeface="微软雅黑" pitchFamily="34" charset="-122"/>
                <a:cs typeface="Times New Roman" pitchFamily="18" charset="0"/>
              </a:rPr>
              <a:t>α</a:t>
            </a:r>
            <a:r>
              <a:rPr lang="zh-CN" altLang="en-US" sz="2800" b="1" dirty="0">
                <a:latin typeface="Times New Roman" pitchFamily="18" charset="0"/>
                <a:ea typeface="微软雅黑" pitchFamily="34" charset="-122"/>
                <a:cs typeface="Times New Roman" pitchFamily="18" charset="0"/>
              </a:rPr>
              <a:t>有正有负，表示为</a:t>
            </a:r>
          </a:p>
        </p:txBody>
      </p:sp>
      <p:sp>
        <p:nvSpPr>
          <p:cNvPr id="23" name="TextBox 4">
            <a:extLst>
              <a:ext uri="{FF2B5EF4-FFF2-40B4-BE49-F238E27FC236}">
                <a16:creationId xmlns="" xmlns:a16="http://schemas.microsoft.com/office/drawing/2014/main" id="{B4446ACC-9190-4899-8A8C-E70FB38285D8}"/>
              </a:ext>
            </a:extLst>
          </p:cNvPr>
          <p:cNvSpPr txBox="1">
            <a:spLocks noChangeArrowheads="1"/>
          </p:cNvSpPr>
          <p:nvPr/>
        </p:nvSpPr>
        <p:spPr bwMode="auto">
          <a:xfrm>
            <a:off x="605872" y="5407586"/>
            <a:ext cx="7177312" cy="738664"/>
          </a:xfrm>
          <a:prstGeom prst="rect">
            <a:avLst/>
          </a:prstGeom>
          <a:noFill/>
          <a:ln w="9525">
            <a:noFill/>
            <a:miter lim="800000"/>
            <a:headEnd/>
            <a:tailEnd/>
          </a:ln>
        </p:spPr>
        <p:txBody>
          <a:bodyPr wrap="square">
            <a:spAutoFit/>
          </a:bodyPr>
          <a:lstStyle/>
          <a:p>
            <a:pPr defTabSz="914400">
              <a:lnSpc>
                <a:spcPct val="150000"/>
              </a:lnSpc>
            </a:pPr>
            <a:r>
              <a:rPr lang="en-US" altLang="zh-CN" sz="2800" b="1" dirty="0">
                <a:latin typeface="Times New Roman" pitchFamily="18" charset="0"/>
                <a:ea typeface="微软雅黑" pitchFamily="34" charset="-122"/>
                <a:cs typeface="Times New Roman" pitchFamily="18" charset="0"/>
              </a:rPr>
              <a:t>R</a:t>
            </a:r>
            <a:r>
              <a:rPr lang="en-US" altLang="zh-CN" sz="2800" b="1" baseline="-25000" dirty="0">
                <a:latin typeface="Times New Roman" pitchFamily="18" charset="0"/>
                <a:ea typeface="微软雅黑" pitchFamily="34" charset="-122"/>
                <a:cs typeface="Times New Roman" pitchFamily="18" charset="0"/>
              </a:rPr>
              <a:t>1</a:t>
            </a:r>
            <a:r>
              <a:rPr lang="zh-CN" altLang="en-US" sz="2800" b="1" dirty="0">
                <a:latin typeface="Times New Roman" pitchFamily="18" charset="0"/>
                <a:ea typeface="微软雅黑" pitchFamily="34" charset="-122"/>
                <a:cs typeface="Times New Roman" pitchFamily="18" charset="0"/>
              </a:rPr>
              <a:t>、</a:t>
            </a:r>
            <a:r>
              <a:rPr lang="en-US" altLang="zh-CN" sz="2800" b="1" dirty="0">
                <a:latin typeface="Times New Roman" pitchFamily="18" charset="0"/>
                <a:ea typeface="微软雅黑" pitchFamily="34" charset="-122"/>
                <a:cs typeface="Times New Roman" pitchFamily="18" charset="0"/>
              </a:rPr>
              <a:t>R</a:t>
            </a:r>
            <a:r>
              <a:rPr lang="en-US" altLang="zh-CN" sz="2800" b="1" baseline="-25000" dirty="0">
                <a:latin typeface="Times New Roman" pitchFamily="18" charset="0"/>
                <a:ea typeface="微软雅黑" pitchFamily="34" charset="-122"/>
                <a:cs typeface="Times New Roman" pitchFamily="18" charset="0"/>
              </a:rPr>
              <a:t>2</a:t>
            </a:r>
            <a:r>
              <a:rPr lang="zh-CN" altLang="en-US" sz="2800" b="1" dirty="0">
                <a:latin typeface="Times New Roman" pitchFamily="18" charset="0"/>
                <a:ea typeface="微软雅黑" pitchFamily="34" charset="-122"/>
                <a:cs typeface="Times New Roman" pitchFamily="18" charset="0"/>
              </a:rPr>
              <a:t>为与温度</a:t>
            </a:r>
            <a:r>
              <a:rPr lang="en-US" altLang="zh-CN" sz="2800" b="1" dirty="0">
                <a:latin typeface="Times New Roman" pitchFamily="18" charset="0"/>
                <a:ea typeface="微软雅黑" pitchFamily="34" charset="-122"/>
                <a:cs typeface="Times New Roman" pitchFamily="18" charset="0"/>
              </a:rPr>
              <a:t>T</a:t>
            </a:r>
            <a:r>
              <a:rPr lang="en-US" altLang="zh-CN" sz="2800" b="1" baseline="-25000" dirty="0">
                <a:latin typeface="Times New Roman" pitchFamily="18" charset="0"/>
                <a:ea typeface="微软雅黑" pitchFamily="34" charset="-122"/>
                <a:cs typeface="Times New Roman" pitchFamily="18" charset="0"/>
              </a:rPr>
              <a:t>1</a:t>
            </a:r>
            <a:r>
              <a:rPr lang="zh-CN" altLang="en-US" sz="2800" b="1" dirty="0">
                <a:latin typeface="Times New Roman" pitchFamily="18" charset="0"/>
                <a:ea typeface="微软雅黑" pitchFamily="34" charset="-122"/>
                <a:cs typeface="Times New Roman" pitchFamily="18" charset="0"/>
              </a:rPr>
              <a:t>、</a:t>
            </a:r>
            <a:r>
              <a:rPr lang="en-US" altLang="zh-CN" sz="2800" b="1" dirty="0">
                <a:latin typeface="Times New Roman" pitchFamily="18" charset="0"/>
                <a:ea typeface="微软雅黑" pitchFamily="34" charset="-122"/>
                <a:cs typeface="Times New Roman" pitchFamily="18" charset="0"/>
              </a:rPr>
              <a:t>T</a:t>
            </a:r>
            <a:r>
              <a:rPr lang="en-US" altLang="zh-CN" sz="2800" b="1" baseline="-25000" dirty="0">
                <a:latin typeface="Times New Roman" pitchFamily="18" charset="0"/>
                <a:ea typeface="微软雅黑" pitchFamily="34" charset="-122"/>
                <a:cs typeface="Times New Roman" pitchFamily="18" charset="0"/>
              </a:rPr>
              <a:t>2</a:t>
            </a:r>
            <a:r>
              <a:rPr lang="zh-CN" altLang="en-US" sz="2800" b="1" dirty="0">
                <a:latin typeface="Times New Roman" pitchFamily="18" charset="0"/>
                <a:ea typeface="微软雅黑" pitchFamily="34" charset="-122"/>
                <a:cs typeface="Times New Roman" pitchFamily="18" charset="0"/>
              </a:rPr>
              <a:t>相对应的亮电阻。</a:t>
            </a:r>
          </a:p>
        </p:txBody>
      </p:sp>
      <p:graphicFrame>
        <p:nvGraphicFramePr>
          <p:cNvPr id="24" name="对象 23">
            <a:extLst>
              <a:ext uri="{FF2B5EF4-FFF2-40B4-BE49-F238E27FC236}">
                <a16:creationId xmlns="" xmlns:a16="http://schemas.microsoft.com/office/drawing/2014/main" id="{B107A205-E5E1-41C0-9F1F-DE0A834BC48B}"/>
              </a:ext>
            </a:extLst>
          </p:cNvPr>
          <p:cNvGraphicFramePr>
            <a:graphicFrameLocks noChangeAspect="1"/>
          </p:cNvGraphicFramePr>
          <p:nvPr>
            <p:extLst>
              <p:ext uri="{D42A27DB-BD31-4B8C-83A1-F6EECF244321}">
                <p14:modId xmlns:p14="http://schemas.microsoft.com/office/powerpoint/2010/main" val="2832127015"/>
              </p:ext>
            </p:extLst>
          </p:nvPr>
        </p:nvGraphicFramePr>
        <p:xfrm>
          <a:off x="2585884" y="4356947"/>
          <a:ext cx="2035278" cy="914732"/>
        </p:xfrm>
        <a:graphic>
          <a:graphicData uri="http://schemas.openxmlformats.org/presentationml/2006/ole">
            <mc:AlternateContent xmlns:mc="http://schemas.openxmlformats.org/markup-compatibility/2006">
              <mc:Choice xmlns:v="urn:schemas-microsoft-com:vml" Requires="v">
                <p:oleObj spid="_x0000_s12410" name="Equation" r:id="rId3" imgW="850531" imgH="380835" progId="Equation.DSMT4">
                  <p:embed/>
                </p:oleObj>
              </mc:Choice>
              <mc:Fallback>
                <p:oleObj name="Equation" r:id="rId3" imgW="850531" imgH="380835" progId="Equation.DSMT4">
                  <p:embed/>
                  <p:pic>
                    <p:nvPicPr>
                      <p:cNvPr id="16" name="对象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884" y="4356947"/>
                        <a:ext cx="2035278" cy="914732"/>
                      </a:xfrm>
                      <a:prstGeom prst="rect">
                        <a:avLst/>
                      </a:prstGeom>
                      <a:solidFill>
                        <a:srgbClr val="FFFF00"/>
                      </a:solidFill>
                    </p:spPr>
                  </p:pic>
                </p:oleObj>
              </mc:Fallback>
            </mc:AlternateContent>
          </a:graphicData>
        </a:graphic>
      </p:graphicFrame>
      <p:graphicFrame>
        <p:nvGraphicFramePr>
          <p:cNvPr id="27" name="对象 26">
            <a:extLst>
              <a:ext uri="{FF2B5EF4-FFF2-40B4-BE49-F238E27FC236}">
                <a16:creationId xmlns="" xmlns:a16="http://schemas.microsoft.com/office/drawing/2014/main" id="{96E2C3E9-2FF0-48CB-A2F0-F495DF691C00}"/>
              </a:ext>
            </a:extLst>
          </p:cNvPr>
          <p:cNvGraphicFramePr>
            <a:graphicFrameLocks noChangeAspect="1"/>
          </p:cNvGraphicFramePr>
          <p:nvPr>
            <p:extLst>
              <p:ext uri="{D42A27DB-BD31-4B8C-83A1-F6EECF244321}">
                <p14:modId xmlns:p14="http://schemas.microsoft.com/office/powerpoint/2010/main" val="1248700102"/>
              </p:ext>
            </p:extLst>
          </p:nvPr>
        </p:nvGraphicFramePr>
        <p:xfrm>
          <a:off x="9105264" y="2972439"/>
          <a:ext cx="3892389" cy="3683747"/>
        </p:xfrm>
        <a:graphic>
          <a:graphicData uri="http://schemas.openxmlformats.org/presentationml/2006/ole">
            <mc:AlternateContent xmlns:mc="http://schemas.openxmlformats.org/markup-compatibility/2006">
              <mc:Choice xmlns:v="urn:schemas-microsoft-com:vml" Requires="v">
                <p:oleObj spid="_x0000_s12411" name="Visio" r:id="rId6" imgW="2752677" imgH="2610019" progId="Visio.Drawing.15">
                  <p:embed/>
                </p:oleObj>
              </mc:Choice>
              <mc:Fallback>
                <p:oleObj name="Visio" r:id="rId6" imgW="2752677" imgH="2610019" progId="Visio.Drawing.15">
                  <p:embed/>
                  <p:pic>
                    <p:nvPicPr>
                      <p:cNvPr id="17" name="对象 16"/>
                      <p:cNvPicPr>
                        <a:picLocks noChangeAspect="1" noChangeArrowheads="1"/>
                      </p:cNvPicPr>
                      <p:nvPr/>
                    </p:nvPicPr>
                    <p:blipFill>
                      <a:blip r:embed="rId7"/>
                      <a:srcRect/>
                      <a:stretch>
                        <a:fillRect/>
                      </a:stretch>
                    </p:blipFill>
                    <p:spPr bwMode="auto">
                      <a:xfrm>
                        <a:off x="9105264" y="2972439"/>
                        <a:ext cx="3892389" cy="3683747"/>
                      </a:xfrm>
                      <a:prstGeom prst="rect">
                        <a:avLst/>
                      </a:prstGeom>
                      <a:noFill/>
                      <a:ln>
                        <a:noFill/>
                      </a:ln>
                    </p:spPr>
                  </p:pic>
                </p:oleObj>
              </mc:Fallback>
            </mc:AlternateContent>
          </a:graphicData>
        </a:graphic>
      </p:graphicFrame>
      <p:grpSp>
        <p:nvGrpSpPr>
          <p:cNvPr id="14" name="组合 13"/>
          <p:cNvGrpSpPr/>
          <p:nvPr/>
        </p:nvGrpSpPr>
        <p:grpSpPr>
          <a:xfrm>
            <a:off x="10337881" y="293282"/>
            <a:ext cx="2823365" cy="523220"/>
            <a:chOff x="10337881" y="293282"/>
            <a:chExt cx="2823365" cy="523220"/>
          </a:xfrm>
        </p:grpSpPr>
        <p:sp>
          <p:nvSpPr>
            <p:cNvPr id="16" name="矩形 15"/>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7" name="矩形 16">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44899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ox(i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ox(in)">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时间响应</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6" name="TextBox 3">
            <a:extLst>
              <a:ext uri="{FF2B5EF4-FFF2-40B4-BE49-F238E27FC236}">
                <a16:creationId xmlns="" xmlns:a16="http://schemas.microsoft.com/office/drawing/2014/main" id="{97FCAD9E-17B1-4AF8-A38C-89DF3A34C42F}"/>
              </a:ext>
            </a:extLst>
          </p:cNvPr>
          <p:cNvSpPr txBox="1">
            <a:spLocks noChangeArrowheads="1"/>
          </p:cNvSpPr>
          <p:nvPr/>
        </p:nvSpPr>
        <p:spPr bwMode="auto">
          <a:xfrm>
            <a:off x="679309" y="1552967"/>
            <a:ext cx="12527404" cy="1477328"/>
          </a:xfrm>
          <a:prstGeom prst="rect">
            <a:avLst/>
          </a:prstGeom>
          <a:noFill/>
          <a:ln w="9525">
            <a:noFill/>
            <a:miter lim="800000"/>
            <a:headEnd/>
            <a:tailEnd/>
          </a:ln>
        </p:spPr>
        <p:txBody>
          <a:bodyPr wrap="square">
            <a:spAutoFit/>
          </a:bodyPr>
          <a:lstStyle/>
          <a:p>
            <a:pPr defTabSz="914400">
              <a:lnSpc>
                <a:spcPct val="150000"/>
              </a:lnSpc>
            </a:pPr>
            <a:r>
              <a:rPr lang="zh-CN" altLang="en-US" sz="3200" b="1" dirty="0">
                <a:latin typeface="Times New Roman" pitchFamily="18" charset="0"/>
                <a:ea typeface="黑体" pitchFamily="49" charset="-122"/>
                <a:cs typeface="Times New Roman" pitchFamily="18" charset="0"/>
              </a:rPr>
              <a:t>        </a:t>
            </a:r>
            <a:r>
              <a:rPr lang="zh-CN" altLang="en-US" sz="2800" b="1" dirty="0">
                <a:latin typeface="微软雅黑" pitchFamily="34" charset="-122"/>
                <a:ea typeface="微软雅黑" pitchFamily="34" charset="-122"/>
                <a:cs typeface="Times New Roman" pitchFamily="18" charset="0"/>
              </a:rPr>
              <a:t>光电导探测器的响应时间等于光生载流子的平均寿命。大多数常用的光电导探测器，其响应时间都比较大。</a:t>
            </a:r>
            <a:endParaRPr lang="zh-CN" altLang="en-US" sz="3200" b="1" dirty="0">
              <a:latin typeface="微软雅黑" pitchFamily="34" charset="-122"/>
              <a:ea typeface="微软雅黑" pitchFamily="34" charset="-122"/>
              <a:cs typeface="Times New Roman" pitchFamily="18" charset="0"/>
            </a:endParaRPr>
          </a:p>
        </p:txBody>
      </p:sp>
      <p:sp>
        <p:nvSpPr>
          <p:cNvPr id="17" name="TextBox 4">
            <a:extLst>
              <a:ext uri="{FF2B5EF4-FFF2-40B4-BE49-F238E27FC236}">
                <a16:creationId xmlns="" xmlns:a16="http://schemas.microsoft.com/office/drawing/2014/main" id="{6A15ECB6-DBEE-4479-A72D-91A50788508C}"/>
              </a:ext>
            </a:extLst>
          </p:cNvPr>
          <p:cNvSpPr txBox="1">
            <a:spLocks noChangeArrowheads="1"/>
          </p:cNvSpPr>
          <p:nvPr/>
        </p:nvSpPr>
        <p:spPr bwMode="auto">
          <a:xfrm>
            <a:off x="782029" y="3206374"/>
            <a:ext cx="1108349" cy="738664"/>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例如：</a:t>
            </a:r>
          </a:p>
        </p:txBody>
      </p:sp>
      <p:sp>
        <p:nvSpPr>
          <p:cNvPr id="18" name="TextBox 4">
            <a:extLst>
              <a:ext uri="{FF2B5EF4-FFF2-40B4-BE49-F238E27FC236}">
                <a16:creationId xmlns="" xmlns:a16="http://schemas.microsoft.com/office/drawing/2014/main" id="{2FFC8C86-772F-4484-B2DB-811D880C0877}"/>
              </a:ext>
            </a:extLst>
          </p:cNvPr>
          <p:cNvSpPr txBox="1">
            <a:spLocks noChangeArrowheads="1"/>
          </p:cNvSpPr>
          <p:nvPr/>
        </p:nvSpPr>
        <p:spPr bwMode="auto">
          <a:xfrm>
            <a:off x="1486674" y="4601340"/>
            <a:ext cx="6565322" cy="738664"/>
          </a:xfrm>
          <a:prstGeom prst="rect">
            <a:avLst/>
          </a:prstGeom>
          <a:noFill/>
          <a:ln w="9525">
            <a:noFill/>
            <a:miter lim="800000"/>
            <a:headEnd/>
            <a:tailEnd/>
          </a:ln>
        </p:spPr>
        <p:txBody>
          <a:bodyPr wrap="square">
            <a:spAutoFit/>
          </a:bodyPr>
          <a:lstStyle/>
          <a:p>
            <a:pPr defTabSz="914400">
              <a:lnSpc>
                <a:spcPct val="150000"/>
              </a:lnSpc>
            </a:pPr>
            <a:r>
              <a:rPr lang="en-US" altLang="zh-CN" sz="2800" b="1" dirty="0" err="1">
                <a:latin typeface="Times New Roman" pitchFamily="18" charset="0"/>
                <a:ea typeface="微软雅黑" pitchFamily="34" charset="-122"/>
                <a:cs typeface="Times New Roman" pitchFamily="18" charset="0"/>
              </a:rPr>
              <a:t>CdSe</a:t>
            </a:r>
            <a:r>
              <a:rPr lang="zh-CN" altLang="en-US" sz="2800" b="1" dirty="0">
                <a:latin typeface="Times New Roman" pitchFamily="18" charset="0"/>
                <a:ea typeface="微软雅黑" pitchFamily="34" charset="-122"/>
                <a:cs typeface="Times New Roman" pitchFamily="18" charset="0"/>
              </a:rPr>
              <a:t>的响应时间约为毫秒到几十毫秒；</a:t>
            </a:r>
          </a:p>
        </p:txBody>
      </p:sp>
      <p:sp>
        <p:nvSpPr>
          <p:cNvPr id="19" name="TextBox 4">
            <a:extLst>
              <a:ext uri="{FF2B5EF4-FFF2-40B4-BE49-F238E27FC236}">
                <a16:creationId xmlns="" xmlns:a16="http://schemas.microsoft.com/office/drawing/2014/main" id="{9D89CB5B-B813-4B70-9456-27D08E829244}"/>
              </a:ext>
            </a:extLst>
          </p:cNvPr>
          <p:cNvSpPr txBox="1">
            <a:spLocks noChangeArrowheads="1"/>
          </p:cNvSpPr>
          <p:nvPr/>
        </p:nvSpPr>
        <p:spPr bwMode="auto">
          <a:xfrm>
            <a:off x="1486674" y="5334110"/>
            <a:ext cx="5956346" cy="738664"/>
          </a:xfrm>
          <a:prstGeom prst="rect">
            <a:avLst/>
          </a:prstGeom>
          <a:noFill/>
          <a:ln w="9525">
            <a:noFill/>
            <a:miter lim="800000"/>
            <a:headEnd/>
            <a:tailEnd/>
          </a:ln>
        </p:spPr>
        <p:txBody>
          <a:bodyPr wrap="square">
            <a:spAutoFit/>
          </a:bodyPr>
          <a:lstStyle/>
          <a:p>
            <a:pPr defTabSz="914400">
              <a:lnSpc>
                <a:spcPct val="150000"/>
              </a:lnSpc>
            </a:pPr>
            <a:r>
              <a:rPr lang="en-US" altLang="zh-CN" sz="2800" b="1" dirty="0" err="1">
                <a:latin typeface="Times New Roman" pitchFamily="18" charset="0"/>
                <a:ea typeface="微软雅黑" pitchFamily="34" charset="-122"/>
                <a:cs typeface="Times New Roman" pitchFamily="18" charset="0"/>
              </a:rPr>
              <a:t>PbS</a:t>
            </a:r>
            <a:r>
              <a:rPr lang="zh-CN" altLang="en-US" sz="2800" b="1" dirty="0">
                <a:latin typeface="Times New Roman" pitchFamily="18" charset="0"/>
                <a:ea typeface="微软雅黑" pitchFamily="34" charset="-122"/>
                <a:cs typeface="Times New Roman" pitchFamily="18" charset="0"/>
              </a:rPr>
              <a:t>的响应时间约为几百微秒。</a:t>
            </a:r>
          </a:p>
        </p:txBody>
      </p:sp>
      <p:sp>
        <p:nvSpPr>
          <p:cNvPr id="21" name="TextBox 4">
            <a:extLst>
              <a:ext uri="{FF2B5EF4-FFF2-40B4-BE49-F238E27FC236}">
                <a16:creationId xmlns="" xmlns:a16="http://schemas.microsoft.com/office/drawing/2014/main" id="{5B905544-CA96-47F6-AB62-DC5DDFC23803}"/>
              </a:ext>
            </a:extLst>
          </p:cNvPr>
          <p:cNvSpPr txBox="1">
            <a:spLocks noChangeArrowheads="1"/>
          </p:cNvSpPr>
          <p:nvPr/>
        </p:nvSpPr>
        <p:spPr bwMode="auto">
          <a:xfrm>
            <a:off x="3469169" y="6161030"/>
            <a:ext cx="6217372" cy="738664"/>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它们基本</a:t>
            </a:r>
            <a:r>
              <a:rPr lang="zh-CN" altLang="en-US" sz="2800" b="1" dirty="0">
                <a:solidFill>
                  <a:srgbClr val="FF0000"/>
                </a:solidFill>
                <a:latin typeface="Times New Roman" pitchFamily="18" charset="0"/>
                <a:ea typeface="微软雅黑" pitchFamily="34" charset="-122"/>
                <a:cs typeface="Times New Roman" pitchFamily="18" charset="0"/>
              </a:rPr>
              <a:t>不适于窄脉冲光信号的检测</a:t>
            </a:r>
            <a:r>
              <a:rPr lang="zh-CN" altLang="en-US" sz="2800" b="1" dirty="0">
                <a:latin typeface="Times New Roman" pitchFamily="18" charset="0"/>
                <a:ea typeface="微软雅黑" pitchFamily="34" charset="-122"/>
                <a:cs typeface="Times New Roman" pitchFamily="18" charset="0"/>
              </a:rPr>
              <a:t>。</a:t>
            </a:r>
          </a:p>
        </p:txBody>
      </p:sp>
      <p:sp>
        <p:nvSpPr>
          <p:cNvPr id="28" name="TextBox 4">
            <a:extLst>
              <a:ext uri="{FF2B5EF4-FFF2-40B4-BE49-F238E27FC236}">
                <a16:creationId xmlns="" xmlns:a16="http://schemas.microsoft.com/office/drawing/2014/main" id="{AB895A66-633C-492F-9CC7-1507998622B9}"/>
              </a:ext>
            </a:extLst>
          </p:cNvPr>
          <p:cNvSpPr txBox="1">
            <a:spLocks noChangeArrowheads="1"/>
          </p:cNvSpPr>
          <p:nvPr/>
        </p:nvSpPr>
        <p:spPr bwMode="auto">
          <a:xfrm>
            <a:off x="1486674" y="3868132"/>
            <a:ext cx="9446104" cy="738664"/>
          </a:xfrm>
          <a:prstGeom prst="rect">
            <a:avLst/>
          </a:prstGeom>
          <a:noFill/>
          <a:ln w="9525">
            <a:noFill/>
            <a:miter lim="800000"/>
            <a:headEnd/>
            <a:tailEnd/>
          </a:ln>
        </p:spPr>
        <p:txBody>
          <a:bodyPr wrap="square">
            <a:spAutoFit/>
          </a:bodyPr>
          <a:lstStyle/>
          <a:p>
            <a:pPr defTabSz="914400">
              <a:lnSpc>
                <a:spcPct val="150000"/>
              </a:lnSpc>
            </a:pPr>
            <a:r>
              <a:rPr lang="en-US" altLang="zh-CN" sz="2800" b="1" dirty="0" err="1">
                <a:latin typeface="Times New Roman" pitchFamily="18" charset="0"/>
                <a:ea typeface="微软雅黑" pitchFamily="34" charset="-122"/>
                <a:cs typeface="Times New Roman" pitchFamily="18" charset="0"/>
              </a:rPr>
              <a:t>CdS</a:t>
            </a:r>
            <a:r>
              <a:rPr lang="zh-CN" altLang="en-US" sz="2800" b="1" dirty="0">
                <a:latin typeface="Times New Roman" pitchFamily="18" charset="0"/>
                <a:ea typeface="微软雅黑" pitchFamily="34" charset="-122"/>
                <a:cs typeface="Times New Roman" pitchFamily="18" charset="0"/>
              </a:rPr>
              <a:t>光电导探测器的响应时间约为几十毫秒到几秒；</a:t>
            </a:r>
          </a:p>
        </p:txBody>
      </p:sp>
      <p:grpSp>
        <p:nvGrpSpPr>
          <p:cNvPr id="15" name="组合 14"/>
          <p:cNvGrpSpPr/>
          <p:nvPr/>
        </p:nvGrpSpPr>
        <p:grpSpPr>
          <a:xfrm>
            <a:off x="10337881" y="293282"/>
            <a:ext cx="2823365" cy="523220"/>
            <a:chOff x="10337881" y="293282"/>
            <a:chExt cx="2823365" cy="523220"/>
          </a:xfrm>
        </p:grpSpPr>
        <p:sp>
          <p:nvSpPr>
            <p:cNvPr id="22" name="矩形 21"/>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23" name="矩形 22">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415654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ox(in)">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box(in)">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ox(i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ox(in)">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ox(in)">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1"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时间响应</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TextBox 3">
            <a:extLst>
              <a:ext uri="{FF2B5EF4-FFF2-40B4-BE49-F238E27FC236}">
                <a16:creationId xmlns="" xmlns:a16="http://schemas.microsoft.com/office/drawing/2014/main" id="{93ADBC9B-D6DB-4FEC-A4A2-EC7EA21B69AA}"/>
              </a:ext>
            </a:extLst>
          </p:cNvPr>
          <p:cNvSpPr txBox="1">
            <a:spLocks noChangeArrowheads="1"/>
          </p:cNvSpPr>
          <p:nvPr/>
        </p:nvSpPr>
        <p:spPr bwMode="auto">
          <a:xfrm>
            <a:off x="1815371" y="5581487"/>
            <a:ext cx="962887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eaLnBrk="1" hangingPunct="1">
              <a:lnSpc>
                <a:spcPct val="150000"/>
              </a:lnSpc>
              <a:buFont typeface="Arial" panose="020B0604020202020204" pitchFamily="34" charset="0"/>
              <a:buChar char="•"/>
            </a:pP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线性光电导探测器</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恒流源</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光电阻</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（考虑外接电路）</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C2EF747F-32F5-41DE-BBD8-4F551D2CE7FE}"/>
              </a:ext>
            </a:extLst>
          </p:cNvPr>
          <p:cNvSpPr>
            <a:spLocks noChangeArrowheads="1"/>
          </p:cNvSpPr>
          <p:nvPr/>
        </p:nvSpPr>
        <p:spPr bwMode="auto">
          <a:xfrm>
            <a:off x="1884696" y="6547993"/>
            <a:ext cx="55308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eaLnBrk="1" hangingPunct="1">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交流调制光：频率增，</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输出减！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4" name="对象 23">
            <a:extLst>
              <a:ext uri="{FF2B5EF4-FFF2-40B4-BE49-F238E27FC236}">
                <a16:creationId xmlns="" xmlns:a16="http://schemas.microsoft.com/office/drawing/2014/main" id="{42E787BC-0515-4577-9DAA-493550B396D8}"/>
              </a:ext>
            </a:extLst>
          </p:cNvPr>
          <p:cNvGraphicFramePr>
            <a:graphicFrameLocks noChangeAspect="1"/>
          </p:cNvGraphicFramePr>
          <p:nvPr>
            <p:extLst>
              <p:ext uri="{D42A27DB-BD31-4B8C-83A1-F6EECF244321}">
                <p14:modId xmlns:p14="http://schemas.microsoft.com/office/powerpoint/2010/main" val="3025162299"/>
              </p:ext>
            </p:extLst>
          </p:nvPr>
        </p:nvGraphicFramePr>
        <p:xfrm>
          <a:off x="3815250" y="958591"/>
          <a:ext cx="5629121" cy="4531806"/>
        </p:xfrm>
        <a:graphic>
          <a:graphicData uri="http://schemas.openxmlformats.org/presentationml/2006/ole">
            <mc:AlternateContent xmlns:mc="http://schemas.openxmlformats.org/markup-compatibility/2006">
              <mc:Choice xmlns:v="urn:schemas-microsoft-com:vml" Requires="v">
                <p:oleObj spid="_x0000_s13373" name="Visio" r:id="rId4" imgW="2695462" imgH="2171856" progId="Visio.Drawing.15">
                  <p:embed/>
                </p:oleObj>
              </mc:Choice>
              <mc:Fallback>
                <p:oleObj name="Visio" r:id="rId4" imgW="2695462" imgH="2171856" progId="Visio.Drawing.15">
                  <p:embed/>
                  <p:pic>
                    <p:nvPicPr>
                      <p:cNvPr id="2" name="对象 1"/>
                      <p:cNvPicPr>
                        <a:picLocks noChangeAspect="1" noChangeArrowheads="1"/>
                      </p:cNvPicPr>
                      <p:nvPr/>
                    </p:nvPicPr>
                    <p:blipFill>
                      <a:blip r:embed="rId5"/>
                      <a:srcRect/>
                      <a:stretch>
                        <a:fillRect/>
                      </a:stretch>
                    </p:blipFill>
                    <p:spPr bwMode="auto">
                      <a:xfrm>
                        <a:off x="3815250" y="958591"/>
                        <a:ext cx="5629121" cy="4531806"/>
                      </a:xfrm>
                      <a:prstGeom prst="rect">
                        <a:avLst/>
                      </a:prstGeom>
                      <a:noFill/>
                      <a:ln>
                        <a:noFill/>
                      </a:ln>
                    </p:spPr>
                  </p:pic>
                </p:oleObj>
              </mc:Fallback>
            </mc:AlternateContent>
          </a:graphicData>
        </a:graphic>
      </p:graphicFrame>
      <p:grpSp>
        <p:nvGrpSpPr>
          <p:cNvPr id="12" name="组合 11"/>
          <p:cNvGrpSpPr/>
          <p:nvPr/>
        </p:nvGrpSpPr>
        <p:grpSpPr>
          <a:xfrm>
            <a:off x="10337881" y="293282"/>
            <a:ext cx="2823365" cy="523220"/>
            <a:chOff x="10337881" y="293282"/>
            <a:chExt cx="2823365" cy="523220"/>
          </a:xfrm>
        </p:grpSpPr>
        <p:sp>
          <p:nvSpPr>
            <p:cNvPr id="14" name="矩形 13"/>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5" name="矩形 1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42111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box(in)">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down)">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光谱特性</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4" name="Rectangle 3">
            <a:extLst>
              <a:ext uri="{FF2B5EF4-FFF2-40B4-BE49-F238E27FC236}">
                <a16:creationId xmlns="" xmlns:a16="http://schemas.microsoft.com/office/drawing/2014/main" id="{17B8FE6B-7281-4012-BDD6-5ED003BE37D7}"/>
              </a:ext>
            </a:extLst>
          </p:cNvPr>
          <p:cNvSpPr>
            <a:spLocks noChangeArrowheads="1"/>
          </p:cNvSpPr>
          <p:nvPr/>
        </p:nvSpPr>
        <p:spPr bwMode="auto">
          <a:xfrm>
            <a:off x="810669" y="1390663"/>
            <a:ext cx="12523366" cy="1377950"/>
          </a:xfrm>
          <a:prstGeom prst="rect">
            <a:avLst/>
          </a:prstGeom>
          <a:noFill/>
          <a:ln w="9525">
            <a:noFill/>
            <a:miter lim="800000"/>
            <a:headEnd/>
            <a:tailEnd/>
          </a:ln>
        </p:spPr>
        <p:txBody>
          <a:bodyPr/>
          <a:lstStyle/>
          <a:p>
            <a:pPr defTabSz="914400">
              <a:lnSpc>
                <a:spcPct val="140000"/>
              </a:lnSpc>
              <a:spcBef>
                <a:spcPts val="1125"/>
              </a:spcBef>
              <a:buFont typeface="Arial" pitchFamily="34" charset="0"/>
              <a:buNone/>
            </a:pPr>
            <a:r>
              <a:rPr lang="zh-CN" altLang="en-US" sz="2800" dirty="0">
                <a:latin typeface="黑体" pitchFamily="49" charset="-122"/>
                <a:ea typeface="黑体" pitchFamily="49" charset="-122"/>
              </a:rPr>
              <a:t>   </a:t>
            </a:r>
            <a:r>
              <a:rPr lang="zh-CN" altLang="en-US" sz="2800" b="1" dirty="0">
                <a:latin typeface="微软雅黑" pitchFamily="34" charset="-122"/>
                <a:ea typeface="微软雅黑" pitchFamily="34" charset="-122"/>
              </a:rPr>
              <a:t>光敏电阻的光谱响应主要由光敏材料禁带宽度、杂质电离能、材料掺杂比与掺杂浓度等因素有关。 </a:t>
            </a:r>
          </a:p>
        </p:txBody>
      </p:sp>
      <p:graphicFrame>
        <p:nvGraphicFramePr>
          <p:cNvPr id="15" name="对象 14">
            <a:extLst>
              <a:ext uri="{FF2B5EF4-FFF2-40B4-BE49-F238E27FC236}">
                <a16:creationId xmlns="" xmlns:a16="http://schemas.microsoft.com/office/drawing/2014/main" id="{88047CE9-4EEC-489D-9B58-7F47653C0804}"/>
              </a:ext>
            </a:extLst>
          </p:cNvPr>
          <p:cNvGraphicFramePr>
            <a:graphicFrameLocks noChangeAspect="1"/>
          </p:cNvGraphicFramePr>
          <p:nvPr>
            <p:extLst>
              <p:ext uri="{D42A27DB-BD31-4B8C-83A1-F6EECF244321}">
                <p14:modId xmlns:p14="http://schemas.microsoft.com/office/powerpoint/2010/main" val="1031758409"/>
              </p:ext>
            </p:extLst>
          </p:nvPr>
        </p:nvGraphicFramePr>
        <p:xfrm>
          <a:off x="3175616" y="2573440"/>
          <a:ext cx="7652194" cy="3253508"/>
        </p:xfrm>
        <a:graphic>
          <a:graphicData uri="http://schemas.openxmlformats.org/presentationml/2006/ole">
            <mc:AlternateContent xmlns:mc="http://schemas.openxmlformats.org/markup-compatibility/2006">
              <mc:Choice xmlns:v="urn:schemas-microsoft-com:vml" Requires="v">
                <p:oleObj spid="_x0000_s14397" name="Visio" r:id="rId4" imgW="5896037" imgH="2505042" progId="Visio.Drawing.15">
                  <p:embed/>
                </p:oleObj>
              </mc:Choice>
              <mc:Fallback>
                <p:oleObj name="Visio" r:id="rId4" imgW="5896037" imgH="2505042" progId="Visio.Drawing.15">
                  <p:embed/>
                  <p:pic>
                    <p:nvPicPr>
                      <p:cNvPr id="22" name="对象 21"/>
                      <p:cNvPicPr>
                        <a:picLocks noChangeAspect="1" noChangeArrowheads="1"/>
                      </p:cNvPicPr>
                      <p:nvPr/>
                    </p:nvPicPr>
                    <p:blipFill>
                      <a:blip r:embed="rId5"/>
                      <a:srcRect/>
                      <a:stretch>
                        <a:fillRect/>
                      </a:stretch>
                    </p:blipFill>
                    <p:spPr bwMode="auto">
                      <a:xfrm>
                        <a:off x="3175616" y="2573440"/>
                        <a:ext cx="7652194" cy="3253508"/>
                      </a:xfrm>
                      <a:prstGeom prst="rect">
                        <a:avLst/>
                      </a:prstGeom>
                      <a:noFill/>
                      <a:ln>
                        <a:noFill/>
                      </a:ln>
                    </p:spPr>
                  </p:pic>
                </p:oleObj>
              </mc:Fallback>
            </mc:AlternateContent>
          </a:graphicData>
        </a:graphic>
      </p:graphicFrame>
      <p:sp>
        <p:nvSpPr>
          <p:cNvPr id="16" name="文本框 15">
            <a:extLst>
              <a:ext uri="{FF2B5EF4-FFF2-40B4-BE49-F238E27FC236}">
                <a16:creationId xmlns="" xmlns:a16="http://schemas.microsoft.com/office/drawing/2014/main" id="{650FD0FE-A978-4A91-B10E-E7DB24DF12D4}"/>
              </a:ext>
            </a:extLst>
          </p:cNvPr>
          <p:cNvSpPr txBox="1"/>
          <p:nvPr/>
        </p:nvSpPr>
        <p:spPr>
          <a:xfrm>
            <a:off x="574172" y="3014541"/>
            <a:ext cx="2481548" cy="2807756"/>
          </a:xfrm>
          <a:prstGeom prst="rect">
            <a:avLst/>
          </a:prstGeom>
          <a:noFill/>
        </p:spPr>
        <p:txBody>
          <a:bodyPr wrap="square" rtlCol="0">
            <a:spAutoFit/>
          </a:bodyPr>
          <a:lstStyle/>
          <a:p>
            <a:pPr>
              <a:lnSpc>
                <a:spcPct val="150000"/>
              </a:lnSpc>
            </a:pP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光谱响应很接近人眼的视觉响应，峰值波长在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515</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600nm</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，可用于与人眼有关的仪器，例如照相机、照度计、光度计等</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 name="文本框 16">
            <a:extLst>
              <a:ext uri="{FF2B5EF4-FFF2-40B4-BE49-F238E27FC236}">
                <a16:creationId xmlns="" xmlns:a16="http://schemas.microsoft.com/office/drawing/2014/main" id="{B8B7CC2F-6B45-40BA-9580-4D56EA91930B}"/>
              </a:ext>
            </a:extLst>
          </p:cNvPr>
          <p:cNvSpPr txBox="1"/>
          <p:nvPr/>
        </p:nvSpPr>
        <p:spPr>
          <a:xfrm>
            <a:off x="10923975" y="2929876"/>
            <a:ext cx="2256443" cy="2346091"/>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光谱响应范围为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0.4~2.8μm</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，峰值在红外区域，常用于火点探测与火灾预警系统。</a:t>
            </a:r>
          </a:p>
        </p:txBody>
      </p:sp>
      <p:sp>
        <p:nvSpPr>
          <p:cNvPr id="18" name="椭圆形标注 2">
            <a:extLst>
              <a:ext uri="{FF2B5EF4-FFF2-40B4-BE49-F238E27FC236}">
                <a16:creationId xmlns="" xmlns:a16="http://schemas.microsoft.com/office/drawing/2014/main" id="{5FB30DE8-D83F-4C76-9688-8DBB91732A7F}"/>
              </a:ext>
            </a:extLst>
          </p:cNvPr>
          <p:cNvSpPr/>
          <p:nvPr/>
        </p:nvSpPr>
        <p:spPr>
          <a:xfrm>
            <a:off x="7888082" y="3014541"/>
            <a:ext cx="699115" cy="423349"/>
          </a:xfrm>
          <a:prstGeom prst="wedgeEllipseCallout">
            <a:avLst>
              <a:gd name="adj1" fmla="val 368543"/>
              <a:gd name="adj2" fmla="val 81474"/>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形标注 23">
            <a:extLst>
              <a:ext uri="{FF2B5EF4-FFF2-40B4-BE49-F238E27FC236}">
                <a16:creationId xmlns="" xmlns:a16="http://schemas.microsoft.com/office/drawing/2014/main" id="{56A3455A-F3BD-40B1-BDD5-089193201D45}"/>
              </a:ext>
            </a:extLst>
          </p:cNvPr>
          <p:cNvSpPr/>
          <p:nvPr/>
        </p:nvSpPr>
        <p:spPr>
          <a:xfrm>
            <a:off x="5130133" y="3730030"/>
            <a:ext cx="1128098" cy="508014"/>
          </a:xfrm>
          <a:prstGeom prst="wedgeEllipseCallout">
            <a:avLst>
              <a:gd name="adj1" fmla="val -223910"/>
              <a:gd name="adj2" fmla="val -76844"/>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 xmlns:a16="http://schemas.microsoft.com/office/drawing/2014/main" id="{EA9AE13C-B642-4616-A462-99DBA2B21CA0}"/>
              </a:ext>
            </a:extLst>
          </p:cNvPr>
          <p:cNvSpPr txBox="1"/>
          <p:nvPr/>
        </p:nvSpPr>
        <p:spPr>
          <a:xfrm>
            <a:off x="3580682" y="5809396"/>
            <a:ext cx="7714422" cy="1200329"/>
          </a:xfrm>
          <a:prstGeom prst="rect">
            <a:avLst/>
          </a:prstGeom>
          <a:noFill/>
        </p:spPr>
        <p:txBody>
          <a:bodyPr wrap="square" rtlCol="0">
            <a:spAutoFit/>
          </a:bodyPr>
          <a:lstStyle/>
          <a:p>
            <a:pPr>
              <a:lnSpc>
                <a:spcPct val="150000"/>
              </a:lnSpc>
            </a:pPr>
            <a:r>
              <a:rPr lang="en-US" altLang="zh-CN" sz="2400" b="1" dirty="0" err="1">
                <a:latin typeface="Times New Roman" panose="02020603050405020304" pitchFamily="18" charset="0"/>
                <a:ea typeface="微软雅黑" panose="020B0503020204020204" pitchFamily="34" charset="-122"/>
                <a:cs typeface="Times New Roman" panose="02020603050405020304" pitchFamily="18" charset="0"/>
              </a:rPr>
              <a:t>GaN</a:t>
            </a:r>
            <a:r>
              <a:rPr lang="zh-CN" altLang="zh-CN" sz="2400" b="1" dirty="0">
                <a:latin typeface="Times New Roman" panose="02020603050405020304" pitchFamily="18" charset="0"/>
                <a:ea typeface="微软雅黑" panose="020B0503020204020204" pitchFamily="34" charset="-122"/>
                <a:cs typeface="Times New Roman" panose="02020603050405020304" pitchFamily="18" charset="0"/>
              </a:rPr>
              <a:t>紫外光电导探测器，其光谱响应范围为</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200~365nm</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如：</a:t>
            </a:r>
            <a:r>
              <a:rPr lang="zh-CN" altLang="zh-CN" sz="2400" b="1" dirty="0">
                <a:latin typeface="Times New Roman" panose="02020603050405020304" pitchFamily="18" charset="0"/>
                <a:ea typeface="微软雅黑" panose="020B0503020204020204" pitchFamily="34" charset="-122"/>
                <a:cs typeface="Times New Roman" panose="02020603050405020304" pitchFamily="18" charset="0"/>
              </a:rPr>
              <a:t>火焰燃烧监视器、火箭羽烟探测器等。</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矩形 26">
            <a:extLst>
              <a:ext uri="{FF2B5EF4-FFF2-40B4-BE49-F238E27FC236}">
                <a16:creationId xmlns="" xmlns:a16="http://schemas.microsoft.com/office/drawing/2014/main" id="{6C000E7E-63FB-4D96-8482-00ADF5FDD21D}"/>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22" name="组合 21"/>
          <p:cNvGrpSpPr/>
          <p:nvPr/>
        </p:nvGrpSpPr>
        <p:grpSpPr>
          <a:xfrm>
            <a:off x="10337881" y="293282"/>
            <a:ext cx="2823365" cy="523220"/>
            <a:chOff x="10337881" y="293282"/>
            <a:chExt cx="2823365" cy="523220"/>
          </a:xfrm>
        </p:grpSpPr>
        <p:sp>
          <p:nvSpPr>
            <p:cNvPr id="23" name="矩形 22"/>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24" name="矩形 23">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254319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arn(inVertical)">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down)">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animBg="1"/>
      <p:bldP spid="19" grpId="0" animBg="1"/>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噪声特性</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3.2.6</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Rectangle 3">
            <a:extLst>
              <a:ext uri="{FF2B5EF4-FFF2-40B4-BE49-F238E27FC236}">
                <a16:creationId xmlns="" xmlns:a16="http://schemas.microsoft.com/office/drawing/2014/main" id="{5C8F12AB-7EF9-4FDD-9A25-12EC4A3E648B}"/>
              </a:ext>
            </a:extLst>
          </p:cNvPr>
          <p:cNvSpPr>
            <a:spLocks noChangeArrowheads="1"/>
          </p:cNvSpPr>
          <p:nvPr/>
        </p:nvSpPr>
        <p:spPr bwMode="auto">
          <a:xfrm>
            <a:off x="610072" y="1361329"/>
            <a:ext cx="12323541" cy="709232"/>
          </a:xfrm>
          <a:prstGeom prst="rect">
            <a:avLst/>
          </a:prstGeom>
          <a:noFill/>
          <a:ln w="9525">
            <a:noFill/>
            <a:miter lim="800000"/>
            <a:headEnd/>
            <a:tailEnd/>
          </a:ln>
        </p:spPr>
        <p:txBody>
          <a:bodyPr/>
          <a:lstStyle/>
          <a:p>
            <a:pPr defTabSz="914400">
              <a:lnSpc>
                <a:spcPct val="150000"/>
              </a:lnSpc>
              <a:spcBef>
                <a:spcPts val="1125"/>
              </a:spcBef>
              <a:buFont typeface="Arial" pitchFamily="34" charset="0"/>
              <a:buNone/>
            </a:pPr>
            <a:r>
              <a:rPr lang="zh-CN" altLang="en-US" sz="2800" dirty="0">
                <a:latin typeface="Times New Roman" pitchFamily="18" charset="0"/>
                <a:ea typeface="黑体" pitchFamily="49"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光敏电阻的主要噪声有热噪声、产生复合和低频噪声</a:t>
            </a:r>
            <a:r>
              <a:rPr lang="en-US" altLang="zh-CN" sz="2800" b="1" dirty="0">
                <a:latin typeface="Times New Roman" pitchFamily="18" charset="0"/>
                <a:ea typeface="微软雅黑" pitchFamily="34" charset="-122"/>
                <a:cs typeface="Times New Roman" pitchFamily="18" charset="0"/>
              </a:rPr>
              <a:t>(1/f</a:t>
            </a:r>
            <a:r>
              <a:rPr lang="zh-CN" altLang="en-US" sz="2800" b="1" dirty="0">
                <a:latin typeface="Times New Roman" pitchFamily="18" charset="0"/>
                <a:ea typeface="微软雅黑" pitchFamily="34" charset="-122"/>
                <a:cs typeface="Times New Roman" pitchFamily="18" charset="0"/>
              </a:rPr>
              <a:t>噪声</a:t>
            </a:r>
            <a:r>
              <a:rPr lang="en-US" altLang="zh-CN" sz="2800" b="1" dirty="0">
                <a:latin typeface="Times New Roman" pitchFamily="18" charset="0"/>
                <a:ea typeface="微软雅黑" pitchFamily="34" charset="-122"/>
                <a:cs typeface="Times New Roman" pitchFamily="18" charset="0"/>
              </a:rPr>
              <a:t>)</a:t>
            </a:r>
            <a:r>
              <a:rPr lang="zh-CN" altLang="en-US" sz="2800" b="1" dirty="0">
                <a:latin typeface="Times New Roman" pitchFamily="18" charset="0"/>
                <a:ea typeface="微软雅黑" pitchFamily="34" charset="-122"/>
                <a:cs typeface="Times New Roman" pitchFamily="18" charset="0"/>
              </a:rPr>
              <a:t>。</a:t>
            </a:r>
          </a:p>
        </p:txBody>
      </p:sp>
      <p:graphicFrame>
        <p:nvGraphicFramePr>
          <p:cNvPr id="23" name="Object 15">
            <a:extLst>
              <a:ext uri="{FF2B5EF4-FFF2-40B4-BE49-F238E27FC236}">
                <a16:creationId xmlns="" xmlns:a16="http://schemas.microsoft.com/office/drawing/2014/main" id="{8FFB1851-F65A-470D-85BF-32B416679A59}"/>
              </a:ext>
            </a:extLst>
          </p:cNvPr>
          <p:cNvGraphicFramePr>
            <a:graphicFrameLocks noChangeAspect="1"/>
          </p:cNvGraphicFramePr>
          <p:nvPr>
            <p:extLst>
              <p:ext uri="{D42A27DB-BD31-4B8C-83A1-F6EECF244321}">
                <p14:modId xmlns:p14="http://schemas.microsoft.com/office/powerpoint/2010/main" val="467313152"/>
              </p:ext>
            </p:extLst>
          </p:nvPr>
        </p:nvGraphicFramePr>
        <p:xfrm>
          <a:off x="1889623" y="2225800"/>
          <a:ext cx="4086225" cy="1689100"/>
        </p:xfrm>
        <a:graphic>
          <a:graphicData uri="http://schemas.openxmlformats.org/presentationml/2006/ole">
            <mc:AlternateContent xmlns:mc="http://schemas.openxmlformats.org/markup-compatibility/2006">
              <mc:Choice xmlns:v="urn:schemas-microsoft-com:vml" Requires="v">
                <p:oleObj spid="_x0000_s15480" name="Equation" r:id="rId3" imgW="1587240" imgH="660240" progId="Equation.DSMT4">
                  <p:embed/>
                </p:oleObj>
              </mc:Choice>
              <mc:Fallback>
                <p:oleObj name="Equation" r:id="rId3" imgW="1587240" imgH="660240" progId="Equation.DSMT4">
                  <p:embed/>
                  <p:pic>
                    <p:nvPicPr>
                      <p:cNvPr id="1433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623" y="2225800"/>
                        <a:ext cx="4086225" cy="1689100"/>
                      </a:xfrm>
                      <a:prstGeom prst="rect">
                        <a:avLst/>
                      </a:prstGeom>
                      <a:solidFill>
                        <a:srgbClr val="FFFF00"/>
                      </a:solidFill>
                    </p:spPr>
                  </p:pic>
                </p:oleObj>
              </mc:Fallback>
            </mc:AlternateContent>
          </a:graphicData>
        </a:graphic>
      </p:graphicFrame>
      <p:graphicFrame>
        <p:nvGraphicFramePr>
          <p:cNvPr id="24" name="Object 8">
            <a:extLst>
              <a:ext uri="{FF2B5EF4-FFF2-40B4-BE49-F238E27FC236}">
                <a16:creationId xmlns="" xmlns:a16="http://schemas.microsoft.com/office/drawing/2014/main" id="{95E8C644-7294-44F5-AED8-B8DEF5DF1494}"/>
              </a:ext>
            </a:extLst>
          </p:cNvPr>
          <p:cNvGraphicFramePr>
            <a:graphicFrameLocks noChangeAspect="1"/>
          </p:cNvGraphicFramePr>
          <p:nvPr>
            <p:extLst>
              <p:ext uri="{D42A27DB-BD31-4B8C-83A1-F6EECF244321}">
                <p14:modId xmlns:p14="http://schemas.microsoft.com/office/powerpoint/2010/main" val="3274223466"/>
              </p:ext>
            </p:extLst>
          </p:nvPr>
        </p:nvGraphicFramePr>
        <p:xfrm>
          <a:off x="9130172" y="2549668"/>
          <a:ext cx="4168775" cy="3506788"/>
        </p:xfrm>
        <a:graphic>
          <a:graphicData uri="http://schemas.openxmlformats.org/presentationml/2006/ole">
            <mc:AlternateContent xmlns:mc="http://schemas.openxmlformats.org/markup-compatibility/2006">
              <mc:Choice xmlns:v="urn:schemas-microsoft-com:vml" Requires="v">
                <p:oleObj spid="_x0000_s15481" name="Visio" r:id="rId5" imgW="2695462" imgH="2267002" progId="Visio.Drawing.11">
                  <p:embed/>
                </p:oleObj>
              </mc:Choice>
              <mc:Fallback>
                <p:oleObj name="Visio" r:id="rId5" imgW="2695462" imgH="2267002" progId="Visio.Drawing.11">
                  <p:embed/>
                  <p:pic>
                    <p:nvPicPr>
                      <p:cNvPr id="37900" name="Object 8"/>
                      <p:cNvPicPr>
                        <a:picLocks noChangeAspect="1" noChangeArrowheads="1"/>
                      </p:cNvPicPr>
                      <p:nvPr/>
                    </p:nvPicPr>
                    <p:blipFill>
                      <a:blip r:embed="rId6"/>
                      <a:srcRect/>
                      <a:stretch>
                        <a:fillRect/>
                      </a:stretch>
                    </p:blipFill>
                    <p:spPr bwMode="auto">
                      <a:xfrm>
                        <a:off x="9130172" y="2549668"/>
                        <a:ext cx="4168775" cy="3506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1">
            <a:extLst>
              <a:ext uri="{FF2B5EF4-FFF2-40B4-BE49-F238E27FC236}">
                <a16:creationId xmlns="" xmlns:a16="http://schemas.microsoft.com/office/drawing/2014/main" id="{88C70057-7579-4CEB-BE6A-C8BD166B3839}"/>
              </a:ext>
            </a:extLst>
          </p:cNvPr>
          <p:cNvSpPr txBox="1">
            <a:spLocks noChangeArrowheads="1"/>
          </p:cNvSpPr>
          <p:nvPr/>
        </p:nvSpPr>
        <p:spPr bwMode="auto">
          <a:xfrm>
            <a:off x="710001" y="3914900"/>
            <a:ext cx="8320242" cy="2862322"/>
          </a:xfrm>
          <a:prstGeom prst="rect">
            <a:avLst/>
          </a:prstGeom>
          <a:noFill/>
          <a:ln w="9525">
            <a:noFill/>
            <a:miter lim="800000"/>
            <a:headEnd/>
            <a:tailEnd/>
          </a:ln>
        </p:spPr>
        <p:txBody>
          <a:bodyPr wrap="square">
            <a:spAutoFit/>
          </a:bodyPr>
          <a:lstStyle/>
          <a:p>
            <a:pPr defTabSz="914400">
              <a:lnSpc>
                <a:spcPct val="150000"/>
              </a:lnSpc>
            </a:pPr>
            <a:r>
              <a:rPr lang="zh-CN" altLang="en-US" b="1" dirty="0">
                <a:latin typeface="Times New Roman" pitchFamily="18" charset="0"/>
                <a:ea typeface="微软雅黑" pitchFamily="34" charset="-122"/>
                <a:cs typeface="Times New Roman" pitchFamily="18" charset="0"/>
              </a:rPr>
              <a:t>在红外探测中，为了减小噪声：</a:t>
            </a:r>
            <a:endParaRPr lang="en-US" altLang="zh-CN" b="1" dirty="0">
              <a:latin typeface="Times New Roman" pitchFamily="18" charset="0"/>
              <a:ea typeface="微软雅黑" pitchFamily="34" charset="-122"/>
              <a:cs typeface="Times New Roman" pitchFamily="18" charset="0"/>
            </a:endParaRPr>
          </a:p>
          <a:p>
            <a:pPr marL="354013" indent="-354013" defTabSz="914400">
              <a:lnSpc>
                <a:spcPct val="150000"/>
              </a:lnSpc>
            </a:pPr>
            <a:r>
              <a:rPr lang="en-US" altLang="zh-CN" b="1" dirty="0">
                <a:latin typeface="Times New Roman" pitchFamily="18" charset="0"/>
                <a:ea typeface="微软雅黑" pitchFamily="34" charset="-122"/>
                <a:cs typeface="Times New Roman" pitchFamily="18" charset="0"/>
              </a:rPr>
              <a:t>(1) </a:t>
            </a:r>
            <a:r>
              <a:rPr lang="zh-CN" altLang="en-US" b="1" dirty="0">
                <a:latin typeface="Times New Roman" pitchFamily="18" charset="0"/>
                <a:ea typeface="微软雅黑" pitchFamily="34" charset="-122"/>
                <a:cs typeface="Times New Roman" pitchFamily="18" charset="0"/>
              </a:rPr>
              <a:t>一般采用光调制技术且将频率取得高一些，一般在</a:t>
            </a:r>
            <a:r>
              <a:rPr lang="en-US" altLang="zh-CN" b="1" dirty="0">
                <a:latin typeface="Times New Roman" pitchFamily="18" charset="0"/>
                <a:ea typeface="微软雅黑" pitchFamily="34" charset="-122"/>
                <a:cs typeface="Times New Roman" pitchFamily="18" charset="0"/>
              </a:rPr>
              <a:t>800~1000Hz</a:t>
            </a:r>
            <a:r>
              <a:rPr lang="zh-CN" altLang="en-US" b="1" dirty="0">
                <a:latin typeface="Times New Roman" pitchFamily="18" charset="0"/>
                <a:ea typeface="微软雅黑" pitchFamily="34" charset="-122"/>
                <a:cs typeface="Times New Roman" pitchFamily="18" charset="0"/>
              </a:rPr>
              <a:t>时可以消除</a:t>
            </a:r>
            <a:r>
              <a:rPr lang="en-US" altLang="zh-CN" b="1" dirty="0">
                <a:latin typeface="Times New Roman" pitchFamily="18" charset="0"/>
                <a:ea typeface="微软雅黑" pitchFamily="34" charset="-122"/>
                <a:cs typeface="Times New Roman" pitchFamily="18" charset="0"/>
              </a:rPr>
              <a:t>1/f</a:t>
            </a:r>
            <a:r>
              <a:rPr lang="zh-CN" altLang="en-US" b="1" dirty="0">
                <a:latin typeface="Times New Roman" pitchFamily="18" charset="0"/>
                <a:ea typeface="微软雅黑" pitchFamily="34" charset="-122"/>
                <a:cs typeface="Times New Roman" pitchFamily="18" charset="0"/>
              </a:rPr>
              <a:t>噪声和产生</a:t>
            </a:r>
            <a:r>
              <a:rPr lang="en-US" altLang="zh-CN" b="1" dirty="0">
                <a:latin typeface="Times New Roman" pitchFamily="18" charset="0"/>
                <a:ea typeface="微软雅黑" pitchFamily="34" charset="-122"/>
                <a:cs typeface="Times New Roman" pitchFamily="18" charset="0"/>
              </a:rPr>
              <a:t>-</a:t>
            </a:r>
            <a:r>
              <a:rPr lang="zh-CN" altLang="en-US" b="1" dirty="0">
                <a:latin typeface="Times New Roman" pitchFamily="18" charset="0"/>
                <a:ea typeface="微软雅黑" pitchFamily="34" charset="-122"/>
                <a:cs typeface="Times New Roman" pitchFamily="18" charset="0"/>
              </a:rPr>
              <a:t>复合噪声的影响。</a:t>
            </a:r>
            <a:endParaRPr lang="en-US" altLang="zh-CN" b="1" dirty="0">
              <a:latin typeface="Times New Roman" pitchFamily="18" charset="0"/>
              <a:ea typeface="微软雅黑" pitchFamily="34" charset="-122"/>
              <a:cs typeface="Times New Roman" pitchFamily="18" charset="0"/>
            </a:endParaRPr>
          </a:p>
          <a:p>
            <a:pPr marL="354013" indent="-354013" defTabSz="914400">
              <a:lnSpc>
                <a:spcPct val="150000"/>
              </a:lnSpc>
            </a:pPr>
            <a:r>
              <a:rPr lang="en-US" altLang="zh-CN" b="1" dirty="0">
                <a:latin typeface="Times New Roman" pitchFamily="18" charset="0"/>
                <a:ea typeface="微软雅黑" pitchFamily="34" charset="-122"/>
                <a:cs typeface="Times New Roman" pitchFamily="18" charset="0"/>
              </a:rPr>
              <a:t>(2) </a:t>
            </a:r>
            <a:r>
              <a:rPr lang="zh-CN" altLang="en-US" b="1" dirty="0">
                <a:latin typeface="Times New Roman" pitchFamily="18" charset="0"/>
                <a:ea typeface="微软雅黑" pitchFamily="34" charset="-122"/>
                <a:cs typeface="Times New Roman" pitchFamily="18" charset="0"/>
              </a:rPr>
              <a:t>采用制冷装置降低器件的温度，这不仅减小热噪声，而且也可降低产生</a:t>
            </a:r>
            <a:r>
              <a:rPr lang="en-US" altLang="zh-CN" b="1" dirty="0">
                <a:latin typeface="Times New Roman" pitchFamily="18" charset="0"/>
                <a:ea typeface="微软雅黑" pitchFamily="34" charset="-122"/>
                <a:cs typeface="Times New Roman" pitchFamily="18" charset="0"/>
              </a:rPr>
              <a:t>-</a:t>
            </a:r>
            <a:r>
              <a:rPr lang="zh-CN" altLang="en-US" b="1" dirty="0">
                <a:latin typeface="Times New Roman" pitchFamily="18" charset="0"/>
                <a:ea typeface="微软雅黑" pitchFamily="34" charset="-122"/>
                <a:cs typeface="Times New Roman" pitchFamily="18" charset="0"/>
              </a:rPr>
              <a:t>复合噪声，提高比探测率。</a:t>
            </a:r>
            <a:endParaRPr lang="en-US" altLang="zh-CN" b="1" dirty="0">
              <a:latin typeface="Times New Roman" pitchFamily="18" charset="0"/>
              <a:ea typeface="微软雅黑" pitchFamily="34" charset="-122"/>
              <a:cs typeface="Times New Roman" pitchFamily="18" charset="0"/>
            </a:endParaRPr>
          </a:p>
          <a:p>
            <a:pPr marL="354013" indent="-354013" defTabSz="914400">
              <a:lnSpc>
                <a:spcPct val="150000"/>
              </a:lnSpc>
            </a:pPr>
            <a:r>
              <a:rPr lang="en-US" altLang="zh-CN" b="1" dirty="0">
                <a:latin typeface="Times New Roman" pitchFamily="18" charset="0"/>
                <a:ea typeface="微软雅黑" pitchFamily="34" charset="-122"/>
                <a:cs typeface="Times New Roman" pitchFamily="18" charset="0"/>
              </a:rPr>
              <a:t>(3)</a:t>
            </a:r>
            <a:r>
              <a:rPr lang="zh-CN" altLang="en-US" b="1" dirty="0">
                <a:latin typeface="Times New Roman" pitchFamily="18" charset="0"/>
                <a:ea typeface="微软雅黑" pitchFamily="34" charset="-122"/>
                <a:cs typeface="Times New Roman" pitchFamily="18" charset="0"/>
              </a:rPr>
              <a:t> 设计合理的偏置电路，选择最佳偏置电流，使探测器运用在最佳状态。</a:t>
            </a:r>
          </a:p>
        </p:txBody>
      </p:sp>
      <p:sp>
        <p:nvSpPr>
          <p:cNvPr id="28" name="矩形 27">
            <a:extLst>
              <a:ext uri="{FF2B5EF4-FFF2-40B4-BE49-F238E27FC236}">
                <a16:creationId xmlns="" xmlns:a16="http://schemas.microsoft.com/office/drawing/2014/main" id="{02CD7E5E-3307-42A5-8BC8-7B3201AE2F6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3" name="组合 12"/>
          <p:cNvGrpSpPr/>
          <p:nvPr/>
        </p:nvGrpSpPr>
        <p:grpSpPr>
          <a:xfrm>
            <a:off x="10337881" y="293282"/>
            <a:ext cx="2823365" cy="523220"/>
            <a:chOff x="10337881" y="293282"/>
            <a:chExt cx="2823365" cy="523220"/>
          </a:xfrm>
        </p:grpSpPr>
        <p:sp>
          <p:nvSpPr>
            <p:cNvPr id="14" name="矩形 13"/>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5" name="矩形 1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117122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box(in)">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circle(in)">
                                      <p:cBhvr>
                                        <p:cTn id="20"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典型光电导探测器</a:t>
            </a: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088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2" name="组合 11"/>
          <p:cNvGrpSpPr/>
          <p:nvPr/>
        </p:nvGrpSpPr>
        <p:grpSpPr>
          <a:xfrm>
            <a:off x="10337881" y="293282"/>
            <a:ext cx="2823365" cy="523220"/>
            <a:chOff x="10337881" y="293282"/>
            <a:chExt cx="2823365" cy="523220"/>
          </a:xfrm>
        </p:grpSpPr>
        <p:sp>
          <p:nvSpPr>
            <p:cNvPr id="14" name="矩形 13"/>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5" name="矩形 1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29872013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85FFFABB-2B0C-44B0-A55E-3AF7F55085C4}"/>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14" name="Object 5">
            <a:extLst>
              <a:ext uri="{FF2B5EF4-FFF2-40B4-BE49-F238E27FC236}">
                <a16:creationId xmlns="" xmlns:a16="http://schemas.microsoft.com/office/drawing/2014/main" id="{6B1B714E-6951-4F05-90C1-7F1272ABEB92}"/>
              </a:ext>
            </a:extLst>
          </p:cNvPr>
          <p:cNvGraphicFramePr>
            <a:graphicFrameLocks noChangeAspect="1"/>
          </p:cNvGraphicFramePr>
          <p:nvPr>
            <p:extLst>
              <p:ext uri="{D42A27DB-BD31-4B8C-83A1-F6EECF244321}">
                <p14:modId xmlns:p14="http://schemas.microsoft.com/office/powerpoint/2010/main" val="2701084542"/>
              </p:ext>
            </p:extLst>
          </p:nvPr>
        </p:nvGraphicFramePr>
        <p:xfrm>
          <a:off x="5451898" y="2483259"/>
          <a:ext cx="2835349" cy="1024597"/>
        </p:xfrm>
        <a:graphic>
          <a:graphicData uri="http://schemas.openxmlformats.org/presentationml/2006/ole">
            <mc:AlternateContent xmlns:mc="http://schemas.openxmlformats.org/markup-compatibility/2006">
              <mc:Choice xmlns:v="urn:schemas-microsoft-com:vml" Requires="v">
                <p:oleObj spid="_x0000_s16445" name="Equation" r:id="rId3" imgW="1129810" imgH="406224" progId="Equation.DSMT4">
                  <p:embed/>
                </p:oleObj>
              </mc:Choice>
              <mc:Fallback>
                <p:oleObj name="Equation" r:id="rId3" imgW="1129810" imgH="406224" progId="Equation.DSMT4">
                  <p:embed/>
                  <p:pic>
                    <p:nvPicPr>
                      <p:cNvPr id="4199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1898" y="2483259"/>
                        <a:ext cx="2835349" cy="1024597"/>
                      </a:xfrm>
                      <a:prstGeom prst="rect">
                        <a:avLst/>
                      </a:prstGeom>
                      <a:solidFill>
                        <a:srgbClr val="FFFF00"/>
                      </a:solidFill>
                      <a:extLst/>
                    </p:spPr>
                  </p:pic>
                </p:oleObj>
              </mc:Fallback>
            </mc:AlternateContent>
          </a:graphicData>
        </a:graphic>
      </p:graphicFrame>
      <p:sp>
        <p:nvSpPr>
          <p:cNvPr id="15" name="TextBox 7">
            <a:extLst>
              <a:ext uri="{FF2B5EF4-FFF2-40B4-BE49-F238E27FC236}">
                <a16:creationId xmlns="" xmlns:a16="http://schemas.microsoft.com/office/drawing/2014/main" id="{1AC02056-F486-4EA8-89DC-822B7679C7FA}"/>
              </a:ext>
            </a:extLst>
          </p:cNvPr>
          <p:cNvSpPr txBox="1">
            <a:spLocks noChangeArrowheads="1"/>
          </p:cNvSpPr>
          <p:nvPr/>
        </p:nvSpPr>
        <p:spPr bwMode="auto">
          <a:xfrm>
            <a:off x="628860" y="1660415"/>
            <a:ext cx="12481427"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a:solidFill>
                  <a:srgbClr val="0000CC"/>
                </a:solidFill>
                <a:latin typeface="Times New Roman" pitchFamily="18" charset="0"/>
                <a:ea typeface="微软雅黑" pitchFamily="34" charset="-122"/>
                <a:cs typeface="Times New Roman" pitchFamily="18" charset="0"/>
              </a:rPr>
              <a:t>本征型</a:t>
            </a:r>
            <a:r>
              <a:rPr lang="zh-CN" altLang="en-US" sz="2400" b="1" dirty="0">
                <a:latin typeface="Times New Roman" pitchFamily="18" charset="0"/>
                <a:ea typeface="微软雅黑" pitchFamily="34" charset="-122"/>
                <a:cs typeface="Times New Roman" pitchFamily="18" charset="0"/>
              </a:rPr>
              <a:t>的有硫化镉</a:t>
            </a:r>
            <a:r>
              <a:rPr lang="en-US" altLang="zh-CN" sz="2400" b="1" dirty="0">
                <a:latin typeface="Times New Roman" pitchFamily="18" charset="0"/>
                <a:ea typeface="微软雅黑" pitchFamily="34" charset="-122"/>
                <a:cs typeface="Times New Roman" pitchFamily="18" charset="0"/>
              </a:rPr>
              <a:t>(</a:t>
            </a:r>
            <a:r>
              <a:rPr lang="en-US" altLang="zh-CN" sz="2400" b="1" dirty="0" err="1">
                <a:latin typeface="Times New Roman" pitchFamily="18" charset="0"/>
                <a:ea typeface="微软雅黑" pitchFamily="34" charset="-122"/>
                <a:cs typeface="Times New Roman" pitchFamily="18" charset="0"/>
              </a:rPr>
              <a:t>CdS</a:t>
            </a:r>
            <a:r>
              <a:rPr lang="en-US" altLang="zh-CN" sz="2400" b="1"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、碲镉汞</a:t>
            </a:r>
            <a:r>
              <a:rPr lang="en-US" altLang="zh-CN" sz="2400" b="1" dirty="0">
                <a:latin typeface="Times New Roman" pitchFamily="18" charset="0"/>
                <a:ea typeface="微软雅黑" pitchFamily="34" charset="-122"/>
                <a:cs typeface="Times New Roman" pitchFamily="18" charset="0"/>
              </a:rPr>
              <a:t>( Hg</a:t>
            </a:r>
            <a:r>
              <a:rPr lang="en-US" altLang="zh-CN" sz="2400" b="1" i="1" baseline="-25000" dirty="0">
                <a:latin typeface="Times New Roman" pitchFamily="18" charset="0"/>
                <a:ea typeface="微软雅黑" pitchFamily="34" charset="-122"/>
                <a:cs typeface="Times New Roman" pitchFamily="18" charset="0"/>
              </a:rPr>
              <a:t>1-x</a:t>
            </a:r>
            <a:r>
              <a:rPr lang="en-US" altLang="zh-CN" sz="2400" b="1" dirty="0">
                <a:latin typeface="Times New Roman" pitchFamily="18" charset="0"/>
                <a:ea typeface="微软雅黑" pitchFamily="34" charset="-122"/>
                <a:cs typeface="Times New Roman" pitchFamily="18" charset="0"/>
              </a:rPr>
              <a:t>Cd</a:t>
            </a:r>
            <a:r>
              <a:rPr lang="en-US" altLang="zh-CN" sz="2400" b="1" i="1" baseline="-25000" dirty="0">
                <a:latin typeface="Times New Roman" pitchFamily="18" charset="0"/>
                <a:ea typeface="微软雅黑" pitchFamily="34" charset="-122"/>
                <a:cs typeface="Times New Roman" pitchFamily="18" charset="0"/>
              </a:rPr>
              <a:t>x</a:t>
            </a:r>
            <a:r>
              <a:rPr lang="en-US" altLang="zh-CN" sz="2400" b="1" dirty="0">
                <a:latin typeface="Times New Roman" pitchFamily="18" charset="0"/>
                <a:ea typeface="微软雅黑" pitchFamily="34" charset="-122"/>
                <a:cs typeface="Times New Roman" pitchFamily="18" charset="0"/>
              </a:rPr>
              <a:t>Te)</a:t>
            </a:r>
            <a:r>
              <a:rPr lang="zh-CN" altLang="en-US" sz="2400" b="1" dirty="0">
                <a:latin typeface="Times New Roman" pitchFamily="18" charset="0"/>
                <a:ea typeface="微软雅黑" pitchFamily="34" charset="-122"/>
                <a:cs typeface="Times New Roman" pitchFamily="18" charset="0"/>
              </a:rPr>
              <a:t>、锑化铟</a:t>
            </a:r>
            <a:r>
              <a:rPr lang="en-US" altLang="zh-CN" sz="2400" b="1" dirty="0">
                <a:latin typeface="Times New Roman" pitchFamily="18" charset="0"/>
                <a:ea typeface="微软雅黑" pitchFamily="34" charset="-122"/>
                <a:cs typeface="Times New Roman" pitchFamily="18" charset="0"/>
              </a:rPr>
              <a:t>(</a:t>
            </a:r>
            <a:r>
              <a:rPr lang="en-US" altLang="zh-CN" sz="2400" b="1" dirty="0" err="1">
                <a:latin typeface="Times New Roman" pitchFamily="18" charset="0"/>
                <a:ea typeface="微软雅黑" pitchFamily="34" charset="-122"/>
                <a:cs typeface="Times New Roman" pitchFamily="18" charset="0"/>
              </a:rPr>
              <a:t>InSb</a:t>
            </a:r>
            <a:r>
              <a:rPr lang="en-US" altLang="zh-CN" sz="2400" b="1"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和硫化铅</a:t>
            </a:r>
            <a:r>
              <a:rPr lang="en-US" altLang="zh-CN" sz="2400" b="1" dirty="0">
                <a:latin typeface="Times New Roman" pitchFamily="18" charset="0"/>
                <a:ea typeface="微软雅黑" pitchFamily="34" charset="-122"/>
                <a:cs typeface="Times New Roman" pitchFamily="18" charset="0"/>
              </a:rPr>
              <a:t>(</a:t>
            </a:r>
            <a:r>
              <a:rPr lang="en-US" altLang="zh-CN" sz="2400" b="1" dirty="0" err="1">
                <a:latin typeface="Times New Roman" pitchFamily="18" charset="0"/>
                <a:ea typeface="微软雅黑" pitchFamily="34" charset="-122"/>
                <a:cs typeface="Times New Roman" pitchFamily="18" charset="0"/>
              </a:rPr>
              <a:t>PbS</a:t>
            </a:r>
            <a:r>
              <a:rPr lang="en-US" altLang="zh-CN" sz="2400" b="1"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光电导探测器。</a:t>
            </a:r>
            <a:endParaRPr lang="zh-CN" altLang="en-US" sz="2800" b="1" dirty="0">
              <a:latin typeface="Times New Roman" pitchFamily="18" charset="0"/>
              <a:ea typeface="微软雅黑" pitchFamily="34" charset="-122"/>
              <a:cs typeface="Times New Roman" pitchFamily="18" charset="0"/>
            </a:endParaRPr>
          </a:p>
        </p:txBody>
      </p:sp>
      <p:sp>
        <p:nvSpPr>
          <p:cNvPr id="16" name="TextBox 7">
            <a:extLst>
              <a:ext uri="{FF2B5EF4-FFF2-40B4-BE49-F238E27FC236}">
                <a16:creationId xmlns="" xmlns:a16="http://schemas.microsoft.com/office/drawing/2014/main" id="{491EB8D3-FF5D-4B5E-9029-01F07F86D3D3}"/>
              </a:ext>
            </a:extLst>
          </p:cNvPr>
          <p:cNvSpPr txBox="1">
            <a:spLocks noChangeArrowheads="1"/>
          </p:cNvSpPr>
          <p:nvPr/>
        </p:nvSpPr>
        <p:spPr bwMode="auto">
          <a:xfrm>
            <a:off x="4556239" y="968539"/>
            <a:ext cx="4479439"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a:solidFill>
                  <a:srgbClr val="0000CC"/>
                </a:solidFill>
                <a:latin typeface="Times New Roman" pitchFamily="18" charset="0"/>
                <a:ea typeface="微软雅黑" pitchFamily="34" charset="-122"/>
                <a:cs typeface="Times New Roman" pitchFamily="18" charset="0"/>
              </a:rPr>
              <a:t>本征型</a:t>
            </a:r>
            <a:r>
              <a:rPr lang="zh-CN" altLang="en-US" sz="2400" b="1" dirty="0">
                <a:latin typeface="Times New Roman" pitchFamily="18" charset="0"/>
                <a:ea typeface="微软雅黑" pitchFamily="34" charset="-122"/>
                <a:cs typeface="Times New Roman" pitchFamily="18" charset="0"/>
              </a:rPr>
              <a:t>和</a:t>
            </a:r>
            <a:r>
              <a:rPr lang="zh-CN" altLang="en-US" sz="2400" b="1" dirty="0">
                <a:solidFill>
                  <a:srgbClr val="0000CC"/>
                </a:solidFill>
                <a:latin typeface="Times New Roman" pitchFamily="18" charset="0"/>
                <a:ea typeface="微软雅黑" pitchFamily="34" charset="-122"/>
                <a:cs typeface="Times New Roman" pitchFamily="18" charset="0"/>
              </a:rPr>
              <a:t>杂质型</a:t>
            </a:r>
            <a:r>
              <a:rPr lang="zh-CN" altLang="en-US" sz="2400" b="1" dirty="0">
                <a:latin typeface="Times New Roman" pitchFamily="18" charset="0"/>
                <a:ea typeface="微软雅黑" pitchFamily="34" charset="-122"/>
                <a:cs typeface="Times New Roman" pitchFamily="18" charset="0"/>
              </a:rPr>
              <a:t>光电导探测器</a:t>
            </a:r>
            <a:endParaRPr lang="zh-CN" altLang="en-US" sz="2800" b="1" dirty="0">
              <a:latin typeface="Times New Roman" pitchFamily="18" charset="0"/>
              <a:ea typeface="微软雅黑" pitchFamily="34" charset="-122"/>
              <a:cs typeface="Times New Roman" pitchFamily="18" charset="0"/>
            </a:endParaRPr>
          </a:p>
        </p:txBody>
      </p:sp>
      <p:graphicFrame>
        <p:nvGraphicFramePr>
          <p:cNvPr id="17" name="表格 16">
            <a:extLst>
              <a:ext uri="{FF2B5EF4-FFF2-40B4-BE49-F238E27FC236}">
                <a16:creationId xmlns="" xmlns:a16="http://schemas.microsoft.com/office/drawing/2014/main" id="{2FD5F814-4DF4-4767-A7AE-D04058DCBBB6}"/>
              </a:ext>
            </a:extLst>
          </p:cNvPr>
          <p:cNvGraphicFramePr>
            <a:graphicFrameLocks noGrp="1"/>
          </p:cNvGraphicFramePr>
          <p:nvPr>
            <p:extLst>
              <p:ext uri="{D42A27DB-BD31-4B8C-83A1-F6EECF244321}">
                <p14:modId xmlns:p14="http://schemas.microsoft.com/office/powerpoint/2010/main" val="2061736955"/>
              </p:ext>
            </p:extLst>
          </p:nvPr>
        </p:nvGraphicFramePr>
        <p:xfrm>
          <a:off x="819815" y="3688929"/>
          <a:ext cx="11831640" cy="2971774"/>
        </p:xfrm>
        <a:graphic>
          <a:graphicData uri="http://schemas.openxmlformats.org/drawingml/2006/table">
            <a:tbl>
              <a:tblPr>
                <a:tableStyleId>{5C22544A-7EE6-4342-B048-85BDC9FD1C3A}</a:tableStyleId>
              </a:tblPr>
              <a:tblGrid>
                <a:gridCol w="1478955">
                  <a:extLst>
                    <a:ext uri="{9D8B030D-6E8A-4147-A177-3AD203B41FA5}">
                      <a16:colId xmlns="" xmlns:a16="http://schemas.microsoft.com/office/drawing/2014/main" val="20000"/>
                    </a:ext>
                  </a:extLst>
                </a:gridCol>
                <a:gridCol w="1478955">
                  <a:extLst>
                    <a:ext uri="{9D8B030D-6E8A-4147-A177-3AD203B41FA5}">
                      <a16:colId xmlns="" xmlns:a16="http://schemas.microsoft.com/office/drawing/2014/main" val="20001"/>
                    </a:ext>
                  </a:extLst>
                </a:gridCol>
                <a:gridCol w="1478955">
                  <a:extLst>
                    <a:ext uri="{9D8B030D-6E8A-4147-A177-3AD203B41FA5}">
                      <a16:colId xmlns="" xmlns:a16="http://schemas.microsoft.com/office/drawing/2014/main" val="20002"/>
                    </a:ext>
                  </a:extLst>
                </a:gridCol>
                <a:gridCol w="1478955">
                  <a:extLst>
                    <a:ext uri="{9D8B030D-6E8A-4147-A177-3AD203B41FA5}">
                      <a16:colId xmlns="" xmlns:a16="http://schemas.microsoft.com/office/drawing/2014/main" val="20003"/>
                    </a:ext>
                  </a:extLst>
                </a:gridCol>
                <a:gridCol w="1478955">
                  <a:extLst>
                    <a:ext uri="{9D8B030D-6E8A-4147-A177-3AD203B41FA5}">
                      <a16:colId xmlns="" xmlns:a16="http://schemas.microsoft.com/office/drawing/2014/main" val="20004"/>
                    </a:ext>
                  </a:extLst>
                </a:gridCol>
                <a:gridCol w="1478955">
                  <a:extLst>
                    <a:ext uri="{9D8B030D-6E8A-4147-A177-3AD203B41FA5}">
                      <a16:colId xmlns="" xmlns:a16="http://schemas.microsoft.com/office/drawing/2014/main" val="20005"/>
                    </a:ext>
                  </a:extLst>
                </a:gridCol>
                <a:gridCol w="1478955">
                  <a:extLst>
                    <a:ext uri="{9D8B030D-6E8A-4147-A177-3AD203B41FA5}">
                      <a16:colId xmlns="" xmlns:a16="http://schemas.microsoft.com/office/drawing/2014/main" val="20006"/>
                    </a:ext>
                  </a:extLst>
                </a:gridCol>
                <a:gridCol w="1478955">
                  <a:extLst>
                    <a:ext uri="{9D8B030D-6E8A-4147-A177-3AD203B41FA5}">
                      <a16:colId xmlns="" xmlns:a16="http://schemas.microsoft.com/office/drawing/2014/main" val="20007"/>
                    </a:ext>
                  </a:extLst>
                </a:gridCol>
              </a:tblGrid>
              <a:tr h="849079">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光电导器件</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材料</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zh-CN" sz="1600" b="1" kern="0">
                          <a:effectLst/>
                          <a:latin typeface="Times New Roman" panose="02020603050405020304" pitchFamily="18" charset="0"/>
                          <a:ea typeface="微软雅黑" panose="020B0503020204020204" pitchFamily="34" charset="-122"/>
                          <a:cs typeface="Times New Roman" panose="02020603050405020304" pitchFamily="18" charset="0"/>
                        </a:rPr>
                        <a:t>禁带宽度</a:t>
                      </a: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(eV)</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a:effectLst/>
                          <a:latin typeface="Times New Roman" panose="02020603050405020304" pitchFamily="18" charset="0"/>
                          <a:ea typeface="微软雅黑" panose="020B0503020204020204" pitchFamily="34" charset="-122"/>
                          <a:cs typeface="Times New Roman" panose="02020603050405020304" pitchFamily="18" charset="0"/>
                        </a:rPr>
                        <a:t>光谱响应范围</a:t>
                      </a: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(nm)</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a:effectLst/>
                          <a:latin typeface="Times New Roman" panose="02020603050405020304" pitchFamily="18" charset="0"/>
                          <a:ea typeface="微软雅黑" panose="020B0503020204020204" pitchFamily="34" charset="-122"/>
                          <a:cs typeface="Times New Roman" panose="02020603050405020304" pitchFamily="18" charset="0"/>
                        </a:rPr>
                        <a:t>峰值波</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Aft>
                          <a:spcPts val="0"/>
                        </a:spcAft>
                      </a:pPr>
                      <a:r>
                        <a:rPr lang="zh-CN" sz="1600" b="1" kern="0">
                          <a:effectLst/>
                          <a:latin typeface="Times New Roman" panose="02020603050405020304" pitchFamily="18" charset="0"/>
                          <a:ea typeface="微软雅黑" panose="020B0503020204020204" pitchFamily="34" charset="-122"/>
                          <a:cs typeface="Times New Roman" panose="02020603050405020304" pitchFamily="18" charset="0"/>
                        </a:rPr>
                        <a:t>长</a:t>
                      </a: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(nm)</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光电导器件</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材料</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zh-CN" sz="1600" b="1" kern="0">
                          <a:effectLst/>
                          <a:latin typeface="Times New Roman" panose="02020603050405020304" pitchFamily="18" charset="0"/>
                          <a:ea typeface="微软雅黑" panose="020B0503020204020204" pitchFamily="34" charset="-122"/>
                          <a:cs typeface="Times New Roman" panose="02020603050405020304" pitchFamily="18" charset="0"/>
                        </a:rPr>
                        <a:t>禁带宽度</a:t>
                      </a: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(eV)</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a:effectLst/>
                          <a:latin typeface="Times New Roman" panose="02020603050405020304" pitchFamily="18" charset="0"/>
                          <a:ea typeface="微软雅黑" panose="020B0503020204020204" pitchFamily="34" charset="-122"/>
                          <a:cs typeface="Times New Roman" panose="02020603050405020304" pitchFamily="18" charset="0"/>
                        </a:rPr>
                        <a:t>光谱响应范围</a:t>
                      </a: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(nm)</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a:effectLst/>
                          <a:latin typeface="Times New Roman" panose="02020603050405020304" pitchFamily="18" charset="0"/>
                          <a:ea typeface="微软雅黑" panose="020B0503020204020204" pitchFamily="34" charset="-122"/>
                          <a:cs typeface="Times New Roman" panose="02020603050405020304" pitchFamily="18" charset="0"/>
                        </a:rPr>
                        <a:t>峰值波长</a:t>
                      </a: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(nm)</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424539">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硫化镉</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err="1">
                          <a:effectLst/>
                          <a:latin typeface="Times New Roman" panose="02020603050405020304" pitchFamily="18" charset="0"/>
                          <a:ea typeface="微软雅黑" panose="020B0503020204020204" pitchFamily="34" charset="-122"/>
                          <a:cs typeface="Times New Roman" panose="02020603050405020304" pitchFamily="18" charset="0"/>
                        </a:rPr>
                        <a:t>CdS</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2.45</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400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800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515</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550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硅</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(Si)</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1.12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450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1100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850</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424539">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硒化镉</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err="1">
                          <a:effectLst/>
                          <a:latin typeface="Times New Roman" panose="02020603050405020304" pitchFamily="18" charset="0"/>
                          <a:ea typeface="微软雅黑" panose="020B0503020204020204" pitchFamily="34" charset="-122"/>
                          <a:cs typeface="Times New Roman" panose="02020603050405020304" pitchFamily="18" charset="0"/>
                        </a:rPr>
                        <a:t>CdSe</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1.74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680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750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720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730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锗</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(Ge)</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0.66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550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1800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1540</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r h="424539">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硫化铅</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err="1">
                          <a:effectLst/>
                          <a:latin typeface="Times New Roman" panose="02020603050405020304" pitchFamily="18" charset="0"/>
                          <a:ea typeface="微软雅黑" panose="020B0503020204020204" pitchFamily="34" charset="-122"/>
                          <a:cs typeface="Times New Roman" panose="02020603050405020304" pitchFamily="18" charset="0"/>
                        </a:rPr>
                        <a:t>PbS</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0.4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500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3000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2000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锑化铟</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err="1">
                          <a:effectLst/>
                          <a:latin typeface="Times New Roman" panose="02020603050405020304" pitchFamily="18" charset="0"/>
                          <a:ea typeface="微软雅黑" panose="020B0503020204020204" pitchFamily="34" charset="-122"/>
                          <a:cs typeface="Times New Roman" panose="02020603050405020304" pitchFamily="18" charset="0"/>
                        </a:rPr>
                        <a:t>InSb</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0.16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600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7000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5500</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r h="424539">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碲化铅</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err="1">
                          <a:effectLst/>
                          <a:latin typeface="Times New Roman" panose="02020603050405020304" pitchFamily="18" charset="0"/>
                          <a:ea typeface="微软雅黑" panose="020B0503020204020204" pitchFamily="34" charset="-122"/>
                          <a:cs typeface="Times New Roman" panose="02020603050405020304" pitchFamily="18" charset="0"/>
                        </a:rPr>
                        <a:t>PbTe</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0.31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600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4500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2200</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砷化铟</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err="1">
                          <a:effectLst/>
                          <a:latin typeface="Times New Roman" panose="02020603050405020304" pitchFamily="18" charset="0"/>
                          <a:ea typeface="微软雅黑" panose="020B0503020204020204" pitchFamily="34" charset="-122"/>
                          <a:cs typeface="Times New Roman" panose="02020603050405020304" pitchFamily="18" charset="0"/>
                        </a:rPr>
                        <a:t>InAs</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0.33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1000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4000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3500</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4"/>
                  </a:ext>
                </a:extLst>
              </a:tr>
              <a:tr h="424539">
                <a:tc>
                  <a:txBody>
                    <a:bodyPr/>
                    <a:lstStyle/>
                    <a:p>
                      <a:pPr algn="ctr">
                        <a:spcAft>
                          <a:spcPts val="0"/>
                        </a:spcAft>
                      </a:pPr>
                      <a:r>
                        <a:rPr lang="zh-CN" sz="1600" b="1" kern="0" dirty="0">
                          <a:effectLst/>
                          <a:latin typeface="Times New Roman" panose="02020603050405020304" pitchFamily="18" charset="0"/>
                          <a:ea typeface="微软雅黑" panose="020B0503020204020204" pitchFamily="34" charset="-122"/>
                          <a:cs typeface="Times New Roman" panose="02020603050405020304" pitchFamily="18" charset="0"/>
                        </a:rPr>
                        <a:t>硒化铅</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err="1">
                          <a:effectLst/>
                          <a:latin typeface="Times New Roman" panose="02020603050405020304" pitchFamily="18" charset="0"/>
                          <a:ea typeface="微软雅黑" panose="020B0503020204020204" pitchFamily="34" charset="-122"/>
                          <a:cs typeface="Times New Roman" panose="02020603050405020304" pitchFamily="18" charset="0"/>
                        </a:rPr>
                        <a:t>PbSe</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0.25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700</a:t>
                      </a: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5800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4000</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5"/>
                  </a:ext>
                </a:extLst>
              </a:tr>
            </a:tbl>
          </a:graphicData>
        </a:graphic>
      </p:graphicFrame>
      <p:grpSp>
        <p:nvGrpSpPr>
          <p:cNvPr id="18" name="组合 17"/>
          <p:cNvGrpSpPr/>
          <p:nvPr/>
        </p:nvGrpSpPr>
        <p:grpSpPr>
          <a:xfrm>
            <a:off x="10337881" y="293282"/>
            <a:ext cx="2823365" cy="523220"/>
            <a:chOff x="10337881" y="293282"/>
            <a:chExt cx="2823365" cy="523220"/>
          </a:xfrm>
        </p:grpSpPr>
        <p:sp>
          <p:nvSpPr>
            <p:cNvPr id="19" name="矩形 18"/>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21" name="矩形 20">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78088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arn(inVertical)">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TextBox 7">
            <a:extLst>
              <a:ext uri="{FF2B5EF4-FFF2-40B4-BE49-F238E27FC236}">
                <a16:creationId xmlns="" xmlns:a16="http://schemas.microsoft.com/office/drawing/2014/main" id="{9B5832E8-386A-429F-9247-619A3158DCEC}"/>
              </a:ext>
            </a:extLst>
          </p:cNvPr>
          <p:cNvSpPr txBox="1">
            <a:spLocks noChangeArrowheads="1"/>
          </p:cNvSpPr>
          <p:nvPr/>
        </p:nvSpPr>
        <p:spPr bwMode="auto">
          <a:xfrm>
            <a:off x="4730387" y="1016602"/>
            <a:ext cx="4202161" cy="738664"/>
          </a:xfrm>
          <a:prstGeom prst="rect">
            <a:avLst/>
          </a:prstGeom>
          <a:noFill/>
          <a:ln w="9525">
            <a:noFill/>
            <a:miter lim="800000"/>
            <a:headEnd/>
            <a:tailEnd/>
          </a:ln>
        </p:spPr>
        <p:txBody>
          <a:bodyPr wrap="square">
            <a:spAutoFit/>
          </a:bodyPr>
          <a:lstStyle/>
          <a:p>
            <a:pPr defTabSz="914400">
              <a:lnSpc>
                <a:spcPct val="150000"/>
              </a:lnSpc>
            </a:pPr>
            <a:r>
              <a:rPr lang="en-US" altLang="zh-CN" sz="2800" b="1" dirty="0">
                <a:solidFill>
                  <a:srgbClr val="0000CC"/>
                </a:solidFill>
                <a:latin typeface="Times New Roman" pitchFamily="18" charset="0"/>
                <a:ea typeface="微软雅黑" pitchFamily="34" charset="-122"/>
                <a:cs typeface="Times New Roman" pitchFamily="18" charset="0"/>
              </a:rPr>
              <a:t>1. </a:t>
            </a:r>
            <a:r>
              <a:rPr lang="zh-CN" altLang="en-US" sz="2800" b="1" dirty="0">
                <a:solidFill>
                  <a:srgbClr val="0000CC"/>
                </a:solidFill>
                <a:latin typeface="Times New Roman" pitchFamily="18" charset="0"/>
                <a:ea typeface="微软雅黑" pitchFamily="34" charset="-122"/>
                <a:cs typeface="Times New Roman" pitchFamily="18" charset="0"/>
              </a:rPr>
              <a:t>硫化镉</a:t>
            </a:r>
            <a:r>
              <a:rPr lang="en-US" altLang="zh-CN" sz="2800" b="1" dirty="0">
                <a:solidFill>
                  <a:srgbClr val="0000CC"/>
                </a:solidFill>
                <a:latin typeface="Times New Roman" pitchFamily="18" charset="0"/>
                <a:ea typeface="微软雅黑" pitchFamily="34" charset="-122"/>
                <a:cs typeface="Times New Roman" pitchFamily="18" charset="0"/>
              </a:rPr>
              <a:t>(</a:t>
            </a:r>
            <a:r>
              <a:rPr lang="en-US" altLang="zh-CN" sz="2800" b="1" dirty="0" err="1">
                <a:solidFill>
                  <a:srgbClr val="0000CC"/>
                </a:solidFill>
                <a:latin typeface="Times New Roman" pitchFamily="18" charset="0"/>
                <a:ea typeface="微软雅黑" pitchFamily="34" charset="-122"/>
                <a:cs typeface="Times New Roman" pitchFamily="18" charset="0"/>
              </a:rPr>
              <a:t>CdS</a:t>
            </a:r>
            <a:r>
              <a:rPr lang="en-US" altLang="zh-CN" sz="2800" b="1" dirty="0">
                <a:solidFill>
                  <a:srgbClr val="0000CC"/>
                </a:solidFill>
                <a:latin typeface="Times New Roman" pitchFamily="18" charset="0"/>
                <a:ea typeface="微软雅黑" pitchFamily="34" charset="-122"/>
                <a:cs typeface="Times New Roman" pitchFamily="18" charset="0"/>
              </a:rPr>
              <a:t>)</a:t>
            </a:r>
            <a:r>
              <a:rPr lang="zh-CN" altLang="en-US" sz="2800" b="1" dirty="0">
                <a:solidFill>
                  <a:srgbClr val="0000CC"/>
                </a:solidFill>
                <a:latin typeface="Times New Roman" pitchFamily="18" charset="0"/>
                <a:ea typeface="微软雅黑" pitchFamily="34" charset="-122"/>
                <a:cs typeface="Times New Roman" pitchFamily="18" charset="0"/>
              </a:rPr>
              <a:t>光敏电阻</a:t>
            </a:r>
            <a:endParaRPr lang="zh-CN" altLang="en-US" sz="3200" b="1" dirty="0">
              <a:solidFill>
                <a:srgbClr val="0000CC"/>
              </a:solidFill>
              <a:latin typeface="Times New Roman" pitchFamily="18" charset="0"/>
              <a:ea typeface="微软雅黑" pitchFamily="34" charset="-122"/>
              <a:cs typeface="Times New Roman" pitchFamily="18" charset="0"/>
            </a:endParaRPr>
          </a:p>
        </p:txBody>
      </p:sp>
      <p:sp>
        <p:nvSpPr>
          <p:cNvPr id="19" name="TextBox 5">
            <a:extLst>
              <a:ext uri="{FF2B5EF4-FFF2-40B4-BE49-F238E27FC236}">
                <a16:creationId xmlns="" xmlns:a16="http://schemas.microsoft.com/office/drawing/2014/main" id="{0DA75F9B-737F-432A-B206-57D6453E11F5}"/>
              </a:ext>
            </a:extLst>
          </p:cNvPr>
          <p:cNvSpPr txBox="1">
            <a:spLocks noChangeArrowheads="1"/>
          </p:cNvSpPr>
          <p:nvPr/>
        </p:nvSpPr>
        <p:spPr bwMode="auto">
          <a:xfrm>
            <a:off x="4088886" y="2961365"/>
            <a:ext cx="2231219" cy="1754326"/>
          </a:xfrm>
          <a:prstGeom prst="rect">
            <a:avLst/>
          </a:prstGeom>
          <a:noFill/>
          <a:ln w="9525">
            <a:noFill/>
            <a:miter lim="800000"/>
            <a:headEnd/>
            <a:tailEnd/>
          </a:ln>
        </p:spPr>
        <p:txBody>
          <a:bodyPr wrap="square">
            <a:spAutoFit/>
          </a:bodyPr>
          <a:lstStyle/>
          <a:p>
            <a:pPr defTabSz="914400">
              <a:lnSpc>
                <a:spcPct val="150000"/>
              </a:lnSpc>
            </a:pPr>
            <a:r>
              <a:rPr kumimoji="1" lang="zh-CN" altLang="en-US" sz="2400" b="1" dirty="0">
                <a:latin typeface="微软雅黑" pitchFamily="34" charset="-122"/>
                <a:ea typeface="微软雅黑" pitchFamily="34" charset="-122"/>
              </a:rPr>
              <a:t>光谱响应特性最接近人眼光谱光视效率</a:t>
            </a:r>
            <a:endParaRPr lang="zh-CN" altLang="en-US" sz="2400" b="1" dirty="0">
              <a:latin typeface="微软雅黑" pitchFamily="34" charset="-122"/>
              <a:ea typeface="微软雅黑" pitchFamily="34" charset="-122"/>
            </a:endParaRPr>
          </a:p>
        </p:txBody>
      </p:sp>
      <p:sp>
        <p:nvSpPr>
          <p:cNvPr id="21" name="TextBox 6">
            <a:extLst>
              <a:ext uri="{FF2B5EF4-FFF2-40B4-BE49-F238E27FC236}">
                <a16:creationId xmlns="" xmlns:a16="http://schemas.microsoft.com/office/drawing/2014/main" id="{5E9B5F56-0CA9-4DD7-B5A8-257420542B58}"/>
              </a:ext>
            </a:extLst>
          </p:cNvPr>
          <p:cNvSpPr txBox="1">
            <a:spLocks noChangeArrowheads="1"/>
          </p:cNvSpPr>
          <p:nvPr/>
        </p:nvSpPr>
        <p:spPr bwMode="auto">
          <a:xfrm>
            <a:off x="4024502" y="5164347"/>
            <a:ext cx="2412523" cy="1200329"/>
          </a:xfrm>
          <a:prstGeom prst="rect">
            <a:avLst/>
          </a:prstGeom>
          <a:noFill/>
          <a:ln w="9525">
            <a:noFill/>
            <a:miter lim="800000"/>
            <a:headEnd/>
            <a:tailEnd/>
          </a:ln>
        </p:spPr>
        <p:txBody>
          <a:bodyPr wrap="square">
            <a:spAutoFit/>
          </a:bodyPr>
          <a:lstStyle/>
          <a:p>
            <a:pPr defTabSz="914400">
              <a:lnSpc>
                <a:spcPct val="150000"/>
              </a:lnSpc>
            </a:pPr>
            <a:r>
              <a:rPr kumimoji="1" lang="zh-CN" altLang="en-US" sz="2400" b="1" dirty="0">
                <a:latin typeface="微软雅黑" pitchFamily="34" charset="-122"/>
                <a:ea typeface="微软雅黑" pitchFamily="34" charset="-122"/>
              </a:rPr>
              <a:t>可见光波段范围内的灵敏度最高</a:t>
            </a:r>
            <a:endParaRPr lang="zh-CN" altLang="en-US" sz="2400" b="1" dirty="0">
              <a:latin typeface="微软雅黑" pitchFamily="34" charset="-122"/>
              <a:ea typeface="微软雅黑" pitchFamily="34" charset="-122"/>
            </a:endParaRPr>
          </a:p>
        </p:txBody>
      </p:sp>
      <p:grpSp>
        <p:nvGrpSpPr>
          <p:cNvPr id="22" name="组合 29">
            <a:extLst>
              <a:ext uri="{FF2B5EF4-FFF2-40B4-BE49-F238E27FC236}">
                <a16:creationId xmlns="" xmlns:a16="http://schemas.microsoft.com/office/drawing/2014/main" id="{51D0B8C7-6151-4ADB-BEC0-6DF9FCF791ED}"/>
              </a:ext>
            </a:extLst>
          </p:cNvPr>
          <p:cNvGrpSpPr>
            <a:grpSpLocks/>
          </p:cNvGrpSpPr>
          <p:nvPr/>
        </p:nvGrpSpPr>
        <p:grpSpPr bwMode="auto">
          <a:xfrm>
            <a:off x="8075533" y="4744294"/>
            <a:ext cx="772416" cy="455255"/>
            <a:chOff x="6211578" y="4340729"/>
            <a:chExt cx="1896702" cy="488495"/>
          </a:xfrm>
        </p:grpSpPr>
        <p:sp>
          <p:nvSpPr>
            <p:cNvPr id="23" name="圆角矩形 33">
              <a:extLst>
                <a:ext uri="{FF2B5EF4-FFF2-40B4-BE49-F238E27FC236}">
                  <a16:creationId xmlns="" xmlns:a16="http://schemas.microsoft.com/office/drawing/2014/main" id="{FEB5570A-5B06-4DEF-AA3B-1C3BD584C87D}"/>
                </a:ext>
              </a:extLst>
            </p:cNvPr>
            <p:cNvSpPr/>
            <p:nvPr/>
          </p:nvSpPr>
          <p:spPr>
            <a:xfrm>
              <a:off x="6233339" y="4340729"/>
              <a:ext cx="1773004" cy="488495"/>
            </a:xfrm>
            <a:prstGeom prst="roundRect">
              <a:avLst/>
            </a:prstGeom>
            <a:gradFill>
              <a:gsLst>
                <a:gs pos="0">
                  <a:srgbClr val="FF3399"/>
                </a:gs>
                <a:gs pos="25000">
                  <a:srgbClr val="FF6633"/>
                </a:gs>
                <a:gs pos="50000">
                  <a:srgbClr val="FFFF00"/>
                </a:gs>
                <a:gs pos="75000">
                  <a:srgbClr val="01A78F"/>
                </a:gs>
                <a:gs pos="100000">
                  <a:srgbClr val="3366F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4" name="TextBox 9">
              <a:extLst>
                <a:ext uri="{FF2B5EF4-FFF2-40B4-BE49-F238E27FC236}">
                  <a16:creationId xmlns="" xmlns:a16="http://schemas.microsoft.com/office/drawing/2014/main" id="{E4477C3B-9F1C-44BF-A180-F7CEFFC00B1B}"/>
                </a:ext>
              </a:extLst>
            </p:cNvPr>
            <p:cNvSpPr txBox="1">
              <a:spLocks noChangeArrowheads="1"/>
            </p:cNvSpPr>
            <p:nvPr/>
          </p:nvSpPr>
          <p:spPr bwMode="auto">
            <a:xfrm>
              <a:off x="6211578" y="4451674"/>
              <a:ext cx="1896702" cy="264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光控灯</a:t>
              </a:r>
            </a:p>
          </p:txBody>
        </p:sp>
      </p:grpSp>
      <p:grpSp>
        <p:nvGrpSpPr>
          <p:cNvPr id="27" name="组合 29">
            <a:extLst>
              <a:ext uri="{FF2B5EF4-FFF2-40B4-BE49-F238E27FC236}">
                <a16:creationId xmlns="" xmlns:a16="http://schemas.microsoft.com/office/drawing/2014/main" id="{E5EC87AC-30EB-49D3-A240-CB18A7160212}"/>
              </a:ext>
            </a:extLst>
          </p:cNvPr>
          <p:cNvGrpSpPr>
            <a:grpSpLocks/>
          </p:cNvGrpSpPr>
          <p:nvPr/>
        </p:nvGrpSpPr>
        <p:grpSpPr bwMode="auto">
          <a:xfrm>
            <a:off x="9355333" y="2892634"/>
            <a:ext cx="926891" cy="600775"/>
            <a:chOff x="5886109" y="4340729"/>
            <a:chExt cx="2276022" cy="645069"/>
          </a:xfrm>
        </p:grpSpPr>
        <p:sp>
          <p:nvSpPr>
            <p:cNvPr id="28" name="圆角矩形 36">
              <a:extLst>
                <a:ext uri="{FF2B5EF4-FFF2-40B4-BE49-F238E27FC236}">
                  <a16:creationId xmlns="" xmlns:a16="http://schemas.microsoft.com/office/drawing/2014/main" id="{811438AB-B31E-4B75-8F88-D69D6C1A2C57}"/>
                </a:ext>
              </a:extLst>
            </p:cNvPr>
            <p:cNvSpPr/>
            <p:nvPr/>
          </p:nvSpPr>
          <p:spPr>
            <a:xfrm>
              <a:off x="5886109" y="4340729"/>
              <a:ext cx="2276022" cy="645069"/>
            </a:xfrm>
            <a:prstGeom prst="roundRect">
              <a:avLst/>
            </a:prstGeom>
            <a:gradFill>
              <a:gsLst>
                <a:gs pos="0">
                  <a:srgbClr val="03D4A8"/>
                </a:gs>
                <a:gs pos="25000">
                  <a:srgbClr val="21D6E0"/>
                </a:gs>
                <a:gs pos="75000">
                  <a:srgbClr val="0087E6"/>
                </a:gs>
                <a:gs pos="100000">
                  <a:srgbClr val="005CB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9" name="TextBox 9">
              <a:extLst>
                <a:ext uri="{FF2B5EF4-FFF2-40B4-BE49-F238E27FC236}">
                  <a16:creationId xmlns="" xmlns:a16="http://schemas.microsoft.com/office/drawing/2014/main" id="{72922E13-ADED-4249-8ADA-EED3D98B8C00}"/>
                </a:ext>
              </a:extLst>
            </p:cNvPr>
            <p:cNvSpPr txBox="1">
              <a:spLocks noChangeArrowheads="1"/>
            </p:cNvSpPr>
            <p:nvPr/>
          </p:nvSpPr>
          <p:spPr bwMode="auto">
            <a:xfrm>
              <a:off x="5886109" y="4374065"/>
              <a:ext cx="2276022" cy="5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照相机</a:t>
              </a:r>
              <a:endParaRPr lang="en-US" altLang="zh-CN" sz="1600" b="1" dirty="0">
                <a:latin typeface="微软雅黑" panose="020B0503020204020204" pitchFamily="34" charset="-122"/>
                <a:ea typeface="微软雅黑" panose="020B0503020204020204" pitchFamily="34" charset="-122"/>
              </a:endParaRPr>
            </a:p>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自动测光</a:t>
              </a:r>
            </a:p>
          </p:txBody>
        </p:sp>
      </p:grpSp>
      <p:grpSp>
        <p:nvGrpSpPr>
          <p:cNvPr id="30" name="组合 29">
            <a:extLst>
              <a:ext uri="{FF2B5EF4-FFF2-40B4-BE49-F238E27FC236}">
                <a16:creationId xmlns="" xmlns:a16="http://schemas.microsoft.com/office/drawing/2014/main" id="{CBCA7078-FC62-4411-A508-40EA7744821F}"/>
              </a:ext>
            </a:extLst>
          </p:cNvPr>
          <p:cNvGrpSpPr>
            <a:grpSpLocks/>
          </p:cNvGrpSpPr>
          <p:nvPr/>
        </p:nvGrpSpPr>
        <p:grpSpPr bwMode="auto">
          <a:xfrm>
            <a:off x="10537111" y="3575882"/>
            <a:ext cx="785478" cy="533190"/>
            <a:chOff x="6201043" y="4362994"/>
            <a:chExt cx="1928998" cy="572501"/>
          </a:xfrm>
          <a:noFill/>
        </p:grpSpPr>
        <p:sp>
          <p:nvSpPr>
            <p:cNvPr id="31" name="圆角矩形 39">
              <a:extLst>
                <a:ext uri="{FF2B5EF4-FFF2-40B4-BE49-F238E27FC236}">
                  <a16:creationId xmlns="" xmlns:a16="http://schemas.microsoft.com/office/drawing/2014/main" id="{5250D45F-EBB4-414C-8C14-8607E520224D}"/>
                </a:ext>
              </a:extLst>
            </p:cNvPr>
            <p:cNvSpPr/>
            <p:nvPr/>
          </p:nvSpPr>
          <p:spPr>
            <a:xfrm>
              <a:off x="6201043" y="4362994"/>
              <a:ext cx="1774252" cy="572501"/>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32" name="TextBox 9">
              <a:extLst>
                <a:ext uri="{FF2B5EF4-FFF2-40B4-BE49-F238E27FC236}">
                  <a16:creationId xmlns="" xmlns:a16="http://schemas.microsoft.com/office/drawing/2014/main" id="{9B9E3236-E733-41CA-A273-0EBB5A53C50E}"/>
                </a:ext>
              </a:extLst>
            </p:cNvPr>
            <p:cNvSpPr txBox="1">
              <a:spLocks noChangeArrowheads="1"/>
            </p:cNvSpPr>
            <p:nvPr/>
          </p:nvSpPr>
          <p:spPr bwMode="auto">
            <a:xfrm>
              <a:off x="6233339" y="4377384"/>
              <a:ext cx="1896702" cy="528750"/>
            </a:xfrm>
            <a:prstGeom prst="rect">
              <a:avLst/>
            </a:prstGeom>
            <a:grpFill/>
            <a:ln w="9525">
              <a:noFill/>
              <a:miter lim="800000"/>
              <a:headEnd/>
              <a:tailEnd/>
            </a:ln>
          </p:spPr>
          <p:txBody>
            <a:bodyPr lIns="0" tIns="0" rIns="0" bIns="0">
              <a:spAutoFit/>
            </a:bodyPr>
            <a:lstStyle/>
            <a:p>
              <a:pPr algn="ctr" defTabSz="609539" eaLnBrk="1" hangingPunct="1">
                <a:defRPr/>
              </a:pPr>
              <a:r>
                <a:rPr lang="zh-CN" altLang="en-US" sz="1600" b="1" dirty="0">
                  <a:latin typeface="微软雅黑" pitchFamily="34" charset="-122"/>
                  <a:ea typeface="微软雅黑" pitchFamily="34" charset="-122"/>
                </a:rPr>
                <a:t>光电</a:t>
              </a:r>
              <a:endParaRPr lang="en-US" altLang="zh-CN" sz="1600" b="1" dirty="0">
                <a:latin typeface="微软雅黑" pitchFamily="34" charset="-122"/>
                <a:ea typeface="微软雅黑" pitchFamily="34" charset="-122"/>
              </a:endParaRPr>
            </a:p>
            <a:p>
              <a:pPr algn="ctr" defTabSz="609539" eaLnBrk="1" hangingPunct="1">
                <a:defRPr/>
              </a:pPr>
              <a:r>
                <a:rPr lang="zh-CN" altLang="en-US" sz="1600" b="1" dirty="0">
                  <a:latin typeface="微软雅黑" pitchFamily="34" charset="-122"/>
                  <a:ea typeface="微软雅黑" pitchFamily="34" charset="-122"/>
                </a:rPr>
                <a:t>控制</a:t>
              </a:r>
            </a:p>
          </p:txBody>
        </p:sp>
      </p:grpSp>
      <p:grpSp>
        <p:nvGrpSpPr>
          <p:cNvPr id="34" name="组合 29">
            <a:extLst>
              <a:ext uri="{FF2B5EF4-FFF2-40B4-BE49-F238E27FC236}">
                <a16:creationId xmlns="" xmlns:a16="http://schemas.microsoft.com/office/drawing/2014/main" id="{FF620E26-28AA-420B-9659-72A38CD1DC53}"/>
              </a:ext>
            </a:extLst>
          </p:cNvPr>
          <p:cNvGrpSpPr>
            <a:grpSpLocks/>
          </p:cNvGrpSpPr>
          <p:nvPr/>
        </p:nvGrpSpPr>
        <p:grpSpPr bwMode="auto">
          <a:xfrm>
            <a:off x="10870171" y="4495773"/>
            <a:ext cx="740721" cy="600775"/>
            <a:chOff x="6120461" y="4340729"/>
            <a:chExt cx="1818898" cy="645069"/>
          </a:xfrm>
        </p:grpSpPr>
        <p:sp>
          <p:nvSpPr>
            <p:cNvPr id="36" name="圆角矩形 42">
              <a:extLst>
                <a:ext uri="{FF2B5EF4-FFF2-40B4-BE49-F238E27FC236}">
                  <a16:creationId xmlns="" xmlns:a16="http://schemas.microsoft.com/office/drawing/2014/main" id="{CDFAFBEC-180F-42BB-8387-C5A56E14D897}"/>
                </a:ext>
              </a:extLst>
            </p:cNvPr>
            <p:cNvSpPr/>
            <p:nvPr/>
          </p:nvSpPr>
          <p:spPr>
            <a:xfrm>
              <a:off x="6233341" y="4340729"/>
              <a:ext cx="1687515" cy="645069"/>
            </a:xfrm>
            <a:prstGeom prst="roundRect">
              <a:avLst/>
            </a:prstGeom>
            <a:gradFill>
              <a:gsLst>
                <a:gs pos="0">
                  <a:srgbClr val="CCCCFF"/>
                </a:gs>
                <a:gs pos="17999">
                  <a:srgbClr val="99CCFF"/>
                </a:gs>
                <a:gs pos="36000">
                  <a:srgbClr val="9966FF"/>
                </a:gs>
                <a:gs pos="61000">
                  <a:srgbClr val="CC99FF"/>
                </a:gs>
                <a:gs pos="82001">
                  <a:srgbClr val="99CCFF"/>
                </a:gs>
                <a:gs pos="100000">
                  <a:srgbClr val="CCCCF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37" name="TextBox 9">
              <a:extLst>
                <a:ext uri="{FF2B5EF4-FFF2-40B4-BE49-F238E27FC236}">
                  <a16:creationId xmlns="" xmlns:a16="http://schemas.microsoft.com/office/drawing/2014/main" id="{341F72FC-CF84-4569-B4F4-4912CCBFF0D1}"/>
                </a:ext>
              </a:extLst>
            </p:cNvPr>
            <p:cNvSpPr txBox="1">
              <a:spLocks noChangeArrowheads="1"/>
            </p:cNvSpPr>
            <p:nvPr/>
          </p:nvSpPr>
          <p:spPr bwMode="auto">
            <a:xfrm>
              <a:off x="6120461" y="4407777"/>
              <a:ext cx="1818898" cy="5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室内光线控制</a:t>
              </a:r>
            </a:p>
          </p:txBody>
        </p:sp>
      </p:grpSp>
      <p:grpSp>
        <p:nvGrpSpPr>
          <p:cNvPr id="38" name="组合 29">
            <a:extLst>
              <a:ext uri="{FF2B5EF4-FFF2-40B4-BE49-F238E27FC236}">
                <a16:creationId xmlns="" xmlns:a16="http://schemas.microsoft.com/office/drawing/2014/main" id="{44CCF387-DC46-47C5-B3B4-7C9CD743F043}"/>
              </a:ext>
            </a:extLst>
          </p:cNvPr>
          <p:cNvGrpSpPr>
            <a:grpSpLocks/>
          </p:cNvGrpSpPr>
          <p:nvPr/>
        </p:nvGrpSpPr>
        <p:grpSpPr bwMode="auto">
          <a:xfrm>
            <a:off x="8693004" y="5541417"/>
            <a:ext cx="515962" cy="600775"/>
            <a:chOff x="6233339" y="4340729"/>
            <a:chExt cx="1501289" cy="645069"/>
          </a:xfrm>
        </p:grpSpPr>
        <p:sp>
          <p:nvSpPr>
            <p:cNvPr id="39" name="圆角矩形 45">
              <a:extLst>
                <a:ext uri="{FF2B5EF4-FFF2-40B4-BE49-F238E27FC236}">
                  <a16:creationId xmlns="" xmlns:a16="http://schemas.microsoft.com/office/drawing/2014/main" id="{584F887F-19A9-4FC4-B0D3-B88BCB935E4C}"/>
                </a:ext>
              </a:extLst>
            </p:cNvPr>
            <p:cNvSpPr/>
            <p:nvPr/>
          </p:nvSpPr>
          <p:spPr>
            <a:xfrm>
              <a:off x="6233339" y="4340729"/>
              <a:ext cx="1501289" cy="645069"/>
            </a:xfrm>
            <a:prstGeom prst="round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41" name="TextBox 9">
              <a:extLst>
                <a:ext uri="{FF2B5EF4-FFF2-40B4-BE49-F238E27FC236}">
                  <a16:creationId xmlns="" xmlns:a16="http://schemas.microsoft.com/office/drawing/2014/main" id="{9682E3AB-791C-436F-8A0D-F4F53BFF11D1}"/>
                </a:ext>
              </a:extLst>
            </p:cNvPr>
            <p:cNvSpPr txBox="1">
              <a:spLocks noChangeArrowheads="1"/>
            </p:cNvSpPr>
            <p:nvPr/>
          </p:nvSpPr>
          <p:spPr bwMode="auto">
            <a:xfrm>
              <a:off x="6233339" y="4376956"/>
              <a:ext cx="1495356" cy="543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光控开关</a:t>
              </a:r>
            </a:p>
          </p:txBody>
        </p:sp>
      </p:grpSp>
      <p:grpSp>
        <p:nvGrpSpPr>
          <p:cNvPr id="42" name="组合 29">
            <a:extLst>
              <a:ext uri="{FF2B5EF4-FFF2-40B4-BE49-F238E27FC236}">
                <a16:creationId xmlns="" xmlns:a16="http://schemas.microsoft.com/office/drawing/2014/main" id="{D5CB08DD-3664-453D-907A-19CB1A05E541}"/>
              </a:ext>
            </a:extLst>
          </p:cNvPr>
          <p:cNvGrpSpPr>
            <a:grpSpLocks/>
          </p:cNvGrpSpPr>
          <p:nvPr/>
        </p:nvGrpSpPr>
        <p:grpSpPr bwMode="auto">
          <a:xfrm>
            <a:off x="9507194" y="5880134"/>
            <a:ext cx="749518" cy="603211"/>
            <a:chOff x="6233339" y="4340728"/>
            <a:chExt cx="1839220" cy="647693"/>
          </a:xfrm>
        </p:grpSpPr>
        <p:sp>
          <p:nvSpPr>
            <p:cNvPr id="43" name="圆角矩形 48">
              <a:extLst>
                <a:ext uri="{FF2B5EF4-FFF2-40B4-BE49-F238E27FC236}">
                  <a16:creationId xmlns="" xmlns:a16="http://schemas.microsoft.com/office/drawing/2014/main" id="{EB56E16F-9930-47DD-B4B8-6F02EB14D5AE}"/>
                </a:ext>
              </a:extLst>
            </p:cNvPr>
            <p:cNvSpPr/>
            <p:nvPr/>
          </p:nvSpPr>
          <p:spPr>
            <a:xfrm>
              <a:off x="6233339" y="4340728"/>
              <a:ext cx="1775542" cy="647693"/>
            </a:xfrm>
            <a:prstGeom prst="roundRect">
              <a:avLst/>
            </a:prstGeom>
            <a:gradFill>
              <a:gsLst>
                <a:gs pos="0">
                  <a:srgbClr val="FFF200"/>
                </a:gs>
                <a:gs pos="45000">
                  <a:srgbClr val="FF7A00"/>
                </a:gs>
                <a:gs pos="70000">
                  <a:srgbClr val="FF0300"/>
                </a:gs>
                <a:gs pos="100000">
                  <a:srgbClr val="4D080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44" name="TextBox 9">
              <a:extLst>
                <a:ext uri="{FF2B5EF4-FFF2-40B4-BE49-F238E27FC236}">
                  <a16:creationId xmlns="" xmlns:a16="http://schemas.microsoft.com/office/drawing/2014/main" id="{0DB163E5-9535-411E-A69C-8DA23FB523AF}"/>
                </a:ext>
              </a:extLst>
            </p:cNvPr>
            <p:cNvSpPr txBox="1">
              <a:spLocks noChangeArrowheads="1"/>
            </p:cNvSpPr>
            <p:nvPr/>
          </p:nvSpPr>
          <p:spPr bwMode="auto">
            <a:xfrm>
              <a:off x="6233339" y="4394484"/>
              <a:ext cx="1839220" cy="528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工业</a:t>
              </a:r>
              <a:endParaRPr lang="en-US" altLang="zh-CN" sz="1600" b="1" dirty="0">
                <a:latin typeface="微软雅黑" panose="020B0503020204020204" pitchFamily="34" charset="-122"/>
                <a:ea typeface="微软雅黑" panose="020B0503020204020204" pitchFamily="34" charset="-122"/>
              </a:endParaRPr>
            </a:p>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控制</a:t>
              </a:r>
            </a:p>
          </p:txBody>
        </p:sp>
      </p:grpSp>
      <p:grpSp>
        <p:nvGrpSpPr>
          <p:cNvPr id="45" name="组合 29">
            <a:extLst>
              <a:ext uri="{FF2B5EF4-FFF2-40B4-BE49-F238E27FC236}">
                <a16:creationId xmlns="" xmlns:a16="http://schemas.microsoft.com/office/drawing/2014/main" id="{FECF2815-68A2-41F6-A0AE-541CA2160BE3}"/>
              </a:ext>
            </a:extLst>
          </p:cNvPr>
          <p:cNvGrpSpPr>
            <a:grpSpLocks/>
          </p:cNvGrpSpPr>
          <p:nvPr/>
        </p:nvGrpSpPr>
        <p:grpSpPr bwMode="auto">
          <a:xfrm>
            <a:off x="10633972" y="5588670"/>
            <a:ext cx="772423" cy="600775"/>
            <a:chOff x="6233322" y="4162253"/>
            <a:chExt cx="1896719" cy="645069"/>
          </a:xfrm>
        </p:grpSpPr>
        <p:sp>
          <p:nvSpPr>
            <p:cNvPr id="46" name="圆角矩形 51">
              <a:extLst>
                <a:ext uri="{FF2B5EF4-FFF2-40B4-BE49-F238E27FC236}">
                  <a16:creationId xmlns="" xmlns:a16="http://schemas.microsoft.com/office/drawing/2014/main" id="{182D287E-727C-4BF5-92BC-767D2A624F1E}"/>
                </a:ext>
              </a:extLst>
            </p:cNvPr>
            <p:cNvSpPr/>
            <p:nvPr/>
          </p:nvSpPr>
          <p:spPr>
            <a:xfrm>
              <a:off x="6233322" y="4162253"/>
              <a:ext cx="1773004" cy="645069"/>
            </a:xfrm>
            <a:prstGeom prst="roundRect">
              <a:avLst/>
            </a:prstGeom>
            <a:gradFill>
              <a:gsLst>
                <a:gs pos="0">
                  <a:srgbClr val="DDEBCF"/>
                </a:gs>
                <a:gs pos="50000">
                  <a:srgbClr val="9CB86E"/>
                </a:gs>
                <a:gs pos="100000">
                  <a:srgbClr val="156B1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47" name="TextBox 9">
              <a:extLst>
                <a:ext uri="{FF2B5EF4-FFF2-40B4-BE49-F238E27FC236}">
                  <a16:creationId xmlns="" xmlns:a16="http://schemas.microsoft.com/office/drawing/2014/main" id="{CB5805B3-859F-4208-8AD5-21A4E83726DB}"/>
                </a:ext>
              </a:extLst>
            </p:cNvPr>
            <p:cNvSpPr txBox="1">
              <a:spLocks noChangeArrowheads="1"/>
            </p:cNvSpPr>
            <p:nvPr/>
          </p:nvSpPr>
          <p:spPr bwMode="auto">
            <a:xfrm>
              <a:off x="6233339" y="4376956"/>
              <a:ext cx="1896702" cy="264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报警器 </a:t>
              </a:r>
            </a:p>
          </p:txBody>
        </p:sp>
      </p:grpSp>
      <p:grpSp>
        <p:nvGrpSpPr>
          <p:cNvPr id="48" name="组合 47">
            <a:extLst>
              <a:ext uri="{FF2B5EF4-FFF2-40B4-BE49-F238E27FC236}">
                <a16:creationId xmlns="" xmlns:a16="http://schemas.microsoft.com/office/drawing/2014/main" id="{2158AE7A-2704-4428-A19F-734FDE3D2467}"/>
              </a:ext>
            </a:extLst>
          </p:cNvPr>
          <p:cNvGrpSpPr/>
          <p:nvPr/>
        </p:nvGrpSpPr>
        <p:grpSpPr>
          <a:xfrm>
            <a:off x="7702011" y="2778231"/>
            <a:ext cx="4378476" cy="4215222"/>
            <a:chOff x="7702011" y="2778231"/>
            <a:chExt cx="4378476" cy="4215222"/>
          </a:xfrm>
        </p:grpSpPr>
        <p:sp>
          <p:nvSpPr>
            <p:cNvPr id="49" name="AutoShape 12">
              <a:extLst>
                <a:ext uri="{FF2B5EF4-FFF2-40B4-BE49-F238E27FC236}">
                  <a16:creationId xmlns="" xmlns:a16="http://schemas.microsoft.com/office/drawing/2014/main" id="{D791F63F-3637-4557-8992-1925379B6C37}"/>
                </a:ext>
              </a:extLst>
            </p:cNvPr>
            <p:cNvSpPr>
              <a:spLocks noChangeArrowheads="1"/>
            </p:cNvSpPr>
            <p:nvPr/>
          </p:nvSpPr>
          <p:spPr bwMode="auto">
            <a:xfrm rot="10800000" flipH="1">
              <a:off x="9191087" y="3159230"/>
              <a:ext cx="1236476" cy="1320726"/>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0" name="AutoShape 12">
              <a:extLst>
                <a:ext uri="{FF2B5EF4-FFF2-40B4-BE49-F238E27FC236}">
                  <a16:creationId xmlns="" xmlns:a16="http://schemas.microsoft.com/office/drawing/2014/main" id="{B85B1954-3DB5-4907-AEBC-275D760573EA}"/>
                </a:ext>
              </a:extLst>
            </p:cNvPr>
            <p:cNvSpPr>
              <a:spLocks noChangeArrowheads="1"/>
            </p:cNvSpPr>
            <p:nvPr/>
          </p:nvSpPr>
          <p:spPr bwMode="auto">
            <a:xfrm rot="13529412" flipH="1">
              <a:off x="9914959" y="3473759"/>
              <a:ext cx="1322359" cy="1234949"/>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1" name="AutoShape 12">
              <a:extLst>
                <a:ext uri="{FF2B5EF4-FFF2-40B4-BE49-F238E27FC236}">
                  <a16:creationId xmlns="" xmlns:a16="http://schemas.microsoft.com/office/drawing/2014/main" id="{F318A989-3B0F-4162-BD4E-2E3A5C27CD27}"/>
                </a:ext>
              </a:extLst>
            </p:cNvPr>
            <p:cNvSpPr>
              <a:spLocks noChangeArrowheads="1"/>
            </p:cNvSpPr>
            <p:nvPr/>
          </p:nvSpPr>
          <p:spPr bwMode="auto">
            <a:xfrm rot="4971893" flipH="1">
              <a:off x="8152114" y="4271841"/>
              <a:ext cx="1320726" cy="1234949"/>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2" name="AutoShape 12">
              <a:extLst>
                <a:ext uri="{FF2B5EF4-FFF2-40B4-BE49-F238E27FC236}">
                  <a16:creationId xmlns="" xmlns:a16="http://schemas.microsoft.com/office/drawing/2014/main" id="{42A03A2B-B79C-4936-AA3C-66763B8C024C}"/>
                </a:ext>
              </a:extLst>
            </p:cNvPr>
            <p:cNvSpPr>
              <a:spLocks noChangeArrowheads="1"/>
            </p:cNvSpPr>
            <p:nvPr/>
          </p:nvSpPr>
          <p:spPr bwMode="auto">
            <a:xfrm rot="2349091" flipH="1">
              <a:off x="8566004" y="4855676"/>
              <a:ext cx="1233423" cy="1319094"/>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3" name="AutoShape 12">
              <a:extLst>
                <a:ext uri="{FF2B5EF4-FFF2-40B4-BE49-F238E27FC236}">
                  <a16:creationId xmlns="" xmlns:a16="http://schemas.microsoft.com/office/drawing/2014/main" id="{C7B2DAC4-5B51-448C-ACE8-2021F8E516F5}"/>
                </a:ext>
              </a:extLst>
            </p:cNvPr>
            <p:cNvSpPr>
              <a:spLocks noChangeArrowheads="1"/>
            </p:cNvSpPr>
            <p:nvPr/>
          </p:nvSpPr>
          <p:spPr bwMode="auto">
            <a:xfrm flipH="1">
              <a:off x="9259348" y="5148367"/>
              <a:ext cx="1234949" cy="1320727"/>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4" name="AutoShape 12">
              <a:extLst>
                <a:ext uri="{FF2B5EF4-FFF2-40B4-BE49-F238E27FC236}">
                  <a16:creationId xmlns="" xmlns:a16="http://schemas.microsoft.com/office/drawing/2014/main" id="{AD5C385F-6AF6-43B3-9C84-B6EFFF207633}"/>
                </a:ext>
              </a:extLst>
            </p:cNvPr>
            <p:cNvSpPr>
              <a:spLocks noChangeArrowheads="1"/>
            </p:cNvSpPr>
            <p:nvPr/>
          </p:nvSpPr>
          <p:spPr bwMode="auto">
            <a:xfrm rot="18919140" flipH="1">
              <a:off x="9982559" y="4915995"/>
              <a:ext cx="1236476" cy="1320727"/>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5" name="AutoShape 12">
              <a:extLst>
                <a:ext uri="{FF2B5EF4-FFF2-40B4-BE49-F238E27FC236}">
                  <a16:creationId xmlns="" xmlns:a16="http://schemas.microsoft.com/office/drawing/2014/main" id="{23BB6DEF-A77E-4EC7-8F39-58DF6766C1D7}"/>
                </a:ext>
              </a:extLst>
            </p:cNvPr>
            <p:cNvSpPr>
              <a:spLocks noChangeArrowheads="1"/>
            </p:cNvSpPr>
            <p:nvPr/>
          </p:nvSpPr>
          <p:spPr bwMode="auto">
            <a:xfrm rot="16200000" flipH="1">
              <a:off x="10213417" y="4170488"/>
              <a:ext cx="1322361" cy="1233423"/>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6" name="AutoShape 12">
              <a:extLst>
                <a:ext uri="{FF2B5EF4-FFF2-40B4-BE49-F238E27FC236}">
                  <a16:creationId xmlns="" xmlns:a16="http://schemas.microsoft.com/office/drawing/2014/main" id="{4671C272-55D3-44EB-8A57-796172244FB8}"/>
                </a:ext>
              </a:extLst>
            </p:cNvPr>
            <p:cNvSpPr>
              <a:spLocks noChangeArrowheads="1"/>
            </p:cNvSpPr>
            <p:nvPr/>
          </p:nvSpPr>
          <p:spPr bwMode="auto">
            <a:xfrm rot="7801550" flipH="1">
              <a:off x="8467571" y="3551872"/>
              <a:ext cx="1320727" cy="1234949"/>
            </a:xfrm>
            <a:prstGeom prst="triangle">
              <a:avLst>
                <a:gd name="adj" fmla="val 50000"/>
              </a:avLst>
            </a:prstGeom>
            <a:gradFill rotWithShape="1">
              <a:gsLst>
                <a:gs pos="0">
                  <a:srgbClr val="FF0000"/>
                </a:gs>
                <a:gs pos="100000">
                  <a:srgbClr val="FFFF66">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7" name="Oval 19">
              <a:extLst>
                <a:ext uri="{FF2B5EF4-FFF2-40B4-BE49-F238E27FC236}">
                  <a16:creationId xmlns="" xmlns:a16="http://schemas.microsoft.com/office/drawing/2014/main" id="{33EF8749-74C2-425C-9395-BC007CC6D46E}"/>
                </a:ext>
              </a:extLst>
            </p:cNvPr>
            <p:cNvSpPr>
              <a:spLocks noChangeArrowheads="1"/>
            </p:cNvSpPr>
            <p:nvPr/>
          </p:nvSpPr>
          <p:spPr bwMode="auto">
            <a:xfrm>
              <a:off x="9100600" y="4052993"/>
              <a:ext cx="1437976" cy="1495408"/>
            </a:xfrm>
            <a:prstGeom prst="ellipse">
              <a:avLst/>
            </a:prstGeom>
            <a:solidFill>
              <a:srgbClr val="FFFF00">
                <a:alpha val="25098"/>
              </a:srgbClr>
            </a:solidFill>
            <a:ln w="12700">
              <a:solidFill>
                <a:srgbClr val="FFFF00"/>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8" name="Oval 20">
              <a:extLst>
                <a:ext uri="{FF2B5EF4-FFF2-40B4-BE49-F238E27FC236}">
                  <a16:creationId xmlns="" xmlns:a16="http://schemas.microsoft.com/office/drawing/2014/main" id="{25817FA7-DCF5-4607-AF5C-18AB50101ED1}"/>
                </a:ext>
              </a:extLst>
            </p:cNvPr>
            <p:cNvSpPr>
              <a:spLocks noChangeArrowheads="1"/>
            </p:cNvSpPr>
            <p:nvPr/>
          </p:nvSpPr>
          <p:spPr bwMode="auto">
            <a:xfrm>
              <a:off x="9159336" y="4102206"/>
              <a:ext cx="1320435" cy="1374600"/>
            </a:xfrm>
            <a:prstGeom prst="ellipse">
              <a:avLst/>
            </a:prstGeom>
            <a:solidFill>
              <a:srgbClr val="FFFF66">
                <a:alpha val="50195"/>
              </a:srgbClr>
            </a:solidFill>
            <a:ln w="57150">
              <a:solidFill>
                <a:srgbClr val="FFFF66"/>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9" name="Oval 48">
              <a:extLst>
                <a:ext uri="{FF2B5EF4-FFF2-40B4-BE49-F238E27FC236}">
                  <a16:creationId xmlns="" xmlns:a16="http://schemas.microsoft.com/office/drawing/2014/main" id="{64B8BF64-9BC4-4B04-9582-3C0AF5E370DD}"/>
                </a:ext>
              </a:extLst>
            </p:cNvPr>
            <p:cNvSpPr>
              <a:spLocks noChangeAspect="1" noChangeArrowheads="1"/>
            </p:cNvSpPr>
            <p:nvPr/>
          </p:nvSpPr>
          <p:spPr bwMode="auto">
            <a:xfrm>
              <a:off x="9257761" y="4224442"/>
              <a:ext cx="1191755" cy="1155839"/>
            </a:xfrm>
            <a:prstGeom prst="ellipse">
              <a:avLst/>
            </a:prstGeom>
            <a:solidFill>
              <a:schemeClr val="accent6">
                <a:lumMod val="20000"/>
                <a:lumOff val="80000"/>
              </a:schemeClr>
            </a:solidFill>
            <a:ln w="9525">
              <a:noFill/>
              <a:round/>
              <a:headEnd/>
              <a:tailEnd/>
            </a:ln>
          </p:spPr>
          <p:txBody>
            <a:bodyPr wrap="none" lIns="60954" tIns="30477" rIns="60954" bIns="30477" anchor="ctr"/>
            <a:lstStyle/>
            <a:p>
              <a:pPr defTabSz="609539">
                <a:defRPr/>
              </a:pPr>
              <a:endParaRPr lang="zh-CN" altLang="en-US" sz="1500" b="1" dirty="0">
                <a:ea typeface="楷体_GB2312" pitchFamily="49" charset="-122"/>
              </a:endParaRPr>
            </a:p>
          </p:txBody>
        </p:sp>
        <p:grpSp>
          <p:nvGrpSpPr>
            <p:cNvPr id="60" name="组合 67">
              <a:extLst>
                <a:ext uri="{FF2B5EF4-FFF2-40B4-BE49-F238E27FC236}">
                  <a16:creationId xmlns="" xmlns:a16="http://schemas.microsoft.com/office/drawing/2014/main" id="{3B0231D6-047C-4BB9-8B11-7C0B210C3094}"/>
                </a:ext>
              </a:extLst>
            </p:cNvPr>
            <p:cNvGrpSpPr>
              <a:grpSpLocks/>
            </p:cNvGrpSpPr>
            <p:nvPr/>
          </p:nvGrpSpPr>
          <p:grpSpPr bwMode="auto">
            <a:xfrm>
              <a:off x="9397461" y="4372081"/>
              <a:ext cx="842636" cy="840758"/>
              <a:chOff x="3728508" y="2516175"/>
              <a:chExt cx="1314468" cy="1226837"/>
            </a:xfrm>
          </p:grpSpPr>
          <p:sp>
            <p:nvSpPr>
              <p:cNvPr id="62" name="Oval 49">
                <a:extLst>
                  <a:ext uri="{FF2B5EF4-FFF2-40B4-BE49-F238E27FC236}">
                    <a16:creationId xmlns="" xmlns:a16="http://schemas.microsoft.com/office/drawing/2014/main" id="{ECE2AFD4-076A-4C38-BD09-EC8CFDCDD5E5}"/>
                  </a:ext>
                </a:extLst>
              </p:cNvPr>
              <p:cNvSpPr>
                <a:spLocks noChangeAspect="1" noChangeArrowheads="1"/>
              </p:cNvSpPr>
              <p:nvPr/>
            </p:nvSpPr>
            <p:spPr bwMode="auto">
              <a:xfrm>
                <a:off x="3745971" y="2516175"/>
                <a:ext cx="1297005" cy="1226837"/>
              </a:xfrm>
              <a:prstGeom prst="ellipse">
                <a:avLst/>
              </a:pr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latinLnBrk="1">
                  <a:lnSpc>
                    <a:spcPct val="100000"/>
                  </a:lnSpc>
                  <a:spcBef>
                    <a:spcPct val="0"/>
                  </a:spcBef>
                  <a:buFontTx/>
                  <a:buNone/>
                </a:pPr>
                <a:endParaRPr lang="zh-CN" altLang="en-US" sz="1100" b="1">
                  <a:latin typeface="Arial" panose="020B0604020202020204" pitchFamily="34" charset="0"/>
                  <a:ea typeface="HY견고딕"/>
                  <a:cs typeface="HY견고딕"/>
                </a:endParaRPr>
              </a:p>
            </p:txBody>
          </p:sp>
          <p:sp>
            <p:nvSpPr>
              <p:cNvPr id="63" name="TextBox 2">
                <a:extLst>
                  <a:ext uri="{FF2B5EF4-FFF2-40B4-BE49-F238E27FC236}">
                    <a16:creationId xmlns="" xmlns:a16="http://schemas.microsoft.com/office/drawing/2014/main" id="{86AA8C48-C16A-45D6-878D-F561A9564CDB}"/>
                  </a:ext>
                </a:extLst>
              </p:cNvPr>
              <p:cNvSpPr txBox="1">
                <a:spLocks noChangeArrowheads="1"/>
              </p:cNvSpPr>
              <p:nvPr/>
            </p:nvSpPr>
            <p:spPr bwMode="auto">
              <a:xfrm>
                <a:off x="3728508" y="2869788"/>
                <a:ext cx="1314468" cy="4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b="1" dirty="0">
                    <a:solidFill>
                      <a:schemeClr val="bg1"/>
                    </a:solidFill>
                    <a:latin typeface="微软雅黑" panose="020B0503020204020204" pitchFamily="34" charset="-122"/>
                    <a:ea typeface="微软雅黑" panose="020B0503020204020204" pitchFamily="34" charset="-122"/>
                  </a:rPr>
                  <a:t>应用</a:t>
                </a:r>
              </a:p>
            </p:txBody>
          </p:sp>
        </p:grpSp>
        <p:sp>
          <p:nvSpPr>
            <p:cNvPr id="61" name="Oval 2">
              <a:extLst>
                <a:ext uri="{FF2B5EF4-FFF2-40B4-BE49-F238E27FC236}">
                  <a16:creationId xmlns="" xmlns:a16="http://schemas.microsoft.com/office/drawing/2014/main" id="{404ABECD-0C58-49B6-AB02-59EDFBFBFAD2}"/>
                </a:ext>
              </a:extLst>
            </p:cNvPr>
            <p:cNvSpPr>
              <a:spLocks noChangeAspect="1" noChangeArrowheads="1"/>
            </p:cNvSpPr>
            <p:nvPr/>
          </p:nvSpPr>
          <p:spPr bwMode="auto">
            <a:xfrm>
              <a:off x="7702011" y="2778231"/>
              <a:ext cx="4378476" cy="4215222"/>
            </a:xfrm>
            <a:prstGeom prst="ellipse">
              <a:avLst/>
            </a:prstGeom>
            <a:noFill/>
            <a:ln w="38100" cap="rnd">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grpSp>
      <p:grpSp>
        <p:nvGrpSpPr>
          <p:cNvPr id="64" name="组合 29">
            <a:extLst>
              <a:ext uri="{FF2B5EF4-FFF2-40B4-BE49-F238E27FC236}">
                <a16:creationId xmlns="" xmlns:a16="http://schemas.microsoft.com/office/drawing/2014/main" id="{86EDC2AD-DF00-4D26-8CAE-1D4E3E4C1AF3}"/>
              </a:ext>
            </a:extLst>
          </p:cNvPr>
          <p:cNvGrpSpPr>
            <a:grpSpLocks/>
          </p:cNvGrpSpPr>
          <p:nvPr/>
        </p:nvGrpSpPr>
        <p:grpSpPr bwMode="auto">
          <a:xfrm>
            <a:off x="8336632" y="3498324"/>
            <a:ext cx="772416" cy="600775"/>
            <a:chOff x="6233339" y="4340729"/>
            <a:chExt cx="1896702" cy="645078"/>
          </a:xfrm>
        </p:grpSpPr>
        <p:sp>
          <p:nvSpPr>
            <p:cNvPr id="65" name="圆角矩形 55">
              <a:extLst>
                <a:ext uri="{FF2B5EF4-FFF2-40B4-BE49-F238E27FC236}">
                  <a16:creationId xmlns="" xmlns:a16="http://schemas.microsoft.com/office/drawing/2014/main" id="{9F188D42-6559-4A37-9CCE-7CF1F75ED198}"/>
                </a:ext>
              </a:extLst>
            </p:cNvPr>
            <p:cNvSpPr/>
            <p:nvPr/>
          </p:nvSpPr>
          <p:spPr>
            <a:xfrm>
              <a:off x="6233339" y="4340729"/>
              <a:ext cx="1773005" cy="645078"/>
            </a:xfrm>
            <a:prstGeom prst="roundRect">
              <a:avLst/>
            </a:prstGeom>
            <a:gradFill>
              <a:gsLst>
                <a:gs pos="0">
                  <a:srgbClr val="FF3399"/>
                </a:gs>
                <a:gs pos="25000">
                  <a:srgbClr val="FF6633"/>
                </a:gs>
                <a:gs pos="50000">
                  <a:srgbClr val="FFFF00"/>
                </a:gs>
                <a:gs pos="75000">
                  <a:srgbClr val="01A78F"/>
                </a:gs>
                <a:gs pos="100000">
                  <a:srgbClr val="3366F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66" name="TextBox 9">
              <a:extLst>
                <a:ext uri="{FF2B5EF4-FFF2-40B4-BE49-F238E27FC236}">
                  <a16:creationId xmlns="" xmlns:a16="http://schemas.microsoft.com/office/drawing/2014/main" id="{CADEEDCA-1E74-43C4-A63A-E2BCB53E3219}"/>
                </a:ext>
              </a:extLst>
            </p:cNvPr>
            <p:cNvSpPr txBox="1">
              <a:spLocks noChangeArrowheads="1"/>
            </p:cNvSpPr>
            <p:nvPr/>
          </p:nvSpPr>
          <p:spPr bwMode="auto">
            <a:xfrm>
              <a:off x="6233339" y="4376955"/>
              <a:ext cx="1896702" cy="543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电子</a:t>
              </a:r>
              <a:endParaRPr lang="en-US" altLang="zh-CN" sz="1600" b="1" dirty="0">
                <a:latin typeface="微软雅黑" panose="020B0503020204020204" pitchFamily="34" charset="-122"/>
                <a:ea typeface="微软雅黑" panose="020B0503020204020204" pitchFamily="34" charset="-122"/>
              </a:endParaRPr>
            </a:p>
            <a:p>
              <a:pPr algn="ctr" eaLnBrk="1" hangingPunct="1">
                <a:lnSpc>
                  <a:spcPct val="100000"/>
                </a:lnSpc>
                <a:spcBef>
                  <a:spcPct val="0"/>
                </a:spcBef>
                <a:buFontTx/>
                <a:buNone/>
              </a:pPr>
              <a:r>
                <a:rPr lang="zh-CN" altLang="en-US" sz="1600" b="1" dirty="0">
                  <a:latin typeface="微软雅黑" panose="020B0503020204020204" pitchFamily="34" charset="-122"/>
                  <a:ea typeface="微软雅黑" panose="020B0503020204020204" pitchFamily="34" charset="-122"/>
                </a:rPr>
                <a:t>玩具</a:t>
              </a:r>
            </a:p>
          </p:txBody>
        </p:sp>
      </p:grpSp>
      <p:sp>
        <p:nvSpPr>
          <p:cNvPr id="67" name="TextBox 7">
            <a:extLst>
              <a:ext uri="{FF2B5EF4-FFF2-40B4-BE49-F238E27FC236}">
                <a16:creationId xmlns="" xmlns:a16="http://schemas.microsoft.com/office/drawing/2014/main" id="{9E8DE3D0-9198-4C62-948D-15C828170A9E}"/>
              </a:ext>
            </a:extLst>
          </p:cNvPr>
          <p:cNvSpPr txBox="1">
            <a:spLocks noChangeArrowheads="1"/>
          </p:cNvSpPr>
          <p:nvPr/>
        </p:nvSpPr>
        <p:spPr bwMode="auto">
          <a:xfrm>
            <a:off x="2110260" y="3991305"/>
            <a:ext cx="1374745" cy="1384995"/>
          </a:xfrm>
          <a:prstGeom prst="rect">
            <a:avLst/>
          </a:prstGeom>
          <a:noFill/>
          <a:ln w="9525">
            <a:noFill/>
            <a:miter lim="800000"/>
            <a:headEnd/>
            <a:tailEnd/>
          </a:ln>
        </p:spPr>
        <p:txBody>
          <a:bodyPr wrap="square">
            <a:spAutoFit/>
          </a:bodyPr>
          <a:lstStyle/>
          <a:p>
            <a:pPr algn="ctr" defTabSz="914400">
              <a:lnSpc>
                <a:spcPct val="150000"/>
              </a:lnSpc>
            </a:pPr>
            <a:r>
              <a:rPr lang="zh-CN" altLang="en-US" sz="2800" b="1" dirty="0">
                <a:solidFill>
                  <a:srgbClr val="0000CC"/>
                </a:solidFill>
                <a:latin typeface="Times New Roman" pitchFamily="18" charset="0"/>
                <a:ea typeface="微软雅黑" pitchFamily="34" charset="-122"/>
                <a:cs typeface="Times New Roman" pitchFamily="18" charset="0"/>
              </a:rPr>
              <a:t>硫化镉</a:t>
            </a:r>
            <a:endParaRPr lang="en-US" altLang="zh-CN" sz="2800" b="1" dirty="0">
              <a:solidFill>
                <a:srgbClr val="0000CC"/>
              </a:solidFill>
              <a:latin typeface="Times New Roman" pitchFamily="18" charset="0"/>
              <a:ea typeface="微软雅黑" pitchFamily="34" charset="-122"/>
              <a:cs typeface="Times New Roman" pitchFamily="18" charset="0"/>
            </a:endParaRPr>
          </a:p>
          <a:p>
            <a:pPr algn="ctr" defTabSz="914400">
              <a:lnSpc>
                <a:spcPct val="150000"/>
              </a:lnSpc>
            </a:pPr>
            <a:r>
              <a:rPr lang="zh-CN" altLang="en-US" sz="2800" b="1" dirty="0">
                <a:solidFill>
                  <a:srgbClr val="0000CC"/>
                </a:solidFill>
                <a:latin typeface="Times New Roman" pitchFamily="18" charset="0"/>
                <a:ea typeface="微软雅黑" pitchFamily="34" charset="-122"/>
                <a:cs typeface="Times New Roman" pitchFamily="18" charset="0"/>
              </a:rPr>
              <a:t>特点</a:t>
            </a:r>
            <a:endParaRPr lang="zh-CN" altLang="en-US" sz="3200" b="1" dirty="0">
              <a:solidFill>
                <a:srgbClr val="0000CC"/>
              </a:solidFill>
              <a:latin typeface="Times New Roman" pitchFamily="18" charset="0"/>
              <a:ea typeface="微软雅黑" pitchFamily="34" charset="-122"/>
              <a:cs typeface="Times New Roman" pitchFamily="18" charset="0"/>
            </a:endParaRPr>
          </a:p>
        </p:txBody>
      </p:sp>
      <p:pic>
        <p:nvPicPr>
          <p:cNvPr id="68" name="图片 67">
            <a:extLst>
              <a:ext uri="{FF2B5EF4-FFF2-40B4-BE49-F238E27FC236}">
                <a16:creationId xmlns="" xmlns:a16="http://schemas.microsoft.com/office/drawing/2014/main" id="{98659805-C02E-44A5-8432-8B72CADA6F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6197" y="1296808"/>
            <a:ext cx="2749581" cy="1481423"/>
          </a:xfrm>
          <a:prstGeom prst="rect">
            <a:avLst/>
          </a:prstGeom>
        </p:spPr>
      </p:pic>
      <p:sp>
        <p:nvSpPr>
          <p:cNvPr id="69" name="矩形 68">
            <a:extLst>
              <a:ext uri="{FF2B5EF4-FFF2-40B4-BE49-F238E27FC236}">
                <a16:creationId xmlns="" xmlns:a16="http://schemas.microsoft.com/office/drawing/2014/main" id="{D356D8D6-0F01-4889-BA36-DF69AAB0ACC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70" name="组合 69"/>
          <p:cNvGrpSpPr/>
          <p:nvPr/>
        </p:nvGrpSpPr>
        <p:grpSpPr>
          <a:xfrm>
            <a:off x="10337881" y="293282"/>
            <a:ext cx="2823365" cy="523220"/>
            <a:chOff x="10337881" y="293282"/>
            <a:chExt cx="2823365" cy="523220"/>
          </a:xfrm>
        </p:grpSpPr>
        <p:sp>
          <p:nvSpPr>
            <p:cNvPr id="71" name="矩形 70"/>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72" name="矩形 71">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394901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ox(in)">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500" fill="hold"/>
                                        <p:tgtEl>
                                          <p:spTgt spid="27"/>
                                        </p:tgtEl>
                                        <p:attrNameLst>
                                          <p:attrName>ppt_x</p:attrName>
                                        </p:attrNameLst>
                                      </p:cBhvr>
                                      <p:tavLst>
                                        <p:tav tm="0">
                                          <p:val>
                                            <p:strVal val="#ppt_x"/>
                                          </p:val>
                                        </p:tav>
                                        <p:tav tm="100000">
                                          <p:val>
                                            <p:strVal val="#ppt_x"/>
                                          </p:val>
                                        </p:tav>
                                      </p:tavLst>
                                    </p:anim>
                                    <p:anim calcmode="lin" valueType="num">
                                      <p:cBhvr additive="base">
                                        <p:cTn id="34"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1"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 calcmode="lin" valueType="num">
                                      <p:cBhvr additive="base">
                                        <p:cTn id="39" dur="500" fill="hold"/>
                                        <p:tgtEl>
                                          <p:spTgt spid="30"/>
                                        </p:tgtEl>
                                        <p:attrNameLst>
                                          <p:attrName>ppt_x</p:attrName>
                                        </p:attrNameLst>
                                      </p:cBhvr>
                                      <p:tavLst>
                                        <p:tav tm="0">
                                          <p:val>
                                            <p:strVal val="#ppt_x"/>
                                          </p:val>
                                        </p:tav>
                                        <p:tav tm="100000">
                                          <p:val>
                                            <p:strVal val="#ppt_x"/>
                                          </p:val>
                                        </p:tav>
                                      </p:tavLst>
                                    </p:anim>
                                    <p:anim calcmode="lin" valueType="num">
                                      <p:cBhvr additive="base">
                                        <p:cTn id="40"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anim calcmode="lin" valueType="num">
                                      <p:cBhvr additive="base">
                                        <p:cTn id="45" dur="500" fill="hold"/>
                                        <p:tgtEl>
                                          <p:spTgt spid="34"/>
                                        </p:tgtEl>
                                        <p:attrNameLst>
                                          <p:attrName>ppt_x</p:attrName>
                                        </p:attrNameLst>
                                      </p:cBhvr>
                                      <p:tavLst>
                                        <p:tav tm="0">
                                          <p:val>
                                            <p:strVal val="1+#ppt_w/2"/>
                                          </p:val>
                                        </p:tav>
                                        <p:tav tm="100000">
                                          <p:val>
                                            <p:strVal val="#ppt_x"/>
                                          </p:val>
                                        </p:tav>
                                      </p:tavLst>
                                    </p:anim>
                                    <p:anim calcmode="lin" valueType="num">
                                      <p:cBhvr additive="base">
                                        <p:cTn id="46"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5"/>
                                        </p:tgtEl>
                                        <p:attrNameLst>
                                          <p:attrName>style.visibility</p:attrName>
                                        </p:attrNameLst>
                                      </p:cBhvr>
                                      <p:to>
                                        <p:strVal val="visible"/>
                                      </p:to>
                                    </p:set>
                                    <p:anim calcmode="lin" valueType="num">
                                      <p:cBhvr additive="base">
                                        <p:cTn id="51" dur="500" fill="hold"/>
                                        <p:tgtEl>
                                          <p:spTgt spid="45"/>
                                        </p:tgtEl>
                                        <p:attrNameLst>
                                          <p:attrName>ppt_x</p:attrName>
                                        </p:attrNameLst>
                                      </p:cBhvr>
                                      <p:tavLst>
                                        <p:tav tm="0">
                                          <p:val>
                                            <p:strVal val="#ppt_x"/>
                                          </p:val>
                                        </p:tav>
                                        <p:tav tm="100000">
                                          <p:val>
                                            <p:strVal val="#ppt_x"/>
                                          </p:val>
                                        </p:tav>
                                      </p:tavLst>
                                    </p:anim>
                                    <p:anim calcmode="lin" valueType="num">
                                      <p:cBhvr additive="base">
                                        <p:cTn id="5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 calcmode="lin" valueType="num">
                                      <p:cBhvr additive="base">
                                        <p:cTn id="57" dur="500" fill="hold"/>
                                        <p:tgtEl>
                                          <p:spTgt spid="42"/>
                                        </p:tgtEl>
                                        <p:attrNameLst>
                                          <p:attrName>ppt_x</p:attrName>
                                        </p:attrNameLst>
                                      </p:cBhvr>
                                      <p:tavLst>
                                        <p:tav tm="0">
                                          <p:val>
                                            <p:strVal val="#ppt_x"/>
                                          </p:val>
                                        </p:tav>
                                        <p:tav tm="100000">
                                          <p:val>
                                            <p:strVal val="#ppt_x"/>
                                          </p:val>
                                        </p:tav>
                                      </p:tavLst>
                                    </p:anim>
                                    <p:anim calcmode="lin" valueType="num">
                                      <p:cBhvr additive="base">
                                        <p:cTn id="5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anim calcmode="lin" valueType="num">
                                      <p:cBhvr additive="base">
                                        <p:cTn id="63" dur="500" fill="hold"/>
                                        <p:tgtEl>
                                          <p:spTgt spid="38"/>
                                        </p:tgtEl>
                                        <p:attrNameLst>
                                          <p:attrName>ppt_x</p:attrName>
                                        </p:attrNameLst>
                                      </p:cBhvr>
                                      <p:tavLst>
                                        <p:tav tm="0">
                                          <p:val>
                                            <p:strVal val="#ppt_x"/>
                                          </p:val>
                                        </p:tav>
                                        <p:tav tm="100000">
                                          <p:val>
                                            <p:strVal val="#ppt_x"/>
                                          </p:val>
                                        </p:tav>
                                      </p:tavLst>
                                    </p:anim>
                                    <p:anim calcmode="lin" valueType="num">
                                      <p:cBhvr additive="base">
                                        <p:cTn id="6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00" fill="hold"/>
                                        <p:tgtEl>
                                          <p:spTgt spid="22"/>
                                        </p:tgtEl>
                                        <p:attrNameLst>
                                          <p:attrName>ppt_x</p:attrName>
                                        </p:attrNameLst>
                                      </p:cBhvr>
                                      <p:tavLst>
                                        <p:tav tm="0">
                                          <p:val>
                                            <p:strVal val="0-#ppt_w/2"/>
                                          </p:val>
                                        </p:tav>
                                        <p:tav tm="100000">
                                          <p:val>
                                            <p:strVal val="#ppt_x"/>
                                          </p:val>
                                        </p:tav>
                                      </p:tavLst>
                                    </p:anim>
                                    <p:anim calcmode="lin" valueType="num">
                                      <p:cBhvr additive="base">
                                        <p:cTn id="70"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1" fill="hold" nodeType="clickEffect">
                                  <p:stCondLst>
                                    <p:cond delay="0"/>
                                  </p:stCondLst>
                                  <p:childTnLst>
                                    <p:set>
                                      <p:cBhvr>
                                        <p:cTn id="74" dur="1" fill="hold">
                                          <p:stCondLst>
                                            <p:cond delay="0"/>
                                          </p:stCondLst>
                                        </p:cTn>
                                        <p:tgtEl>
                                          <p:spTgt spid="64"/>
                                        </p:tgtEl>
                                        <p:attrNameLst>
                                          <p:attrName>style.visibility</p:attrName>
                                        </p:attrNameLst>
                                      </p:cBhvr>
                                      <p:to>
                                        <p:strVal val="visible"/>
                                      </p:to>
                                    </p:set>
                                    <p:anim calcmode="lin" valueType="num">
                                      <p:cBhvr additive="base">
                                        <p:cTn id="75" dur="500" fill="hold"/>
                                        <p:tgtEl>
                                          <p:spTgt spid="64"/>
                                        </p:tgtEl>
                                        <p:attrNameLst>
                                          <p:attrName>ppt_x</p:attrName>
                                        </p:attrNameLst>
                                      </p:cBhvr>
                                      <p:tavLst>
                                        <p:tav tm="0">
                                          <p:val>
                                            <p:strVal val="#ppt_x"/>
                                          </p:val>
                                        </p:tav>
                                        <p:tav tm="100000">
                                          <p:val>
                                            <p:strVal val="#ppt_x"/>
                                          </p:val>
                                        </p:tav>
                                      </p:tavLst>
                                    </p:anim>
                                    <p:anim calcmode="lin" valueType="num">
                                      <p:cBhvr additive="base">
                                        <p:cTn id="76" dur="500" fill="hold"/>
                                        <p:tgtEl>
                                          <p:spTgt spid="6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1" grpId="0"/>
      <p:bldP spid="6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 xmlns:a16="http://schemas.microsoft.com/office/drawing/2014/main" id="{933A5081-DBDF-46B3-A2DD-A4920A4CD5B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70" name="TextBox 2">
            <a:extLst>
              <a:ext uri="{FF2B5EF4-FFF2-40B4-BE49-F238E27FC236}">
                <a16:creationId xmlns="" xmlns:a16="http://schemas.microsoft.com/office/drawing/2014/main" id="{50760511-68C3-4F4D-84B6-30DF72C43404}"/>
              </a:ext>
            </a:extLst>
          </p:cNvPr>
          <p:cNvSpPr txBox="1">
            <a:spLocks noChangeArrowheads="1"/>
          </p:cNvSpPr>
          <p:nvPr/>
        </p:nvSpPr>
        <p:spPr bwMode="auto">
          <a:xfrm>
            <a:off x="1844675" y="1014435"/>
            <a:ext cx="6445250" cy="523220"/>
          </a:xfrm>
          <a:prstGeom prst="rect">
            <a:avLst/>
          </a:prstGeom>
          <a:noFill/>
          <a:ln w="9525">
            <a:noFill/>
            <a:miter lim="800000"/>
            <a:headEnd/>
            <a:tailEnd/>
          </a:ln>
        </p:spPr>
        <p:txBody>
          <a:bodyPr>
            <a:spAutoFit/>
          </a:bodyPr>
          <a:lstStyle/>
          <a:p>
            <a:pPr defTabSz="914400"/>
            <a:r>
              <a:rPr kumimoji="1"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rPr>
              <a:t>CdS</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光敏电阻的峰值响应波长为</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0.52μm</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1" name="TextBox 3">
            <a:extLst>
              <a:ext uri="{FF2B5EF4-FFF2-40B4-BE49-F238E27FC236}">
                <a16:creationId xmlns="" xmlns:a16="http://schemas.microsoft.com/office/drawing/2014/main" id="{71EF0C84-0683-4151-A154-F93FC54D37CF}"/>
              </a:ext>
            </a:extLst>
          </p:cNvPr>
          <p:cNvSpPr txBox="1">
            <a:spLocks noChangeArrowheads="1"/>
          </p:cNvSpPr>
          <p:nvPr/>
        </p:nvSpPr>
        <p:spPr bwMode="auto">
          <a:xfrm>
            <a:off x="1844675" y="1628745"/>
            <a:ext cx="4578350" cy="519112"/>
          </a:xfrm>
          <a:prstGeom prst="rect">
            <a:avLst/>
          </a:prstGeom>
          <a:noFill/>
          <a:ln w="9525">
            <a:noFill/>
            <a:miter lim="800000"/>
            <a:headEnd/>
            <a:tailEnd/>
          </a:ln>
        </p:spPr>
        <p:txBody>
          <a:bodyPr>
            <a:spAutoFit/>
          </a:bodyPr>
          <a:lstStyle/>
          <a:p>
            <a:pPr defTabSz="914400"/>
            <a:r>
              <a:rPr kumimoji="1"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rPr>
              <a:t>CdSe</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光敏电阻为</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0.72μm</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72" name="表格 71">
            <a:extLst>
              <a:ext uri="{FF2B5EF4-FFF2-40B4-BE49-F238E27FC236}">
                <a16:creationId xmlns="" xmlns:a16="http://schemas.microsoft.com/office/drawing/2014/main" id="{C8D78C55-CBC9-4241-A94C-B9623DC8F534}"/>
              </a:ext>
            </a:extLst>
          </p:cNvPr>
          <p:cNvGraphicFramePr>
            <a:graphicFrameLocks noGrp="1"/>
          </p:cNvGraphicFramePr>
          <p:nvPr>
            <p:extLst>
              <p:ext uri="{D42A27DB-BD31-4B8C-83A1-F6EECF244321}">
                <p14:modId xmlns:p14="http://schemas.microsoft.com/office/powerpoint/2010/main" val="3406324318"/>
              </p:ext>
            </p:extLst>
          </p:nvPr>
        </p:nvGraphicFramePr>
        <p:xfrm>
          <a:off x="635700" y="3497485"/>
          <a:ext cx="12467745" cy="3170239"/>
        </p:xfrm>
        <a:graphic>
          <a:graphicData uri="http://schemas.openxmlformats.org/drawingml/2006/table">
            <a:tbl>
              <a:tblPr/>
              <a:tblGrid>
                <a:gridCol w="1140112">
                  <a:extLst>
                    <a:ext uri="{9D8B030D-6E8A-4147-A177-3AD203B41FA5}">
                      <a16:colId xmlns="" xmlns:a16="http://schemas.microsoft.com/office/drawing/2014/main" val="20000"/>
                    </a:ext>
                  </a:extLst>
                </a:gridCol>
                <a:gridCol w="1454498">
                  <a:extLst>
                    <a:ext uri="{9D8B030D-6E8A-4147-A177-3AD203B41FA5}">
                      <a16:colId xmlns="" xmlns:a16="http://schemas.microsoft.com/office/drawing/2014/main" val="20001"/>
                    </a:ext>
                  </a:extLst>
                </a:gridCol>
                <a:gridCol w="820397">
                  <a:extLst>
                    <a:ext uri="{9D8B030D-6E8A-4147-A177-3AD203B41FA5}">
                      <a16:colId xmlns="" xmlns:a16="http://schemas.microsoft.com/office/drawing/2014/main" val="20002"/>
                    </a:ext>
                  </a:extLst>
                </a:gridCol>
                <a:gridCol w="940037">
                  <a:extLst>
                    <a:ext uri="{9D8B030D-6E8A-4147-A177-3AD203B41FA5}">
                      <a16:colId xmlns="" xmlns:a16="http://schemas.microsoft.com/office/drawing/2014/main" val="20003"/>
                    </a:ext>
                  </a:extLst>
                </a:gridCol>
                <a:gridCol w="1004191">
                  <a:extLst>
                    <a:ext uri="{9D8B030D-6E8A-4147-A177-3AD203B41FA5}">
                      <a16:colId xmlns="" xmlns:a16="http://schemas.microsoft.com/office/drawing/2014/main" val="20004"/>
                    </a:ext>
                  </a:extLst>
                </a:gridCol>
                <a:gridCol w="978930">
                  <a:extLst>
                    <a:ext uri="{9D8B030D-6E8A-4147-A177-3AD203B41FA5}">
                      <a16:colId xmlns="" xmlns:a16="http://schemas.microsoft.com/office/drawing/2014/main" val="20005"/>
                    </a:ext>
                  </a:extLst>
                </a:gridCol>
                <a:gridCol w="1277589">
                  <a:extLst>
                    <a:ext uri="{9D8B030D-6E8A-4147-A177-3AD203B41FA5}">
                      <a16:colId xmlns="" xmlns:a16="http://schemas.microsoft.com/office/drawing/2014/main" val="20006"/>
                    </a:ext>
                  </a:extLst>
                </a:gridCol>
                <a:gridCol w="1697130">
                  <a:extLst>
                    <a:ext uri="{9D8B030D-6E8A-4147-A177-3AD203B41FA5}">
                      <a16:colId xmlns="" xmlns:a16="http://schemas.microsoft.com/office/drawing/2014/main" val="20007"/>
                    </a:ext>
                  </a:extLst>
                </a:gridCol>
                <a:gridCol w="1699500">
                  <a:extLst>
                    <a:ext uri="{9D8B030D-6E8A-4147-A177-3AD203B41FA5}">
                      <a16:colId xmlns="" xmlns:a16="http://schemas.microsoft.com/office/drawing/2014/main" val="20008"/>
                    </a:ext>
                  </a:extLst>
                </a:gridCol>
                <a:gridCol w="1455361">
                  <a:extLst>
                    <a:ext uri="{9D8B030D-6E8A-4147-A177-3AD203B41FA5}">
                      <a16:colId xmlns="" xmlns:a16="http://schemas.microsoft.com/office/drawing/2014/main" val="20009"/>
                    </a:ext>
                  </a:extLst>
                </a:gridCol>
              </a:tblGrid>
              <a:tr h="696913">
                <a:tc rowSpan="2">
                  <a:txBody>
                    <a:bodyPr/>
                    <a:lstStyle/>
                    <a:p>
                      <a:pPr marL="0" marR="0" lvl="0" indent="0" algn="ctr" defTabSz="914400" rtl="0" eaLnBrk="1" fontAlgn="base" latinLnBrk="0" hangingPunct="1">
                        <a:lnSpc>
                          <a:spcPts val="12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ts val="12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参数</a:t>
                      </a: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ts val="12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ts val="12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ts val="12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ts val="12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ts val="12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型号</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lnBlToTr>
                      <a:noFill/>
                    </a:lnBlToTr>
                    <a:noFill/>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光谱响围</a:t>
                      </a:r>
                      <a:r>
                        <a:rPr kumimoji="0" 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 </a:t>
                      </a:r>
                      <a:br>
                        <a:rPr kumimoji="0" 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br>
                      <a:r>
                        <a:rPr kumimoji="0" lang="en-US" altLang="zh-CN" sz="20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μm</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峰值</a:t>
                      </a:r>
                      <a: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a:r>
                      <a:b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b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波长</a:t>
                      </a:r>
                      <a: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a:r>
                      <a:b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b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μm</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允许</a:t>
                      </a:r>
                      <a:r>
                        <a:rPr kumimoji="0" 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
                      </a:r>
                      <a:br>
                        <a:rPr kumimoji="0" 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b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功耗</a:t>
                      </a:r>
                      <a:r>
                        <a:rPr kumimoji="0" 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
                      </a:r>
                      <a:br>
                        <a:rPr kumimoji="0" 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br>
                      <a:r>
                        <a:rPr kumimoji="0" lang="en-US" altLang="zh-CN" sz="20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mW</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最高工</a:t>
                      </a:r>
                      <a: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a:r>
                      <a:b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b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作电压</a:t>
                      </a:r>
                      <a: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a:r>
                      <a:b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b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V</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响应时间</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光电特性</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电阻温度系数</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827088">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上升</a:t>
                      </a:r>
                      <a:r>
                        <a:rPr kumimoji="0" lang="en-US" altLang="zh-CN" sz="20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ms</a:t>
                      </a: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下降</a:t>
                      </a:r>
                      <a:r>
                        <a:rPr kumimoji="0" lang="en-US" altLang="zh-CN" sz="20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ms</a:t>
                      </a:r>
                      <a:endPar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暗电阻值</a:t>
                      </a:r>
                      <a: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a:t>
                      </a:r>
                      <a:b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b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MΩ</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亮电阻值</a:t>
                      </a:r>
                      <a: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a:t>
                      </a:r>
                      <a:br>
                        <a:rPr kumimoji="0" 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b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KΩ(100lx)</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 xmlns:a16="http://schemas.microsoft.com/office/drawing/2014/main" val="10001"/>
                  </a:ext>
                </a:extLst>
              </a:tr>
              <a:tr h="54927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UR-74A</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0.4~0.8</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0.54</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40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30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0.7 ~ 1.2</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-0.2</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547688">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UR-74B</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0.4~0.8</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0.54</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30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15</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1.2 ~ 4</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-0.2</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54927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UR-74C</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0.5~0.9</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0.54</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50</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100</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6</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4</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100</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0.5 ~ 2</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-0.5</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73" name="TextBox 5">
            <a:extLst>
              <a:ext uri="{FF2B5EF4-FFF2-40B4-BE49-F238E27FC236}">
                <a16:creationId xmlns="" xmlns:a16="http://schemas.microsoft.com/office/drawing/2014/main" id="{5783E4C3-A83D-4AB9-A925-95E38A0ECCD3}"/>
              </a:ext>
            </a:extLst>
          </p:cNvPr>
          <p:cNvSpPr txBox="1">
            <a:spLocks noChangeArrowheads="1"/>
          </p:cNvSpPr>
          <p:nvPr/>
        </p:nvSpPr>
        <p:spPr bwMode="auto">
          <a:xfrm>
            <a:off x="635702" y="2110238"/>
            <a:ext cx="12467743" cy="1374775"/>
          </a:xfrm>
          <a:prstGeom prst="rect">
            <a:avLst/>
          </a:prstGeom>
          <a:noFill/>
          <a:ln w="9525">
            <a:noFill/>
            <a:miter lim="800000"/>
            <a:headEnd/>
            <a:tailEnd/>
          </a:ln>
        </p:spPr>
        <p:txBody>
          <a:bodyPr wrap="square">
            <a:spAutoFit/>
          </a:bodyPr>
          <a:lstStyle/>
          <a:p>
            <a:pPr defTabSz="914400">
              <a:lnSpc>
                <a:spcPct val="150000"/>
              </a:lnSpc>
            </a:pP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       一般调整</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S</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和</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Se</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的比例，可使</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Cd</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S</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Se</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）光敏电阻的峰值响应波长大致控制在</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0.52~0.72μm</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范围内</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4" name="TextBox 7">
            <a:hlinkClick r:id="rId2" action="ppaction://hlinkfile"/>
            <a:extLst>
              <a:ext uri="{FF2B5EF4-FFF2-40B4-BE49-F238E27FC236}">
                <a16:creationId xmlns="" xmlns:a16="http://schemas.microsoft.com/office/drawing/2014/main" id="{B1992962-CD76-4EB1-A3D2-AD194207D8D7}"/>
              </a:ext>
            </a:extLst>
          </p:cNvPr>
          <p:cNvSpPr txBox="1">
            <a:spLocks noChangeArrowheads="1"/>
          </p:cNvSpPr>
          <p:nvPr/>
        </p:nvSpPr>
        <p:spPr bwMode="auto">
          <a:xfrm>
            <a:off x="11211079" y="6819237"/>
            <a:ext cx="1066800" cy="519112"/>
          </a:xfrm>
          <a:prstGeom prst="rect">
            <a:avLst/>
          </a:prstGeom>
          <a:noFill/>
          <a:ln w="9525">
            <a:noFill/>
            <a:miter lim="800000"/>
            <a:headEnd/>
            <a:tailEnd/>
          </a:ln>
        </p:spPr>
        <p:txBody>
          <a:bodyPr>
            <a:spAutoFit/>
          </a:bodyPr>
          <a:lstStyle/>
          <a:p>
            <a:pPr algn="ctr" defTabSz="914400"/>
            <a:r>
              <a:rPr kumimoji="1" lang="en-US" altLang="zh-CN" sz="2800" b="1" dirty="0" err="1">
                <a:solidFill>
                  <a:srgbClr val="0000CC"/>
                </a:solidFill>
                <a:latin typeface="Times New Roman" pitchFamily="18" charset="0"/>
                <a:ea typeface="黑体" pitchFamily="49" charset="-122"/>
                <a:cs typeface="Times New Roman" pitchFamily="18" charset="0"/>
              </a:rPr>
              <a:t>CdS</a:t>
            </a:r>
            <a:endParaRPr lang="zh-CN" altLang="en-US" sz="2800" b="1" dirty="0">
              <a:solidFill>
                <a:srgbClr val="0000CC"/>
              </a:solidFill>
              <a:latin typeface="Times New Roman" pitchFamily="18" charset="0"/>
              <a:ea typeface="黑体" pitchFamily="49" charset="-122"/>
              <a:cs typeface="Times New Roman" pitchFamily="18" charset="0"/>
            </a:endParaRPr>
          </a:p>
        </p:txBody>
      </p:sp>
      <p:grpSp>
        <p:nvGrpSpPr>
          <p:cNvPr id="14" name="组合 13"/>
          <p:cNvGrpSpPr/>
          <p:nvPr/>
        </p:nvGrpSpPr>
        <p:grpSpPr>
          <a:xfrm>
            <a:off x="10337881" y="293282"/>
            <a:ext cx="2823365" cy="523220"/>
            <a:chOff x="10337881" y="293282"/>
            <a:chExt cx="2823365" cy="523220"/>
          </a:xfrm>
        </p:grpSpPr>
        <p:sp>
          <p:nvSpPr>
            <p:cNvPr id="15" name="矩形 14"/>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6" name="矩形 15">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119780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box(in)">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box(in)">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box(in)">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checkerboard(across)">
                                      <p:cBhvr>
                                        <p:cTn id="22" dur="500"/>
                                        <p:tgtEl>
                                          <p:spTgt spid="7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box(in)">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1"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box(in)">
                                      <p:cBhvr>
                                        <p:cTn id="3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P spid="73" grpId="0"/>
      <p:bldP spid="74" grpId="0"/>
      <p:bldP spid="74"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 xmlns:a16="http://schemas.microsoft.com/office/drawing/2014/main" id="{933A5081-DBDF-46B3-A2DD-A4920A4CD5B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Text Box 3">
            <a:extLst>
              <a:ext uri="{FF2B5EF4-FFF2-40B4-BE49-F238E27FC236}">
                <a16:creationId xmlns="" xmlns:a16="http://schemas.microsoft.com/office/drawing/2014/main" id="{67A6D0DD-9847-4E52-AEE5-54D9814A859A}"/>
              </a:ext>
            </a:extLst>
          </p:cNvPr>
          <p:cNvSpPr txBox="1">
            <a:spLocks noChangeArrowheads="1"/>
          </p:cNvSpPr>
          <p:nvPr/>
        </p:nvSpPr>
        <p:spPr bwMode="auto">
          <a:xfrm>
            <a:off x="4527525" y="1132319"/>
            <a:ext cx="3733800" cy="584775"/>
          </a:xfrm>
          <a:prstGeom prst="rect">
            <a:avLst/>
          </a:prstGeom>
          <a:noFill/>
          <a:ln w="9525">
            <a:noFill/>
            <a:miter lim="800000"/>
            <a:headEnd/>
            <a:tailEnd/>
          </a:ln>
        </p:spPr>
        <p:txBody>
          <a:bodyPr>
            <a:spAutoFit/>
          </a:bodyPr>
          <a:lstStyle/>
          <a:p>
            <a:pPr algn="ctr" defTabSz="914400">
              <a:spcBef>
                <a:spcPct val="50000"/>
              </a:spcBef>
              <a:defRPr/>
            </a:pPr>
            <a:r>
              <a:rPr kumimoji="1" lang="en-US" altLang="zh-CN" sz="3200" b="1" dirty="0">
                <a:solidFill>
                  <a:srgbClr val="0000CC"/>
                </a:solidFill>
                <a:latin typeface="Times New Roman" pitchFamily="18" charset="0"/>
                <a:ea typeface="微软雅黑" pitchFamily="34" charset="-122"/>
                <a:cs typeface="Times New Roman" pitchFamily="18" charset="0"/>
              </a:rPr>
              <a:t>2. </a:t>
            </a:r>
            <a:r>
              <a:rPr kumimoji="1" lang="en-US" altLang="zh-CN" sz="3200" b="1" dirty="0" err="1">
                <a:solidFill>
                  <a:srgbClr val="0000CC"/>
                </a:solidFill>
                <a:latin typeface="Times New Roman" pitchFamily="18" charset="0"/>
                <a:ea typeface="微软雅黑" pitchFamily="34" charset="-122"/>
                <a:cs typeface="Times New Roman" pitchFamily="18" charset="0"/>
              </a:rPr>
              <a:t>PbS</a:t>
            </a:r>
            <a:r>
              <a:rPr kumimoji="1" lang="zh-CN" altLang="en-US" sz="3200" b="1" dirty="0">
                <a:solidFill>
                  <a:srgbClr val="0000CC"/>
                </a:solidFill>
                <a:latin typeface="Times New Roman" pitchFamily="18" charset="0"/>
                <a:ea typeface="微软雅黑" pitchFamily="34" charset="-122"/>
                <a:cs typeface="Times New Roman" pitchFamily="18" charset="0"/>
              </a:rPr>
              <a:t>光敏电阻 </a:t>
            </a:r>
          </a:p>
        </p:txBody>
      </p:sp>
      <p:sp>
        <p:nvSpPr>
          <p:cNvPr id="16" name="TextBox 3">
            <a:extLst>
              <a:ext uri="{FF2B5EF4-FFF2-40B4-BE49-F238E27FC236}">
                <a16:creationId xmlns="" xmlns:a16="http://schemas.microsoft.com/office/drawing/2014/main" id="{B9716FAC-1302-4411-946A-999C9E828C38}"/>
              </a:ext>
            </a:extLst>
          </p:cNvPr>
          <p:cNvSpPr txBox="1"/>
          <p:nvPr/>
        </p:nvSpPr>
        <p:spPr>
          <a:xfrm>
            <a:off x="1245236" y="4948359"/>
            <a:ext cx="1447794" cy="830997"/>
          </a:xfrm>
          <a:prstGeom prst="rect">
            <a:avLst/>
          </a:prstGeom>
          <a:solidFill>
            <a:schemeClr val="accent6">
              <a:lumMod val="60000"/>
              <a:lumOff val="40000"/>
            </a:schemeClr>
          </a:solidFill>
        </p:spPr>
        <p:txBody>
          <a:bodyPr wrap="square">
            <a:spAutoFit/>
          </a:bodyPr>
          <a:lstStyle/>
          <a:p>
            <a:pPr algn="ctr" defTabSz="914400">
              <a:defRPr/>
            </a:pPr>
            <a:r>
              <a:rPr lang="en-US" sz="2400" b="1" dirty="0">
                <a:latin typeface="Times New Roman" pitchFamily="18" charset="0"/>
                <a:ea typeface="微软雅黑" pitchFamily="34" charset="-122"/>
                <a:cs typeface="Times New Roman" pitchFamily="18" charset="0"/>
              </a:rPr>
              <a:t>PbS</a:t>
            </a:r>
          </a:p>
          <a:p>
            <a:pPr defTabSz="914400">
              <a:defRPr/>
            </a:pPr>
            <a:r>
              <a:rPr lang="zh-CN" altLang="en-US" sz="2400" b="1" dirty="0">
                <a:latin typeface="Times New Roman" pitchFamily="18" charset="0"/>
                <a:ea typeface="微软雅黑" pitchFamily="34" charset="-122"/>
                <a:cs typeface="Times New Roman" pitchFamily="18" charset="0"/>
              </a:rPr>
              <a:t>光敏电阻</a:t>
            </a:r>
          </a:p>
        </p:txBody>
      </p:sp>
      <p:sp>
        <p:nvSpPr>
          <p:cNvPr id="17" name="TextBox 4">
            <a:extLst>
              <a:ext uri="{FF2B5EF4-FFF2-40B4-BE49-F238E27FC236}">
                <a16:creationId xmlns="" xmlns:a16="http://schemas.microsoft.com/office/drawing/2014/main" id="{69DABC9B-0CD0-42A5-ADFC-56C0C7129B70}"/>
              </a:ext>
            </a:extLst>
          </p:cNvPr>
          <p:cNvSpPr txBox="1">
            <a:spLocks noChangeArrowheads="1"/>
          </p:cNvSpPr>
          <p:nvPr/>
        </p:nvSpPr>
        <p:spPr bwMode="auto">
          <a:xfrm>
            <a:off x="2899250" y="3488566"/>
            <a:ext cx="3068045" cy="1754326"/>
          </a:xfrm>
          <a:prstGeom prst="rect">
            <a:avLst/>
          </a:prstGeom>
          <a:solidFill>
            <a:schemeClr val="accent4">
              <a:lumMod val="60000"/>
              <a:lumOff val="40000"/>
            </a:schemeClr>
          </a:solidFill>
          <a:ln w="9525">
            <a:noFill/>
            <a:miter lim="800000"/>
            <a:headEnd/>
            <a:tailEnd/>
          </a:ln>
        </p:spPr>
        <p:txBody>
          <a:bodyPr wrap="square">
            <a:spAutoFit/>
          </a:bodyPr>
          <a:lstStyle/>
          <a:p>
            <a:pPr algn="ctr" defTabSz="914400">
              <a:lnSpc>
                <a:spcPct val="150000"/>
              </a:lnSpc>
            </a:pPr>
            <a:r>
              <a:rPr lang="en-US" altLang="zh-CN" sz="2400" b="1" dirty="0">
                <a:latin typeface="Times New Roman" pitchFamily="18" charset="0"/>
                <a:ea typeface="微软雅黑" pitchFamily="34" charset="-122"/>
                <a:cs typeface="Times New Roman" pitchFamily="18" charset="0"/>
              </a:rPr>
              <a:t>1~3.5um</a:t>
            </a:r>
          </a:p>
          <a:p>
            <a:pPr algn="ctr" defTabSz="914400">
              <a:lnSpc>
                <a:spcPct val="150000"/>
              </a:lnSpc>
            </a:pPr>
            <a:r>
              <a:rPr lang="zh-CN" altLang="en-US" sz="2400" b="1" dirty="0">
                <a:latin typeface="Times New Roman" pitchFamily="18" charset="0"/>
                <a:ea typeface="微软雅黑" pitchFamily="34" charset="-122"/>
                <a:cs typeface="Times New Roman" pitchFamily="18" charset="0"/>
              </a:rPr>
              <a:t>近红外波段最灵敏的光电导器件</a:t>
            </a:r>
          </a:p>
        </p:txBody>
      </p:sp>
      <p:sp>
        <p:nvSpPr>
          <p:cNvPr id="18" name="TextBox 5">
            <a:extLst>
              <a:ext uri="{FF2B5EF4-FFF2-40B4-BE49-F238E27FC236}">
                <a16:creationId xmlns="" xmlns:a16="http://schemas.microsoft.com/office/drawing/2014/main" id="{8746BEC2-9D2E-4401-A89B-501B78502CB6}"/>
              </a:ext>
            </a:extLst>
          </p:cNvPr>
          <p:cNvSpPr txBox="1">
            <a:spLocks noChangeArrowheads="1"/>
          </p:cNvSpPr>
          <p:nvPr/>
        </p:nvSpPr>
        <p:spPr bwMode="auto">
          <a:xfrm>
            <a:off x="2893803" y="5495382"/>
            <a:ext cx="3122143" cy="1754326"/>
          </a:xfrm>
          <a:prstGeom prst="rect">
            <a:avLst/>
          </a:prstGeom>
          <a:solidFill>
            <a:schemeClr val="accent4">
              <a:lumMod val="60000"/>
              <a:lumOff val="40000"/>
            </a:schemeClr>
          </a:solidFill>
          <a:ln w="9525">
            <a:noFill/>
            <a:miter lim="800000"/>
            <a:headEnd/>
            <a:tailEnd/>
          </a:ln>
        </p:spPr>
        <p:txBody>
          <a:bodyPr wrap="square">
            <a:spAutoFit/>
          </a:bodyPr>
          <a:lstStyle/>
          <a:p>
            <a:pPr algn="ctr" defTabSz="914400">
              <a:lnSpc>
                <a:spcPct val="150000"/>
              </a:lnSpc>
            </a:pPr>
            <a:r>
              <a:rPr lang="en-US" altLang="zh-CN" sz="2400" b="1" dirty="0">
                <a:latin typeface="Times New Roman" pitchFamily="18" charset="0"/>
                <a:ea typeface="微软雅黑" pitchFamily="34" charset="-122"/>
                <a:cs typeface="Times New Roman" pitchFamily="18" charset="0"/>
              </a:rPr>
              <a:t>~</a:t>
            </a:r>
            <a:r>
              <a:rPr lang="en-US" altLang="zh-CN" sz="2400" b="1" dirty="0">
                <a:solidFill>
                  <a:srgbClr val="FF0000"/>
                </a:solidFill>
                <a:latin typeface="Times New Roman" pitchFamily="18" charset="0"/>
                <a:ea typeface="微软雅黑" pitchFamily="34" charset="-122"/>
                <a:cs typeface="Times New Roman" pitchFamily="18" charset="0"/>
              </a:rPr>
              <a:t>2μm</a:t>
            </a:r>
            <a:endParaRPr lang="en-US" altLang="zh-CN" sz="2400" b="1" dirty="0">
              <a:latin typeface="Times New Roman" pitchFamily="18" charset="0"/>
              <a:ea typeface="微软雅黑" pitchFamily="34" charset="-122"/>
              <a:cs typeface="Times New Roman" pitchFamily="18" charset="0"/>
            </a:endParaRPr>
          </a:p>
          <a:p>
            <a:pPr algn="ctr" defTabSz="914400">
              <a:lnSpc>
                <a:spcPct val="150000"/>
              </a:lnSpc>
            </a:pPr>
            <a:r>
              <a:rPr lang="zh-CN" altLang="en-US" sz="2400" b="1" dirty="0">
                <a:latin typeface="Times New Roman" pitchFamily="18" charset="0"/>
                <a:ea typeface="微软雅黑" pitchFamily="34" charset="-122"/>
                <a:cs typeface="Times New Roman" pitchFamily="18" charset="0"/>
              </a:rPr>
              <a:t>红外辐射的探测灵敏度很高</a:t>
            </a:r>
            <a:endParaRPr lang="zh-CN" altLang="en-US" b="1" dirty="0">
              <a:latin typeface="Times New Roman" pitchFamily="18" charset="0"/>
              <a:ea typeface="微软雅黑" pitchFamily="34" charset="-122"/>
              <a:cs typeface="Times New Roman" pitchFamily="18" charset="0"/>
            </a:endParaRPr>
          </a:p>
        </p:txBody>
      </p:sp>
      <p:grpSp>
        <p:nvGrpSpPr>
          <p:cNvPr id="19" name="组合 18">
            <a:extLst>
              <a:ext uri="{FF2B5EF4-FFF2-40B4-BE49-F238E27FC236}">
                <a16:creationId xmlns="" xmlns:a16="http://schemas.microsoft.com/office/drawing/2014/main" id="{582351D3-1AA4-47D5-A5B2-97C944D2B957}"/>
              </a:ext>
            </a:extLst>
          </p:cNvPr>
          <p:cNvGrpSpPr/>
          <p:nvPr/>
        </p:nvGrpSpPr>
        <p:grpSpPr>
          <a:xfrm>
            <a:off x="6954435" y="2025356"/>
            <a:ext cx="5206734" cy="5161660"/>
            <a:chOff x="4356517" y="1435693"/>
            <a:chExt cx="5206734" cy="5161660"/>
          </a:xfrm>
        </p:grpSpPr>
        <p:sp>
          <p:nvSpPr>
            <p:cNvPr id="21" name="AutoShape 12">
              <a:extLst>
                <a:ext uri="{FF2B5EF4-FFF2-40B4-BE49-F238E27FC236}">
                  <a16:creationId xmlns="" xmlns:a16="http://schemas.microsoft.com/office/drawing/2014/main" id="{8955B957-A497-4968-8493-30FF5389792B}"/>
                </a:ext>
              </a:extLst>
            </p:cNvPr>
            <p:cNvSpPr>
              <a:spLocks noChangeArrowheads="1"/>
            </p:cNvSpPr>
            <p:nvPr/>
          </p:nvSpPr>
          <p:spPr bwMode="auto">
            <a:xfrm rot="14897276" flipH="1">
              <a:off x="6997700" y="2374902"/>
              <a:ext cx="2536825" cy="2120900"/>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vert="eaVert" wrap="none" anchor="ctr"/>
            <a:lstStyle/>
            <a:p>
              <a:pPr defTabSz="914400" eaLnBrk="0" hangingPunct="0"/>
              <a:endParaRPr lang="zh-CN" altLang="en-US" sz="2200" b="1">
                <a:ea typeface="楷体_GB2312" pitchFamily="49" charset="-122"/>
              </a:endParaRPr>
            </a:p>
          </p:txBody>
        </p:sp>
        <p:sp>
          <p:nvSpPr>
            <p:cNvPr id="22" name="AutoShape 12">
              <a:extLst>
                <a:ext uri="{FF2B5EF4-FFF2-40B4-BE49-F238E27FC236}">
                  <a16:creationId xmlns="" xmlns:a16="http://schemas.microsoft.com/office/drawing/2014/main" id="{33311FAA-DB8D-461B-A23B-DA397E725456}"/>
                </a:ext>
              </a:extLst>
            </p:cNvPr>
            <p:cNvSpPr>
              <a:spLocks noChangeArrowheads="1"/>
            </p:cNvSpPr>
            <p:nvPr/>
          </p:nvSpPr>
          <p:spPr bwMode="auto">
            <a:xfrm rot="10800000" flipH="1">
              <a:off x="5445125" y="1546227"/>
              <a:ext cx="2924175" cy="2154237"/>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rot="10800000" wrap="none" anchor="ctr"/>
            <a:lstStyle/>
            <a:p>
              <a:pPr defTabSz="914400" eaLnBrk="0" hangingPunct="0"/>
              <a:endParaRPr lang="zh-CN" altLang="en-US" sz="2200" b="1">
                <a:ea typeface="楷体_GB2312" pitchFamily="49" charset="-122"/>
              </a:endParaRPr>
            </a:p>
          </p:txBody>
        </p:sp>
        <p:sp>
          <p:nvSpPr>
            <p:cNvPr id="23" name="AutoShape 12">
              <a:extLst>
                <a:ext uri="{FF2B5EF4-FFF2-40B4-BE49-F238E27FC236}">
                  <a16:creationId xmlns="" xmlns:a16="http://schemas.microsoft.com/office/drawing/2014/main" id="{20DD1324-5EBD-43CE-9535-CA48F295750D}"/>
                </a:ext>
              </a:extLst>
            </p:cNvPr>
            <p:cNvSpPr>
              <a:spLocks noChangeArrowheads="1"/>
            </p:cNvSpPr>
            <p:nvPr/>
          </p:nvSpPr>
          <p:spPr bwMode="auto">
            <a:xfrm rot="6250560" flipH="1">
              <a:off x="4175919" y="2499521"/>
              <a:ext cx="2727325" cy="2135187"/>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rot="10800000" vert="eaVert" wrap="none" anchor="ctr"/>
            <a:lstStyle/>
            <a:p>
              <a:pPr defTabSz="914400" eaLnBrk="0" hangingPunct="0"/>
              <a:endParaRPr lang="zh-CN" altLang="en-US" sz="2200" b="1">
                <a:ea typeface="楷体_GB2312" pitchFamily="49" charset="-122"/>
              </a:endParaRPr>
            </a:p>
          </p:txBody>
        </p:sp>
        <p:sp>
          <p:nvSpPr>
            <p:cNvPr id="24" name="AutoShape 12">
              <a:extLst>
                <a:ext uri="{FF2B5EF4-FFF2-40B4-BE49-F238E27FC236}">
                  <a16:creationId xmlns="" xmlns:a16="http://schemas.microsoft.com/office/drawing/2014/main" id="{1D1C4E00-6229-4A49-BEAE-53A6C4C434E9}"/>
                </a:ext>
              </a:extLst>
            </p:cNvPr>
            <p:cNvSpPr>
              <a:spLocks noChangeArrowheads="1"/>
            </p:cNvSpPr>
            <p:nvPr/>
          </p:nvSpPr>
          <p:spPr bwMode="auto">
            <a:xfrm rot="18728198" flipH="1">
              <a:off x="6471444" y="3996533"/>
              <a:ext cx="2773363" cy="2117725"/>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vert="eaVert" wrap="none" anchor="ctr"/>
            <a:lstStyle/>
            <a:p>
              <a:pPr defTabSz="914400" eaLnBrk="0" hangingPunct="0"/>
              <a:endParaRPr lang="zh-CN" altLang="en-US" sz="2200" b="1">
                <a:ea typeface="楷体_GB2312" pitchFamily="49" charset="-122"/>
              </a:endParaRPr>
            </a:p>
          </p:txBody>
        </p:sp>
        <p:sp>
          <p:nvSpPr>
            <p:cNvPr id="27" name="AutoShape 12">
              <a:extLst>
                <a:ext uri="{FF2B5EF4-FFF2-40B4-BE49-F238E27FC236}">
                  <a16:creationId xmlns="" xmlns:a16="http://schemas.microsoft.com/office/drawing/2014/main" id="{849F1DFD-1488-443B-B30A-86225617B232}"/>
                </a:ext>
              </a:extLst>
            </p:cNvPr>
            <p:cNvSpPr>
              <a:spLocks noChangeArrowheads="1"/>
            </p:cNvSpPr>
            <p:nvPr/>
          </p:nvSpPr>
          <p:spPr bwMode="auto">
            <a:xfrm rot="1925912" flipH="1">
              <a:off x="4725988" y="4014789"/>
              <a:ext cx="2908300" cy="2227263"/>
            </a:xfrm>
            <a:prstGeom prst="triangle">
              <a:avLst>
                <a:gd name="adj" fmla="val 50000"/>
              </a:avLst>
            </a:prstGeom>
            <a:gradFill rotWithShape="1">
              <a:gsLst>
                <a:gs pos="0">
                  <a:srgbClr val="FF0000"/>
                </a:gs>
                <a:gs pos="100000">
                  <a:srgbClr val="FFFF66">
                    <a:alpha val="0"/>
                  </a:srgbClr>
                </a:gs>
              </a:gsLst>
              <a:lin ang="5400000" scaled="1"/>
            </a:gradFill>
            <a:ln w="9525">
              <a:noFill/>
              <a:miter lim="800000"/>
              <a:headEnd/>
              <a:tailEnd/>
            </a:ln>
          </p:spPr>
          <p:txBody>
            <a:bodyPr wrap="none" anchor="ctr"/>
            <a:lstStyle/>
            <a:p>
              <a:pPr defTabSz="914400" eaLnBrk="0" hangingPunct="0"/>
              <a:endParaRPr lang="zh-CN" altLang="en-US" sz="2200" b="1">
                <a:ea typeface="楷体_GB2312" pitchFamily="49" charset="-122"/>
              </a:endParaRPr>
            </a:p>
          </p:txBody>
        </p:sp>
        <p:sp>
          <p:nvSpPr>
            <p:cNvPr id="28" name="Oval 19">
              <a:extLst>
                <a:ext uri="{FF2B5EF4-FFF2-40B4-BE49-F238E27FC236}">
                  <a16:creationId xmlns="" xmlns:a16="http://schemas.microsoft.com/office/drawing/2014/main" id="{F5C56C2E-3794-4A6B-8DDD-02FD698DE0CA}"/>
                </a:ext>
              </a:extLst>
            </p:cNvPr>
            <p:cNvSpPr>
              <a:spLocks noChangeArrowheads="1"/>
            </p:cNvSpPr>
            <p:nvPr/>
          </p:nvSpPr>
          <p:spPr bwMode="auto">
            <a:xfrm>
              <a:off x="5830888" y="2851152"/>
              <a:ext cx="2243137" cy="2181225"/>
            </a:xfrm>
            <a:prstGeom prst="ellipse">
              <a:avLst/>
            </a:prstGeom>
            <a:solidFill>
              <a:srgbClr val="FFFF00">
                <a:alpha val="25098"/>
              </a:srgbClr>
            </a:solidFill>
            <a:ln w="12700">
              <a:solidFill>
                <a:srgbClr val="FFFF00"/>
              </a:solidFill>
              <a:round/>
              <a:headEnd/>
              <a:tailEnd/>
            </a:ln>
          </p:spPr>
          <p:txBody>
            <a:bodyPr wrap="none" anchor="ctr"/>
            <a:lstStyle/>
            <a:p>
              <a:pPr defTabSz="914400" eaLnBrk="0" hangingPunct="0"/>
              <a:endParaRPr lang="zh-CN" altLang="en-US" sz="2200" b="1">
                <a:ea typeface="楷体_GB2312" pitchFamily="49" charset="-122"/>
              </a:endParaRPr>
            </a:p>
          </p:txBody>
        </p:sp>
        <p:sp>
          <p:nvSpPr>
            <p:cNvPr id="29" name="Oval 20">
              <a:extLst>
                <a:ext uri="{FF2B5EF4-FFF2-40B4-BE49-F238E27FC236}">
                  <a16:creationId xmlns="" xmlns:a16="http://schemas.microsoft.com/office/drawing/2014/main" id="{5396627A-7EE5-4FA7-80C0-C62EC0458F86}"/>
                </a:ext>
              </a:extLst>
            </p:cNvPr>
            <p:cNvSpPr>
              <a:spLocks noChangeArrowheads="1"/>
            </p:cNvSpPr>
            <p:nvPr/>
          </p:nvSpPr>
          <p:spPr bwMode="auto">
            <a:xfrm>
              <a:off x="5919788" y="2924177"/>
              <a:ext cx="2058987" cy="2005012"/>
            </a:xfrm>
            <a:prstGeom prst="ellipse">
              <a:avLst/>
            </a:prstGeom>
            <a:solidFill>
              <a:srgbClr val="FFFF66">
                <a:alpha val="50195"/>
              </a:srgbClr>
            </a:solidFill>
            <a:ln w="57150">
              <a:solidFill>
                <a:srgbClr val="FFFF66"/>
              </a:solidFill>
              <a:round/>
              <a:headEnd/>
              <a:tailEnd/>
            </a:ln>
          </p:spPr>
          <p:txBody>
            <a:bodyPr wrap="none" anchor="ctr"/>
            <a:lstStyle/>
            <a:p>
              <a:pPr defTabSz="914400" eaLnBrk="0" hangingPunct="0"/>
              <a:endParaRPr lang="zh-CN" altLang="en-US" sz="2200" b="1">
                <a:ea typeface="楷体_GB2312" pitchFamily="49" charset="-122"/>
              </a:endParaRPr>
            </a:p>
          </p:txBody>
        </p:sp>
        <p:sp>
          <p:nvSpPr>
            <p:cNvPr id="30" name="Oval 48">
              <a:extLst>
                <a:ext uri="{FF2B5EF4-FFF2-40B4-BE49-F238E27FC236}">
                  <a16:creationId xmlns="" xmlns:a16="http://schemas.microsoft.com/office/drawing/2014/main" id="{F008E7B6-3065-4533-8CC9-8E3CAB3E11C1}"/>
                </a:ext>
              </a:extLst>
            </p:cNvPr>
            <p:cNvSpPr>
              <a:spLocks noChangeAspect="1" noChangeArrowheads="1"/>
            </p:cNvSpPr>
            <p:nvPr/>
          </p:nvSpPr>
          <p:spPr bwMode="auto">
            <a:xfrm>
              <a:off x="6065838" y="3106739"/>
              <a:ext cx="1738312" cy="1687513"/>
            </a:xfrm>
            <a:prstGeom prst="ellipse">
              <a:avLst/>
            </a:prstGeom>
            <a:solidFill>
              <a:schemeClr val="accent6">
                <a:lumMod val="20000"/>
                <a:lumOff val="80000"/>
              </a:schemeClr>
            </a:solidFill>
            <a:ln w="9525">
              <a:noFill/>
              <a:round/>
              <a:headEnd/>
              <a:tailEnd/>
            </a:ln>
          </p:spPr>
          <p:txBody>
            <a:bodyPr wrap="none" anchor="ctr"/>
            <a:lstStyle/>
            <a:p>
              <a:pPr defTabSz="914400" eaLnBrk="0" hangingPunct="0">
                <a:defRPr/>
              </a:pPr>
              <a:endParaRPr lang="zh-CN" altLang="en-US" sz="2200" b="1">
                <a:ea typeface="楷体_GB2312" pitchFamily="49" charset="-122"/>
              </a:endParaRPr>
            </a:p>
          </p:txBody>
        </p:sp>
        <p:sp>
          <p:nvSpPr>
            <p:cNvPr id="31" name="Oval 2">
              <a:extLst>
                <a:ext uri="{FF2B5EF4-FFF2-40B4-BE49-F238E27FC236}">
                  <a16:creationId xmlns="" xmlns:a16="http://schemas.microsoft.com/office/drawing/2014/main" id="{39727059-FEE3-4CA2-918A-00ED3448CA61}"/>
                </a:ext>
              </a:extLst>
            </p:cNvPr>
            <p:cNvSpPr>
              <a:spLocks noChangeAspect="1" noChangeArrowheads="1"/>
            </p:cNvSpPr>
            <p:nvPr/>
          </p:nvSpPr>
          <p:spPr bwMode="auto">
            <a:xfrm>
              <a:off x="4356517" y="1435693"/>
              <a:ext cx="5206734" cy="5161660"/>
            </a:xfrm>
            <a:prstGeom prst="ellipse">
              <a:avLst/>
            </a:prstGeom>
            <a:noFill/>
            <a:ln w="38100" cap="rnd">
              <a:solidFill>
                <a:srgbClr val="FF0000"/>
              </a:solidFill>
              <a:prstDash val="dash"/>
              <a:round/>
              <a:headEnd/>
              <a:tailEnd/>
            </a:ln>
          </p:spPr>
          <p:txBody>
            <a:bodyPr wrap="none" anchor="ctr"/>
            <a:lstStyle/>
            <a:p>
              <a:pPr defTabSz="914400" eaLnBrk="0" hangingPunct="0"/>
              <a:endParaRPr lang="zh-CN" altLang="en-US" sz="2200" b="1">
                <a:ea typeface="楷体_GB2312" pitchFamily="49" charset="-122"/>
              </a:endParaRPr>
            </a:p>
          </p:txBody>
        </p:sp>
      </p:grpSp>
      <p:grpSp>
        <p:nvGrpSpPr>
          <p:cNvPr id="32" name="组合 31">
            <a:extLst>
              <a:ext uri="{FF2B5EF4-FFF2-40B4-BE49-F238E27FC236}">
                <a16:creationId xmlns="" xmlns:a16="http://schemas.microsoft.com/office/drawing/2014/main" id="{5B117FCE-B1C8-4239-8A21-8629B3BFD478}"/>
              </a:ext>
            </a:extLst>
          </p:cNvPr>
          <p:cNvGrpSpPr/>
          <p:nvPr/>
        </p:nvGrpSpPr>
        <p:grpSpPr>
          <a:xfrm>
            <a:off x="8785976" y="2126726"/>
            <a:ext cx="1579561" cy="1311275"/>
            <a:chOff x="6132514" y="1536702"/>
            <a:chExt cx="1579561" cy="1311275"/>
          </a:xfrm>
        </p:grpSpPr>
        <p:grpSp>
          <p:nvGrpSpPr>
            <p:cNvPr id="34" name="组合 29">
              <a:extLst>
                <a:ext uri="{FF2B5EF4-FFF2-40B4-BE49-F238E27FC236}">
                  <a16:creationId xmlns="" xmlns:a16="http://schemas.microsoft.com/office/drawing/2014/main" id="{5B65D771-8772-42F4-9736-17B71EE40590}"/>
                </a:ext>
              </a:extLst>
            </p:cNvPr>
            <p:cNvGrpSpPr>
              <a:grpSpLocks/>
            </p:cNvGrpSpPr>
            <p:nvPr/>
          </p:nvGrpSpPr>
          <p:grpSpPr bwMode="auto">
            <a:xfrm>
              <a:off x="6132514" y="1536702"/>
              <a:ext cx="1579561" cy="842962"/>
              <a:chOff x="6145591" y="4340728"/>
              <a:chExt cx="1867505" cy="770971"/>
            </a:xfrm>
          </p:grpSpPr>
          <p:sp>
            <p:nvSpPr>
              <p:cNvPr id="39" name="圆角矩形 38">
                <a:extLst>
                  <a:ext uri="{FF2B5EF4-FFF2-40B4-BE49-F238E27FC236}">
                    <a16:creationId xmlns="" xmlns:a16="http://schemas.microsoft.com/office/drawing/2014/main" id="{9ED5D5C5-AA97-4150-B482-1AFFFF289002}"/>
                  </a:ext>
                </a:extLst>
              </p:cNvPr>
              <p:cNvSpPr/>
              <p:nvPr/>
            </p:nvSpPr>
            <p:spPr>
              <a:xfrm>
                <a:off x="6567029" y="4340728"/>
                <a:ext cx="1005640" cy="770971"/>
              </a:xfrm>
              <a:prstGeom prst="roundRect">
                <a:avLst/>
              </a:prstGeom>
              <a:gradFill>
                <a:gsLst>
                  <a:gs pos="0">
                    <a:srgbClr val="03D4A8"/>
                  </a:gs>
                  <a:gs pos="25000">
                    <a:srgbClr val="21D6E0"/>
                  </a:gs>
                  <a:gs pos="75000">
                    <a:srgbClr val="0087E6"/>
                  </a:gs>
                  <a:gs pos="100000">
                    <a:srgbClr val="005CB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41" name="TextBox 9">
                <a:extLst>
                  <a:ext uri="{FF2B5EF4-FFF2-40B4-BE49-F238E27FC236}">
                    <a16:creationId xmlns="" xmlns:a16="http://schemas.microsoft.com/office/drawing/2014/main" id="{58331838-BA5A-43D0-8458-C6561195B8DE}"/>
                  </a:ext>
                </a:extLst>
              </p:cNvPr>
              <p:cNvSpPr txBox="1">
                <a:spLocks noChangeArrowheads="1"/>
              </p:cNvSpPr>
              <p:nvPr/>
            </p:nvSpPr>
            <p:spPr bwMode="auto">
              <a:xfrm>
                <a:off x="6145591" y="4377026"/>
                <a:ext cx="1867505" cy="675580"/>
              </a:xfrm>
              <a:prstGeom prst="rect">
                <a:avLst/>
              </a:prstGeom>
              <a:noFill/>
              <a:ln w="9525">
                <a:noFill/>
                <a:miter lim="800000"/>
                <a:headEnd/>
                <a:tailEnd/>
              </a:ln>
            </p:spPr>
            <p:txBody>
              <a:bodyPr wrap="square" lIns="0" tIns="0" rIns="0" bIns="0">
                <a:spAutoFit/>
              </a:bodyPr>
              <a:lstStyle/>
              <a:p>
                <a:pPr algn="ctr" defTabSz="914400"/>
                <a:r>
                  <a:rPr lang="zh-CN" altLang="en-US" sz="2400" b="1" dirty="0">
                    <a:latin typeface="微软雅黑" pitchFamily="34" charset="-122"/>
                    <a:ea typeface="微软雅黑" pitchFamily="34" charset="-122"/>
                    <a:cs typeface="Times New Roman" pitchFamily="18" charset="0"/>
                  </a:rPr>
                  <a:t>红外</a:t>
                </a:r>
                <a:endParaRPr lang="en-US" altLang="zh-CN" sz="2400" b="1" dirty="0">
                  <a:latin typeface="微软雅黑" pitchFamily="34" charset="-122"/>
                  <a:ea typeface="微软雅黑" pitchFamily="34" charset="-122"/>
                  <a:cs typeface="Times New Roman" pitchFamily="18" charset="0"/>
                </a:endParaRPr>
              </a:p>
              <a:p>
                <a:pPr algn="ctr" defTabSz="914400"/>
                <a:r>
                  <a:rPr lang="zh-CN" altLang="en-US" sz="2400" b="1" dirty="0">
                    <a:latin typeface="微软雅黑" pitchFamily="34" charset="-122"/>
                    <a:ea typeface="微软雅黑" pitchFamily="34" charset="-122"/>
                    <a:cs typeface="Times New Roman" pitchFamily="18" charset="0"/>
                  </a:rPr>
                  <a:t>测温</a:t>
                </a:r>
              </a:p>
            </p:txBody>
          </p:sp>
        </p:grpSp>
        <p:grpSp>
          <p:nvGrpSpPr>
            <p:cNvPr id="36" name="组合 38">
              <a:extLst>
                <a:ext uri="{FF2B5EF4-FFF2-40B4-BE49-F238E27FC236}">
                  <a16:creationId xmlns="" xmlns:a16="http://schemas.microsoft.com/office/drawing/2014/main" id="{2066B011-BA78-482D-A8C7-01B121C444D6}"/>
                </a:ext>
              </a:extLst>
            </p:cNvPr>
            <p:cNvGrpSpPr>
              <a:grpSpLocks/>
            </p:cNvGrpSpPr>
            <p:nvPr/>
          </p:nvGrpSpPr>
          <p:grpSpPr bwMode="auto">
            <a:xfrm>
              <a:off x="6689725" y="2420939"/>
              <a:ext cx="379413" cy="427038"/>
              <a:chOff x="555577" y="982629"/>
              <a:chExt cx="379735" cy="427707"/>
            </a:xfrm>
          </p:grpSpPr>
          <p:sp>
            <p:nvSpPr>
              <p:cNvPr id="37" name="椭圆 36">
                <a:extLst>
                  <a:ext uri="{FF2B5EF4-FFF2-40B4-BE49-F238E27FC236}">
                    <a16:creationId xmlns="" xmlns:a16="http://schemas.microsoft.com/office/drawing/2014/main" id="{58BAA603-9214-4EAA-B91F-67D695820745}"/>
                  </a:ext>
                </a:extLst>
              </p:cNvPr>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38" name="TextBox 37">
                <a:extLst>
                  <a:ext uri="{FF2B5EF4-FFF2-40B4-BE49-F238E27FC236}">
                    <a16:creationId xmlns="" xmlns:a16="http://schemas.microsoft.com/office/drawing/2014/main" id="{7EA05202-36E8-4B45-905C-EE8FCD194A8C}"/>
                  </a:ext>
                </a:extLst>
              </p:cNvPr>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1</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42" name="组合 41">
            <a:extLst>
              <a:ext uri="{FF2B5EF4-FFF2-40B4-BE49-F238E27FC236}">
                <a16:creationId xmlns="" xmlns:a16="http://schemas.microsoft.com/office/drawing/2014/main" id="{118662CC-A0FC-4EB7-81DF-4AD0196EBC62}"/>
              </a:ext>
            </a:extLst>
          </p:cNvPr>
          <p:cNvGrpSpPr/>
          <p:nvPr/>
        </p:nvGrpSpPr>
        <p:grpSpPr>
          <a:xfrm>
            <a:off x="10595154" y="3493000"/>
            <a:ext cx="1513942" cy="871536"/>
            <a:chOff x="7967663" y="2858896"/>
            <a:chExt cx="1513942" cy="871536"/>
          </a:xfrm>
        </p:grpSpPr>
        <p:grpSp>
          <p:nvGrpSpPr>
            <p:cNvPr id="43" name="组合 29">
              <a:extLst>
                <a:ext uri="{FF2B5EF4-FFF2-40B4-BE49-F238E27FC236}">
                  <a16:creationId xmlns="" xmlns:a16="http://schemas.microsoft.com/office/drawing/2014/main" id="{64AEEFBB-8839-45C4-A99A-67D51D55B002}"/>
                </a:ext>
              </a:extLst>
            </p:cNvPr>
            <p:cNvGrpSpPr>
              <a:grpSpLocks/>
            </p:cNvGrpSpPr>
            <p:nvPr/>
          </p:nvGrpSpPr>
          <p:grpSpPr bwMode="auto">
            <a:xfrm>
              <a:off x="8229931" y="2858896"/>
              <a:ext cx="1251674" cy="871536"/>
              <a:chOff x="6233352" y="4308876"/>
              <a:chExt cx="1593642" cy="671052"/>
            </a:xfrm>
            <a:noFill/>
          </p:grpSpPr>
          <p:sp>
            <p:nvSpPr>
              <p:cNvPr id="47" name="圆角矩形 45">
                <a:extLst>
                  <a:ext uri="{FF2B5EF4-FFF2-40B4-BE49-F238E27FC236}">
                    <a16:creationId xmlns="" xmlns:a16="http://schemas.microsoft.com/office/drawing/2014/main" id="{BAE0C8AF-5A4B-4222-BAA5-0BFF3202C661}"/>
                  </a:ext>
                </a:extLst>
              </p:cNvPr>
              <p:cNvSpPr/>
              <p:nvPr/>
            </p:nvSpPr>
            <p:spPr>
              <a:xfrm>
                <a:off x="6501440" y="4308876"/>
                <a:ext cx="1074325" cy="671052"/>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48" name="TextBox 9">
                <a:extLst>
                  <a:ext uri="{FF2B5EF4-FFF2-40B4-BE49-F238E27FC236}">
                    <a16:creationId xmlns="" xmlns:a16="http://schemas.microsoft.com/office/drawing/2014/main" id="{A5DE8DA8-0B4A-406D-8581-6F40BD9D0BBF}"/>
                  </a:ext>
                </a:extLst>
              </p:cNvPr>
              <p:cNvSpPr txBox="1">
                <a:spLocks noChangeArrowheads="1"/>
              </p:cNvSpPr>
              <p:nvPr/>
            </p:nvSpPr>
            <p:spPr bwMode="auto">
              <a:xfrm>
                <a:off x="6233352" y="4377394"/>
                <a:ext cx="1593642" cy="568746"/>
              </a:xfrm>
              <a:prstGeom prst="rect">
                <a:avLst/>
              </a:prstGeom>
              <a:grpFill/>
              <a:ln w="9525">
                <a:noFill/>
                <a:miter lim="800000"/>
                <a:headEnd/>
                <a:tailEnd/>
              </a:ln>
            </p:spPr>
            <p:txBody>
              <a:bodyPr lIns="0" tIns="0" rIns="0" bIns="0">
                <a:spAutoFit/>
              </a:bodyPr>
              <a:lstStyle/>
              <a:p>
                <a:pPr algn="ctr" defTabSz="914400">
                  <a:defRPr/>
                </a:pPr>
                <a:r>
                  <a:rPr lang="zh-CN" altLang="en-US" sz="2400" b="1" dirty="0">
                    <a:latin typeface="微软雅黑" pitchFamily="34" charset="-122"/>
                    <a:ea typeface="微软雅黑" pitchFamily="34" charset="-122"/>
                  </a:rPr>
                  <a:t>红外</a:t>
                </a:r>
                <a:endParaRPr lang="en-US" altLang="zh-CN" sz="2400" b="1" dirty="0">
                  <a:latin typeface="微软雅黑" pitchFamily="34" charset="-122"/>
                  <a:ea typeface="微软雅黑" pitchFamily="34" charset="-122"/>
                </a:endParaRPr>
              </a:p>
              <a:p>
                <a:pPr algn="ctr" defTabSz="914400">
                  <a:defRPr/>
                </a:pPr>
                <a:r>
                  <a:rPr lang="zh-CN" altLang="en-US" sz="2400" b="1" dirty="0">
                    <a:latin typeface="微软雅黑" pitchFamily="34" charset="-122"/>
                    <a:ea typeface="微软雅黑" pitchFamily="34" charset="-122"/>
                  </a:rPr>
                  <a:t>跟踪</a:t>
                </a:r>
                <a:endParaRPr lang="zh-CN" altLang="en-US" sz="2400" b="1" dirty="0">
                  <a:latin typeface="微软雅黑" pitchFamily="34" charset="-122"/>
                  <a:ea typeface="微软雅黑" pitchFamily="34" charset="-122"/>
                  <a:cs typeface="Times New Roman" pitchFamily="18" charset="0"/>
                </a:endParaRPr>
              </a:p>
            </p:txBody>
          </p:sp>
        </p:grpSp>
        <p:grpSp>
          <p:nvGrpSpPr>
            <p:cNvPr id="44" name="组合 39">
              <a:extLst>
                <a:ext uri="{FF2B5EF4-FFF2-40B4-BE49-F238E27FC236}">
                  <a16:creationId xmlns="" xmlns:a16="http://schemas.microsoft.com/office/drawing/2014/main" id="{28F20F8D-41B6-403C-B48F-5F622DB818A4}"/>
                </a:ext>
              </a:extLst>
            </p:cNvPr>
            <p:cNvGrpSpPr>
              <a:grpSpLocks/>
            </p:cNvGrpSpPr>
            <p:nvPr/>
          </p:nvGrpSpPr>
          <p:grpSpPr bwMode="auto">
            <a:xfrm>
              <a:off x="7967663" y="3179764"/>
              <a:ext cx="379412" cy="427038"/>
              <a:chOff x="555577" y="982629"/>
              <a:chExt cx="379735" cy="427707"/>
            </a:xfrm>
          </p:grpSpPr>
          <p:sp>
            <p:nvSpPr>
              <p:cNvPr id="45" name="椭圆 44">
                <a:extLst>
                  <a:ext uri="{FF2B5EF4-FFF2-40B4-BE49-F238E27FC236}">
                    <a16:creationId xmlns="" xmlns:a16="http://schemas.microsoft.com/office/drawing/2014/main" id="{F78C82D1-8861-4D26-9911-0D79557D0790}"/>
                  </a:ext>
                </a:extLst>
              </p:cNvPr>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46" name="TextBox 41">
                <a:extLst>
                  <a:ext uri="{FF2B5EF4-FFF2-40B4-BE49-F238E27FC236}">
                    <a16:creationId xmlns="" xmlns:a16="http://schemas.microsoft.com/office/drawing/2014/main" id="{EEE32EB4-48AC-4A7F-8FC2-C50461508DA0}"/>
                  </a:ext>
                </a:extLst>
              </p:cNvPr>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2</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49" name="组合 48">
            <a:extLst>
              <a:ext uri="{FF2B5EF4-FFF2-40B4-BE49-F238E27FC236}">
                <a16:creationId xmlns="" xmlns:a16="http://schemas.microsoft.com/office/drawing/2014/main" id="{E8E0AC03-85B2-413A-86B5-AC500BA6F68C}"/>
              </a:ext>
            </a:extLst>
          </p:cNvPr>
          <p:cNvGrpSpPr/>
          <p:nvPr/>
        </p:nvGrpSpPr>
        <p:grpSpPr>
          <a:xfrm>
            <a:off x="10264626" y="5257241"/>
            <a:ext cx="1210675" cy="1172000"/>
            <a:chOff x="7688263" y="4691064"/>
            <a:chExt cx="1210675" cy="1172000"/>
          </a:xfrm>
        </p:grpSpPr>
        <p:grpSp>
          <p:nvGrpSpPr>
            <p:cNvPr id="50" name="组合 29">
              <a:extLst>
                <a:ext uri="{FF2B5EF4-FFF2-40B4-BE49-F238E27FC236}">
                  <a16:creationId xmlns="" xmlns:a16="http://schemas.microsoft.com/office/drawing/2014/main" id="{1CACE6BB-1607-4E4F-B1A1-1726C87B4F2F}"/>
                </a:ext>
              </a:extLst>
            </p:cNvPr>
            <p:cNvGrpSpPr>
              <a:grpSpLocks/>
            </p:cNvGrpSpPr>
            <p:nvPr/>
          </p:nvGrpSpPr>
          <p:grpSpPr bwMode="auto">
            <a:xfrm>
              <a:off x="8007087" y="4986764"/>
              <a:ext cx="891851" cy="876300"/>
              <a:chOff x="6112609" y="4345089"/>
              <a:chExt cx="1252163" cy="442339"/>
            </a:xfrm>
          </p:grpSpPr>
          <p:sp>
            <p:nvSpPr>
              <p:cNvPr id="54" name="圆角矩形 52">
                <a:extLst>
                  <a:ext uri="{FF2B5EF4-FFF2-40B4-BE49-F238E27FC236}">
                    <a16:creationId xmlns="" xmlns:a16="http://schemas.microsoft.com/office/drawing/2014/main" id="{7FD6548F-924D-47A6-B884-C7252B46C29D}"/>
                  </a:ext>
                </a:extLst>
              </p:cNvPr>
              <p:cNvSpPr/>
              <p:nvPr/>
            </p:nvSpPr>
            <p:spPr>
              <a:xfrm>
                <a:off x="6112609" y="4345089"/>
                <a:ext cx="1177769" cy="442339"/>
              </a:xfrm>
              <a:prstGeom prst="roundRect">
                <a:avLst/>
              </a:prstGeom>
              <a:gradFill>
                <a:gsLst>
                  <a:gs pos="0">
                    <a:srgbClr val="CCCCFF"/>
                  </a:gs>
                  <a:gs pos="17999">
                    <a:srgbClr val="99CCFF"/>
                  </a:gs>
                  <a:gs pos="36000">
                    <a:srgbClr val="9966FF"/>
                  </a:gs>
                  <a:gs pos="61000">
                    <a:srgbClr val="CC99FF"/>
                  </a:gs>
                  <a:gs pos="82001">
                    <a:srgbClr val="99CCFF"/>
                  </a:gs>
                  <a:gs pos="100000">
                    <a:srgbClr val="CCCCF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dirty="0"/>
              </a:p>
            </p:txBody>
          </p:sp>
          <p:sp>
            <p:nvSpPr>
              <p:cNvPr id="55" name="TextBox 9">
                <a:extLst>
                  <a:ext uri="{FF2B5EF4-FFF2-40B4-BE49-F238E27FC236}">
                    <a16:creationId xmlns="" xmlns:a16="http://schemas.microsoft.com/office/drawing/2014/main" id="{6DE6F98E-A8E2-4A48-BF2E-CDFB0178AF64}"/>
                  </a:ext>
                </a:extLst>
              </p:cNvPr>
              <p:cNvSpPr txBox="1">
                <a:spLocks noChangeArrowheads="1"/>
              </p:cNvSpPr>
              <p:nvPr/>
            </p:nvSpPr>
            <p:spPr bwMode="auto">
              <a:xfrm>
                <a:off x="6306752" y="4385946"/>
                <a:ext cx="1058020" cy="372863"/>
              </a:xfrm>
              <a:prstGeom prst="rect">
                <a:avLst/>
              </a:prstGeom>
              <a:noFill/>
              <a:ln w="9525">
                <a:noFill/>
                <a:miter lim="800000"/>
                <a:headEnd/>
                <a:tailEnd/>
              </a:ln>
            </p:spPr>
            <p:txBody>
              <a:bodyPr wrap="square" lIns="0" tIns="0" rIns="0" bIns="0">
                <a:spAutoFit/>
              </a:bodyPr>
              <a:lstStyle/>
              <a:p>
                <a:pPr defTabSz="914400"/>
                <a:r>
                  <a:rPr lang="zh-CN" altLang="en-US" sz="2400" b="1" dirty="0">
                    <a:latin typeface="微软雅黑" pitchFamily="34" charset="-122"/>
                    <a:ea typeface="微软雅黑" pitchFamily="34" charset="-122"/>
                  </a:rPr>
                  <a:t>红外</a:t>
                </a:r>
                <a:endParaRPr lang="en-US" altLang="zh-CN" sz="2400" b="1" dirty="0">
                  <a:latin typeface="微软雅黑" pitchFamily="34" charset="-122"/>
                  <a:ea typeface="微软雅黑" pitchFamily="34" charset="-122"/>
                </a:endParaRPr>
              </a:p>
              <a:p>
                <a:pPr defTabSz="914400"/>
                <a:r>
                  <a:rPr lang="zh-CN" altLang="en-US" sz="2400" b="1" dirty="0">
                    <a:latin typeface="微软雅黑" pitchFamily="34" charset="-122"/>
                    <a:ea typeface="微软雅黑" pitchFamily="34" charset="-122"/>
                  </a:rPr>
                  <a:t>制导</a:t>
                </a:r>
              </a:p>
            </p:txBody>
          </p:sp>
        </p:grpSp>
        <p:grpSp>
          <p:nvGrpSpPr>
            <p:cNvPr id="51" name="组合 42">
              <a:extLst>
                <a:ext uri="{FF2B5EF4-FFF2-40B4-BE49-F238E27FC236}">
                  <a16:creationId xmlns="" xmlns:a16="http://schemas.microsoft.com/office/drawing/2014/main" id="{861CA984-33BF-4E8C-B525-2281F46A0AB6}"/>
                </a:ext>
              </a:extLst>
            </p:cNvPr>
            <p:cNvGrpSpPr>
              <a:grpSpLocks/>
            </p:cNvGrpSpPr>
            <p:nvPr/>
          </p:nvGrpSpPr>
          <p:grpSpPr bwMode="auto">
            <a:xfrm>
              <a:off x="7688263" y="4691064"/>
              <a:ext cx="379412" cy="427038"/>
              <a:chOff x="555577" y="982629"/>
              <a:chExt cx="379735" cy="427707"/>
            </a:xfrm>
          </p:grpSpPr>
          <p:sp>
            <p:nvSpPr>
              <p:cNvPr id="52" name="椭圆 51">
                <a:extLst>
                  <a:ext uri="{FF2B5EF4-FFF2-40B4-BE49-F238E27FC236}">
                    <a16:creationId xmlns="" xmlns:a16="http://schemas.microsoft.com/office/drawing/2014/main" id="{B64BE0A4-966E-42D6-B7FB-84EB6C9AC96B}"/>
                  </a:ext>
                </a:extLst>
              </p:cNvPr>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53" name="TextBox 44">
                <a:extLst>
                  <a:ext uri="{FF2B5EF4-FFF2-40B4-BE49-F238E27FC236}">
                    <a16:creationId xmlns="" xmlns:a16="http://schemas.microsoft.com/office/drawing/2014/main" id="{57276720-6CA0-4364-B1FB-781249AB1CCA}"/>
                  </a:ext>
                </a:extLst>
              </p:cNvPr>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3</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56" name="组合 55">
            <a:extLst>
              <a:ext uri="{FF2B5EF4-FFF2-40B4-BE49-F238E27FC236}">
                <a16:creationId xmlns="" xmlns:a16="http://schemas.microsoft.com/office/drawing/2014/main" id="{91EF2C37-BB97-411A-A83B-494F475E101A}"/>
              </a:ext>
            </a:extLst>
          </p:cNvPr>
          <p:cNvGrpSpPr/>
          <p:nvPr/>
        </p:nvGrpSpPr>
        <p:grpSpPr>
          <a:xfrm>
            <a:off x="7742732" y="5287407"/>
            <a:ext cx="1635125" cy="1314377"/>
            <a:chOff x="5178119" y="4735514"/>
            <a:chExt cx="1635125" cy="1314377"/>
          </a:xfrm>
        </p:grpSpPr>
        <p:grpSp>
          <p:nvGrpSpPr>
            <p:cNvPr id="57" name="组合 29">
              <a:extLst>
                <a:ext uri="{FF2B5EF4-FFF2-40B4-BE49-F238E27FC236}">
                  <a16:creationId xmlns="" xmlns:a16="http://schemas.microsoft.com/office/drawing/2014/main" id="{2D2A2273-04B9-421F-BCB4-110D9CCAA44F}"/>
                </a:ext>
              </a:extLst>
            </p:cNvPr>
            <p:cNvGrpSpPr>
              <a:grpSpLocks/>
            </p:cNvGrpSpPr>
            <p:nvPr/>
          </p:nvGrpSpPr>
          <p:grpSpPr bwMode="auto">
            <a:xfrm>
              <a:off x="5178119" y="5173588"/>
              <a:ext cx="1635125" cy="876303"/>
              <a:chOff x="6365070" y="4340728"/>
              <a:chExt cx="1507588" cy="730174"/>
            </a:xfrm>
          </p:grpSpPr>
          <p:sp>
            <p:nvSpPr>
              <p:cNvPr id="61" name="圆角矩形 59">
                <a:extLst>
                  <a:ext uri="{FF2B5EF4-FFF2-40B4-BE49-F238E27FC236}">
                    <a16:creationId xmlns="" xmlns:a16="http://schemas.microsoft.com/office/drawing/2014/main" id="{44FF65F9-515C-4066-8299-32509F285B8B}"/>
                  </a:ext>
                </a:extLst>
              </p:cNvPr>
              <p:cNvSpPr/>
              <p:nvPr/>
            </p:nvSpPr>
            <p:spPr>
              <a:xfrm>
                <a:off x="6452631" y="4340728"/>
                <a:ext cx="1323712" cy="730174"/>
              </a:xfrm>
              <a:prstGeom prst="roundRect">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62" name="TextBox 9">
                <a:extLst>
                  <a:ext uri="{FF2B5EF4-FFF2-40B4-BE49-F238E27FC236}">
                    <a16:creationId xmlns="" xmlns:a16="http://schemas.microsoft.com/office/drawing/2014/main" id="{3553439E-E8D5-401D-A53F-CFF90F4A92DF}"/>
                  </a:ext>
                </a:extLst>
              </p:cNvPr>
              <p:cNvSpPr txBox="1">
                <a:spLocks noChangeArrowheads="1"/>
              </p:cNvSpPr>
              <p:nvPr/>
            </p:nvSpPr>
            <p:spPr bwMode="auto">
              <a:xfrm>
                <a:off x="6365070" y="4377766"/>
                <a:ext cx="1507588" cy="615487"/>
              </a:xfrm>
              <a:prstGeom prst="rect">
                <a:avLst/>
              </a:prstGeom>
              <a:noFill/>
              <a:ln w="9525">
                <a:noFill/>
                <a:miter lim="800000"/>
                <a:headEnd/>
                <a:tailEnd/>
              </a:ln>
            </p:spPr>
            <p:txBody>
              <a:bodyPr lIns="0" tIns="0" rIns="0" bIns="0">
                <a:spAutoFit/>
              </a:bodyPr>
              <a:lstStyle/>
              <a:p>
                <a:pPr algn="ctr" defTabSz="914400"/>
                <a:r>
                  <a:rPr lang="zh-CN" altLang="en-US" sz="2400" b="1" dirty="0">
                    <a:latin typeface="微软雅黑" pitchFamily="34" charset="-122"/>
                    <a:ea typeface="微软雅黑" pitchFamily="34" charset="-122"/>
                    <a:cs typeface="Times New Roman" pitchFamily="18" charset="0"/>
                  </a:rPr>
                  <a:t>红外</a:t>
                </a:r>
                <a:endParaRPr lang="en-US" altLang="zh-CN" sz="2400" b="1" dirty="0">
                  <a:latin typeface="微软雅黑" pitchFamily="34" charset="-122"/>
                  <a:ea typeface="微软雅黑" pitchFamily="34" charset="-122"/>
                  <a:cs typeface="Times New Roman" pitchFamily="18" charset="0"/>
                </a:endParaRPr>
              </a:p>
              <a:p>
                <a:pPr algn="ctr" defTabSz="914400"/>
                <a:r>
                  <a:rPr lang="zh-CN" altLang="en-US" sz="2400" b="1" dirty="0">
                    <a:latin typeface="微软雅黑" pitchFamily="34" charset="-122"/>
                    <a:ea typeface="微软雅黑" pitchFamily="34" charset="-122"/>
                    <a:cs typeface="Times New Roman" pitchFamily="18" charset="0"/>
                  </a:rPr>
                  <a:t>天文观察</a:t>
                </a:r>
              </a:p>
            </p:txBody>
          </p:sp>
        </p:grpSp>
        <p:grpSp>
          <p:nvGrpSpPr>
            <p:cNvPr id="58" name="组合 45">
              <a:extLst>
                <a:ext uri="{FF2B5EF4-FFF2-40B4-BE49-F238E27FC236}">
                  <a16:creationId xmlns="" xmlns:a16="http://schemas.microsoft.com/office/drawing/2014/main" id="{11FD86C9-48A5-49D5-9790-51FAEF3EE864}"/>
                </a:ext>
              </a:extLst>
            </p:cNvPr>
            <p:cNvGrpSpPr>
              <a:grpSpLocks/>
            </p:cNvGrpSpPr>
            <p:nvPr/>
          </p:nvGrpSpPr>
          <p:grpSpPr bwMode="auto">
            <a:xfrm>
              <a:off x="5865813" y="4735514"/>
              <a:ext cx="379412" cy="427038"/>
              <a:chOff x="555577" y="982629"/>
              <a:chExt cx="379735" cy="427707"/>
            </a:xfrm>
          </p:grpSpPr>
          <p:sp>
            <p:nvSpPr>
              <p:cNvPr id="59" name="椭圆 58">
                <a:extLst>
                  <a:ext uri="{FF2B5EF4-FFF2-40B4-BE49-F238E27FC236}">
                    <a16:creationId xmlns="" xmlns:a16="http://schemas.microsoft.com/office/drawing/2014/main" id="{0018CB79-A75C-488D-9771-70DCEC1C2492}"/>
                  </a:ext>
                </a:extLst>
              </p:cNvPr>
              <p:cNvSpPr>
                <a:spLocks noChangeAspect="1"/>
              </p:cNvSpPr>
              <p:nvPr/>
            </p:nvSpPr>
            <p:spPr>
              <a:xfrm>
                <a:off x="555577" y="1019199"/>
                <a:ext cx="379735" cy="380006"/>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60" name="TextBox 47">
                <a:extLst>
                  <a:ext uri="{FF2B5EF4-FFF2-40B4-BE49-F238E27FC236}">
                    <a16:creationId xmlns="" xmlns:a16="http://schemas.microsoft.com/office/drawing/2014/main" id="{BD2285BA-3330-438F-B1C1-76742C44DD0E}"/>
                  </a:ext>
                </a:extLst>
              </p:cNvPr>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4</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63" name="组合 62">
            <a:extLst>
              <a:ext uri="{FF2B5EF4-FFF2-40B4-BE49-F238E27FC236}">
                <a16:creationId xmlns="" xmlns:a16="http://schemas.microsoft.com/office/drawing/2014/main" id="{6F50EC24-1810-4F36-84E5-2D72BAFDDDCA}"/>
              </a:ext>
            </a:extLst>
          </p:cNvPr>
          <p:cNvGrpSpPr/>
          <p:nvPr/>
        </p:nvGrpSpPr>
        <p:grpSpPr>
          <a:xfrm>
            <a:off x="6985135" y="3621780"/>
            <a:ext cx="1448201" cy="836613"/>
            <a:chOff x="4365224" y="3102293"/>
            <a:chExt cx="1448201" cy="836613"/>
          </a:xfrm>
        </p:grpSpPr>
        <p:grpSp>
          <p:nvGrpSpPr>
            <p:cNvPr id="64" name="组合 29">
              <a:extLst>
                <a:ext uri="{FF2B5EF4-FFF2-40B4-BE49-F238E27FC236}">
                  <a16:creationId xmlns="" xmlns:a16="http://schemas.microsoft.com/office/drawing/2014/main" id="{30BF5446-D056-474B-847D-7A21F44F9F9E}"/>
                </a:ext>
              </a:extLst>
            </p:cNvPr>
            <p:cNvGrpSpPr>
              <a:grpSpLocks/>
            </p:cNvGrpSpPr>
            <p:nvPr/>
          </p:nvGrpSpPr>
          <p:grpSpPr bwMode="auto">
            <a:xfrm>
              <a:off x="4365224" y="3102293"/>
              <a:ext cx="1130300" cy="836613"/>
              <a:chOff x="6233338" y="4374424"/>
              <a:chExt cx="1839237" cy="535649"/>
            </a:xfrm>
          </p:grpSpPr>
          <p:sp>
            <p:nvSpPr>
              <p:cNvPr id="68" name="圆角矩形 66">
                <a:extLst>
                  <a:ext uri="{FF2B5EF4-FFF2-40B4-BE49-F238E27FC236}">
                    <a16:creationId xmlns="" xmlns:a16="http://schemas.microsoft.com/office/drawing/2014/main" id="{8D4BC9D1-B418-4EEC-A624-8A01945CA879}"/>
                  </a:ext>
                </a:extLst>
              </p:cNvPr>
              <p:cNvSpPr/>
              <p:nvPr/>
            </p:nvSpPr>
            <p:spPr>
              <a:xfrm>
                <a:off x="6443255" y="4374424"/>
                <a:ext cx="1417898" cy="535649"/>
              </a:xfrm>
              <a:prstGeom prst="roundRect">
                <a:avLst/>
              </a:prstGeom>
              <a:gradFill>
                <a:gsLst>
                  <a:gs pos="0">
                    <a:srgbClr val="FFF200"/>
                  </a:gs>
                  <a:gs pos="45000">
                    <a:srgbClr val="FF7A00"/>
                  </a:gs>
                  <a:gs pos="70000">
                    <a:srgbClr val="FF0300"/>
                  </a:gs>
                  <a:gs pos="100000">
                    <a:srgbClr val="4D0808"/>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b="1"/>
              </a:p>
            </p:txBody>
          </p:sp>
          <p:sp>
            <p:nvSpPr>
              <p:cNvPr id="75" name="TextBox 9">
                <a:extLst>
                  <a:ext uri="{FF2B5EF4-FFF2-40B4-BE49-F238E27FC236}">
                    <a16:creationId xmlns="" xmlns:a16="http://schemas.microsoft.com/office/drawing/2014/main" id="{15A482F1-D9B7-4A52-AB12-631B5003E4C4}"/>
                  </a:ext>
                </a:extLst>
              </p:cNvPr>
              <p:cNvSpPr txBox="1">
                <a:spLocks noChangeArrowheads="1"/>
              </p:cNvSpPr>
              <p:nvPr/>
            </p:nvSpPr>
            <p:spPr bwMode="auto">
              <a:xfrm>
                <a:off x="6233338" y="4394752"/>
                <a:ext cx="1839237" cy="472936"/>
              </a:xfrm>
              <a:prstGeom prst="rect">
                <a:avLst/>
              </a:prstGeom>
              <a:noFill/>
              <a:ln w="9525">
                <a:noFill/>
                <a:miter lim="800000"/>
                <a:headEnd/>
                <a:tailEnd/>
              </a:ln>
            </p:spPr>
            <p:txBody>
              <a:bodyPr lIns="0" tIns="0" rIns="0" bIns="0">
                <a:spAutoFit/>
              </a:bodyPr>
              <a:lstStyle/>
              <a:p>
                <a:pPr algn="ctr" defTabSz="914400"/>
                <a:r>
                  <a:rPr lang="zh-CN" altLang="en-US" sz="2400" b="1" dirty="0">
                    <a:latin typeface="微软雅黑" pitchFamily="34" charset="-122"/>
                    <a:ea typeface="微软雅黑" pitchFamily="34" charset="-122"/>
                  </a:rPr>
                  <a:t>红外</a:t>
                </a:r>
                <a:endParaRPr lang="en-US" altLang="zh-CN" sz="2400" b="1" dirty="0">
                  <a:latin typeface="微软雅黑" pitchFamily="34" charset="-122"/>
                  <a:ea typeface="微软雅黑" pitchFamily="34" charset="-122"/>
                </a:endParaRPr>
              </a:p>
              <a:p>
                <a:pPr algn="ctr" defTabSz="914400"/>
                <a:r>
                  <a:rPr lang="zh-CN" altLang="en-US" sz="2400" b="1" dirty="0">
                    <a:latin typeface="微软雅黑" pitchFamily="34" charset="-122"/>
                    <a:ea typeface="微软雅黑" pitchFamily="34" charset="-122"/>
                  </a:rPr>
                  <a:t>预警</a:t>
                </a:r>
              </a:p>
            </p:txBody>
          </p:sp>
        </p:grpSp>
        <p:grpSp>
          <p:nvGrpSpPr>
            <p:cNvPr id="65" name="组合 48">
              <a:extLst>
                <a:ext uri="{FF2B5EF4-FFF2-40B4-BE49-F238E27FC236}">
                  <a16:creationId xmlns="" xmlns:a16="http://schemas.microsoft.com/office/drawing/2014/main" id="{3F792369-5A49-4718-9135-41A96607A72B}"/>
                </a:ext>
              </a:extLst>
            </p:cNvPr>
            <p:cNvGrpSpPr>
              <a:grpSpLocks/>
            </p:cNvGrpSpPr>
            <p:nvPr/>
          </p:nvGrpSpPr>
          <p:grpSpPr bwMode="auto">
            <a:xfrm>
              <a:off x="5434013" y="3406777"/>
              <a:ext cx="379412" cy="427037"/>
              <a:chOff x="555577" y="982629"/>
              <a:chExt cx="379735" cy="427707"/>
            </a:xfrm>
          </p:grpSpPr>
          <p:sp>
            <p:nvSpPr>
              <p:cNvPr id="66" name="椭圆 65">
                <a:extLst>
                  <a:ext uri="{FF2B5EF4-FFF2-40B4-BE49-F238E27FC236}">
                    <a16:creationId xmlns="" xmlns:a16="http://schemas.microsoft.com/office/drawing/2014/main" id="{7C74EBC5-4FE1-4516-8F31-63BC5B6028BC}"/>
                  </a:ext>
                </a:extLst>
              </p:cNvPr>
              <p:cNvSpPr>
                <a:spLocks noChangeAspect="1"/>
              </p:cNvSpPr>
              <p:nvPr/>
            </p:nvSpPr>
            <p:spPr>
              <a:xfrm>
                <a:off x="555577" y="1019198"/>
                <a:ext cx="379735" cy="380008"/>
              </a:xfrm>
              <a:prstGeom prst="ellipse">
                <a:avLst/>
              </a:prstGeom>
              <a:solidFill>
                <a:srgbClr val="FFC000">
                  <a:alpha val="33000"/>
                </a:srgbClr>
              </a:solid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67" name="TextBox 50">
                <a:extLst>
                  <a:ext uri="{FF2B5EF4-FFF2-40B4-BE49-F238E27FC236}">
                    <a16:creationId xmlns="" xmlns:a16="http://schemas.microsoft.com/office/drawing/2014/main" id="{CD23F7FB-ACB0-4945-B625-3ADFAFA9E003}"/>
                  </a:ext>
                </a:extLst>
              </p:cNvPr>
              <p:cNvSpPr txBox="1">
                <a:spLocks noChangeArrowheads="1"/>
              </p:cNvSpPr>
              <p:nvPr/>
            </p:nvSpPr>
            <p:spPr bwMode="auto">
              <a:xfrm>
                <a:off x="665208" y="982629"/>
                <a:ext cx="219261" cy="427707"/>
              </a:xfrm>
              <a:prstGeom prst="rect">
                <a:avLst/>
              </a:prstGeom>
              <a:noFill/>
              <a:ln w="9525">
                <a:noFill/>
                <a:miter lim="800000"/>
                <a:headEnd/>
                <a:tailEnd/>
              </a:ln>
            </p:spPr>
            <p:txBody>
              <a:bodyPr lIns="0" tIns="0" rIns="0" bIns="0">
                <a:spAutoFit/>
              </a:bodyPr>
              <a:lstStyle/>
              <a:p>
                <a:pPr defTabSz="914400"/>
                <a:r>
                  <a:rPr lang="en-US" altLang="zh-CN" sz="2800" b="1">
                    <a:solidFill>
                      <a:srgbClr val="FF6600"/>
                    </a:solidFill>
                    <a:latin typeface="Times New Roman" pitchFamily="18" charset="0"/>
                    <a:ea typeface="楷体_GB2312" pitchFamily="49" charset="-122"/>
                    <a:cs typeface="Times New Roman" pitchFamily="18" charset="0"/>
                  </a:rPr>
                  <a:t>5</a:t>
                </a:r>
                <a:endParaRPr lang="zh-CN" altLang="en-US" sz="2800" b="1">
                  <a:solidFill>
                    <a:srgbClr val="FF6600"/>
                  </a:solidFill>
                  <a:latin typeface="Times New Roman" pitchFamily="18" charset="0"/>
                  <a:ea typeface="楷体_GB2312" pitchFamily="49" charset="-122"/>
                  <a:cs typeface="Times New Roman" pitchFamily="18" charset="0"/>
                </a:endParaRPr>
              </a:p>
            </p:txBody>
          </p:sp>
        </p:grpSp>
      </p:grpSp>
      <p:grpSp>
        <p:nvGrpSpPr>
          <p:cNvPr id="76" name="组合 67">
            <a:extLst>
              <a:ext uri="{FF2B5EF4-FFF2-40B4-BE49-F238E27FC236}">
                <a16:creationId xmlns="" xmlns:a16="http://schemas.microsoft.com/office/drawing/2014/main" id="{196C56BD-106E-44F9-B2FA-8C9CA456B967}"/>
              </a:ext>
            </a:extLst>
          </p:cNvPr>
          <p:cNvGrpSpPr>
            <a:grpSpLocks/>
          </p:cNvGrpSpPr>
          <p:nvPr/>
        </p:nvGrpSpPr>
        <p:grpSpPr bwMode="auto">
          <a:xfrm>
            <a:off x="8759799" y="3796007"/>
            <a:ext cx="1546225" cy="1533525"/>
            <a:chOff x="3728508" y="2516175"/>
            <a:chExt cx="1314468" cy="1226837"/>
          </a:xfrm>
        </p:grpSpPr>
        <p:sp>
          <p:nvSpPr>
            <p:cNvPr id="77" name="Oval 49">
              <a:extLst>
                <a:ext uri="{FF2B5EF4-FFF2-40B4-BE49-F238E27FC236}">
                  <a16:creationId xmlns="" xmlns:a16="http://schemas.microsoft.com/office/drawing/2014/main" id="{0B80294C-7930-42BD-BE86-80D528EC2C70}"/>
                </a:ext>
              </a:extLst>
            </p:cNvPr>
            <p:cNvSpPr>
              <a:spLocks noChangeAspect="1" noChangeArrowheads="1"/>
            </p:cNvSpPr>
            <p:nvPr/>
          </p:nvSpPr>
          <p:spPr bwMode="auto">
            <a:xfrm>
              <a:off x="3745971" y="2516175"/>
              <a:ext cx="1297005" cy="1226837"/>
            </a:xfrm>
            <a:prstGeom prst="ellipse">
              <a:avLst/>
            </a:prstGeom>
            <a:solidFill>
              <a:srgbClr val="0000FF"/>
            </a:solidFill>
            <a:ln w="9525">
              <a:noFill/>
              <a:round/>
              <a:headEnd/>
              <a:tailEnd/>
            </a:ln>
          </p:spPr>
          <p:txBody>
            <a:bodyPr wrap="none" anchor="ctr"/>
            <a:lstStyle/>
            <a:p>
              <a:pPr algn="ctr" defTabSz="914400" eaLnBrk="0" latinLnBrk="1" hangingPunct="0"/>
              <a:endParaRPr lang="zh-CN" altLang="en-US" sz="1600" b="1">
                <a:ea typeface="HY견고딕"/>
                <a:cs typeface="HY견고딕"/>
              </a:endParaRPr>
            </a:p>
          </p:txBody>
        </p:sp>
        <p:sp>
          <p:nvSpPr>
            <p:cNvPr id="78" name="TextBox 2">
              <a:extLst>
                <a:ext uri="{FF2B5EF4-FFF2-40B4-BE49-F238E27FC236}">
                  <a16:creationId xmlns="" xmlns:a16="http://schemas.microsoft.com/office/drawing/2014/main" id="{5E989C6F-FAF9-496C-9246-5183FE95C5D7}"/>
                </a:ext>
              </a:extLst>
            </p:cNvPr>
            <p:cNvSpPr txBox="1">
              <a:spLocks noChangeArrowheads="1"/>
            </p:cNvSpPr>
            <p:nvPr/>
          </p:nvSpPr>
          <p:spPr bwMode="auto">
            <a:xfrm>
              <a:off x="3728508" y="2729537"/>
              <a:ext cx="1314468" cy="787919"/>
            </a:xfrm>
            <a:prstGeom prst="rect">
              <a:avLst/>
            </a:prstGeom>
            <a:noFill/>
            <a:ln w="9525">
              <a:noFill/>
              <a:miter lim="800000"/>
              <a:headEnd/>
              <a:tailEnd/>
            </a:ln>
          </p:spPr>
          <p:txBody>
            <a:bodyPr lIns="0" tIns="0" rIns="0" bIns="0">
              <a:spAutoFit/>
            </a:bodyPr>
            <a:lstStyle/>
            <a:p>
              <a:pPr algn="ctr" defTabSz="914400"/>
              <a:r>
                <a:rPr lang="en-US" altLang="zh-CN" sz="3200" b="1" dirty="0" err="1">
                  <a:solidFill>
                    <a:schemeClr val="bg1"/>
                  </a:solidFill>
                  <a:latin typeface="Times New Roman" panose="02020603050405020304" pitchFamily="18" charset="0"/>
                  <a:ea typeface="微软雅黑" pitchFamily="34" charset="-122"/>
                  <a:cs typeface="Times New Roman" panose="02020603050405020304" pitchFamily="18" charset="0"/>
                </a:rPr>
                <a:t>PbS</a:t>
              </a:r>
              <a:endParaRPr lang="en-US" altLang="zh-CN" sz="3200" b="1" dirty="0">
                <a:solidFill>
                  <a:schemeClr val="bg1"/>
                </a:solidFill>
                <a:latin typeface="Times New Roman" panose="02020603050405020304" pitchFamily="18" charset="0"/>
                <a:ea typeface="微软雅黑" pitchFamily="34" charset="-122"/>
                <a:cs typeface="Times New Roman" panose="02020603050405020304" pitchFamily="18" charset="0"/>
              </a:endParaRPr>
            </a:p>
            <a:p>
              <a:pPr algn="ctr" defTabSz="914400"/>
              <a:r>
                <a:rPr lang="zh-CN" altLang="en-US" sz="3200" b="1" dirty="0">
                  <a:solidFill>
                    <a:schemeClr val="bg1"/>
                  </a:solidFill>
                  <a:latin typeface="Times New Roman" panose="02020603050405020304" pitchFamily="18" charset="0"/>
                  <a:ea typeface="微软雅黑" pitchFamily="34" charset="-122"/>
                  <a:cs typeface="Times New Roman" panose="02020603050405020304" pitchFamily="18" charset="0"/>
                </a:rPr>
                <a:t>应用</a:t>
              </a:r>
            </a:p>
          </p:txBody>
        </p:sp>
      </p:grpSp>
      <p:grpSp>
        <p:nvGrpSpPr>
          <p:cNvPr id="79" name="组合 78">
            <a:extLst>
              <a:ext uri="{FF2B5EF4-FFF2-40B4-BE49-F238E27FC236}">
                <a16:creationId xmlns="" xmlns:a16="http://schemas.microsoft.com/office/drawing/2014/main" id="{634416C4-F506-4F53-9346-4B792A08573A}"/>
              </a:ext>
            </a:extLst>
          </p:cNvPr>
          <p:cNvGrpSpPr/>
          <p:nvPr/>
        </p:nvGrpSpPr>
        <p:grpSpPr>
          <a:xfrm>
            <a:off x="866022" y="1694429"/>
            <a:ext cx="3810336" cy="1421867"/>
            <a:chOff x="1002873" y="1085165"/>
            <a:chExt cx="3810336" cy="1421867"/>
          </a:xfrm>
        </p:grpSpPr>
        <p:pic>
          <p:nvPicPr>
            <p:cNvPr id="80" name="图片 79">
              <a:extLst>
                <a:ext uri="{FF2B5EF4-FFF2-40B4-BE49-F238E27FC236}">
                  <a16:creationId xmlns="" xmlns:a16="http://schemas.microsoft.com/office/drawing/2014/main" id="{3F0B2B88-A85D-4FD2-BD20-D2666F8B4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873" y="1085165"/>
              <a:ext cx="1719653" cy="1421867"/>
            </a:xfrm>
            <a:prstGeom prst="rect">
              <a:avLst/>
            </a:prstGeom>
          </p:spPr>
        </p:pic>
        <p:pic>
          <p:nvPicPr>
            <p:cNvPr id="81" name="图片 80">
              <a:extLst>
                <a:ext uri="{FF2B5EF4-FFF2-40B4-BE49-F238E27FC236}">
                  <a16:creationId xmlns="" xmlns:a16="http://schemas.microsoft.com/office/drawing/2014/main" id="{D6B4D997-F2F3-49D3-86E5-B161BB1050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0066" y="1085165"/>
              <a:ext cx="2063143" cy="1405445"/>
            </a:xfrm>
            <a:prstGeom prst="rect">
              <a:avLst/>
            </a:prstGeom>
          </p:spPr>
        </p:pic>
      </p:grpSp>
      <p:grpSp>
        <p:nvGrpSpPr>
          <p:cNvPr id="70" name="组合 69"/>
          <p:cNvGrpSpPr/>
          <p:nvPr/>
        </p:nvGrpSpPr>
        <p:grpSpPr>
          <a:xfrm>
            <a:off x="10337881" y="293282"/>
            <a:ext cx="2823365" cy="523220"/>
            <a:chOff x="10337881" y="293282"/>
            <a:chExt cx="2823365" cy="523220"/>
          </a:xfrm>
        </p:grpSpPr>
        <p:sp>
          <p:nvSpPr>
            <p:cNvPr id="71" name="矩形 70"/>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72" name="矩形 71">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223561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ox(in)">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ox(in)">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ox(i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76"/>
                                        </p:tgtEl>
                                        <p:attrNameLst>
                                          <p:attrName>style.visibility</p:attrName>
                                        </p:attrNameLst>
                                      </p:cBhvr>
                                      <p:to>
                                        <p:strVal val="visible"/>
                                      </p:to>
                                    </p:set>
                                    <p:animEffect transition="in" filter="box(in)">
                                      <p:cBhvr>
                                        <p:cTn id="35" dur="500"/>
                                        <p:tgtEl>
                                          <p:spTgt spid="7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4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5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 xmlns:a16="http://schemas.microsoft.com/office/drawing/2014/main" id="{933A5081-DBDF-46B3-A2DD-A4920A4CD5B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70" name="Text Box 5">
            <a:extLst>
              <a:ext uri="{FF2B5EF4-FFF2-40B4-BE49-F238E27FC236}">
                <a16:creationId xmlns="" xmlns:a16="http://schemas.microsoft.com/office/drawing/2014/main" id="{DFCF2E58-894A-41D5-8BBC-75F426359F6C}"/>
              </a:ext>
            </a:extLst>
          </p:cNvPr>
          <p:cNvSpPr txBox="1">
            <a:spLocks noChangeArrowheads="1"/>
          </p:cNvSpPr>
          <p:nvPr/>
        </p:nvSpPr>
        <p:spPr bwMode="auto">
          <a:xfrm>
            <a:off x="864243" y="3456445"/>
            <a:ext cx="11337589" cy="1514261"/>
          </a:xfrm>
          <a:prstGeom prst="rect">
            <a:avLst/>
          </a:prstGeom>
          <a:noFill/>
          <a:ln w="9525">
            <a:noFill/>
            <a:miter lim="800000"/>
            <a:headEnd/>
            <a:tailEnd/>
          </a:ln>
        </p:spPr>
        <p:txBody>
          <a:bodyPr wrap="square">
            <a:spAutoFit/>
          </a:bodyPr>
          <a:lstStyle/>
          <a:p>
            <a:pPr defTabSz="914400">
              <a:lnSpc>
                <a:spcPct val="140000"/>
              </a:lnSpc>
              <a:spcBef>
                <a:spcPct val="50000"/>
              </a:spcBef>
            </a:pP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例如</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a:t>
            </a:r>
          </a:p>
          <a:p>
            <a:pPr defTabSz="914400">
              <a:lnSpc>
                <a:spcPct val="140000"/>
              </a:lnSpc>
              <a:spcBef>
                <a:spcPct val="50000"/>
              </a:spcBef>
            </a:pP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室温下的</a:t>
            </a:r>
            <a:r>
              <a:rPr kumimoji="1"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hlinkClick r:id="rId2" action="ppaction://hlinkfile"/>
              </a:rPr>
              <a:t>PbS</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光敏电阻的光谱响应范围为</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1~3.5μm</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，峰值波长为</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2.4μm</a:t>
            </a:r>
            <a:endPar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1" name="TextBox 6">
            <a:extLst>
              <a:ext uri="{FF2B5EF4-FFF2-40B4-BE49-F238E27FC236}">
                <a16:creationId xmlns="" xmlns:a16="http://schemas.microsoft.com/office/drawing/2014/main" id="{B243B49C-8982-472D-8B15-024B06BABF79}"/>
              </a:ext>
            </a:extLst>
          </p:cNvPr>
          <p:cNvSpPr txBox="1">
            <a:spLocks noChangeArrowheads="1"/>
          </p:cNvSpPr>
          <p:nvPr/>
        </p:nvSpPr>
        <p:spPr bwMode="auto">
          <a:xfrm>
            <a:off x="1185863" y="1156574"/>
            <a:ext cx="9849874" cy="738664"/>
          </a:xfrm>
          <a:prstGeom prst="rect">
            <a:avLst/>
          </a:prstGeom>
          <a:noFill/>
          <a:ln w="9525">
            <a:noFill/>
            <a:miter lim="800000"/>
            <a:headEnd/>
            <a:tailEnd/>
          </a:ln>
        </p:spPr>
        <p:txBody>
          <a:bodyPr wrap="square">
            <a:spAutoFit/>
          </a:bodyPr>
          <a:lstStyle/>
          <a:p>
            <a:pPr defTabSz="914400">
              <a:lnSpc>
                <a:spcPct val="150000"/>
              </a:lnSpc>
            </a:pP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rPr>
              <a:t>PbS</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光敏电阻的光谱响应和比探测率等特性与工作温度有关</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2" name="TextBox 6">
            <a:extLst>
              <a:ext uri="{FF2B5EF4-FFF2-40B4-BE49-F238E27FC236}">
                <a16:creationId xmlns="" xmlns:a16="http://schemas.microsoft.com/office/drawing/2014/main" id="{51DC44E2-52DB-4B55-A59B-927FBBC19867}"/>
              </a:ext>
            </a:extLst>
          </p:cNvPr>
          <p:cNvSpPr txBox="1">
            <a:spLocks noChangeArrowheads="1"/>
          </p:cNvSpPr>
          <p:nvPr/>
        </p:nvSpPr>
        <p:spPr bwMode="auto">
          <a:xfrm>
            <a:off x="864243" y="2143820"/>
            <a:ext cx="12045512" cy="1569660"/>
          </a:xfrm>
          <a:prstGeom prst="rect">
            <a:avLst/>
          </a:prstGeom>
          <a:noFill/>
          <a:ln w="9525">
            <a:noFill/>
            <a:miter lim="800000"/>
            <a:headEnd/>
            <a:tailEnd/>
          </a:ln>
        </p:spPr>
        <p:txBody>
          <a:bodyPr wrap="square">
            <a:spAutoFit/>
          </a:bodyPr>
          <a:lstStyle/>
          <a:p>
            <a:pPr defTabSz="914400">
              <a:lnSpc>
                <a:spcPct val="150000"/>
              </a:lnSpc>
            </a:pP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随着工作温度的</a:t>
            </a:r>
            <a:r>
              <a:rPr kumimoji="1" lang="zh-CN" altLang="en-US" sz="2800" b="1" dirty="0">
                <a:solidFill>
                  <a:srgbClr val="0000CC"/>
                </a:solidFill>
                <a:latin typeface="华文琥珀" panose="02010800040101010101" pitchFamily="2" charset="-122"/>
                <a:ea typeface="华文琥珀" panose="02010800040101010101" pitchFamily="2" charset="-122"/>
                <a:cs typeface="Times New Roman" panose="02020603050405020304" pitchFamily="18" charset="0"/>
              </a:rPr>
              <a:t>降低</a:t>
            </a:r>
            <a:r>
              <a:rPr kumimoji="1" lang="zh-CN" altLang="en-US" sz="3600" b="1" dirty="0">
                <a:solidFill>
                  <a:srgbClr val="FF0000"/>
                </a:solidFill>
                <a:latin typeface="Times New Roman" panose="02020603050405020304" pitchFamily="18" charset="0"/>
                <a:ea typeface="华文琥珀" panose="02010800040101010101" pitchFamily="2" charset="-122"/>
                <a:cs typeface="Times New Roman" panose="02020603050405020304" pitchFamily="18" charset="0"/>
              </a:rPr>
              <a:t>↓，</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2800" b="1"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峰值响应波长</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和</a:t>
            </a:r>
            <a:r>
              <a:rPr kumimoji="1" lang="zh-CN" altLang="en-US" sz="2800" b="1"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长波长</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将向长波方向延伸；</a:t>
            </a:r>
            <a:endPar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endParaRPr>
          </a:p>
          <a:p>
            <a:pPr defTabSz="914400">
              <a:lnSpc>
                <a:spcPct val="150000"/>
              </a:lnSpc>
            </a:pP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(2) </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比探测率</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D*</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增加。</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3" name="Text Box 5">
            <a:extLst>
              <a:ext uri="{FF2B5EF4-FFF2-40B4-BE49-F238E27FC236}">
                <a16:creationId xmlns="" xmlns:a16="http://schemas.microsoft.com/office/drawing/2014/main" id="{EC641DD2-D1E2-4CAF-8B44-F695044CEA85}"/>
              </a:ext>
            </a:extLst>
          </p:cNvPr>
          <p:cNvSpPr txBox="1">
            <a:spLocks noChangeArrowheads="1"/>
          </p:cNvSpPr>
          <p:nvPr/>
        </p:nvSpPr>
        <p:spPr bwMode="auto">
          <a:xfrm>
            <a:off x="749300" y="5685958"/>
            <a:ext cx="12330092" cy="695575"/>
          </a:xfrm>
          <a:prstGeom prst="rect">
            <a:avLst/>
          </a:prstGeom>
          <a:noFill/>
          <a:ln w="9525">
            <a:noFill/>
            <a:miter lim="800000"/>
            <a:headEnd/>
            <a:tailEnd/>
          </a:ln>
        </p:spPr>
        <p:txBody>
          <a:bodyPr wrap="square">
            <a:spAutoFit/>
          </a:bodyPr>
          <a:lstStyle/>
          <a:p>
            <a:pPr defTabSz="914400">
              <a:lnSpc>
                <a:spcPct val="140000"/>
              </a:lnSpc>
              <a:spcBef>
                <a:spcPct val="50000"/>
              </a:spcBef>
            </a:pP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温度降低到</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(195K)</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时，光谱响应范围为</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1~4μm</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，峰值响应波长移到</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2.8μm</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74" name="文本框 73">
            <a:extLst>
              <a:ext uri="{FF2B5EF4-FFF2-40B4-BE49-F238E27FC236}">
                <a16:creationId xmlns="" xmlns:a16="http://schemas.microsoft.com/office/drawing/2014/main" id="{283398BC-D94E-46B8-9E9C-1379D105814F}"/>
              </a:ext>
            </a:extLst>
          </p:cNvPr>
          <p:cNvSpPr txBox="1"/>
          <p:nvPr/>
        </p:nvSpPr>
        <p:spPr>
          <a:xfrm>
            <a:off x="4513007" y="5053395"/>
            <a:ext cx="6754762" cy="523220"/>
          </a:xfrm>
          <a:prstGeom prst="rect">
            <a:avLst/>
          </a:prstGeom>
          <a:solidFill>
            <a:schemeClr val="accent4">
              <a:lumMod val="20000"/>
              <a:lumOff val="80000"/>
            </a:schemeClr>
          </a:solidFill>
        </p:spPr>
        <p:txBody>
          <a:bodyPr wrap="square" rtlCol="0">
            <a:spAutoFit/>
          </a:bodyPr>
          <a:lstStyle/>
          <a:p>
            <a:r>
              <a:rPr lang="zh-CN" altLang="zh-CN" sz="2800" b="1" dirty="0">
                <a:latin typeface="Times New Roman" panose="02020603050405020304" pitchFamily="18" charset="0"/>
                <a:ea typeface="微软雅黑" panose="020B0503020204020204" pitchFamily="34" charset="-122"/>
                <a:cs typeface="Times New Roman" panose="02020603050405020304" pitchFamily="18" charset="0"/>
              </a:rPr>
              <a:t>峰值比探测率</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2800" b="1" dirty="0">
                <a:latin typeface="Times New Roman" panose="02020603050405020304" pitchFamily="18" charset="0"/>
                <a:ea typeface="微软雅黑" panose="020B0503020204020204" pitchFamily="34" charset="-122"/>
                <a:cs typeface="Times New Roman" panose="02020603050405020304" pitchFamily="18" charset="0"/>
              </a:rPr>
              <a:t>高达</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1×10</a:t>
            </a:r>
            <a:r>
              <a:rPr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11</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cm·Hz</a:t>
            </a:r>
            <a:r>
              <a:rPr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1/2</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2" name="文本框 81">
            <a:extLst>
              <a:ext uri="{FF2B5EF4-FFF2-40B4-BE49-F238E27FC236}">
                <a16:creationId xmlns="" xmlns:a16="http://schemas.microsoft.com/office/drawing/2014/main" id="{76481244-F0F8-4F0F-8F77-35A6CCD49FCB}"/>
              </a:ext>
            </a:extLst>
          </p:cNvPr>
          <p:cNvSpPr txBox="1"/>
          <p:nvPr/>
        </p:nvSpPr>
        <p:spPr>
          <a:xfrm>
            <a:off x="4513007" y="6472623"/>
            <a:ext cx="8396748" cy="523220"/>
          </a:xfrm>
          <a:prstGeom prst="rect">
            <a:avLst/>
          </a:prstGeom>
          <a:solidFill>
            <a:schemeClr val="accent4">
              <a:lumMod val="20000"/>
              <a:lumOff val="80000"/>
            </a:schemeClr>
          </a:solidFill>
        </p:spPr>
        <p:txBody>
          <a:bodyPr wrap="square" rtlCol="0">
            <a:spAutoFit/>
          </a:bodyPr>
          <a:lstStyle/>
          <a:p>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峰值波长的比探测率</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也增加到</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2×10</a:t>
            </a:r>
            <a:r>
              <a:rPr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11</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cm·Hz</a:t>
            </a:r>
            <a:r>
              <a:rPr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1/2</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5" name="组合 14"/>
          <p:cNvGrpSpPr/>
          <p:nvPr/>
        </p:nvGrpSpPr>
        <p:grpSpPr>
          <a:xfrm>
            <a:off x="10337881" y="293282"/>
            <a:ext cx="2823365" cy="523220"/>
            <a:chOff x="10337881" y="293282"/>
            <a:chExt cx="2823365" cy="523220"/>
          </a:xfrm>
        </p:grpSpPr>
        <p:sp>
          <p:nvSpPr>
            <p:cNvPr id="16" name="矩形 15"/>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7" name="矩形 16">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54730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box(in)">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box(in)">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box(in)">
                                      <p:cBhvr>
                                        <p:cTn id="17" dur="500"/>
                                        <p:tgtEl>
                                          <p:spTgt spid="7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box(in)">
                                      <p:cBhvr>
                                        <p:cTn id="26" dur="500"/>
                                        <p:tgtEl>
                                          <p:spTgt spid="7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P spid="72" grpId="0"/>
      <p:bldP spid="73" grpId="0"/>
      <p:bldP spid="74" grpId="0" animBg="1"/>
      <p:bldP spid="8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 xmlns:a16="http://schemas.microsoft.com/office/drawing/2014/main" id="{933A5081-DBDF-46B3-A2DD-A4920A4CD5B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16" name="表格 15">
            <a:extLst>
              <a:ext uri="{FF2B5EF4-FFF2-40B4-BE49-F238E27FC236}">
                <a16:creationId xmlns="" xmlns:a16="http://schemas.microsoft.com/office/drawing/2014/main" id="{12CD725D-ADB8-417A-8E46-85E15197FEB6}"/>
              </a:ext>
            </a:extLst>
          </p:cNvPr>
          <p:cNvGraphicFramePr>
            <a:graphicFrameLocks noGrp="1"/>
          </p:cNvGraphicFramePr>
          <p:nvPr>
            <p:extLst>
              <p:ext uri="{D42A27DB-BD31-4B8C-83A1-F6EECF244321}">
                <p14:modId xmlns:p14="http://schemas.microsoft.com/office/powerpoint/2010/main" val="2870170268"/>
              </p:ext>
            </p:extLst>
          </p:nvPr>
        </p:nvGraphicFramePr>
        <p:xfrm>
          <a:off x="780107" y="1980465"/>
          <a:ext cx="12431211" cy="3698493"/>
        </p:xfrm>
        <a:graphic>
          <a:graphicData uri="http://schemas.openxmlformats.org/drawingml/2006/table">
            <a:tbl>
              <a:tblPr/>
              <a:tblGrid>
                <a:gridCol w="1145101">
                  <a:extLst>
                    <a:ext uri="{9D8B030D-6E8A-4147-A177-3AD203B41FA5}">
                      <a16:colId xmlns="" xmlns:a16="http://schemas.microsoft.com/office/drawing/2014/main" val="20000"/>
                    </a:ext>
                  </a:extLst>
                </a:gridCol>
                <a:gridCol w="1078685">
                  <a:extLst>
                    <a:ext uri="{9D8B030D-6E8A-4147-A177-3AD203B41FA5}">
                      <a16:colId xmlns="" xmlns:a16="http://schemas.microsoft.com/office/drawing/2014/main" val="20001"/>
                    </a:ext>
                  </a:extLst>
                </a:gridCol>
                <a:gridCol w="1168003">
                  <a:extLst>
                    <a:ext uri="{9D8B030D-6E8A-4147-A177-3AD203B41FA5}">
                      <a16:colId xmlns="" xmlns:a16="http://schemas.microsoft.com/office/drawing/2014/main" val="20002"/>
                    </a:ext>
                  </a:extLst>
                </a:gridCol>
                <a:gridCol w="829053">
                  <a:extLst>
                    <a:ext uri="{9D8B030D-6E8A-4147-A177-3AD203B41FA5}">
                      <a16:colId xmlns="" xmlns:a16="http://schemas.microsoft.com/office/drawing/2014/main" val="20003"/>
                    </a:ext>
                  </a:extLst>
                </a:gridCol>
                <a:gridCol w="1701618">
                  <a:extLst>
                    <a:ext uri="{9D8B030D-6E8A-4147-A177-3AD203B41FA5}">
                      <a16:colId xmlns="" xmlns:a16="http://schemas.microsoft.com/office/drawing/2014/main" val="20004"/>
                    </a:ext>
                  </a:extLst>
                </a:gridCol>
                <a:gridCol w="1809259">
                  <a:extLst>
                    <a:ext uri="{9D8B030D-6E8A-4147-A177-3AD203B41FA5}">
                      <a16:colId xmlns="" xmlns:a16="http://schemas.microsoft.com/office/drawing/2014/main" val="20005"/>
                    </a:ext>
                  </a:extLst>
                </a:gridCol>
                <a:gridCol w="1264191">
                  <a:extLst>
                    <a:ext uri="{9D8B030D-6E8A-4147-A177-3AD203B41FA5}">
                      <a16:colId xmlns="" xmlns:a16="http://schemas.microsoft.com/office/drawing/2014/main" val="20006"/>
                    </a:ext>
                  </a:extLst>
                </a:gridCol>
                <a:gridCol w="904630">
                  <a:extLst>
                    <a:ext uri="{9D8B030D-6E8A-4147-A177-3AD203B41FA5}">
                      <a16:colId xmlns="" xmlns:a16="http://schemas.microsoft.com/office/drawing/2014/main" val="20007"/>
                    </a:ext>
                  </a:extLst>
                </a:gridCol>
                <a:gridCol w="1266480">
                  <a:extLst>
                    <a:ext uri="{9D8B030D-6E8A-4147-A177-3AD203B41FA5}">
                      <a16:colId xmlns="" xmlns:a16="http://schemas.microsoft.com/office/drawing/2014/main" val="20008"/>
                    </a:ext>
                  </a:extLst>
                </a:gridCol>
                <a:gridCol w="1264191">
                  <a:extLst>
                    <a:ext uri="{9D8B030D-6E8A-4147-A177-3AD203B41FA5}">
                      <a16:colId xmlns="" xmlns:a16="http://schemas.microsoft.com/office/drawing/2014/main" val="20009"/>
                    </a:ext>
                  </a:extLst>
                </a:gridCol>
              </a:tblGrid>
              <a:tr h="2105538">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类型</a:t>
                      </a: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序号</a:t>
                      </a: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50800" marR="0" lvl="0" indent="5715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工作面积</a:t>
                      </a:r>
                    </a:p>
                    <a:p>
                      <a:pPr marL="50800" marR="0" lvl="0" indent="5715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(mm</a:t>
                      </a:r>
                      <a:r>
                        <a:rPr kumimoji="0" lang="en-US" altLang="zh-CN" sz="1800" b="1" i="0" u="none" strike="noStrike" cap="none" normalizeH="0" baseline="30000" dirty="0">
                          <a:ln>
                            <a:noFill/>
                          </a:ln>
                          <a:solidFill>
                            <a:schemeClr val="tx1"/>
                          </a:solidFill>
                          <a:effectLst/>
                          <a:latin typeface="Times New Roman" pitchFamily="18" charset="0"/>
                          <a:ea typeface="微软雅黑" pitchFamily="34" charset="-122"/>
                          <a:cs typeface="Times New Roman" pitchFamily="18" charset="0"/>
                        </a:rPr>
                        <a:t>2</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 )</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波长</a:t>
                      </a:r>
                      <a:r>
                        <a:rPr kumimoji="0" 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p>
                      <a:pPr marL="114300" marR="0" lvl="0" indent="-11430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a:t>
                      </a:r>
                      <a:r>
                        <a:rPr kumimoji="0" lang="en-US" altLang="zh-CN" sz="1800" b="1" i="0" u="none" strike="noStrike" cap="none" normalizeH="0" baseline="0" dirty="0" err="1">
                          <a:ln>
                            <a:noFill/>
                          </a:ln>
                          <a:solidFill>
                            <a:schemeClr val="tx1"/>
                          </a:solidFill>
                          <a:effectLst/>
                          <a:latin typeface="Times New Roman" pitchFamily="18" charset="0"/>
                          <a:ea typeface="微软雅黑" pitchFamily="34" charset="-122"/>
                          <a:cs typeface="Times New Roman" pitchFamily="18" charset="0"/>
                        </a:rPr>
                        <a:t>μm</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D* ( ,750,1)</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(cm·Hz1/2W-1)</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黑体</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D*</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(500K,750,1)</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(min)</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(cm·Hz1/2·W-1)</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1430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灵敏度</a:t>
                      </a:r>
                    </a:p>
                    <a:p>
                      <a:pPr marL="0" marR="0" lvl="0" indent="11430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 </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p>
                      <a:pPr marL="0" marR="0" lvl="0" indent="11430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(min)</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p>
                      <a:pPr marL="0" marR="0" lvl="0" indent="11430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(V/W)</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57150" marR="0" lvl="0" indent="-5715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电阻</a:t>
                      </a:r>
                    </a:p>
                    <a:p>
                      <a:pPr marL="57150" marR="0" lvl="0" indent="-5715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(M)</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57150" marR="0" lvl="0" indent="-5715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时间常数</a:t>
                      </a:r>
                    </a:p>
                    <a:p>
                      <a:pPr marL="57150" marR="0" lvl="0" indent="-5715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(μS)</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工作温度</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(K)</a:t>
                      </a:r>
                      <a:endParaRPr kumimoji="0" lang="zh-CN"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30328">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PS3-0-01</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1100012</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1×1</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2.5</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7.7*10</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10</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7.7*10</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8</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3*10</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5</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0.5</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2.5</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150</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350</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298</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532299">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PS3-0-02</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1100020</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2×2</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1.5*10</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5</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 xmlns:a16="http://schemas.microsoft.com/office/drawing/2014/main" val="10002"/>
                  </a:ext>
                </a:extLst>
              </a:tr>
              <a:tr h="530328">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PS3-0-03</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1100025</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3×3</a:t>
                      </a:r>
                      <a:endParaRPr kumimoji="0" lang="zh-CN"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1*10</a:t>
                      </a:r>
                      <a:r>
                        <a:rPr kumimoji="0" lang="en-US" altLang="zh-CN" sz="1800" b="1" i="0" u="none" strike="noStrike" cap="none" normalizeH="0" baseline="30000" dirty="0">
                          <a:ln>
                            <a:noFill/>
                          </a:ln>
                          <a:solidFill>
                            <a:schemeClr val="tx1"/>
                          </a:solidFill>
                          <a:effectLst/>
                          <a:latin typeface="Times New Roman" pitchFamily="18" charset="0"/>
                          <a:ea typeface="微软雅黑" pitchFamily="34" charset="-122"/>
                          <a:cs typeface="Times New Roman" pitchFamily="18" charset="0"/>
                        </a:rPr>
                        <a:t>5</a:t>
                      </a:r>
                      <a:endPar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txBody>
                  <a:tcPr marL="67546" marR="6754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 xmlns:a16="http://schemas.microsoft.com/office/drawing/2014/main" val="10003"/>
                  </a:ext>
                </a:extLst>
              </a:tr>
            </a:tbl>
          </a:graphicData>
        </a:graphic>
      </p:graphicFrame>
      <p:grpSp>
        <p:nvGrpSpPr>
          <p:cNvPr id="10" name="组合 9"/>
          <p:cNvGrpSpPr/>
          <p:nvPr/>
        </p:nvGrpSpPr>
        <p:grpSpPr>
          <a:xfrm>
            <a:off x="10337881" y="293282"/>
            <a:ext cx="2823365" cy="523220"/>
            <a:chOff x="10337881" y="293282"/>
            <a:chExt cx="2823365" cy="523220"/>
          </a:xfrm>
        </p:grpSpPr>
        <p:sp>
          <p:nvSpPr>
            <p:cNvPr id="12" name="矩形 11"/>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3" name="矩形 12">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2949292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 xmlns:a16="http://schemas.microsoft.com/office/drawing/2014/main" id="{933A5081-DBDF-46B3-A2DD-A4920A4CD5B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3">
            <a:extLst>
              <a:ext uri="{FF2B5EF4-FFF2-40B4-BE49-F238E27FC236}">
                <a16:creationId xmlns="" xmlns:a16="http://schemas.microsoft.com/office/drawing/2014/main" id="{4B467D9B-44EF-455E-B464-735B9320F45C}"/>
              </a:ext>
            </a:extLst>
          </p:cNvPr>
          <p:cNvSpPr txBox="1">
            <a:spLocks noChangeArrowheads="1"/>
          </p:cNvSpPr>
          <p:nvPr/>
        </p:nvSpPr>
        <p:spPr bwMode="auto">
          <a:xfrm>
            <a:off x="4477038" y="1017346"/>
            <a:ext cx="3733800" cy="584775"/>
          </a:xfrm>
          <a:prstGeom prst="rect">
            <a:avLst/>
          </a:prstGeom>
          <a:noFill/>
          <a:ln w="9525">
            <a:noFill/>
            <a:miter lim="800000"/>
            <a:headEnd/>
            <a:tailEnd/>
          </a:ln>
        </p:spPr>
        <p:txBody>
          <a:bodyPr>
            <a:spAutoFit/>
          </a:bodyPr>
          <a:lstStyle/>
          <a:p>
            <a:pPr algn="ctr" defTabSz="914400">
              <a:spcBef>
                <a:spcPct val="50000"/>
              </a:spcBef>
              <a:defRPr/>
            </a:pPr>
            <a:r>
              <a:rPr kumimoji="1" lang="en-US" altLang="zh-CN" sz="32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3.InSb</a:t>
            </a:r>
            <a:r>
              <a:rPr kumimoji="1" lang="zh-CN" altLang="en-US" sz="32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光敏电阻 </a:t>
            </a:r>
          </a:p>
        </p:txBody>
      </p:sp>
      <p:sp>
        <p:nvSpPr>
          <p:cNvPr id="13" name="Text Box 3">
            <a:extLst>
              <a:ext uri="{FF2B5EF4-FFF2-40B4-BE49-F238E27FC236}">
                <a16:creationId xmlns="" xmlns:a16="http://schemas.microsoft.com/office/drawing/2014/main" id="{A337BE87-CDE6-4F23-801A-58DAAA086A55}"/>
              </a:ext>
            </a:extLst>
          </p:cNvPr>
          <p:cNvSpPr txBox="1">
            <a:spLocks noChangeArrowheads="1"/>
          </p:cNvSpPr>
          <p:nvPr/>
        </p:nvSpPr>
        <p:spPr bwMode="auto">
          <a:xfrm>
            <a:off x="1041269" y="1772479"/>
            <a:ext cx="10865595" cy="461665"/>
          </a:xfrm>
          <a:prstGeom prst="rect">
            <a:avLst/>
          </a:prstGeom>
          <a:noFill/>
          <a:ln w="9525">
            <a:noFill/>
            <a:miter lim="800000"/>
            <a:headEnd/>
            <a:tailEnd/>
          </a:ln>
        </p:spPr>
        <p:txBody>
          <a:bodyPr wrap="square">
            <a:spAutoFit/>
          </a:bodyPr>
          <a:lstStyle/>
          <a:p>
            <a:pPr defTabSz="914400">
              <a:spcBef>
                <a:spcPct val="50000"/>
              </a:spcBef>
            </a:pPr>
            <a:r>
              <a:rPr kumimoji="1" lang="en-US" altLang="zh-CN" sz="2400" b="1" dirty="0" err="1">
                <a:latin typeface="Times New Roman" panose="02020603050405020304" pitchFamily="18" charset="0"/>
                <a:ea typeface="微软雅黑" panose="020B0503020204020204" pitchFamily="34" charset="-122"/>
                <a:cs typeface="Times New Roman" panose="02020603050405020304" pitchFamily="18" charset="0"/>
              </a:rPr>
              <a:t>InSb</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光敏电阻的光谱范围</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1~7.5μm</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，是探测</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3~5um</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光谱范围内的主要探测器之一。</a:t>
            </a:r>
          </a:p>
        </p:txBody>
      </p:sp>
      <p:sp>
        <p:nvSpPr>
          <p:cNvPr id="14" name="Text Box 4">
            <a:extLst>
              <a:ext uri="{FF2B5EF4-FFF2-40B4-BE49-F238E27FC236}">
                <a16:creationId xmlns="" xmlns:a16="http://schemas.microsoft.com/office/drawing/2014/main" id="{C5C32FE7-DD13-4C70-BBA1-C46E633AC9EC}"/>
              </a:ext>
            </a:extLst>
          </p:cNvPr>
          <p:cNvSpPr txBox="1">
            <a:spLocks noChangeArrowheads="1"/>
          </p:cNvSpPr>
          <p:nvPr/>
        </p:nvSpPr>
        <p:spPr bwMode="auto">
          <a:xfrm>
            <a:off x="1041269" y="2433576"/>
            <a:ext cx="10070519" cy="572464"/>
          </a:xfrm>
          <a:prstGeom prst="rect">
            <a:avLst/>
          </a:prstGeom>
          <a:noFill/>
          <a:ln w="9525">
            <a:noFill/>
            <a:miter lim="800000"/>
            <a:headEnd/>
            <a:tailEnd/>
          </a:ln>
        </p:spPr>
        <p:txBody>
          <a:bodyPr wrap="square">
            <a:spAutoFit/>
          </a:bodyPr>
          <a:lstStyle/>
          <a:p>
            <a:pPr defTabSz="914400">
              <a:lnSpc>
                <a:spcPct val="130000"/>
              </a:lnSpc>
              <a:spcBef>
                <a:spcPct val="50000"/>
              </a:spcBef>
            </a:pPr>
            <a:r>
              <a:rPr kumimoji="1" lang="en-US" altLang="zh-CN" sz="2400" b="1" dirty="0" err="1">
                <a:latin typeface="Times New Roman" panose="02020603050405020304" pitchFamily="18" charset="0"/>
                <a:ea typeface="微软雅黑" panose="020B0503020204020204" pitchFamily="34" charset="-122"/>
                <a:cs typeface="Times New Roman" panose="02020603050405020304" pitchFamily="18" charset="0"/>
              </a:rPr>
              <a:t>InSb</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材料不仅适用于制造</a:t>
            </a:r>
            <a:r>
              <a:rPr kumimoji="1"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单元</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探测器件，也适宜制造</a:t>
            </a:r>
            <a:r>
              <a:rPr kumimoji="1"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阵列</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红外探测器件。 </a:t>
            </a:r>
          </a:p>
        </p:txBody>
      </p:sp>
      <p:sp>
        <p:nvSpPr>
          <p:cNvPr id="15" name="Text Box 5">
            <a:extLst>
              <a:ext uri="{FF2B5EF4-FFF2-40B4-BE49-F238E27FC236}">
                <a16:creationId xmlns="" xmlns:a16="http://schemas.microsoft.com/office/drawing/2014/main" id="{3E7CD0DA-84B7-4F75-93EB-F086C7741126}"/>
              </a:ext>
            </a:extLst>
          </p:cNvPr>
          <p:cNvSpPr txBox="1">
            <a:spLocks noChangeArrowheads="1"/>
          </p:cNvSpPr>
          <p:nvPr/>
        </p:nvSpPr>
        <p:spPr bwMode="auto">
          <a:xfrm>
            <a:off x="960190" y="3205472"/>
            <a:ext cx="10081436" cy="1311128"/>
          </a:xfrm>
          <a:prstGeom prst="rect">
            <a:avLst/>
          </a:prstGeom>
          <a:noFill/>
          <a:ln w="9525">
            <a:noFill/>
            <a:miter lim="800000"/>
            <a:headEnd/>
            <a:tailEnd/>
          </a:ln>
        </p:spPr>
        <p:txBody>
          <a:bodyPr wrap="square">
            <a:spAutoFit/>
          </a:bodyPr>
          <a:lstStyle/>
          <a:p>
            <a:pPr defTabSz="914400">
              <a:lnSpc>
                <a:spcPct val="140000"/>
              </a:lnSpc>
              <a:spcBef>
                <a:spcPct val="50000"/>
              </a:spcBef>
            </a:pPr>
            <a:r>
              <a:rPr kumimoji="1" lang="en-US" altLang="zh-CN" sz="2400" b="1" dirty="0" err="1">
                <a:latin typeface="Times New Roman" panose="02020603050405020304" pitchFamily="18" charset="0"/>
                <a:ea typeface="微软雅黑" panose="020B0503020204020204" pitchFamily="34" charset="-122"/>
                <a:cs typeface="Times New Roman" panose="02020603050405020304" pitchFamily="18" charset="0"/>
              </a:rPr>
              <a:t>InSb</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光敏电阻</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p>
          <a:p>
            <a:pPr defTabSz="914400">
              <a:lnSpc>
                <a:spcPct val="140000"/>
              </a:lnSpc>
              <a:spcBef>
                <a:spcPct val="50000"/>
              </a:spcBef>
            </a:pP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室温下的长波长可达</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7.5μm</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，峰值波长在</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6μm</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附近</a:t>
            </a:r>
          </a:p>
        </p:txBody>
      </p:sp>
      <p:sp>
        <p:nvSpPr>
          <p:cNvPr id="17" name="Text Box 5">
            <a:extLst>
              <a:ext uri="{FF2B5EF4-FFF2-40B4-BE49-F238E27FC236}">
                <a16:creationId xmlns="" xmlns:a16="http://schemas.microsoft.com/office/drawing/2014/main" id="{D2CF0CB1-826C-42D6-8A36-2D34893102DE}"/>
              </a:ext>
            </a:extLst>
          </p:cNvPr>
          <p:cNvSpPr txBox="1">
            <a:spLocks noChangeArrowheads="1"/>
          </p:cNvSpPr>
          <p:nvPr/>
        </p:nvSpPr>
        <p:spPr bwMode="auto">
          <a:xfrm>
            <a:off x="1041269" y="5380240"/>
            <a:ext cx="12126108" cy="1126462"/>
          </a:xfrm>
          <a:prstGeom prst="rect">
            <a:avLst/>
          </a:prstGeom>
          <a:noFill/>
          <a:ln w="9525">
            <a:noFill/>
            <a:miter lim="800000"/>
            <a:headEnd/>
            <a:tailEnd/>
          </a:ln>
        </p:spPr>
        <p:txBody>
          <a:bodyPr wrap="square">
            <a:spAutoFit/>
          </a:bodyPr>
          <a:lstStyle/>
          <a:p>
            <a:pPr marL="452438" indent="-452438" defTabSz="914400">
              <a:lnSpc>
                <a:spcPct val="140000"/>
              </a:lnSpc>
              <a:spcBef>
                <a:spcPct val="50000"/>
              </a:spcBef>
            </a:pP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(2) </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当温度降低到</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77K</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时，其长波长由</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7.5μm</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缩短到</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5.5μm</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，峰值波长也将移至</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5μm</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，恰为大气的窗口范围。 </a:t>
            </a:r>
          </a:p>
        </p:txBody>
      </p:sp>
      <p:sp>
        <p:nvSpPr>
          <p:cNvPr id="18" name="Text Box 4">
            <a:extLst>
              <a:ext uri="{FF2B5EF4-FFF2-40B4-BE49-F238E27FC236}">
                <a16:creationId xmlns="" xmlns:a16="http://schemas.microsoft.com/office/drawing/2014/main" id="{654409D7-9B13-475F-B6E5-BC648B940AE9}"/>
              </a:ext>
            </a:extLst>
          </p:cNvPr>
          <p:cNvSpPr txBox="1">
            <a:spLocks noChangeArrowheads="1"/>
          </p:cNvSpPr>
          <p:nvPr/>
        </p:nvSpPr>
        <p:spPr bwMode="auto">
          <a:xfrm>
            <a:off x="5187974" y="4673327"/>
            <a:ext cx="5244053" cy="572464"/>
          </a:xfrm>
          <a:prstGeom prst="rect">
            <a:avLst/>
          </a:prstGeom>
          <a:noFill/>
          <a:ln w="9525">
            <a:noFill/>
            <a:miter lim="800000"/>
            <a:headEnd/>
            <a:tailEnd/>
          </a:ln>
        </p:spPr>
        <p:txBody>
          <a:bodyPr wrap="square">
            <a:spAutoFit/>
          </a:bodyPr>
          <a:lstStyle/>
          <a:p>
            <a:pPr defTabSz="914400">
              <a:lnSpc>
                <a:spcPct val="130000"/>
              </a:lnSpc>
              <a:spcBef>
                <a:spcPct val="50000"/>
              </a:spcBef>
            </a:pPr>
            <a:r>
              <a:rPr kumimoji="1"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比探测率</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kumimoji="1"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约为</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1×10</a:t>
            </a:r>
            <a:r>
              <a:rPr kumimoji="1" lang="en-US" altLang="zh-CN" sz="2400" b="1"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11</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cm•Hz</a:t>
            </a:r>
            <a:r>
              <a:rPr kumimoji="1" lang="en-US" altLang="zh-CN" sz="2400" b="1"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1/2</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•W</a:t>
            </a:r>
            <a:r>
              <a:rPr kumimoji="1" lang="en-US" altLang="zh-CN" sz="2400" b="1"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endParaRPr kumimoji="1" lang="zh-CN" altLang="en-US" sz="2400" b="1" baseline="30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Text Box 4">
            <a:extLst>
              <a:ext uri="{FF2B5EF4-FFF2-40B4-BE49-F238E27FC236}">
                <a16:creationId xmlns="" xmlns:a16="http://schemas.microsoft.com/office/drawing/2014/main" id="{A1BDC598-82BB-4475-9A74-E1672F50D0BF}"/>
              </a:ext>
            </a:extLst>
          </p:cNvPr>
          <p:cNvSpPr txBox="1">
            <a:spLocks noChangeArrowheads="1"/>
          </p:cNvSpPr>
          <p:nvPr/>
        </p:nvSpPr>
        <p:spPr bwMode="auto">
          <a:xfrm>
            <a:off x="5187975" y="6396983"/>
            <a:ext cx="5244052" cy="572464"/>
          </a:xfrm>
          <a:prstGeom prst="rect">
            <a:avLst/>
          </a:prstGeom>
          <a:noFill/>
          <a:ln w="9525">
            <a:noFill/>
            <a:miter lim="800000"/>
            <a:headEnd/>
            <a:tailEnd/>
          </a:ln>
        </p:spPr>
        <p:txBody>
          <a:bodyPr wrap="square">
            <a:spAutoFit/>
          </a:bodyPr>
          <a:lstStyle/>
          <a:p>
            <a:pPr defTabSz="914400">
              <a:lnSpc>
                <a:spcPct val="130000"/>
              </a:lnSpc>
              <a:spcBef>
                <a:spcPct val="50000"/>
              </a:spcBef>
            </a:pPr>
            <a:r>
              <a:rPr kumimoji="1"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比探测率</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kumimoji="1"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约为</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2×10</a:t>
            </a:r>
            <a:r>
              <a:rPr kumimoji="1" lang="en-US" altLang="zh-CN" sz="2400" b="1"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11</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cm•Hz</a:t>
            </a:r>
            <a:r>
              <a:rPr kumimoji="1" lang="en-US" altLang="zh-CN" sz="2400" b="1"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1/2</a:t>
            </a:r>
            <a:r>
              <a:rPr kumimoji="1"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•W</a:t>
            </a:r>
            <a:r>
              <a:rPr kumimoji="1" lang="en-US" altLang="zh-CN" sz="2400" b="1"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endParaRPr kumimoji="1" lang="zh-CN" altLang="en-US" sz="2400" b="1" baseline="300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1" name="组合 20"/>
          <p:cNvGrpSpPr/>
          <p:nvPr/>
        </p:nvGrpSpPr>
        <p:grpSpPr>
          <a:xfrm>
            <a:off x="10337881" y="293282"/>
            <a:ext cx="2823365" cy="523220"/>
            <a:chOff x="10337881" y="293282"/>
            <a:chExt cx="2823365" cy="523220"/>
          </a:xfrm>
        </p:grpSpPr>
        <p:sp>
          <p:nvSpPr>
            <p:cNvPr id="22" name="矩形 21"/>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23" name="矩形 22">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330205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ox(i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in)">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ox(in)">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ox(i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ox(in)">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ox(in)">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7" grpId="0"/>
      <p:bldP spid="18"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 xmlns:a16="http://schemas.microsoft.com/office/drawing/2014/main" id="{933A5081-DBDF-46B3-A2DD-A4920A4CD5B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21" name="表格 20">
            <a:extLst>
              <a:ext uri="{FF2B5EF4-FFF2-40B4-BE49-F238E27FC236}">
                <a16:creationId xmlns="" xmlns:a16="http://schemas.microsoft.com/office/drawing/2014/main" id="{B0E63883-3E34-4440-8591-761C3BE83D13}"/>
              </a:ext>
            </a:extLst>
          </p:cNvPr>
          <p:cNvGraphicFramePr>
            <a:graphicFrameLocks noGrp="1"/>
          </p:cNvGraphicFramePr>
          <p:nvPr>
            <p:extLst>
              <p:ext uri="{D42A27DB-BD31-4B8C-83A1-F6EECF244321}">
                <p14:modId xmlns:p14="http://schemas.microsoft.com/office/powerpoint/2010/main" val="1780192493"/>
              </p:ext>
            </p:extLst>
          </p:nvPr>
        </p:nvGraphicFramePr>
        <p:xfrm>
          <a:off x="600656" y="2686050"/>
          <a:ext cx="12316690" cy="2044700"/>
        </p:xfrm>
        <a:graphic>
          <a:graphicData uri="http://schemas.openxmlformats.org/drawingml/2006/table">
            <a:tbl>
              <a:tblPr/>
              <a:tblGrid>
                <a:gridCol w="1578103">
                  <a:extLst>
                    <a:ext uri="{9D8B030D-6E8A-4147-A177-3AD203B41FA5}">
                      <a16:colId xmlns="" xmlns:a16="http://schemas.microsoft.com/office/drawing/2014/main" val="20000"/>
                    </a:ext>
                  </a:extLst>
                </a:gridCol>
                <a:gridCol w="1531883">
                  <a:extLst>
                    <a:ext uri="{9D8B030D-6E8A-4147-A177-3AD203B41FA5}">
                      <a16:colId xmlns="" xmlns:a16="http://schemas.microsoft.com/office/drawing/2014/main" val="20001"/>
                    </a:ext>
                  </a:extLst>
                </a:gridCol>
                <a:gridCol w="1391020">
                  <a:extLst>
                    <a:ext uri="{9D8B030D-6E8A-4147-A177-3AD203B41FA5}">
                      <a16:colId xmlns="" xmlns:a16="http://schemas.microsoft.com/office/drawing/2014/main" val="20002"/>
                    </a:ext>
                  </a:extLst>
                </a:gridCol>
                <a:gridCol w="2233996">
                  <a:extLst>
                    <a:ext uri="{9D8B030D-6E8A-4147-A177-3AD203B41FA5}">
                      <a16:colId xmlns="" xmlns:a16="http://schemas.microsoft.com/office/drawing/2014/main" val="20003"/>
                    </a:ext>
                  </a:extLst>
                </a:gridCol>
                <a:gridCol w="1736573">
                  <a:extLst>
                    <a:ext uri="{9D8B030D-6E8A-4147-A177-3AD203B41FA5}">
                      <a16:colId xmlns="" xmlns:a16="http://schemas.microsoft.com/office/drawing/2014/main" val="20004"/>
                    </a:ext>
                  </a:extLst>
                </a:gridCol>
                <a:gridCol w="2346246">
                  <a:extLst>
                    <a:ext uri="{9D8B030D-6E8A-4147-A177-3AD203B41FA5}">
                      <a16:colId xmlns="" xmlns:a16="http://schemas.microsoft.com/office/drawing/2014/main" val="20005"/>
                    </a:ext>
                  </a:extLst>
                </a:gridCol>
                <a:gridCol w="1498869">
                  <a:extLst>
                    <a:ext uri="{9D8B030D-6E8A-4147-A177-3AD203B41FA5}">
                      <a16:colId xmlns="" xmlns:a16="http://schemas.microsoft.com/office/drawing/2014/main" val="20006"/>
                    </a:ext>
                  </a:extLst>
                </a:gridCol>
              </a:tblGrid>
              <a:tr h="1000125">
                <a:tc>
                  <a:txBody>
                    <a:bodyPr/>
                    <a:lstStyle/>
                    <a:p>
                      <a:pPr marL="0" marR="0" lvl="0" indent="0" algn="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参数</a:t>
                      </a:r>
                    </a:p>
                    <a:p>
                      <a:pPr marL="0" marR="0" lvl="0" indent="0" algn="l"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温度</a:t>
                      </a: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光谱范围</a:t>
                      </a: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(μm)</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峰值波长</a:t>
                      </a: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(μm)</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响应时间</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(μs)</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灵敏度</a:t>
                      </a: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(V/W)</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比探测率</a:t>
                      </a:r>
                      <a:r>
                        <a:rPr kumimoji="0" 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(cm·Hz</a:t>
                      </a:r>
                      <a:r>
                        <a:rPr kumimoji="0" lang="en-US" altLang="zh-CN" sz="12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1/2</a:t>
                      </a: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·W</a:t>
                      </a:r>
                      <a:r>
                        <a:rPr kumimoji="0" lang="en-US" altLang="zh-CN" sz="12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-1</a:t>
                      </a: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暗阻</a:t>
                      </a:r>
                    </a:p>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(Ω/</a:t>
                      </a:r>
                      <a:r>
                        <a:rPr kumimoji="0" lang="zh-CN" altLang="en-US"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方</a:t>
                      </a: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2862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77K</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1~5.6</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5.3</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0.04</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1*10</a:t>
                      </a:r>
                      <a:r>
                        <a:rPr kumimoji="0" lang="en-US" altLang="zh-CN" sz="20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10</a:t>
                      </a: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10</a:t>
                      </a:r>
                      <a:r>
                        <a:rPr kumimoji="0" lang="en-US" altLang="zh-CN" sz="20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11</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5000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15950">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300K</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1~7.4</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6</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10~15</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10000</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2*10</a:t>
                      </a:r>
                      <a:r>
                        <a:rPr kumimoji="0" lang="en-US" altLang="zh-CN" sz="20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8</a:t>
                      </a:r>
                      <a:r>
                        <a:rPr kumimoji="0" lang="en-US"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10</a:t>
                      </a:r>
                      <a:r>
                        <a:rPr kumimoji="0" lang="en-US" altLang="zh-CN" sz="20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9</a:t>
                      </a:r>
                      <a:endParaRPr kumimoji="0" lang="zh-CN" altLang="zh-CN" sz="20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8288" marR="6828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30~130</a:t>
                      </a:r>
                      <a:endParaRPr kumimoji="0" lang="zh-CN"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8288" marR="6828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bl>
          </a:graphicData>
        </a:graphic>
      </p:graphicFrame>
      <p:grpSp>
        <p:nvGrpSpPr>
          <p:cNvPr id="12" name="组合 11"/>
          <p:cNvGrpSpPr/>
          <p:nvPr/>
        </p:nvGrpSpPr>
        <p:grpSpPr>
          <a:xfrm>
            <a:off x="10337881" y="293282"/>
            <a:ext cx="2823365" cy="523220"/>
            <a:chOff x="10337881" y="293282"/>
            <a:chExt cx="2823365" cy="523220"/>
          </a:xfrm>
        </p:grpSpPr>
        <p:sp>
          <p:nvSpPr>
            <p:cNvPr id="13" name="矩形 12"/>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14" name="矩形 13">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158959345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典型光电导探测器</a:t>
            </a:r>
          </a:p>
        </p:txBody>
      </p:sp>
      <p:sp>
        <p:nvSpPr>
          <p:cNvPr id="26" name="矩形: 圆角 25">
            <a:extLst>
              <a:ext uri="{FF2B5EF4-FFF2-40B4-BE49-F238E27FC236}">
                <a16:creationId xmlns="" xmlns:a16="http://schemas.microsoft.com/office/drawing/2014/main" id="{D7400AB1-4BEC-40E5-A53B-E3CB1F48EB8A}"/>
              </a:ext>
            </a:extLst>
          </p:cNvPr>
          <p:cNvSpPr/>
          <p:nvPr/>
        </p:nvSpPr>
        <p:spPr>
          <a:xfrm>
            <a:off x="173955"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a:off x="1450506" y="710998"/>
            <a:ext cx="2958694"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 xmlns:a16="http://schemas.microsoft.com/office/drawing/2014/main" id="{933A5081-DBDF-46B3-A2DD-A4920A4CD5B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Rectangle 2">
            <a:extLst>
              <a:ext uri="{FF2B5EF4-FFF2-40B4-BE49-F238E27FC236}">
                <a16:creationId xmlns="" xmlns:a16="http://schemas.microsoft.com/office/drawing/2014/main" id="{D9BC33B0-F313-4D71-947E-B260E9B7C45E}"/>
              </a:ext>
            </a:extLst>
          </p:cNvPr>
          <p:cNvSpPr>
            <a:spLocks noChangeArrowheads="1"/>
          </p:cNvSpPr>
          <p:nvPr/>
        </p:nvSpPr>
        <p:spPr bwMode="auto">
          <a:xfrm>
            <a:off x="2991028" y="900506"/>
            <a:ext cx="9204044" cy="666750"/>
          </a:xfrm>
          <a:prstGeom prst="rect">
            <a:avLst/>
          </a:prstGeom>
          <a:noFill/>
          <a:ln w="9525">
            <a:noFill/>
            <a:miter lim="800000"/>
            <a:headEnd/>
            <a:tailEnd/>
          </a:ln>
        </p:spPr>
        <p:txBody>
          <a:bodyPr/>
          <a:lstStyle/>
          <a:p>
            <a:pPr algn="ctr" defTabSz="914400">
              <a:lnSpc>
                <a:spcPct val="90000"/>
              </a:lnSpc>
              <a:spcBef>
                <a:spcPts val="1125"/>
              </a:spcBef>
              <a:buFont typeface="Arial" pitchFamily="34" charset="0"/>
              <a:buNone/>
            </a:pPr>
            <a:r>
              <a:rPr lang="en-US" altLang="zh-CN" sz="3600" b="1" dirty="0">
                <a:solidFill>
                  <a:srgbClr val="0000CC"/>
                </a:solidFill>
                <a:latin typeface="Times New Roman" pitchFamily="18" charset="0"/>
                <a:ea typeface="黑体" pitchFamily="49" charset="-122"/>
                <a:cs typeface="Times New Roman" pitchFamily="18" charset="0"/>
              </a:rPr>
              <a:t>4. Hg</a:t>
            </a:r>
            <a:r>
              <a:rPr lang="en-US" altLang="zh-CN" sz="3600" b="1" baseline="-30000" dirty="0">
                <a:solidFill>
                  <a:srgbClr val="0000CC"/>
                </a:solidFill>
                <a:latin typeface="Times New Roman" pitchFamily="18" charset="0"/>
                <a:ea typeface="黑体" pitchFamily="49" charset="-122"/>
                <a:cs typeface="Times New Roman" pitchFamily="18" charset="0"/>
              </a:rPr>
              <a:t>1-</a:t>
            </a:r>
            <a:r>
              <a:rPr lang="en-US" altLang="zh-CN" sz="3600" b="1" i="1" baseline="-30000" dirty="0">
                <a:solidFill>
                  <a:srgbClr val="0000CC"/>
                </a:solidFill>
                <a:latin typeface="Times New Roman" pitchFamily="18" charset="0"/>
                <a:ea typeface="黑体" pitchFamily="49" charset="-122"/>
                <a:cs typeface="Times New Roman" pitchFamily="18" charset="0"/>
              </a:rPr>
              <a:t>x</a:t>
            </a:r>
            <a:r>
              <a:rPr lang="en-US" altLang="zh-CN" sz="3600" b="1" dirty="0">
                <a:solidFill>
                  <a:srgbClr val="0000CC"/>
                </a:solidFill>
                <a:latin typeface="Times New Roman" pitchFamily="18" charset="0"/>
                <a:ea typeface="黑体" pitchFamily="49" charset="-122"/>
                <a:cs typeface="Times New Roman" pitchFamily="18" charset="0"/>
              </a:rPr>
              <a:t>Cd</a:t>
            </a:r>
            <a:r>
              <a:rPr lang="en-US" altLang="zh-CN" sz="3600" b="1" i="1" baseline="-30000" dirty="0">
                <a:solidFill>
                  <a:srgbClr val="0000CC"/>
                </a:solidFill>
                <a:latin typeface="Times New Roman" pitchFamily="18" charset="0"/>
                <a:ea typeface="黑体" pitchFamily="49" charset="-122"/>
                <a:cs typeface="Times New Roman" pitchFamily="18" charset="0"/>
              </a:rPr>
              <a:t>x</a:t>
            </a:r>
            <a:r>
              <a:rPr lang="en-US" altLang="zh-CN" sz="3600" b="1" dirty="0">
                <a:solidFill>
                  <a:srgbClr val="0000CC"/>
                </a:solidFill>
                <a:latin typeface="Times New Roman" pitchFamily="18" charset="0"/>
                <a:ea typeface="黑体" pitchFamily="49" charset="-122"/>
                <a:cs typeface="Times New Roman" pitchFamily="18" charset="0"/>
              </a:rPr>
              <a:t>Te(</a:t>
            </a:r>
            <a:r>
              <a:rPr lang="zh-CN" altLang="en-US" sz="3600" b="1" dirty="0">
                <a:solidFill>
                  <a:srgbClr val="0000CC"/>
                </a:solidFill>
                <a:latin typeface="Times New Roman" pitchFamily="18" charset="0"/>
                <a:ea typeface="黑体" pitchFamily="49" charset="-122"/>
                <a:cs typeface="Times New Roman" pitchFamily="18" charset="0"/>
              </a:rPr>
              <a:t>碲镉汞</a:t>
            </a:r>
            <a:r>
              <a:rPr lang="en-US" altLang="zh-CN" sz="3600" b="1" dirty="0">
                <a:solidFill>
                  <a:srgbClr val="0000CC"/>
                </a:solidFill>
                <a:latin typeface="Times New Roman" pitchFamily="18" charset="0"/>
                <a:ea typeface="黑体" pitchFamily="49" charset="-122"/>
                <a:cs typeface="Times New Roman" pitchFamily="18" charset="0"/>
              </a:rPr>
              <a:t>)</a:t>
            </a:r>
            <a:r>
              <a:rPr lang="zh-CN" altLang="en-US" sz="3600" b="1" dirty="0">
                <a:solidFill>
                  <a:srgbClr val="0000CC"/>
                </a:solidFill>
                <a:latin typeface="微软雅黑" pitchFamily="34" charset="-122"/>
                <a:ea typeface="微软雅黑" pitchFamily="34" charset="-122"/>
                <a:cs typeface="Times New Roman" pitchFamily="18" charset="0"/>
              </a:rPr>
              <a:t>系列光电导探测器件 </a:t>
            </a:r>
          </a:p>
        </p:txBody>
      </p:sp>
      <p:sp>
        <p:nvSpPr>
          <p:cNvPr id="13" name="Text Box 3">
            <a:extLst>
              <a:ext uri="{FF2B5EF4-FFF2-40B4-BE49-F238E27FC236}">
                <a16:creationId xmlns="" xmlns:a16="http://schemas.microsoft.com/office/drawing/2014/main" id="{EABDC5F4-505D-4166-A123-0A57A48BC614}"/>
              </a:ext>
            </a:extLst>
          </p:cNvPr>
          <p:cNvSpPr txBox="1">
            <a:spLocks noChangeArrowheads="1"/>
          </p:cNvSpPr>
          <p:nvPr/>
        </p:nvSpPr>
        <p:spPr bwMode="auto">
          <a:xfrm>
            <a:off x="764457" y="1496537"/>
            <a:ext cx="12074003" cy="1200329"/>
          </a:xfrm>
          <a:prstGeom prst="rect">
            <a:avLst/>
          </a:prstGeom>
          <a:noFill/>
          <a:ln w="9525">
            <a:noFill/>
            <a:miter lim="800000"/>
            <a:headEnd/>
            <a:tailEnd/>
          </a:ln>
        </p:spPr>
        <p:txBody>
          <a:bodyPr wrap="square">
            <a:spAutoFit/>
          </a:bodyPr>
          <a:lstStyle/>
          <a:p>
            <a:pPr algn="just" defTabSz="914400">
              <a:lnSpc>
                <a:spcPct val="150000"/>
              </a:lnSpc>
              <a:spcBef>
                <a:spcPct val="50000"/>
              </a:spcBef>
            </a:pPr>
            <a:r>
              <a:rPr kumimoji="1" lang="zh-CN" altLang="en-US" sz="2400" dirty="0">
                <a:latin typeface="Times New Roman" pitchFamily="18" charset="0"/>
              </a:rPr>
              <a:t>      </a:t>
            </a:r>
            <a:r>
              <a:rPr kumimoji="1" lang="en-US" altLang="zh-CN" sz="2400" b="1" dirty="0">
                <a:latin typeface="Times New Roman" pitchFamily="18" charset="0"/>
                <a:ea typeface="微软雅黑" pitchFamily="34" charset="-122"/>
                <a:cs typeface="Times New Roman" pitchFamily="18" charset="0"/>
              </a:rPr>
              <a:t>Hg</a:t>
            </a:r>
            <a:r>
              <a:rPr kumimoji="1" lang="en-US" altLang="zh-CN" sz="2400" b="1" baseline="-30000" dirty="0">
                <a:latin typeface="Times New Roman" pitchFamily="18" charset="0"/>
                <a:ea typeface="微软雅黑" pitchFamily="34" charset="-122"/>
                <a:cs typeface="Times New Roman" pitchFamily="18" charset="0"/>
              </a:rPr>
              <a:t>1-</a:t>
            </a:r>
            <a:r>
              <a:rPr kumimoji="1" lang="en-US" altLang="zh-CN" sz="2400" b="1" i="1" baseline="-30000" dirty="0">
                <a:latin typeface="Times New Roman" pitchFamily="18" charset="0"/>
                <a:ea typeface="微软雅黑" pitchFamily="34" charset="-122"/>
                <a:cs typeface="Times New Roman" pitchFamily="18" charset="0"/>
              </a:rPr>
              <a:t>x</a:t>
            </a:r>
            <a:r>
              <a:rPr kumimoji="1" lang="en-US" altLang="zh-CN" sz="2400" b="1" dirty="0">
                <a:latin typeface="Times New Roman" pitchFamily="18" charset="0"/>
                <a:ea typeface="微软雅黑" pitchFamily="34" charset="-122"/>
                <a:cs typeface="Times New Roman" pitchFamily="18" charset="0"/>
              </a:rPr>
              <a:t>Cd</a:t>
            </a:r>
            <a:r>
              <a:rPr kumimoji="1" lang="en-US" altLang="zh-CN" sz="2400" b="1" i="1" baseline="-30000" dirty="0">
                <a:latin typeface="Times New Roman" pitchFamily="18" charset="0"/>
                <a:ea typeface="微软雅黑" pitchFamily="34" charset="-122"/>
                <a:cs typeface="Times New Roman" pitchFamily="18" charset="0"/>
              </a:rPr>
              <a:t>x</a:t>
            </a:r>
            <a:r>
              <a:rPr kumimoji="1" lang="en-US" altLang="zh-CN" sz="2400" b="1" dirty="0">
                <a:latin typeface="Times New Roman" pitchFamily="18" charset="0"/>
                <a:ea typeface="微软雅黑" pitchFamily="34" charset="-122"/>
                <a:cs typeface="Times New Roman" pitchFamily="18" charset="0"/>
              </a:rPr>
              <a:t>Te</a:t>
            </a:r>
            <a:r>
              <a:rPr kumimoji="1" lang="zh-CN" altLang="en-US" sz="2400" b="1" dirty="0">
                <a:latin typeface="Times New Roman" pitchFamily="18" charset="0"/>
                <a:ea typeface="微软雅黑" pitchFamily="34" charset="-122"/>
                <a:cs typeface="Times New Roman" pitchFamily="18" charset="0"/>
              </a:rPr>
              <a:t>系列光电导探测器件是目前所有红外探测器中性能最优良最有前途的探测器件，尤其是对于</a:t>
            </a:r>
            <a:r>
              <a:rPr kumimoji="1" lang="en-US" altLang="zh-CN" sz="2400" b="1" dirty="0">
                <a:latin typeface="Times New Roman" pitchFamily="18" charset="0"/>
                <a:ea typeface="微软雅黑" pitchFamily="34" charset="-122"/>
                <a:cs typeface="Times New Roman" pitchFamily="18" charset="0"/>
              </a:rPr>
              <a:t>4~8μm</a:t>
            </a:r>
            <a:r>
              <a:rPr kumimoji="1" lang="zh-CN" altLang="en-US" sz="2400" b="1" dirty="0">
                <a:latin typeface="Times New Roman" pitchFamily="18" charset="0"/>
                <a:ea typeface="微软雅黑" pitchFamily="34" charset="-122"/>
                <a:cs typeface="Times New Roman" pitchFamily="18" charset="0"/>
              </a:rPr>
              <a:t>大气窗口波段辐射的探测更为重要。        </a:t>
            </a:r>
            <a:endParaRPr kumimoji="1" lang="zh-CN" altLang="en-US" sz="2800" b="1" dirty="0">
              <a:latin typeface="Times New Roman" pitchFamily="18" charset="0"/>
              <a:ea typeface="微软雅黑" pitchFamily="34" charset="-122"/>
              <a:cs typeface="Times New Roman" pitchFamily="18" charset="0"/>
            </a:endParaRPr>
          </a:p>
        </p:txBody>
      </p:sp>
      <p:sp>
        <p:nvSpPr>
          <p:cNvPr id="14" name="文本框 13">
            <a:extLst>
              <a:ext uri="{FF2B5EF4-FFF2-40B4-BE49-F238E27FC236}">
                <a16:creationId xmlns="" xmlns:a16="http://schemas.microsoft.com/office/drawing/2014/main" id="{51EECC51-EAEB-4A38-9779-6D559B936D28}"/>
              </a:ext>
            </a:extLst>
          </p:cNvPr>
          <p:cNvSpPr txBox="1"/>
          <p:nvPr/>
        </p:nvSpPr>
        <p:spPr>
          <a:xfrm>
            <a:off x="1813999" y="6623862"/>
            <a:ext cx="1006119" cy="553998"/>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热成像</a:t>
            </a:r>
          </a:p>
        </p:txBody>
      </p:sp>
      <p:sp>
        <p:nvSpPr>
          <p:cNvPr id="15" name="Rectangle 4">
            <a:extLst>
              <a:ext uri="{FF2B5EF4-FFF2-40B4-BE49-F238E27FC236}">
                <a16:creationId xmlns="" xmlns:a16="http://schemas.microsoft.com/office/drawing/2014/main" id="{0B9A7359-8201-4D2B-92A6-47B039F678FB}"/>
              </a:ext>
            </a:extLst>
          </p:cNvPr>
          <p:cNvSpPr>
            <a:spLocks noChangeArrowheads="1"/>
          </p:cNvSpPr>
          <p:nvPr/>
        </p:nvSpPr>
        <p:spPr bwMode="auto">
          <a:xfrm>
            <a:off x="3138265" y="4227154"/>
            <a:ext cx="1690977" cy="553998"/>
          </a:xfrm>
          <a:prstGeom prst="rect">
            <a:avLst/>
          </a:prstGeom>
          <a:solidFill>
            <a:srgbClr val="FFFF00"/>
          </a:solidFill>
          <a:ln w="9525">
            <a:noFill/>
            <a:miter lim="800000"/>
            <a:headEnd/>
            <a:tailEnd/>
          </a:ln>
        </p:spPr>
        <p:txBody>
          <a:bodyPr wrap="square" lIns="0" tIns="0" rIns="0" bIns="0">
            <a:spAutoFit/>
          </a:bodyPr>
          <a:lstStyle/>
          <a:p>
            <a:pPr algn="ctr" defTabSz="914400">
              <a:lnSpc>
                <a:spcPct val="150000"/>
              </a:lnSpc>
              <a:spcBef>
                <a:spcPts val="0"/>
              </a:spcBef>
            </a:pPr>
            <a:r>
              <a:rPr kumimoji="1" lang="en-US" altLang="zh-CN" sz="2400" b="1" i="1" dirty="0">
                <a:solidFill>
                  <a:srgbClr val="0000CC"/>
                </a:solidFill>
                <a:latin typeface="Times New Roman" pitchFamily="18" charset="0"/>
                <a:ea typeface="微软雅黑" pitchFamily="34" charset="-122"/>
                <a:cs typeface="Times New Roman" pitchFamily="18" charset="0"/>
              </a:rPr>
              <a:t>x</a:t>
            </a:r>
            <a:r>
              <a:rPr kumimoji="1" lang="en-US" altLang="zh-CN" sz="2400" b="1" dirty="0">
                <a:solidFill>
                  <a:srgbClr val="0000CC"/>
                </a:solidFill>
                <a:latin typeface="Times New Roman" pitchFamily="18" charset="0"/>
                <a:ea typeface="微软雅黑" pitchFamily="34" charset="-122"/>
                <a:cs typeface="Times New Roman" pitchFamily="18" charset="0"/>
              </a:rPr>
              <a:t>(</a:t>
            </a:r>
            <a:r>
              <a:rPr kumimoji="1" lang="en-US" altLang="zh-CN" sz="2400" b="1" dirty="0">
                <a:latin typeface="Times New Roman" pitchFamily="18" charset="0"/>
                <a:ea typeface="微软雅黑" pitchFamily="34" charset="-122"/>
                <a:cs typeface="Times New Roman" pitchFamily="18" charset="0"/>
              </a:rPr>
              <a:t>0.18~0.4)</a:t>
            </a:r>
            <a:endParaRPr kumimoji="1" lang="zh-CN" altLang="en-US" sz="2400" b="1" dirty="0">
              <a:latin typeface="Times New Roman" pitchFamily="18" charset="0"/>
              <a:ea typeface="微软雅黑" pitchFamily="34" charset="-122"/>
              <a:cs typeface="Times New Roman" pitchFamily="18" charset="0"/>
            </a:endParaRPr>
          </a:p>
        </p:txBody>
      </p:sp>
      <p:sp>
        <p:nvSpPr>
          <p:cNvPr id="16" name="Rectangle 4">
            <a:extLst>
              <a:ext uri="{FF2B5EF4-FFF2-40B4-BE49-F238E27FC236}">
                <a16:creationId xmlns="" xmlns:a16="http://schemas.microsoft.com/office/drawing/2014/main" id="{4E6C1CAD-D559-4F16-AC7D-2B5F85225569}"/>
              </a:ext>
            </a:extLst>
          </p:cNvPr>
          <p:cNvSpPr>
            <a:spLocks noChangeArrowheads="1"/>
          </p:cNvSpPr>
          <p:nvPr/>
        </p:nvSpPr>
        <p:spPr bwMode="auto">
          <a:xfrm>
            <a:off x="5916493" y="4227155"/>
            <a:ext cx="2411429" cy="1200329"/>
          </a:xfrm>
          <a:prstGeom prst="rect">
            <a:avLst/>
          </a:prstGeom>
          <a:solidFill>
            <a:schemeClr val="accent4">
              <a:lumMod val="60000"/>
              <a:lumOff val="40000"/>
            </a:schemeClr>
          </a:solidFill>
          <a:ln w="9525">
            <a:noFill/>
            <a:miter lim="800000"/>
            <a:headEnd/>
            <a:tailEnd/>
          </a:ln>
        </p:spPr>
        <p:txBody>
          <a:bodyPr wrap="square">
            <a:spAutoFit/>
          </a:bodyPr>
          <a:lstStyle/>
          <a:p>
            <a:pPr algn="ctr" defTabSz="914400">
              <a:lnSpc>
                <a:spcPct val="150000"/>
              </a:lnSpc>
              <a:spcBef>
                <a:spcPts val="0"/>
              </a:spcBef>
            </a:pPr>
            <a:r>
              <a:rPr kumimoji="1" lang="en-US" altLang="zh-CN" sz="2400" b="1" dirty="0">
                <a:latin typeface="Times New Roman" pitchFamily="18" charset="0"/>
                <a:ea typeface="微软雅黑" pitchFamily="34" charset="-122"/>
                <a:cs typeface="Times New Roman" pitchFamily="18" charset="0"/>
              </a:rPr>
              <a:t>Hg</a:t>
            </a:r>
            <a:r>
              <a:rPr kumimoji="1" lang="en-US" altLang="zh-CN" sz="2400" b="1" baseline="-25000" dirty="0">
                <a:solidFill>
                  <a:schemeClr val="hlink"/>
                </a:solidFill>
                <a:latin typeface="Times New Roman" pitchFamily="18" charset="0"/>
                <a:ea typeface="微软雅黑" pitchFamily="34" charset="-122"/>
                <a:cs typeface="Times New Roman" pitchFamily="18" charset="0"/>
              </a:rPr>
              <a:t>1-</a:t>
            </a:r>
            <a:r>
              <a:rPr kumimoji="1" lang="en-US" altLang="zh-CN" sz="2400" b="1" i="1" baseline="-25000" dirty="0">
                <a:solidFill>
                  <a:schemeClr val="hlink"/>
                </a:solidFill>
                <a:latin typeface="Times New Roman" pitchFamily="18" charset="0"/>
                <a:ea typeface="微软雅黑" pitchFamily="34" charset="-122"/>
                <a:cs typeface="Times New Roman" pitchFamily="18" charset="0"/>
              </a:rPr>
              <a:t>x</a:t>
            </a:r>
            <a:r>
              <a:rPr kumimoji="1" lang="en-US" altLang="zh-CN" sz="2400" b="1" dirty="0">
                <a:latin typeface="Times New Roman" pitchFamily="18" charset="0"/>
                <a:ea typeface="微软雅黑" pitchFamily="34" charset="-122"/>
                <a:cs typeface="Times New Roman" pitchFamily="18" charset="0"/>
              </a:rPr>
              <a:t>Cd</a:t>
            </a:r>
            <a:r>
              <a:rPr kumimoji="1" lang="en-US" altLang="zh-CN" sz="2400" b="1" i="1" baseline="-25000" dirty="0">
                <a:solidFill>
                  <a:schemeClr val="hlink"/>
                </a:solidFill>
                <a:latin typeface="Times New Roman" pitchFamily="18" charset="0"/>
                <a:ea typeface="微软雅黑" pitchFamily="34" charset="-122"/>
                <a:cs typeface="Times New Roman" pitchFamily="18" charset="0"/>
              </a:rPr>
              <a:t>x</a:t>
            </a:r>
            <a:r>
              <a:rPr kumimoji="1" lang="en-US" altLang="zh-CN" sz="2400" b="1" dirty="0">
                <a:latin typeface="Times New Roman" pitchFamily="18" charset="0"/>
                <a:ea typeface="微软雅黑" pitchFamily="34" charset="-122"/>
                <a:cs typeface="Times New Roman" pitchFamily="18" charset="0"/>
              </a:rPr>
              <a:t>Te</a:t>
            </a:r>
            <a:r>
              <a:rPr kumimoji="1" lang="zh-CN" altLang="en-US" sz="2400" b="1" dirty="0">
                <a:latin typeface="Times New Roman" pitchFamily="18" charset="0"/>
                <a:ea typeface="微软雅黑" pitchFamily="34" charset="-122"/>
                <a:cs typeface="Times New Roman" pitchFamily="18" charset="0"/>
              </a:rPr>
              <a:t>系列光电导</a:t>
            </a:r>
          </a:p>
        </p:txBody>
      </p:sp>
      <p:sp>
        <p:nvSpPr>
          <p:cNvPr id="17" name="Rectangle 4">
            <a:extLst>
              <a:ext uri="{FF2B5EF4-FFF2-40B4-BE49-F238E27FC236}">
                <a16:creationId xmlns="" xmlns:a16="http://schemas.microsoft.com/office/drawing/2014/main" id="{0F773880-6B42-4472-81A8-6D01B2AA86A1}"/>
              </a:ext>
            </a:extLst>
          </p:cNvPr>
          <p:cNvSpPr>
            <a:spLocks noChangeArrowheads="1"/>
          </p:cNvSpPr>
          <p:nvPr/>
        </p:nvSpPr>
        <p:spPr bwMode="auto">
          <a:xfrm>
            <a:off x="6039394" y="2492127"/>
            <a:ext cx="2165623" cy="1134862"/>
          </a:xfrm>
          <a:prstGeom prst="rect">
            <a:avLst/>
          </a:prstGeom>
          <a:noFill/>
          <a:ln w="9525">
            <a:noFill/>
            <a:miter lim="800000"/>
            <a:headEnd/>
            <a:tailEnd/>
          </a:ln>
        </p:spPr>
        <p:txBody>
          <a:bodyPr wrap="square">
            <a:spAutoFit/>
          </a:bodyPr>
          <a:lstStyle/>
          <a:p>
            <a:pPr defTabSz="914400">
              <a:lnSpc>
                <a:spcPct val="150000"/>
              </a:lnSpc>
              <a:spcBef>
                <a:spcPts val="0"/>
              </a:spcBef>
            </a:pPr>
            <a:r>
              <a:rPr kumimoji="1" lang="en-US" altLang="zh-CN" sz="2400" b="1" dirty="0" err="1">
                <a:solidFill>
                  <a:srgbClr val="FF0000"/>
                </a:solidFill>
                <a:latin typeface="Times New Roman" pitchFamily="18" charset="0"/>
                <a:ea typeface="微软雅黑" pitchFamily="34" charset="-122"/>
                <a:cs typeface="Times New Roman" pitchFamily="18" charset="0"/>
              </a:rPr>
              <a:t>HgTe</a:t>
            </a:r>
            <a:r>
              <a:rPr kumimoji="1" lang="zh-CN" altLang="en-US" sz="2400" b="1" dirty="0">
                <a:solidFill>
                  <a:srgbClr val="FF0000"/>
                </a:solidFill>
                <a:latin typeface="Times New Roman" pitchFamily="18" charset="0"/>
                <a:ea typeface="微软雅黑" pitchFamily="34" charset="-122"/>
                <a:cs typeface="Times New Roman" pitchFamily="18" charset="0"/>
              </a:rPr>
              <a:t>和</a:t>
            </a:r>
            <a:r>
              <a:rPr kumimoji="1" lang="en-US" altLang="zh-CN" sz="2400" b="1" dirty="0" err="1">
                <a:solidFill>
                  <a:srgbClr val="FF0000"/>
                </a:solidFill>
                <a:latin typeface="Times New Roman" pitchFamily="18" charset="0"/>
                <a:ea typeface="微软雅黑" pitchFamily="34" charset="-122"/>
                <a:cs typeface="Times New Roman" pitchFamily="18" charset="0"/>
              </a:rPr>
              <a:t>CdTe</a:t>
            </a:r>
            <a:endParaRPr kumimoji="1" lang="en-US" altLang="zh-CN" sz="2400" b="1" dirty="0">
              <a:solidFill>
                <a:srgbClr val="FF0000"/>
              </a:solidFill>
              <a:latin typeface="Times New Roman" pitchFamily="18" charset="0"/>
              <a:ea typeface="微软雅黑" pitchFamily="34" charset="-122"/>
              <a:cs typeface="Times New Roman" pitchFamily="18" charset="0"/>
            </a:endParaRPr>
          </a:p>
          <a:p>
            <a:pPr defTabSz="914400">
              <a:lnSpc>
                <a:spcPct val="150000"/>
              </a:lnSpc>
              <a:spcBef>
                <a:spcPts val="0"/>
              </a:spcBef>
            </a:pPr>
            <a:r>
              <a:rPr kumimoji="1" lang="zh-CN" altLang="en-US" sz="2400" b="1" dirty="0">
                <a:solidFill>
                  <a:srgbClr val="FF0000"/>
                </a:solidFill>
                <a:latin typeface="Times New Roman" pitchFamily="18" charset="0"/>
                <a:ea typeface="微软雅黑" pitchFamily="34" charset="-122"/>
                <a:cs typeface="Times New Roman" pitchFamily="18" charset="0"/>
              </a:rPr>
              <a:t>晶体混合制造</a:t>
            </a:r>
            <a:endParaRPr kumimoji="1" lang="zh-CN" altLang="en-US" sz="2400" b="1" dirty="0">
              <a:latin typeface="Times New Roman" pitchFamily="18" charset="0"/>
              <a:ea typeface="微软雅黑" pitchFamily="34" charset="-122"/>
              <a:cs typeface="Times New Roman" pitchFamily="18" charset="0"/>
            </a:endParaRPr>
          </a:p>
        </p:txBody>
      </p:sp>
      <p:sp>
        <p:nvSpPr>
          <p:cNvPr id="18" name="Rectangle 4">
            <a:extLst>
              <a:ext uri="{FF2B5EF4-FFF2-40B4-BE49-F238E27FC236}">
                <a16:creationId xmlns="" xmlns:a16="http://schemas.microsoft.com/office/drawing/2014/main" id="{E60AE3A4-687C-482A-B458-C85D9387351C}"/>
              </a:ext>
            </a:extLst>
          </p:cNvPr>
          <p:cNvSpPr>
            <a:spLocks noChangeArrowheads="1"/>
          </p:cNvSpPr>
          <p:nvPr/>
        </p:nvSpPr>
        <p:spPr bwMode="auto">
          <a:xfrm>
            <a:off x="8666573" y="5496299"/>
            <a:ext cx="2667068" cy="646331"/>
          </a:xfrm>
          <a:prstGeom prst="rect">
            <a:avLst/>
          </a:prstGeom>
          <a:solidFill>
            <a:schemeClr val="accent6">
              <a:lumMod val="60000"/>
              <a:lumOff val="40000"/>
            </a:schemeClr>
          </a:solid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不同的禁带宽度</a:t>
            </a:r>
            <a:r>
              <a:rPr kumimoji="1" lang="en-US" altLang="zh-CN" sz="2400" b="1" dirty="0" err="1">
                <a:solidFill>
                  <a:srgbClr val="0000CC"/>
                </a:solidFill>
                <a:latin typeface="Times New Roman" pitchFamily="18" charset="0"/>
                <a:ea typeface="微软雅黑" pitchFamily="34" charset="-122"/>
                <a:cs typeface="Times New Roman" pitchFamily="18" charset="0"/>
              </a:rPr>
              <a:t>E</a:t>
            </a:r>
            <a:r>
              <a:rPr kumimoji="1" lang="en-US" altLang="zh-CN" sz="2400" b="1" baseline="-25000" dirty="0" err="1">
                <a:solidFill>
                  <a:srgbClr val="0000CC"/>
                </a:solidFill>
                <a:latin typeface="Times New Roman" pitchFamily="18" charset="0"/>
                <a:ea typeface="微软雅黑" pitchFamily="34" charset="-122"/>
                <a:cs typeface="Times New Roman" pitchFamily="18" charset="0"/>
              </a:rPr>
              <a:t>g</a:t>
            </a:r>
            <a:endParaRPr kumimoji="1" lang="zh-CN" altLang="en-US" sz="2400" b="1" dirty="0">
              <a:latin typeface="Times New Roman" pitchFamily="18" charset="0"/>
              <a:ea typeface="微软雅黑" pitchFamily="34" charset="-122"/>
              <a:cs typeface="Times New Roman" pitchFamily="18" charset="0"/>
            </a:endParaRPr>
          </a:p>
        </p:txBody>
      </p:sp>
      <p:sp>
        <p:nvSpPr>
          <p:cNvPr id="19" name="Rectangle 4">
            <a:extLst>
              <a:ext uri="{FF2B5EF4-FFF2-40B4-BE49-F238E27FC236}">
                <a16:creationId xmlns="" xmlns:a16="http://schemas.microsoft.com/office/drawing/2014/main" id="{D9C88D50-287D-4D62-AC9E-36D053732270}"/>
              </a:ext>
            </a:extLst>
          </p:cNvPr>
          <p:cNvSpPr>
            <a:spLocks noChangeArrowheads="1"/>
          </p:cNvSpPr>
          <p:nvPr/>
        </p:nvSpPr>
        <p:spPr bwMode="auto">
          <a:xfrm>
            <a:off x="9599267" y="4223313"/>
            <a:ext cx="821141" cy="553998"/>
          </a:xfrm>
          <a:prstGeom prst="rect">
            <a:avLst/>
          </a:prstGeom>
          <a:solidFill>
            <a:srgbClr val="FFFF00"/>
          </a:solidFill>
          <a:ln w="9525">
            <a:noFill/>
            <a:miter lim="800000"/>
            <a:headEnd/>
            <a:tailEnd/>
          </a:ln>
        </p:spPr>
        <p:txBody>
          <a:bodyPr wrap="square" lIns="0" tIns="0" rIns="0" bIns="0">
            <a:spAutoFit/>
          </a:bodyPr>
          <a:lstStyle/>
          <a:p>
            <a:pPr defTabSz="914400">
              <a:lnSpc>
                <a:spcPct val="150000"/>
              </a:lnSpc>
              <a:spcBef>
                <a:spcPct val="50000"/>
              </a:spcBef>
            </a:pPr>
            <a:r>
              <a:rPr kumimoji="1" lang="en-US" altLang="zh-CN" sz="2400" b="1" i="1" dirty="0">
                <a:solidFill>
                  <a:srgbClr val="FF0000"/>
                </a:solidFill>
                <a:latin typeface="Times New Roman" pitchFamily="18" charset="0"/>
                <a:ea typeface="微软雅黑" pitchFamily="34" charset="-122"/>
                <a:cs typeface="Times New Roman" pitchFamily="18" charset="0"/>
              </a:rPr>
              <a:t>x</a:t>
            </a:r>
            <a:r>
              <a:rPr kumimoji="1" lang="zh-CN" altLang="en-US" sz="2400" b="1" dirty="0">
                <a:solidFill>
                  <a:srgbClr val="0000CC"/>
                </a:solidFill>
                <a:latin typeface="Times New Roman" pitchFamily="18" charset="0"/>
                <a:ea typeface="微软雅黑" pitchFamily="34" charset="-122"/>
                <a:cs typeface="Times New Roman" pitchFamily="18" charset="0"/>
              </a:rPr>
              <a:t>变化</a:t>
            </a:r>
            <a:endParaRPr kumimoji="1" lang="zh-CN" altLang="en-US" sz="2400" b="1" dirty="0">
              <a:latin typeface="Times New Roman" pitchFamily="18" charset="0"/>
              <a:ea typeface="微软雅黑" pitchFamily="34" charset="-122"/>
              <a:cs typeface="Times New Roman" pitchFamily="18" charset="0"/>
            </a:endParaRPr>
          </a:p>
        </p:txBody>
      </p:sp>
      <p:sp>
        <p:nvSpPr>
          <p:cNvPr id="22" name="椭圆形标注 21">
            <a:extLst>
              <a:ext uri="{FF2B5EF4-FFF2-40B4-BE49-F238E27FC236}">
                <a16:creationId xmlns="" xmlns:a16="http://schemas.microsoft.com/office/drawing/2014/main" id="{53214005-322D-4D1A-89EC-7830D26D3E02}"/>
              </a:ext>
            </a:extLst>
          </p:cNvPr>
          <p:cNvSpPr/>
          <p:nvPr/>
        </p:nvSpPr>
        <p:spPr>
          <a:xfrm>
            <a:off x="7122206" y="4550320"/>
            <a:ext cx="170155" cy="276999"/>
          </a:xfrm>
          <a:prstGeom prst="wedgeEllipseCallout">
            <a:avLst>
              <a:gd name="adj1" fmla="val 1198412"/>
              <a:gd name="adj2" fmla="val -51086"/>
            </a:avLst>
          </a:prstGeom>
          <a:noFill/>
          <a:ln w="3175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下箭头 22">
            <a:extLst>
              <a:ext uri="{FF2B5EF4-FFF2-40B4-BE49-F238E27FC236}">
                <a16:creationId xmlns="" xmlns:a16="http://schemas.microsoft.com/office/drawing/2014/main" id="{4774099F-07AC-4F15-AAD5-D6ED56690B6D}"/>
              </a:ext>
            </a:extLst>
          </p:cNvPr>
          <p:cNvSpPr/>
          <p:nvPr/>
        </p:nvSpPr>
        <p:spPr>
          <a:xfrm>
            <a:off x="9738357" y="4842077"/>
            <a:ext cx="521110" cy="654984"/>
          </a:xfrm>
          <a:prstGeom prst="down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ctangle 4">
            <a:extLst>
              <a:ext uri="{FF2B5EF4-FFF2-40B4-BE49-F238E27FC236}">
                <a16:creationId xmlns="" xmlns:a16="http://schemas.microsoft.com/office/drawing/2014/main" id="{F5C7484D-CB4D-4BE0-8097-23C08CB3A53E}"/>
              </a:ext>
            </a:extLst>
          </p:cNvPr>
          <p:cNvSpPr>
            <a:spLocks noChangeArrowheads="1"/>
          </p:cNvSpPr>
          <p:nvPr/>
        </p:nvSpPr>
        <p:spPr bwMode="auto">
          <a:xfrm>
            <a:off x="2565448" y="5517841"/>
            <a:ext cx="3070823" cy="646331"/>
          </a:xfrm>
          <a:prstGeom prst="rect">
            <a:avLst/>
          </a:prstGeom>
          <a:solidFill>
            <a:schemeClr val="accent6">
              <a:lumMod val="60000"/>
              <a:lumOff val="40000"/>
            </a:schemeClr>
          </a:solidFill>
          <a:ln w="9525">
            <a:noFill/>
            <a:miter lim="800000"/>
            <a:headEnd/>
            <a:tailEnd/>
          </a:ln>
        </p:spPr>
        <p:txBody>
          <a:bodyPr wrap="square">
            <a:spAutoFit/>
          </a:bodyPr>
          <a:lstStyle/>
          <a:p>
            <a:pPr algn="ctr" defTabSz="914400">
              <a:lnSpc>
                <a:spcPct val="150000"/>
              </a:lnSpc>
              <a:spcBef>
                <a:spcPts val="0"/>
              </a:spcBef>
            </a:pPr>
            <a:r>
              <a:rPr kumimoji="1" lang="zh-CN" altLang="en-US" sz="2400" b="1" dirty="0">
                <a:latin typeface="Times New Roman" pitchFamily="18" charset="0"/>
                <a:ea typeface="微软雅黑" pitchFamily="34" charset="-122"/>
                <a:cs typeface="Times New Roman" pitchFamily="18" charset="0"/>
              </a:rPr>
              <a:t>波长变化范围</a:t>
            </a:r>
            <a:r>
              <a:rPr kumimoji="1" lang="en-US" altLang="zh-CN" sz="2400" b="1" dirty="0">
                <a:latin typeface="Times New Roman" pitchFamily="18" charset="0"/>
                <a:ea typeface="微软雅黑" pitchFamily="34" charset="-122"/>
                <a:cs typeface="Times New Roman" pitchFamily="18" charset="0"/>
              </a:rPr>
              <a:t>1~30μm</a:t>
            </a:r>
            <a:r>
              <a:rPr kumimoji="1" lang="zh-CN" altLang="en-US" sz="2400" b="1" dirty="0">
                <a:latin typeface="Times New Roman" pitchFamily="18" charset="0"/>
                <a:ea typeface="微软雅黑" pitchFamily="34" charset="-122"/>
                <a:cs typeface="Times New Roman" pitchFamily="18" charset="0"/>
              </a:rPr>
              <a:t> </a:t>
            </a:r>
          </a:p>
        </p:txBody>
      </p:sp>
      <p:sp>
        <p:nvSpPr>
          <p:cNvPr id="27" name="椭圆形标注 24">
            <a:extLst>
              <a:ext uri="{FF2B5EF4-FFF2-40B4-BE49-F238E27FC236}">
                <a16:creationId xmlns="" xmlns:a16="http://schemas.microsoft.com/office/drawing/2014/main" id="{8BBD39EC-3E70-417E-8E30-A576F0EC6E92}"/>
              </a:ext>
            </a:extLst>
          </p:cNvPr>
          <p:cNvSpPr/>
          <p:nvPr/>
        </p:nvSpPr>
        <p:spPr>
          <a:xfrm>
            <a:off x="6563031" y="4550319"/>
            <a:ext cx="250721" cy="276999"/>
          </a:xfrm>
          <a:prstGeom prst="wedgeEllipseCallout">
            <a:avLst>
              <a:gd name="adj1" fmla="val -687505"/>
              <a:gd name="adj2" fmla="val -51086"/>
            </a:avLst>
          </a:prstGeom>
          <a:noFill/>
          <a:ln w="3175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下箭头 25">
            <a:extLst>
              <a:ext uri="{FF2B5EF4-FFF2-40B4-BE49-F238E27FC236}">
                <a16:creationId xmlns="" xmlns:a16="http://schemas.microsoft.com/office/drawing/2014/main" id="{FA3CE8F9-3C5A-4684-8B81-5C60558014D6}"/>
              </a:ext>
            </a:extLst>
          </p:cNvPr>
          <p:cNvSpPr/>
          <p:nvPr/>
        </p:nvSpPr>
        <p:spPr>
          <a:xfrm>
            <a:off x="3723198" y="4842077"/>
            <a:ext cx="521110" cy="654984"/>
          </a:xfrm>
          <a:prstGeom prst="down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下箭头 26">
            <a:extLst>
              <a:ext uri="{FF2B5EF4-FFF2-40B4-BE49-F238E27FC236}">
                <a16:creationId xmlns="" xmlns:a16="http://schemas.microsoft.com/office/drawing/2014/main" id="{65BB6598-B234-40BC-8613-66E84E5E4664}"/>
              </a:ext>
            </a:extLst>
          </p:cNvPr>
          <p:cNvSpPr/>
          <p:nvPr/>
        </p:nvSpPr>
        <p:spPr>
          <a:xfrm>
            <a:off x="6801459" y="3572170"/>
            <a:ext cx="521110" cy="654984"/>
          </a:xfrm>
          <a:prstGeom prst="down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a:extLst>
              <a:ext uri="{FF2B5EF4-FFF2-40B4-BE49-F238E27FC236}">
                <a16:creationId xmlns="" xmlns:a16="http://schemas.microsoft.com/office/drawing/2014/main" id="{A77C73B5-0DD1-4DA0-9BD7-7DCE8A09A3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638" y="2708811"/>
            <a:ext cx="1629002" cy="2105319"/>
          </a:xfrm>
          <a:prstGeom prst="rect">
            <a:avLst/>
          </a:prstGeom>
        </p:spPr>
      </p:pic>
      <p:sp>
        <p:nvSpPr>
          <p:cNvPr id="31" name="左大括号 30">
            <a:extLst>
              <a:ext uri="{FF2B5EF4-FFF2-40B4-BE49-F238E27FC236}">
                <a16:creationId xmlns="" xmlns:a16="http://schemas.microsoft.com/office/drawing/2014/main" id="{F234872B-7ACE-4EA9-B053-5CB522F8C46F}"/>
              </a:ext>
            </a:extLst>
          </p:cNvPr>
          <p:cNvSpPr/>
          <p:nvPr/>
        </p:nvSpPr>
        <p:spPr>
          <a:xfrm rot="5400000">
            <a:off x="6773344" y="1800848"/>
            <a:ext cx="632496" cy="9048290"/>
          </a:xfrm>
          <a:prstGeom prst="lef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a:extLst>
              <a:ext uri="{FF2B5EF4-FFF2-40B4-BE49-F238E27FC236}">
                <a16:creationId xmlns="" xmlns:a16="http://schemas.microsoft.com/office/drawing/2014/main" id="{D587B69F-2D57-49E0-967D-EB57D948A2B6}"/>
              </a:ext>
            </a:extLst>
          </p:cNvPr>
          <p:cNvSpPr txBox="1"/>
          <p:nvPr/>
        </p:nvSpPr>
        <p:spPr>
          <a:xfrm>
            <a:off x="2698125" y="6650751"/>
            <a:ext cx="1322070" cy="553998"/>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红外制导</a:t>
            </a:r>
          </a:p>
        </p:txBody>
      </p:sp>
      <p:sp>
        <p:nvSpPr>
          <p:cNvPr id="34" name="文本框 33">
            <a:extLst>
              <a:ext uri="{FF2B5EF4-FFF2-40B4-BE49-F238E27FC236}">
                <a16:creationId xmlns="" xmlns:a16="http://schemas.microsoft.com/office/drawing/2014/main" id="{ACF6407F-15BF-4A2E-A2D8-99D1B7E5F920}"/>
              </a:ext>
            </a:extLst>
          </p:cNvPr>
          <p:cNvSpPr txBox="1"/>
          <p:nvPr/>
        </p:nvSpPr>
        <p:spPr>
          <a:xfrm>
            <a:off x="3857415" y="6631486"/>
            <a:ext cx="2038505" cy="553998"/>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激光报警接收器</a:t>
            </a:r>
          </a:p>
        </p:txBody>
      </p:sp>
      <p:sp>
        <p:nvSpPr>
          <p:cNvPr id="36" name="文本框 35">
            <a:extLst>
              <a:ext uri="{FF2B5EF4-FFF2-40B4-BE49-F238E27FC236}">
                <a16:creationId xmlns="" xmlns:a16="http://schemas.microsoft.com/office/drawing/2014/main" id="{B0A40149-EE40-4DED-8CA9-8C9C8329BB49}"/>
              </a:ext>
            </a:extLst>
          </p:cNvPr>
          <p:cNvSpPr txBox="1"/>
          <p:nvPr/>
        </p:nvSpPr>
        <p:spPr>
          <a:xfrm>
            <a:off x="5854552" y="6598928"/>
            <a:ext cx="1320479" cy="553998"/>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激光监控</a:t>
            </a:r>
          </a:p>
        </p:txBody>
      </p:sp>
      <p:sp>
        <p:nvSpPr>
          <p:cNvPr id="37" name="文本框 36">
            <a:extLst>
              <a:ext uri="{FF2B5EF4-FFF2-40B4-BE49-F238E27FC236}">
                <a16:creationId xmlns="" xmlns:a16="http://schemas.microsoft.com/office/drawing/2014/main" id="{54B44BCC-F4DB-4DA7-B114-6DA824AC7AAC}"/>
              </a:ext>
            </a:extLst>
          </p:cNvPr>
          <p:cNvSpPr txBox="1"/>
          <p:nvPr/>
        </p:nvSpPr>
        <p:spPr>
          <a:xfrm>
            <a:off x="7056744" y="6582616"/>
            <a:ext cx="1812139" cy="553998"/>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火车轴温检测</a:t>
            </a:r>
          </a:p>
        </p:txBody>
      </p:sp>
      <p:sp>
        <p:nvSpPr>
          <p:cNvPr id="38" name="文本框 37">
            <a:extLst>
              <a:ext uri="{FF2B5EF4-FFF2-40B4-BE49-F238E27FC236}">
                <a16:creationId xmlns="" xmlns:a16="http://schemas.microsoft.com/office/drawing/2014/main" id="{E04CD004-9F79-4AE1-B46D-CDE2F5805C04}"/>
              </a:ext>
            </a:extLst>
          </p:cNvPr>
          <p:cNvSpPr txBox="1"/>
          <p:nvPr/>
        </p:nvSpPr>
        <p:spPr>
          <a:xfrm>
            <a:off x="10710660" y="6587160"/>
            <a:ext cx="2041339" cy="553998"/>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傅里叶红外光谱</a:t>
            </a:r>
          </a:p>
        </p:txBody>
      </p:sp>
      <p:sp>
        <p:nvSpPr>
          <p:cNvPr id="39" name="文本框 38">
            <a:extLst>
              <a:ext uri="{FF2B5EF4-FFF2-40B4-BE49-F238E27FC236}">
                <a16:creationId xmlns="" xmlns:a16="http://schemas.microsoft.com/office/drawing/2014/main" id="{587D7EC4-91E3-4295-BE7E-701137447ACD}"/>
              </a:ext>
            </a:extLst>
          </p:cNvPr>
          <p:cNvSpPr txBox="1"/>
          <p:nvPr/>
        </p:nvSpPr>
        <p:spPr>
          <a:xfrm>
            <a:off x="8798530" y="6570848"/>
            <a:ext cx="2101716" cy="553998"/>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激光外差探测器</a:t>
            </a:r>
          </a:p>
        </p:txBody>
      </p:sp>
      <p:sp>
        <p:nvSpPr>
          <p:cNvPr id="41" name="文本框 40">
            <a:extLst>
              <a:ext uri="{FF2B5EF4-FFF2-40B4-BE49-F238E27FC236}">
                <a16:creationId xmlns="" xmlns:a16="http://schemas.microsoft.com/office/drawing/2014/main" id="{B9A39B87-4D5E-4925-BF69-2CADCA8BA024}"/>
              </a:ext>
            </a:extLst>
          </p:cNvPr>
          <p:cNvSpPr txBox="1"/>
          <p:nvPr/>
        </p:nvSpPr>
        <p:spPr>
          <a:xfrm>
            <a:off x="6743946" y="5458983"/>
            <a:ext cx="735638" cy="553998"/>
          </a:xfrm>
          <a:prstGeom prst="rect">
            <a:avLst/>
          </a:prstGeom>
          <a:solidFill>
            <a:schemeClr val="accent2">
              <a:lumMod val="20000"/>
              <a:lumOff val="80000"/>
            </a:schemeClr>
          </a:solidFill>
        </p:spPr>
        <p:txBody>
          <a:bodyPr wrap="square" rtlCol="0">
            <a:spAutoFit/>
          </a:bodyPr>
          <a:lstStyle/>
          <a:p>
            <a:pPr algn="ctr">
              <a:lnSpc>
                <a:spcPct val="150000"/>
              </a:lnSpc>
            </a:pP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应用</a:t>
            </a:r>
          </a:p>
        </p:txBody>
      </p:sp>
      <p:grpSp>
        <p:nvGrpSpPr>
          <p:cNvPr id="42" name="组合 41"/>
          <p:cNvGrpSpPr/>
          <p:nvPr/>
        </p:nvGrpSpPr>
        <p:grpSpPr>
          <a:xfrm>
            <a:off x="10337881" y="293282"/>
            <a:ext cx="2823365" cy="523220"/>
            <a:chOff x="10337881" y="293282"/>
            <a:chExt cx="2823365" cy="523220"/>
          </a:xfrm>
        </p:grpSpPr>
        <p:sp>
          <p:nvSpPr>
            <p:cNvPr id="43" name="矩形 42"/>
            <p:cNvSpPr/>
            <p:nvPr/>
          </p:nvSpPr>
          <p:spPr>
            <a:xfrm>
              <a:off x="10337881" y="329189"/>
              <a:ext cx="1110670" cy="451406"/>
            </a:xfrm>
            <a:prstGeom prst="rect">
              <a:avLst/>
            </a:prstGeom>
            <a:noFill/>
          </p:spPr>
          <p:txBody>
            <a:bodyPr wrap="square" lIns="91440" tIns="45720" rIns="91440" bIns="45720">
              <a:spAutoFit/>
            </a:bodyPr>
            <a:lstStyle/>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Photoelectric</a:t>
              </a:r>
            </a:p>
            <a:p>
              <a:pPr>
                <a:lnSpc>
                  <a:spcPts val="1400"/>
                </a:lnSpc>
              </a:pPr>
              <a:r>
                <a:rPr lang="en-US" altLang="zh-CN" sz="1100" b="1" spc="50" dirty="0">
                  <a:latin typeface="Times New Roman" panose="02020603050405020304" pitchFamily="18" charset="0"/>
                  <a:ea typeface="冬青黑体简体中文 W6" panose="020B0600000000000000"/>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a:cs typeface="Times New Roman" panose="02020603050405020304" pitchFamily="18" charset="0"/>
              </a:endParaRPr>
            </a:p>
          </p:txBody>
        </p:sp>
        <p:sp>
          <p:nvSpPr>
            <p:cNvPr id="44" name="矩形 43">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grpSp>
    </p:spTree>
    <p:extLst>
      <p:ext uri="{BB962C8B-B14F-4D97-AF65-F5344CB8AC3E}">
        <p14:creationId xmlns:p14="http://schemas.microsoft.com/office/powerpoint/2010/main" val="24097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animBg="1"/>
      <p:bldP spid="16" grpId="0" animBg="1"/>
      <p:bldP spid="17" grpId="0"/>
      <p:bldP spid="18" grpId="0" animBg="1"/>
      <p:bldP spid="19" grpId="0" animBg="1"/>
      <p:bldP spid="22" grpId="0" animBg="1"/>
      <p:bldP spid="23" grpId="0" animBg="1"/>
      <p:bldP spid="24" grpId="0" animBg="1"/>
      <p:bldP spid="27" grpId="0" animBg="1"/>
      <p:bldP spid="28" grpId="0" animBg="1"/>
      <p:bldP spid="29" grpId="0" animBg="1"/>
      <p:bldP spid="31" grpId="0" animBg="1"/>
      <p:bldP spid="32" grpId="0"/>
      <p:bldP spid="34" grpId="0"/>
      <p:bldP spid="36" grpId="0"/>
      <p:bldP spid="37" grpId="0"/>
      <p:bldP spid="38" grpId="0"/>
      <p:bldP spid="39" grpId="0"/>
      <p:bldP spid="41" grpId="0" animBg="1"/>
    </p:bld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3143</TotalTime>
  <Words>1944</Words>
  <Application>Microsoft Office PowerPoint</Application>
  <PresentationFormat>自定义</PresentationFormat>
  <Paragraphs>547</Paragraphs>
  <Slides>31</Slides>
  <Notes>0</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3</vt:i4>
      </vt:variant>
      <vt:variant>
        <vt:lpstr>幻灯片标题</vt:lpstr>
      </vt:variant>
      <vt:variant>
        <vt:i4>31</vt:i4>
      </vt:variant>
    </vt:vector>
  </HeadingPairs>
  <TitlesOfParts>
    <vt:vector size="55" baseType="lpstr">
      <vt:lpstr>HY견고딕</vt:lpstr>
      <vt:lpstr>Yu Gothic UI</vt:lpstr>
      <vt:lpstr>阿里巴巴普惠体 M</vt:lpstr>
      <vt:lpstr>阿里巴巴普惠体 R</vt:lpstr>
      <vt:lpstr>冬青黑体简体中文 W3</vt:lpstr>
      <vt:lpstr>冬青黑体简体中文 W6</vt:lpstr>
      <vt:lpstr>黑体</vt:lpstr>
      <vt:lpstr>华文琥珀</vt:lpstr>
      <vt:lpstr>楷体_GB2312</vt:lpstr>
      <vt:lpstr>宋体</vt:lpstr>
      <vt:lpstr>Microsoft YaHei</vt:lpstr>
      <vt:lpstr>Microsoft YaHei</vt:lpstr>
      <vt:lpstr>Arial</vt:lpstr>
      <vt:lpstr>Calibri</vt:lpstr>
      <vt:lpstr>Calibri Light</vt:lpstr>
      <vt:lpstr>Euclid Symbol</vt:lpstr>
      <vt:lpstr>Microsoft Yi Baiti</vt:lpstr>
      <vt:lpstr>Symbol</vt:lpstr>
      <vt:lpstr>Times New Roman</vt:lpstr>
      <vt:lpstr>Wingdings</vt:lpstr>
      <vt:lpstr>光电技术模板-2015-6-18</vt:lpstr>
      <vt:lpstr>Visio</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user</cp:lastModifiedBy>
  <cp:revision>142</cp:revision>
  <dcterms:created xsi:type="dcterms:W3CDTF">2015-06-18T01:42:52Z</dcterms:created>
  <dcterms:modified xsi:type="dcterms:W3CDTF">2023-04-01T10:10:36Z</dcterms:modified>
</cp:coreProperties>
</file>