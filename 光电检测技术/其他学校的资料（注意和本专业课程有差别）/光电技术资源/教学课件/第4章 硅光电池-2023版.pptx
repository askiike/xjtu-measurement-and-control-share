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273" r:id="rId3"/>
    <p:sldId id="274" r:id="rId4"/>
    <p:sldId id="376" r:id="rId5"/>
    <p:sldId id="276" r:id="rId6"/>
    <p:sldId id="278" r:id="rId7"/>
    <p:sldId id="280" r:id="rId8"/>
    <p:sldId id="282" r:id="rId9"/>
    <p:sldId id="284" r:id="rId10"/>
    <p:sldId id="377" r:id="rId11"/>
    <p:sldId id="285" r:id="rId12"/>
    <p:sldId id="286" r:id="rId13"/>
    <p:sldId id="287" r:id="rId14"/>
    <p:sldId id="298" r:id="rId15"/>
    <p:sldId id="300" r:id="rId16"/>
    <p:sldId id="289" r:id="rId17"/>
    <p:sldId id="291" r:id="rId18"/>
    <p:sldId id="293" r:id="rId19"/>
    <p:sldId id="294" r:id="rId20"/>
    <p:sldId id="297" r:id="rId21"/>
    <p:sldId id="374" r:id="rId22"/>
    <p:sldId id="303" r:id="rId23"/>
    <p:sldId id="304" r:id="rId24"/>
    <p:sldId id="305" r:id="rId25"/>
    <p:sldId id="306" r:id="rId26"/>
    <p:sldId id="307" r:id="rId27"/>
    <p:sldId id="375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460" y="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E</a:t>
          </a:r>
          <a:r>
            <a:rPr lang="en-US" alt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nergy</a:t>
          </a:r>
          <a:endParaRPr lang="zh-CN" altLang="en-US" sz="2000" b="1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Simple structure 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reliability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D4CFAB3-AE99-4314-90A8-B1F2119568E6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conversion efficiency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1940A9D-11EA-4918-A213-E3E01AD35B36}" type="parTrans" cxnId="{7ACD8C74-8F2C-4E08-B834-A71FD22788DD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DDAD213-4C59-48EC-9D89-01E6C9D62BA8}" type="sibTrans" cxnId="{7ACD8C74-8F2C-4E08-B834-A71FD22788DD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F299951-24AD-42A6-B09A-993ABF0E0878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Small volume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7E82F80-421F-4D49-98F0-26E4350CBE6C}" type="parTrans" cxnId="{DC92F541-0997-44AA-98FA-7FABF90244A5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3206731-1023-4000-8A59-7FC9EFA6532A}" type="sibTrans" cxnId="{DC92F541-0997-44AA-98FA-7FABF90244A5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480385E-6FD4-444B-909D-70CCE22315BC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Long life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C1C9D96-3234-4334-BB4D-8E62BE7C7607}" type="parTrans" cxnId="{54589FBA-72A6-47B8-A250-5EABD376DE1C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1A9B32E-8768-4AFC-B3FC-AD7DD2A4E49A}" type="sibTrans" cxnId="{54589FBA-72A6-47B8-A250-5EABD376DE1C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30A158B-FDF2-4C22-ADDC-F76A15319158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Light-weight 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D63ED83B-A861-4827-94D5-98F084B34B12}" type="parTrans" cxnId="{7B964B47-1B4F-403B-A918-FB93BB77B15E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54DB0C08-86AC-4EE7-8C24-F863FC2B9CBC}" type="sibTrans" cxnId="{7B964B47-1B4F-403B-A918-FB93BB77B15E}">
      <dgm:prSet/>
      <dgm:spPr/>
      <dgm:t>
        <a:bodyPr/>
        <a:lstStyle/>
        <a:p>
          <a:endParaRPr lang="zh-CN" altLang="en-US"/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62DF8B-6B03-41BE-B43E-800A56A5B3F1}" type="pres">
      <dgm:prSet presAssocID="{7779A588-270A-487C-88D2-F0163ABBD6E0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504D47E8-5648-46B9-9373-7181EC5380C9}" type="pres">
      <dgm:prSet presAssocID="{C44C2029-BEB8-47B5-B2EA-720BF125AAFB}" presName="parTrans" presStyleLbl="sibTrans2D1" presStyleIdx="0" presStyleCnt="6"/>
      <dgm:spPr/>
      <dgm:t>
        <a:bodyPr/>
        <a:lstStyle/>
        <a:p>
          <a:endParaRPr lang="zh-CN" altLang="en-US"/>
        </a:p>
      </dgm:t>
    </dgm:pt>
    <dgm:pt modelId="{DBEA04CF-9B7C-4988-998A-B06DA225C023}" type="pres">
      <dgm:prSet presAssocID="{C44C2029-BEB8-47B5-B2EA-720BF125AAFB}" presName="connectorText" presStyleLbl="sibTrans2D1" presStyleIdx="0" presStyleCnt="6"/>
      <dgm:spPr/>
      <dgm:t>
        <a:bodyPr/>
        <a:lstStyle/>
        <a:p>
          <a:endParaRPr lang="zh-CN" altLang="en-US"/>
        </a:p>
      </dgm:t>
    </dgm:pt>
    <dgm:pt modelId="{437BBCD7-3628-4CC9-8B89-F493762A0A9F}" type="pres">
      <dgm:prSet presAssocID="{CF54486E-E8B5-4C02-AE33-F8365F6969EB}" presName="node" presStyleLbl="node1" presStyleIdx="0" presStyleCnt="6" custScaleX="124027" custScaleY="117093" custRadScaleRad="98110" custRadScaleInc="-185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AE9004-8FE6-4F5B-8CBF-20FA174B5975}" type="pres">
      <dgm:prSet presAssocID="{5DB30950-4637-4405-B6B0-6BD05234472C}" presName="parTrans" presStyleLbl="sibTrans2D1" presStyleIdx="1" presStyleCnt="6"/>
      <dgm:spPr/>
      <dgm:t>
        <a:bodyPr/>
        <a:lstStyle/>
        <a:p>
          <a:endParaRPr lang="zh-CN" altLang="en-US"/>
        </a:p>
      </dgm:t>
    </dgm:pt>
    <dgm:pt modelId="{7739EB58-CE34-401B-8C51-48860D7A1660}" type="pres">
      <dgm:prSet presAssocID="{5DB30950-4637-4405-B6B0-6BD05234472C}" presName="connectorText" presStyleLbl="sibTrans2D1" presStyleIdx="1" presStyleCnt="6"/>
      <dgm:spPr/>
      <dgm:t>
        <a:bodyPr/>
        <a:lstStyle/>
        <a:p>
          <a:endParaRPr lang="zh-CN" altLang="en-US"/>
        </a:p>
      </dgm:t>
    </dgm:pt>
    <dgm:pt modelId="{06D8C5A0-E7E5-4A3B-84E2-156D853A274C}" type="pres">
      <dgm:prSet presAssocID="{F155EF20-C8CC-450D-8369-03F526B51DB9}" presName="node" presStyleLbl="node1" presStyleIdx="1" presStyleCnt="6" custScaleX="120499" custScaleY="12021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567D5A-F649-416C-9F4F-F1666CD6DAED}" type="pres">
      <dgm:prSet presAssocID="{61940A9D-11EA-4918-A213-E3E01AD35B36}" presName="parTrans" presStyleLbl="sibTrans2D1" presStyleIdx="2" presStyleCnt="6"/>
      <dgm:spPr/>
      <dgm:t>
        <a:bodyPr/>
        <a:lstStyle/>
        <a:p>
          <a:endParaRPr lang="zh-CN" altLang="en-US"/>
        </a:p>
      </dgm:t>
    </dgm:pt>
    <dgm:pt modelId="{0EA3E284-A71B-442F-B37F-E21AA5E53820}" type="pres">
      <dgm:prSet presAssocID="{61940A9D-11EA-4918-A213-E3E01AD35B36}" presName="connectorText" presStyleLbl="sibTrans2D1" presStyleIdx="2" presStyleCnt="6"/>
      <dgm:spPr/>
      <dgm:t>
        <a:bodyPr/>
        <a:lstStyle/>
        <a:p>
          <a:endParaRPr lang="zh-CN" altLang="en-US"/>
        </a:p>
      </dgm:t>
    </dgm:pt>
    <dgm:pt modelId="{9277782A-FB05-4363-8DE0-0FE55906615C}" type="pres">
      <dgm:prSet presAssocID="{9D4CFAB3-AE99-4314-90A8-B1F2119568E6}" presName="node" presStyleLbl="node1" presStyleIdx="2" presStyleCnt="6" custScaleX="128288" custScaleY="13428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7BC216-87A0-47A1-981F-4A0CB9139A8A}" type="pres">
      <dgm:prSet presAssocID="{37E82F80-421F-4D49-98F0-26E4350CBE6C}" presName="parTrans" presStyleLbl="sibTrans2D1" presStyleIdx="3" presStyleCnt="6"/>
      <dgm:spPr/>
      <dgm:t>
        <a:bodyPr/>
        <a:lstStyle/>
        <a:p>
          <a:endParaRPr lang="zh-CN" altLang="en-US"/>
        </a:p>
      </dgm:t>
    </dgm:pt>
    <dgm:pt modelId="{26D73599-A61F-4E37-BD91-04DB091874F8}" type="pres">
      <dgm:prSet presAssocID="{37E82F80-421F-4D49-98F0-26E4350CBE6C}" presName="connectorText" presStyleLbl="sibTrans2D1" presStyleIdx="3" presStyleCnt="6"/>
      <dgm:spPr/>
      <dgm:t>
        <a:bodyPr/>
        <a:lstStyle/>
        <a:p>
          <a:endParaRPr lang="zh-CN" altLang="en-US"/>
        </a:p>
      </dgm:t>
    </dgm:pt>
    <dgm:pt modelId="{E3DC612F-97DF-4A0B-97A7-EFAC550D3D41}" type="pres">
      <dgm:prSet presAssocID="{7F299951-24AD-42A6-B09A-993ABF0E0878}" presName="node" presStyleLbl="node1" presStyleIdx="3" presStyleCnt="6" custScaleX="126446" custScaleY="11803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070811-D8DA-409E-818E-79E3E82F4E6E}" type="pres">
      <dgm:prSet presAssocID="{0C1C9D96-3234-4334-BB4D-8E62BE7C7607}" presName="parTrans" presStyleLbl="sibTrans2D1" presStyleIdx="4" presStyleCnt="6"/>
      <dgm:spPr/>
      <dgm:t>
        <a:bodyPr/>
        <a:lstStyle/>
        <a:p>
          <a:endParaRPr lang="zh-CN" altLang="en-US"/>
        </a:p>
      </dgm:t>
    </dgm:pt>
    <dgm:pt modelId="{AD1D95DF-6869-4A52-876D-58C83FF68064}" type="pres">
      <dgm:prSet presAssocID="{0C1C9D96-3234-4334-BB4D-8E62BE7C7607}" presName="connectorText" presStyleLbl="sibTrans2D1" presStyleIdx="4" presStyleCnt="6"/>
      <dgm:spPr/>
      <dgm:t>
        <a:bodyPr/>
        <a:lstStyle/>
        <a:p>
          <a:endParaRPr lang="zh-CN" altLang="en-US"/>
        </a:p>
      </dgm:t>
    </dgm:pt>
    <dgm:pt modelId="{A33B6F7C-77D6-414E-AF80-560A30F5FD63}" type="pres">
      <dgm:prSet presAssocID="{F480385E-6FD4-444B-909D-70CCE22315BC}" presName="node" presStyleLbl="node1" presStyleIdx="4" presStyleCnt="6" custScaleX="127864" custScaleY="12657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E348918-0993-4087-97D9-D53591D6F326}" type="pres">
      <dgm:prSet presAssocID="{D63ED83B-A861-4827-94D5-98F084B34B12}" presName="parTrans" presStyleLbl="sibTrans2D1" presStyleIdx="5" presStyleCnt="6"/>
      <dgm:spPr/>
      <dgm:t>
        <a:bodyPr/>
        <a:lstStyle/>
        <a:p>
          <a:endParaRPr lang="zh-CN" altLang="en-US"/>
        </a:p>
      </dgm:t>
    </dgm:pt>
    <dgm:pt modelId="{E2A897FB-A8D2-4C41-AE02-34A22EBA882F}" type="pres">
      <dgm:prSet presAssocID="{D63ED83B-A861-4827-94D5-98F084B34B12}" presName="connectorText" presStyleLbl="sibTrans2D1" presStyleIdx="5" presStyleCnt="6"/>
      <dgm:spPr/>
      <dgm:t>
        <a:bodyPr/>
        <a:lstStyle/>
        <a:p>
          <a:endParaRPr lang="zh-CN" altLang="en-US"/>
        </a:p>
      </dgm:t>
    </dgm:pt>
    <dgm:pt modelId="{E2E6A0E4-83EB-413E-A664-5C4F5DA9BC13}" type="pres">
      <dgm:prSet presAssocID="{430A158B-FDF2-4C22-ADDC-F76A15319158}" presName="node" presStyleLbl="node1" presStyleIdx="5" presStyleCnt="6" custScaleX="127319" custScaleY="12847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B532BB6-C877-48FA-9F5D-5758C9E20E88}" type="presOf" srcId="{61940A9D-11EA-4918-A213-E3E01AD35B36}" destId="{4F567D5A-F649-416C-9F4F-F1666CD6DAED}" srcOrd="0" destOrd="0" presId="urn:microsoft.com/office/officeart/2005/8/layout/radial5"/>
    <dgm:cxn modelId="{41C2CC47-94D9-45DD-B3EF-D8FC74D08215}" type="presOf" srcId="{5DB30950-4637-4405-B6B0-6BD05234472C}" destId="{7739EB58-CE34-401B-8C51-48860D7A1660}" srcOrd="1" destOrd="0" presId="urn:microsoft.com/office/officeart/2005/8/layout/radial5"/>
    <dgm:cxn modelId="{7B964B47-1B4F-403B-A918-FB93BB77B15E}" srcId="{7779A588-270A-487C-88D2-F0163ABBD6E0}" destId="{430A158B-FDF2-4C22-ADDC-F76A15319158}" srcOrd="5" destOrd="0" parTransId="{D63ED83B-A861-4827-94D5-98F084B34B12}" sibTransId="{54DB0C08-86AC-4EE7-8C24-F863FC2B9CBC}"/>
    <dgm:cxn modelId="{B53789DE-C601-413C-8FD7-8D818A458BEE}" type="presOf" srcId="{CF54486E-E8B5-4C02-AE33-F8365F6969EB}" destId="{437BBCD7-3628-4CC9-8B89-F493762A0A9F}" srcOrd="0" destOrd="0" presId="urn:microsoft.com/office/officeart/2005/8/layout/radial5"/>
    <dgm:cxn modelId="{9DB3D373-91D5-416E-A01A-BDC96AAA8DFD}" type="presOf" srcId="{9D4CFAB3-AE99-4314-90A8-B1F2119568E6}" destId="{9277782A-FB05-4363-8DE0-0FE55906615C}" srcOrd="0" destOrd="0" presId="urn:microsoft.com/office/officeart/2005/8/layout/radial5"/>
    <dgm:cxn modelId="{906D1758-2535-4FE5-9D6D-70AE9C216C7C}" type="presOf" srcId="{5DB30950-4637-4405-B6B0-6BD05234472C}" destId="{18AE9004-8FE6-4F5B-8CBF-20FA174B5975}" srcOrd="0" destOrd="0" presId="urn:microsoft.com/office/officeart/2005/8/layout/radial5"/>
    <dgm:cxn modelId="{A686CC61-7E7B-4005-911D-A8E9AE61962C}" type="presOf" srcId="{7F299951-24AD-42A6-B09A-993ABF0E0878}" destId="{E3DC612F-97DF-4A0B-97A7-EFAC550D3D41}" srcOrd="0" destOrd="0" presId="urn:microsoft.com/office/officeart/2005/8/layout/radial5"/>
    <dgm:cxn modelId="{BBC2E21C-04ED-4CA1-BA5A-F8FDCDA04F60}" type="presOf" srcId="{61940A9D-11EA-4918-A213-E3E01AD35B36}" destId="{0EA3E284-A71B-442F-B37F-E21AA5E53820}" srcOrd="1" destOrd="0" presId="urn:microsoft.com/office/officeart/2005/8/layout/radial5"/>
    <dgm:cxn modelId="{88453EB3-9824-4DAD-920C-893ED8FB6340}" type="presOf" srcId="{37E82F80-421F-4D49-98F0-26E4350CBE6C}" destId="{26D73599-A61F-4E37-BD91-04DB091874F8}" srcOrd="1" destOrd="0" presId="urn:microsoft.com/office/officeart/2005/8/layout/radial5"/>
    <dgm:cxn modelId="{B951D589-4171-480B-8816-20C101C1889C}" type="presOf" srcId="{7779A588-270A-487C-88D2-F0163ABBD6E0}" destId="{F462DF8B-6B03-41BE-B43E-800A56A5B3F1}" srcOrd="0" destOrd="0" presId="urn:microsoft.com/office/officeart/2005/8/layout/radial5"/>
    <dgm:cxn modelId="{AF9BCDDB-2AB7-45C2-9F8A-842AE9B4D908}" type="presOf" srcId="{37E82F80-421F-4D49-98F0-26E4350CBE6C}" destId="{A27BC216-87A0-47A1-981F-4A0CB9139A8A}" srcOrd="0" destOrd="0" presId="urn:microsoft.com/office/officeart/2005/8/layout/radial5"/>
    <dgm:cxn modelId="{54589FBA-72A6-47B8-A250-5EABD376DE1C}" srcId="{7779A588-270A-487C-88D2-F0163ABBD6E0}" destId="{F480385E-6FD4-444B-909D-70CCE22315BC}" srcOrd="4" destOrd="0" parTransId="{0C1C9D96-3234-4334-BB4D-8E62BE7C7607}" sibTransId="{71A9B32E-8768-4AFC-B3FC-AD7DD2A4E49A}"/>
    <dgm:cxn modelId="{433668A4-A393-4496-B1B1-7AE8543448FF}" type="presOf" srcId="{C44C2029-BEB8-47B5-B2EA-720BF125AAFB}" destId="{DBEA04CF-9B7C-4988-998A-B06DA225C023}" srcOrd="1" destOrd="0" presId="urn:microsoft.com/office/officeart/2005/8/layout/radial5"/>
    <dgm:cxn modelId="{789D522F-F66B-4CE0-BCFE-0F6F4DA00614}" type="presOf" srcId="{430A158B-FDF2-4C22-ADDC-F76A15319158}" destId="{E2E6A0E4-83EB-413E-A664-5C4F5DA9BC13}" srcOrd="0" destOrd="0" presId="urn:microsoft.com/office/officeart/2005/8/layout/radial5"/>
    <dgm:cxn modelId="{CDE56BBC-922A-4E4C-A8F0-E6EB8EF43F0D}" type="presOf" srcId="{0C1C9D96-3234-4334-BB4D-8E62BE7C7607}" destId="{AD1D95DF-6869-4A52-876D-58C83FF68064}" srcOrd="1" destOrd="0" presId="urn:microsoft.com/office/officeart/2005/8/layout/radial5"/>
    <dgm:cxn modelId="{7ACD8C74-8F2C-4E08-B834-A71FD22788DD}" srcId="{7779A588-270A-487C-88D2-F0163ABBD6E0}" destId="{9D4CFAB3-AE99-4314-90A8-B1F2119568E6}" srcOrd="2" destOrd="0" parTransId="{61940A9D-11EA-4918-A213-E3E01AD35B36}" sibTransId="{0DDAD213-4C59-48EC-9D89-01E6C9D62BA8}"/>
    <dgm:cxn modelId="{AFEC1430-DE5D-4CA0-9A48-FFDA28546DA3}" type="presOf" srcId="{C44C2029-BEB8-47B5-B2EA-720BF125AAFB}" destId="{504D47E8-5648-46B9-9373-7181EC5380C9}" srcOrd="0" destOrd="0" presId="urn:microsoft.com/office/officeart/2005/8/layout/radial5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DC92F541-0997-44AA-98FA-7FABF90244A5}" srcId="{7779A588-270A-487C-88D2-F0163ABBD6E0}" destId="{7F299951-24AD-42A6-B09A-993ABF0E0878}" srcOrd="3" destOrd="0" parTransId="{37E82F80-421F-4D49-98F0-26E4350CBE6C}" sibTransId="{93206731-1023-4000-8A59-7FC9EFA6532A}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D9861345-901B-4697-B907-46F26DC781E9}" type="presOf" srcId="{0C1C9D96-3234-4334-BB4D-8E62BE7C7607}" destId="{A3070811-D8DA-409E-818E-79E3E82F4E6E}" srcOrd="0" destOrd="0" presId="urn:microsoft.com/office/officeart/2005/8/layout/radial5"/>
    <dgm:cxn modelId="{FAE00D85-CEDE-49B4-ACE6-CB7330398D84}" type="presOf" srcId="{F480385E-6FD4-444B-909D-70CCE22315BC}" destId="{A33B6F7C-77D6-414E-AF80-560A30F5FD63}" srcOrd="0" destOrd="0" presId="urn:microsoft.com/office/officeart/2005/8/layout/radial5"/>
    <dgm:cxn modelId="{686FE4EB-3A9A-49CE-961E-22DBAE7A7D93}" type="presOf" srcId="{9569084A-526A-4470-AA35-7ED4AA65A0E9}" destId="{4677DDB3-AC4C-464C-B0A6-CA5E153C97F6}" srcOrd="0" destOrd="0" presId="urn:microsoft.com/office/officeart/2005/8/layout/radial5"/>
    <dgm:cxn modelId="{D272FE32-E27B-4F22-92B4-03F21A5045DF}" type="presOf" srcId="{F155EF20-C8CC-450D-8369-03F526B51DB9}" destId="{06D8C5A0-E7E5-4A3B-84E2-156D853A274C}" srcOrd="0" destOrd="0" presId="urn:microsoft.com/office/officeart/2005/8/layout/radial5"/>
    <dgm:cxn modelId="{578DB338-5859-4EC7-9202-33CAD7C9ECE4}" type="presOf" srcId="{D63ED83B-A861-4827-94D5-98F084B34B12}" destId="{0E348918-0993-4087-97D9-D53591D6F326}" srcOrd="0" destOrd="0" presId="urn:microsoft.com/office/officeart/2005/8/layout/radial5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3587DC40-4CF1-479B-8152-482AA9F8FFB2}" type="presOf" srcId="{D63ED83B-A861-4827-94D5-98F084B34B12}" destId="{E2A897FB-A8D2-4C41-AE02-34A22EBA882F}" srcOrd="1" destOrd="0" presId="urn:microsoft.com/office/officeart/2005/8/layout/radial5"/>
    <dgm:cxn modelId="{37F34E0B-9401-4947-A57A-F3787113325D}" type="presParOf" srcId="{4677DDB3-AC4C-464C-B0A6-CA5E153C97F6}" destId="{F462DF8B-6B03-41BE-B43E-800A56A5B3F1}" srcOrd="0" destOrd="0" presId="urn:microsoft.com/office/officeart/2005/8/layout/radial5"/>
    <dgm:cxn modelId="{E435ABCB-181C-40D0-91BD-0B47A1AD9508}" type="presParOf" srcId="{4677DDB3-AC4C-464C-B0A6-CA5E153C97F6}" destId="{504D47E8-5648-46B9-9373-7181EC5380C9}" srcOrd="1" destOrd="0" presId="urn:microsoft.com/office/officeart/2005/8/layout/radial5"/>
    <dgm:cxn modelId="{C3AFA02C-EB26-40AD-9A39-31F2AC6D6ACF}" type="presParOf" srcId="{504D47E8-5648-46B9-9373-7181EC5380C9}" destId="{DBEA04CF-9B7C-4988-998A-B06DA225C023}" srcOrd="0" destOrd="0" presId="urn:microsoft.com/office/officeart/2005/8/layout/radial5"/>
    <dgm:cxn modelId="{2D5C118C-C17D-4ADF-836D-93B7E7388755}" type="presParOf" srcId="{4677DDB3-AC4C-464C-B0A6-CA5E153C97F6}" destId="{437BBCD7-3628-4CC9-8B89-F493762A0A9F}" srcOrd="2" destOrd="0" presId="urn:microsoft.com/office/officeart/2005/8/layout/radial5"/>
    <dgm:cxn modelId="{11E6A8B6-7B19-4F53-8652-6739DD065606}" type="presParOf" srcId="{4677DDB3-AC4C-464C-B0A6-CA5E153C97F6}" destId="{18AE9004-8FE6-4F5B-8CBF-20FA174B5975}" srcOrd="3" destOrd="0" presId="urn:microsoft.com/office/officeart/2005/8/layout/radial5"/>
    <dgm:cxn modelId="{B1D9E663-A25F-4A03-B150-F7E3B5CE2E9A}" type="presParOf" srcId="{18AE9004-8FE6-4F5B-8CBF-20FA174B5975}" destId="{7739EB58-CE34-401B-8C51-48860D7A1660}" srcOrd="0" destOrd="0" presId="urn:microsoft.com/office/officeart/2005/8/layout/radial5"/>
    <dgm:cxn modelId="{E321C5C2-3B74-4653-AFEA-8EEE2906E13C}" type="presParOf" srcId="{4677DDB3-AC4C-464C-B0A6-CA5E153C97F6}" destId="{06D8C5A0-E7E5-4A3B-84E2-156D853A274C}" srcOrd="4" destOrd="0" presId="urn:microsoft.com/office/officeart/2005/8/layout/radial5"/>
    <dgm:cxn modelId="{0E98C29A-052E-4DD8-BCA7-7FBBCA8CA5BD}" type="presParOf" srcId="{4677DDB3-AC4C-464C-B0A6-CA5E153C97F6}" destId="{4F567D5A-F649-416C-9F4F-F1666CD6DAED}" srcOrd="5" destOrd="0" presId="urn:microsoft.com/office/officeart/2005/8/layout/radial5"/>
    <dgm:cxn modelId="{A67BED8D-5280-4293-A388-63D6F9BD82B3}" type="presParOf" srcId="{4F567D5A-F649-416C-9F4F-F1666CD6DAED}" destId="{0EA3E284-A71B-442F-B37F-E21AA5E53820}" srcOrd="0" destOrd="0" presId="urn:microsoft.com/office/officeart/2005/8/layout/radial5"/>
    <dgm:cxn modelId="{A0EA37A5-6FAF-461B-8399-28BB7933A885}" type="presParOf" srcId="{4677DDB3-AC4C-464C-B0A6-CA5E153C97F6}" destId="{9277782A-FB05-4363-8DE0-0FE55906615C}" srcOrd="6" destOrd="0" presId="urn:microsoft.com/office/officeart/2005/8/layout/radial5"/>
    <dgm:cxn modelId="{226A1650-2D31-4F61-8521-808AC8E0FA52}" type="presParOf" srcId="{4677DDB3-AC4C-464C-B0A6-CA5E153C97F6}" destId="{A27BC216-87A0-47A1-981F-4A0CB9139A8A}" srcOrd="7" destOrd="0" presId="urn:microsoft.com/office/officeart/2005/8/layout/radial5"/>
    <dgm:cxn modelId="{CE20550B-ABD5-4C0A-BDAC-D9BE8BC9076A}" type="presParOf" srcId="{A27BC216-87A0-47A1-981F-4A0CB9139A8A}" destId="{26D73599-A61F-4E37-BD91-04DB091874F8}" srcOrd="0" destOrd="0" presId="urn:microsoft.com/office/officeart/2005/8/layout/radial5"/>
    <dgm:cxn modelId="{6E39D1BC-7DA7-40A5-9403-AF72D85CF5DB}" type="presParOf" srcId="{4677DDB3-AC4C-464C-B0A6-CA5E153C97F6}" destId="{E3DC612F-97DF-4A0B-97A7-EFAC550D3D41}" srcOrd="8" destOrd="0" presId="urn:microsoft.com/office/officeart/2005/8/layout/radial5"/>
    <dgm:cxn modelId="{32962199-BEA1-45D0-9B54-F423925B0F93}" type="presParOf" srcId="{4677DDB3-AC4C-464C-B0A6-CA5E153C97F6}" destId="{A3070811-D8DA-409E-818E-79E3E82F4E6E}" srcOrd="9" destOrd="0" presId="urn:microsoft.com/office/officeart/2005/8/layout/radial5"/>
    <dgm:cxn modelId="{3775CA4D-7075-47F6-9A95-AB0A4129476C}" type="presParOf" srcId="{A3070811-D8DA-409E-818E-79E3E82F4E6E}" destId="{AD1D95DF-6869-4A52-876D-58C83FF68064}" srcOrd="0" destOrd="0" presId="urn:microsoft.com/office/officeart/2005/8/layout/radial5"/>
    <dgm:cxn modelId="{403B2C0B-6F7E-47C2-9292-E544F3D9249C}" type="presParOf" srcId="{4677DDB3-AC4C-464C-B0A6-CA5E153C97F6}" destId="{A33B6F7C-77D6-414E-AF80-560A30F5FD63}" srcOrd="10" destOrd="0" presId="urn:microsoft.com/office/officeart/2005/8/layout/radial5"/>
    <dgm:cxn modelId="{4CB06ED9-F9AE-45C0-A29C-8A7042A54C39}" type="presParOf" srcId="{4677DDB3-AC4C-464C-B0A6-CA5E153C97F6}" destId="{0E348918-0993-4087-97D9-D53591D6F326}" srcOrd="11" destOrd="0" presId="urn:microsoft.com/office/officeart/2005/8/layout/radial5"/>
    <dgm:cxn modelId="{95E8F506-F7C0-47A4-8FE0-A16AEAE7A0E3}" type="presParOf" srcId="{0E348918-0993-4087-97D9-D53591D6F326}" destId="{E2A897FB-A8D2-4C41-AE02-34A22EBA882F}" srcOrd="0" destOrd="0" presId="urn:microsoft.com/office/officeart/2005/8/layout/radial5"/>
    <dgm:cxn modelId="{F3896AD7-ED91-4A42-8A71-90BB46A18916}" type="presParOf" srcId="{4677DDB3-AC4C-464C-B0A6-CA5E153C97F6}" destId="{E2E6A0E4-83EB-413E-A664-5C4F5DA9BC13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en-US" alt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Detection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Wide linear range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sensitivity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F299951-24AD-42A6-B09A-993ABF0E0878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small volume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7E82F80-421F-4D49-98F0-26E4350CBE6C}" type="parTrans" cxnId="{DC92F541-0997-44AA-98FA-7FABF90244A5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3206731-1023-4000-8A59-7FC9EFA6532A}" type="sibTrans" cxnId="{DC92F541-0997-44AA-98FA-7FABF90244A5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843AD1B-436E-4E28-97BB-16A51B3E3D1E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light-weight 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0BF9499-FD5E-4E67-AD58-90112E132416}" type="parTrans" cxnId="{1A8FFB0A-4DCC-4F27-ACC7-83D19B6698C3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871EB69-3B69-4EAE-AA0A-D21118A1F17B}" type="sibTrans" cxnId="{1A8FFB0A-4DCC-4F27-ACC7-83D19B6698C3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480385E-6FD4-444B-909D-70CCE22315BC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alt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Long life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C1C9D96-3234-4334-BB4D-8E62BE7C7607}" type="parTrans" cxnId="{54589FBA-72A6-47B8-A250-5EABD376DE1C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1A9B32E-8768-4AFC-B3FC-AD7DD2A4E49A}" type="sibTrans" cxnId="{54589FBA-72A6-47B8-A250-5EABD376DE1C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62DF8B-6B03-41BE-B43E-800A56A5B3F1}" type="pres">
      <dgm:prSet presAssocID="{7779A588-270A-487C-88D2-F0163ABBD6E0}" presName="centerShape" presStyleLbl="node0" presStyleIdx="0" presStyleCnt="1" custScaleX="125739" custScaleY="117036"/>
      <dgm:spPr/>
      <dgm:t>
        <a:bodyPr/>
        <a:lstStyle/>
        <a:p>
          <a:endParaRPr lang="zh-CN" altLang="en-US"/>
        </a:p>
      </dgm:t>
    </dgm:pt>
    <dgm:pt modelId="{504D47E8-5648-46B9-9373-7181EC5380C9}" type="pres">
      <dgm:prSet presAssocID="{C44C2029-BEB8-47B5-B2EA-720BF125AAFB}" presName="parTrans" presStyleLbl="sibTrans2D1" presStyleIdx="0" presStyleCnt="5"/>
      <dgm:spPr/>
      <dgm:t>
        <a:bodyPr/>
        <a:lstStyle/>
        <a:p>
          <a:endParaRPr lang="zh-CN" altLang="en-US"/>
        </a:p>
      </dgm:t>
    </dgm:pt>
    <dgm:pt modelId="{DBEA04CF-9B7C-4988-998A-B06DA225C023}" type="pres">
      <dgm:prSet presAssocID="{C44C2029-BEB8-47B5-B2EA-720BF125AAFB}" presName="connectorText" presStyleLbl="sibTrans2D1" presStyleIdx="0" presStyleCnt="5"/>
      <dgm:spPr/>
      <dgm:t>
        <a:bodyPr/>
        <a:lstStyle/>
        <a:p>
          <a:endParaRPr lang="zh-CN" altLang="en-US"/>
        </a:p>
      </dgm:t>
    </dgm:pt>
    <dgm:pt modelId="{437BBCD7-3628-4CC9-8B89-F493762A0A9F}" type="pres">
      <dgm:prSet presAssocID="{CF54486E-E8B5-4C02-AE33-F8365F6969EB}" presName="node" presStyleLbl="node1" presStyleIdx="0" presStyleCnt="5" custScaleX="111560" custScaleY="110171" custRadScaleRad="98110" custRadScaleInc="-185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AE9004-8FE6-4F5B-8CBF-20FA174B5975}" type="pres">
      <dgm:prSet presAssocID="{5DB30950-4637-4405-B6B0-6BD05234472C}" presName="parTrans" presStyleLbl="sibTrans2D1" presStyleIdx="1" presStyleCnt="5"/>
      <dgm:spPr/>
      <dgm:t>
        <a:bodyPr/>
        <a:lstStyle/>
        <a:p>
          <a:endParaRPr lang="zh-CN" altLang="en-US"/>
        </a:p>
      </dgm:t>
    </dgm:pt>
    <dgm:pt modelId="{7739EB58-CE34-401B-8C51-48860D7A1660}" type="pres">
      <dgm:prSet presAssocID="{5DB30950-4637-4405-B6B0-6BD05234472C}" presName="connectorText" presStyleLbl="sibTrans2D1" presStyleIdx="1" presStyleCnt="5"/>
      <dgm:spPr/>
      <dgm:t>
        <a:bodyPr/>
        <a:lstStyle/>
        <a:p>
          <a:endParaRPr lang="zh-CN" altLang="en-US"/>
        </a:p>
      </dgm:t>
    </dgm:pt>
    <dgm:pt modelId="{06D8C5A0-E7E5-4A3B-84E2-156D853A274C}" type="pres">
      <dgm:prSet presAssocID="{F155EF20-C8CC-450D-8369-03F526B51DB9}" presName="node" presStyleLbl="node1" presStyleIdx="1" presStyleCnt="5" custScaleX="122153" custScaleY="11807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7BC216-87A0-47A1-981F-4A0CB9139A8A}" type="pres">
      <dgm:prSet presAssocID="{37E82F80-421F-4D49-98F0-26E4350CBE6C}" presName="parTrans" presStyleLbl="sibTrans2D1" presStyleIdx="2" presStyleCnt="5"/>
      <dgm:spPr/>
      <dgm:t>
        <a:bodyPr/>
        <a:lstStyle/>
        <a:p>
          <a:endParaRPr lang="zh-CN" altLang="en-US"/>
        </a:p>
      </dgm:t>
    </dgm:pt>
    <dgm:pt modelId="{26D73599-A61F-4E37-BD91-04DB091874F8}" type="pres">
      <dgm:prSet presAssocID="{37E82F80-421F-4D49-98F0-26E4350CBE6C}" presName="connectorText" presStyleLbl="sibTrans2D1" presStyleIdx="2" presStyleCnt="5"/>
      <dgm:spPr/>
      <dgm:t>
        <a:bodyPr/>
        <a:lstStyle/>
        <a:p>
          <a:endParaRPr lang="zh-CN" altLang="en-US"/>
        </a:p>
      </dgm:t>
    </dgm:pt>
    <dgm:pt modelId="{E3DC612F-97DF-4A0B-97A7-EFAC550D3D41}" type="pres">
      <dgm:prSet presAssocID="{7F299951-24AD-42A6-B09A-993ABF0E087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AD5B7D6-54A6-44AA-8347-A4C9676B75CF}" type="pres">
      <dgm:prSet presAssocID="{20BF9499-FD5E-4E67-AD58-90112E132416}" presName="parTrans" presStyleLbl="sibTrans2D1" presStyleIdx="3" presStyleCnt="5"/>
      <dgm:spPr/>
      <dgm:t>
        <a:bodyPr/>
        <a:lstStyle/>
        <a:p>
          <a:endParaRPr lang="zh-CN" altLang="en-US"/>
        </a:p>
      </dgm:t>
    </dgm:pt>
    <dgm:pt modelId="{EB3F6259-5851-40FD-A1EC-B27CA244A8A1}" type="pres">
      <dgm:prSet presAssocID="{20BF9499-FD5E-4E67-AD58-90112E132416}" presName="connectorText" presStyleLbl="sibTrans2D1" presStyleIdx="3" presStyleCnt="5"/>
      <dgm:spPr/>
      <dgm:t>
        <a:bodyPr/>
        <a:lstStyle/>
        <a:p>
          <a:endParaRPr lang="zh-CN" altLang="en-US"/>
        </a:p>
      </dgm:t>
    </dgm:pt>
    <dgm:pt modelId="{0EB7A74F-7E3C-47B4-9D6D-656E43EA069A}" type="pres">
      <dgm:prSet presAssocID="{8843AD1B-436E-4E28-97BB-16A51B3E3D1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070811-D8DA-409E-818E-79E3E82F4E6E}" type="pres">
      <dgm:prSet presAssocID="{0C1C9D96-3234-4334-BB4D-8E62BE7C7607}" presName="parTrans" presStyleLbl="sibTrans2D1" presStyleIdx="4" presStyleCnt="5"/>
      <dgm:spPr/>
      <dgm:t>
        <a:bodyPr/>
        <a:lstStyle/>
        <a:p>
          <a:endParaRPr lang="zh-CN" altLang="en-US"/>
        </a:p>
      </dgm:t>
    </dgm:pt>
    <dgm:pt modelId="{AD1D95DF-6869-4A52-876D-58C83FF68064}" type="pres">
      <dgm:prSet presAssocID="{0C1C9D96-3234-4334-BB4D-8E62BE7C7607}" presName="connectorText" presStyleLbl="sibTrans2D1" presStyleIdx="4" presStyleCnt="5"/>
      <dgm:spPr/>
      <dgm:t>
        <a:bodyPr/>
        <a:lstStyle/>
        <a:p>
          <a:endParaRPr lang="zh-CN" altLang="en-US"/>
        </a:p>
      </dgm:t>
    </dgm:pt>
    <dgm:pt modelId="{A33B6F7C-77D6-414E-AF80-560A30F5FD63}" type="pres">
      <dgm:prSet presAssocID="{F480385E-6FD4-444B-909D-70CCE22315BC}" presName="node" presStyleLbl="node1" presStyleIdx="4" presStyleCnt="5" custScaleX="121453" custScaleY="11720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A8FFB0A-4DCC-4F27-ACC7-83D19B6698C3}" srcId="{7779A588-270A-487C-88D2-F0163ABBD6E0}" destId="{8843AD1B-436E-4E28-97BB-16A51B3E3D1E}" srcOrd="3" destOrd="0" parTransId="{20BF9499-FD5E-4E67-AD58-90112E132416}" sibTransId="{5871EB69-3B69-4EAE-AA0A-D21118A1F17B}"/>
    <dgm:cxn modelId="{866A13D6-4061-4D2A-BCD1-5E43B87BD27F}" type="presOf" srcId="{5DB30950-4637-4405-B6B0-6BD05234472C}" destId="{18AE9004-8FE6-4F5B-8CBF-20FA174B5975}" srcOrd="0" destOrd="0" presId="urn:microsoft.com/office/officeart/2005/8/layout/radial5"/>
    <dgm:cxn modelId="{D016AFA9-1D5A-43B4-92D3-53F6E59029A7}" type="presOf" srcId="{8843AD1B-436E-4E28-97BB-16A51B3E3D1E}" destId="{0EB7A74F-7E3C-47B4-9D6D-656E43EA069A}" srcOrd="0" destOrd="0" presId="urn:microsoft.com/office/officeart/2005/8/layout/radial5"/>
    <dgm:cxn modelId="{3110E468-F434-45D1-B6E3-550417E0687D}" type="presOf" srcId="{F155EF20-C8CC-450D-8369-03F526B51DB9}" destId="{06D8C5A0-E7E5-4A3B-84E2-156D853A274C}" srcOrd="0" destOrd="0" presId="urn:microsoft.com/office/officeart/2005/8/layout/radial5"/>
    <dgm:cxn modelId="{10E2657F-1DA3-4C1E-AB6C-64A328EB10CC}" type="presOf" srcId="{20BF9499-FD5E-4E67-AD58-90112E132416}" destId="{EB3F6259-5851-40FD-A1EC-B27CA244A8A1}" srcOrd="1" destOrd="0" presId="urn:microsoft.com/office/officeart/2005/8/layout/radial5"/>
    <dgm:cxn modelId="{38C9639F-FDF4-4914-BA63-E428C464E449}" type="presOf" srcId="{C44C2029-BEB8-47B5-B2EA-720BF125AAFB}" destId="{DBEA04CF-9B7C-4988-998A-B06DA225C023}" srcOrd="1" destOrd="0" presId="urn:microsoft.com/office/officeart/2005/8/layout/radial5"/>
    <dgm:cxn modelId="{216EE656-9B40-4C98-94C5-9DC2D1D983EB}" type="presOf" srcId="{0C1C9D96-3234-4334-BB4D-8E62BE7C7607}" destId="{AD1D95DF-6869-4A52-876D-58C83FF68064}" srcOrd="1" destOrd="0" presId="urn:microsoft.com/office/officeart/2005/8/layout/radial5"/>
    <dgm:cxn modelId="{54589FBA-72A6-47B8-A250-5EABD376DE1C}" srcId="{7779A588-270A-487C-88D2-F0163ABBD6E0}" destId="{F480385E-6FD4-444B-909D-70CCE22315BC}" srcOrd="4" destOrd="0" parTransId="{0C1C9D96-3234-4334-BB4D-8E62BE7C7607}" sibTransId="{71A9B32E-8768-4AFC-B3FC-AD7DD2A4E49A}"/>
    <dgm:cxn modelId="{6837F302-7E9C-4DDF-9B9F-93E679B612DE}" type="presOf" srcId="{20BF9499-FD5E-4E67-AD58-90112E132416}" destId="{5AD5B7D6-54A6-44AA-8347-A4C9676B75CF}" srcOrd="0" destOrd="0" presId="urn:microsoft.com/office/officeart/2005/8/layout/radial5"/>
    <dgm:cxn modelId="{73441B24-54AA-45C0-8334-A6AB23CBEE3E}" type="presOf" srcId="{F480385E-6FD4-444B-909D-70CCE22315BC}" destId="{A33B6F7C-77D6-414E-AF80-560A30F5FD63}" srcOrd="0" destOrd="0" presId="urn:microsoft.com/office/officeart/2005/8/layout/radial5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B0DA1A38-8DE0-41F1-BCEF-5184675273A4}" type="presOf" srcId="{9569084A-526A-4470-AA35-7ED4AA65A0E9}" destId="{4677DDB3-AC4C-464C-B0A6-CA5E153C97F6}" srcOrd="0" destOrd="0" presId="urn:microsoft.com/office/officeart/2005/8/layout/radial5"/>
    <dgm:cxn modelId="{153532D6-74AB-4254-AF2C-99B02BC35BD5}" type="presOf" srcId="{CF54486E-E8B5-4C02-AE33-F8365F6969EB}" destId="{437BBCD7-3628-4CC9-8B89-F493762A0A9F}" srcOrd="0" destOrd="0" presId="urn:microsoft.com/office/officeart/2005/8/layout/radial5"/>
    <dgm:cxn modelId="{D910500E-262E-4EDB-B358-A38A039E5DA8}" type="presOf" srcId="{37E82F80-421F-4D49-98F0-26E4350CBE6C}" destId="{A27BC216-87A0-47A1-981F-4A0CB9139A8A}" srcOrd="0" destOrd="0" presId="urn:microsoft.com/office/officeart/2005/8/layout/radial5"/>
    <dgm:cxn modelId="{DA7C93F1-A561-43B9-9EFD-8B17BB6B5D3B}" type="presOf" srcId="{5DB30950-4637-4405-B6B0-6BD05234472C}" destId="{7739EB58-CE34-401B-8C51-48860D7A1660}" srcOrd="1" destOrd="0" presId="urn:microsoft.com/office/officeart/2005/8/layout/radial5"/>
    <dgm:cxn modelId="{DC92F541-0997-44AA-98FA-7FABF90244A5}" srcId="{7779A588-270A-487C-88D2-F0163ABBD6E0}" destId="{7F299951-24AD-42A6-B09A-993ABF0E0878}" srcOrd="2" destOrd="0" parTransId="{37E82F80-421F-4D49-98F0-26E4350CBE6C}" sibTransId="{93206731-1023-4000-8A59-7FC9EFA6532A}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C33AD090-5FA8-4EF2-84FD-4455087DBCB9}" type="presOf" srcId="{C44C2029-BEB8-47B5-B2EA-720BF125AAFB}" destId="{504D47E8-5648-46B9-9373-7181EC5380C9}" srcOrd="0" destOrd="0" presId="urn:microsoft.com/office/officeart/2005/8/layout/radial5"/>
    <dgm:cxn modelId="{1AA7CFA1-4401-4A4A-BB37-F3B3B55633E4}" type="presOf" srcId="{0C1C9D96-3234-4334-BB4D-8E62BE7C7607}" destId="{A3070811-D8DA-409E-818E-79E3E82F4E6E}" srcOrd="0" destOrd="0" presId="urn:microsoft.com/office/officeart/2005/8/layout/radial5"/>
    <dgm:cxn modelId="{71A3360C-34BC-4376-9255-D59CAD7FDFE9}" type="presOf" srcId="{7F299951-24AD-42A6-B09A-993ABF0E0878}" destId="{E3DC612F-97DF-4A0B-97A7-EFAC550D3D41}" srcOrd="0" destOrd="0" presId="urn:microsoft.com/office/officeart/2005/8/layout/radial5"/>
    <dgm:cxn modelId="{0BA27F4E-3094-45C9-A6FF-2FE4F274ECF1}" type="presOf" srcId="{37E82F80-421F-4D49-98F0-26E4350CBE6C}" destId="{26D73599-A61F-4E37-BD91-04DB091874F8}" srcOrd="1" destOrd="0" presId="urn:microsoft.com/office/officeart/2005/8/layout/radial5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3E748175-5E0E-460C-B470-BF46EAEF4B64}" type="presOf" srcId="{7779A588-270A-487C-88D2-F0163ABBD6E0}" destId="{F462DF8B-6B03-41BE-B43E-800A56A5B3F1}" srcOrd="0" destOrd="0" presId="urn:microsoft.com/office/officeart/2005/8/layout/radial5"/>
    <dgm:cxn modelId="{77C769EB-5E4A-4D07-AAFB-F913EAE2C47A}" type="presParOf" srcId="{4677DDB3-AC4C-464C-B0A6-CA5E153C97F6}" destId="{F462DF8B-6B03-41BE-B43E-800A56A5B3F1}" srcOrd="0" destOrd="0" presId="urn:microsoft.com/office/officeart/2005/8/layout/radial5"/>
    <dgm:cxn modelId="{263FC8B5-BDDD-45DD-812A-44F403E24DB0}" type="presParOf" srcId="{4677DDB3-AC4C-464C-B0A6-CA5E153C97F6}" destId="{504D47E8-5648-46B9-9373-7181EC5380C9}" srcOrd="1" destOrd="0" presId="urn:microsoft.com/office/officeart/2005/8/layout/radial5"/>
    <dgm:cxn modelId="{D07ED2AE-51E1-451F-AC90-CD48A690EC10}" type="presParOf" srcId="{504D47E8-5648-46B9-9373-7181EC5380C9}" destId="{DBEA04CF-9B7C-4988-998A-B06DA225C023}" srcOrd="0" destOrd="0" presId="urn:microsoft.com/office/officeart/2005/8/layout/radial5"/>
    <dgm:cxn modelId="{352AC3C0-C125-43D8-93E1-D78C108659F6}" type="presParOf" srcId="{4677DDB3-AC4C-464C-B0A6-CA5E153C97F6}" destId="{437BBCD7-3628-4CC9-8B89-F493762A0A9F}" srcOrd="2" destOrd="0" presId="urn:microsoft.com/office/officeart/2005/8/layout/radial5"/>
    <dgm:cxn modelId="{CF9DA5CE-83D0-4CA7-95DC-094DBCFF42E8}" type="presParOf" srcId="{4677DDB3-AC4C-464C-B0A6-CA5E153C97F6}" destId="{18AE9004-8FE6-4F5B-8CBF-20FA174B5975}" srcOrd="3" destOrd="0" presId="urn:microsoft.com/office/officeart/2005/8/layout/radial5"/>
    <dgm:cxn modelId="{110D1788-83C9-4D06-B4C8-52E879871D8B}" type="presParOf" srcId="{18AE9004-8FE6-4F5B-8CBF-20FA174B5975}" destId="{7739EB58-CE34-401B-8C51-48860D7A1660}" srcOrd="0" destOrd="0" presId="urn:microsoft.com/office/officeart/2005/8/layout/radial5"/>
    <dgm:cxn modelId="{A4673D2D-1932-4A1A-BD7D-39B8A4281E0F}" type="presParOf" srcId="{4677DDB3-AC4C-464C-B0A6-CA5E153C97F6}" destId="{06D8C5A0-E7E5-4A3B-84E2-156D853A274C}" srcOrd="4" destOrd="0" presId="urn:microsoft.com/office/officeart/2005/8/layout/radial5"/>
    <dgm:cxn modelId="{94B58F11-CB5F-4E38-B6B0-8476DABAA293}" type="presParOf" srcId="{4677DDB3-AC4C-464C-B0A6-CA5E153C97F6}" destId="{A27BC216-87A0-47A1-981F-4A0CB9139A8A}" srcOrd="5" destOrd="0" presId="urn:microsoft.com/office/officeart/2005/8/layout/radial5"/>
    <dgm:cxn modelId="{B03BA9EF-42EC-42F6-A11F-3AF6768275EF}" type="presParOf" srcId="{A27BC216-87A0-47A1-981F-4A0CB9139A8A}" destId="{26D73599-A61F-4E37-BD91-04DB091874F8}" srcOrd="0" destOrd="0" presId="urn:microsoft.com/office/officeart/2005/8/layout/radial5"/>
    <dgm:cxn modelId="{E4AE1D8E-7916-42D4-9560-AE2BE2B98BFD}" type="presParOf" srcId="{4677DDB3-AC4C-464C-B0A6-CA5E153C97F6}" destId="{E3DC612F-97DF-4A0B-97A7-EFAC550D3D41}" srcOrd="6" destOrd="0" presId="urn:microsoft.com/office/officeart/2005/8/layout/radial5"/>
    <dgm:cxn modelId="{BC36C7AD-0879-4A85-A557-118BA710A842}" type="presParOf" srcId="{4677DDB3-AC4C-464C-B0A6-CA5E153C97F6}" destId="{5AD5B7D6-54A6-44AA-8347-A4C9676B75CF}" srcOrd="7" destOrd="0" presId="urn:microsoft.com/office/officeart/2005/8/layout/radial5"/>
    <dgm:cxn modelId="{1AFAD56F-4F09-4C08-8E6A-2A342974FCC0}" type="presParOf" srcId="{5AD5B7D6-54A6-44AA-8347-A4C9676B75CF}" destId="{EB3F6259-5851-40FD-A1EC-B27CA244A8A1}" srcOrd="0" destOrd="0" presId="urn:microsoft.com/office/officeart/2005/8/layout/radial5"/>
    <dgm:cxn modelId="{259010A7-4882-48A1-BF55-8662B68F5C61}" type="presParOf" srcId="{4677DDB3-AC4C-464C-B0A6-CA5E153C97F6}" destId="{0EB7A74F-7E3C-47B4-9D6D-656E43EA069A}" srcOrd="8" destOrd="0" presId="urn:microsoft.com/office/officeart/2005/8/layout/radial5"/>
    <dgm:cxn modelId="{8636FF47-80B9-4E5B-B7A6-0D3CA0C3E795}" type="presParOf" srcId="{4677DDB3-AC4C-464C-B0A6-CA5E153C97F6}" destId="{A3070811-D8DA-409E-818E-79E3E82F4E6E}" srcOrd="9" destOrd="0" presId="urn:microsoft.com/office/officeart/2005/8/layout/radial5"/>
    <dgm:cxn modelId="{75667DD7-FCC1-4D3F-921E-D132196F64D8}" type="presParOf" srcId="{A3070811-D8DA-409E-818E-79E3E82F4E6E}" destId="{AD1D95DF-6869-4A52-876D-58C83FF68064}" srcOrd="0" destOrd="0" presId="urn:microsoft.com/office/officeart/2005/8/layout/radial5"/>
    <dgm:cxn modelId="{0F047A39-C277-4EF2-9776-15D1FAC7E9BF}" type="presParOf" srcId="{4677DDB3-AC4C-464C-B0A6-CA5E153C97F6}" destId="{A33B6F7C-77D6-414E-AF80-560A30F5FD63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2192263" y="1992950"/>
          <a:ext cx="1353952" cy="1353952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E</a:t>
          </a:r>
          <a:r>
            <a:rPr lang="en-US" altLang="en-US" sz="2000" b="1" kern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nergy</a:t>
          </a:r>
          <a:endParaRPr lang="zh-CN" altLang="en-US" sz="2000" b="1" kern="12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390545" y="2191232"/>
        <a:ext cx="957388" cy="957388"/>
      </dsp:txXfrm>
    </dsp:sp>
    <dsp:sp modelId="{504D47E8-5648-46B9-9373-7181EC5380C9}">
      <dsp:nvSpPr>
        <dsp:cNvPr id="0" name=""/>
        <dsp:cNvSpPr/>
      </dsp:nvSpPr>
      <dsp:spPr>
        <a:xfrm rot="16166556">
          <a:off x="2746305" y="1545009"/>
          <a:ext cx="228625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10800000">
        <a:off x="2780932" y="1674809"/>
        <a:ext cx="160038" cy="286522"/>
      </dsp:txXfrm>
    </dsp:sp>
    <dsp:sp modelId="{437BBCD7-3628-4CC9-8B89-F493762A0A9F}">
      <dsp:nvSpPr>
        <dsp:cNvPr id="0" name=""/>
        <dsp:cNvSpPr/>
      </dsp:nvSpPr>
      <dsp:spPr>
        <a:xfrm>
          <a:off x="1979461" y="-82932"/>
          <a:ext cx="1741991" cy="1644602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Simple structure 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234570" y="157914"/>
        <a:ext cx="1231773" cy="1162910"/>
      </dsp:txXfrm>
    </dsp:sp>
    <dsp:sp modelId="{18AE9004-8FE6-4F5B-8CBF-20FA174B5975}">
      <dsp:nvSpPr>
        <dsp:cNvPr id="0" name=""/>
        <dsp:cNvSpPr/>
      </dsp:nvSpPr>
      <dsp:spPr>
        <a:xfrm rot="19800000">
          <a:off x="3524524" y="1984722"/>
          <a:ext cx="235924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529265" y="2097924"/>
        <a:ext cx="165147" cy="286522"/>
      </dsp:txXfrm>
    </dsp:sp>
    <dsp:sp modelId="{06D8C5A0-E7E5-4A3B-84E2-156D853A274C}">
      <dsp:nvSpPr>
        <dsp:cNvPr id="0" name=""/>
        <dsp:cNvSpPr/>
      </dsp:nvSpPr>
      <dsp:spPr>
        <a:xfrm>
          <a:off x="3727220" y="841759"/>
          <a:ext cx="1692440" cy="1688493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reliability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75072" y="1089033"/>
        <a:ext cx="1196736" cy="1193945"/>
      </dsp:txXfrm>
    </dsp:sp>
    <dsp:sp modelId="{4F567D5A-F649-416C-9F4F-F1666CD6DAED}">
      <dsp:nvSpPr>
        <dsp:cNvPr id="0" name=""/>
        <dsp:cNvSpPr/>
      </dsp:nvSpPr>
      <dsp:spPr>
        <a:xfrm rot="1800000">
          <a:off x="3514419" y="2861783"/>
          <a:ext cx="201374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518466" y="2942188"/>
        <a:ext cx="140962" cy="286522"/>
      </dsp:txXfrm>
    </dsp:sp>
    <dsp:sp modelId="{9277782A-FB05-4363-8DE0-0FE55906615C}">
      <dsp:nvSpPr>
        <dsp:cNvPr id="0" name=""/>
        <dsp:cNvSpPr/>
      </dsp:nvSpPr>
      <dsp:spPr>
        <a:xfrm>
          <a:off x="3672521" y="2710827"/>
          <a:ext cx="1801838" cy="1886040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conversion efficiency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36394" y="2987031"/>
        <a:ext cx="1274092" cy="1333632"/>
      </dsp:txXfrm>
    </dsp:sp>
    <dsp:sp modelId="{A27BC216-87A0-47A1-981F-4A0CB9139A8A}">
      <dsp:nvSpPr>
        <dsp:cNvPr id="0" name=""/>
        <dsp:cNvSpPr/>
      </dsp:nvSpPr>
      <dsp:spPr>
        <a:xfrm rot="5400000">
          <a:off x="2746815" y="3332192"/>
          <a:ext cx="244848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783542" y="3390973"/>
        <a:ext cx="171394" cy="286522"/>
      </dsp:txXfrm>
    </dsp:sp>
    <dsp:sp modelId="{E3DC612F-97DF-4A0B-97A7-EFAC550D3D41}">
      <dsp:nvSpPr>
        <dsp:cNvPr id="0" name=""/>
        <dsp:cNvSpPr/>
      </dsp:nvSpPr>
      <dsp:spPr>
        <a:xfrm>
          <a:off x="1981256" y="3808880"/>
          <a:ext cx="1775967" cy="1657776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Small volume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241340" y="4051656"/>
        <a:ext cx="1255799" cy="1172224"/>
      </dsp:txXfrm>
    </dsp:sp>
    <dsp:sp modelId="{A3070811-D8DA-409E-818E-79E3E82F4E6E}">
      <dsp:nvSpPr>
        <dsp:cNvPr id="0" name=""/>
        <dsp:cNvSpPr/>
      </dsp:nvSpPr>
      <dsp:spPr>
        <a:xfrm rot="9000000">
          <a:off x="2012232" y="2865484"/>
          <a:ext cx="209461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10800000">
        <a:off x="2070861" y="2945283"/>
        <a:ext cx="146623" cy="286522"/>
      </dsp:txXfrm>
    </dsp:sp>
    <dsp:sp modelId="{A33B6F7C-77D6-414E-AF80-560A30F5FD63}">
      <dsp:nvSpPr>
        <dsp:cNvPr id="0" name=""/>
        <dsp:cNvSpPr/>
      </dsp:nvSpPr>
      <dsp:spPr>
        <a:xfrm>
          <a:off x="267096" y="2764951"/>
          <a:ext cx="1795883" cy="1777793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Long life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30097" y="3025303"/>
        <a:ext cx="1269881" cy="1257089"/>
      </dsp:txXfrm>
    </dsp:sp>
    <dsp:sp modelId="{0E348918-0993-4087-97D9-D53591D6F326}">
      <dsp:nvSpPr>
        <dsp:cNvPr id="0" name=""/>
        <dsp:cNvSpPr/>
      </dsp:nvSpPr>
      <dsp:spPr>
        <a:xfrm rot="12600000">
          <a:off x="2012556" y="1996945"/>
          <a:ext cx="209211" cy="477538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/>
        </a:p>
      </dsp:txBody>
      <dsp:txXfrm rot="10800000">
        <a:off x="2071115" y="2108144"/>
        <a:ext cx="146448" cy="286522"/>
      </dsp:txXfrm>
    </dsp:sp>
    <dsp:sp modelId="{E2E6A0E4-83EB-413E-A664-5C4F5DA9BC13}">
      <dsp:nvSpPr>
        <dsp:cNvPr id="0" name=""/>
        <dsp:cNvSpPr/>
      </dsp:nvSpPr>
      <dsp:spPr>
        <a:xfrm>
          <a:off x="270924" y="783759"/>
          <a:ext cx="1788228" cy="1804493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Light-weight 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32804" y="1048021"/>
        <a:ext cx="1264468" cy="1275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1989695" y="2177683"/>
          <a:ext cx="1966612" cy="1830494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Detection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277699" y="2445753"/>
        <a:ext cx="1390604" cy="1294354"/>
      </dsp:txXfrm>
    </dsp:sp>
    <dsp:sp modelId="{504D47E8-5648-46B9-9373-7181EC5380C9}">
      <dsp:nvSpPr>
        <dsp:cNvPr id="0" name=""/>
        <dsp:cNvSpPr/>
      </dsp:nvSpPr>
      <dsp:spPr>
        <a:xfrm rot="16159867">
          <a:off x="2852674" y="1708575"/>
          <a:ext cx="214699" cy="5454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10800000">
        <a:off x="2885255" y="1849860"/>
        <a:ext cx="150289" cy="327246"/>
      </dsp:txXfrm>
    </dsp:sp>
    <dsp:sp modelId="{437BBCD7-3628-4CC9-8B89-F493762A0A9F}">
      <dsp:nvSpPr>
        <dsp:cNvPr id="0" name=""/>
        <dsp:cNvSpPr/>
      </dsp:nvSpPr>
      <dsp:spPr>
        <a:xfrm>
          <a:off x="2052479" y="5425"/>
          <a:ext cx="1789586" cy="1767305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Wide linear range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314558" y="264241"/>
        <a:ext cx="1265428" cy="1249673"/>
      </dsp:txXfrm>
    </dsp:sp>
    <dsp:sp modelId="{18AE9004-8FE6-4F5B-8CBF-20FA174B5975}">
      <dsp:nvSpPr>
        <dsp:cNvPr id="0" name=""/>
        <dsp:cNvSpPr/>
      </dsp:nvSpPr>
      <dsp:spPr>
        <a:xfrm rot="20520000">
          <a:off x="3959037" y="2474543"/>
          <a:ext cx="155729" cy="5454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60180" y="2590843"/>
        <a:ext cx="109010" cy="327246"/>
      </dsp:txXfrm>
    </dsp:sp>
    <dsp:sp modelId="{06D8C5A0-E7E5-4A3B-84E2-156D853A274C}">
      <dsp:nvSpPr>
        <dsp:cNvPr id="0" name=""/>
        <dsp:cNvSpPr/>
      </dsp:nvSpPr>
      <dsp:spPr>
        <a:xfrm>
          <a:off x="4129756" y="1451671"/>
          <a:ext cx="1959514" cy="1894129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High sensitivity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16720" y="1729060"/>
        <a:ext cx="1385586" cy="1339351"/>
      </dsp:txXfrm>
    </dsp:sp>
    <dsp:sp modelId="{A27BC216-87A0-47A1-981F-4A0CB9139A8A}">
      <dsp:nvSpPr>
        <dsp:cNvPr id="0" name=""/>
        <dsp:cNvSpPr/>
      </dsp:nvSpPr>
      <dsp:spPr>
        <a:xfrm rot="3240000">
          <a:off x="3534021" y="3777417"/>
          <a:ext cx="268842" cy="5454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550644" y="3853874"/>
        <a:ext cx="188189" cy="327246"/>
      </dsp:txXfrm>
    </dsp:sp>
    <dsp:sp modelId="{E3DC612F-97DF-4A0B-97A7-EFAC550D3D41}">
      <dsp:nvSpPr>
        <dsp:cNvPr id="0" name=""/>
        <dsp:cNvSpPr/>
      </dsp:nvSpPr>
      <dsp:spPr>
        <a:xfrm>
          <a:off x="3491365" y="4108282"/>
          <a:ext cx="1604147" cy="1604147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small volume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726287" y="4343204"/>
        <a:ext cx="1134303" cy="1134303"/>
      </dsp:txXfrm>
    </dsp:sp>
    <dsp:sp modelId="{5AD5B7D6-54A6-44AA-8347-A4C9676B75CF}">
      <dsp:nvSpPr>
        <dsp:cNvPr id="0" name=""/>
        <dsp:cNvSpPr/>
      </dsp:nvSpPr>
      <dsp:spPr>
        <a:xfrm rot="7560000">
          <a:off x="2143140" y="3777417"/>
          <a:ext cx="268842" cy="5454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10800000">
        <a:off x="2207170" y="3853874"/>
        <a:ext cx="188189" cy="327246"/>
      </dsp:txXfrm>
    </dsp:sp>
    <dsp:sp modelId="{0EB7A74F-7E3C-47B4-9D6D-656E43EA069A}">
      <dsp:nvSpPr>
        <dsp:cNvPr id="0" name=""/>
        <dsp:cNvSpPr/>
      </dsp:nvSpPr>
      <dsp:spPr>
        <a:xfrm>
          <a:off x="850491" y="4108282"/>
          <a:ext cx="1604147" cy="1604147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light-weight 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085413" y="4343204"/>
        <a:ext cx="1134303" cy="1134303"/>
      </dsp:txXfrm>
    </dsp:sp>
    <dsp:sp modelId="{A3070811-D8DA-409E-818E-79E3E82F4E6E}">
      <dsp:nvSpPr>
        <dsp:cNvPr id="0" name=""/>
        <dsp:cNvSpPr/>
      </dsp:nvSpPr>
      <dsp:spPr>
        <a:xfrm rot="11880000">
          <a:off x="1827055" y="2473680"/>
          <a:ext cx="158781" cy="545410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10800000">
        <a:off x="1873523" y="2590122"/>
        <a:ext cx="111147" cy="327246"/>
      </dsp:txXfrm>
    </dsp:sp>
    <dsp:sp modelId="{A33B6F7C-77D6-414E-AF80-560A30F5FD63}">
      <dsp:nvSpPr>
        <dsp:cNvPr id="0" name=""/>
        <dsp:cNvSpPr/>
      </dsp:nvSpPr>
      <dsp:spPr>
        <a:xfrm>
          <a:off x="-137651" y="1458649"/>
          <a:ext cx="1948285" cy="1880172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Long life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47669" y="1733994"/>
        <a:ext cx="1377645" cy="132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25.wmf"/><Relationship Id="rId2" Type="http://schemas.openxmlformats.org/officeDocument/2006/relationships/image" Target="../media/image30.emf"/><Relationship Id="rId1" Type="http://schemas.openxmlformats.org/officeDocument/2006/relationships/image" Target="../media/image29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e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81F8A-2C3D-48F4-A7E6-F8751235922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3F689-19EB-4193-B6B7-F49B321981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C75AC-5690-4581-A5E2-CB945B278C1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890C8-CE19-4D2A-80EC-1B3A563089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C3F57-D117-4F7E-BB0A-E7A3D32D01E8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0D015-3972-4326-AD5C-C5764EA8FD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57C93-3C2F-4B78-97BF-955D6EBF9C1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8BF2E-F097-415D-ACEA-225D4CB5C2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B4D8E-F4DE-474F-9A38-7F97A23C186D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54F2-3401-472E-AC07-385383AEC3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36AE4-18C9-4A05-8BDD-22B44BBD6B9C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4D3F9-FD85-4DA7-81E7-712BEC4C22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6DA12-B245-4E55-ACEB-0AC027FD7306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EAEF2-A8C4-4331-A72B-B2AC7B3E74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4EC9E-1694-46B1-BA45-8BC98CDD17C3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09826-3B28-4D8E-AA80-78AB42DA31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F3E82-60A7-4932-AB4B-6BE1982870C3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A9444-6378-4031-A0B0-B253E293AB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C74E8-75D3-4137-B742-283C5C08AFC4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4E709-7BB4-48D6-B9BF-8D861CD0E3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DB045-7E7E-4D5B-86F8-A68B2C5C0839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444FB-485F-4AA5-8CAC-ACBC2AD30E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F61BFD-5575-464D-84DE-F83A1C67F657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3070E1-199D-4615-B9A9-4342C44F6C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zh.wikipedia.org/wiki/File:Ombri%C3%A8re_SUDI_-_Sustainable_Urban_Design_&amp;_Innovation.jpg" TargetMode="External"/><Relationship Id="rId3" Type="http://schemas.openxmlformats.org/officeDocument/2006/relationships/image" Target="../media/image14.jpeg"/><Relationship Id="rId7" Type="http://schemas.openxmlformats.org/officeDocument/2006/relationships/image" Target="../media/image1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zh.wikipedia.org/wiki/File:Boutiquehotel_Stadthalle_Wien.jpg" TargetMode="External"/><Relationship Id="rId11" Type="http://schemas.openxmlformats.org/officeDocument/2006/relationships/image" Target="../media/image20.jpeg"/><Relationship Id="rId5" Type="http://schemas.openxmlformats.org/officeDocument/2006/relationships/image" Target="../media/image16.jpeg"/><Relationship Id="rId10" Type="http://schemas.openxmlformats.org/officeDocument/2006/relationships/image" Target="../media/image19.jpeg"/><Relationship Id="rId4" Type="http://schemas.openxmlformats.org/officeDocument/2006/relationships/image" Target="../media/image15.jpeg"/><Relationship Id="rId9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8.e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40.w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.vsd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2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Visio___2.vsdx"/><Relationship Id="rId4" Type="http://schemas.openxmlformats.org/officeDocument/2006/relationships/image" Target="../media/image5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6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6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6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7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7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7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73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cumcm2012&#19977;&#31181;&#31867;&#22411;&#30340;&#20809;&#20239;&#30005;&#27744;(A&#21333;&#26230;&#30789;B&#22810;&#26230;&#30789;C&#38750;&#26230;&#30789;&#34180;&#33180;)&#32452;&#20214;&#35774;&#35745;&#21442;&#25968;&#21644;&#24066;&#22330;&#20215;&#26684;.xl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078498" y="3859063"/>
            <a:ext cx="681037" cy="622300"/>
            <a:chOff x="3144838" y="3230563"/>
            <a:chExt cx="681037" cy="622300"/>
          </a:xfrm>
        </p:grpSpPr>
        <p:sp>
          <p:nvSpPr>
            <p:cNvPr id="3" name="燕尾形箭头 2"/>
            <p:cNvSpPr>
              <a:spLocks noChangeArrowheads="1"/>
            </p:cNvSpPr>
            <p:nvPr/>
          </p:nvSpPr>
          <p:spPr bwMode="auto">
            <a:xfrm rot="-9089823">
              <a:off x="3144838" y="3230563"/>
              <a:ext cx="681037" cy="622300"/>
            </a:xfrm>
            <a:prstGeom prst="notchedRightArrow">
              <a:avLst>
                <a:gd name="adj1" fmla="val 50000"/>
                <a:gd name="adj2" fmla="val 50002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</a:gradFill>
            <a:ln w="25400" algn="ctr">
              <a:solidFill>
                <a:srgbClr val="E46C0A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defTabSz="914400">
                <a:defRPr/>
              </a:pPr>
              <a:endParaRPr lang="zh-CN" altLang="en-US" sz="2800" b="1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70699" name="组合 63"/>
            <p:cNvGrpSpPr>
              <a:grpSpLocks/>
            </p:cNvGrpSpPr>
            <p:nvPr/>
          </p:nvGrpSpPr>
          <p:grpSpPr bwMode="auto">
            <a:xfrm>
              <a:off x="3221038" y="3319461"/>
              <a:ext cx="305448" cy="333377"/>
              <a:chOff x="7785163" y="2548486"/>
              <a:chExt cx="305448" cy="333377"/>
            </a:xfrm>
          </p:grpSpPr>
          <p:sp>
            <p:nvSpPr>
              <p:cNvPr id="5" name="椭圆 4"/>
              <p:cNvSpPr>
                <a:spLocks noChangeAspect="1"/>
              </p:cNvSpPr>
              <p:nvPr/>
            </p:nvSpPr>
            <p:spPr bwMode="auto">
              <a:xfrm>
                <a:off x="7785163" y="2589763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6" name="TextBox 37"/>
              <p:cNvSpPr txBox="1">
                <a:spLocks noChangeArrowheads="1"/>
              </p:cNvSpPr>
              <p:nvPr/>
            </p:nvSpPr>
            <p:spPr bwMode="auto">
              <a:xfrm>
                <a:off x="7870888" y="2548488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7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5010235" y="4702025"/>
            <a:ext cx="681038" cy="620713"/>
            <a:chOff x="3076575" y="4073525"/>
            <a:chExt cx="681038" cy="620713"/>
          </a:xfrm>
        </p:grpSpPr>
        <p:sp>
          <p:nvSpPr>
            <p:cNvPr id="8" name="燕尾形箭头 7"/>
            <p:cNvSpPr>
              <a:spLocks noChangeArrowheads="1"/>
            </p:cNvSpPr>
            <p:nvPr/>
          </p:nvSpPr>
          <p:spPr bwMode="auto">
            <a:xfrm rot="9791136">
              <a:off x="3076575" y="4073525"/>
              <a:ext cx="681038" cy="620713"/>
            </a:xfrm>
            <a:prstGeom prst="notchedRightArrow">
              <a:avLst>
                <a:gd name="adj1" fmla="val 50000"/>
                <a:gd name="adj2" fmla="val 49998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</a:gradFill>
            <a:ln w="25400" algn="ctr">
              <a:solidFill>
                <a:srgbClr val="E46C0A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defTabSz="914400">
                <a:defRPr/>
              </a:pPr>
              <a:endParaRPr lang="zh-CN" altLang="en-US" sz="2800" b="1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70704" name="组合 60"/>
            <p:cNvGrpSpPr>
              <a:grpSpLocks/>
            </p:cNvGrpSpPr>
            <p:nvPr/>
          </p:nvGrpSpPr>
          <p:grpSpPr bwMode="auto">
            <a:xfrm>
              <a:off x="3184525" y="4232286"/>
              <a:ext cx="305448" cy="333365"/>
              <a:chOff x="7785163" y="2548486"/>
              <a:chExt cx="305448" cy="333365"/>
            </a:xfrm>
          </p:grpSpPr>
          <p:sp>
            <p:nvSpPr>
              <p:cNvPr id="10" name="椭圆 9"/>
              <p:cNvSpPr>
                <a:spLocks noChangeAspect="1"/>
              </p:cNvSpPr>
              <p:nvPr/>
            </p:nvSpPr>
            <p:spPr bwMode="auto">
              <a:xfrm>
                <a:off x="7785163" y="2589750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11" name="TextBox 37"/>
              <p:cNvSpPr txBox="1">
                <a:spLocks noChangeArrowheads="1"/>
              </p:cNvSpPr>
              <p:nvPr/>
            </p:nvSpPr>
            <p:spPr bwMode="auto">
              <a:xfrm>
                <a:off x="7870888" y="2548475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6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754773" y="5337025"/>
            <a:ext cx="620712" cy="679450"/>
            <a:chOff x="3821113" y="4708525"/>
            <a:chExt cx="620712" cy="679450"/>
          </a:xfrm>
        </p:grpSpPr>
        <p:sp>
          <p:nvSpPr>
            <p:cNvPr id="13" name="燕尾形箭头 12"/>
            <p:cNvSpPr>
              <a:spLocks noChangeArrowheads="1"/>
            </p:cNvSpPr>
            <p:nvPr/>
          </p:nvSpPr>
          <p:spPr bwMode="auto">
            <a:xfrm rot="7232976">
              <a:off x="3791744" y="4737894"/>
              <a:ext cx="679450" cy="620712"/>
            </a:xfrm>
            <a:prstGeom prst="notchedRightArrow">
              <a:avLst>
                <a:gd name="adj1" fmla="val 50000"/>
                <a:gd name="adj2" fmla="val 49998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</a:gradFill>
            <a:ln w="25400" algn="ctr">
              <a:solidFill>
                <a:srgbClr val="E46C0A"/>
              </a:solidFill>
              <a:miter lim="800000"/>
              <a:headEnd/>
              <a:tailEnd/>
            </a:ln>
          </p:spPr>
          <p:txBody>
            <a:bodyPr rot="10800000" vert="eaVert" anchor="ctr"/>
            <a:lstStyle/>
            <a:p>
              <a:pPr algn="ctr" defTabSz="914400">
                <a:defRPr/>
              </a:pPr>
              <a:endParaRPr lang="zh-CN" altLang="en-US" sz="2800" b="1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70709" name="组合 57"/>
            <p:cNvGrpSpPr>
              <a:grpSpLocks/>
            </p:cNvGrpSpPr>
            <p:nvPr/>
          </p:nvGrpSpPr>
          <p:grpSpPr bwMode="auto">
            <a:xfrm>
              <a:off x="3951288" y="4958344"/>
              <a:ext cx="305458" cy="332793"/>
              <a:chOff x="7785153" y="2548486"/>
              <a:chExt cx="305458" cy="332793"/>
            </a:xfrm>
          </p:grpSpPr>
          <p:sp>
            <p:nvSpPr>
              <p:cNvPr id="15" name="椭圆 14"/>
              <p:cNvSpPr>
                <a:spLocks noChangeAspect="1"/>
              </p:cNvSpPr>
              <p:nvPr/>
            </p:nvSpPr>
            <p:spPr bwMode="auto">
              <a:xfrm>
                <a:off x="7785153" y="2589180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16" name="TextBox 37"/>
              <p:cNvSpPr txBox="1">
                <a:spLocks noChangeArrowheads="1"/>
              </p:cNvSpPr>
              <p:nvPr/>
            </p:nvSpPr>
            <p:spPr bwMode="auto">
              <a:xfrm>
                <a:off x="7870878" y="2547905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5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761248" y="5379888"/>
            <a:ext cx="620712" cy="679450"/>
            <a:chOff x="4827588" y="4751388"/>
            <a:chExt cx="620712" cy="679450"/>
          </a:xfrm>
        </p:grpSpPr>
        <p:sp>
          <p:nvSpPr>
            <p:cNvPr id="18" name="燕尾形箭头 17"/>
            <p:cNvSpPr>
              <a:spLocks noChangeArrowheads="1"/>
            </p:cNvSpPr>
            <p:nvPr/>
          </p:nvSpPr>
          <p:spPr bwMode="auto">
            <a:xfrm rot="3233417">
              <a:off x="4798219" y="4780757"/>
              <a:ext cx="679450" cy="620712"/>
            </a:xfrm>
            <a:prstGeom prst="notchedRightArrow">
              <a:avLst>
                <a:gd name="adj1" fmla="val 50000"/>
                <a:gd name="adj2" fmla="val 49998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</a:gradFill>
            <a:ln w="25400" algn="ctr">
              <a:solidFill>
                <a:srgbClr val="E46C0A"/>
              </a:solidFill>
              <a:miter lim="800000"/>
              <a:headEnd/>
              <a:tailEnd/>
            </a:ln>
          </p:spPr>
          <p:txBody>
            <a:bodyPr rot="10800000" vert="eaVert" anchor="ctr"/>
            <a:lstStyle/>
            <a:p>
              <a:pPr algn="ctr" defTabSz="914400">
                <a:defRPr/>
              </a:pPr>
              <a:endParaRPr lang="zh-CN" altLang="en-US" sz="2800" b="1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70714" name="组合 54"/>
            <p:cNvGrpSpPr>
              <a:grpSpLocks/>
            </p:cNvGrpSpPr>
            <p:nvPr/>
          </p:nvGrpSpPr>
          <p:grpSpPr bwMode="auto">
            <a:xfrm>
              <a:off x="5033963" y="4958344"/>
              <a:ext cx="304810" cy="332794"/>
              <a:chOff x="7785801" y="2548486"/>
              <a:chExt cx="304810" cy="332794"/>
            </a:xfrm>
          </p:grpSpPr>
          <p:sp>
            <p:nvSpPr>
              <p:cNvPr id="20" name="椭圆 19"/>
              <p:cNvSpPr>
                <a:spLocks noChangeAspect="1"/>
              </p:cNvSpPr>
              <p:nvPr/>
            </p:nvSpPr>
            <p:spPr bwMode="auto">
              <a:xfrm>
                <a:off x="7785801" y="2589180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21" name="TextBox 37"/>
              <p:cNvSpPr txBox="1">
                <a:spLocks noChangeArrowheads="1"/>
              </p:cNvSpPr>
              <p:nvPr/>
            </p:nvSpPr>
            <p:spPr bwMode="auto">
              <a:xfrm>
                <a:off x="7871526" y="2547905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4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7242260" y="4732188"/>
            <a:ext cx="679450" cy="620712"/>
            <a:chOff x="5308600" y="4103688"/>
            <a:chExt cx="679450" cy="620712"/>
          </a:xfrm>
        </p:grpSpPr>
        <p:sp>
          <p:nvSpPr>
            <p:cNvPr id="23" name="燕尾形箭头 22"/>
            <p:cNvSpPr/>
            <p:nvPr/>
          </p:nvSpPr>
          <p:spPr>
            <a:xfrm rot="1098264">
              <a:off x="5308600" y="4103688"/>
              <a:ext cx="679450" cy="620712"/>
            </a:xfrm>
            <a:prstGeom prst="notchedRightArrow">
              <a:avLst/>
            </a:prstGeom>
            <a:gradFill flip="none"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  <a:tileRect/>
            </a:gra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grpSp>
          <p:nvGrpSpPr>
            <p:cNvPr id="70719" name="组合 51"/>
            <p:cNvGrpSpPr>
              <a:grpSpLocks/>
            </p:cNvGrpSpPr>
            <p:nvPr/>
          </p:nvGrpSpPr>
          <p:grpSpPr bwMode="auto">
            <a:xfrm>
              <a:off x="5545138" y="4232286"/>
              <a:ext cx="304817" cy="333364"/>
              <a:chOff x="7785794" y="2548486"/>
              <a:chExt cx="304817" cy="333364"/>
            </a:xfrm>
          </p:grpSpPr>
          <p:sp>
            <p:nvSpPr>
              <p:cNvPr id="25" name="椭圆 24"/>
              <p:cNvSpPr>
                <a:spLocks noChangeAspect="1"/>
              </p:cNvSpPr>
              <p:nvPr/>
            </p:nvSpPr>
            <p:spPr bwMode="auto">
              <a:xfrm>
                <a:off x="7785794" y="2589750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26" name="TextBox 37"/>
              <p:cNvSpPr txBox="1">
                <a:spLocks noChangeArrowheads="1"/>
              </p:cNvSpPr>
              <p:nvPr/>
            </p:nvSpPr>
            <p:spPr bwMode="auto">
              <a:xfrm>
                <a:off x="7871519" y="2548475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3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083510" y="3827313"/>
            <a:ext cx="679450" cy="620712"/>
            <a:chOff x="5149850" y="3198813"/>
            <a:chExt cx="679450" cy="620712"/>
          </a:xfrm>
        </p:grpSpPr>
        <p:sp>
          <p:nvSpPr>
            <p:cNvPr id="28" name="燕尾形箭头 27"/>
            <p:cNvSpPr/>
            <p:nvPr/>
          </p:nvSpPr>
          <p:spPr>
            <a:xfrm rot="19993584">
              <a:off x="5149850" y="3198813"/>
              <a:ext cx="679450" cy="620712"/>
            </a:xfrm>
            <a:prstGeom prst="notchedRightArrow">
              <a:avLst/>
            </a:prstGeom>
            <a:gradFill flip="none"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  <a:tileRect/>
            </a:gra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grpSp>
          <p:nvGrpSpPr>
            <p:cNvPr id="70724" name="组合 48"/>
            <p:cNvGrpSpPr>
              <a:grpSpLocks/>
            </p:cNvGrpSpPr>
            <p:nvPr/>
          </p:nvGrpSpPr>
          <p:grpSpPr bwMode="auto">
            <a:xfrm>
              <a:off x="5338763" y="3355976"/>
              <a:ext cx="328627" cy="325440"/>
              <a:chOff x="7785134" y="2589203"/>
              <a:chExt cx="328627" cy="325440"/>
            </a:xfrm>
          </p:grpSpPr>
          <p:sp>
            <p:nvSpPr>
              <p:cNvPr id="30" name="椭圆 29"/>
              <p:cNvSpPr>
                <a:spLocks noChangeAspect="1"/>
              </p:cNvSpPr>
              <p:nvPr/>
            </p:nvSpPr>
            <p:spPr bwMode="auto">
              <a:xfrm>
                <a:off x="7785134" y="2589202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31" name="TextBox 37"/>
              <p:cNvSpPr txBox="1">
                <a:spLocks noChangeArrowheads="1"/>
              </p:cNvSpPr>
              <p:nvPr/>
            </p:nvSpPr>
            <p:spPr bwMode="auto">
              <a:xfrm>
                <a:off x="7894671" y="2609840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35840" name="组合 31"/>
          <p:cNvGrpSpPr>
            <a:grpSpLocks/>
          </p:cNvGrpSpPr>
          <p:nvPr/>
        </p:nvGrpSpPr>
        <p:grpSpPr bwMode="auto">
          <a:xfrm>
            <a:off x="6177048" y="3327250"/>
            <a:ext cx="620712" cy="584200"/>
            <a:chOff x="4243388" y="2698740"/>
            <a:chExt cx="620712" cy="584200"/>
          </a:xfrm>
        </p:grpSpPr>
        <p:sp>
          <p:nvSpPr>
            <p:cNvPr id="33" name="燕尾形箭头 32"/>
            <p:cNvSpPr>
              <a:spLocks noChangeArrowheads="1"/>
            </p:cNvSpPr>
            <p:nvPr/>
          </p:nvSpPr>
          <p:spPr bwMode="auto">
            <a:xfrm rot="-5400000">
              <a:off x="4261644" y="2680484"/>
              <a:ext cx="584200" cy="620712"/>
            </a:xfrm>
            <a:prstGeom prst="notchedRightArrow">
              <a:avLst>
                <a:gd name="adj1" fmla="val 50000"/>
                <a:gd name="adj2" fmla="val 50000"/>
              </a:avLst>
            </a:prstGeom>
            <a:gradFill rotWithShape="1">
              <a:gsLst>
                <a:gs pos="0">
                  <a:srgbClr val="FF6600"/>
                </a:gs>
                <a:gs pos="100000">
                  <a:srgbClr val="FFFF66">
                    <a:alpha val="0"/>
                  </a:srgbClr>
                </a:gs>
              </a:gsLst>
              <a:lin ang="10800000" scaled="1"/>
            </a:gradFill>
            <a:ln w="25400" algn="ctr">
              <a:solidFill>
                <a:srgbClr val="E46C0A"/>
              </a:solidFill>
              <a:miter lim="800000"/>
              <a:headEnd/>
              <a:tailEnd/>
            </a:ln>
          </p:spPr>
          <p:txBody>
            <a:bodyPr vert="eaVert" anchor="ctr"/>
            <a:lstStyle/>
            <a:p>
              <a:pPr algn="ctr" defTabSz="914400">
                <a:defRPr/>
              </a:pPr>
              <a:endParaRPr lang="zh-CN" altLang="en-US" sz="2800" b="1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70729" name="组合 47"/>
            <p:cNvGrpSpPr>
              <a:grpSpLocks/>
            </p:cNvGrpSpPr>
            <p:nvPr/>
          </p:nvGrpSpPr>
          <p:grpSpPr bwMode="auto">
            <a:xfrm>
              <a:off x="4413250" y="2735253"/>
              <a:ext cx="304802" cy="333374"/>
              <a:chOff x="7785809" y="2548486"/>
              <a:chExt cx="304802" cy="333374"/>
            </a:xfrm>
          </p:grpSpPr>
          <p:sp>
            <p:nvSpPr>
              <p:cNvPr id="35" name="椭圆 34"/>
              <p:cNvSpPr>
                <a:spLocks noChangeAspect="1"/>
              </p:cNvSpPr>
              <p:nvPr/>
            </p:nvSpPr>
            <p:spPr bwMode="auto">
              <a:xfrm>
                <a:off x="7785809" y="2589761"/>
                <a:ext cx="292100" cy="2921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33000"/>
                </a:schemeClr>
              </a:solidFill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2800" b="1"/>
              </a:p>
            </p:txBody>
          </p:sp>
          <p:sp>
            <p:nvSpPr>
              <p:cNvPr id="36" name="TextBox 37"/>
              <p:cNvSpPr txBox="1">
                <a:spLocks noChangeArrowheads="1"/>
              </p:cNvSpPr>
              <p:nvPr/>
            </p:nvSpPr>
            <p:spPr bwMode="auto">
              <a:xfrm>
                <a:off x="7871534" y="2548486"/>
                <a:ext cx="2190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70732" name="Oval 19"/>
          <p:cNvSpPr>
            <a:spLocks noChangeAspect="1" noChangeArrowheads="1"/>
          </p:cNvSpPr>
          <p:nvPr/>
        </p:nvSpPr>
        <p:spPr bwMode="auto">
          <a:xfrm>
            <a:off x="5445210" y="3714600"/>
            <a:ext cx="2019300" cy="1962150"/>
          </a:xfrm>
          <a:prstGeom prst="ellipse">
            <a:avLst/>
          </a:prstGeom>
          <a:solidFill>
            <a:srgbClr val="FFFF00">
              <a:alpha val="25098"/>
            </a:srgbClr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0733" name="Oval 20"/>
          <p:cNvSpPr>
            <a:spLocks noChangeAspect="1" noChangeArrowheads="1"/>
          </p:cNvSpPr>
          <p:nvPr/>
        </p:nvSpPr>
        <p:spPr bwMode="auto">
          <a:xfrm>
            <a:off x="5529348" y="3801913"/>
            <a:ext cx="1852612" cy="1804987"/>
          </a:xfrm>
          <a:prstGeom prst="ellipse">
            <a:avLst/>
          </a:prstGeom>
          <a:solidFill>
            <a:srgbClr val="FFC000">
              <a:alpha val="65097"/>
            </a:srgbClr>
          </a:solidFill>
          <a:ln w="57150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39" name="Oval 48"/>
          <p:cNvSpPr>
            <a:spLocks noChangeAspect="1" noChangeArrowheads="1"/>
          </p:cNvSpPr>
          <p:nvPr/>
        </p:nvSpPr>
        <p:spPr bwMode="auto">
          <a:xfrm>
            <a:off x="5665873" y="3962250"/>
            <a:ext cx="1563687" cy="15192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eaLnBrk="0" hangingPunct="0">
              <a:defRPr/>
            </a:pPr>
            <a:endParaRPr lang="zh-CN" altLang="en-US" sz="2200" b="1">
              <a:ea typeface="楷体_GB2312" pitchFamily="49" charset="-122"/>
            </a:endParaRPr>
          </a:p>
        </p:txBody>
      </p:sp>
      <p:grpSp>
        <p:nvGrpSpPr>
          <p:cNvPr id="35842" name="组合 67"/>
          <p:cNvGrpSpPr>
            <a:grpSpLocks/>
          </p:cNvGrpSpPr>
          <p:nvPr/>
        </p:nvGrpSpPr>
        <p:grpSpPr bwMode="auto">
          <a:xfrm>
            <a:off x="5715085" y="3984475"/>
            <a:ext cx="1447800" cy="1460500"/>
            <a:chOff x="3740064" y="2608188"/>
            <a:chExt cx="1314450" cy="1226837"/>
          </a:xfrm>
        </p:grpSpPr>
        <p:sp>
          <p:nvSpPr>
            <p:cNvPr id="41" name="Oval 49"/>
            <p:cNvSpPr>
              <a:spLocks noChangeAspect="1" noChangeArrowheads="1"/>
            </p:cNvSpPr>
            <p:nvPr/>
          </p:nvSpPr>
          <p:spPr bwMode="auto">
            <a:xfrm>
              <a:off x="3745829" y="2608188"/>
              <a:ext cx="1297155" cy="1226837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latinLnBrk="1" hangingPunct="0">
                <a:defRPr/>
              </a:pPr>
              <a:endParaRPr lang="zh-CN" altLang="en-US" sz="1600" b="1">
                <a:ea typeface="HY견고딕" charset="-122"/>
              </a:endParaRPr>
            </a:p>
          </p:txBody>
        </p:sp>
        <p:sp>
          <p:nvSpPr>
            <p:cNvPr id="70737" name="TextBox 2"/>
            <p:cNvSpPr txBox="1">
              <a:spLocks noChangeArrowheads="1"/>
            </p:cNvSpPr>
            <p:nvPr/>
          </p:nvSpPr>
          <p:spPr bwMode="auto">
            <a:xfrm>
              <a:off x="3740064" y="2696200"/>
              <a:ext cx="1314450" cy="920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en-US" sz="24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Photo-voltaic detector</a:t>
              </a:r>
              <a:endParaRPr lang="zh-CN" altLang="en-US" sz="24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5843" name="组合 29"/>
          <p:cNvGrpSpPr>
            <a:grpSpLocks/>
          </p:cNvGrpSpPr>
          <p:nvPr/>
        </p:nvGrpSpPr>
        <p:grpSpPr bwMode="auto">
          <a:xfrm>
            <a:off x="6980323" y="6102200"/>
            <a:ext cx="1204912" cy="584200"/>
            <a:chOff x="6233339" y="4340729"/>
            <a:chExt cx="1896702" cy="430076"/>
          </a:xfrm>
        </p:grpSpPr>
        <p:sp>
          <p:nvSpPr>
            <p:cNvPr id="44" name="圆角矩形 43"/>
            <p:cNvSpPr/>
            <p:nvPr/>
          </p:nvSpPr>
          <p:spPr>
            <a:xfrm>
              <a:off x="6233339" y="4340729"/>
              <a:ext cx="1774254" cy="430076"/>
            </a:xfrm>
            <a:prstGeom prst="roundRect">
              <a:avLst/>
            </a:prstGeom>
            <a:gradFill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100000">
                  <a:srgbClr val="3366FF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 dirty="0"/>
            </a:p>
          </p:txBody>
        </p:sp>
        <p:sp>
          <p:nvSpPr>
            <p:cNvPr id="70740" name="TextBox 9"/>
            <p:cNvSpPr txBox="1">
              <a:spLocks noChangeArrowheads="1"/>
            </p:cNvSpPr>
            <p:nvPr/>
          </p:nvSpPr>
          <p:spPr bwMode="auto">
            <a:xfrm>
              <a:off x="6233339" y="4376958"/>
              <a:ext cx="1896702" cy="358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3200" b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PIN</a:t>
              </a:r>
              <a:endPara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5844" name="组合 29"/>
          <p:cNvGrpSpPr>
            <a:grpSpLocks/>
          </p:cNvGrpSpPr>
          <p:nvPr/>
        </p:nvGrpSpPr>
        <p:grpSpPr bwMode="auto">
          <a:xfrm>
            <a:off x="5387973" y="2559410"/>
            <a:ext cx="2117725" cy="559834"/>
            <a:chOff x="6065896" y="4309515"/>
            <a:chExt cx="2241586" cy="686480"/>
          </a:xfrm>
        </p:grpSpPr>
        <p:sp>
          <p:nvSpPr>
            <p:cNvPr id="47" name="圆角矩形 18"/>
            <p:cNvSpPr/>
            <p:nvPr/>
          </p:nvSpPr>
          <p:spPr>
            <a:xfrm>
              <a:off x="6065896" y="4340718"/>
              <a:ext cx="2241586" cy="655277"/>
            </a:xfrm>
            <a:prstGeom prst="roundRect">
              <a:avLst/>
            </a:prstGeom>
            <a:gradFill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0743" name="TextBox 9"/>
            <p:cNvSpPr txBox="1">
              <a:spLocks noChangeArrowheads="1"/>
            </p:cNvSpPr>
            <p:nvPr/>
          </p:nvSpPr>
          <p:spPr bwMode="auto">
            <a:xfrm>
              <a:off x="6181488" y="4309515"/>
              <a:ext cx="2021734" cy="3077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en-US" sz="3200" b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Photo-cell</a:t>
              </a:r>
              <a:endParaRPr lang="zh-CN" altLang="en-US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5845" name="组合 29"/>
          <p:cNvGrpSpPr>
            <a:grpSpLocks/>
          </p:cNvGrpSpPr>
          <p:nvPr/>
        </p:nvGrpSpPr>
        <p:grpSpPr bwMode="auto">
          <a:xfrm>
            <a:off x="7747101" y="3108139"/>
            <a:ext cx="1277955" cy="1219994"/>
            <a:chOff x="6233338" y="4340729"/>
            <a:chExt cx="1534753" cy="886490"/>
          </a:xfrm>
          <a:noFill/>
        </p:grpSpPr>
        <p:sp>
          <p:nvSpPr>
            <p:cNvPr id="50" name="圆角矩形 49"/>
            <p:cNvSpPr/>
            <p:nvPr/>
          </p:nvSpPr>
          <p:spPr>
            <a:xfrm>
              <a:off x="6266041" y="4340729"/>
              <a:ext cx="1414351" cy="636765"/>
            </a:xfrm>
            <a:prstGeom prst="roundRect">
              <a:avLst/>
            </a:prstGeom>
            <a:gradFill>
              <a:gsLst>
                <a:gs pos="0">
                  <a:srgbClr val="FC9FCB"/>
                </a:gs>
                <a:gs pos="13000">
                  <a:srgbClr val="F8B049"/>
                </a:gs>
                <a:gs pos="21001">
                  <a:srgbClr val="F8B049"/>
                </a:gs>
                <a:gs pos="63000">
                  <a:srgbClr val="FEE7F2"/>
                </a:gs>
                <a:gs pos="67000">
                  <a:srgbClr val="F952A0"/>
                </a:gs>
                <a:gs pos="69000">
                  <a:srgbClr val="C50849"/>
                </a:gs>
                <a:gs pos="82001">
                  <a:srgbClr val="B43E85"/>
                </a:gs>
                <a:gs pos="100000">
                  <a:srgbClr val="F8B049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51" name="TextBox 9"/>
            <p:cNvSpPr txBox="1">
              <a:spLocks noChangeArrowheads="1"/>
            </p:cNvSpPr>
            <p:nvPr/>
          </p:nvSpPr>
          <p:spPr bwMode="auto">
            <a:xfrm>
              <a:off x="6233338" y="4377383"/>
              <a:ext cx="1534753" cy="84983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>
                <a:defRPr/>
              </a:pPr>
              <a:r>
                <a:rPr lang="en-US" altLang="en-US" sz="2800" b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Photo-diode</a:t>
              </a:r>
              <a:endPara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defTabSz="914400">
                <a:defRPr/>
              </a:pPr>
              <a:endParaRPr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5846" name="组合 29"/>
          <p:cNvGrpSpPr>
            <a:grpSpLocks/>
          </p:cNvGrpSpPr>
          <p:nvPr/>
        </p:nvGrpSpPr>
        <p:grpSpPr bwMode="auto">
          <a:xfrm>
            <a:off x="7966160" y="4495650"/>
            <a:ext cx="1497013" cy="1095375"/>
            <a:chOff x="6233339" y="4286971"/>
            <a:chExt cx="1950758" cy="806346"/>
          </a:xfrm>
        </p:grpSpPr>
        <p:sp>
          <p:nvSpPr>
            <p:cNvPr id="53" name="圆角矩形 52"/>
            <p:cNvSpPr/>
            <p:nvPr/>
          </p:nvSpPr>
          <p:spPr>
            <a:xfrm>
              <a:off x="6233339" y="4286971"/>
              <a:ext cx="1950758" cy="806346"/>
            </a:xfrm>
            <a:prstGeom prst="roundRect">
              <a:avLst/>
            </a:prstGeom>
            <a:gradFill>
              <a:gsLst>
                <a:gs pos="0">
                  <a:srgbClr val="CCCCFF"/>
                </a:gs>
                <a:gs pos="17999">
                  <a:srgbClr val="99CCFF"/>
                </a:gs>
                <a:gs pos="36000">
                  <a:srgbClr val="9966FF"/>
                </a:gs>
                <a:gs pos="61000">
                  <a:srgbClr val="CC99FF"/>
                </a:gs>
                <a:gs pos="82001">
                  <a:srgbClr val="99CCFF"/>
                </a:gs>
                <a:gs pos="100000">
                  <a:srgbClr val="CCCCFF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0747" name="TextBox 9"/>
            <p:cNvSpPr txBox="1">
              <a:spLocks noChangeArrowheads="1"/>
            </p:cNvSpPr>
            <p:nvPr/>
          </p:nvSpPr>
          <p:spPr bwMode="auto">
            <a:xfrm>
              <a:off x="6233339" y="4376955"/>
              <a:ext cx="1896973" cy="6287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en-US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Photo-triode</a:t>
              </a:r>
              <a:endParaRPr lang="zh-CN" altLang="en-US" sz="2800" b="1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5847" name="组合 29"/>
          <p:cNvGrpSpPr>
            <a:grpSpLocks/>
          </p:cNvGrpSpPr>
          <p:nvPr/>
        </p:nvGrpSpPr>
        <p:grpSpPr bwMode="auto">
          <a:xfrm>
            <a:off x="3657685" y="3582838"/>
            <a:ext cx="1244600" cy="547687"/>
            <a:chOff x="6233340" y="4367604"/>
            <a:chExt cx="1573551" cy="403185"/>
          </a:xfrm>
        </p:grpSpPr>
        <p:sp>
          <p:nvSpPr>
            <p:cNvPr id="56" name="圆角矩形 55"/>
            <p:cNvSpPr/>
            <p:nvPr/>
          </p:nvSpPr>
          <p:spPr>
            <a:xfrm>
              <a:off x="6237354" y="4367604"/>
              <a:ext cx="1523375" cy="403185"/>
            </a:xfrm>
            <a:prstGeom prst="roundRect">
              <a:avLst/>
            </a:prstGeom>
            <a:gradFill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0750" name="TextBox 9"/>
            <p:cNvSpPr txBox="1">
              <a:spLocks noChangeArrowheads="1"/>
            </p:cNvSpPr>
            <p:nvPr/>
          </p:nvSpPr>
          <p:spPr bwMode="auto">
            <a:xfrm>
              <a:off x="6233340" y="4397989"/>
              <a:ext cx="1573551" cy="358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3200" b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QPD</a:t>
              </a:r>
              <a:endPara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5848" name="组合 29"/>
          <p:cNvGrpSpPr>
            <a:grpSpLocks/>
          </p:cNvGrpSpPr>
          <p:nvPr/>
        </p:nvGrpSpPr>
        <p:grpSpPr bwMode="auto">
          <a:xfrm>
            <a:off x="4826085" y="6102200"/>
            <a:ext cx="1387475" cy="657225"/>
            <a:chOff x="6070066" y="4340741"/>
            <a:chExt cx="2044213" cy="483823"/>
          </a:xfrm>
        </p:grpSpPr>
        <p:sp>
          <p:nvSpPr>
            <p:cNvPr id="59" name="圆角矩形 58"/>
            <p:cNvSpPr/>
            <p:nvPr/>
          </p:nvSpPr>
          <p:spPr>
            <a:xfrm>
              <a:off x="6070066" y="4340741"/>
              <a:ext cx="2044213" cy="483823"/>
            </a:xfrm>
            <a:prstGeom prst="roundRect">
              <a:avLst/>
            </a:prstGeom>
            <a:gradFill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0753" name="TextBox 9"/>
            <p:cNvSpPr txBox="1">
              <a:spLocks noChangeArrowheads="1"/>
            </p:cNvSpPr>
            <p:nvPr/>
          </p:nvSpPr>
          <p:spPr bwMode="auto">
            <a:xfrm>
              <a:off x="6112166" y="4394499"/>
              <a:ext cx="1960013" cy="358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3200" b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APD</a:t>
              </a:r>
              <a:endPara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5851" name="组合 29"/>
          <p:cNvGrpSpPr>
            <a:grpSpLocks/>
          </p:cNvGrpSpPr>
          <p:nvPr/>
        </p:nvGrpSpPr>
        <p:grpSpPr bwMode="auto">
          <a:xfrm>
            <a:off x="3581485" y="4860775"/>
            <a:ext cx="1427163" cy="547688"/>
            <a:chOff x="6233339" y="4340728"/>
            <a:chExt cx="1959211" cy="424415"/>
          </a:xfrm>
        </p:grpSpPr>
        <p:sp>
          <p:nvSpPr>
            <p:cNvPr id="62" name="圆角矩形 33"/>
            <p:cNvSpPr/>
            <p:nvPr/>
          </p:nvSpPr>
          <p:spPr>
            <a:xfrm>
              <a:off x="6233339" y="4340728"/>
              <a:ext cx="1959211" cy="424415"/>
            </a:xfrm>
            <a:prstGeom prst="roundRec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0756" name="TextBox 9"/>
            <p:cNvSpPr txBox="1">
              <a:spLocks noChangeArrowheads="1"/>
            </p:cNvSpPr>
            <p:nvPr/>
          </p:nvSpPr>
          <p:spPr bwMode="auto">
            <a:xfrm>
              <a:off x="6233339" y="4377634"/>
              <a:ext cx="1896011" cy="3776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3200" b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PSD</a:t>
              </a:r>
              <a:endPara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8" name="TextBox 1"/>
          <p:cNvSpPr txBox="1">
            <a:spLocks noChangeArrowheads="1"/>
          </p:cNvSpPr>
          <p:nvPr/>
        </p:nvSpPr>
        <p:spPr bwMode="auto">
          <a:xfrm>
            <a:off x="989566" y="937898"/>
            <a:ext cx="11838344" cy="10668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en-US" altLang="zh-CN" sz="3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Device called a photovoltaic detector based on semiconductor photovoltaic 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(PV)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effect.</a:t>
            </a:r>
            <a:endParaRPr lang="zh-CN" altLang="en-US" sz="32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81F01AE1-0F51-4388-BBB6-FF6FA5547333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70" name="文本框 60">
              <a:extLst>
                <a:ext uri="{FF2B5EF4-FFF2-40B4-BE49-F238E27FC236}">
                  <a16:creationId xmlns:a16="http://schemas.microsoft.com/office/drawing/2014/main" xmlns="" id="{090E595A-93BA-4466-B961-54EA1E1A8039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光伏探测器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xmlns="" id="{D2154FF4-CED2-4E99-957A-5AD150A8C320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xmlns="" id="{911709DB-AEA9-4B3D-B968-7447FCDFAA3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xmlns="" id="{CBBEF994-3553-449C-ADF6-A6A78233189C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58">
              <a:extLst>
                <a:ext uri="{FF2B5EF4-FFF2-40B4-BE49-F238E27FC236}">
                  <a16:creationId xmlns:a16="http://schemas.microsoft.com/office/drawing/2014/main" xmlns="" id="{83C91D60-F5FE-49F2-99E0-2C75B5540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xmlns="" id="{21E087DB-9EBA-4307-9C8F-A5F7BCB89E2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xmlns="" id="{2AFCE16B-5E18-4BA8-A2DB-7E3EC1744F9E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8" name="AutoShape 12"/>
          <p:cNvSpPr>
            <a:spLocks noChangeArrowheads="1"/>
          </p:cNvSpPr>
          <p:nvPr/>
        </p:nvSpPr>
        <p:spPr bwMode="auto">
          <a:xfrm rot="14742185" flipH="1">
            <a:off x="7110497" y="2520951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89" name="AutoShape 12"/>
          <p:cNvSpPr>
            <a:spLocks noChangeArrowheads="1"/>
          </p:cNvSpPr>
          <p:nvPr/>
        </p:nvSpPr>
        <p:spPr bwMode="auto">
          <a:xfrm rot="10993657" flipH="1">
            <a:off x="5906378" y="1935957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0" name="AutoShape 12"/>
          <p:cNvSpPr>
            <a:spLocks noChangeArrowheads="1"/>
          </p:cNvSpPr>
          <p:nvPr/>
        </p:nvSpPr>
        <p:spPr bwMode="auto">
          <a:xfrm rot="3635398" flipH="1">
            <a:off x="4816559" y="3829051"/>
            <a:ext cx="2251075" cy="1925638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1" name="AutoShape 12"/>
          <p:cNvSpPr>
            <a:spLocks noChangeArrowheads="1"/>
          </p:cNvSpPr>
          <p:nvPr/>
        </p:nvSpPr>
        <p:spPr bwMode="auto">
          <a:xfrm rot="7169457" flipH="1">
            <a:off x="4779253" y="2515395"/>
            <a:ext cx="2251075" cy="192405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2" name="AutoShape 12"/>
          <p:cNvSpPr>
            <a:spLocks noChangeArrowheads="1"/>
          </p:cNvSpPr>
          <p:nvPr/>
        </p:nvSpPr>
        <p:spPr bwMode="auto">
          <a:xfrm rot="18233900" flipH="1">
            <a:off x="7123197" y="3848101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3" name="AutoShape 12"/>
          <p:cNvSpPr>
            <a:spLocks noChangeArrowheads="1"/>
          </p:cNvSpPr>
          <p:nvPr/>
        </p:nvSpPr>
        <p:spPr bwMode="auto">
          <a:xfrm flipH="1">
            <a:off x="5946066" y="4434682"/>
            <a:ext cx="2251075" cy="1925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0000"/>
              </a:gs>
              <a:gs pos="100000">
                <a:srgbClr val="FFFF66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4" name="Oval 19"/>
          <p:cNvSpPr>
            <a:spLocks noChangeArrowheads="1"/>
          </p:cNvSpPr>
          <p:nvPr/>
        </p:nvSpPr>
        <p:spPr bwMode="auto">
          <a:xfrm>
            <a:off x="5963528" y="3010694"/>
            <a:ext cx="2243138" cy="2181225"/>
          </a:xfrm>
          <a:prstGeom prst="ellipse">
            <a:avLst/>
          </a:prstGeom>
          <a:solidFill>
            <a:srgbClr val="FFFF00">
              <a:alpha val="25098"/>
            </a:srgbClr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71695" name="Oval 20"/>
          <p:cNvSpPr>
            <a:spLocks noChangeArrowheads="1"/>
          </p:cNvSpPr>
          <p:nvPr/>
        </p:nvSpPr>
        <p:spPr bwMode="auto">
          <a:xfrm>
            <a:off x="6052428" y="3083719"/>
            <a:ext cx="2058988" cy="2005013"/>
          </a:xfrm>
          <a:prstGeom prst="ellipse">
            <a:avLst/>
          </a:prstGeom>
          <a:solidFill>
            <a:srgbClr val="FFFF66">
              <a:alpha val="50195"/>
            </a:srgbClr>
          </a:solidFill>
          <a:ln w="57150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/>
          <a:p>
            <a:pPr defTabSz="914400" eaLnBrk="0" hangingPunct="0"/>
            <a:endParaRPr lang="zh-CN" altLang="en-US" sz="2200" b="1">
              <a:ea typeface="楷体_GB2312" pitchFamily="49" charset="-122"/>
            </a:endParaRPr>
          </a:p>
        </p:txBody>
      </p:sp>
      <p:sp>
        <p:nvSpPr>
          <p:cNvPr id="10" name="Oval 48"/>
          <p:cNvSpPr>
            <a:spLocks noChangeAspect="1" noChangeArrowheads="1"/>
          </p:cNvSpPr>
          <p:nvPr/>
        </p:nvSpPr>
        <p:spPr bwMode="auto">
          <a:xfrm>
            <a:off x="6198478" y="3266282"/>
            <a:ext cx="1738313" cy="16875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914400" eaLnBrk="0" hangingPunct="0">
              <a:defRPr/>
            </a:pPr>
            <a:endParaRPr lang="zh-CN" altLang="en-US" sz="2200" b="1">
              <a:ea typeface="楷体_GB2312" pitchFamily="49" charset="-122"/>
            </a:endParaRPr>
          </a:p>
        </p:txBody>
      </p:sp>
      <p:grpSp>
        <p:nvGrpSpPr>
          <p:cNvPr id="2" name="组合 67"/>
          <p:cNvGrpSpPr>
            <a:grpSpLocks/>
          </p:cNvGrpSpPr>
          <p:nvPr/>
        </p:nvGrpSpPr>
        <p:grpSpPr bwMode="auto">
          <a:xfrm>
            <a:off x="6298491" y="3339307"/>
            <a:ext cx="1473200" cy="1533525"/>
            <a:chOff x="3728508" y="2516175"/>
            <a:chExt cx="1314468" cy="1226837"/>
          </a:xfrm>
        </p:grpSpPr>
        <p:sp>
          <p:nvSpPr>
            <p:cNvPr id="71698" name="Oval 49"/>
            <p:cNvSpPr>
              <a:spLocks noChangeAspect="1" noChangeArrowheads="1"/>
            </p:cNvSpPr>
            <p:nvPr/>
          </p:nvSpPr>
          <p:spPr bwMode="auto">
            <a:xfrm>
              <a:off x="3745971" y="2516175"/>
              <a:ext cx="1297005" cy="122683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latinLnBrk="1" hangingPunct="0"/>
              <a:endParaRPr lang="zh-CN" altLang="en-US" sz="1600" b="1">
                <a:ea typeface="HY견고딕"/>
                <a:cs typeface="HY견고딕"/>
              </a:endParaRPr>
            </a:p>
          </p:txBody>
        </p:sp>
        <p:sp>
          <p:nvSpPr>
            <p:cNvPr id="71699" name="TextBox 2"/>
            <p:cNvSpPr txBox="1">
              <a:spLocks noChangeArrowheads="1"/>
            </p:cNvSpPr>
            <p:nvPr/>
          </p:nvSpPr>
          <p:spPr bwMode="auto">
            <a:xfrm>
              <a:off x="3728508" y="2729538"/>
              <a:ext cx="1314468" cy="779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Application</a:t>
              </a:r>
              <a:endParaRPr lang="zh-CN" altLang="en-US" sz="32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5873041" y="1294607"/>
            <a:ext cx="2482850" cy="985837"/>
            <a:chOff x="6233339" y="4340725"/>
            <a:chExt cx="1933177" cy="725712"/>
          </a:xfrm>
        </p:grpSpPr>
        <p:sp>
          <p:nvSpPr>
            <p:cNvPr id="15" name="圆角矩形 14"/>
            <p:cNvSpPr/>
            <p:nvPr/>
          </p:nvSpPr>
          <p:spPr>
            <a:xfrm>
              <a:off x="6233339" y="4340725"/>
              <a:ext cx="1933177" cy="725712"/>
            </a:xfrm>
            <a:prstGeom prst="roundRect">
              <a:avLst/>
            </a:prstGeom>
            <a:gradFill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1702" name="TextBox 9"/>
            <p:cNvSpPr txBox="1">
              <a:spLocks noChangeArrowheads="1"/>
            </p:cNvSpPr>
            <p:nvPr/>
          </p:nvSpPr>
          <p:spPr bwMode="auto">
            <a:xfrm>
              <a:off x="6233339" y="4376952"/>
              <a:ext cx="1896096" cy="628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en-US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Optoelectronic switch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" name="组合 29"/>
          <p:cNvGrpSpPr>
            <a:grpSpLocks/>
          </p:cNvGrpSpPr>
          <p:nvPr/>
        </p:nvGrpSpPr>
        <p:grpSpPr bwMode="auto">
          <a:xfrm>
            <a:off x="8538429" y="2718576"/>
            <a:ext cx="2008261" cy="985847"/>
            <a:chOff x="6233338" y="4340730"/>
            <a:chExt cx="1931825" cy="669880"/>
          </a:xfrm>
          <a:noFill/>
        </p:grpSpPr>
        <p:sp>
          <p:nvSpPr>
            <p:cNvPr id="18" name="圆角矩形 17"/>
            <p:cNvSpPr/>
            <p:nvPr/>
          </p:nvSpPr>
          <p:spPr>
            <a:xfrm>
              <a:off x="6233338" y="4340730"/>
              <a:ext cx="1931825" cy="669880"/>
            </a:xfrm>
            <a:prstGeom prst="roundRect">
              <a:avLst/>
            </a:prstGeom>
            <a:gradFill>
              <a:gsLst>
                <a:gs pos="0">
                  <a:srgbClr val="FC9FCB"/>
                </a:gs>
                <a:gs pos="13000">
                  <a:srgbClr val="F8B049"/>
                </a:gs>
                <a:gs pos="21001">
                  <a:srgbClr val="F8B049"/>
                </a:gs>
                <a:gs pos="63000">
                  <a:srgbClr val="FEE7F2"/>
                </a:gs>
                <a:gs pos="67000">
                  <a:srgbClr val="F952A0"/>
                </a:gs>
                <a:gs pos="69000">
                  <a:srgbClr val="C50849"/>
                </a:gs>
                <a:gs pos="82001">
                  <a:srgbClr val="B43E85"/>
                </a:gs>
                <a:gs pos="100000">
                  <a:srgbClr val="F8B049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19" name="TextBox 9"/>
            <p:cNvSpPr txBox="1">
              <a:spLocks noChangeArrowheads="1"/>
            </p:cNvSpPr>
            <p:nvPr/>
          </p:nvSpPr>
          <p:spPr bwMode="auto">
            <a:xfrm>
              <a:off x="6233339" y="4377383"/>
              <a:ext cx="1896702" cy="58557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>
                <a:defRPr/>
              </a:pPr>
              <a:r>
                <a:rPr lang="en-US" altLang="zh-CN" sz="2800" b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image acquisition</a:t>
              </a:r>
              <a:endParaRPr lang="zh-CN" alt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5" name="组合 29"/>
          <p:cNvGrpSpPr>
            <a:grpSpLocks/>
          </p:cNvGrpSpPr>
          <p:nvPr/>
        </p:nvGrpSpPr>
        <p:grpSpPr bwMode="auto">
          <a:xfrm>
            <a:off x="8501941" y="4726782"/>
            <a:ext cx="2373312" cy="1058862"/>
            <a:chOff x="6233339" y="4340730"/>
            <a:chExt cx="1896758" cy="534496"/>
          </a:xfrm>
        </p:grpSpPr>
        <p:sp>
          <p:nvSpPr>
            <p:cNvPr id="21" name="圆角矩形 20"/>
            <p:cNvSpPr/>
            <p:nvPr/>
          </p:nvSpPr>
          <p:spPr>
            <a:xfrm>
              <a:off x="6233339" y="4340730"/>
              <a:ext cx="1896758" cy="534496"/>
            </a:xfrm>
            <a:prstGeom prst="roundRect">
              <a:avLst/>
            </a:prstGeom>
            <a:gradFill>
              <a:gsLst>
                <a:gs pos="0">
                  <a:srgbClr val="CCCCFF"/>
                </a:gs>
                <a:gs pos="17999">
                  <a:srgbClr val="99CCFF"/>
                </a:gs>
                <a:gs pos="36000">
                  <a:srgbClr val="9966FF"/>
                </a:gs>
                <a:gs pos="61000">
                  <a:srgbClr val="CC99FF"/>
                </a:gs>
                <a:gs pos="82001">
                  <a:srgbClr val="99CCFF"/>
                </a:gs>
                <a:gs pos="100000">
                  <a:srgbClr val="CCCCFF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1706" name="TextBox 9"/>
            <p:cNvSpPr txBox="1">
              <a:spLocks noChangeArrowheads="1"/>
            </p:cNvSpPr>
            <p:nvPr/>
          </p:nvSpPr>
          <p:spPr bwMode="auto">
            <a:xfrm>
              <a:off x="6233339" y="4377592"/>
              <a:ext cx="1896758" cy="431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en-US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Automatic control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6" name="组合 29"/>
          <p:cNvGrpSpPr>
            <a:grpSpLocks/>
          </p:cNvGrpSpPr>
          <p:nvPr/>
        </p:nvGrpSpPr>
        <p:grpSpPr bwMode="auto">
          <a:xfrm>
            <a:off x="3171116" y="2682082"/>
            <a:ext cx="2373312" cy="1022350"/>
            <a:chOff x="6233339" y="4340728"/>
            <a:chExt cx="1919542" cy="752571"/>
          </a:xfrm>
        </p:grpSpPr>
        <p:sp>
          <p:nvSpPr>
            <p:cNvPr id="24" name="圆角矩形 23"/>
            <p:cNvSpPr/>
            <p:nvPr/>
          </p:nvSpPr>
          <p:spPr>
            <a:xfrm>
              <a:off x="6233339" y="4340728"/>
              <a:ext cx="1919542" cy="752571"/>
            </a:xfrm>
            <a:prstGeom prst="roundRect">
              <a:avLst/>
            </a:prstGeom>
            <a:gradFill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1709" name="TextBox 9"/>
            <p:cNvSpPr txBox="1">
              <a:spLocks noChangeArrowheads="1"/>
            </p:cNvSpPr>
            <p:nvPr/>
          </p:nvSpPr>
          <p:spPr bwMode="auto">
            <a:xfrm>
              <a:off x="6233339" y="4376954"/>
              <a:ext cx="1896430" cy="628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Photometric measurement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7" name="组合 29"/>
          <p:cNvGrpSpPr>
            <a:grpSpLocks/>
          </p:cNvGrpSpPr>
          <p:nvPr/>
        </p:nvGrpSpPr>
        <p:grpSpPr bwMode="auto">
          <a:xfrm>
            <a:off x="3244141" y="4580732"/>
            <a:ext cx="2336800" cy="949325"/>
            <a:chOff x="6233338" y="4407958"/>
            <a:chExt cx="1839237" cy="871807"/>
          </a:xfrm>
        </p:grpSpPr>
        <p:sp>
          <p:nvSpPr>
            <p:cNvPr id="27" name="圆角矩形 26"/>
            <p:cNvSpPr/>
            <p:nvPr/>
          </p:nvSpPr>
          <p:spPr>
            <a:xfrm>
              <a:off x="6233338" y="4407958"/>
              <a:ext cx="1839237" cy="871807"/>
            </a:xfrm>
            <a:prstGeom prst="roundRect">
              <a:avLst/>
            </a:prstGeom>
            <a:gradFill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1712" name="TextBox 9"/>
            <p:cNvSpPr txBox="1">
              <a:spLocks noChangeArrowheads="1"/>
            </p:cNvSpPr>
            <p:nvPr/>
          </p:nvSpPr>
          <p:spPr bwMode="auto">
            <a:xfrm>
              <a:off x="6233338" y="4475020"/>
              <a:ext cx="1839237" cy="784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Photoelectric detection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8" name="组合 29"/>
          <p:cNvGrpSpPr>
            <a:grpSpLocks/>
          </p:cNvGrpSpPr>
          <p:nvPr/>
        </p:nvGrpSpPr>
        <p:grpSpPr bwMode="auto">
          <a:xfrm>
            <a:off x="5836528" y="6114257"/>
            <a:ext cx="2738438" cy="898525"/>
            <a:chOff x="5975446" y="4340732"/>
            <a:chExt cx="2149111" cy="748460"/>
          </a:xfrm>
        </p:grpSpPr>
        <p:sp>
          <p:nvSpPr>
            <p:cNvPr id="30" name="圆角矩形 29"/>
            <p:cNvSpPr/>
            <p:nvPr/>
          </p:nvSpPr>
          <p:spPr>
            <a:xfrm>
              <a:off x="5975446" y="4340732"/>
              <a:ext cx="2149111" cy="729947"/>
            </a:xfrm>
            <a:prstGeom prst="roundRec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b="1"/>
            </a:p>
          </p:txBody>
        </p:sp>
        <p:sp>
          <p:nvSpPr>
            <p:cNvPr id="71715" name="TextBox 9"/>
            <p:cNvSpPr txBox="1">
              <a:spLocks noChangeArrowheads="1"/>
            </p:cNvSpPr>
            <p:nvPr/>
          </p:nvSpPr>
          <p:spPr bwMode="auto">
            <a:xfrm>
              <a:off x="6090065" y="4377758"/>
              <a:ext cx="1946036" cy="7114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/>
              <a:r>
                <a:rPr lang="en-US" altLang="zh-CN" sz="28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photo-communication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9" name="组合 38"/>
          <p:cNvGrpSpPr>
            <a:grpSpLocks/>
          </p:cNvGrpSpPr>
          <p:nvPr/>
        </p:nvGrpSpPr>
        <p:grpSpPr bwMode="auto">
          <a:xfrm>
            <a:off x="6822366" y="2580482"/>
            <a:ext cx="379412" cy="427037"/>
            <a:chOff x="555577" y="982629"/>
            <a:chExt cx="379735" cy="427707"/>
          </a:xfrm>
        </p:grpSpPr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18" name="TextBox 37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1" name="组合 39"/>
          <p:cNvGrpSpPr>
            <a:grpSpLocks/>
          </p:cNvGrpSpPr>
          <p:nvPr/>
        </p:nvGrpSpPr>
        <p:grpSpPr bwMode="auto">
          <a:xfrm>
            <a:off x="8086016" y="3193257"/>
            <a:ext cx="379412" cy="427037"/>
            <a:chOff x="555577" y="982629"/>
            <a:chExt cx="379735" cy="427707"/>
          </a:xfrm>
        </p:grpSpPr>
        <p:sp>
          <p:nvSpPr>
            <p:cNvPr id="36" name="椭圆 35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21" name="TextBox 41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2" name="组合 42"/>
          <p:cNvGrpSpPr>
            <a:grpSpLocks/>
          </p:cNvGrpSpPr>
          <p:nvPr/>
        </p:nvGrpSpPr>
        <p:grpSpPr bwMode="auto">
          <a:xfrm>
            <a:off x="8012991" y="4580732"/>
            <a:ext cx="379412" cy="427037"/>
            <a:chOff x="555577" y="982629"/>
            <a:chExt cx="379735" cy="427707"/>
          </a:xfrm>
        </p:grpSpPr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24" name="TextBox 44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3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3" name="组合 45"/>
          <p:cNvGrpSpPr>
            <a:grpSpLocks/>
          </p:cNvGrpSpPr>
          <p:nvPr/>
        </p:nvGrpSpPr>
        <p:grpSpPr bwMode="auto">
          <a:xfrm>
            <a:off x="6895391" y="5237957"/>
            <a:ext cx="379412" cy="427037"/>
            <a:chOff x="555577" y="982629"/>
            <a:chExt cx="379735" cy="427707"/>
          </a:xfrm>
        </p:grpSpPr>
        <p:sp>
          <p:nvSpPr>
            <p:cNvPr id="42" name="椭圆 41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27" name="TextBox 47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4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4" name="组合 48"/>
          <p:cNvGrpSpPr>
            <a:grpSpLocks/>
          </p:cNvGrpSpPr>
          <p:nvPr/>
        </p:nvGrpSpPr>
        <p:grpSpPr bwMode="auto">
          <a:xfrm>
            <a:off x="5763503" y="4617244"/>
            <a:ext cx="379413" cy="427038"/>
            <a:chOff x="555577" y="982629"/>
            <a:chExt cx="379735" cy="427707"/>
          </a:xfrm>
        </p:grpSpPr>
        <p:sp>
          <p:nvSpPr>
            <p:cNvPr id="45" name="椭圆 44"/>
            <p:cNvSpPr>
              <a:spLocks noChangeAspect="1"/>
            </p:cNvSpPr>
            <p:nvPr/>
          </p:nvSpPr>
          <p:spPr>
            <a:xfrm>
              <a:off x="555577" y="1019199"/>
              <a:ext cx="379735" cy="380006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30" name="TextBox 50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5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6" name="组合 51"/>
          <p:cNvGrpSpPr>
            <a:grpSpLocks/>
          </p:cNvGrpSpPr>
          <p:nvPr/>
        </p:nvGrpSpPr>
        <p:grpSpPr bwMode="auto">
          <a:xfrm>
            <a:off x="5603166" y="3237707"/>
            <a:ext cx="379412" cy="427037"/>
            <a:chOff x="555577" y="982629"/>
            <a:chExt cx="379735" cy="427707"/>
          </a:xfrm>
        </p:grpSpPr>
        <p:sp>
          <p:nvSpPr>
            <p:cNvPr id="48" name="椭圆 47"/>
            <p:cNvSpPr>
              <a:spLocks noChangeAspect="1"/>
            </p:cNvSpPr>
            <p:nvPr/>
          </p:nvSpPr>
          <p:spPr>
            <a:xfrm>
              <a:off x="555577" y="1019198"/>
              <a:ext cx="379735" cy="380008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381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2800" b="1"/>
            </a:p>
          </p:txBody>
        </p:sp>
        <p:sp>
          <p:nvSpPr>
            <p:cNvPr id="71733" name="TextBox 53"/>
            <p:cNvSpPr txBox="1">
              <a:spLocks noChangeArrowheads="1"/>
            </p:cNvSpPr>
            <p:nvPr/>
          </p:nvSpPr>
          <p:spPr bwMode="auto">
            <a:xfrm>
              <a:off x="665208" y="982629"/>
              <a:ext cx="219261" cy="427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solidFill>
                    <a:srgbClr val="FF66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6</a:t>
              </a:r>
              <a:endParaRPr lang="zh-CN" altLang="en-US" sz="2800" b="1">
                <a:solidFill>
                  <a:srgbClr val="FF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56" name="文本框 60">
            <a:extLst>
              <a:ext uri="{FF2B5EF4-FFF2-40B4-BE49-F238E27FC236}">
                <a16:creationId xmlns:a16="http://schemas.microsoft.com/office/drawing/2014/main" xmlns="" id="{C93D52F7-F22F-4006-AA01-8D7B9E4413EA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光伏探测器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xmlns="" id="{710808A1-675D-4E30-A97C-743E6155ED46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xmlns="" id="{C4F99FC7-32CF-4F88-B1E5-517FA08AD241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xmlns="" id="{2C822865-2E27-4E71-9F26-F6406F007E8E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1" name="直接连接符 58">
            <a:extLst>
              <a:ext uri="{FF2B5EF4-FFF2-40B4-BE49-F238E27FC236}">
                <a16:creationId xmlns:a16="http://schemas.microsoft.com/office/drawing/2014/main" xmlns="" id="{337CE2A6-E007-4744-9343-C972C4EECBF5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xmlns="" id="{EDBECA2A-AF33-41E3-999D-E89B41569796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xmlns="" id="{13852B32-2D31-4B51-B66E-685FA66429DD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硅光电池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576388"/>
            <a:ext cx="3690938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8" name="Picture 1" descr="C:\Documents and Settings\Administrator\Application Data\Tencent\Users\2554662579\QQ\WinTemp\RichOle\YG}50W8_}[5%BRIGCM3F5{V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96797" y="4086225"/>
            <a:ext cx="36512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9" name="Picture 2" descr="C:\Documents and Settings\Administrator\Application Data\Tencent\Users\2554662579\QQ\WinTemp\RichOle\R(W{2~SCSLTCGI59T0QAYJ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9475" y="4132263"/>
            <a:ext cx="3763963" cy="272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2" descr="airship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65414" y="1576387"/>
            <a:ext cx="3897298" cy="2383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 descr="CC33816LETZA])$DCA~@PWO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65414" y="4086224"/>
            <a:ext cx="3897044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59472" y="1576388"/>
            <a:ext cx="3651251" cy="2383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48B9C0BC-89F7-4D23-98C6-1D6592EFBDE2}"/>
              </a:ext>
            </a:extLst>
          </p:cNvPr>
          <p:cNvSpPr txBox="1"/>
          <p:nvPr/>
        </p:nvSpPr>
        <p:spPr>
          <a:xfrm>
            <a:off x="1363122" y="293282"/>
            <a:ext cx="476027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54EAB4C-C3A5-4B81-A87F-45E6BE284BB9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635F8043-D149-486B-9F9F-7EEF07FBE709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xmlns="" id="{45B92475-E9C7-448D-900C-F21DFB0A7A62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D32EBA8A-EFD7-4192-8044-CF59F6ADB434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9D277EC-1D66-4935-A9D3-0BE6ED619AD3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C09552F6-3A3F-4AF9-8777-7CBCB3D032A7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4" name="Picture 2" descr="xin_21110102104704619184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3873" y="1527175"/>
            <a:ext cx="2868346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5" name="Picture 3" descr="xin_1711010210476873101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9311" y="1527175"/>
            <a:ext cx="2900839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6" name="Picture 4" descr="xin_15110102104798423842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93873" y="4257675"/>
            <a:ext cx="2906446" cy="2367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7" name="Picture 5" descr="xin_1911010210471406754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9312" y="4271028"/>
            <a:ext cx="2925621" cy="2353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 descr="qbwx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29405" y="1547488"/>
            <a:ext cx="2845837" cy="246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图片 3" descr="嫦娥三号1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938736" y="4304331"/>
            <a:ext cx="2845837" cy="2277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文本框 60">
            <a:extLst>
              <a:ext uri="{FF2B5EF4-FFF2-40B4-BE49-F238E27FC236}">
                <a16:creationId xmlns:a16="http://schemas.microsoft.com/office/drawing/2014/main" xmlns="" id="{FF33DC15-3144-475A-9419-0AA717DC17BD}"/>
              </a:ext>
            </a:extLst>
          </p:cNvPr>
          <p:cNvSpPr txBox="1"/>
          <p:nvPr/>
        </p:nvSpPr>
        <p:spPr>
          <a:xfrm>
            <a:off x="1363122" y="293282"/>
            <a:ext cx="476027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308AC7F-6D36-426D-A1AB-BD26CB7C8E3B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5F2607D1-013A-4349-AB41-6DED73A79186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xmlns="" id="{AB0B1697-3DB4-45AA-AFDC-537BB49DA317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CB221F04-4FE5-4D1E-B9AB-8F6E78A27058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ECFE12FC-B386-4479-A928-A28972B667DD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117FCF5D-5CAC-4718-B103-54C3C30C05A8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32" name="Picture 2" descr="200741310404896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53182" y="3871578"/>
            <a:ext cx="2559050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33" name="Picture 3" descr="u=542640079,2953562242&amp;gp=-3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687" y="5215552"/>
            <a:ext cx="2806699" cy="200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34" name="图片 5" descr="太阳能小屋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0826" y="1086730"/>
            <a:ext cx="2774561" cy="192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35" name="图片 6" descr="便携式太阳能充电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68687" y="3206295"/>
            <a:ext cx="28067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2" descr="http://upload.wikimedia.org/wikipedia/commons/thumb/6/69/Boutiquehotel_Stadthalle_Wien.jpg/250px-Boutiquehotel_Stadthalle_Wien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89147" y="1086730"/>
            <a:ext cx="2381250" cy="192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图片 4" descr="http://upload.wikimedia.org/wikipedia/commons/thumb/6/6e/Ombri%C3%A8re_SUDI_-_Sustainable_Urban_Design_%26_Innovation.jpg/250px-Ombri%C3%A8re_SUDI_-_Sustainable_Urban_Design_%26_Innovation.jp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789147" y="3206295"/>
            <a:ext cx="238125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 descr="C:\Documents and Settings\Administrator\Application Data\Tencent\Users\729963870\QQ\WinTemp\RichOle\9D`N1SYR]}%{TP08`@D$VGO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789147" y="5215552"/>
            <a:ext cx="2381250" cy="200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6" descr="C:\Documents and Settings\Administrator\Application Data\Tencent\Users\729963870\QQ\WinTemp\RichOle\(_R]E}IXHWR6G4X19GCD_[N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289801" y="1086730"/>
            <a:ext cx="2622431" cy="2119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5FB33D05-CA92-400A-BD6D-F9DA3C1A88F1}"/>
              </a:ext>
            </a:extLst>
          </p:cNvPr>
          <p:cNvSpPr txBox="1"/>
          <p:nvPr/>
        </p:nvSpPr>
        <p:spPr>
          <a:xfrm>
            <a:off x="1363122" y="293282"/>
            <a:ext cx="476027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79DFDC48-706C-4096-BBD7-E6F0EA4D3B6E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3578146C-8708-451E-B52E-5B4C7E619F1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xmlns="" id="{18300096-9378-48DA-A83F-FF666BA73F11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6C75011-7FD6-4A32-93F0-A1B198485EBF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AC63789A-6874-4C6F-A5B1-0A2A02235ADF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30" name="直接连接符 58">
            <a:extLst>
              <a:ext uri="{FF2B5EF4-FFF2-40B4-BE49-F238E27FC236}">
                <a16:creationId xmlns:a16="http://schemas.microsoft.com/office/drawing/2014/main" xmlns="" id="{2FB83B73-42F4-4E35-97FB-3EAA07898B28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575171588"/>
              </p:ext>
            </p:extLst>
          </p:nvPr>
        </p:nvGraphicFramePr>
        <p:xfrm>
          <a:off x="4021156" y="1903455"/>
          <a:ext cx="5741457" cy="5346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35846" y="3722254"/>
            <a:ext cx="3622675" cy="946150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kumimoji="1"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High Photovoltaic Conversion Efficiency</a:t>
            </a:r>
            <a:endParaRPr lang="zh-CN" altLang="en-US" sz="2800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9535846" y="2809441"/>
            <a:ext cx="3582987" cy="57943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Major requirement</a:t>
            </a:r>
            <a:endParaRPr lang="zh-CN" altLang="en-US" sz="32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43783" y="4987491"/>
            <a:ext cx="1870075" cy="519113"/>
          </a:xfrm>
          <a:prstGeom prst="rect">
            <a:avLst/>
          </a:prstGeom>
          <a:solidFill>
            <a:srgbClr val="00B0F0"/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kumimoji="1"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Low cost</a:t>
            </a:r>
            <a:endParaRPr lang="zh-CN" altLang="en-US" sz="2800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grpSp>
        <p:nvGrpSpPr>
          <p:cNvPr id="14" name="组合 8"/>
          <p:cNvGrpSpPr>
            <a:grpSpLocks/>
          </p:cNvGrpSpPr>
          <p:nvPr/>
        </p:nvGrpSpPr>
        <p:grpSpPr bwMode="auto">
          <a:xfrm>
            <a:off x="5896475" y="889013"/>
            <a:ext cx="1935163" cy="730250"/>
            <a:chOff x="3622662" y="654012"/>
            <a:chExt cx="1935189" cy="730259"/>
          </a:xfrm>
        </p:grpSpPr>
        <p:sp>
          <p:nvSpPr>
            <p:cNvPr id="15" name="流程图: 可选过程 5"/>
            <p:cNvSpPr>
              <a:spLocks noChangeArrowheads="1"/>
            </p:cNvSpPr>
            <p:nvPr/>
          </p:nvSpPr>
          <p:spPr bwMode="auto">
            <a:xfrm>
              <a:off x="3622662" y="654012"/>
              <a:ext cx="1935189" cy="730259"/>
            </a:xfrm>
            <a:prstGeom prst="flowChartAlternateProcess">
              <a:avLst/>
            </a:prstGeom>
            <a:solidFill>
              <a:srgbClr val="FF00FF"/>
            </a:solidFill>
            <a:ln w="38100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TextBox 6"/>
            <p:cNvSpPr txBox="1">
              <a:spLocks noChangeArrowheads="1"/>
            </p:cNvSpPr>
            <p:nvPr/>
          </p:nvSpPr>
          <p:spPr bwMode="auto">
            <a:xfrm>
              <a:off x="3667113" y="688937"/>
              <a:ext cx="1846287" cy="641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914400"/>
              <a:r>
                <a:rPr lang="en-US" altLang="en-US" sz="3600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Energy</a:t>
              </a:r>
              <a:endParaRPr lang="zh-CN" altLang="en-US" sz="3600" b="1">
                <a:latin typeface="楷体_GB2312" pitchFamily="49" charset="-122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30143" y="3388879"/>
            <a:ext cx="1847461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Photocell function</a:t>
            </a:r>
            <a:endParaRPr lang="zh-CN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03425" y="1909270"/>
            <a:ext cx="1847461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nergy</a:t>
            </a:r>
            <a:endParaRPr lang="zh-CN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03424" y="5387258"/>
            <a:ext cx="1847461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Detection</a:t>
            </a:r>
            <a:endParaRPr lang="zh-CN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燕尾形箭头 3"/>
          <p:cNvSpPr/>
          <p:nvPr/>
        </p:nvSpPr>
        <p:spPr>
          <a:xfrm rot="18371443">
            <a:off x="1932261" y="2679256"/>
            <a:ext cx="827767" cy="571098"/>
          </a:xfrm>
          <a:prstGeom prst="notchedRightArrow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燕尾形箭头 4"/>
          <p:cNvSpPr/>
          <p:nvPr/>
        </p:nvSpPr>
        <p:spPr>
          <a:xfrm rot="3193462">
            <a:off x="1983835" y="4602030"/>
            <a:ext cx="781114" cy="604666"/>
          </a:xfrm>
          <a:prstGeom prst="notchedRightArrow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60">
            <a:extLst>
              <a:ext uri="{FF2B5EF4-FFF2-40B4-BE49-F238E27FC236}">
                <a16:creationId xmlns:a16="http://schemas.microsoft.com/office/drawing/2014/main" xmlns="" id="{6460624D-E91D-403E-9B55-1125D7F55A4F}"/>
              </a:ext>
            </a:extLst>
          </p:cNvPr>
          <p:cNvSpPr txBox="1"/>
          <p:nvPr/>
        </p:nvSpPr>
        <p:spPr>
          <a:xfrm>
            <a:off x="1363122" y="293282"/>
            <a:ext cx="476027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E37CAB6C-822C-41D8-9EBC-90E7F95E318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FE4BE855-387F-4BB3-91C0-8AD15EF25026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xmlns="" id="{7DEACA6D-A3F9-4B39-B52E-2C80FDDFF200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0DFFC5AC-CA0C-4FBE-B77A-47769B919783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2B82C806-5535-45FD-9DCC-19CF3343DABA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A55EDED8-DA20-4A01-B374-A141D8D4B735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11" grpId="0" animBg="1"/>
      <p:bldP spid="12" grpId="0" animBg="1"/>
      <p:bldP spid="13" grpId="0" animBg="1"/>
      <p:bldP spid="3" grpId="0" animBg="1"/>
      <p:bldP spid="18" grpId="0" animBg="1"/>
      <p:bldP spid="19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445706170"/>
              </p:ext>
            </p:extLst>
          </p:nvPr>
        </p:nvGraphicFramePr>
        <p:xfrm>
          <a:off x="2843552" y="1088606"/>
          <a:ext cx="5951619" cy="5675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056035" y="2747177"/>
            <a:ext cx="2271712" cy="5191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kumimoji="1"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Photometry</a:t>
            </a:r>
            <a:endParaRPr lang="zh-CN" altLang="en-US" sz="2800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81930" name="TextBox 3"/>
          <p:cNvSpPr txBox="1">
            <a:spLocks noChangeArrowheads="1"/>
          </p:cNvSpPr>
          <p:nvPr/>
        </p:nvSpPr>
        <p:spPr bwMode="auto">
          <a:xfrm>
            <a:off x="8983010" y="1834365"/>
            <a:ext cx="3893235" cy="579437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altLang="zh-CN" sz="3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Major requirement</a:t>
            </a:r>
            <a:endParaRPr lang="zh-CN" altLang="en-US" sz="32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56035" y="3696502"/>
            <a:ext cx="2454275" cy="5191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lang="en-US" altLang="zh-CN" sz="2800" b="1" dirty="0" err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sz="2800" b="1" dirty="0" err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olorimetry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0813" y="3423750"/>
            <a:ext cx="2219325" cy="657225"/>
            <a:chOff x="520813" y="3423750"/>
            <a:chExt cx="2219325" cy="657225"/>
          </a:xfrm>
        </p:grpSpPr>
        <p:sp>
          <p:nvSpPr>
            <p:cNvPr id="81932" name="流程图: 可选过程 6"/>
            <p:cNvSpPr>
              <a:spLocks noChangeArrowheads="1"/>
            </p:cNvSpPr>
            <p:nvPr/>
          </p:nvSpPr>
          <p:spPr bwMode="auto">
            <a:xfrm>
              <a:off x="520813" y="3496775"/>
              <a:ext cx="2117725" cy="584200"/>
            </a:xfrm>
            <a:prstGeom prst="flowChartAlternateProcess">
              <a:avLst/>
            </a:prstGeom>
            <a:solidFill>
              <a:srgbClr val="FF00FF"/>
            </a:solidFill>
            <a:ln w="38100" algn="ctr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1933" name="TextBox 7"/>
            <p:cNvSpPr txBox="1">
              <a:spLocks noChangeArrowheads="1"/>
            </p:cNvSpPr>
            <p:nvPr/>
          </p:nvSpPr>
          <p:spPr bwMode="auto">
            <a:xfrm>
              <a:off x="520813" y="3423750"/>
              <a:ext cx="2219325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/>
              <a:r>
                <a:rPr lang="en-US" altLang="en-US" sz="3600" b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Detection</a:t>
              </a:r>
              <a:endParaRPr lang="zh-CN" altLang="en-US" sz="36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056035" y="4609315"/>
            <a:ext cx="3111500" cy="9461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Optical precision measurement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63972" y="5814227"/>
            <a:ext cx="2957513" cy="5191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defTabSz="914400">
              <a:buFont typeface="Wingdings" pitchFamily="2" charset="2"/>
              <a:buChar char="l"/>
              <a:defRPr/>
            </a:pPr>
            <a:r>
              <a:rPr lang="en-US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Test Equipment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FADF388-C67E-4FD4-ACAD-E7949058574B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9C36C0B2-F63F-4DA2-B604-CDAF1536ABE3}"/>
              </a:ext>
            </a:extLst>
          </p:cNvPr>
          <p:cNvSpPr txBox="1"/>
          <p:nvPr/>
        </p:nvSpPr>
        <p:spPr>
          <a:xfrm>
            <a:off x="1363122" y="293282"/>
            <a:ext cx="476027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1F1898A8-9EC4-41CD-B71B-5A4080CED8A7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7F29C7F3-D656-42D6-93AE-14E80CEBC9E2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xmlns="" id="{E2534DB4-AD0D-466A-AB48-6E27A64A0736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A2896923-8B30-4706-9947-1A2EA5364000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046A6A0-2FC9-46D0-A1D2-3D22110F5EB2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30" name="直接连接符 58">
            <a:extLst>
              <a:ext uri="{FF2B5EF4-FFF2-40B4-BE49-F238E27FC236}">
                <a16:creationId xmlns:a16="http://schemas.microsoft.com/office/drawing/2014/main" xmlns="" id="{B4CE3B3C-2256-4705-942C-B697A4FF4492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 animBg="1"/>
      <p:bldP spid="81930" grpId="0" animBg="1"/>
      <p:bldP spid="5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566153" y="3159868"/>
            <a:ext cx="1092416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CN" sz="4400" b="1" dirty="0">
                <a:solidFill>
                  <a:srgbClr val="0000CC"/>
                </a:solidFill>
                <a:latin typeface="Times New Roman" pitchFamily="18" charset="0"/>
              </a:rPr>
              <a:t>The solar cell principles and S</a:t>
            </a:r>
            <a:r>
              <a:rPr lang="en-US" altLang="zh-CN" sz="44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tructure</a:t>
            </a:r>
            <a:endParaRPr lang="en-US" altLang="zh-CN" sz="4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483FC9FB-8EE6-4B54-B60B-FE259572255A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47D89D7B-BA68-4CDC-83EC-9683DA2C7E3C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C01DEE15-9BF0-4BF4-8045-2B97D1D2B78F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F5FB2012-7979-4A97-9816-538E4C4EE9E1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A9F0333-B43C-4AC3-B835-99DAB4405CDA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86510467-5DA0-4647-9281-B54FB5F733C4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A8DD4117-B3C0-4B53-99F3-1F8DB31E02F1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ChangeAspect="1" noChangeArrowheads="1"/>
          </p:cNvSpPr>
          <p:nvPr/>
        </p:nvSpPr>
        <p:spPr bwMode="auto">
          <a:xfrm>
            <a:off x="5996781" y="3491706"/>
            <a:ext cx="3652838" cy="2720975"/>
          </a:xfrm>
          <a:prstGeom prst="rect">
            <a:avLst/>
          </a:prstGeom>
          <a:solidFill>
            <a:srgbClr val="66FFFF"/>
          </a:solidFill>
          <a:ln w="349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组合 55"/>
          <p:cNvGrpSpPr>
            <a:grpSpLocks/>
          </p:cNvGrpSpPr>
          <p:nvPr/>
        </p:nvGrpSpPr>
        <p:grpSpPr bwMode="auto">
          <a:xfrm>
            <a:off x="6592094" y="3491706"/>
            <a:ext cx="915987" cy="2720975"/>
            <a:chOff x="2965450" y="3079750"/>
            <a:chExt cx="654050" cy="1943100"/>
          </a:xfrm>
        </p:grpSpPr>
        <p:cxnSp>
          <p:nvCxnSpPr>
            <p:cNvPr id="83978" name="AutoShape 2"/>
            <p:cNvCxnSpPr>
              <a:cxnSpLocks noChangeAspect="1" noChangeShapeType="1"/>
            </p:cNvCxnSpPr>
            <p:nvPr/>
          </p:nvCxnSpPr>
          <p:spPr bwMode="auto">
            <a:xfrm>
              <a:off x="2965450" y="3079750"/>
              <a:ext cx="12700" cy="1943100"/>
            </a:xfrm>
            <a:prstGeom prst="straightConnector1">
              <a:avLst/>
            </a:prstGeom>
            <a:noFill/>
            <a:ln w="31750">
              <a:solidFill>
                <a:srgbClr val="C00000"/>
              </a:solidFill>
              <a:prstDash val="lgDash"/>
              <a:round/>
              <a:headEnd/>
              <a:tailEnd/>
            </a:ln>
          </p:spPr>
        </p:cxnSp>
        <p:cxnSp>
          <p:nvCxnSpPr>
            <p:cNvPr id="83979" name="AutoShape 4"/>
            <p:cNvCxnSpPr>
              <a:cxnSpLocks noChangeAspect="1" noChangeShapeType="1"/>
            </p:cNvCxnSpPr>
            <p:nvPr/>
          </p:nvCxnSpPr>
          <p:spPr bwMode="auto">
            <a:xfrm>
              <a:off x="3606800" y="3079750"/>
              <a:ext cx="12700" cy="1943100"/>
            </a:xfrm>
            <a:prstGeom prst="straightConnector1">
              <a:avLst/>
            </a:prstGeom>
            <a:noFill/>
            <a:ln w="31750">
              <a:solidFill>
                <a:srgbClr val="C00000"/>
              </a:solidFill>
              <a:prstDash val="lgDash"/>
              <a:round/>
              <a:headEnd/>
              <a:tailEnd/>
            </a:ln>
          </p:spPr>
        </p:cxnSp>
      </p:grpSp>
      <p:grpSp>
        <p:nvGrpSpPr>
          <p:cNvPr id="3" name="组合 58"/>
          <p:cNvGrpSpPr>
            <a:grpSpLocks/>
          </p:cNvGrpSpPr>
          <p:nvPr/>
        </p:nvGrpSpPr>
        <p:grpSpPr bwMode="auto">
          <a:xfrm>
            <a:off x="6001544" y="3056731"/>
            <a:ext cx="3652837" cy="560387"/>
            <a:chOff x="2557800" y="5022850"/>
            <a:chExt cx="2608583" cy="400050"/>
          </a:xfrm>
        </p:grpSpPr>
        <p:cxnSp>
          <p:nvCxnSpPr>
            <p:cNvPr id="83981" name="AutoShape 3"/>
            <p:cNvCxnSpPr>
              <a:cxnSpLocks noChangeAspect="1" noChangeShapeType="1"/>
            </p:cNvCxnSpPr>
            <p:nvPr/>
          </p:nvCxnSpPr>
          <p:spPr bwMode="auto">
            <a:xfrm>
              <a:off x="3619500" y="50228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</p:spPr>
        </p:cxnSp>
        <p:cxnSp>
          <p:nvCxnSpPr>
            <p:cNvPr id="83982" name="AutoShape 7"/>
            <p:cNvCxnSpPr>
              <a:cxnSpLocks noChangeAspect="1" noChangeShapeType="1"/>
            </p:cNvCxnSpPr>
            <p:nvPr/>
          </p:nvCxnSpPr>
          <p:spPr bwMode="auto">
            <a:xfrm>
              <a:off x="2978150" y="50228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</p:spPr>
        </p:cxnSp>
        <p:cxnSp>
          <p:nvCxnSpPr>
            <p:cNvPr id="83983" name="AutoShape 8"/>
            <p:cNvCxnSpPr>
              <a:cxnSpLocks noChangeAspect="1" noChangeShapeType="1"/>
            </p:cNvCxnSpPr>
            <p:nvPr/>
          </p:nvCxnSpPr>
          <p:spPr bwMode="auto">
            <a:xfrm>
              <a:off x="2557800" y="50355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</p:spPr>
        </p:cxnSp>
        <p:cxnSp>
          <p:nvCxnSpPr>
            <p:cNvPr id="83984" name="AutoShape 9"/>
            <p:cNvCxnSpPr>
              <a:cxnSpLocks noChangeAspect="1" noChangeShapeType="1"/>
            </p:cNvCxnSpPr>
            <p:nvPr/>
          </p:nvCxnSpPr>
          <p:spPr bwMode="auto">
            <a:xfrm>
              <a:off x="5166383" y="50355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</p:spPr>
        </p:cxnSp>
      </p:grpSp>
      <p:cxnSp>
        <p:nvCxnSpPr>
          <p:cNvPr id="31755" name="AutoShape 10"/>
          <p:cNvCxnSpPr>
            <a:cxnSpLocks noChangeAspect="1" noChangeShapeType="1"/>
          </p:cNvCxnSpPr>
          <p:nvPr/>
        </p:nvCxnSpPr>
        <p:spPr bwMode="auto">
          <a:xfrm>
            <a:off x="5996781" y="3296443"/>
            <a:ext cx="595313" cy="95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</p:spPr>
      </p:cxnSp>
      <p:cxnSp>
        <p:nvCxnSpPr>
          <p:cNvPr id="31756" name="AutoShape 11"/>
          <p:cNvCxnSpPr>
            <a:cxnSpLocks noChangeAspect="1" noChangeShapeType="1"/>
          </p:cNvCxnSpPr>
          <p:nvPr/>
        </p:nvCxnSpPr>
        <p:spPr bwMode="auto">
          <a:xfrm>
            <a:off x="6642894" y="3296443"/>
            <a:ext cx="835025" cy="95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</p:spPr>
      </p:cxnSp>
      <p:cxnSp>
        <p:nvCxnSpPr>
          <p:cNvPr id="31757" name="AutoShape 12"/>
          <p:cNvCxnSpPr>
            <a:cxnSpLocks noChangeAspect="1" noChangeShapeType="1"/>
          </p:cNvCxnSpPr>
          <p:nvPr/>
        </p:nvCxnSpPr>
        <p:spPr bwMode="auto">
          <a:xfrm>
            <a:off x="7508081" y="3305968"/>
            <a:ext cx="2141538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</p:spPr>
      </p:cxnSp>
      <p:sp>
        <p:nvSpPr>
          <p:cNvPr id="31758" name="Text Box 13"/>
          <p:cNvSpPr txBox="1">
            <a:spLocks noChangeAspect="1" noChangeArrowheads="1"/>
          </p:cNvSpPr>
          <p:nvPr/>
        </p:nvSpPr>
        <p:spPr bwMode="auto">
          <a:xfrm>
            <a:off x="6596856" y="2496343"/>
            <a:ext cx="844550" cy="6588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14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Depletion region</a:t>
            </a:r>
          </a:p>
          <a:p>
            <a:pPr algn="ctr" defTabSz="914400"/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</a:t>
            </a:r>
            <a:endParaRPr lang="zh-CN" altLang="zh-CN" sz="3600" b="1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1759" name="Text Box 14"/>
          <p:cNvSpPr txBox="1">
            <a:spLocks noChangeAspect="1" noChangeArrowheads="1"/>
          </p:cNvSpPr>
          <p:nvPr/>
        </p:nvSpPr>
        <p:spPr bwMode="auto">
          <a:xfrm>
            <a:off x="8109744" y="2523331"/>
            <a:ext cx="844550" cy="4905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1400" b="1">
                <a:latin typeface="Times New Roman" pitchFamily="18" charset="0"/>
                <a:ea typeface="楷体_GB2312" pitchFamily="49" charset="-122"/>
              </a:rPr>
              <a:t>Neutral</a:t>
            </a:r>
          </a:p>
          <a:p>
            <a:pPr algn="ctr" defTabSz="914400"/>
            <a:r>
              <a:rPr lang="en-US" altLang="zh-CN" sz="1400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zh-CN" altLang="en-US" sz="1400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latin typeface="Times New Roman" pitchFamily="18" charset="0"/>
                <a:ea typeface="楷体_GB2312" pitchFamily="49" charset="-122"/>
              </a:rPr>
              <a:t>region</a:t>
            </a:r>
            <a:endParaRPr lang="zh-CN" altLang="zh-CN" sz="36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16"/>
          <p:cNvGrpSpPr>
            <a:grpSpLocks noChangeAspect="1"/>
          </p:cNvGrpSpPr>
          <p:nvPr/>
        </p:nvGrpSpPr>
        <p:grpSpPr bwMode="auto">
          <a:xfrm>
            <a:off x="7903369" y="3729831"/>
            <a:ext cx="217487" cy="225425"/>
            <a:chOff x="2996" y="5246"/>
            <a:chExt cx="244" cy="253"/>
          </a:xfrm>
        </p:grpSpPr>
        <p:sp>
          <p:nvSpPr>
            <p:cNvPr id="83991" name="Oval 17"/>
            <p:cNvSpPr>
              <a:spLocks noChangeAspect="1" noChangeArrowheads="1"/>
            </p:cNvSpPr>
            <p:nvPr/>
          </p:nvSpPr>
          <p:spPr bwMode="auto">
            <a:xfrm>
              <a:off x="2996" y="5246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83992" name="Group 18"/>
            <p:cNvGrpSpPr>
              <a:grpSpLocks noChangeAspect="1"/>
            </p:cNvGrpSpPr>
            <p:nvPr/>
          </p:nvGrpSpPr>
          <p:grpSpPr bwMode="auto">
            <a:xfrm>
              <a:off x="3022" y="5277"/>
              <a:ext cx="204" cy="184"/>
              <a:chOff x="1145" y="2057"/>
              <a:chExt cx="260" cy="234"/>
            </a:xfrm>
          </p:grpSpPr>
          <p:cxnSp>
            <p:nvCxnSpPr>
              <p:cNvPr id="83993" name="AutoShape 19"/>
              <p:cNvCxnSpPr>
                <a:cxnSpLocks noChangeAspect="1" noChangeShapeType="1"/>
              </p:cNvCxnSpPr>
              <p:nvPr/>
            </p:nvCxnSpPr>
            <p:spPr bwMode="auto">
              <a:xfrm>
                <a:off x="1145" y="2177"/>
                <a:ext cx="260" cy="0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3994" name="AutoShape 20"/>
              <p:cNvCxnSpPr>
                <a:cxnSpLocks noChangeAspect="1" noChangeShapeType="1"/>
              </p:cNvCxnSpPr>
              <p:nvPr/>
            </p:nvCxnSpPr>
            <p:spPr bwMode="auto">
              <a:xfrm>
                <a:off x="1280" y="2057"/>
                <a:ext cx="0" cy="234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sp>
        <p:nvSpPr>
          <p:cNvPr id="31763" name="Freeform 24"/>
          <p:cNvSpPr>
            <a:spLocks noChangeAspect="1"/>
          </p:cNvSpPr>
          <p:nvPr/>
        </p:nvSpPr>
        <p:spPr bwMode="auto">
          <a:xfrm>
            <a:off x="4687094" y="3691731"/>
            <a:ext cx="3221037" cy="571500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</p:spPr>
        <p:txBody>
          <a:bodyPr/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64" name="Freeform 25"/>
          <p:cNvSpPr>
            <a:spLocks noChangeAspect="1"/>
          </p:cNvSpPr>
          <p:nvPr/>
        </p:nvSpPr>
        <p:spPr bwMode="auto">
          <a:xfrm>
            <a:off x="4699794" y="4477543"/>
            <a:ext cx="2382837" cy="569913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2225">
            <a:solidFill>
              <a:srgbClr val="0000CC"/>
            </a:solidFill>
            <a:round/>
            <a:headEnd/>
            <a:tailEnd type="stealth" w="lg" len="lg"/>
          </a:ln>
        </p:spPr>
        <p:txBody>
          <a:bodyPr/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6974681" y="4572793"/>
            <a:ext cx="214313" cy="223838"/>
            <a:chOff x="2996" y="5246"/>
            <a:chExt cx="244" cy="253"/>
          </a:xfrm>
        </p:grpSpPr>
        <p:sp>
          <p:nvSpPr>
            <p:cNvPr id="83998" name="Oval 28"/>
            <p:cNvSpPr>
              <a:spLocks noChangeAspect="1" noChangeArrowheads="1"/>
            </p:cNvSpPr>
            <p:nvPr/>
          </p:nvSpPr>
          <p:spPr bwMode="auto">
            <a:xfrm>
              <a:off x="2996" y="5246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83999" name="Group 29"/>
            <p:cNvGrpSpPr>
              <a:grpSpLocks noChangeAspect="1"/>
            </p:cNvGrpSpPr>
            <p:nvPr/>
          </p:nvGrpSpPr>
          <p:grpSpPr bwMode="auto">
            <a:xfrm>
              <a:off x="3022" y="5277"/>
              <a:ext cx="204" cy="184"/>
              <a:chOff x="1145" y="2057"/>
              <a:chExt cx="260" cy="234"/>
            </a:xfrm>
          </p:grpSpPr>
          <p:cxnSp>
            <p:nvCxnSpPr>
              <p:cNvPr id="84000" name="AutoShape 30"/>
              <p:cNvCxnSpPr>
                <a:cxnSpLocks noChangeAspect="1" noChangeShapeType="1"/>
              </p:cNvCxnSpPr>
              <p:nvPr/>
            </p:nvCxnSpPr>
            <p:spPr bwMode="auto">
              <a:xfrm>
                <a:off x="1145" y="2177"/>
                <a:ext cx="260" cy="0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4001" name="AutoShape 31"/>
              <p:cNvCxnSpPr>
                <a:cxnSpLocks noChangeAspect="1" noChangeShapeType="1"/>
              </p:cNvCxnSpPr>
              <p:nvPr/>
            </p:nvCxnSpPr>
            <p:spPr bwMode="auto">
              <a:xfrm>
                <a:off x="1280" y="2057"/>
                <a:ext cx="0" cy="234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8" name="Group 35"/>
          <p:cNvGrpSpPr>
            <a:grpSpLocks noChangeAspect="1"/>
          </p:cNvGrpSpPr>
          <p:nvPr/>
        </p:nvGrpSpPr>
        <p:grpSpPr bwMode="auto">
          <a:xfrm>
            <a:off x="6198394" y="5466556"/>
            <a:ext cx="217487" cy="225425"/>
            <a:chOff x="2996" y="5246"/>
            <a:chExt cx="244" cy="253"/>
          </a:xfrm>
        </p:grpSpPr>
        <p:sp>
          <p:nvSpPr>
            <p:cNvPr id="84003" name="Oval 36"/>
            <p:cNvSpPr>
              <a:spLocks noChangeAspect="1" noChangeArrowheads="1"/>
            </p:cNvSpPr>
            <p:nvPr/>
          </p:nvSpPr>
          <p:spPr bwMode="auto">
            <a:xfrm>
              <a:off x="2996" y="5246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84004" name="Group 37"/>
            <p:cNvGrpSpPr>
              <a:grpSpLocks noChangeAspect="1"/>
            </p:cNvGrpSpPr>
            <p:nvPr/>
          </p:nvGrpSpPr>
          <p:grpSpPr bwMode="auto">
            <a:xfrm>
              <a:off x="3022" y="5277"/>
              <a:ext cx="204" cy="184"/>
              <a:chOff x="1145" y="2057"/>
              <a:chExt cx="260" cy="234"/>
            </a:xfrm>
          </p:grpSpPr>
          <p:cxnSp>
            <p:nvCxnSpPr>
              <p:cNvPr id="84005" name="AutoShape 38"/>
              <p:cNvCxnSpPr>
                <a:cxnSpLocks noChangeAspect="1" noChangeShapeType="1"/>
              </p:cNvCxnSpPr>
              <p:nvPr/>
            </p:nvCxnSpPr>
            <p:spPr bwMode="auto">
              <a:xfrm>
                <a:off x="1145" y="2177"/>
                <a:ext cx="260" cy="0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4006" name="AutoShape 39"/>
              <p:cNvCxnSpPr>
                <a:cxnSpLocks noChangeAspect="1" noChangeShapeType="1"/>
              </p:cNvCxnSpPr>
              <p:nvPr/>
            </p:nvCxnSpPr>
            <p:spPr bwMode="auto">
              <a:xfrm>
                <a:off x="1280" y="2057"/>
                <a:ext cx="0" cy="234"/>
              </a:xfrm>
              <a:prstGeom prst="straightConnector1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0" name="组合 48"/>
          <p:cNvGrpSpPr>
            <a:grpSpLocks/>
          </p:cNvGrpSpPr>
          <p:nvPr/>
        </p:nvGrpSpPr>
        <p:grpSpPr bwMode="auto">
          <a:xfrm>
            <a:off x="7844631" y="4044156"/>
            <a:ext cx="219075" cy="223837"/>
            <a:chOff x="6572250" y="2362200"/>
            <a:chExt cx="155575" cy="160337"/>
          </a:xfrm>
        </p:grpSpPr>
        <p:sp>
          <p:nvSpPr>
            <p:cNvPr id="84008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84009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</p:spPr>
        </p:cxnSp>
      </p:grpSp>
      <p:grpSp>
        <p:nvGrpSpPr>
          <p:cNvPr id="11" name="组合 49"/>
          <p:cNvGrpSpPr>
            <a:grpSpLocks/>
          </p:cNvGrpSpPr>
          <p:nvPr/>
        </p:nvGrpSpPr>
        <p:grpSpPr bwMode="auto">
          <a:xfrm>
            <a:off x="6911181" y="4852193"/>
            <a:ext cx="219075" cy="225425"/>
            <a:chOff x="6572250" y="2362200"/>
            <a:chExt cx="155575" cy="160337"/>
          </a:xfrm>
        </p:grpSpPr>
        <p:sp>
          <p:nvSpPr>
            <p:cNvPr id="84011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84012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</p:spPr>
        </p:cxnSp>
      </p:grpSp>
      <p:grpSp>
        <p:nvGrpSpPr>
          <p:cNvPr id="12" name="组合 52"/>
          <p:cNvGrpSpPr>
            <a:grpSpLocks/>
          </p:cNvGrpSpPr>
          <p:nvPr/>
        </p:nvGrpSpPr>
        <p:grpSpPr bwMode="auto">
          <a:xfrm>
            <a:off x="6165056" y="5750718"/>
            <a:ext cx="217488" cy="223838"/>
            <a:chOff x="6572250" y="2362200"/>
            <a:chExt cx="155575" cy="160337"/>
          </a:xfrm>
        </p:grpSpPr>
        <p:sp>
          <p:nvSpPr>
            <p:cNvPr id="84014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84015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</p:spPr>
        </p:cxnSp>
      </p:grpSp>
      <p:sp>
        <p:nvSpPr>
          <p:cNvPr id="58" name="Text Box 13"/>
          <p:cNvSpPr txBox="1">
            <a:spLocks noChangeAspect="1" noChangeArrowheads="1"/>
          </p:cNvSpPr>
          <p:nvPr/>
        </p:nvSpPr>
        <p:spPr bwMode="auto">
          <a:xfrm>
            <a:off x="8420894" y="2967831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18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endParaRPr lang="zh-CN" altLang="zh-CN" sz="4400" b="1" baseline="-2500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13" name="组合 61"/>
          <p:cNvGrpSpPr>
            <a:grpSpLocks/>
          </p:cNvGrpSpPr>
          <p:nvPr/>
        </p:nvGrpSpPr>
        <p:grpSpPr bwMode="auto">
          <a:xfrm>
            <a:off x="4809331" y="5525293"/>
            <a:ext cx="1166813" cy="527050"/>
            <a:chOff x="1856842" y="4532332"/>
            <a:chExt cx="670458" cy="376218"/>
          </a:xfrm>
        </p:grpSpPr>
        <p:sp>
          <p:nvSpPr>
            <p:cNvPr id="84018" name="Rectangle 6"/>
            <p:cNvSpPr>
              <a:spLocks noChangeAspect="1" noChangeArrowheads="1"/>
            </p:cNvSpPr>
            <p:nvPr/>
          </p:nvSpPr>
          <p:spPr bwMode="auto">
            <a:xfrm>
              <a:off x="2436813" y="4572000"/>
              <a:ext cx="90487" cy="3365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4019" name="Text Box 13"/>
            <p:cNvSpPr txBox="1">
              <a:spLocks noChangeAspect="1" noChangeArrowheads="1"/>
            </p:cNvSpPr>
            <p:nvPr/>
          </p:nvSpPr>
          <p:spPr bwMode="auto">
            <a:xfrm>
              <a:off x="1856842" y="4532332"/>
              <a:ext cx="544513" cy="355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/>
              <a:r>
                <a:rPr lang="en-US" altLang="zh-CN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Finger eletrode</a:t>
              </a:r>
              <a:endParaRPr lang="zh-CN" altLang="zh-CN" sz="4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31765" name="Freeform 26"/>
          <p:cNvSpPr>
            <a:spLocks noChangeAspect="1"/>
          </p:cNvSpPr>
          <p:nvPr/>
        </p:nvSpPr>
        <p:spPr bwMode="auto">
          <a:xfrm>
            <a:off x="4687094" y="5401468"/>
            <a:ext cx="1611312" cy="571500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2225">
            <a:solidFill>
              <a:srgbClr val="6600CC"/>
            </a:solidFill>
            <a:round/>
            <a:headEnd/>
            <a:tailEnd type="stealth" w="lg" len="lg"/>
          </a:ln>
        </p:spPr>
        <p:txBody>
          <a:bodyPr/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" name="组合 63"/>
          <p:cNvGrpSpPr>
            <a:grpSpLocks/>
          </p:cNvGrpSpPr>
          <p:nvPr/>
        </p:nvGrpSpPr>
        <p:grpSpPr bwMode="auto">
          <a:xfrm>
            <a:off x="9649619" y="3483768"/>
            <a:ext cx="1073150" cy="2728913"/>
            <a:chOff x="5149849" y="3073400"/>
            <a:chExt cx="766763" cy="1949450"/>
          </a:xfrm>
        </p:grpSpPr>
        <p:sp>
          <p:nvSpPr>
            <p:cNvPr id="84022" name="Rectangle 5"/>
            <p:cNvSpPr>
              <a:spLocks noChangeAspect="1" noChangeArrowheads="1"/>
            </p:cNvSpPr>
            <p:nvPr/>
          </p:nvSpPr>
          <p:spPr bwMode="auto">
            <a:xfrm>
              <a:off x="5149849" y="3073400"/>
              <a:ext cx="90488" cy="19494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4023" name="Text Box 13"/>
            <p:cNvSpPr txBox="1">
              <a:spLocks noChangeAspect="1" noChangeArrowheads="1"/>
            </p:cNvSpPr>
            <p:nvPr/>
          </p:nvSpPr>
          <p:spPr bwMode="auto">
            <a:xfrm>
              <a:off x="5264438" y="4629150"/>
              <a:ext cx="652174" cy="3555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/>
              <a:r>
                <a:rPr lang="en-US" altLang="zh-CN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Back eletrode</a:t>
              </a:r>
              <a:endParaRPr lang="zh-CN" altLang="zh-CN" sz="4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5" name="组合 102"/>
          <p:cNvGrpSpPr>
            <a:grpSpLocks/>
          </p:cNvGrpSpPr>
          <p:nvPr/>
        </p:nvGrpSpPr>
        <p:grpSpPr bwMode="auto">
          <a:xfrm>
            <a:off x="5949156" y="2493168"/>
            <a:ext cx="738188" cy="652463"/>
            <a:chOff x="2856230" y="1532255"/>
            <a:chExt cx="737870" cy="652145"/>
          </a:xfrm>
        </p:grpSpPr>
        <p:sp>
          <p:nvSpPr>
            <p:cNvPr id="84025" name="Text Box 13"/>
            <p:cNvSpPr txBox="1">
              <a:spLocks noChangeAspect="1" noChangeArrowheads="1"/>
            </p:cNvSpPr>
            <p:nvPr/>
          </p:nvSpPr>
          <p:spPr bwMode="auto">
            <a:xfrm>
              <a:off x="3105151" y="1971907"/>
              <a:ext cx="311149" cy="212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/>
              <a:r>
                <a:rPr lang="en-US" altLang="zh-CN" sz="1800" b="1" i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p</a:t>
              </a:r>
              <a:endParaRPr lang="zh-CN" altLang="zh-CN" sz="4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84026" name="Text Box 14"/>
            <p:cNvSpPr txBox="1">
              <a:spLocks noChangeAspect="1" noChangeArrowheads="1"/>
            </p:cNvSpPr>
            <p:nvPr/>
          </p:nvSpPr>
          <p:spPr bwMode="auto">
            <a:xfrm>
              <a:off x="2856230" y="1532255"/>
              <a:ext cx="737870" cy="4743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/>
              <a:r>
                <a:rPr lang="en-US" altLang="zh-CN" sz="1400" b="1">
                  <a:latin typeface="Times New Roman" pitchFamily="18" charset="0"/>
                  <a:ea typeface="楷体_GB2312" pitchFamily="49" charset="-122"/>
                </a:rPr>
                <a:t>Neutral</a:t>
              </a:r>
            </a:p>
            <a:p>
              <a:pPr algn="ctr" defTabSz="914400"/>
              <a:r>
                <a:rPr lang="en-US" altLang="zh-CN" sz="1400" b="1"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lang="en-US" altLang="zh-CN" sz="1400" b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P</a:t>
              </a:r>
              <a:r>
                <a:rPr lang="zh-CN" altLang="en-US" sz="1400" b="1"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lang="en-US" altLang="zh-CN" sz="1400" b="1">
                  <a:latin typeface="Times New Roman" pitchFamily="18" charset="0"/>
                  <a:ea typeface="楷体_GB2312" pitchFamily="49" charset="-122"/>
                </a:rPr>
                <a:t>region</a:t>
              </a:r>
              <a:endParaRPr lang="zh-CN" altLang="zh-CN" sz="3600" b="1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6" name="组合 89"/>
          <p:cNvGrpSpPr>
            <a:grpSpLocks/>
          </p:cNvGrpSpPr>
          <p:nvPr/>
        </p:nvGrpSpPr>
        <p:grpSpPr bwMode="auto">
          <a:xfrm>
            <a:off x="6065044" y="5990431"/>
            <a:ext cx="2151062" cy="177800"/>
            <a:chOff x="2971800" y="2051050"/>
            <a:chExt cx="2151376" cy="177800"/>
          </a:xfrm>
        </p:grpSpPr>
        <p:sp>
          <p:nvSpPr>
            <p:cNvPr id="49185" name="Text Box 13"/>
            <p:cNvSpPr txBox="1">
              <a:spLocks noChangeAspect="1" noChangeArrowheads="1"/>
            </p:cNvSpPr>
            <p:nvPr/>
          </p:nvSpPr>
          <p:spPr bwMode="auto">
            <a:xfrm>
              <a:off x="4446802" y="2051050"/>
              <a:ext cx="676374" cy="177800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>
                <a:defRPr/>
              </a:pPr>
              <a:r>
                <a:rPr lang="en-US" altLang="zh-CN" sz="1050" b="1" dirty="0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Diffusion</a:t>
              </a:r>
              <a:endParaRPr lang="zh-CN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9186" name="Text Box 13"/>
            <p:cNvSpPr txBox="1">
              <a:spLocks noChangeAspect="1" noChangeArrowheads="1"/>
            </p:cNvSpPr>
            <p:nvPr/>
          </p:nvSpPr>
          <p:spPr bwMode="auto">
            <a:xfrm>
              <a:off x="3727560" y="2051050"/>
              <a:ext cx="533478" cy="133350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>
                <a:defRPr/>
              </a:pPr>
              <a:r>
                <a:rPr lang="en-US" altLang="zh-CN" sz="1050" b="1" dirty="0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Drift</a:t>
              </a:r>
              <a:endParaRPr lang="zh-CN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9187" name="Text Box 13"/>
            <p:cNvSpPr txBox="1">
              <a:spLocks noChangeAspect="1" noChangeArrowheads="1"/>
            </p:cNvSpPr>
            <p:nvPr/>
          </p:nvSpPr>
          <p:spPr bwMode="auto">
            <a:xfrm>
              <a:off x="2971800" y="2051050"/>
              <a:ext cx="533478" cy="152400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400">
                <a:defRPr/>
              </a:pPr>
              <a:r>
                <a:rPr lang="en-US" altLang="zh-CN" sz="1050" b="1" dirty="0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Diffusion</a:t>
              </a:r>
              <a:endParaRPr lang="zh-CN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91" name="Text Box 2"/>
          <p:cNvSpPr txBox="1">
            <a:spLocks noChangeArrowheads="1"/>
          </p:cNvSpPr>
          <p:nvPr/>
        </p:nvSpPr>
        <p:spPr bwMode="auto">
          <a:xfrm>
            <a:off x="3961313" y="1225173"/>
            <a:ext cx="5805488" cy="7016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CC"/>
                </a:solidFill>
                <a:latin typeface="Times New Roman" pitchFamily="18" charset="0"/>
              </a:rPr>
              <a:t>The solar cell principles</a:t>
            </a:r>
          </a:p>
        </p:txBody>
      </p:sp>
      <p:sp>
        <p:nvSpPr>
          <p:cNvPr id="92" name="Text Box 14"/>
          <p:cNvSpPr txBox="1">
            <a:spLocks noChangeAspect="1" noChangeArrowheads="1"/>
          </p:cNvSpPr>
          <p:nvPr/>
        </p:nvSpPr>
        <p:spPr bwMode="auto">
          <a:xfrm>
            <a:off x="3493294" y="5561806"/>
            <a:ext cx="1255712" cy="4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2400" b="1">
                <a:solidFill>
                  <a:srgbClr val="6600CC"/>
                </a:solidFill>
                <a:latin typeface="Times New Roman" pitchFamily="18" charset="0"/>
                <a:ea typeface="楷体_GB2312" pitchFamily="49" charset="-122"/>
              </a:rPr>
              <a:t>Short 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</a:t>
            </a:r>
            <a:endParaRPr lang="zh-CN" altLang="zh-CN" sz="54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" name="Text Box 14"/>
          <p:cNvSpPr txBox="1">
            <a:spLocks noChangeAspect="1" noChangeArrowheads="1"/>
          </p:cNvSpPr>
          <p:nvPr/>
        </p:nvSpPr>
        <p:spPr bwMode="auto">
          <a:xfrm>
            <a:off x="3274219" y="4466431"/>
            <a:ext cx="1484312" cy="412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b="1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Medium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</a:t>
            </a:r>
            <a:endParaRPr lang="zh-CN" altLang="zh-CN" sz="4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" name="Text Box 14"/>
          <p:cNvSpPr txBox="1">
            <a:spLocks noChangeAspect="1" noChangeArrowheads="1"/>
          </p:cNvSpPr>
          <p:nvPr/>
        </p:nvSpPr>
        <p:spPr bwMode="auto">
          <a:xfrm>
            <a:off x="3456781" y="3675856"/>
            <a:ext cx="1141413" cy="4032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long 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</a:t>
            </a:r>
            <a:endParaRPr lang="zh-CN" altLang="zh-CN" sz="54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7" name="组合 100"/>
          <p:cNvGrpSpPr>
            <a:grpSpLocks/>
          </p:cNvGrpSpPr>
          <p:nvPr/>
        </p:nvGrpSpPr>
        <p:grpSpPr bwMode="auto">
          <a:xfrm>
            <a:off x="6731794" y="6346031"/>
            <a:ext cx="996950" cy="311150"/>
            <a:chOff x="3638550" y="5384800"/>
            <a:chExt cx="577850" cy="311149"/>
          </a:xfrm>
        </p:grpSpPr>
        <p:sp>
          <p:nvSpPr>
            <p:cNvPr id="84036" name="Text Box 13"/>
            <p:cNvSpPr txBox="1">
              <a:spLocks noChangeAspect="1" noChangeArrowheads="1"/>
            </p:cNvSpPr>
            <p:nvPr/>
          </p:nvSpPr>
          <p:spPr bwMode="auto">
            <a:xfrm>
              <a:off x="3638550" y="5473700"/>
              <a:ext cx="577850" cy="222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914400"/>
              <a:r>
                <a:rPr lang="en-US" altLang="zh-CN" b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Field </a:t>
              </a:r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E</a:t>
              </a:r>
              <a:endParaRPr lang="zh-CN" altLang="zh-CN" sz="4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cxnSp>
          <p:nvCxnSpPr>
            <p:cNvPr id="84037" name="直接箭头连接符 98"/>
            <p:cNvCxnSpPr>
              <a:cxnSpLocks noChangeShapeType="1"/>
            </p:cNvCxnSpPr>
            <p:nvPr/>
          </p:nvCxnSpPr>
          <p:spPr bwMode="auto">
            <a:xfrm rot="10800000">
              <a:off x="3638550" y="5384800"/>
              <a:ext cx="533400" cy="1588"/>
            </a:xfrm>
            <a:prstGeom prst="straightConnector1">
              <a:avLst/>
            </a:prstGeom>
            <a:noFill/>
            <a:ln w="31750" algn="ctr">
              <a:solidFill>
                <a:srgbClr val="FF00FF"/>
              </a:solidFill>
              <a:round/>
              <a:headEnd/>
              <a:tailEnd type="stealth" w="lg" len="lg"/>
            </a:ln>
          </p:spPr>
        </p:cxnSp>
      </p:grpSp>
      <p:sp>
        <p:nvSpPr>
          <p:cNvPr id="104" name="Text Box 14"/>
          <p:cNvSpPr txBox="1">
            <a:spLocks noChangeAspect="1" noChangeArrowheads="1"/>
          </p:cNvSpPr>
          <p:nvPr/>
        </p:nvSpPr>
        <p:spPr bwMode="auto">
          <a:xfrm>
            <a:off x="3558381" y="2883857"/>
            <a:ext cx="1200150" cy="4619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914400"/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Photon</a:t>
            </a:r>
            <a:endParaRPr lang="zh-CN" altLang="zh-CN" sz="6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" name="文本框 60">
            <a:extLst>
              <a:ext uri="{FF2B5EF4-FFF2-40B4-BE49-F238E27FC236}">
                <a16:creationId xmlns:a16="http://schemas.microsoft.com/office/drawing/2014/main" xmlns="" id="{20446A56-AF55-4151-8A89-868FFF893E13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xmlns="" id="{D0E1927E-342F-48CE-9247-D0DA27B4D2C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xmlns="" id="{7A792C9C-026A-46F1-BBBC-ECE751DD4CA9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xmlns="" id="{05016973-9F8D-474F-B5FD-6066BB3756D9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2" name="直接连接符 58">
            <a:extLst>
              <a:ext uri="{FF2B5EF4-FFF2-40B4-BE49-F238E27FC236}">
                <a16:creationId xmlns:a16="http://schemas.microsoft.com/office/drawing/2014/main" xmlns="" id="{FE646A49-671B-44E5-BFF8-B443FB4C68E1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xmlns="" id="{AB4CF78C-EDF4-4D8C-877E-9CE858B4BFB8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xmlns="" id="{B9334A95-7933-467F-88A6-E62F83007802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9259E-6 2.87508E-6 C 0.00208 -0.00041 0.00463 2.87508E-6 0.00671 -0.00144 C 0.00822 -0.00227 0.00787 -0.00618 0.00833 -0.00885 C 0.00972 -0.01482 0.01076 -0.01914 0.01447 -0.02099 C 0.02893 -0.03725 0.02187 -0.01112 0.02916 -0.01112 C 0.06701 -0.0107 0.10474 -0.01112 0.14271 -0.01112 " pathEditMode="relative" rAng="0" ptsTypes="fffffA">
                                      <p:cBhvr>
                                        <p:cTn id="9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30" y="-18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94484E-6 L 0.08217 -0.00083 " pathEditMode="relative" rAng="0" ptsTypes="AA">
                                      <p:cBhvr>
                                        <p:cTn id="12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9" y="-41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8.0675E-7 L -0.05891 -0.00309 " pathEditMode="relative" rAng="0" ptsTypes="AA">
                                      <p:cBhvr>
                                        <p:cTn id="12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1" y="-1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1852E-6 -0.0002 C -0.03252 0.00186 -0.01597 -0.00802 -0.02488 0.01606 C -0.0478 0.01194 -0.04051 0.01318 -0.08136 0.01215 C -0.09502 0.00268 -0.09907 0.00968 -0.12164 0.00968 " pathEditMode="relative" rAng="0" ptsTypes="fffA">
                                      <p:cBhvr>
                                        <p:cTn id="151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8" y="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8" grpId="0" animBg="1"/>
      <p:bldP spid="31759" grpId="0" animBg="1"/>
      <p:bldP spid="31763" grpId="0" animBg="1"/>
      <p:bldP spid="31764" grpId="0" animBg="1"/>
      <p:bldP spid="58" grpId="0" animBg="1"/>
      <p:bldP spid="31765" grpId="0" animBg="1"/>
      <p:bldP spid="91" grpId="0" animBg="1"/>
      <p:bldP spid="92" grpId="0" animBg="1"/>
      <p:bldP spid="93" grpId="0" animBg="1"/>
      <p:bldP spid="94" grpId="0" animBg="1"/>
      <p:bldP spid="10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>
            <a:spLocks noChangeAspect="1" noChangeArrowheads="1"/>
          </p:cNvSpPr>
          <p:nvPr/>
        </p:nvSpPr>
        <p:spPr bwMode="auto">
          <a:xfrm>
            <a:off x="5661818" y="2348369"/>
            <a:ext cx="3652838" cy="2720975"/>
          </a:xfrm>
          <a:prstGeom prst="rect">
            <a:avLst/>
          </a:prstGeom>
          <a:solidFill>
            <a:srgbClr val="66FFFF"/>
          </a:solidFill>
          <a:ln w="349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3" name="组合 55"/>
          <p:cNvGrpSpPr>
            <a:grpSpLocks/>
          </p:cNvGrpSpPr>
          <p:nvPr/>
        </p:nvGrpSpPr>
        <p:grpSpPr bwMode="auto">
          <a:xfrm>
            <a:off x="6257131" y="2348369"/>
            <a:ext cx="915987" cy="2720975"/>
            <a:chOff x="2965450" y="3079750"/>
            <a:chExt cx="654050" cy="1943100"/>
          </a:xfrm>
        </p:grpSpPr>
        <p:cxnSp>
          <p:nvCxnSpPr>
            <p:cNvPr id="66" name="AutoShape 2"/>
            <p:cNvCxnSpPr>
              <a:cxnSpLocks noChangeAspect="1" noChangeShapeType="1"/>
            </p:cNvCxnSpPr>
            <p:nvPr/>
          </p:nvCxnSpPr>
          <p:spPr bwMode="auto">
            <a:xfrm>
              <a:off x="2965450" y="3079750"/>
              <a:ext cx="12700" cy="1943100"/>
            </a:xfrm>
            <a:prstGeom prst="straightConnector1">
              <a:avLst/>
            </a:prstGeom>
            <a:noFill/>
            <a:ln w="31750">
              <a:solidFill>
                <a:srgbClr val="C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4"/>
            <p:cNvCxnSpPr>
              <a:cxnSpLocks noChangeAspect="1" noChangeShapeType="1"/>
            </p:cNvCxnSpPr>
            <p:nvPr/>
          </p:nvCxnSpPr>
          <p:spPr bwMode="auto">
            <a:xfrm>
              <a:off x="3606800" y="3079750"/>
              <a:ext cx="12700" cy="1943100"/>
            </a:xfrm>
            <a:prstGeom prst="straightConnector1">
              <a:avLst/>
            </a:prstGeom>
            <a:noFill/>
            <a:ln w="31750">
              <a:solidFill>
                <a:srgbClr val="C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" name="组合 58"/>
          <p:cNvGrpSpPr>
            <a:grpSpLocks/>
          </p:cNvGrpSpPr>
          <p:nvPr/>
        </p:nvGrpSpPr>
        <p:grpSpPr bwMode="auto">
          <a:xfrm>
            <a:off x="5641181" y="1913394"/>
            <a:ext cx="3654425" cy="560388"/>
            <a:chOff x="2540000" y="5022850"/>
            <a:chExt cx="2609850" cy="400050"/>
          </a:xfrm>
        </p:grpSpPr>
        <p:cxnSp>
          <p:nvCxnSpPr>
            <p:cNvPr id="69" name="AutoShape 3"/>
            <p:cNvCxnSpPr>
              <a:cxnSpLocks noChangeAspect="1" noChangeShapeType="1"/>
            </p:cNvCxnSpPr>
            <p:nvPr/>
          </p:nvCxnSpPr>
          <p:spPr bwMode="auto">
            <a:xfrm>
              <a:off x="3619500" y="50228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7"/>
            <p:cNvCxnSpPr>
              <a:cxnSpLocks noChangeAspect="1" noChangeShapeType="1"/>
            </p:cNvCxnSpPr>
            <p:nvPr/>
          </p:nvCxnSpPr>
          <p:spPr bwMode="auto">
            <a:xfrm>
              <a:off x="2978150" y="50228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8"/>
            <p:cNvCxnSpPr>
              <a:cxnSpLocks noChangeAspect="1" noChangeShapeType="1"/>
            </p:cNvCxnSpPr>
            <p:nvPr/>
          </p:nvCxnSpPr>
          <p:spPr bwMode="auto">
            <a:xfrm>
              <a:off x="2540000" y="50355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9"/>
            <p:cNvCxnSpPr>
              <a:cxnSpLocks noChangeAspect="1" noChangeShapeType="1"/>
            </p:cNvCxnSpPr>
            <p:nvPr/>
          </p:nvCxnSpPr>
          <p:spPr bwMode="auto">
            <a:xfrm>
              <a:off x="5149850" y="5035550"/>
              <a:ext cx="0" cy="387350"/>
            </a:xfrm>
            <a:prstGeom prst="straightConnector1">
              <a:avLst/>
            </a:prstGeom>
            <a:noFill/>
            <a:ln w="31750">
              <a:solidFill>
                <a:srgbClr val="0000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73" name="AutoShape 10"/>
          <p:cNvCxnSpPr>
            <a:cxnSpLocks noChangeAspect="1" noChangeShapeType="1"/>
          </p:cNvCxnSpPr>
          <p:nvPr/>
        </p:nvCxnSpPr>
        <p:spPr bwMode="auto">
          <a:xfrm>
            <a:off x="5661818" y="2153107"/>
            <a:ext cx="595313" cy="95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AutoShape 11"/>
          <p:cNvCxnSpPr>
            <a:cxnSpLocks noChangeAspect="1" noChangeShapeType="1"/>
          </p:cNvCxnSpPr>
          <p:nvPr/>
        </p:nvCxnSpPr>
        <p:spPr bwMode="auto">
          <a:xfrm>
            <a:off x="6307931" y="2153107"/>
            <a:ext cx="835025" cy="95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12"/>
          <p:cNvCxnSpPr>
            <a:cxnSpLocks noChangeAspect="1" noChangeShapeType="1"/>
          </p:cNvCxnSpPr>
          <p:nvPr/>
        </p:nvCxnSpPr>
        <p:spPr bwMode="auto">
          <a:xfrm>
            <a:off x="7173118" y="2162632"/>
            <a:ext cx="2141538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" name="Text Box 13"/>
          <p:cNvSpPr txBox="1">
            <a:spLocks noChangeAspect="1" noChangeArrowheads="1"/>
          </p:cNvSpPr>
          <p:nvPr/>
        </p:nvSpPr>
        <p:spPr bwMode="auto">
          <a:xfrm>
            <a:off x="6380956" y="1822907"/>
            <a:ext cx="676275" cy="2190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endParaRPr lang="zh-CN" altLang="zh-CN" sz="36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Freeform 24"/>
          <p:cNvSpPr>
            <a:spLocks noChangeAspect="1"/>
          </p:cNvSpPr>
          <p:nvPr/>
        </p:nvSpPr>
        <p:spPr bwMode="auto">
          <a:xfrm>
            <a:off x="4352131" y="2548394"/>
            <a:ext cx="3221037" cy="571500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25"/>
          <p:cNvSpPr>
            <a:spLocks noChangeAspect="1"/>
          </p:cNvSpPr>
          <p:nvPr/>
        </p:nvSpPr>
        <p:spPr bwMode="auto">
          <a:xfrm>
            <a:off x="4364831" y="3334207"/>
            <a:ext cx="2382837" cy="569912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2225">
            <a:solidFill>
              <a:srgbClr val="0000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9" name="组合 48"/>
          <p:cNvGrpSpPr>
            <a:grpSpLocks/>
          </p:cNvGrpSpPr>
          <p:nvPr/>
        </p:nvGrpSpPr>
        <p:grpSpPr bwMode="auto">
          <a:xfrm>
            <a:off x="7509668" y="2900819"/>
            <a:ext cx="219075" cy="223838"/>
            <a:chOff x="6572250" y="2362200"/>
            <a:chExt cx="155575" cy="160337"/>
          </a:xfrm>
        </p:grpSpPr>
        <p:sp>
          <p:nvSpPr>
            <p:cNvPr id="80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1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2" name="组合 49"/>
          <p:cNvGrpSpPr>
            <a:grpSpLocks/>
          </p:cNvGrpSpPr>
          <p:nvPr/>
        </p:nvGrpSpPr>
        <p:grpSpPr bwMode="auto">
          <a:xfrm>
            <a:off x="6576218" y="3708857"/>
            <a:ext cx="219075" cy="225425"/>
            <a:chOff x="6572250" y="2362200"/>
            <a:chExt cx="155575" cy="160337"/>
          </a:xfrm>
        </p:grpSpPr>
        <p:sp>
          <p:nvSpPr>
            <p:cNvPr id="83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4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5" name="组合 52"/>
          <p:cNvGrpSpPr>
            <a:grpSpLocks/>
          </p:cNvGrpSpPr>
          <p:nvPr/>
        </p:nvGrpSpPr>
        <p:grpSpPr bwMode="auto">
          <a:xfrm>
            <a:off x="5830093" y="4607382"/>
            <a:ext cx="217488" cy="223837"/>
            <a:chOff x="6572250" y="2362200"/>
            <a:chExt cx="155575" cy="160337"/>
          </a:xfrm>
        </p:grpSpPr>
        <p:sp>
          <p:nvSpPr>
            <p:cNvPr id="86" name="Oval 22"/>
            <p:cNvSpPr>
              <a:spLocks noChangeAspect="1" noChangeArrowheads="1"/>
            </p:cNvSpPr>
            <p:nvPr/>
          </p:nvSpPr>
          <p:spPr bwMode="auto">
            <a:xfrm>
              <a:off x="6572250" y="2362200"/>
              <a:ext cx="155575" cy="160337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7" name="AutoShape 23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6599546" y="2450374"/>
              <a:ext cx="106054" cy="726"/>
            </a:xfrm>
            <a:prstGeom prst="straightConnector1">
              <a:avLst/>
            </a:prstGeom>
            <a:noFill/>
            <a:ln w="254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8" name="Text Box 13"/>
          <p:cNvSpPr txBox="1">
            <a:spLocks noChangeAspect="1" noChangeArrowheads="1"/>
          </p:cNvSpPr>
          <p:nvPr/>
        </p:nvSpPr>
        <p:spPr bwMode="auto">
          <a:xfrm>
            <a:off x="8085931" y="1824494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8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1800" i="1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zh-CN" altLang="zh-CN" sz="4400" baseline="-25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Rectangle 6"/>
          <p:cNvSpPr>
            <a:spLocks noChangeAspect="1" noChangeArrowheads="1"/>
          </p:cNvSpPr>
          <p:nvPr/>
        </p:nvSpPr>
        <p:spPr bwMode="auto">
          <a:xfrm>
            <a:off x="5514181" y="4437519"/>
            <a:ext cx="127000" cy="47148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6"/>
          <p:cNvSpPr>
            <a:spLocks noChangeAspect="1"/>
          </p:cNvSpPr>
          <p:nvPr/>
        </p:nvSpPr>
        <p:spPr bwMode="auto">
          <a:xfrm>
            <a:off x="4352131" y="4258132"/>
            <a:ext cx="1611312" cy="571500"/>
          </a:xfrm>
          <a:custGeom>
            <a:avLst/>
            <a:gdLst>
              <a:gd name="T0" fmla="*/ 0 w 4065"/>
              <a:gd name="T1" fmla="*/ 2147483647 h 642"/>
              <a:gd name="T2" fmla="*/ 2147483647 w 4065"/>
              <a:gd name="T3" fmla="*/ 2147483647 h 642"/>
              <a:gd name="T4" fmla="*/ 2147483647 w 4065"/>
              <a:gd name="T5" fmla="*/ 2147483647 h 642"/>
              <a:gd name="T6" fmla="*/ 2147483647 w 4065"/>
              <a:gd name="T7" fmla="*/ 2147483647 h 642"/>
              <a:gd name="T8" fmla="*/ 2147483647 w 4065"/>
              <a:gd name="T9" fmla="*/ 2147483647 h 642"/>
              <a:gd name="T10" fmla="*/ 2147483647 w 4065"/>
              <a:gd name="T11" fmla="*/ 2147483647 h 642"/>
              <a:gd name="T12" fmla="*/ 2147483647 w 4065"/>
              <a:gd name="T13" fmla="*/ 2147483647 h 642"/>
              <a:gd name="T14" fmla="*/ 2147483647 w 4065"/>
              <a:gd name="T15" fmla="*/ 2147483647 h 6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65"/>
              <a:gd name="T25" fmla="*/ 0 h 642"/>
              <a:gd name="T26" fmla="*/ 4065 w 4065"/>
              <a:gd name="T27" fmla="*/ 642 h 6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65" h="642">
                <a:moveTo>
                  <a:pt x="0" y="357"/>
                </a:moveTo>
                <a:cubicBezTo>
                  <a:pt x="233" y="383"/>
                  <a:pt x="467" y="409"/>
                  <a:pt x="689" y="357"/>
                </a:cubicBezTo>
                <a:cubicBezTo>
                  <a:pt x="911" y="305"/>
                  <a:pt x="1113" y="0"/>
                  <a:pt x="1332" y="42"/>
                </a:cubicBezTo>
                <a:cubicBezTo>
                  <a:pt x="1551" y="84"/>
                  <a:pt x="1802" y="589"/>
                  <a:pt x="2006" y="610"/>
                </a:cubicBezTo>
                <a:cubicBezTo>
                  <a:pt x="2210" y="631"/>
                  <a:pt x="2377" y="167"/>
                  <a:pt x="2558" y="167"/>
                </a:cubicBezTo>
                <a:cubicBezTo>
                  <a:pt x="2739" y="167"/>
                  <a:pt x="2924" y="578"/>
                  <a:pt x="3092" y="610"/>
                </a:cubicBezTo>
                <a:cubicBezTo>
                  <a:pt x="3260" y="642"/>
                  <a:pt x="3407" y="399"/>
                  <a:pt x="3569" y="357"/>
                </a:cubicBezTo>
                <a:cubicBezTo>
                  <a:pt x="3731" y="315"/>
                  <a:pt x="3898" y="336"/>
                  <a:pt x="4065" y="357"/>
                </a:cubicBezTo>
              </a:path>
            </a:pathLst>
          </a:custGeom>
          <a:noFill/>
          <a:ln w="22225">
            <a:solidFill>
              <a:srgbClr val="6600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Rectangle 5"/>
          <p:cNvSpPr>
            <a:spLocks noChangeAspect="1" noChangeArrowheads="1"/>
          </p:cNvSpPr>
          <p:nvPr/>
        </p:nvSpPr>
        <p:spPr bwMode="auto">
          <a:xfrm>
            <a:off x="9314656" y="2340432"/>
            <a:ext cx="127000" cy="27289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Box 13"/>
          <p:cNvSpPr txBox="1">
            <a:spLocks noChangeAspect="1" noChangeArrowheads="1"/>
          </p:cNvSpPr>
          <p:nvPr/>
        </p:nvSpPr>
        <p:spPr bwMode="auto">
          <a:xfrm>
            <a:off x="5863431" y="1789569"/>
            <a:ext cx="311150" cy="212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8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1800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zh-CN" sz="4400" baseline="-25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3" name="组合 89"/>
          <p:cNvGrpSpPr>
            <a:grpSpLocks/>
          </p:cNvGrpSpPr>
          <p:nvPr/>
        </p:nvGrpSpPr>
        <p:grpSpPr bwMode="auto">
          <a:xfrm>
            <a:off x="5730081" y="4847094"/>
            <a:ext cx="2151062" cy="177800"/>
            <a:chOff x="2971800" y="2051050"/>
            <a:chExt cx="2151376" cy="177800"/>
          </a:xfrm>
        </p:grpSpPr>
        <p:sp>
          <p:nvSpPr>
            <p:cNvPr id="94" name="Text Box 13"/>
            <p:cNvSpPr txBox="1">
              <a:spLocks noChangeAspect="1" noChangeArrowheads="1"/>
            </p:cNvSpPr>
            <p:nvPr/>
          </p:nvSpPr>
          <p:spPr bwMode="auto">
            <a:xfrm>
              <a:off x="4447538" y="2051050"/>
              <a:ext cx="675638" cy="17780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0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Diffusion</a:t>
              </a:r>
              <a:endParaRPr lang="zh-CN" altLang="zh-CN" sz="20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Text Box 13"/>
            <p:cNvSpPr txBox="1">
              <a:spLocks noChangeAspect="1" noChangeArrowheads="1"/>
            </p:cNvSpPr>
            <p:nvPr/>
          </p:nvSpPr>
          <p:spPr bwMode="auto">
            <a:xfrm>
              <a:off x="3727450" y="2051050"/>
              <a:ext cx="533400" cy="1333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0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Drift</a:t>
              </a:r>
              <a:endParaRPr lang="zh-CN" altLang="zh-CN" sz="20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Text Box 13"/>
            <p:cNvSpPr txBox="1">
              <a:spLocks noChangeAspect="1" noChangeArrowheads="1"/>
            </p:cNvSpPr>
            <p:nvPr/>
          </p:nvSpPr>
          <p:spPr bwMode="auto">
            <a:xfrm>
              <a:off x="2971800" y="2051050"/>
              <a:ext cx="533400" cy="15388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0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Diffusion</a:t>
              </a:r>
              <a:endParaRPr lang="zh-CN" altLang="zh-CN" sz="20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7" name="Text Box 14"/>
          <p:cNvSpPr txBox="1">
            <a:spLocks noChangeAspect="1" noChangeArrowheads="1"/>
          </p:cNvSpPr>
          <p:nvPr/>
        </p:nvSpPr>
        <p:spPr bwMode="auto">
          <a:xfrm>
            <a:off x="2982913" y="4349023"/>
            <a:ext cx="1249649" cy="3841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400" dirty="0">
                <a:solidFill>
                  <a:srgbClr val="7030A0"/>
                </a:solidFill>
                <a:latin typeface="Times New Roman" pitchFamily="18" charset="0"/>
              </a:rPr>
              <a:t>Short </a:t>
            </a:r>
            <a:r>
              <a:rPr lang="en-US" altLang="zh-CN" sz="2400" dirty="0">
                <a:solidFill>
                  <a:srgbClr val="7030A0"/>
                </a:solidFill>
                <a:latin typeface="Times New Roman" pitchFamily="18" charset="0"/>
                <a:sym typeface="Symbol" pitchFamily="18" charset="2"/>
              </a:rPr>
              <a:t></a:t>
            </a:r>
            <a:endParaRPr lang="zh-CN" altLang="zh-CN" sz="5400" dirty="0">
              <a:solidFill>
                <a:srgbClr val="7030A0"/>
              </a:solidFill>
            </a:endParaRPr>
          </a:p>
        </p:txBody>
      </p:sp>
      <p:sp>
        <p:nvSpPr>
          <p:cNvPr id="98" name="Text Box 14"/>
          <p:cNvSpPr txBox="1">
            <a:spLocks noChangeAspect="1" noChangeArrowheads="1"/>
          </p:cNvSpPr>
          <p:nvPr/>
        </p:nvSpPr>
        <p:spPr bwMode="auto">
          <a:xfrm>
            <a:off x="2820989" y="3469143"/>
            <a:ext cx="1602580" cy="4349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Medium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sym typeface="Symbol"/>
              </a:rPr>
              <a:t></a:t>
            </a:r>
            <a:endParaRPr lang="zh-CN" sz="5400" b="1" dirty="0">
              <a:solidFill>
                <a:srgbClr val="0000CC"/>
              </a:solidFill>
            </a:endParaRPr>
          </a:p>
        </p:txBody>
      </p:sp>
      <p:sp>
        <p:nvSpPr>
          <p:cNvPr id="99" name="Text Box 14"/>
          <p:cNvSpPr txBox="1">
            <a:spLocks noChangeAspect="1" noChangeArrowheads="1"/>
          </p:cNvSpPr>
          <p:nvPr/>
        </p:nvSpPr>
        <p:spPr bwMode="auto">
          <a:xfrm>
            <a:off x="2820989" y="2669044"/>
            <a:ext cx="1442242" cy="4508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long 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</a:t>
            </a:r>
            <a:endParaRPr lang="zh-CN" altLang="zh-CN" sz="5400" dirty="0">
              <a:solidFill>
                <a:srgbClr val="FF0000"/>
              </a:solidFill>
            </a:endParaRPr>
          </a:p>
        </p:txBody>
      </p:sp>
      <p:sp>
        <p:nvSpPr>
          <p:cNvPr id="100" name="Text Box 14"/>
          <p:cNvSpPr txBox="1">
            <a:spLocks noChangeAspect="1" noChangeArrowheads="1"/>
          </p:cNvSpPr>
          <p:nvPr/>
        </p:nvSpPr>
        <p:spPr bwMode="auto">
          <a:xfrm>
            <a:off x="3418681" y="1868944"/>
            <a:ext cx="1200150" cy="4619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Photon</a:t>
            </a:r>
            <a:endParaRPr lang="zh-CN" altLang="zh-CN" sz="6000">
              <a:solidFill>
                <a:srgbClr val="FF0000"/>
              </a:solidFill>
            </a:endParaRPr>
          </a:p>
        </p:txBody>
      </p:sp>
      <p:grpSp>
        <p:nvGrpSpPr>
          <p:cNvPr id="101" name="Group 7"/>
          <p:cNvGrpSpPr>
            <a:grpSpLocks noChangeAspect="1"/>
          </p:cNvGrpSpPr>
          <p:nvPr/>
        </p:nvGrpSpPr>
        <p:grpSpPr bwMode="auto">
          <a:xfrm>
            <a:off x="7658893" y="2626182"/>
            <a:ext cx="212725" cy="219075"/>
            <a:chOff x="8563" y="3812"/>
            <a:chExt cx="244" cy="253"/>
          </a:xfrm>
        </p:grpSpPr>
        <p:sp>
          <p:nvSpPr>
            <p:cNvPr id="102" name="Oval 8"/>
            <p:cNvSpPr>
              <a:spLocks noChangeAspect="1" noChangeArrowheads="1"/>
            </p:cNvSpPr>
            <p:nvPr/>
          </p:nvSpPr>
          <p:spPr bwMode="auto">
            <a:xfrm>
              <a:off x="8563" y="3812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3" name="AutoShape 9"/>
            <p:cNvCxnSpPr>
              <a:cxnSpLocks noChangeAspect="1" noChangeShapeType="1"/>
            </p:cNvCxnSpPr>
            <p:nvPr/>
          </p:nvCxnSpPr>
          <p:spPr bwMode="auto">
            <a:xfrm>
              <a:off x="8599" y="3937"/>
              <a:ext cx="18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AutoShape 10"/>
            <p:cNvCxnSpPr>
              <a:cxnSpLocks noChangeAspect="1" noChangeShapeType="1"/>
            </p:cNvCxnSpPr>
            <p:nvPr/>
          </p:nvCxnSpPr>
          <p:spPr bwMode="auto">
            <a:xfrm>
              <a:off x="8691" y="3843"/>
              <a:ext cx="0" cy="18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7"/>
          <p:cNvGrpSpPr>
            <a:grpSpLocks noChangeAspect="1"/>
          </p:cNvGrpSpPr>
          <p:nvPr/>
        </p:nvGrpSpPr>
        <p:grpSpPr bwMode="auto">
          <a:xfrm>
            <a:off x="6709568" y="3429457"/>
            <a:ext cx="212725" cy="219075"/>
            <a:chOff x="8563" y="3812"/>
            <a:chExt cx="244" cy="253"/>
          </a:xfrm>
        </p:grpSpPr>
        <p:sp>
          <p:nvSpPr>
            <p:cNvPr id="106" name="Oval 8"/>
            <p:cNvSpPr>
              <a:spLocks noChangeAspect="1" noChangeArrowheads="1"/>
            </p:cNvSpPr>
            <p:nvPr/>
          </p:nvSpPr>
          <p:spPr bwMode="auto">
            <a:xfrm>
              <a:off x="8563" y="3812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7" name="AutoShape 9"/>
            <p:cNvCxnSpPr>
              <a:cxnSpLocks noChangeAspect="1" noChangeShapeType="1"/>
            </p:cNvCxnSpPr>
            <p:nvPr/>
          </p:nvCxnSpPr>
          <p:spPr bwMode="auto">
            <a:xfrm>
              <a:off x="8599" y="3937"/>
              <a:ext cx="18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AutoShape 10"/>
            <p:cNvCxnSpPr>
              <a:cxnSpLocks noChangeAspect="1" noChangeShapeType="1"/>
            </p:cNvCxnSpPr>
            <p:nvPr/>
          </p:nvCxnSpPr>
          <p:spPr bwMode="auto">
            <a:xfrm>
              <a:off x="8691" y="3843"/>
              <a:ext cx="0" cy="18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" name="Group 7"/>
          <p:cNvGrpSpPr>
            <a:grpSpLocks noChangeAspect="1"/>
          </p:cNvGrpSpPr>
          <p:nvPr/>
        </p:nvGrpSpPr>
        <p:grpSpPr bwMode="auto">
          <a:xfrm>
            <a:off x="5979318" y="4342269"/>
            <a:ext cx="212725" cy="219075"/>
            <a:chOff x="8563" y="3812"/>
            <a:chExt cx="244" cy="253"/>
          </a:xfrm>
        </p:grpSpPr>
        <p:sp>
          <p:nvSpPr>
            <p:cNvPr id="110" name="Oval 8"/>
            <p:cNvSpPr>
              <a:spLocks noChangeAspect="1" noChangeArrowheads="1"/>
            </p:cNvSpPr>
            <p:nvPr/>
          </p:nvSpPr>
          <p:spPr bwMode="auto">
            <a:xfrm>
              <a:off x="8563" y="3812"/>
              <a:ext cx="244" cy="25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1" name="AutoShape 9"/>
            <p:cNvCxnSpPr>
              <a:cxnSpLocks noChangeAspect="1" noChangeShapeType="1"/>
            </p:cNvCxnSpPr>
            <p:nvPr/>
          </p:nvCxnSpPr>
          <p:spPr bwMode="auto">
            <a:xfrm>
              <a:off x="8599" y="3937"/>
              <a:ext cx="18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0"/>
            <p:cNvCxnSpPr>
              <a:cxnSpLocks noChangeAspect="1" noChangeShapeType="1"/>
            </p:cNvCxnSpPr>
            <p:nvPr/>
          </p:nvCxnSpPr>
          <p:spPr bwMode="auto">
            <a:xfrm>
              <a:off x="8691" y="3843"/>
              <a:ext cx="0" cy="18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3" name="直接连接符 98"/>
          <p:cNvCxnSpPr>
            <a:cxnSpLocks noChangeShapeType="1"/>
          </p:cNvCxnSpPr>
          <p:nvPr/>
        </p:nvCxnSpPr>
        <p:spPr bwMode="auto">
          <a:xfrm rot="10800000">
            <a:off x="4482306" y="4670882"/>
            <a:ext cx="1058862" cy="1587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直接连接符 100"/>
          <p:cNvCxnSpPr>
            <a:cxnSpLocks noChangeShapeType="1"/>
          </p:cNvCxnSpPr>
          <p:nvPr/>
        </p:nvCxnSpPr>
        <p:spPr bwMode="auto">
          <a:xfrm rot="5400000">
            <a:off x="3862387" y="5290801"/>
            <a:ext cx="1241425" cy="1587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直接连接符 101"/>
          <p:cNvCxnSpPr>
            <a:cxnSpLocks noChangeShapeType="1"/>
          </p:cNvCxnSpPr>
          <p:nvPr/>
        </p:nvCxnSpPr>
        <p:spPr bwMode="auto">
          <a:xfrm rot="10800000">
            <a:off x="9411493" y="4707394"/>
            <a:ext cx="1022350" cy="1588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直接连接符 102"/>
          <p:cNvCxnSpPr>
            <a:cxnSpLocks noChangeShapeType="1"/>
          </p:cNvCxnSpPr>
          <p:nvPr/>
        </p:nvCxnSpPr>
        <p:spPr bwMode="auto">
          <a:xfrm rot="10800000" flipV="1">
            <a:off x="4482306" y="5875794"/>
            <a:ext cx="2811462" cy="36513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7" name="直接连接符 104"/>
          <p:cNvCxnSpPr>
            <a:cxnSpLocks noChangeShapeType="1"/>
          </p:cNvCxnSpPr>
          <p:nvPr/>
        </p:nvCxnSpPr>
        <p:spPr bwMode="auto">
          <a:xfrm rot="16200000" flipH="1">
            <a:off x="9849643" y="5291594"/>
            <a:ext cx="1168400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8" name="直接连接符 135"/>
          <p:cNvCxnSpPr>
            <a:cxnSpLocks noChangeShapeType="1"/>
          </p:cNvCxnSpPr>
          <p:nvPr/>
        </p:nvCxnSpPr>
        <p:spPr bwMode="auto">
          <a:xfrm rot="10800000">
            <a:off x="7220743" y="5875794"/>
            <a:ext cx="3213100" cy="1588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Text Box 13"/>
          <p:cNvSpPr txBox="1">
            <a:spLocks noChangeAspect="1" noChangeArrowheads="1"/>
          </p:cNvSpPr>
          <p:nvPr/>
        </p:nvSpPr>
        <p:spPr bwMode="auto">
          <a:xfrm>
            <a:off x="6928643" y="5182057"/>
            <a:ext cx="511175" cy="5111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CN" altLang="zh-CN" sz="6000" baseline="-25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本框 60">
            <a:extLst>
              <a:ext uri="{FF2B5EF4-FFF2-40B4-BE49-F238E27FC236}">
                <a16:creationId xmlns:a16="http://schemas.microsoft.com/office/drawing/2014/main" xmlns="" id="{D2A65D51-C7F0-40F6-8741-744262EDC17A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xmlns="" id="{7D47452E-519A-476A-AC0B-4B0AABA75D1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xmlns="" id="{2ED2276F-3D63-4A24-9F25-702F4ED7128A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xmlns="" id="{5304502C-EBEB-4A2D-A699-49DDCCE36981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9" name="直接连接符 58">
            <a:extLst>
              <a:ext uri="{FF2B5EF4-FFF2-40B4-BE49-F238E27FC236}">
                <a16:creationId xmlns:a16="http://schemas.microsoft.com/office/drawing/2014/main" xmlns="" id="{85375E8E-08F7-4CA9-96BB-ED18F4005221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712D3029-7AD2-44DD-B284-3CDE57661000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xmlns="" id="{A9F0313A-2B3E-4124-A728-099732D0DE63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1481E-6 2.49434E-6 C 0.01794 0.00061 0.03599 0.00061 0.05405 0.00185 C 0.06516 0.00247 0.08703 0.00494 0.08703 0.00514 C 0.10254 0.01626 0.17847 0.01337 0.18333 0.01358 C 0.1912 0.01399 0.19919 0.0142 0.20694 0.01523 C 0.21458 0.01605 0.22083 0.02161 0.22893 0.02181 C 0.25324 0.02284 0.27743 0.02305 0.30173 0.02366 C 0.30532 0.02552 0.30729 0.02469 0.30844 0.0321 C 0.30983 0.07409 0.31087 0.08376 0.30844 0.14015 C 0.30821 0.1418 0.30682 0.14138 0.3059 0.14159 C 0.30173 0.14262 0.29745 0.14262 0.29317 0.14324 C 0.29108 0.14365 0.28865 0.14447 0.28657 0.14488 C 0.28379 0.14859 0.28206 0.15291 0.27881 0.15517 C 0.1471 0.15456 0.01574 0.15847 -0.11586 0.15353 C -0.11806 0.15353 -0.11586 0.14427 -0.11667 0.14015 C -0.11713 0.13768 -0.12142 0.13212 -0.12246 0.12986 " pathEditMode="relative" rAng="0" ptsTypes="fffffffffffffffA">
                                      <p:cBhvr>
                                        <p:cTn id="47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21" y="792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25926E-6 -3.47191E-6 C -0.01076 0.00782 -0.01273 0.00391 -0.02939 0.00515 C -0.03182 0.00597 -0.0346 0.00391 -0.03645 0.00721 C -0.03669 0.00762 -0.03356 0.02429 -0.03645 0.0247 C -0.06226 0.02799 -0.08819 0.02573 -0.11412 0.02635 C -0.11863 0.05598 -0.11574 0.03334 -0.11574 0.09673 " pathEditMode="relative" rAng="0" ptsTypes="fffffA">
                                      <p:cBhvr>
                                        <p:cTn id="49" dur="3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37" y="48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00659E-6 C 0.03507 0.00124 0.06794 0.00329 0.10289 0.00432 C 0.11099 0.00721 0.11886 0.00967 0.1272 0.01112 C 0.1434 0.02017 0.164 -0.00247 0.17824 0.014 C 0.18727 0.02429 0.17847 0.05125 0.17905 0.06977 C 0.17916 0.0745 0.18113 0.07862 0.18217 0.08232 C 0.18345 0.08665 0.18356 0.09138 0.18553 0.09508 C 0.19328 0.11134 0.21111 0.10702 0.22037 0.10784 C 0.22754 0.11011 0.23264 0.11093 0.24062 0.11196 C 0.24583 0.11484 0.25162 0.11278 0.25683 0.11608 C 0.26018 0.12451 0.25729 0.11608 0.25914 0.13295 C 0.2596 0.13583 0.26076 0.14139 0.26076 0.14159 C 0.26111 0.14448 0.26134 0.14777 0.26169 0.15106 C 0.26203 0.15394 0.26319 0.1595 0.26319 0.15971 C 0.26308 0.18749 0.26435 0.21548 0.26238 0.24326 C 0.26227 0.24655 0.25764 0.24902 0.25764 0.24923 C 0.25625 0.25252 0.25578 0.25293 0.25509 0.25726 C 0.25474 0.25973 0.25509 0.2622 0.25428 0.26425 C 0.25393 0.26549 0.25266 0.26508 0.25196 0.26569 C 0.11389 0.26508 -0.02396 0.26775 -0.16192 0.26425 C -0.16389 0.26425 -0.16528 0.25582 -0.16528 0.25602 C -0.16702 0.24635 -0.16609 0.25314 -0.16609 0.23503 " pathEditMode="relative" rAng="0" ptsTypes="fffffffffffffffffffffA">
                                      <p:cBhvr>
                                        <p:cTn id="51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1" y="132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4.5071E-7 C 0.02569 0.00082 0.05613 4.5071E-7 0.086 0.00391 C 0.09595 0.00782 0.09051 0.00617 0.1022 0.00782 C 0.10347 0.00864 0.10463 0.00926 0.10567 0.00947 C 0.12361 0.01297 0.11667 0.00247 0.11782 0.04322 C 0.11806 0.11237 0.08958 0.20539 0.13229 0.21383 C 0.1463 0.22556 0.16088 0.22021 0.17697 0.22103 C 0.17894 0.22165 0.1809 0.22309 0.1831 0.2235 C 0.18738 0.22474 0.19595 0.22659 0.19595 0.2268 C 0.19896 0.22968 0.19988 0.23215 0.20116 0.2377 C 0.20243 0.25499 0.20081 0.27619 0.20451 0.29245 C 0.20359 0.36077 0.21806 0.36571 0.19502 0.37106 C 0.0603 0.37045 -0.07442 0.37045 -0.20926 0.36942 C -0.21238 0.36942 -0.21829 0.35789 -0.21933 0.35378 " pathEditMode="relative" rAng="0" ptsTypes="fffffffffffffA">
                                      <p:cBhvr>
                                        <p:cTn id="53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" y="1854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63449E-6 C -0.01459 0.0002 -0.02929 0.00041 -0.04399 0.00123 C -0.04468 0.00123 -0.05869 0.01337 -0.06249 0.01523 C -0.06446 0.0251 -0.06307 0.02119 -0.06597 0.02778 C -0.06818 0.03889 -0.06759 0.05124 -0.06864 0.06277 C -0.06909 0.07923 -0.06736 0.08623 -0.07211 0.09755 C -0.07385 0.1066 -0.07825 0.11463 -0.08183 0.12266 C -0.08391 0.13315 -0.08079 0.1206 -0.08519 0.12965 C -0.10463 0.16917 -0.07002 0.14426 -0.15116 0.14632 C -0.15406 0.14735 -0.15602 0.14735 -0.15822 0.15044 C -0.15892 0.15167 -0.15903 0.15414 -0.15996 0.15476 C -0.16135 0.15579 -0.16285 0.15476 -0.16424 0.15476 " pathEditMode="relative" rAng="0" ptsTypes="fffffffffffA">
                                      <p:cBhvr>
                                        <p:cTn id="55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18" y="845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40741E-7 -2.65693E-6 C -0.03738 0.02532 -0.0794 0.00597 -0.11898 0.00659 C -0.12292 0.00762 -0.12639 0.00885 -0.13021 0.01112 C -0.1316 0.02038 -0.1338 0.02902 -0.13692 0.03664 C -0.13727 0.04157 -0.13738 0.04631 -0.13785 0.05104 C -0.13819 0.05433 -0.13947 0.06071 -0.13947 0.06092 C -0.14028 0.1735 -0.13414 0.14242 -0.14201 0.18811 C -0.14224 0.20663 -0.14224 0.22515 -0.14282 0.24367 C -0.14317 0.24985 -0.14699 0.25993 -0.15058 0.25993 C -0.1743 0.26034 -0.19803 0.25993 -0.22187 0.25993 " pathEditMode="relative" rAng="0" ptsTypes="fffffffffA">
                                      <p:cBhvr>
                                        <p:cTn id="5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00" y="130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90" grpId="0" animBg="1"/>
      <p:bldP spid="97" grpId="0" animBg="1"/>
      <p:bldP spid="98" grpId="0" animBg="1"/>
      <p:bldP spid="99" grpId="0" animBg="1"/>
      <p:bldP spid="10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838508" y="2291141"/>
            <a:ext cx="5203350" cy="3238542"/>
            <a:chOff x="4717" y="42594"/>
            <a:chExt cx="5319" cy="3839"/>
          </a:xfrm>
        </p:grpSpPr>
        <p:grpSp>
          <p:nvGrpSpPr>
            <p:cNvPr id="71" name="组合 70"/>
            <p:cNvGrpSpPr>
              <a:grpSpLocks/>
            </p:cNvGrpSpPr>
            <p:nvPr/>
          </p:nvGrpSpPr>
          <p:grpSpPr bwMode="auto">
            <a:xfrm>
              <a:off x="4717" y="42601"/>
              <a:ext cx="5319" cy="3832"/>
              <a:chOff x="6457" y="7949"/>
              <a:chExt cx="5319" cy="3832"/>
            </a:xfrm>
          </p:grpSpPr>
          <p:grpSp>
            <p:nvGrpSpPr>
              <p:cNvPr id="73" name="组合 72"/>
              <p:cNvGrpSpPr>
                <a:grpSpLocks/>
              </p:cNvGrpSpPr>
              <p:nvPr/>
            </p:nvGrpSpPr>
            <p:grpSpPr bwMode="auto">
              <a:xfrm>
                <a:off x="9170" y="11058"/>
                <a:ext cx="886" cy="723"/>
                <a:chOff x="9170" y="11058"/>
                <a:chExt cx="886" cy="723"/>
              </a:xfrm>
            </p:grpSpPr>
            <p:sp>
              <p:nvSpPr>
                <p:cNvPr id="172" name="太阳形"/>
                <p:cNvSpPr>
                  <a:spLocks noChangeArrowheads="1"/>
                </p:cNvSpPr>
                <p:nvPr/>
              </p:nvSpPr>
              <p:spPr bwMode="auto">
                <a:xfrm rot="-5400000">
                  <a:off x="9427" y="11377"/>
                  <a:ext cx="421" cy="387"/>
                </a:xfrm>
                <a:custGeom>
                  <a:avLst/>
                  <a:gdLst>
                    <a:gd name="T0" fmla="*/ 726121 w 1380233"/>
                    <a:gd name="T1" fmla="*/ 1092201 h 1380232"/>
                    <a:gd name="T2" fmla="*/ 654112 w 1380233"/>
                    <a:gd name="T3" fmla="*/ 1380232 h 1380232"/>
                    <a:gd name="T4" fmla="*/ 987475 w 1380233"/>
                    <a:gd name="T5" fmla="*/ 1313922 h 1380232"/>
                    <a:gd name="T6" fmla="*/ 810723 w 1380233"/>
                    <a:gd name="T7" fmla="*/ 1075371 h 1380232"/>
                    <a:gd name="T8" fmla="*/ 569509 w 1380233"/>
                    <a:gd name="T9" fmla="*/ 1075372 h 1380232"/>
                    <a:gd name="T10" fmla="*/ 392757 w 1380233"/>
                    <a:gd name="T11" fmla="*/ 1313923 h 1380232"/>
                    <a:gd name="T12" fmla="*/ 431258 w 1380233"/>
                    <a:gd name="T13" fmla="*/ 999891 h 1380232"/>
                    <a:gd name="T14" fmla="*/ 176672 w 1380233"/>
                    <a:gd name="T15" fmla="*/ 1152643 h 1380232"/>
                    <a:gd name="T16" fmla="*/ 1203561 w 1380233"/>
                    <a:gd name="T17" fmla="*/ 1152643 h 1380232"/>
                    <a:gd name="T18" fmla="*/ 948974 w 1380233"/>
                    <a:gd name="T19" fmla="*/ 999892 h 1380232"/>
                    <a:gd name="T20" fmla="*/ 332417 w 1380233"/>
                    <a:gd name="T21" fmla="*/ 877250 h 1380232"/>
                    <a:gd name="T22" fmla="*/ 38754 w 1380233"/>
                    <a:gd name="T23" fmla="*/ 920949 h 1380232"/>
                    <a:gd name="T24" fmla="*/ 1341478 w 1380233"/>
                    <a:gd name="T25" fmla="*/ 920949 h 1380232"/>
                    <a:gd name="T26" fmla="*/ 1047815 w 1380233"/>
                    <a:gd name="T27" fmla="*/ 877250 h 1380232"/>
                    <a:gd name="T28" fmla="*/ 1380233 w 1380233"/>
                    <a:gd name="T29" fmla="*/ 654112 h 1380232"/>
                    <a:gd name="T30" fmla="*/ 1092201 w 1380233"/>
                    <a:gd name="T31" fmla="*/ 726120 h 1380232"/>
                    <a:gd name="T32" fmla="*/ 288032 w 1380233"/>
                    <a:gd name="T33" fmla="*/ 654112 h 1380232"/>
                    <a:gd name="T34" fmla="*/ 0 w 1380233"/>
                    <a:gd name="T35" fmla="*/ 726121 h 1380232"/>
                    <a:gd name="T36" fmla="*/ 1341478 w 1380233"/>
                    <a:gd name="T37" fmla="*/ 459284 h 1380232"/>
                    <a:gd name="T38" fmla="*/ 1047815 w 1380233"/>
                    <a:gd name="T39" fmla="*/ 502982 h 1380232"/>
                    <a:gd name="T40" fmla="*/ 332417 w 1380233"/>
                    <a:gd name="T41" fmla="*/ 502982 h 1380232"/>
                    <a:gd name="T42" fmla="*/ 38754 w 1380233"/>
                    <a:gd name="T43" fmla="*/ 459283 h 1380232"/>
                    <a:gd name="T44" fmla="*/ 1050156 w 1380233"/>
                    <a:gd name="T45" fmla="*/ 690116 h 1380232"/>
                    <a:gd name="T46" fmla="*/ 330076 w 1380233"/>
                    <a:gd name="T47" fmla="*/ 690116 h 1380232"/>
                    <a:gd name="T48" fmla="*/ 1152643 w 1380233"/>
                    <a:gd name="T49" fmla="*/ 176672 h 1380232"/>
                    <a:gd name="T50" fmla="*/ 999892 w 1380233"/>
                    <a:gd name="T51" fmla="*/ 431259 h 1380232"/>
                    <a:gd name="T52" fmla="*/ 227589 w 1380233"/>
                    <a:gd name="T53" fmla="*/ 176672 h 1380232"/>
                    <a:gd name="T54" fmla="*/ 380341 w 1380233"/>
                    <a:gd name="T55" fmla="*/ 431258 h 1380232"/>
                    <a:gd name="T56" fmla="*/ 920948 w 1380233"/>
                    <a:gd name="T57" fmla="*/ 38753 h 1380232"/>
                    <a:gd name="T58" fmla="*/ 877250 w 1380233"/>
                    <a:gd name="T59" fmla="*/ 332417 h 1380232"/>
                    <a:gd name="T60" fmla="*/ 459284 w 1380233"/>
                    <a:gd name="T61" fmla="*/ 38753 h 1380232"/>
                    <a:gd name="T62" fmla="*/ 502983 w 1380233"/>
                    <a:gd name="T63" fmla="*/ 332417 h 1380232"/>
                    <a:gd name="T64" fmla="*/ 654112 w 1380233"/>
                    <a:gd name="T65" fmla="*/ 0 h 1380232"/>
                    <a:gd name="T66" fmla="*/ 726121 w 1380233"/>
                    <a:gd name="T67" fmla="*/ 288032 h 1380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380233" h="1380232">
                      <a:moveTo>
                        <a:pt x="654112" y="1092200"/>
                      </a:moveTo>
                      <a:lnTo>
                        <a:pt x="726121" y="1092201"/>
                      </a:lnTo>
                      <a:lnTo>
                        <a:pt x="726120" y="1380232"/>
                      </a:lnTo>
                      <a:lnTo>
                        <a:pt x="654112" y="1380232"/>
                      </a:lnTo>
                      <a:close/>
                      <a:moveTo>
                        <a:pt x="877250" y="1047815"/>
                      </a:moveTo>
                      <a:lnTo>
                        <a:pt x="987475" y="1313922"/>
                      </a:lnTo>
                      <a:lnTo>
                        <a:pt x="920948" y="1341478"/>
                      </a:lnTo>
                      <a:lnTo>
                        <a:pt x="810723" y="1075371"/>
                      </a:lnTo>
                      <a:close/>
                      <a:moveTo>
                        <a:pt x="502983" y="1047815"/>
                      </a:moveTo>
                      <a:lnTo>
                        <a:pt x="569509" y="1075372"/>
                      </a:lnTo>
                      <a:lnTo>
                        <a:pt x="459284" y="1341478"/>
                      </a:lnTo>
                      <a:lnTo>
                        <a:pt x="392757" y="1313923"/>
                      </a:lnTo>
                      <a:close/>
                      <a:moveTo>
                        <a:pt x="380341" y="948974"/>
                      </a:moveTo>
                      <a:lnTo>
                        <a:pt x="431258" y="999891"/>
                      </a:lnTo>
                      <a:lnTo>
                        <a:pt x="227590" y="1203560"/>
                      </a:lnTo>
                      <a:lnTo>
                        <a:pt x="176672" y="1152643"/>
                      </a:lnTo>
                      <a:close/>
                      <a:moveTo>
                        <a:pt x="999892" y="948973"/>
                      </a:moveTo>
                      <a:lnTo>
                        <a:pt x="1203561" y="1152643"/>
                      </a:lnTo>
                      <a:lnTo>
                        <a:pt x="1152643" y="1203560"/>
                      </a:lnTo>
                      <a:lnTo>
                        <a:pt x="948974" y="999892"/>
                      </a:lnTo>
                      <a:close/>
                      <a:moveTo>
                        <a:pt x="304861" y="810724"/>
                      </a:moveTo>
                      <a:lnTo>
                        <a:pt x="332417" y="877250"/>
                      </a:lnTo>
                      <a:lnTo>
                        <a:pt x="66310" y="987475"/>
                      </a:lnTo>
                      <a:lnTo>
                        <a:pt x="38754" y="920949"/>
                      </a:lnTo>
                      <a:close/>
                      <a:moveTo>
                        <a:pt x="1075371" y="810723"/>
                      </a:moveTo>
                      <a:lnTo>
                        <a:pt x="1341478" y="920949"/>
                      </a:lnTo>
                      <a:lnTo>
                        <a:pt x="1313922" y="987475"/>
                      </a:lnTo>
                      <a:lnTo>
                        <a:pt x="1047815" y="877250"/>
                      </a:lnTo>
                      <a:close/>
                      <a:moveTo>
                        <a:pt x="1092201" y="654112"/>
                      </a:moveTo>
                      <a:lnTo>
                        <a:pt x="1380233" y="654112"/>
                      </a:lnTo>
                      <a:lnTo>
                        <a:pt x="1380232" y="726121"/>
                      </a:lnTo>
                      <a:lnTo>
                        <a:pt x="1092201" y="726120"/>
                      </a:lnTo>
                      <a:close/>
                      <a:moveTo>
                        <a:pt x="1" y="654112"/>
                      </a:moveTo>
                      <a:lnTo>
                        <a:pt x="288032" y="654112"/>
                      </a:lnTo>
                      <a:lnTo>
                        <a:pt x="288032" y="726120"/>
                      </a:lnTo>
                      <a:lnTo>
                        <a:pt x="0" y="726121"/>
                      </a:lnTo>
                      <a:close/>
                      <a:moveTo>
                        <a:pt x="1313922" y="392757"/>
                      </a:moveTo>
                      <a:lnTo>
                        <a:pt x="1341478" y="459284"/>
                      </a:lnTo>
                      <a:lnTo>
                        <a:pt x="1075371" y="569509"/>
                      </a:lnTo>
                      <a:lnTo>
                        <a:pt x="1047815" y="502982"/>
                      </a:lnTo>
                      <a:close/>
                      <a:moveTo>
                        <a:pt x="66310" y="392757"/>
                      </a:moveTo>
                      <a:lnTo>
                        <a:pt x="332417" y="502982"/>
                      </a:lnTo>
                      <a:lnTo>
                        <a:pt x="304861" y="569509"/>
                      </a:lnTo>
                      <a:lnTo>
                        <a:pt x="38754" y="459283"/>
                      </a:lnTo>
                      <a:close/>
                      <a:moveTo>
                        <a:pt x="690116" y="330076"/>
                      </a:moveTo>
                      <a:cubicBezTo>
                        <a:pt x="888961" y="330076"/>
                        <a:pt x="1050156" y="491271"/>
                        <a:pt x="1050156" y="690116"/>
                      </a:cubicBezTo>
                      <a:cubicBezTo>
                        <a:pt x="1050156" y="888961"/>
                        <a:pt x="888961" y="1050156"/>
                        <a:pt x="690116" y="1050156"/>
                      </a:cubicBezTo>
                      <a:cubicBezTo>
                        <a:pt x="491271" y="1050156"/>
                        <a:pt x="330076" y="888961"/>
                        <a:pt x="330076" y="690116"/>
                      </a:cubicBezTo>
                      <a:cubicBezTo>
                        <a:pt x="330076" y="491271"/>
                        <a:pt x="491271" y="330076"/>
                        <a:pt x="690116" y="330076"/>
                      </a:cubicBezTo>
                      <a:close/>
                      <a:moveTo>
                        <a:pt x="1152643" y="176672"/>
                      </a:moveTo>
                      <a:lnTo>
                        <a:pt x="1203561" y="227589"/>
                      </a:lnTo>
                      <a:lnTo>
                        <a:pt x="999892" y="431259"/>
                      </a:lnTo>
                      <a:lnTo>
                        <a:pt x="948975" y="380341"/>
                      </a:lnTo>
                      <a:close/>
                      <a:moveTo>
                        <a:pt x="227589" y="176672"/>
                      </a:moveTo>
                      <a:lnTo>
                        <a:pt x="431259" y="380341"/>
                      </a:lnTo>
                      <a:lnTo>
                        <a:pt x="380341" y="431258"/>
                      </a:lnTo>
                      <a:lnTo>
                        <a:pt x="176672" y="227589"/>
                      </a:lnTo>
                      <a:close/>
                      <a:moveTo>
                        <a:pt x="920948" y="38753"/>
                      </a:moveTo>
                      <a:lnTo>
                        <a:pt x="987476" y="66310"/>
                      </a:lnTo>
                      <a:lnTo>
                        <a:pt x="877250" y="332417"/>
                      </a:lnTo>
                      <a:lnTo>
                        <a:pt x="810724" y="304861"/>
                      </a:lnTo>
                      <a:close/>
                      <a:moveTo>
                        <a:pt x="459284" y="38753"/>
                      </a:moveTo>
                      <a:lnTo>
                        <a:pt x="569509" y="304860"/>
                      </a:lnTo>
                      <a:lnTo>
                        <a:pt x="502983" y="332417"/>
                      </a:lnTo>
                      <a:lnTo>
                        <a:pt x="392757" y="66310"/>
                      </a:lnTo>
                      <a:close/>
                      <a:moveTo>
                        <a:pt x="654112" y="0"/>
                      </a:moveTo>
                      <a:lnTo>
                        <a:pt x="726120" y="0"/>
                      </a:lnTo>
                      <a:lnTo>
                        <a:pt x="726121" y="288032"/>
                      </a:lnTo>
                      <a:lnTo>
                        <a:pt x="654112" y="288032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cxnSp>
              <p:nvCxnSpPr>
                <p:cNvPr id="173" name="直接箭头连接符 172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9618" y="11058"/>
                  <a:ext cx="2" cy="282"/>
                </a:xfrm>
                <a:prstGeom prst="straightConnector1">
                  <a:avLst/>
                </a:prstGeom>
                <a:noFill/>
                <a:ln w="12700">
                  <a:solidFill>
                    <a:srgbClr val="99FF66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4" name="直接箭头连接符 173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9170" y="11160"/>
                  <a:ext cx="220" cy="230"/>
                </a:xfrm>
                <a:prstGeom prst="straightConnector1">
                  <a:avLst/>
                </a:prstGeom>
                <a:noFill/>
                <a:ln w="12700">
                  <a:solidFill>
                    <a:srgbClr val="99FF66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5" name="直接箭头连接符 174"/>
                <p:cNvCxnSpPr>
                  <a:cxnSpLocks noChangeShapeType="1"/>
                </p:cNvCxnSpPr>
                <p:nvPr/>
              </p:nvCxnSpPr>
              <p:spPr bwMode="auto">
                <a:xfrm flipV="1">
                  <a:off x="9870" y="11136"/>
                  <a:ext cx="186" cy="234"/>
                </a:xfrm>
                <a:prstGeom prst="straightConnector1">
                  <a:avLst/>
                </a:prstGeom>
                <a:noFill/>
                <a:ln w="12700">
                  <a:solidFill>
                    <a:srgbClr val="99FF66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4" name="组合 73"/>
              <p:cNvGrpSpPr>
                <a:grpSpLocks/>
              </p:cNvGrpSpPr>
              <p:nvPr/>
            </p:nvGrpSpPr>
            <p:grpSpPr bwMode="auto">
              <a:xfrm>
                <a:off x="8016" y="7949"/>
                <a:ext cx="3760" cy="3067"/>
                <a:chOff x="7352" y="36946"/>
                <a:chExt cx="5210" cy="3955"/>
              </a:xfrm>
            </p:grpSpPr>
            <p:grpSp>
              <p:nvGrpSpPr>
                <p:cNvPr id="119" name="组合 118"/>
                <p:cNvGrpSpPr>
                  <a:grpSpLocks/>
                </p:cNvGrpSpPr>
                <p:nvPr/>
              </p:nvGrpSpPr>
              <p:grpSpPr bwMode="auto">
                <a:xfrm>
                  <a:off x="7352" y="36946"/>
                  <a:ext cx="5210" cy="3955"/>
                  <a:chOff x="7352" y="36946"/>
                  <a:chExt cx="5210" cy="3955"/>
                </a:xfrm>
              </p:grpSpPr>
              <p:grpSp>
                <p:nvGrpSpPr>
                  <p:cNvPr id="121" name="组合 120"/>
                  <p:cNvGrpSpPr>
                    <a:grpSpLocks/>
                  </p:cNvGrpSpPr>
                  <p:nvPr/>
                </p:nvGrpSpPr>
                <p:grpSpPr bwMode="auto">
                  <a:xfrm>
                    <a:off x="7352" y="36946"/>
                    <a:ext cx="5210" cy="3955"/>
                    <a:chOff x="7352" y="36946"/>
                    <a:chExt cx="5210" cy="3955"/>
                  </a:xfrm>
                </p:grpSpPr>
                <p:pic>
                  <p:nvPicPr>
                    <p:cNvPr id="169" name="图片 168" descr="结构图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362" y="37040"/>
                      <a:ext cx="5200" cy="38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/>
                        </a14:hiddenEffects>
                      </a:ext>
                    </a:extLst>
                  </p:spPr>
                </p:pic>
                <p:sp>
                  <p:nvSpPr>
                    <p:cNvPr id="170" name="文本框 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537" y="36946"/>
                      <a:ext cx="699" cy="5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63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/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FFFF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(b)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p:txBody>
                </p:sp>
                <p:pic>
                  <p:nvPicPr>
                    <p:cNvPr id="171" name="图片 170" descr="结构图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352" y="37040"/>
                      <a:ext cx="5200" cy="38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/>
                        </a14:hiddenEffects>
                      </a:ext>
                    </a:extLst>
                  </p:spPr>
                </p:pic>
              </p:grpSp>
              <p:grpSp>
                <p:nvGrpSpPr>
                  <p:cNvPr id="122" name="组合 121"/>
                  <p:cNvGrpSpPr>
                    <a:grpSpLocks/>
                  </p:cNvGrpSpPr>
                  <p:nvPr/>
                </p:nvGrpSpPr>
                <p:grpSpPr bwMode="auto">
                  <a:xfrm>
                    <a:off x="7730" y="3976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67" name="椭圆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8" name="椭圆 1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3" name="组合 122"/>
                  <p:cNvGrpSpPr>
                    <a:grpSpLocks/>
                  </p:cNvGrpSpPr>
                  <p:nvPr/>
                </p:nvGrpSpPr>
                <p:grpSpPr bwMode="auto">
                  <a:xfrm>
                    <a:off x="8050" y="3978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65" name="椭圆 1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6" name="椭圆 1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4" name="组合 123"/>
                  <p:cNvGrpSpPr>
                    <a:grpSpLocks/>
                  </p:cNvGrpSpPr>
                  <p:nvPr/>
                </p:nvGrpSpPr>
                <p:grpSpPr bwMode="auto">
                  <a:xfrm>
                    <a:off x="8620" y="39745"/>
                    <a:ext cx="310" cy="160"/>
                    <a:chOff x="11830" y="41245"/>
                    <a:chExt cx="310" cy="160"/>
                  </a:xfrm>
                </p:grpSpPr>
                <p:sp>
                  <p:nvSpPr>
                    <p:cNvPr id="162" name="椭圆 1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3" name="椭圆 1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" name="椭圆 1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3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5" name="组合 124"/>
                  <p:cNvGrpSpPr>
                    <a:grpSpLocks/>
                  </p:cNvGrpSpPr>
                  <p:nvPr/>
                </p:nvGrpSpPr>
                <p:grpSpPr bwMode="auto">
                  <a:xfrm>
                    <a:off x="11370" y="3975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60" name="椭圆 1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1" name="椭圆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6" name="组合 125"/>
                  <p:cNvGrpSpPr>
                    <a:grpSpLocks/>
                  </p:cNvGrpSpPr>
                  <p:nvPr/>
                </p:nvGrpSpPr>
                <p:grpSpPr bwMode="auto">
                  <a:xfrm>
                    <a:off x="11820" y="3987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58" name="椭圆 1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9" name="椭圆 1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7" name="组合 126"/>
                  <p:cNvGrpSpPr>
                    <a:grpSpLocks/>
                  </p:cNvGrpSpPr>
                  <p:nvPr/>
                </p:nvGrpSpPr>
                <p:grpSpPr bwMode="auto">
                  <a:xfrm>
                    <a:off x="11410" y="4002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56" name="椭圆 1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7" name="椭圆 1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8" name="组合 127"/>
                  <p:cNvGrpSpPr>
                    <a:grpSpLocks/>
                  </p:cNvGrpSpPr>
                  <p:nvPr/>
                </p:nvGrpSpPr>
                <p:grpSpPr bwMode="auto">
                  <a:xfrm>
                    <a:off x="9050" y="3976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54" name="椭圆 1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5" name="椭圆 1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29" name="组合 128"/>
                  <p:cNvGrpSpPr>
                    <a:grpSpLocks/>
                  </p:cNvGrpSpPr>
                  <p:nvPr/>
                </p:nvGrpSpPr>
                <p:grpSpPr bwMode="auto">
                  <a:xfrm>
                    <a:off x="7430" y="3974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52" name="椭圆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3" name="椭圆 1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30" name="组合 129"/>
                  <p:cNvGrpSpPr>
                    <a:grpSpLocks/>
                  </p:cNvGrpSpPr>
                  <p:nvPr/>
                </p:nvGrpSpPr>
                <p:grpSpPr bwMode="auto">
                  <a:xfrm>
                    <a:off x="9380" y="3977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50" name="椭圆 1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1" name="椭圆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31" name="组合 130"/>
                  <p:cNvGrpSpPr>
                    <a:grpSpLocks/>
                  </p:cNvGrpSpPr>
                  <p:nvPr/>
                </p:nvGrpSpPr>
                <p:grpSpPr bwMode="auto">
                  <a:xfrm>
                    <a:off x="10710" y="3978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48" name="椭圆 1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9" name="椭圆 1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32" name="组合 131"/>
                  <p:cNvGrpSpPr>
                    <a:grpSpLocks/>
                  </p:cNvGrpSpPr>
                  <p:nvPr/>
                </p:nvGrpSpPr>
                <p:grpSpPr bwMode="auto">
                  <a:xfrm>
                    <a:off x="10090" y="39755"/>
                    <a:ext cx="300" cy="160"/>
                    <a:chOff x="11840" y="41245"/>
                    <a:chExt cx="300" cy="160"/>
                  </a:xfrm>
                </p:grpSpPr>
                <p:sp>
                  <p:nvSpPr>
                    <p:cNvPr id="146" name="椭圆 1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0" y="41245"/>
                      <a:ext cx="170" cy="160"/>
                    </a:xfrm>
                    <a:prstGeom prst="ellipse">
                      <a:avLst/>
                    </a:prstGeom>
                    <a:solidFill>
                      <a:srgbClr val="4F81BD"/>
                    </a:solidFill>
                    <a:ln w="25400">
                      <a:solidFill>
                        <a:srgbClr val="4F81BD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7" name="椭圆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21" y="41246"/>
                      <a:ext cx="119" cy="119"/>
                    </a:xfrm>
                    <a:prstGeom prst="ellipse">
                      <a:avLst/>
                    </a:prstGeom>
                    <a:solidFill>
                      <a:srgbClr val="A6A6A6"/>
                    </a:solidFill>
                    <a:ln w="25400">
                      <a:solidFill>
                        <a:srgbClr val="A6A6A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33" name="椭圆 132"/>
                  <p:cNvSpPr>
                    <a:spLocks noChangeArrowheads="1"/>
                  </p:cNvSpPr>
                  <p:nvPr/>
                </p:nvSpPr>
                <p:spPr bwMode="auto">
                  <a:xfrm>
                    <a:off x="8510" y="3971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" name="椭圆 133"/>
                  <p:cNvSpPr>
                    <a:spLocks noChangeArrowheads="1"/>
                  </p:cNvSpPr>
                  <p:nvPr/>
                </p:nvSpPr>
                <p:spPr bwMode="auto">
                  <a:xfrm>
                    <a:off x="9670" y="397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" name="椭圆 134"/>
                  <p:cNvSpPr>
                    <a:spLocks noChangeArrowheads="1"/>
                  </p:cNvSpPr>
                  <p:nvPr/>
                </p:nvSpPr>
                <p:spPr bwMode="auto">
                  <a:xfrm>
                    <a:off x="10020" y="3986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椭圆 135"/>
                  <p:cNvSpPr>
                    <a:spLocks noChangeArrowheads="1"/>
                  </p:cNvSpPr>
                  <p:nvPr/>
                </p:nvSpPr>
                <p:spPr bwMode="auto">
                  <a:xfrm>
                    <a:off x="10350" y="398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椭圆 136"/>
                  <p:cNvSpPr>
                    <a:spLocks noChangeArrowheads="1"/>
                  </p:cNvSpPr>
                  <p:nvPr/>
                </p:nvSpPr>
                <p:spPr bwMode="auto">
                  <a:xfrm>
                    <a:off x="10950" y="398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椭圆 137"/>
                  <p:cNvSpPr>
                    <a:spLocks noChangeArrowheads="1"/>
                  </p:cNvSpPr>
                  <p:nvPr/>
                </p:nvSpPr>
                <p:spPr bwMode="auto">
                  <a:xfrm>
                    <a:off x="10620" y="398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椭圆 138"/>
                  <p:cNvSpPr>
                    <a:spLocks noChangeArrowheads="1"/>
                  </p:cNvSpPr>
                  <p:nvPr/>
                </p:nvSpPr>
                <p:spPr bwMode="auto">
                  <a:xfrm>
                    <a:off x="11790" y="4010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椭圆 139"/>
                  <p:cNvSpPr>
                    <a:spLocks noChangeArrowheads="1"/>
                  </p:cNvSpPr>
                  <p:nvPr/>
                </p:nvSpPr>
                <p:spPr bwMode="auto">
                  <a:xfrm>
                    <a:off x="12010" y="4005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椭圆 140"/>
                  <p:cNvSpPr>
                    <a:spLocks noChangeArrowheads="1"/>
                  </p:cNvSpPr>
                  <p:nvPr/>
                </p:nvSpPr>
                <p:spPr bwMode="auto">
                  <a:xfrm>
                    <a:off x="12110" y="3985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椭圆 141"/>
                  <p:cNvSpPr>
                    <a:spLocks noChangeArrowheads="1"/>
                  </p:cNvSpPr>
                  <p:nvPr/>
                </p:nvSpPr>
                <p:spPr bwMode="auto">
                  <a:xfrm>
                    <a:off x="11140" y="3982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椭圆 142"/>
                  <p:cNvSpPr>
                    <a:spLocks noChangeArrowheads="1"/>
                  </p:cNvSpPr>
                  <p:nvPr/>
                </p:nvSpPr>
                <p:spPr bwMode="auto">
                  <a:xfrm>
                    <a:off x="9980" y="38355"/>
                    <a:ext cx="359" cy="3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椭圆 143"/>
                  <p:cNvSpPr>
                    <a:spLocks noChangeArrowheads="1"/>
                  </p:cNvSpPr>
                  <p:nvPr/>
                </p:nvSpPr>
                <p:spPr bwMode="auto">
                  <a:xfrm>
                    <a:off x="10340" y="398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椭圆 144"/>
                  <p:cNvSpPr>
                    <a:spLocks noChangeArrowheads="1"/>
                  </p:cNvSpPr>
                  <p:nvPr/>
                </p:nvSpPr>
                <p:spPr bwMode="auto">
                  <a:xfrm>
                    <a:off x="10610" y="39835"/>
                    <a:ext cx="170" cy="160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>
                    <a:solidFill>
                      <a:srgbClr val="4F81BD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91440" tIns="45720" rIns="91440" bIns="45720" anchor="ctr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0" name="文本框 528"/>
                <p:cNvSpPr txBox="1">
                  <a:spLocks noChangeArrowheads="1"/>
                </p:cNvSpPr>
                <p:nvPr/>
              </p:nvSpPr>
              <p:spPr bwMode="auto">
                <a:xfrm>
                  <a:off x="8365" y="39551"/>
                  <a:ext cx="3829" cy="6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050" kern="100">
                      <a:effectLst/>
                      <a:latin typeface="Times New Roman"/>
                      <a:ea typeface="宋体"/>
                      <a:cs typeface="Times New Roman"/>
                    </a:rPr>
                    <a:t>Ag/nano-TiO</a:t>
                  </a:r>
                  <a:r>
                    <a:rPr lang="en-US" sz="1050" kern="100" baseline="-25000">
                      <a:effectLst/>
                      <a:latin typeface="Times New Roman"/>
                      <a:ea typeface="宋体"/>
                      <a:cs typeface="Times New Roman"/>
                    </a:rPr>
                    <a:t>2 </a:t>
                  </a:r>
                  <a:r>
                    <a:rPr lang="en-US" sz="1050" kern="100">
                      <a:effectLst/>
                      <a:latin typeface="Times New Roman"/>
                      <a:ea typeface="宋体"/>
                      <a:cs typeface="Times New Roman"/>
                    </a:rPr>
                    <a:t>compact</a:t>
                  </a:r>
                  <a:r>
                    <a:rPr lang="en-US" sz="1400" kern="100">
                      <a:effectLst/>
                      <a:latin typeface="Times New Roman"/>
                      <a:ea typeface="宋体"/>
                      <a:cs typeface="Times New Roman"/>
                    </a:rPr>
                    <a:t> </a:t>
                  </a:r>
                  <a:r>
                    <a:rPr lang="en-US" sz="1050" kern="100">
                      <a:effectLst/>
                      <a:latin typeface="Times New Roman"/>
                      <a:ea typeface="宋体"/>
                      <a:cs typeface="Times New Roman"/>
                    </a:rPr>
                    <a:t>layer</a:t>
                  </a:r>
                  <a:endParaRPr lang="zh-CN" sz="1050" kern="100">
                    <a:effectLst/>
                    <a:latin typeface="Calibri"/>
                    <a:ea typeface="宋体"/>
                    <a:cs typeface="Times New Roman"/>
                  </a:endParaRPr>
                </a:p>
              </p:txBody>
            </p:sp>
          </p:grpSp>
          <p:sp>
            <p:nvSpPr>
              <p:cNvPr id="75" name="椭圆 74"/>
              <p:cNvSpPr>
                <a:spLocks noChangeArrowheads="1"/>
              </p:cNvSpPr>
              <p:nvPr/>
            </p:nvSpPr>
            <p:spPr bwMode="auto">
              <a:xfrm>
                <a:off x="8165" y="10074"/>
                <a:ext cx="258" cy="245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76" name="组合 75"/>
              <p:cNvGrpSpPr>
                <a:grpSpLocks/>
              </p:cNvGrpSpPr>
              <p:nvPr/>
            </p:nvGrpSpPr>
            <p:grpSpPr bwMode="auto">
              <a:xfrm>
                <a:off x="6457" y="9241"/>
                <a:ext cx="1621" cy="1421"/>
                <a:chOff x="5513" y="9241"/>
                <a:chExt cx="1621" cy="1421"/>
              </a:xfrm>
            </p:grpSpPr>
            <p:grpSp>
              <p:nvGrpSpPr>
                <p:cNvPr id="77" name="组合 76"/>
                <p:cNvGrpSpPr>
                  <a:grpSpLocks/>
                </p:cNvGrpSpPr>
                <p:nvPr/>
              </p:nvGrpSpPr>
              <p:grpSpPr bwMode="auto">
                <a:xfrm>
                  <a:off x="5513" y="9241"/>
                  <a:ext cx="1621" cy="1421"/>
                  <a:chOff x="2106" y="3185"/>
                  <a:chExt cx="3060" cy="2677"/>
                </a:xfrm>
              </p:grpSpPr>
              <p:grpSp>
                <p:nvGrpSpPr>
                  <p:cNvPr id="82" name="组合 81"/>
                  <p:cNvGrpSpPr>
                    <a:grpSpLocks/>
                  </p:cNvGrpSpPr>
                  <p:nvPr/>
                </p:nvGrpSpPr>
                <p:grpSpPr bwMode="auto">
                  <a:xfrm>
                    <a:off x="2106" y="3185"/>
                    <a:ext cx="3060" cy="2677"/>
                    <a:chOff x="2106" y="3185"/>
                    <a:chExt cx="3060" cy="2677"/>
                  </a:xfrm>
                </p:grpSpPr>
                <p:grpSp>
                  <p:nvGrpSpPr>
                    <p:cNvPr id="84" name="组合 8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06" y="3185"/>
                      <a:ext cx="3060" cy="2677"/>
                      <a:chOff x="2106" y="3185"/>
                      <a:chExt cx="3060" cy="2677"/>
                    </a:xfrm>
                  </p:grpSpPr>
                  <p:grpSp>
                    <p:nvGrpSpPr>
                      <p:cNvPr id="87" name="组合 8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06" y="3185"/>
                        <a:ext cx="3060" cy="2677"/>
                        <a:chOff x="1749" y="3228"/>
                        <a:chExt cx="3060" cy="2677"/>
                      </a:xfrm>
                    </p:grpSpPr>
                    <p:sp>
                      <p:nvSpPr>
                        <p:cNvPr id="94" name="文本框 18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14" y="4810"/>
                          <a:ext cx="995" cy="8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Ag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grpSp>
                      <p:nvGrpSpPr>
                        <p:cNvPr id="95" name="组合 9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372" y="4359"/>
                          <a:ext cx="2173" cy="1266"/>
                          <a:chOff x="2729" y="3687"/>
                          <a:chExt cx="2173" cy="1266"/>
                        </a:xfrm>
                      </p:grpSpPr>
                      <p:sp>
                        <p:nvSpPr>
                          <p:cNvPr id="105" name="椭圆 10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921" y="3746"/>
                            <a:ext cx="1283" cy="1207"/>
                          </a:xfrm>
                          <a:prstGeom prst="ellipse">
                            <a:avLst/>
                          </a:prstGeom>
                          <a:solidFill>
                            <a:srgbClr val="FFFF00"/>
                          </a:solidFill>
                          <a:ln w="25400">
                            <a:solidFill>
                              <a:srgbClr val="FFFF66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06" name="椭圆 10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204" y="3832"/>
                            <a:ext cx="682" cy="637"/>
                          </a:xfrm>
                          <a:prstGeom prst="ellipse">
                            <a:avLst/>
                          </a:prstGeom>
                          <a:solidFill>
                            <a:srgbClr val="B9CDE5"/>
                          </a:solidFill>
                          <a:ln w="25400">
                            <a:solidFill>
                              <a:srgbClr val="B9CDE5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107" name="直接连接符 106"/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3000" y="4026"/>
                            <a:ext cx="1114" cy="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cxnSp>
                        <p:nvCxnSpPr>
                          <p:cNvPr id="108" name="直接连接符 107"/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2997" y="4666"/>
                            <a:ext cx="1114" cy="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sp>
                        <p:nvSpPr>
                          <p:cNvPr id="109" name="文本框 16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29" y="3687"/>
                            <a:ext cx="1023" cy="6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/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t" anchorCtr="0" upright="1">
                            <a:noAutofit/>
                          </a:bodyPr>
                          <a:lstStyle/>
                          <a:p>
                            <a:pPr algn="just">
                              <a:spcAft>
                                <a:spcPts val="0"/>
                              </a:spcAft>
                            </a:pPr>
                            <a:r>
                              <a:rPr lang="en-US" sz="500" kern="100">
                                <a:effectLst/>
                                <a:latin typeface="Times New Roman"/>
                                <a:ea typeface="宋体"/>
                                <a:cs typeface="Times New Roman"/>
                              </a:rPr>
                              <a:t>CB</a:t>
                            </a:r>
                            <a:endParaRPr lang="zh-CN" sz="1050" kern="100">
                              <a:effectLst/>
                              <a:latin typeface="Calibri"/>
                              <a:ea typeface="宋体"/>
                              <a:cs typeface="Times New Roman"/>
                            </a:endParaRPr>
                          </a:p>
                        </p:txBody>
                      </p:sp>
                      <p:sp>
                        <p:nvSpPr>
                          <p:cNvPr id="110" name="椭圆 10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530" y="3891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111" name="直接连接符 110"/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 flipV="1">
                            <a:off x="2948" y="4203"/>
                            <a:ext cx="1954" cy="1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sp>
                        <p:nvSpPr>
                          <p:cNvPr id="112" name="文本框 161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52" y="4140"/>
                            <a:ext cx="968" cy="7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/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t" anchorCtr="0" upright="1">
                            <a:noAutofit/>
                          </a:bodyPr>
                          <a:lstStyle/>
                          <a:p>
                            <a:pPr algn="just">
                              <a:spcAft>
                                <a:spcPts val="0"/>
                              </a:spcAft>
                            </a:pPr>
                            <a:r>
                              <a:rPr lang="en-US" sz="500" kern="100">
                                <a:effectLst/>
                                <a:latin typeface="Times New Roman"/>
                                <a:ea typeface="宋体"/>
                                <a:cs typeface="Times New Roman"/>
                              </a:rPr>
                              <a:t>VB</a:t>
                            </a:r>
                            <a:endParaRPr lang="zh-CN" sz="1050" kern="100">
                              <a:effectLst/>
                              <a:latin typeface="Calibri"/>
                              <a:ea typeface="宋体"/>
                              <a:cs typeface="Times New Roman"/>
                            </a:endParaRPr>
                          </a:p>
                        </p:txBody>
                      </p:sp>
                      <p:sp>
                        <p:nvSpPr>
                          <p:cNvPr id="113" name="椭圆 11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35" y="3870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114" name="直接箭头连接符 113"/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 flipV="1">
                            <a:off x="4521" y="4017"/>
                            <a:ext cx="0" cy="340"/>
                          </a:xfrm>
                          <a:prstGeom prst="straightConnector1">
                            <a:avLst/>
                          </a:prstGeom>
                          <a:noFill/>
                          <a:ln w="0">
                            <a:solidFill>
                              <a:srgbClr val="A6A6A6"/>
                            </a:solidFill>
                            <a:round/>
                            <a:headEnd/>
                            <a:tailEnd type="stealth" w="sm" len="sm"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sp>
                        <p:nvSpPr>
                          <p:cNvPr id="115" name="椭圆 11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334" y="3910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16" name="椭圆 11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336" y="4258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376092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17" name="椭圆 11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562" y="4266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376092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18" name="椭圆 11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384" y="3863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96" name="文本框 19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48" y="5068"/>
                          <a:ext cx="1025" cy="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TiO</a:t>
                          </a:r>
                          <a:r>
                            <a:rPr lang="en-US" sz="500" kern="100" baseline="-250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2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97" name="文本框 19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729" y="4194"/>
                          <a:ext cx="744" cy="7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-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98" name="文本框 19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929" y="4185"/>
                          <a:ext cx="596" cy="7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-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99" name="文本框 19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785" y="4312"/>
                          <a:ext cx="425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75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-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100" name="文本框 19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737" y="3228"/>
                          <a:ext cx="533" cy="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75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-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101" name="文本框 19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935" y="4571"/>
                          <a:ext cx="763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solidFill>
                                <a:srgbClr val="FFFFFF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+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102" name="文本框 20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25" y="3985"/>
                          <a:ext cx="783" cy="9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e</a:t>
                          </a:r>
                          <a:r>
                            <a:rPr lang="en-US" sz="500" kern="100" baseline="300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-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103" name="椭圆形标注 1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49" y="4074"/>
                          <a:ext cx="2845" cy="1773"/>
                        </a:xfrm>
                        <a:prstGeom prst="wedgeEllipseCallout">
                          <a:avLst>
                            <a:gd name="adj1" fmla="val 72426"/>
                            <a:gd name="adj2" fmla="val 5505"/>
                          </a:avLst>
                        </a:prstGeom>
                        <a:noFill/>
                        <a:ln w="3175">
                          <a:solidFill>
                            <a:srgbClr val="000000"/>
                          </a:solidFill>
                          <a:prstDash val="sysDash"/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ctr" anchorCtr="0" upright="1">
                          <a:noAutofit/>
                        </a:bodyPr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050" kern="100">
                              <a:effectLst/>
                              <a:latin typeface="Calibri"/>
                              <a:ea typeface="宋体"/>
                              <a:cs typeface="Times New Roman"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104" name="文本框 19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703" y="4578"/>
                          <a:ext cx="734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solidFill>
                                <a:srgbClr val="FFFFFF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+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</p:grpSp>
                  <p:grpSp>
                    <p:nvGrpSpPr>
                      <p:cNvPr id="88" name="组合 8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48" y="4486"/>
                        <a:ext cx="1014" cy="1263"/>
                        <a:chOff x="2139" y="4466"/>
                        <a:chExt cx="1014" cy="1263"/>
                      </a:xfrm>
                    </p:grpSpPr>
                    <p:sp>
                      <p:nvSpPr>
                        <p:cNvPr id="89" name="文本框 20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139" y="4941"/>
                          <a:ext cx="1014" cy="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/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500" kern="100"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FTO</a:t>
                          </a:r>
                          <a:endParaRPr lang="zh-CN" sz="1050" kern="100"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p:txBody>
                    </p:sp>
                    <p:sp>
                      <p:nvSpPr>
                        <p:cNvPr id="90" name="矩形 8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2064" y="4799"/>
                          <a:ext cx="788" cy="121"/>
                        </a:xfrm>
                        <a:prstGeom prst="rect">
                          <a:avLst/>
                        </a:prstGeom>
                        <a:solidFill>
                          <a:srgbClr val="99FF66"/>
                        </a:solidFill>
                        <a:ln w="25400">
                          <a:solidFill>
                            <a:srgbClr val="99FF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rot="0" vert="horz" wrap="square" lIns="91440" tIns="45720" rIns="91440" bIns="45720" anchor="ctr" anchorCtr="0" upright="1">
                          <a:noAutofit/>
                        </a:bodyPr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91" name="组合 9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26" y="4533"/>
                          <a:ext cx="150" cy="396"/>
                          <a:chOff x="2491" y="4541"/>
                          <a:chExt cx="150" cy="396"/>
                        </a:xfrm>
                      </p:grpSpPr>
                      <p:sp>
                        <p:nvSpPr>
                          <p:cNvPr id="92" name="椭圆 9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91" y="4541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93" name="椭圆 9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99" y="4790"/>
                            <a:ext cx="142" cy="147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rot="0" vert="horz" wrap="square" lIns="91440" tIns="45720" rIns="91440" bIns="45720" anchor="ctr" anchorCtr="0" upright="1">
                            <a:noAutofit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</p:grpSp>
                <p:sp>
                  <p:nvSpPr>
                    <p:cNvPr id="85" name="文本框 2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59" y="4535"/>
                      <a:ext cx="425" cy="4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63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/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-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p:txBody>
                </p:sp>
                <p:sp>
                  <p:nvSpPr>
                    <p:cNvPr id="86" name="文本框 2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48" y="4274"/>
                      <a:ext cx="425" cy="4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63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/>
                        </a14:hiddenEffects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-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83" name="文本框 2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40" y="3950"/>
                    <a:ext cx="857" cy="97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63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algn="just">
                      <a:spcAft>
                        <a:spcPts val="0"/>
                      </a:spcAft>
                    </a:pPr>
                    <a:r>
                      <a:rPr lang="en-US" sz="550" kern="100">
                        <a:effectLst/>
                        <a:latin typeface="Times New Roman"/>
                        <a:ea typeface="宋体"/>
                        <a:cs typeface="Times New Roman"/>
                      </a:rPr>
                      <a:t>e</a:t>
                    </a:r>
                    <a:r>
                      <a:rPr lang="en-US" sz="550" kern="100" baseline="30000">
                        <a:effectLst/>
                        <a:latin typeface="Times New Roman"/>
                        <a:ea typeface="宋体"/>
                        <a:cs typeface="Times New Roman"/>
                      </a:rPr>
                      <a:t>-</a:t>
                    </a:r>
                    <a:endParaRPr lang="zh-CN" sz="1050" kern="100">
                      <a:effectLst/>
                      <a:latin typeface="Calibri"/>
                      <a:ea typeface="宋体"/>
                      <a:cs typeface="Times New Roman"/>
                    </a:endParaRPr>
                  </a:p>
                </p:txBody>
              </p:sp>
            </p:grpSp>
            <p:sp>
              <p:nvSpPr>
                <p:cNvPr id="78" name="文本框 193"/>
                <p:cNvSpPr txBox="1">
                  <a:spLocks noChangeArrowheads="1"/>
                </p:cNvSpPr>
                <p:nvPr/>
              </p:nvSpPr>
              <p:spPr bwMode="auto">
                <a:xfrm>
                  <a:off x="5613" y="9754"/>
                  <a:ext cx="316" cy="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500" kern="100">
                      <a:effectLst/>
                      <a:latin typeface="Times New Roman"/>
                      <a:ea typeface="宋体"/>
                      <a:cs typeface="Times New Roman"/>
                    </a:rPr>
                    <a:t>-</a:t>
                  </a:r>
                  <a:endParaRPr lang="zh-CN" sz="1050" kern="100">
                    <a:effectLst/>
                    <a:latin typeface="Calibri"/>
                    <a:ea typeface="宋体"/>
                    <a:cs typeface="Times New Roman"/>
                  </a:endParaRPr>
                </a:p>
              </p:txBody>
            </p:sp>
            <p:sp>
              <p:nvSpPr>
                <p:cNvPr id="79" name="文本框 193"/>
                <p:cNvSpPr txBox="1">
                  <a:spLocks noChangeArrowheads="1"/>
                </p:cNvSpPr>
                <p:nvPr/>
              </p:nvSpPr>
              <p:spPr bwMode="auto">
                <a:xfrm>
                  <a:off x="5616" y="9889"/>
                  <a:ext cx="316" cy="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500" kern="100">
                      <a:effectLst/>
                      <a:latin typeface="Times New Roman"/>
                      <a:ea typeface="宋体"/>
                      <a:cs typeface="Times New Roman"/>
                    </a:rPr>
                    <a:t>-</a:t>
                  </a:r>
                  <a:endParaRPr lang="zh-CN" sz="1050" kern="100">
                    <a:effectLst/>
                    <a:latin typeface="Calibri"/>
                    <a:ea typeface="宋体"/>
                    <a:cs typeface="Times New Roman"/>
                  </a:endParaRPr>
                </a:p>
              </p:txBody>
            </p:sp>
            <p:sp>
              <p:nvSpPr>
                <p:cNvPr id="80" name="文本框 193"/>
                <p:cNvSpPr txBox="1">
                  <a:spLocks noChangeArrowheads="1"/>
                </p:cNvSpPr>
                <p:nvPr/>
              </p:nvSpPr>
              <p:spPr bwMode="auto">
                <a:xfrm>
                  <a:off x="6193" y="9731"/>
                  <a:ext cx="316" cy="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500" kern="100">
                      <a:effectLst/>
                      <a:latin typeface="Times New Roman"/>
                      <a:ea typeface="宋体"/>
                      <a:cs typeface="Times New Roman"/>
                    </a:rPr>
                    <a:t>-</a:t>
                  </a:r>
                  <a:endParaRPr lang="zh-CN" sz="1050" kern="100">
                    <a:effectLst/>
                    <a:latin typeface="Calibri"/>
                    <a:ea typeface="宋体"/>
                    <a:cs typeface="Times New Roman"/>
                  </a:endParaRPr>
                </a:p>
              </p:txBody>
            </p:sp>
            <p:sp>
              <p:nvSpPr>
                <p:cNvPr id="81" name="文本框 193"/>
                <p:cNvSpPr txBox="1">
                  <a:spLocks noChangeArrowheads="1"/>
                </p:cNvSpPr>
                <p:nvPr/>
              </p:nvSpPr>
              <p:spPr bwMode="auto">
                <a:xfrm>
                  <a:off x="6059" y="9735"/>
                  <a:ext cx="316" cy="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500" kern="100">
                      <a:effectLst/>
                      <a:latin typeface="Times New Roman"/>
                      <a:ea typeface="宋体"/>
                      <a:cs typeface="Times New Roman"/>
                    </a:rPr>
                    <a:t>-</a:t>
                  </a:r>
                  <a:endParaRPr lang="zh-CN" sz="1050" kern="100">
                    <a:effectLst/>
                    <a:latin typeface="Calibri"/>
                    <a:ea typeface="宋体"/>
                    <a:cs typeface="Times New Roman"/>
                  </a:endParaRPr>
                </a:p>
              </p:txBody>
            </p:sp>
          </p:grpSp>
        </p:grpSp>
        <p:sp>
          <p:nvSpPr>
            <p:cNvPr id="72" name="文本框 355"/>
            <p:cNvSpPr txBox="1">
              <a:spLocks noChangeArrowheads="1"/>
            </p:cNvSpPr>
            <p:nvPr/>
          </p:nvSpPr>
          <p:spPr bwMode="auto">
            <a:xfrm>
              <a:off x="4991" y="42594"/>
              <a:ext cx="630" cy="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200" b="1" kern="100">
                  <a:effectLst/>
                  <a:latin typeface="Times New Roman"/>
                  <a:ea typeface="宋体"/>
                  <a:cs typeface="Times New Roman"/>
                </a:rPr>
                <a:t>b</a:t>
              </a:r>
              <a:endParaRPr lang="zh-CN" sz="1050" kern="100">
                <a:effectLst/>
                <a:latin typeface="Calibri"/>
                <a:ea typeface="宋体"/>
                <a:cs typeface="Times New Roman"/>
              </a:endParaRPr>
            </a:p>
          </p:txBody>
        </p:sp>
      </p:grpSp>
      <p:graphicFrame>
        <p:nvGraphicFramePr>
          <p:cNvPr id="176" name="对象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205195"/>
              </p:ext>
            </p:extLst>
          </p:nvPr>
        </p:nvGraphicFramePr>
        <p:xfrm>
          <a:off x="6563673" y="2370535"/>
          <a:ext cx="6241634" cy="276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6" name="Visio" r:id="rId4" imgW="7591546" imgH="3367980" progId="Visio.Drawing.11">
                  <p:embed/>
                </p:oleObj>
              </mc:Choice>
              <mc:Fallback>
                <p:oleObj name="Visio" r:id="rId4" imgW="7591546" imgH="33679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673" y="2370535"/>
                        <a:ext cx="6241634" cy="27641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文本框 60">
            <a:extLst>
              <a:ext uri="{FF2B5EF4-FFF2-40B4-BE49-F238E27FC236}">
                <a16:creationId xmlns:a16="http://schemas.microsoft.com/office/drawing/2014/main" xmlns="" id="{480E854A-B0C1-4B6A-92B1-D2FDC60DD930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xmlns="" id="{977288A9-498D-4F8E-A8C8-46C23174A570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xmlns="" id="{7A34D1DD-5F61-43E2-902E-9B3F50FDB058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: 圆角 186">
            <a:extLst>
              <a:ext uri="{FF2B5EF4-FFF2-40B4-BE49-F238E27FC236}">
                <a16:creationId xmlns:a16="http://schemas.microsoft.com/office/drawing/2014/main" xmlns="" id="{04359D02-92F5-4CF9-86CD-B7E6213B7EE6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8" name="直接连接符 58">
            <a:extLst>
              <a:ext uri="{FF2B5EF4-FFF2-40B4-BE49-F238E27FC236}">
                <a16:creationId xmlns:a16="http://schemas.microsoft.com/office/drawing/2014/main" xmlns="" id="{C6D8F7A4-C02D-43A2-9609-12535ECD010F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xmlns="" id="{73E6D97F-B2AA-42DA-9013-3540A640AA3D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xmlns="" id="{755ED4E6-EC30-4C28-B37E-010493CFD3E6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26082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546283" y="2592314"/>
            <a:ext cx="4300048" cy="3380490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367257"/>
              </p:ext>
            </p:extLst>
          </p:nvPr>
        </p:nvGraphicFramePr>
        <p:xfrm>
          <a:off x="7063082" y="2397760"/>
          <a:ext cx="5232618" cy="3413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0" name="Visio" r:id="rId4" imgW="3115927" imgH="2025042" progId="Visio.Drawing.11">
                  <p:embed/>
                </p:oleObj>
              </mc:Choice>
              <mc:Fallback>
                <p:oleObj name="Visio" r:id="rId4" imgW="3115927" imgH="202504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3082" y="2397760"/>
                        <a:ext cx="5232618" cy="34131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FEB9B787-4A64-4921-A74A-43EAAE735978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4C99611-DAE2-4BA4-A8AA-3C31314ABB8D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762C66F9-A279-4FB4-B5A0-39E917C4D149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xmlns="" id="{9B87B800-59E4-4EA8-9A8C-AE5514501DB0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58">
            <a:extLst>
              <a:ext uri="{FF2B5EF4-FFF2-40B4-BE49-F238E27FC236}">
                <a16:creationId xmlns:a16="http://schemas.microsoft.com/office/drawing/2014/main" xmlns="" id="{B00A8BA8-3592-4A21-9F7E-F19605925D4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3C44B20D-2669-4A93-A274-CD8C8608348A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D66BEB8-A971-42D1-98EA-C5D760800C20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8432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64652" y="1164395"/>
            <a:ext cx="50752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</a:rPr>
              <a:t>Equivalent circuit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5134652" y="4989799"/>
            <a:ext cx="37734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 dirty="0" err="1">
                <a:latin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</a:rPr>
              <a:t>sh</a:t>
            </a:r>
            <a:r>
              <a:rPr lang="en-US" altLang="zh-CN" sz="2800" b="1" dirty="0">
                <a:latin typeface="Times New Roman" pitchFamily="18" charset="0"/>
              </a:rPr>
              <a:t>   Shunt resistance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5134652" y="2570838"/>
            <a:ext cx="3060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800" b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 err="1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  Photo current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134652" y="3440906"/>
            <a:ext cx="3060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楷体_GB2312" pitchFamily="49" charset="-122"/>
              </a:rPr>
              <a:t>d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   Dark current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141002" y="4157662"/>
            <a:ext cx="424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800" b="1" dirty="0" err="1">
                <a:latin typeface="Times New Roman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 dirty="0" err="1"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  Junction capacitance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141002" y="5790275"/>
            <a:ext cx="3798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 dirty="0" err="1"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   Series resistance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606842" y="5768975"/>
            <a:ext cx="4740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楷体_GB2312" pitchFamily="49" charset="-122"/>
              </a:rPr>
              <a:t>sh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  Shunt resistance current</a:t>
            </a:r>
            <a:endParaRPr lang="zh-CN" altLang="en-US" sz="2800" b="1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741101"/>
              </p:ext>
            </p:extLst>
          </p:nvPr>
        </p:nvGraphicFramePr>
        <p:xfrm>
          <a:off x="792580" y="2503487"/>
          <a:ext cx="3995737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8" name="Visio" r:id="rId3" imgW="2202480" imgH="1382040" progId="Visio.Drawing.11">
                  <p:embed/>
                </p:oleObj>
              </mc:Choice>
              <mc:Fallback>
                <p:oleObj name="Visio" r:id="rId3" imgW="2202480" imgH="13820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580" y="2503487"/>
                        <a:ext cx="3995737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33817" y="3103562"/>
            <a:ext cx="584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10" name="组合 14"/>
          <p:cNvGrpSpPr>
            <a:grpSpLocks/>
          </p:cNvGrpSpPr>
          <p:nvPr/>
        </p:nvGrpSpPr>
        <p:grpSpPr bwMode="auto">
          <a:xfrm>
            <a:off x="1434372" y="2957512"/>
            <a:ext cx="474663" cy="803275"/>
            <a:chOff x="5996007" y="4926033"/>
            <a:chExt cx="474669" cy="803286"/>
          </a:xfrm>
        </p:grpSpPr>
        <p:sp>
          <p:nvSpPr>
            <p:cNvPr id="87058" name="Text Box 9"/>
            <p:cNvSpPr txBox="1">
              <a:spLocks noChangeArrowheads="1"/>
            </p:cNvSpPr>
            <p:nvPr/>
          </p:nvSpPr>
          <p:spPr bwMode="auto">
            <a:xfrm>
              <a:off x="5996007" y="4926033"/>
              <a:ext cx="474669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altLang="zh-CN" sz="2800" b="1">
                  <a:latin typeface="Times New Roman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ea typeface="楷体_GB2312" pitchFamily="49" charset="-122"/>
                </a:rPr>
                <a:t>d</a:t>
              </a:r>
              <a:endParaRPr lang="zh-CN" altLang="en-US" sz="2800" b="1"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rot="5400000">
              <a:off x="6015058" y="5345139"/>
              <a:ext cx="766772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lg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103855" y="4013195"/>
            <a:ext cx="546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800" b="1" dirty="0" err="1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 dirty="0" err="1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j</a:t>
            </a:r>
            <a:endParaRPr lang="zh-CN" altLang="en-US" sz="2800" b="1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3418305" y="3700462"/>
            <a:ext cx="803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400" b="1">
                <a:latin typeface="Times New Roman" pitchFamily="18" charset="0"/>
              </a:rPr>
              <a:t>R</a:t>
            </a:r>
            <a:r>
              <a:rPr lang="en-US" altLang="zh-CN" sz="2400" b="1" baseline="-25000">
                <a:latin typeface="Times New Roman" pitchFamily="18" charset="0"/>
              </a:rPr>
              <a:t>sh</a:t>
            </a:r>
            <a:endParaRPr lang="en-US" altLang="zh-CN" sz="2400" b="1">
              <a:latin typeface="Times New Roman" pitchFamily="18" charset="0"/>
            </a:endParaRPr>
          </a:p>
        </p:txBody>
      </p:sp>
      <p:grpSp>
        <p:nvGrpSpPr>
          <p:cNvPr id="12" name="组合 20"/>
          <p:cNvGrpSpPr>
            <a:grpSpLocks/>
          </p:cNvGrpSpPr>
          <p:nvPr/>
        </p:nvGrpSpPr>
        <p:grpSpPr bwMode="auto">
          <a:xfrm>
            <a:off x="2831705" y="3030537"/>
            <a:ext cx="549275" cy="946150"/>
            <a:chOff x="4900617" y="5181624"/>
            <a:chExt cx="549283" cy="946163"/>
          </a:xfrm>
        </p:grpSpPr>
        <p:cxnSp>
          <p:nvCxnSpPr>
            <p:cNvPr id="19" name="直接箭头连接符 18"/>
            <p:cNvCxnSpPr/>
            <p:nvPr/>
          </p:nvCxnSpPr>
          <p:spPr>
            <a:xfrm rot="5400000">
              <a:off x="5175259" y="5454678"/>
              <a:ext cx="547696" cy="1587"/>
            </a:xfrm>
            <a:prstGeom prst="straightConnector1">
              <a:avLst/>
            </a:prstGeom>
            <a:ln w="25400">
              <a:solidFill>
                <a:srgbClr val="0000CC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064" name="Text Box 12"/>
            <p:cNvSpPr txBox="1">
              <a:spLocks noChangeArrowheads="1"/>
            </p:cNvSpPr>
            <p:nvPr/>
          </p:nvSpPr>
          <p:spPr bwMode="auto">
            <a:xfrm>
              <a:off x="4900617" y="5181624"/>
              <a:ext cx="547695" cy="946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/>
              <a:r>
                <a:rPr lang="en-US" altLang="zh-CN" sz="2800" b="1" dirty="0" err="1">
                  <a:latin typeface="Times New Roman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楷体_GB2312" pitchFamily="49" charset="-122"/>
                </a:rPr>
                <a:t>sh</a:t>
              </a:r>
              <a:endParaRPr lang="zh-CN" altLang="en-US" sz="2800" b="1" dirty="0"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715464" y="2149958"/>
            <a:ext cx="58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400" b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endParaRPr lang="en-US" altLang="zh-CN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018901"/>
              </p:ext>
            </p:extLst>
          </p:nvPr>
        </p:nvGraphicFramePr>
        <p:xfrm>
          <a:off x="9998803" y="2563390"/>
          <a:ext cx="1194192" cy="47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99" name="公式" r:id="rId5" imgW="571320" imgH="228600" progId="Equation.3">
                  <p:embed/>
                </p:oleObj>
              </mc:Choice>
              <mc:Fallback>
                <p:oleObj name="公式" r:id="rId5" imgW="5713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8803" y="2563390"/>
                        <a:ext cx="1194192" cy="47792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26155"/>
              </p:ext>
            </p:extLst>
          </p:nvPr>
        </p:nvGraphicFramePr>
        <p:xfrm>
          <a:off x="11544793" y="2557892"/>
          <a:ext cx="987816" cy="46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0" name="公式" r:id="rId7" imgW="482400" imgH="228600" progId="Equation.3">
                  <p:embed/>
                </p:oleObj>
              </mc:Choice>
              <mc:Fallback>
                <p:oleObj name="公式" r:id="rId7" imgW="482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4793" y="2557892"/>
                        <a:ext cx="987816" cy="4681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6"/>
          <p:cNvSpPr txBox="1">
            <a:spLocks noChangeArrowheads="1"/>
          </p:cNvSpPr>
          <p:nvPr/>
        </p:nvSpPr>
        <p:spPr bwMode="auto">
          <a:xfrm>
            <a:off x="9620654" y="5508911"/>
            <a:ext cx="35129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Simple equivalent circuit</a:t>
            </a:r>
            <a:endParaRPr lang="zh-CN" altLang="en-US" sz="2400" b="1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244533"/>
              </p:ext>
            </p:extLst>
          </p:nvPr>
        </p:nvGraphicFramePr>
        <p:xfrm>
          <a:off x="9573879" y="3114674"/>
          <a:ext cx="331470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01" name="Visio" r:id="rId9" imgW="2622451" imgH="1645920" progId="Visio.Drawing.11">
                  <p:embed/>
                </p:oleObj>
              </mc:Choice>
              <mc:Fallback>
                <p:oleObj name="Visio" r:id="rId9" imgW="2622451" imgH="164592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3879" y="3114674"/>
                        <a:ext cx="3314700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60">
            <a:extLst>
              <a:ext uri="{FF2B5EF4-FFF2-40B4-BE49-F238E27FC236}">
                <a16:creationId xmlns:a16="http://schemas.microsoft.com/office/drawing/2014/main" xmlns="" id="{106F087C-1905-4A78-B01A-89B7737A58E2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BE00D73D-2596-46DB-BC43-87B19256088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7EFF5D0A-D8C2-4394-BAAB-6AF61A9A53CC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xmlns="" id="{9A568543-BB1A-4ACC-8015-BDF1864AE89D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1" name="直接连接符 58">
            <a:extLst>
              <a:ext uri="{FF2B5EF4-FFF2-40B4-BE49-F238E27FC236}">
                <a16:creationId xmlns:a16="http://schemas.microsoft.com/office/drawing/2014/main" xmlns="" id="{E99B970A-7E8A-4C64-B0F1-382F9DC16C0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DB13E7E0-CF3E-4FC1-B823-2BABAFF06E4F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620C6979-F8F9-4610-B655-FB88DDD678C4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3" grpId="0"/>
      <p:bldP spid="8" grpId="0"/>
      <p:bldP spid="11" grpId="0"/>
      <p:bldP spid="16" grpId="0"/>
      <p:bldP spid="17" grpId="0"/>
      <p:bldP spid="22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04575" y="696913"/>
            <a:ext cx="50752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Loop current equation</a:t>
            </a:r>
            <a:r>
              <a:rPr lang="en-US" altLang="zh-CN" sz="36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36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894945" y="1321442"/>
            <a:ext cx="78404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2800" b="1" dirty="0">
                <a:latin typeface="Times New Roman" pitchFamily="18" charset="0"/>
              </a:rPr>
              <a:t>Using the above equivalent circuit, the output current I</a:t>
            </a:r>
            <a:r>
              <a:rPr lang="en-US" altLang="zh-CN" sz="2800" b="1" baseline="-25000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 is given as follows: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206986"/>
              </p:ext>
            </p:extLst>
          </p:nvPr>
        </p:nvGraphicFramePr>
        <p:xfrm>
          <a:off x="1065213" y="2868613"/>
          <a:ext cx="6602412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2" name="Equation" r:id="rId3" imgW="2552400" imgH="393480" progId="Equation.DSMT4">
                  <p:embed/>
                </p:oleObj>
              </mc:Choice>
              <mc:Fallback>
                <p:oleObj name="Equation" r:id="rId3" imgW="255240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868613"/>
                        <a:ext cx="6602412" cy="1023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127916"/>
              </p:ext>
            </p:extLst>
          </p:nvPr>
        </p:nvGraphicFramePr>
        <p:xfrm>
          <a:off x="3507330" y="4541756"/>
          <a:ext cx="3496586" cy="291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3" name="Visio" r:id="rId5" imgW="1736788" imgH="1734217" progId="Visio.Drawing.11">
                  <p:embed/>
                </p:oleObj>
              </mc:Choice>
              <mc:Fallback>
                <p:oleObj name="Visio" r:id="rId5" imgW="1736788" imgH="173421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330" y="4541756"/>
                        <a:ext cx="3496586" cy="2913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227081"/>
              </p:ext>
            </p:extLst>
          </p:nvPr>
        </p:nvGraphicFramePr>
        <p:xfrm>
          <a:off x="7734300" y="4756150"/>
          <a:ext cx="25542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4" name="Equation" r:id="rId7" imgW="939600" imgH="342720" progId="Equation.DSMT4">
                  <p:embed/>
                </p:oleObj>
              </mc:Choice>
              <mc:Fallback>
                <p:oleObj name="Equation" r:id="rId7" imgW="939600" imgH="342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300" y="4756150"/>
                        <a:ext cx="2554288" cy="93186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681870"/>
              </p:ext>
            </p:extLst>
          </p:nvPr>
        </p:nvGraphicFramePr>
        <p:xfrm>
          <a:off x="7729538" y="6065838"/>
          <a:ext cx="3140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5" name="Equation" r:id="rId9" imgW="1155600" imgH="355320" progId="Equation.DSMT4">
                  <p:embed/>
                </p:oleObj>
              </mc:Choice>
              <mc:Fallback>
                <p:oleObj name="Equation" r:id="rId9" imgW="1155600" imgH="355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9538" y="6065838"/>
                        <a:ext cx="3140075" cy="965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476045"/>
              </p:ext>
            </p:extLst>
          </p:nvPr>
        </p:nvGraphicFramePr>
        <p:xfrm>
          <a:off x="821075" y="5071624"/>
          <a:ext cx="155098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6" name="公式" r:id="rId11" imgW="571252" imgH="228501" progId="Equation.3">
                  <p:embed/>
                </p:oleObj>
              </mc:Choice>
              <mc:Fallback>
                <p:oleObj name="公式" r:id="rId11" imgW="571252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75" y="5071624"/>
                        <a:ext cx="1550988" cy="6207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245814"/>
              </p:ext>
            </p:extLst>
          </p:nvPr>
        </p:nvGraphicFramePr>
        <p:xfrm>
          <a:off x="952838" y="6204830"/>
          <a:ext cx="14636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7" name="公式" r:id="rId13" imgW="482391" imgH="228501" progId="Equation.3">
                  <p:embed/>
                </p:oleObj>
              </mc:Choice>
              <mc:Fallback>
                <p:oleObj name="公式" r:id="rId13" imgW="482391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838" y="6204830"/>
                        <a:ext cx="1463675" cy="6937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8478313" y="1272372"/>
            <a:ext cx="4254500" cy="2868129"/>
            <a:chOff x="9230345" y="227360"/>
            <a:chExt cx="4254500" cy="2868129"/>
          </a:xfrm>
        </p:grpSpPr>
        <p:graphicFrame>
          <p:nvGraphicFramePr>
            <p:cNvPr id="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2295547"/>
                </p:ext>
              </p:extLst>
            </p:nvPr>
          </p:nvGraphicFramePr>
          <p:xfrm>
            <a:off x="9489108" y="580889"/>
            <a:ext cx="3995737" cy="2514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348" name="Visio" r:id="rId15" imgW="2202480" imgH="1382040" progId="Visio.Drawing.11">
                    <p:embed/>
                  </p:oleObj>
                </mc:Choice>
                <mc:Fallback>
                  <p:oleObj name="Visio" r:id="rId15" imgW="2202480" imgH="138204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9108" y="580889"/>
                          <a:ext cx="3995737" cy="2514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9230345" y="1180964"/>
              <a:ext cx="58420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p</a:t>
              </a:r>
              <a:endParaRPr lang="zh-CN" altLang="en-US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grpSp>
          <p:nvGrpSpPr>
            <p:cNvPr id="17" name="组合 14"/>
            <p:cNvGrpSpPr>
              <a:grpSpLocks/>
            </p:cNvGrpSpPr>
            <p:nvPr/>
          </p:nvGrpSpPr>
          <p:grpSpPr bwMode="auto">
            <a:xfrm>
              <a:off x="10130900" y="1034914"/>
              <a:ext cx="474663" cy="803275"/>
              <a:chOff x="5996007" y="4926033"/>
              <a:chExt cx="474669" cy="803286"/>
            </a:xfrm>
          </p:grpSpPr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5996007" y="4926033"/>
                <a:ext cx="474669" cy="519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4400">
                  <a:spcBef>
                    <a:spcPct val="50000"/>
                  </a:spcBef>
                </a:pPr>
                <a:r>
                  <a:rPr lang="en-US" altLang="zh-CN" sz="2800" b="1">
                    <a:latin typeface="Times New Roman" pitchFamily="18" charset="0"/>
                    <a:ea typeface="楷体_GB2312" pitchFamily="49" charset="-122"/>
                  </a:rPr>
                  <a:t>I</a:t>
                </a:r>
                <a:r>
                  <a:rPr lang="en-US" altLang="zh-CN" sz="2800" b="1" baseline="-25000">
                    <a:latin typeface="Times New Roman" pitchFamily="18" charset="0"/>
                    <a:ea typeface="楷体_GB2312" pitchFamily="49" charset="-122"/>
                  </a:rPr>
                  <a:t>d</a:t>
                </a:r>
                <a:endParaRPr lang="zh-CN" altLang="en-US" sz="2800" b="1">
                  <a:latin typeface="Times New Roman" pitchFamily="18" charset="0"/>
                  <a:ea typeface="楷体_GB2312" pitchFamily="49" charset="-122"/>
                </a:endParaRPr>
              </a:p>
            </p:txBody>
          </p:sp>
          <p:cxnSp>
            <p:nvCxnSpPr>
              <p:cNvPr id="25" name="直接箭头连接符 24"/>
              <p:cNvCxnSpPr/>
              <p:nvPr/>
            </p:nvCxnSpPr>
            <p:spPr>
              <a:xfrm rot="5400000">
                <a:off x="6015058" y="5345139"/>
                <a:ext cx="766772" cy="158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lg" len="lg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10800383" y="2090597"/>
              <a:ext cx="54610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altLang="zh-CN" sz="2800" b="1" dirty="0" err="1">
                  <a:solidFill>
                    <a:srgbClr val="0000CC"/>
                  </a:solidFill>
                  <a:latin typeface="Times New Roman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 dirty="0" err="1">
                  <a:solidFill>
                    <a:srgbClr val="0000CC"/>
                  </a:solidFill>
                  <a:latin typeface="Times New Roman" pitchFamily="18" charset="0"/>
                  <a:ea typeface="楷体_GB2312" pitchFamily="49" charset="-122"/>
                </a:rPr>
                <a:t>j</a:t>
              </a:r>
              <a:endPara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12114833" y="1777864"/>
              <a:ext cx="8032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/>
              <a:r>
                <a:rPr lang="en-US" altLang="zh-CN" sz="2400" b="1">
                  <a:latin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</a:rPr>
                <a:t>sh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grpSp>
          <p:nvGrpSpPr>
            <p:cNvPr id="20" name="组合 20"/>
            <p:cNvGrpSpPr>
              <a:grpSpLocks/>
            </p:cNvGrpSpPr>
            <p:nvPr/>
          </p:nvGrpSpPr>
          <p:grpSpPr bwMode="auto">
            <a:xfrm>
              <a:off x="11528233" y="1107939"/>
              <a:ext cx="549275" cy="946150"/>
              <a:chOff x="4900617" y="5181624"/>
              <a:chExt cx="549283" cy="946163"/>
            </a:xfrm>
          </p:grpSpPr>
          <p:cxnSp>
            <p:nvCxnSpPr>
              <p:cNvPr id="22" name="直接箭头连接符 21"/>
              <p:cNvCxnSpPr/>
              <p:nvPr/>
            </p:nvCxnSpPr>
            <p:spPr>
              <a:xfrm rot="5400000">
                <a:off x="5175259" y="5454678"/>
                <a:ext cx="547696" cy="1587"/>
              </a:xfrm>
              <a:prstGeom prst="straightConnector1">
                <a:avLst/>
              </a:prstGeom>
              <a:ln w="25400">
                <a:solidFill>
                  <a:srgbClr val="0000CC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 Box 12"/>
              <p:cNvSpPr txBox="1">
                <a:spLocks noChangeArrowheads="1"/>
              </p:cNvSpPr>
              <p:nvPr/>
            </p:nvSpPr>
            <p:spPr bwMode="auto">
              <a:xfrm>
                <a:off x="4900617" y="5181624"/>
                <a:ext cx="547695" cy="946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4400"/>
                <a:r>
                  <a:rPr lang="en-US" altLang="zh-CN" sz="2800" b="1" dirty="0" err="1">
                    <a:latin typeface="Times New Roman" pitchFamily="18" charset="0"/>
                    <a:ea typeface="楷体_GB2312" pitchFamily="49" charset="-122"/>
                  </a:rPr>
                  <a:t>I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楷体_GB2312" pitchFamily="49" charset="-122"/>
                  </a:rPr>
                  <a:t>sh</a:t>
                </a:r>
                <a:endParaRPr lang="zh-CN" altLang="en-US" sz="2800" b="1" dirty="0">
                  <a:latin typeface="Times New Roman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12411992" y="227360"/>
              <a:ext cx="584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/>
              <a:r>
                <a:rPr lang="en-US" altLang="zh-CN" sz="2400" b="1" dirty="0" err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lang="en-US" altLang="zh-CN" sz="2400" b="1" baseline="-25000" dirty="0" err="1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s</a:t>
              </a:r>
              <a:endPara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36" name="文本框 60">
            <a:extLst>
              <a:ext uri="{FF2B5EF4-FFF2-40B4-BE49-F238E27FC236}">
                <a16:creationId xmlns:a16="http://schemas.microsoft.com/office/drawing/2014/main" xmlns="" id="{4B0F53B1-3CB5-4B0A-9BA6-F7D06E271DD0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75E96062-4790-44BE-9E98-A576C0A13895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1B37DAC1-FBF8-4232-BF3B-C4C577C442B0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xmlns="" id="{8ED2DABC-DD5B-4339-BBFB-23B94D4A4FBD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" name="直接连接符 58">
            <a:extLst>
              <a:ext uri="{FF2B5EF4-FFF2-40B4-BE49-F238E27FC236}">
                <a16:creationId xmlns:a16="http://schemas.microsoft.com/office/drawing/2014/main" xmlns="" id="{B2516380-F353-4539-8F1D-BD7F03861FC1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59635D0A-79DE-4152-B7A2-8AD893027086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14056608-97DC-4A6B-928D-53261709FE03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500009" y="1289303"/>
            <a:ext cx="9270460" cy="646331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Open circuit voltage  and Short Circuit Current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endParaRPr lang="zh-CN" altLang="en-US" sz="3600" b="1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74519" y="2437766"/>
            <a:ext cx="4673600" cy="52322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2800" b="1" dirty="0">
                <a:latin typeface="Times New Roman" pitchFamily="18" charset="0"/>
                <a:ea typeface="楷体_GB2312" pitchFamily="49" charset="-122"/>
              </a:rPr>
              <a:t>load resistance </a:t>
            </a:r>
            <a:r>
              <a:rPr lang="en-US" altLang="zh-CN" sz="2800" b="1" i="1" dirty="0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黑体" pitchFamily="49" charset="-122"/>
              </a:rPr>
              <a:t>L</a:t>
            </a:r>
            <a:r>
              <a:rPr lang="en-US" altLang="zh-CN" sz="2800" b="1" dirty="0">
                <a:latin typeface="Times New Roman" pitchFamily="18" charset="0"/>
                <a:ea typeface="黑体" pitchFamily="49" charset="-122"/>
              </a:rPr>
              <a:t>→∞</a:t>
            </a:r>
            <a:r>
              <a:rPr lang="zh-CN" altLang="en-US" sz="2800" b="1" dirty="0">
                <a:latin typeface="Times New Roman" pitchFamily="18" charset="0"/>
                <a:ea typeface="黑体" pitchFamily="49" charset="-122"/>
              </a:rPr>
              <a:t>，</a:t>
            </a:r>
            <a:r>
              <a:rPr lang="en-US" altLang="zh-CN" sz="2800" b="1" i="1" dirty="0" err="1">
                <a:latin typeface="Times New Roman" pitchFamily="18" charset="0"/>
                <a:ea typeface="黑体" pitchFamily="49" charset="-122"/>
              </a:rPr>
              <a:t>V</a:t>
            </a:r>
            <a:r>
              <a:rPr lang="en-US" altLang="zh-CN" sz="2800" b="1" baseline="-25000" dirty="0" err="1">
                <a:latin typeface="Times New Roman" pitchFamily="18" charset="0"/>
                <a:ea typeface="黑体" pitchFamily="49" charset="-122"/>
              </a:rPr>
              <a:t>oc</a:t>
            </a:r>
            <a:endParaRPr lang="en-US" altLang="zh-CN" sz="28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574519" y="4648420"/>
            <a:ext cx="4271963" cy="5572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load resistance </a:t>
            </a:r>
            <a:r>
              <a:rPr lang="en-US" altLang="zh-CN" sz="2800" b="1" i="1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2800" b="1" baseline="-25000">
                <a:latin typeface="Times New Roman" pitchFamily="18" charset="0"/>
                <a:ea typeface="黑体" pitchFamily="49" charset="-122"/>
              </a:rPr>
              <a:t>L</a:t>
            </a:r>
            <a:r>
              <a:rPr lang="en-US" altLang="zh-CN" sz="2800" b="1">
                <a:latin typeface="Times New Roman" pitchFamily="18" charset="0"/>
                <a:ea typeface="黑体" pitchFamily="49" charset="-122"/>
              </a:rPr>
              <a:t>=0</a:t>
            </a:r>
            <a:r>
              <a:rPr lang="zh-CN" altLang="en-US" sz="2800" b="1">
                <a:latin typeface="Times New Roman" pitchFamily="18" charset="0"/>
                <a:ea typeface="黑体" pitchFamily="49" charset="-122"/>
              </a:rPr>
              <a:t>，</a:t>
            </a:r>
            <a:r>
              <a:rPr lang="en-US" altLang="zh-CN" sz="2800" b="1"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黑体" pitchFamily="49" charset="-122"/>
              </a:rPr>
              <a:t>sc</a:t>
            </a:r>
            <a:r>
              <a:rPr lang="en-US" altLang="zh-CN" sz="2400">
                <a:latin typeface="Times New Roman" pitchFamily="18" charset="0"/>
                <a:ea typeface="黑体" pitchFamily="49" charset="-122"/>
              </a:rPr>
              <a:t> </a:t>
            </a:r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440109"/>
              </p:ext>
            </p:extLst>
          </p:nvPr>
        </p:nvGraphicFramePr>
        <p:xfrm>
          <a:off x="7486650" y="3294063"/>
          <a:ext cx="24717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18" name="Equation" r:id="rId3" imgW="1155600" imgH="457200" progId="Equation.DSMT4">
                  <p:embed/>
                </p:oleObj>
              </mc:Choice>
              <mc:Fallback>
                <p:oleObj name="Equation" r:id="rId3" imgW="1155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650" y="3294063"/>
                        <a:ext cx="2471738" cy="987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783050"/>
              </p:ext>
            </p:extLst>
          </p:nvPr>
        </p:nvGraphicFramePr>
        <p:xfrm>
          <a:off x="7821038" y="5688873"/>
          <a:ext cx="2354578" cy="979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19" name="公式" r:id="rId5" imgW="965200" imgH="393700" progId="Equation.3">
                  <p:embed/>
                </p:oleObj>
              </mc:Choice>
              <mc:Fallback>
                <p:oleObj name="公式" r:id="rId5" imgW="9652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038" y="5688873"/>
                        <a:ext cx="2354578" cy="97907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480040"/>
              </p:ext>
            </p:extLst>
          </p:nvPr>
        </p:nvGraphicFramePr>
        <p:xfrm>
          <a:off x="2994025" y="3341688"/>
          <a:ext cx="3140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20" name="Equation" r:id="rId7" imgW="1155600" imgH="355320" progId="Equation.DSMT4">
                  <p:embed/>
                </p:oleObj>
              </mc:Choice>
              <mc:Fallback>
                <p:oleObj name="Equation" r:id="rId7" imgW="1155600" imgH="35532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3341688"/>
                        <a:ext cx="3140075" cy="965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724074"/>
              </p:ext>
            </p:extLst>
          </p:nvPr>
        </p:nvGraphicFramePr>
        <p:xfrm>
          <a:off x="3000375" y="5770563"/>
          <a:ext cx="3140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21" name="Equation" r:id="rId9" imgW="1155600" imgH="355320" progId="Equation.DSMT4">
                  <p:embed/>
                </p:oleObj>
              </mc:Choice>
              <mc:Fallback>
                <p:oleObj name="Equation" r:id="rId9" imgW="1155600" imgH="35532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770563"/>
                        <a:ext cx="3140075" cy="965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D1F8812F-C247-40CF-8944-FBDEBA462152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F08B87DF-98F2-4178-B19B-7384368E904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C94EC5EC-5046-4CDD-B637-148654088680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xmlns="" id="{DF68407A-0AEF-4DB6-AC62-6F6B992FFB99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BA8B35DD-3AF5-48E3-BB60-5CEB6DD81472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E992673-690D-4EA4-863B-FAC875B05A2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96EDE14-6F9A-45D3-BC8A-5A8F8AB5A10F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109305" y="1372344"/>
            <a:ext cx="6864350" cy="579437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Output Power and E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</a:rPr>
              <a:t>fficiency</a:t>
            </a:r>
            <a:endParaRPr lang="zh-CN" altLang="en-US" sz="3200" b="1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50329"/>
              </p:ext>
            </p:extLst>
          </p:nvPr>
        </p:nvGraphicFramePr>
        <p:xfrm>
          <a:off x="8764621" y="3849419"/>
          <a:ext cx="3612543" cy="3008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3" name="Visio" r:id="rId3" imgW="1724197" imgH="1723862" progId="Visio.Drawing.11">
                  <p:embed/>
                </p:oleObj>
              </mc:Choice>
              <mc:Fallback>
                <p:oleObj name="Visio" r:id="rId3" imgW="1724197" imgH="172386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4621" y="3849419"/>
                        <a:ext cx="3612543" cy="3008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395374"/>
              </p:ext>
            </p:extLst>
          </p:nvPr>
        </p:nvGraphicFramePr>
        <p:xfrm>
          <a:off x="5589588" y="2589213"/>
          <a:ext cx="30210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4" name="Equation" r:id="rId5" imgW="838080" imgH="215640" progId="Equation.DSMT4">
                  <p:embed/>
                </p:oleObj>
              </mc:Choice>
              <mc:Fallback>
                <p:oleObj name="Equation" r:id="rId5" imgW="83808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2589213"/>
                        <a:ext cx="3021012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347973"/>
              </p:ext>
            </p:extLst>
          </p:nvPr>
        </p:nvGraphicFramePr>
        <p:xfrm>
          <a:off x="3048000" y="3976418"/>
          <a:ext cx="219392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5" name="Equation" r:id="rId7" imgW="850531" imgH="380835" progId="Equation.DSMT4">
                  <p:embed/>
                </p:oleObj>
              </mc:Choice>
              <mc:Fallback>
                <p:oleObj name="Equation" r:id="rId7" imgW="850531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76418"/>
                        <a:ext cx="2193925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809456"/>
              </p:ext>
            </p:extLst>
          </p:nvPr>
        </p:nvGraphicFramePr>
        <p:xfrm>
          <a:off x="5745163" y="4122738"/>
          <a:ext cx="1930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6" name="Equation" r:id="rId9" imgW="711000" imgH="228600" progId="Equation.DSMT4">
                  <p:embed/>
                </p:oleObj>
              </mc:Choice>
              <mc:Fallback>
                <p:oleObj name="Equation" r:id="rId9" imgW="7110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4122738"/>
                        <a:ext cx="1930400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10016"/>
              </p:ext>
            </p:extLst>
          </p:nvPr>
        </p:nvGraphicFramePr>
        <p:xfrm>
          <a:off x="5640388" y="5363893"/>
          <a:ext cx="12779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7" name="公式" r:id="rId11" imgW="469696" imgH="393529" progId="Equation.3">
                  <p:embed/>
                </p:oleObj>
              </mc:Choice>
              <mc:Fallback>
                <p:oleObj name="公式" r:id="rId11" imgW="469696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5363893"/>
                        <a:ext cx="1277937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TextBox 12"/>
          <p:cNvSpPr txBox="1">
            <a:spLocks noChangeArrowheads="1"/>
          </p:cNvSpPr>
          <p:nvPr/>
        </p:nvSpPr>
        <p:spPr bwMode="auto">
          <a:xfrm>
            <a:off x="3303588" y="561948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fficiency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57" name="TextBox 13"/>
          <p:cNvSpPr txBox="1">
            <a:spLocks noChangeArrowheads="1"/>
          </p:cNvSpPr>
          <p:nvPr/>
        </p:nvSpPr>
        <p:spPr bwMode="auto">
          <a:xfrm>
            <a:off x="3011488" y="2771505"/>
            <a:ext cx="2409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Output Power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" name="文本框 60">
            <a:extLst>
              <a:ext uri="{FF2B5EF4-FFF2-40B4-BE49-F238E27FC236}">
                <a16:creationId xmlns:a16="http://schemas.microsoft.com/office/drawing/2014/main" xmlns="" id="{6DCD3ECB-E86E-4B58-8F2C-AECB08172960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42299ECD-797D-405C-9413-073CE13F45A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802CCB22-497B-49F5-AA54-81FD60EEC2F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xmlns="" id="{1165FF99-182C-4D59-87FC-83743F996EB2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58">
            <a:extLst>
              <a:ext uri="{FF2B5EF4-FFF2-40B4-BE49-F238E27FC236}">
                <a16:creationId xmlns:a16="http://schemas.microsoft.com/office/drawing/2014/main" xmlns="" id="{C4ED8C95-7FD7-4382-B595-E1AE62237208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CA1A2A8D-C899-442D-B219-34A3331A512A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40F186CE-0F53-428E-84EB-E43CBE569A65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6156" grpId="0"/>
      <p:bldP spid="61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C:\Documents and Settings\Administrator\Application Data\Tencent\Users\2554662579\QQ\WinTemp\RichOle\O8{])I`K{QRFH8S{U9{~9]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772" y="3384517"/>
            <a:ext cx="3881437" cy="284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110284" y="2325654"/>
            <a:ext cx="33956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Reduce</a:t>
            </a:r>
          </a:p>
          <a:p>
            <a:pPr algn="ctr" defTabSz="914400"/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internal resistance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089197" y="1133610"/>
            <a:ext cx="50752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</a:rPr>
              <a:t>Structure and Symbol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3730997" y="6122954"/>
            <a:ext cx="1358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zh-CN" sz="32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2DR</a:t>
            </a:r>
            <a:endParaRPr lang="zh-CN" altLang="en-US" sz="3200" b="1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9" name="组合 12"/>
          <p:cNvGrpSpPr>
            <a:grpSpLocks/>
          </p:cNvGrpSpPr>
          <p:nvPr/>
        </p:nvGrpSpPr>
        <p:grpSpPr bwMode="auto">
          <a:xfrm>
            <a:off x="7272709" y="3749642"/>
            <a:ext cx="1350963" cy="2198687"/>
            <a:chOff x="4608512" y="3136896"/>
            <a:chExt cx="1350981" cy="2198038"/>
          </a:xfrm>
        </p:grpSpPr>
        <p:sp>
          <p:nvSpPr>
            <p:cNvPr id="10" name="TextBox 5"/>
            <p:cNvSpPr txBox="1">
              <a:spLocks noChangeArrowheads="1"/>
            </p:cNvSpPr>
            <p:nvPr/>
          </p:nvSpPr>
          <p:spPr bwMode="auto">
            <a:xfrm>
              <a:off x="4608512" y="4815975"/>
              <a:ext cx="1350981" cy="518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/>
              <a:r>
                <a:rPr lang="en-US" altLang="zh-CN" sz="2800" b="1">
                  <a:latin typeface="Times New Roman" pitchFamily="18" charset="0"/>
                </a:rPr>
                <a:t>Symbol</a:t>
              </a:r>
              <a:endParaRPr lang="zh-CN" altLang="en-US" sz="2800" b="1"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707076" y="3136896"/>
              <a:ext cx="1033339" cy="1675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" name="图片 10" descr="光电池2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25309" y="2544729"/>
            <a:ext cx="21034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11" descr="光电池1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061822" y="4260817"/>
            <a:ext cx="2081212" cy="186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BD5006AC-6A5D-4250-B75C-AA9D2A2ED313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硅光电池的工作原理与基本结构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E61AEFA3-E01F-4F8A-B9AC-38710B0B721B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8E0C19A8-EBC2-4426-8480-F176F604EDDE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xmlns="" id="{EE1F5EF2-CF4B-40A2-852E-558353F29B33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58">
            <a:extLst>
              <a:ext uri="{FF2B5EF4-FFF2-40B4-BE49-F238E27FC236}">
                <a16:creationId xmlns:a16="http://schemas.microsoft.com/office/drawing/2014/main" xmlns="" id="{3FD2472E-0F2C-4EA9-A714-E0161246BD85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00A1E66B-69C3-439D-870F-268AD2800063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51BE89E4-8D2F-4207-8A7E-6E2DC99E9C82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33305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1823621" y="3228142"/>
            <a:ext cx="11676915" cy="1466240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kumimoji="1" lang="en-US" altLang="zh-CN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硅光电池特性参数  </a:t>
            </a:r>
            <a:r>
              <a:rPr kumimoji="1"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Characteristic Parameter </a:t>
            </a:r>
          </a:p>
          <a:p>
            <a:pPr algn="ctr">
              <a:spcBef>
                <a:spcPts val="800"/>
              </a:spcBef>
            </a:pP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-225570" y="3342501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15311" y="293282"/>
            <a:ext cx="96931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96191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675073" y="1133745"/>
            <a:ext cx="8677072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光电特性（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Photo-electricity Characteristics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36137"/>
              </p:ext>
            </p:extLst>
          </p:nvPr>
        </p:nvGraphicFramePr>
        <p:xfrm>
          <a:off x="1890713" y="2193925"/>
          <a:ext cx="4360862" cy="43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4" name="Visio" r:id="rId3" imgW="2581560" imgH="2599560" progId="Visio.Drawing.11">
                  <p:embed/>
                </p:oleObj>
              </mc:Choice>
              <mc:Fallback>
                <p:oleObj name="Visio" r:id="rId3" imgW="2581560" imgH="2599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2193925"/>
                        <a:ext cx="4360862" cy="4389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423604"/>
              </p:ext>
            </p:extLst>
          </p:nvPr>
        </p:nvGraphicFramePr>
        <p:xfrm>
          <a:off x="7397750" y="2516188"/>
          <a:ext cx="4244975" cy="415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5" name="Visio" r:id="rId5" imgW="2429280" imgH="2378160" progId="Visio.Drawing.11">
                  <p:embed/>
                </p:oleObj>
              </mc:Choice>
              <mc:Fallback>
                <p:oleObj name="Visio" r:id="rId5" imgW="2429280" imgH="23781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2516188"/>
                        <a:ext cx="4244975" cy="4159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60">
            <a:extLst>
              <a:ext uri="{FF2B5EF4-FFF2-40B4-BE49-F238E27FC236}">
                <a16:creationId xmlns:a16="http://schemas.microsoft.com/office/drawing/2014/main" xmlns="" id="{0DABBD74-C985-459B-AAC7-8DC78964931E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BD5A1B55-5767-414D-9719-A077DAA30130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6B4D8037-FD91-4DC5-A0DA-E98DF4BB061C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xmlns="" id="{D479E0F1-6B25-4250-8514-E06EC3AE76E5}"/>
              </a:ext>
            </a:extLst>
          </p:cNvPr>
          <p:cNvSpPr/>
          <p:nvPr/>
        </p:nvSpPr>
        <p:spPr>
          <a:xfrm>
            <a:off x="331077" y="293282"/>
            <a:ext cx="9535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连接符 58">
            <a:extLst>
              <a:ext uri="{FF2B5EF4-FFF2-40B4-BE49-F238E27FC236}">
                <a16:creationId xmlns:a16="http://schemas.microsoft.com/office/drawing/2014/main" xmlns="" id="{CC920173-8CA7-47E7-9695-451463D529E8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2815695F-BE59-4FDA-9E1D-057E96F3CC21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04B6623F-72CE-41EC-A532-F372F4F8C3ED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0582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537861"/>
              </p:ext>
            </p:extLst>
          </p:nvPr>
        </p:nvGraphicFramePr>
        <p:xfrm>
          <a:off x="6215063" y="1916113"/>
          <a:ext cx="5846762" cy="529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4" name="Visio" r:id="rId3" imgW="2484000" imgH="2249280" progId="Visio.Drawing.11">
                  <p:embed/>
                </p:oleObj>
              </mc:Choice>
              <mc:Fallback>
                <p:oleObj name="Visio" r:id="rId3" imgW="2484000" imgH="22492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1916113"/>
                        <a:ext cx="5846762" cy="5299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313695" y="1189037"/>
            <a:ext cx="989451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光谱响应（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Spectral response characteristic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05990" y="2841731"/>
            <a:ext cx="4754562" cy="1482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普通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2CR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型硅光电池光谱响应范围为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0.4~1.1μm</a:t>
            </a:r>
            <a:endParaRPr lang="zh-CN" altLang="en-US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28240" y="5247178"/>
            <a:ext cx="5125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峰值波长为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0.8~0.9μm</a:t>
            </a:r>
            <a:endParaRPr lang="zh-CN" altLang="en-US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E487A355-9005-4374-A27D-0507EC33E55A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E436E288-17AD-4E71-A1C9-5ECE422A141B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7250FBB-E011-4219-A48E-95BA71A6E6BD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3845362D-AE42-484B-8DEB-0431B7EE3036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B1E69E97-5ACA-4C64-9D07-69AABB480505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8CF09B6-8FE0-4165-9C0A-6348D49F0507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51EBFB8-EB8D-43C3-978E-21760403494E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8819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043095" y="872815"/>
            <a:ext cx="8365821" cy="646331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电流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电压特性曲线（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I-V characteristic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3600" b="1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3" descr="C:\Documents and Settings\Administrator\Application Data\Tencent\Users\2554662579\QQ\WinTemp\RichOle\~XLO8DICBZ%7RS~P%B0(UG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2266544"/>
            <a:ext cx="4749267" cy="325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46979" y="5845715"/>
            <a:ext cx="530907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altLang="zh-CN" sz="28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Photovoltaic operation is always in the negative current region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629310"/>
              </p:ext>
            </p:extLst>
          </p:nvPr>
        </p:nvGraphicFramePr>
        <p:xfrm>
          <a:off x="7089775" y="1641475"/>
          <a:ext cx="4692650" cy="406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8" name="Visio" r:id="rId4" imgW="2579760" imgH="2238480" progId="Visio.Drawing.11">
                  <p:embed/>
                </p:oleObj>
              </mc:Choice>
              <mc:Fallback>
                <p:oleObj name="Visio" r:id="rId4" imgW="2579760" imgH="22384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9775" y="1641475"/>
                        <a:ext cx="4692650" cy="4068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82511" y="5725108"/>
            <a:ext cx="7286016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硅光电池伏安特性表示在一定的光照下，硅光电池在连接不同负载电阻时，所输出的电流和电压的关系。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265082D6-CDF6-43C4-83BB-DB8CED9DB062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45234237-A4A0-41EE-9D3A-5AC29090CE4B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D9C835F5-24BB-4881-9036-85DA5A71092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D42F2F61-58D0-410E-A69A-471538406617}"/>
              </a:ext>
            </a:extLst>
          </p:cNvPr>
          <p:cNvSpPr/>
          <p:nvPr/>
        </p:nvSpPr>
        <p:spPr>
          <a:xfrm>
            <a:off x="336331" y="293282"/>
            <a:ext cx="94829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0A1E0BB8-3D26-4D7B-A59A-537AE71F8965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4CC32CF-1541-4189-BBFD-DF1FE444E140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354FA570-8448-4C3E-A57B-1485E512578E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07641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6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198439"/>
              </p:ext>
            </p:extLst>
          </p:nvPr>
        </p:nvGraphicFramePr>
        <p:xfrm>
          <a:off x="3921125" y="1458913"/>
          <a:ext cx="5889625" cy="580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2" name="Visio" r:id="rId3" imgW="2601360" imgH="2563560" progId="Visio.Drawing.11">
                  <p:embed/>
                </p:oleObj>
              </mc:Choice>
              <mc:Fallback>
                <p:oleObj name="Visio" r:id="rId3" imgW="2601360" imgH="2563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1458913"/>
                        <a:ext cx="5889625" cy="5805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243904" y="872815"/>
            <a:ext cx="7937804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频率特性（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Frequency characteristic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endParaRPr lang="zh-CN" altLang="en-US" sz="3600" b="1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E231562-80AA-4228-9C6D-9DEC3022661E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2C49E109-D43C-4B1F-8ECD-73B2791A3FEC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22B2D430-4349-4349-9910-892D290C08FE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37C31EC1-3FDB-4CB0-A0ED-22E34621414F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29B7BFFC-1E2E-4E76-BCA2-DDF79B4D5BD1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09EEC6C8-5DC6-4793-8DB1-F37C6956AD65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EBE644B-C39B-4DE8-9FA7-171C83C75571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F11552CF-BE13-49EC-AB28-AD0C076D8856}"/>
              </a:ext>
            </a:extLst>
          </p:cNvPr>
          <p:cNvSpPr/>
          <p:nvPr/>
        </p:nvSpPr>
        <p:spPr>
          <a:xfrm>
            <a:off x="336331" y="293282"/>
            <a:ext cx="94829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078163" y="938523"/>
            <a:ext cx="7856537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 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温度特性（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Temperature characteristic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35195" y="2623701"/>
            <a:ext cx="6650468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开路电压</a:t>
            </a:r>
            <a:r>
              <a:rPr 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具有负温度系数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即随着温度的升高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值反而减小，其值为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2~3mV/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℃</a:t>
            </a: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716755" y="4779090"/>
            <a:ext cx="648734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短路电流具有正温度系数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即随着温度的升高，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值增大，但增大比例很小。</a:t>
            </a:r>
          </a:p>
        </p:txBody>
      </p:sp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586A23B8-D004-4C23-8A67-0E0D008F2552}"/>
              </a:ext>
            </a:extLst>
          </p:cNvPr>
          <p:cNvSpPr txBox="1"/>
          <p:nvPr/>
        </p:nvSpPr>
        <p:spPr>
          <a:xfrm>
            <a:off x="1363121" y="293282"/>
            <a:ext cx="4979871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硅光电池特性参数 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 Parameter </a:t>
            </a:r>
          </a:p>
          <a:p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546F7A4-82C8-4F80-977A-41074BB84C60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EA2774-DA1C-48A8-9181-FACE86E76508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FA88E230-43A4-482D-91D5-FDF5756CBD30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4029AD69-9023-4A00-A7AC-FAA012DF3286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496606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7540939-7A02-40EE-B010-172B3B96785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3B3EFF61-3EF8-4EB5-A666-A075522E79B9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xmlns="" id="{0C1A4693-8B43-41FD-AF12-047DB5EBB7E8}"/>
              </a:ext>
            </a:extLst>
          </p:cNvPr>
          <p:cNvSpPr/>
          <p:nvPr/>
        </p:nvSpPr>
        <p:spPr>
          <a:xfrm>
            <a:off x="336331" y="293282"/>
            <a:ext cx="94829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142961"/>
              </p:ext>
            </p:extLst>
          </p:nvPr>
        </p:nvGraphicFramePr>
        <p:xfrm>
          <a:off x="7924800" y="2389713"/>
          <a:ext cx="4991099" cy="4271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7" name="Visio" r:id="rId3" imgW="2981330" imgH="2543107" progId="Visio.Drawing.15">
                  <p:embed/>
                </p:oleObj>
              </mc:Choice>
              <mc:Fallback>
                <p:oleObj name="Visio" r:id="rId3" imgW="2981330" imgH="2543107" progId="Visio.Drawing.15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389713"/>
                        <a:ext cx="4991099" cy="4271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386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光电池偏置电路与应用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4"/>
          <p:cNvSpPr txBox="1">
            <a:spLocks noChangeArrowheads="1"/>
          </p:cNvSpPr>
          <p:nvPr/>
        </p:nvSpPr>
        <p:spPr bwMode="auto">
          <a:xfrm>
            <a:off x="3488632" y="1098906"/>
            <a:ext cx="6720328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自偏置电路（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Self-bias Circuit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15366" name="TextBox 4"/>
          <p:cNvSpPr txBox="1">
            <a:spLocks noChangeArrowheads="1"/>
          </p:cNvSpPr>
          <p:nvPr/>
        </p:nvSpPr>
        <p:spPr bwMode="auto">
          <a:xfrm>
            <a:off x="700088" y="1871123"/>
            <a:ext cx="12297416" cy="195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光电池工作时无外加偏压，直接与负载电阻连接，其输出电流通过外电路负载电阻产生的压降就是它自身的正向偏压，故称为自偏压，其电路称为自偏置电路。</a:t>
            </a:r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191538"/>
              </p:ext>
            </p:extLst>
          </p:nvPr>
        </p:nvGraphicFramePr>
        <p:xfrm>
          <a:off x="7130547" y="4675131"/>
          <a:ext cx="22225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0" name="Equation" r:id="rId3" imgW="685800" imgH="228600" progId="Equation.DSMT4">
                  <p:embed/>
                </p:oleObj>
              </mc:Choice>
              <mc:Fallback>
                <p:oleObj name="Equation" r:id="rId3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547" y="4675131"/>
                        <a:ext cx="22225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489577"/>
              </p:ext>
            </p:extLst>
          </p:nvPr>
        </p:nvGraphicFramePr>
        <p:xfrm>
          <a:off x="2397648" y="3469593"/>
          <a:ext cx="3310943" cy="3565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1" name="Visio" r:id="rId5" imgW="1914448" imgH="2066879" progId="Visio.Drawing.15">
                  <p:embed/>
                </p:oleObj>
              </mc:Choice>
              <mc:Fallback>
                <p:oleObj name="Visio" r:id="rId5" imgW="1914448" imgH="2066879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648" y="3469593"/>
                        <a:ext cx="3310943" cy="3565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D8BE2E37-A800-4F64-9FE5-5A501E46608E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3910215-926C-46C9-8294-D6F50715F6EF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02F34B11-09D1-4F11-8CC6-E075B9C800D8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C890D59A-0129-4877-B44A-4D5B79264BC6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4322DFD-5398-475F-BB06-39BB093FE2C0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32105BAE-F3B6-4E9F-AE40-32C9C36C65E0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AA05B6FF-6DC5-464F-B494-F4B6D05A9C6B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92D3DD06-9197-49A7-AAC7-44799B1D7505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69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153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003425" y="1398874"/>
            <a:ext cx="9543307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线性电流放大区（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linear current  Amplifier Region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52230" name="TextBox 10"/>
          <p:cNvSpPr txBox="1">
            <a:spLocks noChangeArrowheads="1"/>
          </p:cNvSpPr>
          <p:nvPr/>
        </p:nvSpPr>
        <p:spPr bwMode="auto">
          <a:xfrm>
            <a:off x="780480" y="3320132"/>
            <a:ext cx="5731415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光电池工作在</a:t>
            </a:r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Ⅲ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</a:t>
            </a:r>
            <a:endParaRPr lang="en-US" altLang="zh-CN" sz="32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负载电阻较小，其输出电流与光照有较好的线性关系。该区域称为短路或线性电流放大区。</a:t>
            </a:r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72477"/>
              </p:ext>
            </p:extLst>
          </p:nvPr>
        </p:nvGraphicFramePr>
        <p:xfrm>
          <a:off x="6511895" y="2378075"/>
          <a:ext cx="5654705" cy="5079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4" name="Visio" r:id="rId3" imgW="2513160" imgH="2261880" progId="Visio.Drawing.11">
                  <p:embed/>
                </p:oleObj>
              </mc:Choice>
              <mc:Fallback>
                <p:oleObj name="Visio" r:id="rId3" imgW="2513160" imgH="22618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895" y="2378075"/>
                        <a:ext cx="5654705" cy="5079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285A6071-E67D-4781-B928-91A76C771B14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F0D67BD5-6ABD-4ACB-9B53-397E1D2C018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0FB6ECBC-DDD6-4F58-82B0-D97A500DECCE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9216D8B0-E850-422F-A015-0D74F9FD75F3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7E9A816C-2D96-49A7-AB9E-674227CC4C40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6F359B4B-B477-4567-B0B9-AFA5B733A2AF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1DB4E13-84CB-4A53-88FB-C74AE28E9E5B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73D3B956-C65D-4D9F-8200-A27C54A8329C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97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22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3220734" y="3773488"/>
          <a:ext cx="15843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58" name="公式" r:id="rId3" imgW="698400" imgH="419040" progId="Equation.3">
                  <p:embed/>
                </p:oleObj>
              </mc:Choice>
              <mc:Fallback>
                <p:oleObj name="公式" r:id="rId3" imgW="698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0734" y="3773488"/>
                        <a:ext cx="1584325" cy="963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460435"/>
              </p:ext>
            </p:extLst>
          </p:nvPr>
        </p:nvGraphicFramePr>
        <p:xfrm>
          <a:off x="4754563" y="6099175"/>
          <a:ext cx="38877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59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6099175"/>
                        <a:ext cx="3887787" cy="8032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848098"/>
              </p:ext>
            </p:extLst>
          </p:nvPr>
        </p:nvGraphicFramePr>
        <p:xfrm>
          <a:off x="7510463" y="1403350"/>
          <a:ext cx="5292725" cy="442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60" name="Visio" r:id="rId7" imgW="2649240" imgH="2221920" progId="Visio.Drawing.11">
                  <p:embed/>
                </p:oleObj>
              </mc:Choice>
              <mc:Fallback>
                <p:oleObj name="Visio" r:id="rId7" imgW="2649240" imgH="22219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1403350"/>
                        <a:ext cx="5292725" cy="4429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14413" y="1757363"/>
            <a:ext cx="6320242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光电池与运算放大器相连，运算放大器输入端的输入阻抗</a:t>
            </a:r>
            <a:r>
              <a:rPr lang="en-US" sz="28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就是光电池的负载电阻</a:t>
            </a:r>
          </a:p>
        </p:txBody>
      </p:sp>
      <p:graphicFrame>
        <p:nvGraphicFramePr>
          <p:cNvPr id="133125" name="Object 5"/>
          <p:cNvGraphicFramePr>
            <a:graphicFrameLocks noChangeAspect="1"/>
          </p:cNvGraphicFramePr>
          <p:nvPr/>
        </p:nvGraphicFramePr>
        <p:xfrm>
          <a:off x="985905" y="5036293"/>
          <a:ext cx="1225482" cy="544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61" name="Equation" r:id="rId9" imgW="431613" imgH="190417" progId="Equation.DSMT4">
                  <p:embed/>
                </p:oleObj>
              </mc:Choice>
              <mc:Fallback>
                <p:oleObj name="Equation" r:id="rId9" imgW="431613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905" y="5036293"/>
                        <a:ext cx="1225482" cy="54489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7" name="Object 7"/>
          <p:cNvGraphicFramePr>
            <a:graphicFrameLocks noChangeAspect="1"/>
          </p:cNvGraphicFramePr>
          <p:nvPr/>
        </p:nvGraphicFramePr>
        <p:xfrm>
          <a:off x="2820988" y="5087519"/>
          <a:ext cx="1671874" cy="556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62" name="Equation" r:id="rId11" imgW="685800" imgH="228600" progId="Equation.DSMT4">
                  <p:embed/>
                </p:oleObj>
              </mc:Choice>
              <mc:Fallback>
                <p:oleObj name="Equation" r:id="rId11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5087519"/>
                        <a:ext cx="1671874" cy="5566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/>
        </p:nvGraphicFramePr>
        <p:xfrm>
          <a:off x="4838812" y="5084931"/>
          <a:ext cx="2151704" cy="56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63" name="公式" r:id="rId13" imgW="863225" imgH="228501" progId="Equation.3">
                  <p:embed/>
                </p:oleObj>
              </mc:Choice>
              <mc:Fallback>
                <p:oleObj name="公式" r:id="rId13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812" y="5084931"/>
                        <a:ext cx="2151704" cy="567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C8559216-AE63-4E5F-AC07-A206051A2871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8BED0E9E-330E-4C08-9723-C400E4BD56C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8697F5AE-B1D4-4BF8-92F0-D65010504D19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xmlns="" id="{E8864599-762E-4BC2-953F-A879F7E2B7D1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连接符 58">
            <a:extLst>
              <a:ext uri="{FF2B5EF4-FFF2-40B4-BE49-F238E27FC236}">
                <a16:creationId xmlns:a16="http://schemas.microsoft.com/office/drawing/2014/main" xmlns="" id="{A566594A-5812-44E7-97A5-3C7DA9A2D05A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797382D8-4F4A-44D3-8F6E-662A48DE5165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33921AB8-72A3-48BE-8D3F-3AE1A21B76C0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F4E42BC5-98B4-44C3-99EB-80210F873BBB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5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2631259" y="1081088"/>
            <a:ext cx="8184480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电压放大区（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Voltage Amplifier Region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442373"/>
              </p:ext>
            </p:extLst>
          </p:nvPr>
        </p:nvGraphicFramePr>
        <p:xfrm>
          <a:off x="8126413" y="2463800"/>
          <a:ext cx="4800600" cy="423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2" name="Visio" r:id="rId3" imgW="2513160" imgH="2218680" progId="Visio.Drawing.11">
                  <p:embed/>
                </p:oleObj>
              </mc:Choice>
              <mc:Fallback>
                <p:oleObj name="Visio" r:id="rId3" imgW="2513160" imgH="22186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6413" y="2463800"/>
                        <a:ext cx="4800600" cy="4233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16756" y="2802749"/>
            <a:ext cx="697044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光电池工作在区域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Ⅰ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负载电阻很大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近似于开路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，光电池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输出电流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I=0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。该区域称为空载电压输出区。当入射光信号从“无”到“有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做跳跃式变化时，硅光电池输出电压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跳跃到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0.45~0.6V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0A068636-0087-47E9-95F3-125C8529DD1F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0A3C9D48-0837-49A8-A482-9CF46D4853EE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00FE2D7-2098-48D8-B36F-AC997E7F872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AB42DCE6-7F07-41CD-8F6E-9F36E4B093AE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5B2BCC91-01F2-4771-8D0A-4E3D37353EB7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E3603130-12E3-4EDC-A6A8-92756C285FC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42996872-77BB-473C-AF99-4A15B7C23A09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BA94C413-18B4-4034-B213-AF967AB11875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98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6967"/>
              </p:ext>
            </p:extLst>
          </p:nvPr>
        </p:nvGraphicFramePr>
        <p:xfrm>
          <a:off x="1749425" y="4265613"/>
          <a:ext cx="39052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4" name="Equation" r:id="rId3" imgW="1752480" imgH="431640" progId="Equation.DSMT4">
                  <p:embed/>
                </p:oleObj>
              </mc:Choice>
              <mc:Fallback>
                <p:oleObj name="Equation" r:id="rId3" imgW="1752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4265613"/>
                        <a:ext cx="3905250" cy="9779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615607"/>
              </p:ext>
            </p:extLst>
          </p:nvPr>
        </p:nvGraphicFramePr>
        <p:xfrm>
          <a:off x="1920875" y="3003011"/>
          <a:ext cx="30035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5" name="公式" r:id="rId5" imgW="1053643" imgH="215806" progId="Equation.3">
                  <p:embed/>
                </p:oleObj>
              </mc:Choice>
              <mc:Fallback>
                <p:oleObj name="公式" r:id="rId5" imgW="105364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3003011"/>
                        <a:ext cx="3003550" cy="622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903255"/>
              </p:ext>
            </p:extLst>
          </p:nvPr>
        </p:nvGraphicFramePr>
        <p:xfrm>
          <a:off x="6392863" y="1957388"/>
          <a:ext cx="5614987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6" name="Visio" r:id="rId7" imgW="2810160" imgH="1883880" progId="Visio.Drawing.11">
                  <p:embed/>
                </p:oleObj>
              </mc:Choice>
              <mc:Fallback>
                <p:oleObj name="Visio" r:id="rId7" imgW="2810160" imgH="18838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2863" y="1957388"/>
                        <a:ext cx="5614987" cy="3771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BBFBA9F7-1226-47C4-8844-E86B1B76F826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213B6A58-403D-44FB-990F-3AB09BB4CC28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5DF5CAF1-4BF3-43D6-8BC2-DFB65E30C02B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2EB7D980-1C39-49C8-8557-1DDFA7AEEB10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56F48D9D-9F65-4571-B739-9BB0698B2033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412EE070-2F61-4F71-B88A-2A8C2E189169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C343CDA7-C065-4255-BFEC-73C62D41DC8E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3A9CF6E1-85D6-42BE-BA3D-DAA69EA3EA1B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6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Box 1"/>
          <p:cNvSpPr txBox="1">
            <a:spLocks noChangeArrowheads="1"/>
          </p:cNvSpPr>
          <p:nvPr/>
        </p:nvSpPr>
        <p:spPr bwMode="auto">
          <a:xfrm>
            <a:off x="2676456" y="1229198"/>
            <a:ext cx="8179612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功率放大区域（</a:t>
            </a: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Power Amplifier Region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6146" name="Object 1"/>
          <p:cNvGraphicFramePr>
            <a:graphicFrameLocks noChangeAspect="1"/>
          </p:cNvGraphicFramePr>
          <p:nvPr/>
        </p:nvGraphicFramePr>
        <p:xfrm>
          <a:off x="3738877" y="5999805"/>
          <a:ext cx="26971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8" name="公式" r:id="rId3" imgW="1180588" imgH="444307" progId="Equation.3">
                  <p:embed/>
                </p:oleObj>
              </mc:Choice>
              <mc:Fallback>
                <p:oleObj name="公式" r:id="rId3" imgW="118058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877" y="5999805"/>
                        <a:ext cx="2697163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7978743" y="6036316"/>
          <a:ext cx="19558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9" name="公式" r:id="rId5" imgW="799753" imgH="393529" progId="Equation.3">
                  <p:embed/>
                </p:oleObj>
              </mc:Choice>
              <mc:Fallback>
                <p:oleObj name="公式" r:id="rId5" imgW="79975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43" y="6036316"/>
                        <a:ext cx="1955800" cy="954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670589"/>
              </p:ext>
            </p:extLst>
          </p:nvPr>
        </p:nvGraphicFramePr>
        <p:xfrm>
          <a:off x="4314825" y="1779588"/>
          <a:ext cx="5087938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90" name="Visio" r:id="rId7" imgW="2513160" imgH="2218680" progId="Visio.Drawing.11">
                  <p:embed/>
                </p:oleObj>
              </mc:Choice>
              <mc:Fallback>
                <p:oleObj name="Visio" r:id="rId7" imgW="2513160" imgH="22186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825" y="1779588"/>
                        <a:ext cx="5087938" cy="448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A47D5D87-EA34-46F9-B825-9D235EF7FAF4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202D6BC-F54E-4EE4-956F-179A3FB896A8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C598BAD-F227-4C75-B9DA-A67C37C67881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xmlns="" id="{87A7B19E-6467-48C5-A6C5-EEC0EAED773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EAEAD141-37C9-48C3-B960-F549D7B2E5E1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6ED813BE-C15F-418A-A40F-A02A51958869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256310A5-E11F-490E-AF9F-DB758B473DD4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xmlns="" id="{FFB09D5B-1DCD-4A7B-B5C3-73DF23495B57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85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4" name="Text Box 2"/>
          <p:cNvSpPr txBox="1">
            <a:spLocks noChangeArrowheads="1"/>
          </p:cNvSpPr>
          <p:nvPr/>
        </p:nvSpPr>
        <p:spPr bwMode="auto">
          <a:xfrm>
            <a:off x="3797007" y="3382355"/>
            <a:ext cx="61341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4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光电池应用电路</a:t>
            </a:r>
            <a:endParaRPr lang="en-US" altLang="zh-CN" sz="4800" b="1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文本框 60">
            <a:extLst>
              <a:ext uri="{FF2B5EF4-FFF2-40B4-BE49-F238E27FC236}">
                <a16:creationId xmlns:a16="http://schemas.microsoft.com/office/drawing/2014/main" xmlns="" id="{A61A81C6-9B3A-4E44-BDE7-3923948B58FB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1D9A6BB8-FA8E-4D56-B482-85204151505B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46651663-B21B-4ED1-BC4E-5B0F78559931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xmlns="" id="{1D414268-A486-4E32-8B6E-E0D5F787BF60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C819886E-0437-44FF-B3F5-43231534E0E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5044EBE-49E3-4D3A-8B1D-A00D9C7052CE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F105C44-7985-466C-8ADC-CB8FFACB7A68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1BB2F45A-30A1-41BE-B1D4-F4A1A60BB409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65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8" name="Picture 3" descr="C:\Documents and Settings\Administrator\Application Data\Tencent\Users\2554662579\QQ\WinTemp\RichOle\LOPY@R4ZMJD~E(Z4BVDS6]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1432" y="2331550"/>
            <a:ext cx="81534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TextBox 3"/>
          <p:cNvSpPr txBox="1">
            <a:spLocks noChangeArrowheads="1"/>
          </p:cNvSpPr>
          <p:nvPr/>
        </p:nvSpPr>
        <p:spPr bwMode="auto">
          <a:xfrm>
            <a:off x="4821238" y="1137326"/>
            <a:ext cx="2827338" cy="579438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altLang="zh-CN" sz="3200" b="1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Application</a:t>
            </a:r>
            <a:endParaRPr lang="zh-CN" altLang="en-US" sz="3200" b="1">
              <a:solidFill>
                <a:srgbClr val="0000CC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8AB1CF61-6867-4604-8F7C-234E7CFAE347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EAD642CB-C997-464C-BBC7-FE8610B94481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4D3CCEE4-0B64-4C2D-BF43-1AFA39096AC6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60E7B23D-139F-40FF-942A-E7304BD200FF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7200139D-9F2F-4994-A55F-79C9BFBA4535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A208599-9E3D-4FE5-AE44-61C691D17B81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CCC4E22C-7657-4678-B281-D63ED8282ABB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A46F8C4A-2F0D-4925-BF67-70025025268A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43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72" name="Object 2"/>
          <p:cNvGraphicFramePr>
            <a:graphicFrameLocks noChangeAspect="1"/>
          </p:cNvGraphicFramePr>
          <p:nvPr/>
        </p:nvGraphicFramePr>
        <p:xfrm>
          <a:off x="2820988" y="1399027"/>
          <a:ext cx="7818438" cy="397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4" name="Visio" r:id="rId3" imgW="4058280" imgH="2061360" progId="Visio.Drawing.11">
                  <p:embed/>
                </p:oleObj>
              </mc:Choice>
              <mc:Fallback>
                <p:oleObj name="Visio" r:id="rId3" imgW="4058280" imgH="20613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1399027"/>
                        <a:ext cx="7818438" cy="397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3" name="TextBox 2"/>
          <p:cNvSpPr txBox="1">
            <a:spLocks noChangeArrowheads="1"/>
          </p:cNvSpPr>
          <p:nvPr/>
        </p:nvSpPr>
        <p:spPr bwMode="auto">
          <a:xfrm>
            <a:off x="2701632" y="5758403"/>
            <a:ext cx="8324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增加串联数提高电压，增加并联数提高电流</a:t>
            </a: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0CFBD9E8-A272-4462-85D2-5E93377D6DC5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B7ED650-80CB-40ED-A4E6-1AFDB9C49465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B61542F-0588-47F5-9F96-9E812842320A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04F52192-348C-4CD6-B41A-63D24727B39F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DB29529E-77A0-479D-9321-E00546F1413D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C24E021-EB00-47D8-8C4B-D9D35F5D1C8D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BFF9E39-6377-4096-9F4E-16E877A36126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6FF6B886-A1FB-4BC3-9A28-1967D91CCDC8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8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6" name="Object 4"/>
          <p:cNvGraphicFramePr>
            <a:graphicFrameLocks noChangeAspect="1"/>
          </p:cNvGraphicFramePr>
          <p:nvPr/>
        </p:nvGraphicFramePr>
        <p:xfrm>
          <a:off x="7958814" y="3324327"/>
          <a:ext cx="4745509" cy="371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8" name="Visio" r:id="rId3" imgW="2113560" imgH="1658520" progId="Visio.Drawing.11">
                  <p:embed/>
                </p:oleObj>
              </mc:Choice>
              <mc:Fallback>
                <p:oleObj name="Visio" r:id="rId3" imgW="2113560" imgH="16585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814" y="3324327"/>
                        <a:ext cx="4745509" cy="3718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7" name="TextBox 4"/>
          <p:cNvSpPr txBox="1">
            <a:spLocks noChangeArrowheads="1"/>
          </p:cNvSpPr>
          <p:nvPr/>
        </p:nvSpPr>
        <p:spPr bwMode="auto">
          <a:xfrm>
            <a:off x="906733" y="1063085"/>
            <a:ext cx="11690586" cy="2220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5-18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为光电池构成的光电跟踪电路。用两只性能相似的同类型光电池作为光电接收器件，当入射光能量相同时，执行机构按预定的方式工作或进行跟踪。</a:t>
            </a:r>
          </a:p>
        </p:txBody>
      </p:sp>
      <p:sp>
        <p:nvSpPr>
          <p:cNvPr id="114698" name="TextBox 5"/>
          <p:cNvSpPr txBox="1">
            <a:spLocks noChangeArrowheads="1"/>
          </p:cNvSpPr>
          <p:nvPr/>
        </p:nvSpPr>
        <p:spPr bwMode="auto">
          <a:xfrm>
            <a:off x="575992" y="4484722"/>
            <a:ext cx="7252511" cy="1482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当系统略有偏差时，电路输出差动信号执行纠正，以此达到跟踪的目的。</a:t>
            </a: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563E58E6-E74F-4E99-B354-AAE245FB11F7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7A38CCA-C71E-4320-A422-9B22224D3D67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C01582F-4B89-4C4D-9210-678612BE05CE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949D3FB2-2558-477A-A09B-CEC099BC760E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5AC65DB9-7D97-49C9-B8F5-86E76814BF38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C9AB1FC-7C68-4444-A2EC-DC34D5CE1A27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1D0375EF-3FC7-41B0-BEE2-8D4656009393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245E0B12-DD5B-4968-98B0-269351ACF1FA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73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918723"/>
              </p:ext>
            </p:extLst>
          </p:nvPr>
        </p:nvGraphicFramePr>
        <p:xfrm>
          <a:off x="7570788" y="2522538"/>
          <a:ext cx="5462587" cy="482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2" name="Visio" r:id="rId3" imgW="2077560" imgH="1834920" progId="Visio.Drawing.11">
                  <p:embed/>
                </p:oleObj>
              </mc:Choice>
              <mc:Fallback>
                <p:oleObj name="Visio" r:id="rId3" imgW="2077560" imgH="18349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0788" y="2522538"/>
                        <a:ext cx="5462587" cy="4821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1" name="TextBox 2"/>
          <p:cNvSpPr txBox="1">
            <a:spLocks noChangeArrowheads="1"/>
          </p:cNvSpPr>
          <p:nvPr/>
        </p:nvSpPr>
        <p:spPr bwMode="auto">
          <a:xfrm>
            <a:off x="803241" y="1063998"/>
            <a:ext cx="1158979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5-19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所示电路为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光电开关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，多用于自动控制系统中。当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无光照射时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，系统处于某一工作状态，例如，接通状态或断开状态。</a:t>
            </a:r>
          </a:p>
        </p:txBody>
      </p:sp>
      <p:sp>
        <p:nvSpPr>
          <p:cNvPr id="115722" name="TextBox 3"/>
          <p:cNvSpPr txBox="1">
            <a:spLocks noChangeArrowheads="1"/>
          </p:cNvSpPr>
          <p:nvPr/>
        </p:nvSpPr>
        <p:spPr bwMode="auto">
          <a:xfrm>
            <a:off x="716755" y="3407856"/>
            <a:ext cx="6977823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光电池受光照射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时，产生较高的电动势，只要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光强大于某一设定的阈值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，继电器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J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动作，系统就改变工作状态，达到开关目的。</a:t>
            </a: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BA6A76C6-AE6D-41E6-817C-82C6D39FD6C6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D417E75-6B10-445A-834B-6969324AFCFA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50FD06E4-325D-485C-BF06-37739DCFEFD3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CF50E086-960C-4DE0-A4A8-ED3487B9267D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A5D1F697-6A4C-4D6B-B5A8-966010D54B60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1947094-65D4-49E7-A27F-5A1D151D1A8F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488A623D-E6C7-4E13-9226-BA8F45FBDAC9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8F11C75C-9D37-4887-B624-FD471B3D5CEF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8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88711"/>
              </p:ext>
            </p:extLst>
          </p:nvPr>
        </p:nvGraphicFramePr>
        <p:xfrm>
          <a:off x="3170238" y="635000"/>
          <a:ext cx="712470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6" name="Visio" r:id="rId3" imgW="4223880" imgH="2203200" progId="Visio.Drawing.11">
                  <p:embed/>
                </p:oleObj>
              </mc:Choice>
              <mc:Fallback>
                <p:oleObj name="Visio" r:id="rId3" imgW="4223880" imgH="22032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635000"/>
                        <a:ext cx="7124700" cy="3729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5" name="TextBox 2"/>
          <p:cNvSpPr txBox="1">
            <a:spLocks noChangeArrowheads="1"/>
          </p:cNvSpPr>
          <p:nvPr/>
        </p:nvSpPr>
        <p:spPr bwMode="auto">
          <a:xfrm>
            <a:off x="876300" y="4171950"/>
            <a:ext cx="1216849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5-20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为光电池触发电路。当光电池受光照射时，使单稳态或双稳态电路的状态翻转（电路输出信号</a:t>
            </a:r>
            <a:r>
              <a:rPr 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由低电平转为高电平），改变其工作状态或触发器件（如可控硅）导通。</a:t>
            </a: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9BF60B08-9037-4287-8616-20ED8AC8284E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FE1ADF1F-77B7-4E0F-9FE3-6ACD9ED6AAD4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5505584E-7516-49C6-AE2B-B1AE039FFEC4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FEE983B7-30DC-479E-A18C-81AAC6D7AFD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1B00F9AD-549D-46CC-9C5D-5FDAD515C2F7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CC071D6-29A8-4912-BEE4-FECBB77F3D07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714A716C-84B1-483E-8A71-F5D2E6C81EA8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4BD0ADA5-22DA-40F0-A302-405966FDDF7C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439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8" name="TextBox 1"/>
          <p:cNvSpPr txBox="1">
            <a:spLocks noChangeArrowheads="1"/>
          </p:cNvSpPr>
          <p:nvPr/>
        </p:nvSpPr>
        <p:spPr bwMode="auto">
          <a:xfrm>
            <a:off x="698499" y="4714875"/>
            <a:ext cx="12064189" cy="222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       在设计太阳能小屋时，需在建筑物外表面（屋顶及外墙）铺设光伏电池，光伏电池组件所产生的直流电需要经过逆变器转换成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220V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交流电供家庭使用，并将剩余电量输入电网。</a:t>
            </a:r>
          </a:p>
        </p:txBody>
      </p:sp>
      <p:sp>
        <p:nvSpPr>
          <p:cNvPr id="117769" name="TextBox 2"/>
          <p:cNvSpPr txBox="1">
            <a:spLocks noChangeArrowheads="1"/>
          </p:cNvSpPr>
          <p:nvPr/>
        </p:nvSpPr>
        <p:spPr bwMode="auto">
          <a:xfrm>
            <a:off x="3529012" y="1025392"/>
            <a:ext cx="55451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拓展思考：太阳能小屋的设计</a:t>
            </a:r>
          </a:p>
        </p:txBody>
      </p:sp>
      <p:pic>
        <p:nvPicPr>
          <p:cNvPr id="117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7486" y="1940195"/>
            <a:ext cx="4308475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64B3EF18-7265-4871-952F-A19621DB68AD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AF1A310E-0974-4DD2-A9C7-90BA01A0CAC1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A6595837-3B7B-47C3-8234-1D06FF4BD65C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8EEBD190-26CE-468B-81D4-055C3813E78E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1DE4B9B9-BEB0-4877-8BA3-BA1A31E6EBD2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0ED3C965-FCE6-4279-B64B-7E2C9235BC5A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0E18DAD8-27C4-41B7-87FF-B59DF97F56E1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73CD3846-4095-4D5D-AC2C-2239C037836C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80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2" name="TextBox 1">
            <a:hlinkClick r:id="rId2"/>
          </p:cNvPr>
          <p:cNvSpPr txBox="1">
            <a:spLocks noChangeArrowheads="1"/>
          </p:cNvSpPr>
          <p:nvPr/>
        </p:nvSpPr>
        <p:spPr bwMode="auto">
          <a:xfrm>
            <a:off x="1158329" y="970309"/>
            <a:ext cx="11411455" cy="14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不同种类的光伏电池的价格差别很大，且实际发电效率或发电量还受诸多因素的影响。</a:t>
            </a:r>
          </a:p>
        </p:txBody>
      </p:sp>
      <p:sp>
        <p:nvSpPr>
          <p:cNvPr id="118793" name="TextBox 2"/>
          <p:cNvSpPr txBox="1">
            <a:spLocks noChangeArrowheads="1"/>
          </p:cNvSpPr>
          <p:nvPr/>
        </p:nvSpPr>
        <p:spPr bwMode="auto">
          <a:xfrm>
            <a:off x="3902884" y="2939276"/>
            <a:ext cx="21732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太阳辐强度</a:t>
            </a:r>
          </a:p>
        </p:txBody>
      </p:sp>
      <p:sp>
        <p:nvSpPr>
          <p:cNvPr id="118794" name="TextBox 3"/>
          <p:cNvSpPr txBox="1">
            <a:spLocks noChangeArrowheads="1"/>
          </p:cNvSpPr>
          <p:nvPr/>
        </p:nvSpPr>
        <p:spPr bwMode="auto">
          <a:xfrm>
            <a:off x="6103159" y="2918638"/>
            <a:ext cx="22139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光线入射角</a:t>
            </a:r>
          </a:p>
        </p:txBody>
      </p:sp>
      <p:sp>
        <p:nvSpPr>
          <p:cNvPr id="118795" name="TextBox 4"/>
          <p:cNvSpPr txBox="1">
            <a:spLocks noChangeArrowheads="1"/>
          </p:cNvSpPr>
          <p:nvPr/>
        </p:nvSpPr>
        <p:spPr bwMode="auto">
          <a:xfrm>
            <a:off x="8317131" y="2911713"/>
            <a:ext cx="11576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环境</a:t>
            </a:r>
          </a:p>
        </p:txBody>
      </p:sp>
      <p:sp>
        <p:nvSpPr>
          <p:cNvPr id="118796" name="TextBox 5"/>
          <p:cNvSpPr txBox="1">
            <a:spLocks noChangeArrowheads="1"/>
          </p:cNvSpPr>
          <p:nvPr/>
        </p:nvSpPr>
        <p:spPr bwMode="auto">
          <a:xfrm>
            <a:off x="4820991" y="4859517"/>
            <a:ext cx="41411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建筑物所处的地理纬度</a:t>
            </a:r>
          </a:p>
        </p:txBody>
      </p:sp>
      <p:sp>
        <p:nvSpPr>
          <p:cNvPr id="118797" name="TextBox 6"/>
          <p:cNvSpPr txBox="1">
            <a:spLocks noChangeArrowheads="1"/>
          </p:cNvSpPr>
          <p:nvPr/>
        </p:nvSpPr>
        <p:spPr bwMode="auto">
          <a:xfrm>
            <a:off x="2211387" y="3893270"/>
            <a:ext cx="43992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地区的气候与气象条件</a:t>
            </a:r>
          </a:p>
        </p:txBody>
      </p:sp>
      <p:sp>
        <p:nvSpPr>
          <p:cNvPr id="118798" name="TextBox 7"/>
          <p:cNvSpPr txBox="1">
            <a:spLocks noChangeArrowheads="1"/>
          </p:cNvSpPr>
          <p:nvPr/>
        </p:nvSpPr>
        <p:spPr bwMode="auto">
          <a:xfrm>
            <a:off x="6891590" y="3893270"/>
            <a:ext cx="57057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安装部位及方式（贴附或架空）</a:t>
            </a:r>
          </a:p>
        </p:txBody>
      </p:sp>
      <p:sp>
        <p:nvSpPr>
          <p:cNvPr id="118799" name="TextBox 8"/>
          <p:cNvSpPr txBox="1">
            <a:spLocks noChangeArrowheads="1"/>
          </p:cNvSpPr>
          <p:nvPr/>
        </p:nvSpPr>
        <p:spPr bwMode="auto">
          <a:xfrm>
            <a:off x="1849539" y="6241232"/>
            <a:ext cx="103781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研究光伏电池在小屋外表面的</a:t>
            </a:r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优化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铺设是很重要的问题。</a:t>
            </a:r>
          </a:p>
        </p:txBody>
      </p:sp>
      <p:sp>
        <p:nvSpPr>
          <p:cNvPr id="16" name="文本框 60">
            <a:extLst>
              <a:ext uri="{FF2B5EF4-FFF2-40B4-BE49-F238E27FC236}">
                <a16:creationId xmlns:a16="http://schemas.microsoft.com/office/drawing/2014/main" xmlns="" id="{BBC8840D-166D-48D1-ABDF-0E577F022729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光电池偏置电路与应用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D5D87B89-1E2E-4AD5-8BFC-91C990E742B6}"/>
              </a:ext>
            </a:extLst>
          </p:cNvPr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4940371-62CE-42BD-8566-BF5E12E9AD1F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xmlns="" id="{47BFC060-CC43-479D-BC05-9B5046889A40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6B7DCEA1-091F-4997-806F-0064A5794691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02FE9816-4D9D-4E9E-BF8E-7A6B5CA53E5D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0650418C-62C3-4CBF-BFB4-20909415095F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5F77FBE9-C27F-4E80-873B-B246CCE09436}"/>
              </a:ext>
            </a:extLst>
          </p:cNvPr>
          <p:cNvSpPr/>
          <p:nvPr/>
        </p:nvSpPr>
        <p:spPr>
          <a:xfrm>
            <a:off x="310055" y="293282"/>
            <a:ext cx="97456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4.1.3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259914"/>
      </p:ext>
    </p:extLst>
  </p:cSld>
  <p:clrMapOvr>
    <a:masterClrMapping/>
  </p:clrMapOvr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1169</TotalTime>
  <Words>1311</Words>
  <Application>Microsoft Office PowerPoint</Application>
  <PresentationFormat>自定义</PresentationFormat>
  <Paragraphs>414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64" baseType="lpstr">
      <vt:lpstr>HY견고딕</vt:lpstr>
      <vt:lpstr>Yu Gothic UI</vt:lpstr>
      <vt:lpstr>阿里巴巴普惠体 M</vt:lpstr>
      <vt:lpstr>阿里巴巴普惠体 R</vt:lpstr>
      <vt:lpstr>冬青黑体简体中文 W3</vt:lpstr>
      <vt:lpstr>冬青黑体简体中文 W6</vt:lpstr>
      <vt:lpstr>黑体</vt:lpstr>
      <vt:lpstr>楷体_GB2312</vt:lpstr>
      <vt:lpstr>宋体</vt:lpstr>
      <vt:lpstr>Microsoft YaHei</vt:lpstr>
      <vt:lpstr>Microsoft YaHei</vt:lpstr>
      <vt:lpstr>Arial</vt:lpstr>
      <vt:lpstr>Calibri</vt:lpstr>
      <vt:lpstr>Calibri Light</vt:lpstr>
      <vt:lpstr>Microsoft Yi Baiti</vt:lpstr>
      <vt:lpstr>Symbol</vt:lpstr>
      <vt:lpstr>Times New Roman</vt:lpstr>
      <vt:lpstr>Wingdings</vt:lpstr>
      <vt:lpstr>光电技术模板-2015-6-18</vt:lpstr>
      <vt:lpstr>Visio</vt:lpstr>
      <vt:lpstr>公式</vt:lpstr>
      <vt:lpstr>Equation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56</cp:revision>
  <dcterms:created xsi:type="dcterms:W3CDTF">2015-06-18T01:42:52Z</dcterms:created>
  <dcterms:modified xsi:type="dcterms:W3CDTF">2022-09-28T23:59:08Z</dcterms:modified>
</cp:coreProperties>
</file>