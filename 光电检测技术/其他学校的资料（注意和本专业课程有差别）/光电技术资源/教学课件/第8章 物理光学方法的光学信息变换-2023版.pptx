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9" r:id="rId2"/>
    <p:sldId id="335" r:id="rId3"/>
    <p:sldId id="336" r:id="rId4"/>
    <p:sldId id="291" r:id="rId5"/>
    <p:sldId id="292" r:id="rId6"/>
    <p:sldId id="293" r:id="rId7"/>
    <p:sldId id="294" r:id="rId8"/>
    <p:sldId id="295" r:id="rId9"/>
    <p:sldId id="296" r:id="rId10"/>
    <p:sldId id="297" r:id="rId11"/>
    <p:sldId id="299" r:id="rId12"/>
    <p:sldId id="300" r:id="rId13"/>
    <p:sldId id="301" r:id="rId14"/>
    <p:sldId id="302" r:id="rId15"/>
    <p:sldId id="303" r:id="rId16"/>
    <p:sldId id="304" r:id="rId17"/>
    <p:sldId id="337" r:id="rId18"/>
    <p:sldId id="306" r:id="rId19"/>
    <p:sldId id="307" r:id="rId20"/>
    <p:sldId id="308" r:id="rId21"/>
    <p:sldId id="309" r:id="rId22"/>
    <p:sldId id="310" r:id="rId23"/>
  </p:sldIdLst>
  <p:sldSz cx="13717588" cy="7715250"/>
  <p:notesSz cx="6858000" cy="9144000"/>
  <p:defaultTextStyle>
    <a:defPPr>
      <a:defRPr lang="zh-CN"/>
    </a:defPPr>
    <a:lvl1pPr algn="l" defTabSz="1028700" rtl="0" fontAlgn="base">
      <a:spcBef>
        <a:spcPct val="0"/>
      </a:spcBef>
      <a:spcAft>
        <a:spcPct val="0"/>
      </a:spcAft>
      <a:defRPr sz="2000" kern="1200">
        <a:solidFill>
          <a:schemeClr val="tx1"/>
        </a:solidFill>
        <a:latin typeface="Arial" pitchFamily="34" charset="0"/>
        <a:ea typeface="宋体" pitchFamily="2" charset="-122"/>
        <a:cs typeface="+mn-cs"/>
      </a:defRPr>
    </a:lvl1pPr>
    <a:lvl2pPr marL="514350" indent="-5715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2pPr>
    <a:lvl3pPr marL="1028700" indent="-11430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3pPr>
    <a:lvl4pPr marL="1543050" indent="-17145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4pPr>
    <a:lvl5pPr marL="2057400" indent="-22860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9900"/>
    <a:srgbClr val="00CC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398" autoAdjust="0"/>
    <p:restoredTop sz="94660"/>
  </p:normalViewPr>
  <p:slideViewPr>
    <p:cSldViewPr snapToGrid="0">
      <p:cViewPr varScale="1">
        <p:scale>
          <a:sx n="76" d="100"/>
          <a:sy n="76" d="100"/>
        </p:scale>
        <p:origin x="-162" y="-90"/>
      </p:cViewPr>
      <p:guideLst>
        <p:guide orient="horz" pos="2430"/>
        <p:guide pos="432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4"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5" Type="http://schemas.openxmlformats.org/officeDocument/2006/relationships/image" Target="../media/image22.wmf"/><Relationship Id="rId4"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 Id="rId5" Type="http://schemas.openxmlformats.org/officeDocument/2006/relationships/image" Target="../media/image34.wmf"/><Relationship Id="rId4" Type="http://schemas.openxmlformats.org/officeDocument/2006/relationships/image" Target="../media/image33.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9.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714699" y="1262658"/>
            <a:ext cx="10288191" cy="2686050"/>
          </a:xfrm>
        </p:spPr>
        <p:txBody>
          <a:bodyPr anchor="b"/>
          <a:lstStyle>
            <a:lvl1pPr algn="ctr">
              <a:defRPr sz="68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714699" y="4052293"/>
            <a:ext cx="10288191" cy="1862732"/>
          </a:xfrm>
        </p:spPr>
        <p:txBody>
          <a:bodyPr/>
          <a:lstStyle>
            <a:lvl1pPr marL="0" indent="0" algn="ctr">
              <a:buNone/>
              <a:defRPr sz="2700"/>
            </a:lvl1pPr>
            <a:lvl2pPr marL="514350" indent="0" algn="ctr">
              <a:buNone/>
              <a:defRPr sz="2300"/>
            </a:lvl2pPr>
            <a:lvl3pPr marL="1028700" indent="0" algn="ctr">
              <a:buNone/>
              <a:defRPr sz="2000"/>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CAF0B85A-814D-4522-830B-EA2B73E81006}" type="datetimeFigureOut">
              <a:rPr lang="zh-CN" altLang="en-US"/>
              <a:pPr>
                <a:defRPr/>
              </a:pPr>
              <a:t>2022/5/2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230FC6D-90CF-486C-9DDE-41D05F073C2E}"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CABA323A-3F5B-4803-8F6E-75EB0599F551}" type="datetimeFigureOut">
              <a:rPr lang="zh-CN" altLang="en-US"/>
              <a:pPr>
                <a:defRPr/>
              </a:pPr>
              <a:t>2022/5/2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9F8E41E-29BD-400D-AEDC-793B998551CA}"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35939" y="1923456"/>
            <a:ext cx="11831420" cy="3209329"/>
          </a:xfrm>
        </p:spPr>
        <p:txBody>
          <a:bodyPr anchor="b"/>
          <a:lstStyle>
            <a:lvl1pPr>
              <a:defRPr sz="68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35939" y="5163147"/>
            <a:ext cx="11831420" cy="1687710"/>
          </a:xfrm>
        </p:spPr>
        <p:txBody>
          <a:bodyPr/>
          <a:lstStyle>
            <a:lvl1pPr marL="0" indent="0">
              <a:buNone/>
              <a:defRPr sz="2700">
                <a:solidFill>
                  <a:schemeClr val="tx1">
                    <a:tint val="75000"/>
                  </a:schemeClr>
                </a:solidFill>
              </a:defRPr>
            </a:lvl1pPr>
            <a:lvl2pPr marL="514350" indent="0">
              <a:buNone/>
              <a:defRPr sz="2300">
                <a:solidFill>
                  <a:schemeClr val="tx1">
                    <a:tint val="75000"/>
                  </a:schemeClr>
                </a:solidFill>
              </a:defRPr>
            </a:lvl2pPr>
            <a:lvl3pPr marL="1028700" indent="0">
              <a:buNone/>
              <a:defRPr sz="2000">
                <a:solidFill>
                  <a:schemeClr val="tx1">
                    <a:tint val="75000"/>
                  </a:schemeClr>
                </a:solidFill>
              </a:defRPr>
            </a:lvl3pPr>
            <a:lvl4pPr marL="1543050" indent="0">
              <a:buNone/>
              <a:defRPr sz="1800">
                <a:solidFill>
                  <a:schemeClr val="tx1">
                    <a:tint val="75000"/>
                  </a:schemeClr>
                </a:solidFill>
              </a:defRPr>
            </a:lvl4pPr>
            <a:lvl5pPr marL="2057400" indent="0">
              <a:buNone/>
              <a:defRPr sz="1800">
                <a:solidFill>
                  <a:schemeClr val="tx1">
                    <a:tint val="75000"/>
                  </a:schemeClr>
                </a:solidFill>
              </a:defRPr>
            </a:lvl5pPr>
            <a:lvl6pPr marL="2571750" indent="0">
              <a:buNone/>
              <a:defRPr sz="1800">
                <a:solidFill>
                  <a:schemeClr val="tx1">
                    <a:tint val="75000"/>
                  </a:schemeClr>
                </a:solidFill>
              </a:defRPr>
            </a:lvl6pPr>
            <a:lvl7pPr marL="3086100" indent="0">
              <a:buNone/>
              <a:defRPr sz="1800">
                <a:solidFill>
                  <a:schemeClr val="tx1">
                    <a:tint val="75000"/>
                  </a:schemeClr>
                </a:solidFill>
              </a:defRPr>
            </a:lvl7pPr>
            <a:lvl8pPr marL="3600450" indent="0">
              <a:buNone/>
              <a:defRPr sz="1800">
                <a:solidFill>
                  <a:schemeClr val="tx1">
                    <a:tint val="75000"/>
                  </a:schemeClr>
                </a:solidFill>
              </a:defRPr>
            </a:lvl8pPr>
            <a:lvl9pPr marL="4114800" indent="0">
              <a:buNone/>
              <a:defRPr sz="18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6D8D2FC9-D3FF-4B56-9B68-E94AEE2E1568}" type="datetimeFigureOut">
              <a:rPr lang="zh-CN" altLang="en-US"/>
              <a:pPr>
                <a:defRPr/>
              </a:pPr>
              <a:t>2022/5/2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E14F51C-D6D9-42FE-8406-8B1A62EF34D4}"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943084" y="2053828"/>
            <a:ext cx="5829975" cy="489525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944529" y="2053828"/>
            <a:ext cx="5829975" cy="489525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18BCE2FE-A4F7-461A-B679-738DCCB9F2FB}" type="datetimeFigureOut">
              <a:rPr lang="zh-CN" altLang="en-US"/>
              <a:pPr>
                <a:defRPr/>
              </a:pPr>
              <a:t>2022/5/2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61244DF1-8AB3-4AC8-8846-8D7AC53D4C59}"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44871" y="410766"/>
            <a:ext cx="11831420" cy="1491258"/>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44872" y="1891308"/>
            <a:ext cx="580318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smtClean="0"/>
              <a:t>单击此处编辑母版文本样式</a:t>
            </a:r>
          </a:p>
        </p:txBody>
      </p:sp>
      <p:sp>
        <p:nvSpPr>
          <p:cNvPr id="4" name="内容占位符 3"/>
          <p:cNvSpPr>
            <a:spLocks noGrp="1"/>
          </p:cNvSpPr>
          <p:nvPr>
            <p:ph sz="half" idx="2"/>
          </p:nvPr>
        </p:nvSpPr>
        <p:spPr>
          <a:xfrm>
            <a:off x="944872" y="2818209"/>
            <a:ext cx="5803182" cy="41451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944529" y="1891308"/>
            <a:ext cx="583176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smtClean="0"/>
              <a:t>单击此处编辑母版文本样式</a:t>
            </a:r>
          </a:p>
        </p:txBody>
      </p:sp>
      <p:sp>
        <p:nvSpPr>
          <p:cNvPr id="6" name="内容占位符 5"/>
          <p:cNvSpPr>
            <a:spLocks noGrp="1"/>
          </p:cNvSpPr>
          <p:nvPr>
            <p:ph sz="quarter" idx="4"/>
          </p:nvPr>
        </p:nvSpPr>
        <p:spPr>
          <a:xfrm>
            <a:off x="6944529" y="2818209"/>
            <a:ext cx="5831762" cy="41451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5D27D16C-6742-4D87-B286-505BFCC485E0}" type="datetimeFigureOut">
              <a:rPr lang="zh-CN" altLang="en-US"/>
              <a:pPr>
                <a:defRPr/>
              </a:pPr>
              <a:t>2022/5/2</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B548CD92-017C-4BDF-B1F0-541AAC91782D}"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B6518C45-7112-4018-A6C3-08A2B95FCAB3}" type="datetimeFigureOut">
              <a:rPr lang="zh-CN" altLang="en-US"/>
              <a:pPr>
                <a:defRPr/>
              </a:pPr>
              <a:t>2022/5/2</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C03909AF-2F9A-4F17-9832-37F27436F3BE}"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3991FB8E-32A2-4FAB-9DCF-1E7B8AE28FF5}" type="datetimeFigureOut">
              <a:rPr lang="zh-CN" altLang="en-US"/>
              <a:pPr>
                <a:defRPr/>
              </a:pPr>
              <a:t>2022/5/2</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3850E2A1-1590-4207-8BCA-1574684B6113}"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831762" y="1110854"/>
            <a:ext cx="6944529" cy="5482828"/>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75F0318A-E83E-4483-BFCC-C271C5DAE065}" type="datetimeFigureOut">
              <a:rPr lang="zh-CN" altLang="en-US"/>
              <a:pPr>
                <a:defRPr/>
              </a:pPr>
              <a:t>2022/5/2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E7E4571C-1262-4289-8B7E-176947018E55}"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831762" y="1110854"/>
            <a:ext cx="6944529" cy="5482828"/>
          </a:xfrm>
        </p:spPr>
        <p:txBody>
          <a:bodyPr rtlCol="0">
            <a:normAutofit/>
          </a:bodyPr>
          <a:lstStyle>
            <a:lvl1pPr marL="0" indent="0">
              <a:buNone/>
              <a:defRPr sz="3600"/>
            </a:lvl1pPr>
            <a:lvl2pPr marL="514350" indent="0">
              <a:buNone/>
              <a:defRPr sz="3200"/>
            </a:lvl2pPr>
            <a:lvl3pPr marL="1028700" indent="0">
              <a:buNone/>
              <a:defRPr sz="2700"/>
            </a:lvl3pPr>
            <a:lvl4pPr marL="1543050" indent="0">
              <a:buNone/>
              <a:defRPr sz="2300"/>
            </a:lvl4pPr>
            <a:lvl5pPr marL="2057400" indent="0">
              <a:buNone/>
              <a:defRPr sz="2300"/>
            </a:lvl5pPr>
            <a:lvl6pPr marL="2571750" indent="0">
              <a:buNone/>
              <a:defRPr sz="2300"/>
            </a:lvl6pPr>
            <a:lvl7pPr marL="3086100" indent="0">
              <a:buNone/>
              <a:defRPr sz="2300"/>
            </a:lvl7pPr>
            <a:lvl8pPr marL="3600450" indent="0">
              <a:buNone/>
              <a:defRPr sz="2300"/>
            </a:lvl8pPr>
            <a:lvl9pPr marL="4114800" indent="0">
              <a:buNone/>
              <a:defRPr sz="23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17FF0FD-FEC7-4A54-8110-AA77D02431CB}" type="datetimeFigureOut">
              <a:rPr lang="zh-CN" altLang="en-US"/>
              <a:pPr>
                <a:defRPr/>
              </a:pPr>
              <a:t>2022/5/2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FF3B411-970A-46D2-9B44-999FDB8B70E4}"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0D50961D-D191-41E5-BCCE-EDEDBD1415CB}" type="datetimeFigureOut">
              <a:rPr lang="zh-CN" altLang="en-US"/>
              <a:pPr>
                <a:defRPr/>
              </a:pPr>
              <a:t>2022/5/2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B49B775-7492-4246-87A5-B7C17C29753E}"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16649" y="410766"/>
            <a:ext cx="2957855" cy="653831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943084" y="410766"/>
            <a:ext cx="8702095" cy="653831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3D9FF2CE-FFAA-40E0-8999-7C71913CE4F8}" type="datetimeFigureOut">
              <a:rPr lang="zh-CN" altLang="en-US"/>
              <a:pPr>
                <a:defRPr/>
              </a:pPr>
              <a:t>2022/5/2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5A7B3F0-F29F-41DA-A7AB-51B5104F556C}"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942975" y="411163"/>
            <a:ext cx="11831638" cy="1490662"/>
          </a:xfrm>
          <a:prstGeom prst="rect">
            <a:avLst/>
          </a:prstGeom>
          <a:noFill/>
          <a:ln w="9525">
            <a:noFill/>
            <a:miter lim="800000"/>
            <a:headEnd/>
            <a:tailEnd/>
          </a:ln>
        </p:spPr>
        <p:txBody>
          <a:bodyPr vert="horz" wrap="square" lIns="102870" tIns="51435" rIns="102870" bIns="51435"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942975" y="2054225"/>
            <a:ext cx="11831638" cy="4894263"/>
          </a:xfrm>
          <a:prstGeom prst="rect">
            <a:avLst/>
          </a:prstGeom>
          <a:noFill/>
          <a:ln w="9525">
            <a:noFill/>
            <a:miter lim="800000"/>
            <a:headEnd/>
            <a:tailEnd/>
          </a:ln>
        </p:spPr>
        <p:txBody>
          <a:bodyPr vert="horz" wrap="square" lIns="102870" tIns="51435" rIns="102870" bIns="51435"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942975" y="7151688"/>
            <a:ext cx="3086100" cy="409575"/>
          </a:xfrm>
          <a:prstGeom prst="rect">
            <a:avLst/>
          </a:prstGeom>
        </p:spPr>
        <p:txBody>
          <a:bodyPr vert="horz" lIns="102870" tIns="51435" rIns="102870" bIns="51435" rtlCol="0" anchor="ctr"/>
          <a:lstStyle>
            <a:lvl1pPr algn="l" fontAlgn="auto">
              <a:spcBef>
                <a:spcPts val="0"/>
              </a:spcBef>
              <a:spcAft>
                <a:spcPts val="0"/>
              </a:spcAft>
              <a:defRPr sz="1400">
                <a:solidFill>
                  <a:schemeClr val="tx1">
                    <a:tint val="75000"/>
                  </a:schemeClr>
                </a:solidFill>
                <a:latin typeface="+mn-lt"/>
                <a:ea typeface="+mn-ea"/>
              </a:defRPr>
            </a:lvl1pPr>
          </a:lstStyle>
          <a:p>
            <a:pPr>
              <a:defRPr/>
            </a:pPr>
            <a:fld id="{6D1A1D20-A6C5-4998-AB23-06FC87464E8A}" type="datetimeFigureOut">
              <a:rPr lang="zh-CN" altLang="en-US"/>
              <a:pPr>
                <a:defRPr/>
              </a:pPr>
              <a:t>2022/5/2</a:t>
            </a:fld>
            <a:endParaRPr lang="zh-CN" altLang="en-US"/>
          </a:p>
        </p:txBody>
      </p:sp>
      <p:sp>
        <p:nvSpPr>
          <p:cNvPr id="5" name="页脚占位符 4"/>
          <p:cNvSpPr>
            <a:spLocks noGrp="1"/>
          </p:cNvSpPr>
          <p:nvPr>
            <p:ph type="ftr" sz="quarter" idx="3"/>
          </p:nvPr>
        </p:nvSpPr>
        <p:spPr>
          <a:xfrm>
            <a:off x="4543425" y="7151688"/>
            <a:ext cx="4630738" cy="409575"/>
          </a:xfrm>
          <a:prstGeom prst="rect">
            <a:avLst/>
          </a:prstGeom>
        </p:spPr>
        <p:txBody>
          <a:bodyPr vert="horz" lIns="102870" tIns="51435" rIns="102870" bIns="51435" rtlCol="0" anchor="ctr"/>
          <a:lstStyle>
            <a:lvl1pPr algn="ctr" fontAlgn="auto">
              <a:spcBef>
                <a:spcPts val="0"/>
              </a:spcBef>
              <a:spcAft>
                <a:spcPts val="0"/>
              </a:spcAft>
              <a:defRPr sz="14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9688513" y="7151688"/>
            <a:ext cx="3086100" cy="409575"/>
          </a:xfrm>
          <a:prstGeom prst="rect">
            <a:avLst/>
          </a:prstGeom>
        </p:spPr>
        <p:txBody>
          <a:bodyPr vert="horz" lIns="102870" tIns="51435" rIns="102870" bIns="51435" rtlCol="0" anchor="ctr"/>
          <a:lstStyle>
            <a:lvl1pPr algn="r" fontAlgn="auto">
              <a:spcBef>
                <a:spcPts val="0"/>
              </a:spcBef>
              <a:spcAft>
                <a:spcPts val="0"/>
              </a:spcAft>
              <a:defRPr sz="1400">
                <a:solidFill>
                  <a:schemeClr val="tx1">
                    <a:tint val="75000"/>
                  </a:schemeClr>
                </a:solidFill>
                <a:latin typeface="+mn-lt"/>
                <a:ea typeface="+mn-ea"/>
              </a:defRPr>
            </a:lvl1pPr>
          </a:lstStyle>
          <a:p>
            <a:pPr>
              <a:defRPr/>
            </a:pPr>
            <a:fld id="{D728E60B-7259-4FAC-8AAA-739236121BD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028700" rtl="0" fontAlgn="base">
        <a:lnSpc>
          <a:spcPct val="90000"/>
        </a:lnSpc>
        <a:spcBef>
          <a:spcPct val="0"/>
        </a:spcBef>
        <a:spcAft>
          <a:spcPct val="0"/>
        </a:spcAft>
        <a:defRPr sz="5000" kern="1200">
          <a:solidFill>
            <a:schemeClr val="tx1"/>
          </a:solidFill>
          <a:latin typeface="+mj-lt"/>
          <a:ea typeface="+mj-ea"/>
          <a:cs typeface="+mj-cs"/>
        </a:defRPr>
      </a:lvl1pPr>
      <a:lvl2pPr algn="l" defTabSz="1028700" rtl="0" fontAlgn="base">
        <a:lnSpc>
          <a:spcPct val="90000"/>
        </a:lnSpc>
        <a:spcBef>
          <a:spcPct val="0"/>
        </a:spcBef>
        <a:spcAft>
          <a:spcPct val="0"/>
        </a:spcAft>
        <a:defRPr sz="5000">
          <a:solidFill>
            <a:schemeClr val="tx1"/>
          </a:solidFill>
          <a:latin typeface="Calibri Light"/>
          <a:ea typeface="宋体" pitchFamily="2" charset="-122"/>
        </a:defRPr>
      </a:lvl2pPr>
      <a:lvl3pPr algn="l" defTabSz="1028700" rtl="0" fontAlgn="base">
        <a:lnSpc>
          <a:spcPct val="90000"/>
        </a:lnSpc>
        <a:spcBef>
          <a:spcPct val="0"/>
        </a:spcBef>
        <a:spcAft>
          <a:spcPct val="0"/>
        </a:spcAft>
        <a:defRPr sz="5000">
          <a:solidFill>
            <a:schemeClr val="tx1"/>
          </a:solidFill>
          <a:latin typeface="Calibri Light"/>
          <a:ea typeface="宋体" pitchFamily="2" charset="-122"/>
        </a:defRPr>
      </a:lvl3pPr>
      <a:lvl4pPr algn="l" defTabSz="1028700" rtl="0" fontAlgn="base">
        <a:lnSpc>
          <a:spcPct val="90000"/>
        </a:lnSpc>
        <a:spcBef>
          <a:spcPct val="0"/>
        </a:spcBef>
        <a:spcAft>
          <a:spcPct val="0"/>
        </a:spcAft>
        <a:defRPr sz="5000">
          <a:solidFill>
            <a:schemeClr val="tx1"/>
          </a:solidFill>
          <a:latin typeface="Calibri Light"/>
          <a:ea typeface="宋体" pitchFamily="2" charset="-122"/>
        </a:defRPr>
      </a:lvl4pPr>
      <a:lvl5pPr algn="l" defTabSz="1028700" rtl="0" fontAlgn="base">
        <a:lnSpc>
          <a:spcPct val="90000"/>
        </a:lnSpc>
        <a:spcBef>
          <a:spcPct val="0"/>
        </a:spcBef>
        <a:spcAft>
          <a:spcPct val="0"/>
        </a:spcAft>
        <a:defRPr sz="5000">
          <a:solidFill>
            <a:schemeClr val="tx1"/>
          </a:solidFill>
          <a:latin typeface="Calibri Light"/>
          <a:ea typeface="宋体" pitchFamily="2" charset="-122"/>
        </a:defRPr>
      </a:lvl5pPr>
      <a:lvl6pPr marL="4572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6pPr>
      <a:lvl7pPr marL="9144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7pPr>
      <a:lvl8pPr marL="13716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8pPr>
      <a:lvl9pPr marL="18288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9pPr>
    </p:titleStyle>
    <p:bodyStyle>
      <a:lvl1pPr marL="257175" indent="-257175" algn="l" defTabSz="1028700" rtl="0" fontAlgn="base">
        <a:lnSpc>
          <a:spcPct val="90000"/>
        </a:lnSpc>
        <a:spcBef>
          <a:spcPts val="1125"/>
        </a:spcBef>
        <a:spcAft>
          <a:spcPct val="0"/>
        </a:spcAft>
        <a:buFont typeface="Arial" pitchFamily="34" charset="0"/>
        <a:buChar char="•"/>
        <a:defRPr sz="3200" kern="1200">
          <a:solidFill>
            <a:schemeClr val="tx1"/>
          </a:solidFill>
          <a:latin typeface="+mn-lt"/>
          <a:ea typeface="+mn-ea"/>
          <a:cs typeface="+mn-cs"/>
        </a:defRPr>
      </a:lvl1pPr>
      <a:lvl2pPr marL="771525" indent="-257175" algn="l" defTabSz="1028700" rtl="0" fontAlgn="base">
        <a:lnSpc>
          <a:spcPct val="90000"/>
        </a:lnSpc>
        <a:spcBef>
          <a:spcPts val="563"/>
        </a:spcBef>
        <a:spcAft>
          <a:spcPct val="0"/>
        </a:spcAft>
        <a:buFont typeface="Arial" pitchFamily="34" charset="0"/>
        <a:buChar char="•"/>
        <a:defRPr sz="2700" kern="1200">
          <a:solidFill>
            <a:schemeClr val="tx1"/>
          </a:solidFill>
          <a:latin typeface="+mn-lt"/>
          <a:ea typeface="+mn-ea"/>
          <a:cs typeface="+mn-cs"/>
        </a:defRPr>
      </a:lvl2pPr>
      <a:lvl3pPr marL="1285875" indent="-257175" algn="l" defTabSz="1028700" rtl="0" fontAlgn="base">
        <a:lnSpc>
          <a:spcPct val="90000"/>
        </a:lnSpc>
        <a:spcBef>
          <a:spcPts val="563"/>
        </a:spcBef>
        <a:spcAft>
          <a:spcPct val="0"/>
        </a:spcAft>
        <a:buFont typeface="Arial" pitchFamily="34" charset="0"/>
        <a:buChar char="•"/>
        <a:defRPr sz="2300" kern="1200">
          <a:solidFill>
            <a:schemeClr val="tx1"/>
          </a:solidFill>
          <a:latin typeface="+mn-lt"/>
          <a:ea typeface="+mn-ea"/>
          <a:cs typeface="+mn-cs"/>
        </a:defRPr>
      </a:lvl3pPr>
      <a:lvl4pPr marL="1800225" indent="-257175" algn="l" defTabSz="1028700" rtl="0" fontAlgn="base">
        <a:lnSpc>
          <a:spcPct val="90000"/>
        </a:lnSpc>
        <a:spcBef>
          <a:spcPts val="563"/>
        </a:spcBef>
        <a:spcAft>
          <a:spcPct val="0"/>
        </a:spcAft>
        <a:buFont typeface="Arial" pitchFamily="34" charset="0"/>
        <a:buChar char="•"/>
        <a:defRPr sz="2000" kern="1200">
          <a:solidFill>
            <a:schemeClr val="tx1"/>
          </a:solidFill>
          <a:latin typeface="+mn-lt"/>
          <a:ea typeface="+mn-ea"/>
          <a:cs typeface="+mn-cs"/>
        </a:defRPr>
      </a:lvl4pPr>
      <a:lvl5pPr marL="2314575" indent="-257175" algn="l" defTabSz="1028700" rtl="0" fontAlgn="base">
        <a:lnSpc>
          <a:spcPct val="90000"/>
        </a:lnSpc>
        <a:spcBef>
          <a:spcPts val="563"/>
        </a:spcBef>
        <a:spcAft>
          <a:spcPct val="0"/>
        </a:spcAft>
        <a:buFont typeface="Arial" pitchFamily="34" charset="0"/>
        <a:buChar char="•"/>
        <a:defRPr sz="2000"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1028700" rtl="0" eaLnBrk="1" latinLnBrk="0" hangingPunct="1">
        <a:defRPr sz="2000" kern="1200">
          <a:solidFill>
            <a:schemeClr val="tx1"/>
          </a:solidFill>
          <a:latin typeface="+mn-lt"/>
          <a:ea typeface="+mn-ea"/>
          <a:cs typeface="+mn-cs"/>
        </a:defRPr>
      </a:lvl1pPr>
      <a:lvl2pPr marL="514350" algn="l" defTabSz="1028700" rtl="0" eaLnBrk="1" latinLnBrk="0" hangingPunct="1">
        <a:defRPr sz="2000" kern="1200">
          <a:solidFill>
            <a:schemeClr val="tx1"/>
          </a:solidFill>
          <a:latin typeface="+mn-lt"/>
          <a:ea typeface="+mn-ea"/>
          <a:cs typeface="+mn-cs"/>
        </a:defRPr>
      </a:lvl2pPr>
      <a:lvl3pPr marL="1028700" algn="l" defTabSz="1028700" rtl="0" eaLnBrk="1" latinLnBrk="0" hangingPunct="1">
        <a:defRPr sz="2000" kern="1200">
          <a:solidFill>
            <a:schemeClr val="tx1"/>
          </a:solidFill>
          <a:latin typeface="+mn-lt"/>
          <a:ea typeface="+mn-ea"/>
          <a:cs typeface="+mn-cs"/>
        </a:defRPr>
      </a:lvl3pPr>
      <a:lvl4pPr marL="1543050" algn="l" defTabSz="1028700" rtl="0" eaLnBrk="1" latinLnBrk="0" hangingPunct="1">
        <a:defRPr sz="2000" kern="1200">
          <a:solidFill>
            <a:schemeClr val="tx1"/>
          </a:solidFill>
          <a:latin typeface="+mn-lt"/>
          <a:ea typeface="+mn-ea"/>
          <a:cs typeface="+mn-cs"/>
        </a:defRPr>
      </a:lvl4pPr>
      <a:lvl5pPr marL="2057400" algn="l" defTabSz="1028700" rtl="0" eaLnBrk="1" latinLnBrk="0" hangingPunct="1">
        <a:defRPr sz="2000" kern="1200">
          <a:solidFill>
            <a:schemeClr val="tx1"/>
          </a:solidFill>
          <a:latin typeface="+mn-lt"/>
          <a:ea typeface="+mn-ea"/>
          <a:cs typeface="+mn-cs"/>
        </a:defRPr>
      </a:lvl5pPr>
      <a:lvl6pPr marL="2571750" algn="l" defTabSz="1028700" rtl="0" eaLnBrk="1" latinLnBrk="0" hangingPunct="1">
        <a:defRPr sz="2000" kern="1200">
          <a:solidFill>
            <a:schemeClr val="tx1"/>
          </a:solidFill>
          <a:latin typeface="+mn-lt"/>
          <a:ea typeface="+mn-ea"/>
          <a:cs typeface="+mn-cs"/>
        </a:defRPr>
      </a:lvl6pPr>
      <a:lvl7pPr marL="3086100" algn="l" defTabSz="1028700" rtl="0" eaLnBrk="1" latinLnBrk="0" hangingPunct="1">
        <a:defRPr sz="2000" kern="1200">
          <a:solidFill>
            <a:schemeClr val="tx1"/>
          </a:solidFill>
          <a:latin typeface="+mn-lt"/>
          <a:ea typeface="+mn-ea"/>
          <a:cs typeface="+mn-cs"/>
        </a:defRPr>
      </a:lvl7pPr>
      <a:lvl8pPr marL="3600450" algn="l" defTabSz="1028700" rtl="0" eaLnBrk="1" latinLnBrk="0" hangingPunct="1">
        <a:defRPr sz="2000" kern="1200">
          <a:solidFill>
            <a:schemeClr val="tx1"/>
          </a:solidFill>
          <a:latin typeface="+mn-lt"/>
          <a:ea typeface="+mn-ea"/>
          <a:cs typeface="+mn-cs"/>
        </a:defRPr>
      </a:lvl8pPr>
      <a:lvl9pPr marL="4114800" algn="l" defTabSz="1028700"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8.emf"/><Relationship Id="rId4" Type="http://schemas.openxmlformats.org/officeDocument/2006/relationships/image" Target="../media/image7.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oleObject" Target="../embeddings/oleObject5.bin"/><Relationship Id="rId4"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oleObject" Target="../embeddings/oleObject9.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0.bin"/><Relationship Id="rId7"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13.bin"/><Relationship Id="rId5" Type="http://schemas.openxmlformats.org/officeDocument/2006/relationships/oleObject" Target="../embeddings/oleObject12.bin"/><Relationship Id="rId4" Type="http://schemas.openxmlformats.org/officeDocument/2006/relationships/oleObject" Target="../embeddings/oleObject11.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oleObject" Target="../embeddings/oleObject17.bin"/><Relationship Id="rId4" Type="http://schemas.openxmlformats.org/officeDocument/2006/relationships/oleObject" Target="../embeddings/oleObject16.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oleObject" Target="../embeddings/oleObject19.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0.bin"/><Relationship Id="rId7"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23.bin"/><Relationship Id="rId5" Type="http://schemas.openxmlformats.org/officeDocument/2006/relationships/oleObject" Target="../embeddings/oleObject22.bin"/><Relationship Id="rId4" Type="http://schemas.openxmlformats.org/officeDocument/2006/relationships/oleObject" Target="../embeddings/oleObject21.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oleObject" Target="../embeddings/oleObject26.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oleObject" Target="../embeddings/oleObject28.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7.xml"/><Relationship Id="rId1" Type="http://schemas.openxmlformats.org/officeDocument/2006/relationships/vmlDrawing" Target="../drawings/vmlDrawing12.v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60">
            <a:extLst>
              <a:ext uri="{FF2B5EF4-FFF2-40B4-BE49-F238E27FC236}">
                <a16:creationId xmlns:a16="http://schemas.microsoft.com/office/drawing/2014/main" xmlns=""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物理</a:t>
            </a:r>
            <a:r>
              <a:rPr lang="zh-CN" altLang="en-US" sz="1800" b="1" dirty="0" smtClean="0">
                <a:latin typeface="微软雅黑" panose="020B0503020204020204" pitchFamily="34" charset="-122"/>
                <a:ea typeface="微软雅黑" panose="020B0503020204020204" pitchFamily="34" charset="-122"/>
              </a:rPr>
              <a:t>光学</a:t>
            </a:r>
            <a:r>
              <a:rPr lang="zh-CN" altLang="en-US" sz="1800" b="1" dirty="0">
                <a:latin typeface="微软雅黑" panose="020B0503020204020204" pitchFamily="34" charset="-122"/>
                <a:ea typeface="微软雅黑" panose="020B0503020204020204" pitchFamily="34" charset="-122"/>
              </a:rPr>
              <a:t>方法的光学信息变换</a:t>
            </a:r>
          </a:p>
        </p:txBody>
      </p:sp>
      <p:sp>
        <p:nvSpPr>
          <p:cNvPr id="10" name="矩形: 圆角 18">
            <a:extLst>
              <a:ext uri="{FF2B5EF4-FFF2-40B4-BE49-F238E27FC236}">
                <a16:creationId xmlns:a16="http://schemas.microsoft.com/office/drawing/2014/main" xmlns=""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dirty="0" smtClean="0">
                <a:solidFill>
                  <a:schemeClr val="bg1"/>
                </a:solidFill>
                <a:latin typeface="Microsoft YaHei" panose="020B0503020204020204" pitchFamily="34" charset="-122"/>
                <a:ea typeface="Microsoft YaHei" panose="020B0503020204020204" pitchFamily="34" charset="-122"/>
              </a:rPr>
              <a:t>物理</a:t>
            </a:r>
            <a:r>
              <a:rPr kumimoji="1" lang="zh-CN" altLang="en-US" sz="4400" b="1" dirty="0" smtClean="0">
                <a:solidFill>
                  <a:schemeClr val="bg1"/>
                </a:solidFill>
                <a:latin typeface="Microsoft YaHei" panose="020B0503020204020204" pitchFamily="34" charset="-122"/>
                <a:ea typeface="Microsoft YaHei" panose="020B0503020204020204" pitchFamily="34" charset="-122"/>
              </a:rPr>
              <a:t>光学</a:t>
            </a:r>
            <a:r>
              <a:rPr kumimoji="1" lang="zh-CN" altLang="en-US" sz="4400" b="1" dirty="0">
                <a:solidFill>
                  <a:schemeClr val="bg1"/>
                </a:solidFill>
                <a:latin typeface="Microsoft YaHei" panose="020B0503020204020204" pitchFamily="34" charset="-122"/>
                <a:ea typeface="Microsoft YaHei" panose="020B0503020204020204" pitchFamily="34" charset="-122"/>
              </a:rPr>
              <a:t>方法的光学信息变换</a:t>
            </a:r>
          </a:p>
        </p:txBody>
      </p:sp>
      <p:sp>
        <p:nvSpPr>
          <p:cNvPr id="11" name="矩形 10"/>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2" name="矩形 11">
            <a:extLst>
              <a:ext uri="{FF2B5EF4-FFF2-40B4-BE49-F238E27FC236}">
                <a16:creationId xmlns:a16="http://schemas.microsoft.com/office/drawing/2014/main" xmlns=""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smtClean="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8.2</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3" name="矩形 12">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25">
            <a:extLst>
              <a:ext uri="{FF2B5EF4-FFF2-40B4-BE49-F238E27FC236}">
                <a16:creationId xmlns:a16="http://schemas.microsoft.com/office/drawing/2014/main" xmlns=""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5"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7" name="矩形 16">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00" name="Rectangle 3"/>
          <p:cNvSpPr>
            <a:spLocks noChangeArrowheads="1"/>
          </p:cNvSpPr>
          <p:nvPr/>
        </p:nvSpPr>
        <p:spPr bwMode="auto">
          <a:xfrm>
            <a:off x="1154554" y="1314149"/>
            <a:ext cx="11499562" cy="5078313"/>
          </a:xfrm>
          <a:prstGeom prst="rect">
            <a:avLst/>
          </a:prstGeom>
          <a:noFill/>
          <a:ln w="9525" algn="ctr">
            <a:noFill/>
            <a:miter lim="800000"/>
            <a:headEnd/>
            <a:tailEnd/>
          </a:ln>
        </p:spPr>
        <p:txBody>
          <a:bodyPr wrap="square">
            <a:spAutoFit/>
          </a:bodyPr>
          <a:lstStyle/>
          <a:p>
            <a:pPr defTabSz="914400">
              <a:lnSpc>
                <a:spcPct val="150000"/>
              </a:lnSpc>
              <a:buClr>
                <a:srgbClr val="0000CC"/>
              </a:buClr>
              <a:buFont typeface="Wingdings" pitchFamily="2" charset="2"/>
              <a:buChar char="Ø"/>
            </a:pPr>
            <a:r>
              <a:rPr lang="zh-CN" altLang="en-US" sz="3600" b="1" dirty="0" smtClean="0">
                <a:latin typeface="Times New Roman" pitchFamily="18" charset="0"/>
                <a:ea typeface="微软雅黑" pitchFamily="34" charset="-122"/>
              </a:rPr>
              <a:t>光具有波动属性，光的干涉和衍射会形成各种衍射和干涉图样，这些图样与其外部几何参数（长度、位移等）存在严格的内在联系，即荷载了相关信息及其变化。</a:t>
            </a:r>
            <a:endParaRPr lang="en-US" altLang="zh-CN" sz="3600" b="1" dirty="0" smtClean="0">
              <a:latin typeface="Times New Roman" pitchFamily="18" charset="0"/>
              <a:ea typeface="微软雅黑" pitchFamily="34" charset="-122"/>
            </a:endParaRPr>
          </a:p>
          <a:p>
            <a:pPr defTabSz="914400">
              <a:lnSpc>
                <a:spcPct val="150000"/>
              </a:lnSpc>
              <a:buClr>
                <a:srgbClr val="0000CC"/>
              </a:buClr>
              <a:buFont typeface="Wingdings" pitchFamily="2" charset="2"/>
              <a:buChar char="Ø"/>
            </a:pPr>
            <a:endParaRPr lang="en-US" altLang="zh-CN" sz="3600" b="1" dirty="0" smtClean="0">
              <a:latin typeface="Times New Roman" pitchFamily="18" charset="0"/>
              <a:ea typeface="微软雅黑" pitchFamily="34" charset="-122"/>
            </a:endParaRPr>
          </a:p>
          <a:p>
            <a:pPr defTabSz="914400">
              <a:lnSpc>
                <a:spcPct val="150000"/>
              </a:lnSpc>
              <a:buClr>
                <a:srgbClr val="0000CC"/>
              </a:buClr>
              <a:buFont typeface="Wingdings" pitchFamily="2" charset="2"/>
              <a:buChar char="Ø"/>
            </a:pPr>
            <a:r>
              <a:rPr lang="zh-CN" altLang="en-US" sz="3600" b="1" dirty="0" smtClean="0">
                <a:latin typeface="Times New Roman" pitchFamily="18" charset="0"/>
                <a:ea typeface="微软雅黑" pitchFamily="34" charset="-122"/>
              </a:rPr>
              <a:t>利用光电方法对光波的各种干涉和衍射现象进行检测和处理，可以获得相关几何和物理参量。</a:t>
            </a:r>
            <a:endParaRPr lang="zh-CN" altLang="en-US" sz="3600" b="1" dirty="0">
              <a:latin typeface="Times New Roman" pitchFamily="18" charset="0"/>
              <a:ea typeface="微软雅黑" pitchFamily="34" charset="-122"/>
            </a:endParaRPr>
          </a:p>
        </p:txBody>
      </p:sp>
      <p:sp>
        <p:nvSpPr>
          <p:cNvPr id="9" name="文本框 60">
            <a:extLst>
              <a:ext uri="{FF2B5EF4-FFF2-40B4-BE49-F238E27FC236}">
                <a16:creationId xmlns:a16="http://schemas.microsoft.com/office/drawing/2014/main" xmlns=""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物理</a:t>
            </a:r>
            <a:r>
              <a:rPr lang="zh-CN" altLang="en-US" sz="1800" b="1" dirty="0" smtClean="0">
                <a:latin typeface="微软雅黑" panose="020B0503020204020204" pitchFamily="34" charset="-122"/>
                <a:ea typeface="微软雅黑" panose="020B0503020204020204" pitchFamily="34" charset="-122"/>
              </a:rPr>
              <a:t>光学</a:t>
            </a:r>
            <a:r>
              <a:rPr lang="zh-CN" altLang="en-US" sz="1800" b="1" dirty="0">
                <a:latin typeface="微软雅黑" panose="020B0503020204020204" pitchFamily="34" charset="-122"/>
                <a:ea typeface="微软雅黑" panose="020B0503020204020204" pitchFamily="34" charset="-122"/>
              </a:rPr>
              <a:t>方法的光学信息变换</a:t>
            </a:r>
          </a:p>
        </p:txBody>
      </p:sp>
      <p:sp>
        <p:nvSpPr>
          <p:cNvPr id="10" name="矩形 9"/>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1" name="矩形 10">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25">
            <a:extLst>
              <a:ext uri="{FF2B5EF4-FFF2-40B4-BE49-F238E27FC236}">
                <a16:creationId xmlns:a16="http://schemas.microsoft.com/office/drawing/2014/main" xmlns=""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3"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5" name="矩形 14">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1" name="矩形 10">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5" name="矩形 14">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6" name="文本框 60">
            <a:extLst>
              <a:ext uri="{FF2B5EF4-FFF2-40B4-BE49-F238E27FC236}">
                <a16:creationId xmlns:a16="http://schemas.microsoft.com/office/drawing/2014/main" xmlns="" id="{791D85D7-F412-9C48-9F2B-E33F5B7B4F3C}"/>
              </a:ext>
            </a:extLst>
          </p:cNvPr>
          <p:cNvSpPr txBox="1"/>
          <p:nvPr/>
        </p:nvSpPr>
        <p:spPr>
          <a:xfrm>
            <a:off x="1407719" y="329189"/>
            <a:ext cx="287618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干涉方法的光学</a:t>
            </a:r>
            <a:r>
              <a:rPr lang="zh-CN" altLang="en-US" sz="1800" b="1" dirty="0">
                <a:latin typeface="微软雅黑" panose="020B0503020204020204" pitchFamily="34" charset="-122"/>
                <a:ea typeface="微软雅黑" panose="020B0503020204020204" pitchFamily="34" charset="-122"/>
              </a:rPr>
              <a:t>信息变换</a:t>
            </a:r>
          </a:p>
        </p:txBody>
      </p:sp>
      <p:sp>
        <p:nvSpPr>
          <p:cNvPr id="17"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8"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577704"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9" name="矩形: 圆角 18">
            <a:extLst>
              <a:ext uri="{FF2B5EF4-FFF2-40B4-BE49-F238E27FC236}">
                <a16:creationId xmlns:a16="http://schemas.microsoft.com/office/drawing/2014/main" xmlns="" id="{71B2A563-AC54-5347-B843-4478DF223CDE}"/>
              </a:ext>
            </a:extLst>
          </p:cNvPr>
          <p:cNvSpPr/>
          <p:nvPr/>
        </p:nvSpPr>
        <p:spPr>
          <a:xfrm>
            <a:off x="4795052" y="3476625"/>
            <a:ext cx="6052488" cy="850403"/>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smtClean="0">
                <a:solidFill>
                  <a:schemeClr val="bg1"/>
                </a:solidFill>
                <a:latin typeface="Microsoft YaHei" panose="020B0503020204020204" pitchFamily="34" charset="-122"/>
                <a:ea typeface="Microsoft YaHei" panose="020B0503020204020204" pitchFamily="34" charset="-122"/>
              </a:rPr>
              <a:t>干涉方法的光学</a:t>
            </a:r>
            <a:r>
              <a:rPr kumimoji="1" lang="zh-CN" altLang="en-US" sz="4000" b="1" dirty="0">
                <a:solidFill>
                  <a:schemeClr val="bg1"/>
                </a:solidFill>
                <a:latin typeface="Microsoft YaHei" panose="020B0503020204020204" pitchFamily="34" charset="-122"/>
                <a:ea typeface="Microsoft YaHei" panose="020B0503020204020204" pitchFamily="34" charset="-122"/>
              </a:rPr>
              <a:t>信息变换</a:t>
            </a:r>
          </a:p>
        </p:txBody>
      </p:sp>
      <p:sp>
        <p:nvSpPr>
          <p:cNvPr id="20" name="矩形 19">
            <a:extLst>
              <a:ext uri="{FF2B5EF4-FFF2-40B4-BE49-F238E27FC236}">
                <a16:creationId xmlns:a16="http://schemas.microsoft.com/office/drawing/2014/main" xmlns="" id="{045D4FB5-3BA7-4366-9C2A-762F1105D91A}"/>
              </a:ext>
            </a:extLst>
          </p:cNvPr>
          <p:cNvSpPr/>
          <p:nvPr/>
        </p:nvSpPr>
        <p:spPr>
          <a:xfrm>
            <a:off x="2584675" y="3283064"/>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smtClean="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8.2.1</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8" name="Rectangle 5"/>
          <p:cNvSpPr>
            <a:spLocks noChangeArrowheads="1"/>
          </p:cNvSpPr>
          <p:nvPr/>
        </p:nvSpPr>
        <p:spPr bwMode="auto">
          <a:xfrm>
            <a:off x="528226" y="1746160"/>
            <a:ext cx="12514262" cy="2031325"/>
          </a:xfrm>
          <a:prstGeom prst="rect">
            <a:avLst/>
          </a:prstGeom>
          <a:noFill/>
          <a:ln w="9525" algn="ctr">
            <a:noFill/>
            <a:miter lim="800000"/>
            <a:headEnd/>
            <a:tailEnd/>
          </a:ln>
        </p:spPr>
        <p:txBody>
          <a:bodyPr wrap="square" anchor="ctr">
            <a:spAutoFit/>
          </a:bodyPr>
          <a:lstStyle/>
          <a:p>
            <a:pPr defTabSz="914400" eaLnBrk="0" hangingPunct="0">
              <a:lnSpc>
                <a:spcPct val="150000"/>
              </a:lnSpc>
            </a:pPr>
            <a:r>
              <a:rPr lang="en-US" altLang="zh-CN" sz="2800" b="1" dirty="0">
                <a:latin typeface="Times New Roman" pitchFamily="18" charset="0"/>
                <a:ea typeface="微软雅黑" pitchFamily="34" charset="-122"/>
              </a:rPr>
              <a:t>	</a:t>
            </a:r>
            <a:r>
              <a:rPr lang="zh-CN" altLang="en-US" sz="2800" b="1" dirty="0">
                <a:latin typeface="Times New Roman" pitchFamily="18" charset="0"/>
                <a:ea typeface="微软雅黑" pitchFamily="34" charset="-122"/>
              </a:rPr>
              <a:t>从信息处理的角度来看，</a:t>
            </a:r>
            <a:r>
              <a:rPr lang="zh-CN" altLang="en-US" sz="2800" b="1" dirty="0">
                <a:solidFill>
                  <a:srgbClr val="FF0000"/>
                </a:solidFill>
                <a:latin typeface="Times New Roman" pitchFamily="18" charset="0"/>
                <a:ea typeface="微软雅黑" pitchFamily="34" charset="-122"/>
              </a:rPr>
              <a:t>干涉测量实质上</a:t>
            </a:r>
            <a:r>
              <a:rPr lang="zh-CN" altLang="en-US" sz="2800" b="1" dirty="0">
                <a:latin typeface="Times New Roman" pitchFamily="18" charset="0"/>
                <a:ea typeface="微软雅黑" pitchFamily="34" charset="-122"/>
              </a:rPr>
              <a:t>是待测信息对光频载波调制和解调的过程。各种类型的干涉仪器或干涉装置，实际上就是光</a:t>
            </a:r>
            <a:r>
              <a:rPr lang="zh-CN" altLang="en-US" sz="2800" b="1" dirty="0" smtClean="0">
                <a:latin typeface="Times New Roman" pitchFamily="18" charset="0"/>
                <a:ea typeface="微软雅黑" pitchFamily="34" charset="-122"/>
              </a:rPr>
              <a:t>频波</a:t>
            </a:r>
            <a:r>
              <a:rPr lang="zh-CN" altLang="en-US" sz="2800" b="1" dirty="0">
                <a:latin typeface="Times New Roman" pitchFamily="18" charset="0"/>
                <a:ea typeface="微软雅黑" pitchFamily="34" charset="-122"/>
              </a:rPr>
              <a:t>的调制器和解调器。 </a:t>
            </a:r>
          </a:p>
        </p:txBody>
      </p:sp>
      <p:sp>
        <p:nvSpPr>
          <p:cNvPr id="10" name="Rectangle 4"/>
          <p:cNvSpPr>
            <a:spLocks noChangeArrowheads="1"/>
          </p:cNvSpPr>
          <p:nvPr/>
        </p:nvSpPr>
        <p:spPr bwMode="auto">
          <a:xfrm>
            <a:off x="3507177" y="1114452"/>
            <a:ext cx="7007081" cy="646331"/>
          </a:xfrm>
          <a:prstGeom prst="rect">
            <a:avLst/>
          </a:prstGeom>
          <a:noFill/>
          <a:ln w="9525">
            <a:noFill/>
            <a:miter lim="800000"/>
            <a:headEnd/>
            <a:tailEnd/>
          </a:ln>
        </p:spPr>
        <p:txBody>
          <a:bodyPr wrap="square" anchor="ctr">
            <a:spAutoFit/>
          </a:bodyPr>
          <a:lstStyle/>
          <a:p>
            <a:pPr defTabSz="914400" eaLnBrk="0" hangingPunct="0"/>
            <a:r>
              <a:rPr lang="zh-CN" altLang="en-US" sz="3600" b="1" dirty="0" smtClean="0">
                <a:solidFill>
                  <a:srgbClr val="0000CC"/>
                </a:solidFill>
                <a:latin typeface="Times New Roman" pitchFamily="18" charset="0"/>
                <a:ea typeface="微软雅黑" pitchFamily="34" charset="-122"/>
              </a:rPr>
              <a:t>一、干涉</a:t>
            </a:r>
            <a:r>
              <a:rPr lang="zh-CN" altLang="en-US" sz="3600" b="1" dirty="0">
                <a:solidFill>
                  <a:srgbClr val="0000CC"/>
                </a:solidFill>
                <a:latin typeface="Times New Roman" pitchFamily="18" charset="0"/>
                <a:ea typeface="微软雅黑" pitchFamily="34" charset="-122"/>
              </a:rPr>
              <a:t>方法的光学信息变换 </a:t>
            </a:r>
          </a:p>
        </p:txBody>
      </p:sp>
      <p:pic>
        <p:nvPicPr>
          <p:cNvPr id="35850" name="Picture 10"/>
          <p:cNvPicPr>
            <a:picLocks noChangeAspect="1" noChangeArrowheads="1"/>
          </p:cNvPicPr>
          <p:nvPr/>
        </p:nvPicPr>
        <p:blipFill>
          <a:blip r:embed="rId2" cstate="print"/>
          <a:srcRect t="9235" r="2209"/>
          <a:stretch>
            <a:fillRect/>
          </a:stretch>
        </p:blipFill>
        <p:spPr bwMode="auto">
          <a:xfrm>
            <a:off x="2278003" y="3416060"/>
            <a:ext cx="8935888" cy="3864634"/>
          </a:xfrm>
          <a:prstGeom prst="rect">
            <a:avLst/>
          </a:prstGeom>
          <a:noFill/>
          <a:ln w="9525">
            <a:noFill/>
            <a:miter lim="800000"/>
            <a:headEnd/>
            <a:tailEnd/>
          </a:ln>
        </p:spPr>
      </p:pic>
      <p:sp>
        <p:nvSpPr>
          <p:cNvPr id="12" name="矩形 11"/>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3" name="矩形 12">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7" name="矩形 16">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1" name="文本框 60">
            <a:extLst>
              <a:ext uri="{FF2B5EF4-FFF2-40B4-BE49-F238E27FC236}">
                <a16:creationId xmlns:a16="http://schemas.microsoft.com/office/drawing/2014/main" xmlns="" id="{791D85D7-F412-9C48-9F2B-E33F5B7B4F3C}"/>
              </a:ext>
            </a:extLst>
          </p:cNvPr>
          <p:cNvSpPr txBox="1"/>
          <p:nvPr/>
        </p:nvSpPr>
        <p:spPr>
          <a:xfrm>
            <a:off x="1407719" y="329189"/>
            <a:ext cx="287618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干涉方法的光学</a:t>
            </a:r>
            <a:r>
              <a:rPr lang="zh-CN" altLang="en-US" sz="1800" b="1" dirty="0">
                <a:latin typeface="微软雅黑" panose="020B0503020204020204" pitchFamily="34" charset="-122"/>
                <a:ea typeface="微软雅黑" panose="020B0503020204020204" pitchFamily="34" charset="-122"/>
              </a:rPr>
              <a:t>信息变换</a:t>
            </a:r>
          </a:p>
        </p:txBody>
      </p:sp>
      <p:sp>
        <p:nvSpPr>
          <p:cNvPr id="22"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3"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577704"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48"/>
                                        </p:tgtEl>
                                        <p:attrNameLst>
                                          <p:attrName>style.visibility</p:attrName>
                                        </p:attrNameLst>
                                      </p:cBhvr>
                                      <p:to>
                                        <p:strVal val="visible"/>
                                      </p:to>
                                    </p:set>
                                    <p:animEffect transition="in" filter="blinds(horizontal)">
                                      <p:cBhvr>
                                        <p:cTn id="7" dur="500"/>
                                        <p:tgtEl>
                                          <p:spTgt spid="3584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5850"/>
                                        </p:tgtEl>
                                        <p:attrNameLst>
                                          <p:attrName>style.visibility</p:attrName>
                                        </p:attrNameLst>
                                      </p:cBhvr>
                                      <p:to>
                                        <p:strVal val="visible"/>
                                      </p:to>
                                    </p:set>
                                    <p:animEffect transition="in" filter="blinds(horizontal)">
                                      <p:cBhvr>
                                        <p:cTn id="12" dur="500"/>
                                        <p:tgtEl>
                                          <p:spTgt spid="35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00" name="Rectangle 4"/>
          <p:cNvSpPr>
            <a:spLocks noChangeArrowheads="1"/>
          </p:cNvSpPr>
          <p:nvPr/>
        </p:nvSpPr>
        <p:spPr bwMode="auto">
          <a:xfrm>
            <a:off x="2735867" y="1321023"/>
            <a:ext cx="8431789" cy="646331"/>
          </a:xfrm>
          <a:prstGeom prst="rect">
            <a:avLst/>
          </a:prstGeom>
          <a:noFill/>
          <a:ln w="9525" algn="ctr">
            <a:noFill/>
            <a:miter lim="800000"/>
            <a:headEnd/>
            <a:tailEnd/>
          </a:ln>
        </p:spPr>
        <p:txBody>
          <a:bodyPr wrap="square" anchor="ctr">
            <a:spAutoFit/>
          </a:bodyPr>
          <a:lstStyle/>
          <a:p>
            <a:pPr algn="ctr" defTabSz="914400" eaLnBrk="0" hangingPunct="0"/>
            <a:r>
              <a:rPr lang="en-US" altLang="zh-CN" sz="3600" b="1" dirty="0">
                <a:solidFill>
                  <a:srgbClr val="0000CC"/>
                </a:solidFill>
                <a:latin typeface="Times New Roman" pitchFamily="18" charset="0"/>
                <a:ea typeface="微软雅黑" pitchFamily="34" charset="-122"/>
              </a:rPr>
              <a:t>1. </a:t>
            </a:r>
            <a:r>
              <a:rPr lang="zh-CN" altLang="en-US" sz="3600" b="1" dirty="0">
                <a:solidFill>
                  <a:srgbClr val="0000CC"/>
                </a:solidFill>
                <a:latin typeface="Times New Roman" pitchFamily="18" charset="0"/>
                <a:ea typeface="微软雅黑" pitchFamily="34" charset="-122"/>
              </a:rPr>
              <a:t>单频光相干条纹探测的光学信息变换 </a:t>
            </a:r>
          </a:p>
        </p:txBody>
      </p:sp>
      <p:sp>
        <p:nvSpPr>
          <p:cNvPr id="183302" name="Rectangle 6"/>
          <p:cNvSpPr>
            <a:spLocks noChangeArrowheads="1"/>
          </p:cNvSpPr>
          <p:nvPr/>
        </p:nvSpPr>
        <p:spPr bwMode="auto">
          <a:xfrm>
            <a:off x="652462" y="2342079"/>
            <a:ext cx="12356955" cy="2677656"/>
          </a:xfrm>
          <a:prstGeom prst="rect">
            <a:avLst/>
          </a:prstGeom>
          <a:noFill/>
          <a:ln w="9525" algn="ctr">
            <a:noFill/>
            <a:miter lim="800000"/>
            <a:headEnd/>
            <a:tailEnd/>
          </a:ln>
        </p:spPr>
        <p:txBody>
          <a:bodyPr wrap="square" anchor="ctr">
            <a:spAutoFit/>
          </a:bodyPr>
          <a:lstStyle/>
          <a:p>
            <a:pPr defTabSz="914400" eaLnBrk="0" hangingPunct="0">
              <a:lnSpc>
                <a:spcPct val="150000"/>
              </a:lnSpc>
            </a:pPr>
            <a:r>
              <a:rPr lang="en-US" altLang="zh-CN" sz="2800" b="1" dirty="0" smtClean="0">
                <a:latin typeface="Times New Roman" pitchFamily="18" charset="0"/>
                <a:ea typeface="微软雅黑" pitchFamily="34" charset="-122"/>
              </a:rPr>
              <a:t>       </a:t>
            </a:r>
            <a:r>
              <a:rPr lang="zh-CN" altLang="en-US" sz="2800" b="1" dirty="0" smtClean="0">
                <a:latin typeface="Times New Roman" pitchFamily="18" charset="0"/>
                <a:ea typeface="微软雅黑" pitchFamily="34" charset="-122"/>
              </a:rPr>
              <a:t>在</a:t>
            </a:r>
            <a:r>
              <a:rPr lang="zh-CN" altLang="en-US" sz="2800" b="1" dirty="0">
                <a:latin typeface="Times New Roman" pitchFamily="18" charset="0"/>
                <a:ea typeface="微软雅黑" pitchFamily="34" charset="-122"/>
              </a:rPr>
              <a:t>使用窄光束单频光照明的干涉测量中，干涉条纹的探测是用单元光电器件在较小的空间范围内进行的。检测的对象一般是干涉条纹波数或相位随时间的变化，属于一维空间单频光的相位调制，其</a:t>
            </a:r>
            <a:r>
              <a:rPr lang="zh-CN" altLang="en-US" sz="2800" b="1" dirty="0">
                <a:solidFill>
                  <a:srgbClr val="009900"/>
                </a:solidFill>
                <a:latin typeface="Times New Roman" pitchFamily="18" charset="0"/>
                <a:ea typeface="微软雅黑" pitchFamily="34" charset="-122"/>
              </a:rPr>
              <a:t>适用于被测对象</a:t>
            </a:r>
            <a:r>
              <a:rPr lang="zh-CN" altLang="en-US" sz="2800" b="1" dirty="0">
                <a:latin typeface="Times New Roman" pitchFamily="18" charset="0"/>
                <a:ea typeface="微软雅黑" pitchFamily="34" charset="-122"/>
              </a:rPr>
              <a:t>是物体的整体位移或运动的场合。</a:t>
            </a:r>
          </a:p>
        </p:txBody>
      </p:sp>
      <p:sp>
        <p:nvSpPr>
          <p:cNvPr id="183303" name="Rectangle 7"/>
          <p:cNvSpPr>
            <a:spLocks noChangeArrowheads="1"/>
          </p:cNvSpPr>
          <p:nvPr/>
        </p:nvSpPr>
        <p:spPr bwMode="auto">
          <a:xfrm>
            <a:off x="703550" y="5152185"/>
            <a:ext cx="12208885" cy="1308628"/>
          </a:xfrm>
          <a:prstGeom prst="rect">
            <a:avLst/>
          </a:prstGeom>
          <a:noFill/>
          <a:ln w="9525" algn="ctr">
            <a:noFill/>
            <a:miter lim="800000"/>
            <a:headEnd/>
            <a:tailEnd/>
          </a:ln>
        </p:spPr>
        <p:txBody>
          <a:bodyPr wrap="square" anchor="ctr">
            <a:spAutoFit/>
          </a:bodyPr>
          <a:lstStyle/>
          <a:p>
            <a:pPr defTabSz="914400" eaLnBrk="0" hangingPunct="0">
              <a:lnSpc>
                <a:spcPct val="150000"/>
              </a:lnSpc>
            </a:pPr>
            <a:r>
              <a:rPr lang="en-US" altLang="zh-CN" sz="2800" b="1" dirty="0" smtClean="0">
                <a:latin typeface="Times New Roman" pitchFamily="18" charset="0"/>
                <a:ea typeface="微软雅黑" pitchFamily="34" charset="-122"/>
              </a:rPr>
              <a:t>        </a:t>
            </a:r>
            <a:r>
              <a:rPr lang="zh-CN" altLang="en-US" sz="2800" b="1" dirty="0" smtClean="0">
                <a:latin typeface="Times New Roman" pitchFamily="18" charset="0"/>
                <a:ea typeface="微软雅黑" pitchFamily="34" charset="-122"/>
              </a:rPr>
              <a:t>干涉条纹</a:t>
            </a:r>
            <a:r>
              <a:rPr lang="zh-CN" altLang="en-US" sz="2800" b="1" dirty="0">
                <a:latin typeface="Times New Roman" pitchFamily="18" charset="0"/>
                <a:ea typeface="微软雅黑" pitchFamily="34" charset="-122"/>
              </a:rPr>
              <a:t>时序变化的检测可采用</a:t>
            </a:r>
            <a:r>
              <a:rPr lang="zh-CN" altLang="en-US" sz="2800" b="1" dirty="0">
                <a:solidFill>
                  <a:srgbClr val="FF0000"/>
                </a:solidFill>
                <a:latin typeface="Times New Roman" pitchFamily="18" charset="0"/>
                <a:ea typeface="微软雅黑" pitchFamily="34" charset="-122"/>
              </a:rPr>
              <a:t>条纹光强检测法</a:t>
            </a:r>
            <a:r>
              <a:rPr lang="zh-CN" altLang="en-US" sz="2800" b="1" dirty="0">
                <a:latin typeface="Times New Roman" pitchFamily="18" charset="0"/>
                <a:ea typeface="微软雅黑" pitchFamily="34" charset="-122"/>
              </a:rPr>
              <a:t>、</a:t>
            </a:r>
            <a:r>
              <a:rPr lang="zh-CN" altLang="en-US" sz="2800" b="1" dirty="0">
                <a:solidFill>
                  <a:srgbClr val="FF0000"/>
                </a:solidFill>
                <a:latin typeface="Times New Roman" pitchFamily="18" charset="0"/>
                <a:ea typeface="微软雅黑" pitchFamily="34" charset="-122"/>
              </a:rPr>
              <a:t>干涉条纹比较法</a:t>
            </a:r>
            <a:r>
              <a:rPr lang="zh-CN" altLang="en-US" sz="2800" b="1" dirty="0">
                <a:latin typeface="Times New Roman" pitchFamily="18" charset="0"/>
                <a:ea typeface="微软雅黑" pitchFamily="34" charset="-122"/>
              </a:rPr>
              <a:t>和</a:t>
            </a:r>
            <a:r>
              <a:rPr lang="zh-CN" altLang="en-US" sz="2800" b="1" dirty="0">
                <a:solidFill>
                  <a:srgbClr val="FF0000"/>
                </a:solidFill>
                <a:latin typeface="Times New Roman" pitchFamily="18" charset="0"/>
                <a:ea typeface="微软雅黑" pitchFamily="34" charset="-122"/>
              </a:rPr>
              <a:t>干涉条纹跟踪法</a:t>
            </a:r>
            <a:r>
              <a:rPr lang="zh-CN" altLang="en-US" sz="2800" b="1" dirty="0">
                <a:latin typeface="Times New Roman" pitchFamily="18" charset="0"/>
                <a:ea typeface="微软雅黑" pitchFamily="34" charset="-122"/>
              </a:rPr>
              <a:t>等。</a:t>
            </a:r>
          </a:p>
        </p:txBody>
      </p:sp>
      <p:sp>
        <p:nvSpPr>
          <p:cNvPr id="12" name="矩形 11"/>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3" name="矩形 12">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7" name="矩形 16">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8" name="文本框 60">
            <a:extLst>
              <a:ext uri="{FF2B5EF4-FFF2-40B4-BE49-F238E27FC236}">
                <a16:creationId xmlns:a16="http://schemas.microsoft.com/office/drawing/2014/main" xmlns="" id="{791D85D7-F412-9C48-9F2B-E33F5B7B4F3C}"/>
              </a:ext>
            </a:extLst>
          </p:cNvPr>
          <p:cNvSpPr txBox="1"/>
          <p:nvPr/>
        </p:nvSpPr>
        <p:spPr>
          <a:xfrm>
            <a:off x="1407719" y="329189"/>
            <a:ext cx="287618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干涉方法的光学</a:t>
            </a:r>
            <a:r>
              <a:rPr lang="zh-CN" altLang="en-US" sz="1800" b="1" dirty="0">
                <a:latin typeface="微软雅黑" panose="020B0503020204020204" pitchFamily="34" charset="-122"/>
                <a:ea typeface="微软雅黑" panose="020B0503020204020204" pitchFamily="34" charset="-122"/>
              </a:rPr>
              <a:t>信息变换</a:t>
            </a:r>
          </a:p>
        </p:txBody>
      </p:sp>
      <p:sp>
        <p:nvSpPr>
          <p:cNvPr id="19"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0"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577704"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3302"/>
                                        </p:tgtEl>
                                        <p:attrNameLst>
                                          <p:attrName>style.visibility</p:attrName>
                                        </p:attrNameLst>
                                      </p:cBhvr>
                                      <p:to>
                                        <p:strVal val="visible"/>
                                      </p:to>
                                    </p:set>
                                    <p:animEffect transition="in" filter="blinds(horizontal)">
                                      <p:cBhvr>
                                        <p:cTn id="7" dur="500"/>
                                        <p:tgtEl>
                                          <p:spTgt spid="18330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3303"/>
                                        </p:tgtEl>
                                        <p:attrNameLst>
                                          <p:attrName>style.visibility</p:attrName>
                                        </p:attrNameLst>
                                      </p:cBhvr>
                                      <p:to>
                                        <p:strVal val="visible"/>
                                      </p:to>
                                    </p:set>
                                    <p:animEffect transition="in" filter="blinds(horizontal)">
                                      <p:cBhvr>
                                        <p:cTn id="12" dur="500"/>
                                        <p:tgtEl>
                                          <p:spTgt spid="183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02" grpId="0"/>
      <p:bldP spid="18330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00" name="Rectangle 7"/>
          <p:cNvSpPr>
            <a:spLocks noChangeArrowheads="1"/>
          </p:cNvSpPr>
          <p:nvPr/>
        </p:nvSpPr>
        <p:spPr bwMode="auto">
          <a:xfrm>
            <a:off x="3916418" y="1307941"/>
            <a:ext cx="6048375" cy="519113"/>
          </a:xfrm>
          <a:prstGeom prst="rect">
            <a:avLst/>
          </a:prstGeom>
          <a:noFill/>
          <a:ln w="9525" algn="ctr">
            <a:noFill/>
            <a:miter lim="800000"/>
            <a:headEnd/>
            <a:tailEnd/>
          </a:ln>
        </p:spPr>
        <p:txBody>
          <a:bodyPr anchor="ctr">
            <a:spAutoFit/>
          </a:bodyPr>
          <a:lstStyle/>
          <a:p>
            <a:pPr algn="ctr" defTabSz="914400" eaLnBrk="0" hangingPunct="0"/>
            <a:r>
              <a:rPr lang="zh-CN" altLang="en-US" sz="2800" b="1" dirty="0">
                <a:solidFill>
                  <a:srgbClr val="FF0000"/>
                </a:solidFill>
                <a:latin typeface="Times New Roman" pitchFamily="18" charset="0"/>
                <a:ea typeface="微软雅黑" pitchFamily="34" charset="-122"/>
              </a:rPr>
              <a:t>（</a:t>
            </a:r>
            <a:r>
              <a:rPr lang="en-US" altLang="zh-CN" sz="2800" b="1" dirty="0">
                <a:solidFill>
                  <a:srgbClr val="FF0000"/>
                </a:solidFill>
                <a:latin typeface="Times New Roman" pitchFamily="18" charset="0"/>
                <a:ea typeface="微软雅黑" pitchFamily="34" charset="-122"/>
              </a:rPr>
              <a:t>1</a:t>
            </a:r>
            <a:r>
              <a:rPr lang="zh-CN" altLang="en-US" sz="2800" b="1" dirty="0">
                <a:solidFill>
                  <a:srgbClr val="FF0000"/>
                </a:solidFill>
                <a:latin typeface="Times New Roman" pitchFamily="18" charset="0"/>
                <a:ea typeface="微软雅黑" pitchFamily="34" charset="-122"/>
              </a:rPr>
              <a:t>）干涉条纹光强探测法</a:t>
            </a:r>
          </a:p>
        </p:txBody>
      </p:sp>
      <p:pic>
        <p:nvPicPr>
          <p:cNvPr id="59402" name="Picture 10"/>
          <p:cNvPicPr>
            <a:picLocks noChangeAspect="1" noChangeArrowheads="1"/>
          </p:cNvPicPr>
          <p:nvPr/>
        </p:nvPicPr>
        <p:blipFill>
          <a:blip r:embed="rId3" cstate="print"/>
          <a:srcRect l="1533" t="8318" r="1067"/>
          <a:stretch>
            <a:fillRect/>
          </a:stretch>
        </p:blipFill>
        <p:spPr bwMode="auto">
          <a:xfrm>
            <a:off x="1846052" y="2639683"/>
            <a:ext cx="10386205" cy="3123670"/>
          </a:xfrm>
          <a:prstGeom prst="rect">
            <a:avLst/>
          </a:prstGeom>
          <a:noFill/>
          <a:ln w="9525">
            <a:noFill/>
            <a:miter lim="800000"/>
            <a:headEnd/>
            <a:tailEnd/>
          </a:ln>
        </p:spPr>
      </p:pic>
      <p:sp>
        <p:nvSpPr>
          <p:cNvPr id="59404" name="Rectangle 12"/>
          <p:cNvSpPr>
            <a:spLocks noChangeArrowheads="1"/>
          </p:cNvSpPr>
          <p:nvPr/>
        </p:nvSpPr>
        <p:spPr bwMode="auto">
          <a:xfrm>
            <a:off x="1155940" y="2058941"/>
            <a:ext cx="11783684" cy="60939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77813" algn="l" defTabSz="914400" rtl="0" eaLnBrk="1" fontAlgn="base" latinLnBrk="0" hangingPunct="1">
              <a:lnSpc>
                <a:spcPct val="120000"/>
              </a:lnSpc>
              <a:spcBef>
                <a:spcPct val="0"/>
              </a:spcBef>
              <a:spcAft>
                <a:spcPct val="0"/>
              </a:spcAft>
              <a:buClrTx/>
              <a:buSzTx/>
              <a:buFontTx/>
              <a:buNone/>
              <a:tabLst/>
            </a:pPr>
            <a:r>
              <a:rPr kumimoji="0" lang="zh-CN" sz="2800" b="1" i="0" u="none" strike="noStrike" cap="none" normalizeH="0" baseline="0" dirty="0" smtClean="0">
                <a:ln>
                  <a:noFill/>
                </a:ln>
                <a:solidFill>
                  <a:schemeClr val="tx1"/>
                </a:solidFill>
                <a:effectLst/>
                <a:latin typeface="黑体" pitchFamily="2" charset="-122"/>
                <a:ea typeface="黑体" pitchFamily="2" charset="-122"/>
                <a:cs typeface="Times New Roman" pitchFamily="18" charset="0"/>
              </a:rPr>
              <a:t>用光电元件直接探测条纹或同心圆环形干涉条纹的</a:t>
            </a:r>
            <a:r>
              <a:rPr kumimoji="0" lang="zh-CN" sz="2800" b="1" i="0" u="none" strike="noStrike" cap="none" normalizeH="0" baseline="0" dirty="0" smtClean="0">
                <a:ln>
                  <a:noFill/>
                </a:ln>
                <a:solidFill>
                  <a:srgbClr val="0000CC"/>
                </a:solidFill>
                <a:effectLst/>
                <a:latin typeface="黑体" pitchFamily="2" charset="-122"/>
                <a:ea typeface="黑体" pitchFamily="2" charset="-122"/>
                <a:cs typeface="Times New Roman" pitchFamily="18" charset="0"/>
              </a:rPr>
              <a:t>光强变化</a:t>
            </a:r>
            <a:r>
              <a:rPr kumimoji="0" lang="zh-CN" sz="2800" b="1" i="0" u="none" strike="noStrike" cap="none" normalizeH="0" baseline="0" dirty="0" smtClean="0">
                <a:ln>
                  <a:noFill/>
                </a:ln>
                <a:solidFill>
                  <a:schemeClr val="tx1"/>
                </a:solidFill>
                <a:effectLst/>
                <a:latin typeface="黑体" pitchFamily="2" charset="-122"/>
                <a:ea typeface="黑体" pitchFamily="2" charset="-122"/>
                <a:cs typeface="Times New Roman" pitchFamily="18" charset="0"/>
              </a:rPr>
              <a:t>而实现测量。</a:t>
            </a:r>
            <a:endParaRPr kumimoji="0" lang="zh-CN" altLang="en-US" sz="2800" b="1" i="0" u="none" strike="noStrike" cap="none" normalizeH="0" baseline="0" dirty="0" smtClean="0">
              <a:ln>
                <a:noFill/>
              </a:ln>
              <a:solidFill>
                <a:schemeClr val="tx1"/>
              </a:solidFill>
              <a:effectLst/>
              <a:latin typeface="黑体" pitchFamily="2" charset="-122"/>
              <a:ea typeface="黑体" pitchFamily="2" charset="-122"/>
            </a:endParaRPr>
          </a:p>
        </p:txBody>
      </p:sp>
      <p:graphicFrame>
        <p:nvGraphicFramePr>
          <p:cNvPr id="59403" name="Object 11"/>
          <p:cNvGraphicFramePr>
            <a:graphicFrameLocks noChangeAspect="1"/>
          </p:cNvGraphicFramePr>
          <p:nvPr/>
        </p:nvGraphicFramePr>
        <p:xfrm>
          <a:off x="6003986" y="5788325"/>
          <a:ext cx="624734" cy="370936"/>
        </p:xfrm>
        <a:graphic>
          <a:graphicData uri="http://schemas.openxmlformats.org/presentationml/2006/ole">
            <p:oleObj spid="_x0000_s59403" name="公式" r:id="rId4" imgW="304404" imgH="177569" progId="Equation.3">
              <p:embed/>
            </p:oleObj>
          </a:graphicData>
        </a:graphic>
      </p:graphicFrame>
      <p:sp>
        <p:nvSpPr>
          <p:cNvPr id="59405" name="Rectangle 13"/>
          <p:cNvSpPr>
            <a:spLocks noChangeArrowheads="1"/>
          </p:cNvSpPr>
          <p:nvPr/>
        </p:nvSpPr>
        <p:spPr bwMode="auto">
          <a:xfrm>
            <a:off x="897149" y="5695112"/>
            <a:ext cx="11835440" cy="159216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indent="277813" defTabSz="914400">
              <a:lnSpc>
                <a:spcPct val="120000"/>
              </a:lnSpc>
            </a:pPr>
            <a:r>
              <a:rPr lang="zh-CN" altLang="en-US" sz="2800" b="1" dirty="0" smtClean="0">
                <a:latin typeface="Times New Roman" pitchFamily="18" charset="0"/>
                <a:ea typeface="黑体" pitchFamily="2" charset="-122"/>
                <a:cs typeface="Times New Roman" pitchFamily="18" charset="0"/>
              </a:rPr>
              <a:t>当角反射镜</a:t>
            </a:r>
            <a:r>
              <a:rPr lang="en-US" altLang="zh-CN" sz="2800" b="1" dirty="0" smtClean="0">
                <a:latin typeface="Times New Roman" pitchFamily="18" charset="0"/>
                <a:ea typeface="黑体" pitchFamily="2" charset="-122"/>
                <a:cs typeface="Times New Roman" pitchFamily="18" charset="0"/>
              </a:rPr>
              <a:t>M</a:t>
            </a:r>
            <a:r>
              <a:rPr lang="en-US" altLang="zh-CN" sz="2800" b="1" baseline="-30000" dirty="0" smtClean="0">
                <a:latin typeface="Times New Roman" pitchFamily="18" charset="0"/>
                <a:ea typeface="黑体" pitchFamily="2" charset="-122"/>
                <a:cs typeface="Times New Roman" pitchFamily="18" charset="0"/>
              </a:rPr>
              <a:t>2</a:t>
            </a:r>
            <a:r>
              <a:rPr lang="zh-CN" altLang="en-US" sz="2800" b="1" dirty="0" smtClean="0">
                <a:latin typeface="Times New Roman" pitchFamily="18" charset="0"/>
                <a:ea typeface="黑体" pitchFamily="2" charset="-122"/>
                <a:cs typeface="Times New Roman" pitchFamily="18" charset="0"/>
              </a:rPr>
              <a:t>随被测物体移动       </a:t>
            </a:r>
            <a:r>
              <a:rPr kumimoji="0" lang="zh-CN" sz="2800" b="1"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rPr>
              <a:t>时，干涉条纹的光强发生一个周期的变化。采用光电接收器计数干涉条纹数目的增减或条纹间隔的相位关系，即能确定被测物体的位置变化。</a:t>
            </a:r>
          </a:p>
        </p:txBody>
      </p:sp>
      <p:sp>
        <p:nvSpPr>
          <p:cNvPr id="13" name="矩形 12"/>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4" name="矩形 13">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8" name="矩形 17">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9" name="文本框 60">
            <a:extLst>
              <a:ext uri="{FF2B5EF4-FFF2-40B4-BE49-F238E27FC236}">
                <a16:creationId xmlns:a16="http://schemas.microsoft.com/office/drawing/2014/main" xmlns="" id="{791D85D7-F412-9C48-9F2B-E33F5B7B4F3C}"/>
              </a:ext>
            </a:extLst>
          </p:cNvPr>
          <p:cNvSpPr txBox="1"/>
          <p:nvPr/>
        </p:nvSpPr>
        <p:spPr>
          <a:xfrm>
            <a:off x="1407719" y="329189"/>
            <a:ext cx="287618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干涉方法的光学</a:t>
            </a:r>
            <a:r>
              <a:rPr lang="zh-CN" altLang="en-US" sz="1800" b="1" dirty="0">
                <a:latin typeface="微软雅黑" panose="020B0503020204020204" pitchFamily="34" charset="-122"/>
                <a:ea typeface="微软雅黑" panose="020B0503020204020204" pitchFamily="34" charset="-122"/>
              </a:rPr>
              <a:t>信息变换</a:t>
            </a:r>
          </a:p>
        </p:txBody>
      </p:sp>
      <p:sp>
        <p:nvSpPr>
          <p:cNvPr id="20"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1"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577704"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4" name="Rectangle 6"/>
          <p:cNvSpPr>
            <a:spLocks noChangeArrowheads="1"/>
          </p:cNvSpPr>
          <p:nvPr/>
        </p:nvSpPr>
        <p:spPr bwMode="auto">
          <a:xfrm>
            <a:off x="3663080" y="1290335"/>
            <a:ext cx="6048375" cy="519113"/>
          </a:xfrm>
          <a:prstGeom prst="rect">
            <a:avLst/>
          </a:prstGeom>
          <a:noFill/>
          <a:ln w="9525" algn="ctr">
            <a:noFill/>
            <a:miter lim="800000"/>
            <a:headEnd/>
            <a:tailEnd/>
          </a:ln>
        </p:spPr>
        <p:txBody>
          <a:bodyPr anchor="ctr">
            <a:spAutoFit/>
          </a:bodyPr>
          <a:lstStyle/>
          <a:p>
            <a:pPr algn="ctr" defTabSz="914400" eaLnBrk="0" hangingPunct="0"/>
            <a:r>
              <a:rPr lang="zh-CN" altLang="en-US" sz="2800" b="1" dirty="0">
                <a:solidFill>
                  <a:srgbClr val="FF0000"/>
                </a:solidFill>
                <a:latin typeface="Times New Roman" pitchFamily="18" charset="0"/>
                <a:ea typeface="微软雅黑" pitchFamily="34" charset="-122"/>
              </a:rPr>
              <a:t>（</a:t>
            </a:r>
            <a:r>
              <a:rPr lang="en-US" altLang="zh-CN" sz="2800" b="1" dirty="0">
                <a:solidFill>
                  <a:srgbClr val="FF0000"/>
                </a:solidFill>
                <a:latin typeface="Times New Roman" pitchFamily="18" charset="0"/>
                <a:ea typeface="微软雅黑" pitchFamily="34" charset="-122"/>
              </a:rPr>
              <a:t>2</a:t>
            </a:r>
            <a:r>
              <a:rPr lang="zh-CN" altLang="en-US" sz="2800" b="1" dirty="0">
                <a:solidFill>
                  <a:srgbClr val="FF0000"/>
                </a:solidFill>
                <a:latin typeface="Times New Roman" pitchFamily="18" charset="0"/>
                <a:ea typeface="微软雅黑" pitchFamily="34" charset="-122"/>
              </a:rPr>
              <a:t>）干涉条纹比较法</a:t>
            </a:r>
          </a:p>
        </p:txBody>
      </p:sp>
      <p:pic>
        <p:nvPicPr>
          <p:cNvPr id="60426" name="Picture 10"/>
          <p:cNvPicPr>
            <a:picLocks noChangeAspect="1" noChangeArrowheads="1"/>
          </p:cNvPicPr>
          <p:nvPr/>
        </p:nvPicPr>
        <p:blipFill>
          <a:blip r:embed="rId2" cstate="print"/>
          <a:srcRect/>
          <a:stretch>
            <a:fillRect/>
          </a:stretch>
        </p:blipFill>
        <p:spPr bwMode="auto">
          <a:xfrm>
            <a:off x="620652" y="2012742"/>
            <a:ext cx="7317517" cy="4577839"/>
          </a:xfrm>
          <a:prstGeom prst="rect">
            <a:avLst/>
          </a:prstGeom>
          <a:noFill/>
          <a:ln w="9525">
            <a:noFill/>
            <a:miter lim="800000"/>
            <a:headEnd/>
            <a:tailEnd/>
          </a:ln>
        </p:spPr>
      </p:pic>
      <p:sp>
        <p:nvSpPr>
          <p:cNvPr id="10" name="矩形 9"/>
          <p:cNvSpPr/>
          <p:nvPr/>
        </p:nvSpPr>
        <p:spPr>
          <a:xfrm>
            <a:off x="8121769" y="2057219"/>
            <a:ext cx="4817853" cy="4694555"/>
          </a:xfrm>
          <a:prstGeom prst="rect">
            <a:avLst/>
          </a:prstGeom>
        </p:spPr>
        <p:txBody>
          <a:bodyPr wrap="square">
            <a:spAutoFit/>
          </a:bodyPr>
          <a:lstStyle/>
          <a:p>
            <a:pPr>
              <a:lnSpc>
                <a:spcPct val="120000"/>
              </a:lnSpc>
            </a:pPr>
            <a:r>
              <a:rPr lang="zh-CN" altLang="zh-CN" sz="2800" b="1" dirty="0" smtClean="0">
                <a:latin typeface="黑体" pitchFamily="2" charset="-122"/>
                <a:ea typeface="黑体" pitchFamily="2" charset="-122"/>
              </a:rPr>
              <a:t>采用两束不同光频的的相干光作为光源。其中一束光频率已知，另一束为未知，则对应测量臂的位移，两光束各自形成干涉条纹。它们经光电检测后，形成两种频率不同的电信号。通过电信号频率的比较，可以计算出未知光波的波长或频率。</a:t>
            </a:r>
            <a:endParaRPr lang="zh-CN" altLang="en-US" sz="2800" b="1" dirty="0">
              <a:latin typeface="黑体" pitchFamily="2" charset="-122"/>
              <a:ea typeface="黑体" pitchFamily="2" charset="-122"/>
            </a:endParaRPr>
          </a:p>
        </p:txBody>
      </p:sp>
      <p:sp>
        <p:nvSpPr>
          <p:cNvPr id="12" name="矩形 11"/>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3" name="矩形 12">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7" name="矩形 16">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8" name="文本框 60">
            <a:extLst>
              <a:ext uri="{FF2B5EF4-FFF2-40B4-BE49-F238E27FC236}">
                <a16:creationId xmlns:a16="http://schemas.microsoft.com/office/drawing/2014/main" xmlns="" id="{791D85D7-F412-9C48-9F2B-E33F5B7B4F3C}"/>
              </a:ext>
            </a:extLst>
          </p:cNvPr>
          <p:cNvSpPr txBox="1"/>
          <p:nvPr/>
        </p:nvSpPr>
        <p:spPr>
          <a:xfrm>
            <a:off x="1407719" y="329189"/>
            <a:ext cx="287618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干涉方法的光学</a:t>
            </a:r>
            <a:r>
              <a:rPr lang="zh-CN" altLang="en-US" sz="1800" b="1" dirty="0">
                <a:latin typeface="微软雅黑" panose="020B0503020204020204" pitchFamily="34" charset="-122"/>
                <a:ea typeface="微软雅黑" panose="020B0503020204020204" pitchFamily="34" charset="-122"/>
              </a:rPr>
              <a:t>信息变换</a:t>
            </a:r>
          </a:p>
        </p:txBody>
      </p:sp>
      <p:sp>
        <p:nvSpPr>
          <p:cNvPr id="19"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0"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577704"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8" name="Rectangle 3"/>
          <p:cNvSpPr>
            <a:spLocks noChangeArrowheads="1"/>
          </p:cNvSpPr>
          <p:nvPr/>
        </p:nvSpPr>
        <p:spPr bwMode="auto">
          <a:xfrm>
            <a:off x="5148199" y="1101745"/>
            <a:ext cx="3738563" cy="519113"/>
          </a:xfrm>
          <a:prstGeom prst="rect">
            <a:avLst/>
          </a:prstGeom>
          <a:noFill/>
          <a:ln w="9525" algn="ctr">
            <a:noFill/>
            <a:miter lim="800000"/>
            <a:headEnd/>
            <a:tailEnd/>
          </a:ln>
        </p:spPr>
        <p:txBody>
          <a:bodyPr anchor="ctr">
            <a:spAutoFit/>
          </a:bodyPr>
          <a:lstStyle/>
          <a:p>
            <a:pPr algn="ctr" defTabSz="914400" eaLnBrk="0" hangingPunct="0"/>
            <a:r>
              <a:rPr lang="zh-CN" altLang="en-US" sz="2800" b="1" dirty="0">
                <a:solidFill>
                  <a:srgbClr val="FF0000"/>
                </a:solidFill>
                <a:latin typeface="Times New Roman" pitchFamily="18" charset="0"/>
                <a:ea typeface="微软雅黑" pitchFamily="34" charset="-122"/>
              </a:rPr>
              <a:t>（</a:t>
            </a:r>
            <a:r>
              <a:rPr lang="en-US" altLang="zh-CN" sz="2800" b="1" dirty="0">
                <a:solidFill>
                  <a:srgbClr val="FF0000"/>
                </a:solidFill>
                <a:latin typeface="Times New Roman" pitchFamily="18" charset="0"/>
                <a:ea typeface="微软雅黑" pitchFamily="34" charset="-122"/>
              </a:rPr>
              <a:t>3</a:t>
            </a:r>
            <a:r>
              <a:rPr lang="zh-CN" altLang="en-US" sz="2800" b="1" dirty="0">
                <a:solidFill>
                  <a:srgbClr val="FF0000"/>
                </a:solidFill>
                <a:latin typeface="Times New Roman" pitchFamily="18" charset="0"/>
                <a:ea typeface="微软雅黑" pitchFamily="34" charset="-122"/>
              </a:rPr>
              <a:t>）干涉条纹跟踪法</a:t>
            </a:r>
          </a:p>
        </p:txBody>
      </p:sp>
      <p:pic>
        <p:nvPicPr>
          <p:cNvPr id="61450" name="Picture 10"/>
          <p:cNvPicPr>
            <a:picLocks noChangeAspect="1" noChangeArrowheads="1"/>
          </p:cNvPicPr>
          <p:nvPr/>
        </p:nvPicPr>
        <p:blipFill>
          <a:blip r:embed="rId2" cstate="print"/>
          <a:srcRect/>
          <a:stretch>
            <a:fillRect/>
          </a:stretch>
        </p:blipFill>
        <p:spPr bwMode="auto">
          <a:xfrm>
            <a:off x="737917" y="1724744"/>
            <a:ext cx="5174871" cy="5124629"/>
          </a:xfrm>
          <a:prstGeom prst="rect">
            <a:avLst/>
          </a:prstGeom>
          <a:noFill/>
          <a:ln w="9525">
            <a:noFill/>
            <a:miter lim="800000"/>
            <a:headEnd/>
            <a:tailEnd/>
          </a:ln>
        </p:spPr>
      </p:pic>
      <p:sp>
        <p:nvSpPr>
          <p:cNvPr id="10" name="矩形 9"/>
          <p:cNvSpPr/>
          <p:nvPr/>
        </p:nvSpPr>
        <p:spPr>
          <a:xfrm>
            <a:off x="6745856" y="2505792"/>
            <a:ext cx="6280031" cy="3194721"/>
          </a:xfrm>
          <a:prstGeom prst="rect">
            <a:avLst/>
          </a:prstGeom>
        </p:spPr>
        <p:txBody>
          <a:bodyPr wrap="square">
            <a:spAutoFit/>
          </a:bodyPr>
          <a:lstStyle/>
          <a:p>
            <a:pPr>
              <a:lnSpc>
                <a:spcPct val="120000"/>
              </a:lnSpc>
            </a:pPr>
            <a:r>
              <a:rPr lang="zh-CN" altLang="zh-CN" sz="2800" b="1" dirty="0" smtClean="0">
                <a:latin typeface="黑体" pitchFamily="2" charset="-122"/>
                <a:ea typeface="黑体" pitchFamily="2" charset="-122"/>
              </a:rPr>
              <a:t>在干涉仪测量镜面位置变化时，通过</a:t>
            </a:r>
            <a:r>
              <a:rPr lang="zh-CN" altLang="en-US" sz="2800" b="1" dirty="0" smtClean="0">
                <a:latin typeface="黑体" pitchFamily="2" charset="-122"/>
                <a:ea typeface="黑体" pitchFamily="2" charset="-122"/>
              </a:rPr>
              <a:t>光电</a:t>
            </a:r>
            <a:r>
              <a:rPr lang="zh-CN" altLang="zh-CN" sz="2800" b="1" dirty="0" smtClean="0">
                <a:latin typeface="黑体" pitchFamily="2" charset="-122"/>
                <a:ea typeface="黑体" pitchFamily="2" charset="-122"/>
              </a:rPr>
              <a:t>接收器实时地检测出干涉条纹的变化。同时利用控制系统使参考镜沿相应方向移动，以维持干涉条纹保持静止不动。这时，根据参考镜位移驱动电压的大小可以直接得到测量镜的位移。</a:t>
            </a:r>
            <a:endParaRPr lang="zh-CN" altLang="en-US" sz="2800" b="1" dirty="0">
              <a:latin typeface="黑体" pitchFamily="2" charset="-122"/>
              <a:ea typeface="黑体" pitchFamily="2" charset="-122"/>
            </a:endParaRPr>
          </a:p>
        </p:txBody>
      </p:sp>
      <p:sp>
        <p:nvSpPr>
          <p:cNvPr id="12" name="矩形 11"/>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3" name="矩形 12">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7" name="矩形 16">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8" name="文本框 60">
            <a:extLst>
              <a:ext uri="{FF2B5EF4-FFF2-40B4-BE49-F238E27FC236}">
                <a16:creationId xmlns:a16="http://schemas.microsoft.com/office/drawing/2014/main" xmlns="" id="{791D85D7-F412-9C48-9F2B-E33F5B7B4F3C}"/>
              </a:ext>
            </a:extLst>
          </p:cNvPr>
          <p:cNvSpPr txBox="1"/>
          <p:nvPr/>
        </p:nvSpPr>
        <p:spPr>
          <a:xfrm>
            <a:off x="1407719" y="329189"/>
            <a:ext cx="287618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干涉方法的光学</a:t>
            </a:r>
            <a:r>
              <a:rPr lang="zh-CN" altLang="en-US" sz="1800" b="1" dirty="0">
                <a:latin typeface="微软雅黑" panose="020B0503020204020204" pitchFamily="34" charset="-122"/>
                <a:ea typeface="微软雅黑" panose="020B0503020204020204" pitchFamily="34" charset="-122"/>
              </a:rPr>
              <a:t>信息变换</a:t>
            </a:r>
          </a:p>
        </p:txBody>
      </p:sp>
      <p:sp>
        <p:nvSpPr>
          <p:cNvPr id="19"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0"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577704"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6" name="Rectangle 4"/>
          <p:cNvSpPr>
            <a:spLocks noChangeArrowheads="1"/>
          </p:cNvSpPr>
          <p:nvPr/>
        </p:nvSpPr>
        <p:spPr bwMode="auto">
          <a:xfrm>
            <a:off x="3262315" y="1178840"/>
            <a:ext cx="8297081" cy="646331"/>
          </a:xfrm>
          <a:prstGeom prst="rect">
            <a:avLst/>
          </a:prstGeom>
          <a:noFill/>
          <a:ln w="9525" algn="ctr">
            <a:noFill/>
            <a:miter lim="800000"/>
            <a:headEnd/>
            <a:tailEnd/>
          </a:ln>
        </p:spPr>
        <p:txBody>
          <a:bodyPr wrap="square" anchor="ctr">
            <a:spAutoFit/>
          </a:bodyPr>
          <a:lstStyle/>
          <a:p>
            <a:pPr defTabSz="914400" eaLnBrk="0" hangingPunct="0"/>
            <a:r>
              <a:rPr lang="en-US" altLang="zh-CN" sz="3600" b="1" dirty="0">
                <a:solidFill>
                  <a:srgbClr val="0000CC"/>
                </a:solidFill>
                <a:latin typeface="Times New Roman" pitchFamily="18" charset="0"/>
                <a:ea typeface="微软雅黑" pitchFamily="34" charset="-122"/>
              </a:rPr>
              <a:t>2. </a:t>
            </a:r>
            <a:r>
              <a:rPr lang="zh-CN" altLang="en-US" sz="3600" b="1" dirty="0">
                <a:solidFill>
                  <a:srgbClr val="0000CC"/>
                </a:solidFill>
                <a:latin typeface="Times New Roman" pitchFamily="18" charset="0"/>
                <a:ea typeface="微软雅黑" pitchFamily="34" charset="-122"/>
              </a:rPr>
              <a:t>双频光相干差频探测的光学信息变换 </a:t>
            </a:r>
          </a:p>
        </p:txBody>
      </p:sp>
      <p:sp>
        <p:nvSpPr>
          <p:cNvPr id="187397" name="Rectangle 5"/>
          <p:cNvSpPr>
            <a:spLocks noChangeArrowheads="1"/>
          </p:cNvSpPr>
          <p:nvPr/>
        </p:nvSpPr>
        <p:spPr bwMode="auto">
          <a:xfrm>
            <a:off x="554470" y="2144111"/>
            <a:ext cx="12593493" cy="3323987"/>
          </a:xfrm>
          <a:prstGeom prst="rect">
            <a:avLst/>
          </a:prstGeom>
          <a:noFill/>
          <a:ln w="9525" algn="ctr">
            <a:noFill/>
            <a:miter lim="800000"/>
            <a:headEnd/>
            <a:tailEnd/>
          </a:ln>
        </p:spPr>
        <p:txBody>
          <a:bodyPr wrap="square" anchor="ctr">
            <a:spAutoFit/>
          </a:bodyPr>
          <a:lstStyle/>
          <a:p>
            <a:pPr defTabSz="914400" eaLnBrk="0" hangingPunct="0">
              <a:lnSpc>
                <a:spcPct val="150000"/>
              </a:lnSpc>
            </a:pPr>
            <a:r>
              <a:rPr lang="en-US" altLang="zh-CN" sz="2800" b="1" dirty="0" smtClean="0">
                <a:solidFill>
                  <a:srgbClr val="FF0000"/>
                </a:solidFill>
                <a:latin typeface="Times New Roman" pitchFamily="18" charset="0"/>
                <a:ea typeface="微软雅黑" pitchFamily="34" charset="-122"/>
              </a:rPr>
              <a:t>        </a:t>
            </a:r>
            <a:r>
              <a:rPr lang="zh-CN" altLang="en-US" sz="2800" b="1" dirty="0" smtClean="0">
                <a:solidFill>
                  <a:srgbClr val="FF0000"/>
                </a:solidFill>
                <a:latin typeface="Times New Roman" pitchFamily="18" charset="0"/>
                <a:ea typeface="微软雅黑" pitchFamily="34" charset="-122"/>
              </a:rPr>
              <a:t>双</a:t>
            </a:r>
            <a:r>
              <a:rPr lang="zh-CN" altLang="en-US" sz="2800" b="1" dirty="0">
                <a:solidFill>
                  <a:srgbClr val="FF0000"/>
                </a:solidFill>
                <a:latin typeface="Times New Roman" pitchFamily="18" charset="0"/>
                <a:ea typeface="微软雅黑" pitchFamily="34" charset="-122"/>
              </a:rPr>
              <a:t>频光的差频探测</a:t>
            </a:r>
            <a:r>
              <a:rPr lang="zh-CN" altLang="en-US" sz="2800" b="1" dirty="0">
                <a:latin typeface="Times New Roman" pitchFamily="18" charset="0"/>
                <a:ea typeface="微软雅黑" pitchFamily="34" charset="-122"/>
              </a:rPr>
              <a:t>是指将包含有被测信息的相干光调制波和做为基准的本机振荡光波在满足波前匹配的条件下，在光电探测器上进行光学混频，光电探测器的输出是频率为两光波频率差的</a:t>
            </a:r>
            <a:r>
              <a:rPr lang="zh-CN" altLang="en-US" sz="2800" b="1" dirty="0">
                <a:solidFill>
                  <a:schemeClr val="hlink"/>
                </a:solidFill>
                <a:latin typeface="Times New Roman" pitchFamily="18" charset="0"/>
                <a:ea typeface="微软雅黑" pitchFamily="34" charset="-122"/>
              </a:rPr>
              <a:t>拍频信号</a:t>
            </a:r>
            <a:r>
              <a:rPr lang="zh-CN" altLang="en-US" sz="2800" b="1" dirty="0">
                <a:latin typeface="Times New Roman" pitchFamily="18" charset="0"/>
                <a:ea typeface="微软雅黑" pitchFamily="34" charset="-122"/>
              </a:rPr>
              <a:t>。这个输出信号包含有调制信号的振幅、频率和相位特征。通过探测这种拍频信号，最终能解调出被传送的信息。 </a:t>
            </a:r>
          </a:p>
        </p:txBody>
      </p:sp>
      <p:sp>
        <p:nvSpPr>
          <p:cNvPr id="187398" name="Rectangle 6"/>
          <p:cNvSpPr>
            <a:spLocks noChangeArrowheads="1"/>
          </p:cNvSpPr>
          <p:nvPr/>
        </p:nvSpPr>
        <p:spPr bwMode="auto">
          <a:xfrm>
            <a:off x="642938" y="5551025"/>
            <a:ext cx="12366480" cy="1126462"/>
          </a:xfrm>
          <a:prstGeom prst="rect">
            <a:avLst/>
          </a:prstGeom>
          <a:noFill/>
          <a:ln w="9525" algn="ctr">
            <a:noFill/>
            <a:miter lim="800000"/>
            <a:headEnd/>
            <a:tailEnd/>
          </a:ln>
        </p:spPr>
        <p:txBody>
          <a:bodyPr wrap="square" anchor="ctr">
            <a:spAutoFit/>
          </a:bodyPr>
          <a:lstStyle/>
          <a:p>
            <a:pPr defTabSz="914400" eaLnBrk="0" hangingPunct="0">
              <a:lnSpc>
                <a:spcPct val="120000"/>
              </a:lnSpc>
            </a:pPr>
            <a:r>
              <a:rPr lang="en-US" altLang="zh-CN" sz="2800" b="1" dirty="0" smtClean="0">
                <a:latin typeface="Times New Roman" pitchFamily="18" charset="0"/>
                <a:ea typeface="微软雅黑" pitchFamily="34" charset="-122"/>
              </a:rPr>
              <a:t>        </a:t>
            </a:r>
            <a:r>
              <a:rPr lang="zh-CN" altLang="en-US" sz="2800" b="1" dirty="0" smtClean="0">
                <a:latin typeface="Times New Roman" pitchFamily="18" charset="0"/>
                <a:ea typeface="微软雅黑" pitchFamily="34" charset="-122"/>
              </a:rPr>
              <a:t>差</a:t>
            </a:r>
            <a:r>
              <a:rPr lang="zh-CN" altLang="en-US" sz="2800" b="1" dirty="0">
                <a:latin typeface="Times New Roman" pitchFamily="18" charset="0"/>
                <a:ea typeface="微软雅黑" pitchFamily="34" charset="-122"/>
              </a:rPr>
              <a:t>频探测是</a:t>
            </a:r>
            <a:r>
              <a:rPr lang="zh-CN" altLang="en-US" sz="2800" b="1" dirty="0">
                <a:solidFill>
                  <a:srgbClr val="FF0000"/>
                </a:solidFill>
                <a:latin typeface="Times New Roman" pitchFamily="18" charset="0"/>
                <a:ea typeface="微软雅黑" pitchFamily="34" charset="-122"/>
              </a:rPr>
              <a:t>相干检测</a:t>
            </a:r>
            <a:r>
              <a:rPr lang="zh-CN" altLang="en-US" sz="2800" b="1" dirty="0">
                <a:latin typeface="Times New Roman" pitchFamily="18" charset="0"/>
                <a:ea typeface="微软雅黑" pitchFamily="34" charset="-122"/>
              </a:rPr>
              <a:t>，与非相干探测的直接探测法相比，它具有灵敏度高、输出信噪比高、精度高、探测目标的作用距离远等特点。 </a:t>
            </a:r>
          </a:p>
        </p:txBody>
      </p:sp>
      <p:sp>
        <p:nvSpPr>
          <p:cNvPr id="12" name="矩形 11"/>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3" name="矩形 12">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7" name="矩形 16">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8" name="文本框 60">
            <a:extLst>
              <a:ext uri="{FF2B5EF4-FFF2-40B4-BE49-F238E27FC236}">
                <a16:creationId xmlns:a16="http://schemas.microsoft.com/office/drawing/2014/main" xmlns="" id="{791D85D7-F412-9C48-9F2B-E33F5B7B4F3C}"/>
              </a:ext>
            </a:extLst>
          </p:cNvPr>
          <p:cNvSpPr txBox="1"/>
          <p:nvPr/>
        </p:nvSpPr>
        <p:spPr>
          <a:xfrm>
            <a:off x="1407719" y="329189"/>
            <a:ext cx="287618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干涉方法的光学</a:t>
            </a:r>
            <a:r>
              <a:rPr lang="zh-CN" altLang="en-US" sz="1800" b="1" dirty="0">
                <a:latin typeface="微软雅黑" panose="020B0503020204020204" pitchFamily="34" charset="-122"/>
                <a:ea typeface="微软雅黑" panose="020B0503020204020204" pitchFamily="34" charset="-122"/>
              </a:rPr>
              <a:t>信息变换</a:t>
            </a:r>
          </a:p>
        </p:txBody>
      </p:sp>
      <p:sp>
        <p:nvSpPr>
          <p:cNvPr id="19"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0"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577704"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7397"/>
                                        </p:tgtEl>
                                        <p:attrNameLst>
                                          <p:attrName>style.visibility</p:attrName>
                                        </p:attrNameLst>
                                      </p:cBhvr>
                                      <p:to>
                                        <p:strVal val="visible"/>
                                      </p:to>
                                    </p:set>
                                    <p:animEffect transition="in" filter="blinds(horizontal)">
                                      <p:cBhvr>
                                        <p:cTn id="7" dur="500"/>
                                        <p:tgtEl>
                                          <p:spTgt spid="18739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7398"/>
                                        </p:tgtEl>
                                        <p:attrNameLst>
                                          <p:attrName>style.visibility</p:attrName>
                                        </p:attrNameLst>
                                      </p:cBhvr>
                                      <p:to>
                                        <p:strVal val="visible"/>
                                      </p:to>
                                    </p:set>
                                    <p:animEffect transition="in" filter="blinds(horizontal)">
                                      <p:cBhvr>
                                        <p:cTn id="12" dur="500"/>
                                        <p:tgtEl>
                                          <p:spTgt spid="187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7" grpId="0"/>
      <p:bldP spid="18739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3" name="Rectangle 3"/>
          <p:cNvSpPr>
            <a:spLocks noChangeArrowheads="1"/>
          </p:cNvSpPr>
          <p:nvPr/>
        </p:nvSpPr>
        <p:spPr bwMode="auto">
          <a:xfrm>
            <a:off x="2329927" y="1310554"/>
            <a:ext cx="9540020" cy="646331"/>
          </a:xfrm>
          <a:prstGeom prst="rect">
            <a:avLst/>
          </a:prstGeom>
          <a:noFill/>
          <a:ln w="9525" algn="ctr">
            <a:noFill/>
            <a:miter lim="800000"/>
            <a:headEnd/>
            <a:tailEnd/>
          </a:ln>
        </p:spPr>
        <p:txBody>
          <a:bodyPr wrap="square" anchor="ctr">
            <a:spAutoFit/>
          </a:bodyPr>
          <a:lstStyle/>
          <a:p>
            <a:pPr algn="ctr" defTabSz="914400" eaLnBrk="0" hangingPunct="0"/>
            <a:r>
              <a:rPr lang="zh-CN" altLang="en-US" sz="3600" b="1" dirty="0">
                <a:solidFill>
                  <a:srgbClr val="0000CC"/>
                </a:solidFill>
                <a:latin typeface="Times New Roman" pitchFamily="18" charset="0"/>
                <a:ea typeface="微软雅黑" pitchFamily="34" charset="-122"/>
              </a:rPr>
              <a:t>（</a:t>
            </a:r>
            <a:r>
              <a:rPr lang="en-US" altLang="zh-CN" sz="3600" b="1" dirty="0">
                <a:solidFill>
                  <a:srgbClr val="0000CC"/>
                </a:solidFill>
                <a:latin typeface="Times New Roman" pitchFamily="18" charset="0"/>
                <a:ea typeface="微软雅黑" pitchFamily="34" charset="-122"/>
              </a:rPr>
              <a:t>1</a:t>
            </a:r>
            <a:r>
              <a:rPr lang="zh-CN" altLang="en-US" sz="3600" b="1" dirty="0">
                <a:solidFill>
                  <a:srgbClr val="0000CC"/>
                </a:solidFill>
                <a:latin typeface="Times New Roman" pitchFamily="18" charset="0"/>
                <a:ea typeface="微软雅黑" pitchFamily="34" charset="-122"/>
              </a:rPr>
              <a:t>）光学多普勒效应及速度信息的光学变换</a:t>
            </a:r>
          </a:p>
        </p:txBody>
      </p:sp>
      <p:sp>
        <p:nvSpPr>
          <p:cNvPr id="189444" name="Rectangle 4"/>
          <p:cNvSpPr>
            <a:spLocks noChangeArrowheads="1"/>
          </p:cNvSpPr>
          <p:nvPr/>
        </p:nvSpPr>
        <p:spPr bwMode="auto">
          <a:xfrm>
            <a:off x="1509560" y="2302045"/>
            <a:ext cx="11159305" cy="738664"/>
          </a:xfrm>
          <a:prstGeom prst="rect">
            <a:avLst/>
          </a:prstGeom>
          <a:noFill/>
          <a:ln w="9525" algn="ctr">
            <a:noFill/>
            <a:miter lim="800000"/>
            <a:headEnd/>
            <a:tailEnd/>
          </a:ln>
        </p:spPr>
        <p:txBody>
          <a:bodyPr wrap="square" anchor="ctr">
            <a:spAutoFit/>
          </a:bodyPr>
          <a:lstStyle/>
          <a:p>
            <a:pPr defTabSz="914400" eaLnBrk="0" hangingPunct="0">
              <a:lnSpc>
                <a:spcPct val="150000"/>
              </a:lnSpc>
            </a:pPr>
            <a:r>
              <a:rPr lang="zh-CN" altLang="en-US" sz="2800" b="1" dirty="0" smtClean="0">
                <a:latin typeface="Times New Roman" pitchFamily="18" charset="0"/>
                <a:ea typeface="微软雅黑" pitchFamily="34" charset="-122"/>
              </a:rPr>
              <a:t>运动</a:t>
            </a:r>
            <a:r>
              <a:rPr lang="zh-CN" altLang="en-US" sz="2800" b="1" dirty="0">
                <a:latin typeface="Times New Roman" pitchFamily="18" charset="0"/>
                <a:ea typeface="微软雅黑" pitchFamily="34" charset="-122"/>
              </a:rPr>
              <a:t>物体能改变入射在其上的光波频率的现象称为</a:t>
            </a:r>
            <a:r>
              <a:rPr lang="zh-CN" altLang="en-US" sz="2800" b="1" dirty="0">
                <a:solidFill>
                  <a:srgbClr val="FF0000"/>
                </a:solidFill>
                <a:latin typeface="Times New Roman" pitchFamily="18" charset="0"/>
                <a:ea typeface="微软雅黑" pitchFamily="34" charset="-122"/>
              </a:rPr>
              <a:t>光学</a:t>
            </a:r>
            <a:r>
              <a:rPr lang="zh-CN" altLang="en-US" sz="2800" b="1" dirty="0" smtClean="0">
                <a:solidFill>
                  <a:srgbClr val="FF0000"/>
                </a:solidFill>
                <a:latin typeface="Times New Roman" pitchFamily="18" charset="0"/>
                <a:ea typeface="微软雅黑" pitchFamily="34" charset="-122"/>
              </a:rPr>
              <a:t>多普勒效应</a:t>
            </a:r>
            <a:r>
              <a:rPr lang="zh-CN" altLang="en-US" sz="2800" b="1" dirty="0" smtClean="0">
                <a:latin typeface="Times New Roman" pitchFamily="18" charset="0"/>
                <a:ea typeface="微软雅黑" pitchFamily="34" charset="-122"/>
              </a:rPr>
              <a:t>。</a:t>
            </a:r>
            <a:r>
              <a:rPr lang="zh-CN" altLang="en-US" sz="2800" b="1" dirty="0" smtClean="0">
                <a:latin typeface="楷体_GB2312" pitchFamily="49" charset="-122"/>
                <a:ea typeface="楷体_GB2312" pitchFamily="49" charset="-122"/>
              </a:rPr>
              <a:t> </a:t>
            </a:r>
            <a:endParaRPr lang="zh-CN" altLang="en-US" sz="2800" b="1" dirty="0">
              <a:latin typeface="Times New Roman" pitchFamily="18" charset="0"/>
              <a:ea typeface="微软雅黑" pitchFamily="34" charset="-122"/>
            </a:endParaRPr>
          </a:p>
        </p:txBody>
      </p:sp>
      <p:grpSp>
        <p:nvGrpSpPr>
          <p:cNvPr id="115" name="组合 114"/>
          <p:cNvGrpSpPr/>
          <p:nvPr/>
        </p:nvGrpSpPr>
        <p:grpSpPr>
          <a:xfrm>
            <a:off x="2433464" y="3177276"/>
            <a:ext cx="9332964" cy="3844626"/>
            <a:chOff x="2692257" y="3625850"/>
            <a:chExt cx="8641124" cy="3227388"/>
          </a:xfrm>
        </p:grpSpPr>
        <p:sp>
          <p:nvSpPr>
            <p:cNvPr id="63498" name="Rectangle 119"/>
            <p:cNvSpPr>
              <a:spLocks noChangeArrowheads="1"/>
            </p:cNvSpPr>
            <p:nvPr/>
          </p:nvSpPr>
          <p:spPr bwMode="auto">
            <a:xfrm>
              <a:off x="5341361" y="5786438"/>
              <a:ext cx="25400" cy="76200"/>
            </a:xfrm>
            <a:prstGeom prst="rect">
              <a:avLst/>
            </a:prstGeom>
            <a:noFill/>
            <a:ln w="9525">
              <a:noFill/>
              <a:miter lim="800000"/>
              <a:headEnd/>
              <a:tailEnd/>
            </a:ln>
          </p:spPr>
          <p:txBody>
            <a:bodyPr wrap="none" lIns="0" tIns="0" rIns="0" bIns="0">
              <a:spAutoFit/>
            </a:bodyPr>
            <a:lstStyle/>
            <a:p>
              <a:pPr defTabSz="914400"/>
              <a:r>
                <a:rPr lang="en-US" altLang="zh-CN" sz="500" i="1">
                  <a:solidFill>
                    <a:srgbClr val="000000"/>
                  </a:solidFill>
                  <a:latin typeface="Times New Roman" pitchFamily="18" charset="0"/>
                  <a:ea typeface="楷体_GB2312" pitchFamily="49" charset="-122"/>
                </a:rPr>
                <a:t>s</a:t>
              </a:r>
              <a:endParaRPr lang="en-US" altLang="zh-CN" sz="2800" b="1">
                <a:latin typeface="楷体_GB2312" pitchFamily="49" charset="-122"/>
                <a:ea typeface="楷体_GB2312" pitchFamily="49" charset="-122"/>
              </a:endParaRPr>
            </a:p>
          </p:txBody>
        </p:sp>
        <p:graphicFrame>
          <p:nvGraphicFramePr>
            <p:cNvPr id="10242" name="Object 241"/>
            <p:cNvGraphicFramePr>
              <a:graphicFrameLocks noChangeAspect="1"/>
            </p:cNvGraphicFramePr>
            <p:nvPr/>
          </p:nvGraphicFramePr>
          <p:xfrm>
            <a:off x="7085231" y="3903509"/>
            <a:ext cx="4248150" cy="941388"/>
          </p:xfrm>
          <a:graphic>
            <a:graphicData uri="http://schemas.openxmlformats.org/presentationml/2006/ole">
              <p:oleObj spid="_x0000_s63501" name="公式" r:id="rId3" imgW="1765300" imgH="393700" progId="Equation.3">
                <p:embed/>
              </p:oleObj>
            </a:graphicData>
          </a:graphic>
        </p:graphicFrame>
        <p:grpSp>
          <p:nvGrpSpPr>
            <p:cNvPr id="2" name="Group 253"/>
            <p:cNvGrpSpPr>
              <a:grpSpLocks/>
            </p:cNvGrpSpPr>
            <p:nvPr/>
          </p:nvGrpSpPr>
          <p:grpSpPr bwMode="auto">
            <a:xfrm>
              <a:off x="2692257" y="3625850"/>
              <a:ext cx="3821112" cy="3227388"/>
              <a:chOff x="2018" y="1752"/>
              <a:chExt cx="2407" cy="2033"/>
            </a:xfrm>
          </p:grpSpPr>
          <p:sp>
            <p:nvSpPr>
              <p:cNvPr id="63504" name="Rectangle 120"/>
              <p:cNvSpPr>
                <a:spLocks noChangeArrowheads="1"/>
              </p:cNvSpPr>
              <p:nvPr/>
            </p:nvSpPr>
            <p:spPr bwMode="auto">
              <a:xfrm>
                <a:off x="3651" y="2795"/>
                <a:ext cx="136" cy="173"/>
              </a:xfrm>
              <a:prstGeom prst="rect">
                <a:avLst/>
              </a:prstGeom>
              <a:noFill/>
              <a:ln w="9525">
                <a:noFill/>
                <a:miter lim="800000"/>
                <a:headEnd/>
                <a:tailEnd/>
              </a:ln>
            </p:spPr>
            <p:txBody>
              <a:bodyPr lIns="0" tIns="0" rIns="0" bIns="0">
                <a:spAutoFit/>
              </a:bodyPr>
              <a:lstStyle/>
              <a:p>
                <a:pPr defTabSz="914400"/>
                <a:r>
                  <a:rPr lang="en-US" altLang="zh-CN" sz="1800" b="1" i="1">
                    <a:solidFill>
                      <a:srgbClr val="000000"/>
                    </a:solidFill>
                    <a:latin typeface="Times New Roman" pitchFamily="18" charset="0"/>
                    <a:ea typeface="楷体_GB2312" pitchFamily="49" charset="-122"/>
                  </a:rPr>
                  <a:t>f</a:t>
                </a:r>
                <a:r>
                  <a:rPr lang="en-US" altLang="zh-CN" sz="1800" b="1" i="1" baseline="-25000">
                    <a:solidFill>
                      <a:srgbClr val="000000"/>
                    </a:solidFill>
                    <a:latin typeface="Times New Roman" pitchFamily="18" charset="0"/>
                    <a:ea typeface="楷体_GB2312" pitchFamily="49" charset="-122"/>
                  </a:rPr>
                  <a:t>s</a:t>
                </a:r>
                <a:endParaRPr lang="en-US" altLang="zh-CN" sz="1800" b="1" baseline="-25000">
                  <a:latin typeface="楷体_GB2312" pitchFamily="49" charset="-122"/>
                  <a:ea typeface="楷体_GB2312" pitchFamily="49" charset="-122"/>
                </a:endParaRPr>
              </a:p>
            </p:txBody>
          </p:sp>
          <p:sp>
            <p:nvSpPr>
              <p:cNvPr id="63505" name="Rectangle 125"/>
              <p:cNvSpPr>
                <a:spLocks noChangeArrowheads="1"/>
              </p:cNvSpPr>
              <p:nvPr/>
            </p:nvSpPr>
            <p:spPr bwMode="auto">
              <a:xfrm>
                <a:off x="2018" y="2976"/>
                <a:ext cx="576" cy="173"/>
              </a:xfrm>
              <a:prstGeom prst="rect">
                <a:avLst/>
              </a:prstGeom>
              <a:noFill/>
              <a:ln w="9525">
                <a:noFill/>
                <a:miter lim="800000"/>
                <a:headEnd/>
                <a:tailEnd/>
              </a:ln>
            </p:spPr>
            <p:txBody>
              <a:bodyPr wrap="none" lIns="0" tIns="0" rIns="0" bIns="0">
                <a:spAutoFit/>
              </a:bodyPr>
              <a:lstStyle/>
              <a:p>
                <a:pPr defTabSz="914400"/>
                <a:r>
                  <a:rPr lang="zh-CN" altLang="en-US" sz="1800">
                    <a:solidFill>
                      <a:srgbClr val="000000"/>
                    </a:solidFill>
                    <a:latin typeface="宋体" pitchFamily="2" charset="-122"/>
                  </a:rPr>
                  <a:t>入射方向</a:t>
                </a:r>
                <a:endParaRPr lang="zh-CN" altLang="en-US" sz="1800" b="1">
                  <a:latin typeface="楷体_GB2312" pitchFamily="49" charset="-122"/>
                  <a:ea typeface="楷体_GB2312" pitchFamily="49" charset="-122"/>
                </a:endParaRPr>
              </a:p>
            </p:txBody>
          </p:sp>
          <p:sp>
            <p:nvSpPr>
              <p:cNvPr id="63506" name="Rectangle 127"/>
              <p:cNvSpPr>
                <a:spLocks noChangeArrowheads="1"/>
              </p:cNvSpPr>
              <p:nvPr/>
            </p:nvSpPr>
            <p:spPr bwMode="auto">
              <a:xfrm>
                <a:off x="4241" y="2115"/>
                <a:ext cx="184" cy="173"/>
              </a:xfrm>
              <a:prstGeom prst="rect">
                <a:avLst/>
              </a:prstGeom>
              <a:noFill/>
              <a:ln w="9525">
                <a:noFill/>
                <a:miter lim="800000"/>
                <a:headEnd/>
                <a:tailEnd/>
              </a:ln>
            </p:spPr>
            <p:txBody>
              <a:bodyPr wrap="none" lIns="0" tIns="0" rIns="0" bIns="0">
                <a:spAutoFit/>
              </a:bodyPr>
              <a:lstStyle/>
              <a:p>
                <a:pPr defTabSz="914400"/>
                <a:r>
                  <a:rPr lang="en-US" altLang="zh-CN" sz="1800">
                    <a:solidFill>
                      <a:srgbClr val="000000"/>
                    </a:solidFill>
                    <a:latin typeface="Times New Roman" pitchFamily="18" charset="0"/>
                    <a:ea typeface="楷体_GB2312" pitchFamily="49" charset="-122"/>
                  </a:rPr>
                  <a:t>PD</a:t>
                </a:r>
                <a:endParaRPr lang="en-US" altLang="zh-CN" sz="1800" b="1">
                  <a:latin typeface="楷体_GB2312" pitchFamily="49" charset="-122"/>
                  <a:ea typeface="楷体_GB2312" pitchFamily="49" charset="-122"/>
                </a:endParaRPr>
              </a:p>
            </p:txBody>
          </p:sp>
          <p:sp>
            <p:nvSpPr>
              <p:cNvPr id="63507" name="Rectangle 128"/>
              <p:cNvSpPr>
                <a:spLocks noChangeArrowheads="1"/>
              </p:cNvSpPr>
              <p:nvPr/>
            </p:nvSpPr>
            <p:spPr bwMode="auto">
              <a:xfrm>
                <a:off x="2245" y="3203"/>
                <a:ext cx="16" cy="77"/>
              </a:xfrm>
              <a:prstGeom prst="rect">
                <a:avLst/>
              </a:prstGeom>
              <a:noFill/>
              <a:ln w="9525">
                <a:noFill/>
                <a:miter lim="800000"/>
                <a:headEnd/>
                <a:tailEnd/>
              </a:ln>
            </p:spPr>
            <p:txBody>
              <a:bodyPr wrap="none" lIns="0" tIns="0" rIns="0" bIns="0">
                <a:spAutoFit/>
              </a:bodyPr>
              <a:lstStyle/>
              <a:p>
                <a:pPr defTabSz="914400"/>
                <a:r>
                  <a:rPr lang="zh-CN" altLang="en-US" sz="800">
                    <a:solidFill>
                      <a:srgbClr val="000000"/>
                    </a:solidFill>
                    <a:latin typeface="Times New Roman" pitchFamily="18" charset="0"/>
                    <a:ea typeface="楷体_GB2312" pitchFamily="49" charset="-122"/>
                  </a:rPr>
                  <a:t> </a:t>
                </a:r>
                <a:endParaRPr lang="zh-CN" altLang="en-US" sz="2800" b="1">
                  <a:latin typeface="楷体_GB2312" pitchFamily="49" charset="-122"/>
                  <a:ea typeface="楷体_GB2312" pitchFamily="49" charset="-122"/>
                </a:endParaRPr>
              </a:p>
            </p:txBody>
          </p:sp>
          <p:sp>
            <p:nvSpPr>
              <p:cNvPr id="63508" name="Rectangle 129"/>
              <p:cNvSpPr>
                <a:spLocks noChangeArrowheads="1"/>
              </p:cNvSpPr>
              <p:nvPr/>
            </p:nvSpPr>
            <p:spPr bwMode="auto">
              <a:xfrm>
                <a:off x="2245" y="2160"/>
                <a:ext cx="576" cy="173"/>
              </a:xfrm>
              <a:prstGeom prst="rect">
                <a:avLst/>
              </a:prstGeom>
              <a:noFill/>
              <a:ln w="9525">
                <a:noFill/>
                <a:miter lim="800000"/>
                <a:headEnd/>
                <a:tailEnd/>
              </a:ln>
            </p:spPr>
            <p:txBody>
              <a:bodyPr wrap="none" lIns="0" tIns="0" rIns="0" bIns="0">
                <a:spAutoFit/>
              </a:bodyPr>
              <a:lstStyle/>
              <a:p>
                <a:pPr defTabSz="914400"/>
                <a:r>
                  <a:rPr lang="zh-CN" altLang="en-US" sz="1800">
                    <a:solidFill>
                      <a:srgbClr val="000000"/>
                    </a:solidFill>
                    <a:latin typeface="宋体" pitchFamily="2" charset="-122"/>
                  </a:rPr>
                  <a:t>速度方向</a:t>
                </a:r>
                <a:endParaRPr lang="zh-CN" altLang="en-US" sz="1800" b="1">
                  <a:latin typeface="楷体_GB2312" pitchFamily="49" charset="-122"/>
                  <a:ea typeface="楷体_GB2312" pitchFamily="49" charset="-122"/>
                </a:endParaRPr>
              </a:p>
            </p:txBody>
          </p:sp>
          <p:sp>
            <p:nvSpPr>
              <p:cNvPr id="63509" name="Freeform 11"/>
              <p:cNvSpPr>
                <a:spLocks noEditPoints="1"/>
              </p:cNvSpPr>
              <p:nvPr/>
            </p:nvSpPr>
            <p:spPr bwMode="auto">
              <a:xfrm>
                <a:off x="2779" y="1933"/>
                <a:ext cx="515" cy="23"/>
              </a:xfrm>
              <a:custGeom>
                <a:avLst/>
                <a:gdLst>
                  <a:gd name="T0" fmla="*/ 23 w 480"/>
                  <a:gd name="T1" fmla="*/ 0 h 21"/>
                  <a:gd name="T2" fmla="*/ 0 w 480"/>
                  <a:gd name="T3" fmla="*/ 25 h 21"/>
                  <a:gd name="T4" fmla="*/ 0 w 480"/>
                  <a:gd name="T5" fmla="*/ 0 h 21"/>
                  <a:gd name="T6" fmla="*/ 69 w 480"/>
                  <a:gd name="T7" fmla="*/ 0 h 21"/>
                  <a:gd name="T8" fmla="*/ 47 w 480"/>
                  <a:gd name="T9" fmla="*/ 25 h 21"/>
                  <a:gd name="T10" fmla="*/ 47 w 480"/>
                  <a:gd name="T11" fmla="*/ 0 h 21"/>
                  <a:gd name="T12" fmla="*/ 114 w 480"/>
                  <a:gd name="T13" fmla="*/ 0 h 21"/>
                  <a:gd name="T14" fmla="*/ 92 w 480"/>
                  <a:gd name="T15" fmla="*/ 25 h 21"/>
                  <a:gd name="T16" fmla="*/ 92 w 480"/>
                  <a:gd name="T17" fmla="*/ 0 h 21"/>
                  <a:gd name="T18" fmla="*/ 161 w 480"/>
                  <a:gd name="T19" fmla="*/ 0 h 21"/>
                  <a:gd name="T20" fmla="*/ 138 w 480"/>
                  <a:gd name="T21" fmla="*/ 25 h 21"/>
                  <a:gd name="T22" fmla="*/ 138 w 480"/>
                  <a:gd name="T23" fmla="*/ 0 h 21"/>
                  <a:gd name="T24" fmla="*/ 207 w 480"/>
                  <a:gd name="T25" fmla="*/ 0 h 21"/>
                  <a:gd name="T26" fmla="*/ 185 w 480"/>
                  <a:gd name="T27" fmla="*/ 25 h 21"/>
                  <a:gd name="T28" fmla="*/ 185 w 480"/>
                  <a:gd name="T29" fmla="*/ 0 h 21"/>
                  <a:gd name="T30" fmla="*/ 253 w 480"/>
                  <a:gd name="T31" fmla="*/ 0 h 21"/>
                  <a:gd name="T32" fmla="*/ 231 w 480"/>
                  <a:gd name="T33" fmla="*/ 25 h 21"/>
                  <a:gd name="T34" fmla="*/ 231 w 480"/>
                  <a:gd name="T35" fmla="*/ 0 h 21"/>
                  <a:gd name="T36" fmla="*/ 299 w 480"/>
                  <a:gd name="T37" fmla="*/ 0 h 21"/>
                  <a:gd name="T38" fmla="*/ 277 w 480"/>
                  <a:gd name="T39" fmla="*/ 25 h 21"/>
                  <a:gd name="T40" fmla="*/ 277 w 480"/>
                  <a:gd name="T41" fmla="*/ 0 h 21"/>
                  <a:gd name="T42" fmla="*/ 345 w 480"/>
                  <a:gd name="T43" fmla="*/ 0 h 21"/>
                  <a:gd name="T44" fmla="*/ 322 w 480"/>
                  <a:gd name="T45" fmla="*/ 25 h 21"/>
                  <a:gd name="T46" fmla="*/ 322 w 480"/>
                  <a:gd name="T47" fmla="*/ 0 h 21"/>
                  <a:gd name="T48" fmla="*/ 392 w 480"/>
                  <a:gd name="T49" fmla="*/ 0 h 21"/>
                  <a:gd name="T50" fmla="*/ 368 w 480"/>
                  <a:gd name="T51" fmla="*/ 25 h 21"/>
                  <a:gd name="T52" fmla="*/ 368 w 480"/>
                  <a:gd name="T53" fmla="*/ 0 h 21"/>
                  <a:gd name="T54" fmla="*/ 437 w 480"/>
                  <a:gd name="T55" fmla="*/ 0 h 21"/>
                  <a:gd name="T56" fmla="*/ 414 w 480"/>
                  <a:gd name="T57" fmla="*/ 25 h 21"/>
                  <a:gd name="T58" fmla="*/ 414 w 480"/>
                  <a:gd name="T59" fmla="*/ 0 h 21"/>
                  <a:gd name="T60" fmla="*/ 484 w 480"/>
                  <a:gd name="T61" fmla="*/ 0 h 21"/>
                  <a:gd name="T62" fmla="*/ 460 w 480"/>
                  <a:gd name="T63" fmla="*/ 25 h 21"/>
                  <a:gd name="T64" fmla="*/ 460 w 480"/>
                  <a:gd name="T65" fmla="*/ 0 h 21"/>
                  <a:gd name="T66" fmla="*/ 530 w 480"/>
                  <a:gd name="T67" fmla="*/ 0 h 21"/>
                  <a:gd name="T68" fmla="*/ 505 w 480"/>
                  <a:gd name="T69" fmla="*/ 25 h 21"/>
                  <a:gd name="T70" fmla="*/ 505 w 480"/>
                  <a:gd name="T71" fmla="*/ 0 h 21"/>
                  <a:gd name="T72" fmla="*/ 553 w 480"/>
                  <a:gd name="T73" fmla="*/ 0 h 21"/>
                  <a:gd name="T74" fmla="*/ 553 w 480"/>
                  <a:gd name="T75" fmla="*/ 25 h 21"/>
                  <a:gd name="T76" fmla="*/ 553 w 480"/>
                  <a:gd name="T77" fmla="*/ 0 h 2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480"/>
                  <a:gd name="T118" fmla="*/ 0 h 21"/>
                  <a:gd name="T119" fmla="*/ 480 w 480"/>
                  <a:gd name="T120" fmla="*/ 21 h 2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480" h="21">
                    <a:moveTo>
                      <a:pt x="0" y="0"/>
                    </a:moveTo>
                    <a:lnTo>
                      <a:pt x="20" y="0"/>
                    </a:lnTo>
                    <a:lnTo>
                      <a:pt x="20" y="21"/>
                    </a:lnTo>
                    <a:lnTo>
                      <a:pt x="0" y="21"/>
                    </a:lnTo>
                    <a:lnTo>
                      <a:pt x="0" y="0"/>
                    </a:lnTo>
                    <a:close/>
                    <a:moveTo>
                      <a:pt x="41" y="0"/>
                    </a:moveTo>
                    <a:lnTo>
                      <a:pt x="60" y="0"/>
                    </a:lnTo>
                    <a:lnTo>
                      <a:pt x="60" y="21"/>
                    </a:lnTo>
                    <a:lnTo>
                      <a:pt x="41" y="21"/>
                    </a:lnTo>
                    <a:lnTo>
                      <a:pt x="41" y="0"/>
                    </a:lnTo>
                    <a:close/>
                    <a:moveTo>
                      <a:pt x="80" y="0"/>
                    </a:moveTo>
                    <a:lnTo>
                      <a:pt x="99" y="0"/>
                    </a:lnTo>
                    <a:lnTo>
                      <a:pt x="99" y="21"/>
                    </a:lnTo>
                    <a:lnTo>
                      <a:pt x="80" y="21"/>
                    </a:lnTo>
                    <a:lnTo>
                      <a:pt x="80" y="0"/>
                    </a:lnTo>
                    <a:close/>
                    <a:moveTo>
                      <a:pt x="120" y="0"/>
                    </a:moveTo>
                    <a:lnTo>
                      <a:pt x="140" y="0"/>
                    </a:lnTo>
                    <a:lnTo>
                      <a:pt x="140" y="21"/>
                    </a:lnTo>
                    <a:lnTo>
                      <a:pt x="120" y="21"/>
                    </a:lnTo>
                    <a:lnTo>
                      <a:pt x="120" y="0"/>
                    </a:lnTo>
                    <a:close/>
                    <a:moveTo>
                      <a:pt x="160" y="0"/>
                    </a:moveTo>
                    <a:lnTo>
                      <a:pt x="180" y="0"/>
                    </a:lnTo>
                    <a:lnTo>
                      <a:pt x="180" y="21"/>
                    </a:lnTo>
                    <a:lnTo>
                      <a:pt x="160" y="21"/>
                    </a:lnTo>
                    <a:lnTo>
                      <a:pt x="160" y="0"/>
                    </a:lnTo>
                    <a:close/>
                    <a:moveTo>
                      <a:pt x="200" y="0"/>
                    </a:moveTo>
                    <a:lnTo>
                      <a:pt x="220" y="0"/>
                    </a:lnTo>
                    <a:lnTo>
                      <a:pt x="220" y="21"/>
                    </a:lnTo>
                    <a:lnTo>
                      <a:pt x="200" y="21"/>
                    </a:lnTo>
                    <a:lnTo>
                      <a:pt x="200" y="0"/>
                    </a:lnTo>
                    <a:close/>
                    <a:moveTo>
                      <a:pt x="240" y="0"/>
                    </a:moveTo>
                    <a:lnTo>
                      <a:pt x="260" y="0"/>
                    </a:lnTo>
                    <a:lnTo>
                      <a:pt x="260" y="21"/>
                    </a:lnTo>
                    <a:lnTo>
                      <a:pt x="240" y="21"/>
                    </a:lnTo>
                    <a:lnTo>
                      <a:pt x="240" y="0"/>
                    </a:lnTo>
                    <a:close/>
                    <a:moveTo>
                      <a:pt x="280" y="0"/>
                    </a:moveTo>
                    <a:lnTo>
                      <a:pt x="300" y="0"/>
                    </a:lnTo>
                    <a:lnTo>
                      <a:pt x="300" y="21"/>
                    </a:lnTo>
                    <a:lnTo>
                      <a:pt x="280" y="21"/>
                    </a:lnTo>
                    <a:lnTo>
                      <a:pt x="280" y="0"/>
                    </a:lnTo>
                    <a:close/>
                    <a:moveTo>
                      <a:pt x="320" y="0"/>
                    </a:moveTo>
                    <a:lnTo>
                      <a:pt x="340" y="0"/>
                    </a:lnTo>
                    <a:lnTo>
                      <a:pt x="340" y="21"/>
                    </a:lnTo>
                    <a:lnTo>
                      <a:pt x="320" y="21"/>
                    </a:lnTo>
                    <a:lnTo>
                      <a:pt x="320" y="0"/>
                    </a:lnTo>
                    <a:close/>
                    <a:moveTo>
                      <a:pt x="360" y="0"/>
                    </a:moveTo>
                    <a:lnTo>
                      <a:pt x="379" y="0"/>
                    </a:lnTo>
                    <a:lnTo>
                      <a:pt x="379" y="21"/>
                    </a:lnTo>
                    <a:lnTo>
                      <a:pt x="360" y="21"/>
                    </a:lnTo>
                    <a:lnTo>
                      <a:pt x="360" y="0"/>
                    </a:lnTo>
                    <a:close/>
                    <a:moveTo>
                      <a:pt x="400" y="0"/>
                    </a:moveTo>
                    <a:lnTo>
                      <a:pt x="420" y="0"/>
                    </a:lnTo>
                    <a:lnTo>
                      <a:pt x="420" y="21"/>
                    </a:lnTo>
                    <a:lnTo>
                      <a:pt x="400" y="21"/>
                    </a:lnTo>
                    <a:lnTo>
                      <a:pt x="400" y="0"/>
                    </a:lnTo>
                    <a:close/>
                    <a:moveTo>
                      <a:pt x="439" y="0"/>
                    </a:moveTo>
                    <a:lnTo>
                      <a:pt x="460" y="0"/>
                    </a:lnTo>
                    <a:lnTo>
                      <a:pt x="460" y="21"/>
                    </a:lnTo>
                    <a:lnTo>
                      <a:pt x="439" y="21"/>
                    </a:lnTo>
                    <a:lnTo>
                      <a:pt x="439" y="0"/>
                    </a:lnTo>
                    <a:close/>
                    <a:moveTo>
                      <a:pt x="480" y="0"/>
                    </a:moveTo>
                    <a:lnTo>
                      <a:pt x="480" y="0"/>
                    </a:lnTo>
                    <a:lnTo>
                      <a:pt x="480" y="21"/>
                    </a:lnTo>
                    <a:lnTo>
                      <a:pt x="480" y="0"/>
                    </a:lnTo>
                    <a:close/>
                  </a:path>
                </a:pathLst>
              </a:custGeom>
              <a:solidFill>
                <a:srgbClr val="000000"/>
              </a:solidFill>
              <a:ln w="9525">
                <a:noFill/>
                <a:round/>
                <a:headEnd/>
                <a:tailEnd/>
              </a:ln>
            </p:spPr>
            <p:txBody>
              <a:bodyPr/>
              <a:lstStyle/>
              <a:p>
                <a:endParaRPr lang="zh-CN" altLang="en-US"/>
              </a:p>
            </p:txBody>
          </p:sp>
          <p:sp>
            <p:nvSpPr>
              <p:cNvPr id="63510" name="Freeform 12"/>
              <p:cNvSpPr>
                <a:spLocks/>
              </p:cNvSpPr>
              <p:nvPr/>
            </p:nvSpPr>
            <p:spPr bwMode="auto">
              <a:xfrm>
                <a:off x="2779" y="1933"/>
                <a:ext cx="23" cy="23"/>
              </a:xfrm>
              <a:custGeom>
                <a:avLst/>
                <a:gdLst>
                  <a:gd name="T0" fmla="*/ 0 w 20"/>
                  <a:gd name="T1" fmla="*/ 0 h 21"/>
                  <a:gd name="T2" fmla="*/ 26 w 20"/>
                  <a:gd name="T3" fmla="*/ 0 h 21"/>
                  <a:gd name="T4" fmla="*/ 26 w 20"/>
                  <a:gd name="T5" fmla="*/ 25 h 21"/>
                  <a:gd name="T6" fmla="*/ 0 w 20"/>
                  <a:gd name="T7" fmla="*/ 25 h 21"/>
                  <a:gd name="T8" fmla="*/ 0 w 20"/>
                  <a:gd name="T9" fmla="*/ 0 h 21"/>
                  <a:gd name="T10" fmla="*/ 0 w 20"/>
                  <a:gd name="T11" fmla="*/ 0 h 21"/>
                  <a:gd name="T12" fmla="*/ 0 60000 65536"/>
                  <a:gd name="T13" fmla="*/ 0 60000 65536"/>
                  <a:gd name="T14" fmla="*/ 0 60000 65536"/>
                  <a:gd name="T15" fmla="*/ 0 60000 65536"/>
                  <a:gd name="T16" fmla="*/ 0 60000 65536"/>
                  <a:gd name="T17" fmla="*/ 0 60000 65536"/>
                  <a:gd name="T18" fmla="*/ 0 w 20"/>
                  <a:gd name="T19" fmla="*/ 0 h 21"/>
                  <a:gd name="T20" fmla="*/ 20 w 2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20" h="21">
                    <a:moveTo>
                      <a:pt x="0" y="0"/>
                    </a:moveTo>
                    <a:lnTo>
                      <a:pt x="20" y="0"/>
                    </a:lnTo>
                    <a:lnTo>
                      <a:pt x="20" y="21"/>
                    </a:lnTo>
                    <a:lnTo>
                      <a:pt x="0" y="21"/>
                    </a:lnTo>
                    <a:lnTo>
                      <a:pt x="0" y="0"/>
                    </a:lnTo>
                    <a:close/>
                  </a:path>
                </a:pathLst>
              </a:custGeom>
              <a:noFill/>
              <a:ln w="1588">
                <a:solidFill>
                  <a:srgbClr val="000000"/>
                </a:solidFill>
                <a:round/>
                <a:headEnd/>
                <a:tailEnd/>
              </a:ln>
            </p:spPr>
            <p:txBody>
              <a:bodyPr/>
              <a:lstStyle/>
              <a:p>
                <a:endParaRPr lang="zh-CN" altLang="en-US"/>
              </a:p>
            </p:txBody>
          </p:sp>
          <p:sp>
            <p:nvSpPr>
              <p:cNvPr id="63511" name="Freeform 13"/>
              <p:cNvSpPr>
                <a:spLocks/>
              </p:cNvSpPr>
              <p:nvPr/>
            </p:nvSpPr>
            <p:spPr bwMode="auto">
              <a:xfrm>
                <a:off x="2824" y="1933"/>
                <a:ext cx="19" cy="23"/>
              </a:xfrm>
              <a:custGeom>
                <a:avLst/>
                <a:gdLst>
                  <a:gd name="T0" fmla="*/ 0 w 19"/>
                  <a:gd name="T1" fmla="*/ 0 h 21"/>
                  <a:gd name="T2" fmla="*/ 19 w 19"/>
                  <a:gd name="T3" fmla="*/ 0 h 21"/>
                  <a:gd name="T4" fmla="*/ 19 w 19"/>
                  <a:gd name="T5" fmla="*/ 25 h 21"/>
                  <a:gd name="T6" fmla="*/ 0 w 19"/>
                  <a:gd name="T7" fmla="*/ 25 h 21"/>
                  <a:gd name="T8" fmla="*/ 0 w 19"/>
                  <a:gd name="T9" fmla="*/ 0 h 21"/>
                  <a:gd name="T10" fmla="*/ 0 w 19"/>
                  <a:gd name="T11" fmla="*/ 0 h 21"/>
                  <a:gd name="T12" fmla="*/ 0 60000 65536"/>
                  <a:gd name="T13" fmla="*/ 0 60000 65536"/>
                  <a:gd name="T14" fmla="*/ 0 60000 65536"/>
                  <a:gd name="T15" fmla="*/ 0 60000 65536"/>
                  <a:gd name="T16" fmla="*/ 0 60000 65536"/>
                  <a:gd name="T17" fmla="*/ 0 60000 65536"/>
                  <a:gd name="T18" fmla="*/ 0 w 19"/>
                  <a:gd name="T19" fmla="*/ 0 h 21"/>
                  <a:gd name="T20" fmla="*/ 19 w 19"/>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9" h="21">
                    <a:moveTo>
                      <a:pt x="0" y="0"/>
                    </a:moveTo>
                    <a:lnTo>
                      <a:pt x="19" y="0"/>
                    </a:lnTo>
                    <a:lnTo>
                      <a:pt x="19" y="21"/>
                    </a:lnTo>
                    <a:lnTo>
                      <a:pt x="0" y="21"/>
                    </a:lnTo>
                    <a:lnTo>
                      <a:pt x="0" y="0"/>
                    </a:lnTo>
                    <a:close/>
                  </a:path>
                </a:pathLst>
              </a:custGeom>
              <a:noFill/>
              <a:ln w="1588">
                <a:solidFill>
                  <a:srgbClr val="000000"/>
                </a:solidFill>
                <a:round/>
                <a:headEnd/>
                <a:tailEnd/>
              </a:ln>
            </p:spPr>
            <p:txBody>
              <a:bodyPr/>
              <a:lstStyle/>
              <a:p>
                <a:endParaRPr lang="zh-CN" altLang="en-US"/>
              </a:p>
            </p:txBody>
          </p:sp>
          <p:sp>
            <p:nvSpPr>
              <p:cNvPr id="63512" name="Freeform 14"/>
              <p:cNvSpPr>
                <a:spLocks/>
              </p:cNvSpPr>
              <p:nvPr/>
            </p:nvSpPr>
            <p:spPr bwMode="auto">
              <a:xfrm>
                <a:off x="2867" y="1933"/>
                <a:ext cx="19" cy="23"/>
              </a:xfrm>
              <a:custGeom>
                <a:avLst/>
                <a:gdLst>
                  <a:gd name="T0" fmla="*/ 0 w 19"/>
                  <a:gd name="T1" fmla="*/ 0 h 21"/>
                  <a:gd name="T2" fmla="*/ 19 w 19"/>
                  <a:gd name="T3" fmla="*/ 0 h 21"/>
                  <a:gd name="T4" fmla="*/ 19 w 19"/>
                  <a:gd name="T5" fmla="*/ 25 h 21"/>
                  <a:gd name="T6" fmla="*/ 0 w 19"/>
                  <a:gd name="T7" fmla="*/ 25 h 21"/>
                  <a:gd name="T8" fmla="*/ 0 w 19"/>
                  <a:gd name="T9" fmla="*/ 0 h 21"/>
                  <a:gd name="T10" fmla="*/ 0 w 19"/>
                  <a:gd name="T11" fmla="*/ 0 h 21"/>
                  <a:gd name="T12" fmla="*/ 0 60000 65536"/>
                  <a:gd name="T13" fmla="*/ 0 60000 65536"/>
                  <a:gd name="T14" fmla="*/ 0 60000 65536"/>
                  <a:gd name="T15" fmla="*/ 0 60000 65536"/>
                  <a:gd name="T16" fmla="*/ 0 60000 65536"/>
                  <a:gd name="T17" fmla="*/ 0 60000 65536"/>
                  <a:gd name="T18" fmla="*/ 0 w 19"/>
                  <a:gd name="T19" fmla="*/ 0 h 21"/>
                  <a:gd name="T20" fmla="*/ 19 w 19"/>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9" h="21">
                    <a:moveTo>
                      <a:pt x="0" y="0"/>
                    </a:moveTo>
                    <a:lnTo>
                      <a:pt x="19" y="0"/>
                    </a:lnTo>
                    <a:lnTo>
                      <a:pt x="19" y="21"/>
                    </a:lnTo>
                    <a:lnTo>
                      <a:pt x="0" y="21"/>
                    </a:lnTo>
                    <a:lnTo>
                      <a:pt x="0" y="0"/>
                    </a:lnTo>
                    <a:close/>
                  </a:path>
                </a:pathLst>
              </a:custGeom>
              <a:noFill/>
              <a:ln w="1588">
                <a:solidFill>
                  <a:srgbClr val="000000"/>
                </a:solidFill>
                <a:round/>
                <a:headEnd/>
                <a:tailEnd/>
              </a:ln>
            </p:spPr>
            <p:txBody>
              <a:bodyPr/>
              <a:lstStyle/>
              <a:p>
                <a:endParaRPr lang="zh-CN" altLang="en-US"/>
              </a:p>
            </p:txBody>
          </p:sp>
          <p:sp>
            <p:nvSpPr>
              <p:cNvPr id="63513" name="Freeform 15"/>
              <p:cNvSpPr>
                <a:spLocks/>
              </p:cNvSpPr>
              <p:nvPr/>
            </p:nvSpPr>
            <p:spPr bwMode="auto">
              <a:xfrm>
                <a:off x="2907" y="1933"/>
                <a:ext cx="24" cy="23"/>
              </a:xfrm>
              <a:custGeom>
                <a:avLst/>
                <a:gdLst>
                  <a:gd name="T0" fmla="*/ 0 w 20"/>
                  <a:gd name="T1" fmla="*/ 0 h 21"/>
                  <a:gd name="T2" fmla="*/ 29 w 20"/>
                  <a:gd name="T3" fmla="*/ 0 h 21"/>
                  <a:gd name="T4" fmla="*/ 29 w 20"/>
                  <a:gd name="T5" fmla="*/ 25 h 21"/>
                  <a:gd name="T6" fmla="*/ 0 w 20"/>
                  <a:gd name="T7" fmla="*/ 25 h 21"/>
                  <a:gd name="T8" fmla="*/ 0 w 20"/>
                  <a:gd name="T9" fmla="*/ 0 h 21"/>
                  <a:gd name="T10" fmla="*/ 0 w 20"/>
                  <a:gd name="T11" fmla="*/ 0 h 21"/>
                  <a:gd name="T12" fmla="*/ 0 60000 65536"/>
                  <a:gd name="T13" fmla="*/ 0 60000 65536"/>
                  <a:gd name="T14" fmla="*/ 0 60000 65536"/>
                  <a:gd name="T15" fmla="*/ 0 60000 65536"/>
                  <a:gd name="T16" fmla="*/ 0 60000 65536"/>
                  <a:gd name="T17" fmla="*/ 0 60000 65536"/>
                  <a:gd name="T18" fmla="*/ 0 w 20"/>
                  <a:gd name="T19" fmla="*/ 0 h 21"/>
                  <a:gd name="T20" fmla="*/ 20 w 2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20" h="21">
                    <a:moveTo>
                      <a:pt x="0" y="0"/>
                    </a:moveTo>
                    <a:lnTo>
                      <a:pt x="20" y="0"/>
                    </a:lnTo>
                    <a:lnTo>
                      <a:pt x="20" y="21"/>
                    </a:lnTo>
                    <a:lnTo>
                      <a:pt x="0" y="21"/>
                    </a:lnTo>
                    <a:lnTo>
                      <a:pt x="0" y="0"/>
                    </a:lnTo>
                    <a:close/>
                  </a:path>
                </a:pathLst>
              </a:custGeom>
              <a:noFill/>
              <a:ln w="1588">
                <a:solidFill>
                  <a:srgbClr val="000000"/>
                </a:solidFill>
                <a:round/>
                <a:headEnd/>
                <a:tailEnd/>
              </a:ln>
            </p:spPr>
            <p:txBody>
              <a:bodyPr/>
              <a:lstStyle/>
              <a:p>
                <a:endParaRPr lang="zh-CN" altLang="en-US"/>
              </a:p>
            </p:txBody>
          </p:sp>
          <p:sp>
            <p:nvSpPr>
              <p:cNvPr id="63514" name="Freeform 16"/>
              <p:cNvSpPr>
                <a:spLocks/>
              </p:cNvSpPr>
              <p:nvPr/>
            </p:nvSpPr>
            <p:spPr bwMode="auto">
              <a:xfrm>
                <a:off x="2950" y="1933"/>
                <a:ext cx="21" cy="23"/>
              </a:xfrm>
              <a:custGeom>
                <a:avLst/>
                <a:gdLst>
                  <a:gd name="T0" fmla="*/ 0 w 20"/>
                  <a:gd name="T1" fmla="*/ 0 h 21"/>
                  <a:gd name="T2" fmla="*/ 22 w 20"/>
                  <a:gd name="T3" fmla="*/ 0 h 21"/>
                  <a:gd name="T4" fmla="*/ 22 w 20"/>
                  <a:gd name="T5" fmla="*/ 25 h 21"/>
                  <a:gd name="T6" fmla="*/ 0 w 20"/>
                  <a:gd name="T7" fmla="*/ 25 h 21"/>
                  <a:gd name="T8" fmla="*/ 0 w 20"/>
                  <a:gd name="T9" fmla="*/ 0 h 21"/>
                  <a:gd name="T10" fmla="*/ 0 w 20"/>
                  <a:gd name="T11" fmla="*/ 0 h 21"/>
                  <a:gd name="T12" fmla="*/ 0 60000 65536"/>
                  <a:gd name="T13" fmla="*/ 0 60000 65536"/>
                  <a:gd name="T14" fmla="*/ 0 60000 65536"/>
                  <a:gd name="T15" fmla="*/ 0 60000 65536"/>
                  <a:gd name="T16" fmla="*/ 0 60000 65536"/>
                  <a:gd name="T17" fmla="*/ 0 60000 65536"/>
                  <a:gd name="T18" fmla="*/ 0 w 20"/>
                  <a:gd name="T19" fmla="*/ 0 h 21"/>
                  <a:gd name="T20" fmla="*/ 20 w 2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20" h="21">
                    <a:moveTo>
                      <a:pt x="0" y="0"/>
                    </a:moveTo>
                    <a:lnTo>
                      <a:pt x="20" y="0"/>
                    </a:lnTo>
                    <a:lnTo>
                      <a:pt x="20" y="21"/>
                    </a:lnTo>
                    <a:lnTo>
                      <a:pt x="0" y="21"/>
                    </a:lnTo>
                    <a:lnTo>
                      <a:pt x="0" y="0"/>
                    </a:lnTo>
                    <a:close/>
                  </a:path>
                </a:pathLst>
              </a:custGeom>
              <a:noFill/>
              <a:ln w="1588">
                <a:solidFill>
                  <a:srgbClr val="000000"/>
                </a:solidFill>
                <a:round/>
                <a:headEnd/>
                <a:tailEnd/>
              </a:ln>
            </p:spPr>
            <p:txBody>
              <a:bodyPr/>
              <a:lstStyle/>
              <a:p>
                <a:endParaRPr lang="zh-CN" altLang="en-US"/>
              </a:p>
            </p:txBody>
          </p:sp>
          <p:sp>
            <p:nvSpPr>
              <p:cNvPr id="63515" name="Freeform 17"/>
              <p:cNvSpPr>
                <a:spLocks/>
              </p:cNvSpPr>
              <p:nvPr/>
            </p:nvSpPr>
            <p:spPr bwMode="auto">
              <a:xfrm>
                <a:off x="2995" y="1933"/>
                <a:ext cx="19" cy="23"/>
              </a:xfrm>
              <a:custGeom>
                <a:avLst/>
                <a:gdLst>
                  <a:gd name="T0" fmla="*/ 0 w 20"/>
                  <a:gd name="T1" fmla="*/ 0 h 21"/>
                  <a:gd name="T2" fmla="*/ 18 w 20"/>
                  <a:gd name="T3" fmla="*/ 0 h 21"/>
                  <a:gd name="T4" fmla="*/ 18 w 20"/>
                  <a:gd name="T5" fmla="*/ 25 h 21"/>
                  <a:gd name="T6" fmla="*/ 0 w 20"/>
                  <a:gd name="T7" fmla="*/ 25 h 21"/>
                  <a:gd name="T8" fmla="*/ 0 w 20"/>
                  <a:gd name="T9" fmla="*/ 0 h 21"/>
                  <a:gd name="T10" fmla="*/ 0 w 20"/>
                  <a:gd name="T11" fmla="*/ 0 h 21"/>
                  <a:gd name="T12" fmla="*/ 0 60000 65536"/>
                  <a:gd name="T13" fmla="*/ 0 60000 65536"/>
                  <a:gd name="T14" fmla="*/ 0 60000 65536"/>
                  <a:gd name="T15" fmla="*/ 0 60000 65536"/>
                  <a:gd name="T16" fmla="*/ 0 60000 65536"/>
                  <a:gd name="T17" fmla="*/ 0 60000 65536"/>
                  <a:gd name="T18" fmla="*/ 0 w 20"/>
                  <a:gd name="T19" fmla="*/ 0 h 21"/>
                  <a:gd name="T20" fmla="*/ 20 w 2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20" h="21">
                    <a:moveTo>
                      <a:pt x="0" y="0"/>
                    </a:moveTo>
                    <a:lnTo>
                      <a:pt x="20" y="0"/>
                    </a:lnTo>
                    <a:lnTo>
                      <a:pt x="20" y="21"/>
                    </a:lnTo>
                    <a:lnTo>
                      <a:pt x="0" y="21"/>
                    </a:lnTo>
                    <a:lnTo>
                      <a:pt x="0" y="0"/>
                    </a:lnTo>
                    <a:close/>
                  </a:path>
                </a:pathLst>
              </a:custGeom>
              <a:noFill/>
              <a:ln w="1588">
                <a:solidFill>
                  <a:srgbClr val="000000"/>
                </a:solidFill>
                <a:round/>
                <a:headEnd/>
                <a:tailEnd/>
              </a:ln>
            </p:spPr>
            <p:txBody>
              <a:bodyPr/>
              <a:lstStyle/>
              <a:p>
                <a:endParaRPr lang="zh-CN" altLang="en-US"/>
              </a:p>
            </p:txBody>
          </p:sp>
          <p:sp>
            <p:nvSpPr>
              <p:cNvPr id="63516" name="Freeform 18"/>
              <p:cNvSpPr>
                <a:spLocks/>
              </p:cNvSpPr>
              <p:nvPr/>
            </p:nvSpPr>
            <p:spPr bwMode="auto">
              <a:xfrm>
                <a:off x="3037" y="1933"/>
                <a:ext cx="22" cy="23"/>
              </a:xfrm>
              <a:custGeom>
                <a:avLst/>
                <a:gdLst>
                  <a:gd name="T0" fmla="*/ 0 w 20"/>
                  <a:gd name="T1" fmla="*/ 0 h 21"/>
                  <a:gd name="T2" fmla="*/ 24 w 20"/>
                  <a:gd name="T3" fmla="*/ 0 h 21"/>
                  <a:gd name="T4" fmla="*/ 24 w 20"/>
                  <a:gd name="T5" fmla="*/ 25 h 21"/>
                  <a:gd name="T6" fmla="*/ 0 w 20"/>
                  <a:gd name="T7" fmla="*/ 25 h 21"/>
                  <a:gd name="T8" fmla="*/ 0 w 20"/>
                  <a:gd name="T9" fmla="*/ 0 h 21"/>
                  <a:gd name="T10" fmla="*/ 0 w 20"/>
                  <a:gd name="T11" fmla="*/ 0 h 21"/>
                  <a:gd name="T12" fmla="*/ 0 60000 65536"/>
                  <a:gd name="T13" fmla="*/ 0 60000 65536"/>
                  <a:gd name="T14" fmla="*/ 0 60000 65536"/>
                  <a:gd name="T15" fmla="*/ 0 60000 65536"/>
                  <a:gd name="T16" fmla="*/ 0 60000 65536"/>
                  <a:gd name="T17" fmla="*/ 0 60000 65536"/>
                  <a:gd name="T18" fmla="*/ 0 w 20"/>
                  <a:gd name="T19" fmla="*/ 0 h 21"/>
                  <a:gd name="T20" fmla="*/ 20 w 2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20" h="21">
                    <a:moveTo>
                      <a:pt x="0" y="0"/>
                    </a:moveTo>
                    <a:lnTo>
                      <a:pt x="20" y="0"/>
                    </a:lnTo>
                    <a:lnTo>
                      <a:pt x="20" y="21"/>
                    </a:lnTo>
                    <a:lnTo>
                      <a:pt x="0" y="21"/>
                    </a:lnTo>
                    <a:lnTo>
                      <a:pt x="0" y="0"/>
                    </a:lnTo>
                    <a:close/>
                  </a:path>
                </a:pathLst>
              </a:custGeom>
              <a:noFill/>
              <a:ln w="1588">
                <a:solidFill>
                  <a:srgbClr val="000000"/>
                </a:solidFill>
                <a:round/>
                <a:headEnd/>
                <a:tailEnd/>
              </a:ln>
            </p:spPr>
            <p:txBody>
              <a:bodyPr/>
              <a:lstStyle/>
              <a:p>
                <a:endParaRPr lang="zh-CN" altLang="en-US"/>
              </a:p>
            </p:txBody>
          </p:sp>
          <p:sp>
            <p:nvSpPr>
              <p:cNvPr id="63517" name="Freeform 19"/>
              <p:cNvSpPr>
                <a:spLocks/>
              </p:cNvSpPr>
              <p:nvPr/>
            </p:nvSpPr>
            <p:spPr bwMode="auto">
              <a:xfrm>
                <a:off x="3078" y="1933"/>
                <a:ext cx="23" cy="23"/>
              </a:xfrm>
              <a:custGeom>
                <a:avLst/>
                <a:gdLst>
                  <a:gd name="T0" fmla="*/ 0 w 20"/>
                  <a:gd name="T1" fmla="*/ 0 h 21"/>
                  <a:gd name="T2" fmla="*/ 26 w 20"/>
                  <a:gd name="T3" fmla="*/ 0 h 21"/>
                  <a:gd name="T4" fmla="*/ 26 w 20"/>
                  <a:gd name="T5" fmla="*/ 25 h 21"/>
                  <a:gd name="T6" fmla="*/ 0 w 20"/>
                  <a:gd name="T7" fmla="*/ 25 h 21"/>
                  <a:gd name="T8" fmla="*/ 0 w 20"/>
                  <a:gd name="T9" fmla="*/ 0 h 21"/>
                  <a:gd name="T10" fmla="*/ 0 w 20"/>
                  <a:gd name="T11" fmla="*/ 0 h 21"/>
                  <a:gd name="T12" fmla="*/ 0 60000 65536"/>
                  <a:gd name="T13" fmla="*/ 0 60000 65536"/>
                  <a:gd name="T14" fmla="*/ 0 60000 65536"/>
                  <a:gd name="T15" fmla="*/ 0 60000 65536"/>
                  <a:gd name="T16" fmla="*/ 0 60000 65536"/>
                  <a:gd name="T17" fmla="*/ 0 60000 65536"/>
                  <a:gd name="T18" fmla="*/ 0 w 20"/>
                  <a:gd name="T19" fmla="*/ 0 h 21"/>
                  <a:gd name="T20" fmla="*/ 20 w 2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20" h="21">
                    <a:moveTo>
                      <a:pt x="0" y="0"/>
                    </a:moveTo>
                    <a:lnTo>
                      <a:pt x="20" y="0"/>
                    </a:lnTo>
                    <a:lnTo>
                      <a:pt x="20" y="21"/>
                    </a:lnTo>
                    <a:lnTo>
                      <a:pt x="0" y="21"/>
                    </a:lnTo>
                    <a:lnTo>
                      <a:pt x="0" y="0"/>
                    </a:lnTo>
                    <a:close/>
                  </a:path>
                </a:pathLst>
              </a:custGeom>
              <a:noFill/>
              <a:ln w="1588">
                <a:solidFill>
                  <a:srgbClr val="000000"/>
                </a:solidFill>
                <a:round/>
                <a:headEnd/>
                <a:tailEnd/>
              </a:ln>
            </p:spPr>
            <p:txBody>
              <a:bodyPr/>
              <a:lstStyle/>
              <a:p>
                <a:endParaRPr lang="zh-CN" altLang="en-US"/>
              </a:p>
            </p:txBody>
          </p:sp>
          <p:sp>
            <p:nvSpPr>
              <p:cNvPr id="63518" name="Freeform 20"/>
              <p:cNvSpPr>
                <a:spLocks/>
              </p:cNvSpPr>
              <p:nvPr/>
            </p:nvSpPr>
            <p:spPr bwMode="auto">
              <a:xfrm>
                <a:off x="3123" y="1933"/>
                <a:ext cx="19" cy="23"/>
              </a:xfrm>
              <a:custGeom>
                <a:avLst/>
                <a:gdLst>
                  <a:gd name="T0" fmla="*/ 0 w 20"/>
                  <a:gd name="T1" fmla="*/ 0 h 21"/>
                  <a:gd name="T2" fmla="*/ 18 w 20"/>
                  <a:gd name="T3" fmla="*/ 0 h 21"/>
                  <a:gd name="T4" fmla="*/ 18 w 20"/>
                  <a:gd name="T5" fmla="*/ 25 h 21"/>
                  <a:gd name="T6" fmla="*/ 0 w 20"/>
                  <a:gd name="T7" fmla="*/ 25 h 21"/>
                  <a:gd name="T8" fmla="*/ 0 w 20"/>
                  <a:gd name="T9" fmla="*/ 0 h 21"/>
                  <a:gd name="T10" fmla="*/ 0 w 20"/>
                  <a:gd name="T11" fmla="*/ 0 h 21"/>
                  <a:gd name="T12" fmla="*/ 0 60000 65536"/>
                  <a:gd name="T13" fmla="*/ 0 60000 65536"/>
                  <a:gd name="T14" fmla="*/ 0 60000 65536"/>
                  <a:gd name="T15" fmla="*/ 0 60000 65536"/>
                  <a:gd name="T16" fmla="*/ 0 60000 65536"/>
                  <a:gd name="T17" fmla="*/ 0 60000 65536"/>
                  <a:gd name="T18" fmla="*/ 0 w 20"/>
                  <a:gd name="T19" fmla="*/ 0 h 21"/>
                  <a:gd name="T20" fmla="*/ 20 w 2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20" h="21">
                    <a:moveTo>
                      <a:pt x="0" y="0"/>
                    </a:moveTo>
                    <a:lnTo>
                      <a:pt x="20" y="0"/>
                    </a:lnTo>
                    <a:lnTo>
                      <a:pt x="20" y="21"/>
                    </a:lnTo>
                    <a:lnTo>
                      <a:pt x="0" y="21"/>
                    </a:lnTo>
                    <a:lnTo>
                      <a:pt x="0" y="0"/>
                    </a:lnTo>
                    <a:close/>
                  </a:path>
                </a:pathLst>
              </a:custGeom>
              <a:noFill/>
              <a:ln w="1588">
                <a:solidFill>
                  <a:srgbClr val="000000"/>
                </a:solidFill>
                <a:round/>
                <a:headEnd/>
                <a:tailEnd/>
              </a:ln>
            </p:spPr>
            <p:txBody>
              <a:bodyPr/>
              <a:lstStyle/>
              <a:p>
                <a:endParaRPr lang="zh-CN" altLang="en-US"/>
              </a:p>
            </p:txBody>
          </p:sp>
          <p:sp>
            <p:nvSpPr>
              <p:cNvPr id="63519" name="Freeform 21"/>
              <p:cNvSpPr>
                <a:spLocks/>
              </p:cNvSpPr>
              <p:nvPr/>
            </p:nvSpPr>
            <p:spPr bwMode="auto">
              <a:xfrm>
                <a:off x="3166" y="1933"/>
                <a:ext cx="19" cy="23"/>
              </a:xfrm>
              <a:custGeom>
                <a:avLst/>
                <a:gdLst>
                  <a:gd name="T0" fmla="*/ 0 w 19"/>
                  <a:gd name="T1" fmla="*/ 0 h 21"/>
                  <a:gd name="T2" fmla="*/ 19 w 19"/>
                  <a:gd name="T3" fmla="*/ 0 h 21"/>
                  <a:gd name="T4" fmla="*/ 19 w 19"/>
                  <a:gd name="T5" fmla="*/ 25 h 21"/>
                  <a:gd name="T6" fmla="*/ 0 w 19"/>
                  <a:gd name="T7" fmla="*/ 25 h 21"/>
                  <a:gd name="T8" fmla="*/ 0 w 19"/>
                  <a:gd name="T9" fmla="*/ 0 h 21"/>
                  <a:gd name="T10" fmla="*/ 0 w 19"/>
                  <a:gd name="T11" fmla="*/ 0 h 21"/>
                  <a:gd name="T12" fmla="*/ 0 60000 65536"/>
                  <a:gd name="T13" fmla="*/ 0 60000 65536"/>
                  <a:gd name="T14" fmla="*/ 0 60000 65536"/>
                  <a:gd name="T15" fmla="*/ 0 60000 65536"/>
                  <a:gd name="T16" fmla="*/ 0 60000 65536"/>
                  <a:gd name="T17" fmla="*/ 0 60000 65536"/>
                  <a:gd name="T18" fmla="*/ 0 w 19"/>
                  <a:gd name="T19" fmla="*/ 0 h 21"/>
                  <a:gd name="T20" fmla="*/ 19 w 19"/>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9" h="21">
                    <a:moveTo>
                      <a:pt x="0" y="0"/>
                    </a:moveTo>
                    <a:lnTo>
                      <a:pt x="19" y="0"/>
                    </a:lnTo>
                    <a:lnTo>
                      <a:pt x="19" y="21"/>
                    </a:lnTo>
                    <a:lnTo>
                      <a:pt x="0" y="21"/>
                    </a:lnTo>
                    <a:lnTo>
                      <a:pt x="0" y="0"/>
                    </a:lnTo>
                    <a:close/>
                  </a:path>
                </a:pathLst>
              </a:custGeom>
              <a:noFill/>
              <a:ln w="1588">
                <a:solidFill>
                  <a:srgbClr val="000000"/>
                </a:solidFill>
                <a:round/>
                <a:headEnd/>
                <a:tailEnd/>
              </a:ln>
            </p:spPr>
            <p:txBody>
              <a:bodyPr/>
              <a:lstStyle/>
              <a:p>
                <a:endParaRPr lang="zh-CN" altLang="en-US"/>
              </a:p>
            </p:txBody>
          </p:sp>
          <p:sp>
            <p:nvSpPr>
              <p:cNvPr id="63520" name="Freeform 22"/>
              <p:cNvSpPr>
                <a:spLocks/>
              </p:cNvSpPr>
              <p:nvPr/>
            </p:nvSpPr>
            <p:spPr bwMode="auto">
              <a:xfrm>
                <a:off x="3206" y="1933"/>
                <a:ext cx="24" cy="23"/>
              </a:xfrm>
              <a:custGeom>
                <a:avLst/>
                <a:gdLst>
                  <a:gd name="T0" fmla="*/ 0 w 20"/>
                  <a:gd name="T1" fmla="*/ 0 h 21"/>
                  <a:gd name="T2" fmla="*/ 29 w 20"/>
                  <a:gd name="T3" fmla="*/ 0 h 21"/>
                  <a:gd name="T4" fmla="*/ 29 w 20"/>
                  <a:gd name="T5" fmla="*/ 25 h 21"/>
                  <a:gd name="T6" fmla="*/ 0 w 20"/>
                  <a:gd name="T7" fmla="*/ 25 h 21"/>
                  <a:gd name="T8" fmla="*/ 0 w 20"/>
                  <a:gd name="T9" fmla="*/ 0 h 21"/>
                  <a:gd name="T10" fmla="*/ 0 w 20"/>
                  <a:gd name="T11" fmla="*/ 0 h 21"/>
                  <a:gd name="T12" fmla="*/ 0 60000 65536"/>
                  <a:gd name="T13" fmla="*/ 0 60000 65536"/>
                  <a:gd name="T14" fmla="*/ 0 60000 65536"/>
                  <a:gd name="T15" fmla="*/ 0 60000 65536"/>
                  <a:gd name="T16" fmla="*/ 0 60000 65536"/>
                  <a:gd name="T17" fmla="*/ 0 60000 65536"/>
                  <a:gd name="T18" fmla="*/ 0 w 20"/>
                  <a:gd name="T19" fmla="*/ 0 h 21"/>
                  <a:gd name="T20" fmla="*/ 20 w 2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20" h="21">
                    <a:moveTo>
                      <a:pt x="0" y="0"/>
                    </a:moveTo>
                    <a:lnTo>
                      <a:pt x="20" y="0"/>
                    </a:lnTo>
                    <a:lnTo>
                      <a:pt x="20" y="21"/>
                    </a:lnTo>
                    <a:lnTo>
                      <a:pt x="0" y="21"/>
                    </a:lnTo>
                    <a:lnTo>
                      <a:pt x="0" y="0"/>
                    </a:lnTo>
                    <a:close/>
                  </a:path>
                </a:pathLst>
              </a:custGeom>
              <a:noFill/>
              <a:ln w="1588">
                <a:solidFill>
                  <a:srgbClr val="000000"/>
                </a:solidFill>
                <a:round/>
                <a:headEnd/>
                <a:tailEnd/>
              </a:ln>
            </p:spPr>
            <p:txBody>
              <a:bodyPr/>
              <a:lstStyle/>
              <a:p>
                <a:endParaRPr lang="zh-CN" altLang="en-US"/>
              </a:p>
            </p:txBody>
          </p:sp>
          <p:sp>
            <p:nvSpPr>
              <p:cNvPr id="63521" name="Freeform 23"/>
              <p:cNvSpPr>
                <a:spLocks/>
              </p:cNvSpPr>
              <p:nvPr/>
            </p:nvSpPr>
            <p:spPr bwMode="auto">
              <a:xfrm>
                <a:off x="3249" y="1933"/>
                <a:ext cx="21" cy="23"/>
              </a:xfrm>
              <a:custGeom>
                <a:avLst/>
                <a:gdLst>
                  <a:gd name="T0" fmla="*/ 0 w 21"/>
                  <a:gd name="T1" fmla="*/ 0 h 21"/>
                  <a:gd name="T2" fmla="*/ 21 w 21"/>
                  <a:gd name="T3" fmla="*/ 0 h 21"/>
                  <a:gd name="T4" fmla="*/ 21 w 21"/>
                  <a:gd name="T5" fmla="*/ 25 h 21"/>
                  <a:gd name="T6" fmla="*/ 0 w 21"/>
                  <a:gd name="T7" fmla="*/ 25 h 21"/>
                  <a:gd name="T8" fmla="*/ 0 w 21"/>
                  <a:gd name="T9" fmla="*/ 0 h 21"/>
                  <a:gd name="T10" fmla="*/ 0 w 21"/>
                  <a:gd name="T11" fmla="*/ 0 h 21"/>
                  <a:gd name="T12" fmla="*/ 0 60000 65536"/>
                  <a:gd name="T13" fmla="*/ 0 60000 65536"/>
                  <a:gd name="T14" fmla="*/ 0 60000 65536"/>
                  <a:gd name="T15" fmla="*/ 0 60000 65536"/>
                  <a:gd name="T16" fmla="*/ 0 60000 65536"/>
                  <a:gd name="T17" fmla="*/ 0 60000 65536"/>
                  <a:gd name="T18" fmla="*/ 0 w 21"/>
                  <a:gd name="T19" fmla="*/ 0 h 21"/>
                  <a:gd name="T20" fmla="*/ 21 w 21"/>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21" h="21">
                    <a:moveTo>
                      <a:pt x="0" y="0"/>
                    </a:moveTo>
                    <a:lnTo>
                      <a:pt x="21" y="0"/>
                    </a:lnTo>
                    <a:lnTo>
                      <a:pt x="21" y="21"/>
                    </a:lnTo>
                    <a:lnTo>
                      <a:pt x="0" y="21"/>
                    </a:lnTo>
                    <a:lnTo>
                      <a:pt x="0" y="0"/>
                    </a:lnTo>
                    <a:close/>
                  </a:path>
                </a:pathLst>
              </a:custGeom>
              <a:noFill/>
              <a:ln w="1588">
                <a:solidFill>
                  <a:srgbClr val="000000"/>
                </a:solidFill>
                <a:round/>
                <a:headEnd/>
                <a:tailEnd/>
              </a:ln>
            </p:spPr>
            <p:txBody>
              <a:bodyPr/>
              <a:lstStyle/>
              <a:p>
                <a:endParaRPr lang="zh-CN" altLang="en-US"/>
              </a:p>
            </p:txBody>
          </p:sp>
          <p:sp>
            <p:nvSpPr>
              <p:cNvPr id="63522" name="Freeform 24"/>
              <p:cNvSpPr>
                <a:spLocks/>
              </p:cNvSpPr>
              <p:nvPr/>
            </p:nvSpPr>
            <p:spPr bwMode="auto">
              <a:xfrm>
                <a:off x="3294" y="1933"/>
                <a:ext cx="0" cy="23"/>
              </a:xfrm>
              <a:custGeom>
                <a:avLst/>
                <a:gdLst>
                  <a:gd name="T0" fmla="*/ 0 h 21"/>
                  <a:gd name="T1" fmla="*/ 0 h 21"/>
                  <a:gd name="T2" fmla="*/ 25 h 21"/>
                  <a:gd name="T3" fmla="*/ 25 h 21"/>
                  <a:gd name="T4" fmla="*/ 0 h 21"/>
                  <a:gd name="T5" fmla="*/ 0 h 21"/>
                  <a:gd name="T6" fmla="*/ 0 60000 65536"/>
                  <a:gd name="T7" fmla="*/ 0 60000 65536"/>
                  <a:gd name="T8" fmla="*/ 0 60000 65536"/>
                  <a:gd name="T9" fmla="*/ 0 60000 65536"/>
                  <a:gd name="T10" fmla="*/ 0 60000 65536"/>
                  <a:gd name="T11" fmla="*/ 0 60000 65536"/>
                  <a:gd name="T12" fmla="*/ 0 h 21"/>
                  <a:gd name="T13" fmla="*/ 21 h 21"/>
                </a:gdLst>
                <a:ahLst/>
                <a:cxnLst>
                  <a:cxn ang="T6">
                    <a:pos x="0" y="T0"/>
                  </a:cxn>
                  <a:cxn ang="T7">
                    <a:pos x="0" y="T1"/>
                  </a:cxn>
                  <a:cxn ang="T8">
                    <a:pos x="0" y="T2"/>
                  </a:cxn>
                  <a:cxn ang="T9">
                    <a:pos x="0" y="T3"/>
                  </a:cxn>
                  <a:cxn ang="T10">
                    <a:pos x="0" y="T4"/>
                  </a:cxn>
                  <a:cxn ang="T11">
                    <a:pos x="0" y="T5"/>
                  </a:cxn>
                </a:cxnLst>
                <a:rect l="0" t="T12" r="0" b="T13"/>
                <a:pathLst>
                  <a:path h="21">
                    <a:moveTo>
                      <a:pt x="0" y="0"/>
                    </a:moveTo>
                    <a:lnTo>
                      <a:pt x="0" y="0"/>
                    </a:lnTo>
                    <a:lnTo>
                      <a:pt x="0" y="21"/>
                    </a:lnTo>
                    <a:lnTo>
                      <a:pt x="0" y="0"/>
                    </a:lnTo>
                    <a:close/>
                  </a:path>
                </a:pathLst>
              </a:custGeom>
              <a:noFill/>
              <a:ln w="1588">
                <a:solidFill>
                  <a:srgbClr val="000000"/>
                </a:solidFill>
                <a:round/>
                <a:headEnd/>
                <a:tailEnd/>
              </a:ln>
            </p:spPr>
            <p:txBody>
              <a:bodyPr/>
              <a:lstStyle/>
              <a:p>
                <a:endParaRPr lang="zh-CN" altLang="en-US"/>
              </a:p>
            </p:txBody>
          </p:sp>
          <p:sp>
            <p:nvSpPr>
              <p:cNvPr id="63523" name="Line 25"/>
              <p:cNvSpPr>
                <a:spLocks noChangeShapeType="1"/>
              </p:cNvSpPr>
              <p:nvPr/>
            </p:nvSpPr>
            <p:spPr bwMode="auto">
              <a:xfrm>
                <a:off x="2245" y="3269"/>
                <a:ext cx="1051" cy="0"/>
              </a:xfrm>
              <a:prstGeom prst="line">
                <a:avLst/>
              </a:prstGeom>
              <a:noFill/>
              <a:ln w="38100">
                <a:solidFill>
                  <a:srgbClr val="000000"/>
                </a:solidFill>
                <a:round/>
                <a:headEnd/>
                <a:tailEnd/>
              </a:ln>
            </p:spPr>
            <p:txBody>
              <a:bodyPr/>
              <a:lstStyle/>
              <a:p>
                <a:endParaRPr lang="zh-CN" altLang="en-US"/>
              </a:p>
            </p:txBody>
          </p:sp>
          <p:sp>
            <p:nvSpPr>
              <p:cNvPr id="63524" name="Freeform 26"/>
              <p:cNvSpPr>
                <a:spLocks noEditPoints="1"/>
              </p:cNvSpPr>
              <p:nvPr/>
            </p:nvSpPr>
            <p:spPr bwMode="auto">
              <a:xfrm>
                <a:off x="2390" y="3213"/>
                <a:ext cx="152" cy="111"/>
              </a:xfrm>
              <a:custGeom>
                <a:avLst/>
                <a:gdLst>
                  <a:gd name="T0" fmla="*/ 7 w 143"/>
                  <a:gd name="T1" fmla="*/ 53 h 96"/>
                  <a:gd name="T2" fmla="*/ 89 w 143"/>
                  <a:gd name="T3" fmla="*/ 53 h 96"/>
                  <a:gd name="T4" fmla="*/ 94 w 143"/>
                  <a:gd name="T5" fmla="*/ 54 h 96"/>
                  <a:gd name="T6" fmla="*/ 96 w 143"/>
                  <a:gd name="T7" fmla="*/ 57 h 96"/>
                  <a:gd name="T8" fmla="*/ 97 w 143"/>
                  <a:gd name="T9" fmla="*/ 60 h 96"/>
                  <a:gd name="T10" fmla="*/ 98 w 143"/>
                  <a:gd name="T11" fmla="*/ 65 h 96"/>
                  <a:gd name="T12" fmla="*/ 97 w 143"/>
                  <a:gd name="T13" fmla="*/ 69 h 96"/>
                  <a:gd name="T14" fmla="*/ 96 w 143"/>
                  <a:gd name="T15" fmla="*/ 72 h 96"/>
                  <a:gd name="T16" fmla="*/ 94 w 143"/>
                  <a:gd name="T17" fmla="*/ 74 h 96"/>
                  <a:gd name="T18" fmla="*/ 89 w 143"/>
                  <a:gd name="T19" fmla="*/ 76 h 96"/>
                  <a:gd name="T20" fmla="*/ 7 w 143"/>
                  <a:gd name="T21" fmla="*/ 76 h 96"/>
                  <a:gd name="T22" fmla="*/ 4 w 143"/>
                  <a:gd name="T23" fmla="*/ 74 h 96"/>
                  <a:gd name="T24" fmla="*/ 2 w 143"/>
                  <a:gd name="T25" fmla="*/ 72 h 96"/>
                  <a:gd name="T26" fmla="*/ 0 w 143"/>
                  <a:gd name="T27" fmla="*/ 69 h 96"/>
                  <a:gd name="T28" fmla="*/ 0 w 143"/>
                  <a:gd name="T29" fmla="*/ 65 h 96"/>
                  <a:gd name="T30" fmla="*/ 0 w 143"/>
                  <a:gd name="T31" fmla="*/ 60 h 96"/>
                  <a:gd name="T32" fmla="*/ 2 w 143"/>
                  <a:gd name="T33" fmla="*/ 57 h 96"/>
                  <a:gd name="T34" fmla="*/ 4 w 143"/>
                  <a:gd name="T35" fmla="*/ 54 h 96"/>
                  <a:gd name="T36" fmla="*/ 7 w 143"/>
                  <a:gd name="T37" fmla="*/ 53 h 96"/>
                  <a:gd name="T38" fmla="*/ 7 w 143"/>
                  <a:gd name="T39" fmla="*/ 53 h 96"/>
                  <a:gd name="T40" fmla="*/ 89 w 143"/>
                  <a:gd name="T41" fmla="*/ 65 h 96"/>
                  <a:gd name="T42" fmla="*/ 54 w 143"/>
                  <a:gd name="T43" fmla="*/ 0 h 96"/>
                  <a:gd name="T44" fmla="*/ 162 w 143"/>
                  <a:gd name="T45" fmla="*/ 65 h 96"/>
                  <a:gd name="T46" fmla="*/ 54 w 143"/>
                  <a:gd name="T47" fmla="*/ 128 h 96"/>
                  <a:gd name="T48" fmla="*/ 89 w 143"/>
                  <a:gd name="T49" fmla="*/ 65 h 96"/>
                  <a:gd name="T50" fmla="*/ 89 w 143"/>
                  <a:gd name="T51" fmla="*/ 65 h 9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3"/>
                  <a:gd name="T79" fmla="*/ 0 h 96"/>
                  <a:gd name="T80" fmla="*/ 143 w 143"/>
                  <a:gd name="T81" fmla="*/ 96 h 9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3" h="96">
                    <a:moveTo>
                      <a:pt x="7" y="40"/>
                    </a:moveTo>
                    <a:lnTo>
                      <a:pt x="79" y="40"/>
                    </a:lnTo>
                    <a:lnTo>
                      <a:pt x="83" y="41"/>
                    </a:lnTo>
                    <a:lnTo>
                      <a:pt x="85" y="42"/>
                    </a:lnTo>
                    <a:lnTo>
                      <a:pt x="86" y="45"/>
                    </a:lnTo>
                    <a:lnTo>
                      <a:pt x="87" y="48"/>
                    </a:lnTo>
                    <a:lnTo>
                      <a:pt x="86" y="52"/>
                    </a:lnTo>
                    <a:lnTo>
                      <a:pt x="85" y="54"/>
                    </a:lnTo>
                    <a:lnTo>
                      <a:pt x="83" y="55"/>
                    </a:lnTo>
                    <a:lnTo>
                      <a:pt x="79" y="57"/>
                    </a:lnTo>
                    <a:lnTo>
                      <a:pt x="7" y="57"/>
                    </a:lnTo>
                    <a:lnTo>
                      <a:pt x="4" y="55"/>
                    </a:lnTo>
                    <a:lnTo>
                      <a:pt x="2" y="54"/>
                    </a:lnTo>
                    <a:lnTo>
                      <a:pt x="0" y="52"/>
                    </a:lnTo>
                    <a:lnTo>
                      <a:pt x="0" y="48"/>
                    </a:lnTo>
                    <a:lnTo>
                      <a:pt x="0" y="45"/>
                    </a:lnTo>
                    <a:lnTo>
                      <a:pt x="2" y="42"/>
                    </a:lnTo>
                    <a:lnTo>
                      <a:pt x="4" y="41"/>
                    </a:lnTo>
                    <a:lnTo>
                      <a:pt x="7" y="40"/>
                    </a:lnTo>
                    <a:close/>
                    <a:moveTo>
                      <a:pt x="79" y="48"/>
                    </a:moveTo>
                    <a:lnTo>
                      <a:pt x="48" y="0"/>
                    </a:lnTo>
                    <a:lnTo>
                      <a:pt x="143" y="48"/>
                    </a:lnTo>
                    <a:lnTo>
                      <a:pt x="48" y="96"/>
                    </a:lnTo>
                    <a:lnTo>
                      <a:pt x="79" y="48"/>
                    </a:lnTo>
                    <a:close/>
                  </a:path>
                </a:pathLst>
              </a:custGeom>
              <a:solidFill>
                <a:srgbClr val="000000"/>
              </a:solidFill>
              <a:ln w="9525">
                <a:noFill/>
                <a:round/>
                <a:headEnd/>
                <a:tailEnd/>
              </a:ln>
            </p:spPr>
            <p:txBody>
              <a:bodyPr/>
              <a:lstStyle/>
              <a:p>
                <a:endParaRPr lang="zh-CN" altLang="en-US"/>
              </a:p>
            </p:txBody>
          </p:sp>
          <p:sp>
            <p:nvSpPr>
              <p:cNvPr id="63525" name="Freeform 27"/>
              <p:cNvSpPr>
                <a:spLocks/>
              </p:cNvSpPr>
              <p:nvPr/>
            </p:nvSpPr>
            <p:spPr bwMode="auto">
              <a:xfrm>
                <a:off x="2390" y="3257"/>
                <a:ext cx="94" cy="21"/>
              </a:xfrm>
              <a:custGeom>
                <a:avLst/>
                <a:gdLst>
                  <a:gd name="T0" fmla="*/ 9 w 87"/>
                  <a:gd name="T1" fmla="*/ 0 h 17"/>
                  <a:gd name="T2" fmla="*/ 92 w 87"/>
                  <a:gd name="T3" fmla="*/ 0 h 17"/>
                  <a:gd name="T4" fmla="*/ 97 w 87"/>
                  <a:gd name="T5" fmla="*/ 1 h 17"/>
                  <a:gd name="T6" fmla="*/ 99 w 87"/>
                  <a:gd name="T7" fmla="*/ 2 h 17"/>
                  <a:gd name="T8" fmla="*/ 100 w 87"/>
                  <a:gd name="T9" fmla="*/ 7 h 17"/>
                  <a:gd name="T10" fmla="*/ 102 w 87"/>
                  <a:gd name="T11" fmla="*/ 12 h 17"/>
                  <a:gd name="T12" fmla="*/ 100 w 87"/>
                  <a:gd name="T13" fmla="*/ 19 h 17"/>
                  <a:gd name="T14" fmla="*/ 99 w 87"/>
                  <a:gd name="T15" fmla="*/ 21 h 17"/>
                  <a:gd name="T16" fmla="*/ 97 w 87"/>
                  <a:gd name="T17" fmla="*/ 23 h 17"/>
                  <a:gd name="T18" fmla="*/ 92 w 87"/>
                  <a:gd name="T19" fmla="*/ 26 h 17"/>
                  <a:gd name="T20" fmla="*/ 9 w 87"/>
                  <a:gd name="T21" fmla="*/ 26 h 17"/>
                  <a:gd name="T22" fmla="*/ 4 w 87"/>
                  <a:gd name="T23" fmla="*/ 23 h 17"/>
                  <a:gd name="T24" fmla="*/ 2 w 87"/>
                  <a:gd name="T25" fmla="*/ 21 h 17"/>
                  <a:gd name="T26" fmla="*/ 0 w 87"/>
                  <a:gd name="T27" fmla="*/ 19 h 17"/>
                  <a:gd name="T28" fmla="*/ 0 w 87"/>
                  <a:gd name="T29" fmla="*/ 12 h 17"/>
                  <a:gd name="T30" fmla="*/ 0 w 87"/>
                  <a:gd name="T31" fmla="*/ 7 h 17"/>
                  <a:gd name="T32" fmla="*/ 2 w 87"/>
                  <a:gd name="T33" fmla="*/ 2 h 17"/>
                  <a:gd name="T34" fmla="*/ 4 w 87"/>
                  <a:gd name="T35" fmla="*/ 1 h 17"/>
                  <a:gd name="T36" fmla="*/ 9 w 87"/>
                  <a:gd name="T37" fmla="*/ 0 h 17"/>
                  <a:gd name="T38" fmla="*/ 9 w 87"/>
                  <a:gd name="T39" fmla="*/ 0 h 1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7"/>
                  <a:gd name="T61" fmla="*/ 0 h 17"/>
                  <a:gd name="T62" fmla="*/ 87 w 87"/>
                  <a:gd name="T63" fmla="*/ 17 h 1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7" h="17">
                    <a:moveTo>
                      <a:pt x="7" y="0"/>
                    </a:moveTo>
                    <a:lnTo>
                      <a:pt x="79" y="0"/>
                    </a:lnTo>
                    <a:lnTo>
                      <a:pt x="83" y="1"/>
                    </a:lnTo>
                    <a:lnTo>
                      <a:pt x="85" y="2"/>
                    </a:lnTo>
                    <a:lnTo>
                      <a:pt x="86" y="5"/>
                    </a:lnTo>
                    <a:lnTo>
                      <a:pt x="87" y="8"/>
                    </a:lnTo>
                    <a:lnTo>
                      <a:pt x="86" y="12"/>
                    </a:lnTo>
                    <a:lnTo>
                      <a:pt x="85" y="14"/>
                    </a:lnTo>
                    <a:lnTo>
                      <a:pt x="83" y="15"/>
                    </a:lnTo>
                    <a:lnTo>
                      <a:pt x="79" y="17"/>
                    </a:lnTo>
                    <a:lnTo>
                      <a:pt x="7" y="17"/>
                    </a:lnTo>
                    <a:lnTo>
                      <a:pt x="4" y="15"/>
                    </a:lnTo>
                    <a:lnTo>
                      <a:pt x="2" y="14"/>
                    </a:lnTo>
                    <a:lnTo>
                      <a:pt x="0" y="12"/>
                    </a:lnTo>
                    <a:lnTo>
                      <a:pt x="0" y="8"/>
                    </a:lnTo>
                    <a:lnTo>
                      <a:pt x="0" y="5"/>
                    </a:lnTo>
                    <a:lnTo>
                      <a:pt x="2" y="2"/>
                    </a:lnTo>
                    <a:lnTo>
                      <a:pt x="4" y="1"/>
                    </a:lnTo>
                    <a:lnTo>
                      <a:pt x="7" y="0"/>
                    </a:lnTo>
                  </a:path>
                </a:pathLst>
              </a:custGeom>
              <a:noFill/>
              <a:ln w="1588">
                <a:solidFill>
                  <a:srgbClr val="000000"/>
                </a:solidFill>
                <a:round/>
                <a:headEnd/>
                <a:tailEnd/>
              </a:ln>
            </p:spPr>
            <p:txBody>
              <a:bodyPr/>
              <a:lstStyle/>
              <a:p>
                <a:endParaRPr lang="zh-CN" altLang="en-US"/>
              </a:p>
            </p:txBody>
          </p:sp>
          <p:sp>
            <p:nvSpPr>
              <p:cNvPr id="63526" name="Freeform 28"/>
              <p:cNvSpPr>
                <a:spLocks/>
              </p:cNvSpPr>
              <p:nvPr/>
            </p:nvSpPr>
            <p:spPr bwMode="auto">
              <a:xfrm>
                <a:off x="2441" y="3213"/>
                <a:ext cx="101" cy="111"/>
              </a:xfrm>
              <a:custGeom>
                <a:avLst/>
                <a:gdLst>
                  <a:gd name="T0" fmla="*/ 35 w 95"/>
                  <a:gd name="T1" fmla="*/ 65 h 96"/>
                  <a:gd name="T2" fmla="*/ 0 w 95"/>
                  <a:gd name="T3" fmla="*/ 0 h 96"/>
                  <a:gd name="T4" fmla="*/ 107 w 95"/>
                  <a:gd name="T5" fmla="*/ 65 h 96"/>
                  <a:gd name="T6" fmla="*/ 0 w 95"/>
                  <a:gd name="T7" fmla="*/ 128 h 96"/>
                  <a:gd name="T8" fmla="*/ 35 w 95"/>
                  <a:gd name="T9" fmla="*/ 65 h 96"/>
                  <a:gd name="T10" fmla="*/ 35 w 95"/>
                  <a:gd name="T11" fmla="*/ 65 h 96"/>
                  <a:gd name="T12" fmla="*/ 0 60000 65536"/>
                  <a:gd name="T13" fmla="*/ 0 60000 65536"/>
                  <a:gd name="T14" fmla="*/ 0 60000 65536"/>
                  <a:gd name="T15" fmla="*/ 0 60000 65536"/>
                  <a:gd name="T16" fmla="*/ 0 60000 65536"/>
                  <a:gd name="T17" fmla="*/ 0 60000 65536"/>
                  <a:gd name="T18" fmla="*/ 0 w 95"/>
                  <a:gd name="T19" fmla="*/ 0 h 96"/>
                  <a:gd name="T20" fmla="*/ 95 w 95"/>
                  <a:gd name="T21" fmla="*/ 96 h 96"/>
                </a:gdLst>
                <a:ahLst/>
                <a:cxnLst>
                  <a:cxn ang="T12">
                    <a:pos x="T0" y="T1"/>
                  </a:cxn>
                  <a:cxn ang="T13">
                    <a:pos x="T2" y="T3"/>
                  </a:cxn>
                  <a:cxn ang="T14">
                    <a:pos x="T4" y="T5"/>
                  </a:cxn>
                  <a:cxn ang="T15">
                    <a:pos x="T6" y="T7"/>
                  </a:cxn>
                  <a:cxn ang="T16">
                    <a:pos x="T8" y="T9"/>
                  </a:cxn>
                  <a:cxn ang="T17">
                    <a:pos x="T10" y="T11"/>
                  </a:cxn>
                </a:cxnLst>
                <a:rect l="T18" t="T19" r="T20" b="T21"/>
                <a:pathLst>
                  <a:path w="95" h="96">
                    <a:moveTo>
                      <a:pt x="31" y="48"/>
                    </a:moveTo>
                    <a:lnTo>
                      <a:pt x="0" y="0"/>
                    </a:lnTo>
                    <a:lnTo>
                      <a:pt x="95" y="48"/>
                    </a:lnTo>
                    <a:lnTo>
                      <a:pt x="0" y="96"/>
                    </a:lnTo>
                    <a:lnTo>
                      <a:pt x="31" y="48"/>
                    </a:lnTo>
                  </a:path>
                </a:pathLst>
              </a:custGeom>
              <a:noFill/>
              <a:ln w="1588">
                <a:solidFill>
                  <a:srgbClr val="000000"/>
                </a:solidFill>
                <a:round/>
                <a:headEnd/>
                <a:tailEnd/>
              </a:ln>
            </p:spPr>
            <p:txBody>
              <a:bodyPr/>
              <a:lstStyle/>
              <a:p>
                <a:endParaRPr lang="zh-CN" altLang="en-US"/>
              </a:p>
            </p:txBody>
          </p:sp>
          <p:sp>
            <p:nvSpPr>
              <p:cNvPr id="63527" name="Freeform 29"/>
              <p:cNvSpPr>
                <a:spLocks noEditPoints="1"/>
              </p:cNvSpPr>
              <p:nvPr/>
            </p:nvSpPr>
            <p:spPr bwMode="auto">
              <a:xfrm>
                <a:off x="3242" y="1945"/>
                <a:ext cx="101" cy="1326"/>
              </a:xfrm>
              <a:custGeom>
                <a:avLst/>
                <a:gdLst>
                  <a:gd name="T0" fmla="*/ 66 w 95"/>
                  <a:gd name="T1" fmla="*/ 87 h 1145"/>
                  <a:gd name="T2" fmla="*/ 66 w 95"/>
                  <a:gd name="T3" fmla="*/ 1536 h 1145"/>
                  <a:gd name="T4" fmla="*/ 41 w 95"/>
                  <a:gd name="T5" fmla="*/ 1536 h 1145"/>
                  <a:gd name="T6" fmla="*/ 41 w 95"/>
                  <a:gd name="T7" fmla="*/ 87 h 1145"/>
                  <a:gd name="T8" fmla="*/ 66 w 95"/>
                  <a:gd name="T9" fmla="*/ 87 h 1145"/>
                  <a:gd name="T10" fmla="*/ 66 w 95"/>
                  <a:gd name="T11" fmla="*/ 87 h 1145"/>
                  <a:gd name="T12" fmla="*/ 54 w 95"/>
                  <a:gd name="T13" fmla="*/ 87 h 1145"/>
                  <a:gd name="T14" fmla="*/ 0 w 95"/>
                  <a:gd name="T15" fmla="*/ 129 h 1145"/>
                  <a:gd name="T16" fmla="*/ 54 w 95"/>
                  <a:gd name="T17" fmla="*/ 0 h 1145"/>
                  <a:gd name="T18" fmla="*/ 107 w 95"/>
                  <a:gd name="T19" fmla="*/ 129 h 1145"/>
                  <a:gd name="T20" fmla="*/ 54 w 95"/>
                  <a:gd name="T21" fmla="*/ 87 h 1145"/>
                  <a:gd name="T22" fmla="*/ 54 w 95"/>
                  <a:gd name="T23" fmla="*/ 87 h 11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5"/>
                  <a:gd name="T37" fmla="*/ 0 h 1145"/>
                  <a:gd name="T38" fmla="*/ 95 w 95"/>
                  <a:gd name="T39" fmla="*/ 1145 h 114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5" h="1145">
                    <a:moveTo>
                      <a:pt x="58" y="65"/>
                    </a:moveTo>
                    <a:lnTo>
                      <a:pt x="58" y="1145"/>
                    </a:lnTo>
                    <a:lnTo>
                      <a:pt x="37" y="1145"/>
                    </a:lnTo>
                    <a:lnTo>
                      <a:pt x="37" y="65"/>
                    </a:lnTo>
                    <a:lnTo>
                      <a:pt x="58" y="65"/>
                    </a:lnTo>
                    <a:close/>
                    <a:moveTo>
                      <a:pt x="48" y="65"/>
                    </a:moveTo>
                    <a:lnTo>
                      <a:pt x="0" y="96"/>
                    </a:lnTo>
                    <a:lnTo>
                      <a:pt x="48" y="0"/>
                    </a:lnTo>
                    <a:lnTo>
                      <a:pt x="95" y="96"/>
                    </a:lnTo>
                    <a:lnTo>
                      <a:pt x="48" y="65"/>
                    </a:lnTo>
                    <a:close/>
                  </a:path>
                </a:pathLst>
              </a:custGeom>
              <a:solidFill>
                <a:srgbClr val="000000"/>
              </a:solidFill>
              <a:ln w="9525">
                <a:noFill/>
                <a:round/>
                <a:headEnd/>
                <a:tailEnd/>
              </a:ln>
            </p:spPr>
            <p:txBody>
              <a:bodyPr/>
              <a:lstStyle/>
              <a:p>
                <a:endParaRPr lang="zh-CN" altLang="en-US"/>
              </a:p>
            </p:txBody>
          </p:sp>
          <p:sp>
            <p:nvSpPr>
              <p:cNvPr id="63528" name="Freeform 31"/>
              <p:cNvSpPr>
                <a:spLocks/>
              </p:cNvSpPr>
              <p:nvPr/>
            </p:nvSpPr>
            <p:spPr bwMode="auto">
              <a:xfrm>
                <a:off x="3242" y="1945"/>
                <a:ext cx="101" cy="111"/>
              </a:xfrm>
              <a:custGeom>
                <a:avLst/>
                <a:gdLst>
                  <a:gd name="T0" fmla="*/ 54 w 95"/>
                  <a:gd name="T1" fmla="*/ 87 h 96"/>
                  <a:gd name="T2" fmla="*/ 0 w 95"/>
                  <a:gd name="T3" fmla="*/ 128 h 96"/>
                  <a:gd name="T4" fmla="*/ 54 w 95"/>
                  <a:gd name="T5" fmla="*/ 0 h 96"/>
                  <a:gd name="T6" fmla="*/ 107 w 95"/>
                  <a:gd name="T7" fmla="*/ 128 h 96"/>
                  <a:gd name="T8" fmla="*/ 54 w 95"/>
                  <a:gd name="T9" fmla="*/ 87 h 96"/>
                  <a:gd name="T10" fmla="*/ 54 w 95"/>
                  <a:gd name="T11" fmla="*/ 87 h 96"/>
                  <a:gd name="T12" fmla="*/ 0 60000 65536"/>
                  <a:gd name="T13" fmla="*/ 0 60000 65536"/>
                  <a:gd name="T14" fmla="*/ 0 60000 65536"/>
                  <a:gd name="T15" fmla="*/ 0 60000 65536"/>
                  <a:gd name="T16" fmla="*/ 0 60000 65536"/>
                  <a:gd name="T17" fmla="*/ 0 60000 65536"/>
                  <a:gd name="T18" fmla="*/ 0 w 95"/>
                  <a:gd name="T19" fmla="*/ 0 h 96"/>
                  <a:gd name="T20" fmla="*/ 95 w 95"/>
                  <a:gd name="T21" fmla="*/ 96 h 96"/>
                </a:gdLst>
                <a:ahLst/>
                <a:cxnLst>
                  <a:cxn ang="T12">
                    <a:pos x="T0" y="T1"/>
                  </a:cxn>
                  <a:cxn ang="T13">
                    <a:pos x="T2" y="T3"/>
                  </a:cxn>
                  <a:cxn ang="T14">
                    <a:pos x="T4" y="T5"/>
                  </a:cxn>
                  <a:cxn ang="T15">
                    <a:pos x="T6" y="T7"/>
                  </a:cxn>
                  <a:cxn ang="T16">
                    <a:pos x="T8" y="T9"/>
                  </a:cxn>
                  <a:cxn ang="T17">
                    <a:pos x="T10" y="T11"/>
                  </a:cxn>
                </a:cxnLst>
                <a:rect l="T18" t="T19" r="T20" b="T21"/>
                <a:pathLst>
                  <a:path w="95" h="96">
                    <a:moveTo>
                      <a:pt x="48" y="65"/>
                    </a:moveTo>
                    <a:lnTo>
                      <a:pt x="0" y="96"/>
                    </a:lnTo>
                    <a:lnTo>
                      <a:pt x="48" y="0"/>
                    </a:lnTo>
                    <a:lnTo>
                      <a:pt x="95" y="96"/>
                    </a:lnTo>
                    <a:lnTo>
                      <a:pt x="48" y="65"/>
                    </a:lnTo>
                    <a:close/>
                  </a:path>
                </a:pathLst>
              </a:custGeom>
              <a:noFill/>
              <a:ln w="1588">
                <a:solidFill>
                  <a:srgbClr val="000000"/>
                </a:solidFill>
                <a:round/>
                <a:headEnd/>
                <a:tailEnd/>
              </a:ln>
            </p:spPr>
            <p:txBody>
              <a:bodyPr/>
              <a:lstStyle/>
              <a:p>
                <a:endParaRPr lang="zh-CN" altLang="en-US"/>
              </a:p>
            </p:txBody>
          </p:sp>
          <p:sp>
            <p:nvSpPr>
              <p:cNvPr id="63529" name="Freeform 32"/>
              <p:cNvSpPr>
                <a:spLocks noEditPoints="1"/>
              </p:cNvSpPr>
              <p:nvPr/>
            </p:nvSpPr>
            <p:spPr bwMode="auto">
              <a:xfrm>
                <a:off x="2770" y="1945"/>
                <a:ext cx="530" cy="1305"/>
              </a:xfrm>
              <a:custGeom>
                <a:avLst/>
                <a:gdLst>
                  <a:gd name="T0" fmla="*/ 47 w 496"/>
                  <a:gd name="T1" fmla="*/ 74 h 1127"/>
                  <a:gd name="T2" fmla="*/ 566 w 496"/>
                  <a:gd name="T3" fmla="*/ 1500 h 1127"/>
                  <a:gd name="T4" fmla="*/ 545 w 496"/>
                  <a:gd name="T5" fmla="*/ 1511 h 1127"/>
                  <a:gd name="T6" fmla="*/ 27 w 496"/>
                  <a:gd name="T7" fmla="*/ 85 h 1127"/>
                  <a:gd name="T8" fmla="*/ 47 w 496"/>
                  <a:gd name="T9" fmla="*/ 74 h 1127"/>
                  <a:gd name="T10" fmla="*/ 47 w 496"/>
                  <a:gd name="T11" fmla="*/ 74 h 1127"/>
                  <a:gd name="T12" fmla="*/ 37 w 496"/>
                  <a:gd name="T13" fmla="*/ 79 h 1127"/>
                  <a:gd name="T14" fmla="*/ 0 w 496"/>
                  <a:gd name="T15" fmla="*/ 144 h 1127"/>
                  <a:gd name="T16" fmla="*/ 7 w 496"/>
                  <a:gd name="T17" fmla="*/ 0 h 1127"/>
                  <a:gd name="T18" fmla="*/ 102 w 496"/>
                  <a:gd name="T19" fmla="*/ 93 h 1127"/>
                  <a:gd name="T20" fmla="*/ 37 w 496"/>
                  <a:gd name="T21" fmla="*/ 79 h 1127"/>
                  <a:gd name="T22" fmla="*/ 37 w 496"/>
                  <a:gd name="T23" fmla="*/ 79 h 11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96"/>
                  <a:gd name="T37" fmla="*/ 0 h 1127"/>
                  <a:gd name="T38" fmla="*/ 496 w 496"/>
                  <a:gd name="T39" fmla="*/ 1127 h 11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96" h="1127">
                    <a:moveTo>
                      <a:pt x="41" y="55"/>
                    </a:moveTo>
                    <a:lnTo>
                      <a:pt x="496" y="1118"/>
                    </a:lnTo>
                    <a:lnTo>
                      <a:pt x="477" y="1127"/>
                    </a:lnTo>
                    <a:lnTo>
                      <a:pt x="23" y="63"/>
                    </a:lnTo>
                    <a:lnTo>
                      <a:pt x="41" y="55"/>
                    </a:lnTo>
                    <a:close/>
                    <a:moveTo>
                      <a:pt x="33" y="59"/>
                    </a:moveTo>
                    <a:lnTo>
                      <a:pt x="0" y="107"/>
                    </a:lnTo>
                    <a:lnTo>
                      <a:pt x="7" y="0"/>
                    </a:lnTo>
                    <a:lnTo>
                      <a:pt x="89" y="69"/>
                    </a:lnTo>
                    <a:lnTo>
                      <a:pt x="33" y="59"/>
                    </a:lnTo>
                    <a:close/>
                  </a:path>
                </a:pathLst>
              </a:custGeom>
              <a:solidFill>
                <a:srgbClr val="000000"/>
              </a:solidFill>
              <a:ln w="9525">
                <a:noFill/>
                <a:round/>
                <a:headEnd/>
                <a:tailEnd/>
              </a:ln>
            </p:spPr>
            <p:txBody>
              <a:bodyPr/>
              <a:lstStyle/>
              <a:p>
                <a:endParaRPr lang="zh-CN" altLang="en-US"/>
              </a:p>
            </p:txBody>
          </p:sp>
          <p:sp>
            <p:nvSpPr>
              <p:cNvPr id="63530" name="Freeform 33"/>
              <p:cNvSpPr>
                <a:spLocks/>
              </p:cNvSpPr>
              <p:nvPr/>
            </p:nvSpPr>
            <p:spPr bwMode="auto">
              <a:xfrm>
                <a:off x="2794" y="2010"/>
                <a:ext cx="506" cy="1240"/>
              </a:xfrm>
              <a:custGeom>
                <a:avLst/>
                <a:gdLst>
                  <a:gd name="T0" fmla="*/ 20 w 473"/>
                  <a:gd name="T1" fmla="*/ 0 h 1072"/>
                  <a:gd name="T2" fmla="*/ 541 w 473"/>
                  <a:gd name="T3" fmla="*/ 1423 h 1072"/>
                  <a:gd name="T4" fmla="*/ 520 w 473"/>
                  <a:gd name="T5" fmla="*/ 1434 h 1072"/>
                  <a:gd name="T6" fmla="*/ 0 w 473"/>
                  <a:gd name="T7" fmla="*/ 10 h 1072"/>
                  <a:gd name="T8" fmla="*/ 20 w 473"/>
                  <a:gd name="T9" fmla="*/ 0 h 1072"/>
                  <a:gd name="T10" fmla="*/ 20 w 473"/>
                  <a:gd name="T11" fmla="*/ 0 h 1072"/>
                  <a:gd name="T12" fmla="*/ 0 60000 65536"/>
                  <a:gd name="T13" fmla="*/ 0 60000 65536"/>
                  <a:gd name="T14" fmla="*/ 0 60000 65536"/>
                  <a:gd name="T15" fmla="*/ 0 60000 65536"/>
                  <a:gd name="T16" fmla="*/ 0 60000 65536"/>
                  <a:gd name="T17" fmla="*/ 0 60000 65536"/>
                  <a:gd name="T18" fmla="*/ 0 w 473"/>
                  <a:gd name="T19" fmla="*/ 0 h 1072"/>
                  <a:gd name="T20" fmla="*/ 473 w 473"/>
                  <a:gd name="T21" fmla="*/ 1072 h 1072"/>
                </a:gdLst>
                <a:ahLst/>
                <a:cxnLst>
                  <a:cxn ang="T12">
                    <a:pos x="T0" y="T1"/>
                  </a:cxn>
                  <a:cxn ang="T13">
                    <a:pos x="T2" y="T3"/>
                  </a:cxn>
                  <a:cxn ang="T14">
                    <a:pos x="T4" y="T5"/>
                  </a:cxn>
                  <a:cxn ang="T15">
                    <a:pos x="T6" y="T7"/>
                  </a:cxn>
                  <a:cxn ang="T16">
                    <a:pos x="T8" y="T9"/>
                  </a:cxn>
                  <a:cxn ang="T17">
                    <a:pos x="T10" y="T11"/>
                  </a:cxn>
                </a:cxnLst>
                <a:rect l="T18" t="T19" r="T20" b="T21"/>
                <a:pathLst>
                  <a:path w="473" h="1072">
                    <a:moveTo>
                      <a:pt x="18" y="0"/>
                    </a:moveTo>
                    <a:lnTo>
                      <a:pt x="473" y="1063"/>
                    </a:lnTo>
                    <a:lnTo>
                      <a:pt x="454" y="1072"/>
                    </a:lnTo>
                    <a:lnTo>
                      <a:pt x="0" y="8"/>
                    </a:lnTo>
                    <a:lnTo>
                      <a:pt x="18" y="0"/>
                    </a:lnTo>
                    <a:close/>
                  </a:path>
                </a:pathLst>
              </a:custGeom>
              <a:noFill/>
              <a:ln w="1588">
                <a:solidFill>
                  <a:srgbClr val="000000"/>
                </a:solidFill>
                <a:round/>
                <a:headEnd/>
                <a:tailEnd/>
              </a:ln>
            </p:spPr>
            <p:txBody>
              <a:bodyPr/>
              <a:lstStyle/>
              <a:p>
                <a:endParaRPr lang="zh-CN" altLang="en-US"/>
              </a:p>
            </p:txBody>
          </p:sp>
          <p:sp>
            <p:nvSpPr>
              <p:cNvPr id="63531" name="Freeform 34"/>
              <p:cNvSpPr>
                <a:spLocks/>
              </p:cNvSpPr>
              <p:nvPr/>
            </p:nvSpPr>
            <p:spPr bwMode="auto">
              <a:xfrm>
                <a:off x="2770" y="1945"/>
                <a:ext cx="94" cy="122"/>
              </a:xfrm>
              <a:custGeom>
                <a:avLst/>
                <a:gdLst>
                  <a:gd name="T0" fmla="*/ 37 w 89"/>
                  <a:gd name="T1" fmla="*/ 76 h 107"/>
                  <a:gd name="T2" fmla="*/ 0 w 89"/>
                  <a:gd name="T3" fmla="*/ 139 h 107"/>
                  <a:gd name="T4" fmla="*/ 7 w 89"/>
                  <a:gd name="T5" fmla="*/ 0 h 107"/>
                  <a:gd name="T6" fmla="*/ 99 w 89"/>
                  <a:gd name="T7" fmla="*/ 90 h 107"/>
                  <a:gd name="T8" fmla="*/ 37 w 89"/>
                  <a:gd name="T9" fmla="*/ 76 h 107"/>
                  <a:gd name="T10" fmla="*/ 37 w 89"/>
                  <a:gd name="T11" fmla="*/ 76 h 107"/>
                  <a:gd name="T12" fmla="*/ 0 60000 65536"/>
                  <a:gd name="T13" fmla="*/ 0 60000 65536"/>
                  <a:gd name="T14" fmla="*/ 0 60000 65536"/>
                  <a:gd name="T15" fmla="*/ 0 60000 65536"/>
                  <a:gd name="T16" fmla="*/ 0 60000 65536"/>
                  <a:gd name="T17" fmla="*/ 0 60000 65536"/>
                  <a:gd name="T18" fmla="*/ 0 w 89"/>
                  <a:gd name="T19" fmla="*/ 0 h 107"/>
                  <a:gd name="T20" fmla="*/ 89 w 89"/>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89" h="107">
                    <a:moveTo>
                      <a:pt x="33" y="59"/>
                    </a:moveTo>
                    <a:lnTo>
                      <a:pt x="0" y="107"/>
                    </a:lnTo>
                    <a:lnTo>
                      <a:pt x="7" y="0"/>
                    </a:lnTo>
                    <a:lnTo>
                      <a:pt x="89" y="69"/>
                    </a:lnTo>
                    <a:lnTo>
                      <a:pt x="33" y="59"/>
                    </a:lnTo>
                    <a:close/>
                  </a:path>
                </a:pathLst>
              </a:custGeom>
              <a:noFill/>
              <a:ln w="1588">
                <a:solidFill>
                  <a:srgbClr val="000000"/>
                </a:solidFill>
                <a:round/>
                <a:headEnd/>
                <a:tailEnd/>
              </a:ln>
            </p:spPr>
            <p:txBody>
              <a:bodyPr/>
              <a:lstStyle/>
              <a:p>
                <a:endParaRPr lang="zh-CN" altLang="en-US"/>
              </a:p>
            </p:txBody>
          </p:sp>
          <p:sp>
            <p:nvSpPr>
              <p:cNvPr id="63532" name="Line 35"/>
              <p:cNvSpPr>
                <a:spLocks noChangeShapeType="1"/>
              </p:cNvSpPr>
              <p:nvPr/>
            </p:nvSpPr>
            <p:spPr bwMode="auto">
              <a:xfrm flipH="1">
                <a:off x="3294" y="2288"/>
                <a:ext cx="681" cy="974"/>
              </a:xfrm>
              <a:prstGeom prst="line">
                <a:avLst/>
              </a:prstGeom>
              <a:noFill/>
              <a:ln w="38100">
                <a:solidFill>
                  <a:srgbClr val="000000"/>
                </a:solidFill>
                <a:round/>
                <a:headEnd/>
                <a:tailEnd/>
              </a:ln>
            </p:spPr>
            <p:txBody>
              <a:bodyPr/>
              <a:lstStyle/>
              <a:p>
                <a:endParaRPr lang="zh-CN" altLang="en-US"/>
              </a:p>
            </p:txBody>
          </p:sp>
          <p:sp>
            <p:nvSpPr>
              <p:cNvPr id="63533" name="Freeform 36"/>
              <p:cNvSpPr>
                <a:spLocks noEditPoints="1"/>
              </p:cNvSpPr>
              <p:nvPr/>
            </p:nvSpPr>
            <p:spPr bwMode="auto">
              <a:xfrm>
                <a:off x="3294" y="2378"/>
                <a:ext cx="602" cy="26"/>
              </a:xfrm>
              <a:custGeom>
                <a:avLst/>
                <a:gdLst>
                  <a:gd name="T0" fmla="*/ 21 w 566"/>
                  <a:gd name="T1" fmla="*/ 0 h 20"/>
                  <a:gd name="T2" fmla="*/ 0 w 566"/>
                  <a:gd name="T3" fmla="*/ 34 h 20"/>
                  <a:gd name="T4" fmla="*/ 0 w 566"/>
                  <a:gd name="T5" fmla="*/ 0 h 20"/>
                  <a:gd name="T6" fmla="*/ 67 w 566"/>
                  <a:gd name="T7" fmla="*/ 0 h 20"/>
                  <a:gd name="T8" fmla="*/ 46 w 566"/>
                  <a:gd name="T9" fmla="*/ 34 h 20"/>
                  <a:gd name="T10" fmla="*/ 46 w 566"/>
                  <a:gd name="T11" fmla="*/ 0 h 20"/>
                  <a:gd name="T12" fmla="*/ 113 w 566"/>
                  <a:gd name="T13" fmla="*/ 0 h 20"/>
                  <a:gd name="T14" fmla="*/ 90 w 566"/>
                  <a:gd name="T15" fmla="*/ 34 h 20"/>
                  <a:gd name="T16" fmla="*/ 90 w 566"/>
                  <a:gd name="T17" fmla="*/ 0 h 20"/>
                  <a:gd name="T18" fmla="*/ 158 w 566"/>
                  <a:gd name="T19" fmla="*/ 0 h 20"/>
                  <a:gd name="T20" fmla="*/ 135 w 566"/>
                  <a:gd name="T21" fmla="*/ 34 h 20"/>
                  <a:gd name="T22" fmla="*/ 135 w 566"/>
                  <a:gd name="T23" fmla="*/ 0 h 20"/>
                  <a:gd name="T24" fmla="*/ 202 w 566"/>
                  <a:gd name="T25" fmla="*/ 0 h 20"/>
                  <a:gd name="T26" fmla="*/ 181 w 566"/>
                  <a:gd name="T27" fmla="*/ 34 h 20"/>
                  <a:gd name="T28" fmla="*/ 181 w 566"/>
                  <a:gd name="T29" fmla="*/ 0 h 20"/>
                  <a:gd name="T30" fmla="*/ 248 w 566"/>
                  <a:gd name="T31" fmla="*/ 0 h 20"/>
                  <a:gd name="T32" fmla="*/ 227 w 566"/>
                  <a:gd name="T33" fmla="*/ 34 h 20"/>
                  <a:gd name="T34" fmla="*/ 227 w 566"/>
                  <a:gd name="T35" fmla="*/ 0 h 20"/>
                  <a:gd name="T36" fmla="*/ 295 w 566"/>
                  <a:gd name="T37" fmla="*/ 0 h 20"/>
                  <a:gd name="T38" fmla="*/ 270 w 566"/>
                  <a:gd name="T39" fmla="*/ 34 h 20"/>
                  <a:gd name="T40" fmla="*/ 270 w 566"/>
                  <a:gd name="T41" fmla="*/ 0 h 20"/>
                  <a:gd name="T42" fmla="*/ 338 w 566"/>
                  <a:gd name="T43" fmla="*/ 0 h 20"/>
                  <a:gd name="T44" fmla="*/ 316 w 566"/>
                  <a:gd name="T45" fmla="*/ 34 h 20"/>
                  <a:gd name="T46" fmla="*/ 316 w 566"/>
                  <a:gd name="T47" fmla="*/ 0 h 20"/>
                  <a:gd name="T48" fmla="*/ 384 w 566"/>
                  <a:gd name="T49" fmla="*/ 0 h 20"/>
                  <a:gd name="T50" fmla="*/ 362 w 566"/>
                  <a:gd name="T51" fmla="*/ 34 h 20"/>
                  <a:gd name="T52" fmla="*/ 362 w 566"/>
                  <a:gd name="T53" fmla="*/ 0 h 20"/>
                  <a:gd name="T54" fmla="*/ 430 w 566"/>
                  <a:gd name="T55" fmla="*/ 0 h 20"/>
                  <a:gd name="T56" fmla="*/ 406 w 566"/>
                  <a:gd name="T57" fmla="*/ 34 h 20"/>
                  <a:gd name="T58" fmla="*/ 406 w 566"/>
                  <a:gd name="T59" fmla="*/ 0 h 20"/>
                  <a:gd name="T60" fmla="*/ 474 w 566"/>
                  <a:gd name="T61" fmla="*/ 0 h 20"/>
                  <a:gd name="T62" fmla="*/ 451 w 566"/>
                  <a:gd name="T63" fmla="*/ 34 h 20"/>
                  <a:gd name="T64" fmla="*/ 451 w 566"/>
                  <a:gd name="T65" fmla="*/ 0 h 20"/>
                  <a:gd name="T66" fmla="*/ 519 w 566"/>
                  <a:gd name="T67" fmla="*/ 0 h 20"/>
                  <a:gd name="T68" fmla="*/ 497 w 566"/>
                  <a:gd name="T69" fmla="*/ 34 h 20"/>
                  <a:gd name="T70" fmla="*/ 497 w 566"/>
                  <a:gd name="T71" fmla="*/ 0 h 20"/>
                  <a:gd name="T72" fmla="*/ 565 w 566"/>
                  <a:gd name="T73" fmla="*/ 0 h 20"/>
                  <a:gd name="T74" fmla="*/ 544 w 566"/>
                  <a:gd name="T75" fmla="*/ 34 h 20"/>
                  <a:gd name="T76" fmla="*/ 544 w 566"/>
                  <a:gd name="T77" fmla="*/ 0 h 20"/>
                  <a:gd name="T78" fmla="*/ 611 w 566"/>
                  <a:gd name="T79" fmla="*/ 0 h 20"/>
                  <a:gd name="T80" fmla="*/ 587 w 566"/>
                  <a:gd name="T81" fmla="*/ 34 h 20"/>
                  <a:gd name="T82" fmla="*/ 587 w 566"/>
                  <a:gd name="T83" fmla="*/ 0 h 20"/>
                  <a:gd name="T84" fmla="*/ 640 w 566"/>
                  <a:gd name="T85" fmla="*/ 0 h 20"/>
                  <a:gd name="T86" fmla="*/ 633 w 566"/>
                  <a:gd name="T87" fmla="*/ 34 h 20"/>
                  <a:gd name="T88" fmla="*/ 633 w 566"/>
                  <a:gd name="T89" fmla="*/ 0 h 2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66"/>
                  <a:gd name="T136" fmla="*/ 0 h 20"/>
                  <a:gd name="T137" fmla="*/ 566 w 566"/>
                  <a:gd name="T138" fmla="*/ 20 h 2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66" h="20">
                    <a:moveTo>
                      <a:pt x="0" y="0"/>
                    </a:moveTo>
                    <a:lnTo>
                      <a:pt x="19" y="0"/>
                    </a:lnTo>
                    <a:lnTo>
                      <a:pt x="19" y="20"/>
                    </a:lnTo>
                    <a:lnTo>
                      <a:pt x="0" y="20"/>
                    </a:lnTo>
                    <a:lnTo>
                      <a:pt x="0" y="0"/>
                    </a:lnTo>
                    <a:close/>
                    <a:moveTo>
                      <a:pt x="40" y="0"/>
                    </a:moveTo>
                    <a:lnTo>
                      <a:pt x="59" y="0"/>
                    </a:lnTo>
                    <a:lnTo>
                      <a:pt x="59" y="20"/>
                    </a:lnTo>
                    <a:lnTo>
                      <a:pt x="40" y="20"/>
                    </a:lnTo>
                    <a:lnTo>
                      <a:pt x="40" y="0"/>
                    </a:lnTo>
                    <a:close/>
                    <a:moveTo>
                      <a:pt x="80" y="0"/>
                    </a:moveTo>
                    <a:lnTo>
                      <a:pt x="100" y="0"/>
                    </a:lnTo>
                    <a:lnTo>
                      <a:pt x="100" y="20"/>
                    </a:lnTo>
                    <a:lnTo>
                      <a:pt x="80" y="20"/>
                    </a:lnTo>
                    <a:lnTo>
                      <a:pt x="80" y="0"/>
                    </a:lnTo>
                    <a:close/>
                    <a:moveTo>
                      <a:pt x="119" y="0"/>
                    </a:moveTo>
                    <a:lnTo>
                      <a:pt x="140" y="0"/>
                    </a:lnTo>
                    <a:lnTo>
                      <a:pt x="140" y="20"/>
                    </a:lnTo>
                    <a:lnTo>
                      <a:pt x="119" y="20"/>
                    </a:lnTo>
                    <a:lnTo>
                      <a:pt x="119" y="0"/>
                    </a:lnTo>
                    <a:close/>
                    <a:moveTo>
                      <a:pt x="160" y="0"/>
                    </a:moveTo>
                    <a:lnTo>
                      <a:pt x="179" y="0"/>
                    </a:lnTo>
                    <a:lnTo>
                      <a:pt x="179" y="20"/>
                    </a:lnTo>
                    <a:lnTo>
                      <a:pt x="160" y="20"/>
                    </a:lnTo>
                    <a:lnTo>
                      <a:pt x="160" y="0"/>
                    </a:lnTo>
                    <a:close/>
                    <a:moveTo>
                      <a:pt x="200" y="0"/>
                    </a:moveTo>
                    <a:lnTo>
                      <a:pt x="219" y="0"/>
                    </a:lnTo>
                    <a:lnTo>
                      <a:pt x="219" y="20"/>
                    </a:lnTo>
                    <a:lnTo>
                      <a:pt x="200" y="20"/>
                    </a:lnTo>
                    <a:lnTo>
                      <a:pt x="200" y="0"/>
                    </a:lnTo>
                    <a:close/>
                    <a:moveTo>
                      <a:pt x="239" y="0"/>
                    </a:moveTo>
                    <a:lnTo>
                      <a:pt x="260" y="0"/>
                    </a:lnTo>
                    <a:lnTo>
                      <a:pt x="260" y="20"/>
                    </a:lnTo>
                    <a:lnTo>
                      <a:pt x="239" y="20"/>
                    </a:lnTo>
                    <a:lnTo>
                      <a:pt x="239" y="0"/>
                    </a:lnTo>
                    <a:close/>
                    <a:moveTo>
                      <a:pt x="279" y="0"/>
                    </a:moveTo>
                    <a:lnTo>
                      <a:pt x="299" y="0"/>
                    </a:lnTo>
                    <a:lnTo>
                      <a:pt x="299" y="20"/>
                    </a:lnTo>
                    <a:lnTo>
                      <a:pt x="279" y="20"/>
                    </a:lnTo>
                    <a:lnTo>
                      <a:pt x="279" y="0"/>
                    </a:lnTo>
                    <a:close/>
                    <a:moveTo>
                      <a:pt x="320" y="0"/>
                    </a:moveTo>
                    <a:lnTo>
                      <a:pt x="339" y="0"/>
                    </a:lnTo>
                    <a:lnTo>
                      <a:pt x="339" y="20"/>
                    </a:lnTo>
                    <a:lnTo>
                      <a:pt x="320" y="20"/>
                    </a:lnTo>
                    <a:lnTo>
                      <a:pt x="320" y="0"/>
                    </a:lnTo>
                    <a:close/>
                    <a:moveTo>
                      <a:pt x="359" y="0"/>
                    </a:moveTo>
                    <a:lnTo>
                      <a:pt x="380" y="0"/>
                    </a:lnTo>
                    <a:lnTo>
                      <a:pt x="380" y="20"/>
                    </a:lnTo>
                    <a:lnTo>
                      <a:pt x="359" y="20"/>
                    </a:lnTo>
                    <a:lnTo>
                      <a:pt x="359" y="0"/>
                    </a:lnTo>
                    <a:close/>
                    <a:moveTo>
                      <a:pt x="399" y="0"/>
                    </a:moveTo>
                    <a:lnTo>
                      <a:pt x="419" y="0"/>
                    </a:lnTo>
                    <a:lnTo>
                      <a:pt x="419" y="20"/>
                    </a:lnTo>
                    <a:lnTo>
                      <a:pt x="399" y="20"/>
                    </a:lnTo>
                    <a:lnTo>
                      <a:pt x="399" y="0"/>
                    </a:lnTo>
                    <a:close/>
                    <a:moveTo>
                      <a:pt x="439" y="0"/>
                    </a:moveTo>
                    <a:lnTo>
                      <a:pt x="459" y="0"/>
                    </a:lnTo>
                    <a:lnTo>
                      <a:pt x="459" y="20"/>
                    </a:lnTo>
                    <a:lnTo>
                      <a:pt x="439" y="20"/>
                    </a:lnTo>
                    <a:lnTo>
                      <a:pt x="439" y="0"/>
                    </a:lnTo>
                    <a:close/>
                    <a:moveTo>
                      <a:pt x="480" y="0"/>
                    </a:moveTo>
                    <a:lnTo>
                      <a:pt x="499" y="0"/>
                    </a:lnTo>
                    <a:lnTo>
                      <a:pt x="499" y="20"/>
                    </a:lnTo>
                    <a:lnTo>
                      <a:pt x="480" y="20"/>
                    </a:lnTo>
                    <a:lnTo>
                      <a:pt x="480" y="0"/>
                    </a:lnTo>
                    <a:close/>
                    <a:moveTo>
                      <a:pt x="519" y="0"/>
                    </a:moveTo>
                    <a:lnTo>
                      <a:pt x="540" y="0"/>
                    </a:lnTo>
                    <a:lnTo>
                      <a:pt x="540" y="20"/>
                    </a:lnTo>
                    <a:lnTo>
                      <a:pt x="519" y="20"/>
                    </a:lnTo>
                    <a:lnTo>
                      <a:pt x="519" y="0"/>
                    </a:lnTo>
                    <a:close/>
                    <a:moveTo>
                      <a:pt x="559" y="0"/>
                    </a:moveTo>
                    <a:lnTo>
                      <a:pt x="566" y="0"/>
                    </a:lnTo>
                    <a:lnTo>
                      <a:pt x="566" y="20"/>
                    </a:lnTo>
                    <a:lnTo>
                      <a:pt x="559" y="20"/>
                    </a:lnTo>
                    <a:lnTo>
                      <a:pt x="559" y="0"/>
                    </a:lnTo>
                    <a:close/>
                  </a:path>
                </a:pathLst>
              </a:custGeom>
              <a:solidFill>
                <a:srgbClr val="000000"/>
              </a:solidFill>
              <a:ln w="9525">
                <a:noFill/>
                <a:round/>
                <a:headEnd/>
                <a:tailEnd/>
              </a:ln>
            </p:spPr>
            <p:txBody>
              <a:bodyPr/>
              <a:lstStyle/>
              <a:p>
                <a:endParaRPr lang="zh-CN" altLang="en-US"/>
              </a:p>
            </p:txBody>
          </p:sp>
          <p:sp>
            <p:nvSpPr>
              <p:cNvPr id="63534" name="Freeform 37"/>
              <p:cNvSpPr>
                <a:spLocks/>
              </p:cNvSpPr>
              <p:nvPr/>
            </p:nvSpPr>
            <p:spPr bwMode="auto">
              <a:xfrm>
                <a:off x="3294" y="2378"/>
                <a:ext cx="19" cy="26"/>
              </a:xfrm>
              <a:custGeom>
                <a:avLst/>
                <a:gdLst>
                  <a:gd name="T0" fmla="*/ 0 w 19"/>
                  <a:gd name="T1" fmla="*/ 0 h 20"/>
                  <a:gd name="T2" fmla="*/ 19 w 19"/>
                  <a:gd name="T3" fmla="*/ 0 h 20"/>
                  <a:gd name="T4" fmla="*/ 19 w 19"/>
                  <a:gd name="T5" fmla="*/ 34 h 20"/>
                  <a:gd name="T6" fmla="*/ 0 w 19"/>
                  <a:gd name="T7" fmla="*/ 34 h 20"/>
                  <a:gd name="T8" fmla="*/ 0 w 19"/>
                  <a:gd name="T9" fmla="*/ 0 h 20"/>
                  <a:gd name="T10" fmla="*/ 0 w 19"/>
                  <a:gd name="T11" fmla="*/ 0 h 20"/>
                  <a:gd name="T12" fmla="*/ 0 60000 65536"/>
                  <a:gd name="T13" fmla="*/ 0 60000 65536"/>
                  <a:gd name="T14" fmla="*/ 0 60000 65536"/>
                  <a:gd name="T15" fmla="*/ 0 60000 65536"/>
                  <a:gd name="T16" fmla="*/ 0 60000 65536"/>
                  <a:gd name="T17" fmla="*/ 0 60000 65536"/>
                  <a:gd name="T18" fmla="*/ 0 w 19"/>
                  <a:gd name="T19" fmla="*/ 0 h 20"/>
                  <a:gd name="T20" fmla="*/ 19 w 19"/>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9" h="20">
                    <a:moveTo>
                      <a:pt x="0" y="0"/>
                    </a:moveTo>
                    <a:lnTo>
                      <a:pt x="19" y="0"/>
                    </a:lnTo>
                    <a:lnTo>
                      <a:pt x="19" y="20"/>
                    </a:lnTo>
                    <a:lnTo>
                      <a:pt x="0" y="20"/>
                    </a:lnTo>
                    <a:lnTo>
                      <a:pt x="0" y="0"/>
                    </a:lnTo>
                    <a:close/>
                  </a:path>
                </a:pathLst>
              </a:custGeom>
              <a:noFill/>
              <a:ln w="1588">
                <a:solidFill>
                  <a:srgbClr val="000000"/>
                </a:solidFill>
                <a:round/>
                <a:headEnd/>
                <a:tailEnd/>
              </a:ln>
            </p:spPr>
            <p:txBody>
              <a:bodyPr/>
              <a:lstStyle/>
              <a:p>
                <a:endParaRPr lang="zh-CN" altLang="en-US"/>
              </a:p>
            </p:txBody>
          </p:sp>
          <p:sp>
            <p:nvSpPr>
              <p:cNvPr id="63535" name="Freeform 38"/>
              <p:cNvSpPr>
                <a:spLocks/>
              </p:cNvSpPr>
              <p:nvPr/>
            </p:nvSpPr>
            <p:spPr bwMode="auto">
              <a:xfrm>
                <a:off x="3334" y="2378"/>
                <a:ext cx="22" cy="26"/>
              </a:xfrm>
              <a:custGeom>
                <a:avLst/>
                <a:gdLst>
                  <a:gd name="T0" fmla="*/ 0 w 19"/>
                  <a:gd name="T1" fmla="*/ 0 h 20"/>
                  <a:gd name="T2" fmla="*/ 25 w 19"/>
                  <a:gd name="T3" fmla="*/ 0 h 20"/>
                  <a:gd name="T4" fmla="*/ 25 w 19"/>
                  <a:gd name="T5" fmla="*/ 34 h 20"/>
                  <a:gd name="T6" fmla="*/ 0 w 19"/>
                  <a:gd name="T7" fmla="*/ 34 h 20"/>
                  <a:gd name="T8" fmla="*/ 0 w 19"/>
                  <a:gd name="T9" fmla="*/ 0 h 20"/>
                  <a:gd name="T10" fmla="*/ 0 w 19"/>
                  <a:gd name="T11" fmla="*/ 0 h 20"/>
                  <a:gd name="T12" fmla="*/ 0 60000 65536"/>
                  <a:gd name="T13" fmla="*/ 0 60000 65536"/>
                  <a:gd name="T14" fmla="*/ 0 60000 65536"/>
                  <a:gd name="T15" fmla="*/ 0 60000 65536"/>
                  <a:gd name="T16" fmla="*/ 0 60000 65536"/>
                  <a:gd name="T17" fmla="*/ 0 60000 65536"/>
                  <a:gd name="T18" fmla="*/ 0 w 19"/>
                  <a:gd name="T19" fmla="*/ 0 h 20"/>
                  <a:gd name="T20" fmla="*/ 19 w 19"/>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9" h="20">
                    <a:moveTo>
                      <a:pt x="0" y="0"/>
                    </a:moveTo>
                    <a:lnTo>
                      <a:pt x="19" y="0"/>
                    </a:lnTo>
                    <a:lnTo>
                      <a:pt x="19" y="20"/>
                    </a:lnTo>
                    <a:lnTo>
                      <a:pt x="0" y="20"/>
                    </a:lnTo>
                    <a:lnTo>
                      <a:pt x="0" y="0"/>
                    </a:lnTo>
                    <a:close/>
                  </a:path>
                </a:pathLst>
              </a:custGeom>
              <a:noFill/>
              <a:ln w="1588">
                <a:solidFill>
                  <a:srgbClr val="000000"/>
                </a:solidFill>
                <a:round/>
                <a:headEnd/>
                <a:tailEnd/>
              </a:ln>
            </p:spPr>
            <p:txBody>
              <a:bodyPr/>
              <a:lstStyle/>
              <a:p>
                <a:endParaRPr lang="zh-CN" altLang="en-US"/>
              </a:p>
            </p:txBody>
          </p:sp>
          <p:sp>
            <p:nvSpPr>
              <p:cNvPr id="63536" name="Freeform 39"/>
              <p:cNvSpPr>
                <a:spLocks/>
              </p:cNvSpPr>
              <p:nvPr/>
            </p:nvSpPr>
            <p:spPr bwMode="auto">
              <a:xfrm>
                <a:off x="3377" y="2378"/>
                <a:ext cx="21" cy="26"/>
              </a:xfrm>
              <a:custGeom>
                <a:avLst/>
                <a:gdLst>
                  <a:gd name="T0" fmla="*/ 0 w 20"/>
                  <a:gd name="T1" fmla="*/ 0 h 20"/>
                  <a:gd name="T2" fmla="*/ 22 w 20"/>
                  <a:gd name="T3" fmla="*/ 0 h 20"/>
                  <a:gd name="T4" fmla="*/ 22 w 20"/>
                  <a:gd name="T5" fmla="*/ 34 h 20"/>
                  <a:gd name="T6" fmla="*/ 0 w 20"/>
                  <a:gd name="T7" fmla="*/ 34 h 20"/>
                  <a:gd name="T8" fmla="*/ 0 w 20"/>
                  <a:gd name="T9" fmla="*/ 0 h 20"/>
                  <a:gd name="T10" fmla="*/ 0 w 20"/>
                  <a:gd name="T11" fmla="*/ 0 h 20"/>
                  <a:gd name="T12" fmla="*/ 0 60000 65536"/>
                  <a:gd name="T13" fmla="*/ 0 60000 65536"/>
                  <a:gd name="T14" fmla="*/ 0 60000 65536"/>
                  <a:gd name="T15" fmla="*/ 0 60000 65536"/>
                  <a:gd name="T16" fmla="*/ 0 60000 65536"/>
                  <a:gd name="T17" fmla="*/ 0 60000 65536"/>
                  <a:gd name="T18" fmla="*/ 0 w 20"/>
                  <a:gd name="T19" fmla="*/ 0 h 20"/>
                  <a:gd name="T20" fmla="*/ 20 w 20"/>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20" h="20">
                    <a:moveTo>
                      <a:pt x="0" y="0"/>
                    </a:moveTo>
                    <a:lnTo>
                      <a:pt x="20" y="0"/>
                    </a:lnTo>
                    <a:lnTo>
                      <a:pt x="20" y="20"/>
                    </a:lnTo>
                    <a:lnTo>
                      <a:pt x="0" y="20"/>
                    </a:lnTo>
                    <a:lnTo>
                      <a:pt x="0" y="0"/>
                    </a:lnTo>
                    <a:close/>
                  </a:path>
                </a:pathLst>
              </a:custGeom>
              <a:noFill/>
              <a:ln w="1588">
                <a:solidFill>
                  <a:srgbClr val="000000"/>
                </a:solidFill>
                <a:round/>
                <a:headEnd/>
                <a:tailEnd/>
              </a:ln>
            </p:spPr>
            <p:txBody>
              <a:bodyPr/>
              <a:lstStyle/>
              <a:p>
                <a:endParaRPr lang="zh-CN" altLang="en-US"/>
              </a:p>
            </p:txBody>
          </p:sp>
          <p:sp>
            <p:nvSpPr>
              <p:cNvPr id="63537" name="Freeform 40"/>
              <p:cNvSpPr>
                <a:spLocks/>
              </p:cNvSpPr>
              <p:nvPr/>
            </p:nvSpPr>
            <p:spPr bwMode="auto">
              <a:xfrm>
                <a:off x="3420" y="2378"/>
                <a:ext cx="21" cy="26"/>
              </a:xfrm>
              <a:custGeom>
                <a:avLst/>
                <a:gdLst>
                  <a:gd name="T0" fmla="*/ 0 w 21"/>
                  <a:gd name="T1" fmla="*/ 0 h 20"/>
                  <a:gd name="T2" fmla="*/ 21 w 21"/>
                  <a:gd name="T3" fmla="*/ 0 h 20"/>
                  <a:gd name="T4" fmla="*/ 21 w 21"/>
                  <a:gd name="T5" fmla="*/ 34 h 20"/>
                  <a:gd name="T6" fmla="*/ 0 w 21"/>
                  <a:gd name="T7" fmla="*/ 34 h 20"/>
                  <a:gd name="T8" fmla="*/ 0 w 21"/>
                  <a:gd name="T9" fmla="*/ 0 h 20"/>
                  <a:gd name="T10" fmla="*/ 0 w 21"/>
                  <a:gd name="T11" fmla="*/ 0 h 20"/>
                  <a:gd name="T12" fmla="*/ 0 60000 65536"/>
                  <a:gd name="T13" fmla="*/ 0 60000 65536"/>
                  <a:gd name="T14" fmla="*/ 0 60000 65536"/>
                  <a:gd name="T15" fmla="*/ 0 60000 65536"/>
                  <a:gd name="T16" fmla="*/ 0 60000 65536"/>
                  <a:gd name="T17" fmla="*/ 0 60000 65536"/>
                  <a:gd name="T18" fmla="*/ 0 w 21"/>
                  <a:gd name="T19" fmla="*/ 0 h 20"/>
                  <a:gd name="T20" fmla="*/ 21 w 21"/>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21" h="20">
                    <a:moveTo>
                      <a:pt x="0" y="0"/>
                    </a:moveTo>
                    <a:lnTo>
                      <a:pt x="21" y="0"/>
                    </a:lnTo>
                    <a:lnTo>
                      <a:pt x="21" y="20"/>
                    </a:lnTo>
                    <a:lnTo>
                      <a:pt x="0" y="20"/>
                    </a:lnTo>
                    <a:lnTo>
                      <a:pt x="0" y="0"/>
                    </a:lnTo>
                    <a:close/>
                  </a:path>
                </a:pathLst>
              </a:custGeom>
              <a:noFill/>
              <a:ln w="1588">
                <a:solidFill>
                  <a:srgbClr val="000000"/>
                </a:solidFill>
                <a:round/>
                <a:headEnd/>
                <a:tailEnd/>
              </a:ln>
            </p:spPr>
            <p:txBody>
              <a:bodyPr/>
              <a:lstStyle/>
              <a:p>
                <a:endParaRPr lang="zh-CN" altLang="en-US"/>
              </a:p>
            </p:txBody>
          </p:sp>
          <p:sp>
            <p:nvSpPr>
              <p:cNvPr id="63538" name="Freeform 41"/>
              <p:cNvSpPr>
                <a:spLocks/>
              </p:cNvSpPr>
              <p:nvPr/>
            </p:nvSpPr>
            <p:spPr bwMode="auto">
              <a:xfrm>
                <a:off x="3462" y="2378"/>
                <a:ext cx="22" cy="26"/>
              </a:xfrm>
              <a:custGeom>
                <a:avLst/>
                <a:gdLst>
                  <a:gd name="T0" fmla="*/ 0 w 19"/>
                  <a:gd name="T1" fmla="*/ 0 h 20"/>
                  <a:gd name="T2" fmla="*/ 25 w 19"/>
                  <a:gd name="T3" fmla="*/ 0 h 20"/>
                  <a:gd name="T4" fmla="*/ 25 w 19"/>
                  <a:gd name="T5" fmla="*/ 34 h 20"/>
                  <a:gd name="T6" fmla="*/ 0 w 19"/>
                  <a:gd name="T7" fmla="*/ 34 h 20"/>
                  <a:gd name="T8" fmla="*/ 0 w 19"/>
                  <a:gd name="T9" fmla="*/ 0 h 20"/>
                  <a:gd name="T10" fmla="*/ 0 w 19"/>
                  <a:gd name="T11" fmla="*/ 0 h 20"/>
                  <a:gd name="T12" fmla="*/ 0 60000 65536"/>
                  <a:gd name="T13" fmla="*/ 0 60000 65536"/>
                  <a:gd name="T14" fmla="*/ 0 60000 65536"/>
                  <a:gd name="T15" fmla="*/ 0 60000 65536"/>
                  <a:gd name="T16" fmla="*/ 0 60000 65536"/>
                  <a:gd name="T17" fmla="*/ 0 60000 65536"/>
                  <a:gd name="T18" fmla="*/ 0 w 19"/>
                  <a:gd name="T19" fmla="*/ 0 h 20"/>
                  <a:gd name="T20" fmla="*/ 19 w 19"/>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9" h="20">
                    <a:moveTo>
                      <a:pt x="0" y="0"/>
                    </a:moveTo>
                    <a:lnTo>
                      <a:pt x="19" y="0"/>
                    </a:lnTo>
                    <a:lnTo>
                      <a:pt x="19" y="20"/>
                    </a:lnTo>
                    <a:lnTo>
                      <a:pt x="0" y="20"/>
                    </a:lnTo>
                    <a:lnTo>
                      <a:pt x="0" y="0"/>
                    </a:lnTo>
                    <a:close/>
                  </a:path>
                </a:pathLst>
              </a:custGeom>
              <a:noFill/>
              <a:ln w="1588">
                <a:solidFill>
                  <a:srgbClr val="000000"/>
                </a:solidFill>
                <a:round/>
                <a:headEnd/>
                <a:tailEnd/>
              </a:ln>
            </p:spPr>
            <p:txBody>
              <a:bodyPr/>
              <a:lstStyle/>
              <a:p>
                <a:endParaRPr lang="zh-CN" altLang="en-US"/>
              </a:p>
            </p:txBody>
          </p:sp>
          <p:sp>
            <p:nvSpPr>
              <p:cNvPr id="63539" name="Freeform 42"/>
              <p:cNvSpPr>
                <a:spLocks/>
              </p:cNvSpPr>
              <p:nvPr/>
            </p:nvSpPr>
            <p:spPr bwMode="auto">
              <a:xfrm>
                <a:off x="3505" y="2378"/>
                <a:ext cx="21" cy="26"/>
              </a:xfrm>
              <a:custGeom>
                <a:avLst/>
                <a:gdLst>
                  <a:gd name="T0" fmla="*/ 0 w 19"/>
                  <a:gd name="T1" fmla="*/ 0 h 20"/>
                  <a:gd name="T2" fmla="*/ 23 w 19"/>
                  <a:gd name="T3" fmla="*/ 0 h 20"/>
                  <a:gd name="T4" fmla="*/ 23 w 19"/>
                  <a:gd name="T5" fmla="*/ 34 h 20"/>
                  <a:gd name="T6" fmla="*/ 0 w 19"/>
                  <a:gd name="T7" fmla="*/ 34 h 20"/>
                  <a:gd name="T8" fmla="*/ 0 w 19"/>
                  <a:gd name="T9" fmla="*/ 0 h 20"/>
                  <a:gd name="T10" fmla="*/ 0 w 19"/>
                  <a:gd name="T11" fmla="*/ 0 h 20"/>
                  <a:gd name="T12" fmla="*/ 0 60000 65536"/>
                  <a:gd name="T13" fmla="*/ 0 60000 65536"/>
                  <a:gd name="T14" fmla="*/ 0 60000 65536"/>
                  <a:gd name="T15" fmla="*/ 0 60000 65536"/>
                  <a:gd name="T16" fmla="*/ 0 60000 65536"/>
                  <a:gd name="T17" fmla="*/ 0 60000 65536"/>
                  <a:gd name="T18" fmla="*/ 0 w 19"/>
                  <a:gd name="T19" fmla="*/ 0 h 20"/>
                  <a:gd name="T20" fmla="*/ 19 w 19"/>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9" h="20">
                    <a:moveTo>
                      <a:pt x="0" y="0"/>
                    </a:moveTo>
                    <a:lnTo>
                      <a:pt x="19" y="0"/>
                    </a:lnTo>
                    <a:lnTo>
                      <a:pt x="19" y="20"/>
                    </a:lnTo>
                    <a:lnTo>
                      <a:pt x="0" y="20"/>
                    </a:lnTo>
                    <a:lnTo>
                      <a:pt x="0" y="0"/>
                    </a:lnTo>
                    <a:close/>
                  </a:path>
                </a:pathLst>
              </a:custGeom>
              <a:noFill/>
              <a:ln w="1588">
                <a:solidFill>
                  <a:srgbClr val="000000"/>
                </a:solidFill>
                <a:round/>
                <a:headEnd/>
                <a:tailEnd/>
              </a:ln>
            </p:spPr>
            <p:txBody>
              <a:bodyPr/>
              <a:lstStyle/>
              <a:p>
                <a:endParaRPr lang="zh-CN" altLang="en-US"/>
              </a:p>
            </p:txBody>
          </p:sp>
          <p:sp>
            <p:nvSpPr>
              <p:cNvPr id="63540" name="Freeform 43"/>
              <p:cNvSpPr>
                <a:spLocks/>
              </p:cNvSpPr>
              <p:nvPr/>
            </p:nvSpPr>
            <p:spPr bwMode="auto">
              <a:xfrm>
                <a:off x="3548" y="2378"/>
                <a:ext cx="21" cy="26"/>
              </a:xfrm>
              <a:custGeom>
                <a:avLst/>
                <a:gdLst>
                  <a:gd name="T0" fmla="*/ 0 w 21"/>
                  <a:gd name="T1" fmla="*/ 0 h 20"/>
                  <a:gd name="T2" fmla="*/ 21 w 21"/>
                  <a:gd name="T3" fmla="*/ 0 h 20"/>
                  <a:gd name="T4" fmla="*/ 21 w 21"/>
                  <a:gd name="T5" fmla="*/ 34 h 20"/>
                  <a:gd name="T6" fmla="*/ 0 w 21"/>
                  <a:gd name="T7" fmla="*/ 34 h 20"/>
                  <a:gd name="T8" fmla="*/ 0 w 21"/>
                  <a:gd name="T9" fmla="*/ 0 h 20"/>
                  <a:gd name="T10" fmla="*/ 0 w 21"/>
                  <a:gd name="T11" fmla="*/ 0 h 20"/>
                  <a:gd name="T12" fmla="*/ 0 60000 65536"/>
                  <a:gd name="T13" fmla="*/ 0 60000 65536"/>
                  <a:gd name="T14" fmla="*/ 0 60000 65536"/>
                  <a:gd name="T15" fmla="*/ 0 60000 65536"/>
                  <a:gd name="T16" fmla="*/ 0 60000 65536"/>
                  <a:gd name="T17" fmla="*/ 0 60000 65536"/>
                  <a:gd name="T18" fmla="*/ 0 w 21"/>
                  <a:gd name="T19" fmla="*/ 0 h 20"/>
                  <a:gd name="T20" fmla="*/ 21 w 21"/>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21" h="20">
                    <a:moveTo>
                      <a:pt x="0" y="0"/>
                    </a:moveTo>
                    <a:lnTo>
                      <a:pt x="21" y="0"/>
                    </a:lnTo>
                    <a:lnTo>
                      <a:pt x="21" y="20"/>
                    </a:lnTo>
                    <a:lnTo>
                      <a:pt x="0" y="20"/>
                    </a:lnTo>
                    <a:lnTo>
                      <a:pt x="0" y="0"/>
                    </a:lnTo>
                    <a:close/>
                  </a:path>
                </a:pathLst>
              </a:custGeom>
              <a:noFill/>
              <a:ln w="1588">
                <a:solidFill>
                  <a:srgbClr val="000000"/>
                </a:solidFill>
                <a:round/>
                <a:headEnd/>
                <a:tailEnd/>
              </a:ln>
            </p:spPr>
            <p:txBody>
              <a:bodyPr/>
              <a:lstStyle/>
              <a:p>
                <a:endParaRPr lang="zh-CN" altLang="en-US"/>
              </a:p>
            </p:txBody>
          </p:sp>
          <p:sp>
            <p:nvSpPr>
              <p:cNvPr id="63541" name="Freeform 44"/>
              <p:cNvSpPr>
                <a:spLocks/>
              </p:cNvSpPr>
              <p:nvPr/>
            </p:nvSpPr>
            <p:spPr bwMode="auto">
              <a:xfrm>
                <a:off x="3591" y="2378"/>
                <a:ext cx="21" cy="26"/>
              </a:xfrm>
              <a:custGeom>
                <a:avLst/>
                <a:gdLst>
                  <a:gd name="T0" fmla="*/ 0 w 20"/>
                  <a:gd name="T1" fmla="*/ 0 h 20"/>
                  <a:gd name="T2" fmla="*/ 22 w 20"/>
                  <a:gd name="T3" fmla="*/ 0 h 20"/>
                  <a:gd name="T4" fmla="*/ 22 w 20"/>
                  <a:gd name="T5" fmla="*/ 34 h 20"/>
                  <a:gd name="T6" fmla="*/ 0 w 20"/>
                  <a:gd name="T7" fmla="*/ 34 h 20"/>
                  <a:gd name="T8" fmla="*/ 0 w 20"/>
                  <a:gd name="T9" fmla="*/ 0 h 20"/>
                  <a:gd name="T10" fmla="*/ 0 w 20"/>
                  <a:gd name="T11" fmla="*/ 0 h 20"/>
                  <a:gd name="T12" fmla="*/ 0 60000 65536"/>
                  <a:gd name="T13" fmla="*/ 0 60000 65536"/>
                  <a:gd name="T14" fmla="*/ 0 60000 65536"/>
                  <a:gd name="T15" fmla="*/ 0 60000 65536"/>
                  <a:gd name="T16" fmla="*/ 0 60000 65536"/>
                  <a:gd name="T17" fmla="*/ 0 60000 65536"/>
                  <a:gd name="T18" fmla="*/ 0 w 20"/>
                  <a:gd name="T19" fmla="*/ 0 h 20"/>
                  <a:gd name="T20" fmla="*/ 20 w 20"/>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20" h="20">
                    <a:moveTo>
                      <a:pt x="0" y="0"/>
                    </a:moveTo>
                    <a:lnTo>
                      <a:pt x="20" y="0"/>
                    </a:lnTo>
                    <a:lnTo>
                      <a:pt x="20" y="20"/>
                    </a:lnTo>
                    <a:lnTo>
                      <a:pt x="0" y="20"/>
                    </a:lnTo>
                    <a:lnTo>
                      <a:pt x="0" y="0"/>
                    </a:lnTo>
                    <a:close/>
                  </a:path>
                </a:pathLst>
              </a:custGeom>
              <a:noFill/>
              <a:ln w="1588">
                <a:solidFill>
                  <a:srgbClr val="000000"/>
                </a:solidFill>
                <a:round/>
                <a:headEnd/>
                <a:tailEnd/>
              </a:ln>
            </p:spPr>
            <p:txBody>
              <a:bodyPr/>
              <a:lstStyle/>
              <a:p>
                <a:endParaRPr lang="zh-CN" altLang="en-US"/>
              </a:p>
            </p:txBody>
          </p:sp>
          <p:sp>
            <p:nvSpPr>
              <p:cNvPr id="63542" name="Freeform 45"/>
              <p:cNvSpPr>
                <a:spLocks/>
              </p:cNvSpPr>
              <p:nvPr/>
            </p:nvSpPr>
            <p:spPr bwMode="auto">
              <a:xfrm>
                <a:off x="3633" y="2378"/>
                <a:ext cx="22" cy="26"/>
              </a:xfrm>
              <a:custGeom>
                <a:avLst/>
                <a:gdLst>
                  <a:gd name="T0" fmla="*/ 0 w 19"/>
                  <a:gd name="T1" fmla="*/ 0 h 20"/>
                  <a:gd name="T2" fmla="*/ 25 w 19"/>
                  <a:gd name="T3" fmla="*/ 0 h 20"/>
                  <a:gd name="T4" fmla="*/ 25 w 19"/>
                  <a:gd name="T5" fmla="*/ 34 h 20"/>
                  <a:gd name="T6" fmla="*/ 0 w 19"/>
                  <a:gd name="T7" fmla="*/ 34 h 20"/>
                  <a:gd name="T8" fmla="*/ 0 w 19"/>
                  <a:gd name="T9" fmla="*/ 0 h 20"/>
                  <a:gd name="T10" fmla="*/ 0 w 19"/>
                  <a:gd name="T11" fmla="*/ 0 h 20"/>
                  <a:gd name="T12" fmla="*/ 0 60000 65536"/>
                  <a:gd name="T13" fmla="*/ 0 60000 65536"/>
                  <a:gd name="T14" fmla="*/ 0 60000 65536"/>
                  <a:gd name="T15" fmla="*/ 0 60000 65536"/>
                  <a:gd name="T16" fmla="*/ 0 60000 65536"/>
                  <a:gd name="T17" fmla="*/ 0 60000 65536"/>
                  <a:gd name="T18" fmla="*/ 0 w 19"/>
                  <a:gd name="T19" fmla="*/ 0 h 20"/>
                  <a:gd name="T20" fmla="*/ 19 w 19"/>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9" h="20">
                    <a:moveTo>
                      <a:pt x="0" y="0"/>
                    </a:moveTo>
                    <a:lnTo>
                      <a:pt x="19" y="0"/>
                    </a:lnTo>
                    <a:lnTo>
                      <a:pt x="19" y="20"/>
                    </a:lnTo>
                    <a:lnTo>
                      <a:pt x="0" y="20"/>
                    </a:lnTo>
                    <a:lnTo>
                      <a:pt x="0" y="0"/>
                    </a:lnTo>
                    <a:close/>
                  </a:path>
                </a:pathLst>
              </a:custGeom>
              <a:noFill/>
              <a:ln w="1588">
                <a:solidFill>
                  <a:srgbClr val="000000"/>
                </a:solidFill>
                <a:round/>
                <a:headEnd/>
                <a:tailEnd/>
              </a:ln>
            </p:spPr>
            <p:txBody>
              <a:bodyPr/>
              <a:lstStyle/>
              <a:p>
                <a:endParaRPr lang="zh-CN" altLang="en-US"/>
              </a:p>
            </p:txBody>
          </p:sp>
          <p:sp>
            <p:nvSpPr>
              <p:cNvPr id="63543" name="Freeform 46"/>
              <p:cNvSpPr>
                <a:spLocks/>
              </p:cNvSpPr>
              <p:nvPr/>
            </p:nvSpPr>
            <p:spPr bwMode="auto">
              <a:xfrm>
                <a:off x="3676" y="2378"/>
                <a:ext cx="21" cy="26"/>
              </a:xfrm>
              <a:custGeom>
                <a:avLst/>
                <a:gdLst>
                  <a:gd name="T0" fmla="*/ 0 w 21"/>
                  <a:gd name="T1" fmla="*/ 0 h 20"/>
                  <a:gd name="T2" fmla="*/ 21 w 21"/>
                  <a:gd name="T3" fmla="*/ 0 h 20"/>
                  <a:gd name="T4" fmla="*/ 21 w 21"/>
                  <a:gd name="T5" fmla="*/ 34 h 20"/>
                  <a:gd name="T6" fmla="*/ 0 w 21"/>
                  <a:gd name="T7" fmla="*/ 34 h 20"/>
                  <a:gd name="T8" fmla="*/ 0 w 21"/>
                  <a:gd name="T9" fmla="*/ 0 h 20"/>
                  <a:gd name="T10" fmla="*/ 0 w 21"/>
                  <a:gd name="T11" fmla="*/ 0 h 20"/>
                  <a:gd name="T12" fmla="*/ 0 60000 65536"/>
                  <a:gd name="T13" fmla="*/ 0 60000 65536"/>
                  <a:gd name="T14" fmla="*/ 0 60000 65536"/>
                  <a:gd name="T15" fmla="*/ 0 60000 65536"/>
                  <a:gd name="T16" fmla="*/ 0 60000 65536"/>
                  <a:gd name="T17" fmla="*/ 0 60000 65536"/>
                  <a:gd name="T18" fmla="*/ 0 w 21"/>
                  <a:gd name="T19" fmla="*/ 0 h 20"/>
                  <a:gd name="T20" fmla="*/ 21 w 21"/>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21" h="20">
                    <a:moveTo>
                      <a:pt x="0" y="0"/>
                    </a:moveTo>
                    <a:lnTo>
                      <a:pt x="21" y="0"/>
                    </a:lnTo>
                    <a:lnTo>
                      <a:pt x="21" y="20"/>
                    </a:lnTo>
                    <a:lnTo>
                      <a:pt x="0" y="20"/>
                    </a:lnTo>
                    <a:lnTo>
                      <a:pt x="0" y="0"/>
                    </a:lnTo>
                    <a:close/>
                  </a:path>
                </a:pathLst>
              </a:custGeom>
              <a:noFill/>
              <a:ln w="1588">
                <a:solidFill>
                  <a:srgbClr val="000000"/>
                </a:solidFill>
                <a:round/>
                <a:headEnd/>
                <a:tailEnd/>
              </a:ln>
            </p:spPr>
            <p:txBody>
              <a:bodyPr/>
              <a:lstStyle/>
              <a:p>
                <a:endParaRPr lang="zh-CN" altLang="en-US"/>
              </a:p>
            </p:txBody>
          </p:sp>
          <p:sp>
            <p:nvSpPr>
              <p:cNvPr id="63544" name="Freeform 47"/>
              <p:cNvSpPr>
                <a:spLocks/>
              </p:cNvSpPr>
              <p:nvPr/>
            </p:nvSpPr>
            <p:spPr bwMode="auto">
              <a:xfrm>
                <a:off x="3719" y="2378"/>
                <a:ext cx="21" cy="26"/>
              </a:xfrm>
              <a:custGeom>
                <a:avLst/>
                <a:gdLst>
                  <a:gd name="T0" fmla="*/ 0 w 20"/>
                  <a:gd name="T1" fmla="*/ 0 h 20"/>
                  <a:gd name="T2" fmla="*/ 22 w 20"/>
                  <a:gd name="T3" fmla="*/ 0 h 20"/>
                  <a:gd name="T4" fmla="*/ 22 w 20"/>
                  <a:gd name="T5" fmla="*/ 34 h 20"/>
                  <a:gd name="T6" fmla="*/ 0 w 20"/>
                  <a:gd name="T7" fmla="*/ 34 h 20"/>
                  <a:gd name="T8" fmla="*/ 0 w 20"/>
                  <a:gd name="T9" fmla="*/ 0 h 20"/>
                  <a:gd name="T10" fmla="*/ 0 w 20"/>
                  <a:gd name="T11" fmla="*/ 0 h 20"/>
                  <a:gd name="T12" fmla="*/ 0 60000 65536"/>
                  <a:gd name="T13" fmla="*/ 0 60000 65536"/>
                  <a:gd name="T14" fmla="*/ 0 60000 65536"/>
                  <a:gd name="T15" fmla="*/ 0 60000 65536"/>
                  <a:gd name="T16" fmla="*/ 0 60000 65536"/>
                  <a:gd name="T17" fmla="*/ 0 60000 65536"/>
                  <a:gd name="T18" fmla="*/ 0 w 20"/>
                  <a:gd name="T19" fmla="*/ 0 h 20"/>
                  <a:gd name="T20" fmla="*/ 20 w 20"/>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20" h="20">
                    <a:moveTo>
                      <a:pt x="0" y="0"/>
                    </a:moveTo>
                    <a:lnTo>
                      <a:pt x="20" y="0"/>
                    </a:lnTo>
                    <a:lnTo>
                      <a:pt x="20" y="20"/>
                    </a:lnTo>
                    <a:lnTo>
                      <a:pt x="0" y="20"/>
                    </a:lnTo>
                    <a:lnTo>
                      <a:pt x="0" y="0"/>
                    </a:lnTo>
                    <a:close/>
                  </a:path>
                </a:pathLst>
              </a:custGeom>
              <a:noFill/>
              <a:ln w="1588">
                <a:solidFill>
                  <a:srgbClr val="000000"/>
                </a:solidFill>
                <a:round/>
                <a:headEnd/>
                <a:tailEnd/>
              </a:ln>
            </p:spPr>
            <p:txBody>
              <a:bodyPr/>
              <a:lstStyle/>
              <a:p>
                <a:endParaRPr lang="zh-CN" altLang="en-US"/>
              </a:p>
            </p:txBody>
          </p:sp>
          <p:sp>
            <p:nvSpPr>
              <p:cNvPr id="63545" name="Freeform 48"/>
              <p:cNvSpPr>
                <a:spLocks/>
              </p:cNvSpPr>
              <p:nvPr/>
            </p:nvSpPr>
            <p:spPr bwMode="auto">
              <a:xfrm>
                <a:off x="3761" y="2378"/>
                <a:ext cx="22" cy="26"/>
              </a:xfrm>
              <a:custGeom>
                <a:avLst/>
                <a:gdLst>
                  <a:gd name="T0" fmla="*/ 0 w 20"/>
                  <a:gd name="T1" fmla="*/ 0 h 20"/>
                  <a:gd name="T2" fmla="*/ 24 w 20"/>
                  <a:gd name="T3" fmla="*/ 0 h 20"/>
                  <a:gd name="T4" fmla="*/ 24 w 20"/>
                  <a:gd name="T5" fmla="*/ 34 h 20"/>
                  <a:gd name="T6" fmla="*/ 0 w 20"/>
                  <a:gd name="T7" fmla="*/ 34 h 20"/>
                  <a:gd name="T8" fmla="*/ 0 w 20"/>
                  <a:gd name="T9" fmla="*/ 0 h 20"/>
                  <a:gd name="T10" fmla="*/ 0 w 20"/>
                  <a:gd name="T11" fmla="*/ 0 h 20"/>
                  <a:gd name="T12" fmla="*/ 0 60000 65536"/>
                  <a:gd name="T13" fmla="*/ 0 60000 65536"/>
                  <a:gd name="T14" fmla="*/ 0 60000 65536"/>
                  <a:gd name="T15" fmla="*/ 0 60000 65536"/>
                  <a:gd name="T16" fmla="*/ 0 60000 65536"/>
                  <a:gd name="T17" fmla="*/ 0 60000 65536"/>
                  <a:gd name="T18" fmla="*/ 0 w 20"/>
                  <a:gd name="T19" fmla="*/ 0 h 20"/>
                  <a:gd name="T20" fmla="*/ 20 w 20"/>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20" h="20">
                    <a:moveTo>
                      <a:pt x="0" y="0"/>
                    </a:moveTo>
                    <a:lnTo>
                      <a:pt x="20" y="0"/>
                    </a:lnTo>
                    <a:lnTo>
                      <a:pt x="20" y="20"/>
                    </a:lnTo>
                    <a:lnTo>
                      <a:pt x="0" y="20"/>
                    </a:lnTo>
                    <a:lnTo>
                      <a:pt x="0" y="0"/>
                    </a:lnTo>
                    <a:close/>
                  </a:path>
                </a:pathLst>
              </a:custGeom>
              <a:noFill/>
              <a:ln w="1588">
                <a:solidFill>
                  <a:srgbClr val="000000"/>
                </a:solidFill>
                <a:round/>
                <a:headEnd/>
                <a:tailEnd/>
              </a:ln>
            </p:spPr>
            <p:txBody>
              <a:bodyPr/>
              <a:lstStyle/>
              <a:p>
                <a:endParaRPr lang="zh-CN" altLang="en-US"/>
              </a:p>
            </p:txBody>
          </p:sp>
          <p:sp>
            <p:nvSpPr>
              <p:cNvPr id="63546" name="Freeform 49"/>
              <p:cNvSpPr>
                <a:spLocks/>
              </p:cNvSpPr>
              <p:nvPr/>
            </p:nvSpPr>
            <p:spPr bwMode="auto">
              <a:xfrm>
                <a:off x="3804" y="2378"/>
                <a:ext cx="22" cy="26"/>
              </a:xfrm>
              <a:custGeom>
                <a:avLst/>
                <a:gdLst>
                  <a:gd name="T0" fmla="*/ 0 w 19"/>
                  <a:gd name="T1" fmla="*/ 0 h 20"/>
                  <a:gd name="T2" fmla="*/ 25 w 19"/>
                  <a:gd name="T3" fmla="*/ 0 h 20"/>
                  <a:gd name="T4" fmla="*/ 25 w 19"/>
                  <a:gd name="T5" fmla="*/ 34 h 20"/>
                  <a:gd name="T6" fmla="*/ 0 w 19"/>
                  <a:gd name="T7" fmla="*/ 34 h 20"/>
                  <a:gd name="T8" fmla="*/ 0 w 19"/>
                  <a:gd name="T9" fmla="*/ 0 h 20"/>
                  <a:gd name="T10" fmla="*/ 0 w 19"/>
                  <a:gd name="T11" fmla="*/ 0 h 20"/>
                  <a:gd name="T12" fmla="*/ 0 60000 65536"/>
                  <a:gd name="T13" fmla="*/ 0 60000 65536"/>
                  <a:gd name="T14" fmla="*/ 0 60000 65536"/>
                  <a:gd name="T15" fmla="*/ 0 60000 65536"/>
                  <a:gd name="T16" fmla="*/ 0 60000 65536"/>
                  <a:gd name="T17" fmla="*/ 0 60000 65536"/>
                  <a:gd name="T18" fmla="*/ 0 w 19"/>
                  <a:gd name="T19" fmla="*/ 0 h 20"/>
                  <a:gd name="T20" fmla="*/ 19 w 19"/>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9" h="20">
                    <a:moveTo>
                      <a:pt x="0" y="0"/>
                    </a:moveTo>
                    <a:lnTo>
                      <a:pt x="19" y="0"/>
                    </a:lnTo>
                    <a:lnTo>
                      <a:pt x="19" y="20"/>
                    </a:lnTo>
                    <a:lnTo>
                      <a:pt x="0" y="20"/>
                    </a:lnTo>
                    <a:lnTo>
                      <a:pt x="0" y="0"/>
                    </a:lnTo>
                    <a:close/>
                  </a:path>
                </a:pathLst>
              </a:custGeom>
              <a:noFill/>
              <a:ln w="1588">
                <a:solidFill>
                  <a:srgbClr val="000000"/>
                </a:solidFill>
                <a:round/>
                <a:headEnd/>
                <a:tailEnd/>
              </a:ln>
            </p:spPr>
            <p:txBody>
              <a:bodyPr/>
              <a:lstStyle/>
              <a:p>
                <a:endParaRPr lang="zh-CN" altLang="en-US"/>
              </a:p>
            </p:txBody>
          </p:sp>
          <p:sp>
            <p:nvSpPr>
              <p:cNvPr id="63547" name="Freeform 50"/>
              <p:cNvSpPr>
                <a:spLocks/>
              </p:cNvSpPr>
              <p:nvPr/>
            </p:nvSpPr>
            <p:spPr bwMode="auto">
              <a:xfrm>
                <a:off x="3847" y="2378"/>
                <a:ext cx="21" cy="26"/>
              </a:xfrm>
              <a:custGeom>
                <a:avLst/>
                <a:gdLst>
                  <a:gd name="T0" fmla="*/ 0 w 21"/>
                  <a:gd name="T1" fmla="*/ 0 h 20"/>
                  <a:gd name="T2" fmla="*/ 21 w 21"/>
                  <a:gd name="T3" fmla="*/ 0 h 20"/>
                  <a:gd name="T4" fmla="*/ 21 w 21"/>
                  <a:gd name="T5" fmla="*/ 34 h 20"/>
                  <a:gd name="T6" fmla="*/ 0 w 21"/>
                  <a:gd name="T7" fmla="*/ 34 h 20"/>
                  <a:gd name="T8" fmla="*/ 0 w 21"/>
                  <a:gd name="T9" fmla="*/ 0 h 20"/>
                  <a:gd name="T10" fmla="*/ 0 w 21"/>
                  <a:gd name="T11" fmla="*/ 0 h 20"/>
                  <a:gd name="T12" fmla="*/ 0 60000 65536"/>
                  <a:gd name="T13" fmla="*/ 0 60000 65536"/>
                  <a:gd name="T14" fmla="*/ 0 60000 65536"/>
                  <a:gd name="T15" fmla="*/ 0 60000 65536"/>
                  <a:gd name="T16" fmla="*/ 0 60000 65536"/>
                  <a:gd name="T17" fmla="*/ 0 60000 65536"/>
                  <a:gd name="T18" fmla="*/ 0 w 21"/>
                  <a:gd name="T19" fmla="*/ 0 h 20"/>
                  <a:gd name="T20" fmla="*/ 21 w 21"/>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21" h="20">
                    <a:moveTo>
                      <a:pt x="0" y="0"/>
                    </a:moveTo>
                    <a:lnTo>
                      <a:pt x="21" y="0"/>
                    </a:lnTo>
                    <a:lnTo>
                      <a:pt x="21" y="20"/>
                    </a:lnTo>
                    <a:lnTo>
                      <a:pt x="0" y="20"/>
                    </a:lnTo>
                    <a:lnTo>
                      <a:pt x="0" y="0"/>
                    </a:lnTo>
                    <a:close/>
                  </a:path>
                </a:pathLst>
              </a:custGeom>
              <a:noFill/>
              <a:ln w="1588">
                <a:solidFill>
                  <a:srgbClr val="000000"/>
                </a:solidFill>
                <a:round/>
                <a:headEnd/>
                <a:tailEnd/>
              </a:ln>
            </p:spPr>
            <p:txBody>
              <a:bodyPr/>
              <a:lstStyle/>
              <a:p>
                <a:endParaRPr lang="zh-CN" altLang="en-US"/>
              </a:p>
            </p:txBody>
          </p:sp>
          <p:sp>
            <p:nvSpPr>
              <p:cNvPr id="63548" name="Freeform 51"/>
              <p:cNvSpPr>
                <a:spLocks/>
              </p:cNvSpPr>
              <p:nvPr/>
            </p:nvSpPr>
            <p:spPr bwMode="auto">
              <a:xfrm>
                <a:off x="3890" y="2378"/>
                <a:ext cx="6" cy="26"/>
              </a:xfrm>
              <a:custGeom>
                <a:avLst/>
                <a:gdLst>
                  <a:gd name="T0" fmla="*/ 0 w 7"/>
                  <a:gd name="T1" fmla="*/ 0 h 20"/>
                  <a:gd name="T2" fmla="*/ 5 w 7"/>
                  <a:gd name="T3" fmla="*/ 0 h 20"/>
                  <a:gd name="T4" fmla="*/ 5 w 7"/>
                  <a:gd name="T5" fmla="*/ 34 h 20"/>
                  <a:gd name="T6" fmla="*/ 0 w 7"/>
                  <a:gd name="T7" fmla="*/ 34 h 20"/>
                  <a:gd name="T8" fmla="*/ 0 w 7"/>
                  <a:gd name="T9" fmla="*/ 0 h 20"/>
                  <a:gd name="T10" fmla="*/ 0 w 7"/>
                  <a:gd name="T11" fmla="*/ 0 h 20"/>
                  <a:gd name="T12" fmla="*/ 0 60000 65536"/>
                  <a:gd name="T13" fmla="*/ 0 60000 65536"/>
                  <a:gd name="T14" fmla="*/ 0 60000 65536"/>
                  <a:gd name="T15" fmla="*/ 0 60000 65536"/>
                  <a:gd name="T16" fmla="*/ 0 60000 65536"/>
                  <a:gd name="T17" fmla="*/ 0 60000 65536"/>
                  <a:gd name="T18" fmla="*/ 0 w 7"/>
                  <a:gd name="T19" fmla="*/ 0 h 20"/>
                  <a:gd name="T20" fmla="*/ 7 w 7"/>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7" h="20">
                    <a:moveTo>
                      <a:pt x="0" y="0"/>
                    </a:moveTo>
                    <a:lnTo>
                      <a:pt x="7" y="0"/>
                    </a:lnTo>
                    <a:lnTo>
                      <a:pt x="7" y="20"/>
                    </a:lnTo>
                    <a:lnTo>
                      <a:pt x="0" y="20"/>
                    </a:lnTo>
                    <a:lnTo>
                      <a:pt x="0" y="0"/>
                    </a:lnTo>
                    <a:close/>
                  </a:path>
                </a:pathLst>
              </a:custGeom>
              <a:noFill/>
              <a:ln w="1588">
                <a:solidFill>
                  <a:srgbClr val="000000"/>
                </a:solidFill>
                <a:round/>
                <a:headEnd/>
                <a:tailEnd/>
              </a:ln>
            </p:spPr>
            <p:txBody>
              <a:bodyPr/>
              <a:lstStyle/>
              <a:p>
                <a:endParaRPr lang="zh-CN" altLang="en-US"/>
              </a:p>
            </p:txBody>
          </p:sp>
          <p:sp>
            <p:nvSpPr>
              <p:cNvPr id="63549" name="Freeform 52"/>
              <p:cNvSpPr>
                <a:spLocks noEditPoints="1"/>
              </p:cNvSpPr>
              <p:nvPr/>
            </p:nvSpPr>
            <p:spPr bwMode="auto">
              <a:xfrm>
                <a:off x="2683" y="2378"/>
                <a:ext cx="624" cy="881"/>
              </a:xfrm>
              <a:custGeom>
                <a:avLst/>
                <a:gdLst>
                  <a:gd name="T0" fmla="*/ 636 w 584"/>
                  <a:gd name="T1" fmla="*/ 22 h 761"/>
                  <a:gd name="T2" fmla="*/ 667 w 584"/>
                  <a:gd name="T3" fmla="*/ 16 h 761"/>
                  <a:gd name="T4" fmla="*/ 607 w 584"/>
                  <a:gd name="T5" fmla="*/ 63 h 761"/>
                  <a:gd name="T6" fmla="*/ 639 w 584"/>
                  <a:gd name="T7" fmla="*/ 59 h 761"/>
                  <a:gd name="T8" fmla="*/ 580 w 584"/>
                  <a:gd name="T9" fmla="*/ 108 h 761"/>
                  <a:gd name="T10" fmla="*/ 611 w 584"/>
                  <a:gd name="T11" fmla="*/ 102 h 761"/>
                  <a:gd name="T12" fmla="*/ 552 w 584"/>
                  <a:gd name="T13" fmla="*/ 149 h 761"/>
                  <a:gd name="T14" fmla="*/ 583 w 584"/>
                  <a:gd name="T15" fmla="*/ 144 h 761"/>
                  <a:gd name="T16" fmla="*/ 526 w 584"/>
                  <a:gd name="T17" fmla="*/ 192 h 761"/>
                  <a:gd name="T18" fmla="*/ 556 w 584"/>
                  <a:gd name="T19" fmla="*/ 188 h 761"/>
                  <a:gd name="T20" fmla="*/ 498 w 584"/>
                  <a:gd name="T21" fmla="*/ 236 h 761"/>
                  <a:gd name="T22" fmla="*/ 529 w 584"/>
                  <a:gd name="T23" fmla="*/ 229 h 761"/>
                  <a:gd name="T24" fmla="*/ 469 w 584"/>
                  <a:gd name="T25" fmla="*/ 278 h 761"/>
                  <a:gd name="T26" fmla="*/ 501 w 584"/>
                  <a:gd name="T27" fmla="*/ 272 h 761"/>
                  <a:gd name="T28" fmla="*/ 440 w 584"/>
                  <a:gd name="T29" fmla="*/ 322 h 761"/>
                  <a:gd name="T30" fmla="*/ 473 w 584"/>
                  <a:gd name="T31" fmla="*/ 315 h 761"/>
                  <a:gd name="T32" fmla="*/ 414 w 584"/>
                  <a:gd name="T33" fmla="*/ 364 h 761"/>
                  <a:gd name="T34" fmla="*/ 447 w 584"/>
                  <a:gd name="T35" fmla="*/ 358 h 761"/>
                  <a:gd name="T36" fmla="*/ 386 w 584"/>
                  <a:gd name="T37" fmla="*/ 406 h 761"/>
                  <a:gd name="T38" fmla="*/ 418 w 584"/>
                  <a:gd name="T39" fmla="*/ 402 h 761"/>
                  <a:gd name="T40" fmla="*/ 359 w 584"/>
                  <a:gd name="T41" fmla="*/ 448 h 761"/>
                  <a:gd name="T42" fmla="*/ 390 w 584"/>
                  <a:gd name="T43" fmla="*/ 443 h 761"/>
                  <a:gd name="T44" fmla="*/ 331 w 584"/>
                  <a:gd name="T45" fmla="*/ 492 h 761"/>
                  <a:gd name="T46" fmla="*/ 363 w 584"/>
                  <a:gd name="T47" fmla="*/ 486 h 761"/>
                  <a:gd name="T48" fmla="*/ 303 w 584"/>
                  <a:gd name="T49" fmla="*/ 534 h 761"/>
                  <a:gd name="T50" fmla="*/ 336 w 584"/>
                  <a:gd name="T51" fmla="*/ 529 h 761"/>
                  <a:gd name="T52" fmla="*/ 277 w 584"/>
                  <a:gd name="T53" fmla="*/ 578 h 761"/>
                  <a:gd name="T54" fmla="*/ 308 w 584"/>
                  <a:gd name="T55" fmla="*/ 572 h 761"/>
                  <a:gd name="T56" fmla="*/ 248 w 584"/>
                  <a:gd name="T57" fmla="*/ 619 h 761"/>
                  <a:gd name="T58" fmla="*/ 281 w 584"/>
                  <a:gd name="T59" fmla="*/ 614 h 761"/>
                  <a:gd name="T60" fmla="*/ 220 w 584"/>
                  <a:gd name="T61" fmla="*/ 662 h 761"/>
                  <a:gd name="T62" fmla="*/ 253 w 584"/>
                  <a:gd name="T63" fmla="*/ 658 h 761"/>
                  <a:gd name="T64" fmla="*/ 193 w 584"/>
                  <a:gd name="T65" fmla="*/ 704 h 761"/>
                  <a:gd name="T66" fmla="*/ 223 w 584"/>
                  <a:gd name="T67" fmla="*/ 699 h 761"/>
                  <a:gd name="T68" fmla="*/ 166 w 584"/>
                  <a:gd name="T69" fmla="*/ 748 h 761"/>
                  <a:gd name="T70" fmla="*/ 197 w 584"/>
                  <a:gd name="T71" fmla="*/ 742 h 761"/>
                  <a:gd name="T72" fmla="*/ 138 w 584"/>
                  <a:gd name="T73" fmla="*/ 790 h 761"/>
                  <a:gd name="T74" fmla="*/ 169 w 584"/>
                  <a:gd name="T75" fmla="*/ 785 h 761"/>
                  <a:gd name="T76" fmla="*/ 111 w 584"/>
                  <a:gd name="T77" fmla="*/ 834 h 761"/>
                  <a:gd name="T78" fmla="*/ 141 w 584"/>
                  <a:gd name="T79" fmla="*/ 828 h 761"/>
                  <a:gd name="T80" fmla="*/ 82 w 584"/>
                  <a:gd name="T81" fmla="*/ 876 h 761"/>
                  <a:gd name="T82" fmla="*/ 114 w 584"/>
                  <a:gd name="T83" fmla="*/ 869 h 761"/>
                  <a:gd name="T84" fmla="*/ 54 w 584"/>
                  <a:gd name="T85" fmla="*/ 918 h 761"/>
                  <a:gd name="T86" fmla="*/ 87 w 584"/>
                  <a:gd name="T87" fmla="*/ 915 h 761"/>
                  <a:gd name="T88" fmla="*/ 28 w 584"/>
                  <a:gd name="T89" fmla="*/ 962 h 761"/>
                  <a:gd name="T90" fmla="*/ 58 w 584"/>
                  <a:gd name="T91" fmla="*/ 955 h 761"/>
                  <a:gd name="T92" fmla="*/ 0 w 584"/>
                  <a:gd name="T93" fmla="*/ 1004 h 761"/>
                  <a:gd name="T94" fmla="*/ 31 w 584"/>
                  <a:gd name="T95" fmla="*/ 998 h 7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84"/>
                  <a:gd name="T145" fmla="*/ 0 h 761"/>
                  <a:gd name="T146" fmla="*/ 584 w 584"/>
                  <a:gd name="T147" fmla="*/ 761 h 76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84" h="761">
                    <a:moveTo>
                      <a:pt x="584" y="12"/>
                    </a:moveTo>
                    <a:lnTo>
                      <a:pt x="572" y="28"/>
                    </a:lnTo>
                    <a:lnTo>
                      <a:pt x="557" y="16"/>
                    </a:lnTo>
                    <a:lnTo>
                      <a:pt x="569" y="0"/>
                    </a:lnTo>
                    <a:lnTo>
                      <a:pt x="584" y="12"/>
                    </a:lnTo>
                    <a:close/>
                    <a:moveTo>
                      <a:pt x="560" y="44"/>
                    </a:moveTo>
                    <a:lnTo>
                      <a:pt x="548" y="61"/>
                    </a:lnTo>
                    <a:lnTo>
                      <a:pt x="532" y="47"/>
                    </a:lnTo>
                    <a:lnTo>
                      <a:pt x="544" y="32"/>
                    </a:lnTo>
                    <a:lnTo>
                      <a:pt x="560" y="44"/>
                    </a:lnTo>
                    <a:close/>
                    <a:moveTo>
                      <a:pt x="535" y="76"/>
                    </a:moveTo>
                    <a:lnTo>
                      <a:pt x="523" y="92"/>
                    </a:lnTo>
                    <a:lnTo>
                      <a:pt x="508" y="80"/>
                    </a:lnTo>
                    <a:lnTo>
                      <a:pt x="520" y="64"/>
                    </a:lnTo>
                    <a:lnTo>
                      <a:pt x="535" y="76"/>
                    </a:lnTo>
                    <a:close/>
                    <a:moveTo>
                      <a:pt x="511" y="107"/>
                    </a:moveTo>
                    <a:lnTo>
                      <a:pt x="499" y="124"/>
                    </a:lnTo>
                    <a:lnTo>
                      <a:pt x="484" y="111"/>
                    </a:lnTo>
                    <a:lnTo>
                      <a:pt x="496" y="95"/>
                    </a:lnTo>
                    <a:lnTo>
                      <a:pt x="511" y="107"/>
                    </a:lnTo>
                    <a:close/>
                    <a:moveTo>
                      <a:pt x="487" y="140"/>
                    </a:moveTo>
                    <a:lnTo>
                      <a:pt x="475" y="155"/>
                    </a:lnTo>
                    <a:lnTo>
                      <a:pt x="460" y="143"/>
                    </a:lnTo>
                    <a:lnTo>
                      <a:pt x="472" y="128"/>
                    </a:lnTo>
                    <a:lnTo>
                      <a:pt x="487" y="140"/>
                    </a:lnTo>
                    <a:close/>
                    <a:moveTo>
                      <a:pt x="463" y="171"/>
                    </a:moveTo>
                    <a:lnTo>
                      <a:pt x="451" y="188"/>
                    </a:lnTo>
                    <a:lnTo>
                      <a:pt x="436" y="176"/>
                    </a:lnTo>
                    <a:lnTo>
                      <a:pt x="448" y="159"/>
                    </a:lnTo>
                    <a:lnTo>
                      <a:pt x="463" y="171"/>
                    </a:lnTo>
                    <a:close/>
                    <a:moveTo>
                      <a:pt x="439" y="203"/>
                    </a:moveTo>
                    <a:lnTo>
                      <a:pt x="427" y="219"/>
                    </a:lnTo>
                    <a:lnTo>
                      <a:pt x="411" y="207"/>
                    </a:lnTo>
                    <a:lnTo>
                      <a:pt x="424" y="191"/>
                    </a:lnTo>
                    <a:lnTo>
                      <a:pt x="439" y="203"/>
                    </a:lnTo>
                    <a:close/>
                    <a:moveTo>
                      <a:pt x="415" y="235"/>
                    </a:moveTo>
                    <a:lnTo>
                      <a:pt x="403" y="252"/>
                    </a:lnTo>
                    <a:lnTo>
                      <a:pt x="386" y="240"/>
                    </a:lnTo>
                    <a:lnTo>
                      <a:pt x="399" y="223"/>
                    </a:lnTo>
                    <a:lnTo>
                      <a:pt x="415" y="235"/>
                    </a:lnTo>
                    <a:close/>
                    <a:moveTo>
                      <a:pt x="391" y="267"/>
                    </a:moveTo>
                    <a:lnTo>
                      <a:pt x="378" y="283"/>
                    </a:lnTo>
                    <a:lnTo>
                      <a:pt x="362" y="271"/>
                    </a:lnTo>
                    <a:lnTo>
                      <a:pt x="374" y="255"/>
                    </a:lnTo>
                    <a:lnTo>
                      <a:pt x="391" y="267"/>
                    </a:lnTo>
                    <a:close/>
                    <a:moveTo>
                      <a:pt x="366" y="300"/>
                    </a:moveTo>
                    <a:lnTo>
                      <a:pt x="354" y="315"/>
                    </a:lnTo>
                    <a:lnTo>
                      <a:pt x="338" y="303"/>
                    </a:lnTo>
                    <a:lnTo>
                      <a:pt x="350" y="286"/>
                    </a:lnTo>
                    <a:lnTo>
                      <a:pt x="366" y="300"/>
                    </a:lnTo>
                    <a:close/>
                    <a:moveTo>
                      <a:pt x="342" y="331"/>
                    </a:moveTo>
                    <a:lnTo>
                      <a:pt x="330" y="346"/>
                    </a:lnTo>
                    <a:lnTo>
                      <a:pt x="314" y="334"/>
                    </a:lnTo>
                    <a:lnTo>
                      <a:pt x="326" y="319"/>
                    </a:lnTo>
                    <a:lnTo>
                      <a:pt x="342" y="331"/>
                    </a:lnTo>
                    <a:close/>
                    <a:moveTo>
                      <a:pt x="318" y="363"/>
                    </a:moveTo>
                    <a:lnTo>
                      <a:pt x="306" y="379"/>
                    </a:lnTo>
                    <a:lnTo>
                      <a:pt x="290" y="367"/>
                    </a:lnTo>
                    <a:lnTo>
                      <a:pt x="302" y="350"/>
                    </a:lnTo>
                    <a:lnTo>
                      <a:pt x="318" y="363"/>
                    </a:lnTo>
                    <a:close/>
                    <a:moveTo>
                      <a:pt x="294" y="395"/>
                    </a:moveTo>
                    <a:lnTo>
                      <a:pt x="282" y="410"/>
                    </a:lnTo>
                    <a:lnTo>
                      <a:pt x="266" y="398"/>
                    </a:lnTo>
                    <a:lnTo>
                      <a:pt x="278" y="382"/>
                    </a:lnTo>
                    <a:lnTo>
                      <a:pt x="294" y="395"/>
                    </a:lnTo>
                    <a:close/>
                    <a:moveTo>
                      <a:pt x="270" y="427"/>
                    </a:moveTo>
                    <a:lnTo>
                      <a:pt x="258" y="443"/>
                    </a:lnTo>
                    <a:lnTo>
                      <a:pt x="242" y="431"/>
                    </a:lnTo>
                    <a:lnTo>
                      <a:pt x="254" y="415"/>
                    </a:lnTo>
                    <a:lnTo>
                      <a:pt x="270" y="427"/>
                    </a:lnTo>
                    <a:close/>
                    <a:moveTo>
                      <a:pt x="246" y="458"/>
                    </a:moveTo>
                    <a:lnTo>
                      <a:pt x="234" y="474"/>
                    </a:lnTo>
                    <a:lnTo>
                      <a:pt x="217" y="462"/>
                    </a:lnTo>
                    <a:lnTo>
                      <a:pt x="229" y="446"/>
                    </a:lnTo>
                    <a:lnTo>
                      <a:pt x="246" y="458"/>
                    </a:lnTo>
                    <a:close/>
                    <a:moveTo>
                      <a:pt x="222" y="491"/>
                    </a:moveTo>
                    <a:lnTo>
                      <a:pt x="209" y="506"/>
                    </a:lnTo>
                    <a:lnTo>
                      <a:pt x="193" y="494"/>
                    </a:lnTo>
                    <a:lnTo>
                      <a:pt x="205" y="479"/>
                    </a:lnTo>
                    <a:lnTo>
                      <a:pt x="222" y="491"/>
                    </a:lnTo>
                    <a:close/>
                    <a:moveTo>
                      <a:pt x="196" y="522"/>
                    </a:moveTo>
                    <a:lnTo>
                      <a:pt x="184" y="537"/>
                    </a:lnTo>
                    <a:lnTo>
                      <a:pt x="169" y="525"/>
                    </a:lnTo>
                    <a:lnTo>
                      <a:pt x="181" y="510"/>
                    </a:lnTo>
                    <a:lnTo>
                      <a:pt x="196" y="522"/>
                    </a:lnTo>
                    <a:close/>
                    <a:moveTo>
                      <a:pt x="172" y="554"/>
                    </a:moveTo>
                    <a:lnTo>
                      <a:pt x="160" y="570"/>
                    </a:lnTo>
                    <a:lnTo>
                      <a:pt x="145" y="558"/>
                    </a:lnTo>
                    <a:lnTo>
                      <a:pt x="157" y="542"/>
                    </a:lnTo>
                    <a:lnTo>
                      <a:pt x="172" y="554"/>
                    </a:lnTo>
                    <a:close/>
                    <a:moveTo>
                      <a:pt x="148" y="586"/>
                    </a:moveTo>
                    <a:lnTo>
                      <a:pt x="136" y="602"/>
                    </a:lnTo>
                    <a:lnTo>
                      <a:pt x="121" y="589"/>
                    </a:lnTo>
                    <a:lnTo>
                      <a:pt x="133" y="574"/>
                    </a:lnTo>
                    <a:lnTo>
                      <a:pt x="148" y="586"/>
                    </a:lnTo>
                    <a:close/>
                    <a:moveTo>
                      <a:pt x="124" y="618"/>
                    </a:moveTo>
                    <a:lnTo>
                      <a:pt x="112" y="634"/>
                    </a:lnTo>
                    <a:lnTo>
                      <a:pt x="97" y="622"/>
                    </a:lnTo>
                    <a:lnTo>
                      <a:pt x="109" y="606"/>
                    </a:lnTo>
                    <a:lnTo>
                      <a:pt x="124" y="618"/>
                    </a:lnTo>
                    <a:close/>
                    <a:moveTo>
                      <a:pt x="100" y="649"/>
                    </a:moveTo>
                    <a:lnTo>
                      <a:pt x="88" y="666"/>
                    </a:lnTo>
                    <a:lnTo>
                      <a:pt x="72" y="654"/>
                    </a:lnTo>
                    <a:lnTo>
                      <a:pt x="84" y="637"/>
                    </a:lnTo>
                    <a:lnTo>
                      <a:pt x="100" y="649"/>
                    </a:lnTo>
                    <a:close/>
                    <a:moveTo>
                      <a:pt x="76" y="682"/>
                    </a:moveTo>
                    <a:lnTo>
                      <a:pt x="64" y="697"/>
                    </a:lnTo>
                    <a:lnTo>
                      <a:pt x="48" y="685"/>
                    </a:lnTo>
                    <a:lnTo>
                      <a:pt x="60" y="670"/>
                    </a:lnTo>
                    <a:lnTo>
                      <a:pt x="76" y="682"/>
                    </a:lnTo>
                    <a:close/>
                    <a:moveTo>
                      <a:pt x="51" y="713"/>
                    </a:moveTo>
                    <a:lnTo>
                      <a:pt x="39" y="730"/>
                    </a:lnTo>
                    <a:lnTo>
                      <a:pt x="24" y="718"/>
                    </a:lnTo>
                    <a:lnTo>
                      <a:pt x="36" y="701"/>
                    </a:lnTo>
                    <a:lnTo>
                      <a:pt x="51" y="713"/>
                    </a:lnTo>
                    <a:close/>
                    <a:moveTo>
                      <a:pt x="27" y="745"/>
                    </a:moveTo>
                    <a:lnTo>
                      <a:pt x="15" y="761"/>
                    </a:lnTo>
                    <a:lnTo>
                      <a:pt x="0" y="749"/>
                    </a:lnTo>
                    <a:lnTo>
                      <a:pt x="12" y="733"/>
                    </a:lnTo>
                    <a:lnTo>
                      <a:pt x="27" y="745"/>
                    </a:lnTo>
                    <a:close/>
                  </a:path>
                </a:pathLst>
              </a:custGeom>
              <a:solidFill>
                <a:srgbClr val="000000"/>
              </a:solidFill>
              <a:ln w="9525">
                <a:noFill/>
                <a:round/>
                <a:headEnd/>
                <a:tailEnd/>
              </a:ln>
            </p:spPr>
            <p:txBody>
              <a:bodyPr/>
              <a:lstStyle/>
              <a:p>
                <a:endParaRPr lang="zh-CN" altLang="en-US"/>
              </a:p>
            </p:txBody>
          </p:sp>
          <p:sp>
            <p:nvSpPr>
              <p:cNvPr id="63550" name="Freeform 53"/>
              <p:cNvSpPr>
                <a:spLocks/>
              </p:cNvSpPr>
              <p:nvPr/>
            </p:nvSpPr>
            <p:spPr bwMode="auto">
              <a:xfrm>
                <a:off x="3277" y="2378"/>
                <a:ext cx="30" cy="33"/>
              </a:xfrm>
              <a:custGeom>
                <a:avLst/>
                <a:gdLst>
                  <a:gd name="T0" fmla="*/ 33 w 27"/>
                  <a:gd name="T1" fmla="*/ 17 h 28"/>
                  <a:gd name="T2" fmla="*/ 19 w 27"/>
                  <a:gd name="T3" fmla="*/ 39 h 28"/>
                  <a:gd name="T4" fmla="*/ 0 w 27"/>
                  <a:gd name="T5" fmla="*/ 22 h 28"/>
                  <a:gd name="T6" fmla="*/ 14 w 27"/>
                  <a:gd name="T7" fmla="*/ 0 h 28"/>
                  <a:gd name="T8" fmla="*/ 33 w 27"/>
                  <a:gd name="T9" fmla="*/ 17 h 28"/>
                  <a:gd name="T10" fmla="*/ 33 w 27"/>
                  <a:gd name="T11" fmla="*/ 17 h 28"/>
                  <a:gd name="T12" fmla="*/ 0 60000 65536"/>
                  <a:gd name="T13" fmla="*/ 0 60000 65536"/>
                  <a:gd name="T14" fmla="*/ 0 60000 65536"/>
                  <a:gd name="T15" fmla="*/ 0 60000 65536"/>
                  <a:gd name="T16" fmla="*/ 0 60000 65536"/>
                  <a:gd name="T17" fmla="*/ 0 60000 65536"/>
                  <a:gd name="T18" fmla="*/ 0 w 27"/>
                  <a:gd name="T19" fmla="*/ 0 h 28"/>
                  <a:gd name="T20" fmla="*/ 27 w 27"/>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7" h="28">
                    <a:moveTo>
                      <a:pt x="27" y="12"/>
                    </a:moveTo>
                    <a:lnTo>
                      <a:pt x="15" y="28"/>
                    </a:lnTo>
                    <a:lnTo>
                      <a:pt x="0" y="16"/>
                    </a:lnTo>
                    <a:lnTo>
                      <a:pt x="12" y="0"/>
                    </a:lnTo>
                    <a:lnTo>
                      <a:pt x="27" y="12"/>
                    </a:lnTo>
                    <a:close/>
                  </a:path>
                </a:pathLst>
              </a:custGeom>
              <a:noFill/>
              <a:ln w="1588">
                <a:solidFill>
                  <a:srgbClr val="000000"/>
                </a:solidFill>
                <a:round/>
                <a:headEnd/>
                <a:tailEnd/>
              </a:ln>
            </p:spPr>
            <p:txBody>
              <a:bodyPr/>
              <a:lstStyle/>
              <a:p>
                <a:endParaRPr lang="zh-CN" altLang="en-US"/>
              </a:p>
            </p:txBody>
          </p:sp>
          <p:sp>
            <p:nvSpPr>
              <p:cNvPr id="63551" name="Freeform 54"/>
              <p:cNvSpPr>
                <a:spLocks/>
              </p:cNvSpPr>
              <p:nvPr/>
            </p:nvSpPr>
            <p:spPr bwMode="auto">
              <a:xfrm>
                <a:off x="3251" y="2413"/>
                <a:ext cx="30" cy="35"/>
              </a:xfrm>
              <a:custGeom>
                <a:avLst/>
                <a:gdLst>
                  <a:gd name="T0" fmla="*/ 32 w 28"/>
                  <a:gd name="T1" fmla="*/ 17 h 29"/>
                  <a:gd name="T2" fmla="*/ 18 w 28"/>
                  <a:gd name="T3" fmla="*/ 42 h 29"/>
                  <a:gd name="T4" fmla="*/ 0 w 28"/>
                  <a:gd name="T5" fmla="*/ 22 h 29"/>
                  <a:gd name="T6" fmla="*/ 14 w 28"/>
                  <a:gd name="T7" fmla="*/ 0 h 29"/>
                  <a:gd name="T8" fmla="*/ 32 w 28"/>
                  <a:gd name="T9" fmla="*/ 17 h 29"/>
                  <a:gd name="T10" fmla="*/ 32 w 28"/>
                  <a:gd name="T11" fmla="*/ 17 h 29"/>
                  <a:gd name="T12" fmla="*/ 0 60000 65536"/>
                  <a:gd name="T13" fmla="*/ 0 60000 65536"/>
                  <a:gd name="T14" fmla="*/ 0 60000 65536"/>
                  <a:gd name="T15" fmla="*/ 0 60000 65536"/>
                  <a:gd name="T16" fmla="*/ 0 60000 65536"/>
                  <a:gd name="T17" fmla="*/ 0 60000 65536"/>
                  <a:gd name="T18" fmla="*/ 0 w 28"/>
                  <a:gd name="T19" fmla="*/ 0 h 29"/>
                  <a:gd name="T20" fmla="*/ 28 w 28"/>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28" h="29">
                    <a:moveTo>
                      <a:pt x="28" y="12"/>
                    </a:moveTo>
                    <a:lnTo>
                      <a:pt x="16" y="29"/>
                    </a:lnTo>
                    <a:lnTo>
                      <a:pt x="0" y="15"/>
                    </a:lnTo>
                    <a:lnTo>
                      <a:pt x="12" y="0"/>
                    </a:lnTo>
                    <a:lnTo>
                      <a:pt x="28" y="12"/>
                    </a:lnTo>
                    <a:close/>
                  </a:path>
                </a:pathLst>
              </a:custGeom>
              <a:noFill/>
              <a:ln w="1588">
                <a:solidFill>
                  <a:srgbClr val="000000"/>
                </a:solidFill>
                <a:round/>
                <a:headEnd/>
                <a:tailEnd/>
              </a:ln>
            </p:spPr>
            <p:txBody>
              <a:bodyPr/>
              <a:lstStyle/>
              <a:p>
                <a:endParaRPr lang="zh-CN" altLang="en-US"/>
              </a:p>
            </p:txBody>
          </p:sp>
          <p:sp>
            <p:nvSpPr>
              <p:cNvPr id="63552" name="Freeform 55"/>
              <p:cNvSpPr>
                <a:spLocks/>
              </p:cNvSpPr>
              <p:nvPr/>
            </p:nvSpPr>
            <p:spPr bwMode="auto">
              <a:xfrm>
                <a:off x="3225" y="2452"/>
                <a:ext cx="30" cy="31"/>
              </a:xfrm>
              <a:custGeom>
                <a:avLst/>
                <a:gdLst>
                  <a:gd name="T0" fmla="*/ 33 w 27"/>
                  <a:gd name="T1" fmla="*/ 14 h 28"/>
                  <a:gd name="T2" fmla="*/ 19 w 27"/>
                  <a:gd name="T3" fmla="*/ 34 h 28"/>
                  <a:gd name="T4" fmla="*/ 0 w 27"/>
                  <a:gd name="T5" fmla="*/ 20 h 28"/>
                  <a:gd name="T6" fmla="*/ 14 w 27"/>
                  <a:gd name="T7" fmla="*/ 0 h 28"/>
                  <a:gd name="T8" fmla="*/ 33 w 27"/>
                  <a:gd name="T9" fmla="*/ 14 h 28"/>
                  <a:gd name="T10" fmla="*/ 33 w 27"/>
                  <a:gd name="T11" fmla="*/ 14 h 28"/>
                  <a:gd name="T12" fmla="*/ 0 60000 65536"/>
                  <a:gd name="T13" fmla="*/ 0 60000 65536"/>
                  <a:gd name="T14" fmla="*/ 0 60000 65536"/>
                  <a:gd name="T15" fmla="*/ 0 60000 65536"/>
                  <a:gd name="T16" fmla="*/ 0 60000 65536"/>
                  <a:gd name="T17" fmla="*/ 0 60000 65536"/>
                  <a:gd name="T18" fmla="*/ 0 w 27"/>
                  <a:gd name="T19" fmla="*/ 0 h 28"/>
                  <a:gd name="T20" fmla="*/ 27 w 27"/>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7" h="28">
                    <a:moveTo>
                      <a:pt x="27" y="12"/>
                    </a:moveTo>
                    <a:lnTo>
                      <a:pt x="15" y="28"/>
                    </a:lnTo>
                    <a:lnTo>
                      <a:pt x="0" y="16"/>
                    </a:lnTo>
                    <a:lnTo>
                      <a:pt x="12" y="0"/>
                    </a:lnTo>
                    <a:lnTo>
                      <a:pt x="27" y="12"/>
                    </a:lnTo>
                    <a:close/>
                  </a:path>
                </a:pathLst>
              </a:custGeom>
              <a:noFill/>
              <a:ln w="1588">
                <a:solidFill>
                  <a:srgbClr val="000000"/>
                </a:solidFill>
                <a:round/>
                <a:headEnd/>
                <a:tailEnd/>
              </a:ln>
            </p:spPr>
            <p:txBody>
              <a:bodyPr/>
              <a:lstStyle/>
              <a:p>
                <a:endParaRPr lang="zh-CN" altLang="en-US"/>
              </a:p>
            </p:txBody>
          </p:sp>
          <p:sp>
            <p:nvSpPr>
              <p:cNvPr id="63553" name="Freeform 56"/>
              <p:cNvSpPr>
                <a:spLocks/>
              </p:cNvSpPr>
              <p:nvPr/>
            </p:nvSpPr>
            <p:spPr bwMode="auto">
              <a:xfrm>
                <a:off x="3200" y="2487"/>
                <a:ext cx="30" cy="35"/>
              </a:xfrm>
              <a:custGeom>
                <a:avLst/>
                <a:gdLst>
                  <a:gd name="T0" fmla="*/ 33 w 27"/>
                  <a:gd name="T1" fmla="*/ 17 h 29"/>
                  <a:gd name="T2" fmla="*/ 19 w 27"/>
                  <a:gd name="T3" fmla="*/ 42 h 29"/>
                  <a:gd name="T4" fmla="*/ 0 w 27"/>
                  <a:gd name="T5" fmla="*/ 23 h 29"/>
                  <a:gd name="T6" fmla="*/ 14 w 27"/>
                  <a:gd name="T7" fmla="*/ 0 h 29"/>
                  <a:gd name="T8" fmla="*/ 33 w 27"/>
                  <a:gd name="T9" fmla="*/ 17 h 29"/>
                  <a:gd name="T10" fmla="*/ 33 w 27"/>
                  <a:gd name="T11" fmla="*/ 17 h 29"/>
                  <a:gd name="T12" fmla="*/ 0 60000 65536"/>
                  <a:gd name="T13" fmla="*/ 0 60000 65536"/>
                  <a:gd name="T14" fmla="*/ 0 60000 65536"/>
                  <a:gd name="T15" fmla="*/ 0 60000 65536"/>
                  <a:gd name="T16" fmla="*/ 0 60000 65536"/>
                  <a:gd name="T17" fmla="*/ 0 60000 65536"/>
                  <a:gd name="T18" fmla="*/ 0 w 27"/>
                  <a:gd name="T19" fmla="*/ 0 h 29"/>
                  <a:gd name="T20" fmla="*/ 27 w 27"/>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27" h="29">
                    <a:moveTo>
                      <a:pt x="27" y="12"/>
                    </a:moveTo>
                    <a:lnTo>
                      <a:pt x="15" y="29"/>
                    </a:lnTo>
                    <a:lnTo>
                      <a:pt x="0" y="16"/>
                    </a:lnTo>
                    <a:lnTo>
                      <a:pt x="12" y="0"/>
                    </a:lnTo>
                    <a:lnTo>
                      <a:pt x="27" y="12"/>
                    </a:lnTo>
                    <a:close/>
                  </a:path>
                </a:pathLst>
              </a:custGeom>
              <a:noFill/>
              <a:ln w="1588">
                <a:solidFill>
                  <a:srgbClr val="000000"/>
                </a:solidFill>
                <a:round/>
                <a:headEnd/>
                <a:tailEnd/>
              </a:ln>
            </p:spPr>
            <p:txBody>
              <a:bodyPr/>
              <a:lstStyle/>
              <a:p>
                <a:endParaRPr lang="zh-CN" altLang="en-US"/>
              </a:p>
            </p:txBody>
          </p:sp>
          <p:sp>
            <p:nvSpPr>
              <p:cNvPr id="63554" name="Freeform 57"/>
              <p:cNvSpPr>
                <a:spLocks/>
              </p:cNvSpPr>
              <p:nvPr/>
            </p:nvSpPr>
            <p:spPr bwMode="auto">
              <a:xfrm>
                <a:off x="3174" y="2524"/>
                <a:ext cx="30" cy="33"/>
              </a:xfrm>
              <a:custGeom>
                <a:avLst/>
                <a:gdLst>
                  <a:gd name="T0" fmla="*/ 33 w 27"/>
                  <a:gd name="T1" fmla="*/ 18 h 27"/>
                  <a:gd name="T2" fmla="*/ 19 w 27"/>
                  <a:gd name="T3" fmla="*/ 40 h 27"/>
                  <a:gd name="T4" fmla="*/ 0 w 27"/>
                  <a:gd name="T5" fmla="*/ 22 h 27"/>
                  <a:gd name="T6" fmla="*/ 14 w 27"/>
                  <a:gd name="T7" fmla="*/ 0 h 27"/>
                  <a:gd name="T8" fmla="*/ 33 w 27"/>
                  <a:gd name="T9" fmla="*/ 18 h 27"/>
                  <a:gd name="T10" fmla="*/ 33 w 27"/>
                  <a:gd name="T11" fmla="*/ 18 h 27"/>
                  <a:gd name="T12" fmla="*/ 0 60000 65536"/>
                  <a:gd name="T13" fmla="*/ 0 60000 65536"/>
                  <a:gd name="T14" fmla="*/ 0 60000 65536"/>
                  <a:gd name="T15" fmla="*/ 0 60000 65536"/>
                  <a:gd name="T16" fmla="*/ 0 60000 65536"/>
                  <a:gd name="T17" fmla="*/ 0 60000 65536"/>
                  <a:gd name="T18" fmla="*/ 0 w 27"/>
                  <a:gd name="T19" fmla="*/ 0 h 27"/>
                  <a:gd name="T20" fmla="*/ 27 w 27"/>
                  <a:gd name="T21" fmla="*/ 27 h 27"/>
                </a:gdLst>
                <a:ahLst/>
                <a:cxnLst>
                  <a:cxn ang="T12">
                    <a:pos x="T0" y="T1"/>
                  </a:cxn>
                  <a:cxn ang="T13">
                    <a:pos x="T2" y="T3"/>
                  </a:cxn>
                  <a:cxn ang="T14">
                    <a:pos x="T4" y="T5"/>
                  </a:cxn>
                  <a:cxn ang="T15">
                    <a:pos x="T6" y="T7"/>
                  </a:cxn>
                  <a:cxn ang="T16">
                    <a:pos x="T8" y="T9"/>
                  </a:cxn>
                  <a:cxn ang="T17">
                    <a:pos x="T10" y="T11"/>
                  </a:cxn>
                </a:cxnLst>
                <a:rect l="T18" t="T19" r="T20" b="T21"/>
                <a:pathLst>
                  <a:path w="27" h="27">
                    <a:moveTo>
                      <a:pt x="27" y="12"/>
                    </a:moveTo>
                    <a:lnTo>
                      <a:pt x="15" y="27"/>
                    </a:lnTo>
                    <a:lnTo>
                      <a:pt x="0" y="15"/>
                    </a:lnTo>
                    <a:lnTo>
                      <a:pt x="12" y="0"/>
                    </a:lnTo>
                    <a:lnTo>
                      <a:pt x="27" y="12"/>
                    </a:lnTo>
                    <a:close/>
                  </a:path>
                </a:pathLst>
              </a:custGeom>
              <a:noFill/>
              <a:ln w="1588">
                <a:solidFill>
                  <a:srgbClr val="000000"/>
                </a:solidFill>
                <a:round/>
                <a:headEnd/>
                <a:tailEnd/>
              </a:ln>
            </p:spPr>
            <p:txBody>
              <a:bodyPr/>
              <a:lstStyle/>
              <a:p>
                <a:endParaRPr lang="zh-CN" altLang="en-US"/>
              </a:p>
            </p:txBody>
          </p:sp>
          <p:sp>
            <p:nvSpPr>
              <p:cNvPr id="63555" name="Freeform 58"/>
              <p:cNvSpPr>
                <a:spLocks/>
              </p:cNvSpPr>
              <p:nvPr/>
            </p:nvSpPr>
            <p:spPr bwMode="auto">
              <a:xfrm>
                <a:off x="3148" y="2561"/>
                <a:ext cx="30" cy="33"/>
              </a:xfrm>
              <a:custGeom>
                <a:avLst/>
                <a:gdLst>
                  <a:gd name="T0" fmla="*/ 33 w 27"/>
                  <a:gd name="T1" fmla="*/ 16 h 29"/>
                  <a:gd name="T2" fmla="*/ 19 w 27"/>
                  <a:gd name="T3" fmla="*/ 38 h 29"/>
                  <a:gd name="T4" fmla="*/ 0 w 27"/>
                  <a:gd name="T5" fmla="*/ 22 h 29"/>
                  <a:gd name="T6" fmla="*/ 14 w 27"/>
                  <a:gd name="T7" fmla="*/ 0 h 29"/>
                  <a:gd name="T8" fmla="*/ 33 w 27"/>
                  <a:gd name="T9" fmla="*/ 16 h 29"/>
                  <a:gd name="T10" fmla="*/ 33 w 27"/>
                  <a:gd name="T11" fmla="*/ 16 h 29"/>
                  <a:gd name="T12" fmla="*/ 0 60000 65536"/>
                  <a:gd name="T13" fmla="*/ 0 60000 65536"/>
                  <a:gd name="T14" fmla="*/ 0 60000 65536"/>
                  <a:gd name="T15" fmla="*/ 0 60000 65536"/>
                  <a:gd name="T16" fmla="*/ 0 60000 65536"/>
                  <a:gd name="T17" fmla="*/ 0 60000 65536"/>
                  <a:gd name="T18" fmla="*/ 0 w 27"/>
                  <a:gd name="T19" fmla="*/ 0 h 29"/>
                  <a:gd name="T20" fmla="*/ 27 w 27"/>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27" h="29">
                    <a:moveTo>
                      <a:pt x="27" y="12"/>
                    </a:moveTo>
                    <a:lnTo>
                      <a:pt x="15" y="29"/>
                    </a:lnTo>
                    <a:lnTo>
                      <a:pt x="0" y="17"/>
                    </a:lnTo>
                    <a:lnTo>
                      <a:pt x="12" y="0"/>
                    </a:lnTo>
                    <a:lnTo>
                      <a:pt x="27" y="12"/>
                    </a:lnTo>
                    <a:close/>
                  </a:path>
                </a:pathLst>
              </a:custGeom>
              <a:noFill/>
              <a:ln w="1588">
                <a:solidFill>
                  <a:srgbClr val="000000"/>
                </a:solidFill>
                <a:round/>
                <a:headEnd/>
                <a:tailEnd/>
              </a:ln>
            </p:spPr>
            <p:txBody>
              <a:bodyPr/>
              <a:lstStyle/>
              <a:p>
                <a:endParaRPr lang="zh-CN" altLang="en-US"/>
              </a:p>
            </p:txBody>
          </p:sp>
          <p:sp>
            <p:nvSpPr>
              <p:cNvPr id="63556" name="Freeform 59"/>
              <p:cNvSpPr>
                <a:spLocks/>
              </p:cNvSpPr>
              <p:nvPr/>
            </p:nvSpPr>
            <p:spPr bwMode="auto">
              <a:xfrm>
                <a:off x="3123" y="2598"/>
                <a:ext cx="30" cy="33"/>
              </a:xfrm>
              <a:custGeom>
                <a:avLst/>
                <a:gdLst>
                  <a:gd name="T0" fmla="*/ 32 w 28"/>
                  <a:gd name="T1" fmla="*/ 17 h 28"/>
                  <a:gd name="T2" fmla="*/ 18 w 28"/>
                  <a:gd name="T3" fmla="*/ 39 h 28"/>
                  <a:gd name="T4" fmla="*/ 0 w 28"/>
                  <a:gd name="T5" fmla="*/ 22 h 28"/>
                  <a:gd name="T6" fmla="*/ 15 w 28"/>
                  <a:gd name="T7" fmla="*/ 0 h 28"/>
                  <a:gd name="T8" fmla="*/ 32 w 28"/>
                  <a:gd name="T9" fmla="*/ 17 h 28"/>
                  <a:gd name="T10" fmla="*/ 32 w 28"/>
                  <a:gd name="T11" fmla="*/ 17 h 28"/>
                  <a:gd name="T12" fmla="*/ 0 60000 65536"/>
                  <a:gd name="T13" fmla="*/ 0 60000 65536"/>
                  <a:gd name="T14" fmla="*/ 0 60000 65536"/>
                  <a:gd name="T15" fmla="*/ 0 60000 65536"/>
                  <a:gd name="T16" fmla="*/ 0 60000 65536"/>
                  <a:gd name="T17" fmla="*/ 0 60000 65536"/>
                  <a:gd name="T18" fmla="*/ 0 w 28"/>
                  <a:gd name="T19" fmla="*/ 0 h 28"/>
                  <a:gd name="T20" fmla="*/ 28 w 28"/>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8" h="28">
                    <a:moveTo>
                      <a:pt x="28" y="12"/>
                    </a:moveTo>
                    <a:lnTo>
                      <a:pt x="16" y="28"/>
                    </a:lnTo>
                    <a:lnTo>
                      <a:pt x="0" y="16"/>
                    </a:lnTo>
                    <a:lnTo>
                      <a:pt x="13" y="0"/>
                    </a:lnTo>
                    <a:lnTo>
                      <a:pt x="28" y="12"/>
                    </a:lnTo>
                    <a:close/>
                  </a:path>
                </a:pathLst>
              </a:custGeom>
              <a:noFill/>
              <a:ln w="1588">
                <a:solidFill>
                  <a:srgbClr val="000000"/>
                </a:solidFill>
                <a:round/>
                <a:headEnd/>
                <a:tailEnd/>
              </a:ln>
            </p:spPr>
            <p:txBody>
              <a:bodyPr/>
              <a:lstStyle/>
              <a:p>
                <a:endParaRPr lang="zh-CN" altLang="en-US"/>
              </a:p>
            </p:txBody>
          </p:sp>
          <p:sp>
            <p:nvSpPr>
              <p:cNvPr id="63557" name="Freeform 60"/>
              <p:cNvSpPr>
                <a:spLocks/>
              </p:cNvSpPr>
              <p:nvPr/>
            </p:nvSpPr>
            <p:spPr bwMode="auto">
              <a:xfrm>
                <a:off x="3095" y="2636"/>
                <a:ext cx="32" cy="32"/>
              </a:xfrm>
              <a:custGeom>
                <a:avLst/>
                <a:gdLst>
                  <a:gd name="T0" fmla="*/ 35 w 29"/>
                  <a:gd name="T1" fmla="*/ 14 h 29"/>
                  <a:gd name="T2" fmla="*/ 21 w 29"/>
                  <a:gd name="T3" fmla="*/ 35 h 29"/>
                  <a:gd name="T4" fmla="*/ 0 w 29"/>
                  <a:gd name="T5" fmla="*/ 21 h 29"/>
                  <a:gd name="T6" fmla="*/ 15 w 29"/>
                  <a:gd name="T7" fmla="*/ 0 h 29"/>
                  <a:gd name="T8" fmla="*/ 35 w 29"/>
                  <a:gd name="T9" fmla="*/ 14 h 29"/>
                  <a:gd name="T10" fmla="*/ 35 w 29"/>
                  <a:gd name="T11" fmla="*/ 14 h 29"/>
                  <a:gd name="T12" fmla="*/ 0 60000 65536"/>
                  <a:gd name="T13" fmla="*/ 0 60000 65536"/>
                  <a:gd name="T14" fmla="*/ 0 60000 65536"/>
                  <a:gd name="T15" fmla="*/ 0 60000 65536"/>
                  <a:gd name="T16" fmla="*/ 0 60000 65536"/>
                  <a:gd name="T17" fmla="*/ 0 60000 65536"/>
                  <a:gd name="T18" fmla="*/ 0 w 29"/>
                  <a:gd name="T19" fmla="*/ 0 h 29"/>
                  <a:gd name="T20" fmla="*/ 29 w 29"/>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29" h="29">
                    <a:moveTo>
                      <a:pt x="29" y="12"/>
                    </a:moveTo>
                    <a:lnTo>
                      <a:pt x="17" y="29"/>
                    </a:lnTo>
                    <a:lnTo>
                      <a:pt x="0" y="17"/>
                    </a:lnTo>
                    <a:lnTo>
                      <a:pt x="13" y="0"/>
                    </a:lnTo>
                    <a:lnTo>
                      <a:pt x="29" y="12"/>
                    </a:lnTo>
                    <a:close/>
                  </a:path>
                </a:pathLst>
              </a:custGeom>
              <a:noFill/>
              <a:ln w="1588">
                <a:solidFill>
                  <a:srgbClr val="000000"/>
                </a:solidFill>
                <a:round/>
                <a:headEnd/>
                <a:tailEnd/>
              </a:ln>
            </p:spPr>
            <p:txBody>
              <a:bodyPr/>
              <a:lstStyle/>
              <a:p>
                <a:endParaRPr lang="zh-CN" altLang="en-US"/>
              </a:p>
            </p:txBody>
          </p:sp>
          <p:sp>
            <p:nvSpPr>
              <p:cNvPr id="63558" name="Freeform 61"/>
              <p:cNvSpPr>
                <a:spLocks/>
              </p:cNvSpPr>
              <p:nvPr/>
            </p:nvSpPr>
            <p:spPr bwMode="auto">
              <a:xfrm>
                <a:off x="3069" y="2673"/>
                <a:ext cx="32" cy="32"/>
              </a:xfrm>
              <a:custGeom>
                <a:avLst/>
                <a:gdLst>
                  <a:gd name="T0" fmla="*/ 35 w 29"/>
                  <a:gd name="T1" fmla="*/ 16 h 28"/>
                  <a:gd name="T2" fmla="*/ 20 w 29"/>
                  <a:gd name="T3" fmla="*/ 37 h 28"/>
                  <a:gd name="T4" fmla="*/ 0 w 29"/>
                  <a:gd name="T5" fmla="*/ 21 h 28"/>
                  <a:gd name="T6" fmla="*/ 14 w 29"/>
                  <a:gd name="T7" fmla="*/ 0 h 28"/>
                  <a:gd name="T8" fmla="*/ 35 w 29"/>
                  <a:gd name="T9" fmla="*/ 16 h 28"/>
                  <a:gd name="T10" fmla="*/ 35 w 29"/>
                  <a:gd name="T11" fmla="*/ 16 h 28"/>
                  <a:gd name="T12" fmla="*/ 0 60000 65536"/>
                  <a:gd name="T13" fmla="*/ 0 60000 65536"/>
                  <a:gd name="T14" fmla="*/ 0 60000 65536"/>
                  <a:gd name="T15" fmla="*/ 0 60000 65536"/>
                  <a:gd name="T16" fmla="*/ 0 60000 65536"/>
                  <a:gd name="T17" fmla="*/ 0 60000 65536"/>
                  <a:gd name="T18" fmla="*/ 0 w 29"/>
                  <a:gd name="T19" fmla="*/ 0 h 28"/>
                  <a:gd name="T20" fmla="*/ 29 w 2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9" h="28">
                    <a:moveTo>
                      <a:pt x="29" y="12"/>
                    </a:moveTo>
                    <a:lnTo>
                      <a:pt x="16" y="28"/>
                    </a:lnTo>
                    <a:lnTo>
                      <a:pt x="0" y="16"/>
                    </a:lnTo>
                    <a:lnTo>
                      <a:pt x="12" y="0"/>
                    </a:lnTo>
                    <a:lnTo>
                      <a:pt x="29" y="12"/>
                    </a:lnTo>
                    <a:close/>
                  </a:path>
                </a:pathLst>
              </a:custGeom>
              <a:noFill/>
              <a:ln w="1588">
                <a:solidFill>
                  <a:srgbClr val="000000"/>
                </a:solidFill>
                <a:round/>
                <a:headEnd/>
                <a:tailEnd/>
              </a:ln>
            </p:spPr>
            <p:txBody>
              <a:bodyPr/>
              <a:lstStyle/>
              <a:p>
                <a:endParaRPr lang="zh-CN" altLang="en-US"/>
              </a:p>
            </p:txBody>
          </p:sp>
          <p:sp>
            <p:nvSpPr>
              <p:cNvPr id="63559" name="Freeform 62"/>
              <p:cNvSpPr>
                <a:spLocks/>
              </p:cNvSpPr>
              <p:nvPr/>
            </p:nvSpPr>
            <p:spPr bwMode="auto">
              <a:xfrm>
                <a:off x="3044" y="2710"/>
                <a:ext cx="30" cy="32"/>
              </a:xfrm>
              <a:custGeom>
                <a:avLst/>
                <a:gdLst>
                  <a:gd name="T0" fmla="*/ 32 w 28"/>
                  <a:gd name="T1" fmla="*/ 17 h 29"/>
                  <a:gd name="T2" fmla="*/ 18 w 28"/>
                  <a:gd name="T3" fmla="*/ 35 h 29"/>
                  <a:gd name="T4" fmla="*/ 0 w 28"/>
                  <a:gd name="T5" fmla="*/ 21 h 29"/>
                  <a:gd name="T6" fmla="*/ 14 w 28"/>
                  <a:gd name="T7" fmla="*/ 0 h 29"/>
                  <a:gd name="T8" fmla="*/ 32 w 28"/>
                  <a:gd name="T9" fmla="*/ 17 h 29"/>
                  <a:gd name="T10" fmla="*/ 32 w 28"/>
                  <a:gd name="T11" fmla="*/ 17 h 29"/>
                  <a:gd name="T12" fmla="*/ 0 60000 65536"/>
                  <a:gd name="T13" fmla="*/ 0 60000 65536"/>
                  <a:gd name="T14" fmla="*/ 0 60000 65536"/>
                  <a:gd name="T15" fmla="*/ 0 60000 65536"/>
                  <a:gd name="T16" fmla="*/ 0 60000 65536"/>
                  <a:gd name="T17" fmla="*/ 0 60000 65536"/>
                  <a:gd name="T18" fmla="*/ 0 w 28"/>
                  <a:gd name="T19" fmla="*/ 0 h 29"/>
                  <a:gd name="T20" fmla="*/ 28 w 28"/>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28" h="29">
                    <a:moveTo>
                      <a:pt x="28" y="14"/>
                    </a:moveTo>
                    <a:lnTo>
                      <a:pt x="16" y="29"/>
                    </a:lnTo>
                    <a:lnTo>
                      <a:pt x="0" y="17"/>
                    </a:lnTo>
                    <a:lnTo>
                      <a:pt x="12" y="0"/>
                    </a:lnTo>
                    <a:lnTo>
                      <a:pt x="28" y="14"/>
                    </a:lnTo>
                    <a:close/>
                  </a:path>
                </a:pathLst>
              </a:custGeom>
              <a:noFill/>
              <a:ln w="1588">
                <a:solidFill>
                  <a:srgbClr val="000000"/>
                </a:solidFill>
                <a:round/>
                <a:headEnd/>
                <a:tailEnd/>
              </a:ln>
            </p:spPr>
            <p:txBody>
              <a:bodyPr/>
              <a:lstStyle/>
              <a:p>
                <a:endParaRPr lang="zh-CN" altLang="en-US"/>
              </a:p>
            </p:txBody>
          </p:sp>
          <p:sp>
            <p:nvSpPr>
              <p:cNvPr id="63560" name="Freeform 63"/>
              <p:cNvSpPr>
                <a:spLocks/>
              </p:cNvSpPr>
              <p:nvPr/>
            </p:nvSpPr>
            <p:spPr bwMode="auto">
              <a:xfrm>
                <a:off x="3018" y="2747"/>
                <a:ext cx="30" cy="32"/>
              </a:xfrm>
              <a:custGeom>
                <a:avLst/>
                <a:gdLst>
                  <a:gd name="T0" fmla="*/ 32 w 28"/>
                  <a:gd name="T1" fmla="*/ 17 h 27"/>
                  <a:gd name="T2" fmla="*/ 18 w 28"/>
                  <a:gd name="T3" fmla="*/ 38 h 27"/>
                  <a:gd name="T4" fmla="*/ 0 w 28"/>
                  <a:gd name="T5" fmla="*/ 21 h 27"/>
                  <a:gd name="T6" fmla="*/ 14 w 28"/>
                  <a:gd name="T7" fmla="*/ 0 h 27"/>
                  <a:gd name="T8" fmla="*/ 32 w 28"/>
                  <a:gd name="T9" fmla="*/ 17 h 27"/>
                  <a:gd name="T10" fmla="*/ 32 w 28"/>
                  <a:gd name="T11" fmla="*/ 17 h 27"/>
                  <a:gd name="T12" fmla="*/ 0 60000 65536"/>
                  <a:gd name="T13" fmla="*/ 0 60000 65536"/>
                  <a:gd name="T14" fmla="*/ 0 60000 65536"/>
                  <a:gd name="T15" fmla="*/ 0 60000 65536"/>
                  <a:gd name="T16" fmla="*/ 0 60000 65536"/>
                  <a:gd name="T17" fmla="*/ 0 60000 65536"/>
                  <a:gd name="T18" fmla="*/ 0 w 28"/>
                  <a:gd name="T19" fmla="*/ 0 h 27"/>
                  <a:gd name="T20" fmla="*/ 28 w 28"/>
                  <a:gd name="T21" fmla="*/ 27 h 27"/>
                </a:gdLst>
                <a:ahLst/>
                <a:cxnLst>
                  <a:cxn ang="T12">
                    <a:pos x="T0" y="T1"/>
                  </a:cxn>
                  <a:cxn ang="T13">
                    <a:pos x="T2" y="T3"/>
                  </a:cxn>
                  <a:cxn ang="T14">
                    <a:pos x="T4" y="T5"/>
                  </a:cxn>
                  <a:cxn ang="T15">
                    <a:pos x="T6" y="T7"/>
                  </a:cxn>
                  <a:cxn ang="T16">
                    <a:pos x="T8" y="T9"/>
                  </a:cxn>
                  <a:cxn ang="T17">
                    <a:pos x="T10" y="T11"/>
                  </a:cxn>
                </a:cxnLst>
                <a:rect l="T18" t="T19" r="T20" b="T21"/>
                <a:pathLst>
                  <a:path w="28" h="27">
                    <a:moveTo>
                      <a:pt x="28" y="12"/>
                    </a:moveTo>
                    <a:lnTo>
                      <a:pt x="16" y="27"/>
                    </a:lnTo>
                    <a:lnTo>
                      <a:pt x="0" y="15"/>
                    </a:lnTo>
                    <a:lnTo>
                      <a:pt x="12" y="0"/>
                    </a:lnTo>
                    <a:lnTo>
                      <a:pt x="28" y="12"/>
                    </a:lnTo>
                    <a:close/>
                  </a:path>
                </a:pathLst>
              </a:custGeom>
              <a:noFill/>
              <a:ln w="1588">
                <a:solidFill>
                  <a:srgbClr val="000000"/>
                </a:solidFill>
                <a:round/>
                <a:headEnd/>
                <a:tailEnd/>
              </a:ln>
            </p:spPr>
            <p:txBody>
              <a:bodyPr/>
              <a:lstStyle/>
              <a:p>
                <a:endParaRPr lang="zh-CN" altLang="en-US"/>
              </a:p>
            </p:txBody>
          </p:sp>
          <p:sp>
            <p:nvSpPr>
              <p:cNvPr id="63561" name="Freeform 64"/>
              <p:cNvSpPr>
                <a:spLocks/>
              </p:cNvSpPr>
              <p:nvPr/>
            </p:nvSpPr>
            <p:spPr bwMode="auto">
              <a:xfrm>
                <a:off x="2993" y="2784"/>
                <a:ext cx="29" cy="32"/>
              </a:xfrm>
              <a:custGeom>
                <a:avLst/>
                <a:gdLst>
                  <a:gd name="T0" fmla="*/ 30 w 28"/>
                  <a:gd name="T1" fmla="*/ 15 h 29"/>
                  <a:gd name="T2" fmla="*/ 18 w 28"/>
                  <a:gd name="T3" fmla="*/ 35 h 29"/>
                  <a:gd name="T4" fmla="*/ 0 w 28"/>
                  <a:gd name="T5" fmla="*/ 21 h 29"/>
                  <a:gd name="T6" fmla="*/ 12 w 28"/>
                  <a:gd name="T7" fmla="*/ 0 h 29"/>
                  <a:gd name="T8" fmla="*/ 30 w 28"/>
                  <a:gd name="T9" fmla="*/ 15 h 29"/>
                  <a:gd name="T10" fmla="*/ 30 w 28"/>
                  <a:gd name="T11" fmla="*/ 15 h 29"/>
                  <a:gd name="T12" fmla="*/ 0 60000 65536"/>
                  <a:gd name="T13" fmla="*/ 0 60000 65536"/>
                  <a:gd name="T14" fmla="*/ 0 60000 65536"/>
                  <a:gd name="T15" fmla="*/ 0 60000 65536"/>
                  <a:gd name="T16" fmla="*/ 0 60000 65536"/>
                  <a:gd name="T17" fmla="*/ 0 60000 65536"/>
                  <a:gd name="T18" fmla="*/ 0 w 28"/>
                  <a:gd name="T19" fmla="*/ 0 h 29"/>
                  <a:gd name="T20" fmla="*/ 28 w 28"/>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28" h="29">
                    <a:moveTo>
                      <a:pt x="28" y="13"/>
                    </a:moveTo>
                    <a:lnTo>
                      <a:pt x="16" y="29"/>
                    </a:lnTo>
                    <a:lnTo>
                      <a:pt x="0" y="17"/>
                    </a:lnTo>
                    <a:lnTo>
                      <a:pt x="12" y="0"/>
                    </a:lnTo>
                    <a:lnTo>
                      <a:pt x="28" y="13"/>
                    </a:lnTo>
                    <a:close/>
                  </a:path>
                </a:pathLst>
              </a:custGeom>
              <a:noFill/>
              <a:ln w="1588">
                <a:solidFill>
                  <a:srgbClr val="000000"/>
                </a:solidFill>
                <a:round/>
                <a:headEnd/>
                <a:tailEnd/>
              </a:ln>
            </p:spPr>
            <p:txBody>
              <a:bodyPr/>
              <a:lstStyle/>
              <a:p>
                <a:endParaRPr lang="zh-CN" altLang="en-US"/>
              </a:p>
            </p:txBody>
          </p:sp>
          <p:sp>
            <p:nvSpPr>
              <p:cNvPr id="63562" name="Freeform 65"/>
              <p:cNvSpPr>
                <a:spLocks/>
              </p:cNvSpPr>
              <p:nvPr/>
            </p:nvSpPr>
            <p:spPr bwMode="auto">
              <a:xfrm>
                <a:off x="2967" y="2821"/>
                <a:ext cx="30" cy="33"/>
              </a:xfrm>
              <a:custGeom>
                <a:avLst/>
                <a:gdLst>
                  <a:gd name="T0" fmla="*/ 32 w 28"/>
                  <a:gd name="T1" fmla="*/ 18 h 28"/>
                  <a:gd name="T2" fmla="*/ 18 w 28"/>
                  <a:gd name="T3" fmla="*/ 39 h 28"/>
                  <a:gd name="T4" fmla="*/ 0 w 28"/>
                  <a:gd name="T5" fmla="*/ 22 h 28"/>
                  <a:gd name="T6" fmla="*/ 14 w 28"/>
                  <a:gd name="T7" fmla="*/ 0 h 28"/>
                  <a:gd name="T8" fmla="*/ 32 w 28"/>
                  <a:gd name="T9" fmla="*/ 18 h 28"/>
                  <a:gd name="T10" fmla="*/ 32 w 28"/>
                  <a:gd name="T11" fmla="*/ 18 h 28"/>
                  <a:gd name="T12" fmla="*/ 0 60000 65536"/>
                  <a:gd name="T13" fmla="*/ 0 60000 65536"/>
                  <a:gd name="T14" fmla="*/ 0 60000 65536"/>
                  <a:gd name="T15" fmla="*/ 0 60000 65536"/>
                  <a:gd name="T16" fmla="*/ 0 60000 65536"/>
                  <a:gd name="T17" fmla="*/ 0 60000 65536"/>
                  <a:gd name="T18" fmla="*/ 0 w 28"/>
                  <a:gd name="T19" fmla="*/ 0 h 28"/>
                  <a:gd name="T20" fmla="*/ 28 w 28"/>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8" h="28">
                    <a:moveTo>
                      <a:pt x="28" y="13"/>
                    </a:moveTo>
                    <a:lnTo>
                      <a:pt x="16" y="28"/>
                    </a:lnTo>
                    <a:lnTo>
                      <a:pt x="0" y="16"/>
                    </a:lnTo>
                    <a:lnTo>
                      <a:pt x="12" y="0"/>
                    </a:lnTo>
                    <a:lnTo>
                      <a:pt x="28" y="13"/>
                    </a:lnTo>
                    <a:close/>
                  </a:path>
                </a:pathLst>
              </a:custGeom>
              <a:noFill/>
              <a:ln w="1588">
                <a:solidFill>
                  <a:srgbClr val="000000"/>
                </a:solidFill>
                <a:round/>
                <a:headEnd/>
                <a:tailEnd/>
              </a:ln>
            </p:spPr>
            <p:txBody>
              <a:bodyPr/>
              <a:lstStyle/>
              <a:p>
                <a:endParaRPr lang="zh-CN" altLang="en-US"/>
              </a:p>
            </p:txBody>
          </p:sp>
          <p:sp>
            <p:nvSpPr>
              <p:cNvPr id="63563" name="Freeform 66"/>
              <p:cNvSpPr>
                <a:spLocks/>
              </p:cNvSpPr>
              <p:nvPr/>
            </p:nvSpPr>
            <p:spPr bwMode="auto">
              <a:xfrm>
                <a:off x="2941" y="2858"/>
                <a:ext cx="30" cy="33"/>
              </a:xfrm>
              <a:custGeom>
                <a:avLst/>
                <a:gdLst>
                  <a:gd name="T0" fmla="*/ 32 w 28"/>
                  <a:gd name="T1" fmla="*/ 17 h 28"/>
                  <a:gd name="T2" fmla="*/ 18 w 28"/>
                  <a:gd name="T3" fmla="*/ 39 h 28"/>
                  <a:gd name="T4" fmla="*/ 0 w 28"/>
                  <a:gd name="T5" fmla="*/ 22 h 28"/>
                  <a:gd name="T6" fmla="*/ 14 w 28"/>
                  <a:gd name="T7" fmla="*/ 0 h 28"/>
                  <a:gd name="T8" fmla="*/ 32 w 28"/>
                  <a:gd name="T9" fmla="*/ 17 h 28"/>
                  <a:gd name="T10" fmla="*/ 32 w 28"/>
                  <a:gd name="T11" fmla="*/ 17 h 28"/>
                  <a:gd name="T12" fmla="*/ 0 60000 65536"/>
                  <a:gd name="T13" fmla="*/ 0 60000 65536"/>
                  <a:gd name="T14" fmla="*/ 0 60000 65536"/>
                  <a:gd name="T15" fmla="*/ 0 60000 65536"/>
                  <a:gd name="T16" fmla="*/ 0 60000 65536"/>
                  <a:gd name="T17" fmla="*/ 0 60000 65536"/>
                  <a:gd name="T18" fmla="*/ 0 w 28"/>
                  <a:gd name="T19" fmla="*/ 0 h 28"/>
                  <a:gd name="T20" fmla="*/ 28 w 28"/>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8" h="28">
                    <a:moveTo>
                      <a:pt x="28" y="12"/>
                    </a:moveTo>
                    <a:lnTo>
                      <a:pt x="16" y="28"/>
                    </a:lnTo>
                    <a:lnTo>
                      <a:pt x="0" y="16"/>
                    </a:lnTo>
                    <a:lnTo>
                      <a:pt x="12" y="0"/>
                    </a:lnTo>
                    <a:lnTo>
                      <a:pt x="28" y="12"/>
                    </a:lnTo>
                    <a:close/>
                  </a:path>
                </a:pathLst>
              </a:custGeom>
              <a:noFill/>
              <a:ln w="1588">
                <a:solidFill>
                  <a:srgbClr val="000000"/>
                </a:solidFill>
                <a:round/>
                <a:headEnd/>
                <a:tailEnd/>
              </a:ln>
            </p:spPr>
            <p:txBody>
              <a:bodyPr/>
              <a:lstStyle/>
              <a:p>
                <a:endParaRPr lang="zh-CN" altLang="en-US"/>
              </a:p>
            </p:txBody>
          </p:sp>
          <p:sp>
            <p:nvSpPr>
              <p:cNvPr id="63564" name="Freeform 67"/>
              <p:cNvSpPr>
                <a:spLocks/>
              </p:cNvSpPr>
              <p:nvPr/>
            </p:nvSpPr>
            <p:spPr bwMode="auto">
              <a:xfrm>
                <a:off x="2914" y="2895"/>
                <a:ext cx="32" cy="30"/>
              </a:xfrm>
              <a:custGeom>
                <a:avLst/>
                <a:gdLst>
                  <a:gd name="T0" fmla="*/ 35 w 29"/>
                  <a:gd name="T1" fmla="*/ 14 h 28"/>
                  <a:gd name="T2" fmla="*/ 21 w 29"/>
                  <a:gd name="T3" fmla="*/ 32 h 28"/>
                  <a:gd name="T4" fmla="*/ 0 w 29"/>
                  <a:gd name="T5" fmla="*/ 18 h 28"/>
                  <a:gd name="T6" fmla="*/ 14 w 29"/>
                  <a:gd name="T7" fmla="*/ 0 h 28"/>
                  <a:gd name="T8" fmla="*/ 35 w 29"/>
                  <a:gd name="T9" fmla="*/ 14 h 28"/>
                  <a:gd name="T10" fmla="*/ 35 w 29"/>
                  <a:gd name="T11" fmla="*/ 14 h 28"/>
                  <a:gd name="T12" fmla="*/ 0 60000 65536"/>
                  <a:gd name="T13" fmla="*/ 0 60000 65536"/>
                  <a:gd name="T14" fmla="*/ 0 60000 65536"/>
                  <a:gd name="T15" fmla="*/ 0 60000 65536"/>
                  <a:gd name="T16" fmla="*/ 0 60000 65536"/>
                  <a:gd name="T17" fmla="*/ 0 60000 65536"/>
                  <a:gd name="T18" fmla="*/ 0 w 29"/>
                  <a:gd name="T19" fmla="*/ 0 h 28"/>
                  <a:gd name="T20" fmla="*/ 29 w 2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9" h="28">
                    <a:moveTo>
                      <a:pt x="29" y="12"/>
                    </a:moveTo>
                    <a:lnTo>
                      <a:pt x="17" y="28"/>
                    </a:lnTo>
                    <a:lnTo>
                      <a:pt x="0" y="16"/>
                    </a:lnTo>
                    <a:lnTo>
                      <a:pt x="12" y="0"/>
                    </a:lnTo>
                    <a:lnTo>
                      <a:pt x="29" y="12"/>
                    </a:lnTo>
                    <a:close/>
                  </a:path>
                </a:pathLst>
              </a:custGeom>
              <a:noFill/>
              <a:ln w="1588">
                <a:solidFill>
                  <a:srgbClr val="000000"/>
                </a:solidFill>
                <a:round/>
                <a:headEnd/>
                <a:tailEnd/>
              </a:ln>
            </p:spPr>
            <p:txBody>
              <a:bodyPr/>
              <a:lstStyle/>
              <a:p>
                <a:endParaRPr lang="zh-CN" altLang="en-US"/>
              </a:p>
            </p:txBody>
          </p:sp>
          <p:sp>
            <p:nvSpPr>
              <p:cNvPr id="63565" name="Freeform 68"/>
              <p:cNvSpPr>
                <a:spLocks/>
              </p:cNvSpPr>
              <p:nvPr/>
            </p:nvSpPr>
            <p:spPr bwMode="auto">
              <a:xfrm>
                <a:off x="2888" y="2932"/>
                <a:ext cx="32" cy="33"/>
              </a:xfrm>
              <a:custGeom>
                <a:avLst/>
                <a:gdLst>
                  <a:gd name="T0" fmla="*/ 35 w 29"/>
                  <a:gd name="T1" fmla="*/ 18 h 27"/>
                  <a:gd name="T2" fmla="*/ 20 w 29"/>
                  <a:gd name="T3" fmla="*/ 40 h 27"/>
                  <a:gd name="T4" fmla="*/ 0 w 29"/>
                  <a:gd name="T5" fmla="*/ 22 h 27"/>
                  <a:gd name="T6" fmla="*/ 14 w 29"/>
                  <a:gd name="T7" fmla="*/ 0 h 27"/>
                  <a:gd name="T8" fmla="*/ 35 w 29"/>
                  <a:gd name="T9" fmla="*/ 18 h 27"/>
                  <a:gd name="T10" fmla="*/ 35 w 29"/>
                  <a:gd name="T11" fmla="*/ 18 h 27"/>
                  <a:gd name="T12" fmla="*/ 0 60000 65536"/>
                  <a:gd name="T13" fmla="*/ 0 60000 65536"/>
                  <a:gd name="T14" fmla="*/ 0 60000 65536"/>
                  <a:gd name="T15" fmla="*/ 0 60000 65536"/>
                  <a:gd name="T16" fmla="*/ 0 60000 65536"/>
                  <a:gd name="T17" fmla="*/ 0 60000 65536"/>
                  <a:gd name="T18" fmla="*/ 0 w 29"/>
                  <a:gd name="T19" fmla="*/ 0 h 27"/>
                  <a:gd name="T20" fmla="*/ 29 w 29"/>
                  <a:gd name="T21" fmla="*/ 27 h 27"/>
                </a:gdLst>
                <a:ahLst/>
                <a:cxnLst>
                  <a:cxn ang="T12">
                    <a:pos x="T0" y="T1"/>
                  </a:cxn>
                  <a:cxn ang="T13">
                    <a:pos x="T2" y="T3"/>
                  </a:cxn>
                  <a:cxn ang="T14">
                    <a:pos x="T4" y="T5"/>
                  </a:cxn>
                  <a:cxn ang="T15">
                    <a:pos x="T6" y="T7"/>
                  </a:cxn>
                  <a:cxn ang="T16">
                    <a:pos x="T8" y="T9"/>
                  </a:cxn>
                  <a:cxn ang="T17">
                    <a:pos x="T10" y="T11"/>
                  </a:cxn>
                </a:cxnLst>
                <a:rect l="T18" t="T19" r="T20" b="T21"/>
                <a:pathLst>
                  <a:path w="29" h="27">
                    <a:moveTo>
                      <a:pt x="29" y="12"/>
                    </a:moveTo>
                    <a:lnTo>
                      <a:pt x="16" y="27"/>
                    </a:lnTo>
                    <a:lnTo>
                      <a:pt x="0" y="15"/>
                    </a:lnTo>
                    <a:lnTo>
                      <a:pt x="12" y="0"/>
                    </a:lnTo>
                    <a:lnTo>
                      <a:pt x="29" y="12"/>
                    </a:lnTo>
                    <a:close/>
                  </a:path>
                </a:pathLst>
              </a:custGeom>
              <a:noFill/>
              <a:ln w="1588">
                <a:solidFill>
                  <a:srgbClr val="000000"/>
                </a:solidFill>
                <a:round/>
                <a:headEnd/>
                <a:tailEnd/>
              </a:ln>
            </p:spPr>
            <p:txBody>
              <a:bodyPr/>
              <a:lstStyle/>
              <a:p>
                <a:endParaRPr lang="zh-CN" altLang="en-US"/>
              </a:p>
            </p:txBody>
          </p:sp>
          <p:sp>
            <p:nvSpPr>
              <p:cNvPr id="63566" name="Freeform 69"/>
              <p:cNvSpPr>
                <a:spLocks/>
              </p:cNvSpPr>
              <p:nvPr/>
            </p:nvSpPr>
            <p:spPr bwMode="auto">
              <a:xfrm>
                <a:off x="2862" y="2967"/>
                <a:ext cx="30" cy="33"/>
              </a:xfrm>
              <a:custGeom>
                <a:avLst/>
                <a:gdLst>
                  <a:gd name="T0" fmla="*/ 33 w 27"/>
                  <a:gd name="T1" fmla="*/ 18 h 27"/>
                  <a:gd name="T2" fmla="*/ 19 w 27"/>
                  <a:gd name="T3" fmla="*/ 40 h 27"/>
                  <a:gd name="T4" fmla="*/ 0 w 27"/>
                  <a:gd name="T5" fmla="*/ 22 h 27"/>
                  <a:gd name="T6" fmla="*/ 14 w 27"/>
                  <a:gd name="T7" fmla="*/ 0 h 27"/>
                  <a:gd name="T8" fmla="*/ 33 w 27"/>
                  <a:gd name="T9" fmla="*/ 18 h 27"/>
                  <a:gd name="T10" fmla="*/ 33 w 27"/>
                  <a:gd name="T11" fmla="*/ 18 h 27"/>
                  <a:gd name="T12" fmla="*/ 0 60000 65536"/>
                  <a:gd name="T13" fmla="*/ 0 60000 65536"/>
                  <a:gd name="T14" fmla="*/ 0 60000 65536"/>
                  <a:gd name="T15" fmla="*/ 0 60000 65536"/>
                  <a:gd name="T16" fmla="*/ 0 60000 65536"/>
                  <a:gd name="T17" fmla="*/ 0 60000 65536"/>
                  <a:gd name="T18" fmla="*/ 0 w 27"/>
                  <a:gd name="T19" fmla="*/ 0 h 27"/>
                  <a:gd name="T20" fmla="*/ 27 w 27"/>
                  <a:gd name="T21" fmla="*/ 27 h 27"/>
                </a:gdLst>
                <a:ahLst/>
                <a:cxnLst>
                  <a:cxn ang="T12">
                    <a:pos x="T0" y="T1"/>
                  </a:cxn>
                  <a:cxn ang="T13">
                    <a:pos x="T2" y="T3"/>
                  </a:cxn>
                  <a:cxn ang="T14">
                    <a:pos x="T4" y="T5"/>
                  </a:cxn>
                  <a:cxn ang="T15">
                    <a:pos x="T6" y="T7"/>
                  </a:cxn>
                  <a:cxn ang="T16">
                    <a:pos x="T8" y="T9"/>
                  </a:cxn>
                  <a:cxn ang="T17">
                    <a:pos x="T10" y="T11"/>
                  </a:cxn>
                </a:cxnLst>
                <a:rect l="T18" t="T19" r="T20" b="T21"/>
                <a:pathLst>
                  <a:path w="27" h="27">
                    <a:moveTo>
                      <a:pt x="27" y="12"/>
                    </a:moveTo>
                    <a:lnTo>
                      <a:pt x="15" y="27"/>
                    </a:lnTo>
                    <a:lnTo>
                      <a:pt x="0" y="15"/>
                    </a:lnTo>
                    <a:lnTo>
                      <a:pt x="12" y="0"/>
                    </a:lnTo>
                    <a:lnTo>
                      <a:pt x="27" y="12"/>
                    </a:lnTo>
                    <a:close/>
                  </a:path>
                </a:pathLst>
              </a:custGeom>
              <a:noFill/>
              <a:ln w="1588">
                <a:solidFill>
                  <a:srgbClr val="000000"/>
                </a:solidFill>
                <a:round/>
                <a:headEnd/>
                <a:tailEnd/>
              </a:ln>
            </p:spPr>
            <p:txBody>
              <a:bodyPr/>
              <a:lstStyle/>
              <a:p>
                <a:endParaRPr lang="zh-CN" altLang="en-US"/>
              </a:p>
            </p:txBody>
          </p:sp>
          <p:sp>
            <p:nvSpPr>
              <p:cNvPr id="63567" name="Freeform 70"/>
              <p:cNvSpPr>
                <a:spLocks/>
              </p:cNvSpPr>
              <p:nvPr/>
            </p:nvSpPr>
            <p:spPr bwMode="auto">
              <a:xfrm>
                <a:off x="2837" y="3007"/>
                <a:ext cx="30" cy="30"/>
              </a:xfrm>
              <a:custGeom>
                <a:avLst/>
                <a:gdLst>
                  <a:gd name="T0" fmla="*/ 33 w 27"/>
                  <a:gd name="T1" fmla="*/ 14 h 28"/>
                  <a:gd name="T2" fmla="*/ 19 w 27"/>
                  <a:gd name="T3" fmla="*/ 32 h 28"/>
                  <a:gd name="T4" fmla="*/ 0 w 27"/>
                  <a:gd name="T5" fmla="*/ 18 h 28"/>
                  <a:gd name="T6" fmla="*/ 14 w 27"/>
                  <a:gd name="T7" fmla="*/ 0 h 28"/>
                  <a:gd name="T8" fmla="*/ 33 w 27"/>
                  <a:gd name="T9" fmla="*/ 14 h 28"/>
                  <a:gd name="T10" fmla="*/ 33 w 27"/>
                  <a:gd name="T11" fmla="*/ 14 h 28"/>
                  <a:gd name="T12" fmla="*/ 0 60000 65536"/>
                  <a:gd name="T13" fmla="*/ 0 60000 65536"/>
                  <a:gd name="T14" fmla="*/ 0 60000 65536"/>
                  <a:gd name="T15" fmla="*/ 0 60000 65536"/>
                  <a:gd name="T16" fmla="*/ 0 60000 65536"/>
                  <a:gd name="T17" fmla="*/ 0 60000 65536"/>
                  <a:gd name="T18" fmla="*/ 0 w 27"/>
                  <a:gd name="T19" fmla="*/ 0 h 28"/>
                  <a:gd name="T20" fmla="*/ 27 w 27"/>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7" h="28">
                    <a:moveTo>
                      <a:pt x="27" y="12"/>
                    </a:moveTo>
                    <a:lnTo>
                      <a:pt x="15" y="28"/>
                    </a:lnTo>
                    <a:lnTo>
                      <a:pt x="0" y="16"/>
                    </a:lnTo>
                    <a:lnTo>
                      <a:pt x="12" y="0"/>
                    </a:lnTo>
                    <a:lnTo>
                      <a:pt x="27" y="12"/>
                    </a:lnTo>
                    <a:close/>
                  </a:path>
                </a:pathLst>
              </a:custGeom>
              <a:noFill/>
              <a:ln w="1588">
                <a:solidFill>
                  <a:srgbClr val="000000"/>
                </a:solidFill>
                <a:round/>
                <a:headEnd/>
                <a:tailEnd/>
              </a:ln>
            </p:spPr>
            <p:txBody>
              <a:bodyPr/>
              <a:lstStyle/>
              <a:p>
                <a:endParaRPr lang="zh-CN" altLang="en-US"/>
              </a:p>
            </p:txBody>
          </p:sp>
          <p:sp>
            <p:nvSpPr>
              <p:cNvPr id="63568" name="Freeform 71"/>
              <p:cNvSpPr>
                <a:spLocks/>
              </p:cNvSpPr>
              <p:nvPr/>
            </p:nvSpPr>
            <p:spPr bwMode="auto">
              <a:xfrm>
                <a:off x="2811" y="3041"/>
                <a:ext cx="30" cy="35"/>
              </a:xfrm>
              <a:custGeom>
                <a:avLst/>
                <a:gdLst>
                  <a:gd name="T0" fmla="*/ 33 w 27"/>
                  <a:gd name="T1" fmla="*/ 19 h 28"/>
                  <a:gd name="T2" fmla="*/ 19 w 27"/>
                  <a:gd name="T3" fmla="*/ 44 h 28"/>
                  <a:gd name="T4" fmla="*/ 0 w 27"/>
                  <a:gd name="T5" fmla="*/ 24 h 28"/>
                  <a:gd name="T6" fmla="*/ 14 w 27"/>
                  <a:gd name="T7" fmla="*/ 0 h 28"/>
                  <a:gd name="T8" fmla="*/ 33 w 27"/>
                  <a:gd name="T9" fmla="*/ 19 h 28"/>
                  <a:gd name="T10" fmla="*/ 33 w 27"/>
                  <a:gd name="T11" fmla="*/ 19 h 28"/>
                  <a:gd name="T12" fmla="*/ 0 60000 65536"/>
                  <a:gd name="T13" fmla="*/ 0 60000 65536"/>
                  <a:gd name="T14" fmla="*/ 0 60000 65536"/>
                  <a:gd name="T15" fmla="*/ 0 60000 65536"/>
                  <a:gd name="T16" fmla="*/ 0 60000 65536"/>
                  <a:gd name="T17" fmla="*/ 0 60000 65536"/>
                  <a:gd name="T18" fmla="*/ 0 w 27"/>
                  <a:gd name="T19" fmla="*/ 0 h 28"/>
                  <a:gd name="T20" fmla="*/ 27 w 27"/>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7" h="28">
                    <a:moveTo>
                      <a:pt x="27" y="12"/>
                    </a:moveTo>
                    <a:lnTo>
                      <a:pt x="15" y="28"/>
                    </a:lnTo>
                    <a:lnTo>
                      <a:pt x="0" y="15"/>
                    </a:lnTo>
                    <a:lnTo>
                      <a:pt x="12" y="0"/>
                    </a:lnTo>
                    <a:lnTo>
                      <a:pt x="27" y="12"/>
                    </a:lnTo>
                    <a:close/>
                  </a:path>
                </a:pathLst>
              </a:custGeom>
              <a:noFill/>
              <a:ln w="1588">
                <a:solidFill>
                  <a:srgbClr val="000000"/>
                </a:solidFill>
                <a:round/>
                <a:headEnd/>
                <a:tailEnd/>
              </a:ln>
            </p:spPr>
            <p:txBody>
              <a:bodyPr/>
              <a:lstStyle/>
              <a:p>
                <a:endParaRPr lang="zh-CN" altLang="en-US"/>
              </a:p>
            </p:txBody>
          </p:sp>
          <p:sp>
            <p:nvSpPr>
              <p:cNvPr id="63569" name="Freeform 72"/>
              <p:cNvSpPr>
                <a:spLocks/>
              </p:cNvSpPr>
              <p:nvPr/>
            </p:nvSpPr>
            <p:spPr bwMode="auto">
              <a:xfrm>
                <a:off x="2785" y="3078"/>
                <a:ext cx="30" cy="33"/>
              </a:xfrm>
              <a:custGeom>
                <a:avLst/>
                <a:gdLst>
                  <a:gd name="T0" fmla="*/ 33 w 27"/>
                  <a:gd name="T1" fmla="*/ 17 h 28"/>
                  <a:gd name="T2" fmla="*/ 19 w 27"/>
                  <a:gd name="T3" fmla="*/ 39 h 28"/>
                  <a:gd name="T4" fmla="*/ 0 w 27"/>
                  <a:gd name="T5" fmla="*/ 22 h 28"/>
                  <a:gd name="T6" fmla="*/ 14 w 27"/>
                  <a:gd name="T7" fmla="*/ 0 h 28"/>
                  <a:gd name="T8" fmla="*/ 33 w 27"/>
                  <a:gd name="T9" fmla="*/ 17 h 28"/>
                  <a:gd name="T10" fmla="*/ 33 w 27"/>
                  <a:gd name="T11" fmla="*/ 17 h 28"/>
                  <a:gd name="T12" fmla="*/ 0 60000 65536"/>
                  <a:gd name="T13" fmla="*/ 0 60000 65536"/>
                  <a:gd name="T14" fmla="*/ 0 60000 65536"/>
                  <a:gd name="T15" fmla="*/ 0 60000 65536"/>
                  <a:gd name="T16" fmla="*/ 0 60000 65536"/>
                  <a:gd name="T17" fmla="*/ 0 60000 65536"/>
                  <a:gd name="T18" fmla="*/ 0 w 27"/>
                  <a:gd name="T19" fmla="*/ 0 h 28"/>
                  <a:gd name="T20" fmla="*/ 27 w 27"/>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7" h="28">
                    <a:moveTo>
                      <a:pt x="27" y="12"/>
                    </a:moveTo>
                    <a:lnTo>
                      <a:pt x="15" y="28"/>
                    </a:lnTo>
                    <a:lnTo>
                      <a:pt x="0" y="16"/>
                    </a:lnTo>
                    <a:lnTo>
                      <a:pt x="12" y="0"/>
                    </a:lnTo>
                    <a:lnTo>
                      <a:pt x="27" y="12"/>
                    </a:lnTo>
                    <a:close/>
                  </a:path>
                </a:pathLst>
              </a:custGeom>
              <a:noFill/>
              <a:ln w="1588">
                <a:solidFill>
                  <a:srgbClr val="000000"/>
                </a:solidFill>
                <a:round/>
                <a:headEnd/>
                <a:tailEnd/>
              </a:ln>
            </p:spPr>
            <p:txBody>
              <a:bodyPr/>
              <a:lstStyle/>
              <a:p>
                <a:endParaRPr lang="zh-CN" altLang="en-US"/>
              </a:p>
            </p:txBody>
          </p:sp>
          <p:sp>
            <p:nvSpPr>
              <p:cNvPr id="63570" name="Freeform 73"/>
              <p:cNvSpPr>
                <a:spLocks/>
              </p:cNvSpPr>
              <p:nvPr/>
            </p:nvSpPr>
            <p:spPr bwMode="auto">
              <a:xfrm>
                <a:off x="2760" y="3116"/>
                <a:ext cx="30" cy="34"/>
              </a:xfrm>
              <a:custGeom>
                <a:avLst/>
                <a:gdLst>
                  <a:gd name="T0" fmla="*/ 32 w 28"/>
                  <a:gd name="T1" fmla="*/ 16 h 29"/>
                  <a:gd name="T2" fmla="*/ 18 w 28"/>
                  <a:gd name="T3" fmla="*/ 40 h 29"/>
                  <a:gd name="T4" fmla="*/ 0 w 28"/>
                  <a:gd name="T5" fmla="*/ 23 h 29"/>
                  <a:gd name="T6" fmla="*/ 14 w 28"/>
                  <a:gd name="T7" fmla="*/ 0 h 29"/>
                  <a:gd name="T8" fmla="*/ 32 w 28"/>
                  <a:gd name="T9" fmla="*/ 16 h 29"/>
                  <a:gd name="T10" fmla="*/ 32 w 28"/>
                  <a:gd name="T11" fmla="*/ 16 h 29"/>
                  <a:gd name="T12" fmla="*/ 0 60000 65536"/>
                  <a:gd name="T13" fmla="*/ 0 60000 65536"/>
                  <a:gd name="T14" fmla="*/ 0 60000 65536"/>
                  <a:gd name="T15" fmla="*/ 0 60000 65536"/>
                  <a:gd name="T16" fmla="*/ 0 60000 65536"/>
                  <a:gd name="T17" fmla="*/ 0 60000 65536"/>
                  <a:gd name="T18" fmla="*/ 0 w 28"/>
                  <a:gd name="T19" fmla="*/ 0 h 29"/>
                  <a:gd name="T20" fmla="*/ 28 w 28"/>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28" h="29">
                    <a:moveTo>
                      <a:pt x="28" y="12"/>
                    </a:moveTo>
                    <a:lnTo>
                      <a:pt x="16" y="29"/>
                    </a:lnTo>
                    <a:lnTo>
                      <a:pt x="0" y="17"/>
                    </a:lnTo>
                    <a:lnTo>
                      <a:pt x="12" y="0"/>
                    </a:lnTo>
                    <a:lnTo>
                      <a:pt x="28" y="12"/>
                    </a:lnTo>
                    <a:close/>
                  </a:path>
                </a:pathLst>
              </a:custGeom>
              <a:noFill/>
              <a:ln w="1588">
                <a:solidFill>
                  <a:srgbClr val="000000"/>
                </a:solidFill>
                <a:round/>
                <a:headEnd/>
                <a:tailEnd/>
              </a:ln>
            </p:spPr>
            <p:txBody>
              <a:bodyPr/>
              <a:lstStyle/>
              <a:p>
                <a:endParaRPr lang="zh-CN" altLang="en-US"/>
              </a:p>
            </p:txBody>
          </p:sp>
          <p:sp>
            <p:nvSpPr>
              <p:cNvPr id="63571" name="Freeform 74"/>
              <p:cNvSpPr>
                <a:spLocks/>
              </p:cNvSpPr>
              <p:nvPr/>
            </p:nvSpPr>
            <p:spPr bwMode="auto">
              <a:xfrm>
                <a:off x="2734" y="3153"/>
                <a:ext cx="30" cy="32"/>
              </a:xfrm>
              <a:custGeom>
                <a:avLst/>
                <a:gdLst>
                  <a:gd name="T0" fmla="*/ 32 w 28"/>
                  <a:gd name="T1" fmla="*/ 17 h 27"/>
                  <a:gd name="T2" fmla="*/ 18 w 28"/>
                  <a:gd name="T3" fmla="*/ 38 h 27"/>
                  <a:gd name="T4" fmla="*/ 0 w 28"/>
                  <a:gd name="T5" fmla="*/ 21 h 27"/>
                  <a:gd name="T6" fmla="*/ 14 w 28"/>
                  <a:gd name="T7" fmla="*/ 0 h 27"/>
                  <a:gd name="T8" fmla="*/ 32 w 28"/>
                  <a:gd name="T9" fmla="*/ 17 h 27"/>
                  <a:gd name="T10" fmla="*/ 32 w 28"/>
                  <a:gd name="T11" fmla="*/ 17 h 27"/>
                  <a:gd name="T12" fmla="*/ 0 60000 65536"/>
                  <a:gd name="T13" fmla="*/ 0 60000 65536"/>
                  <a:gd name="T14" fmla="*/ 0 60000 65536"/>
                  <a:gd name="T15" fmla="*/ 0 60000 65536"/>
                  <a:gd name="T16" fmla="*/ 0 60000 65536"/>
                  <a:gd name="T17" fmla="*/ 0 60000 65536"/>
                  <a:gd name="T18" fmla="*/ 0 w 28"/>
                  <a:gd name="T19" fmla="*/ 0 h 27"/>
                  <a:gd name="T20" fmla="*/ 28 w 28"/>
                  <a:gd name="T21" fmla="*/ 27 h 27"/>
                </a:gdLst>
                <a:ahLst/>
                <a:cxnLst>
                  <a:cxn ang="T12">
                    <a:pos x="T0" y="T1"/>
                  </a:cxn>
                  <a:cxn ang="T13">
                    <a:pos x="T2" y="T3"/>
                  </a:cxn>
                  <a:cxn ang="T14">
                    <a:pos x="T4" y="T5"/>
                  </a:cxn>
                  <a:cxn ang="T15">
                    <a:pos x="T6" y="T7"/>
                  </a:cxn>
                  <a:cxn ang="T16">
                    <a:pos x="T8" y="T9"/>
                  </a:cxn>
                  <a:cxn ang="T17">
                    <a:pos x="T10" y="T11"/>
                  </a:cxn>
                </a:cxnLst>
                <a:rect l="T18" t="T19" r="T20" b="T21"/>
                <a:pathLst>
                  <a:path w="28" h="27">
                    <a:moveTo>
                      <a:pt x="28" y="12"/>
                    </a:moveTo>
                    <a:lnTo>
                      <a:pt x="16" y="27"/>
                    </a:lnTo>
                    <a:lnTo>
                      <a:pt x="0" y="15"/>
                    </a:lnTo>
                    <a:lnTo>
                      <a:pt x="12" y="0"/>
                    </a:lnTo>
                    <a:lnTo>
                      <a:pt x="28" y="12"/>
                    </a:lnTo>
                    <a:close/>
                  </a:path>
                </a:pathLst>
              </a:custGeom>
              <a:noFill/>
              <a:ln w="1588">
                <a:solidFill>
                  <a:srgbClr val="000000"/>
                </a:solidFill>
                <a:round/>
                <a:headEnd/>
                <a:tailEnd/>
              </a:ln>
            </p:spPr>
            <p:txBody>
              <a:bodyPr/>
              <a:lstStyle/>
              <a:p>
                <a:endParaRPr lang="zh-CN" altLang="en-US"/>
              </a:p>
            </p:txBody>
          </p:sp>
          <p:sp>
            <p:nvSpPr>
              <p:cNvPr id="63572" name="Freeform 75"/>
              <p:cNvSpPr>
                <a:spLocks/>
              </p:cNvSpPr>
              <p:nvPr/>
            </p:nvSpPr>
            <p:spPr bwMode="auto">
              <a:xfrm>
                <a:off x="2708" y="3190"/>
                <a:ext cx="30" cy="32"/>
              </a:xfrm>
              <a:custGeom>
                <a:avLst/>
                <a:gdLst>
                  <a:gd name="T0" fmla="*/ 33 w 27"/>
                  <a:gd name="T1" fmla="*/ 14 h 29"/>
                  <a:gd name="T2" fmla="*/ 19 w 27"/>
                  <a:gd name="T3" fmla="*/ 35 h 29"/>
                  <a:gd name="T4" fmla="*/ 0 w 27"/>
                  <a:gd name="T5" fmla="*/ 21 h 29"/>
                  <a:gd name="T6" fmla="*/ 14 w 27"/>
                  <a:gd name="T7" fmla="*/ 0 h 29"/>
                  <a:gd name="T8" fmla="*/ 33 w 27"/>
                  <a:gd name="T9" fmla="*/ 14 h 29"/>
                  <a:gd name="T10" fmla="*/ 33 w 27"/>
                  <a:gd name="T11" fmla="*/ 14 h 29"/>
                  <a:gd name="T12" fmla="*/ 0 60000 65536"/>
                  <a:gd name="T13" fmla="*/ 0 60000 65536"/>
                  <a:gd name="T14" fmla="*/ 0 60000 65536"/>
                  <a:gd name="T15" fmla="*/ 0 60000 65536"/>
                  <a:gd name="T16" fmla="*/ 0 60000 65536"/>
                  <a:gd name="T17" fmla="*/ 0 60000 65536"/>
                  <a:gd name="T18" fmla="*/ 0 w 27"/>
                  <a:gd name="T19" fmla="*/ 0 h 29"/>
                  <a:gd name="T20" fmla="*/ 27 w 27"/>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27" h="29">
                    <a:moveTo>
                      <a:pt x="27" y="12"/>
                    </a:moveTo>
                    <a:lnTo>
                      <a:pt x="15" y="29"/>
                    </a:lnTo>
                    <a:lnTo>
                      <a:pt x="0" y="17"/>
                    </a:lnTo>
                    <a:lnTo>
                      <a:pt x="12" y="0"/>
                    </a:lnTo>
                    <a:lnTo>
                      <a:pt x="27" y="12"/>
                    </a:lnTo>
                    <a:close/>
                  </a:path>
                </a:pathLst>
              </a:custGeom>
              <a:noFill/>
              <a:ln w="1588">
                <a:solidFill>
                  <a:srgbClr val="000000"/>
                </a:solidFill>
                <a:round/>
                <a:headEnd/>
                <a:tailEnd/>
              </a:ln>
            </p:spPr>
            <p:txBody>
              <a:bodyPr/>
              <a:lstStyle/>
              <a:p>
                <a:endParaRPr lang="zh-CN" altLang="en-US"/>
              </a:p>
            </p:txBody>
          </p:sp>
          <p:sp>
            <p:nvSpPr>
              <p:cNvPr id="63573" name="Freeform 76"/>
              <p:cNvSpPr>
                <a:spLocks/>
              </p:cNvSpPr>
              <p:nvPr/>
            </p:nvSpPr>
            <p:spPr bwMode="auto">
              <a:xfrm>
                <a:off x="2683" y="3227"/>
                <a:ext cx="30" cy="32"/>
              </a:xfrm>
              <a:custGeom>
                <a:avLst/>
                <a:gdLst>
                  <a:gd name="T0" fmla="*/ 33 w 27"/>
                  <a:gd name="T1" fmla="*/ 16 h 28"/>
                  <a:gd name="T2" fmla="*/ 19 w 27"/>
                  <a:gd name="T3" fmla="*/ 37 h 28"/>
                  <a:gd name="T4" fmla="*/ 0 w 27"/>
                  <a:gd name="T5" fmla="*/ 21 h 28"/>
                  <a:gd name="T6" fmla="*/ 14 w 27"/>
                  <a:gd name="T7" fmla="*/ 0 h 28"/>
                  <a:gd name="T8" fmla="*/ 33 w 27"/>
                  <a:gd name="T9" fmla="*/ 16 h 28"/>
                  <a:gd name="T10" fmla="*/ 33 w 27"/>
                  <a:gd name="T11" fmla="*/ 16 h 28"/>
                  <a:gd name="T12" fmla="*/ 0 60000 65536"/>
                  <a:gd name="T13" fmla="*/ 0 60000 65536"/>
                  <a:gd name="T14" fmla="*/ 0 60000 65536"/>
                  <a:gd name="T15" fmla="*/ 0 60000 65536"/>
                  <a:gd name="T16" fmla="*/ 0 60000 65536"/>
                  <a:gd name="T17" fmla="*/ 0 60000 65536"/>
                  <a:gd name="T18" fmla="*/ 0 w 27"/>
                  <a:gd name="T19" fmla="*/ 0 h 28"/>
                  <a:gd name="T20" fmla="*/ 27 w 27"/>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7" h="28">
                    <a:moveTo>
                      <a:pt x="27" y="12"/>
                    </a:moveTo>
                    <a:lnTo>
                      <a:pt x="15" y="28"/>
                    </a:lnTo>
                    <a:lnTo>
                      <a:pt x="0" y="16"/>
                    </a:lnTo>
                    <a:lnTo>
                      <a:pt x="12" y="0"/>
                    </a:lnTo>
                    <a:lnTo>
                      <a:pt x="27" y="12"/>
                    </a:lnTo>
                    <a:close/>
                  </a:path>
                </a:pathLst>
              </a:custGeom>
              <a:noFill/>
              <a:ln w="1588">
                <a:solidFill>
                  <a:srgbClr val="000000"/>
                </a:solidFill>
                <a:round/>
                <a:headEnd/>
                <a:tailEnd/>
              </a:ln>
            </p:spPr>
            <p:txBody>
              <a:bodyPr/>
              <a:lstStyle/>
              <a:p>
                <a:endParaRPr lang="zh-CN" altLang="en-US"/>
              </a:p>
            </p:txBody>
          </p:sp>
          <p:sp>
            <p:nvSpPr>
              <p:cNvPr id="63574" name="Freeform 77"/>
              <p:cNvSpPr>
                <a:spLocks noEditPoints="1"/>
              </p:cNvSpPr>
              <p:nvPr/>
            </p:nvSpPr>
            <p:spPr bwMode="auto">
              <a:xfrm>
                <a:off x="3294" y="3150"/>
                <a:ext cx="260" cy="126"/>
              </a:xfrm>
              <a:custGeom>
                <a:avLst/>
                <a:gdLst>
                  <a:gd name="T0" fmla="*/ 0 w 245"/>
                  <a:gd name="T1" fmla="*/ 127 h 109"/>
                  <a:gd name="T2" fmla="*/ 206 w 245"/>
                  <a:gd name="T3" fmla="*/ 35 h 109"/>
                  <a:gd name="T4" fmla="*/ 213 w 245"/>
                  <a:gd name="T5" fmla="*/ 57 h 109"/>
                  <a:gd name="T6" fmla="*/ 6 w 245"/>
                  <a:gd name="T7" fmla="*/ 146 h 109"/>
                  <a:gd name="T8" fmla="*/ 0 w 245"/>
                  <a:gd name="T9" fmla="*/ 127 h 109"/>
                  <a:gd name="T10" fmla="*/ 0 w 245"/>
                  <a:gd name="T11" fmla="*/ 127 h 109"/>
                  <a:gd name="T12" fmla="*/ 209 w 245"/>
                  <a:gd name="T13" fmla="*/ 46 h 109"/>
                  <a:gd name="T14" fmla="*/ 158 w 245"/>
                  <a:gd name="T15" fmla="*/ 0 h 109"/>
                  <a:gd name="T16" fmla="*/ 276 w 245"/>
                  <a:gd name="T17" fmla="*/ 16 h 109"/>
                  <a:gd name="T18" fmla="*/ 194 w 245"/>
                  <a:gd name="T19" fmla="*/ 120 h 109"/>
                  <a:gd name="T20" fmla="*/ 209 w 245"/>
                  <a:gd name="T21" fmla="*/ 46 h 109"/>
                  <a:gd name="T22" fmla="*/ 209 w 245"/>
                  <a:gd name="T23" fmla="*/ 46 h 10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5"/>
                  <a:gd name="T37" fmla="*/ 0 h 109"/>
                  <a:gd name="T38" fmla="*/ 245 w 245"/>
                  <a:gd name="T39" fmla="*/ 109 h 10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5" h="109">
                    <a:moveTo>
                      <a:pt x="0" y="95"/>
                    </a:moveTo>
                    <a:lnTo>
                      <a:pt x="183" y="26"/>
                    </a:lnTo>
                    <a:lnTo>
                      <a:pt x="189" y="42"/>
                    </a:lnTo>
                    <a:lnTo>
                      <a:pt x="6" y="109"/>
                    </a:lnTo>
                    <a:lnTo>
                      <a:pt x="0" y="95"/>
                    </a:lnTo>
                    <a:close/>
                    <a:moveTo>
                      <a:pt x="186" y="35"/>
                    </a:moveTo>
                    <a:lnTo>
                      <a:pt x="140" y="0"/>
                    </a:lnTo>
                    <a:lnTo>
                      <a:pt x="245" y="12"/>
                    </a:lnTo>
                    <a:lnTo>
                      <a:pt x="172" y="90"/>
                    </a:lnTo>
                    <a:lnTo>
                      <a:pt x="186" y="35"/>
                    </a:lnTo>
                    <a:close/>
                  </a:path>
                </a:pathLst>
              </a:custGeom>
              <a:solidFill>
                <a:srgbClr val="000000"/>
              </a:solidFill>
              <a:ln w="9525">
                <a:noFill/>
                <a:round/>
                <a:headEnd/>
                <a:tailEnd/>
              </a:ln>
            </p:spPr>
            <p:txBody>
              <a:bodyPr/>
              <a:lstStyle/>
              <a:p>
                <a:endParaRPr lang="zh-CN" altLang="en-US"/>
              </a:p>
            </p:txBody>
          </p:sp>
          <p:sp>
            <p:nvSpPr>
              <p:cNvPr id="63575" name="Freeform 78"/>
              <p:cNvSpPr>
                <a:spLocks/>
              </p:cNvSpPr>
              <p:nvPr/>
            </p:nvSpPr>
            <p:spPr bwMode="auto">
              <a:xfrm>
                <a:off x="3294" y="3181"/>
                <a:ext cx="200" cy="95"/>
              </a:xfrm>
              <a:custGeom>
                <a:avLst/>
                <a:gdLst>
                  <a:gd name="T0" fmla="*/ 0 w 189"/>
                  <a:gd name="T1" fmla="*/ 90 h 83"/>
                  <a:gd name="T2" fmla="*/ 205 w 189"/>
                  <a:gd name="T3" fmla="*/ 0 h 83"/>
                  <a:gd name="T4" fmla="*/ 212 w 189"/>
                  <a:gd name="T5" fmla="*/ 21 h 83"/>
                  <a:gd name="T6" fmla="*/ 6 w 189"/>
                  <a:gd name="T7" fmla="*/ 109 h 83"/>
                  <a:gd name="T8" fmla="*/ 0 w 189"/>
                  <a:gd name="T9" fmla="*/ 90 h 83"/>
                  <a:gd name="T10" fmla="*/ 0 w 189"/>
                  <a:gd name="T11" fmla="*/ 90 h 83"/>
                  <a:gd name="T12" fmla="*/ 0 60000 65536"/>
                  <a:gd name="T13" fmla="*/ 0 60000 65536"/>
                  <a:gd name="T14" fmla="*/ 0 60000 65536"/>
                  <a:gd name="T15" fmla="*/ 0 60000 65536"/>
                  <a:gd name="T16" fmla="*/ 0 60000 65536"/>
                  <a:gd name="T17" fmla="*/ 0 60000 65536"/>
                  <a:gd name="T18" fmla="*/ 0 w 189"/>
                  <a:gd name="T19" fmla="*/ 0 h 83"/>
                  <a:gd name="T20" fmla="*/ 189 w 189"/>
                  <a:gd name="T21" fmla="*/ 83 h 83"/>
                </a:gdLst>
                <a:ahLst/>
                <a:cxnLst>
                  <a:cxn ang="T12">
                    <a:pos x="T0" y="T1"/>
                  </a:cxn>
                  <a:cxn ang="T13">
                    <a:pos x="T2" y="T3"/>
                  </a:cxn>
                  <a:cxn ang="T14">
                    <a:pos x="T4" y="T5"/>
                  </a:cxn>
                  <a:cxn ang="T15">
                    <a:pos x="T6" y="T7"/>
                  </a:cxn>
                  <a:cxn ang="T16">
                    <a:pos x="T8" y="T9"/>
                  </a:cxn>
                  <a:cxn ang="T17">
                    <a:pos x="T10" y="T11"/>
                  </a:cxn>
                </a:cxnLst>
                <a:rect l="T18" t="T19" r="T20" b="T21"/>
                <a:pathLst>
                  <a:path w="189" h="83">
                    <a:moveTo>
                      <a:pt x="0" y="69"/>
                    </a:moveTo>
                    <a:lnTo>
                      <a:pt x="183" y="0"/>
                    </a:lnTo>
                    <a:lnTo>
                      <a:pt x="189" y="16"/>
                    </a:lnTo>
                    <a:lnTo>
                      <a:pt x="6" y="83"/>
                    </a:lnTo>
                    <a:lnTo>
                      <a:pt x="0" y="69"/>
                    </a:lnTo>
                    <a:close/>
                  </a:path>
                </a:pathLst>
              </a:custGeom>
              <a:noFill/>
              <a:ln w="1588">
                <a:solidFill>
                  <a:srgbClr val="000000"/>
                </a:solidFill>
                <a:round/>
                <a:headEnd/>
                <a:tailEnd/>
              </a:ln>
            </p:spPr>
            <p:txBody>
              <a:bodyPr/>
              <a:lstStyle/>
              <a:p>
                <a:endParaRPr lang="zh-CN" altLang="en-US"/>
              </a:p>
            </p:txBody>
          </p:sp>
          <p:sp>
            <p:nvSpPr>
              <p:cNvPr id="63576" name="Freeform 79"/>
              <p:cNvSpPr>
                <a:spLocks/>
              </p:cNvSpPr>
              <p:nvPr/>
            </p:nvSpPr>
            <p:spPr bwMode="auto">
              <a:xfrm>
                <a:off x="3441" y="3150"/>
                <a:ext cx="113" cy="105"/>
              </a:xfrm>
              <a:custGeom>
                <a:avLst/>
                <a:gdLst>
                  <a:gd name="T0" fmla="*/ 54 w 105"/>
                  <a:gd name="T1" fmla="*/ 48 h 90"/>
                  <a:gd name="T2" fmla="*/ 0 w 105"/>
                  <a:gd name="T3" fmla="*/ 0 h 90"/>
                  <a:gd name="T4" fmla="*/ 122 w 105"/>
                  <a:gd name="T5" fmla="*/ 16 h 90"/>
                  <a:gd name="T6" fmla="*/ 37 w 105"/>
                  <a:gd name="T7" fmla="*/ 122 h 90"/>
                  <a:gd name="T8" fmla="*/ 54 w 105"/>
                  <a:gd name="T9" fmla="*/ 48 h 90"/>
                  <a:gd name="T10" fmla="*/ 54 w 105"/>
                  <a:gd name="T11" fmla="*/ 48 h 90"/>
                  <a:gd name="T12" fmla="*/ 0 60000 65536"/>
                  <a:gd name="T13" fmla="*/ 0 60000 65536"/>
                  <a:gd name="T14" fmla="*/ 0 60000 65536"/>
                  <a:gd name="T15" fmla="*/ 0 60000 65536"/>
                  <a:gd name="T16" fmla="*/ 0 60000 65536"/>
                  <a:gd name="T17" fmla="*/ 0 60000 65536"/>
                  <a:gd name="T18" fmla="*/ 0 w 105"/>
                  <a:gd name="T19" fmla="*/ 0 h 90"/>
                  <a:gd name="T20" fmla="*/ 105 w 105"/>
                  <a:gd name="T21" fmla="*/ 90 h 90"/>
                </a:gdLst>
                <a:ahLst/>
                <a:cxnLst>
                  <a:cxn ang="T12">
                    <a:pos x="T0" y="T1"/>
                  </a:cxn>
                  <a:cxn ang="T13">
                    <a:pos x="T2" y="T3"/>
                  </a:cxn>
                  <a:cxn ang="T14">
                    <a:pos x="T4" y="T5"/>
                  </a:cxn>
                  <a:cxn ang="T15">
                    <a:pos x="T6" y="T7"/>
                  </a:cxn>
                  <a:cxn ang="T16">
                    <a:pos x="T8" y="T9"/>
                  </a:cxn>
                  <a:cxn ang="T17">
                    <a:pos x="T10" y="T11"/>
                  </a:cxn>
                </a:cxnLst>
                <a:rect l="T18" t="T19" r="T20" b="T21"/>
                <a:pathLst>
                  <a:path w="105" h="90">
                    <a:moveTo>
                      <a:pt x="46" y="35"/>
                    </a:moveTo>
                    <a:lnTo>
                      <a:pt x="0" y="0"/>
                    </a:lnTo>
                    <a:lnTo>
                      <a:pt x="105" y="12"/>
                    </a:lnTo>
                    <a:lnTo>
                      <a:pt x="32" y="90"/>
                    </a:lnTo>
                    <a:lnTo>
                      <a:pt x="46" y="35"/>
                    </a:lnTo>
                    <a:close/>
                  </a:path>
                </a:pathLst>
              </a:custGeom>
              <a:noFill/>
              <a:ln w="1588">
                <a:solidFill>
                  <a:srgbClr val="000000"/>
                </a:solidFill>
                <a:round/>
                <a:headEnd/>
                <a:tailEnd/>
              </a:ln>
            </p:spPr>
            <p:txBody>
              <a:bodyPr/>
              <a:lstStyle/>
              <a:p>
                <a:endParaRPr lang="zh-CN" altLang="en-US"/>
              </a:p>
            </p:txBody>
          </p:sp>
          <p:sp>
            <p:nvSpPr>
              <p:cNvPr id="63577" name="Freeform 80"/>
              <p:cNvSpPr>
                <a:spLocks noEditPoints="1"/>
              </p:cNvSpPr>
              <p:nvPr/>
            </p:nvSpPr>
            <p:spPr bwMode="auto">
              <a:xfrm>
                <a:off x="3287" y="2925"/>
                <a:ext cx="150" cy="332"/>
              </a:xfrm>
              <a:custGeom>
                <a:avLst/>
                <a:gdLst>
                  <a:gd name="T0" fmla="*/ 0 w 140"/>
                  <a:gd name="T1" fmla="*/ 376 h 287"/>
                  <a:gd name="T2" fmla="*/ 118 w 140"/>
                  <a:gd name="T3" fmla="*/ 74 h 287"/>
                  <a:gd name="T4" fmla="*/ 134 w 140"/>
                  <a:gd name="T5" fmla="*/ 83 h 287"/>
                  <a:gd name="T6" fmla="*/ 17 w 140"/>
                  <a:gd name="T7" fmla="*/ 384 h 287"/>
                  <a:gd name="T8" fmla="*/ 0 w 140"/>
                  <a:gd name="T9" fmla="*/ 376 h 287"/>
                  <a:gd name="T10" fmla="*/ 0 w 140"/>
                  <a:gd name="T11" fmla="*/ 376 h 287"/>
                  <a:gd name="T12" fmla="*/ 126 w 140"/>
                  <a:gd name="T13" fmla="*/ 78 h 287"/>
                  <a:gd name="T14" fmla="*/ 60 w 140"/>
                  <a:gd name="T15" fmla="*/ 91 h 287"/>
                  <a:gd name="T16" fmla="*/ 156 w 140"/>
                  <a:gd name="T17" fmla="*/ 0 h 287"/>
                  <a:gd name="T18" fmla="*/ 161 w 140"/>
                  <a:gd name="T19" fmla="*/ 145 h 287"/>
                  <a:gd name="T20" fmla="*/ 126 w 140"/>
                  <a:gd name="T21" fmla="*/ 78 h 287"/>
                  <a:gd name="T22" fmla="*/ 126 w 140"/>
                  <a:gd name="T23" fmla="*/ 78 h 28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0"/>
                  <a:gd name="T37" fmla="*/ 0 h 287"/>
                  <a:gd name="T38" fmla="*/ 140 w 140"/>
                  <a:gd name="T39" fmla="*/ 287 h 28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0" h="287">
                    <a:moveTo>
                      <a:pt x="0" y="281"/>
                    </a:moveTo>
                    <a:lnTo>
                      <a:pt x="103" y="55"/>
                    </a:lnTo>
                    <a:lnTo>
                      <a:pt x="117" y="62"/>
                    </a:lnTo>
                    <a:lnTo>
                      <a:pt x="15" y="287"/>
                    </a:lnTo>
                    <a:lnTo>
                      <a:pt x="0" y="281"/>
                    </a:lnTo>
                    <a:close/>
                    <a:moveTo>
                      <a:pt x="110" y="58"/>
                    </a:moveTo>
                    <a:lnTo>
                      <a:pt x="52" y="68"/>
                    </a:lnTo>
                    <a:lnTo>
                      <a:pt x="136" y="0"/>
                    </a:lnTo>
                    <a:lnTo>
                      <a:pt x="140" y="108"/>
                    </a:lnTo>
                    <a:lnTo>
                      <a:pt x="110" y="58"/>
                    </a:lnTo>
                    <a:close/>
                  </a:path>
                </a:pathLst>
              </a:custGeom>
              <a:solidFill>
                <a:srgbClr val="000000"/>
              </a:solidFill>
              <a:ln w="9525">
                <a:noFill/>
                <a:round/>
                <a:headEnd/>
                <a:tailEnd/>
              </a:ln>
            </p:spPr>
            <p:txBody>
              <a:bodyPr/>
              <a:lstStyle/>
              <a:p>
                <a:endParaRPr lang="zh-CN" altLang="en-US"/>
              </a:p>
            </p:txBody>
          </p:sp>
          <p:sp>
            <p:nvSpPr>
              <p:cNvPr id="63578" name="Freeform 81"/>
              <p:cNvSpPr>
                <a:spLocks/>
              </p:cNvSpPr>
              <p:nvPr/>
            </p:nvSpPr>
            <p:spPr bwMode="auto">
              <a:xfrm>
                <a:off x="3287" y="2988"/>
                <a:ext cx="124" cy="269"/>
              </a:xfrm>
              <a:custGeom>
                <a:avLst/>
                <a:gdLst>
                  <a:gd name="T0" fmla="*/ 0 w 117"/>
                  <a:gd name="T1" fmla="*/ 304 h 232"/>
                  <a:gd name="T2" fmla="*/ 116 w 117"/>
                  <a:gd name="T3" fmla="*/ 0 h 232"/>
                  <a:gd name="T4" fmla="*/ 131 w 117"/>
                  <a:gd name="T5" fmla="*/ 9 h 232"/>
                  <a:gd name="T6" fmla="*/ 17 w 117"/>
                  <a:gd name="T7" fmla="*/ 312 h 232"/>
                  <a:gd name="T8" fmla="*/ 0 w 117"/>
                  <a:gd name="T9" fmla="*/ 304 h 232"/>
                  <a:gd name="T10" fmla="*/ 0 w 117"/>
                  <a:gd name="T11" fmla="*/ 304 h 232"/>
                  <a:gd name="T12" fmla="*/ 0 60000 65536"/>
                  <a:gd name="T13" fmla="*/ 0 60000 65536"/>
                  <a:gd name="T14" fmla="*/ 0 60000 65536"/>
                  <a:gd name="T15" fmla="*/ 0 60000 65536"/>
                  <a:gd name="T16" fmla="*/ 0 60000 65536"/>
                  <a:gd name="T17" fmla="*/ 0 60000 65536"/>
                  <a:gd name="T18" fmla="*/ 0 w 117"/>
                  <a:gd name="T19" fmla="*/ 0 h 232"/>
                  <a:gd name="T20" fmla="*/ 117 w 117"/>
                  <a:gd name="T21" fmla="*/ 232 h 232"/>
                </a:gdLst>
                <a:ahLst/>
                <a:cxnLst>
                  <a:cxn ang="T12">
                    <a:pos x="T0" y="T1"/>
                  </a:cxn>
                  <a:cxn ang="T13">
                    <a:pos x="T2" y="T3"/>
                  </a:cxn>
                  <a:cxn ang="T14">
                    <a:pos x="T4" y="T5"/>
                  </a:cxn>
                  <a:cxn ang="T15">
                    <a:pos x="T6" y="T7"/>
                  </a:cxn>
                  <a:cxn ang="T16">
                    <a:pos x="T8" y="T9"/>
                  </a:cxn>
                  <a:cxn ang="T17">
                    <a:pos x="T10" y="T11"/>
                  </a:cxn>
                </a:cxnLst>
                <a:rect l="T18" t="T19" r="T20" b="T21"/>
                <a:pathLst>
                  <a:path w="117" h="232">
                    <a:moveTo>
                      <a:pt x="0" y="226"/>
                    </a:moveTo>
                    <a:lnTo>
                      <a:pt x="103" y="0"/>
                    </a:lnTo>
                    <a:lnTo>
                      <a:pt x="117" y="7"/>
                    </a:lnTo>
                    <a:lnTo>
                      <a:pt x="15" y="232"/>
                    </a:lnTo>
                    <a:lnTo>
                      <a:pt x="0" y="226"/>
                    </a:lnTo>
                    <a:close/>
                  </a:path>
                </a:pathLst>
              </a:custGeom>
              <a:noFill/>
              <a:ln w="1588">
                <a:solidFill>
                  <a:srgbClr val="000000"/>
                </a:solidFill>
                <a:round/>
                <a:headEnd/>
                <a:tailEnd/>
              </a:ln>
            </p:spPr>
            <p:txBody>
              <a:bodyPr/>
              <a:lstStyle/>
              <a:p>
                <a:endParaRPr lang="zh-CN" altLang="en-US"/>
              </a:p>
            </p:txBody>
          </p:sp>
          <p:sp>
            <p:nvSpPr>
              <p:cNvPr id="63579" name="Freeform 82"/>
              <p:cNvSpPr>
                <a:spLocks/>
              </p:cNvSpPr>
              <p:nvPr/>
            </p:nvSpPr>
            <p:spPr bwMode="auto">
              <a:xfrm>
                <a:off x="3343" y="2925"/>
                <a:ext cx="94" cy="126"/>
              </a:xfrm>
              <a:custGeom>
                <a:avLst/>
                <a:gdLst>
                  <a:gd name="T0" fmla="*/ 66 w 88"/>
                  <a:gd name="T1" fmla="*/ 79 h 108"/>
                  <a:gd name="T2" fmla="*/ 0 w 88"/>
                  <a:gd name="T3" fmla="*/ 92 h 108"/>
                  <a:gd name="T4" fmla="*/ 96 w 88"/>
                  <a:gd name="T5" fmla="*/ 0 h 108"/>
                  <a:gd name="T6" fmla="*/ 100 w 88"/>
                  <a:gd name="T7" fmla="*/ 147 h 108"/>
                  <a:gd name="T8" fmla="*/ 66 w 88"/>
                  <a:gd name="T9" fmla="*/ 79 h 108"/>
                  <a:gd name="T10" fmla="*/ 66 w 88"/>
                  <a:gd name="T11" fmla="*/ 79 h 108"/>
                  <a:gd name="T12" fmla="*/ 0 60000 65536"/>
                  <a:gd name="T13" fmla="*/ 0 60000 65536"/>
                  <a:gd name="T14" fmla="*/ 0 60000 65536"/>
                  <a:gd name="T15" fmla="*/ 0 60000 65536"/>
                  <a:gd name="T16" fmla="*/ 0 60000 65536"/>
                  <a:gd name="T17" fmla="*/ 0 60000 65536"/>
                  <a:gd name="T18" fmla="*/ 0 w 88"/>
                  <a:gd name="T19" fmla="*/ 0 h 108"/>
                  <a:gd name="T20" fmla="*/ 88 w 88"/>
                  <a:gd name="T21" fmla="*/ 108 h 108"/>
                </a:gdLst>
                <a:ahLst/>
                <a:cxnLst>
                  <a:cxn ang="T12">
                    <a:pos x="T0" y="T1"/>
                  </a:cxn>
                  <a:cxn ang="T13">
                    <a:pos x="T2" y="T3"/>
                  </a:cxn>
                  <a:cxn ang="T14">
                    <a:pos x="T4" y="T5"/>
                  </a:cxn>
                  <a:cxn ang="T15">
                    <a:pos x="T6" y="T7"/>
                  </a:cxn>
                  <a:cxn ang="T16">
                    <a:pos x="T8" y="T9"/>
                  </a:cxn>
                  <a:cxn ang="T17">
                    <a:pos x="T10" y="T11"/>
                  </a:cxn>
                </a:cxnLst>
                <a:rect l="T18" t="T19" r="T20" b="T21"/>
                <a:pathLst>
                  <a:path w="88" h="108">
                    <a:moveTo>
                      <a:pt x="58" y="58"/>
                    </a:moveTo>
                    <a:lnTo>
                      <a:pt x="0" y="68"/>
                    </a:lnTo>
                    <a:lnTo>
                      <a:pt x="84" y="0"/>
                    </a:lnTo>
                    <a:lnTo>
                      <a:pt x="88" y="108"/>
                    </a:lnTo>
                    <a:lnTo>
                      <a:pt x="58" y="58"/>
                    </a:lnTo>
                    <a:close/>
                  </a:path>
                </a:pathLst>
              </a:custGeom>
              <a:noFill/>
              <a:ln w="1588">
                <a:solidFill>
                  <a:srgbClr val="000000"/>
                </a:solidFill>
                <a:round/>
                <a:headEnd/>
                <a:tailEnd/>
              </a:ln>
            </p:spPr>
            <p:txBody>
              <a:bodyPr/>
              <a:lstStyle/>
              <a:p>
                <a:endParaRPr lang="zh-CN" altLang="en-US"/>
              </a:p>
            </p:txBody>
          </p:sp>
          <p:sp>
            <p:nvSpPr>
              <p:cNvPr id="63580" name="Freeform 83"/>
              <p:cNvSpPr>
                <a:spLocks noEditPoints="1"/>
              </p:cNvSpPr>
              <p:nvPr/>
            </p:nvSpPr>
            <p:spPr bwMode="auto">
              <a:xfrm>
                <a:off x="3146" y="3262"/>
                <a:ext cx="156" cy="213"/>
              </a:xfrm>
              <a:custGeom>
                <a:avLst/>
                <a:gdLst>
                  <a:gd name="T0" fmla="*/ 166 w 147"/>
                  <a:gd name="T1" fmla="*/ 14 h 184"/>
                  <a:gd name="T2" fmla="*/ 52 w 147"/>
                  <a:gd name="T3" fmla="*/ 188 h 184"/>
                  <a:gd name="T4" fmla="*/ 38 w 147"/>
                  <a:gd name="T5" fmla="*/ 172 h 184"/>
                  <a:gd name="T6" fmla="*/ 152 w 147"/>
                  <a:gd name="T7" fmla="*/ 0 h 184"/>
                  <a:gd name="T8" fmla="*/ 166 w 147"/>
                  <a:gd name="T9" fmla="*/ 14 h 184"/>
                  <a:gd name="T10" fmla="*/ 166 w 147"/>
                  <a:gd name="T11" fmla="*/ 14 h 184"/>
                  <a:gd name="T12" fmla="*/ 45 w 147"/>
                  <a:gd name="T13" fmla="*/ 179 h 184"/>
                  <a:gd name="T14" fmla="*/ 109 w 147"/>
                  <a:gd name="T15" fmla="*/ 185 h 184"/>
                  <a:gd name="T16" fmla="*/ 0 w 147"/>
                  <a:gd name="T17" fmla="*/ 247 h 184"/>
                  <a:gd name="T18" fmla="*/ 24 w 147"/>
                  <a:gd name="T19" fmla="*/ 108 h 184"/>
                  <a:gd name="T20" fmla="*/ 45 w 147"/>
                  <a:gd name="T21" fmla="*/ 179 h 184"/>
                  <a:gd name="T22" fmla="*/ 45 w 147"/>
                  <a:gd name="T23" fmla="*/ 179 h 1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7"/>
                  <a:gd name="T37" fmla="*/ 0 h 184"/>
                  <a:gd name="T38" fmla="*/ 147 w 147"/>
                  <a:gd name="T39" fmla="*/ 184 h 1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7" h="184">
                    <a:moveTo>
                      <a:pt x="147" y="10"/>
                    </a:moveTo>
                    <a:lnTo>
                      <a:pt x="46" y="140"/>
                    </a:lnTo>
                    <a:lnTo>
                      <a:pt x="34" y="129"/>
                    </a:lnTo>
                    <a:lnTo>
                      <a:pt x="135" y="0"/>
                    </a:lnTo>
                    <a:lnTo>
                      <a:pt x="147" y="10"/>
                    </a:lnTo>
                    <a:close/>
                    <a:moveTo>
                      <a:pt x="40" y="134"/>
                    </a:moveTo>
                    <a:lnTo>
                      <a:pt x="97" y="138"/>
                    </a:lnTo>
                    <a:lnTo>
                      <a:pt x="0" y="184"/>
                    </a:lnTo>
                    <a:lnTo>
                      <a:pt x="22" y="80"/>
                    </a:lnTo>
                    <a:lnTo>
                      <a:pt x="40" y="134"/>
                    </a:lnTo>
                    <a:close/>
                  </a:path>
                </a:pathLst>
              </a:custGeom>
              <a:solidFill>
                <a:srgbClr val="000000"/>
              </a:solidFill>
              <a:ln w="9525">
                <a:noFill/>
                <a:round/>
                <a:headEnd/>
                <a:tailEnd/>
              </a:ln>
            </p:spPr>
            <p:txBody>
              <a:bodyPr/>
              <a:lstStyle/>
              <a:p>
                <a:endParaRPr lang="zh-CN" altLang="en-US"/>
              </a:p>
            </p:txBody>
          </p:sp>
          <p:sp>
            <p:nvSpPr>
              <p:cNvPr id="63581" name="Freeform 84"/>
              <p:cNvSpPr>
                <a:spLocks/>
              </p:cNvSpPr>
              <p:nvPr/>
            </p:nvSpPr>
            <p:spPr bwMode="auto">
              <a:xfrm>
                <a:off x="3180" y="3262"/>
                <a:ext cx="122" cy="162"/>
              </a:xfrm>
              <a:custGeom>
                <a:avLst/>
                <a:gdLst>
                  <a:gd name="T0" fmla="*/ 132 w 113"/>
                  <a:gd name="T1" fmla="*/ 14 h 140"/>
                  <a:gd name="T2" fmla="*/ 14 w 113"/>
                  <a:gd name="T3" fmla="*/ 187 h 140"/>
                  <a:gd name="T4" fmla="*/ 0 w 113"/>
                  <a:gd name="T5" fmla="*/ 172 h 140"/>
                  <a:gd name="T6" fmla="*/ 118 w 113"/>
                  <a:gd name="T7" fmla="*/ 0 h 140"/>
                  <a:gd name="T8" fmla="*/ 132 w 113"/>
                  <a:gd name="T9" fmla="*/ 14 h 140"/>
                  <a:gd name="T10" fmla="*/ 132 w 113"/>
                  <a:gd name="T11" fmla="*/ 14 h 140"/>
                  <a:gd name="T12" fmla="*/ 0 60000 65536"/>
                  <a:gd name="T13" fmla="*/ 0 60000 65536"/>
                  <a:gd name="T14" fmla="*/ 0 60000 65536"/>
                  <a:gd name="T15" fmla="*/ 0 60000 65536"/>
                  <a:gd name="T16" fmla="*/ 0 60000 65536"/>
                  <a:gd name="T17" fmla="*/ 0 60000 65536"/>
                  <a:gd name="T18" fmla="*/ 0 w 113"/>
                  <a:gd name="T19" fmla="*/ 0 h 140"/>
                  <a:gd name="T20" fmla="*/ 113 w 113"/>
                  <a:gd name="T21" fmla="*/ 140 h 140"/>
                </a:gdLst>
                <a:ahLst/>
                <a:cxnLst>
                  <a:cxn ang="T12">
                    <a:pos x="T0" y="T1"/>
                  </a:cxn>
                  <a:cxn ang="T13">
                    <a:pos x="T2" y="T3"/>
                  </a:cxn>
                  <a:cxn ang="T14">
                    <a:pos x="T4" y="T5"/>
                  </a:cxn>
                  <a:cxn ang="T15">
                    <a:pos x="T6" y="T7"/>
                  </a:cxn>
                  <a:cxn ang="T16">
                    <a:pos x="T8" y="T9"/>
                  </a:cxn>
                  <a:cxn ang="T17">
                    <a:pos x="T10" y="T11"/>
                  </a:cxn>
                </a:cxnLst>
                <a:rect l="T18" t="T19" r="T20" b="T21"/>
                <a:pathLst>
                  <a:path w="113" h="140">
                    <a:moveTo>
                      <a:pt x="113" y="10"/>
                    </a:moveTo>
                    <a:lnTo>
                      <a:pt x="12" y="140"/>
                    </a:lnTo>
                    <a:lnTo>
                      <a:pt x="0" y="129"/>
                    </a:lnTo>
                    <a:lnTo>
                      <a:pt x="101" y="0"/>
                    </a:lnTo>
                    <a:lnTo>
                      <a:pt x="113" y="10"/>
                    </a:lnTo>
                    <a:close/>
                  </a:path>
                </a:pathLst>
              </a:custGeom>
              <a:noFill/>
              <a:ln w="1588">
                <a:solidFill>
                  <a:srgbClr val="000000"/>
                </a:solidFill>
                <a:round/>
                <a:headEnd/>
                <a:tailEnd/>
              </a:ln>
            </p:spPr>
            <p:txBody>
              <a:bodyPr/>
              <a:lstStyle/>
              <a:p>
                <a:endParaRPr lang="zh-CN" altLang="en-US"/>
              </a:p>
            </p:txBody>
          </p:sp>
          <p:sp>
            <p:nvSpPr>
              <p:cNvPr id="63582" name="Freeform 85"/>
              <p:cNvSpPr>
                <a:spLocks/>
              </p:cNvSpPr>
              <p:nvPr/>
            </p:nvSpPr>
            <p:spPr bwMode="auto">
              <a:xfrm>
                <a:off x="3146" y="3354"/>
                <a:ext cx="103" cy="121"/>
              </a:xfrm>
              <a:custGeom>
                <a:avLst/>
                <a:gdLst>
                  <a:gd name="T0" fmla="*/ 45 w 97"/>
                  <a:gd name="T1" fmla="*/ 73 h 104"/>
                  <a:gd name="T2" fmla="*/ 109 w 97"/>
                  <a:gd name="T3" fmla="*/ 78 h 104"/>
                  <a:gd name="T4" fmla="*/ 0 w 97"/>
                  <a:gd name="T5" fmla="*/ 141 h 104"/>
                  <a:gd name="T6" fmla="*/ 24 w 97"/>
                  <a:gd name="T7" fmla="*/ 0 h 104"/>
                  <a:gd name="T8" fmla="*/ 45 w 97"/>
                  <a:gd name="T9" fmla="*/ 73 h 104"/>
                  <a:gd name="T10" fmla="*/ 45 w 97"/>
                  <a:gd name="T11" fmla="*/ 73 h 104"/>
                  <a:gd name="T12" fmla="*/ 0 60000 65536"/>
                  <a:gd name="T13" fmla="*/ 0 60000 65536"/>
                  <a:gd name="T14" fmla="*/ 0 60000 65536"/>
                  <a:gd name="T15" fmla="*/ 0 60000 65536"/>
                  <a:gd name="T16" fmla="*/ 0 60000 65536"/>
                  <a:gd name="T17" fmla="*/ 0 60000 65536"/>
                  <a:gd name="T18" fmla="*/ 0 w 97"/>
                  <a:gd name="T19" fmla="*/ 0 h 104"/>
                  <a:gd name="T20" fmla="*/ 97 w 97"/>
                  <a:gd name="T21" fmla="*/ 104 h 104"/>
                </a:gdLst>
                <a:ahLst/>
                <a:cxnLst>
                  <a:cxn ang="T12">
                    <a:pos x="T0" y="T1"/>
                  </a:cxn>
                  <a:cxn ang="T13">
                    <a:pos x="T2" y="T3"/>
                  </a:cxn>
                  <a:cxn ang="T14">
                    <a:pos x="T4" y="T5"/>
                  </a:cxn>
                  <a:cxn ang="T15">
                    <a:pos x="T6" y="T7"/>
                  </a:cxn>
                  <a:cxn ang="T16">
                    <a:pos x="T8" y="T9"/>
                  </a:cxn>
                  <a:cxn ang="T17">
                    <a:pos x="T10" y="T11"/>
                  </a:cxn>
                </a:cxnLst>
                <a:rect l="T18" t="T19" r="T20" b="T21"/>
                <a:pathLst>
                  <a:path w="97" h="104">
                    <a:moveTo>
                      <a:pt x="40" y="54"/>
                    </a:moveTo>
                    <a:lnTo>
                      <a:pt x="97" y="58"/>
                    </a:lnTo>
                    <a:lnTo>
                      <a:pt x="0" y="104"/>
                    </a:lnTo>
                    <a:lnTo>
                      <a:pt x="22" y="0"/>
                    </a:lnTo>
                    <a:lnTo>
                      <a:pt x="40" y="54"/>
                    </a:lnTo>
                    <a:close/>
                  </a:path>
                </a:pathLst>
              </a:custGeom>
              <a:noFill/>
              <a:ln w="1588">
                <a:solidFill>
                  <a:srgbClr val="000000"/>
                </a:solidFill>
                <a:round/>
                <a:headEnd/>
                <a:tailEnd/>
              </a:ln>
            </p:spPr>
            <p:txBody>
              <a:bodyPr/>
              <a:lstStyle/>
              <a:p>
                <a:endParaRPr lang="zh-CN" altLang="en-US"/>
              </a:p>
            </p:txBody>
          </p:sp>
          <p:sp>
            <p:nvSpPr>
              <p:cNvPr id="63583" name="Freeform 86"/>
              <p:cNvSpPr>
                <a:spLocks noEditPoints="1"/>
              </p:cNvSpPr>
              <p:nvPr/>
            </p:nvSpPr>
            <p:spPr bwMode="auto">
              <a:xfrm>
                <a:off x="3061" y="3104"/>
                <a:ext cx="228" cy="158"/>
              </a:xfrm>
              <a:custGeom>
                <a:avLst/>
                <a:gdLst>
                  <a:gd name="T0" fmla="*/ 231 w 215"/>
                  <a:gd name="T1" fmla="*/ 186 h 134"/>
                  <a:gd name="T2" fmla="*/ 56 w 215"/>
                  <a:gd name="T3" fmla="*/ 54 h 134"/>
                  <a:gd name="T4" fmla="*/ 67 w 215"/>
                  <a:gd name="T5" fmla="*/ 37 h 134"/>
                  <a:gd name="T6" fmla="*/ 242 w 215"/>
                  <a:gd name="T7" fmla="*/ 169 h 134"/>
                  <a:gd name="T8" fmla="*/ 231 w 215"/>
                  <a:gd name="T9" fmla="*/ 186 h 134"/>
                  <a:gd name="T10" fmla="*/ 231 w 215"/>
                  <a:gd name="T11" fmla="*/ 186 h 134"/>
                  <a:gd name="T12" fmla="*/ 60 w 215"/>
                  <a:gd name="T13" fmla="*/ 45 h 134"/>
                  <a:gd name="T14" fmla="*/ 63 w 215"/>
                  <a:gd name="T15" fmla="*/ 125 h 134"/>
                  <a:gd name="T16" fmla="*/ 0 w 215"/>
                  <a:gd name="T17" fmla="*/ 0 h 134"/>
                  <a:gd name="T18" fmla="*/ 120 w 215"/>
                  <a:gd name="T19" fmla="*/ 11 h 134"/>
                  <a:gd name="T20" fmla="*/ 60 w 215"/>
                  <a:gd name="T21" fmla="*/ 45 h 134"/>
                  <a:gd name="T22" fmla="*/ 60 w 215"/>
                  <a:gd name="T23" fmla="*/ 45 h 1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5"/>
                  <a:gd name="T37" fmla="*/ 0 h 134"/>
                  <a:gd name="T38" fmla="*/ 215 w 215"/>
                  <a:gd name="T39" fmla="*/ 134 h 1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5" h="134">
                    <a:moveTo>
                      <a:pt x="206" y="134"/>
                    </a:moveTo>
                    <a:lnTo>
                      <a:pt x="50" y="39"/>
                    </a:lnTo>
                    <a:lnTo>
                      <a:pt x="59" y="26"/>
                    </a:lnTo>
                    <a:lnTo>
                      <a:pt x="215" y="121"/>
                    </a:lnTo>
                    <a:lnTo>
                      <a:pt x="206" y="134"/>
                    </a:lnTo>
                    <a:close/>
                    <a:moveTo>
                      <a:pt x="54" y="32"/>
                    </a:moveTo>
                    <a:lnTo>
                      <a:pt x="56" y="90"/>
                    </a:lnTo>
                    <a:lnTo>
                      <a:pt x="0" y="0"/>
                    </a:lnTo>
                    <a:lnTo>
                      <a:pt x="107" y="8"/>
                    </a:lnTo>
                    <a:lnTo>
                      <a:pt x="54" y="32"/>
                    </a:lnTo>
                    <a:close/>
                  </a:path>
                </a:pathLst>
              </a:custGeom>
              <a:solidFill>
                <a:srgbClr val="000000"/>
              </a:solidFill>
              <a:ln w="9525">
                <a:noFill/>
                <a:round/>
                <a:headEnd/>
                <a:tailEnd/>
              </a:ln>
            </p:spPr>
            <p:txBody>
              <a:bodyPr/>
              <a:lstStyle/>
              <a:p>
                <a:endParaRPr lang="zh-CN" altLang="en-US"/>
              </a:p>
            </p:txBody>
          </p:sp>
          <p:sp>
            <p:nvSpPr>
              <p:cNvPr id="63584" name="Freeform 87"/>
              <p:cNvSpPr>
                <a:spLocks/>
              </p:cNvSpPr>
              <p:nvPr/>
            </p:nvSpPr>
            <p:spPr bwMode="auto">
              <a:xfrm>
                <a:off x="3114" y="3134"/>
                <a:ext cx="175" cy="128"/>
              </a:xfrm>
              <a:custGeom>
                <a:avLst/>
                <a:gdLst>
                  <a:gd name="T0" fmla="*/ 175 w 165"/>
                  <a:gd name="T1" fmla="*/ 152 h 108"/>
                  <a:gd name="T2" fmla="*/ 0 w 165"/>
                  <a:gd name="T3" fmla="*/ 18 h 108"/>
                  <a:gd name="T4" fmla="*/ 11 w 165"/>
                  <a:gd name="T5" fmla="*/ 0 h 108"/>
                  <a:gd name="T6" fmla="*/ 186 w 165"/>
                  <a:gd name="T7" fmla="*/ 134 h 108"/>
                  <a:gd name="T8" fmla="*/ 175 w 165"/>
                  <a:gd name="T9" fmla="*/ 152 h 108"/>
                  <a:gd name="T10" fmla="*/ 175 w 165"/>
                  <a:gd name="T11" fmla="*/ 152 h 108"/>
                  <a:gd name="T12" fmla="*/ 0 60000 65536"/>
                  <a:gd name="T13" fmla="*/ 0 60000 65536"/>
                  <a:gd name="T14" fmla="*/ 0 60000 65536"/>
                  <a:gd name="T15" fmla="*/ 0 60000 65536"/>
                  <a:gd name="T16" fmla="*/ 0 60000 65536"/>
                  <a:gd name="T17" fmla="*/ 0 60000 65536"/>
                  <a:gd name="T18" fmla="*/ 0 w 165"/>
                  <a:gd name="T19" fmla="*/ 0 h 108"/>
                  <a:gd name="T20" fmla="*/ 165 w 165"/>
                  <a:gd name="T21" fmla="*/ 108 h 108"/>
                </a:gdLst>
                <a:ahLst/>
                <a:cxnLst>
                  <a:cxn ang="T12">
                    <a:pos x="T0" y="T1"/>
                  </a:cxn>
                  <a:cxn ang="T13">
                    <a:pos x="T2" y="T3"/>
                  </a:cxn>
                  <a:cxn ang="T14">
                    <a:pos x="T4" y="T5"/>
                  </a:cxn>
                  <a:cxn ang="T15">
                    <a:pos x="T6" y="T7"/>
                  </a:cxn>
                  <a:cxn ang="T16">
                    <a:pos x="T8" y="T9"/>
                  </a:cxn>
                  <a:cxn ang="T17">
                    <a:pos x="T10" y="T11"/>
                  </a:cxn>
                </a:cxnLst>
                <a:rect l="T18" t="T19" r="T20" b="T21"/>
                <a:pathLst>
                  <a:path w="165" h="108">
                    <a:moveTo>
                      <a:pt x="156" y="108"/>
                    </a:moveTo>
                    <a:lnTo>
                      <a:pt x="0" y="13"/>
                    </a:lnTo>
                    <a:lnTo>
                      <a:pt x="9" y="0"/>
                    </a:lnTo>
                    <a:lnTo>
                      <a:pt x="165" y="95"/>
                    </a:lnTo>
                    <a:lnTo>
                      <a:pt x="156" y="108"/>
                    </a:lnTo>
                    <a:close/>
                  </a:path>
                </a:pathLst>
              </a:custGeom>
              <a:noFill/>
              <a:ln w="1588">
                <a:solidFill>
                  <a:srgbClr val="000000"/>
                </a:solidFill>
                <a:round/>
                <a:headEnd/>
                <a:tailEnd/>
              </a:ln>
            </p:spPr>
            <p:txBody>
              <a:bodyPr/>
              <a:lstStyle/>
              <a:p>
                <a:endParaRPr lang="zh-CN" altLang="en-US"/>
              </a:p>
            </p:txBody>
          </p:sp>
          <p:sp>
            <p:nvSpPr>
              <p:cNvPr id="63585" name="Freeform 88"/>
              <p:cNvSpPr>
                <a:spLocks/>
              </p:cNvSpPr>
              <p:nvPr/>
            </p:nvSpPr>
            <p:spPr bwMode="auto">
              <a:xfrm>
                <a:off x="3061" y="3104"/>
                <a:ext cx="113" cy="104"/>
              </a:xfrm>
              <a:custGeom>
                <a:avLst/>
                <a:gdLst>
                  <a:gd name="T0" fmla="*/ 60 w 107"/>
                  <a:gd name="T1" fmla="*/ 43 h 90"/>
                  <a:gd name="T2" fmla="*/ 62 w 107"/>
                  <a:gd name="T3" fmla="*/ 120 h 90"/>
                  <a:gd name="T4" fmla="*/ 0 w 107"/>
                  <a:gd name="T5" fmla="*/ 0 h 90"/>
                  <a:gd name="T6" fmla="*/ 119 w 107"/>
                  <a:gd name="T7" fmla="*/ 10 h 90"/>
                  <a:gd name="T8" fmla="*/ 60 w 107"/>
                  <a:gd name="T9" fmla="*/ 43 h 90"/>
                  <a:gd name="T10" fmla="*/ 60 w 107"/>
                  <a:gd name="T11" fmla="*/ 43 h 90"/>
                  <a:gd name="T12" fmla="*/ 0 60000 65536"/>
                  <a:gd name="T13" fmla="*/ 0 60000 65536"/>
                  <a:gd name="T14" fmla="*/ 0 60000 65536"/>
                  <a:gd name="T15" fmla="*/ 0 60000 65536"/>
                  <a:gd name="T16" fmla="*/ 0 60000 65536"/>
                  <a:gd name="T17" fmla="*/ 0 60000 65536"/>
                  <a:gd name="T18" fmla="*/ 0 w 107"/>
                  <a:gd name="T19" fmla="*/ 0 h 90"/>
                  <a:gd name="T20" fmla="*/ 107 w 107"/>
                  <a:gd name="T21" fmla="*/ 90 h 90"/>
                </a:gdLst>
                <a:ahLst/>
                <a:cxnLst>
                  <a:cxn ang="T12">
                    <a:pos x="T0" y="T1"/>
                  </a:cxn>
                  <a:cxn ang="T13">
                    <a:pos x="T2" y="T3"/>
                  </a:cxn>
                  <a:cxn ang="T14">
                    <a:pos x="T4" y="T5"/>
                  </a:cxn>
                  <a:cxn ang="T15">
                    <a:pos x="T6" y="T7"/>
                  </a:cxn>
                  <a:cxn ang="T16">
                    <a:pos x="T8" y="T9"/>
                  </a:cxn>
                  <a:cxn ang="T17">
                    <a:pos x="T10" y="T11"/>
                  </a:cxn>
                </a:cxnLst>
                <a:rect l="T18" t="T19" r="T20" b="T21"/>
                <a:pathLst>
                  <a:path w="107" h="90">
                    <a:moveTo>
                      <a:pt x="54" y="32"/>
                    </a:moveTo>
                    <a:lnTo>
                      <a:pt x="56" y="90"/>
                    </a:lnTo>
                    <a:lnTo>
                      <a:pt x="0" y="0"/>
                    </a:lnTo>
                    <a:lnTo>
                      <a:pt x="107" y="8"/>
                    </a:lnTo>
                    <a:lnTo>
                      <a:pt x="54" y="32"/>
                    </a:lnTo>
                    <a:close/>
                  </a:path>
                </a:pathLst>
              </a:custGeom>
              <a:noFill/>
              <a:ln w="1588">
                <a:solidFill>
                  <a:srgbClr val="000000"/>
                </a:solidFill>
                <a:round/>
                <a:headEnd/>
                <a:tailEnd/>
              </a:ln>
            </p:spPr>
            <p:txBody>
              <a:bodyPr/>
              <a:lstStyle/>
              <a:p>
                <a:endParaRPr lang="zh-CN" altLang="en-US"/>
              </a:p>
            </p:txBody>
          </p:sp>
          <p:pic>
            <p:nvPicPr>
              <p:cNvPr id="63586" name="Picture 89"/>
              <p:cNvPicPr>
                <a:picLocks noChangeAspect="1" noChangeArrowheads="1"/>
              </p:cNvPicPr>
              <p:nvPr/>
            </p:nvPicPr>
            <p:blipFill>
              <a:blip r:embed="rId4" cstate="print"/>
              <a:srcRect/>
              <a:stretch>
                <a:fillRect/>
              </a:stretch>
            </p:blipFill>
            <p:spPr bwMode="auto">
              <a:xfrm>
                <a:off x="3909" y="2019"/>
                <a:ext cx="286" cy="294"/>
              </a:xfrm>
              <a:prstGeom prst="rect">
                <a:avLst/>
              </a:prstGeom>
              <a:noFill/>
              <a:ln w="9525">
                <a:noFill/>
                <a:miter lim="800000"/>
                <a:headEnd/>
                <a:tailEnd/>
              </a:ln>
            </p:spPr>
          </p:pic>
          <p:pic>
            <p:nvPicPr>
              <p:cNvPr id="63587" name="Picture 90"/>
              <p:cNvPicPr>
                <a:picLocks noChangeAspect="1" noChangeArrowheads="1"/>
              </p:cNvPicPr>
              <p:nvPr/>
            </p:nvPicPr>
            <p:blipFill>
              <a:blip r:embed="rId5" cstate="print"/>
              <a:srcRect/>
              <a:stretch>
                <a:fillRect/>
              </a:stretch>
            </p:blipFill>
            <p:spPr bwMode="auto">
              <a:xfrm>
                <a:off x="3909" y="2019"/>
                <a:ext cx="286" cy="294"/>
              </a:xfrm>
              <a:prstGeom prst="rect">
                <a:avLst/>
              </a:prstGeom>
              <a:noFill/>
              <a:ln w="9525">
                <a:noFill/>
                <a:miter lim="800000"/>
                <a:headEnd/>
                <a:tailEnd/>
              </a:ln>
            </p:spPr>
          </p:pic>
          <p:sp>
            <p:nvSpPr>
              <p:cNvPr id="63588" name="Freeform 91"/>
              <p:cNvSpPr>
                <a:spLocks/>
              </p:cNvSpPr>
              <p:nvPr/>
            </p:nvSpPr>
            <p:spPr bwMode="auto">
              <a:xfrm>
                <a:off x="3909" y="2021"/>
                <a:ext cx="284" cy="290"/>
              </a:xfrm>
              <a:custGeom>
                <a:avLst/>
                <a:gdLst>
                  <a:gd name="T0" fmla="*/ 102 w 265"/>
                  <a:gd name="T1" fmla="*/ 0 h 251"/>
                  <a:gd name="T2" fmla="*/ 0 w 265"/>
                  <a:gd name="T3" fmla="*/ 165 h 251"/>
                  <a:gd name="T4" fmla="*/ 201 w 265"/>
                  <a:gd name="T5" fmla="*/ 335 h 251"/>
                  <a:gd name="T6" fmla="*/ 304 w 265"/>
                  <a:gd name="T7" fmla="*/ 171 h 251"/>
                  <a:gd name="T8" fmla="*/ 102 w 265"/>
                  <a:gd name="T9" fmla="*/ 0 h 251"/>
                  <a:gd name="T10" fmla="*/ 0 60000 65536"/>
                  <a:gd name="T11" fmla="*/ 0 60000 65536"/>
                  <a:gd name="T12" fmla="*/ 0 60000 65536"/>
                  <a:gd name="T13" fmla="*/ 0 60000 65536"/>
                  <a:gd name="T14" fmla="*/ 0 60000 65536"/>
                  <a:gd name="T15" fmla="*/ 0 w 265"/>
                  <a:gd name="T16" fmla="*/ 0 h 251"/>
                  <a:gd name="T17" fmla="*/ 265 w 265"/>
                  <a:gd name="T18" fmla="*/ 251 h 251"/>
                </a:gdLst>
                <a:ahLst/>
                <a:cxnLst>
                  <a:cxn ang="T10">
                    <a:pos x="T0" y="T1"/>
                  </a:cxn>
                  <a:cxn ang="T11">
                    <a:pos x="T2" y="T3"/>
                  </a:cxn>
                  <a:cxn ang="T12">
                    <a:pos x="T4" y="T5"/>
                  </a:cxn>
                  <a:cxn ang="T13">
                    <a:pos x="T6" y="T7"/>
                  </a:cxn>
                  <a:cxn ang="T14">
                    <a:pos x="T8" y="T9"/>
                  </a:cxn>
                </a:cxnLst>
                <a:rect l="T15" t="T16" r="T17" b="T18"/>
                <a:pathLst>
                  <a:path w="265" h="251">
                    <a:moveTo>
                      <a:pt x="89" y="0"/>
                    </a:moveTo>
                    <a:lnTo>
                      <a:pt x="0" y="124"/>
                    </a:lnTo>
                    <a:lnTo>
                      <a:pt x="175" y="251"/>
                    </a:lnTo>
                    <a:lnTo>
                      <a:pt x="265" y="128"/>
                    </a:lnTo>
                    <a:lnTo>
                      <a:pt x="89" y="0"/>
                    </a:lnTo>
                    <a:close/>
                  </a:path>
                </a:pathLst>
              </a:custGeom>
              <a:noFill/>
              <a:ln w="15875">
                <a:solidFill>
                  <a:srgbClr val="000000"/>
                </a:solidFill>
                <a:round/>
                <a:headEnd/>
                <a:tailEnd/>
              </a:ln>
            </p:spPr>
            <p:txBody>
              <a:bodyPr/>
              <a:lstStyle/>
              <a:p>
                <a:endParaRPr lang="zh-CN" altLang="en-US"/>
              </a:p>
            </p:txBody>
          </p:sp>
          <p:sp>
            <p:nvSpPr>
              <p:cNvPr id="63589" name="Freeform 92"/>
              <p:cNvSpPr>
                <a:spLocks/>
              </p:cNvSpPr>
              <p:nvPr/>
            </p:nvSpPr>
            <p:spPr bwMode="auto">
              <a:xfrm>
                <a:off x="3913" y="2202"/>
                <a:ext cx="139" cy="125"/>
              </a:xfrm>
              <a:custGeom>
                <a:avLst/>
                <a:gdLst>
                  <a:gd name="T0" fmla="*/ 26 w 128"/>
                  <a:gd name="T1" fmla="*/ 0 h 108"/>
                  <a:gd name="T2" fmla="*/ 0 w 128"/>
                  <a:gd name="T3" fmla="*/ 41 h 108"/>
                  <a:gd name="T4" fmla="*/ 125 w 128"/>
                  <a:gd name="T5" fmla="*/ 145 h 108"/>
                  <a:gd name="T6" fmla="*/ 151 w 128"/>
                  <a:gd name="T7" fmla="*/ 103 h 108"/>
                  <a:gd name="T8" fmla="*/ 26 w 128"/>
                  <a:gd name="T9" fmla="*/ 0 h 108"/>
                  <a:gd name="T10" fmla="*/ 0 60000 65536"/>
                  <a:gd name="T11" fmla="*/ 0 60000 65536"/>
                  <a:gd name="T12" fmla="*/ 0 60000 65536"/>
                  <a:gd name="T13" fmla="*/ 0 60000 65536"/>
                  <a:gd name="T14" fmla="*/ 0 60000 65536"/>
                  <a:gd name="T15" fmla="*/ 0 w 128"/>
                  <a:gd name="T16" fmla="*/ 0 h 108"/>
                  <a:gd name="T17" fmla="*/ 128 w 128"/>
                  <a:gd name="T18" fmla="*/ 108 h 108"/>
                </a:gdLst>
                <a:ahLst/>
                <a:cxnLst>
                  <a:cxn ang="T10">
                    <a:pos x="T0" y="T1"/>
                  </a:cxn>
                  <a:cxn ang="T11">
                    <a:pos x="T2" y="T3"/>
                  </a:cxn>
                  <a:cxn ang="T12">
                    <a:pos x="T4" y="T5"/>
                  </a:cxn>
                  <a:cxn ang="T13">
                    <a:pos x="T6" y="T7"/>
                  </a:cxn>
                  <a:cxn ang="T14">
                    <a:pos x="T8" y="T9"/>
                  </a:cxn>
                </a:cxnLst>
                <a:rect l="T15" t="T16" r="T17" b="T18"/>
                <a:pathLst>
                  <a:path w="128" h="108">
                    <a:moveTo>
                      <a:pt x="22" y="0"/>
                    </a:moveTo>
                    <a:lnTo>
                      <a:pt x="0" y="30"/>
                    </a:lnTo>
                    <a:lnTo>
                      <a:pt x="106" y="108"/>
                    </a:lnTo>
                    <a:lnTo>
                      <a:pt x="128" y="77"/>
                    </a:lnTo>
                    <a:lnTo>
                      <a:pt x="22" y="0"/>
                    </a:lnTo>
                    <a:close/>
                  </a:path>
                </a:pathLst>
              </a:custGeom>
              <a:noFill/>
              <a:ln w="15875">
                <a:solidFill>
                  <a:srgbClr val="000000"/>
                </a:solidFill>
                <a:round/>
                <a:headEnd/>
                <a:tailEnd/>
              </a:ln>
            </p:spPr>
            <p:txBody>
              <a:bodyPr/>
              <a:lstStyle/>
              <a:p>
                <a:endParaRPr lang="zh-CN" altLang="en-US"/>
              </a:p>
            </p:txBody>
          </p:sp>
          <p:sp>
            <p:nvSpPr>
              <p:cNvPr id="63590" name="Freeform 93"/>
              <p:cNvSpPr>
                <a:spLocks noEditPoints="1"/>
              </p:cNvSpPr>
              <p:nvPr/>
            </p:nvSpPr>
            <p:spPr bwMode="auto">
              <a:xfrm>
                <a:off x="3798" y="2390"/>
                <a:ext cx="102" cy="123"/>
              </a:xfrm>
              <a:custGeom>
                <a:avLst/>
                <a:gdLst>
                  <a:gd name="T0" fmla="*/ 72 w 96"/>
                  <a:gd name="T1" fmla="*/ 77 h 106"/>
                  <a:gd name="T2" fmla="*/ 66 w 96"/>
                  <a:gd name="T3" fmla="*/ 87 h 106"/>
                  <a:gd name="T4" fmla="*/ 59 w 96"/>
                  <a:gd name="T5" fmla="*/ 92 h 106"/>
                  <a:gd name="T6" fmla="*/ 56 w 96"/>
                  <a:gd name="T7" fmla="*/ 92 h 106"/>
                  <a:gd name="T8" fmla="*/ 53 w 96"/>
                  <a:gd name="T9" fmla="*/ 89 h 106"/>
                  <a:gd name="T10" fmla="*/ 50 w 96"/>
                  <a:gd name="T11" fmla="*/ 84 h 106"/>
                  <a:gd name="T12" fmla="*/ 50 w 96"/>
                  <a:gd name="T13" fmla="*/ 78 h 106"/>
                  <a:gd name="T14" fmla="*/ 52 w 96"/>
                  <a:gd name="T15" fmla="*/ 75 h 106"/>
                  <a:gd name="T16" fmla="*/ 58 w 96"/>
                  <a:gd name="T17" fmla="*/ 64 h 106"/>
                  <a:gd name="T18" fmla="*/ 65 w 96"/>
                  <a:gd name="T19" fmla="*/ 59 h 106"/>
                  <a:gd name="T20" fmla="*/ 68 w 96"/>
                  <a:gd name="T21" fmla="*/ 59 h 106"/>
                  <a:gd name="T22" fmla="*/ 71 w 96"/>
                  <a:gd name="T23" fmla="*/ 62 h 106"/>
                  <a:gd name="T24" fmla="*/ 74 w 96"/>
                  <a:gd name="T25" fmla="*/ 68 h 106"/>
                  <a:gd name="T26" fmla="*/ 74 w 96"/>
                  <a:gd name="T27" fmla="*/ 73 h 106"/>
                  <a:gd name="T28" fmla="*/ 72 w 96"/>
                  <a:gd name="T29" fmla="*/ 77 h 106"/>
                  <a:gd name="T30" fmla="*/ 72 w 96"/>
                  <a:gd name="T31" fmla="*/ 77 h 106"/>
                  <a:gd name="T32" fmla="*/ 66 w 96"/>
                  <a:gd name="T33" fmla="*/ 70 h 106"/>
                  <a:gd name="T34" fmla="*/ 0 w 96"/>
                  <a:gd name="T35" fmla="*/ 65 h 106"/>
                  <a:gd name="T36" fmla="*/ 108 w 96"/>
                  <a:gd name="T37" fmla="*/ 0 h 106"/>
                  <a:gd name="T38" fmla="*/ 87 w 96"/>
                  <a:gd name="T39" fmla="*/ 143 h 106"/>
                  <a:gd name="T40" fmla="*/ 66 w 96"/>
                  <a:gd name="T41" fmla="*/ 70 h 106"/>
                  <a:gd name="T42" fmla="*/ 66 w 96"/>
                  <a:gd name="T43" fmla="*/ 70 h 1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96"/>
                  <a:gd name="T67" fmla="*/ 0 h 106"/>
                  <a:gd name="T68" fmla="*/ 96 w 96"/>
                  <a:gd name="T69" fmla="*/ 106 h 10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96" h="106">
                    <a:moveTo>
                      <a:pt x="64" y="57"/>
                    </a:moveTo>
                    <a:lnTo>
                      <a:pt x="58" y="65"/>
                    </a:lnTo>
                    <a:lnTo>
                      <a:pt x="53" y="68"/>
                    </a:lnTo>
                    <a:lnTo>
                      <a:pt x="50" y="68"/>
                    </a:lnTo>
                    <a:lnTo>
                      <a:pt x="47" y="66"/>
                    </a:lnTo>
                    <a:lnTo>
                      <a:pt x="44" y="62"/>
                    </a:lnTo>
                    <a:lnTo>
                      <a:pt x="44" y="58"/>
                    </a:lnTo>
                    <a:lnTo>
                      <a:pt x="46" y="56"/>
                    </a:lnTo>
                    <a:lnTo>
                      <a:pt x="52" y="47"/>
                    </a:lnTo>
                    <a:lnTo>
                      <a:pt x="57" y="44"/>
                    </a:lnTo>
                    <a:lnTo>
                      <a:pt x="60" y="44"/>
                    </a:lnTo>
                    <a:lnTo>
                      <a:pt x="63" y="46"/>
                    </a:lnTo>
                    <a:lnTo>
                      <a:pt x="66" y="51"/>
                    </a:lnTo>
                    <a:lnTo>
                      <a:pt x="66" y="54"/>
                    </a:lnTo>
                    <a:lnTo>
                      <a:pt x="64" y="57"/>
                    </a:lnTo>
                    <a:close/>
                    <a:moveTo>
                      <a:pt x="58" y="52"/>
                    </a:moveTo>
                    <a:lnTo>
                      <a:pt x="0" y="48"/>
                    </a:lnTo>
                    <a:lnTo>
                      <a:pt x="96" y="0"/>
                    </a:lnTo>
                    <a:lnTo>
                      <a:pt x="77" y="106"/>
                    </a:lnTo>
                    <a:lnTo>
                      <a:pt x="58" y="52"/>
                    </a:lnTo>
                    <a:close/>
                  </a:path>
                </a:pathLst>
              </a:custGeom>
              <a:solidFill>
                <a:srgbClr val="000000"/>
              </a:solidFill>
              <a:ln w="9525">
                <a:noFill/>
                <a:round/>
                <a:headEnd/>
                <a:tailEnd/>
              </a:ln>
            </p:spPr>
            <p:txBody>
              <a:bodyPr/>
              <a:lstStyle/>
              <a:p>
                <a:endParaRPr lang="zh-CN" altLang="en-US"/>
              </a:p>
            </p:txBody>
          </p:sp>
          <p:sp>
            <p:nvSpPr>
              <p:cNvPr id="63591" name="Freeform 94"/>
              <p:cNvSpPr>
                <a:spLocks/>
              </p:cNvSpPr>
              <p:nvPr/>
            </p:nvSpPr>
            <p:spPr bwMode="auto">
              <a:xfrm>
                <a:off x="3843" y="2441"/>
                <a:ext cx="25" cy="28"/>
              </a:xfrm>
              <a:custGeom>
                <a:avLst/>
                <a:gdLst>
                  <a:gd name="T0" fmla="*/ 26 w 22"/>
                  <a:gd name="T1" fmla="*/ 17 h 24"/>
                  <a:gd name="T2" fmla="*/ 18 w 22"/>
                  <a:gd name="T3" fmla="*/ 29 h 24"/>
                  <a:gd name="T4" fmla="*/ 11 w 22"/>
                  <a:gd name="T5" fmla="*/ 33 h 24"/>
                  <a:gd name="T6" fmla="*/ 8 w 22"/>
                  <a:gd name="T7" fmla="*/ 33 h 24"/>
                  <a:gd name="T8" fmla="*/ 3 w 22"/>
                  <a:gd name="T9" fmla="*/ 30 h 24"/>
                  <a:gd name="T10" fmla="*/ 0 w 22"/>
                  <a:gd name="T11" fmla="*/ 25 h 24"/>
                  <a:gd name="T12" fmla="*/ 0 w 22"/>
                  <a:gd name="T13" fmla="*/ 19 h 24"/>
                  <a:gd name="T14" fmla="*/ 2 w 22"/>
                  <a:gd name="T15" fmla="*/ 16 h 24"/>
                  <a:gd name="T16" fmla="*/ 10 w 22"/>
                  <a:gd name="T17" fmla="*/ 5 h 24"/>
                  <a:gd name="T18" fmla="*/ 17 w 22"/>
                  <a:gd name="T19" fmla="*/ 0 h 24"/>
                  <a:gd name="T20" fmla="*/ 20 w 22"/>
                  <a:gd name="T21" fmla="*/ 0 h 24"/>
                  <a:gd name="T22" fmla="*/ 25 w 22"/>
                  <a:gd name="T23" fmla="*/ 2 h 24"/>
                  <a:gd name="T24" fmla="*/ 28 w 22"/>
                  <a:gd name="T25" fmla="*/ 9 h 24"/>
                  <a:gd name="T26" fmla="*/ 28 w 22"/>
                  <a:gd name="T27" fmla="*/ 14 h 24"/>
                  <a:gd name="T28" fmla="*/ 26 w 22"/>
                  <a:gd name="T29" fmla="*/ 17 h 24"/>
                  <a:gd name="T30" fmla="*/ 26 w 22"/>
                  <a:gd name="T31" fmla="*/ 17 h 2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24"/>
                  <a:gd name="T50" fmla="*/ 22 w 22"/>
                  <a:gd name="T51" fmla="*/ 24 h 2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24">
                    <a:moveTo>
                      <a:pt x="20" y="13"/>
                    </a:moveTo>
                    <a:lnTo>
                      <a:pt x="14" y="21"/>
                    </a:lnTo>
                    <a:lnTo>
                      <a:pt x="9" y="24"/>
                    </a:lnTo>
                    <a:lnTo>
                      <a:pt x="6" y="24"/>
                    </a:lnTo>
                    <a:lnTo>
                      <a:pt x="3" y="22"/>
                    </a:lnTo>
                    <a:lnTo>
                      <a:pt x="0" y="18"/>
                    </a:lnTo>
                    <a:lnTo>
                      <a:pt x="0" y="14"/>
                    </a:lnTo>
                    <a:lnTo>
                      <a:pt x="2" y="12"/>
                    </a:lnTo>
                    <a:lnTo>
                      <a:pt x="8" y="3"/>
                    </a:lnTo>
                    <a:lnTo>
                      <a:pt x="13" y="0"/>
                    </a:lnTo>
                    <a:lnTo>
                      <a:pt x="16" y="0"/>
                    </a:lnTo>
                    <a:lnTo>
                      <a:pt x="19" y="2"/>
                    </a:lnTo>
                    <a:lnTo>
                      <a:pt x="22" y="7"/>
                    </a:lnTo>
                    <a:lnTo>
                      <a:pt x="22" y="10"/>
                    </a:lnTo>
                    <a:lnTo>
                      <a:pt x="20" y="13"/>
                    </a:lnTo>
                  </a:path>
                </a:pathLst>
              </a:custGeom>
              <a:noFill/>
              <a:ln w="1588">
                <a:solidFill>
                  <a:srgbClr val="000000"/>
                </a:solidFill>
                <a:round/>
                <a:headEnd/>
                <a:tailEnd/>
              </a:ln>
            </p:spPr>
            <p:txBody>
              <a:bodyPr/>
              <a:lstStyle/>
              <a:p>
                <a:endParaRPr lang="zh-CN" altLang="en-US"/>
              </a:p>
            </p:txBody>
          </p:sp>
          <p:sp>
            <p:nvSpPr>
              <p:cNvPr id="63592" name="Freeform 95"/>
              <p:cNvSpPr>
                <a:spLocks/>
              </p:cNvSpPr>
              <p:nvPr/>
            </p:nvSpPr>
            <p:spPr bwMode="auto">
              <a:xfrm>
                <a:off x="3798" y="2390"/>
                <a:ext cx="102" cy="123"/>
              </a:xfrm>
              <a:custGeom>
                <a:avLst/>
                <a:gdLst>
                  <a:gd name="T0" fmla="*/ 66 w 96"/>
                  <a:gd name="T1" fmla="*/ 70 h 106"/>
                  <a:gd name="T2" fmla="*/ 0 w 96"/>
                  <a:gd name="T3" fmla="*/ 65 h 106"/>
                  <a:gd name="T4" fmla="*/ 108 w 96"/>
                  <a:gd name="T5" fmla="*/ 0 h 106"/>
                  <a:gd name="T6" fmla="*/ 87 w 96"/>
                  <a:gd name="T7" fmla="*/ 143 h 106"/>
                  <a:gd name="T8" fmla="*/ 66 w 96"/>
                  <a:gd name="T9" fmla="*/ 70 h 106"/>
                  <a:gd name="T10" fmla="*/ 66 w 96"/>
                  <a:gd name="T11" fmla="*/ 70 h 106"/>
                  <a:gd name="T12" fmla="*/ 0 60000 65536"/>
                  <a:gd name="T13" fmla="*/ 0 60000 65536"/>
                  <a:gd name="T14" fmla="*/ 0 60000 65536"/>
                  <a:gd name="T15" fmla="*/ 0 60000 65536"/>
                  <a:gd name="T16" fmla="*/ 0 60000 65536"/>
                  <a:gd name="T17" fmla="*/ 0 60000 65536"/>
                  <a:gd name="T18" fmla="*/ 0 w 96"/>
                  <a:gd name="T19" fmla="*/ 0 h 106"/>
                  <a:gd name="T20" fmla="*/ 96 w 96"/>
                  <a:gd name="T21" fmla="*/ 106 h 106"/>
                </a:gdLst>
                <a:ahLst/>
                <a:cxnLst>
                  <a:cxn ang="T12">
                    <a:pos x="T0" y="T1"/>
                  </a:cxn>
                  <a:cxn ang="T13">
                    <a:pos x="T2" y="T3"/>
                  </a:cxn>
                  <a:cxn ang="T14">
                    <a:pos x="T4" y="T5"/>
                  </a:cxn>
                  <a:cxn ang="T15">
                    <a:pos x="T6" y="T7"/>
                  </a:cxn>
                  <a:cxn ang="T16">
                    <a:pos x="T8" y="T9"/>
                  </a:cxn>
                  <a:cxn ang="T17">
                    <a:pos x="T10" y="T11"/>
                  </a:cxn>
                </a:cxnLst>
                <a:rect l="T18" t="T19" r="T20" b="T21"/>
                <a:pathLst>
                  <a:path w="96" h="106">
                    <a:moveTo>
                      <a:pt x="58" y="52"/>
                    </a:moveTo>
                    <a:lnTo>
                      <a:pt x="0" y="48"/>
                    </a:lnTo>
                    <a:lnTo>
                      <a:pt x="96" y="0"/>
                    </a:lnTo>
                    <a:lnTo>
                      <a:pt x="77" y="106"/>
                    </a:lnTo>
                    <a:lnTo>
                      <a:pt x="58" y="52"/>
                    </a:lnTo>
                  </a:path>
                </a:pathLst>
              </a:custGeom>
              <a:noFill/>
              <a:ln w="1588">
                <a:solidFill>
                  <a:srgbClr val="000000"/>
                </a:solidFill>
                <a:round/>
                <a:headEnd/>
                <a:tailEnd/>
              </a:ln>
            </p:spPr>
            <p:txBody>
              <a:bodyPr/>
              <a:lstStyle/>
              <a:p>
                <a:endParaRPr lang="zh-CN" altLang="en-US"/>
              </a:p>
            </p:txBody>
          </p:sp>
          <p:sp>
            <p:nvSpPr>
              <p:cNvPr id="63593" name="Freeform 96"/>
              <p:cNvSpPr>
                <a:spLocks noEditPoints="1"/>
              </p:cNvSpPr>
              <p:nvPr/>
            </p:nvSpPr>
            <p:spPr bwMode="auto">
              <a:xfrm>
                <a:off x="3242" y="2390"/>
                <a:ext cx="101" cy="113"/>
              </a:xfrm>
              <a:custGeom>
                <a:avLst/>
                <a:gdLst>
                  <a:gd name="T0" fmla="*/ 62 w 95"/>
                  <a:gd name="T1" fmla="*/ 84 h 99"/>
                  <a:gd name="T2" fmla="*/ 62 w 95"/>
                  <a:gd name="T3" fmla="*/ 120 h 99"/>
                  <a:gd name="T4" fmla="*/ 62 w 95"/>
                  <a:gd name="T5" fmla="*/ 122 h 99"/>
                  <a:gd name="T6" fmla="*/ 60 w 95"/>
                  <a:gd name="T7" fmla="*/ 126 h 99"/>
                  <a:gd name="T8" fmla="*/ 57 w 95"/>
                  <a:gd name="T9" fmla="*/ 129 h 99"/>
                  <a:gd name="T10" fmla="*/ 54 w 95"/>
                  <a:gd name="T11" fmla="*/ 129 h 99"/>
                  <a:gd name="T12" fmla="*/ 51 w 95"/>
                  <a:gd name="T13" fmla="*/ 129 h 99"/>
                  <a:gd name="T14" fmla="*/ 48 w 95"/>
                  <a:gd name="T15" fmla="*/ 126 h 99"/>
                  <a:gd name="T16" fmla="*/ 46 w 95"/>
                  <a:gd name="T17" fmla="*/ 122 h 99"/>
                  <a:gd name="T18" fmla="*/ 46 w 95"/>
                  <a:gd name="T19" fmla="*/ 120 h 99"/>
                  <a:gd name="T20" fmla="*/ 46 w 95"/>
                  <a:gd name="T21" fmla="*/ 84 h 99"/>
                  <a:gd name="T22" fmla="*/ 46 w 95"/>
                  <a:gd name="T23" fmla="*/ 81 h 99"/>
                  <a:gd name="T24" fmla="*/ 48 w 95"/>
                  <a:gd name="T25" fmla="*/ 76 h 99"/>
                  <a:gd name="T26" fmla="*/ 51 w 95"/>
                  <a:gd name="T27" fmla="*/ 75 h 99"/>
                  <a:gd name="T28" fmla="*/ 54 w 95"/>
                  <a:gd name="T29" fmla="*/ 74 h 99"/>
                  <a:gd name="T30" fmla="*/ 57 w 95"/>
                  <a:gd name="T31" fmla="*/ 75 h 99"/>
                  <a:gd name="T32" fmla="*/ 60 w 95"/>
                  <a:gd name="T33" fmla="*/ 76 h 99"/>
                  <a:gd name="T34" fmla="*/ 62 w 95"/>
                  <a:gd name="T35" fmla="*/ 81 h 99"/>
                  <a:gd name="T36" fmla="*/ 62 w 95"/>
                  <a:gd name="T37" fmla="*/ 84 h 99"/>
                  <a:gd name="T38" fmla="*/ 62 w 95"/>
                  <a:gd name="T39" fmla="*/ 84 h 99"/>
                  <a:gd name="T40" fmla="*/ 54 w 95"/>
                  <a:gd name="T41" fmla="*/ 84 h 99"/>
                  <a:gd name="T42" fmla="*/ 0 w 95"/>
                  <a:gd name="T43" fmla="*/ 126 h 99"/>
                  <a:gd name="T44" fmla="*/ 54 w 95"/>
                  <a:gd name="T45" fmla="*/ 0 h 99"/>
                  <a:gd name="T46" fmla="*/ 107 w 95"/>
                  <a:gd name="T47" fmla="*/ 126 h 99"/>
                  <a:gd name="T48" fmla="*/ 54 w 95"/>
                  <a:gd name="T49" fmla="*/ 84 h 99"/>
                  <a:gd name="T50" fmla="*/ 54 w 95"/>
                  <a:gd name="T51" fmla="*/ 84 h 9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95"/>
                  <a:gd name="T79" fmla="*/ 0 h 99"/>
                  <a:gd name="T80" fmla="*/ 95 w 95"/>
                  <a:gd name="T81" fmla="*/ 99 h 9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95" h="99">
                    <a:moveTo>
                      <a:pt x="55" y="65"/>
                    </a:moveTo>
                    <a:lnTo>
                      <a:pt x="55" y="92"/>
                    </a:lnTo>
                    <a:lnTo>
                      <a:pt x="55" y="94"/>
                    </a:lnTo>
                    <a:lnTo>
                      <a:pt x="53" y="96"/>
                    </a:lnTo>
                    <a:lnTo>
                      <a:pt x="51" y="99"/>
                    </a:lnTo>
                    <a:lnTo>
                      <a:pt x="48" y="99"/>
                    </a:lnTo>
                    <a:lnTo>
                      <a:pt x="45" y="99"/>
                    </a:lnTo>
                    <a:lnTo>
                      <a:pt x="42" y="96"/>
                    </a:lnTo>
                    <a:lnTo>
                      <a:pt x="40" y="94"/>
                    </a:lnTo>
                    <a:lnTo>
                      <a:pt x="40" y="92"/>
                    </a:lnTo>
                    <a:lnTo>
                      <a:pt x="40" y="65"/>
                    </a:lnTo>
                    <a:lnTo>
                      <a:pt x="40" y="62"/>
                    </a:lnTo>
                    <a:lnTo>
                      <a:pt x="42" y="59"/>
                    </a:lnTo>
                    <a:lnTo>
                      <a:pt x="45" y="58"/>
                    </a:lnTo>
                    <a:lnTo>
                      <a:pt x="48" y="57"/>
                    </a:lnTo>
                    <a:lnTo>
                      <a:pt x="51" y="58"/>
                    </a:lnTo>
                    <a:lnTo>
                      <a:pt x="53" y="59"/>
                    </a:lnTo>
                    <a:lnTo>
                      <a:pt x="55" y="62"/>
                    </a:lnTo>
                    <a:lnTo>
                      <a:pt x="55" y="65"/>
                    </a:lnTo>
                    <a:close/>
                    <a:moveTo>
                      <a:pt x="48" y="65"/>
                    </a:moveTo>
                    <a:lnTo>
                      <a:pt x="0" y="96"/>
                    </a:lnTo>
                    <a:lnTo>
                      <a:pt x="48" y="0"/>
                    </a:lnTo>
                    <a:lnTo>
                      <a:pt x="95" y="96"/>
                    </a:lnTo>
                    <a:lnTo>
                      <a:pt x="48" y="65"/>
                    </a:lnTo>
                    <a:close/>
                  </a:path>
                </a:pathLst>
              </a:custGeom>
              <a:solidFill>
                <a:srgbClr val="000000"/>
              </a:solidFill>
              <a:ln w="9525">
                <a:noFill/>
                <a:round/>
                <a:headEnd/>
                <a:tailEnd/>
              </a:ln>
            </p:spPr>
            <p:txBody>
              <a:bodyPr/>
              <a:lstStyle/>
              <a:p>
                <a:endParaRPr lang="zh-CN" altLang="en-US"/>
              </a:p>
            </p:txBody>
          </p:sp>
          <p:sp>
            <p:nvSpPr>
              <p:cNvPr id="63594" name="Freeform 97"/>
              <p:cNvSpPr>
                <a:spLocks/>
              </p:cNvSpPr>
              <p:nvPr/>
            </p:nvSpPr>
            <p:spPr bwMode="auto">
              <a:xfrm>
                <a:off x="3283" y="2455"/>
                <a:ext cx="17" cy="48"/>
              </a:xfrm>
              <a:custGeom>
                <a:avLst/>
                <a:gdLst>
                  <a:gd name="T0" fmla="*/ 19 w 15"/>
                  <a:gd name="T1" fmla="*/ 10 h 42"/>
                  <a:gd name="T2" fmla="*/ 19 w 15"/>
                  <a:gd name="T3" fmla="*/ 46 h 42"/>
                  <a:gd name="T4" fmla="*/ 19 w 15"/>
                  <a:gd name="T5" fmla="*/ 48 h 42"/>
                  <a:gd name="T6" fmla="*/ 17 w 15"/>
                  <a:gd name="T7" fmla="*/ 51 h 42"/>
                  <a:gd name="T8" fmla="*/ 14 w 15"/>
                  <a:gd name="T9" fmla="*/ 55 h 42"/>
                  <a:gd name="T10" fmla="*/ 10 w 15"/>
                  <a:gd name="T11" fmla="*/ 55 h 42"/>
                  <a:gd name="T12" fmla="*/ 7 w 15"/>
                  <a:gd name="T13" fmla="*/ 55 h 42"/>
                  <a:gd name="T14" fmla="*/ 2 w 15"/>
                  <a:gd name="T15" fmla="*/ 51 h 42"/>
                  <a:gd name="T16" fmla="*/ 0 w 15"/>
                  <a:gd name="T17" fmla="*/ 48 h 42"/>
                  <a:gd name="T18" fmla="*/ 0 w 15"/>
                  <a:gd name="T19" fmla="*/ 46 h 42"/>
                  <a:gd name="T20" fmla="*/ 0 w 15"/>
                  <a:gd name="T21" fmla="*/ 10 h 42"/>
                  <a:gd name="T22" fmla="*/ 0 w 15"/>
                  <a:gd name="T23" fmla="*/ 7 h 42"/>
                  <a:gd name="T24" fmla="*/ 2 w 15"/>
                  <a:gd name="T25" fmla="*/ 2 h 42"/>
                  <a:gd name="T26" fmla="*/ 7 w 15"/>
                  <a:gd name="T27" fmla="*/ 1 h 42"/>
                  <a:gd name="T28" fmla="*/ 10 w 15"/>
                  <a:gd name="T29" fmla="*/ 0 h 42"/>
                  <a:gd name="T30" fmla="*/ 14 w 15"/>
                  <a:gd name="T31" fmla="*/ 1 h 42"/>
                  <a:gd name="T32" fmla="*/ 17 w 15"/>
                  <a:gd name="T33" fmla="*/ 2 h 42"/>
                  <a:gd name="T34" fmla="*/ 19 w 15"/>
                  <a:gd name="T35" fmla="*/ 7 h 42"/>
                  <a:gd name="T36" fmla="*/ 19 w 15"/>
                  <a:gd name="T37" fmla="*/ 10 h 42"/>
                  <a:gd name="T38" fmla="*/ 19 w 15"/>
                  <a:gd name="T39" fmla="*/ 10 h 4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5"/>
                  <a:gd name="T61" fmla="*/ 0 h 42"/>
                  <a:gd name="T62" fmla="*/ 15 w 15"/>
                  <a:gd name="T63" fmla="*/ 42 h 4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5" h="42">
                    <a:moveTo>
                      <a:pt x="15" y="8"/>
                    </a:moveTo>
                    <a:lnTo>
                      <a:pt x="15" y="35"/>
                    </a:lnTo>
                    <a:lnTo>
                      <a:pt x="15" y="37"/>
                    </a:lnTo>
                    <a:lnTo>
                      <a:pt x="13" y="39"/>
                    </a:lnTo>
                    <a:lnTo>
                      <a:pt x="11" y="42"/>
                    </a:lnTo>
                    <a:lnTo>
                      <a:pt x="8" y="42"/>
                    </a:lnTo>
                    <a:lnTo>
                      <a:pt x="5" y="42"/>
                    </a:lnTo>
                    <a:lnTo>
                      <a:pt x="2" y="39"/>
                    </a:lnTo>
                    <a:lnTo>
                      <a:pt x="0" y="37"/>
                    </a:lnTo>
                    <a:lnTo>
                      <a:pt x="0" y="35"/>
                    </a:lnTo>
                    <a:lnTo>
                      <a:pt x="0" y="8"/>
                    </a:lnTo>
                    <a:lnTo>
                      <a:pt x="0" y="5"/>
                    </a:lnTo>
                    <a:lnTo>
                      <a:pt x="2" y="2"/>
                    </a:lnTo>
                    <a:lnTo>
                      <a:pt x="5" y="1"/>
                    </a:lnTo>
                    <a:lnTo>
                      <a:pt x="8" y="0"/>
                    </a:lnTo>
                    <a:lnTo>
                      <a:pt x="11" y="1"/>
                    </a:lnTo>
                    <a:lnTo>
                      <a:pt x="13" y="2"/>
                    </a:lnTo>
                    <a:lnTo>
                      <a:pt x="15" y="5"/>
                    </a:lnTo>
                    <a:lnTo>
                      <a:pt x="15" y="8"/>
                    </a:lnTo>
                  </a:path>
                </a:pathLst>
              </a:custGeom>
              <a:noFill/>
              <a:ln w="1588">
                <a:solidFill>
                  <a:srgbClr val="000000"/>
                </a:solidFill>
                <a:round/>
                <a:headEnd/>
                <a:tailEnd/>
              </a:ln>
            </p:spPr>
            <p:txBody>
              <a:bodyPr/>
              <a:lstStyle/>
              <a:p>
                <a:endParaRPr lang="zh-CN" altLang="en-US"/>
              </a:p>
            </p:txBody>
          </p:sp>
          <p:sp>
            <p:nvSpPr>
              <p:cNvPr id="63595" name="Freeform 98"/>
              <p:cNvSpPr>
                <a:spLocks/>
              </p:cNvSpPr>
              <p:nvPr/>
            </p:nvSpPr>
            <p:spPr bwMode="auto">
              <a:xfrm>
                <a:off x="3242" y="2390"/>
                <a:ext cx="101" cy="111"/>
              </a:xfrm>
              <a:custGeom>
                <a:avLst/>
                <a:gdLst>
                  <a:gd name="T0" fmla="*/ 54 w 95"/>
                  <a:gd name="T1" fmla="*/ 87 h 96"/>
                  <a:gd name="T2" fmla="*/ 0 w 95"/>
                  <a:gd name="T3" fmla="*/ 128 h 96"/>
                  <a:gd name="T4" fmla="*/ 54 w 95"/>
                  <a:gd name="T5" fmla="*/ 0 h 96"/>
                  <a:gd name="T6" fmla="*/ 107 w 95"/>
                  <a:gd name="T7" fmla="*/ 128 h 96"/>
                  <a:gd name="T8" fmla="*/ 54 w 95"/>
                  <a:gd name="T9" fmla="*/ 87 h 96"/>
                  <a:gd name="T10" fmla="*/ 54 w 95"/>
                  <a:gd name="T11" fmla="*/ 87 h 96"/>
                  <a:gd name="T12" fmla="*/ 0 60000 65536"/>
                  <a:gd name="T13" fmla="*/ 0 60000 65536"/>
                  <a:gd name="T14" fmla="*/ 0 60000 65536"/>
                  <a:gd name="T15" fmla="*/ 0 60000 65536"/>
                  <a:gd name="T16" fmla="*/ 0 60000 65536"/>
                  <a:gd name="T17" fmla="*/ 0 60000 65536"/>
                  <a:gd name="T18" fmla="*/ 0 w 95"/>
                  <a:gd name="T19" fmla="*/ 0 h 96"/>
                  <a:gd name="T20" fmla="*/ 95 w 95"/>
                  <a:gd name="T21" fmla="*/ 96 h 96"/>
                </a:gdLst>
                <a:ahLst/>
                <a:cxnLst>
                  <a:cxn ang="T12">
                    <a:pos x="T0" y="T1"/>
                  </a:cxn>
                  <a:cxn ang="T13">
                    <a:pos x="T2" y="T3"/>
                  </a:cxn>
                  <a:cxn ang="T14">
                    <a:pos x="T4" y="T5"/>
                  </a:cxn>
                  <a:cxn ang="T15">
                    <a:pos x="T6" y="T7"/>
                  </a:cxn>
                  <a:cxn ang="T16">
                    <a:pos x="T8" y="T9"/>
                  </a:cxn>
                  <a:cxn ang="T17">
                    <a:pos x="T10" y="T11"/>
                  </a:cxn>
                </a:cxnLst>
                <a:rect l="T18" t="T19" r="T20" b="T21"/>
                <a:pathLst>
                  <a:path w="95" h="96">
                    <a:moveTo>
                      <a:pt x="48" y="65"/>
                    </a:moveTo>
                    <a:lnTo>
                      <a:pt x="0" y="96"/>
                    </a:lnTo>
                    <a:lnTo>
                      <a:pt x="48" y="0"/>
                    </a:lnTo>
                    <a:lnTo>
                      <a:pt x="95" y="96"/>
                    </a:lnTo>
                    <a:lnTo>
                      <a:pt x="48" y="65"/>
                    </a:lnTo>
                  </a:path>
                </a:pathLst>
              </a:custGeom>
              <a:noFill/>
              <a:ln w="1588">
                <a:solidFill>
                  <a:srgbClr val="000000"/>
                </a:solidFill>
                <a:round/>
                <a:headEnd/>
                <a:tailEnd/>
              </a:ln>
            </p:spPr>
            <p:txBody>
              <a:bodyPr/>
              <a:lstStyle/>
              <a:p>
                <a:endParaRPr lang="zh-CN" altLang="en-US"/>
              </a:p>
            </p:txBody>
          </p:sp>
          <p:sp>
            <p:nvSpPr>
              <p:cNvPr id="63596" name="Freeform 99"/>
              <p:cNvSpPr>
                <a:spLocks/>
              </p:cNvSpPr>
              <p:nvPr/>
            </p:nvSpPr>
            <p:spPr bwMode="auto">
              <a:xfrm>
                <a:off x="3268" y="3236"/>
                <a:ext cx="49" cy="53"/>
              </a:xfrm>
              <a:custGeom>
                <a:avLst/>
                <a:gdLst>
                  <a:gd name="T0" fmla="*/ 26 w 46"/>
                  <a:gd name="T1" fmla="*/ 0 h 46"/>
                  <a:gd name="T2" fmla="*/ 16 w 46"/>
                  <a:gd name="T3" fmla="*/ 2 h 46"/>
                  <a:gd name="T4" fmla="*/ 6 w 46"/>
                  <a:gd name="T5" fmla="*/ 9 h 46"/>
                  <a:gd name="T6" fmla="*/ 2 w 46"/>
                  <a:gd name="T7" fmla="*/ 18 h 46"/>
                  <a:gd name="T8" fmla="*/ 0 w 46"/>
                  <a:gd name="T9" fmla="*/ 31 h 46"/>
                  <a:gd name="T10" fmla="*/ 2 w 46"/>
                  <a:gd name="T11" fmla="*/ 43 h 46"/>
                  <a:gd name="T12" fmla="*/ 6 w 46"/>
                  <a:gd name="T13" fmla="*/ 52 h 46"/>
                  <a:gd name="T14" fmla="*/ 16 w 46"/>
                  <a:gd name="T15" fmla="*/ 59 h 46"/>
                  <a:gd name="T16" fmla="*/ 26 w 46"/>
                  <a:gd name="T17" fmla="*/ 61 h 46"/>
                  <a:gd name="T18" fmla="*/ 36 w 46"/>
                  <a:gd name="T19" fmla="*/ 59 h 46"/>
                  <a:gd name="T20" fmla="*/ 45 w 46"/>
                  <a:gd name="T21" fmla="*/ 52 h 46"/>
                  <a:gd name="T22" fmla="*/ 50 w 46"/>
                  <a:gd name="T23" fmla="*/ 43 h 46"/>
                  <a:gd name="T24" fmla="*/ 52 w 46"/>
                  <a:gd name="T25" fmla="*/ 31 h 46"/>
                  <a:gd name="T26" fmla="*/ 50 w 46"/>
                  <a:gd name="T27" fmla="*/ 18 h 46"/>
                  <a:gd name="T28" fmla="*/ 45 w 46"/>
                  <a:gd name="T29" fmla="*/ 9 h 46"/>
                  <a:gd name="T30" fmla="*/ 36 w 46"/>
                  <a:gd name="T31" fmla="*/ 2 h 46"/>
                  <a:gd name="T32" fmla="*/ 26 w 46"/>
                  <a:gd name="T33" fmla="*/ 0 h 4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46"/>
                  <a:gd name="T53" fmla="*/ 46 w 46"/>
                  <a:gd name="T54" fmla="*/ 46 h 4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46">
                    <a:moveTo>
                      <a:pt x="23" y="0"/>
                    </a:moveTo>
                    <a:lnTo>
                      <a:pt x="14" y="2"/>
                    </a:lnTo>
                    <a:lnTo>
                      <a:pt x="6" y="7"/>
                    </a:lnTo>
                    <a:lnTo>
                      <a:pt x="2" y="14"/>
                    </a:lnTo>
                    <a:lnTo>
                      <a:pt x="0" y="23"/>
                    </a:lnTo>
                    <a:lnTo>
                      <a:pt x="2" y="32"/>
                    </a:lnTo>
                    <a:lnTo>
                      <a:pt x="6" y="39"/>
                    </a:lnTo>
                    <a:lnTo>
                      <a:pt x="14" y="44"/>
                    </a:lnTo>
                    <a:lnTo>
                      <a:pt x="23" y="46"/>
                    </a:lnTo>
                    <a:lnTo>
                      <a:pt x="32" y="44"/>
                    </a:lnTo>
                    <a:lnTo>
                      <a:pt x="39" y="39"/>
                    </a:lnTo>
                    <a:lnTo>
                      <a:pt x="44" y="32"/>
                    </a:lnTo>
                    <a:lnTo>
                      <a:pt x="46" y="23"/>
                    </a:lnTo>
                    <a:lnTo>
                      <a:pt x="44" y="14"/>
                    </a:lnTo>
                    <a:lnTo>
                      <a:pt x="39" y="7"/>
                    </a:lnTo>
                    <a:lnTo>
                      <a:pt x="32" y="2"/>
                    </a:lnTo>
                    <a:lnTo>
                      <a:pt x="23" y="0"/>
                    </a:lnTo>
                    <a:close/>
                  </a:path>
                </a:pathLst>
              </a:custGeom>
              <a:solidFill>
                <a:srgbClr val="000000"/>
              </a:solidFill>
              <a:ln w="9525">
                <a:noFill/>
                <a:round/>
                <a:headEnd/>
                <a:tailEnd/>
              </a:ln>
            </p:spPr>
            <p:txBody>
              <a:bodyPr/>
              <a:lstStyle/>
              <a:p>
                <a:endParaRPr lang="zh-CN" altLang="en-US"/>
              </a:p>
            </p:txBody>
          </p:sp>
          <p:sp>
            <p:nvSpPr>
              <p:cNvPr id="63597" name="Freeform 100"/>
              <p:cNvSpPr>
                <a:spLocks/>
              </p:cNvSpPr>
              <p:nvPr/>
            </p:nvSpPr>
            <p:spPr bwMode="auto">
              <a:xfrm>
                <a:off x="3268" y="3236"/>
                <a:ext cx="49" cy="53"/>
              </a:xfrm>
              <a:custGeom>
                <a:avLst/>
                <a:gdLst>
                  <a:gd name="T0" fmla="*/ 26 w 46"/>
                  <a:gd name="T1" fmla="*/ 0 h 46"/>
                  <a:gd name="T2" fmla="*/ 16 w 46"/>
                  <a:gd name="T3" fmla="*/ 2 h 46"/>
                  <a:gd name="T4" fmla="*/ 6 w 46"/>
                  <a:gd name="T5" fmla="*/ 9 h 46"/>
                  <a:gd name="T6" fmla="*/ 2 w 46"/>
                  <a:gd name="T7" fmla="*/ 18 h 46"/>
                  <a:gd name="T8" fmla="*/ 0 w 46"/>
                  <a:gd name="T9" fmla="*/ 31 h 46"/>
                  <a:gd name="T10" fmla="*/ 2 w 46"/>
                  <a:gd name="T11" fmla="*/ 43 h 46"/>
                  <a:gd name="T12" fmla="*/ 6 w 46"/>
                  <a:gd name="T13" fmla="*/ 52 h 46"/>
                  <a:gd name="T14" fmla="*/ 16 w 46"/>
                  <a:gd name="T15" fmla="*/ 59 h 46"/>
                  <a:gd name="T16" fmla="*/ 26 w 46"/>
                  <a:gd name="T17" fmla="*/ 61 h 46"/>
                  <a:gd name="T18" fmla="*/ 36 w 46"/>
                  <a:gd name="T19" fmla="*/ 59 h 46"/>
                  <a:gd name="T20" fmla="*/ 45 w 46"/>
                  <a:gd name="T21" fmla="*/ 52 h 46"/>
                  <a:gd name="T22" fmla="*/ 50 w 46"/>
                  <a:gd name="T23" fmla="*/ 43 h 46"/>
                  <a:gd name="T24" fmla="*/ 52 w 46"/>
                  <a:gd name="T25" fmla="*/ 31 h 46"/>
                  <a:gd name="T26" fmla="*/ 50 w 46"/>
                  <a:gd name="T27" fmla="*/ 18 h 46"/>
                  <a:gd name="T28" fmla="*/ 45 w 46"/>
                  <a:gd name="T29" fmla="*/ 9 h 46"/>
                  <a:gd name="T30" fmla="*/ 36 w 46"/>
                  <a:gd name="T31" fmla="*/ 2 h 46"/>
                  <a:gd name="T32" fmla="*/ 26 w 46"/>
                  <a:gd name="T33" fmla="*/ 0 h 4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46"/>
                  <a:gd name="T53" fmla="*/ 46 w 46"/>
                  <a:gd name="T54" fmla="*/ 46 h 4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46">
                    <a:moveTo>
                      <a:pt x="23" y="0"/>
                    </a:moveTo>
                    <a:lnTo>
                      <a:pt x="14" y="2"/>
                    </a:lnTo>
                    <a:lnTo>
                      <a:pt x="6" y="7"/>
                    </a:lnTo>
                    <a:lnTo>
                      <a:pt x="2" y="14"/>
                    </a:lnTo>
                    <a:lnTo>
                      <a:pt x="0" y="23"/>
                    </a:lnTo>
                    <a:lnTo>
                      <a:pt x="2" y="32"/>
                    </a:lnTo>
                    <a:lnTo>
                      <a:pt x="6" y="39"/>
                    </a:lnTo>
                    <a:lnTo>
                      <a:pt x="14" y="44"/>
                    </a:lnTo>
                    <a:lnTo>
                      <a:pt x="23" y="46"/>
                    </a:lnTo>
                    <a:lnTo>
                      <a:pt x="32" y="44"/>
                    </a:lnTo>
                    <a:lnTo>
                      <a:pt x="39" y="39"/>
                    </a:lnTo>
                    <a:lnTo>
                      <a:pt x="44" y="32"/>
                    </a:lnTo>
                    <a:lnTo>
                      <a:pt x="46" y="23"/>
                    </a:lnTo>
                    <a:lnTo>
                      <a:pt x="44" y="14"/>
                    </a:lnTo>
                    <a:lnTo>
                      <a:pt x="39" y="7"/>
                    </a:lnTo>
                    <a:lnTo>
                      <a:pt x="32" y="2"/>
                    </a:lnTo>
                    <a:lnTo>
                      <a:pt x="23" y="0"/>
                    </a:lnTo>
                  </a:path>
                </a:pathLst>
              </a:custGeom>
              <a:noFill/>
              <a:ln w="9525">
                <a:solidFill>
                  <a:srgbClr val="000000"/>
                </a:solidFill>
                <a:round/>
                <a:headEnd/>
                <a:tailEnd/>
              </a:ln>
            </p:spPr>
            <p:txBody>
              <a:bodyPr/>
              <a:lstStyle/>
              <a:p>
                <a:endParaRPr lang="zh-CN" altLang="en-US"/>
              </a:p>
            </p:txBody>
          </p:sp>
          <p:sp>
            <p:nvSpPr>
              <p:cNvPr id="63598" name="Rectangle 130"/>
              <p:cNvSpPr>
                <a:spLocks noChangeArrowheads="1"/>
              </p:cNvSpPr>
              <p:nvPr/>
            </p:nvSpPr>
            <p:spPr bwMode="auto">
              <a:xfrm>
                <a:off x="2862" y="2146"/>
                <a:ext cx="15" cy="77"/>
              </a:xfrm>
              <a:prstGeom prst="rect">
                <a:avLst/>
              </a:prstGeom>
              <a:noFill/>
              <a:ln w="9525">
                <a:noFill/>
                <a:miter lim="800000"/>
                <a:headEnd/>
                <a:tailEnd/>
              </a:ln>
            </p:spPr>
            <p:txBody>
              <a:bodyPr wrap="none" lIns="0" tIns="0" rIns="0" bIns="0">
                <a:spAutoFit/>
              </a:bodyPr>
              <a:lstStyle/>
              <a:p>
                <a:pPr defTabSz="914400"/>
                <a:r>
                  <a:rPr lang="zh-CN" altLang="en-US" sz="800">
                    <a:solidFill>
                      <a:srgbClr val="000000"/>
                    </a:solidFill>
                    <a:latin typeface="Times New Roman" pitchFamily="18" charset="0"/>
                    <a:ea typeface="楷体_GB2312" pitchFamily="49" charset="-122"/>
                  </a:rPr>
                  <a:t> </a:t>
                </a:r>
                <a:endParaRPr lang="zh-CN" altLang="en-US" sz="2800" b="1">
                  <a:latin typeface="楷体_GB2312" pitchFamily="49" charset="-122"/>
                  <a:ea typeface="楷体_GB2312" pitchFamily="49" charset="-122"/>
                </a:endParaRPr>
              </a:p>
            </p:txBody>
          </p:sp>
          <p:sp>
            <p:nvSpPr>
              <p:cNvPr id="63599" name="Rectangle 245"/>
              <p:cNvSpPr>
                <a:spLocks noChangeArrowheads="1"/>
              </p:cNvSpPr>
              <p:nvPr/>
            </p:nvSpPr>
            <p:spPr bwMode="auto">
              <a:xfrm>
                <a:off x="3878" y="2478"/>
                <a:ext cx="136" cy="173"/>
              </a:xfrm>
              <a:prstGeom prst="rect">
                <a:avLst/>
              </a:prstGeom>
              <a:noFill/>
              <a:ln w="9525">
                <a:noFill/>
                <a:miter lim="800000"/>
                <a:headEnd/>
                <a:tailEnd/>
              </a:ln>
            </p:spPr>
            <p:txBody>
              <a:bodyPr lIns="0" tIns="0" rIns="0" bIns="0">
                <a:spAutoFit/>
              </a:bodyPr>
              <a:lstStyle/>
              <a:p>
                <a:pPr defTabSz="914400"/>
                <a:r>
                  <a:rPr lang="en-US" altLang="zh-CN" sz="1800" b="1" i="1">
                    <a:solidFill>
                      <a:srgbClr val="000000"/>
                    </a:solidFill>
                    <a:latin typeface="Times New Roman" pitchFamily="18" charset="0"/>
                    <a:ea typeface="楷体_GB2312" pitchFamily="49" charset="-122"/>
                  </a:rPr>
                  <a:t>r</a:t>
                </a:r>
                <a:r>
                  <a:rPr lang="en-US" altLang="zh-CN" sz="1800" b="1" i="1" baseline="-25000">
                    <a:solidFill>
                      <a:srgbClr val="000000"/>
                    </a:solidFill>
                    <a:latin typeface="Times New Roman" pitchFamily="18" charset="0"/>
                    <a:ea typeface="楷体_GB2312" pitchFamily="49" charset="-122"/>
                  </a:rPr>
                  <a:t>s</a:t>
                </a:r>
                <a:endParaRPr lang="en-US" altLang="zh-CN" sz="1800" b="1" baseline="-25000">
                  <a:latin typeface="楷体_GB2312" pitchFamily="49" charset="-122"/>
                  <a:ea typeface="楷体_GB2312" pitchFamily="49" charset="-122"/>
                </a:endParaRPr>
              </a:p>
            </p:txBody>
          </p:sp>
          <p:sp>
            <p:nvSpPr>
              <p:cNvPr id="63600" name="Rectangle 246"/>
              <p:cNvSpPr>
                <a:spLocks noChangeArrowheads="1"/>
              </p:cNvSpPr>
              <p:nvPr/>
            </p:nvSpPr>
            <p:spPr bwMode="auto">
              <a:xfrm>
                <a:off x="3379" y="2387"/>
                <a:ext cx="454" cy="173"/>
              </a:xfrm>
              <a:prstGeom prst="rect">
                <a:avLst/>
              </a:prstGeom>
              <a:noFill/>
              <a:ln w="9525">
                <a:noFill/>
                <a:miter lim="800000"/>
                <a:headEnd/>
                <a:tailEnd/>
              </a:ln>
            </p:spPr>
            <p:txBody>
              <a:bodyPr lIns="0" tIns="0" rIns="0" bIns="0">
                <a:spAutoFit/>
              </a:bodyPr>
              <a:lstStyle/>
              <a:p>
                <a:pPr defTabSz="914400"/>
                <a:r>
                  <a:rPr lang="en-US" altLang="zh-CN" sz="1800" b="1" i="1" dirty="0" err="1">
                    <a:solidFill>
                      <a:srgbClr val="000000"/>
                    </a:solidFill>
                    <a:latin typeface="Times New Roman" pitchFamily="18" charset="0"/>
                    <a:ea typeface="楷体_GB2312" pitchFamily="49" charset="-122"/>
                  </a:rPr>
                  <a:t>r</a:t>
                </a:r>
                <a:r>
                  <a:rPr lang="en-US" altLang="zh-CN" sz="1800" b="1" i="1" baseline="-25000" dirty="0" err="1">
                    <a:solidFill>
                      <a:srgbClr val="000000"/>
                    </a:solidFill>
                    <a:latin typeface="Times New Roman" pitchFamily="18" charset="0"/>
                    <a:ea typeface="楷体_GB2312" pitchFamily="49" charset="-122"/>
                  </a:rPr>
                  <a:t>s</a:t>
                </a:r>
                <a:r>
                  <a:rPr lang="en-US" altLang="zh-CN" sz="1800" b="1" i="1" baseline="-25000" dirty="0">
                    <a:solidFill>
                      <a:srgbClr val="000000"/>
                    </a:solidFill>
                    <a:latin typeface="Times New Roman" pitchFamily="18" charset="0"/>
                    <a:ea typeface="楷体_GB2312" pitchFamily="49" charset="-122"/>
                  </a:rPr>
                  <a:t> </a:t>
                </a:r>
                <a:r>
                  <a:rPr lang="en-US" altLang="zh-CN" sz="1800" b="1" i="1" dirty="0">
                    <a:solidFill>
                      <a:srgbClr val="000000"/>
                    </a:solidFill>
                    <a:latin typeface="Times New Roman" pitchFamily="18" charset="0"/>
                    <a:ea typeface="楷体_GB2312" pitchFamily="49" charset="-122"/>
                  </a:rPr>
                  <a:t>- r</a:t>
                </a:r>
                <a:r>
                  <a:rPr lang="en-US" altLang="zh-CN" sz="1800" b="1" i="1" baseline="-25000" dirty="0">
                    <a:solidFill>
                      <a:srgbClr val="000000"/>
                    </a:solidFill>
                    <a:latin typeface="Times New Roman" pitchFamily="18" charset="0"/>
                    <a:ea typeface="楷体_GB2312" pitchFamily="49" charset="-122"/>
                  </a:rPr>
                  <a:t>0</a:t>
                </a:r>
              </a:p>
            </p:txBody>
          </p:sp>
          <p:sp>
            <p:nvSpPr>
              <p:cNvPr id="63601" name="Rectangle 247"/>
              <p:cNvSpPr>
                <a:spLocks noChangeArrowheads="1"/>
              </p:cNvSpPr>
              <p:nvPr/>
            </p:nvSpPr>
            <p:spPr bwMode="auto">
              <a:xfrm>
                <a:off x="3334" y="1752"/>
                <a:ext cx="635" cy="173"/>
              </a:xfrm>
              <a:prstGeom prst="rect">
                <a:avLst/>
              </a:prstGeom>
              <a:noFill/>
              <a:ln w="9525">
                <a:noFill/>
                <a:miter lim="800000"/>
                <a:headEnd/>
                <a:tailEnd/>
              </a:ln>
            </p:spPr>
            <p:txBody>
              <a:bodyPr lIns="0" tIns="0" rIns="0" bIns="0">
                <a:spAutoFit/>
              </a:bodyPr>
              <a:lstStyle/>
              <a:p>
                <a:pPr defTabSz="914400"/>
                <a:r>
                  <a:rPr lang="en-US" altLang="zh-CN" sz="1800" b="1" i="1">
                    <a:solidFill>
                      <a:srgbClr val="000000"/>
                    </a:solidFill>
                    <a:latin typeface="Times New Roman" pitchFamily="18" charset="0"/>
                    <a:ea typeface="楷体_GB2312" pitchFamily="49" charset="-122"/>
                  </a:rPr>
                  <a:t>v</a:t>
                </a:r>
                <a:r>
                  <a:rPr lang="en-US" altLang="zh-CN" sz="1800" b="1" i="1" baseline="-25000">
                    <a:solidFill>
                      <a:srgbClr val="000000"/>
                    </a:solidFill>
                    <a:latin typeface="Times New Roman" pitchFamily="18" charset="0"/>
                    <a:ea typeface="楷体_GB2312" pitchFamily="49" charset="-122"/>
                  </a:rPr>
                  <a:t>0 </a:t>
                </a:r>
                <a:r>
                  <a:rPr lang="en-US" altLang="zh-CN" sz="1800" b="1">
                    <a:solidFill>
                      <a:srgbClr val="000000"/>
                    </a:solidFill>
                    <a:latin typeface="Times New Roman" pitchFamily="18" charset="0"/>
                    <a:ea typeface="楷体_GB2312" pitchFamily="49" charset="-122"/>
                  </a:rPr>
                  <a:t>.(</a:t>
                </a:r>
                <a:r>
                  <a:rPr lang="en-US" altLang="zh-CN" sz="1800" b="1" i="1">
                    <a:solidFill>
                      <a:srgbClr val="000000"/>
                    </a:solidFill>
                    <a:latin typeface="Times New Roman" pitchFamily="18" charset="0"/>
                    <a:ea typeface="楷体_GB2312" pitchFamily="49" charset="-122"/>
                  </a:rPr>
                  <a:t>r</a:t>
                </a:r>
                <a:r>
                  <a:rPr lang="en-US" altLang="zh-CN" sz="1800" b="1" i="1" baseline="-25000">
                    <a:solidFill>
                      <a:srgbClr val="000000"/>
                    </a:solidFill>
                    <a:latin typeface="Times New Roman" pitchFamily="18" charset="0"/>
                    <a:ea typeface="楷体_GB2312" pitchFamily="49" charset="-122"/>
                  </a:rPr>
                  <a:t>s </a:t>
                </a:r>
                <a:r>
                  <a:rPr lang="en-US" altLang="zh-CN" sz="1800" b="1" i="1">
                    <a:solidFill>
                      <a:srgbClr val="000000"/>
                    </a:solidFill>
                    <a:latin typeface="Times New Roman" pitchFamily="18" charset="0"/>
                    <a:ea typeface="楷体_GB2312" pitchFamily="49" charset="-122"/>
                  </a:rPr>
                  <a:t>- r</a:t>
                </a:r>
                <a:r>
                  <a:rPr lang="en-US" altLang="zh-CN" sz="1800" b="1" i="1" baseline="-25000">
                    <a:solidFill>
                      <a:srgbClr val="000000"/>
                    </a:solidFill>
                    <a:latin typeface="Times New Roman" pitchFamily="18" charset="0"/>
                    <a:ea typeface="楷体_GB2312" pitchFamily="49" charset="-122"/>
                  </a:rPr>
                  <a:t>0</a:t>
                </a:r>
                <a:r>
                  <a:rPr lang="en-US" altLang="zh-CN" sz="1800" b="1">
                    <a:solidFill>
                      <a:srgbClr val="000000"/>
                    </a:solidFill>
                    <a:latin typeface="Times New Roman" pitchFamily="18" charset="0"/>
                    <a:ea typeface="楷体_GB2312" pitchFamily="49" charset="-122"/>
                  </a:rPr>
                  <a:t>)</a:t>
                </a:r>
              </a:p>
            </p:txBody>
          </p:sp>
          <p:sp>
            <p:nvSpPr>
              <p:cNvPr id="63602" name="Rectangle 249"/>
              <p:cNvSpPr>
                <a:spLocks noChangeArrowheads="1"/>
              </p:cNvSpPr>
              <p:nvPr/>
            </p:nvSpPr>
            <p:spPr bwMode="auto">
              <a:xfrm>
                <a:off x="2699" y="1752"/>
                <a:ext cx="136" cy="173"/>
              </a:xfrm>
              <a:prstGeom prst="rect">
                <a:avLst/>
              </a:prstGeom>
              <a:noFill/>
              <a:ln w="9525">
                <a:noFill/>
                <a:miter lim="800000"/>
                <a:headEnd/>
                <a:tailEnd/>
              </a:ln>
            </p:spPr>
            <p:txBody>
              <a:bodyPr lIns="0" tIns="0" rIns="0" bIns="0">
                <a:spAutoFit/>
              </a:bodyPr>
              <a:lstStyle/>
              <a:p>
                <a:pPr defTabSz="914400"/>
                <a:r>
                  <a:rPr lang="en-US" altLang="zh-CN" sz="1800" b="1" i="1">
                    <a:solidFill>
                      <a:srgbClr val="000000"/>
                    </a:solidFill>
                    <a:latin typeface="Times New Roman" pitchFamily="18" charset="0"/>
                    <a:ea typeface="楷体_GB2312" pitchFamily="49" charset="-122"/>
                  </a:rPr>
                  <a:t>v</a:t>
                </a:r>
                <a:endParaRPr lang="en-US" altLang="zh-CN" sz="1800" b="1">
                  <a:solidFill>
                    <a:srgbClr val="000000"/>
                  </a:solidFill>
                  <a:latin typeface="Times New Roman" pitchFamily="18" charset="0"/>
                  <a:ea typeface="楷体_GB2312" pitchFamily="49" charset="-122"/>
                </a:endParaRPr>
              </a:p>
            </p:txBody>
          </p:sp>
          <p:sp>
            <p:nvSpPr>
              <p:cNvPr id="63603" name="Rectangle 250"/>
              <p:cNvSpPr>
                <a:spLocks noChangeArrowheads="1"/>
              </p:cNvSpPr>
              <p:nvPr/>
            </p:nvSpPr>
            <p:spPr bwMode="auto">
              <a:xfrm>
                <a:off x="2608" y="2976"/>
                <a:ext cx="227" cy="173"/>
              </a:xfrm>
              <a:prstGeom prst="rect">
                <a:avLst/>
              </a:prstGeom>
              <a:noFill/>
              <a:ln w="9525">
                <a:noFill/>
                <a:miter lim="800000"/>
                <a:headEnd/>
                <a:tailEnd/>
              </a:ln>
            </p:spPr>
            <p:txBody>
              <a:bodyPr lIns="0" tIns="0" rIns="0" bIns="0">
                <a:spAutoFit/>
              </a:bodyPr>
              <a:lstStyle/>
              <a:p>
                <a:pPr defTabSz="914400"/>
                <a:r>
                  <a:rPr lang="en-US" altLang="zh-CN" sz="1800" b="1" i="1">
                    <a:solidFill>
                      <a:srgbClr val="000000"/>
                    </a:solidFill>
                    <a:latin typeface="Times New Roman" pitchFamily="18" charset="0"/>
                    <a:ea typeface="楷体_GB2312" pitchFamily="49" charset="-122"/>
                  </a:rPr>
                  <a:t>r</a:t>
                </a:r>
                <a:r>
                  <a:rPr lang="en-US" altLang="zh-CN" sz="1800" b="1" i="1" baseline="-25000">
                    <a:solidFill>
                      <a:srgbClr val="000000"/>
                    </a:solidFill>
                    <a:latin typeface="Times New Roman" pitchFamily="18" charset="0"/>
                    <a:ea typeface="楷体_GB2312" pitchFamily="49" charset="-122"/>
                  </a:rPr>
                  <a:t>0</a:t>
                </a:r>
                <a:endParaRPr lang="en-US" altLang="zh-CN" sz="1800" b="1">
                  <a:solidFill>
                    <a:srgbClr val="000000"/>
                  </a:solidFill>
                  <a:latin typeface="Times New Roman" pitchFamily="18" charset="0"/>
                  <a:ea typeface="楷体_GB2312" pitchFamily="49" charset="-122"/>
                </a:endParaRPr>
              </a:p>
            </p:txBody>
          </p:sp>
          <p:sp>
            <p:nvSpPr>
              <p:cNvPr id="63604" name="Rectangle 251"/>
              <p:cNvSpPr>
                <a:spLocks noChangeArrowheads="1"/>
              </p:cNvSpPr>
              <p:nvPr/>
            </p:nvSpPr>
            <p:spPr bwMode="auto">
              <a:xfrm>
                <a:off x="2562" y="3294"/>
                <a:ext cx="136" cy="173"/>
              </a:xfrm>
              <a:prstGeom prst="rect">
                <a:avLst/>
              </a:prstGeom>
              <a:noFill/>
              <a:ln w="9525">
                <a:noFill/>
                <a:miter lim="800000"/>
                <a:headEnd/>
                <a:tailEnd/>
              </a:ln>
            </p:spPr>
            <p:txBody>
              <a:bodyPr lIns="0" tIns="0" rIns="0" bIns="0">
                <a:spAutoFit/>
              </a:bodyPr>
              <a:lstStyle/>
              <a:p>
                <a:pPr defTabSz="914400"/>
                <a:r>
                  <a:rPr lang="en-US" altLang="zh-CN" sz="1800" b="1" i="1">
                    <a:solidFill>
                      <a:srgbClr val="000000"/>
                    </a:solidFill>
                    <a:latin typeface="Times New Roman" pitchFamily="18" charset="0"/>
                    <a:ea typeface="楷体_GB2312" pitchFamily="49" charset="-122"/>
                  </a:rPr>
                  <a:t>f</a:t>
                </a:r>
                <a:r>
                  <a:rPr lang="en-US" altLang="zh-CN" sz="1800" b="1" i="1" baseline="-25000">
                    <a:solidFill>
                      <a:srgbClr val="000000"/>
                    </a:solidFill>
                    <a:latin typeface="Times New Roman" pitchFamily="18" charset="0"/>
                    <a:ea typeface="楷体_GB2312" pitchFamily="49" charset="-122"/>
                  </a:rPr>
                  <a:t>0</a:t>
                </a:r>
                <a:endParaRPr lang="en-US" altLang="zh-CN" sz="1800" b="1" baseline="-25000">
                  <a:latin typeface="楷体_GB2312" pitchFamily="49" charset="-122"/>
                  <a:ea typeface="楷体_GB2312" pitchFamily="49" charset="-122"/>
                </a:endParaRPr>
              </a:p>
            </p:txBody>
          </p:sp>
          <p:sp>
            <p:nvSpPr>
              <p:cNvPr id="63605" name="Rectangle 252"/>
              <p:cNvSpPr>
                <a:spLocks noChangeArrowheads="1"/>
              </p:cNvSpPr>
              <p:nvPr/>
            </p:nvSpPr>
            <p:spPr bwMode="auto">
              <a:xfrm>
                <a:off x="2699" y="3612"/>
                <a:ext cx="168" cy="173"/>
              </a:xfrm>
              <a:prstGeom prst="rect">
                <a:avLst/>
              </a:prstGeom>
              <a:noFill/>
              <a:ln w="9525">
                <a:noFill/>
                <a:miter lim="800000"/>
                <a:headEnd/>
                <a:tailEnd/>
              </a:ln>
            </p:spPr>
            <p:txBody>
              <a:bodyPr wrap="none" lIns="0" tIns="0" rIns="0" bIns="0">
                <a:spAutoFit/>
              </a:bodyPr>
              <a:lstStyle/>
              <a:p>
                <a:pPr defTabSz="914400"/>
                <a:r>
                  <a:rPr lang="en-US" altLang="zh-CN" sz="1800" b="1">
                    <a:solidFill>
                      <a:srgbClr val="000000"/>
                    </a:solidFill>
                    <a:latin typeface="Times New Roman" pitchFamily="18" charset="0"/>
                  </a:rPr>
                  <a:t>(a)</a:t>
                </a:r>
                <a:endParaRPr lang="en-US" altLang="zh-CN" sz="1800" b="1">
                  <a:latin typeface="Times New Roman" pitchFamily="18" charset="0"/>
                  <a:ea typeface="楷体_GB2312" pitchFamily="49" charset="-122"/>
                </a:endParaRPr>
              </a:p>
            </p:txBody>
          </p:sp>
        </p:grpSp>
      </p:grpSp>
      <p:sp>
        <p:nvSpPr>
          <p:cNvPr id="116" name="椭圆形标注 115"/>
          <p:cNvSpPr/>
          <p:nvPr/>
        </p:nvSpPr>
        <p:spPr>
          <a:xfrm>
            <a:off x="9420046" y="5676181"/>
            <a:ext cx="2794958" cy="1052423"/>
          </a:xfrm>
          <a:prstGeom prst="wedgeEllipseCallout">
            <a:avLst>
              <a:gd name="adj1" fmla="val 7562"/>
              <a:gd name="adj2" fmla="val -179034"/>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2400" b="1" dirty="0" smtClean="0">
                <a:solidFill>
                  <a:srgbClr val="FF0000"/>
                </a:solidFill>
                <a:latin typeface="黑体" pitchFamily="2" charset="-122"/>
                <a:ea typeface="黑体" pitchFamily="2" charset="-122"/>
              </a:rPr>
              <a:t>多普勒强度方向</a:t>
            </a:r>
            <a:endParaRPr lang="zh-CN" altLang="en-US" sz="2400" b="1" dirty="0">
              <a:solidFill>
                <a:srgbClr val="FF0000"/>
              </a:solidFill>
              <a:latin typeface="黑体" pitchFamily="2" charset="-122"/>
              <a:ea typeface="黑体" pitchFamily="2" charset="-122"/>
            </a:endParaRPr>
          </a:p>
        </p:txBody>
      </p:sp>
      <p:sp>
        <p:nvSpPr>
          <p:cNvPr id="118" name="矩形 117"/>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19" name="矩形 118">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矩形 121">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23" name="矩形 12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24" name="文本框 60">
            <a:extLst>
              <a:ext uri="{FF2B5EF4-FFF2-40B4-BE49-F238E27FC236}">
                <a16:creationId xmlns:a16="http://schemas.microsoft.com/office/drawing/2014/main" xmlns="" id="{791D85D7-F412-9C48-9F2B-E33F5B7B4F3C}"/>
              </a:ext>
            </a:extLst>
          </p:cNvPr>
          <p:cNvSpPr txBox="1"/>
          <p:nvPr/>
        </p:nvSpPr>
        <p:spPr>
          <a:xfrm>
            <a:off x="1407719" y="329189"/>
            <a:ext cx="287618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干涉方法的光学</a:t>
            </a:r>
            <a:r>
              <a:rPr lang="zh-CN" altLang="en-US" sz="1800" b="1" dirty="0">
                <a:latin typeface="微软雅黑" panose="020B0503020204020204" pitchFamily="34" charset="-122"/>
                <a:ea typeface="微软雅黑" panose="020B0503020204020204" pitchFamily="34" charset="-122"/>
              </a:rPr>
              <a:t>信息变换</a:t>
            </a:r>
          </a:p>
        </p:txBody>
      </p:sp>
      <p:sp>
        <p:nvSpPr>
          <p:cNvPr id="125"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26"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577704"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9444"/>
                                        </p:tgtEl>
                                        <p:attrNameLst>
                                          <p:attrName>style.visibility</p:attrName>
                                        </p:attrNameLst>
                                      </p:cBhvr>
                                      <p:to>
                                        <p:strVal val="visible"/>
                                      </p:to>
                                    </p:set>
                                    <p:animEffect transition="in" filter="blinds(horizontal)">
                                      <p:cBhvr>
                                        <p:cTn id="7" dur="500"/>
                                        <p:tgtEl>
                                          <p:spTgt spid="18944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5"/>
                                        </p:tgtEl>
                                        <p:attrNameLst>
                                          <p:attrName>style.visibility</p:attrName>
                                        </p:attrNameLst>
                                      </p:cBhvr>
                                      <p:to>
                                        <p:strVal val="visible"/>
                                      </p:to>
                                    </p:set>
                                    <p:animEffect transition="in" filter="blinds(horizontal)">
                                      <p:cBhvr>
                                        <p:cTn id="12" dur="500"/>
                                        <p:tgtEl>
                                          <p:spTgt spid="1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6"/>
                                        </p:tgtEl>
                                        <p:attrNameLst>
                                          <p:attrName>style.visibility</p:attrName>
                                        </p:attrNameLst>
                                      </p:cBhvr>
                                      <p:to>
                                        <p:strVal val="visible"/>
                                      </p:to>
                                    </p:set>
                                    <p:animEffect transition="in" filter="blinds(horizontal)">
                                      <p:cBhvr>
                                        <p:cTn id="17"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4" grpId="0"/>
      <p:bldP spid="1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5" name="Rectangle 3"/>
          <p:cNvSpPr>
            <a:spLocks noChangeArrowheads="1"/>
          </p:cNvSpPr>
          <p:nvPr/>
        </p:nvSpPr>
        <p:spPr bwMode="auto">
          <a:xfrm>
            <a:off x="3725831" y="1047203"/>
            <a:ext cx="6105525" cy="646331"/>
          </a:xfrm>
          <a:prstGeom prst="rect">
            <a:avLst/>
          </a:prstGeom>
          <a:noFill/>
          <a:ln w="9525" algn="ctr">
            <a:noFill/>
            <a:miter lim="800000"/>
            <a:headEnd/>
            <a:tailEnd/>
          </a:ln>
        </p:spPr>
        <p:txBody>
          <a:bodyPr anchor="ctr">
            <a:spAutoFit/>
          </a:bodyPr>
          <a:lstStyle/>
          <a:p>
            <a:pPr algn="ctr" defTabSz="914400" eaLnBrk="0" hangingPunct="0"/>
            <a:r>
              <a:rPr lang="zh-CN" altLang="en-US" sz="3600" b="1" dirty="0">
                <a:solidFill>
                  <a:srgbClr val="0000CC"/>
                </a:solidFill>
                <a:latin typeface="Times New Roman" pitchFamily="18" charset="0"/>
                <a:ea typeface="微软雅黑" pitchFamily="34" charset="-122"/>
              </a:rPr>
              <a:t>激光多普勒测速</a:t>
            </a:r>
          </a:p>
        </p:txBody>
      </p:sp>
      <p:sp>
        <p:nvSpPr>
          <p:cNvPr id="190483" name="AutoShape 19"/>
          <p:cNvSpPr>
            <a:spLocks noChangeArrowheads="1"/>
          </p:cNvSpPr>
          <p:nvPr/>
        </p:nvSpPr>
        <p:spPr bwMode="auto">
          <a:xfrm>
            <a:off x="10678676" y="2490326"/>
            <a:ext cx="1008062" cy="4032250"/>
          </a:xfrm>
          <a:prstGeom prst="curvedLeftArrow">
            <a:avLst>
              <a:gd name="adj1" fmla="val 80000"/>
              <a:gd name="adj2" fmla="val 160000"/>
              <a:gd name="adj3" fmla="val 33333"/>
            </a:avLst>
          </a:prstGeom>
          <a:solidFill>
            <a:srgbClr val="008080"/>
          </a:solidFill>
          <a:ln w="9525">
            <a:solidFill>
              <a:srgbClr val="006600"/>
            </a:solidFill>
            <a:miter lim="800000"/>
            <a:headEnd/>
            <a:tailEnd/>
          </a:ln>
        </p:spPr>
        <p:txBody>
          <a:bodyPr wrap="none" anchor="ctr"/>
          <a:lstStyle/>
          <a:p>
            <a:pPr defTabSz="914400"/>
            <a:endParaRPr lang="zh-CN" altLang="en-US" sz="2800" b="1">
              <a:latin typeface="楷体_GB2312" pitchFamily="49" charset="-122"/>
              <a:ea typeface="楷体_GB2312" pitchFamily="49" charset="-122"/>
            </a:endParaRPr>
          </a:p>
        </p:txBody>
      </p:sp>
      <p:sp>
        <p:nvSpPr>
          <p:cNvPr id="190485" name="AutoShape 21"/>
          <p:cNvSpPr>
            <a:spLocks noChangeArrowheads="1"/>
          </p:cNvSpPr>
          <p:nvPr/>
        </p:nvSpPr>
        <p:spPr bwMode="auto">
          <a:xfrm rot="5400000">
            <a:off x="6336651" y="5011377"/>
            <a:ext cx="503238" cy="1368425"/>
          </a:xfrm>
          <a:prstGeom prst="downArrow">
            <a:avLst>
              <a:gd name="adj1" fmla="val 50000"/>
              <a:gd name="adj2" fmla="val 67981"/>
            </a:avLst>
          </a:prstGeom>
          <a:solidFill>
            <a:srgbClr val="FF0000"/>
          </a:solidFill>
          <a:ln w="9525">
            <a:solidFill>
              <a:schemeClr val="tx1"/>
            </a:solidFill>
            <a:miter lim="800000"/>
            <a:headEnd/>
            <a:tailEnd/>
          </a:ln>
        </p:spPr>
        <p:txBody>
          <a:bodyPr wrap="none" anchor="ctr"/>
          <a:lstStyle/>
          <a:p>
            <a:pPr defTabSz="914400"/>
            <a:endParaRPr lang="zh-CN" altLang="en-US" sz="2800" b="1">
              <a:latin typeface="楷体_GB2312" pitchFamily="49" charset="-122"/>
              <a:ea typeface="楷体_GB2312" pitchFamily="49" charset="-122"/>
            </a:endParaRPr>
          </a:p>
        </p:txBody>
      </p:sp>
      <p:grpSp>
        <p:nvGrpSpPr>
          <p:cNvPr id="65547" name="Group 249"/>
          <p:cNvGrpSpPr>
            <a:grpSpLocks/>
          </p:cNvGrpSpPr>
          <p:nvPr/>
        </p:nvGrpSpPr>
        <p:grpSpPr bwMode="auto">
          <a:xfrm>
            <a:off x="1411288" y="1948729"/>
            <a:ext cx="3520930" cy="3080471"/>
            <a:chOff x="521" y="1117"/>
            <a:chExt cx="1359" cy="1261"/>
          </a:xfrm>
        </p:grpSpPr>
        <p:sp>
          <p:nvSpPr>
            <p:cNvPr id="65548" name="Rectangle 168"/>
            <p:cNvSpPr>
              <a:spLocks noChangeArrowheads="1"/>
            </p:cNvSpPr>
            <p:nvPr/>
          </p:nvSpPr>
          <p:spPr bwMode="auto">
            <a:xfrm>
              <a:off x="1337" y="1661"/>
              <a:ext cx="75" cy="173"/>
            </a:xfrm>
            <a:prstGeom prst="rect">
              <a:avLst/>
            </a:prstGeom>
            <a:noFill/>
            <a:ln w="9525">
              <a:noFill/>
              <a:miter lim="800000"/>
              <a:headEnd/>
              <a:tailEnd/>
            </a:ln>
          </p:spPr>
          <p:txBody>
            <a:bodyPr wrap="none" lIns="0" tIns="0" rIns="0" bIns="0">
              <a:spAutoFit/>
            </a:bodyPr>
            <a:lstStyle/>
            <a:p>
              <a:pPr defTabSz="914400"/>
              <a:r>
                <a:rPr lang="en-US" altLang="zh-CN" sz="1800" i="1">
                  <a:solidFill>
                    <a:srgbClr val="000000"/>
                  </a:solidFill>
                  <a:latin typeface="Symbol" pitchFamily="18" charset="2"/>
                  <a:ea typeface="楷体_GB2312" pitchFamily="49" charset="-122"/>
                </a:rPr>
                <a:t>q</a:t>
              </a:r>
              <a:endParaRPr lang="en-US" altLang="zh-CN" sz="1800" b="1">
                <a:latin typeface="楷体_GB2312" pitchFamily="49" charset="-122"/>
                <a:ea typeface="楷体_GB2312" pitchFamily="49" charset="-122"/>
              </a:endParaRPr>
            </a:p>
          </p:txBody>
        </p:sp>
        <p:sp>
          <p:nvSpPr>
            <p:cNvPr id="65549" name="Rectangle 169"/>
            <p:cNvSpPr>
              <a:spLocks noChangeArrowheads="1"/>
            </p:cNvSpPr>
            <p:nvPr/>
          </p:nvSpPr>
          <p:spPr bwMode="auto">
            <a:xfrm>
              <a:off x="1473" y="1842"/>
              <a:ext cx="91" cy="173"/>
            </a:xfrm>
            <a:prstGeom prst="rect">
              <a:avLst/>
            </a:prstGeom>
            <a:noFill/>
            <a:ln w="9525">
              <a:noFill/>
              <a:miter lim="800000"/>
              <a:headEnd/>
              <a:tailEnd/>
            </a:ln>
          </p:spPr>
          <p:txBody>
            <a:bodyPr wrap="none" lIns="0" tIns="0" rIns="0" bIns="0">
              <a:spAutoFit/>
            </a:bodyPr>
            <a:lstStyle/>
            <a:p>
              <a:pPr defTabSz="914400"/>
              <a:r>
                <a:rPr lang="en-US" altLang="zh-CN" sz="1800" i="1">
                  <a:solidFill>
                    <a:srgbClr val="000000"/>
                  </a:solidFill>
                  <a:latin typeface="Symbol" pitchFamily="18" charset="2"/>
                  <a:ea typeface="楷体_GB2312" pitchFamily="49" charset="-122"/>
                </a:rPr>
                <a:t>a</a:t>
              </a:r>
              <a:endParaRPr lang="en-US" altLang="zh-CN" sz="1800" b="1">
                <a:latin typeface="楷体_GB2312" pitchFamily="49" charset="-122"/>
                <a:ea typeface="楷体_GB2312" pitchFamily="49" charset="-122"/>
              </a:endParaRPr>
            </a:p>
          </p:txBody>
        </p:sp>
        <p:sp>
          <p:nvSpPr>
            <p:cNvPr id="65550" name="Rectangle 207"/>
            <p:cNvSpPr>
              <a:spLocks noChangeArrowheads="1"/>
            </p:cNvSpPr>
            <p:nvPr/>
          </p:nvSpPr>
          <p:spPr bwMode="auto">
            <a:xfrm>
              <a:off x="566" y="1888"/>
              <a:ext cx="64" cy="173"/>
            </a:xfrm>
            <a:prstGeom prst="rect">
              <a:avLst/>
            </a:prstGeom>
            <a:noFill/>
            <a:ln w="9525">
              <a:noFill/>
              <a:miter lim="800000"/>
              <a:headEnd/>
              <a:tailEnd/>
            </a:ln>
          </p:spPr>
          <p:txBody>
            <a:bodyPr wrap="none" lIns="0" tIns="0" rIns="0" bIns="0">
              <a:spAutoFit/>
            </a:bodyPr>
            <a:lstStyle/>
            <a:p>
              <a:pPr defTabSz="914400"/>
              <a:r>
                <a:rPr lang="en-US" altLang="zh-CN" sz="1800" i="1">
                  <a:solidFill>
                    <a:srgbClr val="000000"/>
                  </a:solidFill>
                  <a:latin typeface="Times New Roman" pitchFamily="18" charset="0"/>
                  <a:ea typeface="楷体_GB2312" pitchFamily="49" charset="-122"/>
                </a:rPr>
                <a:t>v</a:t>
              </a:r>
              <a:endParaRPr lang="en-US" altLang="zh-CN" sz="1800" b="1">
                <a:latin typeface="楷体_GB2312" pitchFamily="49" charset="-122"/>
                <a:ea typeface="楷体_GB2312" pitchFamily="49" charset="-122"/>
              </a:endParaRPr>
            </a:p>
          </p:txBody>
        </p:sp>
        <p:sp>
          <p:nvSpPr>
            <p:cNvPr id="65551" name="Rectangle 214"/>
            <p:cNvSpPr>
              <a:spLocks noChangeArrowheads="1"/>
            </p:cNvSpPr>
            <p:nvPr/>
          </p:nvSpPr>
          <p:spPr bwMode="auto">
            <a:xfrm>
              <a:off x="1700" y="1389"/>
              <a:ext cx="104" cy="173"/>
            </a:xfrm>
            <a:prstGeom prst="rect">
              <a:avLst/>
            </a:prstGeom>
            <a:noFill/>
            <a:ln w="9525">
              <a:noFill/>
              <a:miter lim="800000"/>
              <a:headEnd/>
              <a:tailEnd/>
            </a:ln>
          </p:spPr>
          <p:txBody>
            <a:bodyPr wrap="none" lIns="0" tIns="0" rIns="0" bIns="0">
              <a:spAutoFit/>
            </a:bodyPr>
            <a:lstStyle/>
            <a:p>
              <a:pPr defTabSz="914400"/>
              <a:r>
                <a:rPr lang="en-US" altLang="zh-CN" sz="1800" i="1">
                  <a:solidFill>
                    <a:srgbClr val="000000"/>
                  </a:solidFill>
                  <a:latin typeface="Times New Roman" pitchFamily="18" charset="0"/>
                  <a:ea typeface="楷体_GB2312" pitchFamily="49" charset="-122"/>
                </a:rPr>
                <a:t>r</a:t>
              </a:r>
              <a:r>
                <a:rPr lang="en-US" altLang="zh-CN" sz="1800" baseline="-25000">
                  <a:solidFill>
                    <a:srgbClr val="000000"/>
                  </a:solidFill>
                  <a:latin typeface="Times New Roman" pitchFamily="18" charset="0"/>
                  <a:ea typeface="楷体_GB2312" pitchFamily="49" charset="-122"/>
                </a:rPr>
                <a:t>0</a:t>
              </a:r>
              <a:endParaRPr lang="en-US" altLang="zh-CN" sz="1800" b="1" baseline="-25000">
                <a:latin typeface="楷体_GB2312" pitchFamily="49" charset="-122"/>
                <a:ea typeface="楷体_GB2312" pitchFamily="49" charset="-122"/>
              </a:endParaRPr>
            </a:p>
          </p:txBody>
        </p:sp>
        <p:grpSp>
          <p:nvGrpSpPr>
            <p:cNvPr id="65552" name="Group 245"/>
            <p:cNvGrpSpPr>
              <a:grpSpLocks/>
            </p:cNvGrpSpPr>
            <p:nvPr/>
          </p:nvGrpSpPr>
          <p:grpSpPr bwMode="auto">
            <a:xfrm>
              <a:off x="521" y="1298"/>
              <a:ext cx="1359" cy="852"/>
              <a:chOff x="1020" y="1412"/>
              <a:chExt cx="906" cy="466"/>
            </a:xfrm>
          </p:grpSpPr>
          <p:sp>
            <p:nvSpPr>
              <p:cNvPr id="65553" name="Freeform 170"/>
              <p:cNvSpPr>
                <a:spLocks noEditPoints="1"/>
              </p:cNvSpPr>
              <p:nvPr/>
            </p:nvSpPr>
            <p:spPr bwMode="auto">
              <a:xfrm>
                <a:off x="1020" y="1830"/>
                <a:ext cx="906" cy="48"/>
              </a:xfrm>
              <a:custGeom>
                <a:avLst/>
                <a:gdLst>
                  <a:gd name="T0" fmla="*/ 16 w 1813"/>
                  <a:gd name="T1" fmla="*/ 10 h 96"/>
                  <a:gd name="T2" fmla="*/ 453 w 1813"/>
                  <a:gd name="T3" fmla="*/ 10 h 96"/>
                  <a:gd name="T4" fmla="*/ 453 w 1813"/>
                  <a:gd name="T5" fmla="*/ 14 h 96"/>
                  <a:gd name="T6" fmla="*/ 16 w 1813"/>
                  <a:gd name="T7" fmla="*/ 14 h 96"/>
                  <a:gd name="T8" fmla="*/ 16 w 1813"/>
                  <a:gd name="T9" fmla="*/ 10 h 96"/>
                  <a:gd name="T10" fmla="*/ 16 w 1813"/>
                  <a:gd name="T11" fmla="*/ 10 h 96"/>
                  <a:gd name="T12" fmla="*/ 16 w 1813"/>
                  <a:gd name="T13" fmla="*/ 12 h 96"/>
                  <a:gd name="T14" fmla="*/ 24 w 1813"/>
                  <a:gd name="T15" fmla="*/ 24 h 96"/>
                  <a:gd name="T16" fmla="*/ 0 w 1813"/>
                  <a:gd name="T17" fmla="*/ 12 h 96"/>
                  <a:gd name="T18" fmla="*/ 24 w 1813"/>
                  <a:gd name="T19" fmla="*/ 0 h 96"/>
                  <a:gd name="T20" fmla="*/ 16 w 1813"/>
                  <a:gd name="T21" fmla="*/ 12 h 96"/>
                  <a:gd name="T22" fmla="*/ 16 w 1813"/>
                  <a:gd name="T23" fmla="*/ 12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13"/>
                  <a:gd name="T37" fmla="*/ 0 h 96"/>
                  <a:gd name="T38" fmla="*/ 1813 w 1813"/>
                  <a:gd name="T39" fmla="*/ 96 h 9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13" h="96">
                    <a:moveTo>
                      <a:pt x="65" y="38"/>
                    </a:moveTo>
                    <a:lnTo>
                      <a:pt x="1813" y="38"/>
                    </a:lnTo>
                    <a:lnTo>
                      <a:pt x="1813" y="57"/>
                    </a:lnTo>
                    <a:lnTo>
                      <a:pt x="65" y="57"/>
                    </a:lnTo>
                    <a:lnTo>
                      <a:pt x="65" y="38"/>
                    </a:lnTo>
                    <a:close/>
                    <a:moveTo>
                      <a:pt x="64" y="48"/>
                    </a:moveTo>
                    <a:lnTo>
                      <a:pt x="96" y="96"/>
                    </a:lnTo>
                    <a:lnTo>
                      <a:pt x="0" y="48"/>
                    </a:lnTo>
                    <a:lnTo>
                      <a:pt x="96" y="0"/>
                    </a:lnTo>
                    <a:lnTo>
                      <a:pt x="64" y="48"/>
                    </a:lnTo>
                    <a:close/>
                  </a:path>
                </a:pathLst>
              </a:custGeom>
              <a:solidFill>
                <a:srgbClr val="000000"/>
              </a:solidFill>
              <a:ln w="9525">
                <a:noFill/>
                <a:round/>
                <a:headEnd/>
                <a:tailEnd/>
              </a:ln>
            </p:spPr>
            <p:txBody>
              <a:bodyPr/>
              <a:lstStyle/>
              <a:p>
                <a:endParaRPr lang="zh-CN" altLang="en-US"/>
              </a:p>
            </p:txBody>
          </p:sp>
          <p:sp>
            <p:nvSpPr>
              <p:cNvPr id="65554" name="Freeform 171"/>
              <p:cNvSpPr>
                <a:spLocks/>
              </p:cNvSpPr>
              <p:nvPr/>
            </p:nvSpPr>
            <p:spPr bwMode="auto">
              <a:xfrm>
                <a:off x="1053" y="1849"/>
                <a:ext cx="873" cy="10"/>
              </a:xfrm>
              <a:custGeom>
                <a:avLst/>
                <a:gdLst>
                  <a:gd name="T0" fmla="*/ 0 w 1748"/>
                  <a:gd name="T1" fmla="*/ 0 h 19"/>
                  <a:gd name="T2" fmla="*/ 436 w 1748"/>
                  <a:gd name="T3" fmla="*/ 0 h 19"/>
                  <a:gd name="T4" fmla="*/ 436 w 1748"/>
                  <a:gd name="T5" fmla="*/ 5 h 19"/>
                  <a:gd name="T6" fmla="*/ 0 w 1748"/>
                  <a:gd name="T7" fmla="*/ 5 h 19"/>
                  <a:gd name="T8" fmla="*/ 0 w 1748"/>
                  <a:gd name="T9" fmla="*/ 0 h 19"/>
                  <a:gd name="T10" fmla="*/ 0 w 1748"/>
                  <a:gd name="T11" fmla="*/ 0 h 19"/>
                  <a:gd name="T12" fmla="*/ 0 60000 65536"/>
                  <a:gd name="T13" fmla="*/ 0 60000 65536"/>
                  <a:gd name="T14" fmla="*/ 0 60000 65536"/>
                  <a:gd name="T15" fmla="*/ 0 60000 65536"/>
                  <a:gd name="T16" fmla="*/ 0 60000 65536"/>
                  <a:gd name="T17" fmla="*/ 0 60000 65536"/>
                  <a:gd name="T18" fmla="*/ 0 w 1748"/>
                  <a:gd name="T19" fmla="*/ 0 h 19"/>
                  <a:gd name="T20" fmla="*/ 1748 w 1748"/>
                  <a:gd name="T21" fmla="*/ 19 h 19"/>
                </a:gdLst>
                <a:ahLst/>
                <a:cxnLst>
                  <a:cxn ang="T12">
                    <a:pos x="T0" y="T1"/>
                  </a:cxn>
                  <a:cxn ang="T13">
                    <a:pos x="T2" y="T3"/>
                  </a:cxn>
                  <a:cxn ang="T14">
                    <a:pos x="T4" y="T5"/>
                  </a:cxn>
                  <a:cxn ang="T15">
                    <a:pos x="T6" y="T7"/>
                  </a:cxn>
                  <a:cxn ang="T16">
                    <a:pos x="T8" y="T9"/>
                  </a:cxn>
                  <a:cxn ang="T17">
                    <a:pos x="T10" y="T11"/>
                  </a:cxn>
                </a:cxnLst>
                <a:rect l="T18" t="T19" r="T20" b="T21"/>
                <a:pathLst>
                  <a:path w="1748" h="19">
                    <a:moveTo>
                      <a:pt x="0" y="0"/>
                    </a:moveTo>
                    <a:lnTo>
                      <a:pt x="1748" y="0"/>
                    </a:lnTo>
                    <a:lnTo>
                      <a:pt x="1748" y="19"/>
                    </a:lnTo>
                    <a:lnTo>
                      <a:pt x="0" y="19"/>
                    </a:lnTo>
                    <a:lnTo>
                      <a:pt x="0" y="0"/>
                    </a:lnTo>
                    <a:close/>
                  </a:path>
                </a:pathLst>
              </a:custGeom>
              <a:noFill/>
              <a:ln w="1588">
                <a:solidFill>
                  <a:srgbClr val="000000"/>
                </a:solidFill>
                <a:round/>
                <a:headEnd/>
                <a:tailEnd/>
              </a:ln>
            </p:spPr>
            <p:txBody>
              <a:bodyPr/>
              <a:lstStyle/>
              <a:p>
                <a:endParaRPr lang="zh-CN" altLang="en-US"/>
              </a:p>
            </p:txBody>
          </p:sp>
          <p:sp>
            <p:nvSpPr>
              <p:cNvPr id="65555" name="Freeform 172"/>
              <p:cNvSpPr>
                <a:spLocks/>
              </p:cNvSpPr>
              <p:nvPr/>
            </p:nvSpPr>
            <p:spPr bwMode="auto">
              <a:xfrm>
                <a:off x="1020" y="1830"/>
                <a:ext cx="48" cy="48"/>
              </a:xfrm>
              <a:custGeom>
                <a:avLst/>
                <a:gdLst>
                  <a:gd name="T0" fmla="*/ 16 w 96"/>
                  <a:gd name="T1" fmla="*/ 12 h 96"/>
                  <a:gd name="T2" fmla="*/ 24 w 96"/>
                  <a:gd name="T3" fmla="*/ 24 h 96"/>
                  <a:gd name="T4" fmla="*/ 0 w 96"/>
                  <a:gd name="T5" fmla="*/ 12 h 96"/>
                  <a:gd name="T6" fmla="*/ 24 w 96"/>
                  <a:gd name="T7" fmla="*/ 0 h 96"/>
                  <a:gd name="T8" fmla="*/ 16 w 96"/>
                  <a:gd name="T9" fmla="*/ 12 h 96"/>
                  <a:gd name="T10" fmla="*/ 16 w 96"/>
                  <a:gd name="T11" fmla="*/ 12 h 96"/>
                  <a:gd name="T12" fmla="*/ 0 60000 65536"/>
                  <a:gd name="T13" fmla="*/ 0 60000 65536"/>
                  <a:gd name="T14" fmla="*/ 0 60000 65536"/>
                  <a:gd name="T15" fmla="*/ 0 60000 65536"/>
                  <a:gd name="T16" fmla="*/ 0 60000 65536"/>
                  <a:gd name="T17" fmla="*/ 0 60000 65536"/>
                  <a:gd name="T18" fmla="*/ 0 w 96"/>
                  <a:gd name="T19" fmla="*/ 0 h 96"/>
                  <a:gd name="T20" fmla="*/ 96 w 96"/>
                  <a:gd name="T21" fmla="*/ 96 h 96"/>
                </a:gdLst>
                <a:ahLst/>
                <a:cxnLst>
                  <a:cxn ang="T12">
                    <a:pos x="T0" y="T1"/>
                  </a:cxn>
                  <a:cxn ang="T13">
                    <a:pos x="T2" y="T3"/>
                  </a:cxn>
                  <a:cxn ang="T14">
                    <a:pos x="T4" y="T5"/>
                  </a:cxn>
                  <a:cxn ang="T15">
                    <a:pos x="T6" y="T7"/>
                  </a:cxn>
                  <a:cxn ang="T16">
                    <a:pos x="T8" y="T9"/>
                  </a:cxn>
                  <a:cxn ang="T17">
                    <a:pos x="T10" y="T11"/>
                  </a:cxn>
                </a:cxnLst>
                <a:rect l="T18" t="T19" r="T20" b="T21"/>
                <a:pathLst>
                  <a:path w="96" h="96">
                    <a:moveTo>
                      <a:pt x="64" y="48"/>
                    </a:moveTo>
                    <a:lnTo>
                      <a:pt x="96" y="96"/>
                    </a:lnTo>
                    <a:lnTo>
                      <a:pt x="0" y="48"/>
                    </a:lnTo>
                    <a:lnTo>
                      <a:pt x="96" y="0"/>
                    </a:lnTo>
                    <a:lnTo>
                      <a:pt x="64" y="48"/>
                    </a:lnTo>
                    <a:close/>
                  </a:path>
                </a:pathLst>
              </a:custGeom>
              <a:noFill/>
              <a:ln w="1588">
                <a:solidFill>
                  <a:srgbClr val="000000"/>
                </a:solidFill>
                <a:round/>
                <a:headEnd/>
                <a:tailEnd/>
              </a:ln>
            </p:spPr>
            <p:txBody>
              <a:bodyPr/>
              <a:lstStyle/>
              <a:p>
                <a:endParaRPr lang="zh-CN" altLang="en-US"/>
              </a:p>
            </p:txBody>
          </p:sp>
          <p:sp>
            <p:nvSpPr>
              <p:cNvPr id="65556" name="Freeform 173"/>
              <p:cNvSpPr>
                <a:spLocks noEditPoints="1"/>
              </p:cNvSpPr>
              <p:nvPr/>
            </p:nvSpPr>
            <p:spPr bwMode="auto">
              <a:xfrm>
                <a:off x="1478" y="1515"/>
                <a:ext cx="320" cy="340"/>
              </a:xfrm>
              <a:custGeom>
                <a:avLst/>
                <a:gdLst>
                  <a:gd name="T0" fmla="*/ 151 w 640"/>
                  <a:gd name="T1" fmla="*/ 13 h 680"/>
                  <a:gd name="T2" fmla="*/ 3 w 640"/>
                  <a:gd name="T3" fmla="*/ 170 h 680"/>
                  <a:gd name="T4" fmla="*/ 0 w 640"/>
                  <a:gd name="T5" fmla="*/ 167 h 680"/>
                  <a:gd name="T6" fmla="*/ 148 w 640"/>
                  <a:gd name="T7" fmla="*/ 10 h 680"/>
                  <a:gd name="T8" fmla="*/ 151 w 640"/>
                  <a:gd name="T9" fmla="*/ 13 h 680"/>
                  <a:gd name="T10" fmla="*/ 151 w 640"/>
                  <a:gd name="T11" fmla="*/ 13 h 680"/>
                  <a:gd name="T12" fmla="*/ 150 w 640"/>
                  <a:gd name="T13" fmla="*/ 11 h 680"/>
                  <a:gd name="T14" fmla="*/ 135 w 640"/>
                  <a:gd name="T15" fmla="*/ 10 h 680"/>
                  <a:gd name="T16" fmla="*/ 160 w 640"/>
                  <a:gd name="T17" fmla="*/ 0 h 680"/>
                  <a:gd name="T18" fmla="*/ 153 w 640"/>
                  <a:gd name="T19" fmla="*/ 25 h 680"/>
                  <a:gd name="T20" fmla="*/ 150 w 640"/>
                  <a:gd name="T21" fmla="*/ 11 h 680"/>
                  <a:gd name="T22" fmla="*/ 150 w 640"/>
                  <a:gd name="T23" fmla="*/ 11 h 68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0"/>
                  <a:gd name="T37" fmla="*/ 0 h 680"/>
                  <a:gd name="T38" fmla="*/ 640 w 640"/>
                  <a:gd name="T39" fmla="*/ 680 h 68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0" h="680">
                    <a:moveTo>
                      <a:pt x="604" y="53"/>
                    </a:moveTo>
                    <a:lnTo>
                      <a:pt x="14" y="680"/>
                    </a:lnTo>
                    <a:lnTo>
                      <a:pt x="0" y="667"/>
                    </a:lnTo>
                    <a:lnTo>
                      <a:pt x="589" y="40"/>
                    </a:lnTo>
                    <a:lnTo>
                      <a:pt x="604" y="53"/>
                    </a:lnTo>
                    <a:close/>
                    <a:moveTo>
                      <a:pt x="597" y="47"/>
                    </a:moveTo>
                    <a:lnTo>
                      <a:pt x="539" y="38"/>
                    </a:lnTo>
                    <a:lnTo>
                      <a:pt x="640" y="0"/>
                    </a:lnTo>
                    <a:lnTo>
                      <a:pt x="610" y="102"/>
                    </a:lnTo>
                    <a:lnTo>
                      <a:pt x="597" y="47"/>
                    </a:lnTo>
                    <a:close/>
                  </a:path>
                </a:pathLst>
              </a:custGeom>
              <a:solidFill>
                <a:srgbClr val="000000"/>
              </a:solidFill>
              <a:ln w="9525">
                <a:noFill/>
                <a:round/>
                <a:headEnd/>
                <a:tailEnd/>
              </a:ln>
            </p:spPr>
            <p:txBody>
              <a:bodyPr/>
              <a:lstStyle/>
              <a:p>
                <a:endParaRPr lang="zh-CN" altLang="en-US"/>
              </a:p>
            </p:txBody>
          </p:sp>
          <p:sp>
            <p:nvSpPr>
              <p:cNvPr id="65557" name="Freeform 174"/>
              <p:cNvSpPr>
                <a:spLocks/>
              </p:cNvSpPr>
              <p:nvPr/>
            </p:nvSpPr>
            <p:spPr bwMode="auto">
              <a:xfrm>
                <a:off x="1478" y="1535"/>
                <a:ext cx="302" cy="320"/>
              </a:xfrm>
              <a:custGeom>
                <a:avLst/>
                <a:gdLst>
                  <a:gd name="T0" fmla="*/ 151 w 604"/>
                  <a:gd name="T1" fmla="*/ 3 h 640"/>
                  <a:gd name="T2" fmla="*/ 3 w 604"/>
                  <a:gd name="T3" fmla="*/ 160 h 640"/>
                  <a:gd name="T4" fmla="*/ 0 w 604"/>
                  <a:gd name="T5" fmla="*/ 157 h 640"/>
                  <a:gd name="T6" fmla="*/ 148 w 604"/>
                  <a:gd name="T7" fmla="*/ 0 h 640"/>
                  <a:gd name="T8" fmla="*/ 151 w 604"/>
                  <a:gd name="T9" fmla="*/ 3 h 640"/>
                  <a:gd name="T10" fmla="*/ 151 w 604"/>
                  <a:gd name="T11" fmla="*/ 3 h 640"/>
                  <a:gd name="T12" fmla="*/ 0 60000 65536"/>
                  <a:gd name="T13" fmla="*/ 0 60000 65536"/>
                  <a:gd name="T14" fmla="*/ 0 60000 65536"/>
                  <a:gd name="T15" fmla="*/ 0 60000 65536"/>
                  <a:gd name="T16" fmla="*/ 0 60000 65536"/>
                  <a:gd name="T17" fmla="*/ 0 60000 65536"/>
                  <a:gd name="T18" fmla="*/ 0 w 604"/>
                  <a:gd name="T19" fmla="*/ 0 h 640"/>
                  <a:gd name="T20" fmla="*/ 604 w 604"/>
                  <a:gd name="T21" fmla="*/ 640 h 640"/>
                </a:gdLst>
                <a:ahLst/>
                <a:cxnLst>
                  <a:cxn ang="T12">
                    <a:pos x="T0" y="T1"/>
                  </a:cxn>
                  <a:cxn ang="T13">
                    <a:pos x="T2" y="T3"/>
                  </a:cxn>
                  <a:cxn ang="T14">
                    <a:pos x="T4" y="T5"/>
                  </a:cxn>
                  <a:cxn ang="T15">
                    <a:pos x="T6" y="T7"/>
                  </a:cxn>
                  <a:cxn ang="T16">
                    <a:pos x="T8" y="T9"/>
                  </a:cxn>
                  <a:cxn ang="T17">
                    <a:pos x="T10" y="T11"/>
                  </a:cxn>
                </a:cxnLst>
                <a:rect l="T18" t="T19" r="T20" b="T21"/>
                <a:pathLst>
                  <a:path w="604" h="640">
                    <a:moveTo>
                      <a:pt x="604" y="13"/>
                    </a:moveTo>
                    <a:lnTo>
                      <a:pt x="14" y="640"/>
                    </a:lnTo>
                    <a:lnTo>
                      <a:pt x="0" y="627"/>
                    </a:lnTo>
                    <a:lnTo>
                      <a:pt x="589" y="0"/>
                    </a:lnTo>
                    <a:lnTo>
                      <a:pt x="604" y="13"/>
                    </a:lnTo>
                    <a:close/>
                  </a:path>
                </a:pathLst>
              </a:custGeom>
              <a:noFill/>
              <a:ln w="1588">
                <a:solidFill>
                  <a:srgbClr val="000000"/>
                </a:solidFill>
                <a:round/>
                <a:headEnd/>
                <a:tailEnd/>
              </a:ln>
            </p:spPr>
            <p:txBody>
              <a:bodyPr/>
              <a:lstStyle/>
              <a:p>
                <a:endParaRPr lang="zh-CN" altLang="en-US"/>
              </a:p>
            </p:txBody>
          </p:sp>
          <p:sp>
            <p:nvSpPr>
              <p:cNvPr id="65558" name="Freeform 175"/>
              <p:cNvSpPr>
                <a:spLocks/>
              </p:cNvSpPr>
              <p:nvPr/>
            </p:nvSpPr>
            <p:spPr bwMode="auto">
              <a:xfrm>
                <a:off x="1748" y="1515"/>
                <a:ext cx="50" cy="51"/>
              </a:xfrm>
              <a:custGeom>
                <a:avLst/>
                <a:gdLst>
                  <a:gd name="T0" fmla="*/ 14 w 101"/>
                  <a:gd name="T1" fmla="*/ 12 h 102"/>
                  <a:gd name="T2" fmla="*/ 0 w 101"/>
                  <a:gd name="T3" fmla="*/ 10 h 102"/>
                  <a:gd name="T4" fmla="*/ 25 w 101"/>
                  <a:gd name="T5" fmla="*/ 0 h 102"/>
                  <a:gd name="T6" fmla="*/ 17 w 101"/>
                  <a:gd name="T7" fmla="*/ 26 h 102"/>
                  <a:gd name="T8" fmla="*/ 14 w 101"/>
                  <a:gd name="T9" fmla="*/ 12 h 102"/>
                  <a:gd name="T10" fmla="*/ 14 w 101"/>
                  <a:gd name="T11" fmla="*/ 12 h 102"/>
                  <a:gd name="T12" fmla="*/ 0 60000 65536"/>
                  <a:gd name="T13" fmla="*/ 0 60000 65536"/>
                  <a:gd name="T14" fmla="*/ 0 60000 65536"/>
                  <a:gd name="T15" fmla="*/ 0 60000 65536"/>
                  <a:gd name="T16" fmla="*/ 0 60000 65536"/>
                  <a:gd name="T17" fmla="*/ 0 60000 65536"/>
                  <a:gd name="T18" fmla="*/ 0 w 101"/>
                  <a:gd name="T19" fmla="*/ 0 h 102"/>
                  <a:gd name="T20" fmla="*/ 101 w 101"/>
                  <a:gd name="T21" fmla="*/ 102 h 102"/>
                </a:gdLst>
                <a:ahLst/>
                <a:cxnLst>
                  <a:cxn ang="T12">
                    <a:pos x="T0" y="T1"/>
                  </a:cxn>
                  <a:cxn ang="T13">
                    <a:pos x="T2" y="T3"/>
                  </a:cxn>
                  <a:cxn ang="T14">
                    <a:pos x="T4" y="T5"/>
                  </a:cxn>
                  <a:cxn ang="T15">
                    <a:pos x="T6" y="T7"/>
                  </a:cxn>
                  <a:cxn ang="T16">
                    <a:pos x="T8" y="T9"/>
                  </a:cxn>
                  <a:cxn ang="T17">
                    <a:pos x="T10" y="T11"/>
                  </a:cxn>
                </a:cxnLst>
                <a:rect l="T18" t="T19" r="T20" b="T21"/>
                <a:pathLst>
                  <a:path w="101" h="102">
                    <a:moveTo>
                      <a:pt x="58" y="47"/>
                    </a:moveTo>
                    <a:lnTo>
                      <a:pt x="0" y="38"/>
                    </a:lnTo>
                    <a:lnTo>
                      <a:pt x="101" y="0"/>
                    </a:lnTo>
                    <a:lnTo>
                      <a:pt x="71" y="102"/>
                    </a:lnTo>
                    <a:lnTo>
                      <a:pt x="58" y="47"/>
                    </a:lnTo>
                    <a:close/>
                  </a:path>
                </a:pathLst>
              </a:custGeom>
              <a:noFill/>
              <a:ln w="1588">
                <a:solidFill>
                  <a:srgbClr val="000000"/>
                </a:solidFill>
                <a:round/>
                <a:headEnd/>
                <a:tailEnd/>
              </a:ln>
            </p:spPr>
            <p:txBody>
              <a:bodyPr/>
              <a:lstStyle/>
              <a:p>
                <a:endParaRPr lang="zh-CN" altLang="en-US"/>
              </a:p>
            </p:txBody>
          </p:sp>
          <p:sp>
            <p:nvSpPr>
              <p:cNvPr id="65559" name="Freeform 176"/>
              <p:cNvSpPr>
                <a:spLocks noEditPoints="1"/>
              </p:cNvSpPr>
              <p:nvPr/>
            </p:nvSpPr>
            <p:spPr bwMode="auto">
              <a:xfrm>
                <a:off x="1333" y="1412"/>
                <a:ext cx="324" cy="343"/>
              </a:xfrm>
              <a:custGeom>
                <a:avLst/>
                <a:gdLst>
                  <a:gd name="T0" fmla="*/ 155 w 647"/>
                  <a:gd name="T1" fmla="*/ 3 h 687"/>
                  <a:gd name="T2" fmla="*/ 162 w 647"/>
                  <a:gd name="T3" fmla="*/ 3 h 687"/>
                  <a:gd name="T4" fmla="*/ 148 w 647"/>
                  <a:gd name="T5" fmla="*/ 10 h 687"/>
                  <a:gd name="T6" fmla="*/ 155 w 647"/>
                  <a:gd name="T7" fmla="*/ 10 h 687"/>
                  <a:gd name="T8" fmla="*/ 142 w 647"/>
                  <a:gd name="T9" fmla="*/ 18 h 687"/>
                  <a:gd name="T10" fmla="*/ 148 w 647"/>
                  <a:gd name="T11" fmla="*/ 18 h 687"/>
                  <a:gd name="T12" fmla="*/ 135 w 647"/>
                  <a:gd name="T13" fmla="*/ 25 h 687"/>
                  <a:gd name="T14" fmla="*/ 142 w 647"/>
                  <a:gd name="T15" fmla="*/ 25 h 687"/>
                  <a:gd name="T16" fmla="*/ 128 w 647"/>
                  <a:gd name="T17" fmla="*/ 32 h 687"/>
                  <a:gd name="T18" fmla="*/ 135 w 647"/>
                  <a:gd name="T19" fmla="*/ 32 h 687"/>
                  <a:gd name="T20" fmla="*/ 121 w 647"/>
                  <a:gd name="T21" fmla="*/ 39 h 687"/>
                  <a:gd name="T22" fmla="*/ 128 w 647"/>
                  <a:gd name="T23" fmla="*/ 39 h 687"/>
                  <a:gd name="T24" fmla="*/ 114 w 647"/>
                  <a:gd name="T25" fmla="*/ 47 h 687"/>
                  <a:gd name="T26" fmla="*/ 121 w 647"/>
                  <a:gd name="T27" fmla="*/ 47 h 687"/>
                  <a:gd name="T28" fmla="*/ 107 w 647"/>
                  <a:gd name="T29" fmla="*/ 54 h 687"/>
                  <a:gd name="T30" fmla="*/ 114 w 647"/>
                  <a:gd name="T31" fmla="*/ 54 h 687"/>
                  <a:gd name="T32" fmla="*/ 100 w 647"/>
                  <a:gd name="T33" fmla="*/ 61 h 687"/>
                  <a:gd name="T34" fmla="*/ 108 w 647"/>
                  <a:gd name="T35" fmla="*/ 61 h 687"/>
                  <a:gd name="T36" fmla="*/ 93 w 647"/>
                  <a:gd name="T37" fmla="*/ 69 h 687"/>
                  <a:gd name="T38" fmla="*/ 101 w 647"/>
                  <a:gd name="T39" fmla="*/ 69 h 687"/>
                  <a:gd name="T40" fmla="*/ 87 w 647"/>
                  <a:gd name="T41" fmla="*/ 76 h 687"/>
                  <a:gd name="T42" fmla="*/ 94 w 647"/>
                  <a:gd name="T43" fmla="*/ 76 h 687"/>
                  <a:gd name="T44" fmla="*/ 80 w 647"/>
                  <a:gd name="T45" fmla="*/ 83 h 687"/>
                  <a:gd name="T46" fmla="*/ 87 w 647"/>
                  <a:gd name="T47" fmla="*/ 83 h 687"/>
                  <a:gd name="T48" fmla="*/ 73 w 647"/>
                  <a:gd name="T49" fmla="*/ 91 h 687"/>
                  <a:gd name="T50" fmla="*/ 80 w 647"/>
                  <a:gd name="T51" fmla="*/ 91 h 687"/>
                  <a:gd name="T52" fmla="*/ 66 w 647"/>
                  <a:gd name="T53" fmla="*/ 98 h 687"/>
                  <a:gd name="T54" fmla="*/ 73 w 647"/>
                  <a:gd name="T55" fmla="*/ 98 h 687"/>
                  <a:gd name="T56" fmla="*/ 59 w 647"/>
                  <a:gd name="T57" fmla="*/ 105 h 687"/>
                  <a:gd name="T58" fmla="*/ 66 w 647"/>
                  <a:gd name="T59" fmla="*/ 105 h 687"/>
                  <a:gd name="T60" fmla="*/ 52 w 647"/>
                  <a:gd name="T61" fmla="*/ 112 h 687"/>
                  <a:gd name="T62" fmla="*/ 60 w 647"/>
                  <a:gd name="T63" fmla="*/ 112 h 687"/>
                  <a:gd name="T64" fmla="*/ 46 w 647"/>
                  <a:gd name="T65" fmla="*/ 120 h 687"/>
                  <a:gd name="T66" fmla="*/ 53 w 647"/>
                  <a:gd name="T67" fmla="*/ 120 h 687"/>
                  <a:gd name="T68" fmla="*/ 39 w 647"/>
                  <a:gd name="T69" fmla="*/ 127 h 687"/>
                  <a:gd name="T70" fmla="*/ 46 w 647"/>
                  <a:gd name="T71" fmla="*/ 127 h 687"/>
                  <a:gd name="T72" fmla="*/ 32 w 647"/>
                  <a:gd name="T73" fmla="*/ 134 h 687"/>
                  <a:gd name="T74" fmla="*/ 39 w 647"/>
                  <a:gd name="T75" fmla="*/ 134 h 687"/>
                  <a:gd name="T76" fmla="*/ 25 w 647"/>
                  <a:gd name="T77" fmla="*/ 142 h 687"/>
                  <a:gd name="T78" fmla="*/ 32 w 647"/>
                  <a:gd name="T79" fmla="*/ 142 h 687"/>
                  <a:gd name="T80" fmla="*/ 18 w 647"/>
                  <a:gd name="T81" fmla="*/ 149 h 687"/>
                  <a:gd name="T82" fmla="*/ 25 w 647"/>
                  <a:gd name="T83" fmla="*/ 149 h 687"/>
                  <a:gd name="T84" fmla="*/ 11 w 647"/>
                  <a:gd name="T85" fmla="*/ 156 h 687"/>
                  <a:gd name="T86" fmla="*/ 18 w 647"/>
                  <a:gd name="T87" fmla="*/ 156 h 687"/>
                  <a:gd name="T88" fmla="*/ 5 w 647"/>
                  <a:gd name="T89" fmla="*/ 164 h 687"/>
                  <a:gd name="T90" fmla="*/ 11 w 647"/>
                  <a:gd name="T91" fmla="*/ 163 h 687"/>
                  <a:gd name="T92" fmla="*/ 0 w 647"/>
                  <a:gd name="T93" fmla="*/ 168 h 687"/>
                  <a:gd name="T94" fmla="*/ 5 w 647"/>
                  <a:gd name="T95" fmla="*/ 171 h 68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47"/>
                  <a:gd name="T145" fmla="*/ 0 h 687"/>
                  <a:gd name="T146" fmla="*/ 647 w 647"/>
                  <a:gd name="T147" fmla="*/ 687 h 68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47" h="687">
                    <a:moveTo>
                      <a:pt x="647" y="13"/>
                    </a:moveTo>
                    <a:lnTo>
                      <a:pt x="634" y="29"/>
                    </a:lnTo>
                    <a:lnTo>
                      <a:pt x="620" y="14"/>
                    </a:lnTo>
                    <a:lnTo>
                      <a:pt x="633" y="0"/>
                    </a:lnTo>
                    <a:lnTo>
                      <a:pt x="647" y="13"/>
                    </a:lnTo>
                    <a:close/>
                    <a:moveTo>
                      <a:pt x="620" y="43"/>
                    </a:moveTo>
                    <a:lnTo>
                      <a:pt x="607" y="57"/>
                    </a:lnTo>
                    <a:lnTo>
                      <a:pt x="592" y="43"/>
                    </a:lnTo>
                    <a:lnTo>
                      <a:pt x="605" y="29"/>
                    </a:lnTo>
                    <a:lnTo>
                      <a:pt x="620" y="43"/>
                    </a:lnTo>
                    <a:close/>
                    <a:moveTo>
                      <a:pt x="592" y="72"/>
                    </a:moveTo>
                    <a:lnTo>
                      <a:pt x="579" y="86"/>
                    </a:lnTo>
                    <a:lnTo>
                      <a:pt x="565" y="73"/>
                    </a:lnTo>
                    <a:lnTo>
                      <a:pt x="578" y="59"/>
                    </a:lnTo>
                    <a:lnTo>
                      <a:pt x="592" y="72"/>
                    </a:lnTo>
                    <a:close/>
                    <a:moveTo>
                      <a:pt x="566" y="101"/>
                    </a:moveTo>
                    <a:lnTo>
                      <a:pt x="551" y="115"/>
                    </a:lnTo>
                    <a:lnTo>
                      <a:pt x="537" y="102"/>
                    </a:lnTo>
                    <a:lnTo>
                      <a:pt x="551" y="87"/>
                    </a:lnTo>
                    <a:lnTo>
                      <a:pt x="566" y="101"/>
                    </a:lnTo>
                    <a:close/>
                    <a:moveTo>
                      <a:pt x="538" y="129"/>
                    </a:moveTo>
                    <a:lnTo>
                      <a:pt x="524" y="145"/>
                    </a:lnTo>
                    <a:lnTo>
                      <a:pt x="509" y="131"/>
                    </a:lnTo>
                    <a:lnTo>
                      <a:pt x="524" y="116"/>
                    </a:lnTo>
                    <a:lnTo>
                      <a:pt x="538" y="129"/>
                    </a:lnTo>
                    <a:close/>
                    <a:moveTo>
                      <a:pt x="511" y="159"/>
                    </a:moveTo>
                    <a:lnTo>
                      <a:pt x="497" y="174"/>
                    </a:lnTo>
                    <a:lnTo>
                      <a:pt x="483" y="159"/>
                    </a:lnTo>
                    <a:lnTo>
                      <a:pt x="496" y="145"/>
                    </a:lnTo>
                    <a:lnTo>
                      <a:pt x="511" y="159"/>
                    </a:lnTo>
                    <a:close/>
                    <a:moveTo>
                      <a:pt x="483" y="188"/>
                    </a:moveTo>
                    <a:lnTo>
                      <a:pt x="470" y="203"/>
                    </a:lnTo>
                    <a:lnTo>
                      <a:pt x="455" y="189"/>
                    </a:lnTo>
                    <a:lnTo>
                      <a:pt x="469" y="175"/>
                    </a:lnTo>
                    <a:lnTo>
                      <a:pt x="483" y="188"/>
                    </a:lnTo>
                    <a:close/>
                    <a:moveTo>
                      <a:pt x="455" y="217"/>
                    </a:moveTo>
                    <a:lnTo>
                      <a:pt x="442" y="233"/>
                    </a:lnTo>
                    <a:lnTo>
                      <a:pt x="428" y="218"/>
                    </a:lnTo>
                    <a:lnTo>
                      <a:pt x="441" y="204"/>
                    </a:lnTo>
                    <a:lnTo>
                      <a:pt x="455" y="217"/>
                    </a:lnTo>
                    <a:close/>
                    <a:moveTo>
                      <a:pt x="429" y="247"/>
                    </a:moveTo>
                    <a:lnTo>
                      <a:pt x="414" y="262"/>
                    </a:lnTo>
                    <a:lnTo>
                      <a:pt x="400" y="247"/>
                    </a:lnTo>
                    <a:lnTo>
                      <a:pt x="413" y="233"/>
                    </a:lnTo>
                    <a:lnTo>
                      <a:pt x="429" y="247"/>
                    </a:lnTo>
                    <a:close/>
                    <a:moveTo>
                      <a:pt x="401" y="276"/>
                    </a:moveTo>
                    <a:lnTo>
                      <a:pt x="387" y="290"/>
                    </a:lnTo>
                    <a:lnTo>
                      <a:pt x="372" y="277"/>
                    </a:lnTo>
                    <a:lnTo>
                      <a:pt x="387" y="262"/>
                    </a:lnTo>
                    <a:lnTo>
                      <a:pt x="401" y="276"/>
                    </a:lnTo>
                    <a:close/>
                    <a:moveTo>
                      <a:pt x="374" y="305"/>
                    </a:moveTo>
                    <a:lnTo>
                      <a:pt x="360" y="319"/>
                    </a:lnTo>
                    <a:lnTo>
                      <a:pt x="346" y="306"/>
                    </a:lnTo>
                    <a:lnTo>
                      <a:pt x="359" y="292"/>
                    </a:lnTo>
                    <a:lnTo>
                      <a:pt x="374" y="305"/>
                    </a:lnTo>
                    <a:close/>
                    <a:moveTo>
                      <a:pt x="346" y="334"/>
                    </a:moveTo>
                    <a:lnTo>
                      <a:pt x="333" y="349"/>
                    </a:lnTo>
                    <a:lnTo>
                      <a:pt x="318" y="335"/>
                    </a:lnTo>
                    <a:lnTo>
                      <a:pt x="332" y="320"/>
                    </a:lnTo>
                    <a:lnTo>
                      <a:pt x="346" y="334"/>
                    </a:lnTo>
                    <a:close/>
                    <a:moveTo>
                      <a:pt x="318" y="364"/>
                    </a:moveTo>
                    <a:lnTo>
                      <a:pt x="305" y="378"/>
                    </a:lnTo>
                    <a:lnTo>
                      <a:pt x="291" y="364"/>
                    </a:lnTo>
                    <a:lnTo>
                      <a:pt x="304" y="349"/>
                    </a:lnTo>
                    <a:lnTo>
                      <a:pt x="318" y="364"/>
                    </a:lnTo>
                    <a:close/>
                    <a:moveTo>
                      <a:pt x="292" y="393"/>
                    </a:moveTo>
                    <a:lnTo>
                      <a:pt x="278" y="407"/>
                    </a:lnTo>
                    <a:lnTo>
                      <a:pt x="263" y="394"/>
                    </a:lnTo>
                    <a:lnTo>
                      <a:pt x="278" y="379"/>
                    </a:lnTo>
                    <a:lnTo>
                      <a:pt x="292" y="393"/>
                    </a:lnTo>
                    <a:close/>
                    <a:moveTo>
                      <a:pt x="264" y="421"/>
                    </a:moveTo>
                    <a:lnTo>
                      <a:pt x="250" y="436"/>
                    </a:lnTo>
                    <a:lnTo>
                      <a:pt x="235" y="423"/>
                    </a:lnTo>
                    <a:lnTo>
                      <a:pt x="250" y="408"/>
                    </a:lnTo>
                    <a:lnTo>
                      <a:pt x="264" y="421"/>
                    </a:lnTo>
                    <a:close/>
                    <a:moveTo>
                      <a:pt x="237" y="451"/>
                    </a:moveTo>
                    <a:lnTo>
                      <a:pt x="223" y="466"/>
                    </a:lnTo>
                    <a:lnTo>
                      <a:pt x="208" y="451"/>
                    </a:lnTo>
                    <a:lnTo>
                      <a:pt x="222" y="437"/>
                    </a:lnTo>
                    <a:lnTo>
                      <a:pt x="237" y="451"/>
                    </a:lnTo>
                    <a:close/>
                    <a:moveTo>
                      <a:pt x="209" y="480"/>
                    </a:moveTo>
                    <a:lnTo>
                      <a:pt x="196" y="495"/>
                    </a:lnTo>
                    <a:lnTo>
                      <a:pt x="181" y="481"/>
                    </a:lnTo>
                    <a:lnTo>
                      <a:pt x="195" y="466"/>
                    </a:lnTo>
                    <a:lnTo>
                      <a:pt x="209" y="480"/>
                    </a:lnTo>
                    <a:close/>
                    <a:moveTo>
                      <a:pt x="181" y="509"/>
                    </a:moveTo>
                    <a:lnTo>
                      <a:pt x="168" y="523"/>
                    </a:lnTo>
                    <a:lnTo>
                      <a:pt x="154" y="510"/>
                    </a:lnTo>
                    <a:lnTo>
                      <a:pt x="167" y="496"/>
                    </a:lnTo>
                    <a:lnTo>
                      <a:pt x="181" y="509"/>
                    </a:lnTo>
                    <a:close/>
                    <a:moveTo>
                      <a:pt x="155" y="538"/>
                    </a:moveTo>
                    <a:lnTo>
                      <a:pt x="141" y="554"/>
                    </a:lnTo>
                    <a:lnTo>
                      <a:pt x="126" y="539"/>
                    </a:lnTo>
                    <a:lnTo>
                      <a:pt x="139" y="525"/>
                    </a:lnTo>
                    <a:lnTo>
                      <a:pt x="155" y="538"/>
                    </a:lnTo>
                    <a:close/>
                    <a:moveTo>
                      <a:pt x="127" y="568"/>
                    </a:moveTo>
                    <a:lnTo>
                      <a:pt x="113" y="582"/>
                    </a:lnTo>
                    <a:lnTo>
                      <a:pt x="99" y="568"/>
                    </a:lnTo>
                    <a:lnTo>
                      <a:pt x="113" y="554"/>
                    </a:lnTo>
                    <a:lnTo>
                      <a:pt x="127" y="568"/>
                    </a:lnTo>
                    <a:close/>
                    <a:moveTo>
                      <a:pt x="100" y="597"/>
                    </a:moveTo>
                    <a:lnTo>
                      <a:pt x="87" y="611"/>
                    </a:lnTo>
                    <a:lnTo>
                      <a:pt x="71" y="598"/>
                    </a:lnTo>
                    <a:lnTo>
                      <a:pt x="85" y="584"/>
                    </a:lnTo>
                    <a:lnTo>
                      <a:pt x="100" y="597"/>
                    </a:lnTo>
                    <a:close/>
                    <a:moveTo>
                      <a:pt x="72" y="626"/>
                    </a:moveTo>
                    <a:lnTo>
                      <a:pt x="59" y="640"/>
                    </a:lnTo>
                    <a:lnTo>
                      <a:pt x="44" y="627"/>
                    </a:lnTo>
                    <a:lnTo>
                      <a:pt x="58" y="612"/>
                    </a:lnTo>
                    <a:lnTo>
                      <a:pt x="72" y="626"/>
                    </a:lnTo>
                    <a:close/>
                    <a:moveTo>
                      <a:pt x="44" y="654"/>
                    </a:moveTo>
                    <a:lnTo>
                      <a:pt x="31" y="670"/>
                    </a:lnTo>
                    <a:lnTo>
                      <a:pt x="17" y="656"/>
                    </a:lnTo>
                    <a:lnTo>
                      <a:pt x="30" y="641"/>
                    </a:lnTo>
                    <a:lnTo>
                      <a:pt x="44" y="654"/>
                    </a:lnTo>
                    <a:close/>
                    <a:moveTo>
                      <a:pt x="18" y="684"/>
                    </a:moveTo>
                    <a:lnTo>
                      <a:pt x="14" y="687"/>
                    </a:lnTo>
                    <a:lnTo>
                      <a:pt x="0" y="674"/>
                    </a:lnTo>
                    <a:lnTo>
                      <a:pt x="2" y="670"/>
                    </a:lnTo>
                    <a:lnTo>
                      <a:pt x="18" y="684"/>
                    </a:lnTo>
                    <a:close/>
                  </a:path>
                </a:pathLst>
              </a:custGeom>
              <a:solidFill>
                <a:srgbClr val="000000"/>
              </a:solidFill>
              <a:ln w="9525">
                <a:noFill/>
                <a:round/>
                <a:headEnd/>
                <a:tailEnd/>
              </a:ln>
            </p:spPr>
            <p:txBody>
              <a:bodyPr/>
              <a:lstStyle/>
              <a:p>
                <a:endParaRPr lang="zh-CN" altLang="en-US"/>
              </a:p>
            </p:txBody>
          </p:sp>
          <p:sp>
            <p:nvSpPr>
              <p:cNvPr id="65560" name="Freeform 177"/>
              <p:cNvSpPr>
                <a:spLocks/>
              </p:cNvSpPr>
              <p:nvPr/>
            </p:nvSpPr>
            <p:spPr bwMode="auto">
              <a:xfrm>
                <a:off x="1643" y="1412"/>
                <a:ext cx="14" cy="14"/>
              </a:xfrm>
              <a:custGeom>
                <a:avLst/>
                <a:gdLst>
                  <a:gd name="T0" fmla="*/ 7 w 27"/>
                  <a:gd name="T1" fmla="*/ 3 h 29"/>
                  <a:gd name="T2" fmla="*/ 4 w 27"/>
                  <a:gd name="T3" fmla="*/ 7 h 29"/>
                  <a:gd name="T4" fmla="*/ 0 w 27"/>
                  <a:gd name="T5" fmla="*/ 3 h 29"/>
                  <a:gd name="T6" fmla="*/ 4 w 27"/>
                  <a:gd name="T7" fmla="*/ 0 h 29"/>
                  <a:gd name="T8" fmla="*/ 7 w 27"/>
                  <a:gd name="T9" fmla="*/ 3 h 29"/>
                  <a:gd name="T10" fmla="*/ 7 w 27"/>
                  <a:gd name="T11" fmla="*/ 3 h 29"/>
                  <a:gd name="T12" fmla="*/ 0 60000 65536"/>
                  <a:gd name="T13" fmla="*/ 0 60000 65536"/>
                  <a:gd name="T14" fmla="*/ 0 60000 65536"/>
                  <a:gd name="T15" fmla="*/ 0 60000 65536"/>
                  <a:gd name="T16" fmla="*/ 0 60000 65536"/>
                  <a:gd name="T17" fmla="*/ 0 60000 65536"/>
                  <a:gd name="T18" fmla="*/ 0 w 27"/>
                  <a:gd name="T19" fmla="*/ 0 h 29"/>
                  <a:gd name="T20" fmla="*/ 27 w 27"/>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27" h="29">
                    <a:moveTo>
                      <a:pt x="27" y="13"/>
                    </a:moveTo>
                    <a:lnTo>
                      <a:pt x="14" y="29"/>
                    </a:lnTo>
                    <a:lnTo>
                      <a:pt x="0" y="14"/>
                    </a:lnTo>
                    <a:lnTo>
                      <a:pt x="13" y="0"/>
                    </a:lnTo>
                    <a:lnTo>
                      <a:pt x="27" y="13"/>
                    </a:lnTo>
                    <a:close/>
                  </a:path>
                </a:pathLst>
              </a:custGeom>
              <a:noFill/>
              <a:ln w="1588">
                <a:solidFill>
                  <a:srgbClr val="000000"/>
                </a:solidFill>
                <a:round/>
                <a:headEnd/>
                <a:tailEnd/>
              </a:ln>
            </p:spPr>
            <p:txBody>
              <a:bodyPr/>
              <a:lstStyle/>
              <a:p>
                <a:endParaRPr lang="zh-CN" altLang="en-US"/>
              </a:p>
            </p:txBody>
          </p:sp>
          <p:sp>
            <p:nvSpPr>
              <p:cNvPr id="65561" name="Freeform 178"/>
              <p:cNvSpPr>
                <a:spLocks/>
              </p:cNvSpPr>
              <p:nvPr/>
            </p:nvSpPr>
            <p:spPr bwMode="auto">
              <a:xfrm>
                <a:off x="1629" y="1426"/>
                <a:ext cx="14" cy="15"/>
              </a:xfrm>
              <a:custGeom>
                <a:avLst/>
                <a:gdLst>
                  <a:gd name="T0" fmla="*/ 7 w 28"/>
                  <a:gd name="T1" fmla="*/ 4 h 28"/>
                  <a:gd name="T2" fmla="*/ 4 w 28"/>
                  <a:gd name="T3" fmla="*/ 8 h 28"/>
                  <a:gd name="T4" fmla="*/ 0 w 28"/>
                  <a:gd name="T5" fmla="*/ 4 h 28"/>
                  <a:gd name="T6" fmla="*/ 4 w 28"/>
                  <a:gd name="T7" fmla="*/ 0 h 28"/>
                  <a:gd name="T8" fmla="*/ 7 w 28"/>
                  <a:gd name="T9" fmla="*/ 4 h 28"/>
                  <a:gd name="T10" fmla="*/ 7 w 28"/>
                  <a:gd name="T11" fmla="*/ 4 h 28"/>
                  <a:gd name="T12" fmla="*/ 0 60000 65536"/>
                  <a:gd name="T13" fmla="*/ 0 60000 65536"/>
                  <a:gd name="T14" fmla="*/ 0 60000 65536"/>
                  <a:gd name="T15" fmla="*/ 0 60000 65536"/>
                  <a:gd name="T16" fmla="*/ 0 60000 65536"/>
                  <a:gd name="T17" fmla="*/ 0 60000 65536"/>
                  <a:gd name="T18" fmla="*/ 0 w 28"/>
                  <a:gd name="T19" fmla="*/ 0 h 28"/>
                  <a:gd name="T20" fmla="*/ 28 w 28"/>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8" h="28">
                    <a:moveTo>
                      <a:pt x="28" y="14"/>
                    </a:moveTo>
                    <a:lnTo>
                      <a:pt x="15" y="28"/>
                    </a:lnTo>
                    <a:lnTo>
                      <a:pt x="0" y="14"/>
                    </a:lnTo>
                    <a:lnTo>
                      <a:pt x="13" y="0"/>
                    </a:lnTo>
                    <a:lnTo>
                      <a:pt x="28" y="14"/>
                    </a:lnTo>
                    <a:close/>
                  </a:path>
                </a:pathLst>
              </a:custGeom>
              <a:noFill/>
              <a:ln w="1588">
                <a:solidFill>
                  <a:srgbClr val="000000"/>
                </a:solidFill>
                <a:round/>
                <a:headEnd/>
                <a:tailEnd/>
              </a:ln>
            </p:spPr>
            <p:txBody>
              <a:bodyPr/>
              <a:lstStyle/>
              <a:p>
                <a:endParaRPr lang="zh-CN" altLang="en-US"/>
              </a:p>
            </p:txBody>
          </p:sp>
          <p:sp>
            <p:nvSpPr>
              <p:cNvPr id="65562" name="Freeform 179"/>
              <p:cNvSpPr>
                <a:spLocks/>
              </p:cNvSpPr>
              <p:nvPr/>
            </p:nvSpPr>
            <p:spPr bwMode="auto">
              <a:xfrm>
                <a:off x="1615" y="1441"/>
                <a:ext cx="14" cy="14"/>
              </a:xfrm>
              <a:custGeom>
                <a:avLst/>
                <a:gdLst>
                  <a:gd name="T0" fmla="*/ 7 w 27"/>
                  <a:gd name="T1" fmla="*/ 4 h 27"/>
                  <a:gd name="T2" fmla="*/ 4 w 27"/>
                  <a:gd name="T3" fmla="*/ 7 h 27"/>
                  <a:gd name="T4" fmla="*/ 0 w 27"/>
                  <a:gd name="T5" fmla="*/ 4 h 27"/>
                  <a:gd name="T6" fmla="*/ 4 w 27"/>
                  <a:gd name="T7" fmla="*/ 0 h 27"/>
                  <a:gd name="T8" fmla="*/ 7 w 27"/>
                  <a:gd name="T9" fmla="*/ 4 h 27"/>
                  <a:gd name="T10" fmla="*/ 7 w 27"/>
                  <a:gd name="T11" fmla="*/ 4 h 27"/>
                  <a:gd name="T12" fmla="*/ 0 60000 65536"/>
                  <a:gd name="T13" fmla="*/ 0 60000 65536"/>
                  <a:gd name="T14" fmla="*/ 0 60000 65536"/>
                  <a:gd name="T15" fmla="*/ 0 60000 65536"/>
                  <a:gd name="T16" fmla="*/ 0 60000 65536"/>
                  <a:gd name="T17" fmla="*/ 0 60000 65536"/>
                  <a:gd name="T18" fmla="*/ 0 w 27"/>
                  <a:gd name="T19" fmla="*/ 0 h 27"/>
                  <a:gd name="T20" fmla="*/ 27 w 27"/>
                  <a:gd name="T21" fmla="*/ 27 h 27"/>
                </a:gdLst>
                <a:ahLst/>
                <a:cxnLst>
                  <a:cxn ang="T12">
                    <a:pos x="T0" y="T1"/>
                  </a:cxn>
                  <a:cxn ang="T13">
                    <a:pos x="T2" y="T3"/>
                  </a:cxn>
                  <a:cxn ang="T14">
                    <a:pos x="T4" y="T5"/>
                  </a:cxn>
                  <a:cxn ang="T15">
                    <a:pos x="T6" y="T7"/>
                  </a:cxn>
                  <a:cxn ang="T16">
                    <a:pos x="T8" y="T9"/>
                  </a:cxn>
                  <a:cxn ang="T17">
                    <a:pos x="T10" y="T11"/>
                  </a:cxn>
                </a:cxnLst>
                <a:rect l="T18" t="T19" r="T20" b="T21"/>
                <a:pathLst>
                  <a:path w="27" h="27">
                    <a:moveTo>
                      <a:pt x="27" y="13"/>
                    </a:moveTo>
                    <a:lnTo>
                      <a:pt x="14" y="27"/>
                    </a:lnTo>
                    <a:lnTo>
                      <a:pt x="0" y="14"/>
                    </a:lnTo>
                    <a:lnTo>
                      <a:pt x="13" y="0"/>
                    </a:lnTo>
                    <a:lnTo>
                      <a:pt x="27" y="13"/>
                    </a:lnTo>
                    <a:close/>
                  </a:path>
                </a:pathLst>
              </a:custGeom>
              <a:noFill/>
              <a:ln w="1588">
                <a:solidFill>
                  <a:srgbClr val="000000"/>
                </a:solidFill>
                <a:round/>
                <a:headEnd/>
                <a:tailEnd/>
              </a:ln>
            </p:spPr>
            <p:txBody>
              <a:bodyPr/>
              <a:lstStyle/>
              <a:p>
                <a:endParaRPr lang="zh-CN" altLang="en-US"/>
              </a:p>
            </p:txBody>
          </p:sp>
          <p:sp>
            <p:nvSpPr>
              <p:cNvPr id="65563" name="Freeform 180"/>
              <p:cNvSpPr>
                <a:spLocks/>
              </p:cNvSpPr>
              <p:nvPr/>
            </p:nvSpPr>
            <p:spPr bwMode="auto">
              <a:xfrm>
                <a:off x="1601" y="1456"/>
                <a:ext cx="15" cy="14"/>
              </a:xfrm>
              <a:custGeom>
                <a:avLst/>
                <a:gdLst>
                  <a:gd name="T0" fmla="*/ 8 w 29"/>
                  <a:gd name="T1" fmla="*/ 4 h 28"/>
                  <a:gd name="T2" fmla="*/ 4 w 29"/>
                  <a:gd name="T3" fmla="*/ 7 h 28"/>
                  <a:gd name="T4" fmla="*/ 0 w 29"/>
                  <a:gd name="T5" fmla="*/ 4 h 28"/>
                  <a:gd name="T6" fmla="*/ 4 w 29"/>
                  <a:gd name="T7" fmla="*/ 0 h 28"/>
                  <a:gd name="T8" fmla="*/ 8 w 29"/>
                  <a:gd name="T9" fmla="*/ 4 h 28"/>
                  <a:gd name="T10" fmla="*/ 8 w 29"/>
                  <a:gd name="T11" fmla="*/ 4 h 28"/>
                  <a:gd name="T12" fmla="*/ 0 60000 65536"/>
                  <a:gd name="T13" fmla="*/ 0 60000 65536"/>
                  <a:gd name="T14" fmla="*/ 0 60000 65536"/>
                  <a:gd name="T15" fmla="*/ 0 60000 65536"/>
                  <a:gd name="T16" fmla="*/ 0 60000 65536"/>
                  <a:gd name="T17" fmla="*/ 0 60000 65536"/>
                  <a:gd name="T18" fmla="*/ 0 w 29"/>
                  <a:gd name="T19" fmla="*/ 0 h 28"/>
                  <a:gd name="T20" fmla="*/ 29 w 2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9" h="28">
                    <a:moveTo>
                      <a:pt x="29" y="14"/>
                    </a:moveTo>
                    <a:lnTo>
                      <a:pt x="14" y="28"/>
                    </a:lnTo>
                    <a:lnTo>
                      <a:pt x="0" y="15"/>
                    </a:lnTo>
                    <a:lnTo>
                      <a:pt x="14" y="0"/>
                    </a:lnTo>
                    <a:lnTo>
                      <a:pt x="29" y="14"/>
                    </a:lnTo>
                    <a:close/>
                  </a:path>
                </a:pathLst>
              </a:custGeom>
              <a:noFill/>
              <a:ln w="1588">
                <a:solidFill>
                  <a:srgbClr val="000000"/>
                </a:solidFill>
                <a:round/>
                <a:headEnd/>
                <a:tailEnd/>
              </a:ln>
            </p:spPr>
            <p:txBody>
              <a:bodyPr/>
              <a:lstStyle/>
              <a:p>
                <a:endParaRPr lang="zh-CN" altLang="en-US"/>
              </a:p>
            </p:txBody>
          </p:sp>
          <p:sp>
            <p:nvSpPr>
              <p:cNvPr id="65564" name="Freeform 181"/>
              <p:cNvSpPr>
                <a:spLocks/>
              </p:cNvSpPr>
              <p:nvPr/>
            </p:nvSpPr>
            <p:spPr bwMode="auto">
              <a:xfrm>
                <a:off x="1588" y="1470"/>
                <a:ext cx="14" cy="15"/>
              </a:xfrm>
              <a:custGeom>
                <a:avLst/>
                <a:gdLst>
                  <a:gd name="T0" fmla="*/ 7 w 29"/>
                  <a:gd name="T1" fmla="*/ 4 h 29"/>
                  <a:gd name="T2" fmla="*/ 3 w 29"/>
                  <a:gd name="T3" fmla="*/ 8 h 29"/>
                  <a:gd name="T4" fmla="*/ 0 w 29"/>
                  <a:gd name="T5" fmla="*/ 4 h 29"/>
                  <a:gd name="T6" fmla="*/ 3 w 29"/>
                  <a:gd name="T7" fmla="*/ 0 h 29"/>
                  <a:gd name="T8" fmla="*/ 7 w 29"/>
                  <a:gd name="T9" fmla="*/ 4 h 29"/>
                  <a:gd name="T10" fmla="*/ 7 w 29"/>
                  <a:gd name="T11" fmla="*/ 4 h 29"/>
                  <a:gd name="T12" fmla="*/ 0 60000 65536"/>
                  <a:gd name="T13" fmla="*/ 0 60000 65536"/>
                  <a:gd name="T14" fmla="*/ 0 60000 65536"/>
                  <a:gd name="T15" fmla="*/ 0 60000 65536"/>
                  <a:gd name="T16" fmla="*/ 0 60000 65536"/>
                  <a:gd name="T17" fmla="*/ 0 60000 65536"/>
                  <a:gd name="T18" fmla="*/ 0 w 29"/>
                  <a:gd name="T19" fmla="*/ 0 h 29"/>
                  <a:gd name="T20" fmla="*/ 29 w 29"/>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29" h="29">
                    <a:moveTo>
                      <a:pt x="29" y="13"/>
                    </a:moveTo>
                    <a:lnTo>
                      <a:pt x="15" y="29"/>
                    </a:lnTo>
                    <a:lnTo>
                      <a:pt x="0" y="15"/>
                    </a:lnTo>
                    <a:lnTo>
                      <a:pt x="15" y="0"/>
                    </a:lnTo>
                    <a:lnTo>
                      <a:pt x="29" y="13"/>
                    </a:lnTo>
                    <a:close/>
                  </a:path>
                </a:pathLst>
              </a:custGeom>
              <a:noFill/>
              <a:ln w="1588">
                <a:solidFill>
                  <a:srgbClr val="000000"/>
                </a:solidFill>
                <a:round/>
                <a:headEnd/>
                <a:tailEnd/>
              </a:ln>
            </p:spPr>
            <p:txBody>
              <a:bodyPr/>
              <a:lstStyle/>
              <a:p>
                <a:endParaRPr lang="zh-CN" altLang="en-US"/>
              </a:p>
            </p:txBody>
          </p:sp>
          <p:sp>
            <p:nvSpPr>
              <p:cNvPr id="65565" name="Freeform 182"/>
              <p:cNvSpPr>
                <a:spLocks/>
              </p:cNvSpPr>
              <p:nvPr/>
            </p:nvSpPr>
            <p:spPr bwMode="auto">
              <a:xfrm>
                <a:off x="1574" y="1485"/>
                <a:ext cx="14" cy="14"/>
              </a:xfrm>
              <a:custGeom>
                <a:avLst/>
                <a:gdLst>
                  <a:gd name="T0" fmla="*/ 7 w 28"/>
                  <a:gd name="T1" fmla="*/ 3 h 29"/>
                  <a:gd name="T2" fmla="*/ 4 w 28"/>
                  <a:gd name="T3" fmla="*/ 7 h 29"/>
                  <a:gd name="T4" fmla="*/ 0 w 28"/>
                  <a:gd name="T5" fmla="*/ 3 h 29"/>
                  <a:gd name="T6" fmla="*/ 4 w 28"/>
                  <a:gd name="T7" fmla="*/ 0 h 29"/>
                  <a:gd name="T8" fmla="*/ 7 w 28"/>
                  <a:gd name="T9" fmla="*/ 3 h 29"/>
                  <a:gd name="T10" fmla="*/ 7 w 28"/>
                  <a:gd name="T11" fmla="*/ 3 h 29"/>
                  <a:gd name="T12" fmla="*/ 0 60000 65536"/>
                  <a:gd name="T13" fmla="*/ 0 60000 65536"/>
                  <a:gd name="T14" fmla="*/ 0 60000 65536"/>
                  <a:gd name="T15" fmla="*/ 0 60000 65536"/>
                  <a:gd name="T16" fmla="*/ 0 60000 65536"/>
                  <a:gd name="T17" fmla="*/ 0 60000 65536"/>
                  <a:gd name="T18" fmla="*/ 0 w 28"/>
                  <a:gd name="T19" fmla="*/ 0 h 29"/>
                  <a:gd name="T20" fmla="*/ 28 w 28"/>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28" h="29">
                    <a:moveTo>
                      <a:pt x="28" y="14"/>
                    </a:moveTo>
                    <a:lnTo>
                      <a:pt x="14" y="29"/>
                    </a:lnTo>
                    <a:lnTo>
                      <a:pt x="0" y="14"/>
                    </a:lnTo>
                    <a:lnTo>
                      <a:pt x="13" y="0"/>
                    </a:lnTo>
                    <a:lnTo>
                      <a:pt x="28" y="14"/>
                    </a:lnTo>
                    <a:close/>
                  </a:path>
                </a:pathLst>
              </a:custGeom>
              <a:noFill/>
              <a:ln w="1588">
                <a:solidFill>
                  <a:srgbClr val="000000"/>
                </a:solidFill>
                <a:round/>
                <a:headEnd/>
                <a:tailEnd/>
              </a:ln>
            </p:spPr>
            <p:txBody>
              <a:bodyPr/>
              <a:lstStyle/>
              <a:p>
                <a:endParaRPr lang="zh-CN" altLang="en-US"/>
              </a:p>
            </p:txBody>
          </p:sp>
          <p:sp>
            <p:nvSpPr>
              <p:cNvPr id="65566" name="Freeform 183"/>
              <p:cNvSpPr>
                <a:spLocks/>
              </p:cNvSpPr>
              <p:nvPr/>
            </p:nvSpPr>
            <p:spPr bwMode="auto">
              <a:xfrm>
                <a:off x="1561" y="1500"/>
                <a:ext cx="13" cy="13"/>
              </a:xfrm>
              <a:custGeom>
                <a:avLst/>
                <a:gdLst>
                  <a:gd name="T0" fmla="*/ 6 w 28"/>
                  <a:gd name="T1" fmla="*/ 3 h 28"/>
                  <a:gd name="T2" fmla="*/ 3 w 28"/>
                  <a:gd name="T3" fmla="*/ 6 h 28"/>
                  <a:gd name="T4" fmla="*/ 0 w 28"/>
                  <a:gd name="T5" fmla="*/ 3 h 28"/>
                  <a:gd name="T6" fmla="*/ 3 w 28"/>
                  <a:gd name="T7" fmla="*/ 0 h 28"/>
                  <a:gd name="T8" fmla="*/ 6 w 28"/>
                  <a:gd name="T9" fmla="*/ 3 h 28"/>
                  <a:gd name="T10" fmla="*/ 6 w 28"/>
                  <a:gd name="T11" fmla="*/ 3 h 28"/>
                  <a:gd name="T12" fmla="*/ 0 60000 65536"/>
                  <a:gd name="T13" fmla="*/ 0 60000 65536"/>
                  <a:gd name="T14" fmla="*/ 0 60000 65536"/>
                  <a:gd name="T15" fmla="*/ 0 60000 65536"/>
                  <a:gd name="T16" fmla="*/ 0 60000 65536"/>
                  <a:gd name="T17" fmla="*/ 0 60000 65536"/>
                  <a:gd name="T18" fmla="*/ 0 w 28"/>
                  <a:gd name="T19" fmla="*/ 0 h 28"/>
                  <a:gd name="T20" fmla="*/ 28 w 28"/>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8" h="28">
                    <a:moveTo>
                      <a:pt x="28" y="13"/>
                    </a:moveTo>
                    <a:lnTo>
                      <a:pt x="15" y="28"/>
                    </a:lnTo>
                    <a:lnTo>
                      <a:pt x="0" y="14"/>
                    </a:lnTo>
                    <a:lnTo>
                      <a:pt x="14" y="0"/>
                    </a:lnTo>
                    <a:lnTo>
                      <a:pt x="28" y="13"/>
                    </a:lnTo>
                    <a:close/>
                  </a:path>
                </a:pathLst>
              </a:custGeom>
              <a:noFill/>
              <a:ln w="1588">
                <a:solidFill>
                  <a:srgbClr val="000000"/>
                </a:solidFill>
                <a:round/>
                <a:headEnd/>
                <a:tailEnd/>
              </a:ln>
            </p:spPr>
            <p:txBody>
              <a:bodyPr/>
              <a:lstStyle/>
              <a:p>
                <a:endParaRPr lang="zh-CN" altLang="en-US"/>
              </a:p>
            </p:txBody>
          </p:sp>
          <p:sp>
            <p:nvSpPr>
              <p:cNvPr id="65567" name="Freeform 184"/>
              <p:cNvSpPr>
                <a:spLocks/>
              </p:cNvSpPr>
              <p:nvPr/>
            </p:nvSpPr>
            <p:spPr bwMode="auto">
              <a:xfrm>
                <a:off x="1547" y="1514"/>
                <a:ext cx="14" cy="14"/>
              </a:xfrm>
              <a:custGeom>
                <a:avLst/>
                <a:gdLst>
                  <a:gd name="T0" fmla="*/ 7 w 27"/>
                  <a:gd name="T1" fmla="*/ 3 h 29"/>
                  <a:gd name="T2" fmla="*/ 4 w 27"/>
                  <a:gd name="T3" fmla="*/ 7 h 29"/>
                  <a:gd name="T4" fmla="*/ 0 w 27"/>
                  <a:gd name="T5" fmla="*/ 3 h 29"/>
                  <a:gd name="T6" fmla="*/ 4 w 27"/>
                  <a:gd name="T7" fmla="*/ 0 h 29"/>
                  <a:gd name="T8" fmla="*/ 7 w 27"/>
                  <a:gd name="T9" fmla="*/ 3 h 29"/>
                  <a:gd name="T10" fmla="*/ 7 w 27"/>
                  <a:gd name="T11" fmla="*/ 3 h 29"/>
                  <a:gd name="T12" fmla="*/ 0 60000 65536"/>
                  <a:gd name="T13" fmla="*/ 0 60000 65536"/>
                  <a:gd name="T14" fmla="*/ 0 60000 65536"/>
                  <a:gd name="T15" fmla="*/ 0 60000 65536"/>
                  <a:gd name="T16" fmla="*/ 0 60000 65536"/>
                  <a:gd name="T17" fmla="*/ 0 60000 65536"/>
                  <a:gd name="T18" fmla="*/ 0 w 27"/>
                  <a:gd name="T19" fmla="*/ 0 h 29"/>
                  <a:gd name="T20" fmla="*/ 27 w 27"/>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27" h="29">
                    <a:moveTo>
                      <a:pt x="27" y="13"/>
                    </a:moveTo>
                    <a:lnTo>
                      <a:pt x="14" y="29"/>
                    </a:lnTo>
                    <a:lnTo>
                      <a:pt x="0" y="14"/>
                    </a:lnTo>
                    <a:lnTo>
                      <a:pt x="13" y="0"/>
                    </a:lnTo>
                    <a:lnTo>
                      <a:pt x="27" y="13"/>
                    </a:lnTo>
                    <a:close/>
                  </a:path>
                </a:pathLst>
              </a:custGeom>
              <a:noFill/>
              <a:ln w="1588">
                <a:solidFill>
                  <a:srgbClr val="000000"/>
                </a:solidFill>
                <a:round/>
                <a:headEnd/>
                <a:tailEnd/>
              </a:ln>
            </p:spPr>
            <p:txBody>
              <a:bodyPr/>
              <a:lstStyle/>
              <a:p>
                <a:endParaRPr lang="zh-CN" altLang="en-US"/>
              </a:p>
            </p:txBody>
          </p:sp>
          <p:sp>
            <p:nvSpPr>
              <p:cNvPr id="65568" name="Freeform 185"/>
              <p:cNvSpPr>
                <a:spLocks/>
              </p:cNvSpPr>
              <p:nvPr/>
            </p:nvSpPr>
            <p:spPr bwMode="auto">
              <a:xfrm>
                <a:off x="1533" y="1528"/>
                <a:ext cx="14" cy="15"/>
              </a:xfrm>
              <a:custGeom>
                <a:avLst/>
                <a:gdLst>
                  <a:gd name="T0" fmla="*/ 7 w 29"/>
                  <a:gd name="T1" fmla="*/ 4 h 29"/>
                  <a:gd name="T2" fmla="*/ 3 w 29"/>
                  <a:gd name="T3" fmla="*/ 8 h 29"/>
                  <a:gd name="T4" fmla="*/ 0 w 29"/>
                  <a:gd name="T5" fmla="*/ 4 h 29"/>
                  <a:gd name="T6" fmla="*/ 3 w 29"/>
                  <a:gd name="T7" fmla="*/ 0 h 29"/>
                  <a:gd name="T8" fmla="*/ 7 w 29"/>
                  <a:gd name="T9" fmla="*/ 4 h 29"/>
                  <a:gd name="T10" fmla="*/ 7 w 29"/>
                  <a:gd name="T11" fmla="*/ 4 h 29"/>
                  <a:gd name="T12" fmla="*/ 0 60000 65536"/>
                  <a:gd name="T13" fmla="*/ 0 60000 65536"/>
                  <a:gd name="T14" fmla="*/ 0 60000 65536"/>
                  <a:gd name="T15" fmla="*/ 0 60000 65536"/>
                  <a:gd name="T16" fmla="*/ 0 60000 65536"/>
                  <a:gd name="T17" fmla="*/ 0 60000 65536"/>
                  <a:gd name="T18" fmla="*/ 0 w 29"/>
                  <a:gd name="T19" fmla="*/ 0 h 29"/>
                  <a:gd name="T20" fmla="*/ 29 w 29"/>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29" h="29">
                    <a:moveTo>
                      <a:pt x="29" y="14"/>
                    </a:moveTo>
                    <a:lnTo>
                      <a:pt x="14" y="29"/>
                    </a:lnTo>
                    <a:lnTo>
                      <a:pt x="0" y="14"/>
                    </a:lnTo>
                    <a:lnTo>
                      <a:pt x="13" y="0"/>
                    </a:lnTo>
                    <a:lnTo>
                      <a:pt x="29" y="14"/>
                    </a:lnTo>
                    <a:close/>
                  </a:path>
                </a:pathLst>
              </a:custGeom>
              <a:noFill/>
              <a:ln w="1588">
                <a:solidFill>
                  <a:srgbClr val="000000"/>
                </a:solidFill>
                <a:round/>
                <a:headEnd/>
                <a:tailEnd/>
              </a:ln>
            </p:spPr>
            <p:txBody>
              <a:bodyPr/>
              <a:lstStyle/>
              <a:p>
                <a:endParaRPr lang="zh-CN" altLang="en-US"/>
              </a:p>
            </p:txBody>
          </p:sp>
          <p:sp>
            <p:nvSpPr>
              <p:cNvPr id="65569" name="Freeform 186"/>
              <p:cNvSpPr>
                <a:spLocks/>
              </p:cNvSpPr>
              <p:nvPr/>
            </p:nvSpPr>
            <p:spPr bwMode="auto">
              <a:xfrm>
                <a:off x="1519" y="1543"/>
                <a:ext cx="15" cy="14"/>
              </a:xfrm>
              <a:custGeom>
                <a:avLst/>
                <a:gdLst>
                  <a:gd name="T0" fmla="*/ 8 w 29"/>
                  <a:gd name="T1" fmla="*/ 4 h 28"/>
                  <a:gd name="T2" fmla="*/ 4 w 29"/>
                  <a:gd name="T3" fmla="*/ 7 h 28"/>
                  <a:gd name="T4" fmla="*/ 0 w 29"/>
                  <a:gd name="T5" fmla="*/ 4 h 28"/>
                  <a:gd name="T6" fmla="*/ 4 w 29"/>
                  <a:gd name="T7" fmla="*/ 0 h 28"/>
                  <a:gd name="T8" fmla="*/ 8 w 29"/>
                  <a:gd name="T9" fmla="*/ 4 h 28"/>
                  <a:gd name="T10" fmla="*/ 8 w 29"/>
                  <a:gd name="T11" fmla="*/ 4 h 28"/>
                  <a:gd name="T12" fmla="*/ 0 60000 65536"/>
                  <a:gd name="T13" fmla="*/ 0 60000 65536"/>
                  <a:gd name="T14" fmla="*/ 0 60000 65536"/>
                  <a:gd name="T15" fmla="*/ 0 60000 65536"/>
                  <a:gd name="T16" fmla="*/ 0 60000 65536"/>
                  <a:gd name="T17" fmla="*/ 0 60000 65536"/>
                  <a:gd name="T18" fmla="*/ 0 w 29"/>
                  <a:gd name="T19" fmla="*/ 0 h 28"/>
                  <a:gd name="T20" fmla="*/ 29 w 2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9" h="28">
                    <a:moveTo>
                      <a:pt x="29" y="14"/>
                    </a:moveTo>
                    <a:lnTo>
                      <a:pt x="15" y="28"/>
                    </a:lnTo>
                    <a:lnTo>
                      <a:pt x="0" y="15"/>
                    </a:lnTo>
                    <a:lnTo>
                      <a:pt x="15" y="0"/>
                    </a:lnTo>
                    <a:lnTo>
                      <a:pt x="29" y="14"/>
                    </a:lnTo>
                    <a:close/>
                  </a:path>
                </a:pathLst>
              </a:custGeom>
              <a:noFill/>
              <a:ln w="1588">
                <a:solidFill>
                  <a:srgbClr val="000000"/>
                </a:solidFill>
                <a:round/>
                <a:headEnd/>
                <a:tailEnd/>
              </a:ln>
            </p:spPr>
            <p:txBody>
              <a:bodyPr/>
              <a:lstStyle/>
              <a:p>
                <a:endParaRPr lang="zh-CN" altLang="en-US"/>
              </a:p>
            </p:txBody>
          </p:sp>
          <p:sp>
            <p:nvSpPr>
              <p:cNvPr id="65570" name="Freeform 187"/>
              <p:cNvSpPr>
                <a:spLocks/>
              </p:cNvSpPr>
              <p:nvPr/>
            </p:nvSpPr>
            <p:spPr bwMode="auto">
              <a:xfrm>
                <a:off x="1506" y="1558"/>
                <a:ext cx="14" cy="14"/>
              </a:xfrm>
              <a:custGeom>
                <a:avLst/>
                <a:gdLst>
                  <a:gd name="T0" fmla="*/ 7 w 28"/>
                  <a:gd name="T1" fmla="*/ 4 h 27"/>
                  <a:gd name="T2" fmla="*/ 4 w 28"/>
                  <a:gd name="T3" fmla="*/ 7 h 27"/>
                  <a:gd name="T4" fmla="*/ 0 w 28"/>
                  <a:gd name="T5" fmla="*/ 4 h 27"/>
                  <a:gd name="T6" fmla="*/ 4 w 28"/>
                  <a:gd name="T7" fmla="*/ 0 h 27"/>
                  <a:gd name="T8" fmla="*/ 7 w 28"/>
                  <a:gd name="T9" fmla="*/ 4 h 27"/>
                  <a:gd name="T10" fmla="*/ 7 w 28"/>
                  <a:gd name="T11" fmla="*/ 4 h 27"/>
                  <a:gd name="T12" fmla="*/ 0 60000 65536"/>
                  <a:gd name="T13" fmla="*/ 0 60000 65536"/>
                  <a:gd name="T14" fmla="*/ 0 60000 65536"/>
                  <a:gd name="T15" fmla="*/ 0 60000 65536"/>
                  <a:gd name="T16" fmla="*/ 0 60000 65536"/>
                  <a:gd name="T17" fmla="*/ 0 60000 65536"/>
                  <a:gd name="T18" fmla="*/ 0 w 28"/>
                  <a:gd name="T19" fmla="*/ 0 h 27"/>
                  <a:gd name="T20" fmla="*/ 28 w 28"/>
                  <a:gd name="T21" fmla="*/ 27 h 27"/>
                </a:gdLst>
                <a:ahLst/>
                <a:cxnLst>
                  <a:cxn ang="T12">
                    <a:pos x="T0" y="T1"/>
                  </a:cxn>
                  <a:cxn ang="T13">
                    <a:pos x="T2" y="T3"/>
                  </a:cxn>
                  <a:cxn ang="T14">
                    <a:pos x="T4" y="T5"/>
                  </a:cxn>
                  <a:cxn ang="T15">
                    <a:pos x="T6" y="T7"/>
                  </a:cxn>
                  <a:cxn ang="T16">
                    <a:pos x="T8" y="T9"/>
                  </a:cxn>
                  <a:cxn ang="T17">
                    <a:pos x="T10" y="T11"/>
                  </a:cxn>
                </a:cxnLst>
                <a:rect l="T18" t="T19" r="T20" b="T21"/>
                <a:pathLst>
                  <a:path w="28" h="27">
                    <a:moveTo>
                      <a:pt x="28" y="13"/>
                    </a:moveTo>
                    <a:lnTo>
                      <a:pt x="14" y="27"/>
                    </a:lnTo>
                    <a:lnTo>
                      <a:pt x="0" y="14"/>
                    </a:lnTo>
                    <a:lnTo>
                      <a:pt x="13" y="0"/>
                    </a:lnTo>
                    <a:lnTo>
                      <a:pt x="28" y="13"/>
                    </a:lnTo>
                    <a:close/>
                  </a:path>
                </a:pathLst>
              </a:custGeom>
              <a:noFill/>
              <a:ln w="1588">
                <a:solidFill>
                  <a:srgbClr val="000000"/>
                </a:solidFill>
                <a:round/>
                <a:headEnd/>
                <a:tailEnd/>
              </a:ln>
            </p:spPr>
            <p:txBody>
              <a:bodyPr/>
              <a:lstStyle/>
              <a:p>
                <a:endParaRPr lang="zh-CN" altLang="en-US"/>
              </a:p>
            </p:txBody>
          </p:sp>
          <p:sp>
            <p:nvSpPr>
              <p:cNvPr id="65571" name="Freeform 188"/>
              <p:cNvSpPr>
                <a:spLocks/>
              </p:cNvSpPr>
              <p:nvPr/>
            </p:nvSpPr>
            <p:spPr bwMode="auto">
              <a:xfrm>
                <a:off x="1492" y="1572"/>
                <a:ext cx="14" cy="15"/>
              </a:xfrm>
              <a:custGeom>
                <a:avLst/>
                <a:gdLst>
                  <a:gd name="T0" fmla="*/ 7 w 28"/>
                  <a:gd name="T1" fmla="*/ 4 h 29"/>
                  <a:gd name="T2" fmla="*/ 4 w 28"/>
                  <a:gd name="T3" fmla="*/ 8 h 29"/>
                  <a:gd name="T4" fmla="*/ 0 w 28"/>
                  <a:gd name="T5" fmla="*/ 4 h 29"/>
                  <a:gd name="T6" fmla="*/ 4 w 28"/>
                  <a:gd name="T7" fmla="*/ 0 h 29"/>
                  <a:gd name="T8" fmla="*/ 7 w 28"/>
                  <a:gd name="T9" fmla="*/ 4 h 29"/>
                  <a:gd name="T10" fmla="*/ 7 w 28"/>
                  <a:gd name="T11" fmla="*/ 4 h 29"/>
                  <a:gd name="T12" fmla="*/ 0 60000 65536"/>
                  <a:gd name="T13" fmla="*/ 0 60000 65536"/>
                  <a:gd name="T14" fmla="*/ 0 60000 65536"/>
                  <a:gd name="T15" fmla="*/ 0 60000 65536"/>
                  <a:gd name="T16" fmla="*/ 0 60000 65536"/>
                  <a:gd name="T17" fmla="*/ 0 60000 65536"/>
                  <a:gd name="T18" fmla="*/ 0 w 28"/>
                  <a:gd name="T19" fmla="*/ 0 h 29"/>
                  <a:gd name="T20" fmla="*/ 28 w 28"/>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28" h="29">
                    <a:moveTo>
                      <a:pt x="28" y="14"/>
                    </a:moveTo>
                    <a:lnTo>
                      <a:pt x="15" y="29"/>
                    </a:lnTo>
                    <a:lnTo>
                      <a:pt x="0" y="15"/>
                    </a:lnTo>
                    <a:lnTo>
                      <a:pt x="14" y="0"/>
                    </a:lnTo>
                    <a:lnTo>
                      <a:pt x="28" y="14"/>
                    </a:lnTo>
                    <a:close/>
                  </a:path>
                </a:pathLst>
              </a:custGeom>
              <a:noFill/>
              <a:ln w="1588">
                <a:solidFill>
                  <a:srgbClr val="000000"/>
                </a:solidFill>
                <a:round/>
                <a:headEnd/>
                <a:tailEnd/>
              </a:ln>
            </p:spPr>
            <p:txBody>
              <a:bodyPr/>
              <a:lstStyle/>
              <a:p>
                <a:endParaRPr lang="zh-CN" altLang="en-US"/>
              </a:p>
            </p:txBody>
          </p:sp>
          <p:sp>
            <p:nvSpPr>
              <p:cNvPr id="65572" name="Freeform 189"/>
              <p:cNvSpPr>
                <a:spLocks/>
              </p:cNvSpPr>
              <p:nvPr/>
            </p:nvSpPr>
            <p:spPr bwMode="auto">
              <a:xfrm>
                <a:off x="1478" y="1587"/>
                <a:ext cx="14" cy="14"/>
              </a:xfrm>
              <a:custGeom>
                <a:avLst/>
                <a:gdLst>
                  <a:gd name="T0" fmla="*/ 7 w 27"/>
                  <a:gd name="T1" fmla="*/ 3 h 29"/>
                  <a:gd name="T2" fmla="*/ 4 w 27"/>
                  <a:gd name="T3" fmla="*/ 7 h 29"/>
                  <a:gd name="T4" fmla="*/ 0 w 27"/>
                  <a:gd name="T5" fmla="*/ 3 h 29"/>
                  <a:gd name="T6" fmla="*/ 4 w 27"/>
                  <a:gd name="T7" fmla="*/ 0 h 29"/>
                  <a:gd name="T8" fmla="*/ 7 w 27"/>
                  <a:gd name="T9" fmla="*/ 3 h 29"/>
                  <a:gd name="T10" fmla="*/ 7 w 27"/>
                  <a:gd name="T11" fmla="*/ 3 h 29"/>
                  <a:gd name="T12" fmla="*/ 0 60000 65536"/>
                  <a:gd name="T13" fmla="*/ 0 60000 65536"/>
                  <a:gd name="T14" fmla="*/ 0 60000 65536"/>
                  <a:gd name="T15" fmla="*/ 0 60000 65536"/>
                  <a:gd name="T16" fmla="*/ 0 60000 65536"/>
                  <a:gd name="T17" fmla="*/ 0 60000 65536"/>
                  <a:gd name="T18" fmla="*/ 0 w 27"/>
                  <a:gd name="T19" fmla="*/ 0 h 29"/>
                  <a:gd name="T20" fmla="*/ 27 w 27"/>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27" h="29">
                    <a:moveTo>
                      <a:pt x="27" y="15"/>
                    </a:moveTo>
                    <a:lnTo>
                      <a:pt x="14" y="29"/>
                    </a:lnTo>
                    <a:lnTo>
                      <a:pt x="0" y="15"/>
                    </a:lnTo>
                    <a:lnTo>
                      <a:pt x="13" y="0"/>
                    </a:lnTo>
                    <a:lnTo>
                      <a:pt x="27" y="15"/>
                    </a:lnTo>
                    <a:close/>
                  </a:path>
                </a:pathLst>
              </a:custGeom>
              <a:noFill/>
              <a:ln w="1588">
                <a:solidFill>
                  <a:srgbClr val="000000"/>
                </a:solidFill>
                <a:round/>
                <a:headEnd/>
                <a:tailEnd/>
              </a:ln>
            </p:spPr>
            <p:txBody>
              <a:bodyPr/>
              <a:lstStyle/>
              <a:p>
                <a:endParaRPr lang="zh-CN" altLang="en-US"/>
              </a:p>
            </p:txBody>
          </p:sp>
          <p:sp>
            <p:nvSpPr>
              <p:cNvPr id="65573" name="Freeform 190"/>
              <p:cNvSpPr>
                <a:spLocks/>
              </p:cNvSpPr>
              <p:nvPr/>
            </p:nvSpPr>
            <p:spPr bwMode="auto">
              <a:xfrm>
                <a:off x="1465" y="1602"/>
                <a:ext cx="14" cy="13"/>
              </a:xfrm>
              <a:custGeom>
                <a:avLst/>
                <a:gdLst>
                  <a:gd name="T0" fmla="*/ 7 w 29"/>
                  <a:gd name="T1" fmla="*/ 3 h 28"/>
                  <a:gd name="T2" fmla="*/ 3 w 29"/>
                  <a:gd name="T3" fmla="*/ 6 h 28"/>
                  <a:gd name="T4" fmla="*/ 0 w 29"/>
                  <a:gd name="T5" fmla="*/ 3 h 28"/>
                  <a:gd name="T6" fmla="*/ 3 w 29"/>
                  <a:gd name="T7" fmla="*/ 0 h 28"/>
                  <a:gd name="T8" fmla="*/ 7 w 29"/>
                  <a:gd name="T9" fmla="*/ 3 h 28"/>
                  <a:gd name="T10" fmla="*/ 7 w 29"/>
                  <a:gd name="T11" fmla="*/ 3 h 28"/>
                  <a:gd name="T12" fmla="*/ 0 60000 65536"/>
                  <a:gd name="T13" fmla="*/ 0 60000 65536"/>
                  <a:gd name="T14" fmla="*/ 0 60000 65536"/>
                  <a:gd name="T15" fmla="*/ 0 60000 65536"/>
                  <a:gd name="T16" fmla="*/ 0 60000 65536"/>
                  <a:gd name="T17" fmla="*/ 0 60000 65536"/>
                  <a:gd name="T18" fmla="*/ 0 w 29"/>
                  <a:gd name="T19" fmla="*/ 0 h 28"/>
                  <a:gd name="T20" fmla="*/ 29 w 2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9" h="28">
                    <a:moveTo>
                      <a:pt x="29" y="14"/>
                    </a:moveTo>
                    <a:lnTo>
                      <a:pt x="15" y="28"/>
                    </a:lnTo>
                    <a:lnTo>
                      <a:pt x="0" y="15"/>
                    </a:lnTo>
                    <a:lnTo>
                      <a:pt x="15" y="0"/>
                    </a:lnTo>
                    <a:lnTo>
                      <a:pt x="29" y="14"/>
                    </a:lnTo>
                    <a:close/>
                  </a:path>
                </a:pathLst>
              </a:custGeom>
              <a:noFill/>
              <a:ln w="1588">
                <a:solidFill>
                  <a:srgbClr val="000000"/>
                </a:solidFill>
                <a:round/>
                <a:headEnd/>
                <a:tailEnd/>
              </a:ln>
            </p:spPr>
            <p:txBody>
              <a:bodyPr/>
              <a:lstStyle/>
              <a:p>
                <a:endParaRPr lang="zh-CN" altLang="en-US"/>
              </a:p>
            </p:txBody>
          </p:sp>
          <p:sp>
            <p:nvSpPr>
              <p:cNvPr id="65574" name="Freeform 191"/>
              <p:cNvSpPr>
                <a:spLocks/>
              </p:cNvSpPr>
              <p:nvPr/>
            </p:nvSpPr>
            <p:spPr bwMode="auto">
              <a:xfrm>
                <a:off x="1451" y="1616"/>
                <a:ext cx="14" cy="14"/>
              </a:xfrm>
              <a:custGeom>
                <a:avLst/>
                <a:gdLst>
                  <a:gd name="T0" fmla="*/ 7 w 29"/>
                  <a:gd name="T1" fmla="*/ 4 h 28"/>
                  <a:gd name="T2" fmla="*/ 3 w 29"/>
                  <a:gd name="T3" fmla="*/ 7 h 28"/>
                  <a:gd name="T4" fmla="*/ 0 w 29"/>
                  <a:gd name="T5" fmla="*/ 4 h 28"/>
                  <a:gd name="T6" fmla="*/ 3 w 29"/>
                  <a:gd name="T7" fmla="*/ 0 h 28"/>
                  <a:gd name="T8" fmla="*/ 7 w 29"/>
                  <a:gd name="T9" fmla="*/ 4 h 28"/>
                  <a:gd name="T10" fmla="*/ 7 w 29"/>
                  <a:gd name="T11" fmla="*/ 4 h 28"/>
                  <a:gd name="T12" fmla="*/ 0 60000 65536"/>
                  <a:gd name="T13" fmla="*/ 0 60000 65536"/>
                  <a:gd name="T14" fmla="*/ 0 60000 65536"/>
                  <a:gd name="T15" fmla="*/ 0 60000 65536"/>
                  <a:gd name="T16" fmla="*/ 0 60000 65536"/>
                  <a:gd name="T17" fmla="*/ 0 60000 65536"/>
                  <a:gd name="T18" fmla="*/ 0 w 29"/>
                  <a:gd name="T19" fmla="*/ 0 h 28"/>
                  <a:gd name="T20" fmla="*/ 29 w 2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9" h="28">
                    <a:moveTo>
                      <a:pt x="29" y="13"/>
                    </a:moveTo>
                    <a:lnTo>
                      <a:pt x="15" y="28"/>
                    </a:lnTo>
                    <a:lnTo>
                      <a:pt x="0" y="15"/>
                    </a:lnTo>
                    <a:lnTo>
                      <a:pt x="15" y="0"/>
                    </a:lnTo>
                    <a:lnTo>
                      <a:pt x="29" y="13"/>
                    </a:lnTo>
                    <a:close/>
                  </a:path>
                </a:pathLst>
              </a:custGeom>
              <a:noFill/>
              <a:ln w="1588">
                <a:solidFill>
                  <a:srgbClr val="000000"/>
                </a:solidFill>
                <a:round/>
                <a:headEnd/>
                <a:tailEnd/>
              </a:ln>
            </p:spPr>
            <p:txBody>
              <a:bodyPr/>
              <a:lstStyle/>
              <a:p>
                <a:endParaRPr lang="zh-CN" altLang="en-US"/>
              </a:p>
            </p:txBody>
          </p:sp>
          <p:sp>
            <p:nvSpPr>
              <p:cNvPr id="65575" name="Freeform 192"/>
              <p:cNvSpPr>
                <a:spLocks/>
              </p:cNvSpPr>
              <p:nvPr/>
            </p:nvSpPr>
            <p:spPr bwMode="auto">
              <a:xfrm>
                <a:off x="1437" y="1630"/>
                <a:ext cx="14" cy="15"/>
              </a:xfrm>
              <a:custGeom>
                <a:avLst/>
                <a:gdLst>
                  <a:gd name="T0" fmla="*/ 7 w 29"/>
                  <a:gd name="T1" fmla="*/ 4 h 29"/>
                  <a:gd name="T2" fmla="*/ 3 w 29"/>
                  <a:gd name="T3" fmla="*/ 8 h 29"/>
                  <a:gd name="T4" fmla="*/ 0 w 29"/>
                  <a:gd name="T5" fmla="*/ 4 h 29"/>
                  <a:gd name="T6" fmla="*/ 3 w 29"/>
                  <a:gd name="T7" fmla="*/ 0 h 29"/>
                  <a:gd name="T8" fmla="*/ 7 w 29"/>
                  <a:gd name="T9" fmla="*/ 4 h 29"/>
                  <a:gd name="T10" fmla="*/ 7 w 29"/>
                  <a:gd name="T11" fmla="*/ 4 h 29"/>
                  <a:gd name="T12" fmla="*/ 0 60000 65536"/>
                  <a:gd name="T13" fmla="*/ 0 60000 65536"/>
                  <a:gd name="T14" fmla="*/ 0 60000 65536"/>
                  <a:gd name="T15" fmla="*/ 0 60000 65536"/>
                  <a:gd name="T16" fmla="*/ 0 60000 65536"/>
                  <a:gd name="T17" fmla="*/ 0 60000 65536"/>
                  <a:gd name="T18" fmla="*/ 0 w 29"/>
                  <a:gd name="T19" fmla="*/ 0 h 29"/>
                  <a:gd name="T20" fmla="*/ 29 w 29"/>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29" h="29">
                    <a:moveTo>
                      <a:pt x="29" y="14"/>
                    </a:moveTo>
                    <a:lnTo>
                      <a:pt x="15" y="29"/>
                    </a:lnTo>
                    <a:lnTo>
                      <a:pt x="0" y="14"/>
                    </a:lnTo>
                    <a:lnTo>
                      <a:pt x="14" y="0"/>
                    </a:lnTo>
                    <a:lnTo>
                      <a:pt x="29" y="14"/>
                    </a:lnTo>
                    <a:close/>
                  </a:path>
                </a:pathLst>
              </a:custGeom>
              <a:noFill/>
              <a:ln w="1588">
                <a:solidFill>
                  <a:srgbClr val="000000"/>
                </a:solidFill>
                <a:round/>
                <a:headEnd/>
                <a:tailEnd/>
              </a:ln>
            </p:spPr>
            <p:txBody>
              <a:bodyPr/>
              <a:lstStyle/>
              <a:p>
                <a:endParaRPr lang="zh-CN" altLang="en-US"/>
              </a:p>
            </p:txBody>
          </p:sp>
          <p:sp>
            <p:nvSpPr>
              <p:cNvPr id="65576" name="Freeform 193"/>
              <p:cNvSpPr>
                <a:spLocks/>
              </p:cNvSpPr>
              <p:nvPr/>
            </p:nvSpPr>
            <p:spPr bwMode="auto">
              <a:xfrm>
                <a:off x="1424" y="1645"/>
                <a:ext cx="14" cy="14"/>
              </a:xfrm>
              <a:custGeom>
                <a:avLst/>
                <a:gdLst>
                  <a:gd name="T0" fmla="*/ 7 w 28"/>
                  <a:gd name="T1" fmla="*/ 3 h 29"/>
                  <a:gd name="T2" fmla="*/ 4 w 28"/>
                  <a:gd name="T3" fmla="*/ 7 h 29"/>
                  <a:gd name="T4" fmla="*/ 0 w 28"/>
                  <a:gd name="T5" fmla="*/ 3 h 29"/>
                  <a:gd name="T6" fmla="*/ 4 w 28"/>
                  <a:gd name="T7" fmla="*/ 0 h 29"/>
                  <a:gd name="T8" fmla="*/ 7 w 28"/>
                  <a:gd name="T9" fmla="*/ 3 h 29"/>
                  <a:gd name="T10" fmla="*/ 7 w 28"/>
                  <a:gd name="T11" fmla="*/ 3 h 29"/>
                  <a:gd name="T12" fmla="*/ 0 60000 65536"/>
                  <a:gd name="T13" fmla="*/ 0 60000 65536"/>
                  <a:gd name="T14" fmla="*/ 0 60000 65536"/>
                  <a:gd name="T15" fmla="*/ 0 60000 65536"/>
                  <a:gd name="T16" fmla="*/ 0 60000 65536"/>
                  <a:gd name="T17" fmla="*/ 0 60000 65536"/>
                  <a:gd name="T18" fmla="*/ 0 w 28"/>
                  <a:gd name="T19" fmla="*/ 0 h 29"/>
                  <a:gd name="T20" fmla="*/ 28 w 28"/>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28" h="29">
                    <a:moveTo>
                      <a:pt x="28" y="14"/>
                    </a:moveTo>
                    <a:lnTo>
                      <a:pt x="15" y="29"/>
                    </a:lnTo>
                    <a:lnTo>
                      <a:pt x="0" y="15"/>
                    </a:lnTo>
                    <a:lnTo>
                      <a:pt x="14" y="0"/>
                    </a:lnTo>
                    <a:lnTo>
                      <a:pt x="28" y="14"/>
                    </a:lnTo>
                    <a:close/>
                  </a:path>
                </a:pathLst>
              </a:custGeom>
              <a:noFill/>
              <a:ln w="1588">
                <a:solidFill>
                  <a:srgbClr val="000000"/>
                </a:solidFill>
                <a:round/>
                <a:headEnd/>
                <a:tailEnd/>
              </a:ln>
            </p:spPr>
            <p:txBody>
              <a:bodyPr/>
              <a:lstStyle/>
              <a:p>
                <a:endParaRPr lang="zh-CN" altLang="en-US"/>
              </a:p>
            </p:txBody>
          </p:sp>
          <p:sp>
            <p:nvSpPr>
              <p:cNvPr id="65577" name="Freeform 194"/>
              <p:cNvSpPr>
                <a:spLocks/>
              </p:cNvSpPr>
              <p:nvPr/>
            </p:nvSpPr>
            <p:spPr bwMode="auto">
              <a:xfrm>
                <a:off x="1410" y="1660"/>
                <a:ext cx="14" cy="14"/>
              </a:xfrm>
              <a:custGeom>
                <a:avLst/>
                <a:gdLst>
                  <a:gd name="T0" fmla="*/ 7 w 27"/>
                  <a:gd name="T1" fmla="*/ 4 h 27"/>
                  <a:gd name="T2" fmla="*/ 4 w 27"/>
                  <a:gd name="T3" fmla="*/ 7 h 27"/>
                  <a:gd name="T4" fmla="*/ 0 w 27"/>
                  <a:gd name="T5" fmla="*/ 4 h 27"/>
                  <a:gd name="T6" fmla="*/ 4 w 27"/>
                  <a:gd name="T7" fmla="*/ 0 h 27"/>
                  <a:gd name="T8" fmla="*/ 7 w 27"/>
                  <a:gd name="T9" fmla="*/ 4 h 27"/>
                  <a:gd name="T10" fmla="*/ 7 w 27"/>
                  <a:gd name="T11" fmla="*/ 4 h 27"/>
                  <a:gd name="T12" fmla="*/ 0 60000 65536"/>
                  <a:gd name="T13" fmla="*/ 0 60000 65536"/>
                  <a:gd name="T14" fmla="*/ 0 60000 65536"/>
                  <a:gd name="T15" fmla="*/ 0 60000 65536"/>
                  <a:gd name="T16" fmla="*/ 0 60000 65536"/>
                  <a:gd name="T17" fmla="*/ 0 60000 65536"/>
                  <a:gd name="T18" fmla="*/ 0 w 27"/>
                  <a:gd name="T19" fmla="*/ 0 h 27"/>
                  <a:gd name="T20" fmla="*/ 27 w 27"/>
                  <a:gd name="T21" fmla="*/ 27 h 27"/>
                </a:gdLst>
                <a:ahLst/>
                <a:cxnLst>
                  <a:cxn ang="T12">
                    <a:pos x="T0" y="T1"/>
                  </a:cxn>
                  <a:cxn ang="T13">
                    <a:pos x="T2" y="T3"/>
                  </a:cxn>
                  <a:cxn ang="T14">
                    <a:pos x="T4" y="T5"/>
                  </a:cxn>
                  <a:cxn ang="T15">
                    <a:pos x="T6" y="T7"/>
                  </a:cxn>
                  <a:cxn ang="T16">
                    <a:pos x="T8" y="T9"/>
                  </a:cxn>
                  <a:cxn ang="T17">
                    <a:pos x="T10" y="T11"/>
                  </a:cxn>
                </a:cxnLst>
                <a:rect l="T18" t="T19" r="T20" b="T21"/>
                <a:pathLst>
                  <a:path w="27" h="27">
                    <a:moveTo>
                      <a:pt x="27" y="13"/>
                    </a:moveTo>
                    <a:lnTo>
                      <a:pt x="14" y="27"/>
                    </a:lnTo>
                    <a:lnTo>
                      <a:pt x="0" y="14"/>
                    </a:lnTo>
                    <a:lnTo>
                      <a:pt x="13" y="0"/>
                    </a:lnTo>
                    <a:lnTo>
                      <a:pt x="27" y="13"/>
                    </a:lnTo>
                    <a:close/>
                  </a:path>
                </a:pathLst>
              </a:custGeom>
              <a:noFill/>
              <a:ln w="1588">
                <a:solidFill>
                  <a:srgbClr val="000000"/>
                </a:solidFill>
                <a:round/>
                <a:headEnd/>
                <a:tailEnd/>
              </a:ln>
            </p:spPr>
            <p:txBody>
              <a:bodyPr/>
              <a:lstStyle/>
              <a:p>
                <a:endParaRPr lang="zh-CN" altLang="en-US"/>
              </a:p>
            </p:txBody>
          </p:sp>
          <p:sp>
            <p:nvSpPr>
              <p:cNvPr id="65578" name="Freeform 197"/>
              <p:cNvSpPr>
                <a:spLocks/>
              </p:cNvSpPr>
              <p:nvPr/>
            </p:nvSpPr>
            <p:spPr bwMode="auto">
              <a:xfrm>
                <a:off x="1368" y="1704"/>
                <a:ext cx="15" cy="14"/>
              </a:xfrm>
              <a:custGeom>
                <a:avLst/>
                <a:gdLst>
                  <a:gd name="T0" fmla="*/ 8 w 29"/>
                  <a:gd name="T1" fmla="*/ 4 h 27"/>
                  <a:gd name="T2" fmla="*/ 4 w 29"/>
                  <a:gd name="T3" fmla="*/ 7 h 27"/>
                  <a:gd name="T4" fmla="*/ 0 w 29"/>
                  <a:gd name="T5" fmla="*/ 4 h 27"/>
                  <a:gd name="T6" fmla="*/ 4 w 29"/>
                  <a:gd name="T7" fmla="*/ 0 h 27"/>
                  <a:gd name="T8" fmla="*/ 8 w 29"/>
                  <a:gd name="T9" fmla="*/ 4 h 27"/>
                  <a:gd name="T10" fmla="*/ 8 w 29"/>
                  <a:gd name="T11" fmla="*/ 4 h 27"/>
                  <a:gd name="T12" fmla="*/ 0 60000 65536"/>
                  <a:gd name="T13" fmla="*/ 0 60000 65536"/>
                  <a:gd name="T14" fmla="*/ 0 60000 65536"/>
                  <a:gd name="T15" fmla="*/ 0 60000 65536"/>
                  <a:gd name="T16" fmla="*/ 0 60000 65536"/>
                  <a:gd name="T17" fmla="*/ 0 60000 65536"/>
                  <a:gd name="T18" fmla="*/ 0 w 29"/>
                  <a:gd name="T19" fmla="*/ 0 h 27"/>
                  <a:gd name="T20" fmla="*/ 29 w 29"/>
                  <a:gd name="T21" fmla="*/ 27 h 27"/>
                </a:gdLst>
                <a:ahLst/>
                <a:cxnLst>
                  <a:cxn ang="T12">
                    <a:pos x="T0" y="T1"/>
                  </a:cxn>
                  <a:cxn ang="T13">
                    <a:pos x="T2" y="T3"/>
                  </a:cxn>
                  <a:cxn ang="T14">
                    <a:pos x="T4" y="T5"/>
                  </a:cxn>
                  <a:cxn ang="T15">
                    <a:pos x="T6" y="T7"/>
                  </a:cxn>
                  <a:cxn ang="T16">
                    <a:pos x="T8" y="T9"/>
                  </a:cxn>
                  <a:cxn ang="T17">
                    <a:pos x="T10" y="T11"/>
                  </a:cxn>
                </a:cxnLst>
                <a:rect l="T18" t="T19" r="T20" b="T21"/>
                <a:pathLst>
                  <a:path w="29" h="27">
                    <a:moveTo>
                      <a:pt x="29" y="13"/>
                    </a:moveTo>
                    <a:lnTo>
                      <a:pt x="16" y="27"/>
                    </a:lnTo>
                    <a:lnTo>
                      <a:pt x="0" y="14"/>
                    </a:lnTo>
                    <a:lnTo>
                      <a:pt x="14" y="0"/>
                    </a:lnTo>
                    <a:lnTo>
                      <a:pt x="29" y="13"/>
                    </a:lnTo>
                    <a:close/>
                  </a:path>
                </a:pathLst>
              </a:custGeom>
              <a:noFill/>
              <a:ln w="1588">
                <a:solidFill>
                  <a:srgbClr val="000000"/>
                </a:solidFill>
                <a:round/>
                <a:headEnd/>
                <a:tailEnd/>
              </a:ln>
            </p:spPr>
            <p:txBody>
              <a:bodyPr/>
              <a:lstStyle/>
              <a:p>
                <a:endParaRPr lang="zh-CN" altLang="en-US"/>
              </a:p>
            </p:txBody>
          </p:sp>
          <p:sp>
            <p:nvSpPr>
              <p:cNvPr id="65579" name="Freeform 198"/>
              <p:cNvSpPr>
                <a:spLocks/>
              </p:cNvSpPr>
              <p:nvPr/>
            </p:nvSpPr>
            <p:spPr bwMode="auto">
              <a:xfrm>
                <a:off x="1355" y="1718"/>
                <a:ext cx="14" cy="14"/>
              </a:xfrm>
              <a:custGeom>
                <a:avLst/>
                <a:gdLst>
                  <a:gd name="T0" fmla="*/ 7 w 28"/>
                  <a:gd name="T1" fmla="*/ 4 h 28"/>
                  <a:gd name="T2" fmla="*/ 4 w 28"/>
                  <a:gd name="T3" fmla="*/ 7 h 28"/>
                  <a:gd name="T4" fmla="*/ 0 w 28"/>
                  <a:gd name="T5" fmla="*/ 4 h 28"/>
                  <a:gd name="T6" fmla="*/ 4 w 28"/>
                  <a:gd name="T7" fmla="*/ 0 h 28"/>
                  <a:gd name="T8" fmla="*/ 7 w 28"/>
                  <a:gd name="T9" fmla="*/ 4 h 28"/>
                  <a:gd name="T10" fmla="*/ 7 w 28"/>
                  <a:gd name="T11" fmla="*/ 4 h 28"/>
                  <a:gd name="T12" fmla="*/ 0 60000 65536"/>
                  <a:gd name="T13" fmla="*/ 0 60000 65536"/>
                  <a:gd name="T14" fmla="*/ 0 60000 65536"/>
                  <a:gd name="T15" fmla="*/ 0 60000 65536"/>
                  <a:gd name="T16" fmla="*/ 0 60000 65536"/>
                  <a:gd name="T17" fmla="*/ 0 60000 65536"/>
                  <a:gd name="T18" fmla="*/ 0 w 28"/>
                  <a:gd name="T19" fmla="*/ 0 h 28"/>
                  <a:gd name="T20" fmla="*/ 28 w 28"/>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8" h="28">
                    <a:moveTo>
                      <a:pt x="28" y="14"/>
                    </a:moveTo>
                    <a:lnTo>
                      <a:pt x="15" y="28"/>
                    </a:lnTo>
                    <a:lnTo>
                      <a:pt x="0" y="15"/>
                    </a:lnTo>
                    <a:lnTo>
                      <a:pt x="14" y="0"/>
                    </a:lnTo>
                    <a:lnTo>
                      <a:pt x="28" y="14"/>
                    </a:lnTo>
                    <a:close/>
                  </a:path>
                </a:pathLst>
              </a:custGeom>
              <a:noFill/>
              <a:ln w="1588">
                <a:solidFill>
                  <a:srgbClr val="000000"/>
                </a:solidFill>
                <a:round/>
                <a:headEnd/>
                <a:tailEnd/>
              </a:ln>
            </p:spPr>
            <p:txBody>
              <a:bodyPr/>
              <a:lstStyle/>
              <a:p>
                <a:endParaRPr lang="zh-CN" altLang="en-US"/>
              </a:p>
            </p:txBody>
          </p:sp>
          <p:sp>
            <p:nvSpPr>
              <p:cNvPr id="65580" name="Freeform 199"/>
              <p:cNvSpPr>
                <a:spLocks/>
              </p:cNvSpPr>
              <p:nvPr/>
            </p:nvSpPr>
            <p:spPr bwMode="auto">
              <a:xfrm>
                <a:off x="1341" y="1733"/>
                <a:ext cx="14" cy="14"/>
              </a:xfrm>
              <a:custGeom>
                <a:avLst/>
                <a:gdLst>
                  <a:gd name="T0" fmla="*/ 7 w 27"/>
                  <a:gd name="T1" fmla="*/ 3 h 29"/>
                  <a:gd name="T2" fmla="*/ 4 w 27"/>
                  <a:gd name="T3" fmla="*/ 7 h 29"/>
                  <a:gd name="T4" fmla="*/ 0 w 27"/>
                  <a:gd name="T5" fmla="*/ 3 h 29"/>
                  <a:gd name="T6" fmla="*/ 4 w 27"/>
                  <a:gd name="T7" fmla="*/ 0 h 29"/>
                  <a:gd name="T8" fmla="*/ 7 w 27"/>
                  <a:gd name="T9" fmla="*/ 3 h 29"/>
                  <a:gd name="T10" fmla="*/ 7 w 27"/>
                  <a:gd name="T11" fmla="*/ 3 h 29"/>
                  <a:gd name="T12" fmla="*/ 0 60000 65536"/>
                  <a:gd name="T13" fmla="*/ 0 60000 65536"/>
                  <a:gd name="T14" fmla="*/ 0 60000 65536"/>
                  <a:gd name="T15" fmla="*/ 0 60000 65536"/>
                  <a:gd name="T16" fmla="*/ 0 60000 65536"/>
                  <a:gd name="T17" fmla="*/ 0 60000 65536"/>
                  <a:gd name="T18" fmla="*/ 0 w 27"/>
                  <a:gd name="T19" fmla="*/ 0 h 29"/>
                  <a:gd name="T20" fmla="*/ 27 w 27"/>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27" h="29">
                    <a:moveTo>
                      <a:pt x="27" y="13"/>
                    </a:moveTo>
                    <a:lnTo>
                      <a:pt x="14" y="29"/>
                    </a:lnTo>
                    <a:lnTo>
                      <a:pt x="0" y="15"/>
                    </a:lnTo>
                    <a:lnTo>
                      <a:pt x="13" y="0"/>
                    </a:lnTo>
                    <a:lnTo>
                      <a:pt x="27" y="13"/>
                    </a:lnTo>
                    <a:close/>
                  </a:path>
                </a:pathLst>
              </a:custGeom>
              <a:noFill/>
              <a:ln w="1588">
                <a:solidFill>
                  <a:srgbClr val="000000"/>
                </a:solidFill>
                <a:round/>
                <a:headEnd/>
                <a:tailEnd/>
              </a:ln>
            </p:spPr>
            <p:txBody>
              <a:bodyPr/>
              <a:lstStyle/>
              <a:p>
                <a:endParaRPr lang="zh-CN" altLang="en-US"/>
              </a:p>
            </p:txBody>
          </p:sp>
          <p:sp>
            <p:nvSpPr>
              <p:cNvPr id="65581" name="Freeform 200"/>
              <p:cNvSpPr>
                <a:spLocks/>
              </p:cNvSpPr>
              <p:nvPr/>
            </p:nvSpPr>
            <p:spPr bwMode="auto">
              <a:xfrm>
                <a:off x="1333" y="1747"/>
                <a:ext cx="9" cy="8"/>
              </a:xfrm>
              <a:custGeom>
                <a:avLst/>
                <a:gdLst>
                  <a:gd name="T0" fmla="*/ 5 w 18"/>
                  <a:gd name="T1" fmla="*/ 3 h 17"/>
                  <a:gd name="T2" fmla="*/ 3 w 18"/>
                  <a:gd name="T3" fmla="*/ 4 h 17"/>
                  <a:gd name="T4" fmla="*/ 0 w 18"/>
                  <a:gd name="T5" fmla="*/ 1 h 17"/>
                  <a:gd name="T6" fmla="*/ 1 w 18"/>
                  <a:gd name="T7" fmla="*/ 0 h 17"/>
                  <a:gd name="T8" fmla="*/ 5 w 18"/>
                  <a:gd name="T9" fmla="*/ 3 h 17"/>
                  <a:gd name="T10" fmla="*/ 5 w 18"/>
                  <a:gd name="T11" fmla="*/ 3 h 17"/>
                  <a:gd name="T12" fmla="*/ 0 60000 65536"/>
                  <a:gd name="T13" fmla="*/ 0 60000 65536"/>
                  <a:gd name="T14" fmla="*/ 0 60000 65536"/>
                  <a:gd name="T15" fmla="*/ 0 60000 65536"/>
                  <a:gd name="T16" fmla="*/ 0 60000 65536"/>
                  <a:gd name="T17" fmla="*/ 0 60000 65536"/>
                  <a:gd name="T18" fmla="*/ 0 w 18"/>
                  <a:gd name="T19" fmla="*/ 0 h 17"/>
                  <a:gd name="T20" fmla="*/ 18 w 18"/>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8" h="17">
                    <a:moveTo>
                      <a:pt x="18" y="14"/>
                    </a:moveTo>
                    <a:lnTo>
                      <a:pt x="14" y="17"/>
                    </a:lnTo>
                    <a:lnTo>
                      <a:pt x="0" y="4"/>
                    </a:lnTo>
                    <a:lnTo>
                      <a:pt x="2" y="0"/>
                    </a:lnTo>
                    <a:lnTo>
                      <a:pt x="18" y="14"/>
                    </a:lnTo>
                    <a:close/>
                  </a:path>
                </a:pathLst>
              </a:custGeom>
              <a:noFill/>
              <a:ln w="1588">
                <a:solidFill>
                  <a:srgbClr val="000000"/>
                </a:solidFill>
                <a:round/>
                <a:headEnd/>
                <a:tailEnd/>
              </a:ln>
            </p:spPr>
            <p:txBody>
              <a:bodyPr/>
              <a:lstStyle/>
              <a:p>
                <a:endParaRPr lang="zh-CN" altLang="en-US"/>
              </a:p>
            </p:txBody>
          </p:sp>
          <p:sp>
            <p:nvSpPr>
              <p:cNvPr id="65582" name="Freeform 201"/>
              <p:cNvSpPr>
                <a:spLocks noEditPoints="1"/>
              </p:cNvSpPr>
              <p:nvPr/>
            </p:nvSpPr>
            <p:spPr bwMode="auto">
              <a:xfrm>
                <a:off x="1478" y="1419"/>
                <a:ext cx="178" cy="434"/>
              </a:xfrm>
              <a:custGeom>
                <a:avLst/>
                <a:gdLst>
                  <a:gd name="T0" fmla="*/ 84 w 356"/>
                  <a:gd name="T1" fmla="*/ 16 h 867"/>
                  <a:gd name="T2" fmla="*/ 5 w 356"/>
                  <a:gd name="T3" fmla="*/ 217 h 867"/>
                  <a:gd name="T4" fmla="*/ 0 w 356"/>
                  <a:gd name="T5" fmla="*/ 215 h 867"/>
                  <a:gd name="T6" fmla="*/ 79 w 356"/>
                  <a:gd name="T7" fmla="*/ 14 h 867"/>
                  <a:gd name="T8" fmla="*/ 84 w 356"/>
                  <a:gd name="T9" fmla="*/ 16 h 867"/>
                  <a:gd name="T10" fmla="*/ 84 w 356"/>
                  <a:gd name="T11" fmla="*/ 16 h 867"/>
                  <a:gd name="T12" fmla="*/ 81 w 356"/>
                  <a:gd name="T13" fmla="*/ 15 h 867"/>
                  <a:gd name="T14" fmla="*/ 67 w 356"/>
                  <a:gd name="T15" fmla="*/ 18 h 867"/>
                  <a:gd name="T16" fmla="*/ 87 w 356"/>
                  <a:gd name="T17" fmla="*/ 0 h 867"/>
                  <a:gd name="T18" fmla="*/ 89 w 356"/>
                  <a:gd name="T19" fmla="*/ 27 h 867"/>
                  <a:gd name="T20" fmla="*/ 81 w 356"/>
                  <a:gd name="T21" fmla="*/ 15 h 867"/>
                  <a:gd name="T22" fmla="*/ 81 w 356"/>
                  <a:gd name="T23" fmla="*/ 15 h 86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6"/>
                  <a:gd name="T37" fmla="*/ 0 h 867"/>
                  <a:gd name="T38" fmla="*/ 356 w 356"/>
                  <a:gd name="T39" fmla="*/ 867 h 86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6" h="867">
                    <a:moveTo>
                      <a:pt x="333" y="63"/>
                    </a:moveTo>
                    <a:lnTo>
                      <a:pt x="18" y="867"/>
                    </a:lnTo>
                    <a:lnTo>
                      <a:pt x="0" y="860"/>
                    </a:lnTo>
                    <a:lnTo>
                      <a:pt x="314" y="55"/>
                    </a:lnTo>
                    <a:lnTo>
                      <a:pt x="333" y="63"/>
                    </a:lnTo>
                    <a:close/>
                    <a:moveTo>
                      <a:pt x="324" y="59"/>
                    </a:moveTo>
                    <a:lnTo>
                      <a:pt x="267" y="72"/>
                    </a:lnTo>
                    <a:lnTo>
                      <a:pt x="347" y="0"/>
                    </a:lnTo>
                    <a:lnTo>
                      <a:pt x="356" y="107"/>
                    </a:lnTo>
                    <a:lnTo>
                      <a:pt x="324" y="59"/>
                    </a:lnTo>
                    <a:close/>
                  </a:path>
                </a:pathLst>
              </a:custGeom>
              <a:solidFill>
                <a:srgbClr val="000000"/>
              </a:solidFill>
              <a:ln w="9525">
                <a:noFill/>
                <a:round/>
                <a:headEnd/>
                <a:tailEnd/>
              </a:ln>
            </p:spPr>
            <p:txBody>
              <a:bodyPr/>
              <a:lstStyle/>
              <a:p>
                <a:endParaRPr lang="zh-CN" altLang="en-US"/>
              </a:p>
            </p:txBody>
          </p:sp>
          <p:sp>
            <p:nvSpPr>
              <p:cNvPr id="65583" name="Freeform 202"/>
              <p:cNvSpPr>
                <a:spLocks/>
              </p:cNvSpPr>
              <p:nvPr/>
            </p:nvSpPr>
            <p:spPr bwMode="auto">
              <a:xfrm>
                <a:off x="1478" y="1447"/>
                <a:ext cx="167" cy="406"/>
              </a:xfrm>
              <a:custGeom>
                <a:avLst/>
                <a:gdLst>
                  <a:gd name="T0" fmla="*/ 84 w 333"/>
                  <a:gd name="T1" fmla="*/ 2 h 812"/>
                  <a:gd name="T2" fmla="*/ 5 w 333"/>
                  <a:gd name="T3" fmla="*/ 203 h 812"/>
                  <a:gd name="T4" fmla="*/ 0 w 333"/>
                  <a:gd name="T5" fmla="*/ 202 h 812"/>
                  <a:gd name="T6" fmla="*/ 79 w 333"/>
                  <a:gd name="T7" fmla="*/ 0 h 812"/>
                  <a:gd name="T8" fmla="*/ 84 w 333"/>
                  <a:gd name="T9" fmla="*/ 2 h 812"/>
                  <a:gd name="T10" fmla="*/ 84 w 333"/>
                  <a:gd name="T11" fmla="*/ 2 h 812"/>
                  <a:gd name="T12" fmla="*/ 0 60000 65536"/>
                  <a:gd name="T13" fmla="*/ 0 60000 65536"/>
                  <a:gd name="T14" fmla="*/ 0 60000 65536"/>
                  <a:gd name="T15" fmla="*/ 0 60000 65536"/>
                  <a:gd name="T16" fmla="*/ 0 60000 65536"/>
                  <a:gd name="T17" fmla="*/ 0 60000 65536"/>
                  <a:gd name="T18" fmla="*/ 0 w 333"/>
                  <a:gd name="T19" fmla="*/ 0 h 812"/>
                  <a:gd name="T20" fmla="*/ 333 w 333"/>
                  <a:gd name="T21" fmla="*/ 812 h 812"/>
                </a:gdLst>
                <a:ahLst/>
                <a:cxnLst>
                  <a:cxn ang="T12">
                    <a:pos x="T0" y="T1"/>
                  </a:cxn>
                  <a:cxn ang="T13">
                    <a:pos x="T2" y="T3"/>
                  </a:cxn>
                  <a:cxn ang="T14">
                    <a:pos x="T4" y="T5"/>
                  </a:cxn>
                  <a:cxn ang="T15">
                    <a:pos x="T6" y="T7"/>
                  </a:cxn>
                  <a:cxn ang="T16">
                    <a:pos x="T8" y="T9"/>
                  </a:cxn>
                  <a:cxn ang="T17">
                    <a:pos x="T10" y="T11"/>
                  </a:cxn>
                </a:cxnLst>
                <a:rect l="T18" t="T19" r="T20" b="T21"/>
                <a:pathLst>
                  <a:path w="333" h="812">
                    <a:moveTo>
                      <a:pt x="333" y="8"/>
                    </a:moveTo>
                    <a:lnTo>
                      <a:pt x="18" y="812"/>
                    </a:lnTo>
                    <a:lnTo>
                      <a:pt x="0" y="805"/>
                    </a:lnTo>
                    <a:lnTo>
                      <a:pt x="314" y="0"/>
                    </a:lnTo>
                    <a:lnTo>
                      <a:pt x="333" y="8"/>
                    </a:lnTo>
                    <a:close/>
                  </a:path>
                </a:pathLst>
              </a:custGeom>
              <a:noFill/>
              <a:ln w="1588">
                <a:solidFill>
                  <a:srgbClr val="000000"/>
                </a:solidFill>
                <a:round/>
                <a:headEnd/>
                <a:tailEnd/>
              </a:ln>
            </p:spPr>
            <p:txBody>
              <a:bodyPr/>
              <a:lstStyle/>
              <a:p>
                <a:endParaRPr lang="zh-CN" altLang="en-US"/>
              </a:p>
            </p:txBody>
          </p:sp>
          <p:sp>
            <p:nvSpPr>
              <p:cNvPr id="65584" name="Freeform 203"/>
              <p:cNvSpPr>
                <a:spLocks/>
              </p:cNvSpPr>
              <p:nvPr/>
            </p:nvSpPr>
            <p:spPr bwMode="auto">
              <a:xfrm>
                <a:off x="1612" y="1419"/>
                <a:ext cx="44" cy="54"/>
              </a:xfrm>
              <a:custGeom>
                <a:avLst/>
                <a:gdLst>
                  <a:gd name="T0" fmla="*/ 14 w 89"/>
                  <a:gd name="T1" fmla="*/ 15 h 107"/>
                  <a:gd name="T2" fmla="*/ 0 w 89"/>
                  <a:gd name="T3" fmla="*/ 18 h 107"/>
                  <a:gd name="T4" fmla="*/ 20 w 89"/>
                  <a:gd name="T5" fmla="*/ 0 h 107"/>
                  <a:gd name="T6" fmla="*/ 22 w 89"/>
                  <a:gd name="T7" fmla="*/ 27 h 107"/>
                  <a:gd name="T8" fmla="*/ 14 w 89"/>
                  <a:gd name="T9" fmla="*/ 15 h 107"/>
                  <a:gd name="T10" fmla="*/ 14 w 89"/>
                  <a:gd name="T11" fmla="*/ 15 h 107"/>
                  <a:gd name="T12" fmla="*/ 0 60000 65536"/>
                  <a:gd name="T13" fmla="*/ 0 60000 65536"/>
                  <a:gd name="T14" fmla="*/ 0 60000 65536"/>
                  <a:gd name="T15" fmla="*/ 0 60000 65536"/>
                  <a:gd name="T16" fmla="*/ 0 60000 65536"/>
                  <a:gd name="T17" fmla="*/ 0 60000 65536"/>
                  <a:gd name="T18" fmla="*/ 0 w 89"/>
                  <a:gd name="T19" fmla="*/ 0 h 107"/>
                  <a:gd name="T20" fmla="*/ 89 w 89"/>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89" h="107">
                    <a:moveTo>
                      <a:pt x="57" y="59"/>
                    </a:moveTo>
                    <a:lnTo>
                      <a:pt x="0" y="72"/>
                    </a:lnTo>
                    <a:lnTo>
                      <a:pt x="80" y="0"/>
                    </a:lnTo>
                    <a:lnTo>
                      <a:pt x="89" y="107"/>
                    </a:lnTo>
                    <a:lnTo>
                      <a:pt x="57" y="59"/>
                    </a:lnTo>
                    <a:close/>
                  </a:path>
                </a:pathLst>
              </a:custGeom>
              <a:noFill/>
              <a:ln w="1588">
                <a:solidFill>
                  <a:srgbClr val="000000"/>
                </a:solidFill>
                <a:round/>
                <a:headEnd/>
                <a:tailEnd/>
              </a:ln>
            </p:spPr>
            <p:txBody>
              <a:bodyPr/>
              <a:lstStyle/>
              <a:p>
                <a:endParaRPr lang="zh-CN" altLang="en-US"/>
              </a:p>
            </p:txBody>
          </p:sp>
          <p:sp>
            <p:nvSpPr>
              <p:cNvPr id="65585" name="Freeform 204"/>
              <p:cNvSpPr>
                <a:spLocks noEditPoints="1"/>
              </p:cNvSpPr>
              <p:nvPr/>
            </p:nvSpPr>
            <p:spPr bwMode="auto">
              <a:xfrm>
                <a:off x="1340" y="1752"/>
                <a:ext cx="150" cy="104"/>
              </a:xfrm>
              <a:custGeom>
                <a:avLst/>
                <a:gdLst>
                  <a:gd name="T0" fmla="*/ 14 w 301"/>
                  <a:gd name="T1" fmla="*/ 7 h 208"/>
                  <a:gd name="T2" fmla="*/ 75 w 301"/>
                  <a:gd name="T3" fmla="*/ 48 h 208"/>
                  <a:gd name="T4" fmla="*/ 72 w 301"/>
                  <a:gd name="T5" fmla="*/ 52 h 208"/>
                  <a:gd name="T6" fmla="*/ 12 w 301"/>
                  <a:gd name="T7" fmla="*/ 11 h 208"/>
                  <a:gd name="T8" fmla="*/ 14 w 301"/>
                  <a:gd name="T9" fmla="*/ 7 h 208"/>
                  <a:gd name="T10" fmla="*/ 14 w 301"/>
                  <a:gd name="T11" fmla="*/ 7 h 208"/>
                  <a:gd name="T12" fmla="*/ 13 w 301"/>
                  <a:gd name="T13" fmla="*/ 9 h 208"/>
                  <a:gd name="T14" fmla="*/ 13 w 301"/>
                  <a:gd name="T15" fmla="*/ 24 h 208"/>
                  <a:gd name="T16" fmla="*/ 0 w 301"/>
                  <a:gd name="T17" fmla="*/ 0 h 208"/>
                  <a:gd name="T18" fmla="*/ 26 w 301"/>
                  <a:gd name="T19" fmla="*/ 3 h 208"/>
                  <a:gd name="T20" fmla="*/ 13 w 301"/>
                  <a:gd name="T21" fmla="*/ 9 h 208"/>
                  <a:gd name="T22" fmla="*/ 13 w 301"/>
                  <a:gd name="T23" fmla="*/ 9 h 20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1"/>
                  <a:gd name="T37" fmla="*/ 0 h 208"/>
                  <a:gd name="T38" fmla="*/ 301 w 301"/>
                  <a:gd name="T39" fmla="*/ 208 h 20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1" h="208">
                    <a:moveTo>
                      <a:pt x="59" y="27"/>
                    </a:moveTo>
                    <a:lnTo>
                      <a:pt x="301" y="191"/>
                    </a:lnTo>
                    <a:lnTo>
                      <a:pt x="290" y="208"/>
                    </a:lnTo>
                    <a:lnTo>
                      <a:pt x="48" y="43"/>
                    </a:lnTo>
                    <a:lnTo>
                      <a:pt x="59" y="27"/>
                    </a:lnTo>
                    <a:close/>
                    <a:moveTo>
                      <a:pt x="54" y="36"/>
                    </a:moveTo>
                    <a:lnTo>
                      <a:pt x="53" y="94"/>
                    </a:lnTo>
                    <a:lnTo>
                      <a:pt x="0" y="0"/>
                    </a:lnTo>
                    <a:lnTo>
                      <a:pt x="107" y="13"/>
                    </a:lnTo>
                    <a:lnTo>
                      <a:pt x="54" y="36"/>
                    </a:lnTo>
                    <a:close/>
                  </a:path>
                </a:pathLst>
              </a:custGeom>
              <a:solidFill>
                <a:srgbClr val="000000"/>
              </a:solidFill>
              <a:ln w="9525">
                <a:noFill/>
                <a:round/>
                <a:headEnd/>
                <a:tailEnd/>
              </a:ln>
            </p:spPr>
            <p:txBody>
              <a:bodyPr/>
              <a:lstStyle/>
              <a:p>
                <a:endParaRPr lang="zh-CN" altLang="en-US"/>
              </a:p>
            </p:txBody>
          </p:sp>
          <p:sp>
            <p:nvSpPr>
              <p:cNvPr id="65586" name="Freeform 205"/>
              <p:cNvSpPr>
                <a:spLocks/>
              </p:cNvSpPr>
              <p:nvPr/>
            </p:nvSpPr>
            <p:spPr bwMode="auto">
              <a:xfrm>
                <a:off x="1364" y="1766"/>
                <a:ext cx="126" cy="90"/>
              </a:xfrm>
              <a:custGeom>
                <a:avLst/>
                <a:gdLst>
                  <a:gd name="T0" fmla="*/ 2 w 253"/>
                  <a:gd name="T1" fmla="*/ 0 h 181"/>
                  <a:gd name="T2" fmla="*/ 63 w 253"/>
                  <a:gd name="T3" fmla="*/ 41 h 181"/>
                  <a:gd name="T4" fmla="*/ 60 w 253"/>
                  <a:gd name="T5" fmla="*/ 45 h 181"/>
                  <a:gd name="T6" fmla="*/ 0 w 253"/>
                  <a:gd name="T7" fmla="*/ 4 h 181"/>
                  <a:gd name="T8" fmla="*/ 2 w 253"/>
                  <a:gd name="T9" fmla="*/ 0 h 181"/>
                  <a:gd name="T10" fmla="*/ 2 w 253"/>
                  <a:gd name="T11" fmla="*/ 0 h 181"/>
                  <a:gd name="T12" fmla="*/ 0 60000 65536"/>
                  <a:gd name="T13" fmla="*/ 0 60000 65536"/>
                  <a:gd name="T14" fmla="*/ 0 60000 65536"/>
                  <a:gd name="T15" fmla="*/ 0 60000 65536"/>
                  <a:gd name="T16" fmla="*/ 0 60000 65536"/>
                  <a:gd name="T17" fmla="*/ 0 60000 65536"/>
                  <a:gd name="T18" fmla="*/ 0 w 253"/>
                  <a:gd name="T19" fmla="*/ 0 h 181"/>
                  <a:gd name="T20" fmla="*/ 253 w 253"/>
                  <a:gd name="T21" fmla="*/ 181 h 181"/>
                </a:gdLst>
                <a:ahLst/>
                <a:cxnLst>
                  <a:cxn ang="T12">
                    <a:pos x="T0" y="T1"/>
                  </a:cxn>
                  <a:cxn ang="T13">
                    <a:pos x="T2" y="T3"/>
                  </a:cxn>
                  <a:cxn ang="T14">
                    <a:pos x="T4" y="T5"/>
                  </a:cxn>
                  <a:cxn ang="T15">
                    <a:pos x="T6" y="T7"/>
                  </a:cxn>
                  <a:cxn ang="T16">
                    <a:pos x="T8" y="T9"/>
                  </a:cxn>
                  <a:cxn ang="T17">
                    <a:pos x="T10" y="T11"/>
                  </a:cxn>
                </a:cxnLst>
                <a:rect l="T18" t="T19" r="T20" b="T21"/>
                <a:pathLst>
                  <a:path w="253" h="181">
                    <a:moveTo>
                      <a:pt x="11" y="0"/>
                    </a:moveTo>
                    <a:lnTo>
                      <a:pt x="253" y="164"/>
                    </a:lnTo>
                    <a:lnTo>
                      <a:pt x="242" y="181"/>
                    </a:lnTo>
                    <a:lnTo>
                      <a:pt x="0" y="16"/>
                    </a:lnTo>
                    <a:lnTo>
                      <a:pt x="11" y="0"/>
                    </a:lnTo>
                    <a:close/>
                  </a:path>
                </a:pathLst>
              </a:custGeom>
              <a:noFill/>
              <a:ln w="1588">
                <a:solidFill>
                  <a:srgbClr val="000000"/>
                </a:solidFill>
                <a:round/>
                <a:headEnd/>
                <a:tailEnd/>
              </a:ln>
            </p:spPr>
            <p:txBody>
              <a:bodyPr/>
              <a:lstStyle/>
              <a:p>
                <a:endParaRPr lang="zh-CN" altLang="en-US"/>
              </a:p>
            </p:txBody>
          </p:sp>
          <p:sp>
            <p:nvSpPr>
              <p:cNvPr id="65587" name="Freeform 206"/>
              <p:cNvSpPr>
                <a:spLocks/>
              </p:cNvSpPr>
              <p:nvPr/>
            </p:nvSpPr>
            <p:spPr bwMode="auto">
              <a:xfrm>
                <a:off x="1340" y="1752"/>
                <a:ext cx="53" cy="47"/>
              </a:xfrm>
              <a:custGeom>
                <a:avLst/>
                <a:gdLst>
                  <a:gd name="T0" fmla="*/ 13 w 107"/>
                  <a:gd name="T1" fmla="*/ 9 h 94"/>
                  <a:gd name="T2" fmla="*/ 13 w 107"/>
                  <a:gd name="T3" fmla="*/ 24 h 94"/>
                  <a:gd name="T4" fmla="*/ 0 w 107"/>
                  <a:gd name="T5" fmla="*/ 0 h 94"/>
                  <a:gd name="T6" fmla="*/ 26 w 107"/>
                  <a:gd name="T7" fmla="*/ 3 h 94"/>
                  <a:gd name="T8" fmla="*/ 13 w 107"/>
                  <a:gd name="T9" fmla="*/ 9 h 94"/>
                  <a:gd name="T10" fmla="*/ 13 w 107"/>
                  <a:gd name="T11" fmla="*/ 9 h 94"/>
                  <a:gd name="T12" fmla="*/ 0 60000 65536"/>
                  <a:gd name="T13" fmla="*/ 0 60000 65536"/>
                  <a:gd name="T14" fmla="*/ 0 60000 65536"/>
                  <a:gd name="T15" fmla="*/ 0 60000 65536"/>
                  <a:gd name="T16" fmla="*/ 0 60000 65536"/>
                  <a:gd name="T17" fmla="*/ 0 60000 65536"/>
                  <a:gd name="T18" fmla="*/ 0 w 107"/>
                  <a:gd name="T19" fmla="*/ 0 h 94"/>
                  <a:gd name="T20" fmla="*/ 107 w 107"/>
                  <a:gd name="T21" fmla="*/ 94 h 94"/>
                </a:gdLst>
                <a:ahLst/>
                <a:cxnLst>
                  <a:cxn ang="T12">
                    <a:pos x="T0" y="T1"/>
                  </a:cxn>
                  <a:cxn ang="T13">
                    <a:pos x="T2" y="T3"/>
                  </a:cxn>
                  <a:cxn ang="T14">
                    <a:pos x="T4" y="T5"/>
                  </a:cxn>
                  <a:cxn ang="T15">
                    <a:pos x="T6" y="T7"/>
                  </a:cxn>
                  <a:cxn ang="T16">
                    <a:pos x="T8" y="T9"/>
                  </a:cxn>
                  <a:cxn ang="T17">
                    <a:pos x="T10" y="T11"/>
                  </a:cxn>
                </a:cxnLst>
                <a:rect l="T18" t="T19" r="T20" b="T21"/>
                <a:pathLst>
                  <a:path w="107" h="94">
                    <a:moveTo>
                      <a:pt x="54" y="36"/>
                    </a:moveTo>
                    <a:lnTo>
                      <a:pt x="53" y="94"/>
                    </a:lnTo>
                    <a:lnTo>
                      <a:pt x="0" y="0"/>
                    </a:lnTo>
                    <a:lnTo>
                      <a:pt x="107" y="13"/>
                    </a:lnTo>
                    <a:lnTo>
                      <a:pt x="54" y="36"/>
                    </a:lnTo>
                    <a:close/>
                  </a:path>
                </a:pathLst>
              </a:custGeom>
              <a:noFill/>
              <a:ln w="1588">
                <a:solidFill>
                  <a:srgbClr val="000000"/>
                </a:solidFill>
                <a:round/>
                <a:headEnd/>
                <a:tailEnd/>
              </a:ln>
            </p:spPr>
            <p:txBody>
              <a:bodyPr/>
              <a:lstStyle/>
              <a:p>
                <a:endParaRPr lang="zh-CN" altLang="en-US"/>
              </a:p>
            </p:txBody>
          </p:sp>
          <p:sp>
            <p:nvSpPr>
              <p:cNvPr id="65588" name="Freeform 215"/>
              <p:cNvSpPr>
                <a:spLocks noEditPoints="1"/>
              </p:cNvSpPr>
              <p:nvPr/>
            </p:nvSpPr>
            <p:spPr bwMode="auto">
              <a:xfrm>
                <a:off x="1647" y="1415"/>
                <a:ext cx="147" cy="103"/>
              </a:xfrm>
              <a:custGeom>
                <a:avLst/>
                <a:gdLst>
                  <a:gd name="T0" fmla="*/ 3 w 293"/>
                  <a:gd name="T1" fmla="*/ 0 h 206"/>
                  <a:gd name="T2" fmla="*/ 7 w 293"/>
                  <a:gd name="T3" fmla="*/ 3 h 206"/>
                  <a:gd name="T4" fmla="*/ 5 w 293"/>
                  <a:gd name="T5" fmla="*/ 6 h 206"/>
                  <a:gd name="T6" fmla="*/ 0 w 293"/>
                  <a:gd name="T7" fmla="*/ 4 h 206"/>
                  <a:gd name="T8" fmla="*/ 3 w 293"/>
                  <a:gd name="T9" fmla="*/ 0 h 206"/>
                  <a:gd name="T10" fmla="*/ 3 w 293"/>
                  <a:gd name="T11" fmla="*/ 0 h 206"/>
                  <a:gd name="T12" fmla="*/ 12 w 293"/>
                  <a:gd name="T13" fmla="*/ 6 h 206"/>
                  <a:gd name="T14" fmla="*/ 16 w 293"/>
                  <a:gd name="T15" fmla="*/ 9 h 206"/>
                  <a:gd name="T16" fmla="*/ 13 w 293"/>
                  <a:gd name="T17" fmla="*/ 13 h 206"/>
                  <a:gd name="T18" fmla="*/ 9 w 293"/>
                  <a:gd name="T19" fmla="*/ 10 h 206"/>
                  <a:gd name="T20" fmla="*/ 12 w 293"/>
                  <a:gd name="T21" fmla="*/ 6 h 206"/>
                  <a:gd name="T22" fmla="*/ 12 w 293"/>
                  <a:gd name="T23" fmla="*/ 6 h 206"/>
                  <a:gd name="T24" fmla="*/ 20 w 293"/>
                  <a:gd name="T25" fmla="*/ 11 h 206"/>
                  <a:gd name="T26" fmla="*/ 24 w 293"/>
                  <a:gd name="T27" fmla="*/ 13 h 206"/>
                  <a:gd name="T28" fmla="*/ 21 w 293"/>
                  <a:gd name="T29" fmla="*/ 18 h 206"/>
                  <a:gd name="T30" fmla="*/ 17 w 293"/>
                  <a:gd name="T31" fmla="*/ 15 h 206"/>
                  <a:gd name="T32" fmla="*/ 20 w 293"/>
                  <a:gd name="T33" fmla="*/ 11 h 206"/>
                  <a:gd name="T34" fmla="*/ 20 w 293"/>
                  <a:gd name="T35" fmla="*/ 11 h 206"/>
                  <a:gd name="T36" fmla="*/ 28 w 293"/>
                  <a:gd name="T37" fmla="*/ 17 h 206"/>
                  <a:gd name="T38" fmla="*/ 32 w 293"/>
                  <a:gd name="T39" fmla="*/ 20 h 206"/>
                  <a:gd name="T40" fmla="*/ 29 w 293"/>
                  <a:gd name="T41" fmla="*/ 24 h 206"/>
                  <a:gd name="T42" fmla="*/ 25 w 293"/>
                  <a:gd name="T43" fmla="*/ 21 h 206"/>
                  <a:gd name="T44" fmla="*/ 28 w 293"/>
                  <a:gd name="T45" fmla="*/ 17 h 206"/>
                  <a:gd name="T46" fmla="*/ 28 w 293"/>
                  <a:gd name="T47" fmla="*/ 17 h 206"/>
                  <a:gd name="T48" fmla="*/ 36 w 293"/>
                  <a:gd name="T49" fmla="*/ 23 h 206"/>
                  <a:gd name="T50" fmla="*/ 40 w 293"/>
                  <a:gd name="T51" fmla="*/ 26 h 206"/>
                  <a:gd name="T52" fmla="*/ 38 w 293"/>
                  <a:gd name="T53" fmla="*/ 29 h 206"/>
                  <a:gd name="T54" fmla="*/ 33 w 293"/>
                  <a:gd name="T55" fmla="*/ 26 h 206"/>
                  <a:gd name="T56" fmla="*/ 36 w 293"/>
                  <a:gd name="T57" fmla="*/ 23 h 206"/>
                  <a:gd name="T58" fmla="*/ 36 w 293"/>
                  <a:gd name="T59" fmla="*/ 23 h 206"/>
                  <a:gd name="T60" fmla="*/ 45 w 293"/>
                  <a:gd name="T61" fmla="*/ 27 h 206"/>
                  <a:gd name="T62" fmla="*/ 49 w 293"/>
                  <a:gd name="T63" fmla="*/ 30 h 206"/>
                  <a:gd name="T64" fmla="*/ 46 w 293"/>
                  <a:gd name="T65" fmla="*/ 35 h 206"/>
                  <a:gd name="T66" fmla="*/ 42 w 293"/>
                  <a:gd name="T67" fmla="*/ 32 h 206"/>
                  <a:gd name="T68" fmla="*/ 45 w 293"/>
                  <a:gd name="T69" fmla="*/ 27 h 206"/>
                  <a:gd name="T70" fmla="*/ 45 w 293"/>
                  <a:gd name="T71" fmla="*/ 27 h 206"/>
                  <a:gd name="T72" fmla="*/ 53 w 293"/>
                  <a:gd name="T73" fmla="*/ 34 h 206"/>
                  <a:gd name="T74" fmla="*/ 57 w 293"/>
                  <a:gd name="T75" fmla="*/ 37 h 206"/>
                  <a:gd name="T76" fmla="*/ 54 w 293"/>
                  <a:gd name="T77" fmla="*/ 41 h 206"/>
                  <a:gd name="T78" fmla="*/ 50 w 293"/>
                  <a:gd name="T79" fmla="*/ 38 h 206"/>
                  <a:gd name="T80" fmla="*/ 53 w 293"/>
                  <a:gd name="T81" fmla="*/ 34 h 206"/>
                  <a:gd name="T82" fmla="*/ 53 w 293"/>
                  <a:gd name="T83" fmla="*/ 34 h 206"/>
                  <a:gd name="T84" fmla="*/ 61 w 293"/>
                  <a:gd name="T85" fmla="*/ 40 h 206"/>
                  <a:gd name="T86" fmla="*/ 65 w 293"/>
                  <a:gd name="T87" fmla="*/ 42 h 206"/>
                  <a:gd name="T88" fmla="*/ 63 w 293"/>
                  <a:gd name="T89" fmla="*/ 47 h 206"/>
                  <a:gd name="T90" fmla="*/ 58 w 293"/>
                  <a:gd name="T91" fmla="*/ 44 h 206"/>
                  <a:gd name="T92" fmla="*/ 61 w 293"/>
                  <a:gd name="T93" fmla="*/ 40 h 206"/>
                  <a:gd name="T94" fmla="*/ 61 w 293"/>
                  <a:gd name="T95" fmla="*/ 40 h 206"/>
                  <a:gd name="T96" fmla="*/ 70 w 293"/>
                  <a:gd name="T97" fmla="*/ 45 h 206"/>
                  <a:gd name="T98" fmla="*/ 74 w 293"/>
                  <a:gd name="T99" fmla="*/ 48 h 206"/>
                  <a:gd name="T100" fmla="*/ 71 w 293"/>
                  <a:gd name="T101" fmla="*/ 52 h 206"/>
                  <a:gd name="T102" fmla="*/ 67 w 293"/>
                  <a:gd name="T103" fmla="*/ 49 h 206"/>
                  <a:gd name="T104" fmla="*/ 70 w 293"/>
                  <a:gd name="T105" fmla="*/ 45 h 206"/>
                  <a:gd name="T106" fmla="*/ 70 w 293"/>
                  <a:gd name="T107" fmla="*/ 45 h 20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93"/>
                  <a:gd name="T163" fmla="*/ 0 h 206"/>
                  <a:gd name="T164" fmla="*/ 293 w 293"/>
                  <a:gd name="T165" fmla="*/ 206 h 20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93" h="206">
                    <a:moveTo>
                      <a:pt x="11" y="0"/>
                    </a:moveTo>
                    <a:lnTo>
                      <a:pt x="28" y="10"/>
                    </a:lnTo>
                    <a:lnTo>
                      <a:pt x="17" y="27"/>
                    </a:lnTo>
                    <a:lnTo>
                      <a:pt x="0" y="16"/>
                    </a:lnTo>
                    <a:lnTo>
                      <a:pt x="11" y="0"/>
                    </a:lnTo>
                    <a:close/>
                    <a:moveTo>
                      <a:pt x="45" y="21"/>
                    </a:moveTo>
                    <a:lnTo>
                      <a:pt x="62" y="33"/>
                    </a:lnTo>
                    <a:lnTo>
                      <a:pt x="49" y="50"/>
                    </a:lnTo>
                    <a:lnTo>
                      <a:pt x="34" y="38"/>
                    </a:lnTo>
                    <a:lnTo>
                      <a:pt x="45" y="21"/>
                    </a:lnTo>
                    <a:close/>
                    <a:moveTo>
                      <a:pt x="77" y="44"/>
                    </a:moveTo>
                    <a:lnTo>
                      <a:pt x="94" y="55"/>
                    </a:lnTo>
                    <a:lnTo>
                      <a:pt x="83" y="72"/>
                    </a:lnTo>
                    <a:lnTo>
                      <a:pt x="66" y="61"/>
                    </a:lnTo>
                    <a:lnTo>
                      <a:pt x="77" y="44"/>
                    </a:lnTo>
                    <a:close/>
                    <a:moveTo>
                      <a:pt x="111" y="67"/>
                    </a:moveTo>
                    <a:lnTo>
                      <a:pt x="128" y="78"/>
                    </a:lnTo>
                    <a:lnTo>
                      <a:pt x="116" y="95"/>
                    </a:lnTo>
                    <a:lnTo>
                      <a:pt x="100" y="84"/>
                    </a:lnTo>
                    <a:lnTo>
                      <a:pt x="111" y="67"/>
                    </a:lnTo>
                    <a:close/>
                    <a:moveTo>
                      <a:pt x="144" y="90"/>
                    </a:moveTo>
                    <a:lnTo>
                      <a:pt x="160" y="101"/>
                    </a:lnTo>
                    <a:lnTo>
                      <a:pt x="149" y="117"/>
                    </a:lnTo>
                    <a:lnTo>
                      <a:pt x="132" y="105"/>
                    </a:lnTo>
                    <a:lnTo>
                      <a:pt x="144" y="90"/>
                    </a:lnTo>
                    <a:close/>
                    <a:moveTo>
                      <a:pt x="177" y="111"/>
                    </a:moveTo>
                    <a:lnTo>
                      <a:pt x="194" y="123"/>
                    </a:lnTo>
                    <a:lnTo>
                      <a:pt x="183" y="139"/>
                    </a:lnTo>
                    <a:lnTo>
                      <a:pt x="166" y="128"/>
                    </a:lnTo>
                    <a:lnTo>
                      <a:pt x="177" y="111"/>
                    </a:lnTo>
                    <a:close/>
                    <a:moveTo>
                      <a:pt x="210" y="134"/>
                    </a:moveTo>
                    <a:lnTo>
                      <a:pt x="226" y="145"/>
                    </a:lnTo>
                    <a:lnTo>
                      <a:pt x="215" y="162"/>
                    </a:lnTo>
                    <a:lnTo>
                      <a:pt x="198" y="151"/>
                    </a:lnTo>
                    <a:lnTo>
                      <a:pt x="210" y="134"/>
                    </a:lnTo>
                    <a:close/>
                    <a:moveTo>
                      <a:pt x="243" y="157"/>
                    </a:moveTo>
                    <a:lnTo>
                      <a:pt x="260" y="168"/>
                    </a:lnTo>
                    <a:lnTo>
                      <a:pt x="249" y="185"/>
                    </a:lnTo>
                    <a:lnTo>
                      <a:pt x="232" y="173"/>
                    </a:lnTo>
                    <a:lnTo>
                      <a:pt x="243" y="157"/>
                    </a:lnTo>
                    <a:close/>
                    <a:moveTo>
                      <a:pt x="277" y="179"/>
                    </a:moveTo>
                    <a:lnTo>
                      <a:pt x="293" y="191"/>
                    </a:lnTo>
                    <a:lnTo>
                      <a:pt x="281" y="206"/>
                    </a:lnTo>
                    <a:lnTo>
                      <a:pt x="265" y="196"/>
                    </a:lnTo>
                    <a:lnTo>
                      <a:pt x="277" y="179"/>
                    </a:lnTo>
                    <a:close/>
                  </a:path>
                </a:pathLst>
              </a:custGeom>
              <a:solidFill>
                <a:srgbClr val="000000"/>
              </a:solidFill>
              <a:ln w="9525">
                <a:noFill/>
                <a:round/>
                <a:headEnd/>
                <a:tailEnd/>
              </a:ln>
            </p:spPr>
            <p:txBody>
              <a:bodyPr/>
              <a:lstStyle/>
              <a:p>
                <a:endParaRPr lang="zh-CN" altLang="en-US"/>
              </a:p>
            </p:txBody>
          </p:sp>
          <p:sp>
            <p:nvSpPr>
              <p:cNvPr id="65589" name="Freeform 217"/>
              <p:cNvSpPr>
                <a:spLocks/>
              </p:cNvSpPr>
              <p:nvPr/>
            </p:nvSpPr>
            <p:spPr bwMode="auto">
              <a:xfrm>
                <a:off x="1647" y="1415"/>
                <a:ext cx="14" cy="14"/>
              </a:xfrm>
              <a:custGeom>
                <a:avLst/>
                <a:gdLst>
                  <a:gd name="T0" fmla="*/ 3 w 28"/>
                  <a:gd name="T1" fmla="*/ 0 h 27"/>
                  <a:gd name="T2" fmla="*/ 7 w 28"/>
                  <a:gd name="T3" fmla="*/ 3 h 27"/>
                  <a:gd name="T4" fmla="*/ 5 w 28"/>
                  <a:gd name="T5" fmla="*/ 7 h 27"/>
                  <a:gd name="T6" fmla="*/ 0 w 28"/>
                  <a:gd name="T7" fmla="*/ 4 h 27"/>
                  <a:gd name="T8" fmla="*/ 3 w 28"/>
                  <a:gd name="T9" fmla="*/ 0 h 27"/>
                  <a:gd name="T10" fmla="*/ 3 w 28"/>
                  <a:gd name="T11" fmla="*/ 0 h 27"/>
                  <a:gd name="T12" fmla="*/ 0 60000 65536"/>
                  <a:gd name="T13" fmla="*/ 0 60000 65536"/>
                  <a:gd name="T14" fmla="*/ 0 60000 65536"/>
                  <a:gd name="T15" fmla="*/ 0 60000 65536"/>
                  <a:gd name="T16" fmla="*/ 0 60000 65536"/>
                  <a:gd name="T17" fmla="*/ 0 60000 65536"/>
                  <a:gd name="T18" fmla="*/ 0 w 28"/>
                  <a:gd name="T19" fmla="*/ 0 h 27"/>
                  <a:gd name="T20" fmla="*/ 28 w 28"/>
                  <a:gd name="T21" fmla="*/ 27 h 27"/>
                </a:gdLst>
                <a:ahLst/>
                <a:cxnLst>
                  <a:cxn ang="T12">
                    <a:pos x="T0" y="T1"/>
                  </a:cxn>
                  <a:cxn ang="T13">
                    <a:pos x="T2" y="T3"/>
                  </a:cxn>
                  <a:cxn ang="T14">
                    <a:pos x="T4" y="T5"/>
                  </a:cxn>
                  <a:cxn ang="T15">
                    <a:pos x="T6" y="T7"/>
                  </a:cxn>
                  <a:cxn ang="T16">
                    <a:pos x="T8" y="T9"/>
                  </a:cxn>
                  <a:cxn ang="T17">
                    <a:pos x="T10" y="T11"/>
                  </a:cxn>
                </a:cxnLst>
                <a:rect l="T18" t="T19" r="T20" b="T21"/>
                <a:pathLst>
                  <a:path w="28" h="27">
                    <a:moveTo>
                      <a:pt x="11" y="0"/>
                    </a:moveTo>
                    <a:lnTo>
                      <a:pt x="28" y="10"/>
                    </a:lnTo>
                    <a:lnTo>
                      <a:pt x="17" y="27"/>
                    </a:lnTo>
                    <a:lnTo>
                      <a:pt x="0" y="16"/>
                    </a:lnTo>
                    <a:lnTo>
                      <a:pt x="11" y="0"/>
                    </a:lnTo>
                    <a:close/>
                  </a:path>
                </a:pathLst>
              </a:custGeom>
              <a:noFill/>
              <a:ln w="1588">
                <a:solidFill>
                  <a:srgbClr val="000000"/>
                </a:solidFill>
                <a:round/>
                <a:headEnd/>
                <a:tailEnd/>
              </a:ln>
            </p:spPr>
            <p:txBody>
              <a:bodyPr/>
              <a:lstStyle/>
              <a:p>
                <a:endParaRPr lang="zh-CN" altLang="en-US"/>
              </a:p>
            </p:txBody>
          </p:sp>
          <p:sp>
            <p:nvSpPr>
              <p:cNvPr id="65590" name="Freeform 218"/>
              <p:cNvSpPr>
                <a:spLocks/>
              </p:cNvSpPr>
              <p:nvPr/>
            </p:nvSpPr>
            <p:spPr bwMode="auto">
              <a:xfrm>
                <a:off x="1664" y="1426"/>
                <a:ext cx="14" cy="14"/>
              </a:xfrm>
              <a:custGeom>
                <a:avLst/>
                <a:gdLst>
                  <a:gd name="T0" fmla="*/ 3 w 28"/>
                  <a:gd name="T1" fmla="*/ 0 h 29"/>
                  <a:gd name="T2" fmla="*/ 7 w 28"/>
                  <a:gd name="T3" fmla="*/ 3 h 29"/>
                  <a:gd name="T4" fmla="*/ 4 w 28"/>
                  <a:gd name="T5" fmla="*/ 7 h 29"/>
                  <a:gd name="T6" fmla="*/ 0 w 28"/>
                  <a:gd name="T7" fmla="*/ 4 h 29"/>
                  <a:gd name="T8" fmla="*/ 3 w 28"/>
                  <a:gd name="T9" fmla="*/ 0 h 29"/>
                  <a:gd name="T10" fmla="*/ 3 w 28"/>
                  <a:gd name="T11" fmla="*/ 0 h 29"/>
                  <a:gd name="T12" fmla="*/ 0 60000 65536"/>
                  <a:gd name="T13" fmla="*/ 0 60000 65536"/>
                  <a:gd name="T14" fmla="*/ 0 60000 65536"/>
                  <a:gd name="T15" fmla="*/ 0 60000 65536"/>
                  <a:gd name="T16" fmla="*/ 0 60000 65536"/>
                  <a:gd name="T17" fmla="*/ 0 60000 65536"/>
                  <a:gd name="T18" fmla="*/ 0 w 28"/>
                  <a:gd name="T19" fmla="*/ 0 h 29"/>
                  <a:gd name="T20" fmla="*/ 28 w 28"/>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28" h="29">
                    <a:moveTo>
                      <a:pt x="11" y="0"/>
                    </a:moveTo>
                    <a:lnTo>
                      <a:pt x="28" y="12"/>
                    </a:lnTo>
                    <a:lnTo>
                      <a:pt x="15" y="29"/>
                    </a:lnTo>
                    <a:lnTo>
                      <a:pt x="0" y="17"/>
                    </a:lnTo>
                    <a:lnTo>
                      <a:pt x="11" y="0"/>
                    </a:lnTo>
                    <a:close/>
                  </a:path>
                </a:pathLst>
              </a:custGeom>
              <a:noFill/>
              <a:ln w="1588">
                <a:solidFill>
                  <a:srgbClr val="000000"/>
                </a:solidFill>
                <a:round/>
                <a:headEnd/>
                <a:tailEnd/>
              </a:ln>
            </p:spPr>
            <p:txBody>
              <a:bodyPr/>
              <a:lstStyle/>
              <a:p>
                <a:endParaRPr lang="zh-CN" altLang="en-US"/>
              </a:p>
            </p:txBody>
          </p:sp>
          <p:sp>
            <p:nvSpPr>
              <p:cNvPr id="65591" name="Freeform 219"/>
              <p:cNvSpPr>
                <a:spLocks/>
              </p:cNvSpPr>
              <p:nvPr/>
            </p:nvSpPr>
            <p:spPr bwMode="auto">
              <a:xfrm>
                <a:off x="1680" y="1437"/>
                <a:ext cx="14" cy="14"/>
              </a:xfrm>
              <a:custGeom>
                <a:avLst/>
                <a:gdLst>
                  <a:gd name="T0" fmla="*/ 3 w 28"/>
                  <a:gd name="T1" fmla="*/ 0 h 28"/>
                  <a:gd name="T2" fmla="*/ 7 w 28"/>
                  <a:gd name="T3" fmla="*/ 3 h 28"/>
                  <a:gd name="T4" fmla="*/ 5 w 28"/>
                  <a:gd name="T5" fmla="*/ 7 h 28"/>
                  <a:gd name="T6" fmla="*/ 0 w 28"/>
                  <a:gd name="T7" fmla="*/ 5 h 28"/>
                  <a:gd name="T8" fmla="*/ 3 w 28"/>
                  <a:gd name="T9" fmla="*/ 0 h 28"/>
                  <a:gd name="T10" fmla="*/ 3 w 28"/>
                  <a:gd name="T11" fmla="*/ 0 h 28"/>
                  <a:gd name="T12" fmla="*/ 0 60000 65536"/>
                  <a:gd name="T13" fmla="*/ 0 60000 65536"/>
                  <a:gd name="T14" fmla="*/ 0 60000 65536"/>
                  <a:gd name="T15" fmla="*/ 0 60000 65536"/>
                  <a:gd name="T16" fmla="*/ 0 60000 65536"/>
                  <a:gd name="T17" fmla="*/ 0 60000 65536"/>
                  <a:gd name="T18" fmla="*/ 0 w 28"/>
                  <a:gd name="T19" fmla="*/ 0 h 28"/>
                  <a:gd name="T20" fmla="*/ 28 w 28"/>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8" h="28">
                    <a:moveTo>
                      <a:pt x="11" y="0"/>
                    </a:moveTo>
                    <a:lnTo>
                      <a:pt x="28" y="11"/>
                    </a:lnTo>
                    <a:lnTo>
                      <a:pt x="17" y="28"/>
                    </a:lnTo>
                    <a:lnTo>
                      <a:pt x="0" y="17"/>
                    </a:lnTo>
                    <a:lnTo>
                      <a:pt x="11" y="0"/>
                    </a:lnTo>
                    <a:close/>
                  </a:path>
                </a:pathLst>
              </a:custGeom>
              <a:noFill/>
              <a:ln w="1588">
                <a:solidFill>
                  <a:srgbClr val="000000"/>
                </a:solidFill>
                <a:round/>
                <a:headEnd/>
                <a:tailEnd/>
              </a:ln>
            </p:spPr>
            <p:txBody>
              <a:bodyPr/>
              <a:lstStyle/>
              <a:p>
                <a:endParaRPr lang="zh-CN" altLang="en-US"/>
              </a:p>
            </p:txBody>
          </p:sp>
          <p:sp>
            <p:nvSpPr>
              <p:cNvPr id="65592" name="Freeform 220"/>
              <p:cNvSpPr>
                <a:spLocks/>
              </p:cNvSpPr>
              <p:nvPr/>
            </p:nvSpPr>
            <p:spPr bwMode="auto">
              <a:xfrm>
                <a:off x="1697" y="1448"/>
                <a:ext cx="14" cy="14"/>
              </a:xfrm>
              <a:custGeom>
                <a:avLst/>
                <a:gdLst>
                  <a:gd name="T0" fmla="*/ 3 w 28"/>
                  <a:gd name="T1" fmla="*/ 0 h 28"/>
                  <a:gd name="T2" fmla="*/ 7 w 28"/>
                  <a:gd name="T3" fmla="*/ 3 h 28"/>
                  <a:gd name="T4" fmla="*/ 4 w 28"/>
                  <a:gd name="T5" fmla="*/ 7 h 28"/>
                  <a:gd name="T6" fmla="*/ 0 w 28"/>
                  <a:gd name="T7" fmla="*/ 5 h 28"/>
                  <a:gd name="T8" fmla="*/ 3 w 28"/>
                  <a:gd name="T9" fmla="*/ 0 h 28"/>
                  <a:gd name="T10" fmla="*/ 3 w 28"/>
                  <a:gd name="T11" fmla="*/ 0 h 28"/>
                  <a:gd name="T12" fmla="*/ 0 60000 65536"/>
                  <a:gd name="T13" fmla="*/ 0 60000 65536"/>
                  <a:gd name="T14" fmla="*/ 0 60000 65536"/>
                  <a:gd name="T15" fmla="*/ 0 60000 65536"/>
                  <a:gd name="T16" fmla="*/ 0 60000 65536"/>
                  <a:gd name="T17" fmla="*/ 0 60000 65536"/>
                  <a:gd name="T18" fmla="*/ 0 w 28"/>
                  <a:gd name="T19" fmla="*/ 0 h 28"/>
                  <a:gd name="T20" fmla="*/ 28 w 28"/>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8" h="28">
                    <a:moveTo>
                      <a:pt x="11" y="0"/>
                    </a:moveTo>
                    <a:lnTo>
                      <a:pt x="28" y="11"/>
                    </a:lnTo>
                    <a:lnTo>
                      <a:pt x="16" y="28"/>
                    </a:lnTo>
                    <a:lnTo>
                      <a:pt x="0" y="17"/>
                    </a:lnTo>
                    <a:lnTo>
                      <a:pt x="11" y="0"/>
                    </a:lnTo>
                    <a:close/>
                  </a:path>
                </a:pathLst>
              </a:custGeom>
              <a:noFill/>
              <a:ln w="1588">
                <a:solidFill>
                  <a:srgbClr val="000000"/>
                </a:solidFill>
                <a:round/>
                <a:headEnd/>
                <a:tailEnd/>
              </a:ln>
            </p:spPr>
            <p:txBody>
              <a:bodyPr/>
              <a:lstStyle/>
              <a:p>
                <a:endParaRPr lang="zh-CN" altLang="en-US"/>
              </a:p>
            </p:txBody>
          </p:sp>
          <p:sp>
            <p:nvSpPr>
              <p:cNvPr id="65593" name="Freeform 221"/>
              <p:cNvSpPr>
                <a:spLocks/>
              </p:cNvSpPr>
              <p:nvPr/>
            </p:nvSpPr>
            <p:spPr bwMode="auto">
              <a:xfrm>
                <a:off x="1713" y="1460"/>
                <a:ext cx="14" cy="14"/>
              </a:xfrm>
              <a:custGeom>
                <a:avLst/>
                <a:gdLst>
                  <a:gd name="T0" fmla="*/ 3 w 28"/>
                  <a:gd name="T1" fmla="*/ 0 h 27"/>
                  <a:gd name="T2" fmla="*/ 7 w 28"/>
                  <a:gd name="T3" fmla="*/ 3 h 27"/>
                  <a:gd name="T4" fmla="*/ 5 w 28"/>
                  <a:gd name="T5" fmla="*/ 7 h 27"/>
                  <a:gd name="T6" fmla="*/ 0 w 28"/>
                  <a:gd name="T7" fmla="*/ 4 h 27"/>
                  <a:gd name="T8" fmla="*/ 3 w 28"/>
                  <a:gd name="T9" fmla="*/ 0 h 27"/>
                  <a:gd name="T10" fmla="*/ 3 w 28"/>
                  <a:gd name="T11" fmla="*/ 0 h 27"/>
                  <a:gd name="T12" fmla="*/ 0 60000 65536"/>
                  <a:gd name="T13" fmla="*/ 0 60000 65536"/>
                  <a:gd name="T14" fmla="*/ 0 60000 65536"/>
                  <a:gd name="T15" fmla="*/ 0 60000 65536"/>
                  <a:gd name="T16" fmla="*/ 0 60000 65536"/>
                  <a:gd name="T17" fmla="*/ 0 60000 65536"/>
                  <a:gd name="T18" fmla="*/ 0 w 28"/>
                  <a:gd name="T19" fmla="*/ 0 h 27"/>
                  <a:gd name="T20" fmla="*/ 28 w 28"/>
                  <a:gd name="T21" fmla="*/ 27 h 27"/>
                </a:gdLst>
                <a:ahLst/>
                <a:cxnLst>
                  <a:cxn ang="T12">
                    <a:pos x="T0" y="T1"/>
                  </a:cxn>
                  <a:cxn ang="T13">
                    <a:pos x="T2" y="T3"/>
                  </a:cxn>
                  <a:cxn ang="T14">
                    <a:pos x="T4" y="T5"/>
                  </a:cxn>
                  <a:cxn ang="T15">
                    <a:pos x="T6" y="T7"/>
                  </a:cxn>
                  <a:cxn ang="T16">
                    <a:pos x="T8" y="T9"/>
                  </a:cxn>
                  <a:cxn ang="T17">
                    <a:pos x="T10" y="T11"/>
                  </a:cxn>
                </a:cxnLst>
                <a:rect l="T18" t="T19" r="T20" b="T21"/>
                <a:pathLst>
                  <a:path w="28" h="27">
                    <a:moveTo>
                      <a:pt x="12" y="0"/>
                    </a:moveTo>
                    <a:lnTo>
                      <a:pt x="28" y="11"/>
                    </a:lnTo>
                    <a:lnTo>
                      <a:pt x="17" y="27"/>
                    </a:lnTo>
                    <a:lnTo>
                      <a:pt x="0" y="15"/>
                    </a:lnTo>
                    <a:lnTo>
                      <a:pt x="12" y="0"/>
                    </a:lnTo>
                    <a:close/>
                  </a:path>
                </a:pathLst>
              </a:custGeom>
              <a:noFill/>
              <a:ln w="1588">
                <a:solidFill>
                  <a:srgbClr val="000000"/>
                </a:solidFill>
                <a:round/>
                <a:headEnd/>
                <a:tailEnd/>
              </a:ln>
            </p:spPr>
            <p:txBody>
              <a:bodyPr/>
              <a:lstStyle/>
              <a:p>
                <a:endParaRPr lang="zh-CN" altLang="en-US"/>
              </a:p>
            </p:txBody>
          </p:sp>
          <p:sp>
            <p:nvSpPr>
              <p:cNvPr id="65594" name="Freeform 222"/>
              <p:cNvSpPr>
                <a:spLocks/>
              </p:cNvSpPr>
              <p:nvPr/>
            </p:nvSpPr>
            <p:spPr bwMode="auto">
              <a:xfrm>
                <a:off x="1730" y="1471"/>
                <a:ext cx="14" cy="14"/>
              </a:xfrm>
              <a:custGeom>
                <a:avLst/>
                <a:gdLst>
                  <a:gd name="T0" fmla="*/ 3 w 28"/>
                  <a:gd name="T1" fmla="*/ 0 h 28"/>
                  <a:gd name="T2" fmla="*/ 7 w 28"/>
                  <a:gd name="T3" fmla="*/ 3 h 28"/>
                  <a:gd name="T4" fmla="*/ 5 w 28"/>
                  <a:gd name="T5" fmla="*/ 7 h 28"/>
                  <a:gd name="T6" fmla="*/ 0 w 28"/>
                  <a:gd name="T7" fmla="*/ 5 h 28"/>
                  <a:gd name="T8" fmla="*/ 3 w 28"/>
                  <a:gd name="T9" fmla="*/ 0 h 28"/>
                  <a:gd name="T10" fmla="*/ 3 w 28"/>
                  <a:gd name="T11" fmla="*/ 0 h 28"/>
                  <a:gd name="T12" fmla="*/ 0 60000 65536"/>
                  <a:gd name="T13" fmla="*/ 0 60000 65536"/>
                  <a:gd name="T14" fmla="*/ 0 60000 65536"/>
                  <a:gd name="T15" fmla="*/ 0 60000 65536"/>
                  <a:gd name="T16" fmla="*/ 0 60000 65536"/>
                  <a:gd name="T17" fmla="*/ 0 60000 65536"/>
                  <a:gd name="T18" fmla="*/ 0 w 28"/>
                  <a:gd name="T19" fmla="*/ 0 h 28"/>
                  <a:gd name="T20" fmla="*/ 28 w 28"/>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8" h="28">
                    <a:moveTo>
                      <a:pt x="11" y="0"/>
                    </a:moveTo>
                    <a:lnTo>
                      <a:pt x="28" y="12"/>
                    </a:lnTo>
                    <a:lnTo>
                      <a:pt x="17" y="28"/>
                    </a:lnTo>
                    <a:lnTo>
                      <a:pt x="0" y="17"/>
                    </a:lnTo>
                    <a:lnTo>
                      <a:pt x="11" y="0"/>
                    </a:lnTo>
                    <a:close/>
                  </a:path>
                </a:pathLst>
              </a:custGeom>
              <a:noFill/>
              <a:ln w="1588">
                <a:solidFill>
                  <a:srgbClr val="000000"/>
                </a:solidFill>
                <a:round/>
                <a:headEnd/>
                <a:tailEnd/>
              </a:ln>
            </p:spPr>
            <p:txBody>
              <a:bodyPr/>
              <a:lstStyle/>
              <a:p>
                <a:endParaRPr lang="zh-CN" altLang="en-US"/>
              </a:p>
            </p:txBody>
          </p:sp>
          <p:sp>
            <p:nvSpPr>
              <p:cNvPr id="65595" name="Freeform 223"/>
              <p:cNvSpPr>
                <a:spLocks/>
              </p:cNvSpPr>
              <p:nvPr/>
            </p:nvSpPr>
            <p:spPr bwMode="auto">
              <a:xfrm>
                <a:off x="1746" y="1482"/>
                <a:ext cx="14" cy="14"/>
              </a:xfrm>
              <a:custGeom>
                <a:avLst/>
                <a:gdLst>
                  <a:gd name="T0" fmla="*/ 3 w 28"/>
                  <a:gd name="T1" fmla="*/ 0 h 28"/>
                  <a:gd name="T2" fmla="*/ 7 w 28"/>
                  <a:gd name="T3" fmla="*/ 3 h 28"/>
                  <a:gd name="T4" fmla="*/ 5 w 28"/>
                  <a:gd name="T5" fmla="*/ 7 h 28"/>
                  <a:gd name="T6" fmla="*/ 0 w 28"/>
                  <a:gd name="T7" fmla="*/ 5 h 28"/>
                  <a:gd name="T8" fmla="*/ 3 w 28"/>
                  <a:gd name="T9" fmla="*/ 0 h 28"/>
                  <a:gd name="T10" fmla="*/ 3 w 28"/>
                  <a:gd name="T11" fmla="*/ 0 h 28"/>
                  <a:gd name="T12" fmla="*/ 0 60000 65536"/>
                  <a:gd name="T13" fmla="*/ 0 60000 65536"/>
                  <a:gd name="T14" fmla="*/ 0 60000 65536"/>
                  <a:gd name="T15" fmla="*/ 0 60000 65536"/>
                  <a:gd name="T16" fmla="*/ 0 60000 65536"/>
                  <a:gd name="T17" fmla="*/ 0 60000 65536"/>
                  <a:gd name="T18" fmla="*/ 0 w 28"/>
                  <a:gd name="T19" fmla="*/ 0 h 28"/>
                  <a:gd name="T20" fmla="*/ 28 w 28"/>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8" h="28">
                    <a:moveTo>
                      <a:pt x="12" y="0"/>
                    </a:moveTo>
                    <a:lnTo>
                      <a:pt x="28" y="11"/>
                    </a:lnTo>
                    <a:lnTo>
                      <a:pt x="17" y="28"/>
                    </a:lnTo>
                    <a:lnTo>
                      <a:pt x="0" y="17"/>
                    </a:lnTo>
                    <a:lnTo>
                      <a:pt x="12" y="0"/>
                    </a:lnTo>
                    <a:close/>
                  </a:path>
                </a:pathLst>
              </a:custGeom>
              <a:noFill/>
              <a:ln w="1588">
                <a:solidFill>
                  <a:srgbClr val="000000"/>
                </a:solidFill>
                <a:round/>
                <a:headEnd/>
                <a:tailEnd/>
              </a:ln>
            </p:spPr>
            <p:txBody>
              <a:bodyPr/>
              <a:lstStyle/>
              <a:p>
                <a:endParaRPr lang="zh-CN" altLang="en-US"/>
              </a:p>
            </p:txBody>
          </p:sp>
          <p:sp>
            <p:nvSpPr>
              <p:cNvPr id="65596" name="Freeform 224"/>
              <p:cNvSpPr>
                <a:spLocks/>
              </p:cNvSpPr>
              <p:nvPr/>
            </p:nvSpPr>
            <p:spPr bwMode="auto">
              <a:xfrm>
                <a:off x="1763" y="1494"/>
                <a:ext cx="14" cy="13"/>
              </a:xfrm>
              <a:custGeom>
                <a:avLst/>
                <a:gdLst>
                  <a:gd name="T0" fmla="*/ 3 w 28"/>
                  <a:gd name="T1" fmla="*/ 0 h 28"/>
                  <a:gd name="T2" fmla="*/ 7 w 28"/>
                  <a:gd name="T3" fmla="*/ 2 h 28"/>
                  <a:gd name="T4" fmla="*/ 5 w 28"/>
                  <a:gd name="T5" fmla="*/ 6 h 28"/>
                  <a:gd name="T6" fmla="*/ 0 w 28"/>
                  <a:gd name="T7" fmla="*/ 3 h 28"/>
                  <a:gd name="T8" fmla="*/ 3 w 28"/>
                  <a:gd name="T9" fmla="*/ 0 h 28"/>
                  <a:gd name="T10" fmla="*/ 3 w 28"/>
                  <a:gd name="T11" fmla="*/ 0 h 28"/>
                  <a:gd name="T12" fmla="*/ 0 60000 65536"/>
                  <a:gd name="T13" fmla="*/ 0 60000 65536"/>
                  <a:gd name="T14" fmla="*/ 0 60000 65536"/>
                  <a:gd name="T15" fmla="*/ 0 60000 65536"/>
                  <a:gd name="T16" fmla="*/ 0 60000 65536"/>
                  <a:gd name="T17" fmla="*/ 0 60000 65536"/>
                  <a:gd name="T18" fmla="*/ 0 w 28"/>
                  <a:gd name="T19" fmla="*/ 0 h 28"/>
                  <a:gd name="T20" fmla="*/ 28 w 28"/>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8" h="28">
                    <a:moveTo>
                      <a:pt x="11" y="0"/>
                    </a:moveTo>
                    <a:lnTo>
                      <a:pt x="28" y="11"/>
                    </a:lnTo>
                    <a:lnTo>
                      <a:pt x="17" y="28"/>
                    </a:lnTo>
                    <a:lnTo>
                      <a:pt x="0" y="16"/>
                    </a:lnTo>
                    <a:lnTo>
                      <a:pt x="11" y="0"/>
                    </a:lnTo>
                    <a:close/>
                  </a:path>
                </a:pathLst>
              </a:custGeom>
              <a:noFill/>
              <a:ln w="1588">
                <a:solidFill>
                  <a:srgbClr val="000000"/>
                </a:solidFill>
                <a:round/>
                <a:headEnd/>
                <a:tailEnd/>
              </a:ln>
            </p:spPr>
            <p:txBody>
              <a:bodyPr/>
              <a:lstStyle/>
              <a:p>
                <a:endParaRPr lang="zh-CN" altLang="en-US"/>
              </a:p>
            </p:txBody>
          </p:sp>
          <p:sp>
            <p:nvSpPr>
              <p:cNvPr id="65597" name="Freeform 225"/>
              <p:cNvSpPr>
                <a:spLocks/>
              </p:cNvSpPr>
              <p:nvPr/>
            </p:nvSpPr>
            <p:spPr bwMode="auto">
              <a:xfrm>
                <a:off x="1779" y="1504"/>
                <a:ext cx="15" cy="14"/>
              </a:xfrm>
              <a:custGeom>
                <a:avLst/>
                <a:gdLst>
                  <a:gd name="T0" fmla="*/ 3 w 28"/>
                  <a:gd name="T1" fmla="*/ 0 h 27"/>
                  <a:gd name="T2" fmla="*/ 8 w 28"/>
                  <a:gd name="T3" fmla="*/ 3 h 27"/>
                  <a:gd name="T4" fmla="*/ 5 w 28"/>
                  <a:gd name="T5" fmla="*/ 7 h 27"/>
                  <a:gd name="T6" fmla="*/ 0 w 28"/>
                  <a:gd name="T7" fmla="*/ 5 h 27"/>
                  <a:gd name="T8" fmla="*/ 3 w 28"/>
                  <a:gd name="T9" fmla="*/ 0 h 27"/>
                  <a:gd name="T10" fmla="*/ 3 w 28"/>
                  <a:gd name="T11" fmla="*/ 0 h 27"/>
                  <a:gd name="T12" fmla="*/ 0 60000 65536"/>
                  <a:gd name="T13" fmla="*/ 0 60000 65536"/>
                  <a:gd name="T14" fmla="*/ 0 60000 65536"/>
                  <a:gd name="T15" fmla="*/ 0 60000 65536"/>
                  <a:gd name="T16" fmla="*/ 0 60000 65536"/>
                  <a:gd name="T17" fmla="*/ 0 60000 65536"/>
                  <a:gd name="T18" fmla="*/ 0 w 28"/>
                  <a:gd name="T19" fmla="*/ 0 h 27"/>
                  <a:gd name="T20" fmla="*/ 28 w 28"/>
                  <a:gd name="T21" fmla="*/ 27 h 27"/>
                </a:gdLst>
                <a:ahLst/>
                <a:cxnLst>
                  <a:cxn ang="T12">
                    <a:pos x="T0" y="T1"/>
                  </a:cxn>
                  <a:cxn ang="T13">
                    <a:pos x="T2" y="T3"/>
                  </a:cxn>
                  <a:cxn ang="T14">
                    <a:pos x="T4" y="T5"/>
                  </a:cxn>
                  <a:cxn ang="T15">
                    <a:pos x="T6" y="T7"/>
                  </a:cxn>
                  <a:cxn ang="T16">
                    <a:pos x="T8" y="T9"/>
                  </a:cxn>
                  <a:cxn ang="T17">
                    <a:pos x="T10" y="T11"/>
                  </a:cxn>
                </a:cxnLst>
                <a:rect l="T18" t="T19" r="T20" b="T21"/>
                <a:pathLst>
                  <a:path w="28" h="27">
                    <a:moveTo>
                      <a:pt x="12" y="0"/>
                    </a:moveTo>
                    <a:lnTo>
                      <a:pt x="28" y="12"/>
                    </a:lnTo>
                    <a:lnTo>
                      <a:pt x="16" y="27"/>
                    </a:lnTo>
                    <a:lnTo>
                      <a:pt x="0" y="17"/>
                    </a:lnTo>
                    <a:lnTo>
                      <a:pt x="12" y="0"/>
                    </a:lnTo>
                    <a:close/>
                  </a:path>
                </a:pathLst>
              </a:custGeom>
              <a:noFill/>
              <a:ln w="1588">
                <a:solidFill>
                  <a:srgbClr val="000000"/>
                </a:solidFill>
                <a:round/>
                <a:headEnd/>
                <a:tailEnd/>
              </a:ln>
            </p:spPr>
            <p:txBody>
              <a:bodyPr/>
              <a:lstStyle/>
              <a:p>
                <a:endParaRPr lang="zh-CN" altLang="en-US"/>
              </a:p>
            </p:txBody>
          </p:sp>
          <p:sp>
            <p:nvSpPr>
              <p:cNvPr id="65598" name="Freeform 226"/>
              <p:cNvSpPr>
                <a:spLocks noEditPoints="1"/>
              </p:cNvSpPr>
              <p:nvPr/>
            </p:nvSpPr>
            <p:spPr bwMode="auto">
              <a:xfrm>
                <a:off x="1592" y="1733"/>
                <a:ext cx="67" cy="122"/>
              </a:xfrm>
              <a:custGeom>
                <a:avLst/>
                <a:gdLst>
                  <a:gd name="T0" fmla="*/ 8 w 133"/>
                  <a:gd name="T1" fmla="*/ 4 h 243"/>
                  <a:gd name="T2" fmla="*/ 9 w 133"/>
                  <a:gd name="T3" fmla="*/ 5 h 243"/>
                  <a:gd name="T4" fmla="*/ 13 w 133"/>
                  <a:gd name="T5" fmla="*/ 8 h 243"/>
                  <a:gd name="T6" fmla="*/ 16 w 133"/>
                  <a:gd name="T7" fmla="*/ 11 h 243"/>
                  <a:gd name="T8" fmla="*/ 19 w 133"/>
                  <a:gd name="T9" fmla="*/ 14 h 243"/>
                  <a:gd name="T10" fmla="*/ 22 w 133"/>
                  <a:gd name="T11" fmla="*/ 18 h 243"/>
                  <a:gd name="T12" fmla="*/ 24 w 133"/>
                  <a:gd name="T13" fmla="*/ 21 h 243"/>
                  <a:gd name="T14" fmla="*/ 26 w 133"/>
                  <a:gd name="T15" fmla="*/ 25 h 243"/>
                  <a:gd name="T16" fmla="*/ 26 w 133"/>
                  <a:gd name="T17" fmla="*/ 25 h 243"/>
                  <a:gd name="T18" fmla="*/ 27 w 133"/>
                  <a:gd name="T19" fmla="*/ 29 h 243"/>
                  <a:gd name="T20" fmla="*/ 28 w 133"/>
                  <a:gd name="T21" fmla="*/ 34 h 243"/>
                  <a:gd name="T22" fmla="*/ 28 w 133"/>
                  <a:gd name="T23" fmla="*/ 38 h 243"/>
                  <a:gd name="T24" fmla="*/ 28 w 133"/>
                  <a:gd name="T25" fmla="*/ 43 h 243"/>
                  <a:gd name="T26" fmla="*/ 27 w 133"/>
                  <a:gd name="T27" fmla="*/ 48 h 243"/>
                  <a:gd name="T28" fmla="*/ 26 w 133"/>
                  <a:gd name="T29" fmla="*/ 52 h 243"/>
                  <a:gd name="T30" fmla="*/ 26 w 133"/>
                  <a:gd name="T31" fmla="*/ 54 h 243"/>
                  <a:gd name="T32" fmla="*/ 22 w 133"/>
                  <a:gd name="T33" fmla="*/ 53 h 243"/>
                  <a:gd name="T34" fmla="*/ 23 w 133"/>
                  <a:gd name="T35" fmla="*/ 52 h 243"/>
                  <a:gd name="T36" fmla="*/ 23 w 133"/>
                  <a:gd name="T37" fmla="*/ 47 h 243"/>
                  <a:gd name="T38" fmla="*/ 24 w 133"/>
                  <a:gd name="T39" fmla="*/ 43 h 243"/>
                  <a:gd name="T40" fmla="*/ 24 w 133"/>
                  <a:gd name="T41" fmla="*/ 38 h 243"/>
                  <a:gd name="T42" fmla="*/ 24 w 133"/>
                  <a:gd name="T43" fmla="*/ 34 h 243"/>
                  <a:gd name="T44" fmla="*/ 23 w 133"/>
                  <a:gd name="T45" fmla="*/ 31 h 243"/>
                  <a:gd name="T46" fmla="*/ 22 w 133"/>
                  <a:gd name="T47" fmla="*/ 27 h 243"/>
                  <a:gd name="T48" fmla="*/ 23 w 133"/>
                  <a:gd name="T49" fmla="*/ 27 h 243"/>
                  <a:gd name="T50" fmla="*/ 21 w 133"/>
                  <a:gd name="T51" fmla="*/ 23 h 243"/>
                  <a:gd name="T52" fmla="*/ 19 w 133"/>
                  <a:gd name="T53" fmla="*/ 20 h 243"/>
                  <a:gd name="T54" fmla="*/ 16 w 133"/>
                  <a:gd name="T55" fmla="*/ 17 h 243"/>
                  <a:gd name="T56" fmla="*/ 13 w 133"/>
                  <a:gd name="T57" fmla="*/ 14 h 243"/>
                  <a:gd name="T58" fmla="*/ 10 w 133"/>
                  <a:gd name="T59" fmla="*/ 11 h 243"/>
                  <a:gd name="T60" fmla="*/ 7 w 133"/>
                  <a:gd name="T61" fmla="*/ 8 h 243"/>
                  <a:gd name="T62" fmla="*/ 5 w 133"/>
                  <a:gd name="T63" fmla="*/ 7 h 243"/>
                  <a:gd name="T64" fmla="*/ 8 w 133"/>
                  <a:gd name="T65" fmla="*/ 4 h 243"/>
                  <a:gd name="T66" fmla="*/ 8 w 133"/>
                  <a:gd name="T67" fmla="*/ 4 h 243"/>
                  <a:gd name="T68" fmla="*/ 7 w 133"/>
                  <a:gd name="T69" fmla="*/ 5 h 243"/>
                  <a:gd name="T70" fmla="*/ 8 w 133"/>
                  <a:gd name="T71" fmla="*/ 16 h 243"/>
                  <a:gd name="T72" fmla="*/ 0 w 133"/>
                  <a:gd name="T73" fmla="*/ 0 h 243"/>
                  <a:gd name="T74" fmla="*/ 18 w 133"/>
                  <a:gd name="T75" fmla="*/ 4 h 243"/>
                  <a:gd name="T76" fmla="*/ 7 w 133"/>
                  <a:gd name="T77" fmla="*/ 5 h 243"/>
                  <a:gd name="T78" fmla="*/ 7 w 133"/>
                  <a:gd name="T79" fmla="*/ 5 h 243"/>
                  <a:gd name="T80" fmla="*/ 24 w 133"/>
                  <a:gd name="T81" fmla="*/ 53 h 243"/>
                  <a:gd name="T82" fmla="*/ 34 w 133"/>
                  <a:gd name="T83" fmla="*/ 47 h 243"/>
                  <a:gd name="T84" fmla="*/ 23 w 133"/>
                  <a:gd name="T85" fmla="*/ 61 h 243"/>
                  <a:gd name="T86" fmla="*/ 18 w 133"/>
                  <a:gd name="T87" fmla="*/ 44 h 243"/>
                  <a:gd name="T88" fmla="*/ 24 w 133"/>
                  <a:gd name="T89" fmla="*/ 53 h 243"/>
                  <a:gd name="T90" fmla="*/ 24 w 133"/>
                  <a:gd name="T91" fmla="*/ 53 h 24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3"/>
                  <a:gd name="T139" fmla="*/ 0 h 243"/>
                  <a:gd name="T140" fmla="*/ 133 w 133"/>
                  <a:gd name="T141" fmla="*/ 243 h 24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3" h="243">
                    <a:moveTo>
                      <a:pt x="30" y="14"/>
                    </a:moveTo>
                    <a:lnTo>
                      <a:pt x="35" y="17"/>
                    </a:lnTo>
                    <a:lnTo>
                      <a:pt x="49" y="29"/>
                    </a:lnTo>
                    <a:lnTo>
                      <a:pt x="62" y="41"/>
                    </a:lnTo>
                    <a:lnTo>
                      <a:pt x="76" y="54"/>
                    </a:lnTo>
                    <a:lnTo>
                      <a:pt x="86" y="69"/>
                    </a:lnTo>
                    <a:lnTo>
                      <a:pt x="96" y="83"/>
                    </a:lnTo>
                    <a:lnTo>
                      <a:pt x="103" y="99"/>
                    </a:lnTo>
                    <a:lnTo>
                      <a:pt x="103" y="100"/>
                    </a:lnTo>
                    <a:lnTo>
                      <a:pt x="108" y="116"/>
                    </a:lnTo>
                    <a:lnTo>
                      <a:pt x="110" y="134"/>
                    </a:lnTo>
                    <a:lnTo>
                      <a:pt x="112" y="152"/>
                    </a:lnTo>
                    <a:lnTo>
                      <a:pt x="110" y="170"/>
                    </a:lnTo>
                    <a:lnTo>
                      <a:pt x="108" y="189"/>
                    </a:lnTo>
                    <a:lnTo>
                      <a:pt x="104" y="207"/>
                    </a:lnTo>
                    <a:lnTo>
                      <a:pt x="103" y="214"/>
                    </a:lnTo>
                    <a:lnTo>
                      <a:pt x="88" y="211"/>
                    </a:lnTo>
                    <a:lnTo>
                      <a:pt x="89" y="205"/>
                    </a:lnTo>
                    <a:lnTo>
                      <a:pt x="92" y="187"/>
                    </a:lnTo>
                    <a:lnTo>
                      <a:pt x="94" y="169"/>
                    </a:lnTo>
                    <a:lnTo>
                      <a:pt x="95" y="152"/>
                    </a:lnTo>
                    <a:lnTo>
                      <a:pt x="95" y="136"/>
                    </a:lnTo>
                    <a:lnTo>
                      <a:pt x="92" y="121"/>
                    </a:lnTo>
                    <a:lnTo>
                      <a:pt x="88" y="105"/>
                    </a:lnTo>
                    <a:lnTo>
                      <a:pt x="89" y="106"/>
                    </a:lnTo>
                    <a:lnTo>
                      <a:pt x="82" y="92"/>
                    </a:lnTo>
                    <a:lnTo>
                      <a:pt x="73" y="78"/>
                    </a:lnTo>
                    <a:lnTo>
                      <a:pt x="64" y="65"/>
                    </a:lnTo>
                    <a:lnTo>
                      <a:pt x="52" y="53"/>
                    </a:lnTo>
                    <a:lnTo>
                      <a:pt x="38" y="41"/>
                    </a:lnTo>
                    <a:lnTo>
                      <a:pt x="25" y="29"/>
                    </a:lnTo>
                    <a:lnTo>
                      <a:pt x="20" y="26"/>
                    </a:lnTo>
                    <a:lnTo>
                      <a:pt x="30" y="14"/>
                    </a:lnTo>
                    <a:close/>
                    <a:moveTo>
                      <a:pt x="25" y="20"/>
                    </a:moveTo>
                    <a:lnTo>
                      <a:pt x="31" y="64"/>
                    </a:lnTo>
                    <a:lnTo>
                      <a:pt x="0" y="0"/>
                    </a:lnTo>
                    <a:lnTo>
                      <a:pt x="70" y="14"/>
                    </a:lnTo>
                    <a:lnTo>
                      <a:pt x="25" y="20"/>
                    </a:lnTo>
                    <a:close/>
                    <a:moveTo>
                      <a:pt x="96" y="212"/>
                    </a:moveTo>
                    <a:lnTo>
                      <a:pt x="133" y="187"/>
                    </a:lnTo>
                    <a:lnTo>
                      <a:pt x="89" y="243"/>
                    </a:lnTo>
                    <a:lnTo>
                      <a:pt x="71" y="175"/>
                    </a:lnTo>
                    <a:lnTo>
                      <a:pt x="96" y="212"/>
                    </a:lnTo>
                    <a:close/>
                  </a:path>
                </a:pathLst>
              </a:custGeom>
              <a:solidFill>
                <a:srgbClr val="000000"/>
              </a:solidFill>
              <a:ln w="9525">
                <a:noFill/>
                <a:round/>
                <a:headEnd/>
                <a:tailEnd/>
              </a:ln>
            </p:spPr>
            <p:txBody>
              <a:bodyPr/>
              <a:lstStyle/>
              <a:p>
                <a:endParaRPr lang="zh-CN" altLang="en-US"/>
              </a:p>
            </p:txBody>
          </p:sp>
          <p:sp>
            <p:nvSpPr>
              <p:cNvPr id="65599" name="Freeform 227"/>
              <p:cNvSpPr>
                <a:spLocks/>
              </p:cNvSpPr>
              <p:nvPr/>
            </p:nvSpPr>
            <p:spPr bwMode="auto">
              <a:xfrm>
                <a:off x="1603" y="1740"/>
                <a:ext cx="45" cy="100"/>
              </a:xfrm>
              <a:custGeom>
                <a:avLst/>
                <a:gdLst>
                  <a:gd name="T0" fmla="*/ 2 w 92"/>
                  <a:gd name="T1" fmla="*/ 0 h 200"/>
                  <a:gd name="T2" fmla="*/ 3 w 92"/>
                  <a:gd name="T3" fmla="*/ 1 h 200"/>
                  <a:gd name="T4" fmla="*/ 7 w 92"/>
                  <a:gd name="T5" fmla="*/ 3 h 200"/>
                  <a:gd name="T6" fmla="*/ 10 w 92"/>
                  <a:gd name="T7" fmla="*/ 6 h 200"/>
                  <a:gd name="T8" fmla="*/ 13 w 92"/>
                  <a:gd name="T9" fmla="*/ 10 h 200"/>
                  <a:gd name="T10" fmla="*/ 16 w 92"/>
                  <a:gd name="T11" fmla="*/ 13 h 200"/>
                  <a:gd name="T12" fmla="*/ 18 w 92"/>
                  <a:gd name="T13" fmla="*/ 18 h 200"/>
                  <a:gd name="T14" fmla="*/ 20 w 92"/>
                  <a:gd name="T15" fmla="*/ 22 h 200"/>
                  <a:gd name="T16" fmla="*/ 20 w 92"/>
                  <a:gd name="T17" fmla="*/ 22 h 200"/>
                  <a:gd name="T18" fmla="*/ 21 w 92"/>
                  <a:gd name="T19" fmla="*/ 25 h 200"/>
                  <a:gd name="T20" fmla="*/ 22 w 92"/>
                  <a:gd name="T21" fmla="*/ 30 h 200"/>
                  <a:gd name="T22" fmla="*/ 22 w 92"/>
                  <a:gd name="T23" fmla="*/ 35 h 200"/>
                  <a:gd name="T24" fmla="*/ 22 w 92"/>
                  <a:gd name="T25" fmla="*/ 39 h 200"/>
                  <a:gd name="T26" fmla="*/ 21 w 92"/>
                  <a:gd name="T27" fmla="*/ 44 h 200"/>
                  <a:gd name="T28" fmla="*/ 20 w 92"/>
                  <a:gd name="T29" fmla="*/ 49 h 200"/>
                  <a:gd name="T30" fmla="*/ 20 w 92"/>
                  <a:gd name="T31" fmla="*/ 50 h 200"/>
                  <a:gd name="T32" fmla="*/ 16 w 92"/>
                  <a:gd name="T33" fmla="*/ 50 h 200"/>
                  <a:gd name="T34" fmla="*/ 17 w 92"/>
                  <a:gd name="T35" fmla="*/ 48 h 200"/>
                  <a:gd name="T36" fmla="*/ 17 w 92"/>
                  <a:gd name="T37" fmla="*/ 44 h 200"/>
                  <a:gd name="T38" fmla="*/ 18 w 92"/>
                  <a:gd name="T39" fmla="*/ 39 h 200"/>
                  <a:gd name="T40" fmla="*/ 18 w 92"/>
                  <a:gd name="T41" fmla="*/ 35 h 200"/>
                  <a:gd name="T42" fmla="*/ 18 w 92"/>
                  <a:gd name="T43" fmla="*/ 30 h 200"/>
                  <a:gd name="T44" fmla="*/ 17 w 92"/>
                  <a:gd name="T45" fmla="*/ 26 h 200"/>
                  <a:gd name="T46" fmla="*/ 16 w 92"/>
                  <a:gd name="T47" fmla="*/ 23 h 200"/>
                  <a:gd name="T48" fmla="*/ 17 w 92"/>
                  <a:gd name="T49" fmla="*/ 23 h 200"/>
                  <a:gd name="T50" fmla="*/ 15 w 92"/>
                  <a:gd name="T51" fmla="*/ 20 h 200"/>
                  <a:gd name="T52" fmla="*/ 13 w 92"/>
                  <a:gd name="T53" fmla="*/ 16 h 200"/>
                  <a:gd name="T54" fmla="*/ 11 w 92"/>
                  <a:gd name="T55" fmla="*/ 13 h 200"/>
                  <a:gd name="T56" fmla="*/ 8 w 92"/>
                  <a:gd name="T57" fmla="*/ 10 h 200"/>
                  <a:gd name="T58" fmla="*/ 4 w 92"/>
                  <a:gd name="T59" fmla="*/ 6 h 200"/>
                  <a:gd name="T60" fmla="*/ 1 w 92"/>
                  <a:gd name="T61" fmla="*/ 3 h 200"/>
                  <a:gd name="T62" fmla="*/ 0 w 92"/>
                  <a:gd name="T63" fmla="*/ 3 h 200"/>
                  <a:gd name="T64" fmla="*/ 2 w 92"/>
                  <a:gd name="T65" fmla="*/ 0 h 200"/>
                  <a:gd name="T66" fmla="*/ 2 w 92"/>
                  <a:gd name="T67" fmla="*/ 0 h 20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92"/>
                  <a:gd name="T103" fmla="*/ 0 h 200"/>
                  <a:gd name="T104" fmla="*/ 92 w 92"/>
                  <a:gd name="T105" fmla="*/ 200 h 20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92" h="200">
                    <a:moveTo>
                      <a:pt x="10" y="0"/>
                    </a:moveTo>
                    <a:lnTo>
                      <a:pt x="15" y="3"/>
                    </a:lnTo>
                    <a:lnTo>
                      <a:pt x="29" y="15"/>
                    </a:lnTo>
                    <a:lnTo>
                      <a:pt x="42" y="27"/>
                    </a:lnTo>
                    <a:lnTo>
                      <a:pt x="56" y="40"/>
                    </a:lnTo>
                    <a:lnTo>
                      <a:pt x="66" y="55"/>
                    </a:lnTo>
                    <a:lnTo>
                      <a:pt x="76" y="69"/>
                    </a:lnTo>
                    <a:lnTo>
                      <a:pt x="83" y="85"/>
                    </a:lnTo>
                    <a:lnTo>
                      <a:pt x="83" y="86"/>
                    </a:lnTo>
                    <a:lnTo>
                      <a:pt x="88" y="102"/>
                    </a:lnTo>
                    <a:lnTo>
                      <a:pt x="90" y="120"/>
                    </a:lnTo>
                    <a:lnTo>
                      <a:pt x="92" y="138"/>
                    </a:lnTo>
                    <a:lnTo>
                      <a:pt x="90" y="156"/>
                    </a:lnTo>
                    <a:lnTo>
                      <a:pt x="88" y="175"/>
                    </a:lnTo>
                    <a:lnTo>
                      <a:pt x="84" y="193"/>
                    </a:lnTo>
                    <a:lnTo>
                      <a:pt x="83" y="200"/>
                    </a:lnTo>
                    <a:lnTo>
                      <a:pt x="68" y="197"/>
                    </a:lnTo>
                    <a:lnTo>
                      <a:pt x="69" y="191"/>
                    </a:lnTo>
                    <a:lnTo>
                      <a:pt x="72" y="173"/>
                    </a:lnTo>
                    <a:lnTo>
                      <a:pt x="74" y="155"/>
                    </a:lnTo>
                    <a:lnTo>
                      <a:pt x="75" y="138"/>
                    </a:lnTo>
                    <a:lnTo>
                      <a:pt x="75" y="122"/>
                    </a:lnTo>
                    <a:lnTo>
                      <a:pt x="72" y="107"/>
                    </a:lnTo>
                    <a:lnTo>
                      <a:pt x="68" y="91"/>
                    </a:lnTo>
                    <a:lnTo>
                      <a:pt x="69" y="92"/>
                    </a:lnTo>
                    <a:lnTo>
                      <a:pt x="62" y="78"/>
                    </a:lnTo>
                    <a:lnTo>
                      <a:pt x="53" y="64"/>
                    </a:lnTo>
                    <a:lnTo>
                      <a:pt x="44" y="51"/>
                    </a:lnTo>
                    <a:lnTo>
                      <a:pt x="32" y="39"/>
                    </a:lnTo>
                    <a:lnTo>
                      <a:pt x="18" y="27"/>
                    </a:lnTo>
                    <a:lnTo>
                      <a:pt x="5" y="15"/>
                    </a:lnTo>
                    <a:lnTo>
                      <a:pt x="0" y="12"/>
                    </a:lnTo>
                    <a:lnTo>
                      <a:pt x="10" y="0"/>
                    </a:lnTo>
                  </a:path>
                </a:pathLst>
              </a:custGeom>
              <a:noFill/>
              <a:ln w="1588">
                <a:solidFill>
                  <a:srgbClr val="000000"/>
                </a:solidFill>
                <a:round/>
                <a:headEnd/>
                <a:tailEnd/>
              </a:ln>
            </p:spPr>
            <p:txBody>
              <a:bodyPr/>
              <a:lstStyle/>
              <a:p>
                <a:endParaRPr lang="zh-CN" altLang="en-US"/>
              </a:p>
            </p:txBody>
          </p:sp>
          <p:sp>
            <p:nvSpPr>
              <p:cNvPr id="65600" name="Freeform 228"/>
              <p:cNvSpPr>
                <a:spLocks/>
              </p:cNvSpPr>
              <p:nvPr/>
            </p:nvSpPr>
            <p:spPr bwMode="auto">
              <a:xfrm>
                <a:off x="1592" y="1733"/>
                <a:ext cx="35" cy="32"/>
              </a:xfrm>
              <a:custGeom>
                <a:avLst/>
                <a:gdLst>
                  <a:gd name="T0" fmla="*/ 6 w 70"/>
                  <a:gd name="T1" fmla="*/ 5 h 64"/>
                  <a:gd name="T2" fmla="*/ 7 w 70"/>
                  <a:gd name="T3" fmla="*/ 16 h 64"/>
                  <a:gd name="T4" fmla="*/ 0 w 70"/>
                  <a:gd name="T5" fmla="*/ 0 h 64"/>
                  <a:gd name="T6" fmla="*/ 18 w 70"/>
                  <a:gd name="T7" fmla="*/ 3 h 64"/>
                  <a:gd name="T8" fmla="*/ 6 w 70"/>
                  <a:gd name="T9" fmla="*/ 5 h 64"/>
                  <a:gd name="T10" fmla="*/ 6 w 70"/>
                  <a:gd name="T11" fmla="*/ 5 h 64"/>
                  <a:gd name="T12" fmla="*/ 0 60000 65536"/>
                  <a:gd name="T13" fmla="*/ 0 60000 65536"/>
                  <a:gd name="T14" fmla="*/ 0 60000 65536"/>
                  <a:gd name="T15" fmla="*/ 0 60000 65536"/>
                  <a:gd name="T16" fmla="*/ 0 60000 65536"/>
                  <a:gd name="T17" fmla="*/ 0 60000 65536"/>
                  <a:gd name="T18" fmla="*/ 0 w 70"/>
                  <a:gd name="T19" fmla="*/ 0 h 64"/>
                  <a:gd name="T20" fmla="*/ 70 w 70"/>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70" h="64">
                    <a:moveTo>
                      <a:pt x="25" y="20"/>
                    </a:moveTo>
                    <a:lnTo>
                      <a:pt x="31" y="64"/>
                    </a:lnTo>
                    <a:lnTo>
                      <a:pt x="0" y="0"/>
                    </a:lnTo>
                    <a:lnTo>
                      <a:pt x="70" y="14"/>
                    </a:lnTo>
                    <a:lnTo>
                      <a:pt x="25" y="20"/>
                    </a:lnTo>
                  </a:path>
                </a:pathLst>
              </a:custGeom>
              <a:noFill/>
              <a:ln w="1588">
                <a:solidFill>
                  <a:srgbClr val="000000"/>
                </a:solidFill>
                <a:round/>
                <a:headEnd/>
                <a:tailEnd/>
              </a:ln>
            </p:spPr>
            <p:txBody>
              <a:bodyPr/>
              <a:lstStyle/>
              <a:p>
                <a:endParaRPr lang="zh-CN" altLang="en-US"/>
              </a:p>
            </p:txBody>
          </p:sp>
          <p:sp>
            <p:nvSpPr>
              <p:cNvPr id="65601" name="Freeform 229"/>
              <p:cNvSpPr>
                <a:spLocks/>
              </p:cNvSpPr>
              <p:nvPr/>
            </p:nvSpPr>
            <p:spPr bwMode="auto">
              <a:xfrm>
                <a:off x="1628" y="1820"/>
                <a:ext cx="31" cy="35"/>
              </a:xfrm>
              <a:custGeom>
                <a:avLst/>
                <a:gdLst>
                  <a:gd name="T0" fmla="*/ 7 w 62"/>
                  <a:gd name="T1" fmla="*/ 10 h 68"/>
                  <a:gd name="T2" fmla="*/ 16 w 62"/>
                  <a:gd name="T3" fmla="*/ 3 h 68"/>
                  <a:gd name="T4" fmla="*/ 5 w 62"/>
                  <a:gd name="T5" fmla="*/ 18 h 68"/>
                  <a:gd name="T6" fmla="*/ 0 w 62"/>
                  <a:gd name="T7" fmla="*/ 0 h 68"/>
                  <a:gd name="T8" fmla="*/ 7 w 62"/>
                  <a:gd name="T9" fmla="*/ 10 h 68"/>
                  <a:gd name="T10" fmla="*/ 7 w 62"/>
                  <a:gd name="T11" fmla="*/ 10 h 68"/>
                  <a:gd name="T12" fmla="*/ 0 60000 65536"/>
                  <a:gd name="T13" fmla="*/ 0 60000 65536"/>
                  <a:gd name="T14" fmla="*/ 0 60000 65536"/>
                  <a:gd name="T15" fmla="*/ 0 60000 65536"/>
                  <a:gd name="T16" fmla="*/ 0 60000 65536"/>
                  <a:gd name="T17" fmla="*/ 0 60000 65536"/>
                  <a:gd name="T18" fmla="*/ 0 w 62"/>
                  <a:gd name="T19" fmla="*/ 0 h 68"/>
                  <a:gd name="T20" fmla="*/ 62 w 62"/>
                  <a:gd name="T21" fmla="*/ 68 h 68"/>
                </a:gdLst>
                <a:ahLst/>
                <a:cxnLst>
                  <a:cxn ang="T12">
                    <a:pos x="T0" y="T1"/>
                  </a:cxn>
                  <a:cxn ang="T13">
                    <a:pos x="T2" y="T3"/>
                  </a:cxn>
                  <a:cxn ang="T14">
                    <a:pos x="T4" y="T5"/>
                  </a:cxn>
                  <a:cxn ang="T15">
                    <a:pos x="T6" y="T7"/>
                  </a:cxn>
                  <a:cxn ang="T16">
                    <a:pos x="T8" y="T9"/>
                  </a:cxn>
                  <a:cxn ang="T17">
                    <a:pos x="T10" y="T11"/>
                  </a:cxn>
                </a:cxnLst>
                <a:rect l="T18" t="T19" r="T20" b="T21"/>
                <a:pathLst>
                  <a:path w="62" h="68">
                    <a:moveTo>
                      <a:pt x="25" y="37"/>
                    </a:moveTo>
                    <a:lnTo>
                      <a:pt x="62" y="12"/>
                    </a:lnTo>
                    <a:lnTo>
                      <a:pt x="18" y="68"/>
                    </a:lnTo>
                    <a:lnTo>
                      <a:pt x="0" y="0"/>
                    </a:lnTo>
                    <a:lnTo>
                      <a:pt x="25" y="37"/>
                    </a:lnTo>
                  </a:path>
                </a:pathLst>
              </a:custGeom>
              <a:noFill/>
              <a:ln w="1588">
                <a:solidFill>
                  <a:srgbClr val="000000"/>
                </a:solidFill>
                <a:round/>
                <a:headEnd/>
                <a:tailEnd/>
              </a:ln>
            </p:spPr>
            <p:txBody>
              <a:bodyPr/>
              <a:lstStyle/>
              <a:p>
                <a:endParaRPr lang="zh-CN" altLang="en-US"/>
              </a:p>
            </p:txBody>
          </p:sp>
          <p:sp>
            <p:nvSpPr>
              <p:cNvPr id="65602" name="Freeform 230"/>
              <p:cNvSpPr>
                <a:spLocks noEditPoints="1"/>
              </p:cNvSpPr>
              <p:nvPr/>
            </p:nvSpPr>
            <p:spPr bwMode="auto">
              <a:xfrm>
                <a:off x="1537" y="1690"/>
                <a:ext cx="52" cy="44"/>
              </a:xfrm>
              <a:custGeom>
                <a:avLst/>
                <a:gdLst>
                  <a:gd name="T0" fmla="*/ 20 w 106"/>
                  <a:gd name="T1" fmla="*/ 17 h 88"/>
                  <a:gd name="T2" fmla="*/ 19 w 106"/>
                  <a:gd name="T3" fmla="*/ 15 h 88"/>
                  <a:gd name="T4" fmla="*/ 17 w 106"/>
                  <a:gd name="T5" fmla="*/ 13 h 88"/>
                  <a:gd name="T6" fmla="*/ 16 w 106"/>
                  <a:gd name="T7" fmla="*/ 11 h 88"/>
                  <a:gd name="T8" fmla="*/ 14 w 106"/>
                  <a:gd name="T9" fmla="*/ 11 h 88"/>
                  <a:gd name="T10" fmla="*/ 14 w 106"/>
                  <a:gd name="T11" fmla="*/ 11 h 88"/>
                  <a:gd name="T12" fmla="*/ 13 w 106"/>
                  <a:gd name="T13" fmla="*/ 10 h 88"/>
                  <a:gd name="T14" fmla="*/ 13 w 106"/>
                  <a:gd name="T15" fmla="*/ 11 h 88"/>
                  <a:gd name="T16" fmla="*/ 11 w 106"/>
                  <a:gd name="T17" fmla="*/ 10 h 88"/>
                  <a:gd name="T18" fmla="*/ 9 w 106"/>
                  <a:gd name="T19" fmla="*/ 9 h 88"/>
                  <a:gd name="T20" fmla="*/ 7 w 106"/>
                  <a:gd name="T21" fmla="*/ 9 h 88"/>
                  <a:gd name="T22" fmla="*/ 8 w 106"/>
                  <a:gd name="T23" fmla="*/ 5 h 88"/>
                  <a:gd name="T24" fmla="*/ 10 w 106"/>
                  <a:gd name="T25" fmla="*/ 5 h 88"/>
                  <a:gd name="T26" fmla="*/ 12 w 106"/>
                  <a:gd name="T27" fmla="*/ 6 h 88"/>
                  <a:gd name="T28" fmla="*/ 14 w 106"/>
                  <a:gd name="T29" fmla="*/ 6 h 88"/>
                  <a:gd name="T30" fmla="*/ 14 w 106"/>
                  <a:gd name="T31" fmla="*/ 6 h 88"/>
                  <a:gd name="T32" fmla="*/ 16 w 106"/>
                  <a:gd name="T33" fmla="*/ 7 h 88"/>
                  <a:gd name="T34" fmla="*/ 17 w 106"/>
                  <a:gd name="T35" fmla="*/ 7 h 88"/>
                  <a:gd name="T36" fmla="*/ 18 w 106"/>
                  <a:gd name="T37" fmla="*/ 9 h 88"/>
                  <a:gd name="T38" fmla="*/ 20 w 106"/>
                  <a:gd name="T39" fmla="*/ 11 h 88"/>
                  <a:gd name="T40" fmla="*/ 23 w 106"/>
                  <a:gd name="T41" fmla="*/ 13 h 88"/>
                  <a:gd name="T42" fmla="*/ 23 w 106"/>
                  <a:gd name="T43" fmla="*/ 14 h 88"/>
                  <a:gd name="T44" fmla="*/ 20 w 106"/>
                  <a:gd name="T45" fmla="*/ 17 h 88"/>
                  <a:gd name="T46" fmla="*/ 20 w 106"/>
                  <a:gd name="T47" fmla="*/ 17 h 88"/>
                  <a:gd name="T48" fmla="*/ 21 w 106"/>
                  <a:gd name="T49" fmla="*/ 15 h 88"/>
                  <a:gd name="T50" fmla="*/ 24 w 106"/>
                  <a:gd name="T51" fmla="*/ 5 h 88"/>
                  <a:gd name="T52" fmla="*/ 26 w 106"/>
                  <a:gd name="T53" fmla="*/ 22 h 88"/>
                  <a:gd name="T54" fmla="*/ 11 w 106"/>
                  <a:gd name="T55" fmla="*/ 12 h 88"/>
                  <a:gd name="T56" fmla="*/ 21 w 106"/>
                  <a:gd name="T57" fmla="*/ 15 h 88"/>
                  <a:gd name="T58" fmla="*/ 21 w 106"/>
                  <a:gd name="T59" fmla="*/ 15 h 88"/>
                  <a:gd name="T60" fmla="*/ 7 w 106"/>
                  <a:gd name="T61" fmla="*/ 7 h 88"/>
                  <a:gd name="T62" fmla="*/ 14 w 106"/>
                  <a:gd name="T63" fmla="*/ 15 h 88"/>
                  <a:gd name="T64" fmla="*/ 0 w 106"/>
                  <a:gd name="T65" fmla="*/ 6 h 88"/>
                  <a:gd name="T66" fmla="*/ 16 w 106"/>
                  <a:gd name="T67" fmla="*/ 0 h 88"/>
                  <a:gd name="T68" fmla="*/ 7 w 106"/>
                  <a:gd name="T69" fmla="*/ 7 h 88"/>
                  <a:gd name="T70" fmla="*/ 7 w 106"/>
                  <a:gd name="T71" fmla="*/ 7 h 8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06"/>
                  <a:gd name="T109" fmla="*/ 0 h 88"/>
                  <a:gd name="T110" fmla="*/ 106 w 106"/>
                  <a:gd name="T111" fmla="*/ 88 h 8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06" h="88">
                    <a:moveTo>
                      <a:pt x="82" y="65"/>
                    </a:moveTo>
                    <a:lnTo>
                      <a:pt x="80" y="62"/>
                    </a:lnTo>
                    <a:lnTo>
                      <a:pt x="70" y="52"/>
                    </a:lnTo>
                    <a:lnTo>
                      <a:pt x="65" y="47"/>
                    </a:lnTo>
                    <a:lnTo>
                      <a:pt x="59" y="43"/>
                    </a:lnTo>
                    <a:lnTo>
                      <a:pt x="60" y="43"/>
                    </a:lnTo>
                    <a:lnTo>
                      <a:pt x="53" y="40"/>
                    </a:lnTo>
                    <a:lnTo>
                      <a:pt x="54" y="41"/>
                    </a:lnTo>
                    <a:lnTo>
                      <a:pt x="46" y="38"/>
                    </a:lnTo>
                    <a:lnTo>
                      <a:pt x="36" y="36"/>
                    </a:lnTo>
                    <a:lnTo>
                      <a:pt x="30" y="35"/>
                    </a:lnTo>
                    <a:lnTo>
                      <a:pt x="33" y="19"/>
                    </a:lnTo>
                    <a:lnTo>
                      <a:pt x="40" y="20"/>
                    </a:lnTo>
                    <a:lnTo>
                      <a:pt x="49" y="23"/>
                    </a:lnTo>
                    <a:lnTo>
                      <a:pt x="59" y="25"/>
                    </a:lnTo>
                    <a:lnTo>
                      <a:pt x="60" y="25"/>
                    </a:lnTo>
                    <a:lnTo>
                      <a:pt x="68" y="29"/>
                    </a:lnTo>
                    <a:lnTo>
                      <a:pt x="69" y="30"/>
                    </a:lnTo>
                    <a:lnTo>
                      <a:pt x="76" y="35"/>
                    </a:lnTo>
                    <a:lnTo>
                      <a:pt x="82" y="41"/>
                    </a:lnTo>
                    <a:lnTo>
                      <a:pt x="94" y="54"/>
                    </a:lnTo>
                    <a:lnTo>
                      <a:pt x="95" y="56"/>
                    </a:lnTo>
                    <a:lnTo>
                      <a:pt x="82" y="65"/>
                    </a:lnTo>
                    <a:close/>
                    <a:moveTo>
                      <a:pt x="88" y="60"/>
                    </a:moveTo>
                    <a:lnTo>
                      <a:pt x="99" y="17"/>
                    </a:lnTo>
                    <a:lnTo>
                      <a:pt x="106" y="88"/>
                    </a:lnTo>
                    <a:lnTo>
                      <a:pt x="45" y="50"/>
                    </a:lnTo>
                    <a:lnTo>
                      <a:pt x="88" y="60"/>
                    </a:lnTo>
                    <a:close/>
                    <a:moveTo>
                      <a:pt x="31" y="28"/>
                    </a:moveTo>
                    <a:lnTo>
                      <a:pt x="59" y="62"/>
                    </a:lnTo>
                    <a:lnTo>
                      <a:pt x="0" y="24"/>
                    </a:lnTo>
                    <a:lnTo>
                      <a:pt x="68" y="0"/>
                    </a:lnTo>
                    <a:lnTo>
                      <a:pt x="31" y="28"/>
                    </a:lnTo>
                    <a:close/>
                  </a:path>
                </a:pathLst>
              </a:custGeom>
              <a:solidFill>
                <a:srgbClr val="000000"/>
              </a:solidFill>
              <a:ln w="9525">
                <a:noFill/>
                <a:round/>
                <a:headEnd/>
                <a:tailEnd/>
              </a:ln>
            </p:spPr>
            <p:txBody>
              <a:bodyPr/>
              <a:lstStyle/>
              <a:p>
                <a:endParaRPr lang="zh-CN" altLang="en-US"/>
              </a:p>
            </p:txBody>
          </p:sp>
          <p:sp>
            <p:nvSpPr>
              <p:cNvPr id="65603" name="Freeform 231"/>
              <p:cNvSpPr>
                <a:spLocks/>
              </p:cNvSpPr>
              <p:nvPr/>
            </p:nvSpPr>
            <p:spPr bwMode="auto">
              <a:xfrm>
                <a:off x="1552" y="1700"/>
                <a:ext cx="32" cy="22"/>
              </a:xfrm>
              <a:custGeom>
                <a:avLst/>
                <a:gdLst>
                  <a:gd name="T0" fmla="*/ 13 w 65"/>
                  <a:gd name="T1" fmla="*/ 11 h 46"/>
                  <a:gd name="T2" fmla="*/ 12 w 65"/>
                  <a:gd name="T3" fmla="*/ 10 h 46"/>
                  <a:gd name="T4" fmla="*/ 10 w 65"/>
                  <a:gd name="T5" fmla="*/ 8 h 46"/>
                  <a:gd name="T6" fmla="*/ 8 w 65"/>
                  <a:gd name="T7" fmla="*/ 6 h 46"/>
                  <a:gd name="T8" fmla="*/ 7 w 65"/>
                  <a:gd name="T9" fmla="*/ 5 h 46"/>
                  <a:gd name="T10" fmla="*/ 7 w 65"/>
                  <a:gd name="T11" fmla="*/ 5 h 46"/>
                  <a:gd name="T12" fmla="*/ 5 w 65"/>
                  <a:gd name="T13" fmla="*/ 5 h 46"/>
                  <a:gd name="T14" fmla="*/ 6 w 65"/>
                  <a:gd name="T15" fmla="*/ 5 h 46"/>
                  <a:gd name="T16" fmla="*/ 4 w 65"/>
                  <a:gd name="T17" fmla="*/ 4 h 46"/>
                  <a:gd name="T18" fmla="*/ 1 w 65"/>
                  <a:gd name="T19" fmla="*/ 4 h 46"/>
                  <a:gd name="T20" fmla="*/ 0 w 65"/>
                  <a:gd name="T21" fmla="*/ 4 h 46"/>
                  <a:gd name="T22" fmla="*/ 0 w 65"/>
                  <a:gd name="T23" fmla="*/ 0 h 46"/>
                  <a:gd name="T24" fmla="*/ 2 w 65"/>
                  <a:gd name="T25" fmla="*/ 0 h 46"/>
                  <a:gd name="T26" fmla="*/ 4 w 65"/>
                  <a:gd name="T27" fmla="*/ 1 h 46"/>
                  <a:gd name="T28" fmla="*/ 7 w 65"/>
                  <a:gd name="T29" fmla="*/ 1 h 46"/>
                  <a:gd name="T30" fmla="*/ 7 w 65"/>
                  <a:gd name="T31" fmla="*/ 1 h 46"/>
                  <a:gd name="T32" fmla="*/ 9 w 65"/>
                  <a:gd name="T33" fmla="*/ 2 h 46"/>
                  <a:gd name="T34" fmla="*/ 9 w 65"/>
                  <a:gd name="T35" fmla="*/ 2 h 46"/>
                  <a:gd name="T36" fmla="*/ 11 w 65"/>
                  <a:gd name="T37" fmla="*/ 4 h 46"/>
                  <a:gd name="T38" fmla="*/ 13 w 65"/>
                  <a:gd name="T39" fmla="*/ 5 h 46"/>
                  <a:gd name="T40" fmla="*/ 16 w 65"/>
                  <a:gd name="T41" fmla="*/ 8 h 46"/>
                  <a:gd name="T42" fmla="*/ 16 w 65"/>
                  <a:gd name="T43" fmla="*/ 9 h 46"/>
                  <a:gd name="T44" fmla="*/ 13 w 65"/>
                  <a:gd name="T45" fmla="*/ 11 h 46"/>
                  <a:gd name="T46" fmla="*/ 13 w 65"/>
                  <a:gd name="T47" fmla="*/ 11 h 4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5"/>
                  <a:gd name="T73" fmla="*/ 0 h 46"/>
                  <a:gd name="T74" fmla="*/ 65 w 65"/>
                  <a:gd name="T75" fmla="*/ 46 h 4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5" h="46">
                    <a:moveTo>
                      <a:pt x="52" y="46"/>
                    </a:moveTo>
                    <a:lnTo>
                      <a:pt x="50" y="43"/>
                    </a:lnTo>
                    <a:lnTo>
                      <a:pt x="40" y="33"/>
                    </a:lnTo>
                    <a:lnTo>
                      <a:pt x="35" y="28"/>
                    </a:lnTo>
                    <a:lnTo>
                      <a:pt x="29" y="24"/>
                    </a:lnTo>
                    <a:lnTo>
                      <a:pt x="30" y="24"/>
                    </a:lnTo>
                    <a:lnTo>
                      <a:pt x="23" y="21"/>
                    </a:lnTo>
                    <a:lnTo>
                      <a:pt x="24" y="22"/>
                    </a:lnTo>
                    <a:lnTo>
                      <a:pt x="16" y="19"/>
                    </a:lnTo>
                    <a:lnTo>
                      <a:pt x="6" y="17"/>
                    </a:lnTo>
                    <a:lnTo>
                      <a:pt x="0" y="16"/>
                    </a:lnTo>
                    <a:lnTo>
                      <a:pt x="3" y="0"/>
                    </a:lnTo>
                    <a:lnTo>
                      <a:pt x="10" y="1"/>
                    </a:lnTo>
                    <a:lnTo>
                      <a:pt x="19" y="4"/>
                    </a:lnTo>
                    <a:lnTo>
                      <a:pt x="29" y="6"/>
                    </a:lnTo>
                    <a:lnTo>
                      <a:pt x="30" y="6"/>
                    </a:lnTo>
                    <a:lnTo>
                      <a:pt x="38" y="10"/>
                    </a:lnTo>
                    <a:lnTo>
                      <a:pt x="39" y="11"/>
                    </a:lnTo>
                    <a:lnTo>
                      <a:pt x="46" y="16"/>
                    </a:lnTo>
                    <a:lnTo>
                      <a:pt x="52" y="22"/>
                    </a:lnTo>
                    <a:lnTo>
                      <a:pt x="64" y="35"/>
                    </a:lnTo>
                    <a:lnTo>
                      <a:pt x="65" y="37"/>
                    </a:lnTo>
                    <a:lnTo>
                      <a:pt x="52" y="46"/>
                    </a:lnTo>
                  </a:path>
                </a:pathLst>
              </a:custGeom>
              <a:noFill/>
              <a:ln w="1588">
                <a:solidFill>
                  <a:srgbClr val="000000"/>
                </a:solidFill>
                <a:round/>
                <a:headEnd/>
                <a:tailEnd/>
              </a:ln>
            </p:spPr>
            <p:txBody>
              <a:bodyPr/>
              <a:lstStyle/>
              <a:p>
                <a:endParaRPr lang="zh-CN" altLang="en-US"/>
              </a:p>
            </p:txBody>
          </p:sp>
          <p:sp>
            <p:nvSpPr>
              <p:cNvPr id="65604" name="Freeform 232"/>
              <p:cNvSpPr>
                <a:spLocks/>
              </p:cNvSpPr>
              <p:nvPr/>
            </p:nvSpPr>
            <p:spPr bwMode="auto">
              <a:xfrm>
                <a:off x="1559" y="1698"/>
                <a:ext cx="30" cy="36"/>
              </a:xfrm>
              <a:custGeom>
                <a:avLst/>
                <a:gdLst>
                  <a:gd name="T0" fmla="*/ 10 w 61"/>
                  <a:gd name="T1" fmla="*/ 11 h 71"/>
                  <a:gd name="T2" fmla="*/ 13 w 61"/>
                  <a:gd name="T3" fmla="*/ 0 h 71"/>
                  <a:gd name="T4" fmla="*/ 15 w 61"/>
                  <a:gd name="T5" fmla="*/ 18 h 71"/>
                  <a:gd name="T6" fmla="*/ 0 w 61"/>
                  <a:gd name="T7" fmla="*/ 9 h 71"/>
                  <a:gd name="T8" fmla="*/ 10 w 61"/>
                  <a:gd name="T9" fmla="*/ 11 h 71"/>
                  <a:gd name="T10" fmla="*/ 10 w 61"/>
                  <a:gd name="T11" fmla="*/ 11 h 71"/>
                  <a:gd name="T12" fmla="*/ 0 60000 65536"/>
                  <a:gd name="T13" fmla="*/ 0 60000 65536"/>
                  <a:gd name="T14" fmla="*/ 0 60000 65536"/>
                  <a:gd name="T15" fmla="*/ 0 60000 65536"/>
                  <a:gd name="T16" fmla="*/ 0 60000 65536"/>
                  <a:gd name="T17" fmla="*/ 0 60000 65536"/>
                  <a:gd name="T18" fmla="*/ 0 w 61"/>
                  <a:gd name="T19" fmla="*/ 0 h 71"/>
                  <a:gd name="T20" fmla="*/ 61 w 61"/>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61" h="71">
                    <a:moveTo>
                      <a:pt x="43" y="43"/>
                    </a:moveTo>
                    <a:lnTo>
                      <a:pt x="54" y="0"/>
                    </a:lnTo>
                    <a:lnTo>
                      <a:pt x="61" y="71"/>
                    </a:lnTo>
                    <a:lnTo>
                      <a:pt x="0" y="33"/>
                    </a:lnTo>
                    <a:lnTo>
                      <a:pt x="43" y="43"/>
                    </a:lnTo>
                  </a:path>
                </a:pathLst>
              </a:custGeom>
              <a:noFill/>
              <a:ln w="1588">
                <a:solidFill>
                  <a:srgbClr val="000000"/>
                </a:solidFill>
                <a:round/>
                <a:headEnd/>
                <a:tailEnd/>
              </a:ln>
            </p:spPr>
            <p:txBody>
              <a:bodyPr/>
              <a:lstStyle/>
              <a:p>
                <a:endParaRPr lang="zh-CN" altLang="en-US"/>
              </a:p>
            </p:txBody>
          </p:sp>
          <p:sp>
            <p:nvSpPr>
              <p:cNvPr id="65605" name="Freeform 233"/>
              <p:cNvSpPr>
                <a:spLocks/>
              </p:cNvSpPr>
              <p:nvPr/>
            </p:nvSpPr>
            <p:spPr bwMode="auto">
              <a:xfrm>
                <a:off x="1537" y="1690"/>
                <a:ext cx="33" cy="31"/>
              </a:xfrm>
              <a:custGeom>
                <a:avLst/>
                <a:gdLst>
                  <a:gd name="T0" fmla="*/ 7 w 68"/>
                  <a:gd name="T1" fmla="*/ 7 h 62"/>
                  <a:gd name="T2" fmla="*/ 14 w 68"/>
                  <a:gd name="T3" fmla="*/ 16 h 62"/>
                  <a:gd name="T4" fmla="*/ 0 w 68"/>
                  <a:gd name="T5" fmla="*/ 6 h 62"/>
                  <a:gd name="T6" fmla="*/ 16 w 68"/>
                  <a:gd name="T7" fmla="*/ 0 h 62"/>
                  <a:gd name="T8" fmla="*/ 7 w 68"/>
                  <a:gd name="T9" fmla="*/ 7 h 62"/>
                  <a:gd name="T10" fmla="*/ 7 w 68"/>
                  <a:gd name="T11" fmla="*/ 7 h 62"/>
                  <a:gd name="T12" fmla="*/ 0 60000 65536"/>
                  <a:gd name="T13" fmla="*/ 0 60000 65536"/>
                  <a:gd name="T14" fmla="*/ 0 60000 65536"/>
                  <a:gd name="T15" fmla="*/ 0 60000 65536"/>
                  <a:gd name="T16" fmla="*/ 0 60000 65536"/>
                  <a:gd name="T17" fmla="*/ 0 60000 65536"/>
                  <a:gd name="T18" fmla="*/ 0 w 68"/>
                  <a:gd name="T19" fmla="*/ 0 h 62"/>
                  <a:gd name="T20" fmla="*/ 68 w 68"/>
                  <a:gd name="T21" fmla="*/ 62 h 62"/>
                </a:gdLst>
                <a:ahLst/>
                <a:cxnLst>
                  <a:cxn ang="T12">
                    <a:pos x="T0" y="T1"/>
                  </a:cxn>
                  <a:cxn ang="T13">
                    <a:pos x="T2" y="T3"/>
                  </a:cxn>
                  <a:cxn ang="T14">
                    <a:pos x="T4" y="T5"/>
                  </a:cxn>
                  <a:cxn ang="T15">
                    <a:pos x="T6" y="T7"/>
                  </a:cxn>
                  <a:cxn ang="T16">
                    <a:pos x="T8" y="T9"/>
                  </a:cxn>
                  <a:cxn ang="T17">
                    <a:pos x="T10" y="T11"/>
                  </a:cxn>
                </a:cxnLst>
                <a:rect l="T18" t="T19" r="T20" b="T21"/>
                <a:pathLst>
                  <a:path w="68" h="62">
                    <a:moveTo>
                      <a:pt x="31" y="28"/>
                    </a:moveTo>
                    <a:lnTo>
                      <a:pt x="59" y="62"/>
                    </a:lnTo>
                    <a:lnTo>
                      <a:pt x="0" y="24"/>
                    </a:lnTo>
                    <a:lnTo>
                      <a:pt x="68" y="0"/>
                    </a:lnTo>
                    <a:lnTo>
                      <a:pt x="31" y="28"/>
                    </a:lnTo>
                  </a:path>
                </a:pathLst>
              </a:custGeom>
              <a:noFill/>
              <a:ln w="1588">
                <a:solidFill>
                  <a:srgbClr val="000000"/>
                </a:solidFill>
                <a:round/>
                <a:headEnd/>
                <a:tailEnd/>
              </a:ln>
            </p:spPr>
            <p:txBody>
              <a:bodyPr/>
              <a:lstStyle/>
              <a:p>
                <a:endParaRPr lang="zh-CN" altLang="en-US"/>
              </a:p>
            </p:txBody>
          </p:sp>
        </p:grpSp>
        <p:sp>
          <p:nvSpPr>
            <p:cNvPr id="65606" name="Rectangle 246"/>
            <p:cNvSpPr>
              <a:spLocks noChangeArrowheads="1"/>
            </p:cNvSpPr>
            <p:nvPr/>
          </p:nvSpPr>
          <p:spPr bwMode="auto">
            <a:xfrm>
              <a:off x="1383" y="1117"/>
              <a:ext cx="93" cy="173"/>
            </a:xfrm>
            <a:prstGeom prst="rect">
              <a:avLst/>
            </a:prstGeom>
            <a:noFill/>
            <a:ln w="9525">
              <a:noFill/>
              <a:miter lim="800000"/>
              <a:headEnd/>
              <a:tailEnd/>
            </a:ln>
          </p:spPr>
          <p:txBody>
            <a:bodyPr wrap="none" lIns="0" tIns="0" rIns="0" bIns="0">
              <a:spAutoFit/>
            </a:bodyPr>
            <a:lstStyle/>
            <a:p>
              <a:pPr defTabSz="914400"/>
              <a:r>
                <a:rPr lang="en-US" altLang="zh-CN" sz="1800" i="1">
                  <a:solidFill>
                    <a:srgbClr val="000000"/>
                  </a:solidFill>
                  <a:latin typeface="Times New Roman" pitchFamily="18" charset="0"/>
                  <a:ea typeface="楷体_GB2312" pitchFamily="49" charset="-122"/>
                </a:rPr>
                <a:t>r</a:t>
              </a:r>
              <a:r>
                <a:rPr lang="en-US" altLang="zh-CN" sz="1800" baseline="-25000">
                  <a:solidFill>
                    <a:srgbClr val="000000"/>
                  </a:solidFill>
                  <a:latin typeface="Times New Roman" pitchFamily="18" charset="0"/>
                  <a:ea typeface="楷体_GB2312" pitchFamily="49" charset="-122"/>
                </a:rPr>
                <a:t>s</a:t>
              </a:r>
              <a:endParaRPr lang="en-US" altLang="zh-CN" sz="1800" b="1" baseline="-25000">
                <a:latin typeface="楷体_GB2312" pitchFamily="49" charset="-122"/>
                <a:ea typeface="楷体_GB2312" pitchFamily="49" charset="-122"/>
              </a:endParaRPr>
            </a:p>
          </p:txBody>
        </p:sp>
        <p:sp>
          <p:nvSpPr>
            <p:cNvPr id="65607" name="Rectangle 247"/>
            <p:cNvSpPr>
              <a:spLocks noChangeArrowheads="1"/>
            </p:cNvSpPr>
            <p:nvPr/>
          </p:nvSpPr>
          <p:spPr bwMode="auto">
            <a:xfrm>
              <a:off x="929" y="1434"/>
              <a:ext cx="269" cy="173"/>
            </a:xfrm>
            <a:prstGeom prst="rect">
              <a:avLst/>
            </a:prstGeom>
            <a:noFill/>
            <a:ln w="9525">
              <a:noFill/>
              <a:miter lim="800000"/>
              <a:headEnd/>
              <a:tailEnd/>
            </a:ln>
          </p:spPr>
          <p:txBody>
            <a:bodyPr wrap="none" lIns="0" tIns="0" rIns="0" bIns="0">
              <a:spAutoFit/>
            </a:bodyPr>
            <a:lstStyle/>
            <a:p>
              <a:pPr defTabSz="914400"/>
              <a:r>
                <a:rPr lang="en-US" altLang="zh-CN" sz="1800" i="1">
                  <a:solidFill>
                    <a:srgbClr val="000000"/>
                  </a:solidFill>
                  <a:latin typeface="Times New Roman" pitchFamily="18" charset="0"/>
                  <a:ea typeface="楷体_GB2312" pitchFamily="49" charset="-122"/>
                </a:rPr>
                <a:t>r</a:t>
              </a:r>
              <a:r>
                <a:rPr lang="en-US" altLang="zh-CN" sz="1800" baseline="-25000">
                  <a:solidFill>
                    <a:srgbClr val="000000"/>
                  </a:solidFill>
                  <a:latin typeface="Times New Roman" pitchFamily="18" charset="0"/>
                  <a:ea typeface="楷体_GB2312" pitchFamily="49" charset="-122"/>
                </a:rPr>
                <a:t>s –</a:t>
              </a:r>
              <a:r>
                <a:rPr lang="en-US" altLang="zh-CN" sz="1800" i="1">
                  <a:solidFill>
                    <a:srgbClr val="000000"/>
                  </a:solidFill>
                  <a:latin typeface="Times New Roman" pitchFamily="18" charset="0"/>
                  <a:ea typeface="楷体_GB2312" pitchFamily="49" charset="-122"/>
                </a:rPr>
                <a:t>r</a:t>
              </a:r>
              <a:r>
                <a:rPr lang="en-US" altLang="zh-CN" sz="1800" baseline="-25000">
                  <a:solidFill>
                    <a:srgbClr val="000000"/>
                  </a:solidFill>
                  <a:latin typeface="Times New Roman" pitchFamily="18" charset="0"/>
                  <a:ea typeface="楷体_GB2312" pitchFamily="49" charset="-122"/>
                </a:rPr>
                <a:t>0</a:t>
              </a:r>
            </a:p>
          </p:txBody>
        </p:sp>
        <p:sp>
          <p:nvSpPr>
            <p:cNvPr id="65608" name="Rectangle 248"/>
            <p:cNvSpPr>
              <a:spLocks noChangeArrowheads="1"/>
            </p:cNvSpPr>
            <p:nvPr/>
          </p:nvSpPr>
          <p:spPr bwMode="auto">
            <a:xfrm>
              <a:off x="1110" y="2205"/>
              <a:ext cx="160" cy="173"/>
            </a:xfrm>
            <a:prstGeom prst="rect">
              <a:avLst/>
            </a:prstGeom>
            <a:noFill/>
            <a:ln w="9525">
              <a:noFill/>
              <a:miter lim="800000"/>
              <a:headEnd/>
              <a:tailEnd/>
            </a:ln>
          </p:spPr>
          <p:txBody>
            <a:bodyPr wrap="none" lIns="0" tIns="0" rIns="0" bIns="0">
              <a:spAutoFit/>
            </a:bodyPr>
            <a:lstStyle/>
            <a:p>
              <a:pPr defTabSz="914400"/>
              <a:r>
                <a:rPr lang="en-US" altLang="zh-CN" sz="1800">
                  <a:solidFill>
                    <a:srgbClr val="000000"/>
                  </a:solidFill>
                  <a:latin typeface="Times New Roman" pitchFamily="18" charset="0"/>
                  <a:ea typeface="楷体_GB2312" pitchFamily="49" charset="-122"/>
                </a:rPr>
                <a:t>(c)</a:t>
              </a:r>
              <a:endParaRPr lang="en-US" altLang="zh-CN" sz="1800" b="1">
                <a:latin typeface="楷体_GB2312" pitchFamily="49" charset="-122"/>
                <a:ea typeface="楷体_GB2312" pitchFamily="49" charset="-122"/>
              </a:endParaRPr>
            </a:p>
          </p:txBody>
        </p:sp>
      </p:grpSp>
      <p:sp>
        <p:nvSpPr>
          <p:cNvPr id="65609" name="Rectangle 251"/>
          <p:cNvSpPr>
            <a:spLocks noChangeArrowheads="1"/>
          </p:cNvSpPr>
          <p:nvPr/>
        </p:nvSpPr>
        <p:spPr bwMode="auto">
          <a:xfrm>
            <a:off x="2551546" y="3635375"/>
            <a:ext cx="184150" cy="519113"/>
          </a:xfrm>
          <a:prstGeom prst="rect">
            <a:avLst/>
          </a:prstGeom>
          <a:noFill/>
          <a:ln w="9525">
            <a:noFill/>
            <a:miter lim="800000"/>
            <a:headEnd/>
            <a:tailEnd/>
          </a:ln>
        </p:spPr>
        <p:txBody>
          <a:bodyPr wrap="none" anchor="ctr">
            <a:spAutoFit/>
          </a:bodyPr>
          <a:lstStyle/>
          <a:p>
            <a:pPr defTabSz="914400"/>
            <a:endParaRPr lang="zh-CN" altLang="en-US" sz="2800" b="1" i="1">
              <a:latin typeface="楷体_GB2312" pitchFamily="49" charset="-122"/>
              <a:ea typeface="楷体_GB2312" pitchFamily="49" charset="-122"/>
            </a:endParaRPr>
          </a:p>
        </p:txBody>
      </p:sp>
      <p:graphicFrame>
        <p:nvGraphicFramePr>
          <p:cNvPr id="65610" name="Object 250"/>
          <p:cNvGraphicFramePr>
            <a:graphicFrameLocks noChangeAspect="1"/>
          </p:cNvGraphicFramePr>
          <p:nvPr/>
        </p:nvGraphicFramePr>
        <p:xfrm>
          <a:off x="5825633" y="2104845"/>
          <a:ext cx="4297928" cy="1101905"/>
        </p:xfrm>
        <a:graphic>
          <a:graphicData uri="http://schemas.openxmlformats.org/presentationml/2006/ole">
            <p:oleObj spid="_x0000_s65610" name="公式" r:id="rId3" imgW="1524000" imgH="393700" progId="Equation.3">
              <p:embed/>
            </p:oleObj>
          </a:graphicData>
        </a:graphic>
      </p:graphicFrame>
      <p:sp>
        <p:nvSpPr>
          <p:cNvPr id="65611" name="Rectangle 252"/>
          <p:cNvSpPr>
            <a:spLocks noChangeArrowheads="1"/>
          </p:cNvSpPr>
          <p:nvPr/>
        </p:nvSpPr>
        <p:spPr bwMode="auto">
          <a:xfrm>
            <a:off x="2551546" y="4025900"/>
            <a:ext cx="184150" cy="519113"/>
          </a:xfrm>
          <a:prstGeom prst="rect">
            <a:avLst/>
          </a:prstGeom>
          <a:noFill/>
          <a:ln w="9525">
            <a:noFill/>
            <a:miter lim="800000"/>
            <a:headEnd/>
            <a:tailEnd/>
          </a:ln>
        </p:spPr>
        <p:txBody>
          <a:bodyPr wrap="none" anchor="ctr">
            <a:spAutoFit/>
          </a:bodyPr>
          <a:lstStyle/>
          <a:p>
            <a:pPr defTabSz="914400"/>
            <a:endParaRPr lang="zh-CN" altLang="en-US" sz="2800" b="1" i="1">
              <a:latin typeface="楷体_GB2312" pitchFamily="49" charset="-122"/>
              <a:ea typeface="楷体_GB2312" pitchFamily="49" charset="-122"/>
            </a:endParaRPr>
          </a:p>
        </p:txBody>
      </p:sp>
      <p:sp>
        <p:nvSpPr>
          <p:cNvPr id="65612" name="Rectangle 254"/>
          <p:cNvSpPr>
            <a:spLocks noChangeArrowheads="1"/>
          </p:cNvSpPr>
          <p:nvPr/>
        </p:nvSpPr>
        <p:spPr bwMode="auto">
          <a:xfrm>
            <a:off x="2551546" y="3635375"/>
            <a:ext cx="184150" cy="519113"/>
          </a:xfrm>
          <a:prstGeom prst="rect">
            <a:avLst/>
          </a:prstGeom>
          <a:noFill/>
          <a:ln w="9525">
            <a:noFill/>
            <a:miter lim="800000"/>
            <a:headEnd/>
            <a:tailEnd/>
          </a:ln>
        </p:spPr>
        <p:txBody>
          <a:bodyPr wrap="none" anchor="ctr">
            <a:spAutoFit/>
          </a:bodyPr>
          <a:lstStyle/>
          <a:p>
            <a:pPr defTabSz="914400"/>
            <a:endParaRPr lang="zh-CN" altLang="en-US" sz="2800" b="1" i="1">
              <a:latin typeface="楷体_GB2312" pitchFamily="49" charset="-122"/>
              <a:ea typeface="楷体_GB2312" pitchFamily="49" charset="-122"/>
            </a:endParaRPr>
          </a:p>
        </p:txBody>
      </p:sp>
      <p:graphicFrame>
        <p:nvGraphicFramePr>
          <p:cNvPr id="65613" name="Object 253"/>
          <p:cNvGraphicFramePr>
            <a:graphicFrameLocks noChangeAspect="1"/>
          </p:cNvGraphicFramePr>
          <p:nvPr/>
        </p:nvGraphicFramePr>
        <p:xfrm>
          <a:off x="7801378" y="5273136"/>
          <a:ext cx="2311022" cy="1041400"/>
        </p:xfrm>
        <a:graphic>
          <a:graphicData uri="http://schemas.openxmlformats.org/presentationml/2006/ole">
            <p:oleObj spid="_x0000_s65613" name="公式" r:id="rId4" imgW="863225" imgH="393529" progId="Equation.3">
              <p:embed/>
            </p:oleObj>
          </a:graphicData>
        </a:graphic>
      </p:graphicFrame>
      <p:sp>
        <p:nvSpPr>
          <p:cNvPr id="65614" name="Rectangle 255"/>
          <p:cNvSpPr>
            <a:spLocks noChangeArrowheads="1"/>
          </p:cNvSpPr>
          <p:nvPr/>
        </p:nvSpPr>
        <p:spPr bwMode="auto">
          <a:xfrm>
            <a:off x="2551546" y="4025900"/>
            <a:ext cx="184150" cy="519113"/>
          </a:xfrm>
          <a:prstGeom prst="rect">
            <a:avLst/>
          </a:prstGeom>
          <a:noFill/>
          <a:ln w="9525">
            <a:noFill/>
            <a:miter lim="800000"/>
            <a:headEnd/>
            <a:tailEnd/>
          </a:ln>
        </p:spPr>
        <p:txBody>
          <a:bodyPr wrap="none" anchor="ctr">
            <a:spAutoFit/>
          </a:bodyPr>
          <a:lstStyle/>
          <a:p>
            <a:pPr defTabSz="914400"/>
            <a:endParaRPr lang="zh-CN" altLang="en-US" sz="2800" b="1" i="1">
              <a:latin typeface="楷体_GB2312" pitchFamily="49" charset="-122"/>
              <a:ea typeface="楷体_GB2312" pitchFamily="49" charset="-122"/>
            </a:endParaRPr>
          </a:p>
        </p:txBody>
      </p:sp>
      <p:sp>
        <p:nvSpPr>
          <p:cNvPr id="65615" name="Rectangle 257"/>
          <p:cNvSpPr>
            <a:spLocks noChangeArrowheads="1"/>
          </p:cNvSpPr>
          <p:nvPr/>
        </p:nvSpPr>
        <p:spPr bwMode="auto">
          <a:xfrm>
            <a:off x="2551546" y="3730625"/>
            <a:ext cx="184150" cy="519113"/>
          </a:xfrm>
          <a:prstGeom prst="rect">
            <a:avLst/>
          </a:prstGeom>
          <a:noFill/>
          <a:ln w="9525">
            <a:noFill/>
            <a:miter lim="800000"/>
            <a:headEnd/>
            <a:tailEnd/>
          </a:ln>
        </p:spPr>
        <p:txBody>
          <a:bodyPr wrap="none" anchor="ctr">
            <a:spAutoFit/>
          </a:bodyPr>
          <a:lstStyle/>
          <a:p>
            <a:pPr defTabSz="914400"/>
            <a:endParaRPr lang="zh-CN" altLang="en-US" sz="2800" b="1" i="1">
              <a:latin typeface="楷体_GB2312" pitchFamily="49" charset="-122"/>
              <a:ea typeface="楷体_GB2312" pitchFamily="49" charset="-122"/>
            </a:endParaRPr>
          </a:p>
        </p:txBody>
      </p:sp>
      <p:graphicFrame>
        <p:nvGraphicFramePr>
          <p:cNvPr id="65616" name="Object 256"/>
          <p:cNvGraphicFramePr>
            <a:graphicFrameLocks noChangeAspect="1"/>
          </p:cNvGraphicFramePr>
          <p:nvPr/>
        </p:nvGraphicFramePr>
        <p:xfrm>
          <a:off x="7128039" y="4322552"/>
          <a:ext cx="2939164" cy="663515"/>
        </p:xfrm>
        <a:graphic>
          <a:graphicData uri="http://schemas.openxmlformats.org/presentationml/2006/ole">
            <p:oleObj spid="_x0000_s65616" name="公式" r:id="rId5" imgW="888614" imgH="203112" progId="Equation.3">
              <p:embed/>
            </p:oleObj>
          </a:graphicData>
        </a:graphic>
      </p:graphicFrame>
      <p:sp>
        <p:nvSpPr>
          <p:cNvPr id="65617" name="Rectangle 259"/>
          <p:cNvSpPr>
            <a:spLocks noChangeArrowheads="1"/>
          </p:cNvSpPr>
          <p:nvPr/>
        </p:nvSpPr>
        <p:spPr bwMode="auto">
          <a:xfrm>
            <a:off x="2551546" y="3540125"/>
            <a:ext cx="184150" cy="519113"/>
          </a:xfrm>
          <a:prstGeom prst="rect">
            <a:avLst/>
          </a:prstGeom>
          <a:noFill/>
          <a:ln w="9525">
            <a:noFill/>
            <a:miter lim="800000"/>
            <a:headEnd/>
            <a:tailEnd/>
          </a:ln>
        </p:spPr>
        <p:txBody>
          <a:bodyPr wrap="none" anchor="ctr">
            <a:spAutoFit/>
          </a:bodyPr>
          <a:lstStyle/>
          <a:p>
            <a:pPr defTabSz="914400"/>
            <a:endParaRPr lang="zh-CN" altLang="en-US" sz="2800" b="1" i="1">
              <a:latin typeface="楷体_GB2312" pitchFamily="49" charset="-122"/>
              <a:ea typeface="楷体_GB2312" pitchFamily="49" charset="-122"/>
            </a:endParaRPr>
          </a:p>
        </p:txBody>
      </p:sp>
      <p:graphicFrame>
        <p:nvGraphicFramePr>
          <p:cNvPr id="65618" name="Object 258"/>
          <p:cNvGraphicFramePr>
            <a:graphicFrameLocks noChangeAspect="1"/>
          </p:cNvGraphicFramePr>
          <p:nvPr/>
        </p:nvGraphicFramePr>
        <p:xfrm>
          <a:off x="3105510" y="5097724"/>
          <a:ext cx="2250444" cy="1475482"/>
        </p:xfrm>
        <a:graphic>
          <a:graphicData uri="http://schemas.openxmlformats.org/presentationml/2006/ole">
            <p:oleObj spid="_x0000_s65618" name="公式" r:id="rId6" imgW="888614" imgH="583947" progId="Equation.3">
              <p:embed/>
            </p:oleObj>
          </a:graphicData>
        </a:graphic>
      </p:graphicFrame>
      <p:sp>
        <p:nvSpPr>
          <p:cNvPr id="65619" name="Rectangle 260"/>
          <p:cNvSpPr>
            <a:spLocks noChangeArrowheads="1"/>
          </p:cNvSpPr>
          <p:nvPr/>
        </p:nvSpPr>
        <p:spPr bwMode="auto">
          <a:xfrm>
            <a:off x="2551546" y="4121150"/>
            <a:ext cx="184150" cy="519113"/>
          </a:xfrm>
          <a:prstGeom prst="rect">
            <a:avLst/>
          </a:prstGeom>
          <a:noFill/>
          <a:ln w="9525">
            <a:noFill/>
            <a:miter lim="800000"/>
            <a:headEnd/>
            <a:tailEnd/>
          </a:ln>
        </p:spPr>
        <p:txBody>
          <a:bodyPr wrap="none" anchor="ctr">
            <a:spAutoFit/>
          </a:bodyPr>
          <a:lstStyle/>
          <a:p>
            <a:pPr defTabSz="914400"/>
            <a:endParaRPr lang="zh-CN" altLang="en-US" sz="2800" b="1" i="1">
              <a:latin typeface="楷体_GB2312" pitchFamily="49" charset="-122"/>
              <a:ea typeface="楷体_GB2312" pitchFamily="49" charset="-122"/>
            </a:endParaRPr>
          </a:p>
        </p:txBody>
      </p:sp>
      <p:sp>
        <p:nvSpPr>
          <p:cNvPr id="189444" name="Rectangle 4"/>
          <p:cNvSpPr>
            <a:spLocks noChangeArrowheads="1"/>
          </p:cNvSpPr>
          <p:nvPr/>
        </p:nvSpPr>
        <p:spPr bwMode="auto">
          <a:xfrm>
            <a:off x="6044046" y="3513138"/>
            <a:ext cx="4537075" cy="639762"/>
          </a:xfrm>
          <a:prstGeom prst="rect">
            <a:avLst/>
          </a:prstGeom>
          <a:noFill/>
          <a:ln w="9525" algn="ctr">
            <a:noFill/>
            <a:miter lim="800000"/>
            <a:headEnd/>
            <a:tailEnd/>
          </a:ln>
        </p:spPr>
        <p:txBody>
          <a:bodyPr anchor="ctr">
            <a:spAutoFit/>
          </a:bodyPr>
          <a:lstStyle/>
          <a:p>
            <a:pPr defTabSz="914400" eaLnBrk="0" hangingPunct="0">
              <a:lnSpc>
                <a:spcPct val="150000"/>
              </a:lnSpc>
            </a:pPr>
            <a:r>
              <a:rPr lang="zh-CN" altLang="en-US" sz="2400" b="1">
                <a:latin typeface="Times New Roman" pitchFamily="18" charset="0"/>
                <a:ea typeface="微软雅黑" pitchFamily="34" charset="-122"/>
              </a:rPr>
              <a:t>当 </a:t>
            </a:r>
            <a:r>
              <a:rPr lang="en-US" altLang="zh-CN" sz="2400" b="1" i="1">
                <a:latin typeface="Times New Roman" pitchFamily="18" charset="0"/>
                <a:ea typeface="微软雅黑" pitchFamily="34" charset="-122"/>
              </a:rPr>
              <a:t>r</a:t>
            </a:r>
            <a:r>
              <a:rPr lang="en-US" altLang="zh-CN" sz="2400" b="1" baseline="-25000">
                <a:latin typeface="Times New Roman" pitchFamily="18" charset="0"/>
                <a:ea typeface="微软雅黑" pitchFamily="34" charset="-122"/>
              </a:rPr>
              <a:t>0 </a:t>
            </a:r>
            <a:r>
              <a:rPr lang="zh-CN" altLang="en-US" sz="2400" b="1">
                <a:latin typeface="Times New Roman" pitchFamily="18" charset="0"/>
                <a:ea typeface="微软雅黑" pitchFamily="34" charset="-122"/>
              </a:rPr>
              <a:t>和 </a:t>
            </a:r>
            <a:r>
              <a:rPr lang="en-US" altLang="zh-CN" sz="2400" b="1" i="1">
                <a:latin typeface="Times New Roman" pitchFamily="18" charset="0"/>
                <a:ea typeface="微软雅黑" pitchFamily="34" charset="-122"/>
              </a:rPr>
              <a:t>r</a:t>
            </a:r>
            <a:r>
              <a:rPr lang="en-US" altLang="zh-CN" sz="2400" b="1" baseline="-25000">
                <a:latin typeface="Times New Roman" pitchFamily="18" charset="0"/>
                <a:ea typeface="微软雅黑" pitchFamily="34" charset="-122"/>
              </a:rPr>
              <a:t>s </a:t>
            </a:r>
            <a:r>
              <a:rPr lang="zh-CN" altLang="en-US" sz="2400" b="1">
                <a:latin typeface="Times New Roman" pitchFamily="18" charset="0"/>
                <a:ea typeface="微软雅黑" pitchFamily="34" charset="-122"/>
              </a:rPr>
              <a:t>相对</a:t>
            </a:r>
            <a:r>
              <a:rPr lang="en-US" altLang="zh-CN" sz="2400" b="1" i="1">
                <a:latin typeface="Times New Roman" pitchFamily="18" charset="0"/>
                <a:ea typeface="微软雅黑" pitchFamily="34" charset="-122"/>
              </a:rPr>
              <a:t>v</a:t>
            </a:r>
            <a:r>
              <a:rPr lang="zh-CN" altLang="en-US" sz="2400" b="1">
                <a:latin typeface="Times New Roman" pitchFamily="18" charset="0"/>
                <a:ea typeface="微软雅黑" pitchFamily="34" charset="-122"/>
              </a:rPr>
              <a:t>对称分布且满足</a:t>
            </a:r>
            <a:endParaRPr lang="zh-CN" altLang="en-US" sz="2800" b="1">
              <a:latin typeface="Times New Roman" pitchFamily="18" charset="0"/>
              <a:ea typeface="微软雅黑" pitchFamily="34" charset="-122"/>
            </a:endParaRPr>
          </a:p>
        </p:txBody>
      </p:sp>
      <p:sp>
        <p:nvSpPr>
          <p:cNvPr id="86" name="矩形 85"/>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87" name="矩形 86">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91" name="矩形 90">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92" name="文本框 60">
            <a:extLst>
              <a:ext uri="{FF2B5EF4-FFF2-40B4-BE49-F238E27FC236}">
                <a16:creationId xmlns:a16="http://schemas.microsoft.com/office/drawing/2014/main" xmlns="" id="{791D85D7-F412-9C48-9F2B-E33F5B7B4F3C}"/>
              </a:ext>
            </a:extLst>
          </p:cNvPr>
          <p:cNvSpPr txBox="1"/>
          <p:nvPr/>
        </p:nvSpPr>
        <p:spPr>
          <a:xfrm>
            <a:off x="1407719" y="329189"/>
            <a:ext cx="287618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干涉方法的光学</a:t>
            </a:r>
            <a:r>
              <a:rPr lang="zh-CN" altLang="en-US" sz="1800" b="1" dirty="0">
                <a:latin typeface="微软雅黑" panose="020B0503020204020204" pitchFamily="34" charset="-122"/>
                <a:ea typeface="微软雅黑" panose="020B0503020204020204" pitchFamily="34" charset="-122"/>
              </a:rPr>
              <a:t>信息变换</a:t>
            </a:r>
          </a:p>
        </p:txBody>
      </p:sp>
      <p:sp>
        <p:nvSpPr>
          <p:cNvPr id="93"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94"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577704"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5616"/>
                                        </p:tgtEl>
                                        <p:attrNameLst>
                                          <p:attrName>style.visibility</p:attrName>
                                        </p:attrNameLst>
                                      </p:cBhvr>
                                      <p:to>
                                        <p:strVal val="visible"/>
                                      </p:to>
                                    </p:set>
                                    <p:animEffect transition="in" filter="blinds(horizontal)">
                                      <p:cBhvr>
                                        <p:cTn id="7" dur="500"/>
                                        <p:tgtEl>
                                          <p:spTgt spid="6561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89444"/>
                                        </p:tgtEl>
                                        <p:attrNameLst>
                                          <p:attrName>style.visibility</p:attrName>
                                        </p:attrNameLst>
                                      </p:cBhvr>
                                      <p:to>
                                        <p:strVal val="visible"/>
                                      </p:to>
                                    </p:set>
                                    <p:animEffect transition="in" filter="blinds(horizontal)">
                                      <p:cBhvr>
                                        <p:cTn id="10" dur="500"/>
                                        <p:tgtEl>
                                          <p:spTgt spid="18944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90483"/>
                                        </p:tgtEl>
                                        <p:attrNameLst>
                                          <p:attrName>style.visibility</p:attrName>
                                        </p:attrNameLst>
                                      </p:cBhvr>
                                      <p:to>
                                        <p:strVal val="visible"/>
                                      </p:to>
                                    </p:set>
                                    <p:animEffect transition="in" filter="blinds(horizontal)">
                                      <p:cBhvr>
                                        <p:cTn id="15" dur="500"/>
                                        <p:tgtEl>
                                          <p:spTgt spid="190483"/>
                                        </p:tgtEl>
                                      </p:cBhvr>
                                    </p:animEffect>
                                  </p:childTnLst>
                                </p:cTn>
                              </p:par>
                              <p:par>
                                <p:cTn id="16" presetID="3" presetClass="entr" presetSubtype="10" fill="hold" nodeType="withEffect">
                                  <p:stCondLst>
                                    <p:cond delay="0"/>
                                  </p:stCondLst>
                                  <p:childTnLst>
                                    <p:set>
                                      <p:cBhvr>
                                        <p:cTn id="17" dur="1" fill="hold">
                                          <p:stCondLst>
                                            <p:cond delay="0"/>
                                          </p:stCondLst>
                                        </p:cTn>
                                        <p:tgtEl>
                                          <p:spTgt spid="65613"/>
                                        </p:tgtEl>
                                        <p:attrNameLst>
                                          <p:attrName>style.visibility</p:attrName>
                                        </p:attrNameLst>
                                      </p:cBhvr>
                                      <p:to>
                                        <p:strVal val="visible"/>
                                      </p:to>
                                    </p:set>
                                    <p:animEffect transition="in" filter="blinds(horizontal)">
                                      <p:cBhvr>
                                        <p:cTn id="18" dur="500"/>
                                        <p:tgtEl>
                                          <p:spTgt spid="65613"/>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90485"/>
                                        </p:tgtEl>
                                        <p:attrNameLst>
                                          <p:attrName>style.visibility</p:attrName>
                                        </p:attrNameLst>
                                      </p:cBhvr>
                                      <p:to>
                                        <p:strVal val="visible"/>
                                      </p:to>
                                    </p:set>
                                    <p:animEffect transition="in" filter="blinds(horizontal)">
                                      <p:cBhvr>
                                        <p:cTn id="23" dur="500"/>
                                        <p:tgtEl>
                                          <p:spTgt spid="190485"/>
                                        </p:tgtEl>
                                      </p:cBhvr>
                                    </p:animEffect>
                                  </p:childTnLst>
                                </p:cTn>
                              </p:par>
                              <p:par>
                                <p:cTn id="24" presetID="3" presetClass="entr" presetSubtype="10" fill="hold" nodeType="withEffect">
                                  <p:stCondLst>
                                    <p:cond delay="0"/>
                                  </p:stCondLst>
                                  <p:childTnLst>
                                    <p:set>
                                      <p:cBhvr>
                                        <p:cTn id="25" dur="1" fill="hold">
                                          <p:stCondLst>
                                            <p:cond delay="0"/>
                                          </p:stCondLst>
                                        </p:cTn>
                                        <p:tgtEl>
                                          <p:spTgt spid="65618"/>
                                        </p:tgtEl>
                                        <p:attrNameLst>
                                          <p:attrName>style.visibility</p:attrName>
                                        </p:attrNameLst>
                                      </p:cBhvr>
                                      <p:to>
                                        <p:strVal val="visible"/>
                                      </p:to>
                                    </p:set>
                                    <p:animEffect transition="in" filter="blinds(horizontal)">
                                      <p:cBhvr>
                                        <p:cTn id="26" dur="500"/>
                                        <p:tgtEl>
                                          <p:spTgt spid="65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83" grpId="0" animBg="1"/>
      <p:bldP spid="190485" grpId="0" animBg="1"/>
      <p:bldP spid="18944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568" name="Object 8"/>
          <p:cNvGraphicFramePr>
            <a:graphicFrameLocks noChangeAspect="1"/>
          </p:cNvGraphicFramePr>
          <p:nvPr/>
        </p:nvGraphicFramePr>
        <p:xfrm>
          <a:off x="812288" y="1109498"/>
          <a:ext cx="5750744" cy="5576651"/>
        </p:xfrm>
        <a:graphic>
          <a:graphicData uri="http://schemas.openxmlformats.org/presentationml/2006/ole">
            <p:oleObj spid="_x0000_s66568" name="Visio" r:id="rId3" imgW="3618360" imgH="3506400" progId="">
              <p:embed/>
            </p:oleObj>
          </a:graphicData>
        </a:graphic>
      </p:graphicFrame>
      <p:sp>
        <p:nvSpPr>
          <p:cNvPr id="66569" name="Rectangle 3"/>
          <p:cNvSpPr>
            <a:spLocks noChangeArrowheads="1"/>
          </p:cNvSpPr>
          <p:nvPr/>
        </p:nvSpPr>
        <p:spPr bwMode="auto">
          <a:xfrm>
            <a:off x="5850639" y="6147517"/>
            <a:ext cx="4253345" cy="519113"/>
          </a:xfrm>
          <a:prstGeom prst="rect">
            <a:avLst/>
          </a:prstGeom>
          <a:noFill/>
          <a:ln w="9525" algn="ctr">
            <a:noFill/>
            <a:miter lim="800000"/>
            <a:headEnd/>
            <a:tailEnd/>
          </a:ln>
        </p:spPr>
        <p:txBody>
          <a:bodyPr wrap="square" anchor="ctr">
            <a:spAutoFit/>
          </a:bodyPr>
          <a:lstStyle/>
          <a:p>
            <a:pPr algn="ctr" defTabSz="914400" eaLnBrk="0" hangingPunct="0"/>
            <a:r>
              <a:rPr lang="zh-CN" altLang="en-US" sz="2800" b="1" dirty="0">
                <a:solidFill>
                  <a:schemeClr val="hlink"/>
                </a:solidFill>
                <a:latin typeface="Times New Roman" pitchFamily="18" charset="0"/>
                <a:ea typeface="微软雅黑" pitchFamily="34" charset="-122"/>
              </a:rPr>
              <a:t>激光多普勒测速</a:t>
            </a:r>
          </a:p>
        </p:txBody>
      </p:sp>
      <p:pic>
        <p:nvPicPr>
          <p:cNvPr id="191501" name="Picture 13"/>
          <p:cNvPicPr>
            <a:picLocks noChangeAspect="1" noChangeArrowheads="1"/>
          </p:cNvPicPr>
          <p:nvPr/>
        </p:nvPicPr>
        <p:blipFill>
          <a:blip r:embed="rId4" cstate="print"/>
          <a:srcRect l="4956"/>
          <a:stretch>
            <a:fillRect/>
          </a:stretch>
        </p:blipFill>
        <p:spPr bwMode="auto">
          <a:xfrm>
            <a:off x="9719187" y="4008932"/>
            <a:ext cx="3388353" cy="2839194"/>
          </a:xfrm>
          <a:prstGeom prst="rect">
            <a:avLst/>
          </a:prstGeom>
          <a:noFill/>
          <a:ln w="9525">
            <a:noFill/>
            <a:miter lim="800000"/>
            <a:headEnd/>
            <a:tailEnd/>
          </a:ln>
        </p:spPr>
      </p:pic>
      <p:pic>
        <p:nvPicPr>
          <p:cNvPr id="191502" name="Picture 14"/>
          <p:cNvPicPr>
            <a:picLocks noChangeAspect="1" noChangeArrowheads="1"/>
          </p:cNvPicPr>
          <p:nvPr/>
        </p:nvPicPr>
        <p:blipFill>
          <a:blip r:embed="rId5" cstate="print"/>
          <a:srcRect/>
          <a:stretch>
            <a:fillRect/>
          </a:stretch>
        </p:blipFill>
        <p:spPr bwMode="auto">
          <a:xfrm>
            <a:off x="6902247" y="1595662"/>
            <a:ext cx="3358666" cy="2578442"/>
          </a:xfrm>
          <a:prstGeom prst="rect">
            <a:avLst/>
          </a:prstGeom>
          <a:noFill/>
          <a:ln w="9525">
            <a:noFill/>
            <a:miter lim="800000"/>
            <a:headEnd/>
            <a:tailEnd/>
          </a:ln>
        </p:spPr>
      </p:pic>
      <p:sp>
        <p:nvSpPr>
          <p:cNvPr id="13" name="矩形 12"/>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4" name="矩形 13">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8" name="矩形 17">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9" name="文本框 60">
            <a:extLst>
              <a:ext uri="{FF2B5EF4-FFF2-40B4-BE49-F238E27FC236}">
                <a16:creationId xmlns:a16="http://schemas.microsoft.com/office/drawing/2014/main" xmlns="" id="{791D85D7-F412-9C48-9F2B-E33F5B7B4F3C}"/>
              </a:ext>
            </a:extLst>
          </p:cNvPr>
          <p:cNvSpPr txBox="1"/>
          <p:nvPr/>
        </p:nvSpPr>
        <p:spPr>
          <a:xfrm>
            <a:off x="1407719" y="329189"/>
            <a:ext cx="287618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干涉方法的光学</a:t>
            </a:r>
            <a:r>
              <a:rPr lang="zh-CN" altLang="en-US" sz="1800" b="1" dirty="0">
                <a:latin typeface="微软雅黑" panose="020B0503020204020204" pitchFamily="34" charset="-122"/>
                <a:ea typeface="微软雅黑" panose="020B0503020204020204" pitchFamily="34" charset="-122"/>
              </a:rPr>
              <a:t>信息变换</a:t>
            </a:r>
          </a:p>
        </p:txBody>
      </p:sp>
      <p:sp>
        <p:nvSpPr>
          <p:cNvPr id="20"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1"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577704"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92" name="Rectangle 3"/>
          <p:cNvSpPr>
            <a:spLocks noChangeArrowheads="1"/>
          </p:cNvSpPr>
          <p:nvPr/>
        </p:nvSpPr>
        <p:spPr bwMode="auto">
          <a:xfrm>
            <a:off x="2599218" y="1106758"/>
            <a:ext cx="8208963" cy="584775"/>
          </a:xfrm>
          <a:prstGeom prst="rect">
            <a:avLst/>
          </a:prstGeom>
          <a:noFill/>
          <a:ln w="9525" algn="ctr">
            <a:noFill/>
            <a:miter lim="800000"/>
            <a:headEnd/>
            <a:tailEnd/>
          </a:ln>
        </p:spPr>
        <p:txBody>
          <a:bodyPr anchor="ctr">
            <a:spAutoFit/>
          </a:bodyPr>
          <a:lstStyle/>
          <a:p>
            <a:pPr algn="ctr" defTabSz="914400" eaLnBrk="0" hangingPunct="0"/>
            <a:r>
              <a:rPr lang="zh-CN" altLang="en-US" sz="3200" b="1" dirty="0">
                <a:solidFill>
                  <a:srgbClr val="0000CC"/>
                </a:solidFill>
                <a:latin typeface="Times New Roman" pitchFamily="18" charset="0"/>
                <a:ea typeface="微软雅黑" pitchFamily="34" charset="-122"/>
              </a:rPr>
              <a:t>（</a:t>
            </a:r>
            <a:r>
              <a:rPr lang="en-US" altLang="zh-CN" sz="3200" b="1" dirty="0">
                <a:solidFill>
                  <a:srgbClr val="0000CC"/>
                </a:solidFill>
                <a:latin typeface="Times New Roman" pitchFamily="18" charset="0"/>
                <a:ea typeface="微软雅黑" pitchFamily="34" charset="-122"/>
              </a:rPr>
              <a:t>2</a:t>
            </a:r>
            <a:r>
              <a:rPr lang="zh-CN" altLang="en-US" sz="3200" b="1" dirty="0">
                <a:solidFill>
                  <a:srgbClr val="0000CC"/>
                </a:solidFill>
                <a:latin typeface="Times New Roman" pitchFamily="18" charset="0"/>
                <a:ea typeface="微软雅黑" pitchFamily="34" charset="-122"/>
              </a:rPr>
              <a:t>）萨格纳克效应及转角信息的光学变换</a:t>
            </a:r>
          </a:p>
        </p:txBody>
      </p:sp>
      <p:sp>
        <p:nvSpPr>
          <p:cNvPr id="67593" name="Rectangle 4"/>
          <p:cNvSpPr>
            <a:spLocks noChangeArrowheads="1"/>
          </p:cNvSpPr>
          <p:nvPr/>
        </p:nvSpPr>
        <p:spPr bwMode="auto">
          <a:xfrm>
            <a:off x="642938" y="1898696"/>
            <a:ext cx="12200226" cy="1215204"/>
          </a:xfrm>
          <a:prstGeom prst="rect">
            <a:avLst/>
          </a:prstGeom>
          <a:noFill/>
          <a:ln w="9525" algn="ctr">
            <a:noFill/>
            <a:miter lim="800000"/>
            <a:headEnd/>
            <a:tailEnd/>
          </a:ln>
        </p:spPr>
        <p:txBody>
          <a:bodyPr wrap="square" anchor="ctr">
            <a:spAutoFit/>
          </a:bodyPr>
          <a:lstStyle/>
          <a:p>
            <a:pPr defTabSz="914400" eaLnBrk="0" hangingPunct="0">
              <a:lnSpc>
                <a:spcPct val="150000"/>
              </a:lnSpc>
            </a:pPr>
            <a:r>
              <a:rPr lang="en-US" altLang="zh-CN" sz="2400" b="1" dirty="0">
                <a:latin typeface="Times New Roman" pitchFamily="18" charset="0"/>
                <a:ea typeface="微软雅黑" pitchFamily="34" charset="-122"/>
              </a:rPr>
              <a:t>	</a:t>
            </a:r>
            <a:r>
              <a:rPr lang="zh-CN" altLang="en-US" sz="2400" b="1" dirty="0">
                <a:latin typeface="Times New Roman" pitchFamily="18" charset="0"/>
                <a:ea typeface="微软雅黑" pitchFamily="34" charset="-122"/>
              </a:rPr>
              <a:t>当封闭的光路相对于惯性空间有一转动速度</a:t>
            </a:r>
            <a:r>
              <a:rPr lang="el-GR" altLang="zh-CN" sz="2400" b="1" dirty="0">
                <a:latin typeface="Times New Roman" pitchFamily="18" charset="0"/>
                <a:ea typeface="微软雅黑" pitchFamily="34" charset="-122"/>
              </a:rPr>
              <a:t>Ω</a:t>
            </a:r>
            <a:r>
              <a:rPr lang="zh-CN" altLang="en-US" sz="2400" b="1" dirty="0">
                <a:latin typeface="Times New Roman" pitchFamily="18" charset="0"/>
                <a:ea typeface="微软雅黑" pitchFamily="34" charset="-122"/>
              </a:rPr>
              <a:t>时，顺时针光路和逆时针光路之间形成与转速成正比的光程差，两者间的数值关系为</a:t>
            </a:r>
            <a:r>
              <a:rPr lang="zh-CN" altLang="en-US" sz="2800" b="1" dirty="0">
                <a:latin typeface="Times New Roman" pitchFamily="18" charset="0"/>
                <a:ea typeface="微软雅黑" pitchFamily="34" charset="-122"/>
              </a:rPr>
              <a:t> </a:t>
            </a:r>
          </a:p>
        </p:txBody>
      </p:sp>
      <p:sp>
        <p:nvSpPr>
          <p:cNvPr id="67594" name="Rectangle 8"/>
          <p:cNvSpPr>
            <a:spLocks noChangeArrowheads="1"/>
          </p:cNvSpPr>
          <p:nvPr/>
        </p:nvSpPr>
        <p:spPr bwMode="auto">
          <a:xfrm>
            <a:off x="392113" y="57150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67595" name="Rectangle 10"/>
          <p:cNvSpPr>
            <a:spLocks noChangeArrowheads="1"/>
          </p:cNvSpPr>
          <p:nvPr/>
        </p:nvSpPr>
        <p:spPr bwMode="auto">
          <a:xfrm>
            <a:off x="392113" y="39195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67596" name="Rectangle 12"/>
          <p:cNvSpPr>
            <a:spLocks noChangeArrowheads="1"/>
          </p:cNvSpPr>
          <p:nvPr/>
        </p:nvSpPr>
        <p:spPr bwMode="auto">
          <a:xfrm>
            <a:off x="392113" y="38052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67597" name="Object 11"/>
          <p:cNvGraphicFramePr>
            <a:graphicFrameLocks noChangeAspect="1"/>
          </p:cNvGraphicFramePr>
          <p:nvPr/>
        </p:nvGraphicFramePr>
        <p:xfrm>
          <a:off x="2590944" y="3736398"/>
          <a:ext cx="3276030" cy="1209675"/>
        </p:xfrm>
        <a:graphic>
          <a:graphicData uri="http://schemas.openxmlformats.org/presentationml/2006/ole">
            <p:oleObj spid="_x0000_s67597" name="公式" r:id="rId3" imgW="1054080" imgH="393480" progId="Equation.3">
              <p:embed/>
            </p:oleObj>
          </a:graphicData>
        </a:graphic>
      </p:graphicFrame>
      <p:sp>
        <p:nvSpPr>
          <p:cNvPr id="67598" name="Rectangle 14"/>
          <p:cNvSpPr>
            <a:spLocks noChangeArrowheads="1"/>
          </p:cNvSpPr>
          <p:nvPr/>
        </p:nvSpPr>
        <p:spPr bwMode="auto">
          <a:xfrm>
            <a:off x="749299" y="5201854"/>
            <a:ext cx="6704445" cy="1215204"/>
          </a:xfrm>
          <a:prstGeom prst="rect">
            <a:avLst/>
          </a:prstGeom>
          <a:noFill/>
          <a:ln w="9525" algn="ctr">
            <a:noFill/>
            <a:miter lim="800000"/>
            <a:headEnd/>
            <a:tailEnd/>
          </a:ln>
        </p:spPr>
        <p:txBody>
          <a:bodyPr wrap="square" anchor="ctr">
            <a:spAutoFit/>
          </a:bodyPr>
          <a:lstStyle/>
          <a:p>
            <a:pPr defTabSz="914400" eaLnBrk="0" hangingPunct="0">
              <a:lnSpc>
                <a:spcPct val="150000"/>
              </a:lnSpc>
            </a:pPr>
            <a:r>
              <a:rPr lang="zh-CN" altLang="en-US" sz="2400" b="1" dirty="0">
                <a:latin typeface="Times New Roman" pitchFamily="18" charset="0"/>
                <a:ea typeface="微软雅黑" pitchFamily="34" charset="-122"/>
              </a:rPr>
              <a:t>这种转动的闭合光路中正反方向光路光程差随转速改变的现象称为</a:t>
            </a:r>
            <a:r>
              <a:rPr lang="zh-CN" altLang="en-US" sz="2400" b="1" dirty="0">
                <a:solidFill>
                  <a:srgbClr val="FF0000"/>
                </a:solidFill>
                <a:latin typeface="Times New Roman" pitchFamily="18" charset="0"/>
                <a:ea typeface="微软雅黑" pitchFamily="34" charset="-122"/>
              </a:rPr>
              <a:t>萨格纳克效应</a:t>
            </a:r>
            <a:r>
              <a:rPr lang="zh-CN" altLang="en-US" sz="2400" b="1" dirty="0">
                <a:latin typeface="Times New Roman" pitchFamily="18" charset="0"/>
                <a:ea typeface="微软雅黑" pitchFamily="34" charset="-122"/>
              </a:rPr>
              <a:t>。</a:t>
            </a:r>
            <a:r>
              <a:rPr lang="zh-CN" altLang="en-US" sz="2800" b="1" dirty="0">
                <a:latin typeface="Times New Roman" pitchFamily="18" charset="0"/>
                <a:ea typeface="微软雅黑" pitchFamily="34" charset="-122"/>
              </a:rPr>
              <a:t> </a:t>
            </a:r>
          </a:p>
        </p:txBody>
      </p:sp>
      <p:graphicFrame>
        <p:nvGraphicFramePr>
          <p:cNvPr id="67599" name="Object 13"/>
          <p:cNvGraphicFramePr>
            <a:graphicFrameLocks noChangeAspect="1"/>
          </p:cNvGraphicFramePr>
          <p:nvPr/>
        </p:nvGraphicFramePr>
        <p:xfrm>
          <a:off x="8043428" y="3487014"/>
          <a:ext cx="4855153" cy="3134823"/>
        </p:xfrm>
        <a:graphic>
          <a:graphicData uri="http://schemas.openxmlformats.org/presentationml/2006/ole">
            <p:oleObj spid="_x0000_s67599" name="Visio" r:id="rId4" imgW="2439000" imgH="1571400" progId="">
              <p:embed/>
            </p:oleObj>
          </a:graphicData>
        </a:graphic>
      </p:graphicFrame>
      <p:sp>
        <p:nvSpPr>
          <p:cNvPr id="17" name="矩形 16"/>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2" name="矩形 21">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3" name="文本框 60">
            <a:extLst>
              <a:ext uri="{FF2B5EF4-FFF2-40B4-BE49-F238E27FC236}">
                <a16:creationId xmlns:a16="http://schemas.microsoft.com/office/drawing/2014/main" xmlns="" id="{791D85D7-F412-9C48-9F2B-E33F5B7B4F3C}"/>
              </a:ext>
            </a:extLst>
          </p:cNvPr>
          <p:cNvSpPr txBox="1"/>
          <p:nvPr/>
        </p:nvSpPr>
        <p:spPr>
          <a:xfrm>
            <a:off x="1407719" y="329189"/>
            <a:ext cx="287618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干涉方法的光学</a:t>
            </a:r>
            <a:r>
              <a:rPr lang="zh-CN" altLang="en-US" sz="1800" b="1" dirty="0">
                <a:latin typeface="微软雅黑" panose="020B0503020204020204" pitchFamily="34" charset="-122"/>
                <a:ea typeface="微软雅黑" panose="020B0503020204020204" pitchFamily="34" charset="-122"/>
              </a:rPr>
              <a:t>信息变换</a:t>
            </a:r>
          </a:p>
        </p:txBody>
      </p:sp>
      <p:sp>
        <p:nvSpPr>
          <p:cNvPr id="24"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5"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577704"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8619" name="Object 9"/>
          <p:cNvGraphicFramePr>
            <a:graphicFrameLocks noChangeAspect="1"/>
          </p:cNvGraphicFramePr>
          <p:nvPr/>
        </p:nvGraphicFramePr>
        <p:xfrm>
          <a:off x="3248169" y="1662834"/>
          <a:ext cx="2701473" cy="997238"/>
        </p:xfrm>
        <a:graphic>
          <a:graphicData uri="http://schemas.openxmlformats.org/presentationml/2006/ole">
            <p:oleObj spid="_x0000_s68619" name="公式" r:id="rId3" imgW="1054100" imgH="393700" progId="Equation.3">
              <p:embed/>
            </p:oleObj>
          </a:graphicData>
        </a:graphic>
      </p:graphicFrame>
      <p:sp>
        <p:nvSpPr>
          <p:cNvPr id="68620" name="Rectangle 12"/>
          <p:cNvSpPr>
            <a:spLocks noChangeArrowheads="1"/>
          </p:cNvSpPr>
          <p:nvPr/>
        </p:nvSpPr>
        <p:spPr bwMode="auto">
          <a:xfrm>
            <a:off x="1727489" y="2773702"/>
            <a:ext cx="5102802" cy="738664"/>
          </a:xfrm>
          <a:prstGeom prst="rect">
            <a:avLst/>
          </a:prstGeom>
          <a:noFill/>
          <a:ln w="9525" algn="ctr">
            <a:noFill/>
            <a:miter lim="800000"/>
            <a:headEnd/>
            <a:tailEnd/>
          </a:ln>
        </p:spPr>
        <p:txBody>
          <a:bodyPr wrap="square" anchor="ctr">
            <a:spAutoFit/>
          </a:bodyPr>
          <a:lstStyle/>
          <a:p>
            <a:pPr defTabSz="914400" eaLnBrk="0" hangingPunct="0">
              <a:lnSpc>
                <a:spcPct val="150000"/>
              </a:lnSpc>
            </a:pPr>
            <a:r>
              <a:rPr lang="zh-CN" altLang="en-US" sz="2800" b="1" dirty="0">
                <a:latin typeface="Times New Roman" pitchFamily="18" charset="0"/>
                <a:ea typeface="微软雅黑" pitchFamily="34" charset="-122"/>
              </a:rPr>
              <a:t>当光路平面垂直于转动方向时</a:t>
            </a:r>
          </a:p>
        </p:txBody>
      </p:sp>
      <p:graphicFrame>
        <p:nvGraphicFramePr>
          <p:cNvPr id="193549" name="Object 13"/>
          <p:cNvGraphicFramePr>
            <a:graphicFrameLocks noChangeAspect="1"/>
          </p:cNvGraphicFramePr>
          <p:nvPr/>
        </p:nvGraphicFramePr>
        <p:xfrm>
          <a:off x="3295649" y="3737986"/>
          <a:ext cx="2010641" cy="1083788"/>
        </p:xfrm>
        <a:graphic>
          <a:graphicData uri="http://schemas.openxmlformats.org/presentationml/2006/ole">
            <p:oleObj spid="_x0000_s68622" name="公式" r:id="rId4" imgW="723586" imgH="393529" progId="Equation.3">
              <p:embed/>
            </p:oleObj>
          </a:graphicData>
        </a:graphic>
      </p:graphicFrame>
      <p:graphicFrame>
        <p:nvGraphicFramePr>
          <p:cNvPr id="193553" name="Object 17"/>
          <p:cNvGraphicFramePr>
            <a:graphicFrameLocks noChangeAspect="1"/>
          </p:cNvGraphicFramePr>
          <p:nvPr/>
        </p:nvGraphicFramePr>
        <p:xfrm>
          <a:off x="9229321" y="5561357"/>
          <a:ext cx="504825" cy="358775"/>
        </p:xfrm>
        <a:graphic>
          <a:graphicData uri="http://schemas.openxmlformats.org/presentationml/2006/ole">
            <p:oleObj spid="_x0000_s68624" name="公式" r:id="rId5" imgW="228501" imgH="165028" progId="Equation.3">
              <p:embed/>
            </p:oleObj>
          </a:graphicData>
        </a:graphic>
      </p:graphicFrame>
      <p:graphicFrame>
        <p:nvGraphicFramePr>
          <p:cNvPr id="193552" name="Object 16"/>
          <p:cNvGraphicFramePr>
            <a:graphicFrameLocks noChangeAspect="1"/>
          </p:cNvGraphicFramePr>
          <p:nvPr/>
        </p:nvGraphicFramePr>
        <p:xfrm>
          <a:off x="6593171" y="6276830"/>
          <a:ext cx="360363" cy="360362"/>
        </p:xfrm>
        <a:graphic>
          <a:graphicData uri="http://schemas.openxmlformats.org/presentationml/2006/ole">
            <p:oleObj spid="_x0000_s68625" name="公式" r:id="rId6" imgW="164885" imgH="164885" progId="Equation.3">
              <p:embed/>
            </p:oleObj>
          </a:graphicData>
        </a:graphic>
      </p:graphicFrame>
      <p:sp>
        <p:nvSpPr>
          <p:cNvPr id="68626" name="Rectangle 18"/>
          <p:cNvSpPr>
            <a:spLocks noChangeArrowheads="1"/>
          </p:cNvSpPr>
          <p:nvPr/>
        </p:nvSpPr>
        <p:spPr bwMode="auto">
          <a:xfrm>
            <a:off x="2312061" y="5447962"/>
            <a:ext cx="7127875" cy="523220"/>
          </a:xfrm>
          <a:prstGeom prst="rect">
            <a:avLst/>
          </a:prstGeom>
          <a:noFill/>
          <a:ln w="9525" algn="ctr">
            <a:noFill/>
            <a:miter lim="800000"/>
            <a:headEnd/>
            <a:tailEnd/>
          </a:ln>
        </p:spPr>
        <p:txBody>
          <a:bodyPr anchor="ctr">
            <a:spAutoFit/>
          </a:bodyPr>
          <a:lstStyle/>
          <a:p>
            <a:pPr defTabSz="914400" eaLnBrk="0" hangingPunct="0"/>
            <a:r>
              <a:rPr lang="zh-CN" altLang="en-US" sz="2800" b="1" dirty="0">
                <a:latin typeface="Times New Roman" pitchFamily="18" charset="0"/>
                <a:ea typeface="微软雅黑" pitchFamily="34" charset="-122"/>
              </a:rPr>
              <a:t>当测量出顺时针光束和逆时针光束的光程差</a:t>
            </a:r>
          </a:p>
        </p:txBody>
      </p:sp>
      <p:sp>
        <p:nvSpPr>
          <p:cNvPr id="68627" name="Rectangle 19"/>
          <p:cNvSpPr>
            <a:spLocks noChangeArrowheads="1"/>
          </p:cNvSpPr>
          <p:nvPr/>
        </p:nvSpPr>
        <p:spPr bwMode="auto">
          <a:xfrm>
            <a:off x="9804312" y="5430762"/>
            <a:ext cx="1296987" cy="523220"/>
          </a:xfrm>
          <a:prstGeom prst="rect">
            <a:avLst/>
          </a:prstGeom>
          <a:noFill/>
          <a:ln w="9525" algn="ctr">
            <a:noFill/>
            <a:miter lim="800000"/>
            <a:headEnd/>
            <a:tailEnd/>
          </a:ln>
        </p:spPr>
        <p:txBody>
          <a:bodyPr anchor="ctr">
            <a:spAutoFit/>
          </a:bodyPr>
          <a:lstStyle/>
          <a:p>
            <a:pPr defTabSz="914400" eaLnBrk="0" hangingPunct="0"/>
            <a:r>
              <a:rPr lang="zh-CN" altLang="en-US" sz="2800" b="1" dirty="0">
                <a:latin typeface="Times New Roman" pitchFamily="18" charset="0"/>
                <a:ea typeface="微软雅黑" pitchFamily="34" charset="-122"/>
              </a:rPr>
              <a:t>，就能</a:t>
            </a:r>
          </a:p>
        </p:txBody>
      </p:sp>
      <p:sp>
        <p:nvSpPr>
          <p:cNvPr id="68628" name="Rectangle 21"/>
          <p:cNvSpPr>
            <a:spLocks noChangeArrowheads="1"/>
          </p:cNvSpPr>
          <p:nvPr/>
        </p:nvSpPr>
        <p:spPr bwMode="auto">
          <a:xfrm>
            <a:off x="2452501" y="6194219"/>
            <a:ext cx="4134465" cy="523220"/>
          </a:xfrm>
          <a:prstGeom prst="rect">
            <a:avLst/>
          </a:prstGeom>
          <a:noFill/>
          <a:ln w="9525">
            <a:noFill/>
            <a:miter lim="800000"/>
            <a:headEnd/>
            <a:tailEnd/>
          </a:ln>
        </p:spPr>
        <p:txBody>
          <a:bodyPr wrap="none">
            <a:spAutoFit/>
          </a:bodyPr>
          <a:lstStyle/>
          <a:p>
            <a:pPr defTabSz="914400"/>
            <a:r>
              <a:rPr lang="zh-CN" altLang="en-US" sz="2800" b="1" dirty="0">
                <a:latin typeface="Times New Roman" pitchFamily="18" charset="0"/>
                <a:ea typeface="微软雅黑" pitchFamily="34" charset="-122"/>
              </a:rPr>
              <a:t>得到封闭光路的</a:t>
            </a:r>
            <a:r>
              <a:rPr lang="zh-CN" altLang="en-US" sz="2800" b="1" dirty="0">
                <a:solidFill>
                  <a:srgbClr val="FF0000"/>
                </a:solidFill>
                <a:latin typeface="Times New Roman" pitchFamily="18" charset="0"/>
                <a:ea typeface="微软雅黑" pitchFamily="34" charset="-122"/>
              </a:rPr>
              <a:t>转动速度</a:t>
            </a:r>
          </a:p>
        </p:txBody>
      </p:sp>
      <p:graphicFrame>
        <p:nvGraphicFramePr>
          <p:cNvPr id="68629" name="Object 20"/>
          <p:cNvGraphicFramePr>
            <a:graphicFrameLocks noChangeAspect="1"/>
          </p:cNvGraphicFramePr>
          <p:nvPr/>
        </p:nvGraphicFramePr>
        <p:xfrm>
          <a:off x="7263533" y="1754620"/>
          <a:ext cx="4964481" cy="3205307"/>
        </p:xfrm>
        <a:graphic>
          <a:graphicData uri="http://schemas.openxmlformats.org/presentationml/2006/ole">
            <p:oleObj spid="_x0000_s68629" name="Visio" r:id="rId7" imgW="2439000" imgH="1571400" progId="">
              <p:embed/>
            </p:oleObj>
          </a:graphicData>
        </a:graphic>
      </p:graphicFrame>
      <p:sp>
        <p:nvSpPr>
          <p:cNvPr id="19" name="矩形 18"/>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 name="矩形 19">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5" name="文本框 60">
            <a:extLst>
              <a:ext uri="{FF2B5EF4-FFF2-40B4-BE49-F238E27FC236}">
                <a16:creationId xmlns:a16="http://schemas.microsoft.com/office/drawing/2014/main" xmlns="" id="{791D85D7-F412-9C48-9F2B-E33F5B7B4F3C}"/>
              </a:ext>
            </a:extLst>
          </p:cNvPr>
          <p:cNvSpPr txBox="1"/>
          <p:nvPr/>
        </p:nvSpPr>
        <p:spPr>
          <a:xfrm>
            <a:off x="1407719" y="329189"/>
            <a:ext cx="287618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干涉方法的光学</a:t>
            </a:r>
            <a:r>
              <a:rPr lang="zh-CN" altLang="en-US" sz="1800" b="1" dirty="0">
                <a:latin typeface="微软雅黑" panose="020B0503020204020204" pitchFamily="34" charset="-122"/>
                <a:ea typeface="微软雅黑" panose="020B0503020204020204" pitchFamily="34" charset="-122"/>
              </a:rPr>
              <a:t>信息变换</a:t>
            </a:r>
          </a:p>
        </p:txBody>
      </p:sp>
      <p:sp>
        <p:nvSpPr>
          <p:cNvPr id="26"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7"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577704"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41" name="Rectangle 5"/>
          <p:cNvSpPr>
            <a:spLocks noChangeArrowheads="1"/>
          </p:cNvSpPr>
          <p:nvPr/>
        </p:nvSpPr>
        <p:spPr bwMode="auto">
          <a:xfrm>
            <a:off x="323850" y="36528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69642" name="Rectangle 7"/>
          <p:cNvSpPr>
            <a:spLocks noChangeArrowheads="1"/>
          </p:cNvSpPr>
          <p:nvPr/>
        </p:nvSpPr>
        <p:spPr bwMode="auto">
          <a:xfrm>
            <a:off x="323850" y="35385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69643" name="Rectangle 11"/>
          <p:cNvSpPr>
            <a:spLocks noChangeArrowheads="1"/>
          </p:cNvSpPr>
          <p:nvPr/>
        </p:nvSpPr>
        <p:spPr bwMode="auto">
          <a:xfrm>
            <a:off x="323850" y="35385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69644" name="Rectangle 13"/>
          <p:cNvSpPr>
            <a:spLocks noChangeArrowheads="1"/>
          </p:cNvSpPr>
          <p:nvPr/>
        </p:nvSpPr>
        <p:spPr bwMode="auto">
          <a:xfrm>
            <a:off x="323850" y="438150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194576" name="Rectangle 16"/>
          <p:cNvSpPr>
            <a:spLocks noChangeArrowheads="1"/>
          </p:cNvSpPr>
          <p:nvPr/>
        </p:nvSpPr>
        <p:spPr bwMode="auto">
          <a:xfrm>
            <a:off x="768811" y="1342127"/>
            <a:ext cx="11964410" cy="1384995"/>
          </a:xfrm>
          <a:prstGeom prst="rect">
            <a:avLst/>
          </a:prstGeom>
          <a:noFill/>
          <a:ln w="9525" algn="ctr">
            <a:noFill/>
            <a:miter lim="800000"/>
            <a:headEnd/>
            <a:tailEnd/>
          </a:ln>
        </p:spPr>
        <p:txBody>
          <a:bodyPr wrap="square" anchor="ctr">
            <a:spAutoFit/>
          </a:bodyPr>
          <a:lstStyle/>
          <a:p>
            <a:pPr defTabSz="914400" eaLnBrk="0" hangingPunct="0">
              <a:lnSpc>
                <a:spcPct val="150000"/>
              </a:lnSpc>
            </a:pPr>
            <a:r>
              <a:rPr lang="zh-CN" altLang="en-US" sz="2800" b="1" dirty="0" smtClean="0">
                <a:latin typeface="Times New Roman" pitchFamily="18" charset="0"/>
                <a:ea typeface="微软雅黑" pitchFamily="34" charset="-122"/>
              </a:rPr>
              <a:t>       顺时针</a:t>
            </a:r>
            <a:r>
              <a:rPr lang="zh-CN" altLang="en-US" sz="2800" b="1" dirty="0">
                <a:latin typeface="Times New Roman" pitchFamily="18" charset="0"/>
                <a:ea typeface="微软雅黑" pitchFamily="34" charset="-122"/>
              </a:rPr>
              <a:t>光束和逆时针光束形成的光程差量值很小，只有利用</a:t>
            </a:r>
            <a:r>
              <a:rPr lang="zh-CN" altLang="en-US" sz="2800" b="1" dirty="0">
                <a:solidFill>
                  <a:srgbClr val="FF0000"/>
                </a:solidFill>
                <a:latin typeface="Times New Roman" pitchFamily="18" charset="0"/>
                <a:ea typeface="微软雅黑" pitchFamily="34" charset="-122"/>
              </a:rPr>
              <a:t>环形干涉仪或环形激光器</a:t>
            </a:r>
            <a:r>
              <a:rPr lang="zh-CN" altLang="en-US" sz="2800" b="1" dirty="0">
                <a:latin typeface="Times New Roman" pitchFamily="18" charset="0"/>
                <a:ea typeface="微软雅黑" pitchFamily="34" charset="-122"/>
              </a:rPr>
              <a:t>才有可能通过检测双向光路的激光束频差得到被测角速度。  </a:t>
            </a:r>
          </a:p>
        </p:txBody>
      </p:sp>
      <p:sp>
        <p:nvSpPr>
          <p:cNvPr id="194579" name="Rectangle 19"/>
          <p:cNvSpPr>
            <a:spLocks noChangeArrowheads="1"/>
          </p:cNvSpPr>
          <p:nvPr/>
        </p:nvSpPr>
        <p:spPr bwMode="auto">
          <a:xfrm>
            <a:off x="743820" y="2840846"/>
            <a:ext cx="12237893" cy="1384995"/>
          </a:xfrm>
          <a:prstGeom prst="rect">
            <a:avLst/>
          </a:prstGeom>
          <a:noFill/>
          <a:ln w="9525" algn="ctr">
            <a:noFill/>
            <a:miter lim="800000"/>
            <a:headEnd/>
            <a:tailEnd/>
          </a:ln>
        </p:spPr>
        <p:txBody>
          <a:bodyPr wrap="square" anchor="ctr">
            <a:spAutoFit/>
          </a:bodyPr>
          <a:lstStyle/>
          <a:p>
            <a:pPr defTabSz="914400" eaLnBrk="0" hangingPunct="0">
              <a:lnSpc>
                <a:spcPct val="150000"/>
              </a:lnSpc>
            </a:pPr>
            <a:r>
              <a:rPr lang="zh-CN" altLang="en-US" sz="2800" b="1" dirty="0" smtClean="0">
                <a:solidFill>
                  <a:srgbClr val="FF0000"/>
                </a:solidFill>
                <a:latin typeface="Times New Roman" pitchFamily="18" charset="0"/>
                <a:ea typeface="微软雅黑" pitchFamily="34" charset="-122"/>
              </a:rPr>
              <a:t>      </a:t>
            </a:r>
            <a:r>
              <a:rPr lang="zh-CN" altLang="en-US" sz="2800" b="1" u="sng" dirty="0" smtClean="0">
                <a:solidFill>
                  <a:srgbClr val="FF0000"/>
                </a:solidFill>
                <a:latin typeface="Times New Roman" pitchFamily="18" charset="0"/>
                <a:ea typeface="微软雅黑" pitchFamily="34" charset="-122"/>
              </a:rPr>
              <a:t>环形</a:t>
            </a:r>
            <a:r>
              <a:rPr lang="zh-CN" altLang="en-US" sz="2800" b="1" u="sng" dirty="0">
                <a:solidFill>
                  <a:srgbClr val="FF0000"/>
                </a:solidFill>
                <a:latin typeface="Times New Roman" pitchFamily="18" charset="0"/>
                <a:ea typeface="微软雅黑" pitchFamily="34" charset="-122"/>
              </a:rPr>
              <a:t>激光器</a:t>
            </a:r>
            <a:r>
              <a:rPr lang="zh-CN" altLang="en-US" sz="2800" b="1" dirty="0">
                <a:latin typeface="Times New Roman" pitchFamily="18" charset="0"/>
                <a:ea typeface="微软雅黑" pitchFamily="34" charset="-122"/>
              </a:rPr>
              <a:t>是指由三个或三个以上反射镜组成的激光谐振腔使光路转折形成闭合环路。</a:t>
            </a:r>
            <a:r>
              <a:rPr lang="en-US" altLang="zh-CN" sz="2800" b="1" dirty="0">
                <a:latin typeface="Times New Roman" pitchFamily="18" charset="0"/>
                <a:ea typeface="微软雅黑" pitchFamily="34" charset="-122"/>
              </a:rPr>
              <a:t> </a:t>
            </a:r>
          </a:p>
        </p:txBody>
      </p:sp>
      <p:sp>
        <p:nvSpPr>
          <p:cNvPr id="194580" name="Rectangle 20"/>
          <p:cNvSpPr>
            <a:spLocks noChangeArrowheads="1"/>
          </p:cNvSpPr>
          <p:nvPr/>
        </p:nvSpPr>
        <p:spPr bwMode="auto">
          <a:xfrm>
            <a:off x="856816" y="4531475"/>
            <a:ext cx="6250566" cy="609398"/>
          </a:xfrm>
          <a:prstGeom prst="rect">
            <a:avLst/>
          </a:prstGeom>
          <a:noFill/>
          <a:ln w="9525" algn="ctr">
            <a:noFill/>
            <a:miter lim="800000"/>
            <a:headEnd/>
            <a:tailEnd/>
          </a:ln>
        </p:spPr>
        <p:txBody>
          <a:bodyPr wrap="square" anchor="ctr">
            <a:spAutoFit/>
          </a:bodyPr>
          <a:lstStyle/>
          <a:p>
            <a:pPr defTabSz="914400" eaLnBrk="0" hangingPunct="0">
              <a:lnSpc>
                <a:spcPct val="120000"/>
              </a:lnSpc>
            </a:pPr>
            <a:r>
              <a:rPr lang="zh-CN" altLang="en-US" sz="2800" b="1" dirty="0">
                <a:latin typeface="Times New Roman" pitchFamily="18" charset="0"/>
                <a:ea typeface="微软雅黑" pitchFamily="34" charset="-122"/>
              </a:rPr>
              <a:t>激光谐振腔与光频之间成比例关系， </a:t>
            </a:r>
          </a:p>
        </p:txBody>
      </p:sp>
      <p:sp>
        <p:nvSpPr>
          <p:cNvPr id="69648" name="Rectangle 22"/>
          <p:cNvSpPr>
            <a:spLocks noChangeArrowheads="1"/>
          </p:cNvSpPr>
          <p:nvPr/>
        </p:nvSpPr>
        <p:spPr bwMode="auto">
          <a:xfrm>
            <a:off x="323850" y="352425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194581" name="Object 21"/>
          <p:cNvGraphicFramePr>
            <a:graphicFrameLocks noChangeAspect="1"/>
          </p:cNvGraphicFramePr>
          <p:nvPr/>
        </p:nvGraphicFramePr>
        <p:xfrm>
          <a:off x="1525154" y="5541241"/>
          <a:ext cx="1295400" cy="890588"/>
        </p:xfrm>
        <a:graphic>
          <a:graphicData uri="http://schemas.openxmlformats.org/presentationml/2006/ole">
            <p:oleObj spid="_x0000_s69649" name="公式" r:id="rId3" imgW="609600" imgH="419100" progId="Equation.3">
              <p:embed/>
            </p:oleObj>
          </a:graphicData>
        </a:graphic>
      </p:graphicFrame>
      <p:sp>
        <p:nvSpPr>
          <p:cNvPr id="69650" name="Rectangle 24"/>
          <p:cNvSpPr>
            <a:spLocks noChangeArrowheads="1"/>
          </p:cNvSpPr>
          <p:nvPr/>
        </p:nvSpPr>
        <p:spPr bwMode="auto">
          <a:xfrm>
            <a:off x="323850" y="35385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194583" name="Object 23"/>
          <p:cNvGraphicFramePr>
            <a:graphicFrameLocks noChangeAspect="1"/>
          </p:cNvGraphicFramePr>
          <p:nvPr/>
        </p:nvGraphicFramePr>
        <p:xfrm>
          <a:off x="4477904" y="5612679"/>
          <a:ext cx="1512888" cy="815975"/>
        </p:xfrm>
        <a:graphic>
          <a:graphicData uri="http://schemas.openxmlformats.org/presentationml/2006/ole">
            <p:oleObj spid="_x0000_s69651" name="公式" r:id="rId4" imgW="723586" imgH="393529" progId="Equation.3">
              <p:embed/>
            </p:oleObj>
          </a:graphicData>
        </a:graphic>
      </p:graphicFrame>
      <p:sp>
        <p:nvSpPr>
          <p:cNvPr id="194585" name="AutoShape 25"/>
          <p:cNvSpPr>
            <a:spLocks noChangeArrowheads="1"/>
          </p:cNvSpPr>
          <p:nvPr/>
        </p:nvSpPr>
        <p:spPr bwMode="auto">
          <a:xfrm>
            <a:off x="2965017" y="5828579"/>
            <a:ext cx="1368425" cy="360362"/>
          </a:xfrm>
          <a:prstGeom prst="rightArrow">
            <a:avLst>
              <a:gd name="adj1" fmla="val 50000"/>
              <a:gd name="adj2" fmla="val 94934"/>
            </a:avLst>
          </a:prstGeom>
          <a:solidFill>
            <a:srgbClr val="008000"/>
          </a:solidFill>
          <a:ln w="9525">
            <a:solidFill>
              <a:schemeClr val="tx1"/>
            </a:solidFill>
            <a:miter lim="800000"/>
            <a:headEnd/>
            <a:tailEnd/>
          </a:ln>
        </p:spPr>
        <p:txBody>
          <a:bodyPr wrap="none" anchor="ctr"/>
          <a:lstStyle/>
          <a:p>
            <a:pPr algn="ctr" defTabSz="914400"/>
            <a:endParaRPr lang="zh-CN" altLang="en-US" sz="2800" b="1">
              <a:solidFill>
                <a:srgbClr val="006600"/>
              </a:solidFill>
              <a:latin typeface="楷体_GB2312" pitchFamily="49" charset="-122"/>
              <a:ea typeface="楷体_GB2312" pitchFamily="49" charset="-122"/>
            </a:endParaRPr>
          </a:p>
        </p:txBody>
      </p:sp>
      <p:graphicFrame>
        <p:nvGraphicFramePr>
          <p:cNvPr id="69653" name="Object 19"/>
          <p:cNvGraphicFramePr>
            <a:graphicFrameLocks noChangeAspect="1"/>
          </p:cNvGraphicFramePr>
          <p:nvPr/>
        </p:nvGraphicFramePr>
        <p:xfrm>
          <a:off x="6795078" y="3647066"/>
          <a:ext cx="5840267" cy="3081504"/>
        </p:xfrm>
        <a:graphic>
          <a:graphicData uri="http://schemas.openxmlformats.org/presentationml/2006/ole">
            <p:oleObj spid="_x0000_s69653" name="Visio" r:id="rId5" imgW="2883600" imgH="1517040" progId="">
              <p:embed/>
            </p:oleObj>
          </a:graphicData>
        </a:graphic>
      </p:graphicFrame>
      <p:sp>
        <p:nvSpPr>
          <p:cNvPr id="23" name="矩形 22"/>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8" name="矩形 27">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9" name="文本框 60">
            <a:extLst>
              <a:ext uri="{FF2B5EF4-FFF2-40B4-BE49-F238E27FC236}">
                <a16:creationId xmlns:a16="http://schemas.microsoft.com/office/drawing/2014/main" xmlns="" id="{791D85D7-F412-9C48-9F2B-E33F5B7B4F3C}"/>
              </a:ext>
            </a:extLst>
          </p:cNvPr>
          <p:cNvSpPr txBox="1"/>
          <p:nvPr/>
        </p:nvSpPr>
        <p:spPr>
          <a:xfrm>
            <a:off x="1407719" y="329189"/>
            <a:ext cx="287618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干涉方法的光学</a:t>
            </a:r>
            <a:r>
              <a:rPr lang="zh-CN" altLang="en-US" sz="1800" b="1" dirty="0">
                <a:latin typeface="微软雅黑" panose="020B0503020204020204" pitchFamily="34" charset="-122"/>
                <a:ea typeface="微软雅黑" panose="020B0503020204020204" pitchFamily="34" charset="-122"/>
              </a:rPr>
              <a:t>信息变换</a:t>
            </a:r>
          </a:p>
        </p:txBody>
      </p:sp>
      <p:sp>
        <p:nvSpPr>
          <p:cNvPr id="30"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1"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577704"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580"/>
                                        </p:tgtEl>
                                        <p:attrNameLst>
                                          <p:attrName>style.visibility</p:attrName>
                                        </p:attrNameLst>
                                      </p:cBhvr>
                                      <p:to>
                                        <p:strVal val="visible"/>
                                      </p:to>
                                    </p:set>
                                    <p:animEffect transition="in" filter="blinds(horizontal)">
                                      <p:cBhvr>
                                        <p:cTn id="7" dur="500"/>
                                        <p:tgtEl>
                                          <p:spTgt spid="194580"/>
                                        </p:tgtEl>
                                      </p:cBhvr>
                                    </p:animEffect>
                                  </p:childTnLst>
                                </p:cTn>
                              </p:par>
                              <p:par>
                                <p:cTn id="8" presetID="3" presetClass="entr" presetSubtype="10" fill="hold" nodeType="withEffect">
                                  <p:stCondLst>
                                    <p:cond delay="0"/>
                                  </p:stCondLst>
                                  <p:childTnLst>
                                    <p:set>
                                      <p:cBhvr>
                                        <p:cTn id="9" dur="1" fill="hold">
                                          <p:stCondLst>
                                            <p:cond delay="0"/>
                                          </p:stCondLst>
                                        </p:cTn>
                                        <p:tgtEl>
                                          <p:spTgt spid="194581"/>
                                        </p:tgtEl>
                                        <p:attrNameLst>
                                          <p:attrName>style.visibility</p:attrName>
                                        </p:attrNameLst>
                                      </p:cBhvr>
                                      <p:to>
                                        <p:strVal val="visible"/>
                                      </p:to>
                                    </p:set>
                                    <p:animEffect transition="in" filter="blinds(horizontal)">
                                      <p:cBhvr>
                                        <p:cTn id="10" dur="500"/>
                                        <p:tgtEl>
                                          <p:spTgt spid="194581"/>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94585"/>
                                        </p:tgtEl>
                                        <p:attrNameLst>
                                          <p:attrName>style.visibility</p:attrName>
                                        </p:attrNameLst>
                                      </p:cBhvr>
                                      <p:to>
                                        <p:strVal val="visible"/>
                                      </p:to>
                                    </p:set>
                                    <p:animEffect transition="in" filter="blinds(horizontal)">
                                      <p:cBhvr>
                                        <p:cTn id="15" dur="500"/>
                                        <p:tgtEl>
                                          <p:spTgt spid="194585"/>
                                        </p:tgtEl>
                                      </p:cBhvr>
                                    </p:animEffect>
                                  </p:childTnLst>
                                </p:cTn>
                              </p:par>
                              <p:par>
                                <p:cTn id="16" presetID="3" presetClass="entr" presetSubtype="10" fill="hold" nodeType="withEffect">
                                  <p:stCondLst>
                                    <p:cond delay="0"/>
                                  </p:stCondLst>
                                  <p:childTnLst>
                                    <p:set>
                                      <p:cBhvr>
                                        <p:cTn id="17" dur="1" fill="hold">
                                          <p:stCondLst>
                                            <p:cond delay="0"/>
                                          </p:stCondLst>
                                        </p:cTn>
                                        <p:tgtEl>
                                          <p:spTgt spid="194583"/>
                                        </p:tgtEl>
                                        <p:attrNameLst>
                                          <p:attrName>style.visibility</p:attrName>
                                        </p:attrNameLst>
                                      </p:cBhvr>
                                      <p:to>
                                        <p:strVal val="visible"/>
                                      </p:to>
                                    </p:set>
                                    <p:animEffect transition="in" filter="blinds(horizontal)">
                                      <p:cBhvr>
                                        <p:cTn id="18" dur="500"/>
                                        <p:tgtEl>
                                          <p:spTgt spid="194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0" grpId="0"/>
      <p:bldP spid="19458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5" name="Rectangle 5"/>
          <p:cNvSpPr>
            <a:spLocks noChangeArrowheads="1"/>
          </p:cNvSpPr>
          <p:nvPr/>
        </p:nvSpPr>
        <p:spPr bwMode="auto">
          <a:xfrm>
            <a:off x="295275" y="376396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70666" name="Rectangle 6"/>
          <p:cNvSpPr>
            <a:spLocks noChangeArrowheads="1"/>
          </p:cNvSpPr>
          <p:nvPr/>
        </p:nvSpPr>
        <p:spPr bwMode="auto">
          <a:xfrm>
            <a:off x="295275" y="364966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70667" name="Rectangle 7"/>
          <p:cNvSpPr>
            <a:spLocks noChangeArrowheads="1"/>
          </p:cNvSpPr>
          <p:nvPr/>
        </p:nvSpPr>
        <p:spPr bwMode="auto">
          <a:xfrm>
            <a:off x="295275" y="364966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70668" name="Rectangle 8"/>
          <p:cNvSpPr>
            <a:spLocks noChangeArrowheads="1"/>
          </p:cNvSpPr>
          <p:nvPr/>
        </p:nvSpPr>
        <p:spPr bwMode="auto">
          <a:xfrm>
            <a:off x="295275" y="44926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70669" name="Rectangle 9"/>
          <p:cNvSpPr>
            <a:spLocks noChangeArrowheads="1"/>
          </p:cNvSpPr>
          <p:nvPr/>
        </p:nvSpPr>
        <p:spPr bwMode="auto">
          <a:xfrm>
            <a:off x="1209849" y="1329624"/>
            <a:ext cx="11772755" cy="523220"/>
          </a:xfrm>
          <a:prstGeom prst="rect">
            <a:avLst/>
          </a:prstGeom>
          <a:noFill/>
          <a:ln w="9525" algn="ctr">
            <a:noFill/>
            <a:miter lim="800000"/>
            <a:headEnd/>
            <a:tailEnd/>
          </a:ln>
        </p:spPr>
        <p:txBody>
          <a:bodyPr wrap="square" anchor="ctr">
            <a:spAutoFit/>
          </a:bodyPr>
          <a:lstStyle/>
          <a:p>
            <a:pPr defTabSz="914400" eaLnBrk="0" hangingPunct="0"/>
            <a:r>
              <a:rPr lang="zh-CN" altLang="en-US" sz="2800" b="1" dirty="0">
                <a:latin typeface="Times New Roman" pitchFamily="18" charset="0"/>
                <a:ea typeface="微软雅黑" pitchFamily="34" charset="-122"/>
              </a:rPr>
              <a:t>由小型化的环形激光器及相应的光学差频检测装置可组成</a:t>
            </a:r>
            <a:r>
              <a:rPr lang="zh-CN" altLang="en-US" sz="2800" b="1" dirty="0">
                <a:solidFill>
                  <a:srgbClr val="FF0000"/>
                </a:solidFill>
                <a:latin typeface="Times New Roman" pitchFamily="18" charset="0"/>
                <a:ea typeface="微软雅黑" pitchFamily="34" charset="-122"/>
              </a:rPr>
              <a:t>激光陀螺仪</a:t>
            </a:r>
            <a:r>
              <a:rPr lang="zh-CN" altLang="en-US" sz="2800" b="1" dirty="0">
                <a:latin typeface="Times New Roman" pitchFamily="18" charset="0"/>
                <a:ea typeface="微软雅黑" pitchFamily="34" charset="-122"/>
              </a:rPr>
              <a:t>。 </a:t>
            </a:r>
          </a:p>
        </p:txBody>
      </p:sp>
      <p:sp>
        <p:nvSpPr>
          <p:cNvPr id="195594" name="Rectangle 10"/>
          <p:cNvSpPr>
            <a:spLocks noChangeArrowheads="1"/>
          </p:cNvSpPr>
          <p:nvPr/>
        </p:nvSpPr>
        <p:spPr bwMode="auto">
          <a:xfrm>
            <a:off x="751754" y="2052833"/>
            <a:ext cx="12063702" cy="1384995"/>
          </a:xfrm>
          <a:prstGeom prst="rect">
            <a:avLst/>
          </a:prstGeom>
          <a:noFill/>
          <a:ln w="9525" algn="ctr">
            <a:noFill/>
            <a:miter lim="800000"/>
            <a:headEnd/>
            <a:tailEnd/>
          </a:ln>
        </p:spPr>
        <p:txBody>
          <a:bodyPr wrap="square" anchor="ctr">
            <a:spAutoFit/>
          </a:bodyPr>
          <a:lstStyle/>
          <a:p>
            <a:pPr defTabSz="914400" eaLnBrk="0" hangingPunct="0">
              <a:lnSpc>
                <a:spcPct val="150000"/>
              </a:lnSpc>
            </a:pPr>
            <a:r>
              <a:rPr lang="zh-CN" altLang="zh-CN" sz="2800" b="1" dirty="0">
                <a:latin typeface="Times New Roman" pitchFamily="18" charset="0"/>
                <a:ea typeface="微软雅黑" pitchFamily="34" charset="-122"/>
              </a:rPr>
              <a:t>作为一种测角装置，它是一种以物理定律为基准的客观角度基准，具有很高的测角分辨率，在</a:t>
            </a:r>
            <a:r>
              <a:rPr lang="en-US" altLang="zh-CN" sz="2800" b="1" dirty="0">
                <a:latin typeface="Times New Roman" pitchFamily="18" charset="0"/>
                <a:ea typeface="微软雅黑" pitchFamily="34" charset="-122"/>
              </a:rPr>
              <a:t>360°</a:t>
            </a:r>
            <a:r>
              <a:rPr lang="zh-CN" altLang="en-US" sz="2800" b="1" dirty="0">
                <a:latin typeface="Times New Roman" pitchFamily="18" charset="0"/>
                <a:ea typeface="微软雅黑" pitchFamily="34" charset="-122"/>
              </a:rPr>
              <a:t>范围内有       ～   的测量精度。</a:t>
            </a:r>
            <a:endParaRPr lang="en-US" altLang="zh-CN" sz="2800" b="1" dirty="0">
              <a:latin typeface="Times New Roman" pitchFamily="18" charset="0"/>
              <a:ea typeface="微软雅黑" pitchFamily="34" charset="-122"/>
            </a:endParaRPr>
          </a:p>
        </p:txBody>
      </p:sp>
      <p:sp>
        <p:nvSpPr>
          <p:cNvPr id="70671" name="Rectangle 12"/>
          <p:cNvSpPr>
            <a:spLocks noChangeArrowheads="1"/>
          </p:cNvSpPr>
          <p:nvPr/>
        </p:nvSpPr>
        <p:spPr bwMode="auto">
          <a:xfrm>
            <a:off x="295275" y="36353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70672" name="Rectangle 14"/>
          <p:cNvSpPr>
            <a:spLocks noChangeArrowheads="1"/>
          </p:cNvSpPr>
          <p:nvPr/>
        </p:nvSpPr>
        <p:spPr bwMode="auto">
          <a:xfrm>
            <a:off x="295275" y="364966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195601" name="Object 17"/>
          <p:cNvGraphicFramePr>
            <a:graphicFrameLocks noChangeAspect="1"/>
          </p:cNvGraphicFramePr>
          <p:nvPr/>
        </p:nvGraphicFramePr>
        <p:xfrm>
          <a:off x="5797261" y="3071957"/>
          <a:ext cx="647700" cy="333375"/>
        </p:xfrm>
        <a:graphic>
          <a:graphicData uri="http://schemas.openxmlformats.org/presentationml/2006/ole">
            <p:oleObj spid="_x0000_s70674" name="公式" r:id="rId3" imgW="355138" imgH="177569" progId="Equation.3">
              <p:embed/>
            </p:oleObj>
          </a:graphicData>
        </a:graphic>
      </p:graphicFrame>
      <p:graphicFrame>
        <p:nvGraphicFramePr>
          <p:cNvPr id="195604" name="Object 20"/>
          <p:cNvGraphicFramePr>
            <a:graphicFrameLocks noChangeAspect="1"/>
          </p:cNvGraphicFramePr>
          <p:nvPr/>
        </p:nvGraphicFramePr>
        <p:xfrm>
          <a:off x="6749907" y="3044970"/>
          <a:ext cx="317500" cy="360362"/>
        </p:xfrm>
        <a:graphic>
          <a:graphicData uri="http://schemas.openxmlformats.org/presentationml/2006/ole">
            <p:oleObj spid="_x0000_s70677" name="公式" r:id="rId4" imgW="139579" imgH="164957" progId="Equation.3">
              <p:embed/>
            </p:oleObj>
          </a:graphicData>
        </a:graphic>
      </p:graphicFrame>
      <p:pic>
        <p:nvPicPr>
          <p:cNvPr id="195607" name="Picture 23"/>
          <p:cNvPicPr>
            <a:picLocks noChangeAspect="1" noChangeArrowheads="1"/>
          </p:cNvPicPr>
          <p:nvPr/>
        </p:nvPicPr>
        <p:blipFill>
          <a:blip r:embed="rId5" cstate="print"/>
          <a:srcRect/>
          <a:stretch>
            <a:fillRect/>
          </a:stretch>
        </p:blipFill>
        <p:spPr bwMode="auto">
          <a:xfrm>
            <a:off x="2511282" y="3635664"/>
            <a:ext cx="3958791" cy="3746824"/>
          </a:xfrm>
          <a:prstGeom prst="rect">
            <a:avLst/>
          </a:prstGeom>
          <a:noFill/>
          <a:ln w="9525">
            <a:noFill/>
            <a:miter lim="800000"/>
            <a:headEnd/>
            <a:tailEnd/>
          </a:ln>
        </p:spPr>
      </p:pic>
      <p:pic>
        <p:nvPicPr>
          <p:cNvPr id="195608" name="Picture 24"/>
          <p:cNvPicPr>
            <a:picLocks noChangeAspect="1" noChangeArrowheads="1"/>
          </p:cNvPicPr>
          <p:nvPr/>
        </p:nvPicPr>
        <p:blipFill>
          <a:blip r:embed="rId6" cstate="print"/>
          <a:srcRect/>
          <a:stretch>
            <a:fillRect/>
          </a:stretch>
        </p:blipFill>
        <p:spPr bwMode="auto">
          <a:xfrm>
            <a:off x="7412183" y="3542338"/>
            <a:ext cx="4710546" cy="3757276"/>
          </a:xfrm>
          <a:prstGeom prst="rect">
            <a:avLst/>
          </a:prstGeom>
          <a:noFill/>
          <a:ln w="9525">
            <a:noFill/>
            <a:miter lim="800000"/>
            <a:headEnd/>
            <a:tailEnd/>
          </a:ln>
        </p:spPr>
      </p:pic>
      <p:sp>
        <p:nvSpPr>
          <p:cNvPr id="25" name="矩形 24"/>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6" name="矩形 25">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30" name="矩形 29">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31" name="文本框 60">
            <a:extLst>
              <a:ext uri="{FF2B5EF4-FFF2-40B4-BE49-F238E27FC236}">
                <a16:creationId xmlns:a16="http://schemas.microsoft.com/office/drawing/2014/main" xmlns="" id="{791D85D7-F412-9C48-9F2B-E33F5B7B4F3C}"/>
              </a:ext>
            </a:extLst>
          </p:cNvPr>
          <p:cNvSpPr txBox="1"/>
          <p:nvPr/>
        </p:nvSpPr>
        <p:spPr>
          <a:xfrm>
            <a:off x="1407719" y="329189"/>
            <a:ext cx="287618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干涉方法的光学</a:t>
            </a:r>
            <a:r>
              <a:rPr lang="zh-CN" altLang="en-US" sz="1800" b="1" dirty="0">
                <a:latin typeface="微软雅黑" panose="020B0503020204020204" pitchFamily="34" charset="-122"/>
                <a:ea typeface="微软雅黑" panose="020B0503020204020204" pitchFamily="34" charset="-122"/>
              </a:rPr>
              <a:t>信息变换</a:t>
            </a:r>
          </a:p>
        </p:txBody>
      </p:sp>
      <p:sp>
        <p:nvSpPr>
          <p:cNvPr id="32"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577704"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6" name="矩形 25">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30" name="矩形 29">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31" name="文本框 60">
            <a:extLst>
              <a:ext uri="{FF2B5EF4-FFF2-40B4-BE49-F238E27FC236}">
                <a16:creationId xmlns:a16="http://schemas.microsoft.com/office/drawing/2014/main" xmlns="" id="{791D85D7-F412-9C48-9F2B-E33F5B7B4F3C}"/>
              </a:ext>
            </a:extLst>
          </p:cNvPr>
          <p:cNvSpPr txBox="1"/>
          <p:nvPr/>
        </p:nvSpPr>
        <p:spPr>
          <a:xfrm>
            <a:off x="1407719" y="329189"/>
            <a:ext cx="287618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衍射方法的光学</a:t>
            </a:r>
            <a:r>
              <a:rPr lang="zh-CN" altLang="en-US" sz="1800" b="1" dirty="0">
                <a:latin typeface="微软雅黑" panose="020B0503020204020204" pitchFamily="34" charset="-122"/>
                <a:ea typeface="微软雅黑" panose="020B0503020204020204" pitchFamily="34" charset="-122"/>
              </a:rPr>
              <a:t>信息变换</a:t>
            </a:r>
          </a:p>
        </p:txBody>
      </p:sp>
      <p:sp>
        <p:nvSpPr>
          <p:cNvPr id="32"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577704"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1" name="矩形: 圆角 18">
            <a:extLst>
              <a:ext uri="{FF2B5EF4-FFF2-40B4-BE49-F238E27FC236}">
                <a16:creationId xmlns:a16="http://schemas.microsoft.com/office/drawing/2014/main" xmlns="" id="{71B2A563-AC54-5347-B843-4478DF223CDE}"/>
              </a:ext>
            </a:extLst>
          </p:cNvPr>
          <p:cNvSpPr/>
          <p:nvPr/>
        </p:nvSpPr>
        <p:spPr>
          <a:xfrm>
            <a:off x="4795052" y="3476625"/>
            <a:ext cx="6052488" cy="850403"/>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smtClean="0">
                <a:solidFill>
                  <a:schemeClr val="bg1"/>
                </a:solidFill>
                <a:latin typeface="Microsoft YaHei" panose="020B0503020204020204" pitchFamily="34" charset="-122"/>
                <a:ea typeface="Microsoft YaHei" panose="020B0503020204020204" pitchFamily="34" charset="-122"/>
              </a:rPr>
              <a:t>衍射方法的光学</a:t>
            </a:r>
            <a:r>
              <a:rPr kumimoji="1" lang="zh-CN" altLang="en-US" sz="4000" b="1" dirty="0">
                <a:solidFill>
                  <a:schemeClr val="bg1"/>
                </a:solidFill>
                <a:latin typeface="Microsoft YaHei" panose="020B0503020204020204" pitchFamily="34" charset="-122"/>
                <a:ea typeface="Microsoft YaHei" panose="020B0503020204020204" pitchFamily="34" charset="-122"/>
              </a:rPr>
              <a:t>信息变换</a:t>
            </a:r>
          </a:p>
        </p:txBody>
      </p:sp>
      <p:sp>
        <p:nvSpPr>
          <p:cNvPr id="22" name="矩形 21">
            <a:extLst>
              <a:ext uri="{FF2B5EF4-FFF2-40B4-BE49-F238E27FC236}">
                <a16:creationId xmlns:a16="http://schemas.microsoft.com/office/drawing/2014/main" xmlns="" id="{045D4FB5-3BA7-4366-9C2A-762F1105D91A}"/>
              </a:ext>
            </a:extLst>
          </p:cNvPr>
          <p:cNvSpPr/>
          <p:nvPr/>
        </p:nvSpPr>
        <p:spPr>
          <a:xfrm>
            <a:off x="2584675" y="3283064"/>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smtClean="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8.2.2</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2" name="Rectangle 4"/>
          <p:cNvSpPr>
            <a:spLocks noChangeArrowheads="1"/>
          </p:cNvSpPr>
          <p:nvPr/>
        </p:nvSpPr>
        <p:spPr bwMode="auto">
          <a:xfrm>
            <a:off x="863195" y="2660325"/>
            <a:ext cx="11980862" cy="3785652"/>
          </a:xfrm>
          <a:prstGeom prst="rect">
            <a:avLst/>
          </a:prstGeom>
          <a:noFill/>
          <a:ln w="9525" algn="ctr">
            <a:noFill/>
            <a:miter lim="800000"/>
            <a:headEnd/>
            <a:tailEnd/>
          </a:ln>
        </p:spPr>
        <p:txBody>
          <a:bodyPr wrap="square" anchor="ctr">
            <a:spAutoFit/>
          </a:bodyPr>
          <a:lstStyle/>
          <a:p>
            <a:pPr defTabSz="914400" eaLnBrk="0" hangingPunct="0">
              <a:lnSpc>
                <a:spcPct val="150000"/>
              </a:lnSpc>
            </a:pPr>
            <a:r>
              <a:rPr lang="en-US" altLang="zh-CN" sz="3200" b="1" dirty="0">
                <a:latin typeface="Times New Roman" pitchFamily="18" charset="0"/>
                <a:ea typeface="微软雅黑" pitchFamily="34" charset="-122"/>
              </a:rPr>
              <a:t>	</a:t>
            </a:r>
            <a:r>
              <a:rPr lang="zh-CN" altLang="en-US" sz="3200" b="1" dirty="0">
                <a:latin typeface="Times New Roman" pitchFamily="18" charset="0"/>
                <a:ea typeface="微软雅黑" pitchFamily="34" charset="-122"/>
              </a:rPr>
              <a:t>光波在传播过程中遇到障碍物时，会偏离原来的传播方向，绕过障碍物的边缘而进入几何阴影区，并在障碍物后的观察屏上呈现光强有规则分布的衍射图样，衍射图样与衍射屏（障碍物或孔）的尺寸和光学系统参数有关。因此，根据衍射图样及其变化可确定被测物（衍射物）的尺寸，此类方法称为</a:t>
            </a:r>
            <a:r>
              <a:rPr lang="zh-CN" altLang="en-US" sz="3200" b="1" dirty="0">
                <a:solidFill>
                  <a:srgbClr val="FF0000"/>
                </a:solidFill>
                <a:latin typeface="Times New Roman" pitchFamily="18" charset="0"/>
                <a:ea typeface="微软雅黑" pitchFamily="34" charset="-122"/>
              </a:rPr>
              <a:t>激光衍射测量法</a:t>
            </a:r>
            <a:r>
              <a:rPr lang="zh-CN" altLang="en-US" sz="3200" b="1" dirty="0">
                <a:latin typeface="Times New Roman" pitchFamily="18" charset="0"/>
                <a:ea typeface="微软雅黑" pitchFamily="34" charset="-122"/>
              </a:rPr>
              <a:t>。</a:t>
            </a:r>
          </a:p>
        </p:txBody>
      </p:sp>
      <p:sp>
        <p:nvSpPr>
          <p:cNvPr id="9" name="Rectangle 3"/>
          <p:cNvSpPr>
            <a:spLocks noChangeArrowheads="1"/>
          </p:cNvSpPr>
          <p:nvPr/>
        </p:nvSpPr>
        <p:spPr bwMode="auto">
          <a:xfrm>
            <a:off x="2371442" y="1267710"/>
            <a:ext cx="8934305" cy="707886"/>
          </a:xfrm>
          <a:prstGeom prst="rect">
            <a:avLst/>
          </a:prstGeom>
          <a:noFill/>
          <a:ln w="9525" algn="ctr">
            <a:noFill/>
            <a:miter lim="800000"/>
            <a:headEnd/>
            <a:tailEnd/>
          </a:ln>
        </p:spPr>
        <p:txBody>
          <a:bodyPr wrap="square">
            <a:spAutoFit/>
          </a:bodyPr>
          <a:lstStyle/>
          <a:p>
            <a:pPr algn="ctr" defTabSz="914400"/>
            <a:r>
              <a:rPr lang="zh-CN" altLang="en-US" sz="4000" b="1" dirty="0" smtClean="0">
                <a:solidFill>
                  <a:srgbClr val="0000FF"/>
                </a:solidFill>
                <a:latin typeface="Times New Roman" pitchFamily="18" charset="0"/>
                <a:ea typeface="微软雅黑" pitchFamily="34" charset="-122"/>
              </a:rPr>
              <a:t>二、</a:t>
            </a:r>
            <a:r>
              <a:rPr lang="en-US" altLang="zh-CN" sz="4000" b="1" dirty="0" smtClean="0">
                <a:solidFill>
                  <a:srgbClr val="0000FF"/>
                </a:solidFill>
                <a:latin typeface="Times New Roman" pitchFamily="18" charset="0"/>
                <a:ea typeface="微软雅黑" pitchFamily="34" charset="-122"/>
              </a:rPr>
              <a:t> </a:t>
            </a:r>
            <a:r>
              <a:rPr lang="zh-CN" altLang="en-US" sz="4000" b="1" dirty="0">
                <a:solidFill>
                  <a:srgbClr val="0000FF"/>
                </a:solidFill>
                <a:latin typeface="Times New Roman" pitchFamily="18" charset="0"/>
                <a:ea typeface="微软雅黑" pitchFamily="34" charset="-122"/>
              </a:rPr>
              <a:t>衍射方法的光学信息变换 </a:t>
            </a:r>
          </a:p>
        </p:txBody>
      </p:sp>
      <p:sp>
        <p:nvSpPr>
          <p:cNvPr id="11" name="矩形 10"/>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2" name="矩形 11">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6" name="矩形 15">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7" name="文本框 60">
            <a:extLst>
              <a:ext uri="{FF2B5EF4-FFF2-40B4-BE49-F238E27FC236}">
                <a16:creationId xmlns:a16="http://schemas.microsoft.com/office/drawing/2014/main" xmlns="" id="{791D85D7-F412-9C48-9F2B-E33F5B7B4F3C}"/>
              </a:ext>
            </a:extLst>
          </p:cNvPr>
          <p:cNvSpPr txBox="1"/>
          <p:nvPr/>
        </p:nvSpPr>
        <p:spPr>
          <a:xfrm>
            <a:off x="1407719" y="329189"/>
            <a:ext cx="287618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衍射方法的光学</a:t>
            </a:r>
            <a:r>
              <a:rPr lang="zh-CN" altLang="en-US" sz="1800" b="1" dirty="0">
                <a:latin typeface="微软雅黑" panose="020B0503020204020204" pitchFamily="34" charset="-122"/>
                <a:ea typeface="微软雅黑" panose="020B0503020204020204" pitchFamily="34" charset="-122"/>
              </a:rPr>
              <a:t>信息变换</a:t>
            </a:r>
          </a:p>
        </p:txBody>
      </p:sp>
      <p:sp>
        <p:nvSpPr>
          <p:cNvPr id="18"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9"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577704"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6612"/>
                                        </p:tgtEl>
                                        <p:attrNameLst>
                                          <p:attrName>style.visibility</p:attrName>
                                        </p:attrNameLst>
                                      </p:cBhvr>
                                      <p:to>
                                        <p:strVal val="visible"/>
                                      </p:to>
                                    </p:set>
                                    <p:animEffect transition="in" filter="blinds(horizontal)">
                                      <p:cBhvr>
                                        <p:cTn id="7" dur="500"/>
                                        <p:tgtEl>
                                          <p:spTgt spid="196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5"/>
          <p:cNvSpPr>
            <a:spLocks noChangeArrowheads="1"/>
          </p:cNvSpPr>
          <p:nvPr/>
        </p:nvSpPr>
        <p:spPr bwMode="auto">
          <a:xfrm>
            <a:off x="2887743" y="1316274"/>
            <a:ext cx="8208962" cy="646331"/>
          </a:xfrm>
          <a:prstGeom prst="rect">
            <a:avLst/>
          </a:prstGeom>
          <a:noFill/>
          <a:ln w="9525" algn="ctr">
            <a:noFill/>
            <a:miter lim="800000"/>
            <a:headEnd/>
            <a:tailEnd/>
          </a:ln>
        </p:spPr>
        <p:txBody>
          <a:bodyPr anchor="ctr">
            <a:spAutoFit/>
          </a:bodyPr>
          <a:lstStyle/>
          <a:p>
            <a:pPr algn="ctr" defTabSz="914400" eaLnBrk="0" hangingPunct="0"/>
            <a:r>
              <a:rPr lang="en-US" altLang="zh-CN" sz="3600" b="1" dirty="0">
                <a:solidFill>
                  <a:srgbClr val="0000CC"/>
                </a:solidFill>
                <a:latin typeface="Times New Roman" pitchFamily="18" charset="0"/>
                <a:ea typeface="微软雅黑" pitchFamily="34" charset="-122"/>
              </a:rPr>
              <a:t>1</a:t>
            </a:r>
            <a:r>
              <a:rPr lang="en-US" altLang="zh-CN" sz="3600" b="1" dirty="0" smtClean="0">
                <a:solidFill>
                  <a:srgbClr val="0000CC"/>
                </a:solidFill>
                <a:latin typeface="Times New Roman" pitchFamily="18" charset="0"/>
                <a:ea typeface="微软雅黑" pitchFamily="34" charset="-122"/>
              </a:rPr>
              <a:t>. </a:t>
            </a:r>
            <a:r>
              <a:rPr lang="zh-CN" altLang="en-US" sz="3600" b="1" dirty="0" smtClean="0">
                <a:solidFill>
                  <a:srgbClr val="0000CC"/>
                </a:solidFill>
                <a:latin typeface="Times New Roman" pitchFamily="18" charset="0"/>
                <a:ea typeface="微软雅黑" pitchFamily="34" charset="-122"/>
              </a:rPr>
              <a:t>单</a:t>
            </a:r>
            <a:r>
              <a:rPr lang="zh-CN" altLang="en-US" sz="3600" b="1" dirty="0">
                <a:solidFill>
                  <a:srgbClr val="0000CC"/>
                </a:solidFill>
                <a:latin typeface="Times New Roman" pitchFamily="18" charset="0"/>
                <a:ea typeface="微软雅黑" pitchFamily="34" charset="-122"/>
              </a:rPr>
              <a:t>缝夫琅禾费衍射测量</a:t>
            </a:r>
          </a:p>
        </p:txBody>
      </p:sp>
      <p:sp>
        <p:nvSpPr>
          <p:cNvPr id="73737" name="Rectangle 8"/>
          <p:cNvSpPr>
            <a:spLocks noChangeArrowheads="1"/>
          </p:cNvSpPr>
          <p:nvPr/>
        </p:nvSpPr>
        <p:spPr bwMode="auto">
          <a:xfrm>
            <a:off x="0" y="34766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73738" name="Object 7"/>
          <p:cNvGraphicFramePr>
            <a:graphicFrameLocks noChangeAspect="1"/>
          </p:cNvGraphicFramePr>
          <p:nvPr/>
        </p:nvGraphicFramePr>
        <p:xfrm>
          <a:off x="4114773" y="5788613"/>
          <a:ext cx="1296988" cy="925513"/>
        </p:xfrm>
        <a:graphic>
          <a:graphicData uri="http://schemas.openxmlformats.org/presentationml/2006/ole">
            <p:oleObj spid="_x0000_s73738" name="公式" r:id="rId3" imgW="596900" imgH="431800" progId="Equation.3">
              <p:embed/>
            </p:oleObj>
          </a:graphicData>
        </a:graphic>
      </p:graphicFrame>
      <p:graphicFrame>
        <p:nvGraphicFramePr>
          <p:cNvPr id="73739" name="Object 8"/>
          <p:cNvGraphicFramePr>
            <a:graphicFrameLocks noChangeAspect="1"/>
          </p:cNvGraphicFramePr>
          <p:nvPr/>
        </p:nvGraphicFramePr>
        <p:xfrm>
          <a:off x="1082982" y="2303681"/>
          <a:ext cx="8224610" cy="3218007"/>
        </p:xfrm>
        <a:graphic>
          <a:graphicData uri="http://schemas.openxmlformats.org/presentationml/2006/ole">
            <p:oleObj spid="_x0000_s73739" name="Visio" r:id="rId4" imgW="4301640" imgH="1686600" progId="">
              <p:embed/>
            </p:oleObj>
          </a:graphicData>
        </a:graphic>
      </p:graphicFrame>
      <p:sp>
        <p:nvSpPr>
          <p:cNvPr id="18" name="矩形 17"/>
          <p:cNvSpPr/>
          <p:nvPr/>
        </p:nvSpPr>
        <p:spPr>
          <a:xfrm>
            <a:off x="9402791" y="2712825"/>
            <a:ext cx="3674854" cy="2160591"/>
          </a:xfrm>
          <a:prstGeom prst="rect">
            <a:avLst/>
          </a:prstGeom>
        </p:spPr>
        <p:txBody>
          <a:bodyPr wrap="square">
            <a:spAutoFit/>
          </a:bodyPr>
          <a:lstStyle/>
          <a:p>
            <a:pPr>
              <a:lnSpc>
                <a:spcPct val="120000"/>
              </a:lnSpc>
            </a:pPr>
            <a:r>
              <a:rPr lang="zh-CN" altLang="zh-CN" sz="2800" b="1" dirty="0" smtClean="0">
                <a:latin typeface="Times New Roman" pitchFamily="18" charset="0"/>
                <a:ea typeface="黑体" pitchFamily="2" charset="-122"/>
                <a:cs typeface="Times New Roman" pitchFamily="18" charset="0"/>
              </a:rPr>
              <a:t>测量时已知</a:t>
            </a:r>
            <a:r>
              <a:rPr lang="en-US" altLang="zh-CN" sz="2800" b="1" dirty="0" smtClean="0">
                <a:latin typeface="Times New Roman" pitchFamily="18" charset="0"/>
                <a:ea typeface="黑体" pitchFamily="2" charset="-122"/>
                <a:cs typeface="Times New Roman" pitchFamily="18" charset="0"/>
              </a:rPr>
              <a:t>       </a:t>
            </a:r>
            <a:r>
              <a:rPr lang="zh-CN" altLang="zh-CN" sz="2800" b="1" dirty="0" smtClean="0">
                <a:latin typeface="Times New Roman" pitchFamily="18" charset="0"/>
                <a:ea typeface="黑体" pitchFamily="2" charset="-122"/>
                <a:cs typeface="Times New Roman" pitchFamily="18" charset="0"/>
              </a:rPr>
              <a:t>和</a:t>
            </a:r>
            <a:r>
              <a:rPr lang="en-US" altLang="zh-CN" sz="2800" b="1" dirty="0" smtClean="0">
                <a:latin typeface="Times New Roman" pitchFamily="18" charset="0"/>
                <a:ea typeface="黑体" pitchFamily="2" charset="-122"/>
                <a:cs typeface="Times New Roman" pitchFamily="18" charset="0"/>
              </a:rPr>
              <a:t>       </a:t>
            </a:r>
            <a:r>
              <a:rPr lang="zh-CN" altLang="en-US" sz="2800" b="1" dirty="0" smtClean="0">
                <a:latin typeface="Times New Roman" pitchFamily="18" charset="0"/>
                <a:ea typeface="黑体" pitchFamily="2" charset="-122"/>
                <a:cs typeface="Times New Roman" pitchFamily="18" charset="0"/>
              </a:rPr>
              <a:t>，</a:t>
            </a:r>
            <a:r>
              <a:rPr lang="zh-CN" altLang="zh-CN" sz="2800" b="1" dirty="0" smtClean="0">
                <a:latin typeface="Times New Roman" pitchFamily="18" charset="0"/>
                <a:ea typeface="黑体" pitchFamily="2" charset="-122"/>
                <a:cs typeface="Times New Roman" pitchFamily="18" charset="0"/>
              </a:rPr>
              <a:t>测定第</a:t>
            </a:r>
            <a:r>
              <a:rPr lang="en-US" altLang="zh-CN" sz="2800" b="1" i="1" dirty="0" smtClean="0">
                <a:latin typeface="Times New Roman" pitchFamily="18" charset="0"/>
                <a:ea typeface="黑体" pitchFamily="2" charset="-122"/>
                <a:cs typeface="Times New Roman" pitchFamily="18" charset="0"/>
              </a:rPr>
              <a:t>k </a:t>
            </a:r>
            <a:r>
              <a:rPr lang="zh-CN" altLang="zh-CN" sz="2800" b="1" dirty="0" smtClean="0">
                <a:latin typeface="Times New Roman" pitchFamily="18" charset="0"/>
                <a:ea typeface="黑体" pitchFamily="2" charset="-122"/>
                <a:cs typeface="Times New Roman" pitchFamily="18" charset="0"/>
              </a:rPr>
              <a:t>个衍射暗条纹</a:t>
            </a:r>
            <a:r>
              <a:rPr lang="en-US" altLang="zh-CN" sz="2800" b="1" dirty="0" smtClean="0">
                <a:latin typeface="Times New Roman" pitchFamily="18" charset="0"/>
                <a:ea typeface="黑体" pitchFamily="2" charset="-122"/>
                <a:cs typeface="Times New Roman" pitchFamily="18" charset="0"/>
              </a:rPr>
              <a:t>       </a:t>
            </a:r>
            <a:r>
              <a:rPr lang="zh-CN" altLang="en-US" sz="2800" b="1" dirty="0" smtClean="0">
                <a:latin typeface="Times New Roman" pitchFamily="18" charset="0"/>
                <a:ea typeface="黑体" pitchFamily="2" charset="-122"/>
                <a:cs typeface="Times New Roman" pitchFamily="18" charset="0"/>
              </a:rPr>
              <a:t>，</a:t>
            </a:r>
            <a:r>
              <a:rPr lang="zh-CN" altLang="zh-CN" sz="2800" b="1" dirty="0" smtClean="0">
                <a:latin typeface="Times New Roman" pitchFamily="18" charset="0"/>
                <a:ea typeface="黑体" pitchFamily="2" charset="-122"/>
                <a:cs typeface="Times New Roman" pitchFamily="18" charset="0"/>
              </a:rPr>
              <a:t>就可以算出缝宽</a:t>
            </a:r>
            <a:r>
              <a:rPr lang="en-US" altLang="zh-CN" sz="2800" b="1" i="1" dirty="0" smtClean="0">
                <a:latin typeface="Times New Roman" pitchFamily="18" charset="0"/>
                <a:ea typeface="黑体" pitchFamily="2" charset="-122"/>
                <a:cs typeface="Times New Roman" pitchFamily="18" charset="0"/>
              </a:rPr>
              <a:t>b</a:t>
            </a:r>
            <a:r>
              <a:rPr lang="en-US" altLang="zh-CN" sz="2800" b="1" dirty="0" smtClean="0">
                <a:latin typeface="Times New Roman" pitchFamily="18" charset="0"/>
                <a:ea typeface="黑体" pitchFamily="2" charset="-122"/>
                <a:cs typeface="Times New Roman" pitchFamily="18" charset="0"/>
              </a:rPr>
              <a:t> </a:t>
            </a:r>
            <a:r>
              <a:rPr lang="zh-CN" altLang="zh-CN" sz="2800" b="1" dirty="0" smtClean="0">
                <a:latin typeface="Times New Roman" pitchFamily="18" charset="0"/>
                <a:ea typeface="黑体" pitchFamily="2" charset="-122"/>
                <a:cs typeface="Times New Roman" pitchFamily="18" charset="0"/>
              </a:rPr>
              <a:t>的精确尺寸。</a:t>
            </a:r>
            <a:endParaRPr lang="zh-CN" altLang="en-US" sz="2800" b="1" dirty="0">
              <a:latin typeface="Times New Roman" pitchFamily="18" charset="0"/>
              <a:ea typeface="黑体" pitchFamily="2" charset="-122"/>
              <a:cs typeface="Times New Roman" pitchFamily="18" charset="0"/>
            </a:endParaRPr>
          </a:p>
        </p:txBody>
      </p:sp>
      <p:graphicFrame>
        <p:nvGraphicFramePr>
          <p:cNvPr id="73747" name="Object 19"/>
          <p:cNvGraphicFramePr>
            <a:graphicFrameLocks noChangeAspect="1"/>
          </p:cNvGraphicFramePr>
          <p:nvPr/>
        </p:nvGraphicFramePr>
        <p:xfrm>
          <a:off x="11472593" y="2804035"/>
          <a:ext cx="362849" cy="460148"/>
        </p:xfrm>
        <a:graphic>
          <a:graphicData uri="http://schemas.openxmlformats.org/presentationml/2006/ole">
            <p:oleObj spid="_x0000_s73747" name="公式" r:id="rId5" imgW="139579" imgH="177646" progId="Equation.3">
              <p:embed/>
            </p:oleObj>
          </a:graphicData>
        </a:graphic>
      </p:graphicFrame>
      <p:graphicFrame>
        <p:nvGraphicFramePr>
          <p:cNvPr id="73750" name="Object 22"/>
          <p:cNvGraphicFramePr>
            <a:graphicFrameLocks noChangeAspect="1"/>
          </p:cNvGraphicFramePr>
          <p:nvPr/>
        </p:nvGraphicFramePr>
        <p:xfrm>
          <a:off x="12226146" y="2694168"/>
          <a:ext cx="460375" cy="558800"/>
        </p:xfrm>
        <a:graphic>
          <a:graphicData uri="http://schemas.openxmlformats.org/presentationml/2006/ole">
            <p:oleObj spid="_x0000_s73750" name="公式" r:id="rId6" imgW="177480" imgH="215640" progId="Equation.3">
              <p:embed/>
            </p:oleObj>
          </a:graphicData>
        </a:graphic>
      </p:graphicFrame>
      <p:graphicFrame>
        <p:nvGraphicFramePr>
          <p:cNvPr id="73751" name="Object 23"/>
          <p:cNvGraphicFramePr>
            <a:graphicFrameLocks noChangeAspect="1"/>
          </p:cNvGraphicFramePr>
          <p:nvPr/>
        </p:nvGraphicFramePr>
        <p:xfrm>
          <a:off x="9906540" y="3722688"/>
          <a:ext cx="460375" cy="590550"/>
        </p:xfrm>
        <a:graphic>
          <a:graphicData uri="http://schemas.openxmlformats.org/presentationml/2006/ole">
            <p:oleObj spid="_x0000_s73751" name="公式" r:id="rId7" imgW="177480" imgH="228600" progId="Equation.3">
              <p:embed/>
            </p:oleObj>
          </a:graphicData>
        </a:graphic>
      </p:graphicFrame>
      <p:sp>
        <p:nvSpPr>
          <p:cNvPr id="19" name="矩形 18"/>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 name="矩形 19">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5" name="文本框 60">
            <a:extLst>
              <a:ext uri="{FF2B5EF4-FFF2-40B4-BE49-F238E27FC236}">
                <a16:creationId xmlns:a16="http://schemas.microsoft.com/office/drawing/2014/main" xmlns="" id="{791D85D7-F412-9C48-9F2B-E33F5B7B4F3C}"/>
              </a:ext>
            </a:extLst>
          </p:cNvPr>
          <p:cNvSpPr txBox="1"/>
          <p:nvPr/>
        </p:nvSpPr>
        <p:spPr>
          <a:xfrm>
            <a:off x="1407719" y="329189"/>
            <a:ext cx="287618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衍射方法的光学</a:t>
            </a:r>
            <a:r>
              <a:rPr lang="zh-CN" altLang="en-US" sz="1800" b="1" dirty="0">
                <a:latin typeface="微软雅黑" panose="020B0503020204020204" pitchFamily="34" charset="-122"/>
                <a:ea typeface="微软雅黑" panose="020B0503020204020204" pitchFamily="34" charset="-122"/>
              </a:rPr>
              <a:t>信息变换</a:t>
            </a:r>
          </a:p>
        </p:txBody>
      </p:sp>
      <p:sp>
        <p:nvSpPr>
          <p:cNvPr id="26"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7"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577704"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60" name="Rectangle 5"/>
          <p:cNvSpPr>
            <a:spLocks noChangeArrowheads="1"/>
          </p:cNvSpPr>
          <p:nvPr/>
        </p:nvSpPr>
        <p:spPr bwMode="auto">
          <a:xfrm>
            <a:off x="239713" y="33639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74761" name="Object 8"/>
          <p:cNvGraphicFramePr>
            <a:graphicFrameLocks noChangeAspect="1"/>
          </p:cNvGraphicFramePr>
          <p:nvPr/>
        </p:nvGraphicFramePr>
        <p:xfrm>
          <a:off x="1194955" y="1647971"/>
          <a:ext cx="11224180" cy="3755302"/>
        </p:xfrm>
        <a:graphic>
          <a:graphicData uri="http://schemas.openxmlformats.org/presentationml/2006/ole">
            <p:oleObj spid="_x0000_s74761" name="Visio" r:id="rId3" imgW="4925160" imgH="1646640" progId="">
              <p:embed/>
            </p:oleObj>
          </a:graphicData>
        </a:graphic>
      </p:graphicFrame>
      <p:sp>
        <p:nvSpPr>
          <p:cNvPr id="74762" name="Rectangle 10"/>
          <p:cNvSpPr>
            <a:spLocks noChangeArrowheads="1"/>
          </p:cNvSpPr>
          <p:nvPr/>
        </p:nvSpPr>
        <p:spPr bwMode="auto">
          <a:xfrm>
            <a:off x="239713" y="3363913"/>
            <a:ext cx="184150" cy="519112"/>
          </a:xfrm>
          <a:prstGeom prst="rect">
            <a:avLst/>
          </a:prstGeom>
          <a:noFill/>
          <a:ln w="9525">
            <a:noFill/>
            <a:miter lim="800000"/>
            <a:headEnd/>
            <a:tailEnd/>
          </a:ln>
        </p:spPr>
        <p:txBody>
          <a:bodyPr wrap="none" anchor="ctr">
            <a:spAutoFit/>
          </a:bodyPr>
          <a:lstStyle/>
          <a:p>
            <a:pPr defTabSz="914400"/>
            <a:endParaRPr lang="zh-CN" altLang="en-US" sz="2800" b="1" i="1">
              <a:latin typeface="楷体_GB2312" pitchFamily="49" charset="-122"/>
              <a:ea typeface="楷体_GB2312" pitchFamily="49" charset="-122"/>
            </a:endParaRPr>
          </a:p>
        </p:txBody>
      </p:sp>
      <p:graphicFrame>
        <p:nvGraphicFramePr>
          <p:cNvPr id="74763" name="Object 9"/>
          <p:cNvGraphicFramePr>
            <a:graphicFrameLocks noChangeAspect="1"/>
          </p:cNvGraphicFramePr>
          <p:nvPr/>
        </p:nvGraphicFramePr>
        <p:xfrm>
          <a:off x="4851833" y="5773449"/>
          <a:ext cx="4319587" cy="1079500"/>
        </p:xfrm>
        <a:graphic>
          <a:graphicData uri="http://schemas.openxmlformats.org/presentationml/2006/ole">
            <p:oleObj spid="_x0000_s74763" name="公式" r:id="rId4" imgW="1714500" imgH="431800" progId="">
              <p:embed/>
            </p:oleObj>
          </a:graphicData>
        </a:graphic>
      </p:graphicFrame>
      <p:sp>
        <p:nvSpPr>
          <p:cNvPr id="74764" name="Rectangle 11"/>
          <p:cNvSpPr>
            <a:spLocks noChangeArrowheads="1"/>
          </p:cNvSpPr>
          <p:nvPr/>
        </p:nvSpPr>
        <p:spPr bwMode="auto">
          <a:xfrm>
            <a:off x="239713" y="3792538"/>
            <a:ext cx="184150" cy="519112"/>
          </a:xfrm>
          <a:prstGeom prst="rect">
            <a:avLst/>
          </a:prstGeom>
          <a:noFill/>
          <a:ln w="9525">
            <a:noFill/>
            <a:miter lim="800000"/>
            <a:headEnd/>
            <a:tailEnd/>
          </a:ln>
        </p:spPr>
        <p:txBody>
          <a:bodyPr wrap="none" anchor="ctr">
            <a:spAutoFit/>
          </a:bodyPr>
          <a:lstStyle/>
          <a:p>
            <a:pPr defTabSz="914400"/>
            <a:endParaRPr lang="zh-CN" altLang="en-US" sz="2800" b="1" i="1">
              <a:latin typeface="楷体_GB2312" pitchFamily="49" charset="-122"/>
              <a:ea typeface="楷体_GB2312" pitchFamily="49" charset="-122"/>
            </a:endParaRPr>
          </a:p>
        </p:txBody>
      </p:sp>
      <p:sp>
        <p:nvSpPr>
          <p:cNvPr id="14" name="矩形 13"/>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0" name="文本框 60">
            <a:extLst>
              <a:ext uri="{FF2B5EF4-FFF2-40B4-BE49-F238E27FC236}">
                <a16:creationId xmlns:a16="http://schemas.microsoft.com/office/drawing/2014/main" xmlns="" id="{791D85D7-F412-9C48-9F2B-E33F5B7B4F3C}"/>
              </a:ext>
            </a:extLst>
          </p:cNvPr>
          <p:cNvSpPr txBox="1"/>
          <p:nvPr/>
        </p:nvSpPr>
        <p:spPr>
          <a:xfrm>
            <a:off x="1407719" y="329189"/>
            <a:ext cx="287618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衍射方法的光学</a:t>
            </a:r>
            <a:r>
              <a:rPr lang="zh-CN" altLang="en-US" sz="1800" b="1" dirty="0">
                <a:latin typeface="微软雅黑" panose="020B0503020204020204" pitchFamily="34" charset="-122"/>
                <a:ea typeface="微软雅黑" panose="020B0503020204020204" pitchFamily="34" charset="-122"/>
              </a:rPr>
              <a:t>信息变换</a:t>
            </a:r>
          </a:p>
        </p:txBody>
      </p:sp>
      <p:sp>
        <p:nvSpPr>
          <p:cNvPr id="21"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2"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577704"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4" name="Rectangle 3"/>
          <p:cNvSpPr>
            <a:spLocks noChangeArrowheads="1"/>
          </p:cNvSpPr>
          <p:nvPr/>
        </p:nvSpPr>
        <p:spPr bwMode="auto">
          <a:xfrm>
            <a:off x="2451537" y="1341119"/>
            <a:ext cx="8208963" cy="646331"/>
          </a:xfrm>
          <a:prstGeom prst="rect">
            <a:avLst/>
          </a:prstGeom>
          <a:noFill/>
          <a:ln w="9525" algn="ctr">
            <a:noFill/>
            <a:miter lim="800000"/>
            <a:headEnd/>
            <a:tailEnd/>
          </a:ln>
        </p:spPr>
        <p:txBody>
          <a:bodyPr anchor="ctr">
            <a:spAutoFit/>
          </a:bodyPr>
          <a:lstStyle/>
          <a:p>
            <a:pPr algn="ctr" defTabSz="914400" eaLnBrk="0" hangingPunct="0"/>
            <a:r>
              <a:rPr lang="en-US" altLang="zh-CN" sz="3600" b="1" dirty="0">
                <a:solidFill>
                  <a:srgbClr val="0000CC"/>
                </a:solidFill>
                <a:latin typeface="Times New Roman" pitchFamily="18" charset="0"/>
                <a:ea typeface="微软雅黑" pitchFamily="34" charset="-122"/>
              </a:rPr>
              <a:t>2</a:t>
            </a:r>
            <a:r>
              <a:rPr lang="en-US" altLang="zh-CN" sz="3600" b="1" dirty="0" smtClean="0">
                <a:solidFill>
                  <a:srgbClr val="0000CC"/>
                </a:solidFill>
                <a:latin typeface="Times New Roman" pitchFamily="18" charset="0"/>
                <a:ea typeface="微软雅黑" pitchFamily="34" charset="-122"/>
              </a:rPr>
              <a:t>. </a:t>
            </a:r>
            <a:r>
              <a:rPr lang="zh-CN" altLang="en-US" sz="3600" b="1" dirty="0" smtClean="0">
                <a:solidFill>
                  <a:srgbClr val="0000CC"/>
                </a:solidFill>
                <a:latin typeface="Times New Roman" pitchFamily="18" charset="0"/>
                <a:ea typeface="微软雅黑" pitchFamily="34" charset="-122"/>
              </a:rPr>
              <a:t>圆孔衍射</a:t>
            </a:r>
            <a:r>
              <a:rPr lang="zh-CN" altLang="en-US" sz="3600" b="1" dirty="0">
                <a:solidFill>
                  <a:srgbClr val="0000CC"/>
                </a:solidFill>
                <a:latin typeface="Times New Roman" pitchFamily="18" charset="0"/>
                <a:ea typeface="微软雅黑" pitchFamily="34" charset="-122"/>
              </a:rPr>
              <a:t>测量</a:t>
            </a:r>
          </a:p>
        </p:txBody>
      </p:sp>
      <p:sp>
        <p:nvSpPr>
          <p:cNvPr id="75785" name="Rectangle 4"/>
          <p:cNvSpPr>
            <a:spLocks noChangeArrowheads="1"/>
          </p:cNvSpPr>
          <p:nvPr/>
        </p:nvSpPr>
        <p:spPr bwMode="auto">
          <a:xfrm>
            <a:off x="71438" y="37163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75786" name="Object 8"/>
          <p:cNvGraphicFramePr>
            <a:graphicFrameLocks noChangeAspect="1"/>
          </p:cNvGraphicFramePr>
          <p:nvPr/>
        </p:nvGraphicFramePr>
        <p:xfrm>
          <a:off x="3491369" y="2279175"/>
          <a:ext cx="6059776" cy="3580059"/>
        </p:xfrm>
        <a:graphic>
          <a:graphicData uri="http://schemas.openxmlformats.org/presentationml/2006/ole">
            <p:oleObj spid="_x0000_s75786" name="Visio" r:id="rId3" imgW="3030840" imgH="1791720" progId="">
              <p:embed/>
            </p:oleObj>
          </a:graphicData>
        </a:graphic>
      </p:graphicFrame>
      <p:sp>
        <p:nvSpPr>
          <p:cNvPr id="75787" name="Rectangle 10"/>
          <p:cNvSpPr>
            <a:spLocks noChangeArrowheads="1"/>
          </p:cNvSpPr>
          <p:nvPr/>
        </p:nvSpPr>
        <p:spPr bwMode="auto">
          <a:xfrm>
            <a:off x="71438" y="3735388"/>
            <a:ext cx="184150" cy="519112"/>
          </a:xfrm>
          <a:prstGeom prst="rect">
            <a:avLst/>
          </a:prstGeom>
          <a:noFill/>
          <a:ln w="9525">
            <a:noFill/>
            <a:miter lim="800000"/>
            <a:headEnd/>
            <a:tailEnd/>
          </a:ln>
        </p:spPr>
        <p:txBody>
          <a:bodyPr wrap="none" anchor="ctr">
            <a:spAutoFit/>
          </a:bodyPr>
          <a:lstStyle/>
          <a:p>
            <a:pPr defTabSz="914400"/>
            <a:endParaRPr lang="zh-CN" altLang="en-US" sz="2800" b="1" i="1">
              <a:latin typeface="楷体_GB2312" pitchFamily="49" charset="-122"/>
              <a:ea typeface="楷体_GB2312" pitchFamily="49" charset="-122"/>
            </a:endParaRPr>
          </a:p>
        </p:txBody>
      </p:sp>
      <p:graphicFrame>
        <p:nvGraphicFramePr>
          <p:cNvPr id="75788" name="Object 9"/>
          <p:cNvGraphicFramePr>
            <a:graphicFrameLocks noChangeAspect="1"/>
          </p:cNvGraphicFramePr>
          <p:nvPr/>
        </p:nvGraphicFramePr>
        <p:xfrm>
          <a:off x="6847873" y="6071030"/>
          <a:ext cx="2037335" cy="1032250"/>
        </p:xfrm>
        <a:graphic>
          <a:graphicData uri="http://schemas.openxmlformats.org/presentationml/2006/ole">
            <p:oleObj spid="_x0000_s75788" name="公式" r:id="rId4" imgW="774364" imgH="393529" progId="Equation.3">
              <p:embed/>
            </p:oleObj>
          </a:graphicData>
        </a:graphic>
      </p:graphicFrame>
      <p:sp>
        <p:nvSpPr>
          <p:cNvPr id="75789" name="Rectangle 11"/>
          <p:cNvSpPr>
            <a:spLocks noChangeArrowheads="1"/>
          </p:cNvSpPr>
          <p:nvPr/>
        </p:nvSpPr>
        <p:spPr bwMode="auto">
          <a:xfrm>
            <a:off x="71438" y="4125913"/>
            <a:ext cx="184150" cy="519112"/>
          </a:xfrm>
          <a:prstGeom prst="rect">
            <a:avLst/>
          </a:prstGeom>
          <a:noFill/>
          <a:ln w="9525">
            <a:noFill/>
            <a:miter lim="800000"/>
            <a:headEnd/>
            <a:tailEnd/>
          </a:ln>
        </p:spPr>
        <p:txBody>
          <a:bodyPr wrap="none" anchor="ctr">
            <a:spAutoFit/>
          </a:bodyPr>
          <a:lstStyle/>
          <a:p>
            <a:pPr defTabSz="914400"/>
            <a:endParaRPr lang="zh-CN" altLang="en-US" sz="2800" b="1" i="1">
              <a:latin typeface="楷体_GB2312" pitchFamily="49" charset="-122"/>
              <a:ea typeface="楷体_GB2312" pitchFamily="49" charset="-122"/>
            </a:endParaRPr>
          </a:p>
        </p:txBody>
      </p:sp>
      <p:sp>
        <p:nvSpPr>
          <p:cNvPr id="14" name="矩形 13"/>
          <p:cNvSpPr/>
          <p:nvPr/>
        </p:nvSpPr>
        <p:spPr>
          <a:xfrm>
            <a:off x="4295953" y="6331038"/>
            <a:ext cx="2484408" cy="609398"/>
          </a:xfrm>
          <a:prstGeom prst="rect">
            <a:avLst/>
          </a:prstGeom>
        </p:spPr>
        <p:txBody>
          <a:bodyPr wrap="square">
            <a:spAutoFit/>
          </a:bodyPr>
          <a:lstStyle/>
          <a:p>
            <a:pPr>
              <a:lnSpc>
                <a:spcPct val="120000"/>
              </a:lnSpc>
            </a:pPr>
            <a:r>
              <a:rPr lang="zh-CN" altLang="en-US" sz="2800" b="1" dirty="0" smtClean="0">
                <a:latin typeface="Times New Roman" pitchFamily="18" charset="0"/>
                <a:ea typeface="黑体" pitchFamily="2" charset="-122"/>
                <a:cs typeface="Times New Roman" pitchFamily="18" charset="0"/>
              </a:rPr>
              <a:t>艾里斑的直径</a:t>
            </a:r>
            <a:endParaRPr lang="zh-CN" altLang="en-US" sz="2800" b="1" dirty="0">
              <a:latin typeface="Times New Roman" pitchFamily="18" charset="0"/>
              <a:ea typeface="黑体" pitchFamily="2" charset="-122"/>
              <a:cs typeface="Times New Roman" pitchFamily="18" charset="0"/>
            </a:endParaRPr>
          </a:p>
        </p:txBody>
      </p:sp>
      <p:sp>
        <p:nvSpPr>
          <p:cNvPr id="16" name="矩形 15"/>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7" name="矩形 16">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1" name="矩形 20">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2" name="文本框 60">
            <a:extLst>
              <a:ext uri="{FF2B5EF4-FFF2-40B4-BE49-F238E27FC236}">
                <a16:creationId xmlns:a16="http://schemas.microsoft.com/office/drawing/2014/main" xmlns="" id="{791D85D7-F412-9C48-9F2B-E33F5B7B4F3C}"/>
              </a:ext>
            </a:extLst>
          </p:cNvPr>
          <p:cNvSpPr txBox="1"/>
          <p:nvPr/>
        </p:nvSpPr>
        <p:spPr>
          <a:xfrm>
            <a:off x="1407719" y="329189"/>
            <a:ext cx="287618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衍射方法的光学</a:t>
            </a:r>
            <a:r>
              <a:rPr lang="zh-CN" altLang="en-US" sz="1800" b="1" dirty="0">
                <a:latin typeface="微软雅黑" panose="020B0503020204020204" pitchFamily="34" charset="-122"/>
                <a:ea typeface="微软雅黑" panose="020B0503020204020204" pitchFamily="34" charset="-122"/>
              </a:rPr>
              <a:t>信息变换</a:t>
            </a:r>
          </a:p>
        </p:txBody>
      </p:sp>
      <p:sp>
        <p:nvSpPr>
          <p:cNvPr id="23"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4"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577704"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8" name="Rectangle 3"/>
          <p:cNvSpPr>
            <a:spLocks noChangeArrowheads="1"/>
          </p:cNvSpPr>
          <p:nvPr/>
        </p:nvSpPr>
        <p:spPr bwMode="auto">
          <a:xfrm>
            <a:off x="2552268" y="1316348"/>
            <a:ext cx="8208962" cy="646331"/>
          </a:xfrm>
          <a:prstGeom prst="rect">
            <a:avLst/>
          </a:prstGeom>
          <a:noFill/>
          <a:ln w="9525" algn="ctr">
            <a:noFill/>
            <a:miter lim="800000"/>
            <a:headEnd/>
            <a:tailEnd/>
          </a:ln>
        </p:spPr>
        <p:txBody>
          <a:bodyPr anchor="ctr">
            <a:spAutoFit/>
          </a:bodyPr>
          <a:lstStyle/>
          <a:p>
            <a:pPr algn="ctr" defTabSz="914400" eaLnBrk="0" hangingPunct="0"/>
            <a:r>
              <a:rPr lang="en-US" altLang="zh-CN" sz="3600" b="1" dirty="0">
                <a:solidFill>
                  <a:srgbClr val="0000CC"/>
                </a:solidFill>
                <a:latin typeface="Times New Roman" pitchFamily="18" charset="0"/>
                <a:ea typeface="微软雅黑" pitchFamily="34" charset="-122"/>
              </a:rPr>
              <a:t>2</a:t>
            </a:r>
            <a:r>
              <a:rPr lang="en-US" altLang="zh-CN" sz="3600" b="1" dirty="0" smtClean="0">
                <a:solidFill>
                  <a:srgbClr val="0000CC"/>
                </a:solidFill>
                <a:latin typeface="Times New Roman" pitchFamily="18" charset="0"/>
                <a:ea typeface="微软雅黑" pitchFamily="34" charset="-122"/>
              </a:rPr>
              <a:t>. </a:t>
            </a:r>
            <a:r>
              <a:rPr lang="zh-CN" altLang="en-US" sz="3600" b="1" dirty="0" smtClean="0">
                <a:solidFill>
                  <a:srgbClr val="0000CC"/>
                </a:solidFill>
                <a:latin typeface="Times New Roman" pitchFamily="18" charset="0"/>
                <a:ea typeface="微软雅黑" pitchFamily="34" charset="-122"/>
              </a:rPr>
              <a:t>圆孔衍射</a:t>
            </a:r>
            <a:r>
              <a:rPr lang="zh-CN" altLang="en-US" sz="3600" b="1" dirty="0">
                <a:solidFill>
                  <a:srgbClr val="0000CC"/>
                </a:solidFill>
                <a:latin typeface="Times New Roman" pitchFamily="18" charset="0"/>
                <a:ea typeface="微软雅黑" pitchFamily="34" charset="-122"/>
              </a:rPr>
              <a:t>测量</a:t>
            </a:r>
          </a:p>
        </p:txBody>
      </p:sp>
      <p:sp>
        <p:nvSpPr>
          <p:cNvPr id="76809" name="Rectangle 4"/>
          <p:cNvSpPr>
            <a:spLocks noChangeArrowheads="1"/>
          </p:cNvSpPr>
          <p:nvPr/>
        </p:nvSpPr>
        <p:spPr bwMode="auto">
          <a:xfrm>
            <a:off x="98425" y="350520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76810" name="Object 7"/>
          <p:cNvGraphicFramePr>
            <a:graphicFrameLocks noChangeAspect="1"/>
          </p:cNvGraphicFramePr>
          <p:nvPr/>
        </p:nvGraphicFramePr>
        <p:xfrm>
          <a:off x="3133358" y="2500559"/>
          <a:ext cx="6869265" cy="4101523"/>
        </p:xfrm>
        <a:graphic>
          <a:graphicData uri="http://schemas.openxmlformats.org/presentationml/2006/ole">
            <p:oleObj spid="_x0000_s76810" name="Visio" r:id="rId3" imgW="3174840" imgH="1910160" progId="">
              <p:embed/>
            </p:oleObj>
          </a:graphicData>
        </a:graphic>
      </p:graphicFrame>
      <p:sp>
        <p:nvSpPr>
          <p:cNvPr id="12" name="矩形 11"/>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3" name="矩形 12">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7" name="矩形 16">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8" name="文本框 60">
            <a:extLst>
              <a:ext uri="{FF2B5EF4-FFF2-40B4-BE49-F238E27FC236}">
                <a16:creationId xmlns:a16="http://schemas.microsoft.com/office/drawing/2014/main" xmlns="" id="{791D85D7-F412-9C48-9F2B-E33F5B7B4F3C}"/>
              </a:ext>
            </a:extLst>
          </p:cNvPr>
          <p:cNvSpPr txBox="1"/>
          <p:nvPr/>
        </p:nvSpPr>
        <p:spPr>
          <a:xfrm>
            <a:off x="1407719" y="329189"/>
            <a:ext cx="2876183"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衍射方法的光学</a:t>
            </a:r>
            <a:r>
              <a:rPr lang="zh-CN" altLang="en-US" sz="1800" b="1" dirty="0">
                <a:latin typeface="微软雅黑" panose="020B0503020204020204" pitchFamily="34" charset="-122"/>
                <a:ea typeface="微软雅黑" panose="020B0503020204020204" pitchFamily="34" charset="-122"/>
              </a:rPr>
              <a:t>信息变换</a:t>
            </a:r>
          </a:p>
        </p:txBody>
      </p:sp>
      <p:sp>
        <p:nvSpPr>
          <p:cNvPr id="19"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8.2.2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0"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577704"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光电技术模板-2015-6-18">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Phoenix</Template>
  <TotalTime>831</TotalTime>
  <Words>1100</Words>
  <Application>Microsoft Office PowerPoint</Application>
  <PresentationFormat>自定义</PresentationFormat>
  <Paragraphs>180</Paragraphs>
  <Slides>22</Slides>
  <Notes>0</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22</vt:i4>
      </vt:variant>
    </vt:vector>
  </HeadingPairs>
  <TitlesOfParts>
    <vt:vector size="25" baseType="lpstr">
      <vt:lpstr>光电技术模板-2015-6-18</vt:lpstr>
      <vt:lpstr>公式</vt:lpstr>
      <vt:lpstr>Visio</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vector>
  </TitlesOfParts>
  <Company>微软中国</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yyp</cp:lastModifiedBy>
  <cp:revision>77</cp:revision>
  <dcterms:created xsi:type="dcterms:W3CDTF">2015-06-18T01:42:52Z</dcterms:created>
  <dcterms:modified xsi:type="dcterms:W3CDTF">2022-05-02T03:04:34Z</dcterms:modified>
</cp:coreProperties>
</file>