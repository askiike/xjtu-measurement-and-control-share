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66" r:id="rId1"/>
  </p:sldMasterIdLst>
  <p:notesMasterIdLst>
    <p:notesMasterId r:id="rId13"/>
  </p:notesMasterIdLst>
  <p:sldIdLst>
    <p:sldId id="373" r:id="rId2"/>
    <p:sldId id="377" r:id="rId3"/>
    <p:sldId id="376" r:id="rId4"/>
    <p:sldId id="378" r:id="rId5"/>
    <p:sldId id="263" r:id="rId6"/>
    <p:sldId id="266" r:id="rId7"/>
    <p:sldId id="304" r:id="rId8"/>
    <p:sldId id="313" r:id="rId9"/>
    <p:sldId id="305" r:id="rId10"/>
    <p:sldId id="307" r:id="rId11"/>
    <p:sldId id="306" r:id="rId12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FF0066"/>
    <a:srgbClr val="0000CC"/>
    <a:srgbClr val="0943E7"/>
    <a:srgbClr val="003300"/>
    <a:srgbClr val="CE5E40"/>
    <a:srgbClr val="FF6600"/>
    <a:srgbClr val="DE8A2E"/>
    <a:srgbClr val="D86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96" autoAdjust="0"/>
  </p:normalViewPr>
  <p:slideViewPr>
    <p:cSldViewPr>
      <p:cViewPr varScale="1">
        <p:scale>
          <a:sx n="139" d="100"/>
          <a:sy n="139" d="100"/>
        </p:scale>
        <p:origin x="2346" y="1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6C2BA9-36A7-4DD1-BE80-74549AB9F002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FA753D72-FFCD-4347-9B16-D71AB69DAE9E}">
      <dgm:prSet phldrT="[文本]" custT="1"/>
      <dgm:spPr/>
      <dgm:t>
        <a:bodyPr/>
        <a:lstStyle/>
        <a:p>
          <a:r>
            <a:rPr lang="zh-CN" altLang="en-US" sz="2400" b="1" dirty="0">
              <a:latin typeface="微软雅黑" pitchFamily="34" charset="-122"/>
              <a:ea typeface="微软雅黑" pitchFamily="34" charset="-122"/>
            </a:rPr>
            <a:t>热导</a:t>
          </a:r>
          <a:r>
            <a:rPr lang="en-US" altLang="zh-CN" sz="2400" b="1" dirty="0">
              <a:latin typeface="微软雅黑" pitchFamily="34" charset="-122"/>
              <a:ea typeface="微软雅黑" pitchFamily="34" charset="-122"/>
            </a:rPr>
            <a:t>G</a:t>
          </a:r>
          <a:endParaRPr lang="zh-CN" altLang="en-US" sz="2400" b="1" dirty="0">
            <a:latin typeface="微软雅黑" pitchFamily="34" charset="-122"/>
            <a:ea typeface="微软雅黑" pitchFamily="34" charset="-122"/>
          </a:endParaRPr>
        </a:p>
      </dgm:t>
    </dgm:pt>
    <dgm:pt modelId="{A5DE0ACB-F78B-4EC8-933A-3D980A970066}" type="parTrans" cxnId="{EC05D5AB-66B6-4F18-B5DB-07706DA057DC}">
      <dgm:prSet/>
      <dgm:spPr/>
      <dgm:t>
        <a:bodyPr/>
        <a:lstStyle/>
        <a:p>
          <a:endParaRPr lang="zh-CN" altLang="en-US" b="1">
            <a:latin typeface="微软雅黑" pitchFamily="34" charset="-122"/>
            <a:ea typeface="微软雅黑" pitchFamily="34" charset="-122"/>
          </a:endParaRPr>
        </a:p>
      </dgm:t>
    </dgm:pt>
    <dgm:pt modelId="{E57F1086-1258-4F13-B103-EDC0EB1BF9D4}" type="sibTrans" cxnId="{EC05D5AB-66B6-4F18-B5DB-07706DA057DC}">
      <dgm:prSet/>
      <dgm:spPr/>
      <dgm:t>
        <a:bodyPr/>
        <a:lstStyle/>
        <a:p>
          <a:endParaRPr lang="zh-CN" altLang="en-US" b="1">
            <a:latin typeface="微软雅黑" pitchFamily="34" charset="-122"/>
            <a:ea typeface="微软雅黑" pitchFamily="34" charset="-122"/>
          </a:endParaRPr>
        </a:p>
      </dgm:t>
    </dgm:pt>
    <dgm:pt modelId="{DBCA5721-D9F1-4A39-8DC4-DE5D98565597}">
      <dgm:prSet phldrT="[文本]" custT="1"/>
      <dgm:spPr/>
      <dgm:t>
        <a:bodyPr/>
        <a:lstStyle/>
        <a:p>
          <a:r>
            <a:rPr lang="zh-CN" altLang="en-US" sz="2000" b="1" dirty="0">
              <a:latin typeface="微软雅黑" pitchFamily="34" charset="-122"/>
              <a:ea typeface="微软雅黑" pitchFamily="34" charset="-122"/>
            </a:rPr>
            <a:t>热传导：细导线</a:t>
          </a:r>
        </a:p>
      </dgm:t>
    </dgm:pt>
    <dgm:pt modelId="{26836E34-942C-4FA8-AB3B-9F3C52777097}" type="parTrans" cxnId="{25EC665B-84F6-4C71-BB48-240CB043AF16}">
      <dgm:prSet/>
      <dgm:spPr/>
      <dgm:t>
        <a:bodyPr/>
        <a:lstStyle/>
        <a:p>
          <a:endParaRPr lang="zh-CN" altLang="en-US" b="1">
            <a:latin typeface="微软雅黑" pitchFamily="34" charset="-122"/>
            <a:ea typeface="微软雅黑" pitchFamily="34" charset="-122"/>
          </a:endParaRPr>
        </a:p>
      </dgm:t>
    </dgm:pt>
    <dgm:pt modelId="{CB26FFCB-81E4-46E8-84CF-3AB85D7FC9C2}" type="sibTrans" cxnId="{25EC665B-84F6-4C71-BB48-240CB043AF16}">
      <dgm:prSet/>
      <dgm:spPr/>
      <dgm:t>
        <a:bodyPr/>
        <a:lstStyle/>
        <a:p>
          <a:endParaRPr lang="zh-CN" altLang="en-US" b="1">
            <a:latin typeface="微软雅黑" pitchFamily="34" charset="-122"/>
            <a:ea typeface="微软雅黑" pitchFamily="34" charset="-122"/>
          </a:endParaRPr>
        </a:p>
      </dgm:t>
    </dgm:pt>
    <dgm:pt modelId="{630986A0-EEFA-4950-8044-AAA5DE565788}">
      <dgm:prSet phldrT="[文本]" custT="1"/>
      <dgm:spPr/>
      <dgm:t>
        <a:bodyPr/>
        <a:lstStyle/>
        <a:p>
          <a:pPr algn="l"/>
          <a:r>
            <a:rPr lang="zh-CN" altLang="en-US" sz="2000" b="1" dirty="0">
              <a:latin typeface="微软雅黑" pitchFamily="34" charset="-122"/>
              <a:ea typeface="微软雅黑" pitchFamily="34" charset="-122"/>
            </a:rPr>
            <a:t> 热对流：真空</a:t>
          </a:r>
        </a:p>
      </dgm:t>
    </dgm:pt>
    <dgm:pt modelId="{FC641F4C-52EB-4493-AD36-FCD7CEEF0405}" type="parTrans" cxnId="{6D5861E0-001A-4787-AEDE-00387E0D03B2}">
      <dgm:prSet/>
      <dgm:spPr/>
      <dgm:t>
        <a:bodyPr/>
        <a:lstStyle/>
        <a:p>
          <a:endParaRPr lang="zh-CN" altLang="en-US" b="1">
            <a:latin typeface="微软雅黑" pitchFamily="34" charset="-122"/>
            <a:ea typeface="微软雅黑" pitchFamily="34" charset="-122"/>
          </a:endParaRPr>
        </a:p>
      </dgm:t>
    </dgm:pt>
    <dgm:pt modelId="{921CB636-618C-4E6D-9A96-54F185424CB2}" type="sibTrans" cxnId="{6D5861E0-001A-4787-AEDE-00387E0D03B2}">
      <dgm:prSet/>
      <dgm:spPr/>
      <dgm:t>
        <a:bodyPr/>
        <a:lstStyle/>
        <a:p>
          <a:endParaRPr lang="zh-CN" altLang="en-US" b="1">
            <a:latin typeface="微软雅黑" pitchFamily="34" charset="-122"/>
            <a:ea typeface="微软雅黑" pitchFamily="34" charset="-122"/>
          </a:endParaRPr>
        </a:p>
      </dgm:t>
    </dgm:pt>
    <dgm:pt modelId="{1C75D9E4-A928-4FA4-8714-FF43FCE9B5A9}">
      <dgm:prSet phldrT="[文本]" custT="1"/>
      <dgm:spPr/>
      <dgm:t>
        <a:bodyPr/>
        <a:lstStyle/>
        <a:p>
          <a:r>
            <a:rPr lang="zh-CN" altLang="en-US" sz="2000" b="1" dirty="0">
              <a:latin typeface="微软雅黑" pitchFamily="34" charset="-122"/>
              <a:ea typeface="微软雅黑" pitchFamily="34" charset="-122"/>
            </a:rPr>
            <a:t>热辐射（</a:t>
          </a:r>
          <a:r>
            <a:rPr lang="zh-CN" altLang="en-US" sz="1600" b="1" dirty="0">
              <a:latin typeface="微软雅黑" pitchFamily="34" charset="-122"/>
              <a:ea typeface="微软雅黑" pitchFamily="34" charset="-122"/>
            </a:rPr>
            <a:t>悬挂、真空封装</a:t>
          </a:r>
          <a:r>
            <a:rPr lang="zh-CN" altLang="en-US" sz="2000" b="1" dirty="0">
              <a:latin typeface="微软雅黑" pitchFamily="34" charset="-122"/>
              <a:ea typeface="微软雅黑" pitchFamily="34" charset="-122"/>
            </a:rPr>
            <a:t>）</a:t>
          </a:r>
        </a:p>
      </dgm:t>
    </dgm:pt>
    <dgm:pt modelId="{3681DEC4-AE29-4B59-9DA9-E3C48A9556A1}" type="parTrans" cxnId="{BE6AADBF-F3C0-4DC3-A281-8843D51DC1C0}">
      <dgm:prSet/>
      <dgm:spPr/>
      <dgm:t>
        <a:bodyPr/>
        <a:lstStyle/>
        <a:p>
          <a:endParaRPr lang="zh-CN" altLang="en-US" b="1">
            <a:latin typeface="微软雅黑" pitchFamily="34" charset="-122"/>
            <a:ea typeface="微软雅黑" pitchFamily="34" charset="-122"/>
          </a:endParaRPr>
        </a:p>
      </dgm:t>
    </dgm:pt>
    <dgm:pt modelId="{076861ED-902E-4939-81D5-8CF3ED9B4E6B}" type="sibTrans" cxnId="{BE6AADBF-F3C0-4DC3-A281-8843D51DC1C0}">
      <dgm:prSet/>
      <dgm:spPr/>
      <dgm:t>
        <a:bodyPr/>
        <a:lstStyle/>
        <a:p>
          <a:endParaRPr lang="zh-CN" altLang="en-US" b="1">
            <a:latin typeface="微软雅黑" pitchFamily="34" charset="-122"/>
            <a:ea typeface="微软雅黑" pitchFamily="34" charset="-122"/>
          </a:endParaRPr>
        </a:p>
      </dgm:t>
    </dgm:pt>
    <dgm:pt modelId="{B9C33D66-614F-48B2-AF64-57DC54877310}" type="pres">
      <dgm:prSet presAssocID="{136C2BA9-36A7-4DD1-BE80-74549AB9F00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1FE89CD-DEAF-4C3B-A8C2-45E28B7046AB}" type="pres">
      <dgm:prSet presAssocID="{FA753D72-FFCD-4347-9B16-D71AB69DAE9E}" presName="root1" presStyleCnt="0"/>
      <dgm:spPr/>
    </dgm:pt>
    <dgm:pt modelId="{DA140575-F3DE-4178-B93A-64E3C2E25F39}" type="pres">
      <dgm:prSet presAssocID="{FA753D72-FFCD-4347-9B16-D71AB69DAE9E}" presName="LevelOneTextNode" presStyleLbl="node0" presStyleIdx="0" presStyleCnt="1" custAng="5400000" custScaleX="114489" custScaleY="46090" custLinFactNeighborX="-70186" custLinFactNeighborY="9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68A75A8-9879-471E-B164-00FB6357D718}" type="pres">
      <dgm:prSet presAssocID="{FA753D72-FFCD-4347-9B16-D71AB69DAE9E}" presName="level2hierChild" presStyleCnt="0"/>
      <dgm:spPr/>
    </dgm:pt>
    <dgm:pt modelId="{DF877266-A3A9-4F4A-8985-DA302E40A56F}" type="pres">
      <dgm:prSet presAssocID="{26836E34-942C-4FA8-AB3B-9F3C52777097}" presName="conn2-1" presStyleLbl="parChTrans1D2" presStyleIdx="0" presStyleCnt="3"/>
      <dgm:spPr/>
      <dgm:t>
        <a:bodyPr/>
        <a:lstStyle/>
        <a:p>
          <a:endParaRPr lang="zh-CN" altLang="en-US"/>
        </a:p>
      </dgm:t>
    </dgm:pt>
    <dgm:pt modelId="{2C04C44D-4CE7-4099-BA1F-0DA4E8EB3108}" type="pres">
      <dgm:prSet presAssocID="{26836E34-942C-4FA8-AB3B-9F3C52777097}" presName="connTx" presStyleLbl="parChTrans1D2" presStyleIdx="0" presStyleCnt="3"/>
      <dgm:spPr/>
      <dgm:t>
        <a:bodyPr/>
        <a:lstStyle/>
        <a:p>
          <a:endParaRPr lang="zh-CN" altLang="en-US"/>
        </a:p>
      </dgm:t>
    </dgm:pt>
    <dgm:pt modelId="{55074038-457F-458D-8B8E-CC2F1F4D4707}" type="pres">
      <dgm:prSet presAssocID="{DBCA5721-D9F1-4A39-8DC4-DE5D98565597}" presName="root2" presStyleCnt="0"/>
      <dgm:spPr/>
    </dgm:pt>
    <dgm:pt modelId="{598B64FE-4C39-4FBB-82E6-C86CAAD1062E}" type="pres">
      <dgm:prSet presAssocID="{DBCA5721-D9F1-4A39-8DC4-DE5D98565597}" presName="LevelTwoTextNode" presStyleLbl="node2" presStyleIdx="0" presStyleCnt="3" custScaleX="152098" custLinFactNeighborX="2003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287375C-AA76-45BB-9C8F-3EC1E1AC74CA}" type="pres">
      <dgm:prSet presAssocID="{DBCA5721-D9F1-4A39-8DC4-DE5D98565597}" presName="level3hierChild" presStyleCnt="0"/>
      <dgm:spPr/>
    </dgm:pt>
    <dgm:pt modelId="{685415F9-104D-4BEF-A79B-E02705707C2A}" type="pres">
      <dgm:prSet presAssocID="{FC641F4C-52EB-4493-AD36-FCD7CEEF0405}" presName="conn2-1" presStyleLbl="parChTrans1D2" presStyleIdx="1" presStyleCnt="3"/>
      <dgm:spPr/>
      <dgm:t>
        <a:bodyPr/>
        <a:lstStyle/>
        <a:p>
          <a:endParaRPr lang="zh-CN" altLang="en-US"/>
        </a:p>
      </dgm:t>
    </dgm:pt>
    <dgm:pt modelId="{0CF121C7-0924-45E4-9F8A-55C63E88560E}" type="pres">
      <dgm:prSet presAssocID="{FC641F4C-52EB-4493-AD36-FCD7CEEF0405}" presName="connTx" presStyleLbl="parChTrans1D2" presStyleIdx="1" presStyleCnt="3"/>
      <dgm:spPr/>
      <dgm:t>
        <a:bodyPr/>
        <a:lstStyle/>
        <a:p>
          <a:endParaRPr lang="zh-CN" altLang="en-US"/>
        </a:p>
      </dgm:t>
    </dgm:pt>
    <dgm:pt modelId="{67D510BE-55AC-4F82-B79E-07D179940AA9}" type="pres">
      <dgm:prSet presAssocID="{630986A0-EEFA-4950-8044-AAA5DE565788}" presName="root2" presStyleCnt="0"/>
      <dgm:spPr/>
    </dgm:pt>
    <dgm:pt modelId="{CBBE6864-A4A8-411E-ACC7-2667218D6DD2}" type="pres">
      <dgm:prSet presAssocID="{630986A0-EEFA-4950-8044-AAA5DE565788}" presName="LevelTwoTextNode" presStyleLbl="node2" presStyleIdx="1" presStyleCnt="3" custScaleX="152098" custLinFactNeighborX="18179" custLinFactNeighborY="377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993BF93-2F1B-4837-BC89-E9A7D08F43FE}" type="pres">
      <dgm:prSet presAssocID="{630986A0-EEFA-4950-8044-AAA5DE565788}" presName="level3hierChild" presStyleCnt="0"/>
      <dgm:spPr/>
    </dgm:pt>
    <dgm:pt modelId="{EBB31DE6-F1E2-4968-87CC-0BD2BB609D25}" type="pres">
      <dgm:prSet presAssocID="{3681DEC4-AE29-4B59-9DA9-E3C48A9556A1}" presName="conn2-1" presStyleLbl="parChTrans1D2" presStyleIdx="2" presStyleCnt="3"/>
      <dgm:spPr/>
      <dgm:t>
        <a:bodyPr/>
        <a:lstStyle/>
        <a:p>
          <a:endParaRPr lang="zh-CN" altLang="en-US"/>
        </a:p>
      </dgm:t>
    </dgm:pt>
    <dgm:pt modelId="{DF2E9278-925E-4835-86C4-E760DFF30827}" type="pres">
      <dgm:prSet presAssocID="{3681DEC4-AE29-4B59-9DA9-E3C48A9556A1}" presName="connTx" presStyleLbl="parChTrans1D2" presStyleIdx="2" presStyleCnt="3"/>
      <dgm:spPr/>
      <dgm:t>
        <a:bodyPr/>
        <a:lstStyle/>
        <a:p>
          <a:endParaRPr lang="zh-CN" altLang="en-US"/>
        </a:p>
      </dgm:t>
    </dgm:pt>
    <dgm:pt modelId="{141098F9-827B-4FCF-AFB2-43530DE40D7C}" type="pres">
      <dgm:prSet presAssocID="{1C75D9E4-A928-4FA4-8714-FF43FCE9B5A9}" presName="root2" presStyleCnt="0"/>
      <dgm:spPr/>
    </dgm:pt>
    <dgm:pt modelId="{90DAA554-3E9A-4900-B699-6B91333B175A}" type="pres">
      <dgm:prSet presAssocID="{1C75D9E4-A928-4FA4-8714-FF43FCE9B5A9}" presName="LevelTwoTextNode" presStyleLbl="node2" presStyleIdx="2" presStyleCnt="3" custScaleX="223974" custLinFactNeighborX="18179" custLinFactNeighborY="1444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F1D70AD-E5C8-4E2C-8AA0-D3D9C0FEFBBE}" type="pres">
      <dgm:prSet presAssocID="{1C75D9E4-A928-4FA4-8714-FF43FCE9B5A9}" presName="level3hierChild" presStyleCnt="0"/>
      <dgm:spPr/>
    </dgm:pt>
  </dgm:ptLst>
  <dgm:cxnLst>
    <dgm:cxn modelId="{6F6EF34B-321E-4ABD-A575-F3527A79AD8C}" type="presOf" srcId="{630986A0-EEFA-4950-8044-AAA5DE565788}" destId="{CBBE6864-A4A8-411E-ACC7-2667218D6DD2}" srcOrd="0" destOrd="0" presId="urn:microsoft.com/office/officeart/2008/layout/HorizontalMultiLevelHierarchy"/>
    <dgm:cxn modelId="{78E918CE-3FDB-4959-B43C-CAB32DC6FA76}" type="presOf" srcId="{FC641F4C-52EB-4493-AD36-FCD7CEEF0405}" destId="{0CF121C7-0924-45E4-9F8A-55C63E88560E}" srcOrd="1" destOrd="0" presId="urn:microsoft.com/office/officeart/2008/layout/HorizontalMultiLevelHierarchy"/>
    <dgm:cxn modelId="{0C436244-FD7B-4C8E-9C93-C51292AD58B8}" type="presOf" srcId="{136C2BA9-36A7-4DD1-BE80-74549AB9F002}" destId="{B9C33D66-614F-48B2-AF64-57DC54877310}" srcOrd="0" destOrd="0" presId="urn:microsoft.com/office/officeart/2008/layout/HorizontalMultiLevelHierarchy"/>
    <dgm:cxn modelId="{43AFA2D2-8C7A-41D0-B63B-38F9F66001FA}" type="presOf" srcId="{3681DEC4-AE29-4B59-9DA9-E3C48A9556A1}" destId="{DF2E9278-925E-4835-86C4-E760DFF30827}" srcOrd="1" destOrd="0" presId="urn:microsoft.com/office/officeart/2008/layout/HorizontalMultiLevelHierarchy"/>
    <dgm:cxn modelId="{C2BAA6A1-1B05-413B-A9C3-F0F34F509124}" type="presOf" srcId="{26836E34-942C-4FA8-AB3B-9F3C52777097}" destId="{DF877266-A3A9-4F4A-8985-DA302E40A56F}" srcOrd="0" destOrd="0" presId="urn:microsoft.com/office/officeart/2008/layout/HorizontalMultiLevelHierarchy"/>
    <dgm:cxn modelId="{34AC1BE2-E3E6-4F52-BBC5-0BC13705F77E}" type="presOf" srcId="{3681DEC4-AE29-4B59-9DA9-E3C48A9556A1}" destId="{EBB31DE6-F1E2-4968-87CC-0BD2BB609D25}" srcOrd="0" destOrd="0" presId="urn:microsoft.com/office/officeart/2008/layout/HorizontalMultiLevelHierarchy"/>
    <dgm:cxn modelId="{25EC665B-84F6-4C71-BB48-240CB043AF16}" srcId="{FA753D72-FFCD-4347-9B16-D71AB69DAE9E}" destId="{DBCA5721-D9F1-4A39-8DC4-DE5D98565597}" srcOrd="0" destOrd="0" parTransId="{26836E34-942C-4FA8-AB3B-9F3C52777097}" sibTransId="{CB26FFCB-81E4-46E8-84CF-3AB85D7FC9C2}"/>
    <dgm:cxn modelId="{52C66B36-4E02-4670-991F-E4D7D9623AB3}" type="presOf" srcId="{1C75D9E4-A928-4FA4-8714-FF43FCE9B5A9}" destId="{90DAA554-3E9A-4900-B699-6B91333B175A}" srcOrd="0" destOrd="0" presId="urn:microsoft.com/office/officeart/2008/layout/HorizontalMultiLevelHierarchy"/>
    <dgm:cxn modelId="{8DAE1268-C156-49B7-9ACB-22F10ED20872}" type="presOf" srcId="{26836E34-942C-4FA8-AB3B-9F3C52777097}" destId="{2C04C44D-4CE7-4099-BA1F-0DA4E8EB3108}" srcOrd="1" destOrd="0" presId="urn:microsoft.com/office/officeart/2008/layout/HorizontalMultiLevelHierarchy"/>
    <dgm:cxn modelId="{8B566D6C-62EE-49DB-A4D6-C952F3D24E9B}" type="presOf" srcId="{FA753D72-FFCD-4347-9B16-D71AB69DAE9E}" destId="{DA140575-F3DE-4178-B93A-64E3C2E25F39}" srcOrd="0" destOrd="0" presId="urn:microsoft.com/office/officeart/2008/layout/HorizontalMultiLevelHierarchy"/>
    <dgm:cxn modelId="{6D5861E0-001A-4787-AEDE-00387E0D03B2}" srcId="{FA753D72-FFCD-4347-9B16-D71AB69DAE9E}" destId="{630986A0-EEFA-4950-8044-AAA5DE565788}" srcOrd="1" destOrd="0" parTransId="{FC641F4C-52EB-4493-AD36-FCD7CEEF0405}" sibTransId="{921CB636-618C-4E6D-9A96-54F185424CB2}"/>
    <dgm:cxn modelId="{EC05D5AB-66B6-4F18-B5DB-07706DA057DC}" srcId="{136C2BA9-36A7-4DD1-BE80-74549AB9F002}" destId="{FA753D72-FFCD-4347-9B16-D71AB69DAE9E}" srcOrd="0" destOrd="0" parTransId="{A5DE0ACB-F78B-4EC8-933A-3D980A970066}" sibTransId="{E57F1086-1258-4F13-B103-EDC0EB1BF9D4}"/>
    <dgm:cxn modelId="{9BE3BA86-35AA-47FD-BDFF-38338E82F4E8}" type="presOf" srcId="{FC641F4C-52EB-4493-AD36-FCD7CEEF0405}" destId="{685415F9-104D-4BEF-A79B-E02705707C2A}" srcOrd="0" destOrd="0" presId="urn:microsoft.com/office/officeart/2008/layout/HorizontalMultiLevelHierarchy"/>
    <dgm:cxn modelId="{C3DF0C26-3AFC-4AEE-8315-8787EDD3B5CF}" type="presOf" srcId="{DBCA5721-D9F1-4A39-8DC4-DE5D98565597}" destId="{598B64FE-4C39-4FBB-82E6-C86CAAD1062E}" srcOrd="0" destOrd="0" presId="urn:microsoft.com/office/officeart/2008/layout/HorizontalMultiLevelHierarchy"/>
    <dgm:cxn modelId="{BE6AADBF-F3C0-4DC3-A281-8843D51DC1C0}" srcId="{FA753D72-FFCD-4347-9B16-D71AB69DAE9E}" destId="{1C75D9E4-A928-4FA4-8714-FF43FCE9B5A9}" srcOrd="2" destOrd="0" parTransId="{3681DEC4-AE29-4B59-9DA9-E3C48A9556A1}" sibTransId="{076861ED-902E-4939-81D5-8CF3ED9B4E6B}"/>
    <dgm:cxn modelId="{53A5AB9A-E001-49E0-A230-2463471CDFE0}" type="presParOf" srcId="{B9C33D66-614F-48B2-AF64-57DC54877310}" destId="{81FE89CD-DEAF-4C3B-A8C2-45E28B7046AB}" srcOrd="0" destOrd="0" presId="urn:microsoft.com/office/officeart/2008/layout/HorizontalMultiLevelHierarchy"/>
    <dgm:cxn modelId="{04A8D8FE-1D92-4A32-BA15-9BEE18E85607}" type="presParOf" srcId="{81FE89CD-DEAF-4C3B-A8C2-45E28B7046AB}" destId="{DA140575-F3DE-4178-B93A-64E3C2E25F39}" srcOrd="0" destOrd="0" presId="urn:microsoft.com/office/officeart/2008/layout/HorizontalMultiLevelHierarchy"/>
    <dgm:cxn modelId="{61CE134E-D00D-4B14-9A1D-685B7A7A0F4F}" type="presParOf" srcId="{81FE89CD-DEAF-4C3B-A8C2-45E28B7046AB}" destId="{568A75A8-9879-471E-B164-00FB6357D718}" srcOrd="1" destOrd="0" presId="urn:microsoft.com/office/officeart/2008/layout/HorizontalMultiLevelHierarchy"/>
    <dgm:cxn modelId="{75902C08-97AB-470F-B2E2-A58A2CE49C5C}" type="presParOf" srcId="{568A75A8-9879-471E-B164-00FB6357D718}" destId="{DF877266-A3A9-4F4A-8985-DA302E40A56F}" srcOrd="0" destOrd="0" presId="urn:microsoft.com/office/officeart/2008/layout/HorizontalMultiLevelHierarchy"/>
    <dgm:cxn modelId="{3EB4E4B6-B915-456B-9D01-04D9924A50DA}" type="presParOf" srcId="{DF877266-A3A9-4F4A-8985-DA302E40A56F}" destId="{2C04C44D-4CE7-4099-BA1F-0DA4E8EB3108}" srcOrd="0" destOrd="0" presId="urn:microsoft.com/office/officeart/2008/layout/HorizontalMultiLevelHierarchy"/>
    <dgm:cxn modelId="{20EDF39D-6196-43DE-9012-742C9D9CB673}" type="presParOf" srcId="{568A75A8-9879-471E-B164-00FB6357D718}" destId="{55074038-457F-458D-8B8E-CC2F1F4D4707}" srcOrd="1" destOrd="0" presId="urn:microsoft.com/office/officeart/2008/layout/HorizontalMultiLevelHierarchy"/>
    <dgm:cxn modelId="{B7C800C7-F33F-4956-ACFC-12385533C357}" type="presParOf" srcId="{55074038-457F-458D-8B8E-CC2F1F4D4707}" destId="{598B64FE-4C39-4FBB-82E6-C86CAAD1062E}" srcOrd="0" destOrd="0" presId="urn:microsoft.com/office/officeart/2008/layout/HorizontalMultiLevelHierarchy"/>
    <dgm:cxn modelId="{10501DFA-4C49-430B-A825-CC0DFADCE04F}" type="presParOf" srcId="{55074038-457F-458D-8B8E-CC2F1F4D4707}" destId="{9287375C-AA76-45BB-9C8F-3EC1E1AC74CA}" srcOrd="1" destOrd="0" presId="urn:microsoft.com/office/officeart/2008/layout/HorizontalMultiLevelHierarchy"/>
    <dgm:cxn modelId="{F97024F7-51DB-4B61-B262-1EE030F084BF}" type="presParOf" srcId="{568A75A8-9879-471E-B164-00FB6357D718}" destId="{685415F9-104D-4BEF-A79B-E02705707C2A}" srcOrd="2" destOrd="0" presId="urn:microsoft.com/office/officeart/2008/layout/HorizontalMultiLevelHierarchy"/>
    <dgm:cxn modelId="{60D0412C-71A1-48C8-98BE-B18710818159}" type="presParOf" srcId="{685415F9-104D-4BEF-A79B-E02705707C2A}" destId="{0CF121C7-0924-45E4-9F8A-55C63E88560E}" srcOrd="0" destOrd="0" presId="urn:microsoft.com/office/officeart/2008/layout/HorizontalMultiLevelHierarchy"/>
    <dgm:cxn modelId="{96A75262-3C51-4994-97B4-739FBFAAE91E}" type="presParOf" srcId="{568A75A8-9879-471E-B164-00FB6357D718}" destId="{67D510BE-55AC-4F82-B79E-07D179940AA9}" srcOrd="3" destOrd="0" presId="urn:microsoft.com/office/officeart/2008/layout/HorizontalMultiLevelHierarchy"/>
    <dgm:cxn modelId="{7F16258D-F176-4C1E-9DE5-25524E9B0A93}" type="presParOf" srcId="{67D510BE-55AC-4F82-B79E-07D179940AA9}" destId="{CBBE6864-A4A8-411E-ACC7-2667218D6DD2}" srcOrd="0" destOrd="0" presId="urn:microsoft.com/office/officeart/2008/layout/HorizontalMultiLevelHierarchy"/>
    <dgm:cxn modelId="{E8579F55-36E7-44C8-9408-681C9AC52EEF}" type="presParOf" srcId="{67D510BE-55AC-4F82-B79E-07D179940AA9}" destId="{0993BF93-2F1B-4837-BC89-E9A7D08F43FE}" srcOrd="1" destOrd="0" presId="urn:microsoft.com/office/officeart/2008/layout/HorizontalMultiLevelHierarchy"/>
    <dgm:cxn modelId="{83E004A5-429B-4CE7-B480-FAA364F76CA3}" type="presParOf" srcId="{568A75A8-9879-471E-B164-00FB6357D718}" destId="{EBB31DE6-F1E2-4968-87CC-0BD2BB609D25}" srcOrd="4" destOrd="0" presId="urn:microsoft.com/office/officeart/2008/layout/HorizontalMultiLevelHierarchy"/>
    <dgm:cxn modelId="{FE49F0B0-4029-4169-8C2B-53DA92823564}" type="presParOf" srcId="{EBB31DE6-F1E2-4968-87CC-0BD2BB609D25}" destId="{DF2E9278-925E-4835-86C4-E760DFF30827}" srcOrd="0" destOrd="0" presId="urn:microsoft.com/office/officeart/2008/layout/HorizontalMultiLevelHierarchy"/>
    <dgm:cxn modelId="{951CC38F-D2A9-4D96-BD48-995D068A984E}" type="presParOf" srcId="{568A75A8-9879-471E-B164-00FB6357D718}" destId="{141098F9-827B-4FCF-AFB2-43530DE40D7C}" srcOrd="5" destOrd="0" presId="urn:microsoft.com/office/officeart/2008/layout/HorizontalMultiLevelHierarchy"/>
    <dgm:cxn modelId="{F0B90FF9-7949-485B-8C2E-11A15B3FAA9D}" type="presParOf" srcId="{141098F9-827B-4FCF-AFB2-43530DE40D7C}" destId="{90DAA554-3E9A-4900-B699-6B91333B175A}" srcOrd="0" destOrd="0" presId="urn:microsoft.com/office/officeart/2008/layout/HorizontalMultiLevelHierarchy"/>
    <dgm:cxn modelId="{D611A6C0-6B1A-4FF8-8A07-7FDDC8B1707E}" type="presParOf" srcId="{141098F9-827B-4FCF-AFB2-43530DE40D7C}" destId="{EF1D70AD-E5C8-4E2C-8AA0-D3D9C0FEFBBE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31DE6-F1E2-4968-87CC-0BD2BB609D25}">
      <dsp:nvSpPr>
        <dsp:cNvPr id="0" name=""/>
        <dsp:cNvSpPr/>
      </dsp:nvSpPr>
      <dsp:spPr>
        <a:xfrm>
          <a:off x="708704" y="1048548"/>
          <a:ext cx="695586" cy="551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47793" y="0"/>
              </a:lnTo>
              <a:lnTo>
                <a:pt x="347793" y="551661"/>
              </a:lnTo>
              <a:lnTo>
                <a:pt x="695586" y="55166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b="1" kern="1200">
            <a:latin typeface="微软雅黑" pitchFamily="34" charset="-122"/>
            <a:ea typeface="微软雅黑" pitchFamily="34" charset="-122"/>
          </a:endParaRPr>
        </a:p>
      </dsp:txBody>
      <dsp:txXfrm>
        <a:off x="1034302" y="1302184"/>
        <a:ext cx="44389" cy="44389"/>
      </dsp:txXfrm>
    </dsp:sp>
    <dsp:sp modelId="{685415F9-104D-4BEF-A79B-E02705707C2A}">
      <dsp:nvSpPr>
        <dsp:cNvPr id="0" name=""/>
        <dsp:cNvSpPr/>
      </dsp:nvSpPr>
      <dsp:spPr>
        <a:xfrm>
          <a:off x="708704" y="1002828"/>
          <a:ext cx="69558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7793" y="45720"/>
              </a:lnTo>
              <a:lnTo>
                <a:pt x="347793" y="58832"/>
              </a:lnTo>
              <a:lnTo>
                <a:pt x="695586" y="58832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b="1" kern="1200">
            <a:latin typeface="微软雅黑" pitchFamily="34" charset="-122"/>
            <a:ea typeface="微软雅黑" pitchFamily="34" charset="-122"/>
          </a:endParaRPr>
        </a:p>
      </dsp:txBody>
      <dsp:txXfrm>
        <a:off x="1039104" y="1031156"/>
        <a:ext cx="34785" cy="34785"/>
      </dsp:txXfrm>
    </dsp:sp>
    <dsp:sp modelId="{DF877266-A3A9-4F4A-8985-DA302E40A56F}">
      <dsp:nvSpPr>
        <dsp:cNvPr id="0" name=""/>
        <dsp:cNvSpPr/>
      </dsp:nvSpPr>
      <dsp:spPr>
        <a:xfrm>
          <a:off x="708704" y="550471"/>
          <a:ext cx="719686" cy="498077"/>
        </a:xfrm>
        <a:custGeom>
          <a:avLst/>
          <a:gdLst/>
          <a:ahLst/>
          <a:cxnLst/>
          <a:rect l="0" t="0" r="0" b="0"/>
          <a:pathLst>
            <a:path>
              <a:moveTo>
                <a:pt x="0" y="498077"/>
              </a:moveTo>
              <a:lnTo>
                <a:pt x="359843" y="498077"/>
              </a:lnTo>
              <a:lnTo>
                <a:pt x="359843" y="0"/>
              </a:lnTo>
              <a:lnTo>
                <a:pt x="719686" y="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b="1" kern="1200">
            <a:latin typeface="微软雅黑" pitchFamily="34" charset="-122"/>
            <a:ea typeface="微软雅黑" pitchFamily="34" charset="-122"/>
          </a:endParaRPr>
        </a:p>
      </dsp:txBody>
      <dsp:txXfrm>
        <a:off x="1046666" y="777629"/>
        <a:ext cx="43761" cy="43761"/>
      </dsp:txXfrm>
    </dsp:sp>
    <dsp:sp modelId="{DA140575-F3DE-4178-B93A-64E3C2E25F39}">
      <dsp:nvSpPr>
        <dsp:cNvPr id="0" name=""/>
        <dsp:cNvSpPr/>
      </dsp:nvSpPr>
      <dsp:spPr>
        <a:xfrm>
          <a:off x="0" y="821312"/>
          <a:ext cx="962935" cy="45447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>
              <a:latin typeface="微软雅黑" pitchFamily="34" charset="-122"/>
              <a:ea typeface="微软雅黑" pitchFamily="34" charset="-122"/>
            </a:rPr>
            <a:t>热导</a:t>
          </a:r>
          <a:r>
            <a:rPr lang="en-US" altLang="zh-CN" sz="2400" b="1" kern="1200" dirty="0">
              <a:latin typeface="微软雅黑" pitchFamily="34" charset="-122"/>
              <a:ea typeface="微软雅黑" pitchFamily="34" charset="-122"/>
            </a:rPr>
            <a:t>G</a:t>
          </a:r>
          <a:endParaRPr lang="zh-CN" altLang="en-US" sz="2400" b="1" kern="1200" dirty="0">
            <a:latin typeface="微软雅黑" pitchFamily="34" charset="-122"/>
            <a:ea typeface="微软雅黑" pitchFamily="34" charset="-122"/>
          </a:endParaRPr>
        </a:p>
      </dsp:txBody>
      <dsp:txXfrm>
        <a:off x="0" y="821312"/>
        <a:ext cx="962935" cy="454472"/>
      </dsp:txXfrm>
    </dsp:sp>
    <dsp:sp modelId="{598B64FE-4C39-4FBB-82E6-C86CAAD1062E}">
      <dsp:nvSpPr>
        <dsp:cNvPr id="0" name=""/>
        <dsp:cNvSpPr/>
      </dsp:nvSpPr>
      <dsp:spPr>
        <a:xfrm>
          <a:off x="1428391" y="351992"/>
          <a:ext cx="1980347" cy="3969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latin typeface="微软雅黑" pitchFamily="34" charset="-122"/>
              <a:ea typeface="微软雅黑" pitchFamily="34" charset="-122"/>
            </a:rPr>
            <a:t>热传导：细导线</a:t>
          </a:r>
        </a:p>
      </dsp:txBody>
      <dsp:txXfrm>
        <a:off x="1428391" y="351992"/>
        <a:ext cx="1980347" cy="396957"/>
      </dsp:txXfrm>
    </dsp:sp>
    <dsp:sp modelId="{CBBE6864-A4A8-411E-ACC7-2667218D6DD2}">
      <dsp:nvSpPr>
        <dsp:cNvPr id="0" name=""/>
        <dsp:cNvSpPr/>
      </dsp:nvSpPr>
      <dsp:spPr>
        <a:xfrm>
          <a:off x="1404290" y="863182"/>
          <a:ext cx="1980347" cy="3969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latin typeface="微软雅黑" pitchFamily="34" charset="-122"/>
              <a:ea typeface="微软雅黑" pitchFamily="34" charset="-122"/>
            </a:rPr>
            <a:t> 热对流：真空</a:t>
          </a:r>
        </a:p>
      </dsp:txBody>
      <dsp:txXfrm>
        <a:off x="1404290" y="863182"/>
        <a:ext cx="1980347" cy="396957"/>
      </dsp:txXfrm>
    </dsp:sp>
    <dsp:sp modelId="{90DAA554-3E9A-4900-B699-6B91333B175A}">
      <dsp:nvSpPr>
        <dsp:cNvPr id="0" name=""/>
        <dsp:cNvSpPr/>
      </dsp:nvSpPr>
      <dsp:spPr>
        <a:xfrm>
          <a:off x="1404290" y="1401731"/>
          <a:ext cx="2916188" cy="39695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>
              <a:latin typeface="微软雅黑" pitchFamily="34" charset="-122"/>
              <a:ea typeface="微软雅黑" pitchFamily="34" charset="-122"/>
            </a:rPr>
            <a:t>热辐射（</a:t>
          </a:r>
          <a:r>
            <a:rPr lang="zh-CN" altLang="en-US" sz="1600" b="1" kern="1200" dirty="0">
              <a:latin typeface="微软雅黑" pitchFamily="34" charset="-122"/>
              <a:ea typeface="微软雅黑" pitchFamily="34" charset="-122"/>
            </a:rPr>
            <a:t>悬挂、真空封装</a:t>
          </a:r>
          <a:r>
            <a:rPr lang="zh-CN" altLang="en-US" sz="2000" b="1" kern="1200" dirty="0">
              <a:latin typeface="微软雅黑" pitchFamily="34" charset="-122"/>
              <a:ea typeface="微软雅黑" pitchFamily="34" charset="-122"/>
            </a:rPr>
            <a:t>）</a:t>
          </a:r>
        </a:p>
      </dsp:txBody>
      <dsp:txXfrm>
        <a:off x="1404290" y="1401731"/>
        <a:ext cx="2916188" cy="396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EF512620-61A5-4459-B00B-DCD299B95685}" type="datetimeFigureOut">
              <a:rPr lang="zh-CN" altLang="en-US"/>
              <a:pPr>
                <a:defRPr/>
              </a:pPr>
              <a:t>2022/10/22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3232360-B63E-4179-BE63-94031870E83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7561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232360-B63E-4179-BE63-94031870E83D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119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30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187513"/>
      </p:ext>
    </p:extLst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1" y="841772"/>
            <a:ext cx="6858000" cy="1790700"/>
          </a:xfrm>
        </p:spPr>
        <p:txBody>
          <a:bodyPr anchor="b"/>
          <a:lstStyle>
            <a:lvl1pPr algn="ctr">
              <a:defRPr sz="4533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1" y="2701529"/>
            <a:ext cx="6858000" cy="124182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66" indent="0" algn="ctr">
              <a:buNone/>
              <a:defRPr sz="1533"/>
            </a:lvl2pPr>
            <a:lvl3pPr marL="685731" indent="0" algn="ctr">
              <a:buNone/>
              <a:defRPr sz="1333"/>
            </a:lvl3pPr>
            <a:lvl4pPr marL="1028597" indent="0" algn="ctr">
              <a:buNone/>
              <a:defRPr sz="1200"/>
            </a:lvl4pPr>
            <a:lvl5pPr marL="1371463" indent="0" algn="ctr">
              <a:buNone/>
              <a:defRPr sz="1200"/>
            </a:lvl5pPr>
            <a:lvl6pPr marL="1714329" indent="0" algn="ctr">
              <a:buNone/>
              <a:defRPr sz="1200"/>
            </a:lvl6pPr>
            <a:lvl7pPr marL="2057194" indent="0" algn="ctr">
              <a:buNone/>
              <a:defRPr sz="1200"/>
            </a:lvl7pPr>
            <a:lvl8pPr marL="2400060" indent="0" algn="ctr">
              <a:buNone/>
              <a:defRPr sz="1200"/>
            </a:lvl8pPr>
            <a:lvl9pPr marL="2742926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8910A-C6A2-4D7C-BD93-C521D6BD6433}" type="datetimeFigureOut">
              <a:rPr lang="zh-CN" altLang="en-US"/>
              <a:pPr>
                <a:defRPr/>
              </a:pPr>
              <a:t>2022/10/22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DF2088-823D-4D74-BE43-AD67773FB7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11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367" r:id="rId1"/>
    <p:sldLayoutId id="2147484368" r:id="rId2"/>
    <p:sldLayoutId id="2147484369" r:id="rId3"/>
  </p:sldLayoutIdLst>
  <p:transition spd="med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702150" y="1781800"/>
            <a:ext cx="1790493" cy="785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48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48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kumimoji="1" lang="zh-CN" altLang="en-US" sz="4800" b="1" dirty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</a:p>
        </p:txBody>
      </p:sp>
      <p:sp>
        <p:nvSpPr>
          <p:cNvPr id="3" name="矩形 2"/>
          <p:cNvSpPr/>
          <p:nvPr/>
        </p:nvSpPr>
        <p:spPr>
          <a:xfrm>
            <a:off x="973282" y="1195895"/>
            <a:ext cx="1149018" cy="369324"/>
          </a:xfrm>
          <a:prstGeom prst="rect">
            <a:avLst/>
          </a:prstGeom>
          <a:noFill/>
        </p:spPr>
        <p:txBody>
          <a:bodyPr wrap="none" lIns="60953" tIns="30476" rIns="60953" bIns="30476">
            <a:spAutoFit/>
          </a:bodyPr>
          <a:lstStyle/>
          <a:p>
            <a:pPr algn="ctr"/>
            <a:r>
              <a:rPr lang="zh-CN" altLang="en-US" sz="2000" dirty="0">
                <a:latin typeface="Microsoft Yi Baiti" panose="03000500000000000000" pitchFamily="66" charset="0"/>
                <a:ea typeface="冬青黑体简体中文 W6" panose="020B0600000000000000" pitchFamily="34" charset="-122"/>
                <a:cs typeface="阿里巴巴普惠体 M" panose="00020600040101010101" pitchFamily="18" charset="-122"/>
              </a:rPr>
              <a:t>光电技术</a:t>
            </a:r>
            <a:endParaRPr lang="en-US" altLang="zh-CN" sz="2000" dirty="0">
              <a:latin typeface="Microsoft Yi Baiti" panose="03000500000000000000" pitchFamily="66" charset="0"/>
              <a:ea typeface="Microsoft Yi Baiti" panose="03000500000000000000" pitchFamily="66" charset="0"/>
              <a:cs typeface="阿里巴巴普惠体 M" panose="00020600040101010101" pitchFamily="18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5441AE38-A11D-4793-BDA3-DCA36976B496}"/>
              </a:ext>
            </a:extLst>
          </p:cNvPr>
          <p:cNvSpPr/>
          <p:nvPr/>
        </p:nvSpPr>
        <p:spPr>
          <a:xfrm>
            <a:off x="2624068" y="1804023"/>
            <a:ext cx="6391731" cy="7483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48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热探测器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B4AF438E-361B-42EE-9E70-DDB98227F7D7}"/>
              </a:ext>
            </a:extLst>
          </p:cNvPr>
          <p:cNvSpPr/>
          <p:nvPr/>
        </p:nvSpPr>
        <p:spPr>
          <a:xfrm>
            <a:off x="2126762" y="1224242"/>
            <a:ext cx="825646" cy="310013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zh-CN" sz="800" b="1" spc="27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000"/>
              </a:lnSpc>
            </a:pPr>
            <a:r>
              <a:rPr lang="en-US" altLang="zh-CN" sz="800" b="1" spc="27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Technology</a:t>
            </a:r>
            <a:endParaRPr lang="zh-CN" altLang="en-US" sz="800" b="1" spc="27" dirty="0">
              <a:ln w="22225">
                <a:solidFill>
                  <a:schemeClr val="accent2"/>
                </a:solidFill>
                <a:prstDash val="solid"/>
              </a:ln>
              <a:latin typeface="Times New Roman" panose="02020603050405020304" pitchFamily="18" charset="0"/>
              <a:ea typeface="Yu Gothic UI" panose="020B05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6" name="直接连接符 58">
            <a:extLst>
              <a:ext uri="{FF2B5EF4-FFF2-40B4-BE49-F238E27FC236}">
                <a16:creationId xmlns:a16="http://schemas.microsoft.com/office/drawing/2014/main" xmlns="" id="{19E605B0-7A69-4DF3-BD2D-6C50DF5A8F84}"/>
              </a:ext>
            </a:extLst>
          </p:cNvPr>
          <p:cNvCxnSpPr>
            <a:cxnSpLocks/>
          </p:cNvCxnSpPr>
          <p:nvPr/>
        </p:nvCxnSpPr>
        <p:spPr>
          <a:xfrm>
            <a:off x="806356" y="2783729"/>
            <a:ext cx="3196373" cy="7792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1C44C9C7-7166-4DA9-8A1A-D2BB836F3F54}"/>
              </a:ext>
            </a:extLst>
          </p:cNvPr>
          <p:cNvSpPr/>
          <p:nvPr/>
        </p:nvSpPr>
        <p:spPr>
          <a:xfrm>
            <a:off x="761912" y="3008135"/>
            <a:ext cx="4772466" cy="307768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r>
              <a:rPr lang="en-US" altLang="zh-CN" sz="1600" dirty="0" smtClean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Thermal </a:t>
            </a:r>
            <a:r>
              <a:rPr lang="en-US" altLang="zh-CN" sz="1600" dirty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detector</a:t>
            </a:r>
            <a:endParaRPr lang="zh-CN" altLang="en-US" sz="1600" dirty="0">
              <a:ln w="22225">
                <a:solidFill>
                  <a:schemeClr val="accent2"/>
                </a:solidFill>
                <a:prstDash val="solid"/>
              </a:ln>
              <a:solidFill>
                <a:srgbClr val="1271FE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AE184DEE-FEA5-431F-856D-B2DD56F698B6}"/>
              </a:ext>
            </a:extLst>
          </p:cNvPr>
          <p:cNvSpPr/>
          <p:nvPr/>
        </p:nvSpPr>
        <p:spPr>
          <a:xfrm>
            <a:off x="806357" y="1246180"/>
            <a:ext cx="111669" cy="26871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467544" y="195486"/>
            <a:ext cx="1080119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探测器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467664" y="484952"/>
            <a:ext cx="1080000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819023" y="831062"/>
            <a:ext cx="23257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光</a:t>
            </a:r>
            <a:r>
              <a:rPr lang="zh-CN" altLang="zh-CN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热效应</a:t>
            </a:r>
            <a:endParaRPr lang="en-US" altLang="zh-CN" sz="1600" b="1" dirty="0" smtClean="0">
              <a:solidFill>
                <a:srgbClr val="FF0000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b="1" dirty="0" smtClean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(Photothermal </a:t>
            </a:r>
            <a:r>
              <a:rPr lang="en-US" altLang="zh-CN" sz="16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Effect</a:t>
            </a:r>
            <a:r>
              <a:rPr lang="en-US" altLang="zh-CN" sz="1600" b="1" dirty="0" smtClean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1600" b="1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52352" y="2248603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6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热</a:t>
            </a:r>
            <a:r>
              <a:rPr lang="zh-CN" altLang="zh-CN" sz="16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探测器</a:t>
            </a:r>
            <a:endParaRPr lang="en-US" altLang="zh-CN" sz="1600" b="1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b="1" dirty="0" smtClean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Thermal Detector</a:t>
            </a:r>
            <a:r>
              <a:rPr lang="en-US" altLang="zh-CN" sz="1600" b="1" dirty="0" smtClean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1600" b="1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8423" y="2817452"/>
            <a:ext cx="3696465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利用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热效应探测外来辐射而制成的</a:t>
            </a:r>
            <a:r>
              <a:rPr lang="zh-CN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器件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72288" y="1422357"/>
            <a:ext cx="3499433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吸收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光</a:t>
            </a:r>
            <a:r>
              <a:rPr lang="zh-CN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辐射</a:t>
            </a:r>
            <a:r>
              <a:rPr lang="zh-CN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能使物体温度升高，从而引起物理物理量发生变化的</a:t>
            </a:r>
            <a:r>
              <a:rPr lang="zh-CN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现象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302892" y="997165"/>
            <a:ext cx="2958883" cy="3362612"/>
            <a:chOff x="4771465" y="997165"/>
            <a:chExt cx="2958883" cy="3362612"/>
          </a:xfrm>
        </p:grpSpPr>
        <p:sp>
          <p:nvSpPr>
            <p:cNvPr id="15" name="AutoShape 12"/>
            <p:cNvSpPr>
              <a:spLocks noChangeArrowheads="1"/>
            </p:cNvSpPr>
            <p:nvPr/>
          </p:nvSpPr>
          <p:spPr bwMode="auto">
            <a:xfrm rot="16200000" flipH="1">
              <a:off x="5971582" y="1902681"/>
              <a:ext cx="1922881" cy="1594651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rgbClr val="FFFF66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lIns="91431" tIns="45716" rIns="91431" bIns="45716" anchor="ctr"/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250" b="1"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6" name="AutoShape 12"/>
            <p:cNvSpPr>
              <a:spLocks noChangeArrowheads="1"/>
            </p:cNvSpPr>
            <p:nvPr/>
          </p:nvSpPr>
          <p:spPr bwMode="auto">
            <a:xfrm rot="10800000" flipH="1">
              <a:off x="5109799" y="997165"/>
              <a:ext cx="2330543" cy="1681384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rgbClr val="FFFF66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1431" tIns="45716" rIns="91431" bIns="45716" anchor="ctr"/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250" b="1"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7" name="AutoShape 12"/>
            <p:cNvSpPr>
              <a:spLocks noChangeArrowheads="1"/>
            </p:cNvSpPr>
            <p:nvPr/>
          </p:nvSpPr>
          <p:spPr bwMode="auto">
            <a:xfrm flipH="1">
              <a:off x="5130360" y="2707240"/>
              <a:ext cx="2133691" cy="1652537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rgbClr val="FFFF66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1" tIns="45716" rIns="91431" bIns="45716" anchor="ctr"/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250" b="1"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8" name="AutoShape 12"/>
            <p:cNvSpPr>
              <a:spLocks noChangeArrowheads="1"/>
            </p:cNvSpPr>
            <p:nvPr/>
          </p:nvSpPr>
          <p:spPr bwMode="auto">
            <a:xfrm rot="5400000" flipH="1">
              <a:off x="4605511" y="1803716"/>
              <a:ext cx="2020006" cy="1688098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rgbClr val="FF0000"/>
                </a:gs>
                <a:gs pos="100000">
                  <a:srgbClr val="FFFF66">
                    <a:alpha val="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 lIns="91431" tIns="45716" rIns="91431" bIns="45716" anchor="ctr"/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250" b="1">
                <a:latin typeface="Arial" panose="020B0604020202020204" pitchFamily="34" charset="0"/>
                <a:ea typeface="楷体_GB2312"/>
                <a:cs typeface="楷体_GB2312"/>
              </a:endParaRPr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5251744" y="1667192"/>
              <a:ext cx="1841481" cy="1803494"/>
              <a:chOff x="5251744" y="1667192"/>
              <a:chExt cx="1841481" cy="1803494"/>
            </a:xfrm>
          </p:grpSpPr>
          <p:sp>
            <p:nvSpPr>
              <p:cNvPr id="19" name="Oval 19"/>
              <p:cNvSpPr>
                <a:spLocks noChangeArrowheads="1"/>
              </p:cNvSpPr>
              <p:nvPr/>
            </p:nvSpPr>
            <p:spPr bwMode="auto">
              <a:xfrm>
                <a:off x="5251744" y="1667192"/>
                <a:ext cx="1841481" cy="1803494"/>
              </a:xfrm>
              <a:prstGeom prst="ellipse">
                <a:avLst/>
              </a:prstGeom>
              <a:solidFill>
                <a:srgbClr val="FFFF00">
                  <a:alpha val="25098"/>
                </a:srgbClr>
              </a:solidFill>
              <a:ln w="1270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 wrap="none" lIns="91431" tIns="45716" rIns="91431" bIns="45716" anchor="ctr"/>
              <a:lstStyle>
                <a:lvl1pPr defTabSz="608013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defTabSz="608013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defTabSz="608013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defTabSz="608013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defTabSz="608013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608013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608013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608013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608013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2250" b="1"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20" name="Oval 20"/>
              <p:cNvSpPr>
                <a:spLocks noChangeArrowheads="1"/>
              </p:cNvSpPr>
              <p:nvPr/>
            </p:nvSpPr>
            <p:spPr bwMode="auto">
              <a:xfrm>
                <a:off x="5339866" y="1738566"/>
                <a:ext cx="1690952" cy="1657809"/>
              </a:xfrm>
              <a:prstGeom prst="ellipse">
                <a:avLst/>
              </a:prstGeom>
              <a:solidFill>
                <a:srgbClr val="FFFF66">
                  <a:alpha val="50195"/>
                </a:srgbClr>
              </a:solidFill>
              <a:ln w="57150">
                <a:solidFill>
                  <a:srgbClr val="FFFF66"/>
                </a:solidFill>
                <a:round/>
                <a:headEnd/>
                <a:tailEnd/>
              </a:ln>
            </p:spPr>
            <p:txBody>
              <a:bodyPr wrap="none" lIns="91431" tIns="45716" rIns="91431" bIns="45716" anchor="ctr"/>
              <a:lstStyle>
                <a:lvl1pPr defTabSz="608013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1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defTabSz="608013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defTabSz="608013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defTabSz="608013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defTabSz="608013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608013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608013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608013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608013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13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en-US" sz="2250" b="1">
                  <a:latin typeface="Arial" panose="020B0604020202020204" pitchFamily="34" charset="0"/>
                  <a:ea typeface="楷体_GB2312"/>
                  <a:cs typeface="楷体_GB2312"/>
                </a:endParaRPr>
              </a:p>
            </p:txBody>
          </p:sp>
          <p:sp>
            <p:nvSpPr>
              <p:cNvPr id="21" name="Oval 48"/>
              <p:cNvSpPr>
                <a:spLocks noChangeAspect="1" noChangeArrowheads="1"/>
              </p:cNvSpPr>
              <p:nvPr/>
            </p:nvSpPr>
            <p:spPr bwMode="auto">
              <a:xfrm>
                <a:off x="5477685" y="1880387"/>
                <a:ext cx="1407835" cy="1367328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wrap="none" lIns="91431" tIns="45716" rIns="91431" bIns="45716" anchor="ctr"/>
              <a:lstStyle/>
              <a:p>
                <a:pPr defTabSz="914309">
                  <a:defRPr/>
                </a:pPr>
                <a:endParaRPr lang="zh-CN" altLang="en-US" sz="2250" b="1" dirty="0">
                  <a:ea typeface="楷体_GB2312" pitchFamily="49" charset="-122"/>
                </a:endParaRPr>
              </a:p>
            </p:txBody>
          </p:sp>
          <p:grpSp>
            <p:nvGrpSpPr>
              <p:cNvPr id="22" name="组合 67"/>
              <p:cNvGrpSpPr>
                <a:grpSpLocks/>
              </p:cNvGrpSpPr>
              <p:nvPr/>
            </p:nvGrpSpPr>
            <p:grpSpPr bwMode="auto">
              <a:xfrm>
                <a:off x="5590164" y="1958505"/>
                <a:ext cx="1214084" cy="1186580"/>
                <a:chOff x="3745971" y="2516175"/>
                <a:chExt cx="1297005" cy="1226837"/>
              </a:xfrm>
            </p:grpSpPr>
            <p:sp>
              <p:nvSpPr>
                <p:cNvPr id="23" name="Oval 49"/>
                <p:cNvSpPr>
                  <a:spLocks noChangeAspect="1" noChangeArrowheads="1"/>
                </p:cNvSpPr>
                <p:nvPr/>
              </p:nvSpPr>
              <p:spPr bwMode="auto">
                <a:xfrm>
                  <a:off x="3745971" y="2516175"/>
                  <a:ext cx="1297005" cy="1226837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defTabSz="608013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 defTabSz="608013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 defTabSz="608013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 defTabSz="608013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 defTabSz="608013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defTabSz="608013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defTabSz="608013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defTabSz="608013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defTabSz="608013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latinLnBrk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1650" b="1">
                    <a:latin typeface="Arial" panose="020B0604020202020204" pitchFamily="34" charset="0"/>
                    <a:ea typeface="HY견고딕"/>
                    <a:cs typeface="HY견고딕"/>
                  </a:endParaRPr>
                </a:p>
              </p:txBody>
            </p:sp>
            <p:sp>
              <p:nvSpPr>
                <p:cNvPr id="24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935284" y="2940286"/>
                  <a:ext cx="859863" cy="4169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defTabSz="608013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21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 defTabSz="608013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 defTabSz="608013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 defTabSz="608013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 defTabSz="608013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defTabSz="608013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defTabSz="608013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defTabSz="608013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defTabSz="608013" eaLnBrk="0" fontAlgn="base" hangingPunct="0">
                    <a:lnSpc>
                      <a:spcPct val="90000"/>
                    </a:lnSpc>
                    <a:spcBef>
                      <a:spcPts val="375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13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1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与光子探测器区别</a:t>
                  </a:r>
                  <a:endParaRPr lang="zh-CN" altLang="en-US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25" name="组合 29"/>
          <p:cNvGrpSpPr>
            <a:grpSpLocks/>
          </p:cNvGrpSpPr>
          <p:nvPr/>
        </p:nvGrpSpPr>
        <p:grpSpPr bwMode="auto">
          <a:xfrm>
            <a:off x="6197248" y="843558"/>
            <a:ext cx="1204186" cy="553200"/>
            <a:chOff x="6233339" y="4413892"/>
            <a:chExt cx="1772941" cy="492531"/>
          </a:xfrm>
        </p:grpSpPr>
        <p:sp>
          <p:nvSpPr>
            <p:cNvPr id="26" name="圆角矩形 25"/>
            <p:cNvSpPr/>
            <p:nvPr/>
          </p:nvSpPr>
          <p:spPr>
            <a:xfrm>
              <a:off x="6233339" y="4413892"/>
              <a:ext cx="1772941" cy="492531"/>
            </a:xfrm>
            <a:prstGeom prst="roundRect">
              <a:avLst/>
            </a:prstGeom>
            <a:gradFill>
              <a:gsLst>
                <a:gs pos="0">
                  <a:srgbClr val="03D4A8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1950" b="1" dirty="0"/>
            </a:p>
          </p:txBody>
        </p:sp>
        <p:sp>
          <p:nvSpPr>
            <p:cNvPr id="27" name="TextBox 9"/>
            <p:cNvSpPr txBox="1">
              <a:spLocks noChangeArrowheads="1"/>
            </p:cNvSpPr>
            <p:nvPr/>
          </p:nvSpPr>
          <p:spPr bwMode="auto">
            <a:xfrm>
              <a:off x="6315419" y="4456813"/>
              <a:ext cx="1602589" cy="383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400" b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热探测器</a:t>
              </a:r>
              <a:endParaRPr lang="en-US" altLang="zh-CN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400" b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不存在长波限</a:t>
              </a:r>
              <a:endPara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组合 29"/>
          <p:cNvGrpSpPr>
            <a:grpSpLocks/>
          </p:cNvGrpSpPr>
          <p:nvPr/>
        </p:nvGrpSpPr>
        <p:grpSpPr bwMode="auto">
          <a:xfrm>
            <a:off x="7839731" y="2427734"/>
            <a:ext cx="1124757" cy="550048"/>
            <a:chOff x="6206357" y="4404032"/>
            <a:chExt cx="1918512" cy="452049"/>
          </a:xfrm>
          <a:noFill/>
        </p:grpSpPr>
        <p:sp>
          <p:nvSpPr>
            <p:cNvPr id="29" name="圆角矩形 28"/>
            <p:cNvSpPr/>
            <p:nvPr/>
          </p:nvSpPr>
          <p:spPr>
            <a:xfrm>
              <a:off x="6233338" y="4404032"/>
              <a:ext cx="1891531" cy="452049"/>
            </a:xfrm>
            <a:prstGeom prst="roundRect">
              <a:avLst/>
            </a:prstGeom>
            <a:gradFill>
              <a:gsLst>
                <a:gs pos="0">
                  <a:srgbClr val="FC9FCB"/>
                </a:gs>
                <a:gs pos="13000">
                  <a:srgbClr val="F8B049"/>
                </a:gs>
                <a:gs pos="21001">
                  <a:srgbClr val="F8B049"/>
                </a:gs>
                <a:gs pos="63000">
                  <a:srgbClr val="FEE7F2"/>
                </a:gs>
                <a:gs pos="67000">
                  <a:srgbClr val="F952A0"/>
                </a:gs>
                <a:gs pos="69000">
                  <a:srgbClr val="C50849"/>
                </a:gs>
                <a:gs pos="82001">
                  <a:srgbClr val="B43E85"/>
                </a:gs>
                <a:gs pos="100000">
                  <a:srgbClr val="F8B049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1950" b="1" dirty="0"/>
            </a:p>
          </p:txBody>
        </p:sp>
        <p:sp>
          <p:nvSpPr>
            <p:cNvPr id="30" name="TextBox 9"/>
            <p:cNvSpPr txBox="1">
              <a:spLocks noChangeArrowheads="1"/>
            </p:cNvSpPr>
            <p:nvPr/>
          </p:nvSpPr>
          <p:spPr bwMode="auto">
            <a:xfrm>
              <a:off x="6206357" y="4462767"/>
              <a:ext cx="1896703" cy="35411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 defTabSz="914309">
                <a:defRPr/>
              </a:pPr>
              <a:r>
                <a:rPr lang="zh-CN" altLang="en-US" sz="1400" b="1" dirty="0" smtClean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热探测器</a:t>
              </a:r>
              <a:endParaRPr lang="en-US" altLang="zh-CN" sz="14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  <a:p>
              <a:pPr algn="ctr" defTabSz="914309">
                <a:defRPr/>
              </a:pPr>
              <a:r>
                <a:rPr lang="zh-CN" altLang="en-US" sz="1400" b="1" dirty="0" smtClean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响应时间长</a:t>
              </a:r>
              <a:endParaRPr lang="zh-CN" altLang="en-US" sz="1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31" name="组合 29"/>
          <p:cNvGrpSpPr>
            <a:grpSpLocks/>
          </p:cNvGrpSpPr>
          <p:nvPr/>
        </p:nvGrpSpPr>
        <p:grpSpPr bwMode="auto">
          <a:xfrm>
            <a:off x="6158825" y="3747211"/>
            <a:ext cx="1108407" cy="524355"/>
            <a:chOff x="6233339" y="4340729"/>
            <a:chExt cx="1896758" cy="319809"/>
          </a:xfrm>
        </p:grpSpPr>
        <p:sp>
          <p:nvSpPr>
            <p:cNvPr id="32" name="圆角矩形 31"/>
            <p:cNvSpPr/>
            <p:nvPr/>
          </p:nvSpPr>
          <p:spPr>
            <a:xfrm>
              <a:off x="6233339" y="4340729"/>
              <a:ext cx="1896758" cy="319809"/>
            </a:xfrm>
            <a:prstGeom prst="roundRect">
              <a:avLst/>
            </a:prstGeom>
            <a:gradFill>
              <a:gsLst>
                <a:gs pos="0">
                  <a:srgbClr val="CCCCFF"/>
                </a:gs>
                <a:gs pos="17999">
                  <a:srgbClr val="99CCFF"/>
                </a:gs>
                <a:gs pos="36000">
                  <a:srgbClr val="9966FF"/>
                </a:gs>
                <a:gs pos="61000">
                  <a:srgbClr val="CC99FF"/>
                </a:gs>
                <a:gs pos="82001">
                  <a:srgbClr val="99CCFF"/>
                </a:gs>
                <a:gs pos="100000">
                  <a:srgbClr val="CCCC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1950" b="1" dirty="0"/>
            </a:p>
          </p:txBody>
        </p:sp>
        <p:sp>
          <p:nvSpPr>
            <p:cNvPr id="33" name="TextBox 9"/>
            <p:cNvSpPr txBox="1">
              <a:spLocks noChangeArrowheads="1"/>
            </p:cNvSpPr>
            <p:nvPr/>
          </p:nvSpPr>
          <p:spPr bwMode="auto">
            <a:xfrm>
              <a:off x="6233339" y="4377591"/>
              <a:ext cx="1896758" cy="2628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400" b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热探测器</a:t>
              </a:r>
              <a:endParaRPr lang="en-US" altLang="zh-CN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400" b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无需低温制冷</a:t>
              </a:r>
              <a:endPara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组合 29"/>
          <p:cNvGrpSpPr>
            <a:grpSpLocks/>
          </p:cNvGrpSpPr>
          <p:nvPr/>
        </p:nvGrpSpPr>
        <p:grpSpPr bwMode="auto">
          <a:xfrm>
            <a:off x="4413217" y="2384068"/>
            <a:ext cx="1145554" cy="547374"/>
            <a:chOff x="6497302" y="4340730"/>
            <a:chExt cx="1681796" cy="550807"/>
          </a:xfrm>
        </p:grpSpPr>
        <p:sp>
          <p:nvSpPr>
            <p:cNvPr id="35" name="圆角矩形 34"/>
            <p:cNvSpPr/>
            <p:nvPr/>
          </p:nvSpPr>
          <p:spPr>
            <a:xfrm>
              <a:off x="6497302" y="4340730"/>
              <a:ext cx="1627254" cy="550807"/>
            </a:xfrm>
            <a:prstGeom prst="roundRect">
              <a:avLst/>
            </a:prstGeom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1950" b="1" dirty="0"/>
            </a:p>
          </p:txBody>
        </p:sp>
        <p:sp>
          <p:nvSpPr>
            <p:cNvPr id="36" name="TextBox 9"/>
            <p:cNvSpPr txBox="1">
              <a:spLocks noChangeArrowheads="1"/>
            </p:cNvSpPr>
            <p:nvPr/>
          </p:nvSpPr>
          <p:spPr bwMode="auto">
            <a:xfrm>
              <a:off x="6507791" y="4422371"/>
              <a:ext cx="1671307" cy="433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400" b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热探测器</a:t>
              </a:r>
              <a:endParaRPr lang="en-US" altLang="zh-CN" sz="1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400" b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探测极限很大</a:t>
              </a:r>
              <a:endParaRPr lang="zh-CN" altLang="en-US" sz="1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组合 38"/>
          <p:cNvGrpSpPr>
            <a:grpSpLocks/>
          </p:cNvGrpSpPr>
          <p:nvPr/>
        </p:nvGrpSpPr>
        <p:grpSpPr bwMode="auto">
          <a:xfrm>
            <a:off x="6664502" y="1365924"/>
            <a:ext cx="283248" cy="277911"/>
            <a:chOff x="640986" y="1039392"/>
            <a:chExt cx="349983" cy="335877"/>
          </a:xfrm>
        </p:grpSpPr>
        <p:sp>
          <p:nvSpPr>
            <p:cNvPr id="38" name="椭圆 37"/>
            <p:cNvSpPr>
              <a:spLocks noChangeAspect="1"/>
            </p:cNvSpPr>
            <p:nvPr/>
          </p:nvSpPr>
          <p:spPr>
            <a:xfrm>
              <a:off x="640986" y="1095350"/>
              <a:ext cx="270125" cy="270022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254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2550" b="1" dirty="0"/>
            </a:p>
          </p:txBody>
        </p:sp>
        <p:sp>
          <p:nvSpPr>
            <p:cNvPr id="39" name="TextBox 37"/>
            <p:cNvSpPr txBox="1">
              <a:spLocks noChangeArrowheads="1"/>
            </p:cNvSpPr>
            <p:nvPr/>
          </p:nvSpPr>
          <p:spPr bwMode="auto">
            <a:xfrm>
              <a:off x="710611" y="1039392"/>
              <a:ext cx="280358" cy="335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rgbClr val="FF66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1</a:t>
              </a:r>
              <a:endParaRPr lang="zh-CN" altLang="en-US" sz="1800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组合 38"/>
          <p:cNvGrpSpPr>
            <a:grpSpLocks/>
          </p:cNvGrpSpPr>
          <p:nvPr/>
        </p:nvGrpSpPr>
        <p:grpSpPr bwMode="auto">
          <a:xfrm>
            <a:off x="7623707" y="2571750"/>
            <a:ext cx="283248" cy="369899"/>
            <a:chOff x="640986" y="1066866"/>
            <a:chExt cx="349983" cy="447051"/>
          </a:xfrm>
        </p:grpSpPr>
        <p:sp>
          <p:nvSpPr>
            <p:cNvPr id="50" name="椭圆 49"/>
            <p:cNvSpPr>
              <a:spLocks noChangeAspect="1"/>
            </p:cNvSpPr>
            <p:nvPr/>
          </p:nvSpPr>
          <p:spPr>
            <a:xfrm>
              <a:off x="640986" y="1095350"/>
              <a:ext cx="270125" cy="270022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254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2550" b="1" dirty="0"/>
            </a:p>
          </p:txBody>
        </p:sp>
        <p:sp>
          <p:nvSpPr>
            <p:cNvPr id="51" name="TextBox 37"/>
            <p:cNvSpPr txBox="1">
              <a:spLocks noChangeArrowheads="1"/>
            </p:cNvSpPr>
            <p:nvPr/>
          </p:nvSpPr>
          <p:spPr bwMode="auto">
            <a:xfrm>
              <a:off x="710611" y="1066866"/>
              <a:ext cx="280358" cy="447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rgbClr val="FF66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2</a:t>
              </a:r>
              <a:endParaRPr lang="zh-CN" altLang="en-US" sz="1800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组合 38"/>
          <p:cNvGrpSpPr>
            <a:grpSpLocks/>
          </p:cNvGrpSpPr>
          <p:nvPr/>
        </p:nvGrpSpPr>
        <p:grpSpPr bwMode="auto">
          <a:xfrm>
            <a:off x="6615595" y="3455497"/>
            <a:ext cx="283248" cy="277911"/>
            <a:chOff x="640986" y="1039392"/>
            <a:chExt cx="349983" cy="335877"/>
          </a:xfrm>
        </p:grpSpPr>
        <p:sp>
          <p:nvSpPr>
            <p:cNvPr id="53" name="椭圆 52"/>
            <p:cNvSpPr>
              <a:spLocks noChangeAspect="1"/>
            </p:cNvSpPr>
            <p:nvPr/>
          </p:nvSpPr>
          <p:spPr>
            <a:xfrm>
              <a:off x="640986" y="1095350"/>
              <a:ext cx="270125" cy="270022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254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2550" b="1" dirty="0"/>
            </a:p>
          </p:txBody>
        </p:sp>
        <p:sp>
          <p:nvSpPr>
            <p:cNvPr id="54" name="TextBox 37"/>
            <p:cNvSpPr txBox="1">
              <a:spLocks noChangeArrowheads="1"/>
            </p:cNvSpPr>
            <p:nvPr/>
          </p:nvSpPr>
          <p:spPr bwMode="auto">
            <a:xfrm>
              <a:off x="710611" y="1039392"/>
              <a:ext cx="280358" cy="335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rgbClr val="FF66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3</a:t>
              </a:r>
              <a:endParaRPr lang="zh-CN" altLang="en-US" sz="1800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38"/>
          <p:cNvGrpSpPr>
            <a:grpSpLocks/>
          </p:cNvGrpSpPr>
          <p:nvPr/>
        </p:nvGrpSpPr>
        <p:grpSpPr bwMode="auto">
          <a:xfrm>
            <a:off x="5571098" y="2518800"/>
            <a:ext cx="258063" cy="277911"/>
            <a:chOff x="672104" y="1039392"/>
            <a:chExt cx="318865" cy="335877"/>
          </a:xfrm>
        </p:grpSpPr>
        <p:sp>
          <p:nvSpPr>
            <p:cNvPr id="56" name="椭圆 55"/>
            <p:cNvSpPr>
              <a:spLocks noChangeAspect="1"/>
            </p:cNvSpPr>
            <p:nvPr/>
          </p:nvSpPr>
          <p:spPr>
            <a:xfrm>
              <a:off x="672104" y="1084593"/>
              <a:ext cx="245566" cy="245474"/>
            </a:xfrm>
            <a:prstGeom prst="ellipse">
              <a:avLst/>
            </a:prstGeom>
            <a:solidFill>
              <a:srgbClr val="FFC000">
                <a:alpha val="33000"/>
              </a:srgbClr>
            </a:solidFill>
            <a:ln w="25400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09">
                <a:defRPr/>
              </a:pPr>
              <a:endParaRPr lang="zh-CN" altLang="en-US" sz="2550" b="1" dirty="0"/>
            </a:p>
          </p:txBody>
        </p:sp>
        <p:sp>
          <p:nvSpPr>
            <p:cNvPr id="57" name="TextBox 37"/>
            <p:cNvSpPr txBox="1">
              <a:spLocks noChangeArrowheads="1"/>
            </p:cNvSpPr>
            <p:nvPr/>
          </p:nvSpPr>
          <p:spPr bwMode="auto">
            <a:xfrm>
              <a:off x="710611" y="1039392"/>
              <a:ext cx="280358" cy="335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defTabSz="608013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608013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08013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 smtClean="0">
                  <a:solidFill>
                    <a:srgbClr val="FF6600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4</a:t>
              </a:r>
              <a:endParaRPr lang="zh-CN" altLang="en-US" sz="1800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Rectangle 6"/>
          <p:cNvSpPr>
            <a:spLocks noChangeArrowheads="1"/>
          </p:cNvSpPr>
          <p:nvPr/>
        </p:nvSpPr>
        <p:spPr bwMode="auto">
          <a:xfrm>
            <a:off x="1541351" y="3383513"/>
            <a:ext cx="3200985" cy="634020"/>
          </a:xfrm>
          <a:prstGeom prst="rect">
            <a:avLst/>
          </a:prstGeom>
          <a:noFill/>
          <a:ln w="38100" algn="ctr">
            <a:solidFill>
              <a:schemeClr val="tx2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吸收辐射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光能转换为热能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温升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某种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ectangle 6"/>
          <p:cNvSpPr>
            <a:spLocks noChangeArrowheads="1"/>
          </p:cNvSpPr>
          <p:nvPr/>
        </p:nvSpPr>
        <p:spPr bwMode="auto">
          <a:xfrm>
            <a:off x="1179652" y="4296634"/>
            <a:ext cx="4341967" cy="634020"/>
          </a:xfrm>
          <a:prstGeom prst="rect">
            <a:avLst/>
          </a:prstGeom>
          <a:noFill/>
          <a:ln w="38100" algn="ctr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16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物理参量变化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电动势、电阻、电容、容积 ）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探知光辐射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的存在和强弱</a:t>
            </a:r>
          </a:p>
        </p:txBody>
      </p:sp>
      <p:sp>
        <p:nvSpPr>
          <p:cNvPr id="61" name="Rectangle 5"/>
          <p:cNvSpPr>
            <a:spLocks noChangeArrowheads="1"/>
          </p:cNvSpPr>
          <p:nvPr/>
        </p:nvSpPr>
        <p:spPr bwMode="auto">
          <a:xfrm>
            <a:off x="339229" y="3594452"/>
            <a:ext cx="413524" cy="1200329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光热效应 </a:t>
            </a:r>
          </a:p>
        </p:txBody>
      </p:sp>
      <p:sp>
        <p:nvSpPr>
          <p:cNvPr id="3" name="下箭头 2"/>
          <p:cNvSpPr/>
          <p:nvPr/>
        </p:nvSpPr>
        <p:spPr>
          <a:xfrm>
            <a:off x="2771800" y="4083918"/>
            <a:ext cx="576064" cy="187648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112237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 animBg="1"/>
      <p:bldP spid="48" grpId="0" animBg="1"/>
      <p:bldP spid="60" grpId="0" animBg="1"/>
      <p:bldP spid="61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909749" y="195796"/>
            <a:ext cx="2130508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热探测器的基本原理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2411760" y="2253935"/>
            <a:ext cx="5327033" cy="74057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zh-CN" altLang="en-US" sz="2933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热探测器的基本原理</a:t>
            </a:r>
          </a:p>
        </p:txBody>
      </p:sp>
      <p:sp>
        <p:nvSpPr>
          <p:cNvPr id="20" name="矩形 19"/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030968" y="2222541"/>
            <a:ext cx="1529424" cy="824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4400" b="1" dirty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6.1</a:t>
            </a:r>
            <a:endParaRPr kumimoji="1" lang="zh-CN" altLang="en-US" sz="44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88311" y="195797"/>
            <a:ext cx="568006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6.1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966892" y="463765"/>
            <a:ext cx="1440000" cy="1047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677788"/>
              </p:ext>
            </p:extLst>
          </p:nvPr>
        </p:nvGraphicFramePr>
        <p:xfrm>
          <a:off x="2884233" y="2315210"/>
          <a:ext cx="3599606" cy="816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公式" r:id="rId3" imgW="1460160" imgH="393480" progId="Equation.3">
                  <p:embed/>
                </p:oleObj>
              </mc:Choice>
              <mc:Fallback>
                <p:oleObj name="公式" r:id="rId3" imgW="1460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233" y="2315210"/>
                        <a:ext cx="3599606" cy="81614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980553" y="3642578"/>
            <a:ext cx="1407758" cy="369332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内能的增加 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563567" y="3635410"/>
            <a:ext cx="1600723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与环境热交换 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519822" y="3635410"/>
            <a:ext cx="1396523" cy="3693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吸收的能量 </a:t>
            </a:r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3466777" y="1199711"/>
            <a:ext cx="2096790" cy="923330"/>
          </a:xfrm>
          <a:prstGeom prst="rect">
            <a:avLst/>
          </a:prstGeom>
          <a:noFill/>
          <a:ln w="38100" cap="rnd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热探测器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温度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→T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l-GR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热探测器热容量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endParaRPr lang="zh-CN" altLang="en-US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Box 10"/>
          <p:cNvSpPr txBox="1">
            <a:spLocks noChangeArrowheads="1"/>
          </p:cNvSpPr>
          <p:nvPr/>
        </p:nvSpPr>
        <p:spPr bwMode="auto">
          <a:xfrm>
            <a:off x="1583541" y="1276315"/>
            <a:ext cx="1261914" cy="646331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入射</a:t>
            </a:r>
            <a:r>
              <a:rPr lang="zh-CN" altLang="en-US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辐通量</a:t>
            </a:r>
            <a:r>
              <a:rPr lang="el-GR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Φ</a:t>
            </a:r>
            <a:r>
              <a:rPr lang="en-US" altLang="zh-CN" b="1" baseline="-25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endParaRPr lang="zh-CN" altLang="en-US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>
            <a:cxnSpLocks noChangeAspect="1"/>
          </p:cNvCxnSpPr>
          <p:nvPr/>
        </p:nvCxnSpPr>
        <p:spPr>
          <a:xfrm>
            <a:off x="2884234" y="1445086"/>
            <a:ext cx="540065" cy="995"/>
          </a:xfrm>
          <a:prstGeom prst="straightConnector1">
            <a:avLst/>
          </a:prstGeom>
          <a:ln w="22225">
            <a:solidFill>
              <a:srgbClr val="FF0000"/>
            </a:solidFill>
            <a:tailEnd type="stealth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cxnSpLocks noChangeAspect="1"/>
          </p:cNvCxnSpPr>
          <p:nvPr/>
        </p:nvCxnSpPr>
        <p:spPr>
          <a:xfrm flipV="1">
            <a:off x="2884233" y="1660998"/>
            <a:ext cx="540065" cy="5757"/>
          </a:xfrm>
          <a:prstGeom prst="straightConnector1">
            <a:avLst/>
          </a:prstGeom>
          <a:ln w="22225">
            <a:solidFill>
              <a:srgbClr val="FF0000"/>
            </a:solidFill>
            <a:tailEnd type="stealth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cxnSpLocks noChangeAspect="1"/>
          </p:cNvCxnSpPr>
          <p:nvPr/>
        </p:nvCxnSpPr>
        <p:spPr>
          <a:xfrm>
            <a:off x="2884234" y="1873711"/>
            <a:ext cx="540065" cy="995"/>
          </a:xfrm>
          <a:prstGeom prst="straightConnector1">
            <a:avLst/>
          </a:prstGeom>
          <a:ln w="22225">
            <a:solidFill>
              <a:srgbClr val="FF0000"/>
            </a:solidFill>
            <a:tailEnd type="stealth" w="med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上箭头 13"/>
          <p:cNvSpPr>
            <a:spLocks noChangeArrowheads="1"/>
          </p:cNvSpPr>
          <p:nvPr/>
        </p:nvSpPr>
        <p:spPr bwMode="auto">
          <a:xfrm>
            <a:off x="3108657" y="3189284"/>
            <a:ext cx="428625" cy="428625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上箭头 14"/>
          <p:cNvSpPr>
            <a:spLocks noChangeArrowheads="1"/>
          </p:cNvSpPr>
          <p:nvPr/>
        </p:nvSpPr>
        <p:spPr bwMode="auto">
          <a:xfrm>
            <a:off x="6072585" y="3180583"/>
            <a:ext cx="500063" cy="428625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上箭头 15"/>
          <p:cNvSpPr>
            <a:spLocks noChangeArrowheads="1"/>
          </p:cNvSpPr>
          <p:nvPr/>
        </p:nvSpPr>
        <p:spPr bwMode="auto">
          <a:xfrm>
            <a:off x="4498172" y="3171783"/>
            <a:ext cx="428625" cy="428625"/>
          </a:xfrm>
          <a:prstGeom prst="upArrow">
            <a:avLst>
              <a:gd name="adj1" fmla="val 50000"/>
              <a:gd name="adj2" fmla="val 4999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7" name="组合 21"/>
          <p:cNvGrpSpPr>
            <a:grpSpLocks/>
          </p:cNvGrpSpPr>
          <p:nvPr/>
        </p:nvGrpSpPr>
        <p:grpSpPr bwMode="auto">
          <a:xfrm>
            <a:off x="5563567" y="1510557"/>
            <a:ext cx="1451549" cy="369332"/>
            <a:chOff x="6061460" y="2970762"/>
            <a:chExt cx="1546246" cy="369332"/>
          </a:xfrm>
        </p:grpSpPr>
        <p:sp>
          <p:nvSpPr>
            <p:cNvPr id="18" name="TextBox 16"/>
            <p:cNvSpPr txBox="1">
              <a:spLocks noChangeArrowheads="1"/>
            </p:cNvSpPr>
            <p:nvPr/>
          </p:nvSpPr>
          <p:spPr bwMode="auto">
            <a:xfrm>
              <a:off x="6665038" y="2970762"/>
              <a:ext cx="942668" cy="369332"/>
            </a:xfrm>
            <a:prstGeom prst="rect">
              <a:avLst/>
            </a:prstGeom>
            <a:solidFill>
              <a:srgbClr val="FFFF00"/>
            </a:solidFill>
            <a:ln w="222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环境</a:t>
              </a:r>
              <a:r>
                <a:rPr lang="en-US" altLang="zh-CN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</a:t>
              </a:r>
              <a:r>
                <a:rPr lang="en-US" altLang="zh-CN" b="1" baseline="-250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</a:t>
              </a:r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左右箭头 20"/>
            <p:cNvSpPr>
              <a:spLocks noChangeArrowheads="1"/>
            </p:cNvSpPr>
            <p:nvPr/>
          </p:nvSpPr>
          <p:spPr bwMode="auto">
            <a:xfrm>
              <a:off x="6061460" y="2981385"/>
              <a:ext cx="554567" cy="318790"/>
            </a:xfrm>
            <a:prstGeom prst="left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TextBox 4"/>
          <p:cNvSpPr txBox="1">
            <a:spLocks noChangeArrowheads="1"/>
          </p:cNvSpPr>
          <p:nvPr/>
        </p:nvSpPr>
        <p:spPr bwMode="auto">
          <a:xfrm>
            <a:off x="6780939" y="2623331"/>
            <a:ext cx="2088232" cy="73866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热导</a:t>
            </a:r>
            <a:r>
              <a:rPr lang="en-US" altLang="zh-CN" sz="1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</a:p>
          <a:p>
            <a:pPr eaLnBrk="1" hangingPunct="1"/>
            <a:r>
              <a:rPr lang="zh-CN" altLang="en-US" sz="1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表征</a:t>
            </a:r>
            <a:r>
              <a:rPr lang="zh-CN" altLang="en-US" sz="1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探测器与环境的热交换程度，单位</a:t>
            </a:r>
            <a:r>
              <a:rPr lang="en-US" altLang="zh-CN" sz="1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W/K</a:t>
            </a:r>
            <a:r>
              <a:rPr lang="zh-CN" altLang="en-US" sz="1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1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TextBox 3"/>
          <p:cNvSpPr txBox="1">
            <a:spLocks noChangeArrowheads="1"/>
          </p:cNvSpPr>
          <p:nvPr/>
        </p:nvSpPr>
        <p:spPr bwMode="auto">
          <a:xfrm>
            <a:off x="150149" y="2619510"/>
            <a:ext cx="2478063" cy="73866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热容量</a:t>
            </a:r>
            <a:r>
              <a:rPr lang="en-US" altLang="zh-CN" sz="1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endParaRPr lang="en-US" altLang="zh-CN" sz="1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1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热</a:t>
            </a:r>
            <a:r>
              <a:rPr lang="zh-CN" altLang="en-US" sz="1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探测器的温度每升高</a:t>
            </a:r>
            <a:r>
              <a:rPr lang="en-US" altLang="zh-CN" sz="1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1K</a:t>
            </a:r>
            <a:r>
              <a:rPr lang="zh-CN" altLang="en-US" sz="1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所需要吸收的热量，单位为</a:t>
            </a:r>
            <a:r>
              <a:rPr lang="en-US" altLang="zh-CN" sz="1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J/K</a:t>
            </a:r>
            <a:r>
              <a:rPr lang="zh-CN" altLang="en-US" sz="1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1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TextBox 2"/>
          <p:cNvSpPr txBox="1">
            <a:spLocks noChangeArrowheads="1"/>
          </p:cNvSpPr>
          <p:nvPr/>
        </p:nvSpPr>
        <p:spPr bwMode="auto">
          <a:xfrm>
            <a:off x="1259632" y="4316551"/>
            <a:ext cx="707328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根据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热探测器参数</a:t>
            </a:r>
            <a:r>
              <a:rPr lang="el-GR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和辐射通量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，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可以求解热探测器温升。</a:t>
            </a:r>
          </a:p>
        </p:txBody>
      </p:sp>
      <p:sp>
        <p:nvSpPr>
          <p:cNvPr id="30" name="文本框 60">
            <a:extLst>
              <a:ext uri="{FF2B5EF4-FFF2-40B4-BE49-F238E27FC236}">
                <a16:creationId xmlns:a16="http://schemas.microsoft.com/office/drawing/2014/main" xmlns="" id="{1C4C515D-0626-489A-8277-40FF72394B09}"/>
              </a:ext>
            </a:extLst>
          </p:cNvPr>
          <p:cNvSpPr txBox="1"/>
          <p:nvPr/>
        </p:nvSpPr>
        <p:spPr>
          <a:xfrm>
            <a:off x="1087575" y="196927"/>
            <a:ext cx="154020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温度变化方程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F64FAE6A-7FB6-443B-9182-65D3CBAF1528}"/>
              </a:ext>
            </a:extLst>
          </p:cNvPr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4ED89C3B-CAF9-44F0-BDF1-2AEC79E8F4C6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21">
            <a:extLst>
              <a:ext uri="{FF2B5EF4-FFF2-40B4-BE49-F238E27FC236}">
                <a16:creationId xmlns:a16="http://schemas.microsoft.com/office/drawing/2014/main" xmlns="" id="{DBDC5478-1048-4C36-85F0-F4C55335AD90}"/>
              </a:ext>
            </a:extLst>
          </p:cNvPr>
          <p:cNvSpPr/>
          <p:nvPr/>
        </p:nvSpPr>
        <p:spPr>
          <a:xfrm>
            <a:off x="288310" y="195797"/>
            <a:ext cx="755297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6.1.1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58">
            <a:extLst>
              <a:ext uri="{FF2B5EF4-FFF2-40B4-BE49-F238E27FC236}">
                <a16:creationId xmlns:a16="http://schemas.microsoft.com/office/drawing/2014/main" xmlns="" id="{9C1C6E6D-2D95-42BC-A265-EE3FC57E8B5E}"/>
              </a:ext>
            </a:extLst>
          </p:cNvPr>
          <p:cNvCxnSpPr>
            <a:cxnSpLocks/>
          </p:cNvCxnSpPr>
          <p:nvPr/>
        </p:nvCxnSpPr>
        <p:spPr>
          <a:xfrm flipV="1">
            <a:off x="1109360" y="504704"/>
            <a:ext cx="1230392" cy="11934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xmlns="" id="{6940B9A0-37E7-45BF-B95D-EFA7FD207851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xmlns="" id="{063DF018-831D-4612-9610-BC69726BA00C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9" name="椭圆形标注 38"/>
          <p:cNvSpPr/>
          <p:nvPr/>
        </p:nvSpPr>
        <p:spPr>
          <a:xfrm>
            <a:off x="3923928" y="2449602"/>
            <a:ext cx="303415" cy="483214"/>
          </a:xfrm>
          <a:prstGeom prst="wedgeEllipseCallout">
            <a:avLst>
              <a:gd name="adj1" fmla="val -477277"/>
              <a:gd name="adj2" fmla="val 55673"/>
            </a:avLst>
          </a:prstGeom>
          <a:noFill/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形标注 39"/>
          <p:cNvSpPr/>
          <p:nvPr/>
        </p:nvSpPr>
        <p:spPr>
          <a:xfrm>
            <a:off x="5672161" y="2509354"/>
            <a:ext cx="303415" cy="483214"/>
          </a:xfrm>
          <a:prstGeom prst="wedgeEllipseCallout">
            <a:avLst>
              <a:gd name="adj1" fmla="val 296610"/>
              <a:gd name="adj2" fmla="val 43992"/>
            </a:avLst>
          </a:prstGeom>
          <a:noFill/>
          <a:ln>
            <a:solidFill>
              <a:srgbClr val="FF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54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4" grpId="0" animBg="1"/>
      <p:bldP spid="15" grpId="0" animBg="1"/>
      <p:bldP spid="16" grpId="0" animBg="1"/>
      <p:bldP spid="26" grpId="0" animBg="1"/>
      <p:bldP spid="27" grpId="0" animBg="1"/>
      <p:bldP spid="28" grpId="0" animBg="1"/>
      <p:bldP spid="39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39"/>
          <p:cNvSpPr>
            <a:spLocks noChangeArrowheads="1"/>
          </p:cNvSpPr>
          <p:nvPr/>
        </p:nvSpPr>
        <p:spPr bwMode="auto">
          <a:xfrm>
            <a:off x="3838575" y="1339850"/>
            <a:ext cx="1368425" cy="1177925"/>
          </a:xfrm>
          <a:prstGeom prst="down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162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AutoShape 40"/>
          <p:cNvSpPr>
            <a:spLocks noChangeArrowheads="1"/>
          </p:cNvSpPr>
          <p:nvPr/>
        </p:nvSpPr>
        <p:spPr bwMode="auto">
          <a:xfrm>
            <a:off x="3857625" y="3375025"/>
            <a:ext cx="1214438" cy="5889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5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256779"/>
              </p:ext>
            </p:extLst>
          </p:nvPr>
        </p:nvGraphicFramePr>
        <p:xfrm>
          <a:off x="2820988" y="679450"/>
          <a:ext cx="27336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9" name="Equation" r:id="rId3" imgW="1460160" imgH="393480" progId="Equation.DSMT4">
                  <p:embed/>
                </p:oleObj>
              </mc:Choice>
              <mc:Fallback>
                <p:oleObj name="Equation" r:id="rId3" imgW="146016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988" y="679450"/>
                        <a:ext cx="2733675" cy="6064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TextBox 12"/>
          <p:cNvSpPr txBox="1">
            <a:spLocks noChangeArrowheads="1"/>
          </p:cNvSpPr>
          <p:nvPr/>
        </p:nvSpPr>
        <p:spPr bwMode="auto">
          <a:xfrm>
            <a:off x="303213" y="1431925"/>
            <a:ext cx="33702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初态条件：</a:t>
            </a:r>
            <a:r>
              <a:rPr lang="en-US" altLang="zh-CN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t=0</a:t>
            </a:r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l-GR" altLang="zh-CN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</a:t>
            </a:r>
            <a:r>
              <a:rPr lang="en-US" altLang="zh-CN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T=0</a:t>
            </a:r>
            <a:endParaRPr lang="zh-CN" altLang="en-US" sz="20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59" name="TextBox 13"/>
          <p:cNvSpPr txBox="1">
            <a:spLocks noChangeArrowheads="1"/>
          </p:cNvSpPr>
          <p:nvPr/>
        </p:nvSpPr>
        <p:spPr bwMode="auto">
          <a:xfrm>
            <a:off x="369888" y="1985963"/>
            <a:ext cx="33385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末       态：达到热平衡</a:t>
            </a:r>
          </a:p>
        </p:txBody>
      </p:sp>
      <p:sp>
        <p:nvSpPr>
          <p:cNvPr id="15" name="左箭头 14"/>
          <p:cNvSpPr/>
          <p:nvPr/>
        </p:nvSpPr>
        <p:spPr bwMode="auto">
          <a:xfrm>
            <a:off x="5195888" y="1868488"/>
            <a:ext cx="1176337" cy="428625"/>
          </a:xfrm>
          <a:prstGeom prst="leftArrow">
            <a:avLst/>
          </a:prstGeom>
          <a:gradFill flip="none" rotWithShape="1">
            <a:gsLst>
              <a:gs pos="0">
                <a:srgbClr val="FF0000"/>
              </a:gs>
              <a:gs pos="77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 sz="2400" b="1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2052" name="Object 13"/>
          <p:cNvGraphicFramePr>
            <a:graphicFrameLocks noChangeAspect="1"/>
          </p:cNvGraphicFramePr>
          <p:nvPr/>
        </p:nvGraphicFramePr>
        <p:xfrm>
          <a:off x="3082925" y="2598738"/>
          <a:ext cx="28813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0" name="Equation" r:id="rId5" imgW="1409088" imgH="431613" progId="Equation.DSMT4">
                  <p:embed/>
                </p:oleObj>
              </mc:Choice>
              <mc:Fallback>
                <p:oleObj name="Equation" r:id="rId5" imgW="1409088" imgH="431613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925" y="2598738"/>
                        <a:ext cx="2881313" cy="6985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14"/>
          <p:cNvGraphicFramePr>
            <a:graphicFrameLocks noChangeAspect="1"/>
          </p:cNvGraphicFramePr>
          <p:nvPr/>
        </p:nvGraphicFramePr>
        <p:xfrm>
          <a:off x="6157913" y="2643188"/>
          <a:ext cx="1150937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1" name="Equation" r:id="rId7" imgW="469696" imgH="393529" progId="Equation.DSMT4">
                  <p:embed/>
                </p:oleObj>
              </mc:Choice>
              <mc:Fallback>
                <p:oleObj name="Equation" r:id="rId7" imgW="469696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7913" y="2643188"/>
                        <a:ext cx="1150937" cy="6080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1" name="TextBox 17"/>
          <p:cNvSpPr txBox="1">
            <a:spLocks noChangeArrowheads="1"/>
          </p:cNvSpPr>
          <p:nvPr/>
        </p:nvSpPr>
        <p:spPr bwMode="auto">
          <a:xfrm>
            <a:off x="1258888" y="4141788"/>
            <a:ext cx="16573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温升幅值</a:t>
            </a:r>
          </a:p>
        </p:txBody>
      </p:sp>
      <p:sp>
        <p:nvSpPr>
          <p:cNvPr id="2062" name="TextBox 18"/>
          <p:cNvSpPr txBox="1">
            <a:spLocks noChangeArrowheads="1"/>
          </p:cNvSpPr>
          <p:nvPr/>
        </p:nvSpPr>
        <p:spPr bwMode="auto">
          <a:xfrm>
            <a:off x="1411288" y="2695575"/>
            <a:ext cx="11525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  升</a:t>
            </a:r>
          </a:p>
        </p:txBody>
      </p:sp>
      <p:graphicFrame>
        <p:nvGraphicFramePr>
          <p:cNvPr id="2054" name="Object 15"/>
          <p:cNvGraphicFramePr>
            <a:graphicFrameLocks noChangeAspect="1"/>
          </p:cNvGraphicFramePr>
          <p:nvPr/>
        </p:nvGraphicFramePr>
        <p:xfrm>
          <a:off x="3298825" y="4037013"/>
          <a:ext cx="2630488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2" name="Equation" r:id="rId9" imgW="1346200" imgH="431800" progId="Equation.DSMT4">
                  <p:embed/>
                </p:oleObj>
              </mc:Choice>
              <mc:Fallback>
                <p:oleObj name="Equation" r:id="rId9" imgW="1346200" imgH="431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4037013"/>
                        <a:ext cx="2630488" cy="6683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F64FAE6A-7FB6-443B-9182-65D3CBAF1528}"/>
              </a:ext>
            </a:extLst>
          </p:cNvPr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4ED89C3B-CAF9-44F0-BDF1-2AEC79E8F4C6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6940B9A0-37E7-45BF-B95D-EFA7FD207851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063DF018-831D-4612-9610-BC69726BA00C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522498"/>
              </p:ext>
            </p:extLst>
          </p:nvPr>
        </p:nvGraphicFramePr>
        <p:xfrm>
          <a:off x="6399135" y="1880725"/>
          <a:ext cx="1330928" cy="435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3" name="Equation" r:id="rId11" imgW="736560" imgH="241200" progId="Equation.DSMT4">
                  <p:embed/>
                </p:oleObj>
              </mc:Choice>
              <mc:Fallback>
                <p:oleObj name="Equation" r:id="rId11" imgW="7365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99135" y="1880725"/>
                        <a:ext cx="1330928" cy="43599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60">
            <a:extLst>
              <a:ext uri="{FF2B5EF4-FFF2-40B4-BE49-F238E27FC236}">
                <a16:creationId xmlns:a16="http://schemas.microsoft.com/office/drawing/2014/main" xmlns="" id="{1C4C515D-0626-489A-8277-40FF72394B09}"/>
              </a:ext>
            </a:extLst>
          </p:cNvPr>
          <p:cNvSpPr txBox="1"/>
          <p:nvPr/>
        </p:nvSpPr>
        <p:spPr>
          <a:xfrm>
            <a:off x="1087575" y="196927"/>
            <a:ext cx="154020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温度变化方程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1">
            <a:extLst>
              <a:ext uri="{FF2B5EF4-FFF2-40B4-BE49-F238E27FC236}">
                <a16:creationId xmlns:a16="http://schemas.microsoft.com/office/drawing/2014/main" xmlns="" id="{DBDC5478-1048-4C36-85F0-F4C55335AD90}"/>
              </a:ext>
            </a:extLst>
          </p:cNvPr>
          <p:cNvSpPr/>
          <p:nvPr/>
        </p:nvSpPr>
        <p:spPr>
          <a:xfrm>
            <a:off x="288310" y="195797"/>
            <a:ext cx="755297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6.1.1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接连接符 58">
            <a:extLst>
              <a:ext uri="{FF2B5EF4-FFF2-40B4-BE49-F238E27FC236}">
                <a16:creationId xmlns:a16="http://schemas.microsoft.com/office/drawing/2014/main" xmlns="" id="{9C1C6E6D-2D95-42BC-A265-EE3FC57E8B5E}"/>
              </a:ext>
            </a:extLst>
          </p:cNvPr>
          <p:cNvCxnSpPr>
            <a:cxnSpLocks/>
          </p:cNvCxnSpPr>
          <p:nvPr/>
        </p:nvCxnSpPr>
        <p:spPr>
          <a:xfrm flipV="1">
            <a:off x="1109360" y="504704"/>
            <a:ext cx="1230392" cy="11934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058" grpId="0"/>
      <p:bldP spid="2059" grpId="0"/>
      <p:bldP spid="15" grpId="0" animBg="1"/>
      <p:bldP spid="2061" grpId="0"/>
      <p:bldP spid="20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755650" y="1571625"/>
            <a:ext cx="7704138" cy="32321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514350" indent="-5143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</a:p>
          <a:p>
            <a:pPr eaLnBrk="1" hangingPunct="1">
              <a:lnSpc>
                <a:spcPct val="150000"/>
              </a:lnSpc>
              <a:buFontTx/>
              <a:buAutoNum type="arabicParenBoth"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交变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辐射能所引起的</a:t>
            </a:r>
            <a:r>
              <a:rPr lang="el-GR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∝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吸收系数</a:t>
            </a:r>
            <a:r>
              <a:rPr lang="el-GR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涂黑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Tx/>
              <a:buAutoNum type="arabicParenBoth"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温度变化与工作频率</a:t>
            </a:r>
            <a:r>
              <a:rPr lang="el-GR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ω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有关：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l-GR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l-GR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低频时，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高频时，</a:t>
            </a:r>
            <a:endParaRPr lang="en-US" altLang="zh-CN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endParaRPr lang="zh-CN" altLang="en-US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74" name="Object 10"/>
          <p:cNvGraphicFramePr>
            <a:graphicFrameLocks noChangeAspect="1"/>
          </p:cNvGraphicFramePr>
          <p:nvPr/>
        </p:nvGraphicFramePr>
        <p:xfrm>
          <a:off x="2987675" y="771525"/>
          <a:ext cx="24923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8" name="Equation" r:id="rId3" imgW="1346200" imgH="431800" progId="Equation.DSMT4">
                  <p:embed/>
                </p:oleObj>
              </mc:Choice>
              <mc:Fallback>
                <p:oleObj name="Equation" r:id="rId3" imgW="1346200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771525"/>
                        <a:ext cx="2492375" cy="6540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411413" y="3206750"/>
          <a:ext cx="936625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9" name="Equation" r:id="rId5" imgW="583947" imgH="228501" progId="Equation.DSMT4">
                  <p:embed/>
                </p:oleObj>
              </mc:Choice>
              <mc:Fallback>
                <p:oleObj name="Equation" r:id="rId5" imgW="583947" imgH="228501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206750"/>
                        <a:ext cx="936625" cy="3540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475038" y="3073400"/>
          <a:ext cx="1295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0" name="Equation" r:id="rId7" imgW="736280" imgH="393529" progId="Equation.DSMT4">
                  <p:embed/>
                </p:oleObj>
              </mc:Choice>
              <mc:Fallback>
                <p:oleObj name="Equation" r:id="rId7" imgW="736280" imgH="393529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038" y="3073400"/>
                        <a:ext cx="12954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11413" y="3781425"/>
          <a:ext cx="935037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1" name="Equation" r:id="rId9" imgW="583947" imgH="228501" progId="Equation.DSMT4">
                  <p:embed/>
                </p:oleObj>
              </mc:Choice>
              <mc:Fallback>
                <p:oleObj name="Equation" r:id="rId9" imgW="583947" imgH="228501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781425"/>
                        <a:ext cx="935037" cy="3540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475038" y="3670300"/>
          <a:ext cx="1312862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" name="Equation" r:id="rId11" imgW="736280" imgH="393529" progId="Equation.DSMT4">
                  <p:embed/>
                </p:oleObj>
              </mc:Choice>
              <mc:Fallback>
                <p:oleObj name="Equation" r:id="rId11" imgW="736280" imgH="393529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038" y="3670300"/>
                        <a:ext cx="1312862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10"/>
          <p:cNvGrpSpPr>
            <a:grpSpLocks/>
          </p:cNvGrpSpPr>
          <p:nvPr/>
        </p:nvGrpSpPr>
        <p:grpSpPr bwMode="auto">
          <a:xfrm>
            <a:off x="4291013" y="3178175"/>
            <a:ext cx="4097337" cy="509588"/>
            <a:chOff x="6163726" y="3840746"/>
            <a:chExt cx="2996750" cy="678559"/>
          </a:xfrm>
        </p:grpSpPr>
        <p:sp>
          <p:nvSpPr>
            <p:cNvPr id="9" name="椭圆 8"/>
            <p:cNvSpPr/>
            <p:nvPr/>
          </p:nvSpPr>
          <p:spPr>
            <a:xfrm>
              <a:off x="6163726" y="4155716"/>
              <a:ext cx="287948" cy="36358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b="1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0" name="线形标注 1 9"/>
            <p:cNvSpPr/>
            <p:nvPr/>
          </p:nvSpPr>
          <p:spPr>
            <a:xfrm>
              <a:off x="6685051" y="3840746"/>
              <a:ext cx="2475425" cy="629939"/>
            </a:xfrm>
            <a:prstGeom prst="borderCallout1">
              <a:avLst>
                <a:gd name="adj1" fmla="val 49088"/>
                <a:gd name="adj2" fmla="val -1801"/>
                <a:gd name="adj3" fmla="val 72554"/>
                <a:gd name="adj4" fmla="val -9808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/>
            <a:lstStyle/>
            <a:p>
              <a:pPr eaLnBrk="1" hangingPunct="1">
                <a:defRPr/>
              </a:pPr>
              <a:r>
                <a:rPr lang="zh-CN" altLang="en-US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反比</a:t>
              </a:r>
              <a:r>
                <a:rPr lang="en-US" altLang="zh-CN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  <a:sym typeface="Wingdings" pitchFamily="2" charset="2"/>
                </a:rPr>
                <a:t></a:t>
              </a:r>
              <a:r>
                <a:rPr lang="zh-CN" altLang="en-US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提高温升、灵敏度的方法</a:t>
              </a:r>
            </a:p>
          </p:txBody>
        </p:sp>
      </p:grpSp>
      <p:grpSp>
        <p:nvGrpSpPr>
          <p:cNvPr id="8" name="组合 12"/>
          <p:cNvGrpSpPr>
            <a:grpSpLocks/>
          </p:cNvGrpSpPr>
          <p:nvPr/>
        </p:nvGrpSpPr>
        <p:grpSpPr bwMode="auto">
          <a:xfrm>
            <a:off x="4211638" y="3940175"/>
            <a:ext cx="4176712" cy="425450"/>
            <a:chOff x="6120926" y="4651475"/>
            <a:chExt cx="2536237" cy="748078"/>
          </a:xfrm>
        </p:grpSpPr>
        <p:sp>
          <p:nvSpPr>
            <p:cNvPr id="14" name="椭圆 13"/>
            <p:cNvSpPr/>
            <p:nvPr/>
          </p:nvSpPr>
          <p:spPr>
            <a:xfrm>
              <a:off x="6120926" y="4821747"/>
              <a:ext cx="349925" cy="44103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b="1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5" name="线形标注 1 14"/>
            <p:cNvSpPr/>
            <p:nvPr/>
          </p:nvSpPr>
          <p:spPr>
            <a:xfrm>
              <a:off x="6618341" y="4651475"/>
              <a:ext cx="2038822" cy="748078"/>
            </a:xfrm>
            <a:prstGeom prst="borderCallout1">
              <a:avLst>
                <a:gd name="adj1" fmla="val 50208"/>
                <a:gd name="adj2" fmla="val -1013"/>
                <a:gd name="adj3" fmla="val 49689"/>
                <a:gd name="adj4" fmla="val -6298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eaLnBrk="1" hangingPunct="1">
                <a:defRPr/>
              </a:pPr>
              <a:r>
                <a:rPr lang="zh-CN" altLang="en-US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温升与热导无关</a:t>
              </a:r>
              <a:r>
                <a:rPr lang="en-US" altLang="zh-CN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  <a:sym typeface="Wingdings" pitchFamily="2" charset="2"/>
                </a:rPr>
                <a:t></a:t>
              </a:r>
              <a:r>
                <a:rPr lang="zh-CN" altLang="en-US" b="1" dirty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  <a:sym typeface="Wingdings" pitchFamily="2" charset="2"/>
                </a:rPr>
                <a:t>低频</a:t>
              </a:r>
              <a:r>
                <a:rPr lang="zh-CN" altLang="en-US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  <a:sym typeface="Wingdings" pitchFamily="2" charset="2"/>
                </a:rPr>
                <a:t>电磁辐射</a:t>
              </a:r>
              <a:endParaRPr lang="zh-CN" altLang="en-US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16F5134F-1765-4119-A545-86589916386C}"/>
              </a:ext>
            </a:extLst>
          </p:cNvPr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1E162E08-8030-46F8-A6EC-16203DECCAD4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C08E7DA9-B832-4E65-B17D-C27A4F946C30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B783BD0D-C010-4A33-97DB-B597DC29EA6D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6" name="文本框 60">
            <a:extLst>
              <a:ext uri="{FF2B5EF4-FFF2-40B4-BE49-F238E27FC236}">
                <a16:creationId xmlns:a16="http://schemas.microsoft.com/office/drawing/2014/main" xmlns="" id="{1C4C515D-0626-489A-8277-40FF72394B09}"/>
              </a:ext>
            </a:extLst>
          </p:cNvPr>
          <p:cNvSpPr txBox="1"/>
          <p:nvPr/>
        </p:nvSpPr>
        <p:spPr>
          <a:xfrm>
            <a:off x="1087575" y="196927"/>
            <a:ext cx="154020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温度变化方程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1">
            <a:extLst>
              <a:ext uri="{FF2B5EF4-FFF2-40B4-BE49-F238E27FC236}">
                <a16:creationId xmlns:a16="http://schemas.microsoft.com/office/drawing/2014/main" xmlns="" id="{DBDC5478-1048-4C36-85F0-F4C55335AD90}"/>
              </a:ext>
            </a:extLst>
          </p:cNvPr>
          <p:cNvSpPr/>
          <p:nvPr/>
        </p:nvSpPr>
        <p:spPr>
          <a:xfrm>
            <a:off x="288310" y="195797"/>
            <a:ext cx="755297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6.1.1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8" name="直接连接符 58">
            <a:extLst>
              <a:ext uri="{FF2B5EF4-FFF2-40B4-BE49-F238E27FC236}">
                <a16:creationId xmlns:a16="http://schemas.microsoft.com/office/drawing/2014/main" xmlns="" id="{9C1C6E6D-2D95-42BC-A265-EE3FC57E8B5E}"/>
              </a:ext>
            </a:extLst>
          </p:cNvPr>
          <p:cNvCxnSpPr>
            <a:cxnSpLocks/>
          </p:cNvCxnSpPr>
          <p:nvPr/>
        </p:nvCxnSpPr>
        <p:spPr>
          <a:xfrm flipV="1">
            <a:off x="1109360" y="504704"/>
            <a:ext cx="1230392" cy="11934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1046163" y="987425"/>
          <a:ext cx="646112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0" name="Equation" r:id="rId3" imgW="380670" imgH="177646" progId="Equation.DSMT4">
                  <p:embed/>
                </p:oleObj>
              </mc:Choice>
              <mc:Fallback>
                <p:oleObj name="Equation" r:id="rId3" imgW="380670" imgH="1776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987425"/>
                        <a:ext cx="646112" cy="2730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6"/>
          <p:cNvGraphicFramePr>
            <a:graphicFrameLocks noChangeAspect="1"/>
          </p:cNvGraphicFramePr>
          <p:nvPr/>
        </p:nvGraphicFramePr>
        <p:xfrm>
          <a:off x="2843213" y="700088"/>
          <a:ext cx="267811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1" name="Equation" r:id="rId5" imgW="1396394" imgH="444307" progId="Equation.DSMT4">
                  <p:embed/>
                </p:oleObj>
              </mc:Choice>
              <mc:Fallback>
                <p:oleObj name="Equation" r:id="rId5" imgW="1396394" imgH="44430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700088"/>
                        <a:ext cx="267811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7"/>
          <p:cNvGraphicFramePr>
            <a:graphicFrameLocks noChangeAspect="1"/>
          </p:cNvGraphicFramePr>
          <p:nvPr/>
        </p:nvGraphicFramePr>
        <p:xfrm>
          <a:off x="1042988" y="2089150"/>
          <a:ext cx="86518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2" name="Equation" r:id="rId7" imgW="368300" imgH="228600" progId="Equation.DSMT4">
                  <p:embed/>
                </p:oleObj>
              </mc:Choice>
              <mc:Fallback>
                <p:oleObj name="Equation" r:id="rId7" imgW="3683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089150"/>
                        <a:ext cx="865187" cy="4556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2562225" y="2085975"/>
            <a:ext cx="4073525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l-GR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上升到稳定值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63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%</a:t>
            </a:r>
            <a:endParaRPr lang="zh-CN" altLang="en-US" sz="24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1138147" y="2899622"/>
            <a:ext cx="6525561" cy="830997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hangingPunct="1">
              <a:defRPr/>
            </a:pPr>
            <a:r>
              <a:rPr lang="el-GR" altLang="zh-CN" sz="2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τ</a:t>
            </a:r>
            <a:r>
              <a:rPr lang="en-US" altLang="zh-CN" sz="2400" b="1" baseline="-25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</a:t>
            </a:r>
            <a:r>
              <a:rPr lang="zh-CN" altLang="en-US" sz="2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热时间常数：</a:t>
            </a:r>
            <a:endParaRPr lang="en-US" altLang="zh-CN" sz="24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altLang="zh-CN" sz="2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	</a:t>
            </a:r>
            <a:r>
              <a:rPr lang="zh-CN" altLang="en-US" sz="2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与器件大小、形状和颜色相关</a:t>
            </a:r>
          </a:p>
        </p:txBody>
      </p:sp>
      <p:sp>
        <p:nvSpPr>
          <p:cNvPr id="12" name="Rectangle 19"/>
          <p:cNvSpPr>
            <a:spLocks noChangeArrowheads="1"/>
          </p:cNvSpPr>
          <p:nvPr/>
        </p:nvSpPr>
        <p:spPr bwMode="auto">
          <a:xfrm>
            <a:off x="2686050" y="4067175"/>
            <a:ext cx="1681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量级 </a:t>
            </a:r>
          </a:p>
        </p:txBody>
      </p:sp>
      <p:graphicFrame>
        <p:nvGraphicFramePr>
          <p:cNvPr id="4103" name="Object 8"/>
          <p:cNvGraphicFramePr>
            <a:graphicFrameLocks noChangeAspect="1"/>
          </p:cNvGraphicFramePr>
          <p:nvPr/>
        </p:nvGraphicFramePr>
        <p:xfrm>
          <a:off x="1101725" y="4017963"/>
          <a:ext cx="73342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3" name="Equation" r:id="rId9" imgW="469696" imgH="393529" progId="Equation.DSMT4">
                  <p:embed/>
                </p:oleObj>
              </mc:Choice>
              <mc:Fallback>
                <p:oleObj name="Equation" r:id="rId9" imgW="469696" imgH="39352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725" y="4017963"/>
                        <a:ext cx="733425" cy="5699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042988" y="1708150"/>
          <a:ext cx="849312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4" name="Equation" r:id="rId11" imgW="444307" imgH="139639" progId="Equation.DSMT4">
                  <p:embed/>
                </p:oleObj>
              </mc:Choice>
              <mc:Fallback>
                <p:oleObj name="Equation" r:id="rId11" imgW="444307" imgH="139639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708150"/>
                        <a:ext cx="849312" cy="2667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2535238" y="1544638"/>
            <a:ext cx="2468562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l-GR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达到稳定值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076825" y="1446213"/>
          <a:ext cx="10826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5" name="Equation" r:id="rId13" imgW="508000" imgH="381000" progId="Equation.DSMT4">
                  <p:embed/>
                </p:oleObj>
              </mc:Choice>
              <mc:Fallback>
                <p:oleObj name="Equation" r:id="rId13" imgW="508000" imgH="381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446213"/>
                        <a:ext cx="10826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椭圆 1"/>
          <p:cNvSpPr/>
          <p:nvPr/>
        </p:nvSpPr>
        <p:spPr>
          <a:xfrm>
            <a:off x="5003800" y="700088"/>
            <a:ext cx="360363" cy="503237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1459094F-270C-4B07-B49F-1AB4B3B0329F}"/>
              </a:ext>
            </a:extLst>
          </p:cNvPr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34EFF379-A312-41EC-B99A-1403A2A8A3A7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8D473662-B434-4B34-83D0-CABABF436644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5E204E97-014F-4AEB-8393-85DF717BB6CD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5" name="文本框 60">
            <a:extLst>
              <a:ext uri="{FF2B5EF4-FFF2-40B4-BE49-F238E27FC236}">
                <a16:creationId xmlns:a16="http://schemas.microsoft.com/office/drawing/2014/main" xmlns="" id="{1C4C515D-0626-489A-8277-40FF72394B09}"/>
              </a:ext>
            </a:extLst>
          </p:cNvPr>
          <p:cNvSpPr txBox="1"/>
          <p:nvPr/>
        </p:nvSpPr>
        <p:spPr>
          <a:xfrm>
            <a:off x="1087575" y="196927"/>
            <a:ext cx="1540209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温度变化方程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1">
            <a:extLst>
              <a:ext uri="{FF2B5EF4-FFF2-40B4-BE49-F238E27FC236}">
                <a16:creationId xmlns:a16="http://schemas.microsoft.com/office/drawing/2014/main" xmlns="" id="{DBDC5478-1048-4C36-85F0-F4C55335AD90}"/>
              </a:ext>
            </a:extLst>
          </p:cNvPr>
          <p:cNvSpPr/>
          <p:nvPr/>
        </p:nvSpPr>
        <p:spPr>
          <a:xfrm>
            <a:off x="288310" y="195797"/>
            <a:ext cx="755297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6.1.1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7" name="直接连接符 58">
            <a:extLst>
              <a:ext uri="{FF2B5EF4-FFF2-40B4-BE49-F238E27FC236}">
                <a16:creationId xmlns:a16="http://schemas.microsoft.com/office/drawing/2014/main" xmlns="" id="{9C1C6E6D-2D95-42BC-A265-EE3FC57E8B5E}"/>
              </a:ext>
            </a:extLst>
          </p:cNvPr>
          <p:cNvCxnSpPr>
            <a:cxnSpLocks/>
          </p:cNvCxnSpPr>
          <p:nvPr/>
        </p:nvCxnSpPr>
        <p:spPr>
          <a:xfrm flipV="1">
            <a:off x="1109360" y="504704"/>
            <a:ext cx="1230392" cy="11934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8" grpId="0" animBg="1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627784" y="539658"/>
            <a:ext cx="3455789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zh-CN" alt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最小可探测功率</a:t>
            </a: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auto">
          <a:xfrm>
            <a:off x="467545" y="1005108"/>
            <a:ext cx="6912768" cy="19389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热探测器的主要噪声</a:t>
            </a:r>
            <a:r>
              <a:rPr lang="en-US" altLang="zh-CN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温度噪声</a:t>
            </a:r>
            <a:endParaRPr lang="en-US" altLang="zh-CN" sz="20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探测器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与周围环境热交换引起</a:t>
            </a:r>
            <a:r>
              <a:rPr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的温度起伏</a:t>
            </a:r>
            <a:endParaRPr lang="en-US" altLang="zh-CN" sz="20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随机性、起伏性</a:t>
            </a:r>
            <a:endParaRPr lang="en-US" altLang="zh-CN" sz="20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热导的极限</a:t>
            </a:r>
            <a:r>
              <a:rPr lang="en-US" altLang="zh-CN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zh-CN" altLang="en-US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探测极限</a:t>
            </a: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5292725" y="3478213"/>
            <a:ext cx="2735263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受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热辐射</a:t>
            </a:r>
            <a:r>
              <a:rPr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的限制</a:t>
            </a:r>
            <a:endParaRPr lang="en-US" altLang="zh-CN" sz="280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6286500" y="4017963"/>
            <a:ext cx="2432050" cy="52387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热导极限值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5" name="AutoShape 19"/>
          <p:cNvSpPr>
            <a:spLocks noChangeArrowheads="1"/>
          </p:cNvSpPr>
          <p:nvPr/>
        </p:nvSpPr>
        <p:spPr bwMode="auto">
          <a:xfrm>
            <a:off x="5429250" y="4017963"/>
            <a:ext cx="814388" cy="323850"/>
          </a:xfrm>
          <a:prstGeom prst="rightArrow">
            <a:avLst>
              <a:gd name="adj1" fmla="val 50000"/>
              <a:gd name="adj2" fmla="val 75104"/>
            </a:avLst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图示 15"/>
          <p:cNvGraphicFramePr/>
          <p:nvPr>
            <p:extLst>
              <p:ext uri="{D42A27DB-BD31-4B8C-83A1-F6EECF244321}">
                <p14:modId xmlns:p14="http://schemas.microsoft.com/office/powerpoint/2010/main" val="3418511641"/>
              </p:ext>
            </p:extLst>
          </p:nvPr>
        </p:nvGraphicFramePr>
        <p:xfrm>
          <a:off x="755576" y="2679762"/>
          <a:ext cx="4536504" cy="2093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文本框 60">
            <a:extLst>
              <a:ext uri="{FF2B5EF4-FFF2-40B4-BE49-F238E27FC236}">
                <a16:creationId xmlns:a16="http://schemas.microsoft.com/office/drawing/2014/main" xmlns="" id="{9A51DFC8-7439-4D75-AE07-C00E26D10A39}"/>
              </a:ext>
            </a:extLst>
          </p:cNvPr>
          <p:cNvSpPr txBox="1"/>
          <p:nvPr/>
        </p:nvSpPr>
        <p:spPr>
          <a:xfrm>
            <a:off x="1139424" y="194898"/>
            <a:ext cx="1488360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最小可探测功率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834DFB29-CE83-436A-880D-83464FA4D656}"/>
              </a:ext>
            </a:extLst>
          </p:cNvPr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DC6BE416-9485-432F-8C3F-77C32BF59FFF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xmlns="" id="{B54ADE09-DCB7-403E-8AF2-C5694E9901E4}"/>
              </a:ext>
            </a:extLst>
          </p:cNvPr>
          <p:cNvSpPr/>
          <p:nvPr/>
        </p:nvSpPr>
        <p:spPr>
          <a:xfrm>
            <a:off x="288311" y="195797"/>
            <a:ext cx="755298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6.1.2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75FAEF6B-C2E4-4C6D-8E03-705BDAC88A6E}"/>
              </a:ext>
            </a:extLst>
          </p:cNvPr>
          <p:cNvCxnSpPr>
            <a:cxnSpLocks/>
          </p:cNvCxnSpPr>
          <p:nvPr/>
        </p:nvCxnSpPr>
        <p:spPr>
          <a:xfrm>
            <a:off x="1187624" y="483518"/>
            <a:ext cx="1368152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0EC512A9-6344-4A92-911E-E0D278378AE6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86E67864-7F36-496B-80EA-1E324674BDD4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4" grpId="0" animBg="1"/>
      <p:bldP spid="15" grpId="0" animBg="1"/>
      <p:bldGraphic spid="16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7" name="Text Box 5"/>
          <p:cNvSpPr txBox="1">
            <a:spLocks noChangeArrowheads="1"/>
          </p:cNvSpPr>
          <p:nvPr/>
        </p:nvSpPr>
        <p:spPr bwMode="auto">
          <a:xfrm>
            <a:off x="717550" y="844550"/>
            <a:ext cx="682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设：热探测器的光敏面积为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，发射系数为</a:t>
            </a:r>
            <a:r>
              <a:rPr lang="el-GR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ε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9878" name="Object 6"/>
          <p:cNvGraphicFramePr>
            <a:graphicFrameLocks noChangeAspect="1"/>
          </p:cNvGraphicFramePr>
          <p:nvPr/>
        </p:nvGraphicFramePr>
        <p:xfrm>
          <a:off x="5508625" y="1474788"/>
          <a:ext cx="15033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6" name="Equation" r:id="rId3" imgW="622030" imgH="241195" progId="Equation.DSMT4">
                  <p:embed/>
                </p:oleObj>
              </mc:Choice>
              <mc:Fallback>
                <p:oleObj name="Equation" r:id="rId3" imgW="622030" imgH="24119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1474788"/>
                        <a:ext cx="150336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9" name="Text Box 7"/>
          <p:cNvSpPr txBox="1">
            <a:spLocks noChangeArrowheads="1"/>
          </p:cNvSpPr>
          <p:nvPr/>
        </p:nvSpPr>
        <p:spPr bwMode="auto">
          <a:xfrm>
            <a:off x="717550" y="1500188"/>
            <a:ext cx="4718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黑体辐射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斯特潘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玻尔兹曼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定律：</a:t>
            </a:r>
            <a:endParaRPr lang="zh-CN" altLang="en-US" sz="2400" b="1">
              <a:solidFill>
                <a:schemeClr val="hlin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9880" name="Text Box 8"/>
          <p:cNvSpPr txBox="1">
            <a:spLocks noChangeArrowheads="1"/>
          </p:cNvSpPr>
          <p:nvPr/>
        </p:nvSpPr>
        <p:spPr bwMode="auto">
          <a:xfrm>
            <a:off x="755650" y="2859088"/>
            <a:ext cx="4198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热平衡时向外辐射的总通量为</a:t>
            </a:r>
            <a:endParaRPr lang="zh-CN" altLang="en-US" sz="2400" b="1">
              <a:solidFill>
                <a:schemeClr val="hlin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9881" name="Object 9"/>
          <p:cNvGraphicFramePr>
            <a:graphicFrameLocks noChangeAspect="1"/>
          </p:cNvGraphicFramePr>
          <p:nvPr/>
        </p:nvGraphicFramePr>
        <p:xfrm>
          <a:off x="5003800" y="2882900"/>
          <a:ext cx="15367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7" name="Equation" r:id="rId5" imgW="812447" imgH="241195" progId="Equation.DSMT4">
                  <p:embed/>
                </p:oleObj>
              </mc:Choice>
              <mc:Fallback>
                <p:oleObj name="Equation" r:id="rId5" imgW="812447" imgH="24119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882900"/>
                        <a:ext cx="15367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2" name="Text Box 10"/>
          <p:cNvSpPr txBox="1">
            <a:spLocks noChangeArrowheads="1"/>
          </p:cNvSpPr>
          <p:nvPr/>
        </p:nvSpPr>
        <p:spPr bwMode="auto">
          <a:xfrm>
            <a:off x="755650" y="3579813"/>
            <a:ext cx="28813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探测器的热导为</a:t>
            </a:r>
            <a:endParaRPr lang="zh-CN" altLang="en-US" sz="2400" b="1">
              <a:solidFill>
                <a:schemeClr val="hlin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98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488458"/>
              </p:ext>
            </p:extLst>
          </p:nvPr>
        </p:nvGraphicFramePr>
        <p:xfrm>
          <a:off x="3282950" y="3667125"/>
          <a:ext cx="272891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8" name="Equation" r:id="rId7" imgW="1269720" imgH="393480" progId="Equation.DSMT4">
                  <p:embed/>
                </p:oleObj>
              </mc:Choice>
              <mc:Fallback>
                <p:oleObj name="Equation" r:id="rId7" imgW="126972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3667125"/>
                        <a:ext cx="2728913" cy="809625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3"/>
          <p:cNvGrpSpPr>
            <a:grpSpLocks/>
          </p:cNvGrpSpPr>
          <p:nvPr/>
        </p:nvGrpSpPr>
        <p:grpSpPr bwMode="auto">
          <a:xfrm>
            <a:off x="1120775" y="2190750"/>
            <a:ext cx="6016625" cy="461963"/>
            <a:chOff x="571500" y="4054004"/>
            <a:chExt cx="6016724" cy="461962"/>
          </a:xfrm>
        </p:grpSpPr>
        <p:sp>
          <p:nvSpPr>
            <p:cNvPr id="2" name="圆角矩形 1"/>
            <p:cNvSpPr/>
            <p:nvPr/>
          </p:nvSpPr>
          <p:spPr>
            <a:xfrm>
              <a:off x="571500" y="4054004"/>
              <a:ext cx="6016724" cy="461962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0252" name="矩形 1"/>
            <p:cNvSpPr>
              <a:spLocks noChangeArrowheads="1"/>
            </p:cNvSpPr>
            <p:nvPr/>
          </p:nvSpPr>
          <p:spPr bwMode="auto">
            <a:xfrm>
              <a:off x="571500" y="4071938"/>
              <a:ext cx="37226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l-GR" altLang="zh-CN" sz="2000" b="1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σ</a:t>
              </a:r>
              <a:r>
                <a:rPr lang="zh-CN" altLang="en-US" sz="20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：斯特潘</a:t>
              </a:r>
              <a:r>
                <a:rPr lang="en-US" altLang="zh-CN" sz="20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2000" b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玻尔兹曼常数，</a:t>
              </a:r>
            </a:p>
          </p:txBody>
        </p:sp>
        <p:graphicFrame>
          <p:nvGraphicFramePr>
            <p:cNvPr id="1025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9583060"/>
                </p:ext>
              </p:extLst>
            </p:nvPr>
          </p:nvGraphicFramePr>
          <p:xfrm>
            <a:off x="3697339" y="4090517"/>
            <a:ext cx="2759120" cy="3540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9" name="Equation" r:id="rId9" imgW="1536480" imgH="203040" progId="Equation.DSMT4">
                    <p:embed/>
                  </p:oleObj>
                </mc:Choice>
                <mc:Fallback>
                  <p:oleObj name="Equation" r:id="rId9" imgW="1536480" imgH="203040" progId="Equation.DSMT4">
                    <p:embed/>
                    <p:pic>
                      <p:nvPicPr>
                        <p:cNvPr id="0" name="对象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7339" y="4090517"/>
                          <a:ext cx="2759120" cy="3540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C06F217F-DFC7-49AC-8891-FF57C39FAD38}"/>
              </a:ext>
            </a:extLst>
          </p:cNvPr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D0CA7822-8D64-4061-9C96-29EF22D0C1EC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E4628287-7B8E-41EC-87A8-AF7A36EA0172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A3DB8876-E0E4-4C21-A6A2-3E1E48750C7D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4" name="文本框 60">
            <a:extLst>
              <a:ext uri="{FF2B5EF4-FFF2-40B4-BE49-F238E27FC236}">
                <a16:creationId xmlns:a16="http://schemas.microsoft.com/office/drawing/2014/main" xmlns="" id="{9A51DFC8-7439-4D75-AE07-C00E26D10A39}"/>
              </a:ext>
            </a:extLst>
          </p:cNvPr>
          <p:cNvSpPr txBox="1"/>
          <p:nvPr/>
        </p:nvSpPr>
        <p:spPr>
          <a:xfrm>
            <a:off x="1139424" y="194898"/>
            <a:ext cx="1488360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最小可探测功率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18">
            <a:extLst>
              <a:ext uri="{FF2B5EF4-FFF2-40B4-BE49-F238E27FC236}">
                <a16:creationId xmlns:a16="http://schemas.microsoft.com/office/drawing/2014/main" xmlns="" id="{B54ADE09-DCB7-403E-8AF2-C5694E9901E4}"/>
              </a:ext>
            </a:extLst>
          </p:cNvPr>
          <p:cNvSpPr/>
          <p:nvPr/>
        </p:nvSpPr>
        <p:spPr>
          <a:xfrm>
            <a:off x="288311" y="195797"/>
            <a:ext cx="755298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6.1.2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6" name="直接连接符 58">
            <a:extLst>
              <a:ext uri="{FF2B5EF4-FFF2-40B4-BE49-F238E27FC236}">
                <a16:creationId xmlns:a16="http://schemas.microsoft.com/office/drawing/2014/main" xmlns="" id="{75FAEF6B-C2E4-4C6D-8E03-705BDAC88A6E}"/>
              </a:ext>
            </a:extLst>
          </p:cNvPr>
          <p:cNvCxnSpPr>
            <a:cxnSpLocks/>
          </p:cNvCxnSpPr>
          <p:nvPr/>
        </p:nvCxnSpPr>
        <p:spPr>
          <a:xfrm>
            <a:off x="1187624" y="483518"/>
            <a:ext cx="1368152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7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7" grpId="0"/>
      <p:bldP spid="79879" grpId="0"/>
      <p:bldP spid="79880" grpId="0"/>
      <p:bldP spid="7988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24" name="Object 10"/>
          <p:cNvGraphicFramePr>
            <a:graphicFrameLocks noChangeAspect="1"/>
          </p:cNvGraphicFramePr>
          <p:nvPr/>
        </p:nvGraphicFramePr>
        <p:xfrm>
          <a:off x="3059113" y="1563688"/>
          <a:ext cx="2489200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6" name="Equation" r:id="rId3" imgW="1371600" imgH="457200" progId="Equation.DSMT4">
                  <p:embed/>
                </p:oleObj>
              </mc:Choice>
              <mc:Fallback>
                <p:oleObj name="Equation" r:id="rId3" imgW="137160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563688"/>
                        <a:ext cx="2489200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6" name="Text Box 6"/>
          <p:cNvSpPr txBox="1">
            <a:spLocks noChangeArrowheads="1"/>
          </p:cNvSpPr>
          <p:nvPr/>
        </p:nvSpPr>
        <p:spPr bwMode="auto">
          <a:xfrm>
            <a:off x="642938" y="2465388"/>
            <a:ext cx="14811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低频时：</a:t>
            </a:r>
            <a:endParaRPr lang="zh-CN" altLang="en-US" sz="2800" b="1">
              <a:solidFill>
                <a:schemeClr val="hlin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1927" name="Object 2"/>
          <p:cNvGraphicFramePr>
            <a:graphicFrameLocks noChangeAspect="1"/>
          </p:cNvGraphicFramePr>
          <p:nvPr/>
        </p:nvGraphicFramePr>
        <p:xfrm>
          <a:off x="2124075" y="2562225"/>
          <a:ext cx="18002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7" name="Equation" r:id="rId5" imgW="1091726" imgH="228501" progId="Equation.DSMT4">
                  <p:embed/>
                </p:oleObj>
              </mc:Choice>
              <mc:Fallback>
                <p:oleObj name="Equation" r:id="rId5" imgW="1091726" imgH="22850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562225"/>
                        <a:ext cx="18002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8" name="Object 8"/>
          <p:cNvGraphicFramePr>
            <a:graphicFrameLocks noChangeAspect="1"/>
          </p:cNvGraphicFramePr>
          <p:nvPr/>
        </p:nvGraphicFramePr>
        <p:xfrm>
          <a:off x="4284663" y="2465388"/>
          <a:ext cx="174783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8" name="Equation" r:id="rId7" imgW="965200" imgH="419100" progId="Equation.DSMT4">
                  <p:embed/>
                </p:oleObj>
              </mc:Choice>
              <mc:Fallback>
                <p:oleObj name="Equation" r:id="rId7" imgW="965200" imgH="419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2465388"/>
                        <a:ext cx="1747837" cy="6477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9" name="Text Box 9"/>
          <p:cNvSpPr txBox="1">
            <a:spLocks noChangeArrowheads="1"/>
          </p:cNvSpPr>
          <p:nvPr/>
        </p:nvSpPr>
        <p:spPr bwMode="auto">
          <a:xfrm>
            <a:off x="665163" y="3148013"/>
            <a:ext cx="30241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温度噪声功率为</a:t>
            </a:r>
            <a:endParaRPr lang="zh-CN" altLang="en-US" sz="2800" b="1">
              <a:solidFill>
                <a:schemeClr val="hlin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193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6541133"/>
              </p:ext>
            </p:extLst>
          </p:nvPr>
        </p:nvGraphicFramePr>
        <p:xfrm>
          <a:off x="1776413" y="3867150"/>
          <a:ext cx="51212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9" name="Equation" r:id="rId9" imgW="2565360" imgH="317160" progId="Equation.DSMT4">
                  <p:embed/>
                </p:oleObj>
              </mc:Choice>
              <mc:Fallback>
                <p:oleObj name="Equation" r:id="rId9" imgW="2565360" imgH="3171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3867150"/>
                        <a:ext cx="5121275" cy="5826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39750" y="842963"/>
            <a:ext cx="7488238" cy="646112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热探测器与环境温度处于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热平衡状态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时，在频带</a:t>
            </a:r>
            <a:r>
              <a:rPr lang="el-GR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Δ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4BC4C316-3D33-45C1-8444-F0F0360D700D}"/>
              </a:ext>
            </a:extLst>
          </p:cNvPr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6E0EA991-4E9D-43AD-9A4D-AE1E88EEF49A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4078A12D-A6DB-43DE-B9EB-E8841DABD62A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EFF84E92-BDD3-42CD-A842-A456343BB40A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0" name="文本框 60">
            <a:extLst>
              <a:ext uri="{FF2B5EF4-FFF2-40B4-BE49-F238E27FC236}">
                <a16:creationId xmlns:a16="http://schemas.microsoft.com/office/drawing/2014/main" xmlns="" id="{9A51DFC8-7439-4D75-AE07-C00E26D10A39}"/>
              </a:ext>
            </a:extLst>
          </p:cNvPr>
          <p:cNvSpPr txBox="1"/>
          <p:nvPr/>
        </p:nvSpPr>
        <p:spPr>
          <a:xfrm>
            <a:off x="1139424" y="194898"/>
            <a:ext cx="1488360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最小可探测功率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18">
            <a:extLst>
              <a:ext uri="{FF2B5EF4-FFF2-40B4-BE49-F238E27FC236}">
                <a16:creationId xmlns:a16="http://schemas.microsoft.com/office/drawing/2014/main" xmlns="" id="{B54ADE09-DCB7-403E-8AF2-C5694E9901E4}"/>
              </a:ext>
            </a:extLst>
          </p:cNvPr>
          <p:cNvSpPr/>
          <p:nvPr/>
        </p:nvSpPr>
        <p:spPr>
          <a:xfrm>
            <a:off x="288311" y="195797"/>
            <a:ext cx="755298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6.1.2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2" name="直接连接符 58">
            <a:extLst>
              <a:ext uri="{FF2B5EF4-FFF2-40B4-BE49-F238E27FC236}">
                <a16:creationId xmlns:a16="http://schemas.microsoft.com/office/drawing/2014/main" xmlns="" id="{75FAEF6B-C2E4-4C6D-8E03-705BDAC88A6E}"/>
              </a:ext>
            </a:extLst>
          </p:cNvPr>
          <p:cNvCxnSpPr>
            <a:cxnSpLocks/>
          </p:cNvCxnSpPr>
          <p:nvPr/>
        </p:nvCxnSpPr>
        <p:spPr>
          <a:xfrm>
            <a:off x="1187624" y="483518"/>
            <a:ext cx="1368152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6" grpId="0"/>
      <p:bldP spid="81929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3"/>
          <p:cNvSpPr>
            <a:spLocks noChangeArrowheads="1"/>
          </p:cNvSpPr>
          <p:nvPr/>
        </p:nvSpPr>
        <p:spPr bwMode="auto">
          <a:xfrm>
            <a:off x="251520" y="3038552"/>
            <a:ext cx="2088604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最小可探测功率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</a:p>
        </p:txBody>
      </p:sp>
      <p:graphicFrame>
        <p:nvGraphicFramePr>
          <p:cNvPr id="809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6955203"/>
              </p:ext>
            </p:extLst>
          </p:nvPr>
        </p:nvGraphicFramePr>
        <p:xfrm>
          <a:off x="1591074" y="3398327"/>
          <a:ext cx="30638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4" name="公式" r:id="rId3" imgW="1562100" imgH="254000" progId="Equation.3">
                  <p:embed/>
                </p:oleObj>
              </mc:Choice>
              <mc:Fallback>
                <p:oleObj name="公式" r:id="rId3" imgW="1562100" imgH="254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1074" y="3398327"/>
                        <a:ext cx="30638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3"/>
          <p:cNvSpPr>
            <a:spLocks noChangeArrowheads="1"/>
          </p:cNvSpPr>
          <p:nvPr/>
        </p:nvSpPr>
        <p:spPr bwMode="auto">
          <a:xfrm>
            <a:off x="1835150" y="658813"/>
            <a:ext cx="377666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热辐射温度噪声功率的均方根：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55650" y="700088"/>
          <a:ext cx="922338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5" name="Equation" r:id="rId5" imgW="583947" imgH="228501" progId="Equation.DSMT4">
                  <p:embed/>
                </p:oleObj>
              </mc:Choice>
              <mc:Fallback>
                <p:oleObj name="Equation" r:id="rId5" imgW="583947" imgH="228501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700088"/>
                        <a:ext cx="922338" cy="3540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79613" y="1131888"/>
          <a:ext cx="37211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6" name="Equation" r:id="rId7" imgW="2501900" imgH="254000" progId="Equation.DSMT4">
                  <p:embed/>
                </p:oleObj>
              </mc:Choice>
              <mc:Fallback>
                <p:oleObj name="Equation" r:id="rId7" imgW="2501900" imgH="254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131888"/>
                        <a:ext cx="3721100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3"/>
          <p:cNvSpPr>
            <a:spLocks noChangeArrowheads="1"/>
          </p:cNvSpPr>
          <p:nvPr/>
        </p:nvSpPr>
        <p:spPr bwMode="auto">
          <a:xfrm>
            <a:off x="611188" y="1563688"/>
            <a:ext cx="3262312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热平衡时的基尔霍夫定律：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722688" y="1560513"/>
          <a:ext cx="25495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7" name="Equation" r:id="rId9" imgW="1396394" imgH="253890" progId="Equation.DSMT4">
                  <p:embed/>
                </p:oleObj>
              </mc:Choice>
              <mc:Fallback>
                <p:oleObj name="Equation" r:id="rId9" imgW="1396394" imgH="25389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1560513"/>
                        <a:ext cx="254952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右大括号 4"/>
          <p:cNvSpPr/>
          <p:nvPr/>
        </p:nvSpPr>
        <p:spPr>
          <a:xfrm>
            <a:off x="6300788" y="1095375"/>
            <a:ext cx="123825" cy="647700"/>
          </a:xfrm>
          <a:prstGeom prst="rightBrace">
            <a:avLst>
              <a:gd name="adj1" fmla="val 36115"/>
              <a:gd name="adj2" fmla="val 50000"/>
            </a:avLst>
          </a:prstGeom>
          <a:ln w="19050">
            <a:solidFill>
              <a:srgbClr val="FF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2400" b="1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6659563" y="1419225"/>
            <a:ext cx="360362" cy="0"/>
          </a:xfrm>
          <a:prstGeom prst="straightConnector1">
            <a:avLst/>
          </a:prstGeom>
          <a:ln w="28575">
            <a:solidFill>
              <a:srgbClr val="FF006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33"/>
          <p:cNvSpPr>
            <a:spLocks noChangeArrowheads="1"/>
          </p:cNvSpPr>
          <p:nvPr/>
        </p:nvSpPr>
        <p:spPr bwMode="auto">
          <a:xfrm>
            <a:off x="347308" y="4121608"/>
            <a:ext cx="1330680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比探测率</a:t>
            </a:r>
            <a:r>
              <a:rPr lang="zh-CN" altLang="en-US" sz="20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407375"/>
              </p:ext>
            </p:extLst>
          </p:nvPr>
        </p:nvGraphicFramePr>
        <p:xfrm>
          <a:off x="1619290" y="3829994"/>
          <a:ext cx="2924018" cy="864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8" name="Equation" r:id="rId11" imgW="1726451" imgH="533169" progId="Equation.DSMT4">
                  <p:embed/>
                </p:oleObj>
              </mc:Choice>
              <mc:Fallback>
                <p:oleObj name="Equation" r:id="rId11" imgW="1726451" imgH="533169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90" y="3829994"/>
                        <a:ext cx="2924018" cy="864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33"/>
          <p:cNvSpPr>
            <a:spLocks noChangeArrowheads="1"/>
          </p:cNvSpPr>
          <p:nvPr/>
        </p:nvSpPr>
        <p:spPr bwMode="auto">
          <a:xfrm>
            <a:off x="4992093" y="3247186"/>
            <a:ext cx="3687762" cy="13239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例：常温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(300K)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、黑体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l-GR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=1)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、热敏面积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100mm</a:t>
            </a:r>
            <a:r>
              <a:rPr lang="en-US" altLang="zh-CN" sz="2000" b="1" baseline="300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、频宽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1Hz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NEP=5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sz="2000" b="1" baseline="300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-11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        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D</a:t>
            </a:r>
            <a:r>
              <a:rPr lang="zh-CN" altLang="en-US" sz="2000" b="1" baseline="300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=1.81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sz="2000" b="1" baseline="300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cm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Hz</a:t>
            </a:r>
            <a:r>
              <a:rPr lang="en-US" altLang="zh-CN" sz="2000" b="1" baseline="300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1/2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/W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15"/>
          <p:cNvGrpSpPr>
            <a:grpSpLocks/>
          </p:cNvGrpSpPr>
          <p:nvPr/>
        </p:nvGrpSpPr>
        <p:grpSpPr bwMode="auto">
          <a:xfrm>
            <a:off x="1086527" y="2080330"/>
            <a:ext cx="6913562" cy="862012"/>
            <a:chOff x="658745" y="2868825"/>
            <a:chExt cx="7009040" cy="1150073"/>
          </a:xfrm>
        </p:grpSpPr>
        <p:sp>
          <p:nvSpPr>
            <p:cNvPr id="22" name="Text Box 6"/>
            <p:cNvSpPr txBox="1">
              <a:spLocks noChangeArrowheads="1"/>
            </p:cNvSpPr>
            <p:nvPr/>
          </p:nvSpPr>
          <p:spPr bwMode="auto">
            <a:xfrm>
              <a:off x="658745" y="2868825"/>
              <a:ext cx="7009040" cy="115007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rgbClr val="FF00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2000" b="1" dirty="0">
                  <a:solidFill>
                    <a:srgbClr val="C0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噪声等效功率</a:t>
              </a:r>
              <a:r>
                <a:rPr lang="en-US" altLang="zh-CN" sz="2000" b="1" dirty="0">
                  <a:solidFill>
                    <a:srgbClr val="C0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NEP</a:t>
              </a:r>
              <a:r>
                <a:rPr lang="en-US" altLang="zh-CN" sz="20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:  </a:t>
              </a:r>
              <a:r>
                <a:rPr lang="en-US" altLang="zh-CN" sz="2000" b="1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S/N=1</a:t>
              </a:r>
              <a:r>
                <a:rPr lang="zh-CN" altLang="en-US" sz="2000" b="1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时入射到热探测器上的热辐射通量</a:t>
              </a:r>
              <a:endParaRPr lang="en-US" altLang="zh-CN" sz="2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  <a:p>
              <a:pPr eaLnBrk="1" hangingPunct="1">
                <a:spcBef>
                  <a:spcPct val="50000"/>
                </a:spcBef>
                <a:defRPr/>
              </a:pPr>
              <a:endParaRPr lang="zh-CN" altLang="en-US" sz="20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graphicFrame>
          <p:nvGraphicFramePr>
            <p:cNvPr id="12305" name="对象 14"/>
            <p:cNvGraphicFramePr>
              <a:graphicFrameLocks noChangeAspect="1"/>
            </p:cNvGraphicFramePr>
            <p:nvPr/>
          </p:nvGraphicFramePr>
          <p:xfrm>
            <a:off x="2179372" y="3472554"/>
            <a:ext cx="4075859" cy="5076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9" name="Equation" r:id="rId13" imgW="2184400" imgH="228600" progId="Equation.DSMT4">
                    <p:embed/>
                  </p:oleObj>
                </mc:Choice>
                <mc:Fallback>
                  <p:oleObj name="Equation" r:id="rId13" imgW="2184400" imgH="228600" progId="Equation.DSMT4">
                    <p:embed/>
                    <p:pic>
                      <p:nvPicPr>
                        <p:cNvPr id="0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9372" y="3472554"/>
                          <a:ext cx="4075859" cy="5076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A0211F2C-3E98-4FCD-8B96-32D9B3C37B54}"/>
              </a:ext>
            </a:extLst>
          </p:cNvPr>
          <p:cNvSpPr/>
          <p:nvPr/>
        </p:nvSpPr>
        <p:spPr>
          <a:xfrm>
            <a:off x="6678647" y="219732"/>
            <a:ext cx="965535" cy="285904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933"/>
              </a:lnSpc>
            </a:pPr>
            <a:r>
              <a:rPr lang="en-US" altLang="zh-CN" sz="733" b="1" spc="33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733" b="1" spc="33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8B46AB93-111E-4B2C-A8EB-A421F4E28DBE}"/>
              </a:ext>
            </a:extLst>
          </p:cNvPr>
          <p:cNvSpPr/>
          <p:nvPr/>
        </p:nvSpPr>
        <p:spPr>
          <a:xfrm>
            <a:off x="8661480" y="241570"/>
            <a:ext cx="111669" cy="275067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10C11010-77BA-4FE0-B419-80253B6DD42B}"/>
              </a:ext>
            </a:extLst>
          </p:cNvPr>
          <p:cNvSpPr/>
          <p:nvPr/>
        </p:nvSpPr>
        <p:spPr>
          <a:xfrm>
            <a:off x="7500411" y="195797"/>
            <a:ext cx="1161069" cy="348677"/>
          </a:xfrm>
          <a:prstGeom prst="rect">
            <a:avLst/>
          </a:prstGeom>
          <a:noFill/>
        </p:spPr>
        <p:txBody>
          <a:bodyPr wrap="square" lIns="60953" tIns="30476" rIns="60953" bIns="30476">
            <a:spAutoFit/>
          </a:bodyPr>
          <a:lstStyle/>
          <a:p>
            <a:pPr algn="r"/>
            <a:r>
              <a:rPr lang="zh-CN" altLang="en-US" sz="1866" spc="13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E29CD3F3-4294-487E-9243-2140C5D07B72}"/>
              </a:ext>
            </a:extLst>
          </p:cNvPr>
          <p:cNvSpPr/>
          <p:nvPr/>
        </p:nvSpPr>
        <p:spPr>
          <a:xfrm flipV="1">
            <a:off x="0" y="5059383"/>
            <a:ext cx="6760050" cy="83820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32" name="文本框 60">
            <a:extLst>
              <a:ext uri="{FF2B5EF4-FFF2-40B4-BE49-F238E27FC236}">
                <a16:creationId xmlns:a16="http://schemas.microsoft.com/office/drawing/2014/main" xmlns="" id="{9A51DFC8-7439-4D75-AE07-C00E26D10A39}"/>
              </a:ext>
            </a:extLst>
          </p:cNvPr>
          <p:cNvSpPr txBox="1"/>
          <p:nvPr/>
        </p:nvSpPr>
        <p:spPr>
          <a:xfrm>
            <a:off x="1139424" y="194898"/>
            <a:ext cx="1488360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最小可探测功率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: 圆角 18">
            <a:extLst>
              <a:ext uri="{FF2B5EF4-FFF2-40B4-BE49-F238E27FC236}">
                <a16:creationId xmlns:a16="http://schemas.microsoft.com/office/drawing/2014/main" xmlns="" id="{B54ADE09-DCB7-403E-8AF2-C5694E9901E4}"/>
              </a:ext>
            </a:extLst>
          </p:cNvPr>
          <p:cNvSpPr/>
          <p:nvPr/>
        </p:nvSpPr>
        <p:spPr>
          <a:xfrm>
            <a:off x="288311" y="195797"/>
            <a:ext cx="755298" cy="320841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33"/>
              </a:spcBef>
            </a:pPr>
            <a:r>
              <a:rPr kumimoji="1" lang="en-US" altLang="zh-CN" sz="1866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6.1.2</a:t>
            </a:r>
            <a:endParaRPr kumimoji="1" lang="zh-CN" altLang="en-US" sz="1866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58">
            <a:extLst>
              <a:ext uri="{FF2B5EF4-FFF2-40B4-BE49-F238E27FC236}">
                <a16:creationId xmlns:a16="http://schemas.microsoft.com/office/drawing/2014/main" xmlns="" id="{75FAEF6B-C2E4-4C6D-8E03-705BDAC88A6E}"/>
              </a:ext>
            </a:extLst>
          </p:cNvPr>
          <p:cNvCxnSpPr>
            <a:cxnSpLocks/>
          </p:cNvCxnSpPr>
          <p:nvPr/>
        </p:nvCxnSpPr>
        <p:spPr>
          <a:xfrm>
            <a:off x="1187624" y="483518"/>
            <a:ext cx="1368152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7" grpId="0" animBg="1"/>
      <p:bldP spid="10" grpId="0" animBg="1"/>
      <p:bldP spid="5" grpId="0" animBg="1"/>
      <p:bldP spid="18" grpId="0" animBg="1"/>
      <p:bldP spid="20" grpId="0" animBg="1"/>
    </p:bldLst>
  </p:timing>
</p:sld>
</file>

<file path=ppt/theme/theme1.xml><?xml version="1.0" encoding="utf-8"?>
<a:theme xmlns:a="http://schemas.openxmlformats.org/drawingml/2006/main" name="光电技术模板-课堂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yyp</Template>
  <TotalTime>5421</TotalTime>
  <Words>564</Words>
  <Application>Microsoft Office PowerPoint</Application>
  <PresentationFormat>全屏显示(16:9)</PresentationFormat>
  <Paragraphs>138</Paragraphs>
  <Slides>11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33" baseType="lpstr">
      <vt:lpstr>HY견고딕</vt:lpstr>
      <vt:lpstr>Yu Gothic UI</vt:lpstr>
      <vt:lpstr>阿里巴巴普惠体 M</vt:lpstr>
      <vt:lpstr>阿里巴巴普惠体 R</vt:lpstr>
      <vt:lpstr>等线</vt:lpstr>
      <vt:lpstr>冬青黑体简体中文 W3</vt:lpstr>
      <vt:lpstr>冬青黑体简体中文 W6</vt:lpstr>
      <vt:lpstr>黑体</vt:lpstr>
      <vt:lpstr>楷体_GB2312</vt:lpstr>
      <vt:lpstr>宋体</vt:lpstr>
      <vt:lpstr>微软雅黑</vt:lpstr>
      <vt:lpstr>微软雅黑</vt:lpstr>
      <vt:lpstr>Arial</vt:lpstr>
      <vt:lpstr>Calibri</vt:lpstr>
      <vt:lpstr>Microsoft Yi Baiti</vt:lpstr>
      <vt:lpstr>Symbol</vt:lpstr>
      <vt:lpstr>Times New Roman</vt:lpstr>
      <vt:lpstr>Wingdings</vt:lpstr>
      <vt:lpstr>光电技术模板-课堂</vt:lpstr>
      <vt:lpstr>公式</vt:lpstr>
      <vt:lpstr>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user</cp:lastModifiedBy>
  <cp:revision>418</cp:revision>
  <dcterms:created xsi:type="dcterms:W3CDTF">2012-11-04T01:26:07Z</dcterms:created>
  <dcterms:modified xsi:type="dcterms:W3CDTF">2022-10-22T02:07:33Z</dcterms:modified>
</cp:coreProperties>
</file>