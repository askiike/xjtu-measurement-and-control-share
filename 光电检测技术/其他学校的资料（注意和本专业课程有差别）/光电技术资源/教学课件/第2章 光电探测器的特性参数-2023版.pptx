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74" r:id="rId3"/>
    <p:sldId id="305" r:id="rId4"/>
    <p:sldId id="289" r:id="rId5"/>
    <p:sldId id="291" r:id="rId6"/>
    <p:sldId id="330" r:id="rId7"/>
    <p:sldId id="292" r:id="rId8"/>
    <p:sldId id="293" r:id="rId9"/>
    <p:sldId id="294" r:id="rId10"/>
    <p:sldId id="295" r:id="rId11"/>
    <p:sldId id="332" r:id="rId12"/>
    <p:sldId id="296" r:id="rId13"/>
    <p:sldId id="297" r:id="rId14"/>
    <p:sldId id="298" r:id="rId15"/>
    <p:sldId id="300" r:id="rId16"/>
    <p:sldId id="333" r:id="rId17"/>
    <p:sldId id="301" r:id="rId18"/>
    <p:sldId id="302" r:id="rId19"/>
    <p:sldId id="334" r:id="rId20"/>
    <p:sldId id="329" r:id="rId21"/>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charset="0"/>
        <a:ea typeface="宋体" charset="-122"/>
        <a:cs typeface="+mn-cs"/>
      </a:defRPr>
    </a:lvl1pPr>
    <a:lvl2pPr marL="514350" indent="-57150" algn="l" defTabSz="1028700" rtl="0" fontAlgn="base">
      <a:spcBef>
        <a:spcPct val="0"/>
      </a:spcBef>
      <a:spcAft>
        <a:spcPct val="0"/>
      </a:spcAft>
      <a:defRPr sz="2000" kern="1200">
        <a:solidFill>
          <a:schemeClr val="tx1"/>
        </a:solidFill>
        <a:latin typeface="Arial" charset="0"/>
        <a:ea typeface="宋体" charset="-122"/>
        <a:cs typeface="+mn-cs"/>
      </a:defRPr>
    </a:lvl2pPr>
    <a:lvl3pPr marL="1028700" indent="-114300" algn="l" defTabSz="1028700" rtl="0" fontAlgn="base">
      <a:spcBef>
        <a:spcPct val="0"/>
      </a:spcBef>
      <a:spcAft>
        <a:spcPct val="0"/>
      </a:spcAft>
      <a:defRPr sz="2000" kern="1200">
        <a:solidFill>
          <a:schemeClr val="tx1"/>
        </a:solidFill>
        <a:latin typeface="Arial" charset="0"/>
        <a:ea typeface="宋体" charset="-122"/>
        <a:cs typeface="+mn-cs"/>
      </a:defRPr>
    </a:lvl3pPr>
    <a:lvl4pPr marL="1543050" indent="-171450" algn="l" defTabSz="1028700" rtl="0" fontAlgn="base">
      <a:spcBef>
        <a:spcPct val="0"/>
      </a:spcBef>
      <a:spcAft>
        <a:spcPct val="0"/>
      </a:spcAft>
      <a:defRPr sz="2000" kern="1200">
        <a:solidFill>
          <a:schemeClr val="tx1"/>
        </a:solidFill>
        <a:latin typeface="Arial" charset="0"/>
        <a:ea typeface="宋体" charset="-122"/>
        <a:cs typeface="+mn-cs"/>
      </a:defRPr>
    </a:lvl4pPr>
    <a:lvl5pPr marL="2057400" indent="-228600" algn="l" defTabSz="1028700" rtl="0" fontAlgn="base">
      <a:spcBef>
        <a:spcPct val="0"/>
      </a:spcBef>
      <a:spcAft>
        <a:spcPct val="0"/>
      </a:spcAft>
      <a:defRPr sz="2000" kern="1200">
        <a:solidFill>
          <a:schemeClr val="tx1"/>
        </a:solidFill>
        <a:latin typeface="Arial" charset="0"/>
        <a:ea typeface="宋体" charset="-122"/>
        <a:cs typeface="+mn-cs"/>
      </a:defRPr>
    </a:lvl5pPr>
    <a:lvl6pPr marL="2286000" algn="l" defTabSz="914400" rtl="0" eaLnBrk="1" latinLnBrk="0" hangingPunct="1">
      <a:defRPr sz="2000" kern="1200">
        <a:solidFill>
          <a:schemeClr val="tx1"/>
        </a:solidFill>
        <a:latin typeface="Arial" charset="0"/>
        <a:ea typeface="宋体" charset="-122"/>
        <a:cs typeface="+mn-cs"/>
      </a:defRPr>
    </a:lvl6pPr>
    <a:lvl7pPr marL="2743200" algn="l" defTabSz="914400" rtl="0" eaLnBrk="1" latinLnBrk="0" hangingPunct="1">
      <a:defRPr sz="2000" kern="1200">
        <a:solidFill>
          <a:schemeClr val="tx1"/>
        </a:solidFill>
        <a:latin typeface="Arial" charset="0"/>
        <a:ea typeface="宋体" charset="-122"/>
        <a:cs typeface="+mn-cs"/>
      </a:defRPr>
    </a:lvl7pPr>
    <a:lvl8pPr marL="3200400" algn="l" defTabSz="914400" rtl="0" eaLnBrk="1" latinLnBrk="0" hangingPunct="1">
      <a:defRPr sz="2000" kern="1200">
        <a:solidFill>
          <a:schemeClr val="tx1"/>
        </a:solidFill>
        <a:latin typeface="Arial" charset="0"/>
        <a:ea typeface="宋体" charset="-122"/>
        <a:cs typeface="+mn-cs"/>
      </a:defRPr>
    </a:lvl8pPr>
    <a:lvl9pPr marL="3657600" algn="l" defTabSz="914400" rtl="0" eaLnBrk="1" latinLnBrk="0" hangingPunct="1">
      <a:defRPr sz="2000"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00CC"/>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varScale="1">
        <p:scale>
          <a:sx n="90" d="100"/>
          <a:sy n="90" d="100"/>
        </p:scale>
        <p:origin x="78" y="156"/>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C2A5C0-C6FF-40EC-AF89-00DF215B586C}"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zh-CN" altLang="en-US"/>
        </a:p>
      </dgm:t>
    </dgm:pt>
    <dgm:pt modelId="{50618DD7-C16A-48B1-B866-394A5AE10D79}">
      <dgm:prSet phldrT="[文本]" custT="1"/>
      <dgm:spPr>
        <a:solidFill>
          <a:srgbClr val="FF66FF"/>
        </a:solidFill>
      </dgm:spPr>
      <dgm:t>
        <a:bodyPr/>
        <a:lstStyle/>
        <a:p>
          <a:pPr>
            <a:lnSpc>
              <a:spcPct val="100000"/>
            </a:lnSpc>
            <a:spcBef>
              <a:spcPts val="0"/>
            </a:spcBef>
            <a:spcAft>
              <a:spcPts val="0"/>
            </a:spcAft>
          </a:pPr>
          <a:r>
            <a:rPr lang="zh-CN" altLang="en-US" sz="2000" b="1" dirty="0">
              <a:solidFill>
                <a:schemeClr val="tx1"/>
              </a:solidFill>
              <a:latin typeface="微软雅黑" panose="020B0503020204020204" pitchFamily="34" charset="-122"/>
              <a:ea typeface="微软雅黑" panose="020B0503020204020204" pitchFamily="34" charset="-122"/>
            </a:rPr>
            <a:t>主要</a:t>
          </a:r>
          <a:endParaRPr lang="en-US" altLang="zh-CN" sz="2000" b="1" dirty="0">
            <a:solidFill>
              <a:schemeClr val="tx1"/>
            </a:solidFill>
            <a:latin typeface="微软雅黑" panose="020B0503020204020204" pitchFamily="34" charset="-122"/>
            <a:ea typeface="微软雅黑" panose="020B0503020204020204" pitchFamily="34" charset="-122"/>
          </a:endParaRPr>
        </a:p>
        <a:p>
          <a:pPr>
            <a:lnSpc>
              <a:spcPct val="100000"/>
            </a:lnSpc>
            <a:spcBef>
              <a:spcPts val="0"/>
            </a:spcBef>
            <a:spcAft>
              <a:spcPts val="0"/>
            </a:spcAft>
          </a:pPr>
          <a:r>
            <a:rPr lang="zh-CN" altLang="en-US" sz="2000" b="1" dirty="0">
              <a:solidFill>
                <a:schemeClr val="tx1"/>
              </a:solidFill>
              <a:latin typeface="微软雅黑" panose="020B0503020204020204" pitchFamily="34" charset="-122"/>
              <a:ea typeface="微软雅黑" panose="020B0503020204020204" pitchFamily="34" charset="-122"/>
            </a:rPr>
            <a:t>特性参数</a:t>
          </a:r>
        </a:p>
      </dgm:t>
    </dgm:pt>
    <dgm:pt modelId="{B0CE593B-C765-4A75-9C1D-8AD394F0C2D9}" type="parTrans" cxnId="{798F0E40-03EC-4E3F-88DA-06204B476DF5}">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D14A2C9-6187-4F8E-9762-984BEDAD62D7}" type="sibTrans" cxnId="{798F0E40-03EC-4E3F-88DA-06204B476DF5}">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004712A0-F27F-407C-8CA1-114AA4F5ABE0}">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灵敏度</a:t>
          </a:r>
        </a:p>
      </dgm:t>
    </dgm:pt>
    <dgm:pt modelId="{1C7483F6-B006-4EBE-A9B5-03CA95768244}" type="parTrans" cxnId="{349627C6-D36D-4B48-9037-35F4E12A37AA}">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EEF59014-89BA-4266-A894-E7477B8D885B}" type="sibTrans" cxnId="{349627C6-D36D-4B48-9037-35F4E12A37AA}">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5994F07E-254B-4300-87BD-B0988CE52FA3}">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量子</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效率</a:t>
          </a:r>
        </a:p>
      </dgm:t>
    </dgm:pt>
    <dgm:pt modelId="{117B3573-F275-4340-A18D-A8E086B85556}" type="parTrans" cxnId="{B311D3DE-B5F3-424D-9871-D629CD530108}">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906BD41C-3156-4036-AF83-BE27248EE0E1}" type="sibTrans" cxnId="{B311D3DE-B5F3-424D-9871-D629CD530108}">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83D442FE-0348-44D0-BC81-A35AC50A2199}">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响应</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时间</a:t>
          </a:r>
        </a:p>
      </dgm:t>
    </dgm:pt>
    <dgm:pt modelId="{3871A377-EA3B-4941-8EFC-50055B764645}" type="parTrans" cxnId="{9A4C43CC-71BF-48CE-A674-AF5CA7BB17BE}">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FBCE4970-EDDB-4AB8-A0FF-66FA9CFCAACD}" type="sibTrans" cxnId="{9A4C43CC-71BF-48CE-A674-AF5CA7BB17BE}">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64D3A08A-02E5-4F62-BBB0-6ECB93DF985E}">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频率</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响应</a:t>
          </a:r>
        </a:p>
      </dgm:t>
    </dgm:pt>
    <dgm:pt modelId="{B9DADE03-7690-4FD4-8507-D799DF6C5086}" type="parTrans" cxnId="{47A75B05-C87F-45B0-AAD2-ED5932FC0F19}">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AEE61043-2CD5-4F66-A883-62CD1DC621EB}" type="sibTrans" cxnId="{47A75B05-C87F-45B0-AAD2-ED5932FC0F19}">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D47E368B-E544-4642-87D1-309ADCFB3235}">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信噪比</a:t>
          </a:r>
        </a:p>
      </dgm:t>
    </dgm:pt>
    <dgm:pt modelId="{812844ED-B5A1-4656-B42B-492AB18FC932}" type="parTrans" cxnId="{279DE79D-D9D0-4D34-9AE1-1C3B09BC8E8A}">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28D0E4CC-3EBF-47C7-92AB-6EE7F69B0A49}" type="sibTrans" cxnId="{279DE79D-D9D0-4D34-9AE1-1C3B09BC8E8A}">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3D8376AF-B8A2-4612-A83E-787C2AD20339}">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等效噪声输入</a:t>
          </a:r>
        </a:p>
      </dgm:t>
    </dgm:pt>
    <dgm:pt modelId="{F5B8E8BC-C9E1-49A1-BA3D-7F6EDA4BDE0F}" type="parTrans" cxnId="{4AE8BBC0-D465-4EA8-A32C-BCD10EF70575}">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6615E83B-68CD-43BA-8CA0-B08A9654BF7B}" type="sibTrans" cxnId="{4AE8BBC0-D465-4EA8-A32C-BCD10EF70575}">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D27B336C-6342-458C-9FE0-995EBF2C6F72}">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噪声等效功率</a:t>
          </a:r>
        </a:p>
      </dgm:t>
    </dgm:pt>
    <dgm:pt modelId="{000CF0D5-6D68-4468-BBBB-847BE6CE24EA}" type="parTrans" cxnId="{F1595F81-F650-496F-B7D7-11A8ADA3B4F4}">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31E488B0-E1D6-4AB5-8540-A51C2591CB64}" type="sibTrans" cxnId="{F1595F81-F650-496F-B7D7-11A8ADA3B4F4}">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F69B4E48-A6D7-41BE-82C9-B3B2D5EE5F28}">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探测率</a:t>
          </a:r>
        </a:p>
      </dgm:t>
    </dgm:pt>
    <dgm:pt modelId="{C08CC95A-7667-499F-A147-06E8B734C055}" type="parTrans" cxnId="{71EAAB6A-6C80-4924-BA89-D47F2647DDB4}">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AD725C89-8E0B-49FE-B7D7-BC8CF4CDEA25}" type="sibTrans" cxnId="{71EAAB6A-6C80-4924-BA89-D47F2647DDB4}">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66DDDEFD-EFFA-4515-9C95-F6E593164D29}">
      <dgm:prSet phldrT="[文本]" custT="1"/>
      <dgm:spPr>
        <a:solidFill>
          <a:schemeClr val="accent2">
            <a:lumMod val="40000"/>
            <a:lumOff val="60000"/>
          </a:schemeClr>
        </a:solidFill>
      </dgm:spPr>
      <dgm:t>
        <a:bodyPr/>
        <a:lstStyle/>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比</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Bef>
              <a:spcPts val="0"/>
            </a:spcBef>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探测率</a:t>
          </a:r>
        </a:p>
      </dgm:t>
    </dgm:pt>
    <dgm:pt modelId="{F7271750-AECC-46D7-8E8E-10235A0E540E}" type="parTrans" cxnId="{A490BE3D-F64B-4F13-8D82-658E24F21589}">
      <dgm:prSet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dgm:spPr>
      <dgm:t>
        <a:bodyPr/>
        <a:lstStyle/>
        <a:p>
          <a:pPr>
            <a:lnSpc>
              <a:spcPct val="100000"/>
            </a:lnSpc>
            <a:spcBef>
              <a:spcPts val="0"/>
            </a:spcBef>
            <a:spcAft>
              <a:spcPts val="0"/>
            </a:spcAft>
          </a:pPr>
          <a:endParaRPr lang="zh-CN" altLang="en-US" sz="1600" b="1">
            <a:solidFill>
              <a:schemeClr val="tx1"/>
            </a:solidFill>
            <a:latin typeface="微软雅黑" panose="020B0503020204020204" pitchFamily="34" charset="-122"/>
            <a:ea typeface="微软雅黑" panose="020B0503020204020204" pitchFamily="34" charset="-122"/>
          </a:endParaRPr>
        </a:p>
      </dgm:t>
    </dgm:pt>
    <dgm:pt modelId="{51772E5A-185D-4A12-B5F0-BBD0DA38E8A4}" type="sibTrans" cxnId="{A490BE3D-F64B-4F13-8D82-658E24F21589}">
      <dgm:prSet/>
      <dgm:spPr/>
      <dgm:t>
        <a:bodyPr/>
        <a:lstStyle/>
        <a:p>
          <a:pPr>
            <a:lnSpc>
              <a:spcPct val="100000"/>
            </a:lnSpc>
            <a:spcBef>
              <a:spcPts val="0"/>
            </a:spcBef>
            <a:spcAft>
              <a:spcPts val="0"/>
            </a:spcAft>
          </a:pPr>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E8BDB46D-D78E-4302-877A-0DBE4F1B4463}" type="pres">
      <dgm:prSet presAssocID="{F3C2A5C0-C6FF-40EC-AF89-00DF215B586C}" presName="Name0" presStyleCnt="0">
        <dgm:presLayoutVars>
          <dgm:chMax val="1"/>
          <dgm:dir/>
          <dgm:animLvl val="ctr"/>
          <dgm:resizeHandles val="exact"/>
        </dgm:presLayoutVars>
      </dgm:prSet>
      <dgm:spPr/>
    </dgm:pt>
    <dgm:pt modelId="{A24A8002-28E4-49BE-BC42-7B4CD92CA3C5}" type="pres">
      <dgm:prSet presAssocID="{50618DD7-C16A-48B1-B866-394A5AE10D79}" presName="centerShape" presStyleLbl="node0" presStyleIdx="0" presStyleCnt="1" custScaleX="107231" custScaleY="107152"/>
      <dgm:spPr/>
    </dgm:pt>
    <dgm:pt modelId="{F658E4A7-BED5-480B-8213-EEA7BB064BFA}" type="pres">
      <dgm:prSet presAssocID="{1C7483F6-B006-4EBE-A9B5-03CA95768244}" presName="parTrans" presStyleLbl="sibTrans2D1" presStyleIdx="0" presStyleCnt="9"/>
      <dgm:spPr/>
    </dgm:pt>
    <dgm:pt modelId="{A0AF99D9-318B-49EF-BBEF-ED12CD92F561}" type="pres">
      <dgm:prSet presAssocID="{1C7483F6-B006-4EBE-A9B5-03CA95768244}" presName="connectorText" presStyleLbl="sibTrans2D1" presStyleIdx="0" presStyleCnt="9"/>
      <dgm:spPr/>
    </dgm:pt>
    <dgm:pt modelId="{195F653B-8D1D-48E3-ABA9-506416374DE1}" type="pres">
      <dgm:prSet presAssocID="{004712A0-F27F-407C-8CA1-114AA4F5ABE0}" presName="node" presStyleLbl="node1" presStyleIdx="0" presStyleCnt="9">
        <dgm:presLayoutVars>
          <dgm:bulletEnabled val="1"/>
        </dgm:presLayoutVars>
      </dgm:prSet>
      <dgm:spPr/>
    </dgm:pt>
    <dgm:pt modelId="{22D60180-810D-454F-8CF9-92C5F180C338}" type="pres">
      <dgm:prSet presAssocID="{117B3573-F275-4340-A18D-A8E086B85556}" presName="parTrans" presStyleLbl="sibTrans2D1" presStyleIdx="1" presStyleCnt="9"/>
      <dgm:spPr/>
    </dgm:pt>
    <dgm:pt modelId="{38BE7CD2-84D7-4EED-9E02-AE6F8C1036AE}" type="pres">
      <dgm:prSet presAssocID="{117B3573-F275-4340-A18D-A8E086B85556}" presName="connectorText" presStyleLbl="sibTrans2D1" presStyleIdx="1" presStyleCnt="9"/>
      <dgm:spPr/>
    </dgm:pt>
    <dgm:pt modelId="{F02E8A78-431D-4CEB-88BD-BB34C1BAB6C6}" type="pres">
      <dgm:prSet presAssocID="{5994F07E-254B-4300-87BD-B0988CE52FA3}" presName="node" presStyleLbl="node1" presStyleIdx="1" presStyleCnt="9" custRadScaleRad="101449" custRadScaleInc="-3415">
        <dgm:presLayoutVars>
          <dgm:bulletEnabled val="1"/>
        </dgm:presLayoutVars>
      </dgm:prSet>
      <dgm:spPr/>
    </dgm:pt>
    <dgm:pt modelId="{E825F442-6268-41E3-A416-DF19DB5EB70F}" type="pres">
      <dgm:prSet presAssocID="{3871A377-EA3B-4941-8EFC-50055B764645}" presName="parTrans" presStyleLbl="sibTrans2D1" presStyleIdx="2" presStyleCnt="9"/>
      <dgm:spPr/>
    </dgm:pt>
    <dgm:pt modelId="{0078D8C1-0AC1-4F43-913E-57D5AC2A692C}" type="pres">
      <dgm:prSet presAssocID="{3871A377-EA3B-4941-8EFC-50055B764645}" presName="connectorText" presStyleLbl="sibTrans2D1" presStyleIdx="2" presStyleCnt="9"/>
      <dgm:spPr/>
    </dgm:pt>
    <dgm:pt modelId="{8569239F-FA75-4C08-B5DA-7A2F4496D0D2}" type="pres">
      <dgm:prSet presAssocID="{83D442FE-0348-44D0-BC81-A35AC50A2199}" presName="node" presStyleLbl="node1" presStyleIdx="2" presStyleCnt="9" custRadScaleRad="100344" custRadScaleInc="-5291">
        <dgm:presLayoutVars>
          <dgm:bulletEnabled val="1"/>
        </dgm:presLayoutVars>
      </dgm:prSet>
      <dgm:spPr/>
    </dgm:pt>
    <dgm:pt modelId="{17A7A384-6052-4364-A12C-3C30D3628738}" type="pres">
      <dgm:prSet presAssocID="{B9DADE03-7690-4FD4-8507-D799DF6C5086}" presName="parTrans" presStyleLbl="sibTrans2D1" presStyleIdx="3" presStyleCnt="9"/>
      <dgm:spPr/>
    </dgm:pt>
    <dgm:pt modelId="{B22BB71B-ECDF-42F6-ACBD-73811B8B5E2C}" type="pres">
      <dgm:prSet presAssocID="{B9DADE03-7690-4FD4-8507-D799DF6C5086}" presName="connectorText" presStyleLbl="sibTrans2D1" presStyleIdx="3" presStyleCnt="9"/>
      <dgm:spPr/>
    </dgm:pt>
    <dgm:pt modelId="{9E22B4B5-4442-40FD-AD88-E3DEE3E3224A}" type="pres">
      <dgm:prSet presAssocID="{64D3A08A-02E5-4F62-BBB0-6ECB93DF985E}" presName="node" presStyleLbl="node1" presStyleIdx="3" presStyleCnt="9" custRadScaleRad="99073" custRadScaleInc="-4712">
        <dgm:presLayoutVars>
          <dgm:bulletEnabled val="1"/>
        </dgm:presLayoutVars>
      </dgm:prSet>
      <dgm:spPr/>
    </dgm:pt>
    <dgm:pt modelId="{B60596CA-308F-41FE-8C76-8502FC48AFB5}" type="pres">
      <dgm:prSet presAssocID="{812844ED-B5A1-4656-B42B-492AB18FC932}" presName="parTrans" presStyleLbl="sibTrans2D1" presStyleIdx="4" presStyleCnt="9"/>
      <dgm:spPr/>
    </dgm:pt>
    <dgm:pt modelId="{37652532-F3E7-430C-A61F-8FA1E03899D1}" type="pres">
      <dgm:prSet presAssocID="{812844ED-B5A1-4656-B42B-492AB18FC932}" presName="connectorText" presStyleLbl="sibTrans2D1" presStyleIdx="4" presStyleCnt="9"/>
      <dgm:spPr/>
    </dgm:pt>
    <dgm:pt modelId="{E598AA19-C6E1-46B9-A0A7-897467D0207C}" type="pres">
      <dgm:prSet presAssocID="{D47E368B-E544-4642-87D1-309ADCFB3235}" presName="node" presStyleLbl="node1" presStyleIdx="4" presStyleCnt="9" custRadScaleRad="98234" custRadScaleInc="-1877">
        <dgm:presLayoutVars>
          <dgm:bulletEnabled val="1"/>
        </dgm:presLayoutVars>
      </dgm:prSet>
      <dgm:spPr/>
    </dgm:pt>
    <dgm:pt modelId="{76AFC065-1050-402C-9414-8FC4AA010158}" type="pres">
      <dgm:prSet presAssocID="{F5B8E8BC-C9E1-49A1-BA3D-7F6EDA4BDE0F}" presName="parTrans" presStyleLbl="sibTrans2D1" presStyleIdx="5" presStyleCnt="9"/>
      <dgm:spPr/>
    </dgm:pt>
    <dgm:pt modelId="{7D871C8A-FC73-4E49-8046-6A82020FA005}" type="pres">
      <dgm:prSet presAssocID="{F5B8E8BC-C9E1-49A1-BA3D-7F6EDA4BDE0F}" presName="connectorText" presStyleLbl="sibTrans2D1" presStyleIdx="5" presStyleCnt="9"/>
      <dgm:spPr/>
    </dgm:pt>
    <dgm:pt modelId="{C8813CB6-19AA-4ED2-BCA0-F3DFF071CD78}" type="pres">
      <dgm:prSet presAssocID="{3D8376AF-B8A2-4612-A83E-787C2AD20339}" presName="node" presStyleLbl="node1" presStyleIdx="5" presStyleCnt="9">
        <dgm:presLayoutVars>
          <dgm:bulletEnabled val="1"/>
        </dgm:presLayoutVars>
      </dgm:prSet>
      <dgm:spPr/>
    </dgm:pt>
    <dgm:pt modelId="{941A47B3-FBC3-4BB6-AC44-5D6C1B0733AD}" type="pres">
      <dgm:prSet presAssocID="{000CF0D5-6D68-4468-BBBB-847BE6CE24EA}" presName="parTrans" presStyleLbl="sibTrans2D1" presStyleIdx="6" presStyleCnt="9"/>
      <dgm:spPr/>
    </dgm:pt>
    <dgm:pt modelId="{B6A44A5A-4054-47FB-82D7-929EF4372F69}" type="pres">
      <dgm:prSet presAssocID="{000CF0D5-6D68-4468-BBBB-847BE6CE24EA}" presName="connectorText" presStyleLbl="sibTrans2D1" presStyleIdx="6" presStyleCnt="9"/>
      <dgm:spPr/>
    </dgm:pt>
    <dgm:pt modelId="{7B0B1C3D-B3A1-42CF-8A75-DD5D982ED758}" type="pres">
      <dgm:prSet presAssocID="{D27B336C-6342-458C-9FE0-995EBF2C6F72}" presName="node" presStyleLbl="node1" presStyleIdx="6" presStyleCnt="9">
        <dgm:presLayoutVars>
          <dgm:bulletEnabled val="1"/>
        </dgm:presLayoutVars>
      </dgm:prSet>
      <dgm:spPr/>
    </dgm:pt>
    <dgm:pt modelId="{B6765E65-C753-4BDF-8A56-49832A434997}" type="pres">
      <dgm:prSet presAssocID="{C08CC95A-7667-499F-A147-06E8B734C055}" presName="parTrans" presStyleLbl="sibTrans2D1" presStyleIdx="7" presStyleCnt="9"/>
      <dgm:spPr/>
    </dgm:pt>
    <dgm:pt modelId="{0585AAB1-88E8-4A96-B8C9-76B4A830CE65}" type="pres">
      <dgm:prSet presAssocID="{C08CC95A-7667-499F-A147-06E8B734C055}" presName="connectorText" presStyleLbl="sibTrans2D1" presStyleIdx="7" presStyleCnt="9"/>
      <dgm:spPr/>
    </dgm:pt>
    <dgm:pt modelId="{DD1081F8-6A3F-4AC1-93D6-B47C89601B64}" type="pres">
      <dgm:prSet presAssocID="{F69B4E48-A6D7-41BE-82C9-B3B2D5EE5F28}" presName="node" presStyleLbl="node1" presStyleIdx="7" presStyleCnt="9">
        <dgm:presLayoutVars>
          <dgm:bulletEnabled val="1"/>
        </dgm:presLayoutVars>
      </dgm:prSet>
      <dgm:spPr/>
    </dgm:pt>
    <dgm:pt modelId="{E7DFD675-F9C9-4DA7-B10A-EC5B8AEA2DF9}" type="pres">
      <dgm:prSet presAssocID="{F7271750-AECC-46D7-8E8E-10235A0E540E}" presName="parTrans" presStyleLbl="sibTrans2D1" presStyleIdx="8" presStyleCnt="9"/>
      <dgm:spPr/>
    </dgm:pt>
    <dgm:pt modelId="{FD0FCF62-C689-4082-A2FB-F24100E8175E}" type="pres">
      <dgm:prSet presAssocID="{F7271750-AECC-46D7-8E8E-10235A0E540E}" presName="connectorText" presStyleLbl="sibTrans2D1" presStyleIdx="8" presStyleCnt="9"/>
      <dgm:spPr/>
    </dgm:pt>
    <dgm:pt modelId="{A3E8344D-EA98-4705-97A8-6AF58DBF8E3B}" type="pres">
      <dgm:prSet presAssocID="{66DDDEFD-EFFA-4515-9C95-F6E593164D29}" presName="node" presStyleLbl="node1" presStyleIdx="8" presStyleCnt="9">
        <dgm:presLayoutVars>
          <dgm:bulletEnabled val="1"/>
        </dgm:presLayoutVars>
      </dgm:prSet>
      <dgm:spPr/>
    </dgm:pt>
  </dgm:ptLst>
  <dgm:cxnLst>
    <dgm:cxn modelId="{61E11B05-7A33-456D-AD83-4A7F16376D8F}" type="presOf" srcId="{83D442FE-0348-44D0-BC81-A35AC50A2199}" destId="{8569239F-FA75-4C08-B5DA-7A2F4496D0D2}" srcOrd="0" destOrd="0" presId="urn:microsoft.com/office/officeart/2005/8/layout/radial5"/>
    <dgm:cxn modelId="{47A75B05-C87F-45B0-AAD2-ED5932FC0F19}" srcId="{50618DD7-C16A-48B1-B866-394A5AE10D79}" destId="{64D3A08A-02E5-4F62-BBB0-6ECB93DF985E}" srcOrd="3" destOrd="0" parTransId="{B9DADE03-7690-4FD4-8507-D799DF6C5086}" sibTransId="{AEE61043-2CD5-4F66-A883-62CD1DC621EB}"/>
    <dgm:cxn modelId="{A4F59906-A308-4692-8D60-0B9564317770}" type="presOf" srcId="{812844ED-B5A1-4656-B42B-492AB18FC932}" destId="{37652532-F3E7-430C-A61F-8FA1E03899D1}" srcOrd="1" destOrd="0" presId="urn:microsoft.com/office/officeart/2005/8/layout/radial5"/>
    <dgm:cxn modelId="{D5EE1909-A4EC-4A98-9814-FD07A6F16185}" type="presOf" srcId="{C08CC95A-7667-499F-A147-06E8B734C055}" destId="{0585AAB1-88E8-4A96-B8C9-76B4A830CE65}" srcOrd="1" destOrd="0" presId="urn:microsoft.com/office/officeart/2005/8/layout/radial5"/>
    <dgm:cxn modelId="{26FBF212-535B-41DA-AD3F-FE3FA7BF30FF}" type="presOf" srcId="{D47E368B-E544-4642-87D1-309ADCFB3235}" destId="{E598AA19-C6E1-46B9-A0A7-897467D0207C}" srcOrd="0" destOrd="0" presId="urn:microsoft.com/office/officeart/2005/8/layout/radial5"/>
    <dgm:cxn modelId="{104DE814-8A5F-4073-B2B7-3BD3A19F5CE9}" type="presOf" srcId="{F69B4E48-A6D7-41BE-82C9-B3B2D5EE5F28}" destId="{DD1081F8-6A3F-4AC1-93D6-B47C89601B64}" srcOrd="0" destOrd="0" presId="urn:microsoft.com/office/officeart/2005/8/layout/radial5"/>
    <dgm:cxn modelId="{7007BD18-D083-4FA2-A7B6-1BC2F004C647}" type="presOf" srcId="{812844ED-B5A1-4656-B42B-492AB18FC932}" destId="{B60596CA-308F-41FE-8C76-8502FC48AFB5}" srcOrd="0" destOrd="0" presId="urn:microsoft.com/office/officeart/2005/8/layout/radial5"/>
    <dgm:cxn modelId="{C909661B-4E5A-4425-A6EE-7F3869B3DFDD}" type="presOf" srcId="{3D8376AF-B8A2-4612-A83E-787C2AD20339}" destId="{C8813CB6-19AA-4ED2-BCA0-F3DFF071CD78}" srcOrd="0" destOrd="0" presId="urn:microsoft.com/office/officeart/2005/8/layout/radial5"/>
    <dgm:cxn modelId="{1CC6AC1B-7603-4795-8741-5D8047F19A6A}" type="presOf" srcId="{64D3A08A-02E5-4F62-BBB0-6ECB93DF985E}" destId="{9E22B4B5-4442-40FD-AD88-E3DEE3E3224A}" srcOrd="0" destOrd="0" presId="urn:microsoft.com/office/officeart/2005/8/layout/radial5"/>
    <dgm:cxn modelId="{AF44A723-3657-4D73-82AE-F00A6DE4DD64}" type="presOf" srcId="{117B3573-F275-4340-A18D-A8E086B85556}" destId="{22D60180-810D-454F-8CF9-92C5F180C338}" srcOrd="0" destOrd="0" presId="urn:microsoft.com/office/officeart/2005/8/layout/radial5"/>
    <dgm:cxn modelId="{97A33C3A-A638-4222-BAF0-B35A83E1082E}" type="presOf" srcId="{F7271750-AECC-46D7-8E8E-10235A0E540E}" destId="{E7DFD675-F9C9-4DA7-B10A-EC5B8AEA2DF9}" srcOrd="0" destOrd="0" presId="urn:microsoft.com/office/officeart/2005/8/layout/radial5"/>
    <dgm:cxn modelId="{39A2523B-4FC6-4E18-9045-B025A3337CAD}" type="presOf" srcId="{F7271750-AECC-46D7-8E8E-10235A0E540E}" destId="{FD0FCF62-C689-4082-A2FB-F24100E8175E}" srcOrd="1" destOrd="0" presId="urn:microsoft.com/office/officeart/2005/8/layout/radial5"/>
    <dgm:cxn modelId="{A490BE3D-F64B-4F13-8D82-658E24F21589}" srcId="{50618DD7-C16A-48B1-B866-394A5AE10D79}" destId="{66DDDEFD-EFFA-4515-9C95-F6E593164D29}" srcOrd="8" destOrd="0" parTransId="{F7271750-AECC-46D7-8E8E-10235A0E540E}" sibTransId="{51772E5A-185D-4A12-B5F0-BBD0DA38E8A4}"/>
    <dgm:cxn modelId="{798F0E40-03EC-4E3F-88DA-06204B476DF5}" srcId="{F3C2A5C0-C6FF-40EC-AF89-00DF215B586C}" destId="{50618DD7-C16A-48B1-B866-394A5AE10D79}" srcOrd="0" destOrd="0" parTransId="{B0CE593B-C765-4A75-9C1D-8AD394F0C2D9}" sibTransId="{7D14A2C9-6187-4F8E-9762-984BEDAD62D7}"/>
    <dgm:cxn modelId="{99671261-E80C-44A2-B2C5-C6AF2C2520CD}" type="presOf" srcId="{66DDDEFD-EFFA-4515-9C95-F6E593164D29}" destId="{A3E8344D-EA98-4705-97A8-6AF58DBF8E3B}" srcOrd="0" destOrd="0" presId="urn:microsoft.com/office/officeart/2005/8/layout/radial5"/>
    <dgm:cxn modelId="{71EAAB6A-6C80-4924-BA89-D47F2647DDB4}" srcId="{50618DD7-C16A-48B1-B866-394A5AE10D79}" destId="{F69B4E48-A6D7-41BE-82C9-B3B2D5EE5F28}" srcOrd="7" destOrd="0" parTransId="{C08CC95A-7667-499F-A147-06E8B734C055}" sibTransId="{AD725C89-8E0B-49FE-B7D7-BC8CF4CDEA25}"/>
    <dgm:cxn modelId="{B8C7F06D-5B0C-4B13-BDC4-760AD8707CE6}" type="presOf" srcId="{F5B8E8BC-C9E1-49A1-BA3D-7F6EDA4BDE0F}" destId="{7D871C8A-FC73-4E49-8046-6A82020FA005}" srcOrd="1" destOrd="0" presId="urn:microsoft.com/office/officeart/2005/8/layout/radial5"/>
    <dgm:cxn modelId="{0064826F-69AA-4F9E-8049-0DE9B063C8DB}" type="presOf" srcId="{1C7483F6-B006-4EBE-A9B5-03CA95768244}" destId="{F658E4A7-BED5-480B-8213-EEA7BB064BFA}" srcOrd="0" destOrd="0" presId="urn:microsoft.com/office/officeart/2005/8/layout/radial5"/>
    <dgm:cxn modelId="{AEA2AB70-08E4-4CA9-9AEC-1956302EB34B}" type="presOf" srcId="{004712A0-F27F-407C-8CA1-114AA4F5ABE0}" destId="{195F653B-8D1D-48E3-ABA9-506416374DE1}" srcOrd="0" destOrd="0" presId="urn:microsoft.com/office/officeart/2005/8/layout/radial5"/>
    <dgm:cxn modelId="{F1595F81-F650-496F-B7D7-11A8ADA3B4F4}" srcId="{50618DD7-C16A-48B1-B866-394A5AE10D79}" destId="{D27B336C-6342-458C-9FE0-995EBF2C6F72}" srcOrd="6" destOrd="0" parTransId="{000CF0D5-6D68-4468-BBBB-847BE6CE24EA}" sibTransId="{31E488B0-E1D6-4AB5-8540-A51C2591CB64}"/>
    <dgm:cxn modelId="{B1423583-2903-4E87-8AE3-774B1BB852C4}" type="presOf" srcId="{3871A377-EA3B-4941-8EFC-50055B764645}" destId="{E825F442-6268-41E3-A416-DF19DB5EB70F}" srcOrd="0" destOrd="0" presId="urn:microsoft.com/office/officeart/2005/8/layout/radial5"/>
    <dgm:cxn modelId="{641CFA89-A576-42DD-A4CB-D2E1A9434517}" type="presOf" srcId="{000CF0D5-6D68-4468-BBBB-847BE6CE24EA}" destId="{B6A44A5A-4054-47FB-82D7-929EF4372F69}" srcOrd="1" destOrd="0" presId="urn:microsoft.com/office/officeart/2005/8/layout/radial5"/>
    <dgm:cxn modelId="{EDAA328A-F10C-4A15-8CB0-1CF02DB8A6D4}" type="presOf" srcId="{000CF0D5-6D68-4468-BBBB-847BE6CE24EA}" destId="{941A47B3-FBC3-4BB6-AC44-5D6C1B0733AD}" srcOrd="0" destOrd="0" presId="urn:microsoft.com/office/officeart/2005/8/layout/radial5"/>
    <dgm:cxn modelId="{5F97308E-1934-4F61-885E-0D1065292F5D}" type="presOf" srcId="{F5B8E8BC-C9E1-49A1-BA3D-7F6EDA4BDE0F}" destId="{76AFC065-1050-402C-9414-8FC4AA010158}" srcOrd="0" destOrd="0" presId="urn:microsoft.com/office/officeart/2005/8/layout/radial5"/>
    <dgm:cxn modelId="{D1C43A8F-FEC0-45CF-B529-B704332F8100}" type="presOf" srcId="{50618DD7-C16A-48B1-B866-394A5AE10D79}" destId="{A24A8002-28E4-49BE-BC42-7B4CD92CA3C5}" srcOrd="0" destOrd="0" presId="urn:microsoft.com/office/officeart/2005/8/layout/radial5"/>
    <dgm:cxn modelId="{279DE79D-D9D0-4D34-9AE1-1C3B09BC8E8A}" srcId="{50618DD7-C16A-48B1-B866-394A5AE10D79}" destId="{D47E368B-E544-4642-87D1-309ADCFB3235}" srcOrd="4" destOrd="0" parTransId="{812844ED-B5A1-4656-B42B-492AB18FC932}" sibTransId="{28D0E4CC-3EBF-47C7-92AB-6EE7F69B0A49}"/>
    <dgm:cxn modelId="{DDF6879F-9FCE-4FA8-AA51-F686F896A376}" type="presOf" srcId="{1C7483F6-B006-4EBE-A9B5-03CA95768244}" destId="{A0AF99D9-318B-49EF-BBEF-ED12CD92F561}" srcOrd="1" destOrd="0" presId="urn:microsoft.com/office/officeart/2005/8/layout/radial5"/>
    <dgm:cxn modelId="{447528AB-261A-480E-8379-2C54743028AF}" type="presOf" srcId="{5994F07E-254B-4300-87BD-B0988CE52FA3}" destId="{F02E8A78-431D-4CEB-88BD-BB34C1BAB6C6}" srcOrd="0" destOrd="0" presId="urn:microsoft.com/office/officeart/2005/8/layout/radial5"/>
    <dgm:cxn modelId="{3BCD29AF-582C-4459-85BF-4CD88B12DFDC}" type="presOf" srcId="{F3C2A5C0-C6FF-40EC-AF89-00DF215B586C}" destId="{E8BDB46D-D78E-4302-877A-0DBE4F1B4463}" srcOrd="0" destOrd="0" presId="urn:microsoft.com/office/officeart/2005/8/layout/radial5"/>
    <dgm:cxn modelId="{F29602BA-EF22-45C7-8760-57B0DE588345}" type="presOf" srcId="{C08CC95A-7667-499F-A147-06E8B734C055}" destId="{B6765E65-C753-4BDF-8A56-49832A434997}" srcOrd="0" destOrd="0" presId="urn:microsoft.com/office/officeart/2005/8/layout/radial5"/>
    <dgm:cxn modelId="{4AE8BBC0-D465-4EA8-A32C-BCD10EF70575}" srcId="{50618DD7-C16A-48B1-B866-394A5AE10D79}" destId="{3D8376AF-B8A2-4612-A83E-787C2AD20339}" srcOrd="5" destOrd="0" parTransId="{F5B8E8BC-C9E1-49A1-BA3D-7F6EDA4BDE0F}" sibTransId="{6615E83B-68CD-43BA-8CA0-B08A9654BF7B}"/>
    <dgm:cxn modelId="{349627C6-D36D-4B48-9037-35F4E12A37AA}" srcId="{50618DD7-C16A-48B1-B866-394A5AE10D79}" destId="{004712A0-F27F-407C-8CA1-114AA4F5ABE0}" srcOrd="0" destOrd="0" parTransId="{1C7483F6-B006-4EBE-A9B5-03CA95768244}" sibTransId="{EEF59014-89BA-4266-A894-E7477B8D885B}"/>
    <dgm:cxn modelId="{9A4C43CC-71BF-48CE-A674-AF5CA7BB17BE}" srcId="{50618DD7-C16A-48B1-B866-394A5AE10D79}" destId="{83D442FE-0348-44D0-BC81-A35AC50A2199}" srcOrd="2" destOrd="0" parTransId="{3871A377-EA3B-4941-8EFC-50055B764645}" sibTransId="{FBCE4970-EDDB-4AB8-A0FF-66FA9CFCAACD}"/>
    <dgm:cxn modelId="{1466B8D0-8215-46AE-9910-50A33731BE70}" type="presOf" srcId="{B9DADE03-7690-4FD4-8507-D799DF6C5086}" destId="{17A7A384-6052-4364-A12C-3C30D3628738}" srcOrd="0" destOrd="0" presId="urn:microsoft.com/office/officeart/2005/8/layout/radial5"/>
    <dgm:cxn modelId="{B9C9AAD1-296E-4B94-B696-9ECE74CF8E2F}" type="presOf" srcId="{B9DADE03-7690-4FD4-8507-D799DF6C5086}" destId="{B22BB71B-ECDF-42F6-ACBD-73811B8B5E2C}" srcOrd="1" destOrd="0" presId="urn:microsoft.com/office/officeart/2005/8/layout/radial5"/>
    <dgm:cxn modelId="{CD645DD4-26BE-4C4D-B0A3-49BA5E8258D1}" type="presOf" srcId="{117B3573-F275-4340-A18D-A8E086B85556}" destId="{38BE7CD2-84D7-4EED-9E02-AE6F8C1036AE}" srcOrd="1" destOrd="0" presId="urn:microsoft.com/office/officeart/2005/8/layout/radial5"/>
    <dgm:cxn modelId="{58843FDD-9FAB-46C3-BE8A-051641565281}" type="presOf" srcId="{3871A377-EA3B-4941-8EFC-50055B764645}" destId="{0078D8C1-0AC1-4F43-913E-57D5AC2A692C}" srcOrd="1" destOrd="0" presId="urn:microsoft.com/office/officeart/2005/8/layout/radial5"/>
    <dgm:cxn modelId="{B311D3DE-B5F3-424D-9871-D629CD530108}" srcId="{50618DD7-C16A-48B1-B866-394A5AE10D79}" destId="{5994F07E-254B-4300-87BD-B0988CE52FA3}" srcOrd="1" destOrd="0" parTransId="{117B3573-F275-4340-A18D-A8E086B85556}" sibTransId="{906BD41C-3156-4036-AF83-BE27248EE0E1}"/>
    <dgm:cxn modelId="{746A42F9-A5F8-4BA0-B7CC-85814EC73E0E}" type="presOf" srcId="{D27B336C-6342-458C-9FE0-995EBF2C6F72}" destId="{7B0B1C3D-B3A1-42CF-8A75-DD5D982ED758}" srcOrd="0" destOrd="0" presId="urn:microsoft.com/office/officeart/2005/8/layout/radial5"/>
    <dgm:cxn modelId="{72F4DE08-96C3-4D92-BA67-11188C3A2A01}" type="presParOf" srcId="{E8BDB46D-D78E-4302-877A-0DBE4F1B4463}" destId="{A24A8002-28E4-49BE-BC42-7B4CD92CA3C5}" srcOrd="0" destOrd="0" presId="urn:microsoft.com/office/officeart/2005/8/layout/radial5"/>
    <dgm:cxn modelId="{978B2672-51DB-454A-B88E-BBA78DF27067}" type="presParOf" srcId="{E8BDB46D-D78E-4302-877A-0DBE4F1B4463}" destId="{F658E4A7-BED5-480B-8213-EEA7BB064BFA}" srcOrd="1" destOrd="0" presId="urn:microsoft.com/office/officeart/2005/8/layout/radial5"/>
    <dgm:cxn modelId="{3181CFBB-06DB-4B2F-A519-2000BA066D39}" type="presParOf" srcId="{F658E4A7-BED5-480B-8213-EEA7BB064BFA}" destId="{A0AF99D9-318B-49EF-BBEF-ED12CD92F561}" srcOrd="0" destOrd="0" presId="urn:microsoft.com/office/officeart/2005/8/layout/radial5"/>
    <dgm:cxn modelId="{4B6DAB15-BEB4-4903-BEF6-C81D3C561EF6}" type="presParOf" srcId="{E8BDB46D-D78E-4302-877A-0DBE4F1B4463}" destId="{195F653B-8D1D-48E3-ABA9-506416374DE1}" srcOrd="2" destOrd="0" presId="urn:microsoft.com/office/officeart/2005/8/layout/radial5"/>
    <dgm:cxn modelId="{4C961E71-13EF-4351-9E47-EFD11A1B4F21}" type="presParOf" srcId="{E8BDB46D-D78E-4302-877A-0DBE4F1B4463}" destId="{22D60180-810D-454F-8CF9-92C5F180C338}" srcOrd="3" destOrd="0" presId="urn:microsoft.com/office/officeart/2005/8/layout/radial5"/>
    <dgm:cxn modelId="{53F001C2-E87A-4C81-9002-8CBA7B897434}" type="presParOf" srcId="{22D60180-810D-454F-8CF9-92C5F180C338}" destId="{38BE7CD2-84D7-4EED-9E02-AE6F8C1036AE}" srcOrd="0" destOrd="0" presId="urn:microsoft.com/office/officeart/2005/8/layout/radial5"/>
    <dgm:cxn modelId="{20968140-C6A3-4122-A73C-936830642806}" type="presParOf" srcId="{E8BDB46D-D78E-4302-877A-0DBE4F1B4463}" destId="{F02E8A78-431D-4CEB-88BD-BB34C1BAB6C6}" srcOrd="4" destOrd="0" presId="urn:microsoft.com/office/officeart/2005/8/layout/radial5"/>
    <dgm:cxn modelId="{10C32971-DC86-45B0-94C5-7FC06970E08E}" type="presParOf" srcId="{E8BDB46D-D78E-4302-877A-0DBE4F1B4463}" destId="{E825F442-6268-41E3-A416-DF19DB5EB70F}" srcOrd="5" destOrd="0" presId="urn:microsoft.com/office/officeart/2005/8/layout/radial5"/>
    <dgm:cxn modelId="{9567E42A-D93B-4E9B-8935-FCBE2D5B86C9}" type="presParOf" srcId="{E825F442-6268-41E3-A416-DF19DB5EB70F}" destId="{0078D8C1-0AC1-4F43-913E-57D5AC2A692C}" srcOrd="0" destOrd="0" presId="urn:microsoft.com/office/officeart/2005/8/layout/radial5"/>
    <dgm:cxn modelId="{8A0C2159-F5E7-45D6-9FC3-1321B9C8D8B9}" type="presParOf" srcId="{E8BDB46D-D78E-4302-877A-0DBE4F1B4463}" destId="{8569239F-FA75-4C08-B5DA-7A2F4496D0D2}" srcOrd="6" destOrd="0" presId="urn:microsoft.com/office/officeart/2005/8/layout/radial5"/>
    <dgm:cxn modelId="{56B75394-5A21-40BB-95EB-1231D36EABEC}" type="presParOf" srcId="{E8BDB46D-D78E-4302-877A-0DBE4F1B4463}" destId="{17A7A384-6052-4364-A12C-3C30D3628738}" srcOrd="7" destOrd="0" presId="urn:microsoft.com/office/officeart/2005/8/layout/radial5"/>
    <dgm:cxn modelId="{A01D7D03-EB66-4170-942B-DBEA1D203F9D}" type="presParOf" srcId="{17A7A384-6052-4364-A12C-3C30D3628738}" destId="{B22BB71B-ECDF-42F6-ACBD-73811B8B5E2C}" srcOrd="0" destOrd="0" presId="urn:microsoft.com/office/officeart/2005/8/layout/radial5"/>
    <dgm:cxn modelId="{AAC10D0C-3B3C-47CA-9B86-E1744E0B2857}" type="presParOf" srcId="{E8BDB46D-D78E-4302-877A-0DBE4F1B4463}" destId="{9E22B4B5-4442-40FD-AD88-E3DEE3E3224A}" srcOrd="8" destOrd="0" presId="urn:microsoft.com/office/officeart/2005/8/layout/radial5"/>
    <dgm:cxn modelId="{070C5260-2A36-4261-9D80-3754B1C775AF}" type="presParOf" srcId="{E8BDB46D-D78E-4302-877A-0DBE4F1B4463}" destId="{B60596CA-308F-41FE-8C76-8502FC48AFB5}" srcOrd="9" destOrd="0" presId="urn:microsoft.com/office/officeart/2005/8/layout/radial5"/>
    <dgm:cxn modelId="{339353EA-B2E7-4DA0-823D-8EBBA9919E6C}" type="presParOf" srcId="{B60596CA-308F-41FE-8C76-8502FC48AFB5}" destId="{37652532-F3E7-430C-A61F-8FA1E03899D1}" srcOrd="0" destOrd="0" presId="urn:microsoft.com/office/officeart/2005/8/layout/radial5"/>
    <dgm:cxn modelId="{851C71ED-DA7A-4B39-9D97-D58ADA35803F}" type="presParOf" srcId="{E8BDB46D-D78E-4302-877A-0DBE4F1B4463}" destId="{E598AA19-C6E1-46B9-A0A7-897467D0207C}" srcOrd="10" destOrd="0" presId="urn:microsoft.com/office/officeart/2005/8/layout/radial5"/>
    <dgm:cxn modelId="{7F9481FD-3703-4101-844E-439372D52847}" type="presParOf" srcId="{E8BDB46D-D78E-4302-877A-0DBE4F1B4463}" destId="{76AFC065-1050-402C-9414-8FC4AA010158}" srcOrd="11" destOrd="0" presId="urn:microsoft.com/office/officeart/2005/8/layout/radial5"/>
    <dgm:cxn modelId="{49DCCB22-F2A9-4464-BCE6-188512AEC2E8}" type="presParOf" srcId="{76AFC065-1050-402C-9414-8FC4AA010158}" destId="{7D871C8A-FC73-4E49-8046-6A82020FA005}" srcOrd="0" destOrd="0" presId="urn:microsoft.com/office/officeart/2005/8/layout/radial5"/>
    <dgm:cxn modelId="{DC0E5DEA-1748-42A7-A134-012740E6BF9E}" type="presParOf" srcId="{E8BDB46D-D78E-4302-877A-0DBE4F1B4463}" destId="{C8813CB6-19AA-4ED2-BCA0-F3DFF071CD78}" srcOrd="12" destOrd="0" presId="urn:microsoft.com/office/officeart/2005/8/layout/radial5"/>
    <dgm:cxn modelId="{2C1A3330-8E2E-4171-9C89-A06B40AE7B61}" type="presParOf" srcId="{E8BDB46D-D78E-4302-877A-0DBE4F1B4463}" destId="{941A47B3-FBC3-4BB6-AC44-5D6C1B0733AD}" srcOrd="13" destOrd="0" presId="urn:microsoft.com/office/officeart/2005/8/layout/radial5"/>
    <dgm:cxn modelId="{760C221D-D507-431A-902B-819AD238987E}" type="presParOf" srcId="{941A47B3-FBC3-4BB6-AC44-5D6C1B0733AD}" destId="{B6A44A5A-4054-47FB-82D7-929EF4372F69}" srcOrd="0" destOrd="0" presId="urn:microsoft.com/office/officeart/2005/8/layout/radial5"/>
    <dgm:cxn modelId="{E35E6DCE-1613-4DE1-89FA-81971094E988}" type="presParOf" srcId="{E8BDB46D-D78E-4302-877A-0DBE4F1B4463}" destId="{7B0B1C3D-B3A1-42CF-8A75-DD5D982ED758}" srcOrd="14" destOrd="0" presId="urn:microsoft.com/office/officeart/2005/8/layout/radial5"/>
    <dgm:cxn modelId="{0452C62B-CCDF-42E4-9A48-D0CE676FC09E}" type="presParOf" srcId="{E8BDB46D-D78E-4302-877A-0DBE4F1B4463}" destId="{B6765E65-C753-4BDF-8A56-49832A434997}" srcOrd="15" destOrd="0" presId="urn:microsoft.com/office/officeart/2005/8/layout/radial5"/>
    <dgm:cxn modelId="{9006005B-4654-4367-ACA4-4DABE7AF772A}" type="presParOf" srcId="{B6765E65-C753-4BDF-8A56-49832A434997}" destId="{0585AAB1-88E8-4A96-B8C9-76B4A830CE65}" srcOrd="0" destOrd="0" presId="urn:microsoft.com/office/officeart/2005/8/layout/radial5"/>
    <dgm:cxn modelId="{E63E9FF1-E866-491C-91E0-A4660C67D12D}" type="presParOf" srcId="{E8BDB46D-D78E-4302-877A-0DBE4F1B4463}" destId="{DD1081F8-6A3F-4AC1-93D6-B47C89601B64}" srcOrd="16" destOrd="0" presId="urn:microsoft.com/office/officeart/2005/8/layout/radial5"/>
    <dgm:cxn modelId="{E923694D-F50F-4251-9DB1-0F1B7CBA7732}" type="presParOf" srcId="{E8BDB46D-D78E-4302-877A-0DBE4F1B4463}" destId="{E7DFD675-F9C9-4DA7-B10A-EC5B8AEA2DF9}" srcOrd="17" destOrd="0" presId="urn:microsoft.com/office/officeart/2005/8/layout/radial5"/>
    <dgm:cxn modelId="{FF7A49EE-C0E8-42CF-A8D5-74B7F4CC77D3}" type="presParOf" srcId="{E7DFD675-F9C9-4DA7-B10A-EC5B8AEA2DF9}" destId="{FD0FCF62-C689-4082-A2FB-F24100E8175E}" srcOrd="0" destOrd="0" presId="urn:microsoft.com/office/officeart/2005/8/layout/radial5"/>
    <dgm:cxn modelId="{083EC7B4-6F91-4020-B34B-9491C6762C16}" type="presParOf" srcId="{E8BDB46D-D78E-4302-877A-0DBE4F1B4463}" destId="{A3E8344D-EA98-4705-97A8-6AF58DBF8E3B}" srcOrd="18" destOrd="0" presId="urn:microsoft.com/office/officeart/2005/8/layout/radial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FD4ED84-EE09-4501-A303-81FD8F5FCF33}" type="doc">
      <dgm:prSet loTypeId="urn:microsoft.com/office/officeart/2005/8/layout/process2" loCatId="process" qsTypeId="urn:microsoft.com/office/officeart/2005/8/quickstyle/simple1" qsCatId="simple" csTypeId="urn:microsoft.com/office/officeart/2005/8/colors/accent1_2" csCatId="accent1" phldr="1"/>
      <dgm:spPr/>
    </dgm:pt>
    <dgm:pt modelId="{2B7801F3-6BF8-442C-88E8-952CF5A0078E}">
      <dgm:prSet phldrT="[文本]" custT="1"/>
      <dgm:spPr>
        <a:solidFill>
          <a:schemeClr val="accent6">
            <a:lumMod val="40000"/>
            <a:lumOff val="60000"/>
          </a:schemeClr>
        </a:soli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各类光电探测器</a:t>
          </a:r>
        </a:p>
      </dgm:t>
    </dgm:pt>
    <dgm:pt modelId="{FF780291-E56A-4BA9-B5DA-B974210A18E8}" type="parTrans" cxnId="{ABF16646-A630-4137-8052-B45A8E2B8021}">
      <dgm:prSet/>
      <dgm:spPr/>
      <dgm:t>
        <a:bodyPr/>
        <a:lstStyle/>
        <a:p>
          <a:endParaRPr lang="zh-CN" altLang="en-US" b="1">
            <a:latin typeface="微软雅黑" panose="020B0503020204020204" pitchFamily="34" charset="-122"/>
            <a:ea typeface="微软雅黑" panose="020B0503020204020204" pitchFamily="34" charset="-122"/>
          </a:endParaRPr>
        </a:p>
      </dgm:t>
    </dgm:pt>
    <dgm:pt modelId="{30C252FB-52E0-4F13-BD31-3FC7F235703A}" type="sibTrans" cxnId="{ABF16646-A630-4137-8052-B45A8E2B8021}">
      <dgm:prSet/>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dgm:spPr>
      <dgm:t>
        <a:bodyPr/>
        <a:lstStyle/>
        <a:p>
          <a:endParaRPr lang="zh-CN" altLang="en-US" b="1">
            <a:latin typeface="微软雅黑" panose="020B0503020204020204" pitchFamily="34" charset="-122"/>
            <a:ea typeface="微软雅黑" panose="020B0503020204020204" pitchFamily="34" charset="-122"/>
          </a:endParaRPr>
        </a:p>
      </dgm:t>
    </dgm:pt>
    <dgm:pt modelId="{2474B2B1-6A17-480C-BFD9-FF28FD3C66E7}">
      <dgm:prSet phldrT="[文本]" custT="1"/>
      <dgm:spPr>
        <a:solidFill>
          <a:schemeClr val="accent6">
            <a:lumMod val="40000"/>
            <a:lumOff val="60000"/>
          </a:schemeClr>
        </a:solidFill>
      </dgm:spPr>
      <dgm:t>
        <a:bodyPr/>
        <a:lstStyle/>
        <a:p>
          <a:pPr>
            <a:lnSpc>
              <a:spcPct val="100000"/>
            </a:lnSpc>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不同光电系统</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用不同光电探测器</a:t>
          </a:r>
        </a:p>
      </dgm:t>
    </dgm:pt>
    <dgm:pt modelId="{27FE89E9-A550-4E72-A76F-EF30BD9F9A0B}" type="parTrans" cxnId="{9F0552CB-021E-466B-A8C1-F0CE379A5EF3}">
      <dgm:prSet/>
      <dgm:spPr/>
      <dgm:t>
        <a:bodyPr/>
        <a:lstStyle/>
        <a:p>
          <a:endParaRPr lang="zh-CN" altLang="en-US" b="1">
            <a:latin typeface="微软雅黑" panose="020B0503020204020204" pitchFamily="34" charset="-122"/>
            <a:ea typeface="微软雅黑" panose="020B0503020204020204" pitchFamily="34" charset="-122"/>
          </a:endParaRPr>
        </a:p>
      </dgm:t>
    </dgm:pt>
    <dgm:pt modelId="{5265D9D8-7502-4B53-8089-FF12B4394CCF}" type="sibTrans" cxnId="{9F0552CB-021E-466B-A8C1-F0CE379A5EF3}">
      <dgm:prSet/>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dgm:spPr>
      <dgm:t>
        <a:bodyPr/>
        <a:lstStyle/>
        <a:p>
          <a:endParaRPr lang="zh-CN" altLang="en-US" b="1">
            <a:latin typeface="微软雅黑" panose="020B0503020204020204" pitchFamily="34" charset="-122"/>
            <a:ea typeface="微软雅黑" panose="020B0503020204020204" pitchFamily="34" charset="-122"/>
          </a:endParaRPr>
        </a:p>
      </dgm:t>
    </dgm:pt>
    <dgm:pt modelId="{CE8376F3-85D9-42A1-AF85-965451E2CD9D}">
      <dgm:prSet phldrT="[文本]" custT="1"/>
      <dgm:spPr>
        <a:solidFill>
          <a:schemeClr val="accent6">
            <a:lumMod val="40000"/>
            <a:lumOff val="60000"/>
          </a:schemeClr>
        </a:solidFill>
      </dgm:spPr>
      <dgm:t>
        <a:bodyPr/>
        <a:lstStyle/>
        <a:p>
          <a:pPr>
            <a:lnSpc>
              <a:spcPct val="100000"/>
            </a:lnSpc>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光电探测器</a:t>
          </a:r>
          <a:endParaRPr lang="en-US" altLang="zh-CN" sz="2000" b="1" dirty="0">
            <a:solidFill>
              <a:srgbClr val="0000CC"/>
            </a:solidFill>
            <a:latin typeface="微软雅黑" panose="020B0503020204020204" pitchFamily="34" charset="-122"/>
            <a:ea typeface="微软雅黑" panose="020B0503020204020204" pitchFamily="34" charset="-122"/>
          </a:endParaRPr>
        </a:p>
        <a:p>
          <a:pPr>
            <a:lnSpc>
              <a:spcPct val="100000"/>
            </a:lnSpc>
            <a:spcAft>
              <a:spcPts val="0"/>
            </a:spcAft>
          </a:pPr>
          <a:r>
            <a:rPr lang="zh-CN" altLang="en-US" sz="2000" b="1" dirty="0">
              <a:solidFill>
                <a:srgbClr val="0000CC"/>
              </a:solidFill>
              <a:latin typeface="微软雅黑" panose="020B0503020204020204" pitchFamily="34" charset="-122"/>
              <a:ea typeface="微软雅黑" panose="020B0503020204020204" pitchFamily="34" charset="-122"/>
            </a:rPr>
            <a:t>特性参数</a:t>
          </a:r>
        </a:p>
      </dgm:t>
    </dgm:pt>
    <dgm:pt modelId="{E5500AE3-F4BE-4835-86E5-FD787BCDCAB4}" type="parTrans" cxnId="{66A944EC-D8AB-4A32-BAA0-BFCF82EE4CD9}">
      <dgm:prSet/>
      <dgm:spPr/>
      <dgm:t>
        <a:bodyPr/>
        <a:lstStyle/>
        <a:p>
          <a:endParaRPr lang="zh-CN" altLang="en-US" b="1">
            <a:latin typeface="微软雅黑" panose="020B0503020204020204" pitchFamily="34" charset="-122"/>
            <a:ea typeface="微软雅黑" panose="020B0503020204020204" pitchFamily="34" charset="-122"/>
          </a:endParaRPr>
        </a:p>
      </dgm:t>
    </dgm:pt>
    <dgm:pt modelId="{07F98FBC-1193-41F7-ADDB-1B9D4FA55B5B}" type="sibTrans" cxnId="{66A944EC-D8AB-4A32-BAA0-BFCF82EE4CD9}">
      <dgm:prSet/>
      <dgm:sp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dgm:spPr>
      <dgm:t>
        <a:bodyPr/>
        <a:lstStyle/>
        <a:p>
          <a:endParaRPr lang="zh-CN" altLang="en-US" b="1">
            <a:latin typeface="微软雅黑" panose="020B0503020204020204" pitchFamily="34" charset="-122"/>
            <a:ea typeface="微软雅黑" panose="020B0503020204020204" pitchFamily="34" charset="-122"/>
          </a:endParaRPr>
        </a:p>
      </dgm:t>
    </dgm:pt>
    <dgm:pt modelId="{CCB4FE49-F890-47E1-A3B7-7D7F95B57B08}">
      <dgm:prSet phldrT="[文本]" custT="1"/>
      <dgm:spPr>
        <a:solidFill>
          <a:schemeClr val="accent6">
            <a:lumMod val="40000"/>
            <a:lumOff val="60000"/>
          </a:schemeClr>
        </a:soli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正确选择</a:t>
          </a:r>
          <a:endParaRPr lang="en-US" altLang="zh-CN" sz="2000" b="1" dirty="0">
            <a:solidFill>
              <a:srgbClr val="0000CC"/>
            </a:solidFill>
            <a:latin typeface="微软雅黑" panose="020B0503020204020204" pitchFamily="34" charset="-122"/>
            <a:ea typeface="微软雅黑" panose="020B0503020204020204" pitchFamily="34" charset="-122"/>
          </a:endParaRPr>
        </a:p>
        <a:p>
          <a:r>
            <a:rPr lang="zh-CN" altLang="en-US" sz="2000" b="1" dirty="0">
              <a:solidFill>
                <a:srgbClr val="0000CC"/>
              </a:solidFill>
              <a:latin typeface="微软雅黑" panose="020B0503020204020204" pitchFamily="34" charset="-122"/>
              <a:ea typeface="微软雅黑" panose="020B0503020204020204" pitchFamily="34" charset="-122"/>
            </a:rPr>
            <a:t>光电探测器</a:t>
          </a:r>
        </a:p>
      </dgm:t>
    </dgm:pt>
    <dgm:pt modelId="{97EDC4C0-862A-4850-B102-0D4838A9DB33}" type="parTrans" cxnId="{F1945505-2B7D-448B-9189-E784D9C65945}">
      <dgm:prSet/>
      <dgm:spPr/>
      <dgm:t>
        <a:bodyPr/>
        <a:lstStyle/>
        <a:p>
          <a:endParaRPr lang="zh-CN" altLang="en-US" b="1">
            <a:latin typeface="微软雅黑" panose="020B0503020204020204" pitchFamily="34" charset="-122"/>
            <a:ea typeface="微软雅黑" panose="020B0503020204020204" pitchFamily="34" charset="-122"/>
          </a:endParaRPr>
        </a:p>
      </dgm:t>
    </dgm:pt>
    <dgm:pt modelId="{25977D73-F41E-42C6-AE8C-4AF7922D7B8A}" type="sibTrans" cxnId="{F1945505-2B7D-448B-9189-E784D9C65945}">
      <dgm:prSet/>
      <dgm:spPr/>
      <dgm:t>
        <a:bodyPr/>
        <a:lstStyle/>
        <a:p>
          <a:endParaRPr lang="zh-CN" altLang="en-US" b="1">
            <a:latin typeface="微软雅黑" panose="020B0503020204020204" pitchFamily="34" charset="-122"/>
            <a:ea typeface="微软雅黑" panose="020B0503020204020204" pitchFamily="34" charset="-122"/>
          </a:endParaRPr>
        </a:p>
      </dgm:t>
    </dgm:pt>
    <dgm:pt modelId="{8F7F71AB-0750-4C30-8807-1B88BF8E8C2A}" type="pres">
      <dgm:prSet presAssocID="{7FD4ED84-EE09-4501-A303-81FD8F5FCF33}" presName="linearFlow" presStyleCnt="0">
        <dgm:presLayoutVars>
          <dgm:resizeHandles val="exact"/>
        </dgm:presLayoutVars>
      </dgm:prSet>
      <dgm:spPr/>
    </dgm:pt>
    <dgm:pt modelId="{E455FAD4-20C5-4659-A13A-9EE39A48AB23}" type="pres">
      <dgm:prSet presAssocID="{2B7801F3-6BF8-442C-88E8-952CF5A0078E}" presName="node" presStyleLbl="node1" presStyleIdx="0" presStyleCnt="4">
        <dgm:presLayoutVars>
          <dgm:bulletEnabled val="1"/>
        </dgm:presLayoutVars>
      </dgm:prSet>
      <dgm:spPr/>
    </dgm:pt>
    <dgm:pt modelId="{D8477416-7C74-4F78-B4D4-DAFA3040F902}" type="pres">
      <dgm:prSet presAssocID="{30C252FB-52E0-4F13-BD31-3FC7F235703A}" presName="sibTrans" presStyleLbl="sibTrans2D1" presStyleIdx="0" presStyleCnt="3"/>
      <dgm:spPr/>
    </dgm:pt>
    <dgm:pt modelId="{B780B3ED-5D4D-4C74-AE06-11A7BBEAD97A}" type="pres">
      <dgm:prSet presAssocID="{30C252FB-52E0-4F13-BD31-3FC7F235703A}" presName="connectorText" presStyleLbl="sibTrans2D1" presStyleIdx="0" presStyleCnt="3"/>
      <dgm:spPr/>
    </dgm:pt>
    <dgm:pt modelId="{C3103C6B-EE56-4D0F-96AB-D9FB9FF80CFA}" type="pres">
      <dgm:prSet presAssocID="{2474B2B1-6A17-480C-BFD9-FF28FD3C66E7}" presName="node" presStyleLbl="node1" presStyleIdx="1" presStyleCnt="4" custLinFactNeighborX="0" custLinFactNeighborY="2854">
        <dgm:presLayoutVars>
          <dgm:bulletEnabled val="1"/>
        </dgm:presLayoutVars>
      </dgm:prSet>
      <dgm:spPr/>
    </dgm:pt>
    <dgm:pt modelId="{EADF8ED8-1E91-4C07-A0A6-B5984F0F8AC6}" type="pres">
      <dgm:prSet presAssocID="{5265D9D8-7502-4B53-8089-FF12B4394CCF}" presName="sibTrans" presStyleLbl="sibTrans2D1" presStyleIdx="1" presStyleCnt="3"/>
      <dgm:spPr/>
    </dgm:pt>
    <dgm:pt modelId="{FBDA4224-7B3A-4377-AD11-CF7B22EC711A}" type="pres">
      <dgm:prSet presAssocID="{5265D9D8-7502-4B53-8089-FF12B4394CCF}" presName="connectorText" presStyleLbl="sibTrans2D1" presStyleIdx="1" presStyleCnt="3"/>
      <dgm:spPr/>
    </dgm:pt>
    <dgm:pt modelId="{0EF207B5-7C56-4CE0-9346-5177580777CC}" type="pres">
      <dgm:prSet presAssocID="{CE8376F3-85D9-42A1-AF85-965451E2CD9D}" presName="node" presStyleLbl="node1" presStyleIdx="2" presStyleCnt="4">
        <dgm:presLayoutVars>
          <dgm:bulletEnabled val="1"/>
        </dgm:presLayoutVars>
      </dgm:prSet>
      <dgm:spPr/>
    </dgm:pt>
    <dgm:pt modelId="{7149D838-E7C3-4B82-909F-3D942CFA87C3}" type="pres">
      <dgm:prSet presAssocID="{07F98FBC-1193-41F7-ADDB-1B9D4FA55B5B}" presName="sibTrans" presStyleLbl="sibTrans2D1" presStyleIdx="2" presStyleCnt="3"/>
      <dgm:spPr/>
    </dgm:pt>
    <dgm:pt modelId="{65F80FB4-E7A0-419D-BCEE-02A525C57260}" type="pres">
      <dgm:prSet presAssocID="{07F98FBC-1193-41F7-ADDB-1B9D4FA55B5B}" presName="connectorText" presStyleLbl="sibTrans2D1" presStyleIdx="2" presStyleCnt="3"/>
      <dgm:spPr/>
    </dgm:pt>
    <dgm:pt modelId="{1E401B28-4027-4FE2-B911-5129BC0C4945}" type="pres">
      <dgm:prSet presAssocID="{CCB4FE49-F890-47E1-A3B7-7D7F95B57B08}" presName="node" presStyleLbl="node1" presStyleIdx="3" presStyleCnt="4">
        <dgm:presLayoutVars>
          <dgm:bulletEnabled val="1"/>
        </dgm:presLayoutVars>
      </dgm:prSet>
      <dgm:spPr/>
    </dgm:pt>
  </dgm:ptLst>
  <dgm:cxnLst>
    <dgm:cxn modelId="{F1945505-2B7D-448B-9189-E784D9C65945}" srcId="{7FD4ED84-EE09-4501-A303-81FD8F5FCF33}" destId="{CCB4FE49-F890-47E1-A3B7-7D7F95B57B08}" srcOrd="3" destOrd="0" parTransId="{97EDC4C0-862A-4850-B102-0D4838A9DB33}" sibTransId="{25977D73-F41E-42C6-AE8C-4AF7922D7B8A}"/>
    <dgm:cxn modelId="{1B121512-A4BB-4B0B-A272-FA9C8327D125}" type="presOf" srcId="{30C252FB-52E0-4F13-BD31-3FC7F235703A}" destId="{D8477416-7C74-4F78-B4D4-DAFA3040F902}" srcOrd="0" destOrd="0" presId="urn:microsoft.com/office/officeart/2005/8/layout/process2"/>
    <dgm:cxn modelId="{4A3E7921-1D46-4EB2-A15D-12EA82188291}" type="presOf" srcId="{7FD4ED84-EE09-4501-A303-81FD8F5FCF33}" destId="{8F7F71AB-0750-4C30-8807-1B88BF8E8C2A}" srcOrd="0" destOrd="0" presId="urn:microsoft.com/office/officeart/2005/8/layout/process2"/>
    <dgm:cxn modelId="{7E6F712A-7E0F-4D0D-8220-2560C39547C1}" type="presOf" srcId="{07F98FBC-1193-41F7-ADDB-1B9D4FA55B5B}" destId="{7149D838-E7C3-4B82-909F-3D942CFA87C3}" srcOrd="0" destOrd="0" presId="urn:microsoft.com/office/officeart/2005/8/layout/process2"/>
    <dgm:cxn modelId="{56EFE536-0644-490B-97CB-B114B6EE2F68}" type="presOf" srcId="{5265D9D8-7502-4B53-8089-FF12B4394CCF}" destId="{EADF8ED8-1E91-4C07-A0A6-B5984F0F8AC6}" srcOrd="0" destOrd="0" presId="urn:microsoft.com/office/officeart/2005/8/layout/process2"/>
    <dgm:cxn modelId="{89CAA460-EB30-4FB7-AEAF-428014A51BF2}" type="presOf" srcId="{30C252FB-52E0-4F13-BD31-3FC7F235703A}" destId="{B780B3ED-5D4D-4C74-AE06-11A7BBEAD97A}" srcOrd="1" destOrd="0" presId="urn:microsoft.com/office/officeart/2005/8/layout/process2"/>
    <dgm:cxn modelId="{ABF16646-A630-4137-8052-B45A8E2B8021}" srcId="{7FD4ED84-EE09-4501-A303-81FD8F5FCF33}" destId="{2B7801F3-6BF8-442C-88E8-952CF5A0078E}" srcOrd="0" destOrd="0" parTransId="{FF780291-E56A-4BA9-B5DA-B974210A18E8}" sibTransId="{30C252FB-52E0-4F13-BD31-3FC7F235703A}"/>
    <dgm:cxn modelId="{65FAF579-1108-49D6-A36F-6109D003109F}" type="presOf" srcId="{07F98FBC-1193-41F7-ADDB-1B9D4FA55B5B}" destId="{65F80FB4-E7A0-419D-BCEE-02A525C57260}" srcOrd="1" destOrd="0" presId="urn:microsoft.com/office/officeart/2005/8/layout/process2"/>
    <dgm:cxn modelId="{23B0C47D-41E2-4573-99D4-603946AFC938}" type="presOf" srcId="{CE8376F3-85D9-42A1-AF85-965451E2CD9D}" destId="{0EF207B5-7C56-4CE0-9346-5177580777CC}" srcOrd="0" destOrd="0" presId="urn:microsoft.com/office/officeart/2005/8/layout/process2"/>
    <dgm:cxn modelId="{74C8298D-C1F4-40A1-9A7E-6BE0F877C882}" type="presOf" srcId="{2474B2B1-6A17-480C-BFD9-FF28FD3C66E7}" destId="{C3103C6B-EE56-4D0F-96AB-D9FB9FF80CFA}" srcOrd="0" destOrd="0" presId="urn:microsoft.com/office/officeart/2005/8/layout/process2"/>
    <dgm:cxn modelId="{9C91EEB7-22B9-4056-BCD9-A3AA4BFB827B}" type="presOf" srcId="{2B7801F3-6BF8-442C-88E8-952CF5A0078E}" destId="{E455FAD4-20C5-4659-A13A-9EE39A48AB23}" srcOrd="0" destOrd="0" presId="urn:microsoft.com/office/officeart/2005/8/layout/process2"/>
    <dgm:cxn modelId="{9F0552CB-021E-466B-A8C1-F0CE379A5EF3}" srcId="{7FD4ED84-EE09-4501-A303-81FD8F5FCF33}" destId="{2474B2B1-6A17-480C-BFD9-FF28FD3C66E7}" srcOrd="1" destOrd="0" parTransId="{27FE89E9-A550-4E72-A76F-EF30BD9F9A0B}" sibTransId="{5265D9D8-7502-4B53-8089-FF12B4394CCF}"/>
    <dgm:cxn modelId="{98A24AD8-0330-41AF-BFD4-07E6B74E3C3E}" type="presOf" srcId="{CCB4FE49-F890-47E1-A3B7-7D7F95B57B08}" destId="{1E401B28-4027-4FE2-B911-5129BC0C4945}" srcOrd="0" destOrd="0" presId="urn:microsoft.com/office/officeart/2005/8/layout/process2"/>
    <dgm:cxn modelId="{FD221BD9-094E-4F5E-85CB-B4D3056182E2}" type="presOf" srcId="{5265D9D8-7502-4B53-8089-FF12B4394CCF}" destId="{FBDA4224-7B3A-4377-AD11-CF7B22EC711A}" srcOrd="1" destOrd="0" presId="urn:microsoft.com/office/officeart/2005/8/layout/process2"/>
    <dgm:cxn modelId="{66A944EC-D8AB-4A32-BAA0-BFCF82EE4CD9}" srcId="{7FD4ED84-EE09-4501-A303-81FD8F5FCF33}" destId="{CE8376F3-85D9-42A1-AF85-965451E2CD9D}" srcOrd="2" destOrd="0" parTransId="{E5500AE3-F4BE-4835-86E5-FD787BCDCAB4}" sibTransId="{07F98FBC-1193-41F7-ADDB-1B9D4FA55B5B}"/>
    <dgm:cxn modelId="{A018D7EA-1861-4D7F-83C1-5CD24296AEFA}" type="presParOf" srcId="{8F7F71AB-0750-4C30-8807-1B88BF8E8C2A}" destId="{E455FAD4-20C5-4659-A13A-9EE39A48AB23}" srcOrd="0" destOrd="0" presId="urn:microsoft.com/office/officeart/2005/8/layout/process2"/>
    <dgm:cxn modelId="{6A2ED656-95B5-44AE-B7A8-E760DD486BD0}" type="presParOf" srcId="{8F7F71AB-0750-4C30-8807-1B88BF8E8C2A}" destId="{D8477416-7C74-4F78-B4D4-DAFA3040F902}" srcOrd="1" destOrd="0" presId="urn:microsoft.com/office/officeart/2005/8/layout/process2"/>
    <dgm:cxn modelId="{0C49E0E1-9A40-4E93-A527-107E32216390}" type="presParOf" srcId="{D8477416-7C74-4F78-B4D4-DAFA3040F902}" destId="{B780B3ED-5D4D-4C74-AE06-11A7BBEAD97A}" srcOrd="0" destOrd="0" presId="urn:microsoft.com/office/officeart/2005/8/layout/process2"/>
    <dgm:cxn modelId="{89A51F29-A399-4DB3-90E5-59F51FC3CD19}" type="presParOf" srcId="{8F7F71AB-0750-4C30-8807-1B88BF8E8C2A}" destId="{C3103C6B-EE56-4D0F-96AB-D9FB9FF80CFA}" srcOrd="2" destOrd="0" presId="urn:microsoft.com/office/officeart/2005/8/layout/process2"/>
    <dgm:cxn modelId="{3E21FC69-5C9A-4CAE-BFF2-E8CEC6BC731A}" type="presParOf" srcId="{8F7F71AB-0750-4C30-8807-1B88BF8E8C2A}" destId="{EADF8ED8-1E91-4C07-A0A6-B5984F0F8AC6}" srcOrd="3" destOrd="0" presId="urn:microsoft.com/office/officeart/2005/8/layout/process2"/>
    <dgm:cxn modelId="{E7C4285B-4551-4407-80C0-A852BB59BF56}" type="presParOf" srcId="{EADF8ED8-1E91-4C07-A0A6-B5984F0F8AC6}" destId="{FBDA4224-7B3A-4377-AD11-CF7B22EC711A}" srcOrd="0" destOrd="0" presId="urn:microsoft.com/office/officeart/2005/8/layout/process2"/>
    <dgm:cxn modelId="{154EAB6B-DC2A-4A90-8F07-504D359808C5}" type="presParOf" srcId="{8F7F71AB-0750-4C30-8807-1B88BF8E8C2A}" destId="{0EF207B5-7C56-4CE0-9346-5177580777CC}" srcOrd="4" destOrd="0" presId="urn:microsoft.com/office/officeart/2005/8/layout/process2"/>
    <dgm:cxn modelId="{B84A84C7-D9EA-4E0B-A644-0544C5272E81}" type="presParOf" srcId="{8F7F71AB-0750-4C30-8807-1B88BF8E8C2A}" destId="{7149D838-E7C3-4B82-909F-3D942CFA87C3}" srcOrd="5" destOrd="0" presId="urn:microsoft.com/office/officeart/2005/8/layout/process2"/>
    <dgm:cxn modelId="{453D002A-7D7F-49AA-8FBC-B8EFE2BE192D}" type="presParOf" srcId="{7149D838-E7C3-4B82-909F-3D942CFA87C3}" destId="{65F80FB4-E7A0-419D-BCEE-02A525C57260}" srcOrd="0" destOrd="0" presId="urn:microsoft.com/office/officeart/2005/8/layout/process2"/>
    <dgm:cxn modelId="{4A98F9A2-1F89-4536-9F14-FCCBCA48E84F}" type="presParOf" srcId="{8F7F71AB-0750-4C30-8807-1B88BF8E8C2A}" destId="{1E401B28-4027-4FE2-B911-5129BC0C4945}" srcOrd="6" destOrd="0" presId="urn:microsoft.com/office/officeart/2005/8/layout/process2"/>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CDA2DD-6A62-45E8-8EC5-5CE72A810ADD}"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705EFB7C-D44D-47F6-AD08-2D839B36F3E0}">
      <dgm:prSet phldrT="[文本]" custT="1"/>
      <dgm:spPr>
        <a:solidFill>
          <a:schemeClr val="accent6">
            <a:lumMod val="60000"/>
            <a:lumOff val="40000"/>
          </a:schemeClr>
        </a:solidFill>
      </dgm:spPr>
      <dgm:t>
        <a:bodyPr/>
        <a:lstStyle/>
        <a:p>
          <a:r>
            <a:rPr lang="zh-CN" altLang="en-US" sz="2000" b="1" dirty="0">
              <a:solidFill>
                <a:srgbClr val="FF0000"/>
              </a:solidFill>
              <a:latin typeface="微软雅黑" panose="020B0503020204020204" pitchFamily="34" charset="-122"/>
              <a:ea typeface="微软雅黑" panose="020B0503020204020204" pitchFamily="34" charset="-122"/>
            </a:rPr>
            <a:t>工作条件</a:t>
          </a:r>
        </a:p>
      </dgm:t>
    </dgm:pt>
    <dgm:pt modelId="{BA8E8D35-D9F7-4A8D-A0B0-91C3E643BD3B}" type="parTrans" cxnId="{4B65ED8F-985C-4763-BCC9-B4DB3E51E8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0D1DC78-D11F-42DF-9428-0865A6435484}" type="sibTrans" cxnId="{4B65ED8F-985C-4763-BCC9-B4DB3E51E8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5C66506-6787-4E66-832C-DB40C642B411}">
      <dgm:prSet phldrT="[文本]" custT="1"/>
      <dgm:spPr>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辐射源的光谱分布</a:t>
          </a:r>
        </a:p>
      </dgm:t>
    </dgm:pt>
    <dgm:pt modelId="{BB0A4CE0-9E3A-46BC-AE9B-A6EFAF914C79}" type="parTrans" cxnId="{737A3678-EDEC-40D8-AD11-3F2988CE7F32}">
      <dgm:prSet custT="1"/>
      <dgm:spPr>
        <a:ln w="31750">
          <a:solidFill>
            <a:srgbClr val="FF0000"/>
          </a:solidFill>
        </a:ln>
      </dgm:spPr>
      <dgm:t>
        <a:bodyPr/>
        <a:lstStyle/>
        <a:p>
          <a:endParaRPr lang="zh-CN" altLang="en-US" sz="1800" b="1">
            <a:latin typeface="微软雅黑" panose="020B0503020204020204" pitchFamily="34" charset="-122"/>
            <a:ea typeface="微软雅黑" panose="020B0503020204020204" pitchFamily="34" charset="-122"/>
          </a:endParaRPr>
        </a:p>
      </dgm:t>
    </dgm:pt>
    <dgm:pt modelId="{9DEDB2AF-94DA-4806-A0AC-97DD2FD6A957}" type="sibTrans" cxnId="{737A3678-EDEC-40D8-AD11-3F2988CE7F3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FA683B3-CDA7-494F-9129-7C5D587889D3}">
      <dgm:prSet phldrT="[文本]" custT="1"/>
      <dgm:spPr>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电路的通频带和带宽</a:t>
          </a:r>
        </a:p>
      </dgm:t>
    </dgm:pt>
    <dgm:pt modelId="{5A727236-9160-460A-81B9-01C7C0A1AC9D}" type="parTrans" cxnId="{07AE7754-E817-4653-A22F-46959CD28DAE}">
      <dgm:prSet custT="1"/>
      <dgm:spPr>
        <a:ln w="31750">
          <a:solidFill>
            <a:srgbClr val="FF0000"/>
          </a:solidFill>
        </a:ln>
      </dgm:spPr>
      <dgm:t>
        <a:bodyPr/>
        <a:lstStyle/>
        <a:p>
          <a:endParaRPr lang="zh-CN" altLang="en-US" sz="1800" b="1">
            <a:latin typeface="微软雅黑" panose="020B0503020204020204" pitchFamily="34" charset="-122"/>
            <a:ea typeface="微软雅黑" panose="020B0503020204020204" pitchFamily="34" charset="-122"/>
          </a:endParaRPr>
        </a:p>
      </dgm:t>
    </dgm:pt>
    <dgm:pt modelId="{06F853AD-AF3C-47B6-B875-7AECA3C0AE8D}" type="sibTrans" cxnId="{07AE7754-E817-4653-A22F-46959CD28DAE}">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56B190F-E5D0-4C56-98F5-7E062F7BF46D}">
      <dgm:prSet custT="1"/>
      <dgm:spPr>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工作温度</a:t>
          </a:r>
        </a:p>
      </dgm:t>
    </dgm:pt>
    <dgm:pt modelId="{4876B472-C6B1-4B9F-BBFE-CEF017034393}" type="parTrans" cxnId="{A6ADA59F-80BB-4EA0-89A5-A35053089AD0}">
      <dgm:prSet custT="1"/>
      <dgm:spPr>
        <a:ln w="31750">
          <a:solidFill>
            <a:srgbClr val="FF0000"/>
          </a:solidFill>
        </a:ln>
      </dgm:spPr>
      <dgm:t>
        <a:bodyPr/>
        <a:lstStyle/>
        <a:p>
          <a:endParaRPr lang="zh-CN" altLang="en-US" sz="1800" b="1">
            <a:latin typeface="微软雅黑" panose="020B0503020204020204" pitchFamily="34" charset="-122"/>
            <a:ea typeface="微软雅黑" panose="020B0503020204020204" pitchFamily="34" charset="-122"/>
          </a:endParaRPr>
        </a:p>
      </dgm:t>
    </dgm:pt>
    <dgm:pt modelId="{2DBC1122-144D-4791-9075-5869AC4BB657}" type="sibTrans" cxnId="{A6ADA59F-80BB-4EA0-89A5-A35053089AD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DAB57AA-6CE0-4203-B2DF-7B19651C6351}">
      <dgm:prSet custT="1"/>
      <dgm:spPr>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光敏</a:t>
          </a:r>
          <a:r>
            <a:rPr lang="zh-CN" altLang="en-US" sz="1800" b="1" dirty="0">
              <a:solidFill>
                <a:srgbClr val="0000CC"/>
              </a:solidFill>
              <a:latin typeface="微软雅黑" panose="020B0503020204020204" pitchFamily="34" charset="-122"/>
              <a:ea typeface="微软雅黑" panose="020B0503020204020204" pitchFamily="34" charset="-122"/>
            </a:rPr>
            <a:t>面尺寸</a:t>
          </a:r>
        </a:p>
      </dgm:t>
    </dgm:pt>
    <dgm:pt modelId="{971C273A-CEEA-4C59-8B9A-A4732BCE404E}" type="parTrans" cxnId="{9947C30D-6378-4D0A-97DF-EEA13FF9DEDB}">
      <dgm:prSet custT="1"/>
      <dgm:spPr>
        <a:ln w="31750">
          <a:solidFill>
            <a:srgbClr val="FF0000"/>
          </a:solidFill>
        </a:ln>
      </dgm:spPr>
      <dgm:t>
        <a:bodyPr/>
        <a:lstStyle/>
        <a:p>
          <a:endParaRPr lang="zh-CN" altLang="en-US" sz="1800" b="1">
            <a:latin typeface="微软雅黑" panose="020B0503020204020204" pitchFamily="34" charset="-122"/>
            <a:ea typeface="微软雅黑" panose="020B0503020204020204" pitchFamily="34" charset="-122"/>
          </a:endParaRPr>
        </a:p>
      </dgm:t>
    </dgm:pt>
    <dgm:pt modelId="{116A0F1F-3B2C-4F79-A160-410CA26F7682}" type="sibTrans" cxnId="{9947C30D-6378-4D0A-97DF-EEA13FF9DE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450EBF8-33D5-4DAA-BF5A-FB14FE75AFEF}">
      <dgm:prSet custT="1"/>
      <dgm:spPr>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dgm:spPr>
      <dgm:t>
        <a:bodyPr/>
        <a:lstStyle/>
        <a:p>
          <a:r>
            <a:rPr lang="zh-CN" altLang="en-US" sz="2000" b="1" dirty="0">
              <a:solidFill>
                <a:srgbClr val="0000CC"/>
              </a:solidFill>
              <a:latin typeface="微软雅黑" panose="020B0503020204020204" pitchFamily="34" charset="-122"/>
              <a:ea typeface="微软雅黑" panose="020B0503020204020204" pitchFamily="34" charset="-122"/>
            </a:rPr>
            <a:t>偏置情况</a:t>
          </a:r>
        </a:p>
      </dgm:t>
    </dgm:pt>
    <dgm:pt modelId="{07E12590-6FDD-48AD-A735-CEC143DF8870}" type="parTrans" cxnId="{54F0D8A9-0F45-4D40-A55E-D71644106560}">
      <dgm:prSet custT="1"/>
      <dgm:spPr>
        <a:ln w="31750">
          <a:solidFill>
            <a:srgbClr val="FF0000"/>
          </a:solidFill>
        </a:ln>
      </dgm:spPr>
      <dgm:t>
        <a:bodyPr/>
        <a:lstStyle/>
        <a:p>
          <a:endParaRPr lang="zh-CN" altLang="en-US" sz="1800" b="1">
            <a:latin typeface="微软雅黑" panose="020B0503020204020204" pitchFamily="34" charset="-122"/>
            <a:ea typeface="微软雅黑" panose="020B0503020204020204" pitchFamily="34" charset="-122"/>
          </a:endParaRPr>
        </a:p>
      </dgm:t>
    </dgm:pt>
    <dgm:pt modelId="{F49E2602-7067-414A-A695-C981B40EB350}" type="sibTrans" cxnId="{54F0D8A9-0F45-4D40-A55E-D7164410656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F05DBD1B-B48B-48B8-813B-F90DC4692ED5}" type="pres">
      <dgm:prSet presAssocID="{CACDA2DD-6A62-45E8-8EC5-5CE72A810ADD}" presName="Name0" presStyleCnt="0">
        <dgm:presLayoutVars>
          <dgm:chPref val="1"/>
          <dgm:dir/>
          <dgm:animOne val="branch"/>
          <dgm:animLvl val="lvl"/>
          <dgm:resizeHandles val="exact"/>
        </dgm:presLayoutVars>
      </dgm:prSet>
      <dgm:spPr/>
    </dgm:pt>
    <dgm:pt modelId="{46BB4BBE-7A70-47A6-843A-EDA706B4A8D3}" type="pres">
      <dgm:prSet presAssocID="{705EFB7C-D44D-47F6-AD08-2D839B36F3E0}" presName="root1" presStyleCnt="0"/>
      <dgm:spPr/>
    </dgm:pt>
    <dgm:pt modelId="{95E96846-5A08-4C2C-8A61-22E27E83EFF7}" type="pres">
      <dgm:prSet presAssocID="{705EFB7C-D44D-47F6-AD08-2D839B36F3E0}" presName="LevelOneTextNode" presStyleLbl="node0" presStyleIdx="0" presStyleCnt="1">
        <dgm:presLayoutVars>
          <dgm:chPref val="3"/>
        </dgm:presLayoutVars>
      </dgm:prSet>
      <dgm:spPr/>
    </dgm:pt>
    <dgm:pt modelId="{B3C22623-A0B3-4EFB-9747-80DBDDE77D42}" type="pres">
      <dgm:prSet presAssocID="{705EFB7C-D44D-47F6-AD08-2D839B36F3E0}" presName="level2hierChild" presStyleCnt="0"/>
      <dgm:spPr/>
    </dgm:pt>
    <dgm:pt modelId="{2A15C425-5277-46DC-B849-2CB9CE883D0A}" type="pres">
      <dgm:prSet presAssocID="{BB0A4CE0-9E3A-46BC-AE9B-A6EFAF914C79}" presName="conn2-1" presStyleLbl="parChTrans1D2" presStyleIdx="0" presStyleCnt="5"/>
      <dgm:spPr/>
    </dgm:pt>
    <dgm:pt modelId="{20ECD74C-4368-4E35-8380-292808BCCC7F}" type="pres">
      <dgm:prSet presAssocID="{BB0A4CE0-9E3A-46BC-AE9B-A6EFAF914C79}" presName="connTx" presStyleLbl="parChTrans1D2" presStyleIdx="0" presStyleCnt="5"/>
      <dgm:spPr/>
    </dgm:pt>
    <dgm:pt modelId="{41680F76-52A5-4757-975A-F6AD3D6ADDAE}" type="pres">
      <dgm:prSet presAssocID="{A5C66506-6787-4E66-832C-DB40C642B411}" presName="root2" presStyleCnt="0"/>
      <dgm:spPr/>
    </dgm:pt>
    <dgm:pt modelId="{C4EADA36-21B1-429B-A7C1-A4090760E832}" type="pres">
      <dgm:prSet presAssocID="{A5C66506-6787-4E66-832C-DB40C642B411}" presName="LevelTwoTextNode" presStyleLbl="node2" presStyleIdx="0" presStyleCnt="5" custScaleX="132839">
        <dgm:presLayoutVars>
          <dgm:chPref val="3"/>
        </dgm:presLayoutVars>
      </dgm:prSet>
      <dgm:spPr/>
    </dgm:pt>
    <dgm:pt modelId="{6C2147B5-F3F4-4A20-9367-6FA225B42085}" type="pres">
      <dgm:prSet presAssocID="{A5C66506-6787-4E66-832C-DB40C642B411}" presName="level3hierChild" presStyleCnt="0"/>
      <dgm:spPr/>
    </dgm:pt>
    <dgm:pt modelId="{5080B566-065B-49E4-BC72-60F27A81194A}" type="pres">
      <dgm:prSet presAssocID="{5A727236-9160-460A-81B9-01C7C0A1AC9D}" presName="conn2-1" presStyleLbl="parChTrans1D2" presStyleIdx="1" presStyleCnt="5"/>
      <dgm:spPr/>
    </dgm:pt>
    <dgm:pt modelId="{1EDF8CBF-735D-4A24-8642-9FC5EFE058E0}" type="pres">
      <dgm:prSet presAssocID="{5A727236-9160-460A-81B9-01C7C0A1AC9D}" presName="connTx" presStyleLbl="parChTrans1D2" presStyleIdx="1" presStyleCnt="5"/>
      <dgm:spPr/>
    </dgm:pt>
    <dgm:pt modelId="{F53F24AD-511A-4901-915D-638E476D00D6}" type="pres">
      <dgm:prSet presAssocID="{8FA683B3-CDA7-494F-9129-7C5D587889D3}" presName="root2" presStyleCnt="0"/>
      <dgm:spPr/>
    </dgm:pt>
    <dgm:pt modelId="{5477AD9B-D418-47CE-B1A2-3AD4C4B03512}" type="pres">
      <dgm:prSet presAssocID="{8FA683B3-CDA7-494F-9129-7C5D587889D3}" presName="LevelTwoTextNode" presStyleLbl="node2" presStyleIdx="1" presStyleCnt="5" custScaleX="133881">
        <dgm:presLayoutVars>
          <dgm:chPref val="3"/>
        </dgm:presLayoutVars>
      </dgm:prSet>
      <dgm:spPr/>
    </dgm:pt>
    <dgm:pt modelId="{BFCAA3F4-343E-474F-9348-54A48F6C837A}" type="pres">
      <dgm:prSet presAssocID="{8FA683B3-CDA7-494F-9129-7C5D587889D3}" presName="level3hierChild" presStyleCnt="0"/>
      <dgm:spPr/>
    </dgm:pt>
    <dgm:pt modelId="{BDB98B4B-B72C-4E51-9ABE-5A1EEB68490D}" type="pres">
      <dgm:prSet presAssocID="{4876B472-C6B1-4B9F-BBFE-CEF017034393}" presName="conn2-1" presStyleLbl="parChTrans1D2" presStyleIdx="2" presStyleCnt="5"/>
      <dgm:spPr/>
    </dgm:pt>
    <dgm:pt modelId="{684F16B9-41DC-443B-AE98-3CEC4C578B5E}" type="pres">
      <dgm:prSet presAssocID="{4876B472-C6B1-4B9F-BBFE-CEF017034393}" presName="connTx" presStyleLbl="parChTrans1D2" presStyleIdx="2" presStyleCnt="5"/>
      <dgm:spPr/>
    </dgm:pt>
    <dgm:pt modelId="{6B10A416-8954-4C1D-80C0-50E63D7B28C6}" type="pres">
      <dgm:prSet presAssocID="{E56B190F-E5D0-4C56-98F5-7E062F7BF46D}" presName="root2" presStyleCnt="0"/>
      <dgm:spPr/>
    </dgm:pt>
    <dgm:pt modelId="{4D3130EE-F92E-45E4-958B-0F9437B5EA0A}" type="pres">
      <dgm:prSet presAssocID="{E56B190F-E5D0-4C56-98F5-7E062F7BF46D}" presName="LevelTwoTextNode" presStyleLbl="node2" presStyleIdx="2" presStyleCnt="5" custScaleX="133236">
        <dgm:presLayoutVars>
          <dgm:chPref val="3"/>
        </dgm:presLayoutVars>
      </dgm:prSet>
      <dgm:spPr/>
    </dgm:pt>
    <dgm:pt modelId="{E7283FBD-17BC-4404-8ADB-DCF3F67FB3A3}" type="pres">
      <dgm:prSet presAssocID="{E56B190F-E5D0-4C56-98F5-7E062F7BF46D}" presName="level3hierChild" presStyleCnt="0"/>
      <dgm:spPr/>
    </dgm:pt>
    <dgm:pt modelId="{EE232C3A-66D1-41E8-88D4-07E8120248BB}" type="pres">
      <dgm:prSet presAssocID="{971C273A-CEEA-4C59-8B9A-A4732BCE404E}" presName="conn2-1" presStyleLbl="parChTrans1D2" presStyleIdx="3" presStyleCnt="5"/>
      <dgm:spPr/>
    </dgm:pt>
    <dgm:pt modelId="{6F18D460-B93C-4A87-A7B7-EE2B2E830777}" type="pres">
      <dgm:prSet presAssocID="{971C273A-CEEA-4C59-8B9A-A4732BCE404E}" presName="connTx" presStyleLbl="parChTrans1D2" presStyleIdx="3" presStyleCnt="5"/>
      <dgm:spPr/>
    </dgm:pt>
    <dgm:pt modelId="{053A9F88-50CD-4906-9EC2-8A58CAF62736}" type="pres">
      <dgm:prSet presAssocID="{0DAB57AA-6CE0-4203-B2DF-7B19651C6351}" presName="root2" presStyleCnt="0"/>
      <dgm:spPr/>
    </dgm:pt>
    <dgm:pt modelId="{DA65228A-EED3-4974-995A-86E40B70D85C}" type="pres">
      <dgm:prSet presAssocID="{0DAB57AA-6CE0-4203-B2DF-7B19651C6351}" presName="LevelTwoTextNode" presStyleLbl="node2" presStyleIdx="3" presStyleCnt="5" custScaleX="134278">
        <dgm:presLayoutVars>
          <dgm:chPref val="3"/>
        </dgm:presLayoutVars>
      </dgm:prSet>
      <dgm:spPr/>
    </dgm:pt>
    <dgm:pt modelId="{6F6A8C3F-A59C-4F98-BE9C-FDA48C4732A2}" type="pres">
      <dgm:prSet presAssocID="{0DAB57AA-6CE0-4203-B2DF-7B19651C6351}" presName="level3hierChild" presStyleCnt="0"/>
      <dgm:spPr/>
    </dgm:pt>
    <dgm:pt modelId="{F04A5332-CD23-4285-BED7-05E505AF41A2}" type="pres">
      <dgm:prSet presAssocID="{07E12590-6FDD-48AD-A735-CEC143DF8870}" presName="conn2-1" presStyleLbl="parChTrans1D2" presStyleIdx="4" presStyleCnt="5"/>
      <dgm:spPr/>
    </dgm:pt>
    <dgm:pt modelId="{067599DC-A2BC-464B-8E21-AA845C40C926}" type="pres">
      <dgm:prSet presAssocID="{07E12590-6FDD-48AD-A735-CEC143DF8870}" presName="connTx" presStyleLbl="parChTrans1D2" presStyleIdx="4" presStyleCnt="5"/>
      <dgm:spPr/>
    </dgm:pt>
    <dgm:pt modelId="{C000BB5C-2063-4E8E-A619-2BD8810AE6F6}" type="pres">
      <dgm:prSet presAssocID="{A450EBF8-33D5-4DAA-BF5A-FB14FE75AFEF}" presName="root2" presStyleCnt="0"/>
      <dgm:spPr/>
    </dgm:pt>
    <dgm:pt modelId="{CFC04077-7BA4-461E-BE12-7A80FE4C1392}" type="pres">
      <dgm:prSet presAssocID="{A450EBF8-33D5-4DAA-BF5A-FB14FE75AFEF}" presName="LevelTwoTextNode" presStyleLbl="node2" presStyleIdx="4" presStyleCnt="5" custScaleX="134389">
        <dgm:presLayoutVars>
          <dgm:chPref val="3"/>
        </dgm:presLayoutVars>
      </dgm:prSet>
      <dgm:spPr/>
    </dgm:pt>
    <dgm:pt modelId="{C726C7F4-3DFF-4789-ABFF-716EAEFDC451}" type="pres">
      <dgm:prSet presAssocID="{A450EBF8-33D5-4DAA-BF5A-FB14FE75AFEF}" presName="level3hierChild" presStyleCnt="0"/>
      <dgm:spPr/>
    </dgm:pt>
  </dgm:ptLst>
  <dgm:cxnLst>
    <dgm:cxn modelId="{9947C30D-6378-4D0A-97DF-EEA13FF9DEDB}" srcId="{705EFB7C-D44D-47F6-AD08-2D839B36F3E0}" destId="{0DAB57AA-6CE0-4203-B2DF-7B19651C6351}" srcOrd="3" destOrd="0" parTransId="{971C273A-CEEA-4C59-8B9A-A4732BCE404E}" sibTransId="{116A0F1F-3B2C-4F79-A160-410CA26F7682}"/>
    <dgm:cxn modelId="{A5DB100E-2AE7-4F0E-9D1A-7DB073B6D719}" type="presOf" srcId="{A450EBF8-33D5-4DAA-BF5A-FB14FE75AFEF}" destId="{CFC04077-7BA4-461E-BE12-7A80FE4C1392}" srcOrd="0" destOrd="0" presId="urn:microsoft.com/office/officeart/2008/layout/HorizontalMultiLevelHierarchy"/>
    <dgm:cxn modelId="{D54C2E34-BA35-40D5-AA42-24A673C0BF65}" type="presOf" srcId="{CACDA2DD-6A62-45E8-8EC5-5CE72A810ADD}" destId="{F05DBD1B-B48B-48B8-813B-F90DC4692ED5}" srcOrd="0" destOrd="0" presId="urn:microsoft.com/office/officeart/2008/layout/HorizontalMultiLevelHierarchy"/>
    <dgm:cxn modelId="{6F9D4F42-7B99-450D-A9ED-C38232BBA91D}" type="presOf" srcId="{BB0A4CE0-9E3A-46BC-AE9B-A6EFAF914C79}" destId="{2A15C425-5277-46DC-B849-2CB9CE883D0A}" srcOrd="0" destOrd="0" presId="urn:microsoft.com/office/officeart/2008/layout/HorizontalMultiLevelHierarchy"/>
    <dgm:cxn modelId="{64AECE42-EE9F-4F5A-BCF1-0759440EC27D}" type="presOf" srcId="{A5C66506-6787-4E66-832C-DB40C642B411}" destId="{C4EADA36-21B1-429B-A7C1-A4090760E832}" srcOrd="0" destOrd="0" presId="urn:microsoft.com/office/officeart/2008/layout/HorizontalMultiLevelHierarchy"/>
    <dgm:cxn modelId="{D5472C49-16D7-4B03-BC85-EF0FDBAD3A94}" type="presOf" srcId="{8FA683B3-CDA7-494F-9129-7C5D587889D3}" destId="{5477AD9B-D418-47CE-B1A2-3AD4C4B03512}" srcOrd="0" destOrd="0" presId="urn:microsoft.com/office/officeart/2008/layout/HorizontalMultiLevelHierarchy"/>
    <dgm:cxn modelId="{07AE7754-E817-4653-A22F-46959CD28DAE}" srcId="{705EFB7C-D44D-47F6-AD08-2D839B36F3E0}" destId="{8FA683B3-CDA7-494F-9129-7C5D587889D3}" srcOrd="1" destOrd="0" parTransId="{5A727236-9160-460A-81B9-01C7C0A1AC9D}" sibTransId="{06F853AD-AF3C-47B6-B875-7AECA3C0AE8D}"/>
    <dgm:cxn modelId="{737A3678-EDEC-40D8-AD11-3F2988CE7F32}" srcId="{705EFB7C-D44D-47F6-AD08-2D839B36F3E0}" destId="{A5C66506-6787-4E66-832C-DB40C642B411}" srcOrd="0" destOrd="0" parTransId="{BB0A4CE0-9E3A-46BC-AE9B-A6EFAF914C79}" sibTransId="{9DEDB2AF-94DA-4806-A0AC-97DD2FD6A957}"/>
    <dgm:cxn modelId="{CC99707A-E3DD-48AC-B0EF-12031683CEA2}" type="presOf" srcId="{4876B472-C6B1-4B9F-BBFE-CEF017034393}" destId="{684F16B9-41DC-443B-AE98-3CEC4C578B5E}" srcOrd="1" destOrd="0" presId="urn:microsoft.com/office/officeart/2008/layout/HorizontalMultiLevelHierarchy"/>
    <dgm:cxn modelId="{4B65ED8F-985C-4763-BCC9-B4DB3E51E875}" srcId="{CACDA2DD-6A62-45E8-8EC5-5CE72A810ADD}" destId="{705EFB7C-D44D-47F6-AD08-2D839B36F3E0}" srcOrd="0" destOrd="0" parTransId="{BA8E8D35-D9F7-4A8D-A0B0-91C3E643BD3B}" sibTransId="{E0D1DC78-D11F-42DF-9428-0865A6435484}"/>
    <dgm:cxn modelId="{51A20C91-1AC4-4B3E-A908-03A9E17E5568}" type="presOf" srcId="{5A727236-9160-460A-81B9-01C7C0A1AC9D}" destId="{5080B566-065B-49E4-BC72-60F27A81194A}" srcOrd="0" destOrd="0" presId="urn:microsoft.com/office/officeart/2008/layout/HorizontalMultiLevelHierarchy"/>
    <dgm:cxn modelId="{4B9ED892-629C-4CB9-BD78-2762504B9035}" type="presOf" srcId="{07E12590-6FDD-48AD-A735-CEC143DF8870}" destId="{F04A5332-CD23-4285-BED7-05E505AF41A2}" srcOrd="0" destOrd="0" presId="urn:microsoft.com/office/officeart/2008/layout/HorizontalMultiLevelHierarchy"/>
    <dgm:cxn modelId="{32619B9E-581C-4866-B1D1-31EF804A42C7}" type="presOf" srcId="{705EFB7C-D44D-47F6-AD08-2D839B36F3E0}" destId="{95E96846-5A08-4C2C-8A61-22E27E83EFF7}" srcOrd="0" destOrd="0" presId="urn:microsoft.com/office/officeart/2008/layout/HorizontalMultiLevelHierarchy"/>
    <dgm:cxn modelId="{A6ADA59F-80BB-4EA0-89A5-A35053089AD0}" srcId="{705EFB7C-D44D-47F6-AD08-2D839B36F3E0}" destId="{E56B190F-E5D0-4C56-98F5-7E062F7BF46D}" srcOrd="2" destOrd="0" parTransId="{4876B472-C6B1-4B9F-BBFE-CEF017034393}" sibTransId="{2DBC1122-144D-4791-9075-5869AC4BB657}"/>
    <dgm:cxn modelId="{E67215A3-2845-4C83-B0BE-7701E6A91F71}" type="presOf" srcId="{971C273A-CEEA-4C59-8B9A-A4732BCE404E}" destId="{6F18D460-B93C-4A87-A7B7-EE2B2E830777}" srcOrd="1" destOrd="0" presId="urn:microsoft.com/office/officeart/2008/layout/HorizontalMultiLevelHierarchy"/>
    <dgm:cxn modelId="{54F0D8A9-0F45-4D40-A55E-D71644106560}" srcId="{705EFB7C-D44D-47F6-AD08-2D839B36F3E0}" destId="{A450EBF8-33D5-4DAA-BF5A-FB14FE75AFEF}" srcOrd="4" destOrd="0" parTransId="{07E12590-6FDD-48AD-A735-CEC143DF8870}" sibTransId="{F49E2602-7067-414A-A695-C981B40EB350}"/>
    <dgm:cxn modelId="{DF0476C5-11A5-4634-9860-17B84AEDAC51}" type="presOf" srcId="{971C273A-CEEA-4C59-8B9A-A4732BCE404E}" destId="{EE232C3A-66D1-41E8-88D4-07E8120248BB}" srcOrd="0" destOrd="0" presId="urn:microsoft.com/office/officeart/2008/layout/HorizontalMultiLevelHierarchy"/>
    <dgm:cxn modelId="{1BF730CB-F48B-44CD-90A5-21655AC1B8DE}" type="presOf" srcId="{07E12590-6FDD-48AD-A735-CEC143DF8870}" destId="{067599DC-A2BC-464B-8E21-AA845C40C926}" srcOrd="1" destOrd="0" presId="urn:microsoft.com/office/officeart/2008/layout/HorizontalMultiLevelHierarchy"/>
    <dgm:cxn modelId="{6E04C5CC-FF16-45DD-A752-6100E4AB5975}" type="presOf" srcId="{5A727236-9160-460A-81B9-01C7C0A1AC9D}" destId="{1EDF8CBF-735D-4A24-8642-9FC5EFE058E0}" srcOrd="1" destOrd="0" presId="urn:microsoft.com/office/officeart/2008/layout/HorizontalMultiLevelHierarchy"/>
    <dgm:cxn modelId="{A5BFBDD9-5A79-4865-B062-94125534C8BC}" type="presOf" srcId="{E56B190F-E5D0-4C56-98F5-7E062F7BF46D}" destId="{4D3130EE-F92E-45E4-958B-0F9437B5EA0A}" srcOrd="0" destOrd="0" presId="urn:microsoft.com/office/officeart/2008/layout/HorizontalMultiLevelHierarchy"/>
    <dgm:cxn modelId="{37CCC3DA-E3EA-4874-BEFD-2E46EC194454}" type="presOf" srcId="{4876B472-C6B1-4B9F-BBFE-CEF017034393}" destId="{BDB98B4B-B72C-4E51-9ABE-5A1EEB68490D}" srcOrd="0" destOrd="0" presId="urn:microsoft.com/office/officeart/2008/layout/HorizontalMultiLevelHierarchy"/>
    <dgm:cxn modelId="{4830F8E2-7CD4-40FE-8AF6-90D334E632F2}" type="presOf" srcId="{BB0A4CE0-9E3A-46BC-AE9B-A6EFAF914C79}" destId="{20ECD74C-4368-4E35-8380-292808BCCC7F}" srcOrd="1" destOrd="0" presId="urn:microsoft.com/office/officeart/2008/layout/HorizontalMultiLevelHierarchy"/>
    <dgm:cxn modelId="{4D4ED7E5-CB2C-4E86-A938-F0421CF55854}" type="presOf" srcId="{0DAB57AA-6CE0-4203-B2DF-7B19651C6351}" destId="{DA65228A-EED3-4974-995A-86E40B70D85C}" srcOrd="0" destOrd="0" presId="urn:microsoft.com/office/officeart/2008/layout/HorizontalMultiLevelHierarchy"/>
    <dgm:cxn modelId="{FE560C9B-F042-458F-A650-E87D2C390567}" type="presParOf" srcId="{F05DBD1B-B48B-48B8-813B-F90DC4692ED5}" destId="{46BB4BBE-7A70-47A6-843A-EDA706B4A8D3}" srcOrd="0" destOrd="0" presId="urn:microsoft.com/office/officeart/2008/layout/HorizontalMultiLevelHierarchy"/>
    <dgm:cxn modelId="{9E3CAD36-E890-4F63-A0D9-77F9AF6A8AC8}" type="presParOf" srcId="{46BB4BBE-7A70-47A6-843A-EDA706B4A8D3}" destId="{95E96846-5A08-4C2C-8A61-22E27E83EFF7}" srcOrd="0" destOrd="0" presId="urn:microsoft.com/office/officeart/2008/layout/HorizontalMultiLevelHierarchy"/>
    <dgm:cxn modelId="{43768FD5-800F-4A38-9275-84830CFF87F9}" type="presParOf" srcId="{46BB4BBE-7A70-47A6-843A-EDA706B4A8D3}" destId="{B3C22623-A0B3-4EFB-9747-80DBDDE77D42}" srcOrd="1" destOrd="0" presId="urn:microsoft.com/office/officeart/2008/layout/HorizontalMultiLevelHierarchy"/>
    <dgm:cxn modelId="{458EE58C-8DB1-4E18-A1BE-4A2B608802CF}" type="presParOf" srcId="{B3C22623-A0B3-4EFB-9747-80DBDDE77D42}" destId="{2A15C425-5277-46DC-B849-2CB9CE883D0A}" srcOrd="0" destOrd="0" presId="urn:microsoft.com/office/officeart/2008/layout/HorizontalMultiLevelHierarchy"/>
    <dgm:cxn modelId="{EBACD3C3-BD0B-4EFD-B4ED-AEC88C96A8AA}" type="presParOf" srcId="{2A15C425-5277-46DC-B849-2CB9CE883D0A}" destId="{20ECD74C-4368-4E35-8380-292808BCCC7F}" srcOrd="0" destOrd="0" presId="urn:microsoft.com/office/officeart/2008/layout/HorizontalMultiLevelHierarchy"/>
    <dgm:cxn modelId="{5D101876-4AEC-4A96-A73D-6F45173AE9D5}" type="presParOf" srcId="{B3C22623-A0B3-4EFB-9747-80DBDDE77D42}" destId="{41680F76-52A5-4757-975A-F6AD3D6ADDAE}" srcOrd="1" destOrd="0" presId="urn:microsoft.com/office/officeart/2008/layout/HorizontalMultiLevelHierarchy"/>
    <dgm:cxn modelId="{95C5D9C6-AB98-4AAB-BC29-5E7FD5CC777C}" type="presParOf" srcId="{41680F76-52A5-4757-975A-F6AD3D6ADDAE}" destId="{C4EADA36-21B1-429B-A7C1-A4090760E832}" srcOrd="0" destOrd="0" presId="urn:microsoft.com/office/officeart/2008/layout/HorizontalMultiLevelHierarchy"/>
    <dgm:cxn modelId="{782D7CD3-3DB2-45BD-9DF1-3F3B244713E2}" type="presParOf" srcId="{41680F76-52A5-4757-975A-F6AD3D6ADDAE}" destId="{6C2147B5-F3F4-4A20-9367-6FA225B42085}" srcOrd="1" destOrd="0" presId="urn:microsoft.com/office/officeart/2008/layout/HorizontalMultiLevelHierarchy"/>
    <dgm:cxn modelId="{59F7EAC4-67E9-4CCB-BE65-AD8CEA4F1982}" type="presParOf" srcId="{B3C22623-A0B3-4EFB-9747-80DBDDE77D42}" destId="{5080B566-065B-49E4-BC72-60F27A81194A}" srcOrd="2" destOrd="0" presId="urn:microsoft.com/office/officeart/2008/layout/HorizontalMultiLevelHierarchy"/>
    <dgm:cxn modelId="{2458FC38-2DC6-4200-B070-E2770DCB3644}" type="presParOf" srcId="{5080B566-065B-49E4-BC72-60F27A81194A}" destId="{1EDF8CBF-735D-4A24-8642-9FC5EFE058E0}" srcOrd="0" destOrd="0" presId="urn:microsoft.com/office/officeart/2008/layout/HorizontalMultiLevelHierarchy"/>
    <dgm:cxn modelId="{6EDD08CB-5030-41A9-8B6A-C663F13859A5}" type="presParOf" srcId="{B3C22623-A0B3-4EFB-9747-80DBDDE77D42}" destId="{F53F24AD-511A-4901-915D-638E476D00D6}" srcOrd="3" destOrd="0" presId="urn:microsoft.com/office/officeart/2008/layout/HorizontalMultiLevelHierarchy"/>
    <dgm:cxn modelId="{3DFDED11-03B8-4CCD-A7E8-CAA0D14BC718}" type="presParOf" srcId="{F53F24AD-511A-4901-915D-638E476D00D6}" destId="{5477AD9B-D418-47CE-B1A2-3AD4C4B03512}" srcOrd="0" destOrd="0" presId="urn:microsoft.com/office/officeart/2008/layout/HorizontalMultiLevelHierarchy"/>
    <dgm:cxn modelId="{4C534498-79E5-43E6-97D3-D443F06FC1ED}" type="presParOf" srcId="{F53F24AD-511A-4901-915D-638E476D00D6}" destId="{BFCAA3F4-343E-474F-9348-54A48F6C837A}" srcOrd="1" destOrd="0" presId="urn:microsoft.com/office/officeart/2008/layout/HorizontalMultiLevelHierarchy"/>
    <dgm:cxn modelId="{6E26ECFB-A0C2-44CF-8B21-ECCC27CBBBCD}" type="presParOf" srcId="{B3C22623-A0B3-4EFB-9747-80DBDDE77D42}" destId="{BDB98B4B-B72C-4E51-9ABE-5A1EEB68490D}" srcOrd="4" destOrd="0" presId="urn:microsoft.com/office/officeart/2008/layout/HorizontalMultiLevelHierarchy"/>
    <dgm:cxn modelId="{FD7BB7E2-5409-4651-93B2-559F976A6171}" type="presParOf" srcId="{BDB98B4B-B72C-4E51-9ABE-5A1EEB68490D}" destId="{684F16B9-41DC-443B-AE98-3CEC4C578B5E}" srcOrd="0" destOrd="0" presId="urn:microsoft.com/office/officeart/2008/layout/HorizontalMultiLevelHierarchy"/>
    <dgm:cxn modelId="{39F6527C-604F-40ED-8433-F9F1DA79103C}" type="presParOf" srcId="{B3C22623-A0B3-4EFB-9747-80DBDDE77D42}" destId="{6B10A416-8954-4C1D-80C0-50E63D7B28C6}" srcOrd="5" destOrd="0" presId="urn:microsoft.com/office/officeart/2008/layout/HorizontalMultiLevelHierarchy"/>
    <dgm:cxn modelId="{BA2A6F2D-61E4-4FF8-BB3E-11B82E95DBA7}" type="presParOf" srcId="{6B10A416-8954-4C1D-80C0-50E63D7B28C6}" destId="{4D3130EE-F92E-45E4-958B-0F9437B5EA0A}" srcOrd="0" destOrd="0" presId="urn:microsoft.com/office/officeart/2008/layout/HorizontalMultiLevelHierarchy"/>
    <dgm:cxn modelId="{ACEEEF09-A5CD-4042-92AC-CAC38E824AA6}" type="presParOf" srcId="{6B10A416-8954-4C1D-80C0-50E63D7B28C6}" destId="{E7283FBD-17BC-4404-8ADB-DCF3F67FB3A3}" srcOrd="1" destOrd="0" presId="urn:microsoft.com/office/officeart/2008/layout/HorizontalMultiLevelHierarchy"/>
    <dgm:cxn modelId="{410ED620-A914-4A8D-B333-D72BC36F32DE}" type="presParOf" srcId="{B3C22623-A0B3-4EFB-9747-80DBDDE77D42}" destId="{EE232C3A-66D1-41E8-88D4-07E8120248BB}" srcOrd="6" destOrd="0" presId="urn:microsoft.com/office/officeart/2008/layout/HorizontalMultiLevelHierarchy"/>
    <dgm:cxn modelId="{424CD09B-D70A-4F69-8330-FCE4D54F402B}" type="presParOf" srcId="{EE232C3A-66D1-41E8-88D4-07E8120248BB}" destId="{6F18D460-B93C-4A87-A7B7-EE2B2E830777}" srcOrd="0" destOrd="0" presId="urn:microsoft.com/office/officeart/2008/layout/HorizontalMultiLevelHierarchy"/>
    <dgm:cxn modelId="{58B067DC-8F02-449A-A853-98E695B12205}" type="presParOf" srcId="{B3C22623-A0B3-4EFB-9747-80DBDDE77D42}" destId="{053A9F88-50CD-4906-9EC2-8A58CAF62736}" srcOrd="7" destOrd="0" presId="urn:microsoft.com/office/officeart/2008/layout/HorizontalMultiLevelHierarchy"/>
    <dgm:cxn modelId="{CED9775D-8019-4A3A-B6ED-4987B0CF62D3}" type="presParOf" srcId="{053A9F88-50CD-4906-9EC2-8A58CAF62736}" destId="{DA65228A-EED3-4974-995A-86E40B70D85C}" srcOrd="0" destOrd="0" presId="urn:microsoft.com/office/officeart/2008/layout/HorizontalMultiLevelHierarchy"/>
    <dgm:cxn modelId="{6AFAA9E1-241C-44C0-B1D4-316C95703E8E}" type="presParOf" srcId="{053A9F88-50CD-4906-9EC2-8A58CAF62736}" destId="{6F6A8C3F-A59C-4F98-BE9C-FDA48C4732A2}" srcOrd="1" destOrd="0" presId="urn:microsoft.com/office/officeart/2008/layout/HorizontalMultiLevelHierarchy"/>
    <dgm:cxn modelId="{6DE6BB7E-2B09-4DA7-8C98-706CF90A9DA0}" type="presParOf" srcId="{B3C22623-A0B3-4EFB-9747-80DBDDE77D42}" destId="{F04A5332-CD23-4285-BED7-05E505AF41A2}" srcOrd="8" destOrd="0" presId="urn:microsoft.com/office/officeart/2008/layout/HorizontalMultiLevelHierarchy"/>
    <dgm:cxn modelId="{3694EC0F-F3D0-4FDC-A1E6-1A987524952C}" type="presParOf" srcId="{F04A5332-CD23-4285-BED7-05E505AF41A2}" destId="{067599DC-A2BC-464B-8E21-AA845C40C926}" srcOrd="0" destOrd="0" presId="urn:microsoft.com/office/officeart/2008/layout/HorizontalMultiLevelHierarchy"/>
    <dgm:cxn modelId="{AB5B0FB9-A9AE-4F11-BCCE-4403C763A500}" type="presParOf" srcId="{B3C22623-A0B3-4EFB-9747-80DBDDE77D42}" destId="{C000BB5C-2063-4E8E-A619-2BD8810AE6F6}" srcOrd="9" destOrd="0" presId="urn:microsoft.com/office/officeart/2008/layout/HorizontalMultiLevelHierarchy"/>
    <dgm:cxn modelId="{0DF537DA-8077-46DC-BEE0-0A41B3489429}" type="presParOf" srcId="{C000BB5C-2063-4E8E-A619-2BD8810AE6F6}" destId="{CFC04077-7BA4-461E-BE12-7A80FE4C1392}" srcOrd="0" destOrd="0" presId="urn:microsoft.com/office/officeart/2008/layout/HorizontalMultiLevelHierarchy"/>
    <dgm:cxn modelId="{49FF5094-BF82-4C1F-AF6B-C46C269DFC38}" type="presParOf" srcId="{C000BB5C-2063-4E8E-A619-2BD8810AE6F6}" destId="{C726C7F4-3DFF-4789-ABFF-716EAEFDC451}" srcOrd="1" destOrd="0" presId="urn:microsoft.com/office/officeart/2008/layout/HorizontalMultiLevelHierarchy"/>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4A8002-28E4-49BE-BC42-7B4CD92CA3C5}">
      <dsp:nvSpPr>
        <dsp:cNvPr id="0" name=""/>
        <dsp:cNvSpPr/>
      </dsp:nvSpPr>
      <dsp:spPr>
        <a:xfrm>
          <a:off x="3707876" y="2258345"/>
          <a:ext cx="1729306" cy="1728032"/>
        </a:xfrm>
        <a:prstGeom prst="ellipse">
          <a:avLst/>
        </a:prstGeom>
        <a:solidFill>
          <a:srgbClr val="FF66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主要</a:t>
          </a:r>
          <a:endParaRPr lang="en-US" altLang="zh-CN" sz="2000" b="1" kern="1200" dirty="0">
            <a:solidFill>
              <a:schemeClr val="tx1"/>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特性参数</a:t>
          </a:r>
        </a:p>
      </dsp:txBody>
      <dsp:txXfrm>
        <a:off x="3961127" y="2511409"/>
        <a:ext cx="1222804" cy="1221904"/>
      </dsp:txXfrm>
    </dsp:sp>
    <dsp:sp modelId="{F658E4A7-BED5-480B-8213-EEA7BB064BFA}">
      <dsp:nvSpPr>
        <dsp:cNvPr id="0" name=""/>
        <dsp:cNvSpPr/>
      </dsp:nvSpPr>
      <dsp:spPr>
        <a:xfrm rot="16200000">
          <a:off x="4322025" y="1525718"/>
          <a:ext cx="501007"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a:off x="4397176" y="1710532"/>
        <a:ext cx="350705" cy="328989"/>
      </dsp:txXfrm>
    </dsp:sp>
    <dsp:sp modelId="{195F653B-8D1D-48E3-ABA9-506416374DE1}">
      <dsp:nvSpPr>
        <dsp:cNvPr id="0" name=""/>
        <dsp:cNvSpPr/>
      </dsp:nvSpPr>
      <dsp:spPr>
        <a:xfrm>
          <a:off x="3927452" y="22893"/>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灵敏度</a:t>
          </a:r>
        </a:p>
      </dsp:txBody>
      <dsp:txXfrm>
        <a:off x="4116391" y="211832"/>
        <a:ext cx="912276" cy="912276"/>
      </dsp:txXfrm>
    </dsp:sp>
    <dsp:sp modelId="{22D60180-810D-454F-8CF9-92C5F180C338}">
      <dsp:nvSpPr>
        <dsp:cNvPr id="0" name=""/>
        <dsp:cNvSpPr/>
      </dsp:nvSpPr>
      <dsp:spPr>
        <a:xfrm rot="18559020">
          <a:off x="5161621" y="1811613"/>
          <a:ext cx="519721"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a:off x="5190184" y="1981588"/>
        <a:ext cx="363805" cy="328989"/>
      </dsp:txXfrm>
    </dsp:sp>
    <dsp:sp modelId="{F02E8A78-431D-4CEB-88BD-BB34C1BAB6C6}">
      <dsp:nvSpPr>
        <dsp:cNvPr id="0" name=""/>
        <dsp:cNvSpPr/>
      </dsp:nvSpPr>
      <dsp:spPr>
        <a:xfrm>
          <a:off x="5505114" y="550924"/>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量子</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效率</a:t>
          </a:r>
        </a:p>
      </dsp:txBody>
      <dsp:txXfrm>
        <a:off x="5694053" y="739863"/>
        <a:ext cx="912276" cy="912276"/>
      </dsp:txXfrm>
    </dsp:sp>
    <dsp:sp modelId="{E825F442-6268-41E3-A416-DF19DB5EB70F}">
      <dsp:nvSpPr>
        <dsp:cNvPr id="0" name=""/>
        <dsp:cNvSpPr/>
      </dsp:nvSpPr>
      <dsp:spPr>
        <a:xfrm rot="20936508">
          <a:off x="5622210" y="2593697"/>
          <a:ext cx="505157"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a:off x="5623617" y="2717894"/>
        <a:ext cx="353610" cy="328989"/>
      </dsp:txXfrm>
    </dsp:sp>
    <dsp:sp modelId="{8569239F-FA75-4C08-B5DA-7A2F4496D0D2}">
      <dsp:nvSpPr>
        <dsp:cNvPr id="0" name=""/>
        <dsp:cNvSpPr/>
      </dsp:nvSpPr>
      <dsp:spPr>
        <a:xfrm>
          <a:off x="6344559" y="2004898"/>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响应</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时间</a:t>
          </a:r>
        </a:p>
      </dsp:txBody>
      <dsp:txXfrm>
        <a:off x="6533498" y="2193837"/>
        <a:ext cx="912276" cy="912276"/>
      </dsp:txXfrm>
    </dsp:sp>
    <dsp:sp modelId="{17A7A384-6052-4364-A12C-3C30D3628738}">
      <dsp:nvSpPr>
        <dsp:cNvPr id="0" name=""/>
        <dsp:cNvSpPr/>
      </dsp:nvSpPr>
      <dsp:spPr>
        <a:xfrm rot="1743456">
          <a:off x="5474784" y="3485282"/>
          <a:ext cx="488691"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a:off x="5484011" y="3559342"/>
        <a:ext cx="342084" cy="328989"/>
      </dsp:txXfrm>
    </dsp:sp>
    <dsp:sp modelId="{9E22B4B5-4442-40FD-AD88-E3DEE3E3224A}">
      <dsp:nvSpPr>
        <dsp:cNvPr id="0" name=""/>
        <dsp:cNvSpPr/>
      </dsp:nvSpPr>
      <dsp:spPr>
        <a:xfrm>
          <a:off x="6053025" y="3658304"/>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频率</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响应</a:t>
          </a:r>
        </a:p>
      </dsp:txBody>
      <dsp:txXfrm>
        <a:off x="6241964" y="3847243"/>
        <a:ext cx="912276" cy="912276"/>
      </dsp:txXfrm>
    </dsp:sp>
    <dsp:sp modelId="{B60596CA-308F-41FE-8C76-8502FC48AFB5}">
      <dsp:nvSpPr>
        <dsp:cNvPr id="0" name=""/>
        <dsp:cNvSpPr/>
      </dsp:nvSpPr>
      <dsp:spPr>
        <a:xfrm rot="4177476">
          <a:off x="4786676" y="4068274"/>
          <a:ext cx="477994"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a:off x="4833412" y="4110724"/>
        <a:ext cx="334596" cy="328989"/>
      </dsp:txXfrm>
    </dsp:sp>
    <dsp:sp modelId="{E598AA19-C6E1-46B9-A0A7-897467D0207C}">
      <dsp:nvSpPr>
        <dsp:cNvPr id="0" name=""/>
        <dsp:cNvSpPr/>
      </dsp:nvSpPr>
      <dsp:spPr>
        <a:xfrm>
          <a:off x="4766905" y="4737476"/>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信噪比</a:t>
          </a:r>
        </a:p>
      </dsp:txBody>
      <dsp:txXfrm>
        <a:off x="4955844" y="4926415"/>
        <a:ext cx="912276" cy="912276"/>
      </dsp:txXfrm>
    </dsp:sp>
    <dsp:sp modelId="{76AFC065-1050-402C-9414-8FC4AA010158}">
      <dsp:nvSpPr>
        <dsp:cNvPr id="0" name=""/>
        <dsp:cNvSpPr/>
      </dsp:nvSpPr>
      <dsp:spPr>
        <a:xfrm rot="6600000">
          <a:off x="3869715" y="4090970"/>
          <a:ext cx="500968"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rot="10800000">
        <a:off x="3970561" y="4130020"/>
        <a:ext cx="350678" cy="328989"/>
      </dsp:txXfrm>
    </dsp:sp>
    <dsp:sp modelId="{C8813CB6-19AA-4ED2-BCA0-F3DFF071CD78}">
      <dsp:nvSpPr>
        <dsp:cNvPr id="0" name=""/>
        <dsp:cNvSpPr/>
      </dsp:nvSpPr>
      <dsp:spPr>
        <a:xfrm>
          <a:off x="3088000" y="4783658"/>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等效噪声输入</a:t>
          </a:r>
        </a:p>
      </dsp:txBody>
      <dsp:txXfrm>
        <a:off x="3276939" y="4972597"/>
        <a:ext cx="912276" cy="912276"/>
      </dsp:txXfrm>
    </dsp:sp>
    <dsp:sp modelId="{941A47B3-FBC3-4BB6-AC44-5D6C1B0733AD}">
      <dsp:nvSpPr>
        <dsp:cNvPr id="0" name=""/>
        <dsp:cNvSpPr/>
      </dsp:nvSpPr>
      <dsp:spPr>
        <a:xfrm rot="9000000">
          <a:off x="3176632" y="3509570"/>
          <a:ext cx="500754"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rot="10800000">
        <a:off x="3316795" y="3581677"/>
        <a:ext cx="350528" cy="328989"/>
      </dsp:txXfrm>
    </dsp:sp>
    <dsp:sp modelId="{7B0B1C3D-B3A1-42CF-8A75-DD5D982ED758}">
      <dsp:nvSpPr>
        <dsp:cNvPr id="0" name=""/>
        <dsp:cNvSpPr/>
      </dsp:nvSpPr>
      <dsp:spPr>
        <a:xfrm>
          <a:off x="1801886" y="3704480"/>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噪声等效功率</a:t>
          </a:r>
        </a:p>
      </dsp:txBody>
      <dsp:txXfrm>
        <a:off x="1990825" y="3893419"/>
        <a:ext cx="912276" cy="912276"/>
      </dsp:txXfrm>
    </dsp:sp>
    <dsp:sp modelId="{B6765E65-C753-4BDF-8A56-49832A434997}">
      <dsp:nvSpPr>
        <dsp:cNvPr id="0" name=""/>
        <dsp:cNvSpPr/>
      </dsp:nvSpPr>
      <dsp:spPr>
        <a:xfrm rot="11400000">
          <a:off x="3019481" y="2618501"/>
          <a:ext cx="500680"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rot="10800000">
        <a:off x="3168544" y="2741205"/>
        <a:ext cx="350476" cy="328989"/>
      </dsp:txXfrm>
    </dsp:sp>
    <dsp:sp modelId="{DD1081F8-6A3F-4AC1-93D6-B47C89601B64}">
      <dsp:nvSpPr>
        <dsp:cNvPr id="0" name=""/>
        <dsp:cNvSpPr/>
      </dsp:nvSpPr>
      <dsp:spPr>
        <a:xfrm>
          <a:off x="1510348" y="2051084"/>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探测率</a:t>
          </a:r>
        </a:p>
      </dsp:txBody>
      <dsp:txXfrm>
        <a:off x="1699287" y="2240023"/>
        <a:ext cx="912276" cy="912276"/>
      </dsp:txXfrm>
    </dsp:sp>
    <dsp:sp modelId="{E7DFD675-F9C9-4DA7-B10A-EC5B8AEA2DF9}">
      <dsp:nvSpPr>
        <dsp:cNvPr id="0" name=""/>
        <dsp:cNvSpPr/>
      </dsp:nvSpPr>
      <dsp:spPr>
        <a:xfrm rot="13800000">
          <a:off x="3471930" y="1835017"/>
          <a:ext cx="500868" cy="548315"/>
        </a:xfrm>
        <a:prstGeom prst="rightArrow">
          <a:avLst>
            <a:gd name="adj1" fmla="val 60000"/>
            <a:gd name="adj2" fmla="val 5000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100000"/>
            </a:lnSpc>
            <a:spcBef>
              <a:spcPct val="0"/>
            </a:spcBef>
            <a:spcAft>
              <a:spcPts val="0"/>
            </a:spcAft>
            <a:buNone/>
          </a:pPr>
          <a:endParaRPr lang="zh-CN" altLang="en-US" sz="1600" b="1" kern="1200">
            <a:solidFill>
              <a:schemeClr val="tx1"/>
            </a:solidFill>
            <a:latin typeface="微软雅黑" panose="020B0503020204020204" pitchFamily="34" charset="-122"/>
            <a:ea typeface="微软雅黑" panose="020B0503020204020204" pitchFamily="34" charset="-122"/>
          </a:endParaRPr>
        </a:p>
      </dsp:txBody>
      <dsp:txXfrm rot="10800000">
        <a:off x="3595353" y="2002233"/>
        <a:ext cx="350608" cy="328989"/>
      </dsp:txXfrm>
    </dsp:sp>
    <dsp:sp modelId="{A3E8344D-EA98-4705-97A8-6AF58DBF8E3B}">
      <dsp:nvSpPr>
        <dsp:cNvPr id="0" name=""/>
        <dsp:cNvSpPr/>
      </dsp:nvSpPr>
      <dsp:spPr>
        <a:xfrm>
          <a:off x="2349799" y="597111"/>
          <a:ext cx="1290154" cy="1290154"/>
        </a:xfrm>
        <a:prstGeom prst="ellipse">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比</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探测率</a:t>
          </a:r>
        </a:p>
      </dsp:txBody>
      <dsp:txXfrm>
        <a:off x="2538738" y="786050"/>
        <a:ext cx="912276" cy="912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5FAD4-20C5-4659-A13A-9EE39A48AB23}">
      <dsp:nvSpPr>
        <dsp:cNvPr id="0" name=""/>
        <dsp:cNvSpPr/>
      </dsp:nvSpPr>
      <dsp:spPr>
        <a:xfrm>
          <a:off x="110317" y="4742"/>
          <a:ext cx="2247927" cy="881607"/>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各类光电探测器</a:t>
          </a:r>
        </a:p>
      </dsp:txBody>
      <dsp:txXfrm>
        <a:off x="136138" y="30563"/>
        <a:ext cx="2196285" cy="829965"/>
      </dsp:txXfrm>
    </dsp:sp>
    <dsp:sp modelId="{D8477416-7C74-4F78-B4D4-DAFA3040F902}">
      <dsp:nvSpPr>
        <dsp:cNvPr id="0" name=""/>
        <dsp:cNvSpPr/>
      </dsp:nvSpPr>
      <dsp:spPr>
        <a:xfrm rot="5400000">
          <a:off x="1064262" y="914680"/>
          <a:ext cx="340038" cy="396723"/>
        </a:xfrm>
        <a:prstGeom prst="rightArrow">
          <a:avLst>
            <a:gd name="adj1" fmla="val 60000"/>
            <a:gd name="adj2" fmla="val 5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b="1" kern="1200">
            <a:latin typeface="微软雅黑" panose="020B0503020204020204" pitchFamily="34" charset="-122"/>
            <a:ea typeface="微软雅黑" panose="020B0503020204020204" pitchFamily="34" charset="-122"/>
          </a:endParaRPr>
        </a:p>
      </dsp:txBody>
      <dsp:txXfrm rot="-5400000">
        <a:off x="1115265" y="943023"/>
        <a:ext cx="238033" cy="238027"/>
      </dsp:txXfrm>
    </dsp:sp>
    <dsp:sp modelId="{C3103C6B-EE56-4D0F-96AB-D9FB9FF80CFA}">
      <dsp:nvSpPr>
        <dsp:cNvPr id="0" name=""/>
        <dsp:cNvSpPr/>
      </dsp:nvSpPr>
      <dsp:spPr>
        <a:xfrm>
          <a:off x="110317" y="1339734"/>
          <a:ext cx="2247927" cy="881607"/>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不同光电系统</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用不同光电探测器</a:t>
          </a:r>
        </a:p>
      </dsp:txBody>
      <dsp:txXfrm>
        <a:off x="136138" y="1365555"/>
        <a:ext cx="2196285" cy="829965"/>
      </dsp:txXfrm>
    </dsp:sp>
    <dsp:sp modelId="{EADF8ED8-1E91-4C07-A0A6-B5984F0F8AC6}">
      <dsp:nvSpPr>
        <dsp:cNvPr id="0" name=""/>
        <dsp:cNvSpPr/>
      </dsp:nvSpPr>
      <dsp:spPr>
        <a:xfrm rot="5400000">
          <a:off x="1073697" y="2237092"/>
          <a:ext cx="321167" cy="396723"/>
        </a:xfrm>
        <a:prstGeom prst="rightArrow">
          <a:avLst>
            <a:gd name="adj1" fmla="val 60000"/>
            <a:gd name="adj2" fmla="val 5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b="1" kern="1200">
            <a:latin typeface="微软雅黑" panose="020B0503020204020204" pitchFamily="34" charset="-122"/>
            <a:ea typeface="微软雅黑" panose="020B0503020204020204" pitchFamily="34" charset="-122"/>
          </a:endParaRPr>
        </a:p>
      </dsp:txBody>
      <dsp:txXfrm rot="-5400000">
        <a:off x="1115264" y="2274870"/>
        <a:ext cx="238033" cy="224817"/>
      </dsp:txXfrm>
    </dsp:sp>
    <dsp:sp modelId="{0EF207B5-7C56-4CE0-9346-5177580777CC}">
      <dsp:nvSpPr>
        <dsp:cNvPr id="0" name=""/>
        <dsp:cNvSpPr/>
      </dsp:nvSpPr>
      <dsp:spPr>
        <a:xfrm>
          <a:off x="110317" y="2649565"/>
          <a:ext cx="2247927" cy="881607"/>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光电探测器</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100000"/>
            </a:lnSpc>
            <a:spcBef>
              <a:spcPct val="0"/>
            </a:spcBef>
            <a:spcAft>
              <a:spcPts val="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特性参数</a:t>
          </a:r>
        </a:p>
      </dsp:txBody>
      <dsp:txXfrm>
        <a:off x="136138" y="2675386"/>
        <a:ext cx="2196285" cy="829965"/>
      </dsp:txXfrm>
    </dsp:sp>
    <dsp:sp modelId="{7149D838-E7C3-4B82-909F-3D942CFA87C3}">
      <dsp:nvSpPr>
        <dsp:cNvPr id="0" name=""/>
        <dsp:cNvSpPr/>
      </dsp:nvSpPr>
      <dsp:spPr>
        <a:xfrm rot="5400000">
          <a:off x="1068980" y="3553213"/>
          <a:ext cx="330602" cy="396723"/>
        </a:xfrm>
        <a:prstGeom prst="rightArrow">
          <a:avLst>
            <a:gd name="adj1" fmla="val 60000"/>
            <a:gd name="adj2" fmla="val 5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b="1" kern="1200">
            <a:latin typeface="微软雅黑" panose="020B0503020204020204" pitchFamily="34" charset="-122"/>
            <a:ea typeface="微软雅黑" panose="020B0503020204020204" pitchFamily="34" charset="-122"/>
          </a:endParaRPr>
        </a:p>
      </dsp:txBody>
      <dsp:txXfrm rot="-5400000">
        <a:off x="1115265" y="3586274"/>
        <a:ext cx="238033" cy="231421"/>
      </dsp:txXfrm>
    </dsp:sp>
    <dsp:sp modelId="{1E401B28-4027-4FE2-B911-5129BC0C4945}">
      <dsp:nvSpPr>
        <dsp:cNvPr id="0" name=""/>
        <dsp:cNvSpPr/>
      </dsp:nvSpPr>
      <dsp:spPr>
        <a:xfrm>
          <a:off x="110317" y="3971977"/>
          <a:ext cx="2247927" cy="881607"/>
        </a:xfrm>
        <a:prstGeom prst="roundRect">
          <a:avLst>
            <a:gd name="adj" fmla="val 10000"/>
          </a:avLst>
        </a:prstGeom>
        <a:solidFill>
          <a:schemeClr val="accent6">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正确选择</a:t>
          </a:r>
          <a:endParaRPr lang="en-US" altLang="zh-CN" sz="2000" b="1" kern="1200" dirty="0">
            <a:solidFill>
              <a:srgbClr val="0000CC"/>
            </a:solidFill>
            <a:latin typeface="微软雅黑" panose="020B0503020204020204" pitchFamily="34" charset="-122"/>
            <a:ea typeface="微软雅黑" panose="020B0503020204020204" pitchFamily="34" charset="-122"/>
          </a:endParaRPr>
        </a:p>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光电探测器</a:t>
          </a:r>
        </a:p>
      </dsp:txBody>
      <dsp:txXfrm>
        <a:off x="136138" y="3997798"/>
        <a:ext cx="2196285" cy="8299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A5332-CD23-4285-BED7-05E505AF41A2}">
      <dsp:nvSpPr>
        <dsp:cNvPr id="0" name=""/>
        <dsp:cNvSpPr/>
      </dsp:nvSpPr>
      <dsp:spPr>
        <a:xfrm>
          <a:off x="590057" y="1622746"/>
          <a:ext cx="354397" cy="1350598"/>
        </a:xfrm>
        <a:custGeom>
          <a:avLst/>
          <a:gdLst/>
          <a:ahLst/>
          <a:cxnLst/>
          <a:rect l="0" t="0" r="0" b="0"/>
          <a:pathLst>
            <a:path>
              <a:moveTo>
                <a:pt x="0" y="0"/>
              </a:moveTo>
              <a:lnTo>
                <a:pt x="177198" y="0"/>
              </a:lnTo>
              <a:lnTo>
                <a:pt x="177198" y="1350598"/>
              </a:lnTo>
              <a:lnTo>
                <a:pt x="354397" y="1350598"/>
              </a:lnTo>
            </a:path>
          </a:pathLst>
        </a:custGeom>
        <a:noFill/>
        <a:ln w="31750" cap="flat" cmpd="sng" algn="ctr">
          <a:solidFill>
            <a:srgbClr val="FF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a:off x="732347" y="2263137"/>
        <a:ext cx="69816" cy="69816"/>
      </dsp:txXfrm>
    </dsp:sp>
    <dsp:sp modelId="{EE232C3A-66D1-41E8-88D4-07E8120248BB}">
      <dsp:nvSpPr>
        <dsp:cNvPr id="0" name=""/>
        <dsp:cNvSpPr/>
      </dsp:nvSpPr>
      <dsp:spPr>
        <a:xfrm>
          <a:off x="590057" y="1622746"/>
          <a:ext cx="354397" cy="675299"/>
        </a:xfrm>
        <a:custGeom>
          <a:avLst/>
          <a:gdLst/>
          <a:ahLst/>
          <a:cxnLst/>
          <a:rect l="0" t="0" r="0" b="0"/>
          <a:pathLst>
            <a:path>
              <a:moveTo>
                <a:pt x="0" y="0"/>
              </a:moveTo>
              <a:lnTo>
                <a:pt x="177198" y="0"/>
              </a:lnTo>
              <a:lnTo>
                <a:pt x="177198" y="675299"/>
              </a:lnTo>
              <a:lnTo>
                <a:pt x="354397" y="675299"/>
              </a:lnTo>
            </a:path>
          </a:pathLst>
        </a:custGeom>
        <a:noFill/>
        <a:ln w="31750" cap="flat" cmpd="sng" algn="ctr">
          <a:solidFill>
            <a:srgbClr val="FF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a:off x="748189" y="1941329"/>
        <a:ext cx="38132" cy="38132"/>
      </dsp:txXfrm>
    </dsp:sp>
    <dsp:sp modelId="{BDB98B4B-B72C-4E51-9ABE-5A1EEB68490D}">
      <dsp:nvSpPr>
        <dsp:cNvPr id="0" name=""/>
        <dsp:cNvSpPr/>
      </dsp:nvSpPr>
      <dsp:spPr>
        <a:xfrm>
          <a:off x="590057" y="1577025"/>
          <a:ext cx="354397" cy="91440"/>
        </a:xfrm>
        <a:custGeom>
          <a:avLst/>
          <a:gdLst/>
          <a:ahLst/>
          <a:cxnLst/>
          <a:rect l="0" t="0" r="0" b="0"/>
          <a:pathLst>
            <a:path>
              <a:moveTo>
                <a:pt x="0" y="45720"/>
              </a:moveTo>
              <a:lnTo>
                <a:pt x="354397" y="45720"/>
              </a:lnTo>
            </a:path>
          </a:pathLst>
        </a:custGeom>
        <a:noFill/>
        <a:ln w="31750" cap="flat" cmpd="sng" algn="ctr">
          <a:solidFill>
            <a:srgbClr val="FF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a:off x="758395" y="1613886"/>
        <a:ext cx="17719" cy="17719"/>
      </dsp:txXfrm>
    </dsp:sp>
    <dsp:sp modelId="{5080B566-065B-49E4-BC72-60F27A81194A}">
      <dsp:nvSpPr>
        <dsp:cNvPr id="0" name=""/>
        <dsp:cNvSpPr/>
      </dsp:nvSpPr>
      <dsp:spPr>
        <a:xfrm>
          <a:off x="590057" y="947446"/>
          <a:ext cx="354397" cy="675299"/>
        </a:xfrm>
        <a:custGeom>
          <a:avLst/>
          <a:gdLst/>
          <a:ahLst/>
          <a:cxnLst/>
          <a:rect l="0" t="0" r="0" b="0"/>
          <a:pathLst>
            <a:path>
              <a:moveTo>
                <a:pt x="0" y="675299"/>
              </a:moveTo>
              <a:lnTo>
                <a:pt x="177198" y="675299"/>
              </a:lnTo>
              <a:lnTo>
                <a:pt x="177198" y="0"/>
              </a:lnTo>
              <a:lnTo>
                <a:pt x="354397" y="0"/>
              </a:lnTo>
            </a:path>
          </a:pathLst>
        </a:custGeom>
        <a:noFill/>
        <a:ln w="31750" cap="flat" cmpd="sng" algn="ctr">
          <a:solidFill>
            <a:srgbClr val="FF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a:off x="748189" y="1266030"/>
        <a:ext cx="38132" cy="38132"/>
      </dsp:txXfrm>
    </dsp:sp>
    <dsp:sp modelId="{2A15C425-5277-46DC-B849-2CB9CE883D0A}">
      <dsp:nvSpPr>
        <dsp:cNvPr id="0" name=""/>
        <dsp:cNvSpPr/>
      </dsp:nvSpPr>
      <dsp:spPr>
        <a:xfrm>
          <a:off x="590057" y="272147"/>
          <a:ext cx="354397" cy="1350598"/>
        </a:xfrm>
        <a:custGeom>
          <a:avLst/>
          <a:gdLst/>
          <a:ahLst/>
          <a:cxnLst/>
          <a:rect l="0" t="0" r="0" b="0"/>
          <a:pathLst>
            <a:path>
              <a:moveTo>
                <a:pt x="0" y="1350598"/>
              </a:moveTo>
              <a:lnTo>
                <a:pt x="177198" y="1350598"/>
              </a:lnTo>
              <a:lnTo>
                <a:pt x="177198" y="0"/>
              </a:lnTo>
              <a:lnTo>
                <a:pt x="354397" y="0"/>
              </a:lnTo>
            </a:path>
          </a:pathLst>
        </a:custGeom>
        <a:noFill/>
        <a:ln w="31750" cap="flat" cmpd="sng" algn="ctr">
          <a:solidFill>
            <a:srgbClr val="FF000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latin typeface="微软雅黑" panose="020B0503020204020204" pitchFamily="34" charset="-122"/>
            <a:ea typeface="微软雅黑" panose="020B0503020204020204" pitchFamily="34" charset="-122"/>
          </a:endParaRPr>
        </a:p>
      </dsp:txBody>
      <dsp:txXfrm>
        <a:off x="732347" y="912538"/>
        <a:ext cx="69816" cy="69816"/>
      </dsp:txXfrm>
    </dsp:sp>
    <dsp:sp modelId="{95E96846-5A08-4C2C-8A61-22E27E83EFF7}">
      <dsp:nvSpPr>
        <dsp:cNvPr id="0" name=""/>
        <dsp:cNvSpPr/>
      </dsp:nvSpPr>
      <dsp:spPr>
        <a:xfrm rot="16200000">
          <a:off x="-1101744" y="1352626"/>
          <a:ext cx="2843364" cy="540239"/>
        </a:xfrm>
        <a:prstGeom prst="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FF0000"/>
              </a:solidFill>
              <a:latin typeface="微软雅黑" panose="020B0503020204020204" pitchFamily="34" charset="-122"/>
              <a:ea typeface="微软雅黑" panose="020B0503020204020204" pitchFamily="34" charset="-122"/>
            </a:rPr>
            <a:t>工作条件</a:t>
          </a:r>
        </a:p>
      </dsp:txBody>
      <dsp:txXfrm>
        <a:off x="-1101744" y="1352626"/>
        <a:ext cx="2843364" cy="540239"/>
      </dsp:txXfrm>
    </dsp:sp>
    <dsp:sp modelId="{C4EADA36-21B1-429B-A7C1-A4090760E832}">
      <dsp:nvSpPr>
        <dsp:cNvPr id="0" name=""/>
        <dsp:cNvSpPr/>
      </dsp:nvSpPr>
      <dsp:spPr>
        <a:xfrm>
          <a:off x="944454" y="2027"/>
          <a:ext cx="2353887" cy="540239"/>
        </a:xfrm>
        <a:prstGeom prst="rect">
          <a:avLst/>
        </a:prstGeom>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辐射源的光谱分布</a:t>
          </a:r>
        </a:p>
      </dsp:txBody>
      <dsp:txXfrm>
        <a:off x="944454" y="2027"/>
        <a:ext cx="2353887" cy="540239"/>
      </dsp:txXfrm>
    </dsp:sp>
    <dsp:sp modelId="{5477AD9B-D418-47CE-B1A2-3AD4C4B03512}">
      <dsp:nvSpPr>
        <dsp:cNvPr id="0" name=""/>
        <dsp:cNvSpPr/>
      </dsp:nvSpPr>
      <dsp:spPr>
        <a:xfrm>
          <a:off x="944454" y="677327"/>
          <a:ext cx="2372351" cy="540239"/>
        </a:xfrm>
        <a:prstGeom prst="rect">
          <a:avLst/>
        </a:prstGeom>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电路的通频带和带宽</a:t>
          </a:r>
        </a:p>
      </dsp:txBody>
      <dsp:txXfrm>
        <a:off x="944454" y="677327"/>
        <a:ext cx="2372351" cy="540239"/>
      </dsp:txXfrm>
    </dsp:sp>
    <dsp:sp modelId="{4D3130EE-F92E-45E4-958B-0F9437B5EA0A}">
      <dsp:nvSpPr>
        <dsp:cNvPr id="0" name=""/>
        <dsp:cNvSpPr/>
      </dsp:nvSpPr>
      <dsp:spPr>
        <a:xfrm>
          <a:off x="944454" y="1352626"/>
          <a:ext cx="2360921" cy="540239"/>
        </a:xfrm>
        <a:prstGeom prst="rect">
          <a:avLst/>
        </a:prstGeom>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工作温度</a:t>
          </a:r>
        </a:p>
      </dsp:txBody>
      <dsp:txXfrm>
        <a:off x="944454" y="1352626"/>
        <a:ext cx="2360921" cy="540239"/>
      </dsp:txXfrm>
    </dsp:sp>
    <dsp:sp modelId="{DA65228A-EED3-4974-995A-86E40B70D85C}">
      <dsp:nvSpPr>
        <dsp:cNvPr id="0" name=""/>
        <dsp:cNvSpPr/>
      </dsp:nvSpPr>
      <dsp:spPr>
        <a:xfrm>
          <a:off x="944454" y="2027925"/>
          <a:ext cx="2379386" cy="540239"/>
        </a:xfrm>
        <a:prstGeom prst="rect">
          <a:avLst/>
        </a:prstGeom>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光敏</a:t>
          </a:r>
          <a:r>
            <a:rPr lang="zh-CN" altLang="en-US" sz="1800" b="1" kern="1200" dirty="0">
              <a:solidFill>
                <a:srgbClr val="0000CC"/>
              </a:solidFill>
              <a:latin typeface="微软雅黑" panose="020B0503020204020204" pitchFamily="34" charset="-122"/>
              <a:ea typeface="微软雅黑" panose="020B0503020204020204" pitchFamily="34" charset="-122"/>
            </a:rPr>
            <a:t>面尺寸</a:t>
          </a:r>
        </a:p>
      </dsp:txBody>
      <dsp:txXfrm>
        <a:off x="944454" y="2027925"/>
        <a:ext cx="2379386" cy="540239"/>
      </dsp:txXfrm>
    </dsp:sp>
    <dsp:sp modelId="{CFC04077-7BA4-461E-BE12-7A80FE4C1392}">
      <dsp:nvSpPr>
        <dsp:cNvPr id="0" name=""/>
        <dsp:cNvSpPr/>
      </dsp:nvSpPr>
      <dsp:spPr>
        <a:xfrm>
          <a:off x="944454" y="2703224"/>
          <a:ext cx="2381352" cy="540239"/>
        </a:xfrm>
        <a:prstGeom prst="rect">
          <a:avLst/>
        </a:prstGeom>
        <a:gradFill rotWithShape="0">
          <a:gsLst>
            <a:gs pos="0">
              <a:schemeClr val="accent2">
                <a:lumMod val="67000"/>
              </a:schemeClr>
            </a:gs>
            <a:gs pos="48000">
              <a:schemeClr val="accent2">
                <a:lumMod val="97000"/>
                <a:lumOff val="3000"/>
              </a:schemeClr>
            </a:gs>
            <a:gs pos="100000">
              <a:schemeClr val="accent2">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anose="020B0503020204020204" pitchFamily="34" charset="-122"/>
              <a:ea typeface="微软雅黑" panose="020B0503020204020204" pitchFamily="34" charset="-122"/>
            </a:rPr>
            <a:t>偏置情况</a:t>
          </a:r>
        </a:p>
      </dsp:txBody>
      <dsp:txXfrm>
        <a:off x="944454" y="2703224"/>
        <a:ext cx="2381352" cy="540239"/>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11" Type="http://schemas.openxmlformats.org/officeDocument/2006/relationships/image" Target="../media/image36.wmf"/><Relationship Id="rId5" Type="http://schemas.openxmlformats.org/officeDocument/2006/relationships/image" Target="../media/image30.wmf"/><Relationship Id="rId10" Type="http://schemas.openxmlformats.org/officeDocument/2006/relationships/image" Target="../media/image35.wmf"/><Relationship Id="rId4" Type="http://schemas.openxmlformats.org/officeDocument/2006/relationships/image" Target="../media/image29.wmf"/><Relationship Id="rId9"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3E13AA51-F9B9-4EA8-9758-06D3ECEF6B33}"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635356F-FADE-4FFA-B1BD-4927C9B2CD53}"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D885EE5-86AB-429A-8B8F-8C71FBA4F242}"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C090825-6BCC-490A-B2CB-9B4382F1399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5EC05A15-1F6F-47AD-B682-75F81A8CB4BE}"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1D25FE1-9F37-47DD-9280-E403C215974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DFF0002-D4B4-4C5A-9698-0DE3A72751B9}"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7856263-D7A5-4E60-B63D-812A177631AD}"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4EF2171-E258-4AC0-930A-60722CB19116}" type="datetimeFigureOut">
              <a:rPr lang="zh-CN" altLang="en-US"/>
              <a:pPr>
                <a:defRPr/>
              </a:pPr>
              <a:t>2022/5/2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4F5CEFB-3A25-4487-B77A-1CEF045437AF}"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4C7EF0FF-E390-4EC6-B4E1-0FC60FE3D7A1}" type="datetimeFigureOut">
              <a:rPr lang="zh-CN" altLang="en-US"/>
              <a:pPr>
                <a:defRPr/>
              </a:pPr>
              <a:t>2022/5/2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A70E042-9076-41DD-A40D-45E533E82FE3}"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BDA3816-BE0F-40D6-88CA-43BF0CF364BA}" type="datetimeFigureOut">
              <a:rPr lang="zh-CN" altLang="en-US"/>
              <a:pPr>
                <a:defRPr/>
              </a:pPr>
              <a:t>2022/5/2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6712776-5904-4E10-81D5-01D2491B1DE1}"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728B6A4-D129-425D-A994-6D02272476CD}"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55157DC-E273-478C-9CB4-D9FCD9210671}"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EC79B0D-D526-4DC6-83EB-82DC73EB8836}"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F2C8312-849B-4DCD-8DB2-E1F1F4B4920E}"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24A6A06-EE18-43CF-A2CE-D143A044F464}"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5E56682-B59B-4C9B-AE6F-D54130FB801B}"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073686E-56FF-47DC-9693-C2A6BF603DA5}"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2798290-F745-4AC9-83A2-61205BB3E22A}"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8604FDAE-71D5-41A3-BBC9-AFD07615D3FF}" type="datetimeFigureOut">
              <a:rPr lang="zh-CN" altLang="en-US"/>
              <a:pPr>
                <a:defRPr/>
              </a:pPr>
              <a:t>2022/5/2</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25620DF6-2B2E-46BB-8030-204B3749B49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eaLnBrk="0" fontAlgn="base" hangingPunct="0">
        <a:lnSpc>
          <a:spcPct val="90000"/>
        </a:lnSpc>
        <a:spcBef>
          <a:spcPct val="0"/>
        </a:spcBef>
        <a:spcAft>
          <a:spcPct val="0"/>
        </a:spcAft>
        <a:defRPr sz="5000" kern="1200">
          <a:solidFill>
            <a:schemeClr val="tx1"/>
          </a:solidFill>
          <a:latin typeface="+mj-lt"/>
          <a:ea typeface="+mj-ea"/>
          <a:cs typeface="+mj-cs"/>
        </a:defRPr>
      </a:lvl1pPr>
      <a:lvl2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2pPr>
      <a:lvl3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3pPr>
      <a:lvl4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4pPr>
      <a:lvl5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eaLnBrk="0" fontAlgn="base" hangingPunct="0">
        <a:lnSpc>
          <a:spcPct val="90000"/>
        </a:lnSpc>
        <a:spcBef>
          <a:spcPts val="1125"/>
        </a:spcBef>
        <a:spcAft>
          <a:spcPct val="0"/>
        </a:spcAft>
        <a:buFont typeface="Arial" charset="0"/>
        <a:buChar char="•"/>
        <a:defRPr sz="3200" kern="1200">
          <a:solidFill>
            <a:schemeClr val="tx1"/>
          </a:solidFill>
          <a:latin typeface="+mn-lt"/>
          <a:ea typeface="+mn-ea"/>
          <a:cs typeface="+mn-cs"/>
        </a:defRPr>
      </a:lvl1pPr>
      <a:lvl2pPr marL="771525" indent="-257175" algn="l" defTabSz="1028700" rtl="0" eaLnBrk="0" fontAlgn="base" hangingPunct="0">
        <a:lnSpc>
          <a:spcPct val="90000"/>
        </a:lnSpc>
        <a:spcBef>
          <a:spcPts val="563"/>
        </a:spcBef>
        <a:spcAft>
          <a:spcPct val="0"/>
        </a:spcAft>
        <a:buFont typeface="Arial" charset="0"/>
        <a:buChar char="•"/>
        <a:defRPr sz="2700" kern="1200">
          <a:solidFill>
            <a:schemeClr val="tx1"/>
          </a:solidFill>
          <a:latin typeface="+mn-lt"/>
          <a:ea typeface="+mn-ea"/>
          <a:cs typeface="+mn-cs"/>
        </a:defRPr>
      </a:lvl2pPr>
      <a:lvl3pPr marL="1285875" indent="-257175" algn="l" defTabSz="1028700" rtl="0" eaLnBrk="0" fontAlgn="base" hangingPunct="0">
        <a:lnSpc>
          <a:spcPct val="90000"/>
        </a:lnSpc>
        <a:spcBef>
          <a:spcPts val="563"/>
        </a:spcBef>
        <a:spcAft>
          <a:spcPct val="0"/>
        </a:spcAft>
        <a:buFont typeface="Arial" charset="0"/>
        <a:buChar char="•"/>
        <a:defRPr sz="2300" kern="1200">
          <a:solidFill>
            <a:schemeClr val="tx1"/>
          </a:solidFill>
          <a:latin typeface="+mn-lt"/>
          <a:ea typeface="+mn-ea"/>
          <a:cs typeface="+mn-cs"/>
        </a:defRPr>
      </a:lvl3pPr>
      <a:lvl4pPr marL="180022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4pPr>
      <a:lvl5pPr marL="231457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package" Target="../embeddings/Microsoft_Visio___2.vsdx"/><Relationship Id="rId5" Type="http://schemas.openxmlformats.org/officeDocument/2006/relationships/image" Target="../media/image7.wmf"/><Relationship Id="rId4" Type="http://schemas.openxmlformats.org/officeDocument/2006/relationships/package" Target="../embeddings/Microsoft_Visio___1.vsd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20.png"/><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13" Type="http://schemas.openxmlformats.org/officeDocument/2006/relationships/image" Target="../media/image14.emf"/><Relationship Id="rId3" Type="http://schemas.openxmlformats.org/officeDocument/2006/relationships/oleObject" Target="../embeddings/oleObject6.bin"/><Relationship Id="rId12"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2.wmf"/><Relationship Id="rId11" Type="http://schemas.openxmlformats.org/officeDocument/2006/relationships/image" Target="../media/image13.wmf"/><Relationship Id="rId5" Type="http://schemas.openxmlformats.org/officeDocument/2006/relationships/oleObject" Target="../embeddings/oleObject7.bin"/><Relationship Id="rId10" Type="http://schemas.openxmlformats.org/officeDocument/2006/relationships/oleObject" Target="../embeddings/oleObject8.bin"/><Relationship Id="rId4" Type="http://schemas.openxmlformats.org/officeDocument/2006/relationships/image" Target="../media/image11.wmf"/><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3.bin"/><Relationship Id="rId14" Type="http://schemas.openxmlformats.org/officeDocument/2006/relationships/image" Target="../media/image20.wmf"/></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20.bin"/><Relationship Id="rId4" Type="http://schemas.openxmlformats.org/officeDocument/2006/relationships/image" Target="../media/image24.wmf"/></Relationships>
</file>

<file path=ppt/slides/_rels/slide15.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6.bin"/><Relationship Id="rId18" Type="http://schemas.openxmlformats.org/officeDocument/2006/relationships/image" Target="../media/image33.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30.wmf"/><Relationship Id="rId17"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image" Target="../media/image32.wmf"/><Relationship Id="rId20" Type="http://schemas.openxmlformats.org/officeDocument/2006/relationships/image" Target="../media/image34.wmf"/><Relationship Id="rId1" Type="http://schemas.openxmlformats.org/officeDocument/2006/relationships/vmlDrawing" Target="../drawings/vmlDrawing9.vml"/><Relationship Id="rId6" Type="http://schemas.openxmlformats.org/officeDocument/2006/relationships/image" Target="../media/image27.wmf"/><Relationship Id="rId11" Type="http://schemas.openxmlformats.org/officeDocument/2006/relationships/oleObject" Target="../embeddings/oleObject25.bin"/><Relationship Id="rId24" Type="http://schemas.openxmlformats.org/officeDocument/2006/relationships/image" Target="../media/image36.wmf"/><Relationship Id="rId5" Type="http://schemas.openxmlformats.org/officeDocument/2006/relationships/oleObject" Target="../embeddings/oleObject22.bin"/><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29.wmf"/><Relationship Id="rId19" Type="http://schemas.openxmlformats.org/officeDocument/2006/relationships/oleObject" Target="../embeddings/oleObject29.bin"/><Relationship Id="rId4" Type="http://schemas.openxmlformats.org/officeDocument/2006/relationships/image" Target="../media/image26.wmf"/><Relationship Id="rId9" Type="http://schemas.openxmlformats.org/officeDocument/2006/relationships/oleObject" Target="../embeddings/oleObject24.bin"/><Relationship Id="rId14" Type="http://schemas.openxmlformats.org/officeDocument/2006/relationships/image" Target="../media/image31.wmf"/><Relationship Id="rId22" Type="http://schemas.openxmlformats.org/officeDocument/2006/relationships/image" Target="../media/image35.wmf"/></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8.wmf"/><Relationship Id="rId5" Type="http://schemas.openxmlformats.org/officeDocument/2006/relationships/oleObject" Target="../embeddings/oleObject33.bin"/><Relationship Id="rId4" Type="http://schemas.openxmlformats.org/officeDocument/2006/relationships/image" Target="../media/image37.wmf"/></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0.wmf"/><Relationship Id="rId5" Type="http://schemas.openxmlformats.org/officeDocument/2006/relationships/oleObject" Target="../embeddings/oleObject35.bin"/><Relationship Id="rId4" Type="http://schemas.openxmlformats.org/officeDocument/2006/relationships/image" Target="../media/image39.wmf"/></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7.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2</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光电探测器理论基础</a:t>
            </a:r>
          </a:p>
        </p:txBody>
      </p:sp>
      <p:sp>
        <p:nvSpPr>
          <p:cNvPr id="5" name="矩形 4">
            <a:extLst>
              <a:ext uri="{FF2B5EF4-FFF2-40B4-BE49-F238E27FC236}">
                <a16:creationId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Theoretical Basis of Photodetectors</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光电探测器的特性参数</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6594763" y="912436"/>
            <a:ext cx="6567054" cy="6424280"/>
          </a:xfrm>
          <a:prstGeom prst="ellipse">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3048001" y="2189018"/>
            <a:ext cx="3491346" cy="3639127"/>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443345" y="1505527"/>
            <a:ext cx="2493819" cy="528320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图示 9"/>
          <p:cNvGraphicFramePr/>
          <p:nvPr>
            <p:extLst>
              <p:ext uri="{D42A27DB-BD31-4B8C-83A1-F6EECF244321}">
                <p14:modId xmlns:p14="http://schemas.microsoft.com/office/powerpoint/2010/main" val="746567634"/>
              </p:ext>
            </p:extLst>
          </p:nvPr>
        </p:nvGraphicFramePr>
        <p:xfrm>
          <a:off x="5140559" y="982788"/>
          <a:ext cx="9145059" cy="6096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图示 10"/>
          <p:cNvGraphicFramePr/>
          <p:nvPr>
            <p:extLst>
              <p:ext uri="{D42A27DB-BD31-4B8C-83A1-F6EECF244321}">
                <p14:modId xmlns:p14="http://schemas.microsoft.com/office/powerpoint/2010/main" val="137571525"/>
              </p:ext>
            </p:extLst>
          </p:nvPr>
        </p:nvGraphicFramePr>
        <p:xfrm>
          <a:off x="484094" y="1653309"/>
          <a:ext cx="2468563" cy="485832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2" name="图示 11"/>
          <p:cNvGraphicFramePr/>
          <p:nvPr>
            <p:extLst>
              <p:ext uri="{D42A27DB-BD31-4B8C-83A1-F6EECF244321}">
                <p14:modId xmlns:p14="http://schemas.microsoft.com/office/powerpoint/2010/main" val="950265345"/>
              </p:ext>
            </p:extLst>
          </p:nvPr>
        </p:nvGraphicFramePr>
        <p:xfrm>
          <a:off x="3126773" y="2425636"/>
          <a:ext cx="3375625" cy="324549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3" name="文本框 60">
            <a:extLst>
              <a:ext uri="{FF2B5EF4-FFF2-40B4-BE49-F238E27FC236}">
                <a16:creationId xmlns:a16="http://schemas.microsoft.com/office/drawing/2014/main" id="{B34563FB-A377-4208-A1F8-8D8EEAF2DE7F}"/>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4" name="矩形 13">
            <a:extLst>
              <a:ext uri="{FF2B5EF4-FFF2-40B4-BE49-F238E27FC236}">
                <a16:creationId xmlns:a16="http://schemas.microsoft.com/office/drawing/2014/main" id="{FC9D8791-14D0-4ED1-9064-6EB204FE2194}"/>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841B7B7D-9392-4723-95EB-07F6274A89D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AD1F451-4FC8-416F-ADCA-EF2099712A26}"/>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D65EB3E6-E89C-4647-B3E9-51D41ADD5A9B}"/>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1572B7A2-142A-4E04-AF06-63D2A69EF8C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04256651-5BE0-44BD-AC09-0C75F1B7AEF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97733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1">
                                            <p:graphicEl>
                                              <a:dgm id="{E455FAD4-20C5-4659-A13A-9EE39A48AB23}"/>
                                            </p:graphicEl>
                                          </p:spTgt>
                                        </p:tgtEl>
                                        <p:attrNameLst>
                                          <p:attrName>style.visibility</p:attrName>
                                        </p:attrNameLst>
                                      </p:cBhvr>
                                      <p:to>
                                        <p:strVal val="visible"/>
                                      </p:to>
                                    </p:set>
                                    <p:animEffect transition="in" filter="wheel(1)">
                                      <p:cBhvr>
                                        <p:cTn id="11" dur="2000"/>
                                        <p:tgtEl>
                                          <p:spTgt spid="11">
                                            <p:graphicEl>
                                              <a:dgm id="{E455FAD4-20C5-4659-A13A-9EE39A48AB23}"/>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11">
                                            <p:graphicEl>
                                              <a:dgm id="{D8477416-7C74-4F78-B4D4-DAFA3040F902}"/>
                                            </p:graphicEl>
                                          </p:spTgt>
                                        </p:tgtEl>
                                        <p:attrNameLst>
                                          <p:attrName>style.visibility</p:attrName>
                                        </p:attrNameLst>
                                      </p:cBhvr>
                                      <p:to>
                                        <p:strVal val="visible"/>
                                      </p:to>
                                    </p:set>
                                    <p:animEffect transition="in" filter="wheel(1)">
                                      <p:cBhvr>
                                        <p:cTn id="16" dur="2000"/>
                                        <p:tgtEl>
                                          <p:spTgt spid="11">
                                            <p:graphicEl>
                                              <a:dgm id="{D8477416-7C74-4F78-B4D4-DAFA3040F902}"/>
                                            </p:graphic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1">
                                            <p:graphicEl>
                                              <a:dgm id="{C3103C6B-EE56-4D0F-96AB-D9FB9FF80CFA}"/>
                                            </p:graphicEl>
                                          </p:spTgt>
                                        </p:tgtEl>
                                        <p:attrNameLst>
                                          <p:attrName>style.visibility</p:attrName>
                                        </p:attrNameLst>
                                      </p:cBhvr>
                                      <p:to>
                                        <p:strVal val="visible"/>
                                      </p:to>
                                    </p:set>
                                    <p:animEffect transition="in" filter="wheel(1)">
                                      <p:cBhvr>
                                        <p:cTn id="19" dur="2000"/>
                                        <p:tgtEl>
                                          <p:spTgt spid="11">
                                            <p:graphicEl>
                                              <a:dgm id="{C3103C6B-EE56-4D0F-96AB-D9FB9FF80CFA}"/>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1">
                                            <p:graphicEl>
                                              <a:dgm id="{EADF8ED8-1E91-4C07-A0A6-B5984F0F8AC6}"/>
                                            </p:graphicEl>
                                          </p:spTgt>
                                        </p:tgtEl>
                                        <p:attrNameLst>
                                          <p:attrName>style.visibility</p:attrName>
                                        </p:attrNameLst>
                                      </p:cBhvr>
                                      <p:to>
                                        <p:strVal val="visible"/>
                                      </p:to>
                                    </p:set>
                                    <p:animEffect transition="in" filter="wheel(1)">
                                      <p:cBhvr>
                                        <p:cTn id="24" dur="2000"/>
                                        <p:tgtEl>
                                          <p:spTgt spid="11">
                                            <p:graphicEl>
                                              <a:dgm id="{EADF8ED8-1E91-4C07-A0A6-B5984F0F8AC6}"/>
                                            </p:graphicEl>
                                          </p:spTgt>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11">
                                            <p:graphicEl>
                                              <a:dgm id="{0EF207B5-7C56-4CE0-9346-5177580777CC}"/>
                                            </p:graphicEl>
                                          </p:spTgt>
                                        </p:tgtEl>
                                        <p:attrNameLst>
                                          <p:attrName>style.visibility</p:attrName>
                                        </p:attrNameLst>
                                      </p:cBhvr>
                                      <p:to>
                                        <p:strVal val="visible"/>
                                      </p:to>
                                    </p:set>
                                    <p:animEffect transition="in" filter="wheel(1)">
                                      <p:cBhvr>
                                        <p:cTn id="27" dur="2000"/>
                                        <p:tgtEl>
                                          <p:spTgt spid="11">
                                            <p:graphicEl>
                                              <a:dgm id="{0EF207B5-7C56-4CE0-9346-5177580777CC}"/>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1">
                                            <p:graphicEl>
                                              <a:dgm id="{7149D838-E7C3-4B82-909F-3D942CFA87C3}"/>
                                            </p:graphicEl>
                                          </p:spTgt>
                                        </p:tgtEl>
                                        <p:attrNameLst>
                                          <p:attrName>style.visibility</p:attrName>
                                        </p:attrNameLst>
                                      </p:cBhvr>
                                      <p:to>
                                        <p:strVal val="visible"/>
                                      </p:to>
                                    </p:set>
                                    <p:animEffect transition="in" filter="wheel(1)">
                                      <p:cBhvr>
                                        <p:cTn id="32" dur="2000"/>
                                        <p:tgtEl>
                                          <p:spTgt spid="11">
                                            <p:graphicEl>
                                              <a:dgm id="{7149D838-E7C3-4B82-909F-3D942CFA87C3}"/>
                                            </p:graphicEl>
                                          </p:spTgt>
                                        </p:tgtEl>
                                      </p:cBhvr>
                                    </p:animEffect>
                                  </p:childTnLst>
                                </p:cTn>
                              </p:par>
                              <p:par>
                                <p:cTn id="33" presetID="21" presetClass="entr" presetSubtype="1" fill="hold" grpId="0" nodeType="withEffect">
                                  <p:stCondLst>
                                    <p:cond delay="0"/>
                                  </p:stCondLst>
                                  <p:childTnLst>
                                    <p:set>
                                      <p:cBhvr>
                                        <p:cTn id="34" dur="1" fill="hold">
                                          <p:stCondLst>
                                            <p:cond delay="0"/>
                                          </p:stCondLst>
                                        </p:cTn>
                                        <p:tgtEl>
                                          <p:spTgt spid="11">
                                            <p:graphicEl>
                                              <a:dgm id="{1E401B28-4027-4FE2-B911-5129BC0C4945}"/>
                                            </p:graphicEl>
                                          </p:spTgt>
                                        </p:tgtEl>
                                        <p:attrNameLst>
                                          <p:attrName>style.visibility</p:attrName>
                                        </p:attrNameLst>
                                      </p:cBhvr>
                                      <p:to>
                                        <p:strVal val="visible"/>
                                      </p:to>
                                    </p:set>
                                    <p:animEffect transition="in" filter="wheel(1)">
                                      <p:cBhvr>
                                        <p:cTn id="35" dur="2000"/>
                                        <p:tgtEl>
                                          <p:spTgt spid="11">
                                            <p:graphicEl>
                                              <a:dgm id="{1E401B28-4027-4FE2-B911-5129BC0C4945}"/>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12">
                                            <p:graphicEl>
                                              <a:dgm id="{95E96846-5A08-4C2C-8A61-22E27E83EFF7}"/>
                                            </p:graphicEl>
                                          </p:spTgt>
                                        </p:tgtEl>
                                        <p:attrNameLst>
                                          <p:attrName>style.visibility</p:attrName>
                                        </p:attrNameLst>
                                      </p:cBhvr>
                                      <p:to>
                                        <p:strVal val="visible"/>
                                      </p:to>
                                    </p:set>
                                    <p:animEffect transition="in" filter="wheel(1)">
                                      <p:cBhvr>
                                        <p:cTn id="44" dur="2000"/>
                                        <p:tgtEl>
                                          <p:spTgt spid="12">
                                            <p:graphicEl>
                                              <a:dgm id="{95E96846-5A08-4C2C-8A61-22E27E83EFF7}"/>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2">
                                            <p:graphicEl>
                                              <a:dgm id="{2A15C425-5277-46DC-B849-2CB9CE883D0A}"/>
                                            </p:graphicEl>
                                          </p:spTgt>
                                        </p:tgtEl>
                                        <p:attrNameLst>
                                          <p:attrName>style.visibility</p:attrName>
                                        </p:attrNameLst>
                                      </p:cBhvr>
                                      <p:to>
                                        <p:strVal val="visible"/>
                                      </p:to>
                                    </p:set>
                                    <p:animEffect transition="in" filter="wheel(1)">
                                      <p:cBhvr>
                                        <p:cTn id="49" dur="2000"/>
                                        <p:tgtEl>
                                          <p:spTgt spid="12">
                                            <p:graphicEl>
                                              <a:dgm id="{2A15C425-5277-46DC-B849-2CB9CE883D0A}"/>
                                            </p:graphicEl>
                                          </p:spTgt>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2">
                                            <p:graphicEl>
                                              <a:dgm id="{C4EADA36-21B1-429B-A7C1-A4090760E832}"/>
                                            </p:graphicEl>
                                          </p:spTgt>
                                        </p:tgtEl>
                                        <p:attrNameLst>
                                          <p:attrName>style.visibility</p:attrName>
                                        </p:attrNameLst>
                                      </p:cBhvr>
                                      <p:to>
                                        <p:strVal val="visible"/>
                                      </p:to>
                                    </p:set>
                                    <p:animEffect transition="in" filter="wheel(1)">
                                      <p:cBhvr>
                                        <p:cTn id="52" dur="2000"/>
                                        <p:tgtEl>
                                          <p:spTgt spid="12">
                                            <p:graphicEl>
                                              <a:dgm id="{C4EADA36-21B1-429B-A7C1-A4090760E832}"/>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12">
                                            <p:graphicEl>
                                              <a:dgm id="{5080B566-065B-49E4-BC72-60F27A81194A}"/>
                                            </p:graphicEl>
                                          </p:spTgt>
                                        </p:tgtEl>
                                        <p:attrNameLst>
                                          <p:attrName>style.visibility</p:attrName>
                                        </p:attrNameLst>
                                      </p:cBhvr>
                                      <p:to>
                                        <p:strVal val="visible"/>
                                      </p:to>
                                    </p:set>
                                    <p:animEffect transition="in" filter="wheel(1)">
                                      <p:cBhvr>
                                        <p:cTn id="57" dur="2000"/>
                                        <p:tgtEl>
                                          <p:spTgt spid="12">
                                            <p:graphicEl>
                                              <a:dgm id="{5080B566-065B-49E4-BC72-60F27A81194A}"/>
                                            </p:graphicEl>
                                          </p:spTgt>
                                        </p:tgtEl>
                                      </p:cBhvr>
                                    </p:animEffect>
                                  </p:childTnLst>
                                </p:cTn>
                              </p:par>
                              <p:par>
                                <p:cTn id="58" presetID="21" presetClass="entr" presetSubtype="1" fill="hold" grpId="0" nodeType="withEffect">
                                  <p:stCondLst>
                                    <p:cond delay="0"/>
                                  </p:stCondLst>
                                  <p:childTnLst>
                                    <p:set>
                                      <p:cBhvr>
                                        <p:cTn id="59" dur="1" fill="hold">
                                          <p:stCondLst>
                                            <p:cond delay="0"/>
                                          </p:stCondLst>
                                        </p:cTn>
                                        <p:tgtEl>
                                          <p:spTgt spid="12">
                                            <p:graphicEl>
                                              <a:dgm id="{5477AD9B-D418-47CE-B1A2-3AD4C4B03512}"/>
                                            </p:graphicEl>
                                          </p:spTgt>
                                        </p:tgtEl>
                                        <p:attrNameLst>
                                          <p:attrName>style.visibility</p:attrName>
                                        </p:attrNameLst>
                                      </p:cBhvr>
                                      <p:to>
                                        <p:strVal val="visible"/>
                                      </p:to>
                                    </p:set>
                                    <p:animEffect transition="in" filter="wheel(1)">
                                      <p:cBhvr>
                                        <p:cTn id="60" dur="2000"/>
                                        <p:tgtEl>
                                          <p:spTgt spid="12">
                                            <p:graphicEl>
                                              <a:dgm id="{5477AD9B-D418-47CE-B1A2-3AD4C4B03512}"/>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grpId="0" nodeType="clickEffect">
                                  <p:stCondLst>
                                    <p:cond delay="0"/>
                                  </p:stCondLst>
                                  <p:childTnLst>
                                    <p:set>
                                      <p:cBhvr>
                                        <p:cTn id="64" dur="1" fill="hold">
                                          <p:stCondLst>
                                            <p:cond delay="0"/>
                                          </p:stCondLst>
                                        </p:cTn>
                                        <p:tgtEl>
                                          <p:spTgt spid="12">
                                            <p:graphicEl>
                                              <a:dgm id="{BDB98B4B-B72C-4E51-9ABE-5A1EEB68490D}"/>
                                            </p:graphicEl>
                                          </p:spTgt>
                                        </p:tgtEl>
                                        <p:attrNameLst>
                                          <p:attrName>style.visibility</p:attrName>
                                        </p:attrNameLst>
                                      </p:cBhvr>
                                      <p:to>
                                        <p:strVal val="visible"/>
                                      </p:to>
                                    </p:set>
                                    <p:animEffect transition="in" filter="wheel(1)">
                                      <p:cBhvr>
                                        <p:cTn id="65" dur="2000"/>
                                        <p:tgtEl>
                                          <p:spTgt spid="12">
                                            <p:graphicEl>
                                              <a:dgm id="{BDB98B4B-B72C-4E51-9ABE-5A1EEB68490D}"/>
                                            </p:graphicEl>
                                          </p:spTgt>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12">
                                            <p:graphicEl>
                                              <a:dgm id="{4D3130EE-F92E-45E4-958B-0F9437B5EA0A}"/>
                                            </p:graphicEl>
                                          </p:spTgt>
                                        </p:tgtEl>
                                        <p:attrNameLst>
                                          <p:attrName>style.visibility</p:attrName>
                                        </p:attrNameLst>
                                      </p:cBhvr>
                                      <p:to>
                                        <p:strVal val="visible"/>
                                      </p:to>
                                    </p:set>
                                    <p:animEffect transition="in" filter="wheel(1)">
                                      <p:cBhvr>
                                        <p:cTn id="68" dur="2000"/>
                                        <p:tgtEl>
                                          <p:spTgt spid="12">
                                            <p:graphicEl>
                                              <a:dgm id="{4D3130EE-F92E-45E4-958B-0F9437B5EA0A}"/>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1" presetClass="entr" presetSubtype="1" fill="hold" grpId="0" nodeType="clickEffect">
                                  <p:stCondLst>
                                    <p:cond delay="0"/>
                                  </p:stCondLst>
                                  <p:childTnLst>
                                    <p:set>
                                      <p:cBhvr>
                                        <p:cTn id="72" dur="1" fill="hold">
                                          <p:stCondLst>
                                            <p:cond delay="0"/>
                                          </p:stCondLst>
                                        </p:cTn>
                                        <p:tgtEl>
                                          <p:spTgt spid="12">
                                            <p:graphicEl>
                                              <a:dgm id="{EE232C3A-66D1-41E8-88D4-07E8120248BB}"/>
                                            </p:graphicEl>
                                          </p:spTgt>
                                        </p:tgtEl>
                                        <p:attrNameLst>
                                          <p:attrName>style.visibility</p:attrName>
                                        </p:attrNameLst>
                                      </p:cBhvr>
                                      <p:to>
                                        <p:strVal val="visible"/>
                                      </p:to>
                                    </p:set>
                                    <p:animEffect transition="in" filter="wheel(1)">
                                      <p:cBhvr>
                                        <p:cTn id="73" dur="2000"/>
                                        <p:tgtEl>
                                          <p:spTgt spid="12">
                                            <p:graphicEl>
                                              <a:dgm id="{EE232C3A-66D1-41E8-88D4-07E8120248BB}"/>
                                            </p:graphicEl>
                                          </p:spTgt>
                                        </p:tgtEl>
                                      </p:cBhvr>
                                    </p:animEffect>
                                  </p:childTnLst>
                                </p:cTn>
                              </p:par>
                              <p:par>
                                <p:cTn id="74" presetID="21" presetClass="entr" presetSubtype="1" fill="hold" grpId="0" nodeType="withEffect">
                                  <p:stCondLst>
                                    <p:cond delay="0"/>
                                  </p:stCondLst>
                                  <p:childTnLst>
                                    <p:set>
                                      <p:cBhvr>
                                        <p:cTn id="75" dur="1" fill="hold">
                                          <p:stCondLst>
                                            <p:cond delay="0"/>
                                          </p:stCondLst>
                                        </p:cTn>
                                        <p:tgtEl>
                                          <p:spTgt spid="12">
                                            <p:graphicEl>
                                              <a:dgm id="{DA65228A-EED3-4974-995A-86E40B70D85C}"/>
                                            </p:graphicEl>
                                          </p:spTgt>
                                        </p:tgtEl>
                                        <p:attrNameLst>
                                          <p:attrName>style.visibility</p:attrName>
                                        </p:attrNameLst>
                                      </p:cBhvr>
                                      <p:to>
                                        <p:strVal val="visible"/>
                                      </p:to>
                                    </p:set>
                                    <p:animEffect transition="in" filter="wheel(1)">
                                      <p:cBhvr>
                                        <p:cTn id="76" dur="2000"/>
                                        <p:tgtEl>
                                          <p:spTgt spid="12">
                                            <p:graphicEl>
                                              <a:dgm id="{DA65228A-EED3-4974-995A-86E40B70D85C}"/>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21" presetClass="entr" presetSubtype="1" fill="hold" grpId="0" nodeType="clickEffect">
                                  <p:stCondLst>
                                    <p:cond delay="0"/>
                                  </p:stCondLst>
                                  <p:childTnLst>
                                    <p:set>
                                      <p:cBhvr>
                                        <p:cTn id="80" dur="1" fill="hold">
                                          <p:stCondLst>
                                            <p:cond delay="0"/>
                                          </p:stCondLst>
                                        </p:cTn>
                                        <p:tgtEl>
                                          <p:spTgt spid="12">
                                            <p:graphicEl>
                                              <a:dgm id="{F04A5332-CD23-4285-BED7-05E505AF41A2}"/>
                                            </p:graphicEl>
                                          </p:spTgt>
                                        </p:tgtEl>
                                        <p:attrNameLst>
                                          <p:attrName>style.visibility</p:attrName>
                                        </p:attrNameLst>
                                      </p:cBhvr>
                                      <p:to>
                                        <p:strVal val="visible"/>
                                      </p:to>
                                    </p:set>
                                    <p:animEffect transition="in" filter="wheel(1)">
                                      <p:cBhvr>
                                        <p:cTn id="81" dur="2000"/>
                                        <p:tgtEl>
                                          <p:spTgt spid="12">
                                            <p:graphicEl>
                                              <a:dgm id="{F04A5332-CD23-4285-BED7-05E505AF41A2}"/>
                                            </p:graphicEl>
                                          </p:spTgt>
                                        </p:tgtEl>
                                      </p:cBhvr>
                                    </p:animEffect>
                                  </p:childTnLst>
                                </p:cTn>
                              </p:par>
                              <p:par>
                                <p:cTn id="82" presetID="21" presetClass="entr" presetSubtype="1" fill="hold" grpId="0" nodeType="withEffect">
                                  <p:stCondLst>
                                    <p:cond delay="0"/>
                                  </p:stCondLst>
                                  <p:childTnLst>
                                    <p:set>
                                      <p:cBhvr>
                                        <p:cTn id="83" dur="1" fill="hold">
                                          <p:stCondLst>
                                            <p:cond delay="0"/>
                                          </p:stCondLst>
                                        </p:cTn>
                                        <p:tgtEl>
                                          <p:spTgt spid="12">
                                            <p:graphicEl>
                                              <a:dgm id="{CFC04077-7BA4-461E-BE12-7A80FE4C1392}"/>
                                            </p:graphicEl>
                                          </p:spTgt>
                                        </p:tgtEl>
                                        <p:attrNameLst>
                                          <p:attrName>style.visibility</p:attrName>
                                        </p:attrNameLst>
                                      </p:cBhvr>
                                      <p:to>
                                        <p:strVal val="visible"/>
                                      </p:to>
                                    </p:set>
                                    <p:animEffect transition="in" filter="wheel(1)">
                                      <p:cBhvr>
                                        <p:cTn id="84" dur="2000"/>
                                        <p:tgtEl>
                                          <p:spTgt spid="12">
                                            <p:graphicEl>
                                              <a:dgm id="{CFC04077-7BA4-461E-BE12-7A80FE4C1392}"/>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21" presetClass="entr" presetSubtype="1" fill="hold" grpId="0"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wheel(1)">
                                      <p:cBhvr>
                                        <p:cTn id="89" dur="2000"/>
                                        <p:tgtEl>
                                          <p:spTgt spid="9"/>
                                        </p:tgtEl>
                                      </p:cBhvr>
                                    </p:animEffect>
                                  </p:childTnLst>
                                </p:cTn>
                              </p:par>
                            </p:childTnLst>
                          </p:cTn>
                        </p:par>
                      </p:childTnLst>
                    </p:cTn>
                  </p:par>
                  <p:par>
                    <p:cTn id="90" fill="hold">
                      <p:stCondLst>
                        <p:cond delay="indefinite"/>
                      </p:stCondLst>
                      <p:childTnLst>
                        <p:par>
                          <p:cTn id="91" fill="hold">
                            <p:stCondLst>
                              <p:cond delay="0"/>
                            </p:stCondLst>
                            <p:childTnLst>
                              <p:par>
                                <p:cTn id="92" presetID="21" presetClass="entr" presetSubtype="1" fill="hold" grpId="0" nodeType="clickEffect">
                                  <p:stCondLst>
                                    <p:cond delay="0"/>
                                  </p:stCondLst>
                                  <p:childTnLst>
                                    <p:set>
                                      <p:cBhvr>
                                        <p:cTn id="93" dur="1" fill="hold">
                                          <p:stCondLst>
                                            <p:cond delay="0"/>
                                          </p:stCondLst>
                                        </p:cTn>
                                        <p:tgtEl>
                                          <p:spTgt spid="10">
                                            <p:graphicEl>
                                              <a:dgm id="{A24A8002-28E4-49BE-BC42-7B4CD92CA3C5}"/>
                                            </p:graphicEl>
                                          </p:spTgt>
                                        </p:tgtEl>
                                        <p:attrNameLst>
                                          <p:attrName>style.visibility</p:attrName>
                                        </p:attrNameLst>
                                      </p:cBhvr>
                                      <p:to>
                                        <p:strVal val="visible"/>
                                      </p:to>
                                    </p:set>
                                    <p:animEffect transition="in" filter="wheel(1)">
                                      <p:cBhvr>
                                        <p:cTn id="94" dur="2000"/>
                                        <p:tgtEl>
                                          <p:spTgt spid="10">
                                            <p:graphicEl>
                                              <a:dgm id="{A24A8002-28E4-49BE-BC42-7B4CD92CA3C5}"/>
                                            </p:graphicEl>
                                          </p:spTgt>
                                        </p:tgtEl>
                                      </p:cBhvr>
                                    </p:animEffect>
                                  </p:childTnLst>
                                </p:cTn>
                              </p:par>
                            </p:childTnLst>
                          </p:cTn>
                        </p:par>
                      </p:childTnLst>
                    </p:cTn>
                  </p:par>
                  <p:par>
                    <p:cTn id="95" fill="hold">
                      <p:stCondLst>
                        <p:cond delay="indefinite"/>
                      </p:stCondLst>
                      <p:childTnLst>
                        <p:par>
                          <p:cTn id="96" fill="hold">
                            <p:stCondLst>
                              <p:cond delay="0"/>
                            </p:stCondLst>
                            <p:childTnLst>
                              <p:par>
                                <p:cTn id="97" presetID="21" presetClass="entr" presetSubtype="1" fill="hold" grpId="0" nodeType="clickEffect">
                                  <p:stCondLst>
                                    <p:cond delay="0"/>
                                  </p:stCondLst>
                                  <p:childTnLst>
                                    <p:set>
                                      <p:cBhvr>
                                        <p:cTn id="98" dur="1" fill="hold">
                                          <p:stCondLst>
                                            <p:cond delay="0"/>
                                          </p:stCondLst>
                                        </p:cTn>
                                        <p:tgtEl>
                                          <p:spTgt spid="10">
                                            <p:graphicEl>
                                              <a:dgm id="{F658E4A7-BED5-480B-8213-EEA7BB064BFA}"/>
                                            </p:graphicEl>
                                          </p:spTgt>
                                        </p:tgtEl>
                                        <p:attrNameLst>
                                          <p:attrName>style.visibility</p:attrName>
                                        </p:attrNameLst>
                                      </p:cBhvr>
                                      <p:to>
                                        <p:strVal val="visible"/>
                                      </p:to>
                                    </p:set>
                                    <p:animEffect transition="in" filter="wheel(1)">
                                      <p:cBhvr>
                                        <p:cTn id="99" dur="2000"/>
                                        <p:tgtEl>
                                          <p:spTgt spid="10">
                                            <p:graphicEl>
                                              <a:dgm id="{F658E4A7-BED5-480B-8213-EEA7BB064BFA}"/>
                                            </p:graphicEl>
                                          </p:spTgt>
                                        </p:tgtEl>
                                      </p:cBhvr>
                                    </p:animEffect>
                                  </p:childTnLst>
                                </p:cTn>
                              </p:par>
                              <p:par>
                                <p:cTn id="100" presetID="21" presetClass="entr" presetSubtype="1" fill="hold" grpId="0" nodeType="withEffect">
                                  <p:stCondLst>
                                    <p:cond delay="0"/>
                                  </p:stCondLst>
                                  <p:childTnLst>
                                    <p:set>
                                      <p:cBhvr>
                                        <p:cTn id="101" dur="1" fill="hold">
                                          <p:stCondLst>
                                            <p:cond delay="0"/>
                                          </p:stCondLst>
                                        </p:cTn>
                                        <p:tgtEl>
                                          <p:spTgt spid="10">
                                            <p:graphicEl>
                                              <a:dgm id="{195F653B-8D1D-48E3-ABA9-506416374DE1}"/>
                                            </p:graphicEl>
                                          </p:spTgt>
                                        </p:tgtEl>
                                        <p:attrNameLst>
                                          <p:attrName>style.visibility</p:attrName>
                                        </p:attrNameLst>
                                      </p:cBhvr>
                                      <p:to>
                                        <p:strVal val="visible"/>
                                      </p:to>
                                    </p:set>
                                    <p:animEffect transition="in" filter="wheel(1)">
                                      <p:cBhvr>
                                        <p:cTn id="102" dur="2000"/>
                                        <p:tgtEl>
                                          <p:spTgt spid="10">
                                            <p:graphicEl>
                                              <a:dgm id="{195F653B-8D1D-48E3-ABA9-506416374DE1}"/>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10">
                                            <p:graphicEl>
                                              <a:dgm id="{22D60180-810D-454F-8CF9-92C5F180C338}"/>
                                            </p:graphicEl>
                                          </p:spTgt>
                                        </p:tgtEl>
                                        <p:attrNameLst>
                                          <p:attrName>style.visibility</p:attrName>
                                        </p:attrNameLst>
                                      </p:cBhvr>
                                      <p:to>
                                        <p:strVal val="visible"/>
                                      </p:to>
                                    </p:set>
                                    <p:animEffect transition="in" filter="wheel(1)">
                                      <p:cBhvr>
                                        <p:cTn id="107" dur="2000"/>
                                        <p:tgtEl>
                                          <p:spTgt spid="10">
                                            <p:graphicEl>
                                              <a:dgm id="{22D60180-810D-454F-8CF9-92C5F180C338}"/>
                                            </p:graphicEl>
                                          </p:spTgt>
                                        </p:tgtEl>
                                      </p:cBhvr>
                                    </p:animEffect>
                                  </p:childTnLst>
                                </p:cTn>
                              </p:par>
                              <p:par>
                                <p:cTn id="108" presetID="21" presetClass="entr" presetSubtype="1" fill="hold" grpId="0" nodeType="withEffect">
                                  <p:stCondLst>
                                    <p:cond delay="0"/>
                                  </p:stCondLst>
                                  <p:childTnLst>
                                    <p:set>
                                      <p:cBhvr>
                                        <p:cTn id="109" dur="1" fill="hold">
                                          <p:stCondLst>
                                            <p:cond delay="0"/>
                                          </p:stCondLst>
                                        </p:cTn>
                                        <p:tgtEl>
                                          <p:spTgt spid="10">
                                            <p:graphicEl>
                                              <a:dgm id="{F02E8A78-431D-4CEB-88BD-BB34C1BAB6C6}"/>
                                            </p:graphicEl>
                                          </p:spTgt>
                                        </p:tgtEl>
                                        <p:attrNameLst>
                                          <p:attrName>style.visibility</p:attrName>
                                        </p:attrNameLst>
                                      </p:cBhvr>
                                      <p:to>
                                        <p:strVal val="visible"/>
                                      </p:to>
                                    </p:set>
                                    <p:animEffect transition="in" filter="wheel(1)">
                                      <p:cBhvr>
                                        <p:cTn id="110" dur="2000"/>
                                        <p:tgtEl>
                                          <p:spTgt spid="10">
                                            <p:graphicEl>
                                              <a:dgm id="{F02E8A78-431D-4CEB-88BD-BB34C1BAB6C6}"/>
                                            </p:graphicEl>
                                          </p:spTgt>
                                        </p:tgtEl>
                                      </p:cBhvr>
                                    </p:animEffect>
                                  </p:childTnLst>
                                </p:cTn>
                              </p:par>
                            </p:childTnLst>
                          </p:cTn>
                        </p:par>
                      </p:childTnLst>
                    </p:cTn>
                  </p:par>
                  <p:par>
                    <p:cTn id="111" fill="hold">
                      <p:stCondLst>
                        <p:cond delay="indefinite"/>
                      </p:stCondLst>
                      <p:childTnLst>
                        <p:par>
                          <p:cTn id="112" fill="hold">
                            <p:stCondLst>
                              <p:cond delay="0"/>
                            </p:stCondLst>
                            <p:childTnLst>
                              <p:par>
                                <p:cTn id="113" presetID="21" presetClass="entr" presetSubtype="1" fill="hold" grpId="0" nodeType="clickEffect">
                                  <p:stCondLst>
                                    <p:cond delay="0"/>
                                  </p:stCondLst>
                                  <p:childTnLst>
                                    <p:set>
                                      <p:cBhvr>
                                        <p:cTn id="114" dur="1" fill="hold">
                                          <p:stCondLst>
                                            <p:cond delay="0"/>
                                          </p:stCondLst>
                                        </p:cTn>
                                        <p:tgtEl>
                                          <p:spTgt spid="10">
                                            <p:graphicEl>
                                              <a:dgm id="{E825F442-6268-41E3-A416-DF19DB5EB70F}"/>
                                            </p:graphicEl>
                                          </p:spTgt>
                                        </p:tgtEl>
                                        <p:attrNameLst>
                                          <p:attrName>style.visibility</p:attrName>
                                        </p:attrNameLst>
                                      </p:cBhvr>
                                      <p:to>
                                        <p:strVal val="visible"/>
                                      </p:to>
                                    </p:set>
                                    <p:animEffect transition="in" filter="wheel(1)">
                                      <p:cBhvr>
                                        <p:cTn id="115" dur="2000"/>
                                        <p:tgtEl>
                                          <p:spTgt spid="10">
                                            <p:graphicEl>
                                              <a:dgm id="{E825F442-6268-41E3-A416-DF19DB5EB70F}"/>
                                            </p:graphicEl>
                                          </p:spTgt>
                                        </p:tgtEl>
                                      </p:cBhvr>
                                    </p:animEffect>
                                  </p:childTnLst>
                                </p:cTn>
                              </p:par>
                              <p:par>
                                <p:cTn id="116" presetID="21" presetClass="entr" presetSubtype="1" fill="hold" grpId="0" nodeType="withEffect">
                                  <p:stCondLst>
                                    <p:cond delay="0"/>
                                  </p:stCondLst>
                                  <p:childTnLst>
                                    <p:set>
                                      <p:cBhvr>
                                        <p:cTn id="117" dur="1" fill="hold">
                                          <p:stCondLst>
                                            <p:cond delay="0"/>
                                          </p:stCondLst>
                                        </p:cTn>
                                        <p:tgtEl>
                                          <p:spTgt spid="10">
                                            <p:graphicEl>
                                              <a:dgm id="{8569239F-FA75-4C08-B5DA-7A2F4496D0D2}"/>
                                            </p:graphicEl>
                                          </p:spTgt>
                                        </p:tgtEl>
                                        <p:attrNameLst>
                                          <p:attrName>style.visibility</p:attrName>
                                        </p:attrNameLst>
                                      </p:cBhvr>
                                      <p:to>
                                        <p:strVal val="visible"/>
                                      </p:to>
                                    </p:set>
                                    <p:animEffect transition="in" filter="wheel(1)">
                                      <p:cBhvr>
                                        <p:cTn id="118" dur="2000"/>
                                        <p:tgtEl>
                                          <p:spTgt spid="10">
                                            <p:graphicEl>
                                              <a:dgm id="{8569239F-FA75-4C08-B5DA-7A2F4496D0D2}"/>
                                            </p:graphic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grpId="0" nodeType="clickEffect">
                                  <p:stCondLst>
                                    <p:cond delay="0"/>
                                  </p:stCondLst>
                                  <p:childTnLst>
                                    <p:set>
                                      <p:cBhvr>
                                        <p:cTn id="122" dur="1" fill="hold">
                                          <p:stCondLst>
                                            <p:cond delay="0"/>
                                          </p:stCondLst>
                                        </p:cTn>
                                        <p:tgtEl>
                                          <p:spTgt spid="10">
                                            <p:graphicEl>
                                              <a:dgm id="{17A7A384-6052-4364-A12C-3C30D3628738}"/>
                                            </p:graphicEl>
                                          </p:spTgt>
                                        </p:tgtEl>
                                        <p:attrNameLst>
                                          <p:attrName>style.visibility</p:attrName>
                                        </p:attrNameLst>
                                      </p:cBhvr>
                                      <p:to>
                                        <p:strVal val="visible"/>
                                      </p:to>
                                    </p:set>
                                    <p:animEffect transition="in" filter="wheel(1)">
                                      <p:cBhvr>
                                        <p:cTn id="123" dur="2000"/>
                                        <p:tgtEl>
                                          <p:spTgt spid="10">
                                            <p:graphicEl>
                                              <a:dgm id="{17A7A384-6052-4364-A12C-3C30D3628738}"/>
                                            </p:graphicEl>
                                          </p:spTgt>
                                        </p:tgtEl>
                                      </p:cBhvr>
                                    </p:animEffect>
                                  </p:childTnLst>
                                </p:cTn>
                              </p:par>
                              <p:par>
                                <p:cTn id="124" presetID="21" presetClass="entr" presetSubtype="1" fill="hold" grpId="0" nodeType="withEffect">
                                  <p:stCondLst>
                                    <p:cond delay="0"/>
                                  </p:stCondLst>
                                  <p:childTnLst>
                                    <p:set>
                                      <p:cBhvr>
                                        <p:cTn id="125" dur="1" fill="hold">
                                          <p:stCondLst>
                                            <p:cond delay="0"/>
                                          </p:stCondLst>
                                        </p:cTn>
                                        <p:tgtEl>
                                          <p:spTgt spid="10">
                                            <p:graphicEl>
                                              <a:dgm id="{9E22B4B5-4442-40FD-AD88-E3DEE3E3224A}"/>
                                            </p:graphicEl>
                                          </p:spTgt>
                                        </p:tgtEl>
                                        <p:attrNameLst>
                                          <p:attrName>style.visibility</p:attrName>
                                        </p:attrNameLst>
                                      </p:cBhvr>
                                      <p:to>
                                        <p:strVal val="visible"/>
                                      </p:to>
                                    </p:set>
                                    <p:animEffect transition="in" filter="wheel(1)">
                                      <p:cBhvr>
                                        <p:cTn id="126" dur="2000"/>
                                        <p:tgtEl>
                                          <p:spTgt spid="10">
                                            <p:graphicEl>
                                              <a:dgm id="{9E22B4B5-4442-40FD-AD88-E3DEE3E3224A}"/>
                                            </p:graphic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1" presetClass="entr" presetSubtype="1" fill="hold" grpId="0" nodeType="clickEffect">
                                  <p:stCondLst>
                                    <p:cond delay="0"/>
                                  </p:stCondLst>
                                  <p:childTnLst>
                                    <p:set>
                                      <p:cBhvr>
                                        <p:cTn id="130" dur="1" fill="hold">
                                          <p:stCondLst>
                                            <p:cond delay="0"/>
                                          </p:stCondLst>
                                        </p:cTn>
                                        <p:tgtEl>
                                          <p:spTgt spid="10">
                                            <p:graphicEl>
                                              <a:dgm id="{B60596CA-308F-41FE-8C76-8502FC48AFB5}"/>
                                            </p:graphicEl>
                                          </p:spTgt>
                                        </p:tgtEl>
                                        <p:attrNameLst>
                                          <p:attrName>style.visibility</p:attrName>
                                        </p:attrNameLst>
                                      </p:cBhvr>
                                      <p:to>
                                        <p:strVal val="visible"/>
                                      </p:to>
                                    </p:set>
                                    <p:animEffect transition="in" filter="wheel(1)">
                                      <p:cBhvr>
                                        <p:cTn id="131" dur="2000"/>
                                        <p:tgtEl>
                                          <p:spTgt spid="10">
                                            <p:graphicEl>
                                              <a:dgm id="{B60596CA-308F-41FE-8C76-8502FC48AFB5}"/>
                                            </p:graphicEl>
                                          </p:spTgt>
                                        </p:tgtEl>
                                      </p:cBhvr>
                                    </p:animEffect>
                                  </p:childTnLst>
                                </p:cTn>
                              </p:par>
                              <p:par>
                                <p:cTn id="132" presetID="21" presetClass="entr" presetSubtype="1" fill="hold" grpId="0" nodeType="withEffect">
                                  <p:stCondLst>
                                    <p:cond delay="0"/>
                                  </p:stCondLst>
                                  <p:childTnLst>
                                    <p:set>
                                      <p:cBhvr>
                                        <p:cTn id="133" dur="1" fill="hold">
                                          <p:stCondLst>
                                            <p:cond delay="0"/>
                                          </p:stCondLst>
                                        </p:cTn>
                                        <p:tgtEl>
                                          <p:spTgt spid="10">
                                            <p:graphicEl>
                                              <a:dgm id="{E598AA19-C6E1-46B9-A0A7-897467D0207C}"/>
                                            </p:graphicEl>
                                          </p:spTgt>
                                        </p:tgtEl>
                                        <p:attrNameLst>
                                          <p:attrName>style.visibility</p:attrName>
                                        </p:attrNameLst>
                                      </p:cBhvr>
                                      <p:to>
                                        <p:strVal val="visible"/>
                                      </p:to>
                                    </p:set>
                                    <p:animEffect transition="in" filter="wheel(1)">
                                      <p:cBhvr>
                                        <p:cTn id="134" dur="2000"/>
                                        <p:tgtEl>
                                          <p:spTgt spid="10">
                                            <p:graphicEl>
                                              <a:dgm id="{E598AA19-C6E1-46B9-A0A7-897467D0207C}"/>
                                            </p:graphic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1" presetClass="entr" presetSubtype="1" fill="hold" grpId="0" nodeType="clickEffect">
                                  <p:stCondLst>
                                    <p:cond delay="0"/>
                                  </p:stCondLst>
                                  <p:childTnLst>
                                    <p:set>
                                      <p:cBhvr>
                                        <p:cTn id="138" dur="1" fill="hold">
                                          <p:stCondLst>
                                            <p:cond delay="0"/>
                                          </p:stCondLst>
                                        </p:cTn>
                                        <p:tgtEl>
                                          <p:spTgt spid="10">
                                            <p:graphicEl>
                                              <a:dgm id="{76AFC065-1050-402C-9414-8FC4AA010158}"/>
                                            </p:graphicEl>
                                          </p:spTgt>
                                        </p:tgtEl>
                                        <p:attrNameLst>
                                          <p:attrName>style.visibility</p:attrName>
                                        </p:attrNameLst>
                                      </p:cBhvr>
                                      <p:to>
                                        <p:strVal val="visible"/>
                                      </p:to>
                                    </p:set>
                                    <p:animEffect transition="in" filter="wheel(1)">
                                      <p:cBhvr>
                                        <p:cTn id="139" dur="2000"/>
                                        <p:tgtEl>
                                          <p:spTgt spid="10">
                                            <p:graphicEl>
                                              <a:dgm id="{76AFC065-1050-402C-9414-8FC4AA010158}"/>
                                            </p:graphicEl>
                                          </p:spTgt>
                                        </p:tgtEl>
                                      </p:cBhvr>
                                    </p:animEffect>
                                  </p:childTnLst>
                                </p:cTn>
                              </p:par>
                              <p:par>
                                <p:cTn id="140" presetID="21" presetClass="entr" presetSubtype="1" fill="hold" grpId="0" nodeType="withEffect">
                                  <p:stCondLst>
                                    <p:cond delay="0"/>
                                  </p:stCondLst>
                                  <p:childTnLst>
                                    <p:set>
                                      <p:cBhvr>
                                        <p:cTn id="141" dur="1" fill="hold">
                                          <p:stCondLst>
                                            <p:cond delay="0"/>
                                          </p:stCondLst>
                                        </p:cTn>
                                        <p:tgtEl>
                                          <p:spTgt spid="10">
                                            <p:graphicEl>
                                              <a:dgm id="{C8813CB6-19AA-4ED2-BCA0-F3DFF071CD78}"/>
                                            </p:graphicEl>
                                          </p:spTgt>
                                        </p:tgtEl>
                                        <p:attrNameLst>
                                          <p:attrName>style.visibility</p:attrName>
                                        </p:attrNameLst>
                                      </p:cBhvr>
                                      <p:to>
                                        <p:strVal val="visible"/>
                                      </p:to>
                                    </p:set>
                                    <p:animEffect transition="in" filter="wheel(1)">
                                      <p:cBhvr>
                                        <p:cTn id="142" dur="2000"/>
                                        <p:tgtEl>
                                          <p:spTgt spid="10">
                                            <p:graphicEl>
                                              <a:dgm id="{C8813CB6-19AA-4ED2-BCA0-F3DFF071CD78}"/>
                                            </p:graphic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10">
                                            <p:graphicEl>
                                              <a:dgm id="{941A47B3-FBC3-4BB6-AC44-5D6C1B0733AD}"/>
                                            </p:graphicEl>
                                          </p:spTgt>
                                        </p:tgtEl>
                                        <p:attrNameLst>
                                          <p:attrName>style.visibility</p:attrName>
                                        </p:attrNameLst>
                                      </p:cBhvr>
                                      <p:to>
                                        <p:strVal val="visible"/>
                                      </p:to>
                                    </p:set>
                                    <p:animEffect transition="in" filter="wheel(1)">
                                      <p:cBhvr>
                                        <p:cTn id="147" dur="2000"/>
                                        <p:tgtEl>
                                          <p:spTgt spid="10">
                                            <p:graphicEl>
                                              <a:dgm id="{941A47B3-FBC3-4BB6-AC44-5D6C1B0733AD}"/>
                                            </p:graphicEl>
                                          </p:spTgt>
                                        </p:tgtEl>
                                      </p:cBhvr>
                                    </p:animEffect>
                                  </p:childTnLst>
                                </p:cTn>
                              </p:par>
                              <p:par>
                                <p:cTn id="148" presetID="21" presetClass="entr" presetSubtype="1" fill="hold" grpId="0" nodeType="withEffect">
                                  <p:stCondLst>
                                    <p:cond delay="0"/>
                                  </p:stCondLst>
                                  <p:childTnLst>
                                    <p:set>
                                      <p:cBhvr>
                                        <p:cTn id="149" dur="1" fill="hold">
                                          <p:stCondLst>
                                            <p:cond delay="0"/>
                                          </p:stCondLst>
                                        </p:cTn>
                                        <p:tgtEl>
                                          <p:spTgt spid="10">
                                            <p:graphicEl>
                                              <a:dgm id="{7B0B1C3D-B3A1-42CF-8A75-DD5D982ED758}"/>
                                            </p:graphicEl>
                                          </p:spTgt>
                                        </p:tgtEl>
                                        <p:attrNameLst>
                                          <p:attrName>style.visibility</p:attrName>
                                        </p:attrNameLst>
                                      </p:cBhvr>
                                      <p:to>
                                        <p:strVal val="visible"/>
                                      </p:to>
                                    </p:set>
                                    <p:animEffect transition="in" filter="wheel(1)">
                                      <p:cBhvr>
                                        <p:cTn id="150" dur="2000"/>
                                        <p:tgtEl>
                                          <p:spTgt spid="10">
                                            <p:graphicEl>
                                              <a:dgm id="{7B0B1C3D-B3A1-42CF-8A75-DD5D982ED758}"/>
                                            </p:graphicEl>
                                          </p:spTgt>
                                        </p:tgtEl>
                                      </p:cBhvr>
                                    </p:animEffect>
                                  </p:childTnLst>
                                </p:cTn>
                              </p:par>
                            </p:childTnLst>
                          </p:cTn>
                        </p:par>
                      </p:childTnLst>
                    </p:cTn>
                  </p:par>
                  <p:par>
                    <p:cTn id="151" fill="hold">
                      <p:stCondLst>
                        <p:cond delay="indefinite"/>
                      </p:stCondLst>
                      <p:childTnLst>
                        <p:par>
                          <p:cTn id="152" fill="hold">
                            <p:stCondLst>
                              <p:cond delay="0"/>
                            </p:stCondLst>
                            <p:childTnLst>
                              <p:par>
                                <p:cTn id="153" presetID="21" presetClass="entr" presetSubtype="1" fill="hold" grpId="0" nodeType="clickEffect">
                                  <p:stCondLst>
                                    <p:cond delay="0"/>
                                  </p:stCondLst>
                                  <p:childTnLst>
                                    <p:set>
                                      <p:cBhvr>
                                        <p:cTn id="154" dur="1" fill="hold">
                                          <p:stCondLst>
                                            <p:cond delay="0"/>
                                          </p:stCondLst>
                                        </p:cTn>
                                        <p:tgtEl>
                                          <p:spTgt spid="10">
                                            <p:graphicEl>
                                              <a:dgm id="{B6765E65-C753-4BDF-8A56-49832A434997}"/>
                                            </p:graphicEl>
                                          </p:spTgt>
                                        </p:tgtEl>
                                        <p:attrNameLst>
                                          <p:attrName>style.visibility</p:attrName>
                                        </p:attrNameLst>
                                      </p:cBhvr>
                                      <p:to>
                                        <p:strVal val="visible"/>
                                      </p:to>
                                    </p:set>
                                    <p:animEffect transition="in" filter="wheel(1)">
                                      <p:cBhvr>
                                        <p:cTn id="155" dur="2000"/>
                                        <p:tgtEl>
                                          <p:spTgt spid="10">
                                            <p:graphicEl>
                                              <a:dgm id="{B6765E65-C753-4BDF-8A56-49832A434997}"/>
                                            </p:graphicEl>
                                          </p:spTgt>
                                        </p:tgtEl>
                                      </p:cBhvr>
                                    </p:animEffect>
                                  </p:childTnLst>
                                </p:cTn>
                              </p:par>
                              <p:par>
                                <p:cTn id="156" presetID="21" presetClass="entr" presetSubtype="1" fill="hold" grpId="0" nodeType="withEffect">
                                  <p:stCondLst>
                                    <p:cond delay="0"/>
                                  </p:stCondLst>
                                  <p:childTnLst>
                                    <p:set>
                                      <p:cBhvr>
                                        <p:cTn id="157" dur="1" fill="hold">
                                          <p:stCondLst>
                                            <p:cond delay="0"/>
                                          </p:stCondLst>
                                        </p:cTn>
                                        <p:tgtEl>
                                          <p:spTgt spid="10">
                                            <p:graphicEl>
                                              <a:dgm id="{DD1081F8-6A3F-4AC1-93D6-B47C89601B64}"/>
                                            </p:graphicEl>
                                          </p:spTgt>
                                        </p:tgtEl>
                                        <p:attrNameLst>
                                          <p:attrName>style.visibility</p:attrName>
                                        </p:attrNameLst>
                                      </p:cBhvr>
                                      <p:to>
                                        <p:strVal val="visible"/>
                                      </p:to>
                                    </p:set>
                                    <p:animEffect transition="in" filter="wheel(1)">
                                      <p:cBhvr>
                                        <p:cTn id="158" dur="2000"/>
                                        <p:tgtEl>
                                          <p:spTgt spid="10">
                                            <p:graphicEl>
                                              <a:dgm id="{DD1081F8-6A3F-4AC1-93D6-B47C89601B64}"/>
                                            </p:graphicEl>
                                          </p:spTgt>
                                        </p:tgtEl>
                                      </p:cBhvr>
                                    </p:animEffect>
                                  </p:childTnLst>
                                </p:cTn>
                              </p:par>
                            </p:childTnLst>
                          </p:cTn>
                        </p:par>
                      </p:childTnLst>
                    </p:cTn>
                  </p:par>
                  <p:par>
                    <p:cTn id="159" fill="hold">
                      <p:stCondLst>
                        <p:cond delay="indefinite"/>
                      </p:stCondLst>
                      <p:childTnLst>
                        <p:par>
                          <p:cTn id="160" fill="hold">
                            <p:stCondLst>
                              <p:cond delay="0"/>
                            </p:stCondLst>
                            <p:childTnLst>
                              <p:par>
                                <p:cTn id="161" presetID="21" presetClass="entr" presetSubtype="1" fill="hold" grpId="0" nodeType="clickEffect">
                                  <p:stCondLst>
                                    <p:cond delay="0"/>
                                  </p:stCondLst>
                                  <p:childTnLst>
                                    <p:set>
                                      <p:cBhvr>
                                        <p:cTn id="162" dur="1" fill="hold">
                                          <p:stCondLst>
                                            <p:cond delay="0"/>
                                          </p:stCondLst>
                                        </p:cTn>
                                        <p:tgtEl>
                                          <p:spTgt spid="10">
                                            <p:graphicEl>
                                              <a:dgm id="{E7DFD675-F9C9-4DA7-B10A-EC5B8AEA2DF9}"/>
                                            </p:graphicEl>
                                          </p:spTgt>
                                        </p:tgtEl>
                                        <p:attrNameLst>
                                          <p:attrName>style.visibility</p:attrName>
                                        </p:attrNameLst>
                                      </p:cBhvr>
                                      <p:to>
                                        <p:strVal val="visible"/>
                                      </p:to>
                                    </p:set>
                                    <p:animEffect transition="in" filter="wheel(1)">
                                      <p:cBhvr>
                                        <p:cTn id="163" dur="2000"/>
                                        <p:tgtEl>
                                          <p:spTgt spid="10">
                                            <p:graphicEl>
                                              <a:dgm id="{E7DFD675-F9C9-4DA7-B10A-EC5B8AEA2DF9}"/>
                                            </p:graphicEl>
                                          </p:spTgt>
                                        </p:tgtEl>
                                      </p:cBhvr>
                                    </p:animEffect>
                                  </p:childTnLst>
                                </p:cTn>
                              </p:par>
                              <p:par>
                                <p:cTn id="164" presetID="21" presetClass="entr" presetSubtype="1" fill="hold" grpId="0" nodeType="withEffect">
                                  <p:stCondLst>
                                    <p:cond delay="0"/>
                                  </p:stCondLst>
                                  <p:childTnLst>
                                    <p:set>
                                      <p:cBhvr>
                                        <p:cTn id="165" dur="1" fill="hold">
                                          <p:stCondLst>
                                            <p:cond delay="0"/>
                                          </p:stCondLst>
                                        </p:cTn>
                                        <p:tgtEl>
                                          <p:spTgt spid="10">
                                            <p:graphicEl>
                                              <a:dgm id="{A3E8344D-EA98-4705-97A8-6AF58DBF8E3B}"/>
                                            </p:graphicEl>
                                          </p:spTgt>
                                        </p:tgtEl>
                                        <p:attrNameLst>
                                          <p:attrName>style.visibility</p:attrName>
                                        </p:attrNameLst>
                                      </p:cBhvr>
                                      <p:to>
                                        <p:strVal val="visible"/>
                                      </p:to>
                                    </p:set>
                                    <p:animEffect transition="in" filter="wheel(1)">
                                      <p:cBhvr>
                                        <p:cTn id="166" dur="2000"/>
                                        <p:tgtEl>
                                          <p:spTgt spid="10">
                                            <p:graphicEl>
                                              <a:dgm id="{A3E8344D-EA98-4705-97A8-6AF58DBF8E3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P spid="3" grpId="0" animBg="1"/>
      <p:bldGraphic spid="10" grpId="0">
        <p:bldSub>
          <a:bldDgm bld="lvlOne"/>
        </p:bldSub>
      </p:bldGraphic>
      <p:bldGraphic spid="11" grpId="0">
        <p:bldSub>
          <a:bldDgm bld="one"/>
        </p:bldSub>
      </p:bldGraphic>
      <p:bldGraphic spid="12" grpId="0">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Text Box 5"/>
          <p:cNvSpPr txBox="1">
            <a:spLocks noChangeArrowheads="1"/>
          </p:cNvSpPr>
          <p:nvPr/>
        </p:nvSpPr>
        <p:spPr bwMode="auto">
          <a:xfrm>
            <a:off x="3226341" y="1097064"/>
            <a:ext cx="4845050" cy="584775"/>
          </a:xfrm>
          <a:prstGeom prst="rect">
            <a:avLst/>
          </a:prstGeom>
          <a:noFill/>
          <a:ln w="9525">
            <a:noFill/>
            <a:miter lim="800000"/>
            <a:headEnd/>
            <a:tailEnd/>
          </a:ln>
        </p:spPr>
        <p:txBody>
          <a:bodyPr>
            <a:spAutoFit/>
          </a:bodyPr>
          <a:lstStyle/>
          <a:p>
            <a:pPr defTabSz="914400">
              <a:spcBef>
                <a:spcPct val="50000"/>
              </a:spcBef>
            </a:pPr>
            <a:r>
              <a:rPr lang="en-US" altLang="zh-CN" sz="3200" b="1" dirty="0">
                <a:solidFill>
                  <a:srgbClr val="0000CC"/>
                </a:solidFill>
                <a:latin typeface="Times New Roman" pitchFamily="18" charset="0"/>
                <a:ea typeface="黑体" pitchFamily="2" charset="-122"/>
                <a:cs typeface="Times New Roman" pitchFamily="18" charset="0"/>
              </a:rPr>
              <a:t>1. </a:t>
            </a:r>
            <a:r>
              <a:rPr lang="zh-CN" altLang="en-US" sz="3200" b="1" dirty="0">
                <a:solidFill>
                  <a:srgbClr val="0000CC"/>
                </a:solidFill>
                <a:latin typeface="微软雅黑" pitchFamily="34" charset="-122"/>
                <a:ea typeface="微软雅黑" pitchFamily="34" charset="-122"/>
                <a:cs typeface="Times New Roman" pitchFamily="18" charset="0"/>
              </a:rPr>
              <a:t>灵敏度</a:t>
            </a:r>
            <a:r>
              <a:rPr lang="en-US" altLang="zh-CN" sz="3200" b="1" dirty="0">
                <a:solidFill>
                  <a:srgbClr val="0000CC"/>
                </a:solidFill>
                <a:latin typeface="微软雅黑" pitchFamily="34" charset="-122"/>
                <a:ea typeface="微软雅黑" pitchFamily="34" charset="-122"/>
                <a:cs typeface="Times New Roman" pitchFamily="18" charset="0"/>
              </a:rPr>
              <a:t>(</a:t>
            </a:r>
            <a:r>
              <a:rPr lang="zh-CN" altLang="en-US" sz="3200" b="1" dirty="0">
                <a:solidFill>
                  <a:srgbClr val="0000CC"/>
                </a:solidFill>
                <a:latin typeface="微软雅黑" pitchFamily="34" charset="-122"/>
                <a:ea typeface="微软雅黑" pitchFamily="34" charset="-122"/>
                <a:cs typeface="Times New Roman" pitchFamily="18" charset="0"/>
              </a:rPr>
              <a:t>也称响应度</a:t>
            </a:r>
            <a:r>
              <a:rPr lang="en-US" altLang="zh-CN" sz="3200" b="1" dirty="0">
                <a:solidFill>
                  <a:srgbClr val="0000CC"/>
                </a:solidFill>
                <a:latin typeface="微软雅黑" pitchFamily="34" charset="-122"/>
                <a:ea typeface="微软雅黑" pitchFamily="34" charset="-122"/>
                <a:cs typeface="Times New Roman" pitchFamily="18" charset="0"/>
              </a:rPr>
              <a:t>)</a:t>
            </a:r>
          </a:p>
        </p:txBody>
      </p:sp>
      <p:sp>
        <p:nvSpPr>
          <p:cNvPr id="9222" name="Text Box 7"/>
          <p:cNvSpPr txBox="1">
            <a:spLocks noChangeArrowheads="1"/>
          </p:cNvSpPr>
          <p:nvPr/>
        </p:nvSpPr>
        <p:spPr bwMode="auto">
          <a:xfrm>
            <a:off x="973508" y="1986378"/>
            <a:ext cx="11081406" cy="738664"/>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Times New Roman" pitchFamily="18" charset="0"/>
                <a:ea typeface="微软雅黑" pitchFamily="34" charset="-122"/>
                <a:cs typeface="Times New Roman" pitchFamily="18" charset="0"/>
              </a:rPr>
              <a:t>探测器输出信号电压</a:t>
            </a:r>
            <a:r>
              <a:rPr kumimoji="1" lang="en-US" altLang="zh-CN" sz="2800" b="1" i="1" dirty="0">
                <a:latin typeface="Times New Roman" pitchFamily="18" charset="0"/>
                <a:ea typeface="微软雅黑" pitchFamily="34" charset="-122"/>
                <a:cs typeface="Times New Roman" pitchFamily="18" charset="0"/>
              </a:rPr>
              <a:t>v</a:t>
            </a:r>
            <a:r>
              <a:rPr kumimoji="1" lang="en-US" altLang="zh-CN" sz="2800" b="1" baseline="-25000" dirty="0">
                <a:latin typeface="Times New Roman" pitchFamily="18" charset="0"/>
                <a:ea typeface="微软雅黑" pitchFamily="34" charset="-122"/>
                <a:cs typeface="Times New Roman" pitchFamily="18" charset="0"/>
              </a:rPr>
              <a:t>s</a:t>
            </a:r>
            <a:r>
              <a:rPr kumimoji="1" lang="zh-CN" altLang="en-US" sz="2800" b="1" dirty="0">
                <a:latin typeface="Times New Roman" pitchFamily="18" charset="0"/>
                <a:ea typeface="微软雅黑" pitchFamily="34" charset="-122"/>
                <a:cs typeface="Times New Roman" pitchFamily="18" charset="0"/>
              </a:rPr>
              <a:t>或信号电流</a:t>
            </a:r>
            <a:r>
              <a:rPr kumimoji="1" lang="en-US" altLang="zh-CN" sz="2800" b="1" i="1" dirty="0">
                <a:latin typeface="Times New Roman" pitchFamily="18" charset="0"/>
                <a:ea typeface="微软雅黑" pitchFamily="34" charset="-122"/>
                <a:cs typeface="Times New Roman" pitchFamily="18" charset="0"/>
              </a:rPr>
              <a:t>i</a:t>
            </a:r>
            <a:r>
              <a:rPr kumimoji="1" lang="en-US" altLang="zh-CN" sz="2800" b="1" baseline="-25000" dirty="0">
                <a:latin typeface="Times New Roman" pitchFamily="18" charset="0"/>
                <a:ea typeface="微软雅黑" pitchFamily="34" charset="-122"/>
                <a:cs typeface="Times New Roman" pitchFamily="18" charset="0"/>
              </a:rPr>
              <a:t>s</a:t>
            </a:r>
            <a:r>
              <a:rPr kumimoji="1" lang="zh-CN" altLang="en-US" sz="2800" b="1" dirty="0">
                <a:latin typeface="Times New Roman" pitchFamily="18" charset="0"/>
                <a:ea typeface="微软雅黑" pitchFamily="34" charset="-122"/>
                <a:cs typeface="Times New Roman" pitchFamily="18" charset="0"/>
              </a:rPr>
              <a:t>与入射的</a:t>
            </a:r>
            <a:r>
              <a:rPr kumimoji="1" lang="zh-CN" altLang="en-US" sz="2800" b="1" dirty="0">
                <a:solidFill>
                  <a:srgbClr val="FF0000"/>
                </a:solidFill>
                <a:latin typeface="Times New Roman" pitchFamily="18" charset="0"/>
                <a:ea typeface="微软雅黑" pitchFamily="34" charset="-122"/>
                <a:cs typeface="Times New Roman" pitchFamily="18" charset="0"/>
              </a:rPr>
              <a:t>辐通量</a:t>
            </a:r>
            <a:r>
              <a:rPr kumimoji="1" lang="zh-CN" altLang="en-US" sz="2800" b="1" dirty="0">
                <a:latin typeface="Times New Roman" pitchFamily="18" charset="0"/>
                <a:ea typeface="微软雅黑" pitchFamily="34" charset="-122"/>
                <a:cs typeface="Times New Roman" pitchFamily="18" charset="0"/>
                <a:sym typeface="Symbol" pitchFamily="18" charset="2"/>
              </a:rPr>
              <a:t></a:t>
            </a:r>
            <a:r>
              <a:rPr kumimoji="1" lang="en-US" altLang="zh-CN" sz="2800" b="1" baseline="-25000" dirty="0">
                <a:latin typeface="Times New Roman" pitchFamily="18" charset="0"/>
                <a:ea typeface="微软雅黑" pitchFamily="34" charset="-122"/>
                <a:cs typeface="Times New Roman" pitchFamily="18" charset="0"/>
                <a:sym typeface="Symbol" pitchFamily="18" charset="2"/>
              </a:rPr>
              <a:t>e</a:t>
            </a:r>
            <a:r>
              <a:rPr kumimoji="1" lang="zh-CN" altLang="en-US" sz="2800" b="1" dirty="0">
                <a:latin typeface="Times New Roman" pitchFamily="18" charset="0"/>
                <a:ea typeface="微软雅黑" pitchFamily="34" charset="-122"/>
                <a:cs typeface="Times New Roman" pitchFamily="18" charset="0"/>
              </a:rPr>
              <a:t>之比</a:t>
            </a:r>
          </a:p>
        </p:txBody>
      </p:sp>
      <p:graphicFrame>
        <p:nvGraphicFramePr>
          <p:cNvPr id="9219" name="Object 3"/>
          <p:cNvGraphicFramePr>
            <a:graphicFrameLocks noChangeAspect="1"/>
          </p:cNvGraphicFramePr>
          <p:nvPr>
            <p:extLst>
              <p:ext uri="{D42A27DB-BD31-4B8C-83A1-F6EECF244321}">
                <p14:modId xmlns:p14="http://schemas.microsoft.com/office/powerpoint/2010/main" val="1702036030"/>
              </p:ext>
            </p:extLst>
          </p:nvPr>
        </p:nvGraphicFramePr>
        <p:xfrm>
          <a:off x="6833020" y="2828184"/>
          <a:ext cx="1341438" cy="1084262"/>
        </p:xfrm>
        <a:graphic>
          <a:graphicData uri="http://schemas.openxmlformats.org/presentationml/2006/ole">
            <mc:AlternateContent xmlns:mc="http://schemas.openxmlformats.org/markup-compatibility/2006">
              <mc:Choice xmlns:v="urn:schemas-microsoft-com:vml" Requires="v">
                <p:oleObj spid="_x0000_s34024" name="Equation" r:id="rId3" imgW="533160" imgH="431640" progId="Equation.DSMT4">
                  <p:embed/>
                </p:oleObj>
              </mc:Choice>
              <mc:Fallback>
                <p:oleObj name="Equation" r:id="rId3" imgW="533160" imgH="431640" progId="Equation.DSMT4">
                  <p:embed/>
                  <p:pic>
                    <p:nvPicPr>
                      <p:cNvPr id="0" name="Object 3"/>
                      <p:cNvPicPr>
                        <a:picLocks noChangeAspect="1" noChangeArrowheads="1"/>
                      </p:cNvPicPr>
                      <p:nvPr/>
                    </p:nvPicPr>
                    <p:blipFill>
                      <a:blip r:embed="rId4"/>
                      <a:srcRect/>
                      <a:stretch>
                        <a:fillRect/>
                      </a:stretch>
                    </p:blipFill>
                    <p:spPr bwMode="auto">
                      <a:xfrm>
                        <a:off x="6833020" y="2828184"/>
                        <a:ext cx="1341438" cy="1084262"/>
                      </a:xfrm>
                      <a:prstGeom prst="rect">
                        <a:avLst/>
                      </a:prstGeom>
                      <a:solidFill>
                        <a:srgbClr val="FFFF00"/>
                      </a:solidFill>
                    </p:spPr>
                  </p:pic>
                </p:oleObj>
              </mc:Fallback>
            </mc:AlternateContent>
          </a:graphicData>
        </a:graphic>
      </p:graphicFrame>
      <p:sp>
        <p:nvSpPr>
          <p:cNvPr id="8" name="Text Box 5"/>
          <p:cNvSpPr txBox="1">
            <a:spLocks noChangeArrowheads="1"/>
          </p:cNvSpPr>
          <p:nvPr/>
        </p:nvSpPr>
        <p:spPr bwMode="auto">
          <a:xfrm>
            <a:off x="7399888" y="1094425"/>
            <a:ext cx="4489450" cy="579438"/>
          </a:xfrm>
          <a:prstGeom prst="rect">
            <a:avLst/>
          </a:prstGeom>
          <a:noFill/>
          <a:ln w="9525">
            <a:noFill/>
            <a:miter lim="800000"/>
            <a:headEnd/>
            <a:tailEnd/>
          </a:ln>
        </p:spPr>
        <p:txBody>
          <a:bodyPr>
            <a:spAutoFit/>
          </a:bodyPr>
          <a:lstStyle/>
          <a:p>
            <a:pPr defTabSz="914400">
              <a:spcBef>
                <a:spcPct val="50000"/>
              </a:spcBef>
            </a:pPr>
            <a:r>
              <a:rPr lang="en-US" altLang="zh-CN" sz="3200" b="1" dirty="0">
                <a:solidFill>
                  <a:srgbClr val="0000CC"/>
                </a:solidFill>
                <a:latin typeface="Times New Roman" pitchFamily="18" charset="0"/>
                <a:ea typeface="黑体" pitchFamily="2" charset="-122"/>
                <a:cs typeface="Times New Roman" pitchFamily="18" charset="0"/>
              </a:rPr>
              <a:t>Sensitivity, </a:t>
            </a:r>
            <a:r>
              <a:rPr lang="en-US" altLang="zh-CN" sz="3200" b="1" dirty="0" err="1">
                <a:solidFill>
                  <a:srgbClr val="0000CC"/>
                </a:solidFill>
                <a:latin typeface="Times New Roman" pitchFamily="18" charset="0"/>
                <a:ea typeface="黑体" pitchFamily="2" charset="-122"/>
                <a:cs typeface="Times New Roman" pitchFamily="18" charset="0"/>
              </a:rPr>
              <a:t>Responsivity</a:t>
            </a:r>
            <a:endParaRPr lang="en-US" altLang="zh-CN" sz="3200" b="1" dirty="0">
              <a:solidFill>
                <a:srgbClr val="0000CC"/>
              </a:solidFill>
              <a:latin typeface="Times New Roman" pitchFamily="18" charset="0"/>
              <a:ea typeface="黑体" pitchFamily="2" charset="-122"/>
              <a:cs typeface="Times New Roman" pitchFamily="18" charset="0"/>
            </a:endParaRPr>
          </a:p>
        </p:txBody>
      </p:sp>
      <p:sp>
        <p:nvSpPr>
          <p:cNvPr id="14" name="Text Box 11"/>
          <p:cNvSpPr txBox="1">
            <a:spLocks noChangeArrowheads="1"/>
          </p:cNvSpPr>
          <p:nvPr/>
        </p:nvSpPr>
        <p:spPr bwMode="auto">
          <a:xfrm>
            <a:off x="892884" y="4874257"/>
            <a:ext cx="12156141"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en-US" altLang="zh-CN" sz="2800" b="1" dirty="0">
                <a:latin typeface="Times New Roman" pitchFamily="18" charset="0"/>
                <a:ea typeface="微软雅黑" pitchFamily="34"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若入射到探测器上的是光通量或光照度，则电压灵敏度和电流灵敏度的单位分别为</a:t>
            </a:r>
            <a:r>
              <a:rPr kumimoji="1" lang="en-US" altLang="zh-CN" sz="2800" b="1" dirty="0">
                <a:latin typeface="Times New Roman" pitchFamily="18" charset="0"/>
                <a:ea typeface="微软雅黑" pitchFamily="34" charset="-122"/>
                <a:cs typeface="Times New Roman" pitchFamily="18" charset="0"/>
              </a:rPr>
              <a:t>V/lm, A/lm</a:t>
            </a:r>
            <a:r>
              <a:rPr kumimoji="1" lang="zh-CN" altLang="en-US" sz="2800" b="1" dirty="0">
                <a:latin typeface="Times New Roman" pitchFamily="18" charset="0"/>
                <a:ea typeface="微软雅黑" pitchFamily="34" charset="-122"/>
                <a:cs typeface="Times New Roman" pitchFamily="18" charset="0"/>
              </a:rPr>
              <a:t>或者</a:t>
            </a:r>
            <a:r>
              <a:rPr kumimoji="1" lang="en-US" altLang="zh-CN" sz="2800" b="1" dirty="0">
                <a:latin typeface="Times New Roman" pitchFamily="18" charset="0"/>
                <a:ea typeface="微软雅黑" pitchFamily="34" charset="-122"/>
                <a:cs typeface="Times New Roman" pitchFamily="18" charset="0"/>
              </a:rPr>
              <a:t>V/lx, A/lx </a:t>
            </a:r>
            <a:r>
              <a:rPr kumimoji="1" lang="zh-CN" altLang="en-US" sz="2800" b="1" dirty="0">
                <a:latin typeface="Times New Roman" pitchFamily="18" charset="0"/>
                <a:ea typeface="微软雅黑" pitchFamily="34" charset="-122"/>
                <a:cs typeface="Times New Roman" pitchFamily="18" charset="0"/>
              </a:rPr>
              <a:t>。</a:t>
            </a:r>
            <a:endParaRPr kumimoji="1" lang="en-US" altLang="zh-CN" sz="2800" b="1" baseline="-25000" dirty="0">
              <a:latin typeface="Times New Roman" pitchFamily="18" charset="0"/>
              <a:ea typeface="微软雅黑" pitchFamily="34" charset="-122"/>
              <a:cs typeface="Times New Roman" pitchFamily="18" charset="0"/>
            </a:endParaRPr>
          </a:p>
        </p:txBody>
      </p:sp>
      <p:sp>
        <p:nvSpPr>
          <p:cNvPr id="15" name="Text Box 11"/>
          <p:cNvSpPr txBox="1">
            <a:spLocks noChangeArrowheads="1"/>
          </p:cNvSpPr>
          <p:nvPr/>
        </p:nvSpPr>
        <p:spPr bwMode="auto">
          <a:xfrm>
            <a:off x="912308" y="4070186"/>
            <a:ext cx="5920712" cy="646331"/>
          </a:xfrm>
          <a:prstGeom prst="rect">
            <a:avLst/>
          </a:prstGeom>
          <a:noFill/>
          <a:ln w="9525">
            <a:noFill/>
            <a:miter lim="800000"/>
            <a:headEnd/>
            <a:tailEnd/>
          </a:ln>
        </p:spPr>
        <p:txBody>
          <a:bodyPr wrap="square" lIns="0" tIns="0" rIns="0" bIns="0">
            <a:spAutoFit/>
          </a:bodyPr>
          <a:lstStyle/>
          <a:p>
            <a:pPr defTabSz="914400">
              <a:lnSpc>
                <a:spcPct val="150000"/>
              </a:lnSpc>
              <a:spcBef>
                <a:spcPts val="0"/>
              </a:spcBef>
            </a:pPr>
            <a:r>
              <a:rPr kumimoji="1" lang="en-US" altLang="zh-CN" sz="2800" b="1" i="1" dirty="0" err="1">
                <a:solidFill>
                  <a:srgbClr val="FF0000"/>
                </a:solidFill>
                <a:latin typeface="Times New Roman" pitchFamily="18" charset="0"/>
                <a:ea typeface="微软雅黑" pitchFamily="34" charset="-122"/>
                <a:cs typeface="Times New Roman" pitchFamily="18" charset="0"/>
              </a:rPr>
              <a:t>S</a:t>
            </a:r>
            <a:r>
              <a:rPr kumimoji="1" lang="en-US" altLang="zh-CN" sz="2800" b="1" i="1" baseline="-25000" dirty="0" err="1">
                <a:solidFill>
                  <a:srgbClr val="FF0000"/>
                </a:solidFill>
                <a:latin typeface="Times New Roman" pitchFamily="18" charset="0"/>
                <a:ea typeface="微软雅黑" pitchFamily="34" charset="-122"/>
                <a:cs typeface="Times New Roman" pitchFamily="18" charset="0"/>
              </a:rPr>
              <a:t>v</a:t>
            </a:r>
            <a:r>
              <a:rPr kumimoji="1" lang="zh-CN" altLang="en-US" sz="2800" b="1" dirty="0">
                <a:latin typeface="Times New Roman" pitchFamily="18" charset="0"/>
                <a:ea typeface="微软雅黑" pitchFamily="34" charset="-122"/>
                <a:cs typeface="Times New Roman" pitchFamily="18" charset="0"/>
              </a:rPr>
              <a:t>单位是</a:t>
            </a:r>
            <a:r>
              <a:rPr kumimoji="1" lang="en-US" altLang="zh-CN" sz="2800" b="1" dirty="0">
                <a:latin typeface="Times New Roman" pitchFamily="18" charset="0"/>
                <a:ea typeface="微软雅黑" pitchFamily="34" charset="-122"/>
                <a:cs typeface="Times New Roman" pitchFamily="18" charset="0"/>
              </a:rPr>
              <a:t>V/W</a:t>
            </a:r>
            <a:r>
              <a:rPr kumimoji="1" lang="zh-CN" altLang="en-US" sz="2800" b="1" dirty="0">
                <a:latin typeface="Times New Roman" pitchFamily="18" charset="0"/>
                <a:ea typeface="微软雅黑" pitchFamily="34" charset="-122"/>
                <a:cs typeface="Times New Roman" pitchFamily="18" charset="0"/>
              </a:rPr>
              <a:t>，</a:t>
            </a:r>
            <a:r>
              <a:rPr kumimoji="1" lang="en-US" altLang="zh-CN" sz="2800" b="1" i="1" dirty="0">
                <a:solidFill>
                  <a:srgbClr val="FF0000"/>
                </a:solidFill>
                <a:latin typeface="Times New Roman" pitchFamily="18" charset="0"/>
                <a:ea typeface="微软雅黑" pitchFamily="34" charset="-122"/>
                <a:cs typeface="Times New Roman" pitchFamily="18" charset="0"/>
              </a:rPr>
              <a:t>S</a:t>
            </a:r>
            <a:r>
              <a:rPr kumimoji="1" lang="en-US" altLang="zh-CN" sz="2800" b="1" baseline="-25000" dirty="0">
                <a:solidFill>
                  <a:srgbClr val="FF0000"/>
                </a:solidFill>
                <a:latin typeface="Times New Roman" pitchFamily="18" charset="0"/>
                <a:ea typeface="微软雅黑" pitchFamily="34" charset="-122"/>
                <a:cs typeface="Times New Roman" pitchFamily="18" charset="0"/>
              </a:rPr>
              <a:t>i </a:t>
            </a:r>
            <a:r>
              <a:rPr kumimoji="1" lang="zh-CN" altLang="en-US" sz="2800" b="1" dirty="0">
                <a:latin typeface="Times New Roman" pitchFamily="18" charset="0"/>
                <a:ea typeface="微软雅黑" pitchFamily="34" charset="-122"/>
                <a:cs typeface="Times New Roman" pitchFamily="18" charset="0"/>
              </a:rPr>
              <a:t>的单位为</a:t>
            </a:r>
            <a:r>
              <a:rPr kumimoji="1" lang="en-US" altLang="zh-CN" sz="2800" b="1" dirty="0">
                <a:latin typeface="Times New Roman" pitchFamily="18" charset="0"/>
                <a:ea typeface="微软雅黑" pitchFamily="34" charset="-122"/>
                <a:cs typeface="Times New Roman" pitchFamily="18" charset="0"/>
              </a:rPr>
              <a:t>A/W</a:t>
            </a:r>
            <a:r>
              <a:rPr kumimoji="1" lang="zh-CN" altLang="en-US" sz="2800" b="1" dirty="0">
                <a:latin typeface="Times New Roman" pitchFamily="18" charset="0"/>
                <a:ea typeface="微软雅黑" pitchFamily="34" charset="-122"/>
                <a:cs typeface="Times New Roman" pitchFamily="18" charset="0"/>
              </a:rPr>
              <a:t>。</a:t>
            </a:r>
            <a:endParaRPr kumimoji="1" lang="en-US" altLang="zh-CN" sz="2800" b="1" dirty="0">
              <a:latin typeface="Times New Roman" pitchFamily="18" charset="0"/>
              <a:ea typeface="微软雅黑" pitchFamily="34" charset="-122"/>
              <a:cs typeface="Times New Roman" pitchFamily="18" charset="0"/>
            </a:endParaRPr>
          </a:p>
        </p:txBody>
      </p:sp>
      <p:graphicFrame>
        <p:nvGraphicFramePr>
          <p:cNvPr id="17" name="Object 3"/>
          <p:cNvGraphicFramePr>
            <a:graphicFrameLocks noChangeAspect="1"/>
          </p:cNvGraphicFramePr>
          <p:nvPr>
            <p:extLst>
              <p:ext uri="{D42A27DB-BD31-4B8C-83A1-F6EECF244321}">
                <p14:modId xmlns:p14="http://schemas.microsoft.com/office/powerpoint/2010/main" val="2094787627"/>
              </p:ext>
            </p:extLst>
          </p:nvPr>
        </p:nvGraphicFramePr>
        <p:xfrm>
          <a:off x="3954463" y="2901950"/>
          <a:ext cx="1371600" cy="1084263"/>
        </p:xfrm>
        <a:graphic>
          <a:graphicData uri="http://schemas.openxmlformats.org/presentationml/2006/ole">
            <mc:AlternateContent xmlns:mc="http://schemas.openxmlformats.org/markup-compatibility/2006">
              <mc:Choice xmlns:v="urn:schemas-microsoft-com:vml" Requires="v">
                <p:oleObj spid="_x0000_s34025" name="Equation" r:id="rId5" imgW="545760" imgH="431640" progId="Equation.DSMT4">
                  <p:embed/>
                </p:oleObj>
              </mc:Choice>
              <mc:Fallback>
                <p:oleObj name="Equation" r:id="rId5" imgW="545760" imgH="431640" progId="Equation.DSMT4">
                  <p:embed/>
                  <p:pic>
                    <p:nvPicPr>
                      <p:cNvPr id="0" name=""/>
                      <p:cNvPicPr>
                        <a:picLocks noChangeAspect="1" noChangeArrowheads="1"/>
                      </p:cNvPicPr>
                      <p:nvPr/>
                    </p:nvPicPr>
                    <p:blipFill>
                      <a:blip r:embed="rId6"/>
                      <a:srcRect/>
                      <a:stretch>
                        <a:fillRect/>
                      </a:stretch>
                    </p:blipFill>
                    <p:spPr bwMode="auto">
                      <a:xfrm>
                        <a:off x="3954463" y="2901950"/>
                        <a:ext cx="1371600" cy="1084263"/>
                      </a:xfrm>
                      <a:prstGeom prst="rect">
                        <a:avLst/>
                      </a:prstGeom>
                      <a:solidFill>
                        <a:srgbClr val="FFFF00"/>
                      </a:solidFill>
                    </p:spPr>
                  </p:pic>
                </p:oleObj>
              </mc:Fallback>
            </mc:AlternateContent>
          </a:graphicData>
        </a:graphic>
      </p:graphicFrame>
      <p:sp>
        <p:nvSpPr>
          <p:cNvPr id="18" name="Text Box 11"/>
          <p:cNvSpPr txBox="1">
            <a:spLocks noChangeArrowheads="1"/>
          </p:cNvSpPr>
          <p:nvPr/>
        </p:nvSpPr>
        <p:spPr bwMode="auto">
          <a:xfrm>
            <a:off x="1485699" y="6214202"/>
            <a:ext cx="9273092" cy="646331"/>
          </a:xfrm>
          <a:prstGeom prst="rect">
            <a:avLst/>
          </a:prstGeom>
          <a:noFill/>
          <a:ln w="9525">
            <a:noFill/>
            <a:miter lim="800000"/>
            <a:headEnd/>
            <a:tailEnd/>
          </a:ln>
        </p:spPr>
        <p:txBody>
          <a:bodyPr wrap="square" lIns="0" tIns="0" rIns="0" bIns="0">
            <a:spAutoFit/>
          </a:bodyPr>
          <a:lstStyle/>
          <a:p>
            <a:pPr defTabSz="914400">
              <a:lnSpc>
                <a:spcPct val="150000"/>
              </a:lnSpc>
              <a:spcBef>
                <a:spcPts val="0"/>
              </a:spcBef>
            </a:pPr>
            <a:r>
              <a:rPr kumimoji="1" lang="zh-CN" altLang="en-US" sz="2800" b="1" dirty="0">
                <a:solidFill>
                  <a:srgbClr val="FF0000"/>
                </a:solidFill>
                <a:latin typeface="Times New Roman" pitchFamily="18" charset="0"/>
                <a:ea typeface="微软雅黑" pitchFamily="34" charset="-122"/>
                <a:cs typeface="Times New Roman" pitchFamily="18" charset="0"/>
              </a:rPr>
              <a:t>注意：测量灵敏度时通常用色温为</a:t>
            </a:r>
            <a:r>
              <a:rPr kumimoji="1" lang="en-US" altLang="zh-CN" sz="2800" b="1" dirty="0">
                <a:solidFill>
                  <a:srgbClr val="FF0000"/>
                </a:solidFill>
                <a:latin typeface="Times New Roman" pitchFamily="18" charset="0"/>
                <a:ea typeface="微软雅黑" pitchFamily="34" charset="-122"/>
                <a:cs typeface="Times New Roman" pitchFamily="18" charset="0"/>
              </a:rPr>
              <a:t>2856K</a:t>
            </a:r>
            <a:r>
              <a:rPr kumimoji="1" lang="zh-CN" altLang="en-US" sz="2800" b="1" dirty="0">
                <a:solidFill>
                  <a:srgbClr val="FF0000"/>
                </a:solidFill>
                <a:latin typeface="Times New Roman" pitchFamily="18" charset="0"/>
                <a:ea typeface="微软雅黑" pitchFamily="34" charset="-122"/>
                <a:cs typeface="Times New Roman" pitchFamily="18" charset="0"/>
              </a:rPr>
              <a:t>的标准照明体。</a:t>
            </a:r>
            <a:endParaRPr kumimoji="1" lang="en-US" altLang="zh-CN" sz="2800" b="1" dirty="0">
              <a:latin typeface="Times New Roman" pitchFamily="18" charset="0"/>
              <a:ea typeface="微软雅黑" pitchFamily="34" charset="-122"/>
              <a:cs typeface="Times New Roman" pitchFamily="18" charset="0"/>
            </a:endParaRPr>
          </a:p>
        </p:txBody>
      </p:sp>
      <p:sp>
        <p:nvSpPr>
          <p:cNvPr id="16" name="文本框 60">
            <a:extLst>
              <a:ext uri="{FF2B5EF4-FFF2-40B4-BE49-F238E27FC236}">
                <a16:creationId xmlns:a16="http://schemas.microsoft.com/office/drawing/2014/main" id="{3A51110B-9679-4445-9692-459DC6481A1E}"/>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9" name="矩形 18">
            <a:extLst>
              <a:ext uri="{FF2B5EF4-FFF2-40B4-BE49-F238E27FC236}">
                <a16:creationId xmlns:a16="http://schemas.microsoft.com/office/drawing/2014/main" id="{48FF35BC-602C-4163-8997-6250A40B8A8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914C0C01-1889-4D88-879B-33442220A90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646A2257-1B5F-438F-A8C7-8B0E913BBEE7}"/>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3D11DF35-1FF0-4E7B-9BFE-AF8CA447B34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0018CC25-6F61-4220-939C-58FD1BFEA0BF}"/>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5CB08EF9-FD72-4877-B6A0-CFF0CD52E43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box(in)">
                                      <p:cBhvr>
                                        <p:cTn id="7" dur="500"/>
                                        <p:tgtEl>
                                          <p:spTgt spid="92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ox(in)">
                                      <p:cBhvr>
                                        <p:cTn id="17" dur="500"/>
                                        <p:tgtEl>
                                          <p:spTgt spid="92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ox(i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219"/>
                                        </p:tgtEl>
                                        <p:attrNameLst>
                                          <p:attrName>style.visibility</p:attrName>
                                        </p:attrNameLst>
                                      </p:cBhvr>
                                      <p:to>
                                        <p:strVal val="visible"/>
                                      </p:to>
                                    </p:set>
                                    <p:animEffect transition="in" filter="box(in)">
                                      <p:cBhvr>
                                        <p:cTn id="27" dur="500"/>
                                        <p:tgtEl>
                                          <p:spTgt spid="921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ox(in)">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ox(i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ox(in)">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2" grpId="0"/>
      <p:bldP spid="8" grpId="0"/>
      <p:bldP spid="14" grpId="0"/>
      <p:bldP spid="15"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4"/>
          <p:cNvSpPr txBox="1">
            <a:spLocks noChangeArrowheads="1"/>
          </p:cNvSpPr>
          <p:nvPr/>
        </p:nvSpPr>
        <p:spPr bwMode="auto">
          <a:xfrm>
            <a:off x="2820988" y="1079037"/>
            <a:ext cx="7264387" cy="523220"/>
          </a:xfrm>
          <a:prstGeom prst="rect">
            <a:avLst/>
          </a:prstGeom>
          <a:noFill/>
          <a:ln w="9525">
            <a:noFill/>
            <a:miter lim="800000"/>
            <a:headEnd/>
            <a:tailEnd/>
          </a:ln>
        </p:spPr>
        <p:txBody>
          <a:bodyPr wrap="square">
            <a:spAutoFit/>
          </a:bodyPr>
          <a:lstStyle/>
          <a:p>
            <a:pPr algn="ctr" defTabSz="914400">
              <a:spcBef>
                <a:spcPct val="50000"/>
              </a:spcBef>
            </a:pPr>
            <a:r>
              <a:rPr kumimoji="1" lang="zh-CN" altLang="en-US" sz="2800" b="1" dirty="0">
                <a:solidFill>
                  <a:srgbClr val="0000FF"/>
                </a:solidFill>
                <a:latin typeface="Times New Roman" pitchFamily="18" charset="0"/>
                <a:ea typeface="微软雅黑" pitchFamily="34" charset="-122"/>
                <a:cs typeface="Times New Roman" pitchFamily="18" charset="0"/>
              </a:rPr>
              <a:t>光谱</a:t>
            </a:r>
            <a:r>
              <a:rPr kumimoji="1" lang="en-US" altLang="zh-CN" sz="2800" b="1" dirty="0">
                <a:solidFill>
                  <a:srgbClr val="0000FF"/>
                </a:solidFill>
                <a:latin typeface="Times New Roman" pitchFamily="18" charset="0"/>
                <a:ea typeface="微软雅黑" pitchFamily="34" charset="-122"/>
                <a:cs typeface="Times New Roman" pitchFamily="18" charset="0"/>
              </a:rPr>
              <a:t>(</a:t>
            </a:r>
            <a:r>
              <a:rPr kumimoji="1" lang="zh-CN" altLang="en-US" sz="2800" b="1" dirty="0">
                <a:solidFill>
                  <a:srgbClr val="0000FF"/>
                </a:solidFill>
                <a:latin typeface="Times New Roman" pitchFamily="18" charset="0"/>
                <a:ea typeface="微软雅黑" pitchFamily="34" charset="-122"/>
                <a:cs typeface="Times New Roman" pitchFamily="18" charset="0"/>
              </a:rPr>
              <a:t>单色</a:t>
            </a:r>
            <a:r>
              <a:rPr kumimoji="1" lang="en-US" altLang="zh-CN" sz="2800" b="1" dirty="0">
                <a:solidFill>
                  <a:srgbClr val="0000FF"/>
                </a:solidFill>
                <a:latin typeface="Times New Roman" pitchFamily="18" charset="0"/>
                <a:ea typeface="微软雅黑" pitchFamily="34" charset="-122"/>
                <a:cs typeface="Times New Roman" pitchFamily="18" charset="0"/>
              </a:rPr>
              <a:t>)</a:t>
            </a:r>
            <a:r>
              <a:rPr kumimoji="1" lang="zh-CN" altLang="en-US" sz="2800" b="1" dirty="0">
                <a:solidFill>
                  <a:srgbClr val="0000FF"/>
                </a:solidFill>
                <a:latin typeface="Times New Roman" pitchFamily="18" charset="0"/>
                <a:ea typeface="微软雅黑" pitchFamily="34" charset="-122"/>
                <a:cs typeface="Times New Roman" pitchFamily="18" charset="0"/>
              </a:rPr>
              <a:t>灵敏度</a:t>
            </a:r>
            <a:r>
              <a:rPr kumimoji="1" lang="en-US" altLang="zh-CN" sz="2800" b="1" dirty="0">
                <a:solidFill>
                  <a:srgbClr val="0000FF"/>
                </a:solidFill>
                <a:latin typeface="Times New Roman" pitchFamily="18" charset="0"/>
                <a:ea typeface="微软雅黑" pitchFamily="34" charset="-122"/>
                <a:cs typeface="Times New Roman" pitchFamily="18" charset="0"/>
              </a:rPr>
              <a:t>(</a:t>
            </a:r>
            <a:r>
              <a:rPr lang="en-US" altLang="zh-CN" sz="2800" b="1" dirty="0">
                <a:solidFill>
                  <a:srgbClr val="0000FF"/>
                </a:solidFill>
                <a:latin typeface="Times New Roman" pitchFamily="18" charset="0"/>
                <a:ea typeface="微软雅黑" pitchFamily="34" charset="-122"/>
                <a:cs typeface="Times New Roman" pitchFamily="18" charset="0"/>
              </a:rPr>
              <a:t>Spectral Sensitivity</a:t>
            </a:r>
            <a:r>
              <a:rPr kumimoji="1" lang="en-US" altLang="zh-CN" sz="2800" b="1" dirty="0">
                <a:solidFill>
                  <a:srgbClr val="0000FF"/>
                </a:solidFill>
                <a:latin typeface="Times New Roman" pitchFamily="18" charset="0"/>
                <a:ea typeface="微软雅黑" pitchFamily="34" charset="-122"/>
                <a:cs typeface="Times New Roman" pitchFamily="18" charset="0"/>
              </a:rPr>
              <a:t>)</a:t>
            </a:r>
            <a:endParaRPr kumimoji="1" lang="zh-CN" altLang="en-US" sz="2800" b="1" dirty="0">
              <a:solidFill>
                <a:srgbClr val="0000FF"/>
              </a:solidFill>
              <a:latin typeface="Times New Roman" pitchFamily="18" charset="0"/>
              <a:ea typeface="微软雅黑" pitchFamily="34" charset="-122"/>
              <a:cs typeface="Times New Roman" pitchFamily="18" charset="0"/>
            </a:endParaRPr>
          </a:p>
        </p:txBody>
      </p:sp>
      <p:sp>
        <p:nvSpPr>
          <p:cNvPr id="10244" name="Text Box 5"/>
          <p:cNvSpPr txBox="1">
            <a:spLocks noChangeArrowheads="1"/>
          </p:cNvSpPr>
          <p:nvPr/>
        </p:nvSpPr>
        <p:spPr bwMode="auto">
          <a:xfrm>
            <a:off x="551707" y="1823313"/>
            <a:ext cx="12500042" cy="137477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dirty="0">
                <a:latin typeface="宋体" charset="-122"/>
              </a:rPr>
              <a:t>      </a:t>
            </a:r>
            <a:r>
              <a:rPr kumimoji="1" lang="zh-CN" altLang="en-US" sz="2800" b="1" dirty="0">
                <a:latin typeface="Times New Roman" pitchFamily="18" charset="0"/>
                <a:ea typeface="微软雅黑" pitchFamily="34" charset="-122"/>
                <a:cs typeface="Times New Roman" pitchFamily="18" charset="0"/>
              </a:rPr>
              <a:t>光谱灵敏度</a:t>
            </a:r>
            <a:r>
              <a:rPr kumimoji="1" lang="en-US" altLang="zh-CN" sz="2800" b="1" dirty="0">
                <a:latin typeface="Times New Roman" pitchFamily="18" charset="0"/>
                <a:ea typeface="微软雅黑" pitchFamily="34" charset="-122"/>
                <a:cs typeface="Times New Roman" pitchFamily="18" charset="0"/>
              </a:rPr>
              <a:t>S</a:t>
            </a:r>
            <a:r>
              <a:rPr kumimoji="1" lang="en-US" altLang="zh-CN" sz="2800" b="1" baseline="-25000" dirty="0">
                <a:latin typeface="Times New Roman" pitchFamily="18" charset="0"/>
                <a:ea typeface="微软雅黑" pitchFamily="34" charset="-122"/>
                <a:cs typeface="Times New Roman" pitchFamily="18" charset="0"/>
                <a:sym typeface="Symbol" pitchFamily="18" charset="2"/>
              </a:rPr>
              <a:t></a:t>
            </a:r>
            <a:r>
              <a:rPr kumimoji="1" lang="zh-CN" altLang="en-US" sz="2800" b="1" dirty="0">
                <a:latin typeface="Times New Roman" pitchFamily="18" charset="0"/>
                <a:ea typeface="微软雅黑" pitchFamily="34" charset="-122"/>
                <a:cs typeface="Times New Roman" pitchFamily="18" charset="0"/>
              </a:rPr>
              <a:t>是光电探测器的输出电压或输出电流与入射到探测器上的单色辐通度</a:t>
            </a:r>
            <a:r>
              <a:rPr kumimoji="1" lang="zh-CN" altLang="en-US" sz="2800" b="1" dirty="0">
                <a:latin typeface="Times New Roman" pitchFamily="18" charset="0"/>
                <a:ea typeface="微软雅黑" pitchFamily="34" charset="-122"/>
                <a:cs typeface="Times New Roman" pitchFamily="18" charset="0"/>
                <a:sym typeface="Symbol" pitchFamily="18" charset="2"/>
              </a:rPr>
              <a:t></a:t>
            </a:r>
            <a:r>
              <a:rPr kumimoji="1" lang="en-US" altLang="zh-CN" sz="2800" b="1" baseline="-25000" dirty="0">
                <a:latin typeface="Times New Roman" pitchFamily="18" charset="0"/>
                <a:ea typeface="微软雅黑" pitchFamily="34" charset="-122"/>
                <a:cs typeface="Times New Roman" pitchFamily="18" charset="0"/>
                <a:sym typeface="Symbol" pitchFamily="18" charset="2"/>
              </a:rPr>
              <a:t>e,</a:t>
            </a:r>
            <a:r>
              <a:rPr kumimoji="1" lang="zh-CN" altLang="en-US" sz="2800" b="1" baseline="-25000" dirty="0">
                <a:latin typeface="Times New Roman" pitchFamily="18" charset="0"/>
                <a:ea typeface="微软雅黑" pitchFamily="34" charset="-122"/>
                <a:cs typeface="Times New Roman" pitchFamily="18" charset="0"/>
                <a:sym typeface="Symbol" pitchFamily="18" charset="2"/>
              </a:rPr>
              <a:t></a:t>
            </a:r>
            <a:r>
              <a:rPr kumimoji="1" lang="en-US" altLang="zh-CN" sz="2800" b="1" dirty="0">
                <a:latin typeface="Times New Roman" pitchFamily="18" charset="0"/>
                <a:ea typeface="微软雅黑" pitchFamily="34" charset="-122"/>
                <a:cs typeface="Times New Roman" pitchFamily="18" charset="0"/>
              </a:rPr>
              <a:t>(</a:t>
            </a:r>
            <a:r>
              <a:rPr kumimoji="1" lang="zh-CN" altLang="en-US" sz="2800" b="1" dirty="0">
                <a:latin typeface="Times New Roman" pitchFamily="18" charset="0"/>
                <a:ea typeface="微软雅黑" pitchFamily="34" charset="-122"/>
                <a:cs typeface="Times New Roman" pitchFamily="18" charset="0"/>
              </a:rPr>
              <a:t>或光通量</a:t>
            </a:r>
            <a:r>
              <a:rPr kumimoji="1" lang="en-US" altLang="zh-CN" sz="2800" b="1" dirty="0">
                <a:latin typeface="Times New Roman" pitchFamily="18" charset="0"/>
                <a:ea typeface="微软雅黑" pitchFamily="34" charset="-122"/>
                <a:cs typeface="Times New Roman" pitchFamily="18" charset="0"/>
              </a:rPr>
              <a:t>)</a:t>
            </a:r>
            <a:r>
              <a:rPr kumimoji="1" lang="zh-CN" altLang="en-US" sz="2800" b="1" dirty="0">
                <a:latin typeface="Times New Roman" pitchFamily="18" charset="0"/>
                <a:ea typeface="微软雅黑" pitchFamily="34" charset="-122"/>
                <a:cs typeface="Times New Roman" pitchFamily="18" charset="0"/>
              </a:rPr>
              <a:t>之比。</a:t>
            </a:r>
          </a:p>
        </p:txBody>
      </p:sp>
      <p:graphicFrame>
        <p:nvGraphicFramePr>
          <p:cNvPr id="10242" name="Object 2"/>
          <p:cNvGraphicFramePr>
            <a:graphicFrameLocks noChangeAspect="1"/>
          </p:cNvGraphicFramePr>
          <p:nvPr>
            <p:extLst>
              <p:ext uri="{D42A27DB-BD31-4B8C-83A1-F6EECF244321}">
                <p14:modId xmlns:p14="http://schemas.microsoft.com/office/powerpoint/2010/main" val="2364059525"/>
              </p:ext>
            </p:extLst>
          </p:nvPr>
        </p:nvGraphicFramePr>
        <p:xfrm>
          <a:off x="3953741" y="3542506"/>
          <a:ext cx="1257300" cy="877888"/>
        </p:xfrm>
        <a:graphic>
          <a:graphicData uri="http://schemas.openxmlformats.org/presentationml/2006/ole">
            <mc:AlternateContent xmlns:mc="http://schemas.openxmlformats.org/markup-compatibility/2006">
              <mc:Choice xmlns:v="urn:schemas-microsoft-com:vml" Requires="v">
                <p:oleObj spid="_x0000_s36074" name="Equation" r:id="rId3" imgW="622080" imgH="431640" progId="Equation.DSMT4">
                  <p:embed/>
                </p:oleObj>
              </mc:Choice>
              <mc:Fallback>
                <p:oleObj name="Equation" r:id="rId3" imgW="622080" imgH="431640" progId="Equation.DSMT4">
                  <p:embed/>
                  <p:pic>
                    <p:nvPicPr>
                      <p:cNvPr id="0" name="Object 2"/>
                      <p:cNvPicPr>
                        <a:picLocks noChangeAspect="1" noChangeArrowheads="1"/>
                      </p:cNvPicPr>
                      <p:nvPr/>
                    </p:nvPicPr>
                    <p:blipFill>
                      <a:blip r:embed="rId4"/>
                      <a:srcRect/>
                      <a:stretch>
                        <a:fillRect/>
                      </a:stretch>
                    </p:blipFill>
                    <p:spPr bwMode="auto">
                      <a:xfrm>
                        <a:off x="3953741" y="3542506"/>
                        <a:ext cx="1257300" cy="877888"/>
                      </a:xfrm>
                      <a:prstGeom prst="rect">
                        <a:avLst/>
                      </a:prstGeom>
                      <a:solidFill>
                        <a:srgbClr val="FFFF00"/>
                      </a:solidFill>
                    </p:spPr>
                  </p:pic>
                </p:oleObj>
              </mc:Fallback>
            </mc:AlternateContent>
          </a:graphicData>
        </a:graphic>
      </p:graphicFrame>
      <p:sp>
        <p:nvSpPr>
          <p:cNvPr id="10245" name="Text Box 7"/>
          <p:cNvSpPr txBox="1">
            <a:spLocks noChangeArrowheads="1"/>
          </p:cNvSpPr>
          <p:nvPr/>
        </p:nvSpPr>
        <p:spPr bwMode="auto">
          <a:xfrm>
            <a:off x="412749" y="4883150"/>
            <a:ext cx="12544493" cy="137477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黑体" pitchFamily="2" charset="-122"/>
                <a:ea typeface="黑体" pitchFamily="2" charset="-122"/>
              </a:rPr>
              <a:t>      </a:t>
            </a:r>
            <a:r>
              <a:rPr kumimoji="1" lang="zh-CN" altLang="en-US" sz="2800" b="1" dirty="0">
                <a:latin typeface="微软雅黑" pitchFamily="34" charset="-122"/>
                <a:ea typeface="微软雅黑" pitchFamily="34" charset="-122"/>
              </a:rPr>
              <a:t>光谱灵敏度是表述入射的单色通量所产生的探测器的输出电压</a:t>
            </a:r>
            <a:r>
              <a:rPr kumimoji="1" lang="en-US" altLang="zh-CN" sz="2800" b="1" dirty="0">
                <a:latin typeface="微软雅黑" pitchFamily="34" charset="-122"/>
                <a:ea typeface="微软雅黑" pitchFamily="34" charset="-122"/>
              </a:rPr>
              <a:t>(</a:t>
            </a:r>
            <a:r>
              <a:rPr kumimoji="1" lang="zh-CN" altLang="en-US" sz="2800" b="1" dirty="0">
                <a:latin typeface="微软雅黑" pitchFamily="34" charset="-122"/>
                <a:ea typeface="微软雅黑" pitchFamily="34" charset="-122"/>
              </a:rPr>
              <a:t>或电流</a:t>
            </a:r>
            <a:r>
              <a:rPr kumimoji="1" lang="en-US" altLang="zh-CN" sz="2800" b="1" dirty="0">
                <a:latin typeface="微软雅黑" pitchFamily="34" charset="-122"/>
                <a:ea typeface="微软雅黑" pitchFamily="34" charset="-122"/>
              </a:rPr>
              <a:t>)</a:t>
            </a:r>
            <a:r>
              <a:rPr kumimoji="1" lang="zh-CN" altLang="en-US" sz="2800" b="1" dirty="0">
                <a:latin typeface="微软雅黑" pitchFamily="34" charset="-122"/>
                <a:ea typeface="微软雅黑" pitchFamily="34" charset="-122"/>
              </a:rPr>
              <a:t>。它的值愈大意味着探测器愈灵敏。 </a:t>
            </a:r>
          </a:p>
        </p:txBody>
      </p:sp>
      <p:sp>
        <p:nvSpPr>
          <p:cNvPr id="10246" name="Text Box 8"/>
          <p:cNvSpPr txBox="1">
            <a:spLocks noChangeArrowheads="1"/>
          </p:cNvSpPr>
          <p:nvPr/>
        </p:nvSpPr>
        <p:spPr bwMode="auto">
          <a:xfrm>
            <a:off x="1746250" y="6305550"/>
            <a:ext cx="6178550" cy="523220"/>
          </a:xfrm>
          <a:prstGeom prst="rect">
            <a:avLst/>
          </a:prstGeom>
          <a:noFill/>
          <a:ln w="9525">
            <a:noFill/>
            <a:miter lim="800000"/>
            <a:headEnd/>
            <a:tailEnd/>
          </a:ln>
        </p:spPr>
        <p:txBody>
          <a:bodyPr>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光谱灵敏度是</a:t>
            </a:r>
            <a:r>
              <a:rPr kumimoji="1" lang="en-US" altLang="zh-CN" sz="2800" b="1" dirty="0" err="1">
                <a:latin typeface="Times New Roman" pitchFamily="18" charset="0"/>
                <a:ea typeface="微软雅黑" pitchFamily="34" charset="-122"/>
                <a:cs typeface="Times New Roman" pitchFamily="18" charset="0"/>
              </a:rPr>
              <a:t>S</a:t>
            </a:r>
            <a:r>
              <a:rPr kumimoji="1" lang="en-US" altLang="zh-CN" sz="2800" b="1" baseline="-25000" dirty="0" err="1">
                <a:latin typeface="Times New Roman" pitchFamily="18" charset="0"/>
                <a:ea typeface="微软雅黑" pitchFamily="34" charset="-122"/>
                <a:cs typeface="Times New Roman" pitchFamily="18" charset="0"/>
              </a:rPr>
              <a:t>λ</a:t>
            </a:r>
            <a:r>
              <a:rPr kumimoji="1" lang="zh-CN" altLang="en-US" sz="2800" b="1" dirty="0">
                <a:latin typeface="Times New Roman" pitchFamily="18" charset="0"/>
                <a:ea typeface="微软雅黑" pitchFamily="34" charset="-122"/>
                <a:cs typeface="Times New Roman" pitchFamily="18" charset="0"/>
              </a:rPr>
              <a:t>随波长的变化关系</a:t>
            </a:r>
          </a:p>
        </p:txBody>
      </p:sp>
      <p:graphicFrame>
        <p:nvGraphicFramePr>
          <p:cNvPr id="2" name="Object 8"/>
          <p:cNvGraphicFramePr>
            <a:graphicFrameLocks noChangeAspect="1"/>
          </p:cNvGraphicFramePr>
          <p:nvPr>
            <p:extLst>
              <p:ext uri="{D42A27DB-BD31-4B8C-83A1-F6EECF244321}">
                <p14:modId xmlns:p14="http://schemas.microsoft.com/office/powerpoint/2010/main" val="2147185003"/>
              </p:ext>
            </p:extLst>
          </p:nvPr>
        </p:nvGraphicFramePr>
        <p:xfrm>
          <a:off x="6801728" y="3536654"/>
          <a:ext cx="1308100" cy="877888"/>
        </p:xfrm>
        <a:graphic>
          <a:graphicData uri="http://schemas.openxmlformats.org/presentationml/2006/ole">
            <mc:AlternateContent xmlns:mc="http://schemas.openxmlformats.org/markup-compatibility/2006">
              <mc:Choice xmlns:v="urn:schemas-microsoft-com:vml" Requires="v">
                <p:oleObj spid="_x0000_s36075" name="Equation" r:id="rId5" imgW="647640" imgH="431640" progId="Equation.DSMT4">
                  <p:embed/>
                </p:oleObj>
              </mc:Choice>
              <mc:Fallback>
                <p:oleObj name="Equation" r:id="rId5" imgW="647640" imgH="431640" progId="Equation.DSMT4">
                  <p:embed/>
                  <p:pic>
                    <p:nvPicPr>
                      <p:cNvPr id="0" name="Object 8"/>
                      <p:cNvPicPr>
                        <a:picLocks noChangeAspect="1" noChangeArrowheads="1"/>
                      </p:cNvPicPr>
                      <p:nvPr/>
                    </p:nvPicPr>
                    <p:blipFill>
                      <a:blip r:embed="rId6"/>
                      <a:srcRect/>
                      <a:stretch>
                        <a:fillRect/>
                      </a:stretch>
                    </p:blipFill>
                    <p:spPr bwMode="auto">
                      <a:xfrm>
                        <a:off x="6801728" y="3536654"/>
                        <a:ext cx="1308100" cy="877888"/>
                      </a:xfrm>
                      <a:prstGeom prst="rect">
                        <a:avLst/>
                      </a:prstGeom>
                      <a:solidFill>
                        <a:srgbClr val="FFFF00"/>
                      </a:solidFill>
                    </p:spPr>
                  </p:pic>
                </p:oleObj>
              </mc:Fallback>
            </mc:AlternateContent>
          </a:graphicData>
        </a:graphic>
      </p:graphicFrame>
      <p:sp>
        <p:nvSpPr>
          <p:cNvPr id="15" name="文本框 60">
            <a:extLst>
              <a:ext uri="{FF2B5EF4-FFF2-40B4-BE49-F238E27FC236}">
                <a16:creationId xmlns:a16="http://schemas.microsoft.com/office/drawing/2014/main" id="{C4751377-D7CC-4970-941A-F43008838BF2}"/>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6" name="矩形 15">
            <a:extLst>
              <a:ext uri="{FF2B5EF4-FFF2-40B4-BE49-F238E27FC236}">
                <a16:creationId xmlns:a16="http://schemas.microsoft.com/office/drawing/2014/main" id="{F851EE32-AB7E-41FD-8DCF-50BC143BFA2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2A1DB88D-B407-43B3-A8EA-477A5150616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E7487F2B-12CE-4207-9287-4AB35B8ED28B}"/>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id="{C092AEF3-006E-409D-9D97-3E4A52EE1F8A}"/>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F27988A3-CC4B-449D-88E6-32A9CA8C07A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id="{33952225-F00E-43C3-858A-17B18F1BFB1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box(in)">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box(in)">
                                      <p:cBhvr>
                                        <p:cTn id="12" dur="500"/>
                                        <p:tgtEl>
                                          <p:spTgt spid="1024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box(in)">
                                      <p:cBhvr>
                                        <p:cTn id="17" dur="500"/>
                                        <p:tgtEl>
                                          <p:spTgt spid="1024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245"/>
                                        </p:tgtEl>
                                        <p:attrNameLst>
                                          <p:attrName>style.visibility</p:attrName>
                                        </p:attrNameLst>
                                      </p:cBhvr>
                                      <p:to>
                                        <p:strVal val="visible"/>
                                      </p:to>
                                    </p:set>
                                    <p:animEffect transition="in" filter="box(in)">
                                      <p:cBhvr>
                                        <p:cTn id="27" dur="500"/>
                                        <p:tgtEl>
                                          <p:spTgt spid="1024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246"/>
                                        </p:tgtEl>
                                        <p:attrNameLst>
                                          <p:attrName>style.visibility</p:attrName>
                                        </p:attrNameLst>
                                      </p:cBhvr>
                                      <p:to>
                                        <p:strVal val="visible"/>
                                      </p:to>
                                    </p:set>
                                    <p:animEffect transition="in" filter="box(in)">
                                      <p:cBhvr>
                                        <p:cTn id="32"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4" grpId="0"/>
      <p:bldP spid="10245" grpId="0"/>
      <p:bldP spid="102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545" y="2225964"/>
            <a:ext cx="12619662" cy="3965621"/>
          </a:xfrm>
          <a:prstGeom prst="rect">
            <a:avLst/>
          </a:prstGeom>
        </p:spPr>
      </p:pic>
      <p:sp>
        <p:nvSpPr>
          <p:cNvPr id="8" name="椭圆 7"/>
          <p:cNvSpPr/>
          <p:nvPr/>
        </p:nvSpPr>
        <p:spPr>
          <a:xfrm>
            <a:off x="4359563" y="2142836"/>
            <a:ext cx="1856509" cy="4156363"/>
          </a:xfrm>
          <a:prstGeom prst="ellipse">
            <a:avLst/>
          </a:prstGeom>
          <a:noFill/>
          <a:ln w="444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3612" y="1532513"/>
            <a:ext cx="6345188" cy="5377007"/>
          </a:xfrm>
          <a:prstGeom prst="rect">
            <a:avLst/>
          </a:prstGeom>
        </p:spPr>
      </p:pic>
      <p:sp>
        <p:nvSpPr>
          <p:cNvPr id="10" name="椭圆 9"/>
          <p:cNvSpPr/>
          <p:nvPr/>
        </p:nvSpPr>
        <p:spPr>
          <a:xfrm>
            <a:off x="7014686" y="2130592"/>
            <a:ext cx="1538190" cy="4156363"/>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 Box 8"/>
          <p:cNvSpPr txBox="1">
            <a:spLocks noChangeArrowheads="1"/>
          </p:cNvSpPr>
          <p:nvPr/>
        </p:nvSpPr>
        <p:spPr bwMode="auto">
          <a:xfrm>
            <a:off x="1000125" y="1297056"/>
            <a:ext cx="6596545" cy="523220"/>
          </a:xfrm>
          <a:prstGeom prst="rect">
            <a:avLst/>
          </a:prstGeom>
          <a:noFill/>
          <a:ln w="9525">
            <a:noFill/>
            <a:miter lim="800000"/>
            <a:headEnd/>
            <a:tailEnd/>
          </a:ln>
        </p:spPr>
        <p:txBody>
          <a:bodyPr wrap="square">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例如：硅</a:t>
            </a:r>
            <a:r>
              <a:rPr kumimoji="1" lang="en-US" altLang="zh-CN" sz="2800" b="1" dirty="0">
                <a:latin typeface="Times New Roman" pitchFamily="18" charset="0"/>
                <a:ea typeface="微软雅黑" pitchFamily="34" charset="-122"/>
                <a:cs typeface="Times New Roman" pitchFamily="18" charset="0"/>
              </a:rPr>
              <a:t>PIN</a:t>
            </a:r>
            <a:r>
              <a:rPr kumimoji="1" lang="zh-CN" altLang="en-US" sz="2800" b="1" dirty="0">
                <a:latin typeface="Times New Roman" pitchFamily="18" charset="0"/>
                <a:ea typeface="微软雅黑" pitchFamily="34" charset="-122"/>
                <a:cs typeface="Times New Roman" pitchFamily="18" charset="0"/>
              </a:rPr>
              <a:t>光电二极管技术手册参数</a:t>
            </a:r>
          </a:p>
        </p:txBody>
      </p:sp>
      <p:sp>
        <p:nvSpPr>
          <p:cNvPr id="13" name="文本框 60">
            <a:extLst>
              <a:ext uri="{FF2B5EF4-FFF2-40B4-BE49-F238E27FC236}">
                <a16:creationId xmlns:a16="http://schemas.microsoft.com/office/drawing/2014/main" id="{A9CFB0B3-2790-4486-B8E6-AD66BA3AC1B8}"/>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4" name="矩形 13">
            <a:extLst>
              <a:ext uri="{FF2B5EF4-FFF2-40B4-BE49-F238E27FC236}">
                <a16:creationId xmlns:a16="http://schemas.microsoft.com/office/drawing/2014/main" id="{D6554221-F954-4D78-8C68-3511732D9A7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D7D28AFE-94DA-462B-8756-DD3CDA2F094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0511F3F1-3335-47DC-A960-2DD86B9DA038}"/>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81BA2D84-E464-4400-8B63-BAD625FA9E4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E1977448-02E3-42CA-8BDB-E9A477911DF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5119EFC5-17B1-42B0-8A58-E4616C6A76E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10752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heel(1)">
                                      <p:cBhvr>
                                        <p:cTn id="16" dur="2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
          <p:cNvSpPr txBox="1">
            <a:spLocks noChangeArrowheads="1"/>
          </p:cNvSpPr>
          <p:nvPr/>
        </p:nvSpPr>
        <p:spPr bwMode="auto">
          <a:xfrm>
            <a:off x="3943770" y="1258073"/>
            <a:ext cx="5778500" cy="584775"/>
          </a:xfrm>
          <a:prstGeom prst="rect">
            <a:avLst/>
          </a:prstGeom>
          <a:noFill/>
          <a:ln w="9525">
            <a:noFill/>
            <a:miter lim="800000"/>
            <a:headEnd/>
            <a:tailEnd/>
          </a:ln>
        </p:spPr>
        <p:txBody>
          <a:bodyPr>
            <a:spAutoFit/>
          </a:bodyPr>
          <a:lstStyle/>
          <a:p>
            <a:pPr algn="ctr" defTabSz="914400">
              <a:spcBef>
                <a:spcPct val="50000"/>
              </a:spcBef>
            </a:pPr>
            <a:r>
              <a:rPr lang="en-US" altLang="zh-CN" sz="3200" b="1" dirty="0">
                <a:solidFill>
                  <a:srgbClr val="0000FF"/>
                </a:solidFill>
                <a:latin typeface="Times New Roman" pitchFamily="18" charset="0"/>
                <a:ea typeface="微软雅黑" pitchFamily="34" charset="-122"/>
                <a:cs typeface="Times New Roman" pitchFamily="18" charset="0"/>
              </a:rPr>
              <a:t>2.</a:t>
            </a:r>
            <a:r>
              <a:rPr lang="zh-CN" altLang="en-US" sz="3200" b="1" dirty="0">
                <a:solidFill>
                  <a:srgbClr val="0000FF"/>
                </a:solidFill>
                <a:latin typeface="Times New Roman" pitchFamily="18" charset="0"/>
                <a:ea typeface="微软雅黑" pitchFamily="34" charset="-122"/>
                <a:cs typeface="Times New Roman" pitchFamily="18" charset="0"/>
              </a:rPr>
              <a:t>响应时间</a:t>
            </a:r>
            <a:r>
              <a:rPr lang="en-US" altLang="zh-CN" sz="3200" b="1" dirty="0">
                <a:solidFill>
                  <a:srgbClr val="0000FF"/>
                </a:solidFill>
                <a:latin typeface="Times New Roman" pitchFamily="18" charset="0"/>
                <a:ea typeface="微软雅黑" pitchFamily="34" charset="-122"/>
                <a:cs typeface="Times New Roman" pitchFamily="18" charset="0"/>
              </a:rPr>
              <a:t>(Response time) </a:t>
            </a:r>
            <a:endParaRPr lang="zh-CN" altLang="en-US" sz="3200" b="1" dirty="0">
              <a:solidFill>
                <a:srgbClr val="0000FF"/>
              </a:solidFill>
              <a:latin typeface="Times New Roman" pitchFamily="18" charset="0"/>
              <a:ea typeface="微软雅黑" pitchFamily="34" charset="-122"/>
              <a:cs typeface="Times New Roman" pitchFamily="18" charset="0"/>
            </a:endParaRPr>
          </a:p>
        </p:txBody>
      </p:sp>
      <p:sp>
        <p:nvSpPr>
          <p:cNvPr id="35843" name="Text Box 5"/>
          <p:cNvSpPr txBox="1">
            <a:spLocks noChangeArrowheads="1"/>
          </p:cNvSpPr>
          <p:nvPr/>
        </p:nvSpPr>
        <p:spPr bwMode="auto">
          <a:xfrm>
            <a:off x="1418393" y="2267177"/>
            <a:ext cx="9081332" cy="523220"/>
          </a:xfrm>
          <a:prstGeom prst="rect">
            <a:avLst/>
          </a:prstGeom>
          <a:noFill/>
          <a:ln w="9525">
            <a:noFill/>
            <a:miter lim="800000"/>
            <a:headEnd/>
            <a:tailEnd/>
          </a:ln>
        </p:spPr>
        <p:txBody>
          <a:bodyPr wrap="square">
            <a:spAutoFit/>
          </a:bodyPr>
          <a:lstStyle/>
          <a:p>
            <a:pPr defTabSz="914400">
              <a:spcBef>
                <a:spcPct val="50000"/>
              </a:spcBef>
            </a:pPr>
            <a:r>
              <a:rPr lang="zh-CN" altLang="en-US" sz="2800" b="1" dirty="0">
                <a:latin typeface="微软雅黑" pitchFamily="34" charset="-122"/>
                <a:ea typeface="微软雅黑" pitchFamily="34" charset="-122"/>
                <a:cs typeface="Times New Roman" pitchFamily="18" charset="0"/>
              </a:rPr>
              <a:t>    描述光电探测器对入射辐射响应快慢的一个参数</a:t>
            </a:r>
            <a:r>
              <a:rPr lang="zh-CN" altLang="en-US" sz="2800" dirty="0">
                <a:latin typeface="微软雅黑" pitchFamily="34" charset="-122"/>
                <a:ea typeface="微软雅黑" pitchFamily="34" charset="-122"/>
                <a:cs typeface="Times New Roman" pitchFamily="18" charset="0"/>
              </a:rPr>
              <a:t>。</a:t>
            </a:r>
          </a:p>
        </p:txBody>
      </p:sp>
      <p:sp>
        <p:nvSpPr>
          <p:cNvPr id="35844" name="Text Box 6"/>
          <p:cNvSpPr txBox="1">
            <a:spLocks noChangeArrowheads="1"/>
          </p:cNvSpPr>
          <p:nvPr/>
        </p:nvSpPr>
        <p:spPr bwMode="auto">
          <a:xfrm>
            <a:off x="910393" y="3054281"/>
            <a:ext cx="12042775" cy="1374775"/>
          </a:xfrm>
          <a:prstGeom prst="rect">
            <a:avLst/>
          </a:prstGeom>
          <a:noFill/>
          <a:ln w="9525">
            <a:noFill/>
            <a:miter lim="800000"/>
            <a:headEnd/>
            <a:tailEnd/>
          </a:ln>
        </p:spPr>
        <p:txBody>
          <a:bodyPr wrap="square">
            <a:spAutoFit/>
          </a:bodyPr>
          <a:lstStyle/>
          <a:p>
            <a:pPr defTabSz="914400">
              <a:lnSpc>
                <a:spcPct val="150000"/>
              </a:lnSpc>
              <a:spcBef>
                <a:spcPct val="50000"/>
              </a:spcBef>
            </a:pPr>
            <a:r>
              <a:rPr lang="en-US" altLang="zh-CN" sz="2800" dirty="0">
                <a:latin typeface="黑体" pitchFamily="2" charset="-122"/>
                <a:ea typeface="黑体" pitchFamily="2" charset="-122"/>
              </a:rPr>
              <a:t>	</a:t>
            </a:r>
            <a:r>
              <a:rPr lang="zh-CN" altLang="en-US" sz="2800" b="1" dirty="0">
                <a:latin typeface="微软雅黑" pitchFamily="34" charset="-122"/>
                <a:ea typeface="微软雅黑" pitchFamily="34" charset="-122"/>
              </a:rPr>
              <a:t>响应时间是当入射辐射到光电探测器后，光电探测器的输出上升到稳定值或下降到照射前的值所需时间。</a:t>
            </a:r>
          </a:p>
        </p:txBody>
      </p:sp>
      <p:sp>
        <p:nvSpPr>
          <p:cNvPr id="35845" name="Text Box 7"/>
          <p:cNvSpPr txBox="1">
            <a:spLocks noChangeArrowheads="1"/>
          </p:cNvSpPr>
          <p:nvPr/>
        </p:nvSpPr>
        <p:spPr bwMode="auto">
          <a:xfrm>
            <a:off x="841167" y="4682849"/>
            <a:ext cx="11600215" cy="1815882"/>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Times New Roman" pitchFamily="18" charset="0"/>
                <a:ea typeface="微软雅黑" pitchFamily="34" charset="-122"/>
                <a:cs typeface="Times New Roman" pitchFamily="18" charset="0"/>
              </a:rPr>
              <a:t>将从</a:t>
            </a:r>
            <a:r>
              <a:rPr lang="en-US" altLang="zh-CN" sz="3200" b="1" dirty="0">
                <a:solidFill>
                  <a:srgbClr val="FF0000"/>
                </a:solidFill>
                <a:latin typeface="Times New Roman" pitchFamily="18" charset="0"/>
                <a:ea typeface="微软雅黑" pitchFamily="34" charset="-122"/>
                <a:cs typeface="Times New Roman" pitchFamily="18" charset="0"/>
              </a:rPr>
              <a:t>10%</a:t>
            </a:r>
            <a:r>
              <a:rPr lang="zh-CN" altLang="en-US" sz="2800" b="1" dirty="0">
                <a:latin typeface="Times New Roman" pitchFamily="18" charset="0"/>
                <a:ea typeface="微软雅黑" pitchFamily="34" charset="-122"/>
                <a:cs typeface="Times New Roman" pitchFamily="18" charset="0"/>
              </a:rPr>
              <a:t>上升到</a:t>
            </a:r>
            <a:r>
              <a:rPr lang="en-US" altLang="zh-CN" sz="3200" b="1" dirty="0">
                <a:solidFill>
                  <a:srgbClr val="FF0000"/>
                </a:solidFill>
                <a:latin typeface="Times New Roman" pitchFamily="18" charset="0"/>
                <a:ea typeface="微软雅黑" pitchFamily="34" charset="-122"/>
                <a:cs typeface="Times New Roman" pitchFamily="18" charset="0"/>
              </a:rPr>
              <a:t>90%</a:t>
            </a:r>
            <a:r>
              <a:rPr lang="zh-CN" altLang="en-US" sz="2800" b="1" dirty="0">
                <a:latin typeface="Times New Roman" pitchFamily="18" charset="0"/>
                <a:ea typeface="微软雅黑" pitchFamily="34" charset="-122"/>
                <a:cs typeface="Times New Roman" pitchFamily="18" charset="0"/>
              </a:rPr>
              <a:t>峰值所需的时间为探测器的</a:t>
            </a:r>
            <a:r>
              <a:rPr lang="zh-CN" altLang="en-US" sz="2800" b="1" dirty="0">
                <a:solidFill>
                  <a:srgbClr val="FF0000"/>
                </a:solidFill>
                <a:latin typeface="Times New Roman" pitchFamily="18" charset="0"/>
                <a:ea typeface="微软雅黑" pitchFamily="34" charset="-122"/>
                <a:cs typeface="Times New Roman" pitchFamily="18" charset="0"/>
              </a:rPr>
              <a:t>上升时间</a:t>
            </a:r>
            <a:r>
              <a:rPr lang="en-US" altLang="zh-CN" sz="2800" b="1" dirty="0">
                <a:solidFill>
                  <a:srgbClr val="FF0000"/>
                </a:solidFill>
                <a:latin typeface="Times New Roman" pitchFamily="18" charset="0"/>
                <a:ea typeface="微软雅黑" pitchFamily="34" charset="-122"/>
                <a:cs typeface="Times New Roman" pitchFamily="18" charset="0"/>
              </a:rPr>
              <a:t>(Rise time)</a:t>
            </a:r>
            <a:r>
              <a:rPr lang="en-US" altLang="zh-CN" sz="2800" b="1" i="1" dirty="0" err="1">
                <a:solidFill>
                  <a:srgbClr val="FF0000"/>
                </a:solidFill>
                <a:latin typeface="Times New Roman" pitchFamily="18" charset="0"/>
                <a:ea typeface="微软雅黑" pitchFamily="34" charset="-122"/>
                <a:cs typeface="Times New Roman" pitchFamily="18" charset="0"/>
              </a:rPr>
              <a:t>t</a:t>
            </a:r>
            <a:r>
              <a:rPr lang="en-US" altLang="zh-CN" sz="2800" b="1" baseline="-25000" dirty="0" err="1">
                <a:solidFill>
                  <a:srgbClr val="FF0000"/>
                </a:solidFill>
                <a:latin typeface="Times New Roman" pitchFamily="18" charset="0"/>
                <a:ea typeface="微软雅黑" pitchFamily="34" charset="-122"/>
                <a:cs typeface="Times New Roman" pitchFamily="18" charset="0"/>
              </a:rPr>
              <a:t>r</a:t>
            </a:r>
            <a:endParaRPr lang="en-US" altLang="zh-CN" sz="2800" b="1" dirty="0">
              <a:latin typeface="Times New Roman" pitchFamily="18" charset="0"/>
              <a:ea typeface="微软雅黑" pitchFamily="34" charset="-122"/>
              <a:cs typeface="Times New Roman" pitchFamily="18" charset="0"/>
            </a:endParaRPr>
          </a:p>
          <a:p>
            <a:pPr defTabSz="914400">
              <a:lnSpc>
                <a:spcPct val="150000"/>
              </a:lnSpc>
              <a:spcBef>
                <a:spcPct val="50000"/>
              </a:spcBef>
            </a:pPr>
            <a:r>
              <a:rPr lang="zh-CN" altLang="en-US" sz="2800" b="1" dirty="0">
                <a:latin typeface="Times New Roman" pitchFamily="18" charset="0"/>
                <a:ea typeface="微软雅黑" pitchFamily="34" charset="-122"/>
                <a:cs typeface="Times New Roman" pitchFamily="18" charset="0"/>
              </a:rPr>
              <a:t>将从</a:t>
            </a:r>
            <a:r>
              <a:rPr lang="en-US" altLang="zh-CN" sz="2800" b="1" dirty="0">
                <a:solidFill>
                  <a:srgbClr val="FF0000"/>
                </a:solidFill>
                <a:latin typeface="Times New Roman" pitchFamily="18" charset="0"/>
                <a:ea typeface="微软雅黑" pitchFamily="34" charset="-122"/>
                <a:cs typeface="Times New Roman" pitchFamily="18" charset="0"/>
              </a:rPr>
              <a:t>90%</a:t>
            </a:r>
            <a:r>
              <a:rPr lang="zh-CN" altLang="en-US" sz="2800" b="1" dirty="0">
                <a:latin typeface="Times New Roman" pitchFamily="18" charset="0"/>
                <a:ea typeface="微软雅黑" pitchFamily="34" charset="-122"/>
                <a:cs typeface="Times New Roman" pitchFamily="18" charset="0"/>
              </a:rPr>
              <a:t>上升到</a:t>
            </a:r>
            <a:r>
              <a:rPr lang="en-US" altLang="zh-CN" sz="3200" b="1" dirty="0">
                <a:solidFill>
                  <a:srgbClr val="FF0000"/>
                </a:solidFill>
                <a:latin typeface="Times New Roman" pitchFamily="18" charset="0"/>
                <a:ea typeface="微软雅黑" pitchFamily="34" charset="-122"/>
                <a:cs typeface="Times New Roman" pitchFamily="18" charset="0"/>
              </a:rPr>
              <a:t>10%</a:t>
            </a:r>
            <a:r>
              <a:rPr lang="zh-CN" altLang="en-US" sz="2800" b="1" dirty="0">
                <a:latin typeface="Times New Roman" pitchFamily="18" charset="0"/>
                <a:ea typeface="微软雅黑" pitchFamily="34" charset="-122"/>
                <a:cs typeface="Times New Roman" pitchFamily="18" charset="0"/>
              </a:rPr>
              <a:t>峰值所需的时间为探测器的</a:t>
            </a:r>
            <a:r>
              <a:rPr lang="zh-CN" altLang="en-US" sz="2800" b="1" dirty="0">
                <a:solidFill>
                  <a:srgbClr val="FF0000"/>
                </a:solidFill>
                <a:latin typeface="Times New Roman" pitchFamily="18" charset="0"/>
                <a:ea typeface="微软雅黑" pitchFamily="34" charset="-122"/>
                <a:cs typeface="Times New Roman" pitchFamily="18" charset="0"/>
              </a:rPr>
              <a:t>下降时间 </a:t>
            </a:r>
            <a:r>
              <a:rPr lang="en-US" altLang="zh-CN" sz="2800" b="1" dirty="0">
                <a:solidFill>
                  <a:srgbClr val="FF0000"/>
                </a:solidFill>
                <a:latin typeface="Times New Roman" pitchFamily="18" charset="0"/>
                <a:ea typeface="微软雅黑" pitchFamily="34" charset="-122"/>
                <a:cs typeface="Times New Roman" pitchFamily="18" charset="0"/>
              </a:rPr>
              <a:t>(Fall time)</a:t>
            </a:r>
            <a:r>
              <a:rPr lang="en-US" altLang="zh-CN" sz="2800" b="1" i="1" dirty="0" err="1">
                <a:solidFill>
                  <a:srgbClr val="FF0000"/>
                </a:solidFill>
                <a:latin typeface="Times New Roman" pitchFamily="18" charset="0"/>
                <a:ea typeface="微软雅黑" pitchFamily="34" charset="-122"/>
                <a:cs typeface="Times New Roman" pitchFamily="18" charset="0"/>
              </a:rPr>
              <a:t>t</a:t>
            </a:r>
            <a:r>
              <a:rPr lang="en-US" altLang="zh-CN" sz="2800" b="1" baseline="-25000" dirty="0" err="1">
                <a:solidFill>
                  <a:srgbClr val="FF0000"/>
                </a:solidFill>
                <a:latin typeface="Times New Roman" pitchFamily="18" charset="0"/>
                <a:ea typeface="微软雅黑" pitchFamily="34" charset="-122"/>
                <a:cs typeface="Times New Roman" pitchFamily="18" charset="0"/>
              </a:rPr>
              <a:t>f</a:t>
            </a:r>
            <a:r>
              <a:rPr lang="zh-CN" altLang="en-US" sz="2800" b="1" dirty="0">
                <a:latin typeface="Times New Roman" pitchFamily="18" charset="0"/>
                <a:ea typeface="微软雅黑" pitchFamily="34" charset="-122"/>
                <a:cs typeface="Times New Roman" pitchFamily="18" charset="0"/>
              </a:rPr>
              <a:t>。</a:t>
            </a:r>
          </a:p>
        </p:txBody>
      </p:sp>
      <p:sp>
        <p:nvSpPr>
          <p:cNvPr id="13" name="文本框 60">
            <a:extLst>
              <a:ext uri="{FF2B5EF4-FFF2-40B4-BE49-F238E27FC236}">
                <a16:creationId xmlns:a16="http://schemas.microsoft.com/office/drawing/2014/main" id="{3517720B-ADD5-4564-A8D4-DAF167D9D485}"/>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4" name="矩形 13">
            <a:extLst>
              <a:ext uri="{FF2B5EF4-FFF2-40B4-BE49-F238E27FC236}">
                <a16:creationId xmlns:a16="http://schemas.microsoft.com/office/drawing/2014/main" id="{D3367573-270D-4CD6-B453-8905E21CA02E}"/>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94C1FDA0-287B-47BC-A0B8-39B4E0A6B00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2BE7C88-E09C-4E13-A5E3-110E514099FB}"/>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a16="http://schemas.microsoft.com/office/drawing/2014/main" id="{03DAAFD4-278D-4A90-AC92-3123BE01310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2D18B76B-49E4-4596-9565-0D942235E6BF}"/>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9" name="矩形 18">
            <a:extLst>
              <a:ext uri="{FF2B5EF4-FFF2-40B4-BE49-F238E27FC236}">
                <a16:creationId xmlns:a16="http://schemas.microsoft.com/office/drawing/2014/main" id="{3AB81D40-C8BC-4651-BAE8-89E0FF602AD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box(in)">
                                      <p:cBhvr>
                                        <p:cTn id="7" dur="500"/>
                                        <p:tgtEl>
                                          <p:spTgt spid="3584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box(in)">
                                      <p:cBhvr>
                                        <p:cTn id="12" dur="500"/>
                                        <p:tgtEl>
                                          <p:spTgt spid="3584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5844"/>
                                        </p:tgtEl>
                                        <p:attrNameLst>
                                          <p:attrName>style.visibility</p:attrName>
                                        </p:attrNameLst>
                                      </p:cBhvr>
                                      <p:to>
                                        <p:strVal val="visible"/>
                                      </p:to>
                                    </p:set>
                                    <p:animEffect transition="in" filter="box(in)">
                                      <p:cBhvr>
                                        <p:cTn id="17" dur="500"/>
                                        <p:tgtEl>
                                          <p:spTgt spid="3584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5845"/>
                                        </p:tgtEl>
                                        <p:attrNameLst>
                                          <p:attrName>style.visibility</p:attrName>
                                        </p:attrNameLst>
                                      </p:cBhvr>
                                      <p:to>
                                        <p:strVal val="visible"/>
                                      </p:to>
                                    </p:set>
                                    <p:animEffect transition="in" filter="box(in)">
                                      <p:cBhvr>
                                        <p:cTn id="22"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p:bldP spid="35844" grpId="0"/>
      <p:bldP spid="358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矩形 7"/>
          <p:cNvSpPr>
            <a:spLocks noChangeArrowheads="1"/>
          </p:cNvSpPr>
          <p:nvPr/>
        </p:nvSpPr>
        <p:spPr bwMode="auto">
          <a:xfrm>
            <a:off x="548554" y="3211398"/>
            <a:ext cx="3180614" cy="461665"/>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a:spAutoFit/>
          </a:bodyPr>
          <a:lstStyle/>
          <a:p>
            <a:pPr algn="ctr" defTabSz="914400"/>
            <a:r>
              <a:rPr lang="en-US" altLang="zh-CN" sz="2400" b="1" dirty="0">
                <a:latin typeface="Times New Roman" pitchFamily="18" charset="0"/>
                <a:ea typeface="微软雅黑" pitchFamily="34" charset="-122"/>
                <a:cs typeface="Times New Roman" pitchFamily="18" charset="0"/>
              </a:rPr>
              <a:t>(a) </a:t>
            </a:r>
            <a:r>
              <a:rPr lang="zh-CN" altLang="en-US" sz="2400" b="1" dirty="0">
                <a:latin typeface="Times New Roman" pitchFamily="18" charset="0"/>
                <a:ea typeface="微软雅黑" pitchFamily="34" charset="-122"/>
                <a:cs typeface="Times New Roman" pitchFamily="18" charset="0"/>
              </a:rPr>
              <a:t>入射光脉冲方波</a:t>
            </a:r>
            <a:endParaRPr lang="en-US" altLang="zh-CN" sz="2400" b="1" dirty="0">
              <a:latin typeface="Times New Roman" pitchFamily="18" charset="0"/>
              <a:ea typeface="微软雅黑" pitchFamily="34" charset="-122"/>
              <a:cs typeface="Times New Roman" pitchFamily="18" charset="0"/>
            </a:endParaRPr>
          </a:p>
        </p:txBody>
      </p:sp>
      <p:sp>
        <p:nvSpPr>
          <p:cNvPr id="37897" name="矩形 8"/>
          <p:cNvSpPr>
            <a:spLocks noChangeArrowheads="1"/>
          </p:cNvSpPr>
          <p:nvPr/>
        </p:nvSpPr>
        <p:spPr bwMode="auto">
          <a:xfrm>
            <a:off x="941013" y="6253588"/>
            <a:ext cx="2360968" cy="461665"/>
          </a:xfrm>
          <a:prstGeom prst="rect">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9525">
            <a:noFill/>
            <a:miter lim="800000"/>
            <a:headEnd/>
            <a:tailEnd/>
          </a:ln>
        </p:spPr>
        <p:txBody>
          <a:bodyPr wrap="square">
            <a:spAutoFit/>
          </a:bodyPr>
          <a:lstStyle/>
          <a:p>
            <a:pPr defTabSz="914400"/>
            <a:r>
              <a:rPr lang="zh-CN" altLang="en-US" sz="2400" b="1" dirty="0">
                <a:latin typeface="Times New Roman" pitchFamily="18" charset="0"/>
                <a:ea typeface="微软雅黑" pitchFamily="34" charset="-122"/>
                <a:cs typeface="Times New Roman" pitchFamily="18" charset="0"/>
              </a:rPr>
              <a:t>（</a:t>
            </a:r>
            <a:r>
              <a:rPr lang="en-US" altLang="zh-CN" sz="2400" b="1" dirty="0">
                <a:latin typeface="Times New Roman" pitchFamily="18" charset="0"/>
                <a:ea typeface="微软雅黑" pitchFamily="34" charset="-122"/>
                <a:cs typeface="Times New Roman" pitchFamily="18" charset="0"/>
              </a:rPr>
              <a:t>b</a:t>
            </a:r>
            <a:r>
              <a:rPr lang="zh-CN" altLang="en-US" sz="2400" b="1" dirty="0">
                <a:latin typeface="Times New Roman" pitchFamily="18" charset="0"/>
                <a:ea typeface="微软雅黑" pitchFamily="34" charset="-122"/>
                <a:cs typeface="Times New Roman" pitchFamily="18" charset="0"/>
              </a:rPr>
              <a:t>）响应时间</a:t>
            </a:r>
            <a:endParaRPr lang="en-US" altLang="zh-CN" sz="2400" b="1" dirty="0">
              <a:latin typeface="Times New Roman" pitchFamily="18" charset="0"/>
              <a:ea typeface="微软雅黑" pitchFamily="34" charset="-122"/>
              <a:cs typeface="Times New Roman" pitchFamily="18" charset="0"/>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2458" y="1892730"/>
            <a:ext cx="8989343" cy="5209458"/>
          </a:xfrm>
          <a:prstGeom prst="rect">
            <a:avLst/>
          </a:prstGeom>
        </p:spPr>
      </p:pic>
      <p:sp>
        <p:nvSpPr>
          <p:cNvPr id="3" name="圆角矩形 2"/>
          <p:cNvSpPr/>
          <p:nvPr/>
        </p:nvSpPr>
        <p:spPr>
          <a:xfrm>
            <a:off x="11240655" y="2613891"/>
            <a:ext cx="997528" cy="4562764"/>
          </a:xfrm>
          <a:prstGeom prst="roundRect">
            <a:avLst/>
          </a:prstGeom>
          <a:solidFill>
            <a:schemeClr val="accent6">
              <a:lumMod val="60000"/>
              <a:lumOff val="40000"/>
              <a:alpha val="26000"/>
            </a:schemeClr>
          </a:solid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64238759"/>
              </p:ext>
            </p:extLst>
          </p:nvPr>
        </p:nvGraphicFramePr>
        <p:xfrm>
          <a:off x="996950" y="904875"/>
          <a:ext cx="2879725" cy="2541588"/>
        </p:xfrm>
        <a:graphic>
          <a:graphicData uri="http://schemas.openxmlformats.org/presentationml/2006/ole">
            <mc:AlternateContent xmlns:mc="http://schemas.openxmlformats.org/markup-compatibility/2006">
              <mc:Choice xmlns:v="urn:schemas-microsoft-com:vml" Requires="v">
                <p:oleObj spid="_x0000_s50310" name="Visio" r:id="rId4" imgW="1242360" imgH="1096560" progId="Visio.Drawing.15">
                  <p:embed/>
                </p:oleObj>
              </mc:Choice>
              <mc:Fallback>
                <p:oleObj name="Visio" r:id="rId4" imgW="1242360" imgH="1096560" progId="Visio.Drawing.15">
                  <p:embed/>
                  <p:pic>
                    <p:nvPicPr>
                      <p:cNvPr id="0" name="Object 80"/>
                      <p:cNvPicPr>
                        <a:picLocks noChangeAspect="1" noChangeArrowheads="1"/>
                      </p:cNvPicPr>
                      <p:nvPr/>
                    </p:nvPicPr>
                    <p:blipFill>
                      <a:blip r:embed="rId5"/>
                      <a:srcRect/>
                      <a:stretch>
                        <a:fillRect/>
                      </a:stretch>
                    </p:blipFill>
                    <p:spPr bwMode="auto">
                      <a:xfrm>
                        <a:off x="996950" y="904875"/>
                        <a:ext cx="2879725" cy="254158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7819191"/>
              </p:ext>
            </p:extLst>
          </p:nvPr>
        </p:nvGraphicFramePr>
        <p:xfrm>
          <a:off x="895350" y="3789363"/>
          <a:ext cx="2984500" cy="2419350"/>
        </p:xfrm>
        <a:graphic>
          <a:graphicData uri="http://schemas.openxmlformats.org/presentationml/2006/ole">
            <mc:AlternateContent xmlns:mc="http://schemas.openxmlformats.org/markup-compatibility/2006">
              <mc:Choice xmlns:v="urn:schemas-microsoft-com:vml" Requires="v">
                <p:oleObj spid="_x0000_s50311" name="Visio" r:id="rId6" imgW="1285776" imgH="1133325" progId="Visio.Drawing.15">
                  <p:embed/>
                </p:oleObj>
              </mc:Choice>
              <mc:Fallback>
                <p:oleObj name="Visio" r:id="rId6" imgW="1285776" imgH="1133325" progId="Visio.Drawing.15">
                  <p:embed/>
                  <p:pic>
                    <p:nvPicPr>
                      <p:cNvPr id="0" name="Object 82"/>
                      <p:cNvPicPr>
                        <a:picLocks noChangeAspect="1" noChangeArrowheads="1"/>
                      </p:cNvPicPr>
                      <p:nvPr/>
                    </p:nvPicPr>
                    <p:blipFill>
                      <a:blip r:embed="rId7"/>
                      <a:srcRect/>
                      <a:stretch>
                        <a:fillRect/>
                      </a:stretch>
                    </p:blipFill>
                    <p:spPr bwMode="auto">
                      <a:xfrm>
                        <a:off x="895350" y="3789363"/>
                        <a:ext cx="2984500" cy="2419350"/>
                      </a:xfrm>
                      <a:prstGeom prst="rect">
                        <a:avLst/>
                      </a:prstGeom>
                      <a:noFill/>
                    </p:spPr>
                  </p:pic>
                </p:oleObj>
              </mc:Fallback>
            </mc:AlternateContent>
          </a:graphicData>
        </a:graphic>
      </p:graphicFrame>
      <p:cxnSp>
        <p:nvCxnSpPr>
          <p:cNvPr id="13" name="直接连接符 12"/>
          <p:cNvCxnSpPr/>
          <p:nvPr/>
        </p:nvCxnSpPr>
        <p:spPr>
          <a:xfrm>
            <a:off x="2820988" y="991006"/>
            <a:ext cx="0" cy="6259537"/>
          </a:xfrm>
          <a:prstGeom prst="line">
            <a:avLst/>
          </a:prstGeom>
          <a:ln w="31750">
            <a:solidFill>
              <a:srgbClr val="FF00FF"/>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744953" y="991006"/>
            <a:ext cx="0" cy="6259537"/>
          </a:xfrm>
          <a:prstGeom prst="line">
            <a:avLst/>
          </a:prstGeom>
          <a:ln w="31750">
            <a:solidFill>
              <a:srgbClr val="FF00FF"/>
            </a:solidFill>
            <a:prstDash val="dash"/>
          </a:ln>
        </p:spPr>
        <p:style>
          <a:lnRef idx="1">
            <a:schemeClr val="accent1"/>
          </a:lnRef>
          <a:fillRef idx="0">
            <a:schemeClr val="accent1"/>
          </a:fillRef>
          <a:effectRef idx="0">
            <a:schemeClr val="accent1"/>
          </a:effectRef>
          <a:fontRef idx="minor">
            <a:schemeClr val="tx1"/>
          </a:fontRef>
        </p:style>
      </p:cxnSp>
      <p:sp>
        <p:nvSpPr>
          <p:cNvPr id="19" name="矩形 8"/>
          <p:cNvSpPr>
            <a:spLocks noChangeArrowheads="1"/>
          </p:cNvSpPr>
          <p:nvPr/>
        </p:nvSpPr>
        <p:spPr bwMode="auto">
          <a:xfrm>
            <a:off x="4952709" y="1311020"/>
            <a:ext cx="3230709" cy="461665"/>
          </a:xfrm>
          <a:prstGeom prst="rect">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9525">
            <a:noFill/>
            <a:miter lim="800000"/>
            <a:headEnd/>
            <a:tailEnd/>
          </a:ln>
        </p:spPr>
        <p:txBody>
          <a:bodyPr wrap="square">
            <a:spAutoFit/>
          </a:bodyPr>
          <a:lstStyle/>
          <a:p>
            <a:pPr defTabSz="914400"/>
            <a:r>
              <a:rPr lang="zh-CN" altLang="en-US" sz="2400" b="1" dirty="0">
                <a:latin typeface="Times New Roman" pitchFamily="18" charset="0"/>
                <a:ea typeface="微软雅黑" pitchFamily="34" charset="-122"/>
                <a:cs typeface="Times New Roman" pitchFamily="18" charset="0"/>
              </a:rPr>
              <a:t>例如：高速硅</a:t>
            </a:r>
            <a:r>
              <a:rPr lang="en-US" altLang="zh-CN" sz="2400" b="1" dirty="0">
                <a:latin typeface="Times New Roman" pitchFamily="18" charset="0"/>
                <a:ea typeface="微软雅黑" pitchFamily="34" charset="-122"/>
                <a:cs typeface="Times New Roman" pitchFamily="18" charset="0"/>
              </a:rPr>
              <a:t>PIN</a:t>
            </a:r>
            <a:r>
              <a:rPr lang="zh-CN" altLang="en-US" sz="2400" b="1" dirty="0">
                <a:latin typeface="Times New Roman" pitchFamily="18" charset="0"/>
                <a:ea typeface="微软雅黑" pitchFamily="34" charset="-122"/>
                <a:cs typeface="Times New Roman" pitchFamily="18" charset="0"/>
              </a:rPr>
              <a:t>管</a:t>
            </a:r>
            <a:endParaRPr lang="en-US" altLang="zh-CN" sz="2400" b="1" dirty="0">
              <a:latin typeface="Times New Roman" pitchFamily="18" charset="0"/>
              <a:ea typeface="微软雅黑" pitchFamily="34" charset="-122"/>
              <a:cs typeface="Times New Roman" pitchFamily="18" charset="0"/>
            </a:endParaRPr>
          </a:p>
        </p:txBody>
      </p:sp>
      <p:sp>
        <p:nvSpPr>
          <p:cNvPr id="16" name="文本框 60">
            <a:extLst>
              <a:ext uri="{FF2B5EF4-FFF2-40B4-BE49-F238E27FC236}">
                <a16:creationId xmlns:a16="http://schemas.microsoft.com/office/drawing/2014/main" id="{9518F8D8-5569-4DC5-8296-7AEFCD55E94A}"/>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7" name="矩形 16">
            <a:extLst>
              <a:ext uri="{FF2B5EF4-FFF2-40B4-BE49-F238E27FC236}">
                <a16:creationId xmlns:a16="http://schemas.microsoft.com/office/drawing/2014/main" id="{EE73069B-9C3B-41E9-80C5-7AB58FD8A5F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CA514CA6-B80B-4BB7-B1DD-69C992C61E5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F46A5F37-6EC8-46D7-A80B-1739168D8ADD}"/>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31227752-D815-4AFD-9FA6-B8F7A27DF643}"/>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9E1B96AA-1AD8-47CA-9BBC-08FC9B46FF0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3807304F-2076-4580-B44C-FC6F7E38EE8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heel(1)">
                                      <p:cBhvr>
                                        <p:cTn id="4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6" grpId="0" animBg="1"/>
      <p:bldP spid="37897" grpId="0" animBg="1"/>
      <p:bldP spid="3"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4"/>
          <p:cNvSpPr txBox="1">
            <a:spLocks noChangeArrowheads="1"/>
          </p:cNvSpPr>
          <p:nvPr/>
        </p:nvSpPr>
        <p:spPr bwMode="auto">
          <a:xfrm>
            <a:off x="3211158" y="1155171"/>
            <a:ext cx="6800850" cy="584775"/>
          </a:xfrm>
          <a:prstGeom prst="rect">
            <a:avLst/>
          </a:prstGeom>
          <a:noFill/>
          <a:ln w="9525">
            <a:noFill/>
            <a:miter lim="800000"/>
            <a:headEnd/>
            <a:tailEnd/>
          </a:ln>
        </p:spPr>
        <p:txBody>
          <a:bodyPr>
            <a:spAutoFit/>
          </a:bodyPr>
          <a:lstStyle/>
          <a:p>
            <a:pPr algn="ctr" defTabSz="914400">
              <a:spcBef>
                <a:spcPct val="50000"/>
              </a:spcBef>
            </a:pPr>
            <a:r>
              <a:rPr lang="en-US" altLang="zh-CN" sz="3200" b="1" dirty="0">
                <a:solidFill>
                  <a:srgbClr val="0000FF"/>
                </a:solidFill>
                <a:latin typeface="Times New Roman" pitchFamily="18" charset="0"/>
                <a:ea typeface="微软雅黑" pitchFamily="34" charset="-122"/>
                <a:cs typeface="Times New Roman" pitchFamily="18" charset="0"/>
              </a:rPr>
              <a:t>3.</a:t>
            </a:r>
            <a:r>
              <a:rPr lang="zh-CN" altLang="en-US" sz="3200" b="1" dirty="0">
                <a:solidFill>
                  <a:srgbClr val="0000FF"/>
                </a:solidFill>
                <a:latin typeface="Times New Roman" pitchFamily="18" charset="0"/>
                <a:ea typeface="微软雅黑" pitchFamily="34" charset="-122"/>
                <a:cs typeface="Times New Roman" pitchFamily="18" charset="0"/>
              </a:rPr>
              <a:t>频率响应</a:t>
            </a:r>
            <a:r>
              <a:rPr lang="en-US" altLang="zh-CN" sz="3200" b="1" dirty="0">
                <a:solidFill>
                  <a:srgbClr val="0000FF"/>
                </a:solidFill>
                <a:latin typeface="Times New Roman" pitchFamily="18" charset="0"/>
                <a:ea typeface="微软雅黑" pitchFamily="34" charset="-122"/>
                <a:cs typeface="Times New Roman" pitchFamily="18" charset="0"/>
              </a:rPr>
              <a:t>(Frequency response) </a:t>
            </a:r>
            <a:endParaRPr lang="zh-CN" altLang="en-US" sz="3200" b="1" dirty="0">
              <a:solidFill>
                <a:srgbClr val="0000FF"/>
              </a:solidFill>
              <a:latin typeface="Times New Roman" pitchFamily="18" charset="0"/>
              <a:ea typeface="微软雅黑" pitchFamily="34" charset="-122"/>
              <a:cs typeface="Times New Roman" pitchFamily="18" charset="0"/>
            </a:endParaRPr>
          </a:p>
        </p:txBody>
      </p:sp>
      <p:sp>
        <p:nvSpPr>
          <p:cNvPr id="11268" name="Text Box 5"/>
          <p:cNvSpPr txBox="1">
            <a:spLocks noChangeArrowheads="1"/>
          </p:cNvSpPr>
          <p:nvPr/>
        </p:nvSpPr>
        <p:spPr bwMode="auto">
          <a:xfrm>
            <a:off x="620679" y="1905787"/>
            <a:ext cx="11351909" cy="738664"/>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黑体" pitchFamily="2" charset="-122"/>
                <a:ea typeface="黑体" pitchFamily="2" charset="-122"/>
              </a:rPr>
              <a:t>    </a:t>
            </a:r>
            <a:r>
              <a:rPr lang="zh-CN" altLang="en-US" sz="2800" b="1" dirty="0">
                <a:latin typeface="微软雅黑" pitchFamily="34" charset="-122"/>
                <a:ea typeface="微软雅黑" pitchFamily="34" charset="-122"/>
              </a:rPr>
              <a:t>光电探测器的响应随入射辐射的调制频率而变化的特性。</a:t>
            </a:r>
          </a:p>
        </p:txBody>
      </p:sp>
      <p:sp>
        <p:nvSpPr>
          <p:cNvPr id="11269" name="Text Box 6"/>
          <p:cNvSpPr txBox="1">
            <a:spLocks noChangeArrowheads="1"/>
          </p:cNvSpPr>
          <p:nvPr/>
        </p:nvSpPr>
        <p:spPr bwMode="auto">
          <a:xfrm>
            <a:off x="620678" y="2677034"/>
            <a:ext cx="12381554"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lang="zh-CN" altLang="en-US" sz="2800" b="1" dirty="0">
                <a:latin typeface="黑体" pitchFamily="2" charset="-122"/>
                <a:ea typeface="黑体" pitchFamily="2" charset="-122"/>
              </a:rPr>
              <a:t>    </a:t>
            </a:r>
            <a:r>
              <a:rPr lang="zh-CN" altLang="en-US" sz="2800" b="1" dirty="0">
                <a:latin typeface="微软雅黑" pitchFamily="34" charset="-122"/>
                <a:ea typeface="微软雅黑" pitchFamily="34" charset="-122"/>
              </a:rPr>
              <a:t>由于光电探测器信号的产生和消失存在着一个滞后过程，因此入射光辐射的频率对光电探测器的响应将会有很大的影响。</a:t>
            </a:r>
          </a:p>
        </p:txBody>
      </p:sp>
      <p:sp>
        <p:nvSpPr>
          <p:cNvPr id="11270" name="Text Box 7"/>
          <p:cNvSpPr txBox="1">
            <a:spLocks noChangeArrowheads="1"/>
          </p:cNvSpPr>
          <p:nvPr/>
        </p:nvSpPr>
        <p:spPr bwMode="auto">
          <a:xfrm>
            <a:off x="1185863" y="4246749"/>
            <a:ext cx="9297410" cy="523220"/>
          </a:xfrm>
          <a:prstGeom prst="rect">
            <a:avLst/>
          </a:prstGeom>
          <a:noFill/>
          <a:ln w="9525">
            <a:noFill/>
            <a:miter lim="800000"/>
            <a:headEnd/>
            <a:tailEnd/>
          </a:ln>
        </p:spPr>
        <p:txBody>
          <a:bodyPr wrap="square">
            <a:spAutoFit/>
          </a:bodyPr>
          <a:lstStyle/>
          <a:p>
            <a:pPr defTabSz="914400">
              <a:spcBef>
                <a:spcPct val="50000"/>
              </a:spcBef>
            </a:pPr>
            <a:r>
              <a:rPr lang="zh-CN" altLang="en-US" sz="2800" b="1" dirty="0">
                <a:latin typeface="微软雅黑" pitchFamily="34" charset="-122"/>
                <a:ea typeface="微软雅黑" pitchFamily="34" charset="-122"/>
              </a:rPr>
              <a:t>光电探测器灵敏度与</a:t>
            </a:r>
            <a:r>
              <a:rPr lang="zh-CN" altLang="en-US" sz="2800" b="1" dirty="0">
                <a:solidFill>
                  <a:srgbClr val="FF0000"/>
                </a:solidFill>
                <a:latin typeface="微软雅黑" pitchFamily="34" charset="-122"/>
                <a:ea typeface="微软雅黑" pitchFamily="34" charset="-122"/>
              </a:rPr>
              <a:t>入射光辐射调制频率</a:t>
            </a:r>
            <a:r>
              <a:rPr lang="zh-CN" altLang="en-US" sz="2800" b="1" dirty="0">
                <a:latin typeface="微软雅黑" pitchFamily="34" charset="-122"/>
                <a:ea typeface="微软雅黑" pitchFamily="34" charset="-122"/>
              </a:rPr>
              <a:t>的关系可表示为</a:t>
            </a:r>
          </a:p>
        </p:txBody>
      </p:sp>
      <p:graphicFrame>
        <p:nvGraphicFramePr>
          <p:cNvPr id="11266" name="Object 2"/>
          <p:cNvGraphicFramePr>
            <a:graphicFrameLocks noChangeAspect="1"/>
          </p:cNvGraphicFramePr>
          <p:nvPr>
            <p:extLst>
              <p:ext uri="{D42A27DB-BD31-4B8C-83A1-F6EECF244321}">
                <p14:modId xmlns:p14="http://schemas.microsoft.com/office/powerpoint/2010/main" val="592155284"/>
              </p:ext>
            </p:extLst>
          </p:nvPr>
        </p:nvGraphicFramePr>
        <p:xfrm>
          <a:off x="4157864" y="5012246"/>
          <a:ext cx="3557588" cy="1019175"/>
        </p:xfrm>
        <a:graphic>
          <a:graphicData uri="http://schemas.openxmlformats.org/presentationml/2006/ole">
            <mc:AlternateContent xmlns:mc="http://schemas.openxmlformats.org/markup-compatibility/2006">
              <mc:Choice xmlns:v="urn:schemas-microsoft-com:vml" Requires="v">
                <p:oleObj spid="_x0000_s39033" name="Equation" r:id="rId3" imgW="1460160" imgH="419040" progId="Equation.DSMT4">
                  <p:embed/>
                </p:oleObj>
              </mc:Choice>
              <mc:Fallback>
                <p:oleObj name="Equation" r:id="rId3" imgW="1460160" imgH="4190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7864" y="5012246"/>
                        <a:ext cx="3557588" cy="1019175"/>
                      </a:xfrm>
                      <a:prstGeom prst="rect">
                        <a:avLst/>
                      </a:prstGeom>
                      <a:solidFill>
                        <a:srgbClr val="FFFF00"/>
                      </a:solidFill>
                    </p:spPr>
                  </p:pic>
                </p:oleObj>
              </mc:Fallback>
            </mc:AlternateContent>
          </a:graphicData>
        </a:graphic>
      </p:graphicFrame>
      <mc:AlternateContent xmlns:mc="http://schemas.openxmlformats.org/markup-compatibility/2006" xmlns:a14="http://schemas.microsoft.com/office/drawing/2010/main">
        <mc:Choice Requires="a14">
          <p:sp>
            <p:nvSpPr>
              <p:cNvPr id="12" name="Text Box 7"/>
              <p:cNvSpPr txBox="1">
                <a:spLocks noChangeArrowheads="1"/>
              </p:cNvSpPr>
              <p:nvPr/>
            </p:nvSpPr>
            <p:spPr bwMode="auto">
              <a:xfrm>
                <a:off x="1261770" y="6273698"/>
                <a:ext cx="11099371" cy="523220"/>
              </a:xfrm>
              <a:prstGeom prst="rect">
                <a:avLst/>
              </a:prstGeom>
              <a:noFill/>
              <a:ln w="9525">
                <a:noFill/>
                <a:miter lim="800000"/>
                <a:headEnd/>
                <a:tailEnd/>
              </a:ln>
            </p:spPr>
            <p:txBody>
              <a:bodyPr wrap="square">
                <a:spAutoFit/>
              </a:bodyPr>
              <a:lstStyle/>
              <a:p>
                <a:pPr defTabSz="914400">
                  <a:spcBef>
                    <a:spcPct val="50000"/>
                  </a:spcBef>
                </a:pPr>
                <a:r>
                  <a:rPr lang="zh-CN" altLang="en-US" sz="2800" b="1" dirty="0">
                    <a:latin typeface="Times New Roman" panose="02020603050405020304" pitchFamily="18" charset="0"/>
                    <a:ea typeface="微软雅黑" pitchFamily="34" charset="-122"/>
                    <a:cs typeface="Times New Roman" panose="02020603050405020304" pitchFamily="18" charset="0"/>
                  </a:rPr>
                  <a:t>式中：</a:t>
                </a:r>
                <a:r>
                  <a:rPr lang="en-US" altLang="zh-CN" sz="2800" b="1" dirty="0">
                    <a:latin typeface="Times New Roman" panose="02020603050405020304" pitchFamily="18" charset="0"/>
                    <a:ea typeface="微软雅黑" pitchFamily="34" charset="-122"/>
                    <a:cs typeface="Times New Roman" panose="02020603050405020304" pitchFamily="18" charset="0"/>
                  </a:rPr>
                  <a:t>S(</a:t>
                </a:r>
                <a:r>
                  <a:rPr lang="en-US" altLang="zh-CN" sz="2800" b="1" i="1" dirty="0">
                    <a:latin typeface="Times New Roman" panose="02020603050405020304" pitchFamily="18" charset="0"/>
                    <a:ea typeface="微软雅黑" pitchFamily="34" charset="-122"/>
                    <a:cs typeface="Times New Roman" panose="02020603050405020304" pitchFamily="18" charset="0"/>
                  </a:rPr>
                  <a:t>f</a:t>
                </a:r>
                <a:r>
                  <a:rPr lang="en-US" altLang="zh-CN" sz="2800" b="1" dirty="0">
                    <a:latin typeface="Times New Roman" panose="02020603050405020304" pitchFamily="18" charset="0"/>
                    <a:ea typeface="微软雅黑" pitchFamily="34" charset="-122"/>
                    <a:cs typeface="Times New Roman" panose="02020603050405020304" pitchFamily="18" charset="0"/>
                  </a:rPr>
                  <a:t>)</a:t>
                </a:r>
                <a:r>
                  <a:rPr lang="zh-CN" altLang="en-US" sz="2800" b="1" dirty="0">
                    <a:latin typeface="Times New Roman" panose="02020603050405020304" pitchFamily="18" charset="0"/>
                    <a:ea typeface="微软雅黑" pitchFamily="34" charset="-122"/>
                    <a:cs typeface="Times New Roman" panose="02020603050405020304" pitchFamily="18" charset="0"/>
                  </a:rPr>
                  <a:t>为频率为</a:t>
                </a:r>
                <a:r>
                  <a:rPr lang="en-US" altLang="zh-CN" sz="2800" b="1" i="1" dirty="0">
                    <a:latin typeface="Times New Roman" panose="02020603050405020304" pitchFamily="18" charset="0"/>
                    <a:ea typeface="微软雅黑" pitchFamily="34" charset="-122"/>
                    <a:cs typeface="Times New Roman" panose="02020603050405020304" pitchFamily="18" charset="0"/>
                  </a:rPr>
                  <a:t>f</a:t>
                </a:r>
                <a:r>
                  <a:rPr lang="zh-CN" altLang="en-US" sz="2800" b="1" dirty="0">
                    <a:latin typeface="Times New Roman" panose="02020603050405020304" pitchFamily="18" charset="0"/>
                    <a:ea typeface="微软雅黑" pitchFamily="34" charset="-122"/>
                    <a:cs typeface="Times New Roman" panose="02020603050405020304" pitchFamily="18" charset="0"/>
                  </a:rPr>
                  <a:t>时的灵敏度，</a:t>
                </a:r>
                <a14:m>
                  <m:oMath xmlns:m="http://schemas.openxmlformats.org/officeDocument/2006/math">
                    <m:sSub>
                      <m:sSubPr>
                        <m:ctrlPr>
                          <a:rPr lang="en-US" altLang="zh-CN" sz="2800" b="1" i="1" dirty="0" smtClean="0">
                            <a:latin typeface="Cambria Math" panose="02040503050406030204" pitchFamily="18" charset="0"/>
                            <a:ea typeface="微软雅黑" pitchFamily="34" charset="-122"/>
                            <a:cs typeface="Times New Roman" panose="02020603050405020304" pitchFamily="18" charset="0"/>
                          </a:rPr>
                        </m:ctrlPr>
                      </m:sSubPr>
                      <m:e>
                        <m:r>
                          <m:rPr>
                            <m:sty m:val="p"/>
                          </m:rPr>
                          <a:rPr lang="en-US" altLang="zh-CN" sz="2800" b="1" i="1" dirty="0">
                            <a:latin typeface="Cambria Math" panose="02040503050406030204" pitchFamily="18" charset="0"/>
                            <a:ea typeface="微软雅黑" pitchFamily="34" charset="-122"/>
                            <a:cs typeface="Times New Roman" panose="02020603050405020304" pitchFamily="18" charset="0"/>
                          </a:rPr>
                          <m:t>S</m:t>
                        </m:r>
                      </m:e>
                      <m:sub>
                        <m:r>
                          <a:rPr lang="en-US" altLang="zh-CN" sz="2800" b="1" i="1" dirty="0" smtClean="0">
                            <a:latin typeface="Cambria Math" panose="02040503050406030204" pitchFamily="18" charset="0"/>
                            <a:ea typeface="微软雅黑" pitchFamily="34" charset="-122"/>
                            <a:cs typeface="Times New Roman" panose="02020603050405020304" pitchFamily="18" charset="0"/>
                          </a:rPr>
                          <m:t>𝟎</m:t>
                        </m:r>
                      </m:sub>
                    </m:sSub>
                  </m:oMath>
                </a14:m>
                <a:r>
                  <a:rPr lang="zh-CN" altLang="en-US" sz="2800" b="1" dirty="0">
                    <a:latin typeface="Times New Roman" panose="02020603050405020304" pitchFamily="18" charset="0"/>
                    <a:ea typeface="微软雅黑" pitchFamily="34" charset="-122"/>
                    <a:cs typeface="Times New Roman" panose="02020603050405020304" pitchFamily="18" charset="0"/>
                  </a:rPr>
                  <a:t>为频率为</a:t>
                </a:r>
                <a:r>
                  <a:rPr lang="en-US" altLang="zh-CN" sz="2800" b="1" dirty="0">
                    <a:latin typeface="Times New Roman" panose="02020603050405020304" pitchFamily="18" charset="0"/>
                    <a:ea typeface="微软雅黑" pitchFamily="34" charset="-122"/>
                    <a:cs typeface="Times New Roman" panose="02020603050405020304" pitchFamily="18" charset="0"/>
                  </a:rPr>
                  <a:t>0</a:t>
                </a:r>
                <a:r>
                  <a:rPr lang="zh-CN" altLang="en-US" sz="2800" b="1" dirty="0">
                    <a:latin typeface="Times New Roman" panose="02020603050405020304" pitchFamily="18" charset="0"/>
                    <a:ea typeface="微软雅黑" pitchFamily="34" charset="-122"/>
                    <a:cs typeface="Times New Roman" panose="02020603050405020304" pitchFamily="18" charset="0"/>
                  </a:rPr>
                  <a:t>时的灵敏度。</a:t>
                </a:r>
              </a:p>
            </p:txBody>
          </p:sp>
        </mc:Choice>
        <mc:Fallback xmlns="">
          <p:sp>
            <p:nvSpPr>
              <p:cNvPr id="12" name="Text Box 7"/>
              <p:cNvSpPr txBox="1">
                <a:spLocks noRot="1" noChangeAspect="1" noMove="1" noResize="1" noEditPoints="1" noAdjustHandles="1" noChangeArrowheads="1" noChangeShapeType="1" noTextEdit="1"/>
              </p:cNvSpPr>
              <p:nvPr/>
            </p:nvSpPr>
            <p:spPr bwMode="auto">
              <a:xfrm>
                <a:off x="1261770" y="6273698"/>
                <a:ext cx="11099371" cy="523220"/>
              </a:xfrm>
              <a:prstGeom prst="rect">
                <a:avLst/>
              </a:prstGeom>
              <a:blipFill rotWithShape="0">
                <a:blip r:embed="rId7"/>
                <a:stretch>
                  <a:fillRect l="-1153" t="-11628" b="-31395"/>
                </a:stretch>
              </a:blipFill>
              <a:ln w="9525">
                <a:noFill/>
                <a:miter lim="800000"/>
                <a:headEnd/>
                <a:tailEnd/>
              </a:ln>
            </p:spPr>
            <p:txBody>
              <a:bodyPr/>
              <a:lstStyle/>
              <a:p>
                <a:r>
                  <a:rPr lang="zh-CN" altLang="en-US">
                    <a:noFill/>
                  </a:rPr>
                  <a:t> </a:t>
                </a:r>
              </a:p>
            </p:txBody>
          </p:sp>
        </mc:Fallback>
      </mc:AlternateContent>
      <p:sp>
        <p:nvSpPr>
          <p:cNvPr id="15" name="文本框 60">
            <a:extLst>
              <a:ext uri="{FF2B5EF4-FFF2-40B4-BE49-F238E27FC236}">
                <a16:creationId xmlns:a16="http://schemas.microsoft.com/office/drawing/2014/main" id="{F8DFB103-7CE1-4063-89BA-B59FFA049770}"/>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6" name="矩形 15">
            <a:extLst>
              <a:ext uri="{FF2B5EF4-FFF2-40B4-BE49-F238E27FC236}">
                <a16:creationId xmlns:a16="http://schemas.microsoft.com/office/drawing/2014/main" id="{1DA7ABA6-7CE8-41C1-B511-2A26F8AD728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6C406ABF-26A8-4243-BD5F-1F0F8606115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A4119132-3F91-4F5D-ABFC-73C473C4CE61}"/>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id="{52FA96B3-388D-419F-94A1-B89776AE3371}"/>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E340228E-7EBD-4A02-A8F8-482D0AE61D3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id="{A051730C-0994-48DF-B849-8634F3B6F6B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box(in)">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box(in)">
                                      <p:cBhvr>
                                        <p:cTn id="12" dur="500"/>
                                        <p:tgtEl>
                                          <p:spTgt spid="1126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269"/>
                                        </p:tgtEl>
                                        <p:attrNameLst>
                                          <p:attrName>style.visibility</p:attrName>
                                        </p:attrNameLst>
                                      </p:cBhvr>
                                      <p:to>
                                        <p:strVal val="visible"/>
                                      </p:to>
                                    </p:set>
                                    <p:animEffect transition="in" filter="box(in)">
                                      <p:cBhvr>
                                        <p:cTn id="17" dur="500"/>
                                        <p:tgtEl>
                                          <p:spTgt spid="1126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270"/>
                                        </p:tgtEl>
                                        <p:attrNameLst>
                                          <p:attrName>style.visibility</p:attrName>
                                        </p:attrNameLst>
                                      </p:cBhvr>
                                      <p:to>
                                        <p:strVal val="visible"/>
                                      </p:to>
                                    </p:set>
                                    <p:animEffect transition="in" filter="box(in)">
                                      <p:cBhvr>
                                        <p:cTn id="22" dur="500"/>
                                        <p:tgtEl>
                                          <p:spTgt spid="1127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1266"/>
                                        </p:tgtEl>
                                        <p:attrNameLst>
                                          <p:attrName>style.visibility</p:attrName>
                                        </p:attrNameLst>
                                      </p:cBhvr>
                                      <p:to>
                                        <p:strVal val="visible"/>
                                      </p:to>
                                    </p:set>
                                    <p:animEffect transition="in" filter="box(in)">
                                      <p:cBhvr>
                                        <p:cTn id="27" dur="500"/>
                                        <p:tgtEl>
                                          <p:spTgt spid="1126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in)">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p:bldP spid="11269" grpId="0"/>
      <p:bldP spid="1127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ChangeAspect="1"/>
          </p:cNvGraphicFramePr>
          <p:nvPr>
            <p:extLst>
              <p:ext uri="{D42A27DB-BD31-4B8C-83A1-F6EECF244321}">
                <p14:modId xmlns:p14="http://schemas.microsoft.com/office/powerpoint/2010/main" val="62934853"/>
              </p:ext>
            </p:extLst>
          </p:nvPr>
        </p:nvGraphicFramePr>
        <p:xfrm>
          <a:off x="2352675" y="1365453"/>
          <a:ext cx="3278188" cy="1019175"/>
        </p:xfrm>
        <a:graphic>
          <a:graphicData uri="http://schemas.openxmlformats.org/presentationml/2006/ole">
            <mc:AlternateContent xmlns:mc="http://schemas.openxmlformats.org/markup-compatibility/2006">
              <mc:Choice xmlns:v="urn:schemas-microsoft-com:vml" Requires="v">
                <p:oleObj spid="_x0000_s40375" name="Equation" r:id="rId3" imgW="1346040" imgH="419040" progId="Equation.DSMT4">
                  <p:embed/>
                </p:oleObj>
              </mc:Choice>
              <mc:Fallback>
                <p:oleObj name="Equation" r:id="rId3" imgW="1346040" imgH="419040" progId="Equation.DSMT4">
                  <p:embed/>
                  <p:pic>
                    <p:nvPicPr>
                      <p:cNvPr id="0" name="Object 2"/>
                      <p:cNvPicPr>
                        <a:picLocks noChangeAspect="1" noChangeArrowheads="1"/>
                      </p:cNvPicPr>
                      <p:nvPr/>
                    </p:nvPicPr>
                    <p:blipFill>
                      <a:blip r:embed="rId4"/>
                      <a:srcRect/>
                      <a:stretch>
                        <a:fillRect/>
                      </a:stretch>
                    </p:blipFill>
                    <p:spPr bwMode="auto">
                      <a:xfrm>
                        <a:off x="2352675" y="1365453"/>
                        <a:ext cx="3278188" cy="1019175"/>
                      </a:xfrm>
                      <a:prstGeom prst="rect">
                        <a:avLst/>
                      </a:prstGeom>
                      <a:solidFill>
                        <a:srgbClr val="FFFF00"/>
                      </a:solidFill>
                    </p:spPr>
                  </p:pic>
                </p:oleObj>
              </mc:Fallback>
            </mc:AlternateContent>
          </a:graphicData>
        </a:graphic>
      </p:graphicFrame>
      <p:graphicFrame>
        <p:nvGraphicFramePr>
          <p:cNvPr id="12291" name="Object 3"/>
          <p:cNvGraphicFramePr>
            <a:graphicFrameLocks noChangeAspect="1"/>
          </p:cNvGraphicFramePr>
          <p:nvPr>
            <p:extLst>
              <p:ext uri="{D42A27DB-BD31-4B8C-83A1-F6EECF244321}">
                <p14:modId xmlns:p14="http://schemas.microsoft.com/office/powerpoint/2010/main" val="3299658325"/>
              </p:ext>
            </p:extLst>
          </p:nvPr>
        </p:nvGraphicFramePr>
        <p:xfrm>
          <a:off x="2211387" y="4990956"/>
          <a:ext cx="2752725" cy="957263"/>
        </p:xfrm>
        <a:graphic>
          <a:graphicData uri="http://schemas.openxmlformats.org/presentationml/2006/ole">
            <mc:AlternateContent xmlns:mc="http://schemas.openxmlformats.org/markup-compatibility/2006">
              <mc:Choice xmlns:v="urn:schemas-microsoft-com:vml" Requires="v">
                <p:oleObj spid="_x0000_s40376" name="公式" r:id="rId5" imgW="1130040" imgH="393480" progId="Equation.3">
                  <p:embed/>
                </p:oleObj>
              </mc:Choice>
              <mc:Fallback>
                <p:oleObj name="公式" r:id="rId5" imgW="1130040" imgH="3934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1387" y="4990956"/>
                        <a:ext cx="2752725" cy="957263"/>
                      </a:xfrm>
                      <a:prstGeom prst="rect">
                        <a:avLst/>
                      </a:prstGeom>
                      <a:solidFill>
                        <a:srgbClr val="FFFF00"/>
                      </a:solidFill>
                    </p:spPr>
                  </p:pic>
                </p:oleObj>
              </mc:Fallback>
            </mc:AlternateContent>
          </a:graphicData>
        </a:graphic>
      </p:graphicFrame>
      <p:sp>
        <p:nvSpPr>
          <p:cNvPr id="12293" name="Text Box 7"/>
          <p:cNvSpPr txBox="1">
            <a:spLocks noChangeArrowheads="1"/>
          </p:cNvSpPr>
          <p:nvPr/>
        </p:nvSpPr>
        <p:spPr bwMode="auto">
          <a:xfrm>
            <a:off x="675771" y="1519440"/>
            <a:ext cx="1669395" cy="584775"/>
          </a:xfrm>
          <a:prstGeom prst="rect">
            <a:avLst/>
          </a:prstGeom>
          <a:noFill/>
          <a:ln w="9525">
            <a:noFill/>
            <a:miter lim="800000"/>
            <a:headEnd/>
            <a:tailEnd/>
          </a:ln>
        </p:spPr>
        <p:txBody>
          <a:bodyPr wrap="square">
            <a:spAutoFit/>
          </a:bodyPr>
          <a:lstStyle/>
          <a:p>
            <a:pPr defTabSz="914400">
              <a:spcBef>
                <a:spcPct val="50000"/>
              </a:spcBef>
            </a:pPr>
            <a:r>
              <a:rPr lang="zh-CN" altLang="en-US" sz="3200" b="1" dirty="0">
                <a:latin typeface="微软雅黑" panose="020B0503020204020204" pitchFamily="34" charset="-122"/>
                <a:ea typeface="微软雅黑" panose="020B0503020204020204" pitchFamily="34" charset="-122"/>
              </a:rPr>
              <a:t>规定当</a:t>
            </a:r>
          </a:p>
        </p:txBody>
      </p:sp>
      <mc:AlternateContent xmlns:mc="http://schemas.openxmlformats.org/markup-compatibility/2006" xmlns:a14="http://schemas.microsoft.com/office/drawing/2010/main">
        <mc:Choice Requires="a14">
          <p:sp>
            <p:nvSpPr>
              <p:cNvPr id="12294" name="Text Box 8"/>
              <p:cNvSpPr txBox="1">
                <a:spLocks noChangeArrowheads="1"/>
              </p:cNvSpPr>
              <p:nvPr/>
            </p:nvSpPr>
            <p:spPr bwMode="auto">
              <a:xfrm>
                <a:off x="675771" y="2783281"/>
                <a:ext cx="5256532" cy="586122"/>
              </a:xfrm>
              <a:prstGeom prst="rect">
                <a:avLst/>
              </a:prstGeom>
              <a:noFill/>
              <a:ln w="9525">
                <a:noFill/>
                <a:miter lim="800000"/>
                <a:headEnd/>
                <a:tailEnd/>
              </a:ln>
            </p:spPr>
            <p:txBody>
              <a:bodyPr wrap="square">
                <a:spAutoFit/>
              </a:bodyPr>
              <a:lstStyle/>
              <a:p>
                <a:pPr defTabSz="914400">
                  <a:spcBef>
                    <a:spcPct val="50000"/>
                  </a:spcBef>
                </a:pPr>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此时的频率</a:t>
                </a:r>
                <a14:m>
                  <m:oMath xmlns:m="http://schemas.openxmlformats.org/officeDocument/2006/math">
                    <m:sSub>
                      <m:sSubPr>
                        <m:ctrlPr>
                          <a:rPr lang="en-US" altLang="zh-CN" sz="3200" b="1" i="1" smtClean="0">
                            <a:latin typeface="Cambria Math" panose="02040503050406030204" pitchFamily="18" charset="0"/>
                            <a:ea typeface="微软雅黑" pitchFamily="34" charset="-122"/>
                          </a:rPr>
                        </m:ctrlPr>
                      </m:sSubPr>
                      <m:e>
                        <m:r>
                          <a:rPr lang="en-US" altLang="zh-CN" sz="3200" b="1" i="1" smtClean="0">
                            <a:latin typeface="Cambria Math" panose="02040503050406030204" pitchFamily="18" charset="0"/>
                            <a:ea typeface="微软雅黑" pitchFamily="34" charset="-122"/>
                          </a:rPr>
                          <m:t>𝒇</m:t>
                        </m:r>
                      </m:e>
                      <m:sub>
                        <m:r>
                          <a:rPr lang="en-US" altLang="zh-CN" sz="3200" b="1" i="1" smtClean="0">
                            <a:latin typeface="Cambria Math" panose="02040503050406030204" pitchFamily="18" charset="0"/>
                            <a:ea typeface="微软雅黑" pitchFamily="34" charset="-122"/>
                          </a:rPr>
                          <m:t>𝒄</m:t>
                        </m:r>
                      </m:sub>
                    </m:sSub>
                    <m:r>
                      <a:rPr lang="zh-CN" altLang="en-US" sz="3200" b="1" i="1">
                        <a:latin typeface="Cambria Math" panose="02040503050406030204" pitchFamily="18" charset="0"/>
                        <a:ea typeface="微软雅黑" pitchFamily="34" charset="-122"/>
                      </a:rPr>
                      <m:t>称</m:t>
                    </m:r>
                  </m:oMath>
                </a14:m>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为</a:t>
                </a:r>
                <a:r>
                  <a:rPr lang="zh-CN" altLang="en-US" sz="3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截止频率</a:t>
                </a:r>
              </a:p>
            </p:txBody>
          </p:sp>
        </mc:Choice>
        <mc:Fallback xmlns="">
          <p:sp>
            <p:nvSpPr>
              <p:cNvPr id="12294" name="Text Box 8"/>
              <p:cNvSpPr txBox="1">
                <a:spLocks noRot="1" noChangeAspect="1" noMove="1" noResize="1" noEditPoints="1" noAdjustHandles="1" noChangeArrowheads="1" noChangeShapeType="1" noTextEdit="1"/>
              </p:cNvSpPr>
              <p:nvPr/>
            </p:nvSpPr>
            <p:spPr bwMode="auto">
              <a:xfrm>
                <a:off x="675771" y="2783281"/>
                <a:ext cx="5256532" cy="586122"/>
              </a:xfrm>
              <a:prstGeom prst="rect">
                <a:avLst/>
              </a:prstGeom>
              <a:blipFill rotWithShape="0">
                <a:blip r:embed="rId9"/>
                <a:stretch>
                  <a:fillRect l="-3016" t="-12500" b="-34375"/>
                </a:stretch>
              </a:blipFill>
              <a:ln w="9525">
                <a:noFill/>
                <a:miter lim="800000"/>
                <a:headEnd/>
                <a:tailEnd/>
              </a:ln>
            </p:spPr>
            <p:txBody>
              <a:bodyPr/>
              <a:lstStyle/>
              <a:p>
                <a:r>
                  <a:rPr lang="zh-CN" altLang="en-US">
                    <a:noFill/>
                  </a:rPr>
                  <a:t> </a:t>
                </a:r>
              </a:p>
            </p:txBody>
          </p:sp>
        </mc:Fallback>
      </mc:AlternateContent>
      <p:sp>
        <p:nvSpPr>
          <p:cNvPr id="12295" name="Text Box 9"/>
          <p:cNvSpPr txBox="1">
            <a:spLocks noChangeArrowheads="1"/>
          </p:cNvSpPr>
          <p:nvPr/>
        </p:nvSpPr>
        <p:spPr bwMode="auto">
          <a:xfrm>
            <a:off x="5537591" y="2766438"/>
            <a:ext cx="3743581" cy="579438"/>
          </a:xfrm>
          <a:prstGeom prst="rect">
            <a:avLst/>
          </a:prstGeom>
          <a:noFill/>
          <a:ln w="9525">
            <a:noFill/>
            <a:miter lim="800000"/>
            <a:headEnd/>
            <a:tailEnd/>
          </a:ln>
        </p:spPr>
        <p:txBody>
          <a:bodyPr wrap="square">
            <a:spAutoFit/>
          </a:bodyPr>
          <a:lstStyle/>
          <a:p>
            <a:pPr algn="ctr" defTabSz="914400">
              <a:spcBef>
                <a:spcPct val="50000"/>
              </a:spcBef>
            </a:pPr>
            <a:r>
              <a:rPr lang="en-US" altLang="zh-CN" sz="3200" b="1" dirty="0">
                <a:latin typeface="Times New Roman" pitchFamily="18" charset="0"/>
                <a:ea typeface="楷体_GB2312" pitchFamily="49" charset="-122"/>
                <a:cs typeface="Times New Roman" pitchFamily="18" charset="0"/>
              </a:rPr>
              <a:t>(Cut-off  frequency)</a:t>
            </a:r>
            <a:endParaRPr lang="zh-CN" altLang="en-US" sz="3200" b="1" dirty="0">
              <a:latin typeface="Times New Roman" pitchFamily="18" charset="0"/>
              <a:ea typeface="楷体_GB2312" pitchFamily="49" charset="-122"/>
              <a:cs typeface="Times New Roman" pitchFamily="18" charset="0"/>
            </a:endParaRPr>
          </a:p>
        </p:txBody>
      </p:sp>
      <p:graphicFrame>
        <p:nvGraphicFramePr>
          <p:cNvPr id="12297" name="Object 9"/>
          <p:cNvGraphicFramePr>
            <a:graphicFrameLocks noChangeAspect="1"/>
          </p:cNvGraphicFramePr>
          <p:nvPr>
            <p:extLst>
              <p:ext uri="{D42A27DB-BD31-4B8C-83A1-F6EECF244321}">
                <p14:modId xmlns:p14="http://schemas.microsoft.com/office/powerpoint/2010/main" val="1221710857"/>
              </p:ext>
            </p:extLst>
          </p:nvPr>
        </p:nvGraphicFramePr>
        <p:xfrm>
          <a:off x="2211387" y="3538252"/>
          <a:ext cx="3713162" cy="1081087"/>
        </p:xfrm>
        <a:graphic>
          <a:graphicData uri="http://schemas.openxmlformats.org/presentationml/2006/ole">
            <mc:AlternateContent xmlns:mc="http://schemas.openxmlformats.org/markup-compatibility/2006">
              <mc:Choice xmlns:v="urn:schemas-microsoft-com:vml" Requires="v">
                <p:oleObj spid="_x0000_s40377" name="公式" r:id="rId10" imgW="1523880" imgH="444240" progId="Equation.3">
                  <p:embed/>
                </p:oleObj>
              </mc:Choice>
              <mc:Fallback>
                <p:oleObj name="公式" r:id="rId10" imgW="1523880" imgH="444240" progId="Equation.3">
                  <p:embed/>
                  <p:pic>
                    <p:nvPicPr>
                      <p:cNvPr id="0" name="Object 9"/>
                      <p:cNvPicPr>
                        <a:picLocks noChangeAspect="1" noChangeArrowheads="1"/>
                      </p:cNvPicPr>
                      <p:nvPr/>
                    </p:nvPicPr>
                    <p:blipFill>
                      <a:blip r:embed="rId11"/>
                      <a:srcRect/>
                      <a:stretch>
                        <a:fillRect/>
                      </a:stretch>
                    </p:blipFill>
                    <p:spPr bwMode="auto">
                      <a:xfrm>
                        <a:off x="2211387" y="3538252"/>
                        <a:ext cx="3713162" cy="1081087"/>
                      </a:xfrm>
                      <a:prstGeom prst="rect">
                        <a:avLst/>
                      </a:prstGeom>
                      <a:solidFill>
                        <a:srgbClr val="FFFF00"/>
                      </a:solidFill>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781654742"/>
              </p:ext>
            </p:extLst>
          </p:nvPr>
        </p:nvGraphicFramePr>
        <p:xfrm>
          <a:off x="6918325" y="3495675"/>
          <a:ext cx="4725988" cy="3508375"/>
        </p:xfrm>
        <a:graphic>
          <a:graphicData uri="http://schemas.openxmlformats.org/presentationml/2006/ole">
            <mc:AlternateContent xmlns:mc="http://schemas.openxmlformats.org/markup-compatibility/2006">
              <mc:Choice xmlns:v="urn:schemas-microsoft-com:vml" Requires="v">
                <p:oleObj spid="_x0000_s40378" name="Visio" r:id="rId12" imgW="1619243" imgH="1200033" progId="Visio.Drawing.11">
                  <p:embed/>
                </p:oleObj>
              </mc:Choice>
              <mc:Fallback>
                <p:oleObj name="Visio" r:id="rId12" imgW="1619243" imgH="1200033" progId="Visio.Drawing.11">
                  <p:embed/>
                  <p:pic>
                    <p:nvPicPr>
                      <p:cNvPr id="0" name="Object 78"/>
                      <p:cNvPicPr>
                        <a:picLocks noChangeAspect="1" noChangeArrowheads="1"/>
                      </p:cNvPicPr>
                      <p:nvPr/>
                    </p:nvPicPr>
                    <p:blipFill>
                      <a:blip r:embed="rId13"/>
                      <a:srcRect/>
                      <a:stretch>
                        <a:fillRect/>
                      </a:stretch>
                    </p:blipFill>
                    <p:spPr bwMode="auto">
                      <a:xfrm>
                        <a:off x="6918325" y="3495675"/>
                        <a:ext cx="4725988" cy="3508375"/>
                      </a:xfrm>
                      <a:prstGeom prst="rect">
                        <a:avLst/>
                      </a:prstGeom>
                      <a:noFill/>
                      <a:ln>
                        <a:noFill/>
                      </a:ln>
                    </p:spPr>
                  </p:pic>
                </p:oleObj>
              </mc:Fallback>
            </mc:AlternateContent>
          </a:graphicData>
        </a:graphic>
      </p:graphicFrame>
      <p:sp>
        <p:nvSpPr>
          <p:cNvPr id="16" name="Text Box 8"/>
          <p:cNvSpPr txBox="1">
            <a:spLocks noChangeArrowheads="1"/>
          </p:cNvSpPr>
          <p:nvPr/>
        </p:nvSpPr>
        <p:spPr bwMode="auto">
          <a:xfrm>
            <a:off x="6139861" y="1560269"/>
            <a:ext cx="5596732" cy="584775"/>
          </a:xfrm>
          <a:prstGeom prst="rect">
            <a:avLst/>
          </a:prstGeom>
          <a:noFill/>
          <a:ln w="9525">
            <a:noFill/>
            <a:miter lim="800000"/>
            <a:headEnd/>
            <a:tailEnd/>
          </a:ln>
        </p:spPr>
        <p:txBody>
          <a:bodyPr wrap="square">
            <a:spAutoFit/>
          </a:bodyPr>
          <a:lstStyle/>
          <a:p>
            <a:pPr defTabSz="914400">
              <a:spcBef>
                <a:spcPct val="50000"/>
              </a:spcBef>
            </a:pPr>
            <a:r>
              <a:rPr lang="zh-CN" altLang="en-US" sz="3200" b="1" dirty="0">
                <a:latin typeface="Times New Roman" panose="02020603050405020304" pitchFamily="18" charset="0"/>
                <a:ea typeface="微软雅黑" pitchFamily="34" charset="-122"/>
                <a:cs typeface="Times New Roman" panose="02020603050405020304" pitchFamily="18" charset="0"/>
              </a:rPr>
              <a:t>探测器对频率 </a:t>
            </a:r>
            <a:r>
              <a:rPr lang="en-US" altLang="zh-CN" sz="3200" b="1" i="1" dirty="0">
                <a:latin typeface="Times New Roman" panose="02020603050405020304" pitchFamily="18" charset="0"/>
                <a:ea typeface="微软雅黑" pitchFamily="34" charset="-122"/>
                <a:cs typeface="Times New Roman" panose="02020603050405020304" pitchFamily="18" charset="0"/>
              </a:rPr>
              <a:t>f </a:t>
            </a:r>
            <a:r>
              <a:rPr lang="zh-CN" altLang="en-US" sz="3200" b="1" dirty="0">
                <a:latin typeface="Times New Roman" panose="02020603050405020304" pitchFamily="18" charset="0"/>
                <a:ea typeface="微软雅黑" pitchFamily="34" charset="-122"/>
                <a:cs typeface="Times New Roman" panose="02020603050405020304" pitchFamily="18" charset="0"/>
              </a:rPr>
              <a:t>的响应截止。</a:t>
            </a:r>
          </a:p>
        </p:txBody>
      </p:sp>
      <p:sp>
        <p:nvSpPr>
          <p:cNvPr id="18" name="文本框 60">
            <a:extLst>
              <a:ext uri="{FF2B5EF4-FFF2-40B4-BE49-F238E27FC236}">
                <a16:creationId xmlns:a16="http://schemas.microsoft.com/office/drawing/2014/main" id="{F3CC962A-51FB-4BF6-9937-F07157A722C7}"/>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9" name="矩形 18">
            <a:extLst>
              <a:ext uri="{FF2B5EF4-FFF2-40B4-BE49-F238E27FC236}">
                <a16:creationId xmlns:a16="http://schemas.microsoft.com/office/drawing/2014/main" id="{43FC7695-04C6-47D0-948D-06628D77AA8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BCBF5BB1-57AC-44E8-9B9F-BBC9AECF43F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2C673D64-4234-4D94-A6E5-F5CDA115FA3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BA7BEBF6-11A0-4D87-BD44-D5AAB18BB6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FE49F044-EE55-4C82-A3FF-E11B5FAAAE8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FF22EE74-F6CC-449B-9E75-311FDCD3085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ox(in)">
                                      <p:cBhvr>
                                        <p:cTn id="7" dur="500"/>
                                        <p:tgtEl>
                                          <p:spTgt spid="1229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box(in)">
                                      <p:cBhvr>
                                        <p:cTn id="12" dur="500"/>
                                        <p:tgtEl>
                                          <p:spTgt spid="1229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ox(i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294"/>
                                        </p:tgtEl>
                                        <p:attrNameLst>
                                          <p:attrName>style.visibility</p:attrName>
                                        </p:attrNameLst>
                                      </p:cBhvr>
                                      <p:to>
                                        <p:strVal val="visible"/>
                                      </p:to>
                                    </p:set>
                                    <p:animEffect transition="in" filter="box(in)">
                                      <p:cBhvr>
                                        <p:cTn id="22" dur="500"/>
                                        <p:tgtEl>
                                          <p:spTgt spid="122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295"/>
                                        </p:tgtEl>
                                        <p:attrNameLst>
                                          <p:attrName>style.visibility</p:attrName>
                                        </p:attrNameLst>
                                      </p:cBhvr>
                                      <p:to>
                                        <p:strVal val="visible"/>
                                      </p:to>
                                    </p:set>
                                    <p:animEffect transition="in" filter="box(in)">
                                      <p:cBhvr>
                                        <p:cTn id="27" dur="500"/>
                                        <p:tgtEl>
                                          <p:spTgt spid="1229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2297"/>
                                        </p:tgtEl>
                                        <p:attrNameLst>
                                          <p:attrName>style.visibility</p:attrName>
                                        </p:attrNameLst>
                                      </p:cBhvr>
                                      <p:to>
                                        <p:strVal val="visible"/>
                                      </p:to>
                                    </p:set>
                                    <p:animEffect transition="in" filter="box(in)">
                                      <p:cBhvr>
                                        <p:cTn id="32" dur="500"/>
                                        <p:tgtEl>
                                          <p:spTgt spid="1229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2291"/>
                                        </p:tgtEl>
                                        <p:attrNameLst>
                                          <p:attrName>style.visibility</p:attrName>
                                        </p:attrNameLst>
                                      </p:cBhvr>
                                      <p:to>
                                        <p:strVal val="visible"/>
                                      </p:to>
                                    </p:set>
                                    <p:animEffect transition="in" filter="box(in)">
                                      <p:cBhvr>
                                        <p:cTn id="37"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P spid="12294" grpId="0"/>
      <p:bldP spid="1229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545" y="2225964"/>
            <a:ext cx="12619662" cy="3965621"/>
          </a:xfrm>
          <a:prstGeom prst="rect">
            <a:avLst/>
          </a:prstGeom>
        </p:spPr>
      </p:pic>
      <p:sp>
        <p:nvSpPr>
          <p:cNvPr id="4" name="椭圆 3"/>
          <p:cNvSpPr/>
          <p:nvPr/>
        </p:nvSpPr>
        <p:spPr>
          <a:xfrm>
            <a:off x="9042400" y="2130592"/>
            <a:ext cx="1856509" cy="4156363"/>
          </a:xfrm>
          <a:prstGeom prst="ellipse">
            <a:avLst/>
          </a:prstGeom>
          <a:noFill/>
          <a:ln w="444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 Box 8"/>
          <p:cNvSpPr txBox="1">
            <a:spLocks noChangeArrowheads="1"/>
          </p:cNvSpPr>
          <p:nvPr/>
        </p:nvSpPr>
        <p:spPr bwMode="auto">
          <a:xfrm>
            <a:off x="1000125" y="1419595"/>
            <a:ext cx="6596545" cy="523220"/>
          </a:xfrm>
          <a:prstGeom prst="rect">
            <a:avLst/>
          </a:prstGeom>
          <a:noFill/>
          <a:ln w="9525">
            <a:noFill/>
            <a:miter lim="800000"/>
            <a:headEnd/>
            <a:tailEnd/>
          </a:ln>
        </p:spPr>
        <p:txBody>
          <a:bodyPr wrap="square">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例如：硅</a:t>
            </a:r>
            <a:r>
              <a:rPr kumimoji="1" lang="en-US" altLang="zh-CN" sz="2800" b="1" dirty="0">
                <a:latin typeface="Times New Roman" pitchFamily="18" charset="0"/>
                <a:ea typeface="微软雅黑" pitchFamily="34" charset="-122"/>
                <a:cs typeface="Times New Roman" pitchFamily="18" charset="0"/>
              </a:rPr>
              <a:t>PIN</a:t>
            </a:r>
            <a:r>
              <a:rPr kumimoji="1" lang="zh-CN" altLang="en-US" sz="2800" b="1" dirty="0">
                <a:latin typeface="Times New Roman" pitchFamily="18" charset="0"/>
                <a:ea typeface="微软雅黑" pitchFamily="34" charset="-122"/>
                <a:cs typeface="Times New Roman" pitchFamily="18" charset="0"/>
              </a:rPr>
              <a:t>光电二极管技术手册参数</a:t>
            </a:r>
          </a:p>
        </p:txBody>
      </p:sp>
      <p:sp>
        <p:nvSpPr>
          <p:cNvPr id="11" name="文本框 60">
            <a:extLst>
              <a:ext uri="{FF2B5EF4-FFF2-40B4-BE49-F238E27FC236}">
                <a16:creationId xmlns:a16="http://schemas.microsoft.com/office/drawing/2014/main" id="{B9372966-E232-401A-8748-529143CFE8CD}"/>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2" name="矩形 11">
            <a:extLst>
              <a:ext uri="{FF2B5EF4-FFF2-40B4-BE49-F238E27FC236}">
                <a16:creationId xmlns:a16="http://schemas.microsoft.com/office/drawing/2014/main" id="{5C7E3615-BE6A-48F5-B888-B5801CC9D0D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id="{6F1139F4-C10D-4578-BC57-4A5F79640D9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76CA0CB-2BCE-4AA4-9299-7912E2D8A9B0}"/>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id="{EF51E0FA-1476-4726-BA24-E50A841BD7A7}"/>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772E1CE3-8C98-4E8A-B737-343BC421020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id="{71984523-52AE-4235-BC05-40FCD1D7431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33596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5"/>
          <p:cNvSpPr txBox="1">
            <a:spLocks noChangeArrowheads="1"/>
          </p:cNvSpPr>
          <p:nvPr/>
        </p:nvSpPr>
        <p:spPr bwMode="auto">
          <a:xfrm>
            <a:off x="2929115" y="1133133"/>
            <a:ext cx="8267700" cy="584775"/>
          </a:xfrm>
          <a:prstGeom prst="rect">
            <a:avLst/>
          </a:prstGeom>
          <a:noFill/>
          <a:ln w="9525">
            <a:noFill/>
            <a:miter lim="800000"/>
            <a:headEnd/>
            <a:tailEnd/>
          </a:ln>
        </p:spPr>
        <p:txBody>
          <a:bodyPr>
            <a:spAutoFit/>
          </a:bodyPr>
          <a:lstStyle/>
          <a:p>
            <a:pPr algn="ctr" defTabSz="914400">
              <a:spcBef>
                <a:spcPct val="50000"/>
              </a:spcBef>
            </a:pPr>
            <a:r>
              <a:rPr lang="en-US" altLang="zh-CN" sz="3200" b="1" dirty="0">
                <a:solidFill>
                  <a:srgbClr val="0000FF"/>
                </a:solidFill>
                <a:latin typeface="Times New Roman" pitchFamily="18" charset="0"/>
                <a:ea typeface="微软雅黑" pitchFamily="34" charset="-122"/>
                <a:cs typeface="Times New Roman" pitchFamily="18" charset="0"/>
              </a:rPr>
              <a:t>4.</a:t>
            </a:r>
            <a:r>
              <a:rPr lang="zh-CN" altLang="en-US" sz="3200" b="1" dirty="0">
                <a:solidFill>
                  <a:srgbClr val="0000FF"/>
                </a:solidFill>
                <a:latin typeface="Times New Roman" pitchFamily="18" charset="0"/>
                <a:ea typeface="微软雅黑" pitchFamily="34" charset="-122"/>
                <a:cs typeface="Times New Roman" pitchFamily="18" charset="0"/>
              </a:rPr>
              <a:t>量子效率</a:t>
            </a:r>
            <a:r>
              <a:rPr lang="pl-PL" altLang="zh-CN" sz="3200" b="1" dirty="0">
                <a:solidFill>
                  <a:srgbClr val="0000FF"/>
                </a:solidFill>
                <a:latin typeface="Times New Roman" pitchFamily="18" charset="0"/>
                <a:ea typeface="微软雅黑" pitchFamily="34" charset="-122"/>
                <a:cs typeface="Times New Roman" pitchFamily="18" charset="0"/>
              </a:rPr>
              <a:t>(Quantum Efficiency</a:t>
            </a:r>
            <a:r>
              <a:rPr lang="zh-CN" altLang="en-US" sz="3200" b="1" dirty="0">
                <a:solidFill>
                  <a:srgbClr val="0000FF"/>
                </a:solidFill>
                <a:latin typeface="Times New Roman" pitchFamily="18" charset="0"/>
                <a:ea typeface="微软雅黑" pitchFamily="34" charset="-122"/>
                <a:cs typeface="Times New Roman" pitchFamily="18" charset="0"/>
              </a:rPr>
              <a:t>，</a:t>
            </a:r>
            <a:r>
              <a:rPr lang="en-US" altLang="zh-CN" sz="3200" b="1" dirty="0">
                <a:solidFill>
                  <a:srgbClr val="0000FF"/>
                </a:solidFill>
                <a:latin typeface="Times New Roman" pitchFamily="18" charset="0"/>
                <a:ea typeface="微软雅黑" pitchFamily="34" charset="-122"/>
                <a:cs typeface="Times New Roman" pitchFamily="18" charset="0"/>
              </a:rPr>
              <a:t>QE</a:t>
            </a:r>
            <a:r>
              <a:rPr lang="pl-PL" altLang="zh-CN" sz="3200" b="1" dirty="0">
                <a:solidFill>
                  <a:srgbClr val="0000FF"/>
                </a:solidFill>
                <a:latin typeface="Times New Roman" pitchFamily="18" charset="0"/>
                <a:ea typeface="微软雅黑" pitchFamily="34" charset="-122"/>
                <a:cs typeface="Times New Roman" pitchFamily="18" charset="0"/>
              </a:rPr>
              <a:t>)</a:t>
            </a:r>
            <a:endParaRPr lang="zh-CN" altLang="en-US" sz="3200" b="1" dirty="0">
              <a:solidFill>
                <a:srgbClr val="0000FF"/>
              </a:solidFill>
              <a:latin typeface="Times New Roman" pitchFamily="18" charset="0"/>
              <a:ea typeface="微软雅黑" pitchFamily="34" charset="-122"/>
              <a:cs typeface="Times New Roman" pitchFamily="18" charset="0"/>
            </a:endParaRPr>
          </a:p>
        </p:txBody>
      </p:sp>
      <p:sp>
        <p:nvSpPr>
          <p:cNvPr id="6" name="Text Box 8"/>
          <p:cNvSpPr txBox="1">
            <a:spLocks noChangeArrowheads="1"/>
          </p:cNvSpPr>
          <p:nvPr/>
        </p:nvSpPr>
        <p:spPr bwMode="auto">
          <a:xfrm>
            <a:off x="716756" y="1813851"/>
            <a:ext cx="12341698" cy="1274195"/>
          </a:xfrm>
          <a:prstGeom prst="rect">
            <a:avLst/>
          </a:prstGeom>
          <a:noFill/>
          <a:ln w="9525">
            <a:noFill/>
            <a:miter lim="800000"/>
            <a:headEnd/>
            <a:tailEnd/>
          </a:ln>
        </p:spPr>
        <p:txBody>
          <a:bodyPr wrap="square">
            <a:spAutoFit/>
          </a:bodyPr>
          <a:lstStyle/>
          <a:p>
            <a:pPr defTabSz="914400">
              <a:lnSpc>
                <a:spcPct val="120000"/>
              </a:lnSpc>
              <a:spcBef>
                <a:spcPct val="50000"/>
              </a:spcBef>
            </a:pPr>
            <a:r>
              <a:rPr kumimoji="1" lang="zh-CN" altLang="en-US" sz="3200" dirty="0">
                <a:latin typeface="Times New Roman" pitchFamily="18" charset="0"/>
                <a:ea typeface="黑体" pitchFamily="2"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定义</a:t>
            </a:r>
            <a:r>
              <a:rPr kumimoji="1" lang="en-US" altLang="zh-CN" sz="2800" b="1" dirty="0">
                <a:latin typeface="Times New Roman" pitchFamily="18" charset="0"/>
                <a:ea typeface="微软雅黑" pitchFamily="34" charset="-122"/>
                <a:cs typeface="Times New Roman" pitchFamily="18" charset="0"/>
              </a:rPr>
              <a:t>:</a:t>
            </a:r>
            <a:r>
              <a:rPr kumimoji="1" lang="zh-CN" altLang="en-US" sz="2800" b="1" dirty="0">
                <a:latin typeface="Times New Roman" pitchFamily="18" charset="0"/>
                <a:ea typeface="微软雅黑" pitchFamily="34" charset="-122"/>
                <a:cs typeface="Times New Roman" pitchFamily="18" charset="0"/>
              </a:rPr>
              <a:t>在单色辐射情况下，单位时间内产生的</a:t>
            </a:r>
            <a:r>
              <a:rPr kumimoji="1" lang="zh-CN" altLang="en-US" sz="3200" b="1" dirty="0">
                <a:solidFill>
                  <a:srgbClr val="FF0000"/>
                </a:solidFill>
                <a:latin typeface="Times New Roman" pitchFamily="18" charset="0"/>
                <a:ea typeface="微软雅黑" pitchFamily="34" charset="-122"/>
                <a:cs typeface="Times New Roman" pitchFamily="18" charset="0"/>
              </a:rPr>
              <a:t>光电子数</a:t>
            </a:r>
            <a:r>
              <a:rPr kumimoji="1" lang="en-US" altLang="zh-CN" sz="3200" b="1" i="1" dirty="0" err="1">
                <a:solidFill>
                  <a:srgbClr val="FF0000"/>
                </a:solidFill>
                <a:latin typeface="Times New Roman" pitchFamily="18" charset="0"/>
                <a:ea typeface="微软雅黑" pitchFamily="34" charset="-122"/>
                <a:cs typeface="Times New Roman" pitchFamily="18" charset="0"/>
              </a:rPr>
              <a:t>N</a:t>
            </a:r>
            <a:r>
              <a:rPr kumimoji="1" lang="en-US" altLang="zh-CN" sz="3200" b="1" baseline="-30000" dirty="0" err="1">
                <a:solidFill>
                  <a:srgbClr val="FF0000"/>
                </a:solidFill>
                <a:latin typeface="Times New Roman" pitchFamily="18" charset="0"/>
                <a:ea typeface="微软雅黑" pitchFamily="34" charset="-122"/>
                <a:cs typeface="Times New Roman" pitchFamily="18" charset="0"/>
              </a:rPr>
              <a:t>e,λ</a:t>
            </a:r>
            <a:r>
              <a:rPr kumimoji="1" lang="zh-CN" altLang="en-US" sz="2800" b="1" dirty="0">
                <a:latin typeface="Times New Roman" pitchFamily="18" charset="0"/>
                <a:ea typeface="微软雅黑" pitchFamily="34" charset="-122"/>
                <a:cs typeface="Times New Roman" pitchFamily="18" charset="0"/>
              </a:rPr>
              <a:t>与入射的</a:t>
            </a:r>
            <a:r>
              <a:rPr kumimoji="1" lang="zh-CN" altLang="en-US" sz="3200" b="1" dirty="0">
                <a:solidFill>
                  <a:srgbClr val="FF0000"/>
                </a:solidFill>
                <a:latin typeface="Times New Roman" pitchFamily="18" charset="0"/>
                <a:ea typeface="微软雅黑" pitchFamily="34" charset="-122"/>
                <a:cs typeface="Times New Roman" pitchFamily="18" charset="0"/>
              </a:rPr>
              <a:t>光子数</a:t>
            </a:r>
            <a:r>
              <a:rPr kumimoji="1" lang="en-US" altLang="zh-CN" sz="3200" b="1" i="1" dirty="0" err="1">
                <a:solidFill>
                  <a:srgbClr val="FF0000"/>
                </a:solidFill>
                <a:latin typeface="Times New Roman" pitchFamily="18" charset="0"/>
                <a:ea typeface="微软雅黑" pitchFamily="34" charset="-122"/>
                <a:cs typeface="Times New Roman" pitchFamily="18" charset="0"/>
              </a:rPr>
              <a:t>N</a:t>
            </a:r>
            <a:r>
              <a:rPr kumimoji="1" lang="en-US" altLang="zh-CN" sz="3200" b="1" baseline="-30000" dirty="0" err="1">
                <a:solidFill>
                  <a:srgbClr val="FF0000"/>
                </a:solidFill>
                <a:latin typeface="Times New Roman" pitchFamily="18" charset="0"/>
                <a:ea typeface="微软雅黑" pitchFamily="34" charset="-122"/>
                <a:cs typeface="Times New Roman" pitchFamily="18" charset="0"/>
              </a:rPr>
              <a:t>p,λ</a:t>
            </a:r>
            <a:r>
              <a:rPr kumimoji="1" lang="zh-CN" altLang="en-US" sz="2800" b="1" dirty="0">
                <a:latin typeface="Times New Roman" pitchFamily="18" charset="0"/>
                <a:ea typeface="微软雅黑" pitchFamily="34" charset="-122"/>
                <a:cs typeface="Times New Roman" pitchFamily="18" charset="0"/>
              </a:rPr>
              <a:t>之比。 </a:t>
            </a:r>
            <a:endParaRPr kumimoji="1" lang="zh-CN" altLang="en-US" sz="3200" b="1" dirty="0">
              <a:latin typeface="Times New Roman" pitchFamily="18" charset="0"/>
              <a:ea typeface="微软雅黑" pitchFamily="34" charset="-122"/>
              <a:cs typeface="Times New Roman" pitchFamily="18" charset="0"/>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3060520929"/>
              </p:ext>
            </p:extLst>
          </p:nvPr>
        </p:nvGraphicFramePr>
        <p:xfrm>
          <a:off x="1952480" y="3515806"/>
          <a:ext cx="1493838" cy="1111250"/>
        </p:xfrm>
        <a:graphic>
          <a:graphicData uri="http://schemas.openxmlformats.org/presentationml/2006/ole">
            <mc:AlternateContent xmlns:mc="http://schemas.openxmlformats.org/markup-compatibility/2006">
              <mc:Choice xmlns:v="urn:schemas-microsoft-com:vml" Requires="v">
                <p:oleObj spid="_x0000_s41604" r:id="rId3" imgW="622300" imgH="457200" progId="Equation.3">
                  <p:embed/>
                </p:oleObj>
              </mc:Choice>
              <mc:Fallback>
                <p:oleObj r:id="rId3" imgW="62230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480" y="3515806"/>
                        <a:ext cx="1493838" cy="1111250"/>
                      </a:xfrm>
                      <a:prstGeom prst="rect">
                        <a:avLst/>
                      </a:prstGeom>
                      <a:solidFill>
                        <a:srgbClr val="FFFF00"/>
                      </a:solidFill>
                    </p:spPr>
                  </p:pic>
                </p:oleObj>
              </mc:Fallback>
            </mc:AlternateContent>
          </a:graphicData>
        </a:graphic>
      </p:graphicFrame>
      <p:sp>
        <p:nvSpPr>
          <p:cNvPr id="9" name="Text Box 4"/>
          <p:cNvSpPr txBox="1">
            <a:spLocks noChangeArrowheads="1"/>
          </p:cNvSpPr>
          <p:nvPr/>
        </p:nvSpPr>
        <p:spPr bwMode="auto">
          <a:xfrm>
            <a:off x="1358620" y="5004599"/>
            <a:ext cx="11894672" cy="566309"/>
          </a:xfrm>
          <a:prstGeom prst="rect">
            <a:avLst/>
          </a:prstGeom>
          <a:noFill/>
          <a:ln w="9525">
            <a:noFill/>
            <a:miter lim="800000"/>
            <a:headEnd/>
            <a:tailEnd/>
          </a:ln>
        </p:spPr>
        <p:txBody>
          <a:bodyPr wrap="square">
            <a:spAutoFit/>
          </a:bodyPr>
          <a:lstStyle/>
          <a:p>
            <a:pPr defTabSz="914400">
              <a:lnSpc>
                <a:spcPct val="110000"/>
              </a:lnSpc>
              <a:spcBef>
                <a:spcPct val="200000"/>
              </a:spcBef>
            </a:pPr>
            <a:r>
              <a:rPr kumimoji="1" lang="zh-CN" altLang="en-US" sz="2800" b="1" dirty="0">
                <a:latin typeface="微软雅黑" pitchFamily="34" charset="-122"/>
                <a:ea typeface="微软雅黑" pitchFamily="34" charset="-122"/>
              </a:rPr>
              <a:t>量子效率和光谱灵敏度是一个物理量的两种表示方法。它们之间的关系为 </a:t>
            </a:r>
            <a:endParaRPr kumimoji="1" lang="zh-CN" altLang="en-US" sz="3200" b="1" dirty="0">
              <a:latin typeface="微软雅黑" pitchFamily="34" charset="-122"/>
              <a:ea typeface="微软雅黑" pitchFamily="34" charset="-122"/>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630099367"/>
              </p:ext>
            </p:extLst>
          </p:nvPr>
        </p:nvGraphicFramePr>
        <p:xfrm>
          <a:off x="3655758" y="5910747"/>
          <a:ext cx="2376488" cy="1100137"/>
        </p:xfrm>
        <a:graphic>
          <a:graphicData uri="http://schemas.openxmlformats.org/presentationml/2006/ole">
            <mc:AlternateContent xmlns:mc="http://schemas.openxmlformats.org/markup-compatibility/2006">
              <mc:Choice xmlns:v="urn:schemas-microsoft-com:vml" Requires="v">
                <p:oleObj spid="_x0000_s41605" name="公式" r:id="rId5" imgW="952200" imgH="444240" progId="Equation.3">
                  <p:embed/>
                </p:oleObj>
              </mc:Choice>
              <mc:Fallback>
                <p:oleObj name="公式" r:id="rId5" imgW="952200" imgH="444240" progId="Equation.3">
                  <p:embed/>
                  <p:pic>
                    <p:nvPicPr>
                      <p:cNvPr id="0" name="Object 2"/>
                      <p:cNvPicPr>
                        <a:picLocks noChangeAspect="1" noChangeArrowheads="1"/>
                      </p:cNvPicPr>
                      <p:nvPr/>
                    </p:nvPicPr>
                    <p:blipFill>
                      <a:blip r:embed="rId6"/>
                      <a:srcRect/>
                      <a:stretch>
                        <a:fillRect/>
                      </a:stretch>
                    </p:blipFill>
                    <p:spPr bwMode="auto">
                      <a:xfrm>
                        <a:off x="3655758" y="5910747"/>
                        <a:ext cx="2376488" cy="1100137"/>
                      </a:xfrm>
                      <a:prstGeom prst="rect">
                        <a:avLst/>
                      </a:prstGeom>
                      <a:solidFill>
                        <a:srgbClr val="FFFF00"/>
                      </a:solidFill>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3501164520"/>
              </p:ext>
            </p:extLst>
          </p:nvPr>
        </p:nvGraphicFramePr>
        <p:xfrm>
          <a:off x="5979858" y="5956784"/>
          <a:ext cx="1223963" cy="1019175"/>
        </p:xfrm>
        <a:graphic>
          <a:graphicData uri="http://schemas.openxmlformats.org/presentationml/2006/ole">
            <mc:AlternateContent xmlns:mc="http://schemas.openxmlformats.org/markup-compatibility/2006">
              <mc:Choice xmlns:v="urn:schemas-microsoft-com:vml" Requires="v">
                <p:oleObj spid="_x0000_s41606" name="Equation" r:id="rId7" imgW="469800" imgH="393480" progId="Equation.DSMT4">
                  <p:embed/>
                </p:oleObj>
              </mc:Choice>
              <mc:Fallback>
                <p:oleObj name="Equation" r:id="rId7" imgW="469800" imgH="3934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79858" y="5956784"/>
                        <a:ext cx="1223963" cy="1019175"/>
                      </a:xfrm>
                      <a:prstGeom prst="rect">
                        <a:avLst/>
                      </a:prstGeom>
                      <a:solidFill>
                        <a:srgbClr val="FFFF00"/>
                      </a:solidFill>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107273762"/>
              </p:ext>
            </p:extLst>
          </p:nvPr>
        </p:nvGraphicFramePr>
        <p:xfrm>
          <a:off x="7297483" y="5969484"/>
          <a:ext cx="1555750" cy="1019175"/>
        </p:xfrm>
        <a:graphic>
          <a:graphicData uri="http://schemas.openxmlformats.org/presentationml/2006/ole">
            <mc:AlternateContent xmlns:mc="http://schemas.openxmlformats.org/markup-compatibility/2006">
              <mc:Choice xmlns:v="urn:schemas-microsoft-com:vml" Requires="v">
                <p:oleObj spid="_x0000_s41607" name="公式" r:id="rId9" imgW="596880" imgH="393480" progId="Equation.3">
                  <p:embed/>
                </p:oleObj>
              </mc:Choice>
              <mc:Fallback>
                <p:oleObj name="公式" r:id="rId9" imgW="596880" imgH="39348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97483" y="5969484"/>
                        <a:ext cx="1555750" cy="1019175"/>
                      </a:xfrm>
                      <a:prstGeom prst="rect">
                        <a:avLst/>
                      </a:prstGeom>
                      <a:solidFill>
                        <a:srgbClr val="FFFF00"/>
                      </a:solid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966718980"/>
              </p:ext>
            </p:extLst>
          </p:nvPr>
        </p:nvGraphicFramePr>
        <p:xfrm>
          <a:off x="8212534" y="3945149"/>
          <a:ext cx="2640521" cy="812468"/>
        </p:xfrm>
        <a:graphic>
          <a:graphicData uri="http://schemas.openxmlformats.org/presentationml/2006/ole">
            <mc:AlternateContent xmlns:mc="http://schemas.openxmlformats.org/markup-compatibility/2006">
              <mc:Choice xmlns:v="urn:schemas-microsoft-com:vml" Requires="v">
                <p:oleObj spid="_x0000_s41608" name="公式" r:id="rId11" imgW="1320480" imgH="406080" progId="Equation.3">
                  <p:embed/>
                </p:oleObj>
              </mc:Choice>
              <mc:Fallback>
                <p:oleObj name="公式" r:id="rId11" imgW="1320480" imgH="406080" progId="Equation.3">
                  <p:embed/>
                  <p:pic>
                    <p:nvPicPr>
                      <p:cNvPr id="0" name=""/>
                      <p:cNvPicPr/>
                      <p:nvPr/>
                    </p:nvPicPr>
                    <p:blipFill>
                      <a:blip r:embed="rId12"/>
                      <a:stretch>
                        <a:fillRect/>
                      </a:stretch>
                    </p:blipFill>
                    <p:spPr>
                      <a:xfrm>
                        <a:off x="8212534" y="3945149"/>
                        <a:ext cx="2640521" cy="812468"/>
                      </a:xfrm>
                      <a:prstGeom prst="rect">
                        <a:avLst/>
                      </a:prstGeom>
                      <a:solidFill>
                        <a:srgbClr val="FFFF00"/>
                      </a:solid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706848893"/>
              </p:ext>
            </p:extLst>
          </p:nvPr>
        </p:nvGraphicFramePr>
        <p:xfrm>
          <a:off x="8353567" y="2839152"/>
          <a:ext cx="1397000" cy="812800"/>
        </p:xfrm>
        <a:graphic>
          <a:graphicData uri="http://schemas.openxmlformats.org/presentationml/2006/ole">
            <mc:AlternateContent xmlns:mc="http://schemas.openxmlformats.org/markup-compatibility/2006">
              <mc:Choice xmlns:v="urn:schemas-microsoft-com:vml" Requires="v">
                <p:oleObj spid="_x0000_s41609" name="公式" r:id="rId13" imgW="698400" imgH="406080" progId="Equation.3">
                  <p:embed/>
                </p:oleObj>
              </mc:Choice>
              <mc:Fallback>
                <p:oleObj name="公式" r:id="rId13" imgW="698400" imgH="406080" progId="Equation.3">
                  <p:embed/>
                  <p:pic>
                    <p:nvPicPr>
                      <p:cNvPr id="0" name=""/>
                      <p:cNvPicPr/>
                      <p:nvPr/>
                    </p:nvPicPr>
                    <p:blipFill>
                      <a:blip r:embed="rId14"/>
                      <a:stretch>
                        <a:fillRect/>
                      </a:stretch>
                    </p:blipFill>
                    <p:spPr>
                      <a:xfrm>
                        <a:off x="8353567" y="2839152"/>
                        <a:ext cx="1397000" cy="812800"/>
                      </a:xfrm>
                      <a:prstGeom prst="rect">
                        <a:avLst/>
                      </a:prstGeom>
                      <a:solidFill>
                        <a:srgbClr val="FFFF00"/>
                      </a:solidFill>
                    </p:spPr>
                  </p:pic>
                </p:oleObj>
              </mc:Fallback>
            </mc:AlternateContent>
          </a:graphicData>
        </a:graphic>
      </p:graphicFrame>
      <p:sp>
        <p:nvSpPr>
          <p:cNvPr id="2" name="文本框 1"/>
          <p:cNvSpPr txBox="1"/>
          <p:nvPr/>
        </p:nvSpPr>
        <p:spPr>
          <a:xfrm>
            <a:off x="4305046" y="2964969"/>
            <a:ext cx="3907488" cy="646331"/>
          </a:xfrm>
          <a:prstGeom prst="rect">
            <a:avLst/>
          </a:prstGeom>
          <a:noFill/>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单位时间内产生的光电子数</a:t>
            </a:r>
          </a:p>
        </p:txBody>
      </p:sp>
      <p:sp>
        <p:nvSpPr>
          <p:cNvPr id="19" name="文本框 18"/>
          <p:cNvSpPr txBox="1"/>
          <p:nvPr/>
        </p:nvSpPr>
        <p:spPr>
          <a:xfrm>
            <a:off x="5475222" y="4050372"/>
            <a:ext cx="2878345" cy="646331"/>
          </a:xfrm>
          <a:prstGeom prst="rect">
            <a:avLst/>
          </a:prstGeom>
          <a:noFill/>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入射光子数可表示</a:t>
            </a:r>
          </a:p>
        </p:txBody>
      </p:sp>
      <p:sp>
        <p:nvSpPr>
          <p:cNvPr id="20" name="文本框 60">
            <a:extLst>
              <a:ext uri="{FF2B5EF4-FFF2-40B4-BE49-F238E27FC236}">
                <a16:creationId xmlns:a16="http://schemas.microsoft.com/office/drawing/2014/main" id="{704FB63E-B88D-4E26-B7F1-A872FB6E0E2B}"/>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21" name="矩形 20">
            <a:extLst>
              <a:ext uri="{FF2B5EF4-FFF2-40B4-BE49-F238E27FC236}">
                <a16:creationId xmlns:a16="http://schemas.microsoft.com/office/drawing/2014/main" id="{8B0FF9BA-81B4-4270-819D-A616C210E3E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4E0B9D4D-6904-4569-8BF5-778CFFBD24B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CC5AD1EB-B65A-4A3A-AC60-98816ED54542}"/>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id="{7863F0D8-F1B1-43E2-A828-B0BCAB94B703}"/>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DA78F172-57EC-4C1C-A018-4B49BA2C0C6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id="{D1DDC551-50D3-4D42-9874-D9F4FDA20EF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749"/>
                                          </p:stCondLst>
                                        </p:cTn>
                                        <p:tgtEl>
                                          <p:spTgt spid="133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in)">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ox(i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in)">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ox(in)">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6" grpId="0"/>
      <p:bldP spid="9" grpId="0"/>
      <p:bldP spid="2"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108617" y="1192137"/>
            <a:ext cx="2330450" cy="628650"/>
          </a:xfrm>
          <a:prstGeom prst="rect">
            <a:avLst/>
          </a:prstGeom>
          <a:noFill/>
          <a:ln w="9525">
            <a:noFill/>
            <a:miter lim="800000"/>
            <a:headEnd/>
            <a:tailEnd/>
          </a:ln>
        </p:spPr>
        <p:txBody>
          <a:bodyPr>
            <a:spAutoFit/>
          </a:bodyPr>
          <a:lstStyle/>
          <a:p>
            <a:pPr defTabSz="914400">
              <a:lnSpc>
                <a:spcPct val="110000"/>
              </a:lnSpc>
              <a:spcBef>
                <a:spcPct val="200000"/>
              </a:spcBef>
            </a:pPr>
            <a:r>
              <a:rPr kumimoji="1" lang="zh-CN" altLang="en-US" sz="3200" b="1" dirty="0">
                <a:solidFill>
                  <a:srgbClr val="0000FF"/>
                </a:solidFill>
                <a:latin typeface="微软雅黑" pitchFamily="34" charset="-122"/>
                <a:ea typeface="微软雅黑" pitchFamily="34" charset="-122"/>
              </a:rPr>
              <a:t>量子流速率 </a:t>
            </a:r>
          </a:p>
        </p:txBody>
      </p:sp>
      <p:sp>
        <p:nvSpPr>
          <p:cNvPr id="3" name="Text Box 4"/>
          <p:cNvSpPr txBox="1">
            <a:spLocks noChangeArrowheads="1"/>
          </p:cNvSpPr>
          <p:nvPr/>
        </p:nvSpPr>
        <p:spPr bwMode="auto">
          <a:xfrm>
            <a:off x="1476090" y="2288500"/>
            <a:ext cx="8305800" cy="561975"/>
          </a:xfrm>
          <a:prstGeom prst="rect">
            <a:avLst/>
          </a:prstGeom>
          <a:noFill/>
          <a:ln w="9525">
            <a:noFill/>
            <a:miter lim="800000"/>
            <a:headEnd/>
            <a:tailEnd/>
          </a:ln>
        </p:spPr>
        <p:txBody>
          <a:bodyPr>
            <a:spAutoFit/>
          </a:bodyPr>
          <a:lstStyle/>
          <a:p>
            <a:pPr defTabSz="914400">
              <a:lnSpc>
                <a:spcPct val="110000"/>
              </a:lnSpc>
              <a:spcBef>
                <a:spcPct val="200000"/>
              </a:spcBef>
            </a:pPr>
            <a:r>
              <a:rPr kumimoji="1" lang="en-US" altLang="zh-CN" sz="2800" b="1" dirty="0">
                <a:latin typeface="Times New Roman" panose="02020603050405020304" pitchFamily="18" charset="0"/>
                <a:ea typeface="黑体" pitchFamily="2" charset="-122"/>
                <a:cs typeface="Times New Roman" panose="02020603050405020304" pitchFamily="18" charset="0"/>
              </a:rPr>
              <a:t>   </a:t>
            </a:r>
            <a:r>
              <a:rPr kumimoji="1" lang="zh-CN" altLang="en-US" sz="2800" b="1" dirty="0">
                <a:latin typeface="Times New Roman" panose="02020603050405020304" pitchFamily="18" charset="0"/>
                <a:ea typeface="微软雅黑" pitchFamily="34" charset="-122"/>
                <a:cs typeface="Times New Roman" panose="02020603050405020304" pitchFamily="18" charset="0"/>
              </a:rPr>
              <a:t>波长在</a:t>
            </a:r>
            <a:r>
              <a:rPr kumimoji="1" lang="zh-CN" altLang="en-US" sz="2800" b="1" dirty="0">
                <a:latin typeface="Times New Roman" panose="02020603050405020304" pitchFamily="18" charset="0"/>
                <a:ea typeface="微软雅黑" pitchFamily="34" charset="-122"/>
                <a:cs typeface="Times New Roman" panose="02020603050405020304" pitchFamily="18" charset="0"/>
                <a:sym typeface="Symbol" pitchFamily="18" charset="2"/>
              </a:rPr>
              <a:t></a:t>
            </a:r>
            <a:r>
              <a:rPr kumimoji="1" lang="en-US" altLang="zh-CN" sz="2800" b="1" dirty="0">
                <a:latin typeface="Times New Roman" panose="02020603050405020304" pitchFamily="18" charset="0"/>
                <a:ea typeface="微软雅黑" pitchFamily="34" charset="-122"/>
                <a:cs typeface="Times New Roman" panose="02020603050405020304" pitchFamily="18" charset="0"/>
                <a:sym typeface="Symbol" pitchFamily="18" charset="2"/>
              </a:rPr>
              <a:t>-</a:t>
            </a:r>
            <a:r>
              <a:rPr kumimoji="1" lang="zh-CN" altLang="en-US" sz="2800" b="1" dirty="0">
                <a:latin typeface="Times New Roman" panose="02020603050405020304" pitchFamily="18" charset="0"/>
                <a:ea typeface="微软雅黑" pitchFamily="34" charset="-122"/>
                <a:cs typeface="Times New Roman" panose="02020603050405020304" pitchFamily="18" charset="0"/>
                <a:sym typeface="Symbol" pitchFamily="18" charset="2"/>
              </a:rPr>
              <a:t></a:t>
            </a:r>
            <a:r>
              <a:rPr kumimoji="1" lang="en-US" altLang="zh-CN" sz="2800" b="1" dirty="0">
                <a:latin typeface="Times New Roman" panose="02020603050405020304" pitchFamily="18" charset="0"/>
                <a:ea typeface="微软雅黑" pitchFamily="34" charset="-122"/>
                <a:cs typeface="Times New Roman" panose="02020603050405020304" pitchFamily="18" charset="0"/>
                <a:sym typeface="Symbol" pitchFamily="18" charset="2"/>
              </a:rPr>
              <a:t>+d</a:t>
            </a:r>
            <a:r>
              <a:rPr kumimoji="1" lang="zh-CN" altLang="en-US" sz="2800" b="1" dirty="0">
                <a:latin typeface="Times New Roman" panose="02020603050405020304" pitchFamily="18" charset="0"/>
                <a:ea typeface="微软雅黑" pitchFamily="34" charset="-122"/>
                <a:cs typeface="Times New Roman" panose="02020603050405020304" pitchFamily="18" charset="0"/>
                <a:sym typeface="Symbol" pitchFamily="18" charset="2"/>
              </a:rPr>
              <a:t>范围内，</a:t>
            </a:r>
            <a:r>
              <a:rPr kumimoji="1" lang="zh-CN" altLang="en-US" sz="2800" b="1" dirty="0">
                <a:latin typeface="Times New Roman" panose="02020603050405020304" pitchFamily="18" charset="0"/>
                <a:ea typeface="微软雅黑" pitchFamily="34" charset="-122"/>
                <a:cs typeface="Times New Roman" panose="02020603050405020304" pitchFamily="18" charset="0"/>
              </a:rPr>
              <a:t>单位时间内的光子数为</a:t>
            </a:r>
          </a:p>
        </p:txBody>
      </p:sp>
      <p:graphicFrame>
        <p:nvGraphicFramePr>
          <p:cNvPr id="5" name="Object 3"/>
          <p:cNvGraphicFramePr>
            <a:graphicFrameLocks noChangeAspect="1"/>
          </p:cNvGraphicFramePr>
          <p:nvPr>
            <p:extLst>
              <p:ext uri="{D42A27DB-BD31-4B8C-83A1-F6EECF244321}">
                <p14:modId xmlns:p14="http://schemas.microsoft.com/office/powerpoint/2010/main" val="3879372063"/>
              </p:ext>
            </p:extLst>
          </p:nvPr>
        </p:nvGraphicFramePr>
        <p:xfrm>
          <a:off x="1796929" y="3248479"/>
          <a:ext cx="2898775" cy="785813"/>
        </p:xfrm>
        <a:graphic>
          <a:graphicData uri="http://schemas.openxmlformats.org/presentationml/2006/ole">
            <mc:AlternateContent xmlns:mc="http://schemas.openxmlformats.org/markup-compatibility/2006">
              <mc:Choice xmlns:v="urn:schemas-microsoft-com:vml" Requires="v">
                <p:oleObj spid="_x0000_s42326" name="公式" r:id="rId3" imgW="901440" imgH="241200" progId="Equation.3">
                  <p:embed/>
                </p:oleObj>
              </mc:Choice>
              <mc:Fallback>
                <p:oleObj name="公式" r:id="rId3" imgW="901440" imgH="241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6929" y="3248479"/>
                        <a:ext cx="2898775" cy="785813"/>
                      </a:xfrm>
                      <a:prstGeom prst="rect">
                        <a:avLst/>
                      </a:prstGeom>
                      <a:solidFill>
                        <a:srgbClr val="FFFF00"/>
                      </a:solidFill>
                    </p:spPr>
                  </p:pic>
                </p:oleObj>
              </mc:Fallback>
            </mc:AlternateContent>
          </a:graphicData>
        </a:graphic>
      </p:graphicFrame>
      <p:grpSp>
        <p:nvGrpSpPr>
          <p:cNvPr id="10" name="组合 9"/>
          <p:cNvGrpSpPr/>
          <p:nvPr/>
        </p:nvGrpSpPr>
        <p:grpSpPr>
          <a:xfrm>
            <a:off x="6207210" y="3325138"/>
            <a:ext cx="3829987" cy="579219"/>
            <a:chOff x="6207210" y="3325138"/>
            <a:chExt cx="3829987" cy="579219"/>
          </a:xfrm>
        </p:grpSpPr>
        <p:graphicFrame>
          <p:nvGraphicFramePr>
            <p:cNvPr id="4" name="Object 5"/>
            <p:cNvGraphicFramePr>
              <a:graphicFrameLocks noChangeAspect="1"/>
            </p:cNvGraphicFramePr>
            <p:nvPr>
              <p:extLst>
                <p:ext uri="{D42A27DB-BD31-4B8C-83A1-F6EECF244321}">
                  <p14:modId xmlns:p14="http://schemas.microsoft.com/office/powerpoint/2010/main" val="847188159"/>
                </p:ext>
              </p:extLst>
            </p:nvPr>
          </p:nvGraphicFramePr>
          <p:xfrm>
            <a:off x="6207210" y="3325138"/>
            <a:ext cx="666750" cy="558800"/>
          </p:xfrm>
          <a:graphic>
            <a:graphicData uri="http://schemas.openxmlformats.org/presentationml/2006/ole">
              <mc:AlternateContent xmlns:mc="http://schemas.openxmlformats.org/markup-compatibility/2006">
                <mc:Choice xmlns:v="urn:schemas-microsoft-com:vml" Requires="v">
                  <p:oleObj spid="_x0000_s42327" name="Equation" r:id="rId5" imgW="291960" imgH="241200" progId="Equation.DSMT4">
                    <p:embed/>
                  </p:oleObj>
                </mc:Choice>
                <mc:Fallback>
                  <p:oleObj name="Equation" r:id="rId5" imgW="291960" imgH="241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7210" y="3325138"/>
                          <a:ext cx="666750" cy="558800"/>
                        </a:xfrm>
                        <a:prstGeom prst="rect">
                          <a:avLst/>
                        </a:prstGeom>
                        <a:solidFill>
                          <a:srgbClr val="FFFF00"/>
                        </a:solidFill>
                      </p:spPr>
                    </p:pic>
                  </p:oleObj>
                </mc:Fallback>
              </mc:AlternateContent>
            </a:graphicData>
          </a:graphic>
        </p:graphicFrame>
        <p:sp>
          <p:nvSpPr>
            <p:cNvPr id="8" name="Text Box 4"/>
            <p:cNvSpPr txBox="1">
              <a:spLocks noChangeArrowheads="1"/>
            </p:cNvSpPr>
            <p:nvPr/>
          </p:nvSpPr>
          <p:spPr bwMode="auto">
            <a:xfrm>
              <a:off x="6436747" y="3342382"/>
              <a:ext cx="3600450" cy="561975"/>
            </a:xfrm>
            <a:prstGeom prst="rect">
              <a:avLst/>
            </a:prstGeom>
            <a:noFill/>
            <a:ln w="9525">
              <a:noFill/>
              <a:miter lim="800000"/>
              <a:headEnd/>
              <a:tailEnd/>
            </a:ln>
          </p:spPr>
          <p:txBody>
            <a:bodyPr>
              <a:spAutoFit/>
            </a:bodyPr>
            <a:lstStyle/>
            <a:p>
              <a:pPr defTabSz="914400">
                <a:lnSpc>
                  <a:spcPct val="110000"/>
                </a:lnSpc>
                <a:spcBef>
                  <a:spcPct val="200000"/>
                </a:spcBef>
              </a:pPr>
              <a:r>
                <a:rPr kumimoji="1" lang="en-US" altLang="zh-CN" sz="2800" b="1" dirty="0">
                  <a:latin typeface="黑体" pitchFamily="2" charset="-122"/>
                  <a:ea typeface="黑体" pitchFamily="2" charset="-122"/>
                </a:rPr>
                <a:t>   </a:t>
              </a:r>
              <a:r>
                <a:rPr kumimoji="1" lang="zh-CN" altLang="en-US" sz="2800" b="1" dirty="0">
                  <a:latin typeface="微软雅黑" pitchFamily="34" charset="-122"/>
                  <a:ea typeface="微软雅黑" pitchFamily="34" charset="-122"/>
                </a:rPr>
                <a:t>称为量子流速率</a:t>
              </a:r>
            </a:p>
          </p:txBody>
        </p:sp>
      </p:grpSp>
      <p:sp>
        <p:nvSpPr>
          <p:cNvPr id="9" name="Text Box 4"/>
          <p:cNvSpPr txBox="1">
            <a:spLocks noChangeArrowheads="1"/>
          </p:cNvSpPr>
          <p:nvPr/>
        </p:nvSpPr>
        <p:spPr bwMode="auto">
          <a:xfrm>
            <a:off x="1130015" y="4537602"/>
            <a:ext cx="6578600" cy="561975"/>
          </a:xfrm>
          <a:prstGeom prst="rect">
            <a:avLst/>
          </a:prstGeom>
          <a:noFill/>
          <a:ln w="9525">
            <a:noFill/>
            <a:miter lim="800000"/>
            <a:headEnd/>
            <a:tailEnd/>
          </a:ln>
        </p:spPr>
        <p:txBody>
          <a:bodyPr>
            <a:spAutoFit/>
          </a:bodyPr>
          <a:lstStyle/>
          <a:p>
            <a:pPr defTabSz="914400">
              <a:lnSpc>
                <a:spcPct val="110000"/>
              </a:lnSpc>
              <a:spcBef>
                <a:spcPct val="200000"/>
              </a:spcBef>
            </a:pPr>
            <a:r>
              <a:rPr kumimoji="1" lang="en-US" altLang="zh-CN" sz="2800" b="1" dirty="0">
                <a:latin typeface="黑体" pitchFamily="2" charset="-122"/>
                <a:ea typeface="黑体" pitchFamily="2" charset="-122"/>
              </a:rPr>
              <a:t>   </a:t>
            </a:r>
            <a:r>
              <a:rPr kumimoji="1" lang="zh-CN" altLang="en-US" sz="2800" b="1" dirty="0">
                <a:latin typeface="微软雅黑" pitchFamily="34" charset="-122"/>
                <a:ea typeface="微软雅黑" pitchFamily="34" charset="-122"/>
              </a:rPr>
              <a:t>波长在</a:t>
            </a:r>
            <a:r>
              <a:rPr kumimoji="1" lang="zh-CN" altLang="en-US" sz="2800" b="1" dirty="0">
                <a:latin typeface="微软雅黑" pitchFamily="34" charset="-122"/>
                <a:ea typeface="微软雅黑" pitchFamily="34" charset="-122"/>
                <a:sym typeface="Symbol" pitchFamily="18" charset="2"/>
              </a:rPr>
              <a:t></a:t>
            </a:r>
            <a:r>
              <a:rPr kumimoji="1" lang="en-US" altLang="zh-CN" sz="2800" b="1" baseline="-25000" dirty="0">
                <a:latin typeface="微软雅黑" pitchFamily="34" charset="-122"/>
                <a:ea typeface="微软雅黑" pitchFamily="34" charset="-122"/>
                <a:sym typeface="Symbol" pitchFamily="18" charset="2"/>
              </a:rPr>
              <a:t>1</a:t>
            </a:r>
            <a:r>
              <a:rPr kumimoji="1" lang="en-US" altLang="zh-CN" sz="2800" b="1" dirty="0">
                <a:latin typeface="微软雅黑" pitchFamily="34" charset="-122"/>
                <a:ea typeface="微软雅黑" pitchFamily="34" charset="-122"/>
                <a:sym typeface="Symbol" pitchFamily="18" charset="2"/>
              </a:rPr>
              <a:t>-</a:t>
            </a:r>
            <a:r>
              <a:rPr kumimoji="1" lang="zh-CN" altLang="en-US" sz="2800" b="1" dirty="0">
                <a:latin typeface="微软雅黑" pitchFamily="34" charset="-122"/>
                <a:ea typeface="微软雅黑" pitchFamily="34" charset="-122"/>
                <a:sym typeface="Symbol" pitchFamily="18" charset="2"/>
              </a:rPr>
              <a:t></a:t>
            </a:r>
            <a:r>
              <a:rPr kumimoji="1" lang="en-US" altLang="zh-CN" sz="2800" b="1" baseline="-25000" dirty="0">
                <a:latin typeface="微软雅黑" pitchFamily="34" charset="-122"/>
                <a:ea typeface="微软雅黑" pitchFamily="34" charset="-122"/>
                <a:sym typeface="Symbol" pitchFamily="18" charset="2"/>
              </a:rPr>
              <a:t>2</a:t>
            </a:r>
            <a:r>
              <a:rPr kumimoji="1" lang="zh-CN" altLang="en-US" sz="2800" b="1" dirty="0">
                <a:latin typeface="微软雅黑" pitchFamily="34" charset="-122"/>
                <a:ea typeface="微软雅黑" pitchFamily="34" charset="-122"/>
                <a:sym typeface="Symbol" pitchFamily="18" charset="2"/>
              </a:rPr>
              <a:t>范围内</a:t>
            </a:r>
            <a:r>
              <a:rPr kumimoji="1" lang="zh-CN" altLang="en-US" sz="2800" b="1" dirty="0">
                <a:latin typeface="微软雅黑" pitchFamily="34" charset="-122"/>
                <a:ea typeface="微软雅黑" pitchFamily="34" charset="-122"/>
              </a:rPr>
              <a:t>的量子流速率为</a:t>
            </a:r>
          </a:p>
        </p:txBody>
      </p:sp>
      <p:graphicFrame>
        <p:nvGraphicFramePr>
          <p:cNvPr id="11" name="对象 10"/>
          <p:cNvGraphicFramePr>
            <a:graphicFrameLocks noChangeAspect="1"/>
          </p:cNvGraphicFramePr>
          <p:nvPr>
            <p:extLst>
              <p:ext uri="{D42A27DB-BD31-4B8C-83A1-F6EECF244321}">
                <p14:modId xmlns:p14="http://schemas.microsoft.com/office/powerpoint/2010/main" val="3497467163"/>
              </p:ext>
            </p:extLst>
          </p:nvPr>
        </p:nvGraphicFramePr>
        <p:xfrm>
          <a:off x="5434427" y="5621438"/>
          <a:ext cx="2004640" cy="812006"/>
        </p:xfrm>
        <a:graphic>
          <a:graphicData uri="http://schemas.openxmlformats.org/presentationml/2006/ole">
            <mc:AlternateContent xmlns:mc="http://schemas.openxmlformats.org/markup-compatibility/2006">
              <mc:Choice xmlns:v="urn:schemas-microsoft-com:vml" Requires="v">
                <p:oleObj spid="_x0000_s42328" name="公式" r:id="rId7" imgW="1002960" imgH="406080" progId="Equation.3">
                  <p:embed/>
                </p:oleObj>
              </mc:Choice>
              <mc:Fallback>
                <p:oleObj name="公式" r:id="rId7" imgW="1002960" imgH="406080" progId="Equation.3">
                  <p:embed/>
                  <p:pic>
                    <p:nvPicPr>
                      <p:cNvPr id="0" name=""/>
                      <p:cNvPicPr/>
                      <p:nvPr/>
                    </p:nvPicPr>
                    <p:blipFill>
                      <a:blip r:embed="rId8"/>
                      <a:stretch>
                        <a:fillRect/>
                      </a:stretch>
                    </p:blipFill>
                    <p:spPr>
                      <a:xfrm>
                        <a:off x="5434427" y="5621438"/>
                        <a:ext cx="2004640" cy="812006"/>
                      </a:xfrm>
                      <a:prstGeom prst="rect">
                        <a:avLst/>
                      </a:prstGeom>
                      <a:solidFill>
                        <a:srgbClr val="FFC000"/>
                      </a:solidFill>
                    </p:spPr>
                  </p:pic>
                </p:oleObj>
              </mc:Fallback>
            </mc:AlternateContent>
          </a:graphicData>
        </a:graphic>
      </p:graphicFrame>
      <p:sp>
        <p:nvSpPr>
          <p:cNvPr id="17" name="文本框 60">
            <a:extLst>
              <a:ext uri="{FF2B5EF4-FFF2-40B4-BE49-F238E27FC236}">
                <a16:creationId xmlns:a16="http://schemas.microsoft.com/office/drawing/2014/main" id="{C83C5821-CF85-4B64-B818-F9AA0A4A7215}"/>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8" name="矩形 17">
            <a:extLst>
              <a:ext uri="{FF2B5EF4-FFF2-40B4-BE49-F238E27FC236}">
                <a16:creationId xmlns:a16="http://schemas.microsoft.com/office/drawing/2014/main" id="{AE00B40E-18FF-4014-901A-BE415D64C350}"/>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3023549A-72E6-42D5-B168-21B62684022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7E80C3BC-E140-4DCD-AB26-96593EF4B473}"/>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4BC82D40-19B9-4907-A7D4-AA0C630122B6}"/>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BA29C9B4-B5B9-4A01-9062-4048E119691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11E0158B-19A8-4BDF-ABAB-6BE75FC03CB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ox(i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5"/>
          <p:cNvSpPr txBox="1">
            <a:spLocks noChangeArrowheads="1"/>
          </p:cNvSpPr>
          <p:nvPr/>
        </p:nvSpPr>
        <p:spPr bwMode="auto">
          <a:xfrm>
            <a:off x="3676072" y="1112254"/>
            <a:ext cx="6608041" cy="584775"/>
          </a:xfrm>
          <a:prstGeom prst="rect">
            <a:avLst/>
          </a:prstGeom>
          <a:solidFill>
            <a:schemeClr val="bg1"/>
          </a:solidFill>
          <a:ln w="9525">
            <a:noFill/>
            <a:miter lim="800000"/>
            <a:headEnd/>
            <a:tailEnd/>
          </a:ln>
        </p:spPr>
        <p:txBody>
          <a:bodyPr wrap="square">
            <a:spAutoFit/>
          </a:bodyPr>
          <a:lstStyle/>
          <a:p>
            <a:pPr algn="ctr" defTabSz="914400">
              <a:spcBef>
                <a:spcPct val="50000"/>
              </a:spcBef>
            </a:pPr>
            <a:r>
              <a:rPr kumimoji="1" lang="en-US" altLang="zh-CN" sz="3200" b="1" dirty="0">
                <a:solidFill>
                  <a:srgbClr val="0000FF"/>
                </a:solidFill>
                <a:latin typeface="Times New Roman" pitchFamily="18" charset="0"/>
                <a:ea typeface="微软雅黑" pitchFamily="34" charset="-122"/>
                <a:cs typeface="Times New Roman" pitchFamily="18" charset="0"/>
              </a:rPr>
              <a:t>5.</a:t>
            </a:r>
            <a:r>
              <a:rPr kumimoji="1" lang="zh-CN" altLang="en-US" sz="3200" b="1" dirty="0">
                <a:solidFill>
                  <a:srgbClr val="0000FF"/>
                </a:solidFill>
                <a:latin typeface="Times New Roman" pitchFamily="18" charset="0"/>
                <a:ea typeface="微软雅黑" pitchFamily="34" charset="-122"/>
                <a:cs typeface="Times New Roman" pitchFamily="18" charset="0"/>
              </a:rPr>
              <a:t>信噪比</a:t>
            </a:r>
            <a:r>
              <a:rPr kumimoji="1" lang="en-US" altLang="zh-CN" sz="3200" b="1" dirty="0">
                <a:solidFill>
                  <a:srgbClr val="0000FF"/>
                </a:solidFill>
                <a:latin typeface="Times New Roman" pitchFamily="18" charset="0"/>
                <a:ea typeface="微软雅黑" pitchFamily="34" charset="-122"/>
                <a:cs typeface="Times New Roman" pitchFamily="18" charset="0"/>
              </a:rPr>
              <a:t>(S/N)</a:t>
            </a:r>
            <a:r>
              <a:rPr lang="en-US" altLang="zh-CN" sz="3200" b="1" dirty="0">
                <a:solidFill>
                  <a:srgbClr val="0000FF"/>
                </a:solidFill>
                <a:latin typeface="Times New Roman" pitchFamily="18" charset="0"/>
                <a:ea typeface="微软雅黑" pitchFamily="34" charset="-122"/>
                <a:cs typeface="Times New Roman" pitchFamily="18" charset="0"/>
              </a:rPr>
              <a:t> Signal to Noise Ratio</a:t>
            </a:r>
            <a:endParaRPr kumimoji="1" lang="en-US" altLang="zh-CN" sz="3200" b="1" dirty="0">
              <a:solidFill>
                <a:srgbClr val="0000FF"/>
              </a:solidFill>
              <a:latin typeface="Times New Roman" pitchFamily="18" charset="0"/>
              <a:ea typeface="微软雅黑" pitchFamily="34" charset="-122"/>
              <a:cs typeface="Times New Roman" pitchFamily="18" charset="0"/>
            </a:endParaRPr>
          </a:p>
        </p:txBody>
      </p:sp>
      <p:sp>
        <p:nvSpPr>
          <p:cNvPr id="15365" name="Text Box 6"/>
          <p:cNvSpPr txBox="1">
            <a:spLocks noChangeArrowheads="1"/>
          </p:cNvSpPr>
          <p:nvPr/>
        </p:nvSpPr>
        <p:spPr bwMode="auto">
          <a:xfrm>
            <a:off x="503558" y="1843085"/>
            <a:ext cx="9139206" cy="830997"/>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3200" b="1" dirty="0">
                <a:latin typeface="Times New Roman" pitchFamily="18" charset="0"/>
                <a:ea typeface="黑体" pitchFamily="2"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它是在负载电阻</a:t>
            </a:r>
            <a:r>
              <a:rPr kumimoji="1" lang="en-US" altLang="zh-CN" sz="2800" b="1" dirty="0">
                <a:latin typeface="Times New Roman" pitchFamily="18" charset="0"/>
                <a:ea typeface="微软雅黑" pitchFamily="34" charset="-122"/>
                <a:cs typeface="Times New Roman" pitchFamily="18" charset="0"/>
              </a:rPr>
              <a:t>R</a:t>
            </a:r>
            <a:r>
              <a:rPr kumimoji="1" lang="en-US" altLang="zh-CN" sz="2800" b="1" baseline="-30000" dirty="0">
                <a:latin typeface="Times New Roman" pitchFamily="18" charset="0"/>
                <a:ea typeface="微软雅黑" pitchFamily="34" charset="-122"/>
                <a:cs typeface="Times New Roman" pitchFamily="18" charset="0"/>
              </a:rPr>
              <a:t>L</a:t>
            </a:r>
            <a:r>
              <a:rPr kumimoji="1" lang="zh-CN" altLang="en-US" sz="2800" b="1" dirty="0">
                <a:latin typeface="Times New Roman" pitchFamily="18" charset="0"/>
                <a:ea typeface="微软雅黑" pitchFamily="34" charset="-122"/>
                <a:cs typeface="Times New Roman" pitchFamily="18" charset="0"/>
              </a:rPr>
              <a:t>上产上的信号功率与噪声功率之比。</a:t>
            </a:r>
            <a:r>
              <a:rPr kumimoji="1" lang="en-US" altLang="zh-CN" sz="2800" b="1" dirty="0">
                <a:latin typeface="Times New Roman" pitchFamily="18" charset="0"/>
                <a:ea typeface="微软雅黑" pitchFamily="34" charset="-122"/>
                <a:cs typeface="Times New Roman" pitchFamily="18" charset="0"/>
              </a:rPr>
              <a:t> </a:t>
            </a:r>
          </a:p>
        </p:txBody>
      </p:sp>
      <p:graphicFrame>
        <p:nvGraphicFramePr>
          <p:cNvPr id="15362" name="Object 2"/>
          <p:cNvGraphicFramePr>
            <a:graphicFrameLocks noChangeAspect="1"/>
          </p:cNvGraphicFramePr>
          <p:nvPr>
            <p:extLst>
              <p:ext uri="{D42A27DB-BD31-4B8C-83A1-F6EECF244321}">
                <p14:modId xmlns:p14="http://schemas.microsoft.com/office/powerpoint/2010/main" val="2505249857"/>
              </p:ext>
            </p:extLst>
          </p:nvPr>
        </p:nvGraphicFramePr>
        <p:xfrm>
          <a:off x="3422650" y="2809142"/>
          <a:ext cx="2951163" cy="1109662"/>
        </p:xfrm>
        <a:graphic>
          <a:graphicData uri="http://schemas.openxmlformats.org/presentationml/2006/ole">
            <mc:AlternateContent xmlns:mc="http://schemas.openxmlformats.org/markup-compatibility/2006">
              <mc:Choice xmlns:v="urn:schemas-microsoft-com:vml" Requires="v">
                <p:oleObj spid="_x0000_s43238" name="Equation" r:id="rId3" imgW="1295280" imgH="482400" progId="Equation.DSMT4">
                  <p:embed/>
                </p:oleObj>
              </mc:Choice>
              <mc:Fallback>
                <p:oleObj name="Equation" r:id="rId3" imgW="1295280" imgH="482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2650" y="2809142"/>
                        <a:ext cx="2951163" cy="1109662"/>
                      </a:xfrm>
                      <a:prstGeom prst="rect">
                        <a:avLst/>
                      </a:prstGeom>
                      <a:solidFill>
                        <a:srgbClr val="FFFF00"/>
                      </a:solidFill>
                    </p:spPr>
                  </p:pic>
                </p:oleObj>
              </mc:Fallback>
            </mc:AlternateContent>
          </a:graphicData>
        </a:graphic>
      </p:graphicFrame>
      <p:graphicFrame>
        <p:nvGraphicFramePr>
          <p:cNvPr id="2" name="Object 5"/>
          <p:cNvGraphicFramePr>
            <a:graphicFrameLocks noChangeAspect="1"/>
          </p:cNvGraphicFramePr>
          <p:nvPr>
            <p:extLst>
              <p:ext uri="{D42A27DB-BD31-4B8C-83A1-F6EECF244321}">
                <p14:modId xmlns:p14="http://schemas.microsoft.com/office/powerpoint/2010/main" val="3097754879"/>
              </p:ext>
            </p:extLst>
          </p:nvPr>
        </p:nvGraphicFramePr>
        <p:xfrm>
          <a:off x="7310130" y="2844681"/>
          <a:ext cx="2373313" cy="1050925"/>
        </p:xfrm>
        <a:graphic>
          <a:graphicData uri="http://schemas.openxmlformats.org/presentationml/2006/ole">
            <mc:AlternateContent xmlns:mc="http://schemas.openxmlformats.org/markup-compatibility/2006">
              <mc:Choice xmlns:v="urn:schemas-microsoft-com:vml" Requires="v">
                <p:oleObj spid="_x0000_s43239" name="Equation" r:id="rId5" imgW="1041120" imgH="457200" progId="Equation.DSMT4">
                  <p:embed/>
                </p:oleObj>
              </mc:Choice>
              <mc:Fallback>
                <p:oleObj name="Equation" r:id="rId5" imgW="1041120" imgH="457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0130" y="2844681"/>
                        <a:ext cx="2373313" cy="1050925"/>
                      </a:xfrm>
                      <a:prstGeom prst="rect">
                        <a:avLst/>
                      </a:prstGeom>
                      <a:solidFill>
                        <a:srgbClr val="FFFF00"/>
                      </a:solidFill>
                    </p:spPr>
                  </p:pic>
                </p:oleObj>
              </mc:Fallback>
            </mc:AlternateContent>
          </a:graphicData>
        </a:graphic>
      </p:graphicFrame>
      <p:sp>
        <p:nvSpPr>
          <p:cNvPr id="13" name="Text Box 4"/>
          <p:cNvSpPr txBox="1">
            <a:spLocks noChangeArrowheads="1"/>
          </p:cNvSpPr>
          <p:nvPr/>
        </p:nvSpPr>
        <p:spPr bwMode="auto">
          <a:xfrm>
            <a:off x="3782291" y="4319702"/>
            <a:ext cx="3600450" cy="584775"/>
          </a:xfrm>
          <a:prstGeom prst="rect">
            <a:avLst/>
          </a:prstGeom>
          <a:noFill/>
          <a:ln w="9525">
            <a:noFill/>
            <a:miter lim="800000"/>
            <a:headEnd/>
            <a:tailEnd/>
          </a:ln>
        </p:spPr>
        <p:txBody>
          <a:bodyPr>
            <a:spAutoFit/>
          </a:bodyPr>
          <a:lstStyle/>
          <a:p>
            <a:pPr defTabSz="914400">
              <a:spcBef>
                <a:spcPct val="50000"/>
              </a:spcBef>
            </a:pPr>
            <a:r>
              <a:rPr kumimoji="1" lang="en-US" altLang="zh-CN" sz="3200" b="1" dirty="0">
                <a:solidFill>
                  <a:srgbClr val="0000FF"/>
                </a:solidFill>
                <a:latin typeface="Times New Roman" pitchFamily="18" charset="0"/>
                <a:ea typeface="微软雅黑" pitchFamily="34" charset="-122"/>
                <a:cs typeface="Times New Roman" pitchFamily="18" charset="0"/>
              </a:rPr>
              <a:t>6.</a:t>
            </a:r>
            <a:r>
              <a:rPr kumimoji="1" lang="zh-CN" altLang="en-US" sz="3200" b="1" dirty="0">
                <a:solidFill>
                  <a:srgbClr val="0000FF"/>
                </a:solidFill>
                <a:latin typeface="Times New Roman" pitchFamily="18" charset="0"/>
                <a:ea typeface="微软雅黑" pitchFamily="34" charset="-122"/>
                <a:cs typeface="Times New Roman" pitchFamily="18" charset="0"/>
              </a:rPr>
              <a:t>等效噪声输入</a:t>
            </a:r>
            <a:endParaRPr kumimoji="1" lang="en-US" altLang="zh-CN" sz="3200" b="1" dirty="0">
              <a:solidFill>
                <a:srgbClr val="0000FF"/>
              </a:solidFill>
              <a:latin typeface="Times New Roman" pitchFamily="18" charset="0"/>
              <a:ea typeface="微软雅黑" pitchFamily="34" charset="-122"/>
              <a:cs typeface="Times New Roman" pitchFamily="18" charset="0"/>
            </a:endParaRPr>
          </a:p>
        </p:txBody>
      </p:sp>
      <p:sp>
        <p:nvSpPr>
          <p:cNvPr id="14" name="Text Box 5"/>
          <p:cNvSpPr txBox="1">
            <a:spLocks noChangeArrowheads="1"/>
          </p:cNvSpPr>
          <p:nvPr/>
        </p:nvSpPr>
        <p:spPr bwMode="auto">
          <a:xfrm>
            <a:off x="1000124" y="5267018"/>
            <a:ext cx="11441257" cy="138499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800" b="1" dirty="0">
                <a:latin typeface="Times New Roman" pitchFamily="18" charset="0"/>
                <a:ea typeface="黑体" pitchFamily="2"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定义为器件在特定带宽内</a:t>
            </a:r>
            <a:r>
              <a:rPr kumimoji="1" lang="en-US" altLang="zh-CN" sz="2800" b="1" dirty="0">
                <a:latin typeface="Times New Roman" pitchFamily="18" charset="0"/>
                <a:ea typeface="微软雅黑" pitchFamily="34" charset="-122"/>
                <a:cs typeface="Times New Roman" pitchFamily="18" charset="0"/>
              </a:rPr>
              <a:t>(1Hz)</a:t>
            </a:r>
            <a:r>
              <a:rPr kumimoji="1" lang="zh-CN" altLang="en-US" sz="2800" b="1" dirty="0">
                <a:latin typeface="Times New Roman" pitchFamily="18" charset="0"/>
                <a:ea typeface="微软雅黑" pitchFamily="34" charset="-122"/>
                <a:cs typeface="Times New Roman" pitchFamily="18" charset="0"/>
              </a:rPr>
              <a:t>产生的均方根信号电流恰好等于均方根噪声电流值时的输入通量。 </a:t>
            </a:r>
          </a:p>
        </p:txBody>
      </p:sp>
      <p:sp>
        <p:nvSpPr>
          <p:cNvPr id="15" name="Text Box 4"/>
          <p:cNvSpPr txBox="1">
            <a:spLocks noChangeArrowheads="1"/>
          </p:cNvSpPr>
          <p:nvPr/>
        </p:nvSpPr>
        <p:spPr bwMode="auto">
          <a:xfrm>
            <a:off x="6833020" y="4319702"/>
            <a:ext cx="5052868" cy="523220"/>
          </a:xfrm>
          <a:prstGeom prst="rect">
            <a:avLst/>
          </a:prstGeom>
          <a:noFill/>
          <a:ln w="9525">
            <a:noFill/>
            <a:miter lim="800000"/>
            <a:headEnd/>
            <a:tailEnd/>
          </a:ln>
        </p:spPr>
        <p:txBody>
          <a:bodyPr wrap="square">
            <a:spAutoFit/>
          </a:bodyPr>
          <a:lstStyle/>
          <a:p>
            <a:pPr defTabSz="914400">
              <a:spcBef>
                <a:spcPct val="50000"/>
              </a:spcBef>
            </a:pPr>
            <a:r>
              <a:rPr kumimoji="1" lang="en-US" altLang="zh-CN" sz="2800" b="1" dirty="0">
                <a:solidFill>
                  <a:srgbClr val="0000FF"/>
                </a:solidFill>
                <a:latin typeface="Times New Roman" pitchFamily="18" charset="0"/>
                <a:ea typeface="黑体" pitchFamily="2" charset="-122"/>
                <a:cs typeface="Times New Roman" pitchFamily="18" charset="0"/>
              </a:rPr>
              <a:t>(</a:t>
            </a:r>
            <a:r>
              <a:rPr lang="en-US" altLang="zh-CN" sz="2800" b="1" dirty="0">
                <a:solidFill>
                  <a:srgbClr val="0000FF"/>
                </a:solidFill>
                <a:latin typeface="Times New Roman" pitchFamily="18" charset="0"/>
                <a:ea typeface="黑体" pitchFamily="2" charset="-122"/>
                <a:cs typeface="Times New Roman" pitchFamily="18" charset="0"/>
              </a:rPr>
              <a:t>Equivalent Noise Input, </a:t>
            </a:r>
            <a:r>
              <a:rPr kumimoji="1" lang="en-US" altLang="zh-CN" sz="2800" b="1" dirty="0">
                <a:solidFill>
                  <a:srgbClr val="0000FF"/>
                </a:solidFill>
                <a:latin typeface="Times New Roman" pitchFamily="18" charset="0"/>
                <a:ea typeface="黑体" pitchFamily="2" charset="-122"/>
                <a:cs typeface="Times New Roman" pitchFamily="18" charset="0"/>
              </a:rPr>
              <a:t>ENI)</a:t>
            </a:r>
          </a:p>
        </p:txBody>
      </p:sp>
      <p:sp>
        <p:nvSpPr>
          <p:cNvPr id="16" name="文本框 60">
            <a:extLst>
              <a:ext uri="{FF2B5EF4-FFF2-40B4-BE49-F238E27FC236}">
                <a16:creationId xmlns:a16="http://schemas.microsoft.com/office/drawing/2014/main" id="{D259FDF1-00BB-45AF-8E1E-84C6E56D1D2F}"/>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7" name="矩形 16">
            <a:extLst>
              <a:ext uri="{FF2B5EF4-FFF2-40B4-BE49-F238E27FC236}">
                <a16:creationId xmlns:a16="http://schemas.microsoft.com/office/drawing/2014/main" id="{64C942F2-C9F6-4F8D-9034-AC1E84CA288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154FFE28-CF38-4B79-9045-46FDF033A7F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AF1472BD-3FB9-4E84-BE28-AF04824ADDD8}"/>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id="{D6A021DF-7EE3-46AF-B931-DF5F75ED1ED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74AD375B-386E-41C8-930F-48ED4D28023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id="{601B2F7D-2ECB-46FF-B32D-243E9549B38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box(in)">
                                      <p:cBhvr>
                                        <p:cTn id="7" dur="500"/>
                                        <p:tgtEl>
                                          <p:spTgt spid="1536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365"/>
                                        </p:tgtEl>
                                        <p:attrNameLst>
                                          <p:attrName>style.visibility</p:attrName>
                                        </p:attrNameLst>
                                      </p:cBhvr>
                                      <p:to>
                                        <p:strVal val="visible"/>
                                      </p:to>
                                    </p:set>
                                    <p:animEffect transition="in" filter="box(in)">
                                      <p:cBhvr>
                                        <p:cTn id="12" dur="500"/>
                                        <p:tgtEl>
                                          <p:spTgt spid="1536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5362"/>
                                        </p:tgtEl>
                                        <p:attrNameLst>
                                          <p:attrName>style.visibility</p:attrName>
                                        </p:attrNameLst>
                                      </p:cBhvr>
                                      <p:to>
                                        <p:strVal val="visible"/>
                                      </p:to>
                                    </p:set>
                                    <p:animEffect transition="in" filter="box(in)">
                                      <p:cBhvr>
                                        <p:cTn id="17" dur="500"/>
                                        <p:tgtEl>
                                          <p:spTgt spid="153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nimBg="1"/>
      <p:bldP spid="15365"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4"/>
          <p:cNvSpPr txBox="1">
            <a:spLocks noChangeArrowheads="1"/>
          </p:cNvSpPr>
          <p:nvPr/>
        </p:nvSpPr>
        <p:spPr bwMode="auto">
          <a:xfrm>
            <a:off x="4733655" y="1051160"/>
            <a:ext cx="3911600" cy="584775"/>
          </a:xfrm>
          <a:prstGeom prst="rect">
            <a:avLst/>
          </a:prstGeom>
          <a:noFill/>
          <a:ln w="9525">
            <a:noFill/>
            <a:miter lim="800000"/>
            <a:headEnd/>
            <a:tailEnd/>
          </a:ln>
        </p:spPr>
        <p:txBody>
          <a:bodyPr>
            <a:spAutoFit/>
          </a:bodyPr>
          <a:lstStyle/>
          <a:p>
            <a:pPr algn="ctr" defTabSz="914400">
              <a:spcBef>
                <a:spcPct val="50000"/>
              </a:spcBef>
            </a:pPr>
            <a:r>
              <a:rPr kumimoji="1" lang="en-US" altLang="zh-CN" sz="3200" b="1" dirty="0">
                <a:solidFill>
                  <a:srgbClr val="0000FF"/>
                </a:solidFill>
                <a:latin typeface="微软雅黑" pitchFamily="34" charset="-122"/>
                <a:ea typeface="微软雅黑" pitchFamily="34" charset="-122"/>
                <a:cs typeface="Times New Roman" pitchFamily="18" charset="0"/>
              </a:rPr>
              <a:t>7.</a:t>
            </a:r>
            <a:r>
              <a:rPr kumimoji="1" lang="zh-CN" altLang="en-US" sz="3200" b="1" dirty="0">
                <a:solidFill>
                  <a:srgbClr val="0000FF"/>
                </a:solidFill>
                <a:latin typeface="微软雅黑" pitchFamily="34" charset="-122"/>
                <a:ea typeface="微软雅黑" pitchFamily="34" charset="-122"/>
                <a:cs typeface="Times New Roman" pitchFamily="18" charset="0"/>
              </a:rPr>
              <a:t>噪声等效功率</a:t>
            </a:r>
            <a:endParaRPr kumimoji="1" lang="en-US" altLang="zh-CN" sz="3200" b="1" dirty="0">
              <a:solidFill>
                <a:srgbClr val="0000FF"/>
              </a:solidFill>
              <a:latin typeface="微软雅黑" pitchFamily="34" charset="-122"/>
              <a:ea typeface="微软雅黑" pitchFamily="34" charset="-122"/>
              <a:cs typeface="Times New Roman" pitchFamily="18" charset="0"/>
            </a:endParaRPr>
          </a:p>
        </p:txBody>
      </p:sp>
      <p:sp>
        <p:nvSpPr>
          <p:cNvPr id="16389" name="Text Box 5"/>
          <p:cNvSpPr txBox="1">
            <a:spLocks noChangeArrowheads="1"/>
          </p:cNvSpPr>
          <p:nvPr/>
        </p:nvSpPr>
        <p:spPr bwMode="auto">
          <a:xfrm>
            <a:off x="814374" y="1712526"/>
            <a:ext cx="12037292"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称最小可探测功率</a:t>
            </a:r>
            <a:r>
              <a:rPr kumimoji="1" lang="en-US" altLang="zh-CN" sz="2400" b="1" dirty="0" err="1">
                <a:latin typeface="Times New Roman" pitchFamily="18" charset="0"/>
                <a:ea typeface="微软雅黑" pitchFamily="34" charset="-122"/>
                <a:cs typeface="Times New Roman" pitchFamily="18" charset="0"/>
              </a:rPr>
              <a:t>P</a:t>
            </a:r>
            <a:r>
              <a:rPr kumimoji="1" lang="en-US" altLang="zh-CN" sz="2400" b="1" baseline="-30000" dirty="0" err="1">
                <a:latin typeface="Times New Roman" pitchFamily="18" charset="0"/>
                <a:ea typeface="微软雅黑" pitchFamily="34" charset="-122"/>
                <a:cs typeface="Times New Roman" pitchFamily="18" charset="0"/>
              </a:rPr>
              <a:t>min</a:t>
            </a:r>
            <a:r>
              <a:rPr kumimoji="1" lang="zh-CN" altLang="en-US" sz="2400" b="1" dirty="0">
                <a:latin typeface="Times New Roman" pitchFamily="18" charset="0"/>
                <a:ea typeface="微软雅黑" pitchFamily="34" charset="-122"/>
                <a:cs typeface="Times New Roman" pitchFamily="18" charset="0"/>
              </a:rPr>
              <a:t>。它定义为信号功率与噪声功率之比为</a:t>
            </a:r>
            <a:r>
              <a:rPr kumimoji="1" lang="en-US" altLang="zh-CN" sz="2400" b="1" dirty="0">
                <a:latin typeface="Times New Roman" pitchFamily="18" charset="0"/>
                <a:ea typeface="微软雅黑" pitchFamily="34" charset="-122"/>
                <a:cs typeface="Times New Roman" pitchFamily="18" charset="0"/>
              </a:rPr>
              <a:t>1(</a:t>
            </a:r>
            <a:r>
              <a:rPr kumimoji="1" lang="zh-CN" altLang="en-US" sz="2400" b="1" dirty="0">
                <a:latin typeface="Times New Roman" pitchFamily="18" charset="0"/>
                <a:ea typeface="微软雅黑" pitchFamily="34" charset="-122"/>
                <a:cs typeface="Times New Roman" pitchFamily="18" charset="0"/>
              </a:rPr>
              <a:t>即</a:t>
            </a:r>
            <a:r>
              <a:rPr kumimoji="1" lang="en-US" altLang="zh-CN" sz="2400" b="1" dirty="0">
                <a:latin typeface="Times New Roman" pitchFamily="18" charset="0"/>
                <a:ea typeface="微软雅黑" pitchFamily="34" charset="-122"/>
                <a:cs typeface="Times New Roman" pitchFamily="18" charset="0"/>
              </a:rPr>
              <a:t>S</a:t>
            </a:r>
            <a:r>
              <a:rPr kumimoji="1" lang="zh-CN" altLang="en-US" sz="2400" b="1" dirty="0">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N=1)</a:t>
            </a:r>
            <a:r>
              <a:rPr kumimoji="1" lang="zh-CN" altLang="en-US" sz="2400" b="1" dirty="0">
                <a:latin typeface="Times New Roman" pitchFamily="18" charset="0"/>
                <a:ea typeface="微软雅黑" pitchFamily="34" charset="-122"/>
                <a:cs typeface="Times New Roman" pitchFamily="18" charset="0"/>
              </a:rPr>
              <a:t>时，入射到探测器件上的辐射通量。</a:t>
            </a:r>
          </a:p>
        </p:txBody>
      </p:sp>
      <p:sp>
        <p:nvSpPr>
          <p:cNvPr id="16390" name="Text Box 8"/>
          <p:cNvSpPr txBox="1">
            <a:spLocks noChangeArrowheads="1"/>
          </p:cNvSpPr>
          <p:nvPr/>
        </p:nvSpPr>
        <p:spPr bwMode="auto">
          <a:xfrm>
            <a:off x="8558213" y="4998929"/>
            <a:ext cx="4227927" cy="1015663"/>
          </a:xfrm>
          <a:prstGeom prst="rect">
            <a:avLst/>
          </a:prstGeom>
          <a:noFill/>
          <a:ln w="31750">
            <a:solidFill>
              <a:srgbClr val="FF00FF"/>
            </a:solidFill>
            <a:miter lim="800000"/>
            <a:headEnd/>
            <a:tailEnd/>
          </a:ln>
        </p:spPr>
        <p:txBody>
          <a:bodyPr wrap="square">
            <a:spAutoFit/>
          </a:bodyPr>
          <a:lstStyle/>
          <a:p>
            <a:pPr defTabSz="914400">
              <a:lnSpc>
                <a:spcPct val="150000"/>
              </a:lnSpc>
              <a:spcBef>
                <a:spcPct val="50000"/>
              </a:spcBef>
            </a:pPr>
            <a:r>
              <a:rPr kumimoji="1" lang="zh-CN" altLang="en-US" b="1" dirty="0">
                <a:latin typeface="微软雅黑" pitchFamily="34" charset="-122"/>
                <a:ea typeface="微软雅黑" pitchFamily="34" charset="-122"/>
              </a:rPr>
              <a:t>噪声等效功率越小，探测器能探测到的最小辐通量就越低，性能越好</a:t>
            </a:r>
            <a:r>
              <a:rPr kumimoji="1" lang="zh-CN" altLang="en-US" dirty="0">
                <a:latin typeface="微软雅黑" pitchFamily="34" charset="-122"/>
                <a:ea typeface="微软雅黑" pitchFamily="34" charset="-122"/>
              </a:rPr>
              <a:t>。</a:t>
            </a:r>
          </a:p>
        </p:txBody>
      </p:sp>
      <p:sp>
        <p:nvSpPr>
          <p:cNvPr id="9" name="Text Box 4"/>
          <p:cNvSpPr txBox="1">
            <a:spLocks noChangeArrowheads="1"/>
          </p:cNvSpPr>
          <p:nvPr/>
        </p:nvSpPr>
        <p:spPr bwMode="auto">
          <a:xfrm>
            <a:off x="8357290" y="1165350"/>
            <a:ext cx="3788529" cy="400110"/>
          </a:xfrm>
          <a:prstGeom prst="rect">
            <a:avLst/>
          </a:prstGeom>
          <a:solidFill>
            <a:schemeClr val="bg1"/>
          </a:solidFill>
          <a:ln w="9525">
            <a:noFill/>
            <a:miter lim="800000"/>
            <a:headEnd/>
            <a:tailEnd/>
          </a:ln>
        </p:spPr>
        <p:txBody>
          <a:bodyPr wrap="square">
            <a:spAutoFit/>
          </a:bodyPr>
          <a:lstStyle/>
          <a:p>
            <a:pPr algn="ctr" defTabSz="914400">
              <a:spcBef>
                <a:spcPct val="50000"/>
              </a:spcBef>
            </a:pPr>
            <a:r>
              <a:rPr lang="en-US" altLang="zh-CN" b="1" dirty="0">
                <a:solidFill>
                  <a:srgbClr val="0000FF"/>
                </a:solidFill>
                <a:latin typeface="Times New Roman" pitchFamily="18" charset="0"/>
                <a:ea typeface="楷体_GB2312" pitchFamily="49" charset="-122"/>
                <a:cs typeface="Times New Roman" pitchFamily="18" charset="0"/>
              </a:rPr>
              <a:t>Noise Equivalent Power</a:t>
            </a:r>
            <a:r>
              <a:rPr kumimoji="1" lang="zh-CN" altLang="en-US" b="1" dirty="0">
                <a:solidFill>
                  <a:srgbClr val="0000FF"/>
                </a:solidFill>
                <a:latin typeface="Times New Roman" pitchFamily="18" charset="0"/>
                <a:ea typeface="黑体" pitchFamily="2" charset="-122"/>
                <a:cs typeface="Times New Roman" pitchFamily="18" charset="0"/>
              </a:rPr>
              <a:t>，</a:t>
            </a:r>
            <a:r>
              <a:rPr kumimoji="1" lang="en-US" altLang="zh-CN" b="1" dirty="0">
                <a:solidFill>
                  <a:srgbClr val="0000FF"/>
                </a:solidFill>
                <a:latin typeface="Times New Roman" pitchFamily="18" charset="0"/>
                <a:ea typeface="黑体" pitchFamily="2" charset="-122"/>
                <a:cs typeface="Times New Roman" pitchFamily="18" charset="0"/>
              </a:rPr>
              <a:t>NEP</a:t>
            </a:r>
          </a:p>
        </p:txBody>
      </p:sp>
      <p:graphicFrame>
        <p:nvGraphicFramePr>
          <p:cNvPr id="3" name="对象 2"/>
          <p:cNvGraphicFramePr>
            <a:graphicFrameLocks noChangeAspect="1"/>
          </p:cNvGraphicFramePr>
          <p:nvPr>
            <p:extLst>
              <p:ext uri="{D42A27DB-BD31-4B8C-83A1-F6EECF244321}">
                <p14:modId xmlns:p14="http://schemas.microsoft.com/office/powerpoint/2010/main" val="1528933882"/>
              </p:ext>
            </p:extLst>
          </p:nvPr>
        </p:nvGraphicFramePr>
        <p:xfrm>
          <a:off x="1947214" y="2929902"/>
          <a:ext cx="2470150" cy="570035"/>
        </p:xfrm>
        <a:graphic>
          <a:graphicData uri="http://schemas.openxmlformats.org/presentationml/2006/ole">
            <mc:AlternateContent xmlns:mc="http://schemas.openxmlformats.org/markup-compatibility/2006">
              <mc:Choice xmlns:v="urn:schemas-microsoft-com:vml" Requires="v">
                <p:oleObj spid="_x0000_s45646" name="Equation" r:id="rId3" imgW="1104900" imgH="254000" progId="Equation.DSMT4">
                  <p:embed/>
                </p:oleObj>
              </mc:Choice>
              <mc:Fallback>
                <p:oleObj name="Equation" r:id="rId3" imgW="1104900" imgH="254000" progId="Equation.DSMT4">
                  <p:embed/>
                  <p:pic>
                    <p:nvPicPr>
                      <p:cNvPr id="0" name="Object 1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7214" y="2929902"/>
                        <a:ext cx="2470150" cy="570035"/>
                      </a:xfrm>
                      <a:prstGeom prst="rect">
                        <a:avLst/>
                      </a:prstGeom>
                      <a:solidFill>
                        <a:srgbClr val="FFFF00"/>
                      </a:solidFill>
                    </p:spPr>
                  </p:pic>
                </p:oleObj>
              </mc:Fallback>
            </mc:AlternateContent>
          </a:graphicData>
        </a:graphic>
      </p:graphicFrame>
      <p:sp>
        <p:nvSpPr>
          <p:cNvPr id="16" name="Text Box 8"/>
          <p:cNvSpPr txBox="1">
            <a:spLocks noChangeArrowheads="1"/>
          </p:cNvSpPr>
          <p:nvPr/>
        </p:nvSpPr>
        <p:spPr bwMode="auto">
          <a:xfrm>
            <a:off x="4955916" y="2828711"/>
            <a:ext cx="2981854"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单位：</a:t>
            </a:r>
            <a:r>
              <a:rPr kumimoji="1" lang="en-US" altLang="zh-CN" sz="2400" b="1" dirty="0">
                <a:latin typeface="Times New Roman" panose="02020603050405020304" pitchFamily="18" charset="0"/>
                <a:ea typeface="微软雅黑" pitchFamily="34" charset="-122"/>
                <a:cs typeface="Times New Roman" panose="02020603050405020304" pitchFamily="18" charset="0"/>
              </a:rPr>
              <a:t>W</a:t>
            </a:r>
            <a:r>
              <a:rPr kumimoji="1" lang="zh-CN" altLang="en-US" sz="2400" b="1" dirty="0">
                <a:latin typeface="Times New Roman" panose="02020603050405020304" pitchFamily="18" charset="0"/>
                <a:ea typeface="微软雅黑" pitchFamily="34" charset="-122"/>
                <a:cs typeface="Times New Roman" panose="02020603050405020304" pitchFamily="18" charset="0"/>
              </a:rPr>
              <a:t>或</a:t>
            </a:r>
            <a:r>
              <a:rPr kumimoji="1" lang="en-US" altLang="zh-CN" sz="2400" b="1" dirty="0">
                <a:latin typeface="Times New Roman" panose="02020603050405020304" pitchFamily="18" charset="0"/>
                <a:ea typeface="微软雅黑" pitchFamily="34" charset="-122"/>
                <a:cs typeface="Times New Roman" panose="02020603050405020304" pitchFamily="18" charset="0"/>
              </a:rPr>
              <a:t>lm</a:t>
            </a:r>
            <a:endParaRPr kumimoji="1" lang="zh-CN" altLang="en-US" sz="2400" dirty="0">
              <a:latin typeface="Times New Roman" panose="02020603050405020304" pitchFamily="18" charset="0"/>
              <a:ea typeface="微软雅黑" pitchFamily="34"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59481703"/>
              </p:ext>
            </p:extLst>
          </p:nvPr>
        </p:nvGraphicFramePr>
        <p:xfrm>
          <a:off x="1947214" y="3981542"/>
          <a:ext cx="2154238" cy="508000"/>
        </p:xfrm>
        <a:graphic>
          <a:graphicData uri="http://schemas.openxmlformats.org/presentationml/2006/ole">
            <mc:AlternateContent xmlns:mc="http://schemas.openxmlformats.org/markup-compatibility/2006">
              <mc:Choice xmlns:v="urn:schemas-microsoft-com:vml" Requires="v">
                <p:oleObj spid="_x0000_s45647" name="Equation" r:id="rId5" imgW="1130040" imgH="266400" progId="Equation.DSMT4">
                  <p:embed/>
                </p:oleObj>
              </mc:Choice>
              <mc:Fallback>
                <p:oleObj name="Equation" r:id="rId5" imgW="1130040" imgH="266400" progId="Equation.DSMT4">
                  <p:embed/>
                  <p:pic>
                    <p:nvPicPr>
                      <p:cNvPr id="0" name="Object 161"/>
                      <p:cNvPicPr>
                        <a:picLocks noChangeAspect="1" noChangeArrowheads="1"/>
                      </p:cNvPicPr>
                      <p:nvPr/>
                    </p:nvPicPr>
                    <p:blipFill>
                      <a:blip r:embed="rId6"/>
                      <a:srcRect/>
                      <a:stretch>
                        <a:fillRect/>
                      </a:stretch>
                    </p:blipFill>
                    <p:spPr bwMode="auto">
                      <a:xfrm>
                        <a:off x="1947214" y="3981542"/>
                        <a:ext cx="2154238" cy="508000"/>
                      </a:xfrm>
                      <a:prstGeom prst="rect">
                        <a:avLst/>
                      </a:prstGeom>
                      <a:solidFill>
                        <a:srgbClr val="FFFF00"/>
                      </a:solid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008127337"/>
              </p:ext>
            </p:extLst>
          </p:nvPr>
        </p:nvGraphicFramePr>
        <p:xfrm>
          <a:off x="5149850" y="4348163"/>
          <a:ext cx="1152525" cy="501650"/>
        </p:xfrm>
        <a:graphic>
          <a:graphicData uri="http://schemas.openxmlformats.org/presentationml/2006/ole">
            <mc:AlternateContent xmlns:mc="http://schemas.openxmlformats.org/markup-compatibility/2006">
              <mc:Choice xmlns:v="urn:schemas-microsoft-com:vml" Requires="v">
                <p:oleObj spid="_x0000_s45648" name="Equation" r:id="rId7" imgW="609480" imgH="266400" progId="Equation.DSMT4">
                  <p:embed/>
                </p:oleObj>
              </mc:Choice>
              <mc:Fallback>
                <p:oleObj name="Equation" r:id="rId7" imgW="609480" imgH="266400" progId="Equation.DSMT4">
                  <p:embed/>
                  <p:pic>
                    <p:nvPicPr>
                      <p:cNvPr id="0" name="Object 163"/>
                      <p:cNvPicPr>
                        <a:picLocks noChangeAspect="1" noChangeArrowheads="1"/>
                      </p:cNvPicPr>
                      <p:nvPr/>
                    </p:nvPicPr>
                    <p:blipFill>
                      <a:blip r:embed="rId8"/>
                      <a:srcRect/>
                      <a:stretch>
                        <a:fillRect/>
                      </a:stretch>
                    </p:blipFill>
                    <p:spPr bwMode="auto">
                      <a:xfrm>
                        <a:off x="5149850" y="4348163"/>
                        <a:ext cx="1152525" cy="501650"/>
                      </a:xfrm>
                      <a:prstGeom prst="rect">
                        <a:avLst/>
                      </a:prstGeom>
                      <a:solidFill>
                        <a:srgbClr val="FFFF00"/>
                      </a:solid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36385437"/>
              </p:ext>
            </p:extLst>
          </p:nvPr>
        </p:nvGraphicFramePr>
        <p:xfrm>
          <a:off x="7406912" y="3638351"/>
          <a:ext cx="925964" cy="576544"/>
        </p:xfrm>
        <a:graphic>
          <a:graphicData uri="http://schemas.openxmlformats.org/presentationml/2006/ole">
            <mc:AlternateContent xmlns:mc="http://schemas.openxmlformats.org/markup-compatibility/2006">
              <mc:Choice xmlns:v="urn:schemas-microsoft-com:vml" Requires="v">
                <p:oleObj spid="_x0000_s45649" name="Equation" r:id="rId9" imgW="507780" imgH="317362" progId="Equation.DSMT4">
                  <p:embed/>
                </p:oleObj>
              </mc:Choice>
              <mc:Fallback>
                <p:oleObj name="Equation" r:id="rId9" imgW="507780" imgH="317362" progId="Equation.DSMT4">
                  <p:embed/>
                  <p:pic>
                    <p:nvPicPr>
                      <p:cNvPr id="0" name="Object 1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06912" y="3638351"/>
                        <a:ext cx="925964" cy="576544"/>
                      </a:xfrm>
                      <a:prstGeom prst="rect">
                        <a:avLst/>
                      </a:prstGeom>
                      <a:solidFill>
                        <a:srgbClr val="FFFF00"/>
                      </a:solid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058585042"/>
              </p:ext>
            </p:extLst>
          </p:nvPr>
        </p:nvGraphicFramePr>
        <p:xfrm>
          <a:off x="2623739" y="5186549"/>
          <a:ext cx="2703738" cy="829556"/>
        </p:xfrm>
        <a:graphic>
          <a:graphicData uri="http://schemas.openxmlformats.org/presentationml/2006/ole">
            <mc:AlternateContent xmlns:mc="http://schemas.openxmlformats.org/markup-compatibility/2006">
              <mc:Choice xmlns:v="urn:schemas-microsoft-com:vml" Requires="v">
                <p:oleObj spid="_x0000_s45650" name="Equation" r:id="rId11" imgW="1981200" imgH="609600" progId="Equation.DSMT4">
                  <p:embed/>
                </p:oleObj>
              </mc:Choice>
              <mc:Fallback>
                <p:oleObj name="Equation" r:id="rId11" imgW="1981200" imgH="609600" progId="Equation.DSMT4">
                  <p:embed/>
                  <p:pic>
                    <p:nvPicPr>
                      <p:cNvPr id="0" name="Object 17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3739" y="5186549"/>
                        <a:ext cx="2703738" cy="829556"/>
                      </a:xfrm>
                      <a:prstGeom prst="rect">
                        <a:avLst/>
                      </a:prstGeom>
                      <a:solidFill>
                        <a:srgbClr val="FFFF00"/>
                      </a:solid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183744457"/>
              </p:ext>
            </p:extLst>
          </p:nvPr>
        </p:nvGraphicFramePr>
        <p:xfrm>
          <a:off x="7416800" y="4387850"/>
          <a:ext cx="911225" cy="504825"/>
        </p:xfrm>
        <a:graphic>
          <a:graphicData uri="http://schemas.openxmlformats.org/presentationml/2006/ole">
            <mc:AlternateContent xmlns:mc="http://schemas.openxmlformats.org/markup-compatibility/2006">
              <mc:Choice xmlns:v="urn:schemas-microsoft-com:vml" Requires="v">
                <p:oleObj spid="_x0000_s45651" name="Equation" r:id="rId13" imgW="571320" imgH="317160" progId="Equation.DSMT4">
                  <p:embed/>
                </p:oleObj>
              </mc:Choice>
              <mc:Fallback>
                <p:oleObj name="Equation" r:id="rId13" imgW="571320" imgH="317160" progId="Equation.DSMT4">
                  <p:embed/>
                  <p:pic>
                    <p:nvPicPr>
                      <p:cNvPr id="0" name="Object 174"/>
                      <p:cNvPicPr>
                        <a:picLocks noChangeAspect="1" noChangeArrowheads="1"/>
                      </p:cNvPicPr>
                      <p:nvPr/>
                    </p:nvPicPr>
                    <p:blipFill>
                      <a:blip r:embed="rId14"/>
                      <a:srcRect/>
                      <a:stretch>
                        <a:fillRect/>
                      </a:stretch>
                    </p:blipFill>
                    <p:spPr bwMode="auto">
                      <a:xfrm>
                        <a:off x="7416800" y="4387850"/>
                        <a:ext cx="911225" cy="504825"/>
                      </a:xfrm>
                      <a:prstGeom prst="rect">
                        <a:avLst/>
                      </a:prstGeom>
                      <a:solidFill>
                        <a:srgbClr val="FFFF00"/>
                      </a:solid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636884125"/>
              </p:ext>
            </p:extLst>
          </p:nvPr>
        </p:nvGraphicFramePr>
        <p:xfrm>
          <a:off x="5854700" y="5184775"/>
          <a:ext cx="1182688" cy="808038"/>
        </p:xfrm>
        <a:graphic>
          <a:graphicData uri="http://schemas.openxmlformats.org/presentationml/2006/ole">
            <mc:AlternateContent xmlns:mc="http://schemas.openxmlformats.org/markup-compatibility/2006">
              <mc:Choice xmlns:v="urn:schemas-microsoft-com:vml" Requires="v">
                <p:oleObj spid="_x0000_s45652" name="Equation" r:id="rId15" imgW="774360" imgH="533160" progId="Equation.DSMT4">
                  <p:embed/>
                </p:oleObj>
              </mc:Choice>
              <mc:Fallback>
                <p:oleObj name="Equation" r:id="rId15" imgW="774360" imgH="533160" progId="Equation.DSMT4">
                  <p:embed/>
                  <p:pic>
                    <p:nvPicPr>
                      <p:cNvPr id="0" name="Object 183"/>
                      <p:cNvPicPr>
                        <a:picLocks noChangeAspect="1" noChangeArrowheads="1"/>
                      </p:cNvPicPr>
                      <p:nvPr/>
                    </p:nvPicPr>
                    <p:blipFill>
                      <a:blip r:embed="rId16"/>
                      <a:srcRect/>
                      <a:stretch>
                        <a:fillRect/>
                      </a:stretch>
                    </p:blipFill>
                    <p:spPr bwMode="auto">
                      <a:xfrm>
                        <a:off x="5854700" y="5184775"/>
                        <a:ext cx="1182688" cy="808038"/>
                      </a:xfrm>
                      <a:prstGeom prst="rect">
                        <a:avLst/>
                      </a:prstGeom>
                      <a:solidFill>
                        <a:srgbClr val="FFFF00"/>
                      </a:solid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825465643"/>
              </p:ext>
            </p:extLst>
          </p:nvPr>
        </p:nvGraphicFramePr>
        <p:xfrm>
          <a:off x="897452" y="6254486"/>
          <a:ext cx="1494766" cy="533845"/>
        </p:xfrm>
        <a:graphic>
          <a:graphicData uri="http://schemas.openxmlformats.org/presentationml/2006/ole">
            <mc:AlternateContent xmlns:mc="http://schemas.openxmlformats.org/markup-compatibility/2006">
              <mc:Choice xmlns:v="urn:schemas-microsoft-com:vml" Requires="v">
                <p:oleObj spid="_x0000_s45653" name="Equation" r:id="rId17" imgW="1066800" imgH="381000" progId="Equation.DSMT4">
                  <p:embed/>
                </p:oleObj>
              </mc:Choice>
              <mc:Fallback>
                <p:oleObj name="Equation" r:id="rId17" imgW="1066800" imgH="381000" progId="Equation.DSMT4">
                  <p:embed/>
                  <p:pic>
                    <p:nvPicPr>
                      <p:cNvPr id="0" name="Object 19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97452" y="6254486"/>
                        <a:ext cx="1494766" cy="533845"/>
                      </a:xfrm>
                      <a:prstGeom prst="rect">
                        <a:avLst/>
                      </a:prstGeom>
                      <a:solidFill>
                        <a:srgbClr val="FFC000"/>
                      </a:solidFill>
                    </p:spPr>
                  </p:pic>
                </p:oleObj>
              </mc:Fallback>
            </mc:AlternateContent>
          </a:graphicData>
        </a:graphic>
      </p:graphicFrame>
      <p:sp>
        <p:nvSpPr>
          <p:cNvPr id="25" name="矩形 24"/>
          <p:cNvSpPr/>
          <p:nvPr/>
        </p:nvSpPr>
        <p:spPr>
          <a:xfrm>
            <a:off x="2392218" y="6298025"/>
            <a:ext cx="10717998" cy="461665"/>
          </a:xfrm>
          <a:prstGeom prst="rect">
            <a:avLst/>
          </a:prstGeom>
        </p:spPr>
        <p:txBody>
          <a:bodyPr wrap="square">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与测量系统带宽的平方根成正比，当测量带宽归一化时，</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NEP</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的单位也表示为</a:t>
            </a:r>
          </a:p>
        </p:txBody>
      </p:sp>
      <p:graphicFrame>
        <p:nvGraphicFramePr>
          <p:cNvPr id="27" name="对象 26"/>
          <p:cNvGraphicFramePr>
            <a:graphicFrameLocks noChangeAspect="1"/>
          </p:cNvGraphicFramePr>
          <p:nvPr>
            <p:extLst>
              <p:ext uri="{D42A27DB-BD31-4B8C-83A1-F6EECF244321}">
                <p14:modId xmlns:p14="http://schemas.microsoft.com/office/powerpoint/2010/main" val="1134459923"/>
              </p:ext>
            </p:extLst>
          </p:nvPr>
        </p:nvGraphicFramePr>
        <p:xfrm>
          <a:off x="5726216" y="6833027"/>
          <a:ext cx="1105513" cy="534331"/>
        </p:xfrm>
        <a:graphic>
          <a:graphicData uri="http://schemas.openxmlformats.org/presentationml/2006/ole">
            <mc:AlternateContent xmlns:mc="http://schemas.openxmlformats.org/markup-compatibility/2006">
              <mc:Choice xmlns:v="urn:schemas-microsoft-com:vml" Requires="v">
                <p:oleObj spid="_x0000_s45654" name="Equation" r:id="rId19" imgW="571252" imgH="279279" progId="Equation.DSMT4">
                  <p:embed/>
                </p:oleObj>
              </mc:Choice>
              <mc:Fallback>
                <p:oleObj name="Equation" r:id="rId19" imgW="571252" imgH="279279" progId="Equation.DSMT4">
                  <p:embed/>
                  <p:pic>
                    <p:nvPicPr>
                      <p:cNvPr id="0" name="Object 19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26216" y="6833027"/>
                        <a:ext cx="1105513" cy="534331"/>
                      </a:xfrm>
                      <a:prstGeom prst="rect">
                        <a:avLst/>
                      </a:prstGeom>
                      <a:solidFill>
                        <a:srgbClr val="FFFF00"/>
                      </a:solidFill>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920690287"/>
              </p:ext>
            </p:extLst>
          </p:nvPr>
        </p:nvGraphicFramePr>
        <p:xfrm>
          <a:off x="7411297" y="6826182"/>
          <a:ext cx="1052945" cy="500580"/>
        </p:xfrm>
        <a:graphic>
          <a:graphicData uri="http://schemas.openxmlformats.org/presentationml/2006/ole">
            <mc:AlternateContent xmlns:mc="http://schemas.openxmlformats.org/markup-compatibility/2006">
              <mc:Choice xmlns:v="urn:schemas-microsoft-com:vml" Requires="v">
                <p:oleObj spid="_x0000_s45655" name="Equation" r:id="rId21" imgW="583947" imgH="279279" progId="Equation.DSMT4">
                  <p:embed/>
                </p:oleObj>
              </mc:Choice>
              <mc:Fallback>
                <p:oleObj name="Equation" r:id="rId21" imgW="583947" imgH="279279" progId="Equation.DSMT4">
                  <p:embed/>
                  <p:pic>
                    <p:nvPicPr>
                      <p:cNvPr id="0" name="Object 19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11297" y="6826182"/>
                        <a:ext cx="1052945" cy="500580"/>
                      </a:xfrm>
                      <a:prstGeom prst="rect">
                        <a:avLst/>
                      </a:prstGeom>
                      <a:solidFill>
                        <a:srgbClr val="FFFF00"/>
                      </a:solidFill>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409896421"/>
              </p:ext>
            </p:extLst>
          </p:nvPr>
        </p:nvGraphicFramePr>
        <p:xfrm>
          <a:off x="5155767" y="3649693"/>
          <a:ext cx="1171126" cy="509587"/>
        </p:xfrm>
        <a:graphic>
          <a:graphicData uri="http://schemas.openxmlformats.org/presentationml/2006/ole">
            <mc:AlternateContent xmlns:mc="http://schemas.openxmlformats.org/markup-compatibility/2006">
              <mc:Choice xmlns:v="urn:schemas-microsoft-com:vml" Requires="v">
                <p:oleObj spid="_x0000_s45656" name="Equation" r:id="rId23" imgW="507960" imgH="266400" progId="Equation.DSMT4">
                  <p:embed/>
                </p:oleObj>
              </mc:Choice>
              <mc:Fallback>
                <p:oleObj name="Equation" r:id="rId23" imgW="507960" imgH="266400" progId="Equation.DSMT4">
                  <p:embed/>
                  <p:pic>
                    <p:nvPicPr>
                      <p:cNvPr id="0" name=""/>
                      <p:cNvPicPr>
                        <a:picLocks noChangeAspect="1" noChangeArrowheads="1"/>
                      </p:cNvPicPr>
                      <p:nvPr/>
                    </p:nvPicPr>
                    <p:blipFill>
                      <a:blip r:embed="rId24"/>
                      <a:srcRect/>
                      <a:stretch>
                        <a:fillRect/>
                      </a:stretch>
                    </p:blipFill>
                    <p:spPr bwMode="auto">
                      <a:xfrm>
                        <a:off x="5155767" y="3649693"/>
                        <a:ext cx="1171126" cy="509587"/>
                      </a:xfrm>
                      <a:prstGeom prst="rect">
                        <a:avLst/>
                      </a:prstGeom>
                      <a:solidFill>
                        <a:srgbClr val="FFFF00"/>
                      </a:solidFill>
                    </p:spPr>
                  </p:pic>
                </p:oleObj>
              </mc:Fallback>
            </mc:AlternateContent>
          </a:graphicData>
        </a:graphic>
      </p:graphicFrame>
      <p:sp>
        <p:nvSpPr>
          <p:cNvPr id="4" name="燕尾形箭头 3"/>
          <p:cNvSpPr/>
          <p:nvPr/>
        </p:nvSpPr>
        <p:spPr>
          <a:xfrm>
            <a:off x="4243454" y="3678563"/>
            <a:ext cx="712462" cy="1116931"/>
          </a:xfrm>
          <a:prstGeom prst="notched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燕尾形箭头 25"/>
          <p:cNvSpPr/>
          <p:nvPr/>
        </p:nvSpPr>
        <p:spPr>
          <a:xfrm>
            <a:off x="6526744" y="3713366"/>
            <a:ext cx="712462" cy="1116931"/>
          </a:xfrm>
          <a:prstGeom prst="notched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右箭头 4"/>
          <p:cNvSpPr/>
          <p:nvPr/>
        </p:nvSpPr>
        <p:spPr>
          <a:xfrm>
            <a:off x="1278365" y="3870360"/>
            <a:ext cx="563418" cy="738240"/>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右箭头 27"/>
          <p:cNvSpPr/>
          <p:nvPr/>
        </p:nvSpPr>
        <p:spPr>
          <a:xfrm>
            <a:off x="1272654" y="5199229"/>
            <a:ext cx="1119564" cy="738240"/>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60">
            <a:extLst>
              <a:ext uri="{FF2B5EF4-FFF2-40B4-BE49-F238E27FC236}">
                <a16:creationId xmlns:a16="http://schemas.microsoft.com/office/drawing/2014/main" id="{F71135F4-1595-4979-85EA-B831ABED5E4F}"/>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31" name="矩形 30">
            <a:extLst>
              <a:ext uri="{FF2B5EF4-FFF2-40B4-BE49-F238E27FC236}">
                <a16:creationId xmlns:a16="http://schemas.microsoft.com/office/drawing/2014/main" id="{EA9733D2-B9F9-4C97-B8E8-90D8354B545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id="{834FCE34-2EFC-4798-B087-8C15C88346B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id="{3E4B2422-3074-46F0-8242-E141EC21651D}"/>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4" name="直接连接符 58">
            <a:extLst>
              <a:ext uri="{FF2B5EF4-FFF2-40B4-BE49-F238E27FC236}">
                <a16:creationId xmlns:a16="http://schemas.microsoft.com/office/drawing/2014/main" id="{4329EC2C-4EAC-43E8-BBFF-5A14718F166C}"/>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0439269B-7C0A-4B60-8DA8-70A631B59BB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6" name="矩形 35">
            <a:extLst>
              <a:ext uri="{FF2B5EF4-FFF2-40B4-BE49-F238E27FC236}">
                <a16:creationId xmlns:a16="http://schemas.microsoft.com/office/drawing/2014/main" id="{72678EEE-3B98-49DD-845F-9E262F01EBA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box(in)">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box(in)">
                                      <p:cBhvr>
                                        <p:cTn id="17" dur="500"/>
                                        <p:tgtEl>
                                          <p:spTgt spid="1638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ox(in)">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16390"/>
                                        </p:tgtEl>
                                        <p:attrNameLst>
                                          <p:attrName>style.visibility</p:attrName>
                                        </p:attrNameLst>
                                      </p:cBhvr>
                                      <p:to>
                                        <p:strVal val="visible"/>
                                      </p:to>
                                    </p:set>
                                    <p:animEffect transition="in" filter="box(in)">
                                      <p:cBhvr>
                                        <p:cTn id="75" dur="500"/>
                                        <p:tgtEl>
                                          <p:spTgt spid="1639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5"/>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27"/>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389" grpId="0"/>
      <p:bldP spid="16390" grpId="0" animBg="1"/>
      <p:bldP spid="9" grpId="0" animBg="1"/>
      <p:bldP spid="16" grpId="0"/>
      <p:bldP spid="25" grpId="0"/>
      <p:bldP spid="4" grpId="0" animBg="1"/>
      <p:bldP spid="26" grpId="0" animBg="1"/>
      <p:bldP spid="5"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522" y="1817692"/>
            <a:ext cx="8989343" cy="5209458"/>
          </a:xfrm>
          <a:prstGeom prst="rect">
            <a:avLst/>
          </a:prstGeom>
        </p:spPr>
      </p:pic>
      <p:sp>
        <p:nvSpPr>
          <p:cNvPr id="3" name="圆角矩形 2"/>
          <p:cNvSpPr/>
          <p:nvPr/>
        </p:nvSpPr>
        <p:spPr>
          <a:xfrm>
            <a:off x="8303491" y="2464386"/>
            <a:ext cx="997528" cy="4562764"/>
          </a:xfrm>
          <a:prstGeom prst="roundRect">
            <a:avLst/>
          </a:prstGeom>
          <a:solidFill>
            <a:schemeClr val="accent6">
              <a:lumMod val="60000"/>
              <a:lumOff val="40000"/>
              <a:alpha val="26000"/>
            </a:schemeClr>
          </a:solid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a:spLocks noChangeArrowheads="1"/>
          </p:cNvSpPr>
          <p:nvPr/>
        </p:nvSpPr>
        <p:spPr bwMode="auto">
          <a:xfrm>
            <a:off x="1942921" y="1110894"/>
            <a:ext cx="3230709" cy="461665"/>
          </a:xfrm>
          <a:prstGeom prst="rect">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w="9525">
            <a:noFill/>
            <a:miter lim="800000"/>
            <a:headEnd/>
            <a:tailEnd/>
          </a:ln>
        </p:spPr>
        <p:txBody>
          <a:bodyPr wrap="square">
            <a:spAutoFit/>
          </a:bodyPr>
          <a:lstStyle/>
          <a:p>
            <a:pPr defTabSz="914400"/>
            <a:r>
              <a:rPr lang="zh-CN" altLang="en-US" sz="2400" b="1" dirty="0">
                <a:latin typeface="Times New Roman" pitchFamily="18" charset="0"/>
                <a:ea typeface="微软雅黑" pitchFamily="34" charset="-122"/>
                <a:cs typeface="Times New Roman" pitchFamily="18" charset="0"/>
              </a:rPr>
              <a:t>例如：高速硅</a:t>
            </a:r>
            <a:r>
              <a:rPr lang="en-US" altLang="zh-CN" sz="2400" b="1" dirty="0">
                <a:latin typeface="Times New Roman" pitchFamily="18" charset="0"/>
                <a:ea typeface="微软雅黑" pitchFamily="34" charset="-122"/>
                <a:cs typeface="Times New Roman" pitchFamily="18" charset="0"/>
              </a:rPr>
              <a:t>PIN</a:t>
            </a:r>
            <a:r>
              <a:rPr lang="zh-CN" altLang="en-US" sz="2400" b="1" dirty="0">
                <a:latin typeface="Times New Roman" pitchFamily="18" charset="0"/>
                <a:ea typeface="微软雅黑" pitchFamily="34" charset="-122"/>
                <a:cs typeface="Times New Roman" pitchFamily="18" charset="0"/>
              </a:rPr>
              <a:t>管</a:t>
            </a:r>
            <a:endParaRPr lang="en-US" altLang="zh-CN" sz="2400" b="1" dirty="0">
              <a:latin typeface="Times New Roman" pitchFamily="18" charset="0"/>
              <a:ea typeface="微软雅黑" pitchFamily="34" charset="-122"/>
              <a:cs typeface="Times New Roman" pitchFamily="18" charset="0"/>
            </a:endParaRPr>
          </a:p>
        </p:txBody>
      </p:sp>
      <p:sp>
        <p:nvSpPr>
          <p:cNvPr id="10" name="文本框 60">
            <a:extLst>
              <a:ext uri="{FF2B5EF4-FFF2-40B4-BE49-F238E27FC236}">
                <a16:creationId xmlns:a16="http://schemas.microsoft.com/office/drawing/2014/main" id="{A71538EA-C1CC-4776-AB6C-142817B6172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1" name="矩形 10">
            <a:extLst>
              <a:ext uri="{FF2B5EF4-FFF2-40B4-BE49-F238E27FC236}">
                <a16:creationId xmlns:a16="http://schemas.microsoft.com/office/drawing/2014/main" id="{60CF6A1F-ADA8-492B-98DD-8A3A158B603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2F5ED49C-ED68-4F37-AE87-C39B4B33566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E1DA3F3-8B99-42F3-BC5A-F11FE433B5BE}"/>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4" name="直接连接符 58">
            <a:extLst>
              <a:ext uri="{FF2B5EF4-FFF2-40B4-BE49-F238E27FC236}">
                <a16:creationId xmlns:a16="http://schemas.microsoft.com/office/drawing/2014/main" id="{C126A80F-290B-4352-87A9-CF7369EE5EF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9BB8A250-BD34-4513-86BE-89230CEDD28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6" name="矩形 15">
            <a:extLst>
              <a:ext uri="{FF2B5EF4-FFF2-40B4-BE49-F238E27FC236}">
                <a16:creationId xmlns:a16="http://schemas.microsoft.com/office/drawing/2014/main" id="{AC5807BB-EBC7-440A-9B19-5133100EC24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94408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ircle(in)">
                                      <p:cBhvr>
                                        <p:cTn id="11" dur="2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heel(1)">
                                      <p:cBhvr>
                                        <p:cTn id="1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4"/>
          <p:cNvSpPr txBox="1">
            <a:spLocks noChangeArrowheads="1"/>
          </p:cNvSpPr>
          <p:nvPr/>
        </p:nvSpPr>
        <p:spPr bwMode="auto">
          <a:xfrm>
            <a:off x="4115089" y="1033657"/>
            <a:ext cx="5289550" cy="584775"/>
          </a:xfrm>
          <a:prstGeom prst="rect">
            <a:avLst/>
          </a:prstGeom>
          <a:noFill/>
          <a:ln w="9525">
            <a:noFill/>
            <a:miter lim="800000"/>
            <a:headEnd/>
            <a:tailEnd/>
          </a:ln>
        </p:spPr>
        <p:txBody>
          <a:bodyPr>
            <a:spAutoFit/>
          </a:bodyPr>
          <a:lstStyle/>
          <a:p>
            <a:pPr algn="ctr" defTabSz="914400">
              <a:spcBef>
                <a:spcPct val="50000"/>
              </a:spcBef>
            </a:pPr>
            <a:r>
              <a:rPr kumimoji="1" lang="en-US" altLang="zh-CN" sz="3200" b="1" dirty="0">
                <a:solidFill>
                  <a:srgbClr val="0000FF"/>
                </a:solidFill>
                <a:latin typeface="Times New Roman" pitchFamily="18" charset="0"/>
                <a:ea typeface="微软雅黑" pitchFamily="34" charset="-122"/>
                <a:cs typeface="Times New Roman" pitchFamily="18" charset="0"/>
              </a:rPr>
              <a:t>8.</a:t>
            </a:r>
            <a:r>
              <a:rPr kumimoji="1" lang="zh-CN" altLang="en-US" sz="3200" b="1" dirty="0">
                <a:solidFill>
                  <a:srgbClr val="0000FF"/>
                </a:solidFill>
                <a:latin typeface="Times New Roman" pitchFamily="18" charset="0"/>
                <a:ea typeface="微软雅黑" pitchFamily="34" charset="-122"/>
                <a:cs typeface="Times New Roman" pitchFamily="18" charset="0"/>
              </a:rPr>
              <a:t>探测率</a:t>
            </a:r>
            <a:r>
              <a:rPr kumimoji="1" lang="en-US" altLang="zh-CN" sz="3200" b="1" dirty="0">
                <a:solidFill>
                  <a:srgbClr val="0000FF"/>
                </a:solidFill>
                <a:latin typeface="Times New Roman" pitchFamily="18" charset="0"/>
                <a:ea typeface="微软雅黑" pitchFamily="34" charset="-122"/>
                <a:cs typeface="Times New Roman" pitchFamily="18" charset="0"/>
              </a:rPr>
              <a:t>D</a:t>
            </a:r>
            <a:r>
              <a:rPr kumimoji="1" lang="zh-CN" altLang="en-US" sz="3200" b="1" dirty="0">
                <a:solidFill>
                  <a:srgbClr val="0000FF"/>
                </a:solidFill>
                <a:latin typeface="Times New Roman" pitchFamily="18" charset="0"/>
                <a:ea typeface="微软雅黑" pitchFamily="34" charset="-122"/>
                <a:cs typeface="Times New Roman" pitchFamily="18" charset="0"/>
              </a:rPr>
              <a:t>与比探测率</a:t>
            </a:r>
            <a:r>
              <a:rPr kumimoji="1" lang="en-US" altLang="zh-CN" sz="3200" b="1" dirty="0">
                <a:solidFill>
                  <a:srgbClr val="0000FF"/>
                </a:solidFill>
                <a:latin typeface="Times New Roman" pitchFamily="18" charset="0"/>
                <a:ea typeface="微软雅黑" pitchFamily="34" charset="-122"/>
                <a:cs typeface="Times New Roman" pitchFamily="18" charset="0"/>
              </a:rPr>
              <a:t>D</a:t>
            </a:r>
            <a:r>
              <a:rPr kumimoji="1" lang="en-US" altLang="zh-CN" sz="3200" b="1" baseline="30000" dirty="0">
                <a:solidFill>
                  <a:srgbClr val="0000FF"/>
                </a:solidFill>
                <a:latin typeface="Times New Roman" pitchFamily="18" charset="0"/>
                <a:ea typeface="微软雅黑" pitchFamily="34" charset="-122"/>
                <a:cs typeface="Times New Roman" pitchFamily="18" charset="0"/>
              </a:rPr>
              <a:t>*</a:t>
            </a:r>
            <a:endParaRPr kumimoji="1" lang="en-US" altLang="zh-CN" sz="3200" b="1" dirty="0">
              <a:solidFill>
                <a:srgbClr val="0000FF"/>
              </a:solidFill>
              <a:latin typeface="Times New Roman" pitchFamily="18" charset="0"/>
              <a:ea typeface="微软雅黑" pitchFamily="34" charset="-122"/>
              <a:cs typeface="Times New Roman" pitchFamily="18" charset="0"/>
            </a:endParaRPr>
          </a:p>
        </p:txBody>
      </p:sp>
      <p:graphicFrame>
        <p:nvGraphicFramePr>
          <p:cNvPr id="17410" name="Object 2"/>
          <p:cNvGraphicFramePr>
            <a:graphicFrameLocks noChangeAspect="1"/>
          </p:cNvGraphicFramePr>
          <p:nvPr>
            <p:extLst>
              <p:ext uri="{D42A27DB-BD31-4B8C-83A1-F6EECF244321}">
                <p14:modId xmlns:p14="http://schemas.microsoft.com/office/powerpoint/2010/main" val="763776104"/>
              </p:ext>
            </p:extLst>
          </p:nvPr>
        </p:nvGraphicFramePr>
        <p:xfrm>
          <a:off x="3125066" y="1955934"/>
          <a:ext cx="3337214" cy="1207310"/>
        </p:xfrm>
        <a:graphic>
          <a:graphicData uri="http://schemas.openxmlformats.org/presentationml/2006/ole">
            <mc:AlternateContent xmlns:mc="http://schemas.openxmlformats.org/markup-compatibility/2006">
              <mc:Choice xmlns:v="urn:schemas-microsoft-com:vml" Requires="v">
                <p:oleObj spid="_x0000_s46311" name="Equation" r:id="rId3" imgW="1409400" imgH="507960" progId="Equation.DSMT4">
                  <p:embed/>
                </p:oleObj>
              </mc:Choice>
              <mc:Fallback>
                <p:oleObj name="Equation" r:id="rId3" imgW="1409400" imgH="507960" progId="Equation.DSMT4">
                  <p:embed/>
                  <p:pic>
                    <p:nvPicPr>
                      <p:cNvPr id="0" name="Object 2"/>
                      <p:cNvPicPr>
                        <a:picLocks noChangeAspect="1" noChangeArrowheads="1"/>
                      </p:cNvPicPr>
                      <p:nvPr/>
                    </p:nvPicPr>
                    <p:blipFill>
                      <a:blip r:embed="rId4"/>
                      <a:srcRect/>
                      <a:stretch>
                        <a:fillRect/>
                      </a:stretch>
                    </p:blipFill>
                    <p:spPr bwMode="auto">
                      <a:xfrm>
                        <a:off x="3125066" y="1955934"/>
                        <a:ext cx="3337214" cy="1207310"/>
                      </a:xfrm>
                      <a:prstGeom prst="rect">
                        <a:avLst/>
                      </a:prstGeom>
                      <a:solidFill>
                        <a:srgbClr val="FFFF00"/>
                      </a:solidFill>
                    </p:spPr>
                  </p:pic>
                </p:oleObj>
              </mc:Fallback>
            </mc:AlternateContent>
          </a:graphicData>
        </a:graphic>
      </p:graphicFrame>
      <p:sp>
        <p:nvSpPr>
          <p:cNvPr id="4" name="TextBox 3"/>
          <p:cNvSpPr txBox="1">
            <a:spLocks noChangeArrowheads="1"/>
          </p:cNvSpPr>
          <p:nvPr/>
        </p:nvSpPr>
        <p:spPr bwMode="auto">
          <a:xfrm>
            <a:off x="881783" y="1898991"/>
            <a:ext cx="2243283"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探测率定义</a:t>
            </a:r>
          </a:p>
        </p:txBody>
      </p:sp>
      <p:sp>
        <p:nvSpPr>
          <p:cNvPr id="5" name="TextBox 4"/>
          <p:cNvSpPr txBox="1">
            <a:spLocks noChangeArrowheads="1"/>
          </p:cNvSpPr>
          <p:nvPr/>
        </p:nvSpPr>
        <p:spPr bwMode="auto">
          <a:xfrm>
            <a:off x="765058" y="5695627"/>
            <a:ext cx="11989611"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对许多探测器来讲，</a:t>
            </a:r>
            <a:r>
              <a:rPr lang="en-US" altLang="zh-CN" sz="2400" b="1" dirty="0">
                <a:solidFill>
                  <a:srgbClr val="FF0000"/>
                </a:solidFill>
                <a:latin typeface="Times New Roman" pitchFamily="18" charset="0"/>
                <a:ea typeface="微软雅黑" pitchFamily="34" charset="-122"/>
                <a:cs typeface="Times New Roman" pitchFamily="18" charset="0"/>
              </a:rPr>
              <a:t>NEP</a:t>
            </a:r>
            <a:r>
              <a:rPr lang="zh-CN" altLang="en-US" sz="2400" b="1" dirty="0">
                <a:latin typeface="Times New Roman" pitchFamily="18" charset="0"/>
                <a:ea typeface="微软雅黑" pitchFamily="34" charset="-122"/>
                <a:cs typeface="Times New Roman" pitchFamily="18" charset="0"/>
              </a:rPr>
              <a:t>通常与</a:t>
            </a:r>
            <a:r>
              <a:rPr lang="zh-CN" altLang="en-US" sz="2400" b="1" dirty="0">
                <a:solidFill>
                  <a:srgbClr val="FF0000"/>
                </a:solidFill>
                <a:latin typeface="Times New Roman" pitchFamily="18" charset="0"/>
                <a:ea typeface="微软雅黑" pitchFamily="34" charset="-122"/>
                <a:cs typeface="Times New Roman" pitchFamily="18" charset="0"/>
              </a:rPr>
              <a:t>探测器面积</a:t>
            </a:r>
            <a:r>
              <a:rPr lang="zh-CN" altLang="en-US" sz="2400" b="1" dirty="0">
                <a:latin typeface="Times New Roman" pitchFamily="18" charset="0"/>
                <a:ea typeface="微软雅黑" pitchFamily="34" charset="-122"/>
                <a:cs typeface="Times New Roman" pitchFamily="18" charset="0"/>
              </a:rPr>
              <a:t>和</a:t>
            </a:r>
            <a:r>
              <a:rPr lang="zh-CN" altLang="en-US" sz="2400" b="1" dirty="0">
                <a:solidFill>
                  <a:srgbClr val="FF0000"/>
                </a:solidFill>
                <a:latin typeface="Times New Roman" pitchFamily="18" charset="0"/>
                <a:ea typeface="微软雅黑" pitchFamily="34" charset="-122"/>
                <a:cs typeface="Times New Roman" pitchFamily="18" charset="0"/>
              </a:rPr>
              <a:t>测量系统带宽</a:t>
            </a:r>
            <a:r>
              <a:rPr lang="zh-CN" altLang="en-US" sz="2400" b="1" dirty="0">
                <a:latin typeface="Times New Roman" pitchFamily="18" charset="0"/>
                <a:ea typeface="微软雅黑" pitchFamily="34" charset="-122"/>
                <a:cs typeface="Times New Roman" pitchFamily="18" charset="0"/>
              </a:rPr>
              <a:t>乘积的平方根成正比，即</a:t>
            </a:r>
          </a:p>
        </p:txBody>
      </p:sp>
      <p:graphicFrame>
        <p:nvGraphicFramePr>
          <p:cNvPr id="17412" name="Object 4"/>
          <p:cNvGraphicFramePr>
            <a:graphicFrameLocks noChangeAspect="1"/>
          </p:cNvGraphicFramePr>
          <p:nvPr>
            <p:extLst>
              <p:ext uri="{D42A27DB-BD31-4B8C-83A1-F6EECF244321}">
                <p14:modId xmlns:p14="http://schemas.microsoft.com/office/powerpoint/2010/main" val="1619177537"/>
              </p:ext>
            </p:extLst>
          </p:nvPr>
        </p:nvGraphicFramePr>
        <p:xfrm>
          <a:off x="5434300" y="6334233"/>
          <a:ext cx="2651125" cy="735013"/>
        </p:xfrm>
        <a:graphic>
          <a:graphicData uri="http://schemas.openxmlformats.org/presentationml/2006/ole">
            <mc:AlternateContent xmlns:mc="http://schemas.openxmlformats.org/markup-compatibility/2006">
              <mc:Choice xmlns:v="urn:schemas-microsoft-com:vml" Requires="v">
                <p:oleObj spid="_x0000_s46312" name="公式" r:id="rId5" imgW="965160" imgH="266400" progId="Equation.3">
                  <p:embed/>
                </p:oleObj>
              </mc:Choice>
              <mc:Fallback>
                <p:oleObj name="公式" r:id="rId5" imgW="965160" imgH="2664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4300" y="6334233"/>
                        <a:ext cx="2651125" cy="735013"/>
                      </a:xfrm>
                      <a:prstGeom prst="rect">
                        <a:avLst/>
                      </a:prstGeom>
                      <a:solidFill>
                        <a:srgbClr val="FFFF00"/>
                      </a:solidFill>
                    </p:spPr>
                  </p:pic>
                </p:oleObj>
              </mc:Fallback>
            </mc:AlternateContent>
          </a:graphicData>
        </a:graphic>
      </p:graphicFrame>
      <p:sp>
        <p:nvSpPr>
          <p:cNvPr id="2" name="矩形 1"/>
          <p:cNvSpPr/>
          <p:nvPr/>
        </p:nvSpPr>
        <p:spPr>
          <a:xfrm>
            <a:off x="7100571" y="2097924"/>
            <a:ext cx="3124083" cy="523220"/>
          </a:xfrm>
          <a:prstGeom prst="rect">
            <a:avLst/>
          </a:prstGeom>
        </p:spPr>
        <p:txBody>
          <a:bodyPr wrap="square">
            <a:spAutoFit/>
          </a:bodyPr>
          <a:lstStyle/>
          <a:p>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单位为</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1/W</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1/lm</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16756" y="3250102"/>
            <a:ext cx="12417353" cy="1200329"/>
          </a:xfrm>
          <a:prstGeom prst="rect">
            <a:avLst/>
          </a:prstGeom>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两只由相同材料制成的光电探测器，尽管内部结构完全相同，但光敏面</a:t>
            </a:r>
            <a:r>
              <a:rPr lang="en-US" altLang="zh-CN" sz="2400" b="1" dirty="0">
                <a:latin typeface="微软雅黑" panose="020B0503020204020204" pitchFamily="34" charset="-122"/>
                <a:ea typeface="微软雅黑" panose="020B0503020204020204" pitchFamily="34" charset="-122"/>
              </a:rPr>
              <a:t>A</a:t>
            </a:r>
            <a:r>
              <a:rPr lang="en-US" altLang="zh-CN" sz="2400" b="1" baseline="-25000" dirty="0">
                <a:latin typeface="微软雅黑" panose="020B0503020204020204" pitchFamily="34" charset="-122"/>
                <a:ea typeface="微软雅黑" panose="020B0503020204020204" pitchFamily="34" charset="-122"/>
              </a:rPr>
              <a:t>d</a:t>
            </a:r>
            <a:r>
              <a:rPr lang="zh-CN" altLang="en-US" sz="2400" b="1" dirty="0">
                <a:latin typeface="微软雅黑" panose="020B0503020204020204" pitchFamily="34" charset="-122"/>
                <a:ea typeface="微软雅黑" panose="020B0503020204020204" pitchFamily="34" charset="-122"/>
              </a:rPr>
              <a:t>不同，测量带宽不同，则</a:t>
            </a:r>
            <a:r>
              <a:rPr lang="en-US" altLang="zh-CN" sz="2400" b="1" dirty="0">
                <a:latin typeface="微软雅黑" panose="020B0503020204020204" pitchFamily="34" charset="-122"/>
                <a:ea typeface="微软雅黑" panose="020B0503020204020204" pitchFamily="34" charset="-122"/>
              </a:rPr>
              <a:t>D</a:t>
            </a:r>
            <a:r>
              <a:rPr lang="zh-CN" altLang="en-US" sz="2400" b="1" dirty="0">
                <a:latin typeface="微软雅黑" panose="020B0503020204020204" pitchFamily="34" charset="-122"/>
                <a:ea typeface="微软雅黑" panose="020B0503020204020204" pitchFamily="34" charset="-122"/>
              </a:rPr>
              <a:t>值也不相同。</a:t>
            </a:r>
          </a:p>
        </p:txBody>
      </p:sp>
      <p:sp>
        <p:nvSpPr>
          <p:cNvPr id="6" name="矩形 5"/>
          <p:cNvSpPr/>
          <p:nvPr/>
        </p:nvSpPr>
        <p:spPr>
          <a:xfrm>
            <a:off x="757435" y="4505942"/>
            <a:ext cx="12376674" cy="1134862"/>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为方便对不同来源的光电探测器进行比较，需要把探测率</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标准化到测量带宽为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1Hz</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、面积为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1cm</a:t>
            </a:r>
            <a:r>
              <a:rPr lang="en-US" altLang="zh-CN" sz="2400" b="1"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5" name="文本框 60">
            <a:extLst>
              <a:ext uri="{FF2B5EF4-FFF2-40B4-BE49-F238E27FC236}">
                <a16:creationId xmlns:a16="http://schemas.microsoft.com/office/drawing/2014/main" id="{D063830F-F598-42DC-97EF-B1FC98F8BA05}"/>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6" name="矩形 15">
            <a:extLst>
              <a:ext uri="{FF2B5EF4-FFF2-40B4-BE49-F238E27FC236}">
                <a16:creationId xmlns:a16="http://schemas.microsoft.com/office/drawing/2014/main" id="{573790D2-E6F5-412A-B215-7E4B7C934A4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04350BBA-EEAB-4157-9B09-70953423884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54556F0E-24A6-4114-BAA6-55665108EA6C}"/>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id="{C42B08E4-BC41-4424-8B81-4DA9026A5318}"/>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80C01466-487D-42B9-8A79-447F6345A1F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id="{4090F28F-D4DD-4FCB-80FC-BD69EC8D998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box(in)">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7410"/>
                                        </p:tgtEl>
                                        <p:attrNameLst>
                                          <p:attrName>style.visibility</p:attrName>
                                        </p:attrNameLst>
                                      </p:cBhvr>
                                      <p:to>
                                        <p:strVal val="visible"/>
                                      </p:to>
                                    </p:set>
                                    <p:animEffect transition="in" filter="box(in)">
                                      <p:cBhvr>
                                        <p:cTn id="17" dur="500"/>
                                        <p:tgtEl>
                                          <p:spTgt spid="174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17412"/>
                                        </p:tgtEl>
                                        <p:attrNameLst>
                                          <p:attrName>style.visibility</p:attrName>
                                        </p:attrNameLst>
                                      </p:cBhvr>
                                      <p:to>
                                        <p:strVal val="visible"/>
                                      </p:to>
                                    </p:set>
                                    <p:animEffect transition="in" filter="box(in)">
                                      <p:cBhvr>
                                        <p:cTn id="38"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4" grpId="0"/>
      <p:bldP spid="5" grpId="0"/>
      <p:bldP spid="2" grpId="0"/>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2"/>
          <p:cNvGraphicFramePr>
            <a:graphicFrameLocks noChangeAspect="1"/>
          </p:cNvGraphicFramePr>
          <p:nvPr>
            <p:extLst>
              <p:ext uri="{D42A27DB-BD31-4B8C-83A1-F6EECF244321}">
                <p14:modId xmlns:p14="http://schemas.microsoft.com/office/powerpoint/2010/main" val="1858571395"/>
              </p:ext>
            </p:extLst>
          </p:nvPr>
        </p:nvGraphicFramePr>
        <p:xfrm>
          <a:off x="5818909" y="1273803"/>
          <a:ext cx="2567492" cy="953277"/>
        </p:xfrm>
        <a:graphic>
          <a:graphicData uri="http://schemas.openxmlformats.org/presentationml/2006/ole">
            <mc:AlternateContent xmlns:mc="http://schemas.openxmlformats.org/markup-compatibility/2006">
              <mc:Choice xmlns:v="urn:schemas-microsoft-com:vml" Requires="v">
                <p:oleObj spid="_x0000_s47431" name="公式" r:id="rId3" imgW="1168200" imgH="431640" progId="Equation.3">
                  <p:embed/>
                </p:oleObj>
              </mc:Choice>
              <mc:Fallback>
                <p:oleObj name="公式" r:id="rId3" imgW="1168200" imgH="431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8909" y="1273803"/>
                        <a:ext cx="2567492" cy="953277"/>
                      </a:xfrm>
                      <a:prstGeom prst="rect">
                        <a:avLst/>
                      </a:prstGeom>
                      <a:solidFill>
                        <a:srgbClr val="FFFF00"/>
                      </a:solidFill>
                    </p:spPr>
                  </p:pic>
                </p:oleObj>
              </mc:Fallback>
            </mc:AlternateContent>
          </a:graphicData>
        </a:graphic>
      </p:graphicFrame>
      <p:sp>
        <p:nvSpPr>
          <p:cNvPr id="3" name="TextBox 2"/>
          <p:cNvSpPr txBox="1">
            <a:spLocks noChangeArrowheads="1"/>
          </p:cNvSpPr>
          <p:nvPr/>
        </p:nvSpPr>
        <p:spPr bwMode="auto">
          <a:xfrm>
            <a:off x="1023755" y="1435966"/>
            <a:ext cx="4356100" cy="523220"/>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归一化等效噪声功率为</a:t>
            </a:r>
          </a:p>
        </p:txBody>
      </p:sp>
      <p:sp>
        <p:nvSpPr>
          <p:cNvPr id="4" name="TextBox 3"/>
          <p:cNvSpPr txBox="1">
            <a:spLocks noChangeArrowheads="1"/>
          </p:cNvSpPr>
          <p:nvPr/>
        </p:nvSpPr>
        <p:spPr bwMode="auto">
          <a:xfrm>
            <a:off x="757435" y="2971384"/>
            <a:ext cx="4693651"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归一化探测率即</a:t>
            </a:r>
            <a:r>
              <a:rPr lang="zh-CN" altLang="en-US" sz="2800" b="1" dirty="0">
                <a:solidFill>
                  <a:srgbClr val="0000CC"/>
                </a:solidFill>
                <a:latin typeface="微软雅黑" pitchFamily="34" charset="-122"/>
                <a:ea typeface="微软雅黑" pitchFamily="34" charset="-122"/>
              </a:rPr>
              <a:t>比探测率</a:t>
            </a:r>
            <a:r>
              <a:rPr lang="zh-CN" altLang="en-US" sz="2800" b="1" dirty="0">
                <a:latin typeface="微软雅黑" pitchFamily="34" charset="-122"/>
                <a:ea typeface="微软雅黑" pitchFamily="34" charset="-122"/>
              </a:rPr>
              <a:t>为</a:t>
            </a:r>
          </a:p>
        </p:txBody>
      </p:sp>
      <p:graphicFrame>
        <p:nvGraphicFramePr>
          <p:cNvPr id="113667" name="Object 3"/>
          <p:cNvGraphicFramePr>
            <a:graphicFrameLocks noChangeAspect="1"/>
          </p:cNvGraphicFramePr>
          <p:nvPr>
            <p:extLst>
              <p:ext uri="{D42A27DB-BD31-4B8C-83A1-F6EECF244321}">
                <p14:modId xmlns:p14="http://schemas.microsoft.com/office/powerpoint/2010/main" val="851559686"/>
              </p:ext>
            </p:extLst>
          </p:nvPr>
        </p:nvGraphicFramePr>
        <p:xfrm>
          <a:off x="5379855" y="2788143"/>
          <a:ext cx="4630449" cy="986670"/>
        </p:xfrm>
        <a:graphic>
          <a:graphicData uri="http://schemas.openxmlformats.org/presentationml/2006/ole">
            <mc:AlternateContent xmlns:mc="http://schemas.openxmlformats.org/markup-compatibility/2006">
              <mc:Choice xmlns:v="urn:schemas-microsoft-com:vml" Requires="v">
                <p:oleObj spid="_x0000_s47432" name="公式" r:id="rId5" imgW="2095200" imgH="444240" progId="Equation.3">
                  <p:embed/>
                </p:oleObj>
              </mc:Choice>
              <mc:Fallback>
                <p:oleObj name="公式" r:id="rId5" imgW="2095200" imgH="4442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9855" y="2788143"/>
                        <a:ext cx="4630449" cy="986670"/>
                      </a:xfrm>
                      <a:prstGeom prst="rect">
                        <a:avLst/>
                      </a:prstGeom>
                      <a:solidFill>
                        <a:srgbClr val="FFFF00"/>
                      </a:solidFill>
                    </p:spPr>
                  </p:pic>
                </p:oleObj>
              </mc:Fallback>
            </mc:AlternateContent>
          </a:graphicData>
        </a:graphic>
      </p:graphicFrame>
      <p:graphicFrame>
        <p:nvGraphicFramePr>
          <p:cNvPr id="13" name="Object 2"/>
          <p:cNvGraphicFramePr>
            <a:graphicFrameLocks noChangeAspect="1"/>
          </p:cNvGraphicFramePr>
          <p:nvPr>
            <p:extLst>
              <p:ext uri="{D42A27DB-BD31-4B8C-83A1-F6EECF244321}">
                <p14:modId xmlns:p14="http://schemas.microsoft.com/office/powerpoint/2010/main" val="2642182445"/>
              </p:ext>
            </p:extLst>
          </p:nvPr>
        </p:nvGraphicFramePr>
        <p:xfrm>
          <a:off x="6702705" y="5261262"/>
          <a:ext cx="2963863" cy="1400175"/>
        </p:xfrm>
        <a:graphic>
          <a:graphicData uri="http://schemas.openxmlformats.org/presentationml/2006/ole">
            <mc:AlternateContent xmlns:mc="http://schemas.openxmlformats.org/markup-compatibility/2006">
              <mc:Choice xmlns:v="urn:schemas-microsoft-com:vml" Requires="v">
                <p:oleObj spid="_x0000_s47433" name="Equation" r:id="rId7" imgW="1079280" imgH="507960" progId="Equation.DSMT4">
                  <p:embed/>
                </p:oleObj>
              </mc:Choice>
              <mc:Fallback>
                <p:oleObj name="Equation" r:id="rId7" imgW="1079280" imgH="50796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2705" y="5261262"/>
                        <a:ext cx="2963863" cy="140017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14" name="TextBox 13"/>
          <p:cNvSpPr txBox="1">
            <a:spLocks noChangeArrowheads="1"/>
          </p:cNvSpPr>
          <p:nvPr/>
        </p:nvSpPr>
        <p:spPr bwMode="auto">
          <a:xfrm>
            <a:off x="716756" y="5548422"/>
            <a:ext cx="5783542"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比探测率与灵敏度关系可以表示为</a:t>
            </a:r>
          </a:p>
        </p:txBody>
      </p:sp>
      <p:sp>
        <p:nvSpPr>
          <p:cNvPr id="6" name="矩形 5"/>
          <p:cNvSpPr/>
          <p:nvPr/>
        </p:nvSpPr>
        <p:spPr>
          <a:xfrm>
            <a:off x="5451085" y="4226718"/>
            <a:ext cx="4635023" cy="523220"/>
          </a:xfrm>
          <a:prstGeom prst="rect">
            <a:avLst/>
          </a:prstGeom>
        </p:spPr>
        <p:txBody>
          <a:bodyPr wrap="square">
            <a:spAutoFit/>
          </a:bodyPr>
          <a:lstStyle/>
          <a:p>
            <a:r>
              <a:rPr lang="zh-CN" altLang="zh-CN" sz="2800" b="1" kern="100" dirty="0">
                <a:latin typeface="Times New Roman" panose="02020603050405020304" pitchFamily="18" charset="0"/>
                <a:ea typeface="微软雅黑" panose="020B0503020204020204" pitchFamily="34" charset="-122"/>
                <a:cs typeface="Times New Roman" panose="02020603050405020304" pitchFamily="18" charset="0"/>
              </a:rPr>
              <a:t>单位为</a:t>
            </a:r>
            <a:r>
              <a:rPr lang="en-US" altLang="zh-CN" sz="2800" b="1" kern="100" dirty="0">
                <a:latin typeface="Times New Roman" panose="02020603050405020304" pitchFamily="18" charset="0"/>
                <a:ea typeface="微软雅黑" panose="020B0503020204020204" pitchFamily="34" charset="-122"/>
                <a:cs typeface="Times New Roman" panose="02020603050405020304" pitchFamily="18" charset="0"/>
              </a:rPr>
              <a:t>cm·Hz</a:t>
            </a:r>
            <a:r>
              <a:rPr lang="en-US" altLang="zh-CN" sz="2800" b="1" kern="100" baseline="30000" dirty="0">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2800" b="1" kern="100"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800" b="1" kern="100" baseline="30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60">
            <a:extLst>
              <a:ext uri="{FF2B5EF4-FFF2-40B4-BE49-F238E27FC236}">
                <a16:creationId xmlns:a16="http://schemas.microsoft.com/office/drawing/2014/main" id="{12DE7CF7-9293-4EFC-8824-41DE2D279A7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7" name="矩形 16">
            <a:extLst>
              <a:ext uri="{FF2B5EF4-FFF2-40B4-BE49-F238E27FC236}">
                <a16:creationId xmlns:a16="http://schemas.microsoft.com/office/drawing/2014/main" id="{11D452C6-0478-427C-8E93-3DDCBD0C8C1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D09D8E14-99AF-404D-A798-90015A6717F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7A256780-7B95-4525-96D4-6FFE712CBE98}"/>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id="{886B0AFF-ADEF-4364-B286-20A30F7105AF}"/>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D93A0684-99BD-478D-8E36-7FB1E661FF2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id="{AA1771E9-F64B-4364-BB20-0EF10D150FC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3666"/>
                                        </p:tgtEl>
                                        <p:attrNameLst>
                                          <p:attrName>style.visibility</p:attrName>
                                        </p:attrNameLst>
                                      </p:cBhvr>
                                      <p:to>
                                        <p:strVal val="visible"/>
                                      </p:to>
                                    </p:set>
                                    <p:animEffect transition="in" filter="box(in)">
                                      <p:cBhvr>
                                        <p:cTn id="12" dur="500"/>
                                        <p:tgtEl>
                                          <p:spTgt spid="11366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3667"/>
                                        </p:tgtEl>
                                        <p:attrNameLst>
                                          <p:attrName>style.visibility</p:attrName>
                                        </p:attrNameLst>
                                      </p:cBhvr>
                                      <p:to>
                                        <p:strVal val="visible"/>
                                      </p:to>
                                    </p:set>
                                    <p:animEffect transition="in" filter="checkerboard(across)">
                                      <p:cBhvr>
                                        <p:cTn id="22" dur="500"/>
                                        <p:tgtEl>
                                          <p:spTgt spid="11366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ox(in)">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ox(in)">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autoUpdateAnimBg="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444" y="828748"/>
            <a:ext cx="11644529" cy="3751039"/>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7086" y="4687764"/>
            <a:ext cx="2307451" cy="2711638"/>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7413" y="4792161"/>
            <a:ext cx="2782960" cy="2588800"/>
          </a:xfrm>
          <a:prstGeom prst="rect">
            <a:avLst/>
          </a:prstGeom>
        </p:spPr>
      </p:pic>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6806" y="4780124"/>
            <a:ext cx="2780145" cy="2558227"/>
          </a:xfrm>
          <a:prstGeom prst="rect">
            <a:avLst/>
          </a:prstGeom>
        </p:spPr>
      </p:pic>
      <p:sp>
        <p:nvSpPr>
          <p:cNvPr id="11" name="矩形 10"/>
          <p:cNvSpPr/>
          <p:nvPr/>
        </p:nvSpPr>
        <p:spPr>
          <a:xfrm>
            <a:off x="588569" y="2252868"/>
            <a:ext cx="632038" cy="3416320"/>
          </a:xfrm>
          <a:prstGeom prst="rect">
            <a:avLst/>
          </a:prstGeom>
          <a:solidFill>
            <a:srgbClr val="FFFF00"/>
          </a:solidFill>
        </p:spPr>
        <p:txBody>
          <a:bodyPr wrap="square">
            <a:spAutoFit/>
          </a:bodyPr>
          <a:lstStyle/>
          <a:p>
            <a:r>
              <a:rPr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InAs</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红外光电探测器</a:t>
            </a:r>
          </a:p>
        </p:txBody>
      </p:sp>
      <p:sp>
        <p:nvSpPr>
          <p:cNvPr id="13" name="圆角矩形 12"/>
          <p:cNvSpPr/>
          <p:nvPr/>
        </p:nvSpPr>
        <p:spPr>
          <a:xfrm>
            <a:off x="4117893" y="806798"/>
            <a:ext cx="764757" cy="3931453"/>
          </a:xfrm>
          <a:prstGeom prst="round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4986544" y="806793"/>
            <a:ext cx="764757" cy="3931453"/>
          </a:xfrm>
          <a:prstGeom prst="round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855196" y="797560"/>
            <a:ext cx="648350" cy="3931453"/>
          </a:xfrm>
          <a:prstGeom prst="round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6595186" y="811538"/>
            <a:ext cx="764757" cy="3931453"/>
          </a:xfrm>
          <a:prstGeom prst="round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8802676" y="760612"/>
            <a:ext cx="764757" cy="3931453"/>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9823447" y="780037"/>
            <a:ext cx="764757" cy="3931453"/>
          </a:xfrm>
          <a:prstGeom prst="round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60">
            <a:extLst>
              <a:ext uri="{FF2B5EF4-FFF2-40B4-BE49-F238E27FC236}">
                <a16:creationId xmlns:a16="http://schemas.microsoft.com/office/drawing/2014/main" id="{3A8991B0-3BB5-442E-909D-B0AF40475FBF}"/>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21" name="矩形 20">
            <a:extLst>
              <a:ext uri="{FF2B5EF4-FFF2-40B4-BE49-F238E27FC236}">
                <a16:creationId xmlns:a16="http://schemas.microsoft.com/office/drawing/2014/main" id="{EADD080C-8A46-45DA-8402-DC11EFECCB2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F3D0CBB6-E49A-4D32-AE97-7690B58BCA4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ED922F74-D774-4FBA-8CB1-7F17CB6B1B86}"/>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id="{BE04627B-4A5E-4CF4-BBBC-3E24B3E88832}"/>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830DE035-A312-41BF-B734-E117B57D4C3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id="{9F1E514B-C1C1-4047-8B6D-3545D547E37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22828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1)">
                                      <p:cBhvr>
                                        <p:cTn id="11" dur="2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heel(1)">
                                      <p:cBhvr>
                                        <p:cTn id="16" dur="2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heel(1)">
                                      <p:cBhvr>
                                        <p:cTn id="21" dur="20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heel(1)">
                                      <p:cBhvr>
                                        <p:cTn id="26" dur="20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heel(1)">
                                      <p:cBhvr>
                                        <p:cTn id="31" dur="20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heel(1)">
                                      <p:cBhvr>
                                        <p:cTn id="36" dur="20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heel(1)">
                                      <p:cBhvr>
                                        <p:cTn id="41" dur="20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heel(1)">
                                      <p:cBhvr>
                                        <p:cTn id="46" dur="2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heel(1)">
                                      <p:cBhvr>
                                        <p:cTn id="51" dur="20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heel(1)">
                                      <p:cBhvr>
                                        <p:cTn id="5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8"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4217792531"/>
              </p:ext>
            </p:extLst>
          </p:nvPr>
        </p:nvGraphicFramePr>
        <p:xfrm>
          <a:off x="883798" y="1815226"/>
          <a:ext cx="11734799" cy="2579370"/>
        </p:xfrm>
        <a:graphic>
          <a:graphicData uri="http://schemas.openxmlformats.org/drawingml/2006/table">
            <a:tbl>
              <a:tblPr firstRow="1" firstCol="1" bandRow="1"/>
              <a:tblGrid>
                <a:gridCol w="2676524">
                  <a:extLst>
                    <a:ext uri="{9D8B030D-6E8A-4147-A177-3AD203B41FA5}">
                      <a16:colId xmlns:a16="http://schemas.microsoft.com/office/drawing/2014/main" val="20000"/>
                    </a:ext>
                  </a:extLst>
                </a:gridCol>
                <a:gridCol w="1299090">
                  <a:extLst>
                    <a:ext uri="{9D8B030D-6E8A-4147-A177-3AD203B41FA5}">
                      <a16:colId xmlns:a16="http://schemas.microsoft.com/office/drawing/2014/main" val="20001"/>
                    </a:ext>
                  </a:extLst>
                </a:gridCol>
                <a:gridCol w="1697196">
                  <a:extLst>
                    <a:ext uri="{9D8B030D-6E8A-4147-A177-3AD203B41FA5}">
                      <a16:colId xmlns:a16="http://schemas.microsoft.com/office/drawing/2014/main" val="20002"/>
                    </a:ext>
                  </a:extLst>
                </a:gridCol>
                <a:gridCol w="1517494">
                  <a:extLst>
                    <a:ext uri="{9D8B030D-6E8A-4147-A177-3AD203B41FA5}">
                      <a16:colId xmlns:a16="http://schemas.microsoft.com/office/drawing/2014/main" val="20003"/>
                    </a:ext>
                  </a:extLst>
                </a:gridCol>
                <a:gridCol w="1517494">
                  <a:extLst>
                    <a:ext uri="{9D8B030D-6E8A-4147-A177-3AD203B41FA5}">
                      <a16:colId xmlns:a16="http://schemas.microsoft.com/office/drawing/2014/main" val="20004"/>
                    </a:ext>
                  </a:extLst>
                </a:gridCol>
                <a:gridCol w="1698530">
                  <a:extLst>
                    <a:ext uri="{9D8B030D-6E8A-4147-A177-3AD203B41FA5}">
                      <a16:colId xmlns:a16="http://schemas.microsoft.com/office/drawing/2014/main" val="20005"/>
                    </a:ext>
                  </a:extLst>
                </a:gridCol>
                <a:gridCol w="1328471">
                  <a:extLst>
                    <a:ext uri="{9D8B030D-6E8A-4147-A177-3AD203B41FA5}">
                      <a16:colId xmlns:a16="http://schemas.microsoft.com/office/drawing/2014/main" val="20006"/>
                    </a:ext>
                  </a:extLst>
                </a:gridCol>
              </a:tblGrid>
              <a:tr h="990600">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型号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光敏面直径</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(mm)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灵敏度</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(A/W)</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(@Peak)</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截止波长</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(um)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结电容</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(pF)</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sz="2000" kern="100" baseline="-25000" dirty="0">
                          <a:effectLst/>
                          <a:latin typeface="Times New Roman" panose="02020603050405020304" pitchFamily="18" charset="0"/>
                          <a:ea typeface="宋体" panose="02010600030101010101" pitchFamily="2" charset="-122"/>
                          <a:cs typeface="Times New Roman" panose="02020603050405020304" pitchFamily="18" charset="0"/>
                        </a:rPr>
                        <a:t>R</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=0V)</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等效噪声功率</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(@Peak)</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工作温度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baseline="300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04825">
                <a:tc>
                  <a:txBody>
                    <a:bodyPr/>
                    <a:lstStyle/>
                    <a:p>
                      <a:pPr algn="just">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J12-18C-R01M</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3.60</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400</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33</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22</a:t>
                      </a:r>
                      <a:r>
                        <a:rPr lang="en-US" sz="2400" kern="100" baseline="30000">
                          <a:effectLst/>
                          <a:latin typeface="Times New Roman" panose="02020603050405020304" pitchFamily="18" charset="0"/>
                          <a:ea typeface="宋体" panose="02010600030101010101" pitchFamily="2" charset="-122"/>
                          <a:cs typeface="Times New Roman" panose="02020603050405020304" pitchFamily="18" charset="0"/>
                        </a:rPr>
                        <a:t>0</a:t>
                      </a: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9590">
                <a:tc>
                  <a:txBody>
                    <a:bodyPr/>
                    <a:lstStyle/>
                    <a:p>
                      <a:pPr algn="just">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J12TE1-37S-R01M</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3.50</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400</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5.6</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-20</a:t>
                      </a:r>
                      <a:r>
                        <a:rPr lang="en-US" sz="2400" kern="100" baseline="300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554355">
                <a:tc>
                  <a:txBody>
                    <a:bodyPr/>
                    <a:lstStyle/>
                    <a:p>
                      <a:pPr algn="just">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J12TE2-66D-R02M</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3.45</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1600</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4.4</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-40</a:t>
                      </a:r>
                      <a:r>
                        <a:rPr lang="en-US" sz="2400" kern="100" baseline="300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995063222"/>
              </p:ext>
            </p:extLst>
          </p:nvPr>
        </p:nvGraphicFramePr>
        <p:xfrm>
          <a:off x="9863138" y="2157412"/>
          <a:ext cx="1071562" cy="377031"/>
        </p:xfrm>
        <a:graphic>
          <a:graphicData uri="http://schemas.openxmlformats.org/presentationml/2006/ole">
            <mc:AlternateContent xmlns:mc="http://schemas.openxmlformats.org/markup-compatibility/2006">
              <mc:Choice xmlns:v="urn:schemas-microsoft-com:vml" Requires="v">
                <p:oleObj spid="_x0000_s68866" name="Equation" r:id="rId3" imgW="685800" imgH="241200" progId="Equation.DSMT4">
                  <p:embed/>
                </p:oleObj>
              </mc:Choice>
              <mc:Fallback>
                <p:oleObj name="Equation" r:id="rId3" imgW="685800" imgH="241200" progId="Equation.DSMT4">
                  <p:embed/>
                  <p:pic>
                    <p:nvPicPr>
                      <p:cNvPr id="0" name=""/>
                      <p:cNvPicPr/>
                      <p:nvPr/>
                    </p:nvPicPr>
                    <p:blipFill>
                      <a:blip r:embed="rId4"/>
                      <a:stretch>
                        <a:fillRect/>
                      </a:stretch>
                    </p:blipFill>
                    <p:spPr>
                      <a:xfrm>
                        <a:off x="9863138" y="2157412"/>
                        <a:ext cx="1071562" cy="377031"/>
                      </a:xfrm>
                      <a:prstGeom prst="rect">
                        <a:avLst/>
                      </a:prstGeom>
                    </p:spPr>
                  </p:pic>
                </p:oleObj>
              </mc:Fallback>
            </mc:AlternateContent>
          </a:graphicData>
        </a:graphic>
      </p:graphicFrame>
      <p:sp>
        <p:nvSpPr>
          <p:cNvPr id="5" name="TextBox 2"/>
          <p:cNvSpPr txBox="1">
            <a:spLocks noChangeArrowheads="1"/>
          </p:cNvSpPr>
          <p:nvPr/>
        </p:nvSpPr>
        <p:spPr bwMode="auto">
          <a:xfrm>
            <a:off x="896539" y="971551"/>
            <a:ext cx="12275344" cy="646331"/>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anose="02020603050405020304" pitchFamily="18" charset="0"/>
                <a:ea typeface="微软雅黑" pitchFamily="34" charset="-122"/>
                <a:cs typeface="Times New Roman" panose="02020603050405020304" pitchFamily="18" charset="0"/>
              </a:rPr>
              <a:t>例题：</a:t>
            </a:r>
            <a:r>
              <a:rPr lang="en-US" altLang="zh-CN" sz="2400" b="1" dirty="0" err="1">
                <a:latin typeface="Times New Roman" panose="02020603050405020304" pitchFamily="18" charset="0"/>
                <a:ea typeface="微软雅黑" pitchFamily="34" charset="-122"/>
                <a:cs typeface="Times New Roman" panose="02020603050405020304" pitchFamily="18" charset="0"/>
              </a:rPr>
              <a:t>InAs</a:t>
            </a:r>
            <a:r>
              <a:rPr lang="zh-CN" altLang="en-US" sz="2400" b="1" dirty="0">
                <a:latin typeface="Times New Roman" panose="02020603050405020304" pitchFamily="18" charset="0"/>
                <a:ea typeface="微软雅黑" pitchFamily="34" charset="-122"/>
                <a:cs typeface="Times New Roman" panose="02020603050405020304" pitchFamily="18" charset="0"/>
              </a:rPr>
              <a:t>红外光电二极管的参数性能如下表，求</a:t>
            </a:r>
            <a:r>
              <a:rPr lang="en-US" altLang="zh-CN" sz="2400" b="1" dirty="0">
                <a:latin typeface="Times New Roman" panose="02020603050405020304" pitchFamily="18" charset="0"/>
                <a:ea typeface="微软雅黑" pitchFamily="34" charset="-122"/>
                <a:cs typeface="Times New Roman" panose="02020603050405020304" pitchFamily="18" charset="0"/>
              </a:rPr>
              <a:t>J12TE1-</a:t>
            </a:r>
            <a:r>
              <a:rPr lang="en-US" altLang="zh-CN" sz="2400" b="1" dirty="0">
                <a:solidFill>
                  <a:srgbClr val="0000FF"/>
                </a:solidFill>
                <a:latin typeface="Times New Roman" panose="02020603050405020304" pitchFamily="18" charset="0"/>
                <a:ea typeface="微软雅黑" pitchFamily="34" charset="-122"/>
                <a:cs typeface="Times New Roman" panose="02020603050405020304" pitchFamily="18" charset="0"/>
              </a:rPr>
              <a:t>37S</a:t>
            </a:r>
            <a:r>
              <a:rPr lang="en-US" altLang="zh-CN" sz="2400" b="1" dirty="0">
                <a:latin typeface="Times New Roman" panose="02020603050405020304" pitchFamily="18" charset="0"/>
                <a:ea typeface="微软雅黑" pitchFamily="34" charset="-122"/>
                <a:cs typeface="Times New Roman" panose="02020603050405020304" pitchFamily="18" charset="0"/>
              </a:rPr>
              <a:t>-R01M</a:t>
            </a:r>
            <a:r>
              <a:rPr lang="zh-CN" altLang="en-US" sz="2400" b="1" dirty="0">
                <a:latin typeface="Times New Roman" panose="02020603050405020304" pitchFamily="18" charset="0"/>
                <a:ea typeface="微软雅黑" pitchFamily="34" charset="-122"/>
                <a:cs typeface="Times New Roman" panose="02020603050405020304" pitchFamily="18" charset="0"/>
              </a:rPr>
              <a:t>的比探测率为多少？</a:t>
            </a:r>
          </a:p>
        </p:txBody>
      </p:sp>
      <p:graphicFrame>
        <p:nvGraphicFramePr>
          <p:cNvPr id="12" name="Object 2"/>
          <p:cNvGraphicFramePr>
            <a:graphicFrameLocks noChangeAspect="1"/>
          </p:cNvGraphicFramePr>
          <p:nvPr>
            <p:extLst>
              <p:ext uri="{D42A27DB-BD31-4B8C-83A1-F6EECF244321}">
                <p14:modId xmlns:p14="http://schemas.microsoft.com/office/powerpoint/2010/main" val="1155206301"/>
              </p:ext>
            </p:extLst>
          </p:nvPr>
        </p:nvGraphicFramePr>
        <p:xfrm>
          <a:off x="1770550" y="4942221"/>
          <a:ext cx="2335213" cy="1225550"/>
        </p:xfrm>
        <a:graphic>
          <a:graphicData uri="http://schemas.openxmlformats.org/presentationml/2006/ole">
            <mc:AlternateContent xmlns:mc="http://schemas.openxmlformats.org/markup-compatibility/2006">
              <mc:Choice xmlns:v="urn:schemas-microsoft-com:vml" Requires="v">
                <p:oleObj spid="_x0000_s68867" name="公式" r:id="rId5" imgW="850680" imgH="444240" progId="Equation.3">
                  <p:embed/>
                </p:oleObj>
              </mc:Choice>
              <mc:Fallback>
                <p:oleObj name="公式" r:id="rId5" imgW="85068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0550" y="4942221"/>
                        <a:ext cx="2335213" cy="1225550"/>
                      </a:xfrm>
                      <a:prstGeom prst="rect">
                        <a:avLst/>
                      </a:prstGeom>
                      <a:solidFill>
                        <a:srgbClr val="FFFF00"/>
                      </a:solidFill>
                    </p:spPr>
                  </p:pic>
                </p:oleObj>
              </mc:Fallback>
            </mc:AlternateContent>
          </a:graphicData>
        </a:graphic>
      </p:graphicFrame>
      <p:sp>
        <p:nvSpPr>
          <p:cNvPr id="13" name="TextBox 4"/>
          <p:cNvSpPr txBox="1">
            <a:spLocks noChangeArrowheads="1"/>
          </p:cNvSpPr>
          <p:nvPr/>
        </p:nvSpPr>
        <p:spPr bwMode="auto">
          <a:xfrm>
            <a:off x="827491" y="5187950"/>
            <a:ext cx="927100" cy="523220"/>
          </a:xfrm>
          <a:prstGeom prst="rect">
            <a:avLst/>
          </a:prstGeom>
          <a:noFill/>
          <a:ln w="9525">
            <a:noFill/>
            <a:miter lim="800000"/>
            <a:headEnd/>
            <a:tailEnd/>
          </a:ln>
        </p:spPr>
        <p:txBody>
          <a:bodyPr>
            <a:spAutoFit/>
          </a:bodyPr>
          <a:lstStyle/>
          <a:p>
            <a:pPr defTabSz="914400"/>
            <a:r>
              <a:rPr lang="zh-CN" altLang="en-US" sz="2800" b="1" dirty="0">
                <a:latin typeface="黑体" pitchFamily="2" charset="-122"/>
                <a:ea typeface="黑体" pitchFamily="2" charset="-122"/>
              </a:rPr>
              <a:t>解：</a:t>
            </a:r>
          </a:p>
        </p:txBody>
      </p:sp>
      <p:graphicFrame>
        <p:nvGraphicFramePr>
          <p:cNvPr id="14" name="Object 3"/>
          <p:cNvGraphicFramePr>
            <a:graphicFrameLocks noChangeAspect="1"/>
          </p:cNvGraphicFramePr>
          <p:nvPr>
            <p:extLst>
              <p:ext uri="{D42A27DB-BD31-4B8C-83A1-F6EECF244321}">
                <p14:modId xmlns:p14="http://schemas.microsoft.com/office/powerpoint/2010/main" val="2204365112"/>
              </p:ext>
            </p:extLst>
          </p:nvPr>
        </p:nvGraphicFramePr>
        <p:xfrm>
          <a:off x="4152370" y="4942221"/>
          <a:ext cx="2133600" cy="1230312"/>
        </p:xfrm>
        <a:graphic>
          <a:graphicData uri="http://schemas.openxmlformats.org/presentationml/2006/ole">
            <mc:AlternateContent xmlns:mc="http://schemas.openxmlformats.org/markup-compatibility/2006">
              <mc:Choice xmlns:v="urn:schemas-microsoft-com:vml" Requires="v">
                <p:oleObj spid="_x0000_s68868" name="公式" r:id="rId7" imgW="863280" imgH="495000" progId="Equation.3">
                  <p:embed/>
                </p:oleObj>
              </mc:Choice>
              <mc:Fallback>
                <p:oleObj name="公式" r:id="rId7" imgW="863280" imgH="495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2370" y="4942221"/>
                        <a:ext cx="2133600" cy="1230312"/>
                      </a:xfrm>
                      <a:prstGeom prst="rect">
                        <a:avLst/>
                      </a:prstGeom>
                      <a:solidFill>
                        <a:srgbClr val="FFFF00"/>
                      </a:solidFill>
                    </p:spPr>
                  </p:pic>
                </p:oleObj>
              </mc:Fallback>
            </mc:AlternateContent>
          </a:graphicData>
        </a:graphic>
      </p:graphicFrame>
      <p:graphicFrame>
        <p:nvGraphicFramePr>
          <p:cNvPr id="15" name="Object 4"/>
          <p:cNvGraphicFramePr>
            <a:graphicFrameLocks noChangeAspect="1"/>
          </p:cNvGraphicFramePr>
          <p:nvPr>
            <p:extLst>
              <p:ext uri="{D42A27DB-BD31-4B8C-83A1-F6EECF244321}">
                <p14:modId xmlns:p14="http://schemas.microsoft.com/office/powerpoint/2010/main" val="1550296231"/>
              </p:ext>
            </p:extLst>
          </p:nvPr>
        </p:nvGraphicFramePr>
        <p:xfrm>
          <a:off x="6332577" y="4908884"/>
          <a:ext cx="3868737" cy="1258887"/>
        </p:xfrm>
        <a:graphic>
          <a:graphicData uri="http://schemas.openxmlformats.org/presentationml/2006/ole">
            <mc:AlternateContent xmlns:mc="http://schemas.openxmlformats.org/markup-compatibility/2006">
              <mc:Choice xmlns:v="urn:schemas-microsoft-com:vml" Requires="v">
                <p:oleObj spid="_x0000_s68869" name="Equation" r:id="rId9" imgW="1409400" imgH="457200" progId="Equation.DSMT4">
                  <p:embed/>
                </p:oleObj>
              </mc:Choice>
              <mc:Fallback>
                <p:oleObj name="Equation" r:id="rId9" imgW="1409400" imgH="457200" progId="Equation.DSMT4">
                  <p:embed/>
                  <p:pic>
                    <p:nvPicPr>
                      <p:cNvPr id="0" name=""/>
                      <p:cNvPicPr>
                        <a:picLocks noChangeAspect="1" noChangeArrowheads="1"/>
                      </p:cNvPicPr>
                      <p:nvPr/>
                    </p:nvPicPr>
                    <p:blipFill>
                      <a:blip r:embed="rId10"/>
                      <a:srcRect/>
                      <a:stretch>
                        <a:fillRect/>
                      </a:stretch>
                    </p:blipFill>
                    <p:spPr bwMode="auto">
                      <a:xfrm>
                        <a:off x="6332577" y="4908884"/>
                        <a:ext cx="3868737" cy="1258887"/>
                      </a:xfrm>
                      <a:prstGeom prst="rect">
                        <a:avLst/>
                      </a:prstGeom>
                      <a:solidFill>
                        <a:srgbClr val="FFFF00"/>
                      </a:solidFill>
                    </p:spPr>
                  </p:pic>
                </p:oleObj>
              </mc:Fallback>
            </mc:AlternateContent>
          </a:graphicData>
        </a:graphic>
      </p:graphicFrame>
      <p:graphicFrame>
        <p:nvGraphicFramePr>
          <p:cNvPr id="16" name="Object 5"/>
          <p:cNvGraphicFramePr>
            <a:graphicFrameLocks noChangeAspect="1"/>
          </p:cNvGraphicFramePr>
          <p:nvPr>
            <p:extLst>
              <p:ext uri="{D42A27DB-BD31-4B8C-83A1-F6EECF244321}">
                <p14:modId xmlns:p14="http://schemas.microsoft.com/office/powerpoint/2010/main" val="4059493843"/>
              </p:ext>
            </p:extLst>
          </p:nvPr>
        </p:nvGraphicFramePr>
        <p:xfrm>
          <a:off x="4014788" y="6402221"/>
          <a:ext cx="4079875" cy="631825"/>
        </p:xfrm>
        <a:graphic>
          <a:graphicData uri="http://schemas.openxmlformats.org/presentationml/2006/ole">
            <mc:AlternateContent xmlns:mc="http://schemas.openxmlformats.org/markup-compatibility/2006">
              <mc:Choice xmlns:v="urn:schemas-microsoft-com:vml" Requires="v">
                <p:oleObj spid="_x0000_s68870" name="Equation" r:id="rId11" imgW="1485720" imgH="228600" progId="Equation.DSMT4">
                  <p:embed/>
                </p:oleObj>
              </mc:Choice>
              <mc:Fallback>
                <p:oleObj name="Equation" r:id="rId11" imgW="1485720" imgH="228600" progId="Equation.DSMT4">
                  <p:embed/>
                  <p:pic>
                    <p:nvPicPr>
                      <p:cNvPr id="0" name=""/>
                      <p:cNvPicPr>
                        <a:picLocks noChangeAspect="1" noChangeArrowheads="1"/>
                      </p:cNvPicPr>
                      <p:nvPr/>
                    </p:nvPicPr>
                    <p:blipFill>
                      <a:blip r:embed="rId12"/>
                      <a:srcRect/>
                      <a:stretch>
                        <a:fillRect/>
                      </a:stretch>
                    </p:blipFill>
                    <p:spPr bwMode="auto">
                      <a:xfrm>
                        <a:off x="4014788" y="6402221"/>
                        <a:ext cx="4079875" cy="631825"/>
                      </a:xfrm>
                      <a:prstGeom prst="rect">
                        <a:avLst/>
                      </a:prstGeom>
                      <a:solidFill>
                        <a:srgbClr val="FFFF00"/>
                      </a:solidFill>
                    </p:spPr>
                  </p:pic>
                </p:oleObj>
              </mc:Fallback>
            </mc:AlternateContent>
          </a:graphicData>
        </a:graphic>
      </p:graphicFrame>
      <p:sp>
        <p:nvSpPr>
          <p:cNvPr id="17" name="文本框 60">
            <a:extLst>
              <a:ext uri="{FF2B5EF4-FFF2-40B4-BE49-F238E27FC236}">
                <a16:creationId xmlns:a16="http://schemas.microsoft.com/office/drawing/2014/main" id="{B1215929-2C72-4BF5-A79F-3A203181B106}"/>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光电探测器的特性参数</a:t>
            </a:r>
          </a:p>
        </p:txBody>
      </p:sp>
      <p:sp>
        <p:nvSpPr>
          <p:cNvPr id="18" name="矩形 17">
            <a:extLst>
              <a:ext uri="{FF2B5EF4-FFF2-40B4-BE49-F238E27FC236}">
                <a16:creationId xmlns:a16="http://schemas.microsoft.com/office/drawing/2014/main" id="{08F603F6-4AD7-4CC6-B6B9-879F36EB92B4}"/>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58FC03D9-DA6D-450D-B37E-97EAF1F505F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4B8D635C-02B3-44B2-B127-112A2305F6F0}"/>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5EB38E27-82EA-4AC0-85EA-D8BCC1386679}"/>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A736F74D-FC54-495F-AAB5-B28829E39E1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F4C51574-CFF1-4055-B854-42C6E11DA20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42929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heckerboard(across)">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heckerboard(across)">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checkerboard(across)">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checkerboard(across)">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3" grpId="0" autoUpdateAnimBg="0"/>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2645</TotalTime>
  <Words>1170</Words>
  <Application>Microsoft Office PowerPoint</Application>
  <PresentationFormat>自定义</PresentationFormat>
  <Paragraphs>228</Paragraphs>
  <Slides>20</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20</vt:i4>
      </vt:variant>
    </vt:vector>
  </HeadingPairs>
  <TitlesOfParts>
    <vt:vector size="37" baseType="lpstr">
      <vt:lpstr>冬青黑体简体中文 W3</vt:lpstr>
      <vt:lpstr>冬青黑体简体中文 W6</vt:lpstr>
      <vt:lpstr>黑体</vt:lpstr>
      <vt:lpstr>宋体</vt:lpstr>
      <vt:lpstr>微软雅黑</vt:lpstr>
      <vt:lpstr>微软雅黑</vt:lpstr>
      <vt:lpstr>Arial</vt:lpstr>
      <vt:lpstr>Calibri</vt:lpstr>
      <vt:lpstr>Calibri Light</vt:lpstr>
      <vt:lpstr>Cambria Math</vt:lpstr>
      <vt:lpstr>Microsoft Yi Baiti</vt:lpstr>
      <vt:lpstr>Times New Roman</vt:lpstr>
      <vt:lpstr>光电技术模板-2015-6-18</vt:lpstr>
      <vt:lpstr>Equation</vt:lpstr>
      <vt:lpstr>Visio</vt:lpstr>
      <vt:lpstr>公式</vt:lpstr>
      <vt:lpstr>Microsoft Equation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yp yang</cp:lastModifiedBy>
  <cp:revision>129</cp:revision>
  <dcterms:created xsi:type="dcterms:W3CDTF">2015-06-18T01:42:52Z</dcterms:created>
  <dcterms:modified xsi:type="dcterms:W3CDTF">2022-05-02T04:04:18Z</dcterms:modified>
</cp:coreProperties>
</file>