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bin" ContentType="application/vnd.openxmlformats-officedocument.oleObject"/>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334" r:id="rId3"/>
    <p:sldId id="335" r:id="rId4"/>
    <p:sldId id="336" r:id="rId5"/>
    <p:sldId id="337" r:id="rId6"/>
    <p:sldId id="338" r:id="rId7"/>
    <p:sldId id="339" r:id="rId8"/>
    <p:sldId id="340" r:id="rId9"/>
    <p:sldId id="354" r:id="rId10"/>
    <p:sldId id="343" r:id="rId11"/>
    <p:sldId id="344" r:id="rId12"/>
    <p:sldId id="345" r:id="rId13"/>
    <p:sldId id="346" r:id="rId14"/>
    <p:sldId id="347" r:id="rId15"/>
    <p:sldId id="348" r:id="rId16"/>
    <p:sldId id="349" r:id="rId17"/>
    <p:sldId id="350" r:id="rId18"/>
    <p:sldId id="351" r:id="rId19"/>
    <p:sldId id="352" r:id="rId20"/>
    <p:sldId id="353" r:id="rId21"/>
  </p:sldIdLst>
  <p:sldSz cx="13717588" cy="7715250"/>
  <p:notesSz cx="6858000" cy="9144000"/>
  <p:defaultTextStyle>
    <a:defPPr>
      <a:defRPr lang="zh-CN"/>
    </a:defPPr>
    <a:lvl1pPr algn="l" defTabSz="1028700" rtl="0" fontAlgn="base">
      <a:spcBef>
        <a:spcPct val="0"/>
      </a:spcBef>
      <a:spcAft>
        <a:spcPct val="0"/>
      </a:spcAft>
      <a:defRPr sz="2000" kern="1200">
        <a:solidFill>
          <a:schemeClr val="tx1"/>
        </a:solidFill>
        <a:latin typeface="Arial" pitchFamily="34" charset="0"/>
        <a:ea typeface="宋体" pitchFamily="2" charset="-122"/>
        <a:cs typeface="+mn-cs"/>
      </a:defRPr>
    </a:lvl1pPr>
    <a:lvl2pPr marL="514350" indent="-5715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2pPr>
    <a:lvl3pPr marL="1028700" indent="-11430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3pPr>
    <a:lvl4pPr marL="1543050" indent="-17145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4pPr>
    <a:lvl5pPr marL="2057400" indent="-228600" algn="l" defTabSz="1028700" rtl="0" fontAlgn="base">
      <a:spcBef>
        <a:spcPct val="0"/>
      </a:spcBef>
      <a:spcAft>
        <a:spcPct val="0"/>
      </a:spcAft>
      <a:defRPr sz="2000" kern="1200">
        <a:solidFill>
          <a:schemeClr val="tx1"/>
        </a:solidFill>
        <a:latin typeface="Arial" pitchFamily="34" charset="0"/>
        <a:ea typeface="宋体" pitchFamily="2" charset="-122"/>
        <a:cs typeface="+mn-cs"/>
      </a:defRPr>
    </a:lvl5pPr>
    <a:lvl6pPr marL="2286000" algn="l" defTabSz="914400" rtl="0" eaLnBrk="1" latinLnBrk="0" hangingPunct="1">
      <a:defRPr sz="2000" kern="1200">
        <a:solidFill>
          <a:schemeClr val="tx1"/>
        </a:solidFill>
        <a:latin typeface="Arial" pitchFamily="34" charset="0"/>
        <a:ea typeface="宋体" pitchFamily="2" charset="-122"/>
        <a:cs typeface="+mn-cs"/>
      </a:defRPr>
    </a:lvl6pPr>
    <a:lvl7pPr marL="2743200" algn="l" defTabSz="914400" rtl="0" eaLnBrk="1" latinLnBrk="0" hangingPunct="1">
      <a:defRPr sz="2000" kern="1200">
        <a:solidFill>
          <a:schemeClr val="tx1"/>
        </a:solidFill>
        <a:latin typeface="Arial" pitchFamily="34" charset="0"/>
        <a:ea typeface="宋体" pitchFamily="2" charset="-122"/>
        <a:cs typeface="+mn-cs"/>
      </a:defRPr>
    </a:lvl7pPr>
    <a:lvl8pPr marL="3200400" algn="l" defTabSz="914400" rtl="0" eaLnBrk="1" latinLnBrk="0" hangingPunct="1">
      <a:defRPr sz="2000" kern="1200">
        <a:solidFill>
          <a:schemeClr val="tx1"/>
        </a:solidFill>
        <a:latin typeface="Arial" pitchFamily="34" charset="0"/>
        <a:ea typeface="宋体" pitchFamily="2" charset="-122"/>
        <a:cs typeface="+mn-cs"/>
      </a:defRPr>
    </a:lvl8pPr>
    <a:lvl9pPr marL="3657600" algn="l" defTabSz="914400" rtl="0" eaLnBrk="1" latinLnBrk="0" hangingPunct="1">
      <a:defRPr sz="2000" kern="1200">
        <a:solidFill>
          <a:schemeClr val="tx1"/>
        </a:solidFill>
        <a:latin typeface="Arial" pitchFamily="34" charset="0"/>
        <a:ea typeface="宋体" pitchFamily="2" charset="-122"/>
        <a:cs typeface="+mn-cs"/>
      </a:defRPr>
    </a:lvl9pPr>
  </p:defaultTextStyle>
  <p:extLst>
    <p:ext uri="{EFAFB233-063F-42B5-8137-9DF3F51BA10A}">
      <p15:sldGuideLst xmlns:p15="http://schemas.microsoft.com/office/powerpoint/2012/main" xmlns="">
        <p15:guide id="1" orient="horz" pos="2430">
          <p15:clr>
            <a:srgbClr val="A4A3A4"/>
          </p15:clr>
        </p15:guide>
        <p15:guide id="2" pos="43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FF"/>
    <a:srgbClr val="1271FE"/>
    <a:srgbClr val="0066FF"/>
    <a:srgbClr val="A5CC82"/>
    <a:srgbClr val="2F5597"/>
    <a:srgbClr val="3399FF"/>
    <a:srgbClr val="0000CC"/>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8320" autoAdjust="0"/>
    <p:restoredTop sz="94660"/>
  </p:normalViewPr>
  <p:slideViewPr>
    <p:cSldViewPr snapToGrid="0">
      <p:cViewPr varScale="1">
        <p:scale>
          <a:sx n="76" d="100"/>
          <a:sy n="76" d="100"/>
        </p:scale>
        <p:origin x="-408" y="-90"/>
      </p:cViewPr>
      <p:guideLst>
        <p:guide orient="horz" pos="2430"/>
        <p:guide pos="432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714699" y="1262658"/>
            <a:ext cx="10288191" cy="2686050"/>
          </a:xfrm>
        </p:spPr>
        <p:txBody>
          <a:bodyPr anchor="b"/>
          <a:lstStyle>
            <a:lvl1pPr algn="ctr">
              <a:defRPr sz="6800"/>
            </a:lvl1pPr>
          </a:lstStyle>
          <a:p>
            <a:r>
              <a:rPr lang="zh-CN" altLang="en-US"/>
              <a:t>单击此处编辑母版标题样式</a:t>
            </a:r>
          </a:p>
        </p:txBody>
      </p:sp>
      <p:sp>
        <p:nvSpPr>
          <p:cNvPr id="3" name="副标题 2"/>
          <p:cNvSpPr>
            <a:spLocks noGrp="1"/>
          </p:cNvSpPr>
          <p:nvPr>
            <p:ph type="subTitle" idx="1"/>
          </p:nvPr>
        </p:nvSpPr>
        <p:spPr>
          <a:xfrm>
            <a:off x="1714699" y="4052293"/>
            <a:ext cx="10288191" cy="1862732"/>
          </a:xfrm>
        </p:spPr>
        <p:txBody>
          <a:bodyPr/>
          <a:lstStyle>
            <a:lvl1pPr marL="0" indent="0" algn="ctr">
              <a:buNone/>
              <a:defRPr sz="2700"/>
            </a:lvl1pPr>
            <a:lvl2pPr marL="514350" indent="0" algn="ctr">
              <a:buNone/>
              <a:defRPr sz="2300"/>
            </a:lvl2pPr>
            <a:lvl3pPr marL="1028700" indent="0" algn="ctr">
              <a:buNone/>
              <a:defRPr sz="2000"/>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CAF0B85A-814D-4522-830B-EA2B73E81006}" type="datetimeFigureOut">
              <a:rPr lang="zh-CN" altLang="en-US"/>
              <a:pPr>
                <a:defRPr/>
              </a:pPr>
              <a:t>2022/5/2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0230FC6D-90CF-486C-9DDE-41D05F073C2E}" type="slidenum">
              <a:rPr lang="zh-CN" altLang="en-US"/>
              <a:pPr>
                <a:defRPr/>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CABA323A-3F5B-4803-8F6E-75EB0599F551}" type="datetimeFigureOut">
              <a:rPr lang="zh-CN" altLang="en-US"/>
              <a:pPr>
                <a:defRPr/>
              </a:pPr>
              <a:t>2022/5/2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9F8E41E-29BD-400D-AEDC-793B998551CA}" type="slidenum">
              <a:rPr lang="zh-CN" altLang="en-US"/>
              <a:pPr>
                <a:defRPr/>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35939" y="1923456"/>
            <a:ext cx="11831420" cy="3209329"/>
          </a:xfrm>
        </p:spPr>
        <p:txBody>
          <a:bodyPr anchor="b"/>
          <a:lstStyle>
            <a:lvl1pPr>
              <a:defRPr sz="6800"/>
            </a:lvl1pPr>
          </a:lstStyle>
          <a:p>
            <a:r>
              <a:rPr lang="zh-CN" altLang="en-US"/>
              <a:t>单击此处编辑母版标题样式</a:t>
            </a:r>
          </a:p>
        </p:txBody>
      </p:sp>
      <p:sp>
        <p:nvSpPr>
          <p:cNvPr id="3" name="文本占位符 2"/>
          <p:cNvSpPr>
            <a:spLocks noGrp="1"/>
          </p:cNvSpPr>
          <p:nvPr>
            <p:ph type="body" idx="1"/>
          </p:nvPr>
        </p:nvSpPr>
        <p:spPr>
          <a:xfrm>
            <a:off x="935939" y="5163147"/>
            <a:ext cx="11831420" cy="1687710"/>
          </a:xfrm>
        </p:spPr>
        <p:txBody>
          <a:bodyPr/>
          <a:lstStyle>
            <a:lvl1pPr marL="0" indent="0">
              <a:buNone/>
              <a:defRPr sz="2700">
                <a:solidFill>
                  <a:schemeClr val="tx1">
                    <a:tint val="75000"/>
                  </a:schemeClr>
                </a:solidFill>
              </a:defRPr>
            </a:lvl1pPr>
            <a:lvl2pPr marL="514350" indent="0">
              <a:buNone/>
              <a:defRPr sz="2300">
                <a:solidFill>
                  <a:schemeClr val="tx1">
                    <a:tint val="75000"/>
                  </a:schemeClr>
                </a:solidFill>
              </a:defRPr>
            </a:lvl2pPr>
            <a:lvl3pPr marL="1028700" indent="0">
              <a:buNone/>
              <a:defRPr sz="2000">
                <a:solidFill>
                  <a:schemeClr val="tx1">
                    <a:tint val="75000"/>
                  </a:schemeClr>
                </a:solidFill>
              </a:defRPr>
            </a:lvl3pPr>
            <a:lvl4pPr marL="1543050" indent="0">
              <a:buNone/>
              <a:defRPr sz="1800">
                <a:solidFill>
                  <a:schemeClr val="tx1">
                    <a:tint val="75000"/>
                  </a:schemeClr>
                </a:solidFill>
              </a:defRPr>
            </a:lvl4pPr>
            <a:lvl5pPr marL="2057400" indent="0">
              <a:buNone/>
              <a:defRPr sz="1800">
                <a:solidFill>
                  <a:schemeClr val="tx1">
                    <a:tint val="75000"/>
                  </a:schemeClr>
                </a:solidFill>
              </a:defRPr>
            </a:lvl5pPr>
            <a:lvl6pPr marL="2571750" indent="0">
              <a:buNone/>
              <a:defRPr sz="1800">
                <a:solidFill>
                  <a:schemeClr val="tx1">
                    <a:tint val="75000"/>
                  </a:schemeClr>
                </a:solidFill>
              </a:defRPr>
            </a:lvl6pPr>
            <a:lvl7pPr marL="3086100" indent="0">
              <a:buNone/>
              <a:defRPr sz="1800">
                <a:solidFill>
                  <a:schemeClr val="tx1">
                    <a:tint val="75000"/>
                  </a:schemeClr>
                </a:solidFill>
              </a:defRPr>
            </a:lvl7pPr>
            <a:lvl8pPr marL="3600450" indent="0">
              <a:buNone/>
              <a:defRPr sz="1800">
                <a:solidFill>
                  <a:schemeClr val="tx1">
                    <a:tint val="75000"/>
                  </a:schemeClr>
                </a:solidFill>
              </a:defRPr>
            </a:lvl8pPr>
            <a:lvl9pPr marL="4114800" indent="0">
              <a:buNone/>
              <a:defRPr sz="18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6D8D2FC9-D3FF-4B56-9B68-E94AEE2E1568}" type="datetimeFigureOut">
              <a:rPr lang="zh-CN" altLang="en-US"/>
              <a:pPr>
                <a:defRPr/>
              </a:pPr>
              <a:t>2022/5/2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E14F51C-D6D9-42FE-8406-8B1A62EF34D4}" type="slidenum">
              <a:rPr lang="zh-CN" altLang="en-US"/>
              <a:pPr>
                <a:defRPr/>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43084" y="2053828"/>
            <a:ext cx="5829975" cy="489525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944529" y="2053828"/>
            <a:ext cx="5829975" cy="489525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18BCE2FE-A4F7-461A-B679-738DCCB9F2FB}" type="datetimeFigureOut">
              <a:rPr lang="zh-CN" altLang="en-US"/>
              <a:pPr>
                <a:defRPr/>
              </a:pPr>
              <a:t>2022/5/2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61244DF1-8AB3-4AC8-8846-8D7AC53D4C59}" type="slidenum">
              <a:rPr lang="zh-CN" altLang="en-US"/>
              <a:pPr>
                <a:defRPr/>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944871" y="410766"/>
            <a:ext cx="11831420" cy="1491258"/>
          </a:xfrm>
        </p:spPr>
        <p:txBody>
          <a:bodyPr/>
          <a:lstStyle/>
          <a:p>
            <a:r>
              <a:rPr lang="zh-CN" altLang="en-US"/>
              <a:t>单击此处编辑母版标题样式</a:t>
            </a:r>
          </a:p>
        </p:txBody>
      </p:sp>
      <p:sp>
        <p:nvSpPr>
          <p:cNvPr id="3" name="文本占位符 2"/>
          <p:cNvSpPr>
            <a:spLocks noGrp="1"/>
          </p:cNvSpPr>
          <p:nvPr>
            <p:ph type="body" idx="1"/>
          </p:nvPr>
        </p:nvSpPr>
        <p:spPr>
          <a:xfrm>
            <a:off x="944872" y="1891308"/>
            <a:ext cx="580318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a:t>单击此处编辑母版文本样式</a:t>
            </a:r>
          </a:p>
        </p:txBody>
      </p:sp>
      <p:sp>
        <p:nvSpPr>
          <p:cNvPr id="4" name="内容占位符 3"/>
          <p:cNvSpPr>
            <a:spLocks noGrp="1"/>
          </p:cNvSpPr>
          <p:nvPr>
            <p:ph sz="half" idx="2"/>
          </p:nvPr>
        </p:nvSpPr>
        <p:spPr>
          <a:xfrm>
            <a:off x="944872" y="2818209"/>
            <a:ext cx="5803182" cy="4145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944529" y="1891308"/>
            <a:ext cx="5831762" cy="926901"/>
          </a:xfrm>
        </p:spPr>
        <p:txBody>
          <a:bodyPr anchor="b"/>
          <a:lstStyle>
            <a:lvl1pPr marL="0" indent="0">
              <a:buNone/>
              <a:defRPr sz="2700" b="1"/>
            </a:lvl1pPr>
            <a:lvl2pPr marL="514350" indent="0">
              <a:buNone/>
              <a:defRPr sz="2300" b="1"/>
            </a:lvl2pPr>
            <a:lvl3pPr marL="1028700" indent="0">
              <a:buNone/>
              <a:defRPr sz="2000"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zh-CN" altLang="en-US"/>
              <a:t>单击此处编辑母版文本样式</a:t>
            </a:r>
          </a:p>
        </p:txBody>
      </p:sp>
      <p:sp>
        <p:nvSpPr>
          <p:cNvPr id="6" name="内容占位符 5"/>
          <p:cNvSpPr>
            <a:spLocks noGrp="1"/>
          </p:cNvSpPr>
          <p:nvPr>
            <p:ph sz="quarter" idx="4"/>
          </p:nvPr>
        </p:nvSpPr>
        <p:spPr>
          <a:xfrm>
            <a:off x="6944529" y="2818209"/>
            <a:ext cx="5831762" cy="41451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5D27D16C-6742-4D87-B286-505BFCC485E0}" type="datetimeFigureOut">
              <a:rPr lang="zh-CN" altLang="en-US"/>
              <a:pPr>
                <a:defRPr/>
              </a:pPr>
              <a:t>2022/5/2</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B548CD92-017C-4BDF-B1F0-541AAC91782D}" type="slidenum">
              <a:rPr lang="zh-CN" altLang="en-US"/>
              <a:pPr>
                <a:defRPr/>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B6518C45-7112-4018-A6C3-08A2B95FCAB3}" type="datetimeFigureOut">
              <a:rPr lang="zh-CN" altLang="en-US"/>
              <a:pPr>
                <a:defRPr/>
              </a:pPr>
              <a:t>2022/5/2</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C03909AF-2F9A-4F17-9832-37F27436F3BE}" type="slidenum">
              <a:rPr lang="zh-CN" altLang="en-US"/>
              <a:pPr>
                <a:defRPr/>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3991FB8E-32A2-4FAB-9DCF-1E7B8AE28FF5}" type="datetimeFigureOut">
              <a:rPr lang="zh-CN" altLang="en-US"/>
              <a:pPr>
                <a:defRPr/>
              </a:pPr>
              <a:t>2022/5/2</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3850E2A1-1590-4207-8BCA-1574684B6113}" type="slidenum">
              <a:rPr lang="zh-CN" altLang="en-US"/>
              <a:pPr>
                <a:defRPr/>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a:t>单击此处编辑母版标题样式</a:t>
            </a:r>
          </a:p>
        </p:txBody>
      </p:sp>
      <p:sp>
        <p:nvSpPr>
          <p:cNvPr id="3" name="内容占位符 2"/>
          <p:cNvSpPr>
            <a:spLocks noGrp="1"/>
          </p:cNvSpPr>
          <p:nvPr>
            <p:ph idx="1"/>
          </p:nvPr>
        </p:nvSpPr>
        <p:spPr>
          <a:xfrm>
            <a:off x="5831762" y="1110854"/>
            <a:ext cx="6944529" cy="5482828"/>
          </a:xfrm>
        </p:spPr>
        <p:txBody>
          <a:bodyPr/>
          <a:lstStyle>
            <a:lvl1pPr>
              <a:defRPr sz="3600"/>
            </a:lvl1pPr>
            <a:lvl2pPr>
              <a:defRPr sz="3200"/>
            </a:lvl2pPr>
            <a:lvl3pPr>
              <a:defRPr sz="2700"/>
            </a:lvl3pPr>
            <a:lvl4pPr>
              <a:defRPr sz="2300"/>
            </a:lvl4pPr>
            <a:lvl5pPr>
              <a:defRPr sz="2300"/>
            </a:lvl5pPr>
            <a:lvl6pPr>
              <a:defRPr sz="2300"/>
            </a:lvl6pPr>
            <a:lvl7pPr>
              <a:defRPr sz="2300"/>
            </a:lvl7pPr>
            <a:lvl8pPr>
              <a:defRPr sz="2300"/>
            </a:lvl8pPr>
            <a:lvl9pPr>
              <a:defRPr sz="23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75F0318A-E83E-4483-BFCC-C271C5DAE065}" type="datetimeFigureOut">
              <a:rPr lang="zh-CN" altLang="en-US"/>
              <a:pPr>
                <a:defRPr/>
              </a:pPr>
              <a:t>2022/5/2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E7E4571C-1262-4289-8B7E-176947018E55}" type="slidenum">
              <a:rPr lang="zh-CN" altLang="en-US"/>
              <a:pPr>
                <a:defRPr/>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944871" y="514350"/>
            <a:ext cx="4424279" cy="1800225"/>
          </a:xfrm>
        </p:spPr>
        <p:txBody>
          <a:bodyPr anchor="b"/>
          <a:lstStyle>
            <a:lvl1pPr>
              <a:defRPr sz="3600"/>
            </a:lvl1pPr>
          </a:lstStyle>
          <a:p>
            <a:r>
              <a:rPr lang="zh-CN" altLang="en-US"/>
              <a:t>单击此处编辑母版标题样式</a:t>
            </a:r>
          </a:p>
        </p:txBody>
      </p:sp>
      <p:sp>
        <p:nvSpPr>
          <p:cNvPr id="3" name="图片占位符 2"/>
          <p:cNvSpPr>
            <a:spLocks noGrp="1"/>
          </p:cNvSpPr>
          <p:nvPr>
            <p:ph type="pic" idx="1"/>
          </p:nvPr>
        </p:nvSpPr>
        <p:spPr>
          <a:xfrm>
            <a:off x="5831762" y="1110854"/>
            <a:ext cx="6944529" cy="5482828"/>
          </a:xfrm>
        </p:spPr>
        <p:txBody>
          <a:bodyPr rtlCol="0">
            <a:normAutofit/>
          </a:bodyPr>
          <a:lstStyle>
            <a:lvl1pPr marL="0" indent="0">
              <a:buNone/>
              <a:defRPr sz="3600"/>
            </a:lvl1pPr>
            <a:lvl2pPr marL="514350" indent="0">
              <a:buNone/>
              <a:defRPr sz="3200"/>
            </a:lvl2pPr>
            <a:lvl3pPr marL="1028700" indent="0">
              <a:buNone/>
              <a:defRPr sz="2700"/>
            </a:lvl3pPr>
            <a:lvl4pPr marL="1543050" indent="0">
              <a:buNone/>
              <a:defRPr sz="2300"/>
            </a:lvl4pPr>
            <a:lvl5pPr marL="2057400" indent="0">
              <a:buNone/>
              <a:defRPr sz="2300"/>
            </a:lvl5pPr>
            <a:lvl6pPr marL="2571750" indent="0">
              <a:buNone/>
              <a:defRPr sz="2300"/>
            </a:lvl6pPr>
            <a:lvl7pPr marL="3086100" indent="0">
              <a:buNone/>
              <a:defRPr sz="2300"/>
            </a:lvl7pPr>
            <a:lvl8pPr marL="3600450" indent="0">
              <a:buNone/>
              <a:defRPr sz="2300"/>
            </a:lvl8pPr>
            <a:lvl9pPr marL="4114800" indent="0">
              <a:buNone/>
              <a:defRPr sz="2300"/>
            </a:lvl9pPr>
          </a:lstStyle>
          <a:p>
            <a:pPr lvl="0"/>
            <a:r>
              <a:rPr lang="zh-CN" altLang="en-US" noProof="0"/>
              <a:t>单击图标添加图片</a:t>
            </a:r>
          </a:p>
        </p:txBody>
      </p:sp>
      <p:sp>
        <p:nvSpPr>
          <p:cNvPr id="4" name="文本占位符 3"/>
          <p:cNvSpPr>
            <a:spLocks noGrp="1"/>
          </p:cNvSpPr>
          <p:nvPr>
            <p:ph type="body" sz="half" idx="2"/>
          </p:nvPr>
        </p:nvSpPr>
        <p:spPr>
          <a:xfrm>
            <a:off x="944871" y="2314575"/>
            <a:ext cx="4424279" cy="4288037"/>
          </a:xfrm>
        </p:spPr>
        <p:txBody>
          <a:bodyPr/>
          <a:lstStyle>
            <a:lvl1pPr marL="0" indent="0">
              <a:buNone/>
              <a:defRPr sz="1800"/>
            </a:lvl1pPr>
            <a:lvl2pPr marL="514350" indent="0">
              <a:buNone/>
              <a:defRPr sz="1600"/>
            </a:lvl2pPr>
            <a:lvl3pPr marL="1028700" indent="0">
              <a:buNone/>
              <a:defRPr sz="1400"/>
            </a:lvl3pPr>
            <a:lvl4pPr marL="1543050" indent="0">
              <a:buNone/>
              <a:defRPr sz="1100"/>
            </a:lvl4pPr>
            <a:lvl5pPr marL="2057400" indent="0">
              <a:buNone/>
              <a:defRPr sz="1100"/>
            </a:lvl5pPr>
            <a:lvl6pPr marL="2571750" indent="0">
              <a:buNone/>
              <a:defRPr sz="1100"/>
            </a:lvl6pPr>
            <a:lvl7pPr marL="3086100" indent="0">
              <a:buNone/>
              <a:defRPr sz="1100"/>
            </a:lvl7pPr>
            <a:lvl8pPr marL="3600450" indent="0">
              <a:buNone/>
              <a:defRPr sz="1100"/>
            </a:lvl8pPr>
            <a:lvl9pPr marL="4114800" indent="0">
              <a:buNone/>
              <a:defRPr sz="11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B17FF0FD-FEC7-4A54-8110-AA77D02431CB}" type="datetimeFigureOut">
              <a:rPr lang="zh-CN" altLang="en-US"/>
              <a:pPr>
                <a:defRPr/>
              </a:pPr>
              <a:t>2022/5/2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9FF3B411-970A-46D2-9B44-999FDB8B70E4}" type="slidenum">
              <a:rPr lang="zh-CN" altLang="en-US"/>
              <a:pPr>
                <a:defRPr/>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0D50961D-D191-41E5-BCCE-EDEDBD1415CB}" type="datetimeFigureOut">
              <a:rPr lang="zh-CN" altLang="en-US"/>
              <a:pPr>
                <a:defRPr/>
              </a:pPr>
              <a:t>2022/5/2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9B49B775-7492-4246-87A5-B7C17C29753E}" type="slidenum">
              <a:rPr lang="zh-CN" altLang="en-US"/>
              <a:pPr>
                <a:defRPr/>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16649" y="410766"/>
            <a:ext cx="2957855" cy="653831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43084" y="410766"/>
            <a:ext cx="8702095" cy="653831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3D9FF2CE-FFAA-40E0-8999-7C71913CE4F8}" type="datetimeFigureOut">
              <a:rPr lang="zh-CN" altLang="en-US"/>
              <a:pPr>
                <a:defRPr/>
              </a:pPr>
              <a:t>2022/5/2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5A7B3F0-F29F-41DA-A7AB-51B5104F556C}" type="slidenum">
              <a:rPr lang="zh-CN" altLang="en-US"/>
              <a:pPr>
                <a:defRPr/>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942975" y="411163"/>
            <a:ext cx="11831638" cy="1490662"/>
          </a:xfrm>
          <a:prstGeom prst="rect">
            <a:avLst/>
          </a:prstGeom>
          <a:noFill/>
          <a:ln w="9525">
            <a:noFill/>
            <a:miter lim="800000"/>
            <a:headEnd/>
            <a:tailEnd/>
          </a:ln>
        </p:spPr>
        <p:txBody>
          <a:bodyPr vert="horz" wrap="square" lIns="102870" tIns="51435" rIns="102870" bIns="51435"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942975" y="2054225"/>
            <a:ext cx="11831638" cy="4894263"/>
          </a:xfrm>
          <a:prstGeom prst="rect">
            <a:avLst/>
          </a:prstGeom>
          <a:noFill/>
          <a:ln w="9525">
            <a:noFill/>
            <a:miter lim="800000"/>
            <a:headEnd/>
            <a:tailEnd/>
          </a:ln>
        </p:spPr>
        <p:txBody>
          <a:bodyPr vert="horz" wrap="square" lIns="102870" tIns="51435" rIns="102870" bIns="51435"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942975" y="7151688"/>
            <a:ext cx="3086100" cy="409575"/>
          </a:xfrm>
          <a:prstGeom prst="rect">
            <a:avLst/>
          </a:prstGeom>
        </p:spPr>
        <p:txBody>
          <a:bodyPr vert="horz" lIns="102870" tIns="51435" rIns="102870" bIns="51435" rtlCol="0" anchor="ctr"/>
          <a:lstStyle>
            <a:lvl1pPr algn="l" fontAlgn="auto">
              <a:spcBef>
                <a:spcPts val="0"/>
              </a:spcBef>
              <a:spcAft>
                <a:spcPts val="0"/>
              </a:spcAft>
              <a:defRPr sz="1400">
                <a:solidFill>
                  <a:schemeClr val="tx1">
                    <a:tint val="75000"/>
                  </a:schemeClr>
                </a:solidFill>
                <a:latin typeface="+mn-lt"/>
                <a:ea typeface="+mn-ea"/>
              </a:defRPr>
            </a:lvl1pPr>
          </a:lstStyle>
          <a:p>
            <a:pPr>
              <a:defRPr/>
            </a:pPr>
            <a:fld id="{6D1A1D20-A6C5-4998-AB23-06FC87464E8A}" type="datetimeFigureOut">
              <a:rPr lang="zh-CN" altLang="en-US"/>
              <a:pPr>
                <a:defRPr/>
              </a:pPr>
              <a:t>2022/5/2</a:t>
            </a:fld>
            <a:endParaRPr lang="zh-CN" altLang="en-US"/>
          </a:p>
        </p:txBody>
      </p:sp>
      <p:sp>
        <p:nvSpPr>
          <p:cNvPr id="5" name="页脚占位符 4"/>
          <p:cNvSpPr>
            <a:spLocks noGrp="1"/>
          </p:cNvSpPr>
          <p:nvPr>
            <p:ph type="ftr" sz="quarter" idx="3"/>
          </p:nvPr>
        </p:nvSpPr>
        <p:spPr>
          <a:xfrm>
            <a:off x="4543425" y="7151688"/>
            <a:ext cx="4630738" cy="409575"/>
          </a:xfrm>
          <a:prstGeom prst="rect">
            <a:avLst/>
          </a:prstGeom>
        </p:spPr>
        <p:txBody>
          <a:bodyPr vert="horz" lIns="102870" tIns="51435" rIns="102870" bIns="51435" rtlCol="0" anchor="ctr"/>
          <a:lstStyle>
            <a:lvl1pPr algn="ctr" fontAlgn="auto">
              <a:spcBef>
                <a:spcPts val="0"/>
              </a:spcBef>
              <a:spcAft>
                <a:spcPts val="0"/>
              </a:spcAft>
              <a:defRPr sz="14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9688513" y="7151688"/>
            <a:ext cx="3086100" cy="409575"/>
          </a:xfrm>
          <a:prstGeom prst="rect">
            <a:avLst/>
          </a:prstGeom>
        </p:spPr>
        <p:txBody>
          <a:bodyPr vert="horz" lIns="102870" tIns="51435" rIns="102870" bIns="51435" rtlCol="0" anchor="ctr"/>
          <a:lstStyle>
            <a:lvl1pPr algn="r" fontAlgn="auto">
              <a:spcBef>
                <a:spcPts val="0"/>
              </a:spcBef>
              <a:spcAft>
                <a:spcPts val="0"/>
              </a:spcAft>
              <a:defRPr sz="1400">
                <a:solidFill>
                  <a:schemeClr val="tx1">
                    <a:tint val="75000"/>
                  </a:schemeClr>
                </a:solidFill>
                <a:latin typeface="+mn-lt"/>
                <a:ea typeface="+mn-ea"/>
              </a:defRPr>
            </a:lvl1pPr>
          </a:lstStyle>
          <a:p>
            <a:pPr>
              <a:defRPr/>
            </a:pPr>
            <a:fld id="{D728E60B-7259-4FAC-8AAA-739236121BD1}"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1028700" rtl="0" fontAlgn="base">
        <a:lnSpc>
          <a:spcPct val="90000"/>
        </a:lnSpc>
        <a:spcBef>
          <a:spcPct val="0"/>
        </a:spcBef>
        <a:spcAft>
          <a:spcPct val="0"/>
        </a:spcAft>
        <a:defRPr sz="5000" kern="1200">
          <a:solidFill>
            <a:schemeClr val="tx1"/>
          </a:solidFill>
          <a:latin typeface="+mj-lt"/>
          <a:ea typeface="+mj-ea"/>
          <a:cs typeface="+mj-cs"/>
        </a:defRPr>
      </a:lvl1pPr>
      <a:lvl2pPr algn="l" defTabSz="1028700" rtl="0" fontAlgn="base">
        <a:lnSpc>
          <a:spcPct val="90000"/>
        </a:lnSpc>
        <a:spcBef>
          <a:spcPct val="0"/>
        </a:spcBef>
        <a:spcAft>
          <a:spcPct val="0"/>
        </a:spcAft>
        <a:defRPr sz="5000">
          <a:solidFill>
            <a:schemeClr val="tx1"/>
          </a:solidFill>
          <a:latin typeface="Calibri Light"/>
          <a:ea typeface="宋体" pitchFamily="2" charset="-122"/>
        </a:defRPr>
      </a:lvl2pPr>
      <a:lvl3pPr algn="l" defTabSz="1028700" rtl="0" fontAlgn="base">
        <a:lnSpc>
          <a:spcPct val="90000"/>
        </a:lnSpc>
        <a:spcBef>
          <a:spcPct val="0"/>
        </a:spcBef>
        <a:spcAft>
          <a:spcPct val="0"/>
        </a:spcAft>
        <a:defRPr sz="5000">
          <a:solidFill>
            <a:schemeClr val="tx1"/>
          </a:solidFill>
          <a:latin typeface="Calibri Light"/>
          <a:ea typeface="宋体" pitchFamily="2" charset="-122"/>
        </a:defRPr>
      </a:lvl3pPr>
      <a:lvl4pPr algn="l" defTabSz="1028700" rtl="0" fontAlgn="base">
        <a:lnSpc>
          <a:spcPct val="90000"/>
        </a:lnSpc>
        <a:spcBef>
          <a:spcPct val="0"/>
        </a:spcBef>
        <a:spcAft>
          <a:spcPct val="0"/>
        </a:spcAft>
        <a:defRPr sz="5000">
          <a:solidFill>
            <a:schemeClr val="tx1"/>
          </a:solidFill>
          <a:latin typeface="Calibri Light"/>
          <a:ea typeface="宋体" pitchFamily="2" charset="-122"/>
        </a:defRPr>
      </a:lvl4pPr>
      <a:lvl5pPr algn="l" defTabSz="1028700" rtl="0" fontAlgn="base">
        <a:lnSpc>
          <a:spcPct val="90000"/>
        </a:lnSpc>
        <a:spcBef>
          <a:spcPct val="0"/>
        </a:spcBef>
        <a:spcAft>
          <a:spcPct val="0"/>
        </a:spcAft>
        <a:defRPr sz="5000">
          <a:solidFill>
            <a:schemeClr val="tx1"/>
          </a:solidFill>
          <a:latin typeface="Calibri Light"/>
          <a:ea typeface="宋体" pitchFamily="2" charset="-122"/>
        </a:defRPr>
      </a:lvl5pPr>
      <a:lvl6pPr marL="4572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6pPr>
      <a:lvl7pPr marL="9144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7pPr>
      <a:lvl8pPr marL="13716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8pPr>
      <a:lvl9pPr marL="1828800" algn="l" defTabSz="1028700" rtl="0" eaLnBrk="1" fontAlgn="base" hangingPunct="1">
        <a:lnSpc>
          <a:spcPct val="90000"/>
        </a:lnSpc>
        <a:spcBef>
          <a:spcPct val="0"/>
        </a:spcBef>
        <a:spcAft>
          <a:spcPct val="0"/>
        </a:spcAft>
        <a:defRPr sz="5000">
          <a:solidFill>
            <a:schemeClr val="tx1"/>
          </a:solidFill>
          <a:latin typeface="Calibri Light"/>
          <a:ea typeface="宋体" pitchFamily="2" charset="-122"/>
        </a:defRPr>
      </a:lvl9pPr>
    </p:titleStyle>
    <p:bodyStyle>
      <a:lvl1pPr marL="257175" indent="-257175" algn="l" defTabSz="1028700" rtl="0" fontAlgn="base">
        <a:lnSpc>
          <a:spcPct val="90000"/>
        </a:lnSpc>
        <a:spcBef>
          <a:spcPts val="1125"/>
        </a:spcBef>
        <a:spcAft>
          <a:spcPct val="0"/>
        </a:spcAft>
        <a:buFont typeface="Arial" pitchFamily="34" charset="0"/>
        <a:buChar char="•"/>
        <a:defRPr sz="3200" kern="1200">
          <a:solidFill>
            <a:schemeClr val="tx1"/>
          </a:solidFill>
          <a:latin typeface="+mn-lt"/>
          <a:ea typeface="+mn-ea"/>
          <a:cs typeface="+mn-cs"/>
        </a:defRPr>
      </a:lvl1pPr>
      <a:lvl2pPr marL="771525" indent="-257175" algn="l" defTabSz="1028700" rtl="0" fontAlgn="base">
        <a:lnSpc>
          <a:spcPct val="90000"/>
        </a:lnSpc>
        <a:spcBef>
          <a:spcPts val="563"/>
        </a:spcBef>
        <a:spcAft>
          <a:spcPct val="0"/>
        </a:spcAft>
        <a:buFont typeface="Arial" pitchFamily="34" charset="0"/>
        <a:buChar char="•"/>
        <a:defRPr sz="2700" kern="1200">
          <a:solidFill>
            <a:schemeClr val="tx1"/>
          </a:solidFill>
          <a:latin typeface="+mn-lt"/>
          <a:ea typeface="+mn-ea"/>
          <a:cs typeface="+mn-cs"/>
        </a:defRPr>
      </a:lvl2pPr>
      <a:lvl3pPr marL="1285875" indent="-257175" algn="l" defTabSz="1028700" rtl="0" fontAlgn="base">
        <a:lnSpc>
          <a:spcPct val="90000"/>
        </a:lnSpc>
        <a:spcBef>
          <a:spcPts val="563"/>
        </a:spcBef>
        <a:spcAft>
          <a:spcPct val="0"/>
        </a:spcAft>
        <a:buFont typeface="Arial" pitchFamily="34" charset="0"/>
        <a:buChar char="•"/>
        <a:defRPr sz="2300" kern="1200">
          <a:solidFill>
            <a:schemeClr val="tx1"/>
          </a:solidFill>
          <a:latin typeface="+mn-lt"/>
          <a:ea typeface="+mn-ea"/>
          <a:cs typeface="+mn-cs"/>
        </a:defRPr>
      </a:lvl3pPr>
      <a:lvl4pPr marL="1800225" indent="-257175" algn="l" defTabSz="1028700" rtl="0" fontAlgn="base">
        <a:lnSpc>
          <a:spcPct val="90000"/>
        </a:lnSpc>
        <a:spcBef>
          <a:spcPts val="563"/>
        </a:spcBef>
        <a:spcAft>
          <a:spcPct val="0"/>
        </a:spcAft>
        <a:buFont typeface="Arial" pitchFamily="34" charset="0"/>
        <a:buChar char="•"/>
        <a:defRPr sz="2000" kern="1200">
          <a:solidFill>
            <a:schemeClr val="tx1"/>
          </a:solidFill>
          <a:latin typeface="+mn-lt"/>
          <a:ea typeface="+mn-ea"/>
          <a:cs typeface="+mn-cs"/>
        </a:defRPr>
      </a:lvl4pPr>
      <a:lvl5pPr marL="2314575" indent="-257175" algn="l" defTabSz="1028700" rtl="0" fontAlgn="base">
        <a:lnSpc>
          <a:spcPct val="90000"/>
        </a:lnSpc>
        <a:spcBef>
          <a:spcPts val="563"/>
        </a:spcBef>
        <a:spcAft>
          <a:spcPct val="0"/>
        </a:spcAft>
        <a:buFont typeface="Arial" pitchFamily="34" charset="0"/>
        <a:buChar char="•"/>
        <a:defRPr sz="2000"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1028700" rtl="0" eaLnBrk="1" latinLnBrk="0" hangingPunct="1">
        <a:defRPr sz="2000" kern="1200">
          <a:solidFill>
            <a:schemeClr val="tx1"/>
          </a:solidFill>
          <a:latin typeface="+mn-lt"/>
          <a:ea typeface="+mn-ea"/>
          <a:cs typeface="+mn-cs"/>
        </a:defRPr>
      </a:lvl1pPr>
      <a:lvl2pPr marL="514350" algn="l" defTabSz="1028700" rtl="0" eaLnBrk="1" latinLnBrk="0" hangingPunct="1">
        <a:defRPr sz="2000" kern="1200">
          <a:solidFill>
            <a:schemeClr val="tx1"/>
          </a:solidFill>
          <a:latin typeface="+mn-lt"/>
          <a:ea typeface="+mn-ea"/>
          <a:cs typeface="+mn-cs"/>
        </a:defRPr>
      </a:lvl2pPr>
      <a:lvl3pPr marL="1028700" algn="l" defTabSz="1028700" rtl="0" eaLnBrk="1" latinLnBrk="0" hangingPunct="1">
        <a:defRPr sz="2000" kern="1200">
          <a:solidFill>
            <a:schemeClr val="tx1"/>
          </a:solidFill>
          <a:latin typeface="+mn-lt"/>
          <a:ea typeface="+mn-ea"/>
          <a:cs typeface="+mn-cs"/>
        </a:defRPr>
      </a:lvl3pPr>
      <a:lvl4pPr marL="1543050" algn="l" defTabSz="1028700" rtl="0" eaLnBrk="1" latinLnBrk="0" hangingPunct="1">
        <a:defRPr sz="2000" kern="1200">
          <a:solidFill>
            <a:schemeClr val="tx1"/>
          </a:solidFill>
          <a:latin typeface="+mn-lt"/>
          <a:ea typeface="+mn-ea"/>
          <a:cs typeface="+mn-cs"/>
        </a:defRPr>
      </a:lvl4pPr>
      <a:lvl5pPr marL="2057400" algn="l" defTabSz="1028700" rtl="0" eaLnBrk="1" latinLnBrk="0" hangingPunct="1">
        <a:defRPr sz="2000" kern="1200">
          <a:solidFill>
            <a:schemeClr val="tx1"/>
          </a:solidFill>
          <a:latin typeface="+mn-lt"/>
          <a:ea typeface="+mn-ea"/>
          <a:cs typeface="+mn-cs"/>
        </a:defRPr>
      </a:lvl5pPr>
      <a:lvl6pPr marL="2571750" algn="l" defTabSz="1028700" rtl="0" eaLnBrk="1" latinLnBrk="0" hangingPunct="1">
        <a:defRPr sz="2000" kern="1200">
          <a:solidFill>
            <a:schemeClr val="tx1"/>
          </a:solidFill>
          <a:latin typeface="+mn-lt"/>
          <a:ea typeface="+mn-ea"/>
          <a:cs typeface="+mn-cs"/>
        </a:defRPr>
      </a:lvl6pPr>
      <a:lvl7pPr marL="3086100" algn="l" defTabSz="1028700" rtl="0" eaLnBrk="1" latinLnBrk="0" hangingPunct="1">
        <a:defRPr sz="2000" kern="1200">
          <a:solidFill>
            <a:schemeClr val="tx1"/>
          </a:solidFill>
          <a:latin typeface="+mn-lt"/>
          <a:ea typeface="+mn-ea"/>
          <a:cs typeface="+mn-cs"/>
        </a:defRPr>
      </a:lvl7pPr>
      <a:lvl8pPr marL="3600450" algn="l" defTabSz="1028700" rtl="0" eaLnBrk="1" latinLnBrk="0" hangingPunct="1">
        <a:defRPr sz="2000" kern="1200">
          <a:solidFill>
            <a:schemeClr val="tx1"/>
          </a:solidFill>
          <a:latin typeface="+mn-lt"/>
          <a:ea typeface="+mn-ea"/>
          <a:cs typeface="+mn-cs"/>
        </a:defRPr>
      </a:lvl8pPr>
      <a:lvl9pPr marL="4114800" algn="l" defTabSz="1028700"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6.png"/><Relationship Id="rId4"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oleObject" Target="../embeddings/oleObject5.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oleObject" Target="../embeddings/oleObject8.bin"/><Relationship Id="rId4" Type="http://schemas.openxmlformats.org/officeDocument/2006/relationships/oleObject" Target="../embeddings/oleObject7.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7.xml"/><Relationship Id="rId1" Type="http://schemas.openxmlformats.org/officeDocument/2006/relationships/vmlDrawing" Target="../drawings/vmlDrawing5.v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xmlns="" id="{71B2A563-AC54-5347-B843-4478DF223CDE}"/>
              </a:ext>
            </a:extLst>
          </p:cNvPr>
          <p:cNvSpPr/>
          <p:nvPr/>
        </p:nvSpPr>
        <p:spPr>
          <a:xfrm>
            <a:off x="1053348" y="2672562"/>
            <a:ext cx="2686050" cy="11781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7200" b="1" dirty="0">
                <a:solidFill>
                  <a:srgbClr val="0066FF"/>
                </a:solidFill>
                <a:latin typeface="Microsoft YaHei" panose="020B0503020204020204" pitchFamily="34" charset="-122"/>
                <a:ea typeface="Microsoft YaHei" panose="020B0503020204020204" pitchFamily="34" charset="-122"/>
              </a:rPr>
              <a:t>第</a:t>
            </a:r>
            <a:r>
              <a:rPr kumimoji="1" lang="en-US" altLang="zh-CN" sz="7200" b="1" dirty="0">
                <a:solidFill>
                  <a:srgbClr val="0066FF"/>
                </a:solidFill>
                <a:latin typeface="Microsoft YaHei" panose="020B0503020204020204" pitchFamily="34" charset="-122"/>
                <a:ea typeface="Microsoft YaHei" panose="020B0503020204020204" pitchFamily="34" charset="-122"/>
              </a:rPr>
              <a:t>8</a:t>
            </a:r>
            <a:r>
              <a:rPr kumimoji="1" lang="zh-CN" altLang="en-US" sz="7200" b="1" dirty="0">
                <a:solidFill>
                  <a:srgbClr val="0066FF"/>
                </a:solidFill>
                <a:latin typeface="Microsoft YaHei" panose="020B0503020204020204" pitchFamily="34" charset="-122"/>
                <a:ea typeface="Microsoft YaHei" panose="020B0503020204020204" pitchFamily="34" charset="-122"/>
              </a:rPr>
              <a:t>章</a:t>
            </a:r>
          </a:p>
        </p:txBody>
      </p:sp>
      <p:sp>
        <p:nvSpPr>
          <p:cNvPr id="3" name="矩形 2"/>
          <p:cNvSpPr/>
          <p:nvPr/>
        </p:nvSpPr>
        <p:spPr>
          <a:xfrm>
            <a:off x="1460180" y="1793603"/>
            <a:ext cx="1723550" cy="553998"/>
          </a:xfrm>
          <a:prstGeom prst="rect">
            <a:avLst/>
          </a:prstGeom>
          <a:noFill/>
        </p:spPr>
        <p:txBody>
          <a:bodyPr wrap="none" lIns="91440" tIns="45720" rIns="91440" bIns="45720">
            <a:spAutoFit/>
          </a:bodyPr>
          <a:lstStyle/>
          <a:p>
            <a:pPr algn="ctr"/>
            <a:r>
              <a:rPr lang="zh-CN" altLang="en-US" sz="3000" dirty="0">
                <a:latin typeface="Microsoft Yi Baiti" panose="03000500000000000000" pitchFamily="66" charset="0"/>
                <a:ea typeface="冬青黑体简体中文 W6" panose="020B0600000000000000" pitchFamily="34" charset="-122"/>
                <a:cs typeface="阿里巴巴普惠体 M" panose="00020600040101010101" pitchFamily="18" charset="-122"/>
              </a:rPr>
              <a:t>光电技术</a:t>
            </a:r>
            <a:endParaRPr lang="en-US" altLang="zh-CN" sz="3000" dirty="0">
              <a:latin typeface="Microsoft Yi Baiti" panose="03000500000000000000" pitchFamily="66" charset="0"/>
              <a:ea typeface="Microsoft Yi Baiti" panose="03000500000000000000" pitchFamily="66" charset="0"/>
              <a:cs typeface="阿里巴巴普惠体 M" panose="00020600040101010101" pitchFamily="18" charset="-122"/>
            </a:endParaRPr>
          </a:p>
        </p:txBody>
      </p:sp>
      <p:sp>
        <p:nvSpPr>
          <p:cNvPr id="4" name="矩形 3">
            <a:extLst>
              <a:ext uri="{FF2B5EF4-FFF2-40B4-BE49-F238E27FC236}">
                <a16:creationId xmlns:a16="http://schemas.microsoft.com/office/drawing/2014/main" xmlns="" id="{5441AE38-A11D-4793-BDA3-DCA36976B496}"/>
              </a:ext>
            </a:extLst>
          </p:cNvPr>
          <p:cNvSpPr/>
          <p:nvPr/>
        </p:nvSpPr>
        <p:spPr>
          <a:xfrm>
            <a:off x="3998268" y="2700290"/>
            <a:ext cx="5721052" cy="112265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7200" b="1" dirty="0">
                <a:gradFill>
                  <a:gsLst>
                    <a:gs pos="0">
                      <a:srgbClr val="0066FF"/>
                    </a:gs>
                    <a:gs pos="100000">
                      <a:schemeClr val="accent1">
                        <a:lumMod val="100000"/>
                      </a:schemeClr>
                    </a:gs>
                  </a:gsLst>
                  <a:lin ang="0" scaled="0"/>
                </a:gradFill>
                <a:latin typeface="Microsoft YaHei" panose="020B0503020204020204" pitchFamily="34" charset="-122"/>
                <a:ea typeface="Microsoft YaHei" panose="020B0503020204020204" pitchFamily="34" charset="-122"/>
              </a:rPr>
              <a:t>光学信息变换</a:t>
            </a:r>
          </a:p>
        </p:txBody>
      </p:sp>
      <p:sp>
        <p:nvSpPr>
          <p:cNvPr id="5" name="矩形 4">
            <a:extLst>
              <a:ext uri="{FF2B5EF4-FFF2-40B4-BE49-F238E27FC236}">
                <a16:creationId xmlns:a16="http://schemas.microsoft.com/office/drawing/2014/main" xmlns="" id="{B4AF438E-361B-42EE-9E70-DDB98227F7D7}"/>
              </a:ext>
            </a:extLst>
          </p:cNvPr>
          <p:cNvSpPr/>
          <p:nvPr/>
        </p:nvSpPr>
        <p:spPr>
          <a:xfrm>
            <a:off x="3190512" y="1836129"/>
            <a:ext cx="1238613" cy="477054"/>
          </a:xfrm>
          <a:prstGeom prst="rect">
            <a:avLst/>
          </a:prstGeom>
          <a:noFill/>
        </p:spPr>
        <p:txBody>
          <a:bodyPr wrap="square" lIns="91440" tIns="45720" rIns="91440" bIns="45720">
            <a:spAutoFit/>
          </a:bodyPr>
          <a:lstStyle/>
          <a:p>
            <a:pPr>
              <a:lnSpc>
                <a:spcPts val="1500"/>
              </a:lnSpc>
            </a:pPr>
            <a:r>
              <a:rPr lang="en-US" altLang="zh-CN" sz="1200" b="1" spc="40" dirty="0">
                <a:latin typeface="Times New Roman" panose="02020603050405020304" pitchFamily="18" charset="0"/>
                <a:ea typeface="Yu Gothic UI" panose="020B0500000000000000" pitchFamily="34" charset="-128"/>
                <a:cs typeface="Times New Roman" panose="02020603050405020304" pitchFamily="18" charset="0"/>
              </a:rPr>
              <a:t>Photoelectric</a:t>
            </a:r>
          </a:p>
          <a:p>
            <a:pPr>
              <a:lnSpc>
                <a:spcPts val="1500"/>
              </a:lnSpc>
            </a:pPr>
            <a:r>
              <a:rPr lang="en-US" altLang="zh-CN" sz="1200" b="1" spc="40" dirty="0">
                <a:latin typeface="Times New Roman" panose="02020603050405020304" pitchFamily="18" charset="0"/>
                <a:ea typeface="Yu Gothic UI" panose="020B0500000000000000" pitchFamily="34" charset="-128"/>
                <a:cs typeface="Times New Roman" panose="02020603050405020304" pitchFamily="18" charset="0"/>
              </a:rPr>
              <a:t>Technology</a:t>
            </a:r>
            <a:endParaRPr lang="zh-CN" altLang="en-US" sz="1200" b="1" spc="40" dirty="0">
              <a:ln w="22225">
                <a:solidFill>
                  <a:schemeClr val="accent2"/>
                </a:solidFill>
                <a:prstDash val="solid"/>
              </a:ln>
              <a:latin typeface="Times New Roman" panose="02020603050405020304" pitchFamily="18" charset="0"/>
              <a:ea typeface="Yu Gothic UI" panose="020B0500000000000000" pitchFamily="34" charset="-128"/>
              <a:cs typeface="Times New Roman" panose="02020603050405020304" pitchFamily="18" charset="0"/>
            </a:endParaRPr>
          </a:p>
        </p:txBody>
      </p:sp>
      <p:cxnSp>
        <p:nvCxnSpPr>
          <p:cNvPr id="6" name="直接连接符 58">
            <a:extLst>
              <a:ext uri="{FF2B5EF4-FFF2-40B4-BE49-F238E27FC236}">
                <a16:creationId xmlns:a16="http://schemas.microsoft.com/office/drawing/2014/main" xmlns="" id="{19E605B0-7A69-4DF3-BD2D-6C50DF5A8F84}"/>
              </a:ext>
            </a:extLst>
          </p:cNvPr>
          <p:cNvCxnSpPr>
            <a:cxnSpLocks/>
          </p:cNvCxnSpPr>
          <p:nvPr/>
        </p:nvCxnSpPr>
        <p:spPr>
          <a:xfrm>
            <a:off x="1209675" y="4175630"/>
            <a:ext cx="4795114" cy="11690"/>
          </a:xfrm>
          <a:prstGeom prst="line">
            <a:avLst/>
          </a:prstGeom>
          <a:ln w="9525">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xmlns="" id="{1C44C9C7-7166-4DA9-8A1A-D2BB836F3F54}"/>
              </a:ext>
            </a:extLst>
          </p:cNvPr>
          <p:cNvSpPr/>
          <p:nvPr/>
        </p:nvSpPr>
        <p:spPr>
          <a:xfrm>
            <a:off x="1143000" y="4512279"/>
            <a:ext cx="6114161" cy="461665"/>
          </a:xfrm>
          <a:prstGeom prst="rect">
            <a:avLst/>
          </a:prstGeom>
          <a:noFill/>
        </p:spPr>
        <p:txBody>
          <a:bodyPr wrap="square" lIns="91440" tIns="45720" rIns="91440" bIns="45720">
            <a:spAutoFit/>
          </a:bodyPr>
          <a:lstStyle/>
          <a:p>
            <a:r>
              <a:rPr lang="en-US" altLang="zh-CN" sz="2400" dirty="0">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rPr>
              <a:t>Optical Information Transformation</a:t>
            </a:r>
            <a:endParaRPr lang="zh-CN" altLang="en-US" sz="2400" dirty="0">
              <a:ln w="22225">
                <a:solidFill>
                  <a:schemeClr val="accent2"/>
                </a:solidFill>
                <a:prstDash val="solid"/>
              </a:ln>
              <a:solidFill>
                <a:srgbClr val="1271FE"/>
              </a:solidFill>
              <a:latin typeface="冬青黑体简体中文 W3" panose="020B0300000000000000" pitchFamily="34" charset="-122"/>
              <a:ea typeface="冬青黑体简体中文 W3" panose="020B0300000000000000" pitchFamily="34" charset="-122"/>
              <a:cs typeface="Times New Roman" panose="02020603050405020304" pitchFamily="18" charset="0"/>
            </a:endParaRPr>
          </a:p>
        </p:txBody>
      </p:sp>
      <p:sp>
        <p:nvSpPr>
          <p:cNvPr id="8" name="矩形 7">
            <a:extLst>
              <a:ext uri="{FF2B5EF4-FFF2-40B4-BE49-F238E27FC236}">
                <a16:creationId xmlns:a16="http://schemas.microsoft.com/office/drawing/2014/main" xmlns="" id="{AE184DEE-FEA5-431F-856D-B2DD56F698B6}"/>
              </a:ext>
            </a:extLst>
          </p:cNvPr>
          <p:cNvSpPr/>
          <p:nvPr/>
        </p:nvSpPr>
        <p:spPr>
          <a:xfrm>
            <a:off x="1209675" y="1869039"/>
            <a:ext cx="167523" cy="403125"/>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60">
            <a:extLst>
              <a:ext uri="{FF2B5EF4-FFF2-40B4-BE49-F238E27FC236}">
                <a16:creationId xmlns:a16="http://schemas.microsoft.com/office/drawing/2014/main" xmlns="" id="{791D85D7-F412-9C48-9F2B-E33F5B7B4F3C}"/>
              </a:ext>
            </a:extLst>
          </p:cNvPr>
          <p:cNvSpPr txBox="1"/>
          <p:nvPr/>
        </p:nvSpPr>
        <p:spPr>
          <a:xfrm>
            <a:off x="1364781" y="293282"/>
            <a:ext cx="3196132" cy="369332"/>
          </a:xfrm>
          <a:prstGeom prst="rect">
            <a:avLst/>
          </a:prstGeom>
          <a:noFill/>
          <a:ln w="9525">
            <a:noFill/>
          </a:ln>
        </p:spPr>
        <p:txBody>
          <a:bodyPr wrap="square">
            <a:spAutoFit/>
          </a:bodyPr>
          <a:lstStyle/>
          <a:p>
            <a:r>
              <a:rPr lang="zh-CN" altLang="en-US" sz="1800" b="1" dirty="0">
                <a:latin typeface="微软雅黑" panose="020B0503020204020204" pitchFamily="34" charset="-122"/>
                <a:ea typeface="微软雅黑" panose="020B0503020204020204" pitchFamily="34" charset="-122"/>
              </a:rPr>
              <a:t>几何光学方法的光学信息变换</a:t>
            </a:r>
          </a:p>
        </p:txBody>
      </p:sp>
      <p:sp>
        <p:nvSpPr>
          <p:cNvPr id="19" name="矩形: 圆角 18">
            <a:extLst>
              <a:ext uri="{FF2B5EF4-FFF2-40B4-BE49-F238E27FC236}">
                <a16:creationId xmlns:a16="http://schemas.microsoft.com/office/drawing/2014/main" xmlns="" id="{71B2A563-AC54-5347-B843-4478DF223CDE}"/>
              </a:ext>
            </a:extLst>
          </p:cNvPr>
          <p:cNvSpPr/>
          <p:nvPr/>
        </p:nvSpPr>
        <p:spPr>
          <a:xfrm>
            <a:off x="3642999" y="3397018"/>
            <a:ext cx="7991475" cy="1110985"/>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400" b="1" dirty="0">
                <a:solidFill>
                  <a:schemeClr val="bg1"/>
                </a:solidFill>
                <a:latin typeface="Microsoft YaHei" panose="020B0503020204020204" pitchFamily="34" charset="-122"/>
                <a:ea typeface="Microsoft YaHei" panose="020B0503020204020204" pitchFamily="34" charset="-122"/>
              </a:rPr>
              <a:t>几何光学方法的光学信息变换</a:t>
            </a:r>
          </a:p>
        </p:txBody>
      </p:sp>
      <p:sp>
        <p:nvSpPr>
          <p:cNvPr id="20" name="矩形 19"/>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4" name="矩形 23">
            <a:extLst>
              <a:ext uri="{FF2B5EF4-FFF2-40B4-BE49-F238E27FC236}">
                <a16:creationId xmlns:a16="http://schemas.microsoft.com/office/drawing/2014/main" xmlns="" id="{045D4FB5-3BA7-4366-9C2A-762F1105D91A}"/>
              </a:ext>
            </a:extLst>
          </p:cNvPr>
          <p:cNvSpPr/>
          <p:nvPr/>
        </p:nvSpPr>
        <p:spPr>
          <a:xfrm>
            <a:off x="1546631" y="3333750"/>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8.1</a:t>
            </a:r>
            <a:endParaRPr kumimoji="1" lang="zh-CN" altLang="en-US" sz="66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25" name="矩形 2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a16="http://schemas.microsoft.com/office/drawing/2014/main" xmlns="" id="{D7400AB1-4BEC-40E5-A53B-E3CB1F48EB8A}"/>
              </a:ext>
            </a:extLst>
          </p:cNvPr>
          <p:cNvSpPr/>
          <p:nvPr/>
        </p:nvSpPr>
        <p:spPr>
          <a:xfrm>
            <a:off x="432517" y="293282"/>
            <a:ext cx="852107"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3"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450506" y="695281"/>
            <a:ext cx="2999293" cy="15717"/>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0" name="矩形 3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3" name="矩形 12">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8">
            <a:extLst>
              <a:ext uri="{FF2B5EF4-FFF2-40B4-BE49-F238E27FC236}">
                <a16:creationId xmlns:a16="http://schemas.microsoft.com/office/drawing/2014/main" xmlns="" id="{71B2A563-AC54-5347-B843-4478DF223CDE}"/>
              </a:ext>
            </a:extLst>
          </p:cNvPr>
          <p:cNvSpPr/>
          <p:nvPr/>
        </p:nvSpPr>
        <p:spPr>
          <a:xfrm>
            <a:off x="5070624" y="3476625"/>
            <a:ext cx="4462149" cy="850403"/>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smtClean="0">
                <a:solidFill>
                  <a:schemeClr val="bg1"/>
                </a:solidFill>
                <a:latin typeface="Microsoft YaHei" panose="020B0503020204020204" pitchFamily="34" charset="-122"/>
                <a:ea typeface="Microsoft YaHei" panose="020B0503020204020204" pitchFamily="34" charset="-122"/>
              </a:rPr>
              <a:t>光学</a:t>
            </a:r>
            <a:r>
              <a:rPr kumimoji="1" lang="zh-CN" altLang="en-US" sz="4000" b="1" dirty="0">
                <a:solidFill>
                  <a:schemeClr val="bg1"/>
                </a:solidFill>
                <a:latin typeface="Microsoft YaHei" panose="020B0503020204020204" pitchFamily="34" charset="-122"/>
                <a:ea typeface="Microsoft YaHei" panose="020B0503020204020204" pitchFamily="34" charset="-122"/>
              </a:rPr>
              <a:t>信息变换</a:t>
            </a:r>
          </a:p>
        </p:txBody>
      </p:sp>
      <p:sp>
        <p:nvSpPr>
          <p:cNvPr id="13" name="文本框 60">
            <a:extLst>
              <a:ext uri="{FF2B5EF4-FFF2-40B4-BE49-F238E27FC236}">
                <a16:creationId xmlns:a16="http://schemas.microsoft.com/office/drawing/2014/main" xmlns="" id="{791D85D7-F412-9C48-9F2B-E33F5B7B4F3C}"/>
              </a:ext>
            </a:extLst>
          </p:cNvPr>
          <p:cNvSpPr txBox="1"/>
          <p:nvPr/>
        </p:nvSpPr>
        <p:spPr>
          <a:xfrm>
            <a:off x="1545506" y="329189"/>
            <a:ext cx="1611117"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光学</a:t>
            </a:r>
            <a:r>
              <a:rPr lang="zh-CN" altLang="en-US" sz="1800" b="1" dirty="0">
                <a:latin typeface="微软雅黑" panose="020B0503020204020204" pitchFamily="34" charset="-122"/>
                <a:ea typeface="微软雅黑" panose="020B0503020204020204" pitchFamily="34" charset="-122"/>
              </a:rPr>
              <a:t>信息变换</a:t>
            </a:r>
          </a:p>
        </p:txBody>
      </p:sp>
      <p:sp>
        <p:nvSpPr>
          <p:cNvPr id="15" name="矩形 14"/>
          <p:cNvSpPr/>
          <p:nvPr/>
        </p:nvSpPr>
        <p:spPr>
          <a:xfrm>
            <a:off x="10196186" y="329189"/>
            <a:ext cx="1271415"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6" name="矩形 15">
            <a:extLst>
              <a:ext uri="{FF2B5EF4-FFF2-40B4-BE49-F238E27FC236}">
                <a16:creationId xmlns:a16="http://schemas.microsoft.com/office/drawing/2014/main" xmlns="" id="{045D4FB5-3BA7-4366-9C2A-762F1105D91A}"/>
              </a:ext>
            </a:extLst>
          </p:cNvPr>
          <p:cNvSpPr/>
          <p:nvPr/>
        </p:nvSpPr>
        <p:spPr>
          <a:xfrm>
            <a:off x="2860247" y="3283064"/>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smtClean="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8.1.1</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17" name="矩形 16">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9"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1577704"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1" name="矩形 20">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xmlns="" val="42309420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圆角矩形 32"/>
          <p:cNvSpPr/>
          <p:nvPr/>
        </p:nvSpPr>
        <p:spPr>
          <a:xfrm>
            <a:off x="8190885" y="3970086"/>
            <a:ext cx="2514600" cy="1990854"/>
          </a:xfrm>
          <a:prstGeom prst="roundRect">
            <a:avLst/>
          </a:prstGeom>
          <a:solidFill>
            <a:schemeClr val="accent2">
              <a:lumMod val="20000"/>
              <a:lumOff val="8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a:off x="3260978" y="4009767"/>
            <a:ext cx="2514600" cy="1990854"/>
          </a:xfrm>
          <a:prstGeom prst="roundRect">
            <a:avLst/>
          </a:prstGeom>
          <a:solidFill>
            <a:schemeClr val="accent2">
              <a:lumMod val="20000"/>
              <a:lumOff val="8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17"/>
          <p:cNvSpPr/>
          <p:nvPr/>
        </p:nvSpPr>
        <p:spPr>
          <a:xfrm>
            <a:off x="3466126" y="2285356"/>
            <a:ext cx="6734175" cy="711150"/>
          </a:xfrm>
          <a:prstGeom prst="roundRect">
            <a:avLst/>
          </a:prstGeom>
          <a:solidFill>
            <a:schemeClr val="accent6">
              <a:lumMod val="20000"/>
              <a:lumOff val="80000"/>
            </a:schemeClr>
          </a:solidFill>
          <a:ln w="19050">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角矩形 30"/>
          <p:cNvSpPr/>
          <p:nvPr/>
        </p:nvSpPr>
        <p:spPr>
          <a:xfrm>
            <a:off x="4322151" y="6383338"/>
            <a:ext cx="5116932" cy="715033"/>
          </a:xfrm>
          <a:prstGeom prst="roundRect">
            <a:avLst/>
          </a:prstGeom>
          <a:solidFill>
            <a:schemeClr val="accent1">
              <a:lumMod val="20000"/>
              <a:lumOff val="80000"/>
            </a:schemeClr>
          </a:solidFill>
          <a:ln w="1905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圆角矩形 29"/>
          <p:cNvSpPr/>
          <p:nvPr/>
        </p:nvSpPr>
        <p:spPr>
          <a:xfrm>
            <a:off x="6592380" y="3240567"/>
            <a:ext cx="666750" cy="267765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Rectangle 10"/>
          <p:cNvSpPr>
            <a:spLocks noChangeArrowheads="1"/>
          </p:cNvSpPr>
          <p:nvPr/>
        </p:nvSpPr>
        <p:spPr bwMode="auto">
          <a:xfrm>
            <a:off x="4631510" y="6434767"/>
            <a:ext cx="1332320" cy="553998"/>
          </a:xfrm>
          <a:prstGeom prst="rect">
            <a:avLst/>
          </a:prstGeom>
          <a:solidFill>
            <a:schemeClr val="accent1">
              <a:lumMod val="20000"/>
              <a:lumOff val="80000"/>
            </a:schemeClr>
          </a:solidFill>
          <a:ln w="9525">
            <a:noFill/>
            <a:miter lim="800000"/>
            <a:headEnd/>
            <a:tailEnd/>
          </a:ln>
        </p:spPr>
        <p:txBody>
          <a:bodyPr wrap="square" lIns="0" tIns="0" rIns="0" bIns="0" anchor="ctr">
            <a:spAutoFit/>
          </a:bodyPr>
          <a:lstStyle/>
          <a:p>
            <a:pPr algn="ctr" defTabSz="914400" eaLnBrk="0" hangingPunct="0">
              <a:lnSpc>
                <a:spcPct val="150000"/>
              </a:lnSpc>
            </a:pPr>
            <a:r>
              <a:rPr lang="zh-CN" altLang="en-US" sz="2400" b="1" dirty="0" smtClean="0">
                <a:solidFill>
                  <a:srgbClr val="0000FF"/>
                </a:solidFill>
                <a:latin typeface="微软雅黑" pitchFamily="34" charset="-122"/>
                <a:ea typeface="微软雅黑" pitchFamily="34" charset="-122"/>
              </a:rPr>
              <a:t>几何光学</a:t>
            </a:r>
            <a:endParaRPr lang="zh-CN" altLang="en-US" sz="2400" b="1" dirty="0">
              <a:latin typeface="微软雅黑" pitchFamily="34" charset="-122"/>
              <a:ea typeface="微软雅黑" pitchFamily="34" charset="-122"/>
            </a:endParaRPr>
          </a:p>
        </p:txBody>
      </p:sp>
      <p:sp>
        <p:nvSpPr>
          <p:cNvPr id="13" name="文本框 12"/>
          <p:cNvSpPr txBox="1"/>
          <p:nvPr/>
        </p:nvSpPr>
        <p:spPr>
          <a:xfrm>
            <a:off x="5503989" y="1026684"/>
            <a:ext cx="2428875" cy="523220"/>
          </a:xfrm>
          <a:prstGeom prst="rect">
            <a:avLst/>
          </a:prstGeom>
          <a:solidFill>
            <a:schemeClr val="accent2">
              <a:lumMod val="40000"/>
              <a:lumOff val="60000"/>
            </a:schemeClr>
          </a:solidFill>
        </p:spPr>
        <p:txBody>
          <a:bodyPr wrap="square" rtlCol="0">
            <a:spAutoFit/>
          </a:bodyPr>
          <a:lstStyle/>
          <a:p>
            <a:pPr algn="ctr"/>
            <a:r>
              <a:rPr lang="zh-CN" altLang="en-US" sz="2800" b="1" dirty="0" smtClean="0">
                <a:latin typeface="微软雅黑" panose="020B0503020204020204" pitchFamily="34" charset="-122"/>
                <a:ea typeface="微软雅黑" panose="020B0503020204020204" pitchFamily="34" charset="-122"/>
              </a:rPr>
              <a:t>光电信息系统</a:t>
            </a:r>
            <a:endParaRPr lang="zh-CN" altLang="en-US" sz="2800" b="1" dirty="0">
              <a:latin typeface="微软雅黑" panose="020B0503020204020204" pitchFamily="34" charset="-122"/>
              <a:ea typeface="微软雅黑" panose="020B0503020204020204" pitchFamily="34" charset="-122"/>
            </a:endParaRPr>
          </a:p>
        </p:txBody>
      </p:sp>
      <p:sp>
        <p:nvSpPr>
          <p:cNvPr id="14" name="文本框 13"/>
          <p:cNvSpPr txBox="1"/>
          <p:nvPr/>
        </p:nvSpPr>
        <p:spPr>
          <a:xfrm>
            <a:off x="3589707" y="2425222"/>
            <a:ext cx="1464888" cy="461665"/>
          </a:xfrm>
          <a:prstGeom prst="rect">
            <a:avLst/>
          </a:prstGeom>
          <a:solidFill>
            <a:schemeClr val="accent6">
              <a:lumMod val="20000"/>
              <a:lumOff val="80000"/>
            </a:schemeClr>
          </a:solidFill>
        </p:spPr>
        <p:txBody>
          <a:bodyPr wrap="square" rtlCol="0">
            <a:spAutoFit/>
          </a:bodyPr>
          <a:lstStyle/>
          <a:p>
            <a:pPr algn="ctr"/>
            <a:r>
              <a:rPr lang="zh-CN" altLang="en-US" sz="2400" b="1" dirty="0" smtClean="0">
                <a:latin typeface="微软雅黑" panose="020B0503020204020204" pitchFamily="34" charset="-122"/>
                <a:ea typeface="微软雅黑" panose="020B0503020204020204" pitchFamily="34" charset="-122"/>
              </a:rPr>
              <a:t>信号产生</a:t>
            </a:r>
            <a:endParaRPr lang="zh-CN" altLang="en-US" sz="2400" b="1" dirty="0">
              <a:latin typeface="微软雅黑" panose="020B0503020204020204" pitchFamily="34" charset="-122"/>
              <a:ea typeface="微软雅黑" panose="020B0503020204020204" pitchFamily="34" charset="-122"/>
            </a:endParaRPr>
          </a:p>
        </p:txBody>
      </p:sp>
      <p:sp>
        <p:nvSpPr>
          <p:cNvPr id="15" name="文本框 14"/>
          <p:cNvSpPr txBox="1"/>
          <p:nvPr/>
        </p:nvSpPr>
        <p:spPr>
          <a:xfrm>
            <a:off x="5250527" y="2385265"/>
            <a:ext cx="1426606" cy="461665"/>
          </a:xfrm>
          <a:prstGeom prst="rect">
            <a:avLst/>
          </a:prstGeom>
          <a:solidFill>
            <a:schemeClr val="accent6">
              <a:lumMod val="20000"/>
              <a:lumOff val="80000"/>
            </a:schemeClr>
          </a:solidFill>
        </p:spPr>
        <p:txBody>
          <a:bodyPr wrap="square" rtlCol="0">
            <a:spAutoFit/>
          </a:bodyPr>
          <a:lstStyle/>
          <a:p>
            <a:pPr algn="ctr"/>
            <a:r>
              <a:rPr lang="zh-CN" altLang="en-US" sz="2400" b="1" dirty="0" smtClean="0">
                <a:latin typeface="微软雅黑" panose="020B0503020204020204" pitchFamily="34" charset="-122"/>
                <a:ea typeface="微软雅黑" panose="020B0503020204020204" pitchFamily="34" charset="-122"/>
              </a:rPr>
              <a:t>信号传输</a:t>
            </a:r>
            <a:endParaRPr lang="zh-CN" altLang="en-US" sz="2400" b="1" dirty="0">
              <a:latin typeface="微软雅黑" panose="020B0503020204020204" pitchFamily="34" charset="-122"/>
              <a:ea typeface="微软雅黑" panose="020B0503020204020204" pitchFamily="34" charset="-122"/>
            </a:endParaRPr>
          </a:p>
        </p:txBody>
      </p:sp>
      <p:sp>
        <p:nvSpPr>
          <p:cNvPr id="16" name="文本框 15"/>
          <p:cNvSpPr txBox="1"/>
          <p:nvPr/>
        </p:nvSpPr>
        <p:spPr>
          <a:xfrm>
            <a:off x="6936886" y="2385266"/>
            <a:ext cx="1465769" cy="461665"/>
          </a:xfrm>
          <a:prstGeom prst="rect">
            <a:avLst/>
          </a:prstGeom>
          <a:solidFill>
            <a:schemeClr val="accent6">
              <a:lumMod val="20000"/>
              <a:lumOff val="80000"/>
            </a:schemeClr>
          </a:solidFill>
        </p:spPr>
        <p:txBody>
          <a:bodyPr wrap="square" rtlCol="0">
            <a:spAutoFit/>
          </a:bodyPr>
          <a:lstStyle/>
          <a:p>
            <a:pPr algn="ctr"/>
            <a:r>
              <a:rPr lang="zh-CN" altLang="en-US" sz="2400" b="1" dirty="0" smtClean="0">
                <a:latin typeface="微软雅黑" panose="020B0503020204020204" pitchFamily="34" charset="-122"/>
                <a:ea typeface="微软雅黑" panose="020B0503020204020204" pitchFamily="34" charset="-122"/>
              </a:rPr>
              <a:t>信号检测</a:t>
            </a:r>
            <a:endParaRPr lang="zh-CN" altLang="en-US" sz="2400" b="1" dirty="0">
              <a:latin typeface="微软雅黑" panose="020B0503020204020204" pitchFamily="34" charset="-122"/>
              <a:ea typeface="微软雅黑" panose="020B0503020204020204" pitchFamily="34" charset="-122"/>
            </a:endParaRPr>
          </a:p>
        </p:txBody>
      </p:sp>
      <p:sp>
        <p:nvSpPr>
          <p:cNvPr id="17" name="文本框 16"/>
          <p:cNvSpPr txBox="1"/>
          <p:nvPr/>
        </p:nvSpPr>
        <p:spPr>
          <a:xfrm>
            <a:off x="8598587" y="2385265"/>
            <a:ext cx="1485901" cy="461665"/>
          </a:xfrm>
          <a:prstGeom prst="rect">
            <a:avLst/>
          </a:prstGeom>
          <a:solidFill>
            <a:schemeClr val="accent6">
              <a:lumMod val="20000"/>
              <a:lumOff val="80000"/>
            </a:schemeClr>
          </a:solidFill>
        </p:spPr>
        <p:txBody>
          <a:bodyPr wrap="square" rtlCol="0">
            <a:spAutoFit/>
          </a:bodyPr>
          <a:lstStyle/>
          <a:p>
            <a:pPr algn="ctr"/>
            <a:r>
              <a:rPr lang="zh-CN" altLang="en-US" sz="2400" b="1" dirty="0" smtClean="0">
                <a:latin typeface="微软雅黑" panose="020B0503020204020204" pitchFamily="34" charset="-122"/>
                <a:ea typeface="微软雅黑" panose="020B0503020204020204" pitchFamily="34" charset="-122"/>
              </a:rPr>
              <a:t>信号处理</a:t>
            </a:r>
            <a:endParaRPr lang="zh-CN" altLang="en-US" sz="2400" b="1" dirty="0">
              <a:latin typeface="微软雅黑" panose="020B0503020204020204" pitchFamily="34" charset="-122"/>
              <a:ea typeface="微软雅黑" panose="020B0503020204020204" pitchFamily="34" charset="-122"/>
            </a:endParaRPr>
          </a:p>
        </p:txBody>
      </p:sp>
      <p:sp>
        <p:nvSpPr>
          <p:cNvPr id="19" name="文本框 18"/>
          <p:cNvSpPr txBox="1"/>
          <p:nvPr/>
        </p:nvSpPr>
        <p:spPr>
          <a:xfrm>
            <a:off x="3487696" y="4168700"/>
            <a:ext cx="2072857" cy="461665"/>
          </a:xfrm>
          <a:prstGeom prst="rect">
            <a:avLst/>
          </a:prstGeom>
          <a:solidFill>
            <a:schemeClr val="accent2">
              <a:lumMod val="20000"/>
              <a:lumOff val="80000"/>
            </a:schemeClr>
          </a:solidFill>
          <a:ln w="19050">
            <a:noFill/>
          </a:ln>
        </p:spPr>
        <p:txBody>
          <a:bodyPr wrap="square" rtlCol="0">
            <a:spAutoFit/>
          </a:bodyPr>
          <a:lstStyle/>
          <a:p>
            <a:pPr algn="ctr"/>
            <a:r>
              <a:rPr lang="zh-CN" altLang="en-US" sz="2400" b="1" dirty="0" smtClean="0">
                <a:latin typeface="微软雅黑" panose="020B0503020204020204" pitchFamily="34" charset="-122"/>
                <a:ea typeface="微软雅黑" panose="020B0503020204020204" pitchFamily="34" charset="-122"/>
              </a:rPr>
              <a:t>一种光学量</a:t>
            </a:r>
            <a:endParaRPr lang="zh-CN" altLang="en-US" sz="2400" b="1"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8402655" y="4176654"/>
            <a:ext cx="2072857" cy="461665"/>
          </a:xfrm>
          <a:prstGeom prst="rect">
            <a:avLst/>
          </a:prstGeom>
          <a:solidFill>
            <a:schemeClr val="accent2">
              <a:lumMod val="20000"/>
              <a:lumOff val="80000"/>
            </a:schemeClr>
          </a:solidFill>
          <a:ln w="19050">
            <a:noFill/>
          </a:ln>
        </p:spPr>
        <p:txBody>
          <a:bodyPr wrap="square" rtlCol="0">
            <a:spAutoFit/>
          </a:bodyPr>
          <a:lstStyle/>
          <a:p>
            <a:pPr algn="ctr"/>
            <a:r>
              <a:rPr lang="zh-CN" altLang="en-US" sz="2400" b="1" dirty="0" smtClean="0">
                <a:latin typeface="微软雅黑" panose="020B0503020204020204" pitchFamily="34" charset="-122"/>
                <a:ea typeface="微软雅黑" panose="020B0503020204020204" pitchFamily="34" charset="-122"/>
              </a:rPr>
              <a:t>另一种光学量</a:t>
            </a:r>
            <a:endParaRPr lang="zh-CN" altLang="en-US" sz="2400" b="1" dirty="0">
              <a:latin typeface="微软雅黑" panose="020B0503020204020204" pitchFamily="34" charset="-122"/>
              <a:ea typeface="微软雅黑" panose="020B0503020204020204" pitchFamily="34" charset="-122"/>
            </a:endParaRPr>
          </a:p>
        </p:txBody>
      </p:sp>
      <p:sp>
        <p:nvSpPr>
          <p:cNvPr id="21" name="文本框 20"/>
          <p:cNvSpPr txBox="1"/>
          <p:nvPr/>
        </p:nvSpPr>
        <p:spPr>
          <a:xfrm>
            <a:off x="3487695" y="4795063"/>
            <a:ext cx="2072857" cy="461665"/>
          </a:xfrm>
          <a:prstGeom prst="rect">
            <a:avLst/>
          </a:prstGeom>
          <a:solidFill>
            <a:schemeClr val="accent2">
              <a:lumMod val="20000"/>
              <a:lumOff val="80000"/>
            </a:schemeClr>
          </a:solidFill>
          <a:ln w="19050">
            <a:noFill/>
          </a:ln>
        </p:spPr>
        <p:txBody>
          <a:bodyPr wrap="square" rtlCol="0">
            <a:spAutoFit/>
          </a:bodyPr>
          <a:lstStyle/>
          <a:p>
            <a:pPr algn="ctr"/>
            <a:r>
              <a:rPr lang="zh-CN" altLang="en-US" sz="2400" b="1" dirty="0" smtClean="0">
                <a:latin typeface="微软雅黑" panose="020B0503020204020204" pitchFamily="34" charset="-122"/>
                <a:ea typeface="微软雅黑" panose="020B0503020204020204" pitchFamily="34" charset="-122"/>
              </a:rPr>
              <a:t>非光学量</a:t>
            </a:r>
            <a:endParaRPr lang="zh-CN" altLang="en-US" sz="2400" b="1" dirty="0">
              <a:latin typeface="微软雅黑" panose="020B0503020204020204" pitchFamily="34" charset="-122"/>
              <a:ea typeface="微软雅黑" panose="020B0503020204020204" pitchFamily="34" charset="-122"/>
            </a:endParaRPr>
          </a:p>
        </p:txBody>
      </p:sp>
      <p:sp>
        <p:nvSpPr>
          <p:cNvPr id="22" name="文本框 21"/>
          <p:cNvSpPr txBox="1"/>
          <p:nvPr/>
        </p:nvSpPr>
        <p:spPr>
          <a:xfrm>
            <a:off x="8402655" y="4798517"/>
            <a:ext cx="2072857" cy="461665"/>
          </a:xfrm>
          <a:prstGeom prst="rect">
            <a:avLst/>
          </a:prstGeom>
          <a:solidFill>
            <a:schemeClr val="accent2">
              <a:lumMod val="20000"/>
              <a:lumOff val="80000"/>
            </a:schemeClr>
          </a:solidFill>
          <a:ln w="19050">
            <a:noFill/>
          </a:ln>
        </p:spPr>
        <p:txBody>
          <a:bodyPr wrap="square" rtlCol="0">
            <a:spAutoFit/>
          </a:bodyPr>
          <a:lstStyle/>
          <a:p>
            <a:pPr algn="ctr"/>
            <a:r>
              <a:rPr lang="zh-CN" altLang="en-US" sz="2400" b="1" dirty="0" smtClean="0">
                <a:latin typeface="微软雅黑" panose="020B0503020204020204" pitchFamily="34" charset="-122"/>
                <a:ea typeface="微软雅黑" panose="020B0503020204020204" pitchFamily="34" charset="-122"/>
              </a:rPr>
              <a:t>光学量</a:t>
            </a:r>
            <a:endParaRPr lang="zh-CN" altLang="en-US" sz="2400" b="1" dirty="0">
              <a:latin typeface="微软雅黑" panose="020B0503020204020204" pitchFamily="34" charset="-122"/>
              <a:ea typeface="微软雅黑" panose="020B0503020204020204" pitchFamily="34" charset="-122"/>
            </a:endParaRPr>
          </a:p>
        </p:txBody>
      </p:sp>
      <p:sp>
        <p:nvSpPr>
          <p:cNvPr id="23" name="文本框 22"/>
          <p:cNvSpPr txBox="1"/>
          <p:nvPr/>
        </p:nvSpPr>
        <p:spPr>
          <a:xfrm>
            <a:off x="3498294" y="5391156"/>
            <a:ext cx="2072857" cy="461665"/>
          </a:xfrm>
          <a:prstGeom prst="rect">
            <a:avLst/>
          </a:prstGeom>
          <a:solidFill>
            <a:schemeClr val="accent2">
              <a:lumMod val="20000"/>
              <a:lumOff val="80000"/>
            </a:schemeClr>
          </a:solidFill>
          <a:ln w="19050">
            <a:noFill/>
          </a:ln>
        </p:spPr>
        <p:txBody>
          <a:bodyPr wrap="square" rtlCol="0">
            <a:spAutoFit/>
          </a:bodyPr>
          <a:lstStyle/>
          <a:p>
            <a:pPr algn="ctr"/>
            <a:r>
              <a:rPr lang="zh-CN" altLang="en-US" sz="2400" b="1" dirty="0" smtClean="0">
                <a:latin typeface="微软雅黑" panose="020B0503020204020204" pitchFamily="34" charset="-122"/>
                <a:ea typeface="微软雅黑" panose="020B0503020204020204" pitchFamily="34" charset="-122"/>
              </a:rPr>
              <a:t>连续光学量</a:t>
            </a:r>
            <a:endParaRPr lang="zh-CN" altLang="en-US" sz="2400" b="1" dirty="0">
              <a:latin typeface="微软雅黑" panose="020B0503020204020204" pitchFamily="34" charset="-122"/>
              <a:ea typeface="微软雅黑" panose="020B0503020204020204" pitchFamily="34" charset="-122"/>
            </a:endParaRPr>
          </a:p>
        </p:txBody>
      </p:sp>
      <p:sp>
        <p:nvSpPr>
          <p:cNvPr id="24" name="文本框 23"/>
          <p:cNvSpPr txBox="1"/>
          <p:nvPr/>
        </p:nvSpPr>
        <p:spPr>
          <a:xfrm>
            <a:off x="8402655" y="5387544"/>
            <a:ext cx="2072857" cy="461665"/>
          </a:xfrm>
          <a:prstGeom prst="rect">
            <a:avLst/>
          </a:prstGeom>
          <a:solidFill>
            <a:schemeClr val="accent2">
              <a:lumMod val="20000"/>
              <a:lumOff val="80000"/>
            </a:schemeClr>
          </a:solidFill>
          <a:ln w="19050">
            <a:noFill/>
          </a:ln>
        </p:spPr>
        <p:txBody>
          <a:bodyPr wrap="square" rtlCol="0">
            <a:spAutoFit/>
          </a:bodyPr>
          <a:lstStyle/>
          <a:p>
            <a:pPr algn="ctr"/>
            <a:r>
              <a:rPr lang="zh-CN" altLang="en-US" sz="2400" b="1" dirty="0" smtClean="0">
                <a:latin typeface="微软雅黑" panose="020B0503020204020204" pitchFamily="34" charset="-122"/>
                <a:ea typeface="微软雅黑" panose="020B0503020204020204" pitchFamily="34" charset="-122"/>
              </a:rPr>
              <a:t>脉冲光学量</a:t>
            </a:r>
            <a:endParaRPr lang="zh-CN" altLang="en-US" sz="2400" b="1" dirty="0">
              <a:latin typeface="微软雅黑" panose="020B0503020204020204" pitchFamily="34" charset="-122"/>
              <a:ea typeface="微软雅黑" panose="020B0503020204020204" pitchFamily="34" charset="-122"/>
            </a:endParaRPr>
          </a:p>
        </p:txBody>
      </p:sp>
      <p:sp>
        <p:nvSpPr>
          <p:cNvPr id="25" name="Rectangle 10"/>
          <p:cNvSpPr>
            <a:spLocks noChangeArrowheads="1"/>
          </p:cNvSpPr>
          <p:nvPr/>
        </p:nvSpPr>
        <p:spPr bwMode="auto">
          <a:xfrm>
            <a:off x="6292710" y="6481859"/>
            <a:ext cx="1288351" cy="488724"/>
          </a:xfrm>
          <a:prstGeom prst="rect">
            <a:avLst/>
          </a:prstGeom>
          <a:solidFill>
            <a:schemeClr val="accent1">
              <a:lumMod val="20000"/>
              <a:lumOff val="80000"/>
            </a:schemeClr>
          </a:solidFill>
          <a:ln w="9525">
            <a:noFill/>
            <a:miter lim="800000"/>
            <a:headEnd/>
            <a:tailEnd/>
          </a:ln>
        </p:spPr>
        <p:txBody>
          <a:bodyPr wrap="square" lIns="0" tIns="0" rIns="0" bIns="0" anchor="ctr">
            <a:spAutoFit/>
          </a:bodyPr>
          <a:lstStyle/>
          <a:p>
            <a:pPr algn="ctr" defTabSz="914400" eaLnBrk="0" hangingPunct="0">
              <a:lnSpc>
                <a:spcPct val="150000"/>
              </a:lnSpc>
            </a:pPr>
            <a:r>
              <a:rPr lang="zh-CN" altLang="en-US" sz="2400" b="1" dirty="0" smtClean="0">
                <a:solidFill>
                  <a:srgbClr val="0000FF"/>
                </a:solidFill>
                <a:latin typeface="微软雅黑" pitchFamily="34" charset="-122"/>
                <a:ea typeface="微软雅黑" pitchFamily="34" charset="-122"/>
              </a:rPr>
              <a:t>物理光学</a:t>
            </a:r>
            <a:endParaRPr lang="zh-CN" altLang="en-US" sz="2400" b="1" dirty="0">
              <a:latin typeface="微软雅黑" pitchFamily="34" charset="-122"/>
              <a:ea typeface="微软雅黑" pitchFamily="34" charset="-122"/>
            </a:endParaRPr>
          </a:p>
        </p:txBody>
      </p:sp>
      <p:sp>
        <p:nvSpPr>
          <p:cNvPr id="26" name="Rectangle 10"/>
          <p:cNvSpPr>
            <a:spLocks noChangeArrowheads="1"/>
          </p:cNvSpPr>
          <p:nvPr/>
        </p:nvSpPr>
        <p:spPr bwMode="auto">
          <a:xfrm>
            <a:off x="958199" y="2967926"/>
            <a:ext cx="1975502" cy="1107996"/>
          </a:xfrm>
          <a:prstGeom prst="rect">
            <a:avLst/>
          </a:prstGeom>
          <a:solidFill>
            <a:schemeClr val="accent4">
              <a:lumMod val="20000"/>
              <a:lumOff val="80000"/>
            </a:schemeClr>
          </a:solidFill>
          <a:ln w="19050">
            <a:solidFill>
              <a:schemeClr val="accent2">
                <a:lumMod val="60000"/>
                <a:lumOff val="40000"/>
              </a:schemeClr>
            </a:solidFill>
            <a:miter lim="800000"/>
            <a:headEnd/>
            <a:tailEnd/>
          </a:ln>
        </p:spPr>
        <p:txBody>
          <a:bodyPr wrap="square" lIns="0" tIns="0" rIns="0" bIns="0" anchor="ctr">
            <a:spAutoFit/>
          </a:bodyPr>
          <a:lstStyle/>
          <a:p>
            <a:pPr algn="ctr" defTabSz="914400" eaLnBrk="0" hangingPunct="0">
              <a:lnSpc>
                <a:spcPct val="150000"/>
              </a:lnSpc>
            </a:pPr>
            <a:r>
              <a:rPr lang="zh-CN" altLang="en-US" sz="2400" b="1" dirty="0" smtClean="0">
                <a:latin typeface="微软雅黑" pitchFamily="34" charset="-122"/>
                <a:ea typeface="微软雅黑" pitchFamily="34" charset="-122"/>
              </a:rPr>
              <a:t>信号</a:t>
            </a:r>
            <a:endParaRPr lang="en-US" altLang="zh-CN" sz="2400" b="1" dirty="0">
              <a:latin typeface="微软雅黑" pitchFamily="34" charset="-122"/>
              <a:ea typeface="微软雅黑" pitchFamily="34" charset="-122"/>
            </a:endParaRPr>
          </a:p>
          <a:p>
            <a:pPr algn="ctr" defTabSz="914400" eaLnBrk="0" hangingPunct="0">
              <a:lnSpc>
                <a:spcPct val="150000"/>
              </a:lnSpc>
            </a:pPr>
            <a:r>
              <a:rPr lang="zh-CN" altLang="en-US" sz="2400" b="1" dirty="0" smtClean="0">
                <a:latin typeface="微软雅黑" pitchFamily="34" charset="-122"/>
                <a:ea typeface="微软雅黑" pitchFamily="34" charset="-122"/>
              </a:rPr>
              <a:t>组合编码形式</a:t>
            </a:r>
            <a:endParaRPr lang="zh-CN" altLang="en-US" sz="2400" b="1" dirty="0">
              <a:latin typeface="微软雅黑" pitchFamily="34" charset="-122"/>
              <a:ea typeface="微软雅黑" pitchFamily="34" charset="-122"/>
            </a:endParaRPr>
          </a:p>
        </p:txBody>
      </p:sp>
      <p:sp>
        <p:nvSpPr>
          <p:cNvPr id="27" name="Rectangle 10"/>
          <p:cNvSpPr>
            <a:spLocks noChangeArrowheads="1"/>
          </p:cNvSpPr>
          <p:nvPr/>
        </p:nvSpPr>
        <p:spPr bwMode="auto">
          <a:xfrm>
            <a:off x="7792693" y="6448415"/>
            <a:ext cx="1410423" cy="581057"/>
          </a:xfrm>
          <a:prstGeom prst="rect">
            <a:avLst/>
          </a:prstGeom>
          <a:solidFill>
            <a:schemeClr val="accent1">
              <a:lumMod val="20000"/>
              <a:lumOff val="80000"/>
            </a:schemeClr>
          </a:solidFill>
          <a:ln w="9525">
            <a:noFill/>
            <a:miter lim="800000"/>
            <a:headEnd/>
            <a:tailEnd/>
          </a:ln>
        </p:spPr>
        <p:txBody>
          <a:bodyPr wrap="square" anchor="ctr">
            <a:spAutoFit/>
          </a:bodyPr>
          <a:lstStyle/>
          <a:p>
            <a:pPr algn="ctr" defTabSz="914400" eaLnBrk="0" hangingPunct="0">
              <a:lnSpc>
                <a:spcPct val="150000"/>
              </a:lnSpc>
            </a:pPr>
            <a:r>
              <a:rPr lang="zh-CN" altLang="en-US" sz="2400" b="1" dirty="0" smtClean="0">
                <a:solidFill>
                  <a:srgbClr val="0000FF"/>
                </a:solidFill>
                <a:latin typeface="微软雅黑" pitchFamily="34" charset="-122"/>
                <a:ea typeface="微软雅黑" pitchFamily="34" charset="-122"/>
              </a:rPr>
              <a:t>光电子学</a:t>
            </a:r>
            <a:endParaRPr lang="zh-CN" altLang="en-US" sz="2800" b="1" dirty="0">
              <a:latin typeface="微软雅黑" pitchFamily="34" charset="-122"/>
              <a:ea typeface="微软雅黑" pitchFamily="34" charset="-122"/>
            </a:endParaRPr>
          </a:p>
        </p:txBody>
      </p:sp>
      <p:sp>
        <p:nvSpPr>
          <p:cNvPr id="12" name="左大括号 11"/>
          <p:cNvSpPr/>
          <p:nvPr/>
        </p:nvSpPr>
        <p:spPr>
          <a:xfrm rot="5400000">
            <a:off x="6519228" y="-542019"/>
            <a:ext cx="570822" cy="5055828"/>
          </a:xfrm>
          <a:prstGeom prst="leftBrace">
            <a:avLst/>
          </a:prstGeom>
          <a:ln w="317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Rectangle 10"/>
          <p:cNvSpPr>
            <a:spLocks noChangeArrowheads="1"/>
          </p:cNvSpPr>
          <p:nvPr/>
        </p:nvSpPr>
        <p:spPr bwMode="auto">
          <a:xfrm>
            <a:off x="6718426" y="3195407"/>
            <a:ext cx="421576" cy="2677656"/>
          </a:xfrm>
          <a:prstGeom prst="rect">
            <a:avLst/>
          </a:prstGeom>
          <a:noFill/>
          <a:ln w="19050">
            <a:noFill/>
            <a:miter lim="800000"/>
            <a:headEnd/>
            <a:tailEnd/>
          </a:ln>
        </p:spPr>
        <p:txBody>
          <a:bodyPr wrap="square" anchor="ctr">
            <a:spAutoFit/>
          </a:bodyPr>
          <a:lstStyle/>
          <a:p>
            <a:pPr algn="ctr" defTabSz="914400" eaLnBrk="0" hangingPunct="0">
              <a:lnSpc>
                <a:spcPct val="150000"/>
              </a:lnSpc>
            </a:pPr>
            <a:r>
              <a:rPr lang="zh-CN" altLang="en-US" sz="2800" b="1" dirty="0" smtClean="0">
                <a:latin typeface="微软雅黑" pitchFamily="34" charset="-122"/>
                <a:ea typeface="微软雅黑" pitchFamily="34" charset="-122"/>
              </a:rPr>
              <a:t>进行变换</a:t>
            </a:r>
            <a:endParaRPr lang="zh-CN" altLang="en-US" sz="2800" b="1" dirty="0">
              <a:latin typeface="微软雅黑" pitchFamily="34" charset="-122"/>
              <a:ea typeface="微软雅黑" pitchFamily="34" charset="-122"/>
            </a:endParaRPr>
          </a:p>
        </p:txBody>
      </p:sp>
      <p:sp>
        <p:nvSpPr>
          <p:cNvPr id="29" name="Rectangle 10"/>
          <p:cNvSpPr>
            <a:spLocks noChangeArrowheads="1"/>
          </p:cNvSpPr>
          <p:nvPr/>
        </p:nvSpPr>
        <p:spPr bwMode="auto">
          <a:xfrm>
            <a:off x="11132056" y="2911425"/>
            <a:ext cx="952308" cy="1107996"/>
          </a:xfrm>
          <a:prstGeom prst="rect">
            <a:avLst/>
          </a:prstGeom>
          <a:solidFill>
            <a:schemeClr val="accent4">
              <a:lumMod val="20000"/>
              <a:lumOff val="80000"/>
            </a:schemeClr>
          </a:solidFill>
          <a:ln w="19050">
            <a:solidFill>
              <a:schemeClr val="accent2">
                <a:lumMod val="60000"/>
                <a:lumOff val="40000"/>
              </a:schemeClr>
            </a:solidFill>
            <a:miter lim="800000"/>
            <a:headEnd/>
            <a:tailEnd/>
          </a:ln>
        </p:spPr>
        <p:txBody>
          <a:bodyPr wrap="square" lIns="0" tIns="0" rIns="0" bIns="0" anchor="ctr">
            <a:spAutoFit/>
          </a:bodyPr>
          <a:lstStyle/>
          <a:p>
            <a:pPr algn="ctr" defTabSz="914400" eaLnBrk="0" hangingPunct="0">
              <a:lnSpc>
                <a:spcPct val="150000"/>
              </a:lnSpc>
            </a:pPr>
            <a:r>
              <a:rPr lang="zh-CN" altLang="en-US" sz="2400" b="1" dirty="0" smtClean="0">
                <a:latin typeface="微软雅黑" pitchFamily="34" charset="-122"/>
                <a:ea typeface="微软雅黑" pitchFamily="34" charset="-122"/>
              </a:rPr>
              <a:t>能量</a:t>
            </a:r>
            <a:endParaRPr lang="en-US" altLang="zh-CN" sz="2400" b="1" dirty="0" smtClean="0">
              <a:latin typeface="微软雅黑" pitchFamily="34" charset="-122"/>
              <a:ea typeface="微软雅黑" pitchFamily="34" charset="-122"/>
            </a:endParaRPr>
          </a:p>
          <a:p>
            <a:pPr algn="ctr" defTabSz="914400" eaLnBrk="0" hangingPunct="0">
              <a:lnSpc>
                <a:spcPct val="150000"/>
              </a:lnSpc>
            </a:pPr>
            <a:r>
              <a:rPr lang="zh-CN" altLang="en-US" sz="2400" b="1" dirty="0" smtClean="0">
                <a:latin typeface="微软雅黑" pitchFamily="34" charset="-122"/>
                <a:ea typeface="微软雅黑" pitchFamily="34" charset="-122"/>
              </a:rPr>
              <a:t>状态</a:t>
            </a:r>
            <a:endParaRPr lang="zh-CN" altLang="en-US" sz="2400" b="1" dirty="0">
              <a:latin typeface="微软雅黑" pitchFamily="34" charset="-122"/>
              <a:ea typeface="微软雅黑" pitchFamily="34" charset="-122"/>
            </a:endParaRPr>
          </a:p>
        </p:txBody>
      </p:sp>
      <p:sp>
        <p:nvSpPr>
          <p:cNvPr id="34" name="上箭头 33"/>
          <p:cNvSpPr/>
          <p:nvPr/>
        </p:nvSpPr>
        <p:spPr>
          <a:xfrm>
            <a:off x="6531501" y="5960940"/>
            <a:ext cx="810768" cy="344610"/>
          </a:xfrm>
          <a:prstGeom prst="upArrow">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右箭头 34"/>
          <p:cNvSpPr/>
          <p:nvPr/>
        </p:nvSpPr>
        <p:spPr>
          <a:xfrm>
            <a:off x="5870534" y="4674314"/>
            <a:ext cx="590550" cy="602205"/>
          </a:xfrm>
          <a:prstGeom prst="rightArrow">
            <a:avLst/>
          </a:prstGeom>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右箭头 35"/>
          <p:cNvSpPr/>
          <p:nvPr/>
        </p:nvSpPr>
        <p:spPr>
          <a:xfrm>
            <a:off x="7473622" y="4674314"/>
            <a:ext cx="590550" cy="602205"/>
          </a:xfrm>
          <a:prstGeom prst="rightArrow">
            <a:avLst/>
          </a:prstGeom>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60">
            <a:extLst>
              <a:ext uri="{FF2B5EF4-FFF2-40B4-BE49-F238E27FC236}">
                <a16:creationId xmlns:a16="http://schemas.microsoft.com/office/drawing/2014/main" xmlns="" id="{791D85D7-F412-9C48-9F2B-E33F5B7B4F3C}"/>
              </a:ext>
            </a:extLst>
          </p:cNvPr>
          <p:cNvSpPr txBox="1"/>
          <p:nvPr/>
        </p:nvSpPr>
        <p:spPr>
          <a:xfrm>
            <a:off x="1364781" y="293282"/>
            <a:ext cx="1664169"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光学</a:t>
            </a:r>
            <a:r>
              <a:rPr lang="zh-CN" altLang="en-US" sz="1800" b="1" dirty="0">
                <a:latin typeface="微软雅黑" panose="020B0503020204020204" pitchFamily="34" charset="-122"/>
                <a:ea typeface="微软雅黑" panose="020B0503020204020204" pitchFamily="34" charset="-122"/>
              </a:rPr>
              <a:t>信息变换</a:t>
            </a:r>
          </a:p>
        </p:txBody>
      </p:sp>
      <p:sp>
        <p:nvSpPr>
          <p:cNvPr id="38" name="矩形 37"/>
          <p:cNvSpPr/>
          <p:nvPr/>
        </p:nvSpPr>
        <p:spPr>
          <a:xfrm>
            <a:off x="10221238" y="329189"/>
            <a:ext cx="1246363"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39" name="矩形 38">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圆角 25">
            <a:extLst>
              <a:ext uri="{FF2B5EF4-FFF2-40B4-BE49-F238E27FC236}">
                <a16:creationId xmlns:a16="http://schemas.microsoft.com/office/drawing/2014/main" xmlns="" id="{D7400AB1-4BEC-40E5-A53B-E3CB1F48EB8A}"/>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41"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450506" y="704850"/>
            <a:ext cx="1360241" cy="615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42" name="矩形 41">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43" name="矩形 42">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xmlns="" val="4262166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blinds(horizontal)">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blinds(horizontal)">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blinds(horizontal)">
                                      <p:cBhvr>
                                        <p:cTn id="22" dur="5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blinds(horizontal)">
                                      <p:cBhvr>
                                        <p:cTn id="27" dur="500"/>
                                        <p:tgtEl>
                                          <p:spTgt spid="28"/>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blinds(horizontal)">
                                      <p:cBhvr>
                                        <p:cTn id="3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5" grpId="0" animBg="1"/>
      <p:bldP spid="26" grpId="0" animBg="1"/>
      <p:bldP spid="27" grpId="0" animBg="1"/>
      <p:bldP spid="28" grpId="0"/>
      <p:bldP spid="2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2"/>
          <p:cNvSpPr>
            <a:spLocks noChangeArrowheads="1"/>
          </p:cNvSpPr>
          <p:nvPr/>
        </p:nvSpPr>
        <p:spPr bwMode="auto">
          <a:xfrm rot="14120128" flipH="1">
            <a:off x="7319169" y="2897982"/>
            <a:ext cx="1501775" cy="1284287"/>
          </a:xfrm>
          <a:prstGeom prst="triangle">
            <a:avLst>
              <a:gd name="adj" fmla="val 50000"/>
            </a:avLst>
          </a:prstGeom>
          <a:gradFill rotWithShape="1">
            <a:gsLst>
              <a:gs pos="0">
                <a:srgbClr val="A50021"/>
              </a:gs>
              <a:gs pos="100000">
                <a:srgbClr val="FFFF66">
                  <a:alpha val="0"/>
                </a:srgbClr>
              </a:gs>
            </a:gsLst>
            <a:lin ang="540000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vert="eaVert"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3" name="AutoShape 12"/>
          <p:cNvSpPr>
            <a:spLocks noChangeArrowheads="1"/>
          </p:cNvSpPr>
          <p:nvPr/>
        </p:nvSpPr>
        <p:spPr bwMode="auto">
          <a:xfrm rot="7801550" flipH="1">
            <a:off x="5830887" y="2844801"/>
            <a:ext cx="1501775" cy="1282700"/>
          </a:xfrm>
          <a:prstGeom prst="triangle">
            <a:avLst>
              <a:gd name="adj" fmla="val 50000"/>
            </a:avLst>
          </a:prstGeom>
          <a:gradFill rotWithShape="1">
            <a:gsLst>
              <a:gs pos="0">
                <a:srgbClr val="A50021"/>
              </a:gs>
              <a:gs pos="100000">
                <a:srgbClr val="FFFF66">
                  <a:alpha val="0"/>
                </a:srgbClr>
              </a:gs>
            </a:gsLst>
            <a:lin ang="540000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rot="10800000" vert="eaVert"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4" name="AutoShape 12"/>
          <p:cNvSpPr>
            <a:spLocks noChangeArrowheads="1"/>
          </p:cNvSpPr>
          <p:nvPr/>
        </p:nvSpPr>
        <p:spPr bwMode="auto">
          <a:xfrm rot="10993657" flipH="1">
            <a:off x="6580188" y="2563813"/>
            <a:ext cx="1500187" cy="1284287"/>
          </a:xfrm>
          <a:prstGeom prst="triangle">
            <a:avLst>
              <a:gd name="adj" fmla="val 50000"/>
            </a:avLst>
          </a:prstGeom>
          <a:gradFill rotWithShape="1">
            <a:gsLst>
              <a:gs pos="0">
                <a:srgbClr val="A50021"/>
              </a:gs>
              <a:gs pos="100000">
                <a:srgbClr val="FFFF66">
                  <a:alpha val="0"/>
                </a:srgbClr>
              </a:gs>
            </a:gsLst>
            <a:lin ang="540000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rot="10800000"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5" name="AutoShape 12"/>
          <p:cNvSpPr>
            <a:spLocks noChangeArrowheads="1"/>
          </p:cNvSpPr>
          <p:nvPr/>
        </p:nvSpPr>
        <p:spPr bwMode="auto">
          <a:xfrm rot="1422635" flipH="1">
            <a:off x="6191250" y="4233863"/>
            <a:ext cx="1500188" cy="1284287"/>
          </a:xfrm>
          <a:prstGeom prst="triangle">
            <a:avLst>
              <a:gd name="adj" fmla="val 50000"/>
            </a:avLst>
          </a:prstGeom>
          <a:gradFill rotWithShape="1">
            <a:gsLst>
              <a:gs pos="0">
                <a:srgbClr val="A50021"/>
              </a:gs>
              <a:gs pos="100000">
                <a:srgbClr val="FFFF66">
                  <a:alpha val="0"/>
                </a:srgbClr>
              </a:gs>
            </a:gsLst>
            <a:lin ang="540000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6" name="AutoShape 12"/>
          <p:cNvSpPr>
            <a:spLocks noChangeArrowheads="1"/>
          </p:cNvSpPr>
          <p:nvPr/>
        </p:nvSpPr>
        <p:spPr bwMode="auto">
          <a:xfrm rot="4440331" flipH="1">
            <a:off x="5655469" y="3610769"/>
            <a:ext cx="1500188" cy="1282700"/>
          </a:xfrm>
          <a:prstGeom prst="triangle">
            <a:avLst>
              <a:gd name="adj" fmla="val 50000"/>
            </a:avLst>
          </a:prstGeom>
          <a:gradFill rotWithShape="1">
            <a:gsLst>
              <a:gs pos="0">
                <a:srgbClr val="A50021"/>
              </a:gs>
              <a:gs pos="100000">
                <a:srgbClr val="FFFF66">
                  <a:alpha val="0"/>
                </a:srgbClr>
              </a:gs>
            </a:gsLst>
            <a:lin ang="540000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rot="10800000" vert="eaVert"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7" name="AutoShape 12"/>
          <p:cNvSpPr>
            <a:spLocks noChangeArrowheads="1"/>
          </p:cNvSpPr>
          <p:nvPr/>
        </p:nvSpPr>
        <p:spPr bwMode="auto">
          <a:xfrm rot="16927827" flipH="1">
            <a:off x="7564438" y="3678238"/>
            <a:ext cx="1500187" cy="1284287"/>
          </a:xfrm>
          <a:prstGeom prst="triangle">
            <a:avLst>
              <a:gd name="adj" fmla="val 50000"/>
            </a:avLst>
          </a:prstGeom>
          <a:gradFill rotWithShape="1">
            <a:gsLst>
              <a:gs pos="0">
                <a:srgbClr val="A50021"/>
              </a:gs>
              <a:gs pos="100000">
                <a:srgbClr val="FFFF66">
                  <a:alpha val="0"/>
                </a:srgbClr>
              </a:gs>
            </a:gsLst>
            <a:lin ang="540000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vert="eaVert"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8" name="AutoShape 12"/>
          <p:cNvSpPr>
            <a:spLocks noChangeArrowheads="1"/>
          </p:cNvSpPr>
          <p:nvPr/>
        </p:nvSpPr>
        <p:spPr bwMode="auto">
          <a:xfrm rot="19745085" flipH="1">
            <a:off x="6997700" y="4256088"/>
            <a:ext cx="1501775" cy="1284287"/>
          </a:xfrm>
          <a:prstGeom prst="triangle">
            <a:avLst>
              <a:gd name="adj" fmla="val 50000"/>
            </a:avLst>
          </a:prstGeom>
          <a:gradFill rotWithShape="1">
            <a:gsLst>
              <a:gs pos="0">
                <a:srgbClr val="A50021"/>
              </a:gs>
              <a:gs pos="100000">
                <a:srgbClr val="FFFF66">
                  <a:alpha val="0"/>
                </a:srgbClr>
              </a:gs>
            </a:gsLst>
            <a:lin ang="5400000" scaled="1"/>
          </a:gra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9" name="Oval 19"/>
          <p:cNvSpPr>
            <a:spLocks noChangeArrowheads="1"/>
          </p:cNvSpPr>
          <p:nvPr/>
        </p:nvSpPr>
        <p:spPr bwMode="auto">
          <a:xfrm>
            <a:off x="6618288" y="3354388"/>
            <a:ext cx="1495425" cy="1454150"/>
          </a:xfrm>
          <a:prstGeom prst="ellipse">
            <a:avLst/>
          </a:prstGeom>
          <a:solidFill>
            <a:srgbClr val="FFFF00">
              <a:alpha val="25098"/>
            </a:srgbClr>
          </a:solidFill>
          <a:ln w="12700">
            <a:solidFill>
              <a:srgbClr val="FFFF00"/>
            </a:solidFill>
            <a:round/>
            <a:headEnd/>
            <a:tailEnd/>
          </a:ln>
        </p:spPr>
        <p:txBody>
          <a:bodyPr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10" name="Oval 20"/>
          <p:cNvSpPr>
            <a:spLocks noChangeArrowheads="1"/>
          </p:cNvSpPr>
          <p:nvPr/>
        </p:nvSpPr>
        <p:spPr bwMode="auto">
          <a:xfrm>
            <a:off x="6677025" y="3402013"/>
            <a:ext cx="1373188" cy="1336675"/>
          </a:xfrm>
          <a:prstGeom prst="ellipse">
            <a:avLst/>
          </a:prstGeom>
          <a:solidFill>
            <a:srgbClr val="FFFF66">
              <a:alpha val="50195"/>
            </a:srgbClr>
          </a:solidFill>
          <a:ln w="57150">
            <a:solidFill>
              <a:srgbClr val="FFFF66"/>
            </a:solidFill>
            <a:round/>
            <a:headEnd/>
            <a:tailEnd/>
          </a:ln>
        </p:spPr>
        <p:txBody>
          <a:bodyPr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sp>
        <p:nvSpPr>
          <p:cNvPr id="11" name="Oval 48"/>
          <p:cNvSpPr>
            <a:spLocks noChangeAspect="1" noChangeArrowheads="1"/>
          </p:cNvSpPr>
          <p:nvPr/>
        </p:nvSpPr>
        <p:spPr bwMode="auto">
          <a:xfrm>
            <a:off x="6775450" y="3524250"/>
            <a:ext cx="1158875" cy="1125538"/>
          </a:xfrm>
          <a:prstGeom prst="ellipse">
            <a:avLst/>
          </a:prstGeom>
          <a:solidFill>
            <a:schemeClr val="accent6">
              <a:lumMod val="20000"/>
              <a:lumOff val="80000"/>
            </a:schemeClr>
          </a:solidFill>
          <a:ln w="9525">
            <a:noFill/>
            <a:round/>
            <a:headEnd/>
            <a:tailEnd/>
          </a:ln>
        </p:spPr>
        <p:txBody>
          <a:bodyPr wrap="none" lIns="60954" tIns="30477" rIns="60954" bIns="30477" anchor="ctr"/>
          <a:lstStyle/>
          <a:p>
            <a:pPr defTabSz="609539">
              <a:defRPr/>
            </a:pPr>
            <a:endParaRPr lang="zh-CN" altLang="en-US" sz="1500" b="1" dirty="0">
              <a:ea typeface="楷体_GB2312" pitchFamily="49" charset="-122"/>
            </a:endParaRPr>
          </a:p>
        </p:txBody>
      </p:sp>
      <p:grpSp>
        <p:nvGrpSpPr>
          <p:cNvPr id="12" name="组合 67"/>
          <p:cNvGrpSpPr>
            <a:grpSpLocks/>
          </p:cNvGrpSpPr>
          <p:nvPr/>
        </p:nvGrpSpPr>
        <p:grpSpPr bwMode="auto">
          <a:xfrm>
            <a:off x="6911078" y="3671888"/>
            <a:ext cx="880369" cy="819150"/>
            <a:chOff x="3722403" y="2516175"/>
            <a:chExt cx="1320573" cy="1226837"/>
          </a:xfrm>
        </p:grpSpPr>
        <p:sp>
          <p:nvSpPr>
            <p:cNvPr id="13" name="Oval 49"/>
            <p:cNvSpPr>
              <a:spLocks noChangeAspect="1" noChangeArrowheads="1"/>
            </p:cNvSpPr>
            <p:nvPr/>
          </p:nvSpPr>
          <p:spPr bwMode="auto">
            <a:xfrm>
              <a:off x="3745178" y="2516175"/>
              <a:ext cx="1297798" cy="1226837"/>
            </a:xfrm>
            <a:prstGeom prst="ellipse">
              <a:avLst/>
            </a:prstGeom>
            <a:solidFill>
              <a:schemeClr val="accent6">
                <a:lumMod val="75000"/>
              </a:schemeClr>
            </a:solidFill>
            <a:ln w="9525">
              <a:noFill/>
              <a:round/>
              <a:headEnd/>
              <a:tailEnd/>
            </a:ln>
          </p:spPr>
          <p:txBody>
            <a:bodyPr wrap="none" anchor="ctr"/>
            <a:lstStyle/>
            <a:p>
              <a:pPr algn="ctr" defTabSz="609539" latinLnBrk="1">
                <a:defRPr/>
              </a:pPr>
              <a:endParaRPr lang="zh-CN" altLang="en-US" sz="1100" b="1" dirty="0">
                <a:ea typeface="HY견고딕" charset="-122"/>
              </a:endParaRPr>
            </a:p>
          </p:txBody>
        </p:sp>
        <p:sp>
          <p:nvSpPr>
            <p:cNvPr id="14" name="TextBox 2"/>
            <p:cNvSpPr txBox="1">
              <a:spLocks noChangeArrowheads="1"/>
            </p:cNvSpPr>
            <p:nvPr/>
          </p:nvSpPr>
          <p:spPr bwMode="auto">
            <a:xfrm>
              <a:off x="3722403" y="2848034"/>
              <a:ext cx="1314469" cy="5531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b="1" dirty="0" smtClean="0">
                  <a:solidFill>
                    <a:srgbClr val="0000FF"/>
                  </a:solidFill>
                  <a:latin typeface="微软雅黑" panose="020B0503020204020204" pitchFamily="34" charset="-122"/>
                  <a:ea typeface="微软雅黑" panose="020B0503020204020204" pitchFamily="34" charset="-122"/>
                </a:rPr>
                <a:t>目的</a:t>
              </a:r>
              <a:endParaRPr lang="zh-CN" altLang="en-US" sz="2400" b="1" dirty="0">
                <a:solidFill>
                  <a:srgbClr val="0000FF"/>
                </a:solidFill>
                <a:latin typeface="微软雅黑" panose="020B0503020204020204" pitchFamily="34" charset="-122"/>
                <a:ea typeface="微软雅黑" panose="020B0503020204020204" pitchFamily="34" charset="-122"/>
              </a:endParaRPr>
            </a:p>
          </p:txBody>
        </p:sp>
      </p:grpSp>
      <p:grpSp>
        <p:nvGrpSpPr>
          <p:cNvPr id="18" name="组合 29"/>
          <p:cNvGrpSpPr>
            <a:grpSpLocks/>
          </p:cNvGrpSpPr>
          <p:nvPr/>
        </p:nvGrpSpPr>
        <p:grpSpPr bwMode="auto">
          <a:xfrm>
            <a:off x="6715381" y="1710330"/>
            <a:ext cx="1354675" cy="773297"/>
            <a:chOff x="5521732" y="4449960"/>
            <a:chExt cx="3198672" cy="803421"/>
          </a:xfrm>
        </p:grpSpPr>
        <p:sp>
          <p:nvSpPr>
            <p:cNvPr id="19" name="圆角矩形 18"/>
            <p:cNvSpPr/>
            <p:nvPr/>
          </p:nvSpPr>
          <p:spPr>
            <a:xfrm>
              <a:off x="5521732" y="4449960"/>
              <a:ext cx="3198672" cy="803421"/>
            </a:xfrm>
            <a:prstGeom prst="roundRect">
              <a:avLst/>
            </a:prstGeom>
            <a:gradFill>
              <a:gsLst>
                <a:gs pos="0">
                  <a:srgbClr val="03D4A8"/>
                </a:gs>
                <a:gs pos="25000">
                  <a:srgbClr val="21D6E0"/>
                </a:gs>
                <a:gs pos="75000">
                  <a:srgbClr val="0087E6"/>
                </a:gs>
                <a:gs pos="100000">
                  <a:srgbClr val="005CBF"/>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p>
          </p:txBody>
        </p:sp>
        <p:sp>
          <p:nvSpPr>
            <p:cNvPr id="20" name="TextBox 9"/>
            <p:cNvSpPr txBox="1">
              <a:spLocks noChangeArrowheads="1"/>
            </p:cNvSpPr>
            <p:nvPr/>
          </p:nvSpPr>
          <p:spPr bwMode="auto">
            <a:xfrm>
              <a:off x="5645431" y="4449960"/>
              <a:ext cx="3074973" cy="76743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50000"/>
                </a:lnSpc>
                <a:spcBef>
                  <a:spcPct val="0"/>
                </a:spcBef>
                <a:buFontTx/>
                <a:buNone/>
              </a:pPr>
              <a:r>
                <a:rPr lang="zh-CN" altLang="en-US" sz="1600" b="1" dirty="0">
                  <a:latin typeface="微软雅黑" panose="020B0503020204020204" pitchFamily="34" charset="-122"/>
                  <a:ea typeface="微软雅黑" panose="020B0503020204020204" pitchFamily="34" charset="-122"/>
                </a:rPr>
                <a:t>改善系统的</a:t>
              </a:r>
              <a:r>
                <a:rPr lang="zh-CN" altLang="en-US" sz="1600" b="1" dirty="0" smtClean="0">
                  <a:latin typeface="微软雅黑" panose="020B0503020204020204" pitchFamily="34" charset="-122"/>
                  <a:ea typeface="微软雅黑" panose="020B0503020204020204" pitchFamily="34" charset="-122"/>
                </a:rPr>
                <a:t>时间分辨能力</a:t>
              </a:r>
              <a:endParaRPr lang="zh-CN" altLang="en-US" sz="1600" b="1" dirty="0">
                <a:latin typeface="微软雅黑" panose="020B0503020204020204" pitchFamily="34" charset="-122"/>
                <a:ea typeface="微软雅黑" panose="020B0503020204020204" pitchFamily="34" charset="-122"/>
              </a:endParaRPr>
            </a:p>
          </p:txBody>
        </p:sp>
      </p:grpSp>
      <p:grpSp>
        <p:nvGrpSpPr>
          <p:cNvPr id="21" name="组合 29"/>
          <p:cNvGrpSpPr>
            <a:grpSpLocks/>
          </p:cNvGrpSpPr>
          <p:nvPr/>
        </p:nvGrpSpPr>
        <p:grpSpPr bwMode="auto">
          <a:xfrm>
            <a:off x="4980288" y="2600356"/>
            <a:ext cx="1259487" cy="819391"/>
            <a:chOff x="6233339" y="4340728"/>
            <a:chExt cx="2701484" cy="904765"/>
          </a:xfrm>
          <a:noFill/>
        </p:grpSpPr>
        <p:sp>
          <p:nvSpPr>
            <p:cNvPr id="22" name="圆角矩形 21"/>
            <p:cNvSpPr/>
            <p:nvPr/>
          </p:nvSpPr>
          <p:spPr>
            <a:xfrm>
              <a:off x="6233339" y="4340728"/>
              <a:ext cx="2701484" cy="904765"/>
            </a:xfrm>
            <a:prstGeom prst="roundRect">
              <a:avLst/>
            </a:prstGeom>
            <a:gradFill>
              <a:gsLst>
                <a:gs pos="0">
                  <a:srgbClr val="FC9FCB"/>
                </a:gs>
                <a:gs pos="13000">
                  <a:srgbClr val="F8B049"/>
                </a:gs>
                <a:gs pos="21001">
                  <a:srgbClr val="F8B049"/>
                </a:gs>
                <a:gs pos="63000">
                  <a:srgbClr val="FEE7F2"/>
                </a:gs>
                <a:gs pos="67000">
                  <a:srgbClr val="F952A0"/>
                </a:gs>
                <a:gs pos="69000">
                  <a:srgbClr val="C50849"/>
                </a:gs>
                <a:gs pos="82001">
                  <a:srgbClr val="B43E85"/>
                </a:gs>
                <a:gs pos="100000">
                  <a:srgbClr val="F8B049"/>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p>
          </p:txBody>
        </p:sp>
        <p:sp>
          <p:nvSpPr>
            <p:cNvPr id="23" name="TextBox 9"/>
            <p:cNvSpPr txBox="1">
              <a:spLocks noChangeArrowheads="1"/>
            </p:cNvSpPr>
            <p:nvPr/>
          </p:nvSpPr>
          <p:spPr bwMode="auto">
            <a:xfrm>
              <a:off x="6233339" y="4377384"/>
              <a:ext cx="2667745" cy="767623"/>
            </a:xfrm>
            <a:prstGeom prst="rect">
              <a:avLst/>
            </a:prstGeom>
            <a:grpFill/>
            <a:ln w="9525">
              <a:noFill/>
              <a:miter lim="800000"/>
              <a:headEnd/>
              <a:tailEnd/>
            </a:ln>
          </p:spPr>
          <p:txBody>
            <a:bodyPr wrap="square" lIns="0" tIns="0" rIns="0" bIns="0">
              <a:spAutoFit/>
            </a:bodyPr>
            <a:lstStyle/>
            <a:p>
              <a:pPr algn="ctr" defTabSz="609539" eaLnBrk="1" hangingPunct="1">
                <a:lnSpc>
                  <a:spcPct val="150000"/>
                </a:lnSpc>
                <a:defRPr/>
              </a:pPr>
              <a:r>
                <a:rPr lang="zh-CN" altLang="en-US" sz="1600" b="1" dirty="0">
                  <a:solidFill>
                    <a:srgbClr val="0000FF"/>
                  </a:solidFill>
                  <a:latin typeface="微软雅黑" pitchFamily="34" charset="-122"/>
                  <a:ea typeface="微软雅黑" pitchFamily="34" charset="-122"/>
                </a:rPr>
                <a:t>改善系统</a:t>
              </a:r>
              <a:r>
                <a:rPr lang="zh-CN" altLang="en-US" sz="1600" b="1" dirty="0" smtClean="0">
                  <a:latin typeface="微软雅黑" pitchFamily="34" charset="-122"/>
                  <a:ea typeface="微软雅黑" pitchFamily="34" charset="-122"/>
                </a:rPr>
                <a:t>的</a:t>
              </a:r>
              <a:endParaRPr lang="en-US" altLang="zh-CN" sz="1600" b="1" dirty="0" smtClean="0">
                <a:latin typeface="微软雅黑" pitchFamily="34" charset="-122"/>
                <a:ea typeface="微软雅黑" pitchFamily="34" charset="-122"/>
              </a:endParaRPr>
            </a:p>
            <a:p>
              <a:pPr algn="ctr" defTabSz="609539" eaLnBrk="1" hangingPunct="1">
                <a:lnSpc>
                  <a:spcPct val="150000"/>
                </a:lnSpc>
                <a:defRPr/>
              </a:pPr>
              <a:r>
                <a:rPr lang="zh-CN" altLang="en-US" sz="1600" b="1" dirty="0" smtClean="0">
                  <a:solidFill>
                    <a:srgbClr val="0000FF"/>
                  </a:solidFill>
                  <a:latin typeface="微软雅黑" pitchFamily="34" charset="-122"/>
                  <a:ea typeface="微软雅黑" pitchFamily="34" charset="-122"/>
                </a:rPr>
                <a:t>动态</a:t>
              </a:r>
              <a:r>
                <a:rPr lang="zh-CN" altLang="en-US" sz="1600" b="1" dirty="0">
                  <a:solidFill>
                    <a:srgbClr val="0000FF"/>
                  </a:solidFill>
                  <a:latin typeface="微软雅黑" pitchFamily="34" charset="-122"/>
                  <a:ea typeface="微软雅黑" pitchFamily="34" charset="-122"/>
                </a:rPr>
                <a:t>品质</a:t>
              </a:r>
              <a:endParaRPr lang="zh-CN" altLang="en-US" sz="1600" b="1" dirty="0">
                <a:latin typeface="微软雅黑" pitchFamily="34" charset="-122"/>
                <a:ea typeface="微软雅黑" pitchFamily="34" charset="-122"/>
              </a:endParaRPr>
            </a:p>
          </p:txBody>
        </p:sp>
      </p:grpSp>
      <p:grpSp>
        <p:nvGrpSpPr>
          <p:cNvPr id="24" name="组合 29"/>
          <p:cNvGrpSpPr>
            <a:grpSpLocks/>
          </p:cNvGrpSpPr>
          <p:nvPr/>
        </p:nvGrpSpPr>
        <p:grpSpPr bwMode="auto">
          <a:xfrm>
            <a:off x="8911259" y="4089543"/>
            <a:ext cx="1278318" cy="802990"/>
            <a:chOff x="6234235" y="4276194"/>
            <a:chExt cx="2001187" cy="1013158"/>
          </a:xfrm>
        </p:grpSpPr>
        <p:sp>
          <p:nvSpPr>
            <p:cNvPr id="25" name="圆角矩形 24"/>
            <p:cNvSpPr/>
            <p:nvPr/>
          </p:nvSpPr>
          <p:spPr>
            <a:xfrm>
              <a:off x="6234235" y="4276194"/>
              <a:ext cx="2001187" cy="1013158"/>
            </a:xfrm>
            <a:prstGeom prst="roundRect">
              <a:avLst/>
            </a:prstGeom>
            <a:gradFill>
              <a:gsLst>
                <a:gs pos="0">
                  <a:srgbClr val="CCCCFF"/>
                </a:gs>
                <a:gs pos="17999">
                  <a:srgbClr val="99CCFF"/>
                </a:gs>
                <a:gs pos="36000">
                  <a:srgbClr val="9966FF"/>
                </a:gs>
                <a:gs pos="61000">
                  <a:srgbClr val="CC99FF"/>
                </a:gs>
                <a:gs pos="82001">
                  <a:srgbClr val="99CCFF"/>
                </a:gs>
                <a:gs pos="100000">
                  <a:srgbClr val="CCCCFF"/>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p>
          </p:txBody>
        </p:sp>
        <p:sp>
          <p:nvSpPr>
            <p:cNvPr id="26" name="TextBox 9"/>
            <p:cNvSpPr txBox="1">
              <a:spLocks noChangeArrowheads="1"/>
            </p:cNvSpPr>
            <p:nvPr/>
          </p:nvSpPr>
          <p:spPr bwMode="auto">
            <a:xfrm>
              <a:off x="6265635" y="4318574"/>
              <a:ext cx="1896702" cy="8771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50000"/>
                </a:lnSpc>
                <a:spcBef>
                  <a:spcPct val="0"/>
                </a:spcBef>
                <a:buFontTx/>
                <a:buNone/>
              </a:pPr>
              <a:r>
                <a:rPr lang="zh-CN" altLang="en-US" sz="1600" b="1" dirty="0">
                  <a:latin typeface="微软雅黑" pitchFamily="34" charset="-122"/>
                  <a:ea typeface="微软雅黑" pitchFamily="34" charset="-122"/>
                </a:rPr>
                <a:t>提高传输和检测精度</a:t>
              </a:r>
            </a:p>
          </p:txBody>
        </p:sp>
      </p:grpSp>
      <p:grpSp>
        <p:nvGrpSpPr>
          <p:cNvPr id="27" name="组合 29"/>
          <p:cNvGrpSpPr>
            <a:grpSpLocks/>
          </p:cNvGrpSpPr>
          <p:nvPr/>
        </p:nvGrpSpPr>
        <p:grpSpPr bwMode="auto">
          <a:xfrm>
            <a:off x="4705557" y="4007194"/>
            <a:ext cx="1127108" cy="773114"/>
            <a:chOff x="6233339" y="4340729"/>
            <a:chExt cx="1896702" cy="853667"/>
          </a:xfrm>
        </p:grpSpPr>
        <p:sp>
          <p:nvSpPr>
            <p:cNvPr id="28" name="圆角矩形 27"/>
            <p:cNvSpPr/>
            <p:nvPr/>
          </p:nvSpPr>
          <p:spPr>
            <a:xfrm>
              <a:off x="6233339" y="4340729"/>
              <a:ext cx="1773002" cy="853667"/>
            </a:xfrm>
            <a:prstGeom prst="roundRect">
              <a:avLst/>
            </a:prstGeom>
            <a:gradFill>
              <a:gsLst>
                <a:gs pos="0">
                  <a:srgbClr val="FBEAC7"/>
                </a:gs>
                <a:gs pos="17999">
                  <a:srgbClr val="FEE7F2"/>
                </a:gs>
                <a:gs pos="36000">
                  <a:srgbClr val="FAC77D"/>
                </a:gs>
                <a:gs pos="61000">
                  <a:srgbClr val="FBA97D"/>
                </a:gs>
                <a:gs pos="82001">
                  <a:srgbClr val="FBD49C"/>
                </a:gs>
                <a:gs pos="100000">
                  <a:srgbClr val="FEE7F2"/>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p>
          </p:txBody>
        </p:sp>
        <p:sp>
          <p:nvSpPr>
            <p:cNvPr id="29" name="TextBox 9"/>
            <p:cNvSpPr txBox="1">
              <a:spLocks noChangeArrowheads="1"/>
            </p:cNvSpPr>
            <p:nvPr/>
          </p:nvSpPr>
          <p:spPr bwMode="auto">
            <a:xfrm>
              <a:off x="6233339" y="4376956"/>
              <a:ext cx="1896702" cy="7676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50000"/>
                </a:lnSpc>
                <a:spcBef>
                  <a:spcPct val="0"/>
                </a:spcBef>
                <a:buFontTx/>
                <a:buNone/>
              </a:pPr>
              <a:r>
                <a:rPr lang="zh-CN" altLang="en-US" sz="1600" b="1" dirty="0">
                  <a:latin typeface="微软雅黑" pitchFamily="34" charset="-122"/>
                  <a:ea typeface="微软雅黑" pitchFamily="34" charset="-122"/>
                </a:rPr>
                <a:t>对环境</a:t>
              </a:r>
              <a:r>
                <a:rPr lang="zh-CN" altLang="en-US" sz="1600" b="1" dirty="0" smtClean="0">
                  <a:latin typeface="微软雅黑" pitchFamily="34" charset="-122"/>
                  <a:ea typeface="微软雅黑" pitchFamily="34" charset="-122"/>
                </a:rPr>
                <a:t>的</a:t>
              </a:r>
              <a:endParaRPr lang="en-US" altLang="zh-CN" sz="1600" b="1" dirty="0" smtClean="0">
                <a:latin typeface="微软雅黑" pitchFamily="34" charset="-122"/>
                <a:ea typeface="微软雅黑" pitchFamily="34" charset="-122"/>
              </a:endParaRPr>
            </a:p>
            <a:p>
              <a:pPr algn="ctr" eaLnBrk="1" hangingPunct="1">
                <a:lnSpc>
                  <a:spcPct val="150000"/>
                </a:lnSpc>
                <a:spcBef>
                  <a:spcPct val="0"/>
                </a:spcBef>
                <a:buFontTx/>
                <a:buNone/>
              </a:pPr>
              <a:r>
                <a:rPr lang="zh-CN" altLang="en-US" sz="1600" b="1" dirty="0" smtClean="0">
                  <a:latin typeface="微软雅黑" pitchFamily="34" charset="-122"/>
                  <a:ea typeface="微软雅黑" pitchFamily="34" charset="-122"/>
                </a:rPr>
                <a:t>适应</a:t>
              </a:r>
              <a:r>
                <a:rPr lang="zh-CN" altLang="en-US" sz="1600" b="1" dirty="0">
                  <a:latin typeface="微软雅黑" pitchFamily="34" charset="-122"/>
                  <a:ea typeface="微软雅黑" pitchFamily="34" charset="-122"/>
                </a:rPr>
                <a:t>能力</a:t>
              </a:r>
            </a:p>
          </p:txBody>
        </p:sp>
      </p:grpSp>
      <p:grpSp>
        <p:nvGrpSpPr>
          <p:cNvPr id="30" name="组合 29"/>
          <p:cNvGrpSpPr>
            <a:grpSpLocks/>
          </p:cNvGrpSpPr>
          <p:nvPr/>
        </p:nvGrpSpPr>
        <p:grpSpPr bwMode="auto">
          <a:xfrm>
            <a:off x="5753369" y="5549541"/>
            <a:ext cx="1291927" cy="777810"/>
            <a:chOff x="6233339" y="4340729"/>
            <a:chExt cx="1775539" cy="858851"/>
          </a:xfrm>
        </p:grpSpPr>
        <p:sp>
          <p:nvSpPr>
            <p:cNvPr id="31" name="圆角矩形 30"/>
            <p:cNvSpPr/>
            <p:nvPr/>
          </p:nvSpPr>
          <p:spPr>
            <a:xfrm>
              <a:off x="6233339" y="4340729"/>
              <a:ext cx="1775539" cy="858851"/>
            </a:xfrm>
            <a:prstGeom prst="roundRect">
              <a:avLst/>
            </a:prstGeom>
            <a:gradFill>
              <a:gsLst>
                <a:gs pos="0">
                  <a:srgbClr val="FFF200"/>
                </a:gs>
                <a:gs pos="45000">
                  <a:srgbClr val="FF7A00"/>
                </a:gs>
                <a:gs pos="70000">
                  <a:srgbClr val="FF0300"/>
                </a:gs>
                <a:gs pos="100000">
                  <a:srgbClr val="4D0808"/>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p>
          </p:txBody>
        </p:sp>
        <p:sp>
          <p:nvSpPr>
            <p:cNvPr id="32" name="TextBox 9"/>
            <p:cNvSpPr txBox="1">
              <a:spLocks noChangeArrowheads="1"/>
            </p:cNvSpPr>
            <p:nvPr/>
          </p:nvSpPr>
          <p:spPr bwMode="auto">
            <a:xfrm>
              <a:off x="6233339" y="4362933"/>
              <a:ext cx="1775539" cy="7676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50000"/>
                </a:lnSpc>
                <a:spcBef>
                  <a:spcPct val="0"/>
                </a:spcBef>
                <a:buFontTx/>
                <a:buNone/>
              </a:pPr>
              <a:r>
                <a:rPr lang="zh-CN" altLang="en-US" sz="1600" b="1" dirty="0">
                  <a:latin typeface="微软雅黑" pitchFamily="34" charset="-122"/>
                  <a:ea typeface="微软雅黑" pitchFamily="34" charset="-122"/>
                </a:rPr>
                <a:t>提高</a:t>
              </a:r>
              <a:r>
                <a:rPr lang="zh-CN" altLang="en-US" sz="1600" b="1" dirty="0" smtClean="0">
                  <a:latin typeface="微软雅黑" pitchFamily="34" charset="-122"/>
                  <a:ea typeface="微软雅黑" pitchFamily="34" charset="-122"/>
                </a:rPr>
                <a:t>工作</a:t>
              </a:r>
              <a:endParaRPr lang="en-US" altLang="zh-CN" sz="1600" b="1" dirty="0" smtClean="0">
                <a:latin typeface="微软雅黑" pitchFamily="34" charset="-122"/>
                <a:ea typeface="微软雅黑" pitchFamily="34" charset="-122"/>
              </a:endParaRPr>
            </a:p>
            <a:p>
              <a:pPr algn="ctr" eaLnBrk="1" hangingPunct="1">
                <a:lnSpc>
                  <a:spcPct val="150000"/>
                </a:lnSpc>
                <a:spcBef>
                  <a:spcPct val="0"/>
                </a:spcBef>
                <a:buFontTx/>
                <a:buNone/>
              </a:pPr>
              <a:r>
                <a:rPr lang="zh-CN" altLang="en-US" sz="1600" b="1" dirty="0" smtClean="0">
                  <a:latin typeface="微软雅黑" pitchFamily="34" charset="-122"/>
                  <a:ea typeface="微软雅黑" pitchFamily="34" charset="-122"/>
                </a:rPr>
                <a:t>可靠性</a:t>
              </a:r>
              <a:endParaRPr lang="zh-CN" altLang="en-US" sz="1600" b="1" dirty="0">
                <a:latin typeface="微软雅黑" panose="020B0503020204020204" pitchFamily="34" charset="-122"/>
                <a:ea typeface="微软雅黑" panose="020B0503020204020204" pitchFamily="34" charset="-122"/>
              </a:endParaRPr>
            </a:p>
          </p:txBody>
        </p:sp>
      </p:grpSp>
      <p:grpSp>
        <p:nvGrpSpPr>
          <p:cNvPr id="33" name="组合 29"/>
          <p:cNvGrpSpPr>
            <a:grpSpLocks/>
          </p:cNvGrpSpPr>
          <p:nvPr/>
        </p:nvGrpSpPr>
        <p:grpSpPr bwMode="auto">
          <a:xfrm>
            <a:off x="7854958" y="5479231"/>
            <a:ext cx="1257763" cy="855836"/>
            <a:chOff x="6233337" y="4340729"/>
            <a:chExt cx="2969844" cy="945008"/>
          </a:xfrm>
        </p:grpSpPr>
        <p:sp>
          <p:nvSpPr>
            <p:cNvPr id="34" name="圆角矩形 33"/>
            <p:cNvSpPr/>
            <p:nvPr/>
          </p:nvSpPr>
          <p:spPr>
            <a:xfrm>
              <a:off x="6233337" y="4340729"/>
              <a:ext cx="2969844" cy="945008"/>
            </a:xfrm>
            <a:prstGeom prst="roundRect">
              <a:avLst/>
            </a:prstGeom>
            <a:gradFill>
              <a:gsLst>
                <a:gs pos="0">
                  <a:srgbClr val="DDEBCF"/>
                </a:gs>
                <a:gs pos="50000">
                  <a:srgbClr val="9CB86E"/>
                </a:gs>
                <a:gs pos="100000">
                  <a:srgbClr val="156B13"/>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p>
          </p:txBody>
        </p:sp>
        <p:sp>
          <p:nvSpPr>
            <p:cNvPr id="35" name="TextBox 9"/>
            <p:cNvSpPr txBox="1">
              <a:spLocks noChangeArrowheads="1"/>
            </p:cNvSpPr>
            <p:nvPr/>
          </p:nvSpPr>
          <p:spPr bwMode="auto">
            <a:xfrm>
              <a:off x="6425051" y="4390248"/>
              <a:ext cx="2586412" cy="76762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50000"/>
                </a:lnSpc>
                <a:spcBef>
                  <a:spcPct val="0"/>
                </a:spcBef>
                <a:buFontTx/>
                <a:buNone/>
              </a:pPr>
              <a:r>
                <a:rPr lang="zh-CN" altLang="en-US" sz="1600" b="1" dirty="0">
                  <a:latin typeface="微软雅黑" pitchFamily="34" charset="-122"/>
                  <a:ea typeface="微软雅黑" pitchFamily="34" charset="-122"/>
                </a:rPr>
                <a:t>改善系统的检测信噪比</a:t>
              </a:r>
            </a:p>
          </p:txBody>
        </p:sp>
      </p:grpSp>
      <p:sp>
        <p:nvSpPr>
          <p:cNvPr id="36" name="Oval 2"/>
          <p:cNvSpPr>
            <a:spLocks noChangeAspect="1" noChangeArrowheads="1"/>
          </p:cNvSpPr>
          <p:nvPr/>
        </p:nvSpPr>
        <p:spPr bwMode="auto">
          <a:xfrm>
            <a:off x="4295775" y="1046007"/>
            <a:ext cx="6257925" cy="6145368"/>
          </a:xfrm>
          <a:prstGeom prst="ellipse">
            <a:avLst/>
          </a:prstGeom>
          <a:noFill/>
          <a:ln w="38100" cap="rnd">
            <a:solidFill>
              <a:srgbClr val="FF0000"/>
            </a:solidFill>
            <a:prstDash val="dash"/>
            <a:round/>
            <a:headEnd/>
            <a:tailEnd/>
          </a:ln>
          <a:extLst>
            <a:ext uri="{909E8E84-426E-40DD-AFC4-6F175D3DCCD1}">
              <a14:hiddenFill xmlns:a14="http://schemas.microsoft.com/office/drawing/2010/main" xmlns="">
                <a:solidFill>
                  <a:srgbClr val="FFFFFF"/>
                </a:solidFill>
              </a14:hiddenFill>
            </a:ext>
          </a:extLst>
        </p:spPr>
        <p:txBody>
          <a:bodyPr wrap="none" lIns="60954" tIns="30477" rIns="60954" bIns="30477" anchor="ct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FontTx/>
              <a:buNone/>
            </a:pPr>
            <a:endParaRPr lang="zh-CN" altLang="en-US" sz="1500" b="1">
              <a:latin typeface="Arial" panose="020B0604020202020204" pitchFamily="34" charset="0"/>
              <a:ea typeface="楷体_GB2312"/>
              <a:cs typeface="楷体_GB2312"/>
            </a:endParaRPr>
          </a:p>
        </p:txBody>
      </p:sp>
      <p:grpSp>
        <p:nvGrpSpPr>
          <p:cNvPr id="37" name="组合 29"/>
          <p:cNvGrpSpPr>
            <a:grpSpLocks/>
          </p:cNvGrpSpPr>
          <p:nvPr/>
        </p:nvGrpSpPr>
        <p:grpSpPr bwMode="auto">
          <a:xfrm>
            <a:off x="8453076" y="2618550"/>
            <a:ext cx="1358005" cy="790511"/>
            <a:chOff x="5521734" y="4427443"/>
            <a:chExt cx="3206535" cy="821308"/>
          </a:xfrm>
        </p:grpSpPr>
        <p:sp>
          <p:nvSpPr>
            <p:cNvPr id="38" name="圆角矩形 37"/>
            <p:cNvSpPr/>
            <p:nvPr/>
          </p:nvSpPr>
          <p:spPr>
            <a:xfrm>
              <a:off x="5521734" y="4427443"/>
              <a:ext cx="3206535" cy="821308"/>
            </a:xfrm>
            <a:prstGeom prst="roundRect">
              <a:avLst/>
            </a:prstGeom>
            <a:gradFill>
              <a:gsLst>
                <a:gs pos="0">
                  <a:srgbClr val="03D4A8"/>
                </a:gs>
                <a:gs pos="25000">
                  <a:srgbClr val="21D6E0"/>
                </a:gs>
                <a:gs pos="75000">
                  <a:srgbClr val="0087E6"/>
                </a:gs>
                <a:gs pos="100000">
                  <a:srgbClr val="005CBF"/>
                </a:gs>
              </a:gsLst>
              <a:lin ang="5400000" scaled="0"/>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609539" eaLnBrk="1" hangingPunct="1">
                <a:defRPr/>
              </a:pPr>
              <a:endParaRPr lang="zh-CN" altLang="en-US" sz="1300" b="1" dirty="0"/>
            </a:p>
          </p:txBody>
        </p:sp>
        <p:sp>
          <p:nvSpPr>
            <p:cNvPr id="39" name="TextBox 9"/>
            <p:cNvSpPr txBox="1">
              <a:spLocks noChangeArrowheads="1"/>
            </p:cNvSpPr>
            <p:nvPr/>
          </p:nvSpPr>
          <p:spPr bwMode="auto">
            <a:xfrm>
              <a:off x="5645431" y="4449960"/>
              <a:ext cx="3082838" cy="76744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spAutoFit/>
            </a:bodyPr>
            <a:lstStyle>
              <a:lvl1pPr defTabSz="608013">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defTabSz="608013">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defTabSz="608013">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defTabSz="608013">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defTabSz="608013"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50000"/>
                </a:lnSpc>
                <a:spcBef>
                  <a:spcPct val="0"/>
                </a:spcBef>
                <a:buFontTx/>
                <a:buNone/>
              </a:pPr>
              <a:r>
                <a:rPr lang="zh-CN" altLang="en-US" sz="1600" b="1" dirty="0">
                  <a:latin typeface="微软雅黑" panose="020B0503020204020204" pitchFamily="34" charset="-122"/>
                  <a:ea typeface="微软雅黑" panose="020B0503020204020204" pitchFamily="34" charset="-122"/>
                </a:rPr>
                <a:t>改善系统</a:t>
              </a:r>
              <a:r>
                <a:rPr lang="zh-CN" altLang="en-US" sz="1600" b="1" dirty="0" smtClean="0">
                  <a:latin typeface="微软雅黑" panose="020B0503020204020204" pitchFamily="34" charset="-122"/>
                  <a:ea typeface="微软雅黑" panose="020B0503020204020204" pitchFamily="34" charset="-122"/>
                </a:rPr>
                <a:t>的空间分辨能力</a:t>
              </a:r>
              <a:endParaRPr lang="zh-CN" altLang="en-US" sz="1600" b="1" dirty="0">
                <a:latin typeface="微软雅黑" panose="020B0503020204020204" pitchFamily="34" charset="-122"/>
                <a:ea typeface="微软雅黑" panose="020B0503020204020204" pitchFamily="34" charset="-122"/>
              </a:endParaRPr>
            </a:p>
          </p:txBody>
        </p:sp>
      </p:grpSp>
      <p:sp>
        <p:nvSpPr>
          <p:cNvPr id="49" name="Rectangle 12"/>
          <p:cNvSpPr>
            <a:spLocks noChangeArrowheads="1"/>
          </p:cNvSpPr>
          <p:nvPr/>
        </p:nvSpPr>
        <p:spPr bwMode="auto">
          <a:xfrm>
            <a:off x="1793570" y="3162840"/>
            <a:ext cx="2302991" cy="1754326"/>
          </a:xfrm>
          <a:prstGeom prst="rect">
            <a:avLst/>
          </a:prstGeom>
          <a:noFill/>
          <a:ln w="9525" algn="ctr">
            <a:noFill/>
            <a:miter lim="800000"/>
            <a:headEnd/>
            <a:tailEnd/>
          </a:ln>
        </p:spPr>
        <p:txBody>
          <a:bodyPr wrap="square" anchor="ctr">
            <a:spAutoFit/>
          </a:bodyPr>
          <a:lstStyle/>
          <a:p>
            <a:pPr algn="ctr" defTabSz="914400" eaLnBrk="0" hangingPunct="0">
              <a:lnSpc>
                <a:spcPct val="150000"/>
              </a:lnSpc>
            </a:pPr>
            <a:r>
              <a:rPr lang="zh-CN" altLang="en-US" sz="2400" b="1" dirty="0" smtClean="0">
                <a:solidFill>
                  <a:srgbClr val="FF0000"/>
                </a:solidFill>
                <a:latin typeface="微软雅黑" pitchFamily="34" charset="-122"/>
                <a:ea typeface="微软雅黑" pitchFamily="34" charset="-122"/>
              </a:rPr>
              <a:t>信息</a:t>
            </a:r>
            <a:endParaRPr lang="en-US" altLang="zh-CN" sz="2400" b="1" dirty="0" smtClean="0">
              <a:solidFill>
                <a:srgbClr val="FF0000"/>
              </a:solidFill>
              <a:latin typeface="微软雅黑" pitchFamily="34" charset="-122"/>
              <a:ea typeface="微软雅黑" pitchFamily="34" charset="-122"/>
            </a:endParaRPr>
          </a:p>
          <a:p>
            <a:pPr algn="ctr" defTabSz="914400" eaLnBrk="0" hangingPunct="0">
              <a:lnSpc>
                <a:spcPct val="150000"/>
              </a:lnSpc>
            </a:pPr>
            <a:r>
              <a:rPr lang="zh-CN" altLang="en-US" sz="2400" b="1" dirty="0" smtClean="0">
                <a:solidFill>
                  <a:srgbClr val="FF0000"/>
                </a:solidFill>
                <a:latin typeface="微软雅黑" pitchFamily="34" charset="-122"/>
                <a:ea typeface="微软雅黑" pitchFamily="34" charset="-122"/>
              </a:rPr>
              <a:t>载荷</a:t>
            </a:r>
            <a:r>
              <a:rPr lang="zh-CN" altLang="en-US" sz="2400" b="1" dirty="0">
                <a:solidFill>
                  <a:srgbClr val="FF0000"/>
                </a:solidFill>
                <a:latin typeface="微软雅黑" pitchFamily="34" charset="-122"/>
                <a:ea typeface="微软雅黑" pitchFamily="34" charset="-122"/>
              </a:rPr>
              <a:t>到光</a:t>
            </a:r>
            <a:r>
              <a:rPr lang="zh-CN" altLang="en-US" sz="2400" b="1" dirty="0" smtClean="0">
                <a:solidFill>
                  <a:srgbClr val="FF0000"/>
                </a:solidFill>
                <a:latin typeface="微软雅黑" pitchFamily="34" charset="-122"/>
                <a:ea typeface="微软雅黑" pitchFamily="34" charset="-122"/>
              </a:rPr>
              <a:t>载波</a:t>
            </a:r>
            <a:endParaRPr lang="en-US" altLang="zh-CN" sz="2400" b="1" dirty="0" smtClean="0">
              <a:solidFill>
                <a:srgbClr val="FF0000"/>
              </a:solidFill>
              <a:latin typeface="微软雅黑" pitchFamily="34" charset="-122"/>
              <a:ea typeface="微软雅黑" pitchFamily="34" charset="-122"/>
            </a:endParaRPr>
          </a:p>
          <a:p>
            <a:pPr algn="ctr" defTabSz="914400" eaLnBrk="0" hangingPunct="0">
              <a:lnSpc>
                <a:spcPct val="150000"/>
              </a:lnSpc>
            </a:pPr>
            <a:r>
              <a:rPr lang="zh-CN" altLang="en-US" sz="2400" b="1" dirty="0" smtClean="0">
                <a:latin typeface="微软雅黑" pitchFamily="34" charset="-122"/>
                <a:ea typeface="微软雅黑" pitchFamily="34" charset="-122"/>
              </a:rPr>
              <a:t>形成</a:t>
            </a:r>
            <a:r>
              <a:rPr lang="zh-CN" altLang="en-US" sz="2400" b="1" dirty="0">
                <a:latin typeface="微软雅黑" pitchFamily="34" charset="-122"/>
                <a:ea typeface="微软雅黑" pitchFamily="34" charset="-122"/>
              </a:rPr>
              <a:t>光电</a:t>
            </a:r>
            <a:r>
              <a:rPr lang="zh-CN" altLang="en-US" sz="2400" b="1" dirty="0" smtClean="0">
                <a:latin typeface="微软雅黑" pitchFamily="34" charset="-122"/>
                <a:ea typeface="微软雅黑" pitchFamily="34" charset="-122"/>
              </a:rPr>
              <a:t>信号</a:t>
            </a:r>
            <a:endParaRPr lang="zh-CN" altLang="en-US" sz="2400" b="1" dirty="0">
              <a:latin typeface="微软雅黑" pitchFamily="34" charset="-122"/>
              <a:ea typeface="微软雅黑" pitchFamily="34" charset="-122"/>
            </a:endParaRPr>
          </a:p>
        </p:txBody>
      </p:sp>
      <p:sp>
        <p:nvSpPr>
          <p:cNvPr id="50" name="文本框 60">
            <a:extLst>
              <a:ext uri="{FF2B5EF4-FFF2-40B4-BE49-F238E27FC236}">
                <a16:creationId xmlns:a16="http://schemas.microsoft.com/office/drawing/2014/main" xmlns="" id="{791D85D7-F412-9C48-9F2B-E33F5B7B4F3C}"/>
              </a:ext>
            </a:extLst>
          </p:cNvPr>
          <p:cNvSpPr txBox="1"/>
          <p:nvPr/>
        </p:nvSpPr>
        <p:spPr>
          <a:xfrm>
            <a:off x="1364781" y="293282"/>
            <a:ext cx="1664169"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光学</a:t>
            </a:r>
            <a:r>
              <a:rPr lang="zh-CN" altLang="en-US" sz="1800" b="1" dirty="0">
                <a:latin typeface="微软雅黑" panose="020B0503020204020204" pitchFamily="34" charset="-122"/>
                <a:ea typeface="微软雅黑" panose="020B0503020204020204" pitchFamily="34" charset="-122"/>
              </a:rPr>
              <a:t>信息变换</a:t>
            </a:r>
          </a:p>
        </p:txBody>
      </p:sp>
      <p:sp>
        <p:nvSpPr>
          <p:cNvPr id="51" name="矩形 50"/>
          <p:cNvSpPr/>
          <p:nvPr/>
        </p:nvSpPr>
        <p:spPr>
          <a:xfrm>
            <a:off x="10258816" y="329189"/>
            <a:ext cx="1208785"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52" name="矩形 51">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圆角 25">
            <a:extLst>
              <a:ext uri="{FF2B5EF4-FFF2-40B4-BE49-F238E27FC236}">
                <a16:creationId xmlns:a16="http://schemas.microsoft.com/office/drawing/2014/main" xmlns="" id="{D7400AB1-4BEC-40E5-A53B-E3CB1F48EB8A}"/>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54"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450506" y="704850"/>
            <a:ext cx="1360241" cy="615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55" name="矩形 54">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56" name="矩形 55">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xmlns="" val="1926945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ox(i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 calcmode="lin" valueType="num">
                                      <p:cBhvr additive="base">
                                        <p:cTn id="12" dur="500" fill="hold"/>
                                        <p:tgtEl>
                                          <p:spTgt spid="18"/>
                                        </p:tgtEl>
                                        <p:attrNameLst>
                                          <p:attrName>ppt_x</p:attrName>
                                        </p:attrNameLst>
                                      </p:cBhvr>
                                      <p:tavLst>
                                        <p:tav tm="0">
                                          <p:val>
                                            <p:strVal val="#ppt_x"/>
                                          </p:val>
                                        </p:tav>
                                        <p:tav tm="100000">
                                          <p:val>
                                            <p:strVal val="#ppt_x"/>
                                          </p:val>
                                        </p:tav>
                                      </p:tavLst>
                                    </p:anim>
                                    <p:anim calcmode="lin" valueType="num">
                                      <p:cBhvr additive="base">
                                        <p:cTn id="13"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1" fill="hold" nodeType="clickEffect">
                                  <p:stCondLst>
                                    <p:cond delay="0"/>
                                  </p:stCondLst>
                                  <p:childTnLst>
                                    <p:set>
                                      <p:cBhvr>
                                        <p:cTn id="17" dur="1" fill="hold">
                                          <p:stCondLst>
                                            <p:cond delay="0"/>
                                          </p:stCondLst>
                                        </p:cTn>
                                        <p:tgtEl>
                                          <p:spTgt spid="21"/>
                                        </p:tgtEl>
                                        <p:attrNameLst>
                                          <p:attrName>style.visibility</p:attrName>
                                        </p:attrNameLst>
                                      </p:cBhvr>
                                      <p:to>
                                        <p:strVal val="visible"/>
                                      </p:to>
                                    </p:set>
                                    <p:anim calcmode="lin" valueType="num">
                                      <p:cBhvr additive="base">
                                        <p:cTn id="18" dur="500" fill="hold"/>
                                        <p:tgtEl>
                                          <p:spTgt spid="21"/>
                                        </p:tgtEl>
                                        <p:attrNameLst>
                                          <p:attrName>ppt_x</p:attrName>
                                        </p:attrNameLst>
                                      </p:cBhvr>
                                      <p:tavLst>
                                        <p:tav tm="0">
                                          <p:val>
                                            <p:strVal val="#ppt_x"/>
                                          </p:val>
                                        </p:tav>
                                        <p:tav tm="100000">
                                          <p:val>
                                            <p:strVal val="#ppt_x"/>
                                          </p:val>
                                        </p:tav>
                                      </p:tavLst>
                                    </p:anim>
                                    <p:anim calcmode="lin" valueType="num">
                                      <p:cBhvr additive="base">
                                        <p:cTn id="19" dur="500" fill="hold"/>
                                        <p:tgtEl>
                                          <p:spTgt spid="21"/>
                                        </p:tgtEl>
                                        <p:attrNameLst>
                                          <p:attrName>ppt_y</p:attrName>
                                        </p:attrNameLst>
                                      </p:cBhvr>
                                      <p:tavLst>
                                        <p:tav tm="0">
                                          <p:val>
                                            <p:strVal val="0-#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nodeType="clickEffect">
                                  <p:stCondLst>
                                    <p:cond delay="0"/>
                                  </p:stCondLst>
                                  <p:childTnLst>
                                    <p:set>
                                      <p:cBhvr>
                                        <p:cTn id="23" dur="1" fill="hold">
                                          <p:stCondLst>
                                            <p:cond delay="0"/>
                                          </p:stCondLst>
                                        </p:cTn>
                                        <p:tgtEl>
                                          <p:spTgt spid="24"/>
                                        </p:tgtEl>
                                        <p:attrNameLst>
                                          <p:attrName>style.visibility</p:attrName>
                                        </p:attrNameLst>
                                      </p:cBhvr>
                                      <p:to>
                                        <p:strVal val="visible"/>
                                      </p:to>
                                    </p:set>
                                    <p:anim calcmode="lin" valueType="num">
                                      <p:cBhvr additive="base">
                                        <p:cTn id="24" dur="500" fill="hold"/>
                                        <p:tgtEl>
                                          <p:spTgt spid="24"/>
                                        </p:tgtEl>
                                        <p:attrNameLst>
                                          <p:attrName>ppt_x</p:attrName>
                                        </p:attrNameLst>
                                      </p:cBhvr>
                                      <p:tavLst>
                                        <p:tav tm="0">
                                          <p:val>
                                            <p:strVal val="1+#ppt_w/2"/>
                                          </p:val>
                                        </p:tav>
                                        <p:tav tm="100000">
                                          <p:val>
                                            <p:strVal val="#ppt_x"/>
                                          </p:val>
                                        </p:tav>
                                      </p:tavLst>
                                    </p:anim>
                                    <p:anim calcmode="lin" valueType="num">
                                      <p:cBhvr additive="base">
                                        <p:cTn id="25"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3"/>
                                        </p:tgtEl>
                                        <p:attrNameLst>
                                          <p:attrName>style.visibility</p:attrName>
                                        </p:attrNameLst>
                                      </p:cBhvr>
                                      <p:to>
                                        <p:strVal val="visible"/>
                                      </p:to>
                                    </p:set>
                                    <p:anim calcmode="lin" valueType="num">
                                      <p:cBhvr additive="base">
                                        <p:cTn id="30" dur="500" fill="hold"/>
                                        <p:tgtEl>
                                          <p:spTgt spid="33"/>
                                        </p:tgtEl>
                                        <p:attrNameLst>
                                          <p:attrName>ppt_x</p:attrName>
                                        </p:attrNameLst>
                                      </p:cBhvr>
                                      <p:tavLst>
                                        <p:tav tm="0">
                                          <p:val>
                                            <p:strVal val="#ppt_x"/>
                                          </p:val>
                                        </p:tav>
                                        <p:tav tm="100000">
                                          <p:val>
                                            <p:strVal val="#ppt_x"/>
                                          </p:val>
                                        </p:tav>
                                      </p:tavLst>
                                    </p:anim>
                                    <p:anim calcmode="lin" valueType="num">
                                      <p:cBhvr additive="base">
                                        <p:cTn id="31"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30"/>
                                        </p:tgtEl>
                                        <p:attrNameLst>
                                          <p:attrName>style.visibility</p:attrName>
                                        </p:attrNameLst>
                                      </p:cBhvr>
                                      <p:to>
                                        <p:strVal val="visible"/>
                                      </p:to>
                                    </p:set>
                                    <p:anim calcmode="lin" valueType="num">
                                      <p:cBhvr additive="base">
                                        <p:cTn id="36" dur="500" fill="hold"/>
                                        <p:tgtEl>
                                          <p:spTgt spid="30"/>
                                        </p:tgtEl>
                                        <p:attrNameLst>
                                          <p:attrName>ppt_x</p:attrName>
                                        </p:attrNameLst>
                                      </p:cBhvr>
                                      <p:tavLst>
                                        <p:tav tm="0">
                                          <p:val>
                                            <p:strVal val="#ppt_x"/>
                                          </p:val>
                                        </p:tav>
                                        <p:tav tm="100000">
                                          <p:val>
                                            <p:strVal val="#ppt_x"/>
                                          </p:val>
                                        </p:tav>
                                      </p:tavLst>
                                    </p:anim>
                                    <p:anim calcmode="lin" valueType="num">
                                      <p:cBhvr additive="base">
                                        <p:cTn id="37"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nodeType="clickEffect">
                                  <p:stCondLst>
                                    <p:cond delay="0"/>
                                  </p:stCondLst>
                                  <p:childTnLst>
                                    <p:set>
                                      <p:cBhvr>
                                        <p:cTn id="41" dur="1" fill="hold">
                                          <p:stCondLst>
                                            <p:cond delay="0"/>
                                          </p:stCondLst>
                                        </p:cTn>
                                        <p:tgtEl>
                                          <p:spTgt spid="27"/>
                                        </p:tgtEl>
                                        <p:attrNameLst>
                                          <p:attrName>style.visibility</p:attrName>
                                        </p:attrNameLst>
                                      </p:cBhvr>
                                      <p:to>
                                        <p:strVal val="visible"/>
                                      </p:to>
                                    </p:set>
                                    <p:anim calcmode="lin" valueType="num">
                                      <p:cBhvr additive="base">
                                        <p:cTn id="42" dur="500" fill="hold"/>
                                        <p:tgtEl>
                                          <p:spTgt spid="27"/>
                                        </p:tgtEl>
                                        <p:attrNameLst>
                                          <p:attrName>ppt_x</p:attrName>
                                        </p:attrNameLst>
                                      </p:cBhvr>
                                      <p:tavLst>
                                        <p:tav tm="0">
                                          <p:val>
                                            <p:strVal val="0-#ppt_w/2"/>
                                          </p:val>
                                        </p:tav>
                                        <p:tav tm="100000">
                                          <p:val>
                                            <p:strVal val="#ppt_x"/>
                                          </p:val>
                                        </p:tav>
                                      </p:tavLst>
                                    </p:anim>
                                    <p:anim calcmode="lin" valueType="num">
                                      <p:cBhvr additive="base">
                                        <p:cTn id="43"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1" fill="hold" nodeType="clickEffect">
                                  <p:stCondLst>
                                    <p:cond delay="0"/>
                                  </p:stCondLst>
                                  <p:childTnLst>
                                    <p:set>
                                      <p:cBhvr>
                                        <p:cTn id="47" dur="1" fill="hold">
                                          <p:stCondLst>
                                            <p:cond delay="0"/>
                                          </p:stCondLst>
                                        </p:cTn>
                                        <p:tgtEl>
                                          <p:spTgt spid="37"/>
                                        </p:tgtEl>
                                        <p:attrNameLst>
                                          <p:attrName>style.visibility</p:attrName>
                                        </p:attrNameLst>
                                      </p:cBhvr>
                                      <p:to>
                                        <p:strVal val="visible"/>
                                      </p:to>
                                    </p:set>
                                    <p:anim calcmode="lin" valueType="num">
                                      <p:cBhvr additive="base">
                                        <p:cTn id="48" dur="500" fill="hold"/>
                                        <p:tgtEl>
                                          <p:spTgt spid="37"/>
                                        </p:tgtEl>
                                        <p:attrNameLst>
                                          <p:attrName>ppt_x</p:attrName>
                                        </p:attrNameLst>
                                      </p:cBhvr>
                                      <p:tavLst>
                                        <p:tav tm="0">
                                          <p:val>
                                            <p:strVal val="#ppt_x"/>
                                          </p:val>
                                        </p:tav>
                                        <p:tav tm="100000">
                                          <p:val>
                                            <p:strVal val="#ppt_x"/>
                                          </p:val>
                                        </p:tav>
                                      </p:tavLst>
                                    </p:anim>
                                    <p:anim calcmode="lin" valueType="num">
                                      <p:cBhvr additive="base">
                                        <p:cTn id="49" dur="500" fill="hold"/>
                                        <p:tgtEl>
                                          <p:spTgt spid="37"/>
                                        </p:tgtEl>
                                        <p:attrNameLst>
                                          <p:attrName>ppt_y</p:attrName>
                                        </p:attrNameLst>
                                      </p:cBhvr>
                                      <p:tavLst>
                                        <p:tav tm="0">
                                          <p:val>
                                            <p:strVal val="0-#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49"/>
                                        </p:tgtEl>
                                        <p:attrNameLst>
                                          <p:attrName>style.visibility</p:attrName>
                                        </p:attrNameLst>
                                      </p:cBhvr>
                                      <p:to>
                                        <p:strVal val="visible"/>
                                      </p:to>
                                    </p:set>
                                    <p:animEffect transition="in" filter="blinds(horizontal)">
                                      <p:cBhvr>
                                        <p:cTn id="54"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圆角矩形 72"/>
          <p:cNvSpPr/>
          <p:nvPr/>
        </p:nvSpPr>
        <p:spPr>
          <a:xfrm>
            <a:off x="7439087" y="2366499"/>
            <a:ext cx="4171888" cy="4562475"/>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a:off x="3842243" y="2457450"/>
            <a:ext cx="2355097" cy="4562475"/>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 name="组合 15"/>
          <p:cNvGrpSpPr/>
          <p:nvPr/>
        </p:nvGrpSpPr>
        <p:grpSpPr>
          <a:xfrm>
            <a:off x="1604646" y="4003644"/>
            <a:ext cx="1524001" cy="1200329"/>
            <a:chOff x="1604645" y="3257550"/>
            <a:chExt cx="1524001" cy="1200329"/>
          </a:xfrm>
        </p:grpSpPr>
        <p:sp>
          <p:nvSpPr>
            <p:cNvPr id="15" name="圆角矩形 14"/>
            <p:cNvSpPr/>
            <p:nvPr/>
          </p:nvSpPr>
          <p:spPr>
            <a:xfrm>
              <a:off x="1604645" y="3295650"/>
              <a:ext cx="1452879" cy="111442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604646" y="3257550"/>
              <a:ext cx="1524000" cy="1200329"/>
            </a:xfrm>
            <a:prstGeom prst="rect">
              <a:avLst/>
            </a:prstGeom>
            <a:noFill/>
          </p:spPr>
          <p:txBody>
            <a:bodyPr wrap="square" rtlCol="0">
              <a:spAutoFit/>
            </a:bodyPr>
            <a:lstStyle/>
            <a:p>
              <a:pPr>
                <a:lnSpc>
                  <a:spcPct val="150000"/>
                </a:lnSpc>
              </a:pPr>
              <a:r>
                <a:rPr lang="zh-CN" altLang="en-US" sz="2400" b="1" dirty="0" smtClean="0">
                  <a:solidFill>
                    <a:srgbClr val="0000FF"/>
                  </a:solidFill>
                  <a:latin typeface="微软雅黑" pitchFamily="34" charset="-122"/>
                  <a:ea typeface="微软雅黑" pitchFamily="34" charset="-122"/>
                  <a:cs typeface="Times New Roman" pitchFamily="18" charset="0"/>
                </a:rPr>
                <a:t>几何光学</a:t>
              </a:r>
              <a:endParaRPr lang="en-US" altLang="zh-CN" sz="2400" b="1" dirty="0" smtClean="0">
                <a:solidFill>
                  <a:srgbClr val="0000FF"/>
                </a:solidFill>
                <a:latin typeface="微软雅黑" pitchFamily="34" charset="-122"/>
                <a:ea typeface="微软雅黑" pitchFamily="34" charset="-122"/>
                <a:cs typeface="Times New Roman" pitchFamily="18" charset="0"/>
              </a:endParaRPr>
            </a:p>
            <a:p>
              <a:pPr algn="ctr">
                <a:lnSpc>
                  <a:spcPct val="150000"/>
                </a:lnSpc>
              </a:pPr>
              <a:r>
                <a:rPr lang="zh-CN" altLang="en-US" sz="2400" b="1" dirty="0" smtClean="0">
                  <a:solidFill>
                    <a:srgbClr val="0000FF"/>
                  </a:solidFill>
                  <a:latin typeface="微软雅黑" pitchFamily="34" charset="-122"/>
                  <a:ea typeface="微软雅黑" pitchFamily="34" charset="-122"/>
                  <a:cs typeface="Times New Roman" pitchFamily="18" charset="0"/>
                </a:rPr>
                <a:t>方法</a:t>
              </a:r>
              <a:endParaRPr lang="zh-CN" altLang="en-US" sz="2400" dirty="0"/>
            </a:p>
          </p:txBody>
        </p:sp>
      </p:grpSp>
      <p:grpSp>
        <p:nvGrpSpPr>
          <p:cNvPr id="26" name="组合 25"/>
          <p:cNvGrpSpPr/>
          <p:nvPr/>
        </p:nvGrpSpPr>
        <p:grpSpPr>
          <a:xfrm>
            <a:off x="4226217" y="2541727"/>
            <a:ext cx="1597543" cy="621321"/>
            <a:chOff x="5045828" y="2122627"/>
            <a:chExt cx="1597543" cy="621321"/>
          </a:xfrm>
        </p:grpSpPr>
        <p:sp>
          <p:nvSpPr>
            <p:cNvPr id="18" name="圆角矩形 17"/>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文本框 18"/>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直线传播</a:t>
              </a:r>
              <a:endParaRPr lang="zh-CN" altLang="en-US" sz="2400" dirty="0"/>
            </a:p>
          </p:txBody>
        </p:sp>
      </p:grpSp>
      <p:grpSp>
        <p:nvGrpSpPr>
          <p:cNvPr id="39" name="组合 38"/>
          <p:cNvGrpSpPr/>
          <p:nvPr/>
        </p:nvGrpSpPr>
        <p:grpSpPr>
          <a:xfrm>
            <a:off x="3842243" y="1039253"/>
            <a:ext cx="2355097" cy="1165125"/>
            <a:chOff x="8103353" y="2179927"/>
            <a:chExt cx="2355097" cy="1165125"/>
          </a:xfrm>
        </p:grpSpPr>
        <p:sp>
          <p:nvSpPr>
            <p:cNvPr id="21" name="圆角矩形 20"/>
            <p:cNvSpPr/>
            <p:nvPr/>
          </p:nvSpPr>
          <p:spPr>
            <a:xfrm>
              <a:off x="8103353" y="2179927"/>
              <a:ext cx="2355097" cy="116512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8176896" y="2237056"/>
              <a:ext cx="2148204" cy="1107996"/>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光学原理</a:t>
              </a:r>
              <a:endParaRPr lang="en-US" altLang="zh-CN" sz="2400" b="1" dirty="0" smtClean="0">
                <a:latin typeface="微软雅黑" pitchFamily="34" charset="-122"/>
                <a:ea typeface="微软雅黑" pitchFamily="34" charset="-122"/>
                <a:cs typeface="Times New Roman" pitchFamily="18" charset="0"/>
              </a:endParaRPr>
            </a:p>
            <a:p>
              <a:pPr>
                <a:lnSpc>
                  <a:spcPct val="150000"/>
                </a:lnSpc>
              </a:pPr>
              <a:r>
                <a:rPr lang="zh-CN" altLang="en-US" sz="2400" b="1" dirty="0" smtClean="0">
                  <a:latin typeface="微软雅黑" pitchFamily="34" charset="-122"/>
                  <a:ea typeface="微软雅黑" pitchFamily="34" charset="-122"/>
                  <a:cs typeface="Times New Roman" pitchFamily="18" charset="0"/>
                </a:rPr>
                <a:t>非</a:t>
              </a:r>
              <a:r>
                <a:rPr lang="zh-CN" altLang="en-US" sz="2400" b="1" dirty="0">
                  <a:latin typeface="微软雅黑" pitchFamily="34" charset="-122"/>
                  <a:ea typeface="微软雅黑" pitchFamily="34" charset="-122"/>
                  <a:cs typeface="Times New Roman" pitchFamily="18" charset="0"/>
                </a:rPr>
                <a:t>相干光学现象</a:t>
              </a:r>
              <a:endParaRPr lang="zh-CN" altLang="en-US" sz="2400" dirty="0"/>
            </a:p>
          </p:txBody>
        </p:sp>
      </p:grpSp>
      <p:grpSp>
        <p:nvGrpSpPr>
          <p:cNvPr id="27" name="组合 26"/>
          <p:cNvGrpSpPr/>
          <p:nvPr/>
        </p:nvGrpSpPr>
        <p:grpSpPr>
          <a:xfrm>
            <a:off x="4226217" y="3421064"/>
            <a:ext cx="1597543" cy="621321"/>
            <a:chOff x="5045828" y="2122627"/>
            <a:chExt cx="1597543" cy="621321"/>
          </a:xfrm>
        </p:grpSpPr>
        <p:sp>
          <p:nvSpPr>
            <p:cNvPr id="28" name="圆角矩形 27"/>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遮光</a:t>
              </a:r>
              <a:endParaRPr lang="zh-CN" altLang="en-US" sz="2400" dirty="0"/>
            </a:p>
          </p:txBody>
        </p:sp>
      </p:grpSp>
      <p:grpSp>
        <p:nvGrpSpPr>
          <p:cNvPr id="30" name="组合 29"/>
          <p:cNvGrpSpPr/>
          <p:nvPr/>
        </p:nvGrpSpPr>
        <p:grpSpPr>
          <a:xfrm>
            <a:off x="4226217" y="4339648"/>
            <a:ext cx="1597543" cy="621321"/>
            <a:chOff x="5045828" y="2122627"/>
            <a:chExt cx="1597543" cy="621321"/>
          </a:xfrm>
        </p:grpSpPr>
        <p:sp>
          <p:nvSpPr>
            <p:cNvPr id="31" name="圆角矩形 30"/>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a:latin typeface="微软雅黑" pitchFamily="34" charset="-122"/>
                  <a:ea typeface="微软雅黑" pitchFamily="34" charset="-122"/>
                  <a:cs typeface="Times New Roman" pitchFamily="18" charset="0"/>
                </a:rPr>
                <a:t>反射</a:t>
              </a:r>
              <a:endParaRPr lang="zh-CN" altLang="en-US" sz="2400" dirty="0"/>
            </a:p>
          </p:txBody>
        </p:sp>
      </p:grpSp>
      <p:grpSp>
        <p:nvGrpSpPr>
          <p:cNvPr id="33" name="组合 32"/>
          <p:cNvGrpSpPr/>
          <p:nvPr/>
        </p:nvGrpSpPr>
        <p:grpSpPr>
          <a:xfrm>
            <a:off x="4247056" y="5184694"/>
            <a:ext cx="1597543" cy="621321"/>
            <a:chOff x="5045828" y="2122627"/>
            <a:chExt cx="1597543" cy="621321"/>
          </a:xfrm>
        </p:grpSpPr>
        <p:sp>
          <p:nvSpPr>
            <p:cNvPr id="34" name="圆角矩形 33"/>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折射</a:t>
              </a:r>
              <a:endParaRPr lang="zh-CN" altLang="en-US" sz="2400" dirty="0"/>
            </a:p>
          </p:txBody>
        </p:sp>
      </p:grpSp>
      <p:grpSp>
        <p:nvGrpSpPr>
          <p:cNvPr id="36" name="组合 35"/>
          <p:cNvGrpSpPr/>
          <p:nvPr/>
        </p:nvGrpSpPr>
        <p:grpSpPr>
          <a:xfrm>
            <a:off x="4247056" y="6126629"/>
            <a:ext cx="1597543" cy="621321"/>
            <a:chOff x="5045828" y="2122627"/>
            <a:chExt cx="1597543" cy="621321"/>
          </a:xfrm>
        </p:grpSpPr>
        <p:sp>
          <p:nvSpPr>
            <p:cNvPr id="37" name="圆角矩形 36"/>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光学成像</a:t>
              </a:r>
              <a:endParaRPr lang="zh-CN" altLang="en-US" sz="2400" dirty="0"/>
            </a:p>
          </p:txBody>
        </p:sp>
      </p:grpSp>
      <p:grpSp>
        <p:nvGrpSpPr>
          <p:cNvPr id="40" name="组合 39"/>
          <p:cNvGrpSpPr/>
          <p:nvPr/>
        </p:nvGrpSpPr>
        <p:grpSpPr>
          <a:xfrm>
            <a:off x="7750467" y="2573751"/>
            <a:ext cx="1597543" cy="621321"/>
            <a:chOff x="5045828" y="2122627"/>
            <a:chExt cx="1597543" cy="621321"/>
          </a:xfrm>
        </p:grpSpPr>
        <p:sp>
          <p:nvSpPr>
            <p:cNvPr id="41" name="圆角矩形 40"/>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光电开关</a:t>
              </a:r>
              <a:endParaRPr lang="zh-CN" altLang="en-US" sz="2400" dirty="0"/>
            </a:p>
          </p:txBody>
        </p:sp>
      </p:grpSp>
      <p:grpSp>
        <p:nvGrpSpPr>
          <p:cNvPr id="43" name="组合 42"/>
          <p:cNvGrpSpPr/>
          <p:nvPr/>
        </p:nvGrpSpPr>
        <p:grpSpPr>
          <a:xfrm>
            <a:off x="7750467" y="3453088"/>
            <a:ext cx="1597543" cy="621321"/>
            <a:chOff x="5045828" y="2122627"/>
            <a:chExt cx="1597543" cy="621321"/>
          </a:xfrm>
        </p:grpSpPr>
        <p:sp>
          <p:nvSpPr>
            <p:cNvPr id="44" name="圆角矩形 43"/>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光学编码</a:t>
              </a:r>
              <a:endParaRPr lang="zh-CN" altLang="en-US" sz="2400" dirty="0"/>
            </a:p>
          </p:txBody>
        </p:sp>
      </p:grpSp>
      <p:grpSp>
        <p:nvGrpSpPr>
          <p:cNvPr id="46" name="组合 45"/>
          <p:cNvGrpSpPr/>
          <p:nvPr/>
        </p:nvGrpSpPr>
        <p:grpSpPr>
          <a:xfrm>
            <a:off x="7750467" y="4371672"/>
            <a:ext cx="1597543" cy="621321"/>
            <a:chOff x="5045828" y="2122627"/>
            <a:chExt cx="1597543" cy="621321"/>
          </a:xfrm>
        </p:grpSpPr>
        <p:sp>
          <p:nvSpPr>
            <p:cNvPr id="47" name="圆角矩形 46"/>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光学扫描</a:t>
              </a:r>
              <a:endParaRPr lang="zh-CN" altLang="en-US" sz="2400" dirty="0"/>
            </a:p>
          </p:txBody>
        </p:sp>
      </p:grpSp>
      <p:grpSp>
        <p:nvGrpSpPr>
          <p:cNvPr id="49" name="组合 48"/>
          <p:cNvGrpSpPr/>
          <p:nvPr/>
        </p:nvGrpSpPr>
        <p:grpSpPr>
          <a:xfrm>
            <a:off x="7771306" y="5216718"/>
            <a:ext cx="1597543" cy="621321"/>
            <a:chOff x="5045828" y="2122627"/>
            <a:chExt cx="1597543" cy="621321"/>
          </a:xfrm>
        </p:grpSpPr>
        <p:sp>
          <p:nvSpPr>
            <p:cNvPr id="50" name="圆角矩形 49"/>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瞄准定位</a:t>
              </a:r>
              <a:endParaRPr lang="zh-CN" altLang="en-US" sz="2400" dirty="0"/>
            </a:p>
          </p:txBody>
        </p:sp>
      </p:grpSp>
      <p:grpSp>
        <p:nvGrpSpPr>
          <p:cNvPr id="52" name="组合 51"/>
          <p:cNvGrpSpPr/>
          <p:nvPr/>
        </p:nvGrpSpPr>
        <p:grpSpPr>
          <a:xfrm>
            <a:off x="7771306" y="6158653"/>
            <a:ext cx="1597543" cy="621321"/>
            <a:chOff x="5045828" y="2122627"/>
            <a:chExt cx="1597543" cy="621321"/>
          </a:xfrm>
        </p:grpSpPr>
        <p:sp>
          <p:nvSpPr>
            <p:cNvPr id="53" name="圆角矩形 52"/>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准直定向</a:t>
              </a:r>
              <a:endParaRPr lang="zh-CN" altLang="en-US" sz="2400" dirty="0"/>
            </a:p>
          </p:txBody>
        </p:sp>
      </p:grpSp>
      <p:grpSp>
        <p:nvGrpSpPr>
          <p:cNvPr id="55" name="组合 54"/>
          <p:cNvGrpSpPr/>
          <p:nvPr/>
        </p:nvGrpSpPr>
        <p:grpSpPr>
          <a:xfrm>
            <a:off x="9698013" y="2541727"/>
            <a:ext cx="1597543" cy="621321"/>
            <a:chOff x="5045828" y="2122627"/>
            <a:chExt cx="1597543" cy="621321"/>
          </a:xfrm>
        </p:grpSpPr>
        <p:sp>
          <p:nvSpPr>
            <p:cNvPr id="56" name="圆角矩形 55"/>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文本框 56"/>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测长</a:t>
              </a:r>
              <a:endParaRPr lang="zh-CN" altLang="en-US" sz="2400" dirty="0"/>
            </a:p>
          </p:txBody>
        </p:sp>
      </p:grpSp>
      <p:grpSp>
        <p:nvGrpSpPr>
          <p:cNvPr id="58" name="组合 57"/>
          <p:cNvGrpSpPr/>
          <p:nvPr/>
        </p:nvGrpSpPr>
        <p:grpSpPr>
          <a:xfrm>
            <a:off x="9698013" y="3421064"/>
            <a:ext cx="1597543" cy="621321"/>
            <a:chOff x="5045828" y="2122627"/>
            <a:chExt cx="1597543" cy="621321"/>
          </a:xfrm>
        </p:grpSpPr>
        <p:sp>
          <p:nvSpPr>
            <p:cNvPr id="59" name="圆角矩形 58"/>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文本框 59"/>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测角</a:t>
              </a:r>
              <a:endParaRPr lang="zh-CN" altLang="en-US" sz="2400" dirty="0"/>
            </a:p>
          </p:txBody>
        </p:sp>
      </p:grpSp>
      <p:grpSp>
        <p:nvGrpSpPr>
          <p:cNvPr id="61" name="组合 60"/>
          <p:cNvGrpSpPr/>
          <p:nvPr/>
        </p:nvGrpSpPr>
        <p:grpSpPr>
          <a:xfrm>
            <a:off x="9698013" y="4339648"/>
            <a:ext cx="1597543" cy="621321"/>
            <a:chOff x="5045828" y="2122627"/>
            <a:chExt cx="1597543" cy="621321"/>
          </a:xfrm>
        </p:grpSpPr>
        <p:sp>
          <p:nvSpPr>
            <p:cNvPr id="62" name="圆角矩形 61"/>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测距</a:t>
              </a:r>
              <a:endParaRPr lang="zh-CN" altLang="en-US" sz="2400" dirty="0"/>
            </a:p>
          </p:txBody>
        </p:sp>
      </p:grpSp>
      <p:grpSp>
        <p:nvGrpSpPr>
          <p:cNvPr id="64" name="组合 63"/>
          <p:cNvGrpSpPr/>
          <p:nvPr/>
        </p:nvGrpSpPr>
        <p:grpSpPr>
          <a:xfrm>
            <a:off x="9718852" y="5184694"/>
            <a:ext cx="1597543" cy="621321"/>
            <a:chOff x="5045828" y="2122627"/>
            <a:chExt cx="1597543" cy="621321"/>
          </a:xfrm>
        </p:grpSpPr>
        <p:sp>
          <p:nvSpPr>
            <p:cNvPr id="65" name="圆角矩形 64"/>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折射</a:t>
              </a:r>
              <a:endParaRPr lang="zh-CN" altLang="en-US" sz="2400" dirty="0"/>
            </a:p>
          </p:txBody>
        </p:sp>
      </p:grpSp>
      <p:grpSp>
        <p:nvGrpSpPr>
          <p:cNvPr id="67" name="组合 66"/>
          <p:cNvGrpSpPr/>
          <p:nvPr/>
        </p:nvGrpSpPr>
        <p:grpSpPr>
          <a:xfrm>
            <a:off x="9718852" y="6126629"/>
            <a:ext cx="1597543" cy="621321"/>
            <a:chOff x="5045828" y="2122627"/>
            <a:chExt cx="1597543" cy="621321"/>
          </a:xfrm>
        </p:grpSpPr>
        <p:sp>
          <p:nvSpPr>
            <p:cNvPr id="68" name="圆角矩形 67"/>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文本框 68"/>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成像测量</a:t>
              </a:r>
              <a:endParaRPr lang="zh-CN" altLang="en-US" sz="2400" dirty="0"/>
            </a:p>
          </p:txBody>
        </p:sp>
      </p:grpSp>
      <p:grpSp>
        <p:nvGrpSpPr>
          <p:cNvPr id="70" name="组合 69"/>
          <p:cNvGrpSpPr/>
          <p:nvPr/>
        </p:nvGrpSpPr>
        <p:grpSpPr>
          <a:xfrm>
            <a:off x="8191300" y="1076744"/>
            <a:ext cx="2355097" cy="1165125"/>
            <a:chOff x="8103353" y="2179927"/>
            <a:chExt cx="2355097" cy="1165125"/>
          </a:xfrm>
        </p:grpSpPr>
        <p:sp>
          <p:nvSpPr>
            <p:cNvPr id="71" name="圆角矩形 70"/>
            <p:cNvSpPr/>
            <p:nvPr/>
          </p:nvSpPr>
          <p:spPr>
            <a:xfrm>
              <a:off x="8103353" y="2179927"/>
              <a:ext cx="2355097" cy="116512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p:cNvSpPr txBox="1"/>
            <p:nvPr/>
          </p:nvSpPr>
          <p:spPr>
            <a:xfrm>
              <a:off x="8236703" y="2445338"/>
              <a:ext cx="2148204"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应用</a:t>
              </a:r>
              <a:endParaRPr lang="zh-CN" altLang="en-US" sz="2400" dirty="0"/>
            </a:p>
          </p:txBody>
        </p:sp>
      </p:grpSp>
      <p:sp>
        <p:nvSpPr>
          <p:cNvPr id="74" name="文本框 60">
            <a:extLst>
              <a:ext uri="{FF2B5EF4-FFF2-40B4-BE49-F238E27FC236}">
                <a16:creationId xmlns:a16="http://schemas.microsoft.com/office/drawing/2014/main" xmlns="" id="{791D85D7-F412-9C48-9F2B-E33F5B7B4F3C}"/>
              </a:ext>
            </a:extLst>
          </p:cNvPr>
          <p:cNvSpPr txBox="1"/>
          <p:nvPr/>
        </p:nvSpPr>
        <p:spPr>
          <a:xfrm>
            <a:off x="1364781" y="293282"/>
            <a:ext cx="1664169"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光学</a:t>
            </a:r>
            <a:r>
              <a:rPr lang="zh-CN" altLang="en-US" sz="1800" b="1" dirty="0">
                <a:latin typeface="微软雅黑" panose="020B0503020204020204" pitchFamily="34" charset="-122"/>
                <a:ea typeface="微软雅黑" panose="020B0503020204020204" pitchFamily="34" charset="-122"/>
              </a:rPr>
              <a:t>信息变换</a:t>
            </a:r>
          </a:p>
        </p:txBody>
      </p:sp>
      <p:sp>
        <p:nvSpPr>
          <p:cNvPr id="75" name="矩形 74"/>
          <p:cNvSpPr/>
          <p:nvPr/>
        </p:nvSpPr>
        <p:spPr>
          <a:xfrm>
            <a:off x="10271342" y="329189"/>
            <a:ext cx="1196259"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76" name="矩形 75">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圆角 25">
            <a:extLst>
              <a:ext uri="{FF2B5EF4-FFF2-40B4-BE49-F238E27FC236}">
                <a16:creationId xmlns:a16="http://schemas.microsoft.com/office/drawing/2014/main" xmlns="" id="{D7400AB1-4BEC-40E5-A53B-E3CB1F48EB8A}"/>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78"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450506" y="704850"/>
            <a:ext cx="1360241" cy="615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79" name="矩形 78">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80" name="矩形 79">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xmlns="" val="2355217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7439087" y="2366499"/>
            <a:ext cx="4171888" cy="4562475"/>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3842243" y="2457450"/>
            <a:ext cx="2355097" cy="4562475"/>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1604646" y="4003644"/>
            <a:ext cx="1524001" cy="1200329"/>
            <a:chOff x="1604645" y="3257550"/>
            <a:chExt cx="1524001" cy="1200329"/>
          </a:xfrm>
        </p:grpSpPr>
        <p:sp>
          <p:nvSpPr>
            <p:cNvPr id="14" name="圆角矩形 13"/>
            <p:cNvSpPr/>
            <p:nvPr/>
          </p:nvSpPr>
          <p:spPr>
            <a:xfrm>
              <a:off x="1604645" y="3295650"/>
              <a:ext cx="1452879" cy="111442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1604646" y="3257550"/>
              <a:ext cx="1524000" cy="1200329"/>
            </a:xfrm>
            <a:prstGeom prst="rect">
              <a:avLst/>
            </a:prstGeom>
            <a:noFill/>
          </p:spPr>
          <p:txBody>
            <a:bodyPr wrap="square" rtlCol="0">
              <a:spAutoFit/>
            </a:bodyPr>
            <a:lstStyle/>
            <a:p>
              <a:pPr>
                <a:lnSpc>
                  <a:spcPct val="150000"/>
                </a:lnSpc>
              </a:pPr>
              <a:r>
                <a:rPr lang="zh-CN" altLang="en-US" sz="2400" b="1" dirty="0">
                  <a:solidFill>
                    <a:srgbClr val="0000FF"/>
                  </a:solidFill>
                  <a:latin typeface="微软雅黑" pitchFamily="34" charset="-122"/>
                  <a:ea typeface="微软雅黑" pitchFamily="34" charset="-122"/>
                  <a:cs typeface="Times New Roman" pitchFamily="18" charset="0"/>
                </a:rPr>
                <a:t>物理</a:t>
              </a:r>
              <a:r>
                <a:rPr lang="zh-CN" altLang="en-US" sz="2400" b="1" dirty="0" smtClean="0">
                  <a:solidFill>
                    <a:srgbClr val="0000FF"/>
                  </a:solidFill>
                  <a:latin typeface="微软雅黑" pitchFamily="34" charset="-122"/>
                  <a:ea typeface="微软雅黑" pitchFamily="34" charset="-122"/>
                  <a:cs typeface="Times New Roman" pitchFamily="18" charset="0"/>
                </a:rPr>
                <a:t>光学</a:t>
              </a:r>
              <a:endParaRPr lang="en-US" altLang="zh-CN" sz="2400" b="1" dirty="0" smtClean="0">
                <a:solidFill>
                  <a:srgbClr val="0000FF"/>
                </a:solidFill>
                <a:latin typeface="微软雅黑" pitchFamily="34" charset="-122"/>
                <a:ea typeface="微软雅黑" pitchFamily="34" charset="-122"/>
                <a:cs typeface="Times New Roman" pitchFamily="18" charset="0"/>
              </a:endParaRPr>
            </a:p>
            <a:p>
              <a:pPr algn="ctr">
                <a:lnSpc>
                  <a:spcPct val="150000"/>
                </a:lnSpc>
              </a:pPr>
              <a:r>
                <a:rPr lang="zh-CN" altLang="en-US" sz="2400" b="1" dirty="0" smtClean="0">
                  <a:solidFill>
                    <a:srgbClr val="0000FF"/>
                  </a:solidFill>
                  <a:latin typeface="微软雅黑" pitchFamily="34" charset="-122"/>
                  <a:ea typeface="微软雅黑" pitchFamily="34" charset="-122"/>
                  <a:cs typeface="Times New Roman" pitchFamily="18" charset="0"/>
                </a:rPr>
                <a:t>方法</a:t>
              </a:r>
              <a:endParaRPr lang="zh-CN" altLang="en-US" sz="2400" dirty="0"/>
            </a:p>
          </p:txBody>
        </p:sp>
      </p:grpSp>
      <p:grpSp>
        <p:nvGrpSpPr>
          <p:cNvPr id="16" name="组合 15"/>
          <p:cNvGrpSpPr/>
          <p:nvPr/>
        </p:nvGrpSpPr>
        <p:grpSpPr>
          <a:xfrm>
            <a:off x="4226217" y="2541727"/>
            <a:ext cx="1597543" cy="621321"/>
            <a:chOff x="5045828" y="2122627"/>
            <a:chExt cx="1597543" cy="621321"/>
          </a:xfrm>
        </p:grpSpPr>
        <p:sp>
          <p:nvSpPr>
            <p:cNvPr id="17" name="圆角矩形 16"/>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干涉</a:t>
              </a:r>
              <a:endParaRPr lang="zh-CN" altLang="en-US" sz="2400" dirty="0"/>
            </a:p>
          </p:txBody>
        </p:sp>
      </p:grpSp>
      <p:grpSp>
        <p:nvGrpSpPr>
          <p:cNvPr id="19" name="组合 18"/>
          <p:cNvGrpSpPr/>
          <p:nvPr/>
        </p:nvGrpSpPr>
        <p:grpSpPr>
          <a:xfrm>
            <a:off x="3842243" y="1039253"/>
            <a:ext cx="2355097" cy="1165125"/>
            <a:chOff x="8103353" y="2179927"/>
            <a:chExt cx="2355097" cy="1165125"/>
          </a:xfrm>
        </p:grpSpPr>
        <p:sp>
          <p:nvSpPr>
            <p:cNvPr id="20" name="圆角矩形 19"/>
            <p:cNvSpPr/>
            <p:nvPr/>
          </p:nvSpPr>
          <p:spPr>
            <a:xfrm>
              <a:off x="8103353" y="2179927"/>
              <a:ext cx="2355097" cy="116512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176896" y="2237056"/>
              <a:ext cx="2148204" cy="1107996"/>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光学原理</a:t>
              </a:r>
              <a:endParaRPr lang="en-US" altLang="zh-CN" sz="2400" b="1" dirty="0" smtClean="0">
                <a:latin typeface="微软雅黑" pitchFamily="34" charset="-122"/>
                <a:ea typeface="微软雅黑" pitchFamily="34" charset="-122"/>
                <a:cs typeface="Times New Roman" pitchFamily="18" charset="0"/>
              </a:endParaRPr>
            </a:p>
            <a:p>
              <a:pPr>
                <a:lnSpc>
                  <a:spcPct val="150000"/>
                </a:lnSpc>
              </a:pPr>
              <a:r>
                <a:rPr lang="zh-CN" altLang="en-US" sz="2400" b="1" dirty="0" smtClean="0">
                  <a:latin typeface="微软雅黑" pitchFamily="34" charset="-122"/>
                  <a:ea typeface="微软雅黑" pitchFamily="34" charset="-122"/>
                  <a:cs typeface="Times New Roman" pitchFamily="18" charset="0"/>
                </a:rPr>
                <a:t>相干</a:t>
              </a:r>
              <a:r>
                <a:rPr lang="zh-CN" altLang="en-US" sz="2400" b="1" dirty="0">
                  <a:latin typeface="微软雅黑" pitchFamily="34" charset="-122"/>
                  <a:ea typeface="微软雅黑" pitchFamily="34" charset="-122"/>
                  <a:cs typeface="Times New Roman" pitchFamily="18" charset="0"/>
                </a:rPr>
                <a:t>光学现象</a:t>
              </a:r>
              <a:endParaRPr lang="zh-CN" altLang="en-US" sz="2400" dirty="0"/>
            </a:p>
          </p:txBody>
        </p:sp>
      </p:grpSp>
      <p:grpSp>
        <p:nvGrpSpPr>
          <p:cNvPr id="22" name="组合 21"/>
          <p:cNvGrpSpPr/>
          <p:nvPr/>
        </p:nvGrpSpPr>
        <p:grpSpPr>
          <a:xfrm>
            <a:off x="4226217" y="3421064"/>
            <a:ext cx="1597543" cy="621321"/>
            <a:chOff x="5045828" y="2122627"/>
            <a:chExt cx="1597543" cy="621321"/>
          </a:xfrm>
        </p:grpSpPr>
        <p:sp>
          <p:nvSpPr>
            <p:cNvPr id="23" name="圆角矩形 22"/>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衍射</a:t>
              </a:r>
              <a:endParaRPr lang="zh-CN" altLang="en-US" sz="2400" dirty="0"/>
            </a:p>
          </p:txBody>
        </p:sp>
      </p:grpSp>
      <p:grpSp>
        <p:nvGrpSpPr>
          <p:cNvPr id="25" name="组合 24"/>
          <p:cNvGrpSpPr/>
          <p:nvPr/>
        </p:nvGrpSpPr>
        <p:grpSpPr>
          <a:xfrm>
            <a:off x="4226217" y="4339648"/>
            <a:ext cx="1597543" cy="621321"/>
            <a:chOff x="5045828" y="2122627"/>
            <a:chExt cx="1597543" cy="621321"/>
          </a:xfrm>
        </p:grpSpPr>
        <p:sp>
          <p:nvSpPr>
            <p:cNvPr id="26" name="圆角矩形 25"/>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光谱</a:t>
              </a:r>
              <a:endParaRPr lang="zh-CN" altLang="en-US" sz="2400" dirty="0"/>
            </a:p>
          </p:txBody>
        </p:sp>
      </p:grpSp>
      <p:grpSp>
        <p:nvGrpSpPr>
          <p:cNvPr id="28" name="组合 27"/>
          <p:cNvGrpSpPr/>
          <p:nvPr/>
        </p:nvGrpSpPr>
        <p:grpSpPr>
          <a:xfrm>
            <a:off x="4247056" y="5184694"/>
            <a:ext cx="1597543" cy="621321"/>
            <a:chOff x="5045828" y="2122627"/>
            <a:chExt cx="1597543" cy="621321"/>
          </a:xfrm>
        </p:grpSpPr>
        <p:sp>
          <p:nvSpPr>
            <p:cNvPr id="29" name="圆角矩形 28"/>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5130685" y="2141906"/>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波长变换</a:t>
              </a:r>
              <a:endParaRPr lang="zh-CN" altLang="en-US" sz="2400" dirty="0"/>
            </a:p>
          </p:txBody>
        </p:sp>
      </p:grpSp>
      <p:grpSp>
        <p:nvGrpSpPr>
          <p:cNvPr id="31" name="组合 30"/>
          <p:cNvGrpSpPr/>
          <p:nvPr/>
        </p:nvGrpSpPr>
        <p:grpSpPr>
          <a:xfrm>
            <a:off x="4247056" y="6126629"/>
            <a:ext cx="1597543" cy="621321"/>
            <a:chOff x="5045828" y="2122627"/>
            <a:chExt cx="1597543" cy="621321"/>
          </a:xfrm>
        </p:grpSpPr>
        <p:sp>
          <p:nvSpPr>
            <p:cNvPr id="32" name="圆角矩形 31"/>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5159260" y="2154651"/>
              <a:ext cx="1360286" cy="553998"/>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光学</a:t>
              </a:r>
              <a:r>
                <a:rPr lang="zh-CN" altLang="en-US" sz="2400" b="1" dirty="0">
                  <a:latin typeface="微软雅黑" pitchFamily="34" charset="-122"/>
                  <a:ea typeface="微软雅黑" pitchFamily="34" charset="-122"/>
                  <a:cs typeface="Times New Roman" pitchFamily="18" charset="0"/>
                </a:rPr>
                <a:t>拍频</a:t>
              </a:r>
              <a:endParaRPr lang="zh-CN" altLang="en-US" sz="2400" dirty="0"/>
            </a:p>
          </p:txBody>
        </p:sp>
      </p:grpSp>
      <p:grpSp>
        <p:nvGrpSpPr>
          <p:cNvPr id="34" name="组合 33"/>
          <p:cNvGrpSpPr/>
          <p:nvPr/>
        </p:nvGrpSpPr>
        <p:grpSpPr>
          <a:xfrm>
            <a:off x="7805276" y="3453088"/>
            <a:ext cx="1597543" cy="621321"/>
            <a:chOff x="5045828" y="2122627"/>
            <a:chExt cx="1597543" cy="621321"/>
          </a:xfrm>
        </p:grpSpPr>
        <p:sp>
          <p:nvSpPr>
            <p:cNvPr id="35" name="圆角矩形 34"/>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莫尔条纹</a:t>
              </a:r>
              <a:endParaRPr lang="zh-CN" altLang="en-US" sz="2400" dirty="0"/>
            </a:p>
          </p:txBody>
        </p:sp>
      </p:grpSp>
      <p:grpSp>
        <p:nvGrpSpPr>
          <p:cNvPr id="37" name="组合 36"/>
          <p:cNvGrpSpPr/>
          <p:nvPr/>
        </p:nvGrpSpPr>
        <p:grpSpPr>
          <a:xfrm>
            <a:off x="7805276" y="4332425"/>
            <a:ext cx="1597543" cy="621321"/>
            <a:chOff x="5045828" y="2122627"/>
            <a:chExt cx="1597543" cy="621321"/>
          </a:xfrm>
        </p:grpSpPr>
        <p:sp>
          <p:nvSpPr>
            <p:cNvPr id="38" name="圆角矩形 37"/>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干涉计量</a:t>
              </a:r>
              <a:endParaRPr lang="zh-CN" altLang="en-US" sz="2400" dirty="0"/>
            </a:p>
          </p:txBody>
        </p:sp>
      </p:grpSp>
      <p:grpSp>
        <p:nvGrpSpPr>
          <p:cNvPr id="40" name="组合 39"/>
          <p:cNvGrpSpPr/>
          <p:nvPr/>
        </p:nvGrpSpPr>
        <p:grpSpPr>
          <a:xfrm>
            <a:off x="7805276" y="5251009"/>
            <a:ext cx="1597543" cy="621321"/>
            <a:chOff x="5045828" y="2122627"/>
            <a:chExt cx="1597543" cy="621321"/>
          </a:xfrm>
        </p:grpSpPr>
        <p:sp>
          <p:nvSpPr>
            <p:cNvPr id="41" name="圆角矩形 40"/>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外差通讯</a:t>
              </a:r>
              <a:endParaRPr lang="zh-CN" altLang="en-US" sz="2400" dirty="0"/>
            </a:p>
          </p:txBody>
        </p:sp>
      </p:grpSp>
      <p:grpSp>
        <p:nvGrpSpPr>
          <p:cNvPr id="43" name="组合 42"/>
          <p:cNvGrpSpPr/>
          <p:nvPr/>
        </p:nvGrpSpPr>
        <p:grpSpPr>
          <a:xfrm>
            <a:off x="9747625" y="5276206"/>
            <a:ext cx="1597543" cy="621321"/>
            <a:chOff x="5045828" y="2122627"/>
            <a:chExt cx="1597543" cy="621321"/>
          </a:xfrm>
        </p:grpSpPr>
        <p:sp>
          <p:nvSpPr>
            <p:cNvPr id="44" name="圆角矩形 43"/>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光谱分析</a:t>
              </a:r>
              <a:endParaRPr lang="zh-CN" altLang="en-US" sz="2400" dirty="0"/>
            </a:p>
          </p:txBody>
        </p:sp>
      </p:grpSp>
      <p:grpSp>
        <p:nvGrpSpPr>
          <p:cNvPr id="49" name="组合 48"/>
          <p:cNvGrpSpPr/>
          <p:nvPr/>
        </p:nvGrpSpPr>
        <p:grpSpPr>
          <a:xfrm>
            <a:off x="9752822" y="3421064"/>
            <a:ext cx="1597543" cy="621321"/>
            <a:chOff x="5045828" y="2122627"/>
            <a:chExt cx="1597543" cy="621321"/>
          </a:xfrm>
        </p:grpSpPr>
        <p:sp>
          <p:nvSpPr>
            <p:cNvPr id="50" name="圆角矩形 49"/>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散斑</a:t>
              </a:r>
              <a:endParaRPr lang="zh-CN" altLang="en-US" sz="2400" dirty="0"/>
            </a:p>
          </p:txBody>
        </p:sp>
      </p:grpSp>
      <p:grpSp>
        <p:nvGrpSpPr>
          <p:cNvPr id="52" name="组合 51"/>
          <p:cNvGrpSpPr/>
          <p:nvPr/>
        </p:nvGrpSpPr>
        <p:grpSpPr>
          <a:xfrm>
            <a:off x="9752822" y="4300401"/>
            <a:ext cx="1597543" cy="621321"/>
            <a:chOff x="5045828" y="2122627"/>
            <a:chExt cx="1597543" cy="621321"/>
          </a:xfrm>
        </p:grpSpPr>
        <p:sp>
          <p:nvSpPr>
            <p:cNvPr id="53" name="圆角矩形 52"/>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5159260" y="2154651"/>
              <a:ext cx="1360286" cy="553998"/>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全息测量</a:t>
              </a:r>
              <a:endParaRPr lang="zh-CN" altLang="en-US" sz="2400" dirty="0"/>
            </a:p>
          </p:txBody>
        </p:sp>
      </p:grpSp>
      <p:grpSp>
        <p:nvGrpSpPr>
          <p:cNvPr id="64" name="组合 63"/>
          <p:cNvGrpSpPr/>
          <p:nvPr/>
        </p:nvGrpSpPr>
        <p:grpSpPr>
          <a:xfrm>
            <a:off x="8191300" y="1076744"/>
            <a:ext cx="2355097" cy="1165125"/>
            <a:chOff x="8103353" y="2179927"/>
            <a:chExt cx="2355097" cy="1165125"/>
          </a:xfrm>
        </p:grpSpPr>
        <p:sp>
          <p:nvSpPr>
            <p:cNvPr id="65" name="圆角矩形 64"/>
            <p:cNvSpPr/>
            <p:nvPr/>
          </p:nvSpPr>
          <p:spPr>
            <a:xfrm>
              <a:off x="8103353" y="2179927"/>
              <a:ext cx="2355097" cy="116512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p:cNvSpPr txBox="1"/>
            <p:nvPr/>
          </p:nvSpPr>
          <p:spPr>
            <a:xfrm>
              <a:off x="8236703" y="2445338"/>
              <a:ext cx="2148204"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应用</a:t>
              </a:r>
              <a:endParaRPr lang="zh-CN" altLang="en-US" sz="2400" dirty="0"/>
            </a:p>
          </p:txBody>
        </p:sp>
      </p:grpSp>
      <p:sp>
        <p:nvSpPr>
          <p:cNvPr id="55" name="文本框 60">
            <a:extLst>
              <a:ext uri="{FF2B5EF4-FFF2-40B4-BE49-F238E27FC236}">
                <a16:creationId xmlns:a16="http://schemas.microsoft.com/office/drawing/2014/main" xmlns="" id="{791D85D7-F412-9C48-9F2B-E33F5B7B4F3C}"/>
              </a:ext>
            </a:extLst>
          </p:cNvPr>
          <p:cNvSpPr txBox="1"/>
          <p:nvPr/>
        </p:nvSpPr>
        <p:spPr>
          <a:xfrm>
            <a:off x="1364781" y="293282"/>
            <a:ext cx="1664169"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光学</a:t>
            </a:r>
            <a:r>
              <a:rPr lang="zh-CN" altLang="en-US" sz="1800" b="1" dirty="0">
                <a:latin typeface="微软雅黑" panose="020B0503020204020204" pitchFamily="34" charset="-122"/>
                <a:ea typeface="微软雅黑" panose="020B0503020204020204" pitchFamily="34" charset="-122"/>
              </a:rPr>
              <a:t>信息变换</a:t>
            </a:r>
          </a:p>
        </p:txBody>
      </p:sp>
      <p:sp>
        <p:nvSpPr>
          <p:cNvPr id="56" name="矩形 55"/>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57" name="矩形 56">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圆角 25">
            <a:extLst>
              <a:ext uri="{FF2B5EF4-FFF2-40B4-BE49-F238E27FC236}">
                <a16:creationId xmlns:a16="http://schemas.microsoft.com/office/drawing/2014/main" xmlns="" id="{D7400AB1-4BEC-40E5-A53B-E3CB1F48EB8A}"/>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59"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450506" y="704850"/>
            <a:ext cx="1360241" cy="615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60" name="矩形 59">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61" name="矩形 60">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xmlns="" val="15081623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7439087" y="2366499"/>
            <a:ext cx="4171888" cy="4562475"/>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圆角矩形 2"/>
          <p:cNvSpPr/>
          <p:nvPr/>
        </p:nvSpPr>
        <p:spPr>
          <a:xfrm>
            <a:off x="3842243" y="2457450"/>
            <a:ext cx="2355097" cy="4562475"/>
          </a:xfrm>
          <a:prstGeom prst="round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1604646" y="4003644"/>
            <a:ext cx="1524001" cy="1200329"/>
            <a:chOff x="1604645" y="3257550"/>
            <a:chExt cx="1524001" cy="1200329"/>
          </a:xfrm>
        </p:grpSpPr>
        <p:sp>
          <p:nvSpPr>
            <p:cNvPr id="14" name="圆角矩形 13"/>
            <p:cNvSpPr/>
            <p:nvPr/>
          </p:nvSpPr>
          <p:spPr>
            <a:xfrm>
              <a:off x="1604645" y="3295650"/>
              <a:ext cx="1452879" cy="111442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1604646" y="3257550"/>
              <a:ext cx="1524000" cy="1200329"/>
            </a:xfrm>
            <a:prstGeom prst="rect">
              <a:avLst/>
            </a:prstGeom>
            <a:noFill/>
          </p:spPr>
          <p:txBody>
            <a:bodyPr wrap="square" rtlCol="0">
              <a:spAutoFit/>
            </a:bodyPr>
            <a:lstStyle/>
            <a:p>
              <a:pPr>
                <a:lnSpc>
                  <a:spcPct val="150000"/>
                </a:lnSpc>
              </a:pPr>
              <a:r>
                <a:rPr lang="zh-CN" altLang="en-US" sz="2400" b="1" dirty="0">
                  <a:solidFill>
                    <a:srgbClr val="0000FF"/>
                  </a:solidFill>
                  <a:latin typeface="微软雅黑" pitchFamily="34" charset="-122"/>
                  <a:ea typeface="微软雅黑" pitchFamily="34" charset="-122"/>
                  <a:cs typeface="Times New Roman" pitchFamily="18" charset="0"/>
                </a:rPr>
                <a:t>物理</a:t>
              </a:r>
              <a:r>
                <a:rPr lang="zh-CN" altLang="en-US" sz="2400" b="1" dirty="0" smtClean="0">
                  <a:solidFill>
                    <a:srgbClr val="0000FF"/>
                  </a:solidFill>
                  <a:latin typeface="微软雅黑" pitchFamily="34" charset="-122"/>
                  <a:ea typeface="微软雅黑" pitchFamily="34" charset="-122"/>
                  <a:cs typeface="Times New Roman" pitchFamily="18" charset="0"/>
                </a:rPr>
                <a:t>光学</a:t>
              </a:r>
              <a:endParaRPr lang="en-US" altLang="zh-CN" sz="2400" b="1" dirty="0" smtClean="0">
                <a:solidFill>
                  <a:srgbClr val="0000FF"/>
                </a:solidFill>
                <a:latin typeface="微软雅黑" pitchFamily="34" charset="-122"/>
                <a:ea typeface="微软雅黑" pitchFamily="34" charset="-122"/>
                <a:cs typeface="Times New Roman" pitchFamily="18" charset="0"/>
              </a:endParaRPr>
            </a:p>
            <a:p>
              <a:pPr algn="ctr">
                <a:lnSpc>
                  <a:spcPct val="150000"/>
                </a:lnSpc>
              </a:pPr>
              <a:r>
                <a:rPr lang="zh-CN" altLang="en-US" sz="2400" b="1" dirty="0" smtClean="0">
                  <a:solidFill>
                    <a:srgbClr val="0000FF"/>
                  </a:solidFill>
                  <a:latin typeface="微软雅黑" pitchFamily="34" charset="-122"/>
                  <a:ea typeface="微软雅黑" pitchFamily="34" charset="-122"/>
                  <a:cs typeface="Times New Roman" pitchFamily="18" charset="0"/>
                </a:rPr>
                <a:t>方法</a:t>
              </a:r>
              <a:endParaRPr lang="zh-CN" altLang="en-US" sz="2400" dirty="0"/>
            </a:p>
          </p:txBody>
        </p:sp>
      </p:grpSp>
      <p:grpSp>
        <p:nvGrpSpPr>
          <p:cNvPr id="16" name="组合 15"/>
          <p:cNvGrpSpPr/>
          <p:nvPr/>
        </p:nvGrpSpPr>
        <p:grpSpPr>
          <a:xfrm>
            <a:off x="4226217" y="2541727"/>
            <a:ext cx="1597543" cy="621321"/>
            <a:chOff x="5045828" y="2122627"/>
            <a:chExt cx="1597543" cy="621321"/>
          </a:xfrm>
        </p:grpSpPr>
        <p:sp>
          <p:nvSpPr>
            <p:cNvPr id="17" name="圆角矩形 16"/>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电光效应</a:t>
              </a:r>
              <a:endParaRPr lang="zh-CN" altLang="en-US" sz="2400" dirty="0"/>
            </a:p>
          </p:txBody>
        </p:sp>
      </p:grpSp>
      <p:grpSp>
        <p:nvGrpSpPr>
          <p:cNvPr id="19" name="组合 18"/>
          <p:cNvGrpSpPr/>
          <p:nvPr/>
        </p:nvGrpSpPr>
        <p:grpSpPr>
          <a:xfrm>
            <a:off x="3842243" y="1195496"/>
            <a:ext cx="2355097" cy="763318"/>
            <a:chOff x="8103353" y="2377894"/>
            <a:chExt cx="2355097" cy="967158"/>
          </a:xfrm>
        </p:grpSpPr>
        <p:sp>
          <p:nvSpPr>
            <p:cNvPr id="20" name="圆角矩形 19"/>
            <p:cNvSpPr/>
            <p:nvPr/>
          </p:nvSpPr>
          <p:spPr>
            <a:xfrm>
              <a:off x="8103353" y="2377894"/>
              <a:ext cx="2355097" cy="967158"/>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199064" y="2476310"/>
              <a:ext cx="2148204"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光电子学</a:t>
              </a:r>
              <a:endParaRPr lang="zh-CN" altLang="en-US" sz="2400" dirty="0"/>
            </a:p>
          </p:txBody>
        </p:sp>
      </p:grpSp>
      <p:grpSp>
        <p:nvGrpSpPr>
          <p:cNvPr id="22" name="组合 21"/>
          <p:cNvGrpSpPr/>
          <p:nvPr/>
        </p:nvGrpSpPr>
        <p:grpSpPr>
          <a:xfrm>
            <a:off x="4226217" y="3421064"/>
            <a:ext cx="1597543" cy="621321"/>
            <a:chOff x="5045828" y="2122627"/>
            <a:chExt cx="1597543" cy="621321"/>
          </a:xfrm>
        </p:grpSpPr>
        <p:sp>
          <p:nvSpPr>
            <p:cNvPr id="23" name="圆角矩形 22"/>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磁光效应</a:t>
              </a:r>
              <a:endParaRPr lang="zh-CN" altLang="en-US" sz="2400" dirty="0"/>
            </a:p>
          </p:txBody>
        </p:sp>
      </p:grpSp>
      <p:grpSp>
        <p:nvGrpSpPr>
          <p:cNvPr id="25" name="组合 24"/>
          <p:cNvGrpSpPr/>
          <p:nvPr/>
        </p:nvGrpSpPr>
        <p:grpSpPr>
          <a:xfrm>
            <a:off x="4226217" y="4339648"/>
            <a:ext cx="1597543" cy="621321"/>
            <a:chOff x="5045828" y="2122627"/>
            <a:chExt cx="1597543" cy="621321"/>
          </a:xfrm>
        </p:grpSpPr>
        <p:sp>
          <p:nvSpPr>
            <p:cNvPr id="26" name="圆角矩形 25"/>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声光效应</a:t>
              </a:r>
              <a:endParaRPr lang="zh-CN" altLang="en-US" sz="2400" dirty="0"/>
            </a:p>
          </p:txBody>
        </p:sp>
      </p:grpSp>
      <p:grpSp>
        <p:nvGrpSpPr>
          <p:cNvPr id="28" name="组合 27"/>
          <p:cNvGrpSpPr/>
          <p:nvPr/>
        </p:nvGrpSpPr>
        <p:grpSpPr>
          <a:xfrm>
            <a:off x="4226217" y="5184694"/>
            <a:ext cx="1618382" cy="621321"/>
            <a:chOff x="5024989" y="2122627"/>
            <a:chExt cx="1618382" cy="621321"/>
          </a:xfrm>
        </p:grpSpPr>
        <p:sp>
          <p:nvSpPr>
            <p:cNvPr id="29" name="圆角矩形 28"/>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5024989" y="2141906"/>
              <a:ext cx="1618382" cy="553998"/>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空间光调制</a:t>
              </a:r>
              <a:endParaRPr lang="zh-CN" altLang="en-US" sz="2400" dirty="0"/>
            </a:p>
          </p:txBody>
        </p:sp>
      </p:grpSp>
      <p:grpSp>
        <p:nvGrpSpPr>
          <p:cNvPr id="31" name="组合 30"/>
          <p:cNvGrpSpPr/>
          <p:nvPr/>
        </p:nvGrpSpPr>
        <p:grpSpPr>
          <a:xfrm>
            <a:off x="4247056" y="6126629"/>
            <a:ext cx="1597543" cy="621321"/>
            <a:chOff x="5045828" y="2122627"/>
            <a:chExt cx="1597543" cy="621321"/>
          </a:xfrm>
        </p:grpSpPr>
        <p:sp>
          <p:nvSpPr>
            <p:cNvPr id="32" name="圆角矩形 31"/>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光纤传感</a:t>
              </a:r>
              <a:endParaRPr lang="zh-CN" altLang="en-US" sz="2400" dirty="0"/>
            </a:p>
          </p:txBody>
        </p:sp>
      </p:grpSp>
      <p:grpSp>
        <p:nvGrpSpPr>
          <p:cNvPr id="34" name="组合 33"/>
          <p:cNvGrpSpPr/>
          <p:nvPr/>
        </p:nvGrpSpPr>
        <p:grpSpPr>
          <a:xfrm>
            <a:off x="7800079" y="2986994"/>
            <a:ext cx="1597543" cy="621321"/>
            <a:chOff x="5045828" y="2122627"/>
            <a:chExt cx="1597543" cy="621321"/>
          </a:xfrm>
        </p:grpSpPr>
        <p:sp>
          <p:nvSpPr>
            <p:cNvPr id="35" name="圆角矩形 34"/>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光调制</a:t>
              </a:r>
              <a:endParaRPr lang="zh-CN" altLang="en-US" sz="2400" dirty="0"/>
            </a:p>
          </p:txBody>
        </p:sp>
      </p:grpSp>
      <p:grpSp>
        <p:nvGrpSpPr>
          <p:cNvPr id="37" name="组合 36"/>
          <p:cNvGrpSpPr/>
          <p:nvPr/>
        </p:nvGrpSpPr>
        <p:grpSpPr>
          <a:xfrm>
            <a:off x="7800079" y="3866331"/>
            <a:ext cx="1597543" cy="621321"/>
            <a:chOff x="5045828" y="2122627"/>
            <a:chExt cx="1597543" cy="621321"/>
          </a:xfrm>
        </p:grpSpPr>
        <p:sp>
          <p:nvSpPr>
            <p:cNvPr id="38" name="圆角矩形 37"/>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光束偏转</a:t>
              </a:r>
              <a:endParaRPr lang="zh-CN" altLang="en-US" sz="2400" dirty="0"/>
            </a:p>
          </p:txBody>
        </p:sp>
      </p:grpSp>
      <p:grpSp>
        <p:nvGrpSpPr>
          <p:cNvPr id="40" name="组合 39"/>
          <p:cNvGrpSpPr/>
          <p:nvPr/>
        </p:nvGrpSpPr>
        <p:grpSpPr>
          <a:xfrm>
            <a:off x="7800079" y="4784915"/>
            <a:ext cx="1597543" cy="621321"/>
            <a:chOff x="5045828" y="2122627"/>
            <a:chExt cx="1597543" cy="621321"/>
          </a:xfrm>
        </p:grpSpPr>
        <p:sp>
          <p:nvSpPr>
            <p:cNvPr id="41" name="圆角矩形 40"/>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光通讯</a:t>
              </a:r>
              <a:endParaRPr lang="zh-CN" altLang="en-US" sz="2400" dirty="0"/>
            </a:p>
          </p:txBody>
        </p:sp>
      </p:grpSp>
      <p:grpSp>
        <p:nvGrpSpPr>
          <p:cNvPr id="43" name="组合 42"/>
          <p:cNvGrpSpPr/>
          <p:nvPr/>
        </p:nvGrpSpPr>
        <p:grpSpPr>
          <a:xfrm>
            <a:off x="9742428" y="4810112"/>
            <a:ext cx="1597543" cy="621321"/>
            <a:chOff x="5045828" y="2122627"/>
            <a:chExt cx="1597543" cy="621321"/>
          </a:xfrm>
        </p:grpSpPr>
        <p:sp>
          <p:nvSpPr>
            <p:cNvPr id="44" name="圆角矩形 43"/>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光存储</a:t>
              </a:r>
              <a:endParaRPr lang="zh-CN" altLang="en-US" sz="2400" dirty="0"/>
            </a:p>
          </p:txBody>
        </p:sp>
      </p:grpSp>
      <p:grpSp>
        <p:nvGrpSpPr>
          <p:cNvPr id="46" name="组合 45"/>
          <p:cNvGrpSpPr/>
          <p:nvPr/>
        </p:nvGrpSpPr>
        <p:grpSpPr>
          <a:xfrm>
            <a:off x="9747625" y="2954970"/>
            <a:ext cx="1597543" cy="621321"/>
            <a:chOff x="5045828" y="2122627"/>
            <a:chExt cx="1597543" cy="621321"/>
          </a:xfrm>
        </p:grpSpPr>
        <p:sp>
          <p:nvSpPr>
            <p:cNvPr id="47" name="圆角矩形 46"/>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p:cNvSpPr txBox="1"/>
            <p:nvPr/>
          </p:nvSpPr>
          <p:spPr>
            <a:xfrm>
              <a:off x="5159260" y="2154651"/>
              <a:ext cx="1360286" cy="553998"/>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光记录</a:t>
              </a:r>
              <a:endParaRPr lang="zh-CN" altLang="en-US" sz="2400" dirty="0"/>
            </a:p>
          </p:txBody>
        </p:sp>
      </p:grpSp>
      <p:grpSp>
        <p:nvGrpSpPr>
          <p:cNvPr id="49" name="组合 48"/>
          <p:cNvGrpSpPr/>
          <p:nvPr/>
        </p:nvGrpSpPr>
        <p:grpSpPr>
          <a:xfrm>
            <a:off x="9747625" y="3834307"/>
            <a:ext cx="1597543" cy="621321"/>
            <a:chOff x="5045828" y="2122627"/>
            <a:chExt cx="1597543" cy="621321"/>
          </a:xfrm>
        </p:grpSpPr>
        <p:sp>
          <p:nvSpPr>
            <p:cNvPr id="50" name="圆角矩形 49"/>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光显示</a:t>
              </a:r>
              <a:endParaRPr lang="zh-CN" altLang="en-US" sz="2400" dirty="0"/>
            </a:p>
          </p:txBody>
        </p:sp>
      </p:grpSp>
      <p:grpSp>
        <p:nvGrpSpPr>
          <p:cNvPr id="52" name="组合 51"/>
          <p:cNvGrpSpPr/>
          <p:nvPr/>
        </p:nvGrpSpPr>
        <p:grpSpPr>
          <a:xfrm>
            <a:off x="8191300" y="1189122"/>
            <a:ext cx="2355097" cy="769693"/>
            <a:chOff x="8103353" y="2179927"/>
            <a:chExt cx="2355097" cy="919024"/>
          </a:xfrm>
        </p:grpSpPr>
        <p:sp>
          <p:nvSpPr>
            <p:cNvPr id="53" name="圆角矩形 52"/>
            <p:cNvSpPr/>
            <p:nvPr/>
          </p:nvSpPr>
          <p:spPr>
            <a:xfrm>
              <a:off x="8103353" y="2179927"/>
              <a:ext cx="2355097" cy="919024"/>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p:cNvSpPr txBox="1"/>
            <p:nvPr/>
          </p:nvSpPr>
          <p:spPr>
            <a:xfrm>
              <a:off x="8111748" y="2264430"/>
              <a:ext cx="2148204"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应用</a:t>
              </a:r>
              <a:endParaRPr lang="zh-CN" altLang="en-US" sz="2400" dirty="0"/>
            </a:p>
          </p:txBody>
        </p:sp>
      </p:grpSp>
      <p:grpSp>
        <p:nvGrpSpPr>
          <p:cNvPr id="56" name="组合 55"/>
          <p:cNvGrpSpPr/>
          <p:nvPr/>
        </p:nvGrpSpPr>
        <p:grpSpPr>
          <a:xfrm>
            <a:off x="7800079" y="5726976"/>
            <a:ext cx="1597543" cy="621321"/>
            <a:chOff x="5045828" y="2122627"/>
            <a:chExt cx="1597543" cy="621321"/>
          </a:xfrm>
        </p:grpSpPr>
        <p:sp>
          <p:nvSpPr>
            <p:cNvPr id="57" name="圆角矩形 56"/>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文本框 57"/>
            <p:cNvSpPr txBox="1"/>
            <p:nvPr/>
          </p:nvSpPr>
          <p:spPr>
            <a:xfrm>
              <a:off x="5159260" y="2154651"/>
              <a:ext cx="1360286" cy="553998"/>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传光</a:t>
              </a:r>
              <a:endParaRPr lang="zh-CN" altLang="en-US" sz="2400" dirty="0"/>
            </a:p>
          </p:txBody>
        </p:sp>
      </p:grpSp>
      <p:grpSp>
        <p:nvGrpSpPr>
          <p:cNvPr id="59" name="组合 58"/>
          <p:cNvGrpSpPr/>
          <p:nvPr/>
        </p:nvGrpSpPr>
        <p:grpSpPr>
          <a:xfrm>
            <a:off x="9742428" y="5752173"/>
            <a:ext cx="1597543" cy="621321"/>
            <a:chOff x="5045828" y="2122627"/>
            <a:chExt cx="1597543" cy="621321"/>
          </a:xfrm>
        </p:grpSpPr>
        <p:sp>
          <p:nvSpPr>
            <p:cNvPr id="60" name="圆角矩形 59"/>
            <p:cNvSpPr/>
            <p:nvPr/>
          </p:nvSpPr>
          <p:spPr>
            <a:xfrm>
              <a:off x="5045828" y="2122627"/>
              <a:ext cx="1597543" cy="621321"/>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文本框 60"/>
            <p:cNvSpPr txBox="1"/>
            <p:nvPr/>
          </p:nvSpPr>
          <p:spPr>
            <a:xfrm>
              <a:off x="5159260" y="2154651"/>
              <a:ext cx="1360286" cy="488082"/>
            </a:xfrm>
            <a:prstGeom prst="rect">
              <a:avLst/>
            </a:prstGeom>
            <a:noFill/>
          </p:spPr>
          <p:txBody>
            <a:bodyPr wrap="square" lIns="0" tIns="0" rIns="0" bIns="0" rtlCol="0">
              <a:spAutoFit/>
            </a:bodyPr>
            <a:lstStyle/>
            <a:p>
              <a:pPr algn="ctr">
                <a:lnSpc>
                  <a:spcPct val="150000"/>
                </a:lnSpc>
              </a:pPr>
              <a:r>
                <a:rPr lang="zh-CN" altLang="en-US" sz="2400" b="1" dirty="0" smtClean="0">
                  <a:latin typeface="微软雅黑" pitchFamily="34" charset="-122"/>
                  <a:ea typeface="微软雅黑" pitchFamily="34" charset="-122"/>
                  <a:cs typeface="Times New Roman" pitchFamily="18" charset="0"/>
                </a:rPr>
                <a:t>传像</a:t>
              </a:r>
              <a:endParaRPr lang="zh-CN" altLang="en-US" sz="2400" dirty="0"/>
            </a:p>
          </p:txBody>
        </p:sp>
      </p:grpSp>
      <p:sp>
        <p:nvSpPr>
          <p:cNvPr id="62" name="文本框 60">
            <a:extLst>
              <a:ext uri="{FF2B5EF4-FFF2-40B4-BE49-F238E27FC236}">
                <a16:creationId xmlns:a16="http://schemas.microsoft.com/office/drawing/2014/main" xmlns="" id="{791D85D7-F412-9C48-9F2B-E33F5B7B4F3C}"/>
              </a:ext>
            </a:extLst>
          </p:cNvPr>
          <p:cNvSpPr txBox="1"/>
          <p:nvPr/>
        </p:nvSpPr>
        <p:spPr>
          <a:xfrm>
            <a:off x="1364781" y="293282"/>
            <a:ext cx="1664169"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光学</a:t>
            </a:r>
            <a:r>
              <a:rPr lang="zh-CN" altLang="en-US" sz="1800" b="1" dirty="0">
                <a:latin typeface="微软雅黑" panose="020B0503020204020204" pitchFamily="34" charset="-122"/>
                <a:ea typeface="微软雅黑" panose="020B0503020204020204" pitchFamily="34" charset="-122"/>
              </a:rPr>
              <a:t>信息变换</a:t>
            </a:r>
          </a:p>
        </p:txBody>
      </p:sp>
      <p:sp>
        <p:nvSpPr>
          <p:cNvPr id="63" name="矩形 62"/>
          <p:cNvSpPr/>
          <p:nvPr/>
        </p:nvSpPr>
        <p:spPr>
          <a:xfrm>
            <a:off x="10271342" y="329189"/>
            <a:ext cx="1196259"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64" name="矩形 63">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圆角 25">
            <a:extLst>
              <a:ext uri="{FF2B5EF4-FFF2-40B4-BE49-F238E27FC236}">
                <a16:creationId xmlns:a16="http://schemas.microsoft.com/office/drawing/2014/main" xmlns="" id="{D7400AB1-4BEC-40E5-A53B-E3CB1F48EB8A}"/>
              </a:ext>
            </a:extLst>
          </p:cNvPr>
          <p:cNvSpPr/>
          <p:nvPr/>
        </p:nvSpPr>
        <p:spPr>
          <a:xfrm>
            <a:off x="304801" y="293282"/>
            <a:ext cx="979824"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8.1.1</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66"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450506" y="704850"/>
            <a:ext cx="1360241" cy="6150"/>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67" name="矩形 66">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68" name="矩形 67">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xmlns="" val="11178500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8">
            <a:extLst>
              <a:ext uri="{FF2B5EF4-FFF2-40B4-BE49-F238E27FC236}">
                <a16:creationId xmlns:a16="http://schemas.microsoft.com/office/drawing/2014/main" xmlns="" id="{71B2A563-AC54-5347-B843-4478DF223CDE}"/>
              </a:ext>
            </a:extLst>
          </p:cNvPr>
          <p:cNvSpPr/>
          <p:nvPr/>
        </p:nvSpPr>
        <p:spPr>
          <a:xfrm>
            <a:off x="3744908" y="3351740"/>
            <a:ext cx="7923099" cy="850403"/>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zh-CN" altLang="en-US" sz="4000" b="1" dirty="0" smtClean="0">
                <a:solidFill>
                  <a:schemeClr val="bg1"/>
                </a:solidFill>
                <a:latin typeface="Microsoft YaHei" panose="020B0503020204020204" pitchFamily="34" charset="-122"/>
                <a:ea typeface="Microsoft YaHei" panose="020B0503020204020204" pitchFamily="34" charset="-122"/>
              </a:rPr>
              <a:t>几何光学</a:t>
            </a:r>
            <a:r>
              <a:rPr kumimoji="1" lang="zh-CN" altLang="en-US" sz="4000" b="1" dirty="0">
                <a:solidFill>
                  <a:schemeClr val="bg1"/>
                </a:solidFill>
                <a:latin typeface="Microsoft YaHei" panose="020B0503020204020204" pitchFamily="34" charset="-122"/>
                <a:ea typeface="Microsoft YaHei" panose="020B0503020204020204" pitchFamily="34" charset="-122"/>
              </a:rPr>
              <a:t>方法的</a:t>
            </a:r>
            <a:r>
              <a:rPr kumimoji="1" lang="zh-CN" altLang="en-US" sz="4000" b="1" dirty="0" smtClean="0">
                <a:solidFill>
                  <a:schemeClr val="bg1"/>
                </a:solidFill>
                <a:latin typeface="Microsoft YaHei" panose="020B0503020204020204" pitchFamily="34" charset="-122"/>
                <a:ea typeface="Microsoft YaHei" panose="020B0503020204020204" pitchFamily="34" charset="-122"/>
              </a:rPr>
              <a:t>光学信息</a:t>
            </a:r>
            <a:r>
              <a:rPr kumimoji="1" lang="zh-CN" altLang="en-US" sz="4000" b="1" dirty="0">
                <a:solidFill>
                  <a:schemeClr val="bg1"/>
                </a:solidFill>
                <a:latin typeface="Microsoft YaHei" panose="020B0503020204020204" pitchFamily="34" charset="-122"/>
                <a:ea typeface="Microsoft YaHei" panose="020B0503020204020204" pitchFamily="34" charset="-122"/>
              </a:rPr>
              <a:t>变换</a:t>
            </a:r>
          </a:p>
        </p:txBody>
      </p:sp>
      <p:sp>
        <p:nvSpPr>
          <p:cNvPr id="3" name="文本框 60">
            <a:extLst>
              <a:ext uri="{FF2B5EF4-FFF2-40B4-BE49-F238E27FC236}">
                <a16:creationId xmlns:a16="http://schemas.microsoft.com/office/drawing/2014/main" xmlns="" id="{791D85D7-F412-9C48-9F2B-E33F5B7B4F3C}"/>
              </a:ext>
            </a:extLst>
          </p:cNvPr>
          <p:cNvSpPr txBox="1"/>
          <p:nvPr/>
        </p:nvSpPr>
        <p:spPr>
          <a:xfrm>
            <a:off x="1545506" y="329189"/>
            <a:ext cx="3228375"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几何光学</a:t>
            </a:r>
            <a:r>
              <a:rPr lang="zh-CN" altLang="en-US" sz="1800" b="1" dirty="0">
                <a:latin typeface="微软雅黑" panose="020B0503020204020204" pitchFamily="34" charset="-122"/>
                <a:ea typeface="微软雅黑" panose="020B0503020204020204" pitchFamily="34" charset="-122"/>
              </a:rPr>
              <a:t>方法的光学信息</a:t>
            </a:r>
            <a:r>
              <a:rPr lang="zh-CN" altLang="en-US" sz="1800" b="1" dirty="0" smtClean="0">
                <a:latin typeface="微软雅黑" panose="020B0503020204020204" pitchFamily="34" charset="-122"/>
                <a:ea typeface="微软雅黑" panose="020B0503020204020204" pitchFamily="34" charset="-122"/>
              </a:rPr>
              <a:t>变换</a:t>
            </a:r>
            <a:endParaRPr lang="zh-CN" altLang="en-US" sz="1800" b="1" dirty="0">
              <a:latin typeface="微软雅黑" panose="020B0503020204020204" pitchFamily="34" charset="-122"/>
              <a:ea typeface="微软雅黑" panose="020B0503020204020204" pitchFamily="34" charset="-122"/>
            </a:endParaRPr>
          </a:p>
        </p:txBody>
      </p:sp>
      <p:sp>
        <p:nvSpPr>
          <p:cNvPr id="4" name="矩形 3"/>
          <p:cNvSpPr/>
          <p:nvPr/>
        </p:nvSpPr>
        <p:spPr>
          <a:xfrm>
            <a:off x="10258816" y="329189"/>
            <a:ext cx="1208785"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xmlns="" id="{045D4FB5-3BA7-4366-9C2A-762F1105D91A}"/>
              </a:ext>
            </a:extLst>
          </p:cNvPr>
          <p:cNvSpPr/>
          <p:nvPr/>
        </p:nvSpPr>
        <p:spPr>
          <a:xfrm>
            <a:off x="1450506" y="3208258"/>
            <a:ext cx="2294402" cy="12375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6000" b="1" dirty="0" smtClean="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rPr>
              <a:t>8.1.2</a:t>
            </a:r>
            <a:endParaRPr kumimoji="1" lang="zh-CN" altLang="en-US" sz="6000" b="1" dirty="0">
              <a:gradFill>
                <a:gsLst>
                  <a:gs pos="0">
                    <a:srgbClr val="0066FF"/>
                  </a:gs>
                  <a:gs pos="100000">
                    <a:schemeClr val="accent1">
                      <a:lumMod val="100000"/>
                    </a:schemeClr>
                  </a:gs>
                </a:gsLst>
                <a:lin ang="0" scaled="0"/>
              </a:gradFill>
              <a:latin typeface="Times New Roman" panose="02020603050405020304" pitchFamily="18" charset="0"/>
              <a:ea typeface="Microsoft YaHei" panose="020B0503020204020204" pitchFamily="34" charset="-122"/>
              <a:cs typeface="Times New Roman" panose="02020603050405020304" pitchFamily="18" charset="0"/>
            </a:endParaRPr>
          </a:p>
        </p:txBody>
      </p:sp>
      <p:sp>
        <p:nvSpPr>
          <p:cNvPr id="6" name="矩形 5">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8"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3228375"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0" name="矩形 9">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xmlns="" val="3918795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2" name="Rectangle 4"/>
          <p:cNvSpPr>
            <a:spLocks noChangeArrowheads="1"/>
          </p:cNvSpPr>
          <p:nvPr/>
        </p:nvSpPr>
        <p:spPr bwMode="auto">
          <a:xfrm>
            <a:off x="3416301" y="1328191"/>
            <a:ext cx="7178961" cy="707886"/>
          </a:xfrm>
          <a:prstGeom prst="rect">
            <a:avLst/>
          </a:prstGeom>
          <a:noFill/>
          <a:ln w="9525">
            <a:noFill/>
            <a:miter lim="800000"/>
            <a:headEnd/>
            <a:tailEnd/>
          </a:ln>
        </p:spPr>
        <p:txBody>
          <a:bodyPr wrap="square" anchor="ctr">
            <a:spAutoFit/>
          </a:bodyPr>
          <a:lstStyle/>
          <a:p>
            <a:pPr defTabSz="914400" eaLnBrk="0" hangingPunct="0"/>
            <a:r>
              <a:rPr lang="zh-CN" altLang="en-US" sz="4000" b="1" dirty="0" smtClean="0">
                <a:solidFill>
                  <a:srgbClr val="0000CC"/>
                </a:solidFill>
                <a:latin typeface="Times New Roman" pitchFamily="18" charset="0"/>
                <a:ea typeface="微软雅黑" pitchFamily="34" charset="-122"/>
              </a:rPr>
              <a:t>一、</a:t>
            </a:r>
            <a:r>
              <a:rPr lang="en-US" altLang="zh-CN" sz="4000" b="1" dirty="0" smtClean="0">
                <a:solidFill>
                  <a:srgbClr val="0000CC"/>
                </a:solidFill>
                <a:latin typeface="Times New Roman" pitchFamily="18" charset="0"/>
                <a:ea typeface="微软雅黑" pitchFamily="34" charset="-122"/>
              </a:rPr>
              <a:t> </a:t>
            </a:r>
            <a:r>
              <a:rPr lang="zh-CN" altLang="en-US" sz="4000" b="1" dirty="0">
                <a:solidFill>
                  <a:srgbClr val="0000CC"/>
                </a:solidFill>
                <a:latin typeface="Times New Roman" pitchFamily="18" charset="0"/>
                <a:ea typeface="微软雅黑" pitchFamily="34" charset="-122"/>
              </a:rPr>
              <a:t>物体尺寸信息的光学变换 </a:t>
            </a:r>
          </a:p>
        </p:txBody>
      </p:sp>
      <p:sp>
        <p:nvSpPr>
          <p:cNvPr id="165893" name="Rectangle 5"/>
          <p:cNvSpPr>
            <a:spLocks noChangeArrowheads="1"/>
          </p:cNvSpPr>
          <p:nvPr/>
        </p:nvSpPr>
        <p:spPr bwMode="auto">
          <a:xfrm>
            <a:off x="725055" y="2334928"/>
            <a:ext cx="12561455" cy="1135054"/>
          </a:xfrm>
          <a:prstGeom prst="rect">
            <a:avLst/>
          </a:prstGeom>
          <a:noFill/>
          <a:ln w="9525" algn="ctr">
            <a:noFill/>
            <a:miter lim="800000"/>
            <a:headEnd/>
            <a:tailEnd/>
          </a:ln>
        </p:spPr>
        <p:txBody>
          <a:bodyPr wrap="square" anchor="ctr">
            <a:spAutoFit/>
          </a:bodyPr>
          <a:lstStyle/>
          <a:p>
            <a:pPr defTabSz="914400" eaLnBrk="0" hangingPunct="0">
              <a:lnSpc>
                <a:spcPct val="150000"/>
              </a:lnSpc>
            </a:pPr>
            <a:r>
              <a:rPr lang="en-US" altLang="zh-CN" sz="2400" b="1" dirty="0">
                <a:latin typeface="微软雅黑" pitchFamily="34" charset="-122"/>
                <a:ea typeface="微软雅黑" pitchFamily="34" charset="-122"/>
              </a:rPr>
              <a:t>	</a:t>
            </a:r>
            <a:r>
              <a:rPr lang="zh-CN" altLang="en-US" sz="2400" b="1" dirty="0">
                <a:latin typeface="微软雅黑" pitchFamily="34" charset="-122"/>
                <a:ea typeface="微软雅黑" pitchFamily="34" charset="-122"/>
              </a:rPr>
              <a:t>将待测目标的长或宽等尺寸信息通过几何光学变换转变为光电信息的方法，可以分为</a:t>
            </a:r>
            <a:r>
              <a:rPr lang="zh-CN" altLang="en-US" sz="2400" b="1" dirty="0">
                <a:solidFill>
                  <a:srgbClr val="FF0000"/>
                </a:solidFill>
                <a:latin typeface="微软雅黑" pitchFamily="34" charset="-122"/>
                <a:ea typeface="微软雅黑" pitchFamily="34" charset="-122"/>
              </a:rPr>
              <a:t>光度测量法</a:t>
            </a:r>
            <a:r>
              <a:rPr lang="zh-CN" altLang="en-US" sz="2400" b="1" dirty="0">
                <a:latin typeface="微软雅黑" pitchFamily="34" charset="-122"/>
                <a:ea typeface="微软雅黑" pitchFamily="34" charset="-122"/>
              </a:rPr>
              <a:t>、</a:t>
            </a:r>
            <a:r>
              <a:rPr lang="zh-CN" altLang="en-US" sz="2400" b="1" dirty="0">
                <a:solidFill>
                  <a:srgbClr val="FF0000"/>
                </a:solidFill>
                <a:latin typeface="微软雅黑" pitchFamily="34" charset="-122"/>
                <a:ea typeface="微软雅黑" pitchFamily="34" charset="-122"/>
              </a:rPr>
              <a:t>成像测量法</a:t>
            </a:r>
            <a:r>
              <a:rPr lang="zh-CN" altLang="en-US" sz="2400" b="1" dirty="0">
                <a:latin typeface="微软雅黑" pitchFamily="34" charset="-122"/>
                <a:ea typeface="微软雅黑" pitchFamily="34" charset="-122"/>
              </a:rPr>
              <a:t>和</a:t>
            </a:r>
            <a:r>
              <a:rPr lang="zh-CN" altLang="en-US" sz="2400" b="1" dirty="0">
                <a:solidFill>
                  <a:srgbClr val="FF0000"/>
                </a:solidFill>
                <a:latin typeface="微软雅黑" pitchFamily="34" charset="-122"/>
                <a:ea typeface="微软雅黑" pitchFamily="34" charset="-122"/>
              </a:rPr>
              <a:t>扫描测量法</a:t>
            </a:r>
            <a:r>
              <a:rPr lang="zh-CN" altLang="en-US" sz="2400" b="1" dirty="0">
                <a:latin typeface="微软雅黑" pitchFamily="34" charset="-122"/>
                <a:ea typeface="微软雅黑" pitchFamily="34" charset="-122"/>
              </a:rPr>
              <a:t>三类。 </a:t>
            </a:r>
          </a:p>
        </p:txBody>
      </p:sp>
      <p:sp>
        <p:nvSpPr>
          <p:cNvPr id="6" name="Rectangle 5"/>
          <p:cNvSpPr>
            <a:spLocks noChangeArrowheads="1"/>
          </p:cNvSpPr>
          <p:nvPr/>
        </p:nvSpPr>
        <p:spPr bwMode="auto">
          <a:xfrm>
            <a:off x="734580" y="4977611"/>
            <a:ext cx="12247130" cy="1135054"/>
          </a:xfrm>
          <a:prstGeom prst="rect">
            <a:avLst/>
          </a:prstGeom>
          <a:noFill/>
          <a:ln w="9525" algn="ctr">
            <a:noFill/>
            <a:miter lim="800000"/>
            <a:headEnd/>
            <a:tailEnd/>
          </a:ln>
        </p:spPr>
        <p:txBody>
          <a:bodyPr wrap="square" anchor="ctr">
            <a:spAutoFit/>
          </a:bodyPr>
          <a:lstStyle/>
          <a:p>
            <a:pPr defTabSz="914400" eaLnBrk="0" hangingPunct="0">
              <a:lnSpc>
                <a:spcPct val="150000"/>
              </a:lnSpc>
            </a:pPr>
            <a:r>
              <a:rPr lang="en-US" altLang="zh-CN" sz="2400" b="1" dirty="0">
                <a:solidFill>
                  <a:schemeClr val="hlink"/>
                </a:solidFill>
                <a:latin typeface="微软雅黑" pitchFamily="34" charset="-122"/>
                <a:ea typeface="微软雅黑" pitchFamily="34" charset="-122"/>
              </a:rPr>
              <a:t>	</a:t>
            </a:r>
            <a:r>
              <a:rPr lang="zh-CN" altLang="en-US" sz="2400" b="1" dirty="0">
                <a:solidFill>
                  <a:schemeClr val="hlink"/>
                </a:solidFill>
                <a:latin typeface="微软雅黑" pitchFamily="34" charset="-122"/>
                <a:ea typeface="微软雅黑" pitchFamily="34" charset="-122"/>
              </a:rPr>
              <a:t>光度测量法</a:t>
            </a:r>
            <a:r>
              <a:rPr lang="zh-CN" altLang="en-US" sz="2400" b="1" dirty="0">
                <a:latin typeface="微软雅黑" pitchFamily="34" charset="-122"/>
                <a:ea typeface="微软雅黑" pitchFamily="34" charset="-122"/>
              </a:rPr>
              <a:t>是根据被测物体的遮光、反光、离焦、像偏移等造成的光量变化，采用光电探测器测量物体尺寸的方法。 </a:t>
            </a:r>
          </a:p>
        </p:txBody>
      </p:sp>
      <p:sp>
        <p:nvSpPr>
          <p:cNvPr id="8" name="Rectangle 17"/>
          <p:cNvSpPr>
            <a:spLocks noChangeArrowheads="1"/>
          </p:cNvSpPr>
          <p:nvPr/>
        </p:nvSpPr>
        <p:spPr bwMode="auto">
          <a:xfrm>
            <a:off x="1773671" y="3918243"/>
            <a:ext cx="2879725" cy="461665"/>
          </a:xfrm>
          <a:prstGeom prst="rect">
            <a:avLst/>
          </a:prstGeom>
          <a:noFill/>
          <a:ln w="9525" algn="ctr">
            <a:noFill/>
            <a:miter lim="800000"/>
            <a:headEnd/>
            <a:tailEnd/>
          </a:ln>
        </p:spPr>
        <p:txBody>
          <a:bodyPr anchor="ctr">
            <a:spAutoFit/>
          </a:bodyPr>
          <a:lstStyle/>
          <a:p>
            <a:pPr defTabSz="914400" eaLnBrk="0" hangingPunct="0"/>
            <a:r>
              <a:rPr lang="en-US" altLang="zh-CN" sz="2400" b="1" dirty="0">
                <a:solidFill>
                  <a:srgbClr val="FF0000"/>
                </a:solidFill>
                <a:latin typeface="Times New Roman" pitchFamily="18" charset="0"/>
                <a:ea typeface="微软雅黑" pitchFamily="34" charset="-122"/>
              </a:rPr>
              <a:t>1.</a:t>
            </a:r>
            <a:r>
              <a:rPr lang="zh-CN" altLang="en-US" sz="2400" b="1" dirty="0">
                <a:solidFill>
                  <a:srgbClr val="FF0000"/>
                </a:solidFill>
                <a:latin typeface="Times New Roman" pitchFamily="18" charset="0"/>
                <a:ea typeface="微软雅黑" pitchFamily="34" charset="-122"/>
              </a:rPr>
              <a:t>光度测量法 </a:t>
            </a:r>
          </a:p>
        </p:txBody>
      </p:sp>
      <p:sp>
        <p:nvSpPr>
          <p:cNvPr id="21" name="文本框 60">
            <a:extLst>
              <a:ext uri="{FF2B5EF4-FFF2-40B4-BE49-F238E27FC236}">
                <a16:creationId xmlns:a16="http://schemas.microsoft.com/office/drawing/2014/main" xmlns="" id="{791D85D7-F412-9C48-9F2B-E33F5B7B4F3C}"/>
              </a:ext>
            </a:extLst>
          </p:cNvPr>
          <p:cNvSpPr txBox="1"/>
          <p:nvPr/>
        </p:nvSpPr>
        <p:spPr>
          <a:xfrm>
            <a:off x="1545506" y="329189"/>
            <a:ext cx="3228375"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几何光学</a:t>
            </a:r>
            <a:r>
              <a:rPr lang="zh-CN" altLang="en-US" sz="1800" b="1" dirty="0">
                <a:latin typeface="微软雅黑" panose="020B0503020204020204" pitchFamily="34" charset="-122"/>
                <a:ea typeface="微软雅黑" panose="020B0503020204020204" pitchFamily="34" charset="-122"/>
              </a:rPr>
              <a:t>方法的光学信息</a:t>
            </a:r>
            <a:r>
              <a:rPr lang="zh-CN" altLang="en-US" sz="1800" b="1" dirty="0" smtClean="0">
                <a:latin typeface="微软雅黑" panose="020B0503020204020204" pitchFamily="34" charset="-122"/>
                <a:ea typeface="微软雅黑" panose="020B0503020204020204" pitchFamily="34" charset="-122"/>
              </a:rPr>
              <a:t>变换</a:t>
            </a:r>
            <a:endParaRPr lang="zh-CN" altLang="en-US" sz="1800" b="1" dirty="0">
              <a:latin typeface="微软雅黑" panose="020B0503020204020204" pitchFamily="34" charset="-122"/>
              <a:ea typeface="微软雅黑" panose="020B0503020204020204" pitchFamily="34" charset="-122"/>
            </a:endParaRPr>
          </a:p>
        </p:txBody>
      </p:sp>
      <p:sp>
        <p:nvSpPr>
          <p:cNvPr id="22" name="矩形 21"/>
          <p:cNvSpPr/>
          <p:nvPr/>
        </p:nvSpPr>
        <p:spPr>
          <a:xfrm>
            <a:off x="10258816" y="329189"/>
            <a:ext cx="1208785"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23" name="矩形 22">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5"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3228375"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6" name="矩形 25">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7" name="矩形 26">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xmlns="" val="1528285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5893"/>
                                        </p:tgtEl>
                                        <p:attrNameLst>
                                          <p:attrName>style.visibility</p:attrName>
                                        </p:attrNameLst>
                                      </p:cBhvr>
                                      <p:to>
                                        <p:strVal val="visible"/>
                                      </p:to>
                                    </p:set>
                                    <p:animEffect transition="in" filter="blinds(horizontal)">
                                      <p:cBhvr>
                                        <p:cTn id="7" dur="500"/>
                                        <p:tgtEl>
                                          <p:spTgt spid="16589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linds(horizontal)">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3" grpId="0"/>
      <p:bldP spid="6"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组合 26"/>
          <p:cNvGrpSpPr/>
          <p:nvPr/>
        </p:nvGrpSpPr>
        <p:grpSpPr>
          <a:xfrm>
            <a:off x="2484582" y="3160713"/>
            <a:ext cx="3455988" cy="3222715"/>
            <a:chOff x="2484582" y="3160713"/>
            <a:chExt cx="3455988" cy="3222715"/>
          </a:xfrm>
        </p:grpSpPr>
        <p:sp>
          <p:nvSpPr>
            <p:cNvPr id="23564" name="AutoShape 15"/>
            <p:cNvSpPr>
              <a:spLocks noChangeAspect="1" noChangeArrowheads="1" noTextEdit="1"/>
            </p:cNvSpPr>
            <p:nvPr/>
          </p:nvSpPr>
          <p:spPr bwMode="auto">
            <a:xfrm>
              <a:off x="2484582" y="3160713"/>
              <a:ext cx="3455988" cy="3036887"/>
            </a:xfrm>
            <a:prstGeom prst="rect">
              <a:avLst/>
            </a:prstGeom>
            <a:noFill/>
            <a:ln w="9525">
              <a:noFill/>
              <a:miter lim="800000"/>
              <a:headEnd/>
              <a:tailEnd/>
            </a:ln>
          </p:spPr>
          <p:txBody>
            <a:bodyPr/>
            <a:lstStyle/>
            <a:p>
              <a:endParaRPr lang="zh-CN" altLang="en-US"/>
            </a:p>
          </p:txBody>
        </p:sp>
        <p:sp>
          <p:nvSpPr>
            <p:cNvPr id="23565" name="Rectangle 17"/>
            <p:cNvSpPr>
              <a:spLocks noChangeArrowheads="1"/>
            </p:cNvSpPr>
            <p:nvPr/>
          </p:nvSpPr>
          <p:spPr bwMode="auto">
            <a:xfrm>
              <a:off x="3044970" y="5773738"/>
              <a:ext cx="57150" cy="274637"/>
            </a:xfrm>
            <a:prstGeom prst="rect">
              <a:avLst/>
            </a:prstGeom>
            <a:noFill/>
            <a:ln w="9525">
              <a:noFill/>
              <a:miter lim="800000"/>
              <a:headEnd/>
              <a:tailEnd/>
            </a:ln>
          </p:spPr>
          <p:txBody>
            <a:bodyPr wrap="none" lIns="0" tIns="0" rIns="0" bIns="0">
              <a:spAutoFit/>
            </a:bodyPr>
            <a:lstStyle/>
            <a:p>
              <a:pPr defTabSz="914400"/>
              <a:r>
                <a:rPr lang="zh-CN" altLang="en-US" sz="1800">
                  <a:solidFill>
                    <a:srgbClr val="000000"/>
                  </a:solidFill>
                  <a:latin typeface="Times New Roman" pitchFamily="18" charset="0"/>
                  <a:ea typeface="楷体_GB2312" pitchFamily="49" charset="-122"/>
                </a:rPr>
                <a:t> </a:t>
              </a:r>
              <a:endParaRPr lang="zh-CN" altLang="en-US" sz="2800" b="1">
                <a:latin typeface="楷体_GB2312" pitchFamily="49" charset="-122"/>
                <a:ea typeface="楷体_GB2312" pitchFamily="49" charset="-122"/>
              </a:endParaRPr>
            </a:p>
          </p:txBody>
        </p:sp>
        <p:pic>
          <p:nvPicPr>
            <p:cNvPr id="54281" name="Picture 18"/>
            <p:cNvPicPr>
              <a:picLocks noChangeAspect="1" noChangeArrowheads="1"/>
            </p:cNvPicPr>
            <p:nvPr/>
          </p:nvPicPr>
          <p:blipFill>
            <a:blip r:embed="rId2" cstate="print"/>
            <a:srcRect/>
            <a:stretch>
              <a:fillRect/>
            </a:stretch>
          </p:blipFill>
          <p:spPr bwMode="auto">
            <a:xfrm>
              <a:off x="3002107" y="3201988"/>
              <a:ext cx="2460625" cy="2517775"/>
            </a:xfrm>
            <a:prstGeom prst="rect">
              <a:avLst/>
            </a:prstGeom>
            <a:noFill/>
            <a:ln w="9525">
              <a:noFill/>
              <a:miter lim="800000"/>
              <a:headEnd/>
              <a:tailEnd/>
            </a:ln>
          </p:spPr>
        </p:pic>
        <p:sp>
          <p:nvSpPr>
            <p:cNvPr id="54282" name="Rectangle 23"/>
            <p:cNvSpPr>
              <a:spLocks noChangeArrowheads="1"/>
            </p:cNvSpPr>
            <p:nvPr/>
          </p:nvSpPr>
          <p:spPr bwMode="auto">
            <a:xfrm>
              <a:off x="2813773" y="6075651"/>
              <a:ext cx="2641749" cy="307777"/>
            </a:xfrm>
            <a:prstGeom prst="rect">
              <a:avLst/>
            </a:prstGeom>
            <a:noFill/>
            <a:ln w="9525">
              <a:noFill/>
              <a:miter lim="800000"/>
              <a:headEnd/>
              <a:tailEnd/>
            </a:ln>
          </p:spPr>
          <p:txBody>
            <a:bodyPr wrap="none" lIns="0" tIns="0" rIns="0" bIns="0">
              <a:spAutoFit/>
            </a:bodyPr>
            <a:lstStyle/>
            <a:p>
              <a:pPr defTabSz="914400"/>
              <a:r>
                <a:rPr lang="en-US" altLang="zh-CN" b="1" dirty="0" smtClean="0">
                  <a:solidFill>
                    <a:srgbClr val="000000"/>
                  </a:solidFill>
                  <a:latin typeface="微软雅黑" pitchFamily="34" charset="-122"/>
                  <a:ea typeface="微软雅黑" pitchFamily="34" charset="-122"/>
                </a:rPr>
                <a:t> </a:t>
              </a:r>
              <a:r>
                <a:rPr lang="zh-CN" altLang="en-US" b="1" dirty="0">
                  <a:solidFill>
                    <a:srgbClr val="000000"/>
                  </a:solidFill>
                  <a:latin typeface="微软雅黑" pitchFamily="34" charset="-122"/>
                  <a:ea typeface="微软雅黑" pitchFamily="34" charset="-122"/>
                </a:rPr>
                <a:t>由光电开关构成的光幕</a:t>
              </a:r>
              <a:endParaRPr lang="zh-CN" altLang="en-US" sz="3200" b="1" dirty="0">
                <a:latin typeface="微软雅黑" pitchFamily="34" charset="-122"/>
                <a:ea typeface="微软雅黑" pitchFamily="34" charset="-122"/>
              </a:endParaRPr>
            </a:p>
          </p:txBody>
        </p:sp>
      </p:grpSp>
      <p:sp>
        <p:nvSpPr>
          <p:cNvPr id="32" name="Rectangle 6"/>
          <p:cNvSpPr>
            <a:spLocks noChangeArrowheads="1"/>
          </p:cNvSpPr>
          <p:nvPr/>
        </p:nvSpPr>
        <p:spPr bwMode="auto">
          <a:xfrm>
            <a:off x="1610855" y="1312674"/>
            <a:ext cx="11243974" cy="830997"/>
          </a:xfrm>
          <a:prstGeom prst="rect">
            <a:avLst/>
          </a:prstGeom>
          <a:noFill/>
          <a:ln w="9525" algn="ctr">
            <a:noFill/>
            <a:miter lim="800000"/>
            <a:headEnd/>
            <a:tailEnd/>
          </a:ln>
        </p:spPr>
        <p:txBody>
          <a:bodyPr wrap="square" anchor="ctr">
            <a:spAutoFit/>
          </a:bodyPr>
          <a:lstStyle/>
          <a:p>
            <a:pPr defTabSz="914400" eaLnBrk="0" hangingPunct="0">
              <a:lnSpc>
                <a:spcPct val="150000"/>
              </a:lnSpc>
            </a:pPr>
            <a:r>
              <a:rPr lang="zh-CN" altLang="en-US" sz="3200" b="1" dirty="0" smtClean="0">
                <a:latin typeface="Times New Roman" pitchFamily="18" charset="0"/>
                <a:ea typeface="微软雅黑" pitchFamily="34" charset="-122"/>
              </a:rPr>
              <a:t>测量装置</a:t>
            </a:r>
            <a:r>
              <a:rPr lang="zh-CN" altLang="en-US" sz="3200" b="1" dirty="0">
                <a:latin typeface="Times New Roman" pitchFamily="18" charset="0"/>
                <a:ea typeface="微软雅黑" pitchFamily="34" charset="-122"/>
              </a:rPr>
              <a:t>比较简单，大范围的</a:t>
            </a:r>
            <a:r>
              <a:rPr lang="zh-CN" altLang="en-US" sz="3200" b="1" dirty="0">
                <a:solidFill>
                  <a:schemeClr val="hlink"/>
                </a:solidFill>
                <a:latin typeface="Times New Roman" pitchFamily="18" charset="0"/>
                <a:ea typeface="微软雅黑" pitchFamily="34" charset="-122"/>
              </a:rPr>
              <a:t>测量误差</a:t>
            </a:r>
            <a:r>
              <a:rPr lang="zh-CN" altLang="en-US" sz="3200" b="1" dirty="0" smtClean="0">
                <a:latin typeface="Times New Roman" pitchFamily="18" charset="0"/>
                <a:ea typeface="微软雅黑" pitchFamily="34" charset="-122"/>
              </a:rPr>
              <a:t>范围是</a:t>
            </a:r>
            <a:r>
              <a:rPr lang="en-US" altLang="zh-CN" sz="3200" b="1" dirty="0" smtClean="0">
                <a:latin typeface="Times New Roman" pitchFamily="18" charset="0"/>
                <a:ea typeface="微软雅黑" pitchFamily="34" charset="-122"/>
              </a:rPr>
              <a:t>0.5</a:t>
            </a:r>
            <a:r>
              <a:rPr lang="en-US" altLang="zh-CN" sz="3200" b="1" dirty="0">
                <a:latin typeface="Times New Roman" pitchFamily="18" charset="0"/>
                <a:ea typeface="微软雅黑" pitchFamily="34" charset="-122"/>
              </a:rPr>
              <a:t>%</a:t>
            </a:r>
            <a:r>
              <a:rPr lang="zh-CN" altLang="en-US" sz="3200" b="1" dirty="0">
                <a:latin typeface="Times New Roman" pitchFamily="18" charset="0"/>
                <a:ea typeface="微软雅黑" pitchFamily="34" charset="-122"/>
              </a:rPr>
              <a:t>～</a:t>
            </a:r>
            <a:r>
              <a:rPr lang="en-US" altLang="zh-CN" sz="3200" b="1" dirty="0">
                <a:latin typeface="Times New Roman" pitchFamily="18" charset="0"/>
                <a:ea typeface="微软雅黑" pitchFamily="34" charset="-122"/>
              </a:rPr>
              <a:t>5%</a:t>
            </a:r>
            <a:r>
              <a:rPr lang="zh-CN" altLang="en-US" sz="3200" b="1" dirty="0">
                <a:latin typeface="Times New Roman" pitchFamily="18" charset="0"/>
                <a:ea typeface="微软雅黑" pitchFamily="34" charset="-122"/>
              </a:rPr>
              <a:t>。 </a:t>
            </a:r>
          </a:p>
        </p:txBody>
      </p:sp>
      <p:grpSp>
        <p:nvGrpSpPr>
          <p:cNvPr id="28" name="组合 27"/>
          <p:cNvGrpSpPr/>
          <p:nvPr/>
        </p:nvGrpSpPr>
        <p:grpSpPr>
          <a:xfrm>
            <a:off x="6302520" y="2570018"/>
            <a:ext cx="4302125" cy="3896538"/>
            <a:chOff x="6302520" y="2570018"/>
            <a:chExt cx="4302125" cy="3896538"/>
          </a:xfrm>
        </p:grpSpPr>
        <p:sp>
          <p:nvSpPr>
            <p:cNvPr id="23568" name="AutoShape 24"/>
            <p:cNvSpPr>
              <a:spLocks noChangeAspect="1" noChangeArrowheads="1" noTextEdit="1"/>
            </p:cNvSpPr>
            <p:nvPr/>
          </p:nvSpPr>
          <p:spPr bwMode="auto">
            <a:xfrm>
              <a:off x="6302520" y="3167063"/>
              <a:ext cx="3382962" cy="3048000"/>
            </a:xfrm>
            <a:prstGeom prst="rect">
              <a:avLst/>
            </a:prstGeom>
            <a:noFill/>
            <a:ln w="9525">
              <a:noFill/>
              <a:miter lim="800000"/>
              <a:headEnd/>
              <a:tailEnd/>
            </a:ln>
          </p:spPr>
          <p:txBody>
            <a:bodyPr/>
            <a:lstStyle/>
            <a:p>
              <a:endParaRPr lang="zh-CN" altLang="en-US"/>
            </a:p>
          </p:txBody>
        </p:sp>
        <p:sp>
          <p:nvSpPr>
            <p:cNvPr id="23569" name="Rectangle 26"/>
            <p:cNvSpPr>
              <a:spLocks noChangeArrowheads="1"/>
            </p:cNvSpPr>
            <p:nvPr/>
          </p:nvSpPr>
          <p:spPr bwMode="auto">
            <a:xfrm>
              <a:off x="6605732" y="5829300"/>
              <a:ext cx="53975" cy="258763"/>
            </a:xfrm>
            <a:prstGeom prst="rect">
              <a:avLst/>
            </a:prstGeom>
            <a:noFill/>
            <a:ln w="9525">
              <a:noFill/>
              <a:miter lim="800000"/>
              <a:headEnd/>
              <a:tailEnd/>
            </a:ln>
          </p:spPr>
          <p:txBody>
            <a:bodyPr wrap="none" lIns="0" tIns="0" rIns="0" bIns="0">
              <a:spAutoFit/>
            </a:bodyPr>
            <a:lstStyle/>
            <a:p>
              <a:pPr defTabSz="914400"/>
              <a:r>
                <a:rPr lang="zh-CN" altLang="en-US" sz="1700">
                  <a:solidFill>
                    <a:srgbClr val="000000"/>
                  </a:solidFill>
                  <a:latin typeface="Times New Roman" pitchFamily="18" charset="0"/>
                  <a:ea typeface="楷体_GB2312" pitchFamily="49" charset="-122"/>
                </a:rPr>
                <a:t> </a:t>
              </a:r>
              <a:endParaRPr lang="zh-CN" altLang="en-US" sz="2800" b="1">
                <a:latin typeface="楷体_GB2312" pitchFamily="49" charset="-122"/>
                <a:ea typeface="楷体_GB2312" pitchFamily="49" charset="-122"/>
              </a:endParaRPr>
            </a:p>
          </p:txBody>
        </p:sp>
        <p:pic>
          <p:nvPicPr>
            <p:cNvPr id="54285" name="Picture 27"/>
            <p:cNvPicPr>
              <a:picLocks noChangeAspect="1" noChangeArrowheads="1"/>
            </p:cNvPicPr>
            <p:nvPr/>
          </p:nvPicPr>
          <p:blipFill>
            <a:blip r:embed="rId3" cstate="print"/>
            <a:srcRect/>
            <a:stretch>
              <a:fillRect/>
            </a:stretch>
          </p:blipFill>
          <p:spPr bwMode="auto">
            <a:xfrm>
              <a:off x="6543820" y="3176588"/>
              <a:ext cx="2822575" cy="2611437"/>
            </a:xfrm>
            <a:prstGeom prst="rect">
              <a:avLst/>
            </a:prstGeom>
            <a:noFill/>
            <a:ln w="9525">
              <a:noFill/>
              <a:miter lim="800000"/>
              <a:headEnd/>
              <a:tailEnd/>
            </a:ln>
          </p:spPr>
        </p:pic>
        <p:sp>
          <p:nvSpPr>
            <p:cNvPr id="23571" name="Rectangle 29"/>
            <p:cNvSpPr>
              <a:spLocks noChangeArrowheads="1"/>
            </p:cNvSpPr>
            <p:nvPr/>
          </p:nvSpPr>
          <p:spPr bwMode="auto">
            <a:xfrm>
              <a:off x="7283595" y="3781425"/>
              <a:ext cx="38100" cy="182563"/>
            </a:xfrm>
            <a:prstGeom prst="rect">
              <a:avLst/>
            </a:prstGeom>
            <a:noFill/>
            <a:ln w="9525">
              <a:noFill/>
              <a:miter lim="800000"/>
              <a:headEnd/>
              <a:tailEnd/>
            </a:ln>
          </p:spPr>
          <p:txBody>
            <a:bodyPr wrap="none" lIns="0" tIns="0" rIns="0" bIns="0">
              <a:spAutoFit/>
            </a:bodyPr>
            <a:lstStyle/>
            <a:p>
              <a:pPr defTabSz="914400"/>
              <a:r>
                <a:rPr lang="zh-CN" altLang="en-US" sz="1200">
                  <a:solidFill>
                    <a:srgbClr val="000000"/>
                  </a:solidFill>
                  <a:latin typeface="Times New Roman" pitchFamily="18" charset="0"/>
                  <a:ea typeface="楷体_GB2312" pitchFamily="49" charset="-122"/>
                </a:rPr>
                <a:t> </a:t>
              </a:r>
              <a:endParaRPr lang="zh-CN" altLang="en-US" sz="2800" b="1">
                <a:latin typeface="楷体_GB2312" pitchFamily="49" charset="-122"/>
                <a:ea typeface="楷体_GB2312" pitchFamily="49" charset="-122"/>
              </a:endParaRPr>
            </a:p>
          </p:txBody>
        </p:sp>
        <p:sp>
          <p:nvSpPr>
            <p:cNvPr id="54294" name="Rectangle 36"/>
            <p:cNvSpPr>
              <a:spLocks noChangeArrowheads="1"/>
            </p:cNvSpPr>
            <p:nvPr/>
          </p:nvSpPr>
          <p:spPr bwMode="auto">
            <a:xfrm>
              <a:off x="9358313" y="2570018"/>
              <a:ext cx="1016000" cy="304800"/>
            </a:xfrm>
            <a:prstGeom prst="rect">
              <a:avLst/>
            </a:prstGeom>
            <a:noFill/>
            <a:ln w="9525">
              <a:noFill/>
              <a:miter lim="800000"/>
              <a:headEnd/>
              <a:tailEnd/>
            </a:ln>
          </p:spPr>
          <p:txBody>
            <a:bodyPr wrap="none" lIns="0" tIns="0" rIns="0" bIns="0">
              <a:spAutoFit/>
            </a:bodyPr>
            <a:lstStyle/>
            <a:p>
              <a:pPr defTabSz="914400"/>
              <a:r>
                <a:rPr lang="zh-CN" altLang="en-US" b="1">
                  <a:solidFill>
                    <a:srgbClr val="000000"/>
                  </a:solidFill>
                  <a:latin typeface="微软雅黑" pitchFamily="34" charset="-122"/>
                  <a:ea typeface="微软雅黑" pitchFamily="34" charset="-122"/>
                </a:rPr>
                <a:t>宽度测量</a:t>
              </a:r>
              <a:endParaRPr lang="zh-CN" altLang="en-US" sz="4000" b="1">
                <a:latin typeface="微软雅黑" pitchFamily="34" charset="-122"/>
                <a:ea typeface="微软雅黑" pitchFamily="34" charset="-122"/>
              </a:endParaRPr>
            </a:p>
          </p:txBody>
        </p:sp>
        <p:sp>
          <p:nvSpPr>
            <p:cNvPr id="23573" name="Rectangle 37"/>
            <p:cNvSpPr>
              <a:spLocks noChangeArrowheads="1"/>
            </p:cNvSpPr>
            <p:nvPr/>
          </p:nvSpPr>
          <p:spPr bwMode="auto">
            <a:xfrm>
              <a:off x="9415607" y="3240088"/>
              <a:ext cx="38100" cy="182562"/>
            </a:xfrm>
            <a:prstGeom prst="rect">
              <a:avLst/>
            </a:prstGeom>
            <a:noFill/>
            <a:ln w="9525">
              <a:noFill/>
              <a:miter lim="800000"/>
              <a:headEnd/>
              <a:tailEnd/>
            </a:ln>
          </p:spPr>
          <p:txBody>
            <a:bodyPr wrap="none" lIns="0" tIns="0" rIns="0" bIns="0">
              <a:spAutoFit/>
            </a:bodyPr>
            <a:lstStyle/>
            <a:p>
              <a:pPr defTabSz="914400"/>
              <a:r>
                <a:rPr lang="zh-CN" altLang="en-US" sz="1200">
                  <a:solidFill>
                    <a:srgbClr val="000000"/>
                  </a:solidFill>
                  <a:latin typeface="Times New Roman" pitchFamily="18" charset="0"/>
                  <a:ea typeface="楷体_GB2312" pitchFamily="49" charset="-122"/>
                </a:rPr>
                <a:t> </a:t>
              </a:r>
              <a:endParaRPr lang="zh-CN" altLang="en-US" sz="2800" b="1">
                <a:latin typeface="楷体_GB2312" pitchFamily="49" charset="-122"/>
                <a:ea typeface="楷体_GB2312" pitchFamily="49" charset="-122"/>
              </a:endParaRPr>
            </a:p>
          </p:txBody>
        </p:sp>
        <p:sp>
          <p:nvSpPr>
            <p:cNvPr id="54299" name="Rectangle 41"/>
            <p:cNvSpPr>
              <a:spLocks noChangeArrowheads="1"/>
            </p:cNvSpPr>
            <p:nvPr/>
          </p:nvSpPr>
          <p:spPr bwMode="auto">
            <a:xfrm>
              <a:off x="9588645" y="5167313"/>
              <a:ext cx="1016000" cy="304800"/>
            </a:xfrm>
            <a:prstGeom prst="rect">
              <a:avLst/>
            </a:prstGeom>
            <a:noFill/>
            <a:ln w="9525">
              <a:noFill/>
              <a:miter lim="800000"/>
              <a:headEnd/>
              <a:tailEnd/>
            </a:ln>
          </p:spPr>
          <p:txBody>
            <a:bodyPr wrap="none" lIns="0" tIns="0" rIns="0" bIns="0">
              <a:spAutoFit/>
            </a:bodyPr>
            <a:lstStyle/>
            <a:p>
              <a:pPr defTabSz="914400"/>
              <a:r>
                <a:rPr lang="zh-CN" altLang="en-US" b="1">
                  <a:solidFill>
                    <a:srgbClr val="000000"/>
                  </a:solidFill>
                  <a:latin typeface="微软雅黑" pitchFamily="34" charset="-122"/>
                  <a:ea typeface="微软雅黑" pitchFamily="34" charset="-122"/>
                </a:rPr>
                <a:t>高度测量</a:t>
              </a:r>
              <a:endParaRPr lang="zh-CN" altLang="en-US" sz="4000" b="1">
                <a:latin typeface="微软雅黑" pitchFamily="34" charset="-122"/>
                <a:ea typeface="微软雅黑" pitchFamily="34" charset="-122"/>
              </a:endParaRPr>
            </a:p>
          </p:txBody>
        </p:sp>
        <p:sp>
          <p:nvSpPr>
            <p:cNvPr id="23575" name="Rectangle 42"/>
            <p:cNvSpPr>
              <a:spLocks noChangeArrowheads="1"/>
            </p:cNvSpPr>
            <p:nvPr/>
          </p:nvSpPr>
          <p:spPr bwMode="auto">
            <a:xfrm>
              <a:off x="9471170" y="5222875"/>
              <a:ext cx="38100" cy="182563"/>
            </a:xfrm>
            <a:prstGeom prst="rect">
              <a:avLst/>
            </a:prstGeom>
            <a:noFill/>
            <a:ln w="9525">
              <a:noFill/>
              <a:miter lim="800000"/>
              <a:headEnd/>
              <a:tailEnd/>
            </a:ln>
          </p:spPr>
          <p:txBody>
            <a:bodyPr wrap="none" lIns="0" tIns="0" rIns="0" bIns="0">
              <a:spAutoFit/>
            </a:bodyPr>
            <a:lstStyle/>
            <a:p>
              <a:pPr defTabSz="914400"/>
              <a:r>
                <a:rPr lang="zh-CN" altLang="en-US" sz="1200">
                  <a:solidFill>
                    <a:srgbClr val="000000"/>
                  </a:solidFill>
                  <a:latin typeface="Times New Roman" pitchFamily="18" charset="0"/>
                  <a:ea typeface="楷体_GB2312" pitchFamily="49" charset="-122"/>
                </a:rPr>
                <a:t> </a:t>
              </a:r>
              <a:endParaRPr lang="zh-CN" altLang="en-US" sz="2800" b="1">
                <a:latin typeface="楷体_GB2312" pitchFamily="49" charset="-122"/>
                <a:ea typeface="楷体_GB2312" pitchFamily="49" charset="-122"/>
              </a:endParaRPr>
            </a:p>
          </p:txBody>
        </p:sp>
        <p:sp>
          <p:nvSpPr>
            <p:cNvPr id="54301" name="Rectangle 47"/>
            <p:cNvSpPr>
              <a:spLocks noChangeArrowheads="1"/>
            </p:cNvSpPr>
            <p:nvPr/>
          </p:nvSpPr>
          <p:spPr bwMode="auto">
            <a:xfrm>
              <a:off x="6867526" y="6158779"/>
              <a:ext cx="2821285" cy="307777"/>
            </a:xfrm>
            <a:prstGeom prst="rect">
              <a:avLst/>
            </a:prstGeom>
            <a:noFill/>
            <a:ln w="9525">
              <a:noFill/>
              <a:miter lim="800000"/>
              <a:headEnd/>
              <a:tailEnd/>
            </a:ln>
          </p:spPr>
          <p:txBody>
            <a:bodyPr wrap="none" lIns="0" tIns="0" rIns="0" bIns="0">
              <a:spAutoFit/>
            </a:bodyPr>
            <a:lstStyle/>
            <a:p>
              <a:pPr defTabSz="914400"/>
              <a:r>
                <a:rPr lang="zh-CN" altLang="en-US" b="1" dirty="0" smtClean="0">
                  <a:solidFill>
                    <a:srgbClr val="000000"/>
                  </a:solidFill>
                  <a:latin typeface="微软雅黑" pitchFamily="34" charset="-122"/>
                  <a:ea typeface="微软雅黑" pitchFamily="34" charset="-122"/>
                </a:rPr>
                <a:t>物体</a:t>
              </a:r>
              <a:r>
                <a:rPr lang="zh-CN" altLang="en-US" b="1" dirty="0">
                  <a:solidFill>
                    <a:srgbClr val="000000"/>
                  </a:solidFill>
                  <a:latin typeface="微软雅黑" pitchFamily="34" charset="-122"/>
                  <a:ea typeface="微软雅黑" pitchFamily="34" charset="-122"/>
                </a:rPr>
                <a:t>三维尺寸测量示意图</a:t>
              </a:r>
              <a:endParaRPr lang="zh-CN" altLang="en-US" sz="3600" b="1" dirty="0">
                <a:latin typeface="微软雅黑" pitchFamily="34" charset="-122"/>
                <a:ea typeface="微软雅黑" pitchFamily="34" charset="-122"/>
              </a:endParaRPr>
            </a:p>
          </p:txBody>
        </p:sp>
        <p:cxnSp>
          <p:nvCxnSpPr>
            <p:cNvPr id="36" name="直接箭头连接符 35"/>
            <p:cNvCxnSpPr/>
            <p:nvPr/>
          </p:nvCxnSpPr>
          <p:spPr>
            <a:xfrm rot="10800000" flipV="1">
              <a:off x="8731395" y="2952750"/>
              <a:ext cx="642937" cy="571500"/>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rot="10800000">
              <a:off x="8731395" y="4738688"/>
              <a:ext cx="857250" cy="571500"/>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2" name="组合 41"/>
            <p:cNvGrpSpPr>
              <a:grpSpLocks/>
            </p:cNvGrpSpPr>
            <p:nvPr/>
          </p:nvGrpSpPr>
          <p:grpSpPr bwMode="auto">
            <a:xfrm>
              <a:off x="6445395" y="3524250"/>
              <a:ext cx="1016000" cy="857250"/>
              <a:chOff x="4500562" y="3071810"/>
              <a:chExt cx="1016452" cy="857255"/>
            </a:xfrm>
          </p:grpSpPr>
          <p:sp>
            <p:nvSpPr>
              <p:cNvPr id="23581" name="Rectangle 28"/>
              <p:cNvSpPr>
                <a:spLocks noChangeArrowheads="1"/>
              </p:cNvSpPr>
              <p:nvPr/>
            </p:nvSpPr>
            <p:spPr bwMode="auto">
              <a:xfrm>
                <a:off x="4500562" y="3071810"/>
                <a:ext cx="1016452" cy="304802"/>
              </a:xfrm>
              <a:prstGeom prst="rect">
                <a:avLst/>
              </a:prstGeom>
              <a:noFill/>
              <a:ln w="9525">
                <a:noFill/>
                <a:miter lim="800000"/>
                <a:headEnd/>
                <a:tailEnd/>
              </a:ln>
            </p:spPr>
            <p:txBody>
              <a:bodyPr wrap="none" lIns="0" tIns="0" rIns="0" bIns="0">
                <a:spAutoFit/>
              </a:bodyPr>
              <a:lstStyle/>
              <a:p>
                <a:pPr defTabSz="914400"/>
                <a:r>
                  <a:rPr lang="zh-CN" altLang="en-US" b="1">
                    <a:solidFill>
                      <a:srgbClr val="000000"/>
                    </a:solidFill>
                    <a:latin typeface="微软雅黑" pitchFamily="34" charset="-122"/>
                    <a:ea typeface="微软雅黑" pitchFamily="34" charset="-122"/>
                  </a:rPr>
                  <a:t>长度测量</a:t>
                </a:r>
                <a:endParaRPr lang="zh-CN" altLang="en-US" sz="4000" b="1">
                  <a:latin typeface="微软雅黑" pitchFamily="34" charset="-122"/>
                  <a:ea typeface="微软雅黑" pitchFamily="34" charset="-122"/>
                </a:endParaRPr>
              </a:p>
            </p:txBody>
          </p:sp>
          <p:cxnSp>
            <p:nvCxnSpPr>
              <p:cNvPr id="40" name="直接箭头连接符 39"/>
              <p:cNvCxnSpPr>
                <a:stCxn id="23581" idx="2"/>
              </p:cNvCxnSpPr>
              <p:nvPr/>
            </p:nvCxnSpPr>
            <p:spPr>
              <a:xfrm rot="16200000" flipH="1">
                <a:off x="4912822" y="3483693"/>
                <a:ext cx="549278" cy="341465"/>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grpSp>
      </p:grpSp>
      <p:sp>
        <p:nvSpPr>
          <p:cNvPr id="29" name="文本框 60">
            <a:extLst>
              <a:ext uri="{FF2B5EF4-FFF2-40B4-BE49-F238E27FC236}">
                <a16:creationId xmlns:a16="http://schemas.microsoft.com/office/drawing/2014/main" xmlns="" id="{791D85D7-F412-9C48-9F2B-E33F5B7B4F3C}"/>
              </a:ext>
            </a:extLst>
          </p:cNvPr>
          <p:cNvSpPr txBox="1"/>
          <p:nvPr/>
        </p:nvSpPr>
        <p:spPr>
          <a:xfrm>
            <a:off x="1545506" y="329189"/>
            <a:ext cx="3228375"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几何光学</a:t>
            </a:r>
            <a:r>
              <a:rPr lang="zh-CN" altLang="en-US" sz="1800" b="1" dirty="0">
                <a:latin typeface="微软雅黑" panose="020B0503020204020204" pitchFamily="34" charset="-122"/>
                <a:ea typeface="微软雅黑" panose="020B0503020204020204" pitchFamily="34" charset="-122"/>
              </a:rPr>
              <a:t>方法的光学信息</a:t>
            </a:r>
            <a:r>
              <a:rPr lang="zh-CN" altLang="en-US" sz="1800" b="1" dirty="0" smtClean="0">
                <a:latin typeface="微软雅黑" panose="020B0503020204020204" pitchFamily="34" charset="-122"/>
                <a:ea typeface="微软雅黑" panose="020B0503020204020204" pitchFamily="34" charset="-122"/>
              </a:rPr>
              <a:t>变换</a:t>
            </a:r>
            <a:endParaRPr lang="zh-CN" altLang="en-US" sz="1800" b="1" dirty="0">
              <a:latin typeface="微软雅黑" panose="020B0503020204020204" pitchFamily="34" charset="-122"/>
              <a:ea typeface="微软雅黑" panose="020B0503020204020204" pitchFamily="34" charset="-122"/>
            </a:endParaRPr>
          </a:p>
        </p:txBody>
      </p:sp>
      <p:sp>
        <p:nvSpPr>
          <p:cNvPr id="30" name="矩形 29"/>
          <p:cNvSpPr/>
          <p:nvPr/>
        </p:nvSpPr>
        <p:spPr>
          <a:xfrm>
            <a:off x="10208712" y="329189"/>
            <a:ext cx="1258889"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31" name="矩形 30">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34"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3228375"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37" name="矩形 36">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xmlns="" val="2544325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linds(horizontal)">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box(in)">
                                      <p:cBhvr>
                                        <p:cTn id="1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8" name="Rectangle 8"/>
          <p:cNvSpPr>
            <a:spLocks noChangeArrowheads="1"/>
          </p:cNvSpPr>
          <p:nvPr/>
        </p:nvSpPr>
        <p:spPr bwMode="auto">
          <a:xfrm>
            <a:off x="5218690" y="1215335"/>
            <a:ext cx="3329565" cy="646331"/>
          </a:xfrm>
          <a:prstGeom prst="rect">
            <a:avLst/>
          </a:prstGeom>
          <a:noFill/>
          <a:ln w="9525" algn="ctr">
            <a:noFill/>
            <a:miter lim="800000"/>
            <a:headEnd/>
            <a:tailEnd/>
          </a:ln>
        </p:spPr>
        <p:txBody>
          <a:bodyPr wrap="square" anchor="ctr">
            <a:spAutoFit/>
          </a:bodyPr>
          <a:lstStyle/>
          <a:p>
            <a:pPr defTabSz="914400" eaLnBrk="0" hangingPunct="0"/>
            <a:r>
              <a:rPr lang="en-US" altLang="zh-CN" sz="3600" b="1" dirty="0">
                <a:solidFill>
                  <a:srgbClr val="0000CC"/>
                </a:solidFill>
                <a:latin typeface="Times New Roman" pitchFamily="18" charset="0"/>
                <a:ea typeface="微软雅黑" pitchFamily="34" charset="-122"/>
              </a:rPr>
              <a:t>2</a:t>
            </a:r>
            <a:r>
              <a:rPr lang="en-US" altLang="zh-CN" sz="3600" b="1" dirty="0" smtClean="0">
                <a:solidFill>
                  <a:srgbClr val="0000CC"/>
                </a:solidFill>
                <a:latin typeface="Times New Roman" pitchFamily="18" charset="0"/>
                <a:ea typeface="微软雅黑" pitchFamily="34" charset="-122"/>
              </a:rPr>
              <a:t>. </a:t>
            </a:r>
            <a:r>
              <a:rPr lang="zh-CN" altLang="en-US" sz="3600" b="1" dirty="0" smtClean="0">
                <a:solidFill>
                  <a:srgbClr val="0000CC"/>
                </a:solidFill>
                <a:latin typeface="Times New Roman" pitchFamily="18" charset="0"/>
                <a:ea typeface="微软雅黑" pitchFamily="34" charset="-122"/>
              </a:rPr>
              <a:t>成像</a:t>
            </a:r>
            <a:r>
              <a:rPr lang="zh-CN" altLang="en-US" sz="3600" b="1" dirty="0">
                <a:solidFill>
                  <a:srgbClr val="0000CC"/>
                </a:solidFill>
                <a:latin typeface="Times New Roman" pitchFamily="18" charset="0"/>
                <a:ea typeface="微软雅黑" pitchFamily="34" charset="-122"/>
              </a:rPr>
              <a:t>测量法 </a:t>
            </a:r>
          </a:p>
        </p:txBody>
      </p:sp>
      <p:sp>
        <p:nvSpPr>
          <p:cNvPr id="168971" name="Rectangle 11"/>
          <p:cNvSpPr>
            <a:spLocks noChangeArrowheads="1"/>
          </p:cNvSpPr>
          <p:nvPr/>
        </p:nvSpPr>
        <p:spPr bwMode="auto">
          <a:xfrm>
            <a:off x="695324" y="1843038"/>
            <a:ext cx="12258675" cy="2308324"/>
          </a:xfrm>
          <a:prstGeom prst="rect">
            <a:avLst/>
          </a:prstGeom>
          <a:noFill/>
          <a:ln w="9525" algn="ctr">
            <a:noFill/>
            <a:miter lim="800000"/>
            <a:headEnd/>
            <a:tailEnd/>
          </a:ln>
        </p:spPr>
        <p:txBody>
          <a:bodyPr wrap="square" anchor="ctr">
            <a:spAutoFit/>
          </a:bodyPr>
          <a:lstStyle/>
          <a:p>
            <a:pPr defTabSz="914400" eaLnBrk="0" hangingPunct="0">
              <a:lnSpc>
                <a:spcPct val="150000"/>
              </a:lnSpc>
            </a:pPr>
            <a:r>
              <a:rPr lang="zh-CN" altLang="en-US" sz="3200" b="1" dirty="0" smtClean="0">
                <a:solidFill>
                  <a:srgbClr val="FF0000"/>
                </a:solidFill>
                <a:latin typeface="Times New Roman" pitchFamily="18" charset="0"/>
                <a:ea typeface="微软雅黑" pitchFamily="34" charset="-122"/>
              </a:rPr>
              <a:t>成像</a:t>
            </a:r>
            <a:r>
              <a:rPr lang="zh-CN" altLang="en-US" sz="3200" b="1" dirty="0">
                <a:solidFill>
                  <a:srgbClr val="FF0000"/>
                </a:solidFill>
                <a:latin typeface="Times New Roman" pitchFamily="18" charset="0"/>
                <a:ea typeface="微软雅黑" pitchFamily="34" charset="-122"/>
              </a:rPr>
              <a:t>测量法</a:t>
            </a:r>
            <a:r>
              <a:rPr lang="zh-CN" altLang="en-US" sz="3200" b="1" dirty="0">
                <a:latin typeface="Times New Roman" pitchFamily="18" charset="0"/>
                <a:ea typeface="微软雅黑" pitchFamily="34" charset="-122"/>
              </a:rPr>
              <a:t>是利用光学系统对物体的成像关系，以</a:t>
            </a:r>
            <a:r>
              <a:rPr lang="en-US" altLang="zh-CN" sz="3200" b="1" dirty="0">
                <a:latin typeface="Times New Roman" pitchFamily="18" charset="0"/>
                <a:ea typeface="微软雅黑" pitchFamily="34" charset="-122"/>
              </a:rPr>
              <a:t>CCD</a:t>
            </a:r>
            <a:r>
              <a:rPr lang="zh-CN" altLang="en-US" sz="3200" b="1" dirty="0">
                <a:latin typeface="Times New Roman" pitchFamily="18" charset="0"/>
                <a:ea typeface="微软雅黑" pitchFamily="34" charset="-122"/>
              </a:rPr>
              <a:t>、</a:t>
            </a:r>
            <a:r>
              <a:rPr lang="en-US" altLang="zh-CN" sz="3200" b="1" dirty="0">
                <a:latin typeface="Times New Roman" pitchFamily="18" charset="0"/>
                <a:ea typeface="微软雅黑" pitchFamily="34" charset="-122"/>
              </a:rPr>
              <a:t>CMOS</a:t>
            </a:r>
            <a:r>
              <a:rPr lang="zh-CN" altLang="en-US" sz="3200" b="1" dirty="0">
                <a:latin typeface="Times New Roman" pitchFamily="18" charset="0"/>
                <a:ea typeface="微软雅黑" pitchFamily="34" charset="-122"/>
              </a:rPr>
              <a:t>、真空摄像管等成像器件在观察图像的同时，确定轮廓的边缘和边缘间的距离。这类测量方法的</a:t>
            </a:r>
            <a:r>
              <a:rPr lang="zh-CN" altLang="en-US" sz="3200" b="1" dirty="0">
                <a:solidFill>
                  <a:schemeClr val="hlink"/>
                </a:solidFill>
                <a:latin typeface="Times New Roman" pitchFamily="18" charset="0"/>
                <a:ea typeface="微软雅黑" pitchFamily="34" charset="-122"/>
              </a:rPr>
              <a:t>测量误差</a:t>
            </a:r>
            <a:r>
              <a:rPr lang="zh-CN" altLang="en-US" sz="3200" b="1" dirty="0">
                <a:latin typeface="Times New Roman" pitchFamily="18" charset="0"/>
                <a:ea typeface="微软雅黑" pitchFamily="34" charset="-122"/>
              </a:rPr>
              <a:t>范围为</a:t>
            </a:r>
            <a:r>
              <a:rPr lang="en-US" altLang="zh-CN" sz="3200" b="1" dirty="0">
                <a:latin typeface="Times New Roman" pitchFamily="18" charset="0"/>
                <a:ea typeface="微软雅黑" pitchFamily="34" charset="-122"/>
              </a:rPr>
              <a:t>0.1%</a:t>
            </a:r>
            <a:r>
              <a:rPr lang="zh-CN" altLang="en-US" sz="3200" b="1" dirty="0">
                <a:latin typeface="Times New Roman" pitchFamily="18" charset="0"/>
                <a:ea typeface="微软雅黑" pitchFamily="34" charset="-122"/>
              </a:rPr>
              <a:t>～</a:t>
            </a:r>
            <a:r>
              <a:rPr lang="en-US" altLang="zh-CN" sz="3200" b="1" dirty="0">
                <a:latin typeface="Times New Roman" pitchFamily="18" charset="0"/>
                <a:ea typeface="微软雅黑" pitchFamily="34" charset="-122"/>
              </a:rPr>
              <a:t>2%</a:t>
            </a:r>
            <a:r>
              <a:rPr lang="zh-CN" altLang="en-US" sz="3200" b="1" dirty="0">
                <a:latin typeface="Times New Roman" pitchFamily="18" charset="0"/>
                <a:ea typeface="微软雅黑" pitchFamily="34" charset="-122"/>
              </a:rPr>
              <a:t>。 </a:t>
            </a:r>
          </a:p>
        </p:txBody>
      </p:sp>
      <p:graphicFrame>
        <p:nvGraphicFramePr>
          <p:cNvPr id="1026" name="Object 12"/>
          <p:cNvGraphicFramePr>
            <a:graphicFrameLocks noChangeAspect="1"/>
          </p:cNvGraphicFramePr>
          <p:nvPr/>
        </p:nvGraphicFramePr>
        <p:xfrm>
          <a:off x="3419908" y="4449619"/>
          <a:ext cx="6976203" cy="2671617"/>
        </p:xfrm>
        <a:graphic>
          <a:graphicData uri="http://schemas.openxmlformats.org/presentationml/2006/ole">
            <p:oleObj spid="_x0000_s1032" name="Visio" r:id="rId3" imgW="3053700" imgH="1171800" progId="">
              <p:embed/>
            </p:oleObj>
          </a:graphicData>
        </a:graphic>
      </p:graphicFrame>
      <p:sp>
        <p:nvSpPr>
          <p:cNvPr id="10" name="文本框 60">
            <a:extLst>
              <a:ext uri="{FF2B5EF4-FFF2-40B4-BE49-F238E27FC236}">
                <a16:creationId xmlns:a16="http://schemas.microsoft.com/office/drawing/2014/main" xmlns="" id="{791D85D7-F412-9C48-9F2B-E33F5B7B4F3C}"/>
              </a:ext>
            </a:extLst>
          </p:cNvPr>
          <p:cNvSpPr txBox="1"/>
          <p:nvPr/>
        </p:nvSpPr>
        <p:spPr>
          <a:xfrm>
            <a:off x="1545506" y="329189"/>
            <a:ext cx="3228375"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几何光学</a:t>
            </a:r>
            <a:r>
              <a:rPr lang="zh-CN" altLang="en-US" sz="1800" b="1" dirty="0">
                <a:latin typeface="微软雅黑" panose="020B0503020204020204" pitchFamily="34" charset="-122"/>
                <a:ea typeface="微软雅黑" panose="020B0503020204020204" pitchFamily="34" charset="-122"/>
              </a:rPr>
              <a:t>方法的光学信息</a:t>
            </a:r>
            <a:r>
              <a:rPr lang="zh-CN" altLang="en-US" sz="1800" b="1" dirty="0" smtClean="0">
                <a:latin typeface="微软雅黑" panose="020B0503020204020204" pitchFamily="34" charset="-122"/>
                <a:ea typeface="微软雅黑" panose="020B0503020204020204" pitchFamily="34" charset="-122"/>
              </a:rPr>
              <a:t>变换</a:t>
            </a:r>
            <a:endParaRPr lang="zh-CN" altLang="en-US" sz="1800" b="1" dirty="0">
              <a:latin typeface="微软雅黑" panose="020B0503020204020204" pitchFamily="34" charset="-122"/>
              <a:ea typeface="微软雅黑" panose="020B0503020204020204" pitchFamily="34" charset="-122"/>
            </a:endParaRPr>
          </a:p>
        </p:txBody>
      </p:sp>
      <p:sp>
        <p:nvSpPr>
          <p:cNvPr id="11" name="矩形 10"/>
          <p:cNvSpPr/>
          <p:nvPr/>
        </p:nvSpPr>
        <p:spPr>
          <a:xfrm>
            <a:off x="10258816" y="329189"/>
            <a:ext cx="1208785"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2" name="矩形 11">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5"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3228375"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7" name="矩形 16">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xmlns="" val="3242293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8971">
                                            <p:txEl>
                                              <p:pRg st="0" end="0"/>
                                            </p:txEl>
                                          </p:spTgt>
                                        </p:tgtEl>
                                        <p:attrNameLst>
                                          <p:attrName>style.visibility</p:attrName>
                                        </p:attrNameLst>
                                      </p:cBhvr>
                                      <p:to>
                                        <p:strVal val="visible"/>
                                      </p:to>
                                    </p:set>
                                    <p:animEffect transition="in" filter="blinds(horizontal)">
                                      <p:cBhvr>
                                        <p:cTn id="7" dur="500"/>
                                        <p:tgtEl>
                                          <p:spTgt spid="1689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box(in)">
                                      <p:cBhvr>
                                        <p:cTn id="12"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8" name="Rectangle 4"/>
          <p:cNvSpPr>
            <a:spLocks noChangeArrowheads="1"/>
          </p:cNvSpPr>
          <p:nvPr/>
        </p:nvSpPr>
        <p:spPr bwMode="auto">
          <a:xfrm>
            <a:off x="3255963" y="6927850"/>
            <a:ext cx="31750" cy="152400"/>
          </a:xfrm>
          <a:prstGeom prst="rect">
            <a:avLst/>
          </a:prstGeom>
          <a:noFill/>
          <a:ln w="9525">
            <a:noFill/>
            <a:miter lim="800000"/>
            <a:headEnd/>
            <a:tailEnd/>
          </a:ln>
        </p:spPr>
        <p:txBody>
          <a:bodyPr wrap="none" lIns="0" tIns="0" rIns="0" bIns="0">
            <a:spAutoFit/>
          </a:bodyPr>
          <a:lstStyle/>
          <a:p>
            <a:pPr defTabSz="914400"/>
            <a:r>
              <a:rPr lang="zh-CN" altLang="en-US" sz="1000">
                <a:solidFill>
                  <a:srgbClr val="000000"/>
                </a:solidFill>
                <a:latin typeface="Times New Roman" pitchFamily="18" charset="0"/>
                <a:ea typeface="楷体_GB2312" pitchFamily="49" charset="-122"/>
              </a:rPr>
              <a:t> </a:t>
            </a:r>
            <a:endParaRPr lang="zh-CN" altLang="en-US" sz="2800" b="1">
              <a:latin typeface="楷体_GB2312" pitchFamily="49" charset="-122"/>
              <a:ea typeface="楷体_GB2312" pitchFamily="49" charset="-122"/>
            </a:endParaRPr>
          </a:p>
        </p:txBody>
      </p:sp>
      <p:sp>
        <p:nvSpPr>
          <p:cNvPr id="25609" name="Rectangle 5"/>
          <p:cNvSpPr>
            <a:spLocks noChangeArrowheads="1"/>
          </p:cNvSpPr>
          <p:nvPr/>
        </p:nvSpPr>
        <p:spPr bwMode="auto">
          <a:xfrm>
            <a:off x="3225800" y="6962775"/>
            <a:ext cx="57150" cy="136525"/>
          </a:xfrm>
          <a:prstGeom prst="rect">
            <a:avLst/>
          </a:prstGeom>
          <a:noFill/>
          <a:ln w="9525">
            <a:noFill/>
            <a:miter lim="800000"/>
            <a:headEnd/>
            <a:tailEnd/>
          </a:ln>
        </p:spPr>
        <p:txBody>
          <a:bodyPr wrap="none" lIns="0" tIns="0" rIns="0" bIns="0">
            <a:spAutoFit/>
          </a:bodyPr>
          <a:lstStyle/>
          <a:p>
            <a:pPr defTabSz="914400"/>
            <a:r>
              <a:rPr lang="en-US" altLang="zh-CN" sz="900">
                <a:solidFill>
                  <a:srgbClr val="000000"/>
                </a:solidFill>
                <a:latin typeface="Times New Roman" pitchFamily="18" charset="0"/>
                <a:ea typeface="楷体_GB2312" pitchFamily="49" charset="-122"/>
              </a:rPr>
              <a:t>9</a:t>
            </a:r>
            <a:endParaRPr lang="en-US" altLang="zh-CN" sz="2800" b="1">
              <a:latin typeface="楷体_GB2312" pitchFamily="49" charset="-122"/>
              <a:ea typeface="楷体_GB2312" pitchFamily="49" charset="-122"/>
            </a:endParaRPr>
          </a:p>
        </p:txBody>
      </p:sp>
      <p:sp>
        <p:nvSpPr>
          <p:cNvPr id="25610" name="Rectangle 6"/>
          <p:cNvSpPr>
            <a:spLocks noChangeArrowheads="1"/>
          </p:cNvSpPr>
          <p:nvPr/>
        </p:nvSpPr>
        <p:spPr bwMode="auto">
          <a:xfrm>
            <a:off x="3286125" y="6962775"/>
            <a:ext cx="38100" cy="136525"/>
          </a:xfrm>
          <a:prstGeom prst="rect">
            <a:avLst/>
          </a:prstGeom>
          <a:noFill/>
          <a:ln w="9525">
            <a:noFill/>
            <a:miter lim="800000"/>
            <a:headEnd/>
            <a:tailEnd/>
          </a:ln>
        </p:spPr>
        <p:txBody>
          <a:bodyPr wrap="none" lIns="0" tIns="0" rIns="0" bIns="0">
            <a:spAutoFit/>
          </a:bodyPr>
          <a:lstStyle/>
          <a:p>
            <a:pPr defTabSz="914400"/>
            <a:r>
              <a:rPr lang="en-US" altLang="zh-CN" sz="900">
                <a:solidFill>
                  <a:srgbClr val="000000"/>
                </a:solidFill>
                <a:latin typeface="Times New Roman" pitchFamily="18" charset="0"/>
                <a:ea typeface="楷体_GB2312" pitchFamily="49" charset="-122"/>
              </a:rPr>
              <a:t>-</a:t>
            </a:r>
            <a:endParaRPr lang="en-US" altLang="zh-CN" sz="2800" b="1">
              <a:latin typeface="楷体_GB2312" pitchFamily="49" charset="-122"/>
              <a:ea typeface="楷体_GB2312" pitchFamily="49" charset="-122"/>
            </a:endParaRPr>
          </a:p>
        </p:txBody>
      </p:sp>
      <p:sp>
        <p:nvSpPr>
          <p:cNvPr id="25611" name="Rectangle 7"/>
          <p:cNvSpPr>
            <a:spLocks noChangeArrowheads="1"/>
          </p:cNvSpPr>
          <p:nvPr/>
        </p:nvSpPr>
        <p:spPr bwMode="auto">
          <a:xfrm>
            <a:off x="3327400" y="6962775"/>
            <a:ext cx="85725" cy="136525"/>
          </a:xfrm>
          <a:prstGeom prst="rect">
            <a:avLst/>
          </a:prstGeom>
          <a:noFill/>
          <a:ln w="9525">
            <a:noFill/>
            <a:miter lim="800000"/>
            <a:headEnd/>
            <a:tailEnd/>
          </a:ln>
        </p:spPr>
        <p:txBody>
          <a:bodyPr wrap="none" lIns="0" tIns="0" rIns="0" bIns="0">
            <a:spAutoFit/>
          </a:bodyPr>
          <a:lstStyle/>
          <a:p>
            <a:pPr defTabSz="914400"/>
            <a:r>
              <a:rPr lang="en-US" altLang="zh-CN" sz="900">
                <a:solidFill>
                  <a:srgbClr val="000000"/>
                </a:solidFill>
                <a:latin typeface="Times New Roman" pitchFamily="18" charset="0"/>
                <a:ea typeface="楷体_GB2312" pitchFamily="49" charset="-122"/>
              </a:rPr>
              <a:t>1 </a:t>
            </a:r>
            <a:endParaRPr lang="en-US" altLang="zh-CN" sz="2800" b="1">
              <a:latin typeface="楷体_GB2312" pitchFamily="49" charset="-122"/>
              <a:ea typeface="楷体_GB2312" pitchFamily="49" charset="-122"/>
            </a:endParaRPr>
          </a:p>
        </p:txBody>
      </p:sp>
      <p:sp>
        <p:nvSpPr>
          <p:cNvPr id="55303" name="Rectangle 8"/>
          <p:cNvSpPr>
            <a:spLocks noChangeArrowheads="1"/>
          </p:cNvSpPr>
          <p:nvPr/>
        </p:nvSpPr>
        <p:spPr bwMode="auto">
          <a:xfrm>
            <a:off x="5195022" y="1380256"/>
            <a:ext cx="3755014" cy="707886"/>
          </a:xfrm>
          <a:prstGeom prst="rect">
            <a:avLst/>
          </a:prstGeom>
          <a:noFill/>
          <a:ln w="9525" algn="ctr">
            <a:noFill/>
            <a:miter lim="800000"/>
            <a:headEnd/>
            <a:tailEnd/>
          </a:ln>
        </p:spPr>
        <p:txBody>
          <a:bodyPr wrap="square" anchor="ctr">
            <a:spAutoFit/>
          </a:bodyPr>
          <a:lstStyle/>
          <a:p>
            <a:pPr defTabSz="914400" eaLnBrk="0" hangingPunct="0"/>
            <a:r>
              <a:rPr lang="en-US" altLang="zh-CN" sz="4000" b="1" dirty="0">
                <a:solidFill>
                  <a:srgbClr val="0000CC"/>
                </a:solidFill>
                <a:latin typeface="Times New Roman" pitchFamily="18" charset="0"/>
                <a:ea typeface="微软雅黑" pitchFamily="34" charset="-122"/>
              </a:rPr>
              <a:t>3</a:t>
            </a:r>
            <a:r>
              <a:rPr lang="en-US" altLang="zh-CN" sz="4000" b="1" dirty="0" smtClean="0">
                <a:solidFill>
                  <a:srgbClr val="0000CC"/>
                </a:solidFill>
                <a:latin typeface="Times New Roman" pitchFamily="18" charset="0"/>
                <a:ea typeface="微软雅黑" pitchFamily="34" charset="-122"/>
              </a:rPr>
              <a:t>. </a:t>
            </a:r>
            <a:r>
              <a:rPr lang="zh-CN" altLang="en-US" sz="4000" b="1" dirty="0" smtClean="0">
                <a:solidFill>
                  <a:srgbClr val="0000CC"/>
                </a:solidFill>
                <a:latin typeface="Times New Roman" pitchFamily="18" charset="0"/>
                <a:ea typeface="微软雅黑" pitchFamily="34" charset="-122"/>
              </a:rPr>
              <a:t>扫描</a:t>
            </a:r>
            <a:r>
              <a:rPr lang="zh-CN" altLang="en-US" sz="4000" b="1" dirty="0">
                <a:solidFill>
                  <a:srgbClr val="0000CC"/>
                </a:solidFill>
                <a:latin typeface="Times New Roman" pitchFamily="18" charset="0"/>
                <a:ea typeface="微软雅黑" pitchFamily="34" charset="-122"/>
              </a:rPr>
              <a:t>测量法 </a:t>
            </a:r>
          </a:p>
        </p:txBody>
      </p:sp>
      <p:sp>
        <p:nvSpPr>
          <p:cNvPr id="171017" name="Rectangle 9"/>
          <p:cNvSpPr>
            <a:spLocks noChangeArrowheads="1"/>
          </p:cNvSpPr>
          <p:nvPr/>
        </p:nvSpPr>
        <p:spPr bwMode="auto">
          <a:xfrm>
            <a:off x="693162" y="2527568"/>
            <a:ext cx="12246985" cy="3785652"/>
          </a:xfrm>
          <a:prstGeom prst="rect">
            <a:avLst/>
          </a:prstGeom>
          <a:noFill/>
          <a:ln w="9525" algn="ctr">
            <a:noFill/>
            <a:miter lim="800000"/>
            <a:headEnd/>
            <a:tailEnd/>
          </a:ln>
        </p:spPr>
        <p:txBody>
          <a:bodyPr wrap="square" anchor="ctr">
            <a:spAutoFit/>
          </a:bodyPr>
          <a:lstStyle/>
          <a:p>
            <a:pPr defTabSz="914400" eaLnBrk="0" hangingPunct="0">
              <a:lnSpc>
                <a:spcPct val="150000"/>
              </a:lnSpc>
              <a:buClr>
                <a:schemeClr val="hlink"/>
              </a:buClr>
            </a:pPr>
            <a:r>
              <a:rPr lang="en-US" altLang="zh-CN" sz="3200" b="1" dirty="0">
                <a:solidFill>
                  <a:srgbClr val="FF0000"/>
                </a:solidFill>
                <a:latin typeface="Times New Roman" pitchFamily="18" charset="0"/>
                <a:ea typeface="微软雅黑" pitchFamily="34" charset="-122"/>
              </a:rPr>
              <a:t>	</a:t>
            </a:r>
            <a:r>
              <a:rPr lang="zh-CN" altLang="en-US" sz="3200" b="1" dirty="0">
                <a:solidFill>
                  <a:srgbClr val="FF0000"/>
                </a:solidFill>
                <a:latin typeface="Times New Roman" pitchFamily="18" charset="0"/>
                <a:ea typeface="微软雅黑" pitchFamily="34" charset="-122"/>
              </a:rPr>
              <a:t>扫描测量法</a:t>
            </a:r>
            <a:r>
              <a:rPr lang="zh-CN" altLang="en-US" sz="3200" b="1" dirty="0">
                <a:latin typeface="Times New Roman" pitchFamily="18" charset="0"/>
                <a:ea typeface="微软雅黑" pitchFamily="34" charset="-122"/>
              </a:rPr>
              <a:t>是利用扫描光束周期性地照射被测物体，在物体边缘上形成强对比度随时间周期性变化的光强分布，通过测量</a:t>
            </a:r>
            <a:r>
              <a:rPr lang="zh-CN" altLang="en-US" sz="3200" b="1" dirty="0">
                <a:solidFill>
                  <a:srgbClr val="0000FF"/>
                </a:solidFill>
                <a:latin typeface="Times New Roman" pitchFamily="18" charset="0"/>
                <a:ea typeface="微软雅黑" pitchFamily="34" charset="-122"/>
              </a:rPr>
              <a:t>通光与遮光</a:t>
            </a:r>
            <a:r>
              <a:rPr lang="zh-CN" altLang="en-US" sz="3200" b="1" dirty="0">
                <a:latin typeface="Times New Roman" pitchFamily="18" charset="0"/>
                <a:ea typeface="微软雅黑" pitchFamily="34" charset="-122"/>
              </a:rPr>
              <a:t>的时间差进行测量。这类装置结构相对复杂，有较高的测量精度。一般可达到</a:t>
            </a:r>
            <a:r>
              <a:rPr lang="en-US" altLang="zh-CN" sz="3200" b="1" dirty="0">
                <a:latin typeface="Times New Roman" pitchFamily="18" charset="0"/>
                <a:ea typeface="微软雅黑" pitchFamily="34" charset="-122"/>
              </a:rPr>
              <a:t>0.01%</a:t>
            </a:r>
            <a:r>
              <a:rPr lang="zh-CN" altLang="en-US" sz="3200" b="1" dirty="0">
                <a:latin typeface="Times New Roman" pitchFamily="18" charset="0"/>
                <a:ea typeface="微软雅黑" pitchFamily="34" charset="-122"/>
              </a:rPr>
              <a:t>～</a:t>
            </a:r>
            <a:r>
              <a:rPr lang="en-US" altLang="zh-CN" sz="3200" b="1" dirty="0">
                <a:latin typeface="Times New Roman" pitchFamily="18" charset="0"/>
                <a:ea typeface="微软雅黑" pitchFamily="34" charset="-122"/>
              </a:rPr>
              <a:t>0.1%</a:t>
            </a:r>
            <a:r>
              <a:rPr lang="zh-CN" altLang="en-US" sz="3200" b="1" dirty="0">
                <a:latin typeface="Times New Roman" pitchFamily="18" charset="0"/>
                <a:ea typeface="微软雅黑" pitchFamily="34" charset="-122"/>
              </a:rPr>
              <a:t>的</a:t>
            </a:r>
            <a:r>
              <a:rPr lang="zh-CN" altLang="en-US" sz="3200" b="1" dirty="0">
                <a:solidFill>
                  <a:srgbClr val="FF0000"/>
                </a:solidFill>
                <a:latin typeface="Times New Roman" pitchFamily="18" charset="0"/>
                <a:ea typeface="微软雅黑" pitchFamily="34" charset="-122"/>
              </a:rPr>
              <a:t>相对精度</a:t>
            </a:r>
            <a:r>
              <a:rPr lang="zh-CN" altLang="en-US" sz="3200" b="1" dirty="0">
                <a:latin typeface="Times New Roman" pitchFamily="18" charset="0"/>
                <a:ea typeface="微软雅黑" pitchFamily="34" charset="-122"/>
              </a:rPr>
              <a:t>，并且对于物面位置没有严格要求。</a:t>
            </a:r>
          </a:p>
        </p:txBody>
      </p:sp>
      <p:sp>
        <p:nvSpPr>
          <p:cNvPr id="14" name="文本框 60">
            <a:extLst>
              <a:ext uri="{FF2B5EF4-FFF2-40B4-BE49-F238E27FC236}">
                <a16:creationId xmlns:a16="http://schemas.microsoft.com/office/drawing/2014/main" xmlns="" id="{791D85D7-F412-9C48-9F2B-E33F5B7B4F3C}"/>
              </a:ext>
            </a:extLst>
          </p:cNvPr>
          <p:cNvSpPr txBox="1"/>
          <p:nvPr/>
        </p:nvSpPr>
        <p:spPr>
          <a:xfrm>
            <a:off x="1545506" y="329189"/>
            <a:ext cx="3228375"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几何光学</a:t>
            </a:r>
            <a:r>
              <a:rPr lang="zh-CN" altLang="en-US" sz="1800" b="1" dirty="0">
                <a:latin typeface="微软雅黑" panose="020B0503020204020204" pitchFamily="34" charset="-122"/>
                <a:ea typeface="微软雅黑" panose="020B0503020204020204" pitchFamily="34" charset="-122"/>
              </a:rPr>
              <a:t>方法的光学信息</a:t>
            </a:r>
            <a:r>
              <a:rPr lang="zh-CN" altLang="en-US" sz="1800" b="1" dirty="0" smtClean="0">
                <a:latin typeface="微软雅黑" panose="020B0503020204020204" pitchFamily="34" charset="-122"/>
                <a:ea typeface="微软雅黑" panose="020B0503020204020204" pitchFamily="34" charset="-122"/>
              </a:rPr>
              <a:t>变换</a:t>
            </a:r>
            <a:endParaRPr lang="zh-CN" altLang="en-US" sz="1800" b="1" dirty="0">
              <a:latin typeface="微软雅黑" panose="020B0503020204020204" pitchFamily="34" charset="-122"/>
              <a:ea typeface="微软雅黑" panose="020B0503020204020204" pitchFamily="34" charset="-122"/>
            </a:endParaRPr>
          </a:p>
        </p:txBody>
      </p:sp>
      <p:sp>
        <p:nvSpPr>
          <p:cNvPr id="15" name="矩形 14"/>
          <p:cNvSpPr/>
          <p:nvPr/>
        </p:nvSpPr>
        <p:spPr>
          <a:xfrm>
            <a:off x="10221238" y="329189"/>
            <a:ext cx="1246363"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6" name="矩形 15">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8"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3228375"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0" name="矩形 19">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xmlns="" val="3469159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1017">
                                            <p:txEl>
                                              <p:pRg st="0" end="0"/>
                                            </p:txEl>
                                          </p:spTgt>
                                        </p:tgtEl>
                                        <p:attrNameLst>
                                          <p:attrName>style.visibility</p:attrName>
                                        </p:attrNameLst>
                                      </p:cBhvr>
                                      <p:to>
                                        <p:strVal val="visible"/>
                                      </p:to>
                                    </p:set>
                                    <p:animEffect transition="in" filter="blinds(horizontal)">
                                      <p:cBhvr>
                                        <p:cTn id="7" dur="500"/>
                                        <p:tgtEl>
                                          <p:spTgt spid="1710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632" name="Object 19"/>
          <p:cNvGraphicFramePr>
            <a:graphicFrameLocks noChangeAspect="1"/>
          </p:cNvGraphicFramePr>
          <p:nvPr/>
        </p:nvGraphicFramePr>
        <p:xfrm>
          <a:off x="694604" y="1579852"/>
          <a:ext cx="8372020" cy="3754148"/>
        </p:xfrm>
        <a:graphic>
          <a:graphicData uri="http://schemas.openxmlformats.org/presentationml/2006/ole">
            <p:oleObj spid="_x0000_s2062" name="Visio" r:id="rId3" imgW="4414500" imgH="2271600" progId="">
              <p:embed/>
            </p:oleObj>
          </a:graphicData>
        </a:graphic>
      </p:graphicFrame>
      <p:sp>
        <p:nvSpPr>
          <p:cNvPr id="26637" name="Rectangle 14"/>
          <p:cNvSpPr>
            <a:spLocks noChangeArrowheads="1"/>
          </p:cNvSpPr>
          <p:nvPr/>
        </p:nvSpPr>
        <p:spPr bwMode="auto">
          <a:xfrm>
            <a:off x="352425" y="298926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aphicFrame>
        <p:nvGraphicFramePr>
          <p:cNvPr id="172045" name="Object 13"/>
          <p:cNvGraphicFramePr>
            <a:graphicFrameLocks noChangeAspect="1"/>
          </p:cNvGraphicFramePr>
          <p:nvPr/>
        </p:nvGraphicFramePr>
        <p:xfrm>
          <a:off x="3035445" y="5500978"/>
          <a:ext cx="3168650" cy="709612"/>
        </p:xfrm>
        <a:graphic>
          <a:graphicData uri="http://schemas.openxmlformats.org/presentationml/2006/ole">
            <p:oleObj spid="_x0000_s2063" name="公式" r:id="rId4" imgW="1739900" imgH="393700" progId="Equation.3">
              <p:embed/>
            </p:oleObj>
          </a:graphicData>
        </a:graphic>
      </p:graphicFrame>
      <p:pic>
        <p:nvPicPr>
          <p:cNvPr id="172048" name="Picture 16"/>
          <p:cNvPicPr>
            <a:picLocks noChangeAspect="1" noChangeArrowheads="1"/>
          </p:cNvPicPr>
          <p:nvPr/>
        </p:nvPicPr>
        <p:blipFill>
          <a:blip r:embed="rId5" cstate="print"/>
          <a:srcRect/>
          <a:stretch>
            <a:fillRect/>
          </a:stretch>
        </p:blipFill>
        <p:spPr bwMode="auto">
          <a:xfrm>
            <a:off x="9088870" y="1753897"/>
            <a:ext cx="4032250" cy="4248150"/>
          </a:xfrm>
          <a:prstGeom prst="rect">
            <a:avLst/>
          </a:prstGeom>
          <a:noFill/>
          <a:ln w="9525">
            <a:noFill/>
            <a:miter lim="800000"/>
            <a:headEnd/>
            <a:tailEnd/>
          </a:ln>
        </p:spPr>
      </p:pic>
      <p:sp>
        <p:nvSpPr>
          <p:cNvPr id="11" name="文本框 60">
            <a:extLst>
              <a:ext uri="{FF2B5EF4-FFF2-40B4-BE49-F238E27FC236}">
                <a16:creationId xmlns:a16="http://schemas.microsoft.com/office/drawing/2014/main" xmlns="" id="{791D85D7-F412-9C48-9F2B-E33F5B7B4F3C}"/>
              </a:ext>
            </a:extLst>
          </p:cNvPr>
          <p:cNvSpPr txBox="1"/>
          <p:nvPr/>
        </p:nvSpPr>
        <p:spPr>
          <a:xfrm>
            <a:off x="1545506" y="329189"/>
            <a:ext cx="3228375"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几何光学</a:t>
            </a:r>
            <a:r>
              <a:rPr lang="zh-CN" altLang="en-US" sz="1800" b="1" dirty="0">
                <a:latin typeface="微软雅黑" panose="020B0503020204020204" pitchFamily="34" charset="-122"/>
                <a:ea typeface="微软雅黑" panose="020B0503020204020204" pitchFamily="34" charset="-122"/>
              </a:rPr>
              <a:t>方法的光学信息</a:t>
            </a:r>
            <a:r>
              <a:rPr lang="zh-CN" altLang="en-US" sz="1800" b="1" dirty="0" smtClean="0">
                <a:latin typeface="微软雅黑" panose="020B0503020204020204" pitchFamily="34" charset="-122"/>
                <a:ea typeface="微软雅黑" panose="020B0503020204020204" pitchFamily="34" charset="-122"/>
              </a:rPr>
              <a:t>变换</a:t>
            </a:r>
            <a:endParaRPr lang="zh-CN" altLang="en-US" sz="1800" b="1" dirty="0">
              <a:latin typeface="微软雅黑" panose="020B0503020204020204" pitchFamily="34" charset="-122"/>
              <a:ea typeface="微软雅黑" panose="020B0503020204020204" pitchFamily="34" charset="-122"/>
            </a:endParaRPr>
          </a:p>
        </p:txBody>
      </p:sp>
      <p:sp>
        <p:nvSpPr>
          <p:cNvPr id="13" name="矩形 12"/>
          <p:cNvSpPr/>
          <p:nvPr/>
        </p:nvSpPr>
        <p:spPr>
          <a:xfrm>
            <a:off x="10208712" y="329189"/>
            <a:ext cx="1258889"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4" name="矩形 13">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6"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3228375"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8" name="矩形 17">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xmlns="" val="269922763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6" name="Rectangle 3"/>
          <p:cNvSpPr>
            <a:spLocks noChangeArrowheads="1"/>
          </p:cNvSpPr>
          <p:nvPr/>
        </p:nvSpPr>
        <p:spPr bwMode="auto">
          <a:xfrm>
            <a:off x="3691225" y="1367559"/>
            <a:ext cx="6602701" cy="707886"/>
          </a:xfrm>
          <a:prstGeom prst="rect">
            <a:avLst/>
          </a:prstGeom>
          <a:noFill/>
          <a:ln w="9525" algn="ctr">
            <a:noFill/>
            <a:miter lim="800000"/>
            <a:headEnd/>
            <a:tailEnd/>
          </a:ln>
        </p:spPr>
        <p:txBody>
          <a:bodyPr wrap="square">
            <a:spAutoFit/>
          </a:bodyPr>
          <a:lstStyle/>
          <a:p>
            <a:pPr defTabSz="914400"/>
            <a:r>
              <a:rPr lang="zh-CN" altLang="en-US" sz="4000" b="1" dirty="0" smtClean="0">
                <a:solidFill>
                  <a:srgbClr val="0000FF"/>
                </a:solidFill>
                <a:latin typeface="Times New Roman" pitchFamily="18" charset="0"/>
                <a:ea typeface="微软雅黑" pitchFamily="34" charset="-122"/>
              </a:rPr>
              <a:t>二、位移</a:t>
            </a:r>
            <a:r>
              <a:rPr lang="zh-CN" altLang="en-US" sz="4000" b="1" dirty="0">
                <a:solidFill>
                  <a:srgbClr val="0000FF"/>
                </a:solidFill>
                <a:latin typeface="Times New Roman" pitchFamily="18" charset="0"/>
                <a:ea typeface="微软雅黑" pitchFamily="34" charset="-122"/>
              </a:rPr>
              <a:t>信息的光学变换 </a:t>
            </a:r>
          </a:p>
        </p:txBody>
      </p:sp>
      <p:sp>
        <p:nvSpPr>
          <p:cNvPr id="27661" name="Rectangle 8"/>
          <p:cNvSpPr>
            <a:spLocks noChangeArrowheads="1"/>
          </p:cNvSpPr>
          <p:nvPr/>
        </p:nvSpPr>
        <p:spPr bwMode="auto">
          <a:xfrm>
            <a:off x="196850" y="346710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174089" name="Rectangle 9"/>
          <p:cNvSpPr>
            <a:spLocks noChangeArrowheads="1"/>
          </p:cNvSpPr>
          <p:nvPr/>
        </p:nvSpPr>
        <p:spPr bwMode="auto">
          <a:xfrm>
            <a:off x="665163" y="2675443"/>
            <a:ext cx="12261128" cy="3046988"/>
          </a:xfrm>
          <a:prstGeom prst="rect">
            <a:avLst/>
          </a:prstGeom>
          <a:noFill/>
          <a:ln w="9525" algn="ctr">
            <a:noFill/>
            <a:miter lim="800000"/>
            <a:headEnd/>
            <a:tailEnd/>
          </a:ln>
        </p:spPr>
        <p:txBody>
          <a:bodyPr wrap="square" anchor="ctr">
            <a:spAutoFit/>
          </a:bodyPr>
          <a:lstStyle/>
          <a:p>
            <a:pPr defTabSz="914400" eaLnBrk="0" hangingPunct="0">
              <a:lnSpc>
                <a:spcPct val="150000"/>
              </a:lnSpc>
            </a:pPr>
            <a:r>
              <a:rPr lang="en-US" altLang="zh-CN" sz="3200" b="1" dirty="0">
                <a:latin typeface="Times New Roman" pitchFamily="18" charset="0"/>
                <a:ea typeface="微软雅黑" pitchFamily="34" charset="-122"/>
              </a:rPr>
              <a:t>	</a:t>
            </a:r>
            <a:r>
              <a:rPr lang="zh-CN" altLang="en-US" sz="3200" b="1" dirty="0">
                <a:latin typeface="Times New Roman" pitchFamily="18" charset="0"/>
                <a:ea typeface="微软雅黑" pitchFamily="34" charset="-122"/>
              </a:rPr>
              <a:t>将物体位移量变换成光电信号以便于进行非接触测量，是工业生产和计量检测中的重要工作。采用固体图像传感器、象限探测器、</a:t>
            </a:r>
            <a:r>
              <a:rPr lang="en-US" altLang="zh-CN" sz="3200" b="1" dirty="0">
                <a:latin typeface="Times New Roman" pitchFamily="18" charset="0"/>
                <a:ea typeface="微软雅黑" pitchFamily="34" charset="-122"/>
              </a:rPr>
              <a:t>PSD</a:t>
            </a:r>
            <a:r>
              <a:rPr lang="zh-CN" altLang="en-US" sz="3200" b="1" dirty="0">
                <a:latin typeface="Times New Roman" pitchFamily="18" charset="0"/>
                <a:ea typeface="微软雅黑" pitchFamily="34" charset="-122"/>
              </a:rPr>
              <a:t>位置传感器等与成像物镜配合，很容易构成被测物像的</a:t>
            </a:r>
            <a:r>
              <a:rPr lang="zh-CN" altLang="en-US" sz="3200" b="1" dirty="0">
                <a:solidFill>
                  <a:schemeClr val="hlink"/>
                </a:solidFill>
                <a:latin typeface="Times New Roman" pitchFamily="18" charset="0"/>
                <a:ea typeface="微软雅黑" pitchFamily="34" charset="-122"/>
              </a:rPr>
              <a:t>位移信息变换系统</a:t>
            </a:r>
            <a:r>
              <a:rPr lang="zh-CN" altLang="en-US" sz="3200" b="1" dirty="0">
                <a:latin typeface="Times New Roman" pitchFamily="18" charset="0"/>
                <a:ea typeface="微软雅黑" pitchFamily="34" charset="-122"/>
              </a:rPr>
              <a:t>，实现对物体位移量的测量。 </a:t>
            </a:r>
          </a:p>
        </p:txBody>
      </p:sp>
      <p:sp>
        <p:nvSpPr>
          <p:cNvPr id="10" name="文本框 60">
            <a:extLst>
              <a:ext uri="{FF2B5EF4-FFF2-40B4-BE49-F238E27FC236}">
                <a16:creationId xmlns:a16="http://schemas.microsoft.com/office/drawing/2014/main" xmlns="" id="{791D85D7-F412-9C48-9F2B-E33F5B7B4F3C}"/>
              </a:ext>
            </a:extLst>
          </p:cNvPr>
          <p:cNvSpPr txBox="1"/>
          <p:nvPr/>
        </p:nvSpPr>
        <p:spPr>
          <a:xfrm>
            <a:off x="1545506" y="329189"/>
            <a:ext cx="3228375"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几何光学</a:t>
            </a:r>
            <a:r>
              <a:rPr lang="zh-CN" altLang="en-US" sz="1800" b="1" dirty="0">
                <a:latin typeface="微软雅黑" panose="020B0503020204020204" pitchFamily="34" charset="-122"/>
                <a:ea typeface="微软雅黑" panose="020B0503020204020204" pitchFamily="34" charset="-122"/>
              </a:rPr>
              <a:t>方法的光学信息</a:t>
            </a:r>
            <a:r>
              <a:rPr lang="zh-CN" altLang="en-US" sz="1800" b="1" dirty="0" smtClean="0">
                <a:latin typeface="微软雅黑" panose="020B0503020204020204" pitchFamily="34" charset="-122"/>
                <a:ea typeface="微软雅黑" panose="020B0503020204020204" pitchFamily="34" charset="-122"/>
              </a:rPr>
              <a:t>变换</a:t>
            </a:r>
            <a:endParaRPr lang="zh-CN" altLang="en-US" sz="1800" b="1" dirty="0">
              <a:latin typeface="微软雅黑" panose="020B0503020204020204" pitchFamily="34" charset="-122"/>
              <a:ea typeface="微软雅黑" panose="020B0503020204020204" pitchFamily="34" charset="-122"/>
            </a:endParaRPr>
          </a:p>
        </p:txBody>
      </p:sp>
      <p:sp>
        <p:nvSpPr>
          <p:cNvPr id="11" name="矩形 10"/>
          <p:cNvSpPr/>
          <p:nvPr/>
        </p:nvSpPr>
        <p:spPr>
          <a:xfrm>
            <a:off x="10221238" y="329189"/>
            <a:ext cx="1246363"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2" name="矩形 11">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5"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3228375"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7" name="矩形 16">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xmlns="" val="4046096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089"/>
                                        </p:tgtEl>
                                        <p:attrNameLst>
                                          <p:attrName>style.visibility</p:attrName>
                                        </p:attrNameLst>
                                      </p:cBhvr>
                                      <p:to>
                                        <p:strVal val="visible"/>
                                      </p:to>
                                    </p:set>
                                    <p:animEffect transition="in" filter="blinds(horizontal)">
                                      <p:cBhvr>
                                        <p:cTn id="7" dur="500"/>
                                        <p:tgtEl>
                                          <p:spTgt spid="1740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84" name="Rectangle 10"/>
          <p:cNvSpPr>
            <a:spLocks noChangeArrowheads="1"/>
          </p:cNvSpPr>
          <p:nvPr/>
        </p:nvSpPr>
        <p:spPr bwMode="auto">
          <a:xfrm>
            <a:off x="196850" y="32845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173068" name="Rectangle 12"/>
          <p:cNvSpPr>
            <a:spLocks noChangeArrowheads="1"/>
          </p:cNvSpPr>
          <p:nvPr/>
        </p:nvSpPr>
        <p:spPr bwMode="auto">
          <a:xfrm>
            <a:off x="1154113" y="2810813"/>
            <a:ext cx="11827596" cy="3046988"/>
          </a:xfrm>
          <a:prstGeom prst="rect">
            <a:avLst/>
          </a:prstGeom>
          <a:noFill/>
          <a:ln w="9525" algn="ctr">
            <a:noFill/>
            <a:miter lim="800000"/>
            <a:headEnd/>
            <a:tailEnd/>
          </a:ln>
        </p:spPr>
        <p:txBody>
          <a:bodyPr wrap="square" anchor="ctr">
            <a:spAutoFit/>
          </a:bodyPr>
          <a:lstStyle/>
          <a:p>
            <a:pPr defTabSz="914400" eaLnBrk="0" hangingPunct="0">
              <a:lnSpc>
                <a:spcPct val="150000"/>
              </a:lnSpc>
            </a:pPr>
            <a:r>
              <a:rPr lang="en-US" altLang="zh-CN" sz="3200" b="1" dirty="0">
                <a:solidFill>
                  <a:srgbClr val="FF0000"/>
                </a:solidFill>
                <a:latin typeface="Times New Roman" pitchFamily="18" charset="0"/>
                <a:ea typeface="微软雅黑" pitchFamily="34" charset="-122"/>
              </a:rPr>
              <a:t>	</a:t>
            </a:r>
            <a:r>
              <a:rPr lang="zh-CN" altLang="en-US" sz="3200" b="1" dirty="0">
                <a:solidFill>
                  <a:srgbClr val="FF0000"/>
                </a:solidFill>
                <a:latin typeface="Times New Roman" pitchFamily="18" charset="0"/>
                <a:ea typeface="微软雅黑" pitchFamily="34" charset="-122"/>
              </a:rPr>
              <a:t>激光三角法</a:t>
            </a:r>
            <a:r>
              <a:rPr lang="zh-CN" altLang="en-US" sz="3200" b="1" dirty="0">
                <a:latin typeface="Times New Roman" pitchFamily="18" charset="0"/>
                <a:ea typeface="微软雅黑" pitchFamily="34" charset="-122"/>
              </a:rPr>
              <a:t>是激光测试技术的一种，也是激光技术在工业测试中的一种较为典型的测试方法。因为该方法具有结构简单、测试速度快、实时处理能力强、使用灵活方便等特点，在长度、距离</a:t>
            </a:r>
            <a:r>
              <a:rPr lang="zh-CN" altLang="en-US" sz="3200" b="1" dirty="0" smtClean="0">
                <a:latin typeface="Times New Roman" pitchFamily="18" charset="0"/>
                <a:ea typeface="微软雅黑" pitchFamily="34" charset="-122"/>
              </a:rPr>
              <a:t>以及三维形貌</a:t>
            </a:r>
            <a:r>
              <a:rPr lang="zh-CN" altLang="en-US" sz="3200" b="1" dirty="0">
                <a:latin typeface="Times New Roman" pitchFamily="18" charset="0"/>
                <a:ea typeface="微软雅黑" pitchFamily="34" charset="-122"/>
              </a:rPr>
              <a:t>等的测试中有广泛的应用。 </a:t>
            </a:r>
          </a:p>
        </p:txBody>
      </p:sp>
      <p:sp>
        <p:nvSpPr>
          <p:cNvPr id="28686" name="Rectangle 13"/>
          <p:cNvSpPr>
            <a:spLocks noChangeArrowheads="1"/>
          </p:cNvSpPr>
          <p:nvPr/>
        </p:nvSpPr>
        <p:spPr bwMode="auto">
          <a:xfrm>
            <a:off x="5284932" y="1338154"/>
            <a:ext cx="3069359" cy="646331"/>
          </a:xfrm>
          <a:prstGeom prst="rect">
            <a:avLst/>
          </a:prstGeom>
          <a:noFill/>
          <a:ln w="9525" algn="ctr">
            <a:noFill/>
            <a:miter lim="800000"/>
            <a:headEnd/>
            <a:tailEnd/>
          </a:ln>
        </p:spPr>
        <p:txBody>
          <a:bodyPr wrap="square" anchor="ctr">
            <a:spAutoFit/>
          </a:bodyPr>
          <a:lstStyle/>
          <a:p>
            <a:pPr defTabSz="914400" eaLnBrk="0" hangingPunct="0"/>
            <a:r>
              <a:rPr lang="en-US" altLang="zh-CN" sz="3600" b="1" dirty="0">
                <a:solidFill>
                  <a:srgbClr val="0000CC"/>
                </a:solidFill>
                <a:latin typeface="Times New Roman" pitchFamily="18" charset="0"/>
                <a:ea typeface="微软雅黑" pitchFamily="34" charset="-122"/>
              </a:rPr>
              <a:t>1. </a:t>
            </a:r>
            <a:r>
              <a:rPr lang="zh-CN" altLang="en-US" sz="3600" b="1" dirty="0">
                <a:solidFill>
                  <a:srgbClr val="0000CC"/>
                </a:solidFill>
                <a:latin typeface="Times New Roman" pitchFamily="18" charset="0"/>
                <a:ea typeface="微软雅黑" pitchFamily="34" charset="-122"/>
              </a:rPr>
              <a:t>激光三角法 </a:t>
            </a:r>
          </a:p>
        </p:txBody>
      </p:sp>
      <p:sp>
        <p:nvSpPr>
          <p:cNvPr id="10" name="文本框 60">
            <a:extLst>
              <a:ext uri="{FF2B5EF4-FFF2-40B4-BE49-F238E27FC236}">
                <a16:creationId xmlns:a16="http://schemas.microsoft.com/office/drawing/2014/main" xmlns="" id="{791D85D7-F412-9C48-9F2B-E33F5B7B4F3C}"/>
              </a:ext>
            </a:extLst>
          </p:cNvPr>
          <p:cNvSpPr txBox="1"/>
          <p:nvPr/>
        </p:nvSpPr>
        <p:spPr>
          <a:xfrm>
            <a:off x="1545506" y="329189"/>
            <a:ext cx="3228375"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几何光学</a:t>
            </a:r>
            <a:r>
              <a:rPr lang="zh-CN" altLang="en-US" sz="1800" b="1" dirty="0">
                <a:latin typeface="微软雅黑" panose="020B0503020204020204" pitchFamily="34" charset="-122"/>
                <a:ea typeface="微软雅黑" panose="020B0503020204020204" pitchFamily="34" charset="-122"/>
              </a:rPr>
              <a:t>方法的光学信息</a:t>
            </a:r>
            <a:r>
              <a:rPr lang="zh-CN" altLang="en-US" sz="1800" b="1" dirty="0" smtClean="0">
                <a:latin typeface="微软雅黑" panose="020B0503020204020204" pitchFamily="34" charset="-122"/>
                <a:ea typeface="微软雅黑" panose="020B0503020204020204" pitchFamily="34" charset="-122"/>
              </a:rPr>
              <a:t>变换</a:t>
            </a:r>
            <a:endParaRPr lang="zh-CN" altLang="en-US" sz="1800" b="1" dirty="0">
              <a:latin typeface="微软雅黑" panose="020B0503020204020204" pitchFamily="34" charset="-122"/>
              <a:ea typeface="微软雅黑" panose="020B0503020204020204" pitchFamily="34" charset="-122"/>
            </a:endParaRPr>
          </a:p>
        </p:txBody>
      </p:sp>
      <p:sp>
        <p:nvSpPr>
          <p:cNvPr id="11" name="矩形 10"/>
          <p:cNvSpPr/>
          <p:nvPr/>
        </p:nvSpPr>
        <p:spPr>
          <a:xfrm>
            <a:off x="10258816" y="329189"/>
            <a:ext cx="1208785"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2" name="矩形 11">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5"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3228375"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7" name="矩形 16">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xmlns="" val="2031011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3068"/>
                                        </p:tgtEl>
                                        <p:attrNameLst>
                                          <p:attrName>style.visibility</p:attrName>
                                        </p:attrNameLst>
                                      </p:cBhvr>
                                      <p:to>
                                        <p:strVal val="visible"/>
                                      </p:to>
                                    </p:set>
                                    <p:animEffect transition="in" filter="blinds(horizontal)">
                                      <p:cBhvr>
                                        <p:cTn id="7" dur="500"/>
                                        <p:tgtEl>
                                          <p:spTgt spid="173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6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8" name="Rectangle 8"/>
          <p:cNvSpPr>
            <a:spLocks noChangeArrowheads="1"/>
          </p:cNvSpPr>
          <p:nvPr/>
        </p:nvSpPr>
        <p:spPr bwMode="auto">
          <a:xfrm>
            <a:off x="157163" y="31861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29709" name="Rectangle 13"/>
          <p:cNvSpPr>
            <a:spLocks noChangeArrowheads="1"/>
          </p:cNvSpPr>
          <p:nvPr/>
        </p:nvSpPr>
        <p:spPr bwMode="auto">
          <a:xfrm>
            <a:off x="157163" y="3186113"/>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aphicFrame>
        <p:nvGraphicFramePr>
          <p:cNvPr id="29710" name="Object 12"/>
          <p:cNvGraphicFramePr>
            <a:graphicFrameLocks noChangeAspect="1"/>
          </p:cNvGraphicFramePr>
          <p:nvPr/>
        </p:nvGraphicFramePr>
        <p:xfrm>
          <a:off x="2522394" y="5860761"/>
          <a:ext cx="2877748" cy="900258"/>
        </p:xfrm>
        <a:graphic>
          <a:graphicData uri="http://schemas.openxmlformats.org/presentationml/2006/ole">
            <p:oleObj spid="_x0000_s3086" name="公式" r:id="rId3" imgW="1244600" imgH="393700" progId="Equation.3">
              <p:embed/>
            </p:oleObj>
          </a:graphicData>
        </a:graphic>
      </p:graphicFrame>
      <p:graphicFrame>
        <p:nvGraphicFramePr>
          <p:cNvPr id="29711" name="Object 16"/>
          <p:cNvGraphicFramePr>
            <a:graphicFrameLocks noChangeAspect="1"/>
          </p:cNvGraphicFramePr>
          <p:nvPr/>
        </p:nvGraphicFramePr>
        <p:xfrm>
          <a:off x="7354164" y="5761615"/>
          <a:ext cx="4530641" cy="957839"/>
        </p:xfrm>
        <a:graphic>
          <a:graphicData uri="http://schemas.openxmlformats.org/presentationml/2006/ole">
            <p:oleObj spid="_x0000_s3087" name="公式" r:id="rId4" imgW="2032000" imgH="431800" progId="Equation.3">
              <p:embed/>
            </p:oleObj>
          </a:graphicData>
        </a:graphic>
      </p:graphicFrame>
      <p:sp>
        <p:nvSpPr>
          <p:cNvPr id="29712" name="Rectangle 18"/>
          <p:cNvSpPr>
            <a:spLocks noChangeArrowheads="1"/>
          </p:cNvSpPr>
          <p:nvPr/>
        </p:nvSpPr>
        <p:spPr bwMode="auto">
          <a:xfrm>
            <a:off x="157163" y="359568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pSp>
        <p:nvGrpSpPr>
          <p:cNvPr id="29713" name="Group 170"/>
          <p:cNvGrpSpPr>
            <a:grpSpLocks/>
          </p:cNvGrpSpPr>
          <p:nvPr/>
        </p:nvGrpSpPr>
        <p:grpSpPr bwMode="auto">
          <a:xfrm>
            <a:off x="7579590" y="1586633"/>
            <a:ext cx="3891973" cy="3816639"/>
            <a:chOff x="3283" y="1156"/>
            <a:chExt cx="2011" cy="1790"/>
          </a:xfrm>
        </p:grpSpPr>
        <p:sp>
          <p:nvSpPr>
            <p:cNvPr id="29714" name="Freeform 74"/>
            <p:cNvSpPr>
              <a:spLocks/>
            </p:cNvSpPr>
            <p:nvPr/>
          </p:nvSpPr>
          <p:spPr bwMode="auto">
            <a:xfrm>
              <a:off x="4855" y="1206"/>
              <a:ext cx="389" cy="389"/>
            </a:xfrm>
            <a:custGeom>
              <a:avLst/>
              <a:gdLst>
                <a:gd name="T0" fmla="*/ 21 w 778"/>
                <a:gd name="T1" fmla="*/ 0 h 780"/>
                <a:gd name="T2" fmla="*/ 0 w 778"/>
                <a:gd name="T3" fmla="*/ 20 h 780"/>
                <a:gd name="T4" fmla="*/ 175 w 778"/>
                <a:gd name="T5" fmla="*/ 194 h 780"/>
                <a:gd name="T6" fmla="*/ 195 w 778"/>
                <a:gd name="T7" fmla="*/ 174 h 780"/>
                <a:gd name="T8" fmla="*/ 21 w 778"/>
                <a:gd name="T9" fmla="*/ 0 h 780"/>
                <a:gd name="T10" fmla="*/ 0 60000 65536"/>
                <a:gd name="T11" fmla="*/ 0 60000 65536"/>
                <a:gd name="T12" fmla="*/ 0 60000 65536"/>
                <a:gd name="T13" fmla="*/ 0 60000 65536"/>
                <a:gd name="T14" fmla="*/ 0 60000 65536"/>
                <a:gd name="T15" fmla="*/ 0 w 778"/>
                <a:gd name="T16" fmla="*/ 0 h 780"/>
                <a:gd name="T17" fmla="*/ 778 w 778"/>
                <a:gd name="T18" fmla="*/ 780 h 780"/>
              </a:gdLst>
              <a:ahLst/>
              <a:cxnLst>
                <a:cxn ang="T10">
                  <a:pos x="T0" y="T1"/>
                </a:cxn>
                <a:cxn ang="T11">
                  <a:pos x="T2" y="T3"/>
                </a:cxn>
                <a:cxn ang="T12">
                  <a:pos x="T4" y="T5"/>
                </a:cxn>
                <a:cxn ang="T13">
                  <a:pos x="T6" y="T7"/>
                </a:cxn>
                <a:cxn ang="T14">
                  <a:pos x="T8" y="T9"/>
                </a:cxn>
              </a:cxnLst>
              <a:rect l="T15" t="T16" r="T17" b="T18"/>
              <a:pathLst>
                <a:path w="778" h="780">
                  <a:moveTo>
                    <a:pt x="81" y="0"/>
                  </a:moveTo>
                  <a:lnTo>
                    <a:pt x="0" y="82"/>
                  </a:lnTo>
                  <a:lnTo>
                    <a:pt x="697" y="780"/>
                  </a:lnTo>
                  <a:lnTo>
                    <a:pt x="778" y="697"/>
                  </a:lnTo>
                  <a:lnTo>
                    <a:pt x="81" y="0"/>
                  </a:lnTo>
                  <a:close/>
                </a:path>
              </a:pathLst>
            </a:custGeom>
            <a:noFill/>
            <a:ln w="22225">
              <a:solidFill>
                <a:srgbClr val="000000"/>
              </a:solidFill>
              <a:round/>
              <a:headEnd/>
              <a:tailEnd/>
            </a:ln>
          </p:spPr>
          <p:txBody>
            <a:bodyPr/>
            <a:lstStyle/>
            <a:p>
              <a:endParaRPr lang="zh-CN" altLang="en-US"/>
            </a:p>
          </p:txBody>
        </p:sp>
        <p:sp>
          <p:nvSpPr>
            <p:cNvPr id="29715" name="Line 75"/>
            <p:cNvSpPr>
              <a:spLocks noChangeShapeType="1"/>
            </p:cNvSpPr>
            <p:nvPr/>
          </p:nvSpPr>
          <p:spPr bwMode="auto">
            <a:xfrm>
              <a:off x="3548" y="2457"/>
              <a:ext cx="1257" cy="0"/>
            </a:xfrm>
            <a:prstGeom prst="line">
              <a:avLst/>
            </a:prstGeom>
            <a:noFill/>
            <a:ln w="22225">
              <a:solidFill>
                <a:srgbClr val="000000"/>
              </a:solidFill>
              <a:round/>
              <a:headEnd/>
              <a:tailEnd/>
            </a:ln>
          </p:spPr>
          <p:txBody>
            <a:bodyPr/>
            <a:lstStyle/>
            <a:p>
              <a:endParaRPr lang="zh-CN" altLang="en-US"/>
            </a:p>
          </p:txBody>
        </p:sp>
        <p:sp>
          <p:nvSpPr>
            <p:cNvPr id="29716" name="Freeform 76"/>
            <p:cNvSpPr>
              <a:spLocks/>
            </p:cNvSpPr>
            <p:nvPr/>
          </p:nvSpPr>
          <p:spPr bwMode="auto">
            <a:xfrm>
              <a:off x="3493" y="1789"/>
              <a:ext cx="359" cy="209"/>
            </a:xfrm>
            <a:custGeom>
              <a:avLst/>
              <a:gdLst>
                <a:gd name="T0" fmla="*/ 78 w 718"/>
                <a:gd name="T1" fmla="*/ 30 h 419"/>
                <a:gd name="T2" fmla="*/ 60 w 718"/>
                <a:gd name="T3" fmla="*/ 40 h 419"/>
                <a:gd name="T4" fmla="*/ 51 w 718"/>
                <a:gd name="T5" fmla="*/ 45 h 419"/>
                <a:gd name="T6" fmla="*/ 45 w 718"/>
                <a:gd name="T7" fmla="*/ 50 h 419"/>
                <a:gd name="T8" fmla="*/ 37 w 718"/>
                <a:gd name="T9" fmla="*/ 56 h 419"/>
                <a:gd name="T10" fmla="*/ 30 w 718"/>
                <a:gd name="T11" fmla="*/ 60 h 419"/>
                <a:gd name="T12" fmla="*/ 24 w 718"/>
                <a:gd name="T13" fmla="*/ 66 h 419"/>
                <a:gd name="T14" fmla="*/ 19 w 718"/>
                <a:gd name="T15" fmla="*/ 70 h 419"/>
                <a:gd name="T16" fmla="*/ 13 w 718"/>
                <a:gd name="T17" fmla="*/ 75 h 419"/>
                <a:gd name="T18" fmla="*/ 10 w 718"/>
                <a:gd name="T19" fmla="*/ 79 h 419"/>
                <a:gd name="T20" fmla="*/ 6 w 718"/>
                <a:gd name="T21" fmla="*/ 84 h 419"/>
                <a:gd name="T22" fmla="*/ 3 w 718"/>
                <a:gd name="T23" fmla="*/ 87 h 419"/>
                <a:gd name="T24" fmla="*/ 1 w 718"/>
                <a:gd name="T25" fmla="*/ 91 h 419"/>
                <a:gd name="T26" fmla="*/ 0 w 718"/>
                <a:gd name="T27" fmla="*/ 94 h 419"/>
                <a:gd name="T28" fmla="*/ 0 w 718"/>
                <a:gd name="T29" fmla="*/ 97 h 419"/>
                <a:gd name="T30" fmla="*/ 1 w 718"/>
                <a:gd name="T31" fmla="*/ 100 h 419"/>
                <a:gd name="T32" fmla="*/ 3 w 718"/>
                <a:gd name="T33" fmla="*/ 101 h 419"/>
                <a:gd name="T34" fmla="*/ 5 w 718"/>
                <a:gd name="T35" fmla="*/ 103 h 419"/>
                <a:gd name="T36" fmla="*/ 8 w 718"/>
                <a:gd name="T37" fmla="*/ 104 h 419"/>
                <a:gd name="T38" fmla="*/ 12 w 718"/>
                <a:gd name="T39" fmla="*/ 104 h 419"/>
                <a:gd name="T40" fmla="*/ 17 w 718"/>
                <a:gd name="T41" fmla="*/ 104 h 419"/>
                <a:gd name="T42" fmla="*/ 22 w 718"/>
                <a:gd name="T43" fmla="*/ 104 h 419"/>
                <a:gd name="T44" fmla="*/ 28 w 718"/>
                <a:gd name="T45" fmla="*/ 103 h 419"/>
                <a:gd name="T46" fmla="*/ 35 w 718"/>
                <a:gd name="T47" fmla="*/ 101 h 419"/>
                <a:gd name="T48" fmla="*/ 42 w 718"/>
                <a:gd name="T49" fmla="*/ 99 h 419"/>
                <a:gd name="T50" fmla="*/ 49 w 718"/>
                <a:gd name="T51" fmla="*/ 97 h 419"/>
                <a:gd name="T52" fmla="*/ 66 w 718"/>
                <a:gd name="T53" fmla="*/ 91 h 419"/>
                <a:gd name="T54" fmla="*/ 83 w 718"/>
                <a:gd name="T55" fmla="*/ 83 h 419"/>
                <a:gd name="T56" fmla="*/ 101 w 718"/>
                <a:gd name="T57" fmla="*/ 74 h 419"/>
                <a:gd name="T58" fmla="*/ 118 w 718"/>
                <a:gd name="T59" fmla="*/ 64 h 419"/>
                <a:gd name="T60" fmla="*/ 127 w 718"/>
                <a:gd name="T61" fmla="*/ 59 h 419"/>
                <a:gd name="T62" fmla="*/ 135 w 718"/>
                <a:gd name="T63" fmla="*/ 54 h 419"/>
                <a:gd name="T64" fmla="*/ 143 w 718"/>
                <a:gd name="T65" fmla="*/ 49 h 419"/>
                <a:gd name="T66" fmla="*/ 149 w 718"/>
                <a:gd name="T67" fmla="*/ 43 h 419"/>
                <a:gd name="T68" fmla="*/ 155 w 718"/>
                <a:gd name="T69" fmla="*/ 39 h 419"/>
                <a:gd name="T70" fmla="*/ 161 w 718"/>
                <a:gd name="T71" fmla="*/ 34 h 419"/>
                <a:gd name="T72" fmla="*/ 166 w 718"/>
                <a:gd name="T73" fmla="*/ 29 h 419"/>
                <a:gd name="T74" fmla="*/ 170 w 718"/>
                <a:gd name="T75" fmla="*/ 25 h 419"/>
                <a:gd name="T76" fmla="*/ 174 w 718"/>
                <a:gd name="T77" fmla="*/ 21 h 419"/>
                <a:gd name="T78" fmla="*/ 177 w 718"/>
                <a:gd name="T79" fmla="*/ 17 h 419"/>
                <a:gd name="T80" fmla="*/ 178 w 718"/>
                <a:gd name="T81" fmla="*/ 13 h 419"/>
                <a:gd name="T82" fmla="*/ 179 w 718"/>
                <a:gd name="T83" fmla="*/ 10 h 419"/>
                <a:gd name="T84" fmla="*/ 180 w 718"/>
                <a:gd name="T85" fmla="*/ 7 h 419"/>
                <a:gd name="T86" fmla="*/ 179 w 718"/>
                <a:gd name="T87" fmla="*/ 4 h 419"/>
                <a:gd name="T88" fmla="*/ 177 w 718"/>
                <a:gd name="T89" fmla="*/ 2 h 419"/>
                <a:gd name="T90" fmla="*/ 175 w 718"/>
                <a:gd name="T91" fmla="*/ 1 h 419"/>
                <a:gd name="T92" fmla="*/ 171 w 718"/>
                <a:gd name="T93" fmla="*/ 0 h 419"/>
                <a:gd name="T94" fmla="*/ 168 w 718"/>
                <a:gd name="T95" fmla="*/ 0 h 419"/>
                <a:gd name="T96" fmla="*/ 162 w 718"/>
                <a:gd name="T97" fmla="*/ 0 h 419"/>
                <a:gd name="T98" fmla="*/ 157 w 718"/>
                <a:gd name="T99" fmla="*/ 0 h 419"/>
                <a:gd name="T100" fmla="*/ 151 w 718"/>
                <a:gd name="T101" fmla="*/ 1 h 419"/>
                <a:gd name="T102" fmla="*/ 145 w 718"/>
                <a:gd name="T103" fmla="*/ 3 h 419"/>
                <a:gd name="T104" fmla="*/ 137 w 718"/>
                <a:gd name="T105" fmla="*/ 5 h 419"/>
                <a:gd name="T106" fmla="*/ 130 w 718"/>
                <a:gd name="T107" fmla="*/ 7 h 419"/>
                <a:gd name="T108" fmla="*/ 113 w 718"/>
                <a:gd name="T109" fmla="*/ 13 h 419"/>
                <a:gd name="T110" fmla="*/ 96 w 718"/>
                <a:gd name="T111" fmla="*/ 21 h 419"/>
                <a:gd name="T112" fmla="*/ 78 w 718"/>
                <a:gd name="T113" fmla="*/ 30 h 419"/>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18"/>
                <a:gd name="T172" fmla="*/ 0 h 419"/>
                <a:gd name="T173" fmla="*/ 718 w 718"/>
                <a:gd name="T174" fmla="*/ 419 h 419"/>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18" h="419">
                  <a:moveTo>
                    <a:pt x="311" y="122"/>
                  </a:moveTo>
                  <a:lnTo>
                    <a:pt x="241" y="162"/>
                  </a:lnTo>
                  <a:lnTo>
                    <a:pt x="207" y="183"/>
                  </a:lnTo>
                  <a:lnTo>
                    <a:pt x="177" y="203"/>
                  </a:lnTo>
                  <a:lnTo>
                    <a:pt x="147" y="224"/>
                  </a:lnTo>
                  <a:lnTo>
                    <a:pt x="120" y="243"/>
                  </a:lnTo>
                  <a:lnTo>
                    <a:pt x="96" y="264"/>
                  </a:lnTo>
                  <a:lnTo>
                    <a:pt x="73" y="283"/>
                  </a:lnTo>
                  <a:lnTo>
                    <a:pt x="54" y="300"/>
                  </a:lnTo>
                  <a:lnTo>
                    <a:pt x="37" y="319"/>
                  </a:lnTo>
                  <a:lnTo>
                    <a:pt x="22" y="336"/>
                  </a:lnTo>
                  <a:lnTo>
                    <a:pt x="11" y="351"/>
                  </a:lnTo>
                  <a:lnTo>
                    <a:pt x="3" y="366"/>
                  </a:lnTo>
                  <a:lnTo>
                    <a:pt x="0" y="379"/>
                  </a:lnTo>
                  <a:lnTo>
                    <a:pt x="0" y="390"/>
                  </a:lnTo>
                  <a:lnTo>
                    <a:pt x="2" y="400"/>
                  </a:lnTo>
                  <a:lnTo>
                    <a:pt x="9" y="407"/>
                  </a:lnTo>
                  <a:lnTo>
                    <a:pt x="19" y="413"/>
                  </a:lnTo>
                  <a:lnTo>
                    <a:pt x="32" y="417"/>
                  </a:lnTo>
                  <a:lnTo>
                    <a:pt x="49" y="419"/>
                  </a:lnTo>
                  <a:lnTo>
                    <a:pt x="68" y="419"/>
                  </a:lnTo>
                  <a:lnTo>
                    <a:pt x="88" y="417"/>
                  </a:lnTo>
                  <a:lnTo>
                    <a:pt x="113" y="413"/>
                  </a:lnTo>
                  <a:lnTo>
                    <a:pt x="139" y="405"/>
                  </a:lnTo>
                  <a:lnTo>
                    <a:pt x="167" y="398"/>
                  </a:lnTo>
                  <a:lnTo>
                    <a:pt x="198" y="388"/>
                  </a:lnTo>
                  <a:lnTo>
                    <a:pt x="262" y="364"/>
                  </a:lnTo>
                  <a:lnTo>
                    <a:pt x="331" y="334"/>
                  </a:lnTo>
                  <a:lnTo>
                    <a:pt x="405" y="298"/>
                  </a:lnTo>
                  <a:lnTo>
                    <a:pt x="475" y="256"/>
                  </a:lnTo>
                  <a:lnTo>
                    <a:pt x="509" y="237"/>
                  </a:lnTo>
                  <a:lnTo>
                    <a:pt x="539" y="217"/>
                  </a:lnTo>
                  <a:lnTo>
                    <a:pt x="569" y="196"/>
                  </a:lnTo>
                  <a:lnTo>
                    <a:pt x="595" y="175"/>
                  </a:lnTo>
                  <a:lnTo>
                    <a:pt x="620" y="156"/>
                  </a:lnTo>
                  <a:lnTo>
                    <a:pt x="643" y="137"/>
                  </a:lnTo>
                  <a:lnTo>
                    <a:pt x="663" y="119"/>
                  </a:lnTo>
                  <a:lnTo>
                    <a:pt x="680" y="102"/>
                  </a:lnTo>
                  <a:lnTo>
                    <a:pt x="693" y="85"/>
                  </a:lnTo>
                  <a:lnTo>
                    <a:pt x="705" y="69"/>
                  </a:lnTo>
                  <a:lnTo>
                    <a:pt x="712" y="54"/>
                  </a:lnTo>
                  <a:lnTo>
                    <a:pt x="716" y="41"/>
                  </a:lnTo>
                  <a:lnTo>
                    <a:pt x="718" y="30"/>
                  </a:lnTo>
                  <a:lnTo>
                    <a:pt x="714" y="19"/>
                  </a:lnTo>
                  <a:lnTo>
                    <a:pt x="707" y="11"/>
                  </a:lnTo>
                  <a:lnTo>
                    <a:pt x="697" y="5"/>
                  </a:lnTo>
                  <a:lnTo>
                    <a:pt x="684" y="2"/>
                  </a:lnTo>
                  <a:lnTo>
                    <a:pt x="669" y="0"/>
                  </a:lnTo>
                  <a:lnTo>
                    <a:pt x="648" y="2"/>
                  </a:lnTo>
                  <a:lnTo>
                    <a:pt x="627" y="3"/>
                  </a:lnTo>
                  <a:lnTo>
                    <a:pt x="603" y="7"/>
                  </a:lnTo>
                  <a:lnTo>
                    <a:pt x="577" y="13"/>
                  </a:lnTo>
                  <a:lnTo>
                    <a:pt x="548" y="20"/>
                  </a:lnTo>
                  <a:lnTo>
                    <a:pt x="518" y="30"/>
                  </a:lnTo>
                  <a:lnTo>
                    <a:pt x="454" y="54"/>
                  </a:lnTo>
                  <a:lnTo>
                    <a:pt x="384" y="85"/>
                  </a:lnTo>
                  <a:lnTo>
                    <a:pt x="311" y="122"/>
                  </a:lnTo>
                </a:path>
              </a:pathLst>
            </a:custGeom>
            <a:noFill/>
            <a:ln w="22225">
              <a:solidFill>
                <a:srgbClr val="000000"/>
              </a:solidFill>
              <a:round/>
              <a:headEnd/>
              <a:tailEnd/>
            </a:ln>
          </p:spPr>
          <p:txBody>
            <a:bodyPr/>
            <a:lstStyle/>
            <a:p>
              <a:endParaRPr lang="zh-CN" altLang="en-US"/>
            </a:p>
          </p:txBody>
        </p:sp>
        <p:sp>
          <p:nvSpPr>
            <p:cNvPr id="29717" name="Line 77"/>
            <p:cNvSpPr>
              <a:spLocks noChangeShapeType="1"/>
            </p:cNvSpPr>
            <p:nvPr/>
          </p:nvSpPr>
          <p:spPr bwMode="auto">
            <a:xfrm>
              <a:off x="3554" y="1660"/>
              <a:ext cx="402" cy="805"/>
            </a:xfrm>
            <a:prstGeom prst="line">
              <a:avLst/>
            </a:prstGeom>
            <a:noFill/>
            <a:ln w="22225">
              <a:solidFill>
                <a:srgbClr val="000000"/>
              </a:solidFill>
              <a:round/>
              <a:headEnd/>
              <a:tailEnd/>
            </a:ln>
          </p:spPr>
          <p:txBody>
            <a:bodyPr/>
            <a:lstStyle/>
            <a:p>
              <a:endParaRPr lang="zh-CN" altLang="en-US"/>
            </a:p>
          </p:txBody>
        </p:sp>
        <p:sp>
          <p:nvSpPr>
            <p:cNvPr id="29718" name="Freeform 78"/>
            <p:cNvSpPr>
              <a:spLocks noEditPoints="1"/>
            </p:cNvSpPr>
            <p:nvPr/>
          </p:nvSpPr>
          <p:spPr bwMode="auto">
            <a:xfrm>
              <a:off x="3534" y="2685"/>
              <a:ext cx="1250" cy="14"/>
            </a:xfrm>
            <a:custGeom>
              <a:avLst/>
              <a:gdLst>
                <a:gd name="T0" fmla="*/ 29 w 2499"/>
                <a:gd name="T1" fmla="*/ 0 h 29"/>
                <a:gd name="T2" fmla="*/ 0 w 2499"/>
                <a:gd name="T3" fmla="*/ 7 h 29"/>
                <a:gd name="T4" fmla="*/ 0 w 2499"/>
                <a:gd name="T5" fmla="*/ 0 h 29"/>
                <a:gd name="T6" fmla="*/ 78 w 2499"/>
                <a:gd name="T7" fmla="*/ 0 h 29"/>
                <a:gd name="T8" fmla="*/ 50 w 2499"/>
                <a:gd name="T9" fmla="*/ 7 h 29"/>
                <a:gd name="T10" fmla="*/ 50 w 2499"/>
                <a:gd name="T11" fmla="*/ 0 h 29"/>
                <a:gd name="T12" fmla="*/ 128 w 2499"/>
                <a:gd name="T13" fmla="*/ 0 h 29"/>
                <a:gd name="T14" fmla="*/ 100 w 2499"/>
                <a:gd name="T15" fmla="*/ 7 h 29"/>
                <a:gd name="T16" fmla="*/ 100 w 2499"/>
                <a:gd name="T17" fmla="*/ 0 h 29"/>
                <a:gd name="T18" fmla="*/ 177 w 2499"/>
                <a:gd name="T19" fmla="*/ 0 h 29"/>
                <a:gd name="T20" fmla="*/ 149 w 2499"/>
                <a:gd name="T21" fmla="*/ 7 h 29"/>
                <a:gd name="T22" fmla="*/ 149 w 2499"/>
                <a:gd name="T23" fmla="*/ 0 h 29"/>
                <a:gd name="T24" fmla="*/ 227 w 2499"/>
                <a:gd name="T25" fmla="*/ 0 h 29"/>
                <a:gd name="T26" fmla="*/ 199 w 2499"/>
                <a:gd name="T27" fmla="*/ 7 h 29"/>
                <a:gd name="T28" fmla="*/ 199 w 2499"/>
                <a:gd name="T29" fmla="*/ 0 h 29"/>
                <a:gd name="T30" fmla="*/ 277 w 2499"/>
                <a:gd name="T31" fmla="*/ 0 h 29"/>
                <a:gd name="T32" fmla="*/ 249 w 2499"/>
                <a:gd name="T33" fmla="*/ 7 h 29"/>
                <a:gd name="T34" fmla="*/ 249 w 2499"/>
                <a:gd name="T35" fmla="*/ 0 h 29"/>
                <a:gd name="T36" fmla="*/ 327 w 2499"/>
                <a:gd name="T37" fmla="*/ 0 h 29"/>
                <a:gd name="T38" fmla="*/ 299 w 2499"/>
                <a:gd name="T39" fmla="*/ 7 h 29"/>
                <a:gd name="T40" fmla="*/ 299 w 2499"/>
                <a:gd name="T41" fmla="*/ 0 h 29"/>
                <a:gd name="T42" fmla="*/ 376 w 2499"/>
                <a:gd name="T43" fmla="*/ 0 h 29"/>
                <a:gd name="T44" fmla="*/ 348 w 2499"/>
                <a:gd name="T45" fmla="*/ 7 h 29"/>
                <a:gd name="T46" fmla="*/ 348 w 2499"/>
                <a:gd name="T47" fmla="*/ 0 h 29"/>
                <a:gd name="T48" fmla="*/ 426 w 2499"/>
                <a:gd name="T49" fmla="*/ 0 h 29"/>
                <a:gd name="T50" fmla="*/ 398 w 2499"/>
                <a:gd name="T51" fmla="*/ 7 h 29"/>
                <a:gd name="T52" fmla="*/ 398 w 2499"/>
                <a:gd name="T53" fmla="*/ 0 h 29"/>
                <a:gd name="T54" fmla="*/ 476 w 2499"/>
                <a:gd name="T55" fmla="*/ 0 h 29"/>
                <a:gd name="T56" fmla="*/ 448 w 2499"/>
                <a:gd name="T57" fmla="*/ 7 h 29"/>
                <a:gd name="T58" fmla="*/ 448 w 2499"/>
                <a:gd name="T59" fmla="*/ 0 h 29"/>
                <a:gd name="T60" fmla="*/ 526 w 2499"/>
                <a:gd name="T61" fmla="*/ 0 h 29"/>
                <a:gd name="T62" fmla="*/ 497 w 2499"/>
                <a:gd name="T63" fmla="*/ 7 h 29"/>
                <a:gd name="T64" fmla="*/ 497 w 2499"/>
                <a:gd name="T65" fmla="*/ 0 h 29"/>
                <a:gd name="T66" fmla="*/ 575 w 2499"/>
                <a:gd name="T67" fmla="*/ 0 h 29"/>
                <a:gd name="T68" fmla="*/ 547 w 2499"/>
                <a:gd name="T69" fmla="*/ 7 h 29"/>
                <a:gd name="T70" fmla="*/ 547 w 2499"/>
                <a:gd name="T71" fmla="*/ 0 h 29"/>
                <a:gd name="T72" fmla="*/ 625 w 2499"/>
                <a:gd name="T73" fmla="*/ 0 h 29"/>
                <a:gd name="T74" fmla="*/ 596 w 2499"/>
                <a:gd name="T75" fmla="*/ 7 h 29"/>
                <a:gd name="T76" fmla="*/ 596 w 2499"/>
                <a:gd name="T77" fmla="*/ 0 h 2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499"/>
                <a:gd name="T118" fmla="*/ 0 h 29"/>
                <a:gd name="T119" fmla="*/ 2499 w 2499"/>
                <a:gd name="T120" fmla="*/ 29 h 29"/>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499" h="29">
                  <a:moveTo>
                    <a:pt x="0" y="0"/>
                  </a:moveTo>
                  <a:lnTo>
                    <a:pt x="113" y="0"/>
                  </a:lnTo>
                  <a:lnTo>
                    <a:pt x="113" y="29"/>
                  </a:lnTo>
                  <a:lnTo>
                    <a:pt x="0" y="29"/>
                  </a:lnTo>
                  <a:lnTo>
                    <a:pt x="0" y="0"/>
                  </a:lnTo>
                  <a:close/>
                  <a:moveTo>
                    <a:pt x="198" y="0"/>
                  </a:moveTo>
                  <a:lnTo>
                    <a:pt x="311" y="0"/>
                  </a:lnTo>
                  <a:lnTo>
                    <a:pt x="311" y="29"/>
                  </a:lnTo>
                  <a:lnTo>
                    <a:pt x="198" y="29"/>
                  </a:lnTo>
                  <a:lnTo>
                    <a:pt x="198" y="0"/>
                  </a:lnTo>
                  <a:close/>
                  <a:moveTo>
                    <a:pt x="397" y="0"/>
                  </a:moveTo>
                  <a:lnTo>
                    <a:pt x="510" y="0"/>
                  </a:lnTo>
                  <a:lnTo>
                    <a:pt x="510" y="29"/>
                  </a:lnTo>
                  <a:lnTo>
                    <a:pt x="397" y="29"/>
                  </a:lnTo>
                  <a:lnTo>
                    <a:pt x="397" y="0"/>
                  </a:lnTo>
                  <a:close/>
                  <a:moveTo>
                    <a:pt x="595" y="0"/>
                  </a:moveTo>
                  <a:lnTo>
                    <a:pt x="708" y="0"/>
                  </a:lnTo>
                  <a:lnTo>
                    <a:pt x="708" y="29"/>
                  </a:lnTo>
                  <a:lnTo>
                    <a:pt x="595" y="29"/>
                  </a:lnTo>
                  <a:lnTo>
                    <a:pt x="595" y="0"/>
                  </a:lnTo>
                  <a:close/>
                  <a:moveTo>
                    <a:pt x="795" y="0"/>
                  </a:moveTo>
                  <a:lnTo>
                    <a:pt x="908" y="0"/>
                  </a:lnTo>
                  <a:lnTo>
                    <a:pt x="908" y="29"/>
                  </a:lnTo>
                  <a:lnTo>
                    <a:pt x="795" y="29"/>
                  </a:lnTo>
                  <a:lnTo>
                    <a:pt x="795" y="0"/>
                  </a:lnTo>
                  <a:close/>
                  <a:moveTo>
                    <a:pt x="993" y="0"/>
                  </a:moveTo>
                  <a:lnTo>
                    <a:pt x="1106" y="0"/>
                  </a:lnTo>
                  <a:lnTo>
                    <a:pt x="1106" y="29"/>
                  </a:lnTo>
                  <a:lnTo>
                    <a:pt x="993" y="29"/>
                  </a:lnTo>
                  <a:lnTo>
                    <a:pt x="993" y="0"/>
                  </a:lnTo>
                  <a:close/>
                  <a:moveTo>
                    <a:pt x="1193" y="0"/>
                  </a:moveTo>
                  <a:lnTo>
                    <a:pt x="1306" y="0"/>
                  </a:lnTo>
                  <a:lnTo>
                    <a:pt x="1306" y="29"/>
                  </a:lnTo>
                  <a:lnTo>
                    <a:pt x="1193" y="29"/>
                  </a:lnTo>
                  <a:lnTo>
                    <a:pt x="1193" y="0"/>
                  </a:lnTo>
                  <a:close/>
                  <a:moveTo>
                    <a:pt x="1391" y="0"/>
                  </a:moveTo>
                  <a:lnTo>
                    <a:pt x="1504" y="0"/>
                  </a:lnTo>
                  <a:lnTo>
                    <a:pt x="1504" y="29"/>
                  </a:lnTo>
                  <a:lnTo>
                    <a:pt x="1391" y="29"/>
                  </a:lnTo>
                  <a:lnTo>
                    <a:pt x="1391" y="0"/>
                  </a:lnTo>
                  <a:close/>
                  <a:moveTo>
                    <a:pt x="1591" y="0"/>
                  </a:moveTo>
                  <a:lnTo>
                    <a:pt x="1704" y="0"/>
                  </a:lnTo>
                  <a:lnTo>
                    <a:pt x="1704" y="29"/>
                  </a:lnTo>
                  <a:lnTo>
                    <a:pt x="1591" y="29"/>
                  </a:lnTo>
                  <a:lnTo>
                    <a:pt x="1591" y="0"/>
                  </a:lnTo>
                  <a:close/>
                  <a:moveTo>
                    <a:pt x="1789" y="0"/>
                  </a:moveTo>
                  <a:lnTo>
                    <a:pt x="1902" y="0"/>
                  </a:lnTo>
                  <a:lnTo>
                    <a:pt x="1902" y="29"/>
                  </a:lnTo>
                  <a:lnTo>
                    <a:pt x="1789" y="29"/>
                  </a:lnTo>
                  <a:lnTo>
                    <a:pt x="1789" y="0"/>
                  </a:lnTo>
                  <a:close/>
                  <a:moveTo>
                    <a:pt x="1988" y="0"/>
                  </a:moveTo>
                  <a:lnTo>
                    <a:pt x="2102" y="0"/>
                  </a:lnTo>
                  <a:lnTo>
                    <a:pt x="2102" y="29"/>
                  </a:lnTo>
                  <a:lnTo>
                    <a:pt x="1988" y="29"/>
                  </a:lnTo>
                  <a:lnTo>
                    <a:pt x="1988" y="0"/>
                  </a:lnTo>
                  <a:close/>
                  <a:moveTo>
                    <a:pt x="2186" y="0"/>
                  </a:moveTo>
                  <a:lnTo>
                    <a:pt x="2300" y="0"/>
                  </a:lnTo>
                  <a:lnTo>
                    <a:pt x="2300" y="29"/>
                  </a:lnTo>
                  <a:lnTo>
                    <a:pt x="2186" y="29"/>
                  </a:lnTo>
                  <a:lnTo>
                    <a:pt x="2186" y="0"/>
                  </a:lnTo>
                  <a:close/>
                  <a:moveTo>
                    <a:pt x="2384" y="0"/>
                  </a:moveTo>
                  <a:lnTo>
                    <a:pt x="2499" y="0"/>
                  </a:lnTo>
                  <a:lnTo>
                    <a:pt x="2499" y="29"/>
                  </a:lnTo>
                  <a:lnTo>
                    <a:pt x="2384" y="29"/>
                  </a:lnTo>
                  <a:lnTo>
                    <a:pt x="2384" y="0"/>
                  </a:lnTo>
                  <a:close/>
                </a:path>
              </a:pathLst>
            </a:custGeom>
            <a:solidFill>
              <a:srgbClr val="000000"/>
            </a:solidFill>
            <a:ln w="9525">
              <a:noFill/>
              <a:round/>
              <a:headEnd/>
              <a:tailEnd/>
            </a:ln>
          </p:spPr>
          <p:txBody>
            <a:bodyPr/>
            <a:lstStyle/>
            <a:p>
              <a:endParaRPr lang="zh-CN" altLang="en-US"/>
            </a:p>
          </p:txBody>
        </p:sp>
        <p:sp>
          <p:nvSpPr>
            <p:cNvPr id="29719" name="Freeform 79"/>
            <p:cNvSpPr>
              <a:spLocks/>
            </p:cNvSpPr>
            <p:nvPr/>
          </p:nvSpPr>
          <p:spPr bwMode="auto">
            <a:xfrm>
              <a:off x="3534" y="2685"/>
              <a:ext cx="57" cy="14"/>
            </a:xfrm>
            <a:custGeom>
              <a:avLst/>
              <a:gdLst>
                <a:gd name="T0" fmla="*/ 0 w 113"/>
                <a:gd name="T1" fmla="*/ 0 h 29"/>
                <a:gd name="T2" fmla="*/ 29 w 113"/>
                <a:gd name="T3" fmla="*/ 0 h 29"/>
                <a:gd name="T4" fmla="*/ 29 w 113"/>
                <a:gd name="T5" fmla="*/ 7 h 29"/>
                <a:gd name="T6" fmla="*/ 0 w 113"/>
                <a:gd name="T7" fmla="*/ 7 h 29"/>
                <a:gd name="T8" fmla="*/ 0 w 113"/>
                <a:gd name="T9" fmla="*/ 0 h 29"/>
                <a:gd name="T10" fmla="*/ 0 w 113"/>
                <a:gd name="T11" fmla="*/ 0 h 29"/>
                <a:gd name="T12" fmla="*/ 0 60000 65536"/>
                <a:gd name="T13" fmla="*/ 0 60000 65536"/>
                <a:gd name="T14" fmla="*/ 0 60000 65536"/>
                <a:gd name="T15" fmla="*/ 0 60000 65536"/>
                <a:gd name="T16" fmla="*/ 0 60000 65536"/>
                <a:gd name="T17" fmla="*/ 0 60000 65536"/>
                <a:gd name="T18" fmla="*/ 0 w 113"/>
                <a:gd name="T19" fmla="*/ 0 h 29"/>
                <a:gd name="T20" fmla="*/ 113 w 113"/>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3" h="29">
                  <a:moveTo>
                    <a:pt x="0" y="0"/>
                  </a:moveTo>
                  <a:lnTo>
                    <a:pt x="113" y="0"/>
                  </a:lnTo>
                  <a:lnTo>
                    <a:pt x="113" y="29"/>
                  </a:lnTo>
                  <a:lnTo>
                    <a:pt x="0" y="29"/>
                  </a:lnTo>
                  <a:lnTo>
                    <a:pt x="0" y="0"/>
                  </a:lnTo>
                  <a:close/>
                </a:path>
              </a:pathLst>
            </a:custGeom>
            <a:noFill/>
            <a:ln w="3175">
              <a:solidFill>
                <a:srgbClr val="000000"/>
              </a:solidFill>
              <a:round/>
              <a:headEnd/>
              <a:tailEnd/>
            </a:ln>
          </p:spPr>
          <p:txBody>
            <a:bodyPr/>
            <a:lstStyle/>
            <a:p>
              <a:endParaRPr lang="zh-CN" altLang="en-US"/>
            </a:p>
          </p:txBody>
        </p:sp>
        <p:sp>
          <p:nvSpPr>
            <p:cNvPr id="29720" name="Freeform 80"/>
            <p:cNvSpPr>
              <a:spLocks/>
            </p:cNvSpPr>
            <p:nvPr/>
          </p:nvSpPr>
          <p:spPr bwMode="auto">
            <a:xfrm>
              <a:off x="3633" y="2685"/>
              <a:ext cx="57" cy="14"/>
            </a:xfrm>
            <a:custGeom>
              <a:avLst/>
              <a:gdLst>
                <a:gd name="T0" fmla="*/ 0 w 113"/>
                <a:gd name="T1" fmla="*/ 0 h 29"/>
                <a:gd name="T2" fmla="*/ 29 w 113"/>
                <a:gd name="T3" fmla="*/ 0 h 29"/>
                <a:gd name="T4" fmla="*/ 29 w 113"/>
                <a:gd name="T5" fmla="*/ 7 h 29"/>
                <a:gd name="T6" fmla="*/ 0 w 113"/>
                <a:gd name="T7" fmla="*/ 7 h 29"/>
                <a:gd name="T8" fmla="*/ 0 w 113"/>
                <a:gd name="T9" fmla="*/ 0 h 29"/>
                <a:gd name="T10" fmla="*/ 0 w 113"/>
                <a:gd name="T11" fmla="*/ 0 h 29"/>
                <a:gd name="T12" fmla="*/ 0 60000 65536"/>
                <a:gd name="T13" fmla="*/ 0 60000 65536"/>
                <a:gd name="T14" fmla="*/ 0 60000 65536"/>
                <a:gd name="T15" fmla="*/ 0 60000 65536"/>
                <a:gd name="T16" fmla="*/ 0 60000 65536"/>
                <a:gd name="T17" fmla="*/ 0 60000 65536"/>
                <a:gd name="T18" fmla="*/ 0 w 113"/>
                <a:gd name="T19" fmla="*/ 0 h 29"/>
                <a:gd name="T20" fmla="*/ 113 w 113"/>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3" h="29">
                  <a:moveTo>
                    <a:pt x="0" y="0"/>
                  </a:moveTo>
                  <a:lnTo>
                    <a:pt x="113" y="0"/>
                  </a:lnTo>
                  <a:lnTo>
                    <a:pt x="113" y="29"/>
                  </a:lnTo>
                  <a:lnTo>
                    <a:pt x="0" y="29"/>
                  </a:lnTo>
                  <a:lnTo>
                    <a:pt x="0" y="0"/>
                  </a:lnTo>
                  <a:close/>
                </a:path>
              </a:pathLst>
            </a:custGeom>
            <a:noFill/>
            <a:ln w="3175">
              <a:solidFill>
                <a:srgbClr val="000000"/>
              </a:solidFill>
              <a:round/>
              <a:headEnd/>
              <a:tailEnd/>
            </a:ln>
          </p:spPr>
          <p:txBody>
            <a:bodyPr/>
            <a:lstStyle/>
            <a:p>
              <a:endParaRPr lang="zh-CN" altLang="en-US"/>
            </a:p>
          </p:txBody>
        </p:sp>
        <p:sp>
          <p:nvSpPr>
            <p:cNvPr id="29721" name="Freeform 81"/>
            <p:cNvSpPr>
              <a:spLocks/>
            </p:cNvSpPr>
            <p:nvPr/>
          </p:nvSpPr>
          <p:spPr bwMode="auto">
            <a:xfrm>
              <a:off x="3733" y="2685"/>
              <a:ext cx="57" cy="14"/>
            </a:xfrm>
            <a:custGeom>
              <a:avLst/>
              <a:gdLst>
                <a:gd name="T0" fmla="*/ 0 w 113"/>
                <a:gd name="T1" fmla="*/ 0 h 29"/>
                <a:gd name="T2" fmla="*/ 29 w 113"/>
                <a:gd name="T3" fmla="*/ 0 h 29"/>
                <a:gd name="T4" fmla="*/ 29 w 113"/>
                <a:gd name="T5" fmla="*/ 7 h 29"/>
                <a:gd name="T6" fmla="*/ 0 w 113"/>
                <a:gd name="T7" fmla="*/ 7 h 29"/>
                <a:gd name="T8" fmla="*/ 0 w 113"/>
                <a:gd name="T9" fmla="*/ 0 h 29"/>
                <a:gd name="T10" fmla="*/ 0 w 113"/>
                <a:gd name="T11" fmla="*/ 0 h 29"/>
                <a:gd name="T12" fmla="*/ 0 60000 65536"/>
                <a:gd name="T13" fmla="*/ 0 60000 65536"/>
                <a:gd name="T14" fmla="*/ 0 60000 65536"/>
                <a:gd name="T15" fmla="*/ 0 60000 65536"/>
                <a:gd name="T16" fmla="*/ 0 60000 65536"/>
                <a:gd name="T17" fmla="*/ 0 60000 65536"/>
                <a:gd name="T18" fmla="*/ 0 w 113"/>
                <a:gd name="T19" fmla="*/ 0 h 29"/>
                <a:gd name="T20" fmla="*/ 113 w 113"/>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3" h="29">
                  <a:moveTo>
                    <a:pt x="0" y="0"/>
                  </a:moveTo>
                  <a:lnTo>
                    <a:pt x="113" y="0"/>
                  </a:lnTo>
                  <a:lnTo>
                    <a:pt x="113" y="29"/>
                  </a:lnTo>
                  <a:lnTo>
                    <a:pt x="0" y="29"/>
                  </a:lnTo>
                  <a:lnTo>
                    <a:pt x="0" y="0"/>
                  </a:lnTo>
                  <a:close/>
                </a:path>
              </a:pathLst>
            </a:custGeom>
            <a:noFill/>
            <a:ln w="3175">
              <a:solidFill>
                <a:srgbClr val="000000"/>
              </a:solidFill>
              <a:round/>
              <a:headEnd/>
              <a:tailEnd/>
            </a:ln>
          </p:spPr>
          <p:txBody>
            <a:bodyPr/>
            <a:lstStyle/>
            <a:p>
              <a:endParaRPr lang="zh-CN" altLang="en-US"/>
            </a:p>
          </p:txBody>
        </p:sp>
        <p:sp>
          <p:nvSpPr>
            <p:cNvPr id="29722" name="Freeform 82"/>
            <p:cNvSpPr>
              <a:spLocks/>
            </p:cNvSpPr>
            <p:nvPr/>
          </p:nvSpPr>
          <p:spPr bwMode="auto">
            <a:xfrm>
              <a:off x="3832" y="2685"/>
              <a:ext cx="57" cy="14"/>
            </a:xfrm>
            <a:custGeom>
              <a:avLst/>
              <a:gdLst>
                <a:gd name="T0" fmla="*/ 0 w 113"/>
                <a:gd name="T1" fmla="*/ 0 h 29"/>
                <a:gd name="T2" fmla="*/ 29 w 113"/>
                <a:gd name="T3" fmla="*/ 0 h 29"/>
                <a:gd name="T4" fmla="*/ 29 w 113"/>
                <a:gd name="T5" fmla="*/ 7 h 29"/>
                <a:gd name="T6" fmla="*/ 0 w 113"/>
                <a:gd name="T7" fmla="*/ 7 h 29"/>
                <a:gd name="T8" fmla="*/ 0 w 113"/>
                <a:gd name="T9" fmla="*/ 0 h 29"/>
                <a:gd name="T10" fmla="*/ 0 w 113"/>
                <a:gd name="T11" fmla="*/ 0 h 29"/>
                <a:gd name="T12" fmla="*/ 0 60000 65536"/>
                <a:gd name="T13" fmla="*/ 0 60000 65536"/>
                <a:gd name="T14" fmla="*/ 0 60000 65536"/>
                <a:gd name="T15" fmla="*/ 0 60000 65536"/>
                <a:gd name="T16" fmla="*/ 0 60000 65536"/>
                <a:gd name="T17" fmla="*/ 0 60000 65536"/>
                <a:gd name="T18" fmla="*/ 0 w 113"/>
                <a:gd name="T19" fmla="*/ 0 h 29"/>
                <a:gd name="T20" fmla="*/ 113 w 113"/>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3" h="29">
                  <a:moveTo>
                    <a:pt x="0" y="0"/>
                  </a:moveTo>
                  <a:lnTo>
                    <a:pt x="113" y="0"/>
                  </a:lnTo>
                  <a:lnTo>
                    <a:pt x="113" y="29"/>
                  </a:lnTo>
                  <a:lnTo>
                    <a:pt x="0" y="29"/>
                  </a:lnTo>
                  <a:lnTo>
                    <a:pt x="0" y="0"/>
                  </a:lnTo>
                  <a:close/>
                </a:path>
              </a:pathLst>
            </a:custGeom>
            <a:noFill/>
            <a:ln w="3175">
              <a:solidFill>
                <a:srgbClr val="000000"/>
              </a:solidFill>
              <a:round/>
              <a:headEnd/>
              <a:tailEnd/>
            </a:ln>
          </p:spPr>
          <p:txBody>
            <a:bodyPr/>
            <a:lstStyle/>
            <a:p>
              <a:endParaRPr lang="zh-CN" altLang="en-US"/>
            </a:p>
          </p:txBody>
        </p:sp>
        <p:sp>
          <p:nvSpPr>
            <p:cNvPr id="29723" name="Freeform 83"/>
            <p:cNvSpPr>
              <a:spLocks/>
            </p:cNvSpPr>
            <p:nvPr/>
          </p:nvSpPr>
          <p:spPr bwMode="auto">
            <a:xfrm>
              <a:off x="3932" y="2685"/>
              <a:ext cx="57" cy="14"/>
            </a:xfrm>
            <a:custGeom>
              <a:avLst/>
              <a:gdLst>
                <a:gd name="T0" fmla="*/ 0 w 113"/>
                <a:gd name="T1" fmla="*/ 0 h 29"/>
                <a:gd name="T2" fmla="*/ 29 w 113"/>
                <a:gd name="T3" fmla="*/ 0 h 29"/>
                <a:gd name="T4" fmla="*/ 29 w 113"/>
                <a:gd name="T5" fmla="*/ 7 h 29"/>
                <a:gd name="T6" fmla="*/ 0 w 113"/>
                <a:gd name="T7" fmla="*/ 7 h 29"/>
                <a:gd name="T8" fmla="*/ 0 w 113"/>
                <a:gd name="T9" fmla="*/ 0 h 29"/>
                <a:gd name="T10" fmla="*/ 0 w 113"/>
                <a:gd name="T11" fmla="*/ 0 h 29"/>
                <a:gd name="T12" fmla="*/ 0 60000 65536"/>
                <a:gd name="T13" fmla="*/ 0 60000 65536"/>
                <a:gd name="T14" fmla="*/ 0 60000 65536"/>
                <a:gd name="T15" fmla="*/ 0 60000 65536"/>
                <a:gd name="T16" fmla="*/ 0 60000 65536"/>
                <a:gd name="T17" fmla="*/ 0 60000 65536"/>
                <a:gd name="T18" fmla="*/ 0 w 113"/>
                <a:gd name="T19" fmla="*/ 0 h 29"/>
                <a:gd name="T20" fmla="*/ 113 w 113"/>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3" h="29">
                  <a:moveTo>
                    <a:pt x="0" y="0"/>
                  </a:moveTo>
                  <a:lnTo>
                    <a:pt x="113" y="0"/>
                  </a:lnTo>
                  <a:lnTo>
                    <a:pt x="113" y="29"/>
                  </a:lnTo>
                  <a:lnTo>
                    <a:pt x="0" y="29"/>
                  </a:lnTo>
                  <a:lnTo>
                    <a:pt x="0" y="0"/>
                  </a:lnTo>
                  <a:close/>
                </a:path>
              </a:pathLst>
            </a:custGeom>
            <a:noFill/>
            <a:ln w="3175">
              <a:solidFill>
                <a:srgbClr val="000000"/>
              </a:solidFill>
              <a:round/>
              <a:headEnd/>
              <a:tailEnd/>
            </a:ln>
          </p:spPr>
          <p:txBody>
            <a:bodyPr/>
            <a:lstStyle/>
            <a:p>
              <a:endParaRPr lang="zh-CN" altLang="en-US"/>
            </a:p>
          </p:txBody>
        </p:sp>
        <p:sp>
          <p:nvSpPr>
            <p:cNvPr id="29724" name="Freeform 84"/>
            <p:cNvSpPr>
              <a:spLocks/>
            </p:cNvSpPr>
            <p:nvPr/>
          </p:nvSpPr>
          <p:spPr bwMode="auto">
            <a:xfrm>
              <a:off x="4031" y="2685"/>
              <a:ext cx="57" cy="14"/>
            </a:xfrm>
            <a:custGeom>
              <a:avLst/>
              <a:gdLst>
                <a:gd name="T0" fmla="*/ 0 w 113"/>
                <a:gd name="T1" fmla="*/ 0 h 29"/>
                <a:gd name="T2" fmla="*/ 29 w 113"/>
                <a:gd name="T3" fmla="*/ 0 h 29"/>
                <a:gd name="T4" fmla="*/ 29 w 113"/>
                <a:gd name="T5" fmla="*/ 7 h 29"/>
                <a:gd name="T6" fmla="*/ 0 w 113"/>
                <a:gd name="T7" fmla="*/ 7 h 29"/>
                <a:gd name="T8" fmla="*/ 0 w 113"/>
                <a:gd name="T9" fmla="*/ 0 h 29"/>
                <a:gd name="T10" fmla="*/ 0 w 113"/>
                <a:gd name="T11" fmla="*/ 0 h 29"/>
                <a:gd name="T12" fmla="*/ 0 60000 65536"/>
                <a:gd name="T13" fmla="*/ 0 60000 65536"/>
                <a:gd name="T14" fmla="*/ 0 60000 65536"/>
                <a:gd name="T15" fmla="*/ 0 60000 65536"/>
                <a:gd name="T16" fmla="*/ 0 60000 65536"/>
                <a:gd name="T17" fmla="*/ 0 60000 65536"/>
                <a:gd name="T18" fmla="*/ 0 w 113"/>
                <a:gd name="T19" fmla="*/ 0 h 29"/>
                <a:gd name="T20" fmla="*/ 113 w 113"/>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3" h="29">
                  <a:moveTo>
                    <a:pt x="0" y="0"/>
                  </a:moveTo>
                  <a:lnTo>
                    <a:pt x="113" y="0"/>
                  </a:lnTo>
                  <a:lnTo>
                    <a:pt x="113" y="29"/>
                  </a:lnTo>
                  <a:lnTo>
                    <a:pt x="0" y="29"/>
                  </a:lnTo>
                  <a:lnTo>
                    <a:pt x="0" y="0"/>
                  </a:lnTo>
                  <a:close/>
                </a:path>
              </a:pathLst>
            </a:custGeom>
            <a:noFill/>
            <a:ln w="3175">
              <a:solidFill>
                <a:srgbClr val="000000"/>
              </a:solidFill>
              <a:round/>
              <a:headEnd/>
              <a:tailEnd/>
            </a:ln>
          </p:spPr>
          <p:txBody>
            <a:bodyPr/>
            <a:lstStyle/>
            <a:p>
              <a:endParaRPr lang="zh-CN" altLang="en-US"/>
            </a:p>
          </p:txBody>
        </p:sp>
        <p:sp>
          <p:nvSpPr>
            <p:cNvPr id="29725" name="Freeform 85"/>
            <p:cNvSpPr>
              <a:spLocks/>
            </p:cNvSpPr>
            <p:nvPr/>
          </p:nvSpPr>
          <p:spPr bwMode="auto">
            <a:xfrm>
              <a:off x="4131" y="2685"/>
              <a:ext cx="57" cy="14"/>
            </a:xfrm>
            <a:custGeom>
              <a:avLst/>
              <a:gdLst>
                <a:gd name="T0" fmla="*/ 0 w 113"/>
                <a:gd name="T1" fmla="*/ 0 h 29"/>
                <a:gd name="T2" fmla="*/ 29 w 113"/>
                <a:gd name="T3" fmla="*/ 0 h 29"/>
                <a:gd name="T4" fmla="*/ 29 w 113"/>
                <a:gd name="T5" fmla="*/ 7 h 29"/>
                <a:gd name="T6" fmla="*/ 0 w 113"/>
                <a:gd name="T7" fmla="*/ 7 h 29"/>
                <a:gd name="T8" fmla="*/ 0 w 113"/>
                <a:gd name="T9" fmla="*/ 0 h 29"/>
                <a:gd name="T10" fmla="*/ 0 w 113"/>
                <a:gd name="T11" fmla="*/ 0 h 29"/>
                <a:gd name="T12" fmla="*/ 0 60000 65536"/>
                <a:gd name="T13" fmla="*/ 0 60000 65536"/>
                <a:gd name="T14" fmla="*/ 0 60000 65536"/>
                <a:gd name="T15" fmla="*/ 0 60000 65536"/>
                <a:gd name="T16" fmla="*/ 0 60000 65536"/>
                <a:gd name="T17" fmla="*/ 0 60000 65536"/>
                <a:gd name="T18" fmla="*/ 0 w 113"/>
                <a:gd name="T19" fmla="*/ 0 h 29"/>
                <a:gd name="T20" fmla="*/ 113 w 113"/>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3" h="29">
                  <a:moveTo>
                    <a:pt x="0" y="0"/>
                  </a:moveTo>
                  <a:lnTo>
                    <a:pt x="113" y="0"/>
                  </a:lnTo>
                  <a:lnTo>
                    <a:pt x="113" y="29"/>
                  </a:lnTo>
                  <a:lnTo>
                    <a:pt x="0" y="29"/>
                  </a:lnTo>
                  <a:lnTo>
                    <a:pt x="0" y="0"/>
                  </a:lnTo>
                  <a:close/>
                </a:path>
              </a:pathLst>
            </a:custGeom>
            <a:noFill/>
            <a:ln w="3175">
              <a:solidFill>
                <a:srgbClr val="000000"/>
              </a:solidFill>
              <a:round/>
              <a:headEnd/>
              <a:tailEnd/>
            </a:ln>
          </p:spPr>
          <p:txBody>
            <a:bodyPr/>
            <a:lstStyle/>
            <a:p>
              <a:endParaRPr lang="zh-CN" altLang="en-US"/>
            </a:p>
          </p:txBody>
        </p:sp>
        <p:sp>
          <p:nvSpPr>
            <p:cNvPr id="29726" name="Freeform 86"/>
            <p:cNvSpPr>
              <a:spLocks/>
            </p:cNvSpPr>
            <p:nvPr/>
          </p:nvSpPr>
          <p:spPr bwMode="auto">
            <a:xfrm>
              <a:off x="4230" y="2685"/>
              <a:ext cx="56" cy="14"/>
            </a:xfrm>
            <a:custGeom>
              <a:avLst/>
              <a:gdLst>
                <a:gd name="T0" fmla="*/ 0 w 113"/>
                <a:gd name="T1" fmla="*/ 0 h 29"/>
                <a:gd name="T2" fmla="*/ 28 w 113"/>
                <a:gd name="T3" fmla="*/ 0 h 29"/>
                <a:gd name="T4" fmla="*/ 28 w 113"/>
                <a:gd name="T5" fmla="*/ 7 h 29"/>
                <a:gd name="T6" fmla="*/ 0 w 113"/>
                <a:gd name="T7" fmla="*/ 7 h 29"/>
                <a:gd name="T8" fmla="*/ 0 w 113"/>
                <a:gd name="T9" fmla="*/ 0 h 29"/>
                <a:gd name="T10" fmla="*/ 0 w 113"/>
                <a:gd name="T11" fmla="*/ 0 h 29"/>
                <a:gd name="T12" fmla="*/ 0 60000 65536"/>
                <a:gd name="T13" fmla="*/ 0 60000 65536"/>
                <a:gd name="T14" fmla="*/ 0 60000 65536"/>
                <a:gd name="T15" fmla="*/ 0 60000 65536"/>
                <a:gd name="T16" fmla="*/ 0 60000 65536"/>
                <a:gd name="T17" fmla="*/ 0 60000 65536"/>
                <a:gd name="T18" fmla="*/ 0 w 113"/>
                <a:gd name="T19" fmla="*/ 0 h 29"/>
                <a:gd name="T20" fmla="*/ 113 w 113"/>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3" h="29">
                  <a:moveTo>
                    <a:pt x="0" y="0"/>
                  </a:moveTo>
                  <a:lnTo>
                    <a:pt x="113" y="0"/>
                  </a:lnTo>
                  <a:lnTo>
                    <a:pt x="113" y="29"/>
                  </a:lnTo>
                  <a:lnTo>
                    <a:pt x="0" y="29"/>
                  </a:lnTo>
                  <a:lnTo>
                    <a:pt x="0" y="0"/>
                  </a:lnTo>
                  <a:close/>
                </a:path>
              </a:pathLst>
            </a:custGeom>
            <a:noFill/>
            <a:ln w="3175">
              <a:solidFill>
                <a:srgbClr val="000000"/>
              </a:solidFill>
              <a:round/>
              <a:headEnd/>
              <a:tailEnd/>
            </a:ln>
          </p:spPr>
          <p:txBody>
            <a:bodyPr/>
            <a:lstStyle/>
            <a:p>
              <a:endParaRPr lang="zh-CN" altLang="en-US"/>
            </a:p>
          </p:txBody>
        </p:sp>
        <p:sp>
          <p:nvSpPr>
            <p:cNvPr id="29727" name="Freeform 87"/>
            <p:cNvSpPr>
              <a:spLocks/>
            </p:cNvSpPr>
            <p:nvPr/>
          </p:nvSpPr>
          <p:spPr bwMode="auto">
            <a:xfrm>
              <a:off x="4330" y="2685"/>
              <a:ext cx="56" cy="14"/>
            </a:xfrm>
            <a:custGeom>
              <a:avLst/>
              <a:gdLst>
                <a:gd name="T0" fmla="*/ 0 w 113"/>
                <a:gd name="T1" fmla="*/ 0 h 29"/>
                <a:gd name="T2" fmla="*/ 28 w 113"/>
                <a:gd name="T3" fmla="*/ 0 h 29"/>
                <a:gd name="T4" fmla="*/ 28 w 113"/>
                <a:gd name="T5" fmla="*/ 7 h 29"/>
                <a:gd name="T6" fmla="*/ 0 w 113"/>
                <a:gd name="T7" fmla="*/ 7 h 29"/>
                <a:gd name="T8" fmla="*/ 0 w 113"/>
                <a:gd name="T9" fmla="*/ 0 h 29"/>
                <a:gd name="T10" fmla="*/ 0 w 113"/>
                <a:gd name="T11" fmla="*/ 0 h 29"/>
                <a:gd name="T12" fmla="*/ 0 60000 65536"/>
                <a:gd name="T13" fmla="*/ 0 60000 65536"/>
                <a:gd name="T14" fmla="*/ 0 60000 65536"/>
                <a:gd name="T15" fmla="*/ 0 60000 65536"/>
                <a:gd name="T16" fmla="*/ 0 60000 65536"/>
                <a:gd name="T17" fmla="*/ 0 60000 65536"/>
                <a:gd name="T18" fmla="*/ 0 w 113"/>
                <a:gd name="T19" fmla="*/ 0 h 29"/>
                <a:gd name="T20" fmla="*/ 113 w 113"/>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3" h="29">
                  <a:moveTo>
                    <a:pt x="0" y="0"/>
                  </a:moveTo>
                  <a:lnTo>
                    <a:pt x="113" y="0"/>
                  </a:lnTo>
                  <a:lnTo>
                    <a:pt x="113" y="29"/>
                  </a:lnTo>
                  <a:lnTo>
                    <a:pt x="0" y="29"/>
                  </a:lnTo>
                  <a:lnTo>
                    <a:pt x="0" y="0"/>
                  </a:lnTo>
                  <a:close/>
                </a:path>
              </a:pathLst>
            </a:custGeom>
            <a:noFill/>
            <a:ln w="3175">
              <a:solidFill>
                <a:srgbClr val="000000"/>
              </a:solidFill>
              <a:round/>
              <a:headEnd/>
              <a:tailEnd/>
            </a:ln>
          </p:spPr>
          <p:txBody>
            <a:bodyPr/>
            <a:lstStyle/>
            <a:p>
              <a:endParaRPr lang="zh-CN" altLang="en-US"/>
            </a:p>
          </p:txBody>
        </p:sp>
        <p:sp>
          <p:nvSpPr>
            <p:cNvPr id="29728" name="Freeform 88"/>
            <p:cNvSpPr>
              <a:spLocks/>
            </p:cNvSpPr>
            <p:nvPr/>
          </p:nvSpPr>
          <p:spPr bwMode="auto">
            <a:xfrm>
              <a:off x="4429" y="2685"/>
              <a:ext cx="56" cy="14"/>
            </a:xfrm>
            <a:custGeom>
              <a:avLst/>
              <a:gdLst>
                <a:gd name="T0" fmla="*/ 0 w 113"/>
                <a:gd name="T1" fmla="*/ 0 h 29"/>
                <a:gd name="T2" fmla="*/ 28 w 113"/>
                <a:gd name="T3" fmla="*/ 0 h 29"/>
                <a:gd name="T4" fmla="*/ 28 w 113"/>
                <a:gd name="T5" fmla="*/ 7 h 29"/>
                <a:gd name="T6" fmla="*/ 0 w 113"/>
                <a:gd name="T7" fmla="*/ 7 h 29"/>
                <a:gd name="T8" fmla="*/ 0 w 113"/>
                <a:gd name="T9" fmla="*/ 0 h 29"/>
                <a:gd name="T10" fmla="*/ 0 w 113"/>
                <a:gd name="T11" fmla="*/ 0 h 29"/>
                <a:gd name="T12" fmla="*/ 0 60000 65536"/>
                <a:gd name="T13" fmla="*/ 0 60000 65536"/>
                <a:gd name="T14" fmla="*/ 0 60000 65536"/>
                <a:gd name="T15" fmla="*/ 0 60000 65536"/>
                <a:gd name="T16" fmla="*/ 0 60000 65536"/>
                <a:gd name="T17" fmla="*/ 0 60000 65536"/>
                <a:gd name="T18" fmla="*/ 0 w 113"/>
                <a:gd name="T19" fmla="*/ 0 h 29"/>
                <a:gd name="T20" fmla="*/ 113 w 113"/>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3" h="29">
                  <a:moveTo>
                    <a:pt x="0" y="0"/>
                  </a:moveTo>
                  <a:lnTo>
                    <a:pt x="113" y="0"/>
                  </a:lnTo>
                  <a:lnTo>
                    <a:pt x="113" y="29"/>
                  </a:lnTo>
                  <a:lnTo>
                    <a:pt x="0" y="29"/>
                  </a:lnTo>
                  <a:lnTo>
                    <a:pt x="0" y="0"/>
                  </a:lnTo>
                  <a:close/>
                </a:path>
              </a:pathLst>
            </a:custGeom>
            <a:noFill/>
            <a:ln w="3175">
              <a:solidFill>
                <a:srgbClr val="000000"/>
              </a:solidFill>
              <a:round/>
              <a:headEnd/>
              <a:tailEnd/>
            </a:ln>
          </p:spPr>
          <p:txBody>
            <a:bodyPr/>
            <a:lstStyle/>
            <a:p>
              <a:endParaRPr lang="zh-CN" altLang="en-US"/>
            </a:p>
          </p:txBody>
        </p:sp>
        <p:sp>
          <p:nvSpPr>
            <p:cNvPr id="29729" name="Freeform 89"/>
            <p:cNvSpPr>
              <a:spLocks/>
            </p:cNvSpPr>
            <p:nvPr/>
          </p:nvSpPr>
          <p:spPr bwMode="auto">
            <a:xfrm>
              <a:off x="4529" y="2685"/>
              <a:ext cx="56" cy="14"/>
            </a:xfrm>
            <a:custGeom>
              <a:avLst/>
              <a:gdLst>
                <a:gd name="T0" fmla="*/ 0 w 114"/>
                <a:gd name="T1" fmla="*/ 0 h 29"/>
                <a:gd name="T2" fmla="*/ 28 w 114"/>
                <a:gd name="T3" fmla="*/ 0 h 29"/>
                <a:gd name="T4" fmla="*/ 28 w 114"/>
                <a:gd name="T5" fmla="*/ 7 h 29"/>
                <a:gd name="T6" fmla="*/ 0 w 114"/>
                <a:gd name="T7" fmla="*/ 7 h 29"/>
                <a:gd name="T8" fmla="*/ 0 w 114"/>
                <a:gd name="T9" fmla="*/ 0 h 29"/>
                <a:gd name="T10" fmla="*/ 0 w 114"/>
                <a:gd name="T11" fmla="*/ 0 h 29"/>
                <a:gd name="T12" fmla="*/ 0 60000 65536"/>
                <a:gd name="T13" fmla="*/ 0 60000 65536"/>
                <a:gd name="T14" fmla="*/ 0 60000 65536"/>
                <a:gd name="T15" fmla="*/ 0 60000 65536"/>
                <a:gd name="T16" fmla="*/ 0 60000 65536"/>
                <a:gd name="T17" fmla="*/ 0 60000 65536"/>
                <a:gd name="T18" fmla="*/ 0 w 114"/>
                <a:gd name="T19" fmla="*/ 0 h 29"/>
                <a:gd name="T20" fmla="*/ 114 w 114"/>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4" h="29">
                  <a:moveTo>
                    <a:pt x="0" y="0"/>
                  </a:moveTo>
                  <a:lnTo>
                    <a:pt x="114" y="0"/>
                  </a:lnTo>
                  <a:lnTo>
                    <a:pt x="114" y="29"/>
                  </a:lnTo>
                  <a:lnTo>
                    <a:pt x="0" y="29"/>
                  </a:lnTo>
                  <a:lnTo>
                    <a:pt x="0" y="0"/>
                  </a:lnTo>
                  <a:close/>
                </a:path>
              </a:pathLst>
            </a:custGeom>
            <a:noFill/>
            <a:ln w="3175">
              <a:solidFill>
                <a:srgbClr val="000000"/>
              </a:solidFill>
              <a:round/>
              <a:headEnd/>
              <a:tailEnd/>
            </a:ln>
          </p:spPr>
          <p:txBody>
            <a:bodyPr/>
            <a:lstStyle/>
            <a:p>
              <a:endParaRPr lang="zh-CN" altLang="en-US"/>
            </a:p>
          </p:txBody>
        </p:sp>
        <p:sp>
          <p:nvSpPr>
            <p:cNvPr id="29730" name="Freeform 90"/>
            <p:cNvSpPr>
              <a:spLocks/>
            </p:cNvSpPr>
            <p:nvPr/>
          </p:nvSpPr>
          <p:spPr bwMode="auto">
            <a:xfrm>
              <a:off x="4628" y="2685"/>
              <a:ext cx="56" cy="14"/>
            </a:xfrm>
            <a:custGeom>
              <a:avLst/>
              <a:gdLst>
                <a:gd name="T0" fmla="*/ 0 w 114"/>
                <a:gd name="T1" fmla="*/ 0 h 29"/>
                <a:gd name="T2" fmla="*/ 28 w 114"/>
                <a:gd name="T3" fmla="*/ 0 h 29"/>
                <a:gd name="T4" fmla="*/ 28 w 114"/>
                <a:gd name="T5" fmla="*/ 7 h 29"/>
                <a:gd name="T6" fmla="*/ 0 w 114"/>
                <a:gd name="T7" fmla="*/ 7 h 29"/>
                <a:gd name="T8" fmla="*/ 0 w 114"/>
                <a:gd name="T9" fmla="*/ 0 h 29"/>
                <a:gd name="T10" fmla="*/ 0 w 114"/>
                <a:gd name="T11" fmla="*/ 0 h 29"/>
                <a:gd name="T12" fmla="*/ 0 60000 65536"/>
                <a:gd name="T13" fmla="*/ 0 60000 65536"/>
                <a:gd name="T14" fmla="*/ 0 60000 65536"/>
                <a:gd name="T15" fmla="*/ 0 60000 65536"/>
                <a:gd name="T16" fmla="*/ 0 60000 65536"/>
                <a:gd name="T17" fmla="*/ 0 60000 65536"/>
                <a:gd name="T18" fmla="*/ 0 w 114"/>
                <a:gd name="T19" fmla="*/ 0 h 29"/>
                <a:gd name="T20" fmla="*/ 114 w 114"/>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4" h="29">
                  <a:moveTo>
                    <a:pt x="0" y="0"/>
                  </a:moveTo>
                  <a:lnTo>
                    <a:pt x="114" y="0"/>
                  </a:lnTo>
                  <a:lnTo>
                    <a:pt x="114" y="29"/>
                  </a:lnTo>
                  <a:lnTo>
                    <a:pt x="0" y="29"/>
                  </a:lnTo>
                  <a:lnTo>
                    <a:pt x="0" y="0"/>
                  </a:lnTo>
                  <a:close/>
                </a:path>
              </a:pathLst>
            </a:custGeom>
            <a:noFill/>
            <a:ln w="3175">
              <a:solidFill>
                <a:srgbClr val="000000"/>
              </a:solidFill>
              <a:round/>
              <a:headEnd/>
              <a:tailEnd/>
            </a:ln>
          </p:spPr>
          <p:txBody>
            <a:bodyPr/>
            <a:lstStyle/>
            <a:p>
              <a:endParaRPr lang="zh-CN" altLang="en-US"/>
            </a:p>
          </p:txBody>
        </p:sp>
        <p:sp>
          <p:nvSpPr>
            <p:cNvPr id="29731" name="Freeform 91"/>
            <p:cNvSpPr>
              <a:spLocks/>
            </p:cNvSpPr>
            <p:nvPr/>
          </p:nvSpPr>
          <p:spPr bwMode="auto">
            <a:xfrm>
              <a:off x="4727" y="2685"/>
              <a:ext cx="57" cy="14"/>
            </a:xfrm>
            <a:custGeom>
              <a:avLst/>
              <a:gdLst>
                <a:gd name="T0" fmla="*/ 0 w 115"/>
                <a:gd name="T1" fmla="*/ 0 h 29"/>
                <a:gd name="T2" fmla="*/ 28 w 115"/>
                <a:gd name="T3" fmla="*/ 0 h 29"/>
                <a:gd name="T4" fmla="*/ 28 w 115"/>
                <a:gd name="T5" fmla="*/ 7 h 29"/>
                <a:gd name="T6" fmla="*/ 0 w 115"/>
                <a:gd name="T7" fmla="*/ 7 h 29"/>
                <a:gd name="T8" fmla="*/ 0 w 115"/>
                <a:gd name="T9" fmla="*/ 0 h 29"/>
                <a:gd name="T10" fmla="*/ 0 w 115"/>
                <a:gd name="T11" fmla="*/ 0 h 29"/>
                <a:gd name="T12" fmla="*/ 0 60000 65536"/>
                <a:gd name="T13" fmla="*/ 0 60000 65536"/>
                <a:gd name="T14" fmla="*/ 0 60000 65536"/>
                <a:gd name="T15" fmla="*/ 0 60000 65536"/>
                <a:gd name="T16" fmla="*/ 0 60000 65536"/>
                <a:gd name="T17" fmla="*/ 0 60000 65536"/>
                <a:gd name="T18" fmla="*/ 0 w 115"/>
                <a:gd name="T19" fmla="*/ 0 h 29"/>
                <a:gd name="T20" fmla="*/ 115 w 115"/>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5" h="29">
                  <a:moveTo>
                    <a:pt x="0" y="0"/>
                  </a:moveTo>
                  <a:lnTo>
                    <a:pt x="115" y="0"/>
                  </a:lnTo>
                  <a:lnTo>
                    <a:pt x="115" y="29"/>
                  </a:lnTo>
                  <a:lnTo>
                    <a:pt x="0" y="29"/>
                  </a:lnTo>
                  <a:lnTo>
                    <a:pt x="0" y="0"/>
                  </a:lnTo>
                  <a:close/>
                </a:path>
              </a:pathLst>
            </a:custGeom>
            <a:noFill/>
            <a:ln w="3175">
              <a:solidFill>
                <a:srgbClr val="000000"/>
              </a:solidFill>
              <a:round/>
              <a:headEnd/>
              <a:tailEnd/>
            </a:ln>
          </p:spPr>
          <p:txBody>
            <a:bodyPr/>
            <a:lstStyle/>
            <a:p>
              <a:endParaRPr lang="zh-CN" altLang="en-US"/>
            </a:p>
          </p:txBody>
        </p:sp>
        <p:sp>
          <p:nvSpPr>
            <p:cNvPr id="29732" name="Freeform 92"/>
            <p:cNvSpPr>
              <a:spLocks/>
            </p:cNvSpPr>
            <p:nvPr/>
          </p:nvSpPr>
          <p:spPr bwMode="auto">
            <a:xfrm>
              <a:off x="4646" y="1513"/>
              <a:ext cx="302" cy="303"/>
            </a:xfrm>
            <a:custGeom>
              <a:avLst/>
              <a:gdLst>
                <a:gd name="T0" fmla="*/ 91 w 605"/>
                <a:gd name="T1" fmla="*/ 60 h 605"/>
                <a:gd name="T2" fmla="*/ 76 w 605"/>
                <a:gd name="T3" fmla="*/ 45 h 605"/>
                <a:gd name="T4" fmla="*/ 61 w 605"/>
                <a:gd name="T5" fmla="*/ 32 h 605"/>
                <a:gd name="T6" fmla="*/ 54 w 605"/>
                <a:gd name="T7" fmla="*/ 27 h 605"/>
                <a:gd name="T8" fmla="*/ 47 w 605"/>
                <a:gd name="T9" fmla="*/ 22 h 605"/>
                <a:gd name="T10" fmla="*/ 41 w 605"/>
                <a:gd name="T11" fmla="*/ 17 h 605"/>
                <a:gd name="T12" fmla="*/ 34 w 605"/>
                <a:gd name="T13" fmla="*/ 13 h 605"/>
                <a:gd name="T14" fmla="*/ 28 w 605"/>
                <a:gd name="T15" fmla="*/ 9 h 605"/>
                <a:gd name="T16" fmla="*/ 23 w 605"/>
                <a:gd name="T17" fmla="*/ 6 h 605"/>
                <a:gd name="T18" fmla="*/ 18 w 605"/>
                <a:gd name="T19" fmla="*/ 4 h 605"/>
                <a:gd name="T20" fmla="*/ 13 w 605"/>
                <a:gd name="T21" fmla="*/ 2 h 605"/>
                <a:gd name="T22" fmla="*/ 10 w 605"/>
                <a:gd name="T23" fmla="*/ 1 h 605"/>
                <a:gd name="T24" fmla="*/ 6 w 605"/>
                <a:gd name="T25" fmla="*/ 0 h 605"/>
                <a:gd name="T26" fmla="*/ 3 w 605"/>
                <a:gd name="T27" fmla="*/ 1 h 605"/>
                <a:gd name="T28" fmla="*/ 1 w 605"/>
                <a:gd name="T29" fmla="*/ 2 h 605"/>
                <a:gd name="T30" fmla="*/ 0 w 605"/>
                <a:gd name="T31" fmla="*/ 5 h 605"/>
                <a:gd name="T32" fmla="*/ 0 w 605"/>
                <a:gd name="T33" fmla="*/ 7 h 605"/>
                <a:gd name="T34" fmla="*/ 0 w 605"/>
                <a:gd name="T35" fmla="*/ 11 h 605"/>
                <a:gd name="T36" fmla="*/ 1 w 605"/>
                <a:gd name="T37" fmla="*/ 14 h 605"/>
                <a:gd name="T38" fmla="*/ 3 w 605"/>
                <a:gd name="T39" fmla="*/ 19 h 605"/>
                <a:gd name="T40" fmla="*/ 5 w 605"/>
                <a:gd name="T41" fmla="*/ 24 h 605"/>
                <a:gd name="T42" fmla="*/ 8 w 605"/>
                <a:gd name="T43" fmla="*/ 30 h 605"/>
                <a:gd name="T44" fmla="*/ 11 w 605"/>
                <a:gd name="T45" fmla="*/ 36 h 605"/>
                <a:gd name="T46" fmla="*/ 16 w 605"/>
                <a:gd name="T47" fmla="*/ 42 h 605"/>
                <a:gd name="T48" fmla="*/ 20 w 605"/>
                <a:gd name="T49" fmla="*/ 48 h 605"/>
                <a:gd name="T50" fmla="*/ 26 w 605"/>
                <a:gd name="T51" fmla="*/ 55 h 605"/>
                <a:gd name="T52" fmla="*/ 31 w 605"/>
                <a:gd name="T53" fmla="*/ 63 h 605"/>
                <a:gd name="T54" fmla="*/ 44 w 605"/>
                <a:gd name="T55" fmla="*/ 77 h 605"/>
                <a:gd name="T56" fmla="*/ 59 w 605"/>
                <a:gd name="T57" fmla="*/ 92 h 605"/>
                <a:gd name="T58" fmla="*/ 74 w 605"/>
                <a:gd name="T59" fmla="*/ 107 h 605"/>
                <a:gd name="T60" fmla="*/ 89 w 605"/>
                <a:gd name="T61" fmla="*/ 120 h 605"/>
                <a:gd name="T62" fmla="*/ 96 w 605"/>
                <a:gd name="T63" fmla="*/ 126 h 605"/>
                <a:gd name="T64" fmla="*/ 103 w 605"/>
                <a:gd name="T65" fmla="*/ 131 h 605"/>
                <a:gd name="T66" fmla="*/ 109 w 605"/>
                <a:gd name="T67" fmla="*/ 136 h 605"/>
                <a:gd name="T68" fmla="*/ 116 w 605"/>
                <a:gd name="T69" fmla="*/ 140 h 605"/>
                <a:gd name="T70" fmla="*/ 122 w 605"/>
                <a:gd name="T71" fmla="*/ 143 h 605"/>
                <a:gd name="T72" fmla="*/ 127 w 605"/>
                <a:gd name="T73" fmla="*/ 147 h 605"/>
                <a:gd name="T74" fmla="*/ 133 w 605"/>
                <a:gd name="T75" fmla="*/ 149 h 605"/>
                <a:gd name="T76" fmla="*/ 137 w 605"/>
                <a:gd name="T77" fmla="*/ 150 h 605"/>
                <a:gd name="T78" fmla="*/ 141 w 605"/>
                <a:gd name="T79" fmla="*/ 151 h 605"/>
                <a:gd name="T80" fmla="*/ 144 w 605"/>
                <a:gd name="T81" fmla="*/ 152 h 605"/>
                <a:gd name="T82" fmla="*/ 147 w 605"/>
                <a:gd name="T83" fmla="*/ 151 h 605"/>
                <a:gd name="T84" fmla="*/ 149 w 605"/>
                <a:gd name="T85" fmla="*/ 150 h 605"/>
                <a:gd name="T86" fmla="*/ 151 w 605"/>
                <a:gd name="T87" fmla="*/ 148 h 605"/>
                <a:gd name="T88" fmla="*/ 151 w 605"/>
                <a:gd name="T89" fmla="*/ 145 h 605"/>
                <a:gd name="T90" fmla="*/ 151 w 605"/>
                <a:gd name="T91" fmla="*/ 142 h 605"/>
                <a:gd name="T92" fmla="*/ 150 w 605"/>
                <a:gd name="T93" fmla="*/ 138 h 605"/>
                <a:gd name="T94" fmla="*/ 148 w 605"/>
                <a:gd name="T95" fmla="*/ 133 h 605"/>
                <a:gd name="T96" fmla="*/ 145 w 605"/>
                <a:gd name="T97" fmla="*/ 128 h 605"/>
                <a:gd name="T98" fmla="*/ 142 w 605"/>
                <a:gd name="T99" fmla="*/ 123 h 605"/>
                <a:gd name="T100" fmla="*/ 139 w 605"/>
                <a:gd name="T101" fmla="*/ 117 h 605"/>
                <a:gd name="T102" fmla="*/ 134 w 605"/>
                <a:gd name="T103" fmla="*/ 111 h 605"/>
                <a:gd name="T104" fmla="*/ 130 w 605"/>
                <a:gd name="T105" fmla="*/ 104 h 605"/>
                <a:gd name="T106" fmla="*/ 125 w 605"/>
                <a:gd name="T107" fmla="*/ 97 h 605"/>
                <a:gd name="T108" fmla="*/ 119 w 605"/>
                <a:gd name="T109" fmla="*/ 90 h 605"/>
                <a:gd name="T110" fmla="*/ 106 w 605"/>
                <a:gd name="T111" fmla="*/ 75 h 605"/>
                <a:gd name="T112" fmla="*/ 91 w 605"/>
                <a:gd name="T113" fmla="*/ 60 h 605"/>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605"/>
                <a:gd name="T172" fmla="*/ 0 h 605"/>
                <a:gd name="T173" fmla="*/ 605 w 605"/>
                <a:gd name="T174" fmla="*/ 605 h 605"/>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605" h="605">
                  <a:moveTo>
                    <a:pt x="366" y="237"/>
                  </a:moveTo>
                  <a:lnTo>
                    <a:pt x="306" y="179"/>
                  </a:lnTo>
                  <a:lnTo>
                    <a:pt x="247" y="128"/>
                  </a:lnTo>
                  <a:lnTo>
                    <a:pt x="217" y="105"/>
                  </a:lnTo>
                  <a:lnTo>
                    <a:pt x="191" y="85"/>
                  </a:lnTo>
                  <a:lnTo>
                    <a:pt x="164" y="66"/>
                  </a:lnTo>
                  <a:lnTo>
                    <a:pt x="138" y="49"/>
                  </a:lnTo>
                  <a:lnTo>
                    <a:pt x="115" y="34"/>
                  </a:lnTo>
                  <a:lnTo>
                    <a:pt x="93" y="22"/>
                  </a:lnTo>
                  <a:lnTo>
                    <a:pt x="74" y="13"/>
                  </a:lnTo>
                  <a:lnTo>
                    <a:pt x="55" y="5"/>
                  </a:lnTo>
                  <a:lnTo>
                    <a:pt x="40" y="1"/>
                  </a:lnTo>
                  <a:lnTo>
                    <a:pt x="25" y="0"/>
                  </a:lnTo>
                  <a:lnTo>
                    <a:pt x="15" y="1"/>
                  </a:lnTo>
                  <a:lnTo>
                    <a:pt x="6" y="7"/>
                  </a:lnTo>
                  <a:lnTo>
                    <a:pt x="2" y="17"/>
                  </a:lnTo>
                  <a:lnTo>
                    <a:pt x="0" y="26"/>
                  </a:lnTo>
                  <a:lnTo>
                    <a:pt x="0" y="41"/>
                  </a:lnTo>
                  <a:lnTo>
                    <a:pt x="4" y="56"/>
                  </a:lnTo>
                  <a:lnTo>
                    <a:pt x="12" y="75"/>
                  </a:lnTo>
                  <a:lnTo>
                    <a:pt x="21" y="94"/>
                  </a:lnTo>
                  <a:lnTo>
                    <a:pt x="32" y="117"/>
                  </a:lnTo>
                  <a:lnTo>
                    <a:pt x="47" y="141"/>
                  </a:lnTo>
                  <a:lnTo>
                    <a:pt x="64" y="166"/>
                  </a:lnTo>
                  <a:lnTo>
                    <a:pt x="83" y="192"/>
                  </a:lnTo>
                  <a:lnTo>
                    <a:pt x="104" y="220"/>
                  </a:lnTo>
                  <a:lnTo>
                    <a:pt x="127" y="249"/>
                  </a:lnTo>
                  <a:lnTo>
                    <a:pt x="179" y="307"/>
                  </a:lnTo>
                  <a:lnTo>
                    <a:pt x="238" y="368"/>
                  </a:lnTo>
                  <a:lnTo>
                    <a:pt x="298" y="426"/>
                  </a:lnTo>
                  <a:lnTo>
                    <a:pt x="358" y="479"/>
                  </a:lnTo>
                  <a:lnTo>
                    <a:pt x="387" y="502"/>
                  </a:lnTo>
                  <a:lnTo>
                    <a:pt x="413" y="522"/>
                  </a:lnTo>
                  <a:lnTo>
                    <a:pt x="439" y="541"/>
                  </a:lnTo>
                  <a:lnTo>
                    <a:pt x="466" y="558"/>
                  </a:lnTo>
                  <a:lnTo>
                    <a:pt x="489" y="571"/>
                  </a:lnTo>
                  <a:lnTo>
                    <a:pt x="511" y="585"/>
                  </a:lnTo>
                  <a:lnTo>
                    <a:pt x="532" y="594"/>
                  </a:lnTo>
                  <a:lnTo>
                    <a:pt x="549" y="600"/>
                  </a:lnTo>
                  <a:lnTo>
                    <a:pt x="566" y="604"/>
                  </a:lnTo>
                  <a:lnTo>
                    <a:pt x="579" y="605"/>
                  </a:lnTo>
                  <a:lnTo>
                    <a:pt x="590" y="604"/>
                  </a:lnTo>
                  <a:lnTo>
                    <a:pt x="598" y="598"/>
                  </a:lnTo>
                  <a:lnTo>
                    <a:pt x="604" y="590"/>
                  </a:lnTo>
                  <a:lnTo>
                    <a:pt x="605" y="579"/>
                  </a:lnTo>
                  <a:lnTo>
                    <a:pt x="604" y="566"/>
                  </a:lnTo>
                  <a:lnTo>
                    <a:pt x="600" y="549"/>
                  </a:lnTo>
                  <a:lnTo>
                    <a:pt x="592" y="532"/>
                  </a:lnTo>
                  <a:lnTo>
                    <a:pt x="583" y="511"/>
                  </a:lnTo>
                  <a:lnTo>
                    <a:pt x="571" y="490"/>
                  </a:lnTo>
                  <a:lnTo>
                    <a:pt x="556" y="466"/>
                  </a:lnTo>
                  <a:lnTo>
                    <a:pt x="539" y="441"/>
                  </a:lnTo>
                  <a:lnTo>
                    <a:pt x="521" y="415"/>
                  </a:lnTo>
                  <a:lnTo>
                    <a:pt x="500" y="386"/>
                  </a:lnTo>
                  <a:lnTo>
                    <a:pt x="477" y="358"/>
                  </a:lnTo>
                  <a:lnTo>
                    <a:pt x="424" y="298"/>
                  </a:lnTo>
                  <a:lnTo>
                    <a:pt x="366" y="237"/>
                  </a:lnTo>
                </a:path>
              </a:pathLst>
            </a:custGeom>
            <a:noFill/>
            <a:ln w="22225">
              <a:solidFill>
                <a:srgbClr val="000000"/>
              </a:solidFill>
              <a:round/>
              <a:headEnd/>
              <a:tailEnd/>
            </a:ln>
          </p:spPr>
          <p:txBody>
            <a:bodyPr/>
            <a:lstStyle/>
            <a:p>
              <a:endParaRPr lang="zh-CN" altLang="en-US"/>
            </a:p>
          </p:txBody>
        </p:sp>
        <p:sp>
          <p:nvSpPr>
            <p:cNvPr id="29733" name="Line 93"/>
            <p:cNvSpPr>
              <a:spLocks noChangeShapeType="1"/>
            </p:cNvSpPr>
            <p:nvPr/>
          </p:nvSpPr>
          <p:spPr bwMode="auto">
            <a:xfrm flipV="1">
              <a:off x="3965" y="1428"/>
              <a:ext cx="1077" cy="1027"/>
            </a:xfrm>
            <a:prstGeom prst="line">
              <a:avLst/>
            </a:prstGeom>
            <a:noFill/>
            <a:ln w="22225">
              <a:solidFill>
                <a:srgbClr val="000000"/>
              </a:solidFill>
              <a:round/>
              <a:headEnd/>
              <a:tailEnd/>
            </a:ln>
          </p:spPr>
          <p:txBody>
            <a:bodyPr/>
            <a:lstStyle/>
            <a:p>
              <a:endParaRPr lang="zh-CN" altLang="en-US"/>
            </a:p>
          </p:txBody>
        </p:sp>
        <p:sp>
          <p:nvSpPr>
            <p:cNvPr id="29734" name="Freeform 94"/>
            <p:cNvSpPr>
              <a:spLocks noEditPoints="1"/>
            </p:cNvSpPr>
            <p:nvPr/>
          </p:nvSpPr>
          <p:spPr bwMode="auto">
            <a:xfrm>
              <a:off x="3952" y="1723"/>
              <a:ext cx="14" cy="955"/>
            </a:xfrm>
            <a:custGeom>
              <a:avLst/>
              <a:gdLst>
                <a:gd name="T0" fmla="*/ 7 w 28"/>
                <a:gd name="T1" fmla="*/ 0 h 1909"/>
                <a:gd name="T2" fmla="*/ 7 w 28"/>
                <a:gd name="T3" fmla="*/ 29 h 1909"/>
                <a:gd name="T4" fmla="*/ 0 w 28"/>
                <a:gd name="T5" fmla="*/ 29 h 1909"/>
                <a:gd name="T6" fmla="*/ 0 w 28"/>
                <a:gd name="T7" fmla="*/ 0 h 1909"/>
                <a:gd name="T8" fmla="*/ 7 w 28"/>
                <a:gd name="T9" fmla="*/ 0 h 1909"/>
                <a:gd name="T10" fmla="*/ 7 w 28"/>
                <a:gd name="T11" fmla="*/ 0 h 1909"/>
                <a:gd name="T12" fmla="*/ 7 w 28"/>
                <a:gd name="T13" fmla="*/ 50 h 1909"/>
                <a:gd name="T14" fmla="*/ 7 w 28"/>
                <a:gd name="T15" fmla="*/ 79 h 1909"/>
                <a:gd name="T16" fmla="*/ 0 w 28"/>
                <a:gd name="T17" fmla="*/ 79 h 1909"/>
                <a:gd name="T18" fmla="*/ 0 w 28"/>
                <a:gd name="T19" fmla="*/ 50 h 1909"/>
                <a:gd name="T20" fmla="*/ 7 w 28"/>
                <a:gd name="T21" fmla="*/ 50 h 1909"/>
                <a:gd name="T22" fmla="*/ 7 w 28"/>
                <a:gd name="T23" fmla="*/ 50 h 1909"/>
                <a:gd name="T24" fmla="*/ 7 w 28"/>
                <a:gd name="T25" fmla="*/ 100 h 1909"/>
                <a:gd name="T26" fmla="*/ 7 w 28"/>
                <a:gd name="T27" fmla="*/ 129 h 1909"/>
                <a:gd name="T28" fmla="*/ 0 w 28"/>
                <a:gd name="T29" fmla="*/ 129 h 1909"/>
                <a:gd name="T30" fmla="*/ 0 w 28"/>
                <a:gd name="T31" fmla="*/ 100 h 1909"/>
                <a:gd name="T32" fmla="*/ 7 w 28"/>
                <a:gd name="T33" fmla="*/ 100 h 1909"/>
                <a:gd name="T34" fmla="*/ 7 w 28"/>
                <a:gd name="T35" fmla="*/ 100 h 1909"/>
                <a:gd name="T36" fmla="*/ 7 w 28"/>
                <a:gd name="T37" fmla="*/ 150 h 1909"/>
                <a:gd name="T38" fmla="*/ 7 w 28"/>
                <a:gd name="T39" fmla="*/ 179 h 1909"/>
                <a:gd name="T40" fmla="*/ 0 w 28"/>
                <a:gd name="T41" fmla="*/ 179 h 1909"/>
                <a:gd name="T42" fmla="*/ 0 w 28"/>
                <a:gd name="T43" fmla="*/ 150 h 1909"/>
                <a:gd name="T44" fmla="*/ 7 w 28"/>
                <a:gd name="T45" fmla="*/ 150 h 1909"/>
                <a:gd name="T46" fmla="*/ 7 w 28"/>
                <a:gd name="T47" fmla="*/ 150 h 1909"/>
                <a:gd name="T48" fmla="*/ 7 w 28"/>
                <a:gd name="T49" fmla="*/ 200 h 1909"/>
                <a:gd name="T50" fmla="*/ 7 w 28"/>
                <a:gd name="T51" fmla="*/ 228 h 1909"/>
                <a:gd name="T52" fmla="*/ 0 w 28"/>
                <a:gd name="T53" fmla="*/ 228 h 1909"/>
                <a:gd name="T54" fmla="*/ 0 w 28"/>
                <a:gd name="T55" fmla="*/ 200 h 1909"/>
                <a:gd name="T56" fmla="*/ 7 w 28"/>
                <a:gd name="T57" fmla="*/ 200 h 1909"/>
                <a:gd name="T58" fmla="*/ 7 w 28"/>
                <a:gd name="T59" fmla="*/ 200 h 1909"/>
                <a:gd name="T60" fmla="*/ 7 w 28"/>
                <a:gd name="T61" fmla="*/ 250 h 1909"/>
                <a:gd name="T62" fmla="*/ 7 w 28"/>
                <a:gd name="T63" fmla="*/ 278 h 1909"/>
                <a:gd name="T64" fmla="*/ 0 w 28"/>
                <a:gd name="T65" fmla="*/ 278 h 1909"/>
                <a:gd name="T66" fmla="*/ 0 w 28"/>
                <a:gd name="T67" fmla="*/ 250 h 1909"/>
                <a:gd name="T68" fmla="*/ 7 w 28"/>
                <a:gd name="T69" fmla="*/ 250 h 1909"/>
                <a:gd name="T70" fmla="*/ 7 w 28"/>
                <a:gd name="T71" fmla="*/ 250 h 1909"/>
                <a:gd name="T72" fmla="*/ 7 w 28"/>
                <a:gd name="T73" fmla="*/ 300 h 1909"/>
                <a:gd name="T74" fmla="*/ 7 w 28"/>
                <a:gd name="T75" fmla="*/ 328 h 1909"/>
                <a:gd name="T76" fmla="*/ 0 w 28"/>
                <a:gd name="T77" fmla="*/ 328 h 1909"/>
                <a:gd name="T78" fmla="*/ 0 w 28"/>
                <a:gd name="T79" fmla="*/ 300 h 1909"/>
                <a:gd name="T80" fmla="*/ 7 w 28"/>
                <a:gd name="T81" fmla="*/ 300 h 1909"/>
                <a:gd name="T82" fmla="*/ 7 w 28"/>
                <a:gd name="T83" fmla="*/ 300 h 1909"/>
                <a:gd name="T84" fmla="*/ 7 w 28"/>
                <a:gd name="T85" fmla="*/ 349 h 1909"/>
                <a:gd name="T86" fmla="*/ 7 w 28"/>
                <a:gd name="T87" fmla="*/ 378 h 1909"/>
                <a:gd name="T88" fmla="*/ 0 w 28"/>
                <a:gd name="T89" fmla="*/ 378 h 1909"/>
                <a:gd name="T90" fmla="*/ 0 w 28"/>
                <a:gd name="T91" fmla="*/ 349 h 1909"/>
                <a:gd name="T92" fmla="*/ 7 w 28"/>
                <a:gd name="T93" fmla="*/ 349 h 1909"/>
                <a:gd name="T94" fmla="*/ 7 w 28"/>
                <a:gd name="T95" fmla="*/ 349 h 1909"/>
                <a:gd name="T96" fmla="*/ 7 w 28"/>
                <a:gd name="T97" fmla="*/ 399 h 1909"/>
                <a:gd name="T98" fmla="*/ 7 w 28"/>
                <a:gd name="T99" fmla="*/ 428 h 1909"/>
                <a:gd name="T100" fmla="*/ 0 w 28"/>
                <a:gd name="T101" fmla="*/ 428 h 1909"/>
                <a:gd name="T102" fmla="*/ 0 w 28"/>
                <a:gd name="T103" fmla="*/ 399 h 1909"/>
                <a:gd name="T104" fmla="*/ 7 w 28"/>
                <a:gd name="T105" fmla="*/ 399 h 1909"/>
                <a:gd name="T106" fmla="*/ 7 w 28"/>
                <a:gd name="T107" fmla="*/ 399 h 1909"/>
                <a:gd name="T108" fmla="*/ 7 w 28"/>
                <a:gd name="T109" fmla="*/ 449 h 1909"/>
                <a:gd name="T110" fmla="*/ 7 w 28"/>
                <a:gd name="T111" fmla="*/ 478 h 1909"/>
                <a:gd name="T112" fmla="*/ 0 w 28"/>
                <a:gd name="T113" fmla="*/ 478 h 1909"/>
                <a:gd name="T114" fmla="*/ 0 w 28"/>
                <a:gd name="T115" fmla="*/ 449 h 1909"/>
                <a:gd name="T116" fmla="*/ 7 w 28"/>
                <a:gd name="T117" fmla="*/ 449 h 1909"/>
                <a:gd name="T118" fmla="*/ 7 w 28"/>
                <a:gd name="T119" fmla="*/ 449 h 190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8"/>
                <a:gd name="T181" fmla="*/ 0 h 1909"/>
                <a:gd name="T182" fmla="*/ 28 w 28"/>
                <a:gd name="T183" fmla="*/ 1909 h 1909"/>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8" h="1909">
                  <a:moveTo>
                    <a:pt x="28" y="0"/>
                  </a:moveTo>
                  <a:lnTo>
                    <a:pt x="28" y="113"/>
                  </a:lnTo>
                  <a:lnTo>
                    <a:pt x="0" y="113"/>
                  </a:lnTo>
                  <a:lnTo>
                    <a:pt x="0" y="0"/>
                  </a:lnTo>
                  <a:lnTo>
                    <a:pt x="28" y="0"/>
                  </a:lnTo>
                  <a:close/>
                  <a:moveTo>
                    <a:pt x="28" y="200"/>
                  </a:moveTo>
                  <a:lnTo>
                    <a:pt x="28" y="313"/>
                  </a:lnTo>
                  <a:lnTo>
                    <a:pt x="0" y="313"/>
                  </a:lnTo>
                  <a:lnTo>
                    <a:pt x="0" y="200"/>
                  </a:lnTo>
                  <a:lnTo>
                    <a:pt x="28" y="200"/>
                  </a:lnTo>
                  <a:close/>
                  <a:moveTo>
                    <a:pt x="28" y="398"/>
                  </a:moveTo>
                  <a:lnTo>
                    <a:pt x="28" y="513"/>
                  </a:lnTo>
                  <a:lnTo>
                    <a:pt x="0" y="513"/>
                  </a:lnTo>
                  <a:lnTo>
                    <a:pt x="0" y="398"/>
                  </a:lnTo>
                  <a:lnTo>
                    <a:pt x="28" y="398"/>
                  </a:lnTo>
                  <a:close/>
                  <a:moveTo>
                    <a:pt x="28" y="598"/>
                  </a:moveTo>
                  <a:lnTo>
                    <a:pt x="28" y="713"/>
                  </a:lnTo>
                  <a:lnTo>
                    <a:pt x="0" y="713"/>
                  </a:lnTo>
                  <a:lnTo>
                    <a:pt x="0" y="598"/>
                  </a:lnTo>
                  <a:lnTo>
                    <a:pt x="28" y="598"/>
                  </a:lnTo>
                  <a:close/>
                  <a:moveTo>
                    <a:pt x="28" y="798"/>
                  </a:moveTo>
                  <a:lnTo>
                    <a:pt x="28" y="911"/>
                  </a:lnTo>
                  <a:lnTo>
                    <a:pt x="0" y="911"/>
                  </a:lnTo>
                  <a:lnTo>
                    <a:pt x="0" y="798"/>
                  </a:lnTo>
                  <a:lnTo>
                    <a:pt x="28" y="798"/>
                  </a:lnTo>
                  <a:close/>
                  <a:moveTo>
                    <a:pt x="28" y="998"/>
                  </a:moveTo>
                  <a:lnTo>
                    <a:pt x="28" y="1111"/>
                  </a:lnTo>
                  <a:lnTo>
                    <a:pt x="0" y="1111"/>
                  </a:lnTo>
                  <a:lnTo>
                    <a:pt x="0" y="998"/>
                  </a:lnTo>
                  <a:lnTo>
                    <a:pt x="28" y="998"/>
                  </a:lnTo>
                  <a:close/>
                  <a:moveTo>
                    <a:pt x="28" y="1198"/>
                  </a:moveTo>
                  <a:lnTo>
                    <a:pt x="28" y="1311"/>
                  </a:lnTo>
                  <a:lnTo>
                    <a:pt x="0" y="1311"/>
                  </a:lnTo>
                  <a:lnTo>
                    <a:pt x="0" y="1198"/>
                  </a:lnTo>
                  <a:lnTo>
                    <a:pt x="28" y="1198"/>
                  </a:lnTo>
                  <a:close/>
                  <a:moveTo>
                    <a:pt x="28" y="1396"/>
                  </a:moveTo>
                  <a:lnTo>
                    <a:pt x="28" y="1511"/>
                  </a:lnTo>
                  <a:lnTo>
                    <a:pt x="0" y="1511"/>
                  </a:lnTo>
                  <a:lnTo>
                    <a:pt x="0" y="1396"/>
                  </a:lnTo>
                  <a:lnTo>
                    <a:pt x="28" y="1396"/>
                  </a:lnTo>
                  <a:close/>
                  <a:moveTo>
                    <a:pt x="28" y="1596"/>
                  </a:moveTo>
                  <a:lnTo>
                    <a:pt x="28" y="1709"/>
                  </a:lnTo>
                  <a:lnTo>
                    <a:pt x="0" y="1709"/>
                  </a:lnTo>
                  <a:lnTo>
                    <a:pt x="0" y="1596"/>
                  </a:lnTo>
                  <a:lnTo>
                    <a:pt x="28" y="1596"/>
                  </a:lnTo>
                  <a:close/>
                  <a:moveTo>
                    <a:pt x="28" y="1796"/>
                  </a:moveTo>
                  <a:lnTo>
                    <a:pt x="28" y="1909"/>
                  </a:lnTo>
                  <a:lnTo>
                    <a:pt x="0" y="1909"/>
                  </a:lnTo>
                  <a:lnTo>
                    <a:pt x="0" y="1796"/>
                  </a:lnTo>
                  <a:lnTo>
                    <a:pt x="28" y="1796"/>
                  </a:lnTo>
                  <a:close/>
                </a:path>
              </a:pathLst>
            </a:custGeom>
            <a:solidFill>
              <a:srgbClr val="000000"/>
            </a:solidFill>
            <a:ln w="9525">
              <a:noFill/>
              <a:round/>
              <a:headEnd/>
              <a:tailEnd/>
            </a:ln>
          </p:spPr>
          <p:txBody>
            <a:bodyPr/>
            <a:lstStyle/>
            <a:p>
              <a:endParaRPr lang="zh-CN" altLang="en-US"/>
            </a:p>
          </p:txBody>
        </p:sp>
        <p:sp>
          <p:nvSpPr>
            <p:cNvPr id="29735" name="Freeform 95"/>
            <p:cNvSpPr>
              <a:spLocks/>
            </p:cNvSpPr>
            <p:nvPr/>
          </p:nvSpPr>
          <p:spPr bwMode="auto">
            <a:xfrm>
              <a:off x="3952" y="1723"/>
              <a:ext cx="14" cy="56"/>
            </a:xfrm>
            <a:custGeom>
              <a:avLst/>
              <a:gdLst>
                <a:gd name="T0" fmla="*/ 7 w 28"/>
                <a:gd name="T1" fmla="*/ 0 h 113"/>
                <a:gd name="T2" fmla="*/ 7 w 28"/>
                <a:gd name="T3" fmla="*/ 28 h 113"/>
                <a:gd name="T4" fmla="*/ 0 w 28"/>
                <a:gd name="T5" fmla="*/ 28 h 113"/>
                <a:gd name="T6" fmla="*/ 0 w 28"/>
                <a:gd name="T7" fmla="*/ 0 h 113"/>
                <a:gd name="T8" fmla="*/ 7 w 28"/>
                <a:gd name="T9" fmla="*/ 0 h 113"/>
                <a:gd name="T10" fmla="*/ 7 w 28"/>
                <a:gd name="T11" fmla="*/ 0 h 113"/>
                <a:gd name="T12" fmla="*/ 0 60000 65536"/>
                <a:gd name="T13" fmla="*/ 0 60000 65536"/>
                <a:gd name="T14" fmla="*/ 0 60000 65536"/>
                <a:gd name="T15" fmla="*/ 0 60000 65536"/>
                <a:gd name="T16" fmla="*/ 0 60000 65536"/>
                <a:gd name="T17" fmla="*/ 0 60000 65536"/>
                <a:gd name="T18" fmla="*/ 0 w 28"/>
                <a:gd name="T19" fmla="*/ 0 h 113"/>
                <a:gd name="T20" fmla="*/ 28 w 28"/>
                <a:gd name="T21" fmla="*/ 113 h 113"/>
              </a:gdLst>
              <a:ahLst/>
              <a:cxnLst>
                <a:cxn ang="T12">
                  <a:pos x="T0" y="T1"/>
                </a:cxn>
                <a:cxn ang="T13">
                  <a:pos x="T2" y="T3"/>
                </a:cxn>
                <a:cxn ang="T14">
                  <a:pos x="T4" y="T5"/>
                </a:cxn>
                <a:cxn ang="T15">
                  <a:pos x="T6" y="T7"/>
                </a:cxn>
                <a:cxn ang="T16">
                  <a:pos x="T8" y="T9"/>
                </a:cxn>
                <a:cxn ang="T17">
                  <a:pos x="T10" y="T11"/>
                </a:cxn>
              </a:cxnLst>
              <a:rect l="T18" t="T19" r="T20" b="T21"/>
              <a:pathLst>
                <a:path w="28" h="113">
                  <a:moveTo>
                    <a:pt x="28" y="0"/>
                  </a:moveTo>
                  <a:lnTo>
                    <a:pt x="28" y="113"/>
                  </a:lnTo>
                  <a:lnTo>
                    <a:pt x="0" y="113"/>
                  </a:lnTo>
                  <a:lnTo>
                    <a:pt x="0" y="0"/>
                  </a:lnTo>
                  <a:lnTo>
                    <a:pt x="28" y="0"/>
                  </a:lnTo>
                  <a:close/>
                </a:path>
              </a:pathLst>
            </a:custGeom>
            <a:noFill/>
            <a:ln w="3175">
              <a:solidFill>
                <a:srgbClr val="000000"/>
              </a:solidFill>
              <a:round/>
              <a:headEnd/>
              <a:tailEnd/>
            </a:ln>
          </p:spPr>
          <p:txBody>
            <a:bodyPr/>
            <a:lstStyle/>
            <a:p>
              <a:endParaRPr lang="zh-CN" altLang="en-US"/>
            </a:p>
          </p:txBody>
        </p:sp>
        <p:sp>
          <p:nvSpPr>
            <p:cNvPr id="29736" name="Freeform 96"/>
            <p:cNvSpPr>
              <a:spLocks/>
            </p:cNvSpPr>
            <p:nvPr/>
          </p:nvSpPr>
          <p:spPr bwMode="auto">
            <a:xfrm>
              <a:off x="3952" y="1823"/>
              <a:ext cx="14" cy="56"/>
            </a:xfrm>
            <a:custGeom>
              <a:avLst/>
              <a:gdLst>
                <a:gd name="T0" fmla="*/ 7 w 28"/>
                <a:gd name="T1" fmla="*/ 0 h 113"/>
                <a:gd name="T2" fmla="*/ 7 w 28"/>
                <a:gd name="T3" fmla="*/ 28 h 113"/>
                <a:gd name="T4" fmla="*/ 0 w 28"/>
                <a:gd name="T5" fmla="*/ 28 h 113"/>
                <a:gd name="T6" fmla="*/ 0 w 28"/>
                <a:gd name="T7" fmla="*/ 0 h 113"/>
                <a:gd name="T8" fmla="*/ 7 w 28"/>
                <a:gd name="T9" fmla="*/ 0 h 113"/>
                <a:gd name="T10" fmla="*/ 7 w 28"/>
                <a:gd name="T11" fmla="*/ 0 h 113"/>
                <a:gd name="T12" fmla="*/ 0 60000 65536"/>
                <a:gd name="T13" fmla="*/ 0 60000 65536"/>
                <a:gd name="T14" fmla="*/ 0 60000 65536"/>
                <a:gd name="T15" fmla="*/ 0 60000 65536"/>
                <a:gd name="T16" fmla="*/ 0 60000 65536"/>
                <a:gd name="T17" fmla="*/ 0 60000 65536"/>
                <a:gd name="T18" fmla="*/ 0 w 28"/>
                <a:gd name="T19" fmla="*/ 0 h 113"/>
                <a:gd name="T20" fmla="*/ 28 w 28"/>
                <a:gd name="T21" fmla="*/ 113 h 113"/>
              </a:gdLst>
              <a:ahLst/>
              <a:cxnLst>
                <a:cxn ang="T12">
                  <a:pos x="T0" y="T1"/>
                </a:cxn>
                <a:cxn ang="T13">
                  <a:pos x="T2" y="T3"/>
                </a:cxn>
                <a:cxn ang="T14">
                  <a:pos x="T4" y="T5"/>
                </a:cxn>
                <a:cxn ang="T15">
                  <a:pos x="T6" y="T7"/>
                </a:cxn>
                <a:cxn ang="T16">
                  <a:pos x="T8" y="T9"/>
                </a:cxn>
                <a:cxn ang="T17">
                  <a:pos x="T10" y="T11"/>
                </a:cxn>
              </a:cxnLst>
              <a:rect l="T18" t="T19" r="T20" b="T21"/>
              <a:pathLst>
                <a:path w="28" h="113">
                  <a:moveTo>
                    <a:pt x="28" y="0"/>
                  </a:moveTo>
                  <a:lnTo>
                    <a:pt x="28" y="113"/>
                  </a:lnTo>
                  <a:lnTo>
                    <a:pt x="0" y="113"/>
                  </a:lnTo>
                  <a:lnTo>
                    <a:pt x="0" y="0"/>
                  </a:lnTo>
                  <a:lnTo>
                    <a:pt x="28" y="0"/>
                  </a:lnTo>
                  <a:close/>
                </a:path>
              </a:pathLst>
            </a:custGeom>
            <a:noFill/>
            <a:ln w="3175">
              <a:solidFill>
                <a:srgbClr val="000000"/>
              </a:solidFill>
              <a:round/>
              <a:headEnd/>
              <a:tailEnd/>
            </a:ln>
          </p:spPr>
          <p:txBody>
            <a:bodyPr/>
            <a:lstStyle/>
            <a:p>
              <a:endParaRPr lang="zh-CN" altLang="en-US"/>
            </a:p>
          </p:txBody>
        </p:sp>
        <p:sp>
          <p:nvSpPr>
            <p:cNvPr id="29737" name="Freeform 97"/>
            <p:cNvSpPr>
              <a:spLocks/>
            </p:cNvSpPr>
            <p:nvPr/>
          </p:nvSpPr>
          <p:spPr bwMode="auto">
            <a:xfrm>
              <a:off x="3952" y="1922"/>
              <a:ext cx="14" cy="57"/>
            </a:xfrm>
            <a:custGeom>
              <a:avLst/>
              <a:gdLst>
                <a:gd name="T0" fmla="*/ 7 w 28"/>
                <a:gd name="T1" fmla="*/ 0 h 115"/>
                <a:gd name="T2" fmla="*/ 7 w 28"/>
                <a:gd name="T3" fmla="*/ 28 h 115"/>
                <a:gd name="T4" fmla="*/ 0 w 28"/>
                <a:gd name="T5" fmla="*/ 28 h 115"/>
                <a:gd name="T6" fmla="*/ 0 w 28"/>
                <a:gd name="T7" fmla="*/ 0 h 115"/>
                <a:gd name="T8" fmla="*/ 7 w 28"/>
                <a:gd name="T9" fmla="*/ 0 h 115"/>
                <a:gd name="T10" fmla="*/ 7 w 28"/>
                <a:gd name="T11" fmla="*/ 0 h 115"/>
                <a:gd name="T12" fmla="*/ 0 60000 65536"/>
                <a:gd name="T13" fmla="*/ 0 60000 65536"/>
                <a:gd name="T14" fmla="*/ 0 60000 65536"/>
                <a:gd name="T15" fmla="*/ 0 60000 65536"/>
                <a:gd name="T16" fmla="*/ 0 60000 65536"/>
                <a:gd name="T17" fmla="*/ 0 60000 65536"/>
                <a:gd name="T18" fmla="*/ 0 w 28"/>
                <a:gd name="T19" fmla="*/ 0 h 115"/>
                <a:gd name="T20" fmla="*/ 28 w 28"/>
                <a:gd name="T21" fmla="*/ 115 h 115"/>
              </a:gdLst>
              <a:ahLst/>
              <a:cxnLst>
                <a:cxn ang="T12">
                  <a:pos x="T0" y="T1"/>
                </a:cxn>
                <a:cxn ang="T13">
                  <a:pos x="T2" y="T3"/>
                </a:cxn>
                <a:cxn ang="T14">
                  <a:pos x="T4" y="T5"/>
                </a:cxn>
                <a:cxn ang="T15">
                  <a:pos x="T6" y="T7"/>
                </a:cxn>
                <a:cxn ang="T16">
                  <a:pos x="T8" y="T9"/>
                </a:cxn>
                <a:cxn ang="T17">
                  <a:pos x="T10" y="T11"/>
                </a:cxn>
              </a:cxnLst>
              <a:rect l="T18" t="T19" r="T20" b="T21"/>
              <a:pathLst>
                <a:path w="28" h="115">
                  <a:moveTo>
                    <a:pt x="28" y="0"/>
                  </a:moveTo>
                  <a:lnTo>
                    <a:pt x="28" y="115"/>
                  </a:lnTo>
                  <a:lnTo>
                    <a:pt x="0" y="115"/>
                  </a:lnTo>
                  <a:lnTo>
                    <a:pt x="0" y="0"/>
                  </a:lnTo>
                  <a:lnTo>
                    <a:pt x="28" y="0"/>
                  </a:lnTo>
                  <a:close/>
                </a:path>
              </a:pathLst>
            </a:custGeom>
            <a:noFill/>
            <a:ln w="3175">
              <a:solidFill>
                <a:srgbClr val="000000"/>
              </a:solidFill>
              <a:round/>
              <a:headEnd/>
              <a:tailEnd/>
            </a:ln>
          </p:spPr>
          <p:txBody>
            <a:bodyPr/>
            <a:lstStyle/>
            <a:p>
              <a:endParaRPr lang="zh-CN" altLang="en-US"/>
            </a:p>
          </p:txBody>
        </p:sp>
        <p:sp>
          <p:nvSpPr>
            <p:cNvPr id="29738" name="Freeform 98"/>
            <p:cNvSpPr>
              <a:spLocks/>
            </p:cNvSpPr>
            <p:nvPr/>
          </p:nvSpPr>
          <p:spPr bwMode="auto">
            <a:xfrm>
              <a:off x="3952" y="2022"/>
              <a:ext cx="14" cy="57"/>
            </a:xfrm>
            <a:custGeom>
              <a:avLst/>
              <a:gdLst>
                <a:gd name="T0" fmla="*/ 7 w 28"/>
                <a:gd name="T1" fmla="*/ 0 h 115"/>
                <a:gd name="T2" fmla="*/ 7 w 28"/>
                <a:gd name="T3" fmla="*/ 28 h 115"/>
                <a:gd name="T4" fmla="*/ 0 w 28"/>
                <a:gd name="T5" fmla="*/ 28 h 115"/>
                <a:gd name="T6" fmla="*/ 0 w 28"/>
                <a:gd name="T7" fmla="*/ 0 h 115"/>
                <a:gd name="T8" fmla="*/ 7 w 28"/>
                <a:gd name="T9" fmla="*/ 0 h 115"/>
                <a:gd name="T10" fmla="*/ 7 w 28"/>
                <a:gd name="T11" fmla="*/ 0 h 115"/>
                <a:gd name="T12" fmla="*/ 0 60000 65536"/>
                <a:gd name="T13" fmla="*/ 0 60000 65536"/>
                <a:gd name="T14" fmla="*/ 0 60000 65536"/>
                <a:gd name="T15" fmla="*/ 0 60000 65536"/>
                <a:gd name="T16" fmla="*/ 0 60000 65536"/>
                <a:gd name="T17" fmla="*/ 0 60000 65536"/>
                <a:gd name="T18" fmla="*/ 0 w 28"/>
                <a:gd name="T19" fmla="*/ 0 h 115"/>
                <a:gd name="T20" fmla="*/ 28 w 28"/>
                <a:gd name="T21" fmla="*/ 115 h 115"/>
              </a:gdLst>
              <a:ahLst/>
              <a:cxnLst>
                <a:cxn ang="T12">
                  <a:pos x="T0" y="T1"/>
                </a:cxn>
                <a:cxn ang="T13">
                  <a:pos x="T2" y="T3"/>
                </a:cxn>
                <a:cxn ang="T14">
                  <a:pos x="T4" y="T5"/>
                </a:cxn>
                <a:cxn ang="T15">
                  <a:pos x="T6" y="T7"/>
                </a:cxn>
                <a:cxn ang="T16">
                  <a:pos x="T8" y="T9"/>
                </a:cxn>
                <a:cxn ang="T17">
                  <a:pos x="T10" y="T11"/>
                </a:cxn>
              </a:cxnLst>
              <a:rect l="T18" t="T19" r="T20" b="T21"/>
              <a:pathLst>
                <a:path w="28" h="115">
                  <a:moveTo>
                    <a:pt x="28" y="0"/>
                  </a:moveTo>
                  <a:lnTo>
                    <a:pt x="28" y="115"/>
                  </a:lnTo>
                  <a:lnTo>
                    <a:pt x="0" y="115"/>
                  </a:lnTo>
                  <a:lnTo>
                    <a:pt x="0" y="0"/>
                  </a:lnTo>
                  <a:lnTo>
                    <a:pt x="28" y="0"/>
                  </a:lnTo>
                  <a:close/>
                </a:path>
              </a:pathLst>
            </a:custGeom>
            <a:noFill/>
            <a:ln w="3175">
              <a:solidFill>
                <a:srgbClr val="000000"/>
              </a:solidFill>
              <a:round/>
              <a:headEnd/>
              <a:tailEnd/>
            </a:ln>
          </p:spPr>
          <p:txBody>
            <a:bodyPr/>
            <a:lstStyle/>
            <a:p>
              <a:endParaRPr lang="zh-CN" altLang="en-US"/>
            </a:p>
          </p:txBody>
        </p:sp>
        <p:sp>
          <p:nvSpPr>
            <p:cNvPr id="29739" name="Freeform 99"/>
            <p:cNvSpPr>
              <a:spLocks/>
            </p:cNvSpPr>
            <p:nvPr/>
          </p:nvSpPr>
          <p:spPr bwMode="auto">
            <a:xfrm>
              <a:off x="3952" y="2122"/>
              <a:ext cx="14" cy="57"/>
            </a:xfrm>
            <a:custGeom>
              <a:avLst/>
              <a:gdLst>
                <a:gd name="T0" fmla="*/ 7 w 28"/>
                <a:gd name="T1" fmla="*/ 0 h 113"/>
                <a:gd name="T2" fmla="*/ 7 w 28"/>
                <a:gd name="T3" fmla="*/ 29 h 113"/>
                <a:gd name="T4" fmla="*/ 0 w 28"/>
                <a:gd name="T5" fmla="*/ 29 h 113"/>
                <a:gd name="T6" fmla="*/ 0 w 28"/>
                <a:gd name="T7" fmla="*/ 0 h 113"/>
                <a:gd name="T8" fmla="*/ 7 w 28"/>
                <a:gd name="T9" fmla="*/ 0 h 113"/>
                <a:gd name="T10" fmla="*/ 7 w 28"/>
                <a:gd name="T11" fmla="*/ 0 h 113"/>
                <a:gd name="T12" fmla="*/ 0 60000 65536"/>
                <a:gd name="T13" fmla="*/ 0 60000 65536"/>
                <a:gd name="T14" fmla="*/ 0 60000 65536"/>
                <a:gd name="T15" fmla="*/ 0 60000 65536"/>
                <a:gd name="T16" fmla="*/ 0 60000 65536"/>
                <a:gd name="T17" fmla="*/ 0 60000 65536"/>
                <a:gd name="T18" fmla="*/ 0 w 28"/>
                <a:gd name="T19" fmla="*/ 0 h 113"/>
                <a:gd name="T20" fmla="*/ 28 w 28"/>
                <a:gd name="T21" fmla="*/ 113 h 113"/>
              </a:gdLst>
              <a:ahLst/>
              <a:cxnLst>
                <a:cxn ang="T12">
                  <a:pos x="T0" y="T1"/>
                </a:cxn>
                <a:cxn ang="T13">
                  <a:pos x="T2" y="T3"/>
                </a:cxn>
                <a:cxn ang="T14">
                  <a:pos x="T4" y="T5"/>
                </a:cxn>
                <a:cxn ang="T15">
                  <a:pos x="T6" y="T7"/>
                </a:cxn>
                <a:cxn ang="T16">
                  <a:pos x="T8" y="T9"/>
                </a:cxn>
                <a:cxn ang="T17">
                  <a:pos x="T10" y="T11"/>
                </a:cxn>
              </a:cxnLst>
              <a:rect l="T18" t="T19" r="T20" b="T21"/>
              <a:pathLst>
                <a:path w="28" h="113">
                  <a:moveTo>
                    <a:pt x="28" y="0"/>
                  </a:moveTo>
                  <a:lnTo>
                    <a:pt x="28" y="113"/>
                  </a:lnTo>
                  <a:lnTo>
                    <a:pt x="0" y="113"/>
                  </a:lnTo>
                  <a:lnTo>
                    <a:pt x="0" y="0"/>
                  </a:lnTo>
                  <a:lnTo>
                    <a:pt x="28" y="0"/>
                  </a:lnTo>
                  <a:close/>
                </a:path>
              </a:pathLst>
            </a:custGeom>
            <a:noFill/>
            <a:ln w="3175">
              <a:solidFill>
                <a:srgbClr val="000000"/>
              </a:solidFill>
              <a:round/>
              <a:headEnd/>
              <a:tailEnd/>
            </a:ln>
          </p:spPr>
          <p:txBody>
            <a:bodyPr/>
            <a:lstStyle/>
            <a:p>
              <a:endParaRPr lang="zh-CN" altLang="en-US"/>
            </a:p>
          </p:txBody>
        </p:sp>
        <p:sp>
          <p:nvSpPr>
            <p:cNvPr id="29740" name="Freeform 100"/>
            <p:cNvSpPr>
              <a:spLocks/>
            </p:cNvSpPr>
            <p:nvPr/>
          </p:nvSpPr>
          <p:spPr bwMode="auto">
            <a:xfrm>
              <a:off x="3952" y="2222"/>
              <a:ext cx="14" cy="57"/>
            </a:xfrm>
            <a:custGeom>
              <a:avLst/>
              <a:gdLst>
                <a:gd name="T0" fmla="*/ 7 w 28"/>
                <a:gd name="T1" fmla="*/ 0 h 113"/>
                <a:gd name="T2" fmla="*/ 7 w 28"/>
                <a:gd name="T3" fmla="*/ 29 h 113"/>
                <a:gd name="T4" fmla="*/ 0 w 28"/>
                <a:gd name="T5" fmla="*/ 29 h 113"/>
                <a:gd name="T6" fmla="*/ 0 w 28"/>
                <a:gd name="T7" fmla="*/ 0 h 113"/>
                <a:gd name="T8" fmla="*/ 7 w 28"/>
                <a:gd name="T9" fmla="*/ 0 h 113"/>
                <a:gd name="T10" fmla="*/ 7 w 28"/>
                <a:gd name="T11" fmla="*/ 0 h 113"/>
                <a:gd name="T12" fmla="*/ 0 60000 65536"/>
                <a:gd name="T13" fmla="*/ 0 60000 65536"/>
                <a:gd name="T14" fmla="*/ 0 60000 65536"/>
                <a:gd name="T15" fmla="*/ 0 60000 65536"/>
                <a:gd name="T16" fmla="*/ 0 60000 65536"/>
                <a:gd name="T17" fmla="*/ 0 60000 65536"/>
                <a:gd name="T18" fmla="*/ 0 w 28"/>
                <a:gd name="T19" fmla="*/ 0 h 113"/>
                <a:gd name="T20" fmla="*/ 28 w 28"/>
                <a:gd name="T21" fmla="*/ 113 h 113"/>
              </a:gdLst>
              <a:ahLst/>
              <a:cxnLst>
                <a:cxn ang="T12">
                  <a:pos x="T0" y="T1"/>
                </a:cxn>
                <a:cxn ang="T13">
                  <a:pos x="T2" y="T3"/>
                </a:cxn>
                <a:cxn ang="T14">
                  <a:pos x="T4" y="T5"/>
                </a:cxn>
                <a:cxn ang="T15">
                  <a:pos x="T6" y="T7"/>
                </a:cxn>
                <a:cxn ang="T16">
                  <a:pos x="T8" y="T9"/>
                </a:cxn>
                <a:cxn ang="T17">
                  <a:pos x="T10" y="T11"/>
                </a:cxn>
              </a:cxnLst>
              <a:rect l="T18" t="T19" r="T20" b="T21"/>
              <a:pathLst>
                <a:path w="28" h="113">
                  <a:moveTo>
                    <a:pt x="28" y="0"/>
                  </a:moveTo>
                  <a:lnTo>
                    <a:pt x="28" y="113"/>
                  </a:lnTo>
                  <a:lnTo>
                    <a:pt x="0" y="113"/>
                  </a:lnTo>
                  <a:lnTo>
                    <a:pt x="0" y="0"/>
                  </a:lnTo>
                  <a:lnTo>
                    <a:pt x="28" y="0"/>
                  </a:lnTo>
                  <a:close/>
                </a:path>
              </a:pathLst>
            </a:custGeom>
            <a:noFill/>
            <a:ln w="3175">
              <a:solidFill>
                <a:srgbClr val="000000"/>
              </a:solidFill>
              <a:round/>
              <a:headEnd/>
              <a:tailEnd/>
            </a:ln>
          </p:spPr>
          <p:txBody>
            <a:bodyPr/>
            <a:lstStyle/>
            <a:p>
              <a:endParaRPr lang="zh-CN" altLang="en-US"/>
            </a:p>
          </p:txBody>
        </p:sp>
        <p:sp>
          <p:nvSpPr>
            <p:cNvPr id="29741" name="Freeform 101"/>
            <p:cNvSpPr>
              <a:spLocks/>
            </p:cNvSpPr>
            <p:nvPr/>
          </p:nvSpPr>
          <p:spPr bwMode="auto">
            <a:xfrm>
              <a:off x="3952" y="2322"/>
              <a:ext cx="14" cy="57"/>
            </a:xfrm>
            <a:custGeom>
              <a:avLst/>
              <a:gdLst>
                <a:gd name="T0" fmla="*/ 7 w 28"/>
                <a:gd name="T1" fmla="*/ 0 h 113"/>
                <a:gd name="T2" fmla="*/ 7 w 28"/>
                <a:gd name="T3" fmla="*/ 29 h 113"/>
                <a:gd name="T4" fmla="*/ 0 w 28"/>
                <a:gd name="T5" fmla="*/ 29 h 113"/>
                <a:gd name="T6" fmla="*/ 0 w 28"/>
                <a:gd name="T7" fmla="*/ 0 h 113"/>
                <a:gd name="T8" fmla="*/ 7 w 28"/>
                <a:gd name="T9" fmla="*/ 0 h 113"/>
                <a:gd name="T10" fmla="*/ 7 w 28"/>
                <a:gd name="T11" fmla="*/ 0 h 113"/>
                <a:gd name="T12" fmla="*/ 0 60000 65536"/>
                <a:gd name="T13" fmla="*/ 0 60000 65536"/>
                <a:gd name="T14" fmla="*/ 0 60000 65536"/>
                <a:gd name="T15" fmla="*/ 0 60000 65536"/>
                <a:gd name="T16" fmla="*/ 0 60000 65536"/>
                <a:gd name="T17" fmla="*/ 0 60000 65536"/>
                <a:gd name="T18" fmla="*/ 0 w 28"/>
                <a:gd name="T19" fmla="*/ 0 h 113"/>
                <a:gd name="T20" fmla="*/ 28 w 28"/>
                <a:gd name="T21" fmla="*/ 113 h 113"/>
              </a:gdLst>
              <a:ahLst/>
              <a:cxnLst>
                <a:cxn ang="T12">
                  <a:pos x="T0" y="T1"/>
                </a:cxn>
                <a:cxn ang="T13">
                  <a:pos x="T2" y="T3"/>
                </a:cxn>
                <a:cxn ang="T14">
                  <a:pos x="T4" y="T5"/>
                </a:cxn>
                <a:cxn ang="T15">
                  <a:pos x="T6" y="T7"/>
                </a:cxn>
                <a:cxn ang="T16">
                  <a:pos x="T8" y="T9"/>
                </a:cxn>
                <a:cxn ang="T17">
                  <a:pos x="T10" y="T11"/>
                </a:cxn>
              </a:cxnLst>
              <a:rect l="T18" t="T19" r="T20" b="T21"/>
              <a:pathLst>
                <a:path w="28" h="113">
                  <a:moveTo>
                    <a:pt x="28" y="0"/>
                  </a:moveTo>
                  <a:lnTo>
                    <a:pt x="28" y="113"/>
                  </a:lnTo>
                  <a:lnTo>
                    <a:pt x="0" y="113"/>
                  </a:lnTo>
                  <a:lnTo>
                    <a:pt x="0" y="0"/>
                  </a:lnTo>
                  <a:lnTo>
                    <a:pt x="28" y="0"/>
                  </a:lnTo>
                  <a:close/>
                </a:path>
              </a:pathLst>
            </a:custGeom>
            <a:noFill/>
            <a:ln w="3175">
              <a:solidFill>
                <a:srgbClr val="000000"/>
              </a:solidFill>
              <a:round/>
              <a:headEnd/>
              <a:tailEnd/>
            </a:ln>
          </p:spPr>
          <p:txBody>
            <a:bodyPr/>
            <a:lstStyle/>
            <a:p>
              <a:endParaRPr lang="zh-CN" altLang="en-US"/>
            </a:p>
          </p:txBody>
        </p:sp>
        <p:sp>
          <p:nvSpPr>
            <p:cNvPr id="29742" name="Freeform 102"/>
            <p:cNvSpPr>
              <a:spLocks/>
            </p:cNvSpPr>
            <p:nvPr/>
          </p:nvSpPr>
          <p:spPr bwMode="auto">
            <a:xfrm>
              <a:off x="3952" y="2421"/>
              <a:ext cx="14" cy="58"/>
            </a:xfrm>
            <a:custGeom>
              <a:avLst/>
              <a:gdLst>
                <a:gd name="T0" fmla="*/ 7 w 28"/>
                <a:gd name="T1" fmla="*/ 0 h 115"/>
                <a:gd name="T2" fmla="*/ 7 w 28"/>
                <a:gd name="T3" fmla="*/ 29 h 115"/>
                <a:gd name="T4" fmla="*/ 0 w 28"/>
                <a:gd name="T5" fmla="*/ 29 h 115"/>
                <a:gd name="T6" fmla="*/ 0 w 28"/>
                <a:gd name="T7" fmla="*/ 0 h 115"/>
                <a:gd name="T8" fmla="*/ 7 w 28"/>
                <a:gd name="T9" fmla="*/ 0 h 115"/>
                <a:gd name="T10" fmla="*/ 7 w 28"/>
                <a:gd name="T11" fmla="*/ 0 h 115"/>
                <a:gd name="T12" fmla="*/ 0 60000 65536"/>
                <a:gd name="T13" fmla="*/ 0 60000 65536"/>
                <a:gd name="T14" fmla="*/ 0 60000 65536"/>
                <a:gd name="T15" fmla="*/ 0 60000 65536"/>
                <a:gd name="T16" fmla="*/ 0 60000 65536"/>
                <a:gd name="T17" fmla="*/ 0 60000 65536"/>
                <a:gd name="T18" fmla="*/ 0 w 28"/>
                <a:gd name="T19" fmla="*/ 0 h 115"/>
                <a:gd name="T20" fmla="*/ 28 w 28"/>
                <a:gd name="T21" fmla="*/ 115 h 115"/>
              </a:gdLst>
              <a:ahLst/>
              <a:cxnLst>
                <a:cxn ang="T12">
                  <a:pos x="T0" y="T1"/>
                </a:cxn>
                <a:cxn ang="T13">
                  <a:pos x="T2" y="T3"/>
                </a:cxn>
                <a:cxn ang="T14">
                  <a:pos x="T4" y="T5"/>
                </a:cxn>
                <a:cxn ang="T15">
                  <a:pos x="T6" y="T7"/>
                </a:cxn>
                <a:cxn ang="T16">
                  <a:pos x="T8" y="T9"/>
                </a:cxn>
                <a:cxn ang="T17">
                  <a:pos x="T10" y="T11"/>
                </a:cxn>
              </a:cxnLst>
              <a:rect l="T18" t="T19" r="T20" b="T21"/>
              <a:pathLst>
                <a:path w="28" h="115">
                  <a:moveTo>
                    <a:pt x="28" y="0"/>
                  </a:moveTo>
                  <a:lnTo>
                    <a:pt x="28" y="115"/>
                  </a:lnTo>
                  <a:lnTo>
                    <a:pt x="0" y="115"/>
                  </a:lnTo>
                  <a:lnTo>
                    <a:pt x="0" y="0"/>
                  </a:lnTo>
                  <a:lnTo>
                    <a:pt x="28" y="0"/>
                  </a:lnTo>
                  <a:close/>
                </a:path>
              </a:pathLst>
            </a:custGeom>
            <a:noFill/>
            <a:ln w="3175">
              <a:solidFill>
                <a:srgbClr val="000000"/>
              </a:solidFill>
              <a:round/>
              <a:headEnd/>
              <a:tailEnd/>
            </a:ln>
          </p:spPr>
          <p:txBody>
            <a:bodyPr/>
            <a:lstStyle/>
            <a:p>
              <a:endParaRPr lang="zh-CN" altLang="en-US"/>
            </a:p>
          </p:txBody>
        </p:sp>
        <p:sp>
          <p:nvSpPr>
            <p:cNvPr id="29743" name="Freeform 103"/>
            <p:cNvSpPr>
              <a:spLocks/>
            </p:cNvSpPr>
            <p:nvPr/>
          </p:nvSpPr>
          <p:spPr bwMode="auto">
            <a:xfrm>
              <a:off x="3952" y="2521"/>
              <a:ext cx="14" cy="57"/>
            </a:xfrm>
            <a:custGeom>
              <a:avLst/>
              <a:gdLst>
                <a:gd name="T0" fmla="*/ 7 w 28"/>
                <a:gd name="T1" fmla="*/ 0 h 113"/>
                <a:gd name="T2" fmla="*/ 7 w 28"/>
                <a:gd name="T3" fmla="*/ 29 h 113"/>
                <a:gd name="T4" fmla="*/ 0 w 28"/>
                <a:gd name="T5" fmla="*/ 29 h 113"/>
                <a:gd name="T6" fmla="*/ 0 w 28"/>
                <a:gd name="T7" fmla="*/ 0 h 113"/>
                <a:gd name="T8" fmla="*/ 7 w 28"/>
                <a:gd name="T9" fmla="*/ 0 h 113"/>
                <a:gd name="T10" fmla="*/ 7 w 28"/>
                <a:gd name="T11" fmla="*/ 0 h 113"/>
                <a:gd name="T12" fmla="*/ 0 60000 65536"/>
                <a:gd name="T13" fmla="*/ 0 60000 65536"/>
                <a:gd name="T14" fmla="*/ 0 60000 65536"/>
                <a:gd name="T15" fmla="*/ 0 60000 65536"/>
                <a:gd name="T16" fmla="*/ 0 60000 65536"/>
                <a:gd name="T17" fmla="*/ 0 60000 65536"/>
                <a:gd name="T18" fmla="*/ 0 w 28"/>
                <a:gd name="T19" fmla="*/ 0 h 113"/>
                <a:gd name="T20" fmla="*/ 28 w 28"/>
                <a:gd name="T21" fmla="*/ 113 h 113"/>
              </a:gdLst>
              <a:ahLst/>
              <a:cxnLst>
                <a:cxn ang="T12">
                  <a:pos x="T0" y="T1"/>
                </a:cxn>
                <a:cxn ang="T13">
                  <a:pos x="T2" y="T3"/>
                </a:cxn>
                <a:cxn ang="T14">
                  <a:pos x="T4" y="T5"/>
                </a:cxn>
                <a:cxn ang="T15">
                  <a:pos x="T6" y="T7"/>
                </a:cxn>
                <a:cxn ang="T16">
                  <a:pos x="T8" y="T9"/>
                </a:cxn>
                <a:cxn ang="T17">
                  <a:pos x="T10" y="T11"/>
                </a:cxn>
              </a:cxnLst>
              <a:rect l="T18" t="T19" r="T20" b="T21"/>
              <a:pathLst>
                <a:path w="28" h="113">
                  <a:moveTo>
                    <a:pt x="28" y="0"/>
                  </a:moveTo>
                  <a:lnTo>
                    <a:pt x="28" y="113"/>
                  </a:lnTo>
                  <a:lnTo>
                    <a:pt x="0" y="113"/>
                  </a:lnTo>
                  <a:lnTo>
                    <a:pt x="0" y="0"/>
                  </a:lnTo>
                  <a:lnTo>
                    <a:pt x="28" y="0"/>
                  </a:lnTo>
                  <a:close/>
                </a:path>
              </a:pathLst>
            </a:custGeom>
            <a:noFill/>
            <a:ln w="3175">
              <a:solidFill>
                <a:srgbClr val="000000"/>
              </a:solidFill>
              <a:round/>
              <a:headEnd/>
              <a:tailEnd/>
            </a:ln>
          </p:spPr>
          <p:txBody>
            <a:bodyPr/>
            <a:lstStyle/>
            <a:p>
              <a:endParaRPr lang="zh-CN" altLang="en-US"/>
            </a:p>
          </p:txBody>
        </p:sp>
        <p:sp>
          <p:nvSpPr>
            <p:cNvPr id="29744" name="Freeform 104"/>
            <p:cNvSpPr>
              <a:spLocks/>
            </p:cNvSpPr>
            <p:nvPr/>
          </p:nvSpPr>
          <p:spPr bwMode="auto">
            <a:xfrm>
              <a:off x="3952" y="2621"/>
              <a:ext cx="14" cy="57"/>
            </a:xfrm>
            <a:custGeom>
              <a:avLst/>
              <a:gdLst>
                <a:gd name="T0" fmla="*/ 7 w 28"/>
                <a:gd name="T1" fmla="*/ 0 h 113"/>
                <a:gd name="T2" fmla="*/ 7 w 28"/>
                <a:gd name="T3" fmla="*/ 29 h 113"/>
                <a:gd name="T4" fmla="*/ 0 w 28"/>
                <a:gd name="T5" fmla="*/ 29 h 113"/>
                <a:gd name="T6" fmla="*/ 0 w 28"/>
                <a:gd name="T7" fmla="*/ 0 h 113"/>
                <a:gd name="T8" fmla="*/ 7 w 28"/>
                <a:gd name="T9" fmla="*/ 0 h 113"/>
                <a:gd name="T10" fmla="*/ 7 w 28"/>
                <a:gd name="T11" fmla="*/ 0 h 113"/>
                <a:gd name="T12" fmla="*/ 0 60000 65536"/>
                <a:gd name="T13" fmla="*/ 0 60000 65536"/>
                <a:gd name="T14" fmla="*/ 0 60000 65536"/>
                <a:gd name="T15" fmla="*/ 0 60000 65536"/>
                <a:gd name="T16" fmla="*/ 0 60000 65536"/>
                <a:gd name="T17" fmla="*/ 0 60000 65536"/>
                <a:gd name="T18" fmla="*/ 0 w 28"/>
                <a:gd name="T19" fmla="*/ 0 h 113"/>
                <a:gd name="T20" fmla="*/ 28 w 28"/>
                <a:gd name="T21" fmla="*/ 113 h 113"/>
              </a:gdLst>
              <a:ahLst/>
              <a:cxnLst>
                <a:cxn ang="T12">
                  <a:pos x="T0" y="T1"/>
                </a:cxn>
                <a:cxn ang="T13">
                  <a:pos x="T2" y="T3"/>
                </a:cxn>
                <a:cxn ang="T14">
                  <a:pos x="T4" y="T5"/>
                </a:cxn>
                <a:cxn ang="T15">
                  <a:pos x="T6" y="T7"/>
                </a:cxn>
                <a:cxn ang="T16">
                  <a:pos x="T8" y="T9"/>
                </a:cxn>
                <a:cxn ang="T17">
                  <a:pos x="T10" y="T11"/>
                </a:cxn>
              </a:cxnLst>
              <a:rect l="T18" t="T19" r="T20" b="T21"/>
              <a:pathLst>
                <a:path w="28" h="113">
                  <a:moveTo>
                    <a:pt x="28" y="0"/>
                  </a:moveTo>
                  <a:lnTo>
                    <a:pt x="28" y="113"/>
                  </a:lnTo>
                  <a:lnTo>
                    <a:pt x="0" y="113"/>
                  </a:lnTo>
                  <a:lnTo>
                    <a:pt x="0" y="0"/>
                  </a:lnTo>
                  <a:lnTo>
                    <a:pt x="28" y="0"/>
                  </a:lnTo>
                  <a:close/>
                </a:path>
              </a:pathLst>
            </a:custGeom>
            <a:noFill/>
            <a:ln w="3175">
              <a:solidFill>
                <a:srgbClr val="000000"/>
              </a:solidFill>
              <a:round/>
              <a:headEnd/>
              <a:tailEnd/>
            </a:ln>
          </p:spPr>
          <p:txBody>
            <a:bodyPr/>
            <a:lstStyle/>
            <a:p>
              <a:endParaRPr lang="zh-CN" altLang="en-US"/>
            </a:p>
          </p:txBody>
        </p:sp>
        <p:sp>
          <p:nvSpPr>
            <p:cNvPr id="29745" name="Line 105"/>
            <p:cNvSpPr>
              <a:spLocks noChangeShapeType="1"/>
            </p:cNvSpPr>
            <p:nvPr/>
          </p:nvSpPr>
          <p:spPr bwMode="auto">
            <a:xfrm flipV="1">
              <a:off x="3965" y="1398"/>
              <a:ext cx="1045" cy="1285"/>
            </a:xfrm>
            <a:prstGeom prst="line">
              <a:avLst/>
            </a:prstGeom>
            <a:noFill/>
            <a:ln w="22225">
              <a:solidFill>
                <a:srgbClr val="000000"/>
              </a:solidFill>
              <a:round/>
              <a:headEnd/>
              <a:tailEnd/>
            </a:ln>
          </p:spPr>
          <p:txBody>
            <a:bodyPr/>
            <a:lstStyle/>
            <a:p>
              <a:endParaRPr lang="zh-CN" altLang="en-US"/>
            </a:p>
          </p:txBody>
        </p:sp>
        <p:sp>
          <p:nvSpPr>
            <p:cNvPr id="29746" name="Freeform 106"/>
            <p:cNvSpPr>
              <a:spLocks noEditPoints="1"/>
            </p:cNvSpPr>
            <p:nvPr/>
          </p:nvSpPr>
          <p:spPr bwMode="auto">
            <a:xfrm>
              <a:off x="3964" y="2213"/>
              <a:ext cx="161" cy="92"/>
            </a:xfrm>
            <a:custGeom>
              <a:avLst/>
              <a:gdLst>
                <a:gd name="T0" fmla="*/ 22 w 323"/>
                <a:gd name="T1" fmla="*/ 17 h 183"/>
                <a:gd name="T2" fmla="*/ 26 w 323"/>
                <a:gd name="T3" fmla="*/ 17 h 183"/>
                <a:gd name="T4" fmla="*/ 31 w 323"/>
                <a:gd name="T5" fmla="*/ 18 h 183"/>
                <a:gd name="T6" fmla="*/ 37 w 323"/>
                <a:gd name="T7" fmla="*/ 19 h 183"/>
                <a:gd name="T8" fmla="*/ 42 w 323"/>
                <a:gd name="T9" fmla="*/ 21 h 183"/>
                <a:gd name="T10" fmla="*/ 48 w 323"/>
                <a:gd name="T11" fmla="*/ 23 h 183"/>
                <a:gd name="T12" fmla="*/ 53 w 323"/>
                <a:gd name="T13" fmla="*/ 25 h 183"/>
                <a:gd name="T14" fmla="*/ 59 w 323"/>
                <a:gd name="T15" fmla="*/ 28 h 183"/>
                <a:gd name="T16" fmla="*/ 63 w 323"/>
                <a:gd name="T17" fmla="*/ 31 h 183"/>
                <a:gd name="T18" fmla="*/ 60 w 323"/>
                <a:gd name="T19" fmla="*/ 36 h 183"/>
                <a:gd name="T20" fmla="*/ 56 w 323"/>
                <a:gd name="T21" fmla="*/ 33 h 183"/>
                <a:gd name="T22" fmla="*/ 51 w 323"/>
                <a:gd name="T23" fmla="*/ 31 h 183"/>
                <a:gd name="T24" fmla="*/ 46 w 323"/>
                <a:gd name="T25" fmla="*/ 28 h 183"/>
                <a:gd name="T26" fmla="*/ 41 w 323"/>
                <a:gd name="T27" fmla="*/ 26 h 183"/>
                <a:gd name="T28" fmla="*/ 36 w 323"/>
                <a:gd name="T29" fmla="*/ 24 h 183"/>
                <a:gd name="T30" fmla="*/ 31 w 323"/>
                <a:gd name="T31" fmla="*/ 23 h 183"/>
                <a:gd name="T32" fmla="*/ 26 w 323"/>
                <a:gd name="T33" fmla="*/ 23 h 183"/>
                <a:gd name="T34" fmla="*/ 22 w 323"/>
                <a:gd name="T35" fmla="*/ 23 h 183"/>
                <a:gd name="T36" fmla="*/ 22 w 323"/>
                <a:gd name="T37" fmla="*/ 17 h 183"/>
                <a:gd name="T38" fmla="*/ 22 w 323"/>
                <a:gd name="T39" fmla="*/ 17 h 183"/>
                <a:gd name="T40" fmla="*/ 22 w 323"/>
                <a:gd name="T41" fmla="*/ 20 h 183"/>
                <a:gd name="T42" fmla="*/ 37 w 323"/>
                <a:gd name="T43" fmla="*/ 34 h 183"/>
                <a:gd name="T44" fmla="*/ 0 w 323"/>
                <a:gd name="T45" fmla="*/ 25 h 183"/>
                <a:gd name="T46" fmla="*/ 29 w 323"/>
                <a:gd name="T47" fmla="*/ 0 h 183"/>
                <a:gd name="T48" fmla="*/ 22 w 323"/>
                <a:gd name="T49" fmla="*/ 20 h 183"/>
                <a:gd name="T50" fmla="*/ 22 w 323"/>
                <a:gd name="T51" fmla="*/ 20 h 183"/>
                <a:gd name="T52" fmla="*/ 62 w 323"/>
                <a:gd name="T53" fmla="*/ 33 h 183"/>
                <a:gd name="T54" fmla="*/ 62 w 323"/>
                <a:gd name="T55" fmla="*/ 13 h 183"/>
                <a:gd name="T56" fmla="*/ 80 w 323"/>
                <a:gd name="T57" fmla="*/ 46 h 183"/>
                <a:gd name="T58" fmla="*/ 43 w 323"/>
                <a:gd name="T59" fmla="*/ 40 h 183"/>
                <a:gd name="T60" fmla="*/ 62 w 323"/>
                <a:gd name="T61" fmla="*/ 33 h 183"/>
                <a:gd name="T62" fmla="*/ 62 w 323"/>
                <a:gd name="T63" fmla="*/ 33 h 18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23"/>
                <a:gd name="T97" fmla="*/ 0 h 183"/>
                <a:gd name="T98" fmla="*/ 323 w 323"/>
                <a:gd name="T99" fmla="*/ 183 h 18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23" h="183">
                  <a:moveTo>
                    <a:pt x="91" y="66"/>
                  </a:moveTo>
                  <a:lnTo>
                    <a:pt x="106" y="66"/>
                  </a:lnTo>
                  <a:lnTo>
                    <a:pt x="127" y="70"/>
                  </a:lnTo>
                  <a:lnTo>
                    <a:pt x="149" y="75"/>
                  </a:lnTo>
                  <a:lnTo>
                    <a:pt x="170" y="81"/>
                  </a:lnTo>
                  <a:lnTo>
                    <a:pt x="193" y="89"/>
                  </a:lnTo>
                  <a:lnTo>
                    <a:pt x="215" y="100"/>
                  </a:lnTo>
                  <a:lnTo>
                    <a:pt x="238" y="111"/>
                  </a:lnTo>
                  <a:lnTo>
                    <a:pt x="255" y="121"/>
                  </a:lnTo>
                  <a:lnTo>
                    <a:pt x="243" y="141"/>
                  </a:lnTo>
                  <a:lnTo>
                    <a:pt x="226" y="132"/>
                  </a:lnTo>
                  <a:lnTo>
                    <a:pt x="206" y="121"/>
                  </a:lnTo>
                  <a:lnTo>
                    <a:pt x="185" y="111"/>
                  </a:lnTo>
                  <a:lnTo>
                    <a:pt x="164" y="104"/>
                  </a:lnTo>
                  <a:lnTo>
                    <a:pt x="144" y="96"/>
                  </a:lnTo>
                  <a:lnTo>
                    <a:pt x="125" y="92"/>
                  </a:lnTo>
                  <a:lnTo>
                    <a:pt x="104" y="90"/>
                  </a:lnTo>
                  <a:lnTo>
                    <a:pt x="89" y="89"/>
                  </a:lnTo>
                  <a:lnTo>
                    <a:pt x="91" y="66"/>
                  </a:lnTo>
                  <a:close/>
                  <a:moveTo>
                    <a:pt x="89" y="77"/>
                  </a:moveTo>
                  <a:lnTo>
                    <a:pt x="149" y="134"/>
                  </a:lnTo>
                  <a:lnTo>
                    <a:pt x="0" y="98"/>
                  </a:lnTo>
                  <a:lnTo>
                    <a:pt x="119" y="0"/>
                  </a:lnTo>
                  <a:lnTo>
                    <a:pt x="89" y="77"/>
                  </a:lnTo>
                  <a:close/>
                  <a:moveTo>
                    <a:pt x="249" y="132"/>
                  </a:moveTo>
                  <a:lnTo>
                    <a:pt x="251" y="49"/>
                  </a:lnTo>
                  <a:lnTo>
                    <a:pt x="323" y="183"/>
                  </a:lnTo>
                  <a:lnTo>
                    <a:pt x="172" y="160"/>
                  </a:lnTo>
                  <a:lnTo>
                    <a:pt x="249" y="132"/>
                  </a:lnTo>
                  <a:close/>
                </a:path>
              </a:pathLst>
            </a:custGeom>
            <a:solidFill>
              <a:srgbClr val="000000"/>
            </a:solidFill>
            <a:ln w="9525">
              <a:noFill/>
              <a:round/>
              <a:headEnd/>
              <a:tailEnd/>
            </a:ln>
          </p:spPr>
          <p:txBody>
            <a:bodyPr/>
            <a:lstStyle/>
            <a:p>
              <a:endParaRPr lang="zh-CN" altLang="en-US"/>
            </a:p>
          </p:txBody>
        </p:sp>
        <p:sp>
          <p:nvSpPr>
            <p:cNvPr id="29747" name="Freeform 107"/>
            <p:cNvSpPr>
              <a:spLocks/>
            </p:cNvSpPr>
            <p:nvPr/>
          </p:nvSpPr>
          <p:spPr bwMode="auto">
            <a:xfrm>
              <a:off x="4008" y="2246"/>
              <a:ext cx="83" cy="38"/>
            </a:xfrm>
            <a:custGeom>
              <a:avLst/>
              <a:gdLst>
                <a:gd name="T0" fmla="*/ 1 w 166"/>
                <a:gd name="T1" fmla="*/ 0 h 75"/>
                <a:gd name="T2" fmla="*/ 5 w 166"/>
                <a:gd name="T3" fmla="*/ 0 h 75"/>
                <a:gd name="T4" fmla="*/ 10 w 166"/>
                <a:gd name="T5" fmla="*/ 1 h 75"/>
                <a:gd name="T6" fmla="*/ 15 w 166"/>
                <a:gd name="T7" fmla="*/ 3 h 75"/>
                <a:gd name="T8" fmla="*/ 21 w 166"/>
                <a:gd name="T9" fmla="*/ 4 h 75"/>
                <a:gd name="T10" fmla="*/ 26 w 166"/>
                <a:gd name="T11" fmla="*/ 6 h 75"/>
                <a:gd name="T12" fmla="*/ 31 w 166"/>
                <a:gd name="T13" fmla="*/ 9 h 75"/>
                <a:gd name="T14" fmla="*/ 38 w 166"/>
                <a:gd name="T15" fmla="*/ 12 h 75"/>
                <a:gd name="T16" fmla="*/ 42 w 166"/>
                <a:gd name="T17" fmla="*/ 14 h 75"/>
                <a:gd name="T18" fmla="*/ 39 w 166"/>
                <a:gd name="T19" fmla="*/ 19 h 75"/>
                <a:gd name="T20" fmla="*/ 35 w 166"/>
                <a:gd name="T21" fmla="*/ 17 h 75"/>
                <a:gd name="T22" fmla="*/ 29 w 166"/>
                <a:gd name="T23" fmla="*/ 14 h 75"/>
                <a:gd name="T24" fmla="*/ 24 w 166"/>
                <a:gd name="T25" fmla="*/ 12 h 75"/>
                <a:gd name="T26" fmla="*/ 19 w 166"/>
                <a:gd name="T27" fmla="*/ 10 h 75"/>
                <a:gd name="T28" fmla="*/ 13 w 166"/>
                <a:gd name="T29" fmla="*/ 8 h 75"/>
                <a:gd name="T30" fmla="*/ 9 w 166"/>
                <a:gd name="T31" fmla="*/ 7 h 75"/>
                <a:gd name="T32" fmla="*/ 3 w 166"/>
                <a:gd name="T33" fmla="*/ 6 h 75"/>
                <a:gd name="T34" fmla="*/ 0 w 166"/>
                <a:gd name="T35" fmla="*/ 6 h 75"/>
                <a:gd name="T36" fmla="*/ 1 w 166"/>
                <a:gd name="T37" fmla="*/ 0 h 75"/>
                <a:gd name="T38" fmla="*/ 1 w 166"/>
                <a:gd name="T39" fmla="*/ 0 h 7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6"/>
                <a:gd name="T61" fmla="*/ 0 h 75"/>
                <a:gd name="T62" fmla="*/ 166 w 166"/>
                <a:gd name="T63" fmla="*/ 75 h 75"/>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6" h="75">
                  <a:moveTo>
                    <a:pt x="2" y="0"/>
                  </a:moveTo>
                  <a:lnTo>
                    <a:pt x="17" y="0"/>
                  </a:lnTo>
                  <a:lnTo>
                    <a:pt x="38" y="4"/>
                  </a:lnTo>
                  <a:lnTo>
                    <a:pt x="60" y="9"/>
                  </a:lnTo>
                  <a:lnTo>
                    <a:pt x="81" y="15"/>
                  </a:lnTo>
                  <a:lnTo>
                    <a:pt x="104" y="23"/>
                  </a:lnTo>
                  <a:lnTo>
                    <a:pt x="126" y="34"/>
                  </a:lnTo>
                  <a:lnTo>
                    <a:pt x="149" y="45"/>
                  </a:lnTo>
                  <a:lnTo>
                    <a:pt x="166" y="55"/>
                  </a:lnTo>
                  <a:lnTo>
                    <a:pt x="154" y="75"/>
                  </a:lnTo>
                  <a:lnTo>
                    <a:pt x="137" y="66"/>
                  </a:lnTo>
                  <a:lnTo>
                    <a:pt x="117" y="55"/>
                  </a:lnTo>
                  <a:lnTo>
                    <a:pt x="96" y="45"/>
                  </a:lnTo>
                  <a:lnTo>
                    <a:pt x="75" y="38"/>
                  </a:lnTo>
                  <a:lnTo>
                    <a:pt x="55" y="30"/>
                  </a:lnTo>
                  <a:lnTo>
                    <a:pt x="36" y="26"/>
                  </a:lnTo>
                  <a:lnTo>
                    <a:pt x="15" y="24"/>
                  </a:lnTo>
                  <a:lnTo>
                    <a:pt x="0" y="23"/>
                  </a:lnTo>
                  <a:lnTo>
                    <a:pt x="2" y="0"/>
                  </a:lnTo>
                  <a:close/>
                </a:path>
              </a:pathLst>
            </a:custGeom>
            <a:noFill/>
            <a:ln w="3175">
              <a:solidFill>
                <a:srgbClr val="000000"/>
              </a:solidFill>
              <a:round/>
              <a:headEnd/>
              <a:tailEnd/>
            </a:ln>
          </p:spPr>
          <p:txBody>
            <a:bodyPr/>
            <a:lstStyle/>
            <a:p>
              <a:endParaRPr lang="zh-CN" altLang="en-US"/>
            </a:p>
          </p:txBody>
        </p:sp>
        <p:sp>
          <p:nvSpPr>
            <p:cNvPr id="29748" name="Freeform 108"/>
            <p:cNvSpPr>
              <a:spLocks/>
            </p:cNvSpPr>
            <p:nvPr/>
          </p:nvSpPr>
          <p:spPr bwMode="auto">
            <a:xfrm>
              <a:off x="3964" y="2213"/>
              <a:ext cx="75" cy="67"/>
            </a:xfrm>
            <a:custGeom>
              <a:avLst/>
              <a:gdLst>
                <a:gd name="T0" fmla="*/ 23 w 149"/>
                <a:gd name="T1" fmla="*/ 19 h 134"/>
                <a:gd name="T2" fmla="*/ 38 w 149"/>
                <a:gd name="T3" fmla="*/ 34 h 134"/>
                <a:gd name="T4" fmla="*/ 0 w 149"/>
                <a:gd name="T5" fmla="*/ 24 h 134"/>
                <a:gd name="T6" fmla="*/ 30 w 149"/>
                <a:gd name="T7" fmla="*/ 0 h 134"/>
                <a:gd name="T8" fmla="*/ 23 w 149"/>
                <a:gd name="T9" fmla="*/ 19 h 134"/>
                <a:gd name="T10" fmla="*/ 23 w 149"/>
                <a:gd name="T11" fmla="*/ 19 h 134"/>
                <a:gd name="T12" fmla="*/ 0 60000 65536"/>
                <a:gd name="T13" fmla="*/ 0 60000 65536"/>
                <a:gd name="T14" fmla="*/ 0 60000 65536"/>
                <a:gd name="T15" fmla="*/ 0 60000 65536"/>
                <a:gd name="T16" fmla="*/ 0 60000 65536"/>
                <a:gd name="T17" fmla="*/ 0 60000 65536"/>
                <a:gd name="T18" fmla="*/ 0 w 149"/>
                <a:gd name="T19" fmla="*/ 0 h 134"/>
                <a:gd name="T20" fmla="*/ 149 w 149"/>
                <a:gd name="T21" fmla="*/ 134 h 134"/>
              </a:gdLst>
              <a:ahLst/>
              <a:cxnLst>
                <a:cxn ang="T12">
                  <a:pos x="T0" y="T1"/>
                </a:cxn>
                <a:cxn ang="T13">
                  <a:pos x="T2" y="T3"/>
                </a:cxn>
                <a:cxn ang="T14">
                  <a:pos x="T4" y="T5"/>
                </a:cxn>
                <a:cxn ang="T15">
                  <a:pos x="T6" y="T7"/>
                </a:cxn>
                <a:cxn ang="T16">
                  <a:pos x="T8" y="T9"/>
                </a:cxn>
                <a:cxn ang="T17">
                  <a:pos x="T10" y="T11"/>
                </a:cxn>
              </a:cxnLst>
              <a:rect l="T18" t="T19" r="T20" b="T21"/>
              <a:pathLst>
                <a:path w="149" h="134">
                  <a:moveTo>
                    <a:pt x="89" y="77"/>
                  </a:moveTo>
                  <a:lnTo>
                    <a:pt x="149" y="134"/>
                  </a:lnTo>
                  <a:lnTo>
                    <a:pt x="0" y="98"/>
                  </a:lnTo>
                  <a:lnTo>
                    <a:pt x="119" y="0"/>
                  </a:lnTo>
                  <a:lnTo>
                    <a:pt x="89" y="77"/>
                  </a:lnTo>
                </a:path>
              </a:pathLst>
            </a:custGeom>
            <a:noFill/>
            <a:ln w="3175">
              <a:solidFill>
                <a:srgbClr val="000000"/>
              </a:solidFill>
              <a:round/>
              <a:headEnd/>
              <a:tailEnd/>
            </a:ln>
          </p:spPr>
          <p:txBody>
            <a:bodyPr/>
            <a:lstStyle/>
            <a:p>
              <a:endParaRPr lang="zh-CN" altLang="en-US"/>
            </a:p>
          </p:txBody>
        </p:sp>
        <p:sp>
          <p:nvSpPr>
            <p:cNvPr id="29749" name="Freeform 109"/>
            <p:cNvSpPr>
              <a:spLocks/>
            </p:cNvSpPr>
            <p:nvPr/>
          </p:nvSpPr>
          <p:spPr bwMode="auto">
            <a:xfrm>
              <a:off x="4050" y="2238"/>
              <a:ext cx="75" cy="67"/>
            </a:xfrm>
            <a:custGeom>
              <a:avLst/>
              <a:gdLst>
                <a:gd name="T0" fmla="*/ 19 w 151"/>
                <a:gd name="T1" fmla="*/ 20 h 134"/>
                <a:gd name="T2" fmla="*/ 19 w 151"/>
                <a:gd name="T3" fmla="*/ 0 h 134"/>
                <a:gd name="T4" fmla="*/ 37 w 151"/>
                <a:gd name="T5" fmla="*/ 34 h 134"/>
                <a:gd name="T6" fmla="*/ 0 w 151"/>
                <a:gd name="T7" fmla="*/ 27 h 134"/>
                <a:gd name="T8" fmla="*/ 19 w 151"/>
                <a:gd name="T9" fmla="*/ 20 h 134"/>
                <a:gd name="T10" fmla="*/ 19 w 151"/>
                <a:gd name="T11" fmla="*/ 20 h 134"/>
                <a:gd name="T12" fmla="*/ 0 60000 65536"/>
                <a:gd name="T13" fmla="*/ 0 60000 65536"/>
                <a:gd name="T14" fmla="*/ 0 60000 65536"/>
                <a:gd name="T15" fmla="*/ 0 60000 65536"/>
                <a:gd name="T16" fmla="*/ 0 60000 65536"/>
                <a:gd name="T17" fmla="*/ 0 60000 65536"/>
                <a:gd name="T18" fmla="*/ 0 w 151"/>
                <a:gd name="T19" fmla="*/ 0 h 134"/>
                <a:gd name="T20" fmla="*/ 151 w 151"/>
                <a:gd name="T21" fmla="*/ 134 h 134"/>
              </a:gdLst>
              <a:ahLst/>
              <a:cxnLst>
                <a:cxn ang="T12">
                  <a:pos x="T0" y="T1"/>
                </a:cxn>
                <a:cxn ang="T13">
                  <a:pos x="T2" y="T3"/>
                </a:cxn>
                <a:cxn ang="T14">
                  <a:pos x="T4" y="T5"/>
                </a:cxn>
                <a:cxn ang="T15">
                  <a:pos x="T6" y="T7"/>
                </a:cxn>
                <a:cxn ang="T16">
                  <a:pos x="T8" y="T9"/>
                </a:cxn>
                <a:cxn ang="T17">
                  <a:pos x="T10" y="T11"/>
                </a:cxn>
              </a:cxnLst>
              <a:rect l="T18" t="T19" r="T20" b="T21"/>
              <a:pathLst>
                <a:path w="151" h="134">
                  <a:moveTo>
                    <a:pt x="77" y="83"/>
                  </a:moveTo>
                  <a:lnTo>
                    <a:pt x="79" y="0"/>
                  </a:lnTo>
                  <a:lnTo>
                    <a:pt x="151" y="134"/>
                  </a:lnTo>
                  <a:lnTo>
                    <a:pt x="0" y="111"/>
                  </a:lnTo>
                  <a:lnTo>
                    <a:pt x="77" y="83"/>
                  </a:lnTo>
                </a:path>
              </a:pathLst>
            </a:custGeom>
            <a:noFill/>
            <a:ln w="3175">
              <a:solidFill>
                <a:srgbClr val="000000"/>
              </a:solidFill>
              <a:round/>
              <a:headEnd/>
              <a:tailEnd/>
            </a:ln>
          </p:spPr>
          <p:txBody>
            <a:bodyPr/>
            <a:lstStyle/>
            <a:p>
              <a:endParaRPr lang="zh-CN" altLang="en-US"/>
            </a:p>
          </p:txBody>
        </p:sp>
        <p:sp>
          <p:nvSpPr>
            <p:cNvPr id="29750" name="Freeform 110"/>
            <p:cNvSpPr>
              <a:spLocks noEditPoints="1"/>
            </p:cNvSpPr>
            <p:nvPr/>
          </p:nvSpPr>
          <p:spPr bwMode="auto">
            <a:xfrm>
              <a:off x="4523" y="2460"/>
              <a:ext cx="68" cy="235"/>
            </a:xfrm>
            <a:custGeom>
              <a:avLst/>
              <a:gdLst>
                <a:gd name="T0" fmla="*/ 19 w 136"/>
                <a:gd name="T1" fmla="*/ 23 h 470"/>
                <a:gd name="T2" fmla="*/ 19 w 136"/>
                <a:gd name="T3" fmla="*/ 95 h 470"/>
                <a:gd name="T4" fmla="*/ 14 w 136"/>
                <a:gd name="T5" fmla="*/ 95 h 470"/>
                <a:gd name="T6" fmla="*/ 14 w 136"/>
                <a:gd name="T7" fmla="*/ 23 h 470"/>
                <a:gd name="T8" fmla="*/ 19 w 136"/>
                <a:gd name="T9" fmla="*/ 23 h 470"/>
                <a:gd name="T10" fmla="*/ 19 w 136"/>
                <a:gd name="T11" fmla="*/ 23 h 470"/>
                <a:gd name="T12" fmla="*/ 17 w 136"/>
                <a:gd name="T13" fmla="*/ 23 h 470"/>
                <a:gd name="T14" fmla="*/ 0 w 136"/>
                <a:gd name="T15" fmla="*/ 34 h 470"/>
                <a:gd name="T16" fmla="*/ 17 w 136"/>
                <a:gd name="T17" fmla="*/ 0 h 470"/>
                <a:gd name="T18" fmla="*/ 34 w 136"/>
                <a:gd name="T19" fmla="*/ 34 h 470"/>
                <a:gd name="T20" fmla="*/ 17 w 136"/>
                <a:gd name="T21" fmla="*/ 23 h 470"/>
                <a:gd name="T22" fmla="*/ 17 w 136"/>
                <a:gd name="T23" fmla="*/ 23 h 470"/>
                <a:gd name="T24" fmla="*/ 17 w 136"/>
                <a:gd name="T25" fmla="*/ 95 h 470"/>
                <a:gd name="T26" fmla="*/ 34 w 136"/>
                <a:gd name="T27" fmla="*/ 84 h 470"/>
                <a:gd name="T28" fmla="*/ 17 w 136"/>
                <a:gd name="T29" fmla="*/ 118 h 470"/>
                <a:gd name="T30" fmla="*/ 0 w 136"/>
                <a:gd name="T31" fmla="*/ 84 h 470"/>
                <a:gd name="T32" fmla="*/ 17 w 136"/>
                <a:gd name="T33" fmla="*/ 95 h 470"/>
                <a:gd name="T34" fmla="*/ 17 w 136"/>
                <a:gd name="T35" fmla="*/ 95 h 47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6"/>
                <a:gd name="T55" fmla="*/ 0 h 470"/>
                <a:gd name="T56" fmla="*/ 136 w 136"/>
                <a:gd name="T57" fmla="*/ 470 h 47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6" h="470">
                  <a:moveTo>
                    <a:pt x="79" y="91"/>
                  </a:moveTo>
                  <a:lnTo>
                    <a:pt x="79" y="378"/>
                  </a:lnTo>
                  <a:lnTo>
                    <a:pt x="57" y="378"/>
                  </a:lnTo>
                  <a:lnTo>
                    <a:pt x="57" y="91"/>
                  </a:lnTo>
                  <a:lnTo>
                    <a:pt x="79" y="91"/>
                  </a:lnTo>
                  <a:close/>
                  <a:moveTo>
                    <a:pt x="68" y="91"/>
                  </a:moveTo>
                  <a:lnTo>
                    <a:pt x="0" y="136"/>
                  </a:lnTo>
                  <a:lnTo>
                    <a:pt x="68" y="0"/>
                  </a:lnTo>
                  <a:lnTo>
                    <a:pt x="136" y="136"/>
                  </a:lnTo>
                  <a:lnTo>
                    <a:pt x="68" y="91"/>
                  </a:lnTo>
                  <a:close/>
                  <a:moveTo>
                    <a:pt x="68" y="378"/>
                  </a:moveTo>
                  <a:lnTo>
                    <a:pt x="136" y="333"/>
                  </a:lnTo>
                  <a:lnTo>
                    <a:pt x="68" y="470"/>
                  </a:lnTo>
                  <a:lnTo>
                    <a:pt x="0" y="333"/>
                  </a:lnTo>
                  <a:lnTo>
                    <a:pt x="68" y="378"/>
                  </a:lnTo>
                  <a:close/>
                </a:path>
              </a:pathLst>
            </a:custGeom>
            <a:solidFill>
              <a:srgbClr val="000000"/>
            </a:solidFill>
            <a:ln w="9525">
              <a:noFill/>
              <a:round/>
              <a:headEnd/>
              <a:tailEnd/>
            </a:ln>
          </p:spPr>
          <p:txBody>
            <a:bodyPr/>
            <a:lstStyle/>
            <a:p>
              <a:endParaRPr lang="zh-CN" altLang="en-US"/>
            </a:p>
          </p:txBody>
        </p:sp>
        <p:sp>
          <p:nvSpPr>
            <p:cNvPr id="29751" name="Freeform 111"/>
            <p:cNvSpPr>
              <a:spLocks/>
            </p:cNvSpPr>
            <p:nvPr/>
          </p:nvSpPr>
          <p:spPr bwMode="auto">
            <a:xfrm>
              <a:off x="4551" y="2505"/>
              <a:ext cx="12" cy="143"/>
            </a:xfrm>
            <a:custGeom>
              <a:avLst/>
              <a:gdLst>
                <a:gd name="T0" fmla="*/ 7 w 22"/>
                <a:gd name="T1" fmla="*/ 0 h 287"/>
                <a:gd name="T2" fmla="*/ 7 w 22"/>
                <a:gd name="T3" fmla="*/ 71 h 287"/>
                <a:gd name="T4" fmla="*/ 0 w 22"/>
                <a:gd name="T5" fmla="*/ 71 h 287"/>
                <a:gd name="T6" fmla="*/ 0 w 22"/>
                <a:gd name="T7" fmla="*/ 0 h 287"/>
                <a:gd name="T8" fmla="*/ 7 w 22"/>
                <a:gd name="T9" fmla="*/ 0 h 287"/>
                <a:gd name="T10" fmla="*/ 7 w 22"/>
                <a:gd name="T11" fmla="*/ 0 h 287"/>
                <a:gd name="T12" fmla="*/ 0 60000 65536"/>
                <a:gd name="T13" fmla="*/ 0 60000 65536"/>
                <a:gd name="T14" fmla="*/ 0 60000 65536"/>
                <a:gd name="T15" fmla="*/ 0 60000 65536"/>
                <a:gd name="T16" fmla="*/ 0 60000 65536"/>
                <a:gd name="T17" fmla="*/ 0 60000 65536"/>
                <a:gd name="T18" fmla="*/ 0 w 22"/>
                <a:gd name="T19" fmla="*/ 0 h 287"/>
                <a:gd name="T20" fmla="*/ 22 w 22"/>
                <a:gd name="T21" fmla="*/ 287 h 287"/>
              </a:gdLst>
              <a:ahLst/>
              <a:cxnLst>
                <a:cxn ang="T12">
                  <a:pos x="T0" y="T1"/>
                </a:cxn>
                <a:cxn ang="T13">
                  <a:pos x="T2" y="T3"/>
                </a:cxn>
                <a:cxn ang="T14">
                  <a:pos x="T4" y="T5"/>
                </a:cxn>
                <a:cxn ang="T15">
                  <a:pos x="T6" y="T7"/>
                </a:cxn>
                <a:cxn ang="T16">
                  <a:pos x="T8" y="T9"/>
                </a:cxn>
                <a:cxn ang="T17">
                  <a:pos x="T10" y="T11"/>
                </a:cxn>
              </a:cxnLst>
              <a:rect l="T18" t="T19" r="T20" b="T21"/>
              <a:pathLst>
                <a:path w="22" h="287">
                  <a:moveTo>
                    <a:pt x="22" y="0"/>
                  </a:moveTo>
                  <a:lnTo>
                    <a:pt x="22" y="287"/>
                  </a:lnTo>
                  <a:lnTo>
                    <a:pt x="0" y="287"/>
                  </a:lnTo>
                  <a:lnTo>
                    <a:pt x="0" y="0"/>
                  </a:lnTo>
                  <a:lnTo>
                    <a:pt x="22" y="0"/>
                  </a:lnTo>
                  <a:close/>
                </a:path>
              </a:pathLst>
            </a:custGeom>
            <a:noFill/>
            <a:ln w="3175">
              <a:solidFill>
                <a:srgbClr val="000000"/>
              </a:solidFill>
              <a:round/>
              <a:headEnd/>
              <a:tailEnd/>
            </a:ln>
          </p:spPr>
          <p:txBody>
            <a:bodyPr/>
            <a:lstStyle/>
            <a:p>
              <a:endParaRPr lang="zh-CN" altLang="en-US"/>
            </a:p>
          </p:txBody>
        </p:sp>
        <p:sp>
          <p:nvSpPr>
            <p:cNvPr id="29752" name="Freeform 112"/>
            <p:cNvSpPr>
              <a:spLocks/>
            </p:cNvSpPr>
            <p:nvPr/>
          </p:nvSpPr>
          <p:spPr bwMode="auto">
            <a:xfrm>
              <a:off x="4523" y="2460"/>
              <a:ext cx="68" cy="68"/>
            </a:xfrm>
            <a:custGeom>
              <a:avLst/>
              <a:gdLst>
                <a:gd name="T0" fmla="*/ 17 w 136"/>
                <a:gd name="T1" fmla="*/ 22 h 136"/>
                <a:gd name="T2" fmla="*/ 0 w 136"/>
                <a:gd name="T3" fmla="*/ 34 h 136"/>
                <a:gd name="T4" fmla="*/ 17 w 136"/>
                <a:gd name="T5" fmla="*/ 0 h 136"/>
                <a:gd name="T6" fmla="*/ 34 w 136"/>
                <a:gd name="T7" fmla="*/ 34 h 136"/>
                <a:gd name="T8" fmla="*/ 17 w 136"/>
                <a:gd name="T9" fmla="*/ 22 h 136"/>
                <a:gd name="T10" fmla="*/ 17 w 136"/>
                <a:gd name="T11" fmla="*/ 22 h 136"/>
                <a:gd name="T12" fmla="*/ 0 60000 65536"/>
                <a:gd name="T13" fmla="*/ 0 60000 65536"/>
                <a:gd name="T14" fmla="*/ 0 60000 65536"/>
                <a:gd name="T15" fmla="*/ 0 60000 65536"/>
                <a:gd name="T16" fmla="*/ 0 60000 65536"/>
                <a:gd name="T17" fmla="*/ 0 60000 65536"/>
                <a:gd name="T18" fmla="*/ 0 w 136"/>
                <a:gd name="T19" fmla="*/ 0 h 136"/>
                <a:gd name="T20" fmla="*/ 136 w 136"/>
                <a:gd name="T21" fmla="*/ 136 h 136"/>
              </a:gdLst>
              <a:ahLst/>
              <a:cxnLst>
                <a:cxn ang="T12">
                  <a:pos x="T0" y="T1"/>
                </a:cxn>
                <a:cxn ang="T13">
                  <a:pos x="T2" y="T3"/>
                </a:cxn>
                <a:cxn ang="T14">
                  <a:pos x="T4" y="T5"/>
                </a:cxn>
                <a:cxn ang="T15">
                  <a:pos x="T6" y="T7"/>
                </a:cxn>
                <a:cxn ang="T16">
                  <a:pos x="T8" y="T9"/>
                </a:cxn>
                <a:cxn ang="T17">
                  <a:pos x="T10" y="T11"/>
                </a:cxn>
              </a:cxnLst>
              <a:rect l="T18" t="T19" r="T20" b="T21"/>
              <a:pathLst>
                <a:path w="136" h="136">
                  <a:moveTo>
                    <a:pt x="68" y="91"/>
                  </a:moveTo>
                  <a:lnTo>
                    <a:pt x="0" y="136"/>
                  </a:lnTo>
                  <a:lnTo>
                    <a:pt x="68" y="0"/>
                  </a:lnTo>
                  <a:lnTo>
                    <a:pt x="136" y="136"/>
                  </a:lnTo>
                  <a:lnTo>
                    <a:pt x="68" y="91"/>
                  </a:lnTo>
                  <a:close/>
                </a:path>
              </a:pathLst>
            </a:custGeom>
            <a:noFill/>
            <a:ln w="3175">
              <a:solidFill>
                <a:srgbClr val="000000"/>
              </a:solidFill>
              <a:round/>
              <a:headEnd/>
              <a:tailEnd/>
            </a:ln>
          </p:spPr>
          <p:txBody>
            <a:bodyPr/>
            <a:lstStyle/>
            <a:p>
              <a:endParaRPr lang="zh-CN" altLang="en-US"/>
            </a:p>
          </p:txBody>
        </p:sp>
        <p:sp>
          <p:nvSpPr>
            <p:cNvPr id="29753" name="Freeform 113"/>
            <p:cNvSpPr>
              <a:spLocks/>
            </p:cNvSpPr>
            <p:nvPr/>
          </p:nvSpPr>
          <p:spPr bwMode="auto">
            <a:xfrm>
              <a:off x="4523" y="2626"/>
              <a:ext cx="68" cy="69"/>
            </a:xfrm>
            <a:custGeom>
              <a:avLst/>
              <a:gdLst>
                <a:gd name="T0" fmla="*/ 17 w 136"/>
                <a:gd name="T1" fmla="*/ 12 h 137"/>
                <a:gd name="T2" fmla="*/ 34 w 136"/>
                <a:gd name="T3" fmla="*/ 0 h 137"/>
                <a:gd name="T4" fmla="*/ 17 w 136"/>
                <a:gd name="T5" fmla="*/ 35 h 137"/>
                <a:gd name="T6" fmla="*/ 0 w 136"/>
                <a:gd name="T7" fmla="*/ 0 h 137"/>
                <a:gd name="T8" fmla="*/ 17 w 136"/>
                <a:gd name="T9" fmla="*/ 12 h 137"/>
                <a:gd name="T10" fmla="*/ 17 w 136"/>
                <a:gd name="T11" fmla="*/ 12 h 137"/>
                <a:gd name="T12" fmla="*/ 0 60000 65536"/>
                <a:gd name="T13" fmla="*/ 0 60000 65536"/>
                <a:gd name="T14" fmla="*/ 0 60000 65536"/>
                <a:gd name="T15" fmla="*/ 0 60000 65536"/>
                <a:gd name="T16" fmla="*/ 0 60000 65536"/>
                <a:gd name="T17" fmla="*/ 0 60000 65536"/>
                <a:gd name="T18" fmla="*/ 0 w 136"/>
                <a:gd name="T19" fmla="*/ 0 h 137"/>
                <a:gd name="T20" fmla="*/ 136 w 136"/>
                <a:gd name="T21" fmla="*/ 137 h 137"/>
              </a:gdLst>
              <a:ahLst/>
              <a:cxnLst>
                <a:cxn ang="T12">
                  <a:pos x="T0" y="T1"/>
                </a:cxn>
                <a:cxn ang="T13">
                  <a:pos x="T2" y="T3"/>
                </a:cxn>
                <a:cxn ang="T14">
                  <a:pos x="T4" y="T5"/>
                </a:cxn>
                <a:cxn ang="T15">
                  <a:pos x="T6" y="T7"/>
                </a:cxn>
                <a:cxn ang="T16">
                  <a:pos x="T8" y="T9"/>
                </a:cxn>
                <a:cxn ang="T17">
                  <a:pos x="T10" y="T11"/>
                </a:cxn>
              </a:cxnLst>
              <a:rect l="T18" t="T19" r="T20" b="T21"/>
              <a:pathLst>
                <a:path w="136" h="137">
                  <a:moveTo>
                    <a:pt x="68" y="45"/>
                  </a:moveTo>
                  <a:lnTo>
                    <a:pt x="136" y="0"/>
                  </a:lnTo>
                  <a:lnTo>
                    <a:pt x="68" y="137"/>
                  </a:lnTo>
                  <a:lnTo>
                    <a:pt x="0" y="0"/>
                  </a:lnTo>
                  <a:lnTo>
                    <a:pt x="68" y="45"/>
                  </a:lnTo>
                  <a:close/>
                </a:path>
              </a:pathLst>
            </a:custGeom>
            <a:noFill/>
            <a:ln w="3175">
              <a:solidFill>
                <a:srgbClr val="000000"/>
              </a:solidFill>
              <a:round/>
              <a:headEnd/>
              <a:tailEnd/>
            </a:ln>
          </p:spPr>
          <p:txBody>
            <a:bodyPr/>
            <a:lstStyle/>
            <a:p>
              <a:endParaRPr lang="zh-CN" altLang="en-US"/>
            </a:p>
          </p:txBody>
        </p:sp>
        <p:sp>
          <p:nvSpPr>
            <p:cNvPr id="29754" name="Line 114"/>
            <p:cNvSpPr>
              <a:spLocks noChangeShapeType="1"/>
            </p:cNvSpPr>
            <p:nvPr/>
          </p:nvSpPr>
          <p:spPr bwMode="auto">
            <a:xfrm flipV="1">
              <a:off x="5051" y="1255"/>
              <a:ext cx="95" cy="105"/>
            </a:xfrm>
            <a:prstGeom prst="line">
              <a:avLst/>
            </a:prstGeom>
            <a:noFill/>
            <a:ln w="22225">
              <a:solidFill>
                <a:srgbClr val="000000"/>
              </a:solidFill>
              <a:round/>
              <a:headEnd/>
              <a:tailEnd/>
            </a:ln>
          </p:spPr>
          <p:txBody>
            <a:bodyPr/>
            <a:lstStyle/>
            <a:p>
              <a:endParaRPr lang="zh-CN" altLang="en-US"/>
            </a:p>
          </p:txBody>
        </p:sp>
        <p:sp>
          <p:nvSpPr>
            <p:cNvPr id="29755" name="Line 115"/>
            <p:cNvSpPr>
              <a:spLocks noChangeShapeType="1"/>
            </p:cNvSpPr>
            <p:nvPr/>
          </p:nvSpPr>
          <p:spPr bwMode="auto">
            <a:xfrm flipV="1">
              <a:off x="5082" y="1280"/>
              <a:ext cx="102" cy="111"/>
            </a:xfrm>
            <a:prstGeom prst="line">
              <a:avLst/>
            </a:prstGeom>
            <a:noFill/>
            <a:ln w="22225">
              <a:solidFill>
                <a:srgbClr val="000000"/>
              </a:solidFill>
              <a:round/>
              <a:headEnd/>
              <a:tailEnd/>
            </a:ln>
          </p:spPr>
          <p:txBody>
            <a:bodyPr/>
            <a:lstStyle/>
            <a:p>
              <a:endParaRPr lang="zh-CN" altLang="en-US"/>
            </a:p>
          </p:txBody>
        </p:sp>
        <p:sp>
          <p:nvSpPr>
            <p:cNvPr id="29756" name="Freeform 116"/>
            <p:cNvSpPr>
              <a:spLocks noEditPoints="1"/>
            </p:cNvSpPr>
            <p:nvPr/>
          </p:nvSpPr>
          <p:spPr bwMode="auto">
            <a:xfrm>
              <a:off x="5042" y="1211"/>
              <a:ext cx="73" cy="76"/>
            </a:xfrm>
            <a:custGeom>
              <a:avLst/>
              <a:gdLst>
                <a:gd name="T0" fmla="*/ 3 w 147"/>
                <a:gd name="T1" fmla="*/ 0 h 151"/>
                <a:gd name="T2" fmla="*/ 23 w 147"/>
                <a:gd name="T3" fmla="*/ 20 h 151"/>
                <a:gd name="T4" fmla="*/ 18 w 147"/>
                <a:gd name="T5" fmla="*/ 23 h 151"/>
                <a:gd name="T6" fmla="*/ 0 w 147"/>
                <a:gd name="T7" fmla="*/ 4 h 151"/>
                <a:gd name="T8" fmla="*/ 3 w 147"/>
                <a:gd name="T9" fmla="*/ 0 h 151"/>
                <a:gd name="T10" fmla="*/ 3 w 147"/>
                <a:gd name="T11" fmla="*/ 0 h 151"/>
                <a:gd name="T12" fmla="*/ 21 w 147"/>
                <a:gd name="T13" fmla="*/ 22 h 151"/>
                <a:gd name="T14" fmla="*/ 25 w 147"/>
                <a:gd name="T15" fmla="*/ 2 h 151"/>
                <a:gd name="T16" fmla="*/ 36 w 147"/>
                <a:gd name="T17" fmla="*/ 38 h 151"/>
                <a:gd name="T18" fmla="*/ 1 w 147"/>
                <a:gd name="T19" fmla="*/ 25 h 151"/>
                <a:gd name="T20" fmla="*/ 21 w 147"/>
                <a:gd name="T21" fmla="*/ 22 h 151"/>
                <a:gd name="T22" fmla="*/ 21 w 147"/>
                <a:gd name="T23" fmla="*/ 22 h 15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7"/>
                <a:gd name="T37" fmla="*/ 0 h 151"/>
                <a:gd name="T38" fmla="*/ 147 w 147"/>
                <a:gd name="T39" fmla="*/ 151 h 15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7" h="151">
                  <a:moveTo>
                    <a:pt x="15" y="0"/>
                  </a:moveTo>
                  <a:lnTo>
                    <a:pt x="92" y="77"/>
                  </a:lnTo>
                  <a:lnTo>
                    <a:pt x="75" y="92"/>
                  </a:lnTo>
                  <a:lnTo>
                    <a:pt x="0" y="15"/>
                  </a:lnTo>
                  <a:lnTo>
                    <a:pt x="15" y="0"/>
                  </a:lnTo>
                  <a:close/>
                  <a:moveTo>
                    <a:pt x="85" y="85"/>
                  </a:moveTo>
                  <a:lnTo>
                    <a:pt x="102" y="5"/>
                  </a:lnTo>
                  <a:lnTo>
                    <a:pt x="147" y="151"/>
                  </a:lnTo>
                  <a:lnTo>
                    <a:pt x="4" y="100"/>
                  </a:lnTo>
                  <a:lnTo>
                    <a:pt x="85" y="85"/>
                  </a:lnTo>
                  <a:close/>
                </a:path>
              </a:pathLst>
            </a:custGeom>
            <a:solidFill>
              <a:srgbClr val="000000"/>
            </a:solidFill>
            <a:ln w="9525">
              <a:noFill/>
              <a:round/>
              <a:headEnd/>
              <a:tailEnd/>
            </a:ln>
          </p:spPr>
          <p:txBody>
            <a:bodyPr/>
            <a:lstStyle/>
            <a:p>
              <a:endParaRPr lang="zh-CN" altLang="en-US"/>
            </a:p>
          </p:txBody>
        </p:sp>
        <p:sp>
          <p:nvSpPr>
            <p:cNvPr id="29757" name="Freeform 117"/>
            <p:cNvSpPr>
              <a:spLocks/>
            </p:cNvSpPr>
            <p:nvPr/>
          </p:nvSpPr>
          <p:spPr bwMode="auto">
            <a:xfrm>
              <a:off x="5042" y="1211"/>
              <a:ext cx="46" cy="47"/>
            </a:xfrm>
            <a:custGeom>
              <a:avLst/>
              <a:gdLst>
                <a:gd name="T0" fmla="*/ 3 w 92"/>
                <a:gd name="T1" fmla="*/ 0 h 92"/>
                <a:gd name="T2" fmla="*/ 23 w 92"/>
                <a:gd name="T3" fmla="*/ 20 h 92"/>
                <a:gd name="T4" fmla="*/ 19 w 92"/>
                <a:gd name="T5" fmla="*/ 24 h 92"/>
                <a:gd name="T6" fmla="*/ 0 w 92"/>
                <a:gd name="T7" fmla="*/ 4 h 92"/>
                <a:gd name="T8" fmla="*/ 3 w 92"/>
                <a:gd name="T9" fmla="*/ 0 h 92"/>
                <a:gd name="T10" fmla="*/ 3 w 92"/>
                <a:gd name="T11" fmla="*/ 0 h 92"/>
                <a:gd name="T12" fmla="*/ 0 60000 65536"/>
                <a:gd name="T13" fmla="*/ 0 60000 65536"/>
                <a:gd name="T14" fmla="*/ 0 60000 65536"/>
                <a:gd name="T15" fmla="*/ 0 60000 65536"/>
                <a:gd name="T16" fmla="*/ 0 60000 65536"/>
                <a:gd name="T17" fmla="*/ 0 60000 65536"/>
                <a:gd name="T18" fmla="*/ 0 w 92"/>
                <a:gd name="T19" fmla="*/ 0 h 92"/>
                <a:gd name="T20" fmla="*/ 92 w 92"/>
                <a:gd name="T21" fmla="*/ 92 h 92"/>
              </a:gdLst>
              <a:ahLst/>
              <a:cxnLst>
                <a:cxn ang="T12">
                  <a:pos x="T0" y="T1"/>
                </a:cxn>
                <a:cxn ang="T13">
                  <a:pos x="T2" y="T3"/>
                </a:cxn>
                <a:cxn ang="T14">
                  <a:pos x="T4" y="T5"/>
                </a:cxn>
                <a:cxn ang="T15">
                  <a:pos x="T6" y="T7"/>
                </a:cxn>
                <a:cxn ang="T16">
                  <a:pos x="T8" y="T9"/>
                </a:cxn>
                <a:cxn ang="T17">
                  <a:pos x="T10" y="T11"/>
                </a:cxn>
              </a:cxnLst>
              <a:rect l="T18" t="T19" r="T20" b="T21"/>
              <a:pathLst>
                <a:path w="92" h="92">
                  <a:moveTo>
                    <a:pt x="15" y="0"/>
                  </a:moveTo>
                  <a:lnTo>
                    <a:pt x="92" y="77"/>
                  </a:lnTo>
                  <a:lnTo>
                    <a:pt x="75" y="92"/>
                  </a:lnTo>
                  <a:lnTo>
                    <a:pt x="0" y="15"/>
                  </a:lnTo>
                  <a:lnTo>
                    <a:pt x="15" y="0"/>
                  </a:lnTo>
                  <a:close/>
                </a:path>
              </a:pathLst>
            </a:custGeom>
            <a:noFill/>
            <a:ln w="3175">
              <a:solidFill>
                <a:srgbClr val="000000"/>
              </a:solidFill>
              <a:round/>
              <a:headEnd/>
              <a:tailEnd/>
            </a:ln>
          </p:spPr>
          <p:txBody>
            <a:bodyPr/>
            <a:lstStyle/>
            <a:p>
              <a:endParaRPr lang="zh-CN" altLang="en-US"/>
            </a:p>
          </p:txBody>
        </p:sp>
        <p:sp>
          <p:nvSpPr>
            <p:cNvPr id="29758" name="Freeform 118"/>
            <p:cNvSpPr>
              <a:spLocks/>
            </p:cNvSpPr>
            <p:nvPr/>
          </p:nvSpPr>
          <p:spPr bwMode="auto">
            <a:xfrm>
              <a:off x="5043" y="1214"/>
              <a:ext cx="72" cy="73"/>
            </a:xfrm>
            <a:custGeom>
              <a:avLst/>
              <a:gdLst>
                <a:gd name="T0" fmla="*/ 21 w 143"/>
                <a:gd name="T1" fmla="*/ 20 h 146"/>
                <a:gd name="T2" fmla="*/ 25 w 143"/>
                <a:gd name="T3" fmla="*/ 0 h 146"/>
                <a:gd name="T4" fmla="*/ 36 w 143"/>
                <a:gd name="T5" fmla="*/ 37 h 146"/>
                <a:gd name="T6" fmla="*/ 0 w 143"/>
                <a:gd name="T7" fmla="*/ 23 h 146"/>
                <a:gd name="T8" fmla="*/ 21 w 143"/>
                <a:gd name="T9" fmla="*/ 20 h 146"/>
                <a:gd name="T10" fmla="*/ 21 w 143"/>
                <a:gd name="T11" fmla="*/ 20 h 146"/>
                <a:gd name="T12" fmla="*/ 0 60000 65536"/>
                <a:gd name="T13" fmla="*/ 0 60000 65536"/>
                <a:gd name="T14" fmla="*/ 0 60000 65536"/>
                <a:gd name="T15" fmla="*/ 0 60000 65536"/>
                <a:gd name="T16" fmla="*/ 0 60000 65536"/>
                <a:gd name="T17" fmla="*/ 0 60000 65536"/>
                <a:gd name="T18" fmla="*/ 0 w 143"/>
                <a:gd name="T19" fmla="*/ 0 h 146"/>
                <a:gd name="T20" fmla="*/ 143 w 143"/>
                <a:gd name="T21" fmla="*/ 146 h 146"/>
              </a:gdLst>
              <a:ahLst/>
              <a:cxnLst>
                <a:cxn ang="T12">
                  <a:pos x="T0" y="T1"/>
                </a:cxn>
                <a:cxn ang="T13">
                  <a:pos x="T2" y="T3"/>
                </a:cxn>
                <a:cxn ang="T14">
                  <a:pos x="T4" y="T5"/>
                </a:cxn>
                <a:cxn ang="T15">
                  <a:pos x="T6" y="T7"/>
                </a:cxn>
                <a:cxn ang="T16">
                  <a:pos x="T8" y="T9"/>
                </a:cxn>
                <a:cxn ang="T17">
                  <a:pos x="T10" y="T11"/>
                </a:cxn>
              </a:cxnLst>
              <a:rect l="T18" t="T19" r="T20" b="T21"/>
              <a:pathLst>
                <a:path w="143" h="146">
                  <a:moveTo>
                    <a:pt x="81" y="80"/>
                  </a:moveTo>
                  <a:lnTo>
                    <a:pt x="98" y="0"/>
                  </a:lnTo>
                  <a:lnTo>
                    <a:pt x="143" y="146"/>
                  </a:lnTo>
                  <a:lnTo>
                    <a:pt x="0" y="95"/>
                  </a:lnTo>
                  <a:lnTo>
                    <a:pt x="81" y="80"/>
                  </a:lnTo>
                  <a:close/>
                </a:path>
              </a:pathLst>
            </a:custGeom>
            <a:noFill/>
            <a:ln w="3175">
              <a:solidFill>
                <a:srgbClr val="000000"/>
              </a:solidFill>
              <a:round/>
              <a:headEnd/>
              <a:tailEnd/>
            </a:ln>
          </p:spPr>
          <p:txBody>
            <a:bodyPr/>
            <a:lstStyle/>
            <a:p>
              <a:endParaRPr lang="zh-CN" altLang="en-US"/>
            </a:p>
          </p:txBody>
        </p:sp>
        <p:sp>
          <p:nvSpPr>
            <p:cNvPr id="29759" name="Freeform 119"/>
            <p:cNvSpPr>
              <a:spLocks noEditPoints="1"/>
            </p:cNvSpPr>
            <p:nvPr/>
          </p:nvSpPr>
          <p:spPr bwMode="auto">
            <a:xfrm>
              <a:off x="5149" y="1317"/>
              <a:ext cx="83" cy="82"/>
            </a:xfrm>
            <a:custGeom>
              <a:avLst/>
              <a:gdLst>
                <a:gd name="T0" fmla="*/ 18 w 166"/>
                <a:gd name="T1" fmla="*/ 14 h 164"/>
                <a:gd name="T2" fmla="*/ 42 w 166"/>
                <a:gd name="T3" fmla="*/ 37 h 164"/>
                <a:gd name="T4" fmla="*/ 38 w 166"/>
                <a:gd name="T5" fmla="*/ 41 h 164"/>
                <a:gd name="T6" fmla="*/ 14 w 166"/>
                <a:gd name="T7" fmla="*/ 19 h 164"/>
                <a:gd name="T8" fmla="*/ 18 w 166"/>
                <a:gd name="T9" fmla="*/ 14 h 164"/>
                <a:gd name="T10" fmla="*/ 18 w 166"/>
                <a:gd name="T11" fmla="*/ 14 h 164"/>
                <a:gd name="T12" fmla="*/ 16 w 166"/>
                <a:gd name="T13" fmla="*/ 16 h 164"/>
                <a:gd name="T14" fmla="*/ 12 w 166"/>
                <a:gd name="T15" fmla="*/ 37 h 164"/>
                <a:gd name="T16" fmla="*/ 0 w 166"/>
                <a:gd name="T17" fmla="*/ 0 h 164"/>
                <a:gd name="T18" fmla="*/ 37 w 166"/>
                <a:gd name="T19" fmla="*/ 11 h 164"/>
                <a:gd name="T20" fmla="*/ 16 w 166"/>
                <a:gd name="T21" fmla="*/ 16 h 164"/>
                <a:gd name="T22" fmla="*/ 16 w 166"/>
                <a:gd name="T23" fmla="*/ 16 h 1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66"/>
                <a:gd name="T37" fmla="*/ 0 h 164"/>
                <a:gd name="T38" fmla="*/ 166 w 166"/>
                <a:gd name="T39" fmla="*/ 164 h 1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66" h="164">
                  <a:moveTo>
                    <a:pt x="72" y="57"/>
                  </a:moveTo>
                  <a:lnTo>
                    <a:pt x="166" y="147"/>
                  </a:lnTo>
                  <a:lnTo>
                    <a:pt x="151" y="164"/>
                  </a:lnTo>
                  <a:lnTo>
                    <a:pt x="56" y="74"/>
                  </a:lnTo>
                  <a:lnTo>
                    <a:pt x="72" y="57"/>
                  </a:lnTo>
                  <a:close/>
                  <a:moveTo>
                    <a:pt x="64" y="64"/>
                  </a:moveTo>
                  <a:lnTo>
                    <a:pt x="49" y="145"/>
                  </a:lnTo>
                  <a:lnTo>
                    <a:pt x="0" y="0"/>
                  </a:lnTo>
                  <a:lnTo>
                    <a:pt x="145" y="47"/>
                  </a:lnTo>
                  <a:lnTo>
                    <a:pt x="64" y="64"/>
                  </a:lnTo>
                  <a:close/>
                </a:path>
              </a:pathLst>
            </a:custGeom>
            <a:solidFill>
              <a:srgbClr val="000000"/>
            </a:solidFill>
            <a:ln w="9525">
              <a:noFill/>
              <a:round/>
              <a:headEnd/>
              <a:tailEnd/>
            </a:ln>
          </p:spPr>
          <p:txBody>
            <a:bodyPr/>
            <a:lstStyle/>
            <a:p>
              <a:endParaRPr lang="zh-CN" altLang="en-US"/>
            </a:p>
          </p:txBody>
        </p:sp>
        <p:sp>
          <p:nvSpPr>
            <p:cNvPr id="29760" name="Freeform 120"/>
            <p:cNvSpPr>
              <a:spLocks/>
            </p:cNvSpPr>
            <p:nvPr/>
          </p:nvSpPr>
          <p:spPr bwMode="auto">
            <a:xfrm>
              <a:off x="5177" y="1345"/>
              <a:ext cx="55" cy="54"/>
            </a:xfrm>
            <a:custGeom>
              <a:avLst/>
              <a:gdLst>
                <a:gd name="T0" fmla="*/ 4 w 110"/>
                <a:gd name="T1" fmla="*/ 0 h 107"/>
                <a:gd name="T2" fmla="*/ 28 w 110"/>
                <a:gd name="T3" fmla="*/ 23 h 107"/>
                <a:gd name="T4" fmla="*/ 24 w 110"/>
                <a:gd name="T5" fmla="*/ 27 h 107"/>
                <a:gd name="T6" fmla="*/ 0 w 110"/>
                <a:gd name="T7" fmla="*/ 5 h 107"/>
                <a:gd name="T8" fmla="*/ 4 w 110"/>
                <a:gd name="T9" fmla="*/ 0 h 107"/>
                <a:gd name="T10" fmla="*/ 4 w 110"/>
                <a:gd name="T11" fmla="*/ 0 h 107"/>
                <a:gd name="T12" fmla="*/ 0 60000 65536"/>
                <a:gd name="T13" fmla="*/ 0 60000 65536"/>
                <a:gd name="T14" fmla="*/ 0 60000 65536"/>
                <a:gd name="T15" fmla="*/ 0 60000 65536"/>
                <a:gd name="T16" fmla="*/ 0 60000 65536"/>
                <a:gd name="T17" fmla="*/ 0 60000 65536"/>
                <a:gd name="T18" fmla="*/ 0 w 110"/>
                <a:gd name="T19" fmla="*/ 0 h 107"/>
                <a:gd name="T20" fmla="*/ 110 w 110"/>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10" h="107">
                  <a:moveTo>
                    <a:pt x="16" y="0"/>
                  </a:moveTo>
                  <a:lnTo>
                    <a:pt x="110" y="90"/>
                  </a:lnTo>
                  <a:lnTo>
                    <a:pt x="95" y="107"/>
                  </a:lnTo>
                  <a:lnTo>
                    <a:pt x="0" y="17"/>
                  </a:lnTo>
                  <a:lnTo>
                    <a:pt x="16" y="0"/>
                  </a:lnTo>
                  <a:close/>
                </a:path>
              </a:pathLst>
            </a:custGeom>
            <a:noFill/>
            <a:ln w="3175">
              <a:solidFill>
                <a:srgbClr val="000000"/>
              </a:solidFill>
              <a:round/>
              <a:headEnd/>
              <a:tailEnd/>
            </a:ln>
          </p:spPr>
          <p:txBody>
            <a:bodyPr/>
            <a:lstStyle/>
            <a:p>
              <a:endParaRPr lang="zh-CN" altLang="en-US"/>
            </a:p>
          </p:txBody>
        </p:sp>
        <p:sp>
          <p:nvSpPr>
            <p:cNvPr id="29761" name="Freeform 121"/>
            <p:cNvSpPr>
              <a:spLocks/>
            </p:cNvSpPr>
            <p:nvPr/>
          </p:nvSpPr>
          <p:spPr bwMode="auto">
            <a:xfrm>
              <a:off x="5149" y="1317"/>
              <a:ext cx="73" cy="73"/>
            </a:xfrm>
            <a:custGeom>
              <a:avLst/>
              <a:gdLst>
                <a:gd name="T0" fmla="*/ 16 w 145"/>
                <a:gd name="T1" fmla="*/ 16 h 145"/>
                <a:gd name="T2" fmla="*/ 13 w 145"/>
                <a:gd name="T3" fmla="*/ 37 h 145"/>
                <a:gd name="T4" fmla="*/ 0 w 145"/>
                <a:gd name="T5" fmla="*/ 0 h 145"/>
                <a:gd name="T6" fmla="*/ 37 w 145"/>
                <a:gd name="T7" fmla="*/ 12 h 145"/>
                <a:gd name="T8" fmla="*/ 16 w 145"/>
                <a:gd name="T9" fmla="*/ 16 h 145"/>
                <a:gd name="T10" fmla="*/ 16 w 145"/>
                <a:gd name="T11" fmla="*/ 16 h 145"/>
                <a:gd name="T12" fmla="*/ 0 60000 65536"/>
                <a:gd name="T13" fmla="*/ 0 60000 65536"/>
                <a:gd name="T14" fmla="*/ 0 60000 65536"/>
                <a:gd name="T15" fmla="*/ 0 60000 65536"/>
                <a:gd name="T16" fmla="*/ 0 60000 65536"/>
                <a:gd name="T17" fmla="*/ 0 60000 65536"/>
                <a:gd name="T18" fmla="*/ 0 w 145"/>
                <a:gd name="T19" fmla="*/ 0 h 145"/>
                <a:gd name="T20" fmla="*/ 145 w 145"/>
                <a:gd name="T21" fmla="*/ 145 h 145"/>
              </a:gdLst>
              <a:ahLst/>
              <a:cxnLst>
                <a:cxn ang="T12">
                  <a:pos x="T0" y="T1"/>
                </a:cxn>
                <a:cxn ang="T13">
                  <a:pos x="T2" y="T3"/>
                </a:cxn>
                <a:cxn ang="T14">
                  <a:pos x="T4" y="T5"/>
                </a:cxn>
                <a:cxn ang="T15">
                  <a:pos x="T6" y="T7"/>
                </a:cxn>
                <a:cxn ang="T16">
                  <a:pos x="T8" y="T9"/>
                </a:cxn>
                <a:cxn ang="T17">
                  <a:pos x="T10" y="T11"/>
                </a:cxn>
              </a:cxnLst>
              <a:rect l="T18" t="T19" r="T20" b="T21"/>
              <a:pathLst>
                <a:path w="145" h="145">
                  <a:moveTo>
                    <a:pt x="64" y="64"/>
                  </a:moveTo>
                  <a:lnTo>
                    <a:pt x="49" y="145"/>
                  </a:lnTo>
                  <a:lnTo>
                    <a:pt x="0" y="0"/>
                  </a:lnTo>
                  <a:lnTo>
                    <a:pt x="145" y="47"/>
                  </a:lnTo>
                  <a:lnTo>
                    <a:pt x="64" y="64"/>
                  </a:lnTo>
                  <a:close/>
                </a:path>
              </a:pathLst>
            </a:custGeom>
            <a:noFill/>
            <a:ln w="3175">
              <a:solidFill>
                <a:srgbClr val="000000"/>
              </a:solidFill>
              <a:round/>
              <a:headEnd/>
              <a:tailEnd/>
            </a:ln>
          </p:spPr>
          <p:txBody>
            <a:bodyPr/>
            <a:lstStyle/>
            <a:p>
              <a:endParaRPr lang="zh-CN" altLang="en-US"/>
            </a:p>
          </p:txBody>
        </p:sp>
        <p:sp>
          <p:nvSpPr>
            <p:cNvPr id="29762" name="Rectangle 122"/>
            <p:cNvSpPr>
              <a:spLocks noChangeArrowheads="1"/>
            </p:cNvSpPr>
            <p:nvPr/>
          </p:nvSpPr>
          <p:spPr bwMode="auto">
            <a:xfrm rot="5400000">
              <a:off x="3380" y="2179"/>
              <a:ext cx="28" cy="117"/>
            </a:xfrm>
            <a:prstGeom prst="rect">
              <a:avLst/>
            </a:prstGeom>
            <a:noFill/>
            <a:ln w="9525">
              <a:noFill/>
              <a:miter lim="800000"/>
              <a:headEnd/>
              <a:tailEnd/>
            </a:ln>
          </p:spPr>
          <p:txBody>
            <a:bodyPr wrap="none" lIns="0" tIns="0" rIns="0" bIns="0">
              <a:spAutoFit/>
            </a:bodyPr>
            <a:lstStyle/>
            <a:p>
              <a:pPr defTabSz="914400"/>
              <a:r>
                <a:rPr lang="zh-CN" altLang="en-US" sz="1300">
                  <a:solidFill>
                    <a:srgbClr val="000000"/>
                  </a:solidFill>
                  <a:ea typeface="楷体_GB2312" pitchFamily="49" charset="-122"/>
                </a:rPr>
                <a:t> </a:t>
              </a:r>
              <a:endParaRPr lang="zh-CN" altLang="en-US" sz="2800" b="1">
                <a:latin typeface="楷体_GB2312" pitchFamily="49" charset="-122"/>
                <a:ea typeface="楷体_GB2312" pitchFamily="49" charset="-122"/>
              </a:endParaRPr>
            </a:p>
          </p:txBody>
        </p:sp>
        <p:sp>
          <p:nvSpPr>
            <p:cNvPr id="29763" name="Rectangle 123"/>
            <p:cNvSpPr>
              <a:spLocks noChangeArrowheads="1"/>
            </p:cNvSpPr>
            <p:nvPr/>
          </p:nvSpPr>
          <p:spPr bwMode="auto">
            <a:xfrm>
              <a:off x="4209" y="1175"/>
              <a:ext cx="524" cy="130"/>
            </a:xfrm>
            <a:prstGeom prst="rect">
              <a:avLst/>
            </a:prstGeom>
            <a:noFill/>
            <a:ln w="9525">
              <a:noFill/>
              <a:miter lim="800000"/>
              <a:headEnd/>
              <a:tailEnd/>
            </a:ln>
          </p:spPr>
          <p:txBody>
            <a:bodyPr wrap="none" lIns="0" tIns="0" rIns="0" bIns="0">
              <a:spAutoFit/>
            </a:bodyPr>
            <a:lstStyle/>
            <a:p>
              <a:pPr defTabSz="914400"/>
              <a:r>
                <a:rPr lang="zh-CN" altLang="en-US" sz="1400">
                  <a:solidFill>
                    <a:srgbClr val="000000"/>
                  </a:solidFill>
                  <a:latin typeface="宋体" pitchFamily="2" charset="-122"/>
                </a:rPr>
                <a:t>光电探测器</a:t>
              </a:r>
              <a:endParaRPr lang="zh-CN" altLang="en-US" sz="2800" b="1">
                <a:latin typeface="楷体_GB2312" pitchFamily="49" charset="-122"/>
                <a:ea typeface="楷体_GB2312" pitchFamily="49" charset="-122"/>
              </a:endParaRPr>
            </a:p>
          </p:txBody>
        </p:sp>
        <p:sp>
          <p:nvSpPr>
            <p:cNvPr id="29764" name="Rectangle 124"/>
            <p:cNvSpPr>
              <a:spLocks noChangeArrowheads="1"/>
            </p:cNvSpPr>
            <p:nvPr/>
          </p:nvSpPr>
          <p:spPr bwMode="auto">
            <a:xfrm>
              <a:off x="4847" y="1179"/>
              <a:ext cx="25" cy="122"/>
            </a:xfrm>
            <a:prstGeom prst="rect">
              <a:avLst/>
            </a:prstGeom>
            <a:noFill/>
            <a:ln w="9525">
              <a:noFill/>
              <a:miter lim="800000"/>
              <a:headEnd/>
              <a:tailEnd/>
            </a:ln>
          </p:spPr>
          <p:txBody>
            <a:bodyPr wrap="none" lIns="0" tIns="0" rIns="0" bIns="0">
              <a:spAutoFit/>
            </a:bodyPr>
            <a:lstStyle/>
            <a:p>
              <a:pPr defTabSz="914400"/>
              <a:r>
                <a:rPr lang="zh-CN" altLang="en-US" sz="1300">
                  <a:solidFill>
                    <a:srgbClr val="000000"/>
                  </a:solidFill>
                  <a:latin typeface="Times New Roman" pitchFamily="18" charset="0"/>
                  <a:ea typeface="楷体_GB2312" pitchFamily="49" charset="-122"/>
                </a:rPr>
                <a:t> </a:t>
              </a:r>
              <a:endParaRPr lang="zh-CN" altLang="en-US" sz="2800" b="1">
                <a:latin typeface="楷体_GB2312" pitchFamily="49" charset="-122"/>
                <a:ea typeface="楷体_GB2312" pitchFamily="49" charset="-122"/>
              </a:endParaRPr>
            </a:p>
          </p:txBody>
        </p:sp>
        <p:sp>
          <p:nvSpPr>
            <p:cNvPr id="29765" name="Rectangle 125"/>
            <p:cNvSpPr>
              <a:spLocks noChangeArrowheads="1"/>
            </p:cNvSpPr>
            <p:nvPr/>
          </p:nvSpPr>
          <p:spPr bwMode="auto">
            <a:xfrm>
              <a:off x="4785" y="1887"/>
              <a:ext cx="419" cy="131"/>
            </a:xfrm>
            <a:prstGeom prst="rect">
              <a:avLst/>
            </a:prstGeom>
            <a:noFill/>
            <a:ln w="9525">
              <a:noFill/>
              <a:miter lim="800000"/>
              <a:headEnd/>
              <a:tailEnd/>
            </a:ln>
          </p:spPr>
          <p:txBody>
            <a:bodyPr wrap="none" lIns="0" tIns="0" rIns="0" bIns="0">
              <a:spAutoFit/>
            </a:bodyPr>
            <a:lstStyle/>
            <a:p>
              <a:pPr defTabSz="914400"/>
              <a:r>
                <a:rPr lang="zh-CN" altLang="en-US" sz="1400">
                  <a:solidFill>
                    <a:srgbClr val="000000"/>
                  </a:solidFill>
                  <a:latin typeface="宋体" pitchFamily="2" charset="-122"/>
                </a:rPr>
                <a:t>接收透镜</a:t>
              </a:r>
              <a:endParaRPr lang="zh-CN" altLang="en-US" sz="2800" b="1">
                <a:latin typeface="楷体_GB2312" pitchFamily="49" charset="-122"/>
                <a:ea typeface="楷体_GB2312" pitchFamily="49" charset="-122"/>
              </a:endParaRPr>
            </a:p>
          </p:txBody>
        </p:sp>
        <p:sp>
          <p:nvSpPr>
            <p:cNvPr id="29766" name="Rectangle 126"/>
            <p:cNvSpPr>
              <a:spLocks noChangeArrowheads="1"/>
            </p:cNvSpPr>
            <p:nvPr/>
          </p:nvSpPr>
          <p:spPr bwMode="auto">
            <a:xfrm>
              <a:off x="5185" y="1890"/>
              <a:ext cx="25" cy="122"/>
            </a:xfrm>
            <a:prstGeom prst="rect">
              <a:avLst/>
            </a:prstGeom>
            <a:noFill/>
            <a:ln w="9525">
              <a:noFill/>
              <a:miter lim="800000"/>
              <a:headEnd/>
              <a:tailEnd/>
            </a:ln>
          </p:spPr>
          <p:txBody>
            <a:bodyPr wrap="none" lIns="0" tIns="0" rIns="0" bIns="0">
              <a:spAutoFit/>
            </a:bodyPr>
            <a:lstStyle/>
            <a:p>
              <a:pPr defTabSz="914400"/>
              <a:r>
                <a:rPr lang="zh-CN" altLang="en-US" sz="1300">
                  <a:solidFill>
                    <a:srgbClr val="000000"/>
                  </a:solidFill>
                  <a:latin typeface="Times New Roman" pitchFamily="18" charset="0"/>
                  <a:ea typeface="楷体_GB2312" pitchFamily="49" charset="-122"/>
                </a:rPr>
                <a:t> </a:t>
              </a:r>
              <a:endParaRPr lang="zh-CN" altLang="en-US" sz="2800" b="1">
                <a:latin typeface="楷体_GB2312" pitchFamily="49" charset="-122"/>
                <a:ea typeface="楷体_GB2312" pitchFamily="49" charset="-122"/>
              </a:endParaRPr>
            </a:p>
          </p:txBody>
        </p:sp>
        <p:sp>
          <p:nvSpPr>
            <p:cNvPr id="29767" name="Freeform 127"/>
            <p:cNvSpPr>
              <a:spLocks/>
            </p:cNvSpPr>
            <p:nvPr/>
          </p:nvSpPr>
          <p:spPr bwMode="auto">
            <a:xfrm>
              <a:off x="3283" y="1255"/>
              <a:ext cx="363" cy="457"/>
            </a:xfrm>
            <a:custGeom>
              <a:avLst/>
              <a:gdLst>
                <a:gd name="T0" fmla="*/ 0 w 726"/>
                <a:gd name="T1" fmla="*/ 45 h 915"/>
                <a:gd name="T2" fmla="*/ 91 w 726"/>
                <a:gd name="T3" fmla="*/ 228 h 915"/>
                <a:gd name="T4" fmla="*/ 182 w 726"/>
                <a:gd name="T5" fmla="*/ 183 h 915"/>
                <a:gd name="T6" fmla="*/ 90 w 726"/>
                <a:gd name="T7" fmla="*/ 0 h 915"/>
                <a:gd name="T8" fmla="*/ 0 w 726"/>
                <a:gd name="T9" fmla="*/ 45 h 915"/>
                <a:gd name="T10" fmla="*/ 0 60000 65536"/>
                <a:gd name="T11" fmla="*/ 0 60000 65536"/>
                <a:gd name="T12" fmla="*/ 0 60000 65536"/>
                <a:gd name="T13" fmla="*/ 0 60000 65536"/>
                <a:gd name="T14" fmla="*/ 0 60000 65536"/>
                <a:gd name="T15" fmla="*/ 0 w 726"/>
                <a:gd name="T16" fmla="*/ 0 h 915"/>
                <a:gd name="T17" fmla="*/ 726 w 726"/>
                <a:gd name="T18" fmla="*/ 915 h 915"/>
              </a:gdLst>
              <a:ahLst/>
              <a:cxnLst>
                <a:cxn ang="T10">
                  <a:pos x="T0" y="T1"/>
                </a:cxn>
                <a:cxn ang="T11">
                  <a:pos x="T2" y="T3"/>
                </a:cxn>
                <a:cxn ang="T12">
                  <a:pos x="T4" y="T5"/>
                </a:cxn>
                <a:cxn ang="T13">
                  <a:pos x="T6" y="T7"/>
                </a:cxn>
                <a:cxn ang="T14">
                  <a:pos x="T8" y="T9"/>
                </a:cxn>
              </a:cxnLst>
              <a:rect l="T15" t="T16" r="T17" b="T18"/>
              <a:pathLst>
                <a:path w="726" h="915">
                  <a:moveTo>
                    <a:pt x="0" y="181"/>
                  </a:moveTo>
                  <a:lnTo>
                    <a:pt x="366" y="915"/>
                  </a:lnTo>
                  <a:lnTo>
                    <a:pt x="726" y="734"/>
                  </a:lnTo>
                  <a:lnTo>
                    <a:pt x="360" y="0"/>
                  </a:lnTo>
                  <a:lnTo>
                    <a:pt x="0" y="181"/>
                  </a:lnTo>
                  <a:close/>
                </a:path>
              </a:pathLst>
            </a:custGeom>
            <a:noFill/>
            <a:ln w="22225">
              <a:solidFill>
                <a:srgbClr val="000000"/>
              </a:solidFill>
              <a:round/>
              <a:headEnd/>
              <a:tailEnd/>
            </a:ln>
          </p:spPr>
          <p:txBody>
            <a:bodyPr/>
            <a:lstStyle/>
            <a:p>
              <a:endParaRPr lang="zh-CN" altLang="en-US"/>
            </a:p>
          </p:txBody>
        </p:sp>
        <p:sp>
          <p:nvSpPr>
            <p:cNvPr id="29768" name="Freeform 128"/>
            <p:cNvSpPr>
              <a:spLocks noEditPoints="1"/>
            </p:cNvSpPr>
            <p:nvPr/>
          </p:nvSpPr>
          <p:spPr bwMode="auto">
            <a:xfrm>
              <a:off x="3848" y="2203"/>
              <a:ext cx="130" cy="65"/>
            </a:xfrm>
            <a:custGeom>
              <a:avLst/>
              <a:gdLst>
                <a:gd name="T0" fmla="*/ 20 w 261"/>
                <a:gd name="T1" fmla="*/ 17 h 130"/>
                <a:gd name="T2" fmla="*/ 22 w 261"/>
                <a:gd name="T3" fmla="*/ 16 h 130"/>
                <a:gd name="T4" fmla="*/ 31 w 261"/>
                <a:gd name="T5" fmla="*/ 16 h 130"/>
                <a:gd name="T6" fmla="*/ 40 w 261"/>
                <a:gd name="T7" fmla="*/ 16 h 130"/>
                <a:gd name="T8" fmla="*/ 43 w 261"/>
                <a:gd name="T9" fmla="*/ 16 h 130"/>
                <a:gd name="T10" fmla="*/ 42 w 261"/>
                <a:gd name="T11" fmla="*/ 22 h 130"/>
                <a:gd name="T12" fmla="*/ 39 w 261"/>
                <a:gd name="T13" fmla="*/ 21 h 130"/>
                <a:gd name="T14" fmla="*/ 31 w 261"/>
                <a:gd name="T15" fmla="*/ 21 h 130"/>
                <a:gd name="T16" fmla="*/ 24 w 261"/>
                <a:gd name="T17" fmla="*/ 22 h 130"/>
                <a:gd name="T18" fmla="*/ 22 w 261"/>
                <a:gd name="T19" fmla="*/ 22 h 130"/>
                <a:gd name="T20" fmla="*/ 20 w 261"/>
                <a:gd name="T21" fmla="*/ 17 h 130"/>
                <a:gd name="T22" fmla="*/ 20 w 261"/>
                <a:gd name="T23" fmla="*/ 17 h 130"/>
                <a:gd name="T24" fmla="*/ 21 w 261"/>
                <a:gd name="T25" fmla="*/ 19 h 130"/>
                <a:gd name="T26" fmla="*/ 37 w 261"/>
                <a:gd name="T27" fmla="*/ 32 h 130"/>
                <a:gd name="T28" fmla="*/ 0 w 261"/>
                <a:gd name="T29" fmla="*/ 27 h 130"/>
                <a:gd name="T30" fmla="*/ 26 w 261"/>
                <a:gd name="T31" fmla="*/ 0 h 130"/>
                <a:gd name="T32" fmla="*/ 21 w 261"/>
                <a:gd name="T33" fmla="*/ 19 h 130"/>
                <a:gd name="T34" fmla="*/ 21 w 261"/>
                <a:gd name="T35" fmla="*/ 19 h 130"/>
                <a:gd name="T36" fmla="*/ 43 w 261"/>
                <a:gd name="T37" fmla="*/ 19 h 130"/>
                <a:gd name="T38" fmla="*/ 36 w 261"/>
                <a:gd name="T39" fmla="*/ 0 h 130"/>
                <a:gd name="T40" fmla="*/ 65 w 261"/>
                <a:gd name="T41" fmla="*/ 26 h 130"/>
                <a:gd name="T42" fmla="*/ 27 w 261"/>
                <a:gd name="T43" fmla="*/ 33 h 130"/>
                <a:gd name="T44" fmla="*/ 43 w 261"/>
                <a:gd name="T45" fmla="*/ 19 h 130"/>
                <a:gd name="T46" fmla="*/ 43 w 261"/>
                <a:gd name="T47" fmla="*/ 19 h 13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61"/>
                <a:gd name="T73" fmla="*/ 0 h 130"/>
                <a:gd name="T74" fmla="*/ 261 w 261"/>
                <a:gd name="T75" fmla="*/ 130 h 13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61" h="130">
                  <a:moveTo>
                    <a:pt x="83" y="68"/>
                  </a:moveTo>
                  <a:lnTo>
                    <a:pt x="91" y="66"/>
                  </a:lnTo>
                  <a:lnTo>
                    <a:pt x="125" y="64"/>
                  </a:lnTo>
                  <a:lnTo>
                    <a:pt x="161" y="64"/>
                  </a:lnTo>
                  <a:lnTo>
                    <a:pt x="174" y="66"/>
                  </a:lnTo>
                  <a:lnTo>
                    <a:pt x="170" y="89"/>
                  </a:lnTo>
                  <a:lnTo>
                    <a:pt x="159" y="87"/>
                  </a:lnTo>
                  <a:lnTo>
                    <a:pt x="127" y="87"/>
                  </a:lnTo>
                  <a:lnTo>
                    <a:pt x="97" y="89"/>
                  </a:lnTo>
                  <a:lnTo>
                    <a:pt x="89" y="91"/>
                  </a:lnTo>
                  <a:lnTo>
                    <a:pt x="83" y="68"/>
                  </a:lnTo>
                  <a:close/>
                  <a:moveTo>
                    <a:pt x="87" y="79"/>
                  </a:moveTo>
                  <a:lnTo>
                    <a:pt x="151" y="128"/>
                  </a:lnTo>
                  <a:lnTo>
                    <a:pt x="0" y="110"/>
                  </a:lnTo>
                  <a:lnTo>
                    <a:pt x="106" y="0"/>
                  </a:lnTo>
                  <a:lnTo>
                    <a:pt x="87" y="79"/>
                  </a:lnTo>
                  <a:close/>
                  <a:moveTo>
                    <a:pt x="172" y="78"/>
                  </a:moveTo>
                  <a:lnTo>
                    <a:pt x="147" y="0"/>
                  </a:lnTo>
                  <a:lnTo>
                    <a:pt x="261" y="104"/>
                  </a:lnTo>
                  <a:lnTo>
                    <a:pt x="110" y="130"/>
                  </a:lnTo>
                  <a:lnTo>
                    <a:pt x="172" y="78"/>
                  </a:lnTo>
                  <a:close/>
                </a:path>
              </a:pathLst>
            </a:custGeom>
            <a:solidFill>
              <a:srgbClr val="000000"/>
            </a:solidFill>
            <a:ln w="9525">
              <a:noFill/>
              <a:round/>
              <a:headEnd/>
              <a:tailEnd/>
            </a:ln>
          </p:spPr>
          <p:txBody>
            <a:bodyPr/>
            <a:lstStyle/>
            <a:p>
              <a:endParaRPr lang="zh-CN" altLang="en-US"/>
            </a:p>
          </p:txBody>
        </p:sp>
        <p:sp>
          <p:nvSpPr>
            <p:cNvPr id="29769" name="Freeform 129"/>
            <p:cNvSpPr>
              <a:spLocks/>
            </p:cNvSpPr>
            <p:nvPr/>
          </p:nvSpPr>
          <p:spPr bwMode="auto">
            <a:xfrm>
              <a:off x="3890" y="2235"/>
              <a:ext cx="45" cy="13"/>
            </a:xfrm>
            <a:custGeom>
              <a:avLst/>
              <a:gdLst>
                <a:gd name="T0" fmla="*/ 0 w 91"/>
                <a:gd name="T1" fmla="*/ 1 h 27"/>
                <a:gd name="T2" fmla="*/ 2 w 91"/>
                <a:gd name="T3" fmla="*/ 0 h 27"/>
                <a:gd name="T4" fmla="*/ 10 w 91"/>
                <a:gd name="T5" fmla="*/ 0 h 27"/>
                <a:gd name="T6" fmla="*/ 19 w 91"/>
                <a:gd name="T7" fmla="*/ 0 h 27"/>
                <a:gd name="T8" fmla="*/ 22 w 91"/>
                <a:gd name="T9" fmla="*/ 0 h 27"/>
                <a:gd name="T10" fmla="*/ 21 w 91"/>
                <a:gd name="T11" fmla="*/ 6 h 27"/>
                <a:gd name="T12" fmla="*/ 19 w 91"/>
                <a:gd name="T13" fmla="*/ 5 h 27"/>
                <a:gd name="T14" fmla="*/ 11 w 91"/>
                <a:gd name="T15" fmla="*/ 5 h 27"/>
                <a:gd name="T16" fmla="*/ 3 w 91"/>
                <a:gd name="T17" fmla="*/ 6 h 27"/>
                <a:gd name="T18" fmla="*/ 1 w 91"/>
                <a:gd name="T19" fmla="*/ 6 h 27"/>
                <a:gd name="T20" fmla="*/ 0 w 91"/>
                <a:gd name="T21" fmla="*/ 1 h 27"/>
                <a:gd name="T22" fmla="*/ 0 w 91"/>
                <a:gd name="T23" fmla="*/ 1 h 2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1"/>
                <a:gd name="T37" fmla="*/ 0 h 27"/>
                <a:gd name="T38" fmla="*/ 91 w 91"/>
                <a:gd name="T39" fmla="*/ 27 h 2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1" h="27">
                  <a:moveTo>
                    <a:pt x="0" y="4"/>
                  </a:moveTo>
                  <a:lnTo>
                    <a:pt x="8" y="2"/>
                  </a:lnTo>
                  <a:lnTo>
                    <a:pt x="42" y="0"/>
                  </a:lnTo>
                  <a:lnTo>
                    <a:pt x="78" y="0"/>
                  </a:lnTo>
                  <a:lnTo>
                    <a:pt x="91" y="2"/>
                  </a:lnTo>
                  <a:lnTo>
                    <a:pt x="87" y="25"/>
                  </a:lnTo>
                  <a:lnTo>
                    <a:pt x="76" y="23"/>
                  </a:lnTo>
                  <a:lnTo>
                    <a:pt x="44" y="23"/>
                  </a:lnTo>
                  <a:lnTo>
                    <a:pt x="14" y="25"/>
                  </a:lnTo>
                  <a:lnTo>
                    <a:pt x="6" y="27"/>
                  </a:lnTo>
                  <a:lnTo>
                    <a:pt x="0" y="4"/>
                  </a:lnTo>
                  <a:close/>
                </a:path>
              </a:pathLst>
            </a:custGeom>
            <a:noFill/>
            <a:ln w="3175">
              <a:solidFill>
                <a:srgbClr val="000000"/>
              </a:solidFill>
              <a:round/>
              <a:headEnd/>
              <a:tailEnd/>
            </a:ln>
          </p:spPr>
          <p:txBody>
            <a:bodyPr/>
            <a:lstStyle/>
            <a:p>
              <a:endParaRPr lang="zh-CN" altLang="en-US"/>
            </a:p>
          </p:txBody>
        </p:sp>
        <p:sp>
          <p:nvSpPr>
            <p:cNvPr id="29770" name="Freeform 130"/>
            <p:cNvSpPr>
              <a:spLocks/>
            </p:cNvSpPr>
            <p:nvPr/>
          </p:nvSpPr>
          <p:spPr bwMode="auto">
            <a:xfrm>
              <a:off x="3848" y="2203"/>
              <a:ext cx="76" cy="64"/>
            </a:xfrm>
            <a:custGeom>
              <a:avLst/>
              <a:gdLst>
                <a:gd name="T0" fmla="*/ 22 w 151"/>
                <a:gd name="T1" fmla="*/ 19 h 128"/>
                <a:gd name="T2" fmla="*/ 38 w 151"/>
                <a:gd name="T3" fmla="*/ 32 h 128"/>
                <a:gd name="T4" fmla="*/ 0 w 151"/>
                <a:gd name="T5" fmla="*/ 27 h 128"/>
                <a:gd name="T6" fmla="*/ 27 w 151"/>
                <a:gd name="T7" fmla="*/ 0 h 128"/>
                <a:gd name="T8" fmla="*/ 22 w 151"/>
                <a:gd name="T9" fmla="*/ 19 h 128"/>
                <a:gd name="T10" fmla="*/ 22 w 151"/>
                <a:gd name="T11" fmla="*/ 19 h 128"/>
                <a:gd name="T12" fmla="*/ 0 60000 65536"/>
                <a:gd name="T13" fmla="*/ 0 60000 65536"/>
                <a:gd name="T14" fmla="*/ 0 60000 65536"/>
                <a:gd name="T15" fmla="*/ 0 60000 65536"/>
                <a:gd name="T16" fmla="*/ 0 60000 65536"/>
                <a:gd name="T17" fmla="*/ 0 60000 65536"/>
                <a:gd name="T18" fmla="*/ 0 w 151"/>
                <a:gd name="T19" fmla="*/ 0 h 128"/>
                <a:gd name="T20" fmla="*/ 151 w 151"/>
                <a:gd name="T21" fmla="*/ 128 h 128"/>
              </a:gdLst>
              <a:ahLst/>
              <a:cxnLst>
                <a:cxn ang="T12">
                  <a:pos x="T0" y="T1"/>
                </a:cxn>
                <a:cxn ang="T13">
                  <a:pos x="T2" y="T3"/>
                </a:cxn>
                <a:cxn ang="T14">
                  <a:pos x="T4" y="T5"/>
                </a:cxn>
                <a:cxn ang="T15">
                  <a:pos x="T6" y="T7"/>
                </a:cxn>
                <a:cxn ang="T16">
                  <a:pos x="T8" y="T9"/>
                </a:cxn>
                <a:cxn ang="T17">
                  <a:pos x="T10" y="T11"/>
                </a:cxn>
              </a:cxnLst>
              <a:rect l="T18" t="T19" r="T20" b="T21"/>
              <a:pathLst>
                <a:path w="151" h="128">
                  <a:moveTo>
                    <a:pt x="87" y="79"/>
                  </a:moveTo>
                  <a:lnTo>
                    <a:pt x="151" y="128"/>
                  </a:lnTo>
                  <a:lnTo>
                    <a:pt x="0" y="110"/>
                  </a:lnTo>
                  <a:lnTo>
                    <a:pt x="106" y="0"/>
                  </a:lnTo>
                  <a:lnTo>
                    <a:pt x="87" y="79"/>
                  </a:lnTo>
                </a:path>
              </a:pathLst>
            </a:custGeom>
            <a:noFill/>
            <a:ln w="3175">
              <a:solidFill>
                <a:srgbClr val="000000"/>
              </a:solidFill>
              <a:round/>
              <a:headEnd/>
              <a:tailEnd/>
            </a:ln>
          </p:spPr>
          <p:txBody>
            <a:bodyPr/>
            <a:lstStyle/>
            <a:p>
              <a:endParaRPr lang="zh-CN" altLang="en-US"/>
            </a:p>
          </p:txBody>
        </p:sp>
        <p:sp>
          <p:nvSpPr>
            <p:cNvPr id="29771" name="Freeform 131"/>
            <p:cNvSpPr>
              <a:spLocks/>
            </p:cNvSpPr>
            <p:nvPr/>
          </p:nvSpPr>
          <p:spPr bwMode="auto">
            <a:xfrm>
              <a:off x="3903" y="2203"/>
              <a:ext cx="75" cy="65"/>
            </a:xfrm>
            <a:custGeom>
              <a:avLst/>
              <a:gdLst>
                <a:gd name="T0" fmla="*/ 15 w 151"/>
                <a:gd name="T1" fmla="*/ 19 h 130"/>
                <a:gd name="T2" fmla="*/ 9 w 151"/>
                <a:gd name="T3" fmla="*/ 0 h 130"/>
                <a:gd name="T4" fmla="*/ 37 w 151"/>
                <a:gd name="T5" fmla="*/ 26 h 130"/>
                <a:gd name="T6" fmla="*/ 0 w 151"/>
                <a:gd name="T7" fmla="*/ 33 h 130"/>
                <a:gd name="T8" fmla="*/ 15 w 151"/>
                <a:gd name="T9" fmla="*/ 19 h 130"/>
                <a:gd name="T10" fmla="*/ 15 w 151"/>
                <a:gd name="T11" fmla="*/ 19 h 130"/>
                <a:gd name="T12" fmla="*/ 0 60000 65536"/>
                <a:gd name="T13" fmla="*/ 0 60000 65536"/>
                <a:gd name="T14" fmla="*/ 0 60000 65536"/>
                <a:gd name="T15" fmla="*/ 0 60000 65536"/>
                <a:gd name="T16" fmla="*/ 0 60000 65536"/>
                <a:gd name="T17" fmla="*/ 0 60000 65536"/>
                <a:gd name="T18" fmla="*/ 0 w 151"/>
                <a:gd name="T19" fmla="*/ 0 h 130"/>
                <a:gd name="T20" fmla="*/ 151 w 151"/>
                <a:gd name="T21" fmla="*/ 130 h 130"/>
              </a:gdLst>
              <a:ahLst/>
              <a:cxnLst>
                <a:cxn ang="T12">
                  <a:pos x="T0" y="T1"/>
                </a:cxn>
                <a:cxn ang="T13">
                  <a:pos x="T2" y="T3"/>
                </a:cxn>
                <a:cxn ang="T14">
                  <a:pos x="T4" y="T5"/>
                </a:cxn>
                <a:cxn ang="T15">
                  <a:pos x="T6" y="T7"/>
                </a:cxn>
                <a:cxn ang="T16">
                  <a:pos x="T8" y="T9"/>
                </a:cxn>
                <a:cxn ang="T17">
                  <a:pos x="T10" y="T11"/>
                </a:cxn>
              </a:cxnLst>
              <a:rect l="T18" t="T19" r="T20" b="T21"/>
              <a:pathLst>
                <a:path w="151" h="130">
                  <a:moveTo>
                    <a:pt x="62" y="78"/>
                  </a:moveTo>
                  <a:lnTo>
                    <a:pt x="37" y="0"/>
                  </a:lnTo>
                  <a:lnTo>
                    <a:pt x="151" y="104"/>
                  </a:lnTo>
                  <a:lnTo>
                    <a:pt x="0" y="130"/>
                  </a:lnTo>
                  <a:lnTo>
                    <a:pt x="62" y="78"/>
                  </a:lnTo>
                </a:path>
              </a:pathLst>
            </a:custGeom>
            <a:noFill/>
            <a:ln w="3175">
              <a:solidFill>
                <a:srgbClr val="000000"/>
              </a:solidFill>
              <a:round/>
              <a:headEnd/>
              <a:tailEnd/>
            </a:ln>
          </p:spPr>
          <p:txBody>
            <a:bodyPr/>
            <a:lstStyle/>
            <a:p>
              <a:endParaRPr lang="zh-CN" altLang="en-US"/>
            </a:p>
          </p:txBody>
        </p:sp>
        <p:sp>
          <p:nvSpPr>
            <p:cNvPr id="29772" name="Rectangle 132"/>
            <p:cNvSpPr>
              <a:spLocks noChangeArrowheads="1"/>
            </p:cNvSpPr>
            <p:nvPr/>
          </p:nvSpPr>
          <p:spPr bwMode="auto">
            <a:xfrm>
              <a:off x="3894" y="2133"/>
              <a:ext cx="34" cy="84"/>
            </a:xfrm>
            <a:prstGeom prst="rect">
              <a:avLst/>
            </a:prstGeom>
            <a:noFill/>
            <a:ln w="9525">
              <a:noFill/>
              <a:miter lim="800000"/>
              <a:headEnd/>
              <a:tailEnd/>
            </a:ln>
          </p:spPr>
          <p:txBody>
            <a:bodyPr wrap="none" lIns="0" tIns="0" rIns="0" bIns="0">
              <a:spAutoFit/>
            </a:bodyPr>
            <a:lstStyle/>
            <a:p>
              <a:pPr defTabSz="914400"/>
              <a:r>
                <a:rPr lang="en-US" altLang="zh-CN" sz="900">
                  <a:solidFill>
                    <a:srgbClr val="000000"/>
                  </a:solidFill>
                  <a:latin typeface="Times New Roman" pitchFamily="18" charset="0"/>
                  <a:ea typeface="楷体_GB2312" pitchFamily="49" charset="-122"/>
                </a:rPr>
                <a:t>1</a:t>
              </a:r>
              <a:endParaRPr lang="en-US" altLang="zh-CN" sz="2800" b="1">
                <a:latin typeface="楷体_GB2312" pitchFamily="49" charset="-122"/>
                <a:ea typeface="楷体_GB2312" pitchFamily="49" charset="-122"/>
              </a:endParaRPr>
            </a:p>
          </p:txBody>
        </p:sp>
        <p:sp>
          <p:nvSpPr>
            <p:cNvPr id="29773" name="Rectangle 133"/>
            <p:cNvSpPr>
              <a:spLocks noChangeArrowheads="1"/>
            </p:cNvSpPr>
            <p:nvPr/>
          </p:nvSpPr>
          <p:spPr bwMode="auto">
            <a:xfrm>
              <a:off x="3843" y="2048"/>
              <a:ext cx="59" cy="140"/>
            </a:xfrm>
            <a:prstGeom prst="rect">
              <a:avLst/>
            </a:prstGeom>
            <a:noFill/>
            <a:ln w="9525">
              <a:noFill/>
              <a:miter lim="800000"/>
              <a:headEnd/>
              <a:tailEnd/>
            </a:ln>
          </p:spPr>
          <p:txBody>
            <a:bodyPr wrap="none" lIns="0" tIns="0" rIns="0" bIns="0">
              <a:spAutoFit/>
            </a:bodyPr>
            <a:lstStyle/>
            <a:p>
              <a:pPr defTabSz="914400"/>
              <a:r>
                <a:rPr lang="en-US" altLang="zh-CN" sz="1500" i="1">
                  <a:solidFill>
                    <a:srgbClr val="000000"/>
                  </a:solidFill>
                  <a:latin typeface="Symbol" pitchFamily="18" charset="2"/>
                  <a:ea typeface="楷体_GB2312" pitchFamily="49" charset="-122"/>
                </a:rPr>
                <a:t>q</a:t>
              </a:r>
              <a:endParaRPr lang="en-US" altLang="zh-CN" sz="2800" b="1">
                <a:latin typeface="楷体_GB2312" pitchFamily="49" charset="-122"/>
                <a:ea typeface="楷体_GB2312" pitchFamily="49" charset="-122"/>
              </a:endParaRPr>
            </a:p>
          </p:txBody>
        </p:sp>
        <p:sp>
          <p:nvSpPr>
            <p:cNvPr id="29774" name="Rectangle 134"/>
            <p:cNvSpPr>
              <a:spLocks noChangeArrowheads="1"/>
            </p:cNvSpPr>
            <p:nvPr/>
          </p:nvSpPr>
          <p:spPr bwMode="auto">
            <a:xfrm>
              <a:off x="4335" y="1885"/>
              <a:ext cx="53" cy="131"/>
            </a:xfrm>
            <a:prstGeom prst="rect">
              <a:avLst/>
            </a:prstGeom>
            <a:noFill/>
            <a:ln w="9525">
              <a:noFill/>
              <a:miter lim="800000"/>
              <a:headEnd/>
              <a:tailEnd/>
            </a:ln>
          </p:spPr>
          <p:txBody>
            <a:bodyPr wrap="none" lIns="0" tIns="0" rIns="0" bIns="0">
              <a:spAutoFit/>
            </a:bodyPr>
            <a:lstStyle/>
            <a:p>
              <a:pPr defTabSz="914400"/>
              <a:r>
                <a:rPr lang="en-US" altLang="zh-CN" sz="1400" i="1">
                  <a:solidFill>
                    <a:srgbClr val="000000"/>
                  </a:solidFill>
                  <a:latin typeface="Times New Roman" pitchFamily="18" charset="0"/>
                  <a:ea typeface="楷体_GB2312" pitchFamily="49" charset="-122"/>
                </a:rPr>
                <a:t>a</a:t>
              </a:r>
              <a:endParaRPr lang="en-US" altLang="zh-CN" sz="2800" b="1">
                <a:latin typeface="楷体_GB2312" pitchFamily="49" charset="-122"/>
                <a:ea typeface="楷体_GB2312" pitchFamily="49" charset="-122"/>
              </a:endParaRPr>
            </a:p>
          </p:txBody>
        </p:sp>
        <p:sp>
          <p:nvSpPr>
            <p:cNvPr id="29775" name="Rectangle 135"/>
            <p:cNvSpPr>
              <a:spLocks noChangeArrowheads="1"/>
            </p:cNvSpPr>
            <p:nvPr/>
          </p:nvSpPr>
          <p:spPr bwMode="auto">
            <a:xfrm>
              <a:off x="4985" y="1511"/>
              <a:ext cx="56" cy="140"/>
            </a:xfrm>
            <a:prstGeom prst="rect">
              <a:avLst/>
            </a:prstGeom>
            <a:noFill/>
            <a:ln w="9525">
              <a:noFill/>
              <a:miter lim="800000"/>
              <a:headEnd/>
              <a:tailEnd/>
            </a:ln>
          </p:spPr>
          <p:txBody>
            <a:bodyPr wrap="none" lIns="0" tIns="0" rIns="0" bIns="0">
              <a:spAutoFit/>
            </a:bodyPr>
            <a:lstStyle/>
            <a:p>
              <a:pPr defTabSz="914400"/>
              <a:r>
                <a:rPr lang="en-US" altLang="zh-CN" sz="1500" i="1">
                  <a:solidFill>
                    <a:srgbClr val="000000"/>
                  </a:solidFill>
                  <a:latin typeface="Times New Roman" pitchFamily="18" charset="0"/>
                  <a:ea typeface="楷体_GB2312" pitchFamily="49" charset="-122"/>
                </a:rPr>
                <a:t>b</a:t>
              </a:r>
              <a:endParaRPr lang="en-US" altLang="zh-CN" sz="2800" b="1">
                <a:latin typeface="楷体_GB2312" pitchFamily="49" charset="-122"/>
                <a:ea typeface="楷体_GB2312" pitchFamily="49" charset="-122"/>
              </a:endParaRPr>
            </a:p>
          </p:txBody>
        </p:sp>
        <p:sp>
          <p:nvSpPr>
            <p:cNvPr id="29776" name="Rectangle 136"/>
            <p:cNvSpPr>
              <a:spLocks noChangeArrowheads="1"/>
            </p:cNvSpPr>
            <p:nvPr/>
          </p:nvSpPr>
          <p:spPr bwMode="auto">
            <a:xfrm>
              <a:off x="4659" y="2505"/>
              <a:ext cx="50" cy="141"/>
            </a:xfrm>
            <a:prstGeom prst="rect">
              <a:avLst/>
            </a:prstGeom>
            <a:noFill/>
            <a:ln w="9525">
              <a:noFill/>
              <a:miter lim="800000"/>
              <a:headEnd/>
              <a:tailEnd/>
            </a:ln>
          </p:spPr>
          <p:txBody>
            <a:bodyPr wrap="none" lIns="0" tIns="0" rIns="0" bIns="0">
              <a:spAutoFit/>
            </a:bodyPr>
            <a:lstStyle/>
            <a:p>
              <a:pPr defTabSz="914400"/>
              <a:r>
                <a:rPr lang="en-US" altLang="zh-CN" sz="1500" i="1">
                  <a:solidFill>
                    <a:srgbClr val="000000"/>
                  </a:solidFill>
                  <a:latin typeface="Times New Roman" pitchFamily="18" charset="0"/>
                  <a:ea typeface="楷体_GB2312" pitchFamily="49" charset="-122"/>
                </a:rPr>
                <a:t>x</a:t>
              </a:r>
              <a:endParaRPr lang="en-US" altLang="zh-CN" sz="2800" b="1">
                <a:latin typeface="楷体_GB2312" pitchFamily="49" charset="-122"/>
                <a:ea typeface="楷体_GB2312" pitchFamily="49" charset="-122"/>
              </a:endParaRPr>
            </a:p>
          </p:txBody>
        </p:sp>
        <p:sp>
          <p:nvSpPr>
            <p:cNvPr id="29777" name="Rectangle 137"/>
            <p:cNvSpPr>
              <a:spLocks noChangeArrowheads="1"/>
            </p:cNvSpPr>
            <p:nvPr/>
          </p:nvSpPr>
          <p:spPr bwMode="auto">
            <a:xfrm>
              <a:off x="5217" y="1175"/>
              <a:ext cx="47" cy="130"/>
            </a:xfrm>
            <a:prstGeom prst="rect">
              <a:avLst/>
            </a:prstGeom>
            <a:noFill/>
            <a:ln w="9525">
              <a:noFill/>
              <a:miter lim="800000"/>
              <a:headEnd/>
              <a:tailEnd/>
            </a:ln>
          </p:spPr>
          <p:txBody>
            <a:bodyPr wrap="none" lIns="0" tIns="0" rIns="0" bIns="0">
              <a:spAutoFit/>
            </a:bodyPr>
            <a:lstStyle/>
            <a:p>
              <a:pPr defTabSz="914400"/>
              <a:r>
                <a:rPr lang="en-US" altLang="zh-CN" sz="1400" i="1">
                  <a:solidFill>
                    <a:srgbClr val="000000"/>
                  </a:solidFill>
                  <a:latin typeface="Times New Roman" pitchFamily="18" charset="0"/>
                  <a:ea typeface="楷体_GB2312" pitchFamily="49" charset="-122"/>
                </a:rPr>
                <a:t>x</a:t>
              </a:r>
              <a:endParaRPr lang="en-US" altLang="zh-CN" sz="2800" b="1">
                <a:latin typeface="楷体_GB2312" pitchFamily="49" charset="-122"/>
                <a:ea typeface="楷体_GB2312" pitchFamily="49" charset="-122"/>
              </a:endParaRPr>
            </a:p>
          </p:txBody>
        </p:sp>
        <p:sp>
          <p:nvSpPr>
            <p:cNvPr id="29778" name="Rectangle 138"/>
            <p:cNvSpPr>
              <a:spLocks noChangeArrowheads="1"/>
            </p:cNvSpPr>
            <p:nvPr/>
          </p:nvSpPr>
          <p:spPr bwMode="auto">
            <a:xfrm>
              <a:off x="5268" y="1156"/>
              <a:ext cx="26" cy="131"/>
            </a:xfrm>
            <a:prstGeom prst="rect">
              <a:avLst/>
            </a:prstGeom>
            <a:noFill/>
            <a:ln w="9525">
              <a:noFill/>
              <a:miter lim="800000"/>
              <a:headEnd/>
              <a:tailEnd/>
            </a:ln>
          </p:spPr>
          <p:txBody>
            <a:bodyPr wrap="none" lIns="0" tIns="0" rIns="0" bIns="0">
              <a:spAutoFit/>
            </a:bodyPr>
            <a:lstStyle/>
            <a:p>
              <a:pPr defTabSz="914400"/>
              <a:r>
                <a:rPr lang="en-US" altLang="zh-CN" sz="1400">
                  <a:solidFill>
                    <a:srgbClr val="000000"/>
                  </a:solidFill>
                  <a:latin typeface="Symbol" pitchFamily="18" charset="2"/>
                  <a:ea typeface="楷体_GB2312" pitchFamily="49" charset="-122"/>
                </a:rPr>
                <a:t>¢</a:t>
              </a:r>
              <a:endParaRPr lang="en-US" altLang="zh-CN" sz="2800" b="1">
                <a:latin typeface="楷体_GB2312" pitchFamily="49" charset="-122"/>
                <a:ea typeface="楷体_GB2312" pitchFamily="49" charset="-122"/>
              </a:endParaRPr>
            </a:p>
          </p:txBody>
        </p:sp>
        <p:sp>
          <p:nvSpPr>
            <p:cNvPr id="29779" name="Rectangle 139"/>
            <p:cNvSpPr>
              <a:spLocks noChangeArrowheads="1"/>
            </p:cNvSpPr>
            <p:nvPr/>
          </p:nvSpPr>
          <p:spPr bwMode="auto">
            <a:xfrm>
              <a:off x="4110" y="2178"/>
              <a:ext cx="33" cy="84"/>
            </a:xfrm>
            <a:prstGeom prst="rect">
              <a:avLst/>
            </a:prstGeom>
            <a:noFill/>
            <a:ln w="9525">
              <a:noFill/>
              <a:miter lim="800000"/>
              <a:headEnd/>
              <a:tailEnd/>
            </a:ln>
          </p:spPr>
          <p:txBody>
            <a:bodyPr wrap="none" lIns="0" tIns="0" rIns="0" bIns="0">
              <a:spAutoFit/>
            </a:bodyPr>
            <a:lstStyle/>
            <a:p>
              <a:pPr defTabSz="914400"/>
              <a:r>
                <a:rPr lang="en-US" altLang="zh-CN" sz="900">
                  <a:solidFill>
                    <a:srgbClr val="000000"/>
                  </a:solidFill>
                  <a:latin typeface="Times New Roman" pitchFamily="18" charset="0"/>
                  <a:ea typeface="楷体_GB2312" pitchFamily="49" charset="-122"/>
                </a:rPr>
                <a:t>2</a:t>
              </a:r>
              <a:endParaRPr lang="en-US" altLang="zh-CN" sz="2800" b="1">
                <a:latin typeface="楷体_GB2312" pitchFamily="49" charset="-122"/>
                <a:ea typeface="楷体_GB2312" pitchFamily="49" charset="-122"/>
              </a:endParaRPr>
            </a:p>
          </p:txBody>
        </p:sp>
        <p:sp>
          <p:nvSpPr>
            <p:cNvPr id="29780" name="Rectangle 140"/>
            <p:cNvSpPr>
              <a:spLocks noChangeArrowheads="1"/>
            </p:cNvSpPr>
            <p:nvPr/>
          </p:nvSpPr>
          <p:spPr bwMode="auto">
            <a:xfrm>
              <a:off x="4051" y="2094"/>
              <a:ext cx="59" cy="140"/>
            </a:xfrm>
            <a:prstGeom prst="rect">
              <a:avLst/>
            </a:prstGeom>
            <a:noFill/>
            <a:ln w="9525">
              <a:noFill/>
              <a:miter lim="800000"/>
              <a:headEnd/>
              <a:tailEnd/>
            </a:ln>
          </p:spPr>
          <p:txBody>
            <a:bodyPr wrap="none" lIns="0" tIns="0" rIns="0" bIns="0">
              <a:spAutoFit/>
            </a:bodyPr>
            <a:lstStyle/>
            <a:p>
              <a:pPr defTabSz="914400"/>
              <a:r>
                <a:rPr lang="en-US" altLang="zh-CN" sz="1500" i="1">
                  <a:solidFill>
                    <a:srgbClr val="000000"/>
                  </a:solidFill>
                  <a:latin typeface="Symbol" pitchFamily="18" charset="2"/>
                  <a:ea typeface="楷体_GB2312" pitchFamily="49" charset="-122"/>
                </a:rPr>
                <a:t>q</a:t>
              </a:r>
              <a:endParaRPr lang="en-US" altLang="zh-CN" sz="2800" b="1">
                <a:latin typeface="楷体_GB2312" pitchFamily="49" charset="-122"/>
                <a:ea typeface="楷体_GB2312" pitchFamily="49" charset="-122"/>
              </a:endParaRPr>
            </a:p>
          </p:txBody>
        </p:sp>
        <p:sp>
          <p:nvSpPr>
            <p:cNvPr id="29781" name="Rectangle 141"/>
            <p:cNvSpPr>
              <a:spLocks noChangeArrowheads="1"/>
            </p:cNvSpPr>
            <p:nvPr/>
          </p:nvSpPr>
          <p:spPr bwMode="auto">
            <a:xfrm rot="5400000">
              <a:off x="3680" y="1548"/>
              <a:ext cx="28" cy="117"/>
            </a:xfrm>
            <a:prstGeom prst="rect">
              <a:avLst/>
            </a:prstGeom>
            <a:noFill/>
            <a:ln w="9525">
              <a:noFill/>
              <a:miter lim="800000"/>
              <a:headEnd/>
              <a:tailEnd/>
            </a:ln>
          </p:spPr>
          <p:txBody>
            <a:bodyPr wrap="none" lIns="0" tIns="0" rIns="0" bIns="0">
              <a:spAutoFit/>
            </a:bodyPr>
            <a:lstStyle/>
            <a:p>
              <a:pPr defTabSz="914400"/>
              <a:r>
                <a:rPr lang="zh-CN" altLang="en-US" sz="1300">
                  <a:solidFill>
                    <a:srgbClr val="000000"/>
                  </a:solidFill>
                  <a:ea typeface="楷体_GB2312" pitchFamily="49" charset="-122"/>
                </a:rPr>
                <a:t> </a:t>
              </a:r>
              <a:endParaRPr lang="zh-CN" altLang="en-US" sz="2800" b="1">
                <a:latin typeface="楷体_GB2312" pitchFamily="49" charset="-122"/>
                <a:ea typeface="楷体_GB2312" pitchFamily="49" charset="-122"/>
              </a:endParaRPr>
            </a:p>
          </p:txBody>
        </p:sp>
        <p:sp>
          <p:nvSpPr>
            <p:cNvPr id="29782" name="Rectangle 151"/>
            <p:cNvSpPr>
              <a:spLocks noChangeArrowheads="1"/>
            </p:cNvSpPr>
            <p:nvPr/>
          </p:nvSpPr>
          <p:spPr bwMode="auto">
            <a:xfrm>
              <a:off x="3672" y="2815"/>
              <a:ext cx="104" cy="131"/>
            </a:xfrm>
            <a:prstGeom prst="rect">
              <a:avLst/>
            </a:prstGeom>
            <a:noFill/>
            <a:ln w="9525">
              <a:noFill/>
              <a:miter lim="800000"/>
              <a:headEnd/>
              <a:tailEnd/>
            </a:ln>
          </p:spPr>
          <p:txBody>
            <a:bodyPr wrap="none" lIns="0" tIns="0" rIns="0" bIns="0">
              <a:spAutoFit/>
            </a:bodyPr>
            <a:lstStyle/>
            <a:p>
              <a:pPr defTabSz="914400"/>
              <a:r>
                <a:rPr lang="zh-CN" altLang="en-US" sz="1400">
                  <a:solidFill>
                    <a:srgbClr val="000000"/>
                  </a:solidFill>
                  <a:latin typeface="宋体" pitchFamily="2" charset="-122"/>
                </a:rPr>
                <a:t>（</a:t>
              </a:r>
              <a:endParaRPr lang="zh-CN" altLang="en-US" sz="2800" b="1">
                <a:latin typeface="楷体_GB2312" pitchFamily="49" charset="-122"/>
                <a:ea typeface="楷体_GB2312" pitchFamily="49" charset="-122"/>
              </a:endParaRPr>
            </a:p>
          </p:txBody>
        </p:sp>
        <p:sp>
          <p:nvSpPr>
            <p:cNvPr id="29783" name="Rectangle 152"/>
            <p:cNvSpPr>
              <a:spLocks noChangeArrowheads="1"/>
            </p:cNvSpPr>
            <p:nvPr/>
          </p:nvSpPr>
          <p:spPr bwMode="auto">
            <a:xfrm>
              <a:off x="3785" y="2811"/>
              <a:ext cx="52" cy="130"/>
            </a:xfrm>
            <a:prstGeom prst="rect">
              <a:avLst/>
            </a:prstGeom>
            <a:noFill/>
            <a:ln w="9525">
              <a:noFill/>
              <a:miter lim="800000"/>
              <a:headEnd/>
              <a:tailEnd/>
            </a:ln>
          </p:spPr>
          <p:txBody>
            <a:bodyPr wrap="none" lIns="0" tIns="0" rIns="0" bIns="0">
              <a:spAutoFit/>
            </a:bodyPr>
            <a:lstStyle/>
            <a:p>
              <a:pPr defTabSz="914400"/>
              <a:r>
                <a:rPr lang="en-US" altLang="zh-CN" sz="1400" i="1">
                  <a:solidFill>
                    <a:srgbClr val="000000"/>
                  </a:solidFill>
                  <a:latin typeface="Times New Roman" pitchFamily="18" charset="0"/>
                  <a:ea typeface="楷体_GB2312" pitchFamily="49" charset="-122"/>
                </a:rPr>
                <a:t>b</a:t>
              </a:r>
              <a:endParaRPr lang="en-US" altLang="zh-CN" sz="2800" b="1">
                <a:latin typeface="楷体_GB2312" pitchFamily="49" charset="-122"/>
                <a:ea typeface="楷体_GB2312" pitchFamily="49" charset="-122"/>
              </a:endParaRPr>
            </a:p>
          </p:txBody>
        </p:sp>
        <p:sp>
          <p:nvSpPr>
            <p:cNvPr id="29784" name="Rectangle 153"/>
            <p:cNvSpPr>
              <a:spLocks noChangeArrowheads="1"/>
            </p:cNvSpPr>
            <p:nvPr/>
          </p:nvSpPr>
          <p:spPr bwMode="auto">
            <a:xfrm>
              <a:off x="3842" y="2815"/>
              <a:ext cx="105" cy="131"/>
            </a:xfrm>
            <a:prstGeom prst="rect">
              <a:avLst/>
            </a:prstGeom>
            <a:noFill/>
            <a:ln w="9525">
              <a:noFill/>
              <a:miter lim="800000"/>
              <a:headEnd/>
              <a:tailEnd/>
            </a:ln>
          </p:spPr>
          <p:txBody>
            <a:bodyPr wrap="none" lIns="0" tIns="0" rIns="0" bIns="0">
              <a:spAutoFit/>
            </a:bodyPr>
            <a:lstStyle/>
            <a:p>
              <a:pPr defTabSz="914400"/>
              <a:r>
                <a:rPr lang="zh-CN" altLang="en-US" sz="1400">
                  <a:solidFill>
                    <a:srgbClr val="000000"/>
                  </a:solidFill>
                  <a:latin typeface="宋体" pitchFamily="2" charset="-122"/>
                </a:rPr>
                <a:t>）</a:t>
              </a:r>
              <a:endParaRPr lang="zh-CN" altLang="en-US" sz="2800" b="1">
                <a:latin typeface="楷体_GB2312" pitchFamily="49" charset="-122"/>
                <a:ea typeface="楷体_GB2312" pitchFamily="49" charset="-122"/>
              </a:endParaRPr>
            </a:p>
          </p:txBody>
        </p:sp>
        <p:sp>
          <p:nvSpPr>
            <p:cNvPr id="29785" name="Rectangle 154"/>
            <p:cNvSpPr>
              <a:spLocks noChangeArrowheads="1"/>
            </p:cNvSpPr>
            <p:nvPr/>
          </p:nvSpPr>
          <p:spPr bwMode="auto">
            <a:xfrm>
              <a:off x="3955" y="2815"/>
              <a:ext cx="525" cy="131"/>
            </a:xfrm>
            <a:prstGeom prst="rect">
              <a:avLst/>
            </a:prstGeom>
            <a:noFill/>
            <a:ln w="9525">
              <a:noFill/>
              <a:miter lim="800000"/>
              <a:headEnd/>
              <a:tailEnd/>
            </a:ln>
          </p:spPr>
          <p:txBody>
            <a:bodyPr wrap="none" lIns="0" tIns="0" rIns="0" bIns="0">
              <a:spAutoFit/>
            </a:bodyPr>
            <a:lstStyle/>
            <a:p>
              <a:pPr defTabSz="914400"/>
              <a:r>
                <a:rPr lang="zh-CN" altLang="en-US" sz="1400">
                  <a:solidFill>
                    <a:srgbClr val="000000"/>
                  </a:solidFill>
                  <a:latin typeface="宋体" pitchFamily="2" charset="-122"/>
                </a:rPr>
                <a:t>斜射式结构</a:t>
              </a:r>
              <a:endParaRPr lang="zh-CN" altLang="en-US" sz="2800" b="1">
                <a:latin typeface="楷体_GB2312" pitchFamily="49" charset="-122"/>
                <a:ea typeface="楷体_GB2312" pitchFamily="49" charset="-122"/>
              </a:endParaRPr>
            </a:p>
          </p:txBody>
        </p:sp>
        <p:sp>
          <p:nvSpPr>
            <p:cNvPr id="29786" name="Rectangle 159"/>
            <p:cNvSpPr>
              <a:spLocks noChangeArrowheads="1"/>
            </p:cNvSpPr>
            <p:nvPr/>
          </p:nvSpPr>
          <p:spPr bwMode="auto">
            <a:xfrm>
              <a:off x="3327" y="1771"/>
              <a:ext cx="105" cy="131"/>
            </a:xfrm>
            <a:prstGeom prst="rect">
              <a:avLst/>
            </a:prstGeom>
            <a:noFill/>
            <a:ln w="9525">
              <a:noFill/>
              <a:miter lim="800000"/>
              <a:headEnd/>
              <a:tailEnd/>
            </a:ln>
          </p:spPr>
          <p:txBody>
            <a:bodyPr wrap="none" lIns="0" tIns="0" rIns="0" bIns="0">
              <a:spAutoFit/>
            </a:bodyPr>
            <a:lstStyle/>
            <a:p>
              <a:pPr defTabSz="914400"/>
              <a:r>
                <a:rPr lang="zh-CN" altLang="en-US" sz="1400">
                  <a:solidFill>
                    <a:srgbClr val="000000"/>
                  </a:solidFill>
                  <a:latin typeface="宋体" pitchFamily="2" charset="-122"/>
                </a:rPr>
                <a:t>会</a:t>
              </a:r>
              <a:endParaRPr lang="zh-CN" altLang="en-US" sz="2800" b="1">
                <a:latin typeface="楷体_GB2312" pitchFamily="49" charset="-122"/>
                <a:ea typeface="楷体_GB2312" pitchFamily="49" charset="-122"/>
              </a:endParaRPr>
            </a:p>
          </p:txBody>
        </p:sp>
        <p:sp>
          <p:nvSpPr>
            <p:cNvPr id="29787" name="Rectangle 160"/>
            <p:cNvSpPr>
              <a:spLocks noChangeArrowheads="1"/>
            </p:cNvSpPr>
            <p:nvPr/>
          </p:nvSpPr>
          <p:spPr bwMode="auto">
            <a:xfrm>
              <a:off x="3327" y="1907"/>
              <a:ext cx="105" cy="130"/>
            </a:xfrm>
            <a:prstGeom prst="rect">
              <a:avLst/>
            </a:prstGeom>
            <a:noFill/>
            <a:ln w="9525">
              <a:noFill/>
              <a:miter lim="800000"/>
              <a:headEnd/>
              <a:tailEnd/>
            </a:ln>
          </p:spPr>
          <p:txBody>
            <a:bodyPr wrap="none" lIns="0" tIns="0" rIns="0" bIns="0">
              <a:spAutoFit/>
            </a:bodyPr>
            <a:lstStyle/>
            <a:p>
              <a:pPr defTabSz="914400"/>
              <a:r>
                <a:rPr lang="zh-CN" altLang="en-US" sz="1400">
                  <a:solidFill>
                    <a:srgbClr val="000000"/>
                  </a:solidFill>
                  <a:latin typeface="宋体" pitchFamily="2" charset="-122"/>
                </a:rPr>
                <a:t>聚</a:t>
              </a:r>
              <a:endParaRPr lang="zh-CN" altLang="en-US" sz="2800" b="1">
                <a:latin typeface="楷体_GB2312" pitchFamily="49" charset="-122"/>
                <a:ea typeface="楷体_GB2312" pitchFamily="49" charset="-122"/>
              </a:endParaRPr>
            </a:p>
          </p:txBody>
        </p:sp>
        <p:sp>
          <p:nvSpPr>
            <p:cNvPr id="29788" name="Rectangle 161"/>
            <p:cNvSpPr>
              <a:spLocks noChangeArrowheads="1"/>
            </p:cNvSpPr>
            <p:nvPr/>
          </p:nvSpPr>
          <p:spPr bwMode="auto">
            <a:xfrm>
              <a:off x="3327" y="2043"/>
              <a:ext cx="105" cy="131"/>
            </a:xfrm>
            <a:prstGeom prst="rect">
              <a:avLst/>
            </a:prstGeom>
            <a:noFill/>
            <a:ln w="9525">
              <a:noFill/>
              <a:miter lim="800000"/>
              <a:headEnd/>
              <a:tailEnd/>
            </a:ln>
          </p:spPr>
          <p:txBody>
            <a:bodyPr wrap="none" lIns="0" tIns="0" rIns="0" bIns="0">
              <a:spAutoFit/>
            </a:bodyPr>
            <a:lstStyle/>
            <a:p>
              <a:pPr defTabSz="914400"/>
              <a:r>
                <a:rPr lang="zh-CN" altLang="en-US" sz="1400">
                  <a:solidFill>
                    <a:srgbClr val="000000"/>
                  </a:solidFill>
                  <a:latin typeface="宋体" pitchFamily="2" charset="-122"/>
                </a:rPr>
                <a:t>透</a:t>
              </a:r>
              <a:endParaRPr lang="zh-CN" altLang="en-US" sz="2800" b="1">
                <a:latin typeface="楷体_GB2312" pitchFamily="49" charset="-122"/>
                <a:ea typeface="楷体_GB2312" pitchFamily="49" charset="-122"/>
              </a:endParaRPr>
            </a:p>
          </p:txBody>
        </p:sp>
        <p:sp>
          <p:nvSpPr>
            <p:cNvPr id="29789" name="Rectangle 162"/>
            <p:cNvSpPr>
              <a:spLocks noChangeArrowheads="1"/>
            </p:cNvSpPr>
            <p:nvPr/>
          </p:nvSpPr>
          <p:spPr bwMode="auto">
            <a:xfrm>
              <a:off x="3327" y="2179"/>
              <a:ext cx="105" cy="130"/>
            </a:xfrm>
            <a:prstGeom prst="rect">
              <a:avLst/>
            </a:prstGeom>
            <a:noFill/>
            <a:ln w="9525">
              <a:noFill/>
              <a:miter lim="800000"/>
              <a:headEnd/>
              <a:tailEnd/>
            </a:ln>
          </p:spPr>
          <p:txBody>
            <a:bodyPr wrap="none" lIns="0" tIns="0" rIns="0" bIns="0">
              <a:spAutoFit/>
            </a:bodyPr>
            <a:lstStyle/>
            <a:p>
              <a:pPr defTabSz="914400"/>
              <a:r>
                <a:rPr lang="zh-CN" altLang="en-US" sz="1400">
                  <a:solidFill>
                    <a:srgbClr val="000000"/>
                  </a:solidFill>
                  <a:latin typeface="宋体" pitchFamily="2" charset="-122"/>
                </a:rPr>
                <a:t>镜</a:t>
              </a:r>
              <a:endParaRPr lang="zh-CN" altLang="en-US" sz="2800" b="1">
                <a:latin typeface="楷体_GB2312" pitchFamily="49" charset="-122"/>
                <a:ea typeface="楷体_GB2312" pitchFamily="49" charset="-122"/>
              </a:endParaRPr>
            </a:p>
          </p:txBody>
        </p:sp>
        <p:sp>
          <p:nvSpPr>
            <p:cNvPr id="29790" name="Rectangle 163"/>
            <p:cNvSpPr>
              <a:spLocks noChangeArrowheads="1"/>
            </p:cNvSpPr>
            <p:nvPr/>
          </p:nvSpPr>
          <p:spPr bwMode="auto">
            <a:xfrm>
              <a:off x="3647" y="1204"/>
              <a:ext cx="105" cy="130"/>
            </a:xfrm>
            <a:prstGeom prst="rect">
              <a:avLst/>
            </a:prstGeom>
            <a:noFill/>
            <a:ln w="9525">
              <a:noFill/>
              <a:miter lim="800000"/>
              <a:headEnd/>
              <a:tailEnd/>
            </a:ln>
          </p:spPr>
          <p:txBody>
            <a:bodyPr wrap="none" lIns="0" tIns="0" rIns="0" bIns="0">
              <a:spAutoFit/>
            </a:bodyPr>
            <a:lstStyle/>
            <a:p>
              <a:pPr defTabSz="914400"/>
              <a:r>
                <a:rPr lang="zh-CN" altLang="en-US" sz="1400">
                  <a:solidFill>
                    <a:srgbClr val="000000"/>
                  </a:solidFill>
                  <a:latin typeface="宋体" pitchFamily="2" charset="-122"/>
                </a:rPr>
                <a:t>激</a:t>
              </a:r>
              <a:endParaRPr lang="zh-CN" altLang="en-US" sz="2800" b="1">
                <a:latin typeface="楷体_GB2312" pitchFamily="49" charset="-122"/>
                <a:ea typeface="楷体_GB2312" pitchFamily="49" charset="-122"/>
              </a:endParaRPr>
            </a:p>
          </p:txBody>
        </p:sp>
        <p:sp>
          <p:nvSpPr>
            <p:cNvPr id="29791" name="Rectangle 164"/>
            <p:cNvSpPr>
              <a:spLocks noChangeArrowheads="1"/>
            </p:cNvSpPr>
            <p:nvPr/>
          </p:nvSpPr>
          <p:spPr bwMode="auto">
            <a:xfrm>
              <a:off x="3647" y="1340"/>
              <a:ext cx="105" cy="131"/>
            </a:xfrm>
            <a:prstGeom prst="rect">
              <a:avLst/>
            </a:prstGeom>
            <a:noFill/>
            <a:ln w="9525">
              <a:noFill/>
              <a:miter lim="800000"/>
              <a:headEnd/>
              <a:tailEnd/>
            </a:ln>
          </p:spPr>
          <p:txBody>
            <a:bodyPr wrap="none" lIns="0" tIns="0" rIns="0" bIns="0">
              <a:spAutoFit/>
            </a:bodyPr>
            <a:lstStyle/>
            <a:p>
              <a:pPr defTabSz="914400"/>
              <a:r>
                <a:rPr lang="zh-CN" altLang="en-US" sz="1400">
                  <a:solidFill>
                    <a:srgbClr val="000000"/>
                  </a:solidFill>
                  <a:latin typeface="宋体" pitchFamily="2" charset="-122"/>
                </a:rPr>
                <a:t>光</a:t>
              </a:r>
              <a:endParaRPr lang="zh-CN" altLang="en-US" sz="2800" b="1">
                <a:latin typeface="楷体_GB2312" pitchFamily="49" charset="-122"/>
                <a:ea typeface="楷体_GB2312" pitchFamily="49" charset="-122"/>
              </a:endParaRPr>
            </a:p>
          </p:txBody>
        </p:sp>
        <p:sp>
          <p:nvSpPr>
            <p:cNvPr id="29792" name="Rectangle 165"/>
            <p:cNvSpPr>
              <a:spLocks noChangeArrowheads="1"/>
            </p:cNvSpPr>
            <p:nvPr/>
          </p:nvSpPr>
          <p:spPr bwMode="auto">
            <a:xfrm>
              <a:off x="3647" y="1476"/>
              <a:ext cx="105" cy="130"/>
            </a:xfrm>
            <a:prstGeom prst="rect">
              <a:avLst/>
            </a:prstGeom>
            <a:noFill/>
            <a:ln w="9525">
              <a:noFill/>
              <a:miter lim="800000"/>
              <a:headEnd/>
              <a:tailEnd/>
            </a:ln>
          </p:spPr>
          <p:txBody>
            <a:bodyPr wrap="none" lIns="0" tIns="0" rIns="0" bIns="0">
              <a:spAutoFit/>
            </a:bodyPr>
            <a:lstStyle/>
            <a:p>
              <a:pPr defTabSz="914400"/>
              <a:r>
                <a:rPr lang="zh-CN" altLang="en-US" sz="1400">
                  <a:solidFill>
                    <a:srgbClr val="000000"/>
                  </a:solidFill>
                  <a:latin typeface="宋体" pitchFamily="2" charset="-122"/>
                </a:rPr>
                <a:t>器</a:t>
              </a:r>
              <a:endParaRPr lang="zh-CN" altLang="en-US" sz="2800" b="1">
                <a:latin typeface="楷体_GB2312" pitchFamily="49" charset="-122"/>
                <a:ea typeface="楷体_GB2312" pitchFamily="49" charset="-122"/>
              </a:endParaRPr>
            </a:p>
          </p:txBody>
        </p:sp>
      </p:grpSp>
      <p:grpSp>
        <p:nvGrpSpPr>
          <p:cNvPr id="29793" name="Group 171"/>
          <p:cNvGrpSpPr>
            <a:grpSpLocks/>
          </p:cNvGrpSpPr>
          <p:nvPr/>
        </p:nvGrpSpPr>
        <p:grpSpPr bwMode="auto">
          <a:xfrm>
            <a:off x="2140528" y="1745528"/>
            <a:ext cx="3997036" cy="3685453"/>
            <a:chOff x="628" y="1113"/>
            <a:chExt cx="1749" cy="1758"/>
          </a:xfrm>
        </p:grpSpPr>
        <p:sp>
          <p:nvSpPr>
            <p:cNvPr id="29794" name="Freeform 20"/>
            <p:cNvSpPr>
              <a:spLocks/>
            </p:cNvSpPr>
            <p:nvPr/>
          </p:nvSpPr>
          <p:spPr bwMode="auto">
            <a:xfrm>
              <a:off x="1949" y="1178"/>
              <a:ext cx="388" cy="389"/>
            </a:xfrm>
            <a:custGeom>
              <a:avLst/>
              <a:gdLst>
                <a:gd name="T0" fmla="*/ 19 w 777"/>
                <a:gd name="T1" fmla="*/ 0 h 780"/>
                <a:gd name="T2" fmla="*/ 0 w 777"/>
                <a:gd name="T3" fmla="*/ 20 h 780"/>
                <a:gd name="T4" fmla="*/ 174 w 777"/>
                <a:gd name="T5" fmla="*/ 194 h 780"/>
                <a:gd name="T6" fmla="*/ 194 w 777"/>
                <a:gd name="T7" fmla="*/ 174 h 780"/>
                <a:gd name="T8" fmla="*/ 19 w 777"/>
                <a:gd name="T9" fmla="*/ 0 h 780"/>
                <a:gd name="T10" fmla="*/ 0 60000 65536"/>
                <a:gd name="T11" fmla="*/ 0 60000 65536"/>
                <a:gd name="T12" fmla="*/ 0 60000 65536"/>
                <a:gd name="T13" fmla="*/ 0 60000 65536"/>
                <a:gd name="T14" fmla="*/ 0 60000 65536"/>
                <a:gd name="T15" fmla="*/ 0 w 777"/>
                <a:gd name="T16" fmla="*/ 0 h 780"/>
                <a:gd name="T17" fmla="*/ 777 w 777"/>
                <a:gd name="T18" fmla="*/ 780 h 780"/>
              </a:gdLst>
              <a:ahLst/>
              <a:cxnLst>
                <a:cxn ang="T10">
                  <a:pos x="T0" y="T1"/>
                </a:cxn>
                <a:cxn ang="T11">
                  <a:pos x="T2" y="T3"/>
                </a:cxn>
                <a:cxn ang="T12">
                  <a:pos x="T4" y="T5"/>
                </a:cxn>
                <a:cxn ang="T13">
                  <a:pos x="T6" y="T7"/>
                </a:cxn>
                <a:cxn ang="T14">
                  <a:pos x="T8" y="T9"/>
                </a:cxn>
              </a:cxnLst>
              <a:rect l="T15" t="T16" r="T17" b="T18"/>
              <a:pathLst>
                <a:path w="777" h="780">
                  <a:moveTo>
                    <a:pt x="79" y="0"/>
                  </a:moveTo>
                  <a:lnTo>
                    <a:pt x="0" y="83"/>
                  </a:lnTo>
                  <a:lnTo>
                    <a:pt x="698" y="780"/>
                  </a:lnTo>
                  <a:lnTo>
                    <a:pt x="777" y="697"/>
                  </a:lnTo>
                  <a:lnTo>
                    <a:pt x="79" y="0"/>
                  </a:lnTo>
                  <a:close/>
                </a:path>
              </a:pathLst>
            </a:custGeom>
            <a:noFill/>
            <a:ln w="22225">
              <a:solidFill>
                <a:srgbClr val="000000"/>
              </a:solidFill>
              <a:round/>
              <a:headEnd/>
              <a:tailEnd/>
            </a:ln>
          </p:spPr>
          <p:txBody>
            <a:bodyPr/>
            <a:lstStyle/>
            <a:p>
              <a:endParaRPr lang="zh-CN" altLang="en-US"/>
            </a:p>
          </p:txBody>
        </p:sp>
        <p:sp>
          <p:nvSpPr>
            <p:cNvPr id="29795" name="Line 21"/>
            <p:cNvSpPr>
              <a:spLocks noChangeShapeType="1"/>
            </p:cNvSpPr>
            <p:nvPr/>
          </p:nvSpPr>
          <p:spPr bwMode="auto">
            <a:xfrm>
              <a:off x="641" y="2429"/>
              <a:ext cx="1258" cy="0"/>
            </a:xfrm>
            <a:prstGeom prst="line">
              <a:avLst/>
            </a:prstGeom>
            <a:noFill/>
            <a:ln w="22225">
              <a:solidFill>
                <a:srgbClr val="000000"/>
              </a:solidFill>
              <a:round/>
              <a:headEnd/>
              <a:tailEnd/>
            </a:ln>
          </p:spPr>
          <p:txBody>
            <a:bodyPr/>
            <a:lstStyle/>
            <a:p>
              <a:endParaRPr lang="zh-CN" altLang="en-US"/>
            </a:p>
          </p:txBody>
        </p:sp>
        <p:sp>
          <p:nvSpPr>
            <p:cNvPr id="29796" name="Rectangle 22"/>
            <p:cNvSpPr>
              <a:spLocks noChangeArrowheads="1"/>
            </p:cNvSpPr>
            <p:nvPr/>
          </p:nvSpPr>
          <p:spPr bwMode="auto">
            <a:xfrm>
              <a:off x="932" y="1113"/>
              <a:ext cx="223" cy="427"/>
            </a:xfrm>
            <a:prstGeom prst="rect">
              <a:avLst/>
            </a:prstGeom>
            <a:noFill/>
            <a:ln w="22225">
              <a:solidFill>
                <a:srgbClr val="000000"/>
              </a:solidFill>
              <a:miter lim="800000"/>
              <a:headEnd/>
              <a:tailEnd/>
            </a:ln>
          </p:spPr>
          <p:txBody>
            <a:bodyPr/>
            <a:lstStyle/>
            <a:p>
              <a:pPr defTabSz="914400"/>
              <a:endParaRPr lang="zh-CN" altLang="en-US" sz="2800" b="1" i="1">
                <a:latin typeface="楷体_GB2312" pitchFamily="49" charset="-122"/>
                <a:ea typeface="楷体_GB2312" pitchFamily="49" charset="-122"/>
              </a:endParaRPr>
            </a:p>
          </p:txBody>
        </p:sp>
        <p:sp>
          <p:nvSpPr>
            <p:cNvPr id="29797" name="Rectangle 23"/>
            <p:cNvSpPr>
              <a:spLocks noChangeArrowheads="1"/>
            </p:cNvSpPr>
            <p:nvPr/>
          </p:nvSpPr>
          <p:spPr bwMode="auto">
            <a:xfrm>
              <a:off x="1112" y="1288"/>
              <a:ext cx="53" cy="239"/>
            </a:xfrm>
            <a:prstGeom prst="rect">
              <a:avLst/>
            </a:prstGeom>
            <a:noFill/>
            <a:ln w="9525">
              <a:noFill/>
              <a:miter lim="800000"/>
              <a:headEnd/>
              <a:tailEnd/>
            </a:ln>
          </p:spPr>
          <p:txBody>
            <a:bodyPr wrap="none" lIns="0" tIns="0" rIns="0" bIns="0">
              <a:spAutoFit/>
            </a:bodyPr>
            <a:lstStyle/>
            <a:p>
              <a:pPr defTabSz="914400"/>
              <a:r>
                <a:rPr lang="zh-CN" altLang="en-US" sz="2600">
                  <a:solidFill>
                    <a:srgbClr val="000000"/>
                  </a:solidFill>
                  <a:ea typeface="楷体_GB2312" pitchFamily="49" charset="-122"/>
                </a:rPr>
                <a:t> </a:t>
              </a:r>
              <a:endParaRPr lang="zh-CN" altLang="en-US" sz="2800" b="1">
                <a:latin typeface="楷体_GB2312" pitchFamily="49" charset="-122"/>
                <a:ea typeface="楷体_GB2312" pitchFamily="49" charset="-122"/>
              </a:endParaRPr>
            </a:p>
          </p:txBody>
        </p:sp>
        <p:sp>
          <p:nvSpPr>
            <p:cNvPr id="29798" name="Freeform 24"/>
            <p:cNvSpPr>
              <a:spLocks/>
            </p:cNvSpPr>
            <p:nvPr/>
          </p:nvSpPr>
          <p:spPr bwMode="auto">
            <a:xfrm>
              <a:off x="853" y="1726"/>
              <a:ext cx="404" cy="99"/>
            </a:xfrm>
            <a:custGeom>
              <a:avLst/>
              <a:gdLst>
                <a:gd name="T0" fmla="*/ 101 w 806"/>
                <a:gd name="T1" fmla="*/ 0 h 198"/>
                <a:gd name="T2" fmla="*/ 81 w 806"/>
                <a:gd name="T3" fmla="*/ 1 h 198"/>
                <a:gd name="T4" fmla="*/ 62 w 806"/>
                <a:gd name="T5" fmla="*/ 2 h 198"/>
                <a:gd name="T6" fmla="*/ 53 w 806"/>
                <a:gd name="T7" fmla="*/ 3 h 198"/>
                <a:gd name="T8" fmla="*/ 45 w 806"/>
                <a:gd name="T9" fmla="*/ 5 h 198"/>
                <a:gd name="T10" fmla="*/ 37 w 806"/>
                <a:gd name="T11" fmla="*/ 6 h 198"/>
                <a:gd name="T12" fmla="*/ 29 w 806"/>
                <a:gd name="T13" fmla="*/ 7 h 198"/>
                <a:gd name="T14" fmla="*/ 23 w 806"/>
                <a:gd name="T15" fmla="*/ 9 h 198"/>
                <a:gd name="T16" fmla="*/ 17 w 806"/>
                <a:gd name="T17" fmla="*/ 11 h 198"/>
                <a:gd name="T18" fmla="*/ 13 w 806"/>
                <a:gd name="T19" fmla="*/ 12 h 198"/>
                <a:gd name="T20" fmla="*/ 8 w 806"/>
                <a:gd name="T21" fmla="*/ 15 h 198"/>
                <a:gd name="T22" fmla="*/ 5 w 806"/>
                <a:gd name="T23" fmla="*/ 18 h 198"/>
                <a:gd name="T24" fmla="*/ 2 w 806"/>
                <a:gd name="T25" fmla="*/ 20 h 198"/>
                <a:gd name="T26" fmla="*/ 1 w 806"/>
                <a:gd name="T27" fmla="*/ 22 h 198"/>
                <a:gd name="T28" fmla="*/ 0 w 806"/>
                <a:gd name="T29" fmla="*/ 25 h 198"/>
                <a:gd name="T30" fmla="*/ 1 w 806"/>
                <a:gd name="T31" fmla="*/ 27 h 198"/>
                <a:gd name="T32" fmla="*/ 2 w 806"/>
                <a:gd name="T33" fmla="*/ 29 h 198"/>
                <a:gd name="T34" fmla="*/ 5 w 806"/>
                <a:gd name="T35" fmla="*/ 32 h 198"/>
                <a:gd name="T36" fmla="*/ 8 w 806"/>
                <a:gd name="T37" fmla="*/ 35 h 198"/>
                <a:gd name="T38" fmla="*/ 13 w 806"/>
                <a:gd name="T39" fmla="*/ 37 h 198"/>
                <a:gd name="T40" fmla="*/ 17 w 806"/>
                <a:gd name="T41" fmla="*/ 39 h 198"/>
                <a:gd name="T42" fmla="*/ 23 w 806"/>
                <a:gd name="T43" fmla="*/ 41 h 198"/>
                <a:gd name="T44" fmla="*/ 29 w 806"/>
                <a:gd name="T45" fmla="*/ 43 h 198"/>
                <a:gd name="T46" fmla="*/ 37 w 806"/>
                <a:gd name="T47" fmla="*/ 44 h 198"/>
                <a:gd name="T48" fmla="*/ 45 w 806"/>
                <a:gd name="T49" fmla="*/ 46 h 198"/>
                <a:gd name="T50" fmla="*/ 53 w 806"/>
                <a:gd name="T51" fmla="*/ 47 h 198"/>
                <a:gd name="T52" fmla="*/ 62 w 806"/>
                <a:gd name="T53" fmla="*/ 48 h 198"/>
                <a:gd name="T54" fmla="*/ 81 w 806"/>
                <a:gd name="T55" fmla="*/ 49 h 198"/>
                <a:gd name="T56" fmla="*/ 101 w 806"/>
                <a:gd name="T57" fmla="*/ 50 h 198"/>
                <a:gd name="T58" fmla="*/ 122 w 806"/>
                <a:gd name="T59" fmla="*/ 49 h 198"/>
                <a:gd name="T60" fmla="*/ 141 w 806"/>
                <a:gd name="T61" fmla="*/ 48 h 198"/>
                <a:gd name="T62" fmla="*/ 149 w 806"/>
                <a:gd name="T63" fmla="*/ 47 h 198"/>
                <a:gd name="T64" fmla="*/ 157 w 806"/>
                <a:gd name="T65" fmla="*/ 46 h 198"/>
                <a:gd name="T66" fmla="*/ 165 w 806"/>
                <a:gd name="T67" fmla="*/ 44 h 198"/>
                <a:gd name="T68" fmla="*/ 173 w 806"/>
                <a:gd name="T69" fmla="*/ 43 h 198"/>
                <a:gd name="T70" fmla="*/ 179 w 806"/>
                <a:gd name="T71" fmla="*/ 41 h 198"/>
                <a:gd name="T72" fmla="*/ 185 w 806"/>
                <a:gd name="T73" fmla="*/ 39 h 198"/>
                <a:gd name="T74" fmla="*/ 190 w 806"/>
                <a:gd name="T75" fmla="*/ 37 h 198"/>
                <a:gd name="T76" fmla="*/ 194 w 806"/>
                <a:gd name="T77" fmla="*/ 35 h 198"/>
                <a:gd name="T78" fmla="*/ 198 w 806"/>
                <a:gd name="T79" fmla="*/ 32 h 198"/>
                <a:gd name="T80" fmla="*/ 200 w 806"/>
                <a:gd name="T81" fmla="*/ 29 h 198"/>
                <a:gd name="T82" fmla="*/ 202 w 806"/>
                <a:gd name="T83" fmla="*/ 27 h 198"/>
                <a:gd name="T84" fmla="*/ 203 w 806"/>
                <a:gd name="T85" fmla="*/ 25 h 198"/>
                <a:gd name="T86" fmla="*/ 202 w 806"/>
                <a:gd name="T87" fmla="*/ 22 h 198"/>
                <a:gd name="T88" fmla="*/ 200 w 806"/>
                <a:gd name="T89" fmla="*/ 20 h 198"/>
                <a:gd name="T90" fmla="*/ 198 w 806"/>
                <a:gd name="T91" fmla="*/ 18 h 198"/>
                <a:gd name="T92" fmla="*/ 194 w 806"/>
                <a:gd name="T93" fmla="*/ 15 h 198"/>
                <a:gd name="T94" fmla="*/ 190 w 806"/>
                <a:gd name="T95" fmla="*/ 12 h 198"/>
                <a:gd name="T96" fmla="*/ 185 w 806"/>
                <a:gd name="T97" fmla="*/ 11 h 198"/>
                <a:gd name="T98" fmla="*/ 179 w 806"/>
                <a:gd name="T99" fmla="*/ 9 h 198"/>
                <a:gd name="T100" fmla="*/ 173 w 806"/>
                <a:gd name="T101" fmla="*/ 7 h 198"/>
                <a:gd name="T102" fmla="*/ 165 w 806"/>
                <a:gd name="T103" fmla="*/ 6 h 198"/>
                <a:gd name="T104" fmla="*/ 157 w 806"/>
                <a:gd name="T105" fmla="*/ 5 h 198"/>
                <a:gd name="T106" fmla="*/ 149 w 806"/>
                <a:gd name="T107" fmla="*/ 3 h 198"/>
                <a:gd name="T108" fmla="*/ 141 w 806"/>
                <a:gd name="T109" fmla="*/ 2 h 198"/>
                <a:gd name="T110" fmla="*/ 122 w 806"/>
                <a:gd name="T111" fmla="*/ 1 h 198"/>
                <a:gd name="T112" fmla="*/ 101 w 806"/>
                <a:gd name="T113" fmla="*/ 0 h 19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806"/>
                <a:gd name="T172" fmla="*/ 0 h 198"/>
                <a:gd name="T173" fmla="*/ 806 w 806"/>
                <a:gd name="T174" fmla="*/ 198 h 19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806" h="198">
                  <a:moveTo>
                    <a:pt x="403" y="0"/>
                  </a:moveTo>
                  <a:lnTo>
                    <a:pt x="322" y="2"/>
                  </a:lnTo>
                  <a:lnTo>
                    <a:pt x="245" y="7"/>
                  </a:lnTo>
                  <a:lnTo>
                    <a:pt x="211" y="11"/>
                  </a:lnTo>
                  <a:lnTo>
                    <a:pt x="177" y="17"/>
                  </a:lnTo>
                  <a:lnTo>
                    <a:pt x="147" y="22"/>
                  </a:lnTo>
                  <a:lnTo>
                    <a:pt x="116" y="28"/>
                  </a:lnTo>
                  <a:lnTo>
                    <a:pt x="92" y="36"/>
                  </a:lnTo>
                  <a:lnTo>
                    <a:pt x="67" y="43"/>
                  </a:lnTo>
                  <a:lnTo>
                    <a:pt x="49" y="51"/>
                  </a:lnTo>
                  <a:lnTo>
                    <a:pt x="32" y="60"/>
                  </a:lnTo>
                  <a:lnTo>
                    <a:pt x="17" y="70"/>
                  </a:lnTo>
                  <a:lnTo>
                    <a:pt x="7" y="79"/>
                  </a:lnTo>
                  <a:lnTo>
                    <a:pt x="1" y="88"/>
                  </a:lnTo>
                  <a:lnTo>
                    <a:pt x="0" y="98"/>
                  </a:lnTo>
                  <a:lnTo>
                    <a:pt x="1" y="109"/>
                  </a:lnTo>
                  <a:lnTo>
                    <a:pt x="7" y="119"/>
                  </a:lnTo>
                  <a:lnTo>
                    <a:pt x="17" y="128"/>
                  </a:lnTo>
                  <a:lnTo>
                    <a:pt x="32" y="137"/>
                  </a:lnTo>
                  <a:lnTo>
                    <a:pt x="49" y="145"/>
                  </a:lnTo>
                  <a:lnTo>
                    <a:pt x="67" y="154"/>
                  </a:lnTo>
                  <a:lnTo>
                    <a:pt x="92" y="162"/>
                  </a:lnTo>
                  <a:lnTo>
                    <a:pt x="116" y="170"/>
                  </a:lnTo>
                  <a:lnTo>
                    <a:pt x="147" y="175"/>
                  </a:lnTo>
                  <a:lnTo>
                    <a:pt x="177" y="181"/>
                  </a:lnTo>
                  <a:lnTo>
                    <a:pt x="211" y="187"/>
                  </a:lnTo>
                  <a:lnTo>
                    <a:pt x="245" y="190"/>
                  </a:lnTo>
                  <a:lnTo>
                    <a:pt x="322" y="196"/>
                  </a:lnTo>
                  <a:lnTo>
                    <a:pt x="403" y="198"/>
                  </a:lnTo>
                  <a:lnTo>
                    <a:pt x="484" y="196"/>
                  </a:lnTo>
                  <a:lnTo>
                    <a:pt x="560" y="190"/>
                  </a:lnTo>
                  <a:lnTo>
                    <a:pt x="595" y="187"/>
                  </a:lnTo>
                  <a:lnTo>
                    <a:pt x="627" y="181"/>
                  </a:lnTo>
                  <a:lnTo>
                    <a:pt x="659" y="175"/>
                  </a:lnTo>
                  <a:lnTo>
                    <a:pt x="688" y="170"/>
                  </a:lnTo>
                  <a:lnTo>
                    <a:pt x="714" y="162"/>
                  </a:lnTo>
                  <a:lnTo>
                    <a:pt x="737" y="154"/>
                  </a:lnTo>
                  <a:lnTo>
                    <a:pt x="757" y="145"/>
                  </a:lnTo>
                  <a:lnTo>
                    <a:pt x="774" y="137"/>
                  </a:lnTo>
                  <a:lnTo>
                    <a:pt x="788" y="128"/>
                  </a:lnTo>
                  <a:lnTo>
                    <a:pt x="797" y="119"/>
                  </a:lnTo>
                  <a:lnTo>
                    <a:pt x="805" y="109"/>
                  </a:lnTo>
                  <a:lnTo>
                    <a:pt x="806" y="98"/>
                  </a:lnTo>
                  <a:lnTo>
                    <a:pt x="805" y="88"/>
                  </a:lnTo>
                  <a:lnTo>
                    <a:pt x="797" y="79"/>
                  </a:lnTo>
                  <a:lnTo>
                    <a:pt x="788" y="70"/>
                  </a:lnTo>
                  <a:lnTo>
                    <a:pt x="774" y="60"/>
                  </a:lnTo>
                  <a:lnTo>
                    <a:pt x="757" y="51"/>
                  </a:lnTo>
                  <a:lnTo>
                    <a:pt x="737" y="43"/>
                  </a:lnTo>
                  <a:lnTo>
                    <a:pt x="714" y="36"/>
                  </a:lnTo>
                  <a:lnTo>
                    <a:pt x="688" y="28"/>
                  </a:lnTo>
                  <a:lnTo>
                    <a:pt x="659" y="22"/>
                  </a:lnTo>
                  <a:lnTo>
                    <a:pt x="627" y="17"/>
                  </a:lnTo>
                  <a:lnTo>
                    <a:pt x="595" y="11"/>
                  </a:lnTo>
                  <a:lnTo>
                    <a:pt x="560" y="7"/>
                  </a:lnTo>
                  <a:lnTo>
                    <a:pt x="484" y="2"/>
                  </a:lnTo>
                  <a:lnTo>
                    <a:pt x="403" y="0"/>
                  </a:lnTo>
                </a:path>
              </a:pathLst>
            </a:custGeom>
            <a:noFill/>
            <a:ln w="22225">
              <a:solidFill>
                <a:srgbClr val="000000"/>
              </a:solidFill>
              <a:round/>
              <a:headEnd/>
              <a:tailEnd/>
            </a:ln>
          </p:spPr>
          <p:txBody>
            <a:bodyPr/>
            <a:lstStyle/>
            <a:p>
              <a:endParaRPr lang="zh-CN" altLang="en-US"/>
            </a:p>
          </p:txBody>
        </p:sp>
        <p:sp>
          <p:nvSpPr>
            <p:cNvPr id="29799" name="Line 25"/>
            <p:cNvSpPr>
              <a:spLocks noChangeShapeType="1"/>
            </p:cNvSpPr>
            <p:nvPr/>
          </p:nvSpPr>
          <p:spPr bwMode="auto">
            <a:xfrm>
              <a:off x="1057" y="1540"/>
              <a:ext cx="0" cy="891"/>
            </a:xfrm>
            <a:prstGeom prst="line">
              <a:avLst/>
            </a:prstGeom>
            <a:noFill/>
            <a:ln w="22225">
              <a:solidFill>
                <a:srgbClr val="000000"/>
              </a:solidFill>
              <a:round/>
              <a:headEnd/>
              <a:tailEnd/>
            </a:ln>
          </p:spPr>
          <p:txBody>
            <a:bodyPr/>
            <a:lstStyle/>
            <a:p>
              <a:endParaRPr lang="zh-CN" altLang="en-US"/>
            </a:p>
          </p:txBody>
        </p:sp>
        <p:sp>
          <p:nvSpPr>
            <p:cNvPr id="29800" name="Freeform 26"/>
            <p:cNvSpPr>
              <a:spLocks noEditPoints="1"/>
            </p:cNvSpPr>
            <p:nvPr/>
          </p:nvSpPr>
          <p:spPr bwMode="auto">
            <a:xfrm>
              <a:off x="628" y="2667"/>
              <a:ext cx="1250" cy="14"/>
            </a:xfrm>
            <a:custGeom>
              <a:avLst/>
              <a:gdLst>
                <a:gd name="T0" fmla="*/ 28 w 2500"/>
                <a:gd name="T1" fmla="*/ 0 h 29"/>
                <a:gd name="T2" fmla="*/ 0 w 2500"/>
                <a:gd name="T3" fmla="*/ 7 h 29"/>
                <a:gd name="T4" fmla="*/ 0 w 2500"/>
                <a:gd name="T5" fmla="*/ 0 h 29"/>
                <a:gd name="T6" fmla="*/ 78 w 2500"/>
                <a:gd name="T7" fmla="*/ 0 h 29"/>
                <a:gd name="T8" fmla="*/ 49 w 2500"/>
                <a:gd name="T9" fmla="*/ 7 h 29"/>
                <a:gd name="T10" fmla="*/ 49 w 2500"/>
                <a:gd name="T11" fmla="*/ 0 h 29"/>
                <a:gd name="T12" fmla="*/ 127 w 2500"/>
                <a:gd name="T13" fmla="*/ 0 h 29"/>
                <a:gd name="T14" fmla="*/ 99 w 2500"/>
                <a:gd name="T15" fmla="*/ 7 h 29"/>
                <a:gd name="T16" fmla="*/ 99 w 2500"/>
                <a:gd name="T17" fmla="*/ 0 h 29"/>
                <a:gd name="T18" fmla="*/ 177 w 2500"/>
                <a:gd name="T19" fmla="*/ 0 h 29"/>
                <a:gd name="T20" fmla="*/ 149 w 2500"/>
                <a:gd name="T21" fmla="*/ 7 h 29"/>
                <a:gd name="T22" fmla="*/ 149 w 2500"/>
                <a:gd name="T23" fmla="*/ 0 h 29"/>
                <a:gd name="T24" fmla="*/ 227 w 2500"/>
                <a:gd name="T25" fmla="*/ 0 h 29"/>
                <a:gd name="T26" fmla="*/ 198 w 2500"/>
                <a:gd name="T27" fmla="*/ 7 h 29"/>
                <a:gd name="T28" fmla="*/ 198 w 2500"/>
                <a:gd name="T29" fmla="*/ 0 h 29"/>
                <a:gd name="T30" fmla="*/ 277 w 2500"/>
                <a:gd name="T31" fmla="*/ 0 h 29"/>
                <a:gd name="T32" fmla="*/ 248 w 2500"/>
                <a:gd name="T33" fmla="*/ 7 h 29"/>
                <a:gd name="T34" fmla="*/ 248 w 2500"/>
                <a:gd name="T35" fmla="*/ 0 h 29"/>
                <a:gd name="T36" fmla="*/ 326 w 2500"/>
                <a:gd name="T37" fmla="*/ 0 h 29"/>
                <a:gd name="T38" fmla="*/ 298 w 2500"/>
                <a:gd name="T39" fmla="*/ 7 h 29"/>
                <a:gd name="T40" fmla="*/ 298 w 2500"/>
                <a:gd name="T41" fmla="*/ 0 h 29"/>
                <a:gd name="T42" fmla="*/ 376 w 2500"/>
                <a:gd name="T43" fmla="*/ 0 h 29"/>
                <a:gd name="T44" fmla="*/ 347 w 2500"/>
                <a:gd name="T45" fmla="*/ 7 h 29"/>
                <a:gd name="T46" fmla="*/ 347 w 2500"/>
                <a:gd name="T47" fmla="*/ 0 h 29"/>
                <a:gd name="T48" fmla="*/ 426 w 2500"/>
                <a:gd name="T49" fmla="*/ 0 h 29"/>
                <a:gd name="T50" fmla="*/ 397 w 2500"/>
                <a:gd name="T51" fmla="*/ 7 h 29"/>
                <a:gd name="T52" fmla="*/ 397 w 2500"/>
                <a:gd name="T53" fmla="*/ 0 h 29"/>
                <a:gd name="T54" fmla="*/ 475 w 2500"/>
                <a:gd name="T55" fmla="*/ 0 h 29"/>
                <a:gd name="T56" fmla="*/ 447 w 2500"/>
                <a:gd name="T57" fmla="*/ 7 h 29"/>
                <a:gd name="T58" fmla="*/ 447 w 2500"/>
                <a:gd name="T59" fmla="*/ 0 h 29"/>
                <a:gd name="T60" fmla="*/ 526 w 2500"/>
                <a:gd name="T61" fmla="*/ 0 h 29"/>
                <a:gd name="T62" fmla="*/ 496 w 2500"/>
                <a:gd name="T63" fmla="*/ 7 h 29"/>
                <a:gd name="T64" fmla="*/ 496 w 2500"/>
                <a:gd name="T65" fmla="*/ 0 h 29"/>
                <a:gd name="T66" fmla="*/ 575 w 2500"/>
                <a:gd name="T67" fmla="*/ 0 h 29"/>
                <a:gd name="T68" fmla="*/ 547 w 2500"/>
                <a:gd name="T69" fmla="*/ 7 h 29"/>
                <a:gd name="T70" fmla="*/ 547 w 2500"/>
                <a:gd name="T71" fmla="*/ 0 h 29"/>
                <a:gd name="T72" fmla="*/ 625 w 2500"/>
                <a:gd name="T73" fmla="*/ 0 h 29"/>
                <a:gd name="T74" fmla="*/ 597 w 2500"/>
                <a:gd name="T75" fmla="*/ 7 h 29"/>
                <a:gd name="T76" fmla="*/ 597 w 2500"/>
                <a:gd name="T77" fmla="*/ 0 h 2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2500"/>
                <a:gd name="T118" fmla="*/ 0 h 29"/>
                <a:gd name="T119" fmla="*/ 2500 w 2500"/>
                <a:gd name="T120" fmla="*/ 29 h 29"/>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2500" h="29">
                  <a:moveTo>
                    <a:pt x="0" y="0"/>
                  </a:moveTo>
                  <a:lnTo>
                    <a:pt x="113" y="0"/>
                  </a:lnTo>
                  <a:lnTo>
                    <a:pt x="113" y="29"/>
                  </a:lnTo>
                  <a:lnTo>
                    <a:pt x="0" y="29"/>
                  </a:lnTo>
                  <a:lnTo>
                    <a:pt x="0" y="0"/>
                  </a:lnTo>
                  <a:close/>
                  <a:moveTo>
                    <a:pt x="198" y="0"/>
                  </a:moveTo>
                  <a:lnTo>
                    <a:pt x="311" y="0"/>
                  </a:lnTo>
                  <a:lnTo>
                    <a:pt x="311" y="29"/>
                  </a:lnTo>
                  <a:lnTo>
                    <a:pt x="198" y="29"/>
                  </a:lnTo>
                  <a:lnTo>
                    <a:pt x="198" y="0"/>
                  </a:lnTo>
                  <a:close/>
                  <a:moveTo>
                    <a:pt x="396" y="0"/>
                  </a:moveTo>
                  <a:lnTo>
                    <a:pt x="511" y="0"/>
                  </a:lnTo>
                  <a:lnTo>
                    <a:pt x="511" y="29"/>
                  </a:lnTo>
                  <a:lnTo>
                    <a:pt x="396" y="29"/>
                  </a:lnTo>
                  <a:lnTo>
                    <a:pt x="396" y="0"/>
                  </a:lnTo>
                  <a:close/>
                  <a:moveTo>
                    <a:pt x="596" y="0"/>
                  </a:moveTo>
                  <a:lnTo>
                    <a:pt x="709" y="0"/>
                  </a:lnTo>
                  <a:lnTo>
                    <a:pt x="709" y="29"/>
                  </a:lnTo>
                  <a:lnTo>
                    <a:pt x="596" y="29"/>
                  </a:lnTo>
                  <a:lnTo>
                    <a:pt x="596" y="0"/>
                  </a:lnTo>
                  <a:close/>
                  <a:moveTo>
                    <a:pt x="794" y="0"/>
                  </a:moveTo>
                  <a:lnTo>
                    <a:pt x="909" y="0"/>
                  </a:lnTo>
                  <a:lnTo>
                    <a:pt x="909" y="29"/>
                  </a:lnTo>
                  <a:lnTo>
                    <a:pt x="794" y="29"/>
                  </a:lnTo>
                  <a:lnTo>
                    <a:pt x="794" y="0"/>
                  </a:lnTo>
                  <a:close/>
                  <a:moveTo>
                    <a:pt x="994" y="0"/>
                  </a:moveTo>
                  <a:lnTo>
                    <a:pt x="1107" y="0"/>
                  </a:lnTo>
                  <a:lnTo>
                    <a:pt x="1107" y="29"/>
                  </a:lnTo>
                  <a:lnTo>
                    <a:pt x="994" y="29"/>
                  </a:lnTo>
                  <a:lnTo>
                    <a:pt x="994" y="0"/>
                  </a:lnTo>
                  <a:close/>
                  <a:moveTo>
                    <a:pt x="1191" y="0"/>
                  </a:moveTo>
                  <a:lnTo>
                    <a:pt x="1306" y="0"/>
                  </a:lnTo>
                  <a:lnTo>
                    <a:pt x="1306" y="29"/>
                  </a:lnTo>
                  <a:lnTo>
                    <a:pt x="1191" y="29"/>
                  </a:lnTo>
                  <a:lnTo>
                    <a:pt x="1191" y="0"/>
                  </a:lnTo>
                  <a:close/>
                  <a:moveTo>
                    <a:pt x="1391" y="0"/>
                  </a:moveTo>
                  <a:lnTo>
                    <a:pt x="1504" y="0"/>
                  </a:lnTo>
                  <a:lnTo>
                    <a:pt x="1504" y="29"/>
                  </a:lnTo>
                  <a:lnTo>
                    <a:pt x="1391" y="29"/>
                  </a:lnTo>
                  <a:lnTo>
                    <a:pt x="1391" y="0"/>
                  </a:lnTo>
                  <a:close/>
                  <a:moveTo>
                    <a:pt x="1589" y="0"/>
                  </a:moveTo>
                  <a:lnTo>
                    <a:pt x="1704" y="0"/>
                  </a:lnTo>
                  <a:lnTo>
                    <a:pt x="1704" y="29"/>
                  </a:lnTo>
                  <a:lnTo>
                    <a:pt x="1589" y="29"/>
                  </a:lnTo>
                  <a:lnTo>
                    <a:pt x="1589" y="0"/>
                  </a:lnTo>
                  <a:close/>
                  <a:moveTo>
                    <a:pt x="1789" y="0"/>
                  </a:moveTo>
                  <a:lnTo>
                    <a:pt x="1902" y="0"/>
                  </a:lnTo>
                  <a:lnTo>
                    <a:pt x="1902" y="29"/>
                  </a:lnTo>
                  <a:lnTo>
                    <a:pt x="1789" y="29"/>
                  </a:lnTo>
                  <a:lnTo>
                    <a:pt x="1789" y="0"/>
                  </a:lnTo>
                  <a:close/>
                  <a:moveTo>
                    <a:pt x="1987" y="0"/>
                  </a:moveTo>
                  <a:lnTo>
                    <a:pt x="2102" y="0"/>
                  </a:lnTo>
                  <a:lnTo>
                    <a:pt x="2102" y="29"/>
                  </a:lnTo>
                  <a:lnTo>
                    <a:pt x="1987" y="29"/>
                  </a:lnTo>
                  <a:lnTo>
                    <a:pt x="1987" y="0"/>
                  </a:lnTo>
                  <a:close/>
                  <a:moveTo>
                    <a:pt x="2187" y="0"/>
                  </a:moveTo>
                  <a:lnTo>
                    <a:pt x="2300" y="0"/>
                  </a:lnTo>
                  <a:lnTo>
                    <a:pt x="2300" y="29"/>
                  </a:lnTo>
                  <a:lnTo>
                    <a:pt x="2187" y="29"/>
                  </a:lnTo>
                  <a:lnTo>
                    <a:pt x="2187" y="0"/>
                  </a:lnTo>
                  <a:close/>
                  <a:moveTo>
                    <a:pt x="2385" y="0"/>
                  </a:moveTo>
                  <a:lnTo>
                    <a:pt x="2500" y="0"/>
                  </a:lnTo>
                  <a:lnTo>
                    <a:pt x="2500" y="29"/>
                  </a:lnTo>
                  <a:lnTo>
                    <a:pt x="2385" y="29"/>
                  </a:lnTo>
                  <a:lnTo>
                    <a:pt x="2385" y="0"/>
                  </a:lnTo>
                  <a:close/>
                </a:path>
              </a:pathLst>
            </a:custGeom>
            <a:solidFill>
              <a:srgbClr val="000000"/>
            </a:solidFill>
            <a:ln w="9525">
              <a:noFill/>
              <a:round/>
              <a:headEnd/>
              <a:tailEnd/>
            </a:ln>
          </p:spPr>
          <p:txBody>
            <a:bodyPr/>
            <a:lstStyle/>
            <a:p>
              <a:endParaRPr lang="zh-CN" altLang="en-US"/>
            </a:p>
          </p:txBody>
        </p:sp>
        <p:sp>
          <p:nvSpPr>
            <p:cNvPr id="29801" name="Freeform 27"/>
            <p:cNvSpPr>
              <a:spLocks/>
            </p:cNvSpPr>
            <p:nvPr/>
          </p:nvSpPr>
          <p:spPr bwMode="auto">
            <a:xfrm>
              <a:off x="628" y="2667"/>
              <a:ext cx="57" cy="14"/>
            </a:xfrm>
            <a:custGeom>
              <a:avLst/>
              <a:gdLst>
                <a:gd name="T0" fmla="*/ 0 w 113"/>
                <a:gd name="T1" fmla="*/ 0 h 29"/>
                <a:gd name="T2" fmla="*/ 29 w 113"/>
                <a:gd name="T3" fmla="*/ 0 h 29"/>
                <a:gd name="T4" fmla="*/ 29 w 113"/>
                <a:gd name="T5" fmla="*/ 7 h 29"/>
                <a:gd name="T6" fmla="*/ 0 w 113"/>
                <a:gd name="T7" fmla="*/ 7 h 29"/>
                <a:gd name="T8" fmla="*/ 0 w 113"/>
                <a:gd name="T9" fmla="*/ 0 h 29"/>
                <a:gd name="T10" fmla="*/ 0 w 113"/>
                <a:gd name="T11" fmla="*/ 0 h 29"/>
                <a:gd name="T12" fmla="*/ 0 60000 65536"/>
                <a:gd name="T13" fmla="*/ 0 60000 65536"/>
                <a:gd name="T14" fmla="*/ 0 60000 65536"/>
                <a:gd name="T15" fmla="*/ 0 60000 65536"/>
                <a:gd name="T16" fmla="*/ 0 60000 65536"/>
                <a:gd name="T17" fmla="*/ 0 60000 65536"/>
                <a:gd name="T18" fmla="*/ 0 w 113"/>
                <a:gd name="T19" fmla="*/ 0 h 29"/>
                <a:gd name="T20" fmla="*/ 113 w 113"/>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3" h="29">
                  <a:moveTo>
                    <a:pt x="0" y="0"/>
                  </a:moveTo>
                  <a:lnTo>
                    <a:pt x="113" y="0"/>
                  </a:lnTo>
                  <a:lnTo>
                    <a:pt x="113" y="29"/>
                  </a:lnTo>
                  <a:lnTo>
                    <a:pt x="0" y="29"/>
                  </a:lnTo>
                  <a:lnTo>
                    <a:pt x="0" y="0"/>
                  </a:lnTo>
                  <a:close/>
                </a:path>
              </a:pathLst>
            </a:custGeom>
            <a:noFill/>
            <a:ln w="1588">
              <a:solidFill>
                <a:srgbClr val="000000"/>
              </a:solidFill>
              <a:round/>
              <a:headEnd/>
              <a:tailEnd/>
            </a:ln>
          </p:spPr>
          <p:txBody>
            <a:bodyPr/>
            <a:lstStyle/>
            <a:p>
              <a:endParaRPr lang="zh-CN" altLang="en-US"/>
            </a:p>
          </p:txBody>
        </p:sp>
        <p:sp>
          <p:nvSpPr>
            <p:cNvPr id="29802" name="Freeform 28"/>
            <p:cNvSpPr>
              <a:spLocks/>
            </p:cNvSpPr>
            <p:nvPr/>
          </p:nvSpPr>
          <p:spPr bwMode="auto">
            <a:xfrm>
              <a:off x="727" y="2667"/>
              <a:ext cx="57" cy="14"/>
            </a:xfrm>
            <a:custGeom>
              <a:avLst/>
              <a:gdLst>
                <a:gd name="T0" fmla="*/ 0 w 113"/>
                <a:gd name="T1" fmla="*/ 0 h 29"/>
                <a:gd name="T2" fmla="*/ 29 w 113"/>
                <a:gd name="T3" fmla="*/ 0 h 29"/>
                <a:gd name="T4" fmla="*/ 29 w 113"/>
                <a:gd name="T5" fmla="*/ 7 h 29"/>
                <a:gd name="T6" fmla="*/ 0 w 113"/>
                <a:gd name="T7" fmla="*/ 7 h 29"/>
                <a:gd name="T8" fmla="*/ 0 w 113"/>
                <a:gd name="T9" fmla="*/ 0 h 29"/>
                <a:gd name="T10" fmla="*/ 0 w 113"/>
                <a:gd name="T11" fmla="*/ 0 h 29"/>
                <a:gd name="T12" fmla="*/ 0 60000 65536"/>
                <a:gd name="T13" fmla="*/ 0 60000 65536"/>
                <a:gd name="T14" fmla="*/ 0 60000 65536"/>
                <a:gd name="T15" fmla="*/ 0 60000 65536"/>
                <a:gd name="T16" fmla="*/ 0 60000 65536"/>
                <a:gd name="T17" fmla="*/ 0 60000 65536"/>
                <a:gd name="T18" fmla="*/ 0 w 113"/>
                <a:gd name="T19" fmla="*/ 0 h 29"/>
                <a:gd name="T20" fmla="*/ 113 w 113"/>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3" h="29">
                  <a:moveTo>
                    <a:pt x="0" y="0"/>
                  </a:moveTo>
                  <a:lnTo>
                    <a:pt x="113" y="0"/>
                  </a:lnTo>
                  <a:lnTo>
                    <a:pt x="113" y="29"/>
                  </a:lnTo>
                  <a:lnTo>
                    <a:pt x="0" y="29"/>
                  </a:lnTo>
                  <a:lnTo>
                    <a:pt x="0" y="0"/>
                  </a:lnTo>
                  <a:close/>
                </a:path>
              </a:pathLst>
            </a:custGeom>
            <a:noFill/>
            <a:ln w="1588">
              <a:solidFill>
                <a:srgbClr val="000000"/>
              </a:solidFill>
              <a:round/>
              <a:headEnd/>
              <a:tailEnd/>
            </a:ln>
          </p:spPr>
          <p:txBody>
            <a:bodyPr/>
            <a:lstStyle/>
            <a:p>
              <a:endParaRPr lang="zh-CN" altLang="en-US"/>
            </a:p>
          </p:txBody>
        </p:sp>
        <p:sp>
          <p:nvSpPr>
            <p:cNvPr id="29803" name="Freeform 29"/>
            <p:cNvSpPr>
              <a:spLocks/>
            </p:cNvSpPr>
            <p:nvPr/>
          </p:nvSpPr>
          <p:spPr bwMode="auto">
            <a:xfrm>
              <a:off x="826" y="2667"/>
              <a:ext cx="57" cy="14"/>
            </a:xfrm>
            <a:custGeom>
              <a:avLst/>
              <a:gdLst>
                <a:gd name="T0" fmla="*/ 0 w 115"/>
                <a:gd name="T1" fmla="*/ 0 h 29"/>
                <a:gd name="T2" fmla="*/ 28 w 115"/>
                <a:gd name="T3" fmla="*/ 0 h 29"/>
                <a:gd name="T4" fmla="*/ 28 w 115"/>
                <a:gd name="T5" fmla="*/ 7 h 29"/>
                <a:gd name="T6" fmla="*/ 0 w 115"/>
                <a:gd name="T7" fmla="*/ 7 h 29"/>
                <a:gd name="T8" fmla="*/ 0 w 115"/>
                <a:gd name="T9" fmla="*/ 0 h 29"/>
                <a:gd name="T10" fmla="*/ 0 w 115"/>
                <a:gd name="T11" fmla="*/ 0 h 29"/>
                <a:gd name="T12" fmla="*/ 0 60000 65536"/>
                <a:gd name="T13" fmla="*/ 0 60000 65536"/>
                <a:gd name="T14" fmla="*/ 0 60000 65536"/>
                <a:gd name="T15" fmla="*/ 0 60000 65536"/>
                <a:gd name="T16" fmla="*/ 0 60000 65536"/>
                <a:gd name="T17" fmla="*/ 0 60000 65536"/>
                <a:gd name="T18" fmla="*/ 0 w 115"/>
                <a:gd name="T19" fmla="*/ 0 h 29"/>
                <a:gd name="T20" fmla="*/ 115 w 115"/>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5" h="29">
                  <a:moveTo>
                    <a:pt x="0" y="0"/>
                  </a:moveTo>
                  <a:lnTo>
                    <a:pt x="115" y="0"/>
                  </a:lnTo>
                  <a:lnTo>
                    <a:pt x="115" y="29"/>
                  </a:lnTo>
                  <a:lnTo>
                    <a:pt x="0" y="29"/>
                  </a:lnTo>
                  <a:lnTo>
                    <a:pt x="0" y="0"/>
                  </a:lnTo>
                  <a:close/>
                </a:path>
              </a:pathLst>
            </a:custGeom>
            <a:noFill/>
            <a:ln w="1588">
              <a:solidFill>
                <a:srgbClr val="000000"/>
              </a:solidFill>
              <a:round/>
              <a:headEnd/>
              <a:tailEnd/>
            </a:ln>
          </p:spPr>
          <p:txBody>
            <a:bodyPr/>
            <a:lstStyle/>
            <a:p>
              <a:endParaRPr lang="zh-CN" altLang="en-US"/>
            </a:p>
          </p:txBody>
        </p:sp>
        <p:sp>
          <p:nvSpPr>
            <p:cNvPr id="29804" name="Freeform 30"/>
            <p:cNvSpPr>
              <a:spLocks/>
            </p:cNvSpPr>
            <p:nvPr/>
          </p:nvSpPr>
          <p:spPr bwMode="auto">
            <a:xfrm>
              <a:off x="926" y="2667"/>
              <a:ext cx="56" cy="14"/>
            </a:xfrm>
            <a:custGeom>
              <a:avLst/>
              <a:gdLst>
                <a:gd name="T0" fmla="*/ 0 w 113"/>
                <a:gd name="T1" fmla="*/ 0 h 29"/>
                <a:gd name="T2" fmla="*/ 28 w 113"/>
                <a:gd name="T3" fmla="*/ 0 h 29"/>
                <a:gd name="T4" fmla="*/ 28 w 113"/>
                <a:gd name="T5" fmla="*/ 7 h 29"/>
                <a:gd name="T6" fmla="*/ 0 w 113"/>
                <a:gd name="T7" fmla="*/ 7 h 29"/>
                <a:gd name="T8" fmla="*/ 0 w 113"/>
                <a:gd name="T9" fmla="*/ 0 h 29"/>
                <a:gd name="T10" fmla="*/ 0 w 113"/>
                <a:gd name="T11" fmla="*/ 0 h 29"/>
                <a:gd name="T12" fmla="*/ 0 60000 65536"/>
                <a:gd name="T13" fmla="*/ 0 60000 65536"/>
                <a:gd name="T14" fmla="*/ 0 60000 65536"/>
                <a:gd name="T15" fmla="*/ 0 60000 65536"/>
                <a:gd name="T16" fmla="*/ 0 60000 65536"/>
                <a:gd name="T17" fmla="*/ 0 60000 65536"/>
                <a:gd name="T18" fmla="*/ 0 w 113"/>
                <a:gd name="T19" fmla="*/ 0 h 29"/>
                <a:gd name="T20" fmla="*/ 113 w 113"/>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3" h="29">
                  <a:moveTo>
                    <a:pt x="0" y="0"/>
                  </a:moveTo>
                  <a:lnTo>
                    <a:pt x="113" y="0"/>
                  </a:lnTo>
                  <a:lnTo>
                    <a:pt x="113" y="29"/>
                  </a:lnTo>
                  <a:lnTo>
                    <a:pt x="0" y="29"/>
                  </a:lnTo>
                  <a:lnTo>
                    <a:pt x="0" y="0"/>
                  </a:lnTo>
                  <a:close/>
                </a:path>
              </a:pathLst>
            </a:custGeom>
            <a:noFill/>
            <a:ln w="1588">
              <a:solidFill>
                <a:srgbClr val="000000"/>
              </a:solidFill>
              <a:round/>
              <a:headEnd/>
              <a:tailEnd/>
            </a:ln>
          </p:spPr>
          <p:txBody>
            <a:bodyPr/>
            <a:lstStyle/>
            <a:p>
              <a:endParaRPr lang="zh-CN" altLang="en-US"/>
            </a:p>
          </p:txBody>
        </p:sp>
        <p:sp>
          <p:nvSpPr>
            <p:cNvPr id="29805" name="Freeform 31"/>
            <p:cNvSpPr>
              <a:spLocks/>
            </p:cNvSpPr>
            <p:nvPr/>
          </p:nvSpPr>
          <p:spPr bwMode="auto">
            <a:xfrm>
              <a:off x="1025" y="2667"/>
              <a:ext cx="57" cy="14"/>
            </a:xfrm>
            <a:custGeom>
              <a:avLst/>
              <a:gdLst>
                <a:gd name="T0" fmla="*/ 0 w 115"/>
                <a:gd name="T1" fmla="*/ 0 h 29"/>
                <a:gd name="T2" fmla="*/ 28 w 115"/>
                <a:gd name="T3" fmla="*/ 0 h 29"/>
                <a:gd name="T4" fmla="*/ 28 w 115"/>
                <a:gd name="T5" fmla="*/ 7 h 29"/>
                <a:gd name="T6" fmla="*/ 0 w 115"/>
                <a:gd name="T7" fmla="*/ 7 h 29"/>
                <a:gd name="T8" fmla="*/ 0 w 115"/>
                <a:gd name="T9" fmla="*/ 0 h 29"/>
                <a:gd name="T10" fmla="*/ 0 w 115"/>
                <a:gd name="T11" fmla="*/ 0 h 29"/>
                <a:gd name="T12" fmla="*/ 0 60000 65536"/>
                <a:gd name="T13" fmla="*/ 0 60000 65536"/>
                <a:gd name="T14" fmla="*/ 0 60000 65536"/>
                <a:gd name="T15" fmla="*/ 0 60000 65536"/>
                <a:gd name="T16" fmla="*/ 0 60000 65536"/>
                <a:gd name="T17" fmla="*/ 0 60000 65536"/>
                <a:gd name="T18" fmla="*/ 0 w 115"/>
                <a:gd name="T19" fmla="*/ 0 h 29"/>
                <a:gd name="T20" fmla="*/ 115 w 115"/>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5" h="29">
                  <a:moveTo>
                    <a:pt x="0" y="0"/>
                  </a:moveTo>
                  <a:lnTo>
                    <a:pt x="115" y="0"/>
                  </a:lnTo>
                  <a:lnTo>
                    <a:pt x="115" y="29"/>
                  </a:lnTo>
                  <a:lnTo>
                    <a:pt x="0" y="29"/>
                  </a:lnTo>
                  <a:lnTo>
                    <a:pt x="0" y="0"/>
                  </a:lnTo>
                  <a:close/>
                </a:path>
              </a:pathLst>
            </a:custGeom>
            <a:noFill/>
            <a:ln w="1588">
              <a:solidFill>
                <a:srgbClr val="000000"/>
              </a:solidFill>
              <a:round/>
              <a:headEnd/>
              <a:tailEnd/>
            </a:ln>
          </p:spPr>
          <p:txBody>
            <a:bodyPr/>
            <a:lstStyle/>
            <a:p>
              <a:endParaRPr lang="zh-CN" altLang="en-US"/>
            </a:p>
          </p:txBody>
        </p:sp>
        <p:sp>
          <p:nvSpPr>
            <p:cNvPr id="29806" name="Freeform 32"/>
            <p:cNvSpPr>
              <a:spLocks/>
            </p:cNvSpPr>
            <p:nvPr/>
          </p:nvSpPr>
          <p:spPr bwMode="auto">
            <a:xfrm>
              <a:off x="1125" y="2667"/>
              <a:ext cx="56" cy="14"/>
            </a:xfrm>
            <a:custGeom>
              <a:avLst/>
              <a:gdLst>
                <a:gd name="T0" fmla="*/ 0 w 113"/>
                <a:gd name="T1" fmla="*/ 0 h 29"/>
                <a:gd name="T2" fmla="*/ 28 w 113"/>
                <a:gd name="T3" fmla="*/ 0 h 29"/>
                <a:gd name="T4" fmla="*/ 28 w 113"/>
                <a:gd name="T5" fmla="*/ 7 h 29"/>
                <a:gd name="T6" fmla="*/ 0 w 113"/>
                <a:gd name="T7" fmla="*/ 7 h 29"/>
                <a:gd name="T8" fmla="*/ 0 w 113"/>
                <a:gd name="T9" fmla="*/ 0 h 29"/>
                <a:gd name="T10" fmla="*/ 0 w 113"/>
                <a:gd name="T11" fmla="*/ 0 h 29"/>
                <a:gd name="T12" fmla="*/ 0 60000 65536"/>
                <a:gd name="T13" fmla="*/ 0 60000 65536"/>
                <a:gd name="T14" fmla="*/ 0 60000 65536"/>
                <a:gd name="T15" fmla="*/ 0 60000 65536"/>
                <a:gd name="T16" fmla="*/ 0 60000 65536"/>
                <a:gd name="T17" fmla="*/ 0 60000 65536"/>
                <a:gd name="T18" fmla="*/ 0 w 113"/>
                <a:gd name="T19" fmla="*/ 0 h 29"/>
                <a:gd name="T20" fmla="*/ 113 w 113"/>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3" h="29">
                  <a:moveTo>
                    <a:pt x="0" y="0"/>
                  </a:moveTo>
                  <a:lnTo>
                    <a:pt x="113" y="0"/>
                  </a:lnTo>
                  <a:lnTo>
                    <a:pt x="113" y="29"/>
                  </a:lnTo>
                  <a:lnTo>
                    <a:pt x="0" y="29"/>
                  </a:lnTo>
                  <a:lnTo>
                    <a:pt x="0" y="0"/>
                  </a:lnTo>
                  <a:close/>
                </a:path>
              </a:pathLst>
            </a:custGeom>
            <a:noFill/>
            <a:ln w="1588">
              <a:solidFill>
                <a:srgbClr val="000000"/>
              </a:solidFill>
              <a:round/>
              <a:headEnd/>
              <a:tailEnd/>
            </a:ln>
          </p:spPr>
          <p:txBody>
            <a:bodyPr/>
            <a:lstStyle/>
            <a:p>
              <a:endParaRPr lang="zh-CN" altLang="en-US"/>
            </a:p>
          </p:txBody>
        </p:sp>
        <p:sp>
          <p:nvSpPr>
            <p:cNvPr id="29807" name="Freeform 33"/>
            <p:cNvSpPr>
              <a:spLocks/>
            </p:cNvSpPr>
            <p:nvPr/>
          </p:nvSpPr>
          <p:spPr bwMode="auto">
            <a:xfrm>
              <a:off x="1224" y="2667"/>
              <a:ext cx="57" cy="14"/>
            </a:xfrm>
            <a:custGeom>
              <a:avLst/>
              <a:gdLst>
                <a:gd name="T0" fmla="*/ 0 w 115"/>
                <a:gd name="T1" fmla="*/ 0 h 29"/>
                <a:gd name="T2" fmla="*/ 28 w 115"/>
                <a:gd name="T3" fmla="*/ 0 h 29"/>
                <a:gd name="T4" fmla="*/ 28 w 115"/>
                <a:gd name="T5" fmla="*/ 7 h 29"/>
                <a:gd name="T6" fmla="*/ 0 w 115"/>
                <a:gd name="T7" fmla="*/ 7 h 29"/>
                <a:gd name="T8" fmla="*/ 0 w 115"/>
                <a:gd name="T9" fmla="*/ 0 h 29"/>
                <a:gd name="T10" fmla="*/ 0 w 115"/>
                <a:gd name="T11" fmla="*/ 0 h 29"/>
                <a:gd name="T12" fmla="*/ 0 60000 65536"/>
                <a:gd name="T13" fmla="*/ 0 60000 65536"/>
                <a:gd name="T14" fmla="*/ 0 60000 65536"/>
                <a:gd name="T15" fmla="*/ 0 60000 65536"/>
                <a:gd name="T16" fmla="*/ 0 60000 65536"/>
                <a:gd name="T17" fmla="*/ 0 60000 65536"/>
                <a:gd name="T18" fmla="*/ 0 w 115"/>
                <a:gd name="T19" fmla="*/ 0 h 29"/>
                <a:gd name="T20" fmla="*/ 115 w 115"/>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5" h="29">
                  <a:moveTo>
                    <a:pt x="0" y="0"/>
                  </a:moveTo>
                  <a:lnTo>
                    <a:pt x="115" y="0"/>
                  </a:lnTo>
                  <a:lnTo>
                    <a:pt x="115" y="29"/>
                  </a:lnTo>
                  <a:lnTo>
                    <a:pt x="0" y="29"/>
                  </a:lnTo>
                  <a:lnTo>
                    <a:pt x="0" y="0"/>
                  </a:lnTo>
                  <a:close/>
                </a:path>
              </a:pathLst>
            </a:custGeom>
            <a:noFill/>
            <a:ln w="1588">
              <a:solidFill>
                <a:srgbClr val="000000"/>
              </a:solidFill>
              <a:round/>
              <a:headEnd/>
              <a:tailEnd/>
            </a:ln>
          </p:spPr>
          <p:txBody>
            <a:bodyPr/>
            <a:lstStyle/>
            <a:p>
              <a:endParaRPr lang="zh-CN" altLang="en-US"/>
            </a:p>
          </p:txBody>
        </p:sp>
        <p:sp>
          <p:nvSpPr>
            <p:cNvPr id="29808" name="Freeform 34"/>
            <p:cNvSpPr>
              <a:spLocks/>
            </p:cNvSpPr>
            <p:nvPr/>
          </p:nvSpPr>
          <p:spPr bwMode="auto">
            <a:xfrm>
              <a:off x="1324" y="2667"/>
              <a:ext cx="56" cy="14"/>
            </a:xfrm>
            <a:custGeom>
              <a:avLst/>
              <a:gdLst>
                <a:gd name="T0" fmla="*/ 0 w 113"/>
                <a:gd name="T1" fmla="*/ 0 h 29"/>
                <a:gd name="T2" fmla="*/ 28 w 113"/>
                <a:gd name="T3" fmla="*/ 0 h 29"/>
                <a:gd name="T4" fmla="*/ 28 w 113"/>
                <a:gd name="T5" fmla="*/ 7 h 29"/>
                <a:gd name="T6" fmla="*/ 0 w 113"/>
                <a:gd name="T7" fmla="*/ 7 h 29"/>
                <a:gd name="T8" fmla="*/ 0 w 113"/>
                <a:gd name="T9" fmla="*/ 0 h 29"/>
                <a:gd name="T10" fmla="*/ 0 w 113"/>
                <a:gd name="T11" fmla="*/ 0 h 29"/>
                <a:gd name="T12" fmla="*/ 0 60000 65536"/>
                <a:gd name="T13" fmla="*/ 0 60000 65536"/>
                <a:gd name="T14" fmla="*/ 0 60000 65536"/>
                <a:gd name="T15" fmla="*/ 0 60000 65536"/>
                <a:gd name="T16" fmla="*/ 0 60000 65536"/>
                <a:gd name="T17" fmla="*/ 0 60000 65536"/>
                <a:gd name="T18" fmla="*/ 0 w 113"/>
                <a:gd name="T19" fmla="*/ 0 h 29"/>
                <a:gd name="T20" fmla="*/ 113 w 113"/>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3" h="29">
                  <a:moveTo>
                    <a:pt x="0" y="0"/>
                  </a:moveTo>
                  <a:lnTo>
                    <a:pt x="113" y="0"/>
                  </a:lnTo>
                  <a:lnTo>
                    <a:pt x="113" y="29"/>
                  </a:lnTo>
                  <a:lnTo>
                    <a:pt x="0" y="29"/>
                  </a:lnTo>
                  <a:lnTo>
                    <a:pt x="0" y="0"/>
                  </a:lnTo>
                  <a:close/>
                </a:path>
              </a:pathLst>
            </a:custGeom>
            <a:noFill/>
            <a:ln w="1588">
              <a:solidFill>
                <a:srgbClr val="000000"/>
              </a:solidFill>
              <a:round/>
              <a:headEnd/>
              <a:tailEnd/>
            </a:ln>
          </p:spPr>
          <p:txBody>
            <a:bodyPr/>
            <a:lstStyle/>
            <a:p>
              <a:endParaRPr lang="zh-CN" altLang="en-US"/>
            </a:p>
          </p:txBody>
        </p:sp>
        <p:sp>
          <p:nvSpPr>
            <p:cNvPr id="29809" name="Freeform 35"/>
            <p:cNvSpPr>
              <a:spLocks/>
            </p:cNvSpPr>
            <p:nvPr/>
          </p:nvSpPr>
          <p:spPr bwMode="auto">
            <a:xfrm>
              <a:off x="1423" y="2667"/>
              <a:ext cx="57" cy="14"/>
            </a:xfrm>
            <a:custGeom>
              <a:avLst/>
              <a:gdLst>
                <a:gd name="T0" fmla="*/ 0 w 115"/>
                <a:gd name="T1" fmla="*/ 0 h 29"/>
                <a:gd name="T2" fmla="*/ 28 w 115"/>
                <a:gd name="T3" fmla="*/ 0 h 29"/>
                <a:gd name="T4" fmla="*/ 28 w 115"/>
                <a:gd name="T5" fmla="*/ 7 h 29"/>
                <a:gd name="T6" fmla="*/ 0 w 115"/>
                <a:gd name="T7" fmla="*/ 7 h 29"/>
                <a:gd name="T8" fmla="*/ 0 w 115"/>
                <a:gd name="T9" fmla="*/ 0 h 29"/>
                <a:gd name="T10" fmla="*/ 0 w 115"/>
                <a:gd name="T11" fmla="*/ 0 h 29"/>
                <a:gd name="T12" fmla="*/ 0 60000 65536"/>
                <a:gd name="T13" fmla="*/ 0 60000 65536"/>
                <a:gd name="T14" fmla="*/ 0 60000 65536"/>
                <a:gd name="T15" fmla="*/ 0 60000 65536"/>
                <a:gd name="T16" fmla="*/ 0 60000 65536"/>
                <a:gd name="T17" fmla="*/ 0 60000 65536"/>
                <a:gd name="T18" fmla="*/ 0 w 115"/>
                <a:gd name="T19" fmla="*/ 0 h 29"/>
                <a:gd name="T20" fmla="*/ 115 w 115"/>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5" h="29">
                  <a:moveTo>
                    <a:pt x="0" y="0"/>
                  </a:moveTo>
                  <a:lnTo>
                    <a:pt x="115" y="0"/>
                  </a:lnTo>
                  <a:lnTo>
                    <a:pt x="115" y="29"/>
                  </a:lnTo>
                  <a:lnTo>
                    <a:pt x="0" y="29"/>
                  </a:lnTo>
                  <a:lnTo>
                    <a:pt x="0" y="0"/>
                  </a:lnTo>
                  <a:close/>
                </a:path>
              </a:pathLst>
            </a:custGeom>
            <a:noFill/>
            <a:ln w="1588">
              <a:solidFill>
                <a:srgbClr val="000000"/>
              </a:solidFill>
              <a:round/>
              <a:headEnd/>
              <a:tailEnd/>
            </a:ln>
          </p:spPr>
          <p:txBody>
            <a:bodyPr/>
            <a:lstStyle/>
            <a:p>
              <a:endParaRPr lang="zh-CN" altLang="en-US"/>
            </a:p>
          </p:txBody>
        </p:sp>
        <p:sp>
          <p:nvSpPr>
            <p:cNvPr id="29810" name="Freeform 36"/>
            <p:cNvSpPr>
              <a:spLocks/>
            </p:cNvSpPr>
            <p:nvPr/>
          </p:nvSpPr>
          <p:spPr bwMode="auto">
            <a:xfrm>
              <a:off x="1523" y="2667"/>
              <a:ext cx="56" cy="14"/>
            </a:xfrm>
            <a:custGeom>
              <a:avLst/>
              <a:gdLst>
                <a:gd name="T0" fmla="*/ 0 w 113"/>
                <a:gd name="T1" fmla="*/ 0 h 29"/>
                <a:gd name="T2" fmla="*/ 28 w 113"/>
                <a:gd name="T3" fmla="*/ 0 h 29"/>
                <a:gd name="T4" fmla="*/ 28 w 113"/>
                <a:gd name="T5" fmla="*/ 7 h 29"/>
                <a:gd name="T6" fmla="*/ 0 w 113"/>
                <a:gd name="T7" fmla="*/ 7 h 29"/>
                <a:gd name="T8" fmla="*/ 0 w 113"/>
                <a:gd name="T9" fmla="*/ 0 h 29"/>
                <a:gd name="T10" fmla="*/ 0 w 113"/>
                <a:gd name="T11" fmla="*/ 0 h 29"/>
                <a:gd name="T12" fmla="*/ 0 60000 65536"/>
                <a:gd name="T13" fmla="*/ 0 60000 65536"/>
                <a:gd name="T14" fmla="*/ 0 60000 65536"/>
                <a:gd name="T15" fmla="*/ 0 60000 65536"/>
                <a:gd name="T16" fmla="*/ 0 60000 65536"/>
                <a:gd name="T17" fmla="*/ 0 60000 65536"/>
                <a:gd name="T18" fmla="*/ 0 w 113"/>
                <a:gd name="T19" fmla="*/ 0 h 29"/>
                <a:gd name="T20" fmla="*/ 113 w 113"/>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3" h="29">
                  <a:moveTo>
                    <a:pt x="0" y="0"/>
                  </a:moveTo>
                  <a:lnTo>
                    <a:pt x="113" y="0"/>
                  </a:lnTo>
                  <a:lnTo>
                    <a:pt x="113" y="29"/>
                  </a:lnTo>
                  <a:lnTo>
                    <a:pt x="0" y="29"/>
                  </a:lnTo>
                  <a:lnTo>
                    <a:pt x="0" y="0"/>
                  </a:lnTo>
                  <a:close/>
                </a:path>
              </a:pathLst>
            </a:custGeom>
            <a:noFill/>
            <a:ln w="1588">
              <a:solidFill>
                <a:srgbClr val="000000"/>
              </a:solidFill>
              <a:round/>
              <a:headEnd/>
              <a:tailEnd/>
            </a:ln>
          </p:spPr>
          <p:txBody>
            <a:bodyPr/>
            <a:lstStyle/>
            <a:p>
              <a:endParaRPr lang="zh-CN" altLang="en-US"/>
            </a:p>
          </p:txBody>
        </p:sp>
        <p:sp>
          <p:nvSpPr>
            <p:cNvPr id="29811" name="Freeform 37"/>
            <p:cNvSpPr>
              <a:spLocks/>
            </p:cNvSpPr>
            <p:nvPr/>
          </p:nvSpPr>
          <p:spPr bwMode="auto">
            <a:xfrm>
              <a:off x="1622" y="2667"/>
              <a:ext cx="57" cy="14"/>
            </a:xfrm>
            <a:custGeom>
              <a:avLst/>
              <a:gdLst>
                <a:gd name="T0" fmla="*/ 0 w 115"/>
                <a:gd name="T1" fmla="*/ 0 h 29"/>
                <a:gd name="T2" fmla="*/ 28 w 115"/>
                <a:gd name="T3" fmla="*/ 0 h 29"/>
                <a:gd name="T4" fmla="*/ 28 w 115"/>
                <a:gd name="T5" fmla="*/ 7 h 29"/>
                <a:gd name="T6" fmla="*/ 0 w 115"/>
                <a:gd name="T7" fmla="*/ 7 h 29"/>
                <a:gd name="T8" fmla="*/ 0 w 115"/>
                <a:gd name="T9" fmla="*/ 0 h 29"/>
                <a:gd name="T10" fmla="*/ 0 w 115"/>
                <a:gd name="T11" fmla="*/ 0 h 29"/>
                <a:gd name="T12" fmla="*/ 0 60000 65536"/>
                <a:gd name="T13" fmla="*/ 0 60000 65536"/>
                <a:gd name="T14" fmla="*/ 0 60000 65536"/>
                <a:gd name="T15" fmla="*/ 0 60000 65536"/>
                <a:gd name="T16" fmla="*/ 0 60000 65536"/>
                <a:gd name="T17" fmla="*/ 0 60000 65536"/>
                <a:gd name="T18" fmla="*/ 0 w 115"/>
                <a:gd name="T19" fmla="*/ 0 h 29"/>
                <a:gd name="T20" fmla="*/ 115 w 115"/>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5" h="29">
                  <a:moveTo>
                    <a:pt x="0" y="0"/>
                  </a:moveTo>
                  <a:lnTo>
                    <a:pt x="115" y="0"/>
                  </a:lnTo>
                  <a:lnTo>
                    <a:pt x="115" y="29"/>
                  </a:lnTo>
                  <a:lnTo>
                    <a:pt x="0" y="29"/>
                  </a:lnTo>
                  <a:lnTo>
                    <a:pt x="0" y="0"/>
                  </a:lnTo>
                  <a:close/>
                </a:path>
              </a:pathLst>
            </a:custGeom>
            <a:noFill/>
            <a:ln w="1588">
              <a:solidFill>
                <a:srgbClr val="000000"/>
              </a:solidFill>
              <a:round/>
              <a:headEnd/>
              <a:tailEnd/>
            </a:ln>
          </p:spPr>
          <p:txBody>
            <a:bodyPr/>
            <a:lstStyle/>
            <a:p>
              <a:endParaRPr lang="zh-CN" altLang="en-US"/>
            </a:p>
          </p:txBody>
        </p:sp>
        <p:sp>
          <p:nvSpPr>
            <p:cNvPr id="29812" name="Freeform 38"/>
            <p:cNvSpPr>
              <a:spLocks/>
            </p:cNvSpPr>
            <p:nvPr/>
          </p:nvSpPr>
          <p:spPr bwMode="auto">
            <a:xfrm>
              <a:off x="1721" y="2667"/>
              <a:ext cx="57" cy="14"/>
            </a:xfrm>
            <a:custGeom>
              <a:avLst/>
              <a:gdLst>
                <a:gd name="T0" fmla="*/ 0 w 113"/>
                <a:gd name="T1" fmla="*/ 0 h 29"/>
                <a:gd name="T2" fmla="*/ 29 w 113"/>
                <a:gd name="T3" fmla="*/ 0 h 29"/>
                <a:gd name="T4" fmla="*/ 29 w 113"/>
                <a:gd name="T5" fmla="*/ 7 h 29"/>
                <a:gd name="T6" fmla="*/ 0 w 113"/>
                <a:gd name="T7" fmla="*/ 7 h 29"/>
                <a:gd name="T8" fmla="*/ 0 w 113"/>
                <a:gd name="T9" fmla="*/ 0 h 29"/>
                <a:gd name="T10" fmla="*/ 0 w 113"/>
                <a:gd name="T11" fmla="*/ 0 h 29"/>
                <a:gd name="T12" fmla="*/ 0 60000 65536"/>
                <a:gd name="T13" fmla="*/ 0 60000 65536"/>
                <a:gd name="T14" fmla="*/ 0 60000 65536"/>
                <a:gd name="T15" fmla="*/ 0 60000 65536"/>
                <a:gd name="T16" fmla="*/ 0 60000 65536"/>
                <a:gd name="T17" fmla="*/ 0 60000 65536"/>
                <a:gd name="T18" fmla="*/ 0 w 113"/>
                <a:gd name="T19" fmla="*/ 0 h 29"/>
                <a:gd name="T20" fmla="*/ 113 w 113"/>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3" h="29">
                  <a:moveTo>
                    <a:pt x="0" y="0"/>
                  </a:moveTo>
                  <a:lnTo>
                    <a:pt x="113" y="0"/>
                  </a:lnTo>
                  <a:lnTo>
                    <a:pt x="113" y="29"/>
                  </a:lnTo>
                  <a:lnTo>
                    <a:pt x="0" y="29"/>
                  </a:lnTo>
                  <a:lnTo>
                    <a:pt x="0" y="0"/>
                  </a:lnTo>
                  <a:close/>
                </a:path>
              </a:pathLst>
            </a:custGeom>
            <a:noFill/>
            <a:ln w="1588">
              <a:solidFill>
                <a:srgbClr val="000000"/>
              </a:solidFill>
              <a:round/>
              <a:headEnd/>
              <a:tailEnd/>
            </a:ln>
          </p:spPr>
          <p:txBody>
            <a:bodyPr/>
            <a:lstStyle/>
            <a:p>
              <a:endParaRPr lang="zh-CN" altLang="en-US"/>
            </a:p>
          </p:txBody>
        </p:sp>
        <p:sp>
          <p:nvSpPr>
            <p:cNvPr id="29813" name="Freeform 39"/>
            <p:cNvSpPr>
              <a:spLocks/>
            </p:cNvSpPr>
            <p:nvPr/>
          </p:nvSpPr>
          <p:spPr bwMode="auto">
            <a:xfrm>
              <a:off x="1820" y="2667"/>
              <a:ext cx="58" cy="14"/>
            </a:xfrm>
            <a:custGeom>
              <a:avLst/>
              <a:gdLst>
                <a:gd name="T0" fmla="*/ 0 w 115"/>
                <a:gd name="T1" fmla="*/ 0 h 29"/>
                <a:gd name="T2" fmla="*/ 29 w 115"/>
                <a:gd name="T3" fmla="*/ 0 h 29"/>
                <a:gd name="T4" fmla="*/ 29 w 115"/>
                <a:gd name="T5" fmla="*/ 7 h 29"/>
                <a:gd name="T6" fmla="*/ 0 w 115"/>
                <a:gd name="T7" fmla="*/ 7 h 29"/>
                <a:gd name="T8" fmla="*/ 0 w 115"/>
                <a:gd name="T9" fmla="*/ 0 h 29"/>
                <a:gd name="T10" fmla="*/ 0 w 115"/>
                <a:gd name="T11" fmla="*/ 0 h 29"/>
                <a:gd name="T12" fmla="*/ 0 60000 65536"/>
                <a:gd name="T13" fmla="*/ 0 60000 65536"/>
                <a:gd name="T14" fmla="*/ 0 60000 65536"/>
                <a:gd name="T15" fmla="*/ 0 60000 65536"/>
                <a:gd name="T16" fmla="*/ 0 60000 65536"/>
                <a:gd name="T17" fmla="*/ 0 60000 65536"/>
                <a:gd name="T18" fmla="*/ 0 w 115"/>
                <a:gd name="T19" fmla="*/ 0 h 29"/>
                <a:gd name="T20" fmla="*/ 115 w 115"/>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5" h="29">
                  <a:moveTo>
                    <a:pt x="0" y="0"/>
                  </a:moveTo>
                  <a:lnTo>
                    <a:pt x="115" y="0"/>
                  </a:lnTo>
                  <a:lnTo>
                    <a:pt x="115" y="29"/>
                  </a:lnTo>
                  <a:lnTo>
                    <a:pt x="0" y="29"/>
                  </a:lnTo>
                  <a:lnTo>
                    <a:pt x="0" y="0"/>
                  </a:lnTo>
                  <a:close/>
                </a:path>
              </a:pathLst>
            </a:custGeom>
            <a:noFill/>
            <a:ln w="1588">
              <a:solidFill>
                <a:srgbClr val="000000"/>
              </a:solidFill>
              <a:round/>
              <a:headEnd/>
              <a:tailEnd/>
            </a:ln>
          </p:spPr>
          <p:txBody>
            <a:bodyPr/>
            <a:lstStyle/>
            <a:p>
              <a:endParaRPr lang="zh-CN" altLang="en-US"/>
            </a:p>
          </p:txBody>
        </p:sp>
        <p:sp>
          <p:nvSpPr>
            <p:cNvPr id="29814" name="Freeform 40"/>
            <p:cNvSpPr>
              <a:spLocks/>
            </p:cNvSpPr>
            <p:nvPr/>
          </p:nvSpPr>
          <p:spPr bwMode="auto">
            <a:xfrm>
              <a:off x="1738" y="1486"/>
              <a:ext cx="303" cy="302"/>
            </a:xfrm>
            <a:custGeom>
              <a:avLst/>
              <a:gdLst>
                <a:gd name="T0" fmla="*/ 92 w 605"/>
                <a:gd name="T1" fmla="*/ 59 h 604"/>
                <a:gd name="T2" fmla="*/ 77 w 605"/>
                <a:gd name="T3" fmla="*/ 45 h 604"/>
                <a:gd name="T4" fmla="*/ 62 w 605"/>
                <a:gd name="T5" fmla="*/ 31 h 604"/>
                <a:gd name="T6" fmla="*/ 55 w 605"/>
                <a:gd name="T7" fmla="*/ 26 h 604"/>
                <a:gd name="T8" fmla="*/ 48 w 605"/>
                <a:gd name="T9" fmla="*/ 20 h 604"/>
                <a:gd name="T10" fmla="*/ 42 w 605"/>
                <a:gd name="T11" fmla="*/ 17 h 604"/>
                <a:gd name="T12" fmla="*/ 35 w 605"/>
                <a:gd name="T13" fmla="*/ 12 h 604"/>
                <a:gd name="T14" fmla="*/ 30 w 605"/>
                <a:gd name="T15" fmla="*/ 8 h 604"/>
                <a:gd name="T16" fmla="*/ 24 w 605"/>
                <a:gd name="T17" fmla="*/ 5 h 604"/>
                <a:gd name="T18" fmla="*/ 19 w 605"/>
                <a:gd name="T19" fmla="*/ 3 h 604"/>
                <a:gd name="T20" fmla="*/ 14 w 605"/>
                <a:gd name="T21" fmla="*/ 1 h 604"/>
                <a:gd name="T22" fmla="*/ 10 w 605"/>
                <a:gd name="T23" fmla="*/ 0 h 604"/>
                <a:gd name="T24" fmla="*/ 7 w 605"/>
                <a:gd name="T25" fmla="*/ 0 h 604"/>
                <a:gd name="T26" fmla="*/ 4 w 605"/>
                <a:gd name="T27" fmla="*/ 1 h 604"/>
                <a:gd name="T28" fmla="*/ 2 w 605"/>
                <a:gd name="T29" fmla="*/ 1 h 604"/>
                <a:gd name="T30" fmla="*/ 1 w 605"/>
                <a:gd name="T31" fmla="*/ 3 h 604"/>
                <a:gd name="T32" fmla="*/ 0 w 605"/>
                <a:gd name="T33" fmla="*/ 6 h 604"/>
                <a:gd name="T34" fmla="*/ 1 w 605"/>
                <a:gd name="T35" fmla="*/ 10 h 604"/>
                <a:gd name="T36" fmla="*/ 2 w 605"/>
                <a:gd name="T37" fmla="*/ 13 h 604"/>
                <a:gd name="T38" fmla="*/ 4 w 605"/>
                <a:gd name="T39" fmla="*/ 19 h 604"/>
                <a:gd name="T40" fmla="*/ 6 w 605"/>
                <a:gd name="T41" fmla="*/ 23 h 604"/>
                <a:gd name="T42" fmla="*/ 9 w 605"/>
                <a:gd name="T43" fmla="*/ 28 h 604"/>
                <a:gd name="T44" fmla="*/ 13 w 605"/>
                <a:gd name="T45" fmla="*/ 35 h 604"/>
                <a:gd name="T46" fmla="*/ 17 w 605"/>
                <a:gd name="T47" fmla="*/ 41 h 604"/>
                <a:gd name="T48" fmla="*/ 22 w 605"/>
                <a:gd name="T49" fmla="*/ 47 h 604"/>
                <a:gd name="T50" fmla="*/ 27 w 605"/>
                <a:gd name="T51" fmla="*/ 54 h 604"/>
                <a:gd name="T52" fmla="*/ 32 w 605"/>
                <a:gd name="T53" fmla="*/ 62 h 604"/>
                <a:gd name="T54" fmla="*/ 46 w 605"/>
                <a:gd name="T55" fmla="*/ 76 h 604"/>
                <a:gd name="T56" fmla="*/ 60 w 605"/>
                <a:gd name="T57" fmla="*/ 91 h 604"/>
                <a:gd name="T58" fmla="*/ 75 w 605"/>
                <a:gd name="T59" fmla="*/ 106 h 604"/>
                <a:gd name="T60" fmla="*/ 90 w 605"/>
                <a:gd name="T61" fmla="*/ 119 h 604"/>
                <a:gd name="T62" fmla="*/ 97 w 605"/>
                <a:gd name="T63" fmla="*/ 125 h 604"/>
                <a:gd name="T64" fmla="*/ 104 w 605"/>
                <a:gd name="T65" fmla="*/ 131 h 604"/>
                <a:gd name="T66" fmla="*/ 111 w 605"/>
                <a:gd name="T67" fmla="*/ 135 h 604"/>
                <a:gd name="T68" fmla="*/ 117 w 605"/>
                <a:gd name="T69" fmla="*/ 140 h 604"/>
                <a:gd name="T70" fmla="*/ 123 w 605"/>
                <a:gd name="T71" fmla="*/ 143 h 604"/>
                <a:gd name="T72" fmla="*/ 129 w 605"/>
                <a:gd name="T73" fmla="*/ 146 h 604"/>
                <a:gd name="T74" fmla="*/ 133 w 605"/>
                <a:gd name="T75" fmla="*/ 149 h 604"/>
                <a:gd name="T76" fmla="*/ 138 w 605"/>
                <a:gd name="T77" fmla="*/ 150 h 604"/>
                <a:gd name="T78" fmla="*/ 142 w 605"/>
                <a:gd name="T79" fmla="*/ 151 h 604"/>
                <a:gd name="T80" fmla="*/ 145 w 605"/>
                <a:gd name="T81" fmla="*/ 151 h 604"/>
                <a:gd name="T82" fmla="*/ 148 w 605"/>
                <a:gd name="T83" fmla="*/ 151 h 604"/>
                <a:gd name="T84" fmla="*/ 150 w 605"/>
                <a:gd name="T85" fmla="*/ 150 h 604"/>
                <a:gd name="T86" fmla="*/ 151 w 605"/>
                <a:gd name="T87" fmla="*/ 148 h 604"/>
                <a:gd name="T88" fmla="*/ 152 w 605"/>
                <a:gd name="T89" fmla="*/ 145 h 604"/>
                <a:gd name="T90" fmla="*/ 152 w 605"/>
                <a:gd name="T91" fmla="*/ 142 h 604"/>
                <a:gd name="T92" fmla="*/ 151 w 605"/>
                <a:gd name="T93" fmla="*/ 138 h 604"/>
                <a:gd name="T94" fmla="*/ 149 w 605"/>
                <a:gd name="T95" fmla="*/ 133 h 604"/>
                <a:gd name="T96" fmla="*/ 146 w 605"/>
                <a:gd name="T97" fmla="*/ 127 h 604"/>
                <a:gd name="T98" fmla="*/ 144 w 605"/>
                <a:gd name="T99" fmla="*/ 122 h 604"/>
                <a:gd name="T100" fmla="*/ 140 w 605"/>
                <a:gd name="T101" fmla="*/ 116 h 604"/>
                <a:gd name="T102" fmla="*/ 136 w 605"/>
                <a:gd name="T103" fmla="*/ 110 h 604"/>
                <a:gd name="T104" fmla="*/ 131 w 605"/>
                <a:gd name="T105" fmla="*/ 103 h 604"/>
                <a:gd name="T106" fmla="*/ 126 w 605"/>
                <a:gd name="T107" fmla="*/ 96 h 604"/>
                <a:gd name="T108" fmla="*/ 120 w 605"/>
                <a:gd name="T109" fmla="*/ 89 h 604"/>
                <a:gd name="T110" fmla="*/ 107 w 605"/>
                <a:gd name="T111" fmla="*/ 75 h 604"/>
                <a:gd name="T112" fmla="*/ 92 w 605"/>
                <a:gd name="T113" fmla="*/ 59 h 60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605"/>
                <a:gd name="T172" fmla="*/ 0 h 604"/>
                <a:gd name="T173" fmla="*/ 605 w 605"/>
                <a:gd name="T174" fmla="*/ 604 h 60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605" h="604">
                  <a:moveTo>
                    <a:pt x="367" y="236"/>
                  </a:moveTo>
                  <a:lnTo>
                    <a:pt x="307" y="180"/>
                  </a:lnTo>
                  <a:lnTo>
                    <a:pt x="247" y="127"/>
                  </a:lnTo>
                  <a:lnTo>
                    <a:pt x="218" y="104"/>
                  </a:lnTo>
                  <a:lnTo>
                    <a:pt x="192" y="83"/>
                  </a:lnTo>
                  <a:lnTo>
                    <a:pt x="166" y="65"/>
                  </a:lnTo>
                  <a:lnTo>
                    <a:pt x="139" y="48"/>
                  </a:lnTo>
                  <a:lnTo>
                    <a:pt x="117" y="32"/>
                  </a:lnTo>
                  <a:lnTo>
                    <a:pt x="94" y="21"/>
                  </a:lnTo>
                  <a:lnTo>
                    <a:pt x="73" y="12"/>
                  </a:lnTo>
                  <a:lnTo>
                    <a:pt x="56" y="4"/>
                  </a:lnTo>
                  <a:lnTo>
                    <a:pt x="39" y="0"/>
                  </a:lnTo>
                  <a:lnTo>
                    <a:pt x="26" y="0"/>
                  </a:lnTo>
                  <a:lnTo>
                    <a:pt x="15" y="2"/>
                  </a:lnTo>
                  <a:lnTo>
                    <a:pt x="7" y="6"/>
                  </a:lnTo>
                  <a:lnTo>
                    <a:pt x="2" y="15"/>
                  </a:lnTo>
                  <a:lnTo>
                    <a:pt x="0" y="27"/>
                  </a:lnTo>
                  <a:lnTo>
                    <a:pt x="2" y="40"/>
                  </a:lnTo>
                  <a:lnTo>
                    <a:pt x="5" y="55"/>
                  </a:lnTo>
                  <a:lnTo>
                    <a:pt x="13" y="74"/>
                  </a:lnTo>
                  <a:lnTo>
                    <a:pt x="22" y="93"/>
                  </a:lnTo>
                  <a:lnTo>
                    <a:pt x="34" y="115"/>
                  </a:lnTo>
                  <a:lnTo>
                    <a:pt x="49" y="140"/>
                  </a:lnTo>
                  <a:lnTo>
                    <a:pt x="66" y="165"/>
                  </a:lnTo>
                  <a:lnTo>
                    <a:pt x="85" y="191"/>
                  </a:lnTo>
                  <a:lnTo>
                    <a:pt x="105" y="219"/>
                  </a:lnTo>
                  <a:lnTo>
                    <a:pt x="128" y="248"/>
                  </a:lnTo>
                  <a:lnTo>
                    <a:pt x="181" y="306"/>
                  </a:lnTo>
                  <a:lnTo>
                    <a:pt x="239" y="366"/>
                  </a:lnTo>
                  <a:lnTo>
                    <a:pt x="300" y="425"/>
                  </a:lnTo>
                  <a:lnTo>
                    <a:pt x="358" y="478"/>
                  </a:lnTo>
                  <a:lnTo>
                    <a:pt x="386" y="500"/>
                  </a:lnTo>
                  <a:lnTo>
                    <a:pt x="415" y="521"/>
                  </a:lnTo>
                  <a:lnTo>
                    <a:pt x="441" y="540"/>
                  </a:lnTo>
                  <a:lnTo>
                    <a:pt x="465" y="557"/>
                  </a:lnTo>
                  <a:lnTo>
                    <a:pt x="490" y="572"/>
                  </a:lnTo>
                  <a:lnTo>
                    <a:pt x="513" y="583"/>
                  </a:lnTo>
                  <a:lnTo>
                    <a:pt x="531" y="593"/>
                  </a:lnTo>
                  <a:lnTo>
                    <a:pt x="550" y="599"/>
                  </a:lnTo>
                  <a:lnTo>
                    <a:pt x="565" y="604"/>
                  </a:lnTo>
                  <a:lnTo>
                    <a:pt x="580" y="604"/>
                  </a:lnTo>
                  <a:lnTo>
                    <a:pt x="590" y="602"/>
                  </a:lnTo>
                  <a:lnTo>
                    <a:pt x="599" y="597"/>
                  </a:lnTo>
                  <a:lnTo>
                    <a:pt x="603" y="589"/>
                  </a:lnTo>
                  <a:lnTo>
                    <a:pt x="605" y="578"/>
                  </a:lnTo>
                  <a:lnTo>
                    <a:pt x="605" y="565"/>
                  </a:lnTo>
                  <a:lnTo>
                    <a:pt x="601" y="550"/>
                  </a:lnTo>
                  <a:lnTo>
                    <a:pt x="594" y="531"/>
                  </a:lnTo>
                  <a:lnTo>
                    <a:pt x="584" y="510"/>
                  </a:lnTo>
                  <a:lnTo>
                    <a:pt x="573" y="489"/>
                  </a:lnTo>
                  <a:lnTo>
                    <a:pt x="558" y="465"/>
                  </a:lnTo>
                  <a:lnTo>
                    <a:pt x="541" y="440"/>
                  </a:lnTo>
                  <a:lnTo>
                    <a:pt x="522" y="414"/>
                  </a:lnTo>
                  <a:lnTo>
                    <a:pt x="501" y="385"/>
                  </a:lnTo>
                  <a:lnTo>
                    <a:pt x="477" y="357"/>
                  </a:lnTo>
                  <a:lnTo>
                    <a:pt x="426" y="299"/>
                  </a:lnTo>
                  <a:lnTo>
                    <a:pt x="367" y="236"/>
                  </a:lnTo>
                </a:path>
              </a:pathLst>
            </a:custGeom>
            <a:noFill/>
            <a:ln w="22225">
              <a:solidFill>
                <a:srgbClr val="000000"/>
              </a:solidFill>
              <a:round/>
              <a:headEnd/>
              <a:tailEnd/>
            </a:ln>
          </p:spPr>
          <p:txBody>
            <a:bodyPr/>
            <a:lstStyle/>
            <a:p>
              <a:endParaRPr lang="zh-CN" altLang="en-US"/>
            </a:p>
          </p:txBody>
        </p:sp>
        <p:sp>
          <p:nvSpPr>
            <p:cNvPr id="29815" name="Line 41"/>
            <p:cNvSpPr>
              <a:spLocks noChangeShapeType="1"/>
            </p:cNvSpPr>
            <p:nvPr/>
          </p:nvSpPr>
          <p:spPr bwMode="auto">
            <a:xfrm flipV="1">
              <a:off x="1058" y="1400"/>
              <a:ext cx="1078" cy="1027"/>
            </a:xfrm>
            <a:prstGeom prst="line">
              <a:avLst/>
            </a:prstGeom>
            <a:noFill/>
            <a:ln w="22225">
              <a:solidFill>
                <a:srgbClr val="000000"/>
              </a:solidFill>
              <a:round/>
              <a:headEnd/>
              <a:tailEnd/>
            </a:ln>
          </p:spPr>
          <p:txBody>
            <a:bodyPr/>
            <a:lstStyle/>
            <a:p>
              <a:endParaRPr lang="zh-CN" altLang="en-US"/>
            </a:p>
          </p:txBody>
        </p:sp>
        <p:sp>
          <p:nvSpPr>
            <p:cNvPr id="29816" name="Freeform 42"/>
            <p:cNvSpPr>
              <a:spLocks noEditPoints="1"/>
            </p:cNvSpPr>
            <p:nvPr/>
          </p:nvSpPr>
          <p:spPr bwMode="auto">
            <a:xfrm>
              <a:off x="1051" y="2424"/>
              <a:ext cx="14" cy="235"/>
            </a:xfrm>
            <a:custGeom>
              <a:avLst/>
              <a:gdLst>
                <a:gd name="T0" fmla="*/ 7 w 29"/>
                <a:gd name="T1" fmla="*/ 0 h 470"/>
                <a:gd name="T2" fmla="*/ 7 w 29"/>
                <a:gd name="T3" fmla="*/ 29 h 470"/>
                <a:gd name="T4" fmla="*/ 0 w 29"/>
                <a:gd name="T5" fmla="*/ 29 h 470"/>
                <a:gd name="T6" fmla="*/ 0 w 29"/>
                <a:gd name="T7" fmla="*/ 0 h 470"/>
                <a:gd name="T8" fmla="*/ 7 w 29"/>
                <a:gd name="T9" fmla="*/ 0 h 470"/>
                <a:gd name="T10" fmla="*/ 7 w 29"/>
                <a:gd name="T11" fmla="*/ 0 h 470"/>
                <a:gd name="T12" fmla="*/ 7 w 29"/>
                <a:gd name="T13" fmla="*/ 50 h 470"/>
                <a:gd name="T14" fmla="*/ 7 w 29"/>
                <a:gd name="T15" fmla="*/ 79 h 470"/>
                <a:gd name="T16" fmla="*/ 0 w 29"/>
                <a:gd name="T17" fmla="*/ 79 h 470"/>
                <a:gd name="T18" fmla="*/ 0 w 29"/>
                <a:gd name="T19" fmla="*/ 50 h 470"/>
                <a:gd name="T20" fmla="*/ 7 w 29"/>
                <a:gd name="T21" fmla="*/ 50 h 470"/>
                <a:gd name="T22" fmla="*/ 7 w 29"/>
                <a:gd name="T23" fmla="*/ 50 h 470"/>
                <a:gd name="T24" fmla="*/ 7 w 29"/>
                <a:gd name="T25" fmla="*/ 100 h 470"/>
                <a:gd name="T26" fmla="*/ 7 w 29"/>
                <a:gd name="T27" fmla="*/ 118 h 470"/>
                <a:gd name="T28" fmla="*/ 0 w 29"/>
                <a:gd name="T29" fmla="*/ 118 h 470"/>
                <a:gd name="T30" fmla="*/ 0 w 29"/>
                <a:gd name="T31" fmla="*/ 100 h 470"/>
                <a:gd name="T32" fmla="*/ 7 w 29"/>
                <a:gd name="T33" fmla="*/ 100 h 470"/>
                <a:gd name="T34" fmla="*/ 7 w 29"/>
                <a:gd name="T35" fmla="*/ 100 h 47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9"/>
                <a:gd name="T55" fmla="*/ 0 h 470"/>
                <a:gd name="T56" fmla="*/ 29 w 29"/>
                <a:gd name="T57" fmla="*/ 470 h 47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9" h="470">
                  <a:moveTo>
                    <a:pt x="29" y="0"/>
                  </a:moveTo>
                  <a:lnTo>
                    <a:pt x="29" y="115"/>
                  </a:lnTo>
                  <a:lnTo>
                    <a:pt x="0" y="115"/>
                  </a:lnTo>
                  <a:lnTo>
                    <a:pt x="0" y="0"/>
                  </a:lnTo>
                  <a:lnTo>
                    <a:pt x="29" y="0"/>
                  </a:lnTo>
                  <a:close/>
                  <a:moveTo>
                    <a:pt x="29" y="200"/>
                  </a:moveTo>
                  <a:lnTo>
                    <a:pt x="29" y="313"/>
                  </a:lnTo>
                  <a:lnTo>
                    <a:pt x="0" y="313"/>
                  </a:lnTo>
                  <a:lnTo>
                    <a:pt x="0" y="200"/>
                  </a:lnTo>
                  <a:lnTo>
                    <a:pt x="29" y="200"/>
                  </a:lnTo>
                  <a:close/>
                  <a:moveTo>
                    <a:pt x="29" y="400"/>
                  </a:moveTo>
                  <a:lnTo>
                    <a:pt x="29" y="470"/>
                  </a:lnTo>
                  <a:lnTo>
                    <a:pt x="0" y="470"/>
                  </a:lnTo>
                  <a:lnTo>
                    <a:pt x="0" y="400"/>
                  </a:lnTo>
                  <a:lnTo>
                    <a:pt x="29" y="400"/>
                  </a:lnTo>
                  <a:close/>
                </a:path>
              </a:pathLst>
            </a:custGeom>
            <a:solidFill>
              <a:srgbClr val="000000"/>
            </a:solidFill>
            <a:ln w="9525">
              <a:noFill/>
              <a:round/>
              <a:headEnd/>
              <a:tailEnd/>
            </a:ln>
          </p:spPr>
          <p:txBody>
            <a:bodyPr/>
            <a:lstStyle/>
            <a:p>
              <a:endParaRPr lang="zh-CN" altLang="en-US"/>
            </a:p>
          </p:txBody>
        </p:sp>
        <p:sp>
          <p:nvSpPr>
            <p:cNvPr id="29817" name="Freeform 43"/>
            <p:cNvSpPr>
              <a:spLocks/>
            </p:cNvSpPr>
            <p:nvPr/>
          </p:nvSpPr>
          <p:spPr bwMode="auto">
            <a:xfrm>
              <a:off x="1051" y="2424"/>
              <a:ext cx="14" cy="58"/>
            </a:xfrm>
            <a:custGeom>
              <a:avLst/>
              <a:gdLst>
                <a:gd name="T0" fmla="*/ 7 w 29"/>
                <a:gd name="T1" fmla="*/ 0 h 115"/>
                <a:gd name="T2" fmla="*/ 7 w 29"/>
                <a:gd name="T3" fmla="*/ 29 h 115"/>
                <a:gd name="T4" fmla="*/ 0 w 29"/>
                <a:gd name="T5" fmla="*/ 29 h 115"/>
                <a:gd name="T6" fmla="*/ 0 w 29"/>
                <a:gd name="T7" fmla="*/ 0 h 115"/>
                <a:gd name="T8" fmla="*/ 7 w 29"/>
                <a:gd name="T9" fmla="*/ 0 h 115"/>
                <a:gd name="T10" fmla="*/ 7 w 29"/>
                <a:gd name="T11" fmla="*/ 0 h 115"/>
                <a:gd name="T12" fmla="*/ 0 60000 65536"/>
                <a:gd name="T13" fmla="*/ 0 60000 65536"/>
                <a:gd name="T14" fmla="*/ 0 60000 65536"/>
                <a:gd name="T15" fmla="*/ 0 60000 65536"/>
                <a:gd name="T16" fmla="*/ 0 60000 65536"/>
                <a:gd name="T17" fmla="*/ 0 60000 65536"/>
                <a:gd name="T18" fmla="*/ 0 w 29"/>
                <a:gd name="T19" fmla="*/ 0 h 115"/>
                <a:gd name="T20" fmla="*/ 29 w 29"/>
                <a:gd name="T21" fmla="*/ 115 h 115"/>
              </a:gdLst>
              <a:ahLst/>
              <a:cxnLst>
                <a:cxn ang="T12">
                  <a:pos x="T0" y="T1"/>
                </a:cxn>
                <a:cxn ang="T13">
                  <a:pos x="T2" y="T3"/>
                </a:cxn>
                <a:cxn ang="T14">
                  <a:pos x="T4" y="T5"/>
                </a:cxn>
                <a:cxn ang="T15">
                  <a:pos x="T6" y="T7"/>
                </a:cxn>
                <a:cxn ang="T16">
                  <a:pos x="T8" y="T9"/>
                </a:cxn>
                <a:cxn ang="T17">
                  <a:pos x="T10" y="T11"/>
                </a:cxn>
              </a:cxnLst>
              <a:rect l="T18" t="T19" r="T20" b="T21"/>
              <a:pathLst>
                <a:path w="29" h="115">
                  <a:moveTo>
                    <a:pt x="29" y="0"/>
                  </a:moveTo>
                  <a:lnTo>
                    <a:pt x="29" y="115"/>
                  </a:lnTo>
                  <a:lnTo>
                    <a:pt x="0" y="115"/>
                  </a:lnTo>
                  <a:lnTo>
                    <a:pt x="0" y="0"/>
                  </a:lnTo>
                  <a:lnTo>
                    <a:pt x="29" y="0"/>
                  </a:lnTo>
                  <a:close/>
                </a:path>
              </a:pathLst>
            </a:custGeom>
            <a:noFill/>
            <a:ln w="1588">
              <a:solidFill>
                <a:srgbClr val="000000"/>
              </a:solidFill>
              <a:round/>
              <a:headEnd/>
              <a:tailEnd/>
            </a:ln>
          </p:spPr>
          <p:txBody>
            <a:bodyPr/>
            <a:lstStyle/>
            <a:p>
              <a:endParaRPr lang="zh-CN" altLang="en-US"/>
            </a:p>
          </p:txBody>
        </p:sp>
        <p:sp>
          <p:nvSpPr>
            <p:cNvPr id="29818" name="Freeform 44"/>
            <p:cNvSpPr>
              <a:spLocks/>
            </p:cNvSpPr>
            <p:nvPr/>
          </p:nvSpPr>
          <p:spPr bwMode="auto">
            <a:xfrm>
              <a:off x="1051" y="2524"/>
              <a:ext cx="14" cy="57"/>
            </a:xfrm>
            <a:custGeom>
              <a:avLst/>
              <a:gdLst>
                <a:gd name="T0" fmla="*/ 7 w 29"/>
                <a:gd name="T1" fmla="*/ 0 h 113"/>
                <a:gd name="T2" fmla="*/ 7 w 29"/>
                <a:gd name="T3" fmla="*/ 29 h 113"/>
                <a:gd name="T4" fmla="*/ 0 w 29"/>
                <a:gd name="T5" fmla="*/ 29 h 113"/>
                <a:gd name="T6" fmla="*/ 0 w 29"/>
                <a:gd name="T7" fmla="*/ 0 h 113"/>
                <a:gd name="T8" fmla="*/ 7 w 29"/>
                <a:gd name="T9" fmla="*/ 0 h 113"/>
                <a:gd name="T10" fmla="*/ 7 w 29"/>
                <a:gd name="T11" fmla="*/ 0 h 113"/>
                <a:gd name="T12" fmla="*/ 0 60000 65536"/>
                <a:gd name="T13" fmla="*/ 0 60000 65536"/>
                <a:gd name="T14" fmla="*/ 0 60000 65536"/>
                <a:gd name="T15" fmla="*/ 0 60000 65536"/>
                <a:gd name="T16" fmla="*/ 0 60000 65536"/>
                <a:gd name="T17" fmla="*/ 0 60000 65536"/>
                <a:gd name="T18" fmla="*/ 0 w 29"/>
                <a:gd name="T19" fmla="*/ 0 h 113"/>
                <a:gd name="T20" fmla="*/ 29 w 29"/>
                <a:gd name="T21" fmla="*/ 113 h 113"/>
              </a:gdLst>
              <a:ahLst/>
              <a:cxnLst>
                <a:cxn ang="T12">
                  <a:pos x="T0" y="T1"/>
                </a:cxn>
                <a:cxn ang="T13">
                  <a:pos x="T2" y="T3"/>
                </a:cxn>
                <a:cxn ang="T14">
                  <a:pos x="T4" y="T5"/>
                </a:cxn>
                <a:cxn ang="T15">
                  <a:pos x="T6" y="T7"/>
                </a:cxn>
                <a:cxn ang="T16">
                  <a:pos x="T8" y="T9"/>
                </a:cxn>
                <a:cxn ang="T17">
                  <a:pos x="T10" y="T11"/>
                </a:cxn>
              </a:cxnLst>
              <a:rect l="T18" t="T19" r="T20" b="T21"/>
              <a:pathLst>
                <a:path w="29" h="113">
                  <a:moveTo>
                    <a:pt x="29" y="0"/>
                  </a:moveTo>
                  <a:lnTo>
                    <a:pt x="29" y="113"/>
                  </a:lnTo>
                  <a:lnTo>
                    <a:pt x="0" y="113"/>
                  </a:lnTo>
                  <a:lnTo>
                    <a:pt x="0" y="0"/>
                  </a:lnTo>
                  <a:lnTo>
                    <a:pt x="29" y="0"/>
                  </a:lnTo>
                  <a:close/>
                </a:path>
              </a:pathLst>
            </a:custGeom>
            <a:noFill/>
            <a:ln w="1588">
              <a:solidFill>
                <a:srgbClr val="000000"/>
              </a:solidFill>
              <a:round/>
              <a:headEnd/>
              <a:tailEnd/>
            </a:ln>
          </p:spPr>
          <p:txBody>
            <a:bodyPr/>
            <a:lstStyle/>
            <a:p>
              <a:endParaRPr lang="zh-CN" altLang="en-US"/>
            </a:p>
          </p:txBody>
        </p:sp>
        <p:sp>
          <p:nvSpPr>
            <p:cNvPr id="29819" name="Freeform 45"/>
            <p:cNvSpPr>
              <a:spLocks/>
            </p:cNvSpPr>
            <p:nvPr/>
          </p:nvSpPr>
          <p:spPr bwMode="auto">
            <a:xfrm>
              <a:off x="1051" y="2624"/>
              <a:ext cx="14" cy="35"/>
            </a:xfrm>
            <a:custGeom>
              <a:avLst/>
              <a:gdLst>
                <a:gd name="T0" fmla="*/ 7 w 29"/>
                <a:gd name="T1" fmla="*/ 0 h 70"/>
                <a:gd name="T2" fmla="*/ 7 w 29"/>
                <a:gd name="T3" fmla="*/ 18 h 70"/>
                <a:gd name="T4" fmla="*/ 0 w 29"/>
                <a:gd name="T5" fmla="*/ 18 h 70"/>
                <a:gd name="T6" fmla="*/ 0 w 29"/>
                <a:gd name="T7" fmla="*/ 0 h 70"/>
                <a:gd name="T8" fmla="*/ 7 w 29"/>
                <a:gd name="T9" fmla="*/ 0 h 70"/>
                <a:gd name="T10" fmla="*/ 7 w 29"/>
                <a:gd name="T11" fmla="*/ 0 h 70"/>
                <a:gd name="T12" fmla="*/ 0 60000 65536"/>
                <a:gd name="T13" fmla="*/ 0 60000 65536"/>
                <a:gd name="T14" fmla="*/ 0 60000 65536"/>
                <a:gd name="T15" fmla="*/ 0 60000 65536"/>
                <a:gd name="T16" fmla="*/ 0 60000 65536"/>
                <a:gd name="T17" fmla="*/ 0 60000 65536"/>
                <a:gd name="T18" fmla="*/ 0 w 29"/>
                <a:gd name="T19" fmla="*/ 0 h 70"/>
                <a:gd name="T20" fmla="*/ 29 w 29"/>
                <a:gd name="T21" fmla="*/ 70 h 70"/>
              </a:gdLst>
              <a:ahLst/>
              <a:cxnLst>
                <a:cxn ang="T12">
                  <a:pos x="T0" y="T1"/>
                </a:cxn>
                <a:cxn ang="T13">
                  <a:pos x="T2" y="T3"/>
                </a:cxn>
                <a:cxn ang="T14">
                  <a:pos x="T4" y="T5"/>
                </a:cxn>
                <a:cxn ang="T15">
                  <a:pos x="T6" y="T7"/>
                </a:cxn>
                <a:cxn ang="T16">
                  <a:pos x="T8" y="T9"/>
                </a:cxn>
                <a:cxn ang="T17">
                  <a:pos x="T10" y="T11"/>
                </a:cxn>
              </a:cxnLst>
              <a:rect l="T18" t="T19" r="T20" b="T21"/>
              <a:pathLst>
                <a:path w="29" h="70">
                  <a:moveTo>
                    <a:pt x="29" y="0"/>
                  </a:moveTo>
                  <a:lnTo>
                    <a:pt x="29" y="70"/>
                  </a:lnTo>
                  <a:lnTo>
                    <a:pt x="0" y="70"/>
                  </a:lnTo>
                  <a:lnTo>
                    <a:pt x="0" y="0"/>
                  </a:lnTo>
                  <a:lnTo>
                    <a:pt x="29" y="0"/>
                  </a:lnTo>
                  <a:close/>
                </a:path>
              </a:pathLst>
            </a:custGeom>
            <a:noFill/>
            <a:ln w="1588">
              <a:solidFill>
                <a:srgbClr val="000000"/>
              </a:solidFill>
              <a:round/>
              <a:headEnd/>
              <a:tailEnd/>
            </a:ln>
          </p:spPr>
          <p:txBody>
            <a:bodyPr/>
            <a:lstStyle/>
            <a:p>
              <a:endParaRPr lang="zh-CN" altLang="en-US"/>
            </a:p>
          </p:txBody>
        </p:sp>
        <p:sp>
          <p:nvSpPr>
            <p:cNvPr id="29820" name="Line 46"/>
            <p:cNvSpPr>
              <a:spLocks noChangeShapeType="1"/>
            </p:cNvSpPr>
            <p:nvPr/>
          </p:nvSpPr>
          <p:spPr bwMode="auto">
            <a:xfrm flipV="1">
              <a:off x="1058" y="1370"/>
              <a:ext cx="1046" cy="1285"/>
            </a:xfrm>
            <a:prstGeom prst="line">
              <a:avLst/>
            </a:prstGeom>
            <a:noFill/>
            <a:ln w="22225">
              <a:solidFill>
                <a:srgbClr val="000000"/>
              </a:solidFill>
              <a:round/>
              <a:headEnd/>
              <a:tailEnd/>
            </a:ln>
          </p:spPr>
          <p:txBody>
            <a:bodyPr/>
            <a:lstStyle/>
            <a:p>
              <a:endParaRPr lang="zh-CN" altLang="en-US"/>
            </a:p>
          </p:txBody>
        </p:sp>
        <p:sp>
          <p:nvSpPr>
            <p:cNvPr id="29821" name="Freeform 47"/>
            <p:cNvSpPr>
              <a:spLocks noEditPoints="1"/>
            </p:cNvSpPr>
            <p:nvPr/>
          </p:nvSpPr>
          <p:spPr bwMode="auto">
            <a:xfrm>
              <a:off x="1055" y="2141"/>
              <a:ext cx="188" cy="119"/>
            </a:xfrm>
            <a:custGeom>
              <a:avLst/>
              <a:gdLst>
                <a:gd name="T0" fmla="*/ 24 w 375"/>
                <a:gd name="T1" fmla="*/ 14 h 238"/>
                <a:gd name="T2" fmla="*/ 28 w 375"/>
                <a:gd name="T3" fmla="*/ 14 h 238"/>
                <a:gd name="T4" fmla="*/ 35 w 375"/>
                <a:gd name="T5" fmla="*/ 15 h 238"/>
                <a:gd name="T6" fmla="*/ 41 w 375"/>
                <a:gd name="T7" fmla="*/ 18 h 238"/>
                <a:gd name="T8" fmla="*/ 48 w 375"/>
                <a:gd name="T9" fmla="*/ 21 h 238"/>
                <a:gd name="T10" fmla="*/ 54 w 375"/>
                <a:gd name="T11" fmla="*/ 24 h 238"/>
                <a:gd name="T12" fmla="*/ 60 w 375"/>
                <a:gd name="T13" fmla="*/ 27 h 238"/>
                <a:gd name="T14" fmla="*/ 66 w 375"/>
                <a:gd name="T15" fmla="*/ 30 h 238"/>
                <a:gd name="T16" fmla="*/ 72 w 375"/>
                <a:gd name="T17" fmla="*/ 34 h 238"/>
                <a:gd name="T18" fmla="*/ 77 w 375"/>
                <a:gd name="T19" fmla="*/ 38 h 238"/>
                <a:gd name="T20" fmla="*/ 81 w 375"/>
                <a:gd name="T21" fmla="*/ 41 h 238"/>
                <a:gd name="T22" fmla="*/ 77 w 375"/>
                <a:gd name="T23" fmla="*/ 46 h 238"/>
                <a:gd name="T24" fmla="*/ 73 w 375"/>
                <a:gd name="T25" fmla="*/ 43 h 238"/>
                <a:gd name="T26" fmla="*/ 68 w 375"/>
                <a:gd name="T27" fmla="*/ 39 h 238"/>
                <a:gd name="T28" fmla="*/ 63 w 375"/>
                <a:gd name="T29" fmla="*/ 35 h 238"/>
                <a:gd name="T30" fmla="*/ 57 w 375"/>
                <a:gd name="T31" fmla="*/ 31 h 238"/>
                <a:gd name="T32" fmla="*/ 51 w 375"/>
                <a:gd name="T33" fmla="*/ 29 h 238"/>
                <a:gd name="T34" fmla="*/ 46 w 375"/>
                <a:gd name="T35" fmla="*/ 26 h 238"/>
                <a:gd name="T36" fmla="*/ 40 w 375"/>
                <a:gd name="T37" fmla="*/ 24 h 238"/>
                <a:gd name="T38" fmla="*/ 33 w 375"/>
                <a:gd name="T39" fmla="*/ 22 h 238"/>
                <a:gd name="T40" fmla="*/ 27 w 375"/>
                <a:gd name="T41" fmla="*/ 20 h 238"/>
                <a:gd name="T42" fmla="*/ 23 w 375"/>
                <a:gd name="T43" fmla="*/ 19 h 238"/>
                <a:gd name="T44" fmla="*/ 24 w 375"/>
                <a:gd name="T45" fmla="*/ 14 h 238"/>
                <a:gd name="T46" fmla="*/ 24 w 375"/>
                <a:gd name="T47" fmla="*/ 14 h 238"/>
                <a:gd name="T48" fmla="*/ 23 w 375"/>
                <a:gd name="T49" fmla="*/ 15 h 238"/>
                <a:gd name="T50" fmla="*/ 33 w 375"/>
                <a:gd name="T51" fmla="*/ 34 h 238"/>
                <a:gd name="T52" fmla="*/ 0 w 375"/>
                <a:gd name="T53" fmla="*/ 14 h 238"/>
                <a:gd name="T54" fmla="*/ 36 w 375"/>
                <a:gd name="T55" fmla="*/ 0 h 238"/>
                <a:gd name="T56" fmla="*/ 23 w 375"/>
                <a:gd name="T57" fmla="*/ 15 h 238"/>
                <a:gd name="T58" fmla="*/ 23 w 375"/>
                <a:gd name="T59" fmla="*/ 15 h 238"/>
                <a:gd name="T60" fmla="*/ 79 w 375"/>
                <a:gd name="T61" fmla="*/ 43 h 238"/>
                <a:gd name="T62" fmla="*/ 83 w 375"/>
                <a:gd name="T63" fmla="*/ 24 h 238"/>
                <a:gd name="T64" fmla="*/ 94 w 375"/>
                <a:gd name="T65" fmla="*/ 60 h 238"/>
                <a:gd name="T66" fmla="*/ 58 w 375"/>
                <a:gd name="T67" fmla="*/ 47 h 238"/>
                <a:gd name="T68" fmla="*/ 79 w 375"/>
                <a:gd name="T69" fmla="*/ 43 h 238"/>
                <a:gd name="T70" fmla="*/ 79 w 375"/>
                <a:gd name="T71" fmla="*/ 43 h 23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75"/>
                <a:gd name="T109" fmla="*/ 0 h 238"/>
                <a:gd name="T110" fmla="*/ 375 w 375"/>
                <a:gd name="T111" fmla="*/ 238 h 23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75" h="238">
                  <a:moveTo>
                    <a:pt x="94" y="53"/>
                  </a:moveTo>
                  <a:lnTo>
                    <a:pt x="111" y="55"/>
                  </a:lnTo>
                  <a:lnTo>
                    <a:pt x="138" y="62"/>
                  </a:lnTo>
                  <a:lnTo>
                    <a:pt x="164" y="72"/>
                  </a:lnTo>
                  <a:lnTo>
                    <a:pt x="189" y="81"/>
                  </a:lnTo>
                  <a:lnTo>
                    <a:pt x="213" y="93"/>
                  </a:lnTo>
                  <a:lnTo>
                    <a:pt x="238" y="106"/>
                  </a:lnTo>
                  <a:lnTo>
                    <a:pt x="262" y="119"/>
                  </a:lnTo>
                  <a:lnTo>
                    <a:pt x="285" y="134"/>
                  </a:lnTo>
                  <a:lnTo>
                    <a:pt x="305" y="151"/>
                  </a:lnTo>
                  <a:lnTo>
                    <a:pt x="321" y="164"/>
                  </a:lnTo>
                  <a:lnTo>
                    <a:pt x="305" y="181"/>
                  </a:lnTo>
                  <a:lnTo>
                    <a:pt x="292" y="170"/>
                  </a:lnTo>
                  <a:lnTo>
                    <a:pt x="272" y="153"/>
                  </a:lnTo>
                  <a:lnTo>
                    <a:pt x="251" y="140"/>
                  </a:lnTo>
                  <a:lnTo>
                    <a:pt x="228" y="125"/>
                  </a:lnTo>
                  <a:lnTo>
                    <a:pt x="204" y="113"/>
                  </a:lnTo>
                  <a:lnTo>
                    <a:pt x="181" y="102"/>
                  </a:lnTo>
                  <a:lnTo>
                    <a:pt x="157" y="93"/>
                  </a:lnTo>
                  <a:lnTo>
                    <a:pt x="132" y="85"/>
                  </a:lnTo>
                  <a:lnTo>
                    <a:pt x="106" y="77"/>
                  </a:lnTo>
                  <a:lnTo>
                    <a:pt x="89" y="74"/>
                  </a:lnTo>
                  <a:lnTo>
                    <a:pt x="94" y="53"/>
                  </a:lnTo>
                  <a:close/>
                  <a:moveTo>
                    <a:pt x="91" y="62"/>
                  </a:moveTo>
                  <a:lnTo>
                    <a:pt x="130" y="136"/>
                  </a:lnTo>
                  <a:lnTo>
                    <a:pt x="0" y="55"/>
                  </a:lnTo>
                  <a:lnTo>
                    <a:pt x="143" y="0"/>
                  </a:lnTo>
                  <a:lnTo>
                    <a:pt x="91" y="62"/>
                  </a:lnTo>
                  <a:close/>
                  <a:moveTo>
                    <a:pt x="313" y="172"/>
                  </a:moveTo>
                  <a:lnTo>
                    <a:pt x="332" y="93"/>
                  </a:lnTo>
                  <a:lnTo>
                    <a:pt x="375" y="238"/>
                  </a:lnTo>
                  <a:lnTo>
                    <a:pt x="232" y="187"/>
                  </a:lnTo>
                  <a:lnTo>
                    <a:pt x="313" y="172"/>
                  </a:lnTo>
                  <a:close/>
                </a:path>
              </a:pathLst>
            </a:custGeom>
            <a:solidFill>
              <a:srgbClr val="000000"/>
            </a:solidFill>
            <a:ln w="9525">
              <a:noFill/>
              <a:round/>
              <a:headEnd/>
              <a:tailEnd/>
            </a:ln>
          </p:spPr>
          <p:txBody>
            <a:bodyPr/>
            <a:lstStyle/>
            <a:p>
              <a:endParaRPr lang="zh-CN" altLang="en-US"/>
            </a:p>
          </p:txBody>
        </p:sp>
        <p:sp>
          <p:nvSpPr>
            <p:cNvPr id="29822" name="Freeform 48"/>
            <p:cNvSpPr>
              <a:spLocks/>
            </p:cNvSpPr>
            <p:nvPr/>
          </p:nvSpPr>
          <p:spPr bwMode="auto">
            <a:xfrm>
              <a:off x="1099" y="2167"/>
              <a:ext cx="116" cy="65"/>
            </a:xfrm>
            <a:custGeom>
              <a:avLst/>
              <a:gdLst>
                <a:gd name="T0" fmla="*/ 2 w 232"/>
                <a:gd name="T1" fmla="*/ 0 h 128"/>
                <a:gd name="T2" fmla="*/ 6 w 232"/>
                <a:gd name="T3" fmla="*/ 1 h 128"/>
                <a:gd name="T4" fmla="*/ 13 w 232"/>
                <a:gd name="T5" fmla="*/ 3 h 128"/>
                <a:gd name="T6" fmla="*/ 19 w 232"/>
                <a:gd name="T7" fmla="*/ 5 h 128"/>
                <a:gd name="T8" fmla="*/ 25 w 232"/>
                <a:gd name="T9" fmla="*/ 7 h 128"/>
                <a:gd name="T10" fmla="*/ 31 w 232"/>
                <a:gd name="T11" fmla="*/ 10 h 128"/>
                <a:gd name="T12" fmla="*/ 38 w 232"/>
                <a:gd name="T13" fmla="*/ 14 h 128"/>
                <a:gd name="T14" fmla="*/ 44 w 232"/>
                <a:gd name="T15" fmla="*/ 17 h 128"/>
                <a:gd name="T16" fmla="*/ 49 w 232"/>
                <a:gd name="T17" fmla="*/ 21 h 128"/>
                <a:gd name="T18" fmla="*/ 54 w 232"/>
                <a:gd name="T19" fmla="*/ 25 h 128"/>
                <a:gd name="T20" fmla="*/ 58 w 232"/>
                <a:gd name="T21" fmla="*/ 28 h 128"/>
                <a:gd name="T22" fmla="*/ 54 w 232"/>
                <a:gd name="T23" fmla="*/ 33 h 128"/>
                <a:gd name="T24" fmla="*/ 51 w 232"/>
                <a:gd name="T25" fmla="*/ 30 h 128"/>
                <a:gd name="T26" fmla="*/ 46 w 232"/>
                <a:gd name="T27" fmla="*/ 26 h 128"/>
                <a:gd name="T28" fmla="*/ 41 w 232"/>
                <a:gd name="T29" fmla="*/ 22 h 128"/>
                <a:gd name="T30" fmla="*/ 35 w 232"/>
                <a:gd name="T31" fmla="*/ 19 h 128"/>
                <a:gd name="T32" fmla="*/ 29 w 232"/>
                <a:gd name="T33" fmla="*/ 15 h 128"/>
                <a:gd name="T34" fmla="*/ 23 w 232"/>
                <a:gd name="T35" fmla="*/ 13 h 128"/>
                <a:gd name="T36" fmla="*/ 17 w 232"/>
                <a:gd name="T37" fmla="*/ 10 h 128"/>
                <a:gd name="T38" fmla="*/ 11 w 232"/>
                <a:gd name="T39" fmla="*/ 8 h 128"/>
                <a:gd name="T40" fmla="*/ 5 w 232"/>
                <a:gd name="T41" fmla="*/ 6 h 128"/>
                <a:gd name="T42" fmla="*/ 0 w 232"/>
                <a:gd name="T43" fmla="*/ 6 h 128"/>
                <a:gd name="T44" fmla="*/ 2 w 232"/>
                <a:gd name="T45" fmla="*/ 0 h 128"/>
                <a:gd name="T46" fmla="*/ 2 w 232"/>
                <a:gd name="T47" fmla="*/ 0 h 12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32"/>
                <a:gd name="T73" fmla="*/ 0 h 128"/>
                <a:gd name="T74" fmla="*/ 232 w 232"/>
                <a:gd name="T75" fmla="*/ 128 h 12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32" h="128">
                  <a:moveTo>
                    <a:pt x="5" y="0"/>
                  </a:moveTo>
                  <a:lnTo>
                    <a:pt x="22" y="2"/>
                  </a:lnTo>
                  <a:lnTo>
                    <a:pt x="49" y="9"/>
                  </a:lnTo>
                  <a:lnTo>
                    <a:pt x="75" y="19"/>
                  </a:lnTo>
                  <a:lnTo>
                    <a:pt x="100" y="28"/>
                  </a:lnTo>
                  <a:lnTo>
                    <a:pt x="124" y="40"/>
                  </a:lnTo>
                  <a:lnTo>
                    <a:pt x="149" y="53"/>
                  </a:lnTo>
                  <a:lnTo>
                    <a:pt x="173" y="66"/>
                  </a:lnTo>
                  <a:lnTo>
                    <a:pt x="196" y="81"/>
                  </a:lnTo>
                  <a:lnTo>
                    <a:pt x="216" y="98"/>
                  </a:lnTo>
                  <a:lnTo>
                    <a:pt x="232" y="111"/>
                  </a:lnTo>
                  <a:lnTo>
                    <a:pt x="216" y="128"/>
                  </a:lnTo>
                  <a:lnTo>
                    <a:pt x="203" y="117"/>
                  </a:lnTo>
                  <a:lnTo>
                    <a:pt x="183" y="100"/>
                  </a:lnTo>
                  <a:lnTo>
                    <a:pt x="162" y="87"/>
                  </a:lnTo>
                  <a:lnTo>
                    <a:pt x="139" y="72"/>
                  </a:lnTo>
                  <a:lnTo>
                    <a:pt x="115" y="60"/>
                  </a:lnTo>
                  <a:lnTo>
                    <a:pt x="92" y="49"/>
                  </a:lnTo>
                  <a:lnTo>
                    <a:pt x="68" y="40"/>
                  </a:lnTo>
                  <a:lnTo>
                    <a:pt x="43" y="32"/>
                  </a:lnTo>
                  <a:lnTo>
                    <a:pt x="17" y="24"/>
                  </a:lnTo>
                  <a:lnTo>
                    <a:pt x="0" y="21"/>
                  </a:lnTo>
                  <a:lnTo>
                    <a:pt x="5" y="0"/>
                  </a:lnTo>
                  <a:close/>
                </a:path>
              </a:pathLst>
            </a:custGeom>
            <a:noFill/>
            <a:ln w="1588">
              <a:solidFill>
                <a:srgbClr val="000000"/>
              </a:solidFill>
              <a:round/>
              <a:headEnd/>
              <a:tailEnd/>
            </a:ln>
          </p:spPr>
          <p:txBody>
            <a:bodyPr/>
            <a:lstStyle/>
            <a:p>
              <a:endParaRPr lang="zh-CN" altLang="en-US"/>
            </a:p>
          </p:txBody>
        </p:sp>
        <p:sp>
          <p:nvSpPr>
            <p:cNvPr id="29823" name="Freeform 49"/>
            <p:cNvSpPr>
              <a:spLocks/>
            </p:cNvSpPr>
            <p:nvPr/>
          </p:nvSpPr>
          <p:spPr bwMode="auto">
            <a:xfrm>
              <a:off x="1055" y="2141"/>
              <a:ext cx="72" cy="68"/>
            </a:xfrm>
            <a:custGeom>
              <a:avLst/>
              <a:gdLst>
                <a:gd name="T0" fmla="*/ 23 w 143"/>
                <a:gd name="T1" fmla="*/ 15 h 136"/>
                <a:gd name="T2" fmla="*/ 33 w 143"/>
                <a:gd name="T3" fmla="*/ 34 h 136"/>
                <a:gd name="T4" fmla="*/ 0 w 143"/>
                <a:gd name="T5" fmla="*/ 13 h 136"/>
                <a:gd name="T6" fmla="*/ 36 w 143"/>
                <a:gd name="T7" fmla="*/ 0 h 136"/>
                <a:gd name="T8" fmla="*/ 23 w 143"/>
                <a:gd name="T9" fmla="*/ 15 h 136"/>
                <a:gd name="T10" fmla="*/ 23 w 143"/>
                <a:gd name="T11" fmla="*/ 15 h 136"/>
                <a:gd name="T12" fmla="*/ 0 60000 65536"/>
                <a:gd name="T13" fmla="*/ 0 60000 65536"/>
                <a:gd name="T14" fmla="*/ 0 60000 65536"/>
                <a:gd name="T15" fmla="*/ 0 60000 65536"/>
                <a:gd name="T16" fmla="*/ 0 60000 65536"/>
                <a:gd name="T17" fmla="*/ 0 60000 65536"/>
                <a:gd name="T18" fmla="*/ 0 w 143"/>
                <a:gd name="T19" fmla="*/ 0 h 136"/>
                <a:gd name="T20" fmla="*/ 143 w 143"/>
                <a:gd name="T21" fmla="*/ 136 h 136"/>
              </a:gdLst>
              <a:ahLst/>
              <a:cxnLst>
                <a:cxn ang="T12">
                  <a:pos x="T0" y="T1"/>
                </a:cxn>
                <a:cxn ang="T13">
                  <a:pos x="T2" y="T3"/>
                </a:cxn>
                <a:cxn ang="T14">
                  <a:pos x="T4" y="T5"/>
                </a:cxn>
                <a:cxn ang="T15">
                  <a:pos x="T6" y="T7"/>
                </a:cxn>
                <a:cxn ang="T16">
                  <a:pos x="T8" y="T9"/>
                </a:cxn>
                <a:cxn ang="T17">
                  <a:pos x="T10" y="T11"/>
                </a:cxn>
              </a:cxnLst>
              <a:rect l="T18" t="T19" r="T20" b="T21"/>
              <a:pathLst>
                <a:path w="143" h="136">
                  <a:moveTo>
                    <a:pt x="91" y="62"/>
                  </a:moveTo>
                  <a:lnTo>
                    <a:pt x="130" y="136"/>
                  </a:lnTo>
                  <a:lnTo>
                    <a:pt x="0" y="55"/>
                  </a:lnTo>
                  <a:lnTo>
                    <a:pt x="143" y="0"/>
                  </a:lnTo>
                  <a:lnTo>
                    <a:pt x="91" y="62"/>
                  </a:lnTo>
                </a:path>
              </a:pathLst>
            </a:custGeom>
            <a:noFill/>
            <a:ln w="1588">
              <a:solidFill>
                <a:srgbClr val="000000"/>
              </a:solidFill>
              <a:round/>
              <a:headEnd/>
              <a:tailEnd/>
            </a:ln>
          </p:spPr>
          <p:txBody>
            <a:bodyPr/>
            <a:lstStyle/>
            <a:p>
              <a:endParaRPr lang="zh-CN" altLang="en-US"/>
            </a:p>
          </p:txBody>
        </p:sp>
        <p:sp>
          <p:nvSpPr>
            <p:cNvPr id="29824" name="Freeform 50"/>
            <p:cNvSpPr>
              <a:spLocks/>
            </p:cNvSpPr>
            <p:nvPr/>
          </p:nvSpPr>
          <p:spPr bwMode="auto">
            <a:xfrm>
              <a:off x="1171" y="2187"/>
              <a:ext cx="72" cy="73"/>
            </a:xfrm>
            <a:custGeom>
              <a:avLst/>
              <a:gdLst>
                <a:gd name="T0" fmla="*/ 21 w 143"/>
                <a:gd name="T1" fmla="*/ 20 h 145"/>
                <a:gd name="T2" fmla="*/ 25 w 143"/>
                <a:gd name="T3" fmla="*/ 0 h 145"/>
                <a:gd name="T4" fmla="*/ 36 w 143"/>
                <a:gd name="T5" fmla="*/ 37 h 145"/>
                <a:gd name="T6" fmla="*/ 0 w 143"/>
                <a:gd name="T7" fmla="*/ 24 h 145"/>
                <a:gd name="T8" fmla="*/ 21 w 143"/>
                <a:gd name="T9" fmla="*/ 20 h 145"/>
                <a:gd name="T10" fmla="*/ 21 w 143"/>
                <a:gd name="T11" fmla="*/ 20 h 145"/>
                <a:gd name="T12" fmla="*/ 0 60000 65536"/>
                <a:gd name="T13" fmla="*/ 0 60000 65536"/>
                <a:gd name="T14" fmla="*/ 0 60000 65536"/>
                <a:gd name="T15" fmla="*/ 0 60000 65536"/>
                <a:gd name="T16" fmla="*/ 0 60000 65536"/>
                <a:gd name="T17" fmla="*/ 0 60000 65536"/>
                <a:gd name="T18" fmla="*/ 0 w 143"/>
                <a:gd name="T19" fmla="*/ 0 h 145"/>
                <a:gd name="T20" fmla="*/ 143 w 143"/>
                <a:gd name="T21" fmla="*/ 145 h 145"/>
              </a:gdLst>
              <a:ahLst/>
              <a:cxnLst>
                <a:cxn ang="T12">
                  <a:pos x="T0" y="T1"/>
                </a:cxn>
                <a:cxn ang="T13">
                  <a:pos x="T2" y="T3"/>
                </a:cxn>
                <a:cxn ang="T14">
                  <a:pos x="T4" y="T5"/>
                </a:cxn>
                <a:cxn ang="T15">
                  <a:pos x="T6" y="T7"/>
                </a:cxn>
                <a:cxn ang="T16">
                  <a:pos x="T8" y="T9"/>
                </a:cxn>
                <a:cxn ang="T17">
                  <a:pos x="T10" y="T11"/>
                </a:cxn>
              </a:cxnLst>
              <a:rect l="T18" t="T19" r="T20" b="T21"/>
              <a:pathLst>
                <a:path w="143" h="145">
                  <a:moveTo>
                    <a:pt x="81" y="79"/>
                  </a:moveTo>
                  <a:lnTo>
                    <a:pt x="100" y="0"/>
                  </a:lnTo>
                  <a:lnTo>
                    <a:pt x="143" y="145"/>
                  </a:lnTo>
                  <a:lnTo>
                    <a:pt x="0" y="94"/>
                  </a:lnTo>
                  <a:lnTo>
                    <a:pt x="81" y="79"/>
                  </a:lnTo>
                </a:path>
              </a:pathLst>
            </a:custGeom>
            <a:noFill/>
            <a:ln w="1588">
              <a:solidFill>
                <a:srgbClr val="000000"/>
              </a:solidFill>
              <a:round/>
              <a:headEnd/>
              <a:tailEnd/>
            </a:ln>
          </p:spPr>
          <p:txBody>
            <a:bodyPr/>
            <a:lstStyle/>
            <a:p>
              <a:endParaRPr lang="zh-CN" altLang="en-US"/>
            </a:p>
          </p:txBody>
        </p:sp>
        <p:sp>
          <p:nvSpPr>
            <p:cNvPr id="29825" name="Freeform 51"/>
            <p:cNvSpPr>
              <a:spLocks noEditPoints="1"/>
            </p:cNvSpPr>
            <p:nvPr/>
          </p:nvSpPr>
          <p:spPr bwMode="auto">
            <a:xfrm>
              <a:off x="1617" y="2432"/>
              <a:ext cx="68" cy="235"/>
            </a:xfrm>
            <a:custGeom>
              <a:avLst/>
              <a:gdLst>
                <a:gd name="T0" fmla="*/ 20 w 135"/>
                <a:gd name="T1" fmla="*/ 23 h 470"/>
                <a:gd name="T2" fmla="*/ 20 w 135"/>
                <a:gd name="T3" fmla="*/ 95 h 470"/>
                <a:gd name="T4" fmla="*/ 14 w 135"/>
                <a:gd name="T5" fmla="*/ 95 h 470"/>
                <a:gd name="T6" fmla="*/ 14 w 135"/>
                <a:gd name="T7" fmla="*/ 23 h 470"/>
                <a:gd name="T8" fmla="*/ 20 w 135"/>
                <a:gd name="T9" fmla="*/ 23 h 470"/>
                <a:gd name="T10" fmla="*/ 20 w 135"/>
                <a:gd name="T11" fmla="*/ 23 h 470"/>
                <a:gd name="T12" fmla="*/ 17 w 135"/>
                <a:gd name="T13" fmla="*/ 23 h 470"/>
                <a:gd name="T14" fmla="*/ 0 w 135"/>
                <a:gd name="T15" fmla="*/ 34 h 470"/>
                <a:gd name="T16" fmla="*/ 17 w 135"/>
                <a:gd name="T17" fmla="*/ 0 h 470"/>
                <a:gd name="T18" fmla="*/ 34 w 135"/>
                <a:gd name="T19" fmla="*/ 34 h 470"/>
                <a:gd name="T20" fmla="*/ 17 w 135"/>
                <a:gd name="T21" fmla="*/ 23 h 470"/>
                <a:gd name="T22" fmla="*/ 17 w 135"/>
                <a:gd name="T23" fmla="*/ 23 h 470"/>
                <a:gd name="T24" fmla="*/ 17 w 135"/>
                <a:gd name="T25" fmla="*/ 95 h 470"/>
                <a:gd name="T26" fmla="*/ 34 w 135"/>
                <a:gd name="T27" fmla="*/ 83 h 470"/>
                <a:gd name="T28" fmla="*/ 17 w 135"/>
                <a:gd name="T29" fmla="*/ 118 h 470"/>
                <a:gd name="T30" fmla="*/ 0 w 135"/>
                <a:gd name="T31" fmla="*/ 83 h 470"/>
                <a:gd name="T32" fmla="*/ 17 w 135"/>
                <a:gd name="T33" fmla="*/ 95 h 470"/>
                <a:gd name="T34" fmla="*/ 17 w 135"/>
                <a:gd name="T35" fmla="*/ 95 h 47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5"/>
                <a:gd name="T55" fmla="*/ 0 h 470"/>
                <a:gd name="T56" fmla="*/ 135 w 135"/>
                <a:gd name="T57" fmla="*/ 470 h 47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5" h="470">
                  <a:moveTo>
                    <a:pt x="79" y="91"/>
                  </a:moveTo>
                  <a:lnTo>
                    <a:pt x="79" y="380"/>
                  </a:lnTo>
                  <a:lnTo>
                    <a:pt x="56" y="380"/>
                  </a:lnTo>
                  <a:lnTo>
                    <a:pt x="56" y="91"/>
                  </a:lnTo>
                  <a:lnTo>
                    <a:pt x="79" y="91"/>
                  </a:lnTo>
                  <a:close/>
                  <a:moveTo>
                    <a:pt x="67" y="91"/>
                  </a:moveTo>
                  <a:lnTo>
                    <a:pt x="0" y="136"/>
                  </a:lnTo>
                  <a:lnTo>
                    <a:pt x="67" y="0"/>
                  </a:lnTo>
                  <a:lnTo>
                    <a:pt x="135" y="136"/>
                  </a:lnTo>
                  <a:lnTo>
                    <a:pt x="67" y="91"/>
                  </a:lnTo>
                  <a:close/>
                  <a:moveTo>
                    <a:pt x="67" y="380"/>
                  </a:moveTo>
                  <a:lnTo>
                    <a:pt x="135" y="332"/>
                  </a:lnTo>
                  <a:lnTo>
                    <a:pt x="67" y="470"/>
                  </a:lnTo>
                  <a:lnTo>
                    <a:pt x="0" y="332"/>
                  </a:lnTo>
                  <a:lnTo>
                    <a:pt x="67" y="380"/>
                  </a:lnTo>
                  <a:close/>
                </a:path>
              </a:pathLst>
            </a:custGeom>
            <a:solidFill>
              <a:srgbClr val="000000"/>
            </a:solidFill>
            <a:ln w="9525">
              <a:noFill/>
              <a:round/>
              <a:headEnd/>
              <a:tailEnd/>
            </a:ln>
          </p:spPr>
          <p:txBody>
            <a:bodyPr/>
            <a:lstStyle/>
            <a:p>
              <a:endParaRPr lang="zh-CN" altLang="en-US"/>
            </a:p>
          </p:txBody>
        </p:sp>
        <p:sp>
          <p:nvSpPr>
            <p:cNvPr id="29826" name="Freeform 52"/>
            <p:cNvSpPr>
              <a:spLocks/>
            </p:cNvSpPr>
            <p:nvPr/>
          </p:nvSpPr>
          <p:spPr bwMode="auto">
            <a:xfrm>
              <a:off x="1645" y="2477"/>
              <a:ext cx="11" cy="144"/>
            </a:xfrm>
            <a:custGeom>
              <a:avLst/>
              <a:gdLst>
                <a:gd name="T0" fmla="*/ 5 w 23"/>
                <a:gd name="T1" fmla="*/ 0 h 289"/>
                <a:gd name="T2" fmla="*/ 5 w 23"/>
                <a:gd name="T3" fmla="*/ 72 h 289"/>
                <a:gd name="T4" fmla="*/ 0 w 23"/>
                <a:gd name="T5" fmla="*/ 72 h 289"/>
                <a:gd name="T6" fmla="*/ 0 w 23"/>
                <a:gd name="T7" fmla="*/ 0 h 289"/>
                <a:gd name="T8" fmla="*/ 5 w 23"/>
                <a:gd name="T9" fmla="*/ 0 h 289"/>
                <a:gd name="T10" fmla="*/ 5 w 23"/>
                <a:gd name="T11" fmla="*/ 0 h 289"/>
                <a:gd name="T12" fmla="*/ 0 60000 65536"/>
                <a:gd name="T13" fmla="*/ 0 60000 65536"/>
                <a:gd name="T14" fmla="*/ 0 60000 65536"/>
                <a:gd name="T15" fmla="*/ 0 60000 65536"/>
                <a:gd name="T16" fmla="*/ 0 60000 65536"/>
                <a:gd name="T17" fmla="*/ 0 60000 65536"/>
                <a:gd name="T18" fmla="*/ 0 w 23"/>
                <a:gd name="T19" fmla="*/ 0 h 289"/>
                <a:gd name="T20" fmla="*/ 23 w 23"/>
                <a:gd name="T21" fmla="*/ 289 h 289"/>
              </a:gdLst>
              <a:ahLst/>
              <a:cxnLst>
                <a:cxn ang="T12">
                  <a:pos x="T0" y="T1"/>
                </a:cxn>
                <a:cxn ang="T13">
                  <a:pos x="T2" y="T3"/>
                </a:cxn>
                <a:cxn ang="T14">
                  <a:pos x="T4" y="T5"/>
                </a:cxn>
                <a:cxn ang="T15">
                  <a:pos x="T6" y="T7"/>
                </a:cxn>
                <a:cxn ang="T16">
                  <a:pos x="T8" y="T9"/>
                </a:cxn>
                <a:cxn ang="T17">
                  <a:pos x="T10" y="T11"/>
                </a:cxn>
              </a:cxnLst>
              <a:rect l="T18" t="T19" r="T20" b="T21"/>
              <a:pathLst>
                <a:path w="23" h="289">
                  <a:moveTo>
                    <a:pt x="23" y="0"/>
                  </a:moveTo>
                  <a:lnTo>
                    <a:pt x="23" y="289"/>
                  </a:lnTo>
                  <a:lnTo>
                    <a:pt x="0" y="289"/>
                  </a:lnTo>
                  <a:lnTo>
                    <a:pt x="0" y="0"/>
                  </a:lnTo>
                  <a:lnTo>
                    <a:pt x="23" y="0"/>
                  </a:lnTo>
                  <a:close/>
                </a:path>
              </a:pathLst>
            </a:custGeom>
            <a:noFill/>
            <a:ln w="1588">
              <a:solidFill>
                <a:srgbClr val="000000"/>
              </a:solidFill>
              <a:round/>
              <a:headEnd/>
              <a:tailEnd/>
            </a:ln>
          </p:spPr>
          <p:txBody>
            <a:bodyPr/>
            <a:lstStyle/>
            <a:p>
              <a:endParaRPr lang="zh-CN" altLang="en-US"/>
            </a:p>
          </p:txBody>
        </p:sp>
        <p:sp>
          <p:nvSpPr>
            <p:cNvPr id="29827" name="Freeform 53"/>
            <p:cNvSpPr>
              <a:spLocks/>
            </p:cNvSpPr>
            <p:nvPr/>
          </p:nvSpPr>
          <p:spPr bwMode="auto">
            <a:xfrm>
              <a:off x="1617" y="2432"/>
              <a:ext cx="68" cy="68"/>
            </a:xfrm>
            <a:custGeom>
              <a:avLst/>
              <a:gdLst>
                <a:gd name="T0" fmla="*/ 17 w 135"/>
                <a:gd name="T1" fmla="*/ 22 h 136"/>
                <a:gd name="T2" fmla="*/ 0 w 135"/>
                <a:gd name="T3" fmla="*/ 34 h 136"/>
                <a:gd name="T4" fmla="*/ 17 w 135"/>
                <a:gd name="T5" fmla="*/ 0 h 136"/>
                <a:gd name="T6" fmla="*/ 34 w 135"/>
                <a:gd name="T7" fmla="*/ 34 h 136"/>
                <a:gd name="T8" fmla="*/ 17 w 135"/>
                <a:gd name="T9" fmla="*/ 22 h 136"/>
                <a:gd name="T10" fmla="*/ 17 w 135"/>
                <a:gd name="T11" fmla="*/ 22 h 136"/>
                <a:gd name="T12" fmla="*/ 0 60000 65536"/>
                <a:gd name="T13" fmla="*/ 0 60000 65536"/>
                <a:gd name="T14" fmla="*/ 0 60000 65536"/>
                <a:gd name="T15" fmla="*/ 0 60000 65536"/>
                <a:gd name="T16" fmla="*/ 0 60000 65536"/>
                <a:gd name="T17" fmla="*/ 0 60000 65536"/>
                <a:gd name="T18" fmla="*/ 0 w 135"/>
                <a:gd name="T19" fmla="*/ 0 h 136"/>
                <a:gd name="T20" fmla="*/ 135 w 135"/>
                <a:gd name="T21" fmla="*/ 136 h 136"/>
              </a:gdLst>
              <a:ahLst/>
              <a:cxnLst>
                <a:cxn ang="T12">
                  <a:pos x="T0" y="T1"/>
                </a:cxn>
                <a:cxn ang="T13">
                  <a:pos x="T2" y="T3"/>
                </a:cxn>
                <a:cxn ang="T14">
                  <a:pos x="T4" y="T5"/>
                </a:cxn>
                <a:cxn ang="T15">
                  <a:pos x="T6" y="T7"/>
                </a:cxn>
                <a:cxn ang="T16">
                  <a:pos x="T8" y="T9"/>
                </a:cxn>
                <a:cxn ang="T17">
                  <a:pos x="T10" y="T11"/>
                </a:cxn>
              </a:cxnLst>
              <a:rect l="T18" t="T19" r="T20" b="T21"/>
              <a:pathLst>
                <a:path w="135" h="136">
                  <a:moveTo>
                    <a:pt x="67" y="91"/>
                  </a:moveTo>
                  <a:lnTo>
                    <a:pt x="0" y="136"/>
                  </a:lnTo>
                  <a:lnTo>
                    <a:pt x="67" y="0"/>
                  </a:lnTo>
                  <a:lnTo>
                    <a:pt x="135" y="136"/>
                  </a:lnTo>
                  <a:lnTo>
                    <a:pt x="67" y="91"/>
                  </a:lnTo>
                  <a:close/>
                </a:path>
              </a:pathLst>
            </a:custGeom>
            <a:noFill/>
            <a:ln w="1588">
              <a:solidFill>
                <a:srgbClr val="000000"/>
              </a:solidFill>
              <a:round/>
              <a:headEnd/>
              <a:tailEnd/>
            </a:ln>
          </p:spPr>
          <p:txBody>
            <a:bodyPr/>
            <a:lstStyle/>
            <a:p>
              <a:endParaRPr lang="zh-CN" altLang="en-US"/>
            </a:p>
          </p:txBody>
        </p:sp>
        <p:sp>
          <p:nvSpPr>
            <p:cNvPr id="29828" name="Freeform 54"/>
            <p:cNvSpPr>
              <a:spLocks/>
            </p:cNvSpPr>
            <p:nvPr/>
          </p:nvSpPr>
          <p:spPr bwMode="auto">
            <a:xfrm>
              <a:off x="1617" y="2598"/>
              <a:ext cx="68" cy="69"/>
            </a:xfrm>
            <a:custGeom>
              <a:avLst/>
              <a:gdLst>
                <a:gd name="T0" fmla="*/ 17 w 135"/>
                <a:gd name="T1" fmla="*/ 12 h 138"/>
                <a:gd name="T2" fmla="*/ 34 w 135"/>
                <a:gd name="T3" fmla="*/ 0 h 138"/>
                <a:gd name="T4" fmla="*/ 17 w 135"/>
                <a:gd name="T5" fmla="*/ 35 h 138"/>
                <a:gd name="T6" fmla="*/ 0 w 135"/>
                <a:gd name="T7" fmla="*/ 0 h 138"/>
                <a:gd name="T8" fmla="*/ 17 w 135"/>
                <a:gd name="T9" fmla="*/ 12 h 138"/>
                <a:gd name="T10" fmla="*/ 17 w 135"/>
                <a:gd name="T11" fmla="*/ 12 h 138"/>
                <a:gd name="T12" fmla="*/ 0 60000 65536"/>
                <a:gd name="T13" fmla="*/ 0 60000 65536"/>
                <a:gd name="T14" fmla="*/ 0 60000 65536"/>
                <a:gd name="T15" fmla="*/ 0 60000 65536"/>
                <a:gd name="T16" fmla="*/ 0 60000 65536"/>
                <a:gd name="T17" fmla="*/ 0 60000 65536"/>
                <a:gd name="T18" fmla="*/ 0 w 135"/>
                <a:gd name="T19" fmla="*/ 0 h 138"/>
                <a:gd name="T20" fmla="*/ 135 w 135"/>
                <a:gd name="T21" fmla="*/ 138 h 138"/>
              </a:gdLst>
              <a:ahLst/>
              <a:cxnLst>
                <a:cxn ang="T12">
                  <a:pos x="T0" y="T1"/>
                </a:cxn>
                <a:cxn ang="T13">
                  <a:pos x="T2" y="T3"/>
                </a:cxn>
                <a:cxn ang="T14">
                  <a:pos x="T4" y="T5"/>
                </a:cxn>
                <a:cxn ang="T15">
                  <a:pos x="T6" y="T7"/>
                </a:cxn>
                <a:cxn ang="T16">
                  <a:pos x="T8" y="T9"/>
                </a:cxn>
                <a:cxn ang="T17">
                  <a:pos x="T10" y="T11"/>
                </a:cxn>
              </a:cxnLst>
              <a:rect l="T18" t="T19" r="T20" b="T21"/>
              <a:pathLst>
                <a:path w="135" h="138">
                  <a:moveTo>
                    <a:pt x="67" y="48"/>
                  </a:moveTo>
                  <a:lnTo>
                    <a:pt x="135" y="0"/>
                  </a:lnTo>
                  <a:lnTo>
                    <a:pt x="67" y="138"/>
                  </a:lnTo>
                  <a:lnTo>
                    <a:pt x="0" y="0"/>
                  </a:lnTo>
                  <a:lnTo>
                    <a:pt x="67" y="48"/>
                  </a:lnTo>
                  <a:close/>
                </a:path>
              </a:pathLst>
            </a:custGeom>
            <a:noFill/>
            <a:ln w="1588">
              <a:solidFill>
                <a:srgbClr val="000000"/>
              </a:solidFill>
              <a:round/>
              <a:headEnd/>
              <a:tailEnd/>
            </a:ln>
          </p:spPr>
          <p:txBody>
            <a:bodyPr/>
            <a:lstStyle/>
            <a:p>
              <a:endParaRPr lang="zh-CN" altLang="en-US"/>
            </a:p>
          </p:txBody>
        </p:sp>
        <p:sp>
          <p:nvSpPr>
            <p:cNvPr id="29829" name="Line 55"/>
            <p:cNvSpPr>
              <a:spLocks noChangeShapeType="1"/>
            </p:cNvSpPr>
            <p:nvPr/>
          </p:nvSpPr>
          <p:spPr bwMode="auto">
            <a:xfrm flipV="1">
              <a:off x="2145" y="1227"/>
              <a:ext cx="95" cy="104"/>
            </a:xfrm>
            <a:prstGeom prst="line">
              <a:avLst/>
            </a:prstGeom>
            <a:noFill/>
            <a:ln w="22225">
              <a:solidFill>
                <a:srgbClr val="000000"/>
              </a:solidFill>
              <a:round/>
              <a:headEnd/>
              <a:tailEnd/>
            </a:ln>
          </p:spPr>
          <p:txBody>
            <a:bodyPr/>
            <a:lstStyle/>
            <a:p>
              <a:endParaRPr lang="zh-CN" altLang="en-US"/>
            </a:p>
          </p:txBody>
        </p:sp>
        <p:sp>
          <p:nvSpPr>
            <p:cNvPr id="29830" name="Line 56"/>
            <p:cNvSpPr>
              <a:spLocks noChangeShapeType="1"/>
            </p:cNvSpPr>
            <p:nvPr/>
          </p:nvSpPr>
          <p:spPr bwMode="auto">
            <a:xfrm flipV="1">
              <a:off x="2175" y="1252"/>
              <a:ext cx="102" cy="111"/>
            </a:xfrm>
            <a:prstGeom prst="line">
              <a:avLst/>
            </a:prstGeom>
            <a:noFill/>
            <a:ln w="22225">
              <a:solidFill>
                <a:srgbClr val="000000"/>
              </a:solidFill>
              <a:round/>
              <a:headEnd/>
              <a:tailEnd/>
            </a:ln>
          </p:spPr>
          <p:txBody>
            <a:bodyPr/>
            <a:lstStyle/>
            <a:p>
              <a:endParaRPr lang="zh-CN" altLang="en-US"/>
            </a:p>
          </p:txBody>
        </p:sp>
        <p:sp>
          <p:nvSpPr>
            <p:cNvPr id="29831" name="Freeform 57"/>
            <p:cNvSpPr>
              <a:spLocks noEditPoints="1"/>
            </p:cNvSpPr>
            <p:nvPr/>
          </p:nvSpPr>
          <p:spPr bwMode="auto">
            <a:xfrm>
              <a:off x="2134" y="1183"/>
              <a:ext cx="75" cy="76"/>
            </a:xfrm>
            <a:custGeom>
              <a:avLst/>
              <a:gdLst>
                <a:gd name="T0" fmla="*/ 5 w 149"/>
                <a:gd name="T1" fmla="*/ 0 h 151"/>
                <a:gd name="T2" fmla="*/ 24 w 149"/>
                <a:gd name="T3" fmla="*/ 20 h 151"/>
                <a:gd name="T4" fmla="*/ 20 w 149"/>
                <a:gd name="T5" fmla="*/ 23 h 151"/>
                <a:gd name="T6" fmla="*/ 0 w 149"/>
                <a:gd name="T7" fmla="*/ 4 h 151"/>
                <a:gd name="T8" fmla="*/ 5 w 149"/>
                <a:gd name="T9" fmla="*/ 0 h 151"/>
                <a:gd name="T10" fmla="*/ 5 w 149"/>
                <a:gd name="T11" fmla="*/ 0 h 151"/>
                <a:gd name="T12" fmla="*/ 21 w 149"/>
                <a:gd name="T13" fmla="*/ 21 h 151"/>
                <a:gd name="T14" fmla="*/ 26 w 149"/>
                <a:gd name="T15" fmla="*/ 2 h 151"/>
                <a:gd name="T16" fmla="*/ 38 w 149"/>
                <a:gd name="T17" fmla="*/ 38 h 151"/>
                <a:gd name="T18" fmla="*/ 2 w 149"/>
                <a:gd name="T19" fmla="*/ 25 h 151"/>
                <a:gd name="T20" fmla="*/ 21 w 149"/>
                <a:gd name="T21" fmla="*/ 21 h 151"/>
                <a:gd name="T22" fmla="*/ 21 w 149"/>
                <a:gd name="T23" fmla="*/ 21 h 15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9"/>
                <a:gd name="T37" fmla="*/ 0 h 151"/>
                <a:gd name="T38" fmla="*/ 149 w 149"/>
                <a:gd name="T39" fmla="*/ 151 h 15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9" h="151">
                  <a:moveTo>
                    <a:pt x="17" y="0"/>
                  </a:moveTo>
                  <a:lnTo>
                    <a:pt x="94" y="77"/>
                  </a:lnTo>
                  <a:lnTo>
                    <a:pt x="77" y="92"/>
                  </a:lnTo>
                  <a:lnTo>
                    <a:pt x="0" y="15"/>
                  </a:lnTo>
                  <a:lnTo>
                    <a:pt x="17" y="0"/>
                  </a:lnTo>
                  <a:close/>
                  <a:moveTo>
                    <a:pt x="84" y="84"/>
                  </a:moveTo>
                  <a:lnTo>
                    <a:pt x="101" y="5"/>
                  </a:lnTo>
                  <a:lnTo>
                    <a:pt x="149" y="151"/>
                  </a:lnTo>
                  <a:lnTo>
                    <a:pt x="5" y="100"/>
                  </a:lnTo>
                  <a:lnTo>
                    <a:pt x="84" y="84"/>
                  </a:lnTo>
                  <a:close/>
                </a:path>
              </a:pathLst>
            </a:custGeom>
            <a:solidFill>
              <a:srgbClr val="000000"/>
            </a:solidFill>
            <a:ln w="9525">
              <a:noFill/>
              <a:round/>
              <a:headEnd/>
              <a:tailEnd/>
            </a:ln>
          </p:spPr>
          <p:txBody>
            <a:bodyPr/>
            <a:lstStyle/>
            <a:p>
              <a:endParaRPr lang="zh-CN" altLang="en-US"/>
            </a:p>
          </p:txBody>
        </p:sp>
        <p:sp>
          <p:nvSpPr>
            <p:cNvPr id="29832" name="Freeform 58"/>
            <p:cNvSpPr>
              <a:spLocks/>
            </p:cNvSpPr>
            <p:nvPr/>
          </p:nvSpPr>
          <p:spPr bwMode="auto">
            <a:xfrm>
              <a:off x="2134" y="1183"/>
              <a:ext cx="47" cy="47"/>
            </a:xfrm>
            <a:custGeom>
              <a:avLst/>
              <a:gdLst>
                <a:gd name="T0" fmla="*/ 5 w 94"/>
                <a:gd name="T1" fmla="*/ 0 h 92"/>
                <a:gd name="T2" fmla="*/ 24 w 94"/>
                <a:gd name="T3" fmla="*/ 20 h 92"/>
                <a:gd name="T4" fmla="*/ 20 w 94"/>
                <a:gd name="T5" fmla="*/ 24 h 92"/>
                <a:gd name="T6" fmla="*/ 0 w 94"/>
                <a:gd name="T7" fmla="*/ 4 h 92"/>
                <a:gd name="T8" fmla="*/ 5 w 94"/>
                <a:gd name="T9" fmla="*/ 0 h 92"/>
                <a:gd name="T10" fmla="*/ 5 w 94"/>
                <a:gd name="T11" fmla="*/ 0 h 92"/>
                <a:gd name="T12" fmla="*/ 0 60000 65536"/>
                <a:gd name="T13" fmla="*/ 0 60000 65536"/>
                <a:gd name="T14" fmla="*/ 0 60000 65536"/>
                <a:gd name="T15" fmla="*/ 0 60000 65536"/>
                <a:gd name="T16" fmla="*/ 0 60000 65536"/>
                <a:gd name="T17" fmla="*/ 0 60000 65536"/>
                <a:gd name="T18" fmla="*/ 0 w 94"/>
                <a:gd name="T19" fmla="*/ 0 h 92"/>
                <a:gd name="T20" fmla="*/ 94 w 94"/>
                <a:gd name="T21" fmla="*/ 92 h 92"/>
              </a:gdLst>
              <a:ahLst/>
              <a:cxnLst>
                <a:cxn ang="T12">
                  <a:pos x="T0" y="T1"/>
                </a:cxn>
                <a:cxn ang="T13">
                  <a:pos x="T2" y="T3"/>
                </a:cxn>
                <a:cxn ang="T14">
                  <a:pos x="T4" y="T5"/>
                </a:cxn>
                <a:cxn ang="T15">
                  <a:pos x="T6" y="T7"/>
                </a:cxn>
                <a:cxn ang="T16">
                  <a:pos x="T8" y="T9"/>
                </a:cxn>
                <a:cxn ang="T17">
                  <a:pos x="T10" y="T11"/>
                </a:cxn>
              </a:cxnLst>
              <a:rect l="T18" t="T19" r="T20" b="T21"/>
              <a:pathLst>
                <a:path w="94" h="92">
                  <a:moveTo>
                    <a:pt x="17" y="0"/>
                  </a:moveTo>
                  <a:lnTo>
                    <a:pt x="94" y="77"/>
                  </a:lnTo>
                  <a:lnTo>
                    <a:pt x="77" y="92"/>
                  </a:lnTo>
                  <a:lnTo>
                    <a:pt x="0" y="15"/>
                  </a:lnTo>
                  <a:lnTo>
                    <a:pt x="17" y="0"/>
                  </a:lnTo>
                  <a:close/>
                </a:path>
              </a:pathLst>
            </a:custGeom>
            <a:noFill/>
            <a:ln w="1588">
              <a:solidFill>
                <a:srgbClr val="000000"/>
              </a:solidFill>
              <a:round/>
              <a:headEnd/>
              <a:tailEnd/>
            </a:ln>
          </p:spPr>
          <p:txBody>
            <a:bodyPr/>
            <a:lstStyle/>
            <a:p>
              <a:endParaRPr lang="zh-CN" altLang="en-US"/>
            </a:p>
          </p:txBody>
        </p:sp>
        <p:sp>
          <p:nvSpPr>
            <p:cNvPr id="29833" name="Freeform 59"/>
            <p:cNvSpPr>
              <a:spLocks/>
            </p:cNvSpPr>
            <p:nvPr/>
          </p:nvSpPr>
          <p:spPr bwMode="auto">
            <a:xfrm>
              <a:off x="2137" y="1186"/>
              <a:ext cx="72" cy="73"/>
            </a:xfrm>
            <a:custGeom>
              <a:avLst/>
              <a:gdLst>
                <a:gd name="T0" fmla="*/ 19 w 144"/>
                <a:gd name="T1" fmla="*/ 19 h 146"/>
                <a:gd name="T2" fmla="*/ 24 w 144"/>
                <a:gd name="T3" fmla="*/ 0 h 146"/>
                <a:gd name="T4" fmla="*/ 36 w 144"/>
                <a:gd name="T5" fmla="*/ 37 h 146"/>
                <a:gd name="T6" fmla="*/ 0 w 144"/>
                <a:gd name="T7" fmla="*/ 23 h 146"/>
                <a:gd name="T8" fmla="*/ 19 w 144"/>
                <a:gd name="T9" fmla="*/ 19 h 146"/>
                <a:gd name="T10" fmla="*/ 19 w 144"/>
                <a:gd name="T11" fmla="*/ 19 h 146"/>
                <a:gd name="T12" fmla="*/ 0 60000 65536"/>
                <a:gd name="T13" fmla="*/ 0 60000 65536"/>
                <a:gd name="T14" fmla="*/ 0 60000 65536"/>
                <a:gd name="T15" fmla="*/ 0 60000 65536"/>
                <a:gd name="T16" fmla="*/ 0 60000 65536"/>
                <a:gd name="T17" fmla="*/ 0 60000 65536"/>
                <a:gd name="T18" fmla="*/ 0 w 144"/>
                <a:gd name="T19" fmla="*/ 0 h 146"/>
                <a:gd name="T20" fmla="*/ 144 w 144"/>
                <a:gd name="T21" fmla="*/ 146 h 146"/>
              </a:gdLst>
              <a:ahLst/>
              <a:cxnLst>
                <a:cxn ang="T12">
                  <a:pos x="T0" y="T1"/>
                </a:cxn>
                <a:cxn ang="T13">
                  <a:pos x="T2" y="T3"/>
                </a:cxn>
                <a:cxn ang="T14">
                  <a:pos x="T4" y="T5"/>
                </a:cxn>
                <a:cxn ang="T15">
                  <a:pos x="T6" y="T7"/>
                </a:cxn>
                <a:cxn ang="T16">
                  <a:pos x="T8" y="T9"/>
                </a:cxn>
                <a:cxn ang="T17">
                  <a:pos x="T10" y="T11"/>
                </a:cxn>
              </a:cxnLst>
              <a:rect l="T18" t="T19" r="T20" b="T21"/>
              <a:pathLst>
                <a:path w="144" h="146">
                  <a:moveTo>
                    <a:pt x="79" y="79"/>
                  </a:moveTo>
                  <a:lnTo>
                    <a:pt x="96" y="0"/>
                  </a:lnTo>
                  <a:lnTo>
                    <a:pt x="144" y="146"/>
                  </a:lnTo>
                  <a:lnTo>
                    <a:pt x="0" y="95"/>
                  </a:lnTo>
                  <a:lnTo>
                    <a:pt x="79" y="79"/>
                  </a:lnTo>
                  <a:close/>
                </a:path>
              </a:pathLst>
            </a:custGeom>
            <a:noFill/>
            <a:ln w="1588">
              <a:solidFill>
                <a:srgbClr val="000000"/>
              </a:solidFill>
              <a:round/>
              <a:headEnd/>
              <a:tailEnd/>
            </a:ln>
          </p:spPr>
          <p:txBody>
            <a:bodyPr/>
            <a:lstStyle/>
            <a:p>
              <a:endParaRPr lang="zh-CN" altLang="en-US"/>
            </a:p>
          </p:txBody>
        </p:sp>
        <p:sp>
          <p:nvSpPr>
            <p:cNvPr id="29834" name="Freeform 60"/>
            <p:cNvSpPr>
              <a:spLocks noEditPoints="1"/>
            </p:cNvSpPr>
            <p:nvPr/>
          </p:nvSpPr>
          <p:spPr bwMode="auto">
            <a:xfrm>
              <a:off x="2242" y="1289"/>
              <a:ext cx="84" cy="82"/>
            </a:xfrm>
            <a:custGeom>
              <a:avLst/>
              <a:gdLst>
                <a:gd name="T0" fmla="*/ 19 w 168"/>
                <a:gd name="T1" fmla="*/ 14 h 164"/>
                <a:gd name="T2" fmla="*/ 42 w 168"/>
                <a:gd name="T3" fmla="*/ 37 h 164"/>
                <a:gd name="T4" fmla="*/ 39 w 168"/>
                <a:gd name="T5" fmla="*/ 41 h 164"/>
                <a:gd name="T6" fmla="*/ 14 w 168"/>
                <a:gd name="T7" fmla="*/ 19 h 164"/>
                <a:gd name="T8" fmla="*/ 19 w 168"/>
                <a:gd name="T9" fmla="*/ 14 h 164"/>
                <a:gd name="T10" fmla="*/ 19 w 168"/>
                <a:gd name="T11" fmla="*/ 14 h 164"/>
                <a:gd name="T12" fmla="*/ 17 w 168"/>
                <a:gd name="T13" fmla="*/ 16 h 164"/>
                <a:gd name="T14" fmla="*/ 12 w 168"/>
                <a:gd name="T15" fmla="*/ 37 h 164"/>
                <a:gd name="T16" fmla="*/ 0 w 168"/>
                <a:gd name="T17" fmla="*/ 0 h 164"/>
                <a:gd name="T18" fmla="*/ 37 w 168"/>
                <a:gd name="T19" fmla="*/ 11 h 164"/>
                <a:gd name="T20" fmla="*/ 17 w 168"/>
                <a:gd name="T21" fmla="*/ 16 h 164"/>
                <a:gd name="T22" fmla="*/ 17 w 168"/>
                <a:gd name="T23" fmla="*/ 16 h 1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68"/>
                <a:gd name="T37" fmla="*/ 0 h 164"/>
                <a:gd name="T38" fmla="*/ 168 w 168"/>
                <a:gd name="T39" fmla="*/ 164 h 1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68" h="164">
                  <a:moveTo>
                    <a:pt x="74" y="57"/>
                  </a:moveTo>
                  <a:lnTo>
                    <a:pt x="168" y="147"/>
                  </a:lnTo>
                  <a:lnTo>
                    <a:pt x="153" y="164"/>
                  </a:lnTo>
                  <a:lnTo>
                    <a:pt x="59" y="74"/>
                  </a:lnTo>
                  <a:lnTo>
                    <a:pt x="74" y="57"/>
                  </a:lnTo>
                  <a:close/>
                  <a:moveTo>
                    <a:pt x="66" y="64"/>
                  </a:moveTo>
                  <a:lnTo>
                    <a:pt x="51" y="145"/>
                  </a:lnTo>
                  <a:lnTo>
                    <a:pt x="0" y="0"/>
                  </a:lnTo>
                  <a:lnTo>
                    <a:pt x="148" y="47"/>
                  </a:lnTo>
                  <a:lnTo>
                    <a:pt x="66" y="64"/>
                  </a:lnTo>
                  <a:close/>
                </a:path>
              </a:pathLst>
            </a:custGeom>
            <a:solidFill>
              <a:srgbClr val="000000"/>
            </a:solidFill>
            <a:ln w="9525">
              <a:noFill/>
              <a:round/>
              <a:headEnd/>
              <a:tailEnd/>
            </a:ln>
          </p:spPr>
          <p:txBody>
            <a:bodyPr/>
            <a:lstStyle/>
            <a:p>
              <a:endParaRPr lang="zh-CN" altLang="en-US"/>
            </a:p>
          </p:txBody>
        </p:sp>
        <p:sp>
          <p:nvSpPr>
            <p:cNvPr id="29835" name="Freeform 61"/>
            <p:cNvSpPr>
              <a:spLocks/>
            </p:cNvSpPr>
            <p:nvPr/>
          </p:nvSpPr>
          <p:spPr bwMode="auto">
            <a:xfrm>
              <a:off x="2271" y="1317"/>
              <a:ext cx="55" cy="54"/>
            </a:xfrm>
            <a:custGeom>
              <a:avLst/>
              <a:gdLst>
                <a:gd name="T0" fmla="*/ 4 w 109"/>
                <a:gd name="T1" fmla="*/ 0 h 107"/>
                <a:gd name="T2" fmla="*/ 28 w 109"/>
                <a:gd name="T3" fmla="*/ 23 h 107"/>
                <a:gd name="T4" fmla="*/ 24 w 109"/>
                <a:gd name="T5" fmla="*/ 27 h 107"/>
                <a:gd name="T6" fmla="*/ 0 w 109"/>
                <a:gd name="T7" fmla="*/ 5 h 107"/>
                <a:gd name="T8" fmla="*/ 4 w 109"/>
                <a:gd name="T9" fmla="*/ 0 h 107"/>
                <a:gd name="T10" fmla="*/ 4 w 109"/>
                <a:gd name="T11" fmla="*/ 0 h 107"/>
                <a:gd name="T12" fmla="*/ 0 60000 65536"/>
                <a:gd name="T13" fmla="*/ 0 60000 65536"/>
                <a:gd name="T14" fmla="*/ 0 60000 65536"/>
                <a:gd name="T15" fmla="*/ 0 60000 65536"/>
                <a:gd name="T16" fmla="*/ 0 60000 65536"/>
                <a:gd name="T17" fmla="*/ 0 60000 65536"/>
                <a:gd name="T18" fmla="*/ 0 w 109"/>
                <a:gd name="T19" fmla="*/ 0 h 107"/>
                <a:gd name="T20" fmla="*/ 109 w 109"/>
                <a:gd name="T21" fmla="*/ 107 h 107"/>
              </a:gdLst>
              <a:ahLst/>
              <a:cxnLst>
                <a:cxn ang="T12">
                  <a:pos x="T0" y="T1"/>
                </a:cxn>
                <a:cxn ang="T13">
                  <a:pos x="T2" y="T3"/>
                </a:cxn>
                <a:cxn ang="T14">
                  <a:pos x="T4" y="T5"/>
                </a:cxn>
                <a:cxn ang="T15">
                  <a:pos x="T6" y="T7"/>
                </a:cxn>
                <a:cxn ang="T16">
                  <a:pos x="T8" y="T9"/>
                </a:cxn>
                <a:cxn ang="T17">
                  <a:pos x="T10" y="T11"/>
                </a:cxn>
              </a:cxnLst>
              <a:rect l="T18" t="T19" r="T20" b="T21"/>
              <a:pathLst>
                <a:path w="109" h="107">
                  <a:moveTo>
                    <a:pt x="15" y="0"/>
                  </a:moveTo>
                  <a:lnTo>
                    <a:pt x="109" y="90"/>
                  </a:lnTo>
                  <a:lnTo>
                    <a:pt x="94" y="107"/>
                  </a:lnTo>
                  <a:lnTo>
                    <a:pt x="0" y="17"/>
                  </a:lnTo>
                  <a:lnTo>
                    <a:pt x="15" y="0"/>
                  </a:lnTo>
                  <a:close/>
                </a:path>
              </a:pathLst>
            </a:custGeom>
            <a:noFill/>
            <a:ln w="1588">
              <a:solidFill>
                <a:srgbClr val="000000"/>
              </a:solidFill>
              <a:round/>
              <a:headEnd/>
              <a:tailEnd/>
            </a:ln>
          </p:spPr>
          <p:txBody>
            <a:bodyPr/>
            <a:lstStyle/>
            <a:p>
              <a:endParaRPr lang="zh-CN" altLang="en-US"/>
            </a:p>
          </p:txBody>
        </p:sp>
        <p:sp>
          <p:nvSpPr>
            <p:cNvPr id="29836" name="Freeform 62"/>
            <p:cNvSpPr>
              <a:spLocks/>
            </p:cNvSpPr>
            <p:nvPr/>
          </p:nvSpPr>
          <p:spPr bwMode="auto">
            <a:xfrm>
              <a:off x="2242" y="1289"/>
              <a:ext cx="73" cy="73"/>
            </a:xfrm>
            <a:custGeom>
              <a:avLst/>
              <a:gdLst>
                <a:gd name="T0" fmla="*/ 16 w 148"/>
                <a:gd name="T1" fmla="*/ 16 h 145"/>
                <a:gd name="T2" fmla="*/ 12 w 148"/>
                <a:gd name="T3" fmla="*/ 37 h 145"/>
                <a:gd name="T4" fmla="*/ 0 w 148"/>
                <a:gd name="T5" fmla="*/ 0 h 145"/>
                <a:gd name="T6" fmla="*/ 36 w 148"/>
                <a:gd name="T7" fmla="*/ 12 h 145"/>
                <a:gd name="T8" fmla="*/ 16 w 148"/>
                <a:gd name="T9" fmla="*/ 16 h 145"/>
                <a:gd name="T10" fmla="*/ 16 w 148"/>
                <a:gd name="T11" fmla="*/ 16 h 145"/>
                <a:gd name="T12" fmla="*/ 0 60000 65536"/>
                <a:gd name="T13" fmla="*/ 0 60000 65536"/>
                <a:gd name="T14" fmla="*/ 0 60000 65536"/>
                <a:gd name="T15" fmla="*/ 0 60000 65536"/>
                <a:gd name="T16" fmla="*/ 0 60000 65536"/>
                <a:gd name="T17" fmla="*/ 0 60000 65536"/>
                <a:gd name="T18" fmla="*/ 0 w 148"/>
                <a:gd name="T19" fmla="*/ 0 h 145"/>
                <a:gd name="T20" fmla="*/ 148 w 148"/>
                <a:gd name="T21" fmla="*/ 145 h 145"/>
              </a:gdLst>
              <a:ahLst/>
              <a:cxnLst>
                <a:cxn ang="T12">
                  <a:pos x="T0" y="T1"/>
                </a:cxn>
                <a:cxn ang="T13">
                  <a:pos x="T2" y="T3"/>
                </a:cxn>
                <a:cxn ang="T14">
                  <a:pos x="T4" y="T5"/>
                </a:cxn>
                <a:cxn ang="T15">
                  <a:pos x="T6" y="T7"/>
                </a:cxn>
                <a:cxn ang="T16">
                  <a:pos x="T8" y="T9"/>
                </a:cxn>
                <a:cxn ang="T17">
                  <a:pos x="T10" y="T11"/>
                </a:cxn>
              </a:cxnLst>
              <a:rect l="T18" t="T19" r="T20" b="T21"/>
              <a:pathLst>
                <a:path w="148" h="145">
                  <a:moveTo>
                    <a:pt x="66" y="64"/>
                  </a:moveTo>
                  <a:lnTo>
                    <a:pt x="51" y="145"/>
                  </a:lnTo>
                  <a:lnTo>
                    <a:pt x="0" y="0"/>
                  </a:lnTo>
                  <a:lnTo>
                    <a:pt x="148" y="47"/>
                  </a:lnTo>
                  <a:lnTo>
                    <a:pt x="66" y="64"/>
                  </a:lnTo>
                  <a:close/>
                </a:path>
              </a:pathLst>
            </a:custGeom>
            <a:noFill/>
            <a:ln w="1588">
              <a:solidFill>
                <a:srgbClr val="000000"/>
              </a:solidFill>
              <a:round/>
              <a:headEnd/>
              <a:tailEnd/>
            </a:ln>
          </p:spPr>
          <p:txBody>
            <a:bodyPr/>
            <a:lstStyle/>
            <a:p>
              <a:endParaRPr lang="zh-CN" altLang="en-US"/>
            </a:p>
          </p:txBody>
        </p:sp>
        <p:sp>
          <p:nvSpPr>
            <p:cNvPr id="29837" name="Rectangle 63"/>
            <p:cNvSpPr>
              <a:spLocks noChangeArrowheads="1"/>
            </p:cNvSpPr>
            <p:nvPr/>
          </p:nvSpPr>
          <p:spPr bwMode="auto">
            <a:xfrm rot="5400000">
              <a:off x="1047" y="1496"/>
              <a:ext cx="28" cy="115"/>
            </a:xfrm>
            <a:prstGeom prst="rect">
              <a:avLst/>
            </a:prstGeom>
            <a:noFill/>
            <a:ln w="9525">
              <a:noFill/>
              <a:miter lim="800000"/>
              <a:headEnd/>
              <a:tailEnd/>
            </a:ln>
          </p:spPr>
          <p:txBody>
            <a:bodyPr wrap="none" lIns="0" tIns="0" rIns="0" bIns="0">
              <a:spAutoFit/>
            </a:bodyPr>
            <a:lstStyle/>
            <a:p>
              <a:pPr defTabSz="914400"/>
              <a:r>
                <a:rPr lang="zh-CN" altLang="en-US" sz="1300">
                  <a:solidFill>
                    <a:srgbClr val="000000"/>
                  </a:solidFill>
                  <a:ea typeface="楷体_GB2312" pitchFamily="49" charset="-122"/>
                </a:rPr>
                <a:t> </a:t>
              </a:r>
              <a:endParaRPr lang="zh-CN" altLang="en-US" sz="2800" b="1">
                <a:latin typeface="楷体_GB2312" pitchFamily="49" charset="-122"/>
                <a:ea typeface="楷体_GB2312" pitchFamily="49" charset="-122"/>
              </a:endParaRPr>
            </a:p>
          </p:txBody>
        </p:sp>
        <p:sp>
          <p:nvSpPr>
            <p:cNvPr id="29838" name="Rectangle 64"/>
            <p:cNvSpPr>
              <a:spLocks noChangeArrowheads="1"/>
            </p:cNvSpPr>
            <p:nvPr/>
          </p:nvSpPr>
          <p:spPr bwMode="auto">
            <a:xfrm>
              <a:off x="1294" y="1149"/>
              <a:ext cx="515" cy="128"/>
            </a:xfrm>
            <a:prstGeom prst="rect">
              <a:avLst/>
            </a:prstGeom>
            <a:noFill/>
            <a:ln w="9525">
              <a:noFill/>
              <a:miter lim="800000"/>
              <a:headEnd/>
              <a:tailEnd/>
            </a:ln>
          </p:spPr>
          <p:txBody>
            <a:bodyPr wrap="none" lIns="0" tIns="0" rIns="0" bIns="0">
              <a:spAutoFit/>
            </a:bodyPr>
            <a:lstStyle/>
            <a:p>
              <a:pPr defTabSz="914400"/>
              <a:r>
                <a:rPr lang="zh-CN" altLang="en-US" sz="1400">
                  <a:solidFill>
                    <a:srgbClr val="000000"/>
                  </a:solidFill>
                  <a:latin typeface="宋体" pitchFamily="2" charset="-122"/>
                </a:rPr>
                <a:t>光电探测器</a:t>
              </a:r>
              <a:endParaRPr lang="zh-CN" altLang="en-US" sz="2800" b="1">
                <a:latin typeface="楷体_GB2312" pitchFamily="49" charset="-122"/>
                <a:ea typeface="楷体_GB2312" pitchFamily="49" charset="-122"/>
              </a:endParaRPr>
            </a:p>
          </p:txBody>
        </p:sp>
        <p:sp>
          <p:nvSpPr>
            <p:cNvPr id="29839" name="Rectangle 65"/>
            <p:cNvSpPr>
              <a:spLocks noChangeArrowheads="1"/>
            </p:cNvSpPr>
            <p:nvPr/>
          </p:nvSpPr>
          <p:spPr bwMode="auto">
            <a:xfrm>
              <a:off x="1941" y="1152"/>
              <a:ext cx="24" cy="119"/>
            </a:xfrm>
            <a:prstGeom prst="rect">
              <a:avLst/>
            </a:prstGeom>
            <a:noFill/>
            <a:ln w="9525">
              <a:noFill/>
              <a:miter lim="800000"/>
              <a:headEnd/>
              <a:tailEnd/>
            </a:ln>
          </p:spPr>
          <p:txBody>
            <a:bodyPr wrap="none" lIns="0" tIns="0" rIns="0" bIns="0">
              <a:spAutoFit/>
            </a:bodyPr>
            <a:lstStyle/>
            <a:p>
              <a:pPr defTabSz="914400"/>
              <a:r>
                <a:rPr lang="zh-CN" altLang="en-US" sz="1300">
                  <a:solidFill>
                    <a:srgbClr val="000000"/>
                  </a:solidFill>
                  <a:latin typeface="Times New Roman" pitchFamily="18" charset="0"/>
                  <a:ea typeface="楷体_GB2312" pitchFamily="49" charset="-122"/>
                </a:rPr>
                <a:t> </a:t>
              </a:r>
              <a:endParaRPr lang="zh-CN" altLang="en-US" sz="2800" b="1">
                <a:latin typeface="楷体_GB2312" pitchFamily="49" charset="-122"/>
                <a:ea typeface="楷体_GB2312" pitchFamily="49" charset="-122"/>
              </a:endParaRPr>
            </a:p>
          </p:txBody>
        </p:sp>
        <p:sp>
          <p:nvSpPr>
            <p:cNvPr id="29840" name="Rectangle 66"/>
            <p:cNvSpPr>
              <a:spLocks noChangeArrowheads="1"/>
            </p:cNvSpPr>
            <p:nvPr/>
          </p:nvSpPr>
          <p:spPr bwMode="auto">
            <a:xfrm>
              <a:off x="1900" y="1865"/>
              <a:ext cx="383" cy="119"/>
            </a:xfrm>
            <a:prstGeom prst="rect">
              <a:avLst/>
            </a:prstGeom>
            <a:noFill/>
            <a:ln w="9525">
              <a:noFill/>
              <a:miter lim="800000"/>
              <a:headEnd/>
              <a:tailEnd/>
            </a:ln>
          </p:spPr>
          <p:txBody>
            <a:bodyPr wrap="none" lIns="0" tIns="0" rIns="0" bIns="0">
              <a:spAutoFit/>
            </a:bodyPr>
            <a:lstStyle/>
            <a:p>
              <a:pPr defTabSz="914400"/>
              <a:r>
                <a:rPr lang="zh-CN" altLang="en-US" sz="1300">
                  <a:solidFill>
                    <a:srgbClr val="000000"/>
                  </a:solidFill>
                  <a:latin typeface="宋体" pitchFamily="2" charset="-122"/>
                </a:rPr>
                <a:t>接收透镜</a:t>
              </a:r>
              <a:endParaRPr lang="zh-CN" altLang="en-US" sz="2800" b="1">
                <a:latin typeface="楷体_GB2312" pitchFamily="49" charset="-122"/>
                <a:ea typeface="楷体_GB2312" pitchFamily="49" charset="-122"/>
              </a:endParaRPr>
            </a:p>
          </p:txBody>
        </p:sp>
        <p:sp>
          <p:nvSpPr>
            <p:cNvPr id="29841" name="Rectangle 67"/>
            <p:cNvSpPr>
              <a:spLocks noChangeArrowheads="1"/>
            </p:cNvSpPr>
            <p:nvPr/>
          </p:nvSpPr>
          <p:spPr bwMode="auto">
            <a:xfrm>
              <a:off x="2278" y="1863"/>
              <a:ext cx="24" cy="119"/>
            </a:xfrm>
            <a:prstGeom prst="rect">
              <a:avLst/>
            </a:prstGeom>
            <a:noFill/>
            <a:ln w="9525">
              <a:noFill/>
              <a:miter lim="800000"/>
              <a:headEnd/>
              <a:tailEnd/>
            </a:ln>
          </p:spPr>
          <p:txBody>
            <a:bodyPr wrap="none" lIns="0" tIns="0" rIns="0" bIns="0">
              <a:spAutoFit/>
            </a:bodyPr>
            <a:lstStyle/>
            <a:p>
              <a:pPr defTabSz="914400"/>
              <a:r>
                <a:rPr lang="zh-CN" altLang="en-US" sz="1300">
                  <a:solidFill>
                    <a:srgbClr val="000000"/>
                  </a:solidFill>
                  <a:latin typeface="Times New Roman" pitchFamily="18" charset="0"/>
                  <a:ea typeface="楷体_GB2312" pitchFamily="49" charset="-122"/>
                </a:rPr>
                <a:t> </a:t>
              </a:r>
              <a:endParaRPr lang="zh-CN" altLang="en-US" sz="2800" b="1">
                <a:latin typeface="楷体_GB2312" pitchFamily="49" charset="-122"/>
                <a:ea typeface="楷体_GB2312" pitchFamily="49" charset="-122"/>
              </a:endParaRPr>
            </a:p>
          </p:txBody>
        </p:sp>
        <p:sp>
          <p:nvSpPr>
            <p:cNvPr id="29842" name="Rectangle 68"/>
            <p:cNvSpPr>
              <a:spLocks noChangeArrowheads="1"/>
            </p:cNvSpPr>
            <p:nvPr/>
          </p:nvSpPr>
          <p:spPr bwMode="auto">
            <a:xfrm>
              <a:off x="1436" y="1894"/>
              <a:ext cx="51" cy="128"/>
            </a:xfrm>
            <a:prstGeom prst="rect">
              <a:avLst/>
            </a:prstGeom>
            <a:noFill/>
            <a:ln w="9525">
              <a:noFill/>
              <a:miter lim="800000"/>
              <a:headEnd/>
              <a:tailEnd/>
            </a:ln>
          </p:spPr>
          <p:txBody>
            <a:bodyPr wrap="none" lIns="0" tIns="0" rIns="0" bIns="0">
              <a:spAutoFit/>
            </a:bodyPr>
            <a:lstStyle/>
            <a:p>
              <a:pPr defTabSz="914400"/>
              <a:r>
                <a:rPr lang="en-US" altLang="zh-CN" sz="1400" i="1">
                  <a:solidFill>
                    <a:srgbClr val="000000"/>
                  </a:solidFill>
                  <a:latin typeface="Times New Roman" pitchFamily="18" charset="0"/>
                  <a:ea typeface="楷体_GB2312" pitchFamily="49" charset="-122"/>
                </a:rPr>
                <a:t>a</a:t>
              </a:r>
              <a:endParaRPr lang="en-US" altLang="zh-CN" sz="2800" b="1">
                <a:latin typeface="楷体_GB2312" pitchFamily="49" charset="-122"/>
                <a:ea typeface="楷体_GB2312" pitchFamily="49" charset="-122"/>
              </a:endParaRPr>
            </a:p>
          </p:txBody>
        </p:sp>
        <p:sp>
          <p:nvSpPr>
            <p:cNvPr id="29843" name="Rectangle 69"/>
            <p:cNvSpPr>
              <a:spLocks noChangeArrowheads="1"/>
            </p:cNvSpPr>
            <p:nvPr/>
          </p:nvSpPr>
          <p:spPr bwMode="auto">
            <a:xfrm>
              <a:off x="2092" y="1496"/>
              <a:ext cx="51" cy="128"/>
            </a:xfrm>
            <a:prstGeom prst="rect">
              <a:avLst/>
            </a:prstGeom>
            <a:noFill/>
            <a:ln w="9525">
              <a:noFill/>
              <a:miter lim="800000"/>
              <a:headEnd/>
              <a:tailEnd/>
            </a:ln>
          </p:spPr>
          <p:txBody>
            <a:bodyPr wrap="none" lIns="0" tIns="0" rIns="0" bIns="0">
              <a:spAutoFit/>
            </a:bodyPr>
            <a:lstStyle/>
            <a:p>
              <a:pPr defTabSz="914400"/>
              <a:r>
                <a:rPr lang="en-US" altLang="zh-CN" sz="1400" i="1">
                  <a:solidFill>
                    <a:srgbClr val="000000"/>
                  </a:solidFill>
                  <a:latin typeface="Times New Roman" pitchFamily="18" charset="0"/>
                  <a:ea typeface="楷体_GB2312" pitchFamily="49" charset="-122"/>
                </a:rPr>
                <a:t>b</a:t>
              </a:r>
              <a:endParaRPr lang="en-US" altLang="zh-CN" sz="2800" b="1">
                <a:latin typeface="楷体_GB2312" pitchFamily="49" charset="-122"/>
                <a:ea typeface="楷体_GB2312" pitchFamily="49" charset="-122"/>
              </a:endParaRPr>
            </a:p>
          </p:txBody>
        </p:sp>
        <p:sp>
          <p:nvSpPr>
            <p:cNvPr id="29844" name="Rectangle 70"/>
            <p:cNvSpPr>
              <a:spLocks noChangeArrowheads="1"/>
            </p:cNvSpPr>
            <p:nvPr/>
          </p:nvSpPr>
          <p:spPr bwMode="auto">
            <a:xfrm>
              <a:off x="1733" y="2477"/>
              <a:ext cx="49" cy="138"/>
            </a:xfrm>
            <a:prstGeom prst="rect">
              <a:avLst/>
            </a:prstGeom>
            <a:noFill/>
            <a:ln w="9525">
              <a:noFill/>
              <a:miter lim="800000"/>
              <a:headEnd/>
              <a:tailEnd/>
            </a:ln>
          </p:spPr>
          <p:txBody>
            <a:bodyPr wrap="none" lIns="0" tIns="0" rIns="0" bIns="0">
              <a:spAutoFit/>
            </a:bodyPr>
            <a:lstStyle/>
            <a:p>
              <a:pPr defTabSz="914400"/>
              <a:r>
                <a:rPr lang="en-US" altLang="zh-CN" sz="1500" i="1">
                  <a:solidFill>
                    <a:srgbClr val="000000"/>
                  </a:solidFill>
                  <a:latin typeface="Times New Roman" pitchFamily="18" charset="0"/>
                  <a:ea typeface="楷体_GB2312" pitchFamily="49" charset="-122"/>
                </a:rPr>
                <a:t>x</a:t>
              </a:r>
              <a:endParaRPr lang="en-US" altLang="zh-CN" sz="2800" b="1">
                <a:latin typeface="楷体_GB2312" pitchFamily="49" charset="-122"/>
                <a:ea typeface="楷体_GB2312" pitchFamily="49" charset="-122"/>
              </a:endParaRPr>
            </a:p>
          </p:txBody>
        </p:sp>
        <p:sp>
          <p:nvSpPr>
            <p:cNvPr id="29845" name="Rectangle 71"/>
            <p:cNvSpPr>
              <a:spLocks noChangeArrowheads="1"/>
            </p:cNvSpPr>
            <p:nvPr/>
          </p:nvSpPr>
          <p:spPr bwMode="auto">
            <a:xfrm>
              <a:off x="2299" y="1137"/>
              <a:ext cx="49" cy="137"/>
            </a:xfrm>
            <a:prstGeom prst="rect">
              <a:avLst/>
            </a:prstGeom>
            <a:noFill/>
            <a:ln w="9525">
              <a:noFill/>
              <a:miter lim="800000"/>
              <a:headEnd/>
              <a:tailEnd/>
            </a:ln>
          </p:spPr>
          <p:txBody>
            <a:bodyPr wrap="none" lIns="0" tIns="0" rIns="0" bIns="0">
              <a:spAutoFit/>
            </a:bodyPr>
            <a:lstStyle/>
            <a:p>
              <a:pPr defTabSz="914400"/>
              <a:r>
                <a:rPr lang="en-US" altLang="zh-CN" sz="1500" i="1">
                  <a:solidFill>
                    <a:srgbClr val="000000"/>
                  </a:solidFill>
                  <a:latin typeface="Times New Roman" pitchFamily="18" charset="0"/>
                  <a:ea typeface="楷体_GB2312" pitchFamily="49" charset="-122"/>
                </a:rPr>
                <a:t>x</a:t>
              </a:r>
              <a:endParaRPr lang="en-US" altLang="zh-CN" sz="2800" b="1">
                <a:latin typeface="楷体_GB2312" pitchFamily="49" charset="-122"/>
                <a:ea typeface="楷体_GB2312" pitchFamily="49" charset="-122"/>
              </a:endParaRPr>
            </a:p>
          </p:txBody>
        </p:sp>
        <p:sp>
          <p:nvSpPr>
            <p:cNvPr id="29846" name="Rectangle 72"/>
            <p:cNvSpPr>
              <a:spLocks noChangeArrowheads="1"/>
            </p:cNvSpPr>
            <p:nvPr/>
          </p:nvSpPr>
          <p:spPr bwMode="auto">
            <a:xfrm>
              <a:off x="2350" y="1118"/>
              <a:ext cx="27" cy="137"/>
            </a:xfrm>
            <a:prstGeom prst="rect">
              <a:avLst/>
            </a:prstGeom>
            <a:noFill/>
            <a:ln w="9525">
              <a:noFill/>
              <a:miter lim="800000"/>
              <a:headEnd/>
              <a:tailEnd/>
            </a:ln>
          </p:spPr>
          <p:txBody>
            <a:bodyPr wrap="none" lIns="0" tIns="0" rIns="0" bIns="0">
              <a:spAutoFit/>
            </a:bodyPr>
            <a:lstStyle/>
            <a:p>
              <a:pPr defTabSz="914400"/>
              <a:r>
                <a:rPr lang="en-US" altLang="zh-CN" sz="1500">
                  <a:solidFill>
                    <a:srgbClr val="000000"/>
                  </a:solidFill>
                  <a:latin typeface="Symbol" pitchFamily="18" charset="2"/>
                  <a:ea typeface="楷体_GB2312" pitchFamily="49" charset="-122"/>
                </a:rPr>
                <a:t>¢</a:t>
              </a:r>
              <a:endParaRPr lang="en-US" altLang="zh-CN" sz="2800" b="1">
                <a:latin typeface="楷体_GB2312" pitchFamily="49" charset="-122"/>
                <a:ea typeface="楷体_GB2312" pitchFamily="49" charset="-122"/>
              </a:endParaRPr>
            </a:p>
          </p:txBody>
        </p:sp>
        <p:sp>
          <p:nvSpPr>
            <p:cNvPr id="29847" name="Rectangle 73"/>
            <p:cNvSpPr>
              <a:spLocks noChangeArrowheads="1"/>
            </p:cNvSpPr>
            <p:nvPr/>
          </p:nvSpPr>
          <p:spPr bwMode="auto">
            <a:xfrm>
              <a:off x="1179" y="2048"/>
              <a:ext cx="58" cy="137"/>
            </a:xfrm>
            <a:prstGeom prst="rect">
              <a:avLst/>
            </a:prstGeom>
            <a:noFill/>
            <a:ln w="9525">
              <a:noFill/>
              <a:miter lim="800000"/>
              <a:headEnd/>
              <a:tailEnd/>
            </a:ln>
          </p:spPr>
          <p:txBody>
            <a:bodyPr wrap="none" lIns="0" tIns="0" rIns="0" bIns="0">
              <a:spAutoFit/>
            </a:bodyPr>
            <a:lstStyle/>
            <a:p>
              <a:pPr defTabSz="914400"/>
              <a:r>
                <a:rPr lang="en-US" altLang="zh-CN" sz="1500" i="1">
                  <a:solidFill>
                    <a:srgbClr val="000000"/>
                  </a:solidFill>
                  <a:latin typeface="Symbol" pitchFamily="18" charset="2"/>
                  <a:ea typeface="楷体_GB2312" pitchFamily="49" charset="-122"/>
                </a:rPr>
                <a:t>q</a:t>
              </a:r>
              <a:endParaRPr lang="en-US" altLang="zh-CN" sz="2800" b="1">
                <a:latin typeface="楷体_GB2312" pitchFamily="49" charset="-122"/>
                <a:ea typeface="楷体_GB2312" pitchFamily="49" charset="-122"/>
              </a:endParaRPr>
            </a:p>
          </p:txBody>
        </p:sp>
        <p:sp>
          <p:nvSpPr>
            <p:cNvPr id="29848" name="Rectangle 147"/>
            <p:cNvSpPr>
              <a:spLocks noChangeArrowheads="1"/>
            </p:cNvSpPr>
            <p:nvPr/>
          </p:nvSpPr>
          <p:spPr bwMode="auto">
            <a:xfrm>
              <a:off x="864" y="2744"/>
              <a:ext cx="103" cy="127"/>
            </a:xfrm>
            <a:prstGeom prst="rect">
              <a:avLst/>
            </a:prstGeom>
            <a:noFill/>
            <a:ln w="9525">
              <a:noFill/>
              <a:miter lim="800000"/>
              <a:headEnd/>
              <a:tailEnd/>
            </a:ln>
          </p:spPr>
          <p:txBody>
            <a:bodyPr wrap="none" lIns="0" tIns="0" rIns="0" bIns="0">
              <a:spAutoFit/>
            </a:bodyPr>
            <a:lstStyle/>
            <a:p>
              <a:pPr defTabSz="914400"/>
              <a:r>
                <a:rPr lang="zh-CN" altLang="en-US" sz="1400">
                  <a:solidFill>
                    <a:srgbClr val="000000"/>
                  </a:solidFill>
                  <a:latin typeface="宋体" pitchFamily="2" charset="-122"/>
                </a:rPr>
                <a:t>（</a:t>
              </a:r>
              <a:endParaRPr lang="zh-CN" altLang="en-US" sz="2800" b="1">
                <a:latin typeface="楷体_GB2312" pitchFamily="49" charset="-122"/>
                <a:ea typeface="楷体_GB2312" pitchFamily="49" charset="-122"/>
              </a:endParaRPr>
            </a:p>
          </p:txBody>
        </p:sp>
        <p:sp>
          <p:nvSpPr>
            <p:cNvPr id="29849" name="Rectangle 148"/>
            <p:cNvSpPr>
              <a:spLocks noChangeArrowheads="1"/>
            </p:cNvSpPr>
            <p:nvPr/>
          </p:nvSpPr>
          <p:spPr bwMode="auto">
            <a:xfrm>
              <a:off x="977" y="2740"/>
              <a:ext cx="51" cy="128"/>
            </a:xfrm>
            <a:prstGeom prst="rect">
              <a:avLst/>
            </a:prstGeom>
            <a:noFill/>
            <a:ln w="9525">
              <a:noFill/>
              <a:miter lim="800000"/>
              <a:headEnd/>
              <a:tailEnd/>
            </a:ln>
          </p:spPr>
          <p:txBody>
            <a:bodyPr wrap="none" lIns="0" tIns="0" rIns="0" bIns="0">
              <a:spAutoFit/>
            </a:bodyPr>
            <a:lstStyle/>
            <a:p>
              <a:pPr defTabSz="914400"/>
              <a:r>
                <a:rPr lang="en-US" altLang="zh-CN" sz="1400" i="1">
                  <a:solidFill>
                    <a:srgbClr val="000000"/>
                  </a:solidFill>
                  <a:latin typeface="Times New Roman" pitchFamily="18" charset="0"/>
                  <a:ea typeface="楷体_GB2312" pitchFamily="49" charset="-122"/>
                </a:rPr>
                <a:t>a</a:t>
              </a:r>
              <a:endParaRPr lang="en-US" altLang="zh-CN" sz="2800" b="1">
                <a:latin typeface="楷体_GB2312" pitchFamily="49" charset="-122"/>
                <a:ea typeface="楷体_GB2312" pitchFamily="49" charset="-122"/>
              </a:endParaRPr>
            </a:p>
          </p:txBody>
        </p:sp>
        <p:sp>
          <p:nvSpPr>
            <p:cNvPr id="29850" name="Rectangle 149"/>
            <p:cNvSpPr>
              <a:spLocks noChangeArrowheads="1"/>
            </p:cNvSpPr>
            <p:nvPr/>
          </p:nvSpPr>
          <p:spPr bwMode="auto">
            <a:xfrm>
              <a:off x="1033" y="2744"/>
              <a:ext cx="103" cy="127"/>
            </a:xfrm>
            <a:prstGeom prst="rect">
              <a:avLst/>
            </a:prstGeom>
            <a:noFill/>
            <a:ln w="9525">
              <a:noFill/>
              <a:miter lim="800000"/>
              <a:headEnd/>
              <a:tailEnd/>
            </a:ln>
          </p:spPr>
          <p:txBody>
            <a:bodyPr wrap="none" lIns="0" tIns="0" rIns="0" bIns="0">
              <a:spAutoFit/>
            </a:bodyPr>
            <a:lstStyle/>
            <a:p>
              <a:pPr defTabSz="914400"/>
              <a:r>
                <a:rPr lang="zh-CN" altLang="en-US" sz="1400">
                  <a:solidFill>
                    <a:srgbClr val="000000"/>
                  </a:solidFill>
                  <a:latin typeface="宋体" pitchFamily="2" charset="-122"/>
                </a:rPr>
                <a:t>）</a:t>
              </a:r>
              <a:endParaRPr lang="zh-CN" altLang="en-US" sz="2800" b="1">
                <a:latin typeface="楷体_GB2312" pitchFamily="49" charset="-122"/>
                <a:ea typeface="楷体_GB2312" pitchFamily="49" charset="-122"/>
              </a:endParaRPr>
            </a:p>
          </p:txBody>
        </p:sp>
        <p:sp>
          <p:nvSpPr>
            <p:cNvPr id="29851" name="Rectangle 150"/>
            <p:cNvSpPr>
              <a:spLocks noChangeArrowheads="1"/>
            </p:cNvSpPr>
            <p:nvPr/>
          </p:nvSpPr>
          <p:spPr bwMode="auto">
            <a:xfrm>
              <a:off x="1146" y="2744"/>
              <a:ext cx="515" cy="127"/>
            </a:xfrm>
            <a:prstGeom prst="rect">
              <a:avLst/>
            </a:prstGeom>
            <a:noFill/>
            <a:ln w="9525">
              <a:noFill/>
              <a:miter lim="800000"/>
              <a:headEnd/>
              <a:tailEnd/>
            </a:ln>
          </p:spPr>
          <p:txBody>
            <a:bodyPr wrap="none" lIns="0" tIns="0" rIns="0" bIns="0">
              <a:spAutoFit/>
            </a:bodyPr>
            <a:lstStyle/>
            <a:p>
              <a:pPr defTabSz="914400"/>
              <a:r>
                <a:rPr lang="zh-CN" altLang="en-US" sz="1400">
                  <a:solidFill>
                    <a:srgbClr val="000000"/>
                  </a:solidFill>
                  <a:latin typeface="宋体" pitchFamily="2" charset="-122"/>
                </a:rPr>
                <a:t>直射式结构</a:t>
              </a:r>
              <a:endParaRPr lang="zh-CN" altLang="en-US" sz="2800" b="1">
                <a:latin typeface="楷体_GB2312" pitchFamily="49" charset="-122"/>
                <a:ea typeface="楷体_GB2312" pitchFamily="49" charset="-122"/>
              </a:endParaRPr>
            </a:p>
          </p:txBody>
        </p:sp>
        <p:sp>
          <p:nvSpPr>
            <p:cNvPr id="29852" name="Rectangle 155"/>
            <p:cNvSpPr>
              <a:spLocks noChangeArrowheads="1"/>
            </p:cNvSpPr>
            <p:nvPr/>
          </p:nvSpPr>
          <p:spPr bwMode="auto">
            <a:xfrm>
              <a:off x="676" y="1597"/>
              <a:ext cx="103" cy="128"/>
            </a:xfrm>
            <a:prstGeom prst="rect">
              <a:avLst/>
            </a:prstGeom>
            <a:noFill/>
            <a:ln w="9525">
              <a:noFill/>
              <a:miter lim="800000"/>
              <a:headEnd/>
              <a:tailEnd/>
            </a:ln>
          </p:spPr>
          <p:txBody>
            <a:bodyPr wrap="none" lIns="0" tIns="0" rIns="0" bIns="0">
              <a:spAutoFit/>
            </a:bodyPr>
            <a:lstStyle/>
            <a:p>
              <a:pPr defTabSz="914400"/>
              <a:r>
                <a:rPr lang="zh-CN" altLang="en-US" sz="1400">
                  <a:solidFill>
                    <a:srgbClr val="000000"/>
                  </a:solidFill>
                  <a:latin typeface="宋体" pitchFamily="2" charset="-122"/>
                </a:rPr>
                <a:t>会</a:t>
              </a:r>
              <a:endParaRPr lang="zh-CN" altLang="en-US" sz="2800" b="1">
                <a:latin typeface="楷体_GB2312" pitchFamily="49" charset="-122"/>
                <a:ea typeface="楷体_GB2312" pitchFamily="49" charset="-122"/>
              </a:endParaRPr>
            </a:p>
          </p:txBody>
        </p:sp>
        <p:sp>
          <p:nvSpPr>
            <p:cNvPr id="29853" name="Rectangle 156"/>
            <p:cNvSpPr>
              <a:spLocks noChangeArrowheads="1"/>
            </p:cNvSpPr>
            <p:nvPr/>
          </p:nvSpPr>
          <p:spPr bwMode="auto">
            <a:xfrm>
              <a:off x="676" y="1733"/>
              <a:ext cx="103" cy="128"/>
            </a:xfrm>
            <a:prstGeom prst="rect">
              <a:avLst/>
            </a:prstGeom>
            <a:noFill/>
            <a:ln w="9525">
              <a:noFill/>
              <a:miter lim="800000"/>
              <a:headEnd/>
              <a:tailEnd/>
            </a:ln>
          </p:spPr>
          <p:txBody>
            <a:bodyPr wrap="none" lIns="0" tIns="0" rIns="0" bIns="0">
              <a:spAutoFit/>
            </a:bodyPr>
            <a:lstStyle/>
            <a:p>
              <a:pPr defTabSz="914400"/>
              <a:r>
                <a:rPr lang="zh-CN" altLang="en-US" sz="1400">
                  <a:solidFill>
                    <a:srgbClr val="000000"/>
                  </a:solidFill>
                  <a:latin typeface="宋体" pitchFamily="2" charset="-122"/>
                </a:rPr>
                <a:t>聚</a:t>
              </a:r>
              <a:endParaRPr lang="zh-CN" altLang="en-US" sz="2800" b="1">
                <a:latin typeface="楷体_GB2312" pitchFamily="49" charset="-122"/>
                <a:ea typeface="楷体_GB2312" pitchFamily="49" charset="-122"/>
              </a:endParaRPr>
            </a:p>
          </p:txBody>
        </p:sp>
        <p:sp>
          <p:nvSpPr>
            <p:cNvPr id="29854" name="Rectangle 157"/>
            <p:cNvSpPr>
              <a:spLocks noChangeArrowheads="1"/>
            </p:cNvSpPr>
            <p:nvPr/>
          </p:nvSpPr>
          <p:spPr bwMode="auto">
            <a:xfrm>
              <a:off x="676" y="1869"/>
              <a:ext cx="103" cy="127"/>
            </a:xfrm>
            <a:prstGeom prst="rect">
              <a:avLst/>
            </a:prstGeom>
            <a:noFill/>
            <a:ln w="9525">
              <a:noFill/>
              <a:miter lim="800000"/>
              <a:headEnd/>
              <a:tailEnd/>
            </a:ln>
          </p:spPr>
          <p:txBody>
            <a:bodyPr wrap="none" lIns="0" tIns="0" rIns="0" bIns="0">
              <a:spAutoFit/>
            </a:bodyPr>
            <a:lstStyle/>
            <a:p>
              <a:pPr defTabSz="914400"/>
              <a:r>
                <a:rPr lang="zh-CN" altLang="en-US" sz="1400">
                  <a:solidFill>
                    <a:srgbClr val="000000"/>
                  </a:solidFill>
                  <a:latin typeface="宋体" pitchFamily="2" charset="-122"/>
                </a:rPr>
                <a:t>透</a:t>
              </a:r>
              <a:endParaRPr lang="zh-CN" altLang="en-US" sz="2800" b="1">
                <a:latin typeface="楷体_GB2312" pitchFamily="49" charset="-122"/>
                <a:ea typeface="楷体_GB2312" pitchFamily="49" charset="-122"/>
              </a:endParaRPr>
            </a:p>
          </p:txBody>
        </p:sp>
        <p:sp>
          <p:nvSpPr>
            <p:cNvPr id="29855" name="Rectangle 158"/>
            <p:cNvSpPr>
              <a:spLocks noChangeArrowheads="1"/>
            </p:cNvSpPr>
            <p:nvPr/>
          </p:nvSpPr>
          <p:spPr bwMode="auto">
            <a:xfrm>
              <a:off x="676" y="2004"/>
              <a:ext cx="103" cy="128"/>
            </a:xfrm>
            <a:prstGeom prst="rect">
              <a:avLst/>
            </a:prstGeom>
            <a:noFill/>
            <a:ln w="9525">
              <a:noFill/>
              <a:miter lim="800000"/>
              <a:headEnd/>
              <a:tailEnd/>
            </a:ln>
          </p:spPr>
          <p:txBody>
            <a:bodyPr wrap="none" lIns="0" tIns="0" rIns="0" bIns="0">
              <a:spAutoFit/>
            </a:bodyPr>
            <a:lstStyle/>
            <a:p>
              <a:pPr defTabSz="914400"/>
              <a:r>
                <a:rPr lang="zh-CN" altLang="en-US" sz="1400">
                  <a:solidFill>
                    <a:srgbClr val="000000"/>
                  </a:solidFill>
                  <a:latin typeface="宋体" pitchFamily="2" charset="-122"/>
                </a:rPr>
                <a:t>镜</a:t>
              </a:r>
              <a:endParaRPr lang="zh-CN" altLang="en-US" sz="2800" b="1">
                <a:latin typeface="楷体_GB2312" pitchFamily="49" charset="-122"/>
                <a:ea typeface="楷体_GB2312" pitchFamily="49" charset="-122"/>
              </a:endParaRPr>
            </a:p>
          </p:txBody>
        </p:sp>
        <p:sp>
          <p:nvSpPr>
            <p:cNvPr id="29856" name="Rectangle 166"/>
            <p:cNvSpPr>
              <a:spLocks noChangeArrowheads="1"/>
            </p:cNvSpPr>
            <p:nvPr/>
          </p:nvSpPr>
          <p:spPr bwMode="auto">
            <a:xfrm>
              <a:off x="998" y="1147"/>
              <a:ext cx="103" cy="128"/>
            </a:xfrm>
            <a:prstGeom prst="rect">
              <a:avLst/>
            </a:prstGeom>
            <a:noFill/>
            <a:ln w="9525">
              <a:noFill/>
              <a:miter lim="800000"/>
              <a:headEnd/>
              <a:tailEnd/>
            </a:ln>
          </p:spPr>
          <p:txBody>
            <a:bodyPr wrap="none" lIns="0" tIns="0" rIns="0" bIns="0">
              <a:spAutoFit/>
            </a:bodyPr>
            <a:lstStyle/>
            <a:p>
              <a:pPr defTabSz="914400"/>
              <a:r>
                <a:rPr lang="zh-CN" altLang="en-US" sz="1400">
                  <a:solidFill>
                    <a:srgbClr val="000000"/>
                  </a:solidFill>
                  <a:latin typeface="宋体" pitchFamily="2" charset="-122"/>
                </a:rPr>
                <a:t>激</a:t>
              </a:r>
              <a:endParaRPr lang="zh-CN" altLang="en-US" sz="2800" b="1">
                <a:latin typeface="楷体_GB2312" pitchFamily="49" charset="-122"/>
                <a:ea typeface="楷体_GB2312" pitchFamily="49" charset="-122"/>
              </a:endParaRPr>
            </a:p>
          </p:txBody>
        </p:sp>
        <p:sp>
          <p:nvSpPr>
            <p:cNvPr id="29857" name="Rectangle 167"/>
            <p:cNvSpPr>
              <a:spLocks noChangeArrowheads="1"/>
            </p:cNvSpPr>
            <p:nvPr/>
          </p:nvSpPr>
          <p:spPr bwMode="auto">
            <a:xfrm>
              <a:off x="998" y="1283"/>
              <a:ext cx="103" cy="127"/>
            </a:xfrm>
            <a:prstGeom prst="rect">
              <a:avLst/>
            </a:prstGeom>
            <a:noFill/>
            <a:ln w="9525">
              <a:noFill/>
              <a:miter lim="800000"/>
              <a:headEnd/>
              <a:tailEnd/>
            </a:ln>
          </p:spPr>
          <p:txBody>
            <a:bodyPr wrap="none" lIns="0" tIns="0" rIns="0" bIns="0">
              <a:spAutoFit/>
            </a:bodyPr>
            <a:lstStyle/>
            <a:p>
              <a:pPr defTabSz="914400"/>
              <a:r>
                <a:rPr lang="zh-CN" altLang="en-US" sz="1400">
                  <a:solidFill>
                    <a:srgbClr val="000000"/>
                  </a:solidFill>
                  <a:latin typeface="宋体" pitchFamily="2" charset="-122"/>
                </a:rPr>
                <a:t>光</a:t>
              </a:r>
              <a:endParaRPr lang="zh-CN" altLang="en-US" sz="2800" b="1">
                <a:latin typeface="楷体_GB2312" pitchFamily="49" charset="-122"/>
                <a:ea typeface="楷体_GB2312" pitchFamily="49" charset="-122"/>
              </a:endParaRPr>
            </a:p>
          </p:txBody>
        </p:sp>
        <p:sp>
          <p:nvSpPr>
            <p:cNvPr id="29858" name="Rectangle 168"/>
            <p:cNvSpPr>
              <a:spLocks noChangeArrowheads="1"/>
            </p:cNvSpPr>
            <p:nvPr/>
          </p:nvSpPr>
          <p:spPr bwMode="auto">
            <a:xfrm>
              <a:off x="998" y="1418"/>
              <a:ext cx="103" cy="128"/>
            </a:xfrm>
            <a:prstGeom prst="rect">
              <a:avLst/>
            </a:prstGeom>
            <a:noFill/>
            <a:ln w="9525">
              <a:noFill/>
              <a:miter lim="800000"/>
              <a:headEnd/>
              <a:tailEnd/>
            </a:ln>
          </p:spPr>
          <p:txBody>
            <a:bodyPr wrap="none" lIns="0" tIns="0" rIns="0" bIns="0">
              <a:spAutoFit/>
            </a:bodyPr>
            <a:lstStyle/>
            <a:p>
              <a:pPr defTabSz="914400"/>
              <a:r>
                <a:rPr lang="zh-CN" altLang="en-US" sz="1400">
                  <a:solidFill>
                    <a:srgbClr val="000000"/>
                  </a:solidFill>
                  <a:latin typeface="宋体" pitchFamily="2" charset="-122"/>
                </a:rPr>
                <a:t>器</a:t>
              </a:r>
              <a:endParaRPr lang="zh-CN" altLang="en-US" sz="2800" b="1">
                <a:latin typeface="楷体_GB2312" pitchFamily="49" charset="-122"/>
                <a:ea typeface="楷体_GB2312" pitchFamily="49" charset="-122"/>
              </a:endParaRPr>
            </a:p>
          </p:txBody>
        </p:sp>
      </p:grpSp>
      <p:sp>
        <p:nvSpPr>
          <p:cNvPr id="153" name="文本框 60">
            <a:extLst>
              <a:ext uri="{FF2B5EF4-FFF2-40B4-BE49-F238E27FC236}">
                <a16:creationId xmlns:a16="http://schemas.microsoft.com/office/drawing/2014/main" xmlns="" id="{791D85D7-F412-9C48-9F2B-E33F5B7B4F3C}"/>
              </a:ext>
            </a:extLst>
          </p:cNvPr>
          <p:cNvSpPr txBox="1"/>
          <p:nvPr/>
        </p:nvSpPr>
        <p:spPr>
          <a:xfrm>
            <a:off x="1545506" y="329189"/>
            <a:ext cx="3228375"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几何光学</a:t>
            </a:r>
            <a:r>
              <a:rPr lang="zh-CN" altLang="en-US" sz="1800" b="1" dirty="0">
                <a:latin typeface="微软雅黑" panose="020B0503020204020204" pitchFamily="34" charset="-122"/>
                <a:ea typeface="微软雅黑" panose="020B0503020204020204" pitchFamily="34" charset="-122"/>
              </a:rPr>
              <a:t>方法的光学信息</a:t>
            </a:r>
            <a:r>
              <a:rPr lang="zh-CN" altLang="en-US" sz="1800" b="1" dirty="0" smtClean="0">
                <a:latin typeface="微软雅黑" panose="020B0503020204020204" pitchFamily="34" charset="-122"/>
                <a:ea typeface="微软雅黑" panose="020B0503020204020204" pitchFamily="34" charset="-122"/>
              </a:rPr>
              <a:t>变换</a:t>
            </a:r>
            <a:endParaRPr lang="zh-CN" altLang="en-US" sz="1800" b="1" dirty="0">
              <a:latin typeface="微软雅黑" panose="020B0503020204020204" pitchFamily="34" charset="-122"/>
              <a:ea typeface="微软雅黑" panose="020B0503020204020204" pitchFamily="34" charset="-122"/>
            </a:endParaRPr>
          </a:p>
        </p:txBody>
      </p:sp>
      <p:sp>
        <p:nvSpPr>
          <p:cNvPr id="154" name="矩形 153"/>
          <p:cNvSpPr/>
          <p:nvPr/>
        </p:nvSpPr>
        <p:spPr>
          <a:xfrm>
            <a:off x="10271342" y="329189"/>
            <a:ext cx="1196259"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55" name="矩形 154">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57"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3228375"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58" name="矩形 157">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59" name="矩形 158">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xmlns="" val="311608274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2" name="Rectangle 7"/>
          <p:cNvSpPr>
            <a:spLocks noChangeArrowheads="1"/>
          </p:cNvSpPr>
          <p:nvPr/>
        </p:nvSpPr>
        <p:spPr bwMode="auto">
          <a:xfrm>
            <a:off x="266700" y="32988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0733" name="Rectangle 9"/>
          <p:cNvSpPr>
            <a:spLocks noChangeArrowheads="1"/>
          </p:cNvSpPr>
          <p:nvPr/>
        </p:nvSpPr>
        <p:spPr bwMode="auto">
          <a:xfrm>
            <a:off x="266700" y="32988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0734" name="Rectangle 12"/>
          <p:cNvSpPr>
            <a:spLocks noChangeArrowheads="1"/>
          </p:cNvSpPr>
          <p:nvPr/>
        </p:nvSpPr>
        <p:spPr bwMode="auto">
          <a:xfrm>
            <a:off x="266700" y="327977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0735" name="Rectangle 14"/>
          <p:cNvSpPr>
            <a:spLocks noChangeArrowheads="1"/>
          </p:cNvSpPr>
          <p:nvPr/>
        </p:nvSpPr>
        <p:spPr bwMode="auto">
          <a:xfrm>
            <a:off x="266700" y="3708400"/>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30736" name="Rectangle 18"/>
          <p:cNvSpPr>
            <a:spLocks noChangeArrowheads="1"/>
          </p:cNvSpPr>
          <p:nvPr/>
        </p:nvSpPr>
        <p:spPr bwMode="auto">
          <a:xfrm>
            <a:off x="266700" y="3298825"/>
            <a:ext cx="184150" cy="519113"/>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aphicFrame>
        <p:nvGraphicFramePr>
          <p:cNvPr id="30737" name="Object 17"/>
          <p:cNvGraphicFramePr>
            <a:graphicFrameLocks noChangeAspect="1"/>
          </p:cNvGraphicFramePr>
          <p:nvPr/>
        </p:nvGraphicFramePr>
        <p:xfrm>
          <a:off x="2994313" y="5832331"/>
          <a:ext cx="1240608" cy="997959"/>
        </p:xfrm>
        <a:graphic>
          <a:graphicData uri="http://schemas.openxmlformats.org/presentationml/2006/ole">
            <p:oleObj spid="_x0000_s4116" name="公式" r:id="rId3" imgW="482391" imgH="393529" progId="Equation.3">
              <p:embed/>
            </p:oleObj>
          </a:graphicData>
        </a:graphic>
      </p:graphicFrame>
      <p:graphicFrame>
        <p:nvGraphicFramePr>
          <p:cNvPr id="30738" name="Object 18"/>
          <p:cNvGraphicFramePr>
            <a:graphicFrameLocks noChangeAspect="1"/>
          </p:cNvGraphicFramePr>
          <p:nvPr/>
        </p:nvGraphicFramePr>
        <p:xfrm>
          <a:off x="1534823" y="1475655"/>
          <a:ext cx="3923867" cy="4110718"/>
        </p:xfrm>
        <a:graphic>
          <a:graphicData uri="http://schemas.openxmlformats.org/presentationml/2006/ole">
            <p:oleObj spid="_x0000_s4117" name="Visio" r:id="rId4" imgW="2085300" imgH="2187000" progId="">
              <p:embed/>
            </p:oleObj>
          </a:graphicData>
        </a:graphic>
      </p:graphicFrame>
      <p:graphicFrame>
        <p:nvGraphicFramePr>
          <p:cNvPr id="30739" name="Object 19"/>
          <p:cNvGraphicFramePr>
            <a:graphicFrameLocks noChangeAspect="1"/>
          </p:cNvGraphicFramePr>
          <p:nvPr/>
        </p:nvGraphicFramePr>
        <p:xfrm>
          <a:off x="5714855" y="1697616"/>
          <a:ext cx="7128161" cy="4301402"/>
        </p:xfrm>
        <a:graphic>
          <a:graphicData uri="http://schemas.openxmlformats.org/presentationml/2006/ole">
            <p:oleObj spid="_x0000_s4118" name="Visio" r:id="rId5" imgW="3173400" imgH="1915200" progId="">
              <p:embed/>
            </p:oleObj>
          </a:graphicData>
        </a:graphic>
      </p:graphicFrame>
      <p:sp>
        <p:nvSpPr>
          <p:cNvPr id="15" name="文本框 60">
            <a:extLst>
              <a:ext uri="{FF2B5EF4-FFF2-40B4-BE49-F238E27FC236}">
                <a16:creationId xmlns:a16="http://schemas.microsoft.com/office/drawing/2014/main" xmlns="" id="{791D85D7-F412-9C48-9F2B-E33F5B7B4F3C}"/>
              </a:ext>
            </a:extLst>
          </p:cNvPr>
          <p:cNvSpPr txBox="1"/>
          <p:nvPr/>
        </p:nvSpPr>
        <p:spPr>
          <a:xfrm>
            <a:off x="1545506" y="329189"/>
            <a:ext cx="3228375"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几何光学</a:t>
            </a:r>
            <a:r>
              <a:rPr lang="zh-CN" altLang="en-US" sz="1800" b="1" dirty="0">
                <a:latin typeface="微软雅黑" panose="020B0503020204020204" pitchFamily="34" charset="-122"/>
                <a:ea typeface="微软雅黑" panose="020B0503020204020204" pitchFamily="34" charset="-122"/>
              </a:rPr>
              <a:t>方法的光学信息</a:t>
            </a:r>
            <a:r>
              <a:rPr lang="zh-CN" altLang="en-US" sz="1800" b="1" dirty="0" smtClean="0">
                <a:latin typeface="微软雅黑" panose="020B0503020204020204" pitchFamily="34" charset="-122"/>
                <a:ea typeface="微软雅黑" panose="020B0503020204020204" pitchFamily="34" charset="-122"/>
              </a:rPr>
              <a:t>变换</a:t>
            </a:r>
            <a:endParaRPr lang="zh-CN" altLang="en-US" sz="1800" b="1" dirty="0">
              <a:latin typeface="微软雅黑" panose="020B0503020204020204" pitchFamily="34" charset="-122"/>
              <a:ea typeface="微软雅黑" panose="020B0503020204020204" pitchFamily="34" charset="-122"/>
            </a:endParaRPr>
          </a:p>
        </p:txBody>
      </p:sp>
      <p:sp>
        <p:nvSpPr>
          <p:cNvPr id="16" name="矩形 15"/>
          <p:cNvSpPr/>
          <p:nvPr/>
        </p:nvSpPr>
        <p:spPr>
          <a:xfrm>
            <a:off x="10246290" y="329189"/>
            <a:ext cx="1221311"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7" name="矩形 16">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20"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3228375"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21" name="矩形 20">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22" name="矩形 21">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xmlns="" val="100263971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56" name="Rectangle 8"/>
          <p:cNvSpPr>
            <a:spLocks noChangeArrowheads="1"/>
          </p:cNvSpPr>
          <p:nvPr/>
        </p:nvSpPr>
        <p:spPr bwMode="auto">
          <a:xfrm>
            <a:off x="280988" y="34115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sp>
        <p:nvSpPr>
          <p:cNvPr id="178185" name="Rectangle 9"/>
          <p:cNvSpPr>
            <a:spLocks noChangeArrowheads="1"/>
          </p:cNvSpPr>
          <p:nvPr/>
        </p:nvSpPr>
        <p:spPr bwMode="auto">
          <a:xfrm>
            <a:off x="956829" y="2346304"/>
            <a:ext cx="12052587" cy="3785652"/>
          </a:xfrm>
          <a:prstGeom prst="rect">
            <a:avLst/>
          </a:prstGeom>
          <a:noFill/>
          <a:ln w="9525" algn="ctr">
            <a:noFill/>
            <a:miter lim="800000"/>
            <a:headEnd/>
            <a:tailEnd/>
          </a:ln>
        </p:spPr>
        <p:txBody>
          <a:bodyPr wrap="square" anchor="ctr">
            <a:spAutoFit/>
          </a:bodyPr>
          <a:lstStyle/>
          <a:p>
            <a:pPr defTabSz="914400" eaLnBrk="0" hangingPunct="0">
              <a:lnSpc>
                <a:spcPct val="150000"/>
              </a:lnSpc>
            </a:pPr>
            <a:r>
              <a:rPr lang="en-US" altLang="zh-CN" sz="3200" b="1" dirty="0">
                <a:latin typeface="Times New Roman" pitchFamily="18" charset="0"/>
                <a:ea typeface="微软雅黑" pitchFamily="34" charset="-122"/>
              </a:rPr>
              <a:t>	</a:t>
            </a:r>
            <a:r>
              <a:rPr lang="zh-CN" altLang="en-US" sz="3200" b="1" dirty="0">
                <a:latin typeface="Times New Roman" pitchFamily="18" charset="0"/>
                <a:ea typeface="微软雅黑" pitchFamily="34" charset="-122"/>
              </a:rPr>
              <a:t>点光源对被测物体表面照明，使用成像物镜对该光点成像聚焦。当物体沿光轴方向位移时，像面焦点扩散形成弥散圆。只有准确处于物面位置时，良好的成像状态才能保证像面上有集中的光密度分布。这种以聚焦光斑密度分布的集中程度来判断物体轴向位移的方法称为</a:t>
            </a:r>
            <a:r>
              <a:rPr lang="zh-CN" altLang="en-US" sz="3200" b="1" dirty="0">
                <a:solidFill>
                  <a:srgbClr val="FF0000"/>
                </a:solidFill>
                <a:latin typeface="Times New Roman" pitchFamily="18" charset="0"/>
                <a:ea typeface="微软雅黑" pitchFamily="34" charset="-122"/>
              </a:rPr>
              <a:t>光焦点法</a:t>
            </a:r>
            <a:r>
              <a:rPr lang="zh-CN" altLang="en-US" sz="3200" b="1" dirty="0">
                <a:latin typeface="Times New Roman" pitchFamily="18" charset="0"/>
                <a:ea typeface="微软雅黑" pitchFamily="34" charset="-122"/>
              </a:rPr>
              <a:t>。 </a:t>
            </a:r>
          </a:p>
        </p:txBody>
      </p:sp>
      <p:sp>
        <p:nvSpPr>
          <p:cNvPr id="31758" name="Rectangle 10"/>
          <p:cNvSpPr>
            <a:spLocks noChangeArrowheads="1"/>
          </p:cNvSpPr>
          <p:nvPr/>
        </p:nvSpPr>
        <p:spPr bwMode="auto">
          <a:xfrm>
            <a:off x="3591358" y="1326321"/>
            <a:ext cx="6757987" cy="646331"/>
          </a:xfrm>
          <a:prstGeom prst="rect">
            <a:avLst/>
          </a:prstGeom>
          <a:noFill/>
          <a:ln w="9525" algn="ctr">
            <a:noFill/>
            <a:miter lim="800000"/>
            <a:headEnd/>
            <a:tailEnd/>
          </a:ln>
        </p:spPr>
        <p:txBody>
          <a:bodyPr wrap="square" anchor="ctr">
            <a:spAutoFit/>
          </a:bodyPr>
          <a:lstStyle/>
          <a:p>
            <a:pPr defTabSz="914400" eaLnBrk="0" hangingPunct="0"/>
            <a:r>
              <a:rPr lang="en-US" altLang="zh-CN" sz="3600" b="1" dirty="0">
                <a:solidFill>
                  <a:srgbClr val="0000CC"/>
                </a:solidFill>
                <a:latin typeface="Times New Roman" pitchFamily="18" charset="0"/>
                <a:ea typeface="微软雅黑" pitchFamily="34" charset="-122"/>
              </a:rPr>
              <a:t>2</a:t>
            </a:r>
            <a:r>
              <a:rPr lang="en-US" altLang="zh-CN" sz="3600" b="1" dirty="0" smtClean="0">
                <a:solidFill>
                  <a:srgbClr val="0000CC"/>
                </a:solidFill>
                <a:latin typeface="Times New Roman" pitchFamily="18" charset="0"/>
                <a:ea typeface="微软雅黑" pitchFamily="34" charset="-122"/>
              </a:rPr>
              <a:t>. </a:t>
            </a:r>
            <a:r>
              <a:rPr lang="zh-CN" altLang="en-US" sz="3600" b="1" dirty="0" smtClean="0">
                <a:solidFill>
                  <a:srgbClr val="0000CC"/>
                </a:solidFill>
                <a:latin typeface="Times New Roman" pitchFamily="18" charset="0"/>
                <a:ea typeface="微软雅黑" pitchFamily="34" charset="-122"/>
              </a:rPr>
              <a:t>像</a:t>
            </a:r>
            <a:r>
              <a:rPr lang="zh-CN" altLang="en-US" sz="3600" b="1" dirty="0">
                <a:solidFill>
                  <a:srgbClr val="0000CC"/>
                </a:solidFill>
                <a:latin typeface="Times New Roman" pitchFamily="18" charset="0"/>
                <a:ea typeface="微软雅黑" pitchFamily="34" charset="-122"/>
              </a:rPr>
              <a:t>点轴上偏移检测的光焦点法</a:t>
            </a:r>
            <a:r>
              <a:rPr lang="zh-CN" altLang="en-US" sz="3600" b="1" dirty="0">
                <a:solidFill>
                  <a:srgbClr val="0000CC"/>
                </a:solidFill>
                <a:latin typeface="楷体_GB2312" pitchFamily="49" charset="-122"/>
                <a:ea typeface="楷体_GB2312" pitchFamily="49" charset="-122"/>
              </a:rPr>
              <a:t> </a:t>
            </a:r>
          </a:p>
        </p:txBody>
      </p:sp>
      <p:sp>
        <p:nvSpPr>
          <p:cNvPr id="10" name="文本框 60">
            <a:extLst>
              <a:ext uri="{FF2B5EF4-FFF2-40B4-BE49-F238E27FC236}">
                <a16:creationId xmlns:a16="http://schemas.microsoft.com/office/drawing/2014/main" xmlns="" id="{791D85D7-F412-9C48-9F2B-E33F5B7B4F3C}"/>
              </a:ext>
            </a:extLst>
          </p:cNvPr>
          <p:cNvSpPr txBox="1"/>
          <p:nvPr/>
        </p:nvSpPr>
        <p:spPr>
          <a:xfrm>
            <a:off x="1545506" y="329189"/>
            <a:ext cx="3228375"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几何光学</a:t>
            </a:r>
            <a:r>
              <a:rPr lang="zh-CN" altLang="en-US" sz="1800" b="1" dirty="0">
                <a:latin typeface="微软雅黑" panose="020B0503020204020204" pitchFamily="34" charset="-122"/>
                <a:ea typeface="微软雅黑" panose="020B0503020204020204" pitchFamily="34" charset="-122"/>
              </a:rPr>
              <a:t>方法的光学信息</a:t>
            </a:r>
            <a:r>
              <a:rPr lang="zh-CN" altLang="en-US" sz="1800" b="1" dirty="0" smtClean="0">
                <a:latin typeface="微软雅黑" panose="020B0503020204020204" pitchFamily="34" charset="-122"/>
                <a:ea typeface="微软雅黑" panose="020B0503020204020204" pitchFamily="34" charset="-122"/>
              </a:rPr>
              <a:t>变换</a:t>
            </a:r>
            <a:endParaRPr lang="zh-CN" altLang="en-US" sz="1800" b="1" dirty="0">
              <a:latin typeface="微软雅黑" panose="020B0503020204020204" pitchFamily="34" charset="-122"/>
              <a:ea typeface="微软雅黑" panose="020B0503020204020204" pitchFamily="34" charset="-122"/>
            </a:endParaRPr>
          </a:p>
        </p:txBody>
      </p:sp>
      <p:sp>
        <p:nvSpPr>
          <p:cNvPr id="11" name="矩形 10"/>
          <p:cNvSpPr/>
          <p:nvPr/>
        </p:nvSpPr>
        <p:spPr>
          <a:xfrm>
            <a:off x="10271342" y="329189"/>
            <a:ext cx="1196259"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2" name="矩形 11">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5"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3228375"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7" name="矩形 16">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xmlns="" val="2235200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8185"/>
                                        </p:tgtEl>
                                        <p:attrNameLst>
                                          <p:attrName>style.visibility</p:attrName>
                                        </p:attrNameLst>
                                      </p:cBhvr>
                                      <p:to>
                                        <p:strVal val="visible"/>
                                      </p:to>
                                    </p:set>
                                    <p:animEffect transition="in" filter="blinds(horizontal)">
                                      <p:cBhvr>
                                        <p:cTn id="7" dur="500"/>
                                        <p:tgtEl>
                                          <p:spTgt spid="178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8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0" name="Rectangle 8"/>
          <p:cNvSpPr>
            <a:spLocks noChangeArrowheads="1"/>
          </p:cNvSpPr>
          <p:nvPr/>
        </p:nvSpPr>
        <p:spPr bwMode="auto">
          <a:xfrm>
            <a:off x="182563" y="3157538"/>
            <a:ext cx="184150" cy="519112"/>
          </a:xfrm>
          <a:prstGeom prst="rect">
            <a:avLst/>
          </a:prstGeom>
          <a:noFill/>
          <a:ln w="9525">
            <a:noFill/>
            <a:miter lim="800000"/>
            <a:headEnd/>
            <a:tailEnd/>
          </a:ln>
        </p:spPr>
        <p:txBody>
          <a:bodyPr wrap="none" anchor="ctr">
            <a:spAutoFit/>
          </a:bodyPr>
          <a:lstStyle/>
          <a:p>
            <a:pPr defTabSz="914400"/>
            <a:endParaRPr lang="zh-CN" altLang="en-US" sz="2800" b="1">
              <a:latin typeface="楷体_GB2312" pitchFamily="49" charset="-122"/>
              <a:ea typeface="楷体_GB2312" pitchFamily="49" charset="-122"/>
            </a:endParaRPr>
          </a:p>
        </p:txBody>
      </p:sp>
      <p:graphicFrame>
        <p:nvGraphicFramePr>
          <p:cNvPr id="32781" name="Object 11"/>
          <p:cNvGraphicFramePr>
            <a:graphicFrameLocks noChangeAspect="1"/>
          </p:cNvGraphicFramePr>
          <p:nvPr/>
        </p:nvGraphicFramePr>
        <p:xfrm>
          <a:off x="1283999" y="1278947"/>
          <a:ext cx="6045056" cy="5788202"/>
        </p:xfrm>
        <a:graphic>
          <a:graphicData uri="http://schemas.openxmlformats.org/presentationml/2006/ole">
            <p:oleObj spid="_x0000_s5128" name="Visio" r:id="rId3" imgW="2905125" imgH="2780157" progId="">
              <p:embed/>
            </p:oleObj>
          </a:graphicData>
        </a:graphic>
      </p:graphicFrame>
      <p:sp>
        <p:nvSpPr>
          <p:cNvPr id="10" name="Rectangle 9"/>
          <p:cNvSpPr>
            <a:spLocks noChangeArrowheads="1"/>
          </p:cNvSpPr>
          <p:nvPr/>
        </p:nvSpPr>
        <p:spPr bwMode="auto">
          <a:xfrm>
            <a:off x="8078067" y="2041503"/>
            <a:ext cx="4875933" cy="3785652"/>
          </a:xfrm>
          <a:prstGeom prst="rect">
            <a:avLst/>
          </a:prstGeom>
          <a:noFill/>
          <a:ln w="9525" algn="ctr">
            <a:noFill/>
            <a:miter lim="800000"/>
            <a:headEnd/>
            <a:tailEnd/>
          </a:ln>
        </p:spPr>
        <p:txBody>
          <a:bodyPr wrap="square" anchor="ctr">
            <a:spAutoFit/>
          </a:bodyPr>
          <a:lstStyle/>
          <a:p>
            <a:pPr defTabSz="914400" eaLnBrk="0" hangingPunct="0">
              <a:lnSpc>
                <a:spcPct val="150000"/>
              </a:lnSpc>
            </a:pPr>
            <a:r>
              <a:rPr lang="zh-CN" altLang="en-US" sz="3200" b="1" dirty="0" smtClean="0">
                <a:latin typeface="Times New Roman" pitchFamily="18" charset="0"/>
                <a:ea typeface="微软雅黑" pitchFamily="34" charset="-122"/>
              </a:rPr>
              <a:t>点光源</a:t>
            </a:r>
            <a:r>
              <a:rPr lang="zh-CN" altLang="en-US" sz="3200" b="1" dirty="0">
                <a:latin typeface="Times New Roman" pitchFamily="18" charset="0"/>
                <a:ea typeface="微软雅黑" pitchFamily="34" charset="-122"/>
              </a:rPr>
              <a:t>对被测物体表面照明</a:t>
            </a:r>
            <a:r>
              <a:rPr lang="zh-CN" altLang="en-US" sz="3200" b="1" dirty="0" smtClean="0">
                <a:latin typeface="Times New Roman" pitchFamily="18" charset="0"/>
                <a:ea typeface="微软雅黑" pitchFamily="34" charset="-122"/>
              </a:rPr>
              <a:t>，成像</a:t>
            </a:r>
            <a:r>
              <a:rPr lang="zh-CN" altLang="en-US" sz="3200" b="1" dirty="0">
                <a:latin typeface="Times New Roman" pitchFamily="18" charset="0"/>
                <a:ea typeface="微软雅黑" pitchFamily="34" charset="-122"/>
              </a:rPr>
              <a:t>物镜对该光点成像聚焦。当物体沿光轴方向位移</a:t>
            </a:r>
            <a:r>
              <a:rPr lang="zh-CN" altLang="en-US" sz="3200" b="1">
                <a:latin typeface="Times New Roman" pitchFamily="18" charset="0"/>
                <a:ea typeface="微软雅黑" pitchFamily="34" charset="-122"/>
              </a:rPr>
              <a:t>时</a:t>
            </a:r>
            <a:r>
              <a:rPr lang="zh-CN" altLang="en-US" sz="3200" b="1" smtClean="0">
                <a:latin typeface="Times New Roman" pitchFamily="18" charset="0"/>
                <a:ea typeface="微软雅黑" pitchFamily="34" charset="-122"/>
              </a:rPr>
              <a:t>，像</a:t>
            </a:r>
            <a:r>
              <a:rPr lang="zh-CN" altLang="en-US" sz="3200" b="1" dirty="0" smtClean="0">
                <a:latin typeface="Times New Roman" pitchFamily="18" charset="0"/>
                <a:ea typeface="微软雅黑" pitchFamily="34" charset="-122"/>
              </a:rPr>
              <a:t>面聚焦</a:t>
            </a:r>
            <a:r>
              <a:rPr lang="zh-CN" altLang="en-US" sz="3200" b="1" dirty="0">
                <a:latin typeface="Times New Roman" pitchFamily="18" charset="0"/>
                <a:ea typeface="微软雅黑" pitchFamily="34" charset="-122"/>
              </a:rPr>
              <a:t>光斑</a:t>
            </a:r>
            <a:r>
              <a:rPr lang="zh-CN" altLang="en-US" sz="3200" b="1" dirty="0" smtClean="0">
                <a:latin typeface="Times New Roman" pitchFamily="18" charset="0"/>
                <a:ea typeface="微软雅黑" pitchFamily="34" charset="-122"/>
              </a:rPr>
              <a:t>密度分布发生变化。</a:t>
            </a:r>
            <a:endParaRPr lang="zh-CN" altLang="en-US" sz="3200" b="1" dirty="0">
              <a:latin typeface="Times New Roman" pitchFamily="18" charset="0"/>
              <a:ea typeface="微软雅黑" pitchFamily="34" charset="-122"/>
            </a:endParaRPr>
          </a:p>
        </p:txBody>
      </p:sp>
      <p:sp>
        <p:nvSpPr>
          <p:cNvPr id="11" name="文本框 60">
            <a:extLst>
              <a:ext uri="{FF2B5EF4-FFF2-40B4-BE49-F238E27FC236}">
                <a16:creationId xmlns:a16="http://schemas.microsoft.com/office/drawing/2014/main" xmlns="" id="{791D85D7-F412-9C48-9F2B-E33F5B7B4F3C}"/>
              </a:ext>
            </a:extLst>
          </p:cNvPr>
          <p:cNvSpPr txBox="1"/>
          <p:nvPr/>
        </p:nvSpPr>
        <p:spPr>
          <a:xfrm>
            <a:off x="1545506" y="329189"/>
            <a:ext cx="3228375" cy="369332"/>
          </a:xfrm>
          <a:prstGeom prst="rect">
            <a:avLst/>
          </a:prstGeom>
          <a:noFill/>
          <a:ln w="9525">
            <a:noFill/>
          </a:ln>
        </p:spPr>
        <p:txBody>
          <a:bodyPr wrap="square">
            <a:spAutoFit/>
          </a:bodyPr>
          <a:lstStyle/>
          <a:p>
            <a:r>
              <a:rPr lang="zh-CN" altLang="en-US" sz="1800" b="1" dirty="0" smtClean="0">
                <a:latin typeface="微软雅黑" panose="020B0503020204020204" pitchFamily="34" charset="-122"/>
                <a:ea typeface="微软雅黑" panose="020B0503020204020204" pitchFamily="34" charset="-122"/>
              </a:rPr>
              <a:t>几何光学</a:t>
            </a:r>
            <a:r>
              <a:rPr lang="zh-CN" altLang="en-US" sz="1800" b="1" dirty="0">
                <a:latin typeface="微软雅黑" panose="020B0503020204020204" pitchFamily="34" charset="-122"/>
                <a:ea typeface="微软雅黑" panose="020B0503020204020204" pitchFamily="34" charset="-122"/>
              </a:rPr>
              <a:t>方法的光学信息</a:t>
            </a:r>
            <a:r>
              <a:rPr lang="zh-CN" altLang="en-US" sz="1800" b="1" dirty="0" smtClean="0">
                <a:latin typeface="微软雅黑" panose="020B0503020204020204" pitchFamily="34" charset="-122"/>
                <a:ea typeface="微软雅黑" panose="020B0503020204020204" pitchFamily="34" charset="-122"/>
              </a:rPr>
              <a:t>变换</a:t>
            </a:r>
            <a:endParaRPr lang="zh-CN" altLang="en-US" sz="1800" b="1" dirty="0">
              <a:latin typeface="微软雅黑" panose="020B0503020204020204" pitchFamily="34" charset="-122"/>
              <a:ea typeface="微软雅黑" panose="020B0503020204020204" pitchFamily="34" charset="-122"/>
            </a:endParaRPr>
          </a:p>
        </p:txBody>
      </p:sp>
      <p:sp>
        <p:nvSpPr>
          <p:cNvPr id="12" name="矩形 11"/>
          <p:cNvSpPr/>
          <p:nvPr/>
        </p:nvSpPr>
        <p:spPr>
          <a:xfrm>
            <a:off x="10258816" y="329189"/>
            <a:ext cx="1208785" cy="451406"/>
          </a:xfrm>
          <a:prstGeom prst="rect">
            <a:avLst/>
          </a:prstGeom>
          <a:noFill/>
        </p:spPr>
        <p:txBody>
          <a:bodyPr wrap="square" lIns="91440" tIns="45720" rIns="91440" bIns="45720">
            <a:spAutoFit/>
          </a:bodyPr>
          <a:lstStyle/>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Photoelectric</a:t>
            </a:r>
          </a:p>
          <a:p>
            <a:pPr>
              <a:lnSpc>
                <a:spcPts val="1400"/>
              </a:lnSpc>
            </a:pPr>
            <a:r>
              <a:rPr lang="en-US" altLang="zh-CN" sz="1100" b="1" spc="50" dirty="0">
                <a:latin typeface="冬青黑体简体中文 W6"/>
                <a:ea typeface="冬青黑体简体中文 W6" panose="020B0600000000000000" pitchFamily="34" charset="-122"/>
                <a:cs typeface="Times New Roman" panose="02020603050405020304" pitchFamily="18" charset="0"/>
              </a:rPr>
              <a:t>Technology</a:t>
            </a:r>
            <a:endParaRPr lang="zh-CN" altLang="en-US" sz="1100" b="1" spc="50" dirty="0">
              <a:ln w="22225">
                <a:solidFill>
                  <a:schemeClr val="accent2"/>
                </a:solidFill>
                <a:prstDash val="solid"/>
              </a:ln>
              <a:latin typeface="冬青黑体简体中文 W6"/>
              <a:ea typeface="冬青黑体简体中文 W6" panose="020B0600000000000000" pitchFamily="34" charset="-122"/>
              <a:cs typeface="Times New Roman" panose="02020603050405020304" pitchFamily="18" charset="0"/>
            </a:endParaRPr>
          </a:p>
        </p:txBody>
      </p:sp>
      <p:sp>
        <p:nvSpPr>
          <p:cNvPr id="13" name="矩形 12">
            <a:extLst>
              <a:ext uri="{FF2B5EF4-FFF2-40B4-BE49-F238E27FC236}">
                <a16:creationId xmlns:a16="http://schemas.microsoft.com/office/drawing/2014/main" xmlns="" id="{B0EA110F-2BA5-44F1-BDF2-A8AD51CC83F5}"/>
              </a:ext>
            </a:extLst>
          </p:cNvPr>
          <p:cNvSpPr/>
          <p:nvPr/>
        </p:nvSpPr>
        <p:spPr>
          <a:xfrm>
            <a:off x="12993723" y="361950"/>
            <a:ext cx="167523" cy="412649"/>
          </a:xfrm>
          <a:prstGeom prst="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圆角 25">
            <a:extLst>
              <a:ext uri="{FF2B5EF4-FFF2-40B4-BE49-F238E27FC236}">
                <a16:creationId xmlns:a16="http://schemas.microsoft.com/office/drawing/2014/main" xmlns="" id="{D7400AB1-4BEC-40E5-A53B-E3CB1F48EB8A}"/>
              </a:ext>
            </a:extLst>
          </p:cNvPr>
          <p:cNvSpPr/>
          <p:nvPr/>
        </p:nvSpPr>
        <p:spPr>
          <a:xfrm>
            <a:off x="432517" y="293282"/>
            <a:ext cx="1017989" cy="481317"/>
          </a:xfrm>
          <a:prstGeom prst="roundRect">
            <a:avLst/>
          </a:prstGeom>
          <a:gradFill>
            <a:gsLst>
              <a:gs pos="0">
                <a:srgbClr val="0066FF"/>
              </a:gs>
              <a:gs pos="100000">
                <a:schemeClr val="accent1">
                  <a:lumMod val="10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800"/>
              </a:spcBef>
            </a:pPr>
            <a:r>
              <a:rPr kumimoji="1" lang="en-US" altLang="zh-CN" sz="2800" b="1" dirty="0" smtClean="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rPr>
              <a:t>8.1.2</a:t>
            </a:r>
            <a:endParaRPr kumimoji="1" lang="zh-CN" altLang="en-US" sz="2800" b="1" dirty="0">
              <a:solidFill>
                <a:schemeClr val="bg1"/>
              </a:solidFill>
              <a:latin typeface="Times New Roman" panose="02020603050405020304" pitchFamily="18" charset="0"/>
              <a:ea typeface="Microsoft YaHei" panose="020B0503020204020204" pitchFamily="34" charset="-122"/>
              <a:cs typeface="Times New Roman" panose="02020603050405020304" pitchFamily="18" charset="0"/>
            </a:endParaRPr>
          </a:p>
        </p:txBody>
      </p:sp>
      <p:cxnSp>
        <p:nvCxnSpPr>
          <p:cNvPr id="15" name="直接连接符 58">
            <a:extLst>
              <a:ext uri="{FF2B5EF4-FFF2-40B4-BE49-F238E27FC236}">
                <a16:creationId xmlns:a16="http://schemas.microsoft.com/office/drawing/2014/main" xmlns="" id="{8C5F82EF-52B4-4531-96F0-44689EA1125E}"/>
              </a:ext>
            </a:extLst>
          </p:cNvPr>
          <p:cNvCxnSpPr>
            <a:cxnSpLocks/>
          </p:cNvCxnSpPr>
          <p:nvPr/>
        </p:nvCxnSpPr>
        <p:spPr>
          <a:xfrm flipV="1">
            <a:off x="1545506" y="698521"/>
            <a:ext cx="3228375" cy="12478"/>
          </a:xfrm>
          <a:prstGeom prst="line">
            <a:avLst/>
          </a:prstGeom>
          <a:ln w="19050" cmpd="dbl">
            <a:solidFill>
              <a:srgbClr val="3366FF">
                <a:alpha val="70000"/>
              </a:srgbClr>
            </a:solidFill>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xmlns="" id="{82FE0EE3-DD34-4ECD-AB99-E9089285A34C}"/>
              </a:ext>
            </a:extLst>
          </p:cNvPr>
          <p:cNvSpPr/>
          <p:nvPr/>
        </p:nvSpPr>
        <p:spPr>
          <a:xfrm>
            <a:off x="11251918" y="293282"/>
            <a:ext cx="1741805" cy="523220"/>
          </a:xfrm>
          <a:prstGeom prst="rect">
            <a:avLst/>
          </a:prstGeom>
          <a:noFill/>
        </p:spPr>
        <p:txBody>
          <a:bodyPr wrap="square" lIns="91440" tIns="45720" rIns="91440" bIns="45720">
            <a:spAutoFit/>
          </a:bodyPr>
          <a:lstStyle/>
          <a:p>
            <a:pPr algn="r"/>
            <a:r>
              <a:rPr lang="zh-CN" altLang="en-US" sz="2800" spc="20" dirty="0">
                <a:latin typeface="冬青黑体简体中文 W6" panose="020B0600000000000000" pitchFamily="34" charset="-122"/>
                <a:ea typeface="冬青黑体简体中文 W6" panose="020B0600000000000000" pitchFamily="34" charset="-122"/>
                <a:cs typeface="阿里巴巴普惠体 R" panose="00020600040101010101" pitchFamily="18" charset="-122"/>
              </a:rPr>
              <a:t>光电技术</a:t>
            </a:r>
          </a:p>
        </p:txBody>
      </p:sp>
      <p:sp>
        <p:nvSpPr>
          <p:cNvPr id="17" name="矩形 16">
            <a:extLst>
              <a:ext uri="{FF2B5EF4-FFF2-40B4-BE49-F238E27FC236}">
                <a16:creationId xmlns:a16="http://schemas.microsoft.com/office/drawing/2014/main" xmlns="" id="{942CFC6A-A6DB-0F43-9829-C9244014588C}"/>
              </a:ext>
            </a:extLst>
          </p:cNvPr>
          <p:cNvSpPr/>
          <p:nvPr/>
        </p:nvSpPr>
        <p:spPr>
          <a:xfrm flipV="1">
            <a:off x="0" y="7589506"/>
            <a:ext cx="10141249" cy="125744"/>
          </a:xfrm>
          <a:prstGeom prst="rect">
            <a:avLst/>
          </a:prstGeom>
          <a:gradFill flip="none" rotWithShape="1">
            <a:gsLst>
              <a:gs pos="0">
                <a:srgbClr val="1271FE"/>
              </a:gs>
              <a:gs pos="45000">
                <a:srgbClr val="6895F3"/>
              </a:gs>
              <a:gs pos="9000">
                <a:srgbClr val="3366FF"/>
              </a:gs>
              <a:gs pos="100000">
                <a:schemeClr val="accent1">
                  <a:lumMod val="60000"/>
                  <a:lumOff val="4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400"/>
          </a:p>
        </p:txBody>
      </p:sp>
    </p:spTree>
    <p:extLst>
      <p:ext uri="{BB962C8B-B14F-4D97-AF65-F5344CB8AC3E}">
        <p14:creationId xmlns:p14="http://schemas.microsoft.com/office/powerpoint/2010/main" xmlns="" val="354142088"/>
      </p:ext>
    </p:extLst>
  </p:cSld>
  <p:clrMapOvr>
    <a:masterClrMapping/>
  </p:clrMapOvr>
  <p:timing>
    <p:tnLst>
      <p:par>
        <p:cTn id="1" dur="indefinite" restart="never" nodeType="tmRoot"/>
      </p:par>
    </p:tnLst>
  </p:timing>
</p:sld>
</file>

<file path=ppt/theme/theme1.xml><?xml version="1.0" encoding="utf-8"?>
<a:theme xmlns:a="http://schemas.openxmlformats.org/drawingml/2006/main" name="光电技术模板-2015-6-18">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Phoenix</Template>
  <TotalTime>1331</TotalTime>
  <Words>621</Words>
  <Application>Microsoft Office PowerPoint</Application>
  <PresentationFormat>自定义</PresentationFormat>
  <Paragraphs>272</Paragraphs>
  <Slides>20</Slides>
  <Notes>0</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20</vt:i4>
      </vt:variant>
    </vt:vector>
  </HeadingPairs>
  <TitlesOfParts>
    <vt:vector size="23" baseType="lpstr">
      <vt:lpstr>光电技术模板-2015-6-18</vt:lpstr>
      <vt:lpstr>Visio</vt:lpstr>
      <vt:lpstr>公式</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vector>
  </TitlesOfParts>
  <Company>微软中国</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微软用户</dc:creator>
  <cp:lastModifiedBy>yyp</cp:lastModifiedBy>
  <cp:revision>95</cp:revision>
  <dcterms:created xsi:type="dcterms:W3CDTF">2015-06-18T01:42:52Z</dcterms:created>
  <dcterms:modified xsi:type="dcterms:W3CDTF">2022-05-02T02:43:45Z</dcterms:modified>
</cp:coreProperties>
</file>