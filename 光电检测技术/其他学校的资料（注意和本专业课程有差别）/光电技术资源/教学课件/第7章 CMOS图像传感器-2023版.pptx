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8" r:id="rId5"/>
    <p:sldId id="279" r:id="rId6"/>
    <p:sldId id="316" r:id="rId7"/>
    <p:sldId id="281" r:id="rId8"/>
    <p:sldId id="282" r:id="rId9"/>
    <p:sldId id="283" r:id="rId10"/>
    <p:sldId id="284" r:id="rId11"/>
    <p:sldId id="285" r:id="rId12"/>
    <p:sldId id="286" r:id="rId13"/>
    <p:sldId id="307" r:id="rId14"/>
    <p:sldId id="288" r:id="rId15"/>
    <p:sldId id="289" r:id="rId16"/>
    <p:sldId id="290" r:id="rId17"/>
    <p:sldId id="308" r:id="rId18"/>
    <p:sldId id="309" r:id="rId19"/>
    <p:sldId id="310" r:id="rId20"/>
    <p:sldId id="312" r:id="rId21"/>
    <p:sldId id="315" r:id="rId22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CC99"/>
    <a:srgbClr val="FF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02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-912" y="-96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6D1D7A-BAA5-4F62-A509-749646397754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3103F43-A752-4D98-A7BA-DFA36D334E6A}">
      <dgm:prSet phldrT="[文本]" custT="1"/>
      <dgm:spPr>
        <a:solidFill>
          <a:srgbClr val="0000CC"/>
        </a:solidFill>
      </dgm:spPr>
      <dgm:t>
        <a:bodyPr/>
        <a:lstStyle/>
        <a:p>
          <a:r>
            <a:rPr lang="en-US" altLang="zh-CN" sz="18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CMOS</a:t>
          </a:r>
          <a:endParaRPr lang="zh-CN" altLang="en-US" sz="1800" b="1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A51D9FE2-C202-4EB9-A080-3083D6108069}" type="parTrans" cxnId="{FEE6F100-1BBC-42C0-B62A-08BA88F9A576}">
      <dgm:prSet/>
      <dgm:spPr/>
      <dgm:t>
        <a:bodyPr/>
        <a:lstStyle/>
        <a:p>
          <a:endParaRPr lang="zh-CN" altLang="en-US"/>
        </a:p>
      </dgm:t>
    </dgm:pt>
    <dgm:pt modelId="{C277E649-269D-49B4-95A4-2FAA4FD53F03}" type="sibTrans" cxnId="{FEE6F100-1BBC-42C0-B62A-08BA88F9A576}">
      <dgm:prSet/>
      <dgm:spPr/>
      <dgm:t>
        <a:bodyPr/>
        <a:lstStyle/>
        <a:p>
          <a:endParaRPr lang="zh-CN" altLang="en-US"/>
        </a:p>
      </dgm:t>
    </dgm:pt>
    <dgm:pt modelId="{E9A209CE-F0BB-4B96-A403-CF4288583C3E}">
      <dgm:prSet phldrT="[文本]" custT="1"/>
      <dgm:spPr>
        <a:solidFill>
          <a:srgbClr val="FFFF00"/>
        </a:solidFill>
      </dgm:spPr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光敏元件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7E104206-F081-442C-B168-9694EDE58F36}" type="parTrans" cxnId="{AAF1FCA3-5F03-4EE2-B7D4-87EB5F570894}">
      <dgm:prSet/>
      <dgm:spPr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</dgm:spPr>
      <dgm:t>
        <a:bodyPr/>
        <a:lstStyle/>
        <a:p>
          <a:endParaRPr lang="zh-CN" altLang="en-US"/>
        </a:p>
      </dgm:t>
    </dgm:pt>
    <dgm:pt modelId="{97A899B6-3546-4A95-A374-76184AD0236D}" type="sibTrans" cxnId="{AAF1FCA3-5F03-4EE2-B7D4-87EB5F570894}">
      <dgm:prSet/>
      <dgm:spPr/>
      <dgm:t>
        <a:bodyPr/>
        <a:lstStyle/>
        <a:p>
          <a:endParaRPr lang="zh-CN" altLang="en-US"/>
        </a:p>
      </dgm:t>
    </dgm:pt>
    <dgm:pt modelId="{61D29C2C-48E5-486A-A2FE-866A28A5D64D}">
      <dgm:prSet phldrT="[文本]" custT="1"/>
      <dgm:spPr>
        <a:solidFill>
          <a:srgbClr val="FFC000"/>
        </a:solidFill>
      </dgm:spPr>
      <dgm:t>
        <a:bodyPr/>
        <a:lstStyle/>
        <a:p>
          <a:r>
            <a:rPr lang="zh-CN" altLang="en-US" sz="18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放大器</a:t>
          </a:r>
          <a:endParaRPr lang="zh-CN" altLang="en-US" sz="1800" b="1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3D99D9C4-4C28-4C4B-ACA9-B3CE915DA8A3}" type="parTrans" cxnId="{402193B4-22A1-4B42-AF8B-F098BDB3C86D}">
      <dgm:prSet/>
      <dgm:spPr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</dgm:spPr>
      <dgm:t>
        <a:bodyPr/>
        <a:lstStyle/>
        <a:p>
          <a:endParaRPr lang="zh-CN" altLang="en-US"/>
        </a:p>
      </dgm:t>
    </dgm:pt>
    <dgm:pt modelId="{5B67F70B-EB97-458E-8DA4-75739398A0D4}" type="sibTrans" cxnId="{402193B4-22A1-4B42-AF8B-F098BDB3C86D}">
      <dgm:prSet/>
      <dgm:spPr/>
      <dgm:t>
        <a:bodyPr/>
        <a:lstStyle/>
        <a:p>
          <a:endParaRPr lang="zh-CN" altLang="en-US"/>
        </a:p>
      </dgm:t>
    </dgm:pt>
    <dgm:pt modelId="{D4CD908D-8F78-4135-831C-40BE0400ECAF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altLang="zh-CN" sz="20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A/D</a:t>
          </a:r>
        </a:p>
        <a:p>
          <a:r>
            <a:rPr lang="zh-CN" altLang="en-US" sz="20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转换</a:t>
          </a:r>
          <a:endParaRPr lang="zh-CN" altLang="en-US" sz="2000" b="1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26AEE3E4-CEB7-4CCF-9672-5352A59E9E2F}" type="parTrans" cxnId="{38A4A98B-C51F-42BF-920F-01A0D338EE30}">
      <dgm:prSet/>
      <dgm:spPr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</dgm:spPr>
      <dgm:t>
        <a:bodyPr/>
        <a:lstStyle/>
        <a:p>
          <a:endParaRPr lang="zh-CN" altLang="en-US"/>
        </a:p>
      </dgm:t>
    </dgm:pt>
    <dgm:pt modelId="{67FDF04A-E53E-423A-A153-1FAA96F59827}" type="sibTrans" cxnId="{38A4A98B-C51F-42BF-920F-01A0D338EE30}">
      <dgm:prSet/>
      <dgm:spPr/>
      <dgm:t>
        <a:bodyPr/>
        <a:lstStyle/>
        <a:p>
          <a:endParaRPr lang="zh-CN" altLang="en-US"/>
        </a:p>
      </dgm:t>
    </dgm:pt>
    <dgm:pt modelId="{90E22291-3743-4ABA-A0C1-593AF43AFC3E}">
      <dgm:prSet phldrT="[文本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zh-CN" altLang="en-US" sz="18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数字信号处理</a:t>
          </a:r>
          <a:endParaRPr lang="zh-CN" altLang="en-US" sz="1800" b="1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128A4B26-5614-4E7E-85FE-ED029390C7FB}" type="parTrans" cxnId="{DB319A83-5E4C-497E-AE57-EF5AD48C6828}">
      <dgm:prSet/>
      <dgm:spPr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</dgm:spPr>
      <dgm:t>
        <a:bodyPr/>
        <a:lstStyle/>
        <a:p>
          <a:endParaRPr lang="zh-CN" altLang="en-US"/>
        </a:p>
      </dgm:t>
    </dgm:pt>
    <dgm:pt modelId="{6A61D3C1-1AEE-4549-BB1C-AFEFDC064C4C}" type="sibTrans" cxnId="{DB319A83-5E4C-497E-AE57-EF5AD48C6828}">
      <dgm:prSet/>
      <dgm:spPr/>
      <dgm:t>
        <a:bodyPr/>
        <a:lstStyle/>
        <a:p>
          <a:endParaRPr lang="zh-CN" altLang="en-US"/>
        </a:p>
      </dgm:t>
    </dgm:pt>
    <dgm:pt modelId="{42B5AEA7-CE1A-43EA-BC77-4A1CE071D253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8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存储器</a:t>
          </a:r>
          <a:endParaRPr lang="zh-CN" altLang="en-US" sz="1800" b="1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6FCB3F1B-00D9-4C17-8EC3-1061F475877D}" type="parTrans" cxnId="{E98EB228-36B4-4FBC-B641-F067D17E0A62}">
      <dgm:prSet/>
      <dgm:spPr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</dgm:spPr>
      <dgm:t>
        <a:bodyPr/>
        <a:lstStyle/>
        <a:p>
          <a:endParaRPr lang="zh-CN" altLang="en-US"/>
        </a:p>
      </dgm:t>
    </dgm:pt>
    <dgm:pt modelId="{80B1480E-852E-4F49-BE7F-447E5F8D391E}" type="sibTrans" cxnId="{E98EB228-36B4-4FBC-B641-F067D17E0A62}">
      <dgm:prSet/>
      <dgm:spPr/>
      <dgm:t>
        <a:bodyPr/>
        <a:lstStyle/>
        <a:p>
          <a:endParaRPr lang="zh-CN" altLang="en-US"/>
        </a:p>
      </dgm:t>
    </dgm:pt>
    <dgm:pt modelId="{A73185D4-5632-47E7-AAEB-161B2F7F59A9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zh-CN" altLang="en-US" sz="1800" b="1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计算机接口</a:t>
          </a:r>
          <a:endParaRPr lang="zh-CN" altLang="en-US" sz="1800" b="1" dirty="0">
            <a:solidFill>
              <a:srgbClr val="0000CC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4632AA78-7708-4DE5-9F42-2E3606E5F707}" type="parTrans" cxnId="{D4FDD92B-E888-4F4C-B1AF-7801A2B9E919}">
      <dgm:prSet/>
      <dgm:spPr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</dgm:spPr>
      <dgm:t>
        <a:bodyPr/>
        <a:lstStyle/>
        <a:p>
          <a:endParaRPr lang="zh-CN" altLang="en-US"/>
        </a:p>
      </dgm:t>
    </dgm:pt>
    <dgm:pt modelId="{3E2DBE3C-52BE-48F4-AAFB-B531B03BB0EE}" type="sibTrans" cxnId="{D4FDD92B-E888-4F4C-B1AF-7801A2B9E919}">
      <dgm:prSet/>
      <dgm:spPr/>
      <dgm:t>
        <a:bodyPr/>
        <a:lstStyle/>
        <a:p>
          <a:endParaRPr lang="zh-CN" altLang="en-US"/>
        </a:p>
      </dgm:t>
    </dgm:pt>
    <dgm:pt modelId="{B694A573-BFBF-43A6-AB11-8485174AC1F9}" type="pres">
      <dgm:prSet presAssocID="{166D1D7A-BAA5-4F62-A509-749646397754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6EB8CD1-7F75-479D-9E2D-4B638261D001}" type="pres">
      <dgm:prSet presAssocID="{13103F43-A752-4D98-A7BA-DFA36D334E6A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E03EEA43-87D0-4E22-9BCE-DC350D094524}" type="pres">
      <dgm:prSet presAssocID="{7E104206-F081-442C-B168-9694EDE58F36}" presName="parTrans" presStyleLbl="sibTrans2D1" presStyleIdx="0" presStyleCnt="6"/>
      <dgm:spPr/>
      <dgm:t>
        <a:bodyPr/>
        <a:lstStyle/>
        <a:p>
          <a:endParaRPr lang="zh-CN" altLang="en-US"/>
        </a:p>
      </dgm:t>
    </dgm:pt>
    <dgm:pt modelId="{D56DE707-8498-4298-8501-DEBDC3B9D720}" type="pres">
      <dgm:prSet presAssocID="{7E104206-F081-442C-B168-9694EDE58F36}" presName="connectorText" presStyleLbl="sibTrans2D1" presStyleIdx="0" presStyleCnt="6"/>
      <dgm:spPr/>
      <dgm:t>
        <a:bodyPr/>
        <a:lstStyle/>
        <a:p>
          <a:endParaRPr lang="zh-CN" altLang="en-US"/>
        </a:p>
      </dgm:t>
    </dgm:pt>
    <dgm:pt modelId="{22F1A13D-7834-44E9-A58F-5880F06327CA}" type="pres">
      <dgm:prSet presAssocID="{E9A209CE-F0BB-4B96-A403-CF4288583C3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B57655-7C0E-43EE-9A46-2AB373A8FE92}" type="pres">
      <dgm:prSet presAssocID="{3D99D9C4-4C28-4C4B-ACA9-B3CE915DA8A3}" presName="parTrans" presStyleLbl="sibTrans2D1" presStyleIdx="1" presStyleCnt="6"/>
      <dgm:spPr/>
      <dgm:t>
        <a:bodyPr/>
        <a:lstStyle/>
        <a:p>
          <a:endParaRPr lang="zh-CN" altLang="en-US"/>
        </a:p>
      </dgm:t>
    </dgm:pt>
    <dgm:pt modelId="{20B85677-D7BA-4DEB-8A2C-4E405B420F6A}" type="pres">
      <dgm:prSet presAssocID="{3D99D9C4-4C28-4C4B-ACA9-B3CE915DA8A3}" presName="connectorText" presStyleLbl="sibTrans2D1" presStyleIdx="1" presStyleCnt="6"/>
      <dgm:spPr/>
      <dgm:t>
        <a:bodyPr/>
        <a:lstStyle/>
        <a:p>
          <a:endParaRPr lang="zh-CN" altLang="en-US"/>
        </a:p>
      </dgm:t>
    </dgm:pt>
    <dgm:pt modelId="{68EE3782-4263-4089-8D05-C13A9AF8EE92}" type="pres">
      <dgm:prSet presAssocID="{61D29C2C-48E5-486A-A2FE-866A28A5D64D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291582-F1A9-4503-89D5-FB3BC30A9039}" type="pres">
      <dgm:prSet presAssocID="{26AEE3E4-CEB7-4CCF-9672-5352A59E9E2F}" presName="parTrans" presStyleLbl="sibTrans2D1" presStyleIdx="2" presStyleCnt="6"/>
      <dgm:spPr/>
      <dgm:t>
        <a:bodyPr/>
        <a:lstStyle/>
        <a:p>
          <a:endParaRPr lang="zh-CN" altLang="en-US"/>
        </a:p>
      </dgm:t>
    </dgm:pt>
    <dgm:pt modelId="{762C64FB-EA1D-4CD6-9520-A01A28EBBEEC}" type="pres">
      <dgm:prSet presAssocID="{26AEE3E4-CEB7-4CCF-9672-5352A59E9E2F}" presName="connectorText" presStyleLbl="sibTrans2D1" presStyleIdx="2" presStyleCnt="6"/>
      <dgm:spPr/>
      <dgm:t>
        <a:bodyPr/>
        <a:lstStyle/>
        <a:p>
          <a:endParaRPr lang="zh-CN" altLang="en-US"/>
        </a:p>
      </dgm:t>
    </dgm:pt>
    <dgm:pt modelId="{5C0160D2-B689-4929-9A91-3B2139860509}" type="pres">
      <dgm:prSet presAssocID="{D4CD908D-8F78-4135-831C-40BE0400ECAF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2B4998E-FF47-4983-883B-D9089DB73544}" type="pres">
      <dgm:prSet presAssocID="{128A4B26-5614-4E7E-85FE-ED029390C7FB}" presName="parTrans" presStyleLbl="sibTrans2D1" presStyleIdx="3" presStyleCnt="6"/>
      <dgm:spPr/>
      <dgm:t>
        <a:bodyPr/>
        <a:lstStyle/>
        <a:p>
          <a:endParaRPr lang="zh-CN" altLang="en-US"/>
        </a:p>
      </dgm:t>
    </dgm:pt>
    <dgm:pt modelId="{EED29165-2E76-475B-BE6D-93FF45920D20}" type="pres">
      <dgm:prSet presAssocID="{128A4B26-5614-4E7E-85FE-ED029390C7FB}" presName="connectorText" presStyleLbl="sibTrans2D1" presStyleIdx="3" presStyleCnt="6"/>
      <dgm:spPr/>
      <dgm:t>
        <a:bodyPr/>
        <a:lstStyle/>
        <a:p>
          <a:endParaRPr lang="zh-CN" altLang="en-US"/>
        </a:p>
      </dgm:t>
    </dgm:pt>
    <dgm:pt modelId="{7F5CEAAE-F5AD-4949-84CF-9640CE7F1E0B}" type="pres">
      <dgm:prSet presAssocID="{90E22291-3743-4ABA-A0C1-593AF43AFC3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C66B591-99F7-426C-927A-2913A9F46E43}" type="pres">
      <dgm:prSet presAssocID="{6FCB3F1B-00D9-4C17-8EC3-1061F475877D}" presName="parTrans" presStyleLbl="sibTrans2D1" presStyleIdx="4" presStyleCnt="6"/>
      <dgm:spPr/>
      <dgm:t>
        <a:bodyPr/>
        <a:lstStyle/>
        <a:p>
          <a:endParaRPr lang="zh-CN" altLang="en-US"/>
        </a:p>
      </dgm:t>
    </dgm:pt>
    <dgm:pt modelId="{B362F3B9-E813-4C6D-A91E-F77E646BC710}" type="pres">
      <dgm:prSet presAssocID="{6FCB3F1B-00D9-4C17-8EC3-1061F475877D}" presName="connectorText" presStyleLbl="sibTrans2D1" presStyleIdx="4" presStyleCnt="6"/>
      <dgm:spPr/>
      <dgm:t>
        <a:bodyPr/>
        <a:lstStyle/>
        <a:p>
          <a:endParaRPr lang="zh-CN" altLang="en-US"/>
        </a:p>
      </dgm:t>
    </dgm:pt>
    <dgm:pt modelId="{64FB28DA-4129-43A0-8EC0-5A4002AA158A}" type="pres">
      <dgm:prSet presAssocID="{42B5AEA7-CE1A-43EA-BC77-4A1CE071D253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1C0BFA-EB0C-4F6B-A822-FC75FA7A083E}" type="pres">
      <dgm:prSet presAssocID="{4632AA78-7708-4DE5-9F42-2E3606E5F707}" presName="parTrans" presStyleLbl="sibTrans2D1" presStyleIdx="5" presStyleCnt="6"/>
      <dgm:spPr/>
      <dgm:t>
        <a:bodyPr/>
        <a:lstStyle/>
        <a:p>
          <a:endParaRPr lang="zh-CN" altLang="en-US"/>
        </a:p>
      </dgm:t>
    </dgm:pt>
    <dgm:pt modelId="{4F53EAE2-8954-46AE-A305-B92EFB0AEE91}" type="pres">
      <dgm:prSet presAssocID="{4632AA78-7708-4DE5-9F42-2E3606E5F707}" presName="connectorText" presStyleLbl="sibTrans2D1" presStyleIdx="5" presStyleCnt="6"/>
      <dgm:spPr/>
      <dgm:t>
        <a:bodyPr/>
        <a:lstStyle/>
        <a:p>
          <a:endParaRPr lang="zh-CN" altLang="en-US"/>
        </a:p>
      </dgm:t>
    </dgm:pt>
    <dgm:pt modelId="{72C78DB3-46FC-45D9-9B31-E6BF6F0A9179}" type="pres">
      <dgm:prSet presAssocID="{A73185D4-5632-47E7-AAEB-161B2F7F59A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CEFBE66-ADE1-4021-A4B1-912FF217FF3B}" type="presOf" srcId="{166D1D7A-BAA5-4F62-A509-749646397754}" destId="{B694A573-BFBF-43A6-AB11-8485174AC1F9}" srcOrd="0" destOrd="0" presId="urn:microsoft.com/office/officeart/2005/8/layout/radial5"/>
    <dgm:cxn modelId="{FBD7D9EA-5538-41E3-B2A0-30BEC60C6B3A}" type="presOf" srcId="{6FCB3F1B-00D9-4C17-8EC3-1061F475877D}" destId="{B362F3B9-E813-4C6D-A91E-F77E646BC710}" srcOrd="1" destOrd="0" presId="urn:microsoft.com/office/officeart/2005/8/layout/radial5"/>
    <dgm:cxn modelId="{8B4D60B4-DF4F-41A4-8C3A-CA89013632C8}" type="presOf" srcId="{A73185D4-5632-47E7-AAEB-161B2F7F59A9}" destId="{72C78DB3-46FC-45D9-9B31-E6BF6F0A9179}" srcOrd="0" destOrd="0" presId="urn:microsoft.com/office/officeart/2005/8/layout/radial5"/>
    <dgm:cxn modelId="{F3979C14-693B-4D06-8BAD-616F98C30603}" type="presOf" srcId="{3D99D9C4-4C28-4C4B-ACA9-B3CE915DA8A3}" destId="{5EB57655-7C0E-43EE-9A46-2AB373A8FE92}" srcOrd="0" destOrd="0" presId="urn:microsoft.com/office/officeart/2005/8/layout/radial5"/>
    <dgm:cxn modelId="{EA7CE242-2791-4B18-AE6F-3C9AA64330C4}" type="presOf" srcId="{26AEE3E4-CEB7-4CCF-9672-5352A59E9E2F}" destId="{F9291582-F1A9-4503-89D5-FB3BC30A9039}" srcOrd="0" destOrd="0" presId="urn:microsoft.com/office/officeart/2005/8/layout/radial5"/>
    <dgm:cxn modelId="{C0632C84-BA30-41D3-9380-0799515CE72D}" type="presOf" srcId="{90E22291-3743-4ABA-A0C1-593AF43AFC3E}" destId="{7F5CEAAE-F5AD-4949-84CF-9640CE7F1E0B}" srcOrd="0" destOrd="0" presId="urn:microsoft.com/office/officeart/2005/8/layout/radial5"/>
    <dgm:cxn modelId="{8E46E8E2-44CB-4663-988C-191A5C8F7BCE}" type="presOf" srcId="{3D99D9C4-4C28-4C4B-ACA9-B3CE915DA8A3}" destId="{20B85677-D7BA-4DEB-8A2C-4E405B420F6A}" srcOrd="1" destOrd="0" presId="urn:microsoft.com/office/officeart/2005/8/layout/radial5"/>
    <dgm:cxn modelId="{D4FDD92B-E888-4F4C-B1AF-7801A2B9E919}" srcId="{13103F43-A752-4D98-A7BA-DFA36D334E6A}" destId="{A73185D4-5632-47E7-AAEB-161B2F7F59A9}" srcOrd="5" destOrd="0" parTransId="{4632AA78-7708-4DE5-9F42-2E3606E5F707}" sibTransId="{3E2DBE3C-52BE-48F4-AAFB-B531B03BB0EE}"/>
    <dgm:cxn modelId="{9B8B56A8-2306-4B0F-B322-CCCC33A72073}" type="presOf" srcId="{7E104206-F081-442C-B168-9694EDE58F36}" destId="{D56DE707-8498-4298-8501-DEBDC3B9D720}" srcOrd="1" destOrd="0" presId="urn:microsoft.com/office/officeart/2005/8/layout/radial5"/>
    <dgm:cxn modelId="{818B7DF3-2D1C-4264-BDF6-B3CA2E41E3DE}" type="presOf" srcId="{7E104206-F081-442C-B168-9694EDE58F36}" destId="{E03EEA43-87D0-4E22-9BCE-DC350D094524}" srcOrd="0" destOrd="0" presId="urn:microsoft.com/office/officeart/2005/8/layout/radial5"/>
    <dgm:cxn modelId="{483C6351-AA83-44DE-B2EB-F429CD8D503F}" type="presOf" srcId="{128A4B26-5614-4E7E-85FE-ED029390C7FB}" destId="{72B4998E-FF47-4983-883B-D9089DB73544}" srcOrd="0" destOrd="0" presId="urn:microsoft.com/office/officeart/2005/8/layout/radial5"/>
    <dgm:cxn modelId="{3F8A953A-308A-4F6A-8A3C-B24C65EE9380}" type="presOf" srcId="{6FCB3F1B-00D9-4C17-8EC3-1061F475877D}" destId="{1C66B591-99F7-426C-927A-2913A9F46E43}" srcOrd="0" destOrd="0" presId="urn:microsoft.com/office/officeart/2005/8/layout/radial5"/>
    <dgm:cxn modelId="{2D894224-A443-4570-9DD1-E9CE1017FA95}" type="presOf" srcId="{26AEE3E4-CEB7-4CCF-9672-5352A59E9E2F}" destId="{762C64FB-EA1D-4CD6-9520-A01A28EBBEEC}" srcOrd="1" destOrd="0" presId="urn:microsoft.com/office/officeart/2005/8/layout/radial5"/>
    <dgm:cxn modelId="{F85A3337-F6A1-477C-9BE0-4E0EF1D046F4}" type="presOf" srcId="{4632AA78-7708-4DE5-9F42-2E3606E5F707}" destId="{B81C0BFA-EB0C-4F6B-A822-FC75FA7A083E}" srcOrd="0" destOrd="0" presId="urn:microsoft.com/office/officeart/2005/8/layout/radial5"/>
    <dgm:cxn modelId="{DB319A83-5E4C-497E-AE57-EF5AD48C6828}" srcId="{13103F43-A752-4D98-A7BA-DFA36D334E6A}" destId="{90E22291-3743-4ABA-A0C1-593AF43AFC3E}" srcOrd="3" destOrd="0" parTransId="{128A4B26-5614-4E7E-85FE-ED029390C7FB}" sibTransId="{6A61D3C1-1AEE-4549-BB1C-AFEFDC064C4C}"/>
    <dgm:cxn modelId="{402193B4-22A1-4B42-AF8B-F098BDB3C86D}" srcId="{13103F43-A752-4D98-A7BA-DFA36D334E6A}" destId="{61D29C2C-48E5-486A-A2FE-866A28A5D64D}" srcOrd="1" destOrd="0" parTransId="{3D99D9C4-4C28-4C4B-ACA9-B3CE915DA8A3}" sibTransId="{5B67F70B-EB97-458E-8DA4-75739398A0D4}"/>
    <dgm:cxn modelId="{C263687E-32C4-45EB-B25F-C3DBD3E793DC}" type="presOf" srcId="{13103F43-A752-4D98-A7BA-DFA36D334E6A}" destId="{A6EB8CD1-7F75-479D-9E2D-4B638261D001}" srcOrd="0" destOrd="0" presId="urn:microsoft.com/office/officeart/2005/8/layout/radial5"/>
    <dgm:cxn modelId="{FEE6F100-1BBC-42C0-B62A-08BA88F9A576}" srcId="{166D1D7A-BAA5-4F62-A509-749646397754}" destId="{13103F43-A752-4D98-A7BA-DFA36D334E6A}" srcOrd="0" destOrd="0" parTransId="{A51D9FE2-C202-4EB9-A080-3083D6108069}" sibTransId="{C277E649-269D-49B4-95A4-2FAA4FD53F03}"/>
    <dgm:cxn modelId="{AF3FF2DE-269E-4C06-B331-FC286ACB6194}" type="presOf" srcId="{4632AA78-7708-4DE5-9F42-2E3606E5F707}" destId="{4F53EAE2-8954-46AE-A305-B92EFB0AEE91}" srcOrd="1" destOrd="0" presId="urn:microsoft.com/office/officeart/2005/8/layout/radial5"/>
    <dgm:cxn modelId="{38A4A98B-C51F-42BF-920F-01A0D338EE30}" srcId="{13103F43-A752-4D98-A7BA-DFA36D334E6A}" destId="{D4CD908D-8F78-4135-831C-40BE0400ECAF}" srcOrd="2" destOrd="0" parTransId="{26AEE3E4-CEB7-4CCF-9672-5352A59E9E2F}" sibTransId="{67FDF04A-E53E-423A-A153-1FAA96F59827}"/>
    <dgm:cxn modelId="{2464BE3E-BEDD-41A6-89C6-F429536C6287}" type="presOf" srcId="{42B5AEA7-CE1A-43EA-BC77-4A1CE071D253}" destId="{64FB28DA-4129-43A0-8EC0-5A4002AA158A}" srcOrd="0" destOrd="0" presId="urn:microsoft.com/office/officeart/2005/8/layout/radial5"/>
    <dgm:cxn modelId="{3B100826-2578-4BA0-A873-F05B17157012}" type="presOf" srcId="{E9A209CE-F0BB-4B96-A403-CF4288583C3E}" destId="{22F1A13D-7834-44E9-A58F-5880F06327CA}" srcOrd="0" destOrd="0" presId="urn:microsoft.com/office/officeart/2005/8/layout/radial5"/>
    <dgm:cxn modelId="{62188784-A138-48A8-89C7-9478383277F7}" type="presOf" srcId="{61D29C2C-48E5-486A-A2FE-866A28A5D64D}" destId="{68EE3782-4263-4089-8D05-C13A9AF8EE92}" srcOrd="0" destOrd="0" presId="urn:microsoft.com/office/officeart/2005/8/layout/radial5"/>
    <dgm:cxn modelId="{AAF1FCA3-5F03-4EE2-B7D4-87EB5F570894}" srcId="{13103F43-A752-4D98-A7BA-DFA36D334E6A}" destId="{E9A209CE-F0BB-4B96-A403-CF4288583C3E}" srcOrd="0" destOrd="0" parTransId="{7E104206-F081-442C-B168-9694EDE58F36}" sibTransId="{97A899B6-3546-4A95-A374-76184AD0236D}"/>
    <dgm:cxn modelId="{D7B30330-0AFD-4A23-A4FD-AB331CB22CE2}" type="presOf" srcId="{128A4B26-5614-4E7E-85FE-ED029390C7FB}" destId="{EED29165-2E76-475B-BE6D-93FF45920D20}" srcOrd="1" destOrd="0" presId="urn:microsoft.com/office/officeart/2005/8/layout/radial5"/>
    <dgm:cxn modelId="{E98EB228-36B4-4FBC-B641-F067D17E0A62}" srcId="{13103F43-A752-4D98-A7BA-DFA36D334E6A}" destId="{42B5AEA7-CE1A-43EA-BC77-4A1CE071D253}" srcOrd="4" destOrd="0" parTransId="{6FCB3F1B-00D9-4C17-8EC3-1061F475877D}" sibTransId="{80B1480E-852E-4F49-BE7F-447E5F8D391E}"/>
    <dgm:cxn modelId="{2E56176C-AC9D-45EC-A2C4-9C4E109868F4}" type="presOf" srcId="{D4CD908D-8F78-4135-831C-40BE0400ECAF}" destId="{5C0160D2-B689-4929-9A91-3B2139860509}" srcOrd="0" destOrd="0" presId="urn:microsoft.com/office/officeart/2005/8/layout/radial5"/>
    <dgm:cxn modelId="{A905C54F-FD9D-462C-8768-EA06D05D19D3}" type="presParOf" srcId="{B694A573-BFBF-43A6-AB11-8485174AC1F9}" destId="{A6EB8CD1-7F75-479D-9E2D-4B638261D001}" srcOrd="0" destOrd="0" presId="urn:microsoft.com/office/officeart/2005/8/layout/radial5"/>
    <dgm:cxn modelId="{34F138E5-60DF-4FD6-94AB-FC7A8D6018C0}" type="presParOf" srcId="{B694A573-BFBF-43A6-AB11-8485174AC1F9}" destId="{E03EEA43-87D0-4E22-9BCE-DC350D094524}" srcOrd="1" destOrd="0" presId="urn:microsoft.com/office/officeart/2005/8/layout/radial5"/>
    <dgm:cxn modelId="{1B1F36CB-DD1A-41E4-B560-B8BEECB7AFAC}" type="presParOf" srcId="{E03EEA43-87D0-4E22-9BCE-DC350D094524}" destId="{D56DE707-8498-4298-8501-DEBDC3B9D720}" srcOrd="0" destOrd="0" presId="urn:microsoft.com/office/officeart/2005/8/layout/radial5"/>
    <dgm:cxn modelId="{11634A86-E4F9-45A3-9FAB-FB3FD2106BEF}" type="presParOf" srcId="{B694A573-BFBF-43A6-AB11-8485174AC1F9}" destId="{22F1A13D-7834-44E9-A58F-5880F06327CA}" srcOrd="2" destOrd="0" presId="urn:microsoft.com/office/officeart/2005/8/layout/radial5"/>
    <dgm:cxn modelId="{4F2E4036-6CCE-409E-A3BC-68C68C5457FE}" type="presParOf" srcId="{B694A573-BFBF-43A6-AB11-8485174AC1F9}" destId="{5EB57655-7C0E-43EE-9A46-2AB373A8FE92}" srcOrd="3" destOrd="0" presId="urn:microsoft.com/office/officeart/2005/8/layout/radial5"/>
    <dgm:cxn modelId="{DDE0827D-DC3B-45D3-A9AA-4820AAF2AD7F}" type="presParOf" srcId="{5EB57655-7C0E-43EE-9A46-2AB373A8FE92}" destId="{20B85677-D7BA-4DEB-8A2C-4E405B420F6A}" srcOrd="0" destOrd="0" presId="urn:microsoft.com/office/officeart/2005/8/layout/radial5"/>
    <dgm:cxn modelId="{2D717897-C49D-404B-B626-A4345B69DEC4}" type="presParOf" srcId="{B694A573-BFBF-43A6-AB11-8485174AC1F9}" destId="{68EE3782-4263-4089-8D05-C13A9AF8EE92}" srcOrd="4" destOrd="0" presId="urn:microsoft.com/office/officeart/2005/8/layout/radial5"/>
    <dgm:cxn modelId="{AB21D6F5-CFD2-422D-AF03-C1DA6E7BE8A9}" type="presParOf" srcId="{B694A573-BFBF-43A6-AB11-8485174AC1F9}" destId="{F9291582-F1A9-4503-89D5-FB3BC30A9039}" srcOrd="5" destOrd="0" presId="urn:microsoft.com/office/officeart/2005/8/layout/radial5"/>
    <dgm:cxn modelId="{7A56E7F5-DCDE-4498-997D-DADDF4E925A2}" type="presParOf" srcId="{F9291582-F1A9-4503-89D5-FB3BC30A9039}" destId="{762C64FB-EA1D-4CD6-9520-A01A28EBBEEC}" srcOrd="0" destOrd="0" presId="urn:microsoft.com/office/officeart/2005/8/layout/radial5"/>
    <dgm:cxn modelId="{6E47B355-F755-4F5D-8546-C2A8F93EF78B}" type="presParOf" srcId="{B694A573-BFBF-43A6-AB11-8485174AC1F9}" destId="{5C0160D2-B689-4929-9A91-3B2139860509}" srcOrd="6" destOrd="0" presId="urn:microsoft.com/office/officeart/2005/8/layout/radial5"/>
    <dgm:cxn modelId="{93D184DE-F540-4666-9504-EFEA54B6FBB7}" type="presParOf" srcId="{B694A573-BFBF-43A6-AB11-8485174AC1F9}" destId="{72B4998E-FF47-4983-883B-D9089DB73544}" srcOrd="7" destOrd="0" presId="urn:microsoft.com/office/officeart/2005/8/layout/radial5"/>
    <dgm:cxn modelId="{63787013-7178-49B8-95D5-3197E485F5B2}" type="presParOf" srcId="{72B4998E-FF47-4983-883B-D9089DB73544}" destId="{EED29165-2E76-475B-BE6D-93FF45920D20}" srcOrd="0" destOrd="0" presId="urn:microsoft.com/office/officeart/2005/8/layout/radial5"/>
    <dgm:cxn modelId="{BD742EBD-80E8-45B3-9EF9-C6CAF7E46FE0}" type="presParOf" srcId="{B694A573-BFBF-43A6-AB11-8485174AC1F9}" destId="{7F5CEAAE-F5AD-4949-84CF-9640CE7F1E0B}" srcOrd="8" destOrd="0" presId="urn:microsoft.com/office/officeart/2005/8/layout/radial5"/>
    <dgm:cxn modelId="{11DFCCC1-878A-4BFA-8012-393D558E2F64}" type="presParOf" srcId="{B694A573-BFBF-43A6-AB11-8485174AC1F9}" destId="{1C66B591-99F7-426C-927A-2913A9F46E43}" srcOrd="9" destOrd="0" presId="urn:microsoft.com/office/officeart/2005/8/layout/radial5"/>
    <dgm:cxn modelId="{575C8D8D-0D99-48CC-A8FC-C7A3F048EDA4}" type="presParOf" srcId="{1C66B591-99F7-426C-927A-2913A9F46E43}" destId="{B362F3B9-E813-4C6D-A91E-F77E646BC710}" srcOrd="0" destOrd="0" presId="urn:microsoft.com/office/officeart/2005/8/layout/radial5"/>
    <dgm:cxn modelId="{13A73FA3-315A-4FF2-AFBE-89EA11E37038}" type="presParOf" srcId="{B694A573-BFBF-43A6-AB11-8485174AC1F9}" destId="{64FB28DA-4129-43A0-8EC0-5A4002AA158A}" srcOrd="10" destOrd="0" presId="urn:microsoft.com/office/officeart/2005/8/layout/radial5"/>
    <dgm:cxn modelId="{759D6BC6-0AC0-41B4-A3B9-2D4D441CD910}" type="presParOf" srcId="{B694A573-BFBF-43A6-AB11-8485174AC1F9}" destId="{B81C0BFA-EB0C-4F6B-A822-FC75FA7A083E}" srcOrd="11" destOrd="0" presId="urn:microsoft.com/office/officeart/2005/8/layout/radial5"/>
    <dgm:cxn modelId="{0273C7FD-9C19-4FDC-A70B-DBFBC874B18F}" type="presParOf" srcId="{B81C0BFA-EB0C-4F6B-A822-FC75FA7A083E}" destId="{4F53EAE2-8954-46AE-A305-B92EFB0AEE91}" srcOrd="0" destOrd="0" presId="urn:microsoft.com/office/officeart/2005/8/layout/radial5"/>
    <dgm:cxn modelId="{B8142EDF-2B92-4BE3-A45A-C2161AAE953D}" type="presParOf" srcId="{B694A573-BFBF-43A6-AB11-8485174AC1F9}" destId="{72C78DB3-46FC-45D9-9B31-E6BF6F0A9179}" srcOrd="12" destOrd="0" presId="urn:microsoft.com/office/officeart/2005/8/layout/radial5"/>
  </dgm:cxnLst>
  <dgm:bg>
    <a:noFill/>
  </dgm:bg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6D1D7A-BAA5-4F62-A509-749646397754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3103F43-A752-4D98-A7BA-DFA36D334E6A}">
      <dgm:prSet phldrT="[文本]" custT="1"/>
      <dgm:spPr>
        <a:solidFill>
          <a:srgbClr val="0000CC"/>
        </a:solidFill>
      </dgm:spPr>
      <dgm:t>
        <a:bodyPr/>
        <a:lstStyle/>
        <a:p>
          <a:r>
            <a:rPr lang="zh-CN" altLang="en-US" sz="24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特点</a:t>
          </a:r>
          <a:endParaRPr lang="zh-CN" altLang="en-US" sz="2700" b="1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A51D9FE2-C202-4EB9-A080-3083D6108069}" type="parTrans" cxnId="{FEE6F100-1BBC-42C0-B62A-08BA88F9A576}">
      <dgm:prSet/>
      <dgm:spPr/>
      <dgm:t>
        <a:bodyPr/>
        <a:lstStyle/>
        <a:p>
          <a:endParaRPr lang="zh-CN" altLang="en-US"/>
        </a:p>
      </dgm:t>
    </dgm:pt>
    <dgm:pt modelId="{C277E649-269D-49B4-95A4-2FAA4FD53F03}" type="sibTrans" cxnId="{FEE6F100-1BBC-42C0-B62A-08BA88F9A576}">
      <dgm:prSet/>
      <dgm:spPr/>
      <dgm:t>
        <a:bodyPr/>
        <a:lstStyle/>
        <a:p>
          <a:endParaRPr lang="zh-CN" altLang="en-US"/>
        </a:p>
      </dgm:t>
    </dgm:pt>
    <dgm:pt modelId="{E9A209CE-F0BB-4B96-A403-CF4288583C3E}">
      <dgm:prSet phldrT="[文本]" custT="1"/>
      <dgm:spPr>
        <a:solidFill>
          <a:srgbClr val="FFFF00"/>
        </a:solidFill>
      </dgm:spPr>
      <dgm:t>
        <a:bodyPr/>
        <a:lstStyle/>
        <a:p>
          <a:r>
            <a:rPr lang="zh-CN" altLang="en-US" sz="20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结构简单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7E104206-F081-442C-B168-9694EDE58F36}" type="parTrans" cxnId="{AAF1FCA3-5F03-4EE2-B7D4-87EB5F570894}">
      <dgm:prSet/>
      <dgm:sp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</dgm:spPr>
      <dgm:t>
        <a:bodyPr/>
        <a:lstStyle/>
        <a:p>
          <a:endParaRPr lang="zh-CN" altLang="en-US"/>
        </a:p>
      </dgm:t>
    </dgm:pt>
    <dgm:pt modelId="{97A899B6-3546-4A95-A374-76184AD0236D}" type="sibTrans" cxnId="{AAF1FCA3-5F03-4EE2-B7D4-87EB5F570894}">
      <dgm:prSet/>
      <dgm:spPr/>
      <dgm:t>
        <a:bodyPr/>
        <a:lstStyle/>
        <a:p>
          <a:endParaRPr lang="zh-CN" altLang="en-US"/>
        </a:p>
      </dgm:t>
    </dgm:pt>
    <dgm:pt modelId="{61D29C2C-48E5-486A-A2FE-866A28A5D64D}">
      <dgm:prSet phldrT="[文本]" custT="1"/>
      <dgm:spPr>
        <a:solidFill>
          <a:srgbClr val="FFC000"/>
        </a:solidFill>
      </dgm:spPr>
      <dgm:t>
        <a:bodyPr/>
        <a:lstStyle/>
        <a:p>
          <a:pPr>
            <a:spcAft>
              <a:spcPts val="0"/>
            </a:spcAft>
          </a:pPr>
          <a:r>
            <a:rPr lang="zh-CN" altLang="en-US" sz="18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处理</a:t>
          </a:r>
          <a:endParaRPr lang="en-US" altLang="zh-CN" sz="1800" b="1" dirty="0" smtClean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  <a:p>
          <a:pPr>
            <a:spcAft>
              <a:spcPts val="0"/>
            </a:spcAft>
          </a:pPr>
          <a:r>
            <a:rPr lang="zh-CN" altLang="en-US" sz="1800" b="1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功能多</a:t>
          </a:r>
          <a:endParaRPr lang="zh-CN" altLang="en-US" sz="1800" b="1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3D99D9C4-4C28-4C4B-ACA9-B3CE915DA8A3}" type="parTrans" cxnId="{402193B4-22A1-4B42-AF8B-F098BDB3C86D}">
      <dgm:prSet/>
      <dgm:sp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</dgm:spPr>
      <dgm:t>
        <a:bodyPr/>
        <a:lstStyle/>
        <a:p>
          <a:endParaRPr lang="zh-CN" altLang="en-US"/>
        </a:p>
      </dgm:t>
    </dgm:pt>
    <dgm:pt modelId="{5B67F70B-EB97-458E-8DA4-75739398A0D4}" type="sibTrans" cxnId="{402193B4-22A1-4B42-AF8B-F098BDB3C86D}">
      <dgm:prSet/>
      <dgm:spPr/>
      <dgm:t>
        <a:bodyPr/>
        <a:lstStyle/>
        <a:p>
          <a:endParaRPr lang="zh-CN" altLang="en-US"/>
        </a:p>
      </dgm:t>
    </dgm:pt>
    <dgm:pt modelId="{D4CD908D-8F78-4135-831C-40BE0400ECAF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en-US" sz="2000" b="1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成品率高</a:t>
          </a:r>
          <a:endParaRPr lang="zh-CN" altLang="en-US" sz="2000" b="1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26AEE3E4-CEB7-4CCF-9672-5352A59E9E2F}" type="parTrans" cxnId="{38A4A98B-C51F-42BF-920F-01A0D338EE30}">
      <dgm:prSet/>
      <dgm:sp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</dgm:spPr>
      <dgm:t>
        <a:bodyPr/>
        <a:lstStyle/>
        <a:p>
          <a:endParaRPr lang="zh-CN" altLang="en-US"/>
        </a:p>
      </dgm:t>
    </dgm:pt>
    <dgm:pt modelId="{67FDF04A-E53E-423A-A153-1FAA96F59827}" type="sibTrans" cxnId="{38A4A98B-C51F-42BF-920F-01A0D338EE30}">
      <dgm:prSet/>
      <dgm:spPr/>
      <dgm:t>
        <a:bodyPr/>
        <a:lstStyle/>
        <a:p>
          <a:endParaRPr lang="zh-CN" altLang="en-US"/>
        </a:p>
      </dgm:t>
    </dgm:pt>
    <dgm:pt modelId="{A73185D4-5632-47E7-AAEB-161B2F7F59A9}">
      <dgm:prSet phldrT="[文本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2000" b="1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价格</a:t>
          </a:r>
          <a:endParaRPr lang="en-US" altLang="zh-CN" sz="2000" b="1" dirty="0" smtClean="0">
            <a:solidFill>
              <a:srgbClr val="0000CC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2000" b="1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低廉</a:t>
          </a:r>
          <a:endParaRPr lang="zh-CN" altLang="en-US" sz="2000" b="1" dirty="0">
            <a:solidFill>
              <a:srgbClr val="0000CC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gm:t>
    </dgm:pt>
    <dgm:pt modelId="{4632AA78-7708-4DE5-9F42-2E3606E5F707}" type="parTrans" cxnId="{D4FDD92B-E888-4F4C-B1AF-7801A2B9E919}">
      <dgm:prSet/>
      <dgm:sp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</dgm:spPr>
      <dgm:t>
        <a:bodyPr/>
        <a:lstStyle/>
        <a:p>
          <a:endParaRPr lang="zh-CN" altLang="en-US"/>
        </a:p>
      </dgm:t>
    </dgm:pt>
    <dgm:pt modelId="{3E2DBE3C-52BE-48F4-AAFB-B531B03BB0EE}" type="sibTrans" cxnId="{D4FDD92B-E888-4F4C-B1AF-7801A2B9E919}">
      <dgm:prSet/>
      <dgm:spPr/>
      <dgm:t>
        <a:bodyPr/>
        <a:lstStyle/>
        <a:p>
          <a:endParaRPr lang="zh-CN" altLang="en-US"/>
        </a:p>
      </dgm:t>
    </dgm:pt>
    <dgm:pt modelId="{B694A573-BFBF-43A6-AB11-8485174AC1F9}" type="pres">
      <dgm:prSet presAssocID="{166D1D7A-BAA5-4F62-A509-749646397754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6EB8CD1-7F75-479D-9E2D-4B638261D001}" type="pres">
      <dgm:prSet presAssocID="{13103F43-A752-4D98-A7BA-DFA36D334E6A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E03EEA43-87D0-4E22-9BCE-DC350D094524}" type="pres">
      <dgm:prSet presAssocID="{7E104206-F081-442C-B168-9694EDE58F36}" presName="parTrans" presStyleLbl="sibTrans2D1" presStyleIdx="0" presStyleCnt="4" custLinFactNeighborX="-21857" custLinFactNeighborY="17014"/>
      <dgm:spPr/>
      <dgm:t>
        <a:bodyPr/>
        <a:lstStyle/>
        <a:p>
          <a:endParaRPr lang="zh-CN" altLang="en-US"/>
        </a:p>
      </dgm:t>
    </dgm:pt>
    <dgm:pt modelId="{D56DE707-8498-4298-8501-DEBDC3B9D720}" type="pres">
      <dgm:prSet presAssocID="{7E104206-F081-442C-B168-9694EDE58F36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22F1A13D-7834-44E9-A58F-5880F06327CA}" type="pres">
      <dgm:prSet presAssocID="{E9A209CE-F0BB-4B96-A403-CF4288583C3E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B57655-7C0E-43EE-9A46-2AB373A8FE92}" type="pres">
      <dgm:prSet presAssocID="{3D99D9C4-4C28-4C4B-ACA9-B3CE915DA8A3}" presName="parTrans" presStyleLbl="sibTrans2D1" presStyleIdx="1" presStyleCnt="4" custLinFactNeighborX="-21857" custLinFactNeighborY="17014"/>
      <dgm:spPr/>
      <dgm:t>
        <a:bodyPr/>
        <a:lstStyle/>
        <a:p>
          <a:endParaRPr lang="zh-CN" altLang="en-US"/>
        </a:p>
      </dgm:t>
    </dgm:pt>
    <dgm:pt modelId="{20B85677-D7BA-4DEB-8A2C-4E405B420F6A}" type="pres">
      <dgm:prSet presAssocID="{3D99D9C4-4C28-4C4B-ACA9-B3CE915DA8A3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68EE3782-4263-4089-8D05-C13A9AF8EE92}" type="pres">
      <dgm:prSet presAssocID="{61D29C2C-48E5-486A-A2FE-866A28A5D64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291582-F1A9-4503-89D5-FB3BC30A9039}" type="pres">
      <dgm:prSet presAssocID="{26AEE3E4-CEB7-4CCF-9672-5352A59E9E2F}" presName="parTrans" presStyleLbl="sibTrans2D1" presStyleIdx="2" presStyleCnt="4"/>
      <dgm:spPr/>
      <dgm:t>
        <a:bodyPr/>
        <a:lstStyle/>
        <a:p>
          <a:endParaRPr lang="zh-CN" altLang="en-US"/>
        </a:p>
      </dgm:t>
    </dgm:pt>
    <dgm:pt modelId="{762C64FB-EA1D-4CD6-9520-A01A28EBBEEC}" type="pres">
      <dgm:prSet presAssocID="{26AEE3E4-CEB7-4CCF-9672-5352A59E9E2F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5C0160D2-B689-4929-9A91-3B2139860509}" type="pres">
      <dgm:prSet presAssocID="{D4CD908D-8F78-4135-831C-40BE0400ECA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1C0BFA-EB0C-4F6B-A822-FC75FA7A083E}" type="pres">
      <dgm:prSet presAssocID="{4632AA78-7708-4DE5-9F42-2E3606E5F707}" presName="parTrans" presStyleLbl="sibTrans2D1" presStyleIdx="3" presStyleCnt="4"/>
      <dgm:spPr/>
      <dgm:t>
        <a:bodyPr/>
        <a:lstStyle/>
        <a:p>
          <a:endParaRPr lang="zh-CN" altLang="en-US"/>
        </a:p>
      </dgm:t>
    </dgm:pt>
    <dgm:pt modelId="{4F53EAE2-8954-46AE-A305-B92EFB0AEE91}" type="pres">
      <dgm:prSet presAssocID="{4632AA78-7708-4DE5-9F42-2E3606E5F707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72C78DB3-46FC-45D9-9B31-E6BF6F0A9179}" type="pres">
      <dgm:prSet presAssocID="{A73185D4-5632-47E7-AAEB-161B2F7F59A9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2BD7642-02EF-483C-A76A-62B5718CE475}" type="presOf" srcId="{4632AA78-7708-4DE5-9F42-2E3606E5F707}" destId="{B81C0BFA-EB0C-4F6B-A822-FC75FA7A083E}" srcOrd="0" destOrd="0" presId="urn:microsoft.com/office/officeart/2005/8/layout/radial5"/>
    <dgm:cxn modelId="{A070DE89-D6A2-46A9-85B0-56AEC3F86454}" type="presOf" srcId="{A73185D4-5632-47E7-AAEB-161B2F7F59A9}" destId="{72C78DB3-46FC-45D9-9B31-E6BF6F0A9179}" srcOrd="0" destOrd="0" presId="urn:microsoft.com/office/officeart/2005/8/layout/radial5"/>
    <dgm:cxn modelId="{74BC79C9-FF79-4033-A8C3-548DD3C5CFBE}" type="presOf" srcId="{3D99D9C4-4C28-4C4B-ACA9-B3CE915DA8A3}" destId="{20B85677-D7BA-4DEB-8A2C-4E405B420F6A}" srcOrd="1" destOrd="0" presId="urn:microsoft.com/office/officeart/2005/8/layout/radial5"/>
    <dgm:cxn modelId="{474F7F25-8D4C-43F9-8850-8BA425FD2BD8}" type="presOf" srcId="{7E104206-F081-442C-B168-9694EDE58F36}" destId="{E03EEA43-87D0-4E22-9BCE-DC350D094524}" srcOrd="0" destOrd="0" presId="urn:microsoft.com/office/officeart/2005/8/layout/radial5"/>
    <dgm:cxn modelId="{CF038F0E-B4B7-44EB-ADEE-0BBDB51C8DB4}" type="presOf" srcId="{4632AA78-7708-4DE5-9F42-2E3606E5F707}" destId="{4F53EAE2-8954-46AE-A305-B92EFB0AEE91}" srcOrd="1" destOrd="0" presId="urn:microsoft.com/office/officeart/2005/8/layout/radial5"/>
    <dgm:cxn modelId="{B0FA0CCD-E061-4BC4-8EE6-B6CC02AC52E2}" type="presOf" srcId="{166D1D7A-BAA5-4F62-A509-749646397754}" destId="{B694A573-BFBF-43A6-AB11-8485174AC1F9}" srcOrd="0" destOrd="0" presId="urn:microsoft.com/office/officeart/2005/8/layout/radial5"/>
    <dgm:cxn modelId="{FAC37D72-2C31-4CDE-BA33-CB2838541A55}" type="presOf" srcId="{E9A209CE-F0BB-4B96-A403-CF4288583C3E}" destId="{22F1A13D-7834-44E9-A58F-5880F06327CA}" srcOrd="0" destOrd="0" presId="urn:microsoft.com/office/officeart/2005/8/layout/radial5"/>
    <dgm:cxn modelId="{38A4A98B-C51F-42BF-920F-01A0D338EE30}" srcId="{13103F43-A752-4D98-A7BA-DFA36D334E6A}" destId="{D4CD908D-8F78-4135-831C-40BE0400ECAF}" srcOrd="2" destOrd="0" parTransId="{26AEE3E4-CEB7-4CCF-9672-5352A59E9E2F}" sibTransId="{67FDF04A-E53E-423A-A153-1FAA96F59827}"/>
    <dgm:cxn modelId="{2BF416D5-E6E8-48E8-BC25-C27EA0A2FB2F}" type="presOf" srcId="{61D29C2C-48E5-486A-A2FE-866A28A5D64D}" destId="{68EE3782-4263-4089-8D05-C13A9AF8EE92}" srcOrd="0" destOrd="0" presId="urn:microsoft.com/office/officeart/2005/8/layout/radial5"/>
    <dgm:cxn modelId="{394FE216-74F7-4382-9059-77BF4E363F8B}" type="presOf" srcId="{3D99D9C4-4C28-4C4B-ACA9-B3CE915DA8A3}" destId="{5EB57655-7C0E-43EE-9A46-2AB373A8FE92}" srcOrd="0" destOrd="0" presId="urn:microsoft.com/office/officeart/2005/8/layout/radial5"/>
    <dgm:cxn modelId="{AAF1FCA3-5F03-4EE2-B7D4-87EB5F570894}" srcId="{13103F43-A752-4D98-A7BA-DFA36D334E6A}" destId="{E9A209CE-F0BB-4B96-A403-CF4288583C3E}" srcOrd="0" destOrd="0" parTransId="{7E104206-F081-442C-B168-9694EDE58F36}" sibTransId="{97A899B6-3546-4A95-A374-76184AD0236D}"/>
    <dgm:cxn modelId="{9921AD32-1D80-4F80-A6FE-30D588DC7985}" type="presOf" srcId="{26AEE3E4-CEB7-4CCF-9672-5352A59E9E2F}" destId="{762C64FB-EA1D-4CD6-9520-A01A28EBBEEC}" srcOrd="1" destOrd="0" presId="urn:microsoft.com/office/officeart/2005/8/layout/radial5"/>
    <dgm:cxn modelId="{8CDBFD2F-8763-4287-B4AD-77E54DB85D8D}" type="presOf" srcId="{13103F43-A752-4D98-A7BA-DFA36D334E6A}" destId="{A6EB8CD1-7F75-479D-9E2D-4B638261D001}" srcOrd="0" destOrd="0" presId="urn:microsoft.com/office/officeart/2005/8/layout/radial5"/>
    <dgm:cxn modelId="{402193B4-22A1-4B42-AF8B-F098BDB3C86D}" srcId="{13103F43-A752-4D98-A7BA-DFA36D334E6A}" destId="{61D29C2C-48E5-486A-A2FE-866A28A5D64D}" srcOrd="1" destOrd="0" parTransId="{3D99D9C4-4C28-4C4B-ACA9-B3CE915DA8A3}" sibTransId="{5B67F70B-EB97-458E-8DA4-75739398A0D4}"/>
    <dgm:cxn modelId="{065BAC3D-61AA-4139-BDAC-D03A40186722}" type="presOf" srcId="{7E104206-F081-442C-B168-9694EDE58F36}" destId="{D56DE707-8498-4298-8501-DEBDC3B9D720}" srcOrd="1" destOrd="0" presId="urn:microsoft.com/office/officeart/2005/8/layout/radial5"/>
    <dgm:cxn modelId="{D4FDD92B-E888-4F4C-B1AF-7801A2B9E919}" srcId="{13103F43-A752-4D98-A7BA-DFA36D334E6A}" destId="{A73185D4-5632-47E7-AAEB-161B2F7F59A9}" srcOrd="3" destOrd="0" parTransId="{4632AA78-7708-4DE5-9F42-2E3606E5F707}" sibTransId="{3E2DBE3C-52BE-48F4-AAFB-B531B03BB0EE}"/>
    <dgm:cxn modelId="{45EC74A3-F253-483E-AF5A-D4576DBD4EE6}" type="presOf" srcId="{26AEE3E4-CEB7-4CCF-9672-5352A59E9E2F}" destId="{F9291582-F1A9-4503-89D5-FB3BC30A9039}" srcOrd="0" destOrd="0" presId="urn:microsoft.com/office/officeart/2005/8/layout/radial5"/>
    <dgm:cxn modelId="{E4D45904-FDA8-42FF-BA65-C9DBA0BCFD30}" type="presOf" srcId="{D4CD908D-8F78-4135-831C-40BE0400ECAF}" destId="{5C0160D2-B689-4929-9A91-3B2139860509}" srcOrd="0" destOrd="0" presId="urn:microsoft.com/office/officeart/2005/8/layout/radial5"/>
    <dgm:cxn modelId="{FEE6F100-1BBC-42C0-B62A-08BA88F9A576}" srcId="{166D1D7A-BAA5-4F62-A509-749646397754}" destId="{13103F43-A752-4D98-A7BA-DFA36D334E6A}" srcOrd="0" destOrd="0" parTransId="{A51D9FE2-C202-4EB9-A080-3083D6108069}" sibTransId="{C277E649-269D-49B4-95A4-2FAA4FD53F03}"/>
    <dgm:cxn modelId="{98B76468-EF94-4298-8903-8018303FB14D}" type="presParOf" srcId="{B694A573-BFBF-43A6-AB11-8485174AC1F9}" destId="{A6EB8CD1-7F75-479D-9E2D-4B638261D001}" srcOrd="0" destOrd="0" presId="urn:microsoft.com/office/officeart/2005/8/layout/radial5"/>
    <dgm:cxn modelId="{6757A154-9F81-460E-AA57-E4B1F67010F6}" type="presParOf" srcId="{B694A573-BFBF-43A6-AB11-8485174AC1F9}" destId="{E03EEA43-87D0-4E22-9BCE-DC350D094524}" srcOrd="1" destOrd="0" presId="urn:microsoft.com/office/officeart/2005/8/layout/radial5"/>
    <dgm:cxn modelId="{2E7DB24B-4CA4-4441-82D8-FA2F6EDC27BD}" type="presParOf" srcId="{E03EEA43-87D0-4E22-9BCE-DC350D094524}" destId="{D56DE707-8498-4298-8501-DEBDC3B9D720}" srcOrd="0" destOrd="0" presId="urn:microsoft.com/office/officeart/2005/8/layout/radial5"/>
    <dgm:cxn modelId="{992F94FC-7B08-4DB5-B0C6-54E5A98C4091}" type="presParOf" srcId="{B694A573-BFBF-43A6-AB11-8485174AC1F9}" destId="{22F1A13D-7834-44E9-A58F-5880F06327CA}" srcOrd="2" destOrd="0" presId="urn:microsoft.com/office/officeart/2005/8/layout/radial5"/>
    <dgm:cxn modelId="{C0CBBE5D-8EBD-4F62-A576-5843414159EE}" type="presParOf" srcId="{B694A573-BFBF-43A6-AB11-8485174AC1F9}" destId="{5EB57655-7C0E-43EE-9A46-2AB373A8FE92}" srcOrd="3" destOrd="0" presId="urn:microsoft.com/office/officeart/2005/8/layout/radial5"/>
    <dgm:cxn modelId="{F7B4A210-127B-49C2-AC92-F70FCD930EFC}" type="presParOf" srcId="{5EB57655-7C0E-43EE-9A46-2AB373A8FE92}" destId="{20B85677-D7BA-4DEB-8A2C-4E405B420F6A}" srcOrd="0" destOrd="0" presId="urn:microsoft.com/office/officeart/2005/8/layout/radial5"/>
    <dgm:cxn modelId="{3B14DCD7-AF24-40FD-B1A8-6B455C2988A7}" type="presParOf" srcId="{B694A573-BFBF-43A6-AB11-8485174AC1F9}" destId="{68EE3782-4263-4089-8D05-C13A9AF8EE92}" srcOrd="4" destOrd="0" presId="urn:microsoft.com/office/officeart/2005/8/layout/radial5"/>
    <dgm:cxn modelId="{BD4F2134-5023-4BF4-8AAA-9281274C202B}" type="presParOf" srcId="{B694A573-BFBF-43A6-AB11-8485174AC1F9}" destId="{F9291582-F1A9-4503-89D5-FB3BC30A9039}" srcOrd="5" destOrd="0" presId="urn:microsoft.com/office/officeart/2005/8/layout/radial5"/>
    <dgm:cxn modelId="{6AEED0D9-B35B-46AB-9D13-3B1DEF4BFEFC}" type="presParOf" srcId="{F9291582-F1A9-4503-89D5-FB3BC30A9039}" destId="{762C64FB-EA1D-4CD6-9520-A01A28EBBEEC}" srcOrd="0" destOrd="0" presId="urn:microsoft.com/office/officeart/2005/8/layout/radial5"/>
    <dgm:cxn modelId="{DE058E08-6116-4891-910B-11EAD12669C1}" type="presParOf" srcId="{B694A573-BFBF-43A6-AB11-8485174AC1F9}" destId="{5C0160D2-B689-4929-9A91-3B2139860509}" srcOrd="6" destOrd="0" presId="urn:microsoft.com/office/officeart/2005/8/layout/radial5"/>
    <dgm:cxn modelId="{812833D5-73B8-4055-83AE-641A5C2281EA}" type="presParOf" srcId="{B694A573-BFBF-43A6-AB11-8485174AC1F9}" destId="{B81C0BFA-EB0C-4F6B-A822-FC75FA7A083E}" srcOrd="7" destOrd="0" presId="urn:microsoft.com/office/officeart/2005/8/layout/radial5"/>
    <dgm:cxn modelId="{5C73C217-0A3A-44F0-8122-8035A4E78B00}" type="presParOf" srcId="{B81C0BFA-EB0C-4F6B-A822-FC75FA7A083E}" destId="{4F53EAE2-8954-46AE-A305-B92EFB0AEE91}" srcOrd="0" destOrd="0" presId="urn:microsoft.com/office/officeart/2005/8/layout/radial5"/>
    <dgm:cxn modelId="{B8CD8528-3CEE-4CB6-A8AD-6263835FCED4}" type="presParOf" srcId="{B694A573-BFBF-43A6-AB11-8485174AC1F9}" destId="{72C78DB3-46FC-45D9-9B31-E6BF6F0A9179}" srcOrd="8" destOrd="0" presId="urn:microsoft.com/office/officeart/2005/8/layout/radial5"/>
  </dgm:cxnLst>
  <dgm:bg>
    <a:noFill/>
  </dgm:bg>
  <dgm:whole/>
  <dgm:extLst>
    <a:ext uri="http://schemas.microsoft.com/office/drawing/2008/diagram">
      <dsp:dataModelExt xmlns=""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B8CD1-7F75-479D-9E2D-4B638261D001}">
      <dsp:nvSpPr>
        <dsp:cNvPr id="0" name=""/>
        <dsp:cNvSpPr/>
      </dsp:nvSpPr>
      <dsp:spPr>
        <a:xfrm>
          <a:off x="1702547" y="1497974"/>
          <a:ext cx="1068050" cy="1068050"/>
        </a:xfrm>
        <a:prstGeom prst="ellipse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b="1" kern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CMOS</a:t>
          </a:r>
          <a:endParaRPr lang="zh-CN" altLang="en-US" sz="1800" b="1" kern="1200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1858959" y="1654386"/>
        <a:ext cx="755226" cy="755226"/>
      </dsp:txXfrm>
    </dsp:sp>
    <dsp:sp modelId="{E03EEA43-87D0-4E22-9BCE-DC350D094524}">
      <dsp:nvSpPr>
        <dsp:cNvPr id="0" name=""/>
        <dsp:cNvSpPr/>
      </dsp:nvSpPr>
      <dsp:spPr>
        <a:xfrm rot="16200000">
          <a:off x="2123504" y="1109469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157425" y="1216017"/>
        <a:ext cx="158295" cy="217883"/>
      </dsp:txXfrm>
    </dsp:sp>
    <dsp:sp modelId="{22F1A13D-7834-44E9-A58F-5880F06327CA}">
      <dsp:nvSpPr>
        <dsp:cNvPr id="0" name=""/>
        <dsp:cNvSpPr/>
      </dsp:nvSpPr>
      <dsp:spPr>
        <a:xfrm>
          <a:off x="1702547" y="3251"/>
          <a:ext cx="1068050" cy="1068050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光敏元件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1858959" y="159663"/>
        <a:ext cx="755226" cy="755226"/>
      </dsp:txXfrm>
    </dsp:sp>
    <dsp:sp modelId="{5EB57655-7C0E-43EE-9A46-2AB373A8FE92}">
      <dsp:nvSpPr>
        <dsp:cNvPr id="0" name=""/>
        <dsp:cNvSpPr/>
      </dsp:nvSpPr>
      <dsp:spPr>
        <a:xfrm rot="19800000">
          <a:off x="2765196" y="1479950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769740" y="1569537"/>
        <a:ext cx="158295" cy="217883"/>
      </dsp:txXfrm>
    </dsp:sp>
    <dsp:sp modelId="{68EE3782-4263-4089-8D05-C13A9AF8EE92}">
      <dsp:nvSpPr>
        <dsp:cNvPr id="0" name=""/>
        <dsp:cNvSpPr/>
      </dsp:nvSpPr>
      <dsp:spPr>
        <a:xfrm>
          <a:off x="2997015" y="750612"/>
          <a:ext cx="1068050" cy="1068050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放大器</a:t>
          </a:r>
          <a:endParaRPr lang="zh-CN" altLang="en-US" sz="1800" b="1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3153427" y="907024"/>
        <a:ext cx="755226" cy="755226"/>
      </dsp:txXfrm>
    </dsp:sp>
    <dsp:sp modelId="{F9291582-F1A9-4503-89D5-FB3BC30A9039}">
      <dsp:nvSpPr>
        <dsp:cNvPr id="0" name=""/>
        <dsp:cNvSpPr/>
      </dsp:nvSpPr>
      <dsp:spPr>
        <a:xfrm rot="1800000">
          <a:off x="2765196" y="2220912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769740" y="2276579"/>
        <a:ext cx="158295" cy="217883"/>
      </dsp:txXfrm>
    </dsp:sp>
    <dsp:sp modelId="{5C0160D2-B689-4929-9A91-3B2139860509}">
      <dsp:nvSpPr>
        <dsp:cNvPr id="0" name=""/>
        <dsp:cNvSpPr/>
      </dsp:nvSpPr>
      <dsp:spPr>
        <a:xfrm>
          <a:off x="2997015" y="2245336"/>
          <a:ext cx="1068050" cy="1068050"/>
        </a:xfrm>
        <a:prstGeom prst="ellips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A/D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转换</a:t>
          </a:r>
          <a:endParaRPr lang="zh-CN" altLang="en-US" sz="2000" b="1" kern="1200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3153427" y="2401748"/>
        <a:ext cx="755226" cy="755226"/>
      </dsp:txXfrm>
    </dsp:sp>
    <dsp:sp modelId="{72B4998E-FF47-4983-883B-D9089DB73544}">
      <dsp:nvSpPr>
        <dsp:cNvPr id="0" name=""/>
        <dsp:cNvSpPr/>
      </dsp:nvSpPr>
      <dsp:spPr>
        <a:xfrm rot="5400000">
          <a:off x="2123504" y="2591392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157425" y="2630099"/>
        <a:ext cx="158295" cy="217883"/>
      </dsp:txXfrm>
    </dsp:sp>
    <dsp:sp modelId="{7F5CEAAE-F5AD-4949-84CF-9640CE7F1E0B}">
      <dsp:nvSpPr>
        <dsp:cNvPr id="0" name=""/>
        <dsp:cNvSpPr/>
      </dsp:nvSpPr>
      <dsp:spPr>
        <a:xfrm>
          <a:off x="1702547" y="2992697"/>
          <a:ext cx="1068050" cy="1068050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数字信号处理</a:t>
          </a:r>
          <a:endParaRPr lang="zh-CN" altLang="en-US" sz="1800" b="1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1858959" y="3149109"/>
        <a:ext cx="755226" cy="755226"/>
      </dsp:txXfrm>
    </dsp:sp>
    <dsp:sp modelId="{1C66B591-99F7-426C-927A-2913A9F46E43}">
      <dsp:nvSpPr>
        <dsp:cNvPr id="0" name=""/>
        <dsp:cNvSpPr/>
      </dsp:nvSpPr>
      <dsp:spPr>
        <a:xfrm rot="9000000">
          <a:off x="1481813" y="2220912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 rot="10800000">
        <a:off x="1545110" y="2276579"/>
        <a:ext cx="158295" cy="217883"/>
      </dsp:txXfrm>
    </dsp:sp>
    <dsp:sp modelId="{64FB28DA-4129-43A0-8EC0-5A4002AA158A}">
      <dsp:nvSpPr>
        <dsp:cNvPr id="0" name=""/>
        <dsp:cNvSpPr/>
      </dsp:nvSpPr>
      <dsp:spPr>
        <a:xfrm>
          <a:off x="408079" y="2245336"/>
          <a:ext cx="1068050" cy="1068050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存储器</a:t>
          </a:r>
          <a:endParaRPr lang="zh-CN" altLang="en-US" sz="1800" b="1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564491" y="2401748"/>
        <a:ext cx="755226" cy="755226"/>
      </dsp:txXfrm>
    </dsp:sp>
    <dsp:sp modelId="{B81C0BFA-EB0C-4F6B-A822-FC75FA7A083E}">
      <dsp:nvSpPr>
        <dsp:cNvPr id="0" name=""/>
        <dsp:cNvSpPr/>
      </dsp:nvSpPr>
      <dsp:spPr>
        <a:xfrm rot="12600000">
          <a:off x="1481813" y="1479950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08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 rot="10800000">
        <a:off x="1545110" y="1569537"/>
        <a:ext cx="158295" cy="217883"/>
      </dsp:txXfrm>
    </dsp:sp>
    <dsp:sp modelId="{72C78DB3-46FC-45D9-9B31-E6BF6F0A9179}">
      <dsp:nvSpPr>
        <dsp:cNvPr id="0" name=""/>
        <dsp:cNvSpPr/>
      </dsp:nvSpPr>
      <dsp:spPr>
        <a:xfrm>
          <a:off x="408079" y="750612"/>
          <a:ext cx="1068050" cy="1068050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计算机接口</a:t>
          </a:r>
          <a:endParaRPr lang="zh-CN" altLang="en-US" sz="1800" b="1" kern="1200" dirty="0">
            <a:solidFill>
              <a:srgbClr val="0000CC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564491" y="907024"/>
        <a:ext cx="755226" cy="755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B8CD1-7F75-479D-9E2D-4B638261D001}">
      <dsp:nvSpPr>
        <dsp:cNvPr id="0" name=""/>
        <dsp:cNvSpPr/>
      </dsp:nvSpPr>
      <dsp:spPr>
        <a:xfrm>
          <a:off x="1702547" y="1497974"/>
          <a:ext cx="1068050" cy="1068050"/>
        </a:xfrm>
        <a:prstGeom prst="ellipse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特点</a:t>
          </a:r>
          <a:endParaRPr lang="zh-CN" altLang="en-US" sz="2700" b="1" kern="1200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1858959" y="1654386"/>
        <a:ext cx="755226" cy="755226"/>
      </dsp:txXfrm>
    </dsp:sp>
    <dsp:sp modelId="{E03EEA43-87D0-4E22-9BCE-DC350D094524}">
      <dsp:nvSpPr>
        <dsp:cNvPr id="0" name=""/>
        <dsp:cNvSpPr/>
      </dsp:nvSpPr>
      <dsp:spPr>
        <a:xfrm rot="16200000">
          <a:off x="2074078" y="1171254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107999" y="1277802"/>
        <a:ext cx="158295" cy="217883"/>
      </dsp:txXfrm>
    </dsp:sp>
    <dsp:sp modelId="{22F1A13D-7834-44E9-A58F-5880F06327CA}">
      <dsp:nvSpPr>
        <dsp:cNvPr id="0" name=""/>
        <dsp:cNvSpPr/>
      </dsp:nvSpPr>
      <dsp:spPr>
        <a:xfrm>
          <a:off x="1702547" y="3251"/>
          <a:ext cx="1068050" cy="1068050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结构简单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1858959" y="159663"/>
        <a:ext cx="755226" cy="755226"/>
      </dsp:txXfrm>
    </dsp:sp>
    <dsp:sp modelId="{5EB57655-7C0E-43EE-9A46-2AB373A8FE92}">
      <dsp:nvSpPr>
        <dsp:cNvPr id="0" name=""/>
        <dsp:cNvSpPr/>
      </dsp:nvSpPr>
      <dsp:spPr>
        <a:xfrm>
          <a:off x="2815039" y="1912215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815039" y="1984842"/>
        <a:ext cx="158295" cy="217883"/>
      </dsp:txXfrm>
    </dsp:sp>
    <dsp:sp modelId="{68EE3782-4263-4089-8D05-C13A9AF8EE92}">
      <dsp:nvSpPr>
        <dsp:cNvPr id="0" name=""/>
        <dsp:cNvSpPr/>
      </dsp:nvSpPr>
      <dsp:spPr>
        <a:xfrm>
          <a:off x="3197270" y="1497974"/>
          <a:ext cx="1068050" cy="1068050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处理</a:t>
          </a:r>
          <a:endParaRPr lang="en-US" altLang="zh-CN" sz="1800" b="1" kern="1200" dirty="0" smtClean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800" b="1" kern="1200" dirty="0" smtClean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功能多</a:t>
          </a:r>
          <a:endParaRPr lang="zh-CN" altLang="en-US" sz="1800" b="1" kern="1200" dirty="0">
            <a:solidFill>
              <a:schemeClr val="tx1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3353682" y="1654386"/>
        <a:ext cx="755226" cy="755226"/>
      </dsp:txXfrm>
    </dsp:sp>
    <dsp:sp modelId="{F9291582-F1A9-4503-89D5-FB3BC30A9039}">
      <dsp:nvSpPr>
        <dsp:cNvPr id="0" name=""/>
        <dsp:cNvSpPr/>
      </dsp:nvSpPr>
      <dsp:spPr>
        <a:xfrm rot="5400000">
          <a:off x="2123504" y="2591392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2157425" y="2630099"/>
        <a:ext cx="158295" cy="217883"/>
      </dsp:txXfrm>
    </dsp:sp>
    <dsp:sp modelId="{5C0160D2-B689-4929-9A91-3B2139860509}">
      <dsp:nvSpPr>
        <dsp:cNvPr id="0" name=""/>
        <dsp:cNvSpPr/>
      </dsp:nvSpPr>
      <dsp:spPr>
        <a:xfrm>
          <a:off x="1702547" y="2992697"/>
          <a:ext cx="1068050" cy="1068050"/>
        </a:xfrm>
        <a:prstGeom prst="ellipse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Times New Roman" pitchFamily="18" charset="0"/>
              <a:ea typeface="微软雅黑" pitchFamily="34" charset="-122"/>
              <a:cs typeface="Times New Roman" pitchFamily="18" charset="0"/>
            </a:rPr>
            <a:t>成品率高</a:t>
          </a:r>
          <a:endParaRPr lang="zh-CN" altLang="en-US" sz="2000" b="1" kern="1200" dirty="0"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1858959" y="3149109"/>
        <a:ext cx="755226" cy="755226"/>
      </dsp:txXfrm>
    </dsp:sp>
    <dsp:sp modelId="{B81C0BFA-EB0C-4F6B-A822-FC75FA7A083E}">
      <dsp:nvSpPr>
        <dsp:cNvPr id="0" name=""/>
        <dsp:cNvSpPr/>
      </dsp:nvSpPr>
      <dsp:spPr>
        <a:xfrm rot="10800000">
          <a:off x="1382543" y="1850431"/>
          <a:ext cx="226136" cy="363137"/>
        </a:xfrm>
        <a:prstGeom prst="rightArrow">
          <a:avLst>
            <a:gd name="adj1" fmla="val 60000"/>
            <a:gd name="adj2" fmla="val 50000"/>
          </a:avLst>
        </a:prstGeom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 rot="10800000">
        <a:off x="1450384" y="1923058"/>
        <a:ext cx="158295" cy="217883"/>
      </dsp:txXfrm>
    </dsp:sp>
    <dsp:sp modelId="{72C78DB3-46FC-45D9-9B31-E6BF6F0A9179}">
      <dsp:nvSpPr>
        <dsp:cNvPr id="0" name=""/>
        <dsp:cNvSpPr/>
      </dsp:nvSpPr>
      <dsp:spPr>
        <a:xfrm>
          <a:off x="207824" y="1497974"/>
          <a:ext cx="1068050" cy="1068050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2000" b="1" kern="1200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价格</a:t>
          </a:r>
          <a:endParaRPr lang="en-US" altLang="zh-CN" sz="2000" b="1" kern="1200" dirty="0" smtClean="0">
            <a:solidFill>
              <a:srgbClr val="0000CC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2000" b="1" kern="1200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rPr>
            <a:t>低廉</a:t>
          </a:r>
          <a:endParaRPr lang="zh-CN" altLang="en-US" sz="2000" b="1" kern="1200" dirty="0">
            <a:solidFill>
              <a:srgbClr val="0000CC"/>
            </a:solidFill>
            <a:latin typeface="Times New Roman" pitchFamily="18" charset="0"/>
            <a:ea typeface="微软雅黑" pitchFamily="34" charset="-122"/>
            <a:cs typeface="Times New Roman" pitchFamily="18" charset="0"/>
          </a:endParaRPr>
        </a:p>
      </dsp:txBody>
      <dsp:txXfrm>
        <a:off x="364236" y="1654386"/>
        <a:ext cx="755226" cy="755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E8A86-479E-4030-A0CC-E1EA0DE8950C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5FD85-CA04-457A-8D75-DB9AC19E3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A90BE-D3C5-46B8-B156-5F707934EDC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6D729-0350-4F97-9EB5-63A95957CB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80C14-5AAC-4C37-963D-0479EFB63A61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1F351-5392-4178-BB88-63F4CA0CF7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A5703-0D82-471C-BFBB-276330455C4D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AD06D-1AA0-4A51-8BA7-94D6B72E0A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0195F-8FEF-4889-BEC7-6EFCD2B0D89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912A8-4364-4215-9F25-58FD692F77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802F2-BAF1-443F-A0A8-F98AEC26163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0147C-FD0A-4FFC-BB91-203016FD5D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84823-9E80-4957-8635-CE7834CA2B5C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A9B26-9EED-4510-98EC-7884BA5562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E6BE7-3FA8-48D0-9453-E00D7E440085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6AC3D-2EDE-4E79-9AA0-F5CA03A47E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561C1-9857-40D8-AE33-879E8AA31112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46075-D531-4475-ABFE-89A5D6F42C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48790-7109-4973-82BF-0173E3FF90BD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54CBB-4255-4CA8-895E-77CC15C828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9D8D5-9FB9-459C-9EC6-3A91D8BB0BDE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B772B-C552-4168-BC73-230F3A26C4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EF524B-FBC7-4E4F-A33C-0282EB4B8D7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368951-AE96-4445-B3B9-E2DDD2A2F6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diagramLayout" Target="../diagrams/layout1.xml"/><Relationship Id="rId7" Type="http://schemas.openxmlformats.org/officeDocument/2006/relationships/diagramLayout" Target="../diagrams/layout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microsoft.com/office/2007/relationships/diagramDrawing" Target="../diagrams/drawing1.xml"/><Relationship Id="rId4" Type="http://schemas.openxmlformats.org/officeDocument/2006/relationships/diagramQuickStyle" Target="../diagrams/quickStyle1.xml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图像传感器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CMOS</a:t>
            </a: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图像传感器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" descr="1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0222" y="4861214"/>
            <a:ext cx="3397250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Documents and Settings\Administrator\Application Data\Tencent\Users\2554662579\QQ\WinTemp\RichOle\KG$1XG8@DWNG3RX1U55}NX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1216" y="2958579"/>
            <a:ext cx="2812398" cy="1921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984722" y="4002377"/>
            <a:ext cx="1620837" cy="1439863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984722" y="3894427"/>
            <a:ext cx="539750" cy="10795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7524472" y="3894427"/>
            <a:ext cx="539750" cy="107950"/>
          </a:xfrm>
          <a:prstGeom prst="rect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8065809" y="3894427"/>
            <a:ext cx="539750" cy="107950"/>
          </a:xfrm>
          <a:prstGeom prst="rect">
            <a:avLst/>
          </a:prstGeom>
          <a:solidFill>
            <a:schemeClr val="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976784" y="3999202"/>
            <a:ext cx="1631950" cy="77787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12" descr="新闻纸"/>
          <p:cNvSpPr>
            <a:spLocks noChangeArrowheads="1"/>
          </p:cNvSpPr>
          <p:nvPr/>
        </p:nvSpPr>
        <p:spPr bwMode="auto">
          <a:xfrm>
            <a:off x="6975197" y="4778665"/>
            <a:ext cx="1631950" cy="65722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3" descr="花岗岩"/>
          <p:cNvSpPr>
            <a:spLocks noChangeArrowheads="1"/>
          </p:cNvSpPr>
          <p:nvPr/>
        </p:nvSpPr>
        <p:spPr bwMode="auto">
          <a:xfrm>
            <a:off x="6976784" y="4135727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4" descr="花岗岩"/>
          <p:cNvSpPr>
            <a:spLocks noChangeArrowheads="1"/>
          </p:cNvSpPr>
          <p:nvPr/>
        </p:nvSpPr>
        <p:spPr bwMode="auto">
          <a:xfrm>
            <a:off x="6972022" y="4330990"/>
            <a:ext cx="444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15" descr="花岗岩"/>
          <p:cNvSpPr>
            <a:spLocks noChangeArrowheads="1"/>
          </p:cNvSpPr>
          <p:nvPr/>
        </p:nvSpPr>
        <p:spPr bwMode="auto">
          <a:xfrm>
            <a:off x="7057747" y="4330990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16" descr="花岗岩"/>
          <p:cNvSpPr>
            <a:spLocks noChangeArrowheads="1"/>
          </p:cNvSpPr>
          <p:nvPr/>
        </p:nvSpPr>
        <p:spPr bwMode="auto">
          <a:xfrm>
            <a:off x="6981547" y="4521490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17" descr="花岗岩"/>
          <p:cNvSpPr>
            <a:spLocks noChangeArrowheads="1"/>
          </p:cNvSpPr>
          <p:nvPr/>
        </p:nvSpPr>
        <p:spPr bwMode="auto">
          <a:xfrm>
            <a:off x="7387947" y="4137315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18" descr="花岗岩"/>
          <p:cNvSpPr>
            <a:spLocks noChangeArrowheads="1"/>
          </p:cNvSpPr>
          <p:nvPr/>
        </p:nvSpPr>
        <p:spPr bwMode="auto">
          <a:xfrm>
            <a:off x="7392709" y="43230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19" descr="花岗岩"/>
          <p:cNvSpPr>
            <a:spLocks noChangeArrowheads="1"/>
          </p:cNvSpPr>
          <p:nvPr/>
        </p:nvSpPr>
        <p:spPr bwMode="auto">
          <a:xfrm>
            <a:off x="7497484" y="43230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20" descr="花岗岩"/>
          <p:cNvSpPr>
            <a:spLocks noChangeArrowheads="1"/>
          </p:cNvSpPr>
          <p:nvPr/>
        </p:nvSpPr>
        <p:spPr bwMode="auto">
          <a:xfrm>
            <a:off x="7595909" y="43230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Rectangle 21" descr="花岗岩"/>
          <p:cNvSpPr>
            <a:spLocks noChangeArrowheads="1"/>
          </p:cNvSpPr>
          <p:nvPr/>
        </p:nvSpPr>
        <p:spPr bwMode="auto">
          <a:xfrm>
            <a:off x="7392709" y="4523077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Rectangle 22" descr="花岗岩"/>
          <p:cNvSpPr>
            <a:spLocks noChangeArrowheads="1"/>
          </p:cNvSpPr>
          <p:nvPr/>
        </p:nvSpPr>
        <p:spPr bwMode="auto">
          <a:xfrm>
            <a:off x="7961034" y="4135727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23" descr="花岗岩"/>
          <p:cNvSpPr>
            <a:spLocks noChangeArrowheads="1"/>
          </p:cNvSpPr>
          <p:nvPr/>
        </p:nvSpPr>
        <p:spPr bwMode="auto">
          <a:xfrm>
            <a:off x="7965797" y="4321465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24" descr="花岗岩"/>
          <p:cNvSpPr>
            <a:spLocks noChangeArrowheads="1"/>
          </p:cNvSpPr>
          <p:nvPr/>
        </p:nvSpPr>
        <p:spPr bwMode="auto">
          <a:xfrm>
            <a:off x="8070572" y="4321465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25" descr="花岗岩"/>
          <p:cNvSpPr>
            <a:spLocks noChangeArrowheads="1"/>
          </p:cNvSpPr>
          <p:nvPr/>
        </p:nvSpPr>
        <p:spPr bwMode="auto">
          <a:xfrm>
            <a:off x="8168997" y="4321465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26" descr="花岗岩"/>
          <p:cNvSpPr>
            <a:spLocks noChangeArrowheads="1"/>
          </p:cNvSpPr>
          <p:nvPr/>
        </p:nvSpPr>
        <p:spPr bwMode="auto">
          <a:xfrm>
            <a:off x="7965797" y="4521490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27" descr="花岗岩"/>
          <p:cNvSpPr>
            <a:spLocks noChangeArrowheads="1"/>
          </p:cNvSpPr>
          <p:nvPr/>
        </p:nvSpPr>
        <p:spPr bwMode="auto">
          <a:xfrm>
            <a:off x="8481734" y="43230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Rectangle 28" descr="花岗岩"/>
          <p:cNvSpPr>
            <a:spLocks noChangeArrowheads="1"/>
          </p:cNvSpPr>
          <p:nvPr/>
        </p:nvSpPr>
        <p:spPr bwMode="auto">
          <a:xfrm>
            <a:off x="8564284" y="4323052"/>
            <a:ext cx="444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29" descr="花岗岩"/>
          <p:cNvSpPr>
            <a:spLocks noChangeArrowheads="1"/>
          </p:cNvSpPr>
          <p:nvPr/>
        </p:nvSpPr>
        <p:spPr bwMode="auto">
          <a:xfrm>
            <a:off x="8484909" y="4532602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30" descr="花岗岩"/>
          <p:cNvSpPr>
            <a:spLocks noChangeArrowheads="1"/>
          </p:cNvSpPr>
          <p:nvPr/>
        </p:nvSpPr>
        <p:spPr bwMode="auto">
          <a:xfrm>
            <a:off x="8481734" y="4129377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5" name="Picture 31" descr="图片1"/>
          <p:cNvPicPr>
            <a:picLocks noChangeAspect="1" noChangeArrowheads="1"/>
          </p:cNvPicPr>
          <p:nvPr/>
        </p:nvPicPr>
        <p:blipFill>
          <a:blip r:embed="rId6"/>
          <a:srcRect b="51707"/>
          <a:stretch>
            <a:fillRect/>
          </a:stretch>
        </p:blipFill>
        <p:spPr bwMode="auto">
          <a:xfrm>
            <a:off x="8056284" y="3722977"/>
            <a:ext cx="571500" cy="16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2" descr="图片1"/>
          <p:cNvPicPr>
            <a:picLocks noChangeAspect="1" noChangeArrowheads="1"/>
          </p:cNvPicPr>
          <p:nvPr/>
        </p:nvPicPr>
        <p:blipFill>
          <a:blip r:embed="rId6"/>
          <a:srcRect b="51707"/>
          <a:stretch>
            <a:fillRect/>
          </a:stretch>
        </p:blipFill>
        <p:spPr bwMode="auto">
          <a:xfrm>
            <a:off x="7518122" y="3721390"/>
            <a:ext cx="571500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3" descr="图片1"/>
          <p:cNvPicPr>
            <a:picLocks noChangeAspect="1" noChangeArrowheads="1"/>
          </p:cNvPicPr>
          <p:nvPr/>
        </p:nvPicPr>
        <p:blipFill>
          <a:blip r:embed="rId6"/>
          <a:srcRect b="51707"/>
          <a:stretch>
            <a:fillRect/>
          </a:stretch>
        </p:blipFill>
        <p:spPr bwMode="auto">
          <a:xfrm>
            <a:off x="6975197" y="3727740"/>
            <a:ext cx="571500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34" descr="大棋盘"/>
          <p:cNvSpPr>
            <a:spLocks noChangeArrowheads="1"/>
          </p:cNvSpPr>
          <p:nvPr/>
        </p:nvSpPr>
        <p:spPr bwMode="auto">
          <a:xfrm>
            <a:off x="7033934" y="4777077"/>
            <a:ext cx="428625" cy="66040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35" descr="大棋盘"/>
          <p:cNvSpPr>
            <a:spLocks noChangeArrowheads="1"/>
          </p:cNvSpPr>
          <p:nvPr/>
        </p:nvSpPr>
        <p:spPr bwMode="auto">
          <a:xfrm>
            <a:off x="7584797" y="4775490"/>
            <a:ext cx="428625" cy="66040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36" descr="大棋盘"/>
          <p:cNvSpPr>
            <a:spLocks noChangeArrowheads="1"/>
          </p:cNvSpPr>
          <p:nvPr/>
        </p:nvSpPr>
        <p:spPr bwMode="auto">
          <a:xfrm>
            <a:off x="8137247" y="4775490"/>
            <a:ext cx="428625" cy="66040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37" descr="大棋盘"/>
          <p:cNvSpPr>
            <a:spLocks noChangeArrowheads="1"/>
          </p:cNvSpPr>
          <p:nvPr/>
        </p:nvSpPr>
        <p:spPr bwMode="auto">
          <a:xfrm>
            <a:off x="8149947" y="4708815"/>
            <a:ext cx="69850" cy="6985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2" name="Rectangle 38" descr="大棋盘"/>
          <p:cNvSpPr>
            <a:spLocks noChangeArrowheads="1"/>
          </p:cNvSpPr>
          <p:nvPr/>
        </p:nvSpPr>
        <p:spPr bwMode="auto">
          <a:xfrm>
            <a:off x="7599084" y="4704052"/>
            <a:ext cx="69850" cy="6985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3" name="Rectangle 39" descr="大棋盘"/>
          <p:cNvSpPr>
            <a:spLocks noChangeArrowheads="1"/>
          </p:cNvSpPr>
          <p:nvPr/>
        </p:nvSpPr>
        <p:spPr bwMode="auto">
          <a:xfrm>
            <a:off x="7040284" y="4707227"/>
            <a:ext cx="69850" cy="6985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9216747" y="3883315"/>
            <a:ext cx="539750" cy="10795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41"/>
          <p:cNvSpPr>
            <a:spLocks noChangeArrowheads="1"/>
          </p:cNvSpPr>
          <p:nvPr/>
        </p:nvSpPr>
        <p:spPr bwMode="auto">
          <a:xfrm>
            <a:off x="9756497" y="3883315"/>
            <a:ext cx="539750" cy="107950"/>
          </a:xfrm>
          <a:prstGeom prst="rect">
            <a:avLst/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42"/>
          <p:cNvSpPr>
            <a:spLocks noChangeArrowheads="1"/>
          </p:cNvSpPr>
          <p:nvPr/>
        </p:nvSpPr>
        <p:spPr bwMode="auto">
          <a:xfrm>
            <a:off x="10297834" y="3883315"/>
            <a:ext cx="539750" cy="107950"/>
          </a:xfrm>
          <a:prstGeom prst="rect">
            <a:avLst/>
          </a:prstGeom>
          <a:solidFill>
            <a:schemeClr val="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7" name="Picture 43" descr="图片1"/>
          <p:cNvPicPr>
            <a:picLocks noChangeAspect="1" noChangeArrowheads="1"/>
          </p:cNvPicPr>
          <p:nvPr/>
        </p:nvPicPr>
        <p:blipFill>
          <a:blip r:embed="rId6"/>
          <a:srcRect b="51707"/>
          <a:stretch>
            <a:fillRect/>
          </a:stretch>
        </p:blipFill>
        <p:spPr bwMode="auto">
          <a:xfrm>
            <a:off x="10288309" y="3711865"/>
            <a:ext cx="571500" cy="16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4" descr="图片1"/>
          <p:cNvPicPr>
            <a:picLocks noChangeAspect="1" noChangeArrowheads="1"/>
          </p:cNvPicPr>
          <p:nvPr/>
        </p:nvPicPr>
        <p:blipFill>
          <a:blip r:embed="rId6"/>
          <a:srcRect b="51707"/>
          <a:stretch>
            <a:fillRect/>
          </a:stretch>
        </p:blipFill>
        <p:spPr bwMode="auto">
          <a:xfrm>
            <a:off x="9750147" y="3710277"/>
            <a:ext cx="571500" cy="16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5" descr="图片1"/>
          <p:cNvPicPr>
            <a:picLocks noChangeAspect="1" noChangeArrowheads="1"/>
          </p:cNvPicPr>
          <p:nvPr/>
        </p:nvPicPr>
        <p:blipFill>
          <a:blip r:embed="rId6"/>
          <a:srcRect b="51707"/>
          <a:stretch>
            <a:fillRect/>
          </a:stretch>
        </p:blipFill>
        <p:spPr bwMode="auto">
          <a:xfrm>
            <a:off x="9207222" y="3716627"/>
            <a:ext cx="571500" cy="16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Rectangle 46" descr="新闻纸"/>
          <p:cNvSpPr>
            <a:spLocks noChangeArrowheads="1"/>
          </p:cNvSpPr>
          <p:nvPr/>
        </p:nvSpPr>
        <p:spPr bwMode="auto">
          <a:xfrm>
            <a:off x="9211984" y="3996027"/>
            <a:ext cx="1631950" cy="65722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47" descr="大棋盘"/>
          <p:cNvSpPr>
            <a:spLocks noChangeArrowheads="1"/>
          </p:cNvSpPr>
          <p:nvPr/>
        </p:nvSpPr>
        <p:spPr bwMode="auto">
          <a:xfrm>
            <a:off x="9799359" y="4008727"/>
            <a:ext cx="428625" cy="638175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Rectangle 48" descr="大棋盘"/>
          <p:cNvSpPr>
            <a:spLocks noChangeArrowheads="1"/>
          </p:cNvSpPr>
          <p:nvPr/>
        </p:nvSpPr>
        <p:spPr bwMode="auto">
          <a:xfrm>
            <a:off x="9277072" y="4010315"/>
            <a:ext cx="428625" cy="638175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Rectangle 49" descr="大棋盘"/>
          <p:cNvSpPr>
            <a:spLocks noChangeArrowheads="1"/>
          </p:cNvSpPr>
          <p:nvPr/>
        </p:nvSpPr>
        <p:spPr bwMode="auto">
          <a:xfrm>
            <a:off x="10370859" y="4008727"/>
            <a:ext cx="428625" cy="638175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Rectangle 50"/>
          <p:cNvSpPr>
            <a:spLocks noChangeArrowheads="1"/>
          </p:cNvSpPr>
          <p:nvPr/>
        </p:nvSpPr>
        <p:spPr bwMode="auto">
          <a:xfrm>
            <a:off x="9213572" y="4664365"/>
            <a:ext cx="1631950" cy="777875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Rectangle 51" descr="大棋盘"/>
          <p:cNvSpPr>
            <a:spLocks noChangeArrowheads="1"/>
          </p:cNvSpPr>
          <p:nvPr/>
        </p:nvSpPr>
        <p:spPr bwMode="auto">
          <a:xfrm>
            <a:off x="9615209" y="4654840"/>
            <a:ext cx="69850" cy="6985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56" name="Rectangle 52" descr="大棋盘"/>
          <p:cNvSpPr>
            <a:spLocks noChangeArrowheads="1"/>
          </p:cNvSpPr>
          <p:nvPr/>
        </p:nvSpPr>
        <p:spPr bwMode="auto">
          <a:xfrm>
            <a:off x="10143847" y="4659602"/>
            <a:ext cx="69850" cy="6985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57" name="Rectangle 53" descr="大棋盘"/>
          <p:cNvSpPr>
            <a:spLocks noChangeArrowheads="1"/>
          </p:cNvSpPr>
          <p:nvPr/>
        </p:nvSpPr>
        <p:spPr bwMode="auto">
          <a:xfrm>
            <a:off x="10701059" y="4650077"/>
            <a:ext cx="69850" cy="69850"/>
          </a:xfrm>
          <a:prstGeom prst="rect">
            <a:avLst/>
          </a:prstGeom>
          <a:pattFill prst="lgCheck">
            <a:fgClr>
              <a:srgbClr val="FFCCCC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58" name="Rectangle 54"/>
          <p:cNvSpPr>
            <a:spLocks noChangeArrowheads="1"/>
          </p:cNvSpPr>
          <p:nvPr/>
        </p:nvSpPr>
        <p:spPr bwMode="auto">
          <a:xfrm>
            <a:off x="7438747" y="3362615"/>
            <a:ext cx="6635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入射光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59" name="Rectangle 55"/>
          <p:cNvSpPr>
            <a:spLocks noChangeArrowheads="1"/>
          </p:cNvSpPr>
          <p:nvPr/>
        </p:nvSpPr>
        <p:spPr bwMode="auto">
          <a:xfrm>
            <a:off x="6271934" y="3656302"/>
            <a:ext cx="8032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片上透镜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0" name="Rectangle 56"/>
          <p:cNvSpPr>
            <a:spLocks noChangeArrowheads="1"/>
          </p:cNvSpPr>
          <p:nvPr/>
        </p:nvSpPr>
        <p:spPr bwMode="auto">
          <a:xfrm>
            <a:off x="6205259" y="3830927"/>
            <a:ext cx="831850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 dirty="0">
                <a:latin typeface="Times New Roman" pitchFamily="18" charset="0"/>
                <a:ea typeface="微软雅黑" pitchFamily="34" charset="-122"/>
              </a:rPr>
              <a:t>彩色滤光片</a:t>
            </a:r>
            <a:endParaRPr lang="zh-CN" altLang="en-US" sz="1000" b="1" baseline="30000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1" name="Rectangle 57"/>
          <p:cNvSpPr>
            <a:spLocks noChangeArrowheads="1"/>
          </p:cNvSpPr>
          <p:nvPr/>
        </p:nvSpPr>
        <p:spPr bwMode="auto">
          <a:xfrm>
            <a:off x="6294159" y="4313527"/>
            <a:ext cx="77152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金属线路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2" name="Rectangle 58"/>
          <p:cNvSpPr>
            <a:spLocks noChangeArrowheads="1"/>
          </p:cNvSpPr>
          <p:nvPr/>
        </p:nvSpPr>
        <p:spPr bwMode="auto">
          <a:xfrm>
            <a:off x="6249709" y="4558002"/>
            <a:ext cx="8540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光接收层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3" name="Rectangle 59"/>
          <p:cNvSpPr>
            <a:spLocks noChangeArrowheads="1"/>
          </p:cNvSpPr>
          <p:nvPr/>
        </p:nvSpPr>
        <p:spPr bwMode="auto">
          <a:xfrm>
            <a:off x="6468784" y="5012027"/>
            <a:ext cx="6635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基板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4" name="Rectangle 60"/>
          <p:cNvSpPr>
            <a:spLocks noChangeArrowheads="1"/>
          </p:cNvSpPr>
          <p:nvPr/>
        </p:nvSpPr>
        <p:spPr bwMode="auto">
          <a:xfrm>
            <a:off x="7121247" y="5004090"/>
            <a:ext cx="825500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光电二极管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5" name="Rectangle 61"/>
          <p:cNvSpPr>
            <a:spLocks noChangeArrowheads="1"/>
          </p:cNvSpPr>
          <p:nvPr/>
        </p:nvSpPr>
        <p:spPr bwMode="auto">
          <a:xfrm>
            <a:off x="7251422" y="5454940"/>
            <a:ext cx="9810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前照射结构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10693122" y="4359565"/>
            <a:ext cx="6635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基板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7" name="Rectangle 65"/>
          <p:cNvSpPr>
            <a:spLocks noChangeArrowheads="1"/>
          </p:cNvSpPr>
          <p:nvPr/>
        </p:nvSpPr>
        <p:spPr bwMode="auto">
          <a:xfrm>
            <a:off x="9605684" y="3332452"/>
            <a:ext cx="6635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入射光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8" name="Rectangle 66"/>
          <p:cNvSpPr>
            <a:spLocks noChangeArrowheads="1"/>
          </p:cNvSpPr>
          <p:nvPr/>
        </p:nvSpPr>
        <p:spPr bwMode="auto">
          <a:xfrm>
            <a:off x="9894609" y="4167477"/>
            <a:ext cx="825500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光电二极管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9" name="Rectangle 67"/>
          <p:cNvSpPr>
            <a:spLocks noChangeArrowheads="1"/>
          </p:cNvSpPr>
          <p:nvPr/>
        </p:nvSpPr>
        <p:spPr bwMode="auto">
          <a:xfrm>
            <a:off x="8710334" y="4738977"/>
            <a:ext cx="469900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前面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70" name="Rectangle 68"/>
          <p:cNvSpPr>
            <a:spLocks noChangeArrowheads="1"/>
          </p:cNvSpPr>
          <p:nvPr/>
        </p:nvSpPr>
        <p:spPr bwMode="auto">
          <a:xfrm>
            <a:off x="9615209" y="5450177"/>
            <a:ext cx="981075" cy="244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1000" b="1">
                <a:latin typeface="Times New Roman" pitchFamily="18" charset="0"/>
                <a:ea typeface="微软雅黑" pitchFamily="34" charset="-122"/>
              </a:rPr>
              <a:t>背照射结构</a:t>
            </a:r>
            <a:endParaRPr lang="zh-CN" altLang="en-US" sz="1000" b="1" baseline="30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auto">
          <a:xfrm>
            <a:off x="7586384" y="3792827"/>
            <a:ext cx="25400" cy="33655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Line 70"/>
          <p:cNvSpPr>
            <a:spLocks noChangeShapeType="1"/>
          </p:cNvSpPr>
          <p:nvPr/>
        </p:nvSpPr>
        <p:spPr bwMode="auto">
          <a:xfrm>
            <a:off x="7772122" y="3737265"/>
            <a:ext cx="47625" cy="119062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Line 71"/>
          <p:cNvSpPr>
            <a:spLocks noChangeShapeType="1"/>
          </p:cNvSpPr>
          <p:nvPr/>
        </p:nvSpPr>
        <p:spPr bwMode="auto">
          <a:xfrm>
            <a:off x="7954684" y="3757902"/>
            <a:ext cx="25400" cy="3714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Line 72"/>
          <p:cNvSpPr>
            <a:spLocks noChangeShapeType="1"/>
          </p:cNvSpPr>
          <p:nvPr/>
        </p:nvSpPr>
        <p:spPr bwMode="auto">
          <a:xfrm>
            <a:off x="9654897" y="3534065"/>
            <a:ext cx="241300" cy="61912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Line 73"/>
          <p:cNvSpPr>
            <a:spLocks noChangeShapeType="1"/>
          </p:cNvSpPr>
          <p:nvPr/>
        </p:nvSpPr>
        <p:spPr bwMode="auto">
          <a:xfrm>
            <a:off x="9999384" y="3676940"/>
            <a:ext cx="68263" cy="47466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Line 74"/>
          <p:cNvSpPr>
            <a:spLocks noChangeShapeType="1"/>
          </p:cNvSpPr>
          <p:nvPr/>
        </p:nvSpPr>
        <p:spPr bwMode="auto">
          <a:xfrm>
            <a:off x="7519709" y="3594390"/>
            <a:ext cx="65088" cy="20002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Line 75"/>
          <p:cNvSpPr>
            <a:spLocks noChangeShapeType="1"/>
          </p:cNvSpPr>
          <p:nvPr/>
        </p:nvSpPr>
        <p:spPr bwMode="auto">
          <a:xfrm flipH="1">
            <a:off x="10200997" y="3715040"/>
            <a:ext cx="41275" cy="43656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Line 76"/>
          <p:cNvSpPr>
            <a:spLocks noChangeShapeType="1"/>
          </p:cNvSpPr>
          <p:nvPr/>
        </p:nvSpPr>
        <p:spPr bwMode="auto">
          <a:xfrm flipV="1">
            <a:off x="7637184" y="3797590"/>
            <a:ext cx="104775" cy="271462"/>
          </a:xfrm>
          <a:prstGeom prst="line">
            <a:avLst/>
          </a:prstGeom>
          <a:noFill/>
          <a:ln w="25400">
            <a:solidFill>
              <a:srgbClr val="FF66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Line 77"/>
          <p:cNvSpPr>
            <a:spLocks noChangeShapeType="1"/>
          </p:cNvSpPr>
          <p:nvPr/>
        </p:nvSpPr>
        <p:spPr bwMode="auto">
          <a:xfrm flipV="1">
            <a:off x="8021359" y="3805527"/>
            <a:ext cx="119063" cy="204788"/>
          </a:xfrm>
          <a:prstGeom prst="line">
            <a:avLst/>
          </a:prstGeom>
          <a:noFill/>
          <a:ln w="25400">
            <a:solidFill>
              <a:srgbClr val="FF66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Line 78"/>
          <p:cNvSpPr>
            <a:spLocks noChangeShapeType="1"/>
          </p:cNvSpPr>
          <p:nvPr/>
        </p:nvSpPr>
        <p:spPr bwMode="auto">
          <a:xfrm>
            <a:off x="7716559" y="3568990"/>
            <a:ext cx="57150" cy="18573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Line 79"/>
          <p:cNvSpPr>
            <a:spLocks noChangeShapeType="1"/>
          </p:cNvSpPr>
          <p:nvPr/>
        </p:nvSpPr>
        <p:spPr bwMode="auto">
          <a:xfrm>
            <a:off x="7900709" y="3580102"/>
            <a:ext cx="53975" cy="1809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Line 80"/>
          <p:cNvSpPr>
            <a:spLocks noChangeShapeType="1"/>
          </p:cNvSpPr>
          <p:nvPr/>
        </p:nvSpPr>
        <p:spPr bwMode="auto">
          <a:xfrm>
            <a:off x="9945409" y="3540415"/>
            <a:ext cx="52388" cy="1428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Line 81"/>
          <p:cNvSpPr>
            <a:spLocks noChangeShapeType="1"/>
          </p:cNvSpPr>
          <p:nvPr/>
        </p:nvSpPr>
        <p:spPr bwMode="auto">
          <a:xfrm>
            <a:off x="10156547" y="3516602"/>
            <a:ext cx="85725" cy="20955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Line 82"/>
          <p:cNvSpPr>
            <a:spLocks noChangeShapeType="1"/>
          </p:cNvSpPr>
          <p:nvPr/>
        </p:nvSpPr>
        <p:spPr bwMode="auto">
          <a:xfrm flipV="1">
            <a:off x="6818034" y="4773902"/>
            <a:ext cx="1895475" cy="47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Line 83"/>
          <p:cNvSpPr>
            <a:spLocks noChangeShapeType="1"/>
          </p:cNvSpPr>
          <p:nvPr/>
        </p:nvSpPr>
        <p:spPr bwMode="auto">
          <a:xfrm flipV="1">
            <a:off x="8711922" y="3981740"/>
            <a:ext cx="371475" cy="79851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Line 84"/>
          <p:cNvSpPr>
            <a:spLocks noChangeShapeType="1"/>
          </p:cNvSpPr>
          <p:nvPr/>
        </p:nvSpPr>
        <p:spPr bwMode="auto">
          <a:xfrm>
            <a:off x="9070697" y="3988090"/>
            <a:ext cx="1990725" cy="1428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Rectangle 85" descr="花岗岩"/>
          <p:cNvSpPr>
            <a:spLocks noChangeArrowheads="1"/>
          </p:cNvSpPr>
          <p:nvPr/>
        </p:nvSpPr>
        <p:spPr bwMode="auto">
          <a:xfrm>
            <a:off x="9213572" y="4835815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Rectangle 86" descr="花岗岩"/>
          <p:cNvSpPr>
            <a:spLocks noChangeArrowheads="1"/>
          </p:cNvSpPr>
          <p:nvPr/>
        </p:nvSpPr>
        <p:spPr bwMode="auto">
          <a:xfrm>
            <a:off x="9208809" y="5031077"/>
            <a:ext cx="444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Rectangle 87" descr="花岗岩"/>
          <p:cNvSpPr>
            <a:spLocks noChangeArrowheads="1"/>
          </p:cNvSpPr>
          <p:nvPr/>
        </p:nvSpPr>
        <p:spPr bwMode="auto">
          <a:xfrm>
            <a:off x="9294534" y="5031077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Rectangle 88" descr="花岗岩"/>
          <p:cNvSpPr>
            <a:spLocks noChangeArrowheads="1"/>
          </p:cNvSpPr>
          <p:nvPr/>
        </p:nvSpPr>
        <p:spPr bwMode="auto">
          <a:xfrm>
            <a:off x="9218334" y="5221577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Rectangle 89" descr="花岗岩"/>
          <p:cNvSpPr>
            <a:spLocks noChangeArrowheads="1"/>
          </p:cNvSpPr>
          <p:nvPr/>
        </p:nvSpPr>
        <p:spPr bwMode="auto">
          <a:xfrm>
            <a:off x="9624734" y="4837402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Rectangle 90" descr="花岗岩"/>
          <p:cNvSpPr>
            <a:spLocks noChangeArrowheads="1"/>
          </p:cNvSpPr>
          <p:nvPr/>
        </p:nvSpPr>
        <p:spPr bwMode="auto">
          <a:xfrm>
            <a:off x="9629497" y="5023140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Rectangle 91" descr="花岗岩"/>
          <p:cNvSpPr>
            <a:spLocks noChangeArrowheads="1"/>
          </p:cNvSpPr>
          <p:nvPr/>
        </p:nvSpPr>
        <p:spPr bwMode="auto">
          <a:xfrm>
            <a:off x="9734272" y="5023140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Rectangle 92" descr="花岗岩"/>
          <p:cNvSpPr>
            <a:spLocks noChangeArrowheads="1"/>
          </p:cNvSpPr>
          <p:nvPr/>
        </p:nvSpPr>
        <p:spPr bwMode="auto">
          <a:xfrm>
            <a:off x="9832697" y="5023140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Rectangle 93" descr="花岗岩"/>
          <p:cNvSpPr>
            <a:spLocks noChangeArrowheads="1"/>
          </p:cNvSpPr>
          <p:nvPr/>
        </p:nvSpPr>
        <p:spPr bwMode="auto">
          <a:xfrm>
            <a:off x="9629497" y="5223165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Rectangle 94" descr="花岗岩"/>
          <p:cNvSpPr>
            <a:spLocks noChangeArrowheads="1"/>
          </p:cNvSpPr>
          <p:nvPr/>
        </p:nvSpPr>
        <p:spPr bwMode="auto">
          <a:xfrm>
            <a:off x="10197822" y="4835815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Rectangle 95" descr="花岗岩"/>
          <p:cNvSpPr>
            <a:spLocks noChangeArrowheads="1"/>
          </p:cNvSpPr>
          <p:nvPr/>
        </p:nvSpPr>
        <p:spPr bwMode="auto">
          <a:xfrm>
            <a:off x="10202584" y="50215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Rectangle 96" descr="花岗岩"/>
          <p:cNvSpPr>
            <a:spLocks noChangeArrowheads="1"/>
          </p:cNvSpPr>
          <p:nvPr/>
        </p:nvSpPr>
        <p:spPr bwMode="auto">
          <a:xfrm>
            <a:off x="10307359" y="50215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Rectangle 97" descr="花岗岩"/>
          <p:cNvSpPr>
            <a:spLocks noChangeArrowheads="1"/>
          </p:cNvSpPr>
          <p:nvPr/>
        </p:nvSpPr>
        <p:spPr bwMode="auto">
          <a:xfrm>
            <a:off x="10405784" y="5021552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Rectangle 98" descr="花岗岩"/>
          <p:cNvSpPr>
            <a:spLocks noChangeArrowheads="1"/>
          </p:cNvSpPr>
          <p:nvPr/>
        </p:nvSpPr>
        <p:spPr bwMode="auto">
          <a:xfrm>
            <a:off x="10202584" y="5221577"/>
            <a:ext cx="2603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Rectangle 99" descr="花岗岩"/>
          <p:cNvSpPr>
            <a:spLocks noChangeArrowheads="1"/>
          </p:cNvSpPr>
          <p:nvPr/>
        </p:nvSpPr>
        <p:spPr bwMode="auto">
          <a:xfrm>
            <a:off x="10718522" y="5023140"/>
            <a:ext cx="476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Rectangle 100" descr="花岗岩"/>
          <p:cNvSpPr>
            <a:spLocks noChangeArrowheads="1"/>
          </p:cNvSpPr>
          <p:nvPr/>
        </p:nvSpPr>
        <p:spPr bwMode="auto">
          <a:xfrm>
            <a:off x="10801072" y="5023140"/>
            <a:ext cx="44450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Rectangle 101" descr="花岗岩"/>
          <p:cNvSpPr>
            <a:spLocks noChangeArrowheads="1"/>
          </p:cNvSpPr>
          <p:nvPr/>
        </p:nvSpPr>
        <p:spPr bwMode="auto">
          <a:xfrm>
            <a:off x="10721697" y="5232690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Rectangle 102" descr="花岗岩"/>
          <p:cNvSpPr>
            <a:spLocks noChangeArrowheads="1"/>
          </p:cNvSpPr>
          <p:nvPr/>
        </p:nvSpPr>
        <p:spPr bwMode="auto">
          <a:xfrm>
            <a:off x="10718522" y="4829465"/>
            <a:ext cx="123825" cy="101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Rectangle 12"/>
          <p:cNvSpPr>
            <a:spLocks noChangeArrowheads="1"/>
          </p:cNvSpPr>
          <p:nvPr/>
        </p:nvSpPr>
        <p:spPr bwMode="auto">
          <a:xfrm>
            <a:off x="2150222" y="1128409"/>
            <a:ext cx="9524290" cy="1377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CMOS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图像</a:t>
            </a:r>
            <a:r>
              <a:rPr lang="zh-CN" altLang="en-US" sz="28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传感器</a:t>
            </a:r>
            <a:endParaRPr lang="en-US" altLang="zh-CN" sz="2800" b="1" dirty="0" smtClean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  <a:p>
            <a:pPr algn="ctr"/>
            <a:r>
              <a:rPr kumimoji="1" lang="zh-CN" altLang="en-US" sz="28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Complementary  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Metal Oxide Semiconductor,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CMOS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endParaRPr kumimoji="1" lang="zh-CN" altLang="en-US" sz="2800" b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图像传感器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示 9"/>
          <p:cNvGraphicFramePr/>
          <p:nvPr>
            <p:extLst>
              <p:ext uri="{D42A27DB-BD31-4B8C-83A1-F6EECF244321}">
                <p14:modId xmlns="" xmlns:p14="http://schemas.microsoft.com/office/powerpoint/2010/main" val="3577956590"/>
              </p:ext>
            </p:extLst>
          </p:nvPr>
        </p:nvGraphicFramePr>
        <p:xfrm>
          <a:off x="4448755" y="2038037"/>
          <a:ext cx="447314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图示 10"/>
          <p:cNvGraphicFramePr/>
          <p:nvPr>
            <p:extLst>
              <p:ext uri="{D42A27DB-BD31-4B8C-83A1-F6EECF244321}">
                <p14:modId xmlns="" xmlns:p14="http://schemas.microsoft.com/office/powerpoint/2010/main" val="3365409773"/>
              </p:ext>
            </p:extLst>
          </p:nvPr>
        </p:nvGraphicFramePr>
        <p:xfrm>
          <a:off x="8861905" y="2061878"/>
          <a:ext cx="447314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723200" y="2148865"/>
            <a:ext cx="1556932" cy="58477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CMOS</a:t>
            </a:r>
          </a:p>
        </p:txBody>
      </p:sp>
      <p:sp>
        <p:nvSpPr>
          <p:cNvPr id="18" name="AutoShape 6"/>
          <p:cNvSpPr>
            <a:spLocks/>
          </p:cNvSpPr>
          <p:nvPr/>
        </p:nvSpPr>
        <p:spPr bwMode="auto">
          <a:xfrm rot="5400000">
            <a:off x="2258022" y="1632288"/>
            <a:ext cx="435478" cy="2789347"/>
          </a:xfrm>
          <a:prstGeom prst="leftBrace">
            <a:avLst>
              <a:gd name="adj1" fmla="val 41712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3200" b="1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822887" y="3426324"/>
            <a:ext cx="511936" cy="2246769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光电二极管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1721749" y="3379826"/>
            <a:ext cx="489638" cy="310854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场效应管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2716101" y="3377684"/>
            <a:ext cx="387318" cy="26776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 flipH="1">
            <a:off x="3606758" y="3358227"/>
            <a:ext cx="426820" cy="2246769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开关</a:t>
            </a:r>
          </a:p>
        </p:txBody>
      </p:sp>
      <p:sp>
        <p:nvSpPr>
          <p:cNvPr id="2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图像传感器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11" grpId="0">
        <p:bldAsOne/>
      </p:bldGraphic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150189" y="1014937"/>
            <a:ext cx="3155611" cy="58420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场效应管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5245100" y="3687762"/>
            <a:ext cx="3678238" cy="2822575"/>
            <a:chOff x="3232150" y="2813050"/>
            <a:chExt cx="3678238" cy="2822575"/>
          </a:xfrm>
        </p:grpSpPr>
        <p:sp>
          <p:nvSpPr>
            <p:cNvPr id="85" name="Rectangle 13"/>
            <p:cNvSpPr>
              <a:spLocks noChangeArrowheads="1"/>
            </p:cNvSpPr>
            <p:nvPr/>
          </p:nvSpPr>
          <p:spPr bwMode="auto">
            <a:xfrm>
              <a:off x="3489325" y="3933825"/>
              <a:ext cx="561975" cy="317500"/>
            </a:xfrm>
            <a:prstGeom prst="rect">
              <a:avLst/>
            </a:prstGeom>
            <a:solidFill>
              <a:srgbClr val="FF66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Rectangle 14"/>
            <p:cNvSpPr>
              <a:spLocks noChangeArrowheads="1"/>
            </p:cNvSpPr>
            <p:nvPr/>
          </p:nvSpPr>
          <p:spPr bwMode="auto">
            <a:xfrm>
              <a:off x="5176838" y="3933825"/>
              <a:ext cx="563562" cy="317500"/>
            </a:xfrm>
            <a:prstGeom prst="rect">
              <a:avLst/>
            </a:prstGeom>
            <a:solidFill>
              <a:srgbClr val="FF66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Rectangle 15"/>
            <p:cNvSpPr>
              <a:spLocks noChangeArrowheads="1"/>
            </p:cNvSpPr>
            <p:nvPr/>
          </p:nvSpPr>
          <p:spPr bwMode="auto">
            <a:xfrm>
              <a:off x="3233738" y="3933825"/>
              <a:ext cx="2763837" cy="110966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Rectangle 16"/>
            <p:cNvSpPr>
              <a:spLocks noChangeArrowheads="1"/>
            </p:cNvSpPr>
            <p:nvPr/>
          </p:nvSpPr>
          <p:spPr bwMode="auto">
            <a:xfrm>
              <a:off x="3232150" y="3616325"/>
              <a:ext cx="358775" cy="31750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Rectangle 17"/>
            <p:cNvSpPr>
              <a:spLocks noChangeArrowheads="1"/>
            </p:cNvSpPr>
            <p:nvPr/>
          </p:nvSpPr>
          <p:spPr bwMode="auto">
            <a:xfrm>
              <a:off x="3897313" y="3616325"/>
              <a:ext cx="1382712" cy="31750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Rectangle 19"/>
            <p:cNvSpPr>
              <a:spLocks noChangeArrowheads="1"/>
            </p:cNvSpPr>
            <p:nvPr/>
          </p:nvSpPr>
          <p:spPr bwMode="auto">
            <a:xfrm>
              <a:off x="5637213" y="3616325"/>
              <a:ext cx="358775" cy="31750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Rectangle 20"/>
            <p:cNvSpPr>
              <a:spLocks noChangeArrowheads="1"/>
            </p:cNvSpPr>
            <p:nvPr/>
          </p:nvSpPr>
          <p:spPr bwMode="auto">
            <a:xfrm>
              <a:off x="3949700" y="3457575"/>
              <a:ext cx="1279525" cy="158750"/>
            </a:xfrm>
            <a:prstGeom prst="rect">
              <a:avLst/>
            </a:prstGeom>
            <a:solidFill>
              <a:schemeClr val="tx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Rectangle 21"/>
            <p:cNvSpPr>
              <a:spLocks noChangeArrowheads="1"/>
            </p:cNvSpPr>
            <p:nvPr/>
          </p:nvSpPr>
          <p:spPr bwMode="auto">
            <a:xfrm>
              <a:off x="4511675" y="3405188"/>
              <a:ext cx="153988" cy="52387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24"/>
            <p:cNvSpPr>
              <a:spLocks noChangeArrowheads="1"/>
            </p:cNvSpPr>
            <p:nvPr/>
          </p:nvSpPr>
          <p:spPr bwMode="auto">
            <a:xfrm>
              <a:off x="5364163" y="3457575"/>
              <a:ext cx="204787" cy="476250"/>
            </a:xfrm>
            <a:prstGeom prst="rect">
              <a:avLst/>
            </a:prstGeom>
            <a:solidFill>
              <a:srgbClr val="0000FF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Oval 25"/>
            <p:cNvSpPr>
              <a:spLocks noChangeArrowheads="1"/>
            </p:cNvSpPr>
            <p:nvPr/>
          </p:nvSpPr>
          <p:spPr bwMode="auto">
            <a:xfrm>
              <a:off x="5391150" y="3355975"/>
              <a:ext cx="153988" cy="106363"/>
            </a:xfrm>
            <a:prstGeom prst="ellipse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Rectangle 26"/>
            <p:cNvSpPr>
              <a:spLocks noChangeArrowheads="1"/>
            </p:cNvSpPr>
            <p:nvPr/>
          </p:nvSpPr>
          <p:spPr bwMode="auto">
            <a:xfrm>
              <a:off x="4256088" y="5043488"/>
              <a:ext cx="715962" cy="106362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Oval 28"/>
            <p:cNvSpPr>
              <a:spLocks noChangeArrowheads="1"/>
            </p:cNvSpPr>
            <p:nvPr/>
          </p:nvSpPr>
          <p:spPr bwMode="auto">
            <a:xfrm>
              <a:off x="5407025" y="2940050"/>
              <a:ext cx="103188" cy="104775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29"/>
            <p:cNvSpPr>
              <a:spLocks noChangeArrowheads="1"/>
            </p:cNvSpPr>
            <p:nvPr/>
          </p:nvSpPr>
          <p:spPr bwMode="auto">
            <a:xfrm>
              <a:off x="3671888" y="3411538"/>
              <a:ext cx="153987" cy="52387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Rectangle 30"/>
            <p:cNvSpPr>
              <a:spLocks noChangeArrowheads="1"/>
            </p:cNvSpPr>
            <p:nvPr/>
          </p:nvSpPr>
          <p:spPr bwMode="auto">
            <a:xfrm>
              <a:off x="3646488" y="3452813"/>
              <a:ext cx="204787" cy="476250"/>
            </a:xfrm>
            <a:prstGeom prst="rect">
              <a:avLst/>
            </a:prstGeom>
            <a:solidFill>
              <a:srgbClr val="FF0000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37"/>
            <p:cNvSpPr>
              <a:spLocks noChangeShapeType="1"/>
            </p:cNvSpPr>
            <p:nvPr/>
          </p:nvSpPr>
          <p:spPr bwMode="auto">
            <a:xfrm flipH="1">
              <a:off x="3357563" y="3935413"/>
              <a:ext cx="1587" cy="3286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38"/>
            <p:cNvSpPr>
              <a:spLocks noChangeShapeType="1"/>
            </p:cNvSpPr>
            <p:nvPr/>
          </p:nvSpPr>
          <p:spPr bwMode="auto">
            <a:xfrm flipH="1">
              <a:off x="4162425" y="3938588"/>
              <a:ext cx="1588" cy="3286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39"/>
            <p:cNvSpPr>
              <a:spLocks noChangeShapeType="1"/>
            </p:cNvSpPr>
            <p:nvPr/>
          </p:nvSpPr>
          <p:spPr bwMode="auto">
            <a:xfrm>
              <a:off x="3517900" y="4418013"/>
              <a:ext cx="492125" cy="47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45"/>
            <p:cNvSpPr>
              <a:spLocks/>
            </p:cNvSpPr>
            <p:nvPr/>
          </p:nvSpPr>
          <p:spPr bwMode="auto">
            <a:xfrm>
              <a:off x="3355975" y="4260850"/>
              <a:ext cx="169863" cy="158750"/>
            </a:xfrm>
            <a:custGeom>
              <a:avLst/>
              <a:gdLst>
                <a:gd name="T0" fmla="*/ 0 w 159"/>
                <a:gd name="T1" fmla="*/ 0 h 144"/>
                <a:gd name="T2" fmla="*/ 2147483647 w 159"/>
                <a:gd name="T3" fmla="*/ 2147483647 h 144"/>
                <a:gd name="T4" fmla="*/ 2147483647 w 159"/>
                <a:gd name="T5" fmla="*/ 2147483647 h 144"/>
                <a:gd name="T6" fmla="*/ 2147483647 w 159"/>
                <a:gd name="T7" fmla="*/ 2147483647 h 144"/>
                <a:gd name="T8" fmla="*/ 2147483647 w 159"/>
                <a:gd name="T9" fmla="*/ 2147483647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"/>
                <a:gd name="T16" fmla="*/ 0 h 144"/>
                <a:gd name="T17" fmla="*/ 159 w 159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" h="144">
                  <a:moveTo>
                    <a:pt x="0" y="0"/>
                  </a:moveTo>
                  <a:cubicBezTo>
                    <a:pt x="1" y="15"/>
                    <a:pt x="2" y="31"/>
                    <a:pt x="6" y="48"/>
                  </a:cubicBezTo>
                  <a:cubicBezTo>
                    <a:pt x="10" y="65"/>
                    <a:pt x="17" y="86"/>
                    <a:pt x="27" y="101"/>
                  </a:cubicBezTo>
                  <a:cubicBezTo>
                    <a:pt x="37" y="116"/>
                    <a:pt x="45" y="130"/>
                    <a:pt x="67" y="137"/>
                  </a:cubicBezTo>
                  <a:cubicBezTo>
                    <a:pt x="89" y="144"/>
                    <a:pt x="145" y="143"/>
                    <a:pt x="159" y="14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47"/>
            <p:cNvSpPr>
              <a:spLocks/>
            </p:cNvSpPr>
            <p:nvPr/>
          </p:nvSpPr>
          <p:spPr bwMode="auto">
            <a:xfrm>
              <a:off x="4005263" y="4265613"/>
              <a:ext cx="158750" cy="158750"/>
            </a:xfrm>
            <a:custGeom>
              <a:avLst/>
              <a:gdLst>
                <a:gd name="T0" fmla="*/ 2147483647 w 148"/>
                <a:gd name="T1" fmla="*/ 0 h 143"/>
                <a:gd name="T2" fmla="*/ 2147483647 w 148"/>
                <a:gd name="T3" fmla="*/ 2147483647 h 143"/>
                <a:gd name="T4" fmla="*/ 2147483647 w 148"/>
                <a:gd name="T5" fmla="*/ 2147483647 h 143"/>
                <a:gd name="T6" fmla="*/ 2147483647 w 148"/>
                <a:gd name="T7" fmla="*/ 2147483647 h 143"/>
                <a:gd name="T8" fmla="*/ 0 w 148"/>
                <a:gd name="T9" fmla="*/ 2147483647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"/>
                <a:gd name="T16" fmla="*/ 0 h 143"/>
                <a:gd name="T17" fmla="*/ 148 w 148"/>
                <a:gd name="T18" fmla="*/ 143 h 1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" h="143">
                  <a:moveTo>
                    <a:pt x="148" y="0"/>
                  </a:moveTo>
                  <a:cubicBezTo>
                    <a:pt x="148" y="17"/>
                    <a:pt x="148" y="34"/>
                    <a:pt x="142" y="51"/>
                  </a:cubicBezTo>
                  <a:cubicBezTo>
                    <a:pt x="136" y="68"/>
                    <a:pt x="127" y="86"/>
                    <a:pt x="112" y="100"/>
                  </a:cubicBezTo>
                  <a:cubicBezTo>
                    <a:pt x="97" y="114"/>
                    <a:pt x="70" y="129"/>
                    <a:pt x="51" y="136"/>
                  </a:cubicBezTo>
                  <a:cubicBezTo>
                    <a:pt x="32" y="143"/>
                    <a:pt x="9" y="142"/>
                    <a:pt x="0" y="14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Oval 77"/>
            <p:cNvSpPr>
              <a:spLocks noChangeArrowheads="1"/>
            </p:cNvSpPr>
            <p:nvPr/>
          </p:nvSpPr>
          <p:spPr bwMode="auto">
            <a:xfrm>
              <a:off x="3673475" y="3351213"/>
              <a:ext cx="153988" cy="104775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Rectangle 78"/>
            <p:cNvSpPr>
              <a:spLocks noChangeArrowheads="1"/>
            </p:cNvSpPr>
            <p:nvPr/>
          </p:nvSpPr>
          <p:spPr bwMode="auto">
            <a:xfrm>
              <a:off x="5389563" y="3405188"/>
              <a:ext cx="153987" cy="52387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Freeform 79"/>
            <p:cNvSpPr>
              <a:spLocks/>
            </p:cNvSpPr>
            <p:nvPr/>
          </p:nvSpPr>
          <p:spPr bwMode="auto">
            <a:xfrm>
              <a:off x="5708650" y="4265613"/>
              <a:ext cx="157163" cy="157162"/>
            </a:xfrm>
            <a:custGeom>
              <a:avLst/>
              <a:gdLst>
                <a:gd name="T0" fmla="*/ 2147483647 w 148"/>
                <a:gd name="T1" fmla="*/ 0 h 143"/>
                <a:gd name="T2" fmla="*/ 2147483647 w 148"/>
                <a:gd name="T3" fmla="*/ 2147483647 h 143"/>
                <a:gd name="T4" fmla="*/ 2147483647 w 148"/>
                <a:gd name="T5" fmla="*/ 2147483647 h 143"/>
                <a:gd name="T6" fmla="*/ 2147483647 w 148"/>
                <a:gd name="T7" fmla="*/ 2147483647 h 143"/>
                <a:gd name="T8" fmla="*/ 0 w 148"/>
                <a:gd name="T9" fmla="*/ 2147483647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"/>
                <a:gd name="T16" fmla="*/ 0 h 143"/>
                <a:gd name="T17" fmla="*/ 148 w 148"/>
                <a:gd name="T18" fmla="*/ 143 h 1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" h="143">
                  <a:moveTo>
                    <a:pt x="148" y="0"/>
                  </a:moveTo>
                  <a:cubicBezTo>
                    <a:pt x="148" y="17"/>
                    <a:pt x="148" y="34"/>
                    <a:pt x="142" y="51"/>
                  </a:cubicBezTo>
                  <a:cubicBezTo>
                    <a:pt x="136" y="68"/>
                    <a:pt x="127" y="86"/>
                    <a:pt x="112" y="100"/>
                  </a:cubicBezTo>
                  <a:cubicBezTo>
                    <a:pt x="97" y="114"/>
                    <a:pt x="70" y="129"/>
                    <a:pt x="51" y="136"/>
                  </a:cubicBezTo>
                  <a:cubicBezTo>
                    <a:pt x="32" y="143"/>
                    <a:pt x="9" y="142"/>
                    <a:pt x="0" y="14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80"/>
            <p:cNvSpPr>
              <a:spLocks noChangeShapeType="1"/>
            </p:cNvSpPr>
            <p:nvPr/>
          </p:nvSpPr>
          <p:spPr bwMode="auto">
            <a:xfrm flipH="1">
              <a:off x="5867400" y="3932238"/>
              <a:ext cx="1588" cy="3286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81"/>
            <p:cNvSpPr>
              <a:spLocks noChangeShapeType="1"/>
            </p:cNvSpPr>
            <p:nvPr/>
          </p:nvSpPr>
          <p:spPr bwMode="auto">
            <a:xfrm>
              <a:off x="5214938" y="4418013"/>
              <a:ext cx="492125" cy="47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82"/>
            <p:cNvSpPr>
              <a:spLocks/>
            </p:cNvSpPr>
            <p:nvPr/>
          </p:nvSpPr>
          <p:spPr bwMode="auto">
            <a:xfrm>
              <a:off x="5043488" y="4259263"/>
              <a:ext cx="168275" cy="158750"/>
            </a:xfrm>
            <a:custGeom>
              <a:avLst/>
              <a:gdLst>
                <a:gd name="T0" fmla="*/ 0 w 159"/>
                <a:gd name="T1" fmla="*/ 0 h 144"/>
                <a:gd name="T2" fmla="*/ 2147483647 w 159"/>
                <a:gd name="T3" fmla="*/ 2147483647 h 144"/>
                <a:gd name="T4" fmla="*/ 2147483647 w 159"/>
                <a:gd name="T5" fmla="*/ 2147483647 h 144"/>
                <a:gd name="T6" fmla="*/ 2147483647 w 159"/>
                <a:gd name="T7" fmla="*/ 2147483647 h 144"/>
                <a:gd name="T8" fmla="*/ 2147483647 w 159"/>
                <a:gd name="T9" fmla="*/ 2147483647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9"/>
                <a:gd name="T16" fmla="*/ 0 h 144"/>
                <a:gd name="T17" fmla="*/ 159 w 159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9" h="144">
                  <a:moveTo>
                    <a:pt x="0" y="0"/>
                  </a:moveTo>
                  <a:cubicBezTo>
                    <a:pt x="1" y="15"/>
                    <a:pt x="2" y="31"/>
                    <a:pt x="6" y="48"/>
                  </a:cubicBezTo>
                  <a:cubicBezTo>
                    <a:pt x="10" y="65"/>
                    <a:pt x="17" y="86"/>
                    <a:pt x="27" y="101"/>
                  </a:cubicBezTo>
                  <a:cubicBezTo>
                    <a:pt x="37" y="116"/>
                    <a:pt x="45" y="130"/>
                    <a:pt x="67" y="137"/>
                  </a:cubicBezTo>
                  <a:cubicBezTo>
                    <a:pt x="89" y="144"/>
                    <a:pt x="145" y="143"/>
                    <a:pt x="159" y="14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83"/>
            <p:cNvSpPr>
              <a:spLocks noChangeShapeType="1"/>
            </p:cNvSpPr>
            <p:nvPr/>
          </p:nvSpPr>
          <p:spPr bwMode="auto">
            <a:xfrm flipH="1">
              <a:off x="5043488" y="3929063"/>
              <a:ext cx="1587" cy="3286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84"/>
            <p:cNvSpPr>
              <a:spLocks noChangeShapeType="1"/>
            </p:cNvSpPr>
            <p:nvPr/>
          </p:nvSpPr>
          <p:spPr bwMode="auto">
            <a:xfrm>
              <a:off x="4051300" y="3973513"/>
              <a:ext cx="111125" cy="1095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85"/>
            <p:cNvSpPr>
              <a:spLocks noChangeShapeType="1"/>
            </p:cNvSpPr>
            <p:nvPr/>
          </p:nvSpPr>
          <p:spPr bwMode="auto">
            <a:xfrm>
              <a:off x="4049713" y="4129088"/>
              <a:ext cx="112712" cy="1190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86"/>
            <p:cNvSpPr>
              <a:spLocks noChangeShapeType="1"/>
            </p:cNvSpPr>
            <p:nvPr/>
          </p:nvSpPr>
          <p:spPr bwMode="auto">
            <a:xfrm>
              <a:off x="3373438" y="3935413"/>
              <a:ext cx="115887" cy="95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87"/>
            <p:cNvSpPr>
              <a:spLocks noChangeShapeType="1"/>
            </p:cNvSpPr>
            <p:nvPr/>
          </p:nvSpPr>
          <p:spPr bwMode="auto">
            <a:xfrm>
              <a:off x="3359150" y="4075113"/>
              <a:ext cx="127000" cy="1111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88"/>
            <p:cNvSpPr>
              <a:spLocks noChangeShapeType="1"/>
            </p:cNvSpPr>
            <p:nvPr/>
          </p:nvSpPr>
          <p:spPr bwMode="auto">
            <a:xfrm>
              <a:off x="4011613" y="4251325"/>
              <a:ext cx="119062" cy="1158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89"/>
            <p:cNvSpPr>
              <a:spLocks noChangeShapeType="1"/>
            </p:cNvSpPr>
            <p:nvPr/>
          </p:nvSpPr>
          <p:spPr bwMode="auto">
            <a:xfrm>
              <a:off x="3852863" y="4251325"/>
              <a:ext cx="152400" cy="171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90"/>
            <p:cNvSpPr>
              <a:spLocks noChangeShapeType="1"/>
            </p:cNvSpPr>
            <p:nvPr/>
          </p:nvSpPr>
          <p:spPr bwMode="auto">
            <a:xfrm>
              <a:off x="3697288" y="4251325"/>
              <a:ext cx="152400" cy="1666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91"/>
            <p:cNvSpPr>
              <a:spLocks noChangeShapeType="1"/>
            </p:cNvSpPr>
            <p:nvPr/>
          </p:nvSpPr>
          <p:spPr bwMode="auto">
            <a:xfrm>
              <a:off x="3541713" y="4251325"/>
              <a:ext cx="171450" cy="169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92"/>
            <p:cNvSpPr>
              <a:spLocks noChangeShapeType="1"/>
            </p:cNvSpPr>
            <p:nvPr/>
          </p:nvSpPr>
          <p:spPr bwMode="auto">
            <a:xfrm>
              <a:off x="3360738" y="4233863"/>
              <a:ext cx="166687" cy="187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93"/>
            <p:cNvSpPr>
              <a:spLocks noChangeShapeType="1"/>
            </p:cNvSpPr>
            <p:nvPr/>
          </p:nvSpPr>
          <p:spPr bwMode="auto">
            <a:xfrm>
              <a:off x="5740400" y="3968750"/>
              <a:ext cx="127000" cy="1095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94"/>
            <p:cNvSpPr>
              <a:spLocks noChangeShapeType="1"/>
            </p:cNvSpPr>
            <p:nvPr/>
          </p:nvSpPr>
          <p:spPr bwMode="auto">
            <a:xfrm>
              <a:off x="5740400" y="4132263"/>
              <a:ext cx="125413" cy="120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95"/>
            <p:cNvSpPr>
              <a:spLocks noChangeShapeType="1"/>
            </p:cNvSpPr>
            <p:nvPr/>
          </p:nvSpPr>
          <p:spPr bwMode="auto">
            <a:xfrm>
              <a:off x="5691188" y="4248150"/>
              <a:ext cx="131762" cy="130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96"/>
            <p:cNvSpPr>
              <a:spLocks noChangeShapeType="1"/>
            </p:cNvSpPr>
            <p:nvPr/>
          </p:nvSpPr>
          <p:spPr bwMode="auto">
            <a:xfrm>
              <a:off x="5540375" y="4254500"/>
              <a:ext cx="157163" cy="168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97"/>
            <p:cNvSpPr>
              <a:spLocks noChangeShapeType="1"/>
            </p:cNvSpPr>
            <p:nvPr/>
          </p:nvSpPr>
          <p:spPr bwMode="auto">
            <a:xfrm>
              <a:off x="5067300" y="3932238"/>
              <a:ext cx="109538" cy="1000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98"/>
            <p:cNvSpPr>
              <a:spLocks noChangeShapeType="1"/>
            </p:cNvSpPr>
            <p:nvPr/>
          </p:nvSpPr>
          <p:spPr bwMode="auto">
            <a:xfrm>
              <a:off x="5045075" y="4059238"/>
              <a:ext cx="128588" cy="1349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99"/>
            <p:cNvSpPr>
              <a:spLocks noChangeShapeType="1"/>
            </p:cNvSpPr>
            <p:nvPr/>
          </p:nvSpPr>
          <p:spPr bwMode="auto">
            <a:xfrm>
              <a:off x="5233988" y="4251325"/>
              <a:ext cx="160337" cy="1666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00"/>
            <p:cNvSpPr>
              <a:spLocks noChangeShapeType="1"/>
            </p:cNvSpPr>
            <p:nvPr/>
          </p:nvSpPr>
          <p:spPr bwMode="auto">
            <a:xfrm>
              <a:off x="5384800" y="4249738"/>
              <a:ext cx="161925" cy="171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101"/>
            <p:cNvSpPr>
              <a:spLocks noChangeShapeType="1"/>
            </p:cNvSpPr>
            <p:nvPr/>
          </p:nvSpPr>
          <p:spPr bwMode="auto">
            <a:xfrm>
              <a:off x="5046663" y="4216400"/>
              <a:ext cx="196850" cy="20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Oval 102"/>
            <p:cNvSpPr>
              <a:spLocks noChangeArrowheads="1"/>
            </p:cNvSpPr>
            <p:nvPr/>
          </p:nvSpPr>
          <p:spPr bwMode="auto">
            <a:xfrm>
              <a:off x="4521200" y="5143500"/>
              <a:ext cx="152400" cy="1047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Rectangle 103"/>
            <p:cNvSpPr>
              <a:spLocks noChangeArrowheads="1"/>
            </p:cNvSpPr>
            <p:nvPr/>
          </p:nvSpPr>
          <p:spPr bwMode="auto">
            <a:xfrm>
              <a:off x="4521200" y="5126038"/>
              <a:ext cx="153988" cy="53975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Oval 106"/>
            <p:cNvSpPr>
              <a:spLocks noChangeArrowheads="1"/>
            </p:cNvSpPr>
            <p:nvPr/>
          </p:nvSpPr>
          <p:spPr bwMode="auto">
            <a:xfrm>
              <a:off x="4533900" y="2968625"/>
              <a:ext cx="103188" cy="10636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Oval 108"/>
            <p:cNvSpPr>
              <a:spLocks noChangeArrowheads="1"/>
            </p:cNvSpPr>
            <p:nvPr/>
          </p:nvSpPr>
          <p:spPr bwMode="auto">
            <a:xfrm>
              <a:off x="3689350" y="2936875"/>
              <a:ext cx="103188" cy="104775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Oval 126"/>
            <p:cNvSpPr>
              <a:spLocks noChangeArrowheads="1"/>
            </p:cNvSpPr>
            <p:nvPr/>
          </p:nvSpPr>
          <p:spPr bwMode="auto">
            <a:xfrm>
              <a:off x="4551363" y="5411788"/>
              <a:ext cx="103187" cy="10477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Rectangle 128"/>
            <p:cNvSpPr>
              <a:spLocks noChangeArrowheads="1"/>
            </p:cNvSpPr>
            <p:nvPr/>
          </p:nvSpPr>
          <p:spPr bwMode="auto">
            <a:xfrm>
              <a:off x="4130675" y="2813050"/>
              <a:ext cx="381000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G</a:t>
              </a:r>
            </a:p>
          </p:txBody>
        </p:sp>
        <p:sp>
          <p:nvSpPr>
            <p:cNvPr id="135" name="Rectangle 130"/>
            <p:cNvSpPr>
              <a:spLocks noChangeArrowheads="1"/>
            </p:cNvSpPr>
            <p:nvPr/>
          </p:nvSpPr>
          <p:spPr bwMode="auto">
            <a:xfrm>
              <a:off x="5032375" y="2830513"/>
              <a:ext cx="368300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0000FF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136" name="Rectangle 132"/>
            <p:cNvSpPr>
              <a:spLocks noChangeArrowheads="1"/>
            </p:cNvSpPr>
            <p:nvPr/>
          </p:nvSpPr>
          <p:spPr bwMode="auto">
            <a:xfrm>
              <a:off x="3336925" y="2832100"/>
              <a:ext cx="325438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solidFill>
                    <a:srgbClr val="FF0000"/>
                  </a:solidFill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137" name="Rectangle 133"/>
            <p:cNvSpPr>
              <a:spLocks noChangeArrowheads="1"/>
            </p:cNvSpPr>
            <p:nvPr/>
          </p:nvSpPr>
          <p:spPr bwMode="auto">
            <a:xfrm>
              <a:off x="3544888" y="3933825"/>
              <a:ext cx="461962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N</a:t>
              </a:r>
              <a:r>
                <a:rPr lang="en-US" altLang="zh-CN" sz="2000" b="1" baseline="3000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38" name="Rectangle 134"/>
            <p:cNvSpPr>
              <a:spLocks noChangeArrowheads="1"/>
            </p:cNvSpPr>
            <p:nvPr/>
          </p:nvSpPr>
          <p:spPr bwMode="auto">
            <a:xfrm>
              <a:off x="5256213" y="3938588"/>
              <a:ext cx="461962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</a:rPr>
                <a:t>N</a:t>
              </a:r>
              <a:r>
                <a:rPr lang="en-US" altLang="zh-CN" sz="2000" b="1" baseline="300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39" name="Rectangle 135"/>
            <p:cNvSpPr>
              <a:spLocks noChangeArrowheads="1"/>
            </p:cNvSpPr>
            <p:nvPr/>
          </p:nvSpPr>
          <p:spPr bwMode="auto">
            <a:xfrm>
              <a:off x="3355975" y="4559300"/>
              <a:ext cx="847725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P</a:t>
              </a:r>
              <a:r>
                <a:rPr lang="zh-CN" altLang="en-US" sz="2000" b="1">
                  <a:latin typeface="Times New Roman" pitchFamily="18" charset="0"/>
                </a:rPr>
                <a:t>衬底</a:t>
              </a:r>
              <a:endParaRPr lang="zh-CN" altLang="en-US" sz="2000" b="1" baseline="30000">
                <a:latin typeface="Times New Roman" pitchFamily="18" charset="0"/>
              </a:endParaRPr>
            </a:p>
          </p:txBody>
        </p:sp>
        <p:sp>
          <p:nvSpPr>
            <p:cNvPr id="140" name="Rectangle 136"/>
            <p:cNvSpPr>
              <a:spLocks noChangeArrowheads="1"/>
            </p:cNvSpPr>
            <p:nvPr/>
          </p:nvSpPr>
          <p:spPr bwMode="auto">
            <a:xfrm>
              <a:off x="4127500" y="5238750"/>
              <a:ext cx="354013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B</a:t>
              </a:r>
              <a:endParaRPr lang="en-US" altLang="zh-CN" sz="2000" b="1" baseline="30000">
                <a:latin typeface="Times New Roman" pitchFamily="18" charset="0"/>
              </a:endParaRPr>
            </a:p>
          </p:txBody>
        </p:sp>
        <p:sp>
          <p:nvSpPr>
            <p:cNvPr id="141" name="Rectangle 137"/>
            <p:cNvSpPr>
              <a:spLocks noChangeArrowheads="1"/>
            </p:cNvSpPr>
            <p:nvPr/>
          </p:nvSpPr>
          <p:spPr bwMode="auto">
            <a:xfrm>
              <a:off x="6259513" y="3567113"/>
              <a:ext cx="650875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S</a:t>
              </a:r>
              <a:r>
                <a:rPr lang="en-US" altLang="zh-CN" sz="2000" b="1" baseline="-25000">
                  <a:latin typeface="Times New Roman" pitchFamily="18" charset="0"/>
                </a:rPr>
                <a:t>i</a:t>
              </a:r>
              <a:r>
                <a:rPr lang="en-US" altLang="zh-CN" sz="2000" b="1">
                  <a:latin typeface="Times New Roman" pitchFamily="18" charset="0"/>
                </a:rPr>
                <a:t>O</a:t>
              </a:r>
              <a:r>
                <a:rPr lang="en-US" altLang="zh-CN" sz="20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42" name="Line 139"/>
            <p:cNvSpPr>
              <a:spLocks noChangeShapeType="1"/>
            </p:cNvSpPr>
            <p:nvPr/>
          </p:nvSpPr>
          <p:spPr bwMode="auto">
            <a:xfrm flipH="1">
              <a:off x="3849688" y="3616325"/>
              <a:ext cx="47625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40"/>
            <p:cNvSpPr>
              <a:spLocks noChangeShapeType="1"/>
            </p:cNvSpPr>
            <p:nvPr/>
          </p:nvSpPr>
          <p:spPr bwMode="auto">
            <a:xfrm>
              <a:off x="3589338" y="3616325"/>
              <a:ext cx="57150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141"/>
            <p:cNvSpPr>
              <a:spLocks noChangeShapeType="1"/>
            </p:cNvSpPr>
            <p:nvPr/>
          </p:nvSpPr>
          <p:spPr bwMode="auto">
            <a:xfrm flipH="1">
              <a:off x="5568950" y="3616325"/>
              <a:ext cx="68263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42"/>
            <p:cNvSpPr>
              <a:spLocks noChangeShapeType="1"/>
            </p:cNvSpPr>
            <p:nvPr/>
          </p:nvSpPr>
          <p:spPr bwMode="auto">
            <a:xfrm>
              <a:off x="5280025" y="3616325"/>
              <a:ext cx="82550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6" name="直接连接符 145"/>
            <p:cNvCxnSpPr/>
            <p:nvPr/>
          </p:nvCxnSpPr>
          <p:spPr>
            <a:xfrm rot="5400000">
              <a:off x="3571081" y="3188494"/>
              <a:ext cx="346075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rot="5400000">
              <a:off x="4415631" y="3229769"/>
              <a:ext cx="346075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rot="5400000">
              <a:off x="5293519" y="3191669"/>
              <a:ext cx="346075" cy="1587"/>
            </a:xfrm>
            <a:prstGeom prst="line">
              <a:avLst/>
            </a:prstGeom>
            <a:ln w="38100"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/>
            <p:cNvCxnSpPr/>
            <p:nvPr/>
          </p:nvCxnSpPr>
          <p:spPr>
            <a:xfrm rot="10800000" flipV="1">
              <a:off x="5807075" y="3781425"/>
              <a:ext cx="457200" cy="127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rot="5400000">
              <a:off x="4418806" y="5247482"/>
              <a:ext cx="346075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Text Box 5"/>
          <p:cNvSpPr txBox="1">
            <a:spLocks noChangeArrowheads="1"/>
          </p:cNvSpPr>
          <p:nvPr/>
        </p:nvSpPr>
        <p:spPr bwMode="auto">
          <a:xfrm>
            <a:off x="4568859" y="6692054"/>
            <a:ext cx="4540250" cy="523875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场效应管的基本结构</a:t>
            </a:r>
          </a:p>
        </p:txBody>
      </p:sp>
      <p:sp>
        <p:nvSpPr>
          <p:cNvPr id="153" name="Text Box 6"/>
          <p:cNvSpPr txBox="1">
            <a:spLocks noChangeArrowheads="1"/>
          </p:cNvSpPr>
          <p:nvPr/>
        </p:nvSpPr>
        <p:spPr bwMode="auto">
          <a:xfrm>
            <a:off x="2308224" y="1824172"/>
            <a:ext cx="8585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场效应管是一种具有表面场效应作用的单极性半导体器件。</a:t>
            </a:r>
          </a:p>
        </p:txBody>
      </p:sp>
      <p:sp>
        <p:nvSpPr>
          <p:cNvPr id="154" name="Text Box 9"/>
          <p:cNvSpPr txBox="1">
            <a:spLocks noChangeArrowheads="1"/>
          </p:cNvSpPr>
          <p:nvPr/>
        </p:nvSpPr>
        <p:spPr bwMode="auto">
          <a:xfrm>
            <a:off x="3646488" y="5265737"/>
            <a:ext cx="10604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2400" b="1">
                <a:solidFill>
                  <a:srgbClr val="FF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衬底</a:t>
            </a:r>
          </a:p>
        </p:txBody>
      </p:sp>
      <p:sp>
        <p:nvSpPr>
          <p:cNvPr id="155" name="Text Box 10"/>
          <p:cNvSpPr txBox="1">
            <a:spLocks noChangeArrowheads="1"/>
          </p:cNvSpPr>
          <p:nvPr/>
        </p:nvSpPr>
        <p:spPr bwMode="auto">
          <a:xfrm>
            <a:off x="3659188" y="3662362"/>
            <a:ext cx="9985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源极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</a:p>
        </p:txBody>
      </p:sp>
      <p:sp>
        <p:nvSpPr>
          <p:cNvPr id="156" name="Text Box 11"/>
          <p:cNvSpPr txBox="1">
            <a:spLocks noChangeArrowheads="1"/>
          </p:cNvSpPr>
          <p:nvPr/>
        </p:nvSpPr>
        <p:spPr bwMode="auto">
          <a:xfrm>
            <a:off x="8305800" y="3687762"/>
            <a:ext cx="10588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漏极</a:t>
            </a:r>
            <a:r>
              <a:rPr lang="en-US" altLang="zh-CN" sz="24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</a:p>
        </p:txBody>
      </p:sp>
      <p:sp>
        <p:nvSpPr>
          <p:cNvPr id="157" name="Text Box 12"/>
          <p:cNvSpPr txBox="1">
            <a:spLocks noChangeArrowheads="1"/>
          </p:cNvSpPr>
          <p:nvPr/>
        </p:nvSpPr>
        <p:spPr bwMode="auto">
          <a:xfrm>
            <a:off x="6043613" y="3171825"/>
            <a:ext cx="10842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66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栅极</a:t>
            </a:r>
            <a:r>
              <a:rPr lang="en-US" altLang="zh-CN" sz="2400" b="1">
                <a:solidFill>
                  <a:srgbClr val="660066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</a:t>
            </a:r>
          </a:p>
        </p:txBody>
      </p:sp>
      <p:sp>
        <p:nvSpPr>
          <p:cNvPr id="16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图像传感器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  <p:bldP spid="153" grpId="0"/>
      <p:bldP spid="154" grpId="0"/>
      <p:bldP spid="155" grpId="0"/>
      <p:bldP spid="156" grpId="0"/>
      <p:bldP spid="1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523079" y="1024180"/>
            <a:ext cx="2263775" cy="579437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200" b="1" dirty="0">
                <a:latin typeface="Arial" charset="0"/>
              </a:rPr>
              <a:t> 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开关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1211010" y="5061783"/>
            <a:ext cx="2700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开关电路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993104" y="2060785"/>
            <a:ext cx="4713288" cy="3571875"/>
            <a:chOff x="3993104" y="2060785"/>
            <a:chExt cx="4713288" cy="3571875"/>
          </a:xfrm>
        </p:grpSpPr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4923379" y="5113548"/>
              <a:ext cx="306705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MOS</a:t>
              </a:r>
              <a:r>
                <a:rPr lang="zh-CN" altLang="en-US" sz="2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开关特性</a:t>
              </a: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5391692" y="2144923"/>
              <a:ext cx="2190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4512217" y="2143335"/>
              <a:ext cx="874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5396454" y="2144923"/>
              <a:ext cx="0" cy="6000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H="1">
              <a:off x="4558254" y="2744998"/>
              <a:ext cx="833438" cy="47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7582442" y="2144923"/>
              <a:ext cx="0" cy="5857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H="1">
              <a:off x="7571329" y="2724360"/>
              <a:ext cx="10096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 flipH="1">
              <a:off x="4583654" y="3265698"/>
              <a:ext cx="10096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H="1" flipV="1">
              <a:off x="5572667" y="3265698"/>
              <a:ext cx="7318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H="1" flipV="1">
              <a:off x="4553492" y="3379998"/>
              <a:ext cx="1746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H="1" flipV="1">
              <a:off x="4585242" y="4135648"/>
              <a:ext cx="1746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H="1" flipV="1">
              <a:off x="4585242" y="4211848"/>
              <a:ext cx="1746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V="1">
              <a:off x="6420392" y="419756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5572667" y="3273635"/>
              <a:ext cx="0" cy="1457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6339429" y="4130885"/>
              <a:ext cx="0" cy="5762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7704679" y="4081673"/>
              <a:ext cx="0" cy="6238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8038054" y="3376823"/>
              <a:ext cx="9525" cy="1323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 flipV="1">
              <a:off x="7961854" y="3373648"/>
              <a:ext cx="7080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5572667" y="3264110"/>
              <a:ext cx="869950" cy="954088"/>
            </a:xfrm>
            <a:custGeom>
              <a:avLst/>
              <a:gdLst>
                <a:gd name="T0" fmla="*/ 0 w 581"/>
                <a:gd name="T1" fmla="*/ 0 h 628"/>
                <a:gd name="T2" fmla="*/ 2147483647 w 581"/>
                <a:gd name="T3" fmla="*/ 2147483647 h 628"/>
                <a:gd name="T4" fmla="*/ 2147483647 w 581"/>
                <a:gd name="T5" fmla="*/ 2147483647 h 628"/>
                <a:gd name="T6" fmla="*/ 2147483647 w 581"/>
                <a:gd name="T7" fmla="*/ 2147483647 h 628"/>
                <a:gd name="T8" fmla="*/ 2147483647 w 581"/>
                <a:gd name="T9" fmla="*/ 2147483647 h 628"/>
                <a:gd name="T10" fmla="*/ 2147483647 w 581"/>
                <a:gd name="T11" fmla="*/ 2147483647 h 6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1"/>
                <a:gd name="T19" fmla="*/ 0 h 628"/>
                <a:gd name="T20" fmla="*/ 581 w 581"/>
                <a:gd name="T21" fmla="*/ 628 h 6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1" h="628">
                  <a:moveTo>
                    <a:pt x="0" y="0"/>
                  </a:moveTo>
                  <a:cubicBezTo>
                    <a:pt x="41" y="70"/>
                    <a:pt x="82" y="140"/>
                    <a:pt x="135" y="204"/>
                  </a:cubicBezTo>
                  <a:cubicBezTo>
                    <a:pt x="188" y="268"/>
                    <a:pt x="251" y="320"/>
                    <a:pt x="318" y="384"/>
                  </a:cubicBezTo>
                  <a:cubicBezTo>
                    <a:pt x="385" y="448"/>
                    <a:pt x="499" y="554"/>
                    <a:pt x="540" y="591"/>
                  </a:cubicBezTo>
                  <a:cubicBezTo>
                    <a:pt x="581" y="628"/>
                    <a:pt x="564" y="609"/>
                    <a:pt x="564" y="609"/>
                  </a:cubicBezTo>
                  <a:cubicBezTo>
                    <a:pt x="564" y="609"/>
                    <a:pt x="550" y="598"/>
                    <a:pt x="537" y="58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7534817" y="3216485"/>
              <a:ext cx="809625" cy="971550"/>
            </a:xfrm>
            <a:custGeom>
              <a:avLst/>
              <a:gdLst>
                <a:gd name="T0" fmla="*/ 0 w 504"/>
                <a:gd name="T1" fmla="*/ 2147483647 h 609"/>
                <a:gd name="T2" fmla="*/ 2147483647 w 504"/>
                <a:gd name="T3" fmla="*/ 2147483647 h 609"/>
                <a:gd name="T4" fmla="*/ 2147483647 w 504"/>
                <a:gd name="T5" fmla="*/ 2147483647 h 609"/>
                <a:gd name="T6" fmla="*/ 2147483647 w 504"/>
                <a:gd name="T7" fmla="*/ 2147483647 h 609"/>
                <a:gd name="T8" fmla="*/ 2147483647 w 504"/>
                <a:gd name="T9" fmla="*/ 2147483647 h 609"/>
                <a:gd name="T10" fmla="*/ 2147483647 w 504"/>
                <a:gd name="T11" fmla="*/ 2147483647 h 609"/>
                <a:gd name="T12" fmla="*/ 2147483647 w 504"/>
                <a:gd name="T13" fmla="*/ 2147483647 h 609"/>
                <a:gd name="T14" fmla="*/ 2147483647 w 504"/>
                <a:gd name="T15" fmla="*/ 2147483647 h 609"/>
                <a:gd name="T16" fmla="*/ 2147483647 w 504"/>
                <a:gd name="T17" fmla="*/ 2147483647 h 609"/>
                <a:gd name="T18" fmla="*/ 2147483647 w 504"/>
                <a:gd name="T19" fmla="*/ 2147483647 h 609"/>
                <a:gd name="T20" fmla="*/ 2147483647 w 504"/>
                <a:gd name="T21" fmla="*/ 2147483647 h 609"/>
                <a:gd name="T22" fmla="*/ 2147483647 w 504"/>
                <a:gd name="T23" fmla="*/ 0 h 6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04"/>
                <a:gd name="T37" fmla="*/ 0 h 609"/>
                <a:gd name="T38" fmla="*/ 504 w 504"/>
                <a:gd name="T39" fmla="*/ 609 h 60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04" h="609">
                  <a:moveTo>
                    <a:pt x="0" y="609"/>
                  </a:moveTo>
                  <a:cubicBezTo>
                    <a:pt x="23" y="601"/>
                    <a:pt x="46" y="593"/>
                    <a:pt x="63" y="582"/>
                  </a:cubicBezTo>
                  <a:cubicBezTo>
                    <a:pt x="80" y="571"/>
                    <a:pt x="91" y="556"/>
                    <a:pt x="105" y="543"/>
                  </a:cubicBezTo>
                  <a:cubicBezTo>
                    <a:pt x="119" y="530"/>
                    <a:pt x="134" y="517"/>
                    <a:pt x="144" y="504"/>
                  </a:cubicBezTo>
                  <a:cubicBezTo>
                    <a:pt x="154" y="491"/>
                    <a:pt x="160" y="481"/>
                    <a:pt x="168" y="465"/>
                  </a:cubicBezTo>
                  <a:cubicBezTo>
                    <a:pt x="176" y="449"/>
                    <a:pt x="186" y="428"/>
                    <a:pt x="195" y="405"/>
                  </a:cubicBezTo>
                  <a:cubicBezTo>
                    <a:pt x="204" y="382"/>
                    <a:pt x="216" y="351"/>
                    <a:pt x="225" y="324"/>
                  </a:cubicBezTo>
                  <a:cubicBezTo>
                    <a:pt x="234" y="297"/>
                    <a:pt x="241" y="267"/>
                    <a:pt x="249" y="243"/>
                  </a:cubicBezTo>
                  <a:cubicBezTo>
                    <a:pt x="257" y="219"/>
                    <a:pt x="265" y="203"/>
                    <a:pt x="276" y="177"/>
                  </a:cubicBezTo>
                  <a:cubicBezTo>
                    <a:pt x="287" y="151"/>
                    <a:pt x="299" y="110"/>
                    <a:pt x="315" y="87"/>
                  </a:cubicBezTo>
                  <a:cubicBezTo>
                    <a:pt x="331" y="64"/>
                    <a:pt x="343" y="53"/>
                    <a:pt x="375" y="39"/>
                  </a:cubicBezTo>
                  <a:cubicBezTo>
                    <a:pt x="407" y="25"/>
                    <a:pt x="455" y="12"/>
                    <a:pt x="504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8344442" y="3206960"/>
              <a:ext cx="261937" cy="9525"/>
            </a:xfrm>
            <a:custGeom>
              <a:avLst/>
              <a:gdLst>
                <a:gd name="T0" fmla="*/ 0 w 165"/>
                <a:gd name="T1" fmla="*/ 2147483647 h 6"/>
                <a:gd name="T2" fmla="*/ 2147483647 w 165"/>
                <a:gd name="T3" fmla="*/ 0 h 6"/>
                <a:gd name="T4" fmla="*/ 0 60000 65536"/>
                <a:gd name="T5" fmla="*/ 0 60000 65536"/>
                <a:gd name="T6" fmla="*/ 0 w 165"/>
                <a:gd name="T7" fmla="*/ 0 h 6"/>
                <a:gd name="T8" fmla="*/ 165 w 165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6">
                  <a:moveTo>
                    <a:pt x="0" y="6"/>
                  </a:moveTo>
                  <a:cubicBezTo>
                    <a:pt x="69" y="3"/>
                    <a:pt x="138" y="1"/>
                    <a:pt x="165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V="1">
              <a:off x="5577429" y="4621423"/>
              <a:ext cx="762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 flipV="1">
              <a:off x="5215479" y="4621423"/>
              <a:ext cx="366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 flipH="1">
              <a:off x="6334667" y="4626185"/>
              <a:ext cx="404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7399879" y="4610310"/>
              <a:ext cx="3143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 flipV="1">
              <a:off x="7690392" y="4610310"/>
              <a:ext cx="3476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 flipH="1">
              <a:off x="8042817" y="4605548"/>
              <a:ext cx="2809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4801142" y="3878473"/>
              <a:ext cx="4762" cy="257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V="1">
              <a:off x="4796379" y="3268873"/>
              <a:ext cx="4763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6218779" y="3005348"/>
              <a:ext cx="4763" cy="257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 flipV="1">
              <a:off x="6218779" y="3367298"/>
              <a:ext cx="4763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6220367" y="3254585"/>
              <a:ext cx="0" cy="123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6277517" y="3119648"/>
              <a:ext cx="6921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itchFamily="18" charset="0"/>
                  <a:ea typeface="微软雅黑" pitchFamily="34" charset="-122"/>
                </a:rPr>
                <a:t>100%</a:t>
              </a:r>
              <a:endParaRPr lang="en-US" altLang="zh-CN" sz="1600" b="1">
                <a:latin typeface="Times New Roman" pitchFamily="18" charset="0"/>
              </a:endParaRP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4537617" y="3541923"/>
              <a:ext cx="5905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itchFamily="18" charset="0"/>
                  <a:ea typeface="微软雅黑" pitchFamily="34" charset="-122"/>
                </a:rPr>
                <a:t>90%</a:t>
              </a:r>
              <a:endParaRPr lang="en-US" altLang="zh-CN" sz="1600" b="1">
                <a:latin typeface="Times New Roman" pitchFamily="18" charset="0"/>
              </a:endParaRP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5761579" y="4608723"/>
              <a:ext cx="403225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1">
                  <a:latin typeface="Times New Roman" pitchFamily="18" charset="0"/>
                  <a:ea typeface="微软雅黑" pitchFamily="34" charset="-122"/>
                </a:rPr>
                <a:t>t</a:t>
              </a:r>
              <a:r>
                <a:rPr lang="en-US" altLang="zh-CN" sz="1600" b="1" i="1" baseline="-25000">
                  <a:latin typeface="Times New Roman" pitchFamily="18" charset="0"/>
                  <a:ea typeface="微软雅黑" pitchFamily="34" charset="-122"/>
                </a:rPr>
                <a:t>off</a:t>
              </a:r>
              <a:endParaRPr lang="en-US" altLang="zh-CN" sz="1600" b="1" i="1" baseline="-25000">
                <a:latin typeface="Times New Roman" pitchFamily="18" charset="0"/>
              </a:endParaRP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7679279" y="4602373"/>
              <a:ext cx="388938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1">
                  <a:latin typeface="Times New Roman" pitchFamily="18" charset="0"/>
                  <a:ea typeface="微软雅黑" pitchFamily="34" charset="-122"/>
                </a:rPr>
                <a:t>t</a:t>
              </a:r>
              <a:r>
                <a:rPr lang="en-US" altLang="zh-CN" sz="1600" b="1" i="1" baseline="-25000">
                  <a:latin typeface="Times New Roman" pitchFamily="18" charset="0"/>
                  <a:ea typeface="微软雅黑" pitchFamily="34" charset="-122"/>
                </a:rPr>
                <a:t>on</a:t>
              </a:r>
              <a:endParaRPr lang="en-US" altLang="zh-CN" sz="1600" b="1" i="1" baseline="-25000">
                <a:latin typeface="Times New Roman" pitchFamily="18" charset="0"/>
              </a:endParaRPr>
            </a:p>
          </p:txBody>
        </p:sp>
        <p:sp>
          <p:nvSpPr>
            <p:cNvPr id="48" name="Rectangle 51"/>
            <p:cNvSpPr>
              <a:spLocks noChangeArrowheads="1"/>
            </p:cNvSpPr>
            <p:nvPr/>
          </p:nvSpPr>
          <p:spPr bwMode="auto">
            <a:xfrm>
              <a:off x="3993104" y="3959435"/>
              <a:ext cx="4889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itchFamily="18" charset="0"/>
                  <a:ea typeface="微软雅黑" pitchFamily="34" charset="-122"/>
                </a:rPr>
                <a:t>“1”</a:t>
              </a:r>
              <a:endParaRPr lang="en-US" altLang="zh-CN" sz="1600" b="1">
                <a:latin typeface="Times New Roman" pitchFamily="18" charset="0"/>
              </a:endParaRPr>
            </a:p>
          </p:txBody>
        </p:sp>
        <p:sp>
          <p:nvSpPr>
            <p:cNvPr id="49" name="Rectangle 52"/>
            <p:cNvSpPr>
              <a:spLocks noChangeArrowheads="1"/>
            </p:cNvSpPr>
            <p:nvPr/>
          </p:nvSpPr>
          <p:spPr bwMode="auto">
            <a:xfrm>
              <a:off x="4010567" y="2562435"/>
              <a:ext cx="4889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itchFamily="18" charset="0"/>
                  <a:ea typeface="微软雅黑" pitchFamily="34" charset="-122"/>
                </a:rPr>
                <a:t>“1”</a:t>
              </a:r>
              <a:endParaRPr lang="en-US" altLang="zh-CN" sz="1600" b="1">
                <a:latin typeface="Times New Roman" pitchFamily="18" charset="0"/>
              </a:endParaRPr>
            </a:p>
          </p:txBody>
        </p:sp>
        <p:sp>
          <p:nvSpPr>
            <p:cNvPr id="50" name="Rectangle 53"/>
            <p:cNvSpPr>
              <a:spLocks noChangeArrowheads="1"/>
            </p:cNvSpPr>
            <p:nvPr/>
          </p:nvSpPr>
          <p:spPr bwMode="auto">
            <a:xfrm>
              <a:off x="3996279" y="3138698"/>
              <a:ext cx="4889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itchFamily="18" charset="0"/>
                  <a:ea typeface="微软雅黑" pitchFamily="34" charset="-122"/>
                </a:rPr>
                <a:t>“0”</a:t>
              </a:r>
              <a:endParaRPr lang="en-US" altLang="zh-CN" sz="1600" b="1">
                <a:latin typeface="Times New Roman" pitchFamily="18" charset="0"/>
              </a:endParaRPr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3999454" y="2060785"/>
              <a:ext cx="4889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>
                  <a:latin typeface="Times New Roman" pitchFamily="18" charset="0"/>
                  <a:ea typeface="微软雅黑" pitchFamily="34" charset="-122"/>
                </a:rPr>
                <a:t>“0”</a:t>
              </a:r>
              <a:endParaRPr lang="en-US" altLang="zh-CN" sz="1600" b="1">
                <a:latin typeface="Times New Roman" pitchFamily="18" charset="0"/>
              </a:endParaRPr>
            </a:p>
          </p:txBody>
        </p:sp>
      </p:grpSp>
      <p:sp>
        <p:nvSpPr>
          <p:cNvPr id="52" name="Line 72"/>
          <p:cNvSpPr>
            <a:spLocks noChangeShapeType="1"/>
          </p:cNvSpPr>
          <p:nvPr/>
        </p:nvSpPr>
        <p:spPr bwMode="auto">
          <a:xfrm>
            <a:off x="2223042" y="3794335"/>
            <a:ext cx="0" cy="160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 flipV="1">
            <a:off x="1549942" y="3946735"/>
            <a:ext cx="673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 78"/>
          <p:cNvSpPr>
            <a:spLocks noChangeArrowheads="1"/>
          </p:cNvSpPr>
          <p:nvPr/>
        </p:nvSpPr>
        <p:spPr bwMode="auto">
          <a:xfrm>
            <a:off x="2683417" y="2468773"/>
            <a:ext cx="365125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>
                <a:latin typeface="Times New Roman" pitchFamily="18" charset="0"/>
              </a:rPr>
              <a:t>I</a:t>
            </a:r>
            <a:r>
              <a:rPr lang="en-US" altLang="zh-CN" sz="2000" b="1" i="1" baseline="-25000">
                <a:latin typeface="Times New Roman" pitchFamily="18" charset="0"/>
              </a:rPr>
              <a:t>d</a:t>
            </a:r>
          </a:p>
        </p:txBody>
      </p:sp>
      <p:sp>
        <p:nvSpPr>
          <p:cNvPr id="55" name="Oval 87"/>
          <p:cNvSpPr>
            <a:spLocks noChangeArrowheads="1"/>
          </p:cNvSpPr>
          <p:nvPr/>
        </p:nvSpPr>
        <p:spPr bwMode="auto">
          <a:xfrm>
            <a:off x="2489742" y="2429085"/>
            <a:ext cx="101600" cy="10636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Oval 88"/>
          <p:cNvSpPr>
            <a:spLocks noChangeArrowheads="1"/>
          </p:cNvSpPr>
          <p:nvPr/>
        </p:nvSpPr>
        <p:spPr bwMode="auto">
          <a:xfrm>
            <a:off x="3391442" y="3451435"/>
            <a:ext cx="101600" cy="10636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Oval 89"/>
          <p:cNvSpPr>
            <a:spLocks noChangeArrowheads="1"/>
          </p:cNvSpPr>
          <p:nvPr/>
        </p:nvSpPr>
        <p:spPr bwMode="auto">
          <a:xfrm>
            <a:off x="1435642" y="3895935"/>
            <a:ext cx="101600" cy="10636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90"/>
          <p:cNvSpPr>
            <a:spLocks noChangeShapeType="1"/>
          </p:cNvSpPr>
          <p:nvPr/>
        </p:nvSpPr>
        <p:spPr bwMode="auto">
          <a:xfrm>
            <a:off x="2319879" y="3749885"/>
            <a:ext cx="24765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Line 91"/>
          <p:cNvSpPr>
            <a:spLocks noChangeShapeType="1"/>
          </p:cNvSpPr>
          <p:nvPr/>
        </p:nvSpPr>
        <p:spPr bwMode="auto">
          <a:xfrm>
            <a:off x="2327817" y="4024523"/>
            <a:ext cx="24765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92"/>
          <p:cNvSpPr>
            <a:spLocks noChangeShapeType="1"/>
          </p:cNvSpPr>
          <p:nvPr/>
        </p:nvSpPr>
        <p:spPr bwMode="auto">
          <a:xfrm>
            <a:off x="2467517" y="4621423"/>
            <a:ext cx="24765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Line 93"/>
          <p:cNvSpPr>
            <a:spLocks noChangeShapeType="1"/>
          </p:cNvSpPr>
          <p:nvPr/>
        </p:nvSpPr>
        <p:spPr bwMode="auto">
          <a:xfrm>
            <a:off x="2558004" y="3372060"/>
            <a:ext cx="635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Oval 94"/>
          <p:cNvSpPr>
            <a:spLocks noChangeArrowheads="1"/>
          </p:cNvSpPr>
          <p:nvPr/>
        </p:nvSpPr>
        <p:spPr bwMode="auto">
          <a:xfrm>
            <a:off x="2523079" y="3484773"/>
            <a:ext cx="69850" cy="8096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Line 95"/>
          <p:cNvSpPr>
            <a:spLocks noChangeShapeType="1"/>
          </p:cNvSpPr>
          <p:nvPr/>
        </p:nvSpPr>
        <p:spPr bwMode="auto">
          <a:xfrm flipV="1">
            <a:off x="2589754" y="3511760"/>
            <a:ext cx="800100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96"/>
          <p:cNvSpPr>
            <a:spLocks noChangeArrowheads="1"/>
          </p:cNvSpPr>
          <p:nvPr/>
        </p:nvSpPr>
        <p:spPr bwMode="auto">
          <a:xfrm>
            <a:off x="2475454" y="2908510"/>
            <a:ext cx="146050" cy="4635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97"/>
          <p:cNvSpPr>
            <a:spLocks noChangeShapeType="1"/>
          </p:cNvSpPr>
          <p:nvPr/>
        </p:nvSpPr>
        <p:spPr bwMode="auto">
          <a:xfrm>
            <a:off x="2570704" y="3892760"/>
            <a:ext cx="0" cy="723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Line 98"/>
          <p:cNvSpPr>
            <a:spLocks noChangeShapeType="1"/>
          </p:cNvSpPr>
          <p:nvPr/>
        </p:nvSpPr>
        <p:spPr bwMode="auto">
          <a:xfrm>
            <a:off x="2310354" y="3689560"/>
            <a:ext cx="0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Line 99"/>
          <p:cNvSpPr>
            <a:spLocks noChangeShapeType="1"/>
          </p:cNvSpPr>
          <p:nvPr/>
        </p:nvSpPr>
        <p:spPr bwMode="auto">
          <a:xfrm>
            <a:off x="2304004" y="3886410"/>
            <a:ext cx="2698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00"/>
          <p:cNvSpPr>
            <a:spLocks noChangeShapeType="1"/>
          </p:cNvSpPr>
          <p:nvPr/>
        </p:nvSpPr>
        <p:spPr bwMode="auto">
          <a:xfrm>
            <a:off x="2546892" y="2535448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Rectangle 101"/>
          <p:cNvSpPr>
            <a:spLocks noChangeArrowheads="1"/>
          </p:cNvSpPr>
          <p:nvPr/>
        </p:nvSpPr>
        <p:spPr bwMode="auto">
          <a:xfrm>
            <a:off x="1872583" y="2362410"/>
            <a:ext cx="545342" cy="40011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b="1" i="1" dirty="0" err="1" smtClean="0">
                <a:latin typeface="Times New Roman" pitchFamily="18" charset="0"/>
              </a:rPr>
              <a:t>V</a:t>
            </a:r>
            <a:r>
              <a:rPr lang="en-US" altLang="zh-CN" b="1" baseline="-25000" dirty="0" err="1" smtClean="0">
                <a:latin typeface="Times New Roman" pitchFamily="18" charset="0"/>
              </a:rPr>
              <a:t>bb</a:t>
            </a:r>
            <a:endParaRPr lang="en-US" altLang="zh-CN" sz="2000" b="1" baseline="-25000" dirty="0">
              <a:latin typeface="Times New Roman" pitchFamily="18" charset="0"/>
            </a:endParaRPr>
          </a:p>
        </p:txBody>
      </p:sp>
      <p:sp>
        <p:nvSpPr>
          <p:cNvPr id="70" name="Rectangle 102"/>
          <p:cNvSpPr>
            <a:spLocks noChangeArrowheads="1"/>
          </p:cNvSpPr>
          <p:nvPr/>
        </p:nvSpPr>
        <p:spPr bwMode="auto">
          <a:xfrm>
            <a:off x="2583404" y="3035510"/>
            <a:ext cx="477838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>
                <a:latin typeface="Times New Roman" pitchFamily="18" charset="0"/>
              </a:rPr>
              <a:t>R</a:t>
            </a:r>
            <a:r>
              <a:rPr lang="en-US" altLang="zh-CN" sz="2000" b="1" baseline="-25000">
                <a:latin typeface="Times New Roman" pitchFamily="18" charset="0"/>
              </a:rPr>
              <a:t>L</a:t>
            </a:r>
          </a:p>
        </p:txBody>
      </p:sp>
      <p:grpSp>
        <p:nvGrpSpPr>
          <p:cNvPr id="71" name="组合 79"/>
          <p:cNvGrpSpPr>
            <a:grpSpLocks/>
          </p:cNvGrpSpPr>
          <p:nvPr/>
        </p:nvGrpSpPr>
        <p:grpSpPr bwMode="auto">
          <a:xfrm>
            <a:off x="591091" y="3114890"/>
            <a:ext cx="1217611" cy="802642"/>
            <a:chOff x="604666" y="3147197"/>
            <a:chExt cx="1217696" cy="801372"/>
          </a:xfrm>
        </p:grpSpPr>
        <p:sp>
          <p:nvSpPr>
            <p:cNvPr id="81" name="Rectangle 74"/>
            <p:cNvSpPr>
              <a:spLocks noChangeArrowheads="1"/>
            </p:cNvSpPr>
            <p:nvPr/>
          </p:nvSpPr>
          <p:spPr bwMode="auto">
            <a:xfrm>
              <a:off x="626885" y="3549092"/>
              <a:ext cx="390134" cy="399477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 i="1" dirty="0">
                  <a:solidFill>
                    <a:srgbClr val="FF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b="1" i="1" baseline="-25000" dirty="0" smtClean="0">
                  <a:solidFill>
                    <a:srgbClr val="FF0000"/>
                  </a:solidFill>
                  <a:latin typeface="Times New Roman" pitchFamily="18" charset="0"/>
                </a:rPr>
                <a:t>i</a:t>
              </a:r>
              <a:endParaRPr lang="en-US" altLang="zh-CN" sz="2000" b="1" i="1" baseline="-250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pSp>
          <p:nvGrpSpPr>
            <p:cNvPr id="82" name="组合 77"/>
            <p:cNvGrpSpPr>
              <a:grpSpLocks/>
            </p:cNvGrpSpPr>
            <p:nvPr/>
          </p:nvGrpSpPr>
          <p:grpSpPr bwMode="auto">
            <a:xfrm>
              <a:off x="1206412" y="3280461"/>
              <a:ext cx="615950" cy="206375"/>
              <a:chOff x="1317625" y="3305175"/>
              <a:chExt cx="615950" cy="206375"/>
            </a:xfrm>
          </p:grpSpPr>
          <p:sp>
            <p:nvSpPr>
              <p:cNvPr id="84" name="Line 75"/>
              <p:cNvSpPr>
                <a:spLocks noChangeShapeType="1"/>
              </p:cNvSpPr>
              <p:nvPr/>
            </p:nvSpPr>
            <p:spPr bwMode="auto">
              <a:xfrm>
                <a:off x="1728788" y="3305175"/>
                <a:ext cx="0" cy="20478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76"/>
              <p:cNvSpPr>
                <a:spLocks noChangeShapeType="1"/>
              </p:cNvSpPr>
              <p:nvPr/>
            </p:nvSpPr>
            <p:spPr bwMode="auto">
              <a:xfrm>
                <a:off x="1519238" y="3500438"/>
                <a:ext cx="209550" cy="1587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79"/>
              <p:cNvSpPr>
                <a:spLocks noChangeShapeType="1"/>
              </p:cNvSpPr>
              <p:nvPr/>
            </p:nvSpPr>
            <p:spPr bwMode="auto">
              <a:xfrm>
                <a:off x="1527175" y="3306763"/>
                <a:ext cx="0" cy="204787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81"/>
              <p:cNvSpPr>
                <a:spLocks noChangeShapeType="1"/>
              </p:cNvSpPr>
              <p:nvPr/>
            </p:nvSpPr>
            <p:spPr bwMode="auto">
              <a:xfrm>
                <a:off x="1724025" y="3311525"/>
                <a:ext cx="209550" cy="158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82"/>
              <p:cNvSpPr>
                <a:spLocks noChangeShapeType="1"/>
              </p:cNvSpPr>
              <p:nvPr/>
            </p:nvSpPr>
            <p:spPr bwMode="auto">
              <a:xfrm>
                <a:off x="1317625" y="3317875"/>
                <a:ext cx="209550" cy="158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3" name="Rectangle 103"/>
            <p:cNvSpPr>
              <a:spLocks noChangeArrowheads="1"/>
            </p:cNvSpPr>
            <p:nvPr/>
          </p:nvSpPr>
          <p:spPr bwMode="auto">
            <a:xfrm>
              <a:off x="604666" y="3147197"/>
              <a:ext cx="692150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>
                  <a:latin typeface="Times New Roman" pitchFamily="18" charset="0"/>
                  <a:ea typeface="微软雅黑" pitchFamily="34" charset="-122"/>
                </a:rPr>
                <a:t>输入</a:t>
              </a:r>
            </a:p>
          </p:txBody>
        </p:sp>
      </p:grpSp>
      <p:grpSp>
        <p:nvGrpSpPr>
          <p:cNvPr id="72" name="组合 80"/>
          <p:cNvGrpSpPr>
            <a:grpSpLocks/>
          </p:cNvGrpSpPr>
          <p:nvPr/>
        </p:nvGrpSpPr>
        <p:grpSpPr bwMode="auto">
          <a:xfrm>
            <a:off x="2745329" y="3049797"/>
            <a:ext cx="1130265" cy="1015416"/>
            <a:chOff x="2759075" y="3082024"/>
            <a:chExt cx="1130110" cy="1014133"/>
          </a:xfrm>
        </p:grpSpPr>
        <p:sp>
          <p:nvSpPr>
            <p:cNvPr id="73" name="Rectangle 77"/>
            <p:cNvSpPr>
              <a:spLocks noChangeArrowheads="1"/>
            </p:cNvSpPr>
            <p:nvPr/>
          </p:nvSpPr>
          <p:spPr bwMode="auto">
            <a:xfrm>
              <a:off x="3379179" y="3635075"/>
              <a:ext cx="510006" cy="46108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000CC"/>
                  </a:solidFill>
                  <a:latin typeface="Times New Roman" pitchFamily="18" charset="0"/>
                </a:rPr>
                <a:t>V</a:t>
              </a:r>
              <a:r>
                <a:rPr lang="en-US" altLang="zh-CN" sz="2400" b="1" baseline="-25000" dirty="0" smtClean="0">
                  <a:solidFill>
                    <a:srgbClr val="0000CC"/>
                  </a:solidFill>
                  <a:latin typeface="Times New Roman" pitchFamily="18" charset="0"/>
                </a:rPr>
                <a:t>0</a:t>
              </a:r>
              <a:endParaRPr lang="en-US" altLang="zh-CN" sz="2400" b="1" dirty="0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grpSp>
          <p:nvGrpSpPr>
            <p:cNvPr id="74" name="组合 78"/>
            <p:cNvGrpSpPr>
              <a:grpSpLocks/>
            </p:cNvGrpSpPr>
            <p:nvPr/>
          </p:nvGrpSpPr>
          <p:grpSpPr bwMode="auto">
            <a:xfrm>
              <a:off x="2759075" y="3606800"/>
              <a:ext cx="635000" cy="215900"/>
              <a:chOff x="2759075" y="3606800"/>
              <a:chExt cx="635000" cy="215900"/>
            </a:xfrm>
          </p:grpSpPr>
          <p:sp>
            <p:nvSpPr>
              <p:cNvPr id="76" name="Line 80"/>
              <p:cNvSpPr>
                <a:spLocks noChangeShapeType="1"/>
              </p:cNvSpPr>
              <p:nvPr/>
            </p:nvSpPr>
            <p:spPr bwMode="auto">
              <a:xfrm>
                <a:off x="2974975" y="3617913"/>
                <a:ext cx="0" cy="204787"/>
              </a:xfrm>
              <a:prstGeom prst="line">
                <a:avLst/>
              </a:prstGeom>
              <a:noFill/>
              <a:ln w="3175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83"/>
              <p:cNvSpPr>
                <a:spLocks noChangeShapeType="1"/>
              </p:cNvSpPr>
              <p:nvPr/>
            </p:nvSpPr>
            <p:spPr bwMode="auto">
              <a:xfrm>
                <a:off x="2759075" y="3813175"/>
                <a:ext cx="209550" cy="1588"/>
              </a:xfrm>
              <a:prstGeom prst="line">
                <a:avLst/>
              </a:prstGeom>
              <a:noFill/>
              <a:ln w="3175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84"/>
              <p:cNvSpPr>
                <a:spLocks noChangeShapeType="1"/>
              </p:cNvSpPr>
              <p:nvPr/>
            </p:nvSpPr>
            <p:spPr bwMode="auto">
              <a:xfrm>
                <a:off x="3184525" y="3813175"/>
                <a:ext cx="209550" cy="1588"/>
              </a:xfrm>
              <a:prstGeom prst="line">
                <a:avLst/>
              </a:prstGeom>
              <a:noFill/>
              <a:ln w="3175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85"/>
              <p:cNvSpPr>
                <a:spLocks noChangeShapeType="1"/>
              </p:cNvSpPr>
              <p:nvPr/>
            </p:nvSpPr>
            <p:spPr bwMode="auto">
              <a:xfrm>
                <a:off x="2968625" y="3616325"/>
                <a:ext cx="209550" cy="1588"/>
              </a:xfrm>
              <a:prstGeom prst="line">
                <a:avLst/>
              </a:prstGeom>
              <a:noFill/>
              <a:ln w="3175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Line 86"/>
              <p:cNvSpPr>
                <a:spLocks noChangeShapeType="1"/>
              </p:cNvSpPr>
              <p:nvPr/>
            </p:nvSpPr>
            <p:spPr bwMode="auto">
              <a:xfrm>
                <a:off x="3186113" y="3606800"/>
                <a:ext cx="0" cy="204788"/>
              </a:xfrm>
              <a:prstGeom prst="line">
                <a:avLst/>
              </a:prstGeom>
              <a:noFill/>
              <a:ln w="3175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" name="Rectangle 104"/>
            <p:cNvSpPr>
              <a:spLocks noChangeArrowheads="1"/>
            </p:cNvSpPr>
            <p:nvPr/>
          </p:nvSpPr>
          <p:spPr bwMode="auto">
            <a:xfrm>
              <a:off x="3156379" y="3082024"/>
              <a:ext cx="692150" cy="396875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Times New Roman" pitchFamily="18" charset="0"/>
                  <a:ea typeface="微软雅黑" pitchFamily="34" charset="-122"/>
                </a:rPr>
                <a:t>输出</a:t>
              </a:r>
            </a:p>
          </p:txBody>
        </p:sp>
      </p:grpSp>
      <p:sp>
        <p:nvSpPr>
          <p:cNvPr id="90" name="Text Box 13"/>
          <p:cNvSpPr txBox="1">
            <a:spLocks noChangeArrowheads="1"/>
          </p:cNvSpPr>
          <p:nvPr/>
        </p:nvSpPr>
        <p:spPr bwMode="auto">
          <a:xfrm>
            <a:off x="9266615" y="1055506"/>
            <a:ext cx="3432175" cy="584775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负载电阻</a:t>
            </a:r>
          </a:p>
        </p:txBody>
      </p:sp>
      <p:sp>
        <p:nvSpPr>
          <p:cNvPr id="91" name="Line 11"/>
          <p:cNvSpPr>
            <a:spLocks noChangeShapeType="1"/>
          </p:cNvSpPr>
          <p:nvPr/>
        </p:nvSpPr>
        <p:spPr bwMode="auto">
          <a:xfrm>
            <a:off x="11785985" y="4389651"/>
            <a:ext cx="0" cy="1603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Line 12"/>
          <p:cNvSpPr>
            <a:spLocks noChangeShapeType="1"/>
          </p:cNvSpPr>
          <p:nvPr/>
        </p:nvSpPr>
        <p:spPr bwMode="auto">
          <a:xfrm flipV="1">
            <a:off x="11112885" y="4542051"/>
            <a:ext cx="673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Rectangle 13"/>
          <p:cNvSpPr>
            <a:spLocks noChangeArrowheads="1"/>
          </p:cNvSpPr>
          <p:nvPr/>
        </p:nvSpPr>
        <p:spPr bwMode="auto">
          <a:xfrm>
            <a:off x="10851036" y="4561101"/>
            <a:ext cx="441147" cy="40011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b="1" i="1" dirty="0">
                <a:latin typeface="Times New Roman" pitchFamily="18" charset="0"/>
              </a:rPr>
              <a:t>V</a:t>
            </a:r>
            <a:r>
              <a:rPr lang="en-US" altLang="zh-CN" sz="2000" b="1" baseline="-25000" dirty="0" smtClean="0">
                <a:latin typeface="Times New Roman" pitchFamily="18" charset="0"/>
              </a:rPr>
              <a:t>1</a:t>
            </a:r>
            <a:endParaRPr lang="en-US" altLang="zh-CN" sz="2000" b="1" baseline="-25000" dirty="0">
              <a:latin typeface="Times New Roman" pitchFamily="18" charset="0"/>
            </a:endParaRPr>
          </a:p>
        </p:txBody>
      </p:sp>
      <p:sp>
        <p:nvSpPr>
          <p:cNvPr id="94" name="Rectangle 16"/>
          <p:cNvSpPr>
            <a:spLocks noChangeArrowheads="1"/>
          </p:cNvSpPr>
          <p:nvPr/>
        </p:nvSpPr>
        <p:spPr bwMode="auto">
          <a:xfrm>
            <a:off x="12120948" y="4359488"/>
            <a:ext cx="439737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>
                <a:latin typeface="Times New Roman" pitchFamily="18" charset="0"/>
              </a:rPr>
              <a:t>T</a:t>
            </a:r>
            <a:r>
              <a:rPr lang="en-US" altLang="zh-CN" sz="2000" b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95" name="Line 18"/>
          <p:cNvSpPr>
            <a:spLocks noChangeShapeType="1"/>
          </p:cNvSpPr>
          <p:nvPr/>
        </p:nvSpPr>
        <p:spPr bwMode="auto">
          <a:xfrm>
            <a:off x="12114598" y="2533863"/>
            <a:ext cx="0" cy="722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Line 21"/>
          <p:cNvSpPr>
            <a:spLocks noChangeShapeType="1"/>
          </p:cNvSpPr>
          <p:nvPr/>
        </p:nvSpPr>
        <p:spPr bwMode="auto">
          <a:xfrm flipV="1">
            <a:off x="12155873" y="3870538"/>
            <a:ext cx="320675" cy="4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Oval 22"/>
          <p:cNvSpPr>
            <a:spLocks noChangeArrowheads="1"/>
          </p:cNvSpPr>
          <p:nvPr/>
        </p:nvSpPr>
        <p:spPr bwMode="auto">
          <a:xfrm>
            <a:off x="10998585" y="4491251"/>
            <a:ext cx="101600" cy="10636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Line 23"/>
          <p:cNvSpPr>
            <a:spLocks noChangeShapeType="1"/>
          </p:cNvSpPr>
          <p:nvPr/>
        </p:nvSpPr>
        <p:spPr bwMode="auto">
          <a:xfrm>
            <a:off x="11882823" y="4345201"/>
            <a:ext cx="24765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Line 24"/>
          <p:cNvSpPr>
            <a:spLocks noChangeShapeType="1"/>
          </p:cNvSpPr>
          <p:nvPr/>
        </p:nvSpPr>
        <p:spPr bwMode="auto">
          <a:xfrm>
            <a:off x="11890760" y="4619838"/>
            <a:ext cx="24765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Line 25"/>
          <p:cNvSpPr>
            <a:spLocks noChangeShapeType="1"/>
          </p:cNvSpPr>
          <p:nvPr/>
        </p:nvSpPr>
        <p:spPr bwMode="auto">
          <a:xfrm>
            <a:off x="12030460" y="5216738"/>
            <a:ext cx="24765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Line 26"/>
          <p:cNvSpPr>
            <a:spLocks noChangeShapeType="1"/>
          </p:cNvSpPr>
          <p:nvPr/>
        </p:nvSpPr>
        <p:spPr bwMode="auto">
          <a:xfrm>
            <a:off x="12120948" y="3387938"/>
            <a:ext cx="0" cy="960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Oval 27"/>
          <p:cNvSpPr>
            <a:spLocks noChangeArrowheads="1"/>
          </p:cNvSpPr>
          <p:nvPr/>
        </p:nvSpPr>
        <p:spPr bwMode="auto">
          <a:xfrm>
            <a:off x="12079673" y="3829263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Line 28"/>
          <p:cNvSpPr>
            <a:spLocks noChangeShapeType="1"/>
          </p:cNvSpPr>
          <p:nvPr/>
        </p:nvSpPr>
        <p:spPr bwMode="auto">
          <a:xfrm>
            <a:off x="12133648" y="4488076"/>
            <a:ext cx="0" cy="723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29"/>
          <p:cNvSpPr>
            <a:spLocks noChangeShapeType="1"/>
          </p:cNvSpPr>
          <p:nvPr/>
        </p:nvSpPr>
        <p:spPr bwMode="auto">
          <a:xfrm>
            <a:off x="11873298" y="4284876"/>
            <a:ext cx="0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Line 30"/>
          <p:cNvSpPr>
            <a:spLocks noChangeShapeType="1"/>
          </p:cNvSpPr>
          <p:nvPr/>
        </p:nvSpPr>
        <p:spPr bwMode="auto">
          <a:xfrm>
            <a:off x="11866948" y="4481726"/>
            <a:ext cx="2698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31"/>
          <p:cNvSpPr>
            <a:spLocks noChangeArrowheads="1"/>
          </p:cNvSpPr>
          <p:nvPr/>
        </p:nvSpPr>
        <p:spPr bwMode="auto">
          <a:xfrm>
            <a:off x="10833485" y="4081676"/>
            <a:ext cx="69215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>
                <a:latin typeface="Times New Roman" pitchFamily="18" charset="0"/>
                <a:ea typeface="微软雅黑" pitchFamily="34" charset="-122"/>
              </a:rPr>
              <a:t>输入</a:t>
            </a:r>
          </a:p>
        </p:txBody>
      </p:sp>
      <p:sp>
        <p:nvSpPr>
          <p:cNvPr id="107" name="Rectangle 32"/>
          <p:cNvSpPr>
            <a:spLocks noChangeArrowheads="1"/>
          </p:cNvSpPr>
          <p:nvPr/>
        </p:nvSpPr>
        <p:spPr bwMode="auto">
          <a:xfrm>
            <a:off x="12506710" y="3394288"/>
            <a:ext cx="69215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>
                <a:latin typeface="Times New Roman" pitchFamily="18" charset="0"/>
                <a:ea typeface="微软雅黑" pitchFamily="34" charset="-122"/>
              </a:rPr>
              <a:t>输出</a:t>
            </a:r>
          </a:p>
        </p:txBody>
      </p:sp>
      <p:sp>
        <p:nvSpPr>
          <p:cNvPr id="108" name="Line 34"/>
          <p:cNvSpPr>
            <a:spLocks noChangeShapeType="1"/>
          </p:cNvSpPr>
          <p:nvPr/>
        </p:nvSpPr>
        <p:spPr bwMode="auto">
          <a:xfrm>
            <a:off x="11782810" y="3310151"/>
            <a:ext cx="0" cy="160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36"/>
          <p:cNvSpPr>
            <a:spLocks noChangeShapeType="1"/>
          </p:cNvSpPr>
          <p:nvPr/>
        </p:nvSpPr>
        <p:spPr bwMode="auto">
          <a:xfrm>
            <a:off x="11879648" y="3253001"/>
            <a:ext cx="24765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37"/>
          <p:cNvSpPr>
            <a:spLocks noChangeShapeType="1"/>
          </p:cNvSpPr>
          <p:nvPr/>
        </p:nvSpPr>
        <p:spPr bwMode="auto">
          <a:xfrm>
            <a:off x="11878060" y="3527638"/>
            <a:ext cx="24765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Line 38"/>
          <p:cNvSpPr>
            <a:spLocks noChangeShapeType="1"/>
          </p:cNvSpPr>
          <p:nvPr/>
        </p:nvSpPr>
        <p:spPr bwMode="auto">
          <a:xfrm>
            <a:off x="11870123" y="3192676"/>
            <a:ext cx="0" cy="387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Line 39"/>
          <p:cNvSpPr>
            <a:spLocks noChangeShapeType="1"/>
          </p:cNvSpPr>
          <p:nvPr/>
        </p:nvSpPr>
        <p:spPr bwMode="auto">
          <a:xfrm>
            <a:off x="11863773" y="3389526"/>
            <a:ext cx="2698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Rectangle 40"/>
          <p:cNvSpPr>
            <a:spLocks noChangeArrowheads="1"/>
          </p:cNvSpPr>
          <p:nvPr/>
        </p:nvSpPr>
        <p:spPr bwMode="auto">
          <a:xfrm>
            <a:off x="11526014" y="2076663"/>
            <a:ext cx="545342" cy="40011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 dirty="0" err="1" smtClean="0">
                <a:latin typeface="Times New Roman" pitchFamily="18" charset="0"/>
              </a:rPr>
              <a:t>V</a:t>
            </a:r>
            <a:r>
              <a:rPr lang="en-US" altLang="zh-CN" b="1" baseline="-25000" dirty="0" err="1" smtClean="0">
                <a:latin typeface="Times New Roman" pitchFamily="18" charset="0"/>
              </a:rPr>
              <a:t>bb</a:t>
            </a:r>
            <a:endParaRPr lang="en-US" altLang="zh-CN" sz="2000" b="1" baseline="-25000" dirty="0">
              <a:latin typeface="Times New Roman" pitchFamily="18" charset="0"/>
            </a:endParaRPr>
          </a:p>
        </p:txBody>
      </p:sp>
      <p:sp>
        <p:nvSpPr>
          <p:cNvPr id="114" name="Oval 41"/>
          <p:cNvSpPr>
            <a:spLocks noChangeArrowheads="1"/>
          </p:cNvSpPr>
          <p:nvPr/>
        </p:nvSpPr>
        <p:spPr bwMode="auto">
          <a:xfrm>
            <a:off x="12057448" y="2189376"/>
            <a:ext cx="101600" cy="10636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Line 42"/>
          <p:cNvSpPr>
            <a:spLocks noChangeShapeType="1"/>
          </p:cNvSpPr>
          <p:nvPr/>
        </p:nvSpPr>
        <p:spPr bwMode="auto">
          <a:xfrm>
            <a:off x="12114598" y="2295738"/>
            <a:ext cx="0" cy="250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6" name="组合 41"/>
          <p:cNvGrpSpPr>
            <a:grpSpLocks/>
          </p:cNvGrpSpPr>
          <p:nvPr/>
        </p:nvGrpSpPr>
        <p:grpSpPr bwMode="auto">
          <a:xfrm>
            <a:off x="11176385" y="2779926"/>
            <a:ext cx="922338" cy="669925"/>
            <a:chOff x="774510" y="2378075"/>
            <a:chExt cx="922337" cy="669925"/>
          </a:xfrm>
        </p:grpSpPr>
        <p:sp>
          <p:nvSpPr>
            <p:cNvPr id="117" name="Line 35"/>
            <p:cNvSpPr>
              <a:spLocks noChangeShapeType="1"/>
            </p:cNvSpPr>
            <p:nvPr/>
          </p:nvSpPr>
          <p:spPr bwMode="auto">
            <a:xfrm>
              <a:off x="774700" y="3040063"/>
              <a:ext cx="604838" cy="7937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43"/>
            <p:cNvSpPr>
              <a:spLocks noChangeShapeType="1"/>
            </p:cNvSpPr>
            <p:nvPr/>
          </p:nvSpPr>
          <p:spPr bwMode="auto">
            <a:xfrm flipH="1">
              <a:off x="774510" y="2378075"/>
              <a:ext cx="922337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44"/>
            <p:cNvSpPr>
              <a:spLocks noChangeShapeType="1"/>
            </p:cNvSpPr>
            <p:nvPr/>
          </p:nvSpPr>
          <p:spPr bwMode="auto">
            <a:xfrm>
              <a:off x="790385" y="2384425"/>
              <a:ext cx="0" cy="64770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" name="Oval 45"/>
          <p:cNvSpPr>
            <a:spLocks noChangeArrowheads="1"/>
          </p:cNvSpPr>
          <p:nvPr/>
        </p:nvSpPr>
        <p:spPr bwMode="auto">
          <a:xfrm>
            <a:off x="12065385" y="2732301"/>
            <a:ext cx="69850" cy="80962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Oval 46"/>
          <p:cNvSpPr>
            <a:spLocks noChangeArrowheads="1"/>
          </p:cNvSpPr>
          <p:nvPr/>
        </p:nvSpPr>
        <p:spPr bwMode="auto">
          <a:xfrm>
            <a:off x="12474960" y="3813388"/>
            <a:ext cx="101600" cy="10636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Rectangle 47"/>
          <p:cNvSpPr>
            <a:spLocks noChangeArrowheads="1"/>
          </p:cNvSpPr>
          <p:nvPr/>
        </p:nvSpPr>
        <p:spPr bwMode="auto">
          <a:xfrm>
            <a:off x="12515298" y="3703851"/>
            <a:ext cx="489238" cy="40011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b="1" i="1" dirty="0">
                <a:latin typeface="Times New Roman" pitchFamily="18" charset="0"/>
              </a:rPr>
              <a:t>V</a:t>
            </a:r>
            <a:r>
              <a:rPr lang="en-US" altLang="zh-CN" sz="2000" b="1" baseline="-25000" dirty="0" smtClean="0">
                <a:latin typeface="Times New Roman" pitchFamily="18" charset="0"/>
              </a:rPr>
              <a:t>O</a:t>
            </a:r>
            <a:endParaRPr lang="en-US" altLang="zh-CN" sz="2000" b="1" baseline="-25000" dirty="0">
              <a:latin typeface="Times New Roman" pitchFamily="18" charset="0"/>
            </a:endParaRPr>
          </a:p>
        </p:txBody>
      </p:sp>
      <p:sp>
        <p:nvSpPr>
          <p:cNvPr id="123" name="Rectangle 48"/>
          <p:cNvSpPr>
            <a:spLocks noChangeArrowheads="1"/>
          </p:cNvSpPr>
          <p:nvPr/>
        </p:nvSpPr>
        <p:spPr bwMode="auto">
          <a:xfrm>
            <a:off x="12109835" y="3199026"/>
            <a:ext cx="439738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>
                <a:latin typeface="Times New Roman" pitchFamily="18" charset="0"/>
              </a:rPr>
              <a:t>T</a:t>
            </a:r>
            <a:r>
              <a:rPr lang="en-US" altLang="zh-CN" sz="2000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124" name="Rectangle 49"/>
          <p:cNvSpPr>
            <a:spLocks noChangeArrowheads="1"/>
          </p:cNvSpPr>
          <p:nvPr/>
        </p:nvSpPr>
        <p:spPr bwMode="auto">
          <a:xfrm>
            <a:off x="12152698" y="2322726"/>
            <a:ext cx="37465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>
                <a:latin typeface="Times New Roman" pitchFamily="18" charset="0"/>
              </a:rPr>
              <a:t>I</a:t>
            </a:r>
            <a:r>
              <a:rPr lang="en-US" altLang="zh-CN" sz="2000" b="1" baseline="-25000">
                <a:latin typeface="Times New Roman" pitchFamily="18" charset="0"/>
              </a:rPr>
              <a:t>d</a:t>
            </a:r>
          </a:p>
        </p:txBody>
      </p:sp>
      <p:grpSp>
        <p:nvGrpSpPr>
          <p:cNvPr id="125" name="组合 43"/>
          <p:cNvGrpSpPr>
            <a:grpSpLocks/>
          </p:cNvGrpSpPr>
          <p:nvPr/>
        </p:nvGrpSpPr>
        <p:grpSpPr bwMode="auto">
          <a:xfrm>
            <a:off x="9513691" y="2133476"/>
            <a:ext cx="1177097" cy="3615128"/>
            <a:chOff x="4450612" y="2188029"/>
            <a:chExt cx="1177302" cy="3613276"/>
          </a:xfrm>
        </p:grpSpPr>
        <p:sp>
          <p:nvSpPr>
            <p:cNvPr id="126" name="Text Box 16"/>
            <p:cNvSpPr txBox="1">
              <a:spLocks noChangeArrowheads="1"/>
            </p:cNvSpPr>
            <p:nvPr/>
          </p:nvSpPr>
          <p:spPr bwMode="auto">
            <a:xfrm>
              <a:off x="4450612" y="2301675"/>
              <a:ext cx="1177302" cy="336547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lang="en-US" altLang="zh-CN" sz="1800" b="1" baseline="-250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的栅极</a:t>
              </a: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G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与漏极</a:t>
              </a:r>
              <a:r>
                <a:rPr lang="en-US" altLang="zh-CN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D</a:t>
              </a:r>
              <a:r>
                <a:rPr lang="zh-CN" altLang="en-US" sz="18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短接，工作在饱和状态，等效于一个阻值确定的电阻</a:t>
              </a:r>
            </a:p>
          </p:txBody>
        </p:sp>
        <p:sp>
          <p:nvSpPr>
            <p:cNvPr id="127" name="圆角矩形标注 126"/>
            <p:cNvSpPr/>
            <p:nvPr/>
          </p:nvSpPr>
          <p:spPr>
            <a:xfrm>
              <a:off x="4450612" y="2188029"/>
              <a:ext cx="1166187" cy="3613276"/>
            </a:xfrm>
            <a:prstGeom prst="wedgeRoundRectCallout">
              <a:avLst>
                <a:gd name="adj1" fmla="val 88247"/>
                <a:gd name="adj2" fmla="val -28659"/>
                <a:gd name="adj3" fmla="val 16667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28" name="Text Box 15"/>
          <p:cNvSpPr txBox="1">
            <a:spLocks noChangeArrowheads="1"/>
          </p:cNvSpPr>
          <p:nvPr/>
        </p:nvSpPr>
        <p:spPr bwMode="auto">
          <a:xfrm>
            <a:off x="3922461" y="6135722"/>
            <a:ext cx="54022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成像器件中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管作用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9" name="Text Box 15"/>
          <p:cNvSpPr txBox="1">
            <a:spLocks noChangeArrowheads="1"/>
          </p:cNvSpPr>
          <p:nvPr/>
        </p:nvSpPr>
        <p:spPr bwMode="auto">
          <a:xfrm>
            <a:off x="4444748" y="6665169"/>
            <a:ext cx="21542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华文琥珀" pitchFamily="2" charset="-122"/>
                <a:ea typeface="华文琥珀" pitchFamily="2" charset="-122"/>
                <a:cs typeface="Times New Roman" pitchFamily="18" charset="0"/>
              </a:rPr>
              <a:t>寻址控制</a:t>
            </a:r>
          </a:p>
        </p:txBody>
      </p:sp>
      <p:sp>
        <p:nvSpPr>
          <p:cNvPr id="130" name="Text Box 15"/>
          <p:cNvSpPr txBox="1">
            <a:spLocks noChangeArrowheads="1"/>
          </p:cNvSpPr>
          <p:nvPr/>
        </p:nvSpPr>
        <p:spPr bwMode="auto">
          <a:xfrm>
            <a:off x="6695823" y="6656320"/>
            <a:ext cx="21542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latin typeface="华文琥珀" pitchFamily="2" charset="-122"/>
                <a:ea typeface="华文琥珀" pitchFamily="2" charset="-122"/>
                <a:cs typeface="Times New Roman" pitchFamily="18" charset="0"/>
              </a:rPr>
              <a:t>读出控制</a:t>
            </a:r>
          </a:p>
        </p:txBody>
      </p:sp>
      <p:sp>
        <p:nvSpPr>
          <p:cNvPr id="13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图像传感器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2" grpId="0" animBg="1"/>
      <p:bldP spid="93" grpId="0"/>
      <p:bldP spid="94" grpId="0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/>
      <p:bldP spid="107" grpId="0"/>
      <p:bldP spid="108" grpId="0" animBg="1"/>
      <p:bldP spid="109" grpId="0" animBg="1"/>
      <p:bldP spid="110" grpId="0" animBg="1"/>
      <p:bldP spid="111" grpId="0" animBg="1"/>
      <p:bldP spid="112" grpId="0" animBg="1"/>
      <p:bldP spid="113" grpId="0"/>
      <p:bldP spid="114" grpId="0" animBg="1"/>
      <p:bldP spid="115" grpId="0" animBg="1"/>
      <p:bldP spid="120" grpId="0" animBg="1"/>
      <p:bldP spid="121" grpId="0" animBg="1"/>
      <p:bldP spid="122" grpId="0"/>
      <p:bldP spid="123" grpId="0"/>
      <p:bldP spid="124" grpId="0"/>
      <p:bldP spid="128" grpId="0"/>
      <p:bldP spid="129" grpId="0"/>
      <p:bldP spid="1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0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342367" y="3514203"/>
            <a:ext cx="10561029" cy="850403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CMOS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成像器件的像敏单元的结构与工作原理</a:t>
            </a: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254833" y="3283064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988340" y="1209220"/>
            <a:ext cx="5340368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CMOS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的像敏单元结构</a:t>
            </a:r>
            <a:r>
              <a:rPr lang="zh-CN" altLang="en-US" sz="44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303472" y="2390251"/>
            <a:ext cx="1152727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像敏单元结构指每个成像单元的电路结构，是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CMOS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图像传感器的核心组件。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003425" y="4460216"/>
            <a:ext cx="2847975" cy="144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微软雅黑" pitchFamily="34" charset="-122"/>
                <a:ea typeface="微软雅黑" pitchFamily="34" charset="-122"/>
              </a:rPr>
              <a:t>像敏单元结构</a:t>
            </a:r>
          </a:p>
          <a:p>
            <a:pPr algn="ctr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微软雅黑" pitchFamily="34" charset="-122"/>
                <a:ea typeface="微软雅黑" pitchFamily="34" charset="-122"/>
              </a:rPr>
              <a:t>有两种类型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547521" y="4215606"/>
            <a:ext cx="3781188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FF0000"/>
                </a:solidFill>
                <a:latin typeface="华文琥珀" pitchFamily="2" charset="-122"/>
                <a:ea typeface="华文琥珀" pitchFamily="2" charset="-122"/>
              </a:rPr>
              <a:t>被动像敏单元结构</a:t>
            </a:r>
            <a:endParaRPr lang="zh-CN" altLang="en-US" sz="3200" dirty="0"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5577682" y="5384006"/>
            <a:ext cx="3887331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FF0000"/>
                </a:solidFill>
                <a:latin typeface="华文琥珀" pitchFamily="2" charset="-122"/>
                <a:ea typeface="华文琥珀" pitchFamily="2" charset="-122"/>
              </a:rPr>
              <a:t>主动像敏单元结构</a:t>
            </a:r>
            <a:endParaRPr lang="zh-CN" altLang="en-US" sz="3200" dirty="0"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4727643" y="4533089"/>
            <a:ext cx="593387" cy="1376050"/>
          </a:xfrm>
          <a:prstGeom prst="leftBrace">
            <a:avLst>
              <a:gd name="adj1" fmla="val 8333"/>
              <a:gd name="adj2" fmla="val 50707"/>
            </a:avLst>
          </a:prstGeom>
          <a:ln w="317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26"/>
          <p:cNvSpPr>
            <a:spLocks/>
          </p:cNvSpPr>
          <p:nvPr/>
        </p:nvSpPr>
        <p:spPr bwMode="auto">
          <a:xfrm>
            <a:off x="4725016" y="3482512"/>
            <a:ext cx="2597150" cy="1131888"/>
          </a:xfrm>
          <a:custGeom>
            <a:avLst/>
            <a:gdLst>
              <a:gd name="T0" fmla="*/ 2147483647 w 1636"/>
              <a:gd name="T1" fmla="*/ 2147483647 h 713"/>
              <a:gd name="T2" fmla="*/ 2147483647 w 1636"/>
              <a:gd name="T3" fmla="*/ 2147483647 h 713"/>
              <a:gd name="T4" fmla="*/ 2147483647 w 1636"/>
              <a:gd name="T5" fmla="*/ 2147483647 h 713"/>
              <a:gd name="T6" fmla="*/ 2147483647 w 1636"/>
              <a:gd name="T7" fmla="*/ 2147483647 h 713"/>
              <a:gd name="T8" fmla="*/ 2147483647 w 1636"/>
              <a:gd name="T9" fmla="*/ 2147483647 h 713"/>
              <a:gd name="T10" fmla="*/ 2147483647 w 1636"/>
              <a:gd name="T11" fmla="*/ 2147483647 h 713"/>
              <a:gd name="T12" fmla="*/ 2147483647 w 1636"/>
              <a:gd name="T13" fmla="*/ 2147483647 h 713"/>
              <a:gd name="T14" fmla="*/ 2147483647 w 1636"/>
              <a:gd name="T15" fmla="*/ 2147483647 h 713"/>
              <a:gd name="T16" fmla="*/ 2147483647 w 1636"/>
              <a:gd name="T17" fmla="*/ 2147483647 h 713"/>
              <a:gd name="T18" fmla="*/ 2147483647 w 1636"/>
              <a:gd name="T19" fmla="*/ 2147483647 h 713"/>
              <a:gd name="T20" fmla="*/ 2147483647 w 1636"/>
              <a:gd name="T21" fmla="*/ 2147483647 h 713"/>
              <a:gd name="T22" fmla="*/ 0 w 1636"/>
              <a:gd name="T23" fmla="*/ 2147483647 h 713"/>
              <a:gd name="T24" fmla="*/ 2147483647 w 1636"/>
              <a:gd name="T25" fmla="*/ 2147483647 h 713"/>
              <a:gd name="T26" fmla="*/ 2147483647 w 1636"/>
              <a:gd name="T27" fmla="*/ 2147483647 h 713"/>
              <a:gd name="T28" fmla="*/ 2147483647 w 1636"/>
              <a:gd name="T29" fmla="*/ 2147483647 h 71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636"/>
              <a:gd name="T46" fmla="*/ 0 h 713"/>
              <a:gd name="T47" fmla="*/ 1636 w 1636"/>
              <a:gd name="T48" fmla="*/ 713 h 71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636" h="713">
                <a:moveTo>
                  <a:pt x="64" y="5"/>
                </a:moveTo>
                <a:cubicBezTo>
                  <a:pt x="1248" y="0"/>
                  <a:pt x="731" y="1"/>
                  <a:pt x="1616" y="1"/>
                </a:cubicBezTo>
                <a:lnTo>
                  <a:pt x="1580" y="105"/>
                </a:lnTo>
                <a:lnTo>
                  <a:pt x="1556" y="209"/>
                </a:lnTo>
                <a:lnTo>
                  <a:pt x="1636" y="541"/>
                </a:lnTo>
                <a:lnTo>
                  <a:pt x="1568" y="713"/>
                </a:lnTo>
                <a:lnTo>
                  <a:pt x="28" y="705"/>
                </a:lnTo>
                <a:lnTo>
                  <a:pt x="68" y="597"/>
                </a:lnTo>
                <a:lnTo>
                  <a:pt x="64" y="449"/>
                </a:lnTo>
                <a:lnTo>
                  <a:pt x="36" y="353"/>
                </a:lnTo>
                <a:lnTo>
                  <a:pt x="8" y="301"/>
                </a:lnTo>
                <a:lnTo>
                  <a:pt x="0" y="245"/>
                </a:lnTo>
                <a:lnTo>
                  <a:pt x="4" y="177"/>
                </a:lnTo>
                <a:lnTo>
                  <a:pt x="24" y="101"/>
                </a:lnTo>
                <a:lnTo>
                  <a:pt x="64" y="5"/>
                </a:lnTo>
                <a:close/>
              </a:path>
            </a:pathLst>
          </a:cu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Box 7"/>
          <p:cNvSpPr txBox="1">
            <a:spLocks noChangeArrowheads="1"/>
          </p:cNvSpPr>
          <p:nvPr/>
        </p:nvSpPr>
        <p:spPr bwMode="auto">
          <a:xfrm>
            <a:off x="2417829" y="1067453"/>
            <a:ext cx="8872047" cy="781752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ct val="50000"/>
              </a:spcBef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kumimoji="1"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被动像敏单元</a:t>
            </a:r>
            <a:r>
              <a:rPr kumimoji="1"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无源</a:t>
            </a:r>
            <a:r>
              <a:rPr kumimoji="1"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en-US" altLang="zh-CN" sz="3200" b="1" dirty="0">
                <a:latin typeface="Times New Roman" pitchFamily="18" charset="0"/>
              </a:rPr>
              <a:t> (Passive Pixel Sensor, PPS)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Rectangle 12"/>
          <p:cNvSpPr>
            <a:spLocks noChangeArrowheads="1"/>
          </p:cNvSpPr>
          <p:nvPr/>
        </p:nvSpPr>
        <p:spPr bwMode="auto">
          <a:xfrm>
            <a:off x="4509116" y="2607800"/>
            <a:ext cx="3022600" cy="23241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7" name="组合 56"/>
          <p:cNvGrpSpPr>
            <a:grpSpLocks/>
          </p:cNvGrpSpPr>
          <p:nvPr/>
        </p:nvGrpSpPr>
        <p:grpSpPr bwMode="auto">
          <a:xfrm>
            <a:off x="5144116" y="3417425"/>
            <a:ext cx="1073150" cy="336550"/>
            <a:chOff x="5448300" y="3730625"/>
            <a:chExt cx="1073150" cy="336550"/>
          </a:xfrm>
        </p:grpSpPr>
        <p:sp>
          <p:nvSpPr>
            <p:cNvPr id="78" name="Rectangle 17"/>
            <p:cNvSpPr>
              <a:spLocks noChangeArrowheads="1"/>
            </p:cNvSpPr>
            <p:nvPr/>
          </p:nvSpPr>
          <p:spPr bwMode="auto">
            <a:xfrm>
              <a:off x="5448300" y="3797300"/>
              <a:ext cx="1073150" cy="209550"/>
            </a:xfrm>
            <a:prstGeom prst="rect">
              <a:avLst/>
            </a:prstGeom>
            <a:solidFill>
              <a:srgbClr val="FF66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Rectangle 19"/>
            <p:cNvSpPr>
              <a:spLocks noChangeArrowheads="1"/>
            </p:cNvSpPr>
            <p:nvPr/>
          </p:nvSpPr>
          <p:spPr bwMode="auto">
            <a:xfrm>
              <a:off x="5492750" y="3730625"/>
              <a:ext cx="409575" cy="336550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N</a:t>
              </a:r>
              <a:r>
                <a:rPr lang="en-US" altLang="zh-CN" sz="1600" b="1" baseline="3000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80" name="组合 57"/>
          <p:cNvGrpSpPr>
            <a:grpSpLocks/>
          </p:cNvGrpSpPr>
          <p:nvPr/>
        </p:nvGrpSpPr>
        <p:grpSpPr bwMode="auto">
          <a:xfrm>
            <a:off x="6599854" y="3425362"/>
            <a:ext cx="458787" cy="336550"/>
            <a:chOff x="6904038" y="3738563"/>
            <a:chExt cx="458787" cy="336550"/>
          </a:xfrm>
        </p:grpSpPr>
        <p:sp>
          <p:nvSpPr>
            <p:cNvPr id="81" name="Rectangle 20"/>
            <p:cNvSpPr>
              <a:spLocks noChangeArrowheads="1"/>
            </p:cNvSpPr>
            <p:nvPr/>
          </p:nvSpPr>
          <p:spPr bwMode="auto">
            <a:xfrm>
              <a:off x="6904038" y="3805238"/>
              <a:ext cx="431800" cy="209550"/>
            </a:xfrm>
            <a:prstGeom prst="rect">
              <a:avLst/>
            </a:prstGeom>
            <a:solidFill>
              <a:srgbClr val="FF66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23"/>
            <p:cNvSpPr>
              <a:spLocks noChangeArrowheads="1"/>
            </p:cNvSpPr>
            <p:nvPr/>
          </p:nvSpPr>
          <p:spPr bwMode="auto">
            <a:xfrm>
              <a:off x="6953250" y="3738563"/>
              <a:ext cx="409575" cy="336550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>
                  <a:latin typeface="Times New Roman" pitchFamily="18" charset="0"/>
                </a:rPr>
                <a:t>N</a:t>
              </a:r>
              <a:r>
                <a:rPr lang="en-US" altLang="zh-CN" sz="1600" b="1" baseline="30000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83" name="组合 54"/>
          <p:cNvGrpSpPr>
            <a:grpSpLocks/>
          </p:cNvGrpSpPr>
          <p:nvPr/>
        </p:nvGrpSpPr>
        <p:grpSpPr bwMode="auto">
          <a:xfrm>
            <a:off x="5780704" y="2414125"/>
            <a:ext cx="1308100" cy="1036637"/>
            <a:chOff x="6085915" y="2701236"/>
            <a:chExt cx="1308100" cy="1037046"/>
          </a:xfrm>
        </p:grpSpPr>
        <p:sp>
          <p:nvSpPr>
            <p:cNvPr id="84" name="Oval 10"/>
            <p:cNvSpPr>
              <a:spLocks noChangeArrowheads="1"/>
            </p:cNvSpPr>
            <p:nvPr/>
          </p:nvSpPr>
          <p:spPr bwMode="auto">
            <a:xfrm>
              <a:off x="6689725" y="2701236"/>
              <a:ext cx="69850" cy="8096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11"/>
            <p:cNvSpPr>
              <a:spLocks noChangeShapeType="1"/>
            </p:cNvSpPr>
            <p:nvPr/>
          </p:nvSpPr>
          <p:spPr bwMode="auto">
            <a:xfrm flipV="1">
              <a:off x="6085915" y="2745660"/>
              <a:ext cx="13081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Oval 14"/>
            <p:cNvSpPr>
              <a:spLocks noChangeArrowheads="1"/>
            </p:cNvSpPr>
            <p:nvPr/>
          </p:nvSpPr>
          <p:spPr bwMode="auto">
            <a:xfrm>
              <a:off x="6678407" y="3585885"/>
              <a:ext cx="69850" cy="809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24"/>
            <p:cNvSpPr>
              <a:spLocks noChangeShapeType="1"/>
            </p:cNvSpPr>
            <p:nvPr/>
          </p:nvSpPr>
          <p:spPr bwMode="auto">
            <a:xfrm flipH="1">
              <a:off x="6715685" y="2782050"/>
              <a:ext cx="6350" cy="806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Rectangle 25"/>
            <p:cNvSpPr>
              <a:spLocks noChangeArrowheads="1"/>
            </p:cNvSpPr>
            <p:nvPr/>
          </p:nvSpPr>
          <p:spPr bwMode="auto">
            <a:xfrm>
              <a:off x="6551705" y="3657599"/>
              <a:ext cx="304114" cy="80683"/>
            </a:xfrm>
            <a:prstGeom prst="rect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9" name="组合 59"/>
          <p:cNvGrpSpPr>
            <a:grpSpLocks/>
          </p:cNvGrpSpPr>
          <p:nvPr/>
        </p:nvGrpSpPr>
        <p:grpSpPr bwMode="auto">
          <a:xfrm>
            <a:off x="5694979" y="2969750"/>
            <a:ext cx="2097087" cy="1473200"/>
            <a:chOff x="5999424" y="3283350"/>
            <a:chExt cx="2096826" cy="1473200"/>
          </a:xfrm>
        </p:grpSpPr>
        <p:sp>
          <p:nvSpPr>
            <p:cNvPr id="90" name="Oval 16"/>
            <p:cNvSpPr>
              <a:spLocks noChangeArrowheads="1"/>
            </p:cNvSpPr>
            <p:nvPr/>
          </p:nvSpPr>
          <p:spPr bwMode="auto">
            <a:xfrm>
              <a:off x="5999424" y="3751786"/>
              <a:ext cx="69850" cy="8096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35"/>
            <p:cNvSpPr>
              <a:spLocks noChangeShapeType="1"/>
            </p:cNvSpPr>
            <p:nvPr/>
          </p:nvSpPr>
          <p:spPr bwMode="auto">
            <a:xfrm flipV="1">
              <a:off x="6032500" y="3321836"/>
              <a:ext cx="0" cy="425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36"/>
            <p:cNvSpPr>
              <a:spLocks noChangeShapeType="1"/>
            </p:cNvSpPr>
            <p:nvPr/>
          </p:nvSpPr>
          <p:spPr bwMode="auto">
            <a:xfrm flipV="1">
              <a:off x="6020200" y="3302524"/>
              <a:ext cx="2070100" cy="63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37"/>
            <p:cNvSpPr>
              <a:spLocks noChangeShapeType="1"/>
            </p:cNvSpPr>
            <p:nvPr/>
          </p:nvSpPr>
          <p:spPr bwMode="auto">
            <a:xfrm flipH="1">
              <a:off x="8096250" y="3283350"/>
              <a:ext cx="0" cy="147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4" name="组合 77"/>
          <p:cNvGrpSpPr>
            <a:grpSpLocks/>
          </p:cNvGrpSpPr>
          <p:nvPr/>
        </p:nvGrpSpPr>
        <p:grpSpPr bwMode="auto">
          <a:xfrm>
            <a:off x="5110779" y="2622087"/>
            <a:ext cx="412750" cy="785813"/>
            <a:chOff x="3142825" y="2339542"/>
            <a:chExt cx="412750" cy="785812"/>
          </a:xfrm>
        </p:grpSpPr>
        <p:sp>
          <p:nvSpPr>
            <p:cNvPr id="95" name="Line 45"/>
            <p:cNvSpPr>
              <a:spLocks noChangeShapeType="1"/>
            </p:cNvSpPr>
            <p:nvPr/>
          </p:nvSpPr>
          <p:spPr bwMode="auto">
            <a:xfrm>
              <a:off x="3349200" y="2674504"/>
              <a:ext cx="82550" cy="2301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46"/>
            <p:cNvSpPr>
              <a:spLocks noChangeShapeType="1"/>
            </p:cNvSpPr>
            <p:nvPr/>
          </p:nvSpPr>
          <p:spPr bwMode="auto">
            <a:xfrm flipH="1" flipV="1">
              <a:off x="3296812" y="2839604"/>
              <a:ext cx="139700" cy="6985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47"/>
            <p:cNvSpPr>
              <a:spLocks noChangeShapeType="1"/>
            </p:cNvSpPr>
            <p:nvPr/>
          </p:nvSpPr>
          <p:spPr bwMode="auto">
            <a:xfrm>
              <a:off x="3290462" y="2839604"/>
              <a:ext cx="76200" cy="28575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Rectangle 52"/>
            <p:cNvSpPr>
              <a:spLocks noChangeArrowheads="1"/>
            </p:cNvSpPr>
            <p:nvPr/>
          </p:nvSpPr>
          <p:spPr bwMode="auto">
            <a:xfrm>
              <a:off x="3142825" y="2339542"/>
              <a:ext cx="412750" cy="36671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光</a:t>
              </a:r>
              <a:endParaRPr lang="zh-CN" altLang="en-US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endParaRPr>
            </a:p>
          </p:txBody>
        </p:sp>
      </p:grpSp>
      <p:sp>
        <p:nvSpPr>
          <p:cNvPr id="99" name="Rectangle 54"/>
          <p:cNvSpPr>
            <a:spLocks noChangeArrowheads="1"/>
          </p:cNvSpPr>
          <p:nvPr/>
        </p:nvSpPr>
        <p:spPr bwMode="auto">
          <a:xfrm>
            <a:off x="4844079" y="4242925"/>
            <a:ext cx="1009650" cy="3667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b="1">
                <a:latin typeface="Times New Roman" pitchFamily="18" charset="0"/>
                <a:ea typeface="微软雅黑" pitchFamily="34" charset="-122"/>
              </a:rPr>
              <a:t>P</a:t>
            </a:r>
            <a:r>
              <a:rPr lang="zh-CN" altLang="en-US" b="1">
                <a:latin typeface="Times New Roman" pitchFamily="18" charset="0"/>
                <a:ea typeface="微软雅黑" pitchFamily="34" charset="-122"/>
              </a:rPr>
              <a:t>型基板</a:t>
            </a:r>
            <a:endParaRPr lang="zh-CN" altLang="en-US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0" name="Rectangle 55"/>
          <p:cNvSpPr>
            <a:spLocks noChangeArrowheads="1"/>
          </p:cNvSpPr>
          <p:nvPr/>
        </p:nvSpPr>
        <p:spPr bwMode="auto">
          <a:xfrm>
            <a:off x="8450879" y="3626975"/>
            <a:ext cx="1536700" cy="7080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MOS</a:t>
            </a:r>
            <a:r>
              <a:rPr lang="zh-CN" altLang="en-US" sz="20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场效应</a:t>
            </a:r>
            <a:endParaRPr lang="en-US" altLang="zh-CN" sz="2000" b="1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  <a:p>
            <a:pPr algn="ctr"/>
            <a:r>
              <a:rPr lang="zh-CN" altLang="en-US" sz="20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复位管</a:t>
            </a:r>
            <a:r>
              <a:rPr lang="en-US" altLang="zh-CN" sz="20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T</a:t>
            </a:r>
            <a:endParaRPr lang="en-US" altLang="zh-CN" sz="2000" b="1" baseline="-2500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1" name="Rectangle 56"/>
          <p:cNvSpPr>
            <a:spLocks noChangeArrowheads="1"/>
          </p:cNvSpPr>
          <p:nvPr/>
        </p:nvSpPr>
        <p:spPr bwMode="auto">
          <a:xfrm>
            <a:off x="3062904" y="4941425"/>
            <a:ext cx="1416050" cy="4619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像素单元</a:t>
            </a:r>
            <a:endParaRPr lang="zh-CN" altLang="en-US" sz="24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2" name="Rectangle 57"/>
          <p:cNvSpPr>
            <a:spLocks noChangeArrowheads="1"/>
          </p:cNvSpPr>
          <p:nvPr/>
        </p:nvSpPr>
        <p:spPr bwMode="auto">
          <a:xfrm>
            <a:off x="6693516" y="4968412"/>
            <a:ext cx="877888" cy="3683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>
                <a:latin typeface="Times New Roman" pitchFamily="18" charset="0"/>
                <a:ea typeface="微软雅黑" pitchFamily="34" charset="-122"/>
              </a:rPr>
              <a:t>负载管</a:t>
            </a:r>
            <a:endParaRPr lang="zh-CN" altLang="en-US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3" name="Rectangle 58"/>
          <p:cNvSpPr>
            <a:spLocks noChangeArrowheads="1"/>
          </p:cNvSpPr>
          <p:nvPr/>
        </p:nvSpPr>
        <p:spPr bwMode="auto">
          <a:xfrm>
            <a:off x="5991841" y="2006137"/>
            <a:ext cx="1211263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行复位线</a:t>
            </a:r>
            <a:endParaRPr lang="zh-CN" altLang="en-US" sz="20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4" name="Rectangle 59"/>
          <p:cNvSpPr>
            <a:spLocks noChangeArrowheads="1"/>
          </p:cNvSpPr>
          <p:nvPr/>
        </p:nvSpPr>
        <p:spPr bwMode="auto">
          <a:xfrm>
            <a:off x="7884141" y="2534775"/>
            <a:ext cx="441325" cy="132238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列</a:t>
            </a: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选</a:t>
            </a: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择</a:t>
            </a: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线</a:t>
            </a:r>
            <a:endParaRPr lang="zh-CN" altLang="en-US" sz="2000" b="1" baseline="-25000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grpSp>
        <p:nvGrpSpPr>
          <p:cNvPr id="105" name="组合 58"/>
          <p:cNvGrpSpPr>
            <a:grpSpLocks/>
          </p:cNvGrpSpPr>
          <p:nvPr/>
        </p:nvGrpSpPr>
        <p:grpSpPr bwMode="auto">
          <a:xfrm>
            <a:off x="6718916" y="2969750"/>
            <a:ext cx="686285" cy="557212"/>
            <a:chOff x="7023100" y="3282950"/>
            <a:chExt cx="686285" cy="557213"/>
          </a:xfrm>
        </p:grpSpPr>
        <p:sp>
          <p:nvSpPr>
            <p:cNvPr id="106" name="Oval 21"/>
            <p:cNvSpPr>
              <a:spLocks noChangeArrowheads="1"/>
            </p:cNvSpPr>
            <p:nvPr/>
          </p:nvSpPr>
          <p:spPr bwMode="auto">
            <a:xfrm>
              <a:off x="7085013" y="3759200"/>
              <a:ext cx="69850" cy="809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22"/>
            <p:cNvSpPr>
              <a:spLocks noChangeShapeType="1"/>
            </p:cNvSpPr>
            <p:nvPr/>
          </p:nvSpPr>
          <p:spPr bwMode="auto">
            <a:xfrm flipV="1">
              <a:off x="7023100" y="3498850"/>
              <a:ext cx="177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51"/>
            <p:cNvSpPr>
              <a:spLocks noChangeArrowheads="1"/>
            </p:cNvSpPr>
            <p:nvPr/>
          </p:nvSpPr>
          <p:spPr bwMode="auto">
            <a:xfrm>
              <a:off x="7149616" y="3282950"/>
              <a:ext cx="559769" cy="400111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 dirty="0" err="1" smtClean="0">
                  <a:latin typeface="Times New Roman" pitchFamily="18" charset="0"/>
                </a:rPr>
                <a:t>V</a:t>
              </a:r>
              <a:r>
                <a:rPr lang="en-US" altLang="zh-CN" b="1" baseline="-25000" dirty="0" err="1" smtClean="0">
                  <a:latin typeface="Times New Roman" pitchFamily="18" charset="0"/>
                </a:rPr>
                <a:t>bb</a:t>
              </a:r>
              <a:endParaRPr lang="en-US" altLang="zh-CN" sz="2000" b="1" baseline="-25000" dirty="0">
                <a:latin typeface="Times New Roman" pitchFamily="18" charset="0"/>
              </a:endParaRPr>
            </a:p>
          </p:txBody>
        </p:sp>
        <p:sp>
          <p:nvSpPr>
            <p:cNvPr id="109" name="Line 60"/>
            <p:cNvSpPr>
              <a:spLocks noChangeShapeType="1"/>
            </p:cNvSpPr>
            <p:nvPr/>
          </p:nvSpPr>
          <p:spPr bwMode="auto">
            <a:xfrm flipH="1" flipV="1">
              <a:off x="7115175" y="3495675"/>
              <a:ext cx="0" cy="266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0" name="组合 60"/>
          <p:cNvGrpSpPr>
            <a:grpSpLocks/>
          </p:cNvGrpSpPr>
          <p:nvPr/>
        </p:nvGrpSpPr>
        <p:grpSpPr bwMode="auto">
          <a:xfrm>
            <a:off x="7506316" y="4438187"/>
            <a:ext cx="558800" cy="1255713"/>
            <a:chOff x="7810500" y="4751125"/>
            <a:chExt cx="558800" cy="1255975"/>
          </a:xfrm>
        </p:grpSpPr>
        <p:sp>
          <p:nvSpPr>
            <p:cNvPr id="111" name="Oval 15"/>
            <p:cNvSpPr>
              <a:spLocks noChangeArrowheads="1"/>
            </p:cNvSpPr>
            <p:nvPr/>
          </p:nvSpPr>
          <p:spPr bwMode="auto">
            <a:xfrm>
              <a:off x="8066088" y="5137150"/>
              <a:ext cx="69850" cy="8096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Line 31"/>
            <p:cNvSpPr>
              <a:spLocks noChangeShapeType="1"/>
            </p:cNvSpPr>
            <p:nvPr/>
          </p:nvSpPr>
          <p:spPr bwMode="auto">
            <a:xfrm>
              <a:off x="8356600" y="5175250"/>
              <a:ext cx="0" cy="831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32"/>
            <p:cNvSpPr>
              <a:spLocks noChangeShapeType="1"/>
            </p:cNvSpPr>
            <p:nvPr/>
          </p:nvSpPr>
          <p:spPr bwMode="auto">
            <a:xfrm flipV="1">
              <a:off x="8102600" y="5168900"/>
              <a:ext cx="266700" cy="63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38"/>
            <p:cNvSpPr>
              <a:spLocks noChangeShapeType="1"/>
            </p:cNvSpPr>
            <p:nvPr/>
          </p:nvSpPr>
          <p:spPr bwMode="auto">
            <a:xfrm>
              <a:off x="8102600" y="4826000"/>
              <a:ext cx="6350" cy="5207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39"/>
            <p:cNvSpPr>
              <a:spLocks noChangeShapeType="1"/>
            </p:cNvSpPr>
            <p:nvPr/>
          </p:nvSpPr>
          <p:spPr bwMode="auto">
            <a:xfrm>
              <a:off x="7991475" y="5346700"/>
              <a:ext cx="114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40"/>
            <p:cNvSpPr>
              <a:spLocks noChangeShapeType="1"/>
            </p:cNvSpPr>
            <p:nvPr/>
          </p:nvSpPr>
          <p:spPr bwMode="auto">
            <a:xfrm>
              <a:off x="7988300" y="5549900"/>
              <a:ext cx="114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41"/>
            <p:cNvSpPr>
              <a:spLocks noChangeShapeType="1"/>
            </p:cNvSpPr>
            <p:nvPr/>
          </p:nvSpPr>
          <p:spPr bwMode="auto">
            <a:xfrm flipH="1">
              <a:off x="7988300" y="5346700"/>
              <a:ext cx="0" cy="2095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AutoShape 42"/>
            <p:cNvSpPr>
              <a:spLocks noChangeArrowheads="1"/>
            </p:cNvSpPr>
            <p:nvPr/>
          </p:nvSpPr>
          <p:spPr bwMode="auto">
            <a:xfrm>
              <a:off x="8051800" y="5822950"/>
              <a:ext cx="88900" cy="88900"/>
            </a:xfrm>
            <a:prstGeom prst="flowChartMerg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43"/>
            <p:cNvSpPr>
              <a:spLocks noChangeShapeType="1"/>
            </p:cNvSpPr>
            <p:nvPr/>
          </p:nvSpPr>
          <p:spPr bwMode="auto">
            <a:xfrm>
              <a:off x="7937500" y="5365750"/>
              <a:ext cx="0" cy="171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44"/>
            <p:cNvSpPr>
              <a:spLocks noChangeShapeType="1"/>
            </p:cNvSpPr>
            <p:nvPr/>
          </p:nvSpPr>
          <p:spPr bwMode="auto">
            <a:xfrm>
              <a:off x="7810500" y="5454650"/>
              <a:ext cx="127000" cy="63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Freeform 49"/>
            <p:cNvSpPr>
              <a:spLocks/>
            </p:cNvSpPr>
            <p:nvPr/>
          </p:nvSpPr>
          <p:spPr bwMode="auto">
            <a:xfrm>
              <a:off x="8023225" y="4751125"/>
              <a:ext cx="147638" cy="31750"/>
            </a:xfrm>
            <a:custGeom>
              <a:avLst/>
              <a:gdLst>
                <a:gd name="T0" fmla="*/ 0 w 93"/>
                <a:gd name="T1" fmla="*/ 2147483647 h 20"/>
                <a:gd name="T2" fmla="*/ 2147483647 w 93"/>
                <a:gd name="T3" fmla="*/ 2147483647 h 20"/>
                <a:gd name="T4" fmla="*/ 2147483647 w 93"/>
                <a:gd name="T5" fmla="*/ 2147483647 h 20"/>
                <a:gd name="T6" fmla="*/ 2147483647 w 93"/>
                <a:gd name="T7" fmla="*/ 2147483647 h 20"/>
                <a:gd name="T8" fmla="*/ 2147483647 w 93"/>
                <a:gd name="T9" fmla="*/ 2147483647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"/>
                <a:gd name="T16" fmla="*/ 0 h 20"/>
                <a:gd name="T17" fmla="*/ 93 w 93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" h="20">
                  <a:moveTo>
                    <a:pt x="0" y="1"/>
                  </a:moveTo>
                  <a:cubicBezTo>
                    <a:pt x="9" y="0"/>
                    <a:pt x="19" y="0"/>
                    <a:pt x="27" y="2"/>
                  </a:cubicBezTo>
                  <a:cubicBezTo>
                    <a:pt x="35" y="4"/>
                    <a:pt x="40" y="8"/>
                    <a:pt x="46" y="11"/>
                  </a:cubicBezTo>
                  <a:cubicBezTo>
                    <a:pt x="52" y="14"/>
                    <a:pt x="56" y="18"/>
                    <a:pt x="64" y="19"/>
                  </a:cubicBezTo>
                  <a:cubicBezTo>
                    <a:pt x="72" y="20"/>
                    <a:pt x="88" y="20"/>
                    <a:pt x="93" y="2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Freeform 50"/>
            <p:cNvSpPr>
              <a:spLocks/>
            </p:cNvSpPr>
            <p:nvPr/>
          </p:nvSpPr>
          <p:spPr bwMode="auto">
            <a:xfrm>
              <a:off x="8021638" y="4806950"/>
              <a:ext cx="147637" cy="31750"/>
            </a:xfrm>
            <a:custGeom>
              <a:avLst/>
              <a:gdLst>
                <a:gd name="T0" fmla="*/ 0 w 93"/>
                <a:gd name="T1" fmla="*/ 2147483647 h 20"/>
                <a:gd name="T2" fmla="*/ 2147483647 w 93"/>
                <a:gd name="T3" fmla="*/ 2147483647 h 20"/>
                <a:gd name="T4" fmla="*/ 2147483647 w 93"/>
                <a:gd name="T5" fmla="*/ 2147483647 h 20"/>
                <a:gd name="T6" fmla="*/ 2147483647 w 93"/>
                <a:gd name="T7" fmla="*/ 2147483647 h 20"/>
                <a:gd name="T8" fmla="*/ 2147483647 w 93"/>
                <a:gd name="T9" fmla="*/ 2147483647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"/>
                <a:gd name="T16" fmla="*/ 0 h 20"/>
                <a:gd name="T17" fmla="*/ 93 w 93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" h="20">
                  <a:moveTo>
                    <a:pt x="0" y="1"/>
                  </a:moveTo>
                  <a:cubicBezTo>
                    <a:pt x="9" y="0"/>
                    <a:pt x="19" y="0"/>
                    <a:pt x="27" y="2"/>
                  </a:cubicBezTo>
                  <a:cubicBezTo>
                    <a:pt x="35" y="4"/>
                    <a:pt x="40" y="8"/>
                    <a:pt x="46" y="11"/>
                  </a:cubicBezTo>
                  <a:cubicBezTo>
                    <a:pt x="52" y="14"/>
                    <a:pt x="56" y="18"/>
                    <a:pt x="64" y="19"/>
                  </a:cubicBezTo>
                  <a:cubicBezTo>
                    <a:pt x="72" y="20"/>
                    <a:pt x="88" y="20"/>
                    <a:pt x="93" y="2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61"/>
            <p:cNvSpPr>
              <a:spLocks noChangeShapeType="1"/>
            </p:cNvSpPr>
            <p:nvPr/>
          </p:nvSpPr>
          <p:spPr bwMode="auto">
            <a:xfrm>
              <a:off x="8099425" y="5549900"/>
              <a:ext cx="0" cy="276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" name="TextBox 123"/>
          <p:cNvSpPr txBox="1">
            <a:spLocks noChangeArrowheads="1"/>
          </p:cNvSpPr>
          <p:nvPr/>
        </p:nvSpPr>
        <p:spPr bwMode="auto">
          <a:xfrm>
            <a:off x="4739304" y="5893925"/>
            <a:ext cx="32004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被动像敏单元结构</a:t>
            </a:r>
          </a:p>
        </p:txBody>
      </p:sp>
      <p:grpSp>
        <p:nvGrpSpPr>
          <p:cNvPr id="125" name="组合 76"/>
          <p:cNvGrpSpPr>
            <a:grpSpLocks/>
          </p:cNvGrpSpPr>
          <p:nvPr/>
        </p:nvGrpSpPr>
        <p:grpSpPr bwMode="auto">
          <a:xfrm>
            <a:off x="2681904" y="3492037"/>
            <a:ext cx="1338262" cy="1030288"/>
            <a:chOff x="713509" y="3209924"/>
            <a:chExt cx="1338828" cy="1029665"/>
          </a:xfrm>
        </p:grpSpPr>
        <p:sp>
          <p:nvSpPr>
            <p:cNvPr id="126" name="Rectangle 53"/>
            <p:cNvSpPr>
              <a:spLocks noChangeArrowheads="1"/>
            </p:cNvSpPr>
            <p:nvPr/>
          </p:nvSpPr>
          <p:spPr bwMode="auto">
            <a:xfrm>
              <a:off x="713509" y="3870257"/>
              <a:ext cx="1338828" cy="36933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光敏二极管</a:t>
              </a:r>
              <a:endParaRPr lang="zh-CN" altLang="en-US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endParaRPr>
            </a:p>
          </p:txBody>
        </p:sp>
        <p:grpSp>
          <p:nvGrpSpPr>
            <p:cNvPr id="127" name="组合 73"/>
            <p:cNvGrpSpPr>
              <a:grpSpLocks/>
            </p:cNvGrpSpPr>
            <p:nvPr/>
          </p:nvGrpSpPr>
          <p:grpSpPr bwMode="auto">
            <a:xfrm>
              <a:off x="1057276" y="3209924"/>
              <a:ext cx="583244" cy="608461"/>
              <a:chOff x="695326" y="3409949"/>
              <a:chExt cx="583244" cy="608461"/>
            </a:xfrm>
          </p:grpSpPr>
          <p:grpSp>
            <p:nvGrpSpPr>
              <p:cNvPr id="128" name="组合 67"/>
              <p:cNvGrpSpPr>
                <a:grpSpLocks noChangeAspect="1"/>
              </p:cNvGrpSpPr>
              <p:nvPr/>
            </p:nvGrpSpPr>
            <p:grpSpPr bwMode="auto">
              <a:xfrm>
                <a:off x="929988" y="3429003"/>
                <a:ext cx="348582" cy="589407"/>
                <a:chOff x="453736" y="3562349"/>
                <a:chExt cx="512619" cy="866775"/>
              </a:xfrm>
            </p:grpSpPr>
            <p:sp>
              <p:nvSpPr>
                <p:cNvPr id="131" name="等腰三角形 130"/>
                <p:cNvSpPr/>
                <p:nvPr/>
              </p:nvSpPr>
              <p:spPr>
                <a:xfrm>
                  <a:off x="511631" y="3823638"/>
                  <a:ext cx="390036" cy="403636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cxnSp>
              <p:nvCxnSpPr>
                <p:cNvPr id="132" name="直接连接符 131"/>
                <p:cNvCxnSpPr/>
                <p:nvPr/>
              </p:nvCxnSpPr>
              <p:spPr>
                <a:xfrm>
                  <a:off x="453243" y="3797974"/>
                  <a:ext cx="51382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 rot="5400000">
                  <a:off x="271516" y="3986949"/>
                  <a:ext cx="867932" cy="18684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9" name="直接箭头连接符 128"/>
              <p:cNvCxnSpPr/>
              <p:nvPr/>
            </p:nvCxnSpPr>
            <p:spPr>
              <a:xfrm rot="16200000" flipH="1">
                <a:off x="689942" y="3414611"/>
                <a:ext cx="199904" cy="19058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/>
            </p:nvCxnSpPr>
            <p:spPr>
              <a:xfrm>
                <a:off x="742249" y="3657449"/>
                <a:ext cx="190581" cy="18245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4" name="圆角矩形标注 133"/>
          <p:cNvSpPr/>
          <p:nvPr/>
        </p:nvSpPr>
        <p:spPr>
          <a:xfrm>
            <a:off x="5129829" y="3349162"/>
            <a:ext cx="733425" cy="704850"/>
          </a:xfrm>
          <a:prstGeom prst="wedgeRoundRectCallout">
            <a:avLst>
              <a:gd name="adj1" fmla="val -229924"/>
              <a:gd name="adj2" fmla="val 43227"/>
              <a:gd name="adj3" fmla="val 16667"/>
            </a:avLst>
          </a:prstGeom>
          <a:noFill/>
          <a:ln w="3810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5" name="圆角矩形标注 134"/>
          <p:cNvSpPr/>
          <p:nvPr/>
        </p:nvSpPr>
        <p:spPr>
          <a:xfrm>
            <a:off x="5999779" y="3244387"/>
            <a:ext cx="923925" cy="895350"/>
          </a:xfrm>
          <a:prstGeom prst="wedgeRoundRectCallout">
            <a:avLst>
              <a:gd name="adj1" fmla="val 217585"/>
              <a:gd name="adj2" fmla="val 19486"/>
              <a:gd name="adj3" fmla="val 16667"/>
            </a:avLst>
          </a:prstGeom>
          <a:noFill/>
          <a:ln w="3810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6" name="Text Box 4"/>
          <p:cNvSpPr txBox="1">
            <a:spLocks noChangeArrowheads="1"/>
          </p:cNvSpPr>
          <p:nvPr/>
        </p:nvSpPr>
        <p:spPr bwMode="auto">
          <a:xfrm>
            <a:off x="1916729" y="2249281"/>
            <a:ext cx="1298575" cy="1016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光敏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二极管</a:t>
            </a:r>
          </a:p>
        </p:txBody>
      </p:sp>
      <p:sp>
        <p:nvSpPr>
          <p:cNvPr id="137" name="Text Box 4"/>
          <p:cNvSpPr txBox="1">
            <a:spLocks noChangeArrowheads="1"/>
          </p:cNvSpPr>
          <p:nvPr/>
        </p:nvSpPr>
        <p:spPr bwMode="auto">
          <a:xfrm>
            <a:off x="9586913" y="2269944"/>
            <a:ext cx="1614487" cy="11350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行地址选择复位管</a:t>
            </a:r>
          </a:p>
        </p:txBody>
      </p:sp>
      <p:sp>
        <p:nvSpPr>
          <p:cNvPr id="14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99" grpId="0"/>
      <p:bldP spid="101" grpId="0"/>
      <p:bldP spid="102" grpId="0"/>
      <p:bldP spid="103" grpId="0"/>
      <p:bldP spid="104" grpId="0"/>
      <p:bldP spid="124" grpId="0"/>
      <p:bldP spid="134" grpId="0" animBg="1"/>
      <p:bldP spid="135" grpId="0" animBg="1"/>
      <p:bldP spid="136" grpId="0" animBg="1"/>
      <p:bldP spid="1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59"/>
          <p:cNvSpPr>
            <a:spLocks noChangeArrowheads="1"/>
          </p:cNvSpPr>
          <p:nvPr/>
        </p:nvSpPr>
        <p:spPr bwMode="auto">
          <a:xfrm>
            <a:off x="8153312" y="3208286"/>
            <a:ext cx="441325" cy="13239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列</a:t>
            </a:r>
          </a:p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选</a:t>
            </a:r>
          </a:p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择</a:t>
            </a:r>
          </a:p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线</a:t>
            </a:r>
            <a:endParaRPr lang="zh-CN" altLang="en-US" sz="20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77" name="Rectangle 58"/>
          <p:cNvSpPr>
            <a:spLocks noChangeArrowheads="1"/>
          </p:cNvSpPr>
          <p:nvPr/>
        </p:nvSpPr>
        <p:spPr bwMode="auto">
          <a:xfrm>
            <a:off x="6955470" y="2708195"/>
            <a:ext cx="1209675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行复位线</a:t>
            </a:r>
            <a:endParaRPr lang="zh-CN" altLang="en-US" sz="20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grpSp>
        <p:nvGrpSpPr>
          <p:cNvPr id="78" name="组合 59"/>
          <p:cNvGrpSpPr>
            <a:grpSpLocks noChangeAspect="1"/>
          </p:cNvGrpSpPr>
          <p:nvPr/>
        </p:nvGrpSpPr>
        <p:grpSpPr bwMode="auto">
          <a:xfrm>
            <a:off x="6287562" y="2696511"/>
            <a:ext cx="422275" cy="392113"/>
            <a:chOff x="7530049" y="2016134"/>
            <a:chExt cx="548638" cy="509352"/>
          </a:xfrm>
        </p:grpSpPr>
        <p:cxnSp>
          <p:nvCxnSpPr>
            <p:cNvPr id="79" name="直接连接符 78"/>
            <p:cNvCxnSpPr/>
            <p:nvPr/>
          </p:nvCxnSpPr>
          <p:spPr>
            <a:xfrm rot="16200000" flipH="1">
              <a:off x="7468219" y="2271841"/>
              <a:ext cx="492855" cy="144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16200000" flipH="1">
              <a:off x="7635286" y="2263591"/>
              <a:ext cx="492855" cy="1443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V="1">
              <a:off x="7684740" y="2016134"/>
              <a:ext cx="206255" cy="41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V="1">
              <a:off x="7874494" y="2494553"/>
              <a:ext cx="204193" cy="412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V="1">
              <a:off x="7530049" y="2511050"/>
              <a:ext cx="204192" cy="61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/>
          <p:cNvGrpSpPr/>
          <p:nvPr/>
        </p:nvGrpSpPr>
        <p:grpSpPr>
          <a:xfrm>
            <a:off x="4876531" y="3065239"/>
            <a:ext cx="3556000" cy="3278188"/>
            <a:chOff x="2911475" y="2695575"/>
            <a:chExt cx="3556000" cy="3278188"/>
          </a:xfrm>
        </p:grpSpPr>
        <p:sp>
          <p:nvSpPr>
            <p:cNvPr id="85" name="Freeform 26"/>
            <p:cNvSpPr>
              <a:spLocks/>
            </p:cNvSpPr>
            <p:nvPr/>
          </p:nvSpPr>
          <p:spPr bwMode="auto">
            <a:xfrm>
              <a:off x="3127375" y="3762375"/>
              <a:ext cx="2597150" cy="1131888"/>
            </a:xfrm>
            <a:custGeom>
              <a:avLst/>
              <a:gdLst>
                <a:gd name="T0" fmla="*/ 2147483647 w 1636"/>
                <a:gd name="T1" fmla="*/ 2147483647 h 713"/>
                <a:gd name="T2" fmla="*/ 2147483647 w 1636"/>
                <a:gd name="T3" fmla="*/ 2147483647 h 713"/>
                <a:gd name="T4" fmla="*/ 2147483647 w 1636"/>
                <a:gd name="T5" fmla="*/ 2147483647 h 713"/>
                <a:gd name="T6" fmla="*/ 2147483647 w 1636"/>
                <a:gd name="T7" fmla="*/ 2147483647 h 713"/>
                <a:gd name="T8" fmla="*/ 2147483647 w 1636"/>
                <a:gd name="T9" fmla="*/ 2147483647 h 713"/>
                <a:gd name="T10" fmla="*/ 2147483647 w 1636"/>
                <a:gd name="T11" fmla="*/ 2147483647 h 713"/>
                <a:gd name="T12" fmla="*/ 2147483647 w 1636"/>
                <a:gd name="T13" fmla="*/ 2147483647 h 713"/>
                <a:gd name="T14" fmla="*/ 2147483647 w 1636"/>
                <a:gd name="T15" fmla="*/ 2147483647 h 713"/>
                <a:gd name="T16" fmla="*/ 2147483647 w 1636"/>
                <a:gd name="T17" fmla="*/ 2147483647 h 713"/>
                <a:gd name="T18" fmla="*/ 2147483647 w 1636"/>
                <a:gd name="T19" fmla="*/ 2147483647 h 713"/>
                <a:gd name="T20" fmla="*/ 2147483647 w 1636"/>
                <a:gd name="T21" fmla="*/ 2147483647 h 713"/>
                <a:gd name="T22" fmla="*/ 0 w 1636"/>
                <a:gd name="T23" fmla="*/ 2147483647 h 713"/>
                <a:gd name="T24" fmla="*/ 2147483647 w 1636"/>
                <a:gd name="T25" fmla="*/ 2147483647 h 713"/>
                <a:gd name="T26" fmla="*/ 2147483647 w 1636"/>
                <a:gd name="T27" fmla="*/ 2147483647 h 713"/>
                <a:gd name="T28" fmla="*/ 2147483647 w 1636"/>
                <a:gd name="T29" fmla="*/ 2147483647 h 7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636"/>
                <a:gd name="T46" fmla="*/ 0 h 713"/>
                <a:gd name="T47" fmla="*/ 1636 w 1636"/>
                <a:gd name="T48" fmla="*/ 713 h 71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636" h="713">
                  <a:moveTo>
                    <a:pt x="64" y="5"/>
                  </a:moveTo>
                  <a:cubicBezTo>
                    <a:pt x="1248" y="0"/>
                    <a:pt x="731" y="1"/>
                    <a:pt x="1616" y="1"/>
                  </a:cubicBezTo>
                  <a:lnTo>
                    <a:pt x="1580" y="105"/>
                  </a:lnTo>
                  <a:lnTo>
                    <a:pt x="1556" y="209"/>
                  </a:lnTo>
                  <a:lnTo>
                    <a:pt x="1636" y="541"/>
                  </a:lnTo>
                  <a:lnTo>
                    <a:pt x="1568" y="713"/>
                  </a:lnTo>
                  <a:lnTo>
                    <a:pt x="28" y="705"/>
                  </a:lnTo>
                  <a:lnTo>
                    <a:pt x="68" y="597"/>
                  </a:lnTo>
                  <a:lnTo>
                    <a:pt x="64" y="449"/>
                  </a:lnTo>
                  <a:lnTo>
                    <a:pt x="36" y="353"/>
                  </a:lnTo>
                  <a:lnTo>
                    <a:pt x="8" y="301"/>
                  </a:lnTo>
                  <a:lnTo>
                    <a:pt x="0" y="245"/>
                  </a:lnTo>
                  <a:lnTo>
                    <a:pt x="4" y="177"/>
                  </a:lnTo>
                  <a:lnTo>
                    <a:pt x="24" y="101"/>
                  </a:lnTo>
                  <a:lnTo>
                    <a:pt x="64" y="5"/>
                  </a:lnTo>
                  <a:close/>
                </a:path>
              </a:pathLst>
            </a:cu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组合 3"/>
            <p:cNvGrpSpPr>
              <a:grpSpLocks/>
            </p:cNvGrpSpPr>
            <p:nvPr/>
          </p:nvGrpSpPr>
          <p:grpSpPr bwMode="auto">
            <a:xfrm>
              <a:off x="3546475" y="3697288"/>
              <a:ext cx="1073150" cy="336550"/>
              <a:chOff x="5448300" y="3730625"/>
              <a:chExt cx="1073150" cy="336550"/>
            </a:xfrm>
          </p:grpSpPr>
          <p:sp>
            <p:nvSpPr>
              <p:cNvPr id="130" name="Rectangle 17"/>
              <p:cNvSpPr>
                <a:spLocks noChangeArrowheads="1"/>
              </p:cNvSpPr>
              <p:nvPr/>
            </p:nvSpPr>
            <p:spPr bwMode="auto">
              <a:xfrm>
                <a:off x="5448300" y="3797300"/>
                <a:ext cx="1073150" cy="209550"/>
              </a:xfrm>
              <a:prstGeom prst="rect">
                <a:avLst/>
              </a:prstGeom>
              <a:solidFill>
                <a:srgbClr val="FF66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Rectangle 19"/>
              <p:cNvSpPr>
                <a:spLocks noChangeArrowheads="1"/>
              </p:cNvSpPr>
              <p:nvPr/>
            </p:nvSpPr>
            <p:spPr bwMode="auto">
              <a:xfrm>
                <a:off x="5492750" y="3730625"/>
                <a:ext cx="409575" cy="33655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</a:rPr>
                  <a:t>N</a:t>
                </a:r>
                <a:r>
                  <a:rPr lang="en-US" altLang="zh-CN" sz="1600" b="1" baseline="30000">
                    <a:latin typeface="Times New Roman" pitchFamily="18" charset="0"/>
                  </a:rPr>
                  <a:t>+</a:t>
                </a:r>
              </a:p>
            </p:txBody>
          </p:sp>
        </p:grpSp>
        <p:grpSp>
          <p:nvGrpSpPr>
            <p:cNvPr id="87" name="组合 6"/>
            <p:cNvGrpSpPr>
              <a:grpSpLocks/>
            </p:cNvGrpSpPr>
            <p:nvPr/>
          </p:nvGrpSpPr>
          <p:grpSpPr bwMode="auto">
            <a:xfrm>
              <a:off x="5002213" y="3705225"/>
              <a:ext cx="458787" cy="336550"/>
              <a:chOff x="6904038" y="3738563"/>
              <a:chExt cx="458787" cy="336550"/>
            </a:xfrm>
          </p:grpSpPr>
          <p:sp>
            <p:nvSpPr>
              <p:cNvPr id="128" name="Rectangle 20"/>
              <p:cNvSpPr>
                <a:spLocks noChangeArrowheads="1"/>
              </p:cNvSpPr>
              <p:nvPr/>
            </p:nvSpPr>
            <p:spPr bwMode="auto">
              <a:xfrm>
                <a:off x="6904038" y="3805238"/>
                <a:ext cx="431800" cy="209550"/>
              </a:xfrm>
              <a:prstGeom prst="rect">
                <a:avLst/>
              </a:prstGeom>
              <a:solidFill>
                <a:srgbClr val="FF66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Rectangle 23"/>
              <p:cNvSpPr>
                <a:spLocks noChangeArrowheads="1"/>
              </p:cNvSpPr>
              <p:nvPr/>
            </p:nvSpPr>
            <p:spPr bwMode="auto">
              <a:xfrm>
                <a:off x="6953250" y="3738563"/>
                <a:ext cx="409575" cy="336550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600" b="1">
                    <a:latin typeface="Times New Roman" pitchFamily="18" charset="0"/>
                  </a:rPr>
                  <a:t>N</a:t>
                </a:r>
                <a:r>
                  <a:rPr lang="en-US" altLang="zh-CN" sz="1600" b="1" baseline="30000">
                    <a:latin typeface="Times New Roman" pitchFamily="18" charset="0"/>
                  </a:rPr>
                  <a:t>+</a:t>
                </a:r>
              </a:p>
            </p:txBody>
          </p:sp>
        </p:grpSp>
        <p:grpSp>
          <p:nvGrpSpPr>
            <p:cNvPr id="88" name="组合 9"/>
            <p:cNvGrpSpPr>
              <a:grpSpLocks/>
            </p:cNvGrpSpPr>
            <p:nvPr/>
          </p:nvGrpSpPr>
          <p:grpSpPr bwMode="auto">
            <a:xfrm>
              <a:off x="4183063" y="2695575"/>
              <a:ext cx="1308100" cy="1036638"/>
              <a:chOff x="6085915" y="2701236"/>
              <a:chExt cx="1308100" cy="1037046"/>
            </a:xfrm>
          </p:grpSpPr>
          <p:sp>
            <p:nvSpPr>
              <p:cNvPr id="123" name="Oval 10"/>
              <p:cNvSpPr>
                <a:spLocks noChangeArrowheads="1"/>
              </p:cNvSpPr>
              <p:nvPr/>
            </p:nvSpPr>
            <p:spPr bwMode="auto">
              <a:xfrm>
                <a:off x="6689725" y="2701236"/>
                <a:ext cx="69850" cy="8096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1"/>
              <p:cNvSpPr>
                <a:spLocks noChangeShapeType="1"/>
              </p:cNvSpPr>
              <p:nvPr/>
            </p:nvSpPr>
            <p:spPr bwMode="auto">
              <a:xfrm flipV="1">
                <a:off x="6085915" y="2745660"/>
                <a:ext cx="13081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Oval 14"/>
              <p:cNvSpPr>
                <a:spLocks noChangeArrowheads="1"/>
              </p:cNvSpPr>
              <p:nvPr/>
            </p:nvSpPr>
            <p:spPr bwMode="auto">
              <a:xfrm>
                <a:off x="6678407" y="3585885"/>
                <a:ext cx="69850" cy="8096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24"/>
              <p:cNvSpPr>
                <a:spLocks noChangeShapeType="1"/>
              </p:cNvSpPr>
              <p:nvPr/>
            </p:nvSpPr>
            <p:spPr bwMode="auto">
              <a:xfrm flipH="1">
                <a:off x="6715685" y="2782050"/>
                <a:ext cx="6350" cy="8064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Rectangle 25"/>
              <p:cNvSpPr>
                <a:spLocks noChangeArrowheads="1"/>
              </p:cNvSpPr>
              <p:nvPr/>
            </p:nvSpPr>
            <p:spPr bwMode="auto">
              <a:xfrm>
                <a:off x="6551705" y="3657599"/>
                <a:ext cx="304114" cy="80683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9" name="组合 15"/>
            <p:cNvGrpSpPr>
              <a:grpSpLocks/>
            </p:cNvGrpSpPr>
            <p:nvPr/>
          </p:nvGrpSpPr>
          <p:grpSpPr bwMode="auto">
            <a:xfrm>
              <a:off x="4097338" y="3249613"/>
              <a:ext cx="2097087" cy="1473200"/>
              <a:chOff x="5999424" y="3283350"/>
              <a:chExt cx="2096826" cy="1473200"/>
            </a:xfrm>
          </p:grpSpPr>
          <p:sp>
            <p:nvSpPr>
              <p:cNvPr id="119" name="Oval 16"/>
              <p:cNvSpPr>
                <a:spLocks noChangeArrowheads="1"/>
              </p:cNvSpPr>
              <p:nvPr/>
            </p:nvSpPr>
            <p:spPr bwMode="auto">
              <a:xfrm>
                <a:off x="5999424" y="3751786"/>
                <a:ext cx="69850" cy="8096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Line 35"/>
              <p:cNvSpPr>
                <a:spLocks noChangeShapeType="1"/>
              </p:cNvSpPr>
              <p:nvPr/>
            </p:nvSpPr>
            <p:spPr bwMode="auto">
              <a:xfrm flipV="1">
                <a:off x="6032500" y="3321836"/>
                <a:ext cx="0" cy="4254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36"/>
              <p:cNvSpPr>
                <a:spLocks noChangeShapeType="1"/>
              </p:cNvSpPr>
              <p:nvPr/>
            </p:nvSpPr>
            <p:spPr bwMode="auto">
              <a:xfrm flipV="1">
                <a:off x="6020200" y="3302524"/>
                <a:ext cx="2070100" cy="63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37"/>
              <p:cNvSpPr>
                <a:spLocks noChangeShapeType="1"/>
              </p:cNvSpPr>
              <p:nvPr/>
            </p:nvSpPr>
            <p:spPr bwMode="auto">
              <a:xfrm flipH="1">
                <a:off x="8096250" y="3283350"/>
                <a:ext cx="0" cy="14732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0" name="组合 20"/>
            <p:cNvGrpSpPr>
              <a:grpSpLocks/>
            </p:cNvGrpSpPr>
            <p:nvPr/>
          </p:nvGrpSpPr>
          <p:grpSpPr bwMode="auto">
            <a:xfrm>
              <a:off x="3513138" y="2901950"/>
              <a:ext cx="412750" cy="785813"/>
              <a:chOff x="3142825" y="2339542"/>
              <a:chExt cx="412750" cy="785812"/>
            </a:xfrm>
          </p:grpSpPr>
          <p:sp>
            <p:nvSpPr>
              <p:cNvPr id="115" name="Line 45"/>
              <p:cNvSpPr>
                <a:spLocks noChangeShapeType="1"/>
              </p:cNvSpPr>
              <p:nvPr/>
            </p:nvSpPr>
            <p:spPr bwMode="auto">
              <a:xfrm>
                <a:off x="3349200" y="2674504"/>
                <a:ext cx="82550" cy="23018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46"/>
              <p:cNvSpPr>
                <a:spLocks noChangeShapeType="1"/>
              </p:cNvSpPr>
              <p:nvPr/>
            </p:nvSpPr>
            <p:spPr bwMode="auto">
              <a:xfrm flipH="1" flipV="1">
                <a:off x="3296812" y="2839604"/>
                <a:ext cx="139700" cy="6985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47"/>
              <p:cNvSpPr>
                <a:spLocks noChangeShapeType="1"/>
              </p:cNvSpPr>
              <p:nvPr/>
            </p:nvSpPr>
            <p:spPr bwMode="auto">
              <a:xfrm>
                <a:off x="3290462" y="2839604"/>
                <a:ext cx="76200" cy="28575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Rectangle 52"/>
              <p:cNvSpPr>
                <a:spLocks noChangeArrowheads="1"/>
              </p:cNvSpPr>
              <p:nvPr/>
            </p:nvSpPr>
            <p:spPr bwMode="auto">
              <a:xfrm>
                <a:off x="3142825" y="2339542"/>
                <a:ext cx="412750" cy="366712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Times New Roman" pitchFamily="18" charset="0"/>
                    <a:ea typeface="微软雅黑" pitchFamily="34" charset="-122"/>
                  </a:rPr>
                  <a:t>光</a:t>
                </a:r>
                <a:endParaRPr lang="zh-CN" altLang="en-US" b="1" baseline="-25000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endParaRPr>
              </a:p>
            </p:txBody>
          </p:sp>
        </p:grpSp>
        <p:sp>
          <p:nvSpPr>
            <p:cNvPr id="91" name="Rectangle 54"/>
            <p:cNvSpPr>
              <a:spLocks noChangeArrowheads="1"/>
            </p:cNvSpPr>
            <p:nvPr/>
          </p:nvSpPr>
          <p:spPr bwMode="auto">
            <a:xfrm>
              <a:off x="3246438" y="4524375"/>
              <a:ext cx="1009650" cy="36671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>
                  <a:latin typeface="Times New Roman" pitchFamily="18" charset="0"/>
                  <a:ea typeface="微软雅黑" pitchFamily="34" charset="-122"/>
                </a:rPr>
                <a:t>P</a:t>
              </a:r>
              <a:r>
                <a:rPr lang="zh-CN" altLang="en-US" b="1">
                  <a:latin typeface="Times New Roman" pitchFamily="18" charset="0"/>
                  <a:ea typeface="微软雅黑" pitchFamily="34" charset="-122"/>
                </a:rPr>
                <a:t>型基板</a:t>
              </a:r>
              <a:endParaRPr lang="zh-CN" altLang="en-US" b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  <p:grpSp>
          <p:nvGrpSpPr>
            <p:cNvPr id="92" name="组合 28"/>
            <p:cNvGrpSpPr>
              <a:grpSpLocks/>
            </p:cNvGrpSpPr>
            <p:nvPr/>
          </p:nvGrpSpPr>
          <p:grpSpPr bwMode="auto">
            <a:xfrm>
              <a:off x="5121275" y="3249613"/>
              <a:ext cx="686285" cy="557212"/>
              <a:chOff x="7023100" y="3282950"/>
              <a:chExt cx="686285" cy="557213"/>
            </a:xfrm>
          </p:grpSpPr>
          <p:sp>
            <p:nvSpPr>
              <p:cNvPr id="111" name="Oval 21"/>
              <p:cNvSpPr>
                <a:spLocks noChangeArrowheads="1"/>
              </p:cNvSpPr>
              <p:nvPr/>
            </p:nvSpPr>
            <p:spPr bwMode="auto">
              <a:xfrm>
                <a:off x="7085013" y="3759200"/>
                <a:ext cx="69850" cy="8096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22"/>
              <p:cNvSpPr>
                <a:spLocks noChangeShapeType="1"/>
              </p:cNvSpPr>
              <p:nvPr/>
            </p:nvSpPr>
            <p:spPr bwMode="auto">
              <a:xfrm flipV="1">
                <a:off x="7023100" y="3498850"/>
                <a:ext cx="177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Rectangle 51"/>
              <p:cNvSpPr>
                <a:spLocks noChangeArrowheads="1"/>
              </p:cNvSpPr>
              <p:nvPr/>
            </p:nvSpPr>
            <p:spPr bwMode="auto">
              <a:xfrm>
                <a:off x="7149616" y="3282950"/>
                <a:ext cx="559769" cy="400111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b="1" dirty="0" err="1" smtClean="0">
                    <a:latin typeface="Times New Roman" pitchFamily="18" charset="0"/>
                  </a:rPr>
                  <a:t>V</a:t>
                </a:r>
                <a:r>
                  <a:rPr lang="en-US" altLang="zh-CN" b="1" baseline="-25000" dirty="0" err="1" smtClean="0">
                    <a:latin typeface="Times New Roman" pitchFamily="18" charset="0"/>
                  </a:rPr>
                  <a:t>bb</a:t>
                </a:r>
                <a:endParaRPr lang="en-US" altLang="zh-CN" sz="2000" b="1" baseline="-25000" dirty="0">
                  <a:latin typeface="Times New Roman" pitchFamily="18" charset="0"/>
                </a:endParaRPr>
              </a:p>
            </p:txBody>
          </p:sp>
          <p:sp>
            <p:nvSpPr>
              <p:cNvPr id="114" name="Line 60"/>
              <p:cNvSpPr>
                <a:spLocks noChangeShapeType="1"/>
              </p:cNvSpPr>
              <p:nvPr/>
            </p:nvSpPr>
            <p:spPr bwMode="auto">
              <a:xfrm flipH="1" flipV="1">
                <a:off x="7115175" y="3495675"/>
                <a:ext cx="0" cy="2667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2911475" y="2887663"/>
              <a:ext cx="3556000" cy="3086100"/>
              <a:chOff x="2911475" y="2887663"/>
              <a:chExt cx="3556000" cy="3086100"/>
            </a:xfrm>
          </p:grpSpPr>
          <p:sp>
            <p:nvSpPr>
              <p:cNvPr id="95" name="Rectangle 12"/>
              <p:cNvSpPr>
                <a:spLocks noChangeArrowheads="1"/>
              </p:cNvSpPr>
              <p:nvPr/>
            </p:nvSpPr>
            <p:spPr bwMode="auto">
              <a:xfrm>
                <a:off x="2911475" y="2887663"/>
                <a:ext cx="3022600" cy="232410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ysDot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Rectangle 57"/>
              <p:cNvSpPr>
                <a:spLocks noChangeArrowheads="1"/>
              </p:cNvSpPr>
              <p:nvPr/>
            </p:nvSpPr>
            <p:spPr bwMode="auto">
              <a:xfrm>
                <a:off x="5095875" y="5248275"/>
                <a:ext cx="876300" cy="369888"/>
              </a:xfrm>
              <a:prstGeom prst="rect">
                <a:avLst/>
              </a:prstGeom>
              <a:noFill/>
              <a:ln w="254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b="1" dirty="0">
                    <a:latin typeface="Times New Roman" pitchFamily="18" charset="0"/>
                    <a:ea typeface="微软雅黑" pitchFamily="34" charset="-122"/>
                  </a:rPr>
                  <a:t>负载管</a:t>
                </a:r>
                <a:endParaRPr lang="zh-CN" altLang="en-US" b="1" baseline="-250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  <p:grpSp>
            <p:nvGrpSpPr>
              <p:cNvPr id="97" name="组合 33"/>
              <p:cNvGrpSpPr>
                <a:grpSpLocks/>
              </p:cNvGrpSpPr>
              <p:nvPr/>
            </p:nvGrpSpPr>
            <p:grpSpPr bwMode="auto">
              <a:xfrm>
                <a:off x="5908675" y="4718050"/>
                <a:ext cx="558800" cy="1255713"/>
                <a:chOff x="7810500" y="4751125"/>
                <a:chExt cx="558800" cy="1255975"/>
              </a:xfrm>
            </p:grpSpPr>
            <p:sp>
              <p:nvSpPr>
                <p:cNvPr id="98" name="Oval 15"/>
                <p:cNvSpPr>
                  <a:spLocks noChangeArrowheads="1"/>
                </p:cNvSpPr>
                <p:nvPr/>
              </p:nvSpPr>
              <p:spPr bwMode="auto">
                <a:xfrm>
                  <a:off x="8066088" y="5137150"/>
                  <a:ext cx="69850" cy="80963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Line 31"/>
                <p:cNvSpPr>
                  <a:spLocks noChangeShapeType="1"/>
                </p:cNvSpPr>
                <p:nvPr/>
              </p:nvSpPr>
              <p:spPr bwMode="auto">
                <a:xfrm>
                  <a:off x="8356600" y="5175250"/>
                  <a:ext cx="0" cy="83185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8102600" y="5168900"/>
                  <a:ext cx="266700" cy="635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" name="Line 38"/>
                <p:cNvSpPr>
                  <a:spLocks noChangeShapeType="1"/>
                </p:cNvSpPr>
                <p:nvPr/>
              </p:nvSpPr>
              <p:spPr bwMode="auto">
                <a:xfrm>
                  <a:off x="8102600" y="4826000"/>
                  <a:ext cx="6350" cy="52070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" name="Line 39"/>
                <p:cNvSpPr>
                  <a:spLocks noChangeShapeType="1"/>
                </p:cNvSpPr>
                <p:nvPr/>
              </p:nvSpPr>
              <p:spPr bwMode="auto">
                <a:xfrm>
                  <a:off x="7991475" y="5346700"/>
                  <a:ext cx="11430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" name="Line 40"/>
                <p:cNvSpPr>
                  <a:spLocks noChangeShapeType="1"/>
                </p:cNvSpPr>
                <p:nvPr/>
              </p:nvSpPr>
              <p:spPr bwMode="auto">
                <a:xfrm>
                  <a:off x="7988300" y="5549900"/>
                  <a:ext cx="11430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7988300" y="5346700"/>
                  <a:ext cx="0" cy="20955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" name="AutoShape 42"/>
                <p:cNvSpPr>
                  <a:spLocks noChangeArrowheads="1"/>
                </p:cNvSpPr>
                <p:nvPr/>
              </p:nvSpPr>
              <p:spPr bwMode="auto">
                <a:xfrm>
                  <a:off x="8051800" y="5822950"/>
                  <a:ext cx="88900" cy="88900"/>
                </a:xfrm>
                <a:prstGeom prst="flowChartMerg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Line 43"/>
                <p:cNvSpPr>
                  <a:spLocks noChangeShapeType="1"/>
                </p:cNvSpPr>
                <p:nvPr/>
              </p:nvSpPr>
              <p:spPr bwMode="auto">
                <a:xfrm>
                  <a:off x="7937500" y="5365750"/>
                  <a:ext cx="0" cy="17145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" name="Line 44"/>
                <p:cNvSpPr>
                  <a:spLocks noChangeShapeType="1"/>
                </p:cNvSpPr>
                <p:nvPr/>
              </p:nvSpPr>
              <p:spPr bwMode="auto">
                <a:xfrm>
                  <a:off x="7810500" y="5454650"/>
                  <a:ext cx="127000" cy="635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49"/>
                <p:cNvSpPr>
                  <a:spLocks/>
                </p:cNvSpPr>
                <p:nvPr/>
              </p:nvSpPr>
              <p:spPr bwMode="auto">
                <a:xfrm>
                  <a:off x="8023225" y="4751125"/>
                  <a:ext cx="147638" cy="31750"/>
                </a:xfrm>
                <a:custGeom>
                  <a:avLst/>
                  <a:gdLst>
                    <a:gd name="T0" fmla="*/ 0 w 93"/>
                    <a:gd name="T1" fmla="*/ 2147483647 h 20"/>
                    <a:gd name="T2" fmla="*/ 2147483647 w 93"/>
                    <a:gd name="T3" fmla="*/ 2147483647 h 20"/>
                    <a:gd name="T4" fmla="*/ 2147483647 w 93"/>
                    <a:gd name="T5" fmla="*/ 2147483647 h 20"/>
                    <a:gd name="T6" fmla="*/ 2147483647 w 93"/>
                    <a:gd name="T7" fmla="*/ 2147483647 h 20"/>
                    <a:gd name="T8" fmla="*/ 2147483647 w 93"/>
                    <a:gd name="T9" fmla="*/ 2147483647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3"/>
                    <a:gd name="T16" fmla="*/ 0 h 20"/>
                    <a:gd name="T17" fmla="*/ 93 w 93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3" h="20">
                      <a:moveTo>
                        <a:pt x="0" y="1"/>
                      </a:moveTo>
                      <a:cubicBezTo>
                        <a:pt x="9" y="0"/>
                        <a:pt x="19" y="0"/>
                        <a:pt x="27" y="2"/>
                      </a:cubicBezTo>
                      <a:cubicBezTo>
                        <a:pt x="35" y="4"/>
                        <a:pt x="40" y="8"/>
                        <a:pt x="46" y="11"/>
                      </a:cubicBezTo>
                      <a:cubicBezTo>
                        <a:pt x="52" y="14"/>
                        <a:pt x="56" y="18"/>
                        <a:pt x="64" y="19"/>
                      </a:cubicBezTo>
                      <a:cubicBezTo>
                        <a:pt x="72" y="20"/>
                        <a:pt x="88" y="20"/>
                        <a:pt x="93" y="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50"/>
                <p:cNvSpPr>
                  <a:spLocks/>
                </p:cNvSpPr>
                <p:nvPr/>
              </p:nvSpPr>
              <p:spPr bwMode="auto">
                <a:xfrm>
                  <a:off x="8021638" y="4806950"/>
                  <a:ext cx="147637" cy="31750"/>
                </a:xfrm>
                <a:custGeom>
                  <a:avLst/>
                  <a:gdLst>
                    <a:gd name="T0" fmla="*/ 0 w 93"/>
                    <a:gd name="T1" fmla="*/ 2147483647 h 20"/>
                    <a:gd name="T2" fmla="*/ 2147483647 w 93"/>
                    <a:gd name="T3" fmla="*/ 2147483647 h 20"/>
                    <a:gd name="T4" fmla="*/ 2147483647 w 93"/>
                    <a:gd name="T5" fmla="*/ 2147483647 h 20"/>
                    <a:gd name="T6" fmla="*/ 2147483647 w 93"/>
                    <a:gd name="T7" fmla="*/ 2147483647 h 20"/>
                    <a:gd name="T8" fmla="*/ 2147483647 w 93"/>
                    <a:gd name="T9" fmla="*/ 2147483647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3"/>
                    <a:gd name="T16" fmla="*/ 0 h 20"/>
                    <a:gd name="T17" fmla="*/ 93 w 93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3" h="20">
                      <a:moveTo>
                        <a:pt x="0" y="1"/>
                      </a:moveTo>
                      <a:cubicBezTo>
                        <a:pt x="9" y="0"/>
                        <a:pt x="19" y="0"/>
                        <a:pt x="27" y="2"/>
                      </a:cubicBezTo>
                      <a:cubicBezTo>
                        <a:pt x="35" y="4"/>
                        <a:pt x="40" y="8"/>
                        <a:pt x="46" y="11"/>
                      </a:cubicBezTo>
                      <a:cubicBezTo>
                        <a:pt x="52" y="14"/>
                        <a:pt x="56" y="18"/>
                        <a:pt x="64" y="19"/>
                      </a:cubicBezTo>
                      <a:cubicBezTo>
                        <a:pt x="72" y="20"/>
                        <a:pt x="88" y="20"/>
                        <a:pt x="93" y="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" name="Line 61"/>
                <p:cNvSpPr>
                  <a:spLocks noChangeShapeType="1"/>
                </p:cNvSpPr>
                <p:nvPr/>
              </p:nvSpPr>
              <p:spPr bwMode="auto">
                <a:xfrm>
                  <a:off x="8099425" y="5549900"/>
                  <a:ext cx="0" cy="276225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94" name="直接箭头连接符 93"/>
            <p:cNvCxnSpPr/>
            <p:nvPr/>
          </p:nvCxnSpPr>
          <p:spPr>
            <a:xfrm>
              <a:off x="4397375" y="4111625"/>
              <a:ext cx="784225" cy="1588"/>
            </a:xfrm>
            <a:prstGeom prst="straightConnector1">
              <a:avLst/>
            </a:prstGeom>
            <a:ln w="76200">
              <a:solidFill>
                <a:srgbClr val="0000CC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/>
        </p:nvGrpSpPr>
        <p:grpSpPr>
          <a:xfrm>
            <a:off x="4571731" y="1109439"/>
            <a:ext cx="3571875" cy="1520825"/>
            <a:chOff x="2606675" y="739775"/>
            <a:chExt cx="3571875" cy="1520825"/>
          </a:xfrm>
        </p:grpSpPr>
        <p:sp>
          <p:nvSpPr>
            <p:cNvPr id="133" name="TextBox 132"/>
            <p:cNvSpPr txBox="1">
              <a:spLocks noChangeArrowheads="1"/>
            </p:cNvSpPr>
            <p:nvPr/>
          </p:nvSpPr>
          <p:spPr bwMode="auto">
            <a:xfrm>
              <a:off x="2744788" y="739775"/>
              <a:ext cx="3248025" cy="1477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华文琥珀" pitchFamily="2" charset="-122"/>
                  <a:ea typeface="华文琥珀" pitchFamily="2" charset="-122"/>
                  <a:cs typeface="Times New Roman" pitchFamily="18" charset="0"/>
                </a:rPr>
                <a:t>行地址选通复位晶体管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华文琥珀" pitchFamily="2" charset="-122"/>
                  <a:cs typeface="Times New Roman" pitchFamily="18" charset="0"/>
                </a:rPr>
                <a:t>T</a:t>
              </a:r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的复位脉冲启动复位操作，光电二极管的信号电荷被复位；</a:t>
              </a:r>
            </a:p>
          </p:txBody>
        </p:sp>
        <p:sp>
          <p:nvSpPr>
            <p:cNvPr id="134" name="圆角矩形标注 133"/>
            <p:cNvSpPr/>
            <p:nvPr/>
          </p:nvSpPr>
          <p:spPr>
            <a:xfrm>
              <a:off x="2606675" y="754063"/>
              <a:ext cx="3571875" cy="1506537"/>
            </a:xfrm>
            <a:prstGeom prst="wedgeRoundRectCallout">
              <a:avLst>
                <a:gd name="adj1" fmla="val -3532"/>
                <a:gd name="adj2" fmla="val 71516"/>
                <a:gd name="adj3" fmla="val 16667"/>
              </a:avLst>
            </a:prstGeom>
            <a:noFill/>
            <a:ln w="3810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2507981" y="2730277"/>
            <a:ext cx="1952625" cy="2582862"/>
            <a:chOff x="542925" y="2360613"/>
            <a:chExt cx="1952625" cy="2582862"/>
          </a:xfrm>
        </p:grpSpPr>
        <p:sp>
          <p:nvSpPr>
            <p:cNvPr id="136" name="TextBox 135"/>
            <p:cNvSpPr txBox="1">
              <a:spLocks noChangeArrowheads="1"/>
            </p:cNvSpPr>
            <p:nvPr/>
          </p:nvSpPr>
          <p:spPr bwMode="auto">
            <a:xfrm>
              <a:off x="614363" y="2446338"/>
              <a:ext cx="1881187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复位脉冲过后，复位开关处于断开状态，</a:t>
              </a:r>
              <a:r>
                <a:rPr lang="zh-CN" altLang="en-US" sz="2000" b="1" dirty="0">
                  <a:solidFill>
                    <a:srgbClr val="FF0000"/>
                  </a:solidFill>
                  <a:latin typeface="华文彩云" pitchFamily="2" charset="-122"/>
                  <a:ea typeface="华文彩云" pitchFamily="2" charset="-122"/>
                  <a:cs typeface="Times New Roman" pitchFamily="18" charset="0"/>
                </a:rPr>
                <a:t>光电二极管开始光信号的积分</a:t>
              </a:r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；</a:t>
              </a:r>
            </a:p>
          </p:txBody>
        </p:sp>
        <p:sp>
          <p:nvSpPr>
            <p:cNvPr id="137" name="圆角矩形标注 136"/>
            <p:cNvSpPr/>
            <p:nvPr/>
          </p:nvSpPr>
          <p:spPr>
            <a:xfrm>
              <a:off x="542925" y="2360613"/>
              <a:ext cx="1890713" cy="2582862"/>
            </a:xfrm>
            <a:prstGeom prst="wedgeRoundRectCallout">
              <a:avLst>
                <a:gd name="adj1" fmla="val 111224"/>
                <a:gd name="adj2" fmla="val 21350"/>
                <a:gd name="adj3" fmla="val 16667"/>
              </a:avLst>
            </a:prstGeom>
            <a:noFill/>
            <a:ln w="3810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8649686" y="2198464"/>
            <a:ext cx="2274887" cy="3546475"/>
            <a:chOff x="6548438" y="1828800"/>
            <a:chExt cx="2274887" cy="3546475"/>
          </a:xfrm>
        </p:grpSpPr>
        <p:sp>
          <p:nvSpPr>
            <p:cNvPr id="139" name="TextBox 138"/>
            <p:cNvSpPr txBox="1">
              <a:spLocks noChangeArrowheads="1"/>
            </p:cNvSpPr>
            <p:nvPr/>
          </p:nvSpPr>
          <p:spPr bwMode="auto">
            <a:xfrm>
              <a:off x="6648450" y="1989138"/>
              <a:ext cx="2074863" cy="32686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积分工作结束时，</a:t>
              </a:r>
              <a:r>
                <a:rPr lang="zh-CN" altLang="en-US" sz="2000" b="1" dirty="0">
                  <a:solidFill>
                    <a:srgbClr val="FF0000"/>
                  </a:solidFill>
                  <a:latin typeface="华文琥珀" pitchFamily="2" charset="-122"/>
                  <a:ea typeface="华文琥珀" pitchFamily="2" charset="-122"/>
                  <a:cs typeface="Times New Roman" pitchFamily="18" charset="0"/>
                </a:rPr>
                <a:t>列地址选择脉冲启动选址开关</a:t>
              </a:r>
              <a:r>
                <a:rPr lang="zh-CN" altLang="en-US" sz="2000" b="1" dirty="0">
                  <a:latin typeface="黑体" pitchFamily="2" charset="-122"/>
                  <a:ea typeface="黑体" pitchFamily="2" charset="-122"/>
                  <a:cs typeface="Times New Roman" pitchFamily="18" charset="0"/>
                </a:rPr>
                <a:t>，</a:t>
              </a:r>
              <a:r>
                <a:rPr lang="zh-CN" altLang="en-US" sz="2000" b="1" dirty="0"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光电二极管中的信号便传输到列总线上经放大器放大后输出。</a:t>
              </a:r>
            </a:p>
          </p:txBody>
        </p:sp>
        <p:sp>
          <p:nvSpPr>
            <p:cNvPr id="140" name="圆角矩形标注 139"/>
            <p:cNvSpPr/>
            <p:nvPr/>
          </p:nvSpPr>
          <p:spPr>
            <a:xfrm>
              <a:off x="6548438" y="1828800"/>
              <a:ext cx="2274887" cy="3546475"/>
            </a:xfrm>
            <a:prstGeom prst="wedgeRoundRectCallout">
              <a:avLst>
                <a:gd name="adj1" fmla="val -63315"/>
                <a:gd name="adj2" fmla="val 35601"/>
                <a:gd name="adj3" fmla="val 16667"/>
              </a:avLst>
            </a:prstGeom>
            <a:noFill/>
            <a:ln w="3810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41" name="TextBox 140"/>
          <p:cNvSpPr txBox="1">
            <a:spLocks noChangeArrowheads="1"/>
          </p:cNvSpPr>
          <p:nvPr/>
        </p:nvSpPr>
        <p:spPr bwMode="auto">
          <a:xfrm>
            <a:off x="4100244" y="6229127"/>
            <a:ext cx="47974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被动像敏单元结构工作过程</a:t>
            </a:r>
          </a:p>
        </p:txBody>
      </p:sp>
      <p:sp>
        <p:nvSpPr>
          <p:cNvPr id="14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1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213491" y="1318251"/>
            <a:ext cx="2555875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PPS</a:t>
            </a:r>
            <a:r>
              <a: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的优点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2647" y="4792612"/>
            <a:ext cx="1314450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缺点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50739" y="2287132"/>
            <a:ext cx="11175763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允许在给定的像元尺寸下设计出最高的</a:t>
            </a:r>
            <a:r>
              <a:rPr lang="zh-CN" altLang="en-US" sz="28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填充系数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感光面积与像素单元面积之比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，由于填充系数高，量子效率较高。同时它可以有</a:t>
            </a:r>
            <a:r>
              <a:rPr lang="zh-CN" altLang="en-US" sz="28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较小的像素尺寸</a:t>
            </a:r>
            <a:r>
              <a:rPr lang="zh-CN" altLang="en-US" sz="28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508445" y="5621051"/>
            <a:ext cx="1106034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列读取器</a:t>
            </a:r>
            <a:r>
              <a:rPr lang="zh-CN" altLang="en-US" sz="32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读取速度</a:t>
            </a: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很慢，并且容易受到</a:t>
            </a:r>
            <a:r>
              <a:rPr lang="zh-CN" altLang="en-US" sz="32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噪声和干扰的影响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663430" y="3509963"/>
            <a:ext cx="10817157" cy="867930"/>
          </a:xfrm>
          <a:prstGeom prst="rect">
            <a:avLst/>
          </a:prstGeom>
          <a:gradFill>
            <a:gsLst>
              <a:gs pos="0">
                <a:srgbClr val="00B05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ct val="50000"/>
              </a:spcBef>
              <a:defRPr/>
            </a:pPr>
            <a:r>
              <a:rPr kumimoji="1" lang="en-US" altLang="zh-CN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2.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主动像敏单元结构</a:t>
            </a:r>
            <a:r>
              <a:rPr kumimoji="1" lang="en-US" altLang="zh-CN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(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有源</a:t>
            </a:r>
            <a:r>
              <a:rPr kumimoji="1" lang="en-US" altLang="zh-CN" sz="36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)</a:t>
            </a:r>
            <a:r>
              <a:rPr lang="en-US" altLang="zh-CN" sz="3600" b="1" dirty="0">
                <a:latin typeface="Times New Roman" pitchFamily="18" charset="0"/>
              </a:rPr>
              <a:t> </a:t>
            </a:r>
            <a:r>
              <a:rPr lang="en-US" altLang="zh-CN" sz="3200" b="1" dirty="0">
                <a:latin typeface="Times New Roman" pitchFamily="18" charset="0"/>
              </a:rPr>
              <a:t>(Active Pixel Sensor</a:t>
            </a:r>
            <a:r>
              <a:rPr lang="zh-CN" altLang="en-US" sz="3200" b="1" dirty="0">
                <a:latin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</a:rPr>
              <a:t>APS )</a:t>
            </a:r>
            <a:endParaRPr lang="zh-CN" altLang="en-US" sz="3600" b="1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Oval 60"/>
          <p:cNvSpPr>
            <a:spLocks noChangeArrowheads="1"/>
          </p:cNvSpPr>
          <p:nvPr/>
        </p:nvSpPr>
        <p:spPr bwMode="auto">
          <a:xfrm>
            <a:off x="5918614" y="3693573"/>
            <a:ext cx="63500" cy="7778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Freeform 61"/>
          <p:cNvSpPr>
            <a:spLocks/>
          </p:cNvSpPr>
          <p:nvPr/>
        </p:nvSpPr>
        <p:spPr bwMode="auto">
          <a:xfrm>
            <a:off x="4924839" y="3730086"/>
            <a:ext cx="2698750" cy="1168400"/>
          </a:xfrm>
          <a:custGeom>
            <a:avLst/>
            <a:gdLst>
              <a:gd name="T0" fmla="*/ 2147483647 w 1636"/>
              <a:gd name="T1" fmla="*/ 2147483647 h 713"/>
              <a:gd name="T2" fmla="*/ 2147483647 w 1636"/>
              <a:gd name="T3" fmla="*/ 2147483647 h 713"/>
              <a:gd name="T4" fmla="*/ 2147483647 w 1636"/>
              <a:gd name="T5" fmla="*/ 2147483647 h 713"/>
              <a:gd name="T6" fmla="*/ 2147483647 w 1636"/>
              <a:gd name="T7" fmla="*/ 2147483647 h 713"/>
              <a:gd name="T8" fmla="*/ 2147483647 w 1636"/>
              <a:gd name="T9" fmla="*/ 2147483647 h 713"/>
              <a:gd name="T10" fmla="*/ 2147483647 w 1636"/>
              <a:gd name="T11" fmla="*/ 2147483647 h 713"/>
              <a:gd name="T12" fmla="*/ 2147483647 w 1636"/>
              <a:gd name="T13" fmla="*/ 2147483647 h 713"/>
              <a:gd name="T14" fmla="*/ 2147483647 w 1636"/>
              <a:gd name="T15" fmla="*/ 2147483647 h 713"/>
              <a:gd name="T16" fmla="*/ 2147483647 w 1636"/>
              <a:gd name="T17" fmla="*/ 2147483647 h 713"/>
              <a:gd name="T18" fmla="*/ 2147483647 w 1636"/>
              <a:gd name="T19" fmla="*/ 2147483647 h 713"/>
              <a:gd name="T20" fmla="*/ 2147483647 w 1636"/>
              <a:gd name="T21" fmla="*/ 2147483647 h 713"/>
              <a:gd name="T22" fmla="*/ 0 w 1636"/>
              <a:gd name="T23" fmla="*/ 2147483647 h 713"/>
              <a:gd name="T24" fmla="*/ 2147483647 w 1636"/>
              <a:gd name="T25" fmla="*/ 2147483647 h 713"/>
              <a:gd name="T26" fmla="*/ 2147483647 w 1636"/>
              <a:gd name="T27" fmla="*/ 2147483647 h 713"/>
              <a:gd name="T28" fmla="*/ 2147483647 w 1636"/>
              <a:gd name="T29" fmla="*/ 2147483647 h 71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636"/>
              <a:gd name="T46" fmla="*/ 0 h 713"/>
              <a:gd name="T47" fmla="*/ 1636 w 1636"/>
              <a:gd name="T48" fmla="*/ 713 h 71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636" h="713">
                <a:moveTo>
                  <a:pt x="64" y="5"/>
                </a:moveTo>
                <a:cubicBezTo>
                  <a:pt x="1248" y="0"/>
                  <a:pt x="731" y="1"/>
                  <a:pt x="1616" y="1"/>
                </a:cubicBezTo>
                <a:lnTo>
                  <a:pt x="1580" y="105"/>
                </a:lnTo>
                <a:lnTo>
                  <a:pt x="1556" y="209"/>
                </a:lnTo>
                <a:lnTo>
                  <a:pt x="1636" y="541"/>
                </a:lnTo>
                <a:lnTo>
                  <a:pt x="1568" y="713"/>
                </a:lnTo>
                <a:lnTo>
                  <a:pt x="28" y="705"/>
                </a:lnTo>
                <a:lnTo>
                  <a:pt x="68" y="597"/>
                </a:lnTo>
                <a:lnTo>
                  <a:pt x="64" y="449"/>
                </a:lnTo>
                <a:lnTo>
                  <a:pt x="36" y="353"/>
                </a:lnTo>
                <a:lnTo>
                  <a:pt x="8" y="301"/>
                </a:lnTo>
                <a:lnTo>
                  <a:pt x="0" y="245"/>
                </a:lnTo>
                <a:lnTo>
                  <a:pt x="4" y="177"/>
                </a:lnTo>
                <a:lnTo>
                  <a:pt x="24" y="101"/>
                </a:lnTo>
                <a:lnTo>
                  <a:pt x="64" y="5"/>
                </a:lnTo>
                <a:close/>
              </a:path>
            </a:pathLst>
          </a:cu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Oval 62"/>
          <p:cNvSpPr>
            <a:spLocks noChangeArrowheads="1"/>
          </p:cNvSpPr>
          <p:nvPr/>
        </p:nvSpPr>
        <p:spPr bwMode="auto">
          <a:xfrm>
            <a:off x="6629814" y="2358486"/>
            <a:ext cx="87312" cy="1016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63"/>
          <p:cNvSpPr>
            <a:spLocks noChangeShapeType="1"/>
          </p:cNvSpPr>
          <p:nvPr/>
        </p:nvSpPr>
        <p:spPr bwMode="auto">
          <a:xfrm flipV="1">
            <a:off x="6328189" y="2407698"/>
            <a:ext cx="720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Rectangle 64"/>
          <p:cNvSpPr>
            <a:spLocks noChangeArrowheads="1"/>
          </p:cNvSpPr>
          <p:nvPr/>
        </p:nvSpPr>
        <p:spPr bwMode="auto">
          <a:xfrm>
            <a:off x="4748626" y="2690273"/>
            <a:ext cx="4313238" cy="2535238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Oval 65"/>
          <p:cNvSpPr>
            <a:spLocks noChangeArrowheads="1"/>
          </p:cNvSpPr>
          <p:nvPr/>
        </p:nvSpPr>
        <p:spPr bwMode="auto">
          <a:xfrm>
            <a:off x="6620289" y="3384011"/>
            <a:ext cx="87312" cy="1016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Rectangle 66"/>
          <p:cNvSpPr>
            <a:spLocks noChangeArrowheads="1"/>
          </p:cNvSpPr>
          <p:nvPr/>
        </p:nvSpPr>
        <p:spPr bwMode="auto">
          <a:xfrm>
            <a:off x="5416964" y="3744373"/>
            <a:ext cx="1150937" cy="261938"/>
          </a:xfrm>
          <a:prstGeom prst="rect">
            <a:avLst/>
          </a:prstGeom>
          <a:solidFill>
            <a:srgbClr val="FF66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Rectangle 67"/>
          <p:cNvSpPr>
            <a:spLocks noChangeArrowheads="1"/>
          </p:cNvSpPr>
          <p:nvPr/>
        </p:nvSpPr>
        <p:spPr bwMode="auto">
          <a:xfrm>
            <a:off x="5509039" y="3684048"/>
            <a:ext cx="471487" cy="3810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</a:rPr>
              <a:t>N</a:t>
            </a:r>
            <a:r>
              <a:rPr lang="en-US" altLang="zh-CN" sz="1400" b="1" baseline="30000">
                <a:latin typeface="Times New Roman" pitchFamily="18" charset="0"/>
              </a:rPr>
              <a:t>+</a:t>
            </a:r>
          </a:p>
        </p:txBody>
      </p:sp>
      <p:sp>
        <p:nvSpPr>
          <p:cNvPr id="97" name="Oval 68"/>
          <p:cNvSpPr>
            <a:spLocks noChangeArrowheads="1"/>
          </p:cNvSpPr>
          <p:nvPr/>
        </p:nvSpPr>
        <p:spPr bwMode="auto">
          <a:xfrm>
            <a:off x="7028276" y="3698336"/>
            <a:ext cx="87313" cy="1016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Rectangle 69"/>
          <p:cNvSpPr>
            <a:spLocks noChangeArrowheads="1"/>
          </p:cNvSpPr>
          <p:nvPr/>
        </p:nvSpPr>
        <p:spPr bwMode="auto">
          <a:xfrm>
            <a:off x="6821901" y="3745961"/>
            <a:ext cx="492125" cy="252412"/>
          </a:xfrm>
          <a:prstGeom prst="rect">
            <a:avLst/>
          </a:prstGeom>
          <a:solidFill>
            <a:srgbClr val="FF66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Line 70"/>
          <p:cNvSpPr>
            <a:spLocks noChangeShapeType="1"/>
          </p:cNvSpPr>
          <p:nvPr/>
        </p:nvSpPr>
        <p:spPr bwMode="auto">
          <a:xfrm flipV="1">
            <a:off x="6958426" y="3477673"/>
            <a:ext cx="222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Line 71"/>
          <p:cNvSpPr>
            <a:spLocks noChangeShapeType="1"/>
          </p:cNvSpPr>
          <p:nvPr/>
        </p:nvSpPr>
        <p:spPr bwMode="auto">
          <a:xfrm flipH="1">
            <a:off x="6661564" y="2421986"/>
            <a:ext cx="7937" cy="954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Rectangle 72"/>
          <p:cNvSpPr>
            <a:spLocks noChangeArrowheads="1"/>
          </p:cNvSpPr>
          <p:nvPr/>
        </p:nvSpPr>
        <p:spPr bwMode="auto">
          <a:xfrm>
            <a:off x="6479001" y="3439573"/>
            <a:ext cx="365125" cy="166688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Line 77"/>
          <p:cNvSpPr>
            <a:spLocks noChangeShapeType="1"/>
          </p:cNvSpPr>
          <p:nvPr/>
        </p:nvSpPr>
        <p:spPr bwMode="auto">
          <a:xfrm>
            <a:off x="5605876" y="3190336"/>
            <a:ext cx="90488" cy="1920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Line 78"/>
          <p:cNvSpPr>
            <a:spLocks noChangeShapeType="1"/>
          </p:cNvSpPr>
          <p:nvPr/>
        </p:nvSpPr>
        <p:spPr bwMode="auto">
          <a:xfrm flipH="1" flipV="1">
            <a:off x="5548726" y="3331623"/>
            <a:ext cx="153988" cy="571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79"/>
          <p:cNvSpPr>
            <a:spLocks noChangeShapeType="1"/>
          </p:cNvSpPr>
          <p:nvPr/>
        </p:nvSpPr>
        <p:spPr bwMode="auto">
          <a:xfrm>
            <a:off x="5567776" y="3352261"/>
            <a:ext cx="85725" cy="238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Rectangle 80"/>
          <p:cNvSpPr>
            <a:spLocks noChangeArrowheads="1"/>
          </p:cNvSpPr>
          <p:nvPr/>
        </p:nvSpPr>
        <p:spPr bwMode="auto">
          <a:xfrm>
            <a:off x="7157707" y="3299873"/>
            <a:ext cx="449162" cy="3077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err="1" smtClean="0">
                <a:latin typeface="Times New Roman" pitchFamily="18" charset="0"/>
              </a:rPr>
              <a:t>V</a:t>
            </a:r>
            <a:r>
              <a:rPr lang="en-US" altLang="zh-CN" sz="1400" b="1" baseline="-25000" dirty="0" err="1" smtClean="0">
                <a:latin typeface="Times New Roman" pitchFamily="18" charset="0"/>
              </a:rPr>
              <a:t>bb</a:t>
            </a:r>
            <a:endParaRPr lang="en-US" altLang="zh-CN" sz="1400" b="1" baseline="-25000" dirty="0">
              <a:latin typeface="Times New Roman" pitchFamily="18" charset="0"/>
            </a:endParaRPr>
          </a:p>
        </p:txBody>
      </p:sp>
      <p:sp>
        <p:nvSpPr>
          <p:cNvPr id="106" name="Rectangle 81"/>
          <p:cNvSpPr>
            <a:spLocks noChangeArrowheads="1"/>
          </p:cNvSpPr>
          <p:nvPr/>
        </p:nvSpPr>
        <p:spPr bwMode="auto">
          <a:xfrm>
            <a:off x="5397914" y="2888711"/>
            <a:ext cx="452437" cy="3810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光</a:t>
            </a:r>
            <a:endParaRPr lang="zh-CN" altLang="en-US" sz="14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7" name="Rectangle 83"/>
          <p:cNvSpPr>
            <a:spLocks noChangeArrowheads="1"/>
          </p:cNvSpPr>
          <p:nvPr/>
        </p:nvSpPr>
        <p:spPr bwMode="auto">
          <a:xfrm>
            <a:off x="5101051" y="4565111"/>
            <a:ext cx="1031875" cy="3810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  <a:ea typeface="微软雅黑" pitchFamily="34" charset="-122"/>
              </a:rPr>
              <a:t>P</a:t>
            </a:r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型基板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8" name="Rectangle 85"/>
          <p:cNvSpPr>
            <a:spLocks noChangeArrowheads="1"/>
          </p:cNvSpPr>
          <p:nvPr/>
        </p:nvSpPr>
        <p:spPr bwMode="auto">
          <a:xfrm>
            <a:off x="5859876" y="4850861"/>
            <a:ext cx="1119188" cy="3810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</a:rPr>
              <a:t>像素单元</a:t>
            </a:r>
            <a:endParaRPr lang="zh-CN" altLang="en-US" sz="1400" b="1" baseline="-25000" dirty="0">
              <a:solidFill>
                <a:schemeClr val="hlink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9" name="Rectangle 86"/>
          <p:cNvSpPr>
            <a:spLocks noChangeArrowheads="1"/>
          </p:cNvSpPr>
          <p:nvPr/>
        </p:nvSpPr>
        <p:spPr bwMode="auto">
          <a:xfrm>
            <a:off x="8436389" y="5354098"/>
            <a:ext cx="722312" cy="30638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负载管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10" name="Rectangle 87"/>
          <p:cNvSpPr>
            <a:spLocks noChangeArrowheads="1"/>
          </p:cNvSpPr>
          <p:nvPr/>
        </p:nvSpPr>
        <p:spPr bwMode="auto">
          <a:xfrm>
            <a:off x="5283614" y="2193386"/>
            <a:ext cx="1211262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行复位线</a:t>
            </a:r>
            <a:endParaRPr lang="zh-CN" altLang="en-US" sz="20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11" name="Rectangle 88"/>
          <p:cNvSpPr>
            <a:spLocks noChangeArrowheads="1"/>
          </p:cNvSpPr>
          <p:nvPr/>
        </p:nvSpPr>
        <p:spPr bwMode="auto">
          <a:xfrm>
            <a:off x="9398414" y="3390361"/>
            <a:ext cx="441325" cy="13239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列</a:t>
            </a:r>
          </a:p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信</a:t>
            </a:r>
          </a:p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号</a:t>
            </a:r>
          </a:p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线</a:t>
            </a:r>
            <a:endParaRPr lang="zh-CN" altLang="en-US" sz="20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12" name="Line 89"/>
          <p:cNvSpPr>
            <a:spLocks noChangeShapeType="1"/>
          </p:cNvSpPr>
          <p:nvPr/>
        </p:nvSpPr>
        <p:spPr bwMode="auto">
          <a:xfrm flipH="1" flipV="1">
            <a:off x="7066376" y="3477673"/>
            <a:ext cx="0" cy="244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Oval 90"/>
          <p:cNvSpPr>
            <a:spLocks noChangeArrowheads="1"/>
          </p:cNvSpPr>
          <p:nvPr/>
        </p:nvSpPr>
        <p:spPr bwMode="auto">
          <a:xfrm>
            <a:off x="9369839" y="4930236"/>
            <a:ext cx="65087" cy="889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" name="Line 91"/>
          <p:cNvSpPr>
            <a:spLocks noChangeShapeType="1"/>
          </p:cNvSpPr>
          <p:nvPr/>
        </p:nvSpPr>
        <p:spPr bwMode="auto">
          <a:xfrm>
            <a:off x="9646064" y="4971511"/>
            <a:ext cx="0" cy="920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Line 92"/>
          <p:cNvSpPr>
            <a:spLocks noChangeShapeType="1"/>
          </p:cNvSpPr>
          <p:nvPr/>
        </p:nvSpPr>
        <p:spPr bwMode="auto">
          <a:xfrm flipV="1">
            <a:off x="9403176" y="4963573"/>
            <a:ext cx="254000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Line 93"/>
          <p:cNvSpPr>
            <a:spLocks noChangeShapeType="1"/>
          </p:cNvSpPr>
          <p:nvPr/>
        </p:nvSpPr>
        <p:spPr bwMode="auto">
          <a:xfrm>
            <a:off x="9403176" y="4585748"/>
            <a:ext cx="6350" cy="576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Line 94"/>
          <p:cNvSpPr>
            <a:spLocks noChangeShapeType="1"/>
          </p:cNvSpPr>
          <p:nvPr/>
        </p:nvSpPr>
        <p:spPr bwMode="auto">
          <a:xfrm>
            <a:off x="9298401" y="5162011"/>
            <a:ext cx="109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Line 95"/>
          <p:cNvSpPr>
            <a:spLocks noChangeShapeType="1"/>
          </p:cNvSpPr>
          <p:nvPr/>
        </p:nvSpPr>
        <p:spPr bwMode="auto">
          <a:xfrm>
            <a:off x="9295226" y="5387436"/>
            <a:ext cx="107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Line 96"/>
          <p:cNvSpPr>
            <a:spLocks noChangeShapeType="1"/>
          </p:cNvSpPr>
          <p:nvPr/>
        </p:nvSpPr>
        <p:spPr bwMode="auto">
          <a:xfrm flipH="1">
            <a:off x="9295226" y="5162011"/>
            <a:ext cx="0" cy="233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AutoShape 97"/>
          <p:cNvSpPr>
            <a:spLocks noChangeArrowheads="1"/>
          </p:cNvSpPr>
          <p:nvPr/>
        </p:nvSpPr>
        <p:spPr bwMode="auto">
          <a:xfrm>
            <a:off x="9355551" y="5689061"/>
            <a:ext cx="84138" cy="98425"/>
          </a:xfrm>
          <a:prstGeom prst="flowChartMerg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Line 98"/>
          <p:cNvSpPr>
            <a:spLocks noChangeShapeType="1"/>
          </p:cNvSpPr>
          <p:nvPr/>
        </p:nvSpPr>
        <p:spPr bwMode="auto">
          <a:xfrm>
            <a:off x="9247601" y="5182648"/>
            <a:ext cx="0" cy="190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Line 99"/>
          <p:cNvSpPr>
            <a:spLocks noChangeShapeType="1"/>
          </p:cNvSpPr>
          <p:nvPr/>
        </p:nvSpPr>
        <p:spPr bwMode="auto">
          <a:xfrm>
            <a:off x="9125364" y="5281073"/>
            <a:ext cx="122237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Freeform 100"/>
          <p:cNvSpPr>
            <a:spLocks/>
          </p:cNvSpPr>
          <p:nvPr/>
        </p:nvSpPr>
        <p:spPr bwMode="auto">
          <a:xfrm>
            <a:off x="9328564" y="4511136"/>
            <a:ext cx="141287" cy="36512"/>
          </a:xfrm>
          <a:custGeom>
            <a:avLst/>
            <a:gdLst>
              <a:gd name="T0" fmla="*/ 0 w 93"/>
              <a:gd name="T1" fmla="*/ 2147483647 h 20"/>
              <a:gd name="T2" fmla="*/ 2147483647 w 93"/>
              <a:gd name="T3" fmla="*/ 2147483647 h 20"/>
              <a:gd name="T4" fmla="*/ 2147483647 w 93"/>
              <a:gd name="T5" fmla="*/ 2147483647 h 20"/>
              <a:gd name="T6" fmla="*/ 2147483647 w 93"/>
              <a:gd name="T7" fmla="*/ 2147483647 h 20"/>
              <a:gd name="T8" fmla="*/ 2147483647 w 93"/>
              <a:gd name="T9" fmla="*/ 2147483647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20"/>
              <a:gd name="T17" fmla="*/ 93 w 93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20">
                <a:moveTo>
                  <a:pt x="0" y="1"/>
                </a:moveTo>
                <a:cubicBezTo>
                  <a:pt x="9" y="0"/>
                  <a:pt x="19" y="0"/>
                  <a:pt x="27" y="2"/>
                </a:cubicBezTo>
                <a:cubicBezTo>
                  <a:pt x="35" y="4"/>
                  <a:pt x="40" y="8"/>
                  <a:pt x="46" y="11"/>
                </a:cubicBezTo>
                <a:cubicBezTo>
                  <a:pt x="52" y="14"/>
                  <a:pt x="56" y="18"/>
                  <a:pt x="64" y="19"/>
                </a:cubicBezTo>
                <a:cubicBezTo>
                  <a:pt x="72" y="20"/>
                  <a:pt x="88" y="20"/>
                  <a:pt x="93" y="2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Freeform 101"/>
          <p:cNvSpPr>
            <a:spLocks/>
          </p:cNvSpPr>
          <p:nvPr/>
        </p:nvSpPr>
        <p:spPr bwMode="auto">
          <a:xfrm>
            <a:off x="9326976" y="4565111"/>
            <a:ext cx="139700" cy="33337"/>
          </a:xfrm>
          <a:custGeom>
            <a:avLst/>
            <a:gdLst>
              <a:gd name="T0" fmla="*/ 0 w 93"/>
              <a:gd name="T1" fmla="*/ 2147483647 h 20"/>
              <a:gd name="T2" fmla="*/ 2147483647 w 93"/>
              <a:gd name="T3" fmla="*/ 2147483647 h 20"/>
              <a:gd name="T4" fmla="*/ 2147483647 w 93"/>
              <a:gd name="T5" fmla="*/ 2147483647 h 20"/>
              <a:gd name="T6" fmla="*/ 2147483647 w 93"/>
              <a:gd name="T7" fmla="*/ 2147483647 h 20"/>
              <a:gd name="T8" fmla="*/ 2147483647 w 93"/>
              <a:gd name="T9" fmla="*/ 2147483647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20"/>
              <a:gd name="T17" fmla="*/ 93 w 93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20">
                <a:moveTo>
                  <a:pt x="0" y="1"/>
                </a:moveTo>
                <a:cubicBezTo>
                  <a:pt x="9" y="0"/>
                  <a:pt x="19" y="0"/>
                  <a:pt x="27" y="2"/>
                </a:cubicBezTo>
                <a:cubicBezTo>
                  <a:pt x="35" y="4"/>
                  <a:pt x="40" y="8"/>
                  <a:pt x="46" y="11"/>
                </a:cubicBezTo>
                <a:cubicBezTo>
                  <a:pt x="52" y="14"/>
                  <a:pt x="56" y="18"/>
                  <a:pt x="64" y="19"/>
                </a:cubicBezTo>
                <a:cubicBezTo>
                  <a:pt x="72" y="20"/>
                  <a:pt x="88" y="20"/>
                  <a:pt x="93" y="2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Line 102"/>
          <p:cNvSpPr>
            <a:spLocks noChangeShapeType="1"/>
          </p:cNvSpPr>
          <p:nvPr/>
        </p:nvSpPr>
        <p:spPr bwMode="auto">
          <a:xfrm>
            <a:off x="9401589" y="5387436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Rectangle 103"/>
          <p:cNvSpPr>
            <a:spLocks noChangeArrowheads="1"/>
          </p:cNvSpPr>
          <p:nvPr/>
        </p:nvSpPr>
        <p:spPr bwMode="auto">
          <a:xfrm>
            <a:off x="7271164" y="2204498"/>
            <a:ext cx="1209675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行选择线</a:t>
            </a:r>
            <a:endParaRPr lang="zh-CN" altLang="en-US" sz="20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7" name="Rectangle 104"/>
          <p:cNvSpPr>
            <a:spLocks noChangeArrowheads="1"/>
          </p:cNvSpPr>
          <p:nvPr/>
        </p:nvSpPr>
        <p:spPr bwMode="auto">
          <a:xfrm>
            <a:off x="6875876" y="3682461"/>
            <a:ext cx="471488" cy="3810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</a:rPr>
              <a:t>N</a:t>
            </a:r>
            <a:r>
              <a:rPr lang="en-US" altLang="zh-CN" sz="1400" b="1" baseline="30000">
                <a:latin typeface="Times New Roman" pitchFamily="18" charset="0"/>
              </a:rPr>
              <a:t>+</a:t>
            </a:r>
          </a:p>
        </p:txBody>
      </p:sp>
      <p:sp>
        <p:nvSpPr>
          <p:cNvPr id="128" name="Line 105"/>
          <p:cNvSpPr>
            <a:spLocks noChangeShapeType="1"/>
          </p:cNvSpPr>
          <p:nvPr/>
        </p:nvSpPr>
        <p:spPr bwMode="auto">
          <a:xfrm flipV="1">
            <a:off x="8326851" y="2394998"/>
            <a:ext cx="7191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Oval 106"/>
          <p:cNvSpPr>
            <a:spLocks noChangeArrowheads="1"/>
          </p:cNvSpPr>
          <p:nvPr/>
        </p:nvSpPr>
        <p:spPr bwMode="auto">
          <a:xfrm>
            <a:off x="8645939" y="2344198"/>
            <a:ext cx="87312" cy="1016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Oval 107"/>
          <p:cNvSpPr>
            <a:spLocks noChangeArrowheads="1"/>
          </p:cNvSpPr>
          <p:nvPr/>
        </p:nvSpPr>
        <p:spPr bwMode="auto">
          <a:xfrm>
            <a:off x="9377776" y="3487198"/>
            <a:ext cx="87313" cy="1016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Line 108"/>
          <p:cNvSpPr>
            <a:spLocks noChangeShapeType="1"/>
          </p:cNvSpPr>
          <p:nvPr/>
        </p:nvSpPr>
        <p:spPr bwMode="auto">
          <a:xfrm flipH="1">
            <a:off x="9403176" y="3122073"/>
            <a:ext cx="0" cy="1412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Rectangle 109"/>
          <p:cNvSpPr>
            <a:spLocks noChangeArrowheads="1"/>
          </p:cNvSpPr>
          <p:nvPr/>
        </p:nvSpPr>
        <p:spPr bwMode="auto">
          <a:xfrm>
            <a:off x="8126083" y="2626773"/>
            <a:ext cx="449162" cy="3077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err="1" smtClean="0">
                <a:latin typeface="Times New Roman" pitchFamily="18" charset="0"/>
              </a:rPr>
              <a:t>V</a:t>
            </a:r>
            <a:r>
              <a:rPr lang="en-US" altLang="zh-CN" sz="1400" b="1" baseline="-25000" dirty="0" err="1" smtClean="0">
                <a:latin typeface="Times New Roman" pitchFamily="18" charset="0"/>
              </a:rPr>
              <a:t>bb</a:t>
            </a:r>
            <a:endParaRPr lang="en-US" altLang="zh-CN" sz="1400" b="1" baseline="-25000" dirty="0">
              <a:latin typeface="Times New Roman" pitchFamily="18" charset="0"/>
            </a:endParaRPr>
          </a:p>
        </p:txBody>
      </p:sp>
      <p:sp>
        <p:nvSpPr>
          <p:cNvPr id="133" name="Oval 110"/>
          <p:cNvSpPr>
            <a:spLocks noChangeArrowheads="1"/>
          </p:cNvSpPr>
          <p:nvPr/>
        </p:nvSpPr>
        <p:spPr bwMode="auto">
          <a:xfrm>
            <a:off x="8310976" y="2985548"/>
            <a:ext cx="63500" cy="7778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Line 111"/>
          <p:cNvSpPr>
            <a:spLocks noChangeShapeType="1"/>
          </p:cNvSpPr>
          <p:nvPr/>
        </p:nvSpPr>
        <p:spPr bwMode="auto">
          <a:xfrm>
            <a:off x="8225251" y="3023648"/>
            <a:ext cx="238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112"/>
          <p:cNvSpPr>
            <a:spLocks noChangeShapeType="1"/>
          </p:cNvSpPr>
          <p:nvPr/>
        </p:nvSpPr>
        <p:spPr bwMode="auto">
          <a:xfrm>
            <a:off x="5950364" y="3272886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Line 113"/>
          <p:cNvSpPr>
            <a:spLocks noChangeShapeType="1"/>
          </p:cNvSpPr>
          <p:nvPr/>
        </p:nvSpPr>
        <p:spPr bwMode="auto">
          <a:xfrm>
            <a:off x="5947189" y="3272886"/>
            <a:ext cx="2193925" cy="4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Line 114"/>
          <p:cNvSpPr>
            <a:spLocks noChangeShapeType="1"/>
          </p:cNvSpPr>
          <p:nvPr/>
        </p:nvSpPr>
        <p:spPr bwMode="auto">
          <a:xfrm>
            <a:off x="8145876" y="3206211"/>
            <a:ext cx="0" cy="153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Line 115"/>
          <p:cNvSpPr>
            <a:spLocks noChangeShapeType="1"/>
          </p:cNvSpPr>
          <p:nvPr/>
        </p:nvSpPr>
        <p:spPr bwMode="auto">
          <a:xfrm>
            <a:off x="8339551" y="3058573"/>
            <a:ext cx="0" cy="150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Line 116"/>
          <p:cNvSpPr>
            <a:spLocks noChangeShapeType="1"/>
          </p:cNvSpPr>
          <p:nvPr/>
        </p:nvSpPr>
        <p:spPr bwMode="auto">
          <a:xfrm flipV="1">
            <a:off x="8225251" y="3198273"/>
            <a:ext cx="119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Line 117"/>
          <p:cNvSpPr>
            <a:spLocks noChangeShapeType="1"/>
          </p:cNvSpPr>
          <p:nvPr/>
        </p:nvSpPr>
        <p:spPr bwMode="auto">
          <a:xfrm>
            <a:off x="8225251" y="3201448"/>
            <a:ext cx="0" cy="150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Line 118"/>
          <p:cNvSpPr>
            <a:spLocks noChangeShapeType="1"/>
          </p:cNvSpPr>
          <p:nvPr/>
        </p:nvSpPr>
        <p:spPr bwMode="auto">
          <a:xfrm flipV="1">
            <a:off x="8220489" y="3349086"/>
            <a:ext cx="1190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Line 119"/>
          <p:cNvSpPr>
            <a:spLocks noChangeShapeType="1"/>
          </p:cNvSpPr>
          <p:nvPr/>
        </p:nvSpPr>
        <p:spPr bwMode="auto">
          <a:xfrm>
            <a:off x="8344314" y="3349086"/>
            <a:ext cx="0" cy="1984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Line 120"/>
          <p:cNvSpPr>
            <a:spLocks noChangeShapeType="1"/>
          </p:cNvSpPr>
          <p:nvPr/>
        </p:nvSpPr>
        <p:spPr bwMode="auto">
          <a:xfrm>
            <a:off x="8339551" y="3539586"/>
            <a:ext cx="2825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Line 121"/>
          <p:cNvSpPr>
            <a:spLocks noChangeShapeType="1"/>
          </p:cNvSpPr>
          <p:nvPr/>
        </p:nvSpPr>
        <p:spPr bwMode="auto">
          <a:xfrm flipV="1">
            <a:off x="8622126" y="3420523"/>
            <a:ext cx="0" cy="119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Line 122"/>
          <p:cNvSpPr>
            <a:spLocks noChangeShapeType="1"/>
          </p:cNvSpPr>
          <p:nvPr/>
        </p:nvSpPr>
        <p:spPr bwMode="auto">
          <a:xfrm>
            <a:off x="8622126" y="3420523"/>
            <a:ext cx="161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Line 123"/>
          <p:cNvSpPr>
            <a:spLocks noChangeShapeType="1"/>
          </p:cNvSpPr>
          <p:nvPr/>
        </p:nvSpPr>
        <p:spPr bwMode="auto">
          <a:xfrm>
            <a:off x="8784051" y="3420523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Line 124"/>
          <p:cNvSpPr>
            <a:spLocks noChangeShapeType="1"/>
          </p:cNvSpPr>
          <p:nvPr/>
        </p:nvSpPr>
        <p:spPr bwMode="auto">
          <a:xfrm flipV="1">
            <a:off x="8780876" y="3539586"/>
            <a:ext cx="627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Line 125"/>
          <p:cNvSpPr>
            <a:spLocks noChangeShapeType="1"/>
          </p:cNvSpPr>
          <p:nvPr/>
        </p:nvSpPr>
        <p:spPr bwMode="auto">
          <a:xfrm>
            <a:off x="8614189" y="3376073"/>
            <a:ext cx="158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Line 126"/>
          <p:cNvSpPr>
            <a:spLocks noChangeShapeType="1"/>
          </p:cNvSpPr>
          <p:nvPr/>
        </p:nvSpPr>
        <p:spPr bwMode="auto">
          <a:xfrm>
            <a:off x="8688801" y="2407698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0" name="组合 76"/>
          <p:cNvGrpSpPr>
            <a:grpSpLocks/>
          </p:cNvGrpSpPr>
          <p:nvPr/>
        </p:nvGrpSpPr>
        <p:grpSpPr bwMode="auto">
          <a:xfrm>
            <a:off x="3013489" y="3801523"/>
            <a:ext cx="1338262" cy="1030288"/>
            <a:chOff x="713509" y="3209924"/>
            <a:chExt cx="1338828" cy="1029665"/>
          </a:xfrm>
        </p:grpSpPr>
        <p:sp>
          <p:nvSpPr>
            <p:cNvPr id="151" name="Rectangle 53"/>
            <p:cNvSpPr>
              <a:spLocks noChangeArrowheads="1"/>
            </p:cNvSpPr>
            <p:nvPr/>
          </p:nvSpPr>
          <p:spPr bwMode="auto">
            <a:xfrm>
              <a:off x="713509" y="3870257"/>
              <a:ext cx="1338828" cy="369332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光敏二极管</a:t>
              </a:r>
              <a:endParaRPr lang="zh-CN" altLang="en-US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endParaRPr>
            </a:p>
          </p:txBody>
        </p:sp>
        <p:grpSp>
          <p:nvGrpSpPr>
            <p:cNvPr id="152" name="组合 73"/>
            <p:cNvGrpSpPr>
              <a:grpSpLocks/>
            </p:cNvGrpSpPr>
            <p:nvPr/>
          </p:nvGrpSpPr>
          <p:grpSpPr bwMode="auto">
            <a:xfrm>
              <a:off x="1056553" y="3209925"/>
              <a:ext cx="584447" cy="609221"/>
              <a:chOff x="694603" y="3409950"/>
              <a:chExt cx="584447" cy="609221"/>
            </a:xfrm>
          </p:grpSpPr>
          <p:grpSp>
            <p:nvGrpSpPr>
              <p:cNvPr id="153" name="组合 67"/>
              <p:cNvGrpSpPr>
                <a:grpSpLocks noChangeAspect="1"/>
              </p:cNvGrpSpPr>
              <p:nvPr/>
            </p:nvGrpSpPr>
            <p:grpSpPr bwMode="auto">
              <a:xfrm>
                <a:off x="929652" y="3428979"/>
                <a:ext cx="349398" cy="590192"/>
                <a:chOff x="453243" y="3562325"/>
                <a:chExt cx="513820" cy="867932"/>
              </a:xfrm>
            </p:grpSpPr>
            <p:sp>
              <p:nvSpPr>
                <p:cNvPr id="156" name="等腰三角形 155"/>
                <p:cNvSpPr/>
                <p:nvPr/>
              </p:nvSpPr>
              <p:spPr>
                <a:xfrm>
                  <a:off x="511632" y="3823650"/>
                  <a:ext cx="390037" cy="403636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cxnSp>
              <p:nvCxnSpPr>
                <p:cNvPr id="157" name="直接连接符 156"/>
                <p:cNvCxnSpPr/>
                <p:nvPr/>
              </p:nvCxnSpPr>
              <p:spPr>
                <a:xfrm>
                  <a:off x="453244" y="3797986"/>
                  <a:ext cx="513820" cy="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/>
                <p:nvPr/>
              </p:nvCxnSpPr>
              <p:spPr>
                <a:xfrm rot="5400000">
                  <a:off x="271517" y="3986961"/>
                  <a:ext cx="867933" cy="18684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4" name="直接箭头连接符 153"/>
              <p:cNvCxnSpPr/>
              <p:nvPr/>
            </p:nvCxnSpPr>
            <p:spPr>
              <a:xfrm rot="16200000" flipH="1">
                <a:off x="689942" y="3414611"/>
                <a:ext cx="199904" cy="19058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/>
              <p:cNvCxnSpPr/>
              <p:nvPr/>
            </p:nvCxnSpPr>
            <p:spPr>
              <a:xfrm>
                <a:off x="742249" y="3657449"/>
                <a:ext cx="190581" cy="182452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9" name="圆角矩形标注 158"/>
          <p:cNvSpPr/>
          <p:nvPr/>
        </p:nvSpPr>
        <p:spPr>
          <a:xfrm>
            <a:off x="5461414" y="3658648"/>
            <a:ext cx="733425" cy="704850"/>
          </a:xfrm>
          <a:prstGeom prst="wedgeRoundRectCallout">
            <a:avLst>
              <a:gd name="adj1" fmla="val -229924"/>
              <a:gd name="adj2" fmla="val 43227"/>
              <a:gd name="adj3" fmla="val 16667"/>
            </a:avLst>
          </a:prstGeom>
          <a:noFill/>
          <a:ln w="3810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0" name="圆角矩形标注 159"/>
          <p:cNvSpPr/>
          <p:nvPr/>
        </p:nvSpPr>
        <p:spPr>
          <a:xfrm>
            <a:off x="6366289" y="3552286"/>
            <a:ext cx="903287" cy="631825"/>
          </a:xfrm>
          <a:prstGeom prst="wedgeRoundRectCallout">
            <a:avLst>
              <a:gd name="adj1" fmla="val -26858"/>
              <a:gd name="adj2" fmla="val 242649"/>
              <a:gd name="adj3" fmla="val 16667"/>
            </a:avLst>
          </a:prstGeom>
          <a:noFill/>
          <a:ln w="38100">
            <a:solidFill>
              <a:srgbClr val="008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1" name="Text Box 8"/>
          <p:cNvSpPr txBox="1">
            <a:spLocks noChangeArrowheads="1"/>
          </p:cNvSpPr>
          <p:nvPr/>
        </p:nvSpPr>
        <p:spPr bwMode="auto">
          <a:xfrm>
            <a:off x="5920201" y="5416011"/>
            <a:ext cx="13604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复位管</a:t>
            </a:r>
            <a:r>
              <a:rPr kumimoji="1" lang="en-US" altLang="zh-CN" sz="2000" b="1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</a:p>
        </p:txBody>
      </p:sp>
      <p:sp>
        <p:nvSpPr>
          <p:cNvPr id="162" name="椭圆形标注 161"/>
          <p:cNvSpPr/>
          <p:nvPr/>
        </p:nvSpPr>
        <p:spPr>
          <a:xfrm>
            <a:off x="7988714" y="3095086"/>
            <a:ext cx="457200" cy="457200"/>
          </a:xfrm>
          <a:prstGeom prst="wedgeEllipseCallout">
            <a:avLst>
              <a:gd name="adj1" fmla="val -1671"/>
              <a:gd name="adj2" fmla="val -259367"/>
            </a:avLst>
          </a:prstGeom>
          <a:noFill/>
          <a:ln w="38100">
            <a:solidFill>
              <a:srgbClr val="FF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3" name="Text Box 7"/>
          <p:cNvSpPr txBox="1">
            <a:spLocks noChangeArrowheads="1"/>
          </p:cNvSpPr>
          <p:nvPr/>
        </p:nvSpPr>
        <p:spPr bwMode="auto">
          <a:xfrm>
            <a:off x="6856826" y="1669511"/>
            <a:ext cx="22637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000" b="1" dirty="0" smtClean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源极</a:t>
            </a:r>
            <a:r>
              <a:rPr kumimoji="1" lang="zh-CN" altLang="en-US" sz="2000" b="1" dirty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跟随放大管</a:t>
            </a:r>
            <a:r>
              <a:rPr kumimoji="1" lang="en-US" altLang="zh-CN" sz="2000" b="1" dirty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</a:p>
        </p:txBody>
      </p:sp>
      <p:sp>
        <p:nvSpPr>
          <p:cNvPr id="164" name="Text Box 9"/>
          <p:cNvSpPr txBox="1">
            <a:spLocks noChangeArrowheads="1"/>
          </p:cNvSpPr>
          <p:nvPr/>
        </p:nvSpPr>
        <p:spPr bwMode="auto">
          <a:xfrm>
            <a:off x="8903114" y="2233073"/>
            <a:ext cx="15446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行选通管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</a:p>
        </p:txBody>
      </p:sp>
      <p:sp>
        <p:nvSpPr>
          <p:cNvPr id="165" name="椭圆形标注 164"/>
          <p:cNvSpPr/>
          <p:nvPr/>
        </p:nvSpPr>
        <p:spPr>
          <a:xfrm>
            <a:off x="8457026" y="3269711"/>
            <a:ext cx="457200" cy="457200"/>
          </a:xfrm>
          <a:prstGeom prst="wedgeEllipseCallout">
            <a:avLst>
              <a:gd name="adj1" fmla="val 172139"/>
              <a:gd name="adj2" fmla="val -190320"/>
            </a:avLst>
          </a:prstGeom>
          <a:noFill/>
          <a:ln w="38100">
            <a:solidFill>
              <a:srgbClr val="0000C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6" name="Text Box 4"/>
          <p:cNvSpPr txBox="1">
            <a:spLocks noChangeArrowheads="1"/>
          </p:cNvSpPr>
          <p:nvPr/>
        </p:nvSpPr>
        <p:spPr bwMode="auto">
          <a:xfrm>
            <a:off x="3546889" y="2087023"/>
            <a:ext cx="657225" cy="1590675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4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</a:p>
          <a:p>
            <a:pPr algn="ctr"/>
            <a:r>
              <a:rPr lang="en-US" altLang="zh-CN" sz="24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 </a:t>
            </a:r>
            <a:r>
              <a:rPr lang="zh-CN" altLang="en-US" sz="24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</a:t>
            </a:r>
          </a:p>
        </p:txBody>
      </p:sp>
      <p:sp>
        <p:nvSpPr>
          <p:cNvPr id="167" name="Text Box 4"/>
          <p:cNvSpPr txBox="1">
            <a:spLocks noChangeArrowheads="1"/>
          </p:cNvSpPr>
          <p:nvPr/>
        </p:nvSpPr>
        <p:spPr bwMode="auto">
          <a:xfrm>
            <a:off x="4245388" y="873310"/>
            <a:ext cx="5153818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(1)PN</a:t>
            </a: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结光电二极管结构</a:t>
            </a:r>
          </a:p>
        </p:txBody>
      </p:sp>
      <p:sp>
        <p:nvSpPr>
          <p:cNvPr id="168" name="Text Box 6"/>
          <p:cNvSpPr txBox="1">
            <a:spLocks noChangeArrowheads="1"/>
          </p:cNvSpPr>
          <p:nvPr/>
        </p:nvSpPr>
        <p:spPr bwMode="auto">
          <a:xfrm>
            <a:off x="577303" y="2701504"/>
            <a:ext cx="2436186" cy="33239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场效应管</a:t>
            </a:r>
            <a:r>
              <a:rPr kumimoji="1"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构成光电二极管的负载，它的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栅极接在复位信号线上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，当复位脉冲到来时，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导通，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光电二极管被瞬时</a:t>
            </a:r>
            <a:r>
              <a:rPr kumimoji="1" lang="zh-CN" altLang="en-US" sz="20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复位。</a:t>
            </a:r>
            <a:endParaRPr kumimoji="1" lang="zh-CN" altLang="en-US" sz="20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9" name="Text Box 11"/>
          <p:cNvSpPr txBox="1">
            <a:spLocks noChangeArrowheads="1"/>
          </p:cNvSpPr>
          <p:nvPr/>
        </p:nvSpPr>
        <p:spPr bwMode="auto">
          <a:xfrm>
            <a:off x="3631026" y="6212787"/>
            <a:ext cx="7320392" cy="1015663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而当复位脉冲消失后，</a:t>
            </a:r>
            <a:r>
              <a:rPr kumimoji="1"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截止，光电二极管开始积分光信号。</a:t>
            </a:r>
            <a:r>
              <a:rPr kumimoji="1"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为源极跟随器，它将光电二极管的高阻抗输出信号进行电流放大。</a:t>
            </a:r>
          </a:p>
        </p:txBody>
      </p:sp>
      <p:sp>
        <p:nvSpPr>
          <p:cNvPr id="170" name="Text Box 12"/>
          <p:cNvSpPr txBox="1">
            <a:spLocks noChangeArrowheads="1"/>
          </p:cNvSpPr>
          <p:nvPr/>
        </p:nvSpPr>
        <p:spPr bwMode="auto">
          <a:xfrm>
            <a:off x="11108988" y="2604548"/>
            <a:ext cx="2130357" cy="2862322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用做选址模拟开关，当选通脉冲到来时， </a:t>
            </a:r>
            <a:r>
              <a:rPr kumimoji="1"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kumimoji="1"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导通，使被放大的光电信号输送到列总线上。</a:t>
            </a:r>
          </a:p>
        </p:txBody>
      </p:sp>
      <p:sp>
        <p:nvSpPr>
          <p:cNvPr id="2" name="右箭头 1"/>
          <p:cNvSpPr/>
          <p:nvPr/>
        </p:nvSpPr>
        <p:spPr>
          <a:xfrm>
            <a:off x="3208541" y="5450936"/>
            <a:ext cx="2710073" cy="365125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上箭头 2"/>
          <p:cNvSpPr/>
          <p:nvPr/>
        </p:nvSpPr>
        <p:spPr>
          <a:xfrm>
            <a:off x="8017289" y="3683898"/>
            <a:ext cx="406400" cy="2444528"/>
          </a:xfrm>
          <a:prstGeom prst="upArrow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左箭头 3"/>
          <p:cNvSpPr/>
          <p:nvPr/>
        </p:nvSpPr>
        <p:spPr>
          <a:xfrm>
            <a:off x="9045989" y="3209386"/>
            <a:ext cx="1905429" cy="508000"/>
          </a:xfrm>
          <a:prstGeom prst="leftArrow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矩形 181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60" grpId="0" animBg="1"/>
      <p:bldP spid="161" grpId="0"/>
      <p:bldP spid="162" grpId="0" animBg="1"/>
      <p:bldP spid="163" grpId="0"/>
      <p:bldP spid="164" grpId="0"/>
      <p:bldP spid="165" grpId="0" animBg="1"/>
      <p:bldP spid="166" grpId="0" animBg="1"/>
      <p:bldP spid="168" grpId="0" animBg="1"/>
      <p:bldP spid="169" grpId="0" animBg="1"/>
      <p:bldP spid="170" grpId="0" animBg="1"/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475038" y="2575719"/>
            <a:ext cx="102235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76626" y="3539331"/>
            <a:ext cx="102235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495676" y="4487069"/>
            <a:ext cx="173990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02026" y="5403056"/>
            <a:ext cx="102235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4810126" y="2583656"/>
            <a:ext cx="39370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4811713" y="3544094"/>
            <a:ext cx="39370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4837113" y="5404644"/>
            <a:ext cx="393700" cy="1651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471863" y="3372644"/>
            <a:ext cx="1022350" cy="165100"/>
          </a:xfrm>
          <a:prstGeom prst="rect">
            <a:avLst/>
          </a:prstGeom>
          <a:solidFill>
            <a:srgbClr val="FF00FF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049588" y="2121694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087688" y="2121694"/>
            <a:ext cx="3175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167063" y="2137569"/>
            <a:ext cx="311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3481388" y="2137569"/>
            <a:ext cx="0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3481388" y="2572544"/>
            <a:ext cx="1025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4497388" y="2270919"/>
            <a:ext cx="0" cy="479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4810126" y="2282031"/>
            <a:ext cx="0" cy="479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4494213" y="2277269"/>
            <a:ext cx="323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4811713" y="2572544"/>
            <a:ext cx="400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5205413" y="2112169"/>
            <a:ext cx="3175" cy="644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5208588" y="2115344"/>
            <a:ext cx="307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 rot="16200000">
            <a:off x="2952751" y="2499519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3054351" y="3078956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3092451" y="3078956"/>
            <a:ext cx="3175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>
            <a:off x="3171826" y="3094831"/>
            <a:ext cx="311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3486151" y="3094831"/>
            <a:ext cx="0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3486151" y="3529806"/>
            <a:ext cx="1025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4502151" y="3228181"/>
            <a:ext cx="0" cy="479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>
            <a:off x="4814888" y="3239294"/>
            <a:ext cx="0" cy="479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4498976" y="3234531"/>
            <a:ext cx="323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>
            <a:off x="4816476" y="3529806"/>
            <a:ext cx="400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5210176" y="3069431"/>
            <a:ext cx="3175" cy="644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5213351" y="3072606"/>
            <a:ext cx="307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38"/>
          <p:cNvSpPr>
            <a:spLocks noChangeArrowheads="1"/>
          </p:cNvSpPr>
          <p:nvPr/>
        </p:nvSpPr>
        <p:spPr bwMode="auto">
          <a:xfrm rot="16200000">
            <a:off x="2949576" y="3202781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3070226" y="4015581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3108326" y="4015581"/>
            <a:ext cx="3175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3187701" y="4031456"/>
            <a:ext cx="311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3502026" y="4031456"/>
            <a:ext cx="0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3502026" y="4466431"/>
            <a:ext cx="1711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>
            <a:off x="5226051" y="4006056"/>
            <a:ext cx="3175" cy="644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5229226" y="4009231"/>
            <a:ext cx="307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6"/>
          <p:cNvSpPr>
            <a:spLocks noChangeArrowheads="1"/>
          </p:cNvSpPr>
          <p:nvPr/>
        </p:nvSpPr>
        <p:spPr bwMode="auto">
          <a:xfrm rot="16200000">
            <a:off x="2973388" y="4177506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49" name="Rectangle 47"/>
          <p:cNvSpPr>
            <a:spLocks noChangeArrowheads="1"/>
          </p:cNvSpPr>
          <p:nvPr/>
        </p:nvSpPr>
        <p:spPr bwMode="auto">
          <a:xfrm>
            <a:off x="4529138" y="4531519"/>
            <a:ext cx="273050" cy="133350"/>
          </a:xfrm>
          <a:prstGeom prst="rect">
            <a:avLst/>
          </a:prstGeom>
          <a:solidFill>
            <a:schemeClr val="bg2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 flipV="1">
            <a:off x="4527551" y="4529931"/>
            <a:ext cx="2714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4540251" y="4526756"/>
            <a:ext cx="0" cy="131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4789488" y="4526756"/>
            <a:ext cx="0" cy="131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Line 51"/>
          <p:cNvSpPr>
            <a:spLocks noChangeShapeType="1"/>
          </p:cNvSpPr>
          <p:nvPr/>
        </p:nvSpPr>
        <p:spPr bwMode="auto">
          <a:xfrm>
            <a:off x="3076576" y="4929981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3114676" y="4929981"/>
            <a:ext cx="3175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3"/>
          <p:cNvSpPr>
            <a:spLocks noChangeShapeType="1"/>
          </p:cNvSpPr>
          <p:nvPr/>
        </p:nvSpPr>
        <p:spPr bwMode="auto">
          <a:xfrm>
            <a:off x="3194051" y="4945856"/>
            <a:ext cx="311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Line 54"/>
          <p:cNvSpPr>
            <a:spLocks noChangeShapeType="1"/>
          </p:cNvSpPr>
          <p:nvPr/>
        </p:nvSpPr>
        <p:spPr bwMode="auto">
          <a:xfrm>
            <a:off x="3508376" y="4945856"/>
            <a:ext cx="0" cy="622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5"/>
          <p:cNvSpPr>
            <a:spLocks noChangeShapeType="1"/>
          </p:cNvSpPr>
          <p:nvPr/>
        </p:nvSpPr>
        <p:spPr bwMode="auto">
          <a:xfrm>
            <a:off x="3508376" y="5380831"/>
            <a:ext cx="1025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4524376" y="5079206"/>
            <a:ext cx="0" cy="479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Line 57"/>
          <p:cNvSpPr>
            <a:spLocks noChangeShapeType="1"/>
          </p:cNvSpPr>
          <p:nvPr/>
        </p:nvSpPr>
        <p:spPr bwMode="auto">
          <a:xfrm>
            <a:off x="4837113" y="5090319"/>
            <a:ext cx="0" cy="479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4521201" y="5085556"/>
            <a:ext cx="323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>
            <a:off x="4838701" y="5380831"/>
            <a:ext cx="400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Line 60"/>
          <p:cNvSpPr>
            <a:spLocks noChangeShapeType="1"/>
          </p:cNvSpPr>
          <p:nvPr/>
        </p:nvSpPr>
        <p:spPr bwMode="auto">
          <a:xfrm>
            <a:off x="5232401" y="4920456"/>
            <a:ext cx="3175" cy="644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Line 61"/>
          <p:cNvSpPr>
            <a:spLocks noChangeShapeType="1"/>
          </p:cNvSpPr>
          <p:nvPr/>
        </p:nvSpPr>
        <p:spPr bwMode="auto">
          <a:xfrm>
            <a:off x="5235576" y="4923631"/>
            <a:ext cx="307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 rot="16200000">
            <a:off x="2947988" y="5123656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5" name="Rectangle 63"/>
          <p:cNvSpPr>
            <a:spLocks noChangeArrowheads="1"/>
          </p:cNvSpPr>
          <p:nvPr/>
        </p:nvSpPr>
        <p:spPr bwMode="auto">
          <a:xfrm>
            <a:off x="5462588" y="2215356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</a:rPr>
              <a:t>开始储存</a:t>
            </a:r>
            <a:endParaRPr lang="zh-CN" altLang="en-US" sz="1400" b="1" baseline="-25000" dirty="0">
              <a:solidFill>
                <a:srgbClr val="C0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6" name="Rectangle 64"/>
          <p:cNvSpPr>
            <a:spLocks noChangeArrowheads="1"/>
          </p:cNvSpPr>
          <p:nvPr/>
        </p:nvSpPr>
        <p:spPr bwMode="auto">
          <a:xfrm>
            <a:off x="4429126" y="2737644"/>
            <a:ext cx="16065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储存（曝光）期间</a:t>
            </a:r>
            <a:endParaRPr lang="zh-CN" altLang="en-US" sz="14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7" name="Rectangle 65"/>
          <p:cNvSpPr>
            <a:spLocks noChangeArrowheads="1"/>
          </p:cNvSpPr>
          <p:nvPr/>
        </p:nvSpPr>
        <p:spPr bwMode="auto">
          <a:xfrm>
            <a:off x="5228373" y="3067844"/>
            <a:ext cx="1620957" cy="52322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</a:rPr>
              <a:t>储存结束</a:t>
            </a:r>
          </a:p>
          <a:p>
            <a:pPr algn="ctr"/>
            <a:r>
              <a:rPr lang="zh-CN" altLang="en-US" sz="1400" b="1" dirty="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</a:rPr>
              <a:t>（像素信号输出）</a:t>
            </a:r>
            <a:endParaRPr lang="zh-CN" altLang="en-US" sz="1400" b="1" baseline="-25000" dirty="0">
              <a:solidFill>
                <a:srgbClr val="FF00FF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8" name="Rectangle 66"/>
          <p:cNvSpPr>
            <a:spLocks noChangeArrowheads="1"/>
          </p:cNvSpPr>
          <p:nvPr/>
        </p:nvSpPr>
        <p:spPr bwMode="auto">
          <a:xfrm>
            <a:off x="5504027" y="4077494"/>
            <a:ext cx="1082348" cy="52322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光敏二极管</a:t>
            </a:r>
          </a:p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的复位</a:t>
            </a:r>
            <a:endParaRPr lang="zh-CN" altLang="en-US" sz="14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9" name="Rectangle 67"/>
          <p:cNvSpPr>
            <a:spLocks noChangeArrowheads="1"/>
          </p:cNvSpPr>
          <p:nvPr/>
        </p:nvSpPr>
        <p:spPr bwMode="auto">
          <a:xfrm>
            <a:off x="5457826" y="5042694"/>
            <a:ext cx="12509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复位信号输出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70" name="Rectangle 68"/>
          <p:cNvSpPr>
            <a:spLocks noChangeArrowheads="1"/>
          </p:cNvSpPr>
          <p:nvPr/>
        </p:nvSpPr>
        <p:spPr bwMode="auto">
          <a:xfrm>
            <a:off x="3537357" y="3004750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信号电荷</a:t>
            </a:r>
            <a:endParaRPr lang="zh-CN" altLang="en-US" sz="1400" b="1" baseline="-25000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auto">
          <a:xfrm flipH="1">
            <a:off x="3910013" y="3255169"/>
            <a:ext cx="57150" cy="1206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Line 70"/>
          <p:cNvSpPr>
            <a:spLocks noChangeShapeType="1"/>
          </p:cNvSpPr>
          <p:nvPr/>
        </p:nvSpPr>
        <p:spPr bwMode="auto">
          <a:xfrm flipV="1">
            <a:off x="3481388" y="3366294"/>
            <a:ext cx="1025525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71"/>
          <p:cNvSpPr>
            <a:spLocks/>
          </p:cNvSpPr>
          <p:nvPr/>
        </p:nvSpPr>
        <p:spPr bwMode="auto">
          <a:xfrm>
            <a:off x="4327526" y="2832894"/>
            <a:ext cx="160337" cy="192087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72"/>
          <p:cNvSpPr>
            <a:spLocks/>
          </p:cNvSpPr>
          <p:nvPr/>
        </p:nvSpPr>
        <p:spPr bwMode="auto">
          <a:xfrm>
            <a:off x="4332288" y="3788569"/>
            <a:ext cx="160338" cy="192087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73"/>
          <p:cNvSpPr>
            <a:spLocks/>
          </p:cNvSpPr>
          <p:nvPr/>
        </p:nvSpPr>
        <p:spPr bwMode="auto">
          <a:xfrm>
            <a:off x="4346576" y="4726781"/>
            <a:ext cx="160337" cy="192088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74"/>
          <p:cNvSpPr>
            <a:spLocks/>
          </p:cNvSpPr>
          <p:nvPr/>
        </p:nvSpPr>
        <p:spPr bwMode="auto">
          <a:xfrm>
            <a:off x="2820988" y="2385219"/>
            <a:ext cx="260350" cy="2908300"/>
          </a:xfrm>
          <a:custGeom>
            <a:avLst/>
            <a:gdLst>
              <a:gd name="T0" fmla="*/ 2147483647 w 164"/>
              <a:gd name="T1" fmla="*/ 2147483647 h 1832"/>
              <a:gd name="T2" fmla="*/ 2147483647 w 164"/>
              <a:gd name="T3" fmla="*/ 2147483647 h 1832"/>
              <a:gd name="T4" fmla="*/ 2147483647 w 164"/>
              <a:gd name="T5" fmla="*/ 2147483647 h 1832"/>
              <a:gd name="T6" fmla="*/ 2147483647 w 164"/>
              <a:gd name="T7" fmla="*/ 2147483647 h 1832"/>
              <a:gd name="T8" fmla="*/ 0 w 164"/>
              <a:gd name="T9" fmla="*/ 2147483647 h 1832"/>
              <a:gd name="T10" fmla="*/ 2147483647 w 164"/>
              <a:gd name="T11" fmla="*/ 2147483647 h 1832"/>
              <a:gd name="T12" fmla="*/ 2147483647 w 164"/>
              <a:gd name="T13" fmla="*/ 0 h 1832"/>
              <a:gd name="T14" fmla="*/ 2147483647 w 164"/>
              <a:gd name="T15" fmla="*/ 2147483647 h 1832"/>
              <a:gd name="T16" fmla="*/ 2147483647 w 164"/>
              <a:gd name="T17" fmla="*/ 2147483647 h 1832"/>
              <a:gd name="T18" fmla="*/ 2147483647 w 164"/>
              <a:gd name="T19" fmla="*/ 2147483647 h 1832"/>
              <a:gd name="T20" fmla="*/ 2147483647 w 164"/>
              <a:gd name="T21" fmla="*/ 2147483647 h 1832"/>
              <a:gd name="T22" fmla="*/ 2147483647 w 164"/>
              <a:gd name="T23" fmla="*/ 2147483647 h 183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64"/>
              <a:gd name="T37" fmla="*/ 0 h 1832"/>
              <a:gd name="T38" fmla="*/ 164 w 164"/>
              <a:gd name="T39" fmla="*/ 1832 h 183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64" h="1832">
                <a:moveTo>
                  <a:pt x="64" y="1772"/>
                </a:moveTo>
                <a:lnTo>
                  <a:pt x="144" y="1772"/>
                </a:lnTo>
                <a:lnTo>
                  <a:pt x="144" y="1832"/>
                </a:lnTo>
                <a:lnTo>
                  <a:pt x="4" y="1828"/>
                </a:lnTo>
                <a:lnTo>
                  <a:pt x="0" y="36"/>
                </a:lnTo>
                <a:lnTo>
                  <a:pt x="96" y="40"/>
                </a:lnTo>
                <a:lnTo>
                  <a:pt x="96" y="0"/>
                </a:lnTo>
                <a:lnTo>
                  <a:pt x="164" y="68"/>
                </a:lnTo>
                <a:lnTo>
                  <a:pt x="104" y="132"/>
                </a:lnTo>
                <a:lnTo>
                  <a:pt x="104" y="92"/>
                </a:lnTo>
                <a:lnTo>
                  <a:pt x="56" y="92"/>
                </a:lnTo>
                <a:lnTo>
                  <a:pt x="64" y="1772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Rectangle 9"/>
          <p:cNvSpPr>
            <a:spLocks noChangeArrowheads="1"/>
          </p:cNvSpPr>
          <p:nvPr/>
        </p:nvSpPr>
        <p:spPr bwMode="auto">
          <a:xfrm>
            <a:off x="7069138" y="2275681"/>
            <a:ext cx="1528763" cy="15811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Rectangle 9"/>
          <p:cNvSpPr>
            <a:spLocks noChangeArrowheads="1"/>
          </p:cNvSpPr>
          <p:nvPr/>
        </p:nvSpPr>
        <p:spPr bwMode="auto">
          <a:xfrm>
            <a:off x="7081838" y="3982244"/>
            <a:ext cx="2190750" cy="15906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6"/>
          <p:cNvSpPr>
            <a:spLocks noChangeArrowheads="1"/>
          </p:cNvSpPr>
          <p:nvPr/>
        </p:nvSpPr>
        <p:spPr bwMode="auto">
          <a:xfrm>
            <a:off x="7221538" y="3291681"/>
            <a:ext cx="814388" cy="561975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Freeform 7"/>
          <p:cNvSpPr>
            <a:spLocks/>
          </p:cNvSpPr>
          <p:nvPr/>
        </p:nvSpPr>
        <p:spPr bwMode="auto">
          <a:xfrm>
            <a:off x="7312026" y="3296444"/>
            <a:ext cx="649287" cy="161925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Line 8"/>
          <p:cNvSpPr>
            <a:spLocks noChangeShapeType="1"/>
          </p:cNvSpPr>
          <p:nvPr/>
        </p:nvSpPr>
        <p:spPr bwMode="auto">
          <a:xfrm>
            <a:off x="7226301" y="3853656"/>
            <a:ext cx="803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Line 9"/>
          <p:cNvSpPr>
            <a:spLocks noChangeShapeType="1"/>
          </p:cNvSpPr>
          <p:nvPr/>
        </p:nvSpPr>
        <p:spPr bwMode="auto">
          <a:xfrm>
            <a:off x="7215188" y="3291681"/>
            <a:ext cx="8207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0"/>
          <p:cNvSpPr>
            <a:spLocks noChangeArrowheads="1"/>
          </p:cNvSpPr>
          <p:nvPr/>
        </p:nvSpPr>
        <p:spPr bwMode="auto">
          <a:xfrm>
            <a:off x="7456488" y="3513931"/>
            <a:ext cx="277813" cy="274638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P</a:t>
            </a: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84" name="Rectangle 11"/>
          <p:cNvSpPr>
            <a:spLocks noChangeArrowheads="1"/>
          </p:cNvSpPr>
          <p:nvPr/>
        </p:nvSpPr>
        <p:spPr bwMode="auto">
          <a:xfrm>
            <a:off x="7442201" y="3236119"/>
            <a:ext cx="469900" cy="2746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N</a:t>
            </a:r>
            <a:r>
              <a:rPr lang="en-US" altLang="zh-CN" sz="1200" b="1" baseline="30000">
                <a:latin typeface="Times New Roman" pitchFamily="18" charset="0"/>
              </a:rPr>
              <a:t>+</a:t>
            </a:r>
            <a:endParaRPr lang="zh-CN" altLang="en-US" sz="1200" b="1" baseline="30000">
              <a:latin typeface="Times New Roman" pitchFamily="18" charset="0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7221538" y="3247231"/>
            <a:ext cx="80962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304088" y="2342356"/>
            <a:ext cx="11144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rot="16200000" flipH="1">
            <a:off x="7462838" y="2507456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7532688" y="2666206"/>
            <a:ext cx="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rot="16200000" flipH="1">
            <a:off x="7418388" y="278050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V="1">
            <a:off x="7523163" y="2894806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V="1">
            <a:off x="8091488" y="2669381"/>
            <a:ext cx="1079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V="1">
            <a:off x="8088313" y="3050381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rot="5400000">
            <a:off x="7380289" y="2783681"/>
            <a:ext cx="23495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V="1">
            <a:off x="7351713" y="2783681"/>
            <a:ext cx="14605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rot="16200000" flipH="1">
            <a:off x="8147050" y="3096419"/>
            <a:ext cx="857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8196263" y="3139281"/>
            <a:ext cx="4032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5400000">
            <a:off x="8161338" y="2402681"/>
            <a:ext cx="82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30"/>
          <p:cNvSpPr>
            <a:spLocks noChangeArrowheads="1"/>
          </p:cNvSpPr>
          <p:nvPr/>
        </p:nvSpPr>
        <p:spPr bwMode="auto">
          <a:xfrm>
            <a:off x="7100888" y="2501106"/>
            <a:ext cx="463550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Reset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99" name="Rectangle 30"/>
          <p:cNvSpPr>
            <a:spLocks noChangeArrowheads="1"/>
          </p:cNvSpPr>
          <p:nvPr/>
        </p:nvSpPr>
        <p:spPr bwMode="auto">
          <a:xfrm>
            <a:off x="7739063" y="2882106"/>
            <a:ext cx="338138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RS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0" name="Rectangle 30"/>
          <p:cNvSpPr>
            <a:spLocks noChangeArrowheads="1"/>
          </p:cNvSpPr>
          <p:nvPr/>
        </p:nvSpPr>
        <p:spPr bwMode="auto">
          <a:xfrm>
            <a:off x="8018463" y="3574256"/>
            <a:ext cx="582613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</a:rPr>
              <a:t>APS 3T</a:t>
            </a:r>
            <a:endParaRPr lang="zh-CN" altLang="en-US" sz="1400" b="1" baseline="-250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1" name="Rectangle 30"/>
          <p:cNvSpPr>
            <a:spLocks noChangeArrowheads="1"/>
          </p:cNvSpPr>
          <p:nvPr/>
        </p:nvSpPr>
        <p:spPr bwMode="auto">
          <a:xfrm>
            <a:off x="8005763" y="3117056"/>
            <a:ext cx="631825" cy="3794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PN</a:t>
            </a:r>
          </a:p>
          <a:p>
            <a:pPr algn="ctr"/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Junction</a:t>
            </a:r>
            <a:endParaRPr lang="zh-CN" altLang="en-US" sz="14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2" name="Rectangle 30"/>
          <p:cNvSpPr>
            <a:spLocks noChangeArrowheads="1"/>
          </p:cNvSpPr>
          <p:nvPr/>
        </p:nvSpPr>
        <p:spPr bwMode="auto">
          <a:xfrm>
            <a:off x="7793038" y="4196556"/>
            <a:ext cx="463550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Reset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3" name="Rectangle 30"/>
          <p:cNvSpPr>
            <a:spLocks noChangeArrowheads="1"/>
          </p:cNvSpPr>
          <p:nvPr/>
        </p:nvSpPr>
        <p:spPr bwMode="auto">
          <a:xfrm>
            <a:off x="8431213" y="4583906"/>
            <a:ext cx="338138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RS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4" name="Rectangle 30"/>
          <p:cNvSpPr>
            <a:spLocks noChangeArrowheads="1"/>
          </p:cNvSpPr>
          <p:nvPr/>
        </p:nvSpPr>
        <p:spPr bwMode="auto">
          <a:xfrm>
            <a:off x="8609013" y="5295106"/>
            <a:ext cx="582613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</a:rPr>
              <a:t>APS 4T</a:t>
            </a:r>
            <a:endParaRPr lang="zh-CN" altLang="en-US" sz="1400" b="1" baseline="-250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05" name="Rectangle 6"/>
          <p:cNvSpPr>
            <a:spLocks noChangeArrowheads="1"/>
          </p:cNvSpPr>
          <p:nvPr/>
        </p:nvSpPr>
        <p:spPr bwMode="auto">
          <a:xfrm>
            <a:off x="7158038" y="5025231"/>
            <a:ext cx="1320800" cy="506413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Freeform 7"/>
          <p:cNvSpPr>
            <a:spLocks/>
          </p:cNvSpPr>
          <p:nvPr/>
        </p:nvSpPr>
        <p:spPr bwMode="auto">
          <a:xfrm>
            <a:off x="7210426" y="5029994"/>
            <a:ext cx="596900" cy="331787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8"/>
          <p:cNvSpPr>
            <a:spLocks noChangeShapeType="1"/>
          </p:cNvSpPr>
          <p:nvPr/>
        </p:nvSpPr>
        <p:spPr bwMode="auto">
          <a:xfrm flipV="1">
            <a:off x="7158038" y="5541169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9"/>
          <p:cNvSpPr>
            <a:spLocks noChangeShapeType="1"/>
          </p:cNvSpPr>
          <p:nvPr/>
        </p:nvSpPr>
        <p:spPr bwMode="auto">
          <a:xfrm>
            <a:off x="7159626" y="5025231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Rectangle 10"/>
          <p:cNvSpPr>
            <a:spLocks noChangeArrowheads="1"/>
          </p:cNvSpPr>
          <p:nvPr/>
        </p:nvSpPr>
        <p:spPr bwMode="auto">
          <a:xfrm>
            <a:off x="7337426" y="5310981"/>
            <a:ext cx="255587" cy="274638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P</a:t>
            </a: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110" name="Rectangle 11"/>
          <p:cNvSpPr>
            <a:spLocks noChangeArrowheads="1"/>
          </p:cNvSpPr>
          <p:nvPr/>
        </p:nvSpPr>
        <p:spPr bwMode="auto">
          <a:xfrm>
            <a:off x="7331076" y="5141119"/>
            <a:ext cx="433387" cy="2746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N</a:t>
            </a:r>
            <a:r>
              <a:rPr lang="en-US" altLang="zh-CN" sz="1200" b="1" baseline="30000">
                <a:latin typeface="Times New Roman" pitchFamily="18" charset="0"/>
              </a:rPr>
              <a:t>+</a:t>
            </a:r>
            <a:endParaRPr lang="zh-CN" altLang="en-US" sz="1200" b="1" baseline="30000">
              <a:latin typeface="Times New Roman" pitchFamily="18" charset="0"/>
            </a:endParaRPr>
          </a:p>
        </p:txBody>
      </p:sp>
      <p:sp>
        <p:nvSpPr>
          <p:cNvPr id="111" name="Freeform 7"/>
          <p:cNvSpPr>
            <a:spLocks/>
          </p:cNvSpPr>
          <p:nvPr/>
        </p:nvSpPr>
        <p:spPr bwMode="auto">
          <a:xfrm>
            <a:off x="8239126" y="5029994"/>
            <a:ext cx="227012" cy="128587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7"/>
          <p:cNvSpPr>
            <a:spLocks/>
          </p:cNvSpPr>
          <p:nvPr/>
        </p:nvSpPr>
        <p:spPr bwMode="auto">
          <a:xfrm>
            <a:off x="7216776" y="5029994"/>
            <a:ext cx="557212" cy="173037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339" y="0"/>
              </a:cxn>
              <a:cxn ang="0">
                <a:pos x="339" y="48"/>
              </a:cxn>
              <a:cxn ang="0">
                <a:pos x="312" y="78"/>
              </a:cxn>
              <a:cxn ang="0">
                <a:pos x="222" y="99"/>
              </a:cxn>
              <a:cxn ang="0">
                <a:pos x="126" y="102"/>
              </a:cxn>
              <a:cxn ang="0">
                <a:pos x="48" y="90"/>
              </a:cxn>
              <a:cxn ang="0">
                <a:pos x="0" y="63"/>
              </a:cxn>
              <a:cxn ang="0">
                <a:pos x="3" y="0"/>
              </a:cxn>
            </a:cxnLst>
            <a:rect l="0" t="0" r="r" b="b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3" name="Rectangle 11"/>
          <p:cNvSpPr>
            <a:spLocks noChangeArrowheads="1"/>
          </p:cNvSpPr>
          <p:nvPr/>
        </p:nvSpPr>
        <p:spPr bwMode="auto">
          <a:xfrm>
            <a:off x="7337426" y="4963319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P</a:t>
            </a:r>
            <a:r>
              <a:rPr lang="en-US" altLang="zh-CN" sz="1200" b="1" baseline="30000">
                <a:latin typeface="Times New Roman" pitchFamily="18" charset="0"/>
              </a:rPr>
              <a:t>+</a:t>
            </a:r>
            <a:endParaRPr lang="zh-CN" altLang="en-US" sz="1200" b="1" baseline="30000">
              <a:latin typeface="Times New Roman" pitchFamily="18" charset="0"/>
            </a:endParaRPr>
          </a:p>
        </p:txBody>
      </p:sp>
      <p:sp>
        <p:nvSpPr>
          <p:cNvPr id="114" name="Line 8"/>
          <p:cNvSpPr>
            <a:spLocks noChangeShapeType="1"/>
          </p:cNvSpPr>
          <p:nvPr/>
        </p:nvSpPr>
        <p:spPr bwMode="auto">
          <a:xfrm flipV="1">
            <a:off x="7158038" y="4988719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1"/>
          <p:cNvSpPr>
            <a:spLocks noChangeArrowheads="1"/>
          </p:cNvSpPr>
          <p:nvPr/>
        </p:nvSpPr>
        <p:spPr bwMode="auto">
          <a:xfrm>
            <a:off x="8258176" y="4741069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FD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16" name="Rectangle 11"/>
          <p:cNvSpPr>
            <a:spLocks noChangeArrowheads="1"/>
          </p:cNvSpPr>
          <p:nvPr/>
        </p:nvSpPr>
        <p:spPr bwMode="auto">
          <a:xfrm>
            <a:off x="10121901" y="2697956"/>
            <a:ext cx="576262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Col</a:t>
            </a:r>
            <a:r>
              <a:rPr lang="en-US" altLang="zh-CN" sz="1200" b="1" baseline="-25000">
                <a:latin typeface="Times New Roman" pitchFamily="18" charset="0"/>
              </a:rPr>
              <a:t>i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17" name="Rectangle 11"/>
          <p:cNvSpPr>
            <a:spLocks noChangeArrowheads="1"/>
          </p:cNvSpPr>
          <p:nvPr/>
        </p:nvSpPr>
        <p:spPr bwMode="auto">
          <a:xfrm>
            <a:off x="7858126" y="4588669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T</a:t>
            </a:r>
            <a:r>
              <a:rPr lang="en-US" altLang="zh-CN" sz="1200" b="1" baseline="-25000">
                <a:latin typeface="Times New Roman" pitchFamily="18" charset="0"/>
              </a:rPr>
              <a:t>X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18" name="Rectangle 11"/>
          <p:cNvSpPr>
            <a:spLocks noChangeArrowheads="1"/>
          </p:cNvSpPr>
          <p:nvPr/>
        </p:nvSpPr>
        <p:spPr bwMode="auto">
          <a:xfrm>
            <a:off x="10779126" y="4226719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V</a:t>
            </a:r>
            <a:r>
              <a:rPr lang="en-US" altLang="zh-CN" sz="1200" b="1" baseline="-25000">
                <a:latin typeface="Times New Roman" pitchFamily="18" charset="0"/>
              </a:rPr>
              <a:t>out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19" name="Line 76"/>
          <p:cNvSpPr>
            <a:spLocks noChangeShapeType="1"/>
          </p:cNvSpPr>
          <p:nvPr/>
        </p:nvSpPr>
        <p:spPr bwMode="auto">
          <a:xfrm>
            <a:off x="10213976" y="3301206"/>
            <a:ext cx="111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77"/>
          <p:cNvSpPr>
            <a:spLocks noChangeShapeType="1"/>
          </p:cNvSpPr>
          <p:nvPr/>
        </p:nvSpPr>
        <p:spPr bwMode="auto">
          <a:xfrm>
            <a:off x="10221913" y="3817144"/>
            <a:ext cx="107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Line 78"/>
          <p:cNvSpPr>
            <a:spLocks noChangeShapeType="1"/>
          </p:cNvSpPr>
          <p:nvPr/>
        </p:nvSpPr>
        <p:spPr bwMode="auto">
          <a:xfrm>
            <a:off x="10221913" y="4126706"/>
            <a:ext cx="111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Line 79"/>
          <p:cNvSpPr>
            <a:spLocks noChangeShapeType="1"/>
          </p:cNvSpPr>
          <p:nvPr/>
        </p:nvSpPr>
        <p:spPr bwMode="auto">
          <a:xfrm>
            <a:off x="10745788" y="4364831"/>
            <a:ext cx="109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Line 80"/>
          <p:cNvSpPr>
            <a:spLocks noChangeShapeType="1"/>
          </p:cNvSpPr>
          <p:nvPr/>
        </p:nvSpPr>
        <p:spPr bwMode="auto">
          <a:xfrm>
            <a:off x="8609013" y="2262981"/>
            <a:ext cx="1011238" cy="928688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Line 81"/>
          <p:cNvSpPr>
            <a:spLocks noChangeShapeType="1"/>
          </p:cNvSpPr>
          <p:nvPr/>
        </p:nvSpPr>
        <p:spPr bwMode="auto">
          <a:xfrm flipV="1">
            <a:off x="8599488" y="3450431"/>
            <a:ext cx="1028700" cy="404813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Line 84"/>
          <p:cNvSpPr>
            <a:spLocks noChangeShapeType="1"/>
          </p:cNvSpPr>
          <p:nvPr/>
        </p:nvSpPr>
        <p:spPr bwMode="auto">
          <a:xfrm>
            <a:off x="10325101" y="3490119"/>
            <a:ext cx="0" cy="136525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Line 86"/>
          <p:cNvSpPr>
            <a:spLocks noChangeShapeType="1"/>
          </p:cNvSpPr>
          <p:nvPr/>
        </p:nvSpPr>
        <p:spPr bwMode="auto">
          <a:xfrm>
            <a:off x="10323513" y="3117056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Line 87"/>
          <p:cNvSpPr>
            <a:spLocks noChangeShapeType="1"/>
          </p:cNvSpPr>
          <p:nvPr/>
        </p:nvSpPr>
        <p:spPr bwMode="auto">
          <a:xfrm>
            <a:off x="10326688" y="3648869"/>
            <a:ext cx="0" cy="854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Freeform 89"/>
          <p:cNvSpPr>
            <a:spLocks/>
          </p:cNvSpPr>
          <p:nvPr/>
        </p:nvSpPr>
        <p:spPr bwMode="auto">
          <a:xfrm>
            <a:off x="10550526" y="4244181"/>
            <a:ext cx="190500" cy="241300"/>
          </a:xfrm>
          <a:custGeom>
            <a:avLst/>
            <a:gdLst>
              <a:gd name="T0" fmla="*/ 0 w 120"/>
              <a:gd name="T1" fmla="*/ 0 h 152"/>
              <a:gd name="T2" fmla="*/ 0 w 120"/>
              <a:gd name="T3" fmla="*/ 2147483647 h 152"/>
              <a:gd name="T4" fmla="*/ 2147483647 w 120"/>
              <a:gd name="T5" fmla="*/ 2147483647 h 152"/>
              <a:gd name="T6" fmla="*/ 0 w 120"/>
              <a:gd name="T7" fmla="*/ 0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0" y="0"/>
                </a:moveTo>
                <a:lnTo>
                  <a:pt x="0" y="152"/>
                </a:lnTo>
                <a:lnTo>
                  <a:pt x="120" y="76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Line 90"/>
          <p:cNvSpPr>
            <a:spLocks noChangeShapeType="1"/>
          </p:cNvSpPr>
          <p:nvPr/>
        </p:nvSpPr>
        <p:spPr bwMode="auto">
          <a:xfrm flipV="1">
            <a:off x="10336213" y="4352131"/>
            <a:ext cx="222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Line 81"/>
          <p:cNvSpPr>
            <a:spLocks noChangeShapeType="1"/>
          </p:cNvSpPr>
          <p:nvPr/>
        </p:nvSpPr>
        <p:spPr bwMode="auto">
          <a:xfrm flipV="1">
            <a:off x="9271001" y="3191669"/>
            <a:ext cx="349250" cy="785812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Line 81"/>
          <p:cNvSpPr>
            <a:spLocks noChangeShapeType="1"/>
          </p:cNvSpPr>
          <p:nvPr/>
        </p:nvSpPr>
        <p:spPr bwMode="auto">
          <a:xfrm flipV="1">
            <a:off x="9277351" y="3450431"/>
            <a:ext cx="342900" cy="2119313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Rectangle 73"/>
          <p:cNvSpPr>
            <a:spLocks noChangeArrowheads="1"/>
          </p:cNvSpPr>
          <p:nvPr/>
        </p:nvSpPr>
        <p:spPr bwMode="auto">
          <a:xfrm>
            <a:off x="9631363" y="3198019"/>
            <a:ext cx="581025" cy="254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Rectangle 95"/>
          <p:cNvSpPr>
            <a:spLocks noChangeArrowheads="1"/>
          </p:cNvSpPr>
          <p:nvPr/>
        </p:nvSpPr>
        <p:spPr bwMode="auto">
          <a:xfrm>
            <a:off x="9696451" y="3190081"/>
            <a:ext cx="452437" cy="2444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000" b="1">
                <a:latin typeface="Times New Roman" pitchFamily="18" charset="0"/>
                <a:ea typeface="微软雅黑" pitchFamily="34" charset="-122"/>
              </a:rPr>
              <a:t>Pixel</a:t>
            </a:r>
          </a:p>
        </p:txBody>
      </p:sp>
      <p:sp>
        <p:nvSpPr>
          <p:cNvPr id="134" name="Rectangle 73"/>
          <p:cNvSpPr>
            <a:spLocks noChangeArrowheads="1"/>
          </p:cNvSpPr>
          <p:nvPr/>
        </p:nvSpPr>
        <p:spPr bwMode="auto">
          <a:xfrm>
            <a:off x="9631363" y="3693319"/>
            <a:ext cx="581025" cy="254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Rectangle 95"/>
          <p:cNvSpPr>
            <a:spLocks noChangeArrowheads="1"/>
          </p:cNvSpPr>
          <p:nvPr/>
        </p:nvSpPr>
        <p:spPr bwMode="auto">
          <a:xfrm>
            <a:off x="9696451" y="3685381"/>
            <a:ext cx="452437" cy="2444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000" b="1">
                <a:latin typeface="Times New Roman" pitchFamily="18" charset="0"/>
                <a:ea typeface="微软雅黑" pitchFamily="34" charset="-122"/>
              </a:rPr>
              <a:t>Pixel</a:t>
            </a:r>
          </a:p>
        </p:txBody>
      </p:sp>
      <p:sp>
        <p:nvSpPr>
          <p:cNvPr id="136" name="Rectangle 73"/>
          <p:cNvSpPr>
            <a:spLocks noChangeArrowheads="1"/>
          </p:cNvSpPr>
          <p:nvPr/>
        </p:nvSpPr>
        <p:spPr bwMode="auto">
          <a:xfrm>
            <a:off x="9629776" y="3998119"/>
            <a:ext cx="581025" cy="254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Rectangle 95"/>
          <p:cNvSpPr>
            <a:spLocks noChangeArrowheads="1"/>
          </p:cNvSpPr>
          <p:nvPr/>
        </p:nvSpPr>
        <p:spPr bwMode="auto">
          <a:xfrm>
            <a:off x="9694863" y="3990181"/>
            <a:ext cx="452438" cy="2444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000" b="1">
                <a:latin typeface="Times New Roman" pitchFamily="18" charset="0"/>
                <a:ea typeface="微软雅黑" pitchFamily="34" charset="-122"/>
              </a:rPr>
              <a:t>Pixel</a:t>
            </a:r>
          </a:p>
        </p:txBody>
      </p:sp>
      <p:sp>
        <p:nvSpPr>
          <p:cNvPr id="138" name="Line 83"/>
          <p:cNvSpPr>
            <a:spLocks noChangeShapeType="1"/>
          </p:cNvSpPr>
          <p:nvPr/>
        </p:nvSpPr>
        <p:spPr bwMode="auto">
          <a:xfrm>
            <a:off x="10321926" y="2994819"/>
            <a:ext cx="0" cy="9525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Line 85"/>
          <p:cNvSpPr>
            <a:spLocks noChangeShapeType="1"/>
          </p:cNvSpPr>
          <p:nvPr/>
        </p:nvSpPr>
        <p:spPr bwMode="auto">
          <a:xfrm flipV="1">
            <a:off x="10323513" y="2920206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椭圆 139"/>
          <p:cNvSpPr/>
          <p:nvPr/>
        </p:nvSpPr>
        <p:spPr>
          <a:xfrm>
            <a:off x="10217151" y="4504531"/>
            <a:ext cx="225425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41" name="直接箭头连接符 140"/>
          <p:cNvCxnSpPr/>
          <p:nvPr/>
        </p:nvCxnSpPr>
        <p:spPr>
          <a:xfrm rot="16200000" flipH="1">
            <a:off x="10223500" y="4636294"/>
            <a:ext cx="2063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>
            <a:stCxn id="140" idx="4"/>
          </p:cNvCxnSpPr>
          <p:nvPr/>
        </p:nvCxnSpPr>
        <p:spPr>
          <a:xfrm rot="16200000" flipH="1">
            <a:off x="10248901" y="4833143"/>
            <a:ext cx="1651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10266363" y="4914106"/>
            <a:ext cx="15081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10296526" y="4956969"/>
            <a:ext cx="857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10318751" y="4998244"/>
            <a:ext cx="47625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30"/>
          <p:cNvSpPr>
            <a:spLocks noChangeArrowheads="1"/>
          </p:cNvSpPr>
          <p:nvPr/>
        </p:nvSpPr>
        <p:spPr bwMode="auto">
          <a:xfrm>
            <a:off x="8472488" y="4969669"/>
            <a:ext cx="922338" cy="3079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Pinned Diode</a:t>
            </a:r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 </a:t>
            </a:r>
            <a:endParaRPr lang="zh-CN" altLang="en-US" sz="14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cxnSp>
        <p:nvCxnSpPr>
          <p:cNvPr id="147" name="直接箭头连接符 146"/>
          <p:cNvCxnSpPr/>
          <p:nvPr/>
        </p:nvCxnSpPr>
        <p:spPr>
          <a:xfrm rot="10800000" flipV="1">
            <a:off x="8027988" y="3510756"/>
            <a:ext cx="3175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 rot="10800000" flipV="1">
            <a:off x="8480426" y="5291931"/>
            <a:ext cx="3175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 flipV="1">
            <a:off x="8778876" y="4736306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 rot="16200000" flipH="1">
            <a:off x="8837613" y="4782344"/>
            <a:ext cx="857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8886826" y="4825206"/>
            <a:ext cx="4032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>
          <a:xfrm>
            <a:off x="8088313" y="2443956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5400000">
            <a:off x="7977189" y="2558256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/>
        </p:nvCxnSpPr>
        <p:spPr>
          <a:xfrm rot="5400000">
            <a:off x="7935914" y="2551906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 flipV="1">
            <a:off x="7627938" y="3005931"/>
            <a:ext cx="1111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7732713" y="2548731"/>
            <a:ext cx="3206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>
            <a:endCxn id="99" idx="1"/>
          </p:cNvCxnSpPr>
          <p:nvPr/>
        </p:nvCxnSpPr>
        <p:spPr>
          <a:xfrm rot="16200000" flipH="1">
            <a:off x="7502525" y="2772569"/>
            <a:ext cx="4540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8088313" y="2821781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 rot="5400000">
            <a:off x="7977189" y="2939256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 rot="5400000">
            <a:off x="7935914" y="2932906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7877176" y="4925219"/>
            <a:ext cx="327025" cy="492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62" name="直接箭头连接符 161"/>
          <p:cNvCxnSpPr/>
          <p:nvPr/>
        </p:nvCxnSpPr>
        <p:spPr>
          <a:xfrm flipV="1">
            <a:off x="8777288" y="4368006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/>
          <p:cNvCxnSpPr/>
          <p:nvPr/>
        </p:nvCxnSpPr>
        <p:spPr>
          <a:xfrm flipV="1">
            <a:off x="8218488" y="4580731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/>
          <p:cNvCxnSpPr/>
          <p:nvPr/>
        </p:nvCxnSpPr>
        <p:spPr>
          <a:xfrm rot="5400000">
            <a:off x="8111332" y="2741612"/>
            <a:ext cx="160338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/>
          <p:nvPr/>
        </p:nvCxnSpPr>
        <p:spPr>
          <a:xfrm>
            <a:off x="7989888" y="4037806"/>
            <a:ext cx="11144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 rot="16200000" flipH="1">
            <a:off x="8148638" y="4202906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>
            <a:off x="8218488" y="4361656"/>
            <a:ext cx="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rot="16200000" flipH="1">
            <a:off x="8105776" y="447595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rot="5400000">
            <a:off x="8066882" y="4479925"/>
            <a:ext cx="23495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flipV="1">
            <a:off x="8037513" y="4479131"/>
            <a:ext cx="14605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rot="5400000">
            <a:off x="8847138" y="4098131"/>
            <a:ext cx="82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>
            <a:off x="8774113" y="4139406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rot="5400000">
            <a:off x="8663782" y="4254500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rot="5400000">
            <a:off x="8622507" y="4248150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flipV="1">
            <a:off x="8313738" y="4701381"/>
            <a:ext cx="1111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>
            <a:off x="8418513" y="4244181"/>
            <a:ext cx="3206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 rot="16200000" flipH="1">
            <a:off x="8188325" y="4468019"/>
            <a:ext cx="4540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/>
        </p:nvCxnSpPr>
        <p:spPr>
          <a:xfrm>
            <a:off x="8774113" y="4517231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 rot="5400000">
            <a:off x="8668545" y="4635500"/>
            <a:ext cx="228600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/>
          <p:cNvCxnSpPr/>
          <p:nvPr/>
        </p:nvCxnSpPr>
        <p:spPr>
          <a:xfrm rot="5400000">
            <a:off x="8622507" y="4629150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/>
          <p:nvPr/>
        </p:nvCxnSpPr>
        <p:spPr>
          <a:xfrm rot="5400000">
            <a:off x="8797132" y="4437062"/>
            <a:ext cx="160338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rot="5400000">
            <a:off x="7949407" y="4899025"/>
            <a:ext cx="160337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/>
          <p:nvPr/>
        </p:nvCxnSpPr>
        <p:spPr>
          <a:xfrm>
            <a:off x="7926388" y="2936081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/>
          <p:nvPr/>
        </p:nvCxnSpPr>
        <p:spPr>
          <a:xfrm>
            <a:off x="8618538" y="4634706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/>
          <p:cNvCxnSpPr/>
          <p:nvPr/>
        </p:nvCxnSpPr>
        <p:spPr>
          <a:xfrm rot="16200000" flipH="1">
            <a:off x="8121650" y="4779169"/>
            <a:ext cx="4032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>
          <a:xfrm rot="16200000" flipH="1">
            <a:off x="7426325" y="3093244"/>
            <a:ext cx="4032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椭圆 186"/>
          <p:cNvSpPr/>
          <p:nvPr/>
        </p:nvSpPr>
        <p:spPr>
          <a:xfrm>
            <a:off x="7996238" y="4453731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8" name="椭圆 187"/>
          <p:cNvSpPr/>
          <p:nvPr/>
        </p:nvSpPr>
        <p:spPr>
          <a:xfrm>
            <a:off x="8570913" y="4612481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9" name="椭圆 188"/>
          <p:cNvSpPr/>
          <p:nvPr/>
        </p:nvSpPr>
        <p:spPr>
          <a:xfrm>
            <a:off x="7875588" y="2913856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7304088" y="2764631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1" name="椭圆 190"/>
          <p:cNvSpPr/>
          <p:nvPr/>
        </p:nvSpPr>
        <p:spPr>
          <a:xfrm>
            <a:off x="6905626" y="2104231"/>
            <a:ext cx="1971675" cy="2008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 202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4402863" y="1250126"/>
            <a:ext cx="4454525" cy="579437"/>
          </a:xfrm>
          <a:prstGeom prst="rect">
            <a:avLst/>
          </a:prstGeom>
          <a:gradFill>
            <a:gsLst>
              <a:gs pos="0">
                <a:srgbClr val="FFC0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(2) </a:t>
            </a:r>
            <a:r>
              <a: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光电门</a:t>
            </a:r>
            <a:r>
              <a:rPr lang="en-US" altLang="zh-CN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+FD</a:t>
            </a:r>
            <a:r>
              <a:rPr lang="zh-CN" altLang="en-US" sz="32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方式</a:t>
            </a:r>
          </a:p>
        </p:txBody>
      </p:sp>
      <p:sp>
        <p:nvSpPr>
          <p:cNvPr id="96" name="Text Box 4"/>
          <p:cNvSpPr txBox="1">
            <a:spLocks noChangeArrowheads="1"/>
          </p:cNvSpPr>
          <p:nvPr/>
        </p:nvSpPr>
        <p:spPr bwMode="auto">
          <a:xfrm>
            <a:off x="3113002" y="2744337"/>
            <a:ext cx="1752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4-T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</a:t>
            </a:r>
          </a:p>
        </p:txBody>
      </p:sp>
      <p:sp>
        <p:nvSpPr>
          <p:cNvPr id="97" name="Text Box 4"/>
          <p:cNvSpPr txBox="1">
            <a:spLocks noChangeArrowheads="1"/>
          </p:cNvSpPr>
          <p:nvPr/>
        </p:nvSpPr>
        <p:spPr bwMode="auto">
          <a:xfrm>
            <a:off x="1000125" y="3427688"/>
            <a:ext cx="674309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4-T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结构使用了一个铰接二极管，它较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3-T APS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的像素的基本结构增加了一个传输门和一个悬浮式的扩散节点（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Floating Diffusion, FD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）。</a:t>
            </a:r>
          </a:p>
        </p:txBody>
      </p:sp>
      <p:sp>
        <p:nvSpPr>
          <p:cNvPr id="99" name="Oval 8"/>
          <p:cNvSpPr>
            <a:spLocks noChangeArrowheads="1"/>
          </p:cNvSpPr>
          <p:nvPr/>
        </p:nvSpPr>
        <p:spPr bwMode="auto">
          <a:xfrm>
            <a:off x="9308108" y="4119112"/>
            <a:ext cx="50800" cy="6191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Freeform 9"/>
          <p:cNvSpPr>
            <a:spLocks/>
          </p:cNvSpPr>
          <p:nvPr/>
        </p:nvSpPr>
        <p:spPr bwMode="auto">
          <a:xfrm>
            <a:off x="8219083" y="4147687"/>
            <a:ext cx="2159000" cy="881063"/>
          </a:xfrm>
          <a:custGeom>
            <a:avLst/>
            <a:gdLst>
              <a:gd name="T0" fmla="*/ 2147483647 w 1636"/>
              <a:gd name="T1" fmla="*/ 2147483647 h 713"/>
              <a:gd name="T2" fmla="*/ 2147483647 w 1636"/>
              <a:gd name="T3" fmla="*/ 2147483647 h 713"/>
              <a:gd name="T4" fmla="*/ 2147483647 w 1636"/>
              <a:gd name="T5" fmla="*/ 2147483647 h 713"/>
              <a:gd name="T6" fmla="*/ 2147483647 w 1636"/>
              <a:gd name="T7" fmla="*/ 2147483647 h 713"/>
              <a:gd name="T8" fmla="*/ 2147483647 w 1636"/>
              <a:gd name="T9" fmla="*/ 2147483647 h 713"/>
              <a:gd name="T10" fmla="*/ 2147483647 w 1636"/>
              <a:gd name="T11" fmla="*/ 2147483647 h 713"/>
              <a:gd name="T12" fmla="*/ 2147483647 w 1636"/>
              <a:gd name="T13" fmla="*/ 2147483647 h 713"/>
              <a:gd name="T14" fmla="*/ 2147483647 w 1636"/>
              <a:gd name="T15" fmla="*/ 2147483647 h 713"/>
              <a:gd name="T16" fmla="*/ 2147483647 w 1636"/>
              <a:gd name="T17" fmla="*/ 2147483647 h 713"/>
              <a:gd name="T18" fmla="*/ 2147483647 w 1636"/>
              <a:gd name="T19" fmla="*/ 2147483647 h 713"/>
              <a:gd name="T20" fmla="*/ 2147483647 w 1636"/>
              <a:gd name="T21" fmla="*/ 2147483647 h 713"/>
              <a:gd name="T22" fmla="*/ 0 w 1636"/>
              <a:gd name="T23" fmla="*/ 2147483647 h 713"/>
              <a:gd name="T24" fmla="*/ 2147483647 w 1636"/>
              <a:gd name="T25" fmla="*/ 2147483647 h 713"/>
              <a:gd name="T26" fmla="*/ 2147483647 w 1636"/>
              <a:gd name="T27" fmla="*/ 2147483647 h 713"/>
              <a:gd name="T28" fmla="*/ 2147483647 w 1636"/>
              <a:gd name="T29" fmla="*/ 2147483647 h 71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636"/>
              <a:gd name="T46" fmla="*/ 0 h 713"/>
              <a:gd name="T47" fmla="*/ 1636 w 1636"/>
              <a:gd name="T48" fmla="*/ 713 h 713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636" h="713">
                <a:moveTo>
                  <a:pt x="64" y="5"/>
                </a:moveTo>
                <a:cubicBezTo>
                  <a:pt x="1248" y="0"/>
                  <a:pt x="731" y="1"/>
                  <a:pt x="1616" y="1"/>
                </a:cubicBezTo>
                <a:lnTo>
                  <a:pt x="1580" y="105"/>
                </a:lnTo>
                <a:lnTo>
                  <a:pt x="1556" y="209"/>
                </a:lnTo>
                <a:lnTo>
                  <a:pt x="1636" y="541"/>
                </a:lnTo>
                <a:lnTo>
                  <a:pt x="1568" y="713"/>
                </a:lnTo>
                <a:lnTo>
                  <a:pt x="28" y="705"/>
                </a:lnTo>
                <a:lnTo>
                  <a:pt x="68" y="597"/>
                </a:lnTo>
                <a:lnTo>
                  <a:pt x="64" y="449"/>
                </a:lnTo>
                <a:lnTo>
                  <a:pt x="36" y="353"/>
                </a:lnTo>
                <a:lnTo>
                  <a:pt x="8" y="301"/>
                </a:lnTo>
                <a:lnTo>
                  <a:pt x="0" y="245"/>
                </a:lnTo>
                <a:lnTo>
                  <a:pt x="4" y="177"/>
                </a:lnTo>
                <a:lnTo>
                  <a:pt x="24" y="101"/>
                </a:lnTo>
                <a:lnTo>
                  <a:pt x="64" y="5"/>
                </a:lnTo>
                <a:close/>
              </a:path>
            </a:pathLst>
          </a:custGeom>
          <a:solidFill>
            <a:srgbClr val="969696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Oval 10"/>
          <p:cNvSpPr>
            <a:spLocks noChangeArrowheads="1"/>
          </p:cNvSpPr>
          <p:nvPr/>
        </p:nvSpPr>
        <p:spPr bwMode="auto">
          <a:xfrm>
            <a:off x="9582745" y="3050725"/>
            <a:ext cx="69850" cy="8096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Line 11"/>
          <p:cNvSpPr>
            <a:spLocks noChangeShapeType="1"/>
          </p:cNvSpPr>
          <p:nvPr/>
        </p:nvSpPr>
        <p:spPr bwMode="auto">
          <a:xfrm flipV="1">
            <a:off x="9341445" y="3090412"/>
            <a:ext cx="576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Rectangle 12"/>
          <p:cNvSpPr>
            <a:spLocks noChangeArrowheads="1"/>
          </p:cNvSpPr>
          <p:nvPr/>
        </p:nvSpPr>
        <p:spPr bwMode="auto">
          <a:xfrm>
            <a:off x="8077795" y="3315837"/>
            <a:ext cx="3451225" cy="2028825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Oval 13"/>
          <p:cNvSpPr>
            <a:spLocks noChangeArrowheads="1"/>
          </p:cNvSpPr>
          <p:nvPr/>
        </p:nvSpPr>
        <p:spPr bwMode="auto">
          <a:xfrm>
            <a:off x="9574808" y="3871462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Rectangle 14"/>
          <p:cNvSpPr>
            <a:spLocks noChangeArrowheads="1"/>
          </p:cNvSpPr>
          <p:nvPr/>
        </p:nvSpPr>
        <p:spPr bwMode="auto">
          <a:xfrm>
            <a:off x="9143008" y="4158800"/>
            <a:ext cx="390525" cy="209550"/>
          </a:xfrm>
          <a:prstGeom prst="rect">
            <a:avLst/>
          </a:prstGeom>
          <a:solidFill>
            <a:srgbClr val="FF66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Rectangle 15"/>
          <p:cNvSpPr>
            <a:spLocks noChangeArrowheads="1"/>
          </p:cNvSpPr>
          <p:nvPr/>
        </p:nvSpPr>
        <p:spPr bwMode="auto">
          <a:xfrm>
            <a:off x="9162058" y="4101650"/>
            <a:ext cx="377825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</a:rPr>
              <a:t>N</a:t>
            </a:r>
            <a:r>
              <a:rPr lang="en-US" altLang="zh-CN" sz="1400" b="1" baseline="30000">
                <a:latin typeface="Times New Roman" pitchFamily="18" charset="0"/>
              </a:rPr>
              <a:t>+</a:t>
            </a:r>
          </a:p>
        </p:txBody>
      </p:sp>
      <p:sp>
        <p:nvSpPr>
          <p:cNvPr id="107" name="Oval 16"/>
          <p:cNvSpPr>
            <a:spLocks noChangeArrowheads="1"/>
          </p:cNvSpPr>
          <p:nvPr/>
        </p:nvSpPr>
        <p:spPr bwMode="auto">
          <a:xfrm>
            <a:off x="9901833" y="4122287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Rectangle 17"/>
          <p:cNvSpPr>
            <a:spLocks noChangeArrowheads="1"/>
          </p:cNvSpPr>
          <p:nvPr/>
        </p:nvSpPr>
        <p:spPr bwMode="auto">
          <a:xfrm>
            <a:off x="9736733" y="4160387"/>
            <a:ext cx="393700" cy="201613"/>
          </a:xfrm>
          <a:prstGeom prst="rect">
            <a:avLst/>
          </a:prstGeom>
          <a:solidFill>
            <a:srgbClr val="FF66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Line 18"/>
          <p:cNvSpPr>
            <a:spLocks noChangeShapeType="1"/>
          </p:cNvSpPr>
          <p:nvPr/>
        </p:nvSpPr>
        <p:spPr bwMode="auto">
          <a:xfrm flipV="1">
            <a:off x="9846270" y="3946075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19"/>
          <p:cNvSpPr>
            <a:spLocks noChangeShapeType="1"/>
          </p:cNvSpPr>
          <p:nvPr/>
        </p:nvSpPr>
        <p:spPr bwMode="auto">
          <a:xfrm flipH="1">
            <a:off x="9608145" y="3101525"/>
            <a:ext cx="6350" cy="763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Rectangle 20"/>
          <p:cNvSpPr>
            <a:spLocks noChangeArrowheads="1"/>
          </p:cNvSpPr>
          <p:nvPr/>
        </p:nvSpPr>
        <p:spPr bwMode="auto">
          <a:xfrm>
            <a:off x="9462095" y="3915912"/>
            <a:ext cx="292100" cy="13335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Line 21"/>
          <p:cNvSpPr>
            <a:spLocks noChangeShapeType="1"/>
          </p:cNvSpPr>
          <p:nvPr/>
        </p:nvSpPr>
        <p:spPr bwMode="auto">
          <a:xfrm>
            <a:off x="9477970" y="4612825"/>
            <a:ext cx="0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Line 22"/>
          <p:cNvSpPr>
            <a:spLocks noChangeShapeType="1"/>
          </p:cNvSpPr>
          <p:nvPr/>
        </p:nvSpPr>
        <p:spPr bwMode="auto">
          <a:xfrm>
            <a:off x="9866908" y="4608062"/>
            <a:ext cx="0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Line 23"/>
          <p:cNvSpPr>
            <a:spLocks noChangeShapeType="1"/>
          </p:cNvSpPr>
          <p:nvPr/>
        </p:nvSpPr>
        <p:spPr bwMode="auto">
          <a:xfrm>
            <a:off x="9477970" y="4669975"/>
            <a:ext cx="3873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Line 24"/>
          <p:cNvSpPr>
            <a:spLocks noChangeShapeType="1"/>
          </p:cNvSpPr>
          <p:nvPr/>
        </p:nvSpPr>
        <p:spPr bwMode="auto">
          <a:xfrm flipV="1">
            <a:off x="9681170" y="4352475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Line 25"/>
          <p:cNvSpPr>
            <a:spLocks noChangeShapeType="1"/>
          </p:cNvSpPr>
          <p:nvPr/>
        </p:nvSpPr>
        <p:spPr bwMode="auto">
          <a:xfrm>
            <a:off x="8434983" y="3800025"/>
            <a:ext cx="73025" cy="1539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Line 26"/>
          <p:cNvSpPr>
            <a:spLocks noChangeShapeType="1"/>
          </p:cNvSpPr>
          <p:nvPr/>
        </p:nvSpPr>
        <p:spPr bwMode="auto">
          <a:xfrm flipH="1" flipV="1">
            <a:off x="8388945" y="3912737"/>
            <a:ext cx="123825" cy="460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Line 27"/>
          <p:cNvSpPr>
            <a:spLocks noChangeShapeType="1"/>
          </p:cNvSpPr>
          <p:nvPr/>
        </p:nvSpPr>
        <p:spPr bwMode="auto">
          <a:xfrm>
            <a:off x="8404820" y="3930200"/>
            <a:ext cx="68263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Rectangle 28"/>
          <p:cNvSpPr>
            <a:spLocks noChangeArrowheads="1"/>
          </p:cNvSpPr>
          <p:nvPr/>
        </p:nvSpPr>
        <p:spPr bwMode="auto">
          <a:xfrm>
            <a:off x="9960620" y="3803200"/>
            <a:ext cx="449162" cy="3077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err="1" smtClean="0">
                <a:latin typeface="Times New Roman" pitchFamily="18" charset="0"/>
              </a:rPr>
              <a:t>V</a:t>
            </a:r>
            <a:r>
              <a:rPr lang="en-US" altLang="zh-CN" sz="1400" b="1" baseline="-25000" dirty="0" err="1" smtClean="0">
                <a:latin typeface="Times New Roman" pitchFamily="18" charset="0"/>
              </a:rPr>
              <a:t>bb</a:t>
            </a:r>
            <a:endParaRPr lang="en-US" altLang="zh-CN" sz="1400" b="1" baseline="-25000" dirty="0">
              <a:latin typeface="Times New Roman" pitchFamily="18" charset="0"/>
            </a:endParaRPr>
          </a:p>
        </p:txBody>
      </p:sp>
      <p:sp>
        <p:nvSpPr>
          <p:cNvPr id="120" name="Rectangle 29"/>
          <p:cNvSpPr>
            <a:spLocks noChangeArrowheads="1"/>
          </p:cNvSpPr>
          <p:nvPr/>
        </p:nvSpPr>
        <p:spPr bwMode="auto">
          <a:xfrm>
            <a:off x="8268295" y="3558725"/>
            <a:ext cx="3619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光</a:t>
            </a:r>
            <a:endParaRPr lang="zh-CN" altLang="en-US" sz="14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1" name="Rectangle 30"/>
          <p:cNvSpPr>
            <a:spLocks noChangeArrowheads="1"/>
          </p:cNvSpPr>
          <p:nvPr/>
        </p:nvSpPr>
        <p:spPr bwMode="auto">
          <a:xfrm>
            <a:off x="8246070" y="4122287"/>
            <a:ext cx="7175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FFFF66"/>
                </a:solidFill>
                <a:latin typeface="Times New Roman" pitchFamily="18" charset="0"/>
                <a:ea typeface="微软雅黑" pitchFamily="34" charset="-122"/>
              </a:rPr>
              <a:t>光电门</a:t>
            </a:r>
            <a:endParaRPr lang="zh-CN" altLang="en-US" sz="1400" b="1" baseline="-25000">
              <a:solidFill>
                <a:srgbClr val="FFFF66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2" name="Rectangle 31"/>
          <p:cNvSpPr>
            <a:spLocks noChangeArrowheads="1"/>
          </p:cNvSpPr>
          <p:nvPr/>
        </p:nvSpPr>
        <p:spPr bwMode="auto">
          <a:xfrm>
            <a:off x="8300045" y="4693787"/>
            <a:ext cx="82550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  <a:ea typeface="微软雅黑" pitchFamily="34" charset="-122"/>
              </a:rPr>
              <a:t>P</a:t>
            </a:r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型基板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3" name="Rectangle 32"/>
          <p:cNvSpPr>
            <a:spLocks noChangeArrowheads="1"/>
          </p:cNvSpPr>
          <p:nvPr/>
        </p:nvSpPr>
        <p:spPr bwMode="auto">
          <a:xfrm>
            <a:off x="9128720" y="4704900"/>
            <a:ext cx="1249363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</a:rPr>
              <a:t>复位晶体管</a:t>
            </a:r>
            <a:r>
              <a:rPr lang="en-US" altLang="zh-CN" sz="1400" b="1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</a:rPr>
              <a:t>T</a:t>
            </a:r>
            <a:r>
              <a:rPr lang="en-US" altLang="zh-CN" sz="1400" b="1" baseline="-25000">
                <a:solidFill>
                  <a:srgbClr val="FF00FF"/>
                </a:solidFill>
                <a:latin typeface="Times New Roman" pitchFamily="18" charset="0"/>
                <a:ea typeface="微软雅黑" pitchFamily="34" charset="-122"/>
              </a:rPr>
              <a:t>1</a:t>
            </a:r>
          </a:p>
        </p:txBody>
      </p:sp>
      <p:sp>
        <p:nvSpPr>
          <p:cNvPr id="124" name="Rectangle 33"/>
          <p:cNvSpPr>
            <a:spLocks noChangeArrowheads="1"/>
          </p:cNvSpPr>
          <p:nvPr/>
        </p:nvSpPr>
        <p:spPr bwMode="auto">
          <a:xfrm>
            <a:off x="8966795" y="5044625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像素单元</a:t>
            </a:r>
            <a:endParaRPr lang="zh-CN" altLang="en-US" sz="14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5" name="Rectangle 34"/>
          <p:cNvSpPr>
            <a:spLocks noChangeArrowheads="1"/>
          </p:cNvSpPr>
          <p:nvPr/>
        </p:nvSpPr>
        <p:spPr bwMode="auto">
          <a:xfrm>
            <a:off x="10714633" y="5438325"/>
            <a:ext cx="10731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负载晶体管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6" name="Rectangle 35"/>
          <p:cNvSpPr>
            <a:spLocks noChangeArrowheads="1"/>
          </p:cNvSpPr>
          <p:nvPr/>
        </p:nvSpPr>
        <p:spPr bwMode="auto">
          <a:xfrm>
            <a:off x="9171583" y="2758625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行复位线</a:t>
            </a:r>
            <a:endParaRPr lang="zh-CN" altLang="en-US" sz="14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7" name="Rectangle 36"/>
          <p:cNvSpPr>
            <a:spLocks noChangeArrowheads="1"/>
          </p:cNvSpPr>
          <p:nvPr/>
        </p:nvSpPr>
        <p:spPr bwMode="auto">
          <a:xfrm>
            <a:off x="11796182" y="3876225"/>
            <a:ext cx="364202" cy="95410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列</a:t>
            </a:r>
          </a:p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信</a:t>
            </a:r>
          </a:p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号</a:t>
            </a:r>
          </a:p>
          <a:p>
            <a:pPr algn="ctr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线</a:t>
            </a:r>
            <a:endParaRPr lang="zh-CN" altLang="en-US" sz="1400" b="1" baseline="-25000" dirty="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28" name="Line 37"/>
          <p:cNvSpPr>
            <a:spLocks noChangeShapeType="1"/>
          </p:cNvSpPr>
          <p:nvPr/>
        </p:nvSpPr>
        <p:spPr bwMode="auto">
          <a:xfrm flipH="1" flipV="1">
            <a:off x="9931995" y="3946075"/>
            <a:ext cx="0" cy="195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Oval 38"/>
          <p:cNvSpPr>
            <a:spLocks noChangeArrowheads="1"/>
          </p:cNvSpPr>
          <p:nvPr/>
        </p:nvSpPr>
        <p:spPr bwMode="auto">
          <a:xfrm>
            <a:off x="11775083" y="5108125"/>
            <a:ext cx="52387" cy="71437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39"/>
          <p:cNvSpPr>
            <a:spLocks noChangeShapeType="1"/>
          </p:cNvSpPr>
          <p:nvPr/>
        </p:nvSpPr>
        <p:spPr bwMode="auto">
          <a:xfrm>
            <a:off x="11995745" y="5141462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Line 40"/>
          <p:cNvSpPr>
            <a:spLocks noChangeShapeType="1"/>
          </p:cNvSpPr>
          <p:nvPr/>
        </p:nvSpPr>
        <p:spPr bwMode="auto">
          <a:xfrm flipV="1">
            <a:off x="11802070" y="5135112"/>
            <a:ext cx="203200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41"/>
          <p:cNvSpPr>
            <a:spLocks noChangeShapeType="1"/>
          </p:cNvSpPr>
          <p:nvPr/>
        </p:nvSpPr>
        <p:spPr bwMode="auto">
          <a:xfrm>
            <a:off x="11802070" y="4831900"/>
            <a:ext cx="4763" cy="4619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42"/>
          <p:cNvSpPr>
            <a:spLocks noChangeShapeType="1"/>
          </p:cNvSpPr>
          <p:nvPr/>
        </p:nvSpPr>
        <p:spPr bwMode="auto">
          <a:xfrm>
            <a:off x="11717933" y="5293862"/>
            <a:ext cx="873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43"/>
          <p:cNvSpPr>
            <a:spLocks noChangeShapeType="1"/>
          </p:cNvSpPr>
          <p:nvPr/>
        </p:nvSpPr>
        <p:spPr bwMode="auto">
          <a:xfrm>
            <a:off x="11714758" y="5473250"/>
            <a:ext cx="873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44"/>
          <p:cNvSpPr>
            <a:spLocks noChangeShapeType="1"/>
          </p:cNvSpPr>
          <p:nvPr/>
        </p:nvSpPr>
        <p:spPr bwMode="auto">
          <a:xfrm flipH="1">
            <a:off x="11714758" y="5293862"/>
            <a:ext cx="0" cy="1857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AutoShape 45"/>
          <p:cNvSpPr>
            <a:spLocks noChangeArrowheads="1"/>
          </p:cNvSpPr>
          <p:nvPr/>
        </p:nvSpPr>
        <p:spPr bwMode="auto">
          <a:xfrm>
            <a:off x="11763970" y="5714550"/>
            <a:ext cx="66675" cy="79375"/>
          </a:xfrm>
          <a:prstGeom prst="flowChartMerg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Line 46"/>
          <p:cNvSpPr>
            <a:spLocks noChangeShapeType="1"/>
          </p:cNvSpPr>
          <p:nvPr/>
        </p:nvSpPr>
        <p:spPr bwMode="auto">
          <a:xfrm>
            <a:off x="11676658" y="5309737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Line 47"/>
          <p:cNvSpPr>
            <a:spLocks noChangeShapeType="1"/>
          </p:cNvSpPr>
          <p:nvPr/>
        </p:nvSpPr>
        <p:spPr bwMode="auto">
          <a:xfrm>
            <a:off x="11579820" y="5389112"/>
            <a:ext cx="96838" cy="4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Freeform 48"/>
          <p:cNvSpPr>
            <a:spLocks/>
          </p:cNvSpPr>
          <p:nvPr/>
        </p:nvSpPr>
        <p:spPr bwMode="auto">
          <a:xfrm>
            <a:off x="11741745" y="4773162"/>
            <a:ext cx="112713" cy="28575"/>
          </a:xfrm>
          <a:custGeom>
            <a:avLst/>
            <a:gdLst>
              <a:gd name="T0" fmla="*/ 0 w 93"/>
              <a:gd name="T1" fmla="*/ 2147483647 h 20"/>
              <a:gd name="T2" fmla="*/ 2147483647 w 93"/>
              <a:gd name="T3" fmla="*/ 2147483647 h 20"/>
              <a:gd name="T4" fmla="*/ 2147483647 w 93"/>
              <a:gd name="T5" fmla="*/ 2147483647 h 20"/>
              <a:gd name="T6" fmla="*/ 2147483647 w 93"/>
              <a:gd name="T7" fmla="*/ 2147483647 h 20"/>
              <a:gd name="T8" fmla="*/ 2147483647 w 93"/>
              <a:gd name="T9" fmla="*/ 2147483647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20"/>
              <a:gd name="T17" fmla="*/ 93 w 93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20">
                <a:moveTo>
                  <a:pt x="0" y="1"/>
                </a:moveTo>
                <a:cubicBezTo>
                  <a:pt x="9" y="0"/>
                  <a:pt x="19" y="0"/>
                  <a:pt x="27" y="2"/>
                </a:cubicBezTo>
                <a:cubicBezTo>
                  <a:pt x="35" y="4"/>
                  <a:pt x="40" y="8"/>
                  <a:pt x="46" y="11"/>
                </a:cubicBezTo>
                <a:cubicBezTo>
                  <a:pt x="52" y="14"/>
                  <a:pt x="56" y="18"/>
                  <a:pt x="64" y="19"/>
                </a:cubicBezTo>
                <a:cubicBezTo>
                  <a:pt x="72" y="20"/>
                  <a:pt x="88" y="20"/>
                  <a:pt x="93" y="2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Freeform 49"/>
          <p:cNvSpPr>
            <a:spLocks/>
          </p:cNvSpPr>
          <p:nvPr/>
        </p:nvSpPr>
        <p:spPr bwMode="auto">
          <a:xfrm>
            <a:off x="11740158" y="4816025"/>
            <a:ext cx="112712" cy="26987"/>
          </a:xfrm>
          <a:custGeom>
            <a:avLst/>
            <a:gdLst>
              <a:gd name="T0" fmla="*/ 0 w 93"/>
              <a:gd name="T1" fmla="*/ 2147483647 h 20"/>
              <a:gd name="T2" fmla="*/ 2147483647 w 93"/>
              <a:gd name="T3" fmla="*/ 2147483647 h 20"/>
              <a:gd name="T4" fmla="*/ 2147483647 w 93"/>
              <a:gd name="T5" fmla="*/ 2147483647 h 20"/>
              <a:gd name="T6" fmla="*/ 2147483647 w 93"/>
              <a:gd name="T7" fmla="*/ 2147483647 h 20"/>
              <a:gd name="T8" fmla="*/ 2147483647 w 93"/>
              <a:gd name="T9" fmla="*/ 2147483647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3"/>
              <a:gd name="T16" fmla="*/ 0 h 20"/>
              <a:gd name="T17" fmla="*/ 93 w 93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3" h="20">
                <a:moveTo>
                  <a:pt x="0" y="1"/>
                </a:moveTo>
                <a:cubicBezTo>
                  <a:pt x="9" y="0"/>
                  <a:pt x="19" y="0"/>
                  <a:pt x="27" y="2"/>
                </a:cubicBezTo>
                <a:cubicBezTo>
                  <a:pt x="35" y="4"/>
                  <a:pt x="40" y="8"/>
                  <a:pt x="46" y="11"/>
                </a:cubicBezTo>
                <a:cubicBezTo>
                  <a:pt x="52" y="14"/>
                  <a:pt x="56" y="18"/>
                  <a:pt x="64" y="19"/>
                </a:cubicBezTo>
                <a:cubicBezTo>
                  <a:pt x="72" y="20"/>
                  <a:pt x="88" y="20"/>
                  <a:pt x="93" y="20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Line 50"/>
          <p:cNvSpPr>
            <a:spLocks noChangeShapeType="1"/>
          </p:cNvSpPr>
          <p:nvPr/>
        </p:nvSpPr>
        <p:spPr bwMode="auto">
          <a:xfrm>
            <a:off x="11800483" y="5473250"/>
            <a:ext cx="0" cy="244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Rectangle 51"/>
          <p:cNvSpPr>
            <a:spLocks noChangeArrowheads="1"/>
          </p:cNvSpPr>
          <p:nvPr/>
        </p:nvSpPr>
        <p:spPr bwMode="auto">
          <a:xfrm>
            <a:off x="10789245" y="2744337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行选择线</a:t>
            </a:r>
            <a:endParaRPr lang="zh-CN" altLang="en-US" sz="1400" b="1" baseline="-2500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3" name="Rectangle 52"/>
          <p:cNvSpPr>
            <a:spLocks noChangeArrowheads="1"/>
          </p:cNvSpPr>
          <p:nvPr/>
        </p:nvSpPr>
        <p:spPr bwMode="auto">
          <a:xfrm>
            <a:off x="9779595" y="4109587"/>
            <a:ext cx="377825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</a:rPr>
              <a:t>N</a:t>
            </a:r>
            <a:r>
              <a:rPr lang="en-US" altLang="zh-CN" sz="1400" b="1" baseline="30000">
                <a:latin typeface="Times New Roman" pitchFamily="18" charset="0"/>
              </a:rPr>
              <a:t>+</a:t>
            </a:r>
          </a:p>
        </p:txBody>
      </p:sp>
      <p:sp>
        <p:nvSpPr>
          <p:cNvPr id="144" name="Line 53"/>
          <p:cNvSpPr>
            <a:spLocks noChangeShapeType="1"/>
          </p:cNvSpPr>
          <p:nvPr/>
        </p:nvSpPr>
        <p:spPr bwMode="auto">
          <a:xfrm flipV="1">
            <a:off x="10940058" y="3079300"/>
            <a:ext cx="5762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Oval 54"/>
          <p:cNvSpPr>
            <a:spLocks noChangeArrowheads="1"/>
          </p:cNvSpPr>
          <p:nvPr/>
        </p:nvSpPr>
        <p:spPr bwMode="auto">
          <a:xfrm>
            <a:off x="11195645" y="3039612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Oval 55"/>
          <p:cNvSpPr>
            <a:spLocks noChangeArrowheads="1"/>
          </p:cNvSpPr>
          <p:nvPr/>
        </p:nvSpPr>
        <p:spPr bwMode="auto">
          <a:xfrm>
            <a:off x="11781433" y="3954012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" name="Line 56"/>
          <p:cNvSpPr>
            <a:spLocks noChangeShapeType="1"/>
          </p:cNvSpPr>
          <p:nvPr/>
        </p:nvSpPr>
        <p:spPr bwMode="auto">
          <a:xfrm flipH="1">
            <a:off x="11802070" y="3661912"/>
            <a:ext cx="0" cy="1130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Rectangle 57"/>
          <p:cNvSpPr>
            <a:spLocks noChangeArrowheads="1"/>
          </p:cNvSpPr>
          <p:nvPr/>
        </p:nvSpPr>
        <p:spPr bwMode="auto">
          <a:xfrm>
            <a:off x="10735320" y="3265037"/>
            <a:ext cx="449162" cy="3077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err="1" smtClean="0">
                <a:latin typeface="Times New Roman" pitchFamily="18" charset="0"/>
              </a:rPr>
              <a:t>V</a:t>
            </a:r>
            <a:r>
              <a:rPr lang="en-US" altLang="zh-CN" sz="1400" b="1" baseline="-25000" dirty="0" err="1" smtClean="0">
                <a:latin typeface="Times New Roman" pitchFamily="18" charset="0"/>
              </a:rPr>
              <a:t>bb</a:t>
            </a:r>
            <a:endParaRPr lang="en-US" altLang="zh-CN" sz="1400" b="1" baseline="-25000" dirty="0">
              <a:latin typeface="Times New Roman" pitchFamily="18" charset="0"/>
            </a:endParaRPr>
          </a:p>
        </p:txBody>
      </p:sp>
      <p:sp>
        <p:nvSpPr>
          <p:cNvPr id="149" name="Oval 58"/>
          <p:cNvSpPr>
            <a:spLocks noChangeArrowheads="1"/>
          </p:cNvSpPr>
          <p:nvPr/>
        </p:nvSpPr>
        <p:spPr bwMode="auto">
          <a:xfrm>
            <a:off x="10927358" y="3552375"/>
            <a:ext cx="50800" cy="6191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Line 59"/>
          <p:cNvSpPr>
            <a:spLocks noChangeShapeType="1"/>
          </p:cNvSpPr>
          <p:nvPr/>
        </p:nvSpPr>
        <p:spPr bwMode="auto">
          <a:xfrm>
            <a:off x="10859095" y="3582537"/>
            <a:ext cx="19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Line 60"/>
          <p:cNvSpPr>
            <a:spLocks noChangeShapeType="1"/>
          </p:cNvSpPr>
          <p:nvPr/>
        </p:nvSpPr>
        <p:spPr bwMode="auto">
          <a:xfrm>
            <a:off x="9336683" y="3782562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Line 61"/>
          <p:cNvSpPr>
            <a:spLocks noChangeShapeType="1"/>
          </p:cNvSpPr>
          <p:nvPr/>
        </p:nvSpPr>
        <p:spPr bwMode="auto">
          <a:xfrm>
            <a:off x="9343033" y="3782562"/>
            <a:ext cx="1441450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62"/>
          <p:cNvSpPr>
            <a:spLocks noChangeShapeType="1"/>
          </p:cNvSpPr>
          <p:nvPr/>
        </p:nvSpPr>
        <p:spPr bwMode="auto">
          <a:xfrm>
            <a:off x="10795595" y="3728587"/>
            <a:ext cx="0" cy="123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Line 63"/>
          <p:cNvSpPr>
            <a:spLocks noChangeShapeType="1"/>
          </p:cNvSpPr>
          <p:nvPr/>
        </p:nvSpPr>
        <p:spPr bwMode="auto">
          <a:xfrm>
            <a:off x="10951170" y="3611112"/>
            <a:ext cx="0" cy="120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Line 64"/>
          <p:cNvSpPr>
            <a:spLocks noChangeShapeType="1"/>
          </p:cNvSpPr>
          <p:nvPr/>
        </p:nvSpPr>
        <p:spPr bwMode="auto">
          <a:xfrm flipV="1">
            <a:off x="10859095" y="3722237"/>
            <a:ext cx="95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65"/>
          <p:cNvSpPr>
            <a:spLocks noChangeShapeType="1"/>
          </p:cNvSpPr>
          <p:nvPr/>
        </p:nvSpPr>
        <p:spPr bwMode="auto">
          <a:xfrm>
            <a:off x="10859095" y="3725412"/>
            <a:ext cx="0" cy="120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Line 66"/>
          <p:cNvSpPr>
            <a:spLocks noChangeShapeType="1"/>
          </p:cNvSpPr>
          <p:nvPr/>
        </p:nvSpPr>
        <p:spPr bwMode="auto">
          <a:xfrm flipV="1">
            <a:off x="10855920" y="3842887"/>
            <a:ext cx="95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Line 67"/>
          <p:cNvSpPr>
            <a:spLocks noChangeShapeType="1"/>
          </p:cNvSpPr>
          <p:nvPr/>
        </p:nvSpPr>
        <p:spPr bwMode="auto">
          <a:xfrm>
            <a:off x="10954345" y="3842887"/>
            <a:ext cx="0" cy="158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Line 68"/>
          <p:cNvSpPr>
            <a:spLocks noChangeShapeType="1"/>
          </p:cNvSpPr>
          <p:nvPr/>
        </p:nvSpPr>
        <p:spPr bwMode="auto">
          <a:xfrm>
            <a:off x="10951170" y="3995287"/>
            <a:ext cx="225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Line 69"/>
          <p:cNvSpPr>
            <a:spLocks noChangeShapeType="1"/>
          </p:cNvSpPr>
          <p:nvPr/>
        </p:nvSpPr>
        <p:spPr bwMode="auto">
          <a:xfrm flipV="1">
            <a:off x="11176595" y="3900037"/>
            <a:ext cx="0" cy="95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Line 70"/>
          <p:cNvSpPr>
            <a:spLocks noChangeShapeType="1"/>
          </p:cNvSpPr>
          <p:nvPr/>
        </p:nvSpPr>
        <p:spPr bwMode="auto">
          <a:xfrm>
            <a:off x="11176595" y="3900037"/>
            <a:ext cx="130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Line 71"/>
          <p:cNvSpPr>
            <a:spLocks noChangeShapeType="1"/>
          </p:cNvSpPr>
          <p:nvPr/>
        </p:nvSpPr>
        <p:spPr bwMode="auto">
          <a:xfrm>
            <a:off x="11306770" y="3900037"/>
            <a:ext cx="0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Line 72"/>
          <p:cNvSpPr>
            <a:spLocks noChangeShapeType="1"/>
          </p:cNvSpPr>
          <p:nvPr/>
        </p:nvSpPr>
        <p:spPr bwMode="auto">
          <a:xfrm flipV="1">
            <a:off x="11303595" y="3995287"/>
            <a:ext cx="501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Line 73"/>
          <p:cNvSpPr>
            <a:spLocks noChangeShapeType="1"/>
          </p:cNvSpPr>
          <p:nvPr/>
        </p:nvSpPr>
        <p:spPr bwMode="auto">
          <a:xfrm>
            <a:off x="11170245" y="386511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Line 74"/>
          <p:cNvSpPr>
            <a:spLocks noChangeShapeType="1"/>
          </p:cNvSpPr>
          <p:nvPr/>
        </p:nvSpPr>
        <p:spPr bwMode="auto">
          <a:xfrm>
            <a:off x="11230570" y="3090412"/>
            <a:ext cx="0" cy="771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Rectangle 75"/>
          <p:cNvSpPr>
            <a:spLocks noChangeArrowheads="1"/>
          </p:cNvSpPr>
          <p:nvPr/>
        </p:nvSpPr>
        <p:spPr bwMode="auto">
          <a:xfrm>
            <a:off x="9573220" y="3498400"/>
            <a:ext cx="1249363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放大晶体管</a:t>
            </a:r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T</a:t>
            </a:r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2</a:t>
            </a:r>
          </a:p>
        </p:txBody>
      </p:sp>
      <p:sp>
        <p:nvSpPr>
          <p:cNvPr id="167" name="Rectangle 76"/>
          <p:cNvSpPr>
            <a:spLocks noChangeArrowheads="1"/>
          </p:cNvSpPr>
          <p:nvPr/>
        </p:nvSpPr>
        <p:spPr bwMode="auto">
          <a:xfrm>
            <a:off x="10646370" y="3995287"/>
            <a:ext cx="895350" cy="5175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行选择晶</a:t>
            </a:r>
          </a:p>
          <a:p>
            <a:pPr algn="ctr"/>
            <a:r>
              <a:rPr lang="zh-CN" altLang="en-US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体管</a:t>
            </a:r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T</a:t>
            </a:r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3</a:t>
            </a:r>
          </a:p>
        </p:txBody>
      </p:sp>
      <p:sp>
        <p:nvSpPr>
          <p:cNvPr id="168" name="Rectangle 77"/>
          <p:cNvSpPr>
            <a:spLocks noChangeArrowheads="1"/>
          </p:cNvSpPr>
          <p:nvPr/>
        </p:nvSpPr>
        <p:spPr bwMode="auto">
          <a:xfrm>
            <a:off x="9135070" y="4315962"/>
            <a:ext cx="420688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</a:rPr>
              <a:t>FD</a:t>
            </a:r>
            <a:endParaRPr lang="en-US" altLang="zh-CN" sz="1400" b="1" baseline="30000">
              <a:latin typeface="Times New Roman" pitchFamily="18" charset="0"/>
            </a:endParaRPr>
          </a:p>
        </p:txBody>
      </p:sp>
      <p:sp>
        <p:nvSpPr>
          <p:cNvPr id="169" name="Oval 78"/>
          <p:cNvSpPr>
            <a:spLocks noChangeArrowheads="1"/>
          </p:cNvSpPr>
          <p:nvPr/>
        </p:nvSpPr>
        <p:spPr bwMode="auto">
          <a:xfrm>
            <a:off x="8762008" y="3055487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" name="Line 79"/>
          <p:cNvSpPr>
            <a:spLocks noChangeShapeType="1"/>
          </p:cNvSpPr>
          <p:nvPr/>
        </p:nvSpPr>
        <p:spPr bwMode="auto">
          <a:xfrm flipV="1">
            <a:off x="8520708" y="3095175"/>
            <a:ext cx="5762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Oval 80"/>
          <p:cNvSpPr>
            <a:spLocks noChangeArrowheads="1"/>
          </p:cNvSpPr>
          <p:nvPr/>
        </p:nvSpPr>
        <p:spPr bwMode="auto">
          <a:xfrm>
            <a:off x="8754070" y="3915912"/>
            <a:ext cx="69850" cy="80963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Line 81"/>
          <p:cNvSpPr>
            <a:spLocks noChangeShapeType="1"/>
          </p:cNvSpPr>
          <p:nvPr/>
        </p:nvSpPr>
        <p:spPr bwMode="auto">
          <a:xfrm flipH="1">
            <a:off x="8787408" y="3106287"/>
            <a:ext cx="6350" cy="854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Rectangle 82"/>
          <p:cNvSpPr>
            <a:spLocks noChangeArrowheads="1"/>
          </p:cNvSpPr>
          <p:nvPr/>
        </p:nvSpPr>
        <p:spPr bwMode="auto">
          <a:xfrm>
            <a:off x="8344495" y="2769737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行读出线</a:t>
            </a:r>
            <a:endParaRPr lang="zh-CN" altLang="en-US" sz="1400" b="1" baseline="-25000">
              <a:solidFill>
                <a:srgbClr val="0000CC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74" name="Line 83"/>
          <p:cNvSpPr>
            <a:spLocks noChangeShapeType="1"/>
          </p:cNvSpPr>
          <p:nvPr/>
        </p:nvSpPr>
        <p:spPr bwMode="auto">
          <a:xfrm flipV="1">
            <a:off x="8557220" y="3957187"/>
            <a:ext cx="479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Oval 84"/>
          <p:cNvSpPr>
            <a:spLocks noChangeArrowheads="1"/>
          </p:cNvSpPr>
          <p:nvPr/>
        </p:nvSpPr>
        <p:spPr bwMode="auto">
          <a:xfrm>
            <a:off x="9158883" y="3855587"/>
            <a:ext cx="55562" cy="5238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Line 85"/>
          <p:cNvSpPr>
            <a:spLocks noChangeShapeType="1"/>
          </p:cNvSpPr>
          <p:nvPr/>
        </p:nvSpPr>
        <p:spPr bwMode="auto">
          <a:xfrm flipH="1">
            <a:off x="9185870" y="3571425"/>
            <a:ext cx="4763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Rectangle 86"/>
          <p:cNvSpPr>
            <a:spLocks noChangeArrowheads="1"/>
          </p:cNvSpPr>
          <p:nvPr/>
        </p:nvSpPr>
        <p:spPr bwMode="auto">
          <a:xfrm>
            <a:off x="9069983" y="3884162"/>
            <a:ext cx="231775" cy="85725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87"/>
          <p:cNvSpPr>
            <a:spLocks noChangeArrowheads="1"/>
          </p:cNvSpPr>
          <p:nvPr/>
        </p:nvSpPr>
        <p:spPr bwMode="auto">
          <a:xfrm>
            <a:off x="9000133" y="3293612"/>
            <a:ext cx="376237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T</a:t>
            </a:r>
            <a:r>
              <a:rPr lang="en-US" altLang="zh-CN" sz="8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X</a:t>
            </a:r>
            <a:endParaRPr lang="en-US" altLang="zh-CN" sz="8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79" name="Rectangle 88"/>
          <p:cNvSpPr>
            <a:spLocks noChangeArrowheads="1"/>
          </p:cNvSpPr>
          <p:nvPr/>
        </p:nvSpPr>
        <p:spPr bwMode="auto">
          <a:xfrm>
            <a:off x="9016008" y="3806375"/>
            <a:ext cx="79375" cy="76200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0" name="Oval 89"/>
          <p:cNvSpPr>
            <a:spLocks noChangeArrowheads="1"/>
          </p:cNvSpPr>
          <p:nvPr/>
        </p:nvSpPr>
        <p:spPr bwMode="auto">
          <a:xfrm>
            <a:off x="9036645" y="3804787"/>
            <a:ext cx="98425" cy="9048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1" name="组合 190"/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84" name="文本框 60">
              <a:extLst>
                <a:ext uri="{FF2B5EF4-FFF2-40B4-BE49-F238E27FC236}">
                  <a16:creationId xmlns:a16="http://schemas.microsoft.com/office/drawing/2014/main" xmlns="" id="{791D85D7-F412-9C48-9F2B-E33F5B7B4F3C}"/>
                </a:ext>
              </a:extLst>
            </p:cNvPr>
            <p:cNvSpPr txBox="1"/>
            <p:nvPr/>
          </p:nvSpPr>
          <p:spPr>
            <a:xfrm>
              <a:off x="1364780" y="293282"/>
              <a:ext cx="493581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1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CMOS</a:t>
              </a:r>
              <a:r>
                <a:rPr lang="zh-CN" altLang="en-US" sz="18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成像器件的像敏单元的结构与工作原理</a:t>
              </a:r>
              <a:endPara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矩形 184"/>
            <p:cNvSpPr/>
            <p:nvPr/>
          </p:nvSpPr>
          <p:spPr>
            <a:xfrm>
              <a:off x="10256520" y="329189"/>
              <a:ext cx="1211081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xmlns="" id="{B0EA110F-2BA5-44F1-BDF2-A8AD51CC83F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: 圆角 25">
              <a:extLst>
                <a:ext uri="{FF2B5EF4-FFF2-40B4-BE49-F238E27FC236}">
                  <a16:creationId xmlns:a16="http://schemas.microsoft.com/office/drawing/2014/main" xmlns="" id="{D7400AB1-4BEC-40E5-A53B-E3CB1F48EB8A}"/>
                </a:ext>
              </a:extLst>
            </p:cNvPr>
            <p:cNvSpPr/>
            <p:nvPr/>
          </p:nvSpPr>
          <p:spPr>
            <a:xfrm>
              <a:off x="289560" y="293282"/>
              <a:ext cx="995065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.4.1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8" name="直接连接符 58">
              <a:extLst>
                <a:ext uri="{FF2B5EF4-FFF2-40B4-BE49-F238E27FC236}">
                  <a16:creationId xmlns:a16="http://schemas.microsoft.com/office/drawing/2014/main" xmlns="" id="{8C5F82EF-52B4-4531-96F0-44689EA11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xmlns="" id="{82FE0EE3-DD34-4ECD-AB99-E9089285A34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xmlns="" id="{942CFC6A-A6DB-0F43-9829-C9244014588C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391055" y="2412732"/>
            <a:ext cx="4997856" cy="1308884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在积分结束时，光敏二极管上的积聚电荷被转移到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FD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节点。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054546" y="5672915"/>
            <a:ext cx="8431213" cy="52322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然后被转移的电荷与</a:t>
            </a:r>
            <a:r>
              <a:rPr lang="en-US" altLang="zh-CN" sz="28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3-T</a:t>
            </a:r>
            <a:r>
              <a:rPr lang="zh-CN" altLang="en-US" sz="28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结构一样以电压的方式读取。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056438" y="1998663"/>
            <a:ext cx="3884613" cy="25844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8318501" y="2438401"/>
            <a:ext cx="584200" cy="2984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baseline="-25000">
                <a:latin typeface="Times New Roman" pitchFamily="18" charset="0"/>
                <a:ea typeface="微软雅黑" pitchFamily="34" charset="-122"/>
              </a:rPr>
              <a:t>Reset</a:t>
            </a:r>
            <a:endParaRPr lang="zh-CN" altLang="en-US" sz="20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3" name="Rectangle 30"/>
          <p:cNvSpPr>
            <a:spLocks noChangeArrowheads="1"/>
          </p:cNvSpPr>
          <p:nvPr/>
        </p:nvSpPr>
        <p:spPr bwMode="auto">
          <a:xfrm>
            <a:off x="9564688" y="3006726"/>
            <a:ext cx="403225" cy="2984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baseline="-25000">
                <a:latin typeface="Times New Roman" pitchFamily="18" charset="0"/>
                <a:ea typeface="微软雅黑" pitchFamily="34" charset="-122"/>
              </a:rPr>
              <a:t>RS</a:t>
            </a:r>
            <a:endParaRPr lang="zh-CN" altLang="en-US" sz="20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9766301" y="4132263"/>
            <a:ext cx="747712" cy="29686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</a:rPr>
              <a:t>APS 4T</a:t>
            </a:r>
            <a:endParaRPr lang="zh-CN" altLang="en-US" sz="2000" b="1" baseline="-250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7192963" y="3694113"/>
            <a:ext cx="2341563" cy="822325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Freeform 7"/>
          <p:cNvSpPr>
            <a:spLocks/>
          </p:cNvSpPr>
          <p:nvPr/>
        </p:nvSpPr>
        <p:spPr bwMode="auto">
          <a:xfrm>
            <a:off x="7285038" y="3700463"/>
            <a:ext cx="1060450" cy="539750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V="1">
            <a:off x="7191376" y="4532313"/>
            <a:ext cx="2343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7196138" y="3694113"/>
            <a:ext cx="2343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7646988" y="4157663"/>
            <a:ext cx="452438" cy="400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P</a:t>
            </a:r>
            <a:endParaRPr lang="zh-CN" altLang="en-US" sz="2000" b="1">
              <a:latin typeface="Times New Roman" pitchFamily="18" charset="0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7615238" y="3911601"/>
            <a:ext cx="766763" cy="400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N</a:t>
            </a:r>
            <a:r>
              <a:rPr lang="en-US" altLang="zh-CN" sz="2000" b="1" baseline="30000">
                <a:latin typeface="Times New Roman" pitchFamily="18" charset="0"/>
              </a:rPr>
              <a:t>+</a:t>
            </a:r>
            <a:endParaRPr lang="zh-CN" altLang="en-US" sz="2000" b="1" baseline="30000">
              <a:latin typeface="Times New Roman" pitchFamily="18" charset="0"/>
            </a:endParaRPr>
          </a:p>
        </p:txBody>
      </p:sp>
      <p:sp>
        <p:nvSpPr>
          <p:cNvPr id="21" name="Freeform 7"/>
          <p:cNvSpPr>
            <a:spLocks/>
          </p:cNvSpPr>
          <p:nvPr/>
        </p:nvSpPr>
        <p:spPr bwMode="auto">
          <a:xfrm>
            <a:off x="9109076" y="3700463"/>
            <a:ext cx="403225" cy="209550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7"/>
          <p:cNvSpPr>
            <a:spLocks/>
          </p:cNvSpPr>
          <p:nvPr/>
        </p:nvSpPr>
        <p:spPr bwMode="auto">
          <a:xfrm>
            <a:off x="7296151" y="3700463"/>
            <a:ext cx="989012" cy="282575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339" y="0"/>
              </a:cxn>
              <a:cxn ang="0">
                <a:pos x="339" y="48"/>
              </a:cxn>
              <a:cxn ang="0">
                <a:pos x="312" y="78"/>
              </a:cxn>
              <a:cxn ang="0">
                <a:pos x="222" y="99"/>
              </a:cxn>
              <a:cxn ang="0">
                <a:pos x="126" y="102"/>
              </a:cxn>
              <a:cxn ang="0">
                <a:pos x="48" y="90"/>
              </a:cxn>
              <a:cxn ang="0">
                <a:pos x="0" y="63"/>
              </a:cxn>
              <a:cxn ang="0">
                <a:pos x="3" y="0"/>
              </a:cxn>
            </a:cxnLst>
            <a:rect l="0" t="0" r="r" b="b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7642226" y="3638551"/>
            <a:ext cx="766762" cy="400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P</a:t>
            </a:r>
            <a:r>
              <a:rPr lang="en-US" altLang="zh-CN" sz="2000" b="1" baseline="30000">
                <a:latin typeface="Times New Roman" pitchFamily="18" charset="0"/>
              </a:rPr>
              <a:t>+</a:t>
            </a:r>
            <a:endParaRPr lang="zh-CN" altLang="en-US" sz="2000" b="1" baseline="30000">
              <a:latin typeface="Times New Roman" pitchFamily="18" charset="0"/>
            </a:endParaRP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 flipV="1">
            <a:off x="7191376" y="3635376"/>
            <a:ext cx="2343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9244013" y="3254376"/>
            <a:ext cx="766763" cy="400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FD</a:t>
            </a:r>
            <a:endParaRPr lang="zh-CN" altLang="en-US" sz="2000" b="1" baseline="-25000">
              <a:latin typeface="Times New Roman" pitchFamily="18" charset="0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8435976" y="2984501"/>
            <a:ext cx="766762" cy="400050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T</a:t>
            </a:r>
            <a:r>
              <a:rPr lang="en-US" altLang="zh-CN" sz="2000" b="1" baseline="-25000">
                <a:latin typeface="Times New Roman" pitchFamily="18" charset="0"/>
              </a:rPr>
              <a:t>X</a:t>
            </a:r>
            <a:endParaRPr lang="zh-CN" altLang="en-US" sz="2000" b="1" baseline="-25000">
              <a:latin typeface="Times New Roman" pitchFamily="18" charset="0"/>
            </a:endParaRPr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9523413" y="3603626"/>
            <a:ext cx="1230313" cy="4000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Pinned Diode</a:t>
            </a:r>
            <a:r>
              <a:rPr lang="en-US" altLang="zh-CN" sz="20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 </a:t>
            </a:r>
            <a:endParaRPr lang="zh-CN" altLang="en-US" sz="20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rot="10800000" flipV="1">
            <a:off x="9537701" y="4125913"/>
            <a:ext cx="563562" cy="31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rot="16200000" flipH="1">
            <a:off x="10177463" y="3298826"/>
            <a:ext cx="139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0234613" y="3368676"/>
            <a:ext cx="71596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8469313" y="3529013"/>
            <a:ext cx="577850" cy="825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10064751" y="2625726"/>
            <a:ext cx="190500" cy="476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667751" y="2089151"/>
            <a:ext cx="197643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rot="16200000" flipH="1">
            <a:off x="8972551" y="2357438"/>
            <a:ext cx="5270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072563" y="2616201"/>
            <a:ext cx="16986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rot="16200000" flipH="1">
            <a:off x="8889207" y="2801145"/>
            <a:ext cx="3698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rot="5400000">
            <a:off x="8819357" y="2805907"/>
            <a:ext cx="382587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8751888" y="2806701"/>
            <a:ext cx="25876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rot="5400000">
            <a:off x="10194926" y="2187576"/>
            <a:ext cx="1333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0058401" y="2254251"/>
            <a:ext cx="2032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rot="5400000">
            <a:off x="9878219" y="2440782"/>
            <a:ext cx="3714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rot="5400000">
            <a:off x="9805194" y="2429670"/>
            <a:ext cx="3714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9242426" y="3168651"/>
            <a:ext cx="196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428163" y="2424113"/>
            <a:ext cx="5683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16200000" flipH="1">
            <a:off x="9052719" y="2788445"/>
            <a:ext cx="7381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10058401" y="2868613"/>
            <a:ext cx="2032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rot="5400000">
            <a:off x="9888538" y="3059113"/>
            <a:ext cx="37147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rot="5400000">
            <a:off x="9805194" y="3048795"/>
            <a:ext cx="3714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rot="5400000">
            <a:off x="10118726" y="2738438"/>
            <a:ext cx="260350" cy="63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rot="5400000">
            <a:off x="8608220" y="3490119"/>
            <a:ext cx="260350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9782176" y="3059113"/>
            <a:ext cx="2032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rot="16200000" flipH="1">
            <a:off x="8930482" y="3293270"/>
            <a:ext cx="6556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8678863" y="2765426"/>
            <a:ext cx="80963" cy="7461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9698038" y="3022601"/>
            <a:ext cx="80963" cy="7461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55" name="直接箭头连接符 54"/>
          <p:cNvCxnSpPr/>
          <p:nvPr/>
        </p:nvCxnSpPr>
        <p:spPr>
          <a:xfrm flipV="1">
            <a:off x="10071101" y="3243263"/>
            <a:ext cx="192087" cy="476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9088438" y="2976563"/>
            <a:ext cx="192088" cy="476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886326" y="2375694"/>
            <a:ext cx="296862" cy="1270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827338" y="1931194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865438" y="1931194"/>
            <a:ext cx="3175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944813" y="1937544"/>
            <a:ext cx="234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3182938" y="1923257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3190876" y="2320132"/>
            <a:ext cx="8810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4670426" y="2047082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889501" y="2372519"/>
            <a:ext cx="29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202238" y="1937544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 rot="16200000">
            <a:off x="2714626" y="2215357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4298951" y="3982244"/>
            <a:ext cx="871537" cy="134938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4302126" y="3964782"/>
            <a:ext cx="857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5165726" y="3591719"/>
            <a:ext cx="1587" cy="523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5167313" y="3594894"/>
            <a:ext cx="1539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4816476" y="4018757"/>
            <a:ext cx="136525" cy="107950"/>
          </a:xfrm>
          <a:prstGeom prst="rect">
            <a:avLst/>
          </a:prstGeom>
          <a:solidFill>
            <a:schemeClr val="bg2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V="1">
            <a:off x="4816476" y="4017169"/>
            <a:ext cx="1349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4822826" y="4013994"/>
            <a:ext cx="0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4946651" y="4013994"/>
            <a:ext cx="0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5313363" y="1896269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开始储存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4356101" y="2456657"/>
            <a:ext cx="16065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储存（曝光）期间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5299076" y="2844007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储存完毕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5365751" y="3701257"/>
            <a:ext cx="776287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>
                <a:latin typeface="Times New Roman" pitchFamily="18" charset="0"/>
                <a:ea typeface="微软雅黑" pitchFamily="34" charset="-122"/>
              </a:rPr>
              <a:t>FD</a:t>
            </a:r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复位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5165726" y="4380707"/>
            <a:ext cx="12509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复位信号输出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32" name="Freeform 30"/>
          <p:cNvSpPr>
            <a:spLocks/>
          </p:cNvSpPr>
          <p:nvPr/>
        </p:nvSpPr>
        <p:spPr bwMode="auto">
          <a:xfrm>
            <a:off x="4264026" y="2551907"/>
            <a:ext cx="160337" cy="192087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31"/>
          <p:cNvSpPr>
            <a:spLocks/>
          </p:cNvSpPr>
          <p:nvPr/>
        </p:nvSpPr>
        <p:spPr bwMode="auto">
          <a:xfrm>
            <a:off x="4268788" y="3393282"/>
            <a:ext cx="160338" cy="192087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32"/>
          <p:cNvSpPr>
            <a:spLocks/>
          </p:cNvSpPr>
          <p:nvPr/>
        </p:nvSpPr>
        <p:spPr bwMode="auto">
          <a:xfrm>
            <a:off x="4264026" y="4188619"/>
            <a:ext cx="160337" cy="192088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33"/>
          <p:cNvSpPr>
            <a:spLocks/>
          </p:cNvSpPr>
          <p:nvPr/>
        </p:nvSpPr>
        <p:spPr bwMode="auto">
          <a:xfrm>
            <a:off x="2590801" y="2155032"/>
            <a:ext cx="260350" cy="2908300"/>
          </a:xfrm>
          <a:custGeom>
            <a:avLst/>
            <a:gdLst>
              <a:gd name="T0" fmla="*/ 2147483647 w 164"/>
              <a:gd name="T1" fmla="*/ 2147483647 h 1832"/>
              <a:gd name="T2" fmla="*/ 2147483647 w 164"/>
              <a:gd name="T3" fmla="*/ 2147483647 h 1832"/>
              <a:gd name="T4" fmla="*/ 2147483647 w 164"/>
              <a:gd name="T5" fmla="*/ 2147483647 h 1832"/>
              <a:gd name="T6" fmla="*/ 2147483647 w 164"/>
              <a:gd name="T7" fmla="*/ 2147483647 h 1832"/>
              <a:gd name="T8" fmla="*/ 0 w 164"/>
              <a:gd name="T9" fmla="*/ 2147483647 h 1832"/>
              <a:gd name="T10" fmla="*/ 2147483647 w 164"/>
              <a:gd name="T11" fmla="*/ 2147483647 h 1832"/>
              <a:gd name="T12" fmla="*/ 2147483647 w 164"/>
              <a:gd name="T13" fmla="*/ 0 h 1832"/>
              <a:gd name="T14" fmla="*/ 2147483647 w 164"/>
              <a:gd name="T15" fmla="*/ 2147483647 h 1832"/>
              <a:gd name="T16" fmla="*/ 2147483647 w 164"/>
              <a:gd name="T17" fmla="*/ 2147483647 h 1832"/>
              <a:gd name="T18" fmla="*/ 2147483647 w 164"/>
              <a:gd name="T19" fmla="*/ 2147483647 h 1832"/>
              <a:gd name="T20" fmla="*/ 2147483647 w 164"/>
              <a:gd name="T21" fmla="*/ 2147483647 h 1832"/>
              <a:gd name="T22" fmla="*/ 2147483647 w 164"/>
              <a:gd name="T23" fmla="*/ 2147483647 h 183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64"/>
              <a:gd name="T37" fmla="*/ 0 h 1832"/>
              <a:gd name="T38" fmla="*/ 164 w 164"/>
              <a:gd name="T39" fmla="*/ 1832 h 1832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64" h="1832">
                <a:moveTo>
                  <a:pt x="64" y="1772"/>
                </a:moveTo>
                <a:lnTo>
                  <a:pt x="144" y="1772"/>
                </a:lnTo>
                <a:lnTo>
                  <a:pt x="144" y="1832"/>
                </a:lnTo>
                <a:lnTo>
                  <a:pt x="4" y="1828"/>
                </a:lnTo>
                <a:lnTo>
                  <a:pt x="0" y="36"/>
                </a:lnTo>
                <a:lnTo>
                  <a:pt x="96" y="40"/>
                </a:lnTo>
                <a:lnTo>
                  <a:pt x="96" y="0"/>
                </a:lnTo>
                <a:lnTo>
                  <a:pt x="164" y="68"/>
                </a:lnTo>
                <a:lnTo>
                  <a:pt x="104" y="132"/>
                </a:lnTo>
                <a:lnTo>
                  <a:pt x="104" y="92"/>
                </a:lnTo>
                <a:lnTo>
                  <a:pt x="56" y="92"/>
                </a:lnTo>
                <a:lnTo>
                  <a:pt x="64" y="1772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4064001" y="2069307"/>
            <a:ext cx="0" cy="268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 flipV="1">
            <a:off x="4065588" y="2069307"/>
            <a:ext cx="261938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4327526" y="2066132"/>
            <a:ext cx="0" cy="439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 flipV="1">
            <a:off x="4335463" y="2340769"/>
            <a:ext cx="334963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4665663" y="2045494"/>
            <a:ext cx="0" cy="463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4883151" y="2043907"/>
            <a:ext cx="0" cy="4619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 flipH="1">
            <a:off x="5191126" y="1937544"/>
            <a:ext cx="0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41"/>
          <p:cNvSpPr>
            <a:spLocks noChangeArrowheads="1"/>
          </p:cNvSpPr>
          <p:nvPr/>
        </p:nvSpPr>
        <p:spPr bwMode="auto">
          <a:xfrm>
            <a:off x="4337051" y="2355057"/>
            <a:ext cx="320675" cy="150812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4887913" y="3215482"/>
            <a:ext cx="296863" cy="1270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2828926" y="2770982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>
            <a:off x="2867026" y="2770982"/>
            <a:ext cx="3175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>
            <a:off x="2946401" y="2777332"/>
            <a:ext cx="234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3184526" y="2763044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3192463" y="3159919"/>
            <a:ext cx="881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4672013" y="2886869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>
            <a:off x="4891088" y="3212307"/>
            <a:ext cx="292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>
            <a:off x="5203826" y="2777332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 rot="16200000">
            <a:off x="2716213" y="2934494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4065588" y="2909094"/>
            <a:ext cx="0" cy="2682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Line 53"/>
          <p:cNvSpPr>
            <a:spLocks noChangeShapeType="1"/>
          </p:cNvSpPr>
          <p:nvPr/>
        </p:nvSpPr>
        <p:spPr bwMode="auto">
          <a:xfrm flipV="1">
            <a:off x="4067176" y="2909094"/>
            <a:ext cx="261937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Line 54"/>
          <p:cNvSpPr>
            <a:spLocks noChangeShapeType="1"/>
          </p:cNvSpPr>
          <p:nvPr/>
        </p:nvSpPr>
        <p:spPr bwMode="auto">
          <a:xfrm>
            <a:off x="4329113" y="2905919"/>
            <a:ext cx="0" cy="4397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ine 55"/>
          <p:cNvSpPr>
            <a:spLocks noChangeShapeType="1"/>
          </p:cNvSpPr>
          <p:nvPr/>
        </p:nvSpPr>
        <p:spPr bwMode="auto">
          <a:xfrm flipV="1">
            <a:off x="4337051" y="3180557"/>
            <a:ext cx="334962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4667251" y="2885282"/>
            <a:ext cx="0" cy="463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Line 57"/>
          <p:cNvSpPr>
            <a:spLocks noChangeShapeType="1"/>
          </p:cNvSpPr>
          <p:nvPr/>
        </p:nvSpPr>
        <p:spPr bwMode="auto">
          <a:xfrm>
            <a:off x="4884738" y="2883694"/>
            <a:ext cx="0" cy="4619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 flipH="1">
            <a:off x="5192713" y="2777332"/>
            <a:ext cx="0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59"/>
          <p:cNvSpPr>
            <a:spLocks noChangeArrowheads="1"/>
          </p:cNvSpPr>
          <p:nvPr/>
        </p:nvSpPr>
        <p:spPr bwMode="auto">
          <a:xfrm>
            <a:off x="4338638" y="3194844"/>
            <a:ext cx="320675" cy="150813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Rectangle 60"/>
          <p:cNvSpPr>
            <a:spLocks noChangeArrowheads="1"/>
          </p:cNvSpPr>
          <p:nvPr/>
        </p:nvSpPr>
        <p:spPr bwMode="auto">
          <a:xfrm>
            <a:off x="3197226" y="2982119"/>
            <a:ext cx="860425" cy="1651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Rectangle 61"/>
          <p:cNvSpPr>
            <a:spLocks noChangeArrowheads="1"/>
          </p:cNvSpPr>
          <p:nvPr/>
        </p:nvSpPr>
        <p:spPr bwMode="auto">
          <a:xfrm>
            <a:off x="3168651" y="2613819"/>
            <a:ext cx="8953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信号电荷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64" name="Line 62"/>
          <p:cNvSpPr>
            <a:spLocks noChangeShapeType="1"/>
          </p:cNvSpPr>
          <p:nvPr/>
        </p:nvSpPr>
        <p:spPr bwMode="auto">
          <a:xfrm>
            <a:off x="2808288" y="3559969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Line 63"/>
          <p:cNvSpPr>
            <a:spLocks noChangeShapeType="1"/>
          </p:cNvSpPr>
          <p:nvPr/>
        </p:nvSpPr>
        <p:spPr bwMode="auto">
          <a:xfrm>
            <a:off x="2846388" y="3559969"/>
            <a:ext cx="3175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Line 64"/>
          <p:cNvSpPr>
            <a:spLocks noChangeShapeType="1"/>
          </p:cNvSpPr>
          <p:nvPr/>
        </p:nvSpPr>
        <p:spPr bwMode="auto">
          <a:xfrm>
            <a:off x="2925763" y="3566319"/>
            <a:ext cx="234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Line 65"/>
          <p:cNvSpPr>
            <a:spLocks noChangeShapeType="1"/>
          </p:cNvSpPr>
          <p:nvPr/>
        </p:nvSpPr>
        <p:spPr bwMode="auto">
          <a:xfrm>
            <a:off x="3163888" y="3552032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3171826" y="3948907"/>
            <a:ext cx="8810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Rectangle 67"/>
          <p:cNvSpPr>
            <a:spLocks noChangeArrowheads="1"/>
          </p:cNvSpPr>
          <p:nvPr/>
        </p:nvSpPr>
        <p:spPr bwMode="auto">
          <a:xfrm rot="16200000">
            <a:off x="2695576" y="3723482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70" name="Line 68"/>
          <p:cNvSpPr>
            <a:spLocks noChangeShapeType="1"/>
          </p:cNvSpPr>
          <p:nvPr/>
        </p:nvSpPr>
        <p:spPr bwMode="auto">
          <a:xfrm>
            <a:off x="4044951" y="3698082"/>
            <a:ext cx="0" cy="268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auto">
          <a:xfrm flipV="1">
            <a:off x="4046538" y="3698082"/>
            <a:ext cx="261938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Line 70"/>
          <p:cNvSpPr>
            <a:spLocks noChangeShapeType="1"/>
          </p:cNvSpPr>
          <p:nvPr/>
        </p:nvSpPr>
        <p:spPr bwMode="auto">
          <a:xfrm>
            <a:off x="4308476" y="3694907"/>
            <a:ext cx="0" cy="439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 71"/>
          <p:cNvSpPr>
            <a:spLocks noChangeArrowheads="1"/>
          </p:cNvSpPr>
          <p:nvPr/>
        </p:nvSpPr>
        <p:spPr bwMode="auto">
          <a:xfrm>
            <a:off x="3176588" y="3761582"/>
            <a:ext cx="850900" cy="165100"/>
          </a:xfrm>
          <a:prstGeom prst="rect">
            <a:avLst/>
          </a:prstGeom>
          <a:solidFill>
            <a:srgbClr val="C0C0C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72"/>
          <p:cNvSpPr>
            <a:spLocks noChangeShapeType="1"/>
          </p:cNvSpPr>
          <p:nvPr/>
        </p:nvSpPr>
        <p:spPr bwMode="auto">
          <a:xfrm>
            <a:off x="2825751" y="4294982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Line 73"/>
          <p:cNvSpPr>
            <a:spLocks noChangeShapeType="1"/>
          </p:cNvSpPr>
          <p:nvPr/>
        </p:nvSpPr>
        <p:spPr bwMode="auto">
          <a:xfrm>
            <a:off x="2863851" y="4294982"/>
            <a:ext cx="3175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Line 74"/>
          <p:cNvSpPr>
            <a:spLocks noChangeShapeType="1"/>
          </p:cNvSpPr>
          <p:nvPr/>
        </p:nvSpPr>
        <p:spPr bwMode="auto">
          <a:xfrm>
            <a:off x="2943226" y="4301332"/>
            <a:ext cx="234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Line 75"/>
          <p:cNvSpPr>
            <a:spLocks noChangeShapeType="1"/>
          </p:cNvSpPr>
          <p:nvPr/>
        </p:nvSpPr>
        <p:spPr bwMode="auto">
          <a:xfrm>
            <a:off x="3181351" y="4287044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Line 76"/>
          <p:cNvSpPr>
            <a:spLocks noChangeShapeType="1"/>
          </p:cNvSpPr>
          <p:nvPr/>
        </p:nvSpPr>
        <p:spPr bwMode="auto">
          <a:xfrm>
            <a:off x="3189288" y="4683919"/>
            <a:ext cx="881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Rectangle 77"/>
          <p:cNvSpPr>
            <a:spLocks noChangeArrowheads="1"/>
          </p:cNvSpPr>
          <p:nvPr/>
        </p:nvSpPr>
        <p:spPr bwMode="auto">
          <a:xfrm rot="16200000">
            <a:off x="2713038" y="4458494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80" name="Line 78"/>
          <p:cNvSpPr>
            <a:spLocks noChangeShapeType="1"/>
          </p:cNvSpPr>
          <p:nvPr/>
        </p:nvSpPr>
        <p:spPr bwMode="auto">
          <a:xfrm>
            <a:off x="4062413" y="4433094"/>
            <a:ext cx="0" cy="2682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Line 79"/>
          <p:cNvSpPr>
            <a:spLocks noChangeShapeType="1"/>
          </p:cNvSpPr>
          <p:nvPr/>
        </p:nvSpPr>
        <p:spPr bwMode="auto">
          <a:xfrm flipV="1">
            <a:off x="4064001" y="4433094"/>
            <a:ext cx="261937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Line 80"/>
          <p:cNvSpPr>
            <a:spLocks noChangeShapeType="1"/>
          </p:cNvSpPr>
          <p:nvPr/>
        </p:nvSpPr>
        <p:spPr bwMode="auto">
          <a:xfrm>
            <a:off x="4325938" y="4429919"/>
            <a:ext cx="0" cy="4397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81"/>
          <p:cNvSpPr>
            <a:spLocks noChangeArrowheads="1"/>
          </p:cNvSpPr>
          <p:nvPr/>
        </p:nvSpPr>
        <p:spPr bwMode="auto">
          <a:xfrm>
            <a:off x="3194051" y="4515644"/>
            <a:ext cx="850900" cy="165100"/>
          </a:xfrm>
          <a:prstGeom prst="rect">
            <a:avLst/>
          </a:prstGeom>
          <a:solidFill>
            <a:srgbClr val="C0C0C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Line 82"/>
          <p:cNvSpPr>
            <a:spLocks noChangeShapeType="1"/>
          </p:cNvSpPr>
          <p:nvPr/>
        </p:nvSpPr>
        <p:spPr bwMode="auto">
          <a:xfrm>
            <a:off x="3179763" y="4509294"/>
            <a:ext cx="87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83"/>
          <p:cNvSpPr>
            <a:spLocks noChangeArrowheads="1"/>
          </p:cNvSpPr>
          <p:nvPr/>
        </p:nvSpPr>
        <p:spPr bwMode="auto">
          <a:xfrm>
            <a:off x="4868863" y="4758532"/>
            <a:ext cx="296863" cy="1270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Line 84"/>
          <p:cNvSpPr>
            <a:spLocks noChangeShapeType="1"/>
          </p:cNvSpPr>
          <p:nvPr/>
        </p:nvSpPr>
        <p:spPr bwMode="auto">
          <a:xfrm>
            <a:off x="4652963" y="4429919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Line 85"/>
          <p:cNvSpPr>
            <a:spLocks noChangeShapeType="1"/>
          </p:cNvSpPr>
          <p:nvPr/>
        </p:nvSpPr>
        <p:spPr bwMode="auto">
          <a:xfrm>
            <a:off x="5184776" y="4320382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Line 86"/>
          <p:cNvSpPr>
            <a:spLocks noChangeShapeType="1"/>
          </p:cNvSpPr>
          <p:nvPr/>
        </p:nvSpPr>
        <p:spPr bwMode="auto">
          <a:xfrm flipV="1">
            <a:off x="4318001" y="4723607"/>
            <a:ext cx="334962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Line 87"/>
          <p:cNvSpPr>
            <a:spLocks noChangeShapeType="1"/>
          </p:cNvSpPr>
          <p:nvPr/>
        </p:nvSpPr>
        <p:spPr bwMode="auto">
          <a:xfrm>
            <a:off x="4648201" y="4428332"/>
            <a:ext cx="0" cy="463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Line 88"/>
          <p:cNvSpPr>
            <a:spLocks noChangeShapeType="1"/>
          </p:cNvSpPr>
          <p:nvPr/>
        </p:nvSpPr>
        <p:spPr bwMode="auto">
          <a:xfrm>
            <a:off x="4865688" y="4426744"/>
            <a:ext cx="0" cy="4619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Line 89"/>
          <p:cNvSpPr>
            <a:spLocks noChangeShapeType="1"/>
          </p:cNvSpPr>
          <p:nvPr/>
        </p:nvSpPr>
        <p:spPr bwMode="auto">
          <a:xfrm flipH="1">
            <a:off x="5173663" y="4320382"/>
            <a:ext cx="0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Rectangle 90"/>
          <p:cNvSpPr>
            <a:spLocks noChangeArrowheads="1"/>
          </p:cNvSpPr>
          <p:nvPr/>
        </p:nvSpPr>
        <p:spPr bwMode="auto">
          <a:xfrm>
            <a:off x="4319588" y="4737894"/>
            <a:ext cx="320675" cy="150813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Rectangle 91"/>
          <p:cNvSpPr>
            <a:spLocks noChangeArrowheads="1"/>
          </p:cNvSpPr>
          <p:nvPr/>
        </p:nvSpPr>
        <p:spPr bwMode="auto">
          <a:xfrm>
            <a:off x="4881563" y="5517357"/>
            <a:ext cx="296863" cy="127000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92"/>
          <p:cNvSpPr>
            <a:spLocks noChangeShapeType="1"/>
          </p:cNvSpPr>
          <p:nvPr/>
        </p:nvSpPr>
        <p:spPr bwMode="auto">
          <a:xfrm>
            <a:off x="4665663" y="5188744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Line 93"/>
          <p:cNvSpPr>
            <a:spLocks noChangeShapeType="1"/>
          </p:cNvSpPr>
          <p:nvPr/>
        </p:nvSpPr>
        <p:spPr bwMode="auto">
          <a:xfrm>
            <a:off x="5197476" y="5079207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Line 94"/>
          <p:cNvSpPr>
            <a:spLocks noChangeShapeType="1"/>
          </p:cNvSpPr>
          <p:nvPr/>
        </p:nvSpPr>
        <p:spPr bwMode="auto">
          <a:xfrm flipV="1">
            <a:off x="4330701" y="5482432"/>
            <a:ext cx="334962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Line 95"/>
          <p:cNvSpPr>
            <a:spLocks noChangeShapeType="1"/>
          </p:cNvSpPr>
          <p:nvPr/>
        </p:nvSpPr>
        <p:spPr bwMode="auto">
          <a:xfrm>
            <a:off x="4660901" y="5187157"/>
            <a:ext cx="0" cy="4635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Line 96"/>
          <p:cNvSpPr>
            <a:spLocks noChangeShapeType="1"/>
          </p:cNvSpPr>
          <p:nvPr/>
        </p:nvSpPr>
        <p:spPr bwMode="auto">
          <a:xfrm>
            <a:off x="4878388" y="5185569"/>
            <a:ext cx="0" cy="4619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Line 97"/>
          <p:cNvSpPr>
            <a:spLocks noChangeShapeType="1"/>
          </p:cNvSpPr>
          <p:nvPr/>
        </p:nvSpPr>
        <p:spPr bwMode="auto">
          <a:xfrm flipH="1">
            <a:off x="5186363" y="5079207"/>
            <a:ext cx="0" cy="561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Rectangle 98"/>
          <p:cNvSpPr>
            <a:spLocks noChangeArrowheads="1"/>
          </p:cNvSpPr>
          <p:nvPr/>
        </p:nvSpPr>
        <p:spPr bwMode="auto">
          <a:xfrm>
            <a:off x="4325938" y="5496719"/>
            <a:ext cx="327025" cy="150813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Rectangle 99"/>
          <p:cNvSpPr>
            <a:spLocks noChangeArrowheads="1"/>
          </p:cNvSpPr>
          <p:nvPr/>
        </p:nvSpPr>
        <p:spPr bwMode="auto">
          <a:xfrm>
            <a:off x="4322763" y="5387182"/>
            <a:ext cx="325438" cy="103187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Line 100"/>
          <p:cNvSpPr>
            <a:spLocks noChangeShapeType="1"/>
          </p:cNvSpPr>
          <p:nvPr/>
        </p:nvSpPr>
        <p:spPr bwMode="auto">
          <a:xfrm>
            <a:off x="4325938" y="5391944"/>
            <a:ext cx="3381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Line 101"/>
          <p:cNvSpPr>
            <a:spLocks noChangeShapeType="1"/>
          </p:cNvSpPr>
          <p:nvPr/>
        </p:nvSpPr>
        <p:spPr bwMode="auto">
          <a:xfrm>
            <a:off x="4316413" y="5493544"/>
            <a:ext cx="347663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102"/>
          <p:cNvSpPr>
            <a:spLocks noChangeShapeType="1"/>
          </p:cNvSpPr>
          <p:nvPr/>
        </p:nvSpPr>
        <p:spPr bwMode="auto">
          <a:xfrm>
            <a:off x="4311651" y="5233194"/>
            <a:ext cx="0" cy="407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Line 103"/>
          <p:cNvSpPr>
            <a:spLocks noChangeShapeType="1"/>
          </p:cNvSpPr>
          <p:nvPr/>
        </p:nvSpPr>
        <p:spPr bwMode="auto">
          <a:xfrm flipV="1">
            <a:off x="4051301" y="5231607"/>
            <a:ext cx="266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Line 104"/>
          <p:cNvSpPr>
            <a:spLocks noChangeShapeType="1"/>
          </p:cNvSpPr>
          <p:nvPr/>
        </p:nvSpPr>
        <p:spPr bwMode="auto">
          <a:xfrm>
            <a:off x="4051301" y="5174457"/>
            <a:ext cx="0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105"/>
          <p:cNvSpPr>
            <a:spLocks noChangeShapeType="1"/>
          </p:cNvSpPr>
          <p:nvPr/>
        </p:nvSpPr>
        <p:spPr bwMode="auto">
          <a:xfrm>
            <a:off x="3187701" y="5179219"/>
            <a:ext cx="866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106"/>
          <p:cNvSpPr>
            <a:spLocks noChangeShapeType="1"/>
          </p:cNvSpPr>
          <p:nvPr/>
        </p:nvSpPr>
        <p:spPr bwMode="auto">
          <a:xfrm>
            <a:off x="3194051" y="5079207"/>
            <a:ext cx="0" cy="106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107"/>
          <p:cNvSpPr>
            <a:spLocks noChangeShapeType="1"/>
          </p:cNvSpPr>
          <p:nvPr/>
        </p:nvSpPr>
        <p:spPr bwMode="auto">
          <a:xfrm>
            <a:off x="2946401" y="5079207"/>
            <a:ext cx="24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108"/>
          <p:cNvSpPr>
            <a:spLocks noChangeShapeType="1"/>
          </p:cNvSpPr>
          <p:nvPr/>
        </p:nvSpPr>
        <p:spPr bwMode="auto">
          <a:xfrm>
            <a:off x="2836863" y="5077619"/>
            <a:ext cx="88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Line 109"/>
          <p:cNvSpPr>
            <a:spLocks noChangeShapeType="1"/>
          </p:cNvSpPr>
          <p:nvPr/>
        </p:nvSpPr>
        <p:spPr bwMode="auto">
          <a:xfrm>
            <a:off x="2874963" y="5077619"/>
            <a:ext cx="3175" cy="514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Rectangle 110"/>
          <p:cNvSpPr>
            <a:spLocks noChangeArrowheads="1"/>
          </p:cNvSpPr>
          <p:nvPr/>
        </p:nvSpPr>
        <p:spPr bwMode="auto">
          <a:xfrm rot="16200000">
            <a:off x="2724151" y="5241132"/>
            <a:ext cx="539750" cy="3048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电势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13" name="Freeform 111"/>
          <p:cNvSpPr>
            <a:spLocks/>
          </p:cNvSpPr>
          <p:nvPr/>
        </p:nvSpPr>
        <p:spPr bwMode="auto">
          <a:xfrm>
            <a:off x="4281488" y="4910932"/>
            <a:ext cx="160338" cy="192087"/>
          </a:xfrm>
          <a:custGeom>
            <a:avLst/>
            <a:gdLst>
              <a:gd name="T0" fmla="*/ 2147483647 w 101"/>
              <a:gd name="T1" fmla="*/ 0 h 121"/>
              <a:gd name="T2" fmla="*/ 2147483647 w 101"/>
              <a:gd name="T3" fmla="*/ 0 h 121"/>
              <a:gd name="T4" fmla="*/ 2147483647 w 101"/>
              <a:gd name="T5" fmla="*/ 2147483647 h 121"/>
              <a:gd name="T6" fmla="*/ 2147483647 w 101"/>
              <a:gd name="T7" fmla="*/ 2147483647 h 121"/>
              <a:gd name="T8" fmla="*/ 2147483647 w 101"/>
              <a:gd name="T9" fmla="*/ 2147483647 h 121"/>
              <a:gd name="T10" fmla="*/ 0 w 101"/>
              <a:gd name="T11" fmla="*/ 2147483647 h 121"/>
              <a:gd name="T12" fmla="*/ 2147483647 w 101"/>
              <a:gd name="T13" fmla="*/ 2147483647 h 121"/>
              <a:gd name="T14" fmla="*/ 2147483647 w 101"/>
              <a:gd name="T15" fmla="*/ 0 h 12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1"/>
              <a:gd name="T25" fmla="*/ 0 h 121"/>
              <a:gd name="T26" fmla="*/ 101 w 101"/>
              <a:gd name="T27" fmla="*/ 121 h 12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1" h="121">
                <a:moveTo>
                  <a:pt x="29" y="0"/>
                </a:moveTo>
                <a:lnTo>
                  <a:pt x="71" y="0"/>
                </a:lnTo>
                <a:lnTo>
                  <a:pt x="71" y="72"/>
                </a:lnTo>
                <a:lnTo>
                  <a:pt x="101" y="72"/>
                </a:lnTo>
                <a:lnTo>
                  <a:pt x="51" y="121"/>
                </a:lnTo>
                <a:lnTo>
                  <a:pt x="0" y="70"/>
                </a:lnTo>
                <a:lnTo>
                  <a:pt x="29" y="69"/>
                </a:lnTo>
                <a:lnTo>
                  <a:pt x="29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Rectangle 112"/>
          <p:cNvSpPr>
            <a:spLocks noChangeArrowheads="1"/>
          </p:cNvSpPr>
          <p:nvPr/>
        </p:nvSpPr>
        <p:spPr bwMode="auto">
          <a:xfrm>
            <a:off x="5119688" y="5131594"/>
            <a:ext cx="1606550" cy="5175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读出信号电荷</a:t>
            </a:r>
          </a:p>
          <a:p>
            <a:pPr algn="ctr"/>
            <a:r>
              <a:rPr lang="zh-CN" altLang="en-US" sz="1400" b="1">
                <a:latin typeface="Times New Roman" pitchFamily="18" charset="0"/>
                <a:ea typeface="微软雅黑" pitchFamily="34" charset="-122"/>
              </a:rPr>
              <a:t>（像素信号输出）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15" name="Line 113"/>
          <p:cNvSpPr>
            <a:spLocks noChangeShapeType="1"/>
          </p:cNvSpPr>
          <p:nvPr/>
        </p:nvSpPr>
        <p:spPr bwMode="auto">
          <a:xfrm flipH="1">
            <a:off x="3589338" y="2851944"/>
            <a:ext cx="76200" cy="171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Line 114"/>
          <p:cNvSpPr>
            <a:spLocks noChangeShapeType="1"/>
          </p:cNvSpPr>
          <p:nvPr/>
        </p:nvSpPr>
        <p:spPr bwMode="auto">
          <a:xfrm>
            <a:off x="3168651" y="3764757"/>
            <a:ext cx="87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Line 115"/>
          <p:cNvSpPr>
            <a:spLocks noChangeShapeType="1"/>
          </p:cNvSpPr>
          <p:nvPr/>
        </p:nvSpPr>
        <p:spPr bwMode="auto">
          <a:xfrm>
            <a:off x="3178176" y="2974182"/>
            <a:ext cx="87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16"/>
          <p:cNvSpPr>
            <a:spLocks/>
          </p:cNvSpPr>
          <p:nvPr/>
        </p:nvSpPr>
        <p:spPr bwMode="auto">
          <a:xfrm>
            <a:off x="3865563" y="5071269"/>
            <a:ext cx="447675" cy="79375"/>
          </a:xfrm>
          <a:custGeom>
            <a:avLst/>
            <a:gdLst>
              <a:gd name="T0" fmla="*/ 0 w 282"/>
              <a:gd name="T1" fmla="*/ 2147483647 h 50"/>
              <a:gd name="T2" fmla="*/ 2147483647 w 282"/>
              <a:gd name="T3" fmla="*/ 2147483647 h 50"/>
              <a:gd name="T4" fmla="*/ 2147483647 w 282"/>
              <a:gd name="T5" fmla="*/ 2147483647 h 50"/>
              <a:gd name="T6" fmla="*/ 2147483647 w 282"/>
              <a:gd name="T7" fmla="*/ 2147483647 h 50"/>
              <a:gd name="T8" fmla="*/ 0 60000 65536"/>
              <a:gd name="T9" fmla="*/ 0 60000 65536"/>
              <a:gd name="T10" fmla="*/ 0 60000 65536"/>
              <a:gd name="T11" fmla="*/ 0 60000 65536"/>
              <a:gd name="T12" fmla="*/ 0 w 282"/>
              <a:gd name="T13" fmla="*/ 0 h 50"/>
              <a:gd name="T14" fmla="*/ 282 w 28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2" h="50">
                <a:moveTo>
                  <a:pt x="0" y="6"/>
                </a:moveTo>
                <a:cubicBezTo>
                  <a:pt x="48" y="3"/>
                  <a:pt x="97" y="0"/>
                  <a:pt x="128" y="6"/>
                </a:cubicBezTo>
                <a:cubicBezTo>
                  <a:pt x="159" y="12"/>
                  <a:pt x="162" y="38"/>
                  <a:pt x="188" y="44"/>
                </a:cubicBezTo>
                <a:cubicBezTo>
                  <a:pt x="214" y="50"/>
                  <a:pt x="248" y="47"/>
                  <a:pt x="282" y="4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Line 117"/>
          <p:cNvSpPr>
            <a:spLocks noChangeShapeType="1"/>
          </p:cNvSpPr>
          <p:nvPr/>
        </p:nvSpPr>
        <p:spPr bwMode="auto">
          <a:xfrm>
            <a:off x="4310063" y="5141119"/>
            <a:ext cx="146050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118"/>
          <p:cNvSpPr>
            <a:spLocks noChangeShapeType="1"/>
          </p:cNvSpPr>
          <p:nvPr/>
        </p:nvSpPr>
        <p:spPr bwMode="auto">
          <a:xfrm flipV="1">
            <a:off x="4878388" y="5518944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Line 119"/>
          <p:cNvSpPr>
            <a:spLocks noChangeShapeType="1"/>
          </p:cNvSpPr>
          <p:nvPr/>
        </p:nvSpPr>
        <p:spPr bwMode="auto">
          <a:xfrm flipV="1">
            <a:off x="4873626" y="4758532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7590414" y="2090738"/>
            <a:ext cx="1528763" cy="15811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Rectangle 9"/>
          <p:cNvSpPr>
            <a:spLocks noChangeArrowheads="1"/>
          </p:cNvSpPr>
          <p:nvPr/>
        </p:nvSpPr>
        <p:spPr bwMode="auto">
          <a:xfrm>
            <a:off x="7603114" y="3797301"/>
            <a:ext cx="2190750" cy="15906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Rectangle 6"/>
          <p:cNvSpPr>
            <a:spLocks noChangeArrowheads="1"/>
          </p:cNvSpPr>
          <p:nvPr/>
        </p:nvSpPr>
        <p:spPr bwMode="auto">
          <a:xfrm>
            <a:off x="7742814" y="3106738"/>
            <a:ext cx="814388" cy="561975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Freeform 7"/>
          <p:cNvSpPr>
            <a:spLocks/>
          </p:cNvSpPr>
          <p:nvPr/>
        </p:nvSpPr>
        <p:spPr bwMode="auto">
          <a:xfrm>
            <a:off x="7833302" y="3111501"/>
            <a:ext cx="649287" cy="161925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Line 8"/>
          <p:cNvSpPr>
            <a:spLocks noChangeShapeType="1"/>
          </p:cNvSpPr>
          <p:nvPr/>
        </p:nvSpPr>
        <p:spPr bwMode="auto">
          <a:xfrm>
            <a:off x="7747577" y="3668713"/>
            <a:ext cx="803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Line 9"/>
          <p:cNvSpPr>
            <a:spLocks noChangeShapeType="1"/>
          </p:cNvSpPr>
          <p:nvPr/>
        </p:nvSpPr>
        <p:spPr bwMode="auto">
          <a:xfrm>
            <a:off x="7736464" y="3106738"/>
            <a:ext cx="8207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Rectangle 10"/>
          <p:cNvSpPr>
            <a:spLocks noChangeArrowheads="1"/>
          </p:cNvSpPr>
          <p:nvPr/>
        </p:nvSpPr>
        <p:spPr bwMode="auto">
          <a:xfrm>
            <a:off x="7977764" y="3328988"/>
            <a:ext cx="277813" cy="274638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P</a:t>
            </a: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129" name="Rectangle 11"/>
          <p:cNvSpPr>
            <a:spLocks noChangeArrowheads="1"/>
          </p:cNvSpPr>
          <p:nvPr/>
        </p:nvSpPr>
        <p:spPr bwMode="auto">
          <a:xfrm>
            <a:off x="7963477" y="3051176"/>
            <a:ext cx="469900" cy="2746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N</a:t>
            </a:r>
            <a:r>
              <a:rPr lang="en-US" altLang="zh-CN" sz="1200" b="1" baseline="30000">
                <a:latin typeface="Times New Roman" pitchFamily="18" charset="0"/>
              </a:rPr>
              <a:t>+</a:t>
            </a:r>
            <a:endParaRPr lang="zh-CN" altLang="en-US" sz="1200" b="1" baseline="30000">
              <a:latin typeface="Times New Roman" pitchFamily="18" charset="0"/>
            </a:endParaRPr>
          </a:p>
        </p:txBody>
      </p:sp>
      <p:cxnSp>
        <p:nvCxnSpPr>
          <p:cNvPr id="130" name="直接连接符 129"/>
          <p:cNvCxnSpPr/>
          <p:nvPr/>
        </p:nvCxnSpPr>
        <p:spPr>
          <a:xfrm>
            <a:off x="7742814" y="3062288"/>
            <a:ext cx="80962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>
            <a:off x="7825364" y="2157413"/>
            <a:ext cx="11144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 rot="16200000" flipH="1">
            <a:off x="7984114" y="2322513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8053964" y="2481263"/>
            <a:ext cx="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 rot="16200000" flipH="1">
            <a:off x="7939664" y="2595563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V="1">
            <a:off x="8044439" y="2709863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/>
        </p:nvCxnSpPr>
        <p:spPr>
          <a:xfrm flipV="1">
            <a:off x="8612764" y="2484438"/>
            <a:ext cx="1079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 flipV="1">
            <a:off x="8609589" y="2865438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rot="5400000">
            <a:off x="7901565" y="2598738"/>
            <a:ext cx="23495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 flipV="1">
            <a:off x="7872989" y="2598738"/>
            <a:ext cx="14605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 rot="16200000" flipH="1">
            <a:off x="8668326" y="2911476"/>
            <a:ext cx="857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8717539" y="2954338"/>
            <a:ext cx="4032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/>
          <p:nvPr/>
        </p:nvCxnSpPr>
        <p:spPr>
          <a:xfrm rot="5400000">
            <a:off x="8682614" y="2217738"/>
            <a:ext cx="82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30"/>
          <p:cNvSpPr>
            <a:spLocks noChangeArrowheads="1"/>
          </p:cNvSpPr>
          <p:nvPr/>
        </p:nvSpPr>
        <p:spPr bwMode="auto">
          <a:xfrm>
            <a:off x="7622164" y="2316163"/>
            <a:ext cx="463550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Reset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4" name="Rectangle 30"/>
          <p:cNvSpPr>
            <a:spLocks noChangeArrowheads="1"/>
          </p:cNvSpPr>
          <p:nvPr/>
        </p:nvSpPr>
        <p:spPr bwMode="auto">
          <a:xfrm>
            <a:off x="8260339" y="2697163"/>
            <a:ext cx="338138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RS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5" name="Rectangle 30"/>
          <p:cNvSpPr>
            <a:spLocks noChangeArrowheads="1"/>
          </p:cNvSpPr>
          <p:nvPr/>
        </p:nvSpPr>
        <p:spPr bwMode="auto">
          <a:xfrm>
            <a:off x="8539739" y="3389313"/>
            <a:ext cx="582613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</a:rPr>
              <a:t>APS 3T</a:t>
            </a:r>
            <a:endParaRPr lang="zh-CN" altLang="en-US" sz="1400" b="1" baseline="-250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6" name="Rectangle 30"/>
          <p:cNvSpPr>
            <a:spLocks noChangeArrowheads="1"/>
          </p:cNvSpPr>
          <p:nvPr/>
        </p:nvSpPr>
        <p:spPr bwMode="auto">
          <a:xfrm>
            <a:off x="8527039" y="2932113"/>
            <a:ext cx="631825" cy="3794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PN</a:t>
            </a:r>
          </a:p>
          <a:p>
            <a:pPr algn="ctr"/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Junction</a:t>
            </a:r>
            <a:endParaRPr lang="zh-CN" altLang="en-US" sz="14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8314314" y="4011613"/>
            <a:ext cx="463550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Reset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8" name="Rectangle 30"/>
          <p:cNvSpPr>
            <a:spLocks noChangeArrowheads="1"/>
          </p:cNvSpPr>
          <p:nvPr/>
        </p:nvSpPr>
        <p:spPr bwMode="auto">
          <a:xfrm>
            <a:off x="8952489" y="4398963"/>
            <a:ext cx="338138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latin typeface="Times New Roman" pitchFamily="18" charset="0"/>
                <a:ea typeface="微软雅黑" pitchFamily="34" charset="-122"/>
              </a:rPr>
              <a:t>RS</a:t>
            </a:r>
            <a:endParaRPr lang="zh-CN" altLang="en-US" sz="1400" b="1" baseline="-2500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49" name="Rectangle 30"/>
          <p:cNvSpPr>
            <a:spLocks noChangeArrowheads="1"/>
          </p:cNvSpPr>
          <p:nvPr/>
        </p:nvSpPr>
        <p:spPr bwMode="auto">
          <a:xfrm>
            <a:off x="9130289" y="5110163"/>
            <a:ext cx="582613" cy="236538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b="1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</a:rPr>
              <a:t>APS 4T</a:t>
            </a:r>
            <a:endParaRPr lang="zh-CN" altLang="en-US" sz="1400" b="1" baseline="-250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50" name="Rectangle 6"/>
          <p:cNvSpPr>
            <a:spLocks noChangeArrowheads="1"/>
          </p:cNvSpPr>
          <p:nvPr/>
        </p:nvSpPr>
        <p:spPr bwMode="auto">
          <a:xfrm>
            <a:off x="7679314" y="4840288"/>
            <a:ext cx="1320800" cy="506413"/>
          </a:xfrm>
          <a:prstGeom prst="rect">
            <a:avLst/>
          </a:prstGeom>
          <a:solidFill>
            <a:srgbClr val="808080"/>
          </a:solidFill>
          <a:ln w="25400">
            <a:noFill/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Freeform 7"/>
          <p:cNvSpPr>
            <a:spLocks/>
          </p:cNvSpPr>
          <p:nvPr/>
        </p:nvSpPr>
        <p:spPr bwMode="auto">
          <a:xfrm>
            <a:off x="7731702" y="4845051"/>
            <a:ext cx="596900" cy="331787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Line 8"/>
          <p:cNvSpPr>
            <a:spLocks noChangeShapeType="1"/>
          </p:cNvSpPr>
          <p:nvPr/>
        </p:nvSpPr>
        <p:spPr bwMode="auto">
          <a:xfrm flipV="1">
            <a:off x="7679314" y="5356226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9"/>
          <p:cNvSpPr>
            <a:spLocks noChangeShapeType="1"/>
          </p:cNvSpPr>
          <p:nvPr/>
        </p:nvSpPr>
        <p:spPr bwMode="auto">
          <a:xfrm>
            <a:off x="7680902" y="4840288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Rectangle 10"/>
          <p:cNvSpPr>
            <a:spLocks noChangeArrowheads="1"/>
          </p:cNvSpPr>
          <p:nvPr/>
        </p:nvSpPr>
        <p:spPr bwMode="auto">
          <a:xfrm>
            <a:off x="7858702" y="5126038"/>
            <a:ext cx="255587" cy="274638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P</a:t>
            </a:r>
            <a:endParaRPr lang="zh-CN" altLang="en-US" sz="1200" b="1">
              <a:latin typeface="Times New Roman" pitchFamily="18" charset="0"/>
            </a:endParaRPr>
          </a:p>
        </p:txBody>
      </p:sp>
      <p:sp>
        <p:nvSpPr>
          <p:cNvPr id="155" name="Rectangle 11"/>
          <p:cNvSpPr>
            <a:spLocks noChangeArrowheads="1"/>
          </p:cNvSpPr>
          <p:nvPr/>
        </p:nvSpPr>
        <p:spPr bwMode="auto">
          <a:xfrm>
            <a:off x="7852352" y="4956176"/>
            <a:ext cx="433387" cy="274637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N</a:t>
            </a:r>
            <a:r>
              <a:rPr lang="en-US" altLang="zh-CN" sz="1200" b="1" baseline="30000">
                <a:latin typeface="Times New Roman" pitchFamily="18" charset="0"/>
              </a:rPr>
              <a:t>+</a:t>
            </a:r>
            <a:endParaRPr lang="zh-CN" altLang="en-US" sz="1200" b="1" baseline="30000">
              <a:latin typeface="Times New Roman" pitchFamily="18" charset="0"/>
            </a:endParaRPr>
          </a:p>
        </p:txBody>
      </p:sp>
      <p:sp>
        <p:nvSpPr>
          <p:cNvPr id="156" name="Freeform 7"/>
          <p:cNvSpPr>
            <a:spLocks/>
          </p:cNvSpPr>
          <p:nvPr/>
        </p:nvSpPr>
        <p:spPr bwMode="auto">
          <a:xfrm>
            <a:off x="8760402" y="4845051"/>
            <a:ext cx="227012" cy="128587"/>
          </a:xfrm>
          <a:custGeom>
            <a:avLst/>
            <a:gdLst>
              <a:gd name="T0" fmla="*/ 2147483647 w 339"/>
              <a:gd name="T1" fmla="*/ 0 h 102"/>
              <a:gd name="T2" fmla="*/ 2147483647 w 339"/>
              <a:gd name="T3" fmla="*/ 0 h 102"/>
              <a:gd name="T4" fmla="*/ 2147483647 w 339"/>
              <a:gd name="T5" fmla="*/ 2147483647 h 102"/>
              <a:gd name="T6" fmla="*/ 2147483647 w 339"/>
              <a:gd name="T7" fmla="*/ 2147483647 h 102"/>
              <a:gd name="T8" fmla="*/ 2147483647 w 339"/>
              <a:gd name="T9" fmla="*/ 2147483647 h 102"/>
              <a:gd name="T10" fmla="*/ 2147483647 w 339"/>
              <a:gd name="T11" fmla="*/ 2147483647 h 102"/>
              <a:gd name="T12" fmla="*/ 2147483647 w 339"/>
              <a:gd name="T13" fmla="*/ 2147483647 h 102"/>
              <a:gd name="T14" fmla="*/ 0 w 339"/>
              <a:gd name="T15" fmla="*/ 2147483647 h 102"/>
              <a:gd name="T16" fmla="*/ 2147483647 w 339"/>
              <a:gd name="T17" fmla="*/ 0 h 1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102"/>
              <a:gd name="T29" fmla="*/ 339 w 339"/>
              <a:gd name="T30" fmla="*/ 102 h 10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rgbClr val="FF6600"/>
          </a:solidFill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Freeform 7"/>
          <p:cNvSpPr>
            <a:spLocks/>
          </p:cNvSpPr>
          <p:nvPr/>
        </p:nvSpPr>
        <p:spPr bwMode="auto">
          <a:xfrm>
            <a:off x="7738052" y="4845051"/>
            <a:ext cx="557212" cy="173037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339" y="0"/>
              </a:cxn>
              <a:cxn ang="0">
                <a:pos x="339" y="48"/>
              </a:cxn>
              <a:cxn ang="0">
                <a:pos x="312" y="78"/>
              </a:cxn>
              <a:cxn ang="0">
                <a:pos x="222" y="99"/>
              </a:cxn>
              <a:cxn ang="0">
                <a:pos x="126" y="102"/>
              </a:cxn>
              <a:cxn ang="0">
                <a:pos x="48" y="90"/>
              </a:cxn>
              <a:cxn ang="0">
                <a:pos x="0" y="63"/>
              </a:cxn>
              <a:cxn ang="0">
                <a:pos x="3" y="0"/>
              </a:cxn>
            </a:cxnLst>
            <a:rect l="0" t="0" r="r" b="b"/>
            <a:pathLst>
              <a:path w="339" h="102">
                <a:moveTo>
                  <a:pt x="3" y="0"/>
                </a:moveTo>
                <a:lnTo>
                  <a:pt x="339" y="0"/>
                </a:lnTo>
                <a:lnTo>
                  <a:pt x="339" y="48"/>
                </a:lnTo>
                <a:lnTo>
                  <a:pt x="312" y="78"/>
                </a:lnTo>
                <a:lnTo>
                  <a:pt x="222" y="99"/>
                </a:lnTo>
                <a:lnTo>
                  <a:pt x="126" y="102"/>
                </a:lnTo>
                <a:lnTo>
                  <a:pt x="48" y="90"/>
                </a:lnTo>
                <a:lnTo>
                  <a:pt x="0" y="63"/>
                </a:lnTo>
                <a:lnTo>
                  <a:pt x="3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58" name="Rectangle 11"/>
          <p:cNvSpPr>
            <a:spLocks noChangeArrowheads="1"/>
          </p:cNvSpPr>
          <p:nvPr/>
        </p:nvSpPr>
        <p:spPr bwMode="auto">
          <a:xfrm>
            <a:off x="7858702" y="4778376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P</a:t>
            </a:r>
            <a:r>
              <a:rPr lang="en-US" altLang="zh-CN" sz="1200" b="1" baseline="30000">
                <a:latin typeface="Times New Roman" pitchFamily="18" charset="0"/>
              </a:rPr>
              <a:t>+</a:t>
            </a:r>
            <a:endParaRPr lang="zh-CN" altLang="en-US" sz="1200" b="1" baseline="30000">
              <a:latin typeface="Times New Roman" pitchFamily="18" charset="0"/>
            </a:endParaRPr>
          </a:p>
        </p:txBody>
      </p:sp>
      <p:sp>
        <p:nvSpPr>
          <p:cNvPr id="159" name="Line 8"/>
          <p:cNvSpPr>
            <a:spLocks noChangeShapeType="1"/>
          </p:cNvSpPr>
          <p:nvPr/>
        </p:nvSpPr>
        <p:spPr bwMode="auto">
          <a:xfrm flipV="1">
            <a:off x="7679314" y="4803776"/>
            <a:ext cx="132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Rectangle 11"/>
          <p:cNvSpPr>
            <a:spLocks noChangeArrowheads="1"/>
          </p:cNvSpPr>
          <p:nvPr/>
        </p:nvSpPr>
        <p:spPr bwMode="auto">
          <a:xfrm>
            <a:off x="8779452" y="4556126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FD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61" name="Rectangle 11"/>
          <p:cNvSpPr>
            <a:spLocks noChangeArrowheads="1"/>
          </p:cNvSpPr>
          <p:nvPr/>
        </p:nvSpPr>
        <p:spPr bwMode="auto">
          <a:xfrm>
            <a:off x="10643177" y="2513013"/>
            <a:ext cx="576262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Col</a:t>
            </a:r>
            <a:r>
              <a:rPr lang="en-US" altLang="zh-CN" sz="1200" b="1" baseline="-25000">
                <a:latin typeface="Times New Roman" pitchFamily="18" charset="0"/>
              </a:rPr>
              <a:t>i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62" name="Rectangle 11"/>
          <p:cNvSpPr>
            <a:spLocks noChangeArrowheads="1"/>
          </p:cNvSpPr>
          <p:nvPr/>
        </p:nvSpPr>
        <p:spPr bwMode="auto">
          <a:xfrm>
            <a:off x="8379402" y="4403726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T</a:t>
            </a:r>
            <a:r>
              <a:rPr lang="en-US" altLang="zh-CN" sz="1200" b="1" baseline="-25000">
                <a:latin typeface="Times New Roman" pitchFamily="18" charset="0"/>
              </a:rPr>
              <a:t>X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63" name="Rectangle 11"/>
          <p:cNvSpPr>
            <a:spLocks noChangeArrowheads="1"/>
          </p:cNvSpPr>
          <p:nvPr/>
        </p:nvSpPr>
        <p:spPr bwMode="auto">
          <a:xfrm>
            <a:off x="11300402" y="4041776"/>
            <a:ext cx="433387" cy="27622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1200" b="1">
                <a:latin typeface="Times New Roman" pitchFamily="18" charset="0"/>
              </a:rPr>
              <a:t>V</a:t>
            </a:r>
            <a:r>
              <a:rPr lang="en-US" altLang="zh-CN" sz="1200" b="1" baseline="-25000">
                <a:latin typeface="Times New Roman" pitchFamily="18" charset="0"/>
              </a:rPr>
              <a:t>out</a:t>
            </a:r>
            <a:endParaRPr lang="zh-CN" altLang="en-US" sz="1200" b="1" baseline="-25000">
              <a:latin typeface="Times New Roman" pitchFamily="18" charset="0"/>
            </a:endParaRPr>
          </a:p>
        </p:txBody>
      </p:sp>
      <p:sp>
        <p:nvSpPr>
          <p:cNvPr id="164" name="Line 76"/>
          <p:cNvSpPr>
            <a:spLocks noChangeShapeType="1"/>
          </p:cNvSpPr>
          <p:nvPr/>
        </p:nvSpPr>
        <p:spPr bwMode="auto">
          <a:xfrm>
            <a:off x="10735252" y="3116263"/>
            <a:ext cx="111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Line 77"/>
          <p:cNvSpPr>
            <a:spLocks noChangeShapeType="1"/>
          </p:cNvSpPr>
          <p:nvPr/>
        </p:nvSpPr>
        <p:spPr bwMode="auto">
          <a:xfrm>
            <a:off x="10743189" y="3632201"/>
            <a:ext cx="107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Line 78"/>
          <p:cNvSpPr>
            <a:spLocks noChangeShapeType="1"/>
          </p:cNvSpPr>
          <p:nvPr/>
        </p:nvSpPr>
        <p:spPr bwMode="auto">
          <a:xfrm>
            <a:off x="10743189" y="3941763"/>
            <a:ext cx="1111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Line 79"/>
          <p:cNvSpPr>
            <a:spLocks noChangeShapeType="1"/>
          </p:cNvSpPr>
          <p:nvPr/>
        </p:nvSpPr>
        <p:spPr bwMode="auto">
          <a:xfrm>
            <a:off x="11267064" y="4179888"/>
            <a:ext cx="109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Line 80"/>
          <p:cNvSpPr>
            <a:spLocks noChangeShapeType="1"/>
          </p:cNvSpPr>
          <p:nvPr/>
        </p:nvSpPr>
        <p:spPr bwMode="auto">
          <a:xfrm>
            <a:off x="9130289" y="2078038"/>
            <a:ext cx="1011238" cy="928688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Line 81"/>
          <p:cNvSpPr>
            <a:spLocks noChangeShapeType="1"/>
          </p:cNvSpPr>
          <p:nvPr/>
        </p:nvSpPr>
        <p:spPr bwMode="auto">
          <a:xfrm flipV="1">
            <a:off x="9120764" y="3265488"/>
            <a:ext cx="1028700" cy="404813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Line 84"/>
          <p:cNvSpPr>
            <a:spLocks noChangeShapeType="1"/>
          </p:cNvSpPr>
          <p:nvPr/>
        </p:nvSpPr>
        <p:spPr bwMode="auto">
          <a:xfrm>
            <a:off x="10846377" y="3305176"/>
            <a:ext cx="0" cy="136525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Line 86"/>
          <p:cNvSpPr>
            <a:spLocks noChangeShapeType="1"/>
          </p:cNvSpPr>
          <p:nvPr/>
        </p:nvSpPr>
        <p:spPr bwMode="auto">
          <a:xfrm>
            <a:off x="10844789" y="2932113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Line 87"/>
          <p:cNvSpPr>
            <a:spLocks noChangeShapeType="1"/>
          </p:cNvSpPr>
          <p:nvPr/>
        </p:nvSpPr>
        <p:spPr bwMode="auto">
          <a:xfrm>
            <a:off x="10847964" y="3463926"/>
            <a:ext cx="0" cy="854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Freeform 89"/>
          <p:cNvSpPr>
            <a:spLocks/>
          </p:cNvSpPr>
          <p:nvPr/>
        </p:nvSpPr>
        <p:spPr bwMode="auto">
          <a:xfrm>
            <a:off x="11071802" y="4059238"/>
            <a:ext cx="190500" cy="241300"/>
          </a:xfrm>
          <a:custGeom>
            <a:avLst/>
            <a:gdLst>
              <a:gd name="T0" fmla="*/ 0 w 120"/>
              <a:gd name="T1" fmla="*/ 0 h 152"/>
              <a:gd name="T2" fmla="*/ 0 w 120"/>
              <a:gd name="T3" fmla="*/ 2147483647 h 152"/>
              <a:gd name="T4" fmla="*/ 2147483647 w 120"/>
              <a:gd name="T5" fmla="*/ 2147483647 h 152"/>
              <a:gd name="T6" fmla="*/ 0 w 120"/>
              <a:gd name="T7" fmla="*/ 0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0" y="0"/>
                </a:moveTo>
                <a:lnTo>
                  <a:pt x="0" y="152"/>
                </a:lnTo>
                <a:lnTo>
                  <a:pt x="120" y="76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Line 90"/>
          <p:cNvSpPr>
            <a:spLocks noChangeShapeType="1"/>
          </p:cNvSpPr>
          <p:nvPr/>
        </p:nvSpPr>
        <p:spPr bwMode="auto">
          <a:xfrm flipV="1">
            <a:off x="10857489" y="4167188"/>
            <a:ext cx="222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Line 81"/>
          <p:cNvSpPr>
            <a:spLocks noChangeShapeType="1"/>
          </p:cNvSpPr>
          <p:nvPr/>
        </p:nvSpPr>
        <p:spPr bwMode="auto">
          <a:xfrm flipV="1">
            <a:off x="9792277" y="3006726"/>
            <a:ext cx="349250" cy="785812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Line 81"/>
          <p:cNvSpPr>
            <a:spLocks noChangeShapeType="1"/>
          </p:cNvSpPr>
          <p:nvPr/>
        </p:nvSpPr>
        <p:spPr bwMode="auto">
          <a:xfrm flipV="1">
            <a:off x="9798627" y="3265488"/>
            <a:ext cx="342900" cy="2119313"/>
          </a:xfrm>
          <a:prstGeom prst="line">
            <a:avLst/>
          </a:prstGeom>
          <a:noFill/>
          <a:ln w="25400">
            <a:solidFill>
              <a:srgbClr val="333399"/>
            </a:solidFill>
            <a:prstDash val="dash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Rectangle 73"/>
          <p:cNvSpPr>
            <a:spLocks noChangeArrowheads="1"/>
          </p:cNvSpPr>
          <p:nvPr/>
        </p:nvSpPr>
        <p:spPr bwMode="auto">
          <a:xfrm>
            <a:off x="10152639" y="3013076"/>
            <a:ext cx="581025" cy="254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95"/>
          <p:cNvSpPr>
            <a:spLocks noChangeArrowheads="1"/>
          </p:cNvSpPr>
          <p:nvPr/>
        </p:nvSpPr>
        <p:spPr bwMode="auto">
          <a:xfrm>
            <a:off x="10217727" y="3005138"/>
            <a:ext cx="452437" cy="2444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000" b="1">
                <a:latin typeface="Times New Roman" pitchFamily="18" charset="0"/>
                <a:ea typeface="微软雅黑" pitchFamily="34" charset="-122"/>
              </a:rPr>
              <a:t>Pixel</a:t>
            </a:r>
          </a:p>
        </p:txBody>
      </p:sp>
      <p:sp>
        <p:nvSpPr>
          <p:cNvPr id="179" name="Rectangle 73"/>
          <p:cNvSpPr>
            <a:spLocks noChangeArrowheads="1"/>
          </p:cNvSpPr>
          <p:nvPr/>
        </p:nvSpPr>
        <p:spPr bwMode="auto">
          <a:xfrm>
            <a:off x="10152639" y="3508376"/>
            <a:ext cx="581025" cy="254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0" name="Rectangle 95"/>
          <p:cNvSpPr>
            <a:spLocks noChangeArrowheads="1"/>
          </p:cNvSpPr>
          <p:nvPr/>
        </p:nvSpPr>
        <p:spPr bwMode="auto">
          <a:xfrm>
            <a:off x="10217727" y="3500438"/>
            <a:ext cx="452437" cy="2444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000" b="1">
                <a:latin typeface="Times New Roman" pitchFamily="18" charset="0"/>
                <a:ea typeface="微软雅黑" pitchFamily="34" charset="-122"/>
              </a:rPr>
              <a:t>Pixel</a:t>
            </a:r>
          </a:p>
        </p:txBody>
      </p:sp>
      <p:sp>
        <p:nvSpPr>
          <p:cNvPr id="181" name="Rectangle 73"/>
          <p:cNvSpPr>
            <a:spLocks noChangeArrowheads="1"/>
          </p:cNvSpPr>
          <p:nvPr/>
        </p:nvSpPr>
        <p:spPr bwMode="auto">
          <a:xfrm>
            <a:off x="10151052" y="3813176"/>
            <a:ext cx="581025" cy="254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" name="Rectangle 95"/>
          <p:cNvSpPr>
            <a:spLocks noChangeArrowheads="1"/>
          </p:cNvSpPr>
          <p:nvPr/>
        </p:nvSpPr>
        <p:spPr bwMode="auto">
          <a:xfrm>
            <a:off x="10216139" y="3805238"/>
            <a:ext cx="452438" cy="244475"/>
          </a:xfrm>
          <a:prstGeom prst="rect">
            <a:avLst/>
          </a:prstGeom>
          <a:noFill/>
          <a:ln w="25400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1000" b="1">
                <a:latin typeface="Times New Roman" pitchFamily="18" charset="0"/>
                <a:ea typeface="微软雅黑" pitchFamily="34" charset="-122"/>
              </a:rPr>
              <a:t>Pixel</a:t>
            </a:r>
          </a:p>
        </p:txBody>
      </p:sp>
      <p:sp>
        <p:nvSpPr>
          <p:cNvPr id="183" name="Line 83"/>
          <p:cNvSpPr>
            <a:spLocks noChangeShapeType="1"/>
          </p:cNvSpPr>
          <p:nvPr/>
        </p:nvSpPr>
        <p:spPr bwMode="auto">
          <a:xfrm>
            <a:off x="10843202" y="2809876"/>
            <a:ext cx="0" cy="95250"/>
          </a:xfrm>
          <a:prstGeom prst="lin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Line 85"/>
          <p:cNvSpPr>
            <a:spLocks noChangeShapeType="1"/>
          </p:cNvSpPr>
          <p:nvPr/>
        </p:nvSpPr>
        <p:spPr bwMode="auto">
          <a:xfrm flipV="1">
            <a:off x="10844789" y="2735263"/>
            <a:ext cx="0" cy="5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椭圆 184"/>
          <p:cNvSpPr/>
          <p:nvPr/>
        </p:nvSpPr>
        <p:spPr>
          <a:xfrm>
            <a:off x="10738427" y="4319588"/>
            <a:ext cx="225425" cy="2476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86" name="直接箭头连接符 185"/>
          <p:cNvCxnSpPr/>
          <p:nvPr/>
        </p:nvCxnSpPr>
        <p:spPr>
          <a:xfrm rot="16200000" flipH="1">
            <a:off x="10744776" y="4451351"/>
            <a:ext cx="2063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85" idx="4"/>
          </p:cNvCxnSpPr>
          <p:nvPr/>
        </p:nvCxnSpPr>
        <p:spPr>
          <a:xfrm rot="16200000" flipH="1">
            <a:off x="10770177" y="4648200"/>
            <a:ext cx="1651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/>
          <p:nvPr/>
        </p:nvCxnSpPr>
        <p:spPr>
          <a:xfrm flipV="1">
            <a:off x="10787639" y="4729163"/>
            <a:ext cx="15081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>
            <a:off x="10817802" y="4772026"/>
            <a:ext cx="857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>
            <a:off x="10840027" y="4813301"/>
            <a:ext cx="47625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30"/>
          <p:cNvSpPr>
            <a:spLocks noChangeArrowheads="1"/>
          </p:cNvSpPr>
          <p:nvPr/>
        </p:nvSpPr>
        <p:spPr bwMode="auto">
          <a:xfrm>
            <a:off x="8993764" y="4784726"/>
            <a:ext cx="922338" cy="3079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b="1" baseline="-2500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Pinned Diode</a:t>
            </a:r>
            <a:r>
              <a:rPr lang="en-US" altLang="zh-CN" sz="1400" b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</a:rPr>
              <a:t> </a:t>
            </a:r>
            <a:endParaRPr lang="zh-CN" altLang="en-US" sz="1400" b="1" baseline="-25000">
              <a:solidFill>
                <a:srgbClr val="FF0000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cxnSp>
        <p:nvCxnSpPr>
          <p:cNvPr id="192" name="直接箭头连接符 191"/>
          <p:cNvCxnSpPr/>
          <p:nvPr/>
        </p:nvCxnSpPr>
        <p:spPr>
          <a:xfrm rot="10800000" flipV="1">
            <a:off x="8549264" y="3325813"/>
            <a:ext cx="3175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/>
          <p:cNvCxnSpPr/>
          <p:nvPr/>
        </p:nvCxnSpPr>
        <p:spPr>
          <a:xfrm rot="10800000" flipV="1">
            <a:off x="9001702" y="5106988"/>
            <a:ext cx="31750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/>
          <p:nvPr/>
        </p:nvCxnSpPr>
        <p:spPr>
          <a:xfrm flipV="1">
            <a:off x="9300152" y="4551363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rot="16200000" flipH="1">
            <a:off x="9358889" y="4597401"/>
            <a:ext cx="857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>
            <a:off x="9408102" y="4640263"/>
            <a:ext cx="4032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>
            <a:off x="8609589" y="2259013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rot="5400000">
            <a:off x="8498465" y="2373313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5400000">
            <a:off x="8457190" y="2366963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flipV="1">
            <a:off x="8149214" y="2820988"/>
            <a:ext cx="1111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>
            <a:off x="8253989" y="2363788"/>
            <a:ext cx="3206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endCxn id="144" idx="1"/>
          </p:cNvCxnSpPr>
          <p:nvPr/>
        </p:nvCxnSpPr>
        <p:spPr>
          <a:xfrm rot="16200000" flipH="1">
            <a:off x="8023801" y="2587626"/>
            <a:ext cx="4540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>
            <a:off x="8609589" y="2636838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5400000">
            <a:off x="8498465" y="2754313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5400000">
            <a:off x="8457190" y="2747963"/>
            <a:ext cx="22860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 205"/>
          <p:cNvSpPr/>
          <p:nvPr/>
        </p:nvSpPr>
        <p:spPr>
          <a:xfrm>
            <a:off x="8398452" y="4740276"/>
            <a:ext cx="327025" cy="492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07" name="直接箭头连接符 206"/>
          <p:cNvCxnSpPr/>
          <p:nvPr/>
        </p:nvCxnSpPr>
        <p:spPr>
          <a:xfrm flipV="1">
            <a:off x="9298564" y="4183063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/>
          <p:cNvCxnSpPr/>
          <p:nvPr/>
        </p:nvCxnSpPr>
        <p:spPr>
          <a:xfrm flipV="1">
            <a:off x="8739764" y="4395788"/>
            <a:ext cx="107950" cy="31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rot="5400000">
            <a:off x="8632608" y="2556669"/>
            <a:ext cx="160338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>
            <a:off x="8511164" y="3852863"/>
            <a:ext cx="111442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rot="16200000" flipH="1">
            <a:off x="8669914" y="4017963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>
            <a:off x="8739764" y="4176713"/>
            <a:ext cx="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rot="16200000" flipH="1">
            <a:off x="8627052" y="4291013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rot="5400000">
            <a:off x="8588158" y="4294982"/>
            <a:ext cx="23495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flipV="1">
            <a:off x="8558789" y="4294188"/>
            <a:ext cx="146050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 rot="5400000">
            <a:off x="9368414" y="3913188"/>
            <a:ext cx="82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>
            <a:off x="9295389" y="3954463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rot="5400000">
            <a:off x="9185058" y="4069557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rot="5400000">
            <a:off x="9143783" y="4063207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flipV="1">
            <a:off x="8835014" y="4516438"/>
            <a:ext cx="1111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>
            <a:off x="8939789" y="4059238"/>
            <a:ext cx="320675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rot="16200000" flipH="1">
            <a:off x="8709601" y="4283076"/>
            <a:ext cx="4540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>
            <a:off x="9295389" y="4332288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rot="5400000">
            <a:off x="9189821" y="4450557"/>
            <a:ext cx="228600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rot="5400000">
            <a:off x="9143783" y="4444207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rot="5400000">
            <a:off x="9318408" y="4252119"/>
            <a:ext cx="160338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rot="5400000">
            <a:off x="8470683" y="4714082"/>
            <a:ext cx="160337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>
            <a:off x="8447664" y="2751138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>
            <a:off x="9139814" y="4449763"/>
            <a:ext cx="1143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rot="16200000" flipH="1">
            <a:off x="8642926" y="4594226"/>
            <a:ext cx="4032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rot="16200000" flipH="1">
            <a:off x="7947601" y="2908301"/>
            <a:ext cx="40322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椭圆 231"/>
          <p:cNvSpPr/>
          <p:nvPr/>
        </p:nvSpPr>
        <p:spPr>
          <a:xfrm>
            <a:off x="8517514" y="4268788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3" name="椭圆 232"/>
          <p:cNvSpPr/>
          <p:nvPr/>
        </p:nvSpPr>
        <p:spPr>
          <a:xfrm>
            <a:off x="9092189" y="4427538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4" name="椭圆 233"/>
          <p:cNvSpPr/>
          <p:nvPr/>
        </p:nvSpPr>
        <p:spPr>
          <a:xfrm>
            <a:off x="8396864" y="2728913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5" name="椭圆 234"/>
          <p:cNvSpPr/>
          <p:nvPr/>
        </p:nvSpPr>
        <p:spPr>
          <a:xfrm>
            <a:off x="7825364" y="2579688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6" name="椭圆 235"/>
          <p:cNvSpPr/>
          <p:nvPr/>
        </p:nvSpPr>
        <p:spPr>
          <a:xfrm>
            <a:off x="7625339" y="3532188"/>
            <a:ext cx="2320925" cy="23383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成像器件的像敏单元的结构与工作原理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矩形 24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成像器件的组成架构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2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4932835" y="3476625"/>
            <a:ext cx="6440798" cy="850403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CMOS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成像器件的组成架构</a:t>
            </a: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2772565" y="3283064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5766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021394" y="2637462"/>
            <a:ext cx="3406658" cy="9318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CMOS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华文琥珀" pitchFamily="2" charset="-122"/>
                <a:ea typeface="华文琥珀" pitchFamily="2" charset="-122"/>
                <a:cs typeface="Times New Roman" pitchFamily="18" charset="0"/>
              </a:rPr>
              <a:t>成像器件的组成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306243" y="1899022"/>
            <a:ext cx="2957513" cy="565348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像敏单元阵列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306243" y="3481898"/>
            <a:ext cx="3935412" cy="565348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MOS</a:t>
            </a:r>
            <a:r>
              <a:rPr kumimoji="1" lang="zh-CN" altLang="en-US" sz="28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场效应管集成电路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000125" y="5334913"/>
            <a:ext cx="1155828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这两部分是集成在同一硅片上的。像敏单元阵列由光电二极管阵列构成。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成像器件的组成架构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="" xmlns:p14="http://schemas.microsoft.com/office/powerpoint/2010/main" val="130971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99057" y="1942482"/>
            <a:ext cx="5548968" cy="2031325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像敏单元阵列按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X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和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Y</a:t>
            </a:r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方向排列成方阵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，方阵中的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每一个像敏单元都有它在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Y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各方向上的地址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422650" y="4150376"/>
            <a:ext cx="74485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分别由两个方向的地址译码器进行选择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615564" y="894918"/>
            <a:ext cx="4743468" cy="3249089"/>
            <a:chOff x="7615564" y="894918"/>
            <a:chExt cx="4743468" cy="3249089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7809239" y="1196020"/>
              <a:ext cx="323850" cy="16525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7772727" y="1480182"/>
              <a:ext cx="414337" cy="10156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Y</a:t>
              </a:r>
              <a:endParaRPr lang="zh-CN" altLang="en-US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endParaRPr>
            </a:p>
            <a:p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地址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8306127" y="3775707"/>
              <a:ext cx="1687512" cy="3381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8650614" y="3740782"/>
              <a:ext cx="1492250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X</a:t>
              </a:r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地址</a:t>
              </a:r>
              <a:endParaRPr lang="en-US" altLang="zh-CN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8307714" y="3351845"/>
              <a:ext cx="1687513" cy="33813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10720584" y="3320095"/>
              <a:ext cx="1403350" cy="33813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10670153" y="2585082"/>
              <a:ext cx="1560513" cy="3381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0695960" y="2007232"/>
              <a:ext cx="1403350" cy="3381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0608001" y="938403"/>
              <a:ext cx="1671305" cy="8112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8288664" y="1191257"/>
              <a:ext cx="1714500" cy="16383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8326764" y="1261107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8537902" y="1262695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8741102" y="1262695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8950652" y="1256345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9161789" y="1257932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9364989" y="1257932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9579302" y="1256345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9790439" y="1257932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8329939" y="1467482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Rectangle 32"/>
            <p:cNvSpPr>
              <a:spLocks noChangeArrowheads="1"/>
            </p:cNvSpPr>
            <p:nvPr/>
          </p:nvSpPr>
          <p:spPr bwMode="auto">
            <a:xfrm>
              <a:off x="8533139" y="1467482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Rectangle 36"/>
            <p:cNvSpPr>
              <a:spLocks noChangeArrowheads="1"/>
            </p:cNvSpPr>
            <p:nvPr/>
          </p:nvSpPr>
          <p:spPr bwMode="auto">
            <a:xfrm>
              <a:off x="8328352" y="1681795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37"/>
            <p:cNvSpPr>
              <a:spLocks noChangeArrowheads="1"/>
            </p:cNvSpPr>
            <p:nvPr/>
          </p:nvSpPr>
          <p:spPr bwMode="auto">
            <a:xfrm>
              <a:off x="8331527" y="1910395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Rectangle 38"/>
            <p:cNvSpPr>
              <a:spLocks noChangeArrowheads="1"/>
            </p:cNvSpPr>
            <p:nvPr/>
          </p:nvSpPr>
          <p:spPr bwMode="auto">
            <a:xfrm>
              <a:off x="8331527" y="2129470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39"/>
            <p:cNvSpPr>
              <a:spLocks noChangeArrowheads="1"/>
            </p:cNvSpPr>
            <p:nvPr/>
          </p:nvSpPr>
          <p:spPr bwMode="auto">
            <a:xfrm>
              <a:off x="8331527" y="2345370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40"/>
            <p:cNvSpPr>
              <a:spLocks noChangeArrowheads="1"/>
            </p:cNvSpPr>
            <p:nvPr/>
          </p:nvSpPr>
          <p:spPr bwMode="auto">
            <a:xfrm>
              <a:off x="8333114" y="2572382"/>
              <a:ext cx="158750" cy="1651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42"/>
            <p:cNvSpPr>
              <a:spLocks noChangeShapeType="1"/>
            </p:cNvSpPr>
            <p:nvPr/>
          </p:nvSpPr>
          <p:spPr bwMode="auto">
            <a:xfrm>
              <a:off x="10511164" y="938403"/>
              <a:ext cx="6350" cy="31929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43"/>
            <p:cNvSpPr>
              <a:spLocks noChangeShapeType="1"/>
            </p:cNvSpPr>
            <p:nvPr/>
          </p:nvSpPr>
          <p:spPr bwMode="auto">
            <a:xfrm>
              <a:off x="9996814" y="3509007"/>
              <a:ext cx="520700" cy="119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 flipH="1" flipV="1">
              <a:off x="11266814" y="2912107"/>
              <a:ext cx="0" cy="392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46"/>
            <p:cNvSpPr>
              <a:spLocks noChangeShapeType="1"/>
            </p:cNvSpPr>
            <p:nvPr/>
          </p:nvSpPr>
          <p:spPr bwMode="auto">
            <a:xfrm flipH="1" flipV="1">
              <a:off x="11262052" y="2335845"/>
              <a:ext cx="0" cy="2524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7"/>
            <p:cNvSpPr>
              <a:spLocks noChangeShapeType="1"/>
            </p:cNvSpPr>
            <p:nvPr/>
          </p:nvSpPr>
          <p:spPr bwMode="auto">
            <a:xfrm flipH="1" flipV="1">
              <a:off x="11244589" y="1746882"/>
              <a:ext cx="0" cy="2524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8"/>
            <p:cNvSpPr>
              <a:spLocks noChangeShapeType="1"/>
            </p:cNvSpPr>
            <p:nvPr/>
          </p:nvSpPr>
          <p:spPr bwMode="auto">
            <a:xfrm>
              <a:off x="12126906" y="2170745"/>
              <a:ext cx="152400" cy="63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9"/>
            <p:cNvSpPr>
              <a:spLocks noChangeArrowheads="1"/>
            </p:cNvSpPr>
            <p:nvPr/>
          </p:nvSpPr>
          <p:spPr bwMode="auto">
            <a:xfrm>
              <a:off x="7615564" y="894918"/>
              <a:ext cx="4704556" cy="324908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  <a:miter lim="800000"/>
              <a:headEnd/>
              <a:tailEnd type="none" w="lg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 flipH="1" flipV="1">
              <a:off x="9990464" y="1470657"/>
              <a:ext cx="60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51"/>
            <p:cNvSpPr>
              <a:spLocks noChangeArrowheads="1"/>
            </p:cNvSpPr>
            <p:nvPr/>
          </p:nvSpPr>
          <p:spPr bwMode="auto">
            <a:xfrm>
              <a:off x="8766502" y="1421445"/>
              <a:ext cx="1281112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像敏单元行</a:t>
              </a:r>
            </a:p>
          </p:txBody>
        </p:sp>
        <p:sp>
          <p:nvSpPr>
            <p:cNvPr id="45" name="Rectangle 52"/>
            <p:cNvSpPr>
              <a:spLocks noChangeArrowheads="1"/>
            </p:cNvSpPr>
            <p:nvPr/>
          </p:nvSpPr>
          <p:spPr bwMode="auto">
            <a:xfrm rot="16200000">
              <a:off x="8032282" y="2009614"/>
              <a:ext cx="1281113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像敏单元列</a:t>
              </a: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8307714" y="2951795"/>
              <a:ext cx="1687513" cy="33813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60"/>
            <p:cNvSpPr>
              <a:spLocks noChangeShapeType="1"/>
            </p:cNvSpPr>
            <p:nvPr/>
          </p:nvSpPr>
          <p:spPr bwMode="auto">
            <a:xfrm>
              <a:off x="8447414" y="2831145"/>
              <a:ext cx="0" cy="128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61"/>
            <p:cNvSpPr>
              <a:spLocks noChangeShapeType="1"/>
            </p:cNvSpPr>
            <p:nvPr/>
          </p:nvSpPr>
          <p:spPr bwMode="auto">
            <a:xfrm>
              <a:off x="8653789" y="2831145"/>
              <a:ext cx="0" cy="2190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65"/>
            <p:cNvSpPr>
              <a:spLocks noChangeShapeType="1"/>
            </p:cNvSpPr>
            <p:nvPr/>
          </p:nvSpPr>
          <p:spPr bwMode="auto">
            <a:xfrm>
              <a:off x="8899852" y="2834320"/>
              <a:ext cx="0" cy="128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66"/>
            <p:cNvSpPr>
              <a:spLocks noChangeShapeType="1"/>
            </p:cNvSpPr>
            <p:nvPr/>
          </p:nvSpPr>
          <p:spPr bwMode="auto">
            <a:xfrm>
              <a:off x="9133214" y="2829557"/>
              <a:ext cx="0" cy="128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67"/>
            <p:cNvSpPr>
              <a:spLocks noChangeShapeType="1"/>
            </p:cNvSpPr>
            <p:nvPr/>
          </p:nvSpPr>
          <p:spPr bwMode="auto">
            <a:xfrm>
              <a:off x="9369752" y="2834320"/>
              <a:ext cx="0" cy="128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68"/>
            <p:cNvSpPr>
              <a:spLocks noChangeShapeType="1"/>
            </p:cNvSpPr>
            <p:nvPr/>
          </p:nvSpPr>
          <p:spPr bwMode="auto">
            <a:xfrm>
              <a:off x="9576127" y="2834320"/>
              <a:ext cx="0" cy="128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69"/>
            <p:cNvSpPr>
              <a:spLocks noChangeShapeType="1"/>
            </p:cNvSpPr>
            <p:nvPr/>
          </p:nvSpPr>
          <p:spPr bwMode="auto">
            <a:xfrm>
              <a:off x="9798377" y="2842257"/>
              <a:ext cx="0" cy="128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70"/>
            <p:cNvSpPr>
              <a:spLocks noChangeShapeType="1"/>
            </p:cNvSpPr>
            <p:nvPr/>
          </p:nvSpPr>
          <p:spPr bwMode="auto">
            <a:xfrm>
              <a:off x="8590289" y="3045457"/>
              <a:ext cx="123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71"/>
            <p:cNvSpPr>
              <a:spLocks noChangeShapeType="1"/>
            </p:cNvSpPr>
            <p:nvPr/>
          </p:nvSpPr>
          <p:spPr bwMode="auto">
            <a:xfrm>
              <a:off x="8585527" y="3043870"/>
              <a:ext cx="68262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 flipH="1">
              <a:off x="8653789" y="3045457"/>
              <a:ext cx="65088" cy="1619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73"/>
            <p:cNvSpPr>
              <a:spLocks noChangeShapeType="1"/>
            </p:cNvSpPr>
            <p:nvPr/>
          </p:nvSpPr>
          <p:spPr bwMode="auto">
            <a:xfrm>
              <a:off x="8653789" y="3207382"/>
              <a:ext cx="0" cy="141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74"/>
            <p:cNvSpPr>
              <a:spLocks noChangeShapeType="1"/>
            </p:cNvSpPr>
            <p:nvPr/>
          </p:nvSpPr>
          <p:spPr bwMode="auto">
            <a:xfrm>
              <a:off x="8461702" y="3283582"/>
              <a:ext cx="0" cy="69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75"/>
            <p:cNvSpPr>
              <a:spLocks noChangeShapeType="1"/>
            </p:cNvSpPr>
            <p:nvPr/>
          </p:nvSpPr>
          <p:spPr bwMode="auto">
            <a:xfrm>
              <a:off x="8891914" y="3283582"/>
              <a:ext cx="0" cy="71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76"/>
            <p:cNvSpPr>
              <a:spLocks noChangeShapeType="1"/>
            </p:cNvSpPr>
            <p:nvPr/>
          </p:nvSpPr>
          <p:spPr bwMode="auto">
            <a:xfrm>
              <a:off x="9136389" y="3283582"/>
              <a:ext cx="0" cy="71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80"/>
            <p:cNvSpPr>
              <a:spLocks noChangeShapeType="1"/>
            </p:cNvSpPr>
            <p:nvPr/>
          </p:nvSpPr>
          <p:spPr bwMode="auto">
            <a:xfrm>
              <a:off x="9363402" y="3283582"/>
              <a:ext cx="0" cy="71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81"/>
            <p:cNvSpPr>
              <a:spLocks noChangeShapeType="1"/>
            </p:cNvSpPr>
            <p:nvPr/>
          </p:nvSpPr>
          <p:spPr bwMode="auto">
            <a:xfrm>
              <a:off x="9582477" y="3283582"/>
              <a:ext cx="0" cy="71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82"/>
            <p:cNvSpPr>
              <a:spLocks noChangeShapeType="1"/>
            </p:cNvSpPr>
            <p:nvPr/>
          </p:nvSpPr>
          <p:spPr bwMode="auto">
            <a:xfrm>
              <a:off x="9806314" y="3280407"/>
              <a:ext cx="0" cy="71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83"/>
            <p:cNvSpPr>
              <a:spLocks noChangeShapeType="1"/>
            </p:cNvSpPr>
            <p:nvPr/>
          </p:nvSpPr>
          <p:spPr bwMode="auto">
            <a:xfrm>
              <a:off x="8461702" y="3682045"/>
              <a:ext cx="0" cy="968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84"/>
            <p:cNvSpPr>
              <a:spLocks noChangeShapeType="1"/>
            </p:cNvSpPr>
            <p:nvPr/>
          </p:nvSpPr>
          <p:spPr bwMode="auto">
            <a:xfrm>
              <a:off x="8655377" y="3683632"/>
              <a:ext cx="0" cy="96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85"/>
            <p:cNvSpPr>
              <a:spLocks noChangeShapeType="1"/>
            </p:cNvSpPr>
            <p:nvPr/>
          </p:nvSpPr>
          <p:spPr bwMode="auto">
            <a:xfrm>
              <a:off x="8903027" y="3685220"/>
              <a:ext cx="0" cy="968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86"/>
            <p:cNvSpPr>
              <a:spLocks noChangeShapeType="1"/>
            </p:cNvSpPr>
            <p:nvPr/>
          </p:nvSpPr>
          <p:spPr bwMode="auto">
            <a:xfrm>
              <a:off x="9149089" y="3677282"/>
              <a:ext cx="0" cy="96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87"/>
            <p:cNvSpPr>
              <a:spLocks noChangeShapeType="1"/>
            </p:cNvSpPr>
            <p:nvPr/>
          </p:nvSpPr>
          <p:spPr bwMode="auto">
            <a:xfrm>
              <a:off x="9368164" y="3680457"/>
              <a:ext cx="0" cy="96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88"/>
            <p:cNvSpPr>
              <a:spLocks noChangeShapeType="1"/>
            </p:cNvSpPr>
            <p:nvPr/>
          </p:nvSpPr>
          <p:spPr bwMode="auto">
            <a:xfrm>
              <a:off x="9593589" y="3680457"/>
              <a:ext cx="0" cy="96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89"/>
            <p:cNvSpPr>
              <a:spLocks noChangeShapeType="1"/>
            </p:cNvSpPr>
            <p:nvPr/>
          </p:nvSpPr>
          <p:spPr bwMode="auto">
            <a:xfrm>
              <a:off x="9811077" y="3680457"/>
              <a:ext cx="0" cy="96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90"/>
            <p:cNvSpPr>
              <a:spLocks noChangeArrowheads="1"/>
            </p:cNvSpPr>
            <p:nvPr/>
          </p:nvSpPr>
          <p:spPr bwMode="auto">
            <a:xfrm>
              <a:off x="8307714" y="3337557"/>
              <a:ext cx="1739899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  <a:ea typeface="微软雅黑" pitchFamily="34" charset="-122"/>
                </a:rPr>
                <a:t>多路模拟开关</a:t>
              </a:r>
            </a:p>
          </p:txBody>
        </p:sp>
        <p:sp>
          <p:nvSpPr>
            <p:cNvPr id="72" name="Rectangle 91"/>
            <p:cNvSpPr>
              <a:spLocks noChangeArrowheads="1"/>
            </p:cNvSpPr>
            <p:nvPr/>
          </p:nvSpPr>
          <p:spPr bwMode="auto">
            <a:xfrm>
              <a:off x="8647439" y="2942270"/>
              <a:ext cx="15875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  <a:ea typeface="微软雅黑" pitchFamily="34" charset="-122"/>
                </a:rPr>
                <a:t>列放大器</a:t>
              </a:r>
            </a:p>
          </p:txBody>
        </p:sp>
        <p:sp>
          <p:nvSpPr>
            <p:cNvPr id="73" name="Rectangle 95"/>
            <p:cNvSpPr>
              <a:spLocks noChangeArrowheads="1"/>
            </p:cNvSpPr>
            <p:nvPr/>
          </p:nvSpPr>
          <p:spPr bwMode="auto">
            <a:xfrm>
              <a:off x="10573888" y="1036203"/>
              <a:ext cx="1785144" cy="707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  <a:ea typeface="微软雅黑" pitchFamily="34" charset="-122"/>
                </a:rPr>
                <a:t>同步控制电路</a:t>
              </a:r>
            </a:p>
            <a:p>
              <a:r>
                <a:rPr lang="zh-CN" altLang="en-US" b="1" dirty="0">
                  <a:latin typeface="Times New Roman" pitchFamily="18" charset="0"/>
                  <a:ea typeface="微软雅黑" pitchFamily="34" charset="-122"/>
                </a:rPr>
                <a:t>时序脉冲电路</a:t>
              </a:r>
            </a:p>
          </p:txBody>
        </p:sp>
        <p:sp>
          <p:nvSpPr>
            <p:cNvPr id="74" name="Rectangle 96"/>
            <p:cNvSpPr>
              <a:spLocks noChangeArrowheads="1"/>
            </p:cNvSpPr>
            <p:nvPr/>
          </p:nvSpPr>
          <p:spPr bwMode="auto">
            <a:xfrm>
              <a:off x="10783272" y="1973895"/>
              <a:ext cx="123825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latin typeface="Times New Roman" pitchFamily="18" charset="0"/>
                  <a:ea typeface="微软雅黑" pitchFamily="34" charset="-122"/>
                </a:rPr>
                <a:t>接口电路</a:t>
              </a:r>
            </a:p>
          </p:txBody>
        </p:sp>
        <p:sp>
          <p:nvSpPr>
            <p:cNvPr id="75" name="Rectangle 97"/>
            <p:cNvSpPr>
              <a:spLocks noChangeArrowheads="1"/>
            </p:cNvSpPr>
            <p:nvPr/>
          </p:nvSpPr>
          <p:spPr bwMode="auto">
            <a:xfrm>
              <a:off x="10708254" y="2572382"/>
              <a:ext cx="1522412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Times New Roman" pitchFamily="18" charset="0"/>
                  <a:ea typeface="微软雅黑" pitchFamily="34" charset="-122"/>
                </a:rPr>
                <a:t>预处理电路</a:t>
              </a:r>
            </a:p>
          </p:txBody>
        </p:sp>
        <p:sp>
          <p:nvSpPr>
            <p:cNvPr id="76" name="Rectangle 98"/>
            <p:cNvSpPr>
              <a:spLocks noChangeArrowheads="1"/>
            </p:cNvSpPr>
            <p:nvPr/>
          </p:nvSpPr>
          <p:spPr bwMode="auto">
            <a:xfrm>
              <a:off x="10737032" y="3289932"/>
              <a:ext cx="1427162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ea typeface="微软雅黑" pitchFamily="34" charset="-122"/>
                </a:rPr>
                <a:t>A/D</a:t>
              </a:r>
              <a:r>
                <a:rPr lang="zh-CN" altLang="en-US" b="1" dirty="0">
                  <a:latin typeface="Times New Roman" pitchFamily="18" charset="0"/>
                  <a:ea typeface="微软雅黑" pitchFamily="34" charset="-122"/>
                </a:rPr>
                <a:t>转换器</a:t>
              </a:r>
            </a:p>
          </p:txBody>
        </p:sp>
        <p:sp>
          <p:nvSpPr>
            <p:cNvPr id="77" name="Line 99"/>
            <p:cNvSpPr>
              <a:spLocks noChangeShapeType="1"/>
            </p:cNvSpPr>
            <p:nvPr/>
          </p:nvSpPr>
          <p:spPr bwMode="auto">
            <a:xfrm>
              <a:off x="8126739" y="1318257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100"/>
            <p:cNvSpPr>
              <a:spLocks noChangeShapeType="1"/>
            </p:cNvSpPr>
            <p:nvPr/>
          </p:nvSpPr>
          <p:spPr bwMode="auto">
            <a:xfrm>
              <a:off x="8128327" y="1538920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01"/>
            <p:cNvSpPr>
              <a:spLocks noChangeShapeType="1"/>
            </p:cNvSpPr>
            <p:nvPr/>
          </p:nvSpPr>
          <p:spPr bwMode="auto">
            <a:xfrm>
              <a:off x="8128327" y="1770695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02"/>
            <p:cNvSpPr>
              <a:spLocks noChangeShapeType="1"/>
            </p:cNvSpPr>
            <p:nvPr/>
          </p:nvSpPr>
          <p:spPr bwMode="auto">
            <a:xfrm>
              <a:off x="8128327" y="1980245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03"/>
            <p:cNvSpPr>
              <a:spLocks noChangeShapeType="1"/>
            </p:cNvSpPr>
            <p:nvPr/>
          </p:nvSpPr>
          <p:spPr bwMode="auto">
            <a:xfrm>
              <a:off x="8128327" y="2205670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04"/>
            <p:cNvSpPr>
              <a:spLocks noChangeShapeType="1"/>
            </p:cNvSpPr>
            <p:nvPr/>
          </p:nvSpPr>
          <p:spPr bwMode="auto">
            <a:xfrm>
              <a:off x="8125152" y="2434270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05"/>
            <p:cNvSpPr>
              <a:spLocks noChangeShapeType="1"/>
            </p:cNvSpPr>
            <p:nvPr/>
          </p:nvSpPr>
          <p:spPr bwMode="auto">
            <a:xfrm>
              <a:off x="8125152" y="2662870"/>
              <a:ext cx="161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1081088" y="4656375"/>
            <a:ext cx="6065837" cy="2585323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每一列像敏单元都</a:t>
            </a:r>
            <a:r>
              <a:rPr lang="zh-CN" altLang="en-US" sz="2800" b="1" dirty="0">
                <a:solidFill>
                  <a:srgbClr val="FF00FF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对应于一个列放大器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列放大器的输出信号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分别接到由</a:t>
            </a:r>
            <a:r>
              <a:rPr lang="en-US" altLang="zh-CN" sz="2800" b="1" dirty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X</a:t>
            </a:r>
            <a:r>
              <a:rPr lang="zh-CN" altLang="en-US" sz="2800" b="1" dirty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方向地址译码控制器进行选择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的模拟多路开关，并输出至输出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放大器。</a:t>
            </a:r>
            <a:endParaRPr lang="zh-CN" altLang="en-US" sz="24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7449653" y="4936384"/>
            <a:ext cx="5332492" cy="2031325"/>
          </a:xfrm>
          <a:prstGeom prst="rect">
            <a:avLst/>
          </a:prstGeom>
          <a:noFill/>
          <a:ln w="31750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输出放大器的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华文彩云" pitchFamily="2" charset="-122"/>
                <a:cs typeface="Times New Roman" pitchFamily="18" charset="0"/>
              </a:rPr>
              <a:t>输出信号送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华文彩云" pitchFamily="2" charset="-122"/>
                <a:cs typeface="Times New Roman" pitchFamily="18" charset="0"/>
              </a:rPr>
              <a:t>A/D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华文彩云" pitchFamily="2" charset="-122"/>
                <a:cs typeface="Times New Roman" pitchFamily="18" charset="0"/>
              </a:rPr>
              <a:t>转换器进行模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华文彩云" pitchFamily="2" charset="-122"/>
                <a:cs typeface="Times New Roman" pitchFamily="18" charset="0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华文彩云" pitchFamily="2" charset="-122"/>
                <a:cs typeface="Times New Roman" pitchFamily="18" charset="0"/>
              </a:rPr>
              <a:t>数转换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变成数字信号，经预处理电路处理后通过</a:t>
            </a:r>
            <a:r>
              <a:rPr lang="zh-CN" altLang="en-US" sz="2800" b="1" dirty="0">
                <a:solidFill>
                  <a:srgbClr val="0000CC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接口电路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输出。</a:t>
            </a: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2049091" y="879313"/>
            <a:ext cx="3406658" cy="93186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CMOS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华文琥珀" pitchFamily="2" charset="-122"/>
                <a:ea typeface="华文琥珀" pitchFamily="2" charset="-122"/>
                <a:cs typeface="Times New Roman" pitchFamily="18" charset="0"/>
              </a:rPr>
              <a:t>成像器件的组成 </a:t>
            </a:r>
          </a:p>
        </p:txBody>
      </p:sp>
      <p:sp>
        <p:nvSpPr>
          <p:cNvPr id="9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成像器件的组成架构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="" xmlns:p14="http://schemas.microsoft.com/office/powerpoint/2010/main" val="168727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85" grpId="0" animBg="1"/>
      <p:bldP spid="86" grpId="0" animBg="1"/>
      <p:bldP spid="8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27277" y="918467"/>
            <a:ext cx="8340962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方向地址译码器的控制下，依次序接通每行像敏单元上的</a:t>
            </a: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模拟开关（</a:t>
            </a:r>
            <a:r>
              <a:rPr lang="en-US" altLang="zh-CN" sz="2400" b="1" dirty="0" err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baseline="-25000" dirty="0" err="1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i,j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72884" y="2383870"/>
            <a:ext cx="8628198" cy="113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信号将通过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行开关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传送到</a:t>
            </a: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列线上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，再通过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方向地址译码器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（可以采用移位寄存器）的控制，输送到放大器。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415395" y="954087"/>
            <a:ext cx="3773487" cy="3268722"/>
            <a:chOff x="9415395" y="954087"/>
            <a:chExt cx="3773487" cy="3268722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9451907" y="954087"/>
              <a:ext cx="323850" cy="22240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9415395" y="1101724"/>
              <a:ext cx="414337" cy="19389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Y</a:t>
              </a:r>
            </a:p>
            <a:p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移</a:t>
              </a:r>
            </a:p>
            <a:p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位</a:t>
              </a:r>
            </a:p>
            <a:p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寄</a:t>
              </a:r>
            </a:p>
            <a:p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存</a:t>
              </a:r>
            </a:p>
            <a:p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器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0763182" y="3822699"/>
              <a:ext cx="1653017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X</a:t>
              </a:r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</a:rPr>
                <a:t>移位寄存器</a:t>
              </a:r>
              <a:endParaRPr lang="en-US" altLang="zh-CN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9990070" y="3859212"/>
              <a:ext cx="30289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9990070" y="3859212"/>
              <a:ext cx="0" cy="295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V="1">
              <a:off x="9985307" y="4149724"/>
              <a:ext cx="3009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1971270" y="3559174"/>
              <a:ext cx="99695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输出总线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1104495" y="1866899"/>
              <a:ext cx="74930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第 </a:t>
              </a:r>
              <a:r>
                <a:rPr lang="en-US" altLang="zh-CN" sz="1600" b="1" i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i </a:t>
              </a:r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行</a:t>
              </a: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11448982" y="2455862"/>
              <a:ext cx="387350" cy="8255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第</a:t>
              </a:r>
            </a:p>
            <a:p>
              <a:r>
                <a:rPr lang="en-US" altLang="zh-CN" sz="1600" b="1" i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 j</a:t>
              </a:r>
            </a:p>
            <a:p>
              <a:r>
                <a:rPr lang="zh-CN" altLang="en-US" sz="1600" b="1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</a:rPr>
                <a:t>列</a:t>
              </a: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9785282" y="1154112"/>
              <a:ext cx="30861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9770995" y="2173287"/>
              <a:ext cx="26860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12457045" y="2168524"/>
              <a:ext cx="0" cy="180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10790170" y="1158874"/>
              <a:ext cx="0" cy="2176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H="1">
              <a:off x="11779182" y="1157287"/>
              <a:ext cx="4763" cy="21145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2765020" y="1162049"/>
              <a:ext cx="0" cy="2176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1771245" y="3270249"/>
              <a:ext cx="171450" cy="809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2414182" y="1152524"/>
              <a:ext cx="0" cy="200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 flipV="1">
              <a:off x="12341157" y="1239837"/>
              <a:ext cx="190500" cy="185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12090332" y="1425574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 flipV="1">
              <a:off x="12007782" y="1635124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 flipH="1">
              <a:off x="12012545" y="1639887"/>
              <a:ext cx="77787" cy="112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12012545" y="1754187"/>
              <a:ext cx="144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12088745" y="1647824"/>
              <a:ext cx="73025" cy="1095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12023657" y="1982787"/>
              <a:ext cx="1222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H="1">
              <a:off x="12088745" y="1420812"/>
              <a:ext cx="1587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>
              <a:off x="11823632" y="1624012"/>
              <a:ext cx="165100" cy="55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11817282" y="1687512"/>
              <a:ext cx="165100" cy="55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V="1">
              <a:off x="12464982" y="1427162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6"/>
            <p:cNvSpPr>
              <a:spLocks noChangeArrowheads="1"/>
            </p:cNvSpPr>
            <p:nvPr/>
          </p:nvSpPr>
          <p:spPr bwMode="auto">
            <a:xfrm>
              <a:off x="11928407" y="1101724"/>
              <a:ext cx="566738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1, 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j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+1</a:t>
              </a:r>
              <a:endParaRPr lang="en-US" altLang="zh-CN" sz="1400" b="1" i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12090332" y="1779587"/>
              <a:ext cx="566738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i 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, 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j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+1</a:t>
              </a:r>
              <a:endParaRPr lang="en-US" altLang="zh-CN" sz="1400" b="1" i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11399770" y="1147762"/>
              <a:ext cx="0" cy="200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 flipV="1">
              <a:off x="11326745" y="1235074"/>
              <a:ext cx="190500" cy="1857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11075920" y="1420812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V="1">
              <a:off x="10993370" y="1630362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 flipH="1">
              <a:off x="10998132" y="1635124"/>
              <a:ext cx="77788" cy="112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10998132" y="1749424"/>
              <a:ext cx="144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11074332" y="1643062"/>
              <a:ext cx="73025" cy="1095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>
              <a:off x="11009245" y="1978024"/>
              <a:ext cx="12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 flipH="1">
              <a:off x="11074332" y="1416049"/>
              <a:ext cx="1588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10809220" y="1619249"/>
              <a:ext cx="165100" cy="55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 flipV="1">
              <a:off x="11450570" y="142239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11002895" y="1116012"/>
              <a:ext cx="566737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1, 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j</a:t>
              </a: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10440920" y="1160462"/>
              <a:ext cx="0" cy="200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 flipV="1">
              <a:off x="10367895" y="1247774"/>
              <a:ext cx="190500" cy="1857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10117070" y="1433512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 flipV="1">
              <a:off x="10034520" y="1643062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 flipH="1">
              <a:off x="10039282" y="1647824"/>
              <a:ext cx="77788" cy="112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10039282" y="1762124"/>
              <a:ext cx="144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>
              <a:off x="10115482" y="1655762"/>
              <a:ext cx="73025" cy="1095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10050395" y="1990724"/>
              <a:ext cx="12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10115482" y="1428749"/>
              <a:ext cx="1588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9850370" y="1631949"/>
              <a:ext cx="165100" cy="55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V="1">
              <a:off x="10491720" y="143509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10075795" y="1109662"/>
              <a:ext cx="566737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1,1</a:t>
              </a:r>
              <a:endParaRPr lang="en-US" altLang="zh-CN" sz="1400" b="1" i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65" name="Line 65"/>
            <p:cNvSpPr>
              <a:spLocks noChangeShapeType="1"/>
            </p:cNvSpPr>
            <p:nvPr/>
          </p:nvSpPr>
          <p:spPr bwMode="auto">
            <a:xfrm>
              <a:off x="10440920" y="2163762"/>
              <a:ext cx="0" cy="200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6"/>
            <p:cNvSpPr>
              <a:spLocks noChangeShapeType="1"/>
            </p:cNvSpPr>
            <p:nvPr/>
          </p:nvSpPr>
          <p:spPr bwMode="auto">
            <a:xfrm flipV="1">
              <a:off x="10367895" y="2251074"/>
              <a:ext cx="190500" cy="1857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7"/>
            <p:cNvSpPr>
              <a:spLocks noChangeShapeType="1"/>
            </p:cNvSpPr>
            <p:nvPr/>
          </p:nvSpPr>
          <p:spPr bwMode="auto">
            <a:xfrm>
              <a:off x="10117070" y="2436812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8"/>
            <p:cNvSpPr>
              <a:spLocks noChangeShapeType="1"/>
            </p:cNvSpPr>
            <p:nvPr/>
          </p:nvSpPr>
          <p:spPr bwMode="auto">
            <a:xfrm flipV="1">
              <a:off x="10034520" y="2646362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9"/>
            <p:cNvSpPr>
              <a:spLocks noChangeShapeType="1"/>
            </p:cNvSpPr>
            <p:nvPr/>
          </p:nvSpPr>
          <p:spPr bwMode="auto">
            <a:xfrm flipH="1">
              <a:off x="10039282" y="2651124"/>
              <a:ext cx="77788" cy="112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70"/>
            <p:cNvSpPr>
              <a:spLocks noChangeShapeType="1"/>
            </p:cNvSpPr>
            <p:nvPr/>
          </p:nvSpPr>
          <p:spPr bwMode="auto">
            <a:xfrm>
              <a:off x="10039282" y="2765424"/>
              <a:ext cx="144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71"/>
            <p:cNvSpPr>
              <a:spLocks noChangeShapeType="1"/>
            </p:cNvSpPr>
            <p:nvPr/>
          </p:nvSpPr>
          <p:spPr bwMode="auto">
            <a:xfrm>
              <a:off x="10115482" y="2659062"/>
              <a:ext cx="73025" cy="1095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2"/>
            <p:cNvSpPr>
              <a:spLocks noChangeShapeType="1"/>
            </p:cNvSpPr>
            <p:nvPr/>
          </p:nvSpPr>
          <p:spPr bwMode="auto">
            <a:xfrm>
              <a:off x="10050395" y="2994024"/>
              <a:ext cx="12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3"/>
            <p:cNvSpPr>
              <a:spLocks noChangeShapeType="1"/>
            </p:cNvSpPr>
            <p:nvPr/>
          </p:nvSpPr>
          <p:spPr bwMode="auto">
            <a:xfrm flipH="1">
              <a:off x="10115482" y="2432049"/>
              <a:ext cx="1588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4"/>
            <p:cNvSpPr>
              <a:spLocks noChangeShapeType="1"/>
            </p:cNvSpPr>
            <p:nvPr/>
          </p:nvSpPr>
          <p:spPr bwMode="auto">
            <a:xfrm>
              <a:off x="9850370" y="2635249"/>
              <a:ext cx="165100" cy="55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75"/>
            <p:cNvSpPr>
              <a:spLocks noChangeShapeType="1"/>
            </p:cNvSpPr>
            <p:nvPr/>
          </p:nvSpPr>
          <p:spPr bwMode="auto">
            <a:xfrm flipV="1">
              <a:off x="10491720" y="2438399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76"/>
            <p:cNvSpPr>
              <a:spLocks noChangeArrowheads="1"/>
            </p:cNvSpPr>
            <p:nvPr/>
          </p:nvSpPr>
          <p:spPr bwMode="auto">
            <a:xfrm>
              <a:off x="10044045" y="2151062"/>
              <a:ext cx="566737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i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,1</a:t>
              </a:r>
              <a:endParaRPr lang="en-US" altLang="zh-CN" sz="1400" b="1" i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77" name="Line 78"/>
            <p:cNvSpPr>
              <a:spLocks noChangeShapeType="1"/>
            </p:cNvSpPr>
            <p:nvPr/>
          </p:nvSpPr>
          <p:spPr bwMode="auto">
            <a:xfrm>
              <a:off x="11420407" y="2178049"/>
              <a:ext cx="0" cy="2000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9"/>
            <p:cNvSpPr>
              <a:spLocks noChangeShapeType="1"/>
            </p:cNvSpPr>
            <p:nvPr/>
          </p:nvSpPr>
          <p:spPr bwMode="auto">
            <a:xfrm flipV="1">
              <a:off x="11347382" y="2265362"/>
              <a:ext cx="190500" cy="185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80"/>
            <p:cNvSpPr>
              <a:spLocks noChangeShapeType="1"/>
            </p:cNvSpPr>
            <p:nvPr/>
          </p:nvSpPr>
          <p:spPr bwMode="auto">
            <a:xfrm>
              <a:off x="11096557" y="2451099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81"/>
            <p:cNvSpPr>
              <a:spLocks noChangeShapeType="1"/>
            </p:cNvSpPr>
            <p:nvPr/>
          </p:nvSpPr>
          <p:spPr bwMode="auto">
            <a:xfrm flipV="1">
              <a:off x="11014007" y="2660649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82"/>
            <p:cNvSpPr>
              <a:spLocks noChangeShapeType="1"/>
            </p:cNvSpPr>
            <p:nvPr/>
          </p:nvSpPr>
          <p:spPr bwMode="auto">
            <a:xfrm flipH="1">
              <a:off x="11018770" y="2665412"/>
              <a:ext cx="77787" cy="112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3"/>
            <p:cNvSpPr>
              <a:spLocks noChangeShapeType="1"/>
            </p:cNvSpPr>
            <p:nvPr/>
          </p:nvSpPr>
          <p:spPr bwMode="auto">
            <a:xfrm>
              <a:off x="11018770" y="2779712"/>
              <a:ext cx="144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4"/>
            <p:cNvSpPr>
              <a:spLocks noChangeShapeType="1"/>
            </p:cNvSpPr>
            <p:nvPr/>
          </p:nvSpPr>
          <p:spPr bwMode="auto">
            <a:xfrm>
              <a:off x="11094970" y="2673349"/>
              <a:ext cx="73025" cy="1095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5"/>
            <p:cNvSpPr>
              <a:spLocks noChangeShapeType="1"/>
            </p:cNvSpPr>
            <p:nvPr/>
          </p:nvSpPr>
          <p:spPr bwMode="auto">
            <a:xfrm>
              <a:off x="11029882" y="3008312"/>
              <a:ext cx="1222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6"/>
            <p:cNvSpPr>
              <a:spLocks noChangeShapeType="1"/>
            </p:cNvSpPr>
            <p:nvPr/>
          </p:nvSpPr>
          <p:spPr bwMode="auto">
            <a:xfrm flipH="1">
              <a:off x="11094970" y="2446337"/>
              <a:ext cx="1587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>
              <a:off x="10829857" y="2649537"/>
              <a:ext cx="165100" cy="55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8"/>
            <p:cNvSpPr>
              <a:spLocks noChangeShapeType="1"/>
            </p:cNvSpPr>
            <p:nvPr/>
          </p:nvSpPr>
          <p:spPr bwMode="auto">
            <a:xfrm flipV="1">
              <a:off x="11471207" y="2452687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Rectangle 89"/>
            <p:cNvSpPr>
              <a:spLocks noChangeArrowheads="1"/>
            </p:cNvSpPr>
            <p:nvPr/>
          </p:nvSpPr>
          <p:spPr bwMode="auto">
            <a:xfrm>
              <a:off x="11010832" y="2139949"/>
              <a:ext cx="566738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i , j</a:t>
              </a:r>
            </a:p>
          </p:txBody>
        </p:sp>
        <p:sp>
          <p:nvSpPr>
            <p:cNvPr id="89" name="Line 92"/>
            <p:cNvSpPr>
              <a:spLocks noChangeShapeType="1"/>
            </p:cNvSpPr>
            <p:nvPr/>
          </p:nvSpPr>
          <p:spPr bwMode="auto">
            <a:xfrm flipV="1">
              <a:off x="12372907" y="2243137"/>
              <a:ext cx="190500" cy="185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93"/>
            <p:cNvSpPr>
              <a:spLocks noChangeShapeType="1"/>
            </p:cNvSpPr>
            <p:nvPr/>
          </p:nvSpPr>
          <p:spPr bwMode="auto">
            <a:xfrm>
              <a:off x="12122082" y="2428874"/>
              <a:ext cx="250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94"/>
            <p:cNvSpPr>
              <a:spLocks noChangeShapeType="1"/>
            </p:cNvSpPr>
            <p:nvPr/>
          </p:nvSpPr>
          <p:spPr bwMode="auto">
            <a:xfrm flipV="1">
              <a:off x="12039532" y="2638424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95"/>
            <p:cNvSpPr>
              <a:spLocks noChangeShapeType="1"/>
            </p:cNvSpPr>
            <p:nvPr/>
          </p:nvSpPr>
          <p:spPr bwMode="auto">
            <a:xfrm flipH="1">
              <a:off x="12044295" y="2643187"/>
              <a:ext cx="77787" cy="112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6"/>
            <p:cNvSpPr>
              <a:spLocks noChangeShapeType="1"/>
            </p:cNvSpPr>
            <p:nvPr/>
          </p:nvSpPr>
          <p:spPr bwMode="auto">
            <a:xfrm>
              <a:off x="12044295" y="2757487"/>
              <a:ext cx="144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97"/>
            <p:cNvSpPr>
              <a:spLocks noChangeShapeType="1"/>
            </p:cNvSpPr>
            <p:nvPr/>
          </p:nvSpPr>
          <p:spPr bwMode="auto">
            <a:xfrm>
              <a:off x="12120495" y="2651124"/>
              <a:ext cx="73025" cy="1095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98"/>
            <p:cNvSpPr>
              <a:spLocks noChangeShapeType="1"/>
            </p:cNvSpPr>
            <p:nvPr/>
          </p:nvSpPr>
          <p:spPr bwMode="auto">
            <a:xfrm>
              <a:off x="12055407" y="2986087"/>
              <a:ext cx="1222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99"/>
            <p:cNvSpPr>
              <a:spLocks noChangeShapeType="1"/>
            </p:cNvSpPr>
            <p:nvPr/>
          </p:nvSpPr>
          <p:spPr bwMode="auto">
            <a:xfrm flipH="1">
              <a:off x="12120495" y="2424112"/>
              <a:ext cx="1587" cy="571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100"/>
            <p:cNvSpPr>
              <a:spLocks noChangeShapeType="1"/>
            </p:cNvSpPr>
            <p:nvPr/>
          </p:nvSpPr>
          <p:spPr bwMode="auto">
            <a:xfrm>
              <a:off x="11855382" y="2627312"/>
              <a:ext cx="165100" cy="55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101"/>
            <p:cNvSpPr>
              <a:spLocks noChangeShapeType="1"/>
            </p:cNvSpPr>
            <p:nvPr/>
          </p:nvSpPr>
          <p:spPr bwMode="auto">
            <a:xfrm flipV="1">
              <a:off x="12496732" y="2424112"/>
              <a:ext cx="273050" cy="63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04"/>
            <p:cNvSpPr>
              <a:spLocks noChangeShapeType="1"/>
            </p:cNvSpPr>
            <p:nvPr/>
          </p:nvSpPr>
          <p:spPr bwMode="auto">
            <a:xfrm>
              <a:off x="11525182" y="2270124"/>
              <a:ext cx="134938" cy="176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05"/>
            <p:cNvSpPr>
              <a:spLocks noChangeShapeType="1"/>
            </p:cNvSpPr>
            <p:nvPr/>
          </p:nvSpPr>
          <p:spPr bwMode="auto">
            <a:xfrm flipV="1">
              <a:off x="10785407" y="3597274"/>
              <a:ext cx="22479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06"/>
            <p:cNvSpPr>
              <a:spLocks noChangeShapeType="1"/>
            </p:cNvSpPr>
            <p:nvPr/>
          </p:nvSpPr>
          <p:spPr bwMode="auto">
            <a:xfrm flipV="1">
              <a:off x="10842557" y="3322637"/>
              <a:ext cx="200025" cy="190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07"/>
            <p:cNvSpPr>
              <a:spLocks noChangeShapeType="1"/>
            </p:cNvSpPr>
            <p:nvPr/>
          </p:nvSpPr>
          <p:spPr bwMode="auto">
            <a:xfrm>
              <a:off x="10842557" y="3506787"/>
              <a:ext cx="0" cy="90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8"/>
            <p:cNvSpPr>
              <a:spLocks noChangeShapeType="1"/>
            </p:cNvSpPr>
            <p:nvPr/>
          </p:nvSpPr>
          <p:spPr bwMode="auto">
            <a:xfrm>
              <a:off x="10923520" y="3432174"/>
              <a:ext cx="114300" cy="90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9"/>
            <p:cNvSpPr>
              <a:spLocks noChangeShapeType="1"/>
            </p:cNvSpPr>
            <p:nvPr/>
          </p:nvSpPr>
          <p:spPr bwMode="auto">
            <a:xfrm>
              <a:off x="11033057" y="3521074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Rectangle 110"/>
            <p:cNvSpPr>
              <a:spLocks noChangeArrowheads="1"/>
            </p:cNvSpPr>
            <p:nvPr/>
          </p:nvSpPr>
          <p:spPr bwMode="auto">
            <a:xfrm>
              <a:off x="10985432" y="3273424"/>
              <a:ext cx="490538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1</a:t>
              </a:r>
              <a:endParaRPr lang="en-US" altLang="zh-CN" sz="1400" b="1" i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  <p:sp>
          <p:nvSpPr>
            <p:cNvPr id="106" name="Line 111"/>
            <p:cNvSpPr>
              <a:spLocks noChangeShapeType="1"/>
            </p:cNvSpPr>
            <p:nvPr/>
          </p:nvSpPr>
          <p:spPr bwMode="auto">
            <a:xfrm flipV="1">
              <a:off x="11793470" y="3321049"/>
              <a:ext cx="200025" cy="190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12"/>
            <p:cNvSpPr>
              <a:spLocks noChangeShapeType="1"/>
            </p:cNvSpPr>
            <p:nvPr/>
          </p:nvSpPr>
          <p:spPr bwMode="auto">
            <a:xfrm>
              <a:off x="11793470" y="3505199"/>
              <a:ext cx="0" cy="90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13"/>
            <p:cNvSpPr>
              <a:spLocks noChangeShapeType="1"/>
            </p:cNvSpPr>
            <p:nvPr/>
          </p:nvSpPr>
          <p:spPr bwMode="auto">
            <a:xfrm>
              <a:off x="11874432" y="3430587"/>
              <a:ext cx="114300" cy="90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14"/>
            <p:cNvSpPr>
              <a:spLocks noChangeShapeType="1"/>
            </p:cNvSpPr>
            <p:nvPr/>
          </p:nvSpPr>
          <p:spPr bwMode="auto">
            <a:xfrm>
              <a:off x="11983970" y="3519487"/>
              <a:ext cx="0" cy="3476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Rectangle 115"/>
            <p:cNvSpPr>
              <a:spLocks noChangeArrowheads="1"/>
            </p:cNvSpPr>
            <p:nvPr/>
          </p:nvSpPr>
          <p:spPr bwMode="auto">
            <a:xfrm>
              <a:off x="11936345" y="3271837"/>
              <a:ext cx="490537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j</a:t>
              </a:r>
            </a:p>
          </p:txBody>
        </p:sp>
        <p:sp>
          <p:nvSpPr>
            <p:cNvPr id="111" name="Line 116"/>
            <p:cNvSpPr>
              <a:spLocks noChangeShapeType="1"/>
            </p:cNvSpPr>
            <p:nvPr/>
          </p:nvSpPr>
          <p:spPr bwMode="auto">
            <a:xfrm flipV="1">
              <a:off x="12755495" y="3316287"/>
              <a:ext cx="200025" cy="190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17"/>
            <p:cNvSpPr>
              <a:spLocks noChangeShapeType="1"/>
            </p:cNvSpPr>
            <p:nvPr/>
          </p:nvSpPr>
          <p:spPr bwMode="auto">
            <a:xfrm>
              <a:off x="12755495" y="3500437"/>
              <a:ext cx="0" cy="90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18"/>
            <p:cNvSpPr>
              <a:spLocks noChangeShapeType="1"/>
            </p:cNvSpPr>
            <p:nvPr/>
          </p:nvSpPr>
          <p:spPr bwMode="auto">
            <a:xfrm>
              <a:off x="12836457" y="3425824"/>
              <a:ext cx="114300" cy="90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19"/>
            <p:cNvSpPr>
              <a:spLocks noChangeShapeType="1"/>
            </p:cNvSpPr>
            <p:nvPr/>
          </p:nvSpPr>
          <p:spPr bwMode="auto">
            <a:xfrm>
              <a:off x="12945995" y="3514724"/>
              <a:ext cx="0" cy="3476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Rectangle 120"/>
            <p:cNvSpPr>
              <a:spLocks noChangeArrowheads="1"/>
            </p:cNvSpPr>
            <p:nvPr/>
          </p:nvSpPr>
          <p:spPr bwMode="auto">
            <a:xfrm>
              <a:off x="12698345" y="3005137"/>
              <a:ext cx="490537" cy="3048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1400" b="1" i="1">
                  <a:latin typeface="Times New Roman" pitchFamily="18" charset="0"/>
                  <a:ea typeface="微软雅黑" pitchFamily="34" charset="-122"/>
                </a:rPr>
                <a:t>S</a:t>
              </a:r>
              <a:r>
                <a:rPr lang="en-US" altLang="zh-CN" sz="1400" b="1" i="1" baseline="-25000">
                  <a:latin typeface="Times New Roman" pitchFamily="18" charset="0"/>
                  <a:ea typeface="微软雅黑" pitchFamily="34" charset="-122"/>
                </a:rPr>
                <a:t>j+</a:t>
              </a:r>
              <a:r>
                <a:rPr lang="en-US" altLang="zh-CN" sz="1400" b="1" baseline="-25000">
                  <a:latin typeface="Times New Roman" pitchFamily="18" charset="0"/>
                  <a:ea typeface="微软雅黑" pitchFamily="34" charset="-122"/>
                </a:rPr>
                <a:t>1</a:t>
              </a:r>
              <a:endParaRPr lang="en-US" altLang="zh-CN" sz="1400" b="1" i="1" baseline="-25000">
                <a:latin typeface="Times New Roman" pitchFamily="18" charset="0"/>
                <a:ea typeface="微软雅黑" pitchFamily="34" charset="-122"/>
              </a:endParaRPr>
            </a:p>
          </p:txBody>
        </p:sp>
      </p:grp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632111" y="3688555"/>
            <a:ext cx="8981721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图像信号经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方向地址译码器依次序接通每行像敏单元上的模拟开关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en-US" altLang="zh-CN" sz="24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i,j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，信号将通过行开关传送到列线上，再通过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方向地址译码器的控制，输送到放大器。</a:t>
            </a:r>
          </a:p>
        </p:txBody>
      </p:sp>
      <p:sp>
        <p:nvSpPr>
          <p:cNvPr id="118" name="Text Box 5"/>
          <p:cNvSpPr txBox="1">
            <a:spLocks noChangeArrowheads="1"/>
          </p:cNvSpPr>
          <p:nvPr/>
        </p:nvSpPr>
        <p:spPr bwMode="auto">
          <a:xfrm>
            <a:off x="661344" y="5442880"/>
            <a:ext cx="1250204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由于信号经行与列开关输出，因此，可以实现逐行扫描或隔行扫描的输出方式。也可以只输出某一行或某一列的信号。</a:t>
            </a:r>
          </a:p>
        </p:txBody>
      </p:sp>
      <p:sp>
        <p:nvSpPr>
          <p:cNvPr id="119" name="Text Box 6"/>
          <p:cNvSpPr txBox="1">
            <a:spLocks noChangeArrowheads="1"/>
          </p:cNvSpPr>
          <p:nvPr/>
        </p:nvSpPr>
        <p:spPr bwMode="auto">
          <a:xfrm>
            <a:off x="1185863" y="6530435"/>
            <a:ext cx="10608013" cy="58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还可以选中所希望观测的某些点的信号输出，如图所示的第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行、第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j</a:t>
            </a: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列的信号。</a:t>
            </a:r>
          </a:p>
        </p:txBody>
      </p:sp>
      <p:sp>
        <p:nvSpPr>
          <p:cNvPr id="12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成像器件的组成架构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="" xmlns:p14="http://schemas.microsoft.com/office/powerpoint/2010/main" val="72751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C:\Documents and Settings\Administrator\Application Data\Tencent\Users\2554662579\QQ\WinTemp\RichOle\0HS`X2XFE{I8`(SVT6QUUEJ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29121" y="1206096"/>
            <a:ext cx="5433371" cy="555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93581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成像器件的组成架构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9560" y="293282"/>
            <a:ext cx="995065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.4.2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="" xmlns:p14="http://schemas.microsoft.com/office/powerpoint/2010/main" val="87490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530</TotalTime>
  <Words>1452</Words>
  <Application>Microsoft Office PowerPoint</Application>
  <PresentationFormat>自定义</PresentationFormat>
  <Paragraphs>414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光电技术模板-2015-6-18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yyp</cp:lastModifiedBy>
  <cp:revision>60</cp:revision>
  <dcterms:created xsi:type="dcterms:W3CDTF">2015-06-18T01:42:52Z</dcterms:created>
  <dcterms:modified xsi:type="dcterms:W3CDTF">2022-05-02T06:28:17Z</dcterms:modified>
</cp:coreProperties>
</file>