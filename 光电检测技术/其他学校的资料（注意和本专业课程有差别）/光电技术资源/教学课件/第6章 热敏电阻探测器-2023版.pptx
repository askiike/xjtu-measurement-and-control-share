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373" r:id="rId2"/>
    <p:sldId id="376" r:id="rId3"/>
    <p:sldId id="377" r:id="rId4"/>
    <p:sldId id="258" r:id="rId5"/>
    <p:sldId id="259" r:id="rId6"/>
    <p:sldId id="378" r:id="rId7"/>
    <p:sldId id="260" r:id="rId8"/>
    <p:sldId id="261" r:id="rId9"/>
    <p:sldId id="379" r:id="rId10"/>
    <p:sldId id="262" r:id="rId11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231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C05320-D3D2-4A8F-9047-8676395B1915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zh-CN" altLang="en-US"/>
        </a:p>
      </dgm:t>
    </dgm:pt>
    <dgm:pt modelId="{15D1E10E-A0A7-48C2-B0EA-E184E99FE70F}">
      <dgm:prSet phldrT="[文本]"/>
      <dgm:spPr/>
      <dgm:t>
        <a:bodyPr/>
        <a:lstStyle/>
        <a:p>
          <a:r>
            <a:rPr lang="zh-CN" altLang="en-US" b="0">
              <a:latin typeface="微软雅黑" pitchFamily="34" charset="-122"/>
              <a:ea typeface="微软雅黑" pitchFamily="34" charset="-122"/>
            </a:rPr>
            <a:t>电阻</a:t>
          </a:r>
          <a:r>
            <a:rPr lang="en-US" altLang="zh-CN" b="0">
              <a:latin typeface="微软雅黑" pitchFamily="34" charset="-122"/>
              <a:ea typeface="微软雅黑" pitchFamily="34" charset="-122"/>
            </a:rPr>
            <a:t>-</a:t>
          </a:r>
          <a:r>
            <a:rPr lang="zh-CN" altLang="en-US" b="0">
              <a:latin typeface="微软雅黑" pitchFamily="34" charset="-122"/>
              <a:ea typeface="微软雅黑" pitchFamily="34" charset="-122"/>
            </a:rPr>
            <a:t>温度特性</a:t>
          </a:r>
          <a:endParaRPr lang="zh-CN" altLang="en-US" b="0" dirty="0">
            <a:latin typeface="微软雅黑" pitchFamily="34" charset="-122"/>
            <a:ea typeface="微软雅黑" pitchFamily="34" charset="-122"/>
          </a:endParaRPr>
        </a:p>
      </dgm:t>
    </dgm:pt>
    <dgm:pt modelId="{1F04E72C-A44F-42AD-AC8C-00DE5533A339}" type="parTrans" cxnId="{8B69E4F7-5FE4-4BB0-B924-71871103C131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16BB0829-B44F-4174-9BCA-77E24AE52411}" type="sibTrans" cxnId="{8B69E4F7-5FE4-4BB0-B924-71871103C131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9A9176F4-5D7B-4003-BDB0-C9C72A3A304B}">
      <dgm:prSet phldrT="[文本]"/>
      <dgm:spPr/>
      <dgm:t>
        <a:bodyPr/>
        <a:lstStyle/>
        <a:p>
          <a:r>
            <a:rPr lang="zh-CN" altLang="en-US" b="0" dirty="0">
              <a:latin typeface="微软雅黑" pitchFamily="34" charset="-122"/>
              <a:ea typeface="微软雅黑" pitchFamily="34" charset="-122"/>
            </a:rPr>
            <a:t>阻值变化量</a:t>
          </a:r>
        </a:p>
      </dgm:t>
    </dgm:pt>
    <dgm:pt modelId="{46DAA541-ABBE-4FF2-A816-4419C5F0D203}" type="parTrans" cxnId="{F3562CC9-D5DE-4A26-9C73-1FB1DF2A499E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DA8A4B6A-4A49-4406-B392-1B46E80B8C72}" type="sibTrans" cxnId="{F3562CC9-D5DE-4A26-9C73-1FB1DF2A499E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A4F7341C-CCDB-40AB-B330-C2CDC1527680}">
      <dgm:prSet phldrT="[文本]"/>
      <dgm:spPr/>
      <dgm:t>
        <a:bodyPr/>
        <a:lstStyle/>
        <a:p>
          <a:r>
            <a:rPr lang="zh-CN" altLang="en-US" b="0" dirty="0">
              <a:latin typeface="微软雅黑" pitchFamily="34" charset="-122"/>
              <a:ea typeface="微软雅黑" pitchFamily="34" charset="-122"/>
            </a:rPr>
            <a:t>电压灵敏度</a:t>
          </a:r>
        </a:p>
      </dgm:t>
    </dgm:pt>
    <dgm:pt modelId="{E9316ED5-A786-4970-B58C-D71987D71CA3}" type="parTrans" cxnId="{F5F2FAC9-17BC-4FB1-BD9E-E358B9421D9F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877A01C9-FCFC-4C24-9F5B-036C8F8EFCAB}" type="sibTrans" cxnId="{F5F2FAC9-17BC-4FB1-BD9E-E358B9421D9F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731C1329-D2A5-4671-BCA9-D8B75F9241B9}">
      <dgm:prSet phldrT="[文本]"/>
      <dgm:spPr/>
      <dgm:t>
        <a:bodyPr/>
        <a:lstStyle/>
        <a:p>
          <a:r>
            <a:rPr lang="zh-CN" altLang="en-US" b="0" dirty="0">
              <a:latin typeface="微软雅黑" pitchFamily="34" charset="-122"/>
              <a:ea typeface="微软雅黑" pitchFamily="34" charset="-122"/>
            </a:rPr>
            <a:t>噪声与最小可探测功率</a:t>
          </a:r>
        </a:p>
      </dgm:t>
    </dgm:pt>
    <dgm:pt modelId="{94D6AA43-A9F5-452E-9FF4-99DC862F2AE2}" type="parTrans" cxnId="{5870DCAD-DCF4-4397-BED5-27F1798628CC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14ABB7CC-6185-4595-A2AF-AE4B4D31B34F}" type="sibTrans" cxnId="{5870DCAD-DCF4-4397-BED5-27F1798628CC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114D3411-4DA6-4917-9305-E2781DAE92B4}">
      <dgm:prSet phldrT="[文本]"/>
      <dgm:spPr/>
      <dgm:t>
        <a:bodyPr/>
        <a:lstStyle/>
        <a:p>
          <a:r>
            <a:rPr lang="zh-CN" altLang="en-US" b="0" u="sng" dirty="0">
              <a:latin typeface="微软雅黑" pitchFamily="34" charset="-122"/>
              <a:ea typeface="微软雅黑" pitchFamily="34" charset="-122"/>
            </a:rPr>
            <a:t>主</a:t>
          </a:r>
          <a:endParaRPr lang="en-US" altLang="zh-CN" b="0" u="sng" dirty="0">
            <a:latin typeface="微软雅黑" pitchFamily="34" charset="-122"/>
            <a:ea typeface="微软雅黑" pitchFamily="34" charset="-122"/>
          </a:endParaRPr>
        </a:p>
        <a:p>
          <a:r>
            <a:rPr lang="zh-CN" altLang="en-US" b="0" u="sng" dirty="0">
              <a:latin typeface="微软雅黑" pitchFamily="34" charset="-122"/>
              <a:ea typeface="微软雅黑" pitchFamily="34" charset="-122"/>
            </a:rPr>
            <a:t>要</a:t>
          </a:r>
          <a:endParaRPr lang="en-US" altLang="zh-CN" b="0" u="sng" dirty="0">
            <a:latin typeface="微软雅黑" pitchFamily="34" charset="-122"/>
            <a:ea typeface="微软雅黑" pitchFamily="34" charset="-122"/>
          </a:endParaRPr>
        </a:p>
        <a:p>
          <a:r>
            <a:rPr lang="zh-CN" altLang="en-US" b="0" u="sng" dirty="0">
              <a:latin typeface="微软雅黑" pitchFamily="34" charset="-122"/>
              <a:ea typeface="微软雅黑" pitchFamily="34" charset="-122"/>
            </a:rPr>
            <a:t>参</a:t>
          </a:r>
          <a:endParaRPr lang="en-US" altLang="zh-CN" b="0" u="sng" dirty="0">
            <a:latin typeface="微软雅黑" pitchFamily="34" charset="-122"/>
            <a:ea typeface="微软雅黑" pitchFamily="34" charset="-122"/>
          </a:endParaRPr>
        </a:p>
        <a:p>
          <a:r>
            <a:rPr lang="zh-CN" altLang="en-US" b="0" u="sng" dirty="0">
              <a:latin typeface="微软雅黑" pitchFamily="34" charset="-122"/>
              <a:ea typeface="微软雅黑" pitchFamily="34" charset="-122"/>
            </a:rPr>
            <a:t>数</a:t>
          </a:r>
        </a:p>
      </dgm:t>
    </dgm:pt>
    <dgm:pt modelId="{526A7128-A2E3-4A52-A01D-6031666C582C}" type="sibTrans" cxnId="{538EA2E7-9775-46BA-9F3F-110D2938DD41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45770A5D-9F4D-47C9-A3C0-C2706EA5396B}" type="parTrans" cxnId="{538EA2E7-9775-46BA-9F3F-110D2938DD41}">
      <dgm:prSet/>
      <dgm:spPr/>
      <dgm:t>
        <a:bodyPr/>
        <a:lstStyle/>
        <a:p>
          <a:endParaRPr lang="zh-CN" altLang="en-US" b="0">
            <a:solidFill>
              <a:schemeClr val="tx2">
                <a:lumMod val="75000"/>
              </a:schemeClr>
            </a:solidFill>
            <a:latin typeface="微软雅黑" pitchFamily="34" charset="-122"/>
            <a:ea typeface="微软雅黑" pitchFamily="34" charset="-122"/>
          </a:endParaRPr>
        </a:p>
      </dgm:t>
    </dgm:pt>
    <dgm:pt modelId="{6475D51E-B0AB-4CAB-A116-139433381314}" type="pres">
      <dgm:prSet presAssocID="{FCC05320-D3D2-4A8F-9047-8676395B1915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B2F71BB7-96B6-41A0-93D7-98891B820525}" type="pres">
      <dgm:prSet presAssocID="{114D3411-4DA6-4917-9305-E2781DAE92B4}" presName="thickLine" presStyleLbl="alignNode1" presStyleIdx="0" presStyleCnt="1"/>
      <dgm:spPr/>
    </dgm:pt>
    <dgm:pt modelId="{82EC1142-9200-47C2-941D-B86C1C2E9788}" type="pres">
      <dgm:prSet presAssocID="{114D3411-4DA6-4917-9305-E2781DAE92B4}" presName="horz1" presStyleCnt="0"/>
      <dgm:spPr/>
    </dgm:pt>
    <dgm:pt modelId="{05FAF197-55C1-47B0-9518-E6FDC4E21B79}" type="pres">
      <dgm:prSet presAssocID="{114D3411-4DA6-4917-9305-E2781DAE92B4}" presName="tx1" presStyleLbl="revTx" presStyleIdx="0" presStyleCnt="5" custScaleX="58375"/>
      <dgm:spPr/>
      <dgm:t>
        <a:bodyPr/>
        <a:lstStyle/>
        <a:p>
          <a:endParaRPr lang="zh-CN" altLang="en-US"/>
        </a:p>
      </dgm:t>
    </dgm:pt>
    <dgm:pt modelId="{5E7090E6-DE92-4BF6-A5D0-A0559EBC830F}" type="pres">
      <dgm:prSet presAssocID="{114D3411-4DA6-4917-9305-E2781DAE92B4}" presName="vert1" presStyleCnt="0"/>
      <dgm:spPr/>
    </dgm:pt>
    <dgm:pt modelId="{9925D4C6-B93F-42D5-9606-C3BB8BBAD295}" type="pres">
      <dgm:prSet presAssocID="{15D1E10E-A0A7-48C2-B0EA-E184E99FE70F}" presName="vertSpace2a" presStyleCnt="0"/>
      <dgm:spPr/>
    </dgm:pt>
    <dgm:pt modelId="{7671306B-517C-4656-AC8B-8364A1A86155}" type="pres">
      <dgm:prSet presAssocID="{15D1E10E-A0A7-48C2-B0EA-E184E99FE70F}" presName="horz2" presStyleCnt="0"/>
      <dgm:spPr/>
    </dgm:pt>
    <dgm:pt modelId="{5E0B25F0-630C-4315-B724-DFFCD4804BA7}" type="pres">
      <dgm:prSet presAssocID="{15D1E10E-A0A7-48C2-B0EA-E184E99FE70F}" presName="horzSpace2" presStyleCnt="0"/>
      <dgm:spPr/>
    </dgm:pt>
    <dgm:pt modelId="{41FFA031-16FC-45C7-8621-E6790CC1ED37}" type="pres">
      <dgm:prSet presAssocID="{15D1E10E-A0A7-48C2-B0EA-E184E99FE70F}" presName="tx2" presStyleLbl="revTx" presStyleIdx="1" presStyleCnt="5"/>
      <dgm:spPr/>
      <dgm:t>
        <a:bodyPr/>
        <a:lstStyle/>
        <a:p>
          <a:endParaRPr lang="zh-CN" altLang="en-US"/>
        </a:p>
      </dgm:t>
    </dgm:pt>
    <dgm:pt modelId="{3D9E080B-B379-4DBB-8152-6ACED72BC6E6}" type="pres">
      <dgm:prSet presAssocID="{15D1E10E-A0A7-48C2-B0EA-E184E99FE70F}" presName="vert2" presStyleCnt="0"/>
      <dgm:spPr/>
    </dgm:pt>
    <dgm:pt modelId="{974F3B5E-F38A-45CA-9995-B4C863C8EF87}" type="pres">
      <dgm:prSet presAssocID="{15D1E10E-A0A7-48C2-B0EA-E184E99FE70F}" presName="thinLine2b" presStyleLbl="callout" presStyleIdx="0" presStyleCnt="4"/>
      <dgm:spPr/>
    </dgm:pt>
    <dgm:pt modelId="{EECC5402-2F34-49F0-A498-4C0C9E4FF230}" type="pres">
      <dgm:prSet presAssocID="{15D1E10E-A0A7-48C2-B0EA-E184E99FE70F}" presName="vertSpace2b" presStyleCnt="0"/>
      <dgm:spPr/>
    </dgm:pt>
    <dgm:pt modelId="{650BDB64-F5BC-43D1-BF9B-764986BC710B}" type="pres">
      <dgm:prSet presAssocID="{9A9176F4-5D7B-4003-BDB0-C9C72A3A304B}" presName="horz2" presStyleCnt="0"/>
      <dgm:spPr/>
    </dgm:pt>
    <dgm:pt modelId="{C2A0B584-23DA-4E88-A347-0102DA5DC4DD}" type="pres">
      <dgm:prSet presAssocID="{9A9176F4-5D7B-4003-BDB0-C9C72A3A304B}" presName="horzSpace2" presStyleCnt="0"/>
      <dgm:spPr/>
    </dgm:pt>
    <dgm:pt modelId="{C9345447-1C4F-496B-AB05-909A176FBEFB}" type="pres">
      <dgm:prSet presAssocID="{9A9176F4-5D7B-4003-BDB0-C9C72A3A304B}" presName="tx2" presStyleLbl="revTx" presStyleIdx="2" presStyleCnt="5"/>
      <dgm:spPr/>
      <dgm:t>
        <a:bodyPr/>
        <a:lstStyle/>
        <a:p>
          <a:endParaRPr lang="zh-CN" altLang="en-US"/>
        </a:p>
      </dgm:t>
    </dgm:pt>
    <dgm:pt modelId="{072D128D-0370-4485-89C1-4DC47320F8EE}" type="pres">
      <dgm:prSet presAssocID="{9A9176F4-5D7B-4003-BDB0-C9C72A3A304B}" presName="vert2" presStyleCnt="0"/>
      <dgm:spPr/>
    </dgm:pt>
    <dgm:pt modelId="{4854768F-A2CF-4EE1-8642-FD1BFE999275}" type="pres">
      <dgm:prSet presAssocID="{9A9176F4-5D7B-4003-BDB0-C9C72A3A304B}" presName="thinLine2b" presStyleLbl="callout" presStyleIdx="1" presStyleCnt="4"/>
      <dgm:spPr/>
    </dgm:pt>
    <dgm:pt modelId="{A8B6B903-768B-46EC-A5C4-D2B09764663B}" type="pres">
      <dgm:prSet presAssocID="{9A9176F4-5D7B-4003-BDB0-C9C72A3A304B}" presName="vertSpace2b" presStyleCnt="0"/>
      <dgm:spPr/>
    </dgm:pt>
    <dgm:pt modelId="{A6BF783F-C2BC-466E-A404-1DA1B56B0E01}" type="pres">
      <dgm:prSet presAssocID="{A4F7341C-CCDB-40AB-B330-C2CDC1527680}" presName="horz2" presStyleCnt="0"/>
      <dgm:spPr/>
    </dgm:pt>
    <dgm:pt modelId="{36FB1BC5-4E17-4EFB-824D-666619D10949}" type="pres">
      <dgm:prSet presAssocID="{A4F7341C-CCDB-40AB-B330-C2CDC1527680}" presName="horzSpace2" presStyleCnt="0"/>
      <dgm:spPr/>
    </dgm:pt>
    <dgm:pt modelId="{280CC99A-60D2-4C68-8617-4A78CB8D4FAF}" type="pres">
      <dgm:prSet presAssocID="{A4F7341C-CCDB-40AB-B330-C2CDC1527680}" presName="tx2" presStyleLbl="revTx" presStyleIdx="3" presStyleCnt="5"/>
      <dgm:spPr/>
      <dgm:t>
        <a:bodyPr/>
        <a:lstStyle/>
        <a:p>
          <a:endParaRPr lang="zh-CN" altLang="en-US"/>
        </a:p>
      </dgm:t>
    </dgm:pt>
    <dgm:pt modelId="{C0BA9FE9-582C-4B82-A58D-5C458D6FA3AA}" type="pres">
      <dgm:prSet presAssocID="{A4F7341C-CCDB-40AB-B330-C2CDC1527680}" presName="vert2" presStyleCnt="0"/>
      <dgm:spPr/>
    </dgm:pt>
    <dgm:pt modelId="{B2D8C63D-74A8-48B3-8FA0-3EEACDF644D0}" type="pres">
      <dgm:prSet presAssocID="{A4F7341C-CCDB-40AB-B330-C2CDC1527680}" presName="thinLine2b" presStyleLbl="callout" presStyleIdx="2" presStyleCnt="4"/>
      <dgm:spPr/>
    </dgm:pt>
    <dgm:pt modelId="{15048693-A385-47FE-858B-2075FA16C466}" type="pres">
      <dgm:prSet presAssocID="{A4F7341C-CCDB-40AB-B330-C2CDC1527680}" presName="vertSpace2b" presStyleCnt="0"/>
      <dgm:spPr/>
    </dgm:pt>
    <dgm:pt modelId="{3505B317-B857-4198-AAA1-E1ECCFE82198}" type="pres">
      <dgm:prSet presAssocID="{731C1329-D2A5-4671-BCA9-D8B75F9241B9}" presName="horz2" presStyleCnt="0"/>
      <dgm:spPr/>
    </dgm:pt>
    <dgm:pt modelId="{AC788D14-5AC1-4C69-80A5-CC9A2ABF4255}" type="pres">
      <dgm:prSet presAssocID="{731C1329-D2A5-4671-BCA9-D8B75F9241B9}" presName="horzSpace2" presStyleCnt="0"/>
      <dgm:spPr/>
    </dgm:pt>
    <dgm:pt modelId="{A490DD61-E5AE-4641-BBB4-35D3859E6A0F}" type="pres">
      <dgm:prSet presAssocID="{731C1329-D2A5-4671-BCA9-D8B75F9241B9}" presName="tx2" presStyleLbl="revTx" presStyleIdx="4" presStyleCnt="5"/>
      <dgm:spPr/>
      <dgm:t>
        <a:bodyPr/>
        <a:lstStyle/>
        <a:p>
          <a:endParaRPr lang="zh-CN" altLang="en-US"/>
        </a:p>
      </dgm:t>
    </dgm:pt>
    <dgm:pt modelId="{0C58EB96-C08C-4E6D-BF61-191241F23EA2}" type="pres">
      <dgm:prSet presAssocID="{731C1329-D2A5-4671-BCA9-D8B75F9241B9}" presName="vert2" presStyleCnt="0"/>
      <dgm:spPr/>
    </dgm:pt>
    <dgm:pt modelId="{5FCC5050-3190-4B22-B162-FC353A132768}" type="pres">
      <dgm:prSet presAssocID="{731C1329-D2A5-4671-BCA9-D8B75F9241B9}" presName="thinLine2b" presStyleLbl="callout" presStyleIdx="3" presStyleCnt="4"/>
      <dgm:spPr/>
    </dgm:pt>
    <dgm:pt modelId="{7F478B90-2B3C-4404-B844-864A3E21CAFD}" type="pres">
      <dgm:prSet presAssocID="{731C1329-D2A5-4671-BCA9-D8B75F9241B9}" presName="vertSpace2b" presStyleCnt="0"/>
      <dgm:spPr/>
    </dgm:pt>
  </dgm:ptLst>
  <dgm:cxnLst>
    <dgm:cxn modelId="{99620498-F948-4CC5-86C3-7CC11890D3BA}" type="presOf" srcId="{731C1329-D2A5-4671-BCA9-D8B75F9241B9}" destId="{A490DD61-E5AE-4641-BBB4-35D3859E6A0F}" srcOrd="0" destOrd="0" presId="urn:microsoft.com/office/officeart/2008/layout/LinedList"/>
    <dgm:cxn modelId="{8B69E4F7-5FE4-4BB0-B924-71871103C131}" srcId="{114D3411-4DA6-4917-9305-E2781DAE92B4}" destId="{15D1E10E-A0A7-48C2-B0EA-E184E99FE70F}" srcOrd="0" destOrd="0" parTransId="{1F04E72C-A44F-42AD-AC8C-00DE5533A339}" sibTransId="{16BB0829-B44F-4174-9BCA-77E24AE52411}"/>
    <dgm:cxn modelId="{DA68E5F5-AA0E-47D5-ADD3-2BA6885BDC76}" type="presOf" srcId="{15D1E10E-A0A7-48C2-B0EA-E184E99FE70F}" destId="{41FFA031-16FC-45C7-8621-E6790CC1ED37}" srcOrd="0" destOrd="0" presId="urn:microsoft.com/office/officeart/2008/layout/LinedList"/>
    <dgm:cxn modelId="{C2ECE93B-00B2-464F-A394-6B7833FF948D}" type="presOf" srcId="{FCC05320-D3D2-4A8F-9047-8676395B1915}" destId="{6475D51E-B0AB-4CAB-A116-139433381314}" srcOrd="0" destOrd="0" presId="urn:microsoft.com/office/officeart/2008/layout/LinedList"/>
    <dgm:cxn modelId="{D55E6784-B038-470A-80A9-8909EC55D046}" type="presOf" srcId="{114D3411-4DA6-4917-9305-E2781DAE92B4}" destId="{05FAF197-55C1-47B0-9518-E6FDC4E21B79}" srcOrd="0" destOrd="0" presId="urn:microsoft.com/office/officeart/2008/layout/LinedList"/>
    <dgm:cxn modelId="{F3562CC9-D5DE-4A26-9C73-1FB1DF2A499E}" srcId="{114D3411-4DA6-4917-9305-E2781DAE92B4}" destId="{9A9176F4-5D7B-4003-BDB0-C9C72A3A304B}" srcOrd="1" destOrd="0" parTransId="{46DAA541-ABBE-4FF2-A816-4419C5F0D203}" sibTransId="{DA8A4B6A-4A49-4406-B392-1B46E80B8C72}"/>
    <dgm:cxn modelId="{7A300FED-4A86-48D9-BA94-E6F16ABE5120}" type="presOf" srcId="{9A9176F4-5D7B-4003-BDB0-C9C72A3A304B}" destId="{C9345447-1C4F-496B-AB05-909A176FBEFB}" srcOrd="0" destOrd="0" presId="urn:microsoft.com/office/officeart/2008/layout/LinedList"/>
    <dgm:cxn modelId="{538EA2E7-9775-46BA-9F3F-110D2938DD41}" srcId="{FCC05320-D3D2-4A8F-9047-8676395B1915}" destId="{114D3411-4DA6-4917-9305-E2781DAE92B4}" srcOrd="0" destOrd="0" parTransId="{45770A5D-9F4D-47C9-A3C0-C2706EA5396B}" sibTransId="{526A7128-A2E3-4A52-A01D-6031666C582C}"/>
    <dgm:cxn modelId="{FF9102A6-82CC-4ED6-BA2E-A5D7D1AF7AED}" type="presOf" srcId="{A4F7341C-CCDB-40AB-B330-C2CDC1527680}" destId="{280CC99A-60D2-4C68-8617-4A78CB8D4FAF}" srcOrd="0" destOrd="0" presId="urn:microsoft.com/office/officeart/2008/layout/LinedList"/>
    <dgm:cxn modelId="{5870DCAD-DCF4-4397-BED5-27F1798628CC}" srcId="{114D3411-4DA6-4917-9305-E2781DAE92B4}" destId="{731C1329-D2A5-4671-BCA9-D8B75F9241B9}" srcOrd="3" destOrd="0" parTransId="{94D6AA43-A9F5-452E-9FF4-99DC862F2AE2}" sibTransId="{14ABB7CC-6185-4595-A2AF-AE4B4D31B34F}"/>
    <dgm:cxn modelId="{F5F2FAC9-17BC-4FB1-BD9E-E358B9421D9F}" srcId="{114D3411-4DA6-4917-9305-E2781DAE92B4}" destId="{A4F7341C-CCDB-40AB-B330-C2CDC1527680}" srcOrd="2" destOrd="0" parTransId="{E9316ED5-A786-4970-B58C-D71987D71CA3}" sibTransId="{877A01C9-FCFC-4C24-9F5B-036C8F8EFCAB}"/>
    <dgm:cxn modelId="{05DAB5D8-CAA7-4BA1-BAE6-E9F28ED4C99D}" type="presParOf" srcId="{6475D51E-B0AB-4CAB-A116-139433381314}" destId="{B2F71BB7-96B6-41A0-93D7-98891B820525}" srcOrd="0" destOrd="0" presId="urn:microsoft.com/office/officeart/2008/layout/LinedList"/>
    <dgm:cxn modelId="{80288796-F6FC-4E4F-806F-09BE882E7543}" type="presParOf" srcId="{6475D51E-B0AB-4CAB-A116-139433381314}" destId="{82EC1142-9200-47C2-941D-B86C1C2E9788}" srcOrd="1" destOrd="0" presId="urn:microsoft.com/office/officeart/2008/layout/LinedList"/>
    <dgm:cxn modelId="{72604B3F-5831-4821-9DF5-30DB7E2FEDC2}" type="presParOf" srcId="{82EC1142-9200-47C2-941D-B86C1C2E9788}" destId="{05FAF197-55C1-47B0-9518-E6FDC4E21B79}" srcOrd="0" destOrd="0" presId="urn:microsoft.com/office/officeart/2008/layout/LinedList"/>
    <dgm:cxn modelId="{EA78241B-FD7D-4163-8026-87C22A53F16C}" type="presParOf" srcId="{82EC1142-9200-47C2-941D-B86C1C2E9788}" destId="{5E7090E6-DE92-4BF6-A5D0-A0559EBC830F}" srcOrd="1" destOrd="0" presId="urn:microsoft.com/office/officeart/2008/layout/LinedList"/>
    <dgm:cxn modelId="{E522B0E8-3553-4BD4-89C9-F879F1A57682}" type="presParOf" srcId="{5E7090E6-DE92-4BF6-A5D0-A0559EBC830F}" destId="{9925D4C6-B93F-42D5-9606-C3BB8BBAD295}" srcOrd="0" destOrd="0" presId="urn:microsoft.com/office/officeart/2008/layout/LinedList"/>
    <dgm:cxn modelId="{57C5BBA0-CA54-446F-9438-7AC30DE14FF5}" type="presParOf" srcId="{5E7090E6-DE92-4BF6-A5D0-A0559EBC830F}" destId="{7671306B-517C-4656-AC8B-8364A1A86155}" srcOrd="1" destOrd="0" presId="urn:microsoft.com/office/officeart/2008/layout/LinedList"/>
    <dgm:cxn modelId="{CCA4883A-A51B-4FB2-A271-FBB6B99C7F15}" type="presParOf" srcId="{7671306B-517C-4656-AC8B-8364A1A86155}" destId="{5E0B25F0-630C-4315-B724-DFFCD4804BA7}" srcOrd="0" destOrd="0" presId="urn:microsoft.com/office/officeart/2008/layout/LinedList"/>
    <dgm:cxn modelId="{A82232F7-1B7A-437D-A6DE-5E47A4E440B4}" type="presParOf" srcId="{7671306B-517C-4656-AC8B-8364A1A86155}" destId="{41FFA031-16FC-45C7-8621-E6790CC1ED37}" srcOrd="1" destOrd="0" presId="urn:microsoft.com/office/officeart/2008/layout/LinedList"/>
    <dgm:cxn modelId="{591DE967-A85E-4103-B707-71319F9E2EBC}" type="presParOf" srcId="{7671306B-517C-4656-AC8B-8364A1A86155}" destId="{3D9E080B-B379-4DBB-8152-6ACED72BC6E6}" srcOrd="2" destOrd="0" presId="urn:microsoft.com/office/officeart/2008/layout/LinedList"/>
    <dgm:cxn modelId="{045D87EB-7239-4F66-8078-3C116440033D}" type="presParOf" srcId="{5E7090E6-DE92-4BF6-A5D0-A0559EBC830F}" destId="{974F3B5E-F38A-45CA-9995-B4C863C8EF87}" srcOrd="2" destOrd="0" presId="urn:microsoft.com/office/officeart/2008/layout/LinedList"/>
    <dgm:cxn modelId="{8F1BF186-358E-41D7-B533-5FE57DB6AA32}" type="presParOf" srcId="{5E7090E6-DE92-4BF6-A5D0-A0559EBC830F}" destId="{EECC5402-2F34-49F0-A498-4C0C9E4FF230}" srcOrd="3" destOrd="0" presId="urn:microsoft.com/office/officeart/2008/layout/LinedList"/>
    <dgm:cxn modelId="{5C486ED7-8DF0-409A-9BCD-52F1ED14B8B3}" type="presParOf" srcId="{5E7090E6-DE92-4BF6-A5D0-A0559EBC830F}" destId="{650BDB64-F5BC-43D1-BF9B-764986BC710B}" srcOrd="4" destOrd="0" presId="urn:microsoft.com/office/officeart/2008/layout/LinedList"/>
    <dgm:cxn modelId="{2D1174E0-E9C4-42CF-98B8-AB158B422967}" type="presParOf" srcId="{650BDB64-F5BC-43D1-BF9B-764986BC710B}" destId="{C2A0B584-23DA-4E88-A347-0102DA5DC4DD}" srcOrd="0" destOrd="0" presId="urn:microsoft.com/office/officeart/2008/layout/LinedList"/>
    <dgm:cxn modelId="{C23C8C9C-F5DA-49A3-BD81-C00ABB4ED3F5}" type="presParOf" srcId="{650BDB64-F5BC-43D1-BF9B-764986BC710B}" destId="{C9345447-1C4F-496B-AB05-909A176FBEFB}" srcOrd="1" destOrd="0" presId="urn:microsoft.com/office/officeart/2008/layout/LinedList"/>
    <dgm:cxn modelId="{24CB997D-2DF2-45DA-8C91-9413986B15EF}" type="presParOf" srcId="{650BDB64-F5BC-43D1-BF9B-764986BC710B}" destId="{072D128D-0370-4485-89C1-4DC47320F8EE}" srcOrd="2" destOrd="0" presId="urn:microsoft.com/office/officeart/2008/layout/LinedList"/>
    <dgm:cxn modelId="{CBE76CED-94AB-4AE6-9CB2-EC927A93C7B2}" type="presParOf" srcId="{5E7090E6-DE92-4BF6-A5D0-A0559EBC830F}" destId="{4854768F-A2CF-4EE1-8642-FD1BFE999275}" srcOrd="5" destOrd="0" presId="urn:microsoft.com/office/officeart/2008/layout/LinedList"/>
    <dgm:cxn modelId="{95F4FA1A-E4A2-400B-A5B0-354C23706963}" type="presParOf" srcId="{5E7090E6-DE92-4BF6-A5D0-A0559EBC830F}" destId="{A8B6B903-768B-46EC-A5C4-D2B09764663B}" srcOrd="6" destOrd="0" presId="urn:microsoft.com/office/officeart/2008/layout/LinedList"/>
    <dgm:cxn modelId="{B30B6AA9-700E-4CB1-992A-6B8145C6D48E}" type="presParOf" srcId="{5E7090E6-DE92-4BF6-A5D0-A0559EBC830F}" destId="{A6BF783F-C2BC-466E-A404-1DA1B56B0E01}" srcOrd="7" destOrd="0" presId="urn:microsoft.com/office/officeart/2008/layout/LinedList"/>
    <dgm:cxn modelId="{C9276844-53C5-467B-9EA6-233306880DB3}" type="presParOf" srcId="{A6BF783F-C2BC-466E-A404-1DA1B56B0E01}" destId="{36FB1BC5-4E17-4EFB-824D-666619D10949}" srcOrd="0" destOrd="0" presId="urn:microsoft.com/office/officeart/2008/layout/LinedList"/>
    <dgm:cxn modelId="{E688BC18-C6D0-4240-A9AA-B4D57A193D5D}" type="presParOf" srcId="{A6BF783F-C2BC-466E-A404-1DA1B56B0E01}" destId="{280CC99A-60D2-4C68-8617-4A78CB8D4FAF}" srcOrd="1" destOrd="0" presId="urn:microsoft.com/office/officeart/2008/layout/LinedList"/>
    <dgm:cxn modelId="{DB0B8CBB-F668-47DD-8520-A3C45E30071E}" type="presParOf" srcId="{A6BF783F-C2BC-466E-A404-1DA1B56B0E01}" destId="{C0BA9FE9-582C-4B82-A58D-5C458D6FA3AA}" srcOrd="2" destOrd="0" presId="urn:microsoft.com/office/officeart/2008/layout/LinedList"/>
    <dgm:cxn modelId="{F4D8401D-9266-4C42-A5A6-AFE1DE81280D}" type="presParOf" srcId="{5E7090E6-DE92-4BF6-A5D0-A0559EBC830F}" destId="{B2D8C63D-74A8-48B3-8FA0-3EEACDF644D0}" srcOrd="8" destOrd="0" presId="urn:microsoft.com/office/officeart/2008/layout/LinedList"/>
    <dgm:cxn modelId="{4BEDF049-6138-41B2-8C0C-6CBF80AB1D94}" type="presParOf" srcId="{5E7090E6-DE92-4BF6-A5D0-A0559EBC830F}" destId="{15048693-A385-47FE-858B-2075FA16C466}" srcOrd="9" destOrd="0" presId="urn:microsoft.com/office/officeart/2008/layout/LinedList"/>
    <dgm:cxn modelId="{627FD76C-4156-4830-82A2-692BA64A8E90}" type="presParOf" srcId="{5E7090E6-DE92-4BF6-A5D0-A0559EBC830F}" destId="{3505B317-B857-4198-AAA1-E1ECCFE82198}" srcOrd="10" destOrd="0" presId="urn:microsoft.com/office/officeart/2008/layout/LinedList"/>
    <dgm:cxn modelId="{84D57CE2-D81B-4276-8940-D008D9F49E5B}" type="presParOf" srcId="{3505B317-B857-4198-AAA1-E1ECCFE82198}" destId="{AC788D14-5AC1-4C69-80A5-CC9A2ABF4255}" srcOrd="0" destOrd="0" presId="urn:microsoft.com/office/officeart/2008/layout/LinedList"/>
    <dgm:cxn modelId="{CFD6A80C-2546-45B3-9059-7DD4BE71890D}" type="presParOf" srcId="{3505B317-B857-4198-AAA1-E1ECCFE82198}" destId="{A490DD61-E5AE-4641-BBB4-35D3859E6A0F}" srcOrd="1" destOrd="0" presId="urn:microsoft.com/office/officeart/2008/layout/LinedList"/>
    <dgm:cxn modelId="{29FA8534-7D91-4C3D-9515-B1949C2C72A0}" type="presParOf" srcId="{3505B317-B857-4198-AAA1-E1ECCFE82198}" destId="{0C58EB96-C08C-4E6D-BF61-191241F23EA2}" srcOrd="2" destOrd="0" presId="urn:microsoft.com/office/officeart/2008/layout/LinedList"/>
    <dgm:cxn modelId="{AD613249-B788-4CFA-8015-DD628E9FBCE3}" type="presParOf" srcId="{5E7090E6-DE92-4BF6-A5D0-A0559EBC830F}" destId="{5FCC5050-3190-4B22-B162-FC353A132768}" srcOrd="11" destOrd="0" presId="urn:microsoft.com/office/officeart/2008/layout/LinedList"/>
    <dgm:cxn modelId="{D847FBF5-9126-4994-80E3-C4506BEC170B}" type="presParOf" srcId="{5E7090E6-DE92-4BF6-A5D0-A0559EBC830F}" destId="{7F478B90-2B3C-4404-B844-864A3E21CAFD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71BB7-96B6-41A0-93D7-98891B820525}">
      <dsp:nvSpPr>
        <dsp:cNvPr id="0" name=""/>
        <dsp:cNvSpPr/>
      </dsp:nvSpPr>
      <dsp:spPr>
        <a:xfrm>
          <a:off x="0" y="0"/>
          <a:ext cx="31683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FAF197-55C1-47B0-9518-E6FDC4E21B79}">
      <dsp:nvSpPr>
        <dsp:cNvPr id="0" name=""/>
        <dsp:cNvSpPr/>
      </dsp:nvSpPr>
      <dsp:spPr>
        <a:xfrm>
          <a:off x="0" y="0"/>
          <a:ext cx="369905" cy="196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b="0" u="sng" kern="1200" dirty="0">
              <a:latin typeface="微软雅黑" pitchFamily="34" charset="-122"/>
              <a:ea typeface="微软雅黑" pitchFamily="34" charset="-122"/>
            </a:rPr>
            <a:t>主</a:t>
          </a:r>
          <a:endParaRPr lang="en-US" altLang="zh-CN" sz="1700" b="0" u="sng" kern="1200" dirty="0">
            <a:latin typeface="微软雅黑" pitchFamily="34" charset="-122"/>
            <a:ea typeface="微软雅黑" pitchFamily="34" charset="-122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b="0" u="sng" kern="1200" dirty="0">
              <a:latin typeface="微软雅黑" pitchFamily="34" charset="-122"/>
              <a:ea typeface="微软雅黑" pitchFamily="34" charset="-122"/>
            </a:rPr>
            <a:t>要</a:t>
          </a:r>
          <a:endParaRPr lang="en-US" altLang="zh-CN" sz="1700" b="0" u="sng" kern="1200" dirty="0">
            <a:latin typeface="微软雅黑" pitchFamily="34" charset="-122"/>
            <a:ea typeface="微软雅黑" pitchFamily="34" charset="-122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b="0" u="sng" kern="1200" dirty="0">
              <a:latin typeface="微软雅黑" pitchFamily="34" charset="-122"/>
              <a:ea typeface="微软雅黑" pitchFamily="34" charset="-122"/>
            </a:rPr>
            <a:t>参</a:t>
          </a:r>
          <a:endParaRPr lang="en-US" altLang="zh-CN" sz="1700" b="0" u="sng" kern="1200" dirty="0">
            <a:latin typeface="微软雅黑" pitchFamily="34" charset="-122"/>
            <a:ea typeface="微软雅黑" pitchFamily="34" charset="-122"/>
          </a:endParaRPr>
        </a:p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700" b="0" u="sng" kern="1200" dirty="0">
              <a:latin typeface="微软雅黑" pitchFamily="34" charset="-122"/>
              <a:ea typeface="微软雅黑" pitchFamily="34" charset="-122"/>
            </a:rPr>
            <a:t>数</a:t>
          </a:r>
        </a:p>
      </dsp:txBody>
      <dsp:txXfrm>
        <a:off x="0" y="0"/>
        <a:ext cx="369905" cy="1963975"/>
      </dsp:txXfrm>
    </dsp:sp>
    <dsp:sp modelId="{41FFA031-16FC-45C7-8621-E6790CC1ED37}">
      <dsp:nvSpPr>
        <dsp:cNvPr id="0" name=""/>
        <dsp:cNvSpPr/>
      </dsp:nvSpPr>
      <dsp:spPr>
        <a:xfrm>
          <a:off x="417430" y="23087"/>
          <a:ext cx="2487156" cy="461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0" kern="1200">
              <a:latin typeface="微软雅黑" pitchFamily="34" charset="-122"/>
              <a:ea typeface="微软雅黑" pitchFamily="34" charset="-122"/>
            </a:rPr>
            <a:t>电阻</a:t>
          </a:r>
          <a:r>
            <a:rPr lang="en-US" altLang="zh-CN" sz="1600" b="0" kern="1200">
              <a:latin typeface="微软雅黑" pitchFamily="34" charset="-122"/>
              <a:ea typeface="微软雅黑" pitchFamily="34" charset="-122"/>
            </a:rPr>
            <a:t>-</a:t>
          </a:r>
          <a:r>
            <a:rPr lang="zh-CN" altLang="en-US" sz="1600" b="0" kern="1200">
              <a:latin typeface="微软雅黑" pitchFamily="34" charset="-122"/>
              <a:ea typeface="微软雅黑" pitchFamily="34" charset="-122"/>
            </a:rPr>
            <a:t>温度特性</a:t>
          </a:r>
          <a:endParaRPr lang="zh-CN" altLang="en-US" sz="1600" b="0" kern="1200" dirty="0">
            <a:latin typeface="微软雅黑" pitchFamily="34" charset="-122"/>
            <a:ea typeface="微软雅黑" pitchFamily="34" charset="-122"/>
          </a:endParaRPr>
        </a:p>
      </dsp:txBody>
      <dsp:txXfrm>
        <a:off x="417430" y="23087"/>
        <a:ext cx="2487156" cy="461745"/>
      </dsp:txXfrm>
    </dsp:sp>
    <dsp:sp modelId="{974F3B5E-F38A-45CA-9995-B4C863C8EF87}">
      <dsp:nvSpPr>
        <dsp:cNvPr id="0" name=""/>
        <dsp:cNvSpPr/>
      </dsp:nvSpPr>
      <dsp:spPr>
        <a:xfrm>
          <a:off x="369905" y="484832"/>
          <a:ext cx="2534681" cy="0"/>
        </a:xfrm>
        <a:prstGeom prst="line">
          <a:avLst/>
        </a:prstGeom>
        <a:noFill/>
        <a:ln w="952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C9345447-1C4F-496B-AB05-909A176FBEFB}">
      <dsp:nvSpPr>
        <dsp:cNvPr id="0" name=""/>
        <dsp:cNvSpPr/>
      </dsp:nvSpPr>
      <dsp:spPr>
        <a:xfrm>
          <a:off x="417430" y="507919"/>
          <a:ext cx="2487156" cy="461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0" kern="1200" dirty="0">
              <a:latin typeface="微软雅黑" pitchFamily="34" charset="-122"/>
              <a:ea typeface="微软雅黑" pitchFamily="34" charset="-122"/>
            </a:rPr>
            <a:t>阻值变化量</a:t>
          </a:r>
        </a:p>
      </dsp:txBody>
      <dsp:txXfrm>
        <a:off x="417430" y="507919"/>
        <a:ext cx="2487156" cy="461745"/>
      </dsp:txXfrm>
    </dsp:sp>
    <dsp:sp modelId="{4854768F-A2CF-4EE1-8642-FD1BFE999275}">
      <dsp:nvSpPr>
        <dsp:cNvPr id="0" name=""/>
        <dsp:cNvSpPr/>
      </dsp:nvSpPr>
      <dsp:spPr>
        <a:xfrm>
          <a:off x="369905" y="969664"/>
          <a:ext cx="2534681" cy="0"/>
        </a:xfrm>
        <a:prstGeom prst="line">
          <a:avLst/>
        </a:prstGeom>
        <a:noFill/>
        <a:ln w="952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280CC99A-60D2-4C68-8617-4A78CB8D4FAF}">
      <dsp:nvSpPr>
        <dsp:cNvPr id="0" name=""/>
        <dsp:cNvSpPr/>
      </dsp:nvSpPr>
      <dsp:spPr>
        <a:xfrm>
          <a:off x="417430" y="992751"/>
          <a:ext cx="2487156" cy="461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0" kern="1200" dirty="0">
              <a:latin typeface="微软雅黑" pitchFamily="34" charset="-122"/>
              <a:ea typeface="微软雅黑" pitchFamily="34" charset="-122"/>
            </a:rPr>
            <a:t>电压灵敏度</a:t>
          </a:r>
        </a:p>
      </dsp:txBody>
      <dsp:txXfrm>
        <a:off x="417430" y="992751"/>
        <a:ext cx="2487156" cy="461745"/>
      </dsp:txXfrm>
    </dsp:sp>
    <dsp:sp modelId="{B2D8C63D-74A8-48B3-8FA0-3EEACDF644D0}">
      <dsp:nvSpPr>
        <dsp:cNvPr id="0" name=""/>
        <dsp:cNvSpPr/>
      </dsp:nvSpPr>
      <dsp:spPr>
        <a:xfrm>
          <a:off x="369905" y="1454497"/>
          <a:ext cx="2534681" cy="0"/>
        </a:xfrm>
        <a:prstGeom prst="line">
          <a:avLst/>
        </a:prstGeom>
        <a:noFill/>
        <a:ln w="952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A490DD61-E5AE-4641-BBB4-35D3859E6A0F}">
      <dsp:nvSpPr>
        <dsp:cNvPr id="0" name=""/>
        <dsp:cNvSpPr/>
      </dsp:nvSpPr>
      <dsp:spPr>
        <a:xfrm>
          <a:off x="417430" y="1477584"/>
          <a:ext cx="2487156" cy="461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0" kern="1200" dirty="0">
              <a:latin typeface="微软雅黑" pitchFamily="34" charset="-122"/>
              <a:ea typeface="微软雅黑" pitchFamily="34" charset="-122"/>
            </a:rPr>
            <a:t>噪声与最小可探测功率</a:t>
          </a:r>
        </a:p>
      </dsp:txBody>
      <dsp:txXfrm>
        <a:off x="417430" y="1477584"/>
        <a:ext cx="2487156" cy="461745"/>
      </dsp:txXfrm>
    </dsp:sp>
    <dsp:sp modelId="{5FCC5050-3190-4B22-B162-FC353A132768}">
      <dsp:nvSpPr>
        <dsp:cNvPr id="0" name=""/>
        <dsp:cNvSpPr/>
      </dsp:nvSpPr>
      <dsp:spPr>
        <a:xfrm>
          <a:off x="369905" y="1939329"/>
          <a:ext cx="2534681" cy="0"/>
        </a:xfrm>
        <a:prstGeom prst="line">
          <a:avLst/>
        </a:prstGeom>
        <a:noFill/>
        <a:ln w="9525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4E2186-DFEC-4356-9AD4-6702D618A655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58A4311-DEBD-452D-A173-AA880C2C95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598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B3A5E6B-A2EF-44C1-B804-66337F2587C6}" type="slidenum">
              <a:rPr lang="zh-CN" altLang="en-US">
                <a:latin typeface="Arial" panose="020B0604020202020204" pitchFamily="34" charset="0"/>
              </a:rPr>
              <a:pPr/>
              <a:t>4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366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粘合在导热能力高的绝缘衬底上；电阻体两端蒸发金属电极以便与外电路连接；再把衬底同一个热容很大、导热性能良好的金属相连构成热敏电阻。红外辐射通过探测窗口投射到热敏元件上，引起元件的电阻变化。为了提高热敏元件接收辐射的能力，常将热敏元件的表面进行黑化处理。</a:t>
            </a: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BB041CA-69D6-43AF-BAB6-A4040B422BA5}" type="slidenum">
              <a:rPr lang="zh-CN" altLang="en-US">
                <a:latin typeface="Arial" panose="020B0604020202020204" pitchFamily="34" charset="0"/>
              </a:rPr>
              <a:pPr/>
              <a:t>5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054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7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187752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46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</p:spPr>
        <p:txBody>
          <a:bodyPr anchor="b"/>
          <a:lstStyle>
            <a:lvl1pPr algn="ctr">
              <a:defRPr sz="4533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1" y="2701529"/>
            <a:ext cx="6858000" cy="124182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66" indent="0" algn="ctr">
              <a:buNone/>
              <a:defRPr sz="1533"/>
            </a:lvl2pPr>
            <a:lvl3pPr marL="685731" indent="0" algn="ctr">
              <a:buNone/>
              <a:defRPr sz="1333"/>
            </a:lvl3pPr>
            <a:lvl4pPr marL="1028597" indent="0" algn="ctr">
              <a:buNone/>
              <a:defRPr sz="1200"/>
            </a:lvl4pPr>
            <a:lvl5pPr marL="1371463" indent="0" algn="ctr">
              <a:buNone/>
              <a:defRPr sz="1200"/>
            </a:lvl5pPr>
            <a:lvl6pPr marL="1714329" indent="0" algn="ctr">
              <a:buNone/>
              <a:defRPr sz="1200"/>
            </a:lvl6pPr>
            <a:lvl7pPr marL="2057194" indent="0" algn="ctr">
              <a:buNone/>
              <a:defRPr sz="1200"/>
            </a:lvl7pPr>
            <a:lvl8pPr marL="2400060" indent="0" algn="ctr">
              <a:buNone/>
              <a:defRPr sz="1200"/>
            </a:lvl8pPr>
            <a:lvl9pPr marL="2742926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8910A-C6A2-4D7C-BD93-C521D6BD6433}" type="datetimeFigureOut">
              <a:rPr lang="zh-CN" altLang="en-US"/>
              <a:pPr>
                <a:defRPr/>
              </a:pPr>
              <a:t>2022/10/12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F2088-823D-4D74-BE43-AD67773FB7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1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ransition spd="med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3.bin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5.wmf"/><Relationship Id="rId5" Type="http://schemas.openxmlformats.org/officeDocument/2006/relationships/diagramData" Target="../diagrams/data1.xml"/><Relationship Id="rId10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702150" y="1781800"/>
            <a:ext cx="1790493" cy="785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973282" y="1195895"/>
            <a:ext cx="1149018" cy="369324"/>
          </a:xfrm>
          <a:prstGeom prst="rect">
            <a:avLst/>
          </a:prstGeom>
          <a:noFill/>
        </p:spPr>
        <p:txBody>
          <a:bodyPr wrap="none" lIns="60953" tIns="30476" rIns="60953" bIns="30476">
            <a:spAutoFit/>
          </a:bodyPr>
          <a:lstStyle/>
          <a:p>
            <a:pPr algn="ctr"/>
            <a:r>
              <a:rPr lang="zh-CN" altLang="en-US" sz="2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2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5441AE38-A11D-4793-BDA3-DCA36976B496}"/>
              </a:ext>
            </a:extLst>
          </p:cNvPr>
          <p:cNvSpPr/>
          <p:nvPr/>
        </p:nvSpPr>
        <p:spPr>
          <a:xfrm>
            <a:off x="2624068" y="1804023"/>
            <a:ext cx="6391731" cy="748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48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B4AF438E-361B-42EE-9E70-DDB98227F7D7}"/>
              </a:ext>
            </a:extLst>
          </p:cNvPr>
          <p:cNvSpPr/>
          <p:nvPr/>
        </p:nvSpPr>
        <p:spPr>
          <a:xfrm>
            <a:off x="2126762" y="1224242"/>
            <a:ext cx="825646" cy="310013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zh-CN" sz="800" b="1" spc="27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000"/>
              </a:lnSpc>
            </a:pPr>
            <a:r>
              <a:rPr lang="en-US" altLang="zh-CN" sz="800" b="1" spc="27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800" b="1" spc="27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xmlns="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806356" y="2783729"/>
            <a:ext cx="3196373" cy="7792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C44C9C7-7166-4DA9-8A1A-D2BB836F3F54}"/>
              </a:ext>
            </a:extLst>
          </p:cNvPr>
          <p:cNvSpPr/>
          <p:nvPr/>
        </p:nvSpPr>
        <p:spPr>
          <a:xfrm>
            <a:off x="761912" y="3008135"/>
            <a:ext cx="4772466" cy="307768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r>
              <a:rPr lang="en-US" altLang="zh-CN" sz="16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Heat detector</a:t>
            </a:r>
            <a:endParaRPr lang="zh-CN" altLang="en-US" sz="16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AE184DEE-FEA5-431F-856D-B2DD56F698B6}"/>
              </a:ext>
            </a:extLst>
          </p:cNvPr>
          <p:cNvSpPr/>
          <p:nvPr/>
        </p:nvSpPr>
        <p:spPr>
          <a:xfrm>
            <a:off x="806357" y="1246180"/>
            <a:ext cx="111669" cy="26871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909749" y="195796"/>
            <a:ext cx="2130508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热敏电阻探测器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933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热敏电阻探测器</a:t>
            </a: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4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6.3</a:t>
            </a:r>
            <a:endParaRPr kumimoji="1" lang="zh-CN" altLang="en-US" sz="44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8311" y="195797"/>
            <a:ext cx="568006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6.3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966892" y="463765"/>
            <a:ext cx="1999297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909749" y="195796"/>
            <a:ext cx="2130508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原理与结构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933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原理与结构</a:t>
            </a: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4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6.3.1</a:t>
            </a:r>
            <a:endParaRPr kumimoji="1" lang="zh-CN" altLang="en-US" sz="44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6.3.1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966892" y="463765"/>
            <a:ext cx="1999297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37905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29256" y="642924"/>
            <a:ext cx="3337940" cy="1620180"/>
          </a:xfrm>
          <a:prstGeom prst="rect">
            <a:avLst/>
          </a:prstGeom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30188" y="1563688"/>
            <a:ext cx="770255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120015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原理：吸收辐射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Φ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晶格振动↑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ΔT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变化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特点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温度系数大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(10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 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倍金属电阻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、灵敏度高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结构简单、体积小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电阻率高、热惯性小、适合动态测量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非线性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稳定性和互换性差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86E2D05-D72F-4C8D-BC6E-22ED37BAA11B}"/>
              </a:ext>
            </a:extLst>
          </p:cNvPr>
          <p:cNvGrpSpPr/>
          <p:nvPr/>
        </p:nvGrpSpPr>
        <p:grpSpPr>
          <a:xfrm>
            <a:off x="0" y="195796"/>
            <a:ext cx="8773149" cy="4947407"/>
            <a:chOff x="0" y="195796"/>
            <a:chExt cx="8773149" cy="4947407"/>
          </a:xfrm>
        </p:grpSpPr>
        <p:sp>
          <p:nvSpPr>
            <p:cNvPr id="10" name="文本框 60">
              <a:extLst>
                <a:ext uri="{FF2B5EF4-FFF2-40B4-BE49-F238E27FC236}">
                  <a16:creationId xmlns:a16="http://schemas.microsoft.com/office/drawing/2014/main" xmlns="" id="{0195C34A-B552-4100-94DB-E6F01478A4FA}"/>
                </a:ext>
              </a:extLst>
            </p:cNvPr>
            <p:cNvSpPr txBox="1"/>
            <p:nvPr/>
          </p:nvSpPr>
          <p:spPr>
            <a:xfrm>
              <a:off x="909749" y="195796"/>
              <a:ext cx="2130508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原理与结构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1E758BEA-63D7-4290-9003-4081B98FD10A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xmlns="" id="{0CEE30A4-A668-4D70-A78D-0023E530D5D1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xmlns="" id="{64913AC2-EAE4-4CCD-ADC8-19D5874BE0E8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6.3.1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接连接符 58">
              <a:extLst>
                <a:ext uri="{FF2B5EF4-FFF2-40B4-BE49-F238E27FC236}">
                  <a16:creationId xmlns:a16="http://schemas.microsoft.com/office/drawing/2014/main" xmlns="" id="{7A7CEDC2-A4B3-4AF4-97AA-FDFF29E6E8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892" y="463765"/>
              <a:ext cx="1999297" cy="1047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2755DBB2-8B67-4AA4-8B99-EA523986EA5E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4FF13768-3B23-4992-8D00-5C62B22390E8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56325" y="2305050"/>
          <a:ext cx="2232025" cy="221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Visio" r:id="rId4" imgW="2561463" imgH="2162842" progId="Visio.Drawing.11">
                  <p:embed/>
                </p:oleObj>
              </mc:Choice>
              <mc:Fallback>
                <p:oleObj name="Visio" r:id="rId4" imgW="2561463" imgH="2162842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305050"/>
                        <a:ext cx="2232025" cy="2214563"/>
                      </a:xfrm>
                      <a:prstGeom prst="rect">
                        <a:avLst/>
                      </a:prstGeom>
                      <a:solidFill>
                        <a:srgbClr val="E6E0E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547813" y="411163"/>
            <a:ext cx="7704137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120015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不同材料的温度特性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金属：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温度系数，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0.37%</a:t>
            </a:r>
          </a:p>
          <a:p>
            <a:pPr lvl="1" eaLnBrk="1" hangingPunct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半导体：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温度系数，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-6%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-3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</a:t>
            </a:r>
          </a:p>
          <a:p>
            <a:pPr lvl="3" eaLnBrk="1" hangingPunct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薄片电阻：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0.01mm</a:t>
            </a:r>
          </a:p>
          <a:p>
            <a:pPr lvl="3" eaLnBrk="1" hangingPunct="1">
              <a:lnSpc>
                <a:spcPct val="150000"/>
              </a:lnSpc>
              <a:buFont typeface="Times New Roman" panose="02020603050405020304" pitchFamily="18" charset="0"/>
              <a:buChar char="–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玻封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NTC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、环状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NTC</a:t>
            </a:r>
          </a:p>
        </p:txBody>
      </p:sp>
      <p:graphicFrame>
        <p:nvGraphicFramePr>
          <p:cNvPr id="2" name="对象 2"/>
          <p:cNvGraphicFramePr>
            <a:graphicFrameLocks noChangeAspect="1"/>
          </p:cNvGraphicFramePr>
          <p:nvPr/>
        </p:nvGraphicFramePr>
        <p:xfrm>
          <a:off x="684213" y="2284413"/>
          <a:ext cx="2160587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Visio" r:id="rId6" imgW="1847088" imgH="1979390" progId="Visio.Drawing.11">
                  <p:embed/>
                </p:oleObj>
              </mc:Choice>
              <mc:Fallback>
                <p:oleObj name="Visio" r:id="rId6" imgW="1847088" imgH="1979390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284413"/>
                        <a:ext cx="2160587" cy="2235200"/>
                      </a:xfrm>
                      <a:prstGeom prst="rect">
                        <a:avLst/>
                      </a:prstGeom>
                      <a:solidFill>
                        <a:srgbClr val="EBF1DE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AF9B0103-104D-49CE-854B-4FDA7A9939A2}"/>
              </a:ext>
            </a:extLst>
          </p:cNvPr>
          <p:cNvGrpSpPr/>
          <p:nvPr/>
        </p:nvGrpSpPr>
        <p:grpSpPr>
          <a:xfrm>
            <a:off x="0" y="195796"/>
            <a:ext cx="8773149" cy="4947407"/>
            <a:chOff x="0" y="195796"/>
            <a:chExt cx="8773149" cy="4947407"/>
          </a:xfrm>
        </p:grpSpPr>
        <p:sp>
          <p:nvSpPr>
            <p:cNvPr id="9" name="文本框 60">
              <a:extLst>
                <a:ext uri="{FF2B5EF4-FFF2-40B4-BE49-F238E27FC236}">
                  <a16:creationId xmlns:a16="http://schemas.microsoft.com/office/drawing/2014/main" xmlns="" id="{C57A65B6-4345-4C98-8764-9DE80B84A1D9}"/>
                </a:ext>
              </a:extLst>
            </p:cNvPr>
            <p:cNvSpPr txBox="1"/>
            <p:nvPr/>
          </p:nvSpPr>
          <p:spPr>
            <a:xfrm>
              <a:off x="909749" y="195796"/>
              <a:ext cx="2130508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原理与结构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5D666C63-E95B-4598-978E-EB0652FF18AE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9B1021CD-BF4B-42E2-91A9-7C9120BDE944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xmlns="" id="{AD379466-0370-4E8A-B32B-1D232D3738FA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6.3.1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连接符 58">
              <a:extLst>
                <a:ext uri="{FF2B5EF4-FFF2-40B4-BE49-F238E27FC236}">
                  <a16:creationId xmlns:a16="http://schemas.microsoft.com/office/drawing/2014/main" xmlns="" id="{A3FBDA3C-3FCA-40B2-A599-2B0951B5B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892" y="463765"/>
              <a:ext cx="1999297" cy="1047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BB6AAAF3-3B2B-4A10-ACD3-BD7BAE256C7D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A637B668-3B66-4A2B-898B-346B5B0204DE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909749" y="195796"/>
            <a:ext cx="2130508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热敏电阻的特性参数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933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热敏电阻的特性参数</a:t>
            </a: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4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6.3.2</a:t>
            </a:r>
            <a:endParaRPr kumimoji="1" lang="zh-CN" altLang="en-US" sz="44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6.3.2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966892" y="463765"/>
            <a:ext cx="1999297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2858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71513" y="2522538"/>
            <a:ext cx="7140575" cy="21240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电阻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温度特性：热敏材料的温度系数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314450" lvl="2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/>
              <a:buChar char="–"/>
              <a:defRPr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大多数金属：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10</a:t>
            </a:r>
            <a:r>
              <a:rPr lang="en-US" altLang="zh-CN" sz="2000" b="1" baseline="30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-3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1/T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endParaRPr lang="en-US" altLang="zh-CN" sz="20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1314450" lvl="2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/>
              <a:buChar char="–"/>
              <a:defRPr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半导体：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-3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/>
              </a:rPr>
              <a:t>×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10</a:t>
            </a:r>
            <a:r>
              <a:rPr lang="en-US" altLang="zh-CN" sz="2000" b="1" baseline="30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/T</a:t>
            </a:r>
            <a:r>
              <a:rPr lang="en-US" altLang="zh-CN" sz="2000" b="1" baseline="30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</a:p>
          <a:p>
            <a:pPr marL="360000" lvl="2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电阻值变化：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l-GR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不大时，</a:t>
            </a:r>
            <a:endParaRPr lang="en-US" altLang="zh-CN" sz="2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43663" y="2573338"/>
          <a:ext cx="158432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Equation" r:id="rId3" imgW="825500" imgH="431800" progId="Equation.DSMT4">
                  <p:embed/>
                </p:oleObj>
              </mc:Choice>
              <mc:Fallback>
                <p:oleObj name="Equation" r:id="rId3" imgW="825500" imgH="431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573338"/>
                        <a:ext cx="1584325" cy="7191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图示 6"/>
          <p:cNvGraphicFramePr/>
          <p:nvPr/>
        </p:nvGraphicFramePr>
        <p:xfrm>
          <a:off x="4932040" y="535767"/>
          <a:ext cx="3168352" cy="1963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022850" y="4148138"/>
          <a:ext cx="190658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Equation" r:id="rId10" imgW="889000" imgH="228600" progId="Equation.DSMT4">
                  <p:embed/>
                </p:oleObj>
              </mc:Choice>
              <mc:Fallback>
                <p:oleObj name="Equation" r:id="rId10" imgW="88900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4148138"/>
                        <a:ext cx="1906588" cy="4397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BA710F43-7E03-4BE9-BD7D-98873D77F82E}"/>
              </a:ext>
            </a:extLst>
          </p:cNvPr>
          <p:cNvGrpSpPr/>
          <p:nvPr/>
        </p:nvGrpSpPr>
        <p:grpSpPr>
          <a:xfrm>
            <a:off x="0" y="195796"/>
            <a:ext cx="8773149" cy="4947407"/>
            <a:chOff x="0" y="195796"/>
            <a:chExt cx="8773149" cy="4947407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BB8FC111-D559-4692-BED6-E4BB0B774402}"/>
                </a:ext>
              </a:extLst>
            </p:cNvPr>
            <p:cNvSpPr txBox="1"/>
            <p:nvPr/>
          </p:nvSpPr>
          <p:spPr>
            <a:xfrm>
              <a:off x="909749" y="195796"/>
              <a:ext cx="2130508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热敏电阻的特性参数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919890CB-C533-4A4A-8128-513160518B16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819A9A7A-8944-46E3-86D6-40F3C7D1A3B3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117E51C9-D578-4373-85A8-57DA08130FFE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6.3.2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34E3E300-0C82-4F63-B0C0-B11F932DF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892" y="463765"/>
              <a:ext cx="1999297" cy="1047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139C8817-9F5E-41FA-9E2F-4ED9FD3BD499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45B5069C-3770-4410-AAB6-E7918FF461E5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33413" y="519113"/>
            <a:ext cx="7467600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8001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电压灵敏度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eaLnBrk="1" hangingPunct="1"/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eaLnBrk="1" hangingPunct="1"/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提高灵敏度方法？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噪声与最小可探测功率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热噪声： 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温度噪声：真空封装可降低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电流噪声：</a:t>
            </a:r>
            <a:r>
              <a:rPr lang="en-US" altLang="zh-CN" sz="2400" b="1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&lt;10Hz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时考虑；</a:t>
            </a:r>
            <a:r>
              <a:rPr lang="en-US" altLang="zh-CN" sz="2400" b="1" i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f&gt;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10kHz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时，忽略！</a:t>
            </a: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518354"/>
              </p:ext>
            </p:extLst>
          </p:nvPr>
        </p:nvGraphicFramePr>
        <p:xfrm>
          <a:off x="1617663" y="1531938"/>
          <a:ext cx="369887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Equation" r:id="rId3" imgW="1790640" imgH="469800" progId="Equation.DSMT4">
                  <p:embed/>
                </p:oleObj>
              </mc:Choice>
              <mc:Fallback>
                <p:oleObj name="Equation" r:id="rId3" imgW="1790640" imgH="469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1531938"/>
                        <a:ext cx="3698875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形标注 5"/>
          <p:cNvSpPr/>
          <p:nvPr/>
        </p:nvSpPr>
        <p:spPr>
          <a:xfrm>
            <a:off x="2987675" y="587375"/>
            <a:ext cx="1579563" cy="688975"/>
          </a:xfrm>
          <a:prstGeom prst="wedgeEllipseCallout">
            <a:avLst>
              <a:gd name="adj1" fmla="val -259"/>
              <a:gd name="adj2" fmla="val 9230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真空封装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-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减少对流</a:t>
            </a:r>
          </a:p>
        </p:txBody>
      </p:sp>
      <p:sp>
        <p:nvSpPr>
          <p:cNvPr id="7" name="椭圆形标注 6"/>
          <p:cNvSpPr/>
          <p:nvPr/>
        </p:nvSpPr>
        <p:spPr>
          <a:xfrm>
            <a:off x="4716463" y="1436688"/>
            <a:ext cx="792162" cy="355600"/>
          </a:xfrm>
          <a:prstGeom prst="wedgeEllipseCallout">
            <a:avLst>
              <a:gd name="adj1" fmla="val -81552"/>
              <a:gd name="adj2" fmla="val 1478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涂黑</a:t>
            </a:r>
          </a:p>
        </p:txBody>
      </p:sp>
      <p:sp>
        <p:nvSpPr>
          <p:cNvPr id="8" name="椭圆形标注 7"/>
          <p:cNvSpPr/>
          <p:nvPr/>
        </p:nvSpPr>
        <p:spPr>
          <a:xfrm>
            <a:off x="1789113" y="1055688"/>
            <a:ext cx="1343025" cy="577850"/>
          </a:xfrm>
          <a:prstGeom prst="wedgeEllipseCallout">
            <a:avLst>
              <a:gd name="adj1" fmla="val 37137"/>
              <a:gd name="adj2" fmla="val 48754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热噪声、损坏限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4572000" y="2301875"/>
            <a:ext cx="1079500" cy="557213"/>
          </a:xfrm>
          <a:prstGeom prst="wedgeEllipseCallout">
            <a:avLst>
              <a:gd name="adj1" fmla="val -35469"/>
              <a:gd name="adj2" fmla="val -6357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高热导衬底</a:t>
            </a:r>
          </a:p>
        </p:txBody>
      </p:sp>
      <p:sp>
        <p:nvSpPr>
          <p:cNvPr id="10" name="椭圆形标注 9"/>
          <p:cNvSpPr/>
          <p:nvPr/>
        </p:nvSpPr>
        <p:spPr>
          <a:xfrm>
            <a:off x="4556125" y="974725"/>
            <a:ext cx="720725" cy="341313"/>
          </a:xfrm>
          <a:prstGeom prst="wedgeEllipseCallout">
            <a:avLst>
              <a:gd name="adj1" fmla="val -111535"/>
              <a:gd name="adj2" fmla="val 1376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冷却</a:t>
            </a:r>
          </a:p>
        </p:txBody>
      </p:sp>
      <p:graphicFrame>
        <p:nvGraphicFramePr>
          <p:cNvPr id="9225" name="对象 10"/>
          <p:cNvGraphicFramePr>
            <a:graphicFrameLocks noChangeAspect="1"/>
          </p:cNvGraphicFramePr>
          <p:nvPr/>
        </p:nvGraphicFramePr>
        <p:xfrm>
          <a:off x="5929313" y="1017588"/>
          <a:ext cx="1847850" cy="158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r:id="rId5" imgW="2085340" imgH="1896110" progId="">
                  <p:embed/>
                </p:oleObj>
              </mc:Choice>
              <mc:Fallback>
                <p:oleObj r:id="rId5" imgW="2085340" imgH="1896110" progId="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1017588"/>
                        <a:ext cx="1847850" cy="158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323300"/>
              </p:ext>
            </p:extLst>
          </p:nvPr>
        </p:nvGraphicFramePr>
        <p:xfrm>
          <a:off x="2970213" y="3363913"/>
          <a:ext cx="158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Equation" r:id="rId7" imgW="888840" imgH="266400" progId="Equation.DSMT4">
                  <p:embed/>
                </p:oleObj>
              </mc:Choice>
              <mc:Fallback>
                <p:oleObj name="Equation" r:id="rId7" imgW="888840" imgH="2664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3363913"/>
                        <a:ext cx="158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1656123" y="4227934"/>
            <a:ext cx="6120680" cy="52322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  <a:sym typeface="Wingdings" pitchFamily="2" charset="2"/>
              </a:rPr>
              <a:t>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  <a:sym typeface="Wingdings" pitchFamily="2" charset="2"/>
              </a:rPr>
              <a:t>最小可探测功率：</a:t>
            </a:r>
            <a:r>
              <a:rPr lang="en-US" altLang="zh-CN" sz="28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10</a:t>
            </a:r>
            <a:r>
              <a:rPr lang="en-US" altLang="zh-CN" sz="2800" b="1" baseline="3000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-8</a:t>
            </a:r>
            <a:r>
              <a:rPr lang="en-US" altLang="zh-CN" sz="28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~10</a:t>
            </a:r>
            <a:r>
              <a:rPr lang="en-US" altLang="zh-CN" sz="2800" b="1" baseline="3000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-9</a:t>
            </a:r>
            <a:r>
              <a:rPr lang="en-US" altLang="zh-CN" sz="28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W</a:t>
            </a:r>
            <a:endParaRPr lang="zh-CN" altLang="en-US" sz="2800" b="1" dirty="0">
              <a:solidFill>
                <a:srgbClr val="FFFF00"/>
              </a:solidFill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1F5C5A8C-7068-4492-A99A-B47EA035CED8}"/>
              </a:ext>
            </a:extLst>
          </p:cNvPr>
          <p:cNvGrpSpPr/>
          <p:nvPr/>
        </p:nvGrpSpPr>
        <p:grpSpPr>
          <a:xfrm>
            <a:off x="0" y="195796"/>
            <a:ext cx="8773149" cy="4947407"/>
            <a:chOff x="0" y="195796"/>
            <a:chExt cx="8773149" cy="4947407"/>
          </a:xfrm>
        </p:grpSpPr>
        <p:sp>
          <p:nvSpPr>
            <p:cNvPr id="17" name="文本框 60">
              <a:extLst>
                <a:ext uri="{FF2B5EF4-FFF2-40B4-BE49-F238E27FC236}">
                  <a16:creationId xmlns:a16="http://schemas.microsoft.com/office/drawing/2014/main" xmlns="" id="{0850963A-709F-482D-B739-D440D912FDB8}"/>
                </a:ext>
              </a:extLst>
            </p:cNvPr>
            <p:cNvSpPr txBox="1"/>
            <p:nvPr/>
          </p:nvSpPr>
          <p:spPr>
            <a:xfrm>
              <a:off x="909749" y="195796"/>
              <a:ext cx="2130508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热敏电阻的特性参数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C327954A-E651-4E7B-9F9C-BC2F1C75D055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FEAF264A-A0A1-4B25-AAEC-0FE4FFADEB02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xmlns="" id="{631652BE-D41B-49B4-89F8-08CF676C1F42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6.3.2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接连接符 58">
              <a:extLst>
                <a:ext uri="{FF2B5EF4-FFF2-40B4-BE49-F238E27FC236}">
                  <a16:creationId xmlns:a16="http://schemas.microsoft.com/office/drawing/2014/main" xmlns="" id="{92DF1F8E-54BB-4C56-B6A2-4BEF058397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892" y="463765"/>
              <a:ext cx="1999297" cy="1047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F4522555-BA59-4B99-AFBA-4EB9D4F9E660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CF1A5761-E90E-4CDC-AA7F-05A9C8637B80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909749" y="195796"/>
            <a:ext cx="2130508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热敏电阻的应用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933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热敏电阻的应用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4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6.3.3</a:t>
            </a:r>
            <a:endParaRPr kumimoji="1" lang="zh-CN" altLang="en-US" sz="44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107504" y="195797"/>
            <a:ext cx="748813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6.3.3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966892" y="463765"/>
            <a:ext cx="1999297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62081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6073775" y="514350"/>
            <a:ext cx="2814638" cy="1981200"/>
            <a:chOff x="6055904" y="686230"/>
            <a:chExt cx="2961096" cy="2784939"/>
          </a:xfrm>
        </p:grpSpPr>
        <p:pic>
          <p:nvPicPr>
            <p:cNvPr id="1025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20" b="4617"/>
            <a:stretch>
              <a:fillRect/>
            </a:stretch>
          </p:blipFill>
          <p:spPr bwMode="auto">
            <a:xfrm>
              <a:off x="6055904" y="686230"/>
              <a:ext cx="2961096" cy="2784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3" name="TextBox 5"/>
            <p:cNvSpPr txBox="1">
              <a:spLocks noChangeArrowheads="1"/>
            </p:cNvSpPr>
            <p:nvPr/>
          </p:nvSpPr>
          <p:spPr bwMode="auto">
            <a:xfrm>
              <a:off x="7403729" y="747528"/>
              <a:ext cx="1339255" cy="861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Medical thermistor</a:t>
              </a:r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7"/>
          <p:cNvGrpSpPr>
            <a:grpSpLocks/>
          </p:cNvGrpSpPr>
          <p:nvPr/>
        </p:nvGrpSpPr>
        <p:grpSpPr bwMode="auto">
          <a:xfrm>
            <a:off x="6246813" y="2284413"/>
            <a:ext cx="2641600" cy="1943100"/>
            <a:chOff x="6228184" y="2852936"/>
            <a:chExt cx="2788816" cy="2788816"/>
          </a:xfrm>
        </p:grpSpPr>
        <p:sp>
          <p:nvSpPr>
            <p:cNvPr id="10250" name="TextBox 9"/>
            <p:cNvSpPr txBox="1">
              <a:spLocks noChangeArrowheads="1"/>
            </p:cNvSpPr>
            <p:nvPr/>
          </p:nvSpPr>
          <p:spPr bwMode="auto">
            <a:xfrm>
              <a:off x="7619722" y="2984636"/>
              <a:ext cx="1249075" cy="862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slab thermistor</a:t>
              </a:r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251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8184" y="2852936"/>
              <a:ext cx="2788816" cy="2788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组合 8"/>
          <p:cNvGrpSpPr>
            <a:grpSpLocks/>
          </p:cNvGrpSpPr>
          <p:nvPr/>
        </p:nvGrpSpPr>
        <p:grpSpPr bwMode="auto">
          <a:xfrm>
            <a:off x="5148263" y="3865563"/>
            <a:ext cx="2592387" cy="1017587"/>
            <a:chOff x="5331444" y="4780705"/>
            <a:chExt cx="3522196" cy="2017716"/>
          </a:xfrm>
        </p:grpSpPr>
        <p:pic>
          <p:nvPicPr>
            <p:cNvPr id="10248" name="图片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9103" y="4780705"/>
              <a:ext cx="3191770" cy="1932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9" name="TextBox 11"/>
            <p:cNvSpPr txBox="1">
              <a:spLocks noChangeArrowheads="1"/>
            </p:cNvSpPr>
            <p:nvPr/>
          </p:nvSpPr>
          <p:spPr bwMode="auto">
            <a:xfrm>
              <a:off x="5331444" y="6188195"/>
              <a:ext cx="3522196" cy="610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Mass flow sensor with platinum </a:t>
              </a:r>
              <a:endParaRPr lang="zh-CN" altLang="en-US" sz="1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7892" name="TextBox 2"/>
          <p:cNvSpPr txBox="1">
            <a:spLocks noChangeArrowheads="1"/>
          </p:cNvSpPr>
          <p:nvPr/>
        </p:nvSpPr>
        <p:spPr bwMode="auto">
          <a:xfrm>
            <a:off x="252413" y="1125538"/>
            <a:ext cx="7632700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120015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正温度系数热敏电阻（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PTC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恒定温度传感器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民用空调器、冷库、开水器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3" eaLnBrk="1" hangingPunct="1">
              <a:buFont typeface="Times New Roman" panose="02020603050405020304" pitchFamily="18" charset="0"/>
              <a:buChar char="–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主成分：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BaTiO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/SrTiO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/PbTiO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  <a:p>
            <a:pPr lvl="3" eaLnBrk="1" hangingPunct="1">
              <a:buFont typeface="Times New Roman" panose="02020603050405020304" pitchFamily="18" charset="0"/>
              <a:buChar char="–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掺杂：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Nb/Ta/Bi/Sb/Y/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La+Mn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/Fe/Cu/Cr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负温度系数热敏电阻（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NTC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Font typeface="Times New Roman" panose="02020603050405020304" pitchFamily="18" charset="0"/>
              <a:buChar char="–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种及以上金属氧化物制成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半导体陶瓷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Font typeface="Times New Roman" panose="02020603050405020304" pitchFamily="18" charset="0"/>
              <a:buChar char="–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精度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0.1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℃，感温时间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&lt;10s</a:t>
            </a:r>
          </a:p>
          <a:p>
            <a:pPr lvl="1" eaLnBrk="1" hangingPunct="1">
              <a:lnSpc>
                <a:spcPts val="2800"/>
              </a:lnSpc>
              <a:buFont typeface="Times New Roman" panose="02020603050405020304" pitchFamily="18" charset="0"/>
              <a:buChar char="–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应用：测温、控温、温度补偿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Font typeface="Times New Roman" panose="02020603050405020304" pitchFamily="18" charset="0"/>
              <a:buChar char="–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临界温度系数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负电阻突变特性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2B0330AB-3A57-4D9D-B03B-63678947A096}"/>
              </a:ext>
            </a:extLst>
          </p:cNvPr>
          <p:cNvGrpSpPr/>
          <p:nvPr/>
        </p:nvGrpSpPr>
        <p:grpSpPr>
          <a:xfrm>
            <a:off x="0" y="195796"/>
            <a:ext cx="8773149" cy="4947407"/>
            <a:chOff x="0" y="195796"/>
            <a:chExt cx="8773149" cy="4947407"/>
          </a:xfrm>
        </p:grpSpPr>
        <p:sp>
          <p:nvSpPr>
            <p:cNvPr id="17" name="文本框 60">
              <a:extLst>
                <a:ext uri="{FF2B5EF4-FFF2-40B4-BE49-F238E27FC236}">
                  <a16:creationId xmlns:a16="http://schemas.microsoft.com/office/drawing/2014/main" xmlns="" id="{BD4BE161-C2CB-4343-8DB8-3D054533BCD8}"/>
                </a:ext>
              </a:extLst>
            </p:cNvPr>
            <p:cNvSpPr txBox="1"/>
            <p:nvPr/>
          </p:nvSpPr>
          <p:spPr>
            <a:xfrm>
              <a:off x="909749" y="195796"/>
              <a:ext cx="2130508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热敏电阻的应用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519C4EEB-0CFF-43B0-9905-DC2C48F67729}"/>
                </a:ext>
              </a:extLst>
            </p:cNvPr>
            <p:cNvSpPr/>
            <p:nvPr/>
          </p:nvSpPr>
          <p:spPr>
            <a:xfrm>
              <a:off x="6678647" y="219732"/>
              <a:ext cx="965535" cy="285904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933"/>
                </a:lnSpc>
              </a:pPr>
              <a:r>
                <a:rPr lang="en-US" altLang="zh-CN" sz="733" b="1" spc="33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733" b="1" spc="33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CB13FB0A-D5BE-4F7D-A27A-797FCF460368}"/>
                </a:ext>
              </a:extLst>
            </p:cNvPr>
            <p:cNvSpPr/>
            <p:nvPr/>
          </p:nvSpPr>
          <p:spPr>
            <a:xfrm>
              <a:off x="8661480" y="241570"/>
              <a:ext cx="111669" cy="275067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xmlns="" id="{8F77BB92-F302-47DE-AA32-B803192D7786}"/>
                </a:ext>
              </a:extLst>
            </p:cNvPr>
            <p:cNvSpPr/>
            <p:nvPr/>
          </p:nvSpPr>
          <p:spPr>
            <a:xfrm>
              <a:off x="107504" y="195797"/>
              <a:ext cx="748813" cy="320841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533"/>
                </a:spcBef>
              </a:pPr>
              <a:r>
                <a:rPr kumimoji="1" lang="en-US" altLang="zh-CN" sz="1866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6.3.3</a:t>
              </a:r>
              <a:endParaRPr kumimoji="1" lang="zh-CN" altLang="en-US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接连接符 58">
              <a:extLst>
                <a:ext uri="{FF2B5EF4-FFF2-40B4-BE49-F238E27FC236}">
                  <a16:creationId xmlns:a16="http://schemas.microsoft.com/office/drawing/2014/main" xmlns="" id="{9766BD3D-26EC-4847-883C-0CD10707A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892" y="463765"/>
              <a:ext cx="1999297" cy="1047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43021A9E-1E4C-4486-9F81-BEA4C708D061}"/>
                </a:ext>
              </a:extLst>
            </p:cNvPr>
            <p:cNvSpPr/>
            <p:nvPr/>
          </p:nvSpPr>
          <p:spPr>
            <a:xfrm>
              <a:off x="7500411" y="195797"/>
              <a:ext cx="1161069" cy="348677"/>
            </a:xfrm>
            <a:prstGeom prst="rect">
              <a:avLst/>
            </a:prstGeom>
            <a:noFill/>
          </p:spPr>
          <p:txBody>
            <a:bodyPr wrap="square" lIns="60953" tIns="30476" rIns="60953" bIns="30476">
              <a:spAutoFit/>
            </a:bodyPr>
            <a:lstStyle/>
            <a:p>
              <a:pPr algn="r"/>
              <a:r>
                <a:rPr lang="zh-CN" altLang="en-US" sz="1866" spc="13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824FCE5E-C678-4E0B-A691-A106D4F2B5BD}"/>
                </a:ext>
              </a:extLst>
            </p:cNvPr>
            <p:cNvSpPr/>
            <p:nvPr/>
          </p:nvSpPr>
          <p:spPr>
            <a:xfrm flipV="1">
              <a:off x="0" y="5059383"/>
              <a:ext cx="6760050" cy="83820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7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光电技术模板-课堂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7-2 热电偶和热电堆</Template>
  <TotalTime>26</TotalTime>
  <Words>406</Words>
  <Application>Microsoft Office PowerPoint</Application>
  <PresentationFormat>全屏显示(16:9)</PresentationFormat>
  <Paragraphs>113</Paragraphs>
  <Slides>10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Yu Gothic UI</vt:lpstr>
      <vt:lpstr>阿里巴巴普惠体 M</vt:lpstr>
      <vt:lpstr>阿里巴巴普惠体 R</vt:lpstr>
      <vt:lpstr>冬青黑体简体中文 W3</vt:lpstr>
      <vt:lpstr>冬青黑体简体中文 W6</vt:lpstr>
      <vt:lpstr>仿宋_GB2312</vt:lpstr>
      <vt:lpstr>黑体</vt:lpstr>
      <vt:lpstr>宋体</vt:lpstr>
      <vt:lpstr>Microsoft YaHei</vt:lpstr>
      <vt:lpstr>Microsoft YaHei</vt:lpstr>
      <vt:lpstr>Arial</vt:lpstr>
      <vt:lpstr>Calibri</vt:lpstr>
      <vt:lpstr>Microsoft Yi Baiti</vt:lpstr>
      <vt:lpstr>Symbol</vt:lpstr>
      <vt:lpstr>Times New Roman</vt:lpstr>
      <vt:lpstr>Wingdings</vt:lpstr>
      <vt:lpstr>光电技术模板-课堂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WWW.SDWMBBS.COM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深度完美</dc:creator>
  <cp:lastModifiedBy>user</cp:lastModifiedBy>
  <cp:revision>10</cp:revision>
  <dcterms:created xsi:type="dcterms:W3CDTF">2015-12-08T07:41:15Z</dcterms:created>
  <dcterms:modified xsi:type="dcterms:W3CDTF">2022-10-12T00:48:26Z</dcterms:modified>
</cp:coreProperties>
</file>