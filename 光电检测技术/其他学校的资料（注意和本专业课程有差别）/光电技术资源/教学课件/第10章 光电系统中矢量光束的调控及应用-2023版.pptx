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8"/>
  </p:notesMasterIdLst>
  <p:handoutMasterIdLst>
    <p:handoutMasterId r:id="rId9"/>
  </p:handoutMasterIdLst>
  <p:sldIdLst>
    <p:sldId id="329" r:id="rId2"/>
    <p:sldId id="330" r:id="rId3"/>
    <p:sldId id="333" r:id="rId4"/>
    <p:sldId id="335" r:id="rId5"/>
    <p:sldId id="331" r:id="rId6"/>
    <p:sldId id="336" r:id="rId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1pPr>
    <a:lvl2pPr marL="4571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2pPr>
    <a:lvl3pPr marL="9143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3pPr>
    <a:lvl4pPr marL="137155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4pPr>
    <a:lvl5pPr marL="182873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5pPr>
    <a:lvl6pPr marL="2285924" algn="l" defTabSz="914369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6pPr>
    <a:lvl7pPr marL="2743108" algn="l" defTabSz="914369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7pPr>
    <a:lvl8pPr marL="3200293" algn="l" defTabSz="914369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8pPr>
    <a:lvl9pPr marL="3657478" algn="l" defTabSz="914369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FF66"/>
    <a:srgbClr val="0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37" autoAdjust="0"/>
  </p:normalViewPr>
  <p:slideViewPr>
    <p:cSldViewPr>
      <p:cViewPr>
        <p:scale>
          <a:sx n="100" d="100"/>
          <a:sy n="100" d="100"/>
        </p:scale>
        <p:origin x="-702" y="-29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36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6ACBF184-DB0A-4333-BB2D-59222810A4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577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79F7CB0A-316D-4F8F-A784-7DC75E23CB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1738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18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36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5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73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5924" algn="l" defTabSz="9143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08" algn="l" defTabSz="9143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93" algn="l" defTabSz="9143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78" algn="l" defTabSz="9143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209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07DAA-8C11-4806-9372-AD2DBEF0D5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3617998"/>
      </p:ext>
    </p:extLst>
  </p:cSld>
  <p:clrMapOvr>
    <a:masterClrMapping/>
  </p:clrMapOvr>
  <p:transition spd="slow">
    <p:blinds dir="vert"/>
    <p:sndAc>
      <p:stSnd>
        <p:snd r:embed="rId1" name="projctor.wav"/>
      </p:stSnd>
    </p:sndAc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5">
            <a:lum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75"/>
            <a:ext cx="611188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2"/>
          <p:cNvPicPr>
            <a:picLocks noChangeAspect="1" noChangeArrowheads="1"/>
          </p:cNvPicPr>
          <p:nvPr/>
        </p:nvPicPr>
        <p:blipFill>
          <a:blip r:embed="rId6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28575"/>
            <a:ext cx="127317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图片 3" descr="未标题-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72025"/>
            <a:ext cx="468313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1466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0" y="2981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>
              <a:latin typeface="Arial" charset="0"/>
            </a:endParaRPr>
          </a:p>
        </p:txBody>
      </p:sp>
      <p:sp>
        <p:nvSpPr>
          <p:cNvPr id="1033" name="TextBox 13"/>
          <p:cNvSpPr txBox="1">
            <a:spLocks noChangeArrowheads="1"/>
          </p:cNvSpPr>
          <p:nvPr/>
        </p:nvSpPr>
        <p:spPr bwMode="auto">
          <a:xfrm>
            <a:off x="539750" y="401638"/>
            <a:ext cx="1511300" cy="7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altLang="zh-CN" sz="500" b="1" smtClean="0">
                <a:solidFill>
                  <a:srgbClr val="339933"/>
                </a:solidFill>
                <a:latin typeface="Times New Roman" pitchFamily="18" charset="0"/>
                <a:cs typeface="Times New Roman" pitchFamily="18" charset="0"/>
              </a:rPr>
              <a:t>WUHAN UNIVERSITY OF TECHNOLOGY</a:t>
            </a:r>
            <a:endParaRPr lang="zh-CN" altLang="en-US" sz="500" b="1" smtClean="0">
              <a:solidFill>
                <a:srgbClr val="33993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06388" y="555625"/>
            <a:ext cx="8513762" cy="4411663"/>
          </a:xfrm>
          <a:prstGeom prst="roundRect">
            <a:avLst/>
          </a:prstGeom>
          <a:noFill/>
          <a:ln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</p:sldLayoutIdLst>
  <p:transition spd="slow">
    <p:blinds dir="vert"/>
    <p:sndAc>
      <p:stSnd>
        <p:snd r:embed="rId4" name="projctor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5"/>
          <p:cNvSpPr txBox="1">
            <a:spLocks noChangeArrowheads="1"/>
          </p:cNvSpPr>
          <p:nvPr/>
        </p:nvSpPr>
        <p:spPr bwMode="auto">
          <a:xfrm>
            <a:off x="762000" y="1828801"/>
            <a:ext cx="175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7" tIns="45719" rIns="91437" bIns="45719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23555" name="Text Box 6"/>
          <p:cNvSpPr txBox="1">
            <a:spLocks noChangeArrowheads="1"/>
          </p:cNvSpPr>
          <p:nvPr/>
        </p:nvSpPr>
        <p:spPr bwMode="auto">
          <a:xfrm>
            <a:off x="1111298" y="3003948"/>
            <a:ext cx="553992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lIns="91437" tIns="45719" rIns="91437" bIns="45719"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23556" name="Text Box 7"/>
          <p:cNvSpPr txBox="1">
            <a:spLocks noChangeArrowheads="1"/>
          </p:cNvSpPr>
          <p:nvPr/>
        </p:nvSpPr>
        <p:spPr bwMode="auto">
          <a:xfrm>
            <a:off x="2443209" y="4651773"/>
            <a:ext cx="553992" cy="92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 lIns="91437" tIns="45719" rIns="91437" bIns="45719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23557" name="Text Box 9"/>
          <p:cNvSpPr txBox="1">
            <a:spLocks noChangeArrowheads="1"/>
          </p:cNvSpPr>
          <p:nvPr/>
        </p:nvSpPr>
        <p:spPr bwMode="auto">
          <a:xfrm>
            <a:off x="4018009" y="3108724"/>
            <a:ext cx="553992" cy="66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lIns="91437" tIns="45719" rIns="91437" bIns="45719">
            <a:spAutoFit/>
          </a:bodyPr>
          <a:lstStyle/>
          <a:p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23558" name="Text Box 10"/>
          <p:cNvSpPr txBox="1">
            <a:spLocks noChangeArrowheads="1"/>
          </p:cNvSpPr>
          <p:nvPr/>
        </p:nvSpPr>
        <p:spPr bwMode="auto">
          <a:xfrm>
            <a:off x="2651126" y="2147888"/>
            <a:ext cx="1847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7" tIns="45719" rIns="91437" bIns="45719">
            <a:spAutoFit/>
          </a:bodyPr>
          <a:lstStyle/>
          <a:p>
            <a:endParaRPr kumimoji="1" lang="zh-CN" altLang="zh-CN" sz="2800" b="1">
              <a:latin typeface="Times New Roman" pitchFamily="18" charset="0"/>
            </a:endParaRPr>
          </a:p>
        </p:txBody>
      </p:sp>
      <p:sp>
        <p:nvSpPr>
          <p:cNvPr id="135179" name="Rectangle 11"/>
          <p:cNvSpPr>
            <a:spLocks noChangeArrowheads="1"/>
          </p:cNvSpPr>
          <p:nvPr/>
        </p:nvSpPr>
        <p:spPr bwMode="auto">
          <a:xfrm>
            <a:off x="381607" y="2055556"/>
            <a:ext cx="8234941" cy="646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7" tIns="45719" rIns="91437" bIns="45719">
            <a:spAutoFit/>
          </a:bodyPr>
          <a:lstStyle/>
          <a:p>
            <a:pPr algn="ctr">
              <a:defRPr/>
            </a:pPr>
            <a:r>
              <a:rPr kumimoji="1" lang="en-US" altLang="zh-CN" sz="3600" b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11.5 </a:t>
            </a:r>
            <a:r>
              <a:rPr kumimoji="1" lang="zh-CN" altLang="en-US" sz="3600" b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光电系统中矢量光束的调控及应用</a:t>
            </a:r>
            <a:endParaRPr kumimoji="1" lang="zh-CN" altLang="en-US" sz="36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732240" y="93728"/>
            <a:ext cx="2376264" cy="261610"/>
          </a:xfrm>
          <a:prstGeom prst="rect">
            <a:avLst/>
          </a:prstGeom>
          <a:solidFill>
            <a:srgbClr val="FFFFCC">
              <a:alpha val="50196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《</a:t>
            </a:r>
            <a:r>
              <a:rPr lang="zh-CN" altLang="en-US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光电技术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》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1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 光电检测系统</a:t>
            </a:r>
            <a:r>
              <a:rPr lang="zh-CN" altLang="en-US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专题</a:t>
            </a:r>
            <a:endParaRPr lang="zh-CN" altLang="en-US" sz="1100" b="1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094524"/>
            <a:ext cx="5976664" cy="3781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99592" y="483518"/>
            <a:ext cx="7056784" cy="648072"/>
          </a:xfrm>
          <a:noFill/>
          <a:ln>
            <a:miter lim="800000"/>
            <a:headEnd/>
            <a:tailEnd/>
          </a:ln>
        </p:spPr>
        <p:txBody>
          <a:bodyPr vert="horz" wrap="square" lIns="91437" tIns="45719" rIns="91437" bIns="45719" numCol="1" anchor="t" anchorCtr="0" compatLnSpc="1">
            <a:prstTxWarp prst="textNoShape">
              <a:avLst/>
            </a:prstTxWarp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矢量光束的偏振分布</a:t>
            </a:r>
            <a:endParaRPr lang="en-US" altLang="zh-CN" sz="24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732240" y="93728"/>
            <a:ext cx="2376264" cy="261610"/>
          </a:xfrm>
          <a:prstGeom prst="rect">
            <a:avLst/>
          </a:prstGeom>
          <a:solidFill>
            <a:srgbClr val="FFFFCC">
              <a:alpha val="50196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《</a:t>
            </a:r>
            <a:r>
              <a:rPr lang="zh-CN" altLang="en-US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光电技术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》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1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 光电检测系统</a:t>
            </a:r>
            <a:r>
              <a:rPr lang="zh-CN" altLang="en-US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专题</a:t>
            </a:r>
            <a:endParaRPr lang="zh-CN" altLang="en-US" sz="1100" b="1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275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>
          <a:xfrm>
            <a:off x="1753344" y="555526"/>
            <a:ext cx="5698976" cy="493167"/>
          </a:xfrm>
        </p:spPr>
        <p:txBody>
          <a:bodyPr/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矢量光束的产生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2400" b="1" dirty="0">
                <a:latin typeface="微软雅黑" pitchFamily="34" charset="-122"/>
                <a:ea typeface="微软雅黑" pitchFamily="34" charset="-122"/>
              </a:rPr>
            </a:br>
            <a:endParaRPr lang="zh-CN" altLang="en-US" sz="2400" dirty="0"/>
          </a:p>
        </p:txBody>
      </p:sp>
      <p:sp>
        <p:nvSpPr>
          <p:cNvPr id="1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071066" y="2867439"/>
            <a:ext cx="6029326" cy="1781087"/>
          </a:xfrm>
          <a:noFill/>
          <a:ln>
            <a:miter lim="800000"/>
            <a:headEnd/>
            <a:tailEnd/>
          </a:ln>
        </p:spPr>
        <p:txBody>
          <a:bodyPr vert="horz" wrap="square" lIns="91437" tIns="45719" rIns="91437" bIns="45719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sz="2000" dirty="0"/>
              <a:t>利用某些元件实现空间偏振模式转换，如径向偏振器、液晶元件、液晶空间光调制器、相位延迟片、亚波长光栅等</a:t>
            </a:r>
          </a:p>
          <a:p>
            <a:r>
              <a:rPr lang="zh-CN" altLang="zh-CN" sz="2000" dirty="0"/>
              <a:t>基于干涉结构实现模式叠加</a:t>
            </a:r>
          </a:p>
          <a:p>
            <a:r>
              <a:rPr lang="zh-CN" altLang="zh-CN" sz="2000" dirty="0"/>
              <a:t>在少模光纤内获得特定偏振</a:t>
            </a:r>
            <a:r>
              <a:rPr lang="zh-CN" altLang="zh-CN" sz="2000" dirty="0" smtClean="0"/>
              <a:t>模式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187624" y="1059582"/>
            <a:ext cx="6699346" cy="3672408"/>
            <a:chOff x="1187624" y="1203598"/>
            <a:chExt cx="6699346" cy="3168352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1264598" y="1203598"/>
              <a:ext cx="6619770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187624" y="4371950"/>
              <a:ext cx="6619770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264598" y="2715766"/>
              <a:ext cx="6619770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267200" y="1275606"/>
              <a:ext cx="6619770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187624" y="4299942"/>
              <a:ext cx="6619770" cy="0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矩形 21"/>
          <p:cNvSpPr/>
          <p:nvPr/>
        </p:nvSpPr>
        <p:spPr>
          <a:xfrm>
            <a:off x="1203568" y="163564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主动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187624" y="336383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被动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 bwMode="auto">
          <a:xfrm>
            <a:off x="2071066" y="1275606"/>
            <a:ext cx="6101334" cy="136815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37" tIns="45719" rIns="91437" bIns="45719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在激光腔内置入特定光学元件，如轴向双折射元件、轴向分光元件、衍射相位板、偏振选择性腔镜等实现模式选择 </a:t>
            </a:r>
          </a:p>
          <a:p>
            <a:r>
              <a:rPr lang="zh-CN" altLang="zh-CN" sz="2000" dirty="0" smtClean="0">
                <a:latin typeface="Times New Roman" pitchFamily="18" charset="0"/>
                <a:cs typeface="Times New Roman" pitchFamily="18" charset="0"/>
              </a:rPr>
              <a:t>在激光腔内引入干涉结构实现模式叠加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Font typeface="Arial" charset="0"/>
              <a:buNone/>
            </a:pPr>
            <a:endParaRPr lang="en-US" altLang="zh-CN" sz="24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732240" y="93728"/>
            <a:ext cx="2376264" cy="261610"/>
          </a:xfrm>
          <a:prstGeom prst="rect">
            <a:avLst/>
          </a:prstGeom>
          <a:solidFill>
            <a:srgbClr val="FFFFCC">
              <a:alpha val="50196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《</a:t>
            </a:r>
            <a:r>
              <a:rPr lang="zh-CN" altLang="en-US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光电技术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》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1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 光电检测系统</a:t>
            </a:r>
            <a:r>
              <a:rPr lang="zh-CN" altLang="en-US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专题</a:t>
            </a:r>
            <a:endParaRPr lang="zh-CN" altLang="en-US" sz="1100" b="1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522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2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>
          <a:xfrm>
            <a:off x="1753344" y="566415"/>
            <a:ext cx="5698976" cy="493167"/>
          </a:xfrm>
        </p:spPr>
        <p:txBody>
          <a:bodyPr/>
          <a:lstStyle/>
          <a:p>
            <a:r>
              <a:rPr lang="zh-CN" altLang="zh-CN" sz="2400" b="1" dirty="0" smtClean="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空间光调制器生成矢量光束</a:t>
            </a:r>
            <a:r>
              <a:rPr lang="zh-CN" altLang="zh-CN" sz="2400" dirty="0"/>
              <a:t/>
            </a:r>
            <a:br>
              <a:rPr lang="zh-CN" altLang="zh-CN" sz="2400" dirty="0"/>
            </a:b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</a:br>
            <a:endParaRPr lang="zh-CN" altLang="en-US" sz="2400" dirty="0"/>
          </a:p>
        </p:txBody>
      </p:sp>
      <p:pic>
        <p:nvPicPr>
          <p:cNvPr id="1026" name="Picture 2" descr="C:\Users\Jia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31590"/>
            <a:ext cx="53340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Jia\Desktop\QQ截图2017050110392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155" y="2968724"/>
            <a:ext cx="51911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732240" y="93728"/>
            <a:ext cx="2376264" cy="261610"/>
          </a:xfrm>
          <a:prstGeom prst="rect">
            <a:avLst/>
          </a:prstGeom>
          <a:solidFill>
            <a:srgbClr val="FFFFCC">
              <a:alpha val="50196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《</a:t>
            </a:r>
            <a:r>
              <a:rPr lang="zh-CN" altLang="en-US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光电技术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》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1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 光电检测系统</a:t>
            </a:r>
            <a:r>
              <a:rPr lang="zh-CN" altLang="en-US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专题</a:t>
            </a:r>
            <a:endParaRPr lang="zh-CN" altLang="en-US" sz="1100" b="1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567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7534"/>
            <a:ext cx="8229600" cy="576064"/>
          </a:xfrm>
        </p:spPr>
        <p:txBody>
          <a:bodyPr/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矢量光束的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应用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55576" y="3795886"/>
            <a:ext cx="7416824" cy="1008112"/>
          </a:xfrm>
        </p:spPr>
        <p:txBody>
          <a:bodyPr/>
          <a:lstStyle/>
          <a:p>
            <a:r>
              <a:rPr lang="zh-CN" altLang="en-US" sz="2400" b="1" dirty="0" smtClean="0"/>
              <a:t>电子加速、</a:t>
            </a:r>
            <a:r>
              <a:rPr lang="zh-CN" altLang="zh-CN" sz="2400" b="1" dirty="0"/>
              <a:t>光学</a:t>
            </a:r>
            <a:r>
              <a:rPr lang="zh-CN" altLang="zh-CN" sz="2400" b="1" dirty="0" smtClean="0"/>
              <a:t>捕获</a:t>
            </a:r>
            <a:r>
              <a:rPr lang="zh-CN" altLang="en-US" sz="2400" b="1" dirty="0" smtClean="0"/>
              <a:t>、</a:t>
            </a:r>
            <a:r>
              <a:rPr lang="zh-CN" altLang="zh-CN" sz="2400" b="1" dirty="0"/>
              <a:t>拉曼光谱</a:t>
            </a:r>
            <a:r>
              <a:rPr lang="zh-CN" altLang="zh-CN" sz="2400" b="1" dirty="0" smtClean="0"/>
              <a:t>技术</a:t>
            </a:r>
            <a:r>
              <a:rPr lang="zh-CN" altLang="en-US" sz="2400" b="1" dirty="0" smtClean="0"/>
              <a:t>、</a:t>
            </a:r>
            <a:r>
              <a:rPr lang="zh-CN" altLang="en-US" sz="2400" b="1" dirty="0"/>
              <a:t>显微</a:t>
            </a:r>
            <a:r>
              <a:rPr lang="zh-CN" altLang="en-US" sz="2400" b="1" dirty="0" smtClean="0"/>
              <a:t>成像、</a:t>
            </a:r>
            <a:r>
              <a:rPr lang="zh-CN" altLang="zh-CN" sz="2400" b="1" dirty="0" smtClean="0"/>
              <a:t>光学存储</a:t>
            </a:r>
            <a:r>
              <a:rPr lang="zh-CN" altLang="en-US" sz="2400" b="1" dirty="0"/>
              <a:t>、材料加工、等离子</a:t>
            </a:r>
            <a:r>
              <a:rPr lang="zh-CN" altLang="en-US" sz="2400" b="1" dirty="0" smtClean="0"/>
              <a:t>光子学。</a:t>
            </a:r>
            <a:endParaRPr lang="zh-CN" altLang="en-US" sz="2400" b="1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grpSp>
        <p:nvGrpSpPr>
          <p:cNvPr id="7" name="组合 6"/>
          <p:cNvGrpSpPr/>
          <p:nvPr/>
        </p:nvGrpSpPr>
        <p:grpSpPr>
          <a:xfrm>
            <a:off x="1970112" y="1689720"/>
            <a:ext cx="5410200" cy="1962150"/>
            <a:chOff x="1754088" y="1081286"/>
            <a:chExt cx="5410200" cy="1962150"/>
          </a:xfrm>
        </p:grpSpPr>
        <p:pic>
          <p:nvPicPr>
            <p:cNvPr id="2050" name="Picture 2" descr="C:\Users\Jia\Desktop\1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4088" y="1081286"/>
              <a:ext cx="5410200" cy="1962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059832" y="2571750"/>
                  <a:ext cx="792088" cy="400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0.26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𝜆</m:t>
                            </m:r>
                          </m:e>
                          <m:sup>
                            <m:r>
                              <a:rPr lang="zh-CN" altLang="en-US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32" y="2571750"/>
                  <a:ext cx="792088" cy="40043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r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5830018" y="2571750"/>
                  <a:ext cx="830213" cy="4004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0.16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𝜆</m:t>
                            </m:r>
                          </m:e>
                          <m:sup>
                            <m:r>
                              <a:rPr lang="zh-CN" altLang="en-US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0018" y="2571750"/>
                  <a:ext cx="830213" cy="40043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8"/>
          <p:cNvSpPr txBox="1"/>
          <p:nvPr/>
        </p:nvSpPr>
        <p:spPr>
          <a:xfrm>
            <a:off x="1115616" y="1184434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超衍射极限的聚焦特性</a:t>
            </a:r>
            <a:endParaRPr lang="zh-CN" altLang="en-US" sz="28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732240" y="93728"/>
            <a:ext cx="2376264" cy="261610"/>
          </a:xfrm>
          <a:prstGeom prst="rect">
            <a:avLst/>
          </a:prstGeom>
          <a:solidFill>
            <a:srgbClr val="FFFFCC">
              <a:alpha val="50196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《</a:t>
            </a:r>
            <a:r>
              <a:rPr lang="zh-CN" altLang="en-US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光电技术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》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1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 光电检测系统</a:t>
            </a:r>
            <a:r>
              <a:rPr lang="zh-CN" altLang="en-US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专题</a:t>
            </a:r>
            <a:endParaRPr lang="zh-CN" altLang="en-US" sz="1100" b="1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52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648" y="627534"/>
            <a:ext cx="6480720" cy="576064"/>
          </a:xfrm>
        </p:spPr>
        <p:txBody>
          <a:bodyPr/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矢量光束的超分辨共焦显微成像技术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31590"/>
            <a:ext cx="8424936" cy="504056"/>
          </a:xfrm>
        </p:spPr>
        <p:txBody>
          <a:bodyPr/>
          <a:lstStyle/>
          <a:p>
            <a:r>
              <a:rPr lang="zh-CN" altLang="en-US" sz="2400" b="1" dirty="0"/>
              <a:t>对比</a:t>
            </a:r>
            <a:r>
              <a:rPr lang="zh-CN" altLang="en-US" sz="2400" b="1" dirty="0" smtClean="0"/>
              <a:t>传统</a:t>
            </a:r>
            <a:r>
              <a:rPr lang="zh-CN" altLang="en-US" sz="2400" b="1" dirty="0"/>
              <a:t>共焦显微</a:t>
            </a:r>
            <a:r>
              <a:rPr lang="zh-CN" altLang="en-US" sz="2400" b="1" dirty="0" smtClean="0"/>
              <a:t>成像，系统的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横向分辨率提高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了</a:t>
            </a:r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32.12%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Jia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07654"/>
            <a:ext cx="5334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732240" y="93728"/>
            <a:ext cx="2376264" cy="261610"/>
          </a:xfrm>
          <a:prstGeom prst="rect">
            <a:avLst/>
          </a:prstGeom>
          <a:solidFill>
            <a:srgbClr val="FFFFCC">
              <a:alpha val="50196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《</a:t>
            </a:r>
            <a:r>
              <a:rPr lang="zh-CN" altLang="en-US" sz="11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光电技术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》</a:t>
            </a:r>
            <a:r>
              <a:rPr lang="en-US" altLang="zh-CN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1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 光电检测系统</a:t>
            </a:r>
            <a:r>
              <a:rPr lang="zh-CN" altLang="en-US" sz="11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专题</a:t>
            </a:r>
            <a:endParaRPr lang="zh-CN" altLang="en-US" sz="1100" b="1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1026" name="Picture 2" descr="C:\Users\Jia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008" y="2067694"/>
            <a:ext cx="3288432" cy="263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2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系统与信号处理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3228</TotalTime>
  <Words>226</Words>
  <Application>Microsoft Office PowerPoint</Application>
  <PresentationFormat>全屏显示(16:9)</PresentationFormat>
  <Paragraphs>24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光电系统与信号处理</vt:lpstr>
      <vt:lpstr>PowerPoint 演示文稿</vt:lpstr>
      <vt:lpstr>PowerPoint 演示文稿</vt:lpstr>
      <vt:lpstr>矢量光束的产生 </vt:lpstr>
      <vt:lpstr>基于空间光调制器生成矢量光束  </vt:lpstr>
      <vt:lpstr>矢量光束的应用</vt:lpstr>
      <vt:lpstr>基于矢量光束的超分辨共焦显微成像技术</vt:lpstr>
    </vt:vector>
  </TitlesOfParts>
  <Company>hust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本节主要介绍8051单片机的存贮器结构</dc:title>
  <dc:creator>zy</dc:creator>
  <cp:lastModifiedBy>Jia</cp:lastModifiedBy>
  <cp:revision>176</cp:revision>
  <cp:lastPrinted>1601-01-01T00:00:00Z</cp:lastPrinted>
  <dcterms:created xsi:type="dcterms:W3CDTF">2002-10-11T11:07:31Z</dcterms:created>
  <dcterms:modified xsi:type="dcterms:W3CDTF">2017-05-02T03:03:08Z</dcterms:modified>
</cp:coreProperties>
</file>