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vml" ContentType="application/vnd.openxmlformats-officedocument.vmlDrawing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8"/>
  </p:notesMasterIdLst>
  <p:handoutMasterIdLst>
    <p:handoutMasterId r:id="rId9"/>
  </p:handoutMasterIdLst>
  <p:sldIdLst>
    <p:sldId id="346" r:id="rId2"/>
    <p:sldId id="312" r:id="rId3"/>
    <p:sldId id="347" r:id="rId4"/>
    <p:sldId id="313" r:id="rId5"/>
    <p:sldId id="334" r:id="rId6"/>
    <p:sldId id="348" r:id="rId7"/>
  </p:sldIdLst>
  <p:sldSz cx="13717588" cy="77152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6876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137530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20629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275060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3438258" algn="l" defTabSz="1375302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4125909" algn="l" defTabSz="1375302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4813561" algn="l" defTabSz="1375302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5501213" algn="l" defTabSz="1375302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66"/>
    <a:srgbClr val="000000"/>
    <a:srgbClr val="FF00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737" autoAdjust="0"/>
  </p:normalViewPr>
  <p:slideViewPr>
    <p:cSldViewPr>
      <p:cViewPr>
        <p:scale>
          <a:sx n="75" d="100"/>
          <a:sy n="75" d="100"/>
        </p:scale>
        <p:origin x="-156" y="-12"/>
      </p:cViewPr>
      <p:guideLst>
        <p:guide orient="horz" pos="2430"/>
        <p:guide pos="43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ACBF184-DB0A-4333-BB2D-59222810A4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926577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79F7CB0A-316D-4F8F-A784-7DC75E23CB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362173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687652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375302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2062954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750606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3438258" algn="l" defTabSz="13753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25909" algn="l" defTabSz="13753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13561" algn="l" defTabSz="13753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501213" algn="l" defTabSz="13753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4220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81" y="309563"/>
            <a:ext cx="12345829" cy="1285875"/>
          </a:xfrm>
          <a:prstGeom prst="rect">
            <a:avLst/>
          </a:prstGeom>
        </p:spPr>
        <p:txBody>
          <a:bodyPr lIns="137535" tIns="68767" rIns="137535" bIns="68767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81" y="1800226"/>
            <a:ext cx="12345829" cy="5091112"/>
          </a:xfrm>
          <a:prstGeom prst="rect">
            <a:avLst/>
          </a:prstGeom>
        </p:spPr>
        <p:txBody>
          <a:bodyPr lIns="137535" tIns="68767" rIns="137535" bIns="68767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80" y="7150896"/>
            <a:ext cx="3200771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4" y="7150896"/>
            <a:ext cx="4343903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9" y="7150896"/>
            <a:ext cx="3200771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fld id="{82B07DAA-8C11-4806-9372-AD2DBEF0D5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983617998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85880" y="7150896"/>
            <a:ext cx="3200771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4" y="7150896"/>
            <a:ext cx="4343903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9" y="7150896"/>
            <a:ext cx="3200771" cy="411955"/>
          </a:xfrm>
          <a:prstGeom prst="rect">
            <a:avLst/>
          </a:prstGeom>
        </p:spPr>
        <p:txBody>
          <a:bodyPr lIns="137535" tIns="68767" rIns="137535" bIns="68767"/>
          <a:lstStyle>
            <a:lvl1pPr>
              <a:defRPr/>
            </a:lvl1pPr>
          </a:lstStyle>
          <a:p>
            <a:pPr>
              <a:defRPr/>
            </a:pPr>
            <a:fld id="{E26A6670-7B05-461F-9D42-A1DD78F5826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446640470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1" y="0"/>
            <a:ext cx="277821" cy="412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535" tIns="68767" rIns="137535" bIns="68767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2200275"/>
            <a:ext cx="13717588" cy="412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535" tIns="68767" rIns="137535" bIns="68767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1" y="3429000"/>
            <a:ext cx="277821" cy="412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535" tIns="68767" rIns="137535" bIns="68767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1" y="4471987"/>
            <a:ext cx="277821" cy="412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7535" tIns="68767" rIns="137535" bIns="68767" anchor="ctr">
            <a:spAutoFit/>
          </a:bodyPr>
          <a:lstStyle/>
          <a:p>
            <a:endParaRPr lang="zh-CN" altLang="zh-CN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</p:sldLayoutIdLst>
  <p:transition spd="slow">
    <p:blinds dir="vert"/>
    <p:sndAc>
      <p:stSnd>
        <p:snd r:embed="rId5" name="projctor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687675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375349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2063024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750698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515756" indent="-51575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7471" indent="-42979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9186" indent="-3438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6861" indent="-3438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94535" indent="-3438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82210" indent="-343837" algn="l" defTabSz="1375349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9884" indent="-343837" algn="l" defTabSz="1375349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57559" indent="-343837" algn="l" defTabSz="1375349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45233" indent="-343837" algn="l" defTabSz="1375349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75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5349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63024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50698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38373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26047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13722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501396" algn="l" defTabSz="137534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放大器的等效输入噪声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9.4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xmlns="" val="633650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87491" y="1481361"/>
            <a:ext cx="12006238" cy="1836204"/>
          </a:xfr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en-US" altLang="zh-CN" sz="3600" b="1" dirty="0" smtClean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利用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-I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模型，放大系统的噪声简化为三个噪声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 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即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36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ns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17446" y="4073650"/>
            <a:ext cx="11990720" cy="246155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等效输入噪声</a:t>
            </a:r>
            <a:r>
              <a:rPr lang="en-US" altLang="zh-CN" sz="36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进一步考虑这三个噪声源的共同效果，将它们等效地归结到信号源位置上，用等效输入噪声</a:t>
            </a:r>
            <a:r>
              <a:rPr lang="en-US" altLang="zh-CN" sz="36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ni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来表示。</a:t>
            </a:r>
          </a:p>
        </p:txBody>
      </p:sp>
      <p:sp>
        <p:nvSpPr>
          <p:cNvPr id="5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85349" y="1161804"/>
            <a:ext cx="8858008" cy="63430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l"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计算各噪声源在放大器输出端的贡献：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93375" y="2345458"/>
            <a:ext cx="3564809" cy="75608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l"/>
            </a:pPr>
            <a:r>
              <a:rPr lang="en-US" altLang="zh-CN" sz="3600" b="1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err="1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ns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的贡献为</a:t>
            </a:r>
            <a:r>
              <a:rPr lang="zh-CN" altLang="en-US" sz="3600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26110929"/>
              </p:ext>
            </p:extLst>
          </p:nvPr>
        </p:nvGraphicFramePr>
        <p:xfrm>
          <a:off x="4482255" y="2329736"/>
          <a:ext cx="3780858" cy="825471"/>
        </p:xfrm>
        <a:graphic>
          <a:graphicData uri="http://schemas.openxmlformats.org/presentationml/2006/ole">
            <p:oleObj spid="_x0000_s5163" r:id="rId3" imgW="1536033" imgH="444307" progId="Equation.3">
              <p:embed/>
            </p:oleObj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29122" y="3533590"/>
            <a:ext cx="3529061" cy="75608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Char char="l"/>
            </a:pPr>
            <a:r>
              <a:rPr lang="en-US" altLang="zh-CN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的贡献为</a:t>
            </a:r>
            <a:r>
              <a:rPr lang="zh-CN" altLang="en-US" sz="3600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2361278"/>
              </p:ext>
            </p:extLst>
          </p:nvPr>
        </p:nvGraphicFramePr>
        <p:xfrm>
          <a:off x="4482256" y="3515961"/>
          <a:ext cx="3564809" cy="773712"/>
        </p:xfrm>
        <a:graphic>
          <a:graphicData uri="http://schemas.openxmlformats.org/presentationml/2006/ole">
            <p:oleObj spid="_x0000_s5164" r:id="rId4" imgW="1497950" imgH="444307" progId="Equation.3">
              <p:embed/>
            </p:oleObj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18466428"/>
              </p:ext>
            </p:extLst>
          </p:nvPr>
        </p:nvGraphicFramePr>
        <p:xfrm>
          <a:off x="863342" y="5693830"/>
          <a:ext cx="6589681" cy="871537"/>
        </p:xfrm>
        <a:graphic>
          <a:graphicData uri="http://schemas.openxmlformats.org/presentationml/2006/ole">
            <p:oleObj spid="_x0000_s5165" r:id="rId5" imgW="1536700" imgH="228600" progId="Equation.3">
              <p:embed/>
            </p:oleObj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0245702"/>
              </p:ext>
            </p:extLst>
          </p:nvPr>
        </p:nvGraphicFramePr>
        <p:xfrm>
          <a:off x="7614966" y="5693830"/>
          <a:ext cx="4105750" cy="892969"/>
        </p:xfrm>
        <a:graphic>
          <a:graphicData uri="http://schemas.openxmlformats.org/presentationml/2006/ole">
            <p:oleObj spid="_x0000_s5166" r:id="rId6" imgW="1002865" imgH="444307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7446" y="4721721"/>
            <a:ext cx="3564809" cy="692497"/>
          </a:xfrm>
          <a:prstGeom prst="rect">
            <a:avLst/>
          </a:prstGeom>
          <a:noFill/>
        </p:spPr>
        <p:txBody>
          <a:bodyPr wrap="square" lIns="137535" tIns="68767" rIns="137535" bIns="68767" rtlCol="0">
            <a:spAutoFit/>
          </a:bodyPr>
          <a:lstStyle/>
          <a:p>
            <a:pPr marL="515756" indent="-515756">
              <a:buFont typeface="Wingdings" pitchFamily="2" charset="2"/>
              <a:buChar char="l"/>
            </a:pP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的贡献为</a:t>
            </a:r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en-US" sz="36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158" name="Picture 38" descr="C:\Users\Administrator\AppData\Roaming\Tencent\Users\729963870\QQ\WinTemp\RichOle\{NSO9RSAQ4@QGD5D$KD5W`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97660" y="2021423"/>
            <a:ext cx="4531440" cy="27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xmlns="" val="958922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25471" y="1373349"/>
            <a:ext cx="11659950" cy="1728192"/>
          </a:xfr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若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不相关，将上述各项平方相加得总的输出噪声为：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83994697"/>
              </p:ext>
            </p:extLst>
          </p:nvPr>
        </p:nvGraphicFramePr>
        <p:xfrm>
          <a:off x="3293987" y="3749613"/>
          <a:ext cx="7751867" cy="789384"/>
        </p:xfrm>
        <a:graphic>
          <a:graphicData uri="http://schemas.openxmlformats.org/presentationml/2006/ole">
            <p:oleObj spid="_x0000_s2132" r:id="rId3" imgW="1892300" imgH="254000" progId="Equation.3">
              <p:embed/>
            </p:oleObj>
          </a:graphicData>
        </a:graphic>
      </p:graphicFrame>
      <p:graphicFrame>
        <p:nvGraphicFramePr>
          <p:cNvPr id="205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4301621"/>
              </p:ext>
            </p:extLst>
          </p:nvPr>
        </p:nvGraphicFramePr>
        <p:xfrm>
          <a:off x="3293986" y="5261781"/>
          <a:ext cx="7520858" cy="1000125"/>
        </p:xfrm>
        <a:graphic>
          <a:graphicData uri="http://schemas.openxmlformats.org/presentationml/2006/ole">
            <p:oleObj spid="_x0000_s2133" r:id="rId4" imgW="3683000" imgH="508000" progId="Equation.3">
              <p:embed/>
            </p:oleObj>
          </a:graphicData>
        </a:graphic>
      </p:graphicFrame>
      <p:sp>
        <p:nvSpPr>
          <p:cNvPr id="6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457570" y="1049314"/>
            <a:ext cx="6716852" cy="972108"/>
          </a:xfrm>
          <a:prstGeom prst="rect">
            <a:avLst/>
          </a:prstGeom>
        </p:spPr>
        <p:txBody>
          <a:bodyPr lIns="137530" tIns="68766" rIns="137530" bIns="68766"/>
          <a:lstStyle/>
          <a:p>
            <a:pPr marL="515756" indent="-515756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上式中，有一个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公共因子</a:t>
            </a:r>
            <a:endParaRPr lang="zh-CN" altLang="en-US" sz="3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96018006"/>
              </p:ext>
            </p:extLst>
          </p:nvPr>
        </p:nvGraphicFramePr>
        <p:xfrm>
          <a:off x="2537815" y="2032995"/>
          <a:ext cx="1836417" cy="852523"/>
        </p:xfrm>
        <a:graphic>
          <a:graphicData uri="http://schemas.openxmlformats.org/presentationml/2006/ole">
            <p:oleObj spid="_x0000_s3203" r:id="rId3" imgW="723586" imgH="444307" progId="Equation.3">
              <p:embed/>
            </p:oleObj>
          </a:graphicData>
        </a:graphic>
      </p:graphicFrame>
      <p:graphicFrame>
        <p:nvGraphicFramePr>
          <p:cNvPr id="30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6495030"/>
              </p:ext>
            </p:extLst>
          </p:nvPr>
        </p:nvGraphicFramePr>
        <p:xfrm>
          <a:off x="1457570" y="5693830"/>
          <a:ext cx="4970243" cy="921545"/>
        </p:xfrm>
        <a:graphic>
          <a:graphicData uri="http://schemas.openxmlformats.org/presentationml/2006/ole">
            <p:oleObj spid="_x0000_s3204" r:id="rId4" imgW="1294838" imgH="444307" progId="Equation.3">
              <p:embed/>
            </p:oleObj>
          </a:graphicData>
        </a:graphic>
      </p:graphicFrame>
      <p:graphicFrame>
        <p:nvGraphicFramePr>
          <p:cNvPr id="30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6785722"/>
              </p:ext>
            </p:extLst>
          </p:nvPr>
        </p:nvGraphicFramePr>
        <p:xfrm>
          <a:off x="6534721" y="5693829"/>
          <a:ext cx="4103370" cy="932259"/>
        </p:xfrm>
        <a:graphic>
          <a:graphicData uri="http://schemas.openxmlformats.org/presentationml/2006/ole">
            <p:oleObj spid="_x0000_s3205" r:id="rId5" imgW="1548728" imgH="444307" progId="Equation.3">
              <p:embed/>
            </p:oleObj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457570" y="2885517"/>
            <a:ext cx="6913043" cy="1080120"/>
          </a:xfrm>
          <a:prstGeom prst="rect">
            <a:avLst/>
          </a:prstGeom>
        </p:spPr>
        <p:txBody>
          <a:bodyPr lIns="137530" tIns="68766" rIns="137530" bIns="68766"/>
          <a:lstStyle/>
          <a:p>
            <a:pPr marL="515756" indent="-515756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即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放大系统的电压放大倍数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3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57569" y="4181661"/>
            <a:ext cx="8101838" cy="864096"/>
          </a:xfrm>
          <a:prstGeom prst="rect">
            <a:avLst/>
          </a:prstGeom>
        </p:spPr>
        <p:txBody>
          <a:bodyPr lIns="137530" tIns="68766" rIns="137530" bIns="68766"/>
          <a:lstStyle/>
          <a:p>
            <a:pPr marL="515756" indent="-515756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输入信号为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600" b="1" baseline="-30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时，输出信号为：</a:t>
            </a:r>
            <a:endParaRPr lang="en-US" altLang="zh-CN" sz="36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798086" y="833289"/>
            <a:ext cx="4810607" cy="90654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因此等效输入噪声为：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93373" y="2669493"/>
            <a:ext cx="12460142" cy="1728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等效输入噪声的意义：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单一噪声源位于</a:t>
            </a:r>
            <a:r>
              <a:rPr lang="en-US" altLang="zh-CN" sz="36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36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位置上，代替了原系统的所有噪声源。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68274806"/>
              </p:ext>
            </p:extLst>
          </p:nvPr>
        </p:nvGraphicFramePr>
        <p:xfrm>
          <a:off x="3293986" y="1697386"/>
          <a:ext cx="5487035" cy="1045370"/>
        </p:xfrm>
        <a:graphic>
          <a:graphicData uri="http://schemas.openxmlformats.org/presentationml/2006/ole">
            <p:oleObj spid="_x0000_s6160" r:id="rId3" imgW="1803400" imgH="457200" progId="Equation.3">
              <p:embed/>
            </p:oleObj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6748" y="4426694"/>
            <a:ext cx="6554145" cy="97210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6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是相关的，则：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5252122"/>
              </p:ext>
            </p:extLst>
          </p:nvPr>
        </p:nvGraphicFramePr>
        <p:xfrm>
          <a:off x="2538708" y="5476876"/>
          <a:ext cx="7880469" cy="785812"/>
        </p:xfrm>
        <a:graphic>
          <a:graphicData uri="http://schemas.openxmlformats.org/presentationml/2006/ole">
            <p:oleObj spid="_x0000_s6161" r:id="rId4" imgW="2120900" imgH="241300" progId="Equation.3">
              <p:embed/>
            </p:oleObj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60573" y="6449914"/>
            <a:ext cx="4285630" cy="86409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37530" tIns="68766" rIns="137530" bIns="6876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式中</a:t>
            </a:r>
            <a:r>
              <a:rPr lang="en-US" altLang="zh-CN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36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为相关系数。</a:t>
            </a:r>
          </a:p>
        </p:txBody>
      </p:sp>
      <p:sp>
        <p:nvSpPr>
          <p:cNvPr id="8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放大器的等效输入噪声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xmlns="" val="2276427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2573</TotalTime>
  <Words>236</Words>
  <Application>Microsoft Office PowerPoint</Application>
  <PresentationFormat>自定义</PresentationFormat>
  <Paragraphs>47</Paragraphs>
  <Slides>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光电系统与信号处理</vt:lpstr>
      <vt:lpstr>Microsoft 公式 3.0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Company>hust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本节主要介绍8051单片机的存贮器结构</dc:title>
  <dc:creator>zy</dc:creator>
  <cp:lastModifiedBy>yyp</cp:lastModifiedBy>
  <cp:revision>134</cp:revision>
  <cp:lastPrinted>1601-01-01T00:00:00Z</cp:lastPrinted>
  <dcterms:created xsi:type="dcterms:W3CDTF">2002-10-11T11:07:31Z</dcterms:created>
  <dcterms:modified xsi:type="dcterms:W3CDTF">2022-05-02T04:23:44Z</dcterms:modified>
</cp:coreProperties>
</file>