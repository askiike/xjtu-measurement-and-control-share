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3" r:id="rId2"/>
    <p:sldId id="376" r:id="rId3"/>
    <p:sldId id="298" r:id="rId4"/>
    <p:sldId id="377" r:id="rId5"/>
    <p:sldId id="296" r:id="rId6"/>
    <p:sldId id="273" r:id="rId7"/>
    <p:sldId id="274" r:id="rId8"/>
    <p:sldId id="276" r:id="rId9"/>
    <p:sldId id="277" r:id="rId10"/>
    <p:sldId id="278" r:id="rId11"/>
    <p:sldId id="378" r:id="rId12"/>
    <p:sldId id="301" r:id="rId13"/>
    <p:sldId id="302" r:id="rId14"/>
    <p:sldId id="303" r:id="rId15"/>
    <p:sldId id="304" r:id="rId16"/>
    <p:sldId id="305" r:id="rId17"/>
    <p:sldId id="379" r:id="rId18"/>
    <p:sldId id="307" r:id="rId19"/>
    <p:sldId id="308" r:id="rId20"/>
    <p:sldId id="309" r:id="rId21"/>
    <p:sldId id="381" r:id="rId22"/>
    <p:sldId id="312" r:id="rId23"/>
    <p:sldId id="313" r:id="rId24"/>
    <p:sldId id="314" r:id="rId25"/>
    <p:sldId id="315" r:id="rId26"/>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pitchFamily="34" charset="0"/>
        <a:ea typeface="宋体" pitchFamily="2" charset="-122"/>
        <a:cs typeface="+mn-cs"/>
      </a:defRPr>
    </a:lvl1pPr>
    <a:lvl2pPr marL="514350" indent="-571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2pPr>
    <a:lvl3pPr marL="1028700" indent="-1143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3pPr>
    <a:lvl4pPr marL="1543050" indent="-1714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4pPr>
    <a:lvl5pPr marL="2057400" indent="-2286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61" autoAdjust="0"/>
    <p:restoredTop sz="94660"/>
  </p:normalViewPr>
  <p:slideViewPr>
    <p:cSldViewPr snapToGrid="0">
      <p:cViewPr varScale="1">
        <p:scale>
          <a:sx n="100" d="100"/>
          <a:sy n="100" d="100"/>
        </p:scale>
        <p:origin x="2418" y="90"/>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69084A-526A-4470-AA35-7ED4AA65A0E9}"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zh-CN" altLang="en-US"/>
        </a:p>
      </dgm:t>
    </dgm:pt>
    <dgm:pt modelId="{7779A588-270A-487C-88D2-F0163ABBD6E0}">
      <dgm:prSet phldrT="[文本]" custT="1"/>
      <dgm:spPr>
        <a:solidFill>
          <a:srgbClr val="FF99FF"/>
        </a:solidFill>
      </dgm:spPr>
      <dgm:t>
        <a:bodyPr/>
        <a:lstStyle/>
        <a:p>
          <a:r>
            <a:rPr lang="zh-CN" altLang="en-US" sz="2400" b="1" dirty="0">
              <a:solidFill>
                <a:srgbClr val="FF0000"/>
              </a:solidFill>
              <a:latin typeface="微软雅黑" pitchFamily="34" charset="-122"/>
              <a:ea typeface="微软雅黑" pitchFamily="34" charset="-122"/>
              <a:cs typeface="Times New Roman" pitchFamily="18" charset="0"/>
            </a:rPr>
            <a:t>应用</a:t>
          </a:r>
        </a:p>
      </dgm:t>
    </dgm:pt>
    <dgm:pt modelId="{ECA4527F-2527-41FA-B5E4-526CBFDAE6B1}" type="parTrans" cxnId="{454B6B12-128E-49B4-9875-98347E43557B}">
      <dgm:prSet/>
      <dgm:spPr/>
      <dgm:t>
        <a:bodyPr/>
        <a:lstStyle/>
        <a:p>
          <a:endParaRPr lang="zh-CN" altLang="en-US" sz="2400" b="1">
            <a:solidFill>
              <a:schemeClr val="tx1"/>
            </a:solidFill>
            <a:latin typeface="微软雅黑" pitchFamily="34" charset="-122"/>
            <a:ea typeface="微软雅黑" pitchFamily="34" charset="-122"/>
            <a:cs typeface="Times New Roman" pitchFamily="18" charset="0"/>
          </a:endParaRPr>
        </a:p>
      </dgm:t>
    </dgm:pt>
    <dgm:pt modelId="{0E405C3D-2114-4F21-99DB-CFE3B4797D8B}" type="sibTrans" cxnId="{454B6B12-128E-49B4-9875-98347E43557B}">
      <dgm:prSet/>
      <dgm:spPr/>
      <dgm:t>
        <a:bodyPr/>
        <a:lstStyle/>
        <a:p>
          <a:endParaRPr lang="zh-CN" altLang="en-US" sz="2400" b="1">
            <a:solidFill>
              <a:schemeClr val="tx1"/>
            </a:solidFill>
            <a:latin typeface="微软雅黑" pitchFamily="34" charset="-122"/>
            <a:ea typeface="微软雅黑" pitchFamily="34" charset="-122"/>
            <a:cs typeface="Times New Roman" pitchFamily="18" charset="0"/>
          </a:endParaRPr>
        </a:p>
      </dgm:t>
    </dgm:pt>
    <dgm:pt modelId="{CF54486E-E8B5-4C02-AE33-F8365F6969EB}">
      <dgm:prSet phldrT="[文本]" custT="1"/>
      <dgm:spPr>
        <a:solidFill>
          <a:srgbClr val="FFFF00"/>
        </a:solidFill>
      </dgm:spPr>
      <dgm:t>
        <a:bodyPr/>
        <a:lstStyle/>
        <a:p>
          <a:r>
            <a:rPr lang="zh-CN" altLang="en-US" sz="2400" b="1" dirty="0">
              <a:solidFill>
                <a:srgbClr val="FF0000"/>
              </a:solidFill>
              <a:latin typeface="微软雅黑" pitchFamily="34" charset="-122"/>
              <a:ea typeface="微软雅黑" pitchFamily="34" charset="-122"/>
              <a:cs typeface="Times New Roman" pitchFamily="18" charset="0"/>
            </a:rPr>
            <a:t>印染</a:t>
          </a:r>
        </a:p>
      </dgm:t>
    </dgm:pt>
    <dgm:pt modelId="{C44C2029-BEB8-47B5-B2EA-720BF125AAFB}" type="parTrans" cxnId="{62FB6D7C-585C-472B-B900-8046510366A0}">
      <dgm:prSet custT="1"/>
      <dgm:spPr>
        <a:solidFill>
          <a:schemeClr val="tx2"/>
        </a:solidFill>
      </dgm:spPr>
      <dgm:t>
        <a:bodyPr/>
        <a:lstStyle/>
        <a:p>
          <a:endParaRPr lang="zh-CN" altLang="en-US" sz="2400" b="1">
            <a:solidFill>
              <a:schemeClr val="tx1"/>
            </a:solidFill>
            <a:latin typeface="微软雅黑" pitchFamily="34" charset="-122"/>
            <a:ea typeface="微软雅黑" pitchFamily="34" charset="-122"/>
            <a:cs typeface="Times New Roman" pitchFamily="18" charset="0"/>
          </a:endParaRPr>
        </a:p>
      </dgm:t>
    </dgm:pt>
    <dgm:pt modelId="{29601C67-09F1-4BE6-965F-13C06E795D56}" type="sibTrans" cxnId="{62FB6D7C-585C-472B-B900-8046510366A0}">
      <dgm:prSet/>
      <dgm:spPr/>
      <dgm:t>
        <a:bodyPr/>
        <a:lstStyle/>
        <a:p>
          <a:endParaRPr lang="zh-CN" altLang="en-US" sz="2400" b="1">
            <a:solidFill>
              <a:schemeClr val="tx1"/>
            </a:solidFill>
            <a:latin typeface="微软雅黑" pitchFamily="34" charset="-122"/>
            <a:ea typeface="微软雅黑" pitchFamily="34" charset="-122"/>
            <a:cs typeface="Times New Roman" pitchFamily="18" charset="0"/>
          </a:endParaRPr>
        </a:p>
      </dgm:t>
    </dgm:pt>
    <dgm:pt modelId="{F155EF20-C8CC-450D-8369-03F526B51DB9}">
      <dgm:prSet phldrT="[文本]" custT="1"/>
      <dgm:spPr>
        <a:solidFill>
          <a:srgbClr val="FFC000"/>
        </a:solidFill>
      </dgm:spPr>
      <dgm:t>
        <a:bodyPr/>
        <a:lstStyle/>
        <a:p>
          <a:r>
            <a:rPr lang="zh-CN" altLang="en-US" sz="2400" b="1" dirty="0">
              <a:solidFill>
                <a:schemeClr val="tx1"/>
              </a:solidFill>
              <a:latin typeface="微软雅黑" pitchFamily="34" charset="-122"/>
              <a:ea typeface="微软雅黑" pitchFamily="34" charset="-122"/>
              <a:cs typeface="Times New Roman" pitchFamily="18" charset="0"/>
            </a:rPr>
            <a:t>油漆</a:t>
          </a:r>
        </a:p>
      </dgm:t>
    </dgm:pt>
    <dgm:pt modelId="{5DB30950-4637-4405-B6B0-6BD05234472C}" type="parTrans" cxnId="{62522632-7519-40CD-B754-4F3AB16436BF}">
      <dgm:prSet custT="1"/>
      <dgm:spPr>
        <a:solidFill>
          <a:schemeClr val="tx2"/>
        </a:solidFill>
      </dgm:spPr>
      <dgm:t>
        <a:bodyPr/>
        <a:lstStyle/>
        <a:p>
          <a:endParaRPr lang="zh-CN" altLang="en-US" sz="2400" b="1">
            <a:solidFill>
              <a:schemeClr val="tx1"/>
            </a:solidFill>
            <a:latin typeface="微软雅黑" pitchFamily="34" charset="-122"/>
            <a:ea typeface="微软雅黑" pitchFamily="34" charset="-122"/>
            <a:cs typeface="Times New Roman" pitchFamily="18" charset="0"/>
          </a:endParaRPr>
        </a:p>
      </dgm:t>
    </dgm:pt>
    <dgm:pt modelId="{EA1E1860-14F6-474C-80ED-AE353E6C7834}" type="sibTrans" cxnId="{62522632-7519-40CD-B754-4F3AB16436BF}">
      <dgm:prSet/>
      <dgm:spPr/>
      <dgm:t>
        <a:bodyPr/>
        <a:lstStyle/>
        <a:p>
          <a:endParaRPr lang="zh-CN" altLang="en-US" sz="2400" b="1">
            <a:solidFill>
              <a:schemeClr val="tx1"/>
            </a:solidFill>
            <a:latin typeface="微软雅黑" pitchFamily="34" charset="-122"/>
            <a:ea typeface="微软雅黑" pitchFamily="34" charset="-122"/>
            <a:cs typeface="Times New Roman" pitchFamily="18" charset="0"/>
          </a:endParaRPr>
        </a:p>
      </dgm:t>
    </dgm:pt>
    <dgm:pt modelId="{9D4CFAB3-AE99-4314-90A8-B1F2119568E6}">
      <dgm:prSet phldrT="[文本]" custT="1"/>
      <dgm:spPr>
        <a:solidFill>
          <a:srgbClr val="92D050"/>
        </a:solidFill>
      </dgm:spPr>
      <dgm:t>
        <a:bodyPr/>
        <a:lstStyle/>
        <a:p>
          <a:r>
            <a:rPr lang="zh-CN" altLang="en-US" sz="2400" b="1" dirty="0">
              <a:solidFill>
                <a:schemeClr val="tx1"/>
              </a:solidFill>
              <a:latin typeface="微软雅黑" pitchFamily="34" charset="-122"/>
              <a:ea typeface="微软雅黑" pitchFamily="34" charset="-122"/>
              <a:cs typeface="Times New Roman" pitchFamily="18" charset="0"/>
            </a:rPr>
            <a:t>汽车</a:t>
          </a:r>
        </a:p>
      </dgm:t>
    </dgm:pt>
    <dgm:pt modelId="{61940A9D-11EA-4918-A213-E3E01AD35B36}" type="parTrans" cxnId="{7ACD8C74-8F2C-4E08-B834-A71FD22788DD}">
      <dgm:prSet custT="1"/>
      <dgm:spPr>
        <a:solidFill>
          <a:schemeClr val="tx2"/>
        </a:solidFill>
      </dgm:spPr>
      <dgm:t>
        <a:bodyPr/>
        <a:lstStyle/>
        <a:p>
          <a:endParaRPr lang="zh-CN" altLang="en-US" sz="2400" b="1">
            <a:solidFill>
              <a:schemeClr val="tx1"/>
            </a:solidFill>
            <a:latin typeface="微软雅黑" pitchFamily="34" charset="-122"/>
            <a:ea typeface="微软雅黑" pitchFamily="34" charset="-122"/>
            <a:cs typeface="Times New Roman" pitchFamily="18" charset="0"/>
          </a:endParaRPr>
        </a:p>
      </dgm:t>
    </dgm:pt>
    <dgm:pt modelId="{0DDAD213-4C59-48EC-9D89-01E6C9D62BA8}" type="sibTrans" cxnId="{7ACD8C74-8F2C-4E08-B834-A71FD22788DD}">
      <dgm:prSet/>
      <dgm:spPr/>
      <dgm:t>
        <a:bodyPr/>
        <a:lstStyle/>
        <a:p>
          <a:endParaRPr lang="zh-CN" altLang="en-US" sz="2400" b="1">
            <a:solidFill>
              <a:schemeClr val="tx1"/>
            </a:solidFill>
            <a:latin typeface="微软雅黑" pitchFamily="34" charset="-122"/>
            <a:ea typeface="微软雅黑" pitchFamily="34" charset="-122"/>
            <a:cs typeface="Times New Roman" pitchFamily="18" charset="0"/>
          </a:endParaRPr>
        </a:p>
      </dgm:t>
    </dgm:pt>
    <dgm:pt modelId="{7F299951-24AD-42A6-B09A-993ABF0E0878}">
      <dgm:prSet phldrT="[文本]" custT="1"/>
      <dgm:spPr>
        <a:solidFill>
          <a:schemeClr val="accent4">
            <a:lumMod val="60000"/>
            <a:lumOff val="40000"/>
          </a:schemeClr>
        </a:solidFill>
      </dgm:spPr>
      <dgm:t>
        <a:bodyPr/>
        <a:lstStyle/>
        <a:p>
          <a:r>
            <a:rPr lang="zh-CN" altLang="en-US" sz="2400" b="1" dirty="0">
              <a:solidFill>
                <a:schemeClr val="tx1"/>
              </a:solidFill>
              <a:latin typeface="微软雅黑" pitchFamily="34" charset="-122"/>
              <a:ea typeface="微软雅黑" pitchFamily="34" charset="-122"/>
              <a:cs typeface="Times New Roman" pitchFamily="18" charset="0"/>
            </a:rPr>
            <a:t>工业控制</a:t>
          </a:r>
        </a:p>
      </dgm:t>
    </dgm:pt>
    <dgm:pt modelId="{37E82F80-421F-4D49-98F0-26E4350CBE6C}" type="parTrans" cxnId="{DC92F541-0997-44AA-98FA-7FABF90244A5}">
      <dgm:prSet custT="1"/>
      <dgm:spPr>
        <a:solidFill>
          <a:schemeClr val="tx2"/>
        </a:solidFill>
      </dgm:spPr>
      <dgm:t>
        <a:bodyPr/>
        <a:lstStyle/>
        <a:p>
          <a:endParaRPr lang="zh-CN" altLang="en-US" sz="2400" b="1">
            <a:solidFill>
              <a:schemeClr val="tx1"/>
            </a:solidFill>
            <a:latin typeface="微软雅黑" pitchFamily="34" charset="-122"/>
            <a:ea typeface="微软雅黑" pitchFamily="34" charset="-122"/>
            <a:cs typeface="Times New Roman" pitchFamily="18" charset="0"/>
          </a:endParaRPr>
        </a:p>
      </dgm:t>
    </dgm:pt>
    <dgm:pt modelId="{93206731-1023-4000-8A59-7FC9EFA6532A}" type="sibTrans" cxnId="{DC92F541-0997-44AA-98FA-7FABF90244A5}">
      <dgm:prSet/>
      <dgm:spPr/>
      <dgm:t>
        <a:bodyPr/>
        <a:lstStyle/>
        <a:p>
          <a:endParaRPr lang="zh-CN" altLang="en-US" sz="2400" b="1">
            <a:solidFill>
              <a:schemeClr val="tx1"/>
            </a:solidFill>
            <a:latin typeface="微软雅黑" pitchFamily="34" charset="-122"/>
            <a:ea typeface="微软雅黑" pitchFamily="34" charset="-122"/>
            <a:cs typeface="Times New Roman" pitchFamily="18" charset="0"/>
          </a:endParaRPr>
        </a:p>
      </dgm:t>
    </dgm:pt>
    <dgm:pt modelId="{4677DDB3-AC4C-464C-B0A6-CA5E153C97F6}" type="pres">
      <dgm:prSet presAssocID="{9569084A-526A-4470-AA35-7ED4AA65A0E9}" presName="Name0" presStyleCnt="0">
        <dgm:presLayoutVars>
          <dgm:chMax val="1"/>
          <dgm:dir/>
          <dgm:animLvl val="ctr"/>
          <dgm:resizeHandles val="exact"/>
        </dgm:presLayoutVars>
      </dgm:prSet>
      <dgm:spPr/>
      <dgm:t>
        <a:bodyPr/>
        <a:lstStyle/>
        <a:p>
          <a:endParaRPr lang="zh-CN" altLang="en-US"/>
        </a:p>
      </dgm:t>
    </dgm:pt>
    <dgm:pt modelId="{F462DF8B-6B03-41BE-B43E-800A56A5B3F1}" type="pres">
      <dgm:prSet presAssocID="{7779A588-270A-487C-88D2-F0163ABBD6E0}" presName="centerShape" presStyleLbl="node0" presStyleIdx="0" presStyleCnt="1" custScaleX="144937" custScaleY="142677"/>
      <dgm:spPr/>
      <dgm:t>
        <a:bodyPr/>
        <a:lstStyle/>
        <a:p>
          <a:endParaRPr lang="zh-CN" altLang="en-US"/>
        </a:p>
      </dgm:t>
    </dgm:pt>
    <dgm:pt modelId="{504D47E8-5648-46B9-9373-7181EC5380C9}" type="pres">
      <dgm:prSet presAssocID="{C44C2029-BEB8-47B5-B2EA-720BF125AAFB}" presName="parTrans" presStyleLbl="sibTrans2D1" presStyleIdx="0" presStyleCnt="4"/>
      <dgm:spPr/>
      <dgm:t>
        <a:bodyPr/>
        <a:lstStyle/>
        <a:p>
          <a:endParaRPr lang="zh-CN" altLang="en-US"/>
        </a:p>
      </dgm:t>
    </dgm:pt>
    <dgm:pt modelId="{DBEA04CF-9B7C-4988-998A-B06DA225C023}" type="pres">
      <dgm:prSet presAssocID="{C44C2029-BEB8-47B5-B2EA-720BF125AAFB}" presName="connectorText" presStyleLbl="sibTrans2D1" presStyleIdx="0" presStyleCnt="4"/>
      <dgm:spPr/>
      <dgm:t>
        <a:bodyPr/>
        <a:lstStyle/>
        <a:p>
          <a:endParaRPr lang="zh-CN" altLang="en-US"/>
        </a:p>
      </dgm:t>
    </dgm:pt>
    <dgm:pt modelId="{437BBCD7-3628-4CC9-8B89-F493762A0A9F}" type="pres">
      <dgm:prSet presAssocID="{CF54486E-E8B5-4C02-AE33-F8365F6969EB}" presName="node" presStyleLbl="node1" presStyleIdx="0" presStyleCnt="4" custScaleX="124027" custScaleY="117093" custRadScaleRad="98110" custRadScaleInc="-1858">
        <dgm:presLayoutVars>
          <dgm:bulletEnabled val="1"/>
        </dgm:presLayoutVars>
      </dgm:prSet>
      <dgm:spPr/>
      <dgm:t>
        <a:bodyPr/>
        <a:lstStyle/>
        <a:p>
          <a:endParaRPr lang="zh-CN" altLang="en-US"/>
        </a:p>
      </dgm:t>
    </dgm:pt>
    <dgm:pt modelId="{18AE9004-8FE6-4F5B-8CBF-20FA174B5975}" type="pres">
      <dgm:prSet presAssocID="{5DB30950-4637-4405-B6B0-6BD05234472C}" presName="parTrans" presStyleLbl="sibTrans2D1" presStyleIdx="1" presStyleCnt="4"/>
      <dgm:spPr/>
      <dgm:t>
        <a:bodyPr/>
        <a:lstStyle/>
        <a:p>
          <a:endParaRPr lang="zh-CN" altLang="en-US"/>
        </a:p>
      </dgm:t>
    </dgm:pt>
    <dgm:pt modelId="{7739EB58-CE34-401B-8C51-48860D7A1660}" type="pres">
      <dgm:prSet presAssocID="{5DB30950-4637-4405-B6B0-6BD05234472C}" presName="connectorText" presStyleLbl="sibTrans2D1" presStyleIdx="1" presStyleCnt="4"/>
      <dgm:spPr/>
      <dgm:t>
        <a:bodyPr/>
        <a:lstStyle/>
        <a:p>
          <a:endParaRPr lang="zh-CN" altLang="en-US"/>
        </a:p>
      </dgm:t>
    </dgm:pt>
    <dgm:pt modelId="{06D8C5A0-E7E5-4A3B-84E2-156D853A274C}" type="pres">
      <dgm:prSet presAssocID="{F155EF20-C8CC-450D-8369-03F526B51DB9}" presName="node" presStyleLbl="node1" presStyleIdx="1" presStyleCnt="4" custScaleX="120499" custScaleY="120218">
        <dgm:presLayoutVars>
          <dgm:bulletEnabled val="1"/>
        </dgm:presLayoutVars>
      </dgm:prSet>
      <dgm:spPr/>
      <dgm:t>
        <a:bodyPr/>
        <a:lstStyle/>
        <a:p>
          <a:endParaRPr lang="zh-CN" altLang="en-US"/>
        </a:p>
      </dgm:t>
    </dgm:pt>
    <dgm:pt modelId="{4F567D5A-F649-416C-9F4F-F1666CD6DAED}" type="pres">
      <dgm:prSet presAssocID="{61940A9D-11EA-4918-A213-E3E01AD35B36}" presName="parTrans" presStyleLbl="sibTrans2D1" presStyleIdx="2" presStyleCnt="4"/>
      <dgm:spPr/>
      <dgm:t>
        <a:bodyPr/>
        <a:lstStyle/>
        <a:p>
          <a:endParaRPr lang="zh-CN" altLang="en-US"/>
        </a:p>
      </dgm:t>
    </dgm:pt>
    <dgm:pt modelId="{0EA3E284-A71B-442F-B37F-E21AA5E53820}" type="pres">
      <dgm:prSet presAssocID="{61940A9D-11EA-4918-A213-E3E01AD35B36}" presName="connectorText" presStyleLbl="sibTrans2D1" presStyleIdx="2" presStyleCnt="4"/>
      <dgm:spPr/>
      <dgm:t>
        <a:bodyPr/>
        <a:lstStyle/>
        <a:p>
          <a:endParaRPr lang="zh-CN" altLang="en-US"/>
        </a:p>
      </dgm:t>
    </dgm:pt>
    <dgm:pt modelId="{9277782A-FB05-4363-8DE0-0FE55906615C}" type="pres">
      <dgm:prSet presAssocID="{9D4CFAB3-AE99-4314-90A8-B1F2119568E6}" presName="node" presStyleLbl="node1" presStyleIdx="2" presStyleCnt="4" custScaleX="111344" custScaleY="120927">
        <dgm:presLayoutVars>
          <dgm:bulletEnabled val="1"/>
        </dgm:presLayoutVars>
      </dgm:prSet>
      <dgm:spPr/>
      <dgm:t>
        <a:bodyPr/>
        <a:lstStyle/>
        <a:p>
          <a:endParaRPr lang="zh-CN" altLang="en-US"/>
        </a:p>
      </dgm:t>
    </dgm:pt>
    <dgm:pt modelId="{A27BC216-87A0-47A1-981F-4A0CB9139A8A}" type="pres">
      <dgm:prSet presAssocID="{37E82F80-421F-4D49-98F0-26E4350CBE6C}" presName="parTrans" presStyleLbl="sibTrans2D1" presStyleIdx="3" presStyleCnt="4"/>
      <dgm:spPr/>
      <dgm:t>
        <a:bodyPr/>
        <a:lstStyle/>
        <a:p>
          <a:endParaRPr lang="zh-CN" altLang="en-US"/>
        </a:p>
      </dgm:t>
    </dgm:pt>
    <dgm:pt modelId="{26D73599-A61F-4E37-BD91-04DB091874F8}" type="pres">
      <dgm:prSet presAssocID="{37E82F80-421F-4D49-98F0-26E4350CBE6C}" presName="connectorText" presStyleLbl="sibTrans2D1" presStyleIdx="3" presStyleCnt="4"/>
      <dgm:spPr/>
      <dgm:t>
        <a:bodyPr/>
        <a:lstStyle/>
        <a:p>
          <a:endParaRPr lang="zh-CN" altLang="en-US"/>
        </a:p>
      </dgm:t>
    </dgm:pt>
    <dgm:pt modelId="{E3DC612F-97DF-4A0B-97A7-EFAC550D3D41}" type="pres">
      <dgm:prSet presAssocID="{7F299951-24AD-42A6-B09A-993ABF0E0878}" presName="node" presStyleLbl="node1" presStyleIdx="3" presStyleCnt="4" custScaleX="122568" custScaleY="118031">
        <dgm:presLayoutVars>
          <dgm:bulletEnabled val="1"/>
        </dgm:presLayoutVars>
      </dgm:prSet>
      <dgm:spPr/>
      <dgm:t>
        <a:bodyPr/>
        <a:lstStyle/>
        <a:p>
          <a:endParaRPr lang="zh-CN" altLang="en-US"/>
        </a:p>
      </dgm:t>
    </dgm:pt>
  </dgm:ptLst>
  <dgm:cxnLst>
    <dgm:cxn modelId="{9C9E973B-A6BA-4473-A723-A6ECF270E230}" type="presOf" srcId="{5DB30950-4637-4405-B6B0-6BD05234472C}" destId="{18AE9004-8FE6-4F5B-8CBF-20FA174B5975}" srcOrd="0" destOrd="0" presId="urn:microsoft.com/office/officeart/2005/8/layout/radial5"/>
    <dgm:cxn modelId="{DDA30E46-B83F-4C5D-8E39-92553780E0B1}" type="presOf" srcId="{7779A588-270A-487C-88D2-F0163ABBD6E0}" destId="{F462DF8B-6B03-41BE-B43E-800A56A5B3F1}" srcOrd="0" destOrd="0" presId="urn:microsoft.com/office/officeart/2005/8/layout/radial5"/>
    <dgm:cxn modelId="{A374B62D-0834-447F-B928-746191A79B91}" type="presOf" srcId="{37E82F80-421F-4D49-98F0-26E4350CBE6C}" destId="{A27BC216-87A0-47A1-981F-4A0CB9139A8A}" srcOrd="0" destOrd="0" presId="urn:microsoft.com/office/officeart/2005/8/layout/radial5"/>
    <dgm:cxn modelId="{7F391C4E-2D37-40FA-97C4-9C9D17BBB788}" type="presOf" srcId="{9569084A-526A-4470-AA35-7ED4AA65A0E9}" destId="{4677DDB3-AC4C-464C-B0A6-CA5E153C97F6}" srcOrd="0" destOrd="0" presId="urn:microsoft.com/office/officeart/2005/8/layout/radial5"/>
    <dgm:cxn modelId="{06B4019E-751B-4DB3-ACAF-53C20EEA3C96}" type="presOf" srcId="{7F299951-24AD-42A6-B09A-993ABF0E0878}" destId="{E3DC612F-97DF-4A0B-97A7-EFAC550D3D41}" srcOrd="0" destOrd="0" presId="urn:microsoft.com/office/officeart/2005/8/layout/radial5"/>
    <dgm:cxn modelId="{187F5E38-900C-4BED-AB0E-93E7C3049D71}" type="presOf" srcId="{9D4CFAB3-AE99-4314-90A8-B1F2119568E6}" destId="{9277782A-FB05-4363-8DE0-0FE55906615C}" srcOrd="0" destOrd="0" presId="urn:microsoft.com/office/officeart/2005/8/layout/radial5"/>
    <dgm:cxn modelId="{AF731A13-92FB-4B77-90A0-32C639F704AE}" type="presOf" srcId="{5DB30950-4637-4405-B6B0-6BD05234472C}" destId="{7739EB58-CE34-401B-8C51-48860D7A1660}" srcOrd="1" destOrd="0" presId="urn:microsoft.com/office/officeart/2005/8/layout/radial5"/>
    <dgm:cxn modelId="{5778B0F0-94CC-42C8-9C74-54962C217754}" type="presOf" srcId="{61940A9D-11EA-4918-A213-E3E01AD35B36}" destId="{4F567D5A-F649-416C-9F4F-F1666CD6DAED}" srcOrd="0" destOrd="0" presId="urn:microsoft.com/office/officeart/2005/8/layout/radial5"/>
    <dgm:cxn modelId="{33202398-CC22-498D-A59E-82A0B242F3AE}" type="presOf" srcId="{61940A9D-11EA-4918-A213-E3E01AD35B36}" destId="{0EA3E284-A71B-442F-B37F-E21AA5E53820}" srcOrd="1" destOrd="0" presId="urn:microsoft.com/office/officeart/2005/8/layout/radial5"/>
    <dgm:cxn modelId="{25B53A8A-1EAE-47EE-B227-C8C1654C4B33}" type="presOf" srcId="{F155EF20-C8CC-450D-8369-03F526B51DB9}" destId="{06D8C5A0-E7E5-4A3B-84E2-156D853A274C}" srcOrd="0" destOrd="0" presId="urn:microsoft.com/office/officeart/2005/8/layout/radial5"/>
    <dgm:cxn modelId="{AC2C09D0-4751-449D-A796-E1D366B834DD}" type="presOf" srcId="{C44C2029-BEB8-47B5-B2EA-720BF125AAFB}" destId="{DBEA04CF-9B7C-4988-998A-B06DA225C023}" srcOrd="1" destOrd="0" presId="urn:microsoft.com/office/officeart/2005/8/layout/radial5"/>
    <dgm:cxn modelId="{7ACD8C74-8F2C-4E08-B834-A71FD22788DD}" srcId="{7779A588-270A-487C-88D2-F0163ABBD6E0}" destId="{9D4CFAB3-AE99-4314-90A8-B1F2119568E6}" srcOrd="2" destOrd="0" parTransId="{61940A9D-11EA-4918-A213-E3E01AD35B36}" sibTransId="{0DDAD213-4C59-48EC-9D89-01E6C9D62BA8}"/>
    <dgm:cxn modelId="{454B6B12-128E-49B4-9875-98347E43557B}" srcId="{9569084A-526A-4470-AA35-7ED4AA65A0E9}" destId="{7779A588-270A-487C-88D2-F0163ABBD6E0}" srcOrd="0" destOrd="0" parTransId="{ECA4527F-2527-41FA-B5E4-526CBFDAE6B1}" sibTransId="{0E405C3D-2114-4F21-99DB-CFE3B4797D8B}"/>
    <dgm:cxn modelId="{8B835C43-99DD-4FD3-A504-FD99102C79D0}" type="presOf" srcId="{C44C2029-BEB8-47B5-B2EA-720BF125AAFB}" destId="{504D47E8-5648-46B9-9373-7181EC5380C9}" srcOrd="0" destOrd="0" presId="urn:microsoft.com/office/officeart/2005/8/layout/radial5"/>
    <dgm:cxn modelId="{6D6643C2-B3CE-4F1B-B663-03015B547F79}" type="presOf" srcId="{CF54486E-E8B5-4C02-AE33-F8365F6969EB}" destId="{437BBCD7-3628-4CC9-8B89-F493762A0A9F}" srcOrd="0" destOrd="0" presId="urn:microsoft.com/office/officeart/2005/8/layout/radial5"/>
    <dgm:cxn modelId="{DC92F541-0997-44AA-98FA-7FABF90244A5}" srcId="{7779A588-270A-487C-88D2-F0163ABBD6E0}" destId="{7F299951-24AD-42A6-B09A-993ABF0E0878}" srcOrd="3" destOrd="0" parTransId="{37E82F80-421F-4D49-98F0-26E4350CBE6C}" sibTransId="{93206731-1023-4000-8A59-7FC9EFA6532A}"/>
    <dgm:cxn modelId="{62522632-7519-40CD-B754-4F3AB16436BF}" srcId="{7779A588-270A-487C-88D2-F0163ABBD6E0}" destId="{F155EF20-C8CC-450D-8369-03F526B51DB9}" srcOrd="1" destOrd="0" parTransId="{5DB30950-4637-4405-B6B0-6BD05234472C}" sibTransId="{EA1E1860-14F6-474C-80ED-AE353E6C7834}"/>
    <dgm:cxn modelId="{62FB6D7C-585C-472B-B900-8046510366A0}" srcId="{7779A588-270A-487C-88D2-F0163ABBD6E0}" destId="{CF54486E-E8B5-4C02-AE33-F8365F6969EB}" srcOrd="0" destOrd="0" parTransId="{C44C2029-BEB8-47B5-B2EA-720BF125AAFB}" sibTransId="{29601C67-09F1-4BE6-965F-13C06E795D56}"/>
    <dgm:cxn modelId="{6E63FD54-CE1E-4714-BE54-7C51DAD313D7}" type="presOf" srcId="{37E82F80-421F-4D49-98F0-26E4350CBE6C}" destId="{26D73599-A61F-4E37-BD91-04DB091874F8}" srcOrd="1" destOrd="0" presId="urn:microsoft.com/office/officeart/2005/8/layout/radial5"/>
    <dgm:cxn modelId="{89846E4F-3590-44C9-9917-322C39ECD5F5}" type="presParOf" srcId="{4677DDB3-AC4C-464C-B0A6-CA5E153C97F6}" destId="{F462DF8B-6B03-41BE-B43E-800A56A5B3F1}" srcOrd="0" destOrd="0" presId="urn:microsoft.com/office/officeart/2005/8/layout/radial5"/>
    <dgm:cxn modelId="{325BD6F5-DF86-4D1F-A136-9FC849816456}" type="presParOf" srcId="{4677DDB3-AC4C-464C-B0A6-CA5E153C97F6}" destId="{504D47E8-5648-46B9-9373-7181EC5380C9}" srcOrd="1" destOrd="0" presId="urn:microsoft.com/office/officeart/2005/8/layout/radial5"/>
    <dgm:cxn modelId="{667F9218-D25D-4039-BFF4-091DEF65A35C}" type="presParOf" srcId="{504D47E8-5648-46B9-9373-7181EC5380C9}" destId="{DBEA04CF-9B7C-4988-998A-B06DA225C023}" srcOrd="0" destOrd="0" presId="urn:microsoft.com/office/officeart/2005/8/layout/radial5"/>
    <dgm:cxn modelId="{9A8A9D19-072D-47D2-8CB4-7955119F2515}" type="presParOf" srcId="{4677DDB3-AC4C-464C-B0A6-CA5E153C97F6}" destId="{437BBCD7-3628-4CC9-8B89-F493762A0A9F}" srcOrd="2" destOrd="0" presId="urn:microsoft.com/office/officeart/2005/8/layout/radial5"/>
    <dgm:cxn modelId="{97F30DBA-5BAD-4589-9706-4464084AF82D}" type="presParOf" srcId="{4677DDB3-AC4C-464C-B0A6-CA5E153C97F6}" destId="{18AE9004-8FE6-4F5B-8CBF-20FA174B5975}" srcOrd="3" destOrd="0" presId="urn:microsoft.com/office/officeart/2005/8/layout/radial5"/>
    <dgm:cxn modelId="{59966CB5-A7EB-4637-8458-A0CC9C9A395E}" type="presParOf" srcId="{18AE9004-8FE6-4F5B-8CBF-20FA174B5975}" destId="{7739EB58-CE34-401B-8C51-48860D7A1660}" srcOrd="0" destOrd="0" presId="urn:microsoft.com/office/officeart/2005/8/layout/radial5"/>
    <dgm:cxn modelId="{F89296E2-D76F-4295-B2BA-551539BD0A12}" type="presParOf" srcId="{4677DDB3-AC4C-464C-B0A6-CA5E153C97F6}" destId="{06D8C5A0-E7E5-4A3B-84E2-156D853A274C}" srcOrd="4" destOrd="0" presId="urn:microsoft.com/office/officeart/2005/8/layout/radial5"/>
    <dgm:cxn modelId="{690E111A-52E3-4BE2-A200-0DB1A5F6250A}" type="presParOf" srcId="{4677DDB3-AC4C-464C-B0A6-CA5E153C97F6}" destId="{4F567D5A-F649-416C-9F4F-F1666CD6DAED}" srcOrd="5" destOrd="0" presId="urn:microsoft.com/office/officeart/2005/8/layout/radial5"/>
    <dgm:cxn modelId="{048B7AD1-EFEF-4AFB-A138-6906E203A7F0}" type="presParOf" srcId="{4F567D5A-F649-416C-9F4F-F1666CD6DAED}" destId="{0EA3E284-A71B-442F-B37F-E21AA5E53820}" srcOrd="0" destOrd="0" presId="urn:microsoft.com/office/officeart/2005/8/layout/radial5"/>
    <dgm:cxn modelId="{7312E365-9212-4482-B164-8A52EF69E95C}" type="presParOf" srcId="{4677DDB3-AC4C-464C-B0A6-CA5E153C97F6}" destId="{9277782A-FB05-4363-8DE0-0FE55906615C}" srcOrd="6" destOrd="0" presId="urn:microsoft.com/office/officeart/2005/8/layout/radial5"/>
    <dgm:cxn modelId="{33AB21C1-9CB2-4F6C-90E9-CBA802D6A3A3}" type="presParOf" srcId="{4677DDB3-AC4C-464C-B0A6-CA5E153C97F6}" destId="{A27BC216-87A0-47A1-981F-4A0CB9139A8A}" srcOrd="7" destOrd="0" presId="urn:microsoft.com/office/officeart/2005/8/layout/radial5"/>
    <dgm:cxn modelId="{BBD42B3C-6DE2-4596-A173-475D7CA134DB}" type="presParOf" srcId="{A27BC216-87A0-47A1-981F-4A0CB9139A8A}" destId="{26D73599-A61F-4E37-BD91-04DB091874F8}" srcOrd="0" destOrd="0" presId="urn:microsoft.com/office/officeart/2005/8/layout/radial5"/>
    <dgm:cxn modelId="{EE21CB01-170A-4B0C-9C68-B51AF5577B65}" type="presParOf" srcId="{4677DDB3-AC4C-464C-B0A6-CA5E153C97F6}" destId="{E3DC612F-97DF-4A0B-97A7-EFAC550D3D41}" srcOrd="8" destOrd="0" presId="urn:microsoft.com/office/officeart/2005/8/layout/radial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62DF8B-6B03-41BE-B43E-800A56A5B3F1}">
      <dsp:nvSpPr>
        <dsp:cNvPr id="0" name=""/>
        <dsp:cNvSpPr/>
      </dsp:nvSpPr>
      <dsp:spPr>
        <a:xfrm>
          <a:off x="1827874" y="1177354"/>
          <a:ext cx="1403119" cy="1381240"/>
        </a:xfrm>
        <a:prstGeom prst="ellipse">
          <a:avLst/>
        </a:prstGeom>
        <a:solidFill>
          <a:srgbClr val="FF9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b="1" kern="1200" dirty="0">
              <a:solidFill>
                <a:srgbClr val="FF0000"/>
              </a:solidFill>
              <a:latin typeface="微软雅黑" pitchFamily="34" charset="-122"/>
              <a:ea typeface="微软雅黑" pitchFamily="34" charset="-122"/>
              <a:cs typeface="Times New Roman" pitchFamily="18" charset="0"/>
            </a:rPr>
            <a:t>应用</a:t>
          </a:r>
        </a:p>
      </dsp:txBody>
      <dsp:txXfrm>
        <a:off x="2033356" y="1379632"/>
        <a:ext cx="992155" cy="976684"/>
      </dsp:txXfrm>
    </dsp:sp>
    <dsp:sp modelId="{504D47E8-5648-46B9-9373-7181EC5380C9}">
      <dsp:nvSpPr>
        <dsp:cNvPr id="0" name=""/>
        <dsp:cNvSpPr/>
      </dsp:nvSpPr>
      <dsp:spPr>
        <a:xfrm rot="16149834">
          <a:off x="2495779" y="967559"/>
          <a:ext cx="45929" cy="335681"/>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endParaRPr lang="zh-CN" altLang="en-US" sz="2400" b="1" kern="1200">
            <a:solidFill>
              <a:schemeClr val="tx1"/>
            </a:solidFill>
            <a:latin typeface="微软雅黑" pitchFamily="34" charset="-122"/>
            <a:ea typeface="微软雅黑" pitchFamily="34" charset="-122"/>
            <a:cs typeface="Times New Roman" pitchFamily="18" charset="0"/>
          </a:endParaRPr>
        </a:p>
      </dsp:txBody>
      <dsp:txXfrm rot="10800000">
        <a:off x="2502769" y="1041584"/>
        <a:ext cx="32150" cy="201409"/>
      </dsp:txXfrm>
    </dsp:sp>
    <dsp:sp modelId="{437BBCD7-3628-4CC9-8B89-F493762A0A9F}">
      <dsp:nvSpPr>
        <dsp:cNvPr id="0" name=""/>
        <dsp:cNvSpPr/>
      </dsp:nvSpPr>
      <dsp:spPr>
        <a:xfrm>
          <a:off x="1897399" y="-65226"/>
          <a:ext cx="1224516" cy="1156057"/>
        </a:xfrm>
        <a:prstGeom prst="ellipse">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b="1" kern="1200" dirty="0">
              <a:solidFill>
                <a:srgbClr val="FF0000"/>
              </a:solidFill>
              <a:latin typeface="微软雅黑" pitchFamily="34" charset="-122"/>
              <a:ea typeface="微软雅黑" pitchFamily="34" charset="-122"/>
              <a:cs typeface="Times New Roman" pitchFamily="18" charset="0"/>
            </a:rPr>
            <a:t>印染</a:t>
          </a:r>
        </a:p>
      </dsp:txBody>
      <dsp:txXfrm>
        <a:off x="2076725" y="104075"/>
        <a:ext cx="865864" cy="817455"/>
      </dsp:txXfrm>
    </dsp:sp>
    <dsp:sp modelId="{18AE9004-8FE6-4F5B-8CBF-20FA174B5975}">
      <dsp:nvSpPr>
        <dsp:cNvPr id="0" name=""/>
        <dsp:cNvSpPr/>
      </dsp:nvSpPr>
      <dsp:spPr>
        <a:xfrm>
          <a:off x="3249699" y="1700134"/>
          <a:ext cx="45062" cy="335681"/>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endParaRPr lang="zh-CN" altLang="en-US" sz="2400" b="1" kern="1200">
            <a:solidFill>
              <a:schemeClr val="tx1"/>
            </a:solidFill>
            <a:latin typeface="微软雅黑" pitchFamily="34" charset="-122"/>
            <a:ea typeface="微软雅黑" pitchFamily="34" charset="-122"/>
            <a:cs typeface="Times New Roman" pitchFamily="18" charset="0"/>
          </a:endParaRPr>
        </a:p>
      </dsp:txBody>
      <dsp:txXfrm>
        <a:off x="3249699" y="1767270"/>
        <a:ext cx="31543" cy="201409"/>
      </dsp:txXfrm>
    </dsp:sp>
    <dsp:sp modelId="{06D8C5A0-E7E5-4A3B-84E2-156D853A274C}">
      <dsp:nvSpPr>
        <dsp:cNvPr id="0" name=""/>
        <dsp:cNvSpPr/>
      </dsp:nvSpPr>
      <dsp:spPr>
        <a:xfrm>
          <a:off x="3316019" y="1274520"/>
          <a:ext cx="1189684" cy="1186910"/>
        </a:xfrm>
        <a:prstGeom prst="ellipse">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b="1" kern="1200" dirty="0">
              <a:solidFill>
                <a:schemeClr val="tx1"/>
              </a:solidFill>
              <a:latin typeface="微软雅黑" pitchFamily="34" charset="-122"/>
              <a:ea typeface="微软雅黑" pitchFamily="34" charset="-122"/>
              <a:cs typeface="Times New Roman" pitchFamily="18" charset="0"/>
            </a:rPr>
            <a:t>油漆</a:t>
          </a:r>
        </a:p>
      </dsp:txBody>
      <dsp:txXfrm>
        <a:off x="3490244" y="1448339"/>
        <a:ext cx="841234" cy="839272"/>
      </dsp:txXfrm>
    </dsp:sp>
    <dsp:sp modelId="{4F567D5A-F649-416C-9F4F-F1666CD6DAED}">
      <dsp:nvSpPr>
        <dsp:cNvPr id="0" name=""/>
        <dsp:cNvSpPr/>
      </dsp:nvSpPr>
      <dsp:spPr>
        <a:xfrm rot="5400000">
          <a:off x="2504564" y="2436272"/>
          <a:ext cx="49741" cy="335681"/>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endParaRPr lang="zh-CN" altLang="en-US" sz="2400" b="1" kern="1200">
            <a:solidFill>
              <a:schemeClr val="tx1"/>
            </a:solidFill>
            <a:latin typeface="微软雅黑" pitchFamily="34" charset="-122"/>
            <a:ea typeface="微软雅黑" pitchFamily="34" charset="-122"/>
            <a:cs typeface="Times New Roman" pitchFamily="18" charset="0"/>
          </a:endParaRPr>
        </a:p>
      </dsp:txBody>
      <dsp:txXfrm>
        <a:off x="2512025" y="2495947"/>
        <a:ext cx="34819" cy="201409"/>
      </dsp:txXfrm>
    </dsp:sp>
    <dsp:sp modelId="{9277782A-FB05-4363-8DE0-0FE55906615C}">
      <dsp:nvSpPr>
        <dsp:cNvPr id="0" name=""/>
        <dsp:cNvSpPr/>
      </dsp:nvSpPr>
      <dsp:spPr>
        <a:xfrm>
          <a:off x="1979786" y="2652446"/>
          <a:ext cx="1099297" cy="1193910"/>
        </a:xfrm>
        <a:prstGeom prst="ellips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b="1" kern="1200" dirty="0">
              <a:solidFill>
                <a:schemeClr val="tx1"/>
              </a:solidFill>
              <a:latin typeface="微软雅黑" pitchFamily="34" charset="-122"/>
              <a:ea typeface="微软雅黑" pitchFamily="34" charset="-122"/>
              <a:cs typeface="Times New Roman" pitchFamily="18" charset="0"/>
            </a:rPr>
            <a:t>汽车</a:t>
          </a:r>
        </a:p>
      </dsp:txBody>
      <dsp:txXfrm>
        <a:off x="2140774" y="2827290"/>
        <a:ext cx="777321" cy="844222"/>
      </dsp:txXfrm>
    </dsp:sp>
    <dsp:sp modelId="{A27BC216-87A0-47A1-981F-4A0CB9139A8A}">
      <dsp:nvSpPr>
        <dsp:cNvPr id="0" name=""/>
        <dsp:cNvSpPr/>
      </dsp:nvSpPr>
      <dsp:spPr>
        <a:xfrm rot="10800000">
          <a:off x="1771766" y="1700134"/>
          <a:ext cx="39649" cy="335681"/>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endParaRPr lang="zh-CN" altLang="en-US" sz="2400" b="1" kern="1200">
            <a:solidFill>
              <a:schemeClr val="tx1"/>
            </a:solidFill>
            <a:latin typeface="微软雅黑" pitchFamily="34" charset="-122"/>
            <a:ea typeface="微软雅黑" pitchFamily="34" charset="-122"/>
            <a:cs typeface="Times New Roman" pitchFamily="18" charset="0"/>
          </a:endParaRPr>
        </a:p>
      </dsp:txBody>
      <dsp:txXfrm rot="10800000">
        <a:off x="1783661" y="1767270"/>
        <a:ext cx="27754" cy="201409"/>
      </dsp:txXfrm>
    </dsp:sp>
    <dsp:sp modelId="{E3DC612F-97DF-4A0B-97A7-EFAC550D3D41}">
      <dsp:nvSpPr>
        <dsp:cNvPr id="0" name=""/>
        <dsp:cNvSpPr/>
      </dsp:nvSpPr>
      <dsp:spPr>
        <a:xfrm>
          <a:off x="542952" y="1285316"/>
          <a:ext cx="1210111" cy="1165317"/>
        </a:xfrm>
        <a:prstGeom prst="ellipse">
          <a:avLst/>
        </a:prstGeom>
        <a:solidFill>
          <a:schemeClr val="accent4">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b="1" kern="1200" dirty="0">
              <a:solidFill>
                <a:schemeClr val="tx1"/>
              </a:solidFill>
              <a:latin typeface="微软雅黑" pitchFamily="34" charset="-122"/>
              <a:ea typeface="微软雅黑" pitchFamily="34" charset="-122"/>
              <a:cs typeface="Times New Roman" pitchFamily="18" charset="0"/>
            </a:rPr>
            <a:t>工业控制</a:t>
          </a:r>
        </a:p>
      </dsp:txBody>
      <dsp:txXfrm>
        <a:off x="720169" y="1455973"/>
        <a:ext cx="855677" cy="824003"/>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 Id="rId4"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emf"/><Relationship Id="rId4"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0.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B8470534-33CE-40D0-9B68-B3C731459162}" type="datetimeFigureOut">
              <a:rPr lang="zh-CN" altLang="en-US"/>
              <a:pPr>
                <a:defRPr/>
              </a:pPr>
              <a:t>2022/9/29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C074D6D-6091-4189-BFEC-CE8598A23044}"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ECFFD668-560F-4D7F-8B3A-91D952B92D1C}" type="datetimeFigureOut">
              <a:rPr lang="zh-CN" altLang="en-US"/>
              <a:pPr>
                <a:defRPr/>
              </a:pPr>
              <a:t>2022/9/29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7AB1BA7-9D8E-4C01-8E2F-613856270562}"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27A3C0DD-77D1-4D0D-8FF7-3FC263F2FE6B}" type="datetimeFigureOut">
              <a:rPr lang="zh-CN" altLang="en-US"/>
              <a:pPr>
                <a:defRPr/>
              </a:pPr>
              <a:t>2022/9/29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7238E37-EDE9-437A-B859-12F9BBDDAB47}"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DD4FB52C-09C5-4249-B798-714BB7661152}" type="datetimeFigureOut">
              <a:rPr lang="zh-CN" altLang="en-US"/>
              <a:pPr>
                <a:defRPr/>
              </a:pPr>
              <a:t>2022/9/29</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77393EF-8F7F-47F3-9B93-BCF4FFE26767}"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6C2658F1-B37E-4E75-AD64-4916DDDDF8B0}" type="datetimeFigureOut">
              <a:rPr lang="zh-CN" altLang="en-US"/>
              <a:pPr>
                <a:defRPr/>
              </a:pPr>
              <a:t>2022/9/29</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2A71168D-C3FB-476A-A3AC-07CD2F7FA540}"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B4B988D0-21EA-42C3-9696-FA4059D4ABCB}" type="datetimeFigureOut">
              <a:rPr lang="zh-CN" altLang="en-US"/>
              <a:pPr>
                <a:defRPr/>
              </a:pPr>
              <a:t>2022/9/29</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892D800-CC1E-4586-A2C8-BBDA62665D83}"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D250268D-E8CF-4353-8C96-C4637EB783C0}" type="datetimeFigureOut">
              <a:rPr lang="zh-CN" altLang="en-US"/>
              <a:pPr>
                <a:defRPr/>
              </a:pPr>
              <a:t>2022/9/29</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6D54BD57-F63C-460C-8146-189CAB9300B6}"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4BA4358-B6CF-4244-BD0E-3505585815EF}" type="datetimeFigureOut">
              <a:rPr lang="zh-CN" altLang="en-US"/>
              <a:pPr>
                <a:defRPr/>
              </a:pPr>
              <a:t>2022/9/29</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4739C22-29BA-4A2D-82C7-F74EE60CEE7E}"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AF8DE8F-3236-45F5-9BEA-8561BC117C05}" type="datetimeFigureOut">
              <a:rPr lang="zh-CN" altLang="en-US"/>
              <a:pPr>
                <a:defRPr/>
              </a:pPr>
              <a:t>2022/9/29</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E1970BD-99E2-4D1F-9ACE-66C7064F7C6A}"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BBD708F-7DAD-46F4-A6B3-E08C991239CA}" type="datetimeFigureOut">
              <a:rPr lang="zh-CN" altLang="en-US"/>
              <a:pPr>
                <a:defRPr/>
              </a:pPr>
              <a:t>2022/9/29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0F735F9-2C3C-4A92-BC40-C0217312A66E}"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8884AA5-D6FA-4B50-962E-CC408A59BE5C}" type="datetimeFigureOut">
              <a:rPr lang="zh-CN" altLang="en-US"/>
              <a:pPr>
                <a:defRPr/>
              </a:pPr>
              <a:t>2022/9/29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A964AFE-1407-4878-BB75-25899A2FDF6A}"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7D3289FB-B64B-4498-8151-9B94FBF79817}" type="datetimeFigureOut">
              <a:rPr lang="zh-CN" altLang="en-US"/>
              <a:pPr>
                <a:defRPr/>
              </a:pPr>
              <a:t>2022/9/29</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E502FE03-8DD2-490C-AB26-DF6843142CF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fontAlgn="base">
        <a:lnSpc>
          <a:spcPct val="90000"/>
        </a:lnSpc>
        <a:spcBef>
          <a:spcPts val="1125"/>
        </a:spcBef>
        <a:spcAft>
          <a:spcPct val="0"/>
        </a:spcAft>
        <a:buFont typeface="Arial" pitchFamily="34" charset="0"/>
        <a:buChar char="•"/>
        <a:defRPr sz="3200" kern="1200">
          <a:solidFill>
            <a:schemeClr val="tx1"/>
          </a:solidFill>
          <a:latin typeface="+mn-lt"/>
          <a:ea typeface="+mn-ea"/>
          <a:cs typeface="+mn-cs"/>
        </a:defRPr>
      </a:lvl1pPr>
      <a:lvl2pPr marL="771525" indent="-257175" algn="l" defTabSz="1028700" rtl="0" fontAlgn="base">
        <a:lnSpc>
          <a:spcPct val="90000"/>
        </a:lnSpc>
        <a:spcBef>
          <a:spcPts val="563"/>
        </a:spcBef>
        <a:spcAft>
          <a:spcPct val="0"/>
        </a:spcAft>
        <a:buFont typeface="Arial" pitchFamily="34" charset="0"/>
        <a:buChar char="•"/>
        <a:defRPr sz="2700" kern="1200">
          <a:solidFill>
            <a:schemeClr val="tx1"/>
          </a:solidFill>
          <a:latin typeface="+mn-lt"/>
          <a:ea typeface="+mn-ea"/>
          <a:cs typeface="+mn-cs"/>
        </a:defRPr>
      </a:lvl2pPr>
      <a:lvl3pPr marL="1285875" indent="-257175" algn="l" defTabSz="1028700" rtl="0" fontAlgn="base">
        <a:lnSpc>
          <a:spcPct val="90000"/>
        </a:lnSpc>
        <a:spcBef>
          <a:spcPts val="563"/>
        </a:spcBef>
        <a:spcAft>
          <a:spcPct val="0"/>
        </a:spcAft>
        <a:buFont typeface="Arial" pitchFamily="34" charset="0"/>
        <a:buChar char="•"/>
        <a:defRPr sz="2300" kern="1200">
          <a:solidFill>
            <a:schemeClr val="tx1"/>
          </a:solidFill>
          <a:latin typeface="+mn-lt"/>
          <a:ea typeface="+mn-ea"/>
          <a:cs typeface="+mn-cs"/>
        </a:defRPr>
      </a:lvl3pPr>
      <a:lvl4pPr marL="180022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4pPr>
      <a:lvl5pPr marL="231457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2.jpeg"/><Relationship Id="rId7" Type="http://schemas.openxmlformats.org/officeDocument/2006/relationships/diagramLayout" Target="../diagrams/layout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Data" Target="../diagrams/data1.xml"/><Relationship Id="rId5" Type="http://schemas.openxmlformats.org/officeDocument/2006/relationships/image" Target="../media/image4.jpeg"/><Relationship Id="rId10" Type="http://schemas.microsoft.com/office/2007/relationships/diagramDrawing" Target="../diagrams/drawing1.xml"/><Relationship Id="rId4" Type="http://schemas.openxmlformats.org/officeDocument/2006/relationships/image" Target="../media/image3.jpeg"/><Relationship Id="rId9" Type="http://schemas.openxmlformats.org/officeDocument/2006/relationships/diagramColors" Target="../diagrams/colors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0.emf"/><Relationship Id="rId5" Type="http://schemas.openxmlformats.org/officeDocument/2006/relationships/oleObject" Target="../embeddings/oleObject6.bin"/><Relationship Id="rId10" Type="http://schemas.openxmlformats.org/officeDocument/2006/relationships/image" Target="../media/image12.jpeg"/><Relationship Id="rId4" Type="http://schemas.openxmlformats.org/officeDocument/2006/relationships/image" Target="../media/image9.emf"/><Relationship Id="rId9"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5.emf"/><Relationship Id="rId5" Type="http://schemas.openxmlformats.org/officeDocument/2006/relationships/oleObject" Target="../embeddings/oleObject10.bin"/><Relationship Id="rId10" Type="http://schemas.openxmlformats.org/officeDocument/2006/relationships/image" Target="../media/image17.emf"/><Relationship Id="rId4" Type="http://schemas.openxmlformats.org/officeDocument/2006/relationships/image" Target="../media/image14.emf"/><Relationship Id="rId9"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14.bin"/><Relationship Id="rId10" Type="http://schemas.openxmlformats.org/officeDocument/2006/relationships/image" Target="../media/image21.wmf"/><Relationship Id="rId4" Type="http://schemas.openxmlformats.org/officeDocument/2006/relationships/image" Target="../media/image18.emf"/><Relationship Id="rId9" Type="http://schemas.openxmlformats.org/officeDocument/2006/relationships/oleObject" Target="../embeddings/oleObject16.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2.wmf"/><Relationship Id="rId5" Type="http://schemas.openxmlformats.org/officeDocument/2006/relationships/oleObject" Target="../embeddings/oleObject18.bin"/><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23.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4.jpeg"/><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hyperlink" Target="pd153.pdf"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RGB230.pdf"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TCS3200.pdf"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28.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9.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3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xmlns=""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4</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a16="http://schemas.microsoft.com/office/drawing/2014/main" xmlns="" id="{5441AE38-A11D-4793-BDA3-DCA36976B496}"/>
              </a:ext>
            </a:extLst>
          </p:cNvPr>
          <p:cNvSpPr/>
          <p:nvPr/>
        </p:nvSpPr>
        <p:spPr>
          <a:xfrm>
            <a:off x="3936558" y="2705900"/>
            <a:ext cx="9588706"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光伏探测器</a:t>
            </a:r>
          </a:p>
        </p:txBody>
      </p:sp>
      <p:sp>
        <p:nvSpPr>
          <p:cNvPr id="5" name="矩形 4">
            <a:extLst>
              <a:ext uri="{FF2B5EF4-FFF2-40B4-BE49-F238E27FC236}">
                <a16:creationId xmlns:a16="http://schemas.microsoft.com/office/drawing/2014/main" xmlns=""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a16="http://schemas.microsoft.com/office/drawing/2014/main" xmlns=""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xmlns="" id="{1C44C9C7-7166-4DA9-8A1A-D2BB836F3F54}"/>
              </a:ext>
            </a:extLst>
          </p:cNvPr>
          <p:cNvSpPr/>
          <p:nvPr/>
        </p:nvSpPr>
        <p:spPr>
          <a:xfrm>
            <a:off x="1143000" y="4512279"/>
            <a:ext cx="7159528" cy="461665"/>
          </a:xfrm>
          <a:prstGeom prst="rect">
            <a:avLst/>
          </a:prstGeom>
          <a:noFill/>
        </p:spPr>
        <p:txBody>
          <a:bodyPr wrap="square" lIns="91440" tIns="45720" rIns="91440" bIns="45720">
            <a:spAutoFit/>
          </a:bodyPr>
          <a:lstStyle/>
          <a:p>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Photovoltaic detector</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xmlns=""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色敏探测器</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4.6</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Documents and Settings\Administrator\Application Data\Tencent\Users\2554662579\QQ\WinTemp\RichOle\EWW$PMA@`CTZRQZC9)P9BNX.jpg"/>
          <p:cNvPicPr>
            <a:picLocks noChangeAspect="1" noChangeArrowheads="1"/>
          </p:cNvPicPr>
          <p:nvPr/>
        </p:nvPicPr>
        <p:blipFill>
          <a:blip r:embed="rId2" cstate="print"/>
          <a:srcRect/>
          <a:stretch>
            <a:fillRect/>
          </a:stretch>
        </p:blipFill>
        <p:spPr bwMode="auto">
          <a:xfrm>
            <a:off x="6987038" y="3638955"/>
            <a:ext cx="1622425" cy="2390775"/>
          </a:xfrm>
          <a:prstGeom prst="rect">
            <a:avLst/>
          </a:prstGeom>
          <a:noFill/>
          <a:ln w="9525">
            <a:noFill/>
            <a:miter lim="800000"/>
            <a:headEnd/>
            <a:tailEnd/>
          </a:ln>
        </p:spPr>
      </p:pic>
      <p:pic>
        <p:nvPicPr>
          <p:cNvPr id="3" name="Picture 2" descr="C:\Documents and Settings\Administrator\Application Data\Tencent\Users\2554662579\QQ\WinTemp\RichOle\7CGO1T$_VY~_L6O)WX~S80P.jpg"/>
          <p:cNvPicPr>
            <a:picLocks noChangeAspect="1" noChangeArrowheads="1"/>
          </p:cNvPicPr>
          <p:nvPr/>
        </p:nvPicPr>
        <p:blipFill>
          <a:blip r:embed="rId3" cstate="print"/>
          <a:srcRect/>
          <a:stretch>
            <a:fillRect/>
          </a:stretch>
        </p:blipFill>
        <p:spPr bwMode="auto">
          <a:xfrm>
            <a:off x="9513651" y="3905653"/>
            <a:ext cx="2286000" cy="1950398"/>
          </a:xfrm>
          <a:prstGeom prst="rect">
            <a:avLst/>
          </a:prstGeom>
          <a:noFill/>
          <a:ln w="9525">
            <a:noFill/>
            <a:miter lim="800000"/>
            <a:headEnd/>
            <a:tailEnd/>
          </a:ln>
        </p:spPr>
      </p:pic>
      <p:pic>
        <p:nvPicPr>
          <p:cNvPr id="4" name="Picture 2" descr="C:\Documents and Settings\Administrator\Application Data\Tencent\Users\729963870\QQ\WinTemp\RichOle\7]Y[J`SK8QPT@VU(]@]XLQQ.jpg"/>
          <p:cNvPicPr>
            <a:picLocks noChangeAspect="1" noChangeArrowheads="1"/>
          </p:cNvPicPr>
          <p:nvPr/>
        </p:nvPicPr>
        <p:blipFill>
          <a:blip r:embed="rId4" cstate="print"/>
          <a:srcRect/>
          <a:stretch>
            <a:fillRect/>
          </a:stretch>
        </p:blipFill>
        <p:spPr bwMode="auto">
          <a:xfrm>
            <a:off x="9513651" y="1549804"/>
            <a:ext cx="2286000" cy="1965325"/>
          </a:xfrm>
          <a:prstGeom prst="rect">
            <a:avLst/>
          </a:prstGeom>
          <a:noFill/>
          <a:ln w="9525">
            <a:noFill/>
            <a:miter lim="800000"/>
            <a:headEnd/>
            <a:tailEnd/>
          </a:ln>
        </p:spPr>
      </p:pic>
      <p:pic>
        <p:nvPicPr>
          <p:cNvPr id="5" name="Picture 6" descr="C:\Documents and Settings\Administrator\Application Data\Tencent\Users\729963870\QQ\WinTemp\RichOle\T6{4S8N5NQCGN3OJ(G0M$MT.jpg"/>
          <p:cNvPicPr>
            <a:picLocks noChangeAspect="1" noChangeArrowheads="1"/>
          </p:cNvPicPr>
          <p:nvPr/>
        </p:nvPicPr>
        <p:blipFill>
          <a:blip r:embed="rId5" cstate="print"/>
          <a:srcRect/>
          <a:stretch>
            <a:fillRect/>
          </a:stretch>
        </p:blipFill>
        <p:spPr bwMode="auto">
          <a:xfrm>
            <a:off x="6379785" y="1549805"/>
            <a:ext cx="2692400" cy="1990725"/>
          </a:xfrm>
          <a:prstGeom prst="rect">
            <a:avLst/>
          </a:prstGeom>
          <a:noFill/>
          <a:ln w="9525">
            <a:noFill/>
            <a:miter lim="800000"/>
            <a:headEnd/>
            <a:tailEnd/>
          </a:ln>
        </p:spPr>
      </p:pic>
      <p:sp>
        <p:nvSpPr>
          <p:cNvPr id="11" name="Rectangle 12"/>
          <p:cNvSpPr>
            <a:spLocks noChangeArrowheads="1"/>
          </p:cNvSpPr>
          <p:nvPr/>
        </p:nvSpPr>
        <p:spPr bwMode="auto">
          <a:xfrm>
            <a:off x="4126888" y="6438295"/>
            <a:ext cx="6128859" cy="507256"/>
          </a:xfrm>
          <a:prstGeom prst="rect">
            <a:avLst/>
          </a:prstGeom>
          <a:noFill/>
          <a:ln w="9525">
            <a:noFill/>
            <a:miter lim="800000"/>
            <a:headEnd/>
            <a:tailEnd/>
          </a:ln>
        </p:spPr>
        <p:txBody>
          <a:bodyPr lIns="0" tIns="0" rIns="0" bIns="0"/>
          <a:lstStyle/>
          <a:p>
            <a:pPr algn="ctr">
              <a:lnSpc>
                <a:spcPct val="90000"/>
              </a:lnSpc>
            </a:pPr>
            <a:r>
              <a:rPr lang="zh-CN" altLang="en-US" sz="3600" b="1" dirty="0">
                <a:solidFill>
                  <a:srgbClr val="FF0000"/>
                </a:solidFill>
                <a:latin typeface="Times New Roman" pitchFamily="18" charset="0"/>
                <a:ea typeface="微软雅黑" pitchFamily="34" charset="-122"/>
                <a:cs typeface="Times New Roman" pitchFamily="18" charset="0"/>
              </a:rPr>
              <a:t>色敏探测器</a:t>
            </a:r>
            <a:r>
              <a:rPr lang="en-US" altLang="zh-CN" sz="3600" b="1" dirty="0">
                <a:solidFill>
                  <a:srgbClr val="FF0000"/>
                </a:solidFill>
                <a:latin typeface="Times New Roman" pitchFamily="18" charset="0"/>
                <a:ea typeface="微软雅黑" pitchFamily="34" charset="-122"/>
                <a:cs typeface="Times New Roman" pitchFamily="18" charset="0"/>
              </a:rPr>
              <a:t>(Color sensor)</a:t>
            </a:r>
            <a:endParaRPr lang="zh-CN" altLang="en-US" sz="3600" b="1" dirty="0">
              <a:solidFill>
                <a:srgbClr val="FF0000"/>
              </a:solidFill>
              <a:latin typeface="Times New Roman" pitchFamily="18" charset="0"/>
              <a:ea typeface="微软雅黑" pitchFamily="34" charset="-122"/>
              <a:cs typeface="Times New Roman" pitchFamily="18" charset="0"/>
            </a:endParaRPr>
          </a:p>
        </p:txBody>
      </p:sp>
      <p:graphicFrame>
        <p:nvGraphicFramePr>
          <p:cNvPr id="13" name="图示 12"/>
          <p:cNvGraphicFramePr/>
          <p:nvPr>
            <p:extLst>
              <p:ext uri="{D42A27DB-BD31-4B8C-83A1-F6EECF244321}">
                <p14:modId xmlns:p14="http://schemas.microsoft.com/office/powerpoint/2010/main" val="274602395"/>
              </p:ext>
            </p:extLst>
          </p:nvPr>
        </p:nvGraphicFramePr>
        <p:xfrm>
          <a:off x="904672" y="1643974"/>
          <a:ext cx="5048656" cy="37548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14" name="组合 13">
            <a:extLst>
              <a:ext uri="{FF2B5EF4-FFF2-40B4-BE49-F238E27FC236}">
                <a16:creationId xmlns:a16="http://schemas.microsoft.com/office/drawing/2014/main" xmlns="" id="{AF86DDAF-5F1C-409D-A009-956AAC198F5F}"/>
              </a:ext>
            </a:extLst>
          </p:cNvPr>
          <p:cNvGrpSpPr/>
          <p:nvPr/>
        </p:nvGrpSpPr>
        <p:grpSpPr>
          <a:xfrm>
            <a:off x="0" y="293282"/>
            <a:ext cx="13161246" cy="7421968"/>
            <a:chOff x="0" y="293282"/>
            <a:chExt cx="13161246" cy="7421968"/>
          </a:xfrm>
        </p:grpSpPr>
        <p:sp>
          <p:nvSpPr>
            <p:cNvPr id="15" name="文本框 60">
              <a:extLst>
                <a:ext uri="{FF2B5EF4-FFF2-40B4-BE49-F238E27FC236}">
                  <a16:creationId xmlns:a16="http://schemas.microsoft.com/office/drawing/2014/main" xmlns="" id="{882496C9-FDC2-449A-9CFB-BE7E5346A5E6}"/>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a:t>
              </a:r>
            </a:p>
          </p:txBody>
        </p:sp>
        <p:sp>
          <p:nvSpPr>
            <p:cNvPr id="16" name="矩形 15">
              <a:extLst>
                <a:ext uri="{FF2B5EF4-FFF2-40B4-BE49-F238E27FC236}">
                  <a16:creationId xmlns:a16="http://schemas.microsoft.com/office/drawing/2014/main" xmlns="" id="{0716D795-B6E6-4009-AB9F-14F099273740}"/>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xmlns="" id="{8A9D9E5B-3F60-46CE-90AC-01180D5E8D4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xmlns="" id="{5549F91A-185A-4E82-8767-F3594A787861}"/>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a16="http://schemas.microsoft.com/office/drawing/2014/main" xmlns="" id="{BF117150-A346-4E9B-82F5-7E0BC110A1EF}"/>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xmlns="" id="{540E5BFC-05CD-490D-A569-954B68163CCA}"/>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a16="http://schemas.microsoft.com/office/drawing/2014/main" xmlns="" id="{CE7CEEEF-99E9-4559-AEEE-2E54D2B9ED1D}"/>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210091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53" presetClass="entr" presetSubtype="16"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色敏探测器结构与工作原理 </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844389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色敏探测器结构与工作原理 </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4.6.1</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8562239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2" descr="20%"/>
          <p:cNvSpPr>
            <a:spLocks noChangeArrowheads="1"/>
          </p:cNvSpPr>
          <p:nvPr/>
        </p:nvSpPr>
        <p:spPr bwMode="auto">
          <a:xfrm>
            <a:off x="5158058" y="2835377"/>
            <a:ext cx="4000500" cy="249237"/>
          </a:xfrm>
          <a:prstGeom prst="rect">
            <a:avLst/>
          </a:prstGeom>
          <a:pattFill prst="pct20">
            <a:fgClr>
              <a:srgbClr val="000000"/>
            </a:fgClr>
            <a:bgClr>
              <a:srgbClr val="FFFFFF"/>
            </a:bgClr>
          </a:pattFill>
          <a:ln w="1270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sp>
        <p:nvSpPr>
          <p:cNvPr id="26627" name="矩形 1"/>
          <p:cNvSpPr>
            <a:spLocks noChangeArrowheads="1"/>
          </p:cNvSpPr>
          <p:nvPr/>
        </p:nvSpPr>
        <p:spPr bwMode="auto">
          <a:xfrm>
            <a:off x="5158058" y="5102327"/>
            <a:ext cx="4000500" cy="222250"/>
          </a:xfrm>
          <a:prstGeom prst="rect">
            <a:avLst/>
          </a:prstGeom>
          <a:solidFill>
            <a:schemeClr val="tx1"/>
          </a:solidFill>
          <a:ln w="9525" algn="ctr">
            <a:solidFill>
              <a:schemeClr val="tx1"/>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628" name="矩形 2"/>
          <p:cNvSpPr>
            <a:spLocks noChangeArrowheads="1"/>
          </p:cNvSpPr>
          <p:nvPr/>
        </p:nvSpPr>
        <p:spPr bwMode="auto">
          <a:xfrm>
            <a:off x="5158058" y="3057627"/>
            <a:ext cx="4000500" cy="2044700"/>
          </a:xfrm>
          <a:prstGeom prst="rect">
            <a:avLst/>
          </a:prstGeom>
          <a:solidFill>
            <a:srgbClr val="FF00FF"/>
          </a:solidFill>
          <a:ln w="9525" algn="ctr">
            <a:solidFill>
              <a:schemeClr val="tx1"/>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629" name="矩形 3"/>
          <p:cNvSpPr>
            <a:spLocks noChangeArrowheads="1"/>
          </p:cNvSpPr>
          <p:nvPr/>
        </p:nvSpPr>
        <p:spPr bwMode="auto">
          <a:xfrm>
            <a:off x="5780358" y="3057627"/>
            <a:ext cx="2711450" cy="1333500"/>
          </a:xfrm>
          <a:prstGeom prst="rect">
            <a:avLst/>
          </a:prstGeom>
          <a:solidFill>
            <a:srgbClr val="FFC000"/>
          </a:solidFill>
          <a:ln w="9525" algn="ctr">
            <a:solidFill>
              <a:schemeClr val="tx1"/>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630" name="矩形 4"/>
          <p:cNvSpPr>
            <a:spLocks noChangeArrowheads="1"/>
          </p:cNvSpPr>
          <p:nvPr/>
        </p:nvSpPr>
        <p:spPr bwMode="auto">
          <a:xfrm>
            <a:off x="6358208" y="3057627"/>
            <a:ext cx="1555750" cy="666750"/>
          </a:xfrm>
          <a:prstGeom prst="rect">
            <a:avLst/>
          </a:prstGeom>
          <a:solidFill>
            <a:srgbClr val="06EA06"/>
          </a:solidFill>
          <a:ln w="9525" algn="ctr">
            <a:solidFill>
              <a:schemeClr val="tx1"/>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631" name="矩形 7"/>
          <p:cNvSpPr>
            <a:spLocks noChangeArrowheads="1"/>
          </p:cNvSpPr>
          <p:nvPr/>
        </p:nvSpPr>
        <p:spPr bwMode="auto">
          <a:xfrm>
            <a:off x="8047308" y="2835377"/>
            <a:ext cx="355600" cy="222250"/>
          </a:xfrm>
          <a:prstGeom prst="rect">
            <a:avLst/>
          </a:prstGeom>
          <a:solidFill>
            <a:srgbClr val="000000"/>
          </a:solidFill>
          <a:ln w="9525" algn="ctr">
            <a:solidFill>
              <a:schemeClr val="tx1"/>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632" name="矩形 8"/>
          <p:cNvSpPr>
            <a:spLocks noChangeArrowheads="1"/>
          </p:cNvSpPr>
          <p:nvPr/>
        </p:nvSpPr>
        <p:spPr bwMode="auto">
          <a:xfrm>
            <a:off x="7380558" y="2835377"/>
            <a:ext cx="355600" cy="222250"/>
          </a:xfrm>
          <a:prstGeom prst="rect">
            <a:avLst/>
          </a:prstGeom>
          <a:solidFill>
            <a:srgbClr val="000000"/>
          </a:solidFill>
          <a:ln w="9525" algn="ctr">
            <a:solidFill>
              <a:schemeClr val="tx1"/>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633" name="TextBox 8"/>
          <p:cNvSpPr txBox="1">
            <a:spLocks noChangeArrowheads="1"/>
          </p:cNvSpPr>
          <p:nvPr/>
        </p:nvSpPr>
        <p:spPr bwMode="auto">
          <a:xfrm>
            <a:off x="7469458" y="4480027"/>
            <a:ext cx="48895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P</a:t>
            </a:r>
            <a:endParaRPr lang="zh-CN" altLang="en-US" sz="2800" b="1">
              <a:latin typeface="Times New Roman" pitchFamily="18" charset="0"/>
              <a:ea typeface="楷体_GB2312" pitchFamily="49" charset="-122"/>
              <a:cs typeface="Times New Roman" pitchFamily="18" charset="0"/>
            </a:endParaRPr>
          </a:p>
        </p:txBody>
      </p:sp>
      <p:sp>
        <p:nvSpPr>
          <p:cNvPr id="26634" name="TextBox 9"/>
          <p:cNvSpPr txBox="1">
            <a:spLocks noChangeArrowheads="1"/>
          </p:cNvSpPr>
          <p:nvPr/>
        </p:nvSpPr>
        <p:spPr bwMode="auto">
          <a:xfrm>
            <a:off x="7380558" y="3102077"/>
            <a:ext cx="48895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P</a:t>
            </a:r>
            <a:endParaRPr lang="zh-CN" altLang="en-US" sz="2800" b="1">
              <a:latin typeface="Times New Roman" pitchFamily="18" charset="0"/>
              <a:ea typeface="楷体_GB2312" pitchFamily="49" charset="-122"/>
              <a:cs typeface="Times New Roman" pitchFamily="18" charset="0"/>
            </a:endParaRPr>
          </a:p>
        </p:txBody>
      </p:sp>
      <p:sp>
        <p:nvSpPr>
          <p:cNvPr id="26635" name="TextBox 10"/>
          <p:cNvSpPr txBox="1">
            <a:spLocks noChangeArrowheads="1"/>
          </p:cNvSpPr>
          <p:nvPr/>
        </p:nvSpPr>
        <p:spPr bwMode="auto">
          <a:xfrm>
            <a:off x="7380558" y="3768827"/>
            <a:ext cx="48895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N</a:t>
            </a:r>
            <a:endParaRPr lang="zh-CN" altLang="en-US" sz="2800" b="1">
              <a:latin typeface="Times New Roman" pitchFamily="18" charset="0"/>
              <a:ea typeface="楷体_GB2312" pitchFamily="49" charset="-122"/>
              <a:cs typeface="Times New Roman" pitchFamily="18" charset="0"/>
            </a:endParaRPr>
          </a:p>
        </p:txBody>
      </p:sp>
      <p:cxnSp>
        <p:nvCxnSpPr>
          <p:cNvPr id="26636" name="直接连接符 12"/>
          <p:cNvCxnSpPr>
            <a:cxnSpLocks noChangeShapeType="1"/>
            <a:endCxn id="26632" idx="0"/>
          </p:cNvCxnSpPr>
          <p:nvPr/>
        </p:nvCxnSpPr>
        <p:spPr bwMode="auto">
          <a:xfrm rot="5400000">
            <a:off x="7337696" y="2611539"/>
            <a:ext cx="444500" cy="3175"/>
          </a:xfrm>
          <a:prstGeom prst="line">
            <a:avLst/>
          </a:prstGeom>
          <a:noFill/>
          <a:ln w="50800" algn="ctr">
            <a:solidFill>
              <a:schemeClr val="tx1"/>
            </a:solidFill>
            <a:round/>
            <a:headEnd/>
            <a:tailEnd/>
          </a:ln>
        </p:spPr>
      </p:cxnSp>
      <p:cxnSp>
        <p:nvCxnSpPr>
          <p:cNvPr id="26637" name="直接连接符 14"/>
          <p:cNvCxnSpPr>
            <a:cxnSpLocks noChangeShapeType="1"/>
          </p:cNvCxnSpPr>
          <p:nvPr/>
        </p:nvCxnSpPr>
        <p:spPr bwMode="auto">
          <a:xfrm rot="5400000">
            <a:off x="8003652" y="2612333"/>
            <a:ext cx="444500" cy="1587"/>
          </a:xfrm>
          <a:prstGeom prst="line">
            <a:avLst/>
          </a:prstGeom>
          <a:noFill/>
          <a:ln w="50800" algn="ctr">
            <a:solidFill>
              <a:schemeClr val="tx1"/>
            </a:solidFill>
            <a:round/>
            <a:headEnd/>
            <a:tailEnd/>
          </a:ln>
        </p:spPr>
      </p:cxnSp>
      <p:cxnSp>
        <p:nvCxnSpPr>
          <p:cNvPr id="26638" name="直接连接符 15"/>
          <p:cNvCxnSpPr>
            <a:cxnSpLocks noChangeShapeType="1"/>
          </p:cNvCxnSpPr>
          <p:nvPr/>
        </p:nvCxnSpPr>
        <p:spPr bwMode="auto">
          <a:xfrm rot="5400000">
            <a:off x="6892402" y="5546033"/>
            <a:ext cx="444500" cy="1587"/>
          </a:xfrm>
          <a:prstGeom prst="line">
            <a:avLst/>
          </a:prstGeom>
          <a:noFill/>
          <a:ln w="50800" algn="ctr">
            <a:solidFill>
              <a:schemeClr val="tx1"/>
            </a:solidFill>
            <a:round/>
            <a:headEnd/>
            <a:tailEnd/>
          </a:ln>
        </p:spPr>
      </p:cxnSp>
      <p:sp>
        <p:nvSpPr>
          <p:cNvPr id="26639" name="TextBox 16"/>
          <p:cNvSpPr txBox="1">
            <a:spLocks noChangeArrowheads="1"/>
          </p:cNvSpPr>
          <p:nvPr/>
        </p:nvSpPr>
        <p:spPr bwMode="auto">
          <a:xfrm>
            <a:off x="8002858" y="1955902"/>
            <a:ext cx="1111250" cy="519112"/>
          </a:xfrm>
          <a:prstGeom prst="rect">
            <a:avLst/>
          </a:prstGeom>
          <a:noFill/>
          <a:ln w="9525">
            <a:noFill/>
            <a:miter lim="800000"/>
            <a:headEnd/>
            <a:tailEnd/>
          </a:ln>
        </p:spPr>
        <p:txBody>
          <a:bodyPr>
            <a:spAutoFit/>
          </a:bodyPr>
          <a:lstStyle/>
          <a:p>
            <a:pPr defTabSz="914400"/>
            <a:r>
              <a:rPr lang="zh-CN" altLang="en-US" sz="2800" b="1">
                <a:latin typeface="Times New Roman" pitchFamily="18" charset="0"/>
                <a:ea typeface="黑体" pitchFamily="49" charset="-122"/>
                <a:cs typeface="Times New Roman" pitchFamily="18" charset="0"/>
              </a:rPr>
              <a:t>电极</a:t>
            </a:r>
            <a:r>
              <a:rPr lang="en-US" altLang="zh-CN" sz="2800" b="1">
                <a:latin typeface="Times New Roman" pitchFamily="18" charset="0"/>
                <a:ea typeface="黑体" pitchFamily="49" charset="-122"/>
                <a:cs typeface="Times New Roman" pitchFamily="18" charset="0"/>
              </a:rPr>
              <a:t>2</a:t>
            </a:r>
            <a:endParaRPr lang="zh-CN" altLang="en-US" sz="2800" b="1">
              <a:latin typeface="Times New Roman" pitchFamily="18" charset="0"/>
              <a:ea typeface="黑体" pitchFamily="49" charset="-122"/>
              <a:cs typeface="Times New Roman" pitchFamily="18" charset="0"/>
            </a:endParaRPr>
          </a:p>
        </p:txBody>
      </p:sp>
      <p:sp>
        <p:nvSpPr>
          <p:cNvPr id="26640" name="TextBox 17"/>
          <p:cNvSpPr txBox="1">
            <a:spLocks noChangeArrowheads="1"/>
          </p:cNvSpPr>
          <p:nvPr/>
        </p:nvSpPr>
        <p:spPr bwMode="auto">
          <a:xfrm>
            <a:off x="6891608" y="1911452"/>
            <a:ext cx="1111250" cy="519112"/>
          </a:xfrm>
          <a:prstGeom prst="rect">
            <a:avLst/>
          </a:prstGeom>
          <a:noFill/>
          <a:ln w="9525">
            <a:noFill/>
            <a:miter lim="800000"/>
            <a:headEnd/>
            <a:tailEnd/>
          </a:ln>
        </p:spPr>
        <p:txBody>
          <a:bodyPr>
            <a:spAutoFit/>
          </a:bodyPr>
          <a:lstStyle/>
          <a:p>
            <a:pPr defTabSz="914400"/>
            <a:r>
              <a:rPr lang="zh-CN" altLang="en-US" sz="2800" b="1">
                <a:latin typeface="Times New Roman" pitchFamily="18" charset="0"/>
                <a:ea typeface="黑体" pitchFamily="49" charset="-122"/>
                <a:cs typeface="Times New Roman" pitchFamily="18" charset="0"/>
              </a:rPr>
              <a:t>电极</a:t>
            </a:r>
            <a:r>
              <a:rPr lang="en-US" altLang="zh-CN" sz="2800" b="1">
                <a:latin typeface="Times New Roman" pitchFamily="18" charset="0"/>
                <a:ea typeface="黑体" pitchFamily="49" charset="-122"/>
                <a:cs typeface="Times New Roman" pitchFamily="18" charset="0"/>
              </a:rPr>
              <a:t>1</a:t>
            </a:r>
            <a:endParaRPr lang="zh-CN" altLang="en-US" sz="2800" b="1">
              <a:latin typeface="Times New Roman" pitchFamily="18" charset="0"/>
              <a:ea typeface="黑体" pitchFamily="49" charset="-122"/>
              <a:cs typeface="Times New Roman" pitchFamily="18" charset="0"/>
            </a:endParaRPr>
          </a:p>
        </p:txBody>
      </p:sp>
      <p:sp>
        <p:nvSpPr>
          <p:cNvPr id="26641" name="TextBox 18"/>
          <p:cNvSpPr txBox="1">
            <a:spLocks noChangeArrowheads="1"/>
          </p:cNvSpPr>
          <p:nvPr/>
        </p:nvSpPr>
        <p:spPr bwMode="auto">
          <a:xfrm>
            <a:off x="6536008" y="5769077"/>
            <a:ext cx="1200150" cy="519112"/>
          </a:xfrm>
          <a:prstGeom prst="rect">
            <a:avLst/>
          </a:prstGeom>
          <a:noFill/>
          <a:ln w="9525">
            <a:noFill/>
            <a:miter lim="800000"/>
            <a:headEnd/>
            <a:tailEnd/>
          </a:ln>
        </p:spPr>
        <p:txBody>
          <a:bodyPr>
            <a:spAutoFit/>
          </a:bodyPr>
          <a:lstStyle/>
          <a:p>
            <a:pPr defTabSz="914400"/>
            <a:r>
              <a:rPr lang="zh-CN" altLang="en-US" sz="2800" b="1">
                <a:latin typeface="Times New Roman" pitchFamily="18" charset="0"/>
                <a:ea typeface="黑体" pitchFamily="49" charset="-122"/>
                <a:cs typeface="Times New Roman" pitchFamily="18" charset="0"/>
              </a:rPr>
              <a:t>电极</a:t>
            </a:r>
            <a:r>
              <a:rPr lang="en-US" altLang="zh-CN" sz="2800" b="1">
                <a:latin typeface="Times New Roman" pitchFamily="18" charset="0"/>
                <a:ea typeface="黑体" pitchFamily="49" charset="-122"/>
                <a:cs typeface="Times New Roman" pitchFamily="18" charset="0"/>
              </a:rPr>
              <a:t>3</a:t>
            </a:r>
            <a:endParaRPr lang="zh-CN" altLang="en-US" sz="2800" b="1">
              <a:latin typeface="Times New Roman" pitchFamily="18" charset="0"/>
              <a:ea typeface="黑体" pitchFamily="49" charset="-122"/>
              <a:cs typeface="Times New Roman" pitchFamily="18" charset="0"/>
            </a:endParaRPr>
          </a:p>
        </p:txBody>
      </p:sp>
      <p:sp>
        <p:nvSpPr>
          <p:cNvPr id="26642" name="任意多边形 20"/>
          <p:cNvSpPr>
            <a:spLocks noChangeArrowheads="1"/>
          </p:cNvSpPr>
          <p:nvPr/>
        </p:nvSpPr>
        <p:spPr bwMode="auto">
          <a:xfrm>
            <a:off x="6358208" y="1679677"/>
            <a:ext cx="177800" cy="2670175"/>
          </a:xfrm>
          <a:custGeom>
            <a:avLst/>
            <a:gdLst>
              <a:gd name="T0" fmla="*/ 80767 w 181971"/>
              <a:gd name="T1" fmla="*/ 0 h 1869744"/>
              <a:gd name="T2" fmla="*/ 121152 w 181971"/>
              <a:gd name="T3" fmla="*/ 39097515 h 1869744"/>
              <a:gd name="T4" fmla="*/ 0 w 181971"/>
              <a:gd name="T5" fmla="*/ 65976970 h 1869744"/>
              <a:gd name="T6" fmla="*/ 121152 w 181971"/>
              <a:gd name="T7" fmla="*/ 89191096 h 1869744"/>
              <a:gd name="T8" fmla="*/ 50480 w 181971"/>
              <a:gd name="T9" fmla="*/ 112405246 h 1869744"/>
              <a:gd name="T10" fmla="*/ 90862 w 181971"/>
              <a:gd name="T11" fmla="*/ 141728242 h 1869744"/>
              <a:gd name="T12" fmla="*/ 80767 w 181971"/>
              <a:gd name="T13" fmla="*/ 167386081 h 1869744"/>
              <a:gd name="T14" fmla="*/ 0 60000 65536"/>
              <a:gd name="T15" fmla="*/ 0 60000 65536"/>
              <a:gd name="T16" fmla="*/ 0 60000 65536"/>
              <a:gd name="T17" fmla="*/ 0 60000 65536"/>
              <a:gd name="T18" fmla="*/ 0 60000 65536"/>
              <a:gd name="T19" fmla="*/ 0 60000 65536"/>
              <a:gd name="T20" fmla="*/ 0 60000 65536"/>
              <a:gd name="T21" fmla="*/ 0 w 181971"/>
              <a:gd name="T22" fmla="*/ 0 h 1869744"/>
              <a:gd name="T23" fmla="*/ 181971 w 181971"/>
              <a:gd name="T24" fmla="*/ 1869744 h 18697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971" h="1869744">
                <a:moveTo>
                  <a:pt x="109183" y="0"/>
                </a:moveTo>
                <a:cubicBezTo>
                  <a:pt x="145577" y="156949"/>
                  <a:pt x="181971" y="313899"/>
                  <a:pt x="163774" y="436729"/>
                </a:cubicBezTo>
                <a:cubicBezTo>
                  <a:pt x="145577" y="559559"/>
                  <a:pt x="0" y="643719"/>
                  <a:pt x="0" y="736979"/>
                </a:cubicBezTo>
                <a:cubicBezTo>
                  <a:pt x="0" y="830239"/>
                  <a:pt x="152401" y="909851"/>
                  <a:pt x="163774" y="996287"/>
                </a:cubicBezTo>
                <a:cubicBezTo>
                  <a:pt x="175147" y="1082723"/>
                  <a:pt x="75063" y="1157785"/>
                  <a:pt x="68239" y="1255594"/>
                </a:cubicBezTo>
                <a:cubicBezTo>
                  <a:pt x="61415" y="1353403"/>
                  <a:pt x="116006" y="1480783"/>
                  <a:pt x="122830" y="1583141"/>
                </a:cubicBezTo>
                <a:cubicBezTo>
                  <a:pt x="129654" y="1685499"/>
                  <a:pt x="119418" y="1777621"/>
                  <a:pt x="109183" y="1869744"/>
                </a:cubicBezTo>
              </a:path>
            </a:pathLst>
          </a:custGeom>
          <a:noFill/>
          <a:ln w="38100" algn="ctr">
            <a:solidFill>
              <a:srgbClr val="FF0000"/>
            </a:solidFill>
            <a:round/>
            <a:headEnd/>
            <a:tailEnd type="stealth" w="med" len="lg"/>
          </a:ln>
        </p:spPr>
        <p:txBody>
          <a:bodyPr/>
          <a:lstStyle/>
          <a:p>
            <a:pPr defTabSz="914400"/>
            <a:endParaRPr lang="zh-CN" altLang="en-US" sz="2800" b="1">
              <a:latin typeface="楷体_GB2312" pitchFamily="49" charset="-122"/>
              <a:ea typeface="楷体_GB2312" pitchFamily="49" charset="-122"/>
            </a:endParaRPr>
          </a:p>
        </p:txBody>
      </p:sp>
      <p:sp>
        <p:nvSpPr>
          <p:cNvPr id="26643" name="任意多边形 21"/>
          <p:cNvSpPr>
            <a:spLocks noChangeArrowheads="1"/>
          </p:cNvSpPr>
          <p:nvPr/>
        </p:nvSpPr>
        <p:spPr bwMode="auto">
          <a:xfrm>
            <a:off x="7069408" y="1724127"/>
            <a:ext cx="182562" cy="1870075"/>
          </a:xfrm>
          <a:custGeom>
            <a:avLst/>
            <a:gdLst>
              <a:gd name="T0" fmla="*/ 113523 w 181971"/>
              <a:gd name="T1" fmla="*/ 0 h 1869744"/>
              <a:gd name="T2" fmla="*/ 170284 w 181971"/>
              <a:gd name="T3" fmla="*/ 437653 h 1869744"/>
              <a:gd name="T4" fmla="*/ 0 w 181971"/>
              <a:gd name="T5" fmla="*/ 738551 h 1869744"/>
              <a:gd name="T6" fmla="*/ 170284 w 181971"/>
              <a:gd name="T7" fmla="*/ 998406 h 1869744"/>
              <a:gd name="T8" fmla="*/ 70951 w 181971"/>
              <a:gd name="T9" fmla="*/ 1258268 h 1869744"/>
              <a:gd name="T10" fmla="*/ 127712 w 181971"/>
              <a:gd name="T11" fmla="*/ 1586509 h 1869744"/>
              <a:gd name="T12" fmla="*/ 113523 w 181971"/>
              <a:gd name="T13" fmla="*/ 1873719 h 1869744"/>
              <a:gd name="T14" fmla="*/ 0 60000 65536"/>
              <a:gd name="T15" fmla="*/ 0 60000 65536"/>
              <a:gd name="T16" fmla="*/ 0 60000 65536"/>
              <a:gd name="T17" fmla="*/ 0 60000 65536"/>
              <a:gd name="T18" fmla="*/ 0 60000 65536"/>
              <a:gd name="T19" fmla="*/ 0 60000 65536"/>
              <a:gd name="T20" fmla="*/ 0 60000 65536"/>
              <a:gd name="T21" fmla="*/ 0 w 181971"/>
              <a:gd name="T22" fmla="*/ 0 h 1869744"/>
              <a:gd name="T23" fmla="*/ 181971 w 181971"/>
              <a:gd name="T24" fmla="*/ 1869744 h 18697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971" h="1869744">
                <a:moveTo>
                  <a:pt x="109183" y="0"/>
                </a:moveTo>
                <a:cubicBezTo>
                  <a:pt x="145577" y="156949"/>
                  <a:pt x="181971" y="313899"/>
                  <a:pt x="163774" y="436729"/>
                </a:cubicBezTo>
                <a:cubicBezTo>
                  <a:pt x="145577" y="559559"/>
                  <a:pt x="0" y="643719"/>
                  <a:pt x="0" y="736979"/>
                </a:cubicBezTo>
                <a:cubicBezTo>
                  <a:pt x="0" y="830239"/>
                  <a:pt x="152401" y="909851"/>
                  <a:pt x="163774" y="996287"/>
                </a:cubicBezTo>
                <a:cubicBezTo>
                  <a:pt x="175147" y="1082723"/>
                  <a:pt x="75063" y="1157785"/>
                  <a:pt x="68239" y="1255594"/>
                </a:cubicBezTo>
                <a:cubicBezTo>
                  <a:pt x="61415" y="1353403"/>
                  <a:pt x="116006" y="1480783"/>
                  <a:pt x="122830" y="1583141"/>
                </a:cubicBezTo>
                <a:cubicBezTo>
                  <a:pt x="129654" y="1685499"/>
                  <a:pt x="119418" y="1777621"/>
                  <a:pt x="109183" y="1869744"/>
                </a:cubicBezTo>
              </a:path>
            </a:pathLst>
          </a:custGeom>
          <a:noFill/>
          <a:ln w="38100" algn="ctr">
            <a:solidFill>
              <a:srgbClr val="7030A0"/>
            </a:solidFill>
            <a:round/>
            <a:headEnd/>
            <a:tailEnd type="stealth" w="med" len="lg"/>
          </a:ln>
        </p:spPr>
        <p:txBody>
          <a:bodyPr/>
          <a:lstStyle/>
          <a:p>
            <a:pPr defTabSz="914400"/>
            <a:endParaRPr lang="zh-CN" altLang="en-US" sz="2800" b="1">
              <a:latin typeface="楷体_GB2312" pitchFamily="49" charset="-122"/>
              <a:ea typeface="楷体_GB2312" pitchFamily="49" charset="-122"/>
            </a:endParaRPr>
          </a:p>
        </p:txBody>
      </p:sp>
      <p:grpSp>
        <p:nvGrpSpPr>
          <p:cNvPr id="2" name="组合 46"/>
          <p:cNvGrpSpPr>
            <a:grpSpLocks/>
          </p:cNvGrpSpPr>
          <p:nvPr/>
        </p:nvGrpSpPr>
        <p:grpSpPr bwMode="auto">
          <a:xfrm>
            <a:off x="11292158" y="3129064"/>
            <a:ext cx="711200" cy="622300"/>
            <a:chOff x="6927850" y="2406650"/>
            <a:chExt cx="711200" cy="622300"/>
          </a:xfrm>
        </p:grpSpPr>
        <p:grpSp>
          <p:nvGrpSpPr>
            <p:cNvPr id="39963" name="组合 29"/>
            <p:cNvGrpSpPr>
              <a:grpSpLocks/>
            </p:cNvGrpSpPr>
            <p:nvPr/>
          </p:nvGrpSpPr>
          <p:grpSpPr bwMode="auto">
            <a:xfrm rot="10800000">
              <a:off x="7261225" y="2673350"/>
              <a:ext cx="377825" cy="355600"/>
              <a:chOff x="6683375" y="2895600"/>
              <a:chExt cx="377825" cy="355600"/>
            </a:xfrm>
          </p:grpSpPr>
          <p:sp>
            <p:nvSpPr>
              <p:cNvPr id="39964" name="等腰三角形 30"/>
              <p:cNvSpPr>
                <a:spLocks noChangeArrowheads="1"/>
              </p:cNvSpPr>
              <p:nvPr/>
            </p:nvSpPr>
            <p:spPr bwMode="auto">
              <a:xfrm>
                <a:off x="6705600" y="2895600"/>
                <a:ext cx="355600" cy="355600"/>
              </a:xfrm>
              <a:prstGeom prst="triangle">
                <a:avLst>
                  <a:gd name="adj" fmla="val 50000"/>
                </a:avLst>
              </a:prstGeom>
              <a:noFill/>
              <a:ln w="31750" algn="ctr">
                <a:solidFill>
                  <a:srgbClr val="660066"/>
                </a:solidFill>
                <a:round/>
                <a:headEnd/>
                <a:tailEnd/>
              </a:ln>
            </p:spPr>
            <p:txBody>
              <a:bodyPr rot="10800000"/>
              <a:lstStyle/>
              <a:p>
                <a:pPr defTabSz="914400"/>
                <a:endParaRPr lang="zh-CN" altLang="en-US" sz="2400" b="1">
                  <a:latin typeface="楷体_GB2312" pitchFamily="49" charset="-122"/>
                  <a:ea typeface="楷体_GB2312" pitchFamily="49" charset="-122"/>
                </a:endParaRPr>
              </a:p>
            </p:txBody>
          </p:sp>
          <p:cxnSp>
            <p:nvCxnSpPr>
              <p:cNvPr id="39965" name="直接连接符 31"/>
              <p:cNvCxnSpPr>
                <a:cxnSpLocks noChangeShapeType="1"/>
              </p:cNvCxnSpPr>
              <p:nvPr/>
            </p:nvCxnSpPr>
            <p:spPr bwMode="auto">
              <a:xfrm>
                <a:off x="6683375" y="2895600"/>
                <a:ext cx="377825" cy="1588"/>
              </a:xfrm>
              <a:prstGeom prst="line">
                <a:avLst/>
              </a:prstGeom>
              <a:noFill/>
              <a:ln w="31750" algn="ctr">
                <a:solidFill>
                  <a:srgbClr val="660066"/>
                </a:solidFill>
                <a:round/>
                <a:headEnd/>
                <a:tailEnd/>
              </a:ln>
            </p:spPr>
          </p:cxnSp>
        </p:grpSp>
        <p:cxnSp>
          <p:nvCxnSpPr>
            <p:cNvPr id="39966" name="直接箭头连接符 35"/>
            <p:cNvCxnSpPr>
              <a:cxnSpLocks noChangeShapeType="1"/>
            </p:cNvCxnSpPr>
            <p:nvPr/>
          </p:nvCxnSpPr>
          <p:spPr bwMode="auto">
            <a:xfrm rot="16200000" flipH="1">
              <a:off x="6905625" y="2428875"/>
              <a:ext cx="311150" cy="266700"/>
            </a:xfrm>
            <a:prstGeom prst="straightConnector1">
              <a:avLst/>
            </a:prstGeom>
            <a:noFill/>
            <a:ln w="31750" algn="ctr">
              <a:solidFill>
                <a:srgbClr val="660066"/>
              </a:solidFill>
              <a:round/>
              <a:headEnd/>
              <a:tailEnd type="triangle" w="sm" len="lg"/>
            </a:ln>
          </p:spPr>
        </p:cxnSp>
        <p:cxnSp>
          <p:nvCxnSpPr>
            <p:cNvPr id="39967" name="直接箭头连接符 36"/>
            <p:cNvCxnSpPr>
              <a:cxnSpLocks noChangeShapeType="1"/>
            </p:cNvCxnSpPr>
            <p:nvPr/>
          </p:nvCxnSpPr>
          <p:spPr bwMode="auto">
            <a:xfrm rot="16200000" flipH="1">
              <a:off x="6905625" y="2651125"/>
              <a:ext cx="311150" cy="266700"/>
            </a:xfrm>
            <a:prstGeom prst="straightConnector1">
              <a:avLst/>
            </a:prstGeom>
            <a:noFill/>
            <a:ln w="31750" algn="ctr">
              <a:solidFill>
                <a:srgbClr val="660066"/>
              </a:solidFill>
              <a:round/>
              <a:headEnd/>
              <a:tailEnd type="triangle" w="sm" len="lg"/>
            </a:ln>
          </p:spPr>
        </p:cxnSp>
      </p:grpSp>
      <p:grpSp>
        <p:nvGrpSpPr>
          <p:cNvPr id="4" name="组合 45"/>
          <p:cNvGrpSpPr>
            <a:grpSpLocks/>
          </p:cNvGrpSpPr>
          <p:nvPr/>
        </p:nvGrpSpPr>
        <p:grpSpPr bwMode="auto">
          <a:xfrm>
            <a:off x="11273108" y="4329214"/>
            <a:ext cx="708025" cy="622300"/>
            <a:chOff x="6908800" y="3606800"/>
            <a:chExt cx="708025" cy="622300"/>
          </a:xfrm>
        </p:grpSpPr>
        <p:grpSp>
          <p:nvGrpSpPr>
            <p:cNvPr id="39969" name="组合 28"/>
            <p:cNvGrpSpPr>
              <a:grpSpLocks/>
            </p:cNvGrpSpPr>
            <p:nvPr/>
          </p:nvGrpSpPr>
          <p:grpSpPr bwMode="auto">
            <a:xfrm>
              <a:off x="7239000" y="3606800"/>
              <a:ext cx="377825" cy="355600"/>
              <a:chOff x="6683375" y="2895600"/>
              <a:chExt cx="377825" cy="355600"/>
            </a:xfrm>
          </p:grpSpPr>
          <p:sp>
            <p:nvSpPr>
              <p:cNvPr id="39970" name="等腰三角形 22"/>
              <p:cNvSpPr>
                <a:spLocks noChangeArrowheads="1"/>
              </p:cNvSpPr>
              <p:nvPr/>
            </p:nvSpPr>
            <p:spPr bwMode="auto">
              <a:xfrm>
                <a:off x="6705600" y="2895600"/>
                <a:ext cx="355600" cy="355600"/>
              </a:xfrm>
              <a:prstGeom prst="triangle">
                <a:avLst>
                  <a:gd name="adj" fmla="val 50000"/>
                </a:avLst>
              </a:prstGeom>
              <a:noFill/>
              <a:ln w="31750" algn="ctr">
                <a:solidFill>
                  <a:srgbClr val="FF0000"/>
                </a:solidFill>
                <a:round/>
                <a:headEnd/>
                <a:tailEnd/>
              </a:ln>
            </p:spPr>
            <p:txBody>
              <a:bodyPr/>
              <a:lstStyle/>
              <a:p>
                <a:pPr defTabSz="914400"/>
                <a:endParaRPr lang="zh-CN" altLang="en-US" sz="2400" b="1">
                  <a:latin typeface="楷体_GB2312" pitchFamily="49" charset="-122"/>
                  <a:ea typeface="楷体_GB2312" pitchFamily="49" charset="-122"/>
                </a:endParaRPr>
              </a:p>
            </p:txBody>
          </p:sp>
          <p:cxnSp>
            <p:nvCxnSpPr>
              <p:cNvPr id="39971" name="直接连接符 26"/>
              <p:cNvCxnSpPr>
                <a:cxnSpLocks noChangeShapeType="1"/>
              </p:cNvCxnSpPr>
              <p:nvPr/>
            </p:nvCxnSpPr>
            <p:spPr bwMode="auto">
              <a:xfrm>
                <a:off x="6683375" y="2895600"/>
                <a:ext cx="377825" cy="1588"/>
              </a:xfrm>
              <a:prstGeom prst="line">
                <a:avLst/>
              </a:prstGeom>
              <a:noFill/>
              <a:ln w="31750" algn="ctr">
                <a:solidFill>
                  <a:srgbClr val="FF0000"/>
                </a:solidFill>
                <a:round/>
                <a:headEnd/>
                <a:tailEnd/>
              </a:ln>
            </p:spPr>
          </p:cxnSp>
        </p:grpSp>
        <p:cxnSp>
          <p:nvCxnSpPr>
            <p:cNvPr id="39972" name="直接箭头连接符 37"/>
            <p:cNvCxnSpPr>
              <a:cxnSpLocks noChangeShapeType="1"/>
            </p:cNvCxnSpPr>
            <p:nvPr/>
          </p:nvCxnSpPr>
          <p:spPr bwMode="auto">
            <a:xfrm rot="5400000" flipH="1" flipV="1">
              <a:off x="6851650" y="3752850"/>
              <a:ext cx="355600" cy="241300"/>
            </a:xfrm>
            <a:prstGeom prst="straightConnector1">
              <a:avLst/>
            </a:prstGeom>
            <a:noFill/>
            <a:ln w="31750" algn="ctr">
              <a:solidFill>
                <a:srgbClr val="FF0000"/>
              </a:solidFill>
              <a:round/>
              <a:headEnd/>
              <a:tailEnd type="triangle" w="sm" len="lg"/>
            </a:ln>
          </p:spPr>
        </p:cxnSp>
        <p:cxnSp>
          <p:nvCxnSpPr>
            <p:cNvPr id="39973" name="直接箭头连接符 39"/>
            <p:cNvCxnSpPr>
              <a:cxnSpLocks noChangeShapeType="1"/>
            </p:cNvCxnSpPr>
            <p:nvPr/>
          </p:nvCxnSpPr>
          <p:spPr bwMode="auto">
            <a:xfrm rot="5400000" flipH="1" flipV="1">
              <a:off x="6915150" y="3930650"/>
              <a:ext cx="355600" cy="241300"/>
            </a:xfrm>
            <a:prstGeom prst="straightConnector1">
              <a:avLst/>
            </a:prstGeom>
            <a:noFill/>
            <a:ln w="31750" algn="ctr">
              <a:solidFill>
                <a:srgbClr val="FF0000"/>
              </a:solidFill>
              <a:round/>
              <a:headEnd/>
              <a:tailEnd type="triangle" w="sm" len="lg"/>
            </a:ln>
          </p:spPr>
        </p:cxnSp>
      </p:grpSp>
      <p:grpSp>
        <p:nvGrpSpPr>
          <p:cNvPr id="6" name="组合 47"/>
          <p:cNvGrpSpPr>
            <a:grpSpLocks/>
          </p:cNvGrpSpPr>
          <p:nvPr/>
        </p:nvGrpSpPr>
        <p:grpSpPr bwMode="auto">
          <a:xfrm>
            <a:off x="11292158" y="2284514"/>
            <a:ext cx="1911350" cy="3524250"/>
            <a:chOff x="6927850" y="1562100"/>
            <a:chExt cx="1911350" cy="3524250"/>
          </a:xfrm>
        </p:grpSpPr>
        <p:cxnSp>
          <p:nvCxnSpPr>
            <p:cNvPr id="39975" name="直接连接符 33"/>
            <p:cNvCxnSpPr>
              <a:cxnSpLocks noChangeShapeType="1"/>
            </p:cNvCxnSpPr>
            <p:nvPr/>
          </p:nvCxnSpPr>
          <p:spPr bwMode="auto">
            <a:xfrm rot="5400000">
              <a:off x="6154472" y="3339306"/>
              <a:ext cx="2578100" cy="1588"/>
            </a:xfrm>
            <a:prstGeom prst="line">
              <a:avLst/>
            </a:prstGeom>
            <a:noFill/>
            <a:ln w="31750" algn="ctr">
              <a:solidFill>
                <a:schemeClr val="tx1"/>
              </a:solidFill>
              <a:round/>
              <a:headEnd/>
              <a:tailEnd/>
            </a:ln>
          </p:spPr>
        </p:cxnSp>
        <p:sp>
          <p:nvSpPr>
            <p:cNvPr id="39976" name="TextBox 41"/>
            <p:cNvSpPr txBox="1">
              <a:spLocks noChangeArrowheads="1"/>
            </p:cNvSpPr>
            <p:nvPr/>
          </p:nvSpPr>
          <p:spPr bwMode="auto">
            <a:xfrm>
              <a:off x="7772400" y="3100388"/>
              <a:ext cx="1066800" cy="457200"/>
            </a:xfrm>
            <a:prstGeom prst="rect">
              <a:avLst/>
            </a:prstGeom>
            <a:noFill/>
            <a:ln w="9525">
              <a:noFill/>
              <a:miter lim="800000"/>
              <a:headEnd/>
              <a:tailEnd/>
            </a:ln>
          </p:spPr>
          <p:txBody>
            <a:bodyPr>
              <a:spAutoFit/>
            </a:bodyPr>
            <a:lstStyle/>
            <a:p>
              <a:pPr defTabSz="914400"/>
              <a:r>
                <a:rPr lang="zh-CN" altLang="en-US" sz="2400" b="1">
                  <a:latin typeface="Times New Roman" pitchFamily="18" charset="0"/>
                  <a:ea typeface="黑体" pitchFamily="49" charset="-122"/>
                  <a:cs typeface="Times New Roman" pitchFamily="18" charset="0"/>
                </a:rPr>
                <a:t>电极</a:t>
              </a:r>
              <a:r>
                <a:rPr lang="en-US" altLang="zh-CN" sz="2400" b="1">
                  <a:latin typeface="Times New Roman" pitchFamily="18" charset="0"/>
                  <a:ea typeface="黑体" pitchFamily="49" charset="-122"/>
                  <a:cs typeface="Times New Roman" pitchFamily="18" charset="0"/>
                </a:rPr>
                <a:t>2</a:t>
              </a:r>
              <a:endParaRPr lang="zh-CN" altLang="en-US" sz="2400" b="1">
                <a:latin typeface="Times New Roman" pitchFamily="18" charset="0"/>
                <a:ea typeface="黑体" pitchFamily="49" charset="-122"/>
                <a:cs typeface="Times New Roman" pitchFamily="18" charset="0"/>
              </a:endParaRPr>
            </a:p>
          </p:txBody>
        </p:sp>
        <p:sp>
          <p:nvSpPr>
            <p:cNvPr id="39977" name="TextBox 42"/>
            <p:cNvSpPr txBox="1">
              <a:spLocks noChangeArrowheads="1"/>
            </p:cNvSpPr>
            <p:nvPr/>
          </p:nvSpPr>
          <p:spPr bwMode="auto">
            <a:xfrm>
              <a:off x="6927850" y="1562100"/>
              <a:ext cx="1066800" cy="457200"/>
            </a:xfrm>
            <a:prstGeom prst="rect">
              <a:avLst/>
            </a:prstGeom>
            <a:noFill/>
            <a:ln w="9525">
              <a:noFill/>
              <a:miter lim="800000"/>
              <a:headEnd/>
              <a:tailEnd/>
            </a:ln>
          </p:spPr>
          <p:txBody>
            <a:bodyPr>
              <a:spAutoFit/>
            </a:bodyPr>
            <a:lstStyle/>
            <a:p>
              <a:pPr defTabSz="914400"/>
              <a:r>
                <a:rPr lang="zh-CN" altLang="en-US" sz="2400" b="1">
                  <a:latin typeface="Times New Roman" pitchFamily="18" charset="0"/>
                  <a:ea typeface="黑体" pitchFamily="49" charset="-122"/>
                  <a:cs typeface="Times New Roman" pitchFamily="18" charset="0"/>
                </a:rPr>
                <a:t>电极</a:t>
              </a:r>
              <a:r>
                <a:rPr lang="en-US" altLang="zh-CN" sz="2400" b="1">
                  <a:latin typeface="Times New Roman" pitchFamily="18" charset="0"/>
                  <a:ea typeface="黑体" pitchFamily="49" charset="-122"/>
                  <a:cs typeface="Times New Roman" pitchFamily="18" charset="0"/>
                </a:rPr>
                <a:t>1</a:t>
              </a:r>
              <a:endParaRPr lang="zh-CN" altLang="en-US" sz="2400" b="1">
                <a:latin typeface="Times New Roman" pitchFamily="18" charset="0"/>
                <a:ea typeface="黑体" pitchFamily="49" charset="-122"/>
                <a:cs typeface="Times New Roman" pitchFamily="18" charset="0"/>
              </a:endParaRPr>
            </a:p>
          </p:txBody>
        </p:sp>
        <p:sp>
          <p:nvSpPr>
            <p:cNvPr id="39978" name="TextBox 43"/>
            <p:cNvSpPr txBox="1">
              <a:spLocks noChangeArrowheads="1"/>
            </p:cNvSpPr>
            <p:nvPr/>
          </p:nvSpPr>
          <p:spPr bwMode="auto">
            <a:xfrm>
              <a:off x="6972300" y="4629150"/>
              <a:ext cx="1066800" cy="457200"/>
            </a:xfrm>
            <a:prstGeom prst="rect">
              <a:avLst/>
            </a:prstGeom>
            <a:noFill/>
            <a:ln w="9525">
              <a:noFill/>
              <a:miter lim="800000"/>
              <a:headEnd/>
              <a:tailEnd/>
            </a:ln>
          </p:spPr>
          <p:txBody>
            <a:bodyPr>
              <a:spAutoFit/>
            </a:bodyPr>
            <a:lstStyle/>
            <a:p>
              <a:pPr defTabSz="914400"/>
              <a:r>
                <a:rPr lang="zh-CN" altLang="en-US" sz="2400" b="1">
                  <a:latin typeface="Times New Roman" pitchFamily="18" charset="0"/>
                  <a:ea typeface="黑体" pitchFamily="49" charset="-122"/>
                  <a:cs typeface="Times New Roman" pitchFamily="18" charset="0"/>
                </a:rPr>
                <a:t>电极</a:t>
              </a:r>
              <a:r>
                <a:rPr lang="en-US" altLang="zh-CN" sz="2400" b="1">
                  <a:latin typeface="Times New Roman" pitchFamily="18" charset="0"/>
                  <a:ea typeface="黑体" pitchFamily="49" charset="-122"/>
                  <a:cs typeface="Times New Roman" pitchFamily="18" charset="0"/>
                </a:rPr>
                <a:t>3</a:t>
              </a:r>
              <a:endParaRPr lang="zh-CN" altLang="en-US" sz="2400" b="1">
                <a:latin typeface="Times New Roman" pitchFamily="18" charset="0"/>
                <a:ea typeface="黑体" pitchFamily="49" charset="-122"/>
                <a:cs typeface="Times New Roman" pitchFamily="18" charset="0"/>
              </a:endParaRPr>
            </a:p>
          </p:txBody>
        </p:sp>
        <p:cxnSp>
          <p:nvCxnSpPr>
            <p:cNvPr id="39979" name="直接连接符 45"/>
            <p:cNvCxnSpPr>
              <a:cxnSpLocks noChangeShapeType="1"/>
            </p:cNvCxnSpPr>
            <p:nvPr/>
          </p:nvCxnSpPr>
          <p:spPr bwMode="auto">
            <a:xfrm>
              <a:off x="7450138" y="3340100"/>
              <a:ext cx="355600" cy="1588"/>
            </a:xfrm>
            <a:prstGeom prst="line">
              <a:avLst/>
            </a:prstGeom>
            <a:noFill/>
            <a:ln w="31750" algn="ctr">
              <a:solidFill>
                <a:schemeClr val="tx1"/>
              </a:solidFill>
              <a:round/>
              <a:headEnd/>
              <a:tailEnd/>
            </a:ln>
          </p:spPr>
        </p:cxnSp>
      </p:grpSp>
      <p:sp>
        <p:nvSpPr>
          <p:cNvPr id="36" name="TextBox 16"/>
          <p:cNvSpPr txBox="1">
            <a:spLocks noChangeArrowheads="1"/>
          </p:cNvSpPr>
          <p:nvPr/>
        </p:nvSpPr>
        <p:spPr bwMode="auto">
          <a:xfrm>
            <a:off x="9647508" y="3368777"/>
            <a:ext cx="97790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黑体" pitchFamily="49" charset="-122"/>
                <a:cs typeface="Times New Roman" pitchFamily="18" charset="0"/>
              </a:rPr>
              <a:t>PD1</a:t>
            </a:r>
            <a:endParaRPr lang="zh-CN" altLang="en-US" sz="2800" b="1">
              <a:latin typeface="Times New Roman" pitchFamily="18" charset="0"/>
              <a:ea typeface="黑体" pitchFamily="49" charset="-122"/>
              <a:cs typeface="Times New Roman" pitchFamily="18" charset="0"/>
            </a:endParaRPr>
          </a:p>
        </p:txBody>
      </p:sp>
      <p:sp>
        <p:nvSpPr>
          <p:cNvPr id="37" name="TextBox 16"/>
          <p:cNvSpPr txBox="1">
            <a:spLocks noChangeArrowheads="1"/>
          </p:cNvSpPr>
          <p:nvPr/>
        </p:nvSpPr>
        <p:spPr bwMode="auto">
          <a:xfrm>
            <a:off x="9603058" y="4124427"/>
            <a:ext cx="97790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黑体" pitchFamily="49" charset="-122"/>
                <a:cs typeface="Times New Roman" pitchFamily="18" charset="0"/>
              </a:rPr>
              <a:t>PD2</a:t>
            </a:r>
            <a:endParaRPr lang="zh-CN" altLang="en-US" sz="2800" b="1">
              <a:latin typeface="Times New Roman" pitchFamily="18" charset="0"/>
              <a:ea typeface="黑体" pitchFamily="49" charset="-122"/>
              <a:cs typeface="Times New Roman" pitchFamily="18" charset="0"/>
            </a:endParaRPr>
          </a:p>
        </p:txBody>
      </p:sp>
      <p:cxnSp>
        <p:nvCxnSpPr>
          <p:cNvPr id="39" name="直接箭头连接符 38"/>
          <p:cNvCxnSpPr>
            <a:cxnSpLocks noChangeShapeType="1"/>
            <a:stCxn id="36" idx="1"/>
          </p:cNvCxnSpPr>
          <p:nvPr/>
        </p:nvCxnSpPr>
        <p:spPr bwMode="auto">
          <a:xfrm rot="10800000" flipV="1">
            <a:off x="8002858" y="3629127"/>
            <a:ext cx="1644650" cy="4762"/>
          </a:xfrm>
          <a:prstGeom prst="straightConnector1">
            <a:avLst/>
          </a:prstGeom>
          <a:noFill/>
          <a:ln w="38100" algn="ctr">
            <a:solidFill>
              <a:srgbClr val="660066"/>
            </a:solidFill>
            <a:round/>
            <a:headEnd/>
            <a:tailEnd type="arrow" w="med" len="med"/>
          </a:ln>
        </p:spPr>
      </p:cxnSp>
      <p:cxnSp>
        <p:nvCxnSpPr>
          <p:cNvPr id="43" name="直接箭头连接符 42"/>
          <p:cNvCxnSpPr>
            <a:cxnSpLocks noChangeShapeType="1"/>
          </p:cNvCxnSpPr>
          <p:nvPr/>
        </p:nvCxnSpPr>
        <p:spPr bwMode="auto">
          <a:xfrm rot="10800000">
            <a:off x="8580708" y="4391127"/>
            <a:ext cx="1111250" cy="1587"/>
          </a:xfrm>
          <a:prstGeom prst="straightConnector1">
            <a:avLst/>
          </a:prstGeom>
          <a:noFill/>
          <a:ln w="38100" algn="ctr">
            <a:solidFill>
              <a:srgbClr val="FF0000"/>
            </a:solidFill>
            <a:round/>
            <a:headEnd/>
            <a:tailEnd type="arrow" w="med" len="med"/>
          </a:ln>
        </p:spPr>
      </p:cxnSp>
      <p:cxnSp>
        <p:nvCxnSpPr>
          <p:cNvPr id="49" name="直接箭头连接符 48"/>
          <p:cNvCxnSpPr>
            <a:cxnSpLocks noChangeShapeType="1"/>
          </p:cNvCxnSpPr>
          <p:nvPr/>
        </p:nvCxnSpPr>
        <p:spPr bwMode="auto">
          <a:xfrm flipV="1">
            <a:off x="10403158" y="4346677"/>
            <a:ext cx="1092200" cy="20637"/>
          </a:xfrm>
          <a:prstGeom prst="straightConnector1">
            <a:avLst/>
          </a:prstGeom>
          <a:noFill/>
          <a:ln w="38100" algn="ctr">
            <a:solidFill>
              <a:srgbClr val="FF0000"/>
            </a:solidFill>
            <a:round/>
            <a:headEnd/>
            <a:tailEnd type="arrow" w="med" len="med"/>
          </a:ln>
        </p:spPr>
      </p:cxnSp>
      <p:cxnSp>
        <p:nvCxnSpPr>
          <p:cNvPr id="51" name="直接箭头连接符 50"/>
          <p:cNvCxnSpPr>
            <a:cxnSpLocks noChangeShapeType="1"/>
          </p:cNvCxnSpPr>
          <p:nvPr/>
        </p:nvCxnSpPr>
        <p:spPr bwMode="auto">
          <a:xfrm flipV="1">
            <a:off x="10403158" y="3591027"/>
            <a:ext cx="1092200" cy="20637"/>
          </a:xfrm>
          <a:prstGeom prst="straightConnector1">
            <a:avLst/>
          </a:prstGeom>
          <a:noFill/>
          <a:ln w="38100" algn="ctr">
            <a:solidFill>
              <a:srgbClr val="660066"/>
            </a:solidFill>
            <a:round/>
            <a:headEnd/>
            <a:tailEnd type="arrow" w="med" len="med"/>
          </a:ln>
        </p:spPr>
      </p:cxnSp>
      <p:sp>
        <p:nvSpPr>
          <p:cNvPr id="39986" name="TextBox 18"/>
          <p:cNvSpPr txBox="1">
            <a:spLocks noChangeArrowheads="1"/>
          </p:cNvSpPr>
          <p:nvPr/>
        </p:nvSpPr>
        <p:spPr bwMode="auto">
          <a:xfrm>
            <a:off x="5059682" y="6480580"/>
            <a:ext cx="4477830" cy="707886"/>
          </a:xfrm>
          <a:prstGeom prst="rect">
            <a:avLst/>
          </a:prstGeom>
          <a:noFill/>
          <a:ln w="9525">
            <a:noFill/>
            <a:miter lim="800000"/>
            <a:headEnd/>
            <a:tailEnd/>
          </a:ln>
        </p:spPr>
        <p:txBody>
          <a:bodyPr wrap="square">
            <a:spAutoFit/>
          </a:bodyPr>
          <a:lstStyle/>
          <a:p>
            <a:pPr algn="ctr" defTabSz="914400"/>
            <a:r>
              <a:rPr lang="zh-CN" altLang="en-US" sz="4000" b="1" dirty="0">
                <a:solidFill>
                  <a:srgbClr val="0000CC"/>
                </a:solidFill>
                <a:latin typeface="Times New Roman" pitchFamily="18" charset="0"/>
                <a:ea typeface="黑体" pitchFamily="49" charset="-122"/>
                <a:cs typeface="Times New Roman" pitchFamily="18" charset="0"/>
              </a:rPr>
              <a:t>结构（</a:t>
            </a:r>
            <a:r>
              <a:rPr lang="en-US" altLang="zh-CN" sz="4000" b="1" dirty="0">
                <a:solidFill>
                  <a:srgbClr val="0000CC"/>
                </a:solidFill>
                <a:latin typeface="Times New Roman" pitchFamily="18" charset="0"/>
                <a:ea typeface="黑体" pitchFamily="49" charset="-122"/>
                <a:cs typeface="Times New Roman" pitchFamily="18" charset="0"/>
              </a:rPr>
              <a:t>Structure</a:t>
            </a:r>
            <a:r>
              <a:rPr lang="zh-CN" altLang="en-US" sz="4000" b="1" dirty="0">
                <a:solidFill>
                  <a:srgbClr val="0000CC"/>
                </a:solidFill>
                <a:latin typeface="Times New Roman" pitchFamily="18" charset="0"/>
                <a:ea typeface="黑体" pitchFamily="49" charset="-122"/>
                <a:cs typeface="Times New Roman" pitchFamily="18" charset="0"/>
              </a:rPr>
              <a:t>）</a:t>
            </a:r>
          </a:p>
        </p:txBody>
      </p:sp>
      <p:sp>
        <p:nvSpPr>
          <p:cNvPr id="50" name="Rectangle 9"/>
          <p:cNvSpPr>
            <a:spLocks noChangeArrowheads="1"/>
          </p:cNvSpPr>
          <p:nvPr/>
        </p:nvSpPr>
        <p:spPr bwMode="auto">
          <a:xfrm>
            <a:off x="4657624" y="964187"/>
            <a:ext cx="3877985" cy="584775"/>
          </a:xfrm>
          <a:prstGeom prst="rect">
            <a:avLst/>
          </a:prstGeom>
          <a:noFill/>
          <a:ln w="9525">
            <a:noFill/>
            <a:miter lim="800000"/>
            <a:headEnd/>
            <a:tailEnd/>
          </a:ln>
        </p:spPr>
        <p:txBody>
          <a:bodyPr wrap="none" anchor="ctr">
            <a:spAutoFit/>
          </a:bodyPr>
          <a:lstStyle/>
          <a:p>
            <a:pPr algn="ctr" defTabSz="914400">
              <a:defRPr/>
            </a:pPr>
            <a:r>
              <a:rPr lang="en-US" altLang="zh-CN" sz="3200" b="1" dirty="0">
                <a:solidFill>
                  <a:srgbClr val="0000CC"/>
                </a:solidFill>
                <a:latin typeface="Times New Roman" pitchFamily="18" charset="0"/>
                <a:ea typeface="微软雅黑" pitchFamily="34" charset="-122"/>
                <a:cs typeface="Times New Roman" pitchFamily="18" charset="0"/>
              </a:rPr>
              <a:t>1.</a:t>
            </a:r>
            <a:r>
              <a:rPr lang="zh-CN" altLang="en-US" sz="3200" b="1" dirty="0">
                <a:solidFill>
                  <a:srgbClr val="0000CC"/>
                </a:solidFill>
                <a:latin typeface="Times New Roman" pitchFamily="18" charset="0"/>
                <a:ea typeface="微软雅黑" pitchFamily="34" charset="-122"/>
                <a:cs typeface="Times New Roman" pitchFamily="18" charset="0"/>
              </a:rPr>
              <a:t>双结硅色敏探测器 </a:t>
            </a:r>
          </a:p>
        </p:txBody>
      </p:sp>
      <p:sp>
        <p:nvSpPr>
          <p:cNvPr id="53" name="Rectangle 3"/>
          <p:cNvSpPr>
            <a:spLocks noChangeArrowheads="1"/>
          </p:cNvSpPr>
          <p:nvPr/>
        </p:nvSpPr>
        <p:spPr bwMode="auto">
          <a:xfrm>
            <a:off x="436563" y="33639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4" name="Rectangle 4"/>
          <p:cNvSpPr>
            <a:spLocks noChangeArrowheads="1"/>
          </p:cNvSpPr>
          <p:nvPr/>
        </p:nvSpPr>
        <p:spPr bwMode="auto">
          <a:xfrm>
            <a:off x="436563" y="33528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5" name="Rectangle 7"/>
          <p:cNvSpPr>
            <a:spLocks noChangeArrowheads="1"/>
          </p:cNvSpPr>
          <p:nvPr/>
        </p:nvSpPr>
        <p:spPr bwMode="auto">
          <a:xfrm>
            <a:off x="436563" y="314325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6" name="Rectangle 8"/>
          <p:cNvSpPr>
            <a:spLocks noChangeArrowheads="1"/>
          </p:cNvSpPr>
          <p:nvPr/>
        </p:nvSpPr>
        <p:spPr bwMode="auto">
          <a:xfrm>
            <a:off x="620713" y="1892949"/>
            <a:ext cx="3802857" cy="1308628"/>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同一块硅片上制造的两个</a:t>
            </a:r>
            <a:r>
              <a:rPr lang="zh-CN" altLang="en-US" sz="2800" b="1" dirty="0">
                <a:solidFill>
                  <a:srgbClr val="FF0066"/>
                </a:solidFill>
                <a:latin typeface="Times New Roman" pitchFamily="18" charset="0"/>
                <a:ea typeface="微软雅黑" pitchFamily="34" charset="-122"/>
                <a:cs typeface="Times New Roman" pitchFamily="18" charset="0"/>
              </a:rPr>
              <a:t>深浅</a:t>
            </a:r>
            <a:r>
              <a:rPr lang="zh-CN" altLang="en-US" sz="2800" b="1" dirty="0">
                <a:latin typeface="Times New Roman" pitchFamily="18" charset="0"/>
                <a:ea typeface="微软雅黑" pitchFamily="34" charset="-122"/>
                <a:cs typeface="Times New Roman" pitchFamily="18" charset="0"/>
              </a:rPr>
              <a:t>不同的</a:t>
            </a:r>
            <a:r>
              <a:rPr lang="en-US" altLang="zh-CN" sz="2800" b="1" dirty="0">
                <a:latin typeface="Times New Roman" pitchFamily="18" charset="0"/>
                <a:ea typeface="微软雅黑" pitchFamily="34" charset="-122"/>
                <a:cs typeface="Times New Roman" pitchFamily="18" charset="0"/>
              </a:rPr>
              <a:t>PN</a:t>
            </a:r>
            <a:r>
              <a:rPr lang="zh-CN" altLang="en-US" sz="2800" b="1" dirty="0">
                <a:latin typeface="Times New Roman" pitchFamily="18" charset="0"/>
                <a:ea typeface="微软雅黑" pitchFamily="34" charset="-122"/>
                <a:cs typeface="Times New Roman" pitchFamily="18" charset="0"/>
              </a:rPr>
              <a:t>结</a:t>
            </a:r>
          </a:p>
        </p:txBody>
      </p:sp>
      <p:sp>
        <p:nvSpPr>
          <p:cNvPr id="57" name="TextBox 56"/>
          <p:cNvSpPr txBox="1">
            <a:spLocks noChangeArrowheads="1"/>
          </p:cNvSpPr>
          <p:nvPr/>
        </p:nvSpPr>
        <p:spPr bwMode="auto">
          <a:xfrm>
            <a:off x="680523" y="3601345"/>
            <a:ext cx="3946018" cy="1384995"/>
          </a:xfrm>
          <a:prstGeom prst="rect">
            <a:avLst/>
          </a:prstGeom>
          <a:noFill/>
          <a:ln w="9525">
            <a:noFill/>
            <a:miter lim="800000"/>
            <a:headEnd/>
            <a:tailEnd/>
          </a:ln>
        </p:spPr>
        <p:txBody>
          <a:bodyPr wrap="square">
            <a:spAutoFit/>
          </a:bodyPr>
          <a:lstStyle/>
          <a:p>
            <a:pPr defTabSz="914400">
              <a:lnSpc>
                <a:spcPct val="150000"/>
              </a:lnSpc>
            </a:pPr>
            <a:r>
              <a:rPr lang="en-US" altLang="zh-CN" sz="2800" b="1" dirty="0">
                <a:solidFill>
                  <a:srgbClr val="660066"/>
                </a:solidFill>
                <a:latin typeface="Times New Roman" pitchFamily="18" charset="0"/>
                <a:ea typeface="微软雅黑" pitchFamily="34" charset="-122"/>
                <a:cs typeface="Times New Roman" pitchFamily="18" charset="0"/>
              </a:rPr>
              <a:t>PD1</a:t>
            </a:r>
            <a:r>
              <a:rPr lang="zh-CN" altLang="en-US" sz="2800" b="1" dirty="0">
                <a:solidFill>
                  <a:srgbClr val="6600CC"/>
                </a:solidFill>
                <a:latin typeface="Times New Roman" pitchFamily="18" charset="0"/>
                <a:ea typeface="微软雅黑" pitchFamily="34" charset="-122"/>
                <a:cs typeface="Times New Roman" pitchFamily="18" charset="0"/>
              </a:rPr>
              <a:t>为浅结</a:t>
            </a:r>
            <a:endParaRPr lang="en-US" altLang="zh-CN" sz="2800" b="1" dirty="0">
              <a:latin typeface="Times New Roman" pitchFamily="18" charset="0"/>
              <a:ea typeface="微软雅黑" pitchFamily="34" charset="-122"/>
              <a:cs typeface="Times New Roman" pitchFamily="18" charset="0"/>
            </a:endParaRPr>
          </a:p>
          <a:p>
            <a:pPr defTabSz="914400">
              <a:lnSpc>
                <a:spcPct val="150000"/>
              </a:lnSpc>
            </a:pPr>
            <a:r>
              <a:rPr lang="zh-CN" altLang="en-US" sz="2800" b="1" dirty="0">
                <a:latin typeface="Times New Roman" pitchFamily="18" charset="0"/>
                <a:ea typeface="微软雅黑" pitchFamily="34" charset="-122"/>
                <a:cs typeface="Times New Roman" pitchFamily="18" charset="0"/>
              </a:rPr>
              <a:t>对</a:t>
            </a:r>
            <a:r>
              <a:rPr lang="zh-CN" altLang="en-US" sz="2800" b="1" dirty="0">
                <a:solidFill>
                  <a:srgbClr val="6600CC"/>
                </a:solidFill>
                <a:latin typeface="Times New Roman" pitchFamily="18" charset="0"/>
                <a:ea typeface="微软雅黑" pitchFamily="34" charset="-122"/>
                <a:cs typeface="Times New Roman" pitchFamily="18" charset="0"/>
              </a:rPr>
              <a:t>短波长</a:t>
            </a:r>
            <a:r>
              <a:rPr lang="zh-CN" altLang="en-US" sz="2800" b="1" dirty="0">
                <a:latin typeface="Times New Roman" pitchFamily="18" charset="0"/>
                <a:ea typeface="微软雅黑" pitchFamily="34" charset="-122"/>
                <a:cs typeface="Times New Roman" pitchFamily="18" charset="0"/>
              </a:rPr>
              <a:t>的光响应度高。</a:t>
            </a:r>
          </a:p>
        </p:txBody>
      </p:sp>
      <p:sp>
        <p:nvSpPr>
          <p:cNvPr id="58" name="TextBox 57"/>
          <p:cNvSpPr txBox="1">
            <a:spLocks noChangeArrowheads="1"/>
          </p:cNvSpPr>
          <p:nvPr/>
        </p:nvSpPr>
        <p:spPr bwMode="auto">
          <a:xfrm>
            <a:off x="649440" y="5351564"/>
            <a:ext cx="4008184" cy="1384995"/>
          </a:xfrm>
          <a:prstGeom prst="rect">
            <a:avLst/>
          </a:prstGeom>
          <a:noFill/>
          <a:ln w="9525">
            <a:noFill/>
            <a:miter lim="800000"/>
            <a:headEnd/>
            <a:tailEnd/>
          </a:ln>
        </p:spPr>
        <p:txBody>
          <a:bodyPr wrap="square">
            <a:spAutoFit/>
          </a:bodyPr>
          <a:lstStyle/>
          <a:p>
            <a:pPr defTabSz="914400">
              <a:lnSpc>
                <a:spcPct val="150000"/>
              </a:lnSpc>
            </a:pPr>
            <a:r>
              <a:rPr lang="en-US" altLang="zh-CN" sz="2800" b="1" dirty="0">
                <a:solidFill>
                  <a:srgbClr val="FF00FF"/>
                </a:solidFill>
                <a:latin typeface="Times New Roman" pitchFamily="18" charset="0"/>
                <a:ea typeface="微软雅黑" pitchFamily="34" charset="-122"/>
                <a:cs typeface="Times New Roman" pitchFamily="18" charset="0"/>
              </a:rPr>
              <a:t>PD2</a:t>
            </a:r>
            <a:r>
              <a:rPr lang="zh-CN" altLang="en-US" sz="2800" b="1" dirty="0">
                <a:solidFill>
                  <a:srgbClr val="FF0000"/>
                </a:solidFill>
                <a:latin typeface="Times New Roman" pitchFamily="18" charset="0"/>
                <a:ea typeface="微软雅黑" pitchFamily="34" charset="-122"/>
                <a:cs typeface="Times New Roman" pitchFamily="18" charset="0"/>
              </a:rPr>
              <a:t>为深结</a:t>
            </a:r>
            <a:endParaRPr lang="en-US" altLang="zh-CN" sz="2800" b="1" dirty="0">
              <a:latin typeface="Times New Roman" pitchFamily="18" charset="0"/>
              <a:ea typeface="微软雅黑" pitchFamily="34" charset="-122"/>
              <a:cs typeface="Times New Roman" pitchFamily="18" charset="0"/>
            </a:endParaRPr>
          </a:p>
          <a:p>
            <a:pPr defTabSz="914400">
              <a:lnSpc>
                <a:spcPct val="150000"/>
              </a:lnSpc>
            </a:pPr>
            <a:r>
              <a:rPr lang="zh-CN" altLang="en-US" sz="2800" b="1" dirty="0">
                <a:latin typeface="Times New Roman" pitchFamily="18" charset="0"/>
                <a:ea typeface="微软雅黑" pitchFamily="34" charset="-122"/>
                <a:cs typeface="Times New Roman" pitchFamily="18" charset="0"/>
              </a:rPr>
              <a:t>对</a:t>
            </a:r>
            <a:r>
              <a:rPr lang="zh-CN" altLang="en-US" sz="2800" b="1" dirty="0">
                <a:solidFill>
                  <a:srgbClr val="FF0000"/>
                </a:solidFill>
                <a:latin typeface="Times New Roman" pitchFamily="18" charset="0"/>
                <a:ea typeface="微软雅黑" pitchFamily="34" charset="-122"/>
                <a:cs typeface="Times New Roman" pitchFamily="18" charset="0"/>
              </a:rPr>
              <a:t>长波长</a:t>
            </a:r>
            <a:r>
              <a:rPr lang="zh-CN" altLang="en-US" sz="2800" b="1" dirty="0">
                <a:solidFill>
                  <a:srgbClr val="FF3399"/>
                </a:solidFill>
                <a:latin typeface="Times New Roman" pitchFamily="18" charset="0"/>
                <a:ea typeface="微软雅黑" pitchFamily="34" charset="-122"/>
                <a:cs typeface="Times New Roman" pitchFamily="18" charset="0"/>
              </a:rPr>
              <a:t>的</a:t>
            </a:r>
            <a:r>
              <a:rPr lang="zh-CN" altLang="en-US" sz="2800" b="1" dirty="0">
                <a:latin typeface="Times New Roman" pitchFamily="18" charset="0"/>
                <a:ea typeface="微软雅黑" pitchFamily="34" charset="-122"/>
                <a:cs typeface="Times New Roman" pitchFamily="18" charset="0"/>
              </a:rPr>
              <a:t>光响应度高。</a:t>
            </a:r>
          </a:p>
        </p:txBody>
      </p:sp>
      <p:grpSp>
        <p:nvGrpSpPr>
          <p:cNvPr id="59" name="组合 58">
            <a:extLst>
              <a:ext uri="{FF2B5EF4-FFF2-40B4-BE49-F238E27FC236}">
                <a16:creationId xmlns:a16="http://schemas.microsoft.com/office/drawing/2014/main" xmlns="" id="{454C8A04-6509-408C-85FF-757CA1AA5560}"/>
              </a:ext>
            </a:extLst>
          </p:cNvPr>
          <p:cNvGrpSpPr/>
          <p:nvPr/>
        </p:nvGrpSpPr>
        <p:grpSpPr>
          <a:xfrm>
            <a:off x="0" y="293282"/>
            <a:ext cx="13161246" cy="7421968"/>
            <a:chOff x="0" y="293282"/>
            <a:chExt cx="13161246" cy="7421968"/>
          </a:xfrm>
        </p:grpSpPr>
        <p:sp>
          <p:nvSpPr>
            <p:cNvPr id="66" name="文本框 60">
              <a:extLst>
                <a:ext uri="{FF2B5EF4-FFF2-40B4-BE49-F238E27FC236}">
                  <a16:creationId xmlns:a16="http://schemas.microsoft.com/office/drawing/2014/main" xmlns="" id="{38C2FD12-3942-452E-99D5-7CA5459393E5}"/>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色敏探测器结构与工作原理 </a:t>
              </a:r>
            </a:p>
          </p:txBody>
        </p:sp>
        <p:sp>
          <p:nvSpPr>
            <p:cNvPr id="67" name="矩形 66">
              <a:extLst>
                <a:ext uri="{FF2B5EF4-FFF2-40B4-BE49-F238E27FC236}">
                  <a16:creationId xmlns:a16="http://schemas.microsoft.com/office/drawing/2014/main" xmlns="" id="{3BECAF05-0A66-4787-8CB8-E495E35C569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68" name="矩形 67">
              <a:extLst>
                <a:ext uri="{FF2B5EF4-FFF2-40B4-BE49-F238E27FC236}">
                  <a16:creationId xmlns:a16="http://schemas.microsoft.com/office/drawing/2014/main" xmlns="" id="{2AEB6F51-B07A-47EC-8251-28CA5BACFC1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a:extLst>
                <a:ext uri="{FF2B5EF4-FFF2-40B4-BE49-F238E27FC236}">
                  <a16:creationId xmlns:a16="http://schemas.microsoft.com/office/drawing/2014/main" xmlns="" id="{7807B8E8-0DC1-4C8B-823C-60EE10E505D4}"/>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70" name="直接连接符 58">
              <a:extLst>
                <a:ext uri="{FF2B5EF4-FFF2-40B4-BE49-F238E27FC236}">
                  <a16:creationId xmlns:a16="http://schemas.microsoft.com/office/drawing/2014/main" xmlns="" id="{A89FE246-41FA-43B3-ADCE-6FEBFB49F98E}"/>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xmlns="" id="{A7B9A918-7B04-4DC0-87DE-A91A00AB447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72" name="矩形 71">
              <a:extLst>
                <a:ext uri="{FF2B5EF4-FFF2-40B4-BE49-F238E27FC236}">
                  <a16:creationId xmlns:a16="http://schemas.microsoft.com/office/drawing/2014/main" xmlns="" id="{204A0FA1-C837-40AF-9EA5-289661E81EB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box(in)">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998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6628"/>
                                        </p:tgtEl>
                                        <p:attrNameLst>
                                          <p:attrName>style.visibility</p:attrName>
                                        </p:attrNameLst>
                                      </p:cBhvr>
                                      <p:to>
                                        <p:strVal val="visible"/>
                                      </p:to>
                                    </p:set>
                                    <p:animEffect transition="in" filter="box(in)">
                                      <p:cBhvr>
                                        <p:cTn id="16" dur="500"/>
                                        <p:tgtEl>
                                          <p:spTgt spid="26628"/>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26633"/>
                                        </p:tgtEl>
                                        <p:attrNameLst>
                                          <p:attrName>style.visibility</p:attrName>
                                        </p:attrNameLst>
                                      </p:cBhvr>
                                      <p:to>
                                        <p:strVal val="visible"/>
                                      </p:to>
                                    </p:set>
                                    <p:animEffect transition="in" filter="box(in)">
                                      <p:cBhvr>
                                        <p:cTn id="21" dur="500"/>
                                        <p:tgtEl>
                                          <p:spTgt spid="26633"/>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26629"/>
                                        </p:tgtEl>
                                        <p:attrNameLst>
                                          <p:attrName>style.visibility</p:attrName>
                                        </p:attrNameLst>
                                      </p:cBhvr>
                                      <p:to>
                                        <p:strVal val="visible"/>
                                      </p:to>
                                    </p:set>
                                    <p:animEffect transition="in" filter="box(in)">
                                      <p:cBhvr>
                                        <p:cTn id="26" dur="500"/>
                                        <p:tgtEl>
                                          <p:spTgt spid="26629"/>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26635"/>
                                        </p:tgtEl>
                                        <p:attrNameLst>
                                          <p:attrName>style.visibility</p:attrName>
                                        </p:attrNameLst>
                                      </p:cBhvr>
                                      <p:to>
                                        <p:strVal val="visible"/>
                                      </p:to>
                                    </p:set>
                                    <p:animEffect transition="in" filter="box(in)">
                                      <p:cBhvr>
                                        <p:cTn id="29" dur="500"/>
                                        <p:tgtEl>
                                          <p:spTgt spid="26635"/>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26630"/>
                                        </p:tgtEl>
                                        <p:attrNameLst>
                                          <p:attrName>style.visibility</p:attrName>
                                        </p:attrNameLst>
                                      </p:cBhvr>
                                      <p:to>
                                        <p:strVal val="visible"/>
                                      </p:to>
                                    </p:set>
                                    <p:animEffect transition="in" filter="box(in)">
                                      <p:cBhvr>
                                        <p:cTn id="34" dur="500"/>
                                        <p:tgtEl>
                                          <p:spTgt spid="26630"/>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26634"/>
                                        </p:tgtEl>
                                        <p:attrNameLst>
                                          <p:attrName>style.visibility</p:attrName>
                                        </p:attrNameLst>
                                      </p:cBhvr>
                                      <p:to>
                                        <p:strVal val="visible"/>
                                      </p:to>
                                    </p:set>
                                    <p:animEffect transition="in" filter="box(in)">
                                      <p:cBhvr>
                                        <p:cTn id="37" dur="500"/>
                                        <p:tgtEl>
                                          <p:spTgt spid="26634"/>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56"/>
                                        </p:tgtEl>
                                        <p:attrNameLst>
                                          <p:attrName>style.visibility</p:attrName>
                                        </p:attrNameLst>
                                      </p:cBhvr>
                                      <p:to>
                                        <p:strVal val="visible"/>
                                      </p:to>
                                    </p:set>
                                    <p:animEffect transition="in" filter="box(in)">
                                      <p:cBhvr>
                                        <p:cTn id="42" dur="500"/>
                                        <p:tgtEl>
                                          <p:spTgt spid="56"/>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box(in)">
                                      <p:cBhvr>
                                        <p:cTn id="47" dur="500"/>
                                        <p:tgtEl>
                                          <p:spTgt spid="39"/>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box(in)">
                                      <p:cBhvr>
                                        <p:cTn id="50" dur="500"/>
                                        <p:tgtEl>
                                          <p:spTgt spid="36"/>
                                        </p:tgtEl>
                                      </p:cBhvr>
                                    </p:animEffect>
                                  </p:childTnLst>
                                </p:cTn>
                              </p:par>
                              <p:par>
                                <p:cTn id="51" presetID="4" presetClass="entr" presetSubtype="16" fill="hold" nodeType="with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box(in)">
                                      <p:cBhvr>
                                        <p:cTn id="53" dur="500"/>
                                        <p:tgtEl>
                                          <p:spTgt spid="51"/>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box(in)">
                                      <p:cBhvr>
                                        <p:cTn id="58" dur="500"/>
                                        <p:tgtEl>
                                          <p:spTgt spid="2"/>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57"/>
                                        </p:tgtEl>
                                        <p:attrNameLst>
                                          <p:attrName>style.visibility</p:attrName>
                                        </p:attrNameLst>
                                      </p:cBhvr>
                                      <p:to>
                                        <p:strVal val="visible"/>
                                      </p:to>
                                    </p:set>
                                    <p:animEffect transition="in" filter="box(in)">
                                      <p:cBhvr>
                                        <p:cTn id="63" dur="500"/>
                                        <p:tgtEl>
                                          <p:spTgt spid="57"/>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16" fill="hold" nodeType="click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box(in)">
                                      <p:cBhvr>
                                        <p:cTn id="68" dur="500"/>
                                        <p:tgtEl>
                                          <p:spTgt spid="43"/>
                                        </p:tgtEl>
                                      </p:cBhvr>
                                    </p:animEffect>
                                  </p:childTnLst>
                                </p:cTn>
                              </p:par>
                              <p:par>
                                <p:cTn id="69" presetID="4" presetClass="entr" presetSubtype="16"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box(in)">
                                      <p:cBhvr>
                                        <p:cTn id="71" dur="500"/>
                                        <p:tgtEl>
                                          <p:spTgt spid="37"/>
                                        </p:tgtEl>
                                      </p:cBhvr>
                                    </p:animEffect>
                                  </p:childTnLst>
                                </p:cTn>
                              </p:par>
                              <p:par>
                                <p:cTn id="72" presetID="4" presetClass="entr" presetSubtype="16" fill="hold"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box(in)">
                                      <p:cBhvr>
                                        <p:cTn id="74" dur="500"/>
                                        <p:tgtEl>
                                          <p:spTgt spid="49"/>
                                        </p:tgtEl>
                                      </p:cBhvr>
                                    </p:animEffect>
                                  </p:childTnLst>
                                </p:cTn>
                              </p:par>
                            </p:childTnLst>
                          </p:cTn>
                        </p:par>
                      </p:childTnLst>
                    </p:cTn>
                  </p:par>
                  <p:par>
                    <p:cTn id="75" fill="hold">
                      <p:stCondLst>
                        <p:cond delay="indefinite"/>
                      </p:stCondLst>
                      <p:childTnLst>
                        <p:par>
                          <p:cTn id="76" fill="hold">
                            <p:stCondLst>
                              <p:cond delay="0"/>
                            </p:stCondLst>
                            <p:childTnLst>
                              <p:par>
                                <p:cTn id="77" presetID="4" presetClass="entr" presetSubtype="16" fill="hold" nodeType="click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box(in)">
                                      <p:cBhvr>
                                        <p:cTn id="79" dur="500"/>
                                        <p:tgtEl>
                                          <p:spTgt spid="4"/>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ntr" presetSubtype="16" fill="hold" grpId="0" nodeType="clickEffect">
                                  <p:stCondLst>
                                    <p:cond delay="0"/>
                                  </p:stCondLst>
                                  <p:childTnLst>
                                    <p:set>
                                      <p:cBhvr>
                                        <p:cTn id="83" dur="1" fill="hold">
                                          <p:stCondLst>
                                            <p:cond delay="0"/>
                                          </p:stCondLst>
                                        </p:cTn>
                                        <p:tgtEl>
                                          <p:spTgt spid="58"/>
                                        </p:tgtEl>
                                        <p:attrNameLst>
                                          <p:attrName>style.visibility</p:attrName>
                                        </p:attrNameLst>
                                      </p:cBhvr>
                                      <p:to>
                                        <p:strVal val="visible"/>
                                      </p:to>
                                    </p:set>
                                    <p:animEffect transition="in" filter="box(in)">
                                      <p:cBhvr>
                                        <p:cTn id="84" dur="500"/>
                                        <p:tgtEl>
                                          <p:spTgt spid="58"/>
                                        </p:tgtEl>
                                      </p:cBhvr>
                                    </p:animEffect>
                                  </p:childTnLst>
                                </p:cTn>
                              </p:par>
                            </p:childTnLst>
                          </p:cTn>
                        </p:par>
                      </p:childTnLst>
                    </p:cTn>
                  </p:par>
                  <p:par>
                    <p:cTn id="85" fill="hold">
                      <p:stCondLst>
                        <p:cond delay="indefinite"/>
                      </p:stCondLst>
                      <p:childTnLst>
                        <p:par>
                          <p:cTn id="86" fill="hold">
                            <p:stCondLst>
                              <p:cond delay="0"/>
                            </p:stCondLst>
                            <p:childTnLst>
                              <p:par>
                                <p:cTn id="87" presetID="4" presetClass="entr" presetSubtype="16" fill="hold" grpId="0" nodeType="clickEffect">
                                  <p:stCondLst>
                                    <p:cond delay="0"/>
                                  </p:stCondLst>
                                  <p:childTnLst>
                                    <p:set>
                                      <p:cBhvr>
                                        <p:cTn id="88" dur="1" fill="hold">
                                          <p:stCondLst>
                                            <p:cond delay="0"/>
                                          </p:stCondLst>
                                        </p:cTn>
                                        <p:tgtEl>
                                          <p:spTgt spid="26627"/>
                                        </p:tgtEl>
                                        <p:attrNameLst>
                                          <p:attrName>style.visibility</p:attrName>
                                        </p:attrNameLst>
                                      </p:cBhvr>
                                      <p:to>
                                        <p:strVal val="visible"/>
                                      </p:to>
                                    </p:set>
                                    <p:animEffect transition="in" filter="box(in)">
                                      <p:cBhvr>
                                        <p:cTn id="89" dur="500"/>
                                        <p:tgtEl>
                                          <p:spTgt spid="26627"/>
                                        </p:tgtEl>
                                      </p:cBhvr>
                                    </p:animEffect>
                                  </p:childTnLst>
                                </p:cTn>
                              </p:par>
                              <p:par>
                                <p:cTn id="90" presetID="4" presetClass="entr" presetSubtype="16" fill="hold" nodeType="withEffect">
                                  <p:stCondLst>
                                    <p:cond delay="0"/>
                                  </p:stCondLst>
                                  <p:childTnLst>
                                    <p:set>
                                      <p:cBhvr>
                                        <p:cTn id="91" dur="1" fill="hold">
                                          <p:stCondLst>
                                            <p:cond delay="0"/>
                                          </p:stCondLst>
                                        </p:cTn>
                                        <p:tgtEl>
                                          <p:spTgt spid="26638"/>
                                        </p:tgtEl>
                                        <p:attrNameLst>
                                          <p:attrName>style.visibility</p:attrName>
                                        </p:attrNameLst>
                                      </p:cBhvr>
                                      <p:to>
                                        <p:strVal val="visible"/>
                                      </p:to>
                                    </p:set>
                                    <p:animEffect transition="in" filter="box(in)">
                                      <p:cBhvr>
                                        <p:cTn id="92" dur="500"/>
                                        <p:tgtEl>
                                          <p:spTgt spid="26638"/>
                                        </p:tgtEl>
                                      </p:cBhvr>
                                    </p:animEffect>
                                  </p:childTnLst>
                                </p:cTn>
                              </p:par>
                            </p:childTnLst>
                          </p:cTn>
                        </p:par>
                      </p:childTnLst>
                    </p:cTn>
                  </p:par>
                  <p:par>
                    <p:cTn id="93" fill="hold">
                      <p:stCondLst>
                        <p:cond delay="indefinite"/>
                      </p:stCondLst>
                      <p:childTnLst>
                        <p:par>
                          <p:cTn id="94" fill="hold">
                            <p:stCondLst>
                              <p:cond delay="0"/>
                            </p:stCondLst>
                            <p:childTnLst>
                              <p:par>
                                <p:cTn id="95" presetID="4" presetClass="entr" presetSubtype="16" fill="hold" grpId="0" nodeType="clickEffect">
                                  <p:stCondLst>
                                    <p:cond delay="0"/>
                                  </p:stCondLst>
                                  <p:childTnLst>
                                    <p:set>
                                      <p:cBhvr>
                                        <p:cTn id="96" dur="1" fill="hold">
                                          <p:stCondLst>
                                            <p:cond delay="0"/>
                                          </p:stCondLst>
                                        </p:cTn>
                                        <p:tgtEl>
                                          <p:spTgt spid="26626"/>
                                        </p:tgtEl>
                                        <p:attrNameLst>
                                          <p:attrName>style.visibility</p:attrName>
                                        </p:attrNameLst>
                                      </p:cBhvr>
                                      <p:to>
                                        <p:strVal val="visible"/>
                                      </p:to>
                                    </p:set>
                                    <p:animEffect transition="in" filter="box(in)">
                                      <p:cBhvr>
                                        <p:cTn id="97" dur="500"/>
                                        <p:tgtEl>
                                          <p:spTgt spid="26626"/>
                                        </p:tgtEl>
                                      </p:cBhvr>
                                    </p:animEffect>
                                  </p:childTnLst>
                                </p:cTn>
                              </p:par>
                            </p:childTnLst>
                          </p:cTn>
                        </p:par>
                      </p:childTnLst>
                    </p:cTn>
                  </p:par>
                  <p:par>
                    <p:cTn id="98" fill="hold">
                      <p:stCondLst>
                        <p:cond delay="indefinite"/>
                      </p:stCondLst>
                      <p:childTnLst>
                        <p:par>
                          <p:cTn id="99" fill="hold">
                            <p:stCondLst>
                              <p:cond delay="0"/>
                            </p:stCondLst>
                            <p:childTnLst>
                              <p:par>
                                <p:cTn id="100" presetID="4" presetClass="entr" presetSubtype="16" fill="hold" nodeType="clickEffect">
                                  <p:stCondLst>
                                    <p:cond delay="0"/>
                                  </p:stCondLst>
                                  <p:childTnLst>
                                    <p:set>
                                      <p:cBhvr>
                                        <p:cTn id="101" dur="1" fill="hold">
                                          <p:stCondLst>
                                            <p:cond delay="0"/>
                                          </p:stCondLst>
                                        </p:cTn>
                                        <p:tgtEl>
                                          <p:spTgt spid="26636"/>
                                        </p:tgtEl>
                                        <p:attrNameLst>
                                          <p:attrName>style.visibility</p:attrName>
                                        </p:attrNameLst>
                                      </p:cBhvr>
                                      <p:to>
                                        <p:strVal val="visible"/>
                                      </p:to>
                                    </p:set>
                                    <p:animEffect transition="in" filter="box(in)">
                                      <p:cBhvr>
                                        <p:cTn id="102" dur="500"/>
                                        <p:tgtEl>
                                          <p:spTgt spid="26636"/>
                                        </p:tgtEl>
                                      </p:cBhvr>
                                    </p:animEffect>
                                  </p:childTnLst>
                                </p:cTn>
                              </p:par>
                              <p:par>
                                <p:cTn id="103" presetID="4" presetClass="entr" presetSubtype="16" fill="hold" grpId="0" nodeType="withEffect">
                                  <p:stCondLst>
                                    <p:cond delay="0"/>
                                  </p:stCondLst>
                                  <p:childTnLst>
                                    <p:set>
                                      <p:cBhvr>
                                        <p:cTn id="104" dur="1" fill="hold">
                                          <p:stCondLst>
                                            <p:cond delay="0"/>
                                          </p:stCondLst>
                                        </p:cTn>
                                        <p:tgtEl>
                                          <p:spTgt spid="26632"/>
                                        </p:tgtEl>
                                        <p:attrNameLst>
                                          <p:attrName>style.visibility</p:attrName>
                                        </p:attrNameLst>
                                      </p:cBhvr>
                                      <p:to>
                                        <p:strVal val="visible"/>
                                      </p:to>
                                    </p:set>
                                    <p:animEffect transition="in" filter="box(in)">
                                      <p:cBhvr>
                                        <p:cTn id="105" dur="500"/>
                                        <p:tgtEl>
                                          <p:spTgt spid="26632"/>
                                        </p:tgtEl>
                                      </p:cBhvr>
                                    </p:animEffect>
                                  </p:childTnLst>
                                </p:cTn>
                              </p:par>
                            </p:childTnLst>
                          </p:cTn>
                        </p:par>
                      </p:childTnLst>
                    </p:cTn>
                  </p:par>
                  <p:par>
                    <p:cTn id="106" fill="hold">
                      <p:stCondLst>
                        <p:cond delay="indefinite"/>
                      </p:stCondLst>
                      <p:childTnLst>
                        <p:par>
                          <p:cTn id="107" fill="hold">
                            <p:stCondLst>
                              <p:cond delay="0"/>
                            </p:stCondLst>
                            <p:childTnLst>
                              <p:par>
                                <p:cTn id="108" presetID="4" presetClass="entr" presetSubtype="16" fill="hold" nodeType="clickEffect">
                                  <p:stCondLst>
                                    <p:cond delay="0"/>
                                  </p:stCondLst>
                                  <p:childTnLst>
                                    <p:set>
                                      <p:cBhvr>
                                        <p:cTn id="109" dur="1" fill="hold">
                                          <p:stCondLst>
                                            <p:cond delay="0"/>
                                          </p:stCondLst>
                                        </p:cTn>
                                        <p:tgtEl>
                                          <p:spTgt spid="26637"/>
                                        </p:tgtEl>
                                        <p:attrNameLst>
                                          <p:attrName>style.visibility</p:attrName>
                                        </p:attrNameLst>
                                      </p:cBhvr>
                                      <p:to>
                                        <p:strVal val="visible"/>
                                      </p:to>
                                    </p:set>
                                    <p:animEffect transition="in" filter="box(in)">
                                      <p:cBhvr>
                                        <p:cTn id="110" dur="500"/>
                                        <p:tgtEl>
                                          <p:spTgt spid="26637"/>
                                        </p:tgtEl>
                                      </p:cBhvr>
                                    </p:animEffect>
                                  </p:childTnLst>
                                </p:cTn>
                              </p:par>
                              <p:par>
                                <p:cTn id="111" presetID="4" presetClass="entr" presetSubtype="16" fill="hold" grpId="0" nodeType="withEffect">
                                  <p:stCondLst>
                                    <p:cond delay="0"/>
                                  </p:stCondLst>
                                  <p:childTnLst>
                                    <p:set>
                                      <p:cBhvr>
                                        <p:cTn id="112" dur="1" fill="hold">
                                          <p:stCondLst>
                                            <p:cond delay="0"/>
                                          </p:stCondLst>
                                        </p:cTn>
                                        <p:tgtEl>
                                          <p:spTgt spid="26631"/>
                                        </p:tgtEl>
                                        <p:attrNameLst>
                                          <p:attrName>style.visibility</p:attrName>
                                        </p:attrNameLst>
                                      </p:cBhvr>
                                      <p:to>
                                        <p:strVal val="visible"/>
                                      </p:to>
                                    </p:set>
                                    <p:animEffect transition="in" filter="box(in)">
                                      <p:cBhvr>
                                        <p:cTn id="113" dur="500"/>
                                        <p:tgtEl>
                                          <p:spTgt spid="26631"/>
                                        </p:tgtEl>
                                      </p:cBhvr>
                                    </p:animEffect>
                                  </p:childTnLst>
                                </p:cTn>
                              </p:par>
                            </p:childTnLst>
                          </p:cTn>
                        </p:par>
                      </p:childTnLst>
                    </p:cTn>
                  </p:par>
                  <p:par>
                    <p:cTn id="114" fill="hold">
                      <p:stCondLst>
                        <p:cond delay="indefinite"/>
                      </p:stCondLst>
                      <p:childTnLst>
                        <p:par>
                          <p:cTn id="115" fill="hold">
                            <p:stCondLst>
                              <p:cond delay="0"/>
                            </p:stCondLst>
                            <p:childTnLst>
                              <p:par>
                                <p:cTn id="116" presetID="4" presetClass="entr" presetSubtype="16" fill="hold" grpId="0" nodeType="clickEffect">
                                  <p:stCondLst>
                                    <p:cond delay="0"/>
                                  </p:stCondLst>
                                  <p:childTnLst>
                                    <p:set>
                                      <p:cBhvr>
                                        <p:cTn id="117" dur="1" fill="hold">
                                          <p:stCondLst>
                                            <p:cond delay="0"/>
                                          </p:stCondLst>
                                        </p:cTn>
                                        <p:tgtEl>
                                          <p:spTgt spid="26640"/>
                                        </p:tgtEl>
                                        <p:attrNameLst>
                                          <p:attrName>style.visibility</p:attrName>
                                        </p:attrNameLst>
                                      </p:cBhvr>
                                      <p:to>
                                        <p:strVal val="visible"/>
                                      </p:to>
                                    </p:set>
                                    <p:animEffect transition="in" filter="box(in)">
                                      <p:cBhvr>
                                        <p:cTn id="118" dur="500"/>
                                        <p:tgtEl>
                                          <p:spTgt spid="26640"/>
                                        </p:tgtEl>
                                      </p:cBhvr>
                                    </p:animEffect>
                                  </p:childTnLst>
                                </p:cTn>
                              </p:par>
                              <p:par>
                                <p:cTn id="119" presetID="4" presetClass="entr" presetSubtype="16" fill="hold" grpId="0" nodeType="withEffect">
                                  <p:stCondLst>
                                    <p:cond delay="0"/>
                                  </p:stCondLst>
                                  <p:childTnLst>
                                    <p:set>
                                      <p:cBhvr>
                                        <p:cTn id="120" dur="1" fill="hold">
                                          <p:stCondLst>
                                            <p:cond delay="0"/>
                                          </p:stCondLst>
                                        </p:cTn>
                                        <p:tgtEl>
                                          <p:spTgt spid="26639"/>
                                        </p:tgtEl>
                                        <p:attrNameLst>
                                          <p:attrName>style.visibility</p:attrName>
                                        </p:attrNameLst>
                                      </p:cBhvr>
                                      <p:to>
                                        <p:strVal val="visible"/>
                                      </p:to>
                                    </p:set>
                                    <p:animEffect transition="in" filter="box(in)">
                                      <p:cBhvr>
                                        <p:cTn id="121" dur="500"/>
                                        <p:tgtEl>
                                          <p:spTgt spid="26639"/>
                                        </p:tgtEl>
                                      </p:cBhvr>
                                    </p:animEffect>
                                  </p:childTnLst>
                                </p:cTn>
                              </p:par>
                              <p:par>
                                <p:cTn id="122" presetID="4" presetClass="entr" presetSubtype="16" fill="hold" grpId="0" nodeType="withEffect">
                                  <p:stCondLst>
                                    <p:cond delay="0"/>
                                  </p:stCondLst>
                                  <p:childTnLst>
                                    <p:set>
                                      <p:cBhvr>
                                        <p:cTn id="123" dur="1" fill="hold">
                                          <p:stCondLst>
                                            <p:cond delay="0"/>
                                          </p:stCondLst>
                                        </p:cTn>
                                        <p:tgtEl>
                                          <p:spTgt spid="26641"/>
                                        </p:tgtEl>
                                        <p:attrNameLst>
                                          <p:attrName>style.visibility</p:attrName>
                                        </p:attrNameLst>
                                      </p:cBhvr>
                                      <p:to>
                                        <p:strVal val="visible"/>
                                      </p:to>
                                    </p:set>
                                    <p:animEffect transition="in" filter="box(in)">
                                      <p:cBhvr>
                                        <p:cTn id="124" dur="500"/>
                                        <p:tgtEl>
                                          <p:spTgt spid="26641"/>
                                        </p:tgtEl>
                                      </p:cBhvr>
                                    </p:animEffect>
                                  </p:childTnLst>
                                </p:cTn>
                              </p:par>
                            </p:childTnLst>
                          </p:cTn>
                        </p:par>
                      </p:childTnLst>
                    </p:cTn>
                  </p:par>
                  <p:par>
                    <p:cTn id="125" fill="hold">
                      <p:stCondLst>
                        <p:cond delay="indefinite"/>
                      </p:stCondLst>
                      <p:childTnLst>
                        <p:par>
                          <p:cTn id="126" fill="hold">
                            <p:stCondLst>
                              <p:cond delay="0"/>
                            </p:stCondLst>
                            <p:childTnLst>
                              <p:par>
                                <p:cTn id="127" presetID="4" presetClass="entr" presetSubtype="16" fill="hold" nodeType="clickEffect">
                                  <p:stCondLst>
                                    <p:cond delay="0"/>
                                  </p:stCondLst>
                                  <p:childTnLst>
                                    <p:set>
                                      <p:cBhvr>
                                        <p:cTn id="128" dur="1" fill="hold">
                                          <p:stCondLst>
                                            <p:cond delay="0"/>
                                          </p:stCondLst>
                                        </p:cTn>
                                        <p:tgtEl>
                                          <p:spTgt spid="6"/>
                                        </p:tgtEl>
                                        <p:attrNameLst>
                                          <p:attrName>style.visibility</p:attrName>
                                        </p:attrNameLst>
                                      </p:cBhvr>
                                      <p:to>
                                        <p:strVal val="visible"/>
                                      </p:to>
                                    </p:set>
                                    <p:animEffect transition="in" filter="box(in)">
                                      <p:cBhvr>
                                        <p:cTn id="129" dur="500"/>
                                        <p:tgtEl>
                                          <p:spTgt spid="6"/>
                                        </p:tgtEl>
                                      </p:cBhvr>
                                    </p:animEffect>
                                  </p:childTnLst>
                                </p:cTn>
                              </p:par>
                            </p:childTnLst>
                          </p:cTn>
                        </p:par>
                      </p:childTnLst>
                    </p:cTn>
                  </p:par>
                  <p:par>
                    <p:cTn id="130" fill="hold">
                      <p:stCondLst>
                        <p:cond delay="indefinite"/>
                      </p:stCondLst>
                      <p:childTnLst>
                        <p:par>
                          <p:cTn id="131" fill="hold">
                            <p:stCondLst>
                              <p:cond delay="0"/>
                            </p:stCondLst>
                            <p:childTnLst>
                              <p:par>
                                <p:cTn id="132" presetID="2" presetClass="entr" presetSubtype="1" fill="hold" grpId="0" nodeType="clickEffect">
                                  <p:stCondLst>
                                    <p:cond delay="0"/>
                                  </p:stCondLst>
                                  <p:childTnLst>
                                    <p:set>
                                      <p:cBhvr>
                                        <p:cTn id="133" dur="1" fill="hold">
                                          <p:stCondLst>
                                            <p:cond delay="0"/>
                                          </p:stCondLst>
                                        </p:cTn>
                                        <p:tgtEl>
                                          <p:spTgt spid="26643"/>
                                        </p:tgtEl>
                                        <p:attrNameLst>
                                          <p:attrName>style.visibility</p:attrName>
                                        </p:attrNameLst>
                                      </p:cBhvr>
                                      <p:to>
                                        <p:strVal val="visible"/>
                                      </p:to>
                                    </p:set>
                                    <p:anim calcmode="lin" valueType="num">
                                      <p:cBhvr additive="base">
                                        <p:cTn id="134" dur="500" fill="hold"/>
                                        <p:tgtEl>
                                          <p:spTgt spid="26643"/>
                                        </p:tgtEl>
                                        <p:attrNameLst>
                                          <p:attrName>ppt_x</p:attrName>
                                        </p:attrNameLst>
                                      </p:cBhvr>
                                      <p:tavLst>
                                        <p:tav tm="0">
                                          <p:val>
                                            <p:strVal val="#ppt_x"/>
                                          </p:val>
                                        </p:tav>
                                        <p:tav tm="100000">
                                          <p:val>
                                            <p:strVal val="#ppt_x"/>
                                          </p:val>
                                        </p:tav>
                                      </p:tavLst>
                                    </p:anim>
                                    <p:anim calcmode="lin" valueType="num">
                                      <p:cBhvr additive="base">
                                        <p:cTn id="135" dur="500" fill="hold"/>
                                        <p:tgtEl>
                                          <p:spTgt spid="26643"/>
                                        </p:tgtEl>
                                        <p:attrNameLst>
                                          <p:attrName>ppt_y</p:attrName>
                                        </p:attrNameLst>
                                      </p:cBhvr>
                                      <p:tavLst>
                                        <p:tav tm="0">
                                          <p:val>
                                            <p:strVal val="0-#ppt_h/2"/>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2" presetClass="entr" presetSubtype="1" fill="hold" grpId="0" nodeType="clickEffect">
                                  <p:stCondLst>
                                    <p:cond delay="0"/>
                                  </p:stCondLst>
                                  <p:childTnLst>
                                    <p:set>
                                      <p:cBhvr>
                                        <p:cTn id="139" dur="1" fill="hold">
                                          <p:stCondLst>
                                            <p:cond delay="0"/>
                                          </p:stCondLst>
                                        </p:cTn>
                                        <p:tgtEl>
                                          <p:spTgt spid="26642"/>
                                        </p:tgtEl>
                                        <p:attrNameLst>
                                          <p:attrName>style.visibility</p:attrName>
                                        </p:attrNameLst>
                                      </p:cBhvr>
                                      <p:to>
                                        <p:strVal val="visible"/>
                                      </p:to>
                                    </p:set>
                                    <p:anim calcmode="lin" valueType="num">
                                      <p:cBhvr additive="base">
                                        <p:cTn id="140" dur="500" fill="hold"/>
                                        <p:tgtEl>
                                          <p:spTgt spid="26642"/>
                                        </p:tgtEl>
                                        <p:attrNameLst>
                                          <p:attrName>ppt_x</p:attrName>
                                        </p:attrNameLst>
                                      </p:cBhvr>
                                      <p:tavLst>
                                        <p:tav tm="0">
                                          <p:val>
                                            <p:strVal val="#ppt_x"/>
                                          </p:val>
                                        </p:tav>
                                        <p:tav tm="100000">
                                          <p:val>
                                            <p:strVal val="#ppt_x"/>
                                          </p:val>
                                        </p:tav>
                                      </p:tavLst>
                                    </p:anim>
                                    <p:anim calcmode="lin" valueType="num">
                                      <p:cBhvr additive="base">
                                        <p:cTn id="141" dur="500" fill="hold"/>
                                        <p:tgtEl>
                                          <p:spTgt spid="2664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p:bldP spid="26627" grpId="0" animBg="1"/>
      <p:bldP spid="26628" grpId="0" animBg="1"/>
      <p:bldP spid="26629" grpId="0" animBg="1"/>
      <p:bldP spid="26630" grpId="0" animBg="1"/>
      <p:bldP spid="26631" grpId="0" animBg="1"/>
      <p:bldP spid="26632" grpId="0" animBg="1"/>
      <p:bldP spid="26633" grpId="0"/>
      <p:bldP spid="26634" grpId="0"/>
      <p:bldP spid="26635" grpId="0"/>
      <p:bldP spid="26639" grpId="0"/>
      <p:bldP spid="26640" grpId="0"/>
      <p:bldP spid="26641" grpId="0"/>
      <p:bldP spid="26642" grpId="0" animBg="1"/>
      <p:bldP spid="26643" grpId="0" animBg="1"/>
      <p:bldP spid="36" grpId="0"/>
      <p:bldP spid="37" grpId="0"/>
      <p:bldP spid="39986" grpId="0"/>
      <p:bldP spid="50" grpId="0"/>
      <p:bldP spid="56" grpId="0"/>
      <p:bldP spid="57"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0533" name="Object 5"/>
          <p:cNvGraphicFramePr>
            <a:graphicFrameLocks noChangeAspect="1"/>
          </p:cNvGraphicFramePr>
          <p:nvPr>
            <p:extLst>
              <p:ext uri="{D42A27DB-BD31-4B8C-83A1-F6EECF244321}">
                <p14:modId xmlns:p14="http://schemas.microsoft.com/office/powerpoint/2010/main" val="4039876871"/>
              </p:ext>
            </p:extLst>
          </p:nvPr>
        </p:nvGraphicFramePr>
        <p:xfrm>
          <a:off x="9017541" y="1001368"/>
          <a:ext cx="3775075" cy="2683426"/>
        </p:xfrm>
        <a:graphic>
          <a:graphicData uri="http://schemas.openxmlformats.org/presentationml/2006/ole">
            <mc:AlternateContent xmlns:mc="http://schemas.openxmlformats.org/markup-compatibility/2006">
              <mc:Choice xmlns:v="urn:schemas-microsoft-com:vml" Requires="v">
                <p:oleObj spid="_x0000_s4158" name="Visio" r:id="rId3" imgW="3594021" imgH="2557177" progId="Visio.Drawing.11">
                  <p:embed/>
                </p:oleObj>
              </mc:Choice>
              <mc:Fallback>
                <p:oleObj name="Visio" r:id="rId3" imgW="3594021" imgH="2557177"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7541" y="1001368"/>
                        <a:ext cx="3775075" cy="2683426"/>
                      </a:xfrm>
                      <a:prstGeom prst="rect">
                        <a:avLst/>
                      </a:prstGeom>
                      <a:noFill/>
                    </p:spPr>
                  </p:pic>
                </p:oleObj>
              </mc:Fallback>
            </mc:AlternateContent>
          </a:graphicData>
        </a:graphic>
      </p:graphicFrame>
      <p:sp>
        <p:nvSpPr>
          <p:cNvPr id="12" name="TextBox 11"/>
          <p:cNvSpPr txBox="1">
            <a:spLocks noChangeArrowheads="1"/>
          </p:cNvSpPr>
          <p:nvPr/>
        </p:nvSpPr>
        <p:spPr bwMode="auto">
          <a:xfrm>
            <a:off x="716755" y="1327419"/>
            <a:ext cx="7376657" cy="2031325"/>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在光照射时，</a:t>
            </a:r>
            <a:r>
              <a:rPr lang="en-US" altLang="zh-CN" sz="2800" b="1" dirty="0">
                <a:latin typeface="Times New Roman" pitchFamily="18" charset="0"/>
                <a:ea typeface="微软雅黑" pitchFamily="34" charset="-122"/>
                <a:cs typeface="Times New Roman" pitchFamily="18" charset="0"/>
              </a:rPr>
              <a:t>P</a:t>
            </a:r>
            <a:r>
              <a:rPr lang="zh-CN" altLang="en-US" sz="2800" b="1" dirty="0">
                <a:latin typeface="Times New Roman" pitchFamily="18" charset="0"/>
                <a:ea typeface="微软雅黑" pitchFamily="34" charset="-122"/>
                <a:cs typeface="Times New Roman" pitchFamily="18" charset="0"/>
              </a:rPr>
              <a:t>、</a:t>
            </a:r>
            <a:r>
              <a:rPr lang="en-US" altLang="zh-CN" sz="2800" b="1" dirty="0">
                <a:latin typeface="Times New Roman" pitchFamily="18" charset="0"/>
                <a:ea typeface="微软雅黑" pitchFamily="34" charset="-122"/>
                <a:cs typeface="Times New Roman" pitchFamily="18" charset="0"/>
              </a:rPr>
              <a:t>N</a:t>
            </a:r>
            <a:r>
              <a:rPr lang="zh-CN" altLang="en-US" sz="2800" b="1" dirty="0">
                <a:latin typeface="Times New Roman" pitchFamily="18" charset="0"/>
                <a:ea typeface="微软雅黑" pitchFamily="34" charset="-122"/>
                <a:cs typeface="Times New Roman" pitchFamily="18" charset="0"/>
              </a:rPr>
              <a:t>和</a:t>
            </a:r>
            <a:r>
              <a:rPr lang="en-US" altLang="zh-CN" sz="2800" b="1" dirty="0">
                <a:latin typeface="Times New Roman" pitchFamily="18" charset="0"/>
                <a:ea typeface="微软雅黑" pitchFamily="34" charset="-122"/>
                <a:cs typeface="Times New Roman" pitchFamily="18" charset="0"/>
              </a:rPr>
              <a:t>P</a:t>
            </a:r>
            <a:r>
              <a:rPr lang="zh-CN" altLang="en-US" sz="2800" b="1" dirty="0">
                <a:latin typeface="Times New Roman" pitchFamily="18" charset="0"/>
                <a:ea typeface="微软雅黑" pitchFamily="34" charset="-122"/>
                <a:cs typeface="Times New Roman" pitchFamily="18" charset="0"/>
              </a:rPr>
              <a:t>三个区域均有光子吸收，但是由于入射光子波长不同，从而导致不同深度的区域对不同波长光吸收率不同。</a:t>
            </a:r>
          </a:p>
        </p:txBody>
      </p:sp>
      <p:sp>
        <p:nvSpPr>
          <p:cNvPr id="13" name="TextBox 12"/>
          <p:cNvSpPr txBox="1">
            <a:spLocks noChangeArrowheads="1"/>
          </p:cNvSpPr>
          <p:nvPr/>
        </p:nvSpPr>
        <p:spPr bwMode="auto">
          <a:xfrm>
            <a:off x="620713" y="3578833"/>
            <a:ext cx="7472700" cy="1384995"/>
          </a:xfrm>
          <a:prstGeom prst="rect">
            <a:avLst/>
          </a:prstGeom>
          <a:noFill/>
          <a:ln w="9525">
            <a:noFill/>
            <a:miter lim="800000"/>
            <a:headEnd/>
            <a:tailEnd/>
          </a:ln>
        </p:spPr>
        <p:txBody>
          <a:bodyPr wrap="square">
            <a:spAutoFit/>
          </a:bodyPr>
          <a:lstStyle/>
          <a:p>
            <a:pPr defTabSz="914400">
              <a:lnSpc>
                <a:spcPct val="150000"/>
              </a:lnSpc>
              <a:buFont typeface="Wingdings" pitchFamily="2" charset="2"/>
              <a:buChar char="l"/>
            </a:pPr>
            <a:r>
              <a:rPr lang="zh-CN" altLang="en-US" sz="2800" b="1" dirty="0">
                <a:latin typeface="Times New Roman" pitchFamily="18" charset="0"/>
                <a:ea typeface="微软雅黑" pitchFamily="34" charset="-122"/>
                <a:cs typeface="Times New Roman" pitchFamily="18" charset="0"/>
              </a:rPr>
              <a:t> 短波长的光吸收系数大，穿透很短距离就被吸收完毕；因此</a:t>
            </a:r>
            <a:r>
              <a:rPr lang="zh-CN" altLang="en-US" sz="2800" b="1" dirty="0">
                <a:solidFill>
                  <a:srgbClr val="6600CC"/>
                </a:solidFill>
                <a:latin typeface="Times New Roman" pitchFamily="18" charset="0"/>
                <a:ea typeface="微软雅黑" pitchFamily="34" charset="-122"/>
                <a:cs typeface="Times New Roman" pitchFamily="18" charset="0"/>
              </a:rPr>
              <a:t>浅结对短波长光灵敏度较高。</a:t>
            </a:r>
          </a:p>
        </p:txBody>
      </p:sp>
      <p:sp>
        <p:nvSpPr>
          <p:cNvPr id="14" name="TextBox 13"/>
          <p:cNvSpPr txBox="1">
            <a:spLocks noChangeArrowheads="1"/>
          </p:cNvSpPr>
          <p:nvPr/>
        </p:nvSpPr>
        <p:spPr bwMode="auto">
          <a:xfrm>
            <a:off x="716756" y="5050007"/>
            <a:ext cx="7376656" cy="1384995"/>
          </a:xfrm>
          <a:prstGeom prst="rect">
            <a:avLst/>
          </a:prstGeom>
          <a:noFill/>
          <a:ln w="9525">
            <a:noFill/>
            <a:miter lim="800000"/>
            <a:headEnd/>
            <a:tailEnd/>
          </a:ln>
        </p:spPr>
        <p:txBody>
          <a:bodyPr wrap="square">
            <a:spAutoFit/>
          </a:bodyPr>
          <a:lstStyle/>
          <a:p>
            <a:pPr defTabSz="914400">
              <a:lnSpc>
                <a:spcPct val="150000"/>
              </a:lnSpc>
              <a:buFont typeface="Wingdings" pitchFamily="2" charset="2"/>
              <a:buChar char="l"/>
            </a:pPr>
            <a:r>
              <a:rPr lang="zh-CN" altLang="en-US" sz="2800" b="1" dirty="0">
                <a:latin typeface="Times New Roman" pitchFamily="18" charset="0"/>
                <a:ea typeface="微软雅黑" pitchFamily="34" charset="-122"/>
                <a:cs typeface="Times New Roman" pitchFamily="18" charset="0"/>
              </a:rPr>
              <a:t> 长波长光吸收系数小，入射光子主要在深结处被吸收；因此，</a:t>
            </a:r>
            <a:r>
              <a:rPr lang="zh-CN" altLang="en-US" sz="2800" b="1" dirty="0">
                <a:solidFill>
                  <a:srgbClr val="FF0000"/>
                </a:solidFill>
                <a:latin typeface="Times New Roman" pitchFamily="18" charset="0"/>
                <a:ea typeface="微软雅黑" pitchFamily="34" charset="-122"/>
                <a:cs typeface="Times New Roman" pitchFamily="18" charset="0"/>
              </a:rPr>
              <a:t>深结对长波长灵敏度较高</a:t>
            </a:r>
            <a:r>
              <a:rPr lang="zh-CN" altLang="en-US" sz="2800" b="1" dirty="0">
                <a:latin typeface="Times New Roman" pitchFamily="18" charset="0"/>
                <a:ea typeface="微软雅黑" pitchFamily="34" charset="-122"/>
                <a:cs typeface="Times New Roman" pitchFamily="18" charset="0"/>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191584021"/>
              </p:ext>
            </p:extLst>
          </p:nvPr>
        </p:nvGraphicFramePr>
        <p:xfrm>
          <a:off x="9005990" y="3934046"/>
          <a:ext cx="4077021" cy="2778040"/>
        </p:xfrm>
        <a:graphic>
          <a:graphicData uri="http://schemas.openxmlformats.org/presentationml/2006/ole">
            <mc:AlternateContent xmlns:mc="http://schemas.openxmlformats.org/markup-compatibility/2006">
              <mc:Choice xmlns:v="urn:schemas-microsoft-com:vml" Requires="v">
                <p:oleObj spid="_x0000_s4159" name="Visio" r:id="rId5" imgW="4933474" imgH="3363420" progId="Visio.Drawing.11">
                  <p:embed/>
                </p:oleObj>
              </mc:Choice>
              <mc:Fallback>
                <p:oleObj name="Visio" r:id="rId5" imgW="4933474" imgH="3363420" progId="Visio.Drawing.11">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5990" y="3934046"/>
                        <a:ext cx="4077021" cy="2778040"/>
                      </a:xfrm>
                      <a:prstGeom prst="rect">
                        <a:avLst/>
                      </a:prstGeom>
                      <a:noFill/>
                      <a:ln>
                        <a:noFill/>
                      </a:ln>
                    </p:spPr>
                  </p:pic>
                </p:oleObj>
              </mc:Fallback>
            </mc:AlternateContent>
          </a:graphicData>
        </a:graphic>
      </p:graphicFrame>
      <p:grpSp>
        <p:nvGrpSpPr>
          <p:cNvPr id="15" name="组合 14">
            <a:extLst>
              <a:ext uri="{FF2B5EF4-FFF2-40B4-BE49-F238E27FC236}">
                <a16:creationId xmlns:a16="http://schemas.microsoft.com/office/drawing/2014/main" xmlns="" id="{21788068-A15B-4711-B1C7-C0D74A8BC54F}"/>
              </a:ext>
            </a:extLst>
          </p:cNvPr>
          <p:cNvGrpSpPr/>
          <p:nvPr/>
        </p:nvGrpSpPr>
        <p:grpSpPr>
          <a:xfrm>
            <a:off x="-278524" y="-26190"/>
            <a:ext cx="13161246" cy="7421968"/>
            <a:chOff x="0" y="293282"/>
            <a:chExt cx="13161246" cy="7421968"/>
          </a:xfrm>
        </p:grpSpPr>
        <p:sp>
          <p:nvSpPr>
            <p:cNvPr id="16" name="文本框 60">
              <a:extLst>
                <a:ext uri="{FF2B5EF4-FFF2-40B4-BE49-F238E27FC236}">
                  <a16:creationId xmlns:a16="http://schemas.microsoft.com/office/drawing/2014/main" xmlns="" id="{80F0572D-2D50-4D2F-8B78-E60D1B039D0D}"/>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色敏探测器结构与工作原理 </a:t>
              </a:r>
            </a:p>
          </p:txBody>
        </p:sp>
        <p:sp>
          <p:nvSpPr>
            <p:cNvPr id="23" name="矩形 22">
              <a:extLst>
                <a:ext uri="{FF2B5EF4-FFF2-40B4-BE49-F238E27FC236}">
                  <a16:creationId xmlns:a16="http://schemas.microsoft.com/office/drawing/2014/main" xmlns="" id="{F4E47BAF-63AA-43EE-94E7-108BC01FD84A}"/>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AC7A5765-9B3A-4A9E-8B43-83840F3138E7}"/>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xmlns="" id="{F4C5C796-0066-4470-95B8-8F21FD3D686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6" name="直接连接符 58">
              <a:extLst>
                <a:ext uri="{FF2B5EF4-FFF2-40B4-BE49-F238E27FC236}">
                  <a16:creationId xmlns:a16="http://schemas.microsoft.com/office/drawing/2014/main" xmlns="" id="{643EA990-0013-4EFE-BA9B-D8FE17B44F56}"/>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xmlns="" id="{4F34FBC3-A292-4969-9249-D8E3CABF972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8" name="矩形 27">
              <a:extLst>
                <a:ext uri="{FF2B5EF4-FFF2-40B4-BE49-F238E27FC236}">
                  <a16:creationId xmlns:a16="http://schemas.microsoft.com/office/drawing/2014/main" xmlns="" id="{88E098DB-E678-4C66-8D78-22AF097C02A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50533"/>
                                        </p:tgtEl>
                                        <p:attrNameLst>
                                          <p:attrName>style.visibility</p:attrName>
                                        </p:attrNameLst>
                                      </p:cBhvr>
                                      <p:to>
                                        <p:strVal val="visible"/>
                                      </p:to>
                                    </p:set>
                                    <p:animEffect transition="in" filter="box(in)">
                                      <p:cBhvr>
                                        <p:cTn id="7" dur="500"/>
                                        <p:tgtEl>
                                          <p:spTgt spid="15053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ox(in)">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ox(in)">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ox(in)">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7"/>
          <p:cNvGraphicFramePr>
            <a:graphicFrameLocks noChangeAspect="1"/>
          </p:cNvGraphicFramePr>
          <p:nvPr>
            <p:extLst>
              <p:ext uri="{D42A27DB-BD31-4B8C-83A1-F6EECF244321}">
                <p14:modId xmlns:p14="http://schemas.microsoft.com/office/powerpoint/2010/main" val="1637772556"/>
              </p:ext>
            </p:extLst>
          </p:nvPr>
        </p:nvGraphicFramePr>
        <p:xfrm>
          <a:off x="8059535" y="1617697"/>
          <a:ext cx="3689350" cy="3468688"/>
        </p:xfrm>
        <a:graphic>
          <a:graphicData uri="http://schemas.openxmlformats.org/presentationml/2006/ole">
            <mc:AlternateContent xmlns:mc="http://schemas.openxmlformats.org/markup-compatibility/2006">
              <mc:Choice xmlns:v="urn:schemas-microsoft-com:vml" Requires="v">
                <p:oleObj spid="_x0000_s5187" name="Visio" r:id="rId3" imgW="2872645" imgH="2705910" progId="Visio.Drawing.11">
                  <p:embed/>
                </p:oleObj>
              </mc:Choice>
              <mc:Fallback>
                <p:oleObj name="Visio" r:id="rId3" imgW="2872645" imgH="2705910"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9535" y="1617697"/>
                        <a:ext cx="3689350" cy="3468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9"/>
          <p:cNvGraphicFramePr>
            <a:graphicFrameLocks noChangeAspect="1"/>
          </p:cNvGraphicFramePr>
          <p:nvPr>
            <p:extLst>
              <p:ext uri="{D42A27DB-BD31-4B8C-83A1-F6EECF244321}">
                <p14:modId xmlns:p14="http://schemas.microsoft.com/office/powerpoint/2010/main" val="3391990645"/>
              </p:ext>
            </p:extLst>
          </p:nvPr>
        </p:nvGraphicFramePr>
        <p:xfrm>
          <a:off x="4944117" y="5474779"/>
          <a:ext cx="3003550" cy="844550"/>
        </p:xfrm>
        <a:graphic>
          <a:graphicData uri="http://schemas.openxmlformats.org/presentationml/2006/ole">
            <mc:AlternateContent xmlns:mc="http://schemas.openxmlformats.org/markup-compatibility/2006">
              <mc:Choice xmlns:v="urn:schemas-microsoft-com:vml" Requires="v">
                <p:oleObj spid="_x0000_s5188" name="Equation" r:id="rId5" imgW="812520" imgH="228600" progId="Equation.DSMT4">
                  <p:embed/>
                </p:oleObj>
              </mc:Choice>
              <mc:Fallback>
                <p:oleObj name="Equation" r:id="rId5" imgW="812520" imgH="2286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4117" y="5474779"/>
                        <a:ext cx="3003550" cy="844550"/>
                      </a:xfrm>
                      <a:prstGeom prst="rect">
                        <a:avLst/>
                      </a:prstGeom>
                      <a:solidFill>
                        <a:srgbClr val="FFFF00"/>
                      </a:solidFill>
                    </p:spPr>
                  </p:pic>
                </p:oleObj>
              </mc:Fallback>
            </mc:AlternateContent>
          </a:graphicData>
        </a:graphic>
      </p:graphicFrame>
      <p:sp>
        <p:nvSpPr>
          <p:cNvPr id="4" name="TextBox 3"/>
          <p:cNvSpPr txBox="1">
            <a:spLocks noChangeArrowheads="1"/>
          </p:cNvSpPr>
          <p:nvPr/>
        </p:nvSpPr>
        <p:spPr bwMode="auto">
          <a:xfrm>
            <a:off x="703262" y="5604667"/>
            <a:ext cx="3988339" cy="584775"/>
          </a:xfrm>
          <a:prstGeom prst="rect">
            <a:avLst/>
          </a:prstGeom>
          <a:noFill/>
          <a:ln w="9525">
            <a:noFill/>
            <a:miter lim="800000"/>
            <a:headEnd/>
            <a:tailEnd/>
          </a:ln>
        </p:spPr>
        <p:txBody>
          <a:bodyPr wrap="square">
            <a:spAutoFit/>
          </a:bodyPr>
          <a:lstStyle/>
          <a:p>
            <a:pPr defTabSz="914400"/>
            <a:r>
              <a:rPr lang="zh-CN" altLang="en-US" sz="3200" b="1" dirty="0">
                <a:latin typeface="微软雅黑" pitchFamily="34" charset="-122"/>
                <a:ea typeface="微软雅黑" pitchFamily="34" charset="-122"/>
              </a:rPr>
              <a:t>单色入射光强一定时</a:t>
            </a:r>
          </a:p>
        </p:txBody>
      </p:sp>
      <p:sp>
        <p:nvSpPr>
          <p:cNvPr id="5" name="TextBox 4"/>
          <p:cNvSpPr txBox="1">
            <a:spLocks noChangeArrowheads="1"/>
          </p:cNvSpPr>
          <p:nvPr/>
        </p:nvSpPr>
        <p:spPr bwMode="auto">
          <a:xfrm>
            <a:off x="703262" y="1685925"/>
            <a:ext cx="7176141" cy="2677656"/>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微软雅黑" pitchFamily="34" charset="-122"/>
                <a:ea typeface="微软雅黑" pitchFamily="34" charset="-122"/>
              </a:rPr>
              <a:t>当入射光强度保持一定时，器件中两只光电二极管</a:t>
            </a:r>
            <a:r>
              <a:rPr lang="zh-CN" altLang="en-US" sz="2800" b="1" dirty="0">
                <a:solidFill>
                  <a:srgbClr val="0000CC"/>
                </a:solidFill>
                <a:latin typeface="微软雅黑" pitchFamily="34" charset="-122"/>
                <a:ea typeface="微软雅黑" pitchFamily="34" charset="-122"/>
              </a:rPr>
              <a:t>短路电流比值</a:t>
            </a:r>
            <a:r>
              <a:rPr lang="en-US" sz="2800" b="1" dirty="0">
                <a:latin typeface="微软雅黑" pitchFamily="34" charset="-122"/>
                <a:ea typeface="微软雅黑" pitchFamily="34" charset="-122"/>
              </a:rPr>
              <a:t> </a:t>
            </a:r>
            <a:r>
              <a:rPr lang="zh-CN" altLang="en-US" sz="2800" b="1" dirty="0">
                <a:latin typeface="微软雅黑" pitchFamily="34" charset="-122"/>
                <a:ea typeface="微软雅黑" pitchFamily="34" charset="-122"/>
              </a:rPr>
              <a:t>与</a:t>
            </a:r>
            <a:r>
              <a:rPr lang="zh-CN" altLang="en-US" sz="2800" b="1" dirty="0">
                <a:solidFill>
                  <a:srgbClr val="FF0000"/>
                </a:solidFill>
                <a:latin typeface="微软雅黑" pitchFamily="34" charset="-122"/>
                <a:ea typeface="微软雅黑" pitchFamily="34" charset="-122"/>
              </a:rPr>
              <a:t>入射单色光波长存在一一对应关系</a:t>
            </a:r>
            <a:r>
              <a:rPr lang="zh-CN" altLang="en-US" sz="2800" b="1" dirty="0">
                <a:latin typeface="微软雅黑" pitchFamily="34" charset="-122"/>
                <a:ea typeface="微软雅黑" pitchFamily="34" charset="-122"/>
              </a:rPr>
              <a:t>，根据标定的曲线及对应关系，即可唯一确定该单色光的波长。</a:t>
            </a:r>
          </a:p>
        </p:txBody>
      </p:sp>
      <p:grpSp>
        <p:nvGrpSpPr>
          <p:cNvPr id="12" name="组合 11">
            <a:extLst>
              <a:ext uri="{FF2B5EF4-FFF2-40B4-BE49-F238E27FC236}">
                <a16:creationId xmlns:a16="http://schemas.microsoft.com/office/drawing/2014/main" xmlns="" id="{F28D01FB-9DB8-4A51-9181-3CB75A574185}"/>
              </a:ext>
            </a:extLst>
          </p:cNvPr>
          <p:cNvGrpSpPr/>
          <p:nvPr/>
        </p:nvGrpSpPr>
        <p:grpSpPr>
          <a:xfrm>
            <a:off x="0" y="293282"/>
            <a:ext cx="13161246" cy="7421968"/>
            <a:chOff x="0" y="293282"/>
            <a:chExt cx="13161246" cy="7421968"/>
          </a:xfrm>
        </p:grpSpPr>
        <p:sp>
          <p:nvSpPr>
            <p:cNvPr id="18" name="文本框 60">
              <a:extLst>
                <a:ext uri="{FF2B5EF4-FFF2-40B4-BE49-F238E27FC236}">
                  <a16:creationId xmlns:a16="http://schemas.microsoft.com/office/drawing/2014/main" xmlns="" id="{51D3473F-25C9-4769-9C9F-3D99B9D70D8B}"/>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色敏探测器结构与工作原理 </a:t>
              </a:r>
            </a:p>
          </p:txBody>
        </p:sp>
        <p:sp>
          <p:nvSpPr>
            <p:cNvPr id="19" name="矩形 18">
              <a:extLst>
                <a:ext uri="{FF2B5EF4-FFF2-40B4-BE49-F238E27FC236}">
                  <a16:creationId xmlns:a16="http://schemas.microsoft.com/office/drawing/2014/main" xmlns="" id="{6FD7D22D-8E64-4488-A73F-779677A60C43}"/>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xmlns="" id="{4340915F-8E28-4319-83E4-440AC91BB20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xmlns="" id="{62E73EEF-086D-42EF-9802-D3E7430F524F}"/>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xmlns="" id="{F2E12309-E7EA-459A-A36F-4F154616954B}"/>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xmlns="" id="{E313DB0D-6494-4884-8B9B-8A052D4EF4F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xmlns="" id="{AA15AC85-B303-4BD0-AF99-E81FD9F8216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i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i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矩形 1"/>
          <p:cNvSpPr>
            <a:spLocks noChangeArrowheads="1"/>
          </p:cNvSpPr>
          <p:nvPr/>
        </p:nvSpPr>
        <p:spPr bwMode="auto">
          <a:xfrm>
            <a:off x="8858819" y="4558268"/>
            <a:ext cx="1692275" cy="122237"/>
          </a:xfrm>
          <a:prstGeom prst="rect">
            <a:avLst/>
          </a:prstGeom>
          <a:solidFill>
            <a:srgbClr val="FF0000"/>
          </a:solidFill>
          <a:ln w="9525"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1030" name="矩形 2"/>
          <p:cNvSpPr>
            <a:spLocks noChangeArrowheads="1"/>
          </p:cNvSpPr>
          <p:nvPr/>
        </p:nvSpPr>
        <p:spPr bwMode="auto">
          <a:xfrm>
            <a:off x="7155432" y="4556680"/>
            <a:ext cx="1693862" cy="123825"/>
          </a:xfrm>
          <a:prstGeom prst="rect">
            <a:avLst/>
          </a:prstGeom>
          <a:solidFill>
            <a:srgbClr val="00CC00"/>
          </a:solidFill>
          <a:ln w="9525"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1031" name="矩形 3"/>
          <p:cNvSpPr>
            <a:spLocks noChangeArrowheads="1"/>
          </p:cNvSpPr>
          <p:nvPr/>
        </p:nvSpPr>
        <p:spPr bwMode="auto">
          <a:xfrm>
            <a:off x="5499669" y="4556680"/>
            <a:ext cx="1692275" cy="123825"/>
          </a:xfrm>
          <a:prstGeom prst="rect">
            <a:avLst/>
          </a:prstGeom>
          <a:solidFill>
            <a:schemeClr val="tx2"/>
          </a:solidFill>
          <a:ln w="9525"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1032" name="矩形 4"/>
          <p:cNvSpPr>
            <a:spLocks noChangeArrowheads="1"/>
          </p:cNvSpPr>
          <p:nvPr/>
        </p:nvSpPr>
        <p:spPr bwMode="auto">
          <a:xfrm>
            <a:off x="4799582" y="3967718"/>
            <a:ext cx="5741987" cy="588962"/>
          </a:xfrm>
          <a:prstGeom prst="rect">
            <a:avLst/>
          </a:prstGeom>
          <a:noFill/>
          <a:ln w="38100"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6" name="矩形 5"/>
          <p:cNvSpPr/>
          <p:nvPr/>
        </p:nvSpPr>
        <p:spPr bwMode="auto">
          <a:xfrm>
            <a:off x="4799582" y="3821668"/>
            <a:ext cx="5741987" cy="146050"/>
          </a:xfrm>
          <a:prstGeom prst="rect">
            <a:avLst/>
          </a:prstGeom>
          <a:solidFill>
            <a:schemeClr val="accent3">
              <a:lumMod val="85000"/>
            </a:schemeClr>
          </a:solidFill>
          <a:ln w="38100" cap="flat" cmpd="sng" algn="ctr">
            <a:solidFill>
              <a:srgbClr val="000000"/>
            </a:solidFill>
            <a:prstDash val="solid"/>
            <a:round/>
            <a:headEnd type="none" w="med" len="med"/>
            <a:tailEnd type="none" w="med" len="med"/>
          </a:ln>
          <a:effectLst/>
        </p:spPr>
        <p:txBody>
          <a:bodyPr/>
          <a:lstStyle/>
          <a:p>
            <a:pPr defTabSz="914400">
              <a:defRPr/>
            </a:pPr>
            <a:endParaRPr lang="zh-CN" altLang="en-US" sz="2400" b="1">
              <a:latin typeface="楷体_GB2312" pitchFamily="49" charset="-122"/>
              <a:ea typeface="楷体_GB2312" pitchFamily="49" charset="-122"/>
            </a:endParaRPr>
          </a:p>
        </p:txBody>
      </p:sp>
      <p:sp>
        <p:nvSpPr>
          <p:cNvPr id="10" name="矩形 9"/>
          <p:cNvSpPr/>
          <p:nvPr/>
        </p:nvSpPr>
        <p:spPr bwMode="auto">
          <a:xfrm>
            <a:off x="5536182" y="3302555"/>
            <a:ext cx="1471612" cy="515938"/>
          </a:xfrm>
          <a:prstGeom prst="rect">
            <a:avLst/>
          </a:prstGeom>
          <a:solidFill>
            <a:schemeClr val="tx2">
              <a:lumMod val="60000"/>
              <a:lumOff val="40000"/>
            </a:schemeClr>
          </a:solidFill>
          <a:ln w="38100" cap="flat" cmpd="sng" algn="ctr">
            <a:solidFill>
              <a:srgbClr val="000000"/>
            </a:solidFill>
            <a:prstDash val="solid"/>
            <a:round/>
            <a:headEnd type="none" w="med" len="med"/>
            <a:tailEnd type="none" w="med" len="med"/>
          </a:ln>
          <a:effectLst/>
        </p:spPr>
        <p:txBody>
          <a:bodyPr/>
          <a:lstStyle/>
          <a:p>
            <a:pPr defTabSz="914400">
              <a:defRPr/>
            </a:pPr>
            <a:endParaRPr lang="zh-CN" altLang="en-US" sz="2400" b="1">
              <a:latin typeface="楷体_GB2312" pitchFamily="49" charset="-122"/>
              <a:ea typeface="楷体_GB2312" pitchFamily="49" charset="-122"/>
            </a:endParaRPr>
          </a:p>
        </p:txBody>
      </p:sp>
      <p:sp>
        <p:nvSpPr>
          <p:cNvPr id="1035" name="矩形 10"/>
          <p:cNvSpPr>
            <a:spLocks noChangeArrowheads="1"/>
          </p:cNvSpPr>
          <p:nvPr/>
        </p:nvSpPr>
        <p:spPr bwMode="auto">
          <a:xfrm>
            <a:off x="5536182" y="3081893"/>
            <a:ext cx="1471612" cy="220662"/>
          </a:xfrm>
          <a:prstGeom prst="rect">
            <a:avLst/>
          </a:prstGeom>
          <a:solidFill>
            <a:srgbClr val="FFC000"/>
          </a:solidFill>
          <a:ln w="38100"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1036" name="Rectangle 2" descr="宽下对角线"/>
          <p:cNvSpPr>
            <a:spLocks noChangeArrowheads="1"/>
          </p:cNvSpPr>
          <p:nvPr/>
        </p:nvSpPr>
        <p:spPr bwMode="auto">
          <a:xfrm>
            <a:off x="6066407" y="2788205"/>
            <a:ext cx="420687" cy="284163"/>
          </a:xfrm>
          <a:prstGeom prst="rect">
            <a:avLst/>
          </a:prstGeom>
          <a:pattFill prst="wdDnDiag">
            <a:fgClr>
              <a:srgbClr val="000000"/>
            </a:fgClr>
            <a:bgClr>
              <a:srgbClr val="FFFFFF"/>
            </a:bgClr>
          </a:pattFill>
          <a:ln w="38100">
            <a:solidFill>
              <a:schemeClr val="tx1"/>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sp>
        <p:nvSpPr>
          <p:cNvPr id="1037" name="矩形 12"/>
          <p:cNvSpPr>
            <a:spLocks noChangeArrowheads="1"/>
          </p:cNvSpPr>
          <p:nvPr/>
        </p:nvSpPr>
        <p:spPr bwMode="auto">
          <a:xfrm>
            <a:off x="7336407" y="3305730"/>
            <a:ext cx="1473200" cy="515938"/>
          </a:xfrm>
          <a:prstGeom prst="rect">
            <a:avLst/>
          </a:prstGeom>
          <a:solidFill>
            <a:srgbClr val="00CC00"/>
          </a:solidFill>
          <a:ln w="38100"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1038" name="矩形 13"/>
          <p:cNvSpPr>
            <a:spLocks noChangeArrowheads="1"/>
          </p:cNvSpPr>
          <p:nvPr/>
        </p:nvSpPr>
        <p:spPr bwMode="auto">
          <a:xfrm>
            <a:off x="7336407" y="3085068"/>
            <a:ext cx="1473200" cy="220662"/>
          </a:xfrm>
          <a:prstGeom prst="rect">
            <a:avLst/>
          </a:prstGeom>
          <a:solidFill>
            <a:srgbClr val="FFC000"/>
          </a:solidFill>
          <a:ln w="38100"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1039" name="矩形 15"/>
          <p:cNvSpPr>
            <a:spLocks noChangeArrowheads="1"/>
          </p:cNvSpPr>
          <p:nvPr/>
        </p:nvSpPr>
        <p:spPr bwMode="auto">
          <a:xfrm>
            <a:off x="9062019" y="3305730"/>
            <a:ext cx="1473200" cy="515938"/>
          </a:xfrm>
          <a:prstGeom prst="rect">
            <a:avLst/>
          </a:prstGeom>
          <a:solidFill>
            <a:srgbClr val="FF0000"/>
          </a:solidFill>
          <a:ln w="38100"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1040" name="矩形 16"/>
          <p:cNvSpPr>
            <a:spLocks noChangeArrowheads="1"/>
          </p:cNvSpPr>
          <p:nvPr/>
        </p:nvSpPr>
        <p:spPr bwMode="auto">
          <a:xfrm>
            <a:off x="9062019" y="3085068"/>
            <a:ext cx="1473200" cy="220662"/>
          </a:xfrm>
          <a:prstGeom prst="rect">
            <a:avLst/>
          </a:prstGeom>
          <a:solidFill>
            <a:srgbClr val="FFC000"/>
          </a:solidFill>
          <a:ln w="38100"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1041" name="Rectangle 2" descr="宽下对角线"/>
          <p:cNvSpPr>
            <a:spLocks noChangeArrowheads="1"/>
          </p:cNvSpPr>
          <p:nvPr/>
        </p:nvSpPr>
        <p:spPr bwMode="auto">
          <a:xfrm>
            <a:off x="4797994" y="3493055"/>
            <a:ext cx="441325" cy="328613"/>
          </a:xfrm>
          <a:prstGeom prst="rect">
            <a:avLst/>
          </a:prstGeom>
          <a:pattFill prst="wdDnDiag">
            <a:fgClr>
              <a:srgbClr val="000000"/>
            </a:fgClr>
            <a:bgClr>
              <a:srgbClr val="FFFFFF"/>
            </a:bgClr>
          </a:pattFill>
          <a:ln w="38100">
            <a:solidFill>
              <a:schemeClr val="tx1"/>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sp>
        <p:nvSpPr>
          <p:cNvPr id="1042" name="TextBox 33"/>
          <p:cNvSpPr txBox="1">
            <a:spLocks noChangeArrowheads="1"/>
          </p:cNvSpPr>
          <p:nvPr/>
        </p:nvSpPr>
        <p:spPr bwMode="auto">
          <a:xfrm>
            <a:off x="10620944" y="4069318"/>
            <a:ext cx="1511300" cy="457200"/>
          </a:xfrm>
          <a:prstGeom prst="rect">
            <a:avLst/>
          </a:prstGeom>
          <a:noFill/>
          <a:ln w="9525">
            <a:noFill/>
            <a:miter lim="800000"/>
            <a:headEnd/>
            <a:tailEnd/>
          </a:ln>
        </p:spPr>
        <p:txBody>
          <a:bodyPr>
            <a:spAutoFit/>
          </a:bodyPr>
          <a:lstStyle/>
          <a:p>
            <a:pPr defTabSz="914400"/>
            <a:r>
              <a:rPr lang="zh-CN" altLang="en-US" sz="2400" b="1">
                <a:latin typeface="微软雅黑" pitchFamily="34" charset="-122"/>
                <a:ea typeface="微软雅黑" pitchFamily="34" charset="-122"/>
              </a:rPr>
              <a:t>玻璃基片</a:t>
            </a:r>
          </a:p>
        </p:txBody>
      </p:sp>
      <p:sp>
        <p:nvSpPr>
          <p:cNvPr id="1043" name="TextBox 35"/>
          <p:cNvSpPr txBox="1">
            <a:spLocks noChangeArrowheads="1"/>
          </p:cNvSpPr>
          <p:nvPr/>
        </p:nvSpPr>
        <p:spPr bwMode="auto">
          <a:xfrm>
            <a:off x="10620944" y="3642280"/>
            <a:ext cx="1955800" cy="457200"/>
          </a:xfrm>
          <a:prstGeom prst="rect">
            <a:avLst/>
          </a:prstGeom>
          <a:noFill/>
          <a:ln w="9525">
            <a:noFill/>
            <a:miter lim="800000"/>
            <a:headEnd/>
            <a:tailEnd/>
          </a:ln>
        </p:spPr>
        <p:txBody>
          <a:bodyPr>
            <a:spAutoFit/>
          </a:bodyPr>
          <a:lstStyle/>
          <a:p>
            <a:pPr defTabSz="914400"/>
            <a:r>
              <a:rPr lang="zh-CN" altLang="en-US" sz="2400" b="1">
                <a:latin typeface="微软雅黑" pitchFamily="34" charset="-122"/>
                <a:ea typeface="微软雅黑" pitchFamily="34" charset="-122"/>
              </a:rPr>
              <a:t>透明导电膜</a:t>
            </a:r>
          </a:p>
        </p:txBody>
      </p:sp>
      <p:sp>
        <p:nvSpPr>
          <p:cNvPr id="1044" name="TextBox 36"/>
          <p:cNvSpPr txBox="1">
            <a:spLocks noChangeArrowheads="1"/>
          </p:cNvSpPr>
          <p:nvPr/>
        </p:nvSpPr>
        <p:spPr bwMode="auto">
          <a:xfrm>
            <a:off x="10665394" y="3197780"/>
            <a:ext cx="844550" cy="457200"/>
          </a:xfrm>
          <a:prstGeom prst="rect">
            <a:avLst/>
          </a:prstGeom>
          <a:noFill/>
          <a:ln w="9525">
            <a:noFill/>
            <a:miter lim="800000"/>
            <a:headEnd/>
            <a:tailEnd/>
          </a:ln>
        </p:spPr>
        <p:txBody>
          <a:bodyPr>
            <a:spAutoFit/>
          </a:bodyPr>
          <a:lstStyle/>
          <a:p>
            <a:pPr defTabSz="914400"/>
            <a:r>
              <a:rPr lang="en-US" altLang="zh-CN" sz="2400" b="1">
                <a:latin typeface="Times New Roman" pitchFamily="18" charset="0"/>
                <a:ea typeface="黑体" pitchFamily="49" charset="-122"/>
                <a:cs typeface="Times New Roman" pitchFamily="18" charset="0"/>
              </a:rPr>
              <a:t>PD</a:t>
            </a:r>
            <a:endParaRPr lang="zh-CN" altLang="en-US" sz="2400" b="1">
              <a:latin typeface="Times New Roman" pitchFamily="18" charset="0"/>
              <a:ea typeface="黑体" pitchFamily="49" charset="-122"/>
              <a:cs typeface="Times New Roman" pitchFamily="18" charset="0"/>
            </a:endParaRPr>
          </a:p>
        </p:txBody>
      </p:sp>
      <p:sp>
        <p:nvSpPr>
          <p:cNvPr id="1045" name="TextBox 37"/>
          <p:cNvSpPr txBox="1">
            <a:spLocks noChangeArrowheads="1"/>
          </p:cNvSpPr>
          <p:nvPr/>
        </p:nvSpPr>
        <p:spPr bwMode="auto">
          <a:xfrm>
            <a:off x="10620944" y="2708830"/>
            <a:ext cx="933450" cy="457200"/>
          </a:xfrm>
          <a:prstGeom prst="rect">
            <a:avLst/>
          </a:prstGeom>
          <a:noFill/>
          <a:ln w="9525">
            <a:noFill/>
            <a:miter lim="800000"/>
            <a:headEnd/>
            <a:tailEnd/>
          </a:ln>
        </p:spPr>
        <p:txBody>
          <a:bodyPr>
            <a:spAutoFit/>
          </a:bodyPr>
          <a:lstStyle/>
          <a:p>
            <a:pPr defTabSz="914400"/>
            <a:r>
              <a:rPr lang="zh-CN" altLang="en-US" sz="2400" b="1">
                <a:latin typeface="微软雅黑" pitchFamily="34" charset="-122"/>
                <a:ea typeface="微软雅黑" pitchFamily="34" charset="-122"/>
              </a:rPr>
              <a:t>电极</a:t>
            </a:r>
          </a:p>
        </p:txBody>
      </p:sp>
      <p:sp>
        <p:nvSpPr>
          <p:cNvPr id="1046" name="TextBox 38"/>
          <p:cNvSpPr txBox="1">
            <a:spLocks noChangeArrowheads="1"/>
          </p:cNvSpPr>
          <p:nvPr/>
        </p:nvSpPr>
        <p:spPr bwMode="auto">
          <a:xfrm>
            <a:off x="4442394" y="2708830"/>
            <a:ext cx="933450" cy="457200"/>
          </a:xfrm>
          <a:prstGeom prst="rect">
            <a:avLst/>
          </a:prstGeom>
          <a:noFill/>
          <a:ln w="9525">
            <a:noFill/>
            <a:miter lim="800000"/>
            <a:headEnd/>
            <a:tailEnd/>
          </a:ln>
        </p:spPr>
        <p:txBody>
          <a:bodyPr>
            <a:spAutoFit/>
          </a:bodyPr>
          <a:lstStyle/>
          <a:p>
            <a:pPr defTabSz="914400"/>
            <a:r>
              <a:rPr lang="zh-CN" altLang="en-US" sz="2400" b="1">
                <a:latin typeface="微软雅黑" pitchFamily="34" charset="-122"/>
                <a:ea typeface="微软雅黑" pitchFamily="34" charset="-122"/>
              </a:rPr>
              <a:t>电极</a:t>
            </a:r>
          </a:p>
        </p:txBody>
      </p:sp>
      <p:sp>
        <p:nvSpPr>
          <p:cNvPr id="1047" name="TextBox 39"/>
          <p:cNvSpPr txBox="1">
            <a:spLocks noChangeArrowheads="1"/>
          </p:cNvSpPr>
          <p:nvPr/>
        </p:nvSpPr>
        <p:spPr bwMode="auto">
          <a:xfrm>
            <a:off x="10620944" y="4563030"/>
            <a:ext cx="1200150" cy="457200"/>
          </a:xfrm>
          <a:prstGeom prst="rect">
            <a:avLst/>
          </a:prstGeom>
          <a:noFill/>
          <a:ln w="9525">
            <a:noFill/>
            <a:miter lim="800000"/>
            <a:headEnd/>
            <a:tailEnd/>
          </a:ln>
        </p:spPr>
        <p:txBody>
          <a:bodyPr>
            <a:spAutoFit/>
          </a:bodyPr>
          <a:lstStyle/>
          <a:p>
            <a:pPr defTabSz="914400"/>
            <a:r>
              <a:rPr lang="zh-CN" altLang="en-US" sz="2400" b="1">
                <a:latin typeface="微软雅黑" pitchFamily="34" charset="-122"/>
                <a:ea typeface="微软雅黑" pitchFamily="34" charset="-122"/>
              </a:rPr>
              <a:t>滤光片</a:t>
            </a:r>
          </a:p>
        </p:txBody>
      </p:sp>
      <p:sp>
        <p:nvSpPr>
          <p:cNvPr id="1048" name="TextBox 40"/>
          <p:cNvSpPr txBox="1">
            <a:spLocks noChangeArrowheads="1"/>
          </p:cNvSpPr>
          <p:nvPr/>
        </p:nvSpPr>
        <p:spPr bwMode="auto">
          <a:xfrm>
            <a:off x="5642544" y="4709080"/>
            <a:ext cx="488950" cy="457200"/>
          </a:xfrm>
          <a:prstGeom prst="rect">
            <a:avLst/>
          </a:prstGeom>
          <a:noFill/>
          <a:ln w="9525">
            <a:noFill/>
            <a:miter lim="800000"/>
            <a:headEnd/>
            <a:tailEnd/>
          </a:ln>
        </p:spPr>
        <p:txBody>
          <a:bodyPr>
            <a:spAutoFit/>
          </a:bodyPr>
          <a:lstStyle/>
          <a:p>
            <a:pPr defTabSz="914400"/>
            <a:r>
              <a:rPr lang="en-US" altLang="zh-CN" sz="2400" b="1">
                <a:solidFill>
                  <a:schemeClr val="tx2"/>
                </a:solidFill>
                <a:latin typeface="Times New Roman" pitchFamily="18" charset="0"/>
                <a:ea typeface="黑体" pitchFamily="49" charset="-122"/>
                <a:cs typeface="Times New Roman" pitchFamily="18" charset="0"/>
              </a:rPr>
              <a:t>B</a:t>
            </a:r>
            <a:endParaRPr lang="zh-CN" altLang="en-US" sz="2400" b="1">
              <a:solidFill>
                <a:schemeClr val="tx2"/>
              </a:solidFill>
              <a:latin typeface="Times New Roman" pitchFamily="18" charset="0"/>
              <a:ea typeface="黑体" pitchFamily="49" charset="-122"/>
              <a:cs typeface="Times New Roman" pitchFamily="18" charset="0"/>
            </a:endParaRPr>
          </a:p>
        </p:txBody>
      </p:sp>
      <p:sp>
        <p:nvSpPr>
          <p:cNvPr id="1049" name="Freeform 5"/>
          <p:cNvSpPr>
            <a:spLocks/>
          </p:cNvSpPr>
          <p:nvPr/>
        </p:nvSpPr>
        <p:spPr bwMode="auto">
          <a:xfrm rot="16200000">
            <a:off x="5731444" y="5064680"/>
            <a:ext cx="933450" cy="222250"/>
          </a:xfrm>
          <a:custGeom>
            <a:avLst/>
            <a:gdLst>
              <a:gd name="T0" fmla="*/ 0 w 2665"/>
              <a:gd name="T1" fmla="*/ 2147483647 h 683"/>
              <a:gd name="T2" fmla="*/ 2147483647 w 2665"/>
              <a:gd name="T3" fmla="*/ 2147483647 h 683"/>
              <a:gd name="T4" fmla="*/ 2147483647 w 2665"/>
              <a:gd name="T5" fmla="*/ 2147483647 h 683"/>
              <a:gd name="T6" fmla="*/ 2147483647 w 2665"/>
              <a:gd name="T7" fmla="*/ 2147483647 h 683"/>
              <a:gd name="T8" fmla="*/ 2147483647 w 2665"/>
              <a:gd name="T9" fmla="*/ 2147483647 h 683"/>
              <a:gd name="T10" fmla="*/ 2147483647 w 2665"/>
              <a:gd name="T11" fmla="*/ 2147483647 h 683"/>
              <a:gd name="T12" fmla="*/ 2147483647 w 2665"/>
              <a:gd name="T13" fmla="*/ 2147483647 h 683"/>
              <a:gd name="T14" fmla="*/ 2147483647 w 2665"/>
              <a:gd name="T15" fmla="*/ 2147483647 h 683"/>
              <a:gd name="T16" fmla="*/ 2147483647 w 2665"/>
              <a:gd name="T17" fmla="*/ 2147483647 h 683"/>
              <a:gd name="T18" fmla="*/ 2147483647 w 2665"/>
              <a:gd name="T19" fmla="*/ 2147483647 h 683"/>
              <a:gd name="T20" fmla="*/ 2147483647 w 2665"/>
              <a:gd name="T21" fmla="*/ 2147483647 h 683"/>
              <a:gd name="T22" fmla="*/ 2147483647 w 2665"/>
              <a:gd name="T23" fmla="*/ 2147483647 h 683"/>
              <a:gd name="T24" fmla="*/ 2147483647 w 2665"/>
              <a:gd name="T25" fmla="*/ 2147483647 h 683"/>
              <a:gd name="T26" fmla="*/ 2147483647 w 2665"/>
              <a:gd name="T27" fmla="*/ 2147483647 h 683"/>
              <a:gd name="T28" fmla="*/ 2147483647 w 2665"/>
              <a:gd name="T29" fmla="*/ 2147483647 h 683"/>
              <a:gd name="T30" fmla="*/ 2147483647 w 2665"/>
              <a:gd name="T31" fmla="*/ 2147483647 h 683"/>
              <a:gd name="T32" fmla="*/ 2147483647 w 2665"/>
              <a:gd name="T33" fmla="*/ 2147483647 h 683"/>
              <a:gd name="T34" fmla="*/ 2147483647 w 2665"/>
              <a:gd name="T35" fmla="*/ 2147483647 h 683"/>
              <a:gd name="T36" fmla="*/ 2147483647 w 2665"/>
              <a:gd name="T37" fmla="*/ 2147483647 h 683"/>
              <a:gd name="T38" fmla="*/ 2147483647 w 2665"/>
              <a:gd name="T39" fmla="*/ 2147483647 h 683"/>
              <a:gd name="T40" fmla="*/ 2147483647 w 2665"/>
              <a:gd name="T41" fmla="*/ 2147483647 h 683"/>
              <a:gd name="T42" fmla="*/ 2147483647 w 2665"/>
              <a:gd name="T43" fmla="*/ 2147483647 h 683"/>
              <a:gd name="T44" fmla="*/ 2147483647 w 2665"/>
              <a:gd name="T45" fmla="*/ 2147483647 h 683"/>
              <a:gd name="T46" fmla="*/ 2147483647 w 2665"/>
              <a:gd name="T47" fmla="*/ 2147483647 h 683"/>
              <a:gd name="T48" fmla="*/ 2147483647 w 2665"/>
              <a:gd name="T49" fmla="*/ 2147483647 h 683"/>
              <a:gd name="T50" fmla="*/ 2147483647 w 2665"/>
              <a:gd name="T51" fmla="*/ 2147483647 h 683"/>
              <a:gd name="T52" fmla="*/ 2147483647 w 2665"/>
              <a:gd name="T53" fmla="*/ 2147483647 h 683"/>
              <a:gd name="T54" fmla="*/ 2147483647 w 2665"/>
              <a:gd name="T55" fmla="*/ 2147483647 h 683"/>
              <a:gd name="T56" fmla="*/ 2147483647 w 2665"/>
              <a:gd name="T57" fmla="*/ 2147483647 h 683"/>
              <a:gd name="T58" fmla="*/ 2147483647 w 2665"/>
              <a:gd name="T59" fmla="*/ 2147483647 h 683"/>
              <a:gd name="T60" fmla="*/ 2147483647 w 2665"/>
              <a:gd name="T61" fmla="*/ 2147483647 h 683"/>
              <a:gd name="T62" fmla="*/ 2147483647 w 2665"/>
              <a:gd name="T63" fmla="*/ 2147483647 h 683"/>
              <a:gd name="T64" fmla="*/ 2147483647 w 2665"/>
              <a:gd name="T65" fmla="*/ 2147483647 h 6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65"/>
              <a:gd name="T100" fmla="*/ 0 h 683"/>
              <a:gd name="T101" fmla="*/ 2665 w 2665"/>
              <a:gd name="T102" fmla="*/ 683 h 6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65" h="683">
                <a:moveTo>
                  <a:pt x="0" y="370"/>
                </a:moveTo>
                <a:cubicBezTo>
                  <a:pt x="5" y="352"/>
                  <a:pt x="11" y="335"/>
                  <a:pt x="25" y="305"/>
                </a:cubicBezTo>
                <a:cubicBezTo>
                  <a:pt x="39" y="275"/>
                  <a:pt x="68" y="219"/>
                  <a:pt x="87" y="188"/>
                </a:cubicBezTo>
                <a:cubicBezTo>
                  <a:pt x="106" y="157"/>
                  <a:pt x="123" y="136"/>
                  <a:pt x="138" y="119"/>
                </a:cubicBezTo>
                <a:cubicBezTo>
                  <a:pt x="153" y="102"/>
                  <a:pt x="163" y="94"/>
                  <a:pt x="178" y="83"/>
                </a:cubicBezTo>
                <a:cubicBezTo>
                  <a:pt x="193" y="72"/>
                  <a:pt x="214" y="55"/>
                  <a:pt x="229" y="50"/>
                </a:cubicBezTo>
                <a:cubicBezTo>
                  <a:pt x="244" y="45"/>
                  <a:pt x="255" y="49"/>
                  <a:pt x="269" y="50"/>
                </a:cubicBezTo>
                <a:cubicBezTo>
                  <a:pt x="283" y="51"/>
                  <a:pt x="299" y="49"/>
                  <a:pt x="316" y="57"/>
                </a:cubicBezTo>
                <a:cubicBezTo>
                  <a:pt x="333" y="65"/>
                  <a:pt x="354" y="76"/>
                  <a:pt x="374" y="97"/>
                </a:cubicBezTo>
                <a:cubicBezTo>
                  <a:pt x="394" y="118"/>
                  <a:pt x="418" y="154"/>
                  <a:pt x="436" y="181"/>
                </a:cubicBezTo>
                <a:cubicBezTo>
                  <a:pt x="454" y="208"/>
                  <a:pt x="465" y="231"/>
                  <a:pt x="480" y="261"/>
                </a:cubicBezTo>
                <a:cubicBezTo>
                  <a:pt x="495" y="291"/>
                  <a:pt x="511" y="325"/>
                  <a:pt x="527" y="359"/>
                </a:cubicBezTo>
                <a:cubicBezTo>
                  <a:pt x="543" y="393"/>
                  <a:pt x="556" y="432"/>
                  <a:pt x="574" y="465"/>
                </a:cubicBezTo>
                <a:cubicBezTo>
                  <a:pt x="592" y="498"/>
                  <a:pt x="612" y="529"/>
                  <a:pt x="636" y="559"/>
                </a:cubicBezTo>
                <a:cubicBezTo>
                  <a:pt x="660" y="589"/>
                  <a:pt x="691" y="623"/>
                  <a:pt x="720" y="643"/>
                </a:cubicBezTo>
                <a:cubicBezTo>
                  <a:pt x="749" y="663"/>
                  <a:pt x="774" y="683"/>
                  <a:pt x="807" y="679"/>
                </a:cubicBezTo>
                <a:cubicBezTo>
                  <a:pt x="840" y="675"/>
                  <a:pt x="886" y="652"/>
                  <a:pt x="920" y="621"/>
                </a:cubicBezTo>
                <a:cubicBezTo>
                  <a:pt x="954" y="590"/>
                  <a:pt x="979" y="553"/>
                  <a:pt x="1011" y="490"/>
                </a:cubicBezTo>
                <a:cubicBezTo>
                  <a:pt x="1043" y="427"/>
                  <a:pt x="1077" y="311"/>
                  <a:pt x="1112" y="243"/>
                </a:cubicBezTo>
                <a:cubicBezTo>
                  <a:pt x="1147" y="175"/>
                  <a:pt x="1186" y="122"/>
                  <a:pt x="1218" y="83"/>
                </a:cubicBezTo>
                <a:cubicBezTo>
                  <a:pt x="1250" y="44"/>
                  <a:pt x="1273" y="20"/>
                  <a:pt x="1302" y="10"/>
                </a:cubicBezTo>
                <a:cubicBezTo>
                  <a:pt x="1331" y="0"/>
                  <a:pt x="1358" y="0"/>
                  <a:pt x="1392" y="21"/>
                </a:cubicBezTo>
                <a:cubicBezTo>
                  <a:pt x="1426" y="42"/>
                  <a:pt x="1474" y="87"/>
                  <a:pt x="1509" y="137"/>
                </a:cubicBezTo>
                <a:cubicBezTo>
                  <a:pt x="1544" y="187"/>
                  <a:pt x="1579" y="273"/>
                  <a:pt x="1603" y="323"/>
                </a:cubicBezTo>
                <a:cubicBezTo>
                  <a:pt x="1627" y="373"/>
                  <a:pt x="1630" y="396"/>
                  <a:pt x="1651" y="435"/>
                </a:cubicBezTo>
                <a:cubicBezTo>
                  <a:pt x="1672" y="474"/>
                  <a:pt x="1702" y="523"/>
                  <a:pt x="1727" y="555"/>
                </a:cubicBezTo>
                <a:cubicBezTo>
                  <a:pt x="1752" y="587"/>
                  <a:pt x="1770" y="612"/>
                  <a:pt x="1803" y="628"/>
                </a:cubicBezTo>
                <a:cubicBezTo>
                  <a:pt x="1836" y="644"/>
                  <a:pt x="1884" y="668"/>
                  <a:pt x="1923" y="654"/>
                </a:cubicBezTo>
                <a:cubicBezTo>
                  <a:pt x="1962" y="640"/>
                  <a:pt x="2009" y="578"/>
                  <a:pt x="2036" y="545"/>
                </a:cubicBezTo>
                <a:cubicBezTo>
                  <a:pt x="2063" y="512"/>
                  <a:pt x="2069" y="490"/>
                  <a:pt x="2088" y="454"/>
                </a:cubicBezTo>
                <a:cubicBezTo>
                  <a:pt x="2107" y="418"/>
                  <a:pt x="2127" y="355"/>
                  <a:pt x="2149" y="330"/>
                </a:cubicBezTo>
                <a:cubicBezTo>
                  <a:pt x="2171" y="305"/>
                  <a:pt x="2136" y="309"/>
                  <a:pt x="2222" y="305"/>
                </a:cubicBezTo>
                <a:cubicBezTo>
                  <a:pt x="2308" y="301"/>
                  <a:pt x="2486" y="303"/>
                  <a:pt x="2665" y="305"/>
                </a:cubicBezTo>
              </a:path>
            </a:pathLst>
          </a:custGeom>
          <a:noFill/>
          <a:ln w="38100">
            <a:solidFill>
              <a:schemeClr val="tx1"/>
            </a:solidFill>
            <a:round/>
            <a:headEnd/>
            <a:tailEnd type="stealth" w="med" len="lg"/>
          </a:ln>
        </p:spPr>
        <p:txBody>
          <a:bodyPr vert="eaVert"/>
          <a:lstStyle/>
          <a:p>
            <a:pPr defTabSz="914400"/>
            <a:endParaRPr lang="zh-CN" altLang="en-US" sz="2800" b="1">
              <a:latin typeface="楷体_GB2312" pitchFamily="49" charset="-122"/>
              <a:ea typeface="楷体_GB2312" pitchFamily="49" charset="-122"/>
            </a:endParaRPr>
          </a:p>
        </p:txBody>
      </p:sp>
      <p:sp>
        <p:nvSpPr>
          <p:cNvPr id="1050" name="Freeform 5"/>
          <p:cNvSpPr>
            <a:spLocks/>
          </p:cNvSpPr>
          <p:nvPr/>
        </p:nvSpPr>
        <p:spPr bwMode="auto">
          <a:xfrm rot="16200000">
            <a:off x="7598344" y="5020230"/>
            <a:ext cx="933450" cy="311150"/>
          </a:xfrm>
          <a:custGeom>
            <a:avLst/>
            <a:gdLst>
              <a:gd name="T0" fmla="*/ 0 w 2665"/>
              <a:gd name="T1" fmla="*/ 2147483647 h 683"/>
              <a:gd name="T2" fmla="*/ 2147483647 w 2665"/>
              <a:gd name="T3" fmla="*/ 2147483647 h 683"/>
              <a:gd name="T4" fmla="*/ 2147483647 w 2665"/>
              <a:gd name="T5" fmla="*/ 2147483647 h 683"/>
              <a:gd name="T6" fmla="*/ 2147483647 w 2665"/>
              <a:gd name="T7" fmla="*/ 2147483647 h 683"/>
              <a:gd name="T8" fmla="*/ 2147483647 w 2665"/>
              <a:gd name="T9" fmla="*/ 2147483647 h 683"/>
              <a:gd name="T10" fmla="*/ 2147483647 w 2665"/>
              <a:gd name="T11" fmla="*/ 2147483647 h 683"/>
              <a:gd name="T12" fmla="*/ 2147483647 w 2665"/>
              <a:gd name="T13" fmla="*/ 2147483647 h 683"/>
              <a:gd name="T14" fmla="*/ 2147483647 w 2665"/>
              <a:gd name="T15" fmla="*/ 2147483647 h 683"/>
              <a:gd name="T16" fmla="*/ 2147483647 w 2665"/>
              <a:gd name="T17" fmla="*/ 2147483647 h 683"/>
              <a:gd name="T18" fmla="*/ 2147483647 w 2665"/>
              <a:gd name="T19" fmla="*/ 2147483647 h 683"/>
              <a:gd name="T20" fmla="*/ 2147483647 w 2665"/>
              <a:gd name="T21" fmla="*/ 2147483647 h 683"/>
              <a:gd name="T22" fmla="*/ 2147483647 w 2665"/>
              <a:gd name="T23" fmla="*/ 2147483647 h 683"/>
              <a:gd name="T24" fmla="*/ 2147483647 w 2665"/>
              <a:gd name="T25" fmla="*/ 2147483647 h 683"/>
              <a:gd name="T26" fmla="*/ 2147483647 w 2665"/>
              <a:gd name="T27" fmla="*/ 2147483647 h 683"/>
              <a:gd name="T28" fmla="*/ 2147483647 w 2665"/>
              <a:gd name="T29" fmla="*/ 2147483647 h 683"/>
              <a:gd name="T30" fmla="*/ 2147483647 w 2665"/>
              <a:gd name="T31" fmla="*/ 2147483647 h 683"/>
              <a:gd name="T32" fmla="*/ 2147483647 w 2665"/>
              <a:gd name="T33" fmla="*/ 2147483647 h 683"/>
              <a:gd name="T34" fmla="*/ 2147483647 w 2665"/>
              <a:gd name="T35" fmla="*/ 2147483647 h 683"/>
              <a:gd name="T36" fmla="*/ 2147483647 w 2665"/>
              <a:gd name="T37" fmla="*/ 2147483647 h 683"/>
              <a:gd name="T38" fmla="*/ 2147483647 w 2665"/>
              <a:gd name="T39" fmla="*/ 2147483647 h 683"/>
              <a:gd name="T40" fmla="*/ 2147483647 w 2665"/>
              <a:gd name="T41" fmla="*/ 2147483647 h 683"/>
              <a:gd name="T42" fmla="*/ 2147483647 w 2665"/>
              <a:gd name="T43" fmla="*/ 2147483647 h 683"/>
              <a:gd name="T44" fmla="*/ 2147483647 w 2665"/>
              <a:gd name="T45" fmla="*/ 2147483647 h 683"/>
              <a:gd name="T46" fmla="*/ 2147483647 w 2665"/>
              <a:gd name="T47" fmla="*/ 2147483647 h 683"/>
              <a:gd name="T48" fmla="*/ 2147483647 w 2665"/>
              <a:gd name="T49" fmla="*/ 2147483647 h 683"/>
              <a:gd name="T50" fmla="*/ 2147483647 w 2665"/>
              <a:gd name="T51" fmla="*/ 2147483647 h 683"/>
              <a:gd name="T52" fmla="*/ 2147483647 w 2665"/>
              <a:gd name="T53" fmla="*/ 2147483647 h 683"/>
              <a:gd name="T54" fmla="*/ 2147483647 w 2665"/>
              <a:gd name="T55" fmla="*/ 2147483647 h 683"/>
              <a:gd name="T56" fmla="*/ 2147483647 w 2665"/>
              <a:gd name="T57" fmla="*/ 2147483647 h 683"/>
              <a:gd name="T58" fmla="*/ 2147483647 w 2665"/>
              <a:gd name="T59" fmla="*/ 2147483647 h 683"/>
              <a:gd name="T60" fmla="*/ 2147483647 w 2665"/>
              <a:gd name="T61" fmla="*/ 2147483647 h 683"/>
              <a:gd name="T62" fmla="*/ 2147483647 w 2665"/>
              <a:gd name="T63" fmla="*/ 2147483647 h 683"/>
              <a:gd name="T64" fmla="*/ 2147483647 w 2665"/>
              <a:gd name="T65" fmla="*/ 2147483647 h 6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65"/>
              <a:gd name="T100" fmla="*/ 0 h 683"/>
              <a:gd name="T101" fmla="*/ 2665 w 2665"/>
              <a:gd name="T102" fmla="*/ 683 h 6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65" h="683">
                <a:moveTo>
                  <a:pt x="0" y="370"/>
                </a:moveTo>
                <a:cubicBezTo>
                  <a:pt x="5" y="352"/>
                  <a:pt x="11" y="335"/>
                  <a:pt x="25" y="305"/>
                </a:cubicBezTo>
                <a:cubicBezTo>
                  <a:pt x="39" y="275"/>
                  <a:pt x="68" y="219"/>
                  <a:pt x="87" y="188"/>
                </a:cubicBezTo>
                <a:cubicBezTo>
                  <a:pt x="106" y="157"/>
                  <a:pt x="123" y="136"/>
                  <a:pt x="138" y="119"/>
                </a:cubicBezTo>
                <a:cubicBezTo>
                  <a:pt x="153" y="102"/>
                  <a:pt x="163" y="94"/>
                  <a:pt x="178" y="83"/>
                </a:cubicBezTo>
                <a:cubicBezTo>
                  <a:pt x="193" y="72"/>
                  <a:pt x="214" y="55"/>
                  <a:pt x="229" y="50"/>
                </a:cubicBezTo>
                <a:cubicBezTo>
                  <a:pt x="244" y="45"/>
                  <a:pt x="255" y="49"/>
                  <a:pt x="269" y="50"/>
                </a:cubicBezTo>
                <a:cubicBezTo>
                  <a:pt x="283" y="51"/>
                  <a:pt x="299" y="49"/>
                  <a:pt x="316" y="57"/>
                </a:cubicBezTo>
                <a:cubicBezTo>
                  <a:pt x="333" y="65"/>
                  <a:pt x="354" y="76"/>
                  <a:pt x="374" y="97"/>
                </a:cubicBezTo>
                <a:cubicBezTo>
                  <a:pt x="394" y="118"/>
                  <a:pt x="418" y="154"/>
                  <a:pt x="436" y="181"/>
                </a:cubicBezTo>
                <a:cubicBezTo>
                  <a:pt x="454" y="208"/>
                  <a:pt x="465" y="231"/>
                  <a:pt x="480" y="261"/>
                </a:cubicBezTo>
                <a:cubicBezTo>
                  <a:pt x="495" y="291"/>
                  <a:pt x="511" y="325"/>
                  <a:pt x="527" y="359"/>
                </a:cubicBezTo>
                <a:cubicBezTo>
                  <a:pt x="543" y="393"/>
                  <a:pt x="556" y="432"/>
                  <a:pt x="574" y="465"/>
                </a:cubicBezTo>
                <a:cubicBezTo>
                  <a:pt x="592" y="498"/>
                  <a:pt x="612" y="529"/>
                  <a:pt x="636" y="559"/>
                </a:cubicBezTo>
                <a:cubicBezTo>
                  <a:pt x="660" y="589"/>
                  <a:pt x="691" y="623"/>
                  <a:pt x="720" y="643"/>
                </a:cubicBezTo>
                <a:cubicBezTo>
                  <a:pt x="749" y="663"/>
                  <a:pt x="774" y="683"/>
                  <a:pt x="807" y="679"/>
                </a:cubicBezTo>
                <a:cubicBezTo>
                  <a:pt x="840" y="675"/>
                  <a:pt x="886" y="652"/>
                  <a:pt x="920" y="621"/>
                </a:cubicBezTo>
                <a:cubicBezTo>
                  <a:pt x="954" y="590"/>
                  <a:pt x="979" y="553"/>
                  <a:pt x="1011" y="490"/>
                </a:cubicBezTo>
                <a:cubicBezTo>
                  <a:pt x="1043" y="427"/>
                  <a:pt x="1077" y="311"/>
                  <a:pt x="1112" y="243"/>
                </a:cubicBezTo>
                <a:cubicBezTo>
                  <a:pt x="1147" y="175"/>
                  <a:pt x="1186" y="122"/>
                  <a:pt x="1218" y="83"/>
                </a:cubicBezTo>
                <a:cubicBezTo>
                  <a:pt x="1250" y="44"/>
                  <a:pt x="1273" y="20"/>
                  <a:pt x="1302" y="10"/>
                </a:cubicBezTo>
                <a:cubicBezTo>
                  <a:pt x="1331" y="0"/>
                  <a:pt x="1358" y="0"/>
                  <a:pt x="1392" y="21"/>
                </a:cubicBezTo>
                <a:cubicBezTo>
                  <a:pt x="1426" y="42"/>
                  <a:pt x="1474" y="87"/>
                  <a:pt x="1509" y="137"/>
                </a:cubicBezTo>
                <a:cubicBezTo>
                  <a:pt x="1544" y="187"/>
                  <a:pt x="1579" y="273"/>
                  <a:pt x="1603" y="323"/>
                </a:cubicBezTo>
                <a:cubicBezTo>
                  <a:pt x="1627" y="373"/>
                  <a:pt x="1630" y="396"/>
                  <a:pt x="1651" y="435"/>
                </a:cubicBezTo>
                <a:cubicBezTo>
                  <a:pt x="1672" y="474"/>
                  <a:pt x="1702" y="523"/>
                  <a:pt x="1727" y="555"/>
                </a:cubicBezTo>
                <a:cubicBezTo>
                  <a:pt x="1752" y="587"/>
                  <a:pt x="1770" y="612"/>
                  <a:pt x="1803" y="628"/>
                </a:cubicBezTo>
                <a:cubicBezTo>
                  <a:pt x="1836" y="644"/>
                  <a:pt x="1884" y="668"/>
                  <a:pt x="1923" y="654"/>
                </a:cubicBezTo>
                <a:cubicBezTo>
                  <a:pt x="1962" y="640"/>
                  <a:pt x="2009" y="578"/>
                  <a:pt x="2036" y="545"/>
                </a:cubicBezTo>
                <a:cubicBezTo>
                  <a:pt x="2063" y="512"/>
                  <a:pt x="2069" y="490"/>
                  <a:pt x="2088" y="454"/>
                </a:cubicBezTo>
                <a:cubicBezTo>
                  <a:pt x="2107" y="418"/>
                  <a:pt x="2127" y="355"/>
                  <a:pt x="2149" y="330"/>
                </a:cubicBezTo>
                <a:cubicBezTo>
                  <a:pt x="2171" y="305"/>
                  <a:pt x="2136" y="309"/>
                  <a:pt x="2222" y="305"/>
                </a:cubicBezTo>
                <a:cubicBezTo>
                  <a:pt x="2308" y="301"/>
                  <a:pt x="2486" y="303"/>
                  <a:pt x="2665" y="305"/>
                </a:cubicBezTo>
              </a:path>
            </a:pathLst>
          </a:custGeom>
          <a:noFill/>
          <a:ln w="38100">
            <a:solidFill>
              <a:schemeClr val="tx1"/>
            </a:solidFill>
            <a:round/>
            <a:headEnd/>
            <a:tailEnd type="stealth" w="med" len="lg"/>
          </a:ln>
        </p:spPr>
        <p:txBody>
          <a:bodyPr vert="eaVert"/>
          <a:lstStyle/>
          <a:p>
            <a:pPr defTabSz="914400"/>
            <a:endParaRPr lang="zh-CN" altLang="en-US" sz="2800" b="1">
              <a:latin typeface="楷体_GB2312" pitchFamily="49" charset="-122"/>
              <a:ea typeface="楷体_GB2312" pitchFamily="49" charset="-122"/>
            </a:endParaRPr>
          </a:p>
        </p:txBody>
      </p:sp>
      <p:sp>
        <p:nvSpPr>
          <p:cNvPr id="1051" name="Freeform 5"/>
          <p:cNvSpPr>
            <a:spLocks/>
          </p:cNvSpPr>
          <p:nvPr/>
        </p:nvSpPr>
        <p:spPr bwMode="auto">
          <a:xfrm rot="16200000">
            <a:off x="9265219" y="5042455"/>
            <a:ext cx="933450" cy="266700"/>
          </a:xfrm>
          <a:custGeom>
            <a:avLst/>
            <a:gdLst>
              <a:gd name="T0" fmla="*/ 0 w 2665"/>
              <a:gd name="T1" fmla="*/ 2147483647 h 683"/>
              <a:gd name="T2" fmla="*/ 2147483647 w 2665"/>
              <a:gd name="T3" fmla="*/ 2147483647 h 683"/>
              <a:gd name="T4" fmla="*/ 2147483647 w 2665"/>
              <a:gd name="T5" fmla="*/ 2147483647 h 683"/>
              <a:gd name="T6" fmla="*/ 2147483647 w 2665"/>
              <a:gd name="T7" fmla="*/ 2147483647 h 683"/>
              <a:gd name="T8" fmla="*/ 2147483647 w 2665"/>
              <a:gd name="T9" fmla="*/ 2147483647 h 683"/>
              <a:gd name="T10" fmla="*/ 2147483647 w 2665"/>
              <a:gd name="T11" fmla="*/ 2147483647 h 683"/>
              <a:gd name="T12" fmla="*/ 2147483647 w 2665"/>
              <a:gd name="T13" fmla="*/ 2147483647 h 683"/>
              <a:gd name="T14" fmla="*/ 2147483647 w 2665"/>
              <a:gd name="T15" fmla="*/ 2147483647 h 683"/>
              <a:gd name="T16" fmla="*/ 2147483647 w 2665"/>
              <a:gd name="T17" fmla="*/ 2147483647 h 683"/>
              <a:gd name="T18" fmla="*/ 2147483647 w 2665"/>
              <a:gd name="T19" fmla="*/ 2147483647 h 683"/>
              <a:gd name="T20" fmla="*/ 2147483647 w 2665"/>
              <a:gd name="T21" fmla="*/ 2147483647 h 683"/>
              <a:gd name="T22" fmla="*/ 2147483647 w 2665"/>
              <a:gd name="T23" fmla="*/ 2147483647 h 683"/>
              <a:gd name="T24" fmla="*/ 2147483647 w 2665"/>
              <a:gd name="T25" fmla="*/ 2147483647 h 683"/>
              <a:gd name="T26" fmla="*/ 2147483647 w 2665"/>
              <a:gd name="T27" fmla="*/ 2147483647 h 683"/>
              <a:gd name="T28" fmla="*/ 2147483647 w 2665"/>
              <a:gd name="T29" fmla="*/ 2147483647 h 683"/>
              <a:gd name="T30" fmla="*/ 2147483647 w 2665"/>
              <a:gd name="T31" fmla="*/ 2147483647 h 683"/>
              <a:gd name="T32" fmla="*/ 2147483647 w 2665"/>
              <a:gd name="T33" fmla="*/ 2147483647 h 683"/>
              <a:gd name="T34" fmla="*/ 2147483647 w 2665"/>
              <a:gd name="T35" fmla="*/ 2147483647 h 683"/>
              <a:gd name="T36" fmla="*/ 2147483647 w 2665"/>
              <a:gd name="T37" fmla="*/ 2147483647 h 683"/>
              <a:gd name="T38" fmla="*/ 2147483647 w 2665"/>
              <a:gd name="T39" fmla="*/ 2147483647 h 683"/>
              <a:gd name="T40" fmla="*/ 2147483647 w 2665"/>
              <a:gd name="T41" fmla="*/ 2147483647 h 683"/>
              <a:gd name="T42" fmla="*/ 2147483647 w 2665"/>
              <a:gd name="T43" fmla="*/ 2147483647 h 683"/>
              <a:gd name="T44" fmla="*/ 2147483647 w 2665"/>
              <a:gd name="T45" fmla="*/ 2147483647 h 683"/>
              <a:gd name="T46" fmla="*/ 2147483647 w 2665"/>
              <a:gd name="T47" fmla="*/ 2147483647 h 683"/>
              <a:gd name="T48" fmla="*/ 2147483647 w 2665"/>
              <a:gd name="T49" fmla="*/ 2147483647 h 683"/>
              <a:gd name="T50" fmla="*/ 2147483647 w 2665"/>
              <a:gd name="T51" fmla="*/ 2147483647 h 683"/>
              <a:gd name="T52" fmla="*/ 2147483647 w 2665"/>
              <a:gd name="T53" fmla="*/ 2147483647 h 683"/>
              <a:gd name="T54" fmla="*/ 2147483647 w 2665"/>
              <a:gd name="T55" fmla="*/ 2147483647 h 683"/>
              <a:gd name="T56" fmla="*/ 2147483647 w 2665"/>
              <a:gd name="T57" fmla="*/ 2147483647 h 683"/>
              <a:gd name="T58" fmla="*/ 2147483647 w 2665"/>
              <a:gd name="T59" fmla="*/ 2147483647 h 683"/>
              <a:gd name="T60" fmla="*/ 2147483647 w 2665"/>
              <a:gd name="T61" fmla="*/ 2147483647 h 683"/>
              <a:gd name="T62" fmla="*/ 2147483647 w 2665"/>
              <a:gd name="T63" fmla="*/ 2147483647 h 683"/>
              <a:gd name="T64" fmla="*/ 2147483647 w 2665"/>
              <a:gd name="T65" fmla="*/ 2147483647 h 6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65"/>
              <a:gd name="T100" fmla="*/ 0 h 683"/>
              <a:gd name="T101" fmla="*/ 2665 w 2665"/>
              <a:gd name="T102" fmla="*/ 683 h 6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65" h="683">
                <a:moveTo>
                  <a:pt x="0" y="370"/>
                </a:moveTo>
                <a:cubicBezTo>
                  <a:pt x="5" y="352"/>
                  <a:pt x="11" y="335"/>
                  <a:pt x="25" y="305"/>
                </a:cubicBezTo>
                <a:cubicBezTo>
                  <a:pt x="39" y="275"/>
                  <a:pt x="68" y="219"/>
                  <a:pt x="87" y="188"/>
                </a:cubicBezTo>
                <a:cubicBezTo>
                  <a:pt x="106" y="157"/>
                  <a:pt x="123" y="136"/>
                  <a:pt x="138" y="119"/>
                </a:cubicBezTo>
                <a:cubicBezTo>
                  <a:pt x="153" y="102"/>
                  <a:pt x="163" y="94"/>
                  <a:pt x="178" y="83"/>
                </a:cubicBezTo>
                <a:cubicBezTo>
                  <a:pt x="193" y="72"/>
                  <a:pt x="214" y="55"/>
                  <a:pt x="229" y="50"/>
                </a:cubicBezTo>
                <a:cubicBezTo>
                  <a:pt x="244" y="45"/>
                  <a:pt x="255" y="49"/>
                  <a:pt x="269" y="50"/>
                </a:cubicBezTo>
                <a:cubicBezTo>
                  <a:pt x="283" y="51"/>
                  <a:pt x="299" y="49"/>
                  <a:pt x="316" y="57"/>
                </a:cubicBezTo>
                <a:cubicBezTo>
                  <a:pt x="333" y="65"/>
                  <a:pt x="354" y="76"/>
                  <a:pt x="374" y="97"/>
                </a:cubicBezTo>
                <a:cubicBezTo>
                  <a:pt x="394" y="118"/>
                  <a:pt x="418" y="154"/>
                  <a:pt x="436" y="181"/>
                </a:cubicBezTo>
                <a:cubicBezTo>
                  <a:pt x="454" y="208"/>
                  <a:pt x="465" y="231"/>
                  <a:pt x="480" y="261"/>
                </a:cubicBezTo>
                <a:cubicBezTo>
                  <a:pt x="495" y="291"/>
                  <a:pt x="511" y="325"/>
                  <a:pt x="527" y="359"/>
                </a:cubicBezTo>
                <a:cubicBezTo>
                  <a:pt x="543" y="393"/>
                  <a:pt x="556" y="432"/>
                  <a:pt x="574" y="465"/>
                </a:cubicBezTo>
                <a:cubicBezTo>
                  <a:pt x="592" y="498"/>
                  <a:pt x="612" y="529"/>
                  <a:pt x="636" y="559"/>
                </a:cubicBezTo>
                <a:cubicBezTo>
                  <a:pt x="660" y="589"/>
                  <a:pt x="691" y="623"/>
                  <a:pt x="720" y="643"/>
                </a:cubicBezTo>
                <a:cubicBezTo>
                  <a:pt x="749" y="663"/>
                  <a:pt x="774" y="683"/>
                  <a:pt x="807" y="679"/>
                </a:cubicBezTo>
                <a:cubicBezTo>
                  <a:pt x="840" y="675"/>
                  <a:pt x="886" y="652"/>
                  <a:pt x="920" y="621"/>
                </a:cubicBezTo>
                <a:cubicBezTo>
                  <a:pt x="954" y="590"/>
                  <a:pt x="979" y="553"/>
                  <a:pt x="1011" y="490"/>
                </a:cubicBezTo>
                <a:cubicBezTo>
                  <a:pt x="1043" y="427"/>
                  <a:pt x="1077" y="311"/>
                  <a:pt x="1112" y="243"/>
                </a:cubicBezTo>
                <a:cubicBezTo>
                  <a:pt x="1147" y="175"/>
                  <a:pt x="1186" y="122"/>
                  <a:pt x="1218" y="83"/>
                </a:cubicBezTo>
                <a:cubicBezTo>
                  <a:pt x="1250" y="44"/>
                  <a:pt x="1273" y="20"/>
                  <a:pt x="1302" y="10"/>
                </a:cubicBezTo>
                <a:cubicBezTo>
                  <a:pt x="1331" y="0"/>
                  <a:pt x="1358" y="0"/>
                  <a:pt x="1392" y="21"/>
                </a:cubicBezTo>
                <a:cubicBezTo>
                  <a:pt x="1426" y="42"/>
                  <a:pt x="1474" y="87"/>
                  <a:pt x="1509" y="137"/>
                </a:cubicBezTo>
                <a:cubicBezTo>
                  <a:pt x="1544" y="187"/>
                  <a:pt x="1579" y="273"/>
                  <a:pt x="1603" y="323"/>
                </a:cubicBezTo>
                <a:cubicBezTo>
                  <a:pt x="1627" y="373"/>
                  <a:pt x="1630" y="396"/>
                  <a:pt x="1651" y="435"/>
                </a:cubicBezTo>
                <a:cubicBezTo>
                  <a:pt x="1672" y="474"/>
                  <a:pt x="1702" y="523"/>
                  <a:pt x="1727" y="555"/>
                </a:cubicBezTo>
                <a:cubicBezTo>
                  <a:pt x="1752" y="587"/>
                  <a:pt x="1770" y="612"/>
                  <a:pt x="1803" y="628"/>
                </a:cubicBezTo>
                <a:cubicBezTo>
                  <a:pt x="1836" y="644"/>
                  <a:pt x="1884" y="668"/>
                  <a:pt x="1923" y="654"/>
                </a:cubicBezTo>
                <a:cubicBezTo>
                  <a:pt x="1962" y="640"/>
                  <a:pt x="2009" y="578"/>
                  <a:pt x="2036" y="545"/>
                </a:cubicBezTo>
                <a:cubicBezTo>
                  <a:pt x="2063" y="512"/>
                  <a:pt x="2069" y="490"/>
                  <a:pt x="2088" y="454"/>
                </a:cubicBezTo>
                <a:cubicBezTo>
                  <a:pt x="2107" y="418"/>
                  <a:pt x="2127" y="355"/>
                  <a:pt x="2149" y="330"/>
                </a:cubicBezTo>
                <a:cubicBezTo>
                  <a:pt x="2171" y="305"/>
                  <a:pt x="2136" y="309"/>
                  <a:pt x="2222" y="305"/>
                </a:cubicBezTo>
                <a:cubicBezTo>
                  <a:pt x="2308" y="301"/>
                  <a:pt x="2486" y="303"/>
                  <a:pt x="2665" y="305"/>
                </a:cubicBezTo>
              </a:path>
            </a:pathLst>
          </a:custGeom>
          <a:noFill/>
          <a:ln w="38100">
            <a:solidFill>
              <a:schemeClr val="tx1"/>
            </a:solidFill>
            <a:round/>
            <a:headEnd/>
            <a:tailEnd type="stealth" w="med" len="lg"/>
          </a:ln>
        </p:spPr>
        <p:txBody>
          <a:bodyPr vert="eaVert"/>
          <a:lstStyle/>
          <a:p>
            <a:pPr defTabSz="914400"/>
            <a:endParaRPr lang="zh-CN" altLang="en-US" sz="2800" b="1">
              <a:latin typeface="楷体_GB2312" pitchFamily="49" charset="-122"/>
              <a:ea typeface="楷体_GB2312" pitchFamily="49" charset="-122"/>
            </a:endParaRPr>
          </a:p>
        </p:txBody>
      </p:sp>
      <p:sp>
        <p:nvSpPr>
          <p:cNvPr id="1052" name="TextBox 44"/>
          <p:cNvSpPr txBox="1">
            <a:spLocks noChangeArrowheads="1"/>
          </p:cNvSpPr>
          <p:nvPr/>
        </p:nvSpPr>
        <p:spPr bwMode="auto">
          <a:xfrm>
            <a:off x="7376094" y="4753530"/>
            <a:ext cx="488950" cy="457200"/>
          </a:xfrm>
          <a:prstGeom prst="rect">
            <a:avLst/>
          </a:prstGeom>
          <a:noFill/>
          <a:ln w="9525">
            <a:noFill/>
            <a:miter lim="800000"/>
            <a:headEnd/>
            <a:tailEnd/>
          </a:ln>
        </p:spPr>
        <p:txBody>
          <a:bodyPr>
            <a:spAutoFit/>
          </a:bodyPr>
          <a:lstStyle/>
          <a:p>
            <a:pPr defTabSz="914400"/>
            <a:r>
              <a:rPr lang="en-US" altLang="zh-CN" sz="2400" b="1">
                <a:solidFill>
                  <a:srgbClr val="00CC00"/>
                </a:solidFill>
                <a:latin typeface="Times New Roman" pitchFamily="18" charset="0"/>
                <a:ea typeface="黑体" pitchFamily="49" charset="-122"/>
                <a:cs typeface="Times New Roman" pitchFamily="18" charset="0"/>
              </a:rPr>
              <a:t>G</a:t>
            </a:r>
            <a:endParaRPr lang="zh-CN" altLang="en-US" sz="2400" b="1">
              <a:solidFill>
                <a:srgbClr val="00CC00"/>
              </a:solidFill>
              <a:latin typeface="Times New Roman" pitchFamily="18" charset="0"/>
              <a:ea typeface="黑体" pitchFamily="49" charset="-122"/>
              <a:cs typeface="Times New Roman" pitchFamily="18" charset="0"/>
            </a:endParaRPr>
          </a:p>
        </p:txBody>
      </p:sp>
      <p:sp>
        <p:nvSpPr>
          <p:cNvPr id="1053" name="TextBox 45"/>
          <p:cNvSpPr txBox="1">
            <a:spLocks noChangeArrowheads="1"/>
          </p:cNvSpPr>
          <p:nvPr/>
        </p:nvSpPr>
        <p:spPr bwMode="auto">
          <a:xfrm>
            <a:off x="9020744" y="4753530"/>
            <a:ext cx="488950" cy="457200"/>
          </a:xfrm>
          <a:prstGeom prst="rect">
            <a:avLst/>
          </a:prstGeom>
          <a:noFill/>
          <a:ln w="9525">
            <a:noFill/>
            <a:miter lim="800000"/>
            <a:headEnd/>
            <a:tailEnd/>
          </a:ln>
        </p:spPr>
        <p:txBody>
          <a:bodyPr>
            <a:spAutoFit/>
          </a:bodyPr>
          <a:lstStyle/>
          <a:p>
            <a:pPr defTabSz="914400"/>
            <a:r>
              <a:rPr lang="en-US" altLang="zh-CN" sz="2400" b="1">
                <a:solidFill>
                  <a:srgbClr val="FF0000"/>
                </a:solidFill>
                <a:latin typeface="Times New Roman" pitchFamily="18" charset="0"/>
                <a:ea typeface="黑体" pitchFamily="49" charset="-122"/>
                <a:cs typeface="Times New Roman" pitchFamily="18" charset="0"/>
              </a:rPr>
              <a:t>R</a:t>
            </a:r>
            <a:endParaRPr lang="zh-CN" altLang="en-US" sz="2400" b="1">
              <a:solidFill>
                <a:srgbClr val="FF0000"/>
              </a:solidFill>
              <a:latin typeface="Times New Roman" pitchFamily="18" charset="0"/>
              <a:ea typeface="黑体" pitchFamily="49" charset="-122"/>
              <a:cs typeface="Times New Roman" pitchFamily="18" charset="0"/>
            </a:endParaRPr>
          </a:p>
        </p:txBody>
      </p:sp>
      <p:sp>
        <p:nvSpPr>
          <p:cNvPr id="1054" name="Rectangle 2" descr="宽下对角线"/>
          <p:cNvSpPr>
            <a:spLocks noChangeArrowheads="1"/>
          </p:cNvSpPr>
          <p:nvPr/>
        </p:nvSpPr>
        <p:spPr bwMode="auto">
          <a:xfrm>
            <a:off x="7865044" y="2794555"/>
            <a:ext cx="420688" cy="284163"/>
          </a:xfrm>
          <a:prstGeom prst="rect">
            <a:avLst/>
          </a:prstGeom>
          <a:pattFill prst="wdDnDiag">
            <a:fgClr>
              <a:srgbClr val="000000"/>
            </a:fgClr>
            <a:bgClr>
              <a:srgbClr val="FFFFFF"/>
            </a:bgClr>
          </a:pattFill>
          <a:ln w="38100">
            <a:solidFill>
              <a:schemeClr val="tx1"/>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sp>
        <p:nvSpPr>
          <p:cNvPr id="1055" name="Rectangle 2" descr="宽下对角线"/>
          <p:cNvSpPr>
            <a:spLocks noChangeArrowheads="1"/>
          </p:cNvSpPr>
          <p:nvPr/>
        </p:nvSpPr>
        <p:spPr bwMode="auto">
          <a:xfrm>
            <a:off x="9554144" y="2797730"/>
            <a:ext cx="420688" cy="284163"/>
          </a:xfrm>
          <a:prstGeom prst="rect">
            <a:avLst/>
          </a:prstGeom>
          <a:pattFill prst="wdDnDiag">
            <a:fgClr>
              <a:srgbClr val="000000"/>
            </a:fgClr>
            <a:bgClr>
              <a:srgbClr val="FFFFFF"/>
            </a:bgClr>
          </a:pattFill>
          <a:ln w="3810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graphicFrame>
        <p:nvGraphicFramePr>
          <p:cNvPr id="1026" name="Object 34"/>
          <p:cNvGraphicFramePr>
            <a:graphicFrameLocks noChangeAspect="1"/>
          </p:cNvGraphicFramePr>
          <p:nvPr>
            <p:extLst>
              <p:ext uri="{D42A27DB-BD31-4B8C-83A1-F6EECF244321}">
                <p14:modId xmlns:p14="http://schemas.microsoft.com/office/powerpoint/2010/main" val="1554114754"/>
              </p:ext>
            </p:extLst>
          </p:nvPr>
        </p:nvGraphicFramePr>
        <p:xfrm>
          <a:off x="6087044" y="3820080"/>
          <a:ext cx="222250" cy="844550"/>
        </p:xfrm>
        <a:graphic>
          <a:graphicData uri="http://schemas.openxmlformats.org/presentationml/2006/ole">
            <mc:AlternateContent xmlns:mc="http://schemas.openxmlformats.org/markup-compatibility/2006">
              <mc:Choice xmlns:v="urn:schemas-microsoft-com:vml" Requires="v">
                <p:oleObj spid="_x0000_s18555" name="Visio" r:id="rId3" imgW="1167574" imgH="3237833" progId="Visio.Drawing.11">
                  <p:embed/>
                </p:oleObj>
              </mc:Choice>
              <mc:Fallback>
                <p:oleObj name="Visio" r:id="rId3" imgW="1167574" imgH="3237833" progId="Visio.Drawing.11">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7044" y="3820080"/>
                        <a:ext cx="222250"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37"/>
          <p:cNvGraphicFramePr>
            <a:graphicFrameLocks noChangeAspect="1"/>
          </p:cNvGraphicFramePr>
          <p:nvPr>
            <p:extLst>
              <p:ext uri="{D42A27DB-BD31-4B8C-83A1-F6EECF244321}">
                <p14:modId xmlns:p14="http://schemas.microsoft.com/office/powerpoint/2010/main" val="3934297637"/>
              </p:ext>
            </p:extLst>
          </p:nvPr>
        </p:nvGraphicFramePr>
        <p:xfrm>
          <a:off x="7909494" y="3820080"/>
          <a:ext cx="222250" cy="711200"/>
        </p:xfrm>
        <a:graphic>
          <a:graphicData uri="http://schemas.openxmlformats.org/presentationml/2006/ole">
            <mc:AlternateContent xmlns:mc="http://schemas.openxmlformats.org/markup-compatibility/2006">
              <mc:Choice xmlns:v="urn:schemas-microsoft-com:vml" Requires="v">
                <p:oleObj spid="_x0000_s18556" name="Visio" r:id="rId5" imgW="1167574" imgH="3237833" progId="">
                  <p:embed/>
                </p:oleObj>
              </mc:Choice>
              <mc:Fallback>
                <p:oleObj name="Visio" r:id="rId5" imgW="1167574" imgH="3237833" progId="">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09494" y="3820080"/>
                        <a:ext cx="222250"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38"/>
          <p:cNvGraphicFramePr>
            <a:graphicFrameLocks noChangeAspect="1"/>
          </p:cNvGraphicFramePr>
          <p:nvPr>
            <p:extLst>
              <p:ext uri="{D42A27DB-BD31-4B8C-83A1-F6EECF244321}">
                <p14:modId xmlns:p14="http://schemas.microsoft.com/office/powerpoint/2010/main" val="24052499"/>
              </p:ext>
            </p:extLst>
          </p:nvPr>
        </p:nvGraphicFramePr>
        <p:xfrm>
          <a:off x="9687494" y="3820080"/>
          <a:ext cx="222250" cy="666750"/>
        </p:xfrm>
        <a:graphic>
          <a:graphicData uri="http://schemas.openxmlformats.org/presentationml/2006/ole">
            <mc:AlternateContent xmlns:mc="http://schemas.openxmlformats.org/markup-compatibility/2006">
              <mc:Choice xmlns:v="urn:schemas-microsoft-com:vml" Requires="v">
                <p:oleObj spid="_x0000_s18557" name="Visio" r:id="rId7" imgW="1167574" imgH="3237833" progId="">
                  <p:embed/>
                </p:oleObj>
              </mc:Choice>
              <mc:Fallback>
                <p:oleObj name="Visio" r:id="rId7" imgW="1167574" imgH="3237833" progId="">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87494" y="3820080"/>
                        <a:ext cx="22225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7" name="TextBox 36"/>
          <p:cNvSpPr txBox="1">
            <a:spLocks noChangeArrowheads="1"/>
          </p:cNvSpPr>
          <p:nvPr/>
        </p:nvSpPr>
        <p:spPr bwMode="auto">
          <a:xfrm>
            <a:off x="10131994" y="2999343"/>
            <a:ext cx="266700" cy="396875"/>
          </a:xfrm>
          <a:prstGeom prst="rect">
            <a:avLst/>
          </a:prstGeom>
          <a:noFill/>
          <a:ln w="9525">
            <a:noFill/>
            <a:miter lim="800000"/>
            <a:headEnd/>
            <a:tailEnd/>
          </a:ln>
        </p:spPr>
        <p:txBody>
          <a:bodyPr>
            <a:spAutoFit/>
          </a:bodyPr>
          <a:lstStyle/>
          <a:p>
            <a:pPr defTabSz="914400"/>
            <a:r>
              <a:rPr lang="en-US" altLang="zh-CN" b="1">
                <a:latin typeface="Times New Roman" pitchFamily="18" charset="0"/>
                <a:ea typeface="黑体" pitchFamily="49" charset="-122"/>
                <a:cs typeface="Times New Roman" pitchFamily="18" charset="0"/>
              </a:rPr>
              <a:t>P</a:t>
            </a:r>
            <a:endParaRPr lang="zh-CN" altLang="en-US" b="1">
              <a:latin typeface="Times New Roman" pitchFamily="18" charset="0"/>
              <a:ea typeface="黑体" pitchFamily="49" charset="-122"/>
              <a:cs typeface="Times New Roman" pitchFamily="18" charset="0"/>
            </a:endParaRPr>
          </a:p>
        </p:txBody>
      </p:sp>
      <p:sp>
        <p:nvSpPr>
          <p:cNvPr id="1058" name="TextBox 36"/>
          <p:cNvSpPr txBox="1">
            <a:spLocks noChangeArrowheads="1"/>
          </p:cNvSpPr>
          <p:nvPr/>
        </p:nvSpPr>
        <p:spPr bwMode="auto">
          <a:xfrm>
            <a:off x="8487344" y="2992993"/>
            <a:ext cx="311150" cy="396875"/>
          </a:xfrm>
          <a:prstGeom prst="rect">
            <a:avLst/>
          </a:prstGeom>
          <a:noFill/>
          <a:ln w="9525">
            <a:noFill/>
            <a:miter lim="800000"/>
            <a:headEnd/>
            <a:tailEnd/>
          </a:ln>
        </p:spPr>
        <p:txBody>
          <a:bodyPr>
            <a:spAutoFit/>
          </a:bodyPr>
          <a:lstStyle/>
          <a:p>
            <a:pPr defTabSz="914400"/>
            <a:r>
              <a:rPr lang="en-US" altLang="zh-CN" b="1">
                <a:latin typeface="Times New Roman" pitchFamily="18" charset="0"/>
                <a:ea typeface="黑体" pitchFamily="49" charset="-122"/>
                <a:cs typeface="Times New Roman" pitchFamily="18" charset="0"/>
              </a:rPr>
              <a:t>P</a:t>
            </a:r>
            <a:endParaRPr lang="zh-CN" altLang="en-US" b="1">
              <a:latin typeface="Times New Roman" pitchFamily="18" charset="0"/>
              <a:ea typeface="黑体" pitchFamily="49" charset="-122"/>
              <a:cs typeface="Times New Roman" pitchFamily="18" charset="0"/>
            </a:endParaRPr>
          </a:p>
        </p:txBody>
      </p:sp>
      <p:sp>
        <p:nvSpPr>
          <p:cNvPr id="1059" name="TextBox 36"/>
          <p:cNvSpPr txBox="1">
            <a:spLocks noChangeArrowheads="1"/>
          </p:cNvSpPr>
          <p:nvPr/>
        </p:nvSpPr>
        <p:spPr bwMode="auto">
          <a:xfrm>
            <a:off x="6664894" y="2985055"/>
            <a:ext cx="311150" cy="396875"/>
          </a:xfrm>
          <a:prstGeom prst="rect">
            <a:avLst/>
          </a:prstGeom>
          <a:noFill/>
          <a:ln w="9525">
            <a:noFill/>
            <a:miter lim="800000"/>
            <a:headEnd/>
            <a:tailEnd/>
          </a:ln>
        </p:spPr>
        <p:txBody>
          <a:bodyPr>
            <a:spAutoFit/>
          </a:bodyPr>
          <a:lstStyle/>
          <a:p>
            <a:pPr defTabSz="914400"/>
            <a:r>
              <a:rPr lang="en-US" altLang="zh-CN" b="1">
                <a:latin typeface="Times New Roman" pitchFamily="18" charset="0"/>
                <a:ea typeface="黑体" pitchFamily="49" charset="-122"/>
                <a:cs typeface="Times New Roman" pitchFamily="18" charset="0"/>
              </a:rPr>
              <a:t>P</a:t>
            </a:r>
            <a:endParaRPr lang="zh-CN" altLang="en-US" b="1">
              <a:latin typeface="Times New Roman" pitchFamily="18" charset="0"/>
              <a:ea typeface="黑体" pitchFamily="49" charset="-122"/>
              <a:cs typeface="Times New Roman" pitchFamily="18" charset="0"/>
            </a:endParaRPr>
          </a:p>
        </p:txBody>
      </p:sp>
      <p:sp>
        <p:nvSpPr>
          <p:cNvPr id="1060" name="TextBox 36"/>
          <p:cNvSpPr txBox="1">
            <a:spLocks noChangeArrowheads="1"/>
          </p:cNvSpPr>
          <p:nvPr/>
        </p:nvSpPr>
        <p:spPr bwMode="auto">
          <a:xfrm>
            <a:off x="6664894" y="3420030"/>
            <a:ext cx="311150" cy="396875"/>
          </a:xfrm>
          <a:prstGeom prst="rect">
            <a:avLst/>
          </a:prstGeom>
          <a:noFill/>
          <a:ln w="9525">
            <a:noFill/>
            <a:miter lim="800000"/>
            <a:headEnd/>
            <a:tailEnd/>
          </a:ln>
        </p:spPr>
        <p:txBody>
          <a:bodyPr>
            <a:spAutoFit/>
          </a:bodyPr>
          <a:lstStyle/>
          <a:p>
            <a:pPr defTabSz="914400"/>
            <a:r>
              <a:rPr lang="en-US" altLang="zh-CN" b="1">
                <a:latin typeface="Times New Roman" pitchFamily="18" charset="0"/>
                <a:ea typeface="黑体" pitchFamily="49" charset="-122"/>
                <a:cs typeface="Times New Roman" pitchFamily="18" charset="0"/>
              </a:rPr>
              <a:t>N</a:t>
            </a:r>
            <a:endParaRPr lang="zh-CN" altLang="en-US" b="1">
              <a:latin typeface="Times New Roman" pitchFamily="18" charset="0"/>
              <a:ea typeface="黑体" pitchFamily="49" charset="-122"/>
              <a:cs typeface="Times New Roman" pitchFamily="18" charset="0"/>
            </a:endParaRPr>
          </a:p>
        </p:txBody>
      </p:sp>
      <p:sp>
        <p:nvSpPr>
          <p:cNvPr id="1061" name="TextBox 36"/>
          <p:cNvSpPr txBox="1">
            <a:spLocks noChangeArrowheads="1"/>
          </p:cNvSpPr>
          <p:nvPr/>
        </p:nvSpPr>
        <p:spPr bwMode="auto">
          <a:xfrm>
            <a:off x="8487344" y="3375580"/>
            <a:ext cx="311150" cy="396875"/>
          </a:xfrm>
          <a:prstGeom prst="rect">
            <a:avLst/>
          </a:prstGeom>
          <a:noFill/>
          <a:ln w="9525">
            <a:noFill/>
            <a:miter lim="800000"/>
            <a:headEnd/>
            <a:tailEnd/>
          </a:ln>
        </p:spPr>
        <p:txBody>
          <a:bodyPr>
            <a:spAutoFit/>
          </a:bodyPr>
          <a:lstStyle/>
          <a:p>
            <a:pPr defTabSz="914400"/>
            <a:r>
              <a:rPr lang="en-US" altLang="zh-CN" b="1">
                <a:latin typeface="Times New Roman" pitchFamily="18" charset="0"/>
                <a:ea typeface="黑体" pitchFamily="49" charset="-122"/>
                <a:cs typeface="Times New Roman" pitchFamily="18" charset="0"/>
              </a:rPr>
              <a:t>N</a:t>
            </a:r>
            <a:endParaRPr lang="zh-CN" altLang="en-US" b="1">
              <a:latin typeface="Times New Roman" pitchFamily="18" charset="0"/>
              <a:ea typeface="黑体" pitchFamily="49" charset="-122"/>
              <a:cs typeface="Times New Roman" pitchFamily="18" charset="0"/>
            </a:endParaRPr>
          </a:p>
        </p:txBody>
      </p:sp>
      <p:sp>
        <p:nvSpPr>
          <p:cNvPr id="1062" name="TextBox 36"/>
          <p:cNvSpPr txBox="1">
            <a:spLocks noChangeArrowheads="1"/>
          </p:cNvSpPr>
          <p:nvPr/>
        </p:nvSpPr>
        <p:spPr bwMode="auto">
          <a:xfrm>
            <a:off x="10131994" y="3375580"/>
            <a:ext cx="311150" cy="396875"/>
          </a:xfrm>
          <a:prstGeom prst="rect">
            <a:avLst/>
          </a:prstGeom>
          <a:noFill/>
          <a:ln w="9525">
            <a:noFill/>
            <a:miter lim="800000"/>
            <a:headEnd/>
            <a:tailEnd/>
          </a:ln>
        </p:spPr>
        <p:txBody>
          <a:bodyPr>
            <a:spAutoFit/>
          </a:bodyPr>
          <a:lstStyle/>
          <a:p>
            <a:pPr defTabSz="914400"/>
            <a:r>
              <a:rPr lang="en-US" altLang="zh-CN" b="1">
                <a:latin typeface="Times New Roman" pitchFamily="18" charset="0"/>
                <a:ea typeface="黑体" pitchFamily="49" charset="-122"/>
                <a:cs typeface="Times New Roman" pitchFamily="18" charset="0"/>
              </a:rPr>
              <a:t>N</a:t>
            </a:r>
            <a:endParaRPr lang="zh-CN" altLang="en-US" b="1">
              <a:latin typeface="Times New Roman" pitchFamily="18" charset="0"/>
              <a:ea typeface="黑体" pitchFamily="49" charset="-122"/>
              <a:cs typeface="Times New Roman" pitchFamily="18" charset="0"/>
            </a:endParaRPr>
          </a:p>
        </p:txBody>
      </p:sp>
      <p:sp>
        <p:nvSpPr>
          <p:cNvPr id="18477" name="TextBox 18"/>
          <p:cNvSpPr txBox="1">
            <a:spLocks noChangeArrowheads="1"/>
          </p:cNvSpPr>
          <p:nvPr/>
        </p:nvSpPr>
        <p:spPr bwMode="auto">
          <a:xfrm>
            <a:off x="6870859" y="6080844"/>
            <a:ext cx="1472406" cy="707886"/>
          </a:xfrm>
          <a:prstGeom prst="rect">
            <a:avLst/>
          </a:prstGeom>
          <a:noFill/>
          <a:ln w="9525">
            <a:noFill/>
            <a:miter lim="800000"/>
            <a:headEnd/>
            <a:tailEnd/>
          </a:ln>
        </p:spPr>
        <p:txBody>
          <a:bodyPr wrap="square">
            <a:spAutoFit/>
          </a:bodyPr>
          <a:lstStyle/>
          <a:p>
            <a:pPr defTabSz="914400"/>
            <a:r>
              <a:rPr lang="zh-CN" altLang="en-US" sz="4000" b="1" dirty="0">
                <a:solidFill>
                  <a:srgbClr val="0000CC"/>
                </a:solidFill>
                <a:latin typeface="Times New Roman" pitchFamily="18" charset="0"/>
                <a:ea typeface="黑体" pitchFamily="49" charset="-122"/>
                <a:cs typeface="Times New Roman" pitchFamily="18" charset="0"/>
              </a:rPr>
              <a:t>结构</a:t>
            </a:r>
          </a:p>
        </p:txBody>
      </p:sp>
      <p:sp>
        <p:nvSpPr>
          <p:cNvPr id="45" name="Rectangle 9"/>
          <p:cNvSpPr>
            <a:spLocks noChangeArrowheads="1"/>
          </p:cNvSpPr>
          <p:nvPr/>
        </p:nvSpPr>
        <p:spPr bwMode="auto">
          <a:xfrm>
            <a:off x="4665635" y="1188193"/>
            <a:ext cx="3933825" cy="641350"/>
          </a:xfrm>
          <a:prstGeom prst="rect">
            <a:avLst/>
          </a:prstGeom>
          <a:noFill/>
          <a:ln w="9525">
            <a:noFill/>
            <a:miter lim="800000"/>
            <a:headEnd/>
            <a:tailEnd/>
          </a:ln>
        </p:spPr>
        <p:txBody>
          <a:bodyPr wrap="none" anchor="ctr">
            <a:spAutoFit/>
          </a:bodyPr>
          <a:lstStyle/>
          <a:p>
            <a:pPr algn="ctr" defTabSz="914400">
              <a:defRPr/>
            </a:pPr>
            <a:r>
              <a:rPr lang="en-US" altLang="zh-CN" sz="3600" b="1" dirty="0">
                <a:solidFill>
                  <a:srgbClr val="0000CC"/>
                </a:solidFill>
                <a:latin typeface="微软雅黑" pitchFamily="34" charset="-122"/>
                <a:ea typeface="微软雅黑" pitchFamily="34" charset="-122"/>
              </a:rPr>
              <a:t>2.</a:t>
            </a:r>
            <a:r>
              <a:rPr lang="zh-CN" altLang="en-US" sz="3600" b="1" dirty="0">
                <a:solidFill>
                  <a:srgbClr val="0000CC"/>
                </a:solidFill>
                <a:latin typeface="微软雅黑" pitchFamily="34" charset="-122"/>
                <a:ea typeface="微软雅黑" pitchFamily="34" charset="-122"/>
              </a:rPr>
              <a:t>全色色敏探测器 </a:t>
            </a:r>
          </a:p>
        </p:txBody>
      </p:sp>
      <p:pic>
        <p:nvPicPr>
          <p:cNvPr id="47" name="Picture 2" descr="C:\Documents and Settings\Administrator\Application Data\Tencent\Users\729963870\QQ\WinTemp\RichOle\7]Y[J`SK8QPT@VU(]@]XLQQ.jpg"/>
          <p:cNvPicPr>
            <a:picLocks noChangeAspect="1" noChangeArrowheads="1"/>
          </p:cNvPicPr>
          <p:nvPr/>
        </p:nvPicPr>
        <p:blipFill>
          <a:blip r:embed="rId9" cstate="print"/>
          <a:srcRect/>
          <a:stretch>
            <a:fillRect/>
          </a:stretch>
        </p:blipFill>
        <p:spPr bwMode="auto">
          <a:xfrm>
            <a:off x="1258769" y="2113991"/>
            <a:ext cx="2163881" cy="1955327"/>
          </a:xfrm>
          <a:prstGeom prst="rect">
            <a:avLst/>
          </a:prstGeom>
          <a:noFill/>
          <a:ln w="9525">
            <a:noFill/>
            <a:miter lim="800000"/>
            <a:headEnd/>
            <a:tailEnd/>
          </a:ln>
        </p:spPr>
      </p:pic>
      <p:pic>
        <p:nvPicPr>
          <p:cNvPr id="48" name="Picture 4" descr="C:\Documents and Settings\Administrator\Application Data\Tencent\Users\2554662579\QQ\WinTemp\RichOle\UQV4G([_Q_BKG1`T1CJ8HFW.jpg"/>
          <p:cNvPicPr>
            <a:picLocks noChangeAspect="1" noChangeArrowheads="1"/>
          </p:cNvPicPr>
          <p:nvPr/>
        </p:nvPicPr>
        <p:blipFill>
          <a:blip r:embed="rId10" cstate="print"/>
          <a:srcRect/>
          <a:stretch>
            <a:fillRect/>
          </a:stretch>
        </p:blipFill>
        <p:spPr bwMode="auto">
          <a:xfrm>
            <a:off x="1258769" y="4183049"/>
            <a:ext cx="2183496" cy="2073536"/>
          </a:xfrm>
          <a:prstGeom prst="rect">
            <a:avLst/>
          </a:prstGeom>
          <a:noFill/>
          <a:ln w="9525">
            <a:noFill/>
            <a:miter lim="800000"/>
            <a:headEnd/>
            <a:tailEnd/>
          </a:ln>
        </p:spPr>
      </p:pic>
      <p:grpSp>
        <p:nvGrpSpPr>
          <p:cNvPr id="55" name="组合 54">
            <a:extLst>
              <a:ext uri="{FF2B5EF4-FFF2-40B4-BE49-F238E27FC236}">
                <a16:creationId xmlns:a16="http://schemas.microsoft.com/office/drawing/2014/main" xmlns="" id="{78DFCC0D-9A8E-47DA-BAD9-19E3CF1E38B0}"/>
              </a:ext>
            </a:extLst>
          </p:cNvPr>
          <p:cNvGrpSpPr/>
          <p:nvPr/>
        </p:nvGrpSpPr>
        <p:grpSpPr>
          <a:xfrm>
            <a:off x="0" y="293282"/>
            <a:ext cx="13161246" cy="7421968"/>
            <a:chOff x="0" y="293282"/>
            <a:chExt cx="13161246" cy="7421968"/>
          </a:xfrm>
        </p:grpSpPr>
        <p:sp>
          <p:nvSpPr>
            <p:cNvPr id="56" name="文本框 60">
              <a:extLst>
                <a:ext uri="{FF2B5EF4-FFF2-40B4-BE49-F238E27FC236}">
                  <a16:creationId xmlns:a16="http://schemas.microsoft.com/office/drawing/2014/main" xmlns="" id="{3864869E-473E-4126-8A4C-D49BB1C83581}"/>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色敏探测器结构与工作原理 </a:t>
              </a:r>
            </a:p>
          </p:txBody>
        </p:sp>
        <p:sp>
          <p:nvSpPr>
            <p:cNvPr id="57" name="矩形 56">
              <a:extLst>
                <a:ext uri="{FF2B5EF4-FFF2-40B4-BE49-F238E27FC236}">
                  <a16:creationId xmlns:a16="http://schemas.microsoft.com/office/drawing/2014/main" xmlns="" id="{C63992FF-799E-49ED-8D5F-3BC33FA6FD4E}"/>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58" name="矩形 57">
              <a:extLst>
                <a:ext uri="{FF2B5EF4-FFF2-40B4-BE49-F238E27FC236}">
                  <a16:creationId xmlns:a16="http://schemas.microsoft.com/office/drawing/2014/main" xmlns="" id="{3CC33787-AED3-459A-BFA7-0B32F7E92DAE}"/>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a:extLst>
                <a:ext uri="{FF2B5EF4-FFF2-40B4-BE49-F238E27FC236}">
                  <a16:creationId xmlns:a16="http://schemas.microsoft.com/office/drawing/2014/main" xmlns="" id="{A7F411F2-B9B6-42AF-9FE2-62B299205A77}"/>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60" name="直接连接符 58">
              <a:extLst>
                <a:ext uri="{FF2B5EF4-FFF2-40B4-BE49-F238E27FC236}">
                  <a16:creationId xmlns:a16="http://schemas.microsoft.com/office/drawing/2014/main" xmlns="" id="{B23F7F21-C129-4AC8-A62C-61F8F4748CAB}"/>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xmlns="" id="{D5D38D20-3F32-4F8B-A93E-A5F14A02A49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62" name="矩形 61">
              <a:extLst>
                <a:ext uri="{FF2B5EF4-FFF2-40B4-BE49-F238E27FC236}">
                  <a16:creationId xmlns:a16="http://schemas.microsoft.com/office/drawing/2014/main" xmlns="" id="{04085C44-BFBD-491F-A6BB-6571EE57638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477"/>
                                        </p:tgtEl>
                                        <p:attrNameLst>
                                          <p:attrName>style.visibility</p:attrName>
                                        </p:attrNameLst>
                                      </p:cBhvr>
                                      <p:to>
                                        <p:strVal val="visible"/>
                                      </p:to>
                                    </p:set>
                                    <p:anim calcmode="lin" valueType="num">
                                      <p:cBhvr>
                                        <p:cTn id="7" dur="500" fill="hold"/>
                                        <p:tgtEl>
                                          <p:spTgt spid="18477"/>
                                        </p:tgtEl>
                                        <p:attrNameLst>
                                          <p:attrName>ppt_w</p:attrName>
                                        </p:attrNameLst>
                                      </p:cBhvr>
                                      <p:tavLst>
                                        <p:tav tm="0">
                                          <p:val>
                                            <p:fltVal val="0"/>
                                          </p:val>
                                        </p:tav>
                                        <p:tav tm="100000">
                                          <p:val>
                                            <p:strVal val="#ppt_w"/>
                                          </p:val>
                                        </p:tav>
                                      </p:tavLst>
                                    </p:anim>
                                    <p:anim calcmode="lin" valueType="num">
                                      <p:cBhvr>
                                        <p:cTn id="8" dur="500" fill="hold"/>
                                        <p:tgtEl>
                                          <p:spTgt spid="18477"/>
                                        </p:tgtEl>
                                        <p:attrNameLst>
                                          <p:attrName>ppt_h</p:attrName>
                                        </p:attrNameLst>
                                      </p:cBhvr>
                                      <p:tavLst>
                                        <p:tav tm="0">
                                          <p:val>
                                            <p:fltVal val="0"/>
                                          </p:val>
                                        </p:tav>
                                        <p:tav tm="100000">
                                          <p:val>
                                            <p:strVal val="#ppt_h"/>
                                          </p:val>
                                        </p:tav>
                                      </p:tavLst>
                                    </p:anim>
                                    <p:animEffect transition="in" filter="fade">
                                      <p:cBhvr>
                                        <p:cTn id="9" dur="500"/>
                                        <p:tgtEl>
                                          <p:spTgt spid="18477"/>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1032"/>
                                        </p:tgtEl>
                                        <p:attrNameLst>
                                          <p:attrName>style.visibility</p:attrName>
                                        </p:attrNameLst>
                                      </p:cBhvr>
                                      <p:to>
                                        <p:strVal val="visible"/>
                                      </p:to>
                                    </p:set>
                                    <p:animEffect transition="in" filter="box(in)">
                                      <p:cBhvr>
                                        <p:cTn id="14" dur="500"/>
                                        <p:tgtEl>
                                          <p:spTgt spid="1032"/>
                                        </p:tgtEl>
                                      </p:cBhvr>
                                    </p:animEffect>
                                  </p:childTnLst>
                                </p:cTn>
                              </p:par>
                              <p:par>
                                <p:cTn id="15" presetID="4" presetClass="entr" presetSubtype="16" fill="hold" grpId="0" nodeType="withEffect">
                                  <p:stCondLst>
                                    <p:cond delay="0"/>
                                  </p:stCondLst>
                                  <p:childTnLst>
                                    <p:set>
                                      <p:cBhvr>
                                        <p:cTn id="16" dur="1" fill="hold">
                                          <p:stCondLst>
                                            <p:cond delay="0"/>
                                          </p:stCondLst>
                                        </p:cTn>
                                        <p:tgtEl>
                                          <p:spTgt spid="1042"/>
                                        </p:tgtEl>
                                        <p:attrNameLst>
                                          <p:attrName>style.visibility</p:attrName>
                                        </p:attrNameLst>
                                      </p:cBhvr>
                                      <p:to>
                                        <p:strVal val="visible"/>
                                      </p:to>
                                    </p:set>
                                    <p:animEffect transition="in" filter="box(in)">
                                      <p:cBhvr>
                                        <p:cTn id="17" dur="500"/>
                                        <p:tgtEl>
                                          <p:spTgt spid="104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1043"/>
                                        </p:tgtEl>
                                        <p:attrNameLst>
                                          <p:attrName>style.visibility</p:attrName>
                                        </p:attrNameLst>
                                      </p:cBhvr>
                                      <p:to>
                                        <p:strVal val="visible"/>
                                      </p:to>
                                    </p:set>
                                    <p:animEffect transition="in" filter="box(in)">
                                      <p:cBhvr>
                                        <p:cTn id="25" dur="500"/>
                                        <p:tgtEl>
                                          <p:spTgt spid="1043"/>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1040"/>
                                        </p:tgtEl>
                                        <p:attrNameLst>
                                          <p:attrName>style.visibility</p:attrName>
                                        </p:attrNameLst>
                                      </p:cBhvr>
                                      <p:to>
                                        <p:strVal val="visible"/>
                                      </p:to>
                                    </p:set>
                                    <p:animEffect transition="in" filter="box(in)">
                                      <p:cBhvr>
                                        <p:cTn id="30" dur="500"/>
                                        <p:tgtEl>
                                          <p:spTgt spid="1040"/>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1039"/>
                                        </p:tgtEl>
                                        <p:attrNameLst>
                                          <p:attrName>style.visibility</p:attrName>
                                        </p:attrNameLst>
                                      </p:cBhvr>
                                      <p:to>
                                        <p:strVal val="visible"/>
                                      </p:to>
                                    </p:set>
                                    <p:animEffect transition="in" filter="box(in)">
                                      <p:cBhvr>
                                        <p:cTn id="33" dur="500"/>
                                        <p:tgtEl>
                                          <p:spTgt spid="1039"/>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1057"/>
                                        </p:tgtEl>
                                        <p:attrNameLst>
                                          <p:attrName>style.visibility</p:attrName>
                                        </p:attrNameLst>
                                      </p:cBhvr>
                                      <p:to>
                                        <p:strVal val="visible"/>
                                      </p:to>
                                    </p:set>
                                    <p:animEffect transition="in" filter="box(in)">
                                      <p:cBhvr>
                                        <p:cTn id="36" dur="500"/>
                                        <p:tgtEl>
                                          <p:spTgt spid="1057"/>
                                        </p:tgtEl>
                                      </p:cBhvr>
                                    </p:animEffect>
                                  </p:childTnLst>
                                </p:cTn>
                              </p:par>
                              <p:par>
                                <p:cTn id="37" presetID="4" presetClass="entr" presetSubtype="16" fill="hold" grpId="0" nodeType="withEffect">
                                  <p:stCondLst>
                                    <p:cond delay="0"/>
                                  </p:stCondLst>
                                  <p:childTnLst>
                                    <p:set>
                                      <p:cBhvr>
                                        <p:cTn id="38" dur="1" fill="hold">
                                          <p:stCondLst>
                                            <p:cond delay="0"/>
                                          </p:stCondLst>
                                        </p:cTn>
                                        <p:tgtEl>
                                          <p:spTgt spid="1062"/>
                                        </p:tgtEl>
                                        <p:attrNameLst>
                                          <p:attrName>style.visibility</p:attrName>
                                        </p:attrNameLst>
                                      </p:cBhvr>
                                      <p:to>
                                        <p:strVal val="visible"/>
                                      </p:to>
                                    </p:set>
                                    <p:animEffect transition="in" filter="box(in)">
                                      <p:cBhvr>
                                        <p:cTn id="39" dur="500"/>
                                        <p:tgtEl>
                                          <p:spTgt spid="1062"/>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1038"/>
                                        </p:tgtEl>
                                        <p:attrNameLst>
                                          <p:attrName>style.visibility</p:attrName>
                                        </p:attrNameLst>
                                      </p:cBhvr>
                                      <p:to>
                                        <p:strVal val="visible"/>
                                      </p:to>
                                    </p:set>
                                    <p:animEffect transition="in" filter="box(in)">
                                      <p:cBhvr>
                                        <p:cTn id="44" dur="500"/>
                                        <p:tgtEl>
                                          <p:spTgt spid="1038"/>
                                        </p:tgtEl>
                                      </p:cBhvr>
                                    </p:animEffect>
                                  </p:childTnLst>
                                </p:cTn>
                              </p:par>
                              <p:par>
                                <p:cTn id="45" presetID="4" presetClass="entr" presetSubtype="16" fill="hold" grpId="0" nodeType="withEffect">
                                  <p:stCondLst>
                                    <p:cond delay="0"/>
                                  </p:stCondLst>
                                  <p:childTnLst>
                                    <p:set>
                                      <p:cBhvr>
                                        <p:cTn id="46" dur="1" fill="hold">
                                          <p:stCondLst>
                                            <p:cond delay="0"/>
                                          </p:stCondLst>
                                        </p:cTn>
                                        <p:tgtEl>
                                          <p:spTgt spid="1037"/>
                                        </p:tgtEl>
                                        <p:attrNameLst>
                                          <p:attrName>style.visibility</p:attrName>
                                        </p:attrNameLst>
                                      </p:cBhvr>
                                      <p:to>
                                        <p:strVal val="visible"/>
                                      </p:to>
                                    </p:set>
                                    <p:animEffect transition="in" filter="box(in)">
                                      <p:cBhvr>
                                        <p:cTn id="47" dur="500"/>
                                        <p:tgtEl>
                                          <p:spTgt spid="1037"/>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1058"/>
                                        </p:tgtEl>
                                        <p:attrNameLst>
                                          <p:attrName>style.visibility</p:attrName>
                                        </p:attrNameLst>
                                      </p:cBhvr>
                                      <p:to>
                                        <p:strVal val="visible"/>
                                      </p:to>
                                    </p:set>
                                    <p:animEffect transition="in" filter="box(in)">
                                      <p:cBhvr>
                                        <p:cTn id="50" dur="500"/>
                                        <p:tgtEl>
                                          <p:spTgt spid="1058"/>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1061"/>
                                        </p:tgtEl>
                                        <p:attrNameLst>
                                          <p:attrName>style.visibility</p:attrName>
                                        </p:attrNameLst>
                                      </p:cBhvr>
                                      <p:to>
                                        <p:strVal val="visible"/>
                                      </p:to>
                                    </p:set>
                                    <p:animEffect transition="in" filter="box(in)">
                                      <p:cBhvr>
                                        <p:cTn id="53" dur="500"/>
                                        <p:tgtEl>
                                          <p:spTgt spid="1061"/>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grpId="1" nodeType="clickEffect">
                                  <p:stCondLst>
                                    <p:cond delay="0"/>
                                  </p:stCondLst>
                                  <p:childTnLst>
                                    <p:set>
                                      <p:cBhvr>
                                        <p:cTn id="57" dur="1" fill="hold">
                                          <p:stCondLst>
                                            <p:cond delay="0"/>
                                          </p:stCondLst>
                                        </p:cTn>
                                        <p:tgtEl>
                                          <p:spTgt spid="1038"/>
                                        </p:tgtEl>
                                        <p:attrNameLst>
                                          <p:attrName>style.visibility</p:attrName>
                                        </p:attrNameLst>
                                      </p:cBhvr>
                                      <p:to>
                                        <p:strVal val="visible"/>
                                      </p:to>
                                    </p:set>
                                    <p:animEffect transition="in" filter="box(in)">
                                      <p:cBhvr>
                                        <p:cTn id="58" dur="500"/>
                                        <p:tgtEl>
                                          <p:spTgt spid="1038"/>
                                        </p:tgtEl>
                                      </p:cBhvr>
                                    </p:animEffect>
                                  </p:childTnLst>
                                </p:cTn>
                              </p:par>
                              <p:par>
                                <p:cTn id="59" presetID="4" presetClass="entr" presetSubtype="16" fill="hold" grpId="1" nodeType="withEffect">
                                  <p:stCondLst>
                                    <p:cond delay="0"/>
                                  </p:stCondLst>
                                  <p:childTnLst>
                                    <p:set>
                                      <p:cBhvr>
                                        <p:cTn id="60" dur="1" fill="hold">
                                          <p:stCondLst>
                                            <p:cond delay="0"/>
                                          </p:stCondLst>
                                        </p:cTn>
                                        <p:tgtEl>
                                          <p:spTgt spid="1037"/>
                                        </p:tgtEl>
                                        <p:attrNameLst>
                                          <p:attrName>style.visibility</p:attrName>
                                        </p:attrNameLst>
                                      </p:cBhvr>
                                      <p:to>
                                        <p:strVal val="visible"/>
                                      </p:to>
                                    </p:set>
                                    <p:animEffect transition="in" filter="box(in)">
                                      <p:cBhvr>
                                        <p:cTn id="61" dur="500"/>
                                        <p:tgtEl>
                                          <p:spTgt spid="1037"/>
                                        </p:tgtEl>
                                      </p:cBhvr>
                                    </p:animEffect>
                                  </p:childTnLst>
                                </p:cTn>
                              </p:par>
                              <p:par>
                                <p:cTn id="62" presetID="4" presetClass="entr" presetSubtype="16" fill="hold" grpId="1" nodeType="withEffect">
                                  <p:stCondLst>
                                    <p:cond delay="0"/>
                                  </p:stCondLst>
                                  <p:childTnLst>
                                    <p:set>
                                      <p:cBhvr>
                                        <p:cTn id="63" dur="1" fill="hold">
                                          <p:stCondLst>
                                            <p:cond delay="0"/>
                                          </p:stCondLst>
                                        </p:cTn>
                                        <p:tgtEl>
                                          <p:spTgt spid="1058"/>
                                        </p:tgtEl>
                                        <p:attrNameLst>
                                          <p:attrName>style.visibility</p:attrName>
                                        </p:attrNameLst>
                                      </p:cBhvr>
                                      <p:to>
                                        <p:strVal val="visible"/>
                                      </p:to>
                                    </p:set>
                                    <p:animEffect transition="in" filter="box(in)">
                                      <p:cBhvr>
                                        <p:cTn id="64" dur="500"/>
                                        <p:tgtEl>
                                          <p:spTgt spid="1058"/>
                                        </p:tgtEl>
                                      </p:cBhvr>
                                    </p:animEffect>
                                  </p:childTnLst>
                                </p:cTn>
                              </p:par>
                              <p:par>
                                <p:cTn id="65" presetID="4" presetClass="entr" presetSubtype="16" fill="hold" grpId="1" nodeType="withEffect">
                                  <p:stCondLst>
                                    <p:cond delay="0"/>
                                  </p:stCondLst>
                                  <p:childTnLst>
                                    <p:set>
                                      <p:cBhvr>
                                        <p:cTn id="66" dur="1" fill="hold">
                                          <p:stCondLst>
                                            <p:cond delay="0"/>
                                          </p:stCondLst>
                                        </p:cTn>
                                        <p:tgtEl>
                                          <p:spTgt spid="1061"/>
                                        </p:tgtEl>
                                        <p:attrNameLst>
                                          <p:attrName>style.visibility</p:attrName>
                                        </p:attrNameLst>
                                      </p:cBhvr>
                                      <p:to>
                                        <p:strVal val="visible"/>
                                      </p:to>
                                    </p:set>
                                    <p:animEffect transition="in" filter="box(in)">
                                      <p:cBhvr>
                                        <p:cTn id="67" dur="500"/>
                                        <p:tgtEl>
                                          <p:spTgt spid="1061"/>
                                        </p:tgtEl>
                                      </p:cBhvr>
                                    </p:animEffect>
                                  </p:childTnLst>
                                </p:cTn>
                              </p:par>
                              <p:par>
                                <p:cTn id="68" presetID="4" presetClass="entr" presetSubtype="16" fill="hold" grpId="0" nodeType="withEffect">
                                  <p:stCondLst>
                                    <p:cond delay="0"/>
                                  </p:stCondLst>
                                  <p:childTnLst>
                                    <p:set>
                                      <p:cBhvr>
                                        <p:cTn id="69" dur="1" fill="hold">
                                          <p:stCondLst>
                                            <p:cond delay="0"/>
                                          </p:stCondLst>
                                        </p:cTn>
                                        <p:tgtEl>
                                          <p:spTgt spid="1035"/>
                                        </p:tgtEl>
                                        <p:attrNameLst>
                                          <p:attrName>style.visibility</p:attrName>
                                        </p:attrNameLst>
                                      </p:cBhvr>
                                      <p:to>
                                        <p:strVal val="visible"/>
                                      </p:to>
                                    </p:set>
                                    <p:animEffect transition="in" filter="box(in)">
                                      <p:cBhvr>
                                        <p:cTn id="70" dur="500"/>
                                        <p:tgtEl>
                                          <p:spTgt spid="1035"/>
                                        </p:tgtEl>
                                      </p:cBhvr>
                                    </p:animEffect>
                                  </p:childTnLst>
                                </p:cTn>
                              </p:par>
                              <p:par>
                                <p:cTn id="71" presetID="4" presetClass="entr" presetSubtype="16" fill="hold" grpId="0" nodeType="with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box(in)">
                                      <p:cBhvr>
                                        <p:cTn id="73" dur="500"/>
                                        <p:tgtEl>
                                          <p:spTgt spid="10"/>
                                        </p:tgtEl>
                                      </p:cBhvr>
                                    </p:animEffect>
                                  </p:childTnLst>
                                </p:cTn>
                              </p:par>
                              <p:par>
                                <p:cTn id="74" presetID="4" presetClass="entr" presetSubtype="16" fill="hold" grpId="0" nodeType="withEffect">
                                  <p:stCondLst>
                                    <p:cond delay="0"/>
                                  </p:stCondLst>
                                  <p:childTnLst>
                                    <p:set>
                                      <p:cBhvr>
                                        <p:cTn id="75" dur="1" fill="hold">
                                          <p:stCondLst>
                                            <p:cond delay="0"/>
                                          </p:stCondLst>
                                        </p:cTn>
                                        <p:tgtEl>
                                          <p:spTgt spid="1059"/>
                                        </p:tgtEl>
                                        <p:attrNameLst>
                                          <p:attrName>style.visibility</p:attrName>
                                        </p:attrNameLst>
                                      </p:cBhvr>
                                      <p:to>
                                        <p:strVal val="visible"/>
                                      </p:to>
                                    </p:set>
                                    <p:animEffect transition="in" filter="box(in)">
                                      <p:cBhvr>
                                        <p:cTn id="76" dur="500"/>
                                        <p:tgtEl>
                                          <p:spTgt spid="1059"/>
                                        </p:tgtEl>
                                      </p:cBhvr>
                                    </p:animEffect>
                                  </p:childTnLst>
                                </p:cTn>
                              </p:par>
                              <p:par>
                                <p:cTn id="77" presetID="4" presetClass="entr" presetSubtype="16" fill="hold" grpId="0" nodeType="withEffect">
                                  <p:stCondLst>
                                    <p:cond delay="0"/>
                                  </p:stCondLst>
                                  <p:childTnLst>
                                    <p:set>
                                      <p:cBhvr>
                                        <p:cTn id="78" dur="1" fill="hold">
                                          <p:stCondLst>
                                            <p:cond delay="0"/>
                                          </p:stCondLst>
                                        </p:cTn>
                                        <p:tgtEl>
                                          <p:spTgt spid="1060"/>
                                        </p:tgtEl>
                                        <p:attrNameLst>
                                          <p:attrName>style.visibility</p:attrName>
                                        </p:attrNameLst>
                                      </p:cBhvr>
                                      <p:to>
                                        <p:strVal val="visible"/>
                                      </p:to>
                                    </p:set>
                                    <p:animEffect transition="in" filter="box(in)">
                                      <p:cBhvr>
                                        <p:cTn id="79" dur="500"/>
                                        <p:tgtEl>
                                          <p:spTgt spid="1060"/>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ntr" presetSubtype="16" fill="hold" grpId="0" nodeType="clickEffect">
                                  <p:stCondLst>
                                    <p:cond delay="0"/>
                                  </p:stCondLst>
                                  <p:childTnLst>
                                    <p:set>
                                      <p:cBhvr>
                                        <p:cTn id="83" dur="1" fill="hold">
                                          <p:stCondLst>
                                            <p:cond delay="0"/>
                                          </p:stCondLst>
                                        </p:cTn>
                                        <p:tgtEl>
                                          <p:spTgt spid="1044"/>
                                        </p:tgtEl>
                                        <p:attrNameLst>
                                          <p:attrName>style.visibility</p:attrName>
                                        </p:attrNameLst>
                                      </p:cBhvr>
                                      <p:to>
                                        <p:strVal val="visible"/>
                                      </p:to>
                                    </p:set>
                                    <p:animEffect transition="in" filter="box(in)">
                                      <p:cBhvr>
                                        <p:cTn id="84" dur="500"/>
                                        <p:tgtEl>
                                          <p:spTgt spid="1044"/>
                                        </p:tgtEl>
                                      </p:cBhvr>
                                    </p:animEffect>
                                  </p:childTnLst>
                                </p:cTn>
                              </p:par>
                            </p:childTnLst>
                          </p:cTn>
                        </p:par>
                      </p:childTnLst>
                    </p:cTn>
                  </p:par>
                  <p:par>
                    <p:cTn id="85" fill="hold">
                      <p:stCondLst>
                        <p:cond delay="indefinite"/>
                      </p:stCondLst>
                      <p:childTnLst>
                        <p:par>
                          <p:cTn id="86" fill="hold">
                            <p:stCondLst>
                              <p:cond delay="0"/>
                            </p:stCondLst>
                            <p:childTnLst>
                              <p:par>
                                <p:cTn id="87" presetID="4" presetClass="entr" presetSubtype="16" fill="hold" grpId="0" nodeType="clickEffect">
                                  <p:stCondLst>
                                    <p:cond delay="0"/>
                                  </p:stCondLst>
                                  <p:childTnLst>
                                    <p:set>
                                      <p:cBhvr>
                                        <p:cTn id="88" dur="1" fill="hold">
                                          <p:stCondLst>
                                            <p:cond delay="0"/>
                                          </p:stCondLst>
                                        </p:cTn>
                                        <p:tgtEl>
                                          <p:spTgt spid="1046"/>
                                        </p:tgtEl>
                                        <p:attrNameLst>
                                          <p:attrName>style.visibility</p:attrName>
                                        </p:attrNameLst>
                                      </p:cBhvr>
                                      <p:to>
                                        <p:strVal val="visible"/>
                                      </p:to>
                                    </p:set>
                                    <p:animEffect transition="in" filter="box(in)">
                                      <p:cBhvr>
                                        <p:cTn id="89" dur="500"/>
                                        <p:tgtEl>
                                          <p:spTgt spid="1046"/>
                                        </p:tgtEl>
                                      </p:cBhvr>
                                    </p:animEffect>
                                  </p:childTnLst>
                                </p:cTn>
                              </p:par>
                              <p:par>
                                <p:cTn id="90" presetID="4" presetClass="entr" presetSubtype="16" fill="hold" grpId="0" nodeType="withEffect">
                                  <p:stCondLst>
                                    <p:cond delay="0"/>
                                  </p:stCondLst>
                                  <p:childTnLst>
                                    <p:set>
                                      <p:cBhvr>
                                        <p:cTn id="91" dur="1" fill="hold">
                                          <p:stCondLst>
                                            <p:cond delay="0"/>
                                          </p:stCondLst>
                                        </p:cTn>
                                        <p:tgtEl>
                                          <p:spTgt spid="1036"/>
                                        </p:tgtEl>
                                        <p:attrNameLst>
                                          <p:attrName>style.visibility</p:attrName>
                                        </p:attrNameLst>
                                      </p:cBhvr>
                                      <p:to>
                                        <p:strVal val="visible"/>
                                      </p:to>
                                    </p:set>
                                    <p:animEffect transition="in" filter="box(in)">
                                      <p:cBhvr>
                                        <p:cTn id="92" dur="500"/>
                                        <p:tgtEl>
                                          <p:spTgt spid="1036"/>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1054"/>
                                        </p:tgtEl>
                                        <p:attrNameLst>
                                          <p:attrName>style.visibility</p:attrName>
                                        </p:attrNameLst>
                                      </p:cBhvr>
                                      <p:to>
                                        <p:strVal val="visible"/>
                                      </p:to>
                                    </p:set>
                                    <p:animEffect transition="in" filter="box(in)">
                                      <p:cBhvr>
                                        <p:cTn id="95" dur="500"/>
                                        <p:tgtEl>
                                          <p:spTgt spid="1054"/>
                                        </p:tgtEl>
                                      </p:cBhvr>
                                    </p:animEffect>
                                  </p:childTnLst>
                                </p:cTn>
                              </p:par>
                              <p:par>
                                <p:cTn id="96" presetID="4" presetClass="entr" presetSubtype="16" fill="hold" grpId="0" nodeType="withEffect">
                                  <p:stCondLst>
                                    <p:cond delay="0"/>
                                  </p:stCondLst>
                                  <p:childTnLst>
                                    <p:set>
                                      <p:cBhvr>
                                        <p:cTn id="97" dur="1" fill="hold">
                                          <p:stCondLst>
                                            <p:cond delay="0"/>
                                          </p:stCondLst>
                                        </p:cTn>
                                        <p:tgtEl>
                                          <p:spTgt spid="1055"/>
                                        </p:tgtEl>
                                        <p:attrNameLst>
                                          <p:attrName>style.visibility</p:attrName>
                                        </p:attrNameLst>
                                      </p:cBhvr>
                                      <p:to>
                                        <p:strVal val="visible"/>
                                      </p:to>
                                    </p:set>
                                    <p:animEffect transition="in" filter="box(in)">
                                      <p:cBhvr>
                                        <p:cTn id="98" dur="500"/>
                                        <p:tgtEl>
                                          <p:spTgt spid="1055"/>
                                        </p:tgtEl>
                                      </p:cBhvr>
                                    </p:animEffect>
                                  </p:childTnLst>
                                </p:cTn>
                              </p:par>
                              <p:par>
                                <p:cTn id="99" presetID="4" presetClass="entr" presetSubtype="16" fill="hold" grpId="0" nodeType="withEffect">
                                  <p:stCondLst>
                                    <p:cond delay="0"/>
                                  </p:stCondLst>
                                  <p:childTnLst>
                                    <p:set>
                                      <p:cBhvr>
                                        <p:cTn id="100" dur="1" fill="hold">
                                          <p:stCondLst>
                                            <p:cond delay="0"/>
                                          </p:stCondLst>
                                        </p:cTn>
                                        <p:tgtEl>
                                          <p:spTgt spid="1045"/>
                                        </p:tgtEl>
                                        <p:attrNameLst>
                                          <p:attrName>style.visibility</p:attrName>
                                        </p:attrNameLst>
                                      </p:cBhvr>
                                      <p:to>
                                        <p:strVal val="visible"/>
                                      </p:to>
                                    </p:set>
                                    <p:animEffect transition="in" filter="box(in)">
                                      <p:cBhvr>
                                        <p:cTn id="101" dur="500"/>
                                        <p:tgtEl>
                                          <p:spTgt spid="1045"/>
                                        </p:tgtEl>
                                      </p:cBhvr>
                                    </p:animEffect>
                                  </p:childTnLst>
                                </p:cTn>
                              </p:par>
                              <p:par>
                                <p:cTn id="102" presetID="4" presetClass="entr" presetSubtype="16" fill="hold" grpId="0" nodeType="withEffect">
                                  <p:stCondLst>
                                    <p:cond delay="0"/>
                                  </p:stCondLst>
                                  <p:childTnLst>
                                    <p:set>
                                      <p:cBhvr>
                                        <p:cTn id="103" dur="1" fill="hold">
                                          <p:stCondLst>
                                            <p:cond delay="0"/>
                                          </p:stCondLst>
                                        </p:cTn>
                                        <p:tgtEl>
                                          <p:spTgt spid="1041"/>
                                        </p:tgtEl>
                                        <p:attrNameLst>
                                          <p:attrName>style.visibility</p:attrName>
                                        </p:attrNameLst>
                                      </p:cBhvr>
                                      <p:to>
                                        <p:strVal val="visible"/>
                                      </p:to>
                                    </p:set>
                                    <p:animEffect transition="in" filter="box(in)">
                                      <p:cBhvr>
                                        <p:cTn id="104" dur="500"/>
                                        <p:tgtEl>
                                          <p:spTgt spid="1041"/>
                                        </p:tgtEl>
                                      </p:cBhvr>
                                    </p:animEffect>
                                  </p:childTnLst>
                                </p:cTn>
                              </p:par>
                            </p:childTnLst>
                          </p:cTn>
                        </p:par>
                      </p:childTnLst>
                    </p:cTn>
                  </p:par>
                  <p:par>
                    <p:cTn id="105" fill="hold">
                      <p:stCondLst>
                        <p:cond delay="indefinite"/>
                      </p:stCondLst>
                      <p:childTnLst>
                        <p:par>
                          <p:cTn id="106" fill="hold">
                            <p:stCondLst>
                              <p:cond delay="0"/>
                            </p:stCondLst>
                            <p:childTnLst>
                              <p:par>
                                <p:cTn id="107" presetID="4" presetClass="entr" presetSubtype="16" fill="hold" grpId="0" nodeType="clickEffect">
                                  <p:stCondLst>
                                    <p:cond delay="0"/>
                                  </p:stCondLst>
                                  <p:childTnLst>
                                    <p:set>
                                      <p:cBhvr>
                                        <p:cTn id="108" dur="1" fill="hold">
                                          <p:stCondLst>
                                            <p:cond delay="0"/>
                                          </p:stCondLst>
                                        </p:cTn>
                                        <p:tgtEl>
                                          <p:spTgt spid="1029"/>
                                        </p:tgtEl>
                                        <p:attrNameLst>
                                          <p:attrName>style.visibility</p:attrName>
                                        </p:attrNameLst>
                                      </p:cBhvr>
                                      <p:to>
                                        <p:strVal val="visible"/>
                                      </p:to>
                                    </p:set>
                                    <p:animEffect transition="in" filter="box(in)">
                                      <p:cBhvr>
                                        <p:cTn id="109" dur="500"/>
                                        <p:tgtEl>
                                          <p:spTgt spid="1029"/>
                                        </p:tgtEl>
                                      </p:cBhvr>
                                    </p:animEffect>
                                  </p:childTnLst>
                                </p:cTn>
                              </p:par>
                            </p:childTnLst>
                          </p:cTn>
                        </p:par>
                      </p:childTnLst>
                    </p:cTn>
                  </p:par>
                  <p:par>
                    <p:cTn id="110" fill="hold">
                      <p:stCondLst>
                        <p:cond delay="indefinite"/>
                      </p:stCondLst>
                      <p:childTnLst>
                        <p:par>
                          <p:cTn id="111" fill="hold">
                            <p:stCondLst>
                              <p:cond delay="0"/>
                            </p:stCondLst>
                            <p:childTnLst>
                              <p:par>
                                <p:cTn id="112" presetID="4" presetClass="entr" presetSubtype="16" fill="hold" grpId="0" nodeType="clickEffect">
                                  <p:stCondLst>
                                    <p:cond delay="0"/>
                                  </p:stCondLst>
                                  <p:childTnLst>
                                    <p:set>
                                      <p:cBhvr>
                                        <p:cTn id="113" dur="1" fill="hold">
                                          <p:stCondLst>
                                            <p:cond delay="0"/>
                                          </p:stCondLst>
                                        </p:cTn>
                                        <p:tgtEl>
                                          <p:spTgt spid="1030"/>
                                        </p:tgtEl>
                                        <p:attrNameLst>
                                          <p:attrName>style.visibility</p:attrName>
                                        </p:attrNameLst>
                                      </p:cBhvr>
                                      <p:to>
                                        <p:strVal val="visible"/>
                                      </p:to>
                                    </p:set>
                                    <p:animEffect transition="in" filter="box(in)">
                                      <p:cBhvr>
                                        <p:cTn id="114" dur="500"/>
                                        <p:tgtEl>
                                          <p:spTgt spid="1030"/>
                                        </p:tgtEl>
                                      </p:cBhvr>
                                    </p:animEffect>
                                  </p:childTnLst>
                                </p:cTn>
                              </p:par>
                            </p:childTnLst>
                          </p:cTn>
                        </p:par>
                      </p:childTnLst>
                    </p:cTn>
                  </p:par>
                  <p:par>
                    <p:cTn id="115" fill="hold">
                      <p:stCondLst>
                        <p:cond delay="indefinite"/>
                      </p:stCondLst>
                      <p:childTnLst>
                        <p:par>
                          <p:cTn id="116" fill="hold">
                            <p:stCondLst>
                              <p:cond delay="0"/>
                            </p:stCondLst>
                            <p:childTnLst>
                              <p:par>
                                <p:cTn id="117" presetID="4" presetClass="entr" presetSubtype="16" fill="hold" grpId="0" nodeType="clickEffect">
                                  <p:stCondLst>
                                    <p:cond delay="0"/>
                                  </p:stCondLst>
                                  <p:childTnLst>
                                    <p:set>
                                      <p:cBhvr>
                                        <p:cTn id="118" dur="1" fill="hold">
                                          <p:stCondLst>
                                            <p:cond delay="0"/>
                                          </p:stCondLst>
                                        </p:cTn>
                                        <p:tgtEl>
                                          <p:spTgt spid="1031"/>
                                        </p:tgtEl>
                                        <p:attrNameLst>
                                          <p:attrName>style.visibility</p:attrName>
                                        </p:attrNameLst>
                                      </p:cBhvr>
                                      <p:to>
                                        <p:strVal val="visible"/>
                                      </p:to>
                                    </p:set>
                                    <p:animEffect transition="in" filter="box(in)">
                                      <p:cBhvr>
                                        <p:cTn id="119" dur="500"/>
                                        <p:tgtEl>
                                          <p:spTgt spid="1031"/>
                                        </p:tgtEl>
                                      </p:cBhvr>
                                    </p:animEffect>
                                  </p:childTnLst>
                                </p:cTn>
                              </p:par>
                            </p:childTnLst>
                          </p:cTn>
                        </p:par>
                      </p:childTnLst>
                    </p:cTn>
                  </p:par>
                  <p:par>
                    <p:cTn id="120" fill="hold">
                      <p:stCondLst>
                        <p:cond delay="indefinite"/>
                      </p:stCondLst>
                      <p:childTnLst>
                        <p:par>
                          <p:cTn id="121" fill="hold">
                            <p:stCondLst>
                              <p:cond delay="0"/>
                            </p:stCondLst>
                            <p:childTnLst>
                              <p:par>
                                <p:cTn id="122" presetID="4" presetClass="entr" presetSubtype="16" fill="hold" grpId="0" nodeType="clickEffect">
                                  <p:stCondLst>
                                    <p:cond delay="0"/>
                                  </p:stCondLst>
                                  <p:childTnLst>
                                    <p:set>
                                      <p:cBhvr>
                                        <p:cTn id="123" dur="1" fill="hold">
                                          <p:stCondLst>
                                            <p:cond delay="0"/>
                                          </p:stCondLst>
                                        </p:cTn>
                                        <p:tgtEl>
                                          <p:spTgt spid="1052"/>
                                        </p:tgtEl>
                                        <p:attrNameLst>
                                          <p:attrName>style.visibility</p:attrName>
                                        </p:attrNameLst>
                                      </p:cBhvr>
                                      <p:to>
                                        <p:strVal val="visible"/>
                                      </p:to>
                                    </p:set>
                                    <p:animEffect transition="in" filter="box(in)">
                                      <p:cBhvr>
                                        <p:cTn id="124" dur="500"/>
                                        <p:tgtEl>
                                          <p:spTgt spid="1052"/>
                                        </p:tgtEl>
                                      </p:cBhvr>
                                    </p:animEffect>
                                  </p:childTnLst>
                                </p:cTn>
                              </p:par>
                              <p:par>
                                <p:cTn id="125" presetID="4" presetClass="entr" presetSubtype="16" fill="hold" grpId="0" nodeType="withEffect">
                                  <p:stCondLst>
                                    <p:cond delay="0"/>
                                  </p:stCondLst>
                                  <p:childTnLst>
                                    <p:set>
                                      <p:cBhvr>
                                        <p:cTn id="126" dur="1" fill="hold">
                                          <p:stCondLst>
                                            <p:cond delay="0"/>
                                          </p:stCondLst>
                                        </p:cTn>
                                        <p:tgtEl>
                                          <p:spTgt spid="1048"/>
                                        </p:tgtEl>
                                        <p:attrNameLst>
                                          <p:attrName>style.visibility</p:attrName>
                                        </p:attrNameLst>
                                      </p:cBhvr>
                                      <p:to>
                                        <p:strVal val="visible"/>
                                      </p:to>
                                    </p:set>
                                    <p:animEffect transition="in" filter="box(in)">
                                      <p:cBhvr>
                                        <p:cTn id="127" dur="500"/>
                                        <p:tgtEl>
                                          <p:spTgt spid="1048"/>
                                        </p:tgtEl>
                                      </p:cBhvr>
                                    </p:animEffect>
                                  </p:childTnLst>
                                </p:cTn>
                              </p:par>
                              <p:par>
                                <p:cTn id="128" presetID="4" presetClass="entr" presetSubtype="16" fill="hold" grpId="0" nodeType="withEffect">
                                  <p:stCondLst>
                                    <p:cond delay="0"/>
                                  </p:stCondLst>
                                  <p:childTnLst>
                                    <p:set>
                                      <p:cBhvr>
                                        <p:cTn id="129" dur="1" fill="hold">
                                          <p:stCondLst>
                                            <p:cond delay="0"/>
                                          </p:stCondLst>
                                        </p:cTn>
                                        <p:tgtEl>
                                          <p:spTgt spid="1053"/>
                                        </p:tgtEl>
                                        <p:attrNameLst>
                                          <p:attrName>style.visibility</p:attrName>
                                        </p:attrNameLst>
                                      </p:cBhvr>
                                      <p:to>
                                        <p:strVal val="visible"/>
                                      </p:to>
                                    </p:set>
                                    <p:animEffect transition="in" filter="box(in)">
                                      <p:cBhvr>
                                        <p:cTn id="130" dur="500"/>
                                        <p:tgtEl>
                                          <p:spTgt spid="1053"/>
                                        </p:tgtEl>
                                      </p:cBhvr>
                                    </p:animEffect>
                                  </p:childTnLst>
                                </p:cTn>
                              </p:par>
                              <p:par>
                                <p:cTn id="131" presetID="4" presetClass="entr" presetSubtype="16" fill="hold" grpId="0" nodeType="withEffect">
                                  <p:stCondLst>
                                    <p:cond delay="0"/>
                                  </p:stCondLst>
                                  <p:childTnLst>
                                    <p:set>
                                      <p:cBhvr>
                                        <p:cTn id="132" dur="1" fill="hold">
                                          <p:stCondLst>
                                            <p:cond delay="0"/>
                                          </p:stCondLst>
                                        </p:cTn>
                                        <p:tgtEl>
                                          <p:spTgt spid="1047"/>
                                        </p:tgtEl>
                                        <p:attrNameLst>
                                          <p:attrName>style.visibility</p:attrName>
                                        </p:attrNameLst>
                                      </p:cBhvr>
                                      <p:to>
                                        <p:strVal val="visible"/>
                                      </p:to>
                                    </p:set>
                                    <p:animEffect transition="in" filter="box(in)">
                                      <p:cBhvr>
                                        <p:cTn id="133" dur="500"/>
                                        <p:tgtEl>
                                          <p:spTgt spid="1047"/>
                                        </p:tgtEl>
                                      </p:cBhvr>
                                    </p:animEffect>
                                  </p:childTnLst>
                                </p:cTn>
                              </p:par>
                            </p:childTnLst>
                          </p:cTn>
                        </p:par>
                      </p:childTnLst>
                    </p:cTn>
                  </p:par>
                  <p:par>
                    <p:cTn id="134" fill="hold">
                      <p:stCondLst>
                        <p:cond delay="indefinite"/>
                      </p:stCondLst>
                      <p:childTnLst>
                        <p:par>
                          <p:cTn id="135" fill="hold">
                            <p:stCondLst>
                              <p:cond delay="0"/>
                            </p:stCondLst>
                            <p:childTnLst>
                              <p:par>
                                <p:cTn id="136" presetID="2" presetClass="entr" presetSubtype="4" fill="hold" grpId="0" nodeType="clickEffect">
                                  <p:stCondLst>
                                    <p:cond delay="0"/>
                                  </p:stCondLst>
                                  <p:childTnLst>
                                    <p:set>
                                      <p:cBhvr>
                                        <p:cTn id="137" dur="1" fill="hold">
                                          <p:stCondLst>
                                            <p:cond delay="0"/>
                                          </p:stCondLst>
                                        </p:cTn>
                                        <p:tgtEl>
                                          <p:spTgt spid="1049"/>
                                        </p:tgtEl>
                                        <p:attrNameLst>
                                          <p:attrName>style.visibility</p:attrName>
                                        </p:attrNameLst>
                                      </p:cBhvr>
                                      <p:to>
                                        <p:strVal val="visible"/>
                                      </p:to>
                                    </p:set>
                                    <p:anim calcmode="lin" valueType="num">
                                      <p:cBhvr additive="base">
                                        <p:cTn id="138" dur="500" fill="hold"/>
                                        <p:tgtEl>
                                          <p:spTgt spid="1049"/>
                                        </p:tgtEl>
                                        <p:attrNameLst>
                                          <p:attrName>ppt_x</p:attrName>
                                        </p:attrNameLst>
                                      </p:cBhvr>
                                      <p:tavLst>
                                        <p:tav tm="0">
                                          <p:val>
                                            <p:strVal val="#ppt_x"/>
                                          </p:val>
                                        </p:tav>
                                        <p:tav tm="100000">
                                          <p:val>
                                            <p:strVal val="#ppt_x"/>
                                          </p:val>
                                        </p:tav>
                                      </p:tavLst>
                                    </p:anim>
                                    <p:anim calcmode="lin" valueType="num">
                                      <p:cBhvr additive="base">
                                        <p:cTn id="139" dur="500" fill="hold"/>
                                        <p:tgtEl>
                                          <p:spTgt spid="1049"/>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1050"/>
                                        </p:tgtEl>
                                        <p:attrNameLst>
                                          <p:attrName>style.visibility</p:attrName>
                                        </p:attrNameLst>
                                      </p:cBhvr>
                                      <p:to>
                                        <p:strVal val="visible"/>
                                      </p:to>
                                    </p:set>
                                    <p:anim calcmode="lin" valueType="num">
                                      <p:cBhvr additive="base">
                                        <p:cTn id="142" dur="500" fill="hold"/>
                                        <p:tgtEl>
                                          <p:spTgt spid="1050"/>
                                        </p:tgtEl>
                                        <p:attrNameLst>
                                          <p:attrName>ppt_x</p:attrName>
                                        </p:attrNameLst>
                                      </p:cBhvr>
                                      <p:tavLst>
                                        <p:tav tm="0">
                                          <p:val>
                                            <p:strVal val="#ppt_x"/>
                                          </p:val>
                                        </p:tav>
                                        <p:tav tm="100000">
                                          <p:val>
                                            <p:strVal val="#ppt_x"/>
                                          </p:val>
                                        </p:tav>
                                      </p:tavLst>
                                    </p:anim>
                                    <p:anim calcmode="lin" valueType="num">
                                      <p:cBhvr additive="base">
                                        <p:cTn id="143" dur="500" fill="hold"/>
                                        <p:tgtEl>
                                          <p:spTgt spid="1050"/>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1051"/>
                                        </p:tgtEl>
                                        <p:attrNameLst>
                                          <p:attrName>style.visibility</p:attrName>
                                        </p:attrNameLst>
                                      </p:cBhvr>
                                      <p:to>
                                        <p:strVal val="visible"/>
                                      </p:to>
                                    </p:set>
                                    <p:anim calcmode="lin" valueType="num">
                                      <p:cBhvr additive="base">
                                        <p:cTn id="146" dur="500" fill="hold"/>
                                        <p:tgtEl>
                                          <p:spTgt spid="1051"/>
                                        </p:tgtEl>
                                        <p:attrNameLst>
                                          <p:attrName>ppt_x</p:attrName>
                                        </p:attrNameLst>
                                      </p:cBhvr>
                                      <p:tavLst>
                                        <p:tav tm="0">
                                          <p:val>
                                            <p:strVal val="#ppt_x"/>
                                          </p:val>
                                        </p:tav>
                                        <p:tav tm="100000">
                                          <p:val>
                                            <p:strVal val="#ppt_x"/>
                                          </p:val>
                                        </p:tav>
                                      </p:tavLst>
                                    </p:anim>
                                    <p:anim calcmode="lin" valueType="num">
                                      <p:cBhvr additive="base">
                                        <p:cTn id="147" dur="500" fill="hold"/>
                                        <p:tgtEl>
                                          <p:spTgt spid="1051"/>
                                        </p:tgtEl>
                                        <p:attrNameLst>
                                          <p:attrName>ppt_y</p:attrName>
                                        </p:attrNameLst>
                                      </p:cBhvr>
                                      <p:tavLst>
                                        <p:tav tm="0">
                                          <p:val>
                                            <p:strVal val="1+#ppt_h/2"/>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2" presetClass="entr" presetSubtype="4" fill="hold" nodeType="clickEffect">
                                  <p:stCondLst>
                                    <p:cond delay="0"/>
                                  </p:stCondLst>
                                  <p:childTnLst>
                                    <p:set>
                                      <p:cBhvr>
                                        <p:cTn id="151" dur="1" fill="hold">
                                          <p:stCondLst>
                                            <p:cond delay="0"/>
                                          </p:stCondLst>
                                        </p:cTn>
                                        <p:tgtEl>
                                          <p:spTgt spid="1028"/>
                                        </p:tgtEl>
                                        <p:attrNameLst>
                                          <p:attrName>style.visibility</p:attrName>
                                        </p:attrNameLst>
                                      </p:cBhvr>
                                      <p:to>
                                        <p:strVal val="visible"/>
                                      </p:to>
                                    </p:set>
                                    <p:anim calcmode="lin" valueType="num">
                                      <p:cBhvr additive="base">
                                        <p:cTn id="152" dur="500" fill="hold"/>
                                        <p:tgtEl>
                                          <p:spTgt spid="1028"/>
                                        </p:tgtEl>
                                        <p:attrNameLst>
                                          <p:attrName>ppt_x</p:attrName>
                                        </p:attrNameLst>
                                      </p:cBhvr>
                                      <p:tavLst>
                                        <p:tav tm="0">
                                          <p:val>
                                            <p:strVal val="#ppt_x"/>
                                          </p:val>
                                        </p:tav>
                                        <p:tav tm="100000">
                                          <p:val>
                                            <p:strVal val="#ppt_x"/>
                                          </p:val>
                                        </p:tav>
                                      </p:tavLst>
                                    </p:anim>
                                    <p:anim calcmode="lin" valueType="num">
                                      <p:cBhvr additive="base">
                                        <p:cTn id="153"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presetID="2" presetClass="entr" presetSubtype="4" fill="hold" nodeType="clickEffect">
                                  <p:stCondLst>
                                    <p:cond delay="0"/>
                                  </p:stCondLst>
                                  <p:childTnLst>
                                    <p:set>
                                      <p:cBhvr>
                                        <p:cTn id="157" dur="1" fill="hold">
                                          <p:stCondLst>
                                            <p:cond delay="0"/>
                                          </p:stCondLst>
                                        </p:cTn>
                                        <p:tgtEl>
                                          <p:spTgt spid="1027"/>
                                        </p:tgtEl>
                                        <p:attrNameLst>
                                          <p:attrName>style.visibility</p:attrName>
                                        </p:attrNameLst>
                                      </p:cBhvr>
                                      <p:to>
                                        <p:strVal val="visible"/>
                                      </p:to>
                                    </p:set>
                                    <p:anim calcmode="lin" valueType="num">
                                      <p:cBhvr additive="base">
                                        <p:cTn id="158" dur="500" fill="hold"/>
                                        <p:tgtEl>
                                          <p:spTgt spid="1027"/>
                                        </p:tgtEl>
                                        <p:attrNameLst>
                                          <p:attrName>ppt_x</p:attrName>
                                        </p:attrNameLst>
                                      </p:cBhvr>
                                      <p:tavLst>
                                        <p:tav tm="0">
                                          <p:val>
                                            <p:strVal val="#ppt_x"/>
                                          </p:val>
                                        </p:tav>
                                        <p:tav tm="100000">
                                          <p:val>
                                            <p:strVal val="#ppt_x"/>
                                          </p:val>
                                        </p:tav>
                                      </p:tavLst>
                                    </p:anim>
                                    <p:anim calcmode="lin" valueType="num">
                                      <p:cBhvr additive="base">
                                        <p:cTn id="159"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par>
                    <p:cTn id="160" fill="hold">
                      <p:stCondLst>
                        <p:cond delay="indefinite"/>
                      </p:stCondLst>
                      <p:childTnLst>
                        <p:par>
                          <p:cTn id="161" fill="hold">
                            <p:stCondLst>
                              <p:cond delay="0"/>
                            </p:stCondLst>
                            <p:childTnLst>
                              <p:par>
                                <p:cTn id="162" presetID="2" presetClass="entr" presetSubtype="4" fill="hold" nodeType="clickEffect">
                                  <p:stCondLst>
                                    <p:cond delay="0"/>
                                  </p:stCondLst>
                                  <p:childTnLst>
                                    <p:set>
                                      <p:cBhvr>
                                        <p:cTn id="163" dur="1" fill="hold">
                                          <p:stCondLst>
                                            <p:cond delay="0"/>
                                          </p:stCondLst>
                                        </p:cTn>
                                        <p:tgtEl>
                                          <p:spTgt spid="1026"/>
                                        </p:tgtEl>
                                        <p:attrNameLst>
                                          <p:attrName>style.visibility</p:attrName>
                                        </p:attrNameLst>
                                      </p:cBhvr>
                                      <p:to>
                                        <p:strVal val="visible"/>
                                      </p:to>
                                    </p:set>
                                    <p:anim calcmode="lin" valueType="num">
                                      <p:cBhvr additive="base">
                                        <p:cTn id="164" dur="500" fill="hold"/>
                                        <p:tgtEl>
                                          <p:spTgt spid="1026"/>
                                        </p:tgtEl>
                                        <p:attrNameLst>
                                          <p:attrName>ppt_x</p:attrName>
                                        </p:attrNameLst>
                                      </p:cBhvr>
                                      <p:tavLst>
                                        <p:tav tm="0">
                                          <p:val>
                                            <p:strVal val="#ppt_x"/>
                                          </p:val>
                                        </p:tav>
                                        <p:tav tm="100000">
                                          <p:val>
                                            <p:strVal val="#ppt_x"/>
                                          </p:val>
                                        </p:tav>
                                      </p:tavLst>
                                    </p:anim>
                                    <p:anim calcmode="lin" valueType="num">
                                      <p:cBhvr additive="base">
                                        <p:cTn id="165"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 grpId="0" animBg="1"/>
      <p:bldP spid="1030" grpId="0" animBg="1"/>
      <p:bldP spid="1031" grpId="0" animBg="1"/>
      <p:bldP spid="1032" grpId="0" animBg="1"/>
      <p:bldP spid="6" grpId="0" animBg="1"/>
      <p:bldP spid="10" grpId="0" animBg="1"/>
      <p:bldP spid="1035" grpId="0" animBg="1"/>
      <p:bldP spid="1036" grpId="0" animBg="1"/>
      <p:bldP spid="1037" grpId="0" animBg="1"/>
      <p:bldP spid="1037" grpId="1" animBg="1"/>
      <p:bldP spid="1038" grpId="0" animBg="1"/>
      <p:bldP spid="1038" grpId="1" animBg="1"/>
      <p:bldP spid="1039" grpId="0" animBg="1"/>
      <p:bldP spid="1040" grpId="0" animBg="1"/>
      <p:bldP spid="1041" grpId="0" animBg="1"/>
      <p:bldP spid="1042" grpId="0"/>
      <p:bldP spid="1043" grpId="0"/>
      <p:bldP spid="1044" grpId="0"/>
      <p:bldP spid="1045" grpId="0"/>
      <p:bldP spid="1046" grpId="0"/>
      <p:bldP spid="1047" grpId="0"/>
      <p:bldP spid="1048" grpId="0"/>
      <p:bldP spid="1049" grpId="0" animBg="1"/>
      <p:bldP spid="1050" grpId="0" animBg="1"/>
      <p:bldP spid="1051" grpId="0" animBg="1"/>
      <p:bldP spid="1052" grpId="0"/>
      <p:bldP spid="1053" grpId="0"/>
      <p:bldP spid="1054" grpId="0" animBg="1"/>
      <p:bldP spid="1055" grpId="0" animBg="1"/>
      <p:bldP spid="1057" grpId="0"/>
      <p:bldP spid="1058" grpId="0"/>
      <p:bldP spid="1058" grpId="1"/>
      <p:bldP spid="1059" grpId="0"/>
      <p:bldP spid="1060" grpId="0"/>
      <p:bldP spid="1061" grpId="0"/>
      <p:bldP spid="1061" grpId="1"/>
      <p:bldP spid="1062" grpId="0"/>
      <p:bldP spid="1847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65" name="Object 1"/>
          <p:cNvGraphicFramePr>
            <a:graphicFrameLocks noChangeAspect="1"/>
          </p:cNvGraphicFramePr>
          <p:nvPr>
            <p:extLst>
              <p:ext uri="{D42A27DB-BD31-4B8C-83A1-F6EECF244321}">
                <p14:modId xmlns:p14="http://schemas.microsoft.com/office/powerpoint/2010/main" val="1927613724"/>
              </p:ext>
            </p:extLst>
          </p:nvPr>
        </p:nvGraphicFramePr>
        <p:xfrm>
          <a:off x="3621004" y="1617189"/>
          <a:ext cx="6379029" cy="4226331"/>
        </p:xfrm>
        <a:graphic>
          <a:graphicData uri="http://schemas.openxmlformats.org/presentationml/2006/ole">
            <mc:AlternateContent xmlns:mc="http://schemas.openxmlformats.org/markup-compatibility/2006">
              <mc:Choice xmlns:v="urn:schemas-microsoft-com:vml" Requires="v">
                <p:oleObj spid="_x0000_s19494" name="Visio" r:id="rId3" imgW="3784759" imgH="2501456" progId="Visio.Drawing.11">
                  <p:embed/>
                </p:oleObj>
              </mc:Choice>
              <mc:Fallback>
                <p:oleObj name="Visio" r:id="rId3" imgW="3784759" imgH="250145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1004" y="1617189"/>
                        <a:ext cx="6379029" cy="4226331"/>
                      </a:xfrm>
                      <a:prstGeom prst="rect">
                        <a:avLst/>
                      </a:prstGeom>
                      <a:noFill/>
                    </p:spPr>
                  </p:pic>
                </p:oleObj>
              </mc:Fallback>
            </mc:AlternateContent>
          </a:graphicData>
        </a:graphic>
      </p:graphicFrame>
      <p:sp>
        <p:nvSpPr>
          <p:cNvPr id="19466" name="TextBox 3"/>
          <p:cNvSpPr txBox="1">
            <a:spLocks noChangeArrowheads="1"/>
          </p:cNvSpPr>
          <p:nvPr/>
        </p:nvSpPr>
        <p:spPr bwMode="auto">
          <a:xfrm>
            <a:off x="5458433" y="6199238"/>
            <a:ext cx="3289300" cy="579437"/>
          </a:xfrm>
          <a:prstGeom prst="rect">
            <a:avLst/>
          </a:prstGeom>
          <a:noFill/>
          <a:ln w="9525">
            <a:noFill/>
            <a:miter lim="800000"/>
            <a:headEnd/>
            <a:tailEnd/>
          </a:ln>
        </p:spPr>
        <p:txBody>
          <a:bodyPr>
            <a:spAutoFit/>
          </a:bodyPr>
          <a:lstStyle/>
          <a:p>
            <a:pPr algn="ctr" defTabSz="914400"/>
            <a:r>
              <a:rPr lang="zh-CN" altLang="en-US" sz="3200" b="1" dirty="0">
                <a:latin typeface="微软雅黑" pitchFamily="34" charset="-122"/>
                <a:ea typeface="微软雅黑" pitchFamily="34" charset="-122"/>
              </a:rPr>
              <a:t>光谱响应曲线</a:t>
            </a:r>
          </a:p>
        </p:txBody>
      </p:sp>
      <p:grpSp>
        <p:nvGrpSpPr>
          <p:cNvPr id="11" name="组合 10">
            <a:extLst>
              <a:ext uri="{FF2B5EF4-FFF2-40B4-BE49-F238E27FC236}">
                <a16:creationId xmlns:a16="http://schemas.microsoft.com/office/drawing/2014/main" xmlns="" id="{C4785028-BFF5-44EB-800A-C3CC46D3C7A8}"/>
              </a:ext>
            </a:extLst>
          </p:cNvPr>
          <p:cNvGrpSpPr/>
          <p:nvPr/>
        </p:nvGrpSpPr>
        <p:grpSpPr>
          <a:xfrm>
            <a:off x="0" y="293282"/>
            <a:ext cx="13161246" cy="7421968"/>
            <a:chOff x="0" y="293282"/>
            <a:chExt cx="13161246" cy="7421968"/>
          </a:xfrm>
        </p:grpSpPr>
        <p:sp>
          <p:nvSpPr>
            <p:cNvPr id="17" name="文本框 60">
              <a:extLst>
                <a:ext uri="{FF2B5EF4-FFF2-40B4-BE49-F238E27FC236}">
                  <a16:creationId xmlns:a16="http://schemas.microsoft.com/office/drawing/2014/main" xmlns="" id="{43B7FA2E-32C0-4B33-B966-90ECD6C5AD84}"/>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色敏探测器结构与工作原理 </a:t>
              </a:r>
            </a:p>
          </p:txBody>
        </p:sp>
        <p:sp>
          <p:nvSpPr>
            <p:cNvPr id="18" name="矩形 17">
              <a:extLst>
                <a:ext uri="{FF2B5EF4-FFF2-40B4-BE49-F238E27FC236}">
                  <a16:creationId xmlns:a16="http://schemas.microsoft.com/office/drawing/2014/main" xmlns="" id="{6E3D5704-464B-4425-926A-06E04A92C34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xmlns="" id="{FDF61C93-8158-4B06-A67A-2BDA8B40748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xmlns="" id="{AE7C1C79-A869-478A-B521-203A9C97F68D}"/>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a16="http://schemas.microsoft.com/office/drawing/2014/main" xmlns="" id="{88EB0630-F1DE-4F41-A5A5-5BE8520537FB}"/>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xmlns="" id="{B3752244-83E7-42A0-8199-78627C73F1FF}"/>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a16="http://schemas.microsoft.com/office/drawing/2014/main" xmlns="" id="{11E7F458-0E74-435E-8B3A-3394CCA18C2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TextBox 52"/>
          <p:cNvSpPr txBox="1">
            <a:spLocks noChangeArrowheads="1"/>
          </p:cNvSpPr>
          <p:nvPr/>
        </p:nvSpPr>
        <p:spPr bwMode="auto">
          <a:xfrm>
            <a:off x="4101742" y="6150511"/>
            <a:ext cx="666750" cy="519113"/>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PD</a:t>
            </a:r>
            <a:endParaRPr lang="zh-CN" altLang="en-US" sz="2800" b="1">
              <a:latin typeface="Times New Roman" pitchFamily="18" charset="0"/>
              <a:ea typeface="楷体_GB2312" pitchFamily="49" charset="-122"/>
              <a:cs typeface="Times New Roman" pitchFamily="18" charset="0"/>
            </a:endParaRPr>
          </a:p>
        </p:txBody>
      </p:sp>
      <p:sp>
        <p:nvSpPr>
          <p:cNvPr id="4104" name="矩形 39"/>
          <p:cNvSpPr>
            <a:spLocks noChangeArrowheads="1"/>
          </p:cNvSpPr>
          <p:nvPr/>
        </p:nvSpPr>
        <p:spPr bwMode="auto">
          <a:xfrm rot="5400000">
            <a:off x="3461979" y="5226587"/>
            <a:ext cx="1012825" cy="158750"/>
          </a:xfrm>
          <a:prstGeom prst="rect">
            <a:avLst/>
          </a:prstGeom>
          <a:solidFill>
            <a:schemeClr val="tx2"/>
          </a:solidFill>
          <a:ln w="9525" algn="ctr">
            <a:solidFill>
              <a:srgbClr val="000000"/>
            </a:solidFill>
            <a:round/>
            <a:headEnd/>
            <a:tailEnd/>
          </a:ln>
        </p:spPr>
        <p:txBody>
          <a:bodyPr rot="10800000" vert="eaVert"/>
          <a:lstStyle/>
          <a:p>
            <a:pPr defTabSz="914400"/>
            <a:endParaRPr lang="zh-CN" altLang="en-US" sz="2400" b="1">
              <a:latin typeface="楷体_GB2312" pitchFamily="49" charset="-122"/>
              <a:ea typeface="楷体_GB2312" pitchFamily="49" charset="-122"/>
            </a:endParaRPr>
          </a:p>
        </p:txBody>
      </p:sp>
      <p:sp>
        <p:nvSpPr>
          <p:cNvPr id="4105" name="矩形 40"/>
          <p:cNvSpPr>
            <a:spLocks noChangeArrowheads="1"/>
          </p:cNvSpPr>
          <p:nvPr/>
        </p:nvSpPr>
        <p:spPr bwMode="auto">
          <a:xfrm rot="5400000">
            <a:off x="3461185" y="4212968"/>
            <a:ext cx="1014413" cy="158750"/>
          </a:xfrm>
          <a:prstGeom prst="rect">
            <a:avLst/>
          </a:prstGeom>
          <a:solidFill>
            <a:srgbClr val="00CC00"/>
          </a:solidFill>
          <a:ln w="9525" algn="ctr">
            <a:solidFill>
              <a:srgbClr val="000000"/>
            </a:solidFill>
            <a:round/>
            <a:headEnd/>
            <a:tailEnd/>
          </a:ln>
        </p:spPr>
        <p:txBody>
          <a:bodyPr rot="10800000" vert="eaVert"/>
          <a:lstStyle/>
          <a:p>
            <a:pPr defTabSz="914400"/>
            <a:endParaRPr lang="zh-CN" altLang="en-US" sz="2400" b="1">
              <a:latin typeface="楷体_GB2312" pitchFamily="49" charset="-122"/>
              <a:ea typeface="楷体_GB2312" pitchFamily="49" charset="-122"/>
            </a:endParaRPr>
          </a:p>
        </p:txBody>
      </p:sp>
      <p:sp>
        <p:nvSpPr>
          <p:cNvPr id="4106" name="矩形 41"/>
          <p:cNvSpPr>
            <a:spLocks noChangeArrowheads="1"/>
          </p:cNvSpPr>
          <p:nvPr/>
        </p:nvSpPr>
        <p:spPr bwMode="auto">
          <a:xfrm rot="5400000">
            <a:off x="3461979" y="3199349"/>
            <a:ext cx="1012825" cy="158750"/>
          </a:xfrm>
          <a:prstGeom prst="rect">
            <a:avLst/>
          </a:prstGeom>
          <a:solidFill>
            <a:srgbClr val="FF0000"/>
          </a:solidFill>
          <a:ln w="9525" algn="ctr">
            <a:solidFill>
              <a:srgbClr val="000000"/>
            </a:solidFill>
            <a:round/>
            <a:headEnd/>
            <a:tailEnd/>
          </a:ln>
        </p:spPr>
        <p:txBody>
          <a:bodyPr rot="10800000" vert="eaVert"/>
          <a:lstStyle/>
          <a:p>
            <a:pPr defTabSz="914400"/>
            <a:endParaRPr lang="zh-CN" altLang="en-US" sz="2400" b="1">
              <a:latin typeface="楷体_GB2312" pitchFamily="49" charset="-122"/>
              <a:ea typeface="楷体_GB2312" pitchFamily="49" charset="-122"/>
            </a:endParaRPr>
          </a:p>
        </p:txBody>
      </p:sp>
      <p:sp>
        <p:nvSpPr>
          <p:cNvPr id="4107" name="矩形 42"/>
          <p:cNvSpPr>
            <a:spLocks noChangeArrowheads="1"/>
          </p:cNvSpPr>
          <p:nvPr/>
        </p:nvSpPr>
        <p:spPr bwMode="auto">
          <a:xfrm rot="5400000">
            <a:off x="2943660" y="3876418"/>
            <a:ext cx="3040063" cy="831850"/>
          </a:xfrm>
          <a:prstGeom prst="rect">
            <a:avLst/>
          </a:prstGeom>
          <a:solidFill>
            <a:schemeClr val="bg1"/>
          </a:solidFill>
          <a:ln w="38100" algn="ctr">
            <a:solidFill>
              <a:srgbClr val="000000"/>
            </a:solidFill>
            <a:round/>
            <a:headEnd/>
            <a:tailEnd/>
          </a:ln>
        </p:spPr>
        <p:txBody>
          <a:bodyPr rot="10800000" vert="eaVert"/>
          <a:lstStyle/>
          <a:p>
            <a:pPr defTabSz="914400"/>
            <a:endParaRPr lang="zh-CN" altLang="en-US" sz="2400" b="1">
              <a:latin typeface="楷体_GB2312" pitchFamily="49" charset="-122"/>
              <a:ea typeface="楷体_GB2312" pitchFamily="49" charset="-122"/>
            </a:endParaRPr>
          </a:p>
        </p:txBody>
      </p:sp>
      <p:sp>
        <p:nvSpPr>
          <p:cNvPr id="44" name="矩形 43"/>
          <p:cNvSpPr>
            <a:spLocks noChangeArrowheads="1"/>
          </p:cNvSpPr>
          <p:nvPr/>
        </p:nvSpPr>
        <p:spPr bwMode="auto">
          <a:xfrm rot="5400000">
            <a:off x="3727885" y="3892293"/>
            <a:ext cx="3040063" cy="800100"/>
          </a:xfrm>
          <a:prstGeom prst="rect">
            <a:avLst/>
          </a:prstGeom>
          <a:solidFill>
            <a:srgbClr val="BFBFBF"/>
          </a:solidFill>
          <a:ln w="38100" algn="ctr">
            <a:solidFill>
              <a:srgbClr val="000000"/>
            </a:solidFill>
            <a:round/>
            <a:headEnd/>
            <a:tailEnd/>
          </a:ln>
        </p:spPr>
        <p:txBody>
          <a:bodyPr rot="10800000" vert="eaVert"/>
          <a:lstStyle/>
          <a:p>
            <a:pPr defTabSz="914400">
              <a:defRPr/>
            </a:pPr>
            <a:endParaRPr lang="zh-CN" altLang="en-US" sz="2400" b="1">
              <a:latin typeface="楷体_GB2312" pitchFamily="49" charset="-122"/>
              <a:ea typeface="楷体_GB2312" pitchFamily="49" charset="-122"/>
            </a:endParaRPr>
          </a:p>
        </p:txBody>
      </p:sp>
      <p:sp>
        <p:nvSpPr>
          <p:cNvPr id="4109" name="矩形 44"/>
          <p:cNvSpPr>
            <a:spLocks noChangeArrowheads="1"/>
          </p:cNvSpPr>
          <p:nvPr/>
        </p:nvSpPr>
        <p:spPr bwMode="auto">
          <a:xfrm rot="5400000">
            <a:off x="5328879" y="5118637"/>
            <a:ext cx="1012825" cy="374650"/>
          </a:xfrm>
          <a:prstGeom prst="rect">
            <a:avLst/>
          </a:prstGeom>
          <a:solidFill>
            <a:schemeClr val="tx2"/>
          </a:solidFill>
          <a:ln w="38100" algn="ctr">
            <a:solidFill>
              <a:srgbClr val="000000"/>
            </a:solidFill>
            <a:round/>
            <a:headEnd/>
            <a:tailEnd/>
          </a:ln>
        </p:spPr>
        <p:txBody>
          <a:bodyPr rot="10800000" vert="eaVert"/>
          <a:lstStyle/>
          <a:p>
            <a:pPr defTabSz="914400"/>
            <a:endParaRPr lang="zh-CN" altLang="en-US" sz="2400" b="1">
              <a:latin typeface="楷体_GB2312" pitchFamily="49" charset="-122"/>
              <a:ea typeface="楷体_GB2312" pitchFamily="49" charset="-122"/>
            </a:endParaRPr>
          </a:p>
        </p:txBody>
      </p:sp>
      <p:sp>
        <p:nvSpPr>
          <p:cNvPr id="4110" name="矩形 45"/>
          <p:cNvSpPr>
            <a:spLocks noChangeArrowheads="1"/>
          </p:cNvSpPr>
          <p:nvPr/>
        </p:nvSpPr>
        <p:spPr bwMode="auto">
          <a:xfrm rot="5400000">
            <a:off x="5328085" y="4105018"/>
            <a:ext cx="1014413" cy="374650"/>
          </a:xfrm>
          <a:prstGeom prst="rect">
            <a:avLst/>
          </a:prstGeom>
          <a:solidFill>
            <a:srgbClr val="00CC00"/>
          </a:solidFill>
          <a:ln w="38100" algn="ctr">
            <a:solidFill>
              <a:srgbClr val="000000"/>
            </a:solidFill>
            <a:round/>
            <a:headEnd/>
            <a:tailEnd/>
          </a:ln>
        </p:spPr>
        <p:txBody>
          <a:bodyPr rot="10800000" vert="eaVert"/>
          <a:lstStyle/>
          <a:p>
            <a:pPr defTabSz="914400"/>
            <a:endParaRPr lang="zh-CN" altLang="en-US" sz="2400" b="1">
              <a:latin typeface="楷体_GB2312" pitchFamily="49" charset="-122"/>
              <a:ea typeface="楷体_GB2312" pitchFamily="49" charset="-122"/>
            </a:endParaRPr>
          </a:p>
        </p:txBody>
      </p:sp>
      <p:sp>
        <p:nvSpPr>
          <p:cNvPr id="4111" name="矩形 46"/>
          <p:cNvSpPr>
            <a:spLocks noChangeArrowheads="1"/>
          </p:cNvSpPr>
          <p:nvPr/>
        </p:nvSpPr>
        <p:spPr bwMode="auto">
          <a:xfrm rot="5400000">
            <a:off x="5328879" y="3091399"/>
            <a:ext cx="1012825" cy="374650"/>
          </a:xfrm>
          <a:prstGeom prst="rect">
            <a:avLst/>
          </a:prstGeom>
          <a:solidFill>
            <a:srgbClr val="FF0000"/>
          </a:solidFill>
          <a:ln w="38100" algn="ctr">
            <a:solidFill>
              <a:srgbClr val="000000"/>
            </a:solidFill>
            <a:round/>
            <a:headEnd/>
            <a:tailEnd/>
          </a:ln>
        </p:spPr>
        <p:txBody>
          <a:bodyPr rot="10800000" vert="eaVert"/>
          <a:lstStyle/>
          <a:p>
            <a:pPr defTabSz="914400"/>
            <a:endParaRPr lang="zh-CN" altLang="en-US" sz="2400" b="1">
              <a:latin typeface="楷体_GB2312" pitchFamily="49" charset="-122"/>
              <a:ea typeface="楷体_GB2312" pitchFamily="49" charset="-122"/>
            </a:endParaRPr>
          </a:p>
        </p:txBody>
      </p:sp>
      <p:graphicFrame>
        <p:nvGraphicFramePr>
          <p:cNvPr id="4098" name="Object 6"/>
          <p:cNvGraphicFramePr>
            <a:graphicFrameLocks noChangeAspect="1"/>
          </p:cNvGraphicFramePr>
          <p:nvPr>
            <p:extLst>
              <p:ext uri="{D42A27DB-BD31-4B8C-83A1-F6EECF244321}">
                <p14:modId xmlns:p14="http://schemas.microsoft.com/office/powerpoint/2010/main" val="1070697009"/>
              </p:ext>
            </p:extLst>
          </p:nvPr>
        </p:nvGraphicFramePr>
        <p:xfrm>
          <a:off x="3889017" y="5278974"/>
          <a:ext cx="890588" cy="320675"/>
        </p:xfrm>
        <a:graphic>
          <a:graphicData uri="http://schemas.openxmlformats.org/presentationml/2006/ole">
            <mc:AlternateContent xmlns:mc="http://schemas.openxmlformats.org/markup-compatibility/2006">
              <mc:Choice xmlns:v="urn:schemas-microsoft-com:vml" Requires="v">
                <p:oleObj spid="_x0000_s20630" name="Visio" r:id="rId3" imgW="3661743" imgH="1311592" progId="Visio.Drawing.11">
                  <p:embed/>
                </p:oleObj>
              </mc:Choice>
              <mc:Fallback>
                <p:oleObj name="Visio" r:id="rId3" imgW="3661743" imgH="1311592"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017" y="5278974"/>
                        <a:ext cx="890588"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8"/>
          <p:cNvGraphicFramePr>
            <a:graphicFrameLocks noChangeAspect="1"/>
          </p:cNvGraphicFramePr>
          <p:nvPr>
            <p:extLst>
              <p:ext uri="{D42A27DB-BD31-4B8C-83A1-F6EECF244321}">
                <p14:modId xmlns:p14="http://schemas.microsoft.com/office/powerpoint/2010/main" val="2214385014"/>
              </p:ext>
            </p:extLst>
          </p:nvPr>
        </p:nvGraphicFramePr>
        <p:xfrm>
          <a:off x="3835042" y="4159786"/>
          <a:ext cx="906463" cy="325438"/>
        </p:xfrm>
        <a:graphic>
          <a:graphicData uri="http://schemas.openxmlformats.org/presentationml/2006/ole">
            <mc:AlternateContent xmlns:mc="http://schemas.openxmlformats.org/markup-compatibility/2006">
              <mc:Choice xmlns:v="urn:schemas-microsoft-com:vml" Requires="v">
                <p:oleObj spid="_x0000_s20631" name="Visio" r:id="rId5" imgW="3661743" imgH="1311592" progId="Visio.Drawing.11">
                  <p:embed/>
                </p:oleObj>
              </mc:Choice>
              <mc:Fallback>
                <p:oleObj name="Visio" r:id="rId5" imgW="3661743" imgH="1311592" progId="Visio.Drawing.11">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5042" y="4159786"/>
                        <a:ext cx="906463" cy="32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9"/>
          <p:cNvGraphicFramePr>
            <a:graphicFrameLocks noChangeAspect="1"/>
          </p:cNvGraphicFramePr>
          <p:nvPr>
            <p:extLst>
              <p:ext uri="{D42A27DB-BD31-4B8C-83A1-F6EECF244321}">
                <p14:modId xmlns:p14="http://schemas.microsoft.com/office/powerpoint/2010/main" val="2930279998"/>
              </p:ext>
            </p:extLst>
          </p:nvPr>
        </p:nvGraphicFramePr>
        <p:xfrm>
          <a:off x="3889017" y="3199349"/>
          <a:ext cx="889000" cy="319087"/>
        </p:xfrm>
        <a:graphic>
          <a:graphicData uri="http://schemas.openxmlformats.org/presentationml/2006/ole">
            <mc:AlternateContent xmlns:mc="http://schemas.openxmlformats.org/markup-compatibility/2006">
              <mc:Choice xmlns:v="urn:schemas-microsoft-com:vml" Requires="v">
                <p:oleObj spid="_x0000_s20632" name="Visio" r:id="rId7" imgW="3661743" imgH="1311592" progId="Visio.Drawing.11">
                  <p:embed/>
                </p:oleObj>
              </mc:Choice>
              <mc:Fallback>
                <p:oleObj name="Visio" r:id="rId7" imgW="3661743" imgH="1311592" progId="Visio.Drawing.11">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9017" y="3199349"/>
                        <a:ext cx="889000" cy="319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2" name="TextBox 53"/>
          <p:cNvSpPr txBox="1">
            <a:spLocks noChangeArrowheads="1"/>
          </p:cNvSpPr>
          <p:nvPr/>
        </p:nvSpPr>
        <p:spPr bwMode="auto">
          <a:xfrm>
            <a:off x="4785955" y="3121561"/>
            <a:ext cx="693737" cy="519113"/>
          </a:xfrm>
          <a:prstGeom prst="rect">
            <a:avLst/>
          </a:prstGeom>
          <a:noFill/>
          <a:ln w="9525">
            <a:noFill/>
            <a:miter lim="800000"/>
            <a:headEnd/>
            <a:tailEnd/>
          </a:ln>
        </p:spPr>
        <p:txBody>
          <a:bodyPr>
            <a:spAutoFit/>
          </a:bodyPr>
          <a:lstStyle/>
          <a:p>
            <a:pPr defTabSz="914400"/>
            <a:r>
              <a:rPr lang="en-US" altLang="zh-CN" sz="2800" b="1">
                <a:solidFill>
                  <a:srgbClr val="FF0000"/>
                </a:solidFill>
                <a:latin typeface="Times New Roman" pitchFamily="18" charset="0"/>
                <a:ea typeface="楷体_GB2312" pitchFamily="49" charset="-122"/>
                <a:cs typeface="Times New Roman" pitchFamily="18" charset="0"/>
              </a:rPr>
              <a:t>I</a:t>
            </a:r>
            <a:r>
              <a:rPr lang="en-US" altLang="zh-CN" sz="2800" b="1" baseline="-25000">
                <a:solidFill>
                  <a:srgbClr val="FF0000"/>
                </a:solidFill>
                <a:latin typeface="Times New Roman" pitchFamily="18" charset="0"/>
                <a:ea typeface="楷体_GB2312" pitchFamily="49" charset="-122"/>
                <a:cs typeface="Times New Roman" pitchFamily="18" charset="0"/>
              </a:rPr>
              <a:t>R</a:t>
            </a:r>
            <a:endParaRPr lang="zh-CN" altLang="en-US" sz="2800" b="1">
              <a:solidFill>
                <a:srgbClr val="FF0000"/>
              </a:solidFill>
              <a:latin typeface="Times New Roman" pitchFamily="18" charset="0"/>
              <a:ea typeface="楷体_GB2312" pitchFamily="49" charset="-122"/>
              <a:cs typeface="Times New Roman" pitchFamily="18" charset="0"/>
            </a:endParaRPr>
          </a:p>
        </p:txBody>
      </p:sp>
      <p:sp>
        <p:nvSpPr>
          <p:cNvPr id="4113" name="TextBox 54"/>
          <p:cNvSpPr txBox="1">
            <a:spLocks noChangeArrowheads="1"/>
          </p:cNvSpPr>
          <p:nvPr/>
        </p:nvSpPr>
        <p:spPr bwMode="auto">
          <a:xfrm>
            <a:off x="4830405" y="4055011"/>
            <a:ext cx="693737" cy="519113"/>
          </a:xfrm>
          <a:prstGeom prst="rect">
            <a:avLst/>
          </a:prstGeom>
          <a:noFill/>
          <a:ln w="9525">
            <a:noFill/>
            <a:miter lim="800000"/>
            <a:headEnd/>
            <a:tailEnd/>
          </a:ln>
        </p:spPr>
        <p:txBody>
          <a:bodyPr>
            <a:spAutoFit/>
          </a:bodyPr>
          <a:lstStyle/>
          <a:p>
            <a:pPr defTabSz="914400"/>
            <a:r>
              <a:rPr lang="en-US" altLang="zh-CN" sz="2800" b="1">
                <a:solidFill>
                  <a:srgbClr val="06EA06"/>
                </a:solidFill>
                <a:latin typeface="Times New Roman" pitchFamily="18" charset="0"/>
                <a:ea typeface="楷体_GB2312" pitchFamily="49" charset="-122"/>
                <a:cs typeface="Times New Roman" pitchFamily="18" charset="0"/>
              </a:rPr>
              <a:t>I</a:t>
            </a:r>
            <a:r>
              <a:rPr lang="en-US" altLang="zh-CN" sz="2800" b="1" baseline="-25000">
                <a:solidFill>
                  <a:srgbClr val="06EA06"/>
                </a:solidFill>
                <a:latin typeface="Times New Roman" pitchFamily="18" charset="0"/>
                <a:ea typeface="楷体_GB2312" pitchFamily="49" charset="-122"/>
                <a:cs typeface="Times New Roman" pitchFamily="18" charset="0"/>
              </a:rPr>
              <a:t>G</a:t>
            </a:r>
            <a:endParaRPr lang="zh-CN" altLang="en-US" sz="2800" b="1">
              <a:solidFill>
                <a:srgbClr val="06EA06"/>
              </a:solidFill>
              <a:latin typeface="Times New Roman" pitchFamily="18" charset="0"/>
              <a:ea typeface="楷体_GB2312" pitchFamily="49" charset="-122"/>
              <a:cs typeface="Times New Roman" pitchFamily="18" charset="0"/>
            </a:endParaRPr>
          </a:p>
        </p:txBody>
      </p:sp>
      <p:sp>
        <p:nvSpPr>
          <p:cNvPr id="4114" name="TextBox 55"/>
          <p:cNvSpPr txBox="1">
            <a:spLocks noChangeArrowheads="1"/>
          </p:cNvSpPr>
          <p:nvPr/>
        </p:nvSpPr>
        <p:spPr bwMode="auto">
          <a:xfrm>
            <a:off x="4785955" y="5121811"/>
            <a:ext cx="693737" cy="519113"/>
          </a:xfrm>
          <a:prstGeom prst="rect">
            <a:avLst/>
          </a:prstGeom>
          <a:noFill/>
          <a:ln w="9525">
            <a:noFill/>
            <a:miter lim="800000"/>
            <a:headEnd/>
            <a:tailEnd/>
          </a:ln>
        </p:spPr>
        <p:txBody>
          <a:bodyPr>
            <a:spAutoFit/>
          </a:bodyPr>
          <a:lstStyle/>
          <a:p>
            <a:pPr defTabSz="914400"/>
            <a:r>
              <a:rPr lang="en-US" altLang="zh-CN" sz="2800" b="1">
                <a:solidFill>
                  <a:schemeClr val="tx2"/>
                </a:solidFill>
                <a:latin typeface="Times New Roman" pitchFamily="18" charset="0"/>
                <a:ea typeface="楷体_GB2312" pitchFamily="49" charset="-122"/>
                <a:cs typeface="Times New Roman" pitchFamily="18" charset="0"/>
              </a:rPr>
              <a:t>I</a:t>
            </a:r>
            <a:r>
              <a:rPr lang="en-US" altLang="zh-CN" sz="2800" b="1" baseline="-25000">
                <a:solidFill>
                  <a:schemeClr val="tx2"/>
                </a:solidFill>
                <a:latin typeface="Times New Roman" pitchFamily="18" charset="0"/>
                <a:ea typeface="楷体_GB2312" pitchFamily="49" charset="-122"/>
                <a:cs typeface="Times New Roman" pitchFamily="18" charset="0"/>
              </a:rPr>
              <a:t>B</a:t>
            </a:r>
            <a:endParaRPr lang="zh-CN" altLang="en-US" sz="2800" b="1">
              <a:solidFill>
                <a:schemeClr val="tx2"/>
              </a:solidFill>
              <a:latin typeface="Times New Roman" pitchFamily="18" charset="0"/>
              <a:ea typeface="楷体_GB2312" pitchFamily="49" charset="-122"/>
              <a:cs typeface="Times New Roman" pitchFamily="18" charset="0"/>
            </a:endParaRPr>
          </a:p>
        </p:txBody>
      </p:sp>
      <p:cxnSp>
        <p:nvCxnSpPr>
          <p:cNvPr id="4115" name="直接箭头连接符 57"/>
          <p:cNvCxnSpPr>
            <a:cxnSpLocks noChangeShapeType="1"/>
          </p:cNvCxnSpPr>
          <p:nvPr/>
        </p:nvCxnSpPr>
        <p:spPr bwMode="auto">
          <a:xfrm>
            <a:off x="5062180" y="3305711"/>
            <a:ext cx="533400" cy="1588"/>
          </a:xfrm>
          <a:prstGeom prst="straightConnector1">
            <a:avLst/>
          </a:prstGeom>
          <a:noFill/>
          <a:ln w="38100" algn="ctr">
            <a:solidFill>
              <a:srgbClr val="FF0000"/>
            </a:solidFill>
            <a:round/>
            <a:headEnd/>
            <a:tailEnd type="triangle" w="med" len="lg"/>
          </a:ln>
        </p:spPr>
      </p:cxnSp>
      <p:cxnSp>
        <p:nvCxnSpPr>
          <p:cNvPr id="4116" name="直接箭头连接符 59"/>
          <p:cNvCxnSpPr>
            <a:cxnSpLocks noChangeShapeType="1"/>
          </p:cNvCxnSpPr>
          <p:nvPr/>
        </p:nvCxnSpPr>
        <p:spPr bwMode="auto">
          <a:xfrm>
            <a:off x="5114567" y="4266149"/>
            <a:ext cx="533400" cy="1587"/>
          </a:xfrm>
          <a:prstGeom prst="straightConnector1">
            <a:avLst/>
          </a:prstGeom>
          <a:noFill/>
          <a:ln w="38100" algn="ctr">
            <a:solidFill>
              <a:srgbClr val="06EA06"/>
            </a:solidFill>
            <a:round/>
            <a:headEnd/>
            <a:tailEnd type="triangle" w="med" len="lg"/>
          </a:ln>
        </p:spPr>
      </p:cxnSp>
      <p:cxnSp>
        <p:nvCxnSpPr>
          <p:cNvPr id="4117" name="直接箭头连接符 60"/>
          <p:cNvCxnSpPr>
            <a:cxnSpLocks noChangeShapeType="1"/>
          </p:cNvCxnSpPr>
          <p:nvPr/>
        </p:nvCxnSpPr>
        <p:spPr bwMode="auto">
          <a:xfrm>
            <a:off x="5114567" y="5385336"/>
            <a:ext cx="533400" cy="3175"/>
          </a:xfrm>
          <a:prstGeom prst="straightConnector1">
            <a:avLst/>
          </a:prstGeom>
          <a:noFill/>
          <a:ln w="38100" algn="ctr">
            <a:solidFill>
              <a:schemeClr val="tx2"/>
            </a:solidFill>
            <a:round/>
            <a:headEnd/>
            <a:tailEnd type="triangle" w="med" len="lg"/>
          </a:ln>
        </p:spPr>
      </p:cxnSp>
      <p:cxnSp>
        <p:nvCxnSpPr>
          <p:cNvPr id="4118" name="直接箭头连接符 61"/>
          <p:cNvCxnSpPr>
            <a:cxnSpLocks noChangeShapeType="1"/>
          </p:cNvCxnSpPr>
          <p:nvPr/>
        </p:nvCxnSpPr>
        <p:spPr bwMode="auto">
          <a:xfrm>
            <a:off x="6128980" y="3305711"/>
            <a:ext cx="533400" cy="1588"/>
          </a:xfrm>
          <a:prstGeom prst="straightConnector1">
            <a:avLst/>
          </a:prstGeom>
          <a:noFill/>
          <a:ln w="38100" algn="ctr">
            <a:solidFill>
              <a:srgbClr val="FF0000"/>
            </a:solidFill>
            <a:round/>
            <a:headEnd/>
            <a:tailEnd type="triangle" w="med" len="lg"/>
          </a:ln>
        </p:spPr>
      </p:cxnSp>
      <p:cxnSp>
        <p:nvCxnSpPr>
          <p:cNvPr id="4119" name="直接箭头连接符 62"/>
          <p:cNvCxnSpPr>
            <a:cxnSpLocks noChangeShapeType="1"/>
          </p:cNvCxnSpPr>
          <p:nvPr/>
        </p:nvCxnSpPr>
        <p:spPr bwMode="auto">
          <a:xfrm>
            <a:off x="6181367" y="4266149"/>
            <a:ext cx="533400" cy="1587"/>
          </a:xfrm>
          <a:prstGeom prst="straightConnector1">
            <a:avLst/>
          </a:prstGeom>
          <a:noFill/>
          <a:ln w="38100" algn="ctr">
            <a:solidFill>
              <a:srgbClr val="06EA06"/>
            </a:solidFill>
            <a:round/>
            <a:headEnd/>
            <a:tailEnd type="triangle" w="med" len="lg"/>
          </a:ln>
        </p:spPr>
      </p:cxnSp>
      <p:cxnSp>
        <p:nvCxnSpPr>
          <p:cNvPr id="4120" name="直接箭头连接符 63"/>
          <p:cNvCxnSpPr>
            <a:cxnSpLocks noChangeShapeType="1"/>
          </p:cNvCxnSpPr>
          <p:nvPr/>
        </p:nvCxnSpPr>
        <p:spPr bwMode="auto">
          <a:xfrm>
            <a:off x="6181367" y="5385336"/>
            <a:ext cx="533400" cy="3175"/>
          </a:xfrm>
          <a:prstGeom prst="straightConnector1">
            <a:avLst/>
          </a:prstGeom>
          <a:noFill/>
          <a:ln w="38100" algn="ctr">
            <a:solidFill>
              <a:schemeClr val="tx2"/>
            </a:solidFill>
            <a:round/>
            <a:headEnd/>
            <a:tailEnd type="triangle" w="med" len="lg"/>
          </a:ln>
        </p:spPr>
      </p:cxnSp>
      <p:sp>
        <p:nvSpPr>
          <p:cNvPr id="4121" name="TextBox 64"/>
          <p:cNvSpPr txBox="1">
            <a:spLocks noChangeArrowheads="1"/>
          </p:cNvSpPr>
          <p:nvPr/>
        </p:nvSpPr>
        <p:spPr bwMode="auto">
          <a:xfrm>
            <a:off x="6822717" y="3051711"/>
            <a:ext cx="800100" cy="519113"/>
          </a:xfrm>
          <a:prstGeom prst="rect">
            <a:avLst/>
          </a:prstGeom>
          <a:noFill/>
          <a:ln w="9525">
            <a:noFill/>
            <a:miter lim="800000"/>
            <a:headEnd/>
            <a:tailEnd/>
          </a:ln>
        </p:spPr>
        <p:txBody>
          <a:bodyPr>
            <a:spAutoFit/>
          </a:bodyPr>
          <a:lstStyle/>
          <a:p>
            <a:pPr defTabSz="914400"/>
            <a:r>
              <a:rPr lang="en-US" altLang="zh-CN" sz="2800" b="1" i="1" dirty="0">
                <a:solidFill>
                  <a:srgbClr val="FF0000"/>
                </a:solidFill>
                <a:latin typeface="Times New Roman" pitchFamily="18" charset="0"/>
                <a:ea typeface="楷体_GB2312" pitchFamily="49" charset="-122"/>
                <a:cs typeface="Times New Roman" pitchFamily="18" charset="0"/>
              </a:rPr>
              <a:t>V</a:t>
            </a:r>
            <a:r>
              <a:rPr lang="en-US" altLang="zh-CN" sz="2800" b="1" baseline="-25000" dirty="0">
                <a:solidFill>
                  <a:srgbClr val="FF0000"/>
                </a:solidFill>
                <a:latin typeface="Times New Roman" pitchFamily="18" charset="0"/>
                <a:ea typeface="楷体_GB2312" pitchFamily="49" charset="-122"/>
                <a:cs typeface="Times New Roman" pitchFamily="18" charset="0"/>
              </a:rPr>
              <a:t>R</a:t>
            </a:r>
            <a:endParaRPr lang="zh-CN" altLang="en-US" sz="2800" b="1" dirty="0">
              <a:solidFill>
                <a:srgbClr val="FF0000"/>
              </a:solidFill>
              <a:latin typeface="Times New Roman" pitchFamily="18" charset="0"/>
              <a:ea typeface="楷体_GB2312" pitchFamily="49" charset="-122"/>
              <a:cs typeface="Times New Roman" pitchFamily="18" charset="0"/>
            </a:endParaRPr>
          </a:p>
        </p:txBody>
      </p:sp>
      <p:sp>
        <p:nvSpPr>
          <p:cNvPr id="4122" name="TextBox 65"/>
          <p:cNvSpPr txBox="1">
            <a:spLocks noChangeArrowheads="1"/>
          </p:cNvSpPr>
          <p:nvPr/>
        </p:nvSpPr>
        <p:spPr bwMode="auto">
          <a:xfrm>
            <a:off x="6822717" y="3958174"/>
            <a:ext cx="800100" cy="519112"/>
          </a:xfrm>
          <a:prstGeom prst="rect">
            <a:avLst/>
          </a:prstGeom>
          <a:noFill/>
          <a:ln w="9525">
            <a:noFill/>
            <a:miter lim="800000"/>
            <a:headEnd/>
            <a:tailEnd/>
          </a:ln>
        </p:spPr>
        <p:txBody>
          <a:bodyPr>
            <a:spAutoFit/>
          </a:bodyPr>
          <a:lstStyle/>
          <a:p>
            <a:pPr defTabSz="914400"/>
            <a:r>
              <a:rPr lang="en-US" altLang="zh-CN" sz="2800" b="1" i="1" dirty="0">
                <a:solidFill>
                  <a:srgbClr val="06EA06"/>
                </a:solidFill>
                <a:latin typeface="Times New Roman" pitchFamily="18" charset="0"/>
                <a:ea typeface="楷体_GB2312" pitchFamily="49" charset="-122"/>
                <a:cs typeface="Times New Roman" pitchFamily="18" charset="0"/>
              </a:rPr>
              <a:t>V</a:t>
            </a:r>
            <a:r>
              <a:rPr lang="en-US" altLang="zh-CN" sz="2800" b="1" baseline="-25000" dirty="0">
                <a:solidFill>
                  <a:srgbClr val="06EA06"/>
                </a:solidFill>
                <a:latin typeface="Times New Roman" pitchFamily="18" charset="0"/>
                <a:ea typeface="楷体_GB2312" pitchFamily="49" charset="-122"/>
                <a:cs typeface="Times New Roman" pitchFamily="18" charset="0"/>
              </a:rPr>
              <a:t>G</a:t>
            </a:r>
            <a:endParaRPr lang="zh-CN" altLang="en-US" sz="2800" b="1" dirty="0">
              <a:solidFill>
                <a:srgbClr val="06EA06"/>
              </a:solidFill>
              <a:latin typeface="Times New Roman" pitchFamily="18" charset="0"/>
              <a:ea typeface="楷体_GB2312" pitchFamily="49" charset="-122"/>
              <a:cs typeface="Times New Roman" pitchFamily="18" charset="0"/>
            </a:endParaRPr>
          </a:p>
        </p:txBody>
      </p:sp>
      <p:sp>
        <p:nvSpPr>
          <p:cNvPr id="4123" name="TextBox 66"/>
          <p:cNvSpPr txBox="1">
            <a:spLocks noChangeArrowheads="1"/>
          </p:cNvSpPr>
          <p:nvPr/>
        </p:nvSpPr>
        <p:spPr bwMode="auto">
          <a:xfrm>
            <a:off x="6768742" y="5024974"/>
            <a:ext cx="800100" cy="519112"/>
          </a:xfrm>
          <a:prstGeom prst="rect">
            <a:avLst/>
          </a:prstGeom>
          <a:noFill/>
          <a:ln w="9525">
            <a:noFill/>
            <a:miter lim="800000"/>
            <a:headEnd/>
            <a:tailEnd/>
          </a:ln>
        </p:spPr>
        <p:txBody>
          <a:bodyPr>
            <a:spAutoFit/>
          </a:bodyPr>
          <a:lstStyle/>
          <a:p>
            <a:pPr defTabSz="914400"/>
            <a:r>
              <a:rPr lang="en-US" altLang="zh-CN" sz="2800" b="1" i="1" dirty="0">
                <a:solidFill>
                  <a:schemeClr val="tx2"/>
                </a:solidFill>
                <a:latin typeface="Times New Roman" pitchFamily="18" charset="0"/>
                <a:ea typeface="楷体_GB2312" pitchFamily="49" charset="-122"/>
                <a:cs typeface="Times New Roman" pitchFamily="18" charset="0"/>
              </a:rPr>
              <a:t>V</a:t>
            </a:r>
            <a:r>
              <a:rPr lang="en-US" altLang="zh-CN" sz="2800" b="1" baseline="-25000" dirty="0">
                <a:solidFill>
                  <a:schemeClr val="tx2"/>
                </a:solidFill>
                <a:latin typeface="Times New Roman" pitchFamily="18" charset="0"/>
                <a:ea typeface="楷体_GB2312" pitchFamily="49" charset="-122"/>
                <a:cs typeface="Times New Roman" pitchFamily="18" charset="0"/>
              </a:rPr>
              <a:t>B</a:t>
            </a:r>
            <a:endParaRPr lang="zh-CN" altLang="en-US" sz="2800" b="1" dirty="0">
              <a:solidFill>
                <a:schemeClr val="tx2"/>
              </a:solidFill>
              <a:latin typeface="Times New Roman" pitchFamily="18" charset="0"/>
              <a:ea typeface="楷体_GB2312" pitchFamily="49" charset="-122"/>
              <a:cs typeface="Times New Roman" pitchFamily="18" charset="0"/>
            </a:endParaRPr>
          </a:p>
        </p:txBody>
      </p:sp>
      <p:sp>
        <p:nvSpPr>
          <p:cNvPr id="4124" name="TextBox 67"/>
          <p:cNvSpPr txBox="1">
            <a:spLocks noChangeArrowheads="1"/>
          </p:cNvSpPr>
          <p:nvPr/>
        </p:nvSpPr>
        <p:spPr bwMode="auto">
          <a:xfrm>
            <a:off x="3568342" y="1340386"/>
            <a:ext cx="4711700" cy="946150"/>
          </a:xfrm>
          <a:prstGeom prst="rect">
            <a:avLst/>
          </a:prstGeom>
          <a:noFill/>
          <a:ln w="9525">
            <a:noFill/>
            <a:miter lim="800000"/>
            <a:headEnd/>
            <a:tailEnd/>
          </a:ln>
        </p:spPr>
        <p:txBody>
          <a:bodyPr>
            <a:spAutoFit/>
          </a:bodyPr>
          <a:lstStyle/>
          <a:p>
            <a:pPr algn="ctr" defTabSz="914400"/>
            <a:r>
              <a:rPr lang="en-US" altLang="zh-CN" sz="2800" b="1">
                <a:latin typeface="Times New Roman" pitchFamily="18" charset="0"/>
                <a:ea typeface="楷体_GB2312" pitchFamily="49" charset="-122"/>
                <a:cs typeface="Times New Roman" pitchFamily="18" charset="0"/>
              </a:rPr>
              <a:t>Current to voltage converter (I-V)</a:t>
            </a:r>
            <a:endParaRPr lang="zh-CN" altLang="en-US" sz="2800" b="1">
              <a:latin typeface="Times New Roman" pitchFamily="18" charset="0"/>
              <a:ea typeface="楷体_GB2312" pitchFamily="49" charset="-122"/>
              <a:cs typeface="Times New Roman" pitchFamily="18" charset="0"/>
            </a:endParaRPr>
          </a:p>
        </p:txBody>
      </p:sp>
      <p:cxnSp>
        <p:nvCxnSpPr>
          <p:cNvPr id="4125" name="直接箭头连接符 69"/>
          <p:cNvCxnSpPr>
            <a:cxnSpLocks noChangeShapeType="1"/>
          </p:cNvCxnSpPr>
          <p:nvPr/>
        </p:nvCxnSpPr>
        <p:spPr bwMode="auto">
          <a:xfrm>
            <a:off x="7391042" y="3312061"/>
            <a:ext cx="533400" cy="3175"/>
          </a:xfrm>
          <a:prstGeom prst="straightConnector1">
            <a:avLst/>
          </a:prstGeom>
          <a:noFill/>
          <a:ln w="38100" algn="ctr">
            <a:solidFill>
              <a:srgbClr val="FF0000"/>
            </a:solidFill>
            <a:round/>
            <a:headEnd/>
            <a:tailEnd type="triangle" w="med" len="lg"/>
          </a:ln>
        </p:spPr>
      </p:cxnSp>
      <p:cxnSp>
        <p:nvCxnSpPr>
          <p:cNvPr id="4126" name="直接箭头连接符 70"/>
          <p:cNvCxnSpPr>
            <a:cxnSpLocks noChangeShapeType="1"/>
          </p:cNvCxnSpPr>
          <p:nvPr/>
        </p:nvCxnSpPr>
        <p:spPr bwMode="auto">
          <a:xfrm>
            <a:off x="7445017" y="4272499"/>
            <a:ext cx="533400" cy="1587"/>
          </a:xfrm>
          <a:prstGeom prst="straightConnector1">
            <a:avLst/>
          </a:prstGeom>
          <a:noFill/>
          <a:ln w="38100" algn="ctr">
            <a:solidFill>
              <a:srgbClr val="06EA06"/>
            </a:solidFill>
            <a:round/>
            <a:headEnd/>
            <a:tailEnd type="triangle" w="med" len="lg"/>
          </a:ln>
        </p:spPr>
      </p:cxnSp>
      <p:cxnSp>
        <p:nvCxnSpPr>
          <p:cNvPr id="4127" name="直接箭头连接符 71"/>
          <p:cNvCxnSpPr>
            <a:cxnSpLocks noChangeShapeType="1"/>
          </p:cNvCxnSpPr>
          <p:nvPr/>
        </p:nvCxnSpPr>
        <p:spPr bwMode="auto">
          <a:xfrm>
            <a:off x="7445017" y="5393274"/>
            <a:ext cx="533400" cy="1587"/>
          </a:xfrm>
          <a:prstGeom prst="straightConnector1">
            <a:avLst/>
          </a:prstGeom>
          <a:noFill/>
          <a:ln w="38100" algn="ctr">
            <a:solidFill>
              <a:schemeClr val="tx2"/>
            </a:solidFill>
            <a:round/>
            <a:headEnd/>
            <a:tailEnd type="triangle" w="med" len="lg"/>
          </a:ln>
        </p:spPr>
      </p:cxnSp>
      <p:graphicFrame>
        <p:nvGraphicFramePr>
          <p:cNvPr id="4101" name="Object 10"/>
          <p:cNvGraphicFramePr>
            <a:graphicFrameLocks noChangeAspect="1"/>
          </p:cNvGraphicFramePr>
          <p:nvPr>
            <p:extLst>
              <p:ext uri="{D42A27DB-BD31-4B8C-83A1-F6EECF244321}">
                <p14:modId xmlns:p14="http://schemas.microsoft.com/office/powerpoint/2010/main" val="662076916"/>
              </p:ext>
            </p:extLst>
          </p:nvPr>
        </p:nvGraphicFramePr>
        <p:xfrm>
          <a:off x="1834792" y="3972461"/>
          <a:ext cx="1649413" cy="414338"/>
        </p:xfrm>
        <a:graphic>
          <a:graphicData uri="http://schemas.openxmlformats.org/presentationml/2006/ole">
            <mc:AlternateContent xmlns:mc="http://schemas.openxmlformats.org/markup-compatibility/2006">
              <mc:Choice xmlns:v="urn:schemas-microsoft-com:vml" Requires="v">
                <p:oleObj spid="_x0000_s20633" name="Visio" r:id="rId9" imgW="3661743" imgH="1311592" progId="Visio.Drawing.11">
                  <p:embed/>
                </p:oleObj>
              </mc:Choice>
              <mc:Fallback>
                <p:oleObj name="Visio" r:id="rId9" imgW="3661743" imgH="1311592" progId="Visio.Drawing.11">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4792" y="3972461"/>
                        <a:ext cx="1649413"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 name="直接箭头连接符 69"/>
          <p:cNvCxnSpPr>
            <a:cxnSpLocks noChangeShapeType="1"/>
          </p:cNvCxnSpPr>
          <p:nvPr/>
        </p:nvCxnSpPr>
        <p:spPr bwMode="auto">
          <a:xfrm rot="5400000" flipH="1" flipV="1">
            <a:off x="4235886" y="6016367"/>
            <a:ext cx="355600" cy="1588"/>
          </a:xfrm>
          <a:prstGeom prst="straightConnector1">
            <a:avLst/>
          </a:prstGeom>
          <a:noFill/>
          <a:ln w="38100" algn="ctr">
            <a:solidFill>
              <a:srgbClr val="FF0000"/>
            </a:solidFill>
            <a:round/>
            <a:headEnd/>
            <a:tailEnd type="stealth" w="lg" len="lg"/>
          </a:ln>
        </p:spPr>
      </p:cxnSp>
      <p:sp>
        <p:nvSpPr>
          <p:cNvPr id="35" name="TextBox 52"/>
          <p:cNvSpPr txBox="1">
            <a:spLocks noChangeArrowheads="1"/>
          </p:cNvSpPr>
          <p:nvPr/>
        </p:nvSpPr>
        <p:spPr bwMode="auto">
          <a:xfrm>
            <a:off x="3523892" y="1838861"/>
            <a:ext cx="1200150" cy="519113"/>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Filter</a:t>
            </a:r>
            <a:endParaRPr lang="zh-CN" altLang="en-US" sz="2800" b="1">
              <a:latin typeface="Times New Roman" pitchFamily="18" charset="0"/>
              <a:ea typeface="楷体_GB2312" pitchFamily="49" charset="-122"/>
              <a:cs typeface="Times New Roman" pitchFamily="18" charset="0"/>
            </a:endParaRPr>
          </a:p>
        </p:txBody>
      </p:sp>
      <p:cxnSp>
        <p:nvCxnSpPr>
          <p:cNvPr id="36" name="直接箭头连接符 69"/>
          <p:cNvCxnSpPr>
            <a:cxnSpLocks noChangeShapeType="1"/>
          </p:cNvCxnSpPr>
          <p:nvPr/>
        </p:nvCxnSpPr>
        <p:spPr bwMode="auto">
          <a:xfrm rot="5400000">
            <a:off x="3724711" y="2482592"/>
            <a:ext cx="488950" cy="1588"/>
          </a:xfrm>
          <a:prstGeom prst="straightConnector1">
            <a:avLst/>
          </a:prstGeom>
          <a:noFill/>
          <a:ln w="38100" algn="ctr">
            <a:solidFill>
              <a:srgbClr val="FF0000"/>
            </a:solidFill>
            <a:round/>
            <a:headEnd/>
            <a:tailEnd type="stealth" w="lg" len="lg"/>
          </a:ln>
        </p:spPr>
      </p:cxnSp>
      <p:cxnSp>
        <p:nvCxnSpPr>
          <p:cNvPr id="40" name="直接箭头连接符 69"/>
          <p:cNvCxnSpPr>
            <a:cxnSpLocks noChangeShapeType="1"/>
          </p:cNvCxnSpPr>
          <p:nvPr/>
        </p:nvCxnSpPr>
        <p:spPr bwMode="auto">
          <a:xfrm rot="5400000">
            <a:off x="5591611" y="2482592"/>
            <a:ext cx="488950" cy="1588"/>
          </a:xfrm>
          <a:prstGeom prst="straightConnector1">
            <a:avLst/>
          </a:prstGeom>
          <a:noFill/>
          <a:ln w="38100" algn="ctr">
            <a:solidFill>
              <a:srgbClr val="FF0000"/>
            </a:solidFill>
            <a:round/>
            <a:headEnd/>
            <a:tailEnd type="stealth" w="lg" len="lg"/>
          </a:ln>
        </p:spPr>
      </p:cxnSp>
      <p:sp>
        <p:nvSpPr>
          <p:cNvPr id="41" name="TextBox 52"/>
          <p:cNvSpPr txBox="1">
            <a:spLocks noChangeArrowheads="1"/>
          </p:cNvSpPr>
          <p:nvPr/>
        </p:nvSpPr>
        <p:spPr bwMode="auto">
          <a:xfrm>
            <a:off x="8013342" y="3972461"/>
            <a:ext cx="977900" cy="519113"/>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A/D</a:t>
            </a:r>
            <a:endParaRPr lang="zh-CN" altLang="en-US" sz="2800" b="1">
              <a:latin typeface="Times New Roman" pitchFamily="18" charset="0"/>
              <a:ea typeface="楷体_GB2312" pitchFamily="49" charset="-122"/>
              <a:cs typeface="Times New Roman" pitchFamily="18" charset="0"/>
            </a:endParaRPr>
          </a:p>
        </p:txBody>
      </p:sp>
      <p:sp>
        <p:nvSpPr>
          <p:cNvPr id="42" name="TextBox 52"/>
          <p:cNvSpPr txBox="1">
            <a:spLocks noChangeArrowheads="1"/>
          </p:cNvSpPr>
          <p:nvPr/>
        </p:nvSpPr>
        <p:spPr bwMode="auto">
          <a:xfrm>
            <a:off x="9607192" y="3928011"/>
            <a:ext cx="1155700" cy="519113"/>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MCU</a:t>
            </a:r>
            <a:endParaRPr lang="zh-CN" altLang="en-US" sz="2800" b="1">
              <a:latin typeface="Times New Roman" pitchFamily="18" charset="0"/>
              <a:ea typeface="楷体_GB2312" pitchFamily="49" charset="-122"/>
              <a:cs typeface="Times New Roman" pitchFamily="18" charset="0"/>
            </a:endParaRPr>
          </a:p>
        </p:txBody>
      </p:sp>
      <p:sp>
        <p:nvSpPr>
          <p:cNvPr id="43" name="TextBox 52"/>
          <p:cNvSpPr txBox="1">
            <a:spLocks noChangeArrowheads="1"/>
          </p:cNvSpPr>
          <p:nvPr/>
        </p:nvSpPr>
        <p:spPr bwMode="auto">
          <a:xfrm>
            <a:off x="7968892" y="3039011"/>
            <a:ext cx="977900" cy="519113"/>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A/D</a:t>
            </a:r>
            <a:endParaRPr lang="zh-CN" altLang="en-US" sz="2800" b="1">
              <a:latin typeface="Times New Roman" pitchFamily="18" charset="0"/>
              <a:ea typeface="楷体_GB2312" pitchFamily="49" charset="-122"/>
              <a:cs typeface="Times New Roman" pitchFamily="18" charset="0"/>
            </a:endParaRPr>
          </a:p>
        </p:txBody>
      </p:sp>
      <p:sp>
        <p:nvSpPr>
          <p:cNvPr id="45" name="TextBox 52"/>
          <p:cNvSpPr txBox="1">
            <a:spLocks noChangeArrowheads="1"/>
          </p:cNvSpPr>
          <p:nvPr/>
        </p:nvSpPr>
        <p:spPr bwMode="auto">
          <a:xfrm>
            <a:off x="8013342" y="5128161"/>
            <a:ext cx="977900" cy="519113"/>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A/D</a:t>
            </a:r>
            <a:endParaRPr lang="zh-CN" altLang="en-US" sz="2800" b="1">
              <a:latin typeface="Times New Roman" pitchFamily="18" charset="0"/>
              <a:ea typeface="楷体_GB2312" pitchFamily="49" charset="-122"/>
              <a:cs typeface="Times New Roman" pitchFamily="18" charset="0"/>
            </a:endParaRPr>
          </a:p>
        </p:txBody>
      </p:sp>
      <p:cxnSp>
        <p:nvCxnSpPr>
          <p:cNvPr id="46" name="直接箭头连接符 69"/>
          <p:cNvCxnSpPr>
            <a:cxnSpLocks noChangeShapeType="1"/>
          </p:cNvCxnSpPr>
          <p:nvPr/>
        </p:nvCxnSpPr>
        <p:spPr bwMode="auto">
          <a:xfrm>
            <a:off x="8680092" y="3305711"/>
            <a:ext cx="844550" cy="800100"/>
          </a:xfrm>
          <a:prstGeom prst="straightConnector1">
            <a:avLst/>
          </a:prstGeom>
          <a:noFill/>
          <a:ln w="38100" algn="ctr">
            <a:solidFill>
              <a:srgbClr val="FF0000"/>
            </a:solidFill>
            <a:round/>
            <a:headEnd/>
            <a:tailEnd type="stealth" w="lg" len="lg"/>
          </a:ln>
        </p:spPr>
      </p:cxnSp>
      <p:cxnSp>
        <p:nvCxnSpPr>
          <p:cNvPr id="48" name="直接箭头连接符 70"/>
          <p:cNvCxnSpPr>
            <a:cxnSpLocks noChangeShapeType="1"/>
          </p:cNvCxnSpPr>
          <p:nvPr/>
        </p:nvCxnSpPr>
        <p:spPr bwMode="auto">
          <a:xfrm>
            <a:off x="8768992" y="4239161"/>
            <a:ext cx="533400" cy="1588"/>
          </a:xfrm>
          <a:prstGeom prst="straightConnector1">
            <a:avLst/>
          </a:prstGeom>
          <a:noFill/>
          <a:ln w="38100" algn="ctr">
            <a:solidFill>
              <a:srgbClr val="06EA06"/>
            </a:solidFill>
            <a:round/>
            <a:headEnd/>
            <a:tailEnd type="stealth" w="lg" len="lg"/>
          </a:ln>
        </p:spPr>
      </p:cxnSp>
      <p:cxnSp>
        <p:nvCxnSpPr>
          <p:cNvPr id="49" name="直接箭头连接符 71"/>
          <p:cNvCxnSpPr>
            <a:cxnSpLocks noChangeShapeType="1"/>
          </p:cNvCxnSpPr>
          <p:nvPr/>
        </p:nvCxnSpPr>
        <p:spPr bwMode="auto">
          <a:xfrm rot="5400000" flipH="1" flipV="1">
            <a:off x="8613417" y="4439186"/>
            <a:ext cx="1022350" cy="889000"/>
          </a:xfrm>
          <a:prstGeom prst="straightConnector1">
            <a:avLst/>
          </a:prstGeom>
          <a:noFill/>
          <a:ln w="38100" algn="ctr">
            <a:solidFill>
              <a:schemeClr val="tx2"/>
            </a:solidFill>
            <a:round/>
            <a:headEnd/>
            <a:tailEnd type="stealth" w="lg" len="lg"/>
          </a:ln>
        </p:spPr>
      </p:cxnSp>
      <p:sp>
        <p:nvSpPr>
          <p:cNvPr id="20529" name="TextBox 3"/>
          <p:cNvSpPr txBox="1">
            <a:spLocks noChangeArrowheads="1"/>
          </p:cNvSpPr>
          <p:nvPr/>
        </p:nvSpPr>
        <p:spPr bwMode="auto">
          <a:xfrm>
            <a:off x="5124092" y="6140986"/>
            <a:ext cx="3155950" cy="584775"/>
          </a:xfrm>
          <a:prstGeom prst="rect">
            <a:avLst/>
          </a:prstGeom>
          <a:noFill/>
          <a:ln w="38100">
            <a:solidFill>
              <a:srgbClr val="FF0000"/>
            </a:solidFill>
            <a:miter lim="800000"/>
            <a:headEnd/>
            <a:tailEnd/>
          </a:ln>
        </p:spPr>
        <p:txBody>
          <a:bodyPr wrap="square">
            <a:spAutoFit/>
          </a:bodyPr>
          <a:lstStyle/>
          <a:p>
            <a:pPr algn="ctr" defTabSz="914400"/>
            <a:r>
              <a:rPr lang="zh-CN" altLang="en-US" sz="3200" b="1" dirty="0">
                <a:solidFill>
                  <a:srgbClr val="0000CC"/>
                </a:solidFill>
                <a:latin typeface="Times New Roman" pitchFamily="18" charset="0"/>
                <a:ea typeface="微软雅黑" pitchFamily="34" charset="-122"/>
                <a:cs typeface="Times New Roman" pitchFamily="18" charset="0"/>
              </a:rPr>
              <a:t>原理</a:t>
            </a:r>
          </a:p>
        </p:txBody>
      </p:sp>
      <p:grpSp>
        <p:nvGrpSpPr>
          <p:cNvPr id="50" name="组合 49">
            <a:extLst>
              <a:ext uri="{FF2B5EF4-FFF2-40B4-BE49-F238E27FC236}">
                <a16:creationId xmlns:a16="http://schemas.microsoft.com/office/drawing/2014/main" xmlns="" id="{E1E867BB-8104-422A-860F-16CC0304D24D}"/>
              </a:ext>
            </a:extLst>
          </p:cNvPr>
          <p:cNvGrpSpPr/>
          <p:nvPr/>
        </p:nvGrpSpPr>
        <p:grpSpPr>
          <a:xfrm>
            <a:off x="0" y="293282"/>
            <a:ext cx="13161246" cy="7421968"/>
            <a:chOff x="0" y="293282"/>
            <a:chExt cx="13161246" cy="7421968"/>
          </a:xfrm>
        </p:grpSpPr>
        <p:sp>
          <p:nvSpPr>
            <p:cNvPr id="51" name="文本框 60">
              <a:extLst>
                <a:ext uri="{FF2B5EF4-FFF2-40B4-BE49-F238E27FC236}">
                  <a16:creationId xmlns:a16="http://schemas.microsoft.com/office/drawing/2014/main" xmlns="" id="{2DF6723F-094D-4E72-9A83-4C4F9CA04680}"/>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色敏探测器结构与工作原理 </a:t>
              </a:r>
            </a:p>
          </p:txBody>
        </p:sp>
        <p:sp>
          <p:nvSpPr>
            <p:cNvPr id="58" name="矩形 57">
              <a:extLst>
                <a:ext uri="{FF2B5EF4-FFF2-40B4-BE49-F238E27FC236}">
                  <a16:creationId xmlns:a16="http://schemas.microsoft.com/office/drawing/2014/main" xmlns="" id="{5B0FCB16-7CC9-4DB7-9126-616C3701625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59" name="矩形 58">
              <a:extLst>
                <a:ext uri="{FF2B5EF4-FFF2-40B4-BE49-F238E27FC236}">
                  <a16:creationId xmlns:a16="http://schemas.microsoft.com/office/drawing/2014/main" xmlns="" id="{75050800-5E23-415D-A01B-D6E7685D6A6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圆角 59">
              <a:extLst>
                <a:ext uri="{FF2B5EF4-FFF2-40B4-BE49-F238E27FC236}">
                  <a16:creationId xmlns:a16="http://schemas.microsoft.com/office/drawing/2014/main" xmlns="" id="{6D091BF2-2AF0-47CD-87CE-2B7A4A941029}"/>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61" name="直接连接符 58">
              <a:extLst>
                <a:ext uri="{FF2B5EF4-FFF2-40B4-BE49-F238E27FC236}">
                  <a16:creationId xmlns:a16="http://schemas.microsoft.com/office/drawing/2014/main" xmlns="" id="{FF505E24-BC7B-4BDE-A1C6-1E95DFFFBBB1}"/>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2" name="矩形 61">
              <a:extLst>
                <a:ext uri="{FF2B5EF4-FFF2-40B4-BE49-F238E27FC236}">
                  <a16:creationId xmlns:a16="http://schemas.microsoft.com/office/drawing/2014/main" xmlns="" id="{D7C20BAC-74E2-4F46-863A-73F2D56AA41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63" name="矩形 62">
              <a:extLst>
                <a:ext uri="{FF2B5EF4-FFF2-40B4-BE49-F238E27FC236}">
                  <a16:creationId xmlns:a16="http://schemas.microsoft.com/office/drawing/2014/main" xmlns="" id="{937D8470-2AD2-49C1-B7B2-8AC9CE3045A8}"/>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106"/>
                                        </p:tgtEl>
                                        <p:attrNameLst>
                                          <p:attrName>style.visibility</p:attrName>
                                        </p:attrNameLst>
                                      </p:cBhvr>
                                      <p:to>
                                        <p:strVal val="visible"/>
                                      </p:to>
                                    </p:set>
                                    <p:animEffect transition="in" filter="barn(inHorizontal)">
                                      <p:cBhvr>
                                        <p:cTn id="7" dur="500"/>
                                        <p:tgtEl>
                                          <p:spTgt spid="4106"/>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4105"/>
                                        </p:tgtEl>
                                        <p:attrNameLst>
                                          <p:attrName>style.visibility</p:attrName>
                                        </p:attrNameLst>
                                      </p:cBhvr>
                                      <p:to>
                                        <p:strVal val="visible"/>
                                      </p:to>
                                    </p:set>
                                    <p:animEffect transition="in" filter="barn(inHorizontal)">
                                      <p:cBhvr>
                                        <p:cTn id="10" dur="500"/>
                                        <p:tgtEl>
                                          <p:spTgt spid="4105"/>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4104"/>
                                        </p:tgtEl>
                                        <p:attrNameLst>
                                          <p:attrName>style.visibility</p:attrName>
                                        </p:attrNameLst>
                                      </p:cBhvr>
                                      <p:to>
                                        <p:strVal val="visible"/>
                                      </p:to>
                                    </p:set>
                                    <p:animEffect transition="in" filter="barn(inHorizontal)">
                                      <p:cBhvr>
                                        <p:cTn id="13" dur="500"/>
                                        <p:tgtEl>
                                          <p:spTgt spid="410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1"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500" fill="hold"/>
                                        <p:tgtEl>
                                          <p:spTgt spid="35"/>
                                        </p:tgtEl>
                                        <p:attrNameLst>
                                          <p:attrName>ppt_x</p:attrName>
                                        </p:attrNameLst>
                                      </p:cBhvr>
                                      <p:tavLst>
                                        <p:tav tm="0">
                                          <p:val>
                                            <p:strVal val="#ppt_x"/>
                                          </p:val>
                                        </p:tav>
                                        <p:tav tm="100000">
                                          <p:val>
                                            <p:strVal val="#ppt_x"/>
                                          </p:val>
                                        </p:tav>
                                      </p:tavLst>
                                    </p:anim>
                                    <p:anim calcmode="lin" valueType="num">
                                      <p:cBhvr additive="base">
                                        <p:cTn id="19" dur="500" fill="hold"/>
                                        <p:tgtEl>
                                          <p:spTgt spid="35"/>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500" fill="hold"/>
                                        <p:tgtEl>
                                          <p:spTgt spid="36"/>
                                        </p:tgtEl>
                                        <p:attrNameLst>
                                          <p:attrName>ppt_x</p:attrName>
                                        </p:attrNameLst>
                                      </p:cBhvr>
                                      <p:tavLst>
                                        <p:tav tm="0">
                                          <p:val>
                                            <p:strVal val="#ppt_x"/>
                                          </p:val>
                                        </p:tav>
                                        <p:tav tm="100000">
                                          <p:val>
                                            <p:strVal val="#ppt_x"/>
                                          </p:val>
                                        </p:tav>
                                      </p:tavLst>
                                    </p:anim>
                                    <p:anim calcmode="lin" valueType="num">
                                      <p:cBhvr additive="base">
                                        <p:cTn id="23" dur="500" fill="hold"/>
                                        <p:tgtEl>
                                          <p:spTgt spid="36"/>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6" fill="hold" grpId="0" nodeType="clickEffect">
                                  <p:stCondLst>
                                    <p:cond delay="0"/>
                                  </p:stCondLst>
                                  <p:childTnLst>
                                    <p:set>
                                      <p:cBhvr>
                                        <p:cTn id="27" dur="1" fill="hold">
                                          <p:stCondLst>
                                            <p:cond delay="0"/>
                                          </p:stCondLst>
                                        </p:cTn>
                                        <p:tgtEl>
                                          <p:spTgt spid="4107"/>
                                        </p:tgtEl>
                                        <p:attrNameLst>
                                          <p:attrName>style.visibility</p:attrName>
                                        </p:attrNameLst>
                                      </p:cBhvr>
                                      <p:to>
                                        <p:strVal val="visible"/>
                                      </p:to>
                                    </p:set>
                                    <p:animEffect transition="in" filter="barn(inHorizontal)">
                                      <p:cBhvr>
                                        <p:cTn id="28" dur="500"/>
                                        <p:tgtEl>
                                          <p:spTgt spid="4107"/>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additive="base">
                                        <p:cTn id="33" dur="500" fill="hold"/>
                                        <p:tgtEl>
                                          <p:spTgt spid="32"/>
                                        </p:tgtEl>
                                        <p:attrNameLst>
                                          <p:attrName>ppt_x</p:attrName>
                                        </p:attrNameLst>
                                      </p:cBhvr>
                                      <p:tavLst>
                                        <p:tav tm="0">
                                          <p:val>
                                            <p:strVal val="#ppt_x"/>
                                          </p:val>
                                        </p:tav>
                                        <p:tav tm="100000">
                                          <p:val>
                                            <p:strVal val="#ppt_x"/>
                                          </p:val>
                                        </p:tav>
                                      </p:tavLst>
                                    </p:anim>
                                    <p:anim calcmode="lin" valueType="num">
                                      <p:cBhvr additive="base">
                                        <p:cTn id="34" dur="500" fill="hold"/>
                                        <p:tgtEl>
                                          <p:spTgt spid="3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103"/>
                                        </p:tgtEl>
                                        <p:attrNameLst>
                                          <p:attrName>style.visibility</p:attrName>
                                        </p:attrNameLst>
                                      </p:cBhvr>
                                      <p:to>
                                        <p:strVal val="visible"/>
                                      </p:to>
                                    </p:set>
                                    <p:anim calcmode="lin" valueType="num">
                                      <p:cBhvr additive="base">
                                        <p:cTn id="37" dur="500" fill="hold"/>
                                        <p:tgtEl>
                                          <p:spTgt spid="4103"/>
                                        </p:tgtEl>
                                        <p:attrNameLst>
                                          <p:attrName>ppt_x</p:attrName>
                                        </p:attrNameLst>
                                      </p:cBhvr>
                                      <p:tavLst>
                                        <p:tav tm="0">
                                          <p:val>
                                            <p:strVal val="#ppt_x"/>
                                          </p:val>
                                        </p:tav>
                                        <p:tav tm="100000">
                                          <p:val>
                                            <p:strVal val="#ppt_x"/>
                                          </p:val>
                                        </p:tav>
                                      </p:tavLst>
                                    </p:anim>
                                    <p:anim calcmode="lin" valueType="num">
                                      <p:cBhvr additive="base">
                                        <p:cTn id="38" dur="500" fill="hold"/>
                                        <p:tgtEl>
                                          <p:spTgt spid="410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4101"/>
                                        </p:tgtEl>
                                        <p:attrNameLst>
                                          <p:attrName>style.visibility</p:attrName>
                                        </p:attrNameLst>
                                      </p:cBhvr>
                                      <p:to>
                                        <p:strVal val="visible"/>
                                      </p:to>
                                    </p:set>
                                    <p:anim calcmode="lin" valueType="num">
                                      <p:cBhvr additive="base">
                                        <p:cTn id="43" dur="500" fill="hold"/>
                                        <p:tgtEl>
                                          <p:spTgt spid="4101"/>
                                        </p:tgtEl>
                                        <p:attrNameLst>
                                          <p:attrName>ppt_x</p:attrName>
                                        </p:attrNameLst>
                                      </p:cBhvr>
                                      <p:tavLst>
                                        <p:tav tm="0">
                                          <p:val>
                                            <p:strVal val="0-#ppt_w/2"/>
                                          </p:val>
                                        </p:tav>
                                        <p:tav tm="100000">
                                          <p:val>
                                            <p:strVal val="#ppt_x"/>
                                          </p:val>
                                        </p:tav>
                                      </p:tavLst>
                                    </p:anim>
                                    <p:anim calcmode="lin" valueType="num">
                                      <p:cBhvr additive="base">
                                        <p:cTn id="44" dur="500" fill="hold"/>
                                        <p:tgtEl>
                                          <p:spTgt spid="410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6" fill="hold" nodeType="clickEffect">
                                  <p:stCondLst>
                                    <p:cond delay="0"/>
                                  </p:stCondLst>
                                  <p:childTnLst>
                                    <p:set>
                                      <p:cBhvr>
                                        <p:cTn id="48" dur="1" fill="hold">
                                          <p:stCondLst>
                                            <p:cond delay="0"/>
                                          </p:stCondLst>
                                        </p:cTn>
                                        <p:tgtEl>
                                          <p:spTgt spid="4100"/>
                                        </p:tgtEl>
                                        <p:attrNameLst>
                                          <p:attrName>style.visibility</p:attrName>
                                        </p:attrNameLst>
                                      </p:cBhvr>
                                      <p:to>
                                        <p:strVal val="visible"/>
                                      </p:to>
                                    </p:set>
                                    <p:animEffect transition="in" filter="barn(inHorizontal)">
                                      <p:cBhvr>
                                        <p:cTn id="49" dur="500"/>
                                        <p:tgtEl>
                                          <p:spTgt spid="4100"/>
                                        </p:tgtEl>
                                      </p:cBhvr>
                                    </p:animEffect>
                                  </p:childTnLst>
                                </p:cTn>
                              </p:par>
                              <p:par>
                                <p:cTn id="50" presetID="16" presetClass="entr" presetSubtype="26" fill="hold" nodeType="withEffect">
                                  <p:stCondLst>
                                    <p:cond delay="0"/>
                                  </p:stCondLst>
                                  <p:childTnLst>
                                    <p:set>
                                      <p:cBhvr>
                                        <p:cTn id="51" dur="1" fill="hold">
                                          <p:stCondLst>
                                            <p:cond delay="0"/>
                                          </p:stCondLst>
                                        </p:cTn>
                                        <p:tgtEl>
                                          <p:spTgt spid="4099"/>
                                        </p:tgtEl>
                                        <p:attrNameLst>
                                          <p:attrName>style.visibility</p:attrName>
                                        </p:attrNameLst>
                                      </p:cBhvr>
                                      <p:to>
                                        <p:strVal val="visible"/>
                                      </p:to>
                                    </p:set>
                                    <p:animEffect transition="in" filter="barn(inHorizontal)">
                                      <p:cBhvr>
                                        <p:cTn id="52" dur="500"/>
                                        <p:tgtEl>
                                          <p:spTgt spid="4099"/>
                                        </p:tgtEl>
                                      </p:cBhvr>
                                    </p:animEffect>
                                  </p:childTnLst>
                                </p:cTn>
                              </p:par>
                              <p:par>
                                <p:cTn id="53" presetID="16" presetClass="entr" presetSubtype="26" fill="hold" nodeType="withEffect">
                                  <p:stCondLst>
                                    <p:cond delay="0"/>
                                  </p:stCondLst>
                                  <p:childTnLst>
                                    <p:set>
                                      <p:cBhvr>
                                        <p:cTn id="54" dur="1" fill="hold">
                                          <p:stCondLst>
                                            <p:cond delay="0"/>
                                          </p:stCondLst>
                                        </p:cTn>
                                        <p:tgtEl>
                                          <p:spTgt spid="4098"/>
                                        </p:tgtEl>
                                        <p:attrNameLst>
                                          <p:attrName>style.visibility</p:attrName>
                                        </p:attrNameLst>
                                      </p:cBhvr>
                                      <p:to>
                                        <p:strVal val="visible"/>
                                      </p:to>
                                    </p:set>
                                    <p:animEffect transition="in" filter="barn(inHorizontal)">
                                      <p:cBhvr>
                                        <p:cTn id="55" dur="500"/>
                                        <p:tgtEl>
                                          <p:spTgt spid="4098"/>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6" fill="hold" grpId="0" nodeType="click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barn(inHorizontal)">
                                      <p:cBhvr>
                                        <p:cTn id="60" dur="500"/>
                                        <p:tgtEl>
                                          <p:spTgt spid="44"/>
                                        </p:tgtEl>
                                      </p:cBhvr>
                                    </p:animEffect>
                                  </p:childTnLst>
                                </p:cTn>
                              </p:par>
                              <p:par>
                                <p:cTn id="61" presetID="16" presetClass="entr" presetSubtype="26" fill="hold" nodeType="withEffect">
                                  <p:stCondLst>
                                    <p:cond delay="0"/>
                                  </p:stCondLst>
                                  <p:childTnLst>
                                    <p:set>
                                      <p:cBhvr>
                                        <p:cTn id="62" dur="1" fill="hold">
                                          <p:stCondLst>
                                            <p:cond delay="0"/>
                                          </p:stCondLst>
                                        </p:cTn>
                                        <p:tgtEl>
                                          <p:spTgt spid="4115"/>
                                        </p:tgtEl>
                                        <p:attrNameLst>
                                          <p:attrName>style.visibility</p:attrName>
                                        </p:attrNameLst>
                                      </p:cBhvr>
                                      <p:to>
                                        <p:strVal val="visible"/>
                                      </p:to>
                                    </p:set>
                                    <p:animEffect transition="in" filter="barn(inHorizontal)">
                                      <p:cBhvr>
                                        <p:cTn id="63" dur="500"/>
                                        <p:tgtEl>
                                          <p:spTgt spid="4115"/>
                                        </p:tgtEl>
                                      </p:cBhvr>
                                    </p:animEffect>
                                  </p:childTnLst>
                                </p:cTn>
                              </p:par>
                              <p:par>
                                <p:cTn id="64" presetID="16" presetClass="entr" presetSubtype="26" fill="hold" grpId="0" nodeType="withEffect">
                                  <p:stCondLst>
                                    <p:cond delay="0"/>
                                  </p:stCondLst>
                                  <p:childTnLst>
                                    <p:set>
                                      <p:cBhvr>
                                        <p:cTn id="65" dur="1" fill="hold">
                                          <p:stCondLst>
                                            <p:cond delay="0"/>
                                          </p:stCondLst>
                                        </p:cTn>
                                        <p:tgtEl>
                                          <p:spTgt spid="4112"/>
                                        </p:tgtEl>
                                        <p:attrNameLst>
                                          <p:attrName>style.visibility</p:attrName>
                                        </p:attrNameLst>
                                      </p:cBhvr>
                                      <p:to>
                                        <p:strVal val="visible"/>
                                      </p:to>
                                    </p:set>
                                    <p:animEffect transition="in" filter="barn(inHorizontal)">
                                      <p:cBhvr>
                                        <p:cTn id="66" dur="500"/>
                                        <p:tgtEl>
                                          <p:spTgt spid="4112"/>
                                        </p:tgtEl>
                                      </p:cBhvr>
                                    </p:animEffect>
                                  </p:childTnLst>
                                </p:cTn>
                              </p:par>
                              <p:par>
                                <p:cTn id="67" presetID="16" presetClass="entr" presetSubtype="26" fill="hold" grpId="0" nodeType="withEffect">
                                  <p:stCondLst>
                                    <p:cond delay="0"/>
                                  </p:stCondLst>
                                  <p:childTnLst>
                                    <p:set>
                                      <p:cBhvr>
                                        <p:cTn id="68" dur="1" fill="hold">
                                          <p:stCondLst>
                                            <p:cond delay="0"/>
                                          </p:stCondLst>
                                        </p:cTn>
                                        <p:tgtEl>
                                          <p:spTgt spid="4113"/>
                                        </p:tgtEl>
                                        <p:attrNameLst>
                                          <p:attrName>style.visibility</p:attrName>
                                        </p:attrNameLst>
                                      </p:cBhvr>
                                      <p:to>
                                        <p:strVal val="visible"/>
                                      </p:to>
                                    </p:set>
                                    <p:animEffect transition="in" filter="barn(inHorizontal)">
                                      <p:cBhvr>
                                        <p:cTn id="69" dur="500"/>
                                        <p:tgtEl>
                                          <p:spTgt spid="4113"/>
                                        </p:tgtEl>
                                      </p:cBhvr>
                                    </p:animEffect>
                                  </p:childTnLst>
                                </p:cTn>
                              </p:par>
                              <p:par>
                                <p:cTn id="70" presetID="16" presetClass="entr" presetSubtype="26" fill="hold" nodeType="withEffect">
                                  <p:stCondLst>
                                    <p:cond delay="0"/>
                                  </p:stCondLst>
                                  <p:childTnLst>
                                    <p:set>
                                      <p:cBhvr>
                                        <p:cTn id="71" dur="1" fill="hold">
                                          <p:stCondLst>
                                            <p:cond delay="0"/>
                                          </p:stCondLst>
                                        </p:cTn>
                                        <p:tgtEl>
                                          <p:spTgt spid="4116"/>
                                        </p:tgtEl>
                                        <p:attrNameLst>
                                          <p:attrName>style.visibility</p:attrName>
                                        </p:attrNameLst>
                                      </p:cBhvr>
                                      <p:to>
                                        <p:strVal val="visible"/>
                                      </p:to>
                                    </p:set>
                                    <p:animEffect transition="in" filter="barn(inHorizontal)">
                                      <p:cBhvr>
                                        <p:cTn id="72" dur="500"/>
                                        <p:tgtEl>
                                          <p:spTgt spid="4116"/>
                                        </p:tgtEl>
                                      </p:cBhvr>
                                    </p:animEffect>
                                  </p:childTnLst>
                                </p:cTn>
                              </p:par>
                              <p:par>
                                <p:cTn id="73" presetID="16" presetClass="entr" presetSubtype="26" fill="hold" nodeType="withEffect">
                                  <p:stCondLst>
                                    <p:cond delay="0"/>
                                  </p:stCondLst>
                                  <p:childTnLst>
                                    <p:set>
                                      <p:cBhvr>
                                        <p:cTn id="74" dur="1" fill="hold">
                                          <p:stCondLst>
                                            <p:cond delay="0"/>
                                          </p:stCondLst>
                                        </p:cTn>
                                        <p:tgtEl>
                                          <p:spTgt spid="4117"/>
                                        </p:tgtEl>
                                        <p:attrNameLst>
                                          <p:attrName>style.visibility</p:attrName>
                                        </p:attrNameLst>
                                      </p:cBhvr>
                                      <p:to>
                                        <p:strVal val="visible"/>
                                      </p:to>
                                    </p:set>
                                    <p:animEffect transition="in" filter="barn(inHorizontal)">
                                      <p:cBhvr>
                                        <p:cTn id="75" dur="500"/>
                                        <p:tgtEl>
                                          <p:spTgt spid="4117"/>
                                        </p:tgtEl>
                                      </p:cBhvr>
                                    </p:animEffect>
                                  </p:childTnLst>
                                </p:cTn>
                              </p:par>
                              <p:par>
                                <p:cTn id="76" presetID="16" presetClass="entr" presetSubtype="26" fill="hold" grpId="0" nodeType="withEffect">
                                  <p:stCondLst>
                                    <p:cond delay="0"/>
                                  </p:stCondLst>
                                  <p:childTnLst>
                                    <p:set>
                                      <p:cBhvr>
                                        <p:cTn id="77" dur="1" fill="hold">
                                          <p:stCondLst>
                                            <p:cond delay="0"/>
                                          </p:stCondLst>
                                        </p:cTn>
                                        <p:tgtEl>
                                          <p:spTgt spid="4114"/>
                                        </p:tgtEl>
                                        <p:attrNameLst>
                                          <p:attrName>style.visibility</p:attrName>
                                        </p:attrNameLst>
                                      </p:cBhvr>
                                      <p:to>
                                        <p:strVal val="visible"/>
                                      </p:to>
                                    </p:set>
                                    <p:animEffect transition="in" filter="barn(inHorizontal)">
                                      <p:cBhvr>
                                        <p:cTn id="78" dur="500"/>
                                        <p:tgtEl>
                                          <p:spTgt spid="4114"/>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26" fill="hold" grpId="0" nodeType="clickEffect">
                                  <p:stCondLst>
                                    <p:cond delay="0"/>
                                  </p:stCondLst>
                                  <p:childTnLst>
                                    <p:set>
                                      <p:cBhvr>
                                        <p:cTn id="82" dur="1" fill="hold">
                                          <p:stCondLst>
                                            <p:cond delay="0"/>
                                          </p:stCondLst>
                                        </p:cTn>
                                        <p:tgtEl>
                                          <p:spTgt spid="4111"/>
                                        </p:tgtEl>
                                        <p:attrNameLst>
                                          <p:attrName>style.visibility</p:attrName>
                                        </p:attrNameLst>
                                      </p:cBhvr>
                                      <p:to>
                                        <p:strVal val="visible"/>
                                      </p:to>
                                    </p:set>
                                    <p:animEffect transition="in" filter="barn(inHorizontal)">
                                      <p:cBhvr>
                                        <p:cTn id="83" dur="500"/>
                                        <p:tgtEl>
                                          <p:spTgt spid="4111"/>
                                        </p:tgtEl>
                                      </p:cBhvr>
                                    </p:animEffect>
                                  </p:childTnLst>
                                </p:cTn>
                              </p:par>
                              <p:par>
                                <p:cTn id="84" presetID="16" presetClass="entr" presetSubtype="26" fill="hold" grpId="0" nodeType="withEffect">
                                  <p:stCondLst>
                                    <p:cond delay="0"/>
                                  </p:stCondLst>
                                  <p:childTnLst>
                                    <p:set>
                                      <p:cBhvr>
                                        <p:cTn id="85" dur="1" fill="hold">
                                          <p:stCondLst>
                                            <p:cond delay="0"/>
                                          </p:stCondLst>
                                        </p:cTn>
                                        <p:tgtEl>
                                          <p:spTgt spid="4110"/>
                                        </p:tgtEl>
                                        <p:attrNameLst>
                                          <p:attrName>style.visibility</p:attrName>
                                        </p:attrNameLst>
                                      </p:cBhvr>
                                      <p:to>
                                        <p:strVal val="visible"/>
                                      </p:to>
                                    </p:set>
                                    <p:animEffect transition="in" filter="barn(inHorizontal)">
                                      <p:cBhvr>
                                        <p:cTn id="86" dur="500"/>
                                        <p:tgtEl>
                                          <p:spTgt spid="4110"/>
                                        </p:tgtEl>
                                      </p:cBhvr>
                                    </p:animEffect>
                                  </p:childTnLst>
                                </p:cTn>
                              </p:par>
                              <p:par>
                                <p:cTn id="87" presetID="16" presetClass="entr" presetSubtype="26" fill="hold" grpId="0" nodeType="withEffect">
                                  <p:stCondLst>
                                    <p:cond delay="0"/>
                                  </p:stCondLst>
                                  <p:childTnLst>
                                    <p:set>
                                      <p:cBhvr>
                                        <p:cTn id="88" dur="1" fill="hold">
                                          <p:stCondLst>
                                            <p:cond delay="0"/>
                                          </p:stCondLst>
                                        </p:cTn>
                                        <p:tgtEl>
                                          <p:spTgt spid="4109"/>
                                        </p:tgtEl>
                                        <p:attrNameLst>
                                          <p:attrName>style.visibility</p:attrName>
                                        </p:attrNameLst>
                                      </p:cBhvr>
                                      <p:to>
                                        <p:strVal val="visible"/>
                                      </p:to>
                                    </p:set>
                                    <p:animEffect transition="in" filter="barn(inHorizontal)">
                                      <p:cBhvr>
                                        <p:cTn id="89" dur="500"/>
                                        <p:tgtEl>
                                          <p:spTgt spid="4109"/>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1" fill="hold" nodeType="clickEffect">
                                  <p:stCondLst>
                                    <p:cond delay="0"/>
                                  </p:stCondLst>
                                  <p:childTnLst>
                                    <p:set>
                                      <p:cBhvr>
                                        <p:cTn id="93" dur="1" fill="hold">
                                          <p:stCondLst>
                                            <p:cond delay="0"/>
                                          </p:stCondLst>
                                        </p:cTn>
                                        <p:tgtEl>
                                          <p:spTgt spid="40"/>
                                        </p:tgtEl>
                                        <p:attrNameLst>
                                          <p:attrName>style.visibility</p:attrName>
                                        </p:attrNameLst>
                                      </p:cBhvr>
                                      <p:to>
                                        <p:strVal val="visible"/>
                                      </p:to>
                                    </p:set>
                                    <p:anim calcmode="lin" valueType="num">
                                      <p:cBhvr additive="base">
                                        <p:cTn id="94" dur="500" fill="hold"/>
                                        <p:tgtEl>
                                          <p:spTgt spid="40"/>
                                        </p:tgtEl>
                                        <p:attrNameLst>
                                          <p:attrName>ppt_x</p:attrName>
                                        </p:attrNameLst>
                                      </p:cBhvr>
                                      <p:tavLst>
                                        <p:tav tm="0">
                                          <p:val>
                                            <p:strVal val="#ppt_x"/>
                                          </p:val>
                                        </p:tav>
                                        <p:tav tm="100000">
                                          <p:val>
                                            <p:strVal val="#ppt_x"/>
                                          </p:val>
                                        </p:tav>
                                      </p:tavLst>
                                    </p:anim>
                                    <p:anim calcmode="lin" valueType="num">
                                      <p:cBhvr additive="base">
                                        <p:cTn id="95" dur="500" fill="hold"/>
                                        <p:tgtEl>
                                          <p:spTgt spid="40"/>
                                        </p:tgtEl>
                                        <p:attrNameLst>
                                          <p:attrName>ppt_y</p:attrName>
                                        </p:attrNameLst>
                                      </p:cBhvr>
                                      <p:tavLst>
                                        <p:tav tm="0">
                                          <p:val>
                                            <p:strVal val="0-#ppt_h/2"/>
                                          </p:val>
                                        </p:tav>
                                        <p:tav tm="100000">
                                          <p:val>
                                            <p:strVal val="#ppt_y"/>
                                          </p:val>
                                        </p:tav>
                                      </p:tavLst>
                                    </p:anim>
                                  </p:childTnLst>
                                </p:cTn>
                              </p:par>
                              <p:par>
                                <p:cTn id="96" presetID="2" presetClass="entr" presetSubtype="1" fill="hold" grpId="0" nodeType="withEffect">
                                  <p:stCondLst>
                                    <p:cond delay="0"/>
                                  </p:stCondLst>
                                  <p:childTnLst>
                                    <p:set>
                                      <p:cBhvr>
                                        <p:cTn id="97" dur="1" fill="hold">
                                          <p:stCondLst>
                                            <p:cond delay="0"/>
                                          </p:stCondLst>
                                        </p:cTn>
                                        <p:tgtEl>
                                          <p:spTgt spid="4124"/>
                                        </p:tgtEl>
                                        <p:attrNameLst>
                                          <p:attrName>style.visibility</p:attrName>
                                        </p:attrNameLst>
                                      </p:cBhvr>
                                      <p:to>
                                        <p:strVal val="visible"/>
                                      </p:to>
                                    </p:set>
                                    <p:anim calcmode="lin" valueType="num">
                                      <p:cBhvr additive="base">
                                        <p:cTn id="98" dur="500" fill="hold"/>
                                        <p:tgtEl>
                                          <p:spTgt spid="4124"/>
                                        </p:tgtEl>
                                        <p:attrNameLst>
                                          <p:attrName>ppt_x</p:attrName>
                                        </p:attrNameLst>
                                      </p:cBhvr>
                                      <p:tavLst>
                                        <p:tav tm="0">
                                          <p:val>
                                            <p:strVal val="#ppt_x"/>
                                          </p:val>
                                        </p:tav>
                                        <p:tav tm="100000">
                                          <p:val>
                                            <p:strVal val="#ppt_x"/>
                                          </p:val>
                                        </p:tav>
                                      </p:tavLst>
                                    </p:anim>
                                    <p:anim calcmode="lin" valueType="num">
                                      <p:cBhvr additive="base">
                                        <p:cTn id="99" dur="500" fill="hold"/>
                                        <p:tgtEl>
                                          <p:spTgt spid="4124"/>
                                        </p:tgtEl>
                                        <p:attrNameLst>
                                          <p:attrName>ppt_y</p:attrName>
                                        </p:attrNameLst>
                                      </p:cBhvr>
                                      <p:tavLst>
                                        <p:tav tm="0">
                                          <p:val>
                                            <p:strVal val="0-#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16" presetClass="entr" presetSubtype="26" fill="hold" nodeType="clickEffect">
                                  <p:stCondLst>
                                    <p:cond delay="0"/>
                                  </p:stCondLst>
                                  <p:childTnLst>
                                    <p:set>
                                      <p:cBhvr>
                                        <p:cTn id="103" dur="1" fill="hold">
                                          <p:stCondLst>
                                            <p:cond delay="0"/>
                                          </p:stCondLst>
                                        </p:cTn>
                                        <p:tgtEl>
                                          <p:spTgt spid="4118"/>
                                        </p:tgtEl>
                                        <p:attrNameLst>
                                          <p:attrName>style.visibility</p:attrName>
                                        </p:attrNameLst>
                                      </p:cBhvr>
                                      <p:to>
                                        <p:strVal val="visible"/>
                                      </p:to>
                                    </p:set>
                                    <p:animEffect transition="in" filter="barn(inHorizontal)">
                                      <p:cBhvr>
                                        <p:cTn id="104" dur="500"/>
                                        <p:tgtEl>
                                          <p:spTgt spid="4118"/>
                                        </p:tgtEl>
                                      </p:cBhvr>
                                    </p:animEffect>
                                  </p:childTnLst>
                                </p:cTn>
                              </p:par>
                              <p:par>
                                <p:cTn id="105" presetID="16" presetClass="entr" presetSubtype="26" fill="hold" grpId="0" nodeType="withEffect">
                                  <p:stCondLst>
                                    <p:cond delay="0"/>
                                  </p:stCondLst>
                                  <p:childTnLst>
                                    <p:set>
                                      <p:cBhvr>
                                        <p:cTn id="106" dur="1" fill="hold">
                                          <p:stCondLst>
                                            <p:cond delay="0"/>
                                          </p:stCondLst>
                                        </p:cTn>
                                        <p:tgtEl>
                                          <p:spTgt spid="4121"/>
                                        </p:tgtEl>
                                        <p:attrNameLst>
                                          <p:attrName>style.visibility</p:attrName>
                                        </p:attrNameLst>
                                      </p:cBhvr>
                                      <p:to>
                                        <p:strVal val="visible"/>
                                      </p:to>
                                    </p:set>
                                    <p:animEffect transition="in" filter="barn(inHorizontal)">
                                      <p:cBhvr>
                                        <p:cTn id="107" dur="500"/>
                                        <p:tgtEl>
                                          <p:spTgt spid="4121"/>
                                        </p:tgtEl>
                                      </p:cBhvr>
                                    </p:animEffect>
                                  </p:childTnLst>
                                </p:cTn>
                              </p:par>
                              <p:par>
                                <p:cTn id="108" presetID="16" presetClass="entr" presetSubtype="26" fill="hold" nodeType="withEffect">
                                  <p:stCondLst>
                                    <p:cond delay="0"/>
                                  </p:stCondLst>
                                  <p:childTnLst>
                                    <p:set>
                                      <p:cBhvr>
                                        <p:cTn id="109" dur="1" fill="hold">
                                          <p:stCondLst>
                                            <p:cond delay="0"/>
                                          </p:stCondLst>
                                        </p:cTn>
                                        <p:tgtEl>
                                          <p:spTgt spid="4119"/>
                                        </p:tgtEl>
                                        <p:attrNameLst>
                                          <p:attrName>style.visibility</p:attrName>
                                        </p:attrNameLst>
                                      </p:cBhvr>
                                      <p:to>
                                        <p:strVal val="visible"/>
                                      </p:to>
                                    </p:set>
                                    <p:animEffect transition="in" filter="barn(inHorizontal)">
                                      <p:cBhvr>
                                        <p:cTn id="110" dur="500"/>
                                        <p:tgtEl>
                                          <p:spTgt spid="4119"/>
                                        </p:tgtEl>
                                      </p:cBhvr>
                                    </p:animEffect>
                                  </p:childTnLst>
                                </p:cTn>
                              </p:par>
                              <p:par>
                                <p:cTn id="111" presetID="16" presetClass="entr" presetSubtype="26" fill="hold" grpId="0" nodeType="withEffect">
                                  <p:stCondLst>
                                    <p:cond delay="0"/>
                                  </p:stCondLst>
                                  <p:childTnLst>
                                    <p:set>
                                      <p:cBhvr>
                                        <p:cTn id="112" dur="1" fill="hold">
                                          <p:stCondLst>
                                            <p:cond delay="0"/>
                                          </p:stCondLst>
                                        </p:cTn>
                                        <p:tgtEl>
                                          <p:spTgt spid="4122"/>
                                        </p:tgtEl>
                                        <p:attrNameLst>
                                          <p:attrName>style.visibility</p:attrName>
                                        </p:attrNameLst>
                                      </p:cBhvr>
                                      <p:to>
                                        <p:strVal val="visible"/>
                                      </p:to>
                                    </p:set>
                                    <p:animEffect transition="in" filter="barn(inHorizontal)">
                                      <p:cBhvr>
                                        <p:cTn id="113" dur="500"/>
                                        <p:tgtEl>
                                          <p:spTgt spid="4122"/>
                                        </p:tgtEl>
                                      </p:cBhvr>
                                    </p:animEffect>
                                  </p:childTnLst>
                                </p:cTn>
                              </p:par>
                              <p:par>
                                <p:cTn id="114" presetID="16" presetClass="entr" presetSubtype="26" fill="hold" nodeType="withEffect">
                                  <p:stCondLst>
                                    <p:cond delay="0"/>
                                  </p:stCondLst>
                                  <p:childTnLst>
                                    <p:set>
                                      <p:cBhvr>
                                        <p:cTn id="115" dur="1" fill="hold">
                                          <p:stCondLst>
                                            <p:cond delay="0"/>
                                          </p:stCondLst>
                                        </p:cTn>
                                        <p:tgtEl>
                                          <p:spTgt spid="4120"/>
                                        </p:tgtEl>
                                        <p:attrNameLst>
                                          <p:attrName>style.visibility</p:attrName>
                                        </p:attrNameLst>
                                      </p:cBhvr>
                                      <p:to>
                                        <p:strVal val="visible"/>
                                      </p:to>
                                    </p:set>
                                    <p:animEffect transition="in" filter="barn(inHorizontal)">
                                      <p:cBhvr>
                                        <p:cTn id="116" dur="500"/>
                                        <p:tgtEl>
                                          <p:spTgt spid="4120"/>
                                        </p:tgtEl>
                                      </p:cBhvr>
                                    </p:animEffect>
                                  </p:childTnLst>
                                </p:cTn>
                              </p:par>
                              <p:par>
                                <p:cTn id="117" presetID="16" presetClass="entr" presetSubtype="26" fill="hold" grpId="0" nodeType="withEffect">
                                  <p:stCondLst>
                                    <p:cond delay="0"/>
                                  </p:stCondLst>
                                  <p:childTnLst>
                                    <p:set>
                                      <p:cBhvr>
                                        <p:cTn id="118" dur="1" fill="hold">
                                          <p:stCondLst>
                                            <p:cond delay="0"/>
                                          </p:stCondLst>
                                        </p:cTn>
                                        <p:tgtEl>
                                          <p:spTgt spid="4123"/>
                                        </p:tgtEl>
                                        <p:attrNameLst>
                                          <p:attrName>style.visibility</p:attrName>
                                        </p:attrNameLst>
                                      </p:cBhvr>
                                      <p:to>
                                        <p:strVal val="visible"/>
                                      </p:to>
                                    </p:set>
                                    <p:animEffect transition="in" filter="barn(inHorizontal)">
                                      <p:cBhvr>
                                        <p:cTn id="119" dur="500"/>
                                        <p:tgtEl>
                                          <p:spTgt spid="4123"/>
                                        </p:tgtEl>
                                      </p:cBhvr>
                                    </p:animEffect>
                                  </p:childTnLst>
                                </p:cTn>
                              </p:par>
                            </p:childTnLst>
                          </p:cTn>
                        </p:par>
                      </p:childTnLst>
                    </p:cTn>
                  </p:par>
                  <p:par>
                    <p:cTn id="120" fill="hold">
                      <p:stCondLst>
                        <p:cond delay="indefinite"/>
                      </p:stCondLst>
                      <p:childTnLst>
                        <p:par>
                          <p:cTn id="121" fill="hold">
                            <p:stCondLst>
                              <p:cond delay="0"/>
                            </p:stCondLst>
                            <p:childTnLst>
                              <p:par>
                                <p:cTn id="122" presetID="16" presetClass="entr" presetSubtype="26" fill="hold" nodeType="clickEffect">
                                  <p:stCondLst>
                                    <p:cond delay="0"/>
                                  </p:stCondLst>
                                  <p:childTnLst>
                                    <p:set>
                                      <p:cBhvr>
                                        <p:cTn id="123" dur="1" fill="hold">
                                          <p:stCondLst>
                                            <p:cond delay="0"/>
                                          </p:stCondLst>
                                        </p:cTn>
                                        <p:tgtEl>
                                          <p:spTgt spid="4125"/>
                                        </p:tgtEl>
                                        <p:attrNameLst>
                                          <p:attrName>style.visibility</p:attrName>
                                        </p:attrNameLst>
                                      </p:cBhvr>
                                      <p:to>
                                        <p:strVal val="visible"/>
                                      </p:to>
                                    </p:set>
                                    <p:animEffect transition="in" filter="barn(inHorizontal)">
                                      <p:cBhvr>
                                        <p:cTn id="124" dur="500"/>
                                        <p:tgtEl>
                                          <p:spTgt spid="4125"/>
                                        </p:tgtEl>
                                      </p:cBhvr>
                                    </p:animEffect>
                                  </p:childTnLst>
                                </p:cTn>
                              </p:par>
                              <p:par>
                                <p:cTn id="125" presetID="16" presetClass="entr" presetSubtype="26" fill="hold" nodeType="withEffect">
                                  <p:stCondLst>
                                    <p:cond delay="0"/>
                                  </p:stCondLst>
                                  <p:childTnLst>
                                    <p:set>
                                      <p:cBhvr>
                                        <p:cTn id="126" dur="1" fill="hold">
                                          <p:stCondLst>
                                            <p:cond delay="0"/>
                                          </p:stCondLst>
                                        </p:cTn>
                                        <p:tgtEl>
                                          <p:spTgt spid="4126"/>
                                        </p:tgtEl>
                                        <p:attrNameLst>
                                          <p:attrName>style.visibility</p:attrName>
                                        </p:attrNameLst>
                                      </p:cBhvr>
                                      <p:to>
                                        <p:strVal val="visible"/>
                                      </p:to>
                                    </p:set>
                                    <p:animEffect transition="in" filter="barn(inHorizontal)">
                                      <p:cBhvr>
                                        <p:cTn id="127" dur="500"/>
                                        <p:tgtEl>
                                          <p:spTgt spid="4126"/>
                                        </p:tgtEl>
                                      </p:cBhvr>
                                    </p:animEffect>
                                  </p:childTnLst>
                                </p:cTn>
                              </p:par>
                              <p:par>
                                <p:cTn id="128" presetID="16" presetClass="entr" presetSubtype="26" fill="hold" nodeType="withEffect">
                                  <p:stCondLst>
                                    <p:cond delay="0"/>
                                  </p:stCondLst>
                                  <p:childTnLst>
                                    <p:set>
                                      <p:cBhvr>
                                        <p:cTn id="129" dur="1" fill="hold">
                                          <p:stCondLst>
                                            <p:cond delay="0"/>
                                          </p:stCondLst>
                                        </p:cTn>
                                        <p:tgtEl>
                                          <p:spTgt spid="4127"/>
                                        </p:tgtEl>
                                        <p:attrNameLst>
                                          <p:attrName>style.visibility</p:attrName>
                                        </p:attrNameLst>
                                      </p:cBhvr>
                                      <p:to>
                                        <p:strVal val="visible"/>
                                      </p:to>
                                    </p:set>
                                    <p:animEffect transition="in" filter="barn(inHorizontal)">
                                      <p:cBhvr>
                                        <p:cTn id="130" dur="500"/>
                                        <p:tgtEl>
                                          <p:spTgt spid="4127"/>
                                        </p:tgtEl>
                                      </p:cBhvr>
                                    </p:animEffect>
                                  </p:childTnLst>
                                </p:cTn>
                              </p:par>
                              <p:par>
                                <p:cTn id="131" presetID="16" presetClass="entr" presetSubtype="26" fill="hold" grpId="0" nodeType="with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barn(inHorizontal)">
                                      <p:cBhvr>
                                        <p:cTn id="133" dur="500"/>
                                        <p:tgtEl>
                                          <p:spTgt spid="45"/>
                                        </p:tgtEl>
                                      </p:cBhvr>
                                    </p:animEffect>
                                  </p:childTnLst>
                                </p:cTn>
                              </p:par>
                              <p:par>
                                <p:cTn id="134" presetID="16" presetClass="entr" presetSubtype="26" fill="hold" grpId="0" nodeType="withEffect">
                                  <p:stCondLst>
                                    <p:cond delay="0"/>
                                  </p:stCondLst>
                                  <p:childTnLst>
                                    <p:set>
                                      <p:cBhvr>
                                        <p:cTn id="135" dur="1" fill="hold">
                                          <p:stCondLst>
                                            <p:cond delay="0"/>
                                          </p:stCondLst>
                                        </p:cTn>
                                        <p:tgtEl>
                                          <p:spTgt spid="41"/>
                                        </p:tgtEl>
                                        <p:attrNameLst>
                                          <p:attrName>style.visibility</p:attrName>
                                        </p:attrNameLst>
                                      </p:cBhvr>
                                      <p:to>
                                        <p:strVal val="visible"/>
                                      </p:to>
                                    </p:set>
                                    <p:animEffect transition="in" filter="barn(inHorizontal)">
                                      <p:cBhvr>
                                        <p:cTn id="136" dur="500"/>
                                        <p:tgtEl>
                                          <p:spTgt spid="41"/>
                                        </p:tgtEl>
                                      </p:cBhvr>
                                    </p:animEffect>
                                  </p:childTnLst>
                                </p:cTn>
                              </p:par>
                              <p:par>
                                <p:cTn id="137" presetID="16" presetClass="entr" presetSubtype="26" fill="hold" grpId="0" nodeType="withEffect">
                                  <p:stCondLst>
                                    <p:cond delay="0"/>
                                  </p:stCondLst>
                                  <p:childTnLst>
                                    <p:set>
                                      <p:cBhvr>
                                        <p:cTn id="138" dur="1" fill="hold">
                                          <p:stCondLst>
                                            <p:cond delay="0"/>
                                          </p:stCondLst>
                                        </p:cTn>
                                        <p:tgtEl>
                                          <p:spTgt spid="43"/>
                                        </p:tgtEl>
                                        <p:attrNameLst>
                                          <p:attrName>style.visibility</p:attrName>
                                        </p:attrNameLst>
                                      </p:cBhvr>
                                      <p:to>
                                        <p:strVal val="visible"/>
                                      </p:to>
                                    </p:set>
                                    <p:animEffect transition="in" filter="barn(inHorizontal)">
                                      <p:cBhvr>
                                        <p:cTn id="139" dur="500"/>
                                        <p:tgtEl>
                                          <p:spTgt spid="43"/>
                                        </p:tgtEl>
                                      </p:cBhvr>
                                    </p:animEffect>
                                  </p:childTnLst>
                                </p:cTn>
                              </p:par>
                            </p:childTnLst>
                          </p:cTn>
                        </p:par>
                      </p:childTnLst>
                    </p:cTn>
                  </p:par>
                  <p:par>
                    <p:cTn id="140" fill="hold">
                      <p:stCondLst>
                        <p:cond delay="indefinite"/>
                      </p:stCondLst>
                      <p:childTnLst>
                        <p:par>
                          <p:cTn id="141" fill="hold">
                            <p:stCondLst>
                              <p:cond delay="0"/>
                            </p:stCondLst>
                            <p:childTnLst>
                              <p:par>
                                <p:cTn id="142" presetID="16" presetClass="entr" presetSubtype="26" fill="hold" nodeType="clickEffect">
                                  <p:stCondLst>
                                    <p:cond delay="0"/>
                                  </p:stCondLst>
                                  <p:childTnLst>
                                    <p:set>
                                      <p:cBhvr>
                                        <p:cTn id="143" dur="1" fill="hold">
                                          <p:stCondLst>
                                            <p:cond delay="0"/>
                                          </p:stCondLst>
                                        </p:cTn>
                                        <p:tgtEl>
                                          <p:spTgt spid="46"/>
                                        </p:tgtEl>
                                        <p:attrNameLst>
                                          <p:attrName>style.visibility</p:attrName>
                                        </p:attrNameLst>
                                      </p:cBhvr>
                                      <p:to>
                                        <p:strVal val="visible"/>
                                      </p:to>
                                    </p:set>
                                    <p:animEffect transition="in" filter="barn(inHorizontal)">
                                      <p:cBhvr>
                                        <p:cTn id="144" dur="500"/>
                                        <p:tgtEl>
                                          <p:spTgt spid="46"/>
                                        </p:tgtEl>
                                      </p:cBhvr>
                                    </p:animEffect>
                                  </p:childTnLst>
                                </p:cTn>
                              </p:par>
                              <p:par>
                                <p:cTn id="145" presetID="16" presetClass="entr" presetSubtype="26" fill="hold" nodeType="withEffect">
                                  <p:stCondLst>
                                    <p:cond delay="0"/>
                                  </p:stCondLst>
                                  <p:childTnLst>
                                    <p:set>
                                      <p:cBhvr>
                                        <p:cTn id="146" dur="1" fill="hold">
                                          <p:stCondLst>
                                            <p:cond delay="0"/>
                                          </p:stCondLst>
                                        </p:cTn>
                                        <p:tgtEl>
                                          <p:spTgt spid="48"/>
                                        </p:tgtEl>
                                        <p:attrNameLst>
                                          <p:attrName>style.visibility</p:attrName>
                                        </p:attrNameLst>
                                      </p:cBhvr>
                                      <p:to>
                                        <p:strVal val="visible"/>
                                      </p:to>
                                    </p:set>
                                    <p:animEffect transition="in" filter="barn(inHorizontal)">
                                      <p:cBhvr>
                                        <p:cTn id="147" dur="500"/>
                                        <p:tgtEl>
                                          <p:spTgt spid="48"/>
                                        </p:tgtEl>
                                      </p:cBhvr>
                                    </p:animEffect>
                                  </p:childTnLst>
                                </p:cTn>
                              </p:par>
                              <p:par>
                                <p:cTn id="148" presetID="16" presetClass="entr" presetSubtype="26" fill="hold" nodeType="withEffect">
                                  <p:stCondLst>
                                    <p:cond delay="0"/>
                                  </p:stCondLst>
                                  <p:childTnLst>
                                    <p:set>
                                      <p:cBhvr>
                                        <p:cTn id="149" dur="1" fill="hold">
                                          <p:stCondLst>
                                            <p:cond delay="0"/>
                                          </p:stCondLst>
                                        </p:cTn>
                                        <p:tgtEl>
                                          <p:spTgt spid="49"/>
                                        </p:tgtEl>
                                        <p:attrNameLst>
                                          <p:attrName>style.visibility</p:attrName>
                                        </p:attrNameLst>
                                      </p:cBhvr>
                                      <p:to>
                                        <p:strVal val="visible"/>
                                      </p:to>
                                    </p:set>
                                    <p:animEffect transition="in" filter="barn(inHorizontal)">
                                      <p:cBhvr>
                                        <p:cTn id="150" dur="500"/>
                                        <p:tgtEl>
                                          <p:spTgt spid="49"/>
                                        </p:tgtEl>
                                      </p:cBhvr>
                                    </p:animEffect>
                                  </p:childTnLst>
                                </p:cTn>
                              </p:par>
                              <p:par>
                                <p:cTn id="151" presetID="16" presetClass="entr" presetSubtype="26" fill="hold" grpId="0" nodeType="withEffect">
                                  <p:stCondLst>
                                    <p:cond delay="0"/>
                                  </p:stCondLst>
                                  <p:childTnLst>
                                    <p:set>
                                      <p:cBhvr>
                                        <p:cTn id="152" dur="1" fill="hold">
                                          <p:stCondLst>
                                            <p:cond delay="0"/>
                                          </p:stCondLst>
                                        </p:cTn>
                                        <p:tgtEl>
                                          <p:spTgt spid="42"/>
                                        </p:tgtEl>
                                        <p:attrNameLst>
                                          <p:attrName>style.visibility</p:attrName>
                                        </p:attrNameLst>
                                      </p:cBhvr>
                                      <p:to>
                                        <p:strVal val="visible"/>
                                      </p:to>
                                    </p:set>
                                    <p:animEffect transition="in" filter="barn(inHorizontal)">
                                      <p:cBhvr>
                                        <p:cTn id="15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3" grpId="0"/>
      <p:bldP spid="4104" grpId="0" animBg="1"/>
      <p:bldP spid="4105" grpId="0" animBg="1"/>
      <p:bldP spid="4106" grpId="0" animBg="1"/>
      <p:bldP spid="4107" grpId="0" animBg="1"/>
      <p:bldP spid="44" grpId="0" animBg="1"/>
      <p:bldP spid="4109" grpId="0" animBg="1"/>
      <p:bldP spid="4110" grpId="0" animBg="1"/>
      <p:bldP spid="4111" grpId="0" animBg="1"/>
      <p:bldP spid="4112" grpId="0"/>
      <p:bldP spid="4113" grpId="0"/>
      <p:bldP spid="4114" grpId="0"/>
      <p:bldP spid="4121" grpId="0"/>
      <p:bldP spid="4122" grpId="0"/>
      <p:bldP spid="4123" grpId="0"/>
      <p:bldP spid="4124" grpId="0"/>
      <p:bldP spid="35" grpId="0"/>
      <p:bldP spid="41" grpId="0"/>
      <p:bldP spid="42" grpId="0"/>
      <p:bldP spid="43" grpId="0"/>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色敏探测器的信号处理电路</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844389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色敏探测器的信号处理电路</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4.6.2</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335859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ChangeArrowheads="1"/>
          </p:cNvSpPr>
          <p:nvPr/>
        </p:nvSpPr>
        <p:spPr bwMode="auto">
          <a:xfrm>
            <a:off x="3219219" y="1100004"/>
            <a:ext cx="6800850" cy="579437"/>
          </a:xfrm>
          <a:prstGeom prst="rect">
            <a:avLst/>
          </a:prstGeom>
          <a:noFill/>
          <a:ln w="9525">
            <a:noFill/>
            <a:miter lim="800000"/>
            <a:headEnd/>
            <a:tailEnd/>
          </a:ln>
        </p:spPr>
        <p:txBody>
          <a:bodyPr>
            <a:spAutoFit/>
          </a:bodyPr>
          <a:lstStyle/>
          <a:p>
            <a:pPr defTabSz="914400">
              <a:defRPr/>
            </a:pPr>
            <a:r>
              <a:rPr lang="en-US" altLang="zh-CN" sz="3200" b="1" dirty="0">
                <a:solidFill>
                  <a:srgbClr val="0000CC"/>
                </a:solidFill>
                <a:latin typeface="微软雅黑" pitchFamily="34" charset="-122"/>
                <a:ea typeface="微软雅黑" pitchFamily="34" charset="-122"/>
              </a:rPr>
              <a:t>1.</a:t>
            </a:r>
            <a:r>
              <a:rPr lang="zh-CN" altLang="en-US" sz="3200" b="1" dirty="0">
                <a:solidFill>
                  <a:srgbClr val="0000CC"/>
                </a:solidFill>
                <a:latin typeface="微软雅黑" pitchFamily="34" charset="-122"/>
                <a:ea typeface="微软雅黑" pitchFamily="34" charset="-122"/>
              </a:rPr>
              <a:t>双结硅色敏探测器的信号处理电路</a:t>
            </a:r>
          </a:p>
        </p:txBody>
      </p:sp>
      <p:graphicFrame>
        <p:nvGraphicFramePr>
          <p:cNvPr id="8" name="Object 1"/>
          <p:cNvGraphicFramePr>
            <a:graphicFrameLocks noChangeAspect="1"/>
          </p:cNvGraphicFramePr>
          <p:nvPr>
            <p:extLst>
              <p:ext uri="{D42A27DB-BD31-4B8C-83A1-F6EECF244321}">
                <p14:modId xmlns:p14="http://schemas.microsoft.com/office/powerpoint/2010/main" val="1178140116"/>
              </p:ext>
            </p:extLst>
          </p:nvPr>
        </p:nvGraphicFramePr>
        <p:xfrm>
          <a:off x="760413" y="1925638"/>
          <a:ext cx="5418137" cy="3770312"/>
        </p:xfrm>
        <a:graphic>
          <a:graphicData uri="http://schemas.openxmlformats.org/presentationml/2006/ole">
            <mc:AlternateContent xmlns:mc="http://schemas.openxmlformats.org/markup-compatibility/2006">
              <mc:Choice xmlns:v="urn:schemas-microsoft-com:vml" Requires="v">
                <p:oleObj spid="_x0000_s21538" name="Visio" r:id="rId3" imgW="3210053" imgH="2228733" progId="Visio.Drawing.11">
                  <p:embed/>
                </p:oleObj>
              </mc:Choice>
              <mc:Fallback>
                <p:oleObj name="Visio" r:id="rId3" imgW="3210053" imgH="2228733" progId="Visio.Drawing.11">
                  <p:embed/>
                  <p:pic>
                    <p:nvPicPr>
                      <p:cNvPr id="0" name=""/>
                      <p:cNvPicPr>
                        <a:picLocks noChangeAspect="1" noChangeArrowheads="1"/>
                      </p:cNvPicPr>
                      <p:nvPr/>
                    </p:nvPicPr>
                    <p:blipFill>
                      <a:blip r:embed="rId4"/>
                      <a:srcRect/>
                      <a:stretch>
                        <a:fillRect/>
                      </a:stretch>
                    </p:blipFill>
                    <p:spPr bwMode="auto">
                      <a:xfrm>
                        <a:off x="760413" y="1925638"/>
                        <a:ext cx="5418137" cy="3770312"/>
                      </a:xfrm>
                      <a:prstGeom prst="rect">
                        <a:avLst/>
                      </a:prstGeom>
                      <a:solidFill>
                        <a:srgbClr val="FFFF00"/>
                      </a:solidFill>
                    </p:spPr>
                  </p:pic>
                </p:oleObj>
              </mc:Fallback>
            </mc:AlternateContent>
          </a:graphicData>
        </a:graphic>
      </p:graphicFrame>
      <p:sp>
        <p:nvSpPr>
          <p:cNvPr id="9" name="TextBox 4"/>
          <p:cNvSpPr txBox="1">
            <a:spLocks noChangeArrowheads="1"/>
          </p:cNvSpPr>
          <p:nvPr/>
        </p:nvSpPr>
        <p:spPr bwMode="auto">
          <a:xfrm>
            <a:off x="2388520" y="5852269"/>
            <a:ext cx="1466850" cy="971550"/>
          </a:xfrm>
          <a:prstGeom prst="rect">
            <a:avLst/>
          </a:prstGeom>
          <a:noFill/>
          <a:ln w="25400">
            <a:solidFill>
              <a:schemeClr val="tx2">
                <a:lumMod val="50000"/>
              </a:schemeClr>
            </a:solidFill>
            <a:miter lim="800000"/>
            <a:headEnd/>
            <a:tailEnd/>
          </a:ln>
        </p:spPr>
        <p:txBody>
          <a:bodyPr>
            <a:spAutoFit/>
          </a:bodyPr>
          <a:lstStyle/>
          <a:p>
            <a:pPr algn="ctr" defTabSz="914400">
              <a:defRPr/>
            </a:pPr>
            <a:r>
              <a:rPr lang="zh-CN" altLang="en-US" sz="2800" b="1" dirty="0">
                <a:solidFill>
                  <a:srgbClr val="00B050"/>
                </a:solidFill>
                <a:latin typeface="微软雅黑" pitchFamily="34" charset="-122"/>
                <a:ea typeface="微软雅黑" pitchFamily="34" charset="-122"/>
              </a:rPr>
              <a:t>对数</a:t>
            </a:r>
            <a:endParaRPr lang="en-US" altLang="zh-CN" sz="2800" b="1" dirty="0">
              <a:solidFill>
                <a:srgbClr val="00B050"/>
              </a:solidFill>
              <a:latin typeface="微软雅黑" pitchFamily="34" charset="-122"/>
              <a:ea typeface="微软雅黑" pitchFamily="34" charset="-122"/>
            </a:endParaRPr>
          </a:p>
          <a:p>
            <a:pPr algn="ctr" defTabSz="914400">
              <a:defRPr/>
            </a:pPr>
            <a:r>
              <a:rPr lang="zh-CN" altLang="en-US" sz="2800" b="1" dirty="0">
                <a:solidFill>
                  <a:srgbClr val="00B050"/>
                </a:solidFill>
                <a:latin typeface="微软雅黑" pitchFamily="34" charset="-122"/>
                <a:ea typeface="微软雅黑" pitchFamily="34" charset="-122"/>
              </a:rPr>
              <a:t>放大器</a:t>
            </a:r>
          </a:p>
        </p:txBody>
      </p:sp>
      <p:sp>
        <p:nvSpPr>
          <p:cNvPr id="10" name="TextBox 5"/>
          <p:cNvSpPr txBox="1">
            <a:spLocks noChangeArrowheads="1"/>
          </p:cNvSpPr>
          <p:nvPr/>
        </p:nvSpPr>
        <p:spPr bwMode="auto">
          <a:xfrm>
            <a:off x="4094737" y="5852269"/>
            <a:ext cx="1557337" cy="971550"/>
          </a:xfrm>
          <a:prstGeom prst="rect">
            <a:avLst/>
          </a:prstGeom>
          <a:noFill/>
          <a:ln w="25400">
            <a:solidFill>
              <a:schemeClr val="tx2">
                <a:lumMod val="50000"/>
              </a:schemeClr>
            </a:solidFill>
            <a:miter lim="800000"/>
            <a:headEnd/>
            <a:tailEnd/>
          </a:ln>
        </p:spPr>
        <p:txBody>
          <a:bodyPr>
            <a:spAutoFit/>
          </a:bodyPr>
          <a:lstStyle/>
          <a:p>
            <a:pPr algn="ctr" defTabSz="914400">
              <a:defRPr/>
            </a:pPr>
            <a:r>
              <a:rPr lang="zh-CN" altLang="en-US" sz="2800" b="1" dirty="0">
                <a:solidFill>
                  <a:srgbClr val="FF0000"/>
                </a:solidFill>
                <a:latin typeface="微软雅黑" pitchFamily="34" charset="-122"/>
                <a:ea typeface="微软雅黑" pitchFamily="34" charset="-122"/>
              </a:rPr>
              <a:t>差动</a:t>
            </a:r>
            <a:endParaRPr lang="en-US" altLang="zh-CN" sz="2800" b="1" dirty="0">
              <a:solidFill>
                <a:srgbClr val="FF0000"/>
              </a:solidFill>
              <a:latin typeface="微软雅黑" pitchFamily="34" charset="-122"/>
              <a:ea typeface="微软雅黑" pitchFamily="34" charset="-122"/>
            </a:endParaRPr>
          </a:p>
          <a:p>
            <a:pPr algn="ctr" defTabSz="914400">
              <a:defRPr/>
            </a:pPr>
            <a:r>
              <a:rPr lang="zh-CN" altLang="en-US" sz="2800" b="1" dirty="0">
                <a:solidFill>
                  <a:srgbClr val="FF0000"/>
                </a:solidFill>
                <a:latin typeface="微软雅黑" pitchFamily="34" charset="-122"/>
                <a:ea typeface="微软雅黑" pitchFamily="34" charset="-122"/>
              </a:rPr>
              <a:t>放大器</a:t>
            </a:r>
          </a:p>
        </p:txBody>
      </p:sp>
      <p:sp>
        <p:nvSpPr>
          <p:cNvPr id="12" name="TextBox 4"/>
          <p:cNvSpPr txBox="1">
            <a:spLocks noChangeArrowheads="1"/>
          </p:cNvSpPr>
          <p:nvPr/>
        </p:nvSpPr>
        <p:spPr bwMode="auto">
          <a:xfrm>
            <a:off x="666713" y="5880237"/>
            <a:ext cx="1466850" cy="954107"/>
          </a:xfrm>
          <a:prstGeom prst="rect">
            <a:avLst/>
          </a:prstGeom>
          <a:noFill/>
          <a:ln w="25400">
            <a:solidFill>
              <a:schemeClr val="tx2">
                <a:lumMod val="50000"/>
              </a:schemeClr>
            </a:solidFill>
            <a:miter lim="800000"/>
            <a:headEnd/>
            <a:tailEnd/>
          </a:ln>
        </p:spPr>
        <p:txBody>
          <a:bodyPr>
            <a:spAutoFit/>
          </a:bodyPr>
          <a:lstStyle/>
          <a:p>
            <a:pPr algn="ctr" defTabSz="914400">
              <a:defRPr/>
            </a:pPr>
            <a:r>
              <a:rPr lang="zh-CN" altLang="en-US" sz="2800" b="1" dirty="0">
                <a:solidFill>
                  <a:srgbClr val="FF00FF"/>
                </a:solidFill>
                <a:latin typeface="微软雅黑" pitchFamily="34" charset="-122"/>
                <a:ea typeface="微软雅黑" pitchFamily="34" charset="-122"/>
              </a:rPr>
              <a:t>色敏探测器</a:t>
            </a:r>
          </a:p>
        </p:txBody>
      </p:sp>
      <p:sp>
        <p:nvSpPr>
          <p:cNvPr id="3" name="上箭头 2"/>
          <p:cNvSpPr/>
          <p:nvPr/>
        </p:nvSpPr>
        <p:spPr>
          <a:xfrm>
            <a:off x="1089907" y="4883285"/>
            <a:ext cx="573288" cy="968983"/>
          </a:xfrm>
          <a:prstGeom prst="upArrow">
            <a:avLst/>
          </a:prstGeom>
          <a:gradFill>
            <a:gsLst>
              <a:gs pos="0">
                <a:srgbClr val="FFF200"/>
              </a:gs>
              <a:gs pos="45000">
                <a:srgbClr val="FF7A00"/>
              </a:gs>
              <a:gs pos="70000">
                <a:srgbClr val="FF0300"/>
              </a:gs>
              <a:gs pos="100000">
                <a:srgbClr val="4D0808"/>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上箭头 13"/>
          <p:cNvSpPr/>
          <p:nvPr/>
        </p:nvSpPr>
        <p:spPr>
          <a:xfrm>
            <a:off x="2801532" y="5257528"/>
            <a:ext cx="573288" cy="583119"/>
          </a:xfrm>
          <a:prstGeom prst="upArrow">
            <a:avLst/>
          </a:prstGeom>
          <a:gradFill>
            <a:gsLst>
              <a:gs pos="0">
                <a:srgbClr val="FFF200"/>
              </a:gs>
              <a:gs pos="45000">
                <a:srgbClr val="FF7A00"/>
              </a:gs>
              <a:gs pos="70000">
                <a:srgbClr val="FF0300"/>
              </a:gs>
              <a:gs pos="100000">
                <a:srgbClr val="4D0808"/>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上箭头 14"/>
          <p:cNvSpPr/>
          <p:nvPr/>
        </p:nvSpPr>
        <p:spPr>
          <a:xfrm>
            <a:off x="4547849" y="4551193"/>
            <a:ext cx="573288" cy="1301075"/>
          </a:xfrm>
          <a:prstGeom prst="upArrow">
            <a:avLst/>
          </a:prstGeom>
          <a:gradFill>
            <a:gsLst>
              <a:gs pos="0">
                <a:srgbClr val="000082"/>
              </a:gs>
              <a:gs pos="30000">
                <a:srgbClr val="66008F"/>
              </a:gs>
              <a:gs pos="64999">
                <a:srgbClr val="BA0066"/>
              </a:gs>
              <a:gs pos="89999">
                <a:srgbClr val="FF0000"/>
              </a:gs>
              <a:gs pos="100000">
                <a:srgbClr val="FF8200"/>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10"/>
          <p:cNvSpPr>
            <a:spLocks noChangeArrowheads="1"/>
          </p:cNvSpPr>
          <p:nvPr/>
        </p:nvSpPr>
        <p:spPr bwMode="auto">
          <a:xfrm>
            <a:off x="7231929" y="1938642"/>
            <a:ext cx="5576279" cy="523220"/>
          </a:xfrm>
          <a:prstGeom prst="rect">
            <a:avLst/>
          </a:prstGeom>
          <a:noFill/>
          <a:ln w="9525">
            <a:noFill/>
            <a:miter lim="800000"/>
            <a:headEnd/>
            <a:tailEnd/>
          </a:ln>
        </p:spPr>
        <p:txBody>
          <a:bodyPr wrap="square" anchor="ctr">
            <a:spAutoFit/>
          </a:bodyPr>
          <a:lstStyle/>
          <a:p>
            <a:pPr defTabSz="914400">
              <a:defRPr/>
            </a:pPr>
            <a:r>
              <a:rPr lang="zh-CN" altLang="en-US" sz="2800" b="1" dirty="0">
                <a:solidFill>
                  <a:srgbClr val="0000CC"/>
                </a:solidFill>
                <a:latin typeface="微软雅黑" pitchFamily="34" charset="-122"/>
                <a:ea typeface="微软雅黑" pitchFamily="34" charset="-122"/>
              </a:rPr>
              <a:t>对应于不同颜色波长的输出电压值 </a:t>
            </a:r>
          </a:p>
        </p:txBody>
      </p:sp>
      <p:graphicFrame>
        <p:nvGraphicFramePr>
          <p:cNvPr id="4" name="对象 3"/>
          <p:cNvGraphicFramePr>
            <a:graphicFrameLocks noChangeAspect="1"/>
          </p:cNvGraphicFramePr>
          <p:nvPr>
            <p:extLst>
              <p:ext uri="{D42A27DB-BD31-4B8C-83A1-F6EECF244321}">
                <p14:modId xmlns:p14="http://schemas.microsoft.com/office/powerpoint/2010/main" val="3297874789"/>
              </p:ext>
            </p:extLst>
          </p:nvPr>
        </p:nvGraphicFramePr>
        <p:xfrm>
          <a:off x="7540625" y="2605088"/>
          <a:ext cx="3327400" cy="936625"/>
        </p:xfrm>
        <a:graphic>
          <a:graphicData uri="http://schemas.openxmlformats.org/presentationml/2006/ole">
            <mc:AlternateContent xmlns:mc="http://schemas.openxmlformats.org/markup-compatibility/2006">
              <mc:Choice xmlns:v="urn:schemas-microsoft-com:vml" Requires="v">
                <p:oleObj spid="_x0000_s21539" name="Equation" r:id="rId5" imgW="1320480" imgH="380880" progId="Equation.DSMT4">
                  <p:embed/>
                </p:oleObj>
              </mc:Choice>
              <mc:Fallback>
                <p:oleObj name="Equation" r:id="rId5" imgW="1320480" imgH="380880" progId="Equation.DSMT4">
                  <p:embed/>
                  <p:pic>
                    <p:nvPicPr>
                      <p:cNvPr id="0" name=""/>
                      <p:cNvPicPr>
                        <a:picLocks noChangeAspect="1" noChangeArrowheads="1"/>
                      </p:cNvPicPr>
                      <p:nvPr/>
                    </p:nvPicPr>
                    <p:blipFill>
                      <a:blip r:embed="rId6"/>
                      <a:srcRect/>
                      <a:stretch>
                        <a:fillRect/>
                      </a:stretch>
                    </p:blipFill>
                    <p:spPr bwMode="auto">
                      <a:xfrm>
                        <a:off x="7540625" y="2605088"/>
                        <a:ext cx="3327400" cy="936625"/>
                      </a:xfrm>
                      <a:prstGeom prst="rect">
                        <a:avLst/>
                      </a:prstGeom>
                      <a:solidFill>
                        <a:srgbClr val="FFFF00"/>
                      </a:solid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283037007"/>
              </p:ext>
            </p:extLst>
          </p:nvPr>
        </p:nvGraphicFramePr>
        <p:xfrm>
          <a:off x="7519988" y="3733800"/>
          <a:ext cx="4586287" cy="622300"/>
        </p:xfrm>
        <a:graphic>
          <a:graphicData uri="http://schemas.openxmlformats.org/presentationml/2006/ole">
            <mc:AlternateContent xmlns:mc="http://schemas.openxmlformats.org/markup-compatibility/2006">
              <mc:Choice xmlns:v="urn:schemas-microsoft-com:vml" Requires="v">
                <p:oleObj spid="_x0000_s21540" name="Equation" r:id="rId7" imgW="1473120" imgH="203040" progId="Equation.DSMT4">
                  <p:embed/>
                </p:oleObj>
              </mc:Choice>
              <mc:Fallback>
                <p:oleObj name="Equation" r:id="rId7" imgW="1473120" imgH="203040" progId="Equation.DSMT4">
                  <p:embed/>
                  <p:pic>
                    <p:nvPicPr>
                      <p:cNvPr id="0" name=""/>
                      <p:cNvPicPr>
                        <a:picLocks noChangeAspect="1" noChangeArrowheads="1"/>
                      </p:cNvPicPr>
                      <p:nvPr/>
                    </p:nvPicPr>
                    <p:blipFill>
                      <a:blip r:embed="rId8"/>
                      <a:srcRect/>
                      <a:stretch>
                        <a:fillRect/>
                      </a:stretch>
                    </p:blipFill>
                    <p:spPr bwMode="auto">
                      <a:xfrm>
                        <a:off x="7519988" y="3733800"/>
                        <a:ext cx="4586287"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7526878" y="4616585"/>
          <a:ext cx="2336800" cy="533400"/>
        </p:xfrm>
        <a:graphic>
          <a:graphicData uri="http://schemas.openxmlformats.org/presentationml/2006/ole">
            <mc:AlternateContent xmlns:mc="http://schemas.openxmlformats.org/markup-compatibility/2006">
              <mc:Choice xmlns:v="urn:schemas-microsoft-com:vml" Requires="v">
                <p:oleObj spid="_x0000_s21541" name="Equation" r:id="rId9" imgW="888614" imgH="203112" progId="Equation.DSMT4">
                  <p:embed/>
                </p:oleObj>
              </mc:Choice>
              <mc:Fallback>
                <p:oleObj name="Equation" r:id="rId9" imgW="888614" imgH="203112"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26878" y="4616585"/>
                        <a:ext cx="2336800" cy="533400"/>
                      </a:xfrm>
                      <a:prstGeom prst="rect">
                        <a:avLst/>
                      </a:prstGeom>
                      <a:solidFill>
                        <a:srgbClr val="FF00FF"/>
                      </a:solidFill>
                      <a:ln>
                        <a:noFill/>
                      </a:ln>
                    </p:spPr>
                  </p:pic>
                </p:oleObj>
              </mc:Fallback>
            </mc:AlternateContent>
          </a:graphicData>
        </a:graphic>
      </p:graphicFrame>
      <p:sp>
        <p:nvSpPr>
          <p:cNvPr id="21" name="TextBox 6"/>
          <p:cNvSpPr txBox="1">
            <a:spLocks noChangeArrowheads="1"/>
          </p:cNvSpPr>
          <p:nvPr/>
        </p:nvSpPr>
        <p:spPr bwMode="auto">
          <a:xfrm>
            <a:off x="7563108" y="5442083"/>
            <a:ext cx="5245100" cy="519112"/>
          </a:xfrm>
          <a:prstGeom prst="rect">
            <a:avLst/>
          </a:prstGeom>
          <a:noFill/>
          <a:ln w="9525">
            <a:noFill/>
            <a:miter lim="800000"/>
            <a:headEnd/>
            <a:tailEnd/>
          </a:ln>
        </p:spPr>
        <p:txBody>
          <a:bodyPr>
            <a:spAutoFit/>
          </a:bodyPr>
          <a:lstStyle/>
          <a:p>
            <a:pPr defTabSz="914400"/>
            <a:r>
              <a:rPr lang="zh-CN" altLang="en-US" sz="2800" b="1" dirty="0">
                <a:latin typeface="微软雅黑" pitchFamily="34" charset="-122"/>
                <a:ea typeface="微软雅黑" pitchFamily="34" charset="-122"/>
              </a:rPr>
              <a:t>为差动放大器的电压放大倍数。</a:t>
            </a:r>
          </a:p>
        </p:txBody>
      </p:sp>
      <p:sp>
        <p:nvSpPr>
          <p:cNvPr id="22" name="Rectangle 11"/>
          <p:cNvSpPr>
            <a:spLocks noChangeArrowheads="1"/>
          </p:cNvSpPr>
          <p:nvPr/>
        </p:nvSpPr>
        <p:spPr bwMode="auto">
          <a:xfrm>
            <a:off x="6717456" y="6205166"/>
            <a:ext cx="6356350" cy="519113"/>
          </a:xfrm>
          <a:prstGeom prst="rect">
            <a:avLst/>
          </a:prstGeom>
          <a:noFill/>
          <a:ln w="9525">
            <a:noFill/>
            <a:miter lim="800000"/>
            <a:headEnd/>
            <a:tailEnd/>
          </a:ln>
        </p:spPr>
        <p:txBody>
          <a:bodyPr anchor="ctr">
            <a:spAutoFit/>
          </a:bodyPr>
          <a:lstStyle/>
          <a:p>
            <a:pPr defTabSz="914400"/>
            <a:r>
              <a:rPr lang="en-US" altLang="zh-CN" sz="2800" b="1" i="1" dirty="0">
                <a:latin typeface="Times New Roman" pitchFamily="18" charset="0"/>
                <a:ea typeface="微软雅黑" pitchFamily="34" charset="-122"/>
                <a:cs typeface="Times New Roman" pitchFamily="18" charset="0"/>
              </a:rPr>
              <a:t>I</a:t>
            </a:r>
            <a:r>
              <a:rPr lang="en-US" altLang="zh-CN" sz="2800" b="1" baseline="-25000" dirty="0">
                <a:latin typeface="Times New Roman" pitchFamily="18" charset="0"/>
                <a:ea typeface="微软雅黑" pitchFamily="34" charset="-122"/>
                <a:cs typeface="Times New Roman" pitchFamily="18" charset="0"/>
              </a:rPr>
              <a:t>sc1</a:t>
            </a:r>
            <a:r>
              <a:rPr lang="zh-CN" altLang="en-US" sz="2800" b="1" dirty="0">
                <a:latin typeface="Times New Roman" pitchFamily="18" charset="0"/>
                <a:ea typeface="微软雅黑" pitchFamily="34" charset="-122"/>
                <a:cs typeface="Times New Roman" pitchFamily="18" charset="0"/>
              </a:rPr>
              <a:t>和</a:t>
            </a:r>
            <a:r>
              <a:rPr lang="en-US" altLang="zh-CN" sz="2800" b="1" i="1" dirty="0">
                <a:latin typeface="Times New Roman" pitchFamily="18" charset="0"/>
                <a:ea typeface="微软雅黑" pitchFamily="34" charset="-122"/>
                <a:cs typeface="Times New Roman" pitchFamily="18" charset="0"/>
              </a:rPr>
              <a:t>I</a:t>
            </a:r>
            <a:r>
              <a:rPr lang="en-US" altLang="zh-CN" sz="2800" b="1" baseline="-25000" dirty="0">
                <a:latin typeface="Times New Roman" pitchFamily="18" charset="0"/>
                <a:ea typeface="微软雅黑" pitchFamily="34" charset="-122"/>
                <a:cs typeface="Times New Roman" pitchFamily="18" charset="0"/>
              </a:rPr>
              <a:t>sc2</a:t>
            </a:r>
            <a:r>
              <a:rPr lang="zh-CN" altLang="en-US" sz="2800" b="1" dirty="0">
                <a:latin typeface="Times New Roman" pitchFamily="18" charset="0"/>
                <a:ea typeface="微软雅黑" pitchFamily="34" charset="-122"/>
                <a:cs typeface="Times New Roman" pitchFamily="18" charset="0"/>
              </a:rPr>
              <a:t>分别为</a:t>
            </a:r>
            <a:r>
              <a:rPr lang="en-US" altLang="zh-CN" sz="2800" b="1" dirty="0">
                <a:latin typeface="Times New Roman" pitchFamily="18" charset="0"/>
                <a:ea typeface="微软雅黑" pitchFamily="34" charset="-122"/>
                <a:cs typeface="Times New Roman" pitchFamily="18" charset="0"/>
              </a:rPr>
              <a:t>PD1</a:t>
            </a:r>
            <a:r>
              <a:rPr lang="zh-CN" altLang="en-US" sz="2800" b="1" dirty="0">
                <a:latin typeface="Times New Roman" pitchFamily="18" charset="0"/>
                <a:ea typeface="微软雅黑" pitchFamily="34" charset="-122"/>
                <a:cs typeface="Times New Roman" pitchFamily="18" charset="0"/>
              </a:rPr>
              <a:t>、</a:t>
            </a:r>
            <a:r>
              <a:rPr lang="en-US" altLang="zh-CN" sz="2800" b="1" dirty="0">
                <a:latin typeface="Times New Roman" pitchFamily="18" charset="0"/>
                <a:ea typeface="微软雅黑" pitchFamily="34" charset="-122"/>
                <a:cs typeface="Times New Roman" pitchFamily="18" charset="0"/>
              </a:rPr>
              <a:t>PD2</a:t>
            </a:r>
            <a:r>
              <a:rPr lang="zh-CN" altLang="en-US" sz="2800" b="1" dirty="0">
                <a:latin typeface="Times New Roman" pitchFamily="18" charset="0"/>
                <a:ea typeface="微软雅黑" pitchFamily="34" charset="-122"/>
                <a:cs typeface="Times New Roman" pitchFamily="18" charset="0"/>
              </a:rPr>
              <a:t>的短路电流 </a:t>
            </a:r>
          </a:p>
        </p:txBody>
      </p:sp>
      <p:grpSp>
        <p:nvGrpSpPr>
          <p:cNvPr id="29" name="组合 28">
            <a:extLst>
              <a:ext uri="{FF2B5EF4-FFF2-40B4-BE49-F238E27FC236}">
                <a16:creationId xmlns:a16="http://schemas.microsoft.com/office/drawing/2014/main" xmlns="" id="{2C704AEB-96FB-461B-9D44-ACDD1B9A2952}"/>
              </a:ext>
            </a:extLst>
          </p:cNvPr>
          <p:cNvGrpSpPr/>
          <p:nvPr/>
        </p:nvGrpSpPr>
        <p:grpSpPr>
          <a:xfrm>
            <a:off x="0" y="293282"/>
            <a:ext cx="13161246" cy="7421968"/>
            <a:chOff x="0" y="293282"/>
            <a:chExt cx="13161246" cy="7421968"/>
          </a:xfrm>
        </p:grpSpPr>
        <p:sp>
          <p:nvSpPr>
            <p:cNvPr id="30" name="文本框 60">
              <a:extLst>
                <a:ext uri="{FF2B5EF4-FFF2-40B4-BE49-F238E27FC236}">
                  <a16:creationId xmlns:a16="http://schemas.microsoft.com/office/drawing/2014/main" xmlns="" id="{432246E0-86B1-4BFE-9CD8-CEC5AC14296E}"/>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色敏探测器的信号处理电路</a:t>
              </a:r>
            </a:p>
          </p:txBody>
        </p:sp>
        <p:sp>
          <p:nvSpPr>
            <p:cNvPr id="31" name="矩形 30">
              <a:extLst>
                <a:ext uri="{FF2B5EF4-FFF2-40B4-BE49-F238E27FC236}">
                  <a16:creationId xmlns:a16="http://schemas.microsoft.com/office/drawing/2014/main" xmlns="" id="{137BFB63-AC17-47D3-B128-02A4C260EFA2}"/>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2" name="矩形 31">
              <a:extLst>
                <a:ext uri="{FF2B5EF4-FFF2-40B4-BE49-F238E27FC236}">
                  <a16:creationId xmlns:a16="http://schemas.microsoft.com/office/drawing/2014/main" xmlns="" id="{675A9158-ED32-4424-B2B5-8607100652B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圆角 32">
              <a:extLst>
                <a:ext uri="{FF2B5EF4-FFF2-40B4-BE49-F238E27FC236}">
                  <a16:creationId xmlns:a16="http://schemas.microsoft.com/office/drawing/2014/main" xmlns="" id="{4EEE8904-027E-4264-9124-096CC26FA43F}"/>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4" name="直接连接符 58">
              <a:extLst>
                <a:ext uri="{FF2B5EF4-FFF2-40B4-BE49-F238E27FC236}">
                  <a16:creationId xmlns:a16="http://schemas.microsoft.com/office/drawing/2014/main" xmlns="" id="{B4EB4C64-C7B9-4FB1-A4D1-A9F4024C24F3}"/>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xmlns="" id="{6AEAF012-642B-4FF2-81FA-90AF1464B781}"/>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6" name="矩形 35">
              <a:extLst>
                <a:ext uri="{FF2B5EF4-FFF2-40B4-BE49-F238E27FC236}">
                  <a16:creationId xmlns:a16="http://schemas.microsoft.com/office/drawing/2014/main" xmlns="" id="{08742E83-1D87-4310-B336-22278EF0704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73250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ox(i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ox(i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box(in)">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box(in)">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ox(in)">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box(in)">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box(in)">
                                      <p:cBhvr>
                                        <p:cTn id="62" dur="500"/>
                                        <p:tgtEl>
                                          <p:spTgt spid="6"/>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box(in)">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box(in)">
                                      <p:cBhvr>
                                        <p:cTn id="7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0" grpId="0" animBg="1"/>
      <p:bldP spid="12" grpId="0" animBg="1"/>
      <p:bldP spid="3" grpId="0" animBg="1"/>
      <p:bldP spid="14" grpId="0" animBg="1"/>
      <p:bldP spid="15" grpId="0" animBg="1"/>
      <p:bldP spid="17" grpId="0"/>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a:spLocks noChangeArrowheads="1"/>
          </p:cNvSpPr>
          <p:nvPr/>
        </p:nvSpPr>
        <p:spPr bwMode="auto">
          <a:xfrm>
            <a:off x="4998194" y="4886679"/>
            <a:ext cx="7472666" cy="1374775"/>
          </a:xfrm>
          <a:prstGeom prst="rect">
            <a:avLst/>
          </a:prstGeom>
          <a:noFill/>
          <a:ln w="9525">
            <a:noFill/>
            <a:miter lim="800000"/>
            <a:headEnd/>
            <a:tailEnd/>
          </a:ln>
        </p:spPr>
        <p:txBody>
          <a:bodyPr wrap="square">
            <a:spAutoFit/>
          </a:bodyPr>
          <a:lstStyle/>
          <a:p>
            <a:pPr defTabSz="914400">
              <a:lnSpc>
                <a:spcPct val="150000"/>
              </a:lnSpc>
            </a:pPr>
            <a:r>
              <a:rPr lang="zh-CN" altLang="en-US" sz="2800" b="1" dirty="0">
                <a:solidFill>
                  <a:srgbClr val="FF0000"/>
                </a:solidFill>
                <a:latin typeface="微软雅黑" pitchFamily="34" charset="-122"/>
                <a:ea typeface="微软雅黑" pitchFamily="34" charset="-122"/>
              </a:rPr>
              <a:t>测出</a:t>
            </a:r>
            <a:r>
              <a:rPr lang="zh-CN" altLang="en-US" sz="2800" b="1" dirty="0">
                <a:latin typeface="微软雅黑" pitchFamily="34" charset="-122"/>
                <a:ea typeface="微软雅黑" pitchFamily="34" charset="-122"/>
              </a:rPr>
              <a:t>上面信号处理电路的</a:t>
            </a:r>
            <a:r>
              <a:rPr lang="zh-CN" altLang="en-US" sz="2800" b="1" dirty="0">
                <a:solidFill>
                  <a:srgbClr val="FF0000"/>
                </a:solidFill>
                <a:latin typeface="微软雅黑" pitchFamily="34" charset="-122"/>
                <a:ea typeface="微软雅黑" pitchFamily="34" charset="-122"/>
              </a:rPr>
              <a:t>输出电压</a:t>
            </a:r>
            <a:r>
              <a:rPr lang="zh-CN" altLang="en-US" sz="2800" b="1" dirty="0">
                <a:latin typeface="微软雅黑" pitchFamily="34" charset="-122"/>
                <a:ea typeface="微软雅黑" pitchFamily="34" charset="-122"/>
              </a:rPr>
              <a:t>，就能</a:t>
            </a:r>
            <a:r>
              <a:rPr lang="zh-CN" altLang="en-US" sz="2800" b="1" dirty="0">
                <a:solidFill>
                  <a:srgbClr val="FF0000"/>
                </a:solidFill>
                <a:latin typeface="微软雅黑" pitchFamily="34" charset="-122"/>
                <a:ea typeface="微软雅黑" pitchFamily="34" charset="-122"/>
              </a:rPr>
              <a:t>确定被测光的波长</a:t>
            </a:r>
            <a:r>
              <a:rPr lang="zh-CN" altLang="en-US" sz="2800" b="1" dirty="0">
                <a:latin typeface="微软雅黑" pitchFamily="34" charset="-122"/>
                <a:ea typeface="微软雅黑" pitchFamily="34" charset="-122"/>
              </a:rPr>
              <a:t>以达到识别颜色的目的。</a:t>
            </a:r>
          </a:p>
        </p:txBody>
      </p:sp>
      <p:graphicFrame>
        <p:nvGraphicFramePr>
          <p:cNvPr id="3" name="对象 2"/>
          <p:cNvGraphicFramePr>
            <a:graphicFrameLocks noChangeAspect="1"/>
          </p:cNvGraphicFramePr>
          <p:nvPr/>
        </p:nvGraphicFramePr>
        <p:xfrm>
          <a:off x="649288" y="1559297"/>
          <a:ext cx="4156176" cy="3907592"/>
        </p:xfrm>
        <a:graphic>
          <a:graphicData uri="http://schemas.openxmlformats.org/presentationml/2006/ole">
            <mc:AlternateContent xmlns:mc="http://schemas.openxmlformats.org/markup-compatibility/2006">
              <mc:Choice xmlns:v="urn:schemas-microsoft-com:vml" Requires="v">
                <p:oleObj spid="_x0000_s22546" name="Visio" r:id="rId3" imgW="2872645" imgH="2705910" progId="Visio.Drawing.11">
                  <p:embed/>
                </p:oleObj>
              </mc:Choice>
              <mc:Fallback>
                <p:oleObj name="Visio" r:id="rId3" imgW="2872645" imgH="270591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288" y="1559297"/>
                        <a:ext cx="4156176" cy="3907592"/>
                      </a:xfrm>
                      <a:prstGeom prst="rect">
                        <a:avLst/>
                      </a:prstGeom>
                      <a:noFill/>
                      <a:ln>
                        <a:noFill/>
                      </a:ln>
                    </p:spPr>
                  </p:pic>
                </p:oleObj>
              </mc:Fallback>
            </mc:AlternateContent>
          </a:graphicData>
        </a:graphic>
      </p:graphicFrame>
      <p:sp>
        <p:nvSpPr>
          <p:cNvPr id="18" name="TextBox 17"/>
          <p:cNvSpPr txBox="1">
            <a:spLocks noChangeArrowheads="1"/>
          </p:cNvSpPr>
          <p:nvPr/>
        </p:nvSpPr>
        <p:spPr bwMode="auto">
          <a:xfrm>
            <a:off x="4764730" y="1508251"/>
            <a:ext cx="7939593" cy="738664"/>
          </a:xfrm>
          <a:prstGeom prst="rect">
            <a:avLst/>
          </a:prstGeom>
          <a:noFill/>
          <a:ln w="9525">
            <a:noFill/>
            <a:miter lim="800000"/>
            <a:headEnd/>
            <a:tailEnd/>
          </a:ln>
        </p:spPr>
        <p:txBody>
          <a:bodyPr wrap="square">
            <a:spAutoFit/>
          </a:bodyPr>
          <a:lstStyle/>
          <a:p>
            <a:pPr defTabSz="914400">
              <a:lnSpc>
                <a:spcPct val="150000"/>
              </a:lnSpc>
            </a:pPr>
            <a:r>
              <a:rPr lang="zh-CN" altLang="en-US" sz="2800" b="1" dirty="0">
                <a:solidFill>
                  <a:srgbClr val="FF0000"/>
                </a:solidFill>
                <a:latin typeface="微软雅黑" pitchFamily="34" charset="-122"/>
                <a:ea typeface="微软雅黑" pitchFamily="34" charset="-122"/>
              </a:rPr>
              <a:t>由于入射光波与电流之比有一一对应关系</a:t>
            </a:r>
            <a:r>
              <a:rPr lang="zh-CN" altLang="en-US" sz="2800" b="1" dirty="0">
                <a:latin typeface="微软雅黑" pitchFamily="34" charset="-122"/>
                <a:ea typeface="微软雅黑" pitchFamily="34" charset="-122"/>
              </a:rPr>
              <a:t>，根据</a:t>
            </a:r>
          </a:p>
        </p:txBody>
      </p:sp>
      <p:graphicFrame>
        <p:nvGraphicFramePr>
          <p:cNvPr id="4" name="对象 3"/>
          <p:cNvGraphicFramePr>
            <a:graphicFrameLocks noChangeAspect="1"/>
          </p:cNvGraphicFramePr>
          <p:nvPr>
            <p:extLst>
              <p:ext uri="{D42A27DB-BD31-4B8C-83A1-F6EECF244321}">
                <p14:modId xmlns:p14="http://schemas.microsoft.com/office/powerpoint/2010/main" val="2090436415"/>
              </p:ext>
            </p:extLst>
          </p:nvPr>
        </p:nvGraphicFramePr>
        <p:xfrm>
          <a:off x="5060950" y="2614613"/>
          <a:ext cx="3328988" cy="936625"/>
        </p:xfrm>
        <a:graphic>
          <a:graphicData uri="http://schemas.openxmlformats.org/presentationml/2006/ole">
            <mc:AlternateContent xmlns:mc="http://schemas.openxmlformats.org/markup-compatibility/2006">
              <mc:Choice xmlns:v="urn:schemas-microsoft-com:vml" Requires="v">
                <p:oleObj spid="_x0000_s22547" name="Equation" r:id="rId5" imgW="1320480" imgH="380880" progId="Equation.DSMT4">
                  <p:embed/>
                </p:oleObj>
              </mc:Choice>
              <mc:Fallback>
                <p:oleObj name="Equation" r:id="rId5" imgW="1320480" imgH="380880" progId="Equation.DSMT4">
                  <p:embed/>
                  <p:pic>
                    <p:nvPicPr>
                      <p:cNvPr id="0" name=""/>
                      <p:cNvPicPr>
                        <a:picLocks noChangeAspect="1" noChangeArrowheads="1"/>
                      </p:cNvPicPr>
                      <p:nvPr/>
                    </p:nvPicPr>
                    <p:blipFill>
                      <a:blip r:embed="rId6"/>
                      <a:srcRect/>
                      <a:stretch>
                        <a:fillRect/>
                      </a:stretch>
                    </p:blipFill>
                    <p:spPr bwMode="auto">
                      <a:xfrm>
                        <a:off x="5060950" y="2614613"/>
                        <a:ext cx="3328988" cy="9366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Box 18"/>
          <p:cNvSpPr txBox="1">
            <a:spLocks noChangeArrowheads="1"/>
          </p:cNvSpPr>
          <p:nvPr/>
        </p:nvSpPr>
        <p:spPr bwMode="auto">
          <a:xfrm>
            <a:off x="4998194" y="3836231"/>
            <a:ext cx="6062156" cy="738664"/>
          </a:xfrm>
          <a:prstGeom prst="rect">
            <a:avLst/>
          </a:prstGeom>
          <a:noFill/>
          <a:ln w="9525">
            <a:noFill/>
            <a:miter lim="800000"/>
            <a:headEnd/>
            <a:tailEnd/>
          </a:ln>
        </p:spPr>
        <p:txBody>
          <a:bodyPr wrap="square">
            <a:spAutoFit/>
          </a:bodyPr>
          <a:lstStyle/>
          <a:p>
            <a:pPr defTabSz="914400">
              <a:lnSpc>
                <a:spcPct val="150000"/>
              </a:lnSpc>
            </a:pPr>
            <a:r>
              <a:rPr lang="zh-CN" altLang="en-US" sz="2800" b="1" dirty="0">
                <a:solidFill>
                  <a:srgbClr val="FF0000"/>
                </a:solidFill>
                <a:latin typeface="微软雅黑" pitchFamily="34" charset="-122"/>
                <a:ea typeface="微软雅黑" pitchFamily="34" charset="-122"/>
              </a:rPr>
              <a:t>可以得出</a:t>
            </a:r>
            <a:r>
              <a:rPr lang="en-US" altLang="zh-CN" sz="2800" b="1" i="1" dirty="0">
                <a:solidFill>
                  <a:srgbClr val="FF0000"/>
                </a:solidFill>
                <a:latin typeface="微软雅黑" pitchFamily="34" charset="-122"/>
                <a:ea typeface="微软雅黑" pitchFamily="34" charset="-122"/>
              </a:rPr>
              <a:t>V</a:t>
            </a:r>
            <a:r>
              <a:rPr lang="en-US" altLang="zh-CN" sz="2800" b="1" baseline="-25000" dirty="0">
                <a:solidFill>
                  <a:srgbClr val="FF0000"/>
                </a:solidFill>
                <a:latin typeface="微软雅黑" pitchFamily="34" charset="-122"/>
                <a:ea typeface="微软雅黑" pitchFamily="34" charset="-122"/>
              </a:rPr>
              <a:t>0</a:t>
            </a:r>
            <a:r>
              <a:rPr lang="zh-CN" altLang="en-US" sz="2800" b="1" dirty="0">
                <a:solidFill>
                  <a:srgbClr val="FF0000"/>
                </a:solidFill>
                <a:latin typeface="微软雅黑" pitchFamily="34" charset="-122"/>
                <a:ea typeface="微软雅黑" pitchFamily="34" charset="-122"/>
              </a:rPr>
              <a:t>与入射波长之间关系</a:t>
            </a:r>
            <a:endParaRPr lang="zh-CN" altLang="en-US" sz="2800" b="1" dirty="0">
              <a:latin typeface="微软雅黑" pitchFamily="34" charset="-122"/>
              <a:ea typeface="微软雅黑" pitchFamily="34" charset="-122"/>
            </a:endParaRPr>
          </a:p>
        </p:txBody>
      </p:sp>
      <p:grpSp>
        <p:nvGrpSpPr>
          <p:cNvPr id="13" name="组合 12">
            <a:extLst>
              <a:ext uri="{FF2B5EF4-FFF2-40B4-BE49-F238E27FC236}">
                <a16:creationId xmlns:a16="http://schemas.microsoft.com/office/drawing/2014/main" xmlns="" id="{304CF0E2-20F6-4896-8EB4-A51A94165B36}"/>
              </a:ext>
            </a:extLst>
          </p:cNvPr>
          <p:cNvGrpSpPr/>
          <p:nvPr/>
        </p:nvGrpSpPr>
        <p:grpSpPr>
          <a:xfrm>
            <a:off x="0" y="293282"/>
            <a:ext cx="13161246" cy="7421968"/>
            <a:chOff x="0" y="293282"/>
            <a:chExt cx="13161246" cy="7421968"/>
          </a:xfrm>
        </p:grpSpPr>
        <p:sp>
          <p:nvSpPr>
            <p:cNvPr id="16" name="文本框 60">
              <a:extLst>
                <a:ext uri="{FF2B5EF4-FFF2-40B4-BE49-F238E27FC236}">
                  <a16:creationId xmlns:a16="http://schemas.microsoft.com/office/drawing/2014/main" xmlns="" id="{9177C2BA-D621-44EC-A9D6-C7EED15527B5}"/>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色敏探测器的信号处理电路</a:t>
              </a:r>
            </a:p>
          </p:txBody>
        </p:sp>
        <p:sp>
          <p:nvSpPr>
            <p:cNvPr id="17" name="矩形 16">
              <a:extLst>
                <a:ext uri="{FF2B5EF4-FFF2-40B4-BE49-F238E27FC236}">
                  <a16:creationId xmlns:a16="http://schemas.microsoft.com/office/drawing/2014/main" xmlns="" id="{4FD62B24-E13A-4AE3-A995-FD2B3E0EAA1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19C56A4E-72F4-4D5B-BE1F-7E9C2F59EA5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xmlns="" id="{9FE46127-56D9-4D6D-BE02-BD16B70DBCF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6" name="直接连接符 58">
              <a:extLst>
                <a:ext uri="{FF2B5EF4-FFF2-40B4-BE49-F238E27FC236}">
                  <a16:creationId xmlns:a16="http://schemas.microsoft.com/office/drawing/2014/main" xmlns="" id="{8FFE5797-AC10-4C95-A51C-907AE991B7E0}"/>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xmlns="" id="{2820D9E6-DF0D-42E1-AD57-B0F5F3DD692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8" name="矩形 27">
              <a:extLst>
                <a:ext uri="{FF2B5EF4-FFF2-40B4-BE49-F238E27FC236}">
                  <a16:creationId xmlns:a16="http://schemas.microsoft.com/office/drawing/2014/main" xmlns="" id="{84028FD2-6659-4F75-B180-500B3D549EB0}"/>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1986168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ox(i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i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ox(in)">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ox(in)">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3058176" y="1112121"/>
            <a:ext cx="6740948" cy="646331"/>
          </a:xfrm>
          <a:prstGeom prst="rect">
            <a:avLst/>
          </a:prstGeom>
          <a:noFill/>
          <a:ln w="9525">
            <a:noFill/>
            <a:miter lim="800000"/>
            <a:headEnd/>
            <a:tailEnd/>
          </a:ln>
        </p:spPr>
        <p:txBody>
          <a:bodyPr wrap="none" anchor="ctr">
            <a:spAutoFit/>
          </a:bodyPr>
          <a:lstStyle/>
          <a:p>
            <a:pPr algn="ctr" defTabSz="914400">
              <a:defRPr/>
            </a:pPr>
            <a:r>
              <a:rPr lang="en-US" altLang="zh-CN" sz="3600" b="1" dirty="0">
                <a:solidFill>
                  <a:srgbClr val="0000CC"/>
                </a:solidFill>
                <a:latin typeface="微软雅黑" pitchFamily="34" charset="-122"/>
                <a:ea typeface="微软雅黑" pitchFamily="34" charset="-122"/>
              </a:rPr>
              <a:t>2.</a:t>
            </a:r>
            <a:r>
              <a:rPr lang="zh-CN" altLang="en-US" sz="3600" b="1" dirty="0">
                <a:solidFill>
                  <a:srgbClr val="0000CC"/>
                </a:solidFill>
                <a:latin typeface="微软雅黑" pitchFamily="34" charset="-122"/>
                <a:ea typeface="微软雅黑" pitchFamily="34" charset="-122"/>
              </a:rPr>
              <a:t>全色色敏探测器信号处理电路 </a:t>
            </a:r>
          </a:p>
        </p:txBody>
      </p:sp>
      <p:graphicFrame>
        <p:nvGraphicFramePr>
          <p:cNvPr id="153601" name="Object 1"/>
          <p:cNvGraphicFramePr>
            <a:graphicFrameLocks noChangeAspect="1"/>
          </p:cNvGraphicFramePr>
          <p:nvPr/>
        </p:nvGraphicFramePr>
        <p:xfrm>
          <a:off x="3787910" y="2458160"/>
          <a:ext cx="6178550" cy="3781425"/>
        </p:xfrm>
        <a:graphic>
          <a:graphicData uri="http://schemas.openxmlformats.org/presentationml/2006/ole">
            <mc:AlternateContent xmlns:mc="http://schemas.openxmlformats.org/markup-compatibility/2006">
              <mc:Choice xmlns:v="urn:schemas-microsoft-com:vml" Requires="v">
                <p:oleObj spid="_x0000_s23562" name="Visio" r:id="rId3" imgW="4002500" imgH="2442734" progId="Visio.Drawing.11">
                  <p:embed/>
                </p:oleObj>
              </mc:Choice>
              <mc:Fallback>
                <p:oleObj name="Visio" r:id="rId3" imgW="4002500" imgH="2442734"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7910" y="2458160"/>
                        <a:ext cx="6178550" cy="3781425"/>
                      </a:xfrm>
                      <a:prstGeom prst="rect">
                        <a:avLst/>
                      </a:prstGeom>
                      <a:solidFill>
                        <a:srgbClr val="FFFFCC"/>
                      </a:solidFill>
                    </p:spPr>
                  </p:pic>
                </p:oleObj>
              </mc:Fallback>
            </mc:AlternateContent>
          </a:graphicData>
        </a:graphic>
      </p:graphicFrame>
      <p:grpSp>
        <p:nvGrpSpPr>
          <p:cNvPr id="10" name="组合 9">
            <a:extLst>
              <a:ext uri="{FF2B5EF4-FFF2-40B4-BE49-F238E27FC236}">
                <a16:creationId xmlns:a16="http://schemas.microsoft.com/office/drawing/2014/main" xmlns="" id="{C6D76799-5187-4C5C-AB21-FF4131A3DC86}"/>
              </a:ext>
            </a:extLst>
          </p:cNvPr>
          <p:cNvGrpSpPr/>
          <p:nvPr/>
        </p:nvGrpSpPr>
        <p:grpSpPr>
          <a:xfrm>
            <a:off x="0" y="293282"/>
            <a:ext cx="13161246" cy="7421968"/>
            <a:chOff x="0" y="293282"/>
            <a:chExt cx="13161246" cy="7421968"/>
          </a:xfrm>
        </p:grpSpPr>
        <p:sp>
          <p:nvSpPr>
            <p:cNvPr id="17" name="文本框 60">
              <a:extLst>
                <a:ext uri="{FF2B5EF4-FFF2-40B4-BE49-F238E27FC236}">
                  <a16:creationId xmlns:a16="http://schemas.microsoft.com/office/drawing/2014/main" xmlns="" id="{182E796A-95D7-4791-9281-90C95DF5727C}"/>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色敏探测器的信号处理电路</a:t>
              </a:r>
            </a:p>
          </p:txBody>
        </p:sp>
        <p:sp>
          <p:nvSpPr>
            <p:cNvPr id="18" name="矩形 17">
              <a:extLst>
                <a:ext uri="{FF2B5EF4-FFF2-40B4-BE49-F238E27FC236}">
                  <a16:creationId xmlns:a16="http://schemas.microsoft.com/office/drawing/2014/main" xmlns="" id="{C4E94FA0-F177-4668-B61A-63FEF2A4325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xmlns="" id="{B855521D-47BB-4D03-91E8-07E92FAB1D7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xmlns="" id="{C777372D-AE9D-45CA-A036-F2EF254D6416}"/>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a16="http://schemas.microsoft.com/office/drawing/2014/main" xmlns="" id="{BF376F7B-BE64-4342-A02A-CF72F005B2BF}"/>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xmlns="" id="{3270CB71-7953-4BA1-A75F-7DE924B70AB1}"/>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a16="http://schemas.microsoft.com/office/drawing/2014/main" xmlns="" id="{EB29140C-A9E8-4B2D-B7D7-EDC4C132CAD4}"/>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264319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153601"/>
                                        </p:tgtEl>
                                        <p:attrNameLst>
                                          <p:attrName>style.visibility</p:attrName>
                                        </p:attrNameLst>
                                      </p:cBhvr>
                                      <p:to>
                                        <p:strVal val="visible"/>
                                      </p:to>
                                    </p:set>
                                    <p:animEffect transition="in" filter="barn(inHorizontal)">
                                      <p:cBhvr>
                                        <p:cTn id="12" dur="500"/>
                                        <p:tgtEl>
                                          <p:spTgt spid="153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6674" name="Object 2"/>
          <p:cNvGraphicFramePr>
            <a:graphicFrameLocks noChangeAspect="1"/>
          </p:cNvGraphicFramePr>
          <p:nvPr/>
        </p:nvGraphicFramePr>
        <p:xfrm>
          <a:off x="1081088" y="1527310"/>
          <a:ext cx="6089650" cy="4195763"/>
        </p:xfrm>
        <a:graphic>
          <a:graphicData uri="http://schemas.openxmlformats.org/presentationml/2006/ole">
            <mc:AlternateContent xmlns:mc="http://schemas.openxmlformats.org/markup-compatibility/2006">
              <mc:Choice xmlns:v="urn:schemas-microsoft-com:vml" Requires="v">
                <p:oleObj spid="_x0000_s24586" name="Visio" r:id="rId3" imgW="6526673" imgH="5086921" progId="Visio.Drawing.11">
                  <p:embed/>
                </p:oleObj>
              </mc:Choice>
              <mc:Fallback>
                <p:oleObj name="Visio" r:id="rId3" imgW="6526673" imgH="508692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1088" y="1527310"/>
                        <a:ext cx="6089650" cy="4195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extBox 2"/>
          <p:cNvSpPr txBox="1">
            <a:spLocks noChangeArrowheads="1"/>
          </p:cNvSpPr>
          <p:nvPr/>
        </p:nvSpPr>
        <p:spPr bwMode="auto">
          <a:xfrm>
            <a:off x="1177014" y="6059859"/>
            <a:ext cx="6134100" cy="519113"/>
          </a:xfrm>
          <a:prstGeom prst="rect">
            <a:avLst/>
          </a:prstGeom>
          <a:solidFill>
            <a:srgbClr val="06EA06"/>
          </a:solidFill>
          <a:ln w="9525">
            <a:noFill/>
            <a:miter lim="800000"/>
            <a:headEnd/>
            <a:tailEnd/>
          </a:ln>
        </p:spPr>
        <p:txBody>
          <a:bodyPr>
            <a:spAutoFit/>
          </a:bodyPr>
          <a:lstStyle/>
          <a:p>
            <a:pPr algn="ctr" defTabSz="914400"/>
            <a:r>
              <a:rPr lang="zh-CN" altLang="en-US" sz="2800" b="1">
                <a:latin typeface="Times New Roman" pitchFamily="18" charset="0"/>
                <a:ea typeface="微软雅黑" pitchFamily="34" charset="-122"/>
                <a:cs typeface="Times New Roman" pitchFamily="18" charset="0"/>
              </a:rPr>
              <a:t>基于</a:t>
            </a:r>
            <a:r>
              <a:rPr lang="en-US" altLang="zh-CN" sz="2800" b="1">
                <a:latin typeface="Times New Roman" pitchFamily="18" charset="0"/>
                <a:ea typeface="微软雅黑" pitchFamily="34" charset="-122"/>
                <a:cs typeface="Times New Roman" pitchFamily="18" charset="0"/>
              </a:rPr>
              <a:t>TCS3200</a:t>
            </a:r>
            <a:r>
              <a:rPr lang="zh-CN" altLang="en-US" sz="2800" b="1">
                <a:latin typeface="Times New Roman" pitchFamily="18" charset="0"/>
                <a:ea typeface="微软雅黑" pitchFamily="34" charset="-122"/>
                <a:cs typeface="Times New Roman" pitchFamily="18" charset="0"/>
              </a:rPr>
              <a:t>的颜色识别系统</a:t>
            </a:r>
          </a:p>
        </p:txBody>
      </p:sp>
      <p:pic>
        <p:nvPicPr>
          <p:cNvPr id="8" name="图片 3"/>
          <p:cNvPicPr>
            <a:picLocks noChangeAspect="1" noChangeArrowheads="1"/>
          </p:cNvPicPr>
          <p:nvPr/>
        </p:nvPicPr>
        <p:blipFill>
          <a:blip r:embed="rId5" cstate="print"/>
          <a:srcRect/>
          <a:stretch>
            <a:fillRect/>
          </a:stretch>
        </p:blipFill>
        <p:spPr bwMode="auto">
          <a:xfrm>
            <a:off x="8787826" y="4046817"/>
            <a:ext cx="3249476" cy="2812771"/>
          </a:xfrm>
          <a:prstGeom prst="rect">
            <a:avLst/>
          </a:prstGeom>
          <a:noFill/>
          <a:ln w="9525">
            <a:noFill/>
            <a:miter lim="800000"/>
            <a:headEnd/>
            <a:tailEnd/>
          </a:ln>
        </p:spPr>
      </p:pic>
      <p:pic>
        <p:nvPicPr>
          <p:cNvPr id="9" name="图片 2"/>
          <p:cNvPicPr>
            <a:picLocks noChangeAspect="1" noChangeArrowheads="1"/>
          </p:cNvPicPr>
          <p:nvPr/>
        </p:nvPicPr>
        <p:blipFill>
          <a:blip r:embed="rId6" cstate="print"/>
          <a:srcRect/>
          <a:stretch>
            <a:fillRect/>
          </a:stretch>
        </p:blipFill>
        <p:spPr bwMode="auto">
          <a:xfrm>
            <a:off x="9907868" y="1209911"/>
            <a:ext cx="2528608" cy="2271690"/>
          </a:xfrm>
          <a:prstGeom prst="rect">
            <a:avLst/>
          </a:prstGeom>
          <a:noFill/>
          <a:ln w="9525">
            <a:noFill/>
            <a:miter lim="800000"/>
            <a:headEnd/>
            <a:tailEnd/>
          </a:ln>
        </p:spPr>
      </p:pic>
      <p:pic>
        <p:nvPicPr>
          <p:cNvPr id="11" name="Picture 6" descr="C:\Documents and Settings\Administrator\Application Data\Tencent\Users\729963870\QQ\WinTemp\RichOle\T6{4S8N5NQCGN3OJ(G0M$MT.jpg"/>
          <p:cNvPicPr>
            <a:picLocks noChangeAspect="1" noChangeArrowheads="1"/>
          </p:cNvPicPr>
          <p:nvPr/>
        </p:nvPicPr>
        <p:blipFill>
          <a:blip r:embed="rId7" cstate="print"/>
          <a:srcRect/>
          <a:stretch>
            <a:fillRect/>
          </a:stretch>
        </p:blipFill>
        <p:spPr bwMode="auto">
          <a:xfrm>
            <a:off x="7160817" y="1278006"/>
            <a:ext cx="2562225" cy="1990725"/>
          </a:xfrm>
          <a:prstGeom prst="rect">
            <a:avLst/>
          </a:prstGeom>
          <a:noFill/>
          <a:ln w="9525">
            <a:noFill/>
            <a:miter lim="800000"/>
            <a:headEnd/>
            <a:tailEnd/>
          </a:ln>
        </p:spPr>
      </p:pic>
      <p:grpSp>
        <p:nvGrpSpPr>
          <p:cNvPr id="13" name="组合 12">
            <a:extLst>
              <a:ext uri="{FF2B5EF4-FFF2-40B4-BE49-F238E27FC236}">
                <a16:creationId xmlns:a16="http://schemas.microsoft.com/office/drawing/2014/main" xmlns="" id="{8F40CC17-9AEE-4451-ACB1-590DB26671F0}"/>
              </a:ext>
            </a:extLst>
          </p:cNvPr>
          <p:cNvGrpSpPr/>
          <p:nvPr/>
        </p:nvGrpSpPr>
        <p:grpSpPr>
          <a:xfrm>
            <a:off x="0" y="293282"/>
            <a:ext cx="13161246" cy="7421968"/>
            <a:chOff x="0" y="293282"/>
            <a:chExt cx="13161246" cy="7421968"/>
          </a:xfrm>
        </p:grpSpPr>
        <p:sp>
          <p:nvSpPr>
            <p:cNvPr id="20" name="文本框 60">
              <a:extLst>
                <a:ext uri="{FF2B5EF4-FFF2-40B4-BE49-F238E27FC236}">
                  <a16:creationId xmlns:a16="http://schemas.microsoft.com/office/drawing/2014/main" xmlns="" id="{34E0B305-4308-4DBC-8720-D6A392792590}"/>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色敏探测器的信号处理电路</a:t>
              </a:r>
            </a:p>
          </p:txBody>
        </p:sp>
        <p:sp>
          <p:nvSpPr>
            <p:cNvPr id="21" name="矩形 20">
              <a:extLst>
                <a:ext uri="{FF2B5EF4-FFF2-40B4-BE49-F238E27FC236}">
                  <a16:creationId xmlns:a16="http://schemas.microsoft.com/office/drawing/2014/main" xmlns="" id="{CA26F49C-E5FB-4CE1-8FB1-BFE4E8F9890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xmlns="" id="{690A674D-2248-475F-A5F6-7C0738637F3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xmlns="" id="{89DCA186-2089-457A-BCE7-02449A0E66D7}"/>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4" name="直接连接符 58">
              <a:extLst>
                <a:ext uri="{FF2B5EF4-FFF2-40B4-BE49-F238E27FC236}">
                  <a16:creationId xmlns:a16="http://schemas.microsoft.com/office/drawing/2014/main" xmlns="" id="{E8EE9E6B-3202-432B-AE50-0CD87537FBB2}"/>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xmlns="" id="{17D08416-C79B-4F52-AAC5-61069A153D4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6" name="矩形 25">
              <a:extLst>
                <a:ext uri="{FF2B5EF4-FFF2-40B4-BE49-F238E27FC236}">
                  <a16:creationId xmlns:a16="http://schemas.microsoft.com/office/drawing/2014/main" xmlns="" id="{8BAFFAE6-DE0C-4192-B5BB-B5B045EED23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508732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56674"/>
                                        </p:tgtEl>
                                        <p:attrNameLst>
                                          <p:attrName>style.visibility</p:attrName>
                                        </p:attrNameLst>
                                      </p:cBhvr>
                                      <p:to>
                                        <p:strVal val="visible"/>
                                      </p:to>
                                    </p:set>
                                    <p:animEffect transition="in" filter="checkerboard(across)">
                                      <p:cBhvr>
                                        <p:cTn id="12" dur="500"/>
                                        <p:tgtEl>
                                          <p:spTgt spid="15667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i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ox(in)">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6" name="图片 1" descr="C:\Users\hl\Desktop\DSCN0412.JPG"/>
          <p:cNvPicPr>
            <a:picLocks noChangeAspect="1" noChangeArrowheads="1"/>
          </p:cNvPicPr>
          <p:nvPr/>
        </p:nvPicPr>
        <p:blipFill>
          <a:blip r:embed="rId2" cstate="print"/>
          <a:srcRect/>
          <a:stretch>
            <a:fillRect/>
          </a:stretch>
        </p:blipFill>
        <p:spPr bwMode="auto">
          <a:xfrm>
            <a:off x="5108035" y="1877168"/>
            <a:ext cx="5521325" cy="4143375"/>
          </a:xfrm>
          <a:prstGeom prst="rect">
            <a:avLst/>
          </a:prstGeom>
          <a:noFill/>
          <a:ln w="9525">
            <a:noFill/>
            <a:miter lim="800000"/>
            <a:headEnd/>
            <a:tailEnd/>
          </a:ln>
        </p:spPr>
      </p:pic>
      <p:pic>
        <p:nvPicPr>
          <p:cNvPr id="27657" name="Picture 2" descr="C:\Documents and Settings\Administrator\Application Data\Tencent\Users\729963870\QQ\WinTemp\RichOle\7]Y[J`SK8QPT@VU(]@]XLQQ.jpg"/>
          <p:cNvPicPr>
            <a:picLocks noChangeAspect="1" noChangeArrowheads="1"/>
          </p:cNvPicPr>
          <p:nvPr/>
        </p:nvPicPr>
        <p:blipFill>
          <a:blip r:embed="rId3" cstate="print"/>
          <a:srcRect/>
          <a:stretch>
            <a:fillRect/>
          </a:stretch>
        </p:blipFill>
        <p:spPr bwMode="auto">
          <a:xfrm>
            <a:off x="1876425" y="1726930"/>
            <a:ext cx="2852738" cy="2578100"/>
          </a:xfrm>
          <a:prstGeom prst="rect">
            <a:avLst/>
          </a:prstGeom>
          <a:noFill/>
          <a:ln w="9525">
            <a:noFill/>
            <a:miter lim="800000"/>
            <a:headEnd/>
            <a:tailEnd/>
          </a:ln>
        </p:spPr>
      </p:pic>
      <p:sp>
        <p:nvSpPr>
          <p:cNvPr id="27658" name="TextBox 3"/>
          <p:cNvSpPr txBox="1">
            <a:spLocks noChangeArrowheads="1"/>
          </p:cNvSpPr>
          <p:nvPr/>
        </p:nvSpPr>
        <p:spPr bwMode="auto">
          <a:xfrm>
            <a:off x="2710774" y="4652169"/>
            <a:ext cx="1689100" cy="579438"/>
          </a:xfrm>
          <a:prstGeom prst="rect">
            <a:avLst/>
          </a:prstGeom>
          <a:noFill/>
          <a:ln w="9525">
            <a:noFill/>
            <a:miter lim="800000"/>
            <a:headEnd/>
            <a:tailEnd/>
          </a:ln>
        </p:spPr>
        <p:txBody>
          <a:bodyPr>
            <a:spAutoFit/>
          </a:bodyPr>
          <a:lstStyle/>
          <a:p>
            <a:pPr defTabSz="914400"/>
            <a:r>
              <a:rPr lang="en-US" altLang="zh-CN" sz="3200" b="1" dirty="0">
                <a:latin typeface="Times New Roman" pitchFamily="18" charset="0"/>
                <a:ea typeface="黑体" pitchFamily="49" charset="-122"/>
                <a:cs typeface="Times New Roman" pitchFamily="18" charset="0"/>
              </a:rPr>
              <a:t>RGB230</a:t>
            </a:r>
            <a:endParaRPr lang="zh-CN" altLang="en-US" sz="3200" b="1" dirty="0">
              <a:latin typeface="Times New Roman" pitchFamily="18" charset="0"/>
              <a:ea typeface="黑体" pitchFamily="49" charset="-122"/>
              <a:cs typeface="Times New Roman" pitchFamily="18" charset="0"/>
            </a:endParaRPr>
          </a:p>
        </p:txBody>
      </p:sp>
      <p:grpSp>
        <p:nvGrpSpPr>
          <p:cNvPr id="17" name="组合 16">
            <a:extLst>
              <a:ext uri="{FF2B5EF4-FFF2-40B4-BE49-F238E27FC236}">
                <a16:creationId xmlns:a16="http://schemas.microsoft.com/office/drawing/2014/main" xmlns="" id="{6ADD7E27-0125-468E-8EFE-2C24793B7F0B}"/>
              </a:ext>
            </a:extLst>
          </p:cNvPr>
          <p:cNvGrpSpPr/>
          <p:nvPr/>
        </p:nvGrpSpPr>
        <p:grpSpPr>
          <a:xfrm>
            <a:off x="0" y="293282"/>
            <a:ext cx="13161246" cy="7421968"/>
            <a:chOff x="0" y="293282"/>
            <a:chExt cx="13161246" cy="7421968"/>
          </a:xfrm>
        </p:grpSpPr>
        <p:sp>
          <p:nvSpPr>
            <p:cNvPr id="18" name="文本框 60">
              <a:extLst>
                <a:ext uri="{FF2B5EF4-FFF2-40B4-BE49-F238E27FC236}">
                  <a16:creationId xmlns:a16="http://schemas.microsoft.com/office/drawing/2014/main" xmlns="" id="{E29C9965-8589-4A9F-83A6-C2FB1BF1FB09}"/>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色敏探测器的信号处理电路</a:t>
              </a:r>
            </a:p>
          </p:txBody>
        </p:sp>
        <p:sp>
          <p:nvSpPr>
            <p:cNvPr id="19" name="矩形 18">
              <a:extLst>
                <a:ext uri="{FF2B5EF4-FFF2-40B4-BE49-F238E27FC236}">
                  <a16:creationId xmlns:a16="http://schemas.microsoft.com/office/drawing/2014/main" xmlns="" id="{909E5C8C-2401-4F9C-BBCD-C8B411B7C087}"/>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xmlns="" id="{DD67CF6C-93D5-4AA6-8F17-88A8077AA77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xmlns="" id="{F9F681D9-ED88-4642-B5B2-8ACA34B035EE}"/>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xmlns="" id="{78045391-1EA1-4875-A8A9-B53821991080}"/>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xmlns="" id="{0EFCAF03-594D-4357-AE9D-51A43CC78B7A}"/>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xmlns="" id="{40F037AE-A192-431C-A6B6-FF57757030D0}"/>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40873876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典型色敏探测器</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844389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典型色敏探测器</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4.6.3</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7096182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4658893" y="1710852"/>
            <a:ext cx="3516312" cy="579438"/>
          </a:xfrm>
          <a:prstGeom prst="rect">
            <a:avLst/>
          </a:prstGeom>
          <a:noFill/>
          <a:ln w="9525">
            <a:noFill/>
            <a:miter lim="800000"/>
            <a:headEnd/>
            <a:tailEnd/>
          </a:ln>
        </p:spPr>
        <p:txBody>
          <a:bodyPr wrap="none" anchor="ctr">
            <a:spAutoFit/>
          </a:bodyPr>
          <a:lstStyle/>
          <a:p>
            <a:pPr algn="ctr" defTabSz="914400">
              <a:defRPr/>
            </a:pPr>
            <a:r>
              <a:rPr lang="en-US" altLang="zh-CN" sz="3200" b="1" dirty="0">
                <a:solidFill>
                  <a:srgbClr val="0000CC"/>
                </a:solidFill>
                <a:latin typeface="微软雅黑" pitchFamily="34" charset="-122"/>
                <a:ea typeface="微软雅黑" pitchFamily="34" charset="-122"/>
              </a:rPr>
              <a:t>1.</a:t>
            </a:r>
            <a:r>
              <a:rPr lang="zh-CN" altLang="en-US" sz="3200" b="1" dirty="0">
                <a:solidFill>
                  <a:srgbClr val="0000CC"/>
                </a:solidFill>
                <a:latin typeface="微软雅黑" pitchFamily="34" charset="-122"/>
                <a:ea typeface="微软雅黑" pitchFamily="34" charset="-122"/>
              </a:rPr>
              <a:t>色差色敏探测器 </a:t>
            </a:r>
          </a:p>
        </p:txBody>
      </p:sp>
      <p:graphicFrame>
        <p:nvGraphicFramePr>
          <p:cNvPr id="6" name="表格 5"/>
          <p:cNvGraphicFramePr>
            <a:graphicFrameLocks noGrp="1"/>
          </p:cNvGraphicFramePr>
          <p:nvPr/>
        </p:nvGraphicFramePr>
        <p:xfrm>
          <a:off x="1000125" y="3326859"/>
          <a:ext cx="12036762" cy="1674646"/>
        </p:xfrm>
        <a:graphic>
          <a:graphicData uri="http://schemas.openxmlformats.org/drawingml/2006/table">
            <a:tbl>
              <a:tblPr/>
              <a:tblGrid>
                <a:gridCol w="1044858">
                  <a:extLst>
                    <a:ext uri="{9D8B030D-6E8A-4147-A177-3AD203B41FA5}">
                      <a16:colId xmlns:a16="http://schemas.microsoft.com/office/drawing/2014/main" xmlns="" val="20000"/>
                    </a:ext>
                  </a:extLst>
                </a:gridCol>
                <a:gridCol w="994705">
                  <a:extLst>
                    <a:ext uri="{9D8B030D-6E8A-4147-A177-3AD203B41FA5}">
                      <a16:colId xmlns:a16="http://schemas.microsoft.com/office/drawing/2014/main" xmlns="" val="20001"/>
                    </a:ext>
                  </a:extLst>
                </a:gridCol>
                <a:gridCol w="1423097">
                  <a:extLst>
                    <a:ext uri="{9D8B030D-6E8A-4147-A177-3AD203B41FA5}">
                      <a16:colId xmlns:a16="http://schemas.microsoft.com/office/drawing/2014/main" xmlns="" val="20002"/>
                    </a:ext>
                  </a:extLst>
                </a:gridCol>
                <a:gridCol w="1565196">
                  <a:extLst>
                    <a:ext uri="{9D8B030D-6E8A-4147-A177-3AD203B41FA5}">
                      <a16:colId xmlns:a16="http://schemas.microsoft.com/office/drawing/2014/main" xmlns="" val="20003"/>
                    </a:ext>
                  </a:extLst>
                </a:gridCol>
                <a:gridCol w="1749092">
                  <a:extLst>
                    <a:ext uri="{9D8B030D-6E8A-4147-A177-3AD203B41FA5}">
                      <a16:colId xmlns:a16="http://schemas.microsoft.com/office/drawing/2014/main" xmlns="" val="20004"/>
                    </a:ext>
                  </a:extLst>
                </a:gridCol>
                <a:gridCol w="1565196">
                  <a:extLst>
                    <a:ext uri="{9D8B030D-6E8A-4147-A177-3AD203B41FA5}">
                      <a16:colId xmlns:a16="http://schemas.microsoft.com/office/drawing/2014/main" xmlns="" val="20005"/>
                    </a:ext>
                  </a:extLst>
                </a:gridCol>
                <a:gridCol w="1360406">
                  <a:extLst>
                    <a:ext uri="{9D8B030D-6E8A-4147-A177-3AD203B41FA5}">
                      <a16:colId xmlns:a16="http://schemas.microsoft.com/office/drawing/2014/main" xmlns="" val="20006"/>
                    </a:ext>
                  </a:extLst>
                </a:gridCol>
                <a:gridCol w="1360405">
                  <a:extLst>
                    <a:ext uri="{9D8B030D-6E8A-4147-A177-3AD203B41FA5}">
                      <a16:colId xmlns:a16="http://schemas.microsoft.com/office/drawing/2014/main" xmlns="" val="20007"/>
                    </a:ext>
                  </a:extLst>
                </a:gridCol>
                <a:gridCol w="973807">
                  <a:extLst>
                    <a:ext uri="{9D8B030D-6E8A-4147-A177-3AD203B41FA5}">
                      <a16:colId xmlns:a16="http://schemas.microsoft.com/office/drawing/2014/main" xmlns="" val="20008"/>
                    </a:ext>
                  </a:extLst>
                </a:gridCol>
              </a:tblGrid>
              <a:tr h="1115994">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型号</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暗电流</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V</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R</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=1V</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nA</a:t>
                      </a: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极间电容</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C</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t1</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V</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R</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=0V</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f=1MHz</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pF</a:t>
                      </a: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极间电容</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C</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t2</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V</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R</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=0V</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f=1MHz</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pF</a:t>
                      </a: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短路电流</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I</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sc1</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λ=600nm</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E</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ε</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=50μW/cm</a:t>
                      </a:r>
                      <a:r>
                        <a:rPr kumimoji="0" lang="en-US" altLang="zh-CN" sz="16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μA</a:t>
                      </a: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短路电流</a:t>
                      </a:r>
                      <a:r>
                        <a:rPr kumimoji="0" lang="en-US"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I</a:t>
                      </a:r>
                      <a:r>
                        <a:rPr kumimoji="0" lang="en-US" altLang="zh-CN" sz="1600" b="1" i="0" u="none" strike="noStrike" cap="none" normalizeH="0" baseline="-25000" dirty="0">
                          <a:ln>
                            <a:noFill/>
                          </a:ln>
                          <a:solidFill>
                            <a:schemeClr val="tx1"/>
                          </a:solidFill>
                          <a:effectLst/>
                          <a:latin typeface="Times New Roman" pitchFamily="18" charset="0"/>
                          <a:ea typeface="黑体" pitchFamily="49" charset="-122"/>
                          <a:cs typeface="Times New Roman" pitchFamily="18" charset="0"/>
                        </a:rPr>
                        <a:t>sc2</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λ=600nm</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E</a:t>
                      </a:r>
                      <a:r>
                        <a:rPr kumimoji="0" lang="en-US" altLang="zh-CN" sz="1600" b="1" i="0" u="none" strike="noStrike" cap="none" normalizeH="0" baseline="-25000" dirty="0" err="1">
                          <a:ln>
                            <a:noFill/>
                          </a:ln>
                          <a:solidFill>
                            <a:schemeClr val="tx1"/>
                          </a:solidFill>
                          <a:effectLst/>
                          <a:latin typeface="Times New Roman" pitchFamily="18" charset="0"/>
                          <a:ea typeface="黑体" pitchFamily="49" charset="-122"/>
                          <a:cs typeface="Times New Roman" pitchFamily="18" charset="0"/>
                        </a:rPr>
                        <a:t>ε</a:t>
                      </a:r>
                      <a:r>
                        <a:rPr kumimoji="0" lang="en-US"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=50μW/cm</a:t>
                      </a:r>
                      <a:r>
                        <a:rPr kumimoji="0" lang="en-US" altLang="zh-CN" sz="16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2</a:t>
                      </a:r>
                      <a:r>
                        <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μA</a:t>
                      </a:r>
                      <a:r>
                        <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短路电流比</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I</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sc2</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I</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sc1</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λ=600nm</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短路电流比</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I</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sc2</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I</a:t>
                      </a:r>
                      <a:r>
                        <a:rPr kumimoji="0" lang="en-US" altLang="zh-CN" sz="16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sc1</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λ=900nm</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转换</a:t>
                      </a: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电压</a:t>
                      </a: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V</a:t>
                      </a: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79980">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PD150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0.75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0.19</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0.25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78672">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PD151</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0.65</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0.16</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0.25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5</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30772" name="TextBox 6">
            <a:hlinkClick r:id="rId2"/>
          </p:cNvPr>
          <p:cNvSpPr txBox="1">
            <a:spLocks noChangeArrowheads="1"/>
          </p:cNvSpPr>
          <p:nvPr/>
        </p:nvSpPr>
        <p:spPr bwMode="auto">
          <a:xfrm>
            <a:off x="4974805" y="5720522"/>
            <a:ext cx="3200400" cy="519113"/>
          </a:xfrm>
          <a:prstGeom prst="rect">
            <a:avLst/>
          </a:prstGeom>
          <a:noFill/>
          <a:ln w="9525">
            <a:noFill/>
            <a:miter lim="800000"/>
            <a:headEnd/>
            <a:tailEnd/>
          </a:ln>
        </p:spPr>
        <p:txBody>
          <a:bodyPr>
            <a:spAutoFit/>
          </a:bodyPr>
          <a:lstStyle/>
          <a:p>
            <a:pPr algn="ctr" defTabSz="914400"/>
            <a:r>
              <a:rPr lang="en-US" altLang="zh-CN" sz="2800" b="1" dirty="0">
                <a:latin typeface="Times New Roman" pitchFamily="18" charset="0"/>
                <a:ea typeface="微软雅黑" pitchFamily="34" charset="-122"/>
                <a:cs typeface="Times New Roman" pitchFamily="18" charset="0"/>
              </a:rPr>
              <a:t>PD153</a:t>
            </a:r>
            <a:r>
              <a:rPr lang="zh-CN" altLang="en-US" sz="2800" b="1" dirty="0">
                <a:latin typeface="Times New Roman" pitchFamily="18" charset="0"/>
                <a:ea typeface="微软雅黑" pitchFamily="34" charset="-122"/>
                <a:cs typeface="Times New Roman" pitchFamily="18" charset="0"/>
              </a:rPr>
              <a:t>技术手册</a:t>
            </a:r>
          </a:p>
        </p:txBody>
      </p:sp>
      <p:grpSp>
        <p:nvGrpSpPr>
          <p:cNvPr id="11" name="组合 10">
            <a:extLst>
              <a:ext uri="{FF2B5EF4-FFF2-40B4-BE49-F238E27FC236}">
                <a16:creationId xmlns:a16="http://schemas.microsoft.com/office/drawing/2014/main" xmlns="" id="{C3292442-63EA-4362-B496-40A0A7211FD0}"/>
              </a:ext>
            </a:extLst>
          </p:cNvPr>
          <p:cNvGrpSpPr/>
          <p:nvPr/>
        </p:nvGrpSpPr>
        <p:grpSpPr>
          <a:xfrm>
            <a:off x="0" y="293282"/>
            <a:ext cx="13161246" cy="7421968"/>
            <a:chOff x="0" y="293282"/>
            <a:chExt cx="13161246" cy="7421968"/>
          </a:xfrm>
        </p:grpSpPr>
        <p:sp>
          <p:nvSpPr>
            <p:cNvPr id="18" name="文本框 60">
              <a:extLst>
                <a:ext uri="{FF2B5EF4-FFF2-40B4-BE49-F238E27FC236}">
                  <a16:creationId xmlns:a16="http://schemas.microsoft.com/office/drawing/2014/main" xmlns="" id="{CB1CE176-3D4A-49AD-8E4F-ACDA54ECBCC1}"/>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典型色敏探测器</a:t>
              </a:r>
            </a:p>
          </p:txBody>
        </p:sp>
        <p:sp>
          <p:nvSpPr>
            <p:cNvPr id="19" name="矩形 18">
              <a:extLst>
                <a:ext uri="{FF2B5EF4-FFF2-40B4-BE49-F238E27FC236}">
                  <a16:creationId xmlns:a16="http://schemas.microsoft.com/office/drawing/2014/main" xmlns="" id="{D7217865-A66F-480E-9070-DBCAB5589F60}"/>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xmlns="" id="{0A5046D5-1F0F-4DDA-9CDE-9FD11D1D950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xmlns="" id="{93ED35BD-22D9-4D28-8C5D-B89C4A07E9A9}"/>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xmlns="" id="{7DFF6057-9D86-4711-B076-990E9378B87B}"/>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xmlns="" id="{084D7B74-9366-4785-AF01-1B205EC2E78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xmlns="" id="{963803D8-E313-49FF-ABF9-22E6E3C5FF88}"/>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215092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4744024" y="1286329"/>
            <a:ext cx="3435350" cy="579438"/>
          </a:xfrm>
          <a:prstGeom prst="rect">
            <a:avLst/>
          </a:prstGeom>
          <a:noFill/>
          <a:ln w="9525">
            <a:noFill/>
            <a:miter lim="800000"/>
            <a:headEnd/>
            <a:tailEnd/>
          </a:ln>
        </p:spPr>
        <p:txBody>
          <a:bodyPr wrap="none" anchor="ctr">
            <a:spAutoFit/>
          </a:bodyPr>
          <a:lstStyle/>
          <a:p>
            <a:pPr algn="ctr" defTabSz="914400">
              <a:defRPr/>
            </a:pPr>
            <a:r>
              <a:rPr lang="en-US" altLang="zh-CN" sz="3200" b="1" dirty="0">
                <a:solidFill>
                  <a:srgbClr val="0000CC"/>
                </a:solidFill>
                <a:latin typeface="Times New Roman" pitchFamily="18" charset="0"/>
                <a:ea typeface="微软雅黑" pitchFamily="34" charset="-122"/>
                <a:cs typeface="Times New Roman" pitchFamily="18" charset="0"/>
              </a:rPr>
              <a:t>2.</a:t>
            </a:r>
            <a:r>
              <a:rPr lang="zh-CN" altLang="en-US" sz="3200" b="1" dirty="0">
                <a:solidFill>
                  <a:srgbClr val="0000CC"/>
                </a:solidFill>
                <a:latin typeface="Times New Roman" pitchFamily="18" charset="0"/>
                <a:ea typeface="微软雅黑" pitchFamily="34" charset="-122"/>
                <a:cs typeface="Times New Roman" pitchFamily="18" charset="0"/>
              </a:rPr>
              <a:t>全色色敏探测器 </a:t>
            </a:r>
          </a:p>
        </p:txBody>
      </p:sp>
      <p:graphicFrame>
        <p:nvGraphicFramePr>
          <p:cNvPr id="3" name="表格 2"/>
          <p:cNvGraphicFramePr>
            <a:graphicFrameLocks noGrp="1"/>
          </p:cNvGraphicFramePr>
          <p:nvPr/>
        </p:nvGraphicFramePr>
        <p:xfrm>
          <a:off x="722525" y="2927434"/>
          <a:ext cx="12123754" cy="2688010"/>
        </p:xfrm>
        <a:graphic>
          <a:graphicData uri="http://schemas.openxmlformats.org/drawingml/2006/table">
            <a:tbl>
              <a:tblPr/>
              <a:tblGrid>
                <a:gridCol w="740896">
                  <a:extLst>
                    <a:ext uri="{9D8B030D-6E8A-4147-A177-3AD203B41FA5}">
                      <a16:colId xmlns:a16="http://schemas.microsoft.com/office/drawing/2014/main" xmlns="" val="20000"/>
                    </a:ext>
                  </a:extLst>
                </a:gridCol>
                <a:gridCol w="1431277">
                  <a:extLst>
                    <a:ext uri="{9D8B030D-6E8A-4147-A177-3AD203B41FA5}">
                      <a16:colId xmlns:a16="http://schemas.microsoft.com/office/drawing/2014/main" xmlns="" val="20001"/>
                    </a:ext>
                  </a:extLst>
                </a:gridCol>
                <a:gridCol w="1906966">
                  <a:extLst>
                    <a:ext uri="{9D8B030D-6E8A-4147-A177-3AD203B41FA5}">
                      <a16:colId xmlns:a16="http://schemas.microsoft.com/office/drawing/2014/main" xmlns="" val="20002"/>
                    </a:ext>
                  </a:extLst>
                </a:gridCol>
                <a:gridCol w="1570194">
                  <a:extLst>
                    <a:ext uri="{9D8B030D-6E8A-4147-A177-3AD203B41FA5}">
                      <a16:colId xmlns:a16="http://schemas.microsoft.com/office/drawing/2014/main" xmlns="" val="20003"/>
                    </a:ext>
                  </a:extLst>
                </a:gridCol>
                <a:gridCol w="1965901">
                  <a:extLst>
                    <a:ext uri="{9D8B030D-6E8A-4147-A177-3AD203B41FA5}">
                      <a16:colId xmlns:a16="http://schemas.microsoft.com/office/drawing/2014/main" xmlns="" val="20004"/>
                    </a:ext>
                  </a:extLst>
                </a:gridCol>
                <a:gridCol w="2348977">
                  <a:extLst>
                    <a:ext uri="{9D8B030D-6E8A-4147-A177-3AD203B41FA5}">
                      <a16:colId xmlns:a16="http://schemas.microsoft.com/office/drawing/2014/main" xmlns="" val="20005"/>
                    </a:ext>
                  </a:extLst>
                </a:gridCol>
                <a:gridCol w="2159543">
                  <a:extLst>
                    <a:ext uri="{9D8B030D-6E8A-4147-A177-3AD203B41FA5}">
                      <a16:colId xmlns:a16="http://schemas.microsoft.com/office/drawing/2014/main" xmlns="" val="20006"/>
                    </a:ext>
                  </a:extLst>
                </a:gridCol>
              </a:tblGrid>
              <a:tr h="1221694">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颜色</a:t>
                      </a:r>
                      <a:endPar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类型</a:t>
                      </a:r>
                      <a:endPar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暗电流</a:t>
                      </a:r>
                      <a:endPar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V</a:t>
                      </a:r>
                      <a:r>
                        <a:rPr kumimoji="0" lang="en-US" altLang="zh-CN" sz="1400" b="1" i="0" u="none" strike="noStrike" cap="none" normalizeH="0" baseline="-25000" dirty="0">
                          <a:ln>
                            <a:noFill/>
                          </a:ln>
                          <a:solidFill>
                            <a:schemeClr val="tx1"/>
                          </a:solidFill>
                          <a:effectLst/>
                          <a:latin typeface="Times New Roman" pitchFamily="18" charset="0"/>
                          <a:ea typeface="黑体" pitchFamily="49" charset="-122"/>
                          <a:cs typeface="Times New Roman" pitchFamily="18" charset="0"/>
                        </a:rPr>
                        <a:t>R</a:t>
                      </a:r>
                      <a:r>
                        <a:rPr kumimoji="0" lang="en-US" altLang="zh-CN" sz="1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=10V</a:t>
                      </a:r>
                      <a:endParaRPr kumimoji="0" lang="zh-CN" altLang="zh-CN" sz="1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H=0</a:t>
                      </a:r>
                      <a:endParaRPr kumimoji="0" lang="zh-CN" altLang="zh-CN" sz="1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14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nA</a:t>
                      </a:r>
                      <a:r>
                        <a:rPr kumimoji="0" lang="zh-CN" altLang="en-US" sz="1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正向电压</a:t>
                      </a:r>
                      <a:endPar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I</a:t>
                      </a:r>
                      <a:r>
                        <a:rPr kumimoji="0" lang="en-US" altLang="zh-CN" sz="1800" b="1" i="0" u="none" strike="noStrike" cap="none" normalizeH="0" baseline="-25000" dirty="0">
                          <a:ln>
                            <a:noFill/>
                          </a:ln>
                          <a:solidFill>
                            <a:schemeClr val="tx1"/>
                          </a:solidFill>
                          <a:effectLst/>
                          <a:latin typeface="Times New Roman" pitchFamily="18" charset="0"/>
                          <a:ea typeface="黑体" pitchFamily="49" charset="-122"/>
                          <a:cs typeface="Times New Roman" pitchFamily="18" charset="0"/>
                        </a:rPr>
                        <a:t>F</a:t>
                      </a:r>
                      <a:r>
                        <a:rPr kumimoji="0" lang="en-US"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=10mA</a:t>
                      </a:r>
                      <a:endParaRPr kumimoji="0" lang="zh-CN"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H=0</a:t>
                      </a:r>
                      <a:endParaRPr kumimoji="0" lang="zh-CN"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V</a:t>
                      </a:r>
                      <a:r>
                        <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endPar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击穿电压</a:t>
                      </a:r>
                      <a:endPar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I</a:t>
                      </a:r>
                      <a:r>
                        <a:rPr kumimoji="0" lang="en-US" altLang="zh-CN" sz="1800" b="1" i="0" u="none" strike="noStrike" cap="none" normalizeH="0" baseline="-25000" dirty="0">
                          <a:ln>
                            <a:noFill/>
                          </a:ln>
                          <a:solidFill>
                            <a:schemeClr val="tx1"/>
                          </a:solidFill>
                          <a:effectLst/>
                          <a:latin typeface="Times New Roman" pitchFamily="18" charset="0"/>
                          <a:ea typeface="黑体" pitchFamily="49" charset="-122"/>
                          <a:cs typeface="Times New Roman" pitchFamily="18" charset="0"/>
                        </a:rPr>
                        <a:t>R</a:t>
                      </a:r>
                      <a:r>
                        <a:rPr kumimoji="0" lang="en-US"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=100μA</a:t>
                      </a:r>
                      <a:endParaRPr kumimoji="0" lang="zh-CN"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H=0</a:t>
                      </a:r>
                      <a:endParaRPr kumimoji="0" lang="zh-CN"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V</a:t>
                      </a:r>
                      <a:r>
                        <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endPar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光电流</a:t>
                      </a:r>
                      <a:endPar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λ</a:t>
                      </a:r>
                      <a:r>
                        <a:rPr kumimoji="0" lang="en-US" altLang="zh-CN" sz="18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p</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=630nm</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E</a:t>
                      </a:r>
                      <a:r>
                        <a:rPr kumimoji="0" lang="en-US" altLang="zh-CN" sz="18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V</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=100lx,V</a:t>
                      </a:r>
                      <a:r>
                        <a:rPr kumimoji="0" lang="en-US" altLang="zh-CN" sz="18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R</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=5V</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μA</a:t>
                      </a: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光电流</a:t>
                      </a:r>
                      <a:endPar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λ</a:t>
                      </a:r>
                      <a:r>
                        <a:rPr kumimoji="0" lang="en-US" altLang="zh-CN" sz="18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p</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=560nm</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E</a:t>
                      </a:r>
                      <a:r>
                        <a:rPr kumimoji="0" lang="en-US" altLang="zh-CN" sz="18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V</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=100lx,V</a:t>
                      </a:r>
                      <a:r>
                        <a:rPr kumimoji="0" lang="en-US" altLang="zh-CN" sz="18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R</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=5V</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μA</a:t>
                      </a: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光电流</a:t>
                      </a:r>
                      <a:endPar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λ</a:t>
                      </a:r>
                      <a:r>
                        <a:rPr kumimoji="0" lang="en-US" altLang="zh-CN" sz="18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p</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=470nm</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E</a:t>
                      </a:r>
                      <a:r>
                        <a:rPr kumimoji="0" lang="en-US" altLang="zh-CN" sz="18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V</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=100lx,V</a:t>
                      </a:r>
                      <a:r>
                        <a:rPr kumimoji="0" lang="en-US" altLang="zh-CN" sz="18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R</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=5V</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μA</a:t>
                      </a: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89243">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R</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0.5</a:t>
                      </a: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1.3</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35</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0.35</a:t>
                      </a:r>
                      <a:endParaRPr kumimoji="0" lang="zh-CN"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7830">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G</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0.5</a:t>
                      </a: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1.3</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35</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0.05</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9243">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B</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0.5</a:t>
                      </a: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1.3</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35</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0.30</a:t>
                      </a:r>
                      <a:endParaRPr kumimoji="0" lang="zh-CN"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bl>
          </a:graphicData>
        </a:graphic>
      </p:graphicFrame>
      <p:sp>
        <p:nvSpPr>
          <p:cNvPr id="41005" name="TextBox 3"/>
          <p:cNvSpPr txBox="1">
            <a:spLocks noChangeArrowheads="1"/>
          </p:cNvSpPr>
          <p:nvPr/>
        </p:nvSpPr>
        <p:spPr bwMode="auto">
          <a:xfrm>
            <a:off x="716756" y="2061672"/>
            <a:ext cx="3689350" cy="519112"/>
          </a:xfrm>
          <a:prstGeom prst="rect">
            <a:avLst/>
          </a:prstGeom>
          <a:noFill/>
          <a:ln w="9525">
            <a:noFill/>
            <a:miter lim="800000"/>
            <a:headEnd/>
            <a:tailEnd/>
          </a:ln>
        </p:spPr>
        <p:txBody>
          <a:bodyPr>
            <a:spAutoFit/>
          </a:bodyPr>
          <a:lstStyle/>
          <a:p>
            <a:pPr defTabSz="914400"/>
            <a:r>
              <a:rPr lang="en-US" altLang="zh-CN" sz="2800" b="1" dirty="0">
                <a:latin typeface="Times New Roman" pitchFamily="18" charset="0"/>
                <a:ea typeface="微软雅黑" pitchFamily="34" charset="-122"/>
                <a:cs typeface="Times New Roman" pitchFamily="18" charset="0"/>
              </a:rPr>
              <a:t>RGB230</a:t>
            </a:r>
            <a:r>
              <a:rPr lang="zh-CN" altLang="en-US" sz="2800" b="1" dirty="0">
                <a:latin typeface="Times New Roman" pitchFamily="18" charset="0"/>
                <a:ea typeface="微软雅黑" pitchFamily="34" charset="-122"/>
                <a:cs typeface="Times New Roman" pitchFamily="18" charset="0"/>
              </a:rPr>
              <a:t>特性参数</a:t>
            </a:r>
          </a:p>
        </p:txBody>
      </p:sp>
      <p:sp>
        <p:nvSpPr>
          <p:cNvPr id="6" name="TextBox 3">
            <a:hlinkClick r:id="rId2"/>
          </p:cNvPr>
          <p:cNvSpPr txBox="1">
            <a:spLocks noChangeArrowheads="1"/>
          </p:cNvSpPr>
          <p:nvPr/>
        </p:nvSpPr>
        <p:spPr bwMode="auto">
          <a:xfrm>
            <a:off x="5184202" y="6344444"/>
            <a:ext cx="3200400" cy="519112"/>
          </a:xfrm>
          <a:prstGeom prst="rect">
            <a:avLst/>
          </a:prstGeom>
          <a:noFill/>
          <a:ln w="9525">
            <a:noFill/>
            <a:miter lim="800000"/>
            <a:headEnd/>
            <a:tailEnd/>
          </a:ln>
        </p:spPr>
        <p:txBody>
          <a:bodyPr>
            <a:spAutoFit/>
          </a:bodyPr>
          <a:lstStyle/>
          <a:p>
            <a:pPr defTabSz="914400"/>
            <a:r>
              <a:rPr lang="en-US" altLang="zh-CN" sz="2800" b="1" dirty="0">
                <a:latin typeface="Times New Roman" pitchFamily="18" charset="0"/>
                <a:ea typeface="微软雅黑" pitchFamily="34" charset="-122"/>
                <a:cs typeface="Times New Roman" pitchFamily="18" charset="0"/>
              </a:rPr>
              <a:t>RGB230</a:t>
            </a:r>
            <a:r>
              <a:rPr lang="zh-CN" altLang="en-US" sz="2800" b="1" dirty="0">
                <a:latin typeface="Times New Roman" pitchFamily="18" charset="0"/>
                <a:ea typeface="微软雅黑" pitchFamily="34" charset="-122"/>
                <a:cs typeface="Times New Roman" pitchFamily="18" charset="0"/>
              </a:rPr>
              <a:t>技术手册</a:t>
            </a:r>
          </a:p>
        </p:txBody>
      </p:sp>
      <p:grpSp>
        <p:nvGrpSpPr>
          <p:cNvPr id="18" name="组合 17">
            <a:extLst>
              <a:ext uri="{FF2B5EF4-FFF2-40B4-BE49-F238E27FC236}">
                <a16:creationId xmlns:a16="http://schemas.microsoft.com/office/drawing/2014/main" xmlns="" id="{A4E245E1-1DDE-461D-A222-3E84908C0197}"/>
              </a:ext>
            </a:extLst>
          </p:cNvPr>
          <p:cNvGrpSpPr/>
          <p:nvPr/>
        </p:nvGrpSpPr>
        <p:grpSpPr>
          <a:xfrm>
            <a:off x="0" y="293282"/>
            <a:ext cx="13161246" cy="7421968"/>
            <a:chOff x="0" y="293282"/>
            <a:chExt cx="13161246" cy="7421968"/>
          </a:xfrm>
        </p:grpSpPr>
        <p:sp>
          <p:nvSpPr>
            <p:cNvPr id="19" name="文本框 60">
              <a:extLst>
                <a:ext uri="{FF2B5EF4-FFF2-40B4-BE49-F238E27FC236}">
                  <a16:creationId xmlns:a16="http://schemas.microsoft.com/office/drawing/2014/main" xmlns="" id="{DF351B67-A841-4409-987C-36F105F5838B}"/>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典型色敏探测器</a:t>
              </a:r>
            </a:p>
          </p:txBody>
        </p:sp>
        <p:sp>
          <p:nvSpPr>
            <p:cNvPr id="20" name="矩形 19">
              <a:extLst>
                <a:ext uri="{FF2B5EF4-FFF2-40B4-BE49-F238E27FC236}">
                  <a16:creationId xmlns:a16="http://schemas.microsoft.com/office/drawing/2014/main" xmlns="" id="{ADC6AF04-1BB4-451C-B408-B3466759BB0B}"/>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xmlns="" id="{5CEA9A2A-04AF-4AC9-9E32-038AC9FBC12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xmlns="" id="{0E92C303-0B1D-4E64-8888-821220E25981}"/>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xmlns="" id="{722E6C41-6575-4345-9347-3AFC8F78D9E2}"/>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xmlns="" id="{FE7DCC3D-3834-4221-8363-F3AA9D6A2BE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xmlns="" id="{E18CD81D-1435-41F0-B289-18C167EB59C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3333722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1005"/>
                                        </p:tgtEl>
                                        <p:attrNameLst>
                                          <p:attrName>style.visibility</p:attrName>
                                        </p:attrNameLst>
                                      </p:cBhvr>
                                      <p:to>
                                        <p:strVal val="visible"/>
                                      </p:to>
                                    </p:set>
                                    <p:animEffect transition="in" filter="box(in)">
                                      <p:cBhvr>
                                        <p:cTn id="12" dur="500"/>
                                        <p:tgtEl>
                                          <p:spTgt spid="4100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100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859747" y="1901599"/>
          <a:ext cx="11688932" cy="4141231"/>
        </p:xfrm>
        <a:graphic>
          <a:graphicData uri="http://schemas.openxmlformats.org/drawingml/2006/table">
            <a:tbl>
              <a:tblPr/>
              <a:tblGrid>
                <a:gridCol w="724592">
                  <a:extLst>
                    <a:ext uri="{9D8B030D-6E8A-4147-A177-3AD203B41FA5}">
                      <a16:colId xmlns:a16="http://schemas.microsoft.com/office/drawing/2014/main" xmlns="" val="20000"/>
                    </a:ext>
                  </a:extLst>
                </a:gridCol>
                <a:gridCol w="1371085">
                  <a:extLst>
                    <a:ext uri="{9D8B030D-6E8A-4147-A177-3AD203B41FA5}">
                      <a16:colId xmlns:a16="http://schemas.microsoft.com/office/drawing/2014/main" xmlns="" val="20001"/>
                    </a:ext>
                  </a:extLst>
                </a:gridCol>
                <a:gridCol w="1366746">
                  <a:extLst>
                    <a:ext uri="{9D8B030D-6E8A-4147-A177-3AD203B41FA5}">
                      <a16:colId xmlns:a16="http://schemas.microsoft.com/office/drawing/2014/main" xmlns="" val="20002"/>
                    </a:ext>
                  </a:extLst>
                </a:gridCol>
                <a:gridCol w="1371085">
                  <a:extLst>
                    <a:ext uri="{9D8B030D-6E8A-4147-A177-3AD203B41FA5}">
                      <a16:colId xmlns:a16="http://schemas.microsoft.com/office/drawing/2014/main" xmlns="" val="20003"/>
                    </a:ext>
                  </a:extLst>
                </a:gridCol>
                <a:gridCol w="1371085">
                  <a:extLst>
                    <a:ext uri="{9D8B030D-6E8A-4147-A177-3AD203B41FA5}">
                      <a16:colId xmlns:a16="http://schemas.microsoft.com/office/drawing/2014/main" xmlns="" val="20004"/>
                    </a:ext>
                  </a:extLst>
                </a:gridCol>
                <a:gridCol w="1368916">
                  <a:extLst>
                    <a:ext uri="{9D8B030D-6E8A-4147-A177-3AD203B41FA5}">
                      <a16:colId xmlns:a16="http://schemas.microsoft.com/office/drawing/2014/main" xmlns="" val="20005"/>
                    </a:ext>
                  </a:extLst>
                </a:gridCol>
                <a:gridCol w="1368915">
                  <a:extLst>
                    <a:ext uri="{9D8B030D-6E8A-4147-A177-3AD203B41FA5}">
                      <a16:colId xmlns:a16="http://schemas.microsoft.com/office/drawing/2014/main" xmlns="" val="20006"/>
                    </a:ext>
                  </a:extLst>
                </a:gridCol>
                <a:gridCol w="1225733">
                  <a:extLst>
                    <a:ext uri="{9D8B030D-6E8A-4147-A177-3AD203B41FA5}">
                      <a16:colId xmlns:a16="http://schemas.microsoft.com/office/drawing/2014/main" xmlns="" val="20007"/>
                    </a:ext>
                  </a:extLst>
                </a:gridCol>
                <a:gridCol w="759303">
                  <a:extLst>
                    <a:ext uri="{9D8B030D-6E8A-4147-A177-3AD203B41FA5}">
                      <a16:colId xmlns:a16="http://schemas.microsoft.com/office/drawing/2014/main" xmlns="" val="20008"/>
                    </a:ext>
                  </a:extLst>
                </a:gridCol>
                <a:gridCol w="761472">
                  <a:extLst>
                    <a:ext uri="{9D8B030D-6E8A-4147-A177-3AD203B41FA5}">
                      <a16:colId xmlns:a16="http://schemas.microsoft.com/office/drawing/2014/main" xmlns="" val="20009"/>
                    </a:ext>
                  </a:extLst>
                </a:gridCol>
              </a:tblGrid>
              <a:tr h="1379079">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颜色</a:t>
                      </a: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类型</a:t>
                      </a: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型号</a:t>
                      </a: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输出频率</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λ</a:t>
                      </a:r>
                      <a:r>
                        <a:rPr kumimoji="0" lang="en-US" altLang="zh-CN" sz="12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p</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=470nm</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E</a:t>
                      </a:r>
                      <a:r>
                        <a:rPr kumimoji="0" lang="en-US" altLang="zh-CN" sz="12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e</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=47.2μW/cm</a:t>
                      </a:r>
                      <a:r>
                        <a:rPr kumimoji="0" lang="en-US" altLang="zh-CN" sz="12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kHz</a:t>
                      </a: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辐射灵敏度</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λ</a:t>
                      </a:r>
                      <a:r>
                        <a:rPr kumimoji="0" lang="en-US" altLang="zh-CN" sz="12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p</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=470nm</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Hz/</a:t>
                      </a: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μW/cm</a:t>
                      </a:r>
                      <a:r>
                        <a:rPr kumimoji="0" lang="en-US" altLang="zh-CN" sz="12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输出频率</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λ</a:t>
                      </a:r>
                      <a:r>
                        <a:rPr kumimoji="0" lang="en-US" altLang="zh-CN" sz="12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p</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=524nm</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E</a:t>
                      </a:r>
                      <a:r>
                        <a:rPr kumimoji="0" lang="en-US" altLang="zh-CN" sz="12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e</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=40.4μW/cm</a:t>
                      </a:r>
                      <a:r>
                        <a:rPr kumimoji="0" lang="en-US" altLang="zh-CN" sz="12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kHz</a:t>
                      </a: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辐射灵敏度</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λ</a:t>
                      </a:r>
                      <a:r>
                        <a:rPr kumimoji="0" lang="en-US" altLang="zh-CN" sz="1200" b="1" i="0" u="none" strike="noStrike" cap="none" normalizeH="0" baseline="-25000" dirty="0" err="1">
                          <a:ln>
                            <a:noFill/>
                          </a:ln>
                          <a:solidFill>
                            <a:schemeClr val="tx1"/>
                          </a:solidFill>
                          <a:effectLst/>
                          <a:latin typeface="Times New Roman" pitchFamily="18" charset="0"/>
                          <a:ea typeface="黑体" pitchFamily="49" charset="-122"/>
                          <a:cs typeface="Times New Roman" pitchFamily="18" charset="0"/>
                        </a:rPr>
                        <a:t>p</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=524nm</a:t>
                      </a:r>
                      <a:endParaRPr kumimoji="0" lang="zh-CN"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Hz/</a:t>
                      </a: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12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μW</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/cm</a:t>
                      </a:r>
                      <a:r>
                        <a:rPr kumimoji="0" lang="en-US" altLang="zh-CN" sz="12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2</a:t>
                      </a: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输出频率</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λ</a:t>
                      </a:r>
                      <a:r>
                        <a:rPr kumimoji="0" lang="en-US" altLang="zh-CN" sz="12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p</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=640nm</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E</a:t>
                      </a:r>
                      <a:r>
                        <a:rPr kumimoji="0" lang="en-US" altLang="zh-CN" sz="12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e</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=34.6μW/cm</a:t>
                      </a:r>
                      <a:r>
                        <a:rPr kumimoji="0" lang="en-US" altLang="zh-CN" sz="12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kHz</a:t>
                      </a: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辐射灵敏度</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λ</a:t>
                      </a:r>
                      <a:r>
                        <a:rPr kumimoji="0" lang="en-US" altLang="zh-CN" sz="1200" b="1" i="0" u="none" strike="noStrike" cap="none" normalizeH="0" baseline="-25000" dirty="0" err="1">
                          <a:ln>
                            <a:noFill/>
                          </a:ln>
                          <a:solidFill>
                            <a:schemeClr val="tx1"/>
                          </a:solidFill>
                          <a:effectLst/>
                          <a:latin typeface="Times New Roman" pitchFamily="18" charset="0"/>
                          <a:ea typeface="黑体" pitchFamily="49" charset="-122"/>
                          <a:cs typeface="Times New Roman" pitchFamily="18" charset="0"/>
                        </a:rPr>
                        <a:t>p</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=640nm</a:t>
                      </a:r>
                      <a:endParaRPr kumimoji="0" lang="zh-CN"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Hz/</a:t>
                      </a: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12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μW</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/cm</a:t>
                      </a:r>
                      <a:r>
                        <a:rPr kumimoji="0" lang="en-US" altLang="zh-CN" sz="12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2</a:t>
                      </a: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黑色</a:t>
                      </a: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频率</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E</a:t>
                      </a:r>
                      <a:r>
                        <a:rPr kumimoji="0" lang="en-US" altLang="zh-CN" sz="1200" b="1" i="0" u="none" strike="noStrike" cap="none" normalizeH="0" baseline="-25000">
                          <a:ln>
                            <a:noFill/>
                          </a:ln>
                          <a:solidFill>
                            <a:schemeClr val="tx1"/>
                          </a:solidFill>
                          <a:effectLst/>
                          <a:latin typeface="Times New Roman" pitchFamily="18" charset="0"/>
                          <a:ea typeface="黑体" pitchFamily="49" charset="-122"/>
                          <a:cs typeface="Times New Roman" pitchFamily="18" charset="0"/>
                        </a:rPr>
                        <a:t>e</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Hz</a:t>
                      </a: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从掉电恢复（</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μS</a:t>
                      </a: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61024">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B</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TCS3200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61%</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84%</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61%</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84%</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28%</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28%</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21%</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21%</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61024">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TCS3210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61%</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84%</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61%</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84%</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28%</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28%</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21%</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21%</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59028">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G</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TCS3200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43%</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43%</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57%</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57%</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61024">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TCS3210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43%</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43%</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57%</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57%</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59028">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R</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TCS3200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9%</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27%</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9%</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27%</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84%</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105%</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84%</a:t>
                      </a:r>
                      <a:endParaRPr kumimoji="0" lang="zh-CN"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105%</a:t>
                      </a:r>
                      <a:endParaRPr kumimoji="0" lang="zh-CN"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61024">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TCS3210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9%</a:t>
                      </a:r>
                      <a:endParaRPr kumimoji="0" lang="zh-CN"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27%</a:t>
                      </a:r>
                      <a:endParaRPr kumimoji="0" lang="zh-CN"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9%</a:t>
                      </a:r>
                      <a:endParaRPr kumimoji="0" lang="zh-CN"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27%</a:t>
                      </a:r>
                      <a:endParaRPr kumimoji="0" lang="zh-CN"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84%</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105%</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最小</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84%</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最大</a:t>
                      </a: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105%</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a:t>
                      </a:r>
                      <a:endParaRPr kumimoji="0" lang="zh-CN" altLang="zh-CN" sz="12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100</a:t>
                      </a:r>
                      <a:endParaRPr kumimoji="0" lang="zh-CN" altLang="zh-CN" sz="12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525" marR="6752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bl>
          </a:graphicData>
        </a:graphic>
      </p:graphicFrame>
      <p:sp>
        <p:nvSpPr>
          <p:cNvPr id="32952" name="TextBox 2"/>
          <p:cNvSpPr txBox="1">
            <a:spLocks noChangeArrowheads="1"/>
          </p:cNvSpPr>
          <p:nvPr/>
        </p:nvSpPr>
        <p:spPr bwMode="auto">
          <a:xfrm>
            <a:off x="3891301" y="1191451"/>
            <a:ext cx="5322887" cy="519113"/>
          </a:xfrm>
          <a:prstGeom prst="rect">
            <a:avLst/>
          </a:prstGeom>
          <a:noFill/>
          <a:ln w="9525">
            <a:noFill/>
            <a:miter lim="800000"/>
            <a:headEnd/>
            <a:tailEnd/>
          </a:ln>
        </p:spPr>
        <p:txBody>
          <a:bodyPr>
            <a:spAutoFit/>
          </a:bodyPr>
          <a:lstStyle/>
          <a:p>
            <a:pPr defTabSz="914400"/>
            <a:r>
              <a:rPr lang="en-US" altLang="zh-CN" sz="2800" b="1" dirty="0">
                <a:latin typeface="Times New Roman" pitchFamily="18" charset="0"/>
                <a:ea typeface="微软雅黑" pitchFamily="34" charset="-122"/>
                <a:cs typeface="Times New Roman" pitchFamily="18" charset="0"/>
              </a:rPr>
              <a:t>TCS3200</a:t>
            </a:r>
            <a:r>
              <a:rPr lang="zh-CN" altLang="en-US" sz="2800" b="1" dirty="0">
                <a:latin typeface="Times New Roman" pitchFamily="18" charset="0"/>
                <a:ea typeface="微软雅黑" pitchFamily="34" charset="-122"/>
                <a:cs typeface="Times New Roman" pitchFamily="18" charset="0"/>
              </a:rPr>
              <a:t>，</a:t>
            </a:r>
            <a:r>
              <a:rPr lang="en-US" altLang="zh-CN" sz="2800" b="1" dirty="0">
                <a:latin typeface="Times New Roman" pitchFamily="18" charset="0"/>
                <a:ea typeface="微软雅黑" pitchFamily="34" charset="-122"/>
                <a:cs typeface="Times New Roman" pitchFamily="18" charset="0"/>
              </a:rPr>
              <a:t>TCS3210</a:t>
            </a:r>
            <a:r>
              <a:rPr lang="zh-CN" altLang="en-US" sz="2800" b="1" dirty="0">
                <a:latin typeface="Times New Roman" pitchFamily="18" charset="0"/>
                <a:ea typeface="微软雅黑" pitchFamily="34" charset="-122"/>
                <a:cs typeface="Times New Roman" pitchFamily="18" charset="0"/>
              </a:rPr>
              <a:t>特性参数</a:t>
            </a:r>
          </a:p>
        </p:txBody>
      </p:sp>
      <p:sp>
        <p:nvSpPr>
          <p:cNvPr id="32953" name="TextBox 2">
            <a:hlinkClick r:id="rId2"/>
          </p:cNvPr>
          <p:cNvSpPr txBox="1">
            <a:spLocks noChangeArrowheads="1"/>
          </p:cNvSpPr>
          <p:nvPr/>
        </p:nvSpPr>
        <p:spPr bwMode="auto">
          <a:xfrm>
            <a:off x="5211069" y="6339681"/>
            <a:ext cx="3289300" cy="519113"/>
          </a:xfrm>
          <a:prstGeom prst="rect">
            <a:avLst/>
          </a:prstGeom>
          <a:noFill/>
          <a:ln w="9525">
            <a:noFill/>
            <a:miter lim="800000"/>
            <a:headEnd/>
            <a:tailEnd/>
          </a:ln>
        </p:spPr>
        <p:txBody>
          <a:bodyPr>
            <a:spAutoFit/>
          </a:bodyPr>
          <a:lstStyle/>
          <a:p>
            <a:pPr defTabSz="914400"/>
            <a:r>
              <a:rPr lang="en-US" altLang="zh-CN" sz="2800" b="1" dirty="0">
                <a:latin typeface="Times New Roman" pitchFamily="18" charset="0"/>
                <a:ea typeface="微软雅黑" pitchFamily="34" charset="-122"/>
                <a:cs typeface="Times New Roman" pitchFamily="18" charset="0"/>
              </a:rPr>
              <a:t>TCS3200</a:t>
            </a:r>
            <a:r>
              <a:rPr lang="zh-CN" altLang="en-US" sz="2800" b="1" dirty="0">
                <a:latin typeface="Times New Roman" pitchFamily="18" charset="0"/>
                <a:ea typeface="微软雅黑" pitchFamily="34" charset="-122"/>
                <a:cs typeface="Times New Roman" pitchFamily="18" charset="0"/>
              </a:rPr>
              <a:t>技术手册</a:t>
            </a:r>
          </a:p>
        </p:txBody>
      </p:sp>
      <p:grpSp>
        <p:nvGrpSpPr>
          <p:cNvPr id="17" name="组合 16">
            <a:extLst>
              <a:ext uri="{FF2B5EF4-FFF2-40B4-BE49-F238E27FC236}">
                <a16:creationId xmlns:a16="http://schemas.microsoft.com/office/drawing/2014/main" xmlns="" id="{610E45AE-2FB0-42C4-B18B-224E770206A1}"/>
              </a:ext>
            </a:extLst>
          </p:cNvPr>
          <p:cNvGrpSpPr/>
          <p:nvPr/>
        </p:nvGrpSpPr>
        <p:grpSpPr>
          <a:xfrm>
            <a:off x="0" y="293282"/>
            <a:ext cx="13161246" cy="7421968"/>
            <a:chOff x="0" y="293282"/>
            <a:chExt cx="13161246" cy="7421968"/>
          </a:xfrm>
        </p:grpSpPr>
        <p:sp>
          <p:nvSpPr>
            <p:cNvPr id="18" name="文本框 60">
              <a:extLst>
                <a:ext uri="{FF2B5EF4-FFF2-40B4-BE49-F238E27FC236}">
                  <a16:creationId xmlns:a16="http://schemas.microsoft.com/office/drawing/2014/main" xmlns="" id="{4D2C3316-273A-4D2A-953A-0ED81DE61221}"/>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典型色敏探测器</a:t>
              </a:r>
            </a:p>
          </p:txBody>
        </p:sp>
        <p:sp>
          <p:nvSpPr>
            <p:cNvPr id="19" name="矩形 18">
              <a:extLst>
                <a:ext uri="{FF2B5EF4-FFF2-40B4-BE49-F238E27FC236}">
                  <a16:creationId xmlns:a16="http://schemas.microsoft.com/office/drawing/2014/main" xmlns="" id="{43C4811C-4E64-471D-BF30-89364FD4F262}"/>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xmlns="" id="{06945013-860B-4DE3-8F84-6D9E51F6A2B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xmlns="" id="{9858B0D4-51C3-4FFD-A3EE-C8C946F0F792}"/>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xmlns="" id="{F798A733-7D36-4C6B-B099-CB8837BB6D61}"/>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xmlns="" id="{0C6D48AA-F021-4C69-9976-DCE4807021AB}"/>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xmlns="" id="{892A2981-3EE1-49E9-8B8E-DDAA3AC67EE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7848526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色敏探测器应用</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844389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色敏探测器应用</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4.6.4</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7150805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2"/>
          <p:cNvSpPr>
            <a:spLocks noChangeArrowheads="1"/>
          </p:cNvSpPr>
          <p:nvPr/>
        </p:nvSpPr>
        <p:spPr bwMode="auto">
          <a:xfrm>
            <a:off x="887413" y="1322624"/>
            <a:ext cx="8802410" cy="523220"/>
          </a:xfrm>
          <a:prstGeom prst="rect">
            <a:avLst/>
          </a:prstGeom>
          <a:noFill/>
          <a:ln w="9525">
            <a:noFill/>
            <a:miter lim="800000"/>
            <a:headEnd/>
            <a:tailEnd/>
          </a:ln>
        </p:spPr>
        <p:txBody>
          <a:bodyPr wrap="none">
            <a:spAutoFit/>
          </a:bodyPr>
          <a:lstStyle/>
          <a:p>
            <a:pPr defTabSz="914400"/>
            <a:r>
              <a:rPr lang="zh-CN" altLang="en-US" sz="2800" b="1" dirty="0">
                <a:latin typeface="Times New Roman" pitchFamily="18" charset="0"/>
                <a:ea typeface="微软雅黑" pitchFamily="34" charset="-122"/>
                <a:cs typeface="Times New Roman" pitchFamily="18" charset="0"/>
              </a:rPr>
              <a:t>半导体色敏器件特点：结构简单、体积小、成本低等</a:t>
            </a:r>
            <a:r>
              <a:rPr lang="zh-CN" altLang="en-US" sz="2800" dirty="0">
                <a:latin typeface="Times New Roman" pitchFamily="18" charset="0"/>
                <a:ea typeface="微软雅黑" pitchFamily="34" charset="-122"/>
                <a:cs typeface="Times New Roman" pitchFamily="18" charset="0"/>
              </a:rPr>
              <a:t>。</a:t>
            </a:r>
          </a:p>
        </p:txBody>
      </p:sp>
      <p:sp>
        <p:nvSpPr>
          <p:cNvPr id="11" name="Rectangle 13"/>
          <p:cNvSpPr>
            <a:spLocks noChangeArrowheads="1"/>
          </p:cNvSpPr>
          <p:nvPr/>
        </p:nvSpPr>
        <p:spPr bwMode="auto">
          <a:xfrm>
            <a:off x="716756" y="2242898"/>
            <a:ext cx="8284284" cy="587853"/>
          </a:xfrm>
          <a:prstGeom prst="rect">
            <a:avLst/>
          </a:prstGeom>
          <a:noFill/>
          <a:ln w="9525">
            <a:noFill/>
            <a:miter lim="800000"/>
            <a:headEnd/>
            <a:tailEnd/>
          </a:ln>
        </p:spPr>
        <p:txBody>
          <a:bodyPr wrap="square">
            <a:spAutoFit/>
          </a:bodyPr>
          <a:lstStyle/>
          <a:p>
            <a:pPr defTabSz="914400">
              <a:lnSpc>
                <a:spcPct val="115000"/>
              </a:lnSpc>
              <a:buFont typeface="Wingdings" pitchFamily="2" charset="2"/>
              <a:buChar char="l"/>
            </a:pPr>
            <a:r>
              <a:rPr lang="zh-CN" altLang="en-US" sz="2800" b="1" dirty="0">
                <a:latin typeface="Times New Roman" pitchFamily="18" charset="0"/>
                <a:ea typeface="微软雅黑" pitchFamily="34" charset="-122"/>
                <a:cs typeface="Times New Roman" pitchFamily="18" charset="0"/>
              </a:rPr>
              <a:t> 在工业上可以自动检测纸、纸浆、染料的颜色；   </a:t>
            </a:r>
            <a:r>
              <a:rPr lang="zh-CN" altLang="en-US" sz="2800" dirty="0">
                <a:solidFill>
                  <a:schemeClr val="bg1"/>
                </a:solidFill>
                <a:latin typeface="Times New Roman" pitchFamily="18" charset="0"/>
                <a:ea typeface="微软雅黑" pitchFamily="34" charset="-122"/>
                <a:cs typeface="Times New Roman" pitchFamily="18" charset="0"/>
              </a:rPr>
              <a:t>。</a:t>
            </a:r>
          </a:p>
        </p:txBody>
      </p:sp>
      <p:sp>
        <p:nvSpPr>
          <p:cNvPr id="12" name="Rectangle 14"/>
          <p:cNvSpPr>
            <a:spLocks noChangeArrowheads="1"/>
          </p:cNvSpPr>
          <p:nvPr/>
        </p:nvSpPr>
        <p:spPr bwMode="auto">
          <a:xfrm>
            <a:off x="716756" y="5416347"/>
            <a:ext cx="11747330" cy="1308628"/>
          </a:xfrm>
          <a:prstGeom prst="rect">
            <a:avLst/>
          </a:prstGeom>
          <a:noFill/>
          <a:ln w="9525">
            <a:noFill/>
            <a:miter lim="800000"/>
            <a:headEnd/>
            <a:tailEnd/>
          </a:ln>
        </p:spPr>
        <p:txBody>
          <a:bodyPr wrap="square">
            <a:spAutoFit/>
          </a:bodyPr>
          <a:lstStyle/>
          <a:p>
            <a:pPr marL="358775" indent="-358775" defTabSz="914400">
              <a:lnSpc>
                <a:spcPct val="150000"/>
              </a:lnSpc>
              <a:buFont typeface="Wingdings" pitchFamily="2" charset="2"/>
              <a:buChar char="l"/>
            </a:pPr>
            <a:r>
              <a:rPr lang="zh-CN" altLang="en-US" sz="2800" b="1" dirty="0">
                <a:latin typeface="Times New Roman" pitchFamily="18" charset="0"/>
                <a:ea typeface="微软雅黑" pitchFamily="34" charset="-122"/>
                <a:cs typeface="Times New Roman" pitchFamily="18" charset="0"/>
              </a:rPr>
              <a:t>半导体色敏器件是非常有发展前途的一种新型半导体光电器件。</a:t>
            </a:r>
            <a:r>
              <a:rPr lang="en-US" altLang="zh-CN" sz="2800" b="1" dirty="0">
                <a:solidFill>
                  <a:srgbClr val="FF0066"/>
                </a:solidFill>
                <a:latin typeface="Times New Roman" pitchFamily="18" charset="0"/>
                <a:ea typeface="微软雅黑" pitchFamily="34" charset="-122"/>
                <a:cs typeface="Times New Roman" pitchFamily="18" charset="0"/>
              </a:rPr>
              <a:t>CCD</a:t>
            </a:r>
            <a:r>
              <a:rPr lang="zh-CN" altLang="en-US" sz="2800" b="1" dirty="0">
                <a:solidFill>
                  <a:srgbClr val="FF0066"/>
                </a:solidFill>
                <a:latin typeface="Times New Roman" pitchFamily="18" charset="0"/>
                <a:ea typeface="微软雅黑" pitchFamily="34" charset="-122"/>
                <a:cs typeface="Times New Roman" pitchFamily="18" charset="0"/>
              </a:rPr>
              <a:t>摄像器件－－颜色识别功能</a:t>
            </a:r>
          </a:p>
        </p:txBody>
      </p:sp>
      <p:sp>
        <p:nvSpPr>
          <p:cNvPr id="13" name="TextBox 12"/>
          <p:cNvSpPr txBox="1">
            <a:spLocks noChangeArrowheads="1"/>
          </p:cNvSpPr>
          <p:nvPr/>
        </p:nvSpPr>
        <p:spPr bwMode="auto">
          <a:xfrm>
            <a:off x="735573" y="3081168"/>
            <a:ext cx="6715814" cy="587853"/>
          </a:xfrm>
          <a:prstGeom prst="rect">
            <a:avLst/>
          </a:prstGeom>
          <a:noFill/>
          <a:ln w="9525">
            <a:noFill/>
            <a:miter lim="800000"/>
            <a:headEnd/>
            <a:tailEnd/>
          </a:ln>
        </p:spPr>
        <p:txBody>
          <a:bodyPr wrap="square">
            <a:spAutoFit/>
          </a:bodyPr>
          <a:lstStyle/>
          <a:p>
            <a:pPr defTabSz="914400">
              <a:lnSpc>
                <a:spcPct val="115000"/>
              </a:lnSpc>
              <a:buFont typeface="Wingdings" pitchFamily="2" charset="2"/>
              <a:buChar char="l"/>
            </a:pPr>
            <a:r>
              <a:rPr lang="zh-CN" altLang="en-US" sz="2800" b="1" dirty="0">
                <a:latin typeface="Times New Roman" pitchFamily="18" charset="0"/>
                <a:ea typeface="微软雅黑" pitchFamily="34" charset="-122"/>
                <a:cs typeface="Times New Roman" pitchFamily="18" charset="0"/>
              </a:rPr>
              <a:t> 医学上可以测定皮肤、牙齿等的颜色；</a:t>
            </a:r>
          </a:p>
        </p:txBody>
      </p:sp>
      <p:sp>
        <p:nvSpPr>
          <p:cNvPr id="14" name="TextBox 13"/>
          <p:cNvSpPr txBox="1">
            <a:spLocks noChangeArrowheads="1"/>
          </p:cNvSpPr>
          <p:nvPr/>
        </p:nvSpPr>
        <p:spPr bwMode="auto">
          <a:xfrm>
            <a:off x="646112" y="3832462"/>
            <a:ext cx="11766381" cy="1308628"/>
          </a:xfrm>
          <a:prstGeom prst="rect">
            <a:avLst/>
          </a:prstGeom>
          <a:noFill/>
          <a:ln w="9525">
            <a:noFill/>
            <a:miter lim="800000"/>
            <a:headEnd/>
            <a:tailEnd/>
          </a:ln>
        </p:spPr>
        <p:txBody>
          <a:bodyPr wrap="square">
            <a:spAutoFit/>
          </a:bodyPr>
          <a:lstStyle/>
          <a:p>
            <a:pPr marL="271463" indent="-271463" defTabSz="914400">
              <a:lnSpc>
                <a:spcPct val="150000"/>
              </a:lnSpc>
              <a:buFont typeface="Wingdings" pitchFamily="2" charset="2"/>
              <a:buChar char="l"/>
            </a:pPr>
            <a:r>
              <a:rPr lang="zh-CN" altLang="en-US" sz="2800" b="1" dirty="0">
                <a:latin typeface="Times New Roman" pitchFamily="18" charset="0"/>
                <a:ea typeface="微软雅黑" pitchFamily="34" charset="-122"/>
                <a:cs typeface="Times New Roman" pitchFamily="18" charset="0"/>
              </a:rPr>
              <a:t> 用于家电中电视机的彩色调整、商品颜色及代码的读取等，它是非常有发展前途的一种新型半导体光电器件</a:t>
            </a:r>
            <a:r>
              <a:rPr lang="en-US" altLang="zh-CN" sz="2800" dirty="0">
                <a:latin typeface="Times New Roman" pitchFamily="18" charset="0"/>
                <a:ea typeface="微软雅黑" pitchFamily="34" charset="-122"/>
                <a:cs typeface="Times New Roman" pitchFamily="18" charset="0"/>
              </a:rPr>
              <a:t>.</a:t>
            </a:r>
            <a:endParaRPr lang="zh-CN" altLang="en-US" sz="2800" b="1" dirty="0">
              <a:latin typeface="Times New Roman" pitchFamily="18" charset="0"/>
              <a:ea typeface="微软雅黑" pitchFamily="34" charset="-122"/>
              <a:cs typeface="Times New Roman" pitchFamily="18" charset="0"/>
            </a:endParaRPr>
          </a:p>
        </p:txBody>
      </p:sp>
      <p:grpSp>
        <p:nvGrpSpPr>
          <p:cNvPr id="15" name="组合 14">
            <a:extLst>
              <a:ext uri="{FF2B5EF4-FFF2-40B4-BE49-F238E27FC236}">
                <a16:creationId xmlns:a16="http://schemas.microsoft.com/office/drawing/2014/main" xmlns="" id="{D5F6CE6B-81C6-405C-B754-99D6B800FFA0}"/>
              </a:ext>
            </a:extLst>
          </p:cNvPr>
          <p:cNvGrpSpPr/>
          <p:nvPr/>
        </p:nvGrpSpPr>
        <p:grpSpPr>
          <a:xfrm>
            <a:off x="0" y="293282"/>
            <a:ext cx="13161246" cy="7421968"/>
            <a:chOff x="0" y="293282"/>
            <a:chExt cx="13161246" cy="7421968"/>
          </a:xfrm>
        </p:grpSpPr>
        <p:sp>
          <p:nvSpPr>
            <p:cNvPr id="16" name="文本框 60">
              <a:extLst>
                <a:ext uri="{FF2B5EF4-FFF2-40B4-BE49-F238E27FC236}">
                  <a16:creationId xmlns:a16="http://schemas.microsoft.com/office/drawing/2014/main" xmlns="" id="{895A29C0-A672-48AE-B330-D97E361ABB12}"/>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色敏探测器应用</a:t>
              </a:r>
            </a:p>
          </p:txBody>
        </p:sp>
        <p:sp>
          <p:nvSpPr>
            <p:cNvPr id="17" name="矩形 16">
              <a:extLst>
                <a:ext uri="{FF2B5EF4-FFF2-40B4-BE49-F238E27FC236}">
                  <a16:creationId xmlns:a16="http://schemas.microsoft.com/office/drawing/2014/main" xmlns="" id="{8A077B76-DA74-4A4F-8948-969DFD87E55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2DDAC777-8732-49BC-8DE2-7E8C42F50FE6}"/>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xmlns="" id="{EF32827F-8FCD-479C-988E-8F347DCE7CED}"/>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6" name="直接连接符 58">
              <a:extLst>
                <a:ext uri="{FF2B5EF4-FFF2-40B4-BE49-F238E27FC236}">
                  <a16:creationId xmlns:a16="http://schemas.microsoft.com/office/drawing/2014/main" xmlns="" id="{66B3FF1E-5DC3-41F7-B2A1-7F6F4A83B8C4}"/>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xmlns="" id="{99767890-1E20-4F81-A0A0-39DED03DEB1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8" name="矩形 27">
              <a:extLst>
                <a:ext uri="{FF2B5EF4-FFF2-40B4-BE49-F238E27FC236}">
                  <a16:creationId xmlns:a16="http://schemas.microsoft.com/office/drawing/2014/main" xmlns="" id="{74453830-EEBA-4EF6-8D8F-1920277C397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220365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ox(i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ox(i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ox(in)">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ox(in)">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8" name="TextBox 1"/>
          <p:cNvSpPr txBox="1">
            <a:spLocks noChangeArrowheads="1"/>
          </p:cNvSpPr>
          <p:nvPr/>
        </p:nvSpPr>
        <p:spPr bwMode="auto">
          <a:xfrm>
            <a:off x="3687628" y="1134268"/>
            <a:ext cx="5511800" cy="584775"/>
          </a:xfrm>
          <a:prstGeom prst="rect">
            <a:avLst/>
          </a:prstGeom>
          <a:noFill/>
          <a:ln w="9525">
            <a:noFill/>
            <a:miter lim="800000"/>
            <a:headEnd/>
            <a:tailEnd/>
          </a:ln>
        </p:spPr>
        <p:txBody>
          <a:bodyPr>
            <a:spAutoFit/>
          </a:bodyPr>
          <a:lstStyle/>
          <a:p>
            <a:pPr defTabSz="914400"/>
            <a:r>
              <a:rPr lang="en-US" altLang="zh-CN" sz="3200" b="1" dirty="0">
                <a:solidFill>
                  <a:srgbClr val="0000CC"/>
                </a:solidFill>
                <a:latin typeface="微软雅黑" pitchFamily="34" charset="-122"/>
                <a:ea typeface="微软雅黑" pitchFamily="34" charset="-122"/>
              </a:rPr>
              <a:t>1. </a:t>
            </a:r>
            <a:r>
              <a:rPr lang="zh-CN" altLang="en-US" sz="3200" b="1" dirty="0">
                <a:solidFill>
                  <a:srgbClr val="0000CC"/>
                </a:solidFill>
                <a:latin typeface="微软雅黑" pitchFamily="34" charset="-122"/>
                <a:ea typeface="微软雅黑" pitchFamily="34" charset="-122"/>
              </a:rPr>
              <a:t>测量、控制光源的色温度</a:t>
            </a:r>
          </a:p>
        </p:txBody>
      </p:sp>
      <p:sp>
        <p:nvSpPr>
          <p:cNvPr id="35849" name="TextBox 2"/>
          <p:cNvSpPr txBox="1">
            <a:spLocks noChangeArrowheads="1"/>
          </p:cNvSpPr>
          <p:nvPr/>
        </p:nvSpPr>
        <p:spPr bwMode="auto">
          <a:xfrm>
            <a:off x="832390" y="1988294"/>
            <a:ext cx="5975873" cy="1308884"/>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微软雅黑" pitchFamily="34" charset="-122"/>
                <a:ea typeface="微软雅黑" pitchFamily="34" charset="-122"/>
              </a:rPr>
              <a:t>图</a:t>
            </a:r>
            <a:r>
              <a:rPr lang="en-US" altLang="zh-CN" sz="2800" b="1" dirty="0">
                <a:latin typeface="微软雅黑" pitchFamily="34" charset="-122"/>
                <a:ea typeface="微软雅黑" pitchFamily="34" charset="-122"/>
              </a:rPr>
              <a:t>5-68</a:t>
            </a:r>
            <a:r>
              <a:rPr lang="zh-CN" altLang="en-US" sz="2800" b="1" dirty="0">
                <a:latin typeface="微软雅黑" pitchFamily="34" charset="-122"/>
                <a:ea typeface="微软雅黑" pitchFamily="34" charset="-122"/>
              </a:rPr>
              <a:t>是一个测量、控制光源的色温度的典型电路。</a:t>
            </a:r>
          </a:p>
        </p:txBody>
      </p:sp>
      <p:sp>
        <p:nvSpPr>
          <p:cNvPr id="35850" name="TextBox 3"/>
          <p:cNvSpPr txBox="1">
            <a:spLocks noChangeArrowheads="1"/>
          </p:cNvSpPr>
          <p:nvPr/>
        </p:nvSpPr>
        <p:spPr bwMode="auto">
          <a:xfrm>
            <a:off x="716756" y="3573023"/>
            <a:ext cx="11906654" cy="2031325"/>
          </a:xfrm>
          <a:prstGeom prst="rect">
            <a:avLst/>
          </a:prstGeom>
          <a:noFill/>
          <a:ln w="9525">
            <a:noFill/>
            <a:miter lim="800000"/>
            <a:headEnd/>
            <a:tailEnd/>
          </a:ln>
        </p:spPr>
        <p:txBody>
          <a:bodyPr wrap="square">
            <a:spAutoFit/>
          </a:bodyPr>
          <a:lstStyle/>
          <a:p>
            <a:pPr defTabSz="914400">
              <a:lnSpc>
                <a:spcPct val="150000"/>
              </a:lnSpc>
            </a:pPr>
            <a:r>
              <a:rPr lang="zh-CN" altLang="en-US" sz="2800" b="1" dirty="0">
                <a:solidFill>
                  <a:srgbClr val="FF0000"/>
                </a:solidFill>
                <a:latin typeface="微软雅黑" pitchFamily="34" charset="-122"/>
                <a:ea typeface="微软雅黑" pitchFamily="34" charset="-122"/>
              </a:rPr>
              <a:t>光源的发光受灯电压控制电路控制</a:t>
            </a:r>
            <a:r>
              <a:rPr lang="zh-CN" altLang="en-US" sz="2800" b="1" dirty="0">
                <a:latin typeface="微软雅黑" pitchFamily="34" charset="-122"/>
                <a:ea typeface="微软雅黑" pitchFamily="34" charset="-122"/>
              </a:rPr>
              <a:t>，将光源的一部分光输入给半导体色敏传感器，经图所示电路进行信号处理后得到输出电压，再将该输出电压反馈给灯压控制电路。</a:t>
            </a:r>
          </a:p>
        </p:txBody>
      </p:sp>
      <p:sp>
        <p:nvSpPr>
          <p:cNvPr id="35851" name="TextBox 4"/>
          <p:cNvSpPr txBox="1">
            <a:spLocks noChangeArrowheads="1"/>
          </p:cNvSpPr>
          <p:nvPr/>
        </p:nvSpPr>
        <p:spPr bwMode="auto">
          <a:xfrm>
            <a:off x="881062" y="5616575"/>
            <a:ext cx="11473065" cy="1308884"/>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微软雅黑" pitchFamily="34" charset="-122"/>
                <a:ea typeface="微软雅黑" pitchFamily="34" charset="-122"/>
              </a:rPr>
              <a:t>采用这种方式，可通过把半导体色敏传感器的输出电压保持在一个给定值上，使光源色温度的规定值维持不变。</a:t>
            </a:r>
          </a:p>
        </p:txBody>
      </p:sp>
      <p:graphicFrame>
        <p:nvGraphicFramePr>
          <p:cNvPr id="35852" name="Object 2"/>
          <p:cNvGraphicFramePr>
            <a:graphicFrameLocks noChangeAspect="1"/>
          </p:cNvGraphicFramePr>
          <p:nvPr>
            <p:extLst>
              <p:ext uri="{D42A27DB-BD31-4B8C-83A1-F6EECF244321}">
                <p14:modId xmlns:p14="http://schemas.microsoft.com/office/powerpoint/2010/main" val="3440930755"/>
              </p:ext>
            </p:extLst>
          </p:nvPr>
        </p:nvGraphicFramePr>
        <p:xfrm>
          <a:off x="6889750" y="1984375"/>
          <a:ext cx="5175250" cy="1493838"/>
        </p:xfrm>
        <a:graphic>
          <a:graphicData uri="http://schemas.openxmlformats.org/presentationml/2006/ole">
            <mc:AlternateContent xmlns:mc="http://schemas.openxmlformats.org/markup-compatibility/2006">
              <mc:Choice xmlns:v="urn:schemas-microsoft-com:vml" Requires="v">
                <p:oleObj spid="_x0000_s25606" name="Visio" r:id="rId3" imgW="5048330" imgH="1457384" progId="Visio.Drawing.11">
                  <p:embed/>
                </p:oleObj>
              </mc:Choice>
              <mc:Fallback>
                <p:oleObj name="Visio" r:id="rId3" imgW="5048330" imgH="1457384" progId="Visio.Drawing.11">
                  <p:embed/>
                  <p:pic>
                    <p:nvPicPr>
                      <p:cNvPr id="0" name=""/>
                      <p:cNvPicPr>
                        <a:picLocks noChangeAspect="1" noChangeArrowheads="1"/>
                      </p:cNvPicPr>
                      <p:nvPr/>
                    </p:nvPicPr>
                    <p:blipFill>
                      <a:blip r:embed="rId4"/>
                      <a:srcRect/>
                      <a:stretch>
                        <a:fillRect/>
                      </a:stretch>
                    </p:blipFill>
                    <p:spPr bwMode="auto">
                      <a:xfrm>
                        <a:off x="6889750" y="1984375"/>
                        <a:ext cx="5175250" cy="1493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 name="组合 12">
            <a:extLst>
              <a:ext uri="{FF2B5EF4-FFF2-40B4-BE49-F238E27FC236}">
                <a16:creationId xmlns:a16="http://schemas.microsoft.com/office/drawing/2014/main" xmlns="" id="{ADA09DC8-EF41-43F4-9DF3-4E54FE9F7913}"/>
              </a:ext>
            </a:extLst>
          </p:cNvPr>
          <p:cNvGrpSpPr/>
          <p:nvPr/>
        </p:nvGrpSpPr>
        <p:grpSpPr>
          <a:xfrm>
            <a:off x="0" y="293282"/>
            <a:ext cx="13161246" cy="7421968"/>
            <a:chOff x="0" y="293282"/>
            <a:chExt cx="13161246" cy="7421968"/>
          </a:xfrm>
        </p:grpSpPr>
        <p:sp>
          <p:nvSpPr>
            <p:cNvPr id="20" name="文本框 60">
              <a:extLst>
                <a:ext uri="{FF2B5EF4-FFF2-40B4-BE49-F238E27FC236}">
                  <a16:creationId xmlns:a16="http://schemas.microsoft.com/office/drawing/2014/main" xmlns="" id="{C37E29E5-007C-48D7-A499-B15B9E2024E2}"/>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色敏探测器应用</a:t>
              </a:r>
            </a:p>
          </p:txBody>
        </p:sp>
        <p:sp>
          <p:nvSpPr>
            <p:cNvPr id="21" name="矩形 20">
              <a:extLst>
                <a:ext uri="{FF2B5EF4-FFF2-40B4-BE49-F238E27FC236}">
                  <a16:creationId xmlns:a16="http://schemas.microsoft.com/office/drawing/2014/main" xmlns="" id="{DEBBAF8E-A52F-4B63-81F4-8B275F108D86}"/>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xmlns="" id="{6A83082F-0E50-43FF-B019-BC83539EF64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xmlns="" id="{9502C75F-9275-4928-B4A3-6B09C8C9D55C}"/>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4" name="直接连接符 58">
              <a:extLst>
                <a:ext uri="{FF2B5EF4-FFF2-40B4-BE49-F238E27FC236}">
                  <a16:creationId xmlns:a16="http://schemas.microsoft.com/office/drawing/2014/main" xmlns="" id="{2D89BAD8-8590-41DA-9F1E-DD109476856A}"/>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xmlns="" id="{0D3EE2C7-0A69-4446-A20B-321B9D173F3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6" name="矩形 25">
              <a:extLst>
                <a:ext uri="{FF2B5EF4-FFF2-40B4-BE49-F238E27FC236}">
                  <a16:creationId xmlns:a16="http://schemas.microsoft.com/office/drawing/2014/main" xmlns="" id="{1147CAC0-A8BD-4729-BED5-0A9BF0A8E95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404058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5848"/>
                                        </p:tgtEl>
                                        <p:attrNameLst>
                                          <p:attrName>style.visibility</p:attrName>
                                        </p:attrNameLst>
                                      </p:cBhvr>
                                      <p:to>
                                        <p:strVal val="visible"/>
                                      </p:to>
                                    </p:set>
                                    <p:anim calcmode="lin" valueType="num">
                                      <p:cBhvr>
                                        <p:cTn id="7" dur="500" fill="hold"/>
                                        <p:tgtEl>
                                          <p:spTgt spid="35848"/>
                                        </p:tgtEl>
                                        <p:attrNameLst>
                                          <p:attrName>ppt_w</p:attrName>
                                        </p:attrNameLst>
                                      </p:cBhvr>
                                      <p:tavLst>
                                        <p:tav tm="0">
                                          <p:val>
                                            <p:fltVal val="0"/>
                                          </p:val>
                                        </p:tav>
                                        <p:tav tm="100000">
                                          <p:val>
                                            <p:strVal val="#ppt_w"/>
                                          </p:val>
                                        </p:tav>
                                      </p:tavLst>
                                    </p:anim>
                                    <p:anim calcmode="lin" valueType="num">
                                      <p:cBhvr>
                                        <p:cTn id="8" dur="500" fill="hold"/>
                                        <p:tgtEl>
                                          <p:spTgt spid="35848"/>
                                        </p:tgtEl>
                                        <p:attrNameLst>
                                          <p:attrName>ppt_h</p:attrName>
                                        </p:attrNameLst>
                                      </p:cBhvr>
                                      <p:tavLst>
                                        <p:tav tm="0">
                                          <p:val>
                                            <p:fltVal val="0"/>
                                          </p:val>
                                        </p:tav>
                                        <p:tav tm="100000">
                                          <p:val>
                                            <p:strVal val="#ppt_h"/>
                                          </p:val>
                                        </p:tav>
                                      </p:tavLst>
                                    </p:anim>
                                    <p:animEffect transition="in" filter="fade">
                                      <p:cBhvr>
                                        <p:cTn id="9" dur="500"/>
                                        <p:tgtEl>
                                          <p:spTgt spid="3584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5849"/>
                                        </p:tgtEl>
                                        <p:attrNameLst>
                                          <p:attrName>style.visibility</p:attrName>
                                        </p:attrNameLst>
                                      </p:cBhvr>
                                      <p:to>
                                        <p:strVal val="visible"/>
                                      </p:to>
                                    </p:set>
                                    <p:anim calcmode="lin" valueType="num">
                                      <p:cBhvr>
                                        <p:cTn id="14" dur="500" fill="hold"/>
                                        <p:tgtEl>
                                          <p:spTgt spid="35849"/>
                                        </p:tgtEl>
                                        <p:attrNameLst>
                                          <p:attrName>ppt_w</p:attrName>
                                        </p:attrNameLst>
                                      </p:cBhvr>
                                      <p:tavLst>
                                        <p:tav tm="0">
                                          <p:val>
                                            <p:fltVal val="0"/>
                                          </p:val>
                                        </p:tav>
                                        <p:tav tm="100000">
                                          <p:val>
                                            <p:strVal val="#ppt_w"/>
                                          </p:val>
                                        </p:tav>
                                      </p:tavLst>
                                    </p:anim>
                                    <p:anim calcmode="lin" valueType="num">
                                      <p:cBhvr>
                                        <p:cTn id="15" dur="500" fill="hold"/>
                                        <p:tgtEl>
                                          <p:spTgt spid="35849"/>
                                        </p:tgtEl>
                                        <p:attrNameLst>
                                          <p:attrName>ppt_h</p:attrName>
                                        </p:attrNameLst>
                                      </p:cBhvr>
                                      <p:tavLst>
                                        <p:tav tm="0">
                                          <p:val>
                                            <p:fltVal val="0"/>
                                          </p:val>
                                        </p:tav>
                                        <p:tav tm="100000">
                                          <p:val>
                                            <p:strVal val="#ppt_h"/>
                                          </p:val>
                                        </p:tav>
                                      </p:tavLst>
                                    </p:anim>
                                    <p:animEffect transition="in" filter="fade">
                                      <p:cBhvr>
                                        <p:cTn id="16" dur="500"/>
                                        <p:tgtEl>
                                          <p:spTgt spid="3584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5852"/>
                                        </p:tgtEl>
                                        <p:attrNameLst>
                                          <p:attrName>style.visibility</p:attrName>
                                        </p:attrNameLst>
                                      </p:cBhvr>
                                      <p:to>
                                        <p:strVal val="visible"/>
                                      </p:to>
                                    </p:set>
                                    <p:anim calcmode="lin" valueType="num">
                                      <p:cBhvr>
                                        <p:cTn id="21" dur="500" fill="hold"/>
                                        <p:tgtEl>
                                          <p:spTgt spid="35852"/>
                                        </p:tgtEl>
                                        <p:attrNameLst>
                                          <p:attrName>ppt_w</p:attrName>
                                        </p:attrNameLst>
                                      </p:cBhvr>
                                      <p:tavLst>
                                        <p:tav tm="0">
                                          <p:val>
                                            <p:fltVal val="0"/>
                                          </p:val>
                                        </p:tav>
                                        <p:tav tm="100000">
                                          <p:val>
                                            <p:strVal val="#ppt_w"/>
                                          </p:val>
                                        </p:tav>
                                      </p:tavLst>
                                    </p:anim>
                                    <p:anim calcmode="lin" valueType="num">
                                      <p:cBhvr>
                                        <p:cTn id="22" dur="500" fill="hold"/>
                                        <p:tgtEl>
                                          <p:spTgt spid="35852"/>
                                        </p:tgtEl>
                                        <p:attrNameLst>
                                          <p:attrName>ppt_h</p:attrName>
                                        </p:attrNameLst>
                                      </p:cBhvr>
                                      <p:tavLst>
                                        <p:tav tm="0">
                                          <p:val>
                                            <p:fltVal val="0"/>
                                          </p:val>
                                        </p:tav>
                                        <p:tav tm="100000">
                                          <p:val>
                                            <p:strVal val="#ppt_h"/>
                                          </p:val>
                                        </p:tav>
                                      </p:tavLst>
                                    </p:anim>
                                    <p:animEffect transition="in" filter="fade">
                                      <p:cBhvr>
                                        <p:cTn id="23" dur="500"/>
                                        <p:tgtEl>
                                          <p:spTgt spid="3585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5850"/>
                                        </p:tgtEl>
                                        <p:attrNameLst>
                                          <p:attrName>style.visibility</p:attrName>
                                        </p:attrNameLst>
                                      </p:cBhvr>
                                      <p:to>
                                        <p:strVal val="visible"/>
                                      </p:to>
                                    </p:set>
                                    <p:anim calcmode="lin" valueType="num">
                                      <p:cBhvr>
                                        <p:cTn id="28" dur="500" fill="hold"/>
                                        <p:tgtEl>
                                          <p:spTgt spid="35850"/>
                                        </p:tgtEl>
                                        <p:attrNameLst>
                                          <p:attrName>ppt_w</p:attrName>
                                        </p:attrNameLst>
                                      </p:cBhvr>
                                      <p:tavLst>
                                        <p:tav tm="0">
                                          <p:val>
                                            <p:fltVal val="0"/>
                                          </p:val>
                                        </p:tav>
                                        <p:tav tm="100000">
                                          <p:val>
                                            <p:strVal val="#ppt_w"/>
                                          </p:val>
                                        </p:tav>
                                      </p:tavLst>
                                    </p:anim>
                                    <p:anim calcmode="lin" valueType="num">
                                      <p:cBhvr>
                                        <p:cTn id="29" dur="500" fill="hold"/>
                                        <p:tgtEl>
                                          <p:spTgt spid="35850"/>
                                        </p:tgtEl>
                                        <p:attrNameLst>
                                          <p:attrName>ppt_h</p:attrName>
                                        </p:attrNameLst>
                                      </p:cBhvr>
                                      <p:tavLst>
                                        <p:tav tm="0">
                                          <p:val>
                                            <p:fltVal val="0"/>
                                          </p:val>
                                        </p:tav>
                                        <p:tav tm="100000">
                                          <p:val>
                                            <p:strVal val="#ppt_h"/>
                                          </p:val>
                                        </p:tav>
                                      </p:tavLst>
                                    </p:anim>
                                    <p:animEffect transition="in" filter="fade">
                                      <p:cBhvr>
                                        <p:cTn id="30" dur="500"/>
                                        <p:tgtEl>
                                          <p:spTgt spid="35850"/>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5851"/>
                                        </p:tgtEl>
                                        <p:attrNameLst>
                                          <p:attrName>style.visibility</p:attrName>
                                        </p:attrNameLst>
                                      </p:cBhvr>
                                      <p:to>
                                        <p:strVal val="visible"/>
                                      </p:to>
                                    </p:set>
                                    <p:anim calcmode="lin" valueType="num">
                                      <p:cBhvr>
                                        <p:cTn id="35" dur="500" fill="hold"/>
                                        <p:tgtEl>
                                          <p:spTgt spid="35851"/>
                                        </p:tgtEl>
                                        <p:attrNameLst>
                                          <p:attrName>ppt_w</p:attrName>
                                        </p:attrNameLst>
                                      </p:cBhvr>
                                      <p:tavLst>
                                        <p:tav tm="0">
                                          <p:val>
                                            <p:fltVal val="0"/>
                                          </p:val>
                                        </p:tav>
                                        <p:tav tm="100000">
                                          <p:val>
                                            <p:strVal val="#ppt_w"/>
                                          </p:val>
                                        </p:tav>
                                      </p:tavLst>
                                    </p:anim>
                                    <p:anim calcmode="lin" valueType="num">
                                      <p:cBhvr>
                                        <p:cTn id="36" dur="500" fill="hold"/>
                                        <p:tgtEl>
                                          <p:spTgt spid="35851"/>
                                        </p:tgtEl>
                                        <p:attrNameLst>
                                          <p:attrName>ppt_h</p:attrName>
                                        </p:attrNameLst>
                                      </p:cBhvr>
                                      <p:tavLst>
                                        <p:tav tm="0">
                                          <p:val>
                                            <p:fltVal val="0"/>
                                          </p:val>
                                        </p:tav>
                                        <p:tav tm="100000">
                                          <p:val>
                                            <p:strVal val="#ppt_h"/>
                                          </p:val>
                                        </p:tav>
                                      </p:tavLst>
                                    </p:anim>
                                    <p:animEffect transition="in" filter="fade">
                                      <p:cBhvr>
                                        <p:cTn id="37" dur="500"/>
                                        <p:tgtEl>
                                          <p:spTgt spid="35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8" grpId="0"/>
      <p:bldP spid="35849" grpId="0"/>
      <p:bldP spid="35850" grpId="0"/>
      <p:bldP spid="358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2" name="TextBox 1"/>
          <p:cNvSpPr txBox="1">
            <a:spLocks noChangeArrowheads="1"/>
          </p:cNvSpPr>
          <p:nvPr/>
        </p:nvSpPr>
        <p:spPr bwMode="auto">
          <a:xfrm>
            <a:off x="4050675" y="1193935"/>
            <a:ext cx="4178300" cy="579438"/>
          </a:xfrm>
          <a:prstGeom prst="rect">
            <a:avLst/>
          </a:prstGeom>
          <a:noFill/>
          <a:ln w="9525">
            <a:noFill/>
            <a:miter lim="800000"/>
            <a:headEnd/>
            <a:tailEnd/>
          </a:ln>
        </p:spPr>
        <p:txBody>
          <a:bodyPr>
            <a:spAutoFit/>
          </a:bodyPr>
          <a:lstStyle/>
          <a:p>
            <a:pPr defTabSz="914400"/>
            <a:r>
              <a:rPr lang="en-US" altLang="zh-CN" sz="3200" b="1" dirty="0">
                <a:solidFill>
                  <a:srgbClr val="0000CC"/>
                </a:solidFill>
                <a:latin typeface="Times New Roman" pitchFamily="18" charset="0"/>
                <a:ea typeface="微软雅黑" pitchFamily="34" charset="-122"/>
                <a:cs typeface="Times New Roman" pitchFamily="18" charset="0"/>
              </a:rPr>
              <a:t>2. </a:t>
            </a:r>
            <a:r>
              <a:rPr lang="zh-CN" altLang="en-US" sz="3200" b="1" dirty="0">
                <a:solidFill>
                  <a:srgbClr val="0000CC"/>
                </a:solidFill>
                <a:latin typeface="Times New Roman" pitchFamily="18" charset="0"/>
                <a:ea typeface="微软雅黑" pitchFamily="34" charset="-122"/>
                <a:cs typeface="Times New Roman" pitchFamily="18" charset="0"/>
              </a:rPr>
              <a:t>识别彩色纸的颜色</a:t>
            </a:r>
          </a:p>
        </p:txBody>
      </p:sp>
      <p:sp>
        <p:nvSpPr>
          <p:cNvPr id="36873" name="TextBox 2"/>
          <p:cNvSpPr txBox="1">
            <a:spLocks noChangeArrowheads="1"/>
          </p:cNvSpPr>
          <p:nvPr/>
        </p:nvSpPr>
        <p:spPr bwMode="auto">
          <a:xfrm>
            <a:off x="716756" y="2544796"/>
            <a:ext cx="7512219" cy="1384995"/>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先把光源照射到纸上，再将其反射光入射到半导体色敏探测器上，就能够识别出纸的颜色。</a:t>
            </a:r>
          </a:p>
        </p:txBody>
      </p:sp>
      <p:sp>
        <p:nvSpPr>
          <p:cNvPr id="36874" name="TextBox 3"/>
          <p:cNvSpPr txBox="1">
            <a:spLocks noChangeArrowheads="1"/>
          </p:cNvSpPr>
          <p:nvPr/>
        </p:nvSpPr>
        <p:spPr bwMode="auto">
          <a:xfrm>
            <a:off x="716756" y="4924425"/>
            <a:ext cx="12201576" cy="2031325"/>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图</a:t>
            </a:r>
            <a:r>
              <a:rPr lang="en-US" altLang="zh-CN" sz="2800" b="1" dirty="0">
                <a:latin typeface="Times New Roman" pitchFamily="18" charset="0"/>
                <a:ea typeface="微软雅黑" pitchFamily="34" charset="-122"/>
                <a:cs typeface="Times New Roman" pitchFamily="18" charset="0"/>
              </a:rPr>
              <a:t>5-69,</a:t>
            </a:r>
            <a:r>
              <a:rPr lang="zh-CN" altLang="en-US" sz="2800" b="1" dirty="0">
                <a:latin typeface="Times New Roman" pitchFamily="18" charset="0"/>
                <a:ea typeface="微软雅黑" pitchFamily="34" charset="-122"/>
                <a:cs typeface="Times New Roman" pitchFamily="18" charset="0"/>
              </a:rPr>
              <a:t>半导体色敏探测器上的入射光是随着光源固有频谱分析和被测物体（纸）的各种固有波长的反射系数而定。因此需要注意半导体色敏探测器的输出电压是依光源的种类、纸（颜色）的种类而变化的。</a:t>
            </a:r>
          </a:p>
        </p:txBody>
      </p:sp>
      <p:graphicFrame>
        <p:nvGraphicFramePr>
          <p:cNvPr id="36875" name="Object 2"/>
          <p:cNvGraphicFramePr>
            <a:graphicFrameLocks noChangeAspect="1"/>
          </p:cNvGraphicFramePr>
          <p:nvPr>
            <p:extLst>
              <p:ext uri="{D42A27DB-BD31-4B8C-83A1-F6EECF244321}">
                <p14:modId xmlns:p14="http://schemas.microsoft.com/office/powerpoint/2010/main" val="2885144571"/>
              </p:ext>
            </p:extLst>
          </p:nvPr>
        </p:nvGraphicFramePr>
        <p:xfrm>
          <a:off x="8391525" y="1784350"/>
          <a:ext cx="3849688" cy="3046413"/>
        </p:xfrm>
        <a:graphic>
          <a:graphicData uri="http://schemas.openxmlformats.org/presentationml/2006/ole">
            <mc:AlternateContent xmlns:mc="http://schemas.openxmlformats.org/markup-compatibility/2006">
              <mc:Choice xmlns:v="urn:schemas-microsoft-com:vml" Requires="v">
                <p:oleObj spid="_x0000_s26630" name="Visio" r:id="rId3" imgW="2790938" imgH="2209774" progId="Visio.Drawing.11">
                  <p:embed/>
                </p:oleObj>
              </mc:Choice>
              <mc:Fallback>
                <p:oleObj name="Visio" r:id="rId3" imgW="2790938" imgH="2209774" progId="Visio.Drawing.11">
                  <p:embed/>
                  <p:pic>
                    <p:nvPicPr>
                      <p:cNvPr id="0" name=""/>
                      <p:cNvPicPr>
                        <a:picLocks noChangeAspect="1" noChangeArrowheads="1"/>
                      </p:cNvPicPr>
                      <p:nvPr/>
                    </p:nvPicPr>
                    <p:blipFill>
                      <a:blip r:embed="rId4"/>
                      <a:srcRect/>
                      <a:stretch>
                        <a:fillRect/>
                      </a:stretch>
                    </p:blipFill>
                    <p:spPr bwMode="auto">
                      <a:xfrm>
                        <a:off x="8391525" y="1784350"/>
                        <a:ext cx="3849688" cy="3046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组合 11">
            <a:extLst>
              <a:ext uri="{FF2B5EF4-FFF2-40B4-BE49-F238E27FC236}">
                <a16:creationId xmlns:a16="http://schemas.microsoft.com/office/drawing/2014/main" xmlns="" id="{63A00CD3-6E2C-45F4-8DF7-08A42EB3E102}"/>
              </a:ext>
            </a:extLst>
          </p:cNvPr>
          <p:cNvGrpSpPr/>
          <p:nvPr/>
        </p:nvGrpSpPr>
        <p:grpSpPr>
          <a:xfrm>
            <a:off x="0" y="293282"/>
            <a:ext cx="13161246" cy="7421968"/>
            <a:chOff x="0" y="293282"/>
            <a:chExt cx="13161246" cy="7421968"/>
          </a:xfrm>
        </p:grpSpPr>
        <p:sp>
          <p:nvSpPr>
            <p:cNvPr id="19" name="文本框 60">
              <a:extLst>
                <a:ext uri="{FF2B5EF4-FFF2-40B4-BE49-F238E27FC236}">
                  <a16:creationId xmlns:a16="http://schemas.microsoft.com/office/drawing/2014/main" xmlns="" id="{36F081B5-FB29-4A7B-877C-DB1CA3BAAAEA}"/>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色敏探测器应用</a:t>
              </a:r>
            </a:p>
          </p:txBody>
        </p:sp>
        <p:sp>
          <p:nvSpPr>
            <p:cNvPr id="20" name="矩形 19">
              <a:extLst>
                <a:ext uri="{FF2B5EF4-FFF2-40B4-BE49-F238E27FC236}">
                  <a16:creationId xmlns:a16="http://schemas.microsoft.com/office/drawing/2014/main" xmlns="" id="{878824F1-A501-4825-9A81-4E2863C9A21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xmlns="" id="{15B6EA04-C8F3-4144-9AB1-C119C2BD921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xmlns="" id="{D2479D6B-1419-43DF-8583-D309F6481AED}"/>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xmlns="" id="{B6C9EED8-151A-4D66-9A5E-DFF29E0180D5}"/>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xmlns="" id="{B1302653-B94B-40E3-AD49-E110908718E8}"/>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xmlns="" id="{F77734F2-ED98-4059-A605-CEF66020BA6B}"/>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295260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6872"/>
                                        </p:tgtEl>
                                        <p:attrNameLst>
                                          <p:attrName>style.visibility</p:attrName>
                                        </p:attrNameLst>
                                      </p:cBhvr>
                                      <p:to>
                                        <p:strVal val="visible"/>
                                      </p:to>
                                    </p:set>
                                    <p:anim calcmode="lin" valueType="num">
                                      <p:cBhvr>
                                        <p:cTn id="7" dur="500" fill="hold"/>
                                        <p:tgtEl>
                                          <p:spTgt spid="36872"/>
                                        </p:tgtEl>
                                        <p:attrNameLst>
                                          <p:attrName>ppt_w</p:attrName>
                                        </p:attrNameLst>
                                      </p:cBhvr>
                                      <p:tavLst>
                                        <p:tav tm="0">
                                          <p:val>
                                            <p:fltVal val="0"/>
                                          </p:val>
                                        </p:tav>
                                        <p:tav tm="100000">
                                          <p:val>
                                            <p:strVal val="#ppt_w"/>
                                          </p:val>
                                        </p:tav>
                                      </p:tavLst>
                                    </p:anim>
                                    <p:anim calcmode="lin" valueType="num">
                                      <p:cBhvr>
                                        <p:cTn id="8" dur="500" fill="hold"/>
                                        <p:tgtEl>
                                          <p:spTgt spid="36872"/>
                                        </p:tgtEl>
                                        <p:attrNameLst>
                                          <p:attrName>ppt_h</p:attrName>
                                        </p:attrNameLst>
                                      </p:cBhvr>
                                      <p:tavLst>
                                        <p:tav tm="0">
                                          <p:val>
                                            <p:fltVal val="0"/>
                                          </p:val>
                                        </p:tav>
                                        <p:tav tm="100000">
                                          <p:val>
                                            <p:strVal val="#ppt_h"/>
                                          </p:val>
                                        </p:tav>
                                      </p:tavLst>
                                    </p:anim>
                                    <p:animEffect transition="in" filter="fade">
                                      <p:cBhvr>
                                        <p:cTn id="9" dur="500"/>
                                        <p:tgtEl>
                                          <p:spTgt spid="3687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6873"/>
                                        </p:tgtEl>
                                        <p:attrNameLst>
                                          <p:attrName>style.visibility</p:attrName>
                                        </p:attrNameLst>
                                      </p:cBhvr>
                                      <p:to>
                                        <p:strVal val="visible"/>
                                      </p:to>
                                    </p:set>
                                    <p:anim calcmode="lin" valueType="num">
                                      <p:cBhvr>
                                        <p:cTn id="14" dur="500" fill="hold"/>
                                        <p:tgtEl>
                                          <p:spTgt spid="36873"/>
                                        </p:tgtEl>
                                        <p:attrNameLst>
                                          <p:attrName>ppt_w</p:attrName>
                                        </p:attrNameLst>
                                      </p:cBhvr>
                                      <p:tavLst>
                                        <p:tav tm="0">
                                          <p:val>
                                            <p:fltVal val="0"/>
                                          </p:val>
                                        </p:tav>
                                        <p:tav tm="100000">
                                          <p:val>
                                            <p:strVal val="#ppt_w"/>
                                          </p:val>
                                        </p:tav>
                                      </p:tavLst>
                                    </p:anim>
                                    <p:anim calcmode="lin" valueType="num">
                                      <p:cBhvr>
                                        <p:cTn id="15" dur="500" fill="hold"/>
                                        <p:tgtEl>
                                          <p:spTgt spid="36873"/>
                                        </p:tgtEl>
                                        <p:attrNameLst>
                                          <p:attrName>ppt_h</p:attrName>
                                        </p:attrNameLst>
                                      </p:cBhvr>
                                      <p:tavLst>
                                        <p:tav tm="0">
                                          <p:val>
                                            <p:fltVal val="0"/>
                                          </p:val>
                                        </p:tav>
                                        <p:tav tm="100000">
                                          <p:val>
                                            <p:strVal val="#ppt_h"/>
                                          </p:val>
                                        </p:tav>
                                      </p:tavLst>
                                    </p:anim>
                                    <p:animEffect transition="in" filter="fade">
                                      <p:cBhvr>
                                        <p:cTn id="16" dur="500"/>
                                        <p:tgtEl>
                                          <p:spTgt spid="3687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6875"/>
                                        </p:tgtEl>
                                        <p:attrNameLst>
                                          <p:attrName>style.visibility</p:attrName>
                                        </p:attrNameLst>
                                      </p:cBhvr>
                                      <p:to>
                                        <p:strVal val="visible"/>
                                      </p:to>
                                    </p:set>
                                    <p:anim calcmode="lin" valueType="num">
                                      <p:cBhvr>
                                        <p:cTn id="21" dur="500" fill="hold"/>
                                        <p:tgtEl>
                                          <p:spTgt spid="36875"/>
                                        </p:tgtEl>
                                        <p:attrNameLst>
                                          <p:attrName>ppt_w</p:attrName>
                                        </p:attrNameLst>
                                      </p:cBhvr>
                                      <p:tavLst>
                                        <p:tav tm="0">
                                          <p:val>
                                            <p:fltVal val="0"/>
                                          </p:val>
                                        </p:tav>
                                        <p:tav tm="100000">
                                          <p:val>
                                            <p:strVal val="#ppt_w"/>
                                          </p:val>
                                        </p:tav>
                                      </p:tavLst>
                                    </p:anim>
                                    <p:anim calcmode="lin" valueType="num">
                                      <p:cBhvr>
                                        <p:cTn id="22" dur="500" fill="hold"/>
                                        <p:tgtEl>
                                          <p:spTgt spid="36875"/>
                                        </p:tgtEl>
                                        <p:attrNameLst>
                                          <p:attrName>ppt_h</p:attrName>
                                        </p:attrNameLst>
                                      </p:cBhvr>
                                      <p:tavLst>
                                        <p:tav tm="0">
                                          <p:val>
                                            <p:fltVal val="0"/>
                                          </p:val>
                                        </p:tav>
                                        <p:tav tm="100000">
                                          <p:val>
                                            <p:strVal val="#ppt_h"/>
                                          </p:val>
                                        </p:tav>
                                      </p:tavLst>
                                    </p:anim>
                                    <p:animEffect transition="in" filter="fade">
                                      <p:cBhvr>
                                        <p:cTn id="23" dur="500"/>
                                        <p:tgtEl>
                                          <p:spTgt spid="36875"/>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6874"/>
                                        </p:tgtEl>
                                        <p:attrNameLst>
                                          <p:attrName>style.visibility</p:attrName>
                                        </p:attrNameLst>
                                      </p:cBhvr>
                                      <p:to>
                                        <p:strVal val="visible"/>
                                      </p:to>
                                    </p:set>
                                    <p:anim calcmode="lin" valueType="num">
                                      <p:cBhvr>
                                        <p:cTn id="28" dur="500" fill="hold"/>
                                        <p:tgtEl>
                                          <p:spTgt spid="36874"/>
                                        </p:tgtEl>
                                        <p:attrNameLst>
                                          <p:attrName>ppt_w</p:attrName>
                                        </p:attrNameLst>
                                      </p:cBhvr>
                                      <p:tavLst>
                                        <p:tav tm="0">
                                          <p:val>
                                            <p:fltVal val="0"/>
                                          </p:val>
                                        </p:tav>
                                        <p:tav tm="100000">
                                          <p:val>
                                            <p:strVal val="#ppt_w"/>
                                          </p:val>
                                        </p:tav>
                                      </p:tavLst>
                                    </p:anim>
                                    <p:anim calcmode="lin" valueType="num">
                                      <p:cBhvr>
                                        <p:cTn id="29" dur="500" fill="hold"/>
                                        <p:tgtEl>
                                          <p:spTgt spid="36874"/>
                                        </p:tgtEl>
                                        <p:attrNameLst>
                                          <p:attrName>ppt_h</p:attrName>
                                        </p:attrNameLst>
                                      </p:cBhvr>
                                      <p:tavLst>
                                        <p:tav tm="0">
                                          <p:val>
                                            <p:fltVal val="0"/>
                                          </p:val>
                                        </p:tav>
                                        <p:tav tm="100000">
                                          <p:val>
                                            <p:strVal val="#ppt_h"/>
                                          </p:val>
                                        </p:tav>
                                      </p:tavLst>
                                    </p:anim>
                                    <p:animEffect transition="in" filter="fade">
                                      <p:cBhvr>
                                        <p:cTn id="30" dur="500"/>
                                        <p:tgtEl>
                                          <p:spTgt spid="36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2" grpId="0"/>
      <p:bldP spid="36873" grpId="0"/>
      <p:bldP spid="3687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6" name="TextBox 1"/>
          <p:cNvSpPr txBox="1">
            <a:spLocks noChangeArrowheads="1"/>
          </p:cNvSpPr>
          <p:nvPr/>
        </p:nvSpPr>
        <p:spPr bwMode="auto">
          <a:xfrm>
            <a:off x="3789480" y="1303000"/>
            <a:ext cx="4711700" cy="579438"/>
          </a:xfrm>
          <a:prstGeom prst="rect">
            <a:avLst/>
          </a:prstGeom>
          <a:noFill/>
          <a:ln w="9525">
            <a:noFill/>
            <a:miter lim="800000"/>
            <a:headEnd/>
            <a:tailEnd/>
          </a:ln>
        </p:spPr>
        <p:txBody>
          <a:bodyPr>
            <a:spAutoFit/>
          </a:bodyPr>
          <a:lstStyle/>
          <a:p>
            <a:pPr defTabSz="914400"/>
            <a:r>
              <a:rPr lang="en-US" altLang="zh-CN" sz="3200" b="1" dirty="0">
                <a:solidFill>
                  <a:srgbClr val="0000CC"/>
                </a:solidFill>
                <a:latin typeface="微软雅黑" pitchFamily="34" charset="-122"/>
                <a:ea typeface="微软雅黑" pitchFamily="34" charset="-122"/>
              </a:rPr>
              <a:t>3 </a:t>
            </a:r>
            <a:r>
              <a:rPr lang="zh-CN" altLang="en-US" sz="3200" b="1" dirty="0">
                <a:solidFill>
                  <a:srgbClr val="0000CC"/>
                </a:solidFill>
                <a:latin typeface="微软雅黑" pitchFamily="34" charset="-122"/>
                <a:ea typeface="微软雅黑" pitchFamily="34" charset="-122"/>
              </a:rPr>
              <a:t>在工业控制方面的应用</a:t>
            </a:r>
          </a:p>
        </p:txBody>
      </p:sp>
      <p:sp>
        <p:nvSpPr>
          <p:cNvPr id="37897" name="TextBox 2"/>
          <p:cNvSpPr txBox="1">
            <a:spLocks noChangeArrowheads="1"/>
          </p:cNvSpPr>
          <p:nvPr/>
        </p:nvSpPr>
        <p:spPr bwMode="auto">
          <a:xfrm>
            <a:off x="622300" y="2406920"/>
            <a:ext cx="8443879" cy="2031325"/>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微软雅黑" pitchFamily="34" charset="-122"/>
                <a:ea typeface="微软雅黑" pitchFamily="34" charset="-122"/>
              </a:rPr>
              <a:t>      图瓷砖色彩区分装置，工控机控制色敏探测器对经过色敏探测器下方的瓷砖的表面颜色信号进行接收，且将接收到的表面颜色信号发送给工控机；</a:t>
            </a:r>
          </a:p>
        </p:txBody>
      </p:sp>
      <p:graphicFrame>
        <p:nvGraphicFramePr>
          <p:cNvPr id="37898" name="Object 2"/>
          <p:cNvGraphicFramePr>
            <a:graphicFrameLocks noChangeAspect="1"/>
          </p:cNvGraphicFramePr>
          <p:nvPr>
            <p:extLst>
              <p:ext uri="{D42A27DB-BD31-4B8C-83A1-F6EECF244321}">
                <p14:modId xmlns:p14="http://schemas.microsoft.com/office/powerpoint/2010/main" val="414998288"/>
              </p:ext>
            </p:extLst>
          </p:nvPr>
        </p:nvGraphicFramePr>
        <p:xfrm>
          <a:off x="9415463" y="2144713"/>
          <a:ext cx="3105150" cy="3902075"/>
        </p:xfrm>
        <a:graphic>
          <a:graphicData uri="http://schemas.openxmlformats.org/presentationml/2006/ole">
            <mc:AlternateContent xmlns:mc="http://schemas.openxmlformats.org/markup-compatibility/2006">
              <mc:Choice xmlns:v="urn:schemas-microsoft-com:vml" Requires="v">
                <p:oleObj spid="_x0000_s27654" name="Visio" r:id="rId3" imgW="1781062" imgH="1876588" progId="Visio.Drawing.11">
                  <p:embed/>
                </p:oleObj>
              </mc:Choice>
              <mc:Fallback>
                <p:oleObj name="Visio" r:id="rId3" imgW="1781062" imgH="1876588" progId="Visio.Drawing.11">
                  <p:embed/>
                  <p:pic>
                    <p:nvPicPr>
                      <p:cNvPr id="0" name=""/>
                      <p:cNvPicPr>
                        <a:picLocks noChangeAspect="1" noChangeArrowheads="1"/>
                      </p:cNvPicPr>
                      <p:nvPr/>
                    </p:nvPicPr>
                    <p:blipFill>
                      <a:blip r:embed="rId4"/>
                      <a:srcRect/>
                      <a:stretch>
                        <a:fillRect/>
                      </a:stretch>
                    </p:blipFill>
                    <p:spPr bwMode="auto">
                      <a:xfrm>
                        <a:off x="9415463" y="2144713"/>
                        <a:ext cx="3105150" cy="3902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9" name="TextBox 4"/>
          <p:cNvSpPr txBox="1">
            <a:spLocks noChangeArrowheads="1"/>
          </p:cNvSpPr>
          <p:nvPr/>
        </p:nvSpPr>
        <p:spPr bwMode="auto">
          <a:xfrm>
            <a:off x="697165" y="4962727"/>
            <a:ext cx="8178800" cy="2031325"/>
          </a:xfrm>
          <a:prstGeom prst="rect">
            <a:avLst/>
          </a:prstGeom>
          <a:noFill/>
          <a:ln w="9525">
            <a:noFill/>
            <a:miter lim="800000"/>
            <a:headEnd/>
            <a:tailEnd/>
          </a:ln>
        </p:spPr>
        <p:txBody>
          <a:bodyPr>
            <a:spAutoFit/>
          </a:bodyPr>
          <a:lstStyle/>
          <a:p>
            <a:pPr defTabSz="914400">
              <a:lnSpc>
                <a:spcPct val="150000"/>
              </a:lnSpc>
            </a:pPr>
            <a:r>
              <a:rPr lang="zh-CN" altLang="en-US" sz="2800" b="1" dirty="0">
                <a:latin typeface="微软雅黑" pitchFamily="34" charset="-122"/>
                <a:ea typeface="微软雅黑" pitchFamily="34" charset="-122"/>
              </a:rPr>
              <a:t>      随后工控机将从色彩传感器接收到的表面颜色信号与预定的颜色数值进行比较，从而识别瓷砖的颜色。</a:t>
            </a:r>
          </a:p>
        </p:txBody>
      </p:sp>
      <p:grpSp>
        <p:nvGrpSpPr>
          <p:cNvPr id="12" name="组合 11">
            <a:extLst>
              <a:ext uri="{FF2B5EF4-FFF2-40B4-BE49-F238E27FC236}">
                <a16:creationId xmlns:a16="http://schemas.microsoft.com/office/drawing/2014/main" xmlns="" id="{99CA7726-9320-4F89-96D3-92E8545DD90B}"/>
              </a:ext>
            </a:extLst>
          </p:cNvPr>
          <p:cNvGrpSpPr/>
          <p:nvPr/>
        </p:nvGrpSpPr>
        <p:grpSpPr>
          <a:xfrm>
            <a:off x="0" y="293282"/>
            <a:ext cx="13161246" cy="7421968"/>
            <a:chOff x="0" y="293282"/>
            <a:chExt cx="13161246" cy="7421968"/>
          </a:xfrm>
        </p:grpSpPr>
        <p:sp>
          <p:nvSpPr>
            <p:cNvPr id="19" name="文本框 60">
              <a:extLst>
                <a:ext uri="{FF2B5EF4-FFF2-40B4-BE49-F238E27FC236}">
                  <a16:creationId xmlns:a16="http://schemas.microsoft.com/office/drawing/2014/main" xmlns="" id="{666FA728-571B-434B-9CAD-D6D7F0FCE7AB}"/>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色敏探测器应用</a:t>
              </a:r>
            </a:p>
          </p:txBody>
        </p:sp>
        <p:sp>
          <p:nvSpPr>
            <p:cNvPr id="20" name="矩形 19">
              <a:extLst>
                <a:ext uri="{FF2B5EF4-FFF2-40B4-BE49-F238E27FC236}">
                  <a16:creationId xmlns:a16="http://schemas.microsoft.com/office/drawing/2014/main" xmlns="" id="{61679E82-27F1-4A4C-88A3-BE098B25F93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xmlns="" id="{49C79F4B-8F1A-49ED-BE95-6E3F8E897181}"/>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xmlns="" id="{F7912FF7-9C63-456E-8A20-F42E4841EC95}"/>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4.6.4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xmlns="" id="{7EDE58F3-38A5-4604-9243-63A5B1C6D867}"/>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xmlns="" id="{80BE7F8C-6F98-4190-AA7F-151A0EAC13F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xmlns="" id="{4BBA304A-DABA-462E-817B-BFC5B14D9F1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3028618396"/>
      </p:ext>
    </p:extLst>
  </p:cSld>
  <p:clrMapOvr>
    <a:masterClrMapping/>
  </p:clrMapOvr>
  <p:timing>
    <p:tnLst>
      <p:par>
        <p:cTn id="1" dur="indefinite" restart="never" nodeType="tmRoot"/>
      </p:par>
    </p:tn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159</TotalTime>
  <Words>1481</Words>
  <Application>Microsoft Office PowerPoint</Application>
  <PresentationFormat>自定义</PresentationFormat>
  <Paragraphs>449</Paragraphs>
  <Slides>25</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25</vt:i4>
      </vt:variant>
    </vt:vector>
  </HeadingPairs>
  <TitlesOfParts>
    <vt:vector size="44" baseType="lpstr">
      <vt:lpstr>Yu Gothic UI</vt:lpstr>
      <vt:lpstr>阿里巴巴普惠体 M</vt:lpstr>
      <vt:lpstr>阿里巴巴普惠体 R</vt:lpstr>
      <vt:lpstr>冬青黑体简体中文 W3</vt:lpstr>
      <vt:lpstr>冬青黑体简体中文 W6</vt:lpstr>
      <vt:lpstr>黑体</vt:lpstr>
      <vt:lpstr>楷体_GB2312</vt:lpstr>
      <vt:lpstr>宋体</vt:lpstr>
      <vt:lpstr>Microsoft YaHei</vt:lpstr>
      <vt:lpstr>Microsoft YaHei</vt:lpstr>
      <vt:lpstr>Arial</vt:lpstr>
      <vt:lpstr>Calibri</vt:lpstr>
      <vt:lpstr>Calibri Light</vt:lpstr>
      <vt:lpstr>Microsoft Yi Baiti</vt:lpstr>
      <vt:lpstr>Times New Roman</vt:lpstr>
      <vt:lpstr>Wingdings</vt:lpstr>
      <vt:lpstr>光电技术模板-2015-6-18</vt:lpstr>
      <vt:lpstr>Visio</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user</cp:lastModifiedBy>
  <cp:revision>32</cp:revision>
  <dcterms:created xsi:type="dcterms:W3CDTF">2015-06-18T01:42:52Z</dcterms:created>
  <dcterms:modified xsi:type="dcterms:W3CDTF">2022-09-29T00:47:03Z</dcterms:modified>
</cp:coreProperties>
</file>