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94" r:id="rId3"/>
    <p:sldId id="350" r:id="rId4"/>
    <p:sldId id="352" r:id="rId5"/>
    <p:sldId id="376" r:id="rId6"/>
    <p:sldId id="275" r:id="rId7"/>
    <p:sldId id="277" r:id="rId8"/>
    <p:sldId id="278" r:id="rId9"/>
    <p:sldId id="279" r:id="rId10"/>
    <p:sldId id="280" r:id="rId11"/>
    <p:sldId id="281" r:id="rId12"/>
    <p:sldId id="282" r:id="rId13"/>
    <p:sldId id="283" r:id="rId14"/>
    <p:sldId id="284" r:id="rId15"/>
    <p:sldId id="285" r:id="rId16"/>
    <p:sldId id="395" r:id="rId17"/>
    <p:sldId id="321" r:id="rId18"/>
    <p:sldId id="322" r:id="rId19"/>
    <p:sldId id="324" r:id="rId20"/>
    <p:sldId id="325" r:id="rId21"/>
    <p:sldId id="326" r:id="rId22"/>
    <p:sldId id="327" r:id="rId23"/>
    <p:sldId id="328" r:id="rId24"/>
    <p:sldId id="329" r:id="rId25"/>
    <p:sldId id="331" r:id="rId26"/>
    <p:sldId id="332" r:id="rId27"/>
    <p:sldId id="333" r:id="rId28"/>
    <p:sldId id="334" r:id="rId29"/>
    <p:sldId id="335" r:id="rId30"/>
    <p:sldId id="336" r:id="rId31"/>
    <p:sldId id="337" r:id="rId32"/>
    <p:sldId id="338" r:id="rId33"/>
    <p:sldId id="339" r:id="rId34"/>
    <p:sldId id="396" r:id="rId35"/>
    <p:sldId id="342" r:id="rId36"/>
    <p:sldId id="343" r:id="rId37"/>
    <p:sldId id="344" r:id="rId38"/>
    <p:sldId id="345" r:id="rId39"/>
    <p:sldId id="346" r:id="rId40"/>
    <p:sldId id="347" r:id="rId41"/>
    <p:sldId id="348" r:id="rId42"/>
    <p:sldId id="349" r:id="rId43"/>
    <p:sldId id="397" r:id="rId44"/>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6FF"/>
    <a:srgbClr val="0000CC"/>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p:scale>
          <a:sx n="106" d="100"/>
          <a:sy n="106" d="100"/>
        </p:scale>
        <p:origin x="864" y="-54"/>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5" Type="http://schemas.openxmlformats.org/officeDocument/2006/relationships/image" Target="../media/image15.wmf"/><Relationship Id="rId4"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image" Target="../media/image35.wmf"/><Relationship Id="rId7" Type="http://schemas.openxmlformats.org/officeDocument/2006/relationships/image" Target="../media/image39.wmf"/><Relationship Id="rId2" Type="http://schemas.openxmlformats.org/officeDocument/2006/relationships/image" Target="../media/image34.wmf"/><Relationship Id="rId1" Type="http://schemas.openxmlformats.org/officeDocument/2006/relationships/image" Target="../media/image33.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7.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86D40DA-C39B-4257-8ED3-10041DA34F44}"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DE47147-358F-470E-8259-978020D86421}"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838D549-F558-4FDF-AE8E-6B8F9E33F364}"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D6AC7B1-8AAE-4147-BA4C-1DDCC6D95F75}"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7AB0755-F743-4FF0-9AD0-AD5D8DE0E1BA}"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9546C3A-6A4C-42A5-8DD6-48787E2D3DA9}"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AB13E108-FC72-448A-9DAA-122606D00FE7}"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7F8D4D6-610D-4A23-A82C-8103F27B9710}"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7A4C5146-A80B-455F-8322-FCD2AD27D6F8}" type="datetimeFigureOut">
              <a:rPr lang="zh-CN" altLang="en-US"/>
              <a:pPr>
                <a:defRPr/>
              </a:pPr>
              <a:t>2023/2/23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3A91306-71DE-41B1-9328-F64C9D6263DB}"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6F6DAFC8-FFDA-4210-95C4-6E54ADE2C82C}" type="datetimeFigureOut">
              <a:rPr lang="zh-CN" altLang="en-US"/>
              <a:pPr>
                <a:defRPr/>
              </a:pPr>
              <a:t>2023/2/23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6D29326-2D11-4DC5-9A70-096897868B36}"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688A011-A828-483A-B22E-8DBAC238574C}" type="datetimeFigureOut">
              <a:rPr lang="zh-CN" altLang="en-US"/>
              <a:pPr>
                <a:defRPr/>
              </a:pPr>
              <a:t>2023/2/23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5D067259-04E0-4B71-AD98-C9578958B38C}"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7AD3FC6-91A7-4BEF-9807-AC35DD462DF7}"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332D8F0-4800-40CC-854F-4B47F8DEEABA}"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302C1EA-4889-4E37-9683-B99D01D8E944}"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91F46F0-6122-4D03-BA40-AA358BF7C48D}"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9DA25D3-9CAF-44E5-A2B1-EA0A00EF5ACB}"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41D79E5-F69E-49D9-8BE2-24F2080EFB32}"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455E31E-B8CF-408B-B16E-B46B65F81C10}"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222F46A-D713-4A29-9277-CE938E9A49A6}"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88C26017-753C-478D-B0D8-9946CD0BED45}" type="datetimeFigureOut">
              <a:rPr lang="zh-CN" altLang="en-US"/>
              <a:pPr>
                <a:defRPr/>
              </a:pPr>
              <a:t>2023/2/23</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FCF7371C-490D-4DB1-B2AE-DB8AA035482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9.bin"/><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emf"/><Relationship Id="rId5" Type="http://schemas.openxmlformats.org/officeDocument/2006/relationships/oleObject" Target="../embeddings/oleObject11.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2.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7.emf"/><Relationship Id="rId5" Type="http://schemas.openxmlformats.org/officeDocument/2006/relationships/oleObject" Target="../embeddings/oleObject18.bin"/><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9.wmf"/><Relationship Id="rId5" Type="http://schemas.openxmlformats.org/officeDocument/2006/relationships/oleObject" Target="../embeddings/oleObject20.bin"/><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2.wmf"/><Relationship Id="rId5" Type="http://schemas.openxmlformats.org/officeDocument/2006/relationships/oleObject" Target="../embeddings/oleObject23.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25.bin"/></Relationships>
</file>

<file path=ppt/slides/_rels/slide1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6.wmf"/><Relationship Id="rId5" Type="http://schemas.openxmlformats.org/officeDocument/2006/relationships/oleObject" Target="../embeddings/oleObject27.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9.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0.wmf"/><Relationship Id="rId5" Type="http://schemas.openxmlformats.org/officeDocument/2006/relationships/oleObject" Target="../embeddings/oleObject31.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oleObject" Target="../embeddings/oleObject39.bin"/><Relationship Id="rId18" Type="http://schemas.openxmlformats.org/officeDocument/2006/relationships/image" Target="../media/image40.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37.wmf"/><Relationship Id="rId17" Type="http://schemas.openxmlformats.org/officeDocument/2006/relationships/oleObject" Target="../embeddings/oleObject41.bin"/><Relationship Id="rId2" Type="http://schemas.openxmlformats.org/officeDocument/2006/relationships/slideLayout" Target="../slideLayouts/slideLayout7.xml"/><Relationship Id="rId16" Type="http://schemas.openxmlformats.org/officeDocument/2006/relationships/image" Target="../media/image39.wmf"/><Relationship Id="rId1" Type="http://schemas.openxmlformats.org/officeDocument/2006/relationships/vmlDrawing" Target="../drawings/vmlDrawing11.vml"/><Relationship Id="rId6" Type="http://schemas.openxmlformats.org/officeDocument/2006/relationships/image" Target="../media/image34.wmf"/><Relationship Id="rId11" Type="http://schemas.openxmlformats.org/officeDocument/2006/relationships/oleObject" Target="../embeddings/oleObject38.bin"/><Relationship Id="rId5" Type="http://schemas.openxmlformats.org/officeDocument/2006/relationships/oleObject" Target="../embeddings/oleObject35.bin"/><Relationship Id="rId15" Type="http://schemas.openxmlformats.org/officeDocument/2006/relationships/oleObject" Target="../embeddings/oleObject40.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37.bin"/><Relationship Id="rId14" Type="http://schemas.openxmlformats.org/officeDocument/2006/relationships/image" Target="../media/image38.wmf"/></Relationships>
</file>

<file path=ppt/slides/_rels/slide22.x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oleObject" Target="../embeddings/oleObject47.bin"/><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37.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4.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45.bin"/><Relationship Id="rId14" Type="http://schemas.openxmlformats.org/officeDocument/2006/relationships/image" Target="../media/image38.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2.wmf"/><Relationship Id="rId5" Type="http://schemas.openxmlformats.org/officeDocument/2006/relationships/oleObject" Target="../embeddings/oleObject49.bin"/><Relationship Id="rId4" Type="http://schemas.openxmlformats.org/officeDocument/2006/relationships/image" Target="../media/image41.wmf"/></Relationships>
</file>

<file path=ppt/slides/_rels/slide28.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44.wmf"/><Relationship Id="rId5" Type="http://schemas.openxmlformats.org/officeDocument/2006/relationships/oleObject" Target="../embeddings/oleObject51.bin"/><Relationship Id="rId4" Type="http://schemas.openxmlformats.org/officeDocument/2006/relationships/image" Target="../media/image43.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7.wmf"/><Relationship Id="rId5" Type="http://schemas.openxmlformats.org/officeDocument/2006/relationships/oleObject" Target="../embeddings/oleObject54.bin"/><Relationship Id="rId4" Type="http://schemas.openxmlformats.org/officeDocument/2006/relationships/image" Target="../media/image46.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48.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9.wmf"/><Relationship Id="rId5" Type="http://schemas.openxmlformats.org/officeDocument/2006/relationships/oleObject" Target="../embeddings/oleObject57.bin"/><Relationship Id="rId4" Type="http://schemas.openxmlformats.org/officeDocument/2006/relationships/image" Target="../media/image4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50.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51.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53.wmf"/><Relationship Id="rId5" Type="http://schemas.openxmlformats.org/officeDocument/2006/relationships/oleObject" Target="../embeddings/oleObject61.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63.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58.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oleObject" Target="../embeddings/oleObject66.bin"/><Relationship Id="rId7" Type="http://schemas.openxmlformats.org/officeDocument/2006/relationships/image" Target="../media/image62.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61.wmf"/><Relationship Id="rId5" Type="http://schemas.openxmlformats.org/officeDocument/2006/relationships/oleObject" Target="../embeddings/oleObject67.bin"/><Relationship Id="rId4" Type="http://schemas.openxmlformats.org/officeDocument/2006/relationships/image" Target="../media/image60.wmf"/></Relationships>
</file>

<file path=ppt/slides/_rels/slide4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oleObject" Target="../embeddings/oleObject68.bin"/><Relationship Id="rId7" Type="http://schemas.openxmlformats.org/officeDocument/2006/relationships/image" Target="../media/image65.png"/><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63.wmf"/><Relationship Id="rId5" Type="http://schemas.openxmlformats.org/officeDocument/2006/relationships/oleObject" Target="../embeddings/oleObject69.bin"/><Relationship Id="rId10" Type="http://schemas.openxmlformats.org/officeDocument/2006/relationships/image" Target="../media/image64.wmf"/><Relationship Id="rId4" Type="http://schemas.openxmlformats.org/officeDocument/2006/relationships/image" Target="../media/image60.wmf"/><Relationship Id="rId9" Type="http://schemas.openxmlformats.org/officeDocument/2006/relationships/oleObject" Target="../embeddings/oleObject70.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67.emf"/></Relationships>
</file>

<file path=ppt/slides/_rels/slide43.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2</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 xmlns:a16="http://schemas.microsoft.com/office/drawing/2014/main"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光电探测器理论基础</a:t>
            </a:r>
          </a:p>
        </p:txBody>
      </p:sp>
      <p:sp>
        <p:nvSpPr>
          <p:cNvPr id="5" name="矩形 4">
            <a:extLst>
              <a:ext uri="{FF2B5EF4-FFF2-40B4-BE49-F238E27FC236}">
                <a16:creationId xmlns=""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 xmlns:a16="http://schemas.microsoft.com/office/drawing/2014/main"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Theoretical Basis of Photodetectors</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光电效应</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光电效应</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2.2</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9428455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12"/>
          <p:cNvSpPr>
            <a:spLocks noChangeArrowheads="1"/>
          </p:cNvSpPr>
          <p:nvPr/>
        </p:nvSpPr>
        <p:spPr bwMode="auto">
          <a:xfrm rot="16027422" flipH="1">
            <a:off x="7713989" y="3359985"/>
            <a:ext cx="1828689" cy="1528386"/>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9" name="AutoShape 12"/>
          <p:cNvSpPr>
            <a:spLocks noChangeArrowheads="1"/>
          </p:cNvSpPr>
          <p:nvPr/>
        </p:nvSpPr>
        <p:spPr bwMode="auto">
          <a:xfrm rot="5400000" flipH="1">
            <a:off x="5838494" y="3416682"/>
            <a:ext cx="1819275" cy="1422400"/>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2" name="Oval 19"/>
          <p:cNvSpPr>
            <a:spLocks noChangeArrowheads="1"/>
          </p:cNvSpPr>
          <p:nvPr/>
        </p:nvSpPr>
        <p:spPr bwMode="auto">
          <a:xfrm>
            <a:off x="6889203" y="3340612"/>
            <a:ext cx="1495425" cy="1454150"/>
          </a:xfrm>
          <a:prstGeom prst="ellipse">
            <a:avLst/>
          </a:prstGeom>
          <a:solidFill>
            <a:srgbClr val="FFFF00">
              <a:alpha val="25098"/>
            </a:srgbClr>
          </a:solidFill>
          <a:ln w="12700">
            <a:solidFill>
              <a:srgbClr val="FFFF00"/>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3" name="Oval 20"/>
          <p:cNvSpPr>
            <a:spLocks noChangeArrowheads="1"/>
          </p:cNvSpPr>
          <p:nvPr/>
        </p:nvSpPr>
        <p:spPr bwMode="auto">
          <a:xfrm>
            <a:off x="6949528" y="3389825"/>
            <a:ext cx="1371600" cy="1336675"/>
          </a:xfrm>
          <a:prstGeom prst="ellipse">
            <a:avLst/>
          </a:prstGeom>
          <a:solidFill>
            <a:srgbClr val="FFFF66">
              <a:alpha val="50195"/>
            </a:srgbClr>
          </a:solidFill>
          <a:ln w="57150">
            <a:solidFill>
              <a:srgbClr val="FFFF66"/>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4" name="Oval 48"/>
          <p:cNvSpPr>
            <a:spLocks noChangeAspect="1" noChangeArrowheads="1"/>
          </p:cNvSpPr>
          <p:nvPr/>
        </p:nvSpPr>
        <p:spPr bwMode="auto">
          <a:xfrm>
            <a:off x="7046365" y="3512062"/>
            <a:ext cx="1158875" cy="1123950"/>
          </a:xfrm>
          <a:prstGeom prst="ellipse">
            <a:avLst/>
          </a:prstGeom>
          <a:solidFill>
            <a:schemeClr val="accent6">
              <a:lumMod val="20000"/>
              <a:lumOff val="80000"/>
            </a:schemeClr>
          </a:solidFill>
          <a:ln w="9525">
            <a:noFill/>
            <a:round/>
            <a:headEnd/>
            <a:tailEnd/>
          </a:ln>
        </p:spPr>
        <p:txBody>
          <a:bodyPr wrap="none" lIns="60954" tIns="30477" rIns="60954" bIns="30477" anchor="ctr"/>
          <a:lstStyle/>
          <a:p>
            <a:pPr defTabSz="609539">
              <a:defRPr/>
            </a:pPr>
            <a:endParaRPr lang="zh-CN" altLang="en-US" sz="1500" b="1" dirty="0">
              <a:ea typeface="楷体_GB2312" pitchFamily="49" charset="-122"/>
            </a:endParaRPr>
          </a:p>
        </p:txBody>
      </p:sp>
      <p:grpSp>
        <p:nvGrpSpPr>
          <p:cNvPr id="15" name="组合 67"/>
          <p:cNvGrpSpPr>
            <a:grpSpLocks/>
          </p:cNvGrpSpPr>
          <p:nvPr/>
        </p:nvGrpSpPr>
        <p:grpSpPr bwMode="auto">
          <a:xfrm>
            <a:off x="7113040" y="3559687"/>
            <a:ext cx="1030288" cy="1022350"/>
            <a:chOff x="3728508" y="2516175"/>
            <a:chExt cx="1314468" cy="1226837"/>
          </a:xfrm>
        </p:grpSpPr>
        <p:sp>
          <p:nvSpPr>
            <p:cNvPr id="16" name="Oval 49"/>
            <p:cNvSpPr>
              <a:spLocks noChangeAspect="1" noChangeArrowheads="1"/>
            </p:cNvSpPr>
            <p:nvPr/>
          </p:nvSpPr>
          <p:spPr bwMode="auto">
            <a:xfrm>
              <a:off x="3745971" y="2516175"/>
              <a:ext cx="1297005" cy="122683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latinLnBrk="1">
                <a:lnSpc>
                  <a:spcPct val="100000"/>
                </a:lnSpc>
                <a:spcBef>
                  <a:spcPct val="0"/>
                </a:spcBef>
                <a:buFontTx/>
                <a:buNone/>
              </a:pPr>
              <a:endParaRPr lang="zh-CN" altLang="en-US" sz="1100" b="1">
                <a:latin typeface="Arial" panose="020B0604020202020204" pitchFamily="34" charset="0"/>
                <a:ea typeface="HY견고딕"/>
                <a:cs typeface="HY견고딕"/>
              </a:endParaRPr>
            </a:p>
          </p:txBody>
        </p:sp>
        <p:sp>
          <p:nvSpPr>
            <p:cNvPr id="17" name="TextBox 2"/>
            <p:cNvSpPr txBox="1">
              <a:spLocks noChangeArrowheads="1"/>
            </p:cNvSpPr>
            <p:nvPr/>
          </p:nvSpPr>
          <p:spPr bwMode="auto">
            <a:xfrm>
              <a:off x="3728508" y="2729538"/>
              <a:ext cx="1314468" cy="77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b="1" dirty="0">
                  <a:solidFill>
                    <a:schemeClr val="bg1"/>
                  </a:solidFill>
                  <a:latin typeface="微软雅黑" panose="020B0503020204020204" pitchFamily="34" charset="-122"/>
                  <a:ea typeface="微软雅黑" panose="020B0503020204020204" pitchFamily="34" charset="-122"/>
                </a:rPr>
                <a:t>光辐射探测器</a:t>
              </a:r>
            </a:p>
          </p:txBody>
        </p:sp>
      </p:grpSp>
      <p:grpSp>
        <p:nvGrpSpPr>
          <p:cNvPr id="21" name="组合 29"/>
          <p:cNvGrpSpPr>
            <a:grpSpLocks/>
          </p:cNvGrpSpPr>
          <p:nvPr/>
        </p:nvGrpSpPr>
        <p:grpSpPr bwMode="auto">
          <a:xfrm>
            <a:off x="8645518" y="3832306"/>
            <a:ext cx="1032891" cy="682910"/>
            <a:chOff x="6233339" y="4340729"/>
            <a:chExt cx="1896702" cy="636752"/>
          </a:xfrm>
          <a:noFill/>
        </p:grpSpPr>
        <p:sp>
          <p:nvSpPr>
            <p:cNvPr id="22" name="圆角矩形 21"/>
            <p:cNvSpPr/>
            <p:nvPr/>
          </p:nvSpPr>
          <p:spPr>
            <a:xfrm>
              <a:off x="6352958" y="4340729"/>
              <a:ext cx="1596527" cy="636752"/>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3" name="TextBox 9"/>
            <p:cNvSpPr txBox="1">
              <a:spLocks noChangeArrowheads="1"/>
            </p:cNvSpPr>
            <p:nvPr/>
          </p:nvSpPr>
          <p:spPr bwMode="auto">
            <a:xfrm>
              <a:off x="6233339" y="4377383"/>
              <a:ext cx="1896702" cy="573948"/>
            </a:xfrm>
            <a:prstGeom prst="rect">
              <a:avLst/>
            </a:prstGeom>
            <a:grpFill/>
            <a:ln w="9525">
              <a:noFill/>
              <a:miter lim="800000"/>
              <a:headEnd/>
              <a:tailEnd/>
            </a:ln>
          </p:spPr>
          <p:txBody>
            <a:bodyPr lIns="0" tIns="0" rIns="0" bIns="0">
              <a:spAutoFit/>
            </a:bodyPr>
            <a:lstStyle/>
            <a:p>
              <a:pPr algn="ctr" defTabSz="609539" eaLnBrk="1" hangingPunct="1">
                <a:defRPr/>
              </a:pPr>
              <a:r>
                <a:rPr lang="zh-CN" altLang="en-US" b="1" dirty="0">
                  <a:latin typeface="微软雅黑" pitchFamily="34" charset="-122"/>
                  <a:ea typeface="微软雅黑" pitchFamily="34" charset="-122"/>
                  <a:cs typeface="Times New Roman" pitchFamily="18" charset="0"/>
                </a:rPr>
                <a:t>热</a:t>
              </a:r>
              <a:endParaRPr lang="en-US" altLang="zh-CN" b="1" dirty="0">
                <a:latin typeface="微软雅黑" pitchFamily="34" charset="-122"/>
                <a:ea typeface="微软雅黑" pitchFamily="34" charset="-122"/>
                <a:cs typeface="Times New Roman" pitchFamily="18" charset="0"/>
              </a:endParaRPr>
            </a:p>
            <a:p>
              <a:pPr algn="ctr" defTabSz="609539" eaLnBrk="1" hangingPunct="1">
                <a:defRPr/>
              </a:pPr>
              <a:r>
                <a:rPr lang="zh-CN" altLang="en-US" b="1" dirty="0">
                  <a:latin typeface="微软雅黑" pitchFamily="34" charset="-122"/>
                  <a:ea typeface="微软雅黑" pitchFamily="34" charset="-122"/>
                  <a:cs typeface="Times New Roman" pitchFamily="18" charset="0"/>
                </a:rPr>
                <a:t>探测器</a:t>
              </a:r>
            </a:p>
          </p:txBody>
        </p:sp>
      </p:grpSp>
      <p:grpSp>
        <p:nvGrpSpPr>
          <p:cNvPr id="27" name="组合 29"/>
          <p:cNvGrpSpPr>
            <a:grpSpLocks/>
          </p:cNvGrpSpPr>
          <p:nvPr/>
        </p:nvGrpSpPr>
        <p:grpSpPr bwMode="auto">
          <a:xfrm>
            <a:off x="5603107" y="3829768"/>
            <a:ext cx="923925" cy="631825"/>
            <a:chOff x="6233338" y="4374424"/>
            <a:chExt cx="1839237" cy="607814"/>
          </a:xfrm>
        </p:grpSpPr>
        <p:sp>
          <p:nvSpPr>
            <p:cNvPr id="28" name="圆角矩形 27"/>
            <p:cNvSpPr/>
            <p:nvPr/>
          </p:nvSpPr>
          <p:spPr>
            <a:xfrm>
              <a:off x="6233338" y="4374424"/>
              <a:ext cx="1839237" cy="607814"/>
            </a:xfrm>
            <a:prstGeom prst="roundRect">
              <a:avLst/>
            </a:prstGeom>
            <a:gradFill>
              <a:gsLst>
                <a:gs pos="0">
                  <a:srgbClr val="FFF200"/>
                </a:gs>
                <a:gs pos="45000">
                  <a:srgbClr val="FF7A00"/>
                </a:gs>
                <a:gs pos="70000">
                  <a:srgbClr val="FF0300"/>
                </a:gs>
                <a:gs pos="100000">
                  <a:srgbClr val="4D080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9" name="TextBox 9"/>
            <p:cNvSpPr txBox="1">
              <a:spLocks noChangeArrowheads="1"/>
            </p:cNvSpPr>
            <p:nvPr/>
          </p:nvSpPr>
          <p:spPr bwMode="auto">
            <a:xfrm>
              <a:off x="6233338" y="4383975"/>
              <a:ext cx="1839237" cy="59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光电</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探测器</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3" name="Oval 2"/>
          <p:cNvSpPr>
            <a:spLocks noChangeAspect="1" noChangeArrowheads="1"/>
          </p:cNvSpPr>
          <p:nvPr/>
        </p:nvSpPr>
        <p:spPr bwMode="auto">
          <a:xfrm>
            <a:off x="5490615" y="1998922"/>
            <a:ext cx="4222750" cy="4253022"/>
          </a:xfrm>
          <a:prstGeom prst="ellipse">
            <a:avLst/>
          </a:prstGeom>
          <a:noFill/>
          <a:ln w="38100" cap="rnd">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grpSp>
        <p:nvGrpSpPr>
          <p:cNvPr id="34" name="组合 38"/>
          <p:cNvGrpSpPr>
            <a:grpSpLocks/>
          </p:cNvGrpSpPr>
          <p:nvPr/>
        </p:nvGrpSpPr>
        <p:grpSpPr bwMode="auto">
          <a:xfrm>
            <a:off x="6583052" y="3985931"/>
            <a:ext cx="252413" cy="292100"/>
            <a:chOff x="555577" y="982629"/>
            <a:chExt cx="379735" cy="439269"/>
          </a:xfrm>
        </p:grpSpPr>
        <p:sp>
          <p:nvSpPr>
            <p:cNvPr id="35" name="椭圆 34"/>
            <p:cNvSpPr>
              <a:spLocks noChangeAspect="1"/>
            </p:cNvSpPr>
            <p:nvPr/>
          </p:nvSpPr>
          <p:spPr>
            <a:xfrm>
              <a:off x="555577" y="1018440"/>
              <a:ext cx="379735" cy="379585"/>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36" name="TextBox 37"/>
            <p:cNvSpPr txBox="1">
              <a:spLocks noChangeArrowheads="1"/>
            </p:cNvSpPr>
            <p:nvPr/>
          </p:nvSpPr>
          <p:spPr bwMode="auto">
            <a:xfrm>
              <a:off x="665208" y="982629"/>
              <a:ext cx="219261" cy="43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dirty="0">
                  <a:solidFill>
                    <a:srgbClr val="FF6600"/>
                  </a:solidFill>
                  <a:latin typeface="Times New Roman" panose="02020603050405020304" pitchFamily="18" charset="0"/>
                  <a:ea typeface="楷体_GB2312"/>
                  <a:cs typeface="Times New Roman" panose="02020603050405020304" pitchFamily="18" charset="0"/>
                </a:rPr>
                <a:t>1</a:t>
              </a:r>
              <a:endParaRPr lang="zh-CN" altLang="en-US" sz="1900" b="1" dirty="0">
                <a:solidFill>
                  <a:srgbClr val="FF6600"/>
                </a:solidFill>
                <a:latin typeface="Times New Roman" panose="02020603050405020304" pitchFamily="18" charset="0"/>
                <a:ea typeface="楷体_GB2312"/>
                <a:cs typeface="Times New Roman" panose="02020603050405020304" pitchFamily="18" charset="0"/>
              </a:endParaRPr>
            </a:p>
          </p:txBody>
        </p:sp>
      </p:grpSp>
      <p:grpSp>
        <p:nvGrpSpPr>
          <p:cNvPr id="37" name="组合 39"/>
          <p:cNvGrpSpPr>
            <a:grpSpLocks/>
          </p:cNvGrpSpPr>
          <p:nvPr/>
        </p:nvGrpSpPr>
        <p:grpSpPr bwMode="auto">
          <a:xfrm>
            <a:off x="8428605" y="3985931"/>
            <a:ext cx="252412" cy="292100"/>
            <a:chOff x="555577" y="982629"/>
            <a:chExt cx="379735" cy="439269"/>
          </a:xfrm>
        </p:grpSpPr>
        <p:sp>
          <p:nvSpPr>
            <p:cNvPr id="38" name="椭圆 37"/>
            <p:cNvSpPr>
              <a:spLocks noChangeAspect="1"/>
            </p:cNvSpPr>
            <p:nvPr/>
          </p:nvSpPr>
          <p:spPr>
            <a:xfrm>
              <a:off x="555577" y="1018440"/>
              <a:ext cx="379735" cy="379585"/>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39" name="TextBox 41"/>
            <p:cNvSpPr txBox="1">
              <a:spLocks noChangeArrowheads="1"/>
            </p:cNvSpPr>
            <p:nvPr/>
          </p:nvSpPr>
          <p:spPr bwMode="auto">
            <a:xfrm>
              <a:off x="665208" y="982629"/>
              <a:ext cx="219261" cy="43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dirty="0">
                  <a:solidFill>
                    <a:srgbClr val="FF6600"/>
                  </a:solidFill>
                  <a:latin typeface="Times New Roman" panose="02020603050405020304" pitchFamily="18" charset="0"/>
                  <a:ea typeface="楷体_GB2312"/>
                  <a:cs typeface="Times New Roman" panose="02020603050405020304" pitchFamily="18" charset="0"/>
                </a:rPr>
                <a:t>2</a:t>
              </a:r>
              <a:endParaRPr lang="zh-CN" altLang="en-US" sz="1900" b="1" dirty="0">
                <a:solidFill>
                  <a:srgbClr val="FF6600"/>
                </a:solidFill>
                <a:latin typeface="Times New Roman" panose="02020603050405020304" pitchFamily="18" charset="0"/>
                <a:ea typeface="楷体_GB2312"/>
                <a:cs typeface="Times New Roman" panose="02020603050405020304" pitchFamily="18" charset="0"/>
              </a:endParaRPr>
            </a:p>
          </p:txBody>
        </p:sp>
      </p:grpSp>
      <p:grpSp>
        <p:nvGrpSpPr>
          <p:cNvPr id="49" name="组合 29"/>
          <p:cNvGrpSpPr>
            <a:grpSpLocks/>
          </p:cNvGrpSpPr>
          <p:nvPr/>
        </p:nvGrpSpPr>
        <p:grpSpPr bwMode="auto">
          <a:xfrm>
            <a:off x="10105900" y="3881936"/>
            <a:ext cx="1032891" cy="440207"/>
            <a:chOff x="6346892" y="4340729"/>
            <a:chExt cx="1896702" cy="410453"/>
          </a:xfrm>
          <a:noFill/>
        </p:grpSpPr>
        <p:sp>
          <p:nvSpPr>
            <p:cNvPr id="50" name="圆角矩形 49"/>
            <p:cNvSpPr/>
            <p:nvPr/>
          </p:nvSpPr>
          <p:spPr>
            <a:xfrm>
              <a:off x="6352955" y="4340729"/>
              <a:ext cx="1890639" cy="410453"/>
            </a:xfrm>
            <a:prstGeom prst="roundRect">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51" name="TextBox 9"/>
            <p:cNvSpPr txBox="1">
              <a:spLocks noChangeArrowheads="1"/>
            </p:cNvSpPr>
            <p:nvPr/>
          </p:nvSpPr>
          <p:spPr bwMode="auto">
            <a:xfrm>
              <a:off x="6346892" y="4446183"/>
              <a:ext cx="1896702" cy="258276"/>
            </a:xfrm>
            <a:prstGeom prst="rect">
              <a:avLst/>
            </a:prstGeom>
            <a:grpFill/>
            <a:ln w="9525">
              <a:noFill/>
              <a:miter lim="800000"/>
              <a:headEnd/>
              <a:tailEnd/>
            </a:ln>
          </p:spPr>
          <p:txBody>
            <a:bodyPr lIns="0" tIns="0" rIns="0" bIns="0">
              <a:spAutoFit/>
            </a:bodyPr>
            <a:lstStyle/>
            <a:p>
              <a:pPr algn="ctr" defTabSz="609539" eaLnBrk="1" hangingPunct="1">
                <a:defRPr/>
              </a:pPr>
              <a:r>
                <a:rPr lang="zh-CN" altLang="en-US" sz="1800" b="1" dirty="0">
                  <a:latin typeface="微软雅黑" pitchFamily="34" charset="-122"/>
                  <a:ea typeface="微软雅黑" pitchFamily="34" charset="-122"/>
                  <a:cs typeface="Times New Roman" pitchFamily="18" charset="0"/>
                </a:rPr>
                <a:t>光热效应</a:t>
              </a:r>
              <a:endParaRPr lang="zh-CN" altLang="en-US" sz="1800" b="1" dirty="0">
                <a:latin typeface="Times New Roman" pitchFamily="18" charset="0"/>
                <a:ea typeface="微软雅黑" pitchFamily="34" charset="-122"/>
                <a:cs typeface="Times New Roman" pitchFamily="18" charset="0"/>
              </a:endParaRPr>
            </a:p>
          </p:txBody>
        </p:sp>
      </p:grpSp>
      <p:grpSp>
        <p:nvGrpSpPr>
          <p:cNvPr id="52" name="组合 29"/>
          <p:cNvGrpSpPr>
            <a:grpSpLocks/>
          </p:cNvGrpSpPr>
          <p:nvPr/>
        </p:nvGrpSpPr>
        <p:grpSpPr bwMode="auto">
          <a:xfrm>
            <a:off x="3947870" y="3985248"/>
            <a:ext cx="1032891" cy="420113"/>
            <a:chOff x="6346892" y="4370609"/>
            <a:chExt cx="1896702" cy="391717"/>
          </a:xfrm>
          <a:noFill/>
        </p:grpSpPr>
        <p:sp>
          <p:nvSpPr>
            <p:cNvPr id="53" name="圆角矩形 52"/>
            <p:cNvSpPr/>
            <p:nvPr/>
          </p:nvSpPr>
          <p:spPr>
            <a:xfrm>
              <a:off x="6352955" y="4370609"/>
              <a:ext cx="1890639" cy="391717"/>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54" name="TextBox 9"/>
            <p:cNvSpPr txBox="1">
              <a:spLocks noChangeArrowheads="1"/>
            </p:cNvSpPr>
            <p:nvPr/>
          </p:nvSpPr>
          <p:spPr bwMode="auto">
            <a:xfrm>
              <a:off x="6346892" y="4446183"/>
              <a:ext cx="1896702" cy="258276"/>
            </a:xfrm>
            <a:prstGeom prst="rect">
              <a:avLst/>
            </a:prstGeom>
            <a:grpFill/>
            <a:ln w="9525">
              <a:noFill/>
              <a:miter lim="800000"/>
              <a:headEnd/>
              <a:tailEnd/>
            </a:ln>
          </p:spPr>
          <p:txBody>
            <a:bodyPr lIns="0" tIns="0" rIns="0" bIns="0">
              <a:spAutoFit/>
            </a:bodyPr>
            <a:lstStyle/>
            <a:p>
              <a:pPr algn="ctr" defTabSz="609539" eaLnBrk="1" hangingPunct="1">
                <a:defRPr/>
              </a:pPr>
              <a:r>
                <a:rPr lang="zh-CN" altLang="en-US" sz="1800" b="1" dirty="0">
                  <a:latin typeface="微软雅黑" pitchFamily="34" charset="-122"/>
                  <a:ea typeface="微软雅黑" pitchFamily="34" charset="-122"/>
                  <a:cs typeface="Times New Roman" pitchFamily="18" charset="0"/>
                </a:rPr>
                <a:t>光电效应</a:t>
              </a:r>
              <a:endParaRPr lang="zh-CN" altLang="en-US" sz="1800" b="1" dirty="0">
                <a:latin typeface="Times New Roman" pitchFamily="18" charset="0"/>
                <a:ea typeface="微软雅黑" pitchFamily="34" charset="-122"/>
                <a:cs typeface="Times New Roman" pitchFamily="18" charset="0"/>
              </a:endParaRPr>
            </a:p>
          </p:txBody>
        </p:sp>
      </p:grpSp>
      <p:grpSp>
        <p:nvGrpSpPr>
          <p:cNvPr id="55" name="组合 29"/>
          <p:cNvGrpSpPr>
            <a:grpSpLocks/>
          </p:cNvGrpSpPr>
          <p:nvPr/>
        </p:nvGrpSpPr>
        <p:grpSpPr bwMode="auto">
          <a:xfrm>
            <a:off x="3790641" y="2730484"/>
            <a:ext cx="1307439" cy="773728"/>
            <a:chOff x="5485359" y="4374425"/>
            <a:chExt cx="2602689" cy="744325"/>
          </a:xfrm>
        </p:grpSpPr>
        <p:sp>
          <p:nvSpPr>
            <p:cNvPr id="56" name="圆角矩形 55"/>
            <p:cNvSpPr/>
            <p:nvPr/>
          </p:nvSpPr>
          <p:spPr>
            <a:xfrm>
              <a:off x="5485359" y="4374425"/>
              <a:ext cx="2602689" cy="744325"/>
            </a:xfrm>
            <a:prstGeom prst="round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b="1" dirty="0"/>
            </a:p>
          </p:txBody>
        </p:sp>
        <p:sp>
          <p:nvSpPr>
            <p:cNvPr id="57" name="TextBox 9"/>
            <p:cNvSpPr txBox="1">
              <a:spLocks noChangeArrowheads="1"/>
            </p:cNvSpPr>
            <p:nvPr/>
          </p:nvSpPr>
          <p:spPr bwMode="auto">
            <a:xfrm>
              <a:off x="5551360" y="4466976"/>
              <a:ext cx="2478967" cy="59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光电导</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8" name="组合 29"/>
          <p:cNvGrpSpPr>
            <a:grpSpLocks/>
          </p:cNvGrpSpPr>
          <p:nvPr/>
        </p:nvGrpSpPr>
        <p:grpSpPr bwMode="auto">
          <a:xfrm>
            <a:off x="3751863" y="4761723"/>
            <a:ext cx="1437623" cy="803577"/>
            <a:chOff x="5210733" y="4374424"/>
            <a:chExt cx="2861844" cy="773039"/>
          </a:xfrm>
        </p:grpSpPr>
        <p:sp>
          <p:nvSpPr>
            <p:cNvPr id="59" name="圆角矩形 58"/>
            <p:cNvSpPr/>
            <p:nvPr/>
          </p:nvSpPr>
          <p:spPr>
            <a:xfrm>
              <a:off x="5210733" y="4374424"/>
              <a:ext cx="2861844" cy="773039"/>
            </a:xfrm>
            <a:prstGeom prst="roundRect">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600" b="1" dirty="0"/>
            </a:p>
          </p:txBody>
        </p:sp>
        <p:sp>
          <p:nvSpPr>
            <p:cNvPr id="60" name="TextBox 9"/>
            <p:cNvSpPr txBox="1">
              <a:spLocks noChangeArrowheads="1"/>
            </p:cNvSpPr>
            <p:nvPr/>
          </p:nvSpPr>
          <p:spPr bwMode="auto">
            <a:xfrm>
              <a:off x="5210733" y="4445347"/>
              <a:ext cx="2861844" cy="59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光电子</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发射效应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4" name="AutoShape 27"/>
          <p:cNvSpPr>
            <a:spLocks/>
          </p:cNvSpPr>
          <p:nvPr/>
        </p:nvSpPr>
        <p:spPr bwMode="auto">
          <a:xfrm>
            <a:off x="11156255" y="3160620"/>
            <a:ext cx="228600" cy="1905588"/>
          </a:xfrm>
          <a:prstGeom prst="leftBrace">
            <a:avLst>
              <a:gd name="adj1" fmla="val 69444"/>
              <a:gd name="adj2" fmla="val 50000"/>
            </a:avLst>
          </a:prstGeom>
          <a:noFill/>
          <a:ln w="31750">
            <a:solidFill>
              <a:srgbClr val="FF0000"/>
            </a:solidFill>
            <a:round/>
            <a:headEnd/>
            <a:tailEnd/>
          </a:ln>
        </p:spPr>
        <p:txBody>
          <a:bodyPr wrap="none" anchor="ctr"/>
          <a:lstStyle/>
          <a:p>
            <a:pPr defTabSz="914400"/>
            <a:endParaRPr lang="zh-CN" altLang="en-US" b="1">
              <a:latin typeface="微软雅黑" pitchFamily="34" charset="-122"/>
              <a:ea typeface="微软雅黑" pitchFamily="34" charset="-122"/>
            </a:endParaRPr>
          </a:p>
        </p:txBody>
      </p:sp>
      <p:sp>
        <p:nvSpPr>
          <p:cNvPr id="65" name="Text Box 28"/>
          <p:cNvSpPr txBox="1">
            <a:spLocks noChangeArrowheads="1"/>
          </p:cNvSpPr>
          <p:nvPr/>
        </p:nvSpPr>
        <p:spPr bwMode="auto">
          <a:xfrm>
            <a:off x="11384855" y="2971766"/>
            <a:ext cx="1986966" cy="40011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w="9525">
            <a:noFill/>
            <a:miter lim="800000"/>
            <a:headEnd/>
            <a:tailEnd/>
          </a:ln>
        </p:spPr>
        <p:txBody>
          <a:bodyPr wrap="square">
            <a:spAutoFit/>
          </a:bodyPr>
          <a:lstStyle/>
          <a:p>
            <a:pPr defTabSz="914400">
              <a:spcBef>
                <a:spcPct val="50000"/>
              </a:spcBef>
            </a:pPr>
            <a:r>
              <a:rPr kumimoji="1" lang="zh-CN" altLang="en-US" b="1" dirty="0">
                <a:latin typeface="微软雅黑" pitchFamily="34" charset="-122"/>
                <a:ea typeface="微软雅黑" pitchFamily="34" charset="-122"/>
              </a:rPr>
              <a:t>热电偶和热电堆</a:t>
            </a:r>
          </a:p>
        </p:txBody>
      </p:sp>
      <p:sp>
        <p:nvSpPr>
          <p:cNvPr id="66" name="Text Box 29"/>
          <p:cNvSpPr txBox="1">
            <a:spLocks noChangeArrowheads="1"/>
          </p:cNvSpPr>
          <p:nvPr/>
        </p:nvSpPr>
        <p:spPr bwMode="auto">
          <a:xfrm>
            <a:off x="11394946" y="3901985"/>
            <a:ext cx="1287200" cy="40011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w="9525">
            <a:noFill/>
            <a:miter lim="800000"/>
            <a:headEnd/>
            <a:tailEnd/>
          </a:ln>
        </p:spPr>
        <p:txBody>
          <a:bodyPr wrap="square">
            <a:spAutoFit/>
          </a:bodyPr>
          <a:lstStyle/>
          <a:p>
            <a:pPr defTabSz="914400">
              <a:spcBef>
                <a:spcPct val="50000"/>
              </a:spcBef>
            </a:pPr>
            <a:r>
              <a:rPr kumimoji="1" lang="zh-CN" altLang="en-US" b="1" dirty="0">
                <a:latin typeface="微软雅黑" pitchFamily="34" charset="-122"/>
                <a:ea typeface="微软雅黑" pitchFamily="34" charset="-122"/>
              </a:rPr>
              <a:t>热敏电阻</a:t>
            </a:r>
          </a:p>
        </p:txBody>
      </p:sp>
      <p:sp>
        <p:nvSpPr>
          <p:cNvPr id="67" name="Text Box 30"/>
          <p:cNvSpPr txBox="1">
            <a:spLocks noChangeArrowheads="1"/>
          </p:cNvSpPr>
          <p:nvPr/>
        </p:nvSpPr>
        <p:spPr bwMode="auto">
          <a:xfrm>
            <a:off x="11405631" y="4835448"/>
            <a:ext cx="1857649" cy="40011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w="9525">
            <a:noFill/>
            <a:miter lim="800000"/>
            <a:headEnd/>
            <a:tailEnd/>
          </a:ln>
        </p:spPr>
        <p:txBody>
          <a:bodyPr wrap="square">
            <a:spAutoFit/>
          </a:bodyPr>
          <a:lstStyle/>
          <a:p>
            <a:pPr algn="ctr" defTabSz="914400">
              <a:spcBef>
                <a:spcPct val="50000"/>
              </a:spcBef>
            </a:pPr>
            <a:r>
              <a:rPr kumimoji="1" lang="zh-CN" altLang="en-US" b="1" dirty="0">
                <a:latin typeface="微软雅黑" pitchFamily="34" charset="-122"/>
                <a:ea typeface="微软雅黑" pitchFamily="34" charset="-122"/>
              </a:rPr>
              <a:t>热释电探测器</a:t>
            </a:r>
          </a:p>
        </p:txBody>
      </p:sp>
      <p:sp>
        <p:nvSpPr>
          <p:cNvPr id="74" name="Text Box 18"/>
          <p:cNvSpPr txBox="1">
            <a:spLocks noChangeArrowheads="1"/>
          </p:cNvSpPr>
          <p:nvPr/>
        </p:nvSpPr>
        <p:spPr bwMode="auto">
          <a:xfrm>
            <a:off x="3764337" y="1847201"/>
            <a:ext cx="1343832" cy="400110"/>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9525">
            <a:noFill/>
            <a:miter lim="800000"/>
            <a:headEnd/>
            <a:tailEnd/>
          </a:ln>
        </p:spPr>
        <p:txBody>
          <a:bodyPr>
            <a:spAutoFit/>
          </a:bodyPr>
          <a:lstStyle/>
          <a:p>
            <a:pPr algn="ctr" defTabSz="914400">
              <a:spcBef>
                <a:spcPct val="50000"/>
              </a:spcBef>
            </a:pPr>
            <a:r>
              <a:rPr kumimoji="1" lang="zh-CN" altLang="en-US" b="1" dirty="0">
                <a:latin typeface="微软雅黑" pitchFamily="34" charset="-122"/>
                <a:ea typeface="微软雅黑" pitchFamily="34" charset="-122"/>
              </a:rPr>
              <a:t>光敏电阻</a:t>
            </a:r>
          </a:p>
        </p:txBody>
      </p:sp>
      <p:sp>
        <p:nvSpPr>
          <p:cNvPr id="75" name="Text Box 19"/>
          <p:cNvSpPr txBox="1">
            <a:spLocks noChangeArrowheads="1"/>
          </p:cNvSpPr>
          <p:nvPr/>
        </p:nvSpPr>
        <p:spPr bwMode="auto">
          <a:xfrm>
            <a:off x="1140946" y="2252157"/>
            <a:ext cx="998443"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光电池</a:t>
            </a:r>
          </a:p>
        </p:txBody>
      </p:sp>
      <p:sp>
        <p:nvSpPr>
          <p:cNvPr id="76" name="Text Box 20"/>
          <p:cNvSpPr txBox="1">
            <a:spLocks noChangeArrowheads="1"/>
          </p:cNvSpPr>
          <p:nvPr/>
        </p:nvSpPr>
        <p:spPr bwMode="auto">
          <a:xfrm>
            <a:off x="564180" y="2910920"/>
            <a:ext cx="1565119"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wrap="square"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光敏二极管</a:t>
            </a:r>
          </a:p>
        </p:txBody>
      </p:sp>
      <p:sp>
        <p:nvSpPr>
          <p:cNvPr id="79" name="Text Box 24"/>
          <p:cNvSpPr txBox="1">
            <a:spLocks noChangeArrowheads="1"/>
          </p:cNvSpPr>
          <p:nvPr/>
        </p:nvSpPr>
        <p:spPr bwMode="auto">
          <a:xfrm>
            <a:off x="646779" y="4600599"/>
            <a:ext cx="1471142"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位置探测器</a:t>
            </a:r>
          </a:p>
        </p:txBody>
      </p:sp>
      <p:sp>
        <p:nvSpPr>
          <p:cNvPr id="72" name="Text Box 25"/>
          <p:cNvSpPr txBox="1">
            <a:spLocks noChangeArrowheads="1"/>
          </p:cNvSpPr>
          <p:nvPr/>
        </p:nvSpPr>
        <p:spPr bwMode="auto">
          <a:xfrm>
            <a:off x="490714" y="5728329"/>
            <a:ext cx="1638585"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wrap="square"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电荷耦合器件</a:t>
            </a:r>
          </a:p>
        </p:txBody>
      </p:sp>
      <p:sp>
        <p:nvSpPr>
          <p:cNvPr id="70" name="Text Box 24"/>
          <p:cNvSpPr txBox="1">
            <a:spLocks noChangeArrowheads="1"/>
          </p:cNvSpPr>
          <p:nvPr/>
        </p:nvSpPr>
        <p:spPr bwMode="auto">
          <a:xfrm>
            <a:off x="826473" y="4065284"/>
            <a:ext cx="1277819"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象探测器</a:t>
            </a:r>
          </a:p>
        </p:txBody>
      </p:sp>
      <p:sp>
        <p:nvSpPr>
          <p:cNvPr id="80" name="Text Box 24"/>
          <p:cNvSpPr txBox="1">
            <a:spLocks noChangeArrowheads="1"/>
          </p:cNvSpPr>
          <p:nvPr/>
        </p:nvSpPr>
        <p:spPr bwMode="auto">
          <a:xfrm>
            <a:off x="646779" y="5149649"/>
            <a:ext cx="1471142"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象限探测器</a:t>
            </a:r>
          </a:p>
        </p:txBody>
      </p:sp>
      <p:sp>
        <p:nvSpPr>
          <p:cNvPr id="81" name="Text Box 18"/>
          <p:cNvSpPr txBox="1">
            <a:spLocks noChangeArrowheads="1"/>
          </p:cNvSpPr>
          <p:nvPr/>
        </p:nvSpPr>
        <p:spPr bwMode="auto">
          <a:xfrm>
            <a:off x="3751863" y="5989193"/>
            <a:ext cx="1485803" cy="400110"/>
          </a:xfrm>
          <a:prstGeom prst="rect">
            <a:avLst/>
          </a:prstGeom>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ln w="9525">
            <a:noFill/>
            <a:miter lim="800000"/>
            <a:headEnd/>
            <a:tailEnd/>
          </a:ln>
        </p:spPr>
        <p:txBody>
          <a:bodyPr wrap="square">
            <a:spAutoFit/>
          </a:bodyPr>
          <a:lstStyle/>
          <a:p>
            <a:pPr algn="ctr" defTabSz="914400">
              <a:spcBef>
                <a:spcPct val="50000"/>
              </a:spcBef>
            </a:pPr>
            <a:r>
              <a:rPr kumimoji="1" lang="zh-CN" altLang="en-US" b="1" dirty="0">
                <a:latin typeface="微软雅黑" pitchFamily="34" charset="-122"/>
                <a:ea typeface="微软雅黑" pitchFamily="34" charset="-122"/>
              </a:rPr>
              <a:t>光电倍增管</a:t>
            </a:r>
          </a:p>
        </p:txBody>
      </p:sp>
      <p:grpSp>
        <p:nvGrpSpPr>
          <p:cNvPr id="82" name="组合 29"/>
          <p:cNvGrpSpPr>
            <a:grpSpLocks/>
          </p:cNvGrpSpPr>
          <p:nvPr/>
        </p:nvGrpSpPr>
        <p:grpSpPr bwMode="auto">
          <a:xfrm>
            <a:off x="2601617" y="3791987"/>
            <a:ext cx="1040495" cy="790050"/>
            <a:chOff x="5720131" y="4381138"/>
            <a:chExt cx="2071290" cy="760026"/>
          </a:xfr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grpSpPr>
        <p:sp>
          <p:nvSpPr>
            <p:cNvPr id="83" name="圆角矩形 82"/>
            <p:cNvSpPr/>
            <p:nvPr/>
          </p:nvSpPr>
          <p:spPr>
            <a:xfrm>
              <a:off x="5720131" y="4381138"/>
              <a:ext cx="2071290" cy="760026"/>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600" b="1" dirty="0"/>
            </a:p>
          </p:txBody>
        </p:sp>
        <p:sp>
          <p:nvSpPr>
            <p:cNvPr id="84" name="TextBox 9"/>
            <p:cNvSpPr txBox="1">
              <a:spLocks noChangeArrowheads="1"/>
            </p:cNvSpPr>
            <p:nvPr/>
          </p:nvSpPr>
          <p:spPr bwMode="auto">
            <a:xfrm>
              <a:off x="5798779" y="4464710"/>
              <a:ext cx="1859914" cy="5921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光伏</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85" name="Text Box 20"/>
          <p:cNvSpPr txBox="1">
            <a:spLocks noChangeArrowheads="1"/>
          </p:cNvSpPr>
          <p:nvPr/>
        </p:nvSpPr>
        <p:spPr bwMode="auto">
          <a:xfrm>
            <a:off x="592463" y="3514172"/>
            <a:ext cx="1536836" cy="307777"/>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9525">
            <a:noFill/>
            <a:miter lim="800000"/>
            <a:headEnd/>
            <a:tailEnd/>
          </a:ln>
        </p:spPr>
        <p:txBody>
          <a:bodyPr wrap="square" lIns="0" tIns="0" rIns="0" bIns="0">
            <a:spAutoFit/>
          </a:bodyPr>
          <a:lstStyle/>
          <a:p>
            <a:pPr algn="ctr" defTabSz="914400">
              <a:spcBef>
                <a:spcPct val="50000"/>
              </a:spcBef>
            </a:pPr>
            <a:r>
              <a:rPr kumimoji="1" lang="zh-CN" altLang="en-US" b="1" dirty="0">
                <a:latin typeface="微软雅黑" pitchFamily="34" charset="-122"/>
                <a:ea typeface="微软雅黑" pitchFamily="34" charset="-122"/>
              </a:rPr>
              <a:t>光敏三极管</a:t>
            </a:r>
          </a:p>
        </p:txBody>
      </p:sp>
      <p:sp>
        <p:nvSpPr>
          <p:cNvPr id="86" name="右大括号 85"/>
          <p:cNvSpPr/>
          <p:nvPr/>
        </p:nvSpPr>
        <p:spPr>
          <a:xfrm>
            <a:off x="2139389" y="2406046"/>
            <a:ext cx="382446" cy="3517194"/>
          </a:xfrm>
          <a:prstGeom prst="righ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 name="左箭头 86"/>
          <p:cNvSpPr/>
          <p:nvPr/>
        </p:nvSpPr>
        <p:spPr>
          <a:xfrm>
            <a:off x="5006094" y="3818308"/>
            <a:ext cx="384599" cy="720501"/>
          </a:xfrm>
          <a:prstGeom prst="lef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右箭头 87"/>
          <p:cNvSpPr/>
          <p:nvPr/>
        </p:nvSpPr>
        <p:spPr>
          <a:xfrm>
            <a:off x="9763505" y="3765029"/>
            <a:ext cx="328233" cy="748059"/>
          </a:xfrm>
          <a:prstGeom prst="rightArrow">
            <a:avLst/>
          </a:prstGeom>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 xmlns:a16="http://schemas.microsoft.com/office/drawing/2014/main" id="{81F4D380-B5B0-4077-A9F4-7ADBF284BE6E}"/>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光电效应</a:t>
            </a:r>
          </a:p>
        </p:txBody>
      </p:sp>
      <p:sp>
        <p:nvSpPr>
          <p:cNvPr id="62" name="矩形 61">
            <a:extLst>
              <a:ext uri="{FF2B5EF4-FFF2-40B4-BE49-F238E27FC236}">
                <a16:creationId xmlns="" xmlns:a16="http://schemas.microsoft.com/office/drawing/2014/main" id="{5618A9E9-C348-47E2-ACD6-E5E422176B0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3" name="矩形 62">
            <a:extLst>
              <a:ext uri="{FF2B5EF4-FFF2-40B4-BE49-F238E27FC236}">
                <a16:creationId xmlns="" xmlns:a16="http://schemas.microsoft.com/office/drawing/2014/main" id="{EBC027BE-19C9-4598-9240-42431227F38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 xmlns:a16="http://schemas.microsoft.com/office/drawing/2014/main" id="{D2070176-5A62-4A48-B39A-B9D21C3A2AE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69" name="直接连接符 58">
            <a:extLst>
              <a:ext uri="{FF2B5EF4-FFF2-40B4-BE49-F238E27FC236}">
                <a16:creationId xmlns="" xmlns:a16="http://schemas.microsoft.com/office/drawing/2014/main" id="{24A5F48D-D00B-406F-90C8-6BCCD3B95294}"/>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 xmlns:a16="http://schemas.microsoft.com/office/drawing/2014/main" id="{21FAACC0-6EAC-412A-9633-F4381E04B83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73" name="矩形 72">
            <a:extLst>
              <a:ext uri="{FF2B5EF4-FFF2-40B4-BE49-F238E27FC236}">
                <a16:creationId xmlns="" xmlns:a16="http://schemas.microsoft.com/office/drawing/2014/main" id="{1922DE71-86DA-4AEF-8692-96722349B53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28694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ox(in)">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7"/>
                                        </p:tgtEl>
                                        <p:attrNameLst>
                                          <p:attrName>style.visibility</p:attrName>
                                        </p:attrNameLst>
                                      </p:cBhvr>
                                      <p:to>
                                        <p:strVal val="visible"/>
                                      </p:to>
                                    </p:set>
                                    <p:animEffect transition="in" filter="barn(inVertical)">
                                      <p:cBhvr>
                                        <p:cTn id="29" dur="500"/>
                                        <p:tgtEl>
                                          <p:spTgt spid="8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52"/>
                                        </p:tgtEl>
                                        <p:attrNameLst>
                                          <p:attrName>style.visibility</p:attrName>
                                        </p:attrNameLst>
                                      </p:cBhvr>
                                      <p:to>
                                        <p:strVal val="visible"/>
                                      </p:to>
                                    </p:set>
                                    <p:anim calcmode="lin" valueType="num">
                                      <p:cBhvr additive="base">
                                        <p:cTn id="34" dur="500" fill="hold"/>
                                        <p:tgtEl>
                                          <p:spTgt spid="52"/>
                                        </p:tgtEl>
                                        <p:attrNameLst>
                                          <p:attrName>ppt_x</p:attrName>
                                        </p:attrNameLst>
                                      </p:cBhvr>
                                      <p:tavLst>
                                        <p:tav tm="0">
                                          <p:val>
                                            <p:strVal val="0-#ppt_w/2"/>
                                          </p:val>
                                        </p:tav>
                                        <p:tav tm="100000">
                                          <p:val>
                                            <p:strVal val="#ppt_x"/>
                                          </p:val>
                                        </p:tav>
                                      </p:tavLst>
                                    </p:anim>
                                    <p:anim calcmode="lin" valueType="num">
                                      <p:cBhvr additive="base">
                                        <p:cTn id="35"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barn(inVertical)">
                                      <p:cBhvr>
                                        <p:cTn id="40" dur="5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barn(inVertical)">
                                      <p:cBhvr>
                                        <p:cTn id="45" dur="500"/>
                                        <p:tgtEl>
                                          <p:spTgt spid="74"/>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barn(inVertical)">
                                      <p:cBhvr>
                                        <p:cTn id="50" dur="500"/>
                                        <p:tgtEl>
                                          <p:spTgt spid="58"/>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81"/>
                                        </p:tgtEl>
                                        <p:attrNameLst>
                                          <p:attrName>style.visibility</p:attrName>
                                        </p:attrNameLst>
                                      </p:cBhvr>
                                      <p:to>
                                        <p:strVal val="visible"/>
                                      </p:to>
                                    </p:set>
                                    <p:animEffect transition="in" filter="barn(inVertical)">
                                      <p:cBhvr>
                                        <p:cTn id="55" dur="500"/>
                                        <p:tgtEl>
                                          <p:spTgt spid="81"/>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82"/>
                                        </p:tgtEl>
                                        <p:attrNameLst>
                                          <p:attrName>style.visibility</p:attrName>
                                        </p:attrNameLst>
                                      </p:cBhvr>
                                      <p:to>
                                        <p:strVal val="visible"/>
                                      </p:to>
                                    </p:set>
                                    <p:anim calcmode="lin" valueType="num">
                                      <p:cBhvr additive="base">
                                        <p:cTn id="60" dur="500" fill="hold"/>
                                        <p:tgtEl>
                                          <p:spTgt spid="82"/>
                                        </p:tgtEl>
                                        <p:attrNameLst>
                                          <p:attrName>ppt_x</p:attrName>
                                        </p:attrNameLst>
                                      </p:cBhvr>
                                      <p:tavLst>
                                        <p:tav tm="0">
                                          <p:val>
                                            <p:strVal val="0-#ppt_w/2"/>
                                          </p:val>
                                        </p:tav>
                                        <p:tav tm="100000">
                                          <p:val>
                                            <p:strVal val="#ppt_x"/>
                                          </p:val>
                                        </p:tav>
                                      </p:tavLst>
                                    </p:anim>
                                    <p:anim calcmode="lin" valueType="num">
                                      <p:cBhvr additive="base">
                                        <p:cTn id="61"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86"/>
                                        </p:tgtEl>
                                        <p:attrNameLst>
                                          <p:attrName>style.visibility</p:attrName>
                                        </p:attrNameLst>
                                      </p:cBhvr>
                                      <p:to>
                                        <p:strVal val="visible"/>
                                      </p:to>
                                    </p:set>
                                    <p:animEffect transition="in" filter="barn(inVertical)">
                                      <p:cBhvr>
                                        <p:cTn id="66" dur="500"/>
                                        <p:tgtEl>
                                          <p:spTgt spid="86"/>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75"/>
                                        </p:tgtEl>
                                        <p:attrNameLst>
                                          <p:attrName>style.visibility</p:attrName>
                                        </p:attrNameLst>
                                      </p:cBhvr>
                                      <p:to>
                                        <p:strVal val="visible"/>
                                      </p:to>
                                    </p:set>
                                    <p:animEffect transition="in" filter="barn(inVertical)">
                                      <p:cBhvr>
                                        <p:cTn id="71" dur="500"/>
                                        <p:tgtEl>
                                          <p:spTgt spid="75"/>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grpId="0" nodeType="clickEffect">
                                  <p:stCondLst>
                                    <p:cond delay="0"/>
                                  </p:stCondLst>
                                  <p:childTnLst>
                                    <p:set>
                                      <p:cBhvr>
                                        <p:cTn id="75" dur="1" fill="hold">
                                          <p:stCondLst>
                                            <p:cond delay="0"/>
                                          </p:stCondLst>
                                        </p:cTn>
                                        <p:tgtEl>
                                          <p:spTgt spid="76"/>
                                        </p:tgtEl>
                                        <p:attrNameLst>
                                          <p:attrName>style.visibility</p:attrName>
                                        </p:attrNameLst>
                                      </p:cBhvr>
                                      <p:to>
                                        <p:strVal val="visible"/>
                                      </p:to>
                                    </p:set>
                                    <p:animEffect transition="in" filter="barn(inVertical)">
                                      <p:cBhvr>
                                        <p:cTn id="76" dur="500"/>
                                        <p:tgtEl>
                                          <p:spTgt spid="76"/>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85"/>
                                        </p:tgtEl>
                                        <p:attrNameLst>
                                          <p:attrName>style.visibility</p:attrName>
                                        </p:attrNameLst>
                                      </p:cBhvr>
                                      <p:to>
                                        <p:strVal val="visible"/>
                                      </p:to>
                                    </p:set>
                                    <p:animEffect transition="in" filter="barn(inVertical)">
                                      <p:cBhvr>
                                        <p:cTn id="81" dur="500"/>
                                        <p:tgtEl>
                                          <p:spTgt spid="85"/>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70"/>
                                        </p:tgtEl>
                                        <p:attrNameLst>
                                          <p:attrName>style.visibility</p:attrName>
                                        </p:attrNameLst>
                                      </p:cBhvr>
                                      <p:to>
                                        <p:strVal val="visible"/>
                                      </p:to>
                                    </p:set>
                                    <p:animEffect transition="in" filter="barn(inVertical)">
                                      <p:cBhvr>
                                        <p:cTn id="86" dur="500"/>
                                        <p:tgtEl>
                                          <p:spTgt spid="70"/>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grpId="0" nodeType="clickEffect">
                                  <p:stCondLst>
                                    <p:cond delay="0"/>
                                  </p:stCondLst>
                                  <p:childTnLst>
                                    <p:set>
                                      <p:cBhvr>
                                        <p:cTn id="90" dur="1" fill="hold">
                                          <p:stCondLst>
                                            <p:cond delay="0"/>
                                          </p:stCondLst>
                                        </p:cTn>
                                        <p:tgtEl>
                                          <p:spTgt spid="79"/>
                                        </p:tgtEl>
                                        <p:attrNameLst>
                                          <p:attrName>style.visibility</p:attrName>
                                        </p:attrNameLst>
                                      </p:cBhvr>
                                      <p:to>
                                        <p:strVal val="visible"/>
                                      </p:to>
                                    </p:set>
                                    <p:animEffect transition="in" filter="barn(inVertical)">
                                      <p:cBhvr>
                                        <p:cTn id="91" dur="500"/>
                                        <p:tgtEl>
                                          <p:spTgt spid="79"/>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80"/>
                                        </p:tgtEl>
                                        <p:attrNameLst>
                                          <p:attrName>style.visibility</p:attrName>
                                        </p:attrNameLst>
                                      </p:cBhvr>
                                      <p:to>
                                        <p:strVal val="visible"/>
                                      </p:to>
                                    </p:set>
                                    <p:animEffect transition="in" filter="barn(inVertical)">
                                      <p:cBhvr>
                                        <p:cTn id="96" dur="500"/>
                                        <p:tgtEl>
                                          <p:spTgt spid="80"/>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21" fill="hold" grpId="0" nodeType="clickEffect">
                                  <p:stCondLst>
                                    <p:cond delay="0"/>
                                  </p:stCondLst>
                                  <p:childTnLst>
                                    <p:set>
                                      <p:cBhvr>
                                        <p:cTn id="100" dur="1" fill="hold">
                                          <p:stCondLst>
                                            <p:cond delay="0"/>
                                          </p:stCondLst>
                                        </p:cTn>
                                        <p:tgtEl>
                                          <p:spTgt spid="72"/>
                                        </p:tgtEl>
                                        <p:attrNameLst>
                                          <p:attrName>style.visibility</p:attrName>
                                        </p:attrNameLst>
                                      </p:cBhvr>
                                      <p:to>
                                        <p:strVal val="visible"/>
                                      </p:to>
                                    </p:set>
                                    <p:animEffect transition="in" filter="barn(inVertical)">
                                      <p:cBhvr>
                                        <p:cTn id="101" dur="500"/>
                                        <p:tgtEl>
                                          <p:spTgt spid="72"/>
                                        </p:tgtEl>
                                      </p:cBhvr>
                                    </p:animEffect>
                                  </p:childTnLst>
                                </p:cTn>
                              </p:par>
                            </p:childTnLst>
                          </p:cTn>
                        </p:par>
                      </p:childTnLst>
                    </p:cTn>
                  </p:par>
                  <p:par>
                    <p:cTn id="102" fill="hold">
                      <p:stCondLst>
                        <p:cond delay="indefinite"/>
                      </p:stCondLst>
                      <p:childTnLst>
                        <p:par>
                          <p:cTn id="103" fill="hold">
                            <p:stCondLst>
                              <p:cond delay="0"/>
                            </p:stCondLst>
                            <p:childTnLst>
                              <p:par>
                                <p:cTn id="104" presetID="16" presetClass="entr" presetSubtype="21" fill="hold" grpId="0" nodeType="clickEffect">
                                  <p:stCondLst>
                                    <p:cond delay="0"/>
                                  </p:stCondLst>
                                  <p:childTnLst>
                                    <p:set>
                                      <p:cBhvr>
                                        <p:cTn id="105" dur="1" fill="hold">
                                          <p:stCondLst>
                                            <p:cond delay="0"/>
                                          </p:stCondLst>
                                        </p:cTn>
                                        <p:tgtEl>
                                          <p:spTgt spid="88"/>
                                        </p:tgtEl>
                                        <p:attrNameLst>
                                          <p:attrName>style.visibility</p:attrName>
                                        </p:attrNameLst>
                                      </p:cBhvr>
                                      <p:to>
                                        <p:strVal val="visible"/>
                                      </p:to>
                                    </p:set>
                                    <p:animEffect transition="in" filter="barn(inVertical)">
                                      <p:cBhvr>
                                        <p:cTn id="106" dur="500"/>
                                        <p:tgtEl>
                                          <p:spTgt spid="88"/>
                                        </p:tgtEl>
                                      </p:cBhvr>
                                    </p:animEffect>
                                  </p:childTnLst>
                                </p:cTn>
                              </p:par>
                            </p:childTnLst>
                          </p:cTn>
                        </p:par>
                      </p:childTnLst>
                    </p:cTn>
                  </p:par>
                  <p:par>
                    <p:cTn id="107" fill="hold">
                      <p:stCondLst>
                        <p:cond delay="indefinite"/>
                      </p:stCondLst>
                      <p:childTnLst>
                        <p:par>
                          <p:cTn id="108" fill="hold">
                            <p:stCondLst>
                              <p:cond delay="0"/>
                            </p:stCondLst>
                            <p:childTnLst>
                              <p:par>
                                <p:cTn id="109" presetID="16" presetClass="entr" presetSubtype="21" fill="hold" nodeType="click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barn(inVertical)">
                                      <p:cBhvr>
                                        <p:cTn id="111" dur="500"/>
                                        <p:tgtEl>
                                          <p:spTgt spid="49"/>
                                        </p:tgtEl>
                                      </p:cBhvr>
                                    </p:animEffect>
                                  </p:childTnLst>
                                </p:cTn>
                              </p:par>
                            </p:childTnLst>
                          </p:cTn>
                        </p:par>
                      </p:childTnLst>
                    </p:cTn>
                  </p:par>
                  <p:par>
                    <p:cTn id="112" fill="hold">
                      <p:stCondLst>
                        <p:cond delay="indefinite"/>
                      </p:stCondLst>
                      <p:childTnLst>
                        <p:par>
                          <p:cTn id="113" fill="hold">
                            <p:stCondLst>
                              <p:cond delay="0"/>
                            </p:stCondLst>
                            <p:childTnLst>
                              <p:par>
                                <p:cTn id="114" presetID="16" presetClass="entr" presetSubtype="21" fill="hold" grpId="0" nodeType="clickEffect">
                                  <p:stCondLst>
                                    <p:cond delay="0"/>
                                  </p:stCondLst>
                                  <p:childTnLst>
                                    <p:set>
                                      <p:cBhvr>
                                        <p:cTn id="115" dur="1" fill="hold">
                                          <p:stCondLst>
                                            <p:cond delay="0"/>
                                          </p:stCondLst>
                                        </p:cTn>
                                        <p:tgtEl>
                                          <p:spTgt spid="64"/>
                                        </p:tgtEl>
                                        <p:attrNameLst>
                                          <p:attrName>style.visibility</p:attrName>
                                        </p:attrNameLst>
                                      </p:cBhvr>
                                      <p:to>
                                        <p:strVal val="visible"/>
                                      </p:to>
                                    </p:set>
                                    <p:animEffect transition="in" filter="barn(inVertical)">
                                      <p:cBhvr>
                                        <p:cTn id="116" dur="500"/>
                                        <p:tgtEl>
                                          <p:spTgt spid="64"/>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66"/>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74" grpId="0" animBg="1"/>
      <p:bldP spid="75" grpId="0" animBg="1"/>
      <p:bldP spid="76" grpId="0" animBg="1"/>
      <p:bldP spid="79" grpId="0" animBg="1"/>
      <p:bldP spid="72" grpId="0" animBg="1"/>
      <p:bldP spid="70" grpId="0" animBg="1"/>
      <p:bldP spid="80" grpId="0" animBg="1"/>
      <p:bldP spid="81" grpId="0" animBg="1"/>
      <p:bldP spid="85" grpId="0" animBg="1"/>
      <p:bldP spid="86" grpId="0" animBg="1"/>
      <p:bldP spid="87" grpId="0" animBg="1"/>
      <p:bldP spid="8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3280682" y="6032695"/>
            <a:ext cx="8135712" cy="1200329"/>
          </a:xfrm>
          <a:prstGeom prst="rect">
            <a:avLst/>
          </a:prstGeom>
          <a:solidFill>
            <a:schemeClr val="bg1"/>
          </a:solidFill>
          <a:ln w="38100">
            <a:noFill/>
            <a:miter lim="800000"/>
            <a:headEnd/>
            <a:tailEnd/>
          </a:ln>
        </p:spPr>
        <p:txBody>
          <a:bodyPr wrap="square" anchor="ctr">
            <a:spAutoFit/>
          </a:bodyPr>
          <a:lstStyle/>
          <a:p>
            <a:pPr defTabSz="914400">
              <a:lnSpc>
                <a:spcPct val="150000"/>
              </a:lnSpc>
            </a:pPr>
            <a:r>
              <a:rPr lang="zh-CN" altLang="en-US" sz="2400" b="1" dirty="0">
                <a:solidFill>
                  <a:srgbClr val="FF0000"/>
                </a:solidFill>
                <a:latin typeface="微软雅黑" pitchFamily="34" charset="-122"/>
                <a:ea typeface="微软雅黑" pitchFamily="34" charset="-122"/>
              </a:rPr>
              <a:t>利用光电效应制成的光电探测器称为光子探测器</a:t>
            </a:r>
            <a:endParaRPr lang="en-US" altLang="zh-CN" sz="2400" b="1" dirty="0">
              <a:latin typeface="微软雅黑" pitchFamily="34" charset="-122"/>
              <a:ea typeface="微软雅黑" pitchFamily="34" charset="-122"/>
            </a:endParaRPr>
          </a:p>
          <a:p>
            <a:pPr defTabSz="914400">
              <a:lnSpc>
                <a:spcPct val="150000"/>
              </a:lnSpc>
            </a:pPr>
            <a:r>
              <a:rPr lang="zh-CN" altLang="en-US" sz="2400" b="1" dirty="0">
                <a:latin typeface="微软雅黑" pitchFamily="34" charset="-122"/>
                <a:ea typeface="微软雅黑" pitchFamily="34" charset="-122"/>
              </a:rPr>
              <a:t>如光电导探测器、光伏探测器、光电子发射探测器等。 </a:t>
            </a:r>
          </a:p>
        </p:txBody>
      </p:sp>
      <p:sp>
        <p:nvSpPr>
          <p:cNvPr id="10" name="AutoShape 12"/>
          <p:cNvSpPr>
            <a:spLocks noChangeArrowheads="1"/>
          </p:cNvSpPr>
          <p:nvPr/>
        </p:nvSpPr>
        <p:spPr bwMode="auto">
          <a:xfrm rot="14897276" flipH="1">
            <a:off x="6644482" y="2453496"/>
            <a:ext cx="1690687" cy="1412875"/>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1" name="AutoShape 12"/>
          <p:cNvSpPr>
            <a:spLocks noChangeArrowheads="1"/>
          </p:cNvSpPr>
          <p:nvPr/>
        </p:nvSpPr>
        <p:spPr bwMode="auto">
          <a:xfrm rot="10800000" flipH="1">
            <a:off x="5608638" y="1900252"/>
            <a:ext cx="1949450" cy="1436688"/>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2" name="AutoShape 12"/>
          <p:cNvSpPr>
            <a:spLocks noChangeArrowheads="1"/>
          </p:cNvSpPr>
          <p:nvPr/>
        </p:nvSpPr>
        <p:spPr bwMode="auto">
          <a:xfrm rot="6250560" flipH="1">
            <a:off x="4762500" y="2536840"/>
            <a:ext cx="1819275" cy="1422400"/>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3" name="AutoShape 12"/>
          <p:cNvSpPr>
            <a:spLocks noChangeArrowheads="1"/>
          </p:cNvSpPr>
          <p:nvPr/>
        </p:nvSpPr>
        <p:spPr bwMode="auto">
          <a:xfrm rot="18728198" flipH="1">
            <a:off x="6293644" y="3534583"/>
            <a:ext cx="1847850" cy="1411288"/>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4" name="AutoShape 12"/>
          <p:cNvSpPr>
            <a:spLocks noChangeArrowheads="1"/>
          </p:cNvSpPr>
          <p:nvPr/>
        </p:nvSpPr>
        <p:spPr bwMode="auto">
          <a:xfrm rot="1925912" flipH="1">
            <a:off x="5129213" y="3546490"/>
            <a:ext cx="1939925" cy="1484312"/>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5" name="Oval 19"/>
          <p:cNvSpPr>
            <a:spLocks noChangeArrowheads="1"/>
          </p:cNvSpPr>
          <p:nvPr/>
        </p:nvSpPr>
        <p:spPr bwMode="auto">
          <a:xfrm>
            <a:off x="5865813" y="2770202"/>
            <a:ext cx="1495425" cy="1454150"/>
          </a:xfrm>
          <a:prstGeom prst="ellipse">
            <a:avLst/>
          </a:prstGeom>
          <a:solidFill>
            <a:srgbClr val="FFFF00">
              <a:alpha val="25098"/>
            </a:srgbClr>
          </a:solidFill>
          <a:ln w="12700">
            <a:solidFill>
              <a:srgbClr val="FFFF00"/>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6" name="Oval 20"/>
          <p:cNvSpPr>
            <a:spLocks noChangeArrowheads="1"/>
          </p:cNvSpPr>
          <p:nvPr/>
        </p:nvSpPr>
        <p:spPr bwMode="auto">
          <a:xfrm>
            <a:off x="5926138" y="2819415"/>
            <a:ext cx="1371600" cy="1336675"/>
          </a:xfrm>
          <a:prstGeom prst="ellipse">
            <a:avLst/>
          </a:prstGeom>
          <a:solidFill>
            <a:srgbClr val="FFFF66">
              <a:alpha val="50195"/>
            </a:srgbClr>
          </a:solidFill>
          <a:ln w="57150">
            <a:solidFill>
              <a:srgbClr val="FFFF66"/>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7" name="Oval 48"/>
          <p:cNvSpPr>
            <a:spLocks noChangeAspect="1" noChangeArrowheads="1"/>
          </p:cNvSpPr>
          <p:nvPr/>
        </p:nvSpPr>
        <p:spPr bwMode="auto">
          <a:xfrm>
            <a:off x="6022975" y="2941652"/>
            <a:ext cx="1158875" cy="1123950"/>
          </a:xfrm>
          <a:prstGeom prst="ellipse">
            <a:avLst/>
          </a:prstGeom>
          <a:solidFill>
            <a:schemeClr val="accent6">
              <a:lumMod val="20000"/>
              <a:lumOff val="80000"/>
            </a:schemeClr>
          </a:solidFill>
          <a:ln w="9525">
            <a:noFill/>
            <a:round/>
            <a:headEnd/>
            <a:tailEnd/>
          </a:ln>
        </p:spPr>
        <p:txBody>
          <a:bodyPr wrap="none" lIns="60954" tIns="30477" rIns="60954" bIns="30477" anchor="ctr"/>
          <a:lstStyle/>
          <a:p>
            <a:pPr defTabSz="609539">
              <a:defRPr/>
            </a:pPr>
            <a:endParaRPr lang="zh-CN" altLang="en-US" sz="1500" b="1" dirty="0">
              <a:ea typeface="楷体_GB2312" pitchFamily="49" charset="-122"/>
            </a:endParaRPr>
          </a:p>
        </p:txBody>
      </p:sp>
      <p:grpSp>
        <p:nvGrpSpPr>
          <p:cNvPr id="18" name="组合 67"/>
          <p:cNvGrpSpPr>
            <a:grpSpLocks/>
          </p:cNvGrpSpPr>
          <p:nvPr/>
        </p:nvGrpSpPr>
        <p:grpSpPr bwMode="auto">
          <a:xfrm>
            <a:off x="6089650" y="2989277"/>
            <a:ext cx="1030288" cy="1022350"/>
            <a:chOff x="3728508" y="2516175"/>
            <a:chExt cx="1314468" cy="1226837"/>
          </a:xfrm>
        </p:grpSpPr>
        <p:sp>
          <p:nvSpPr>
            <p:cNvPr id="19" name="Oval 49"/>
            <p:cNvSpPr>
              <a:spLocks noChangeAspect="1" noChangeArrowheads="1"/>
            </p:cNvSpPr>
            <p:nvPr/>
          </p:nvSpPr>
          <p:spPr bwMode="auto">
            <a:xfrm>
              <a:off x="3745971" y="2516175"/>
              <a:ext cx="1297005" cy="122683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latinLnBrk="1">
                <a:lnSpc>
                  <a:spcPct val="100000"/>
                </a:lnSpc>
                <a:spcBef>
                  <a:spcPct val="0"/>
                </a:spcBef>
                <a:buFontTx/>
                <a:buNone/>
              </a:pPr>
              <a:endParaRPr lang="zh-CN" altLang="en-US" sz="1100" b="1">
                <a:latin typeface="Arial" panose="020B0604020202020204" pitchFamily="34" charset="0"/>
                <a:ea typeface="HY견고딕"/>
                <a:cs typeface="HY견고딕"/>
              </a:endParaRPr>
            </a:p>
          </p:txBody>
        </p:sp>
        <p:sp>
          <p:nvSpPr>
            <p:cNvPr id="20" name="TextBox 2"/>
            <p:cNvSpPr txBox="1">
              <a:spLocks noChangeArrowheads="1"/>
            </p:cNvSpPr>
            <p:nvPr/>
          </p:nvSpPr>
          <p:spPr bwMode="auto">
            <a:xfrm>
              <a:off x="3728508" y="2729538"/>
              <a:ext cx="1314468" cy="77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b="1" dirty="0">
                  <a:solidFill>
                    <a:schemeClr val="bg1"/>
                  </a:solidFill>
                  <a:latin typeface="微软雅黑" panose="020B0503020204020204" pitchFamily="34" charset="-122"/>
                  <a:ea typeface="微软雅黑" panose="020B0503020204020204" pitchFamily="34" charset="-122"/>
                </a:rPr>
                <a:t>光电</a:t>
              </a:r>
              <a:endParaRPr lang="en-US" altLang="zh-CN" b="1" dirty="0">
                <a:solidFill>
                  <a:schemeClr val="bg1"/>
                </a:solidFill>
                <a:latin typeface="微软雅黑" panose="020B0503020204020204" pitchFamily="34" charset="-122"/>
                <a:ea typeface="微软雅黑" panose="020B0503020204020204" pitchFamily="34" charset="-122"/>
              </a:endParaRPr>
            </a:p>
            <a:p>
              <a:pPr algn="ctr" eaLnBrk="1" hangingPunct="1">
                <a:lnSpc>
                  <a:spcPct val="100000"/>
                </a:lnSpc>
                <a:spcBef>
                  <a:spcPct val="0"/>
                </a:spcBef>
                <a:buFontTx/>
                <a:buNone/>
              </a:pPr>
              <a:r>
                <a:rPr lang="zh-CN" altLang="en-US" b="1" dirty="0">
                  <a:solidFill>
                    <a:schemeClr val="bg1"/>
                  </a:solidFill>
                  <a:latin typeface="微软雅黑" panose="020B0503020204020204" pitchFamily="34" charset="-122"/>
                  <a:ea typeface="微软雅黑" panose="020B0503020204020204" pitchFamily="34" charset="-122"/>
                </a:rPr>
                <a:t>效应</a:t>
              </a:r>
            </a:p>
          </p:txBody>
        </p:sp>
      </p:grpSp>
      <p:grpSp>
        <p:nvGrpSpPr>
          <p:cNvPr id="21" name="组合 29"/>
          <p:cNvGrpSpPr>
            <a:grpSpLocks/>
          </p:cNvGrpSpPr>
          <p:nvPr/>
        </p:nvGrpSpPr>
        <p:grpSpPr bwMode="auto">
          <a:xfrm>
            <a:off x="6122988" y="1879774"/>
            <a:ext cx="1046162" cy="615553"/>
            <a:chOff x="6233339" y="4325130"/>
            <a:chExt cx="1896702" cy="679689"/>
          </a:xfrm>
        </p:grpSpPr>
        <p:sp>
          <p:nvSpPr>
            <p:cNvPr id="22" name="圆角矩形 21"/>
            <p:cNvSpPr/>
            <p:nvPr/>
          </p:nvSpPr>
          <p:spPr>
            <a:xfrm>
              <a:off x="6233339" y="4340729"/>
              <a:ext cx="1772942" cy="645069"/>
            </a:xfrm>
            <a:prstGeom prst="roundRect">
              <a:avLst/>
            </a:prstGeom>
            <a:gradFill>
              <a:gsLst>
                <a:gs pos="0">
                  <a:srgbClr val="03D4A8"/>
                </a:gs>
                <a:gs pos="25000">
                  <a:srgbClr val="21D6E0"/>
                </a:gs>
                <a:gs pos="75000">
                  <a:srgbClr val="0087E6"/>
                </a:gs>
                <a:gs pos="100000">
                  <a:srgbClr val="005CB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3" name="TextBox 9"/>
            <p:cNvSpPr txBox="1">
              <a:spLocks noChangeArrowheads="1"/>
            </p:cNvSpPr>
            <p:nvPr/>
          </p:nvSpPr>
          <p:spPr bwMode="auto">
            <a:xfrm>
              <a:off x="6233339" y="4325130"/>
              <a:ext cx="1896702" cy="67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光电导</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4" name="组合 29"/>
          <p:cNvGrpSpPr>
            <a:grpSpLocks/>
          </p:cNvGrpSpPr>
          <p:nvPr/>
        </p:nvGrpSpPr>
        <p:grpSpPr bwMode="auto">
          <a:xfrm>
            <a:off x="7541208" y="2750631"/>
            <a:ext cx="1046585" cy="754601"/>
            <a:chOff x="6201849" y="4340728"/>
            <a:chExt cx="1896702" cy="769124"/>
          </a:xfrm>
          <a:noFill/>
        </p:grpSpPr>
        <p:sp>
          <p:nvSpPr>
            <p:cNvPr id="25" name="圆角矩形 24"/>
            <p:cNvSpPr/>
            <p:nvPr/>
          </p:nvSpPr>
          <p:spPr>
            <a:xfrm>
              <a:off x="6233339" y="4340728"/>
              <a:ext cx="1774253" cy="769124"/>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6" name="TextBox 9"/>
            <p:cNvSpPr txBox="1">
              <a:spLocks noChangeArrowheads="1"/>
            </p:cNvSpPr>
            <p:nvPr/>
          </p:nvSpPr>
          <p:spPr bwMode="auto">
            <a:xfrm>
              <a:off x="6201849" y="4440443"/>
              <a:ext cx="1896702" cy="627400"/>
            </a:xfrm>
            <a:prstGeom prst="rect">
              <a:avLst/>
            </a:prstGeom>
            <a:grpFill/>
            <a:ln w="9525">
              <a:noFill/>
              <a:miter lim="800000"/>
              <a:headEnd/>
              <a:tailEnd/>
            </a:ln>
          </p:spPr>
          <p:txBody>
            <a:bodyPr lIns="0" tIns="0" rIns="0" bIns="0">
              <a:spAutoFit/>
            </a:bodyPr>
            <a:lstStyle/>
            <a:p>
              <a:pPr algn="ctr" defTabSz="609539" eaLnBrk="1" hangingPunct="1">
                <a:defRPr/>
              </a:pPr>
              <a:r>
                <a:rPr lang="zh-CN" altLang="en-US" b="1" dirty="0">
                  <a:latin typeface="微软雅黑" pitchFamily="34" charset="-122"/>
                  <a:ea typeface="微软雅黑" pitchFamily="34" charset="-122"/>
                  <a:cs typeface="Times New Roman" pitchFamily="18" charset="0"/>
                </a:rPr>
                <a:t>光伏</a:t>
              </a:r>
              <a:endParaRPr lang="en-US" altLang="zh-CN" b="1" dirty="0">
                <a:latin typeface="微软雅黑" pitchFamily="34" charset="-122"/>
                <a:ea typeface="微软雅黑" pitchFamily="34" charset="-122"/>
                <a:cs typeface="Times New Roman" pitchFamily="18" charset="0"/>
              </a:endParaRPr>
            </a:p>
            <a:p>
              <a:pPr algn="ctr" defTabSz="609539" eaLnBrk="1" hangingPunct="1">
                <a:defRPr/>
              </a:pPr>
              <a:r>
                <a:rPr lang="zh-CN" altLang="en-US" b="1" dirty="0">
                  <a:latin typeface="微软雅黑" pitchFamily="34" charset="-122"/>
                  <a:ea typeface="微软雅黑" pitchFamily="34" charset="-122"/>
                  <a:cs typeface="Times New Roman" pitchFamily="18" charset="0"/>
                </a:rPr>
                <a:t>效应</a:t>
              </a:r>
              <a:endParaRPr lang="zh-CN" altLang="en-US" b="1" dirty="0">
                <a:latin typeface="Times New Roman" pitchFamily="18" charset="0"/>
                <a:ea typeface="微软雅黑" pitchFamily="34" charset="-122"/>
                <a:cs typeface="Times New Roman" pitchFamily="18" charset="0"/>
              </a:endParaRPr>
            </a:p>
          </p:txBody>
        </p:sp>
      </p:grpSp>
      <p:grpSp>
        <p:nvGrpSpPr>
          <p:cNvPr id="27" name="组合 29"/>
          <p:cNvGrpSpPr>
            <a:grpSpLocks/>
          </p:cNvGrpSpPr>
          <p:nvPr/>
        </p:nvGrpSpPr>
        <p:grpSpPr bwMode="auto">
          <a:xfrm>
            <a:off x="7312823" y="4279911"/>
            <a:ext cx="1120750" cy="728162"/>
            <a:chOff x="6228330" y="4340728"/>
            <a:chExt cx="2361694" cy="551343"/>
          </a:xfrm>
        </p:grpSpPr>
        <p:sp>
          <p:nvSpPr>
            <p:cNvPr id="28" name="圆角矩形 27"/>
            <p:cNvSpPr/>
            <p:nvPr/>
          </p:nvSpPr>
          <p:spPr>
            <a:xfrm>
              <a:off x="6233339" y="4340728"/>
              <a:ext cx="2356685" cy="551343"/>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9" name="TextBox 9"/>
            <p:cNvSpPr txBox="1">
              <a:spLocks noChangeArrowheads="1"/>
            </p:cNvSpPr>
            <p:nvPr/>
          </p:nvSpPr>
          <p:spPr bwMode="auto">
            <a:xfrm>
              <a:off x="6228330" y="4391273"/>
              <a:ext cx="2311569" cy="466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光电子</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发射效应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0" name="组合 29"/>
          <p:cNvGrpSpPr>
            <a:grpSpLocks/>
          </p:cNvGrpSpPr>
          <p:nvPr/>
        </p:nvGrpSpPr>
        <p:grpSpPr bwMode="auto">
          <a:xfrm>
            <a:off x="4506308" y="2722575"/>
            <a:ext cx="1080106" cy="655489"/>
            <a:chOff x="5922434" y="4374424"/>
            <a:chExt cx="2150143" cy="630579"/>
          </a:xfrm>
        </p:grpSpPr>
        <p:sp>
          <p:nvSpPr>
            <p:cNvPr id="31" name="圆角矩形 30"/>
            <p:cNvSpPr/>
            <p:nvPr/>
          </p:nvSpPr>
          <p:spPr>
            <a:xfrm>
              <a:off x="5922434" y="4374424"/>
              <a:ext cx="2150143" cy="607814"/>
            </a:xfrm>
            <a:prstGeom prst="roundRect">
              <a:avLst/>
            </a:prstGeom>
            <a:gradFill>
              <a:gsLst>
                <a:gs pos="0">
                  <a:srgbClr val="FFF200"/>
                </a:gs>
                <a:gs pos="45000">
                  <a:srgbClr val="FF7A00"/>
                </a:gs>
                <a:gs pos="70000">
                  <a:srgbClr val="FF0300"/>
                </a:gs>
                <a:gs pos="100000">
                  <a:srgbClr val="4D080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2" name="TextBox 9"/>
            <p:cNvSpPr txBox="1">
              <a:spLocks noChangeArrowheads="1"/>
            </p:cNvSpPr>
            <p:nvPr/>
          </p:nvSpPr>
          <p:spPr bwMode="auto">
            <a:xfrm>
              <a:off x="5939128" y="4412843"/>
              <a:ext cx="2036951" cy="59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光电磁</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3" name="组合 29"/>
          <p:cNvGrpSpPr>
            <a:grpSpLocks/>
          </p:cNvGrpSpPr>
          <p:nvPr/>
        </p:nvGrpSpPr>
        <p:grpSpPr bwMode="auto">
          <a:xfrm>
            <a:off x="5148262" y="4457567"/>
            <a:ext cx="1290637" cy="686583"/>
            <a:chOff x="6233337" y="4288876"/>
            <a:chExt cx="2329636" cy="859403"/>
          </a:xfrm>
        </p:grpSpPr>
        <p:sp>
          <p:nvSpPr>
            <p:cNvPr id="34" name="圆角矩形 33"/>
            <p:cNvSpPr/>
            <p:nvPr/>
          </p:nvSpPr>
          <p:spPr>
            <a:xfrm>
              <a:off x="6233337" y="4288876"/>
              <a:ext cx="2329636" cy="859403"/>
            </a:xfrm>
            <a:prstGeom prst="roundRect">
              <a:avLst/>
            </a:prstGeom>
            <a:gradFill>
              <a:gsLst>
                <a:gs pos="0">
                  <a:srgbClr val="DDEBCF"/>
                </a:gs>
                <a:gs pos="50000">
                  <a:srgbClr val="9CB86E"/>
                </a:gs>
                <a:gs pos="100000">
                  <a:srgbClr val="156B1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5" name="TextBox 9"/>
            <p:cNvSpPr txBox="1">
              <a:spLocks noChangeArrowheads="1"/>
            </p:cNvSpPr>
            <p:nvPr/>
          </p:nvSpPr>
          <p:spPr bwMode="auto">
            <a:xfrm>
              <a:off x="6365285" y="4377785"/>
              <a:ext cx="2197688" cy="770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光子</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lnSpc>
                  <a:spcPct val="100000"/>
                </a:lnSpc>
                <a:spcBef>
                  <a:spcPct val="0"/>
                </a:spcBef>
                <a:buFontTx/>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牵引效应</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6" name="Oval 2"/>
          <p:cNvSpPr>
            <a:spLocks noChangeAspect="1" noChangeArrowheads="1"/>
          </p:cNvSpPr>
          <p:nvPr/>
        </p:nvSpPr>
        <p:spPr bwMode="auto">
          <a:xfrm>
            <a:off x="4249262" y="1310788"/>
            <a:ext cx="4816511" cy="4637250"/>
          </a:xfrm>
          <a:prstGeom prst="ellipse">
            <a:avLst/>
          </a:prstGeom>
          <a:noFill/>
          <a:ln w="38100" cap="rnd">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grpSp>
        <p:nvGrpSpPr>
          <p:cNvPr id="37" name="组合 38"/>
          <p:cNvGrpSpPr>
            <a:grpSpLocks/>
          </p:cNvGrpSpPr>
          <p:nvPr/>
        </p:nvGrpSpPr>
        <p:grpSpPr bwMode="auto">
          <a:xfrm>
            <a:off x="6438900" y="2484452"/>
            <a:ext cx="252413" cy="292100"/>
            <a:chOff x="555577" y="982629"/>
            <a:chExt cx="379735" cy="439269"/>
          </a:xfrm>
        </p:grpSpPr>
        <p:sp>
          <p:nvSpPr>
            <p:cNvPr id="38" name="椭圆 37"/>
            <p:cNvSpPr>
              <a:spLocks noChangeAspect="1"/>
            </p:cNvSpPr>
            <p:nvPr/>
          </p:nvSpPr>
          <p:spPr>
            <a:xfrm>
              <a:off x="555577" y="1018440"/>
              <a:ext cx="379735" cy="379585"/>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39" name="TextBox 37"/>
            <p:cNvSpPr txBox="1">
              <a:spLocks noChangeArrowheads="1"/>
            </p:cNvSpPr>
            <p:nvPr/>
          </p:nvSpPr>
          <p:spPr bwMode="auto">
            <a:xfrm>
              <a:off x="665208" y="982629"/>
              <a:ext cx="219261" cy="43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a:solidFill>
                    <a:srgbClr val="FF6600"/>
                  </a:solidFill>
                  <a:latin typeface="Times New Roman" panose="02020603050405020304" pitchFamily="18" charset="0"/>
                  <a:ea typeface="楷体_GB2312"/>
                  <a:cs typeface="Times New Roman" panose="02020603050405020304" pitchFamily="18" charset="0"/>
                </a:rPr>
                <a:t>1</a:t>
              </a:r>
              <a:endParaRPr lang="zh-CN" altLang="en-US" sz="1900" b="1">
                <a:solidFill>
                  <a:srgbClr val="FF6600"/>
                </a:solidFill>
                <a:latin typeface="Times New Roman" panose="02020603050405020304" pitchFamily="18" charset="0"/>
                <a:ea typeface="楷体_GB2312"/>
                <a:cs typeface="Times New Roman" panose="02020603050405020304" pitchFamily="18" charset="0"/>
              </a:endParaRPr>
            </a:p>
          </p:txBody>
        </p:sp>
      </p:grpSp>
      <p:grpSp>
        <p:nvGrpSpPr>
          <p:cNvPr id="40" name="组合 39"/>
          <p:cNvGrpSpPr>
            <a:grpSpLocks/>
          </p:cNvGrpSpPr>
          <p:nvPr/>
        </p:nvGrpSpPr>
        <p:grpSpPr bwMode="auto">
          <a:xfrm>
            <a:off x="7291388" y="2989277"/>
            <a:ext cx="252412" cy="292100"/>
            <a:chOff x="555577" y="982629"/>
            <a:chExt cx="379735" cy="439269"/>
          </a:xfrm>
        </p:grpSpPr>
        <p:sp>
          <p:nvSpPr>
            <p:cNvPr id="41" name="椭圆 40"/>
            <p:cNvSpPr>
              <a:spLocks noChangeAspect="1"/>
            </p:cNvSpPr>
            <p:nvPr/>
          </p:nvSpPr>
          <p:spPr>
            <a:xfrm>
              <a:off x="555577" y="1018440"/>
              <a:ext cx="379735" cy="379585"/>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42" name="TextBox 41"/>
            <p:cNvSpPr txBox="1">
              <a:spLocks noChangeArrowheads="1"/>
            </p:cNvSpPr>
            <p:nvPr/>
          </p:nvSpPr>
          <p:spPr bwMode="auto">
            <a:xfrm>
              <a:off x="665208" y="982629"/>
              <a:ext cx="219261" cy="43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a:solidFill>
                    <a:srgbClr val="FF6600"/>
                  </a:solidFill>
                  <a:latin typeface="Times New Roman" panose="02020603050405020304" pitchFamily="18" charset="0"/>
                  <a:ea typeface="楷体_GB2312"/>
                  <a:cs typeface="Times New Roman" panose="02020603050405020304" pitchFamily="18" charset="0"/>
                </a:rPr>
                <a:t>2</a:t>
              </a:r>
              <a:endParaRPr lang="zh-CN" altLang="en-US" sz="1900" b="1">
                <a:solidFill>
                  <a:srgbClr val="FF6600"/>
                </a:solidFill>
                <a:latin typeface="Times New Roman" panose="02020603050405020304" pitchFamily="18" charset="0"/>
                <a:ea typeface="楷体_GB2312"/>
                <a:cs typeface="Times New Roman" panose="02020603050405020304" pitchFamily="18" charset="0"/>
              </a:endParaRPr>
            </a:p>
          </p:txBody>
        </p:sp>
      </p:grpSp>
      <p:grpSp>
        <p:nvGrpSpPr>
          <p:cNvPr id="43" name="组合 42"/>
          <p:cNvGrpSpPr>
            <a:grpSpLocks/>
          </p:cNvGrpSpPr>
          <p:nvPr/>
        </p:nvGrpSpPr>
        <p:grpSpPr bwMode="auto">
          <a:xfrm>
            <a:off x="7096125" y="4060840"/>
            <a:ext cx="252413" cy="292100"/>
            <a:chOff x="555577" y="982629"/>
            <a:chExt cx="379735" cy="439269"/>
          </a:xfrm>
        </p:grpSpPr>
        <p:sp>
          <p:nvSpPr>
            <p:cNvPr id="44" name="椭圆 43"/>
            <p:cNvSpPr>
              <a:spLocks noChangeAspect="1"/>
            </p:cNvSpPr>
            <p:nvPr/>
          </p:nvSpPr>
          <p:spPr>
            <a:xfrm>
              <a:off x="555577" y="1018438"/>
              <a:ext cx="379735" cy="37958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45" name="TextBox 44"/>
            <p:cNvSpPr txBox="1">
              <a:spLocks noChangeArrowheads="1"/>
            </p:cNvSpPr>
            <p:nvPr/>
          </p:nvSpPr>
          <p:spPr bwMode="auto">
            <a:xfrm>
              <a:off x="665208" y="982629"/>
              <a:ext cx="219261" cy="43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a:solidFill>
                    <a:srgbClr val="FF6600"/>
                  </a:solidFill>
                  <a:latin typeface="Times New Roman" panose="02020603050405020304" pitchFamily="18" charset="0"/>
                  <a:ea typeface="楷体_GB2312"/>
                  <a:cs typeface="Times New Roman" panose="02020603050405020304" pitchFamily="18" charset="0"/>
                </a:rPr>
                <a:t>3</a:t>
              </a:r>
              <a:endParaRPr lang="zh-CN" altLang="en-US" sz="1900" b="1">
                <a:solidFill>
                  <a:srgbClr val="FF6600"/>
                </a:solidFill>
                <a:latin typeface="Times New Roman" panose="02020603050405020304" pitchFamily="18" charset="0"/>
                <a:ea typeface="楷体_GB2312"/>
                <a:cs typeface="Times New Roman" panose="02020603050405020304" pitchFamily="18" charset="0"/>
              </a:endParaRPr>
            </a:p>
          </p:txBody>
        </p:sp>
      </p:grpSp>
      <p:grpSp>
        <p:nvGrpSpPr>
          <p:cNvPr id="46" name="组合 45"/>
          <p:cNvGrpSpPr>
            <a:grpSpLocks/>
          </p:cNvGrpSpPr>
          <p:nvPr/>
        </p:nvGrpSpPr>
        <p:grpSpPr bwMode="auto">
          <a:xfrm>
            <a:off x="5942013" y="4157677"/>
            <a:ext cx="254000" cy="292100"/>
            <a:chOff x="555577" y="982629"/>
            <a:chExt cx="379735" cy="439269"/>
          </a:xfrm>
        </p:grpSpPr>
        <p:sp>
          <p:nvSpPr>
            <p:cNvPr id="47" name="椭圆 46"/>
            <p:cNvSpPr>
              <a:spLocks noChangeAspect="1"/>
            </p:cNvSpPr>
            <p:nvPr/>
          </p:nvSpPr>
          <p:spPr>
            <a:xfrm>
              <a:off x="555577" y="1018440"/>
              <a:ext cx="379735" cy="379585"/>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48" name="TextBox 47"/>
            <p:cNvSpPr txBox="1">
              <a:spLocks noChangeArrowheads="1"/>
            </p:cNvSpPr>
            <p:nvPr/>
          </p:nvSpPr>
          <p:spPr bwMode="auto">
            <a:xfrm>
              <a:off x="665208" y="982629"/>
              <a:ext cx="219261" cy="43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a:solidFill>
                    <a:srgbClr val="FF6600"/>
                  </a:solidFill>
                  <a:latin typeface="Times New Roman" panose="02020603050405020304" pitchFamily="18" charset="0"/>
                  <a:ea typeface="楷体_GB2312"/>
                  <a:cs typeface="Times New Roman" panose="02020603050405020304" pitchFamily="18" charset="0"/>
                </a:rPr>
                <a:t>4</a:t>
              </a:r>
              <a:endParaRPr lang="zh-CN" altLang="en-US" sz="1900" b="1">
                <a:solidFill>
                  <a:srgbClr val="FF6600"/>
                </a:solidFill>
                <a:latin typeface="Times New Roman" panose="02020603050405020304" pitchFamily="18" charset="0"/>
                <a:ea typeface="楷体_GB2312"/>
                <a:cs typeface="Times New Roman" panose="02020603050405020304" pitchFamily="18" charset="0"/>
              </a:endParaRPr>
            </a:p>
          </p:txBody>
        </p:sp>
      </p:grpSp>
      <p:grpSp>
        <p:nvGrpSpPr>
          <p:cNvPr id="49" name="组合 48"/>
          <p:cNvGrpSpPr>
            <a:grpSpLocks/>
          </p:cNvGrpSpPr>
          <p:nvPr/>
        </p:nvGrpSpPr>
        <p:grpSpPr bwMode="auto">
          <a:xfrm>
            <a:off x="5602288" y="3141677"/>
            <a:ext cx="252412" cy="292100"/>
            <a:chOff x="555577" y="982629"/>
            <a:chExt cx="379735" cy="439271"/>
          </a:xfrm>
        </p:grpSpPr>
        <p:sp>
          <p:nvSpPr>
            <p:cNvPr id="50" name="椭圆 49"/>
            <p:cNvSpPr>
              <a:spLocks noChangeAspect="1"/>
            </p:cNvSpPr>
            <p:nvPr/>
          </p:nvSpPr>
          <p:spPr>
            <a:xfrm>
              <a:off x="555577" y="1018440"/>
              <a:ext cx="379735" cy="379587"/>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700" b="1" dirty="0"/>
            </a:p>
          </p:txBody>
        </p:sp>
        <p:sp>
          <p:nvSpPr>
            <p:cNvPr id="51" name="TextBox 50"/>
            <p:cNvSpPr txBox="1">
              <a:spLocks noChangeArrowheads="1"/>
            </p:cNvSpPr>
            <p:nvPr/>
          </p:nvSpPr>
          <p:spPr bwMode="auto">
            <a:xfrm>
              <a:off x="665208" y="982629"/>
              <a:ext cx="219261" cy="439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1900" b="1">
                  <a:solidFill>
                    <a:srgbClr val="FF6600"/>
                  </a:solidFill>
                  <a:latin typeface="Times New Roman" panose="02020603050405020304" pitchFamily="18" charset="0"/>
                  <a:ea typeface="楷体_GB2312"/>
                  <a:cs typeface="Times New Roman" panose="02020603050405020304" pitchFamily="18" charset="0"/>
                </a:rPr>
                <a:t>5</a:t>
              </a:r>
              <a:endParaRPr lang="zh-CN" altLang="en-US" sz="1900" b="1">
                <a:solidFill>
                  <a:srgbClr val="FF6600"/>
                </a:solidFill>
                <a:latin typeface="Times New Roman" panose="02020603050405020304" pitchFamily="18" charset="0"/>
                <a:ea typeface="楷体_GB2312"/>
                <a:cs typeface="Times New Roman" panose="02020603050405020304" pitchFamily="18" charset="0"/>
              </a:endParaRPr>
            </a:p>
          </p:txBody>
        </p:sp>
      </p:grpSp>
      <p:sp>
        <p:nvSpPr>
          <p:cNvPr id="52" name="文本框 60">
            <a:extLst>
              <a:ext uri="{FF2B5EF4-FFF2-40B4-BE49-F238E27FC236}">
                <a16:creationId xmlns="" xmlns:a16="http://schemas.microsoft.com/office/drawing/2014/main" id="{35500F91-BD20-480E-AEB4-E815B627DE2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光电效应</a:t>
            </a:r>
          </a:p>
        </p:txBody>
      </p:sp>
      <p:sp>
        <p:nvSpPr>
          <p:cNvPr id="53" name="矩形 52">
            <a:extLst>
              <a:ext uri="{FF2B5EF4-FFF2-40B4-BE49-F238E27FC236}">
                <a16:creationId xmlns="" xmlns:a16="http://schemas.microsoft.com/office/drawing/2014/main" id="{74B402CB-923F-45B0-A10C-3A571E1704D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4" name="矩形 53">
            <a:extLst>
              <a:ext uri="{FF2B5EF4-FFF2-40B4-BE49-F238E27FC236}">
                <a16:creationId xmlns="" xmlns:a16="http://schemas.microsoft.com/office/drawing/2014/main" id="{FEA27D2C-8EC1-4A60-8C28-8BBCBE35AF3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a:extLst>
              <a:ext uri="{FF2B5EF4-FFF2-40B4-BE49-F238E27FC236}">
                <a16:creationId xmlns="" xmlns:a16="http://schemas.microsoft.com/office/drawing/2014/main" id="{E640007D-76B3-4DED-A03D-4763E0182AE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6" name="直接连接符 58">
            <a:extLst>
              <a:ext uri="{FF2B5EF4-FFF2-40B4-BE49-F238E27FC236}">
                <a16:creationId xmlns="" xmlns:a16="http://schemas.microsoft.com/office/drawing/2014/main" id="{798DFC6E-1ECB-4F44-A7DE-9D6A718BE971}"/>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 xmlns:a16="http://schemas.microsoft.com/office/drawing/2014/main" id="{6CEE4713-2F63-4DB1-922A-B46B94594B5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8" name="矩形 57">
            <a:extLst>
              <a:ext uri="{FF2B5EF4-FFF2-40B4-BE49-F238E27FC236}">
                <a16:creationId xmlns="" xmlns:a16="http://schemas.microsoft.com/office/drawing/2014/main" id="{72680FCF-EA40-4571-90E6-36F98AF59A1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02909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box(in)">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box(in)">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fill="hold"/>
                                        <p:tgtEl>
                                          <p:spTgt spid="24"/>
                                        </p:tgtEl>
                                        <p:attrNameLst>
                                          <p:attrName>ppt_x</p:attrName>
                                        </p:attrNameLst>
                                      </p:cBhvr>
                                      <p:tavLst>
                                        <p:tav tm="0">
                                          <p:val>
                                            <p:strVal val="1+#ppt_w/2"/>
                                          </p:val>
                                        </p:tav>
                                        <p:tav tm="100000">
                                          <p:val>
                                            <p:strVal val="#ppt_x"/>
                                          </p:val>
                                        </p:tav>
                                      </p:tavLst>
                                    </p:anim>
                                    <p:anim calcmode="lin" valueType="num">
                                      <p:cBhvr additive="base">
                                        <p:cTn id="2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box(in)">
                                      <p:cBhvr>
                                        <p:cTn id="34" dur="500"/>
                                        <p:tgtEl>
                                          <p:spTgt spid="43"/>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additive="base">
                                        <p:cTn id="39" dur="500" fill="hold"/>
                                        <p:tgtEl>
                                          <p:spTgt spid="27"/>
                                        </p:tgtEl>
                                        <p:attrNameLst>
                                          <p:attrName>ppt_x</p:attrName>
                                        </p:attrNameLst>
                                      </p:cBhvr>
                                      <p:tavLst>
                                        <p:tav tm="0">
                                          <p:val>
                                            <p:strVal val="1+#ppt_w/2"/>
                                          </p:val>
                                        </p:tav>
                                        <p:tav tm="100000">
                                          <p:val>
                                            <p:strVal val="#ppt_x"/>
                                          </p:val>
                                        </p:tav>
                                      </p:tavLst>
                                    </p:anim>
                                    <p:anim calcmode="lin" valueType="num">
                                      <p:cBhvr additive="base">
                                        <p:cTn id="4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box(in)">
                                      <p:cBhvr>
                                        <p:cTn id="45" dur="500"/>
                                        <p:tgtEl>
                                          <p:spTgt spid="46"/>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 calcmode="lin" valueType="num">
                                      <p:cBhvr additive="base">
                                        <p:cTn id="50" dur="500" fill="hold"/>
                                        <p:tgtEl>
                                          <p:spTgt spid="33"/>
                                        </p:tgtEl>
                                        <p:attrNameLst>
                                          <p:attrName>ppt_x</p:attrName>
                                        </p:attrNameLst>
                                      </p:cBhvr>
                                      <p:tavLst>
                                        <p:tav tm="0">
                                          <p:val>
                                            <p:strVal val="#ppt_x"/>
                                          </p:val>
                                        </p:tav>
                                        <p:tav tm="100000">
                                          <p:val>
                                            <p:strVal val="#ppt_x"/>
                                          </p:val>
                                        </p:tav>
                                      </p:tavLst>
                                    </p:anim>
                                    <p:anim calcmode="lin" valueType="num">
                                      <p:cBhvr additive="base">
                                        <p:cTn id="51"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box(in)">
                                      <p:cBhvr>
                                        <p:cTn id="56" dur="500"/>
                                        <p:tgtEl>
                                          <p:spTgt spid="4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0-#ppt_w/2"/>
                                          </p:val>
                                        </p:tav>
                                        <p:tav tm="100000">
                                          <p:val>
                                            <p:strVal val="#ppt_x"/>
                                          </p:val>
                                        </p:tav>
                                      </p:tavLst>
                                    </p:anim>
                                    <p:anim calcmode="lin" valueType="num">
                                      <p:cBhvr additive="base">
                                        <p:cTn id="62"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8"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p:cTn id="67" dur="500" fill="hold"/>
                                        <p:tgtEl>
                                          <p:spTgt spid="7"/>
                                        </p:tgtEl>
                                        <p:attrNameLst>
                                          <p:attrName>ppt_x</p:attrName>
                                        </p:attrNameLst>
                                      </p:cBhvr>
                                      <p:tavLst>
                                        <p:tav tm="0">
                                          <p:val>
                                            <p:strVal val="#ppt_x-#ppt_w/2"/>
                                          </p:val>
                                        </p:tav>
                                        <p:tav tm="100000">
                                          <p:val>
                                            <p:strVal val="#ppt_x"/>
                                          </p:val>
                                        </p:tav>
                                      </p:tavLst>
                                    </p:anim>
                                    <p:anim calcmode="lin" valueType="num">
                                      <p:cBhvr>
                                        <p:cTn id="68" dur="500" fill="hold"/>
                                        <p:tgtEl>
                                          <p:spTgt spid="7"/>
                                        </p:tgtEl>
                                        <p:attrNameLst>
                                          <p:attrName>ppt_y</p:attrName>
                                        </p:attrNameLst>
                                      </p:cBhvr>
                                      <p:tavLst>
                                        <p:tav tm="0">
                                          <p:val>
                                            <p:strVal val="#ppt_y"/>
                                          </p:val>
                                        </p:tav>
                                        <p:tav tm="100000">
                                          <p:val>
                                            <p:strVal val="#ppt_y"/>
                                          </p:val>
                                        </p:tav>
                                      </p:tavLst>
                                    </p:anim>
                                    <p:anim calcmode="lin" valueType="num">
                                      <p:cBhvr>
                                        <p:cTn id="69" dur="500" fill="hold"/>
                                        <p:tgtEl>
                                          <p:spTgt spid="7"/>
                                        </p:tgtEl>
                                        <p:attrNameLst>
                                          <p:attrName>ppt_w</p:attrName>
                                        </p:attrNameLst>
                                      </p:cBhvr>
                                      <p:tavLst>
                                        <p:tav tm="0">
                                          <p:val>
                                            <p:fltVal val="0"/>
                                          </p:val>
                                        </p:tav>
                                        <p:tav tm="100000">
                                          <p:val>
                                            <p:strVal val="#ppt_w"/>
                                          </p:val>
                                        </p:tav>
                                      </p:tavLst>
                                    </p:anim>
                                    <p:anim calcmode="lin" valueType="num">
                                      <p:cBhvr>
                                        <p:cTn id="70"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光电导效应</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762615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ChangeArrowheads="1"/>
          </p:cNvSpPr>
          <p:nvPr/>
        </p:nvSpPr>
        <p:spPr bwMode="auto">
          <a:xfrm>
            <a:off x="782638" y="2411321"/>
            <a:ext cx="11927522" cy="1569660"/>
          </a:xfrm>
          <a:prstGeom prst="rect">
            <a:avLst/>
          </a:prstGeom>
          <a:solidFill>
            <a:schemeClr val="accent6">
              <a:lumMod val="60000"/>
              <a:lumOff val="40000"/>
            </a:schemeClr>
          </a:solidFill>
          <a:ln w="9525">
            <a:noFill/>
            <a:miter lim="800000"/>
            <a:headEnd/>
            <a:tailEnd/>
          </a:ln>
        </p:spPr>
        <p:txBody>
          <a:bodyPr wrap="square" anchor="ctr">
            <a:spAutoFit/>
          </a:bodyPr>
          <a:lstStyle/>
          <a:p>
            <a:pPr defTabSz="914400">
              <a:lnSpc>
                <a:spcPct val="150000"/>
              </a:lnSpc>
              <a:defRPr/>
            </a:pPr>
            <a:r>
              <a:rPr lang="zh-CN" altLang="en-US" sz="3200" b="1" dirty="0">
                <a:latin typeface="微软雅黑" pitchFamily="34" charset="-122"/>
                <a:ea typeface="微软雅黑" pitchFamily="34" charset="-122"/>
              </a:rPr>
              <a:t>    当半导体材料受光照时，由于对光子的吸收引起半导体载流子浓度的变化，导致材料电导率变化，这种现象称为</a:t>
            </a:r>
            <a:r>
              <a:rPr lang="zh-CN" altLang="en-US" sz="3200" b="1" dirty="0">
                <a:solidFill>
                  <a:srgbClr val="FF0000"/>
                </a:solidFill>
                <a:latin typeface="微软雅黑" pitchFamily="34" charset="-122"/>
                <a:ea typeface="微软雅黑" pitchFamily="34" charset="-122"/>
              </a:rPr>
              <a:t>光电导效应</a:t>
            </a:r>
            <a:r>
              <a:rPr lang="zh-CN" altLang="en-US" sz="3200" b="1" dirty="0">
                <a:solidFill>
                  <a:schemeClr val="bg1"/>
                </a:solidFill>
                <a:latin typeface="微软雅黑" pitchFamily="34" charset="-122"/>
                <a:ea typeface="微软雅黑" pitchFamily="34" charset="-122"/>
              </a:rPr>
              <a:t>。   </a:t>
            </a:r>
          </a:p>
        </p:txBody>
      </p:sp>
      <p:sp>
        <p:nvSpPr>
          <p:cNvPr id="202756" name="Rectangle 4"/>
          <p:cNvSpPr>
            <a:spLocks noChangeArrowheads="1"/>
          </p:cNvSpPr>
          <p:nvPr/>
        </p:nvSpPr>
        <p:spPr bwMode="auto">
          <a:xfrm>
            <a:off x="3119120" y="5727737"/>
            <a:ext cx="4402138" cy="701675"/>
          </a:xfrm>
          <a:prstGeom prst="rect">
            <a:avLst/>
          </a:prstGeom>
          <a:solidFill>
            <a:srgbClr val="0000FF"/>
          </a:solidFill>
          <a:ln w="9525">
            <a:noFill/>
            <a:miter lim="800000"/>
            <a:headEnd/>
            <a:tailEnd/>
          </a:ln>
        </p:spPr>
        <p:txBody>
          <a:bodyPr wrap="none" anchor="ctr">
            <a:spAutoFit/>
          </a:bodyPr>
          <a:lstStyle/>
          <a:p>
            <a:pPr defTabSz="914400"/>
            <a:r>
              <a:rPr lang="zh-CN" altLang="en-US" sz="4000" b="1">
                <a:solidFill>
                  <a:schemeClr val="bg1"/>
                </a:solidFill>
                <a:latin typeface="微软雅黑" pitchFamily="34" charset="-122"/>
                <a:ea typeface="微软雅黑" pitchFamily="34" charset="-122"/>
              </a:rPr>
              <a:t>非本征光电导效应 </a:t>
            </a:r>
          </a:p>
        </p:txBody>
      </p:sp>
      <p:sp>
        <p:nvSpPr>
          <p:cNvPr id="202757" name="Rectangle 5"/>
          <p:cNvSpPr>
            <a:spLocks noChangeArrowheads="1"/>
          </p:cNvSpPr>
          <p:nvPr/>
        </p:nvSpPr>
        <p:spPr bwMode="auto">
          <a:xfrm>
            <a:off x="3139758" y="4548225"/>
            <a:ext cx="4392612" cy="701675"/>
          </a:xfrm>
          <a:prstGeom prst="rect">
            <a:avLst/>
          </a:prstGeom>
          <a:solidFill>
            <a:srgbClr val="0000FF"/>
          </a:solidFill>
          <a:ln w="9525">
            <a:noFill/>
            <a:miter lim="800000"/>
            <a:headEnd/>
            <a:tailEnd/>
          </a:ln>
        </p:spPr>
        <p:txBody>
          <a:bodyPr>
            <a:spAutoFit/>
          </a:bodyPr>
          <a:lstStyle/>
          <a:p>
            <a:pPr algn="ctr" defTabSz="914400"/>
            <a:r>
              <a:rPr lang="zh-CN" altLang="en-US" sz="4000" b="1" dirty="0">
                <a:solidFill>
                  <a:schemeClr val="bg1"/>
                </a:solidFill>
                <a:latin typeface="微软雅黑" pitchFamily="34" charset="-122"/>
                <a:ea typeface="微软雅黑" pitchFamily="34" charset="-122"/>
              </a:rPr>
              <a:t>本征光电导效应</a:t>
            </a:r>
          </a:p>
        </p:txBody>
      </p:sp>
      <p:sp>
        <p:nvSpPr>
          <p:cNvPr id="202759" name="Rectangle 7"/>
          <p:cNvSpPr>
            <a:spLocks noChangeArrowheads="1"/>
          </p:cNvSpPr>
          <p:nvPr/>
        </p:nvSpPr>
        <p:spPr bwMode="auto">
          <a:xfrm>
            <a:off x="3261995" y="6474547"/>
            <a:ext cx="3913251" cy="646331"/>
          </a:xfrm>
          <a:prstGeom prst="rect">
            <a:avLst/>
          </a:prstGeom>
          <a:noFill/>
          <a:ln w="9525">
            <a:noFill/>
            <a:miter lim="800000"/>
            <a:headEnd/>
            <a:tailEnd/>
          </a:ln>
        </p:spPr>
        <p:txBody>
          <a:bodyPr wrap="none" anchor="ctr">
            <a:spAutoFit/>
          </a:bodyPr>
          <a:lstStyle/>
          <a:p>
            <a:pPr defTabSz="914400"/>
            <a:r>
              <a:rPr lang="en-US" altLang="zh-CN" sz="3600" b="1">
                <a:latin typeface="微软雅黑" pitchFamily="34" charset="-122"/>
                <a:ea typeface="微软雅黑" pitchFamily="34" charset="-122"/>
              </a:rPr>
              <a:t>(</a:t>
            </a:r>
            <a:r>
              <a:rPr lang="zh-CN" altLang="en-US" sz="3600" b="1">
                <a:latin typeface="微软雅黑" pitchFamily="34" charset="-122"/>
                <a:ea typeface="微软雅黑" pitchFamily="34" charset="-122"/>
              </a:rPr>
              <a:t>杂质光电导效应</a:t>
            </a:r>
            <a:r>
              <a:rPr lang="en-US" altLang="zh-CN" sz="3600" b="1">
                <a:latin typeface="微软雅黑" pitchFamily="34" charset="-122"/>
                <a:ea typeface="微软雅黑" pitchFamily="34" charset="-122"/>
              </a:rPr>
              <a:t>)</a:t>
            </a:r>
            <a:r>
              <a:rPr lang="en-US" altLang="zh-CN" sz="3600" b="1">
                <a:solidFill>
                  <a:schemeClr val="bg1"/>
                </a:solidFill>
                <a:latin typeface="微软雅黑" pitchFamily="34" charset="-122"/>
                <a:ea typeface="微软雅黑" pitchFamily="34" charset="-122"/>
              </a:rPr>
              <a:t> </a:t>
            </a:r>
          </a:p>
        </p:txBody>
      </p:sp>
      <p:sp>
        <p:nvSpPr>
          <p:cNvPr id="202760" name="Rectangle 8"/>
          <p:cNvSpPr>
            <a:spLocks noChangeArrowheads="1"/>
          </p:cNvSpPr>
          <p:nvPr/>
        </p:nvSpPr>
        <p:spPr bwMode="auto">
          <a:xfrm>
            <a:off x="7654608" y="5799175"/>
            <a:ext cx="2836862" cy="579437"/>
          </a:xfrm>
          <a:prstGeom prst="rect">
            <a:avLst/>
          </a:prstGeom>
          <a:noFill/>
          <a:ln w="9525">
            <a:noFill/>
            <a:miter lim="800000"/>
            <a:headEnd/>
            <a:tailEnd/>
          </a:ln>
        </p:spPr>
        <p:txBody>
          <a:bodyPr wrap="none" anchor="ctr">
            <a:spAutoFit/>
          </a:bodyPr>
          <a:lstStyle/>
          <a:p>
            <a:pPr defTabSz="914400"/>
            <a:r>
              <a:rPr lang="zh-CN" altLang="en-US" sz="3200" b="1">
                <a:latin typeface="微软雅黑" pitchFamily="34" charset="-122"/>
                <a:ea typeface="微软雅黑" pitchFamily="34" charset="-122"/>
              </a:rPr>
              <a:t>－－杂质吸收</a:t>
            </a:r>
            <a:r>
              <a:rPr lang="zh-CN" altLang="en-US" sz="3200" b="1">
                <a:solidFill>
                  <a:schemeClr val="bg1"/>
                </a:solidFill>
                <a:latin typeface="微软雅黑" pitchFamily="34" charset="-122"/>
                <a:ea typeface="微软雅黑" pitchFamily="34" charset="-122"/>
              </a:rPr>
              <a:t> </a:t>
            </a:r>
          </a:p>
        </p:txBody>
      </p:sp>
      <p:sp>
        <p:nvSpPr>
          <p:cNvPr id="202761" name="Rectangle 9"/>
          <p:cNvSpPr>
            <a:spLocks noChangeArrowheads="1"/>
          </p:cNvSpPr>
          <p:nvPr/>
        </p:nvSpPr>
        <p:spPr bwMode="auto">
          <a:xfrm>
            <a:off x="7654608" y="4648237"/>
            <a:ext cx="2836862" cy="579438"/>
          </a:xfrm>
          <a:prstGeom prst="rect">
            <a:avLst/>
          </a:prstGeom>
          <a:noFill/>
          <a:ln w="9525">
            <a:noFill/>
            <a:miter lim="800000"/>
            <a:headEnd/>
            <a:tailEnd/>
          </a:ln>
        </p:spPr>
        <p:txBody>
          <a:bodyPr wrap="none" anchor="ctr">
            <a:spAutoFit/>
          </a:bodyPr>
          <a:lstStyle/>
          <a:p>
            <a:pPr defTabSz="914400"/>
            <a:r>
              <a:rPr lang="zh-CN" altLang="en-US" sz="3200" b="1">
                <a:latin typeface="微软雅黑" pitchFamily="34" charset="-122"/>
                <a:ea typeface="微软雅黑" pitchFamily="34" charset="-122"/>
              </a:rPr>
              <a:t>－－本征吸收 </a:t>
            </a:r>
          </a:p>
        </p:txBody>
      </p:sp>
      <p:sp>
        <p:nvSpPr>
          <p:cNvPr id="15" name="Rectangle 3"/>
          <p:cNvSpPr>
            <a:spLocks noChangeArrowheads="1"/>
          </p:cNvSpPr>
          <p:nvPr/>
        </p:nvSpPr>
        <p:spPr bwMode="auto">
          <a:xfrm>
            <a:off x="3521048" y="1117546"/>
            <a:ext cx="6089650" cy="914400"/>
          </a:xfrm>
          <a:prstGeom prst="rect">
            <a:avLst/>
          </a:prstGeom>
          <a:noFill/>
          <a:ln w="9525">
            <a:noFill/>
            <a:miter lim="800000"/>
            <a:headEnd/>
            <a:tailEnd/>
          </a:ln>
        </p:spPr>
        <p:txBody>
          <a:bodyPr anchor="ctr">
            <a:spAutoFit/>
          </a:bodyPr>
          <a:lstStyle/>
          <a:p>
            <a:pPr algn="ctr" defTabSz="914400">
              <a:tabLst>
                <a:tab pos="5340350" algn="r"/>
              </a:tabLst>
            </a:pPr>
            <a:r>
              <a:rPr lang="zh-CN" altLang="en-US" sz="5400" b="1" dirty="0">
                <a:solidFill>
                  <a:srgbClr val="0000CC"/>
                </a:solidFill>
                <a:latin typeface="微软雅黑" pitchFamily="34" charset="-122"/>
                <a:ea typeface="微软雅黑" pitchFamily="34" charset="-122"/>
                <a:cs typeface="Times New Roman" pitchFamily="18" charset="0"/>
              </a:rPr>
              <a:t>光电导效应</a:t>
            </a:r>
          </a:p>
        </p:txBody>
      </p:sp>
      <p:sp>
        <p:nvSpPr>
          <p:cNvPr id="14" name="文本框 60">
            <a:extLst>
              <a:ext uri="{FF2B5EF4-FFF2-40B4-BE49-F238E27FC236}">
                <a16:creationId xmlns="" xmlns:a16="http://schemas.microsoft.com/office/drawing/2014/main" id="{562CD4C7-297D-48E9-86DD-91F46CCF3922}"/>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8" name="矩形 17">
            <a:extLst>
              <a:ext uri="{FF2B5EF4-FFF2-40B4-BE49-F238E27FC236}">
                <a16:creationId xmlns="" xmlns:a16="http://schemas.microsoft.com/office/drawing/2014/main" id="{CC24AE80-F464-43A7-AA2B-BABC93B2D34F}"/>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6BFF34C0-30A3-49C1-9B4A-1C4455A0427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 xmlns:a16="http://schemas.microsoft.com/office/drawing/2014/main" id="{45DD808B-4633-4945-A193-E4F43D086DE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 xmlns:a16="http://schemas.microsoft.com/office/drawing/2014/main" id="{9CF09EC3-247F-40C3-9C52-C8F9B53F047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 xmlns:a16="http://schemas.microsoft.com/office/drawing/2014/main" id="{8B33A0D7-49A5-45D9-8712-A23C158CD30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 xmlns:a16="http://schemas.microsoft.com/office/drawing/2014/main" id="{C29CFD3C-F09F-4C2D-998B-3C79C69BC8A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ox(in)">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2757"/>
                                        </p:tgtEl>
                                        <p:attrNameLst>
                                          <p:attrName>style.visibility</p:attrName>
                                        </p:attrNameLst>
                                      </p:cBhvr>
                                      <p:to>
                                        <p:strVal val="visible"/>
                                      </p:to>
                                    </p:set>
                                    <p:animEffect transition="in" filter="box(in)">
                                      <p:cBhvr>
                                        <p:cTn id="12" dur="500"/>
                                        <p:tgtEl>
                                          <p:spTgt spid="202757"/>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202761"/>
                                        </p:tgtEl>
                                        <p:attrNameLst>
                                          <p:attrName>style.visibility</p:attrName>
                                        </p:attrNameLst>
                                      </p:cBhvr>
                                      <p:to>
                                        <p:strVal val="visible"/>
                                      </p:to>
                                    </p:set>
                                    <p:anim calcmode="lin" valueType="num">
                                      <p:cBhvr>
                                        <p:cTn id="17" dur="500" fill="hold"/>
                                        <p:tgtEl>
                                          <p:spTgt spid="202761"/>
                                        </p:tgtEl>
                                        <p:attrNameLst>
                                          <p:attrName>ppt_x</p:attrName>
                                        </p:attrNameLst>
                                      </p:cBhvr>
                                      <p:tavLst>
                                        <p:tav tm="0">
                                          <p:val>
                                            <p:strVal val="#ppt_x-#ppt_w/2"/>
                                          </p:val>
                                        </p:tav>
                                        <p:tav tm="100000">
                                          <p:val>
                                            <p:strVal val="#ppt_x"/>
                                          </p:val>
                                        </p:tav>
                                      </p:tavLst>
                                    </p:anim>
                                    <p:anim calcmode="lin" valueType="num">
                                      <p:cBhvr>
                                        <p:cTn id="18" dur="500" fill="hold"/>
                                        <p:tgtEl>
                                          <p:spTgt spid="202761"/>
                                        </p:tgtEl>
                                        <p:attrNameLst>
                                          <p:attrName>ppt_y</p:attrName>
                                        </p:attrNameLst>
                                      </p:cBhvr>
                                      <p:tavLst>
                                        <p:tav tm="0">
                                          <p:val>
                                            <p:strVal val="#ppt_y"/>
                                          </p:val>
                                        </p:tav>
                                        <p:tav tm="100000">
                                          <p:val>
                                            <p:strVal val="#ppt_y"/>
                                          </p:val>
                                        </p:tav>
                                      </p:tavLst>
                                    </p:anim>
                                    <p:anim calcmode="lin" valueType="num">
                                      <p:cBhvr>
                                        <p:cTn id="19" dur="500" fill="hold"/>
                                        <p:tgtEl>
                                          <p:spTgt spid="202761"/>
                                        </p:tgtEl>
                                        <p:attrNameLst>
                                          <p:attrName>ppt_w</p:attrName>
                                        </p:attrNameLst>
                                      </p:cBhvr>
                                      <p:tavLst>
                                        <p:tav tm="0">
                                          <p:val>
                                            <p:fltVal val="0"/>
                                          </p:val>
                                        </p:tav>
                                        <p:tav tm="100000">
                                          <p:val>
                                            <p:strVal val="#ppt_w"/>
                                          </p:val>
                                        </p:tav>
                                      </p:tavLst>
                                    </p:anim>
                                    <p:anim calcmode="lin" valueType="num">
                                      <p:cBhvr>
                                        <p:cTn id="20" dur="500" fill="hold"/>
                                        <p:tgtEl>
                                          <p:spTgt spid="202761"/>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02756"/>
                                        </p:tgtEl>
                                        <p:attrNameLst>
                                          <p:attrName>style.visibility</p:attrName>
                                        </p:attrNameLst>
                                      </p:cBhvr>
                                      <p:to>
                                        <p:strVal val="visible"/>
                                      </p:to>
                                    </p:set>
                                    <p:animEffect transition="in" filter="box(in)">
                                      <p:cBhvr>
                                        <p:cTn id="25" dur="500"/>
                                        <p:tgtEl>
                                          <p:spTgt spid="202756"/>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grpId="0" nodeType="clickEffect">
                                  <p:stCondLst>
                                    <p:cond delay="0"/>
                                  </p:stCondLst>
                                  <p:childTnLst>
                                    <p:set>
                                      <p:cBhvr>
                                        <p:cTn id="29" dur="1" fill="hold">
                                          <p:stCondLst>
                                            <p:cond delay="0"/>
                                          </p:stCondLst>
                                        </p:cTn>
                                        <p:tgtEl>
                                          <p:spTgt spid="202759"/>
                                        </p:tgtEl>
                                        <p:attrNameLst>
                                          <p:attrName>style.visibility</p:attrName>
                                        </p:attrNameLst>
                                      </p:cBhvr>
                                      <p:to>
                                        <p:strVal val="visible"/>
                                      </p:to>
                                    </p:set>
                                    <p:anim calcmode="lin" valueType="num">
                                      <p:cBhvr>
                                        <p:cTn id="30" dur="500" fill="hold"/>
                                        <p:tgtEl>
                                          <p:spTgt spid="202759"/>
                                        </p:tgtEl>
                                        <p:attrNameLst>
                                          <p:attrName>ppt_x</p:attrName>
                                        </p:attrNameLst>
                                      </p:cBhvr>
                                      <p:tavLst>
                                        <p:tav tm="0">
                                          <p:val>
                                            <p:strVal val="#ppt_x-#ppt_w/2"/>
                                          </p:val>
                                        </p:tav>
                                        <p:tav tm="100000">
                                          <p:val>
                                            <p:strVal val="#ppt_x"/>
                                          </p:val>
                                        </p:tav>
                                      </p:tavLst>
                                    </p:anim>
                                    <p:anim calcmode="lin" valueType="num">
                                      <p:cBhvr>
                                        <p:cTn id="31" dur="500" fill="hold"/>
                                        <p:tgtEl>
                                          <p:spTgt spid="202759"/>
                                        </p:tgtEl>
                                        <p:attrNameLst>
                                          <p:attrName>ppt_y</p:attrName>
                                        </p:attrNameLst>
                                      </p:cBhvr>
                                      <p:tavLst>
                                        <p:tav tm="0">
                                          <p:val>
                                            <p:strVal val="#ppt_y"/>
                                          </p:val>
                                        </p:tav>
                                        <p:tav tm="100000">
                                          <p:val>
                                            <p:strVal val="#ppt_y"/>
                                          </p:val>
                                        </p:tav>
                                      </p:tavLst>
                                    </p:anim>
                                    <p:anim calcmode="lin" valueType="num">
                                      <p:cBhvr>
                                        <p:cTn id="32" dur="500" fill="hold"/>
                                        <p:tgtEl>
                                          <p:spTgt spid="202759"/>
                                        </p:tgtEl>
                                        <p:attrNameLst>
                                          <p:attrName>ppt_w</p:attrName>
                                        </p:attrNameLst>
                                      </p:cBhvr>
                                      <p:tavLst>
                                        <p:tav tm="0">
                                          <p:val>
                                            <p:fltVal val="0"/>
                                          </p:val>
                                        </p:tav>
                                        <p:tav tm="100000">
                                          <p:val>
                                            <p:strVal val="#ppt_w"/>
                                          </p:val>
                                        </p:tav>
                                      </p:tavLst>
                                    </p:anim>
                                    <p:anim calcmode="lin" valueType="num">
                                      <p:cBhvr>
                                        <p:cTn id="33" dur="500" fill="hold"/>
                                        <p:tgtEl>
                                          <p:spTgt spid="202759"/>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grpId="0" nodeType="clickEffect">
                                  <p:stCondLst>
                                    <p:cond delay="0"/>
                                  </p:stCondLst>
                                  <p:childTnLst>
                                    <p:set>
                                      <p:cBhvr>
                                        <p:cTn id="37" dur="1" fill="hold">
                                          <p:stCondLst>
                                            <p:cond delay="0"/>
                                          </p:stCondLst>
                                        </p:cTn>
                                        <p:tgtEl>
                                          <p:spTgt spid="202760"/>
                                        </p:tgtEl>
                                        <p:attrNameLst>
                                          <p:attrName>style.visibility</p:attrName>
                                        </p:attrNameLst>
                                      </p:cBhvr>
                                      <p:to>
                                        <p:strVal val="visible"/>
                                      </p:to>
                                    </p:set>
                                    <p:anim calcmode="lin" valueType="num">
                                      <p:cBhvr>
                                        <p:cTn id="38" dur="500" fill="hold"/>
                                        <p:tgtEl>
                                          <p:spTgt spid="202760"/>
                                        </p:tgtEl>
                                        <p:attrNameLst>
                                          <p:attrName>ppt_x</p:attrName>
                                        </p:attrNameLst>
                                      </p:cBhvr>
                                      <p:tavLst>
                                        <p:tav tm="0">
                                          <p:val>
                                            <p:strVal val="#ppt_x-#ppt_w/2"/>
                                          </p:val>
                                        </p:tav>
                                        <p:tav tm="100000">
                                          <p:val>
                                            <p:strVal val="#ppt_x"/>
                                          </p:val>
                                        </p:tav>
                                      </p:tavLst>
                                    </p:anim>
                                    <p:anim calcmode="lin" valueType="num">
                                      <p:cBhvr>
                                        <p:cTn id="39" dur="500" fill="hold"/>
                                        <p:tgtEl>
                                          <p:spTgt spid="202760"/>
                                        </p:tgtEl>
                                        <p:attrNameLst>
                                          <p:attrName>ppt_y</p:attrName>
                                        </p:attrNameLst>
                                      </p:cBhvr>
                                      <p:tavLst>
                                        <p:tav tm="0">
                                          <p:val>
                                            <p:strVal val="#ppt_y"/>
                                          </p:val>
                                        </p:tav>
                                        <p:tav tm="100000">
                                          <p:val>
                                            <p:strVal val="#ppt_y"/>
                                          </p:val>
                                        </p:tav>
                                      </p:tavLst>
                                    </p:anim>
                                    <p:anim calcmode="lin" valueType="num">
                                      <p:cBhvr>
                                        <p:cTn id="40" dur="500" fill="hold"/>
                                        <p:tgtEl>
                                          <p:spTgt spid="202760"/>
                                        </p:tgtEl>
                                        <p:attrNameLst>
                                          <p:attrName>ppt_w</p:attrName>
                                        </p:attrNameLst>
                                      </p:cBhvr>
                                      <p:tavLst>
                                        <p:tav tm="0">
                                          <p:val>
                                            <p:fltVal val="0"/>
                                          </p:val>
                                        </p:tav>
                                        <p:tav tm="100000">
                                          <p:val>
                                            <p:strVal val="#ppt_w"/>
                                          </p:val>
                                        </p:tav>
                                      </p:tavLst>
                                    </p:anim>
                                    <p:anim calcmode="lin" valueType="num">
                                      <p:cBhvr>
                                        <p:cTn id="41" dur="500" fill="hold"/>
                                        <p:tgtEl>
                                          <p:spTgt spid="2027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nimBg="1"/>
      <p:bldP spid="202756" grpId="0" animBg="1"/>
      <p:bldP spid="202757" grpId="0" animBg="1"/>
      <p:bldP spid="202759" grpId="0"/>
      <p:bldP spid="202760" grpId="0"/>
      <p:bldP spid="20276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3"/>
          <p:cNvSpPr>
            <a:spLocks noChangeArrowheads="1"/>
          </p:cNvSpPr>
          <p:nvPr/>
        </p:nvSpPr>
        <p:spPr bwMode="auto">
          <a:xfrm>
            <a:off x="824548" y="1931191"/>
            <a:ext cx="2521767" cy="701675"/>
          </a:xfrm>
          <a:prstGeom prst="rect">
            <a:avLst/>
          </a:prstGeom>
          <a:solidFill>
            <a:srgbClr val="92D050"/>
          </a:solidFill>
          <a:ln w="9525">
            <a:noFill/>
            <a:miter lim="800000"/>
            <a:headEnd/>
            <a:tailEnd/>
          </a:ln>
        </p:spPr>
        <p:txBody>
          <a:bodyPr wrap="square" anchor="ctr">
            <a:spAutoFit/>
          </a:bodyPr>
          <a:lstStyle/>
          <a:p>
            <a:pPr defTabSz="914400"/>
            <a:r>
              <a:rPr lang="zh-CN" altLang="en-US" sz="4000" dirty="0">
                <a:solidFill>
                  <a:schemeClr val="bg1"/>
                </a:solidFill>
                <a:latin typeface="微软雅黑" pitchFamily="34" charset="-122"/>
                <a:ea typeface="微软雅黑" pitchFamily="34" charset="-122"/>
              </a:rPr>
              <a:t> </a:t>
            </a:r>
            <a:r>
              <a:rPr lang="zh-CN" altLang="en-US" sz="3200" b="1" dirty="0">
                <a:latin typeface="微软雅黑" pitchFamily="34" charset="-122"/>
                <a:ea typeface="微软雅黑" pitchFamily="34" charset="-122"/>
              </a:rPr>
              <a:t>本征光电导</a:t>
            </a:r>
            <a:r>
              <a:rPr lang="zh-CN" altLang="en-US" sz="3200" dirty="0">
                <a:latin typeface="微软雅黑" pitchFamily="34" charset="-122"/>
                <a:ea typeface="微软雅黑" pitchFamily="34" charset="-122"/>
              </a:rPr>
              <a:t> </a:t>
            </a:r>
            <a:endParaRPr lang="zh-CN" altLang="en-US" sz="4000" dirty="0">
              <a:latin typeface="微软雅黑" pitchFamily="34" charset="-122"/>
              <a:ea typeface="微软雅黑" pitchFamily="34" charset="-122"/>
            </a:endParaRPr>
          </a:p>
        </p:txBody>
      </p:sp>
      <p:graphicFrame>
        <p:nvGraphicFramePr>
          <p:cNvPr id="203780" name="Object 4"/>
          <p:cNvGraphicFramePr>
            <a:graphicFrameLocks noChangeAspect="1"/>
          </p:cNvGraphicFramePr>
          <p:nvPr>
            <p:extLst>
              <p:ext uri="{D42A27DB-BD31-4B8C-83A1-F6EECF244321}">
                <p14:modId xmlns:p14="http://schemas.microsoft.com/office/powerpoint/2010/main" val="3360922787"/>
              </p:ext>
            </p:extLst>
          </p:nvPr>
        </p:nvGraphicFramePr>
        <p:xfrm>
          <a:off x="6140620" y="2874991"/>
          <a:ext cx="4391025" cy="754063"/>
        </p:xfrm>
        <a:graphic>
          <a:graphicData uri="http://schemas.openxmlformats.org/presentationml/2006/ole">
            <mc:AlternateContent xmlns:mc="http://schemas.openxmlformats.org/markup-compatibility/2006">
              <mc:Choice xmlns:v="urn:schemas-microsoft-com:vml" Requires="v">
                <p:oleObj spid="_x0000_s19730" name="公式" r:id="rId3" imgW="1409400" imgH="241200" progId="Equation.3">
                  <p:embed/>
                </p:oleObj>
              </mc:Choice>
              <mc:Fallback>
                <p:oleObj name="公式" r:id="rId3" imgW="1409400" imgH="241200" progId="Equation.3">
                  <p:embed/>
                  <p:pic>
                    <p:nvPicPr>
                      <p:cNvPr id="0" name="Object 4"/>
                      <p:cNvPicPr>
                        <a:picLocks noChangeAspect="1" noChangeArrowheads="1"/>
                      </p:cNvPicPr>
                      <p:nvPr/>
                    </p:nvPicPr>
                    <p:blipFill>
                      <a:blip r:embed="rId4"/>
                      <a:srcRect/>
                      <a:stretch>
                        <a:fillRect/>
                      </a:stretch>
                    </p:blipFill>
                    <p:spPr bwMode="auto">
                      <a:xfrm>
                        <a:off x="6140620" y="2874991"/>
                        <a:ext cx="4391025" cy="754063"/>
                      </a:xfrm>
                      <a:prstGeom prst="rect">
                        <a:avLst/>
                      </a:prstGeom>
                      <a:solidFill>
                        <a:srgbClr val="FFFF00"/>
                      </a:solidFill>
                    </p:spPr>
                  </p:pic>
                </p:oleObj>
              </mc:Fallback>
            </mc:AlternateContent>
          </a:graphicData>
        </a:graphic>
      </p:graphicFrame>
      <p:graphicFrame>
        <p:nvGraphicFramePr>
          <p:cNvPr id="203781" name="Object 5"/>
          <p:cNvGraphicFramePr>
            <a:graphicFrameLocks noChangeAspect="1"/>
          </p:cNvGraphicFramePr>
          <p:nvPr>
            <p:extLst>
              <p:ext uri="{D42A27DB-BD31-4B8C-83A1-F6EECF244321}">
                <p14:modId xmlns:p14="http://schemas.microsoft.com/office/powerpoint/2010/main" val="3673421290"/>
              </p:ext>
            </p:extLst>
          </p:nvPr>
        </p:nvGraphicFramePr>
        <p:xfrm>
          <a:off x="4793139" y="4828966"/>
          <a:ext cx="6486525" cy="795337"/>
        </p:xfrm>
        <a:graphic>
          <a:graphicData uri="http://schemas.openxmlformats.org/presentationml/2006/ole">
            <mc:AlternateContent xmlns:mc="http://schemas.openxmlformats.org/markup-compatibility/2006">
              <mc:Choice xmlns:v="urn:schemas-microsoft-com:vml" Requires="v">
                <p:oleObj spid="_x0000_s19731" name="公式" r:id="rId5" imgW="2019300" imgH="241300" progId="Equation.3">
                  <p:embed/>
                </p:oleObj>
              </mc:Choice>
              <mc:Fallback>
                <p:oleObj name="公式" r:id="rId5" imgW="20193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3139" y="4828966"/>
                        <a:ext cx="6486525" cy="795337"/>
                      </a:xfrm>
                      <a:prstGeom prst="rect">
                        <a:avLst/>
                      </a:prstGeom>
                      <a:solidFill>
                        <a:srgbClr val="FFFF00"/>
                      </a:solidFill>
                    </p:spPr>
                  </p:pic>
                </p:oleObj>
              </mc:Fallback>
            </mc:AlternateContent>
          </a:graphicData>
        </a:graphic>
      </p:graphicFrame>
      <p:graphicFrame>
        <p:nvGraphicFramePr>
          <p:cNvPr id="203782" name="Object 6"/>
          <p:cNvGraphicFramePr>
            <a:graphicFrameLocks noChangeAspect="1"/>
          </p:cNvGraphicFramePr>
          <p:nvPr/>
        </p:nvGraphicFramePr>
        <p:xfrm>
          <a:off x="4433888" y="6653848"/>
          <a:ext cx="6480175" cy="755650"/>
        </p:xfrm>
        <a:graphic>
          <a:graphicData uri="http://schemas.openxmlformats.org/presentationml/2006/ole">
            <mc:AlternateContent xmlns:mc="http://schemas.openxmlformats.org/markup-compatibility/2006">
              <mc:Choice xmlns:v="urn:schemas-microsoft-com:vml" Requires="v">
                <p:oleObj spid="_x0000_s19732" name="Equation" r:id="rId7" imgW="1739900" imgH="254000" progId="">
                  <p:embed/>
                </p:oleObj>
              </mc:Choice>
              <mc:Fallback>
                <p:oleObj name="Equation" r:id="rId7" imgW="1739900" imgH="254000" progId="">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3888" y="6653848"/>
                        <a:ext cx="6480175" cy="755650"/>
                      </a:xfrm>
                      <a:prstGeom prst="rect">
                        <a:avLst/>
                      </a:prstGeom>
                      <a:solidFill>
                        <a:srgbClr val="FFFF00"/>
                      </a:solidFill>
                    </p:spPr>
                  </p:pic>
                </p:oleObj>
              </mc:Fallback>
            </mc:AlternateContent>
          </a:graphicData>
        </a:graphic>
      </p:graphicFrame>
      <p:sp>
        <p:nvSpPr>
          <p:cNvPr id="203783" name="Rectangle 7"/>
          <p:cNvSpPr>
            <a:spLocks noChangeArrowheads="1"/>
          </p:cNvSpPr>
          <p:nvPr/>
        </p:nvSpPr>
        <p:spPr bwMode="auto">
          <a:xfrm>
            <a:off x="2057718" y="2959636"/>
            <a:ext cx="3763962" cy="584775"/>
          </a:xfrm>
          <a:prstGeom prst="rect">
            <a:avLst/>
          </a:prstGeom>
          <a:solidFill>
            <a:srgbClr val="00B0F0"/>
          </a:solidFill>
          <a:ln w="9525">
            <a:noFill/>
            <a:miter lim="800000"/>
            <a:headEnd/>
            <a:tailEnd/>
          </a:ln>
        </p:spPr>
        <p:txBody>
          <a:bodyPr wrap="square" anchor="ctr">
            <a:spAutoFit/>
          </a:bodyPr>
          <a:lstStyle/>
          <a:p>
            <a:pPr defTabSz="914400"/>
            <a:r>
              <a:rPr lang="zh-CN" altLang="en-US" sz="3200" b="1" dirty="0">
                <a:latin typeface="微软雅黑" pitchFamily="34" charset="-122"/>
                <a:ea typeface="微软雅黑" pitchFamily="34" charset="-122"/>
              </a:rPr>
              <a:t>无光照时暗电导率：</a:t>
            </a:r>
            <a:r>
              <a:rPr lang="zh-CN" altLang="en-US" sz="3200" b="1" dirty="0">
                <a:solidFill>
                  <a:schemeClr val="bg1"/>
                </a:solidFill>
                <a:latin typeface="微软雅黑" pitchFamily="34" charset="-122"/>
                <a:ea typeface="微软雅黑" pitchFamily="34" charset="-122"/>
              </a:rPr>
              <a:t> </a:t>
            </a:r>
          </a:p>
        </p:txBody>
      </p:sp>
      <p:sp>
        <p:nvSpPr>
          <p:cNvPr id="203784" name="Rectangle 8"/>
          <p:cNvSpPr>
            <a:spLocks noChangeArrowheads="1"/>
          </p:cNvSpPr>
          <p:nvPr/>
        </p:nvSpPr>
        <p:spPr bwMode="auto">
          <a:xfrm>
            <a:off x="2057718" y="3965926"/>
            <a:ext cx="5470842" cy="584775"/>
          </a:xfrm>
          <a:prstGeom prst="rect">
            <a:avLst/>
          </a:prstGeom>
          <a:solidFill>
            <a:srgbClr val="3399FF"/>
          </a:solidFill>
          <a:ln w="9525">
            <a:noFill/>
            <a:miter lim="800000"/>
            <a:headEnd/>
            <a:tailEnd/>
          </a:ln>
        </p:spPr>
        <p:txBody>
          <a:bodyPr wrap="square" anchor="ctr">
            <a:spAutoFit/>
          </a:bodyPr>
          <a:lstStyle/>
          <a:p>
            <a:pPr defTabSz="914400"/>
            <a:r>
              <a:rPr lang="zh-CN" altLang="en-US" sz="3200" b="1" dirty="0">
                <a:latin typeface="微软雅黑" pitchFamily="34" charset="-122"/>
                <a:ea typeface="微软雅黑" pitchFamily="34" charset="-122"/>
              </a:rPr>
              <a:t>光照稳定时半导体总电导率：</a:t>
            </a:r>
            <a:r>
              <a:rPr lang="zh-CN" altLang="en-US" sz="3200" b="1" dirty="0">
                <a:solidFill>
                  <a:schemeClr val="bg1"/>
                </a:solidFill>
                <a:latin typeface="微软雅黑" pitchFamily="34" charset="-122"/>
                <a:ea typeface="微软雅黑" pitchFamily="34" charset="-122"/>
              </a:rPr>
              <a:t> </a:t>
            </a:r>
          </a:p>
        </p:txBody>
      </p:sp>
      <p:sp>
        <p:nvSpPr>
          <p:cNvPr id="203785" name="Rectangle 9"/>
          <p:cNvSpPr>
            <a:spLocks noChangeArrowheads="1"/>
          </p:cNvSpPr>
          <p:nvPr/>
        </p:nvSpPr>
        <p:spPr bwMode="auto">
          <a:xfrm>
            <a:off x="2057718" y="5703259"/>
            <a:ext cx="3093402" cy="584775"/>
          </a:xfrm>
          <a:prstGeom prst="rect">
            <a:avLst/>
          </a:prstGeom>
          <a:solidFill>
            <a:srgbClr val="3399FF"/>
          </a:solidFill>
          <a:ln w="9525">
            <a:noFill/>
            <a:miter lim="800000"/>
            <a:headEnd/>
            <a:tailEnd/>
          </a:ln>
        </p:spPr>
        <p:txBody>
          <a:bodyPr wrap="square" anchor="ctr">
            <a:spAutoFit/>
          </a:bodyPr>
          <a:lstStyle/>
          <a:p>
            <a:pPr defTabSz="914400"/>
            <a:r>
              <a:rPr lang="zh-CN" altLang="en-US" sz="3200" b="1" dirty="0">
                <a:latin typeface="微软雅黑" pitchFamily="34" charset="-122"/>
                <a:ea typeface="微软雅黑" pitchFamily="34" charset="-122"/>
              </a:rPr>
              <a:t>附加光电导率：</a:t>
            </a:r>
            <a:r>
              <a:rPr lang="zh-CN" altLang="en-US" sz="3200" b="1" dirty="0">
                <a:solidFill>
                  <a:schemeClr val="bg1"/>
                </a:solidFill>
                <a:latin typeface="微软雅黑" pitchFamily="34" charset="-122"/>
                <a:ea typeface="微软雅黑" pitchFamily="34" charset="-122"/>
              </a:rPr>
              <a:t> </a:t>
            </a:r>
          </a:p>
        </p:txBody>
      </p:sp>
      <p:sp>
        <p:nvSpPr>
          <p:cNvPr id="1035" name="TextBox 17"/>
          <p:cNvSpPr txBox="1">
            <a:spLocks noChangeArrowheads="1"/>
          </p:cNvSpPr>
          <p:nvPr/>
        </p:nvSpPr>
        <p:spPr bwMode="auto">
          <a:xfrm>
            <a:off x="4169767" y="992729"/>
            <a:ext cx="5404802" cy="830997"/>
          </a:xfrm>
          <a:prstGeom prst="rect">
            <a:avLst/>
          </a:prstGeom>
          <a:gradFill rotWithShape="1">
            <a:gsLst>
              <a:gs pos="0">
                <a:srgbClr val="FFF200"/>
              </a:gs>
              <a:gs pos="45000">
                <a:srgbClr val="FF7A00"/>
              </a:gs>
              <a:gs pos="70000">
                <a:srgbClr val="FF0300"/>
              </a:gs>
              <a:gs pos="100000">
                <a:srgbClr val="4D0808"/>
              </a:gs>
            </a:gsLst>
            <a:lin ang="2700000"/>
          </a:gradFill>
          <a:ln w="9525">
            <a:noFill/>
            <a:miter lim="800000"/>
            <a:headEnd/>
            <a:tailEnd/>
          </a:ln>
        </p:spPr>
        <p:txBody>
          <a:bodyPr wrap="square">
            <a:spAutoFit/>
          </a:bodyPr>
          <a:lstStyle/>
          <a:p>
            <a:pPr algn="ctr" defTabSz="914400"/>
            <a:r>
              <a:rPr lang="en-US" altLang="zh-CN" sz="4800" b="1" dirty="0">
                <a:solidFill>
                  <a:schemeClr val="bg1"/>
                </a:solidFill>
                <a:latin typeface="微软雅黑" pitchFamily="34" charset="-122"/>
                <a:ea typeface="微软雅黑" pitchFamily="34" charset="-122"/>
              </a:rPr>
              <a:t>1.</a:t>
            </a:r>
            <a:r>
              <a:rPr lang="zh-CN" altLang="en-US" sz="4800" b="1" dirty="0">
                <a:solidFill>
                  <a:schemeClr val="bg1"/>
                </a:solidFill>
                <a:latin typeface="微软雅黑" pitchFamily="34" charset="-122"/>
                <a:ea typeface="微软雅黑" pitchFamily="34" charset="-122"/>
              </a:rPr>
              <a:t>附加光电导率</a:t>
            </a:r>
          </a:p>
        </p:txBody>
      </p:sp>
      <p:graphicFrame>
        <p:nvGraphicFramePr>
          <p:cNvPr id="2" name="对象 1"/>
          <p:cNvGraphicFramePr>
            <a:graphicFrameLocks noChangeAspect="1"/>
          </p:cNvGraphicFramePr>
          <p:nvPr>
            <p:extLst>
              <p:ext uri="{D42A27DB-BD31-4B8C-83A1-F6EECF244321}">
                <p14:modId xmlns:p14="http://schemas.microsoft.com/office/powerpoint/2010/main" val="4003077381"/>
              </p:ext>
            </p:extLst>
          </p:nvPr>
        </p:nvGraphicFramePr>
        <p:xfrm>
          <a:off x="10541890" y="1707503"/>
          <a:ext cx="2530171" cy="673468"/>
        </p:xfrm>
        <a:graphic>
          <a:graphicData uri="http://schemas.openxmlformats.org/presentationml/2006/ole">
            <mc:AlternateContent xmlns:mc="http://schemas.openxmlformats.org/markup-compatibility/2006">
              <mc:Choice xmlns:v="urn:schemas-microsoft-com:vml" Requires="v">
                <p:oleObj spid="_x0000_s19733" name="公式" r:id="rId9" imgW="622080" imgH="164880" progId="Equation.3">
                  <p:embed/>
                </p:oleObj>
              </mc:Choice>
              <mc:Fallback>
                <p:oleObj name="公式" r:id="rId9" imgW="622080" imgH="164880" progId="Equation.3">
                  <p:embed/>
                  <p:pic>
                    <p:nvPicPr>
                      <p:cNvPr id="0" name="Object 4"/>
                      <p:cNvPicPr>
                        <a:picLocks noChangeAspect="1" noChangeArrowheads="1"/>
                      </p:cNvPicPr>
                      <p:nvPr/>
                    </p:nvPicPr>
                    <p:blipFill>
                      <a:blip r:embed="rId10"/>
                      <a:srcRect/>
                      <a:stretch>
                        <a:fillRect/>
                      </a:stretch>
                    </p:blipFill>
                    <p:spPr bwMode="auto">
                      <a:xfrm>
                        <a:off x="10541890" y="1707503"/>
                        <a:ext cx="2530171" cy="673468"/>
                      </a:xfrm>
                      <a:prstGeom prst="rect">
                        <a:avLst/>
                      </a:prstGeom>
                      <a:solidFill>
                        <a:schemeClr val="accent2">
                          <a:lumMod val="60000"/>
                          <a:lumOff val="40000"/>
                        </a:schemeClr>
                      </a:solidFill>
                      <a:ln>
                        <a:noFill/>
                      </a:ln>
                    </p:spPr>
                  </p:pic>
                </p:oleObj>
              </mc:Fallback>
            </mc:AlternateContent>
          </a:graphicData>
        </a:graphic>
      </p:graphicFrame>
      <p:sp>
        <p:nvSpPr>
          <p:cNvPr id="16" name="文本框 60">
            <a:extLst>
              <a:ext uri="{FF2B5EF4-FFF2-40B4-BE49-F238E27FC236}">
                <a16:creationId xmlns="" xmlns:a16="http://schemas.microsoft.com/office/drawing/2014/main" id="{0C9163A9-8C2E-4E73-ABAF-FC236AD75A8A}"/>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7" name="矩形 16">
            <a:extLst>
              <a:ext uri="{FF2B5EF4-FFF2-40B4-BE49-F238E27FC236}">
                <a16:creationId xmlns="" xmlns:a16="http://schemas.microsoft.com/office/drawing/2014/main" id="{0F9A7AFB-21FC-45D5-AF3F-7F530C44FB5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 xmlns:a16="http://schemas.microsoft.com/office/drawing/2014/main" id="{75478064-4CDD-4543-ABD2-4243763C6BF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 xmlns:a16="http://schemas.microsoft.com/office/drawing/2014/main" id="{5ACEA0B4-E776-4941-BDEE-2514BFE6CD17}"/>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B55BDA9E-AD13-4377-837C-10DA536B1553}"/>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9262C266-4673-413D-A1DC-1C077C823CC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696343AB-B092-4A99-B7C9-1FB9317EFC2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box(in)">
                                      <p:cBhvr>
                                        <p:cTn id="7" dur="500"/>
                                        <p:tgtEl>
                                          <p:spTgt spid="103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29"/>
                                        </p:tgtEl>
                                        <p:attrNameLst>
                                          <p:attrName>style.visibility</p:attrName>
                                        </p:attrNameLst>
                                      </p:cBhvr>
                                      <p:to>
                                        <p:strVal val="visible"/>
                                      </p:to>
                                    </p:set>
                                    <p:animEffect transition="in" filter="box(in)">
                                      <p:cBhvr>
                                        <p:cTn id="17" dur="500"/>
                                        <p:tgtEl>
                                          <p:spTgt spid="1029"/>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03783"/>
                                        </p:tgtEl>
                                        <p:attrNameLst>
                                          <p:attrName>style.visibility</p:attrName>
                                        </p:attrNameLst>
                                      </p:cBhvr>
                                      <p:to>
                                        <p:strVal val="visible"/>
                                      </p:to>
                                    </p:set>
                                    <p:animEffect transition="in" filter="diamond(in)">
                                      <p:cBhvr>
                                        <p:cTn id="22" dur="2000"/>
                                        <p:tgtEl>
                                          <p:spTgt spid="20378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03780"/>
                                        </p:tgtEl>
                                        <p:attrNameLst>
                                          <p:attrName>style.visibility</p:attrName>
                                        </p:attrNameLst>
                                      </p:cBhvr>
                                      <p:to>
                                        <p:strVal val="visible"/>
                                      </p:to>
                                    </p:set>
                                    <p:animEffect transition="in" filter="box(in)">
                                      <p:cBhvr>
                                        <p:cTn id="27" dur="500"/>
                                        <p:tgtEl>
                                          <p:spTgt spid="20378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03784"/>
                                        </p:tgtEl>
                                        <p:attrNameLst>
                                          <p:attrName>style.visibility</p:attrName>
                                        </p:attrNameLst>
                                      </p:cBhvr>
                                      <p:to>
                                        <p:strVal val="visible"/>
                                      </p:to>
                                    </p:set>
                                    <p:animEffect transition="in" filter="box(in)">
                                      <p:cBhvr>
                                        <p:cTn id="32" dur="500"/>
                                        <p:tgtEl>
                                          <p:spTgt spid="20378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03781"/>
                                        </p:tgtEl>
                                        <p:attrNameLst>
                                          <p:attrName>style.visibility</p:attrName>
                                        </p:attrNameLst>
                                      </p:cBhvr>
                                      <p:to>
                                        <p:strVal val="visible"/>
                                      </p:to>
                                    </p:set>
                                    <p:animEffect transition="in" filter="box(in)">
                                      <p:cBhvr>
                                        <p:cTn id="37" dur="500"/>
                                        <p:tgtEl>
                                          <p:spTgt spid="20378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03785"/>
                                        </p:tgtEl>
                                        <p:attrNameLst>
                                          <p:attrName>style.visibility</p:attrName>
                                        </p:attrNameLst>
                                      </p:cBhvr>
                                      <p:to>
                                        <p:strVal val="visible"/>
                                      </p:to>
                                    </p:set>
                                    <p:animEffect transition="in" filter="box(in)">
                                      <p:cBhvr>
                                        <p:cTn id="42" dur="500"/>
                                        <p:tgtEl>
                                          <p:spTgt spid="20378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03782"/>
                                        </p:tgtEl>
                                        <p:attrNameLst>
                                          <p:attrName>style.visibility</p:attrName>
                                        </p:attrNameLst>
                                      </p:cBhvr>
                                      <p:to>
                                        <p:strVal val="visible"/>
                                      </p:to>
                                    </p:set>
                                    <p:animEffect transition="in" filter="box(in)">
                                      <p:cBhvr>
                                        <p:cTn id="47" dur="500"/>
                                        <p:tgtEl>
                                          <p:spTgt spid="203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animBg="1"/>
      <p:bldP spid="203783" grpId="0" animBg="1"/>
      <p:bldP spid="203784" grpId="0" animBg="1"/>
      <p:bldP spid="203785" grpId="0" animBg="1"/>
      <p:bldP spid="10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4"/>
          <p:cNvSpPr>
            <a:spLocks noChangeArrowheads="1"/>
          </p:cNvSpPr>
          <p:nvPr/>
        </p:nvSpPr>
        <p:spPr bwMode="auto">
          <a:xfrm>
            <a:off x="1724660" y="1677542"/>
            <a:ext cx="4099199" cy="584775"/>
          </a:xfrm>
          <a:prstGeom prst="rect">
            <a:avLst/>
          </a:prstGeom>
          <a:noFill/>
          <a:ln w="9525">
            <a:noFill/>
            <a:miter lim="800000"/>
            <a:headEnd/>
            <a:tailEnd/>
          </a:ln>
        </p:spPr>
        <p:txBody>
          <a:bodyPr wrap="none" anchor="ctr">
            <a:spAutoFit/>
          </a:bodyPr>
          <a:lstStyle/>
          <a:p>
            <a:pPr defTabSz="914400"/>
            <a:r>
              <a:rPr lang="zh-CN" altLang="en-US" sz="3200" b="1" dirty="0">
                <a:latin typeface="微软雅黑" pitchFamily="34" charset="-122"/>
                <a:ea typeface="微软雅黑" pitchFamily="34" charset="-122"/>
              </a:rPr>
              <a:t>光电导率的相对值：</a:t>
            </a:r>
            <a:r>
              <a:rPr lang="zh-CN" altLang="en-US" sz="3200" b="1" dirty="0">
                <a:solidFill>
                  <a:schemeClr val="bg1"/>
                </a:solidFill>
                <a:latin typeface="微软雅黑" pitchFamily="34" charset="-122"/>
                <a:ea typeface="微软雅黑" pitchFamily="34" charset="-122"/>
              </a:rPr>
              <a:t> </a:t>
            </a:r>
          </a:p>
        </p:txBody>
      </p:sp>
      <p:graphicFrame>
        <p:nvGraphicFramePr>
          <p:cNvPr id="2050" name="Object 6"/>
          <p:cNvGraphicFramePr>
            <a:graphicFrameLocks noChangeAspect="1"/>
          </p:cNvGraphicFramePr>
          <p:nvPr>
            <p:extLst>
              <p:ext uri="{D42A27DB-BD31-4B8C-83A1-F6EECF244321}">
                <p14:modId xmlns:p14="http://schemas.microsoft.com/office/powerpoint/2010/main" val="3117483457"/>
              </p:ext>
            </p:extLst>
          </p:nvPr>
        </p:nvGraphicFramePr>
        <p:xfrm>
          <a:off x="2311718" y="3579495"/>
          <a:ext cx="3671887" cy="1417638"/>
        </p:xfrm>
        <a:graphic>
          <a:graphicData uri="http://schemas.openxmlformats.org/presentationml/2006/ole">
            <mc:AlternateContent xmlns:mc="http://schemas.openxmlformats.org/markup-compatibility/2006">
              <mc:Choice xmlns:v="urn:schemas-microsoft-com:vml" Requires="v">
                <p:oleObj spid="_x0000_s20699" name="Equation" r:id="rId3" imgW="1129810" imgH="431613" progId="">
                  <p:embed/>
                </p:oleObj>
              </mc:Choice>
              <mc:Fallback>
                <p:oleObj name="Equation" r:id="rId3" imgW="1129810" imgH="431613"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718" y="3579495"/>
                        <a:ext cx="3671887" cy="1417638"/>
                      </a:xfrm>
                      <a:prstGeom prst="rect">
                        <a:avLst/>
                      </a:prstGeom>
                      <a:solidFill>
                        <a:srgbClr val="FFFF00"/>
                      </a:solidFill>
                    </p:spPr>
                  </p:pic>
                </p:oleObj>
              </mc:Fallback>
            </mc:AlternateContent>
          </a:graphicData>
        </a:graphic>
      </p:graphicFrame>
      <p:graphicFrame>
        <p:nvGraphicFramePr>
          <p:cNvPr id="2051" name="Object 8"/>
          <p:cNvGraphicFramePr>
            <a:graphicFrameLocks noChangeAspect="1"/>
          </p:cNvGraphicFramePr>
          <p:nvPr>
            <p:extLst>
              <p:ext uri="{D42A27DB-BD31-4B8C-83A1-F6EECF244321}">
                <p14:modId xmlns:p14="http://schemas.microsoft.com/office/powerpoint/2010/main" val="515791309"/>
              </p:ext>
            </p:extLst>
          </p:nvPr>
        </p:nvGraphicFramePr>
        <p:xfrm>
          <a:off x="7280593" y="3569970"/>
          <a:ext cx="3382962" cy="1433513"/>
        </p:xfrm>
        <a:graphic>
          <a:graphicData uri="http://schemas.openxmlformats.org/presentationml/2006/ole">
            <mc:AlternateContent xmlns:mc="http://schemas.openxmlformats.org/markup-compatibility/2006">
              <mc:Choice xmlns:v="urn:schemas-microsoft-com:vml" Requires="v">
                <p:oleObj spid="_x0000_s20700" name="Equation" r:id="rId5" imgW="901309" imgH="380835" progId="">
                  <p:embed/>
                </p:oleObj>
              </mc:Choice>
              <mc:Fallback>
                <p:oleObj name="Equation" r:id="rId5" imgW="901309" imgH="380835" progId="">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0593" y="3569970"/>
                        <a:ext cx="3382962" cy="1433513"/>
                      </a:xfrm>
                      <a:prstGeom prst="rect">
                        <a:avLst/>
                      </a:prstGeom>
                      <a:solidFill>
                        <a:srgbClr val="FFFF00"/>
                      </a:solidFill>
                    </p:spPr>
                  </p:pic>
                </p:oleObj>
              </mc:Fallback>
            </mc:AlternateContent>
          </a:graphicData>
        </a:graphic>
      </p:graphicFrame>
      <p:sp>
        <p:nvSpPr>
          <p:cNvPr id="2056" name="AutoShape 9"/>
          <p:cNvSpPr>
            <a:spLocks noChangeArrowheads="1"/>
          </p:cNvSpPr>
          <p:nvPr/>
        </p:nvSpPr>
        <p:spPr bwMode="auto">
          <a:xfrm>
            <a:off x="5983605" y="3866833"/>
            <a:ext cx="1296988" cy="863600"/>
          </a:xfrm>
          <a:prstGeom prst="rightArrow">
            <a:avLst>
              <a:gd name="adj1" fmla="val 50000"/>
              <a:gd name="adj2" fmla="val 37546"/>
            </a:avLst>
          </a:prstGeom>
          <a:solidFill>
            <a:srgbClr val="FF00FF"/>
          </a:solidFill>
          <a:ln w="9525">
            <a:solidFill>
              <a:schemeClr val="tx1"/>
            </a:solidFill>
            <a:miter lim="800000"/>
            <a:headEnd/>
            <a:tailEnd/>
          </a:ln>
        </p:spPr>
        <p:txBody>
          <a:bodyPr wrap="none" anchor="ctr"/>
          <a:lstStyle/>
          <a:p>
            <a:pPr defTabSz="914400"/>
            <a:endParaRPr lang="zh-CN" altLang="en-US" sz="2800" b="1">
              <a:latin typeface="微软雅黑" pitchFamily="34" charset="-122"/>
              <a:ea typeface="微软雅黑" pitchFamily="34" charset="-122"/>
            </a:endParaRPr>
          </a:p>
        </p:txBody>
      </p:sp>
      <p:sp>
        <p:nvSpPr>
          <p:cNvPr id="2057" name="Rectangle 10"/>
          <p:cNvSpPr>
            <a:spLocks noChangeArrowheads="1"/>
          </p:cNvSpPr>
          <p:nvPr/>
        </p:nvSpPr>
        <p:spPr bwMode="auto">
          <a:xfrm>
            <a:off x="1000125" y="5408893"/>
            <a:ext cx="11973560" cy="1477328"/>
          </a:xfrm>
          <a:prstGeom prst="rect">
            <a:avLst/>
          </a:prstGeom>
          <a:noFill/>
          <a:ln w="19050">
            <a:solidFill>
              <a:srgbClr val="FF0000"/>
            </a:solidFill>
            <a:miter lim="800000"/>
            <a:headEnd/>
            <a:tailEnd/>
          </a:ln>
        </p:spPr>
        <p:txBody>
          <a:bodyPr wrap="square" anchor="ct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要制成（相对）光电导高的器件，应该使</a:t>
            </a:r>
            <a:r>
              <a:rPr lang="en-US" altLang="zh-CN" sz="2800" b="1" i="1" dirty="0">
                <a:latin typeface="Times New Roman" pitchFamily="18" charset="0"/>
                <a:ea typeface="微软雅黑" pitchFamily="34" charset="-122"/>
                <a:cs typeface="Times New Roman" pitchFamily="18" charset="0"/>
              </a:rPr>
              <a:t>n</a:t>
            </a:r>
            <a:r>
              <a:rPr lang="en-US" altLang="zh-CN" sz="2800" b="1" baseline="-25000" dirty="0">
                <a:latin typeface="Times New Roman" pitchFamily="18" charset="0"/>
                <a:ea typeface="微软雅黑" pitchFamily="34" charset="-122"/>
                <a:cs typeface="Times New Roman" pitchFamily="18" charset="0"/>
              </a:rPr>
              <a:t>0</a:t>
            </a:r>
            <a:r>
              <a:rPr lang="zh-CN" altLang="en-US" sz="2800" b="1" dirty="0">
                <a:latin typeface="Times New Roman" pitchFamily="18" charset="0"/>
                <a:ea typeface="微软雅黑" pitchFamily="34" charset="-122"/>
                <a:cs typeface="Times New Roman" pitchFamily="18" charset="0"/>
              </a:rPr>
              <a:t>和</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0</a:t>
            </a:r>
            <a:r>
              <a:rPr lang="zh-CN" altLang="en-US" sz="2800" b="1" dirty="0">
                <a:latin typeface="Times New Roman" pitchFamily="18" charset="0"/>
                <a:ea typeface="微软雅黑" pitchFamily="34" charset="-122"/>
                <a:cs typeface="Times New Roman" pitchFamily="18" charset="0"/>
              </a:rPr>
              <a:t>有较小数值。因此，光电导器件一般是由</a:t>
            </a:r>
            <a:r>
              <a:rPr lang="zh-CN" altLang="en-US" sz="3200" b="1" dirty="0">
                <a:solidFill>
                  <a:srgbClr val="FF0000"/>
                </a:solidFill>
                <a:latin typeface="华文彩云" pitchFamily="2" charset="-122"/>
                <a:ea typeface="华文彩云" pitchFamily="2" charset="-122"/>
                <a:cs typeface="Times New Roman" pitchFamily="18" charset="0"/>
              </a:rPr>
              <a:t>高阻材料</a:t>
            </a:r>
            <a:r>
              <a:rPr lang="zh-CN" altLang="en-US" sz="2800" b="1" dirty="0">
                <a:latin typeface="Times New Roman" pitchFamily="18" charset="0"/>
                <a:ea typeface="微软雅黑" pitchFamily="34" charset="-122"/>
                <a:cs typeface="Times New Roman" pitchFamily="18" charset="0"/>
              </a:rPr>
              <a:t>制成或者在</a:t>
            </a:r>
            <a:r>
              <a:rPr lang="zh-CN" altLang="en-US" sz="3200" b="1" dirty="0">
                <a:solidFill>
                  <a:srgbClr val="FF0000"/>
                </a:solidFill>
                <a:latin typeface="华文琥珀" pitchFamily="2" charset="-122"/>
                <a:ea typeface="华文琥珀" pitchFamily="2" charset="-122"/>
                <a:cs typeface="Times New Roman" pitchFamily="18" charset="0"/>
              </a:rPr>
              <a:t>低温下</a:t>
            </a:r>
            <a:r>
              <a:rPr lang="zh-CN" altLang="en-US" sz="2800" b="1" dirty="0">
                <a:latin typeface="Times New Roman" pitchFamily="18" charset="0"/>
                <a:ea typeface="微软雅黑" pitchFamily="34" charset="-122"/>
                <a:cs typeface="Times New Roman" pitchFamily="18" charset="0"/>
              </a:rPr>
              <a:t>使用。</a:t>
            </a:r>
            <a:r>
              <a:rPr lang="zh-CN" altLang="en-US" sz="2800" b="1" dirty="0">
                <a:solidFill>
                  <a:schemeClr val="bg1"/>
                </a:solidFill>
                <a:latin typeface="Times New Roman" pitchFamily="18" charset="0"/>
                <a:ea typeface="微软雅黑" pitchFamily="34" charset="-122"/>
                <a:cs typeface="Times New Roman" pitchFamily="18" charset="0"/>
              </a:rPr>
              <a:t> </a:t>
            </a:r>
          </a:p>
        </p:txBody>
      </p:sp>
      <p:graphicFrame>
        <p:nvGraphicFramePr>
          <p:cNvPr id="2052" name="Object 9"/>
          <p:cNvGraphicFramePr>
            <a:graphicFrameLocks noChangeAspect="1"/>
          </p:cNvGraphicFramePr>
          <p:nvPr>
            <p:extLst>
              <p:ext uri="{D42A27DB-BD31-4B8C-83A1-F6EECF244321}">
                <p14:modId xmlns:p14="http://schemas.microsoft.com/office/powerpoint/2010/main" val="2553804671"/>
              </p:ext>
            </p:extLst>
          </p:nvPr>
        </p:nvGraphicFramePr>
        <p:xfrm>
          <a:off x="8812530" y="2442845"/>
          <a:ext cx="1643063" cy="622300"/>
        </p:xfrm>
        <a:graphic>
          <a:graphicData uri="http://schemas.openxmlformats.org/presentationml/2006/ole">
            <mc:AlternateContent xmlns:mc="http://schemas.openxmlformats.org/markup-compatibility/2006">
              <mc:Choice xmlns:v="urn:schemas-microsoft-com:vml" Requires="v">
                <p:oleObj spid="_x0000_s20701" name="Equation" r:id="rId7" imgW="622030" imgH="228501" progId="">
                  <p:embed/>
                </p:oleObj>
              </mc:Choice>
              <mc:Fallback>
                <p:oleObj name="Equation" r:id="rId7" imgW="622030" imgH="228501" progId="">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12530" y="2442845"/>
                        <a:ext cx="1643063" cy="622300"/>
                      </a:xfrm>
                      <a:prstGeom prst="rect">
                        <a:avLst/>
                      </a:prstGeom>
                      <a:solidFill>
                        <a:srgbClr val="FFCC00"/>
                      </a:solidFill>
                    </p:spPr>
                  </p:pic>
                </p:oleObj>
              </mc:Fallback>
            </mc:AlternateContent>
          </a:graphicData>
        </a:graphic>
      </p:graphicFrame>
      <p:sp>
        <p:nvSpPr>
          <p:cNvPr id="14" name="下箭头 13"/>
          <p:cNvSpPr>
            <a:spLocks noChangeArrowheads="1"/>
          </p:cNvSpPr>
          <p:nvPr/>
        </p:nvSpPr>
        <p:spPr bwMode="auto">
          <a:xfrm rot="10800000">
            <a:off x="9517380" y="3154045"/>
            <a:ext cx="266700" cy="488950"/>
          </a:xfrm>
          <a:prstGeom prst="downArrow">
            <a:avLst>
              <a:gd name="adj1" fmla="val 50000"/>
              <a:gd name="adj2" fmla="val 50001"/>
            </a:avLst>
          </a:prstGeom>
          <a:solidFill>
            <a:srgbClr val="FF00FF"/>
          </a:solidFill>
          <a:ln w="25400" algn="ctr">
            <a:solidFill>
              <a:srgbClr val="385D8A"/>
            </a:solidFill>
            <a:miter lim="800000"/>
            <a:headEnd/>
            <a:tailEnd/>
          </a:ln>
        </p:spPr>
        <p:txBody>
          <a:bodyPr rot="10800000" anchor="ctr"/>
          <a:lstStyle/>
          <a:p>
            <a:pPr algn="ctr" defTabSz="914400">
              <a:defRPr/>
            </a:pPr>
            <a:endParaRPr lang="zh-CN" altLang="en-US" sz="2800" b="1">
              <a:solidFill>
                <a:schemeClr val="lt1"/>
              </a:solidFill>
              <a:latin typeface="微软雅黑" pitchFamily="34" charset="-122"/>
              <a:ea typeface="微软雅黑" pitchFamily="34" charset="-122"/>
            </a:endParaRPr>
          </a:p>
        </p:txBody>
      </p:sp>
      <p:sp>
        <p:nvSpPr>
          <p:cNvPr id="15" name="文本框 60">
            <a:extLst>
              <a:ext uri="{FF2B5EF4-FFF2-40B4-BE49-F238E27FC236}">
                <a16:creationId xmlns="" xmlns:a16="http://schemas.microsoft.com/office/drawing/2014/main" id="{520171FD-9606-40DC-B57B-1F8011C3DF1A}"/>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6" name="矩形 15">
            <a:extLst>
              <a:ext uri="{FF2B5EF4-FFF2-40B4-BE49-F238E27FC236}">
                <a16:creationId xmlns="" xmlns:a16="http://schemas.microsoft.com/office/drawing/2014/main" id="{61464C8C-F4B1-42CE-AD63-9B932A2CCEF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155326E0-E947-47E0-A2ED-B3BC6CD03CF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 xmlns:a16="http://schemas.microsoft.com/office/drawing/2014/main" id="{B86B663D-D562-43B5-9EE8-9501CD526E47}"/>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 xmlns:a16="http://schemas.microsoft.com/office/drawing/2014/main" id="{98979A4D-A7DA-45BB-AE94-F3E5F8A3897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 xmlns:a16="http://schemas.microsoft.com/office/drawing/2014/main" id="{06AB3448-B002-4E35-92DF-D6942827735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 xmlns:a16="http://schemas.microsoft.com/office/drawing/2014/main" id="{9A6F7D0B-11EA-4C85-8962-8BD4B242598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box(in)">
                                      <p:cBhvr>
                                        <p:cTn id="7" dur="500"/>
                                        <p:tgtEl>
                                          <p:spTgt spid="205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ox(in)">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56"/>
                                        </p:tgtEl>
                                        <p:attrNameLst>
                                          <p:attrName>style.visibility</p:attrName>
                                        </p:attrNameLst>
                                      </p:cBhvr>
                                      <p:to>
                                        <p:strVal val="visible"/>
                                      </p:to>
                                    </p:set>
                                    <p:animEffect transition="in" filter="box(in)">
                                      <p:cBhvr>
                                        <p:cTn id="17" dur="500"/>
                                        <p:tgtEl>
                                          <p:spTgt spid="205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051"/>
                                        </p:tgtEl>
                                        <p:attrNameLst>
                                          <p:attrName>style.visibility</p:attrName>
                                        </p:attrNameLst>
                                      </p:cBhvr>
                                      <p:to>
                                        <p:strVal val="visible"/>
                                      </p:to>
                                    </p:set>
                                    <p:animEffect transition="in" filter="box(in)">
                                      <p:cBhvr>
                                        <p:cTn id="22" dur="500"/>
                                        <p:tgtEl>
                                          <p:spTgt spid="205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ox(in)">
                                      <p:cBhvr>
                                        <p:cTn id="27" dur="500"/>
                                        <p:tgtEl>
                                          <p:spTgt spid="14"/>
                                        </p:tgtEl>
                                      </p:cBhvr>
                                    </p:animEffect>
                                  </p:childTnLst>
                                </p:cTn>
                              </p:par>
                              <p:par>
                                <p:cTn id="28" presetID="4" presetClass="entr" presetSubtype="16" fill="hold" nodeType="withEffect">
                                  <p:stCondLst>
                                    <p:cond delay="0"/>
                                  </p:stCondLst>
                                  <p:childTnLst>
                                    <p:set>
                                      <p:cBhvr>
                                        <p:cTn id="29" dur="1" fill="hold">
                                          <p:stCondLst>
                                            <p:cond delay="0"/>
                                          </p:stCondLst>
                                        </p:cTn>
                                        <p:tgtEl>
                                          <p:spTgt spid="2052"/>
                                        </p:tgtEl>
                                        <p:attrNameLst>
                                          <p:attrName>style.visibility</p:attrName>
                                        </p:attrNameLst>
                                      </p:cBhvr>
                                      <p:to>
                                        <p:strVal val="visible"/>
                                      </p:to>
                                    </p:set>
                                    <p:animEffect transition="in" filter="box(in)">
                                      <p:cBhvr>
                                        <p:cTn id="30" dur="500"/>
                                        <p:tgtEl>
                                          <p:spTgt spid="2052"/>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057"/>
                                        </p:tgtEl>
                                        <p:attrNameLst>
                                          <p:attrName>style.visibility</p:attrName>
                                        </p:attrNameLst>
                                      </p:cBhvr>
                                      <p:to>
                                        <p:strVal val="visible"/>
                                      </p:to>
                                    </p:set>
                                    <p:animEffect transition="in" filter="checkerboard(across)">
                                      <p:cBhvr>
                                        <p:cTn id="35"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p:bldP spid="2056" grpId="0" animBg="1"/>
      <p:bldP spid="2057"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828" name="Object 4"/>
          <p:cNvGraphicFramePr>
            <a:graphicFrameLocks noChangeAspect="1"/>
          </p:cNvGraphicFramePr>
          <p:nvPr>
            <p:extLst>
              <p:ext uri="{D42A27DB-BD31-4B8C-83A1-F6EECF244321}">
                <p14:modId xmlns:p14="http://schemas.microsoft.com/office/powerpoint/2010/main" val="4197446271"/>
              </p:ext>
            </p:extLst>
          </p:nvPr>
        </p:nvGraphicFramePr>
        <p:xfrm>
          <a:off x="4290986" y="1580252"/>
          <a:ext cx="6480175" cy="882650"/>
        </p:xfrm>
        <a:graphic>
          <a:graphicData uri="http://schemas.openxmlformats.org/presentationml/2006/ole">
            <mc:AlternateContent xmlns:mc="http://schemas.openxmlformats.org/markup-compatibility/2006">
              <mc:Choice xmlns:v="urn:schemas-microsoft-com:vml" Requires="v">
                <p:oleObj spid="_x0000_s21651" name="Equation" r:id="rId3" imgW="1739900" imgH="254000" progId="">
                  <p:embed/>
                </p:oleObj>
              </mc:Choice>
              <mc:Fallback>
                <p:oleObj name="Equation" r:id="rId3" imgW="1739900" imgH="25400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0986" y="1580252"/>
                        <a:ext cx="6480175" cy="882650"/>
                      </a:xfrm>
                      <a:prstGeom prst="rect">
                        <a:avLst/>
                      </a:prstGeom>
                      <a:solidFill>
                        <a:schemeClr val="bg1"/>
                      </a:solidFill>
                    </p:spPr>
                  </p:pic>
                </p:oleObj>
              </mc:Fallback>
            </mc:AlternateContent>
          </a:graphicData>
        </a:graphic>
      </p:graphicFrame>
      <p:sp>
        <p:nvSpPr>
          <p:cNvPr id="205829" name="Rectangle 5"/>
          <p:cNvSpPr>
            <a:spLocks noChangeArrowheads="1"/>
          </p:cNvSpPr>
          <p:nvPr/>
        </p:nvSpPr>
        <p:spPr bwMode="auto">
          <a:xfrm>
            <a:off x="1966278" y="1883464"/>
            <a:ext cx="2428875" cy="579438"/>
          </a:xfrm>
          <a:prstGeom prst="rect">
            <a:avLst/>
          </a:prstGeom>
          <a:noFill/>
          <a:ln w="9525">
            <a:noFill/>
            <a:miter lim="800000"/>
            <a:headEnd/>
            <a:tailEnd/>
          </a:ln>
        </p:spPr>
        <p:txBody>
          <a:bodyPr wrap="none" anchor="ctr">
            <a:spAutoFit/>
          </a:bodyPr>
          <a:lstStyle/>
          <a:p>
            <a:pPr defTabSz="914400"/>
            <a:r>
              <a:rPr lang="zh-CN" altLang="en-US" sz="3200" b="1" dirty="0">
                <a:latin typeface="微软雅黑" pitchFamily="34" charset="-122"/>
                <a:ea typeface="微软雅黑" pitchFamily="34" charset="-122"/>
              </a:rPr>
              <a:t>光电导率：</a:t>
            </a:r>
            <a:r>
              <a:rPr lang="zh-CN" altLang="en-US" sz="3200" b="1" dirty="0">
                <a:solidFill>
                  <a:schemeClr val="bg1"/>
                </a:solidFill>
                <a:latin typeface="微软雅黑" pitchFamily="34" charset="-122"/>
                <a:ea typeface="微软雅黑" pitchFamily="34" charset="-122"/>
              </a:rPr>
              <a:t> </a:t>
            </a:r>
          </a:p>
        </p:txBody>
      </p:sp>
      <p:sp>
        <p:nvSpPr>
          <p:cNvPr id="205832" name="Rectangle 8"/>
          <p:cNvSpPr>
            <a:spLocks noChangeArrowheads="1"/>
          </p:cNvSpPr>
          <p:nvPr/>
        </p:nvSpPr>
        <p:spPr bwMode="auto">
          <a:xfrm>
            <a:off x="4511885" y="3129239"/>
            <a:ext cx="3889375" cy="701675"/>
          </a:xfrm>
          <a:prstGeom prst="rect">
            <a:avLst/>
          </a:prstGeom>
          <a:solidFill>
            <a:srgbClr val="FFFF00"/>
          </a:solidFill>
          <a:ln w="9525">
            <a:noFill/>
            <a:miter lim="800000"/>
            <a:headEnd/>
            <a:tailEnd/>
          </a:ln>
        </p:spPr>
        <p:txBody>
          <a:bodyPr anchor="ctr">
            <a:spAutoFit/>
          </a:bodyPr>
          <a:lstStyle/>
          <a:p>
            <a:pPr algn="ctr" defTabSz="914400"/>
            <a:r>
              <a:rPr lang="zh-CN" altLang="en-US" sz="4000" b="1" dirty="0">
                <a:solidFill>
                  <a:schemeClr val="bg1"/>
                </a:solidFill>
                <a:latin typeface="微软雅黑" pitchFamily="34" charset="-122"/>
                <a:ea typeface="微软雅黑" pitchFamily="34" charset="-122"/>
              </a:rPr>
              <a:t> </a:t>
            </a:r>
            <a:r>
              <a:rPr lang="zh-CN" altLang="en-US" sz="3600" b="1" dirty="0">
                <a:latin typeface="微软雅黑" pitchFamily="34" charset="-122"/>
                <a:ea typeface="微软雅黑" pitchFamily="34" charset="-122"/>
              </a:rPr>
              <a:t>非本征光电导 </a:t>
            </a:r>
          </a:p>
        </p:txBody>
      </p:sp>
      <p:sp>
        <p:nvSpPr>
          <p:cNvPr id="205833" name="Rectangle 9"/>
          <p:cNvSpPr>
            <a:spLocks noChangeArrowheads="1"/>
          </p:cNvSpPr>
          <p:nvPr/>
        </p:nvSpPr>
        <p:spPr bwMode="auto">
          <a:xfrm>
            <a:off x="2350453" y="4063365"/>
            <a:ext cx="2428875" cy="579438"/>
          </a:xfrm>
          <a:prstGeom prst="rect">
            <a:avLst/>
          </a:prstGeom>
          <a:noFill/>
          <a:ln w="9525">
            <a:noFill/>
            <a:miter lim="800000"/>
            <a:headEnd/>
            <a:tailEnd/>
          </a:ln>
        </p:spPr>
        <p:txBody>
          <a:bodyPr wrap="none" anchor="ctr">
            <a:spAutoFit/>
          </a:bodyPr>
          <a:lstStyle/>
          <a:p>
            <a:pPr defTabSz="914400"/>
            <a:r>
              <a:rPr lang="zh-CN" altLang="en-US" sz="3200" b="1">
                <a:latin typeface="微软雅黑" pitchFamily="34" charset="-122"/>
                <a:ea typeface="微软雅黑" pitchFamily="34" charset="-122"/>
              </a:rPr>
              <a:t>光电导率：</a:t>
            </a:r>
            <a:r>
              <a:rPr lang="zh-CN" altLang="en-US" sz="3200" b="1">
                <a:solidFill>
                  <a:schemeClr val="bg1"/>
                </a:solidFill>
                <a:latin typeface="微软雅黑" pitchFamily="34" charset="-122"/>
                <a:ea typeface="微软雅黑" pitchFamily="34" charset="-122"/>
              </a:rPr>
              <a:t> </a:t>
            </a:r>
          </a:p>
        </p:txBody>
      </p:sp>
      <p:graphicFrame>
        <p:nvGraphicFramePr>
          <p:cNvPr id="205835" name="Object 11"/>
          <p:cNvGraphicFramePr>
            <a:graphicFrameLocks noChangeAspect="1"/>
          </p:cNvGraphicFramePr>
          <p:nvPr>
            <p:extLst>
              <p:ext uri="{D42A27DB-BD31-4B8C-83A1-F6EECF244321}">
                <p14:modId xmlns:p14="http://schemas.microsoft.com/office/powerpoint/2010/main" val="3344750347"/>
              </p:ext>
            </p:extLst>
          </p:nvPr>
        </p:nvGraphicFramePr>
        <p:xfrm>
          <a:off x="4039553" y="4730115"/>
          <a:ext cx="6337300" cy="1728788"/>
        </p:xfrm>
        <a:graphic>
          <a:graphicData uri="http://schemas.openxmlformats.org/presentationml/2006/ole">
            <mc:AlternateContent xmlns:mc="http://schemas.openxmlformats.org/markup-compatibility/2006">
              <mc:Choice xmlns:v="urn:schemas-microsoft-com:vml" Requires="v">
                <p:oleObj spid="_x0000_s21652" name="Equation" r:id="rId5" imgW="1726451" imgH="495085" progId="">
                  <p:embed/>
                </p:oleObj>
              </mc:Choice>
              <mc:Fallback>
                <p:oleObj name="Equation" r:id="rId5" imgW="1726451" imgH="495085"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9553" y="4730115"/>
                        <a:ext cx="6337300" cy="1728788"/>
                      </a:xfrm>
                      <a:prstGeom prst="rect">
                        <a:avLst/>
                      </a:prstGeom>
                      <a:solidFill>
                        <a:schemeClr val="accent4">
                          <a:lumMod val="60000"/>
                          <a:lumOff val="40000"/>
                        </a:schemeClr>
                      </a:solidFill>
                    </p:spPr>
                  </p:pic>
                </p:oleObj>
              </mc:Fallback>
            </mc:AlternateContent>
          </a:graphicData>
        </a:graphic>
      </p:graphicFrame>
      <p:sp>
        <p:nvSpPr>
          <p:cNvPr id="12" name="文本框 60">
            <a:extLst>
              <a:ext uri="{FF2B5EF4-FFF2-40B4-BE49-F238E27FC236}">
                <a16:creationId xmlns="" xmlns:a16="http://schemas.microsoft.com/office/drawing/2014/main" id="{9078338A-4257-44A8-8F9D-B455A9F56670}"/>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3" name="矩形 12">
            <a:extLst>
              <a:ext uri="{FF2B5EF4-FFF2-40B4-BE49-F238E27FC236}">
                <a16:creationId xmlns="" xmlns:a16="http://schemas.microsoft.com/office/drawing/2014/main" id="{1548379D-A628-40B1-9CC5-730F161DF4C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 xmlns:a16="http://schemas.microsoft.com/office/drawing/2014/main" id="{7D51FA9F-AB49-4FB8-BEC4-573163EEB91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 xmlns:a16="http://schemas.microsoft.com/office/drawing/2014/main" id="{D9BC41D4-F74F-4C4E-9649-28CD7C03A69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 xmlns:a16="http://schemas.microsoft.com/office/drawing/2014/main" id="{680EAFD7-506E-4369-8F52-E6DB0D1BB466}"/>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 xmlns:a16="http://schemas.microsoft.com/office/drawing/2014/main" id="{8BC85F0B-B271-401C-9E1A-588B7E59F92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 xmlns:a16="http://schemas.microsoft.com/office/drawing/2014/main" id="{2898814A-96CD-4E6A-8450-1EBD7C3145F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205828"/>
                                        </p:tgtEl>
                                        <p:attrNameLst>
                                          <p:attrName>style.visibility</p:attrName>
                                        </p:attrNameLst>
                                      </p:cBhvr>
                                      <p:to>
                                        <p:strVal val="visible"/>
                                      </p:to>
                                    </p:set>
                                    <p:anim calcmode="lin" valueType="num">
                                      <p:cBhvr>
                                        <p:cTn id="7" dur="500" fill="hold"/>
                                        <p:tgtEl>
                                          <p:spTgt spid="205828"/>
                                        </p:tgtEl>
                                        <p:attrNameLst>
                                          <p:attrName>ppt_x</p:attrName>
                                        </p:attrNameLst>
                                      </p:cBhvr>
                                      <p:tavLst>
                                        <p:tav tm="0">
                                          <p:val>
                                            <p:strVal val="#ppt_x-#ppt_w/2"/>
                                          </p:val>
                                        </p:tav>
                                        <p:tav tm="100000">
                                          <p:val>
                                            <p:strVal val="#ppt_x"/>
                                          </p:val>
                                        </p:tav>
                                      </p:tavLst>
                                    </p:anim>
                                    <p:anim calcmode="lin" valueType="num">
                                      <p:cBhvr>
                                        <p:cTn id="8" dur="500" fill="hold"/>
                                        <p:tgtEl>
                                          <p:spTgt spid="205828"/>
                                        </p:tgtEl>
                                        <p:attrNameLst>
                                          <p:attrName>ppt_y</p:attrName>
                                        </p:attrNameLst>
                                      </p:cBhvr>
                                      <p:tavLst>
                                        <p:tav tm="0">
                                          <p:val>
                                            <p:strVal val="#ppt_y"/>
                                          </p:val>
                                        </p:tav>
                                        <p:tav tm="100000">
                                          <p:val>
                                            <p:strVal val="#ppt_y"/>
                                          </p:val>
                                        </p:tav>
                                      </p:tavLst>
                                    </p:anim>
                                    <p:anim calcmode="lin" valueType="num">
                                      <p:cBhvr>
                                        <p:cTn id="9" dur="500" fill="hold"/>
                                        <p:tgtEl>
                                          <p:spTgt spid="205828"/>
                                        </p:tgtEl>
                                        <p:attrNameLst>
                                          <p:attrName>ppt_w</p:attrName>
                                        </p:attrNameLst>
                                      </p:cBhvr>
                                      <p:tavLst>
                                        <p:tav tm="0">
                                          <p:val>
                                            <p:fltVal val="0"/>
                                          </p:val>
                                        </p:tav>
                                        <p:tav tm="100000">
                                          <p:val>
                                            <p:strVal val="#ppt_w"/>
                                          </p:val>
                                        </p:tav>
                                      </p:tavLst>
                                    </p:anim>
                                    <p:anim calcmode="lin" valueType="num">
                                      <p:cBhvr>
                                        <p:cTn id="10" dur="500" fill="hold"/>
                                        <p:tgtEl>
                                          <p:spTgt spid="205828"/>
                                        </p:tgtEl>
                                        <p:attrNameLst>
                                          <p:attrName>ppt_h</p:attrName>
                                        </p:attrNameLst>
                                      </p:cBhvr>
                                      <p:tavLst>
                                        <p:tav tm="0">
                                          <p:val>
                                            <p:strVal val="#ppt_h"/>
                                          </p:val>
                                        </p:tav>
                                        <p:tav tm="100000">
                                          <p:val>
                                            <p:strVal val="#ppt_h"/>
                                          </p:val>
                                        </p:tav>
                                      </p:tavLst>
                                    </p:anim>
                                  </p:childTnLst>
                                </p:cTn>
                              </p:par>
                              <p:par>
                                <p:cTn id="11" presetID="17" presetClass="entr" presetSubtype="8" fill="hold" grpId="0" nodeType="withEffect">
                                  <p:stCondLst>
                                    <p:cond delay="0"/>
                                  </p:stCondLst>
                                  <p:childTnLst>
                                    <p:set>
                                      <p:cBhvr>
                                        <p:cTn id="12" dur="1" fill="hold">
                                          <p:stCondLst>
                                            <p:cond delay="0"/>
                                          </p:stCondLst>
                                        </p:cTn>
                                        <p:tgtEl>
                                          <p:spTgt spid="205829"/>
                                        </p:tgtEl>
                                        <p:attrNameLst>
                                          <p:attrName>style.visibility</p:attrName>
                                        </p:attrNameLst>
                                      </p:cBhvr>
                                      <p:to>
                                        <p:strVal val="visible"/>
                                      </p:to>
                                    </p:set>
                                    <p:anim calcmode="lin" valueType="num">
                                      <p:cBhvr>
                                        <p:cTn id="13" dur="500" fill="hold"/>
                                        <p:tgtEl>
                                          <p:spTgt spid="205829"/>
                                        </p:tgtEl>
                                        <p:attrNameLst>
                                          <p:attrName>ppt_x</p:attrName>
                                        </p:attrNameLst>
                                      </p:cBhvr>
                                      <p:tavLst>
                                        <p:tav tm="0">
                                          <p:val>
                                            <p:strVal val="#ppt_x-#ppt_w/2"/>
                                          </p:val>
                                        </p:tav>
                                        <p:tav tm="100000">
                                          <p:val>
                                            <p:strVal val="#ppt_x"/>
                                          </p:val>
                                        </p:tav>
                                      </p:tavLst>
                                    </p:anim>
                                    <p:anim calcmode="lin" valueType="num">
                                      <p:cBhvr>
                                        <p:cTn id="14" dur="500" fill="hold"/>
                                        <p:tgtEl>
                                          <p:spTgt spid="205829"/>
                                        </p:tgtEl>
                                        <p:attrNameLst>
                                          <p:attrName>ppt_y</p:attrName>
                                        </p:attrNameLst>
                                      </p:cBhvr>
                                      <p:tavLst>
                                        <p:tav tm="0">
                                          <p:val>
                                            <p:strVal val="#ppt_y"/>
                                          </p:val>
                                        </p:tav>
                                        <p:tav tm="100000">
                                          <p:val>
                                            <p:strVal val="#ppt_y"/>
                                          </p:val>
                                        </p:tav>
                                      </p:tavLst>
                                    </p:anim>
                                    <p:anim calcmode="lin" valueType="num">
                                      <p:cBhvr>
                                        <p:cTn id="15" dur="500" fill="hold"/>
                                        <p:tgtEl>
                                          <p:spTgt spid="205829"/>
                                        </p:tgtEl>
                                        <p:attrNameLst>
                                          <p:attrName>ppt_w</p:attrName>
                                        </p:attrNameLst>
                                      </p:cBhvr>
                                      <p:tavLst>
                                        <p:tav tm="0">
                                          <p:val>
                                            <p:fltVal val="0"/>
                                          </p:val>
                                        </p:tav>
                                        <p:tav tm="100000">
                                          <p:val>
                                            <p:strVal val="#ppt_w"/>
                                          </p:val>
                                        </p:tav>
                                      </p:tavLst>
                                    </p:anim>
                                    <p:anim calcmode="lin" valueType="num">
                                      <p:cBhvr>
                                        <p:cTn id="16" dur="500" fill="hold"/>
                                        <p:tgtEl>
                                          <p:spTgt spid="205829"/>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205832"/>
                                        </p:tgtEl>
                                        <p:attrNameLst>
                                          <p:attrName>style.visibility</p:attrName>
                                        </p:attrNameLst>
                                      </p:cBhvr>
                                      <p:to>
                                        <p:strVal val="visible"/>
                                      </p:to>
                                    </p:set>
                                    <p:animEffect transition="in" filter="box(in)">
                                      <p:cBhvr>
                                        <p:cTn id="21" dur="500"/>
                                        <p:tgtEl>
                                          <p:spTgt spid="205832"/>
                                        </p:tgtEl>
                                      </p:cBhvr>
                                    </p:animEffect>
                                  </p:childTnLst>
                                </p:cTn>
                              </p:par>
                              <p:par>
                                <p:cTn id="22" presetID="17" presetClass="entr" presetSubtype="8" fill="hold" grpId="0" nodeType="withEffect">
                                  <p:stCondLst>
                                    <p:cond delay="0"/>
                                  </p:stCondLst>
                                  <p:childTnLst>
                                    <p:set>
                                      <p:cBhvr>
                                        <p:cTn id="23" dur="1" fill="hold">
                                          <p:stCondLst>
                                            <p:cond delay="0"/>
                                          </p:stCondLst>
                                        </p:cTn>
                                        <p:tgtEl>
                                          <p:spTgt spid="205833"/>
                                        </p:tgtEl>
                                        <p:attrNameLst>
                                          <p:attrName>style.visibility</p:attrName>
                                        </p:attrNameLst>
                                      </p:cBhvr>
                                      <p:to>
                                        <p:strVal val="visible"/>
                                      </p:to>
                                    </p:set>
                                    <p:anim calcmode="lin" valueType="num">
                                      <p:cBhvr>
                                        <p:cTn id="24" dur="500" fill="hold"/>
                                        <p:tgtEl>
                                          <p:spTgt spid="205833"/>
                                        </p:tgtEl>
                                        <p:attrNameLst>
                                          <p:attrName>ppt_x</p:attrName>
                                        </p:attrNameLst>
                                      </p:cBhvr>
                                      <p:tavLst>
                                        <p:tav tm="0">
                                          <p:val>
                                            <p:strVal val="#ppt_x-#ppt_w/2"/>
                                          </p:val>
                                        </p:tav>
                                        <p:tav tm="100000">
                                          <p:val>
                                            <p:strVal val="#ppt_x"/>
                                          </p:val>
                                        </p:tav>
                                      </p:tavLst>
                                    </p:anim>
                                    <p:anim calcmode="lin" valueType="num">
                                      <p:cBhvr>
                                        <p:cTn id="25" dur="500" fill="hold"/>
                                        <p:tgtEl>
                                          <p:spTgt spid="205833"/>
                                        </p:tgtEl>
                                        <p:attrNameLst>
                                          <p:attrName>ppt_y</p:attrName>
                                        </p:attrNameLst>
                                      </p:cBhvr>
                                      <p:tavLst>
                                        <p:tav tm="0">
                                          <p:val>
                                            <p:strVal val="#ppt_y"/>
                                          </p:val>
                                        </p:tav>
                                        <p:tav tm="100000">
                                          <p:val>
                                            <p:strVal val="#ppt_y"/>
                                          </p:val>
                                        </p:tav>
                                      </p:tavLst>
                                    </p:anim>
                                    <p:anim calcmode="lin" valueType="num">
                                      <p:cBhvr>
                                        <p:cTn id="26" dur="500" fill="hold"/>
                                        <p:tgtEl>
                                          <p:spTgt spid="205833"/>
                                        </p:tgtEl>
                                        <p:attrNameLst>
                                          <p:attrName>ppt_w</p:attrName>
                                        </p:attrNameLst>
                                      </p:cBhvr>
                                      <p:tavLst>
                                        <p:tav tm="0">
                                          <p:val>
                                            <p:fltVal val="0"/>
                                          </p:val>
                                        </p:tav>
                                        <p:tav tm="100000">
                                          <p:val>
                                            <p:strVal val="#ppt_w"/>
                                          </p:val>
                                        </p:tav>
                                      </p:tavLst>
                                    </p:anim>
                                    <p:anim calcmode="lin" valueType="num">
                                      <p:cBhvr>
                                        <p:cTn id="27" dur="500" fill="hold"/>
                                        <p:tgtEl>
                                          <p:spTgt spid="205833"/>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05835"/>
                                        </p:tgtEl>
                                        <p:attrNameLst>
                                          <p:attrName>style.visibility</p:attrName>
                                        </p:attrNameLst>
                                      </p:cBhvr>
                                      <p:to>
                                        <p:strVal val="visible"/>
                                      </p:to>
                                    </p:set>
                                    <p:animEffect transition="in" filter="box(in)">
                                      <p:cBhvr>
                                        <p:cTn id="32" dur="500"/>
                                        <p:tgtEl>
                                          <p:spTgt spid="205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9" grpId="0"/>
      <p:bldP spid="205832" grpId="0" animBg="1"/>
      <p:bldP spid="2058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71"/>
          <p:cNvSpPr txBox="1">
            <a:spLocks noChangeArrowheads="1"/>
          </p:cNvSpPr>
          <p:nvPr/>
        </p:nvSpPr>
        <p:spPr bwMode="auto">
          <a:xfrm>
            <a:off x="9056163" y="5841345"/>
            <a:ext cx="2755900" cy="57785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2700000"/>
          </a:gradFill>
          <a:ln w="9525">
            <a:noFill/>
            <a:miter lim="800000"/>
            <a:headEnd/>
            <a:tailEnd/>
          </a:ln>
        </p:spPr>
        <p:txBody>
          <a:bodyPr lIns="0" tIns="0" rIns="0" bIns="0"/>
          <a:lstStyle/>
          <a:p>
            <a:pPr algn="ctr" defTabSz="914400"/>
            <a:r>
              <a:rPr lang="zh-CN" altLang="en-US" sz="3200" b="1" dirty="0">
                <a:latin typeface="微软雅黑" pitchFamily="34" charset="-122"/>
                <a:ea typeface="微软雅黑" pitchFamily="34" charset="-122"/>
              </a:rPr>
              <a:t>光电导效应</a:t>
            </a:r>
          </a:p>
        </p:txBody>
      </p:sp>
      <p:sp>
        <p:nvSpPr>
          <p:cNvPr id="75" name="TextBox 3"/>
          <p:cNvSpPr txBox="1">
            <a:spLocks noChangeArrowheads="1"/>
          </p:cNvSpPr>
          <p:nvPr/>
        </p:nvSpPr>
        <p:spPr bwMode="auto">
          <a:xfrm>
            <a:off x="1864784" y="1169745"/>
            <a:ext cx="9786168" cy="646331"/>
          </a:xfrm>
          <a:prstGeom prst="rect">
            <a:avLst/>
          </a:prstGeom>
          <a:gradFill rotWithShape="0">
            <a:gsLst>
              <a:gs pos="0">
                <a:srgbClr val="FFF200"/>
              </a:gs>
              <a:gs pos="45000">
                <a:srgbClr val="FF7A00"/>
              </a:gs>
              <a:gs pos="70000">
                <a:srgbClr val="FF0300"/>
              </a:gs>
              <a:gs pos="100000">
                <a:srgbClr val="4D0808"/>
              </a:gs>
            </a:gsLst>
            <a:lin ang="2700000"/>
          </a:gradFill>
          <a:ln w="9525">
            <a:noFill/>
            <a:miter lim="800000"/>
            <a:headEnd/>
            <a:tailEnd/>
          </a:ln>
        </p:spPr>
        <p:txBody>
          <a:bodyPr wrap="square">
            <a:spAutoFit/>
          </a:bodyPr>
          <a:lstStyle/>
          <a:p>
            <a:pPr algn="ctr" defTabSz="914400"/>
            <a:r>
              <a:rPr lang="en-US" altLang="zh-CN" sz="3600" b="1" dirty="0">
                <a:solidFill>
                  <a:srgbClr val="0000CC"/>
                </a:solidFill>
                <a:latin typeface="微软雅黑" pitchFamily="34" charset="-122"/>
                <a:ea typeface="微软雅黑" pitchFamily="34" charset="-122"/>
              </a:rPr>
              <a:t>2.</a:t>
            </a:r>
            <a:r>
              <a:rPr lang="zh-CN" altLang="en-US" sz="3600" b="1" dirty="0">
                <a:solidFill>
                  <a:srgbClr val="0000CC"/>
                </a:solidFill>
                <a:latin typeface="微软雅黑" pitchFamily="34" charset="-122"/>
                <a:ea typeface="微软雅黑" pitchFamily="34" charset="-122"/>
              </a:rPr>
              <a:t>定态光电导率、弛豫过程和定态光电流</a:t>
            </a:r>
          </a:p>
        </p:txBody>
      </p:sp>
      <p:sp>
        <p:nvSpPr>
          <p:cNvPr id="76" name="TextBox 75"/>
          <p:cNvSpPr txBox="1">
            <a:spLocks noChangeArrowheads="1"/>
          </p:cNvSpPr>
          <p:nvPr/>
        </p:nvSpPr>
        <p:spPr bwMode="auto">
          <a:xfrm>
            <a:off x="585787" y="2091224"/>
            <a:ext cx="6875327" cy="2677656"/>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如图频率为</a:t>
            </a:r>
            <a:r>
              <a:rPr lang="el-GR" altLang="zh-CN" sz="2800" b="1" dirty="0">
                <a:latin typeface="Times New Roman" pitchFamily="18" charset="0"/>
                <a:ea typeface="微软雅黑" pitchFamily="34" charset="-122"/>
                <a:cs typeface="Times New Roman" pitchFamily="18" charset="0"/>
              </a:rPr>
              <a:t>ν</a:t>
            </a:r>
            <a:r>
              <a:rPr lang="zh-CN" altLang="en-US" sz="2800" b="1" dirty="0">
                <a:latin typeface="Times New Roman" pitchFamily="18" charset="0"/>
                <a:ea typeface="微软雅黑" pitchFamily="34" charset="-122"/>
                <a:cs typeface="Times New Roman" pitchFamily="18" charset="0"/>
              </a:rPr>
              <a:t>，光通量为</a:t>
            </a:r>
            <a:r>
              <a:rPr lang="el-GR" altLang="zh-CN" sz="2800" b="1" dirty="0">
                <a:latin typeface="Times New Roman" pitchFamily="18" charset="0"/>
                <a:ea typeface="微软雅黑" pitchFamily="34" charset="-122"/>
                <a:cs typeface="Times New Roman" pitchFamily="18" charset="0"/>
              </a:rPr>
              <a:t>Φ</a:t>
            </a:r>
            <a:r>
              <a:rPr lang="en-US" altLang="zh-CN" sz="2800" b="1" baseline="-25000" dirty="0">
                <a:latin typeface="Times New Roman" pitchFamily="18" charset="0"/>
                <a:ea typeface="微软雅黑" pitchFamily="34" charset="-122"/>
                <a:cs typeface="Times New Roman" pitchFamily="18" charset="0"/>
              </a:rPr>
              <a:t>e,</a:t>
            </a:r>
            <a:r>
              <a:rPr lang="el-GR" altLang="zh-CN" sz="2800" b="1" baseline="-25000" dirty="0">
                <a:latin typeface="Times New Roman" panose="02020603050405020304" pitchFamily="18" charset="0"/>
                <a:ea typeface="微软雅黑" pitchFamily="34" charset="-122"/>
                <a:cs typeface="Times New Roman" pitchFamily="18" charset="0"/>
              </a:rPr>
              <a:t>λ</a:t>
            </a:r>
            <a:r>
              <a:rPr lang="zh-CN" altLang="en-US" sz="2800" b="1" dirty="0">
                <a:latin typeface="Times New Roman" pitchFamily="18" charset="0"/>
                <a:ea typeface="微软雅黑" pitchFamily="34" charset="-122"/>
                <a:cs typeface="Times New Roman" pitchFamily="18" charset="0"/>
              </a:rPr>
              <a:t>的光照射到长为</a:t>
            </a:r>
            <a:r>
              <a:rPr lang="en-US" altLang="zh-CN" sz="2800" b="1" i="1" dirty="0">
                <a:latin typeface="Times New Roman" pitchFamily="18" charset="0"/>
                <a:ea typeface="微软雅黑" pitchFamily="34" charset="-122"/>
                <a:cs typeface="Times New Roman" pitchFamily="18" charset="0"/>
              </a:rPr>
              <a:t>l</a:t>
            </a:r>
            <a:r>
              <a:rPr lang="zh-CN" altLang="en-US" sz="2800" b="1" dirty="0">
                <a:latin typeface="Times New Roman" pitchFamily="18" charset="0"/>
                <a:ea typeface="微软雅黑" pitchFamily="34" charset="-122"/>
                <a:cs typeface="Times New Roman" pitchFamily="18" charset="0"/>
              </a:rPr>
              <a:t>、横截面积为</a:t>
            </a:r>
            <a:r>
              <a:rPr lang="en-US" altLang="zh-CN" sz="2800" b="1" dirty="0">
                <a:latin typeface="Times New Roman" pitchFamily="18" charset="0"/>
                <a:ea typeface="微软雅黑" pitchFamily="34" charset="-122"/>
                <a:cs typeface="Times New Roman" pitchFamily="18" charset="0"/>
              </a:rPr>
              <a:t>A</a:t>
            </a:r>
            <a:r>
              <a:rPr lang="zh-CN" altLang="en-US" sz="2800" b="1" dirty="0">
                <a:latin typeface="Times New Roman" pitchFamily="18" charset="0"/>
                <a:ea typeface="微软雅黑" pitchFamily="34" charset="-122"/>
                <a:cs typeface="Times New Roman" pitchFamily="18" charset="0"/>
              </a:rPr>
              <a:t>的半导体上，若半导体的量子效率为</a:t>
            </a:r>
            <a:r>
              <a:rPr lang="el-GR" altLang="zh-CN" sz="2800" b="1" i="1" dirty="0">
                <a:latin typeface="Times New Roman" pitchFamily="18" charset="0"/>
                <a:ea typeface="微软雅黑" pitchFamily="34" charset="-122"/>
                <a:cs typeface="Times New Roman" pitchFamily="18" charset="0"/>
              </a:rPr>
              <a:t>η</a:t>
            </a:r>
            <a:r>
              <a:rPr lang="zh-CN" altLang="en-US" sz="2800" b="1" dirty="0">
                <a:latin typeface="Times New Roman" pitchFamily="18" charset="0"/>
                <a:ea typeface="微软雅黑" pitchFamily="34" charset="-122"/>
                <a:cs typeface="Times New Roman" pitchFamily="18" charset="0"/>
              </a:rPr>
              <a:t>，</a:t>
            </a:r>
            <a:r>
              <a:rPr lang="zh-CN" altLang="en-US" sz="2800" b="1" dirty="0">
                <a:solidFill>
                  <a:srgbClr val="FF0000"/>
                </a:solidFill>
                <a:latin typeface="Times New Roman" pitchFamily="18" charset="0"/>
                <a:ea typeface="微软雅黑" pitchFamily="34" charset="-122"/>
                <a:cs typeface="Times New Roman" pitchFamily="18" charset="0"/>
              </a:rPr>
              <a:t>单位时间、单位体积中</a:t>
            </a:r>
            <a:r>
              <a:rPr lang="zh-CN" altLang="en-US" sz="2800" b="1" dirty="0">
                <a:latin typeface="Times New Roman" pitchFamily="18" charset="0"/>
                <a:ea typeface="微软雅黑" pitchFamily="34" charset="-122"/>
                <a:cs typeface="Times New Roman" pitchFamily="18" charset="0"/>
              </a:rPr>
              <a:t>产生的电子</a:t>
            </a:r>
            <a:r>
              <a:rPr lang="en-US" altLang="zh-CN" sz="2800" b="1" dirty="0">
                <a:latin typeface="Times New Roman" pitchFamily="18" charset="0"/>
                <a:ea typeface="微软雅黑" pitchFamily="34" charset="-122"/>
                <a:cs typeface="Times New Roman" pitchFamily="18" charset="0"/>
              </a:rPr>
              <a:t>-</a:t>
            </a:r>
            <a:r>
              <a:rPr lang="zh-CN" altLang="en-US" sz="2800" b="1" dirty="0">
                <a:latin typeface="Times New Roman" pitchFamily="18" charset="0"/>
                <a:ea typeface="微软雅黑" pitchFamily="34" charset="-122"/>
                <a:cs typeface="Times New Roman" pitchFamily="18" charset="0"/>
              </a:rPr>
              <a:t>空穴对数即</a:t>
            </a:r>
            <a:r>
              <a:rPr lang="zh-CN" altLang="en-US" sz="2800" b="1" dirty="0">
                <a:solidFill>
                  <a:srgbClr val="FF0000"/>
                </a:solidFill>
                <a:latin typeface="华文彩云" pitchFamily="2" charset="-122"/>
                <a:ea typeface="华文彩云" pitchFamily="2" charset="-122"/>
                <a:cs typeface="Times New Roman" pitchFamily="18" charset="0"/>
              </a:rPr>
              <a:t>产生率</a:t>
            </a:r>
            <a:r>
              <a:rPr lang="zh-CN" altLang="en-US" sz="2800" b="1" dirty="0">
                <a:latin typeface="Times New Roman" pitchFamily="18" charset="0"/>
                <a:ea typeface="微软雅黑" pitchFamily="34" charset="-122"/>
                <a:cs typeface="Times New Roman" pitchFamily="18" charset="0"/>
              </a:rPr>
              <a:t>为</a:t>
            </a:r>
          </a:p>
        </p:txBody>
      </p:sp>
      <p:graphicFrame>
        <p:nvGraphicFramePr>
          <p:cNvPr id="5122" name="Object 1"/>
          <p:cNvGraphicFramePr>
            <a:graphicFrameLocks noChangeAspect="1"/>
          </p:cNvGraphicFramePr>
          <p:nvPr>
            <p:extLst>
              <p:ext uri="{D42A27DB-BD31-4B8C-83A1-F6EECF244321}">
                <p14:modId xmlns:p14="http://schemas.microsoft.com/office/powerpoint/2010/main" val="3309300549"/>
              </p:ext>
            </p:extLst>
          </p:nvPr>
        </p:nvGraphicFramePr>
        <p:xfrm>
          <a:off x="2686050" y="5268913"/>
          <a:ext cx="3203575" cy="1431925"/>
        </p:xfrm>
        <a:graphic>
          <a:graphicData uri="http://schemas.openxmlformats.org/presentationml/2006/ole">
            <mc:AlternateContent xmlns:mc="http://schemas.openxmlformats.org/markup-compatibility/2006">
              <mc:Choice xmlns:v="urn:schemas-microsoft-com:vml" Requires="v">
                <p:oleObj spid="_x0000_s41062" name="Equation" r:id="rId3" imgW="901440" imgH="406080" progId="Equation.DSMT4">
                  <p:embed/>
                </p:oleObj>
              </mc:Choice>
              <mc:Fallback>
                <p:oleObj name="Equation" r:id="rId3" imgW="901440" imgH="406080" progId="Equation.DSMT4">
                  <p:embed/>
                  <p:pic>
                    <p:nvPicPr>
                      <p:cNvPr id="0" name="Object 1"/>
                      <p:cNvPicPr>
                        <a:picLocks noChangeAspect="1" noChangeArrowheads="1"/>
                      </p:cNvPicPr>
                      <p:nvPr/>
                    </p:nvPicPr>
                    <p:blipFill>
                      <a:blip r:embed="rId4"/>
                      <a:srcRect/>
                      <a:stretch>
                        <a:fillRect/>
                      </a:stretch>
                    </p:blipFill>
                    <p:spPr bwMode="auto">
                      <a:xfrm>
                        <a:off x="2686050" y="5268913"/>
                        <a:ext cx="3203575" cy="1431925"/>
                      </a:xfrm>
                      <a:prstGeom prst="rect">
                        <a:avLst/>
                      </a:prstGeom>
                      <a:solidFill>
                        <a:srgbClr val="FFFF00"/>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10387381"/>
              </p:ext>
            </p:extLst>
          </p:nvPr>
        </p:nvGraphicFramePr>
        <p:xfrm>
          <a:off x="7784516" y="2450063"/>
          <a:ext cx="5184995" cy="3660985"/>
        </p:xfrm>
        <a:graphic>
          <a:graphicData uri="http://schemas.openxmlformats.org/presentationml/2006/ole">
            <mc:AlternateContent xmlns:mc="http://schemas.openxmlformats.org/markup-compatibility/2006">
              <mc:Choice xmlns:v="urn:schemas-microsoft-com:vml" Requires="v">
                <p:oleObj spid="_x0000_s41063" name="Visio" r:id="rId5" imgW="2400234" imgH="1685969" progId="Visio.Drawing.11">
                  <p:embed/>
                </p:oleObj>
              </mc:Choice>
              <mc:Fallback>
                <p:oleObj name="Visio" r:id="rId5" imgW="2400234" imgH="1685969" progId="Visio.Drawing.11">
                  <p:embed/>
                  <p:pic>
                    <p:nvPicPr>
                      <p:cNvPr id="0" name="Object 49"/>
                      <p:cNvPicPr>
                        <a:picLocks noChangeAspect="1" noChangeArrowheads="1"/>
                      </p:cNvPicPr>
                      <p:nvPr/>
                    </p:nvPicPr>
                    <p:blipFill>
                      <a:blip r:embed="rId6"/>
                      <a:srcRect/>
                      <a:stretch>
                        <a:fillRect/>
                      </a:stretch>
                    </p:blipFill>
                    <p:spPr bwMode="auto">
                      <a:xfrm>
                        <a:off x="7784516" y="2450063"/>
                        <a:ext cx="5184995" cy="3660985"/>
                      </a:xfrm>
                      <a:prstGeom prst="rect">
                        <a:avLst/>
                      </a:prstGeom>
                      <a:noFill/>
                      <a:ln>
                        <a:noFill/>
                      </a:ln>
                    </p:spPr>
                  </p:pic>
                </p:oleObj>
              </mc:Fallback>
            </mc:AlternateContent>
          </a:graphicData>
        </a:graphic>
      </p:graphicFrame>
      <p:sp>
        <p:nvSpPr>
          <p:cNvPr id="12" name="文本框 60">
            <a:extLst>
              <a:ext uri="{FF2B5EF4-FFF2-40B4-BE49-F238E27FC236}">
                <a16:creationId xmlns="" xmlns:a16="http://schemas.microsoft.com/office/drawing/2014/main" id="{669D261A-C659-4F3B-B38D-D4926154377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3" name="矩形 12">
            <a:extLst>
              <a:ext uri="{FF2B5EF4-FFF2-40B4-BE49-F238E27FC236}">
                <a16:creationId xmlns="" xmlns:a16="http://schemas.microsoft.com/office/drawing/2014/main" id="{15763BCF-5A38-4629-980F-1B203BD829B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 xmlns:a16="http://schemas.microsoft.com/office/drawing/2014/main" id="{D50A42EF-B7FD-42E3-BB54-DCB22D2464E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 xmlns:a16="http://schemas.microsoft.com/office/drawing/2014/main" id="{0FBBD96E-8F62-4456-9BD9-1798A86B7A67}"/>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6" name="直接连接符 58">
            <a:extLst>
              <a:ext uri="{FF2B5EF4-FFF2-40B4-BE49-F238E27FC236}">
                <a16:creationId xmlns="" xmlns:a16="http://schemas.microsoft.com/office/drawing/2014/main" id="{93C30360-9893-4F77-9F12-2DF84326CD4F}"/>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 xmlns:a16="http://schemas.microsoft.com/office/drawing/2014/main" id="{BE9B8D55-FC5F-4A74-B2D5-0A0CADD820A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 xmlns:a16="http://schemas.microsoft.com/office/drawing/2014/main" id="{71C8663F-1D68-403F-AB73-D55A7EF0C38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ox(in)">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box(in)">
                                      <p:cBhvr>
                                        <p:cTn id="18" dur="500"/>
                                        <p:tgtEl>
                                          <p:spTgt spid="7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5122"/>
                                        </p:tgtEl>
                                        <p:attrNameLst>
                                          <p:attrName>style.visibility</p:attrName>
                                        </p:attrNameLst>
                                      </p:cBhvr>
                                      <p:to>
                                        <p:strVal val="visible"/>
                                      </p:to>
                                    </p:set>
                                    <p:animEffect transition="in" filter="box(in)">
                                      <p:cBhvr>
                                        <p:cTn id="23"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75" grpId="0" animBg="1"/>
      <p:bldP spid="7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0" name="Rectangle 2"/>
          <p:cNvSpPr>
            <a:spLocks noChangeArrowheads="1"/>
          </p:cNvSpPr>
          <p:nvPr/>
        </p:nvSpPr>
        <p:spPr bwMode="auto">
          <a:xfrm>
            <a:off x="288925" y="3667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5125" name="TextBox 3"/>
          <p:cNvSpPr txBox="1">
            <a:spLocks noChangeArrowheads="1"/>
          </p:cNvSpPr>
          <p:nvPr/>
        </p:nvSpPr>
        <p:spPr bwMode="auto">
          <a:xfrm>
            <a:off x="1138015" y="1085128"/>
            <a:ext cx="5865495" cy="646331"/>
          </a:xfrm>
          <a:prstGeom prst="rect">
            <a:avLst/>
          </a:prstGeom>
          <a:noFill/>
          <a:ln w="9525">
            <a:noFill/>
            <a:miter lim="800000"/>
            <a:headEnd/>
            <a:tailEnd/>
          </a:ln>
        </p:spPr>
        <p:txBody>
          <a:bodyPr wrap="square">
            <a:spAutoFit/>
          </a:bodyPr>
          <a:lstStyle/>
          <a:p>
            <a:pPr defTabSz="914400"/>
            <a:r>
              <a:rPr lang="zh-CN" altLang="en-US" sz="3200" b="1" dirty="0">
                <a:latin typeface="微软雅黑" pitchFamily="34" charset="-122"/>
                <a:ea typeface="微软雅黑" pitchFamily="34" charset="-122"/>
                <a:cs typeface="Times New Roman" pitchFamily="18" charset="0"/>
              </a:rPr>
              <a:t>经过 </a:t>
            </a:r>
            <a:r>
              <a:rPr lang="en-US" altLang="zh-CN" sz="3600" b="1" i="1" dirty="0">
                <a:solidFill>
                  <a:srgbClr val="0000CC"/>
                </a:solidFill>
                <a:latin typeface="Times New Roman" panose="02020603050405020304" pitchFamily="18" charset="0"/>
                <a:ea typeface="微软雅黑" pitchFamily="34" charset="-122"/>
                <a:cs typeface="Times New Roman" panose="02020603050405020304" pitchFamily="18" charset="0"/>
              </a:rPr>
              <a:t>t </a:t>
            </a:r>
            <a:r>
              <a:rPr lang="zh-CN" altLang="en-US" sz="3200" b="1" dirty="0">
                <a:latin typeface="微软雅黑" pitchFamily="34" charset="-122"/>
                <a:ea typeface="微软雅黑" pitchFamily="34" charset="-122"/>
                <a:cs typeface="Times New Roman" pitchFamily="18" charset="0"/>
              </a:rPr>
              <a:t>秒后，光生载流子浓度为</a:t>
            </a:r>
          </a:p>
        </p:txBody>
      </p:sp>
      <p:sp>
        <p:nvSpPr>
          <p:cNvPr id="23563" name="Rectangle 4"/>
          <p:cNvSpPr>
            <a:spLocks noChangeArrowheads="1"/>
          </p:cNvSpPr>
          <p:nvPr/>
        </p:nvSpPr>
        <p:spPr bwMode="auto">
          <a:xfrm>
            <a:off x="288925" y="3667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5123" name="Object 3"/>
          <p:cNvGraphicFramePr>
            <a:graphicFrameLocks noChangeAspect="1"/>
          </p:cNvGraphicFramePr>
          <p:nvPr>
            <p:extLst>
              <p:ext uri="{D42A27DB-BD31-4B8C-83A1-F6EECF244321}">
                <p14:modId xmlns:p14="http://schemas.microsoft.com/office/powerpoint/2010/main" val="3523912934"/>
              </p:ext>
            </p:extLst>
          </p:nvPr>
        </p:nvGraphicFramePr>
        <p:xfrm>
          <a:off x="4950355" y="1892307"/>
          <a:ext cx="4106309" cy="1218113"/>
        </p:xfrm>
        <a:graphic>
          <a:graphicData uri="http://schemas.openxmlformats.org/presentationml/2006/ole">
            <mc:AlternateContent xmlns:mc="http://schemas.openxmlformats.org/markup-compatibility/2006">
              <mc:Choice xmlns:v="urn:schemas-microsoft-com:vml" Requires="v">
                <p:oleObj spid="_x0000_s23913" name="Equation" r:id="rId3" imgW="1358640" imgH="406080" progId="Equation.DSMT4">
                  <p:embed/>
                </p:oleObj>
              </mc:Choice>
              <mc:Fallback>
                <p:oleObj name="Equation" r:id="rId3" imgW="1358640" imgH="406080" progId="Equation.DSMT4">
                  <p:embed/>
                  <p:pic>
                    <p:nvPicPr>
                      <p:cNvPr id="0" name="Object 3"/>
                      <p:cNvPicPr>
                        <a:picLocks noChangeAspect="1" noChangeArrowheads="1"/>
                      </p:cNvPicPr>
                      <p:nvPr/>
                    </p:nvPicPr>
                    <p:blipFill>
                      <a:blip r:embed="rId4"/>
                      <a:srcRect/>
                      <a:stretch>
                        <a:fillRect/>
                      </a:stretch>
                    </p:blipFill>
                    <p:spPr bwMode="auto">
                      <a:xfrm>
                        <a:off x="4950355" y="1892307"/>
                        <a:ext cx="4106309" cy="1218113"/>
                      </a:xfrm>
                      <a:prstGeom prst="rect">
                        <a:avLst/>
                      </a:prstGeom>
                      <a:solidFill>
                        <a:srgbClr val="FFFF00"/>
                      </a:solidFill>
                    </p:spPr>
                  </p:pic>
                </p:oleObj>
              </mc:Fallback>
            </mc:AlternateContent>
          </a:graphicData>
        </a:graphic>
      </p:graphicFrame>
      <p:grpSp>
        <p:nvGrpSpPr>
          <p:cNvPr id="2" name="组合 11"/>
          <p:cNvGrpSpPr>
            <a:grpSpLocks/>
          </p:cNvGrpSpPr>
          <p:nvPr/>
        </p:nvGrpSpPr>
        <p:grpSpPr bwMode="auto">
          <a:xfrm>
            <a:off x="1000125" y="3270904"/>
            <a:ext cx="6851015" cy="602744"/>
            <a:chOff x="832485" y="1353056"/>
            <a:chExt cx="6851015" cy="602744"/>
          </a:xfrm>
        </p:grpSpPr>
        <p:graphicFrame>
          <p:nvGraphicFramePr>
            <p:cNvPr id="23566" name="Object 2"/>
            <p:cNvGraphicFramePr>
              <a:graphicFrameLocks noChangeAspect="1"/>
            </p:cNvGraphicFramePr>
            <p:nvPr/>
          </p:nvGraphicFramePr>
          <p:xfrm>
            <a:off x="6794500" y="1428750"/>
            <a:ext cx="355600" cy="501650"/>
          </p:xfrm>
          <a:graphic>
            <a:graphicData uri="http://schemas.openxmlformats.org/presentationml/2006/ole">
              <mc:AlternateContent xmlns:mc="http://schemas.openxmlformats.org/markup-compatibility/2006">
                <mc:Choice xmlns:v="urn:schemas-microsoft-com:vml" Requires="v">
                  <p:oleObj spid="_x0000_s23914" name="公式" r:id="rId5" imgW="165028" imgH="228501" progId="Equation.3">
                    <p:embed/>
                  </p:oleObj>
                </mc:Choice>
                <mc:Fallback>
                  <p:oleObj name="公式" r:id="rId5" imgW="165028" imgH="228501"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4500" y="1428750"/>
                          <a:ext cx="35560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7" name="Object 10"/>
            <p:cNvGraphicFramePr>
              <a:graphicFrameLocks noChangeAspect="1"/>
            </p:cNvGraphicFramePr>
            <p:nvPr/>
          </p:nvGraphicFramePr>
          <p:xfrm>
            <a:off x="7283450" y="1428750"/>
            <a:ext cx="400050" cy="527050"/>
          </p:xfrm>
          <a:graphic>
            <a:graphicData uri="http://schemas.openxmlformats.org/presentationml/2006/ole">
              <mc:AlternateContent xmlns:mc="http://schemas.openxmlformats.org/markup-compatibility/2006">
                <mc:Choice xmlns:v="urn:schemas-microsoft-com:vml" Requires="v">
                  <p:oleObj spid="_x0000_s23915" name="公式" r:id="rId7" imgW="177646" imgH="241091" progId="Equation.3">
                    <p:embed/>
                  </p:oleObj>
                </mc:Choice>
                <mc:Fallback>
                  <p:oleObj name="公式" r:id="rId7" imgW="177646" imgH="241091"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83450" y="1428750"/>
                          <a:ext cx="400050"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8" name="Rectangle 3"/>
            <p:cNvSpPr>
              <a:spLocks noChangeArrowheads="1"/>
            </p:cNvSpPr>
            <p:nvPr/>
          </p:nvSpPr>
          <p:spPr bwMode="auto">
            <a:xfrm>
              <a:off x="832485" y="1353056"/>
              <a:ext cx="6139815" cy="584775"/>
            </a:xfrm>
            <a:prstGeom prst="rect">
              <a:avLst/>
            </a:prstGeom>
            <a:noFill/>
            <a:ln w="9525">
              <a:noFill/>
              <a:miter lim="800000"/>
              <a:headEnd/>
              <a:tailEnd/>
            </a:ln>
          </p:spPr>
          <p:txBody>
            <a:bodyPr wrap="square" anchor="ctr">
              <a:spAutoFit/>
            </a:bodyPr>
            <a:lstStyle/>
            <a:p>
              <a:pPr defTabSz="914400"/>
              <a:r>
                <a:rPr lang="zh-CN" altLang="en-US" sz="3200" b="1" dirty="0">
                  <a:latin typeface="微软雅黑" pitchFamily="34" charset="-122"/>
                  <a:ea typeface="微软雅黑" pitchFamily="34" charset="-122"/>
                  <a:cs typeface="Times New Roman" pitchFamily="18" charset="0"/>
                </a:rPr>
                <a:t>设光生电子和空穴的寿命分别为</a:t>
              </a:r>
            </a:p>
          </p:txBody>
        </p:sp>
      </p:grpSp>
      <p:graphicFrame>
        <p:nvGraphicFramePr>
          <p:cNvPr id="13" name="Object 6"/>
          <p:cNvGraphicFramePr>
            <a:graphicFrameLocks noChangeAspect="1"/>
          </p:cNvGraphicFramePr>
          <p:nvPr>
            <p:extLst>
              <p:ext uri="{D42A27DB-BD31-4B8C-83A1-F6EECF244321}">
                <p14:modId xmlns:p14="http://schemas.microsoft.com/office/powerpoint/2010/main" val="3750832192"/>
              </p:ext>
            </p:extLst>
          </p:nvPr>
        </p:nvGraphicFramePr>
        <p:xfrm>
          <a:off x="5549239" y="4420921"/>
          <a:ext cx="6201148" cy="922655"/>
        </p:xfrm>
        <a:graphic>
          <a:graphicData uri="http://schemas.openxmlformats.org/presentationml/2006/ole">
            <mc:AlternateContent xmlns:mc="http://schemas.openxmlformats.org/markup-compatibility/2006">
              <mc:Choice xmlns:v="urn:schemas-microsoft-com:vml" Requires="v">
                <p:oleObj spid="_x0000_s23916" name="公式" r:id="rId9" imgW="1600200" imgH="241300" progId="Equation.3">
                  <p:embed/>
                </p:oleObj>
              </mc:Choice>
              <mc:Fallback>
                <p:oleObj name="公式" r:id="rId9" imgW="1600200" imgH="2413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9239" y="4420921"/>
                        <a:ext cx="6201148" cy="922655"/>
                      </a:xfrm>
                      <a:prstGeom prst="rect">
                        <a:avLst/>
                      </a:prstGeom>
                      <a:solidFill>
                        <a:srgbClr val="FFFF00"/>
                      </a:solidFill>
                    </p:spPr>
                  </p:pic>
                </p:oleObj>
              </mc:Fallback>
            </mc:AlternateContent>
          </a:graphicData>
        </a:graphic>
      </p:graphicFrame>
      <p:sp>
        <p:nvSpPr>
          <p:cNvPr id="3" name="TextBox 2"/>
          <p:cNvSpPr txBox="1"/>
          <p:nvPr/>
        </p:nvSpPr>
        <p:spPr>
          <a:xfrm>
            <a:off x="797670" y="4620638"/>
            <a:ext cx="4659548" cy="584775"/>
          </a:xfrm>
          <a:prstGeom prst="rect">
            <a:avLst/>
          </a:prstGeom>
          <a:noFill/>
        </p:spPr>
        <p:txBody>
          <a:bodyPr wrap="square" rtlCol="0">
            <a:spAutoFit/>
          </a:bodyPr>
          <a:lstStyle/>
          <a:p>
            <a:r>
              <a:rPr lang="zh-CN" altLang="en-US" sz="3200" b="1" dirty="0">
                <a:solidFill>
                  <a:srgbClr val="FF0000"/>
                </a:solidFill>
                <a:latin typeface="华文彩云" pitchFamily="2" charset="-122"/>
                <a:ea typeface="华文彩云" pitchFamily="2" charset="-122"/>
              </a:rPr>
              <a:t>则定态光生载流子浓度为</a:t>
            </a:r>
          </a:p>
        </p:txBody>
      </p:sp>
      <p:graphicFrame>
        <p:nvGraphicFramePr>
          <p:cNvPr id="4" name="对象 3"/>
          <p:cNvGraphicFramePr>
            <a:graphicFrameLocks noChangeAspect="1"/>
          </p:cNvGraphicFramePr>
          <p:nvPr>
            <p:extLst>
              <p:ext uri="{D42A27DB-BD31-4B8C-83A1-F6EECF244321}">
                <p14:modId xmlns:p14="http://schemas.microsoft.com/office/powerpoint/2010/main" val="2914539362"/>
              </p:ext>
            </p:extLst>
          </p:nvPr>
        </p:nvGraphicFramePr>
        <p:xfrm>
          <a:off x="6508475" y="6364707"/>
          <a:ext cx="2261071" cy="1054132"/>
        </p:xfrm>
        <a:graphic>
          <a:graphicData uri="http://schemas.openxmlformats.org/presentationml/2006/ole">
            <mc:AlternateContent xmlns:mc="http://schemas.openxmlformats.org/markup-compatibility/2006">
              <mc:Choice xmlns:v="urn:schemas-microsoft-com:vml" Requires="v">
                <p:oleObj spid="_x0000_s23917" name="Equation" r:id="rId11" imgW="863280" imgH="406080" progId="Equation.DSMT4">
                  <p:embed/>
                </p:oleObj>
              </mc:Choice>
              <mc:Fallback>
                <p:oleObj name="Equation" r:id="rId11" imgW="863280" imgH="406080" progId="Equation.DSMT4">
                  <p:embed/>
                  <p:pic>
                    <p:nvPicPr>
                      <p:cNvPr id="0" name="Object 3"/>
                      <p:cNvPicPr>
                        <a:picLocks noChangeAspect="1" noChangeArrowheads="1"/>
                      </p:cNvPicPr>
                      <p:nvPr/>
                    </p:nvPicPr>
                    <p:blipFill>
                      <a:blip r:embed="rId12"/>
                      <a:srcRect/>
                      <a:stretch>
                        <a:fillRect/>
                      </a:stretch>
                    </p:blipFill>
                    <p:spPr bwMode="auto">
                      <a:xfrm>
                        <a:off x="6508475" y="6364707"/>
                        <a:ext cx="2261071" cy="1054132"/>
                      </a:xfrm>
                      <a:prstGeom prst="rect">
                        <a:avLst/>
                      </a:prstGeom>
                      <a:solidFill>
                        <a:srgbClr val="FFC000"/>
                      </a:solidFill>
                      <a:ln>
                        <a:noFill/>
                      </a:ln>
                    </p:spPr>
                  </p:pic>
                </p:oleObj>
              </mc:Fallback>
            </mc:AlternateContent>
          </a:graphicData>
        </a:graphic>
      </p:graphicFrame>
      <p:sp>
        <p:nvSpPr>
          <p:cNvPr id="5" name="下箭头 4"/>
          <p:cNvSpPr/>
          <p:nvPr/>
        </p:nvSpPr>
        <p:spPr>
          <a:xfrm>
            <a:off x="7317740" y="5344418"/>
            <a:ext cx="985979" cy="1020289"/>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60">
            <a:extLst>
              <a:ext uri="{FF2B5EF4-FFF2-40B4-BE49-F238E27FC236}">
                <a16:creationId xmlns="" xmlns:a16="http://schemas.microsoft.com/office/drawing/2014/main" id="{4D559104-0004-462E-AD3F-D493B438F9EF}"/>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22" name="矩形 21">
            <a:extLst>
              <a:ext uri="{FF2B5EF4-FFF2-40B4-BE49-F238E27FC236}">
                <a16:creationId xmlns="" xmlns:a16="http://schemas.microsoft.com/office/drawing/2014/main" id="{82468A33-DC88-4E77-9729-6530BF7F69B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EE3E6E40-EF74-4856-AEEF-9A5A68D2C33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942B6865-5F29-4A3A-8A23-4114EDCA6083}"/>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5" name="直接连接符 58">
            <a:extLst>
              <a:ext uri="{FF2B5EF4-FFF2-40B4-BE49-F238E27FC236}">
                <a16:creationId xmlns="" xmlns:a16="http://schemas.microsoft.com/office/drawing/2014/main" id="{38FA385E-16D0-4BB8-B377-5E92D54B85B4}"/>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 xmlns:a16="http://schemas.microsoft.com/office/drawing/2014/main" id="{95629238-8381-4842-A9B7-25B02525F5D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 xmlns:a16="http://schemas.microsoft.com/office/drawing/2014/main" id="{E9E374CC-BACF-415B-B3DA-8513F83BFCF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box(in)">
                                      <p:cBhvr>
                                        <p:cTn id="7" dur="500"/>
                                        <p:tgtEl>
                                          <p:spTgt spid="512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box(in)">
                                      <p:cBhvr>
                                        <p:cTn id="12" dur="500"/>
                                        <p:tgtEl>
                                          <p:spTgt spid="512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ox(in)">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500" fill="hold"/>
                                        <p:tgtEl>
                                          <p:spTgt spid="5"/>
                                        </p:tgtEl>
                                        <p:attrNameLst>
                                          <p:attrName>ppt_w</p:attrName>
                                        </p:attrNameLst>
                                      </p:cBhvr>
                                      <p:tavLst>
                                        <p:tav tm="0">
                                          <p:val>
                                            <p:fltVal val="0"/>
                                          </p:val>
                                        </p:tav>
                                        <p:tav tm="100000">
                                          <p:val>
                                            <p:strVal val="#ppt_w"/>
                                          </p:val>
                                        </p:tav>
                                      </p:tavLst>
                                    </p:anim>
                                    <p:anim calcmode="lin" valueType="num">
                                      <p:cBhvr>
                                        <p:cTn id="35" dur="500" fill="hold"/>
                                        <p:tgtEl>
                                          <p:spTgt spid="5"/>
                                        </p:tgtEl>
                                        <p:attrNameLst>
                                          <p:attrName>ppt_h</p:attrName>
                                        </p:attrNameLst>
                                      </p:cBhvr>
                                      <p:tavLst>
                                        <p:tav tm="0">
                                          <p:val>
                                            <p:fltVal val="0"/>
                                          </p:val>
                                        </p:tav>
                                        <p:tav tm="100000">
                                          <p:val>
                                            <p:strVal val="#ppt_h"/>
                                          </p:val>
                                        </p:tav>
                                      </p:tavLst>
                                    </p:anim>
                                    <p:animEffect transition="in" filter="fade">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in)">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3" grpId="0"/>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4" name="Rectangle 5"/>
          <p:cNvSpPr>
            <a:spLocks noChangeArrowheads="1"/>
          </p:cNvSpPr>
          <p:nvPr/>
        </p:nvSpPr>
        <p:spPr bwMode="auto">
          <a:xfrm>
            <a:off x="417513" y="1082675"/>
            <a:ext cx="212725" cy="214313"/>
          </a:xfrm>
          <a:prstGeom prst="rect">
            <a:avLst/>
          </a:prstGeom>
          <a:noFill/>
          <a:ln w="9525">
            <a:noFill/>
            <a:miter lim="800000"/>
            <a:headEnd/>
            <a:tailEnd/>
          </a:ln>
        </p:spPr>
        <p:txBody>
          <a:bodyPr wrap="none" anchor="ctr">
            <a:spAutoFit/>
          </a:bodyPr>
          <a:lstStyle/>
          <a:p>
            <a:pPr defTabSz="914400"/>
            <a:r>
              <a:rPr lang="zh-CN" altLang="zh-CN" sz="800"/>
              <a:t> </a:t>
            </a:r>
            <a:endParaRPr lang="zh-CN" altLang="zh-CN" sz="1800"/>
          </a:p>
        </p:txBody>
      </p:sp>
      <p:sp>
        <p:nvSpPr>
          <p:cNvPr id="6153" name="TextBox 9"/>
          <p:cNvSpPr txBox="1">
            <a:spLocks noChangeArrowheads="1"/>
          </p:cNvSpPr>
          <p:nvPr/>
        </p:nvSpPr>
        <p:spPr bwMode="auto">
          <a:xfrm>
            <a:off x="2074863" y="1494473"/>
            <a:ext cx="3422650" cy="579437"/>
          </a:xfrm>
          <a:prstGeom prst="rect">
            <a:avLst/>
          </a:prstGeom>
          <a:noFill/>
          <a:ln w="9525">
            <a:noFill/>
            <a:miter lim="800000"/>
            <a:headEnd/>
            <a:tailEnd/>
          </a:ln>
        </p:spPr>
        <p:txBody>
          <a:bodyPr>
            <a:spAutoFit/>
          </a:bodyPr>
          <a:lstStyle/>
          <a:p>
            <a:pPr defTabSz="914400"/>
            <a:r>
              <a:rPr lang="zh-CN" altLang="en-US" sz="3200" b="1" dirty="0">
                <a:latin typeface="微软雅黑" pitchFamily="34" charset="-122"/>
                <a:ea typeface="微软雅黑" pitchFamily="34" charset="-122"/>
              </a:rPr>
              <a:t>定态光电导率为</a:t>
            </a:r>
          </a:p>
        </p:txBody>
      </p:sp>
      <p:graphicFrame>
        <p:nvGraphicFramePr>
          <p:cNvPr id="6149" name="Object 8"/>
          <p:cNvGraphicFramePr>
            <a:graphicFrameLocks noChangeAspect="1"/>
          </p:cNvGraphicFramePr>
          <p:nvPr>
            <p:extLst>
              <p:ext uri="{D42A27DB-BD31-4B8C-83A1-F6EECF244321}">
                <p14:modId xmlns:p14="http://schemas.microsoft.com/office/powerpoint/2010/main" val="3373346912"/>
              </p:ext>
            </p:extLst>
          </p:nvPr>
        </p:nvGraphicFramePr>
        <p:xfrm>
          <a:off x="3534093" y="2337752"/>
          <a:ext cx="6960569" cy="1030287"/>
        </p:xfrm>
        <a:graphic>
          <a:graphicData uri="http://schemas.openxmlformats.org/presentationml/2006/ole">
            <mc:AlternateContent xmlns:mc="http://schemas.openxmlformats.org/markup-compatibility/2006">
              <mc:Choice xmlns:v="urn:schemas-microsoft-com:vml" Requires="v">
                <p:oleObj spid="_x0000_s24724" name="公式" r:id="rId3" imgW="1612900" imgH="241300" progId="Equation.3">
                  <p:embed/>
                </p:oleObj>
              </mc:Choice>
              <mc:Fallback>
                <p:oleObj name="公式" r:id="rId3" imgW="1612900" imgH="2413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093" y="2337752"/>
                        <a:ext cx="6960569" cy="1030287"/>
                      </a:xfrm>
                      <a:prstGeom prst="rect">
                        <a:avLst/>
                      </a:prstGeom>
                      <a:solidFill>
                        <a:srgbClr val="FFFF00"/>
                      </a:solidFill>
                    </p:spPr>
                  </p:pic>
                </p:oleObj>
              </mc:Fallback>
            </mc:AlternateContent>
          </a:graphicData>
        </a:graphic>
      </p:graphicFrame>
      <p:graphicFrame>
        <p:nvGraphicFramePr>
          <p:cNvPr id="5133" name="Object 31"/>
          <p:cNvGraphicFramePr>
            <a:graphicFrameLocks noChangeAspect="1"/>
          </p:cNvGraphicFramePr>
          <p:nvPr>
            <p:extLst>
              <p:ext uri="{D42A27DB-BD31-4B8C-83A1-F6EECF244321}">
                <p14:modId xmlns:p14="http://schemas.microsoft.com/office/powerpoint/2010/main" val="4270857339"/>
              </p:ext>
            </p:extLst>
          </p:nvPr>
        </p:nvGraphicFramePr>
        <p:xfrm>
          <a:off x="2943225" y="3813175"/>
          <a:ext cx="8512175" cy="2903538"/>
        </p:xfrm>
        <a:graphic>
          <a:graphicData uri="http://schemas.openxmlformats.org/presentationml/2006/ole">
            <mc:AlternateContent xmlns:mc="http://schemas.openxmlformats.org/markup-compatibility/2006">
              <mc:Choice xmlns:v="urn:schemas-microsoft-com:vml" Requires="v">
                <p:oleObj spid="_x0000_s24725" name="Visio" r:id="rId5" imgW="3514807" imgH="1200150" progId="Visio.Drawing.11">
                  <p:embed/>
                </p:oleObj>
              </mc:Choice>
              <mc:Fallback>
                <p:oleObj name="Visio" r:id="rId5" imgW="3514807" imgH="1200150" progId="Visio.Drawing.11">
                  <p:embed/>
                  <p:pic>
                    <p:nvPicPr>
                      <p:cNvPr id="0" name="Object 31"/>
                      <p:cNvPicPr>
                        <a:picLocks noChangeAspect="1" noChangeArrowheads="1"/>
                      </p:cNvPicPr>
                      <p:nvPr/>
                    </p:nvPicPr>
                    <p:blipFill>
                      <a:blip r:embed="rId6"/>
                      <a:srcRect/>
                      <a:stretch>
                        <a:fillRect/>
                      </a:stretch>
                    </p:blipFill>
                    <p:spPr bwMode="auto">
                      <a:xfrm>
                        <a:off x="2943225" y="3813175"/>
                        <a:ext cx="8512175" cy="290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文本框 60">
            <a:extLst>
              <a:ext uri="{FF2B5EF4-FFF2-40B4-BE49-F238E27FC236}">
                <a16:creationId xmlns="" xmlns:a16="http://schemas.microsoft.com/office/drawing/2014/main" id="{E1B71CFA-C52D-4478-A3E7-5F64311C65FE}"/>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4" name="矩形 13">
            <a:extLst>
              <a:ext uri="{FF2B5EF4-FFF2-40B4-BE49-F238E27FC236}">
                <a16:creationId xmlns="" xmlns:a16="http://schemas.microsoft.com/office/drawing/2014/main" id="{67BF06B5-6227-4F99-911C-4ACC6C1C0D73}"/>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 xmlns:a16="http://schemas.microsoft.com/office/drawing/2014/main" id="{B5DC2F79-063D-4A86-8914-3371B86C1C99}"/>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 xmlns:a16="http://schemas.microsoft.com/office/drawing/2014/main" id="{934F8AC1-BE32-41C5-A849-3C0083248D7D}"/>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 xmlns:a16="http://schemas.microsoft.com/office/drawing/2014/main" id="{C644F933-0C0E-4952-9CE2-5B9BA11121C3}"/>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 xmlns:a16="http://schemas.microsoft.com/office/drawing/2014/main" id="{2401F680-4BFE-409D-851C-9874D0B4F0F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 xmlns:a16="http://schemas.microsoft.com/office/drawing/2014/main" id="{08970B98-BA80-4121-A296-3FE38FC92BD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53"/>
                                        </p:tgtEl>
                                        <p:attrNameLst>
                                          <p:attrName>style.visibility</p:attrName>
                                        </p:attrNameLst>
                                      </p:cBhvr>
                                      <p:to>
                                        <p:strVal val="visible"/>
                                      </p:to>
                                    </p:set>
                                    <p:animEffect transition="in" filter="box(in)">
                                      <p:cBhvr>
                                        <p:cTn id="7" dur="500"/>
                                        <p:tgtEl>
                                          <p:spTgt spid="615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box(in)">
                                      <p:cBhvr>
                                        <p:cTn id="12" dur="500"/>
                                        <p:tgtEl>
                                          <p:spTgt spid="614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133"/>
                                        </p:tgtEl>
                                        <p:attrNameLst>
                                          <p:attrName>style.visibility</p:attrName>
                                        </p:attrNameLst>
                                      </p:cBhvr>
                                      <p:to>
                                        <p:strVal val="visible"/>
                                      </p:to>
                                    </p:set>
                                    <p:animEffect transition="in" filter="box(in)">
                                      <p:cBhvr>
                                        <p:cTn id="17" dur="500"/>
                                        <p:tgtEl>
                                          <p:spTgt spid="5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Box 1"/>
          <p:cNvSpPr txBox="1">
            <a:spLocks noChangeArrowheads="1"/>
          </p:cNvSpPr>
          <p:nvPr/>
        </p:nvSpPr>
        <p:spPr bwMode="auto">
          <a:xfrm>
            <a:off x="1563688" y="1207463"/>
            <a:ext cx="6178550" cy="579437"/>
          </a:xfrm>
          <a:prstGeom prst="rect">
            <a:avLst/>
          </a:prstGeom>
          <a:solidFill>
            <a:srgbClr val="FF5050"/>
          </a:solidFill>
          <a:ln w="9525">
            <a:noFill/>
            <a:miter lim="800000"/>
            <a:headEnd/>
            <a:tailEnd/>
          </a:ln>
        </p:spPr>
        <p:txBody>
          <a:bodyPr>
            <a:spAutoFit/>
          </a:bodyPr>
          <a:lstStyle/>
          <a:p>
            <a:pPr algn="ctr" defTabSz="914400"/>
            <a:r>
              <a:rPr lang="en-US" altLang="zh-CN" sz="3200" b="1" dirty="0">
                <a:latin typeface="Times New Roman" pitchFamily="18" charset="0"/>
                <a:ea typeface="微软雅黑" pitchFamily="34" charset="-122"/>
                <a:cs typeface="Times New Roman" pitchFamily="18" charset="0"/>
              </a:rPr>
              <a:t> </a:t>
            </a:r>
            <a:r>
              <a:rPr lang="zh-CN" altLang="en-US" sz="3200" b="1" dirty="0">
                <a:solidFill>
                  <a:srgbClr val="0000CC"/>
                </a:solidFill>
                <a:latin typeface="Times New Roman" pitchFamily="18" charset="0"/>
                <a:ea typeface="微软雅黑" pitchFamily="34" charset="-122"/>
                <a:cs typeface="Times New Roman" pitchFamily="18" charset="0"/>
              </a:rPr>
              <a:t>弱光照射下的光电导和光电流</a:t>
            </a:r>
          </a:p>
        </p:txBody>
      </p:sp>
      <p:sp>
        <p:nvSpPr>
          <p:cNvPr id="6150" name="TextBox 72"/>
          <p:cNvSpPr txBox="1">
            <a:spLocks noChangeArrowheads="1"/>
          </p:cNvSpPr>
          <p:nvPr/>
        </p:nvSpPr>
        <p:spPr bwMode="auto">
          <a:xfrm>
            <a:off x="895667" y="2174811"/>
            <a:ext cx="11351455" cy="584775"/>
          </a:xfrm>
          <a:prstGeom prst="rect">
            <a:avLst/>
          </a:prstGeom>
          <a:noFill/>
          <a:ln w="9525">
            <a:noFill/>
            <a:miter lim="800000"/>
            <a:headEnd/>
            <a:tailEnd/>
          </a:ln>
        </p:spPr>
        <p:txBody>
          <a:bodyPr wrap="square">
            <a:spAutoFit/>
          </a:bodyPr>
          <a:lstStyle/>
          <a:p>
            <a:pPr defTabSz="914400"/>
            <a:r>
              <a:rPr lang="zh-CN" altLang="en-US" sz="3200" b="1" dirty="0">
                <a:latin typeface="Times New Roman" pitchFamily="18" charset="0"/>
                <a:ea typeface="微软雅黑" pitchFamily="34" charset="-122"/>
                <a:cs typeface="Times New Roman" pitchFamily="18" charset="0"/>
              </a:rPr>
              <a:t>设</a:t>
            </a:r>
            <a:r>
              <a:rPr lang="en-US" altLang="zh-CN" sz="3200" b="1" dirty="0">
                <a:latin typeface="Times New Roman" pitchFamily="18" charset="0"/>
                <a:ea typeface="微软雅黑" pitchFamily="34" charset="-122"/>
                <a:cs typeface="Times New Roman" pitchFamily="18" charset="0"/>
              </a:rPr>
              <a:t>t=0</a:t>
            </a:r>
            <a:r>
              <a:rPr lang="zh-CN" altLang="en-US" sz="3200" b="1" dirty="0">
                <a:latin typeface="Times New Roman" pitchFamily="18" charset="0"/>
                <a:ea typeface="微软雅黑" pitchFamily="34" charset="-122"/>
                <a:cs typeface="Times New Roman" pitchFamily="18" charset="0"/>
              </a:rPr>
              <a:t>时，光照射到</a:t>
            </a:r>
            <a:r>
              <a:rPr lang="en-US" altLang="zh-CN" sz="3200" b="1" dirty="0">
                <a:latin typeface="Times New Roman" pitchFamily="18" charset="0"/>
                <a:ea typeface="微软雅黑" pitchFamily="34" charset="-122"/>
                <a:cs typeface="Times New Roman" pitchFamily="18" charset="0"/>
              </a:rPr>
              <a:t>N</a:t>
            </a:r>
            <a:r>
              <a:rPr lang="zh-CN" altLang="en-US" sz="3200" b="1" dirty="0">
                <a:latin typeface="Times New Roman" pitchFamily="18" charset="0"/>
                <a:ea typeface="微软雅黑" pitchFamily="34" charset="-122"/>
                <a:cs typeface="Times New Roman" pitchFamily="18" charset="0"/>
              </a:rPr>
              <a:t>型半导体上，</a:t>
            </a:r>
            <a:r>
              <a:rPr lang="el-GR" altLang="zh-CN" sz="3200" b="1" dirty="0">
                <a:latin typeface="Times New Roman" pitchFamily="18" charset="0"/>
                <a:ea typeface="微软雅黑" pitchFamily="34" charset="-122"/>
                <a:cs typeface="Times New Roman" pitchFamily="18" charset="0"/>
              </a:rPr>
              <a:t>Δ</a:t>
            </a:r>
            <a:r>
              <a:rPr lang="en-US" altLang="zh-CN" sz="3200" b="1" dirty="0">
                <a:latin typeface="Times New Roman" pitchFamily="18" charset="0"/>
                <a:ea typeface="微软雅黑" pitchFamily="34" charset="-122"/>
                <a:cs typeface="Times New Roman" pitchFamily="18" charset="0"/>
              </a:rPr>
              <a:t>n</a:t>
            </a:r>
            <a:r>
              <a:rPr lang="zh-CN" altLang="en-US" sz="3200" b="1" dirty="0">
                <a:latin typeface="Times New Roman" pitchFamily="18" charset="0"/>
                <a:ea typeface="微软雅黑" pitchFamily="34" charset="-122"/>
                <a:cs typeface="Times New Roman" pitchFamily="18" charset="0"/>
              </a:rPr>
              <a:t>的增加率可以表示为</a:t>
            </a:r>
          </a:p>
        </p:txBody>
      </p:sp>
      <p:graphicFrame>
        <p:nvGraphicFramePr>
          <p:cNvPr id="6146" name="Object 1"/>
          <p:cNvGraphicFramePr>
            <a:graphicFrameLocks noChangeAspect="1"/>
          </p:cNvGraphicFramePr>
          <p:nvPr>
            <p:extLst>
              <p:ext uri="{D42A27DB-BD31-4B8C-83A1-F6EECF244321}">
                <p14:modId xmlns:p14="http://schemas.microsoft.com/office/powerpoint/2010/main" val="955474724"/>
              </p:ext>
            </p:extLst>
          </p:nvPr>
        </p:nvGraphicFramePr>
        <p:xfrm>
          <a:off x="4195128" y="4317048"/>
          <a:ext cx="4770118" cy="1093152"/>
        </p:xfrm>
        <a:graphic>
          <a:graphicData uri="http://schemas.openxmlformats.org/presentationml/2006/ole">
            <mc:AlternateContent xmlns:mc="http://schemas.openxmlformats.org/markup-compatibility/2006">
              <mc:Choice xmlns:v="urn:schemas-microsoft-com:vml" Requires="v">
                <p:oleObj spid="_x0000_s25825" name="公式" r:id="rId3" imgW="1548728" imgH="393529" progId="Equation.3">
                  <p:embed/>
                </p:oleObj>
              </mc:Choice>
              <mc:Fallback>
                <p:oleObj name="公式" r:id="rId3" imgW="1548728" imgH="39352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5128" y="4317048"/>
                        <a:ext cx="4770118" cy="1093152"/>
                      </a:xfrm>
                      <a:prstGeom prst="rect">
                        <a:avLst/>
                      </a:prstGeom>
                      <a:solidFill>
                        <a:srgbClr val="FFFF00"/>
                      </a:solidFill>
                    </p:spPr>
                  </p:pic>
                </p:oleObj>
              </mc:Fallback>
            </mc:AlternateContent>
          </a:graphicData>
        </a:graphic>
      </p:graphicFrame>
      <p:graphicFrame>
        <p:nvGraphicFramePr>
          <p:cNvPr id="6147" name="Object 3"/>
          <p:cNvGraphicFramePr>
            <a:graphicFrameLocks noChangeAspect="1"/>
          </p:cNvGraphicFramePr>
          <p:nvPr>
            <p:extLst>
              <p:ext uri="{D42A27DB-BD31-4B8C-83A1-F6EECF244321}">
                <p14:modId xmlns:p14="http://schemas.microsoft.com/office/powerpoint/2010/main" val="2308023649"/>
              </p:ext>
            </p:extLst>
          </p:nvPr>
        </p:nvGraphicFramePr>
        <p:xfrm>
          <a:off x="6571395" y="2926760"/>
          <a:ext cx="1852613" cy="862013"/>
        </p:xfrm>
        <a:graphic>
          <a:graphicData uri="http://schemas.openxmlformats.org/presentationml/2006/ole">
            <mc:AlternateContent xmlns:mc="http://schemas.openxmlformats.org/markup-compatibility/2006">
              <mc:Choice xmlns:v="urn:schemas-microsoft-com:vml" Requires="v">
                <p:oleObj spid="_x0000_s25826" name="Equation" r:id="rId5" imgW="863280" imgH="406080" progId="Equation.DSMT4">
                  <p:embed/>
                </p:oleObj>
              </mc:Choice>
              <mc:Fallback>
                <p:oleObj name="Equation" r:id="rId5" imgW="863280" imgH="406080" progId="Equation.DSMT4">
                  <p:embed/>
                  <p:pic>
                    <p:nvPicPr>
                      <p:cNvPr id="0" name="Object 3"/>
                      <p:cNvPicPr>
                        <a:picLocks noChangeAspect="1" noChangeArrowheads="1"/>
                      </p:cNvPicPr>
                      <p:nvPr/>
                    </p:nvPicPr>
                    <p:blipFill>
                      <a:blip r:embed="rId6"/>
                      <a:srcRect/>
                      <a:stretch>
                        <a:fillRect/>
                      </a:stretch>
                    </p:blipFill>
                    <p:spPr bwMode="auto">
                      <a:xfrm>
                        <a:off x="6571395" y="2926760"/>
                        <a:ext cx="1852613" cy="862013"/>
                      </a:xfrm>
                      <a:prstGeom prst="rect">
                        <a:avLst/>
                      </a:prstGeom>
                      <a:solidFill>
                        <a:srgbClr val="00CCFF"/>
                      </a:solidFill>
                    </p:spPr>
                  </p:pic>
                </p:oleObj>
              </mc:Fallback>
            </mc:AlternateContent>
          </a:graphicData>
        </a:graphic>
      </p:graphicFrame>
      <p:sp>
        <p:nvSpPr>
          <p:cNvPr id="78" name="下箭头 77"/>
          <p:cNvSpPr>
            <a:spLocks noChangeArrowheads="1"/>
          </p:cNvSpPr>
          <p:nvPr/>
        </p:nvSpPr>
        <p:spPr bwMode="auto">
          <a:xfrm rot="10800000">
            <a:off x="7249904" y="3896275"/>
            <a:ext cx="536600" cy="533400"/>
          </a:xfrm>
          <a:prstGeom prst="downArrow">
            <a:avLst>
              <a:gd name="adj1" fmla="val 50000"/>
              <a:gd name="adj2" fmla="val 50000"/>
            </a:avLst>
          </a:prstGeom>
          <a:solidFill>
            <a:srgbClr val="000066"/>
          </a:solidFill>
          <a:ln w="25400" algn="ctr">
            <a:solidFill>
              <a:srgbClr val="385D8A"/>
            </a:solidFill>
            <a:miter lim="800000"/>
            <a:headEnd/>
            <a:tailEnd/>
          </a:ln>
        </p:spPr>
        <p:txBody>
          <a:bodyPr rot="10800000" anchor="ctr"/>
          <a:lstStyle/>
          <a:p>
            <a:pPr algn="ctr" defTabSz="914400">
              <a:defRPr/>
            </a:pPr>
            <a:endParaRPr lang="zh-CN" altLang="en-US" sz="2800" b="1" dirty="0">
              <a:solidFill>
                <a:srgbClr val="FF66CC"/>
              </a:solidFill>
              <a:latin typeface="Times New Roman" pitchFamily="18" charset="0"/>
              <a:ea typeface="微软雅黑" pitchFamily="34" charset="-122"/>
              <a:cs typeface="Times New Roman" pitchFamily="18" charset="0"/>
            </a:endParaRPr>
          </a:p>
        </p:txBody>
      </p:sp>
      <p:sp>
        <p:nvSpPr>
          <p:cNvPr id="6154" name="TextBox 79"/>
          <p:cNvSpPr txBox="1">
            <a:spLocks noChangeArrowheads="1"/>
          </p:cNvSpPr>
          <p:nvPr/>
        </p:nvSpPr>
        <p:spPr bwMode="auto">
          <a:xfrm>
            <a:off x="968058" y="5444808"/>
            <a:ext cx="11818302" cy="584775"/>
          </a:xfrm>
          <a:prstGeom prst="rect">
            <a:avLst/>
          </a:prstGeom>
          <a:noFill/>
          <a:ln w="9525">
            <a:noFill/>
            <a:miter lim="800000"/>
            <a:headEnd/>
            <a:tailEnd/>
          </a:ln>
        </p:spPr>
        <p:txBody>
          <a:bodyPr wrap="square">
            <a:spAutoFit/>
          </a:bodyPr>
          <a:lstStyle/>
          <a:p>
            <a:pPr defTabSz="914400"/>
            <a:r>
              <a:rPr lang="zh-CN" altLang="en-US" sz="3200" b="1" dirty="0">
                <a:latin typeface="Times New Roman" pitchFamily="18" charset="0"/>
                <a:ea typeface="微软雅黑" pitchFamily="34" charset="-122"/>
                <a:cs typeface="Times New Roman" pitchFamily="18" charset="0"/>
              </a:rPr>
              <a:t>分离变量积分，利用初始条件：</a:t>
            </a:r>
            <a:r>
              <a:rPr lang="en-US" altLang="zh-CN" sz="3200" b="1" dirty="0">
                <a:latin typeface="Times New Roman" pitchFamily="18" charset="0"/>
                <a:ea typeface="微软雅黑" pitchFamily="34" charset="-122"/>
                <a:cs typeface="Times New Roman" pitchFamily="18" charset="0"/>
              </a:rPr>
              <a:t>t=0</a:t>
            </a:r>
            <a:r>
              <a:rPr lang="zh-CN" altLang="en-US" sz="3200" b="1" dirty="0">
                <a:latin typeface="Times New Roman" pitchFamily="18" charset="0"/>
                <a:ea typeface="微软雅黑" pitchFamily="34" charset="-122"/>
                <a:cs typeface="Times New Roman" pitchFamily="18" charset="0"/>
              </a:rPr>
              <a:t>时，</a:t>
            </a:r>
            <a:r>
              <a:rPr lang="en-US" altLang="zh-CN" sz="3200" b="1" dirty="0" err="1">
                <a:latin typeface="Times New Roman" pitchFamily="18" charset="0"/>
                <a:ea typeface="微软雅黑" pitchFamily="34" charset="-122"/>
                <a:cs typeface="Times New Roman" pitchFamily="18" charset="0"/>
              </a:rPr>
              <a:t>Δn</a:t>
            </a:r>
            <a:r>
              <a:rPr lang="en-US" altLang="zh-CN" sz="3200" b="1" dirty="0">
                <a:latin typeface="Times New Roman" pitchFamily="18" charset="0"/>
                <a:ea typeface="微软雅黑" pitchFamily="34" charset="-122"/>
                <a:cs typeface="Times New Roman" pitchFamily="18" charset="0"/>
              </a:rPr>
              <a:t>=0</a:t>
            </a:r>
            <a:r>
              <a:rPr lang="zh-CN" altLang="en-US" sz="3200" b="1" dirty="0">
                <a:latin typeface="Times New Roman" pitchFamily="18" charset="0"/>
                <a:ea typeface="微软雅黑" pitchFamily="34" charset="-122"/>
                <a:cs typeface="Times New Roman" pitchFamily="18" charset="0"/>
              </a:rPr>
              <a:t>，上式的解为</a:t>
            </a:r>
          </a:p>
        </p:txBody>
      </p:sp>
      <p:graphicFrame>
        <p:nvGraphicFramePr>
          <p:cNvPr id="6148" name="Object 5"/>
          <p:cNvGraphicFramePr>
            <a:graphicFrameLocks noChangeAspect="1"/>
          </p:cNvGraphicFramePr>
          <p:nvPr>
            <p:extLst>
              <p:ext uri="{D42A27DB-BD31-4B8C-83A1-F6EECF244321}">
                <p14:modId xmlns:p14="http://schemas.microsoft.com/office/powerpoint/2010/main" val="1927976980"/>
              </p:ext>
            </p:extLst>
          </p:nvPr>
        </p:nvGraphicFramePr>
        <p:xfrm>
          <a:off x="4220528" y="6149658"/>
          <a:ext cx="4435424" cy="845502"/>
        </p:xfrm>
        <a:graphic>
          <a:graphicData uri="http://schemas.openxmlformats.org/presentationml/2006/ole">
            <mc:AlternateContent xmlns:mc="http://schemas.openxmlformats.org/markup-compatibility/2006">
              <mc:Choice xmlns:v="urn:schemas-microsoft-com:vml" Requires="v">
                <p:oleObj spid="_x0000_s25827" name="公式" r:id="rId7" imgW="1244600" imgH="241300" progId="Equation.3">
                  <p:embed/>
                </p:oleObj>
              </mc:Choice>
              <mc:Fallback>
                <p:oleObj name="公式" r:id="rId7" imgW="1244600" imgH="2413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0528" y="6149658"/>
                        <a:ext cx="4435424" cy="845502"/>
                      </a:xfrm>
                      <a:prstGeom prst="rect">
                        <a:avLst/>
                      </a:prstGeom>
                      <a:solidFill>
                        <a:srgbClr val="FFFF00"/>
                      </a:solidFill>
                    </p:spPr>
                  </p:pic>
                </p:oleObj>
              </mc:Fallback>
            </mc:AlternateContent>
          </a:graphicData>
        </a:graphic>
      </p:graphicFrame>
      <p:sp>
        <p:nvSpPr>
          <p:cNvPr id="17" name="文本框 60">
            <a:extLst>
              <a:ext uri="{FF2B5EF4-FFF2-40B4-BE49-F238E27FC236}">
                <a16:creationId xmlns="" xmlns:a16="http://schemas.microsoft.com/office/drawing/2014/main" id="{47F8C9DA-96E3-4E77-AFE5-03638F5B873A}"/>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18" name="矩形 17">
            <a:extLst>
              <a:ext uri="{FF2B5EF4-FFF2-40B4-BE49-F238E27FC236}">
                <a16:creationId xmlns="" xmlns:a16="http://schemas.microsoft.com/office/drawing/2014/main" id="{4EFF1040-FFDA-498F-8A53-61BD9540814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 xmlns:a16="http://schemas.microsoft.com/office/drawing/2014/main" id="{B4617E60-6DAC-4E7D-8358-3C2CE09EE63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 xmlns:a16="http://schemas.microsoft.com/office/drawing/2014/main" id="{B351EBA0-F484-4DF1-820B-471EC982686B}"/>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 xmlns:a16="http://schemas.microsoft.com/office/drawing/2014/main" id="{F1AABE9D-01DB-4622-8CCB-0B2CF223ECD7}"/>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 xmlns:a16="http://schemas.microsoft.com/office/drawing/2014/main" id="{A4A0832E-5CC6-4CBE-94EA-387ED9533BF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 xmlns:a16="http://schemas.microsoft.com/office/drawing/2014/main" id="{F241E9A8-1FE4-42E8-8ABD-663FEB8D94E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ox(in)">
                                      <p:cBhvr>
                                        <p:cTn id="7" dur="500"/>
                                        <p:tgtEl>
                                          <p:spTgt spid="614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50"/>
                                        </p:tgtEl>
                                        <p:attrNameLst>
                                          <p:attrName>style.visibility</p:attrName>
                                        </p:attrNameLst>
                                      </p:cBhvr>
                                      <p:to>
                                        <p:strVal val="visible"/>
                                      </p:to>
                                    </p:set>
                                    <p:animEffect transition="in" filter="box(in)">
                                      <p:cBhvr>
                                        <p:cTn id="12" dur="500"/>
                                        <p:tgtEl>
                                          <p:spTgt spid="615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146"/>
                                        </p:tgtEl>
                                        <p:attrNameLst>
                                          <p:attrName>style.visibility</p:attrName>
                                        </p:attrNameLst>
                                      </p:cBhvr>
                                      <p:to>
                                        <p:strVal val="visible"/>
                                      </p:to>
                                    </p:set>
                                    <p:animEffect transition="in" filter="box(in)">
                                      <p:cBhvr>
                                        <p:cTn id="17" dur="500"/>
                                        <p:tgtEl>
                                          <p:spTgt spid="614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box(in)">
                                      <p:cBhvr>
                                        <p:cTn id="22" dur="500"/>
                                        <p:tgtEl>
                                          <p:spTgt spid="78"/>
                                        </p:tgtEl>
                                      </p:cBhvr>
                                    </p:animEffect>
                                  </p:childTnLst>
                                </p:cTn>
                              </p:par>
                              <p:par>
                                <p:cTn id="23" presetID="4" presetClass="entr" presetSubtype="16" fill="hold" nodeType="withEffect">
                                  <p:stCondLst>
                                    <p:cond delay="0"/>
                                  </p:stCondLst>
                                  <p:childTnLst>
                                    <p:set>
                                      <p:cBhvr>
                                        <p:cTn id="24" dur="1" fill="hold">
                                          <p:stCondLst>
                                            <p:cond delay="0"/>
                                          </p:stCondLst>
                                        </p:cTn>
                                        <p:tgtEl>
                                          <p:spTgt spid="6147"/>
                                        </p:tgtEl>
                                        <p:attrNameLst>
                                          <p:attrName>style.visibility</p:attrName>
                                        </p:attrNameLst>
                                      </p:cBhvr>
                                      <p:to>
                                        <p:strVal val="visible"/>
                                      </p:to>
                                    </p:set>
                                    <p:animEffect transition="in" filter="box(in)">
                                      <p:cBhvr>
                                        <p:cTn id="25" dur="500"/>
                                        <p:tgtEl>
                                          <p:spTgt spid="6147"/>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154"/>
                                        </p:tgtEl>
                                        <p:attrNameLst>
                                          <p:attrName>style.visibility</p:attrName>
                                        </p:attrNameLst>
                                      </p:cBhvr>
                                      <p:to>
                                        <p:strVal val="visible"/>
                                      </p:to>
                                    </p:set>
                                    <p:animEffect transition="in" filter="box(in)">
                                      <p:cBhvr>
                                        <p:cTn id="30" dur="500"/>
                                        <p:tgtEl>
                                          <p:spTgt spid="6154"/>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6148"/>
                                        </p:tgtEl>
                                        <p:attrNameLst>
                                          <p:attrName>style.visibility</p:attrName>
                                        </p:attrNameLst>
                                      </p:cBhvr>
                                      <p:to>
                                        <p:strVal val="visible"/>
                                      </p:to>
                                    </p:set>
                                    <p:animEffect transition="in" filter="box(in)">
                                      <p:cBhvr>
                                        <p:cTn id="35"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p:bldP spid="6150" grpId="0"/>
      <p:bldP spid="78" grpId="0" animBg="1"/>
      <p:bldP spid="615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TextBox 1"/>
          <p:cNvSpPr txBox="1">
            <a:spLocks noChangeArrowheads="1"/>
          </p:cNvSpPr>
          <p:nvPr/>
        </p:nvSpPr>
        <p:spPr bwMode="auto">
          <a:xfrm>
            <a:off x="1058862" y="1460500"/>
            <a:ext cx="9913937"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微软雅黑" pitchFamily="34" charset="-122"/>
                <a:cs typeface="Times New Roman" pitchFamily="18" charset="0"/>
              </a:rPr>
              <a:t>光照停止后，即产生率</a:t>
            </a:r>
            <a:r>
              <a:rPr lang="en-US" altLang="zh-CN" sz="2800" b="1" dirty="0">
                <a:latin typeface="Times New Roman" pitchFamily="18" charset="0"/>
                <a:ea typeface="微软雅黑" pitchFamily="34" charset="-122"/>
                <a:cs typeface="Times New Roman" pitchFamily="18" charset="0"/>
              </a:rPr>
              <a:t>G=0</a:t>
            </a:r>
            <a:r>
              <a:rPr lang="zh-CN" altLang="en-US" sz="2800" b="1" dirty="0">
                <a:latin typeface="Times New Roman" pitchFamily="18" charset="0"/>
                <a:ea typeface="微软雅黑" pitchFamily="34" charset="-122"/>
                <a:cs typeface="Times New Roman" pitchFamily="18" charset="0"/>
              </a:rPr>
              <a:t>，光生载流子下降的方程为</a:t>
            </a:r>
          </a:p>
        </p:txBody>
      </p:sp>
      <p:sp>
        <p:nvSpPr>
          <p:cNvPr id="26633" name="Rectangle 2"/>
          <p:cNvSpPr>
            <a:spLocks noChangeArrowheads="1"/>
          </p:cNvSpPr>
          <p:nvPr/>
        </p:nvSpPr>
        <p:spPr bwMode="auto">
          <a:xfrm>
            <a:off x="176213" y="3508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170" name="Object 1"/>
          <p:cNvGraphicFramePr>
            <a:graphicFrameLocks noChangeAspect="1"/>
          </p:cNvGraphicFramePr>
          <p:nvPr>
            <p:extLst>
              <p:ext uri="{D42A27DB-BD31-4B8C-83A1-F6EECF244321}">
                <p14:modId xmlns:p14="http://schemas.microsoft.com/office/powerpoint/2010/main" val="691036387"/>
              </p:ext>
            </p:extLst>
          </p:nvPr>
        </p:nvGraphicFramePr>
        <p:xfrm>
          <a:off x="5728653" y="2255520"/>
          <a:ext cx="1866900" cy="944563"/>
        </p:xfrm>
        <a:graphic>
          <a:graphicData uri="http://schemas.openxmlformats.org/presentationml/2006/ole">
            <mc:AlternateContent xmlns:mc="http://schemas.openxmlformats.org/markup-compatibility/2006">
              <mc:Choice xmlns:v="urn:schemas-microsoft-com:vml" Requires="v">
                <p:oleObj spid="_x0000_s26907" name="公式" r:id="rId3" imgW="774364" imgH="393529" progId="Equation.3">
                  <p:embed/>
                </p:oleObj>
              </mc:Choice>
              <mc:Fallback>
                <p:oleObj name="公式" r:id="rId3" imgW="774364" imgH="39352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8653" y="2255520"/>
                        <a:ext cx="1866900" cy="944563"/>
                      </a:xfrm>
                      <a:prstGeom prst="rect">
                        <a:avLst/>
                      </a:prstGeom>
                      <a:solidFill>
                        <a:srgbClr val="FFFF00"/>
                      </a:solidFill>
                    </p:spPr>
                  </p:pic>
                </p:oleObj>
              </mc:Fallback>
            </mc:AlternateContent>
          </a:graphicData>
        </a:graphic>
      </p:graphicFrame>
      <p:sp>
        <p:nvSpPr>
          <p:cNvPr id="7176" name="TextBox 4"/>
          <p:cNvSpPr txBox="1">
            <a:spLocks noChangeArrowheads="1"/>
          </p:cNvSpPr>
          <p:nvPr/>
        </p:nvSpPr>
        <p:spPr bwMode="auto">
          <a:xfrm>
            <a:off x="2002472" y="3337560"/>
            <a:ext cx="4413567"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微软雅黑" pitchFamily="34" charset="-122"/>
                <a:cs typeface="Times New Roman" pitchFamily="18" charset="0"/>
              </a:rPr>
              <a:t>利用初始条件解方程得</a:t>
            </a:r>
          </a:p>
        </p:txBody>
      </p:sp>
      <p:sp>
        <p:nvSpPr>
          <p:cNvPr id="26636" name="Rectangle 4"/>
          <p:cNvSpPr>
            <a:spLocks noChangeArrowheads="1"/>
          </p:cNvSpPr>
          <p:nvPr/>
        </p:nvSpPr>
        <p:spPr bwMode="auto">
          <a:xfrm>
            <a:off x="176213" y="3508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171" name="Object 3"/>
          <p:cNvGraphicFramePr>
            <a:graphicFrameLocks noChangeAspect="1"/>
          </p:cNvGraphicFramePr>
          <p:nvPr>
            <p:extLst>
              <p:ext uri="{D42A27DB-BD31-4B8C-83A1-F6EECF244321}">
                <p14:modId xmlns:p14="http://schemas.microsoft.com/office/powerpoint/2010/main" val="2275056968"/>
              </p:ext>
            </p:extLst>
          </p:nvPr>
        </p:nvGraphicFramePr>
        <p:xfrm>
          <a:off x="5588953" y="4095750"/>
          <a:ext cx="2190750" cy="622300"/>
        </p:xfrm>
        <a:graphic>
          <a:graphicData uri="http://schemas.openxmlformats.org/presentationml/2006/ole">
            <mc:AlternateContent xmlns:mc="http://schemas.openxmlformats.org/markup-compatibility/2006">
              <mc:Choice xmlns:v="urn:schemas-microsoft-com:vml" Requires="v">
                <p:oleObj spid="_x0000_s26908" name="公式" r:id="rId5" imgW="838200" imgH="241300" progId="Equation.3">
                  <p:embed/>
                </p:oleObj>
              </mc:Choice>
              <mc:Fallback>
                <p:oleObj name="公式" r:id="rId5" imgW="8382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8953" y="4095750"/>
                        <a:ext cx="2190750" cy="622300"/>
                      </a:xfrm>
                      <a:prstGeom prst="rect">
                        <a:avLst/>
                      </a:prstGeom>
                      <a:solidFill>
                        <a:srgbClr val="FFFF00"/>
                      </a:solidFill>
                    </p:spPr>
                  </p:pic>
                </p:oleObj>
              </mc:Fallback>
            </mc:AlternateContent>
          </a:graphicData>
        </a:graphic>
      </p:graphicFrame>
      <p:sp>
        <p:nvSpPr>
          <p:cNvPr id="7178" name="TextBox 7"/>
          <p:cNvSpPr txBox="1">
            <a:spLocks noChangeArrowheads="1"/>
          </p:cNvSpPr>
          <p:nvPr/>
        </p:nvSpPr>
        <p:spPr bwMode="auto">
          <a:xfrm>
            <a:off x="939482" y="4865370"/>
            <a:ext cx="11862117"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微软雅黑" pitchFamily="34" charset="-122"/>
                <a:cs typeface="Times New Roman" pitchFamily="18" charset="0"/>
              </a:rPr>
              <a:t>这样在弱光照射情况下，光电导上升和下降函数为：</a:t>
            </a:r>
          </a:p>
        </p:txBody>
      </p:sp>
      <p:sp>
        <p:nvSpPr>
          <p:cNvPr id="26639" name="Rectangle 6"/>
          <p:cNvSpPr>
            <a:spLocks noChangeArrowheads="1"/>
          </p:cNvSpPr>
          <p:nvPr/>
        </p:nvSpPr>
        <p:spPr bwMode="auto">
          <a:xfrm>
            <a:off x="176213" y="3508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172" name="Object 5"/>
          <p:cNvGraphicFramePr>
            <a:graphicFrameLocks noChangeAspect="1"/>
          </p:cNvGraphicFramePr>
          <p:nvPr>
            <p:extLst>
              <p:ext uri="{D42A27DB-BD31-4B8C-83A1-F6EECF244321}">
                <p14:modId xmlns:p14="http://schemas.microsoft.com/office/powerpoint/2010/main" val="4120359116"/>
              </p:ext>
            </p:extLst>
          </p:nvPr>
        </p:nvGraphicFramePr>
        <p:xfrm>
          <a:off x="5282883" y="5609590"/>
          <a:ext cx="2819400" cy="577850"/>
        </p:xfrm>
        <a:graphic>
          <a:graphicData uri="http://schemas.openxmlformats.org/presentationml/2006/ole">
            <mc:AlternateContent xmlns:mc="http://schemas.openxmlformats.org/markup-compatibility/2006">
              <mc:Choice xmlns:v="urn:schemas-microsoft-com:vml" Requires="v">
                <p:oleObj spid="_x0000_s26909" name="公式" r:id="rId7" imgW="1206500" imgH="241300" progId="Equation.3">
                  <p:embed/>
                </p:oleObj>
              </mc:Choice>
              <mc:Fallback>
                <p:oleObj name="公式" r:id="rId7" imgW="1206500" imgH="2413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2883" y="5609590"/>
                        <a:ext cx="2819400" cy="577850"/>
                      </a:xfrm>
                      <a:prstGeom prst="rect">
                        <a:avLst/>
                      </a:prstGeom>
                      <a:solidFill>
                        <a:srgbClr val="FFFF00"/>
                      </a:solidFill>
                    </p:spPr>
                  </p:pic>
                </p:oleObj>
              </mc:Fallback>
            </mc:AlternateContent>
          </a:graphicData>
        </a:graphic>
      </p:graphicFrame>
      <p:sp>
        <p:nvSpPr>
          <p:cNvPr id="26641" name="Rectangle 8"/>
          <p:cNvSpPr>
            <a:spLocks noChangeArrowheads="1"/>
          </p:cNvSpPr>
          <p:nvPr/>
        </p:nvSpPr>
        <p:spPr bwMode="auto">
          <a:xfrm>
            <a:off x="176213" y="3508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173" name="Object 7"/>
          <p:cNvGraphicFramePr>
            <a:graphicFrameLocks noChangeAspect="1"/>
          </p:cNvGraphicFramePr>
          <p:nvPr>
            <p:extLst>
              <p:ext uri="{D42A27DB-BD31-4B8C-83A1-F6EECF244321}">
                <p14:modId xmlns:p14="http://schemas.microsoft.com/office/powerpoint/2010/main" val="2054666434"/>
              </p:ext>
            </p:extLst>
          </p:nvPr>
        </p:nvGraphicFramePr>
        <p:xfrm>
          <a:off x="5282883" y="6609080"/>
          <a:ext cx="2219325" cy="577850"/>
        </p:xfrm>
        <a:graphic>
          <a:graphicData uri="http://schemas.openxmlformats.org/presentationml/2006/ole">
            <mc:AlternateContent xmlns:mc="http://schemas.openxmlformats.org/markup-compatibility/2006">
              <mc:Choice xmlns:v="urn:schemas-microsoft-com:vml" Requires="v">
                <p:oleObj spid="_x0000_s26910" name="公式" r:id="rId9" imgW="914400" imgH="241300" progId="Equation.3">
                  <p:embed/>
                </p:oleObj>
              </mc:Choice>
              <mc:Fallback>
                <p:oleObj name="公式" r:id="rId9" imgW="914400" imgH="2413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2883" y="6609080"/>
                        <a:ext cx="2219325" cy="577850"/>
                      </a:xfrm>
                      <a:prstGeom prst="rect">
                        <a:avLst/>
                      </a:prstGeom>
                      <a:solidFill>
                        <a:srgbClr val="FFFF00"/>
                      </a:solidFill>
                    </p:spPr>
                  </p:pic>
                </p:oleObj>
              </mc:Fallback>
            </mc:AlternateContent>
          </a:graphicData>
        </a:graphic>
      </p:graphicFrame>
      <p:sp>
        <p:nvSpPr>
          <p:cNvPr id="7181" name="TextBox 12"/>
          <p:cNvSpPr txBox="1">
            <a:spLocks noChangeArrowheads="1"/>
          </p:cNvSpPr>
          <p:nvPr/>
        </p:nvSpPr>
        <p:spPr bwMode="auto">
          <a:xfrm>
            <a:off x="3690302" y="5624830"/>
            <a:ext cx="1201737"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微软雅黑" pitchFamily="34" charset="-122"/>
                <a:cs typeface="Times New Roman" pitchFamily="18" charset="0"/>
              </a:rPr>
              <a:t>上升</a:t>
            </a:r>
          </a:p>
        </p:txBody>
      </p:sp>
      <p:sp>
        <p:nvSpPr>
          <p:cNvPr id="7182" name="TextBox 13"/>
          <p:cNvSpPr txBox="1">
            <a:spLocks noChangeArrowheads="1"/>
          </p:cNvSpPr>
          <p:nvPr/>
        </p:nvSpPr>
        <p:spPr bwMode="auto">
          <a:xfrm>
            <a:off x="3703002" y="6424930"/>
            <a:ext cx="1219517"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微软雅黑" pitchFamily="34" charset="-122"/>
                <a:cs typeface="Times New Roman" pitchFamily="18" charset="0"/>
              </a:rPr>
              <a:t>下降</a:t>
            </a:r>
          </a:p>
        </p:txBody>
      </p:sp>
      <p:sp>
        <p:nvSpPr>
          <p:cNvPr id="20" name="文本框 60">
            <a:extLst>
              <a:ext uri="{FF2B5EF4-FFF2-40B4-BE49-F238E27FC236}">
                <a16:creationId xmlns="" xmlns:a16="http://schemas.microsoft.com/office/drawing/2014/main" id="{653B3638-16E5-4183-8A10-0564FDE2F250}"/>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21" name="矩形 20">
            <a:extLst>
              <a:ext uri="{FF2B5EF4-FFF2-40B4-BE49-F238E27FC236}">
                <a16:creationId xmlns="" xmlns:a16="http://schemas.microsoft.com/office/drawing/2014/main" id="{CA75C056-2DE6-44BB-BBC3-DCD77B58025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F9D6CF8-FEAD-47AC-8314-B3331806DF5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 xmlns:a16="http://schemas.microsoft.com/office/drawing/2014/main" id="{8F3FC044-A91A-423E-89AC-CE8BEDC8119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 xmlns:a16="http://schemas.microsoft.com/office/drawing/2014/main" id="{057501E8-B987-4359-896E-3492A2F23DFB}"/>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 xmlns:a16="http://schemas.microsoft.com/office/drawing/2014/main" id="{EA45EA64-8A7C-4EC2-901C-9CBD1EF1CE5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 xmlns:a16="http://schemas.microsoft.com/office/drawing/2014/main" id="{0F860798-6F4A-4DA2-8CC0-5E57629EE09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box(in)">
                                      <p:cBhvr>
                                        <p:cTn id="7" dur="500"/>
                                        <p:tgtEl>
                                          <p:spTgt spid="717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box(in)">
                                      <p:cBhvr>
                                        <p:cTn id="12" dur="500"/>
                                        <p:tgtEl>
                                          <p:spTgt spid="717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176"/>
                                        </p:tgtEl>
                                        <p:attrNameLst>
                                          <p:attrName>style.visibility</p:attrName>
                                        </p:attrNameLst>
                                      </p:cBhvr>
                                      <p:to>
                                        <p:strVal val="visible"/>
                                      </p:to>
                                    </p:set>
                                    <p:animEffect transition="in" filter="box(in)">
                                      <p:cBhvr>
                                        <p:cTn id="17" dur="500"/>
                                        <p:tgtEl>
                                          <p:spTgt spid="717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171"/>
                                        </p:tgtEl>
                                        <p:attrNameLst>
                                          <p:attrName>style.visibility</p:attrName>
                                        </p:attrNameLst>
                                      </p:cBhvr>
                                      <p:to>
                                        <p:strVal val="visible"/>
                                      </p:to>
                                    </p:set>
                                    <p:animEffect transition="in" filter="box(in)">
                                      <p:cBhvr>
                                        <p:cTn id="22" dur="500"/>
                                        <p:tgtEl>
                                          <p:spTgt spid="717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178"/>
                                        </p:tgtEl>
                                        <p:attrNameLst>
                                          <p:attrName>style.visibility</p:attrName>
                                        </p:attrNameLst>
                                      </p:cBhvr>
                                      <p:to>
                                        <p:strVal val="visible"/>
                                      </p:to>
                                    </p:set>
                                    <p:animEffect transition="in" filter="box(in)">
                                      <p:cBhvr>
                                        <p:cTn id="27" dur="500"/>
                                        <p:tgtEl>
                                          <p:spTgt spid="717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181"/>
                                        </p:tgtEl>
                                        <p:attrNameLst>
                                          <p:attrName>style.visibility</p:attrName>
                                        </p:attrNameLst>
                                      </p:cBhvr>
                                      <p:to>
                                        <p:strVal val="visible"/>
                                      </p:to>
                                    </p:set>
                                    <p:animEffect transition="in" filter="box(in)">
                                      <p:cBhvr>
                                        <p:cTn id="32" dur="500"/>
                                        <p:tgtEl>
                                          <p:spTgt spid="7181"/>
                                        </p:tgtEl>
                                      </p:cBhvr>
                                    </p:animEffect>
                                  </p:childTnLst>
                                </p:cTn>
                              </p:par>
                            </p:childTnLst>
                          </p:cTn>
                        </p:par>
                        <p:par>
                          <p:cTn id="33" fill="hold">
                            <p:stCondLst>
                              <p:cond delay="500"/>
                            </p:stCondLst>
                            <p:childTnLst>
                              <p:par>
                                <p:cTn id="34" presetID="4" presetClass="entr" presetSubtype="16" fill="hold" nodeType="afterEffect">
                                  <p:stCondLst>
                                    <p:cond delay="0"/>
                                  </p:stCondLst>
                                  <p:childTnLst>
                                    <p:set>
                                      <p:cBhvr>
                                        <p:cTn id="35" dur="1" fill="hold">
                                          <p:stCondLst>
                                            <p:cond delay="0"/>
                                          </p:stCondLst>
                                        </p:cTn>
                                        <p:tgtEl>
                                          <p:spTgt spid="7172"/>
                                        </p:tgtEl>
                                        <p:attrNameLst>
                                          <p:attrName>style.visibility</p:attrName>
                                        </p:attrNameLst>
                                      </p:cBhvr>
                                      <p:to>
                                        <p:strVal val="visible"/>
                                      </p:to>
                                    </p:set>
                                    <p:animEffect transition="in" filter="box(in)">
                                      <p:cBhvr>
                                        <p:cTn id="36" dur="500"/>
                                        <p:tgtEl>
                                          <p:spTgt spid="717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7182"/>
                                        </p:tgtEl>
                                        <p:attrNameLst>
                                          <p:attrName>style.visibility</p:attrName>
                                        </p:attrNameLst>
                                      </p:cBhvr>
                                      <p:to>
                                        <p:strVal val="visible"/>
                                      </p:to>
                                    </p:set>
                                    <p:animEffect transition="in" filter="box(in)">
                                      <p:cBhvr>
                                        <p:cTn id="41" dur="500"/>
                                        <p:tgtEl>
                                          <p:spTgt spid="7182"/>
                                        </p:tgtEl>
                                      </p:cBhvr>
                                    </p:animEffect>
                                  </p:childTnLst>
                                </p:cTn>
                              </p:par>
                            </p:childTnLst>
                          </p:cTn>
                        </p:par>
                        <p:par>
                          <p:cTn id="42" fill="hold">
                            <p:stCondLst>
                              <p:cond delay="500"/>
                            </p:stCondLst>
                            <p:childTnLst>
                              <p:par>
                                <p:cTn id="43" presetID="4" presetClass="entr" presetSubtype="16" fill="hold" nodeType="afterEffect">
                                  <p:stCondLst>
                                    <p:cond delay="0"/>
                                  </p:stCondLst>
                                  <p:childTnLst>
                                    <p:set>
                                      <p:cBhvr>
                                        <p:cTn id="44" dur="1" fill="hold">
                                          <p:stCondLst>
                                            <p:cond delay="0"/>
                                          </p:stCondLst>
                                        </p:cTn>
                                        <p:tgtEl>
                                          <p:spTgt spid="7173"/>
                                        </p:tgtEl>
                                        <p:attrNameLst>
                                          <p:attrName>style.visibility</p:attrName>
                                        </p:attrNameLst>
                                      </p:cBhvr>
                                      <p:to>
                                        <p:strVal val="visible"/>
                                      </p:to>
                                    </p:set>
                                    <p:animEffect transition="in" filter="box(in)">
                                      <p:cBhvr>
                                        <p:cTn id="45"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p:bldP spid="7176" grpId="0"/>
      <p:bldP spid="7178" grpId="0"/>
      <p:bldP spid="7181" grpId="0"/>
      <p:bldP spid="71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TextBox 1"/>
          <p:cNvSpPr txBox="1">
            <a:spLocks noChangeArrowheads="1"/>
          </p:cNvSpPr>
          <p:nvPr/>
        </p:nvSpPr>
        <p:spPr bwMode="auto">
          <a:xfrm>
            <a:off x="1887855" y="1678623"/>
            <a:ext cx="8534400" cy="523220"/>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对于</a:t>
            </a:r>
            <a:r>
              <a:rPr lang="en-US" altLang="zh-CN" sz="2800" b="1" dirty="0">
                <a:latin typeface="Times New Roman" pitchFamily="18" charset="0"/>
                <a:ea typeface="微软雅黑" pitchFamily="34" charset="-122"/>
                <a:cs typeface="Times New Roman" pitchFamily="18" charset="0"/>
              </a:rPr>
              <a:t>N</a:t>
            </a:r>
            <a:r>
              <a:rPr lang="zh-CN" altLang="en-US" sz="2800" b="1" dirty="0">
                <a:latin typeface="Times New Roman" pitchFamily="18" charset="0"/>
                <a:ea typeface="微软雅黑" pitchFamily="34" charset="-122"/>
                <a:cs typeface="Times New Roman" pitchFamily="18" charset="0"/>
              </a:rPr>
              <a:t>型半导体，在弱光照射下稳态光电导为</a:t>
            </a:r>
          </a:p>
        </p:txBody>
      </p:sp>
      <p:sp>
        <p:nvSpPr>
          <p:cNvPr id="27657" name="Rectangle 2"/>
          <p:cNvSpPr>
            <a:spLocks noChangeArrowheads="1"/>
          </p:cNvSpPr>
          <p:nvPr/>
        </p:nvSpPr>
        <p:spPr bwMode="auto">
          <a:xfrm>
            <a:off x="320675" y="4953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9218" name="Object 1"/>
          <p:cNvGraphicFramePr>
            <a:graphicFrameLocks noChangeAspect="1"/>
          </p:cNvGraphicFramePr>
          <p:nvPr>
            <p:extLst>
              <p:ext uri="{D42A27DB-BD31-4B8C-83A1-F6EECF244321}">
                <p14:modId xmlns:p14="http://schemas.microsoft.com/office/powerpoint/2010/main" val="3365954523"/>
              </p:ext>
            </p:extLst>
          </p:nvPr>
        </p:nvGraphicFramePr>
        <p:xfrm>
          <a:off x="4886325" y="2419350"/>
          <a:ext cx="5303838" cy="881063"/>
        </p:xfrm>
        <a:graphic>
          <a:graphicData uri="http://schemas.openxmlformats.org/presentationml/2006/ole">
            <mc:AlternateContent xmlns:mc="http://schemas.openxmlformats.org/markup-compatibility/2006">
              <mc:Choice xmlns:v="urn:schemas-microsoft-com:vml" Requires="v">
                <p:oleObj spid="_x0000_s27934" name="Equation" r:id="rId3" imgW="2463480" imgH="406080" progId="Equation.DSMT4">
                  <p:embed/>
                </p:oleObj>
              </mc:Choice>
              <mc:Fallback>
                <p:oleObj name="Equation" r:id="rId3" imgW="2463480" imgH="406080" progId="Equation.DSMT4">
                  <p:embed/>
                  <p:pic>
                    <p:nvPicPr>
                      <p:cNvPr id="0" name="Object 1"/>
                      <p:cNvPicPr>
                        <a:picLocks noChangeAspect="1" noChangeArrowheads="1"/>
                      </p:cNvPicPr>
                      <p:nvPr/>
                    </p:nvPicPr>
                    <p:blipFill>
                      <a:blip r:embed="rId4"/>
                      <a:srcRect/>
                      <a:stretch>
                        <a:fillRect/>
                      </a:stretch>
                    </p:blipFill>
                    <p:spPr bwMode="auto">
                      <a:xfrm>
                        <a:off x="4886325" y="2419350"/>
                        <a:ext cx="5303838" cy="881063"/>
                      </a:xfrm>
                      <a:prstGeom prst="rect">
                        <a:avLst/>
                      </a:prstGeom>
                      <a:solidFill>
                        <a:srgbClr val="FFFF00"/>
                      </a:solidFill>
                    </p:spPr>
                  </p:pic>
                </p:oleObj>
              </mc:Fallback>
            </mc:AlternateContent>
          </a:graphicData>
        </a:graphic>
      </p:graphicFrame>
      <p:sp>
        <p:nvSpPr>
          <p:cNvPr id="9224" name="TextBox 4"/>
          <p:cNvSpPr txBox="1">
            <a:spLocks noChangeArrowheads="1"/>
          </p:cNvSpPr>
          <p:nvPr/>
        </p:nvSpPr>
        <p:spPr bwMode="auto">
          <a:xfrm>
            <a:off x="1956435" y="3456623"/>
            <a:ext cx="8712200" cy="523220"/>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在弱光作用下的漂移电流密度大小（</a:t>
            </a:r>
            <a:r>
              <a:rPr lang="en-US" altLang="zh-CN" sz="2800" b="1" dirty="0">
                <a:latin typeface="Times New Roman" pitchFamily="18" charset="0"/>
                <a:ea typeface="微软雅黑" pitchFamily="34" charset="-122"/>
                <a:cs typeface="Times New Roman" pitchFamily="18" charset="0"/>
              </a:rPr>
              <a:t>A/m</a:t>
            </a:r>
            <a:r>
              <a:rPr lang="en-US" altLang="zh-CN" sz="2800" b="1" baseline="30000" dirty="0">
                <a:latin typeface="Times New Roman" pitchFamily="18" charset="0"/>
                <a:ea typeface="微软雅黑" pitchFamily="34" charset="-122"/>
                <a:cs typeface="Times New Roman" pitchFamily="18" charset="0"/>
              </a:rPr>
              <a:t>2</a:t>
            </a:r>
            <a:r>
              <a:rPr lang="zh-CN" altLang="en-US" sz="2800" b="1" dirty="0">
                <a:latin typeface="Times New Roman" pitchFamily="18" charset="0"/>
                <a:ea typeface="微软雅黑" pitchFamily="34" charset="-122"/>
                <a:cs typeface="Times New Roman" pitchFamily="18" charset="0"/>
              </a:rPr>
              <a:t>）为</a:t>
            </a:r>
          </a:p>
        </p:txBody>
      </p:sp>
      <p:sp>
        <p:nvSpPr>
          <p:cNvPr id="27660" name="Rectangle 4"/>
          <p:cNvSpPr>
            <a:spLocks noChangeArrowheads="1"/>
          </p:cNvSpPr>
          <p:nvPr/>
        </p:nvSpPr>
        <p:spPr bwMode="auto">
          <a:xfrm>
            <a:off x="320675" y="4953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9219" name="Object 3"/>
          <p:cNvGraphicFramePr>
            <a:graphicFrameLocks noChangeAspect="1"/>
          </p:cNvGraphicFramePr>
          <p:nvPr>
            <p:extLst>
              <p:ext uri="{D42A27DB-BD31-4B8C-83A1-F6EECF244321}">
                <p14:modId xmlns:p14="http://schemas.microsoft.com/office/powerpoint/2010/main" val="2606857267"/>
              </p:ext>
            </p:extLst>
          </p:nvPr>
        </p:nvGraphicFramePr>
        <p:xfrm>
          <a:off x="4764088" y="4160838"/>
          <a:ext cx="3097212" cy="963612"/>
        </p:xfrm>
        <a:graphic>
          <a:graphicData uri="http://schemas.openxmlformats.org/presentationml/2006/ole">
            <mc:AlternateContent xmlns:mc="http://schemas.openxmlformats.org/markup-compatibility/2006">
              <mc:Choice xmlns:v="urn:schemas-microsoft-com:vml" Requires="v">
                <p:oleObj spid="_x0000_s27935" name="Equation" r:id="rId5" imgW="1295280" imgH="406080" progId="Equation.DSMT4">
                  <p:embed/>
                </p:oleObj>
              </mc:Choice>
              <mc:Fallback>
                <p:oleObj name="Equation" r:id="rId5" imgW="1295280" imgH="406080" progId="Equation.DSMT4">
                  <p:embed/>
                  <p:pic>
                    <p:nvPicPr>
                      <p:cNvPr id="0" name="Object 3"/>
                      <p:cNvPicPr>
                        <a:picLocks noChangeAspect="1" noChangeArrowheads="1"/>
                      </p:cNvPicPr>
                      <p:nvPr/>
                    </p:nvPicPr>
                    <p:blipFill>
                      <a:blip r:embed="rId6"/>
                      <a:srcRect/>
                      <a:stretch>
                        <a:fillRect/>
                      </a:stretch>
                    </p:blipFill>
                    <p:spPr bwMode="auto">
                      <a:xfrm>
                        <a:off x="4764088" y="4160838"/>
                        <a:ext cx="3097212" cy="963612"/>
                      </a:xfrm>
                      <a:prstGeom prst="rect">
                        <a:avLst/>
                      </a:prstGeom>
                      <a:solidFill>
                        <a:srgbClr val="FFFF00"/>
                      </a:solidFill>
                    </p:spPr>
                  </p:pic>
                </p:oleObj>
              </mc:Fallback>
            </mc:AlternateContent>
          </a:graphicData>
        </a:graphic>
      </p:graphicFrame>
      <p:sp>
        <p:nvSpPr>
          <p:cNvPr id="9226" name="TextBox 13"/>
          <p:cNvSpPr txBox="1">
            <a:spLocks noChangeArrowheads="1"/>
          </p:cNvSpPr>
          <p:nvPr/>
        </p:nvSpPr>
        <p:spPr bwMode="auto">
          <a:xfrm>
            <a:off x="2605405" y="5190173"/>
            <a:ext cx="6045200" cy="523220"/>
          </a:xfrm>
          <a:prstGeom prst="rect">
            <a:avLst/>
          </a:prstGeom>
          <a:noFill/>
          <a:ln w="9525">
            <a:noFill/>
            <a:miter lim="800000"/>
            <a:headEnd/>
            <a:tailEnd/>
          </a:ln>
        </p:spPr>
        <p:txBody>
          <a:bodyPr>
            <a:spAutoFit/>
          </a:bodyPr>
          <a:lstStyle/>
          <a:p>
            <a:pPr defTabSz="914400"/>
            <a:r>
              <a:rPr lang="zh-CN" altLang="en-US" sz="2800" b="1">
                <a:latin typeface="Times New Roman" pitchFamily="18" charset="0"/>
                <a:ea typeface="微软雅黑" pitchFamily="34" charset="-122"/>
                <a:cs typeface="Times New Roman" pitchFamily="18" charset="0"/>
              </a:rPr>
              <a:t>光电导探测器输出的平均光电流</a:t>
            </a:r>
          </a:p>
        </p:txBody>
      </p:sp>
      <p:sp>
        <p:nvSpPr>
          <p:cNvPr id="27663" name="Rectangle 12"/>
          <p:cNvSpPr>
            <a:spLocks noChangeArrowheads="1"/>
          </p:cNvSpPr>
          <p:nvPr/>
        </p:nvSpPr>
        <p:spPr bwMode="auto">
          <a:xfrm>
            <a:off x="320675" y="4953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9220" name="Object 11"/>
          <p:cNvGraphicFramePr>
            <a:graphicFrameLocks noChangeAspect="1"/>
          </p:cNvGraphicFramePr>
          <p:nvPr>
            <p:extLst>
              <p:ext uri="{D42A27DB-BD31-4B8C-83A1-F6EECF244321}">
                <p14:modId xmlns:p14="http://schemas.microsoft.com/office/powerpoint/2010/main" val="3353038952"/>
              </p:ext>
            </p:extLst>
          </p:nvPr>
        </p:nvGraphicFramePr>
        <p:xfrm>
          <a:off x="4741863" y="6035675"/>
          <a:ext cx="3343275" cy="812800"/>
        </p:xfrm>
        <a:graphic>
          <a:graphicData uri="http://schemas.openxmlformats.org/presentationml/2006/ole">
            <mc:AlternateContent xmlns:mc="http://schemas.openxmlformats.org/markup-compatibility/2006">
              <mc:Choice xmlns:v="urn:schemas-microsoft-com:vml" Requires="v">
                <p:oleObj spid="_x0000_s27936" name="Equation" r:id="rId7" imgW="1473120" imgH="406080" progId="Equation.DSMT4">
                  <p:embed/>
                </p:oleObj>
              </mc:Choice>
              <mc:Fallback>
                <p:oleObj name="Equation" r:id="rId7" imgW="1473120" imgH="406080" progId="Equation.DSMT4">
                  <p:embed/>
                  <p:pic>
                    <p:nvPicPr>
                      <p:cNvPr id="0" name="Object 11"/>
                      <p:cNvPicPr>
                        <a:picLocks noChangeAspect="1" noChangeArrowheads="1"/>
                      </p:cNvPicPr>
                      <p:nvPr/>
                    </p:nvPicPr>
                    <p:blipFill>
                      <a:blip r:embed="rId8"/>
                      <a:srcRect/>
                      <a:stretch>
                        <a:fillRect/>
                      </a:stretch>
                    </p:blipFill>
                    <p:spPr bwMode="auto">
                      <a:xfrm>
                        <a:off x="4741863" y="6035675"/>
                        <a:ext cx="3343275" cy="812800"/>
                      </a:xfrm>
                      <a:prstGeom prst="rect">
                        <a:avLst/>
                      </a:prstGeom>
                      <a:solidFill>
                        <a:srgbClr val="FFFF00"/>
                      </a:solidFill>
                    </p:spPr>
                  </p:pic>
                </p:oleObj>
              </mc:Fallback>
            </mc:AlternateContent>
          </a:graphicData>
        </a:graphic>
      </p:graphicFrame>
      <p:graphicFrame>
        <p:nvGraphicFramePr>
          <p:cNvPr id="9221" name="Object 13"/>
          <p:cNvGraphicFramePr>
            <a:graphicFrameLocks noChangeAspect="1"/>
          </p:cNvGraphicFramePr>
          <p:nvPr>
            <p:extLst>
              <p:ext uri="{D42A27DB-BD31-4B8C-83A1-F6EECF244321}">
                <p14:modId xmlns:p14="http://schemas.microsoft.com/office/powerpoint/2010/main" val="1130284415"/>
              </p:ext>
            </p:extLst>
          </p:nvPr>
        </p:nvGraphicFramePr>
        <p:xfrm>
          <a:off x="7866063" y="6053138"/>
          <a:ext cx="2249487" cy="812800"/>
        </p:xfrm>
        <a:graphic>
          <a:graphicData uri="http://schemas.openxmlformats.org/presentationml/2006/ole">
            <mc:AlternateContent xmlns:mc="http://schemas.openxmlformats.org/markup-compatibility/2006">
              <mc:Choice xmlns:v="urn:schemas-microsoft-com:vml" Requires="v">
                <p:oleObj spid="_x0000_s27937" name="Equation" r:id="rId9" imgW="990360" imgH="406080" progId="Equation.DSMT4">
                  <p:embed/>
                </p:oleObj>
              </mc:Choice>
              <mc:Fallback>
                <p:oleObj name="Equation" r:id="rId9" imgW="990360" imgH="406080" progId="Equation.DSMT4">
                  <p:embed/>
                  <p:pic>
                    <p:nvPicPr>
                      <p:cNvPr id="0" name="Object 13"/>
                      <p:cNvPicPr>
                        <a:picLocks noChangeAspect="1" noChangeArrowheads="1"/>
                      </p:cNvPicPr>
                      <p:nvPr/>
                    </p:nvPicPr>
                    <p:blipFill>
                      <a:blip r:embed="rId10"/>
                      <a:srcRect/>
                      <a:stretch>
                        <a:fillRect/>
                      </a:stretch>
                    </p:blipFill>
                    <p:spPr bwMode="auto">
                      <a:xfrm>
                        <a:off x="7866063" y="6053138"/>
                        <a:ext cx="2249487" cy="812800"/>
                      </a:xfrm>
                      <a:prstGeom prst="rect">
                        <a:avLst/>
                      </a:prstGeom>
                      <a:solidFill>
                        <a:srgbClr val="FFFF00"/>
                      </a:solidFill>
                    </p:spPr>
                  </p:pic>
                </p:oleObj>
              </mc:Fallback>
            </mc:AlternateContent>
          </a:graphicData>
        </a:graphic>
      </p:graphicFrame>
      <p:sp>
        <p:nvSpPr>
          <p:cNvPr id="19" name="文本框 60">
            <a:extLst>
              <a:ext uri="{FF2B5EF4-FFF2-40B4-BE49-F238E27FC236}">
                <a16:creationId xmlns="" xmlns:a16="http://schemas.microsoft.com/office/drawing/2014/main" id="{472B25CD-3047-4A3F-A020-1109277DF960}"/>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光电导效应</a:t>
            </a:r>
          </a:p>
        </p:txBody>
      </p:sp>
      <p:sp>
        <p:nvSpPr>
          <p:cNvPr id="20" name="矩形 19">
            <a:extLst>
              <a:ext uri="{FF2B5EF4-FFF2-40B4-BE49-F238E27FC236}">
                <a16:creationId xmlns="" xmlns:a16="http://schemas.microsoft.com/office/drawing/2014/main" id="{517F4279-C265-445C-9529-1D0854307823}"/>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 xmlns:a16="http://schemas.microsoft.com/office/drawing/2014/main" id="{5547734D-2C0E-46F3-96D6-092458DA3CC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 xmlns:a16="http://schemas.microsoft.com/office/drawing/2014/main" id="{80641796-5797-4CA6-8B1C-FC119759C0A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 xmlns:a16="http://schemas.microsoft.com/office/drawing/2014/main" id="{81C1C9C2-381A-40B6-903A-DE73462C8447}"/>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 xmlns:a16="http://schemas.microsoft.com/office/drawing/2014/main" id="{460540B3-2A81-49E5-B984-19921B6E2B3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 xmlns:a16="http://schemas.microsoft.com/office/drawing/2014/main" id="{30E037D6-39BC-44D4-8240-1060C627E154}"/>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box(in)">
                                      <p:cBhvr>
                                        <p:cTn id="7" dur="500"/>
                                        <p:tgtEl>
                                          <p:spTgt spid="92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box(in)">
                                      <p:cBhvr>
                                        <p:cTn id="12" dur="500"/>
                                        <p:tgtEl>
                                          <p:spTgt spid="92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224"/>
                                        </p:tgtEl>
                                        <p:attrNameLst>
                                          <p:attrName>style.visibility</p:attrName>
                                        </p:attrNameLst>
                                      </p:cBhvr>
                                      <p:to>
                                        <p:strVal val="visible"/>
                                      </p:to>
                                    </p:set>
                                    <p:animEffect transition="in" filter="box(in)">
                                      <p:cBhvr>
                                        <p:cTn id="17" dur="500"/>
                                        <p:tgtEl>
                                          <p:spTgt spid="922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219"/>
                                        </p:tgtEl>
                                        <p:attrNameLst>
                                          <p:attrName>style.visibility</p:attrName>
                                        </p:attrNameLst>
                                      </p:cBhvr>
                                      <p:to>
                                        <p:strVal val="visible"/>
                                      </p:to>
                                    </p:set>
                                    <p:animEffect transition="in" filter="box(in)">
                                      <p:cBhvr>
                                        <p:cTn id="22" dur="500"/>
                                        <p:tgtEl>
                                          <p:spTgt spid="921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226"/>
                                        </p:tgtEl>
                                        <p:attrNameLst>
                                          <p:attrName>style.visibility</p:attrName>
                                        </p:attrNameLst>
                                      </p:cBhvr>
                                      <p:to>
                                        <p:strVal val="visible"/>
                                      </p:to>
                                    </p:set>
                                    <p:animEffect transition="in" filter="box(in)">
                                      <p:cBhvr>
                                        <p:cTn id="27" dur="500"/>
                                        <p:tgtEl>
                                          <p:spTgt spid="92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9220"/>
                                        </p:tgtEl>
                                        <p:attrNameLst>
                                          <p:attrName>style.visibility</p:attrName>
                                        </p:attrNameLst>
                                      </p:cBhvr>
                                      <p:to>
                                        <p:strVal val="visible"/>
                                      </p:to>
                                    </p:set>
                                    <p:animEffect transition="in" filter="box(in)">
                                      <p:cBhvr>
                                        <p:cTn id="32" dur="500"/>
                                        <p:tgtEl>
                                          <p:spTgt spid="922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9221"/>
                                        </p:tgtEl>
                                        <p:attrNameLst>
                                          <p:attrName>style.visibility</p:attrName>
                                        </p:attrNameLst>
                                      </p:cBhvr>
                                      <p:to>
                                        <p:strVal val="visible"/>
                                      </p:to>
                                    </p:set>
                                    <p:animEffect transition="in" filter="box(in)">
                                      <p:cBhvr>
                                        <p:cTn id="37" dur="500"/>
                                        <p:tgtEl>
                                          <p:spTgt spid="9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p:bldP spid="9224" grpId="0"/>
      <p:bldP spid="92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光伏效应</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3822825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92" name="Rectangle 20"/>
          <p:cNvSpPr>
            <a:spLocks noChangeArrowheads="1"/>
          </p:cNvSpPr>
          <p:nvPr/>
        </p:nvSpPr>
        <p:spPr bwMode="auto">
          <a:xfrm>
            <a:off x="825500" y="5107359"/>
            <a:ext cx="12365206" cy="830997"/>
          </a:xfrm>
          <a:prstGeom prst="rect">
            <a:avLst/>
          </a:prstGeom>
          <a:noFill/>
          <a:ln w="9525">
            <a:noFill/>
            <a:miter lim="800000"/>
            <a:headEnd/>
            <a:tailEnd/>
          </a:ln>
        </p:spPr>
        <p:txBody>
          <a:bodyPr wrap="square" anchor="ctr">
            <a:spAutoFit/>
          </a:bodyPr>
          <a:lstStyle/>
          <a:p>
            <a:pPr defTabSz="914400">
              <a:lnSpc>
                <a:spcPct val="150000"/>
              </a:lnSpc>
            </a:pPr>
            <a:r>
              <a:rPr lang="zh-CN" altLang="en-US" sz="3200" b="1" dirty="0">
                <a:latin typeface="Times New Roman" pitchFamily="18" charset="0"/>
                <a:ea typeface="微软雅黑" pitchFamily="34" charset="-122"/>
                <a:cs typeface="Times New Roman" pitchFamily="18" charset="0"/>
              </a:rPr>
              <a:t>     如：</a:t>
            </a:r>
            <a:r>
              <a:rPr lang="en-US" altLang="zh-CN" sz="3200" b="1" dirty="0">
                <a:solidFill>
                  <a:srgbClr val="FF0000"/>
                </a:solidFill>
                <a:latin typeface="Times New Roman" pitchFamily="18" charset="0"/>
                <a:ea typeface="微软雅黑" pitchFamily="34" charset="-122"/>
                <a:cs typeface="Times New Roman" pitchFamily="18" charset="0"/>
              </a:rPr>
              <a:t>PN</a:t>
            </a:r>
            <a:r>
              <a:rPr lang="zh-CN" altLang="en-US" sz="3200" b="1" dirty="0">
                <a:solidFill>
                  <a:srgbClr val="FF0000"/>
                </a:solidFill>
                <a:latin typeface="Times New Roman" pitchFamily="18" charset="0"/>
                <a:ea typeface="微软雅黑" pitchFamily="34" charset="-122"/>
                <a:cs typeface="Times New Roman" pitchFamily="18" charset="0"/>
              </a:rPr>
              <a:t>结</a:t>
            </a:r>
            <a:r>
              <a:rPr lang="zh-CN" altLang="en-US" sz="3200" b="1" dirty="0">
                <a:latin typeface="Times New Roman" pitchFamily="18" charset="0"/>
                <a:ea typeface="微软雅黑" pitchFamily="34" charset="-122"/>
                <a:cs typeface="Times New Roman" pitchFamily="18" charset="0"/>
              </a:rPr>
              <a:t>。</a:t>
            </a:r>
            <a:r>
              <a:rPr lang="en-US" altLang="zh-CN" sz="3200" b="1" dirty="0">
                <a:latin typeface="Times New Roman" pitchFamily="18" charset="0"/>
                <a:ea typeface="微软雅黑" pitchFamily="34" charset="-122"/>
                <a:cs typeface="Times New Roman" pitchFamily="18" charset="0"/>
              </a:rPr>
              <a:t>PN</a:t>
            </a:r>
            <a:r>
              <a:rPr lang="zh-CN" altLang="en-US" sz="3200" b="1" dirty="0">
                <a:latin typeface="Times New Roman" pitchFamily="18" charset="0"/>
                <a:ea typeface="微软雅黑" pitchFamily="34" charset="-122"/>
                <a:cs typeface="Times New Roman" pitchFamily="18" charset="0"/>
              </a:rPr>
              <a:t>结受到光照时，可在</a:t>
            </a:r>
            <a:r>
              <a:rPr lang="en-US" altLang="zh-CN" sz="3200" b="1" dirty="0">
                <a:latin typeface="Times New Roman" pitchFamily="18" charset="0"/>
                <a:ea typeface="微软雅黑" pitchFamily="34" charset="-122"/>
                <a:cs typeface="Times New Roman" pitchFamily="18" charset="0"/>
              </a:rPr>
              <a:t>PN</a:t>
            </a:r>
            <a:r>
              <a:rPr lang="zh-CN" altLang="en-US" sz="3200" b="1" dirty="0">
                <a:latin typeface="Times New Roman" pitchFamily="18" charset="0"/>
                <a:ea typeface="微软雅黑" pitchFamily="34" charset="-122"/>
                <a:cs typeface="Times New Roman" pitchFamily="18" charset="0"/>
              </a:rPr>
              <a:t>结的两端产生电势差。 </a:t>
            </a:r>
          </a:p>
        </p:txBody>
      </p:sp>
      <p:sp>
        <p:nvSpPr>
          <p:cNvPr id="25" name="Rectangle 20"/>
          <p:cNvSpPr>
            <a:spLocks noChangeArrowheads="1"/>
          </p:cNvSpPr>
          <p:nvPr/>
        </p:nvSpPr>
        <p:spPr bwMode="auto">
          <a:xfrm>
            <a:off x="825500" y="2466204"/>
            <a:ext cx="12365206" cy="1569660"/>
          </a:xfrm>
          <a:prstGeom prst="rect">
            <a:avLst/>
          </a:prstGeom>
          <a:noFill/>
          <a:ln w="9525">
            <a:noFill/>
            <a:miter lim="800000"/>
            <a:headEnd/>
            <a:tailEnd/>
          </a:ln>
        </p:spPr>
        <p:txBody>
          <a:bodyPr wrap="square" anchor="ctr">
            <a:spAutoFit/>
          </a:bodyPr>
          <a:lstStyle/>
          <a:p>
            <a:pPr defTabSz="914400">
              <a:lnSpc>
                <a:spcPct val="150000"/>
              </a:lnSpc>
            </a:pPr>
            <a:r>
              <a:rPr lang="zh-CN" altLang="en-US" sz="3200" b="1" dirty="0">
                <a:latin typeface="Times New Roman" pitchFamily="18" charset="0"/>
                <a:ea typeface="微软雅黑" pitchFamily="34" charset="-122"/>
                <a:cs typeface="Times New Roman" pitchFamily="18" charset="0"/>
              </a:rPr>
              <a:t>         光伏效应是光照使不均匀半导体或均匀半导体中产生电子空穴对并在空间分开而产生电势差的现象。 </a:t>
            </a:r>
          </a:p>
        </p:txBody>
      </p:sp>
      <p:sp>
        <p:nvSpPr>
          <p:cNvPr id="9" name="文本框 60">
            <a:extLst>
              <a:ext uri="{FF2B5EF4-FFF2-40B4-BE49-F238E27FC236}">
                <a16:creationId xmlns="" xmlns:a16="http://schemas.microsoft.com/office/drawing/2014/main" id="{06CA608C-D2CB-4185-8C8E-9186392B170B}"/>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0" name="矩形 9">
            <a:extLst>
              <a:ext uri="{FF2B5EF4-FFF2-40B4-BE49-F238E27FC236}">
                <a16:creationId xmlns="" xmlns:a16="http://schemas.microsoft.com/office/drawing/2014/main" id="{1F009266-B703-40CD-B90D-67947D43F97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1" name="矩形 10">
            <a:extLst>
              <a:ext uri="{FF2B5EF4-FFF2-40B4-BE49-F238E27FC236}">
                <a16:creationId xmlns="" xmlns:a16="http://schemas.microsoft.com/office/drawing/2014/main" id="{0323CA9B-9898-4F81-8D82-A7B3C5F78646}"/>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 xmlns:a16="http://schemas.microsoft.com/office/drawing/2014/main" id="{E936F10E-0E08-4155-85A3-FDDC8D19898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3" name="直接连接符 58">
            <a:extLst>
              <a:ext uri="{FF2B5EF4-FFF2-40B4-BE49-F238E27FC236}">
                <a16:creationId xmlns="" xmlns:a16="http://schemas.microsoft.com/office/drawing/2014/main" id="{F7B77601-BEC4-4DDA-9F2B-97D09A3EFEA5}"/>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 xmlns:a16="http://schemas.microsoft.com/office/drawing/2014/main" id="{87747BD4-F357-44DF-A35C-58E043F2A24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5" name="矩形 14">
            <a:extLst>
              <a:ext uri="{FF2B5EF4-FFF2-40B4-BE49-F238E27FC236}">
                <a16:creationId xmlns="" xmlns:a16="http://schemas.microsoft.com/office/drawing/2014/main" id="{7EAF1B4D-61C0-42EF-BE1D-05AA3554E82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85038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ppt_x</p:attrName>
                                        </p:attrNameLst>
                                      </p:cBhvr>
                                      <p:tavLst>
                                        <p:tav tm="0">
                                          <p:val>
                                            <p:strVal val="#ppt_x-#ppt_w/2"/>
                                          </p:val>
                                        </p:tav>
                                        <p:tav tm="100000">
                                          <p:val>
                                            <p:strVal val="#ppt_x"/>
                                          </p:val>
                                        </p:tav>
                                      </p:tavLst>
                                    </p:anim>
                                    <p:anim calcmode="lin" valueType="num">
                                      <p:cBhvr>
                                        <p:cTn id="8" dur="500" fill="hold"/>
                                        <p:tgtEl>
                                          <p:spTgt spid="25"/>
                                        </p:tgtEl>
                                        <p:attrNameLst>
                                          <p:attrName>ppt_y</p:attrName>
                                        </p:attrNameLst>
                                      </p:cBhvr>
                                      <p:tavLst>
                                        <p:tav tm="0">
                                          <p:val>
                                            <p:strVal val="#ppt_y"/>
                                          </p:val>
                                        </p:tav>
                                        <p:tav tm="100000">
                                          <p:val>
                                            <p:strVal val="#ppt_y"/>
                                          </p:val>
                                        </p:tav>
                                      </p:tavLst>
                                    </p:anim>
                                    <p:anim calcmode="lin" valueType="num">
                                      <p:cBhvr>
                                        <p:cTn id="9" dur="500" fill="hold"/>
                                        <p:tgtEl>
                                          <p:spTgt spid="25"/>
                                        </p:tgtEl>
                                        <p:attrNameLst>
                                          <p:attrName>ppt_w</p:attrName>
                                        </p:attrNameLst>
                                      </p:cBhvr>
                                      <p:tavLst>
                                        <p:tav tm="0">
                                          <p:val>
                                            <p:fltVal val="0"/>
                                          </p:val>
                                        </p:tav>
                                        <p:tav tm="100000">
                                          <p:val>
                                            <p:strVal val="#ppt_w"/>
                                          </p:val>
                                        </p:tav>
                                      </p:tavLst>
                                    </p:anim>
                                    <p:anim calcmode="lin" valueType="num">
                                      <p:cBhvr>
                                        <p:cTn id="10"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07892"/>
                                        </p:tgtEl>
                                        <p:attrNameLst>
                                          <p:attrName>style.visibility</p:attrName>
                                        </p:attrNameLst>
                                      </p:cBhvr>
                                      <p:to>
                                        <p:strVal val="visible"/>
                                      </p:to>
                                    </p:set>
                                    <p:anim calcmode="lin" valueType="num">
                                      <p:cBhvr>
                                        <p:cTn id="15" dur="500" fill="hold"/>
                                        <p:tgtEl>
                                          <p:spTgt spid="207892"/>
                                        </p:tgtEl>
                                        <p:attrNameLst>
                                          <p:attrName>ppt_x</p:attrName>
                                        </p:attrNameLst>
                                      </p:cBhvr>
                                      <p:tavLst>
                                        <p:tav tm="0">
                                          <p:val>
                                            <p:strVal val="#ppt_x-#ppt_w/2"/>
                                          </p:val>
                                        </p:tav>
                                        <p:tav tm="100000">
                                          <p:val>
                                            <p:strVal val="#ppt_x"/>
                                          </p:val>
                                        </p:tav>
                                      </p:tavLst>
                                    </p:anim>
                                    <p:anim calcmode="lin" valueType="num">
                                      <p:cBhvr>
                                        <p:cTn id="16" dur="500" fill="hold"/>
                                        <p:tgtEl>
                                          <p:spTgt spid="207892"/>
                                        </p:tgtEl>
                                        <p:attrNameLst>
                                          <p:attrName>ppt_y</p:attrName>
                                        </p:attrNameLst>
                                      </p:cBhvr>
                                      <p:tavLst>
                                        <p:tav tm="0">
                                          <p:val>
                                            <p:strVal val="#ppt_y"/>
                                          </p:val>
                                        </p:tav>
                                        <p:tav tm="100000">
                                          <p:val>
                                            <p:strVal val="#ppt_y"/>
                                          </p:val>
                                        </p:tav>
                                      </p:tavLst>
                                    </p:anim>
                                    <p:anim calcmode="lin" valueType="num">
                                      <p:cBhvr>
                                        <p:cTn id="17" dur="500" fill="hold"/>
                                        <p:tgtEl>
                                          <p:spTgt spid="207892"/>
                                        </p:tgtEl>
                                        <p:attrNameLst>
                                          <p:attrName>ppt_w</p:attrName>
                                        </p:attrNameLst>
                                      </p:cBhvr>
                                      <p:tavLst>
                                        <p:tav tm="0">
                                          <p:val>
                                            <p:fltVal val="0"/>
                                          </p:val>
                                        </p:tav>
                                        <p:tav tm="100000">
                                          <p:val>
                                            <p:strVal val="#ppt_w"/>
                                          </p:val>
                                        </p:tav>
                                      </p:tavLst>
                                    </p:anim>
                                    <p:anim calcmode="lin" valueType="num">
                                      <p:cBhvr>
                                        <p:cTn id="18" dur="500" fill="hold"/>
                                        <p:tgtEl>
                                          <p:spTgt spid="2078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92" grpId="0"/>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Rectangle 5"/>
          <p:cNvSpPr>
            <a:spLocks noChangeArrowheads="1"/>
          </p:cNvSpPr>
          <p:nvPr/>
        </p:nvSpPr>
        <p:spPr bwMode="auto">
          <a:xfrm>
            <a:off x="4332652" y="3138644"/>
            <a:ext cx="4786313" cy="2030412"/>
          </a:xfrm>
          <a:prstGeom prst="rect">
            <a:avLst/>
          </a:prstGeom>
          <a:solidFill>
            <a:srgbClr val="FFFFFF"/>
          </a:solidFill>
          <a:ln w="38100">
            <a:solidFill>
              <a:srgbClr val="000000"/>
            </a:solid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30729" name="Line 6"/>
          <p:cNvSpPr>
            <a:spLocks noChangeShapeType="1"/>
          </p:cNvSpPr>
          <p:nvPr/>
        </p:nvSpPr>
        <p:spPr bwMode="auto">
          <a:xfrm>
            <a:off x="6672627" y="3138644"/>
            <a:ext cx="1588" cy="2028825"/>
          </a:xfrm>
          <a:prstGeom prst="line">
            <a:avLst/>
          </a:prstGeom>
          <a:noFill/>
          <a:ln w="3810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grpSp>
        <p:nvGrpSpPr>
          <p:cNvPr id="30730" name="组合 345"/>
          <p:cNvGrpSpPr>
            <a:grpSpLocks/>
          </p:cNvGrpSpPr>
          <p:nvPr/>
        </p:nvGrpSpPr>
        <p:grpSpPr bwMode="auto">
          <a:xfrm>
            <a:off x="4496165" y="3171981"/>
            <a:ext cx="265112" cy="436563"/>
            <a:chOff x="3708391" y="4698272"/>
            <a:chExt cx="265290" cy="436662"/>
          </a:xfrm>
        </p:grpSpPr>
        <p:sp>
          <p:nvSpPr>
            <p:cNvPr id="30731"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32" name="组合 127"/>
            <p:cNvGrpSpPr>
              <a:grpSpLocks/>
            </p:cNvGrpSpPr>
            <p:nvPr/>
          </p:nvGrpSpPr>
          <p:grpSpPr bwMode="auto">
            <a:xfrm>
              <a:off x="3723561" y="4885168"/>
              <a:ext cx="250120" cy="249766"/>
              <a:chOff x="3723561" y="4885168"/>
              <a:chExt cx="250120" cy="249766"/>
            </a:xfrm>
          </p:grpSpPr>
          <p:sp>
            <p:nvSpPr>
              <p:cNvPr id="3073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3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35" name="组合 129"/>
          <p:cNvGrpSpPr>
            <a:grpSpLocks/>
          </p:cNvGrpSpPr>
          <p:nvPr/>
        </p:nvGrpSpPr>
        <p:grpSpPr bwMode="auto">
          <a:xfrm rot="-3967890">
            <a:off x="8487140" y="3216431"/>
            <a:ext cx="254000" cy="434975"/>
            <a:chOff x="5149850" y="4703444"/>
            <a:chExt cx="253825" cy="434955"/>
          </a:xfrm>
        </p:grpSpPr>
        <p:sp>
          <p:nvSpPr>
            <p:cNvPr id="3073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737" name="组合 128"/>
            <p:cNvGrpSpPr>
              <a:grpSpLocks/>
            </p:cNvGrpSpPr>
            <p:nvPr/>
          </p:nvGrpSpPr>
          <p:grpSpPr bwMode="auto">
            <a:xfrm>
              <a:off x="5149850" y="4865143"/>
              <a:ext cx="249687" cy="273256"/>
              <a:chOff x="5149850" y="4865143"/>
              <a:chExt cx="249687" cy="273256"/>
            </a:xfrm>
          </p:grpSpPr>
          <p:sp>
            <p:nvSpPr>
              <p:cNvPr id="3073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73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4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41" name="组合 255"/>
          <p:cNvGrpSpPr>
            <a:grpSpLocks/>
          </p:cNvGrpSpPr>
          <p:nvPr/>
        </p:nvGrpSpPr>
        <p:grpSpPr bwMode="auto">
          <a:xfrm rot="4565890">
            <a:off x="8122015" y="3705381"/>
            <a:ext cx="254000" cy="434975"/>
            <a:chOff x="5149850" y="4703444"/>
            <a:chExt cx="253825" cy="434955"/>
          </a:xfrm>
        </p:grpSpPr>
        <p:sp>
          <p:nvSpPr>
            <p:cNvPr id="3074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43" name="组合 128"/>
            <p:cNvGrpSpPr>
              <a:grpSpLocks/>
            </p:cNvGrpSpPr>
            <p:nvPr/>
          </p:nvGrpSpPr>
          <p:grpSpPr bwMode="auto">
            <a:xfrm>
              <a:off x="5149850" y="4865143"/>
              <a:ext cx="249687" cy="273256"/>
              <a:chOff x="5149850" y="4865143"/>
              <a:chExt cx="249687" cy="273256"/>
            </a:xfrm>
          </p:grpSpPr>
          <p:sp>
            <p:nvSpPr>
              <p:cNvPr id="3074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4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4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47" name="组合 261"/>
          <p:cNvGrpSpPr>
            <a:grpSpLocks/>
          </p:cNvGrpSpPr>
          <p:nvPr/>
        </p:nvGrpSpPr>
        <p:grpSpPr bwMode="auto">
          <a:xfrm rot="2189922">
            <a:off x="8630015" y="3705381"/>
            <a:ext cx="254000" cy="434975"/>
            <a:chOff x="5149850" y="4703444"/>
            <a:chExt cx="253825" cy="434955"/>
          </a:xfrm>
        </p:grpSpPr>
        <p:sp>
          <p:nvSpPr>
            <p:cNvPr id="3074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49" name="组合 128"/>
            <p:cNvGrpSpPr>
              <a:grpSpLocks/>
            </p:cNvGrpSpPr>
            <p:nvPr/>
          </p:nvGrpSpPr>
          <p:grpSpPr bwMode="auto">
            <a:xfrm>
              <a:off x="5149850" y="4865143"/>
              <a:ext cx="249687" cy="273256"/>
              <a:chOff x="5149850" y="4865143"/>
              <a:chExt cx="249687" cy="273256"/>
            </a:xfrm>
          </p:grpSpPr>
          <p:sp>
            <p:nvSpPr>
              <p:cNvPr id="3075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5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5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53" name="组合 267"/>
          <p:cNvGrpSpPr>
            <a:grpSpLocks/>
          </p:cNvGrpSpPr>
          <p:nvPr/>
        </p:nvGrpSpPr>
        <p:grpSpPr bwMode="auto">
          <a:xfrm rot="-5967303">
            <a:off x="7982315" y="3216431"/>
            <a:ext cx="254000" cy="434975"/>
            <a:chOff x="5149850" y="4703444"/>
            <a:chExt cx="253825" cy="434955"/>
          </a:xfrm>
        </p:grpSpPr>
        <p:sp>
          <p:nvSpPr>
            <p:cNvPr id="3075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755" name="组合 128"/>
            <p:cNvGrpSpPr>
              <a:grpSpLocks/>
            </p:cNvGrpSpPr>
            <p:nvPr/>
          </p:nvGrpSpPr>
          <p:grpSpPr bwMode="auto">
            <a:xfrm>
              <a:off x="5149850" y="4865143"/>
              <a:ext cx="249687" cy="273256"/>
              <a:chOff x="5149850" y="4865143"/>
              <a:chExt cx="249687" cy="273256"/>
            </a:xfrm>
          </p:grpSpPr>
          <p:sp>
            <p:nvSpPr>
              <p:cNvPr id="3075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75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5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59" name="组合 273"/>
          <p:cNvGrpSpPr>
            <a:grpSpLocks/>
          </p:cNvGrpSpPr>
          <p:nvPr/>
        </p:nvGrpSpPr>
        <p:grpSpPr bwMode="auto">
          <a:xfrm>
            <a:off x="8096615" y="4194331"/>
            <a:ext cx="254000" cy="434975"/>
            <a:chOff x="5149850" y="4703444"/>
            <a:chExt cx="253825" cy="434955"/>
          </a:xfrm>
        </p:grpSpPr>
        <p:sp>
          <p:nvSpPr>
            <p:cNvPr id="3076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61" name="组合 128"/>
            <p:cNvGrpSpPr>
              <a:grpSpLocks/>
            </p:cNvGrpSpPr>
            <p:nvPr/>
          </p:nvGrpSpPr>
          <p:grpSpPr bwMode="auto">
            <a:xfrm>
              <a:off x="5149850" y="4865143"/>
              <a:ext cx="249687" cy="273256"/>
              <a:chOff x="5149850" y="4865143"/>
              <a:chExt cx="249687" cy="273256"/>
            </a:xfrm>
          </p:grpSpPr>
          <p:sp>
            <p:nvSpPr>
              <p:cNvPr id="3076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6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6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65" name="组合 279"/>
          <p:cNvGrpSpPr>
            <a:grpSpLocks/>
          </p:cNvGrpSpPr>
          <p:nvPr/>
        </p:nvGrpSpPr>
        <p:grpSpPr bwMode="auto">
          <a:xfrm rot="953232">
            <a:off x="8585565" y="4238781"/>
            <a:ext cx="254000" cy="434975"/>
            <a:chOff x="5149850" y="4703444"/>
            <a:chExt cx="253825" cy="434955"/>
          </a:xfrm>
        </p:grpSpPr>
        <p:sp>
          <p:nvSpPr>
            <p:cNvPr id="3076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67" name="组合 128"/>
            <p:cNvGrpSpPr>
              <a:grpSpLocks/>
            </p:cNvGrpSpPr>
            <p:nvPr/>
          </p:nvGrpSpPr>
          <p:grpSpPr bwMode="auto">
            <a:xfrm>
              <a:off x="5149850" y="4865143"/>
              <a:ext cx="249687" cy="273256"/>
              <a:chOff x="5149850" y="4865143"/>
              <a:chExt cx="249687" cy="273256"/>
            </a:xfrm>
          </p:grpSpPr>
          <p:sp>
            <p:nvSpPr>
              <p:cNvPr id="3076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6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7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sp>
        <p:nvSpPr>
          <p:cNvPr id="39959" name="Oval 57"/>
          <p:cNvSpPr>
            <a:spLocks noChangeAspect="1" noChangeArrowheads="1"/>
          </p:cNvSpPr>
          <p:nvPr/>
        </p:nvSpPr>
        <p:spPr bwMode="auto">
          <a:xfrm>
            <a:off x="7077440" y="3229131"/>
            <a:ext cx="101600" cy="103188"/>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72" name="组合 128"/>
          <p:cNvGrpSpPr>
            <a:grpSpLocks/>
          </p:cNvGrpSpPr>
          <p:nvPr/>
        </p:nvGrpSpPr>
        <p:grpSpPr bwMode="auto">
          <a:xfrm>
            <a:off x="6940915" y="3378356"/>
            <a:ext cx="249237" cy="273050"/>
            <a:chOff x="5149850" y="4865143"/>
            <a:chExt cx="249687" cy="273256"/>
          </a:xfrm>
        </p:grpSpPr>
        <p:sp>
          <p:nvSpPr>
            <p:cNvPr id="3077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7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7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9961" name="Oval 57"/>
          <p:cNvSpPr>
            <a:spLocks noChangeAspect="1" noChangeArrowheads="1"/>
          </p:cNvSpPr>
          <p:nvPr/>
        </p:nvSpPr>
        <p:spPr bwMode="auto">
          <a:xfrm rot="4827573">
            <a:off x="7275084" y="3939537"/>
            <a:ext cx="101600" cy="103187"/>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77" name="组合 128"/>
          <p:cNvGrpSpPr>
            <a:grpSpLocks/>
          </p:cNvGrpSpPr>
          <p:nvPr/>
        </p:nvGrpSpPr>
        <p:grpSpPr bwMode="auto">
          <a:xfrm rot="4827573">
            <a:off x="6944883" y="3818888"/>
            <a:ext cx="249237" cy="273050"/>
            <a:chOff x="5149850" y="4865143"/>
            <a:chExt cx="249687" cy="273256"/>
          </a:xfrm>
        </p:grpSpPr>
        <p:sp>
          <p:nvSpPr>
            <p:cNvPr id="3077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7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8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9963" name="Oval 57"/>
          <p:cNvSpPr>
            <a:spLocks noChangeAspect="1" noChangeArrowheads="1"/>
          </p:cNvSpPr>
          <p:nvPr/>
        </p:nvSpPr>
        <p:spPr bwMode="auto">
          <a:xfrm rot="-3574045">
            <a:off x="6858365" y="4173694"/>
            <a:ext cx="103187" cy="103187"/>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782" name="组合 128"/>
          <p:cNvGrpSpPr>
            <a:grpSpLocks/>
          </p:cNvGrpSpPr>
          <p:nvPr/>
        </p:nvGrpSpPr>
        <p:grpSpPr bwMode="auto">
          <a:xfrm rot="-3574045">
            <a:off x="6959171" y="4280850"/>
            <a:ext cx="249238" cy="273050"/>
            <a:chOff x="5149850" y="4865143"/>
            <a:chExt cx="249687" cy="273256"/>
          </a:xfrm>
        </p:grpSpPr>
        <p:sp>
          <p:nvSpPr>
            <p:cNvPr id="3078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78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8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0786" name="组合 303"/>
          <p:cNvGrpSpPr>
            <a:grpSpLocks/>
          </p:cNvGrpSpPr>
          <p:nvPr/>
        </p:nvGrpSpPr>
        <p:grpSpPr bwMode="auto">
          <a:xfrm rot="-4849534">
            <a:off x="8026765" y="4715031"/>
            <a:ext cx="254000" cy="434975"/>
            <a:chOff x="5149850" y="4703444"/>
            <a:chExt cx="253825" cy="434955"/>
          </a:xfrm>
        </p:grpSpPr>
        <p:sp>
          <p:nvSpPr>
            <p:cNvPr id="30787"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788" name="组合 128"/>
            <p:cNvGrpSpPr>
              <a:grpSpLocks/>
            </p:cNvGrpSpPr>
            <p:nvPr/>
          </p:nvGrpSpPr>
          <p:grpSpPr bwMode="auto">
            <a:xfrm>
              <a:off x="5149850" y="4865143"/>
              <a:ext cx="249687" cy="273256"/>
              <a:chOff x="5149850" y="4865143"/>
              <a:chExt cx="249687" cy="273256"/>
            </a:xfrm>
          </p:grpSpPr>
          <p:sp>
            <p:nvSpPr>
              <p:cNvPr id="30789"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790"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91"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792" name="组合 309"/>
          <p:cNvGrpSpPr>
            <a:grpSpLocks/>
          </p:cNvGrpSpPr>
          <p:nvPr/>
        </p:nvGrpSpPr>
        <p:grpSpPr bwMode="auto">
          <a:xfrm>
            <a:off x="8630015" y="4638831"/>
            <a:ext cx="254000" cy="434975"/>
            <a:chOff x="5149850" y="4703444"/>
            <a:chExt cx="253825" cy="434955"/>
          </a:xfrm>
        </p:grpSpPr>
        <p:sp>
          <p:nvSpPr>
            <p:cNvPr id="30793"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794" name="组合 128"/>
            <p:cNvGrpSpPr>
              <a:grpSpLocks/>
            </p:cNvGrpSpPr>
            <p:nvPr/>
          </p:nvGrpSpPr>
          <p:grpSpPr bwMode="auto">
            <a:xfrm>
              <a:off x="5149850" y="4865143"/>
              <a:ext cx="249687" cy="273256"/>
              <a:chOff x="5149850" y="4865143"/>
              <a:chExt cx="249687" cy="273256"/>
            </a:xfrm>
          </p:grpSpPr>
          <p:sp>
            <p:nvSpPr>
              <p:cNvPr id="3079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79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79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sp>
        <p:nvSpPr>
          <p:cNvPr id="39967" name="Oval 57"/>
          <p:cNvSpPr>
            <a:spLocks noChangeAspect="1" noChangeArrowheads="1"/>
          </p:cNvSpPr>
          <p:nvPr/>
        </p:nvSpPr>
        <p:spPr bwMode="auto">
          <a:xfrm rot="9849479">
            <a:off x="7032990" y="5029356"/>
            <a:ext cx="101600" cy="104775"/>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799" name="组合 128"/>
          <p:cNvGrpSpPr>
            <a:grpSpLocks/>
          </p:cNvGrpSpPr>
          <p:nvPr/>
        </p:nvGrpSpPr>
        <p:grpSpPr bwMode="auto">
          <a:xfrm rot="9849479">
            <a:off x="6969490" y="4667406"/>
            <a:ext cx="250825" cy="273050"/>
            <a:chOff x="5149850" y="4865143"/>
            <a:chExt cx="249687" cy="273256"/>
          </a:xfrm>
        </p:grpSpPr>
        <p:sp>
          <p:nvSpPr>
            <p:cNvPr id="3080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0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80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9969" name="Oval 57"/>
          <p:cNvSpPr>
            <a:spLocks noChangeAspect="1" noChangeArrowheads="1"/>
          </p:cNvSpPr>
          <p:nvPr/>
        </p:nvSpPr>
        <p:spPr bwMode="auto">
          <a:xfrm>
            <a:off x="7594965" y="3225956"/>
            <a:ext cx="101600" cy="103188"/>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04" name="组合 128"/>
          <p:cNvGrpSpPr>
            <a:grpSpLocks/>
          </p:cNvGrpSpPr>
          <p:nvPr/>
        </p:nvGrpSpPr>
        <p:grpSpPr bwMode="auto">
          <a:xfrm>
            <a:off x="7442565" y="3387881"/>
            <a:ext cx="249237" cy="273050"/>
            <a:chOff x="5149850" y="4865143"/>
            <a:chExt cx="249687" cy="273256"/>
          </a:xfrm>
        </p:grpSpPr>
        <p:sp>
          <p:nvSpPr>
            <p:cNvPr id="3080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0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80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0808" name="Oval 57"/>
          <p:cNvSpPr>
            <a:spLocks noChangeAspect="1" noChangeArrowheads="1"/>
          </p:cNvSpPr>
          <p:nvPr/>
        </p:nvSpPr>
        <p:spPr bwMode="auto">
          <a:xfrm rot="4827573">
            <a:off x="7791021" y="3895087"/>
            <a:ext cx="101600" cy="103188"/>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09" name="组合 128"/>
          <p:cNvGrpSpPr>
            <a:grpSpLocks/>
          </p:cNvGrpSpPr>
          <p:nvPr/>
        </p:nvGrpSpPr>
        <p:grpSpPr bwMode="auto">
          <a:xfrm rot="4827573">
            <a:off x="7460821" y="3774438"/>
            <a:ext cx="249237" cy="273050"/>
            <a:chOff x="5149850" y="4865143"/>
            <a:chExt cx="249687" cy="273256"/>
          </a:xfrm>
        </p:grpSpPr>
        <p:sp>
          <p:nvSpPr>
            <p:cNvPr id="3081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1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81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9973" name="Oval 57"/>
          <p:cNvSpPr>
            <a:spLocks noChangeAspect="1" noChangeArrowheads="1"/>
          </p:cNvSpPr>
          <p:nvPr/>
        </p:nvSpPr>
        <p:spPr bwMode="auto">
          <a:xfrm rot="-3574045">
            <a:off x="7391765" y="4173694"/>
            <a:ext cx="103187" cy="103187"/>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14" name="组合 128"/>
          <p:cNvGrpSpPr>
            <a:grpSpLocks/>
          </p:cNvGrpSpPr>
          <p:nvPr/>
        </p:nvGrpSpPr>
        <p:grpSpPr bwMode="auto">
          <a:xfrm rot="-3574045">
            <a:off x="7492571" y="4280850"/>
            <a:ext cx="249238" cy="273050"/>
            <a:chOff x="5149850" y="4865143"/>
            <a:chExt cx="249687" cy="273256"/>
          </a:xfrm>
        </p:grpSpPr>
        <p:sp>
          <p:nvSpPr>
            <p:cNvPr id="3081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1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81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9975" name="Oval 57"/>
          <p:cNvSpPr>
            <a:spLocks noChangeAspect="1" noChangeArrowheads="1"/>
          </p:cNvSpPr>
          <p:nvPr/>
        </p:nvSpPr>
        <p:spPr bwMode="auto">
          <a:xfrm rot="9849479">
            <a:off x="7360015" y="4789644"/>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19" name="组合 128"/>
          <p:cNvGrpSpPr>
            <a:grpSpLocks/>
          </p:cNvGrpSpPr>
          <p:nvPr/>
        </p:nvGrpSpPr>
        <p:grpSpPr bwMode="auto">
          <a:xfrm rot="9849479">
            <a:off x="7510827" y="4713444"/>
            <a:ext cx="249238" cy="273050"/>
            <a:chOff x="5149850" y="4865143"/>
            <a:chExt cx="249687" cy="273256"/>
          </a:xfrm>
        </p:grpSpPr>
        <p:sp>
          <p:nvSpPr>
            <p:cNvPr id="3082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2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082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0823" name="组合 346"/>
          <p:cNvGrpSpPr>
            <a:grpSpLocks/>
          </p:cNvGrpSpPr>
          <p:nvPr/>
        </p:nvGrpSpPr>
        <p:grpSpPr bwMode="auto">
          <a:xfrm rot="-2359440">
            <a:off x="4426315" y="3616481"/>
            <a:ext cx="265112" cy="436563"/>
            <a:chOff x="3708391" y="4698272"/>
            <a:chExt cx="265290" cy="436662"/>
          </a:xfrm>
        </p:grpSpPr>
        <p:sp>
          <p:nvSpPr>
            <p:cNvPr id="3082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25" name="组合 127"/>
            <p:cNvGrpSpPr>
              <a:grpSpLocks/>
            </p:cNvGrpSpPr>
            <p:nvPr/>
          </p:nvGrpSpPr>
          <p:grpSpPr bwMode="auto">
            <a:xfrm>
              <a:off x="3723561" y="4885168"/>
              <a:ext cx="250120" cy="249766"/>
              <a:chOff x="3723561" y="4885168"/>
              <a:chExt cx="250120" cy="249766"/>
            </a:xfrm>
          </p:grpSpPr>
          <p:sp>
            <p:nvSpPr>
              <p:cNvPr id="3082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2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828" name="组合 351"/>
          <p:cNvGrpSpPr>
            <a:grpSpLocks/>
          </p:cNvGrpSpPr>
          <p:nvPr/>
        </p:nvGrpSpPr>
        <p:grpSpPr bwMode="auto">
          <a:xfrm rot="-1373637">
            <a:off x="4437427" y="4105431"/>
            <a:ext cx="265113" cy="436563"/>
            <a:chOff x="3708391" y="4698272"/>
            <a:chExt cx="265290" cy="436662"/>
          </a:xfrm>
        </p:grpSpPr>
        <p:sp>
          <p:nvSpPr>
            <p:cNvPr id="3082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30" name="组合 127"/>
            <p:cNvGrpSpPr>
              <a:grpSpLocks/>
            </p:cNvGrpSpPr>
            <p:nvPr/>
          </p:nvGrpSpPr>
          <p:grpSpPr bwMode="auto">
            <a:xfrm>
              <a:off x="3723561" y="4885168"/>
              <a:ext cx="250120" cy="249766"/>
              <a:chOff x="3723561" y="4885168"/>
              <a:chExt cx="250120" cy="249766"/>
            </a:xfrm>
          </p:grpSpPr>
          <p:sp>
            <p:nvSpPr>
              <p:cNvPr id="3083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3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833" name="组合 356"/>
          <p:cNvGrpSpPr>
            <a:grpSpLocks/>
          </p:cNvGrpSpPr>
          <p:nvPr/>
        </p:nvGrpSpPr>
        <p:grpSpPr bwMode="auto">
          <a:xfrm rot="2420365">
            <a:off x="4566015" y="4594381"/>
            <a:ext cx="265112" cy="436563"/>
            <a:chOff x="3708391" y="4698272"/>
            <a:chExt cx="265290" cy="436662"/>
          </a:xfrm>
        </p:grpSpPr>
        <p:sp>
          <p:nvSpPr>
            <p:cNvPr id="3083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35" name="组合 127"/>
            <p:cNvGrpSpPr>
              <a:grpSpLocks/>
            </p:cNvGrpSpPr>
            <p:nvPr/>
          </p:nvGrpSpPr>
          <p:grpSpPr bwMode="auto">
            <a:xfrm>
              <a:off x="3723561" y="4885168"/>
              <a:ext cx="250120" cy="249766"/>
              <a:chOff x="3723561" y="4885168"/>
              <a:chExt cx="250120" cy="249766"/>
            </a:xfrm>
          </p:grpSpPr>
          <p:sp>
            <p:nvSpPr>
              <p:cNvPr id="3083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3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838" name="组合 361"/>
          <p:cNvGrpSpPr>
            <a:grpSpLocks/>
          </p:cNvGrpSpPr>
          <p:nvPr/>
        </p:nvGrpSpPr>
        <p:grpSpPr bwMode="auto">
          <a:xfrm rot="2699194">
            <a:off x="5012102" y="3202144"/>
            <a:ext cx="265113" cy="436562"/>
            <a:chOff x="3708391" y="4698272"/>
            <a:chExt cx="265290" cy="436662"/>
          </a:xfrm>
        </p:grpSpPr>
        <p:sp>
          <p:nvSpPr>
            <p:cNvPr id="3083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40" name="组合 127"/>
            <p:cNvGrpSpPr>
              <a:grpSpLocks/>
            </p:cNvGrpSpPr>
            <p:nvPr/>
          </p:nvGrpSpPr>
          <p:grpSpPr bwMode="auto">
            <a:xfrm>
              <a:off x="3723561" y="4885168"/>
              <a:ext cx="250120" cy="249766"/>
              <a:chOff x="3723561" y="4885168"/>
              <a:chExt cx="250120" cy="249766"/>
            </a:xfrm>
          </p:grpSpPr>
          <p:sp>
            <p:nvSpPr>
              <p:cNvPr id="3084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4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843" name="组合 366"/>
          <p:cNvGrpSpPr>
            <a:grpSpLocks/>
          </p:cNvGrpSpPr>
          <p:nvPr/>
        </p:nvGrpSpPr>
        <p:grpSpPr bwMode="auto">
          <a:xfrm rot="-1582615">
            <a:off x="4889865" y="3608544"/>
            <a:ext cx="266700" cy="436562"/>
            <a:chOff x="3708391" y="4698272"/>
            <a:chExt cx="265290" cy="436662"/>
          </a:xfrm>
        </p:grpSpPr>
        <p:sp>
          <p:nvSpPr>
            <p:cNvPr id="3084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45" name="组合 127"/>
            <p:cNvGrpSpPr>
              <a:grpSpLocks/>
            </p:cNvGrpSpPr>
            <p:nvPr/>
          </p:nvGrpSpPr>
          <p:grpSpPr bwMode="auto">
            <a:xfrm>
              <a:off x="3723561" y="4885168"/>
              <a:ext cx="250120" cy="249766"/>
              <a:chOff x="3723561" y="4885168"/>
              <a:chExt cx="250120" cy="249766"/>
            </a:xfrm>
          </p:grpSpPr>
          <p:sp>
            <p:nvSpPr>
              <p:cNvPr id="3084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4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848" name="组合 371"/>
          <p:cNvGrpSpPr>
            <a:grpSpLocks/>
          </p:cNvGrpSpPr>
          <p:nvPr/>
        </p:nvGrpSpPr>
        <p:grpSpPr bwMode="auto">
          <a:xfrm rot="2796568">
            <a:off x="4969239" y="4045107"/>
            <a:ext cx="265113" cy="436562"/>
            <a:chOff x="3708391" y="4698272"/>
            <a:chExt cx="265290" cy="436662"/>
          </a:xfrm>
        </p:grpSpPr>
        <p:sp>
          <p:nvSpPr>
            <p:cNvPr id="3084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50" name="组合 127"/>
            <p:cNvGrpSpPr>
              <a:grpSpLocks/>
            </p:cNvGrpSpPr>
            <p:nvPr/>
          </p:nvGrpSpPr>
          <p:grpSpPr bwMode="auto">
            <a:xfrm>
              <a:off x="3723561" y="4885168"/>
              <a:ext cx="250120" cy="249766"/>
              <a:chOff x="3723561" y="4885168"/>
              <a:chExt cx="250120" cy="249766"/>
            </a:xfrm>
          </p:grpSpPr>
          <p:sp>
            <p:nvSpPr>
              <p:cNvPr id="3085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5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0853" name="组合 376"/>
          <p:cNvGrpSpPr>
            <a:grpSpLocks/>
          </p:cNvGrpSpPr>
          <p:nvPr/>
        </p:nvGrpSpPr>
        <p:grpSpPr bwMode="auto">
          <a:xfrm rot="4797862">
            <a:off x="5049409" y="4626925"/>
            <a:ext cx="265112" cy="438150"/>
            <a:chOff x="3708391" y="4698272"/>
            <a:chExt cx="265290" cy="436662"/>
          </a:xfrm>
        </p:grpSpPr>
        <p:sp>
          <p:nvSpPr>
            <p:cNvPr id="3085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55" name="组合 127"/>
            <p:cNvGrpSpPr>
              <a:grpSpLocks/>
            </p:cNvGrpSpPr>
            <p:nvPr/>
          </p:nvGrpSpPr>
          <p:grpSpPr bwMode="auto">
            <a:xfrm>
              <a:off x="3723561" y="4885168"/>
              <a:ext cx="250120" cy="249766"/>
              <a:chOff x="3723561" y="4885168"/>
              <a:chExt cx="250120" cy="249766"/>
            </a:xfrm>
          </p:grpSpPr>
          <p:sp>
            <p:nvSpPr>
              <p:cNvPr id="3085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5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sp>
        <p:nvSpPr>
          <p:cNvPr id="39984" name="Oval 41"/>
          <p:cNvSpPr>
            <a:spLocks noChangeAspect="1" noChangeArrowheads="1"/>
          </p:cNvSpPr>
          <p:nvPr/>
        </p:nvSpPr>
        <p:spPr bwMode="auto">
          <a:xfrm rot="547735">
            <a:off x="5728065" y="3184681"/>
            <a:ext cx="125412"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59" name="组合 127"/>
          <p:cNvGrpSpPr>
            <a:grpSpLocks/>
          </p:cNvGrpSpPr>
          <p:nvPr/>
        </p:nvGrpSpPr>
        <p:grpSpPr bwMode="auto">
          <a:xfrm rot="3206337">
            <a:off x="5501846" y="3326762"/>
            <a:ext cx="249238" cy="250825"/>
            <a:chOff x="3723561" y="4885168"/>
            <a:chExt cx="250120" cy="249766"/>
          </a:xfrm>
        </p:grpSpPr>
        <p:sp>
          <p:nvSpPr>
            <p:cNvPr id="3086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6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30862" name="Oval 41"/>
          <p:cNvSpPr>
            <a:spLocks noChangeAspect="1" noChangeArrowheads="1"/>
          </p:cNvSpPr>
          <p:nvPr/>
        </p:nvSpPr>
        <p:spPr bwMode="auto">
          <a:xfrm rot="-4476750">
            <a:off x="5368496" y="3633150"/>
            <a:ext cx="127000" cy="128588"/>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63" name="组合 127"/>
          <p:cNvGrpSpPr>
            <a:grpSpLocks/>
          </p:cNvGrpSpPr>
          <p:nvPr/>
        </p:nvGrpSpPr>
        <p:grpSpPr bwMode="auto">
          <a:xfrm rot="-1818148">
            <a:off x="5494702" y="3735544"/>
            <a:ext cx="249238" cy="249237"/>
            <a:chOff x="3723561" y="4885168"/>
            <a:chExt cx="250120" cy="249766"/>
          </a:xfrm>
        </p:grpSpPr>
        <p:sp>
          <p:nvSpPr>
            <p:cNvPr id="3086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6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39988" name="Oval 41"/>
          <p:cNvSpPr>
            <a:spLocks noChangeAspect="1" noChangeArrowheads="1"/>
          </p:cNvSpPr>
          <p:nvPr/>
        </p:nvSpPr>
        <p:spPr bwMode="auto">
          <a:xfrm rot="-292774">
            <a:off x="5604240" y="4051456"/>
            <a:ext cx="127000"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67" name="组合 127"/>
          <p:cNvGrpSpPr>
            <a:grpSpLocks/>
          </p:cNvGrpSpPr>
          <p:nvPr/>
        </p:nvGrpSpPr>
        <p:grpSpPr bwMode="auto">
          <a:xfrm rot="2365828">
            <a:off x="5458190" y="4219731"/>
            <a:ext cx="250825" cy="249238"/>
            <a:chOff x="3723561" y="4885168"/>
            <a:chExt cx="250120" cy="249766"/>
          </a:xfrm>
        </p:grpSpPr>
        <p:sp>
          <p:nvSpPr>
            <p:cNvPr id="3086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6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0870" name="组合 127"/>
          <p:cNvGrpSpPr>
            <a:grpSpLocks/>
          </p:cNvGrpSpPr>
          <p:nvPr/>
        </p:nvGrpSpPr>
        <p:grpSpPr bwMode="auto">
          <a:xfrm rot="3156746">
            <a:off x="5458984" y="4758687"/>
            <a:ext cx="249238" cy="250825"/>
            <a:chOff x="3723561" y="4885168"/>
            <a:chExt cx="250120" cy="249766"/>
          </a:xfrm>
        </p:grpSpPr>
        <p:sp>
          <p:nvSpPr>
            <p:cNvPr id="3087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7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39992" name="Oval 41"/>
          <p:cNvSpPr>
            <a:spLocks noChangeAspect="1" noChangeArrowheads="1"/>
          </p:cNvSpPr>
          <p:nvPr/>
        </p:nvSpPr>
        <p:spPr bwMode="auto">
          <a:xfrm rot="-466618">
            <a:off x="6177327" y="3184681"/>
            <a:ext cx="125413"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74" name="组合 127"/>
          <p:cNvGrpSpPr>
            <a:grpSpLocks/>
          </p:cNvGrpSpPr>
          <p:nvPr/>
        </p:nvGrpSpPr>
        <p:grpSpPr bwMode="auto">
          <a:xfrm rot="2191984">
            <a:off x="6010640" y="3389469"/>
            <a:ext cx="250825" cy="249237"/>
            <a:chOff x="3723561" y="4885168"/>
            <a:chExt cx="250120" cy="249766"/>
          </a:xfrm>
        </p:grpSpPr>
        <p:sp>
          <p:nvSpPr>
            <p:cNvPr id="3087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7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39994" name="Oval 41"/>
          <p:cNvSpPr>
            <a:spLocks noChangeAspect="1" noChangeArrowheads="1"/>
          </p:cNvSpPr>
          <p:nvPr/>
        </p:nvSpPr>
        <p:spPr bwMode="auto">
          <a:xfrm rot="-4776010">
            <a:off x="5920152" y="3735544"/>
            <a:ext cx="125413" cy="128587"/>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0878" name="组合 127"/>
          <p:cNvGrpSpPr>
            <a:grpSpLocks/>
          </p:cNvGrpSpPr>
          <p:nvPr/>
        </p:nvGrpSpPr>
        <p:grpSpPr bwMode="auto">
          <a:xfrm rot="-2117408">
            <a:off x="6043977" y="3826031"/>
            <a:ext cx="249238" cy="249238"/>
            <a:chOff x="3723561" y="4885168"/>
            <a:chExt cx="250120" cy="249766"/>
          </a:xfrm>
        </p:grpSpPr>
        <p:sp>
          <p:nvSpPr>
            <p:cNvPr id="3087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088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0881" name="组合 127"/>
          <p:cNvGrpSpPr>
            <a:grpSpLocks/>
          </p:cNvGrpSpPr>
          <p:nvPr/>
        </p:nvGrpSpPr>
        <p:grpSpPr bwMode="auto">
          <a:xfrm rot="3431710">
            <a:off x="6042390" y="4300694"/>
            <a:ext cx="249237" cy="249237"/>
            <a:chOff x="3723561" y="4885168"/>
            <a:chExt cx="250120" cy="249766"/>
          </a:xfrm>
        </p:grpSpPr>
        <p:sp>
          <p:nvSpPr>
            <p:cNvPr id="3088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8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39998" name="Oval 41"/>
          <p:cNvSpPr>
            <a:spLocks noChangeAspect="1" noChangeArrowheads="1"/>
          </p:cNvSpPr>
          <p:nvPr/>
        </p:nvSpPr>
        <p:spPr bwMode="auto">
          <a:xfrm rot="92020">
            <a:off x="6313852" y="4983319"/>
            <a:ext cx="125413"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0885" name="组合 127"/>
          <p:cNvGrpSpPr>
            <a:grpSpLocks/>
          </p:cNvGrpSpPr>
          <p:nvPr/>
        </p:nvGrpSpPr>
        <p:grpSpPr bwMode="auto">
          <a:xfrm rot="2750622">
            <a:off x="6041596" y="4804725"/>
            <a:ext cx="250825" cy="249237"/>
            <a:chOff x="3723561" y="4885168"/>
            <a:chExt cx="250120" cy="249766"/>
          </a:xfrm>
        </p:grpSpPr>
        <p:sp>
          <p:nvSpPr>
            <p:cNvPr id="3088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088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44250" name="Group 193"/>
          <p:cNvGrpSpPr>
            <a:grpSpLocks/>
          </p:cNvGrpSpPr>
          <p:nvPr/>
        </p:nvGrpSpPr>
        <p:grpSpPr bwMode="auto">
          <a:xfrm>
            <a:off x="9563465" y="2822731"/>
            <a:ext cx="858837" cy="427038"/>
            <a:chOff x="4784" y="516"/>
            <a:chExt cx="541" cy="269"/>
          </a:xfrm>
        </p:grpSpPr>
        <p:sp>
          <p:nvSpPr>
            <p:cNvPr id="30889" name="Text Box 116"/>
            <p:cNvSpPr txBox="1">
              <a:spLocks noChangeArrowheads="1"/>
            </p:cNvSpPr>
            <p:nvPr/>
          </p:nvSpPr>
          <p:spPr bwMode="auto">
            <a:xfrm>
              <a:off x="4864" y="516"/>
              <a:ext cx="461" cy="269"/>
            </a:xfrm>
            <a:prstGeom prst="rect">
              <a:avLst/>
            </a:prstGeom>
            <a:solidFill>
              <a:srgbClr val="FFFFFF"/>
            </a:solidFill>
            <a:ln w="9525">
              <a:noFill/>
              <a:miter lim="800000"/>
              <a:headEnd/>
              <a:tailEnd/>
            </a:ln>
          </p:spPr>
          <p:txBody>
            <a:bodyPr lIns="0" tIns="0" rIns="0" bIns="0"/>
            <a:lstStyle/>
            <a:p>
              <a:pPr algn="just" defTabSz="914400"/>
              <a:r>
                <a:rPr lang="zh-CN" altLang="en-US" sz="2800" b="1">
                  <a:latin typeface="微软雅黑" pitchFamily="34" charset="-122"/>
                  <a:ea typeface="微软雅黑" pitchFamily="34" charset="-122"/>
                </a:rPr>
                <a:t>电子</a:t>
              </a:r>
              <a:endParaRPr lang="zh-CN" altLang="en-US" sz="7200" b="1">
                <a:latin typeface="微软雅黑" pitchFamily="34" charset="-122"/>
                <a:ea typeface="微软雅黑" pitchFamily="34" charset="-122"/>
              </a:endParaRPr>
            </a:p>
          </p:txBody>
        </p:sp>
        <p:sp>
          <p:nvSpPr>
            <p:cNvPr id="30890" name="Oval 57"/>
            <p:cNvSpPr>
              <a:spLocks noChangeAspect="1" noChangeArrowheads="1"/>
            </p:cNvSpPr>
            <p:nvPr/>
          </p:nvSpPr>
          <p:spPr bwMode="auto">
            <a:xfrm rot="-4849534">
              <a:off x="4785" y="632"/>
              <a:ext cx="64" cy="65"/>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grpSp>
        <p:nvGrpSpPr>
          <p:cNvPr id="44251" name="Group 184"/>
          <p:cNvGrpSpPr>
            <a:grpSpLocks/>
          </p:cNvGrpSpPr>
          <p:nvPr/>
        </p:nvGrpSpPr>
        <p:grpSpPr bwMode="auto">
          <a:xfrm>
            <a:off x="4332652" y="2667156"/>
            <a:ext cx="2346325" cy="427038"/>
            <a:chOff x="1321" y="964"/>
            <a:chExt cx="1478" cy="269"/>
          </a:xfrm>
        </p:grpSpPr>
        <p:sp>
          <p:nvSpPr>
            <p:cNvPr id="30892" name="Line 123"/>
            <p:cNvSpPr>
              <a:spLocks noChangeShapeType="1"/>
            </p:cNvSpPr>
            <p:nvPr/>
          </p:nvSpPr>
          <p:spPr bwMode="auto">
            <a:xfrm>
              <a:off x="1321" y="1111"/>
              <a:ext cx="1478" cy="0"/>
            </a:xfrm>
            <a:prstGeom prst="line">
              <a:avLst/>
            </a:prstGeom>
            <a:noFill/>
            <a:ln w="38100">
              <a:solidFill>
                <a:srgbClr val="000000"/>
              </a:solidFill>
              <a:round/>
              <a:headEnd type="stealth" w="med" len="lg"/>
              <a:tailEnd type="stealth" w="med" len="lg"/>
            </a:ln>
          </p:spPr>
          <p:txBody>
            <a:bodyPr/>
            <a:lstStyle/>
            <a:p>
              <a:endParaRPr lang="zh-CN" altLang="en-US">
                <a:latin typeface="微软雅黑" pitchFamily="34" charset="-122"/>
                <a:ea typeface="微软雅黑" pitchFamily="34" charset="-122"/>
              </a:endParaRPr>
            </a:p>
          </p:txBody>
        </p:sp>
        <p:sp>
          <p:nvSpPr>
            <p:cNvPr id="30893" name="Text Box 124"/>
            <p:cNvSpPr txBox="1">
              <a:spLocks noChangeArrowheads="1"/>
            </p:cNvSpPr>
            <p:nvPr/>
          </p:nvSpPr>
          <p:spPr bwMode="auto">
            <a:xfrm>
              <a:off x="1956" y="964"/>
              <a:ext cx="191" cy="269"/>
            </a:xfrm>
            <a:prstGeom prst="rect">
              <a:avLst/>
            </a:prstGeom>
            <a:solidFill>
              <a:srgbClr val="FFFFFF"/>
            </a:solidFill>
            <a:ln w="9525">
              <a:noFill/>
              <a:miter lim="800000"/>
              <a:headEnd/>
              <a:tailEnd/>
            </a:ln>
          </p:spPr>
          <p:txBody>
            <a:bodyPr lIns="0" tIns="0" rIns="0" bIns="0"/>
            <a:lstStyle/>
            <a:p>
              <a:pPr algn="just" defTabSz="914400"/>
              <a:r>
                <a:rPr lang="en-US" altLang="zh-CN" sz="2800" b="1" dirty="0">
                  <a:latin typeface="Times New Roman" pitchFamily="18" charset="0"/>
                  <a:ea typeface="微软雅黑" pitchFamily="34" charset="-122"/>
                  <a:cs typeface="Times New Roman" pitchFamily="18" charset="0"/>
                </a:rPr>
                <a:t>P</a:t>
              </a:r>
              <a:endParaRPr lang="zh-CN" altLang="zh-CN" sz="7200" b="1" dirty="0">
                <a:latin typeface="Times New Roman" pitchFamily="18" charset="0"/>
                <a:ea typeface="微软雅黑" pitchFamily="34" charset="-122"/>
                <a:cs typeface="Times New Roman" pitchFamily="18" charset="0"/>
              </a:endParaRPr>
            </a:p>
          </p:txBody>
        </p:sp>
      </p:grpSp>
      <p:grpSp>
        <p:nvGrpSpPr>
          <p:cNvPr id="44252" name="Group 190"/>
          <p:cNvGrpSpPr>
            <a:grpSpLocks/>
          </p:cNvGrpSpPr>
          <p:nvPr/>
        </p:nvGrpSpPr>
        <p:grpSpPr bwMode="auto">
          <a:xfrm rot="5400000">
            <a:off x="4209621" y="2663188"/>
            <a:ext cx="909637" cy="400050"/>
            <a:chOff x="858" y="1375"/>
            <a:chExt cx="573" cy="252"/>
          </a:xfrm>
        </p:grpSpPr>
        <p:sp>
          <p:nvSpPr>
            <p:cNvPr id="30895" name="Text Box 117"/>
            <p:cNvSpPr txBox="1">
              <a:spLocks noChangeArrowheads="1"/>
            </p:cNvSpPr>
            <p:nvPr/>
          </p:nvSpPr>
          <p:spPr bwMode="auto">
            <a:xfrm rot="-5400000">
              <a:off x="867" y="1366"/>
              <a:ext cx="252" cy="269"/>
            </a:xfrm>
            <a:prstGeom prst="rect">
              <a:avLst/>
            </a:prstGeom>
            <a:solidFill>
              <a:srgbClr val="FFFFFF"/>
            </a:solidFill>
            <a:ln w="9525">
              <a:noFill/>
              <a:miter lim="800000"/>
              <a:headEnd/>
              <a:tailEnd/>
            </a:ln>
          </p:spPr>
          <p:txBody>
            <a:bodyPr lIns="0" tIns="0" rIns="0" bIns="0"/>
            <a:lstStyle/>
            <a:p>
              <a:pPr algn="just" defTabSz="914400"/>
              <a:r>
                <a:rPr lang="en-US" altLang="zh-CN" sz="2800" b="1">
                  <a:solidFill>
                    <a:srgbClr val="006600"/>
                  </a:solidFill>
                  <a:latin typeface="微软雅黑" pitchFamily="34" charset="-122"/>
                  <a:ea typeface="微软雅黑" pitchFamily="34" charset="-122"/>
                  <a:cs typeface="Times New Roman" pitchFamily="18" charset="0"/>
                </a:rPr>
                <a:t>B</a:t>
              </a:r>
              <a:r>
                <a:rPr lang="en-US" altLang="zh-CN" sz="2800" b="1" baseline="30000">
                  <a:solidFill>
                    <a:srgbClr val="006600"/>
                  </a:solidFill>
                  <a:latin typeface="微软雅黑" pitchFamily="34" charset="-122"/>
                  <a:ea typeface="微软雅黑" pitchFamily="34" charset="-122"/>
                  <a:cs typeface="Times New Roman" pitchFamily="18" charset="0"/>
                </a:rPr>
                <a:t>-</a:t>
              </a:r>
              <a:endParaRPr lang="zh-CN" altLang="zh-CN" sz="7200" b="1">
                <a:solidFill>
                  <a:srgbClr val="006600"/>
                </a:solidFill>
                <a:latin typeface="微软雅黑" pitchFamily="34" charset="-122"/>
                <a:ea typeface="微软雅黑" pitchFamily="34" charset="-122"/>
                <a:cs typeface="Times New Roman" pitchFamily="18" charset="0"/>
              </a:endParaRPr>
            </a:p>
          </p:txBody>
        </p:sp>
        <p:sp>
          <p:nvSpPr>
            <p:cNvPr id="30896" name="Line 119"/>
            <p:cNvSpPr>
              <a:spLocks noChangeShapeType="1"/>
            </p:cNvSpPr>
            <p:nvPr/>
          </p:nvSpPr>
          <p:spPr bwMode="auto">
            <a:xfrm>
              <a:off x="1094" y="1508"/>
              <a:ext cx="337" cy="1"/>
            </a:xfrm>
            <a:prstGeom prst="line">
              <a:avLst/>
            </a:prstGeom>
            <a:noFill/>
            <a:ln w="38100">
              <a:solidFill>
                <a:srgbClr val="000000"/>
              </a:solidFill>
              <a:round/>
              <a:headEnd/>
              <a:tailEnd type="stealth" w="med" len="lg"/>
            </a:ln>
          </p:spPr>
          <p:txBody>
            <a:bodyPr/>
            <a:lstStyle/>
            <a:p>
              <a:endParaRPr lang="zh-CN" altLang="en-US">
                <a:latin typeface="微软雅黑" pitchFamily="34" charset="-122"/>
                <a:ea typeface="微软雅黑" pitchFamily="34" charset="-122"/>
              </a:endParaRPr>
            </a:p>
          </p:txBody>
        </p:sp>
      </p:grpSp>
      <p:grpSp>
        <p:nvGrpSpPr>
          <p:cNvPr id="44253" name="Group 192"/>
          <p:cNvGrpSpPr>
            <a:grpSpLocks/>
          </p:cNvGrpSpPr>
          <p:nvPr/>
        </p:nvGrpSpPr>
        <p:grpSpPr bwMode="auto">
          <a:xfrm>
            <a:off x="2851515" y="2867181"/>
            <a:ext cx="893762" cy="427038"/>
            <a:chOff x="4835" y="941"/>
            <a:chExt cx="563" cy="269"/>
          </a:xfrm>
        </p:grpSpPr>
        <p:sp>
          <p:nvSpPr>
            <p:cNvPr id="30898" name="Text Box 118"/>
            <p:cNvSpPr txBox="1">
              <a:spLocks noChangeArrowheads="1"/>
            </p:cNvSpPr>
            <p:nvPr/>
          </p:nvSpPr>
          <p:spPr bwMode="auto">
            <a:xfrm>
              <a:off x="4835" y="941"/>
              <a:ext cx="461" cy="269"/>
            </a:xfrm>
            <a:prstGeom prst="rect">
              <a:avLst/>
            </a:prstGeom>
            <a:solidFill>
              <a:srgbClr val="FFFFFF"/>
            </a:solidFill>
            <a:ln w="9525">
              <a:noFill/>
              <a:miter lim="800000"/>
              <a:headEnd/>
              <a:tailEnd/>
            </a:ln>
          </p:spPr>
          <p:txBody>
            <a:bodyPr lIns="0" tIns="0" rIns="0" bIns="0"/>
            <a:lstStyle/>
            <a:p>
              <a:pPr algn="just" defTabSz="914400"/>
              <a:r>
                <a:rPr lang="zh-CN" altLang="en-US" sz="2800" b="1">
                  <a:latin typeface="微软雅黑" pitchFamily="34" charset="-122"/>
                  <a:ea typeface="微软雅黑" pitchFamily="34" charset="-122"/>
                </a:rPr>
                <a:t>空穴</a:t>
              </a:r>
              <a:endParaRPr lang="zh-CN" altLang="en-US" sz="7200" b="1">
                <a:latin typeface="微软雅黑" pitchFamily="34" charset="-122"/>
                <a:ea typeface="微软雅黑" pitchFamily="34" charset="-122"/>
              </a:endParaRPr>
            </a:p>
          </p:txBody>
        </p:sp>
        <p:sp>
          <p:nvSpPr>
            <p:cNvPr id="30899" name="Oval 41"/>
            <p:cNvSpPr>
              <a:spLocks noChangeAspect="1" noChangeArrowheads="1"/>
            </p:cNvSpPr>
            <p:nvPr/>
          </p:nvSpPr>
          <p:spPr bwMode="auto">
            <a:xfrm rot="773108">
              <a:off x="5319" y="1061"/>
              <a:ext cx="79" cy="8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grpSp>
        <p:nvGrpSpPr>
          <p:cNvPr id="44254" name="Group 197"/>
          <p:cNvGrpSpPr>
            <a:grpSpLocks/>
          </p:cNvGrpSpPr>
          <p:nvPr/>
        </p:nvGrpSpPr>
        <p:grpSpPr bwMode="auto">
          <a:xfrm rot="-5400000">
            <a:off x="6368940" y="2027549"/>
            <a:ext cx="1165226" cy="687388"/>
            <a:chOff x="4184" y="1309"/>
            <a:chExt cx="734" cy="433"/>
          </a:xfrm>
        </p:grpSpPr>
        <p:sp>
          <p:nvSpPr>
            <p:cNvPr id="30901" name="Text Box 115"/>
            <p:cNvSpPr txBox="1">
              <a:spLocks noChangeArrowheads="1"/>
            </p:cNvSpPr>
            <p:nvPr/>
          </p:nvSpPr>
          <p:spPr bwMode="auto">
            <a:xfrm rot="5400000">
              <a:off x="4547" y="1372"/>
              <a:ext cx="433" cy="308"/>
            </a:xfrm>
            <a:prstGeom prst="rect">
              <a:avLst/>
            </a:prstGeom>
            <a:solidFill>
              <a:srgbClr val="FFFFFF"/>
            </a:solidFill>
            <a:ln w="9525">
              <a:noFill/>
              <a:miter lim="800000"/>
              <a:headEnd/>
              <a:tailEnd/>
            </a:ln>
          </p:spPr>
          <p:txBody>
            <a:bodyPr lIns="0" tIns="0" rIns="0" bIns="0"/>
            <a:lstStyle/>
            <a:p>
              <a:pPr algn="just" defTabSz="914400"/>
              <a:r>
                <a:rPr lang="en-US" altLang="zh-CN" sz="2800" b="1" dirty="0">
                  <a:solidFill>
                    <a:srgbClr val="FF0000"/>
                  </a:solidFill>
                  <a:latin typeface="Times New Roman" pitchFamily="18" charset="0"/>
                  <a:ea typeface="微软雅黑" pitchFamily="34" charset="-122"/>
                  <a:cs typeface="Times New Roman" pitchFamily="18" charset="0"/>
                </a:rPr>
                <a:t>As</a:t>
              </a:r>
              <a:r>
                <a:rPr lang="en-US" altLang="zh-CN" sz="2800" b="1" baseline="30000" dirty="0">
                  <a:solidFill>
                    <a:srgbClr val="FF0000"/>
                  </a:solidFill>
                  <a:latin typeface="Times New Roman" pitchFamily="18" charset="0"/>
                  <a:ea typeface="微软雅黑" pitchFamily="34" charset="-122"/>
                  <a:cs typeface="Times New Roman" pitchFamily="18" charset="0"/>
                </a:rPr>
                <a:t>+</a:t>
              </a:r>
              <a:endParaRPr lang="zh-CN" altLang="zh-CN" sz="7200" b="1" dirty="0">
                <a:solidFill>
                  <a:srgbClr val="FF0000"/>
                </a:solidFill>
                <a:latin typeface="Times New Roman" pitchFamily="18" charset="0"/>
                <a:ea typeface="微软雅黑" pitchFamily="34" charset="-122"/>
                <a:cs typeface="Times New Roman" pitchFamily="18" charset="0"/>
              </a:endParaRPr>
            </a:p>
          </p:txBody>
        </p:sp>
        <p:sp>
          <p:nvSpPr>
            <p:cNvPr id="30902" name="Line 196"/>
            <p:cNvSpPr>
              <a:spLocks noChangeShapeType="1"/>
            </p:cNvSpPr>
            <p:nvPr/>
          </p:nvSpPr>
          <p:spPr bwMode="auto">
            <a:xfrm flipH="1">
              <a:off x="4184" y="1480"/>
              <a:ext cx="397" cy="0"/>
            </a:xfrm>
            <a:prstGeom prst="line">
              <a:avLst/>
            </a:prstGeom>
            <a:noFill/>
            <a:ln w="38100">
              <a:solidFill>
                <a:schemeClr val="tx1"/>
              </a:solidFill>
              <a:round/>
              <a:headEnd/>
              <a:tailEnd type="stealth" w="med" len="lg"/>
            </a:ln>
          </p:spPr>
          <p:txBody>
            <a:bodyPr/>
            <a:lstStyle/>
            <a:p>
              <a:endParaRPr lang="zh-CN" altLang="en-US">
                <a:latin typeface="微软雅黑" pitchFamily="34" charset="-122"/>
                <a:ea typeface="微软雅黑" pitchFamily="34" charset="-122"/>
              </a:endParaRPr>
            </a:p>
          </p:txBody>
        </p:sp>
      </p:grpSp>
      <p:sp>
        <p:nvSpPr>
          <p:cNvPr id="40137" name="Oval 41"/>
          <p:cNvSpPr>
            <a:spLocks noChangeAspect="1" noChangeArrowheads="1"/>
          </p:cNvSpPr>
          <p:nvPr/>
        </p:nvSpPr>
        <p:spPr bwMode="auto">
          <a:xfrm rot="773108">
            <a:off x="6242415" y="4162581"/>
            <a:ext cx="125412"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161" name="Oval 41"/>
          <p:cNvSpPr>
            <a:spLocks noChangeAspect="1" noChangeArrowheads="1"/>
          </p:cNvSpPr>
          <p:nvPr/>
        </p:nvSpPr>
        <p:spPr bwMode="auto">
          <a:xfrm rot="498144">
            <a:off x="5772515" y="4759481"/>
            <a:ext cx="127000"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4255" name="Group 184"/>
          <p:cNvGrpSpPr>
            <a:grpSpLocks/>
          </p:cNvGrpSpPr>
          <p:nvPr/>
        </p:nvGrpSpPr>
        <p:grpSpPr bwMode="auto">
          <a:xfrm>
            <a:off x="6672627" y="2667156"/>
            <a:ext cx="2346325" cy="427038"/>
            <a:chOff x="1321" y="964"/>
            <a:chExt cx="1478" cy="269"/>
          </a:xfrm>
        </p:grpSpPr>
        <p:sp>
          <p:nvSpPr>
            <p:cNvPr id="30906" name="Line 123"/>
            <p:cNvSpPr>
              <a:spLocks noChangeShapeType="1"/>
            </p:cNvSpPr>
            <p:nvPr/>
          </p:nvSpPr>
          <p:spPr bwMode="auto">
            <a:xfrm>
              <a:off x="1321" y="1111"/>
              <a:ext cx="1478" cy="0"/>
            </a:xfrm>
            <a:prstGeom prst="line">
              <a:avLst/>
            </a:prstGeom>
            <a:noFill/>
            <a:ln w="38100">
              <a:solidFill>
                <a:srgbClr val="000000"/>
              </a:solidFill>
              <a:round/>
              <a:headEnd type="stealth" w="med" len="lg"/>
              <a:tailEnd type="stealth" w="med" len="lg"/>
            </a:ln>
          </p:spPr>
          <p:txBody>
            <a:bodyPr/>
            <a:lstStyle/>
            <a:p>
              <a:endParaRPr lang="zh-CN" altLang="en-US">
                <a:latin typeface="微软雅黑" pitchFamily="34" charset="-122"/>
                <a:ea typeface="微软雅黑" pitchFamily="34" charset="-122"/>
              </a:endParaRPr>
            </a:p>
          </p:txBody>
        </p:sp>
        <p:sp>
          <p:nvSpPr>
            <p:cNvPr id="30907" name="Text Box 124"/>
            <p:cNvSpPr txBox="1">
              <a:spLocks noChangeArrowheads="1"/>
            </p:cNvSpPr>
            <p:nvPr/>
          </p:nvSpPr>
          <p:spPr bwMode="auto">
            <a:xfrm>
              <a:off x="1956" y="964"/>
              <a:ext cx="191" cy="269"/>
            </a:xfrm>
            <a:prstGeom prst="rect">
              <a:avLst/>
            </a:prstGeom>
            <a:solidFill>
              <a:srgbClr val="FFFFFF"/>
            </a:solidFill>
            <a:ln w="9525">
              <a:noFill/>
              <a:miter lim="800000"/>
              <a:headEnd/>
              <a:tailEnd/>
            </a:ln>
          </p:spPr>
          <p:txBody>
            <a:bodyPr lIns="0" tIns="0" rIns="0" bIns="0"/>
            <a:lstStyle/>
            <a:p>
              <a:pPr algn="just" defTabSz="914400"/>
              <a:r>
                <a:rPr lang="en-US" altLang="zh-CN" sz="2800" b="1" dirty="0">
                  <a:latin typeface="Times New Roman" pitchFamily="18" charset="0"/>
                  <a:ea typeface="微软雅黑" pitchFamily="34" charset="-122"/>
                  <a:cs typeface="Times New Roman" pitchFamily="18" charset="0"/>
                </a:rPr>
                <a:t>N</a:t>
              </a:r>
              <a:endParaRPr lang="zh-CN" altLang="zh-CN" sz="7200" b="1" dirty="0">
                <a:latin typeface="Times New Roman" pitchFamily="18" charset="0"/>
                <a:ea typeface="微软雅黑" pitchFamily="34" charset="-122"/>
                <a:cs typeface="Times New Roman" pitchFamily="18" charset="0"/>
              </a:endParaRPr>
            </a:p>
          </p:txBody>
        </p:sp>
      </p:grpSp>
      <p:sp>
        <p:nvSpPr>
          <p:cNvPr id="192" name="Rectangle 13"/>
          <p:cNvSpPr>
            <a:spLocks noChangeArrowheads="1"/>
          </p:cNvSpPr>
          <p:nvPr/>
        </p:nvSpPr>
        <p:spPr bwMode="auto">
          <a:xfrm>
            <a:off x="5323252" y="3175156"/>
            <a:ext cx="2474913" cy="1944688"/>
          </a:xfrm>
          <a:prstGeom prst="rect">
            <a:avLst/>
          </a:prstGeom>
          <a:noFill/>
          <a:ln w="57150">
            <a:solidFill>
              <a:srgbClr val="FF0000"/>
            </a:solidFill>
            <a:prstDash val="dash"/>
            <a:miter lim="800000"/>
            <a:headEnd/>
            <a:tailEnd/>
          </a:ln>
        </p:spPr>
        <p:txBody>
          <a:bodyPr wrap="none" anchor="ctr"/>
          <a:lstStyle/>
          <a:p>
            <a:pPr defTabSz="914400"/>
            <a:endParaRPr lang="zh-CN" altLang="en-US" sz="2800" b="1">
              <a:latin typeface="微软雅黑" pitchFamily="34" charset="-122"/>
              <a:ea typeface="微软雅黑" pitchFamily="34" charset="-122"/>
            </a:endParaRPr>
          </a:p>
        </p:txBody>
      </p:sp>
      <p:sp>
        <p:nvSpPr>
          <p:cNvPr id="2" name="右箭头 1"/>
          <p:cNvSpPr/>
          <p:nvPr/>
        </p:nvSpPr>
        <p:spPr>
          <a:xfrm rot="10800000" flipV="1">
            <a:off x="5874115" y="2333781"/>
            <a:ext cx="1377950" cy="444500"/>
          </a:xfrm>
          <a:prstGeom prst="rightArrow">
            <a:avLst/>
          </a:prstGeom>
          <a:solidFill>
            <a:schemeClr val="accent6">
              <a:lumMod val="60000"/>
              <a:lumOff val="40000"/>
            </a:schemeClr>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914400">
              <a:defRPr/>
            </a:pPr>
            <a:r>
              <a:rPr lang="zh-CN" altLang="en-US" sz="1600" b="1" dirty="0">
                <a:solidFill>
                  <a:schemeClr val="tx1"/>
                </a:solidFill>
                <a:latin typeface="微软雅黑" pitchFamily="34" charset="-122"/>
                <a:ea typeface="微软雅黑" pitchFamily="34" charset="-122"/>
              </a:rPr>
              <a:t>内建电场</a:t>
            </a:r>
          </a:p>
        </p:txBody>
      </p:sp>
      <p:sp>
        <p:nvSpPr>
          <p:cNvPr id="30910" name="Rectangle 3"/>
          <p:cNvSpPr>
            <a:spLocks noChangeArrowheads="1"/>
          </p:cNvSpPr>
          <p:nvPr/>
        </p:nvSpPr>
        <p:spPr bwMode="auto">
          <a:xfrm>
            <a:off x="4933633" y="1072613"/>
            <a:ext cx="4174807" cy="707886"/>
          </a:xfrm>
          <a:prstGeom prst="rect">
            <a:avLst/>
          </a:prstGeom>
          <a:gradFill rotWithShape="1">
            <a:gsLst>
              <a:gs pos="0">
                <a:srgbClr val="FFF200"/>
              </a:gs>
              <a:gs pos="45000">
                <a:srgbClr val="FF7A00"/>
              </a:gs>
              <a:gs pos="70000">
                <a:srgbClr val="FF0300"/>
              </a:gs>
              <a:gs pos="100000">
                <a:srgbClr val="4D0808"/>
              </a:gs>
            </a:gsLst>
            <a:path path="rect">
              <a:fillToRect l="100000" t="100000"/>
            </a:path>
          </a:gradFill>
          <a:ln w="9525">
            <a:noFill/>
            <a:miter lim="800000"/>
            <a:headEnd/>
            <a:tailEnd/>
          </a:ln>
        </p:spPr>
        <p:txBody>
          <a:bodyPr wrap="square" anchor="ctr">
            <a:spAutoFit/>
          </a:bodyPr>
          <a:lstStyle/>
          <a:p>
            <a:pPr algn="ctr" defTabSz="914400"/>
            <a:r>
              <a:rPr lang="en-US" altLang="zh-CN" sz="4000" b="1" dirty="0">
                <a:solidFill>
                  <a:schemeClr val="bg1"/>
                </a:solidFill>
                <a:latin typeface="Times New Roman" pitchFamily="18" charset="0"/>
                <a:ea typeface="黑体" pitchFamily="2" charset="-122"/>
                <a:cs typeface="Times New Roman" pitchFamily="18" charset="0"/>
              </a:rPr>
              <a:t>1 PN</a:t>
            </a:r>
            <a:r>
              <a:rPr lang="zh-CN" altLang="en-US" sz="4000" b="1" dirty="0">
                <a:solidFill>
                  <a:schemeClr val="bg1"/>
                </a:solidFill>
                <a:latin typeface="Times New Roman" pitchFamily="18" charset="0"/>
                <a:ea typeface="黑体" pitchFamily="2" charset="-122"/>
                <a:cs typeface="Times New Roman" pitchFamily="18" charset="0"/>
              </a:rPr>
              <a:t>结的形成 </a:t>
            </a:r>
          </a:p>
        </p:txBody>
      </p:sp>
      <p:cxnSp>
        <p:nvCxnSpPr>
          <p:cNvPr id="193" name="直接箭头连接符 192"/>
          <p:cNvCxnSpPr/>
          <p:nvPr/>
        </p:nvCxnSpPr>
        <p:spPr>
          <a:xfrm rot="10800000">
            <a:off x="2911840" y="4243544"/>
            <a:ext cx="755650" cy="1587"/>
          </a:xfrm>
          <a:prstGeom prst="straightConnector1">
            <a:avLst/>
          </a:prstGeom>
          <a:ln w="38100">
            <a:solidFill>
              <a:srgbClr val="0000FF"/>
            </a:solidFill>
            <a:tailEnd type="stealth" w="lg" len="lg"/>
          </a:ln>
        </p:spPr>
        <p:style>
          <a:lnRef idx="1">
            <a:schemeClr val="accent1"/>
          </a:lnRef>
          <a:fillRef idx="0">
            <a:schemeClr val="accent1"/>
          </a:fillRef>
          <a:effectRef idx="0">
            <a:schemeClr val="accent1"/>
          </a:effectRef>
          <a:fontRef idx="minor">
            <a:schemeClr val="tx1"/>
          </a:fontRef>
        </p:style>
      </p:cxnSp>
      <p:sp>
        <p:nvSpPr>
          <p:cNvPr id="194" name="Oval 41"/>
          <p:cNvSpPr>
            <a:spLocks noChangeAspect="1" noChangeArrowheads="1"/>
          </p:cNvSpPr>
          <p:nvPr/>
        </p:nvSpPr>
        <p:spPr bwMode="auto">
          <a:xfrm rot="773108">
            <a:off x="2746740" y="3945094"/>
            <a:ext cx="125412"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cxnSp>
        <p:nvCxnSpPr>
          <p:cNvPr id="196" name="直接箭头连接符 195"/>
          <p:cNvCxnSpPr/>
          <p:nvPr/>
        </p:nvCxnSpPr>
        <p:spPr>
          <a:xfrm>
            <a:off x="2911840" y="4014944"/>
            <a:ext cx="800100" cy="1587"/>
          </a:xfrm>
          <a:prstGeom prst="straightConnector1">
            <a:avLst/>
          </a:prstGeom>
          <a:ln w="38100">
            <a:solidFill>
              <a:srgbClr val="FF00FF"/>
            </a:solidFill>
            <a:tailEnd type="stealth" w="lg" len="lg"/>
          </a:ln>
        </p:spPr>
        <p:style>
          <a:lnRef idx="1">
            <a:schemeClr val="accent1"/>
          </a:lnRef>
          <a:fillRef idx="0">
            <a:schemeClr val="accent1"/>
          </a:fillRef>
          <a:effectRef idx="0">
            <a:schemeClr val="accent1"/>
          </a:effectRef>
          <a:fontRef idx="minor">
            <a:schemeClr val="tx1"/>
          </a:fontRef>
        </p:style>
      </p:cxnSp>
      <p:sp>
        <p:nvSpPr>
          <p:cNvPr id="199" name="Oval 57"/>
          <p:cNvSpPr>
            <a:spLocks noChangeAspect="1" noChangeArrowheads="1"/>
          </p:cNvSpPr>
          <p:nvPr/>
        </p:nvSpPr>
        <p:spPr bwMode="auto">
          <a:xfrm rot="-4849534">
            <a:off x="3719084" y="4179250"/>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cxnSp>
        <p:nvCxnSpPr>
          <p:cNvPr id="200" name="直接箭头连接符 199"/>
          <p:cNvCxnSpPr/>
          <p:nvPr/>
        </p:nvCxnSpPr>
        <p:spPr>
          <a:xfrm>
            <a:off x="9741265" y="4226081"/>
            <a:ext cx="800100" cy="1588"/>
          </a:xfrm>
          <a:prstGeom prst="straightConnector1">
            <a:avLst/>
          </a:prstGeom>
          <a:ln w="38100">
            <a:solidFill>
              <a:srgbClr val="0000FF"/>
            </a:solidFill>
            <a:tailEnd type="stealth" w="lg" len="lg"/>
          </a:ln>
        </p:spPr>
        <p:style>
          <a:lnRef idx="1">
            <a:schemeClr val="accent1"/>
          </a:lnRef>
          <a:fillRef idx="0">
            <a:schemeClr val="accent1"/>
          </a:fillRef>
          <a:effectRef idx="0">
            <a:schemeClr val="accent1"/>
          </a:effectRef>
          <a:fontRef idx="minor">
            <a:schemeClr val="tx1"/>
          </a:fontRef>
        </p:style>
      </p:cxnSp>
      <p:sp>
        <p:nvSpPr>
          <p:cNvPr id="201" name="Oval 41"/>
          <p:cNvSpPr>
            <a:spLocks noChangeAspect="1" noChangeArrowheads="1"/>
          </p:cNvSpPr>
          <p:nvPr/>
        </p:nvSpPr>
        <p:spPr bwMode="auto">
          <a:xfrm rot="773108">
            <a:off x="10509615" y="3927631"/>
            <a:ext cx="125412"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cxnSp>
        <p:nvCxnSpPr>
          <p:cNvPr id="202" name="直接箭头连接符 201"/>
          <p:cNvCxnSpPr/>
          <p:nvPr/>
        </p:nvCxnSpPr>
        <p:spPr>
          <a:xfrm rot="10800000" flipV="1">
            <a:off x="9741265" y="4003831"/>
            <a:ext cx="711200" cy="9525"/>
          </a:xfrm>
          <a:prstGeom prst="straightConnector1">
            <a:avLst/>
          </a:prstGeom>
          <a:ln w="38100">
            <a:solidFill>
              <a:srgbClr val="FF00FF"/>
            </a:solidFill>
            <a:tailEnd type="stealth" w="lg" len="lg"/>
          </a:ln>
        </p:spPr>
        <p:style>
          <a:lnRef idx="1">
            <a:schemeClr val="accent1"/>
          </a:lnRef>
          <a:fillRef idx="0">
            <a:schemeClr val="accent1"/>
          </a:fillRef>
          <a:effectRef idx="0">
            <a:schemeClr val="accent1"/>
          </a:effectRef>
          <a:fontRef idx="minor">
            <a:schemeClr val="tx1"/>
          </a:fontRef>
        </p:style>
      </p:cxnSp>
      <p:sp>
        <p:nvSpPr>
          <p:cNvPr id="203" name="Oval 57"/>
          <p:cNvSpPr>
            <a:spLocks noChangeAspect="1" noChangeArrowheads="1"/>
          </p:cNvSpPr>
          <p:nvPr/>
        </p:nvSpPr>
        <p:spPr bwMode="auto">
          <a:xfrm rot="-4849534">
            <a:off x="9607121" y="4179250"/>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208" name="TextBox 207"/>
          <p:cNvSpPr txBox="1">
            <a:spLocks noChangeArrowheads="1"/>
          </p:cNvSpPr>
          <p:nvPr/>
        </p:nvSpPr>
        <p:spPr bwMode="auto">
          <a:xfrm>
            <a:off x="2538919" y="4422931"/>
            <a:ext cx="1157146" cy="523220"/>
          </a:xfrm>
          <a:prstGeom prst="rect">
            <a:avLst/>
          </a:prstGeom>
          <a:noFill/>
          <a:ln w="9525">
            <a:noFill/>
            <a:miter lim="800000"/>
            <a:headEnd/>
            <a:tailEnd/>
          </a:ln>
        </p:spPr>
        <p:txBody>
          <a:bodyPr wrap="square">
            <a:spAutoFit/>
          </a:bodyPr>
          <a:lstStyle/>
          <a:p>
            <a:pPr algn="ctr" defTabSz="914400"/>
            <a:r>
              <a:rPr lang="zh-CN" altLang="en-US" sz="2800" b="1" dirty="0">
                <a:solidFill>
                  <a:srgbClr val="006600"/>
                </a:solidFill>
                <a:latin typeface="微软雅黑" pitchFamily="34" charset="-122"/>
                <a:ea typeface="微软雅黑" pitchFamily="34" charset="-122"/>
              </a:rPr>
              <a:t>扩散</a:t>
            </a:r>
          </a:p>
        </p:txBody>
      </p:sp>
      <p:sp>
        <p:nvSpPr>
          <p:cNvPr id="209" name="TextBox 208"/>
          <p:cNvSpPr txBox="1">
            <a:spLocks noChangeArrowheads="1"/>
          </p:cNvSpPr>
          <p:nvPr/>
        </p:nvSpPr>
        <p:spPr bwMode="auto">
          <a:xfrm>
            <a:off x="9741264" y="4334031"/>
            <a:ext cx="1046709" cy="523220"/>
          </a:xfrm>
          <a:prstGeom prst="rect">
            <a:avLst/>
          </a:prstGeom>
          <a:noFill/>
          <a:ln w="9525">
            <a:noFill/>
            <a:miter lim="800000"/>
            <a:headEnd/>
            <a:tailEnd/>
          </a:ln>
        </p:spPr>
        <p:txBody>
          <a:bodyPr wrap="square">
            <a:spAutoFit/>
          </a:bodyPr>
          <a:lstStyle/>
          <a:p>
            <a:pPr defTabSz="914400"/>
            <a:r>
              <a:rPr lang="zh-CN" altLang="en-US" sz="2800" b="1">
                <a:solidFill>
                  <a:srgbClr val="0000FF"/>
                </a:solidFill>
                <a:latin typeface="微软雅黑" pitchFamily="34" charset="-122"/>
                <a:ea typeface="微软雅黑" pitchFamily="34" charset="-122"/>
              </a:rPr>
              <a:t>漂移</a:t>
            </a:r>
          </a:p>
        </p:txBody>
      </p:sp>
      <p:grpSp>
        <p:nvGrpSpPr>
          <p:cNvPr id="39936" name="组合 215"/>
          <p:cNvGrpSpPr>
            <a:grpSpLocks/>
          </p:cNvGrpSpPr>
          <p:nvPr/>
        </p:nvGrpSpPr>
        <p:grpSpPr bwMode="auto">
          <a:xfrm>
            <a:off x="5339127" y="5223031"/>
            <a:ext cx="2490788" cy="446088"/>
            <a:chOff x="3148806" y="4629150"/>
            <a:chExt cx="2489994" cy="445294"/>
          </a:xfrm>
        </p:grpSpPr>
        <p:cxnSp>
          <p:nvCxnSpPr>
            <p:cNvPr id="211" name="直接箭头连接符 210"/>
            <p:cNvCxnSpPr/>
            <p:nvPr/>
          </p:nvCxnSpPr>
          <p:spPr>
            <a:xfrm>
              <a:off x="3194829" y="4851004"/>
              <a:ext cx="2399535" cy="1585"/>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rot="5400000">
              <a:off x="2927745" y="4851796"/>
              <a:ext cx="443709"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rot="5400000">
              <a:off x="5416152" y="4850211"/>
              <a:ext cx="443709"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15" name="TextBox 214"/>
          <p:cNvSpPr txBox="1"/>
          <p:nvPr/>
        </p:nvSpPr>
        <p:spPr>
          <a:xfrm>
            <a:off x="5599068" y="5445281"/>
            <a:ext cx="2000250" cy="369332"/>
          </a:xfrm>
          <a:prstGeom prst="rect">
            <a:avLst/>
          </a:prstGeom>
          <a:solidFill>
            <a:srgbClr val="FFFF00"/>
          </a:solidFill>
        </p:spPr>
        <p:txBody>
          <a:bodyPr lIns="0" tIns="0" rIns="0" bIns="0">
            <a:spAutoFit/>
          </a:bodyPr>
          <a:lstStyle/>
          <a:p>
            <a:pPr algn="ctr" defTabSz="914400">
              <a:defRPr/>
            </a:pPr>
            <a:r>
              <a:rPr lang="zh-CN" altLang="en-US" sz="2400" b="1" dirty="0">
                <a:solidFill>
                  <a:srgbClr val="C00000"/>
                </a:solidFill>
                <a:latin typeface="微软雅黑" pitchFamily="34" charset="-122"/>
                <a:ea typeface="微软雅黑" pitchFamily="34" charset="-122"/>
              </a:rPr>
              <a:t>空间电荷区域</a:t>
            </a:r>
          </a:p>
        </p:txBody>
      </p:sp>
      <p:sp>
        <p:nvSpPr>
          <p:cNvPr id="217" name="TextBox 216"/>
          <p:cNvSpPr txBox="1">
            <a:spLocks noChangeArrowheads="1"/>
          </p:cNvSpPr>
          <p:nvPr/>
        </p:nvSpPr>
        <p:spPr bwMode="auto">
          <a:xfrm>
            <a:off x="3873865" y="6256603"/>
            <a:ext cx="800100" cy="885825"/>
          </a:xfrm>
          <a:prstGeom prst="rect">
            <a:avLst/>
          </a:prstGeom>
          <a:noFill/>
          <a:ln w="31750">
            <a:solidFill>
              <a:srgbClr val="0000FF"/>
            </a:solidFill>
            <a:miter lim="800000"/>
            <a:headEnd/>
            <a:tailEnd/>
          </a:ln>
        </p:spPr>
        <p:txBody>
          <a:bodyPr lIns="0" tIns="0" rIns="0" bIns="0">
            <a:spAutoFit/>
          </a:bodyPr>
          <a:lstStyle/>
          <a:p>
            <a:pPr algn="ctr" defTabSz="914400"/>
            <a:r>
              <a:rPr lang="zh-CN" altLang="en-US" sz="2800" b="1">
                <a:latin typeface="微软雅黑" pitchFamily="34" charset="-122"/>
                <a:ea typeface="微软雅黑" pitchFamily="34" charset="-122"/>
              </a:rPr>
              <a:t>浓度差异</a:t>
            </a:r>
          </a:p>
        </p:txBody>
      </p:sp>
      <p:sp>
        <p:nvSpPr>
          <p:cNvPr id="218" name="TextBox 217"/>
          <p:cNvSpPr txBox="1">
            <a:spLocks noChangeArrowheads="1"/>
          </p:cNvSpPr>
          <p:nvPr/>
        </p:nvSpPr>
        <p:spPr bwMode="auto">
          <a:xfrm>
            <a:off x="5162915" y="6256603"/>
            <a:ext cx="488950" cy="885825"/>
          </a:xfrm>
          <a:prstGeom prst="rect">
            <a:avLst/>
          </a:prstGeom>
          <a:noFill/>
          <a:ln w="31750">
            <a:solidFill>
              <a:srgbClr val="0000FF"/>
            </a:solidFill>
            <a:miter lim="800000"/>
            <a:headEnd/>
            <a:tailEnd/>
          </a:ln>
        </p:spPr>
        <p:txBody>
          <a:bodyPr lIns="0" tIns="0" rIns="0" bIns="0">
            <a:spAutoFit/>
          </a:bodyPr>
          <a:lstStyle/>
          <a:p>
            <a:pPr algn="ctr" defTabSz="914400"/>
            <a:r>
              <a:rPr lang="zh-CN" altLang="en-US" sz="2800" b="1">
                <a:latin typeface="微软雅黑" pitchFamily="34" charset="-122"/>
                <a:ea typeface="微软雅黑" pitchFamily="34" charset="-122"/>
              </a:rPr>
              <a:t>扩散</a:t>
            </a:r>
          </a:p>
        </p:txBody>
      </p:sp>
      <p:sp>
        <p:nvSpPr>
          <p:cNvPr id="219" name="TextBox 218"/>
          <p:cNvSpPr txBox="1">
            <a:spLocks noChangeArrowheads="1"/>
          </p:cNvSpPr>
          <p:nvPr/>
        </p:nvSpPr>
        <p:spPr bwMode="auto">
          <a:xfrm>
            <a:off x="6096365" y="6034353"/>
            <a:ext cx="488950" cy="1312863"/>
          </a:xfrm>
          <a:prstGeom prst="rect">
            <a:avLst/>
          </a:prstGeom>
          <a:noFill/>
          <a:ln w="31750">
            <a:solidFill>
              <a:srgbClr val="0000FF"/>
            </a:solidFill>
            <a:miter lim="800000"/>
            <a:headEnd/>
            <a:tailEnd/>
          </a:ln>
        </p:spPr>
        <p:txBody>
          <a:bodyPr lIns="0" tIns="0" rIns="0" bIns="0">
            <a:spAutoFit/>
          </a:bodyPr>
          <a:lstStyle/>
          <a:p>
            <a:pPr algn="ctr" defTabSz="914400"/>
            <a:r>
              <a:rPr lang="zh-CN" altLang="en-US" sz="2800" b="1">
                <a:latin typeface="微软雅黑" pitchFamily="34" charset="-122"/>
                <a:ea typeface="微软雅黑" pitchFamily="34" charset="-122"/>
              </a:rPr>
              <a:t>离子区</a:t>
            </a:r>
          </a:p>
        </p:txBody>
      </p:sp>
      <p:sp>
        <p:nvSpPr>
          <p:cNvPr id="220" name="TextBox 219"/>
          <p:cNvSpPr txBox="1">
            <a:spLocks noChangeArrowheads="1"/>
          </p:cNvSpPr>
          <p:nvPr/>
        </p:nvSpPr>
        <p:spPr bwMode="auto">
          <a:xfrm>
            <a:off x="6718665" y="6034353"/>
            <a:ext cx="488950" cy="1312863"/>
          </a:xfrm>
          <a:prstGeom prst="rect">
            <a:avLst/>
          </a:prstGeom>
          <a:noFill/>
          <a:ln w="31750">
            <a:solidFill>
              <a:srgbClr val="0000FF"/>
            </a:solidFill>
            <a:miter lim="800000"/>
            <a:headEnd/>
            <a:tailEnd/>
          </a:ln>
        </p:spPr>
        <p:txBody>
          <a:bodyPr lIns="0" tIns="0" rIns="0" bIns="0">
            <a:spAutoFit/>
          </a:bodyPr>
          <a:lstStyle/>
          <a:p>
            <a:pPr algn="ctr" defTabSz="914400"/>
            <a:r>
              <a:rPr lang="zh-CN" altLang="en-US" sz="2800" b="1">
                <a:latin typeface="微软雅黑" pitchFamily="34" charset="-122"/>
                <a:ea typeface="微软雅黑" pitchFamily="34" charset="-122"/>
              </a:rPr>
              <a:t>耗尽区</a:t>
            </a:r>
          </a:p>
        </p:txBody>
      </p:sp>
      <p:sp>
        <p:nvSpPr>
          <p:cNvPr id="221" name="TextBox 220"/>
          <p:cNvSpPr txBox="1">
            <a:spLocks noChangeArrowheads="1"/>
          </p:cNvSpPr>
          <p:nvPr/>
        </p:nvSpPr>
        <p:spPr bwMode="auto">
          <a:xfrm>
            <a:off x="7296515" y="6034353"/>
            <a:ext cx="488950" cy="1312863"/>
          </a:xfrm>
          <a:prstGeom prst="rect">
            <a:avLst/>
          </a:prstGeom>
          <a:noFill/>
          <a:ln w="31750">
            <a:solidFill>
              <a:srgbClr val="0000FF"/>
            </a:solidFill>
            <a:miter lim="800000"/>
            <a:headEnd/>
            <a:tailEnd/>
          </a:ln>
        </p:spPr>
        <p:txBody>
          <a:bodyPr lIns="0" tIns="0" rIns="0" bIns="0">
            <a:spAutoFit/>
          </a:bodyPr>
          <a:lstStyle/>
          <a:p>
            <a:pPr algn="ctr" defTabSz="914400"/>
            <a:r>
              <a:rPr lang="zh-CN" altLang="en-US" sz="2800" b="1">
                <a:latin typeface="微软雅黑" pitchFamily="34" charset="-122"/>
                <a:ea typeface="微软雅黑" pitchFamily="34" charset="-122"/>
              </a:rPr>
              <a:t>电荷区</a:t>
            </a:r>
          </a:p>
        </p:txBody>
      </p:sp>
      <p:sp>
        <p:nvSpPr>
          <p:cNvPr id="222" name="TextBox 221"/>
          <p:cNvSpPr txBox="1">
            <a:spLocks noChangeArrowheads="1"/>
          </p:cNvSpPr>
          <p:nvPr/>
        </p:nvSpPr>
        <p:spPr bwMode="auto">
          <a:xfrm>
            <a:off x="7874365" y="6031178"/>
            <a:ext cx="444500" cy="1312863"/>
          </a:xfrm>
          <a:prstGeom prst="rect">
            <a:avLst/>
          </a:prstGeom>
          <a:noFill/>
          <a:ln w="31750">
            <a:solidFill>
              <a:srgbClr val="0000FF"/>
            </a:solidFill>
            <a:miter lim="800000"/>
            <a:headEnd/>
            <a:tailEnd/>
          </a:ln>
        </p:spPr>
        <p:txBody>
          <a:bodyPr lIns="0" tIns="0" rIns="0" bIns="0">
            <a:spAutoFit/>
          </a:bodyPr>
          <a:lstStyle/>
          <a:p>
            <a:pPr algn="ctr" defTabSz="914400"/>
            <a:r>
              <a:rPr lang="zh-CN" altLang="en-US" sz="2800" b="1">
                <a:latin typeface="微软雅黑" pitchFamily="34" charset="-122"/>
                <a:ea typeface="微软雅黑" pitchFamily="34" charset="-122"/>
              </a:rPr>
              <a:t>阻挡层</a:t>
            </a:r>
          </a:p>
        </p:txBody>
      </p:sp>
      <p:sp>
        <p:nvSpPr>
          <p:cNvPr id="223" name="TextBox 222"/>
          <p:cNvSpPr txBox="1">
            <a:spLocks noChangeArrowheads="1"/>
          </p:cNvSpPr>
          <p:nvPr/>
        </p:nvSpPr>
        <p:spPr bwMode="auto">
          <a:xfrm>
            <a:off x="8852644" y="5720063"/>
            <a:ext cx="463092" cy="1723549"/>
          </a:xfrm>
          <a:prstGeom prst="rect">
            <a:avLst/>
          </a:prstGeom>
          <a:noFill/>
          <a:ln w="31750">
            <a:solidFill>
              <a:srgbClr val="0000FF"/>
            </a:solidFill>
            <a:miter lim="800000"/>
            <a:headEnd/>
            <a:tailEnd/>
          </a:ln>
        </p:spPr>
        <p:txBody>
          <a:bodyPr wrap="square" lIns="0" tIns="0" rIns="0" bIns="0">
            <a:spAutoFit/>
          </a:bodyPr>
          <a:lstStyle/>
          <a:p>
            <a:pPr algn="ctr" defTabSz="914400"/>
            <a:r>
              <a:rPr lang="zh-CN" altLang="en-US" sz="2800" b="1">
                <a:latin typeface="微软雅黑" pitchFamily="34" charset="-122"/>
                <a:ea typeface="微软雅黑" pitchFamily="34" charset="-122"/>
              </a:rPr>
              <a:t>内建电场</a:t>
            </a:r>
          </a:p>
        </p:txBody>
      </p:sp>
      <p:sp>
        <p:nvSpPr>
          <p:cNvPr id="224" name="TextBox 223"/>
          <p:cNvSpPr txBox="1">
            <a:spLocks noChangeArrowheads="1"/>
          </p:cNvSpPr>
          <p:nvPr/>
        </p:nvSpPr>
        <p:spPr bwMode="auto">
          <a:xfrm>
            <a:off x="6807565" y="6389953"/>
            <a:ext cx="800100" cy="430887"/>
          </a:xfrm>
          <a:prstGeom prst="rect">
            <a:avLst/>
          </a:prstGeom>
          <a:solidFill>
            <a:srgbClr val="0000FF"/>
          </a:solidFill>
          <a:ln w="31750">
            <a:solidFill>
              <a:srgbClr val="0000FF"/>
            </a:solidFill>
            <a:miter lim="800000"/>
            <a:headEnd/>
            <a:tailEnd/>
          </a:ln>
        </p:spPr>
        <p:txBody>
          <a:bodyPr lIns="0" tIns="0" rIns="0" bIns="0">
            <a:spAutoFit/>
          </a:bodyPr>
          <a:lstStyle/>
          <a:p>
            <a:pPr algn="ctr" defTabSz="914400"/>
            <a:r>
              <a:rPr lang="zh-CN" altLang="en-US" sz="2800" b="1">
                <a:solidFill>
                  <a:schemeClr val="bg1"/>
                </a:solidFill>
                <a:latin typeface="微软雅黑" pitchFamily="34" charset="-122"/>
                <a:ea typeface="微软雅黑" pitchFamily="34" charset="-122"/>
              </a:rPr>
              <a:t>形成</a:t>
            </a:r>
          </a:p>
        </p:txBody>
      </p:sp>
      <p:sp>
        <p:nvSpPr>
          <p:cNvPr id="225" name="右箭头 224"/>
          <p:cNvSpPr/>
          <p:nvPr/>
        </p:nvSpPr>
        <p:spPr>
          <a:xfrm>
            <a:off x="4762865" y="6567753"/>
            <a:ext cx="355600" cy="311150"/>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微软雅黑" pitchFamily="34" charset="-122"/>
              <a:ea typeface="微软雅黑" pitchFamily="34" charset="-122"/>
            </a:endParaRPr>
          </a:p>
        </p:txBody>
      </p:sp>
      <p:sp>
        <p:nvSpPr>
          <p:cNvPr id="226" name="右箭头 225"/>
          <p:cNvSpPr/>
          <p:nvPr/>
        </p:nvSpPr>
        <p:spPr>
          <a:xfrm>
            <a:off x="5696315" y="6523303"/>
            <a:ext cx="355600" cy="311150"/>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微软雅黑" pitchFamily="34" charset="-122"/>
              <a:ea typeface="微软雅黑" pitchFamily="34" charset="-122"/>
            </a:endParaRPr>
          </a:p>
        </p:txBody>
      </p:sp>
      <p:sp>
        <p:nvSpPr>
          <p:cNvPr id="227" name="右箭头 226"/>
          <p:cNvSpPr/>
          <p:nvPr/>
        </p:nvSpPr>
        <p:spPr>
          <a:xfrm>
            <a:off x="8352585" y="6480440"/>
            <a:ext cx="385910" cy="311150"/>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微软雅黑" pitchFamily="34" charset="-122"/>
              <a:ea typeface="微软雅黑" pitchFamily="34" charset="-122"/>
            </a:endParaRPr>
          </a:p>
        </p:txBody>
      </p:sp>
      <p:sp>
        <p:nvSpPr>
          <p:cNvPr id="216" name="Rectangle 11"/>
          <p:cNvSpPr>
            <a:spLocks noChangeArrowheads="1"/>
          </p:cNvSpPr>
          <p:nvPr/>
        </p:nvSpPr>
        <p:spPr bwMode="auto">
          <a:xfrm>
            <a:off x="986344" y="5817455"/>
            <a:ext cx="2259012" cy="369332"/>
          </a:xfrm>
          <a:prstGeom prst="rect">
            <a:avLst/>
          </a:prstGeom>
          <a:noFill/>
          <a:ln w="38100">
            <a:solidFill>
              <a:srgbClr val="FF0000"/>
            </a:solidFill>
            <a:miter lim="800000"/>
            <a:headEnd/>
            <a:tailEnd/>
          </a:ln>
        </p:spPr>
        <p:txBody>
          <a:bodyPr wrap="square" anchor="ctr">
            <a:spAutoFit/>
          </a:bodyPr>
          <a:lstStyle/>
          <a:p>
            <a:pPr algn="ctr" defTabSz="914400"/>
            <a:r>
              <a:rPr lang="zh-CN" altLang="en-US" sz="1800" b="1">
                <a:latin typeface="微软雅黑" pitchFamily="34" charset="-122"/>
                <a:ea typeface="微软雅黑" pitchFamily="34" charset="-122"/>
              </a:rPr>
              <a:t>扩散与漂移方向相反</a:t>
            </a:r>
          </a:p>
        </p:txBody>
      </p:sp>
      <p:sp>
        <p:nvSpPr>
          <p:cNvPr id="228" name="Rectangle 4"/>
          <p:cNvSpPr>
            <a:spLocks noChangeArrowheads="1"/>
          </p:cNvSpPr>
          <p:nvPr/>
        </p:nvSpPr>
        <p:spPr bwMode="auto">
          <a:xfrm>
            <a:off x="630353" y="6523303"/>
            <a:ext cx="2836862" cy="369332"/>
          </a:xfrm>
          <a:prstGeom prst="rect">
            <a:avLst/>
          </a:prstGeom>
          <a:solidFill>
            <a:schemeClr val="accent6">
              <a:lumMod val="40000"/>
              <a:lumOff val="60000"/>
            </a:schemeClr>
          </a:solidFill>
          <a:ln w="9525">
            <a:noFill/>
            <a:miter lim="800000"/>
            <a:headEnd/>
            <a:tailEnd/>
          </a:ln>
        </p:spPr>
        <p:txBody>
          <a:bodyPr wrap="square" anchor="ctr">
            <a:spAutoFit/>
          </a:bodyPr>
          <a:lstStyle/>
          <a:p>
            <a:pPr algn="ctr" defTabSz="914400">
              <a:defRPr/>
            </a:pPr>
            <a:r>
              <a:rPr lang="zh-CN" altLang="en-US" sz="1800" b="1" dirty="0">
                <a:latin typeface="微软雅黑" pitchFamily="34" charset="-122"/>
                <a:ea typeface="微软雅黑" pitchFamily="34" charset="-122"/>
              </a:rPr>
              <a:t>扩散</a:t>
            </a:r>
            <a:r>
              <a:rPr lang="en-US" altLang="zh-CN" sz="1800" b="1" dirty="0">
                <a:latin typeface="微软雅黑" pitchFamily="34" charset="-122"/>
                <a:ea typeface="微软雅黑" pitchFamily="34" charset="-122"/>
              </a:rPr>
              <a:t>=</a:t>
            </a:r>
            <a:r>
              <a:rPr lang="zh-CN" altLang="en-US" sz="1800" b="1" dirty="0">
                <a:latin typeface="微软雅黑" pitchFamily="34" charset="-122"/>
                <a:ea typeface="微软雅黑" pitchFamily="34" charset="-122"/>
              </a:rPr>
              <a:t>漂移    平衡   </a:t>
            </a:r>
            <a:r>
              <a:rPr lang="en-US" altLang="zh-CN" sz="1800" b="1" dirty="0">
                <a:latin typeface="微软雅黑" pitchFamily="34" charset="-122"/>
                <a:ea typeface="微软雅黑" pitchFamily="34" charset="-122"/>
              </a:rPr>
              <a:t>PN</a:t>
            </a:r>
            <a:r>
              <a:rPr lang="zh-CN" altLang="en-US" sz="1800" b="1" dirty="0">
                <a:latin typeface="微软雅黑" pitchFamily="34" charset="-122"/>
                <a:ea typeface="微软雅黑" pitchFamily="34" charset="-122"/>
              </a:rPr>
              <a:t>结</a:t>
            </a:r>
          </a:p>
        </p:txBody>
      </p:sp>
      <p:sp>
        <p:nvSpPr>
          <p:cNvPr id="231" name="Rectangle 4"/>
          <p:cNvSpPr>
            <a:spLocks noChangeArrowheads="1"/>
          </p:cNvSpPr>
          <p:nvPr/>
        </p:nvSpPr>
        <p:spPr bwMode="auto">
          <a:xfrm>
            <a:off x="11852958" y="5098176"/>
            <a:ext cx="1356461" cy="369332"/>
          </a:xfrm>
          <a:prstGeom prst="rect">
            <a:avLst/>
          </a:prstGeom>
          <a:noFill/>
          <a:ln w="38100">
            <a:solidFill>
              <a:srgbClr val="FF0000"/>
            </a:solidFill>
            <a:miter lim="800000"/>
            <a:headEnd/>
            <a:tailEnd/>
          </a:ln>
        </p:spPr>
        <p:txBody>
          <a:bodyPr wrap="none" anchor="ctr">
            <a:spAutoFit/>
          </a:bodyPr>
          <a:lstStyle/>
          <a:p>
            <a:pPr algn="ctr" defTabSz="914400"/>
            <a:r>
              <a:rPr lang="en-US" altLang="zh-CN" sz="1800" b="1" dirty="0">
                <a:latin typeface="微软雅黑" pitchFamily="34" charset="-122"/>
                <a:ea typeface="微软雅黑" pitchFamily="34" charset="-122"/>
              </a:rPr>
              <a:t>(</a:t>
            </a:r>
            <a:r>
              <a:rPr lang="zh-CN" altLang="en-US" sz="1800" b="1" dirty="0">
                <a:latin typeface="微软雅黑" pitchFamily="34" charset="-122"/>
                <a:ea typeface="微软雅黑" pitchFamily="34" charset="-122"/>
              </a:rPr>
              <a:t>多子</a:t>
            </a:r>
            <a:r>
              <a:rPr lang="en-US" altLang="zh-CN" sz="1800" b="1" dirty="0">
                <a:latin typeface="微软雅黑" pitchFamily="34" charset="-122"/>
                <a:ea typeface="微软雅黑" pitchFamily="34" charset="-122"/>
              </a:rPr>
              <a:t>)</a:t>
            </a:r>
            <a:r>
              <a:rPr lang="zh-CN" altLang="en-US" sz="1800" b="1" dirty="0">
                <a:latin typeface="微软雅黑" pitchFamily="34" charset="-122"/>
                <a:ea typeface="微软雅黑" pitchFamily="34" charset="-122"/>
              </a:rPr>
              <a:t>扩散 </a:t>
            </a:r>
          </a:p>
        </p:txBody>
      </p:sp>
      <p:sp>
        <p:nvSpPr>
          <p:cNvPr id="232" name="Rectangle 5"/>
          <p:cNvSpPr>
            <a:spLocks noChangeArrowheads="1"/>
          </p:cNvSpPr>
          <p:nvPr/>
        </p:nvSpPr>
        <p:spPr bwMode="auto">
          <a:xfrm>
            <a:off x="11877564" y="6071937"/>
            <a:ext cx="1331856" cy="369332"/>
          </a:xfrm>
          <a:prstGeom prst="rect">
            <a:avLst/>
          </a:prstGeom>
          <a:noFill/>
          <a:ln w="38100">
            <a:solidFill>
              <a:srgbClr val="FF0000"/>
            </a:solidFill>
            <a:miter lim="800000"/>
            <a:headEnd/>
            <a:tailEnd/>
          </a:ln>
        </p:spPr>
        <p:txBody>
          <a:bodyPr wrap="square" anchor="ctr">
            <a:spAutoFit/>
          </a:bodyPr>
          <a:lstStyle/>
          <a:p>
            <a:pPr algn="ctr" defTabSz="914400"/>
            <a:r>
              <a:rPr lang="en-US" altLang="zh-CN" sz="1800" b="1">
                <a:latin typeface="微软雅黑" pitchFamily="34" charset="-122"/>
                <a:ea typeface="微软雅黑" pitchFamily="34" charset="-122"/>
              </a:rPr>
              <a:t>(</a:t>
            </a:r>
            <a:r>
              <a:rPr lang="zh-CN" altLang="en-US" sz="1800" b="1">
                <a:latin typeface="微软雅黑" pitchFamily="34" charset="-122"/>
                <a:ea typeface="微软雅黑" pitchFamily="34" charset="-122"/>
              </a:rPr>
              <a:t>少子</a:t>
            </a:r>
            <a:r>
              <a:rPr lang="en-US" altLang="zh-CN" sz="1800" b="1">
                <a:latin typeface="微软雅黑" pitchFamily="34" charset="-122"/>
                <a:ea typeface="微软雅黑" pitchFamily="34" charset="-122"/>
              </a:rPr>
              <a:t>)</a:t>
            </a:r>
            <a:r>
              <a:rPr lang="zh-CN" altLang="en-US" sz="1800" b="1">
                <a:latin typeface="微软雅黑" pitchFamily="34" charset="-122"/>
                <a:ea typeface="微软雅黑" pitchFamily="34" charset="-122"/>
              </a:rPr>
              <a:t>漂移</a:t>
            </a:r>
            <a:r>
              <a:rPr lang="zh-CN" altLang="en-US" sz="1800" b="1">
                <a:solidFill>
                  <a:schemeClr val="bg1"/>
                </a:solidFill>
                <a:latin typeface="微软雅黑" pitchFamily="34" charset="-122"/>
                <a:ea typeface="微软雅黑" pitchFamily="34" charset="-122"/>
              </a:rPr>
              <a:t>  </a:t>
            </a:r>
          </a:p>
        </p:txBody>
      </p:sp>
      <p:sp>
        <p:nvSpPr>
          <p:cNvPr id="233" name="Rectangle 6"/>
          <p:cNvSpPr>
            <a:spLocks noChangeArrowheads="1"/>
          </p:cNvSpPr>
          <p:nvPr/>
        </p:nvSpPr>
        <p:spPr bwMode="auto">
          <a:xfrm>
            <a:off x="10150444" y="5088670"/>
            <a:ext cx="1107996" cy="369332"/>
          </a:xfrm>
          <a:prstGeom prst="rect">
            <a:avLst/>
          </a:prstGeom>
          <a:noFill/>
          <a:ln w="38100">
            <a:solidFill>
              <a:srgbClr val="FF0000"/>
            </a:solidFill>
            <a:miter lim="800000"/>
            <a:headEnd/>
            <a:tailEnd/>
          </a:ln>
        </p:spPr>
        <p:txBody>
          <a:bodyPr wrap="none" anchor="ctr">
            <a:spAutoFit/>
          </a:bodyPr>
          <a:lstStyle/>
          <a:p>
            <a:pPr algn="ctr" defTabSz="914400"/>
            <a:r>
              <a:rPr lang="zh-CN" altLang="en-US" sz="1800" b="1">
                <a:latin typeface="微软雅黑" pitchFamily="34" charset="-122"/>
                <a:ea typeface="微软雅黑" pitchFamily="34" charset="-122"/>
              </a:rPr>
              <a:t>浓度差异</a:t>
            </a:r>
          </a:p>
        </p:txBody>
      </p:sp>
      <p:sp>
        <p:nvSpPr>
          <p:cNvPr id="234" name="Rectangle 7"/>
          <p:cNvSpPr>
            <a:spLocks noChangeArrowheads="1"/>
          </p:cNvSpPr>
          <p:nvPr/>
        </p:nvSpPr>
        <p:spPr bwMode="auto">
          <a:xfrm>
            <a:off x="10150444" y="6062433"/>
            <a:ext cx="1163558" cy="369332"/>
          </a:xfrm>
          <a:prstGeom prst="rect">
            <a:avLst/>
          </a:prstGeom>
          <a:noFill/>
          <a:ln w="38100">
            <a:solidFill>
              <a:srgbClr val="FF0000"/>
            </a:solidFill>
            <a:miter lim="800000"/>
            <a:headEnd/>
            <a:tailEnd/>
          </a:ln>
        </p:spPr>
        <p:txBody>
          <a:bodyPr wrap="square">
            <a:spAutoFit/>
          </a:bodyPr>
          <a:lstStyle/>
          <a:p>
            <a:pPr algn="ctr" defTabSz="914400"/>
            <a:r>
              <a:rPr lang="zh-CN" altLang="en-US" sz="1800" b="1">
                <a:latin typeface="微软雅黑" pitchFamily="34" charset="-122"/>
                <a:ea typeface="微软雅黑" pitchFamily="34" charset="-122"/>
              </a:rPr>
              <a:t>内建电场</a:t>
            </a:r>
          </a:p>
        </p:txBody>
      </p:sp>
      <p:sp>
        <p:nvSpPr>
          <p:cNvPr id="235" name="Line 8"/>
          <p:cNvSpPr>
            <a:spLocks noChangeShapeType="1"/>
          </p:cNvSpPr>
          <p:nvPr/>
        </p:nvSpPr>
        <p:spPr bwMode="auto">
          <a:xfrm>
            <a:off x="11258440" y="5278615"/>
            <a:ext cx="566737" cy="8454"/>
          </a:xfrm>
          <a:prstGeom prst="line">
            <a:avLst/>
          </a:prstGeom>
          <a:noFill/>
          <a:ln w="38100">
            <a:solidFill>
              <a:schemeClr val="tx1"/>
            </a:solidFill>
            <a:round/>
            <a:headEnd/>
            <a:tailEnd type="stealth" w="lg" len="lg"/>
          </a:ln>
        </p:spPr>
        <p:txBody>
          <a:bodyPr/>
          <a:lstStyle/>
          <a:p>
            <a:endParaRPr lang="zh-CN" altLang="en-US" sz="1800">
              <a:latin typeface="微软雅黑" pitchFamily="34" charset="-122"/>
              <a:ea typeface="微软雅黑" pitchFamily="34" charset="-122"/>
            </a:endParaRPr>
          </a:p>
        </p:txBody>
      </p:sp>
      <p:sp>
        <p:nvSpPr>
          <p:cNvPr id="236" name="Line 9"/>
          <p:cNvSpPr>
            <a:spLocks noChangeShapeType="1"/>
          </p:cNvSpPr>
          <p:nvPr/>
        </p:nvSpPr>
        <p:spPr bwMode="auto">
          <a:xfrm>
            <a:off x="11338607" y="6243814"/>
            <a:ext cx="514351" cy="8561"/>
          </a:xfrm>
          <a:prstGeom prst="line">
            <a:avLst/>
          </a:prstGeom>
          <a:noFill/>
          <a:ln w="38100">
            <a:solidFill>
              <a:schemeClr val="tx1"/>
            </a:solidFill>
            <a:round/>
            <a:headEnd/>
            <a:tailEnd type="stealth" w="lg" len="lg"/>
          </a:ln>
        </p:spPr>
        <p:txBody>
          <a:bodyPr/>
          <a:lstStyle/>
          <a:p>
            <a:endParaRPr lang="zh-CN" altLang="en-US" sz="1800">
              <a:latin typeface="微软雅黑" pitchFamily="34" charset="-122"/>
              <a:ea typeface="微软雅黑" pitchFamily="34" charset="-122"/>
            </a:endParaRPr>
          </a:p>
        </p:txBody>
      </p:sp>
      <p:sp>
        <p:nvSpPr>
          <p:cNvPr id="237" name="Line 10"/>
          <p:cNvSpPr>
            <a:spLocks noChangeShapeType="1"/>
          </p:cNvSpPr>
          <p:nvPr/>
        </p:nvSpPr>
        <p:spPr bwMode="auto">
          <a:xfrm flipH="1">
            <a:off x="11338607" y="5477013"/>
            <a:ext cx="581820" cy="585419"/>
          </a:xfrm>
          <a:prstGeom prst="line">
            <a:avLst/>
          </a:prstGeom>
          <a:noFill/>
          <a:ln w="38100">
            <a:solidFill>
              <a:schemeClr val="tx1"/>
            </a:solidFill>
            <a:round/>
            <a:headEnd/>
            <a:tailEnd type="stealth" w="lg" len="lg"/>
          </a:ln>
        </p:spPr>
        <p:txBody>
          <a:bodyPr/>
          <a:lstStyle/>
          <a:p>
            <a:endParaRPr lang="zh-CN" altLang="en-US" sz="1800">
              <a:latin typeface="微软雅黑" pitchFamily="34" charset="-122"/>
              <a:ea typeface="微软雅黑" pitchFamily="34" charset="-122"/>
            </a:endParaRPr>
          </a:p>
        </p:txBody>
      </p:sp>
      <p:sp>
        <p:nvSpPr>
          <p:cNvPr id="238" name="Line 11"/>
          <p:cNvSpPr>
            <a:spLocks noChangeShapeType="1"/>
          </p:cNvSpPr>
          <p:nvPr/>
        </p:nvSpPr>
        <p:spPr bwMode="auto">
          <a:xfrm flipH="1">
            <a:off x="12272852" y="5477013"/>
            <a:ext cx="3175" cy="585419"/>
          </a:xfrm>
          <a:prstGeom prst="line">
            <a:avLst/>
          </a:prstGeom>
          <a:noFill/>
          <a:ln w="38100">
            <a:solidFill>
              <a:srgbClr val="FF0000"/>
            </a:solidFill>
            <a:round/>
            <a:headEnd/>
            <a:tailEnd/>
          </a:ln>
        </p:spPr>
        <p:txBody>
          <a:bodyPr/>
          <a:lstStyle/>
          <a:p>
            <a:endParaRPr lang="zh-CN" altLang="en-US" sz="1800">
              <a:latin typeface="微软雅黑" pitchFamily="34" charset="-122"/>
              <a:ea typeface="微软雅黑" pitchFamily="34" charset="-122"/>
            </a:endParaRPr>
          </a:p>
        </p:txBody>
      </p:sp>
      <p:sp>
        <p:nvSpPr>
          <p:cNvPr id="239" name="Line 12"/>
          <p:cNvSpPr>
            <a:spLocks noChangeShapeType="1"/>
          </p:cNvSpPr>
          <p:nvPr/>
        </p:nvSpPr>
        <p:spPr bwMode="auto">
          <a:xfrm>
            <a:off x="12628452" y="5477013"/>
            <a:ext cx="6350" cy="585419"/>
          </a:xfrm>
          <a:prstGeom prst="line">
            <a:avLst/>
          </a:prstGeom>
          <a:noFill/>
          <a:ln w="38100">
            <a:solidFill>
              <a:srgbClr val="FF0000"/>
            </a:solidFill>
            <a:round/>
            <a:headEnd/>
            <a:tailEnd/>
          </a:ln>
        </p:spPr>
        <p:txBody>
          <a:bodyPr/>
          <a:lstStyle/>
          <a:p>
            <a:endParaRPr lang="zh-CN" altLang="en-US" sz="1800">
              <a:latin typeface="微软雅黑" pitchFamily="34" charset="-122"/>
              <a:ea typeface="微软雅黑" pitchFamily="34" charset="-122"/>
            </a:endParaRPr>
          </a:p>
        </p:txBody>
      </p:sp>
      <p:sp>
        <p:nvSpPr>
          <p:cNvPr id="240" name="文本框 60">
            <a:extLst>
              <a:ext uri="{FF2B5EF4-FFF2-40B4-BE49-F238E27FC236}">
                <a16:creationId xmlns="" xmlns:a16="http://schemas.microsoft.com/office/drawing/2014/main" id="{31FD79C0-FD1F-402E-A4D7-E6DAE2C04741}"/>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241" name="矩形 240">
            <a:extLst>
              <a:ext uri="{FF2B5EF4-FFF2-40B4-BE49-F238E27FC236}">
                <a16:creationId xmlns="" xmlns:a16="http://schemas.microsoft.com/office/drawing/2014/main" id="{6EBE074B-64C7-4491-9218-70FB892EDA4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2" name="矩形 241">
            <a:extLst>
              <a:ext uri="{FF2B5EF4-FFF2-40B4-BE49-F238E27FC236}">
                <a16:creationId xmlns="" xmlns:a16="http://schemas.microsoft.com/office/drawing/2014/main" id="{8F15F9BD-5B43-4B6F-96A1-292E43EB0D2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圆角 242">
            <a:extLst>
              <a:ext uri="{FF2B5EF4-FFF2-40B4-BE49-F238E27FC236}">
                <a16:creationId xmlns="" xmlns:a16="http://schemas.microsoft.com/office/drawing/2014/main" id="{D619CD0E-ED3D-464F-8934-76E522F93F6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4" name="直接连接符 58">
            <a:extLst>
              <a:ext uri="{FF2B5EF4-FFF2-40B4-BE49-F238E27FC236}">
                <a16:creationId xmlns="" xmlns:a16="http://schemas.microsoft.com/office/drawing/2014/main" id="{4AE1DEE1-5C8A-4E79-9787-2AAEA6A318AB}"/>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5" name="矩形 244">
            <a:extLst>
              <a:ext uri="{FF2B5EF4-FFF2-40B4-BE49-F238E27FC236}">
                <a16:creationId xmlns="" xmlns:a16="http://schemas.microsoft.com/office/drawing/2014/main" id="{535A300B-726F-4DC2-BF76-FA95CAC1889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6" name="矩形 245">
            <a:extLst>
              <a:ext uri="{FF2B5EF4-FFF2-40B4-BE49-F238E27FC236}">
                <a16:creationId xmlns="" xmlns:a16="http://schemas.microsoft.com/office/drawing/2014/main" id="{B80716D9-12A8-42BB-90A6-47E6E718FE1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58238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250"/>
                                  </p:stCondLst>
                                  <p:childTnLst>
                                    <p:set>
                                      <p:cBhvr>
                                        <p:cTn id="6" dur="1" fill="hold">
                                          <p:stCondLst>
                                            <p:cond delay="0"/>
                                          </p:stCondLst>
                                        </p:cTn>
                                        <p:tgtEl>
                                          <p:spTgt spid="44251"/>
                                        </p:tgtEl>
                                        <p:attrNameLst>
                                          <p:attrName>style.visibility</p:attrName>
                                        </p:attrNameLst>
                                      </p:cBhvr>
                                      <p:to>
                                        <p:strVal val="visible"/>
                                      </p:to>
                                    </p:set>
                                    <p:anim calcmode="lin" valueType="num">
                                      <p:cBhvr additive="base">
                                        <p:cTn id="7" dur="750" fill="hold"/>
                                        <p:tgtEl>
                                          <p:spTgt spid="44251"/>
                                        </p:tgtEl>
                                        <p:attrNameLst>
                                          <p:attrName>ppt_x</p:attrName>
                                        </p:attrNameLst>
                                      </p:cBhvr>
                                      <p:tavLst>
                                        <p:tav tm="0">
                                          <p:val>
                                            <p:strVal val="0-#ppt_w/2"/>
                                          </p:val>
                                        </p:tav>
                                        <p:tav tm="100000">
                                          <p:val>
                                            <p:strVal val="#ppt_x"/>
                                          </p:val>
                                        </p:tav>
                                      </p:tavLst>
                                    </p:anim>
                                    <p:anim calcmode="lin" valueType="num">
                                      <p:cBhvr additive="base">
                                        <p:cTn id="8" dur="750" fill="hold"/>
                                        <p:tgtEl>
                                          <p:spTgt spid="4425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250"/>
                                  </p:stCondLst>
                                  <p:childTnLst>
                                    <p:set>
                                      <p:cBhvr>
                                        <p:cTn id="11" dur="1" fill="hold">
                                          <p:stCondLst>
                                            <p:cond delay="0"/>
                                          </p:stCondLst>
                                        </p:cTn>
                                        <p:tgtEl>
                                          <p:spTgt spid="44252"/>
                                        </p:tgtEl>
                                        <p:attrNameLst>
                                          <p:attrName>style.visibility</p:attrName>
                                        </p:attrNameLst>
                                      </p:cBhvr>
                                      <p:to>
                                        <p:strVal val="visible"/>
                                      </p:to>
                                    </p:set>
                                    <p:anim calcmode="lin" valueType="num">
                                      <p:cBhvr additive="base">
                                        <p:cTn id="12" dur="750" fill="hold"/>
                                        <p:tgtEl>
                                          <p:spTgt spid="44252"/>
                                        </p:tgtEl>
                                        <p:attrNameLst>
                                          <p:attrName>ppt_x</p:attrName>
                                        </p:attrNameLst>
                                      </p:cBhvr>
                                      <p:tavLst>
                                        <p:tav tm="0">
                                          <p:val>
                                            <p:strVal val="0-#ppt_w/2"/>
                                          </p:val>
                                        </p:tav>
                                        <p:tav tm="100000">
                                          <p:val>
                                            <p:strVal val="#ppt_x"/>
                                          </p:val>
                                        </p:tav>
                                      </p:tavLst>
                                    </p:anim>
                                    <p:anim calcmode="lin" valueType="num">
                                      <p:cBhvr additive="base">
                                        <p:cTn id="13" dur="750" fill="hold"/>
                                        <p:tgtEl>
                                          <p:spTgt spid="44252"/>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fill="hold" nodeType="afterEffect">
                                  <p:stCondLst>
                                    <p:cond delay="250"/>
                                  </p:stCondLst>
                                  <p:childTnLst>
                                    <p:set>
                                      <p:cBhvr>
                                        <p:cTn id="16" dur="1" fill="hold">
                                          <p:stCondLst>
                                            <p:cond delay="0"/>
                                          </p:stCondLst>
                                        </p:cTn>
                                        <p:tgtEl>
                                          <p:spTgt spid="44253"/>
                                        </p:tgtEl>
                                        <p:attrNameLst>
                                          <p:attrName>style.visibility</p:attrName>
                                        </p:attrNameLst>
                                      </p:cBhvr>
                                      <p:to>
                                        <p:strVal val="visible"/>
                                      </p:to>
                                    </p:set>
                                    <p:anim calcmode="lin" valueType="num">
                                      <p:cBhvr additive="base">
                                        <p:cTn id="17" dur="750" fill="hold"/>
                                        <p:tgtEl>
                                          <p:spTgt spid="44253"/>
                                        </p:tgtEl>
                                        <p:attrNameLst>
                                          <p:attrName>ppt_x</p:attrName>
                                        </p:attrNameLst>
                                      </p:cBhvr>
                                      <p:tavLst>
                                        <p:tav tm="0">
                                          <p:val>
                                            <p:strVal val="0-#ppt_w/2"/>
                                          </p:val>
                                        </p:tav>
                                        <p:tav tm="100000">
                                          <p:val>
                                            <p:strVal val="#ppt_x"/>
                                          </p:val>
                                        </p:tav>
                                      </p:tavLst>
                                    </p:anim>
                                    <p:anim calcmode="lin" valueType="num">
                                      <p:cBhvr additive="base">
                                        <p:cTn id="18" dur="750" fill="hold"/>
                                        <p:tgtEl>
                                          <p:spTgt spid="4425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250"/>
                                  </p:stCondLst>
                                  <p:childTnLst>
                                    <p:set>
                                      <p:cBhvr>
                                        <p:cTn id="22" dur="1" fill="hold">
                                          <p:stCondLst>
                                            <p:cond delay="0"/>
                                          </p:stCondLst>
                                        </p:cTn>
                                        <p:tgtEl>
                                          <p:spTgt spid="44255"/>
                                        </p:tgtEl>
                                        <p:attrNameLst>
                                          <p:attrName>style.visibility</p:attrName>
                                        </p:attrNameLst>
                                      </p:cBhvr>
                                      <p:to>
                                        <p:strVal val="visible"/>
                                      </p:to>
                                    </p:set>
                                    <p:anim calcmode="lin" valueType="num">
                                      <p:cBhvr additive="base">
                                        <p:cTn id="23" dur="750" fill="hold"/>
                                        <p:tgtEl>
                                          <p:spTgt spid="44255"/>
                                        </p:tgtEl>
                                        <p:attrNameLst>
                                          <p:attrName>ppt_x</p:attrName>
                                        </p:attrNameLst>
                                      </p:cBhvr>
                                      <p:tavLst>
                                        <p:tav tm="0">
                                          <p:val>
                                            <p:strVal val="1+#ppt_w/2"/>
                                          </p:val>
                                        </p:tav>
                                        <p:tav tm="100000">
                                          <p:val>
                                            <p:strVal val="#ppt_x"/>
                                          </p:val>
                                        </p:tav>
                                      </p:tavLst>
                                    </p:anim>
                                    <p:anim calcmode="lin" valueType="num">
                                      <p:cBhvr additive="base">
                                        <p:cTn id="24" dur="750" fill="hold"/>
                                        <p:tgtEl>
                                          <p:spTgt spid="44255"/>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2" fill="hold" nodeType="afterEffect">
                                  <p:stCondLst>
                                    <p:cond delay="250"/>
                                  </p:stCondLst>
                                  <p:childTnLst>
                                    <p:set>
                                      <p:cBhvr>
                                        <p:cTn id="27" dur="1" fill="hold">
                                          <p:stCondLst>
                                            <p:cond delay="0"/>
                                          </p:stCondLst>
                                        </p:cTn>
                                        <p:tgtEl>
                                          <p:spTgt spid="44254"/>
                                        </p:tgtEl>
                                        <p:attrNameLst>
                                          <p:attrName>style.visibility</p:attrName>
                                        </p:attrNameLst>
                                      </p:cBhvr>
                                      <p:to>
                                        <p:strVal val="visible"/>
                                      </p:to>
                                    </p:set>
                                    <p:anim calcmode="lin" valueType="num">
                                      <p:cBhvr additive="base">
                                        <p:cTn id="28" dur="750" fill="hold"/>
                                        <p:tgtEl>
                                          <p:spTgt spid="44254"/>
                                        </p:tgtEl>
                                        <p:attrNameLst>
                                          <p:attrName>ppt_x</p:attrName>
                                        </p:attrNameLst>
                                      </p:cBhvr>
                                      <p:tavLst>
                                        <p:tav tm="0">
                                          <p:val>
                                            <p:strVal val="1+#ppt_w/2"/>
                                          </p:val>
                                        </p:tav>
                                        <p:tav tm="100000">
                                          <p:val>
                                            <p:strVal val="#ppt_x"/>
                                          </p:val>
                                        </p:tav>
                                      </p:tavLst>
                                    </p:anim>
                                    <p:anim calcmode="lin" valueType="num">
                                      <p:cBhvr additive="base">
                                        <p:cTn id="29" dur="750" fill="hold"/>
                                        <p:tgtEl>
                                          <p:spTgt spid="44254"/>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2" fill="hold" nodeType="afterEffect">
                                  <p:stCondLst>
                                    <p:cond delay="250"/>
                                  </p:stCondLst>
                                  <p:childTnLst>
                                    <p:set>
                                      <p:cBhvr>
                                        <p:cTn id="32" dur="1" fill="hold">
                                          <p:stCondLst>
                                            <p:cond delay="0"/>
                                          </p:stCondLst>
                                        </p:cTn>
                                        <p:tgtEl>
                                          <p:spTgt spid="44250"/>
                                        </p:tgtEl>
                                        <p:attrNameLst>
                                          <p:attrName>style.visibility</p:attrName>
                                        </p:attrNameLst>
                                      </p:cBhvr>
                                      <p:to>
                                        <p:strVal val="visible"/>
                                      </p:to>
                                    </p:set>
                                    <p:anim calcmode="lin" valueType="num">
                                      <p:cBhvr additive="base">
                                        <p:cTn id="33" dur="750" fill="hold"/>
                                        <p:tgtEl>
                                          <p:spTgt spid="44250"/>
                                        </p:tgtEl>
                                        <p:attrNameLst>
                                          <p:attrName>ppt_x</p:attrName>
                                        </p:attrNameLst>
                                      </p:cBhvr>
                                      <p:tavLst>
                                        <p:tav tm="0">
                                          <p:val>
                                            <p:strVal val="1+#ppt_w/2"/>
                                          </p:val>
                                        </p:tav>
                                        <p:tav tm="100000">
                                          <p:val>
                                            <p:strVal val="#ppt_x"/>
                                          </p:val>
                                        </p:tav>
                                      </p:tavLst>
                                    </p:anim>
                                    <p:anim calcmode="lin" valueType="num">
                                      <p:cBhvr additive="base">
                                        <p:cTn id="34" dur="750" fill="hold"/>
                                        <p:tgtEl>
                                          <p:spTgt spid="4425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63" presetClass="path" presetSubtype="0" accel="50000" decel="50000" fill="hold" grpId="0" nodeType="clickEffect">
                                  <p:stCondLst>
                                    <p:cond delay="0"/>
                                  </p:stCondLst>
                                  <p:childTnLst>
                                    <p:animMotion origin="layout" path="M -0.00486 0.00277 L 0.04253 1.27168E-6 " pathEditMode="relative" rAng="0" ptsTypes="AA">
                                      <p:cBhvr>
                                        <p:cTn id="38" dur="2000" fill="hold"/>
                                        <p:tgtEl>
                                          <p:spTgt spid="39992"/>
                                        </p:tgtEl>
                                        <p:attrNameLst>
                                          <p:attrName>ppt_x</p:attrName>
                                          <p:attrName>ppt_y</p:attrName>
                                        </p:attrNameLst>
                                      </p:cBhvr>
                                      <p:rCtr x="2400" y="-100"/>
                                    </p:animMotion>
                                  </p:childTnLst>
                                </p:cTn>
                              </p:par>
                              <p:par>
                                <p:cTn id="39" presetID="42" presetClass="path" presetSubtype="0" accel="50000" decel="50000" fill="hold" grpId="0" nodeType="withEffect">
                                  <p:stCondLst>
                                    <p:cond delay="0"/>
                                  </p:stCondLst>
                                  <p:childTnLst>
                                    <p:animMotion origin="layout" path="M 2.77778E-7 1.84971E-6 L -0.04618 -0.00231 " pathEditMode="relative" rAng="0" ptsTypes="AA">
                                      <p:cBhvr>
                                        <p:cTn id="40" dur="2000" fill="hold"/>
                                        <p:tgtEl>
                                          <p:spTgt spid="39959"/>
                                        </p:tgtEl>
                                        <p:attrNameLst>
                                          <p:attrName>ppt_x</p:attrName>
                                          <p:attrName>ppt_y</p:attrName>
                                        </p:attrNameLst>
                                      </p:cBhvr>
                                      <p:rCtr x="-2300" y="-100"/>
                                    </p:animMotion>
                                  </p:childTnLst>
                                </p:cTn>
                              </p:par>
                            </p:childTnLst>
                          </p:cTn>
                        </p:par>
                        <p:par>
                          <p:cTn id="41" fill="hold">
                            <p:stCondLst>
                              <p:cond delay="2000"/>
                            </p:stCondLst>
                            <p:childTnLst>
                              <p:par>
                                <p:cTn id="42" presetID="10" presetClass="exit" presetSubtype="0" fill="hold" grpId="1" nodeType="afterEffect">
                                  <p:stCondLst>
                                    <p:cond delay="0"/>
                                  </p:stCondLst>
                                  <p:childTnLst>
                                    <p:animEffect transition="out" filter="fade">
                                      <p:cBhvr>
                                        <p:cTn id="43" dur="500"/>
                                        <p:tgtEl>
                                          <p:spTgt spid="39959"/>
                                        </p:tgtEl>
                                      </p:cBhvr>
                                    </p:animEffect>
                                    <p:set>
                                      <p:cBhvr>
                                        <p:cTn id="44" dur="1" fill="hold">
                                          <p:stCondLst>
                                            <p:cond delay="499"/>
                                          </p:stCondLst>
                                        </p:cTn>
                                        <p:tgtEl>
                                          <p:spTgt spid="39959"/>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39992"/>
                                        </p:tgtEl>
                                      </p:cBhvr>
                                    </p:animEffect>
                                    <p:set>
                                      <p:cBhvr>
                                        <p:cTn id="47" dur="1" fill="hold">
                                          <p:stCondLst>
                                            <p:cond delay="499"/>
                                          </p:stCondLst>
                                        </p:cTn>
                                        <p:tgtEl>
                                          <p:spTgt spid="3999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0" nodeType="clickEffect">
                                  <p:stCondLst>
                                    <p:cond delay="0"/>
                                  </p:stCondLst>
                                  <p:childTnLst>
                                    <p:animMotion origin="layout" path="M -2.77778E-7 -4.10405E-6 L -0.02587 -0.00739 " pathEditMode="relative" rAng="0" ptsTypes="AA">
                                      <p:cBhvr>
                                        <p:cTn id="51" dur="2000" fill="hold"/>
                                        <p:tgtEl>
                                          <p:spTgt spid="39963"/>
                                        </p:tgtEl>
                                        <p:attrNameLst>
                                          <p:attrName>ppt_x</p:attrName>
                                          <p:attrName>ppt_y</p:attrName>
                                        </p:attrNameLst>
                                      </p:cBhvr>
                                      <p:rCtr x="-1300" y="-400"/>
                                    </p:animMotion>
                                  </p:childTnLst>
                                </p:cTn>
                              </p:par>
                              <p:par>
                                <p:cTn id="52" presetID="42" presetClass="path" presetSubtype="0" accel="50000" decel="50000" fill="hold" grpId="0" nodeType="withEffect">
                                  <p:stCondLst>
                                    <p:cond delay="0"/>
                                  </p:stCondLst>
                                  <p:childTnLst>
                                    <p:animMotion origin="layout" path="M -0.00486 -0.00093 L 0.03541 -0.00856 " pathEditMode="relative" rAng="0" ptsTypes="AA">
                                      <p:cBhvr>
                                        <p:cTn id="53" dur="2000" fill="hold"/>
                                        <p:tgtEl>
                                          <p:spTgt spid="40137"/>
                                        </p:tgtEl>
                                        <p:attrNameLst>
                                          <p:attrName>ppt_x</p:attrName>
                                          <p:attrName>ppt_y</p:attrName>
                                        </p:attrNameLst>
                                      </p:cBhvr>
                                      <p:rCtr x="2000" y="-400"/>
                                    </p:animMotion>
                                  </p:childTnLst>
                                </p:cTn>
                              </p:par>
                            </p:childTnLst>
                          </p:cTn>
                        </p:par>
                        <p:par>
                          <p:cTn id="54" fill="hold">
                            <p:stCondLst>
                              <p:cond delay="2000"/>
                            </p:stCondLst>
                            <p:childTnLst>
                              <p:par>
                                <p:cTn id="55" presetID="10" presetClass="exit" presetSubtype="0" fill="hold" grpId="1" nodeType="afterEffect">
                                  <p:stCondLst>
                                    <p:cond delay="0"/>
                                  </p:stCondLst>
                                  <p:childTnLst>
                                    <p:animEffect transition="out" filter="fade">
                                      <p:cBhvr>
                                        <p:cTn id="56" dur="500"/>
                                        <p:tgtEl>
                                          <p:spTgt spid="39963"/>
                                        </p:tgtEl>
                                      </p:cBhvr>
                                    </p:animEffect>
                                    <p:set>
                                      <p:cBhvr>
                                        <p:cTn id="57" dur="1" fill="hold">
                                          <p:stCondLst>
                                            <p:cond delay="499"/>
                                          </p:stCondLst>
                                        </p:cTn>
                                        <p:tgtEl>
                                          <p:spTgt spid="39963"/>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40137"/>
                                        </p:tgtEl>
                                      </p:cBhvr>
                                    </p:animEffect>
                                    <p:set>
                                      <p:cBhvr>
                                        <p:cTn id="60" dur="1" fill="hold">
                                          <p:stCondLst>
                                            <p:cond delay="499"/>
                                          </p:stCondLst>
                                        </p:cTn>
                                        <p:tgtEl>
                                          <p:spTgt spid="4013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42" presetClass="path" presetSubtype="0" accel="50000" decel="50000" fill="hold" grpId="0" nodeType="clickEffect">
                                  <p:stCondLst>
                                    <p:cond delay="0"/>
                                  </p:stCondLst>
                                  <p:childTnLst>
                                    <p:animMotion origin="layout" path="M -0.00069 -7.51445E-7 L -0.04566 -0.02081 " pathEditMode="relative" rAng="0" ptsTypes="AA">
                                      <p:cBhvr>
                                        <p:cTn id="64" dur="2000" fill="hold"/>
                                        <p:tgtEl>
                                          <p:spTgt spid="39967"/>
                                        </p:tgtEl>
                                        <p:attrNameLst>
                                          <p:attrName>ppt_x</p:attrName>
                                          <p:attrName>ppt_y</p:attrName>
                                        </p:attrNameLst>
                                      </p:cBhvr>
                                      <p:rCtr x="-2300" y="-1000"/>
                                    </p:animMotion>
                                  </p:childTnLst>
                                </p:cTn>
                              </p:par>
                              <p:par>
                                <p:cTn id="65" presetID="42" presetClass="path" presetSubtype="0" accel="50000" decel="50000" fill="hold" grpId="0" nodeType="withEffect">
                                  <p:stCondLst>
                                    <p:cond delay="0"/>
                                  </p:stCondLst>
                                  <p:childTnLst>
                                    <p:animMotion origin="layout" path="M -0.00191 0.00393 L 0.03055 -0.01179 " pathEditMode="relative" rAng="0" ptsTypes="AA">
                                      <p:cBhvr>
                                        <p:cTn id="66" dur="2000" fill="hold"/>
                                        <p:tgtEl>
                                          <p:spTgt spid="39998"/>
                                        </p:tgtEl>
                                        <p:attrNameLst>
                                          <p:attrName>ppt_x</p:attrName>
                                          <p:attrName>ppt_y</p:attrName>
                                        </p:attrNameLst>
                                      </p:cBhvr>
                                      <p:rCtr x="1600" y="-800"/>
                                    </p:animMotion>
                                  </p:childTnLst>
                                </p:cTn>
                              </p:par>
                            </p:childTnLst>
                          </p:cTn>
                        </p:par>
                        <p:par>
                          <p:cTn id="67" fill="hold">
                            <p:stCondLst>
                              <p:cond delay="2000"/>
                            </p:stCondLst>
                            <p:childTnLst>
                              <p:par>
                                <p:cTn id="68" presetID="10" presetClass="exit" presetSubtype="0" fill="hold" grpId="1" nodeType="afterEffect">
                                  <p:stCondLst>
                                    <p:cond delay="0"/>
                                  </p:stCondLst>
                                  <p:childTnLst>
                                    <p:animEffect transition="out" filter="fade">
                                      <p:cBhvr>
                                        <p:cTn id="69" dur="500"/>
                                        <p:tgtEl>
                                          <p:spTgt spid="39967"/>
                                        </p:tgtEl>
                                      </p:cBhvr>
                                    </p:animEffect>
                                    <p:set>
                                      <p:cBhvr>
                                        <p:cTn id="70" dur="1" fill="hold">
                                          <p:stCondLst>
                                            <p:cond delay="499"/>
                                          </p:stCondLst>
                                        </p:cTn>
                                        <p:tgtEl>
                                          <p:spTgt spid="39967"/>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39998"/>
                                        </p:tgtEl>
                                      </p:cBhvr>
                                    </p:animEffect>
                                    <p:set>
                                      <p:cBhvr>
                                        <p:cTn id="73" dur="1" fill="hold">
                                          <p:stCondLst>
                                            <p:cond delay="499"/>
                                          </p:stCondLst>
                                        </p:cTn>
                                        <p:tgtEl>
                                          <p:spTgt spid="39998"/>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grpId="0" nodeType="clickEffect">
                                  <p:stCondLst>
                                    <p:cond delay="0"/>
                                  </p:stCondLst>
                                  <p:childTnLst>
                                    <p:animMotion origin="layout" path="M 3.61111E-6 0.0037 L 0.09166 0.03376 " pathEditMode="relative" rAng="0" ptsTypes="AA">
                                      <p:cBhvr>
                                        <p:cTn id="77" dur="2000" fill="hold"/>
                                        <p:tgtEl>
                                          <p:spTgt spid="39984"/>
                                        </p:tgtEl>
                                        <p:attrNameLst>
                                          <p:attrName>ppt_x</p:attrName>
                                          <p:attrName>ppt_y</p:attrName>
                                        </p:attrNameLst>
                                      </p:cBhvr>
                                      <p:rCtr x="4600" y="1500"/>
                                    </p:animMotion>
                                  </p:childTnLst>
                                </p:cTn>
                              </p:par>
                              <p:par>
                                <p:cTn id="78" presetID="42" presetClass="path" presetSubtype="0" accel="50000" decel="50000" fill="hold" grpId="0" nodeType="withEffect">
                                  <p:stCondLst>
                                    <p:cond delay="0"/>
                                  </p:stCondLst>
                                  <p:childTnLst>
                                    <p:animMotion origin="layout" path="M 2.22222E-6 -0.00046 L -0.11129 0.03838 " pathEditMode="relative" rAng="0" ptsTypes="AA">
                                      <p:cBhvr>
                                        <p:cTn id="79" dur="2000" fill="hold"/>
                                        <p:tgtEl>
                                          <p:spTgt spid="39969"/>
                                        </p:tgtEl>
                                        <p:attrNameLst>
                                          <p:attrName>ppt_x</p:attrName>
                                          <p:attrName>ppt_y</p:attrName>
                                        </p:attrNameLst>
                                      </p:cBhvr>
                                      <p:rCtr x="-5600" y="1900"/>
                                    </p:animMotion>
                                  </p:childTnLst>
                                </p:cTn>
                              </p:par>
                            </p:childTnLst>
                          </p:cTn>
                        </p:par>
                        <p:par>
                          <p:cTn id="80" fill="hold">
                            <p:stCondLst>
                              <p:cond delay="2000"/>
                            </p:stCondLst>
                            <p:childTnLst>
                              <p:par>
                                <p:cTn id="81" presetID="10" presetClass="exit" presetSubtype="0" fill="hold" grpId="1" nodeType="afterEffect">
                                  <p:stCondLst>
                                    <p:cond delay="0"/>
                                  </p:stCondLst>
                                  <p:childTnLst>
                                    <p:animEffect transition="out" filter="fade">
                                      <p:cBhvr>
                                        <p:cTn id="82" dur="500"/>
                                        <p:tgtEl>
                                          <p:spTgt spid="39984"/>
                                        </p:tgtEl>
                                      </p:cBhvr>
                                    </p:animEffect>
                                    <p:set>
                                      <p:cBhvr>
                                        <p:cTn id="83" dur="1" fill="hold">
                                          <p:stCondLst>
                                            <p:cond delay="499"/>
                                          </p:stCondLst>
                                        </p:cTn>
                                        <p:tgtEl>
                                          <p:spTgt spid="39984"/>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500"/>
                                        <p:tgtEl>
                                          <p:spTgt spid="39969"/>
                                        </p:tgtEl>
                                      </p:cBhvr>
                                    </p:animEffect>
                                    <p:set>
                                      <p:cBhvr>
                                        <p:cTn id="86" dur="1" fill="hold">
                                          <p:stCondLst>
                                            <p:cond delay="499"/>
                                          </p:stCondLst>
                                        </p:cTn>
                                        <p:tgtEl>
                                          <p:spTgt spid="3996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42" presetClass="path" presetSubtype="0" accel="50000" decel="50000" fill="hold" grpId="0" nodeType="clickEffect">
                                  <p:stCondLst>
                                    <p:cond delay="0"/>
                                  </p:stCondLst>
                                  <p:childTnLst>
                                    <p:animMotion origin="layout" path="M -0.0026 3.17919E-6 L -0.06927 -0.01272 " pathEditMode="relative" rAng="0" ptsTypes="AA">
                                      <p:cBhvr>
                                        <p:cTn id="90" dur="2000" fill="hold"/>
                                        <p:tgtEl>
                                          <p:spTgt spid="39961"/>
                                        </p:tgtEl>
                                        <p:attrNameLst>
                                          <p:attrName>ppt_x</p:attrName>
                                          <p:attrName>ppt_y</p:attrName>
                                        </p:attrNameLst>
                                      </p:cBhvr>
                                      <p:rCtr x="-3300" y="-600"/>
                                    </p:animMotion>
                                  </p:childTnLst>
                                </p:cTn>
                              </p:par>
                              <p:par>
                                <p:cTn id="91" presetID="42" presetClass="path" presetSubtype="0" accel="50000" decel="50000" fill="hold" grpId="0" nodeType="withEffect">
                                  <p:stCondLst>
                                    <p:cond delay="0"/>
                                  </p:stCondLst>
                                  <p:childTnLst>
                                    <p:animMotion origin="layout" path="M 0.00174 5.78035E-8 L 0.0724 0.00879 " pathEditMode="relative" rAng="0" ptsTypes="AA">
                                      <p:cBhvr>
                                        <p:cTn id="92" dur="2000" fill="hold"/>
                                        <p:tgtEl>
                                          <p:spTgt spid="39994"/>
                                        </p:tgtEl>
                                        <p:attrNameLst>
                                          <p:attrName>ppt_x</p:attrName>
                                          <p:attrName>ppt_y</p:attrName>
                                        </p:attrNameLst>
                                      </p:cBhvr>
                                      <p:rCtr x="3500" y="400"/>
                                    </p:animMotion>
                                  </p:childTnLst>
                                </p:cTn>
                              </p:par>
                            </p:childTnLst>
                          </p:cTn>
                        </p:par>
                        <p:par>
                          <p:cTn id="93" fill="hold">
                            <p:stCondLst>
                              <p:cond delay="2000"/>
                            </p:stCondLst>
                            <p:childTnLst>
                              <p:par>
                                <p:cTn id="94" presetID="10" presetClass="exit" presetSubtype="0" fill="hold" grpId="1" nodeType="afterEffect">
                                  <p:stCondLst>
                                    <p:cond delay="0"/>
                                  </p:stCondLst>
                                  <p:childTnLst>
                                    <p:animEffect transition="out" filter="fade">
                                      <p:cBhvr>
                                        <p:cTn id="95" dur="500"/>
                                        <p:tgtEl>
                                          <p:spTgt spid="39961"/>
                                        </p:tgtEl>
                                      </p:cBhvr>
                                    </p:animEffect>
                                    <p:set>
                                      <p:cBhvr>
                                        <p:cTn id="96" dur="1" fill="hold">
                                          <p:stCondLst>
                                            <p:cond delay="499"/>
                                          </p:stCondLst>
                                        </p:cTn>
                                        <p:tgtEl>
                                          <p:spTgt spid="39961"/>
                                        </p:tgtEl>
                                        <p:attrNameLst>
                                          <p:attrName>style.visibility</p:attrName>
                                        </p:attrNameLst>
                                      </p:cBhvr>
                                      <p:to>
                                        <p:strVal val="hidden"/>
                                      </p:to>
                                    </p:set>
                                  </p:childTnLst>
                                </p:cTn>
                              </p:par>
                              <p:par>
                                <p:cTn id="97" presetID="10" presetClass="exit" presetSubtype="0" fill="hold" grpId="1" nodeType="withEffect">
                                  <p:stCondLst>
                                    <p:cond delay="0"/>
                                  </p:stCondLst>
                                  <p:childTnLst>
                                    <p:animEffect transition="out" filter="fade">
                                      <p:cBhvr>
                                        <p:cTn id="98" dur="500"/>
                                        <p:tgtEl>
                                          <p:spTgt spid="39994"/>
                                        </p:tgtEl>
                                      </p:cBhvr>
                                    </p:animEffect>
                                    <p:set>
                                      <p:cBhvr>
                                        <p:cTn id="99" dur="1" fill="hold">
                                          <p:stCondLst>
                                            <p:cond delay="499"/>
                                          </p:stCondLst>
                                        </p:cTn>
                                        <p:tgtEl>
                                          <p:spTgt spid="39994"/>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42" presetClass="path" presetSubtype="0" accel="50000" decel="50000" fill="hold" grpId="0" nodeType="clickEffect">
                                  <p:stCondLst>
                                    <p:cond delay="0"/>
                                  </p:stCondLst>
                                  <p:childTnLst>
                                    <p:animMotion origin="layout" path="M -0.00053 -0.0007 L -0.07969 0.03121 " pathEditMode="relative" rAng="0" ptsTypes="AA">
                                      <p:cBhvr>
                                        <p:cTn id="103" dur="2000" fill="hold"/>
                                        <p:tgtEl>
                                          <p:spTgt spid="39973"/>
                                        </p:tgtEl>
                                        <p:attrNameLst>
                                          <p:attrName>ppt_x</p:attrName>
                                          <p:attrName>ppt_y</p:attrName>
                                        </p:attrNameLst>
                                      </p:cBhvr>
                                      <p:rCtr x="-4000" y="1600"/>
                                    </p:animMotion>
                                  </p:childTnLst>
                                </p:cTn>
                              </p:par>
                              <p:par>
                                <p:cTn id="104" presetID="42" presetClass="path" presetSubtype="0" accel="50000" decel="50000" fill="hold" grpId="0" nodeType="withEffect">
                                  <p:stCondLst>
                                    <p:cond delay="0"/>
                                  </p:stCondLst>
                                  <p:childTnLst>
                                    <p:animMotion origin="layout" path="M 0.00486 0.00208 L 0.10503 0.04347 " pathEditMode="relative" rAng="0" ptsTypes="AA">
                                      <p:cBhvr>
                                        <p:cTn id="105" dur="2000" fill="hold"/>
                                        <p:tgtEl>
                                          <p:spTgt spid="39988"/>
                                        </p:tgtEl>
                                        <p:attrNameLst>
                                          <p:attrName>ppt_x</p:attrName>
                                          <p:attrName>ppt_y</p:attrName>
                                        </p:attrNameLst>
                                      </p:cBhvr>
                                      <p:rCtr x="5000" y="2100"/>
                                    </p:animMotion>
                                  </p:childTnLst>
                                </p:cTn>
                              </p:par>
                            </p:childTnLst>
                          </p:cTn>
                        </p:par>
                        <p:par>
                          <p:cTn id="106" fill="hold">
                            <p:stCondLst>
                              <p:cond delay="2000"/>
                            </p:stCondLst>
                            <p:childTnLst>
                              <p:par>
                                <p:cTn id="107" presetID="10" presetClass="exit" presetSubtype="0" fill="hold" grpId="1" nodeType="afterEffect">
                                  <p:stCondLst>
                                    <p:cond delay="0"/>
                                  </p:stCondLst>
                                  <p:childTnLst>
                                    <p:animEffect transition="out" filter="fade">
                                      <p:cBhvr>
                                        <p:cTn id="108" dur="500"/>
                                        <p:tgtEl>
                                          <p:spTgt spid="39973"/>
                                        </p:tgtEl>
                                      </p:cBhvr>
                                    </p:animEffect>
                                    <p:set>
                                      <p:cBhvr>
                                        <p:cTn id="109" dur="1" fill="hold">
                                          <p:stCondLst>
                                            <p:cond delay="499"/>
                                          </p:stCondLst>
                                        </p:cTn>
                                        <p:tgtEl>
                                          <p:spTgt spid="39973"/>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500"/>
                                        <p:tgtEl>
                                          <p:spTgt spid="39988"/>
                                        </p:tgtEl>
                                      </p:cBhvr>
                                    </p:animEffect>
                                    <p:set>
                                      <p:cBhvr>
                                        <p:cTn id="112" dur="1" fill="hold">
                                          <p:stCondLst>
                                            <p:cond delay="499"/>
                                          </p:stCondLst>
                                        </p:cTn>
                                        <p:tgtEl>
                                          <p:spTgt spid="39988"/>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42" presetClass="path" presetSubtype="0" accel="50000" decel="50000" fill="hold" grpId="0" nodeType="clickEffect">
                                  <p:stCondLst>
                                    <p:cond delay="0"/>
                                  </p:stCondLst>
                                  <p:childTnLst>
                                    <p:animMotion origin="layout" path="M -0.00191 3.75723E-6 L -0.07899 -0.01989 " pathEditMode="relative" rAng="0" ptsTypes="AA">
                                      <p:cBhvr>
                                        <p:cTn id="116" dur="2000" fill="hold"/>
                                        <p:tgtEl>
                                          <p:spTgt spid="39975"/>
                                        </p:tgtEl>
                                        <p:attrNameLst>
                                          <p:attrName>ppt_x</p:attrName>
                                          <p:attrName>ppt_y</p:attrName>
                                        </p:attrNameLst>
                                      </p:cBhvr>
                                      <p:rCtr x="-3900" y="-1000"/>
                                    </p:animMotion>
                                  </p:childTnLst>
                                </p:cTn>
                              </p:par>
                              <p:par>
                                <p:cTn id="117" presetID="42" presetClass="path" presetSubtype="0" accel="50000" decel="50000" fill="hold" grpId="0" nodeType="withEffect">
                                  <p:stCondLst>
                                    <p:cond delay="0"/>
                                  </p:stCondLst>
                                  <p:childTnLst>
                                    <p:animMotion origin="layout" path="M -1.11111E-6 -2.89017E-6 L 0.08663 -0.01595 " pathEditMode="relative" rAng="0" ptsTypes="AA">
                                      <p:cBhvr>
                                        <p:cTn id="118" dur="2000" fill="hold"/>
                                        <p:tgtEl>
                                          <p:spTgt spid="40161"/>
                                        </p:tgtEl>
                                        <p:attrNameLst>
                                          <p:attrName>ppt_x</p:attrName>
                                          <p:attrName>ppt_y</p:attrName>
                                        </p:attrNameLst>
                                      </p:cBhvr>
                                      <p:rCtr x="4300" y="-800"/>
                                    </p:animMotion>
                                  </p:childTnLst>
                                </p:cTn>
                              </p:par>
                            </p:childTnLst>
                          </p:cTn>
                        </p:par>
                        <p:par>
                          <p:cTn id="119" fill="hold">
                            <p:stCondLst>
                              <p:cond delay="2000"/>
                            </p:stCondLst>
                            <p:childTnLst>
                              <p:par>
                                <p:cTn id="120" presetID="10" presetClass="exit" presetSubtype="0" fill="hold" grpId="1" nodeType="afterEffect">
                                  <p:stCondLst>
                                    <p:cond delay="0"/>
                                  </p:stCondLst>
                                  <p:childTnLst>
                                    <p:animEffect transition="out" filter="fade">
                                      <p:cBhvr>
                                        <p:cTn id="121" dur="500"/>
                                        <p:tgtEl>
                                          <p:spTgt spid="39975"/>
                                        </p:tgtEl>
                                      </p:cBhvr>
                                    </p:animEffect>
                                    <p:set>
                                      <p:cBhvr>
                                        <p:cTn id="122" dur="1" fill="hold">
                                          <p:stCondLst>
                                            <p:cond delay="499"/>
                                          </p:stCondLst>
                                        </p:cTn>
                                        <p:tgtEl>
                                          <p:spTgt spid="39975"/>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40161"/>
                                        </p:tgtEl>
                                      </p:cBhvr>
                                    </p:animEffect>
                                    <p:set>
                                      <p:cBhvr>
                                        <p:cTn id="125" dur="1" fill="hold">
                                          <p:stCondLst>
                                            <p:cond delay="499"/>
                                          </p:stCondLst>
                                        </p:cTn>
                                        <p:tgtEl>
                                          <p:spTgt spid="40161"/>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4" presetClass="entr" presetSubtype="16" fill="hold" grpId="0" nodeType="clickEffect">
                                  <p:stCondLst>
                                    <p:cond delay="0"/>
                                  </p:stCondLst>
                                  <p:childTnLst>
                                    <p:set>
                                      <p:cBhvr>
                                        <p:cTn id="129" dur="1" fill="hold">
                                          <p:stCondLst>
                                            <p:cond delay="0"/>
                                          </p:stCondLst>
                                        </p:cTn>
                                        <p:tgtEl>
                                          <p:spTgt spid="194"/>
                                        </p:tgtEl>
                                        <p:attrNameLst>
                                          <p:attrName>style.visibility</p:attrName>
                                        </p:attrNameLst>
                                      </p:cBhvr>
                                      <p:to>
                                        <p:strVal val="visible"/>
                                      </p:to>
                                    </p:set>
                                    <p:animEffect transition="in" filter="box(in)">
                                      <p:cBhvr>
                                        <p:cTn id="130" dur="500"/>
                                        <p:tgtEl>
                                          <p:spTgt spid="194"/>
                                        </p:tgtEl>
                                      </p:cBhvr>
                                    </p:animEffect>
                                  </p:childTnLst>
                                </p:cTn>
                              </p:par>
                            </p:childTnLst>
                          </p:cTn>
                        </p:par>
                      </p:childTnLst>
                    </p:cTn>
                  </p:par>
                  <p:par>
                    <p:cTn id="131" fill="hold">
                      <p:stCondLst>
                        <p:cond delay="indefinite"/>
                      </p:stCondLst>
                      <p:childTnLst>
                        <p:par>
                          <p:cTn id="132" fill="hold">
                            <p:stCondLst>
                              <p:cond delay="0"/>
                            </p:stCondLst>
                            <p:childTnLst>
                              <p:par>
                                <p:cTn id="133" presetID="4" presetClass="entr" presetSubtype="16" fill="hold" nodeType="clickEffect">
                                  <p:stCondLst>
                                    <p:cond delay="0"/>
                                  </p:stCondLst>
                                  <p:childTnLst>
                                    <p:set>
                                      <p:cBhvr>
                                        <p:cTn id="134" dur="1" fill="hold">
                                          <p:stCondLst>
                                            <p:cond delay="0"/>
                                          </p:stCondLst>
                                        </p:cTn>
                                        <p:tgtEl>
                                          <p:spTgt spid="196"/>
                                        </p:tgtEl>
                                        <p:attrNameLst>
                                          <p:attrName>style.visibility</p:attrName>
                                        </p:attrNameLst>
                                      </p:cBhvr>
                                      <p:to>
                                        <p:strVal val="visible"/>
                                      </p:to>
                                    </p:set>
                                    <p:animEffect transition="in" filter="box(in)">
                                      <p:cBhvr>
                                        <p:cTn id="135" dur="500"/>
                                        <p:tgtEl>
                                          <p:spTgt spid="196"/>
                                        </p:tgtEl>
                                      </p:cBhvr>
                                    </p:animEffect>
                                  </p:childTnLst>
                                </p:cTn>
                              </p:par>
                            </p:childTnLst>
                          </p:cTn>
                        </p:par>
                      </p:childTnLst>
                    </p:cTn>
                  </p:par>
                  <p:par>
                    <p:cTn id="136" fill="hold">
                      <p:stCondLst>
                        <p:cond delay="indefinite"/>
                      </p:stCondLst>
                      <p:childTnLst>
                        <p:par>
                          <p:cTn id="137" fill="hold">
                            <p:stCondLst>
                              <p:cond delay="0"/>
                            </p:stCondLst>
                            <p:childTnLst>
                              <p:par>
                                <p:cTn id="138" presetID="4" presetClass="entr" presetSubtype="16" fill="hold" grpId="0" nodeType="clickEffect">
                                  <p:stCondLst>
                                    <p:cond delay="0"/>
                                  </p:stCondLst>
                                  <p:childTnLst>
                                    <p:set>
                                      <p:cBhvr>
                                        <p:cTn id="139" dur="1" fill="hold">
                                          <p:stCondLst>
                                            <p:cond delay="0"/>
                                          </p:stCondLst>
                                        </p:cTn>
                                        <p:tgtEl>
                                          <p:spTgt spid="199"/>
                                        </p:tgtEl>
                                        <p:attrNameLst>
                                          <p:attrName>style.visibility</p:attrName>
                                        </p:attrNameLst>
                                      </p:cBhvr>
                                      <p:to>
                                        <p:strVal val="visible"/>
                                      </p:to>
                                    </p:set>
                                    <p:animEffect transition="in" filter="box(in)">
                                      <p:cBhvr>
                                        <p:cTn id="140" dur="500"/>
                                        <p:tgtEl>
                                          <p:spTgt spid="199"/>
                                        </p:tgtEl>
                                      </p:cBhvr>
                                    </p:animEffect>
                                  </p:childTnLst>
                                </p:cTn>
                              </p:par>
                            </p:childTnLst>
                          </p:cTn>
                        </p:par>
                      </p:childTnLst>
                    </p:cTn>
                  </p:par>
                  <p:par>
                    <p:cTn id="141" fill="hold">
                      <p:stCondLst>
                        <p:cond delay="indefinite"/>
                      </p:stCondLst>
                      <p:childTnLst>
                        <p:par>
                          <p:cTn id="142" fill="hold">
                            <p:stCondLst>
                              <p:cond delay="0"/>
                            </p:stCondLst>
                            <p:childTnLst>
                              <p:par>
                                <p:cTn id="143" presetID="4" presetClass="entr" presetSubtype="16" fill="hold" nodeType="clickEffect">
                                  <p:stCondLst>
                                    <p:cond delay="0"/>
                                  </p:stCondLst>
                                  <p:childTnLst>
                                    <p:set>
                                      <p:cBhvr>
                                        <p:cTn id="144" dur="1" fill="hold">
                                          <p:stCondLst>
                                            <p:cond delay="0"/>
                                          </p:stCondLst>
                                        </p:cTn>
                                        <p:tgtEl>
                                          <p:spTgt spid="193"/>
                                        </p:tgtEl>
                                        <p:attrNameLst>
                                          <p:attrName>style.visibility</p:attrName>
                                        </p:attrNameLst>
                                      </p:cBhvr>
                                      <p:to>
                                        <p:strVal val="visible"/>
                                      </p:to>
                                    </p:set>
                                    <p:animEffect transition="in" filter="box(in)">
                                      <p:cBhvr>
                                        <p:cTn id="145" dur="500"/>
                                        <p:tgtEl>
                                          <p:spTgt spid="193"/>
                                        </p:tgtEl>
                                      </p:cBhvr>
                                    </p:animEffect>
                                  </p:childTnLst>
                                </p:cTn>
                              </p:par>
                            </p:childTnLst>
                          </p:cTn>
                        </p:par>
                      </p:childTnLst>
                    </p:cTn>
                  </p:par>
                  <p:par>
                    <p:cTn id="146" fill="hold">
                      <p:stCondLst>
                        <p:cond delay="indefinite"/>
                      </p:stCondLst>
                      <p:childTnLst>
                        <p:par>
                          <p:cTn id="147" fill="hold">
                            <p:stCondLst>
                              <p:cond delay="0"/>
                            </p:stCondLst>
                            <p:childTnLst>
                              <p:par>
                                <p:cTn id="148" presetID="4" presetClass="entr" presetSubtype="16" fill="hold" grpId="0" nodeType="clickEffect">
                                  <p:stCondLst>
                                    <p:cond delay="0"/>
                                  </p:stCondLst>
                                  <p:childTnLst>
                                    <p:set>
                                      <p:cBhvr>
                                        <p:cTn id="149" dur="1" fill="hold">
                                          <p:stCondLst>
                                            <p:cond delay="0"/>
                                          </p:stCondLst>
                                        </p:cTn>
                                        <p:tgtEl>
                                          <p:spTgt spid="208"/>
                                        </p:tgtEl>
                                        <p:attrNameLst>
                                          <p:attrName>style.visibility</p:attrName>
                                        </p:attrNameLst>
                                      </p:cBhvr>
                                      <p:to>
                                        <p:strVal val="visible"/>
                                      </p:to>
                                    </p:set>
                                    <p:animEffect transition="in" filter="box(in)">
                                      <p:cBhvr>
                                        <p:cTn id="150" dur="500"/>
                                        <p:tgtEl>
                                          <p:spTgt spid="208"/>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500"/>
                                  </p:stCondLst>
                                  <p:childTnLst>
                                    <p:set>
                                      <p:cBhvr>
                                        <p:cTn id="154" dur="1" fill="hold">
                                          <p:stCondLst>
                                            <p:cond delay="0"/>
                                          </p:stCondLst>
                                        </p:cTn>
                                        <p:tgtEl>
                                          <p:spTgt spid="192"/>
                                        </p:tgtEl>
                                        <p:attrNameLst>
                                          <p:attrName>style.visibility</p:attrName>
                                        </p:attrNameLst>
                                      </p:cBhvr>
                                      <p:to>
                                        <p:strVal val="visible"/>
                                      </p:to>
                                    </p:set>
                                    <p:animEffect transition="in" filter="fade">
                                      <p:cBhvr>
                                        <p:cTn id="155" dur="1000"/>
                                        <p:tgtEl>
                                          <p:spTgt spid="192"/>
                                        </p:tgtEl>
                                      </p:cBhvr>
                                    </p:animEffect>
                                  </p:childTnLst>
                                </p:cTn>
                              </p:par>
                            </p:childTnLst>
                          </p:cTn>
                        </p:par>
                        <p:par>
                          <p:cTn id="156" fill="hold">
                            <p:stCondLst>
                              <p:cond delay="1500"/>
                            </p:stCondLst>
                            <p:childTnLst>
                              <p:par>
                                <p:cTn id="157" presetID="22" presetClass="entr" presetSubtype="2" fill="hold" grpId="0" nodeType="afterEffect">
                                  <p:stCondLst>
                                    <p:cond delay="0"/>
                                  </p:stCondLst>
                                  <p:childTnLst>
                                    <p:set>
                                      <p:cBhvr>
                                        <p:cTn id="158" dur="1" fill="hold">
                                          <p:stCondLst>
                                            <p:cond delay="0"/>
                                          </p:stCondLst>
                                        </p:cTn>
                                        <p:tgtEl>
                                          <p:spTgt spid="2"/>
                                        </p:tgtEl>
                                        <p:attrNameLst>
                                          <p:attrName>style.visibility</p:attrName>
                                        </p:attrNameLst>
                                      </p:cBhvr>
                                      <p:to>
                                        <p:strVal val="visible"/>
                                      </p:to>
                                    </p:set>
                                    <p:animEffect transition="in" filter="wipe(right)">
                                      <p:cBhvr>
                                        <p:cTn id="159" dur="750"/>
                                        <p:tgtEl>
                                          <p:spTgt spid="2"/>
                                        </p:tgtEl>
                                      </p:cBhvr>
                                    </p:animEffect>
                                  </p:childTnLst>
                                </p:cTn>
                              </p:par>
                            </p:childTnLst>
                          </p:cTn>
                        </p:par>
                      </p:childTnLst>
                    </p:cTn>
                  </p:par>
                  <p:par>
                    <p:cTn id="160" fill="hold">
                      <p:stCondLst>
                        <p:cond delay="indefinite"/>
                      </p:stCondLst>
                      <p:childTnLst>
                        <p:par>
                          <p:cTn id="161" fill="hold">
                            <p:stCondLst>
                              <p:cond delay="0"/>
                            </p:stCondLst>
                            <p:childTnLst>
                              <p:par>
                                <p:cTn id="162" presetID="4" presetClass="entr" presetSubtype="16" fill="hold" grpId="0" nodeType="clickEffect">
                                  <p:stCondLst>
                                    <p:cond delay="0"/>
                                  </p:stCondLst>
                                  <p:childTnLst>
                                    <p:set>
                                      <p:cBhvr>
                                        <p:cTn id="163" dur="1" fill="hold">
                                          <p:stCondLst>
                                            <p:cond delay="0"/>
                                          </p:stCondLst>
                                        </p:cTn>
                                        <p:tgtEl>
                                          <p:spTgt spid="201"/>
                                        </p:tgtEl>
                                        <p:attrNameLst>
                                          <p:attrName>style.visibility</p:attrName>
                                        </p:attrNameLst>
                                      </p:cBhvr>
                                      <p:to>
                                        <p:strVal val="visible"/>
                                      </p:to>
                                    </p:set>
                                    <p:animEffect transition="in" filter="box(in)">
                                      <p:cBhvr>
                                        <p:cTn id="164" dur="500"/>
                                        <p:tgtEl>
                                          <p:spTgt spid="201"/>
                                        </p:tgtEl>
                                      </p:cBhvr>
                                    </p:animEffect>
                                  </p:childTnLst>
                                </p:cTn>
                              </p:par>
                              <p:par>
                                <p:cTn id="165" presetID="4" presetClass="entr" presetSubtype="16" fill="hold" nodeType="withEffect">
                                  <p:stCondLst>
                                    <p:cond delay="0"/>
                                  </p:stCondLst>
                                  <p:childTnLst>
                                    <p:set>
                                      <p:cBhvr>
                                        <p:cTn id="166" dur="1" fill="hold">
                                          <p:stCondLst>
                                            <p:cond delay="0"/>
                                          </p:stCondLst>
                                        </p:cTn>
                                        <p:tgtEl>
                                          <p:spTgt spid="202"/>
                                        </p:tgtEl>
                                        <p:attrNameLst>
                                          <p:attrName>style.visibility</p:attrName>
                                        </p:attrNameLst>
                                      </p:cBhvr>
                                      <p:to>
                                        <p:strVal val="visible"/>
                                      </p:to>
                                    </p:set>
                                    <p:animEffect transition="in" filter="box(in)">
                                      <p:cBhvr>
                                        <p:cTn id="167" dur="500"/>
                                        <p:tgtEl>
                                          <p:spTgt spid="202"/>
                                        </p:tgtEl>
                                      </p:cBhvr>
                                    </p:animEffect>
                                  </p:childTnLst>
                                </p:cTn>
                              </p:par>
                            </p:childTnLst>
                          </p:cTn>
                        </p:par>
                      </p:childTnLst>
                    </p:cTn>
                  </p:par>
                  <p:par>
                    <p:cTn id="168" fill="hold">
                      <p:stCondLst>
                        <p:cond delay="indefinite"/>
                      </p:stCondLst>
                      <p:childTnLst>
                        <p:par>
                          <p:cTn id="169" fill="hold">
                            <p:stCondLst>
                              <p:cond delay="0"/>
                            </p:stCondLst>
                            <p:childTnLst>
                              <p:par>
                                <p:cTn id="170" presetID="4" presetClass="entr" presetSubtype="16" fill="hold" grpId="0" nodeType="clickEffect">
                                  <p:stCondLst>
                                    <p:cond delay="0"/>
                                  </p:stCondLst>
                                  <p:childTnLst>
                                    <p:set>
                                      <p:cBhvr>
                                        <p:cTn id="171" dur="1" fill="hold">
                                          <p:stCondLst>
                                            <p:cond delay="0"/>
                                          </p:stCondLst>
                                        </p:cTn>
                                        <p:tgtEl>
                                          <p:spTgt spid="203"/>
                                        </p:tgtEl>
                                        <p:attrNameLst>
                                          <p:attrName>style.visibility</p:attrName>
                                        </p:attrNameLst>
                                      </p:cBhvr>
                                      <p:to>
                                        <p:strVal val="visible"/>
                                      </p:to>
                                    </p:set>
                                    <p:animEffect transition="in" filter="box(in)">
                                      <p:cBhvr>
                                        <p:cTn id="172" dur="500"/>
                                        <p:tgtEl>
                                          <p:spTgt spid="203"/>
                                        </p:tgtEl>
                                      </p:cBhvr>
                                    </p:animEffect>
                                  </p:childTnLst>
                                </p:cTn>
                              </p:par>
                              <p:par>
                                <p:cTn id="173" presetID="4" presetClass="entr" presetSubtype="16" fill="hold" nodeType="withEffect">
                                  <p:stCondLst>
                                    <p:cond delay="0"/>
                                  </p:stCondLst>
                                  <p:childTnLst>
                                    <p:set>
                                      <p:cBhvr>
                                        <p:cTn id="174" dur="1" fill="hold">
                                          <p:stCondLst>
                                            <p:cond delay="0"/>
                                          </p:stCondLst>
                                        </p:cTn>
                                        <p:tgtEl>
                                          <p:spTgt spid="200"/>
                                        </p:tgtEl>
                                        <p:attrNameLst>
                                          <p:attrName>style.visibility</p:attrName>
                                        </p:attrNameLst>
                                      </p:cBhvr>
                                      <p:to>
                                        <p:strVal val="visible"/>
                                      </p:to>
                                    </p:set>
                                    <p:animEffect transition="in" filter="box(in)">
                                      <p:cBhvr>
                                        <p:cTn id="175" dur="500"/>
                                        <p:tgtEl>
                                          <p:spTgt spid="200"/>
                                        </p:tgtEl>
                                      </p:cBhvr>
                                    </p:animEffect>
                                  </p:childTnLst>
                                </p:cTn>
                              </p:par>
                            </p:childTnLst>
                          </p:cTn>
                        </p:par>
                      </p:childTnLst>
                    </p:cTn>
                  </p:par>
                  <p:par>
                    <p:cTn id="176" fill="hold">
                      <p:stCondLst>
                        <p:cond delay="indefinite"/>
                      </p:stCondLst>
                      <p:childTnLst>
                        <p:par>
                          <p:cTn id="177" fill="hold">
                            <p:stCondLst>
                              <p:cond delay="0"/>
                            </p:stCondLst>
                            <p:childTnLst>
                              <p:par>
                                <p:cTn id="178" presetID="4" presetClass="entr" presetSubtype="16" fill="hold" grpId="0" nodeType="clickEffect">
                                  <p:stCondLst>
                                    <p:cond delay="0"/>
                                  </p:stCondLst>
                                  <p:childTnLst>
                                    <p:set>
                                      <p:cBhvr>
                                        <p:cTn id="179" dur="1" fill="hold">
                                          <p:stCondLst>
                                            <p:cond delay="0"/>
                                          </p:stCondLst>
                                        </p:cTn>
                                        <p:tgtEl>
                                          <p:spTgt spid="209"/>
                                        </p:tgtEl>
                                        <p:attrNameLst>
                                          <p:attrName>style.visibility</p:attrName>
                                        </p:attrNameLst>
                                      </p:cBhvr>
                                      <p:to>
                                        <p:strVal val="visible"/>
                                      </p:to>
                                    </p:set>
                                    <p:animEffect transition="in" filter="box(in)">
                                      <p:cBhvr>
                                        <p:cTn id="180" dur="500"/>
                                        <p:tgtEl>
                                          <p:spTgt spid="209"/>
                                        </p:tgtEl>
                                      </p:cBhvr>
                                    </p:animEffect>
                                  </p:childTnLst>
                                </p:cTn>
                              </p:par>
                            </p:childTnLst>
                          </p:cTn>
                        </p:par>
                      </p:childTnLst>
                    </p:cTn>
                  </p:par>
                  <p:par>
                    <p:cTn id="181" fill="hold">
                      <p:stCondLst>
                        <p:cond delay="indefinite"/>
                      </p:stCondLst>
                      <p:childTnLst>
                        <p:par>
                          <p:cTn id="182" fill="hold">
                            <p:stCondLst>
                              <p:cond delay="0"/>
                            </p:stCondLst>
                            <p:childTnLst>
                              <p:par>
                                <p:cTn id="183" presetID="4" presetClass="entr" presetSubtype="16" fill="hold" nodeType="clickEffect">
                                  <p:stCondLst>
                                    <p:cond delay="0"/>
                                  </p:stCondLst>
                                  <p:childTnLst>
                                    <p:set>
                                      <p:cBhvr>
                                        <p:cTn id="184" dur="1" fill="hold">
                                          <p:stCondLst>
                                            <p:cond delay="0"/>
                                          </p:stCondLst>
                                        </p:cTn>
                                        <p:tgtEl>
                                          <p:spTgt spid="39936"/>
                                        </p:tgtEl>
                                        <p:attrNameLst>
                                          <p:attrName>style.visibility</p:attrName>
                                        </p:attrNameLst>
                                      </p:cBhvr>
                                      <p:to>
                                        <p:strVal val="visible"/>
                                      </p:to>
                                    </p:set>
                                    <p:animEffect transition="in" filter="box(in)">
                                      <p:cBhvr>
                                        <p:cTn id="185" dur="500"/>
                                        <p:tgtEl>
                                          <p:spTgt spid="39936"/>
                                        </p:tgtEl>
                                      </p:cBhvr>
                                    </p:animEffect>
                                  </p:childTnLst>
                                </p:cTn>
                              </p:par>
                            </p:childTnLst>
                          </p:cTn>
                        </p:par>
                      </p:childTnLst>
                    </p:cTn>
                  </p:par>
                  <p:par>
                    <p:cTn id="186" fill="hold">
                      <p:stCondLst>
                        <p:cond delay="indefinite"/>
                      </p:stCondLst>
                      <p:childTnLst>
                        <p:par>
                          <p:cTn id="187" fill="hold">
                            <p:stCondLst>
                              <p:cond delay="0"/>
                            </p:stCondLst>
                            <p:childTnLst>
                              <p:par>
                                <p:cTn id="188" presetID="4" presetClass="entr" presetSubtype="16" fill="hold" grpId="0" nodeType="clickEffect">
                                  <p:stCondLst>
                                    <p:cond delay="0"/>
                                  </p:stCondLst>
                                  <p:childTnLst>
                                    <p:set>
                                      <p:cBhvr>
                                        <p:cTn id="189" dur="1" fill="hold">
                                          <p:stCondLst>
                                            <p:cond delay="0"/>
                                          </p:stCondLst>
                                        </p:cTn>
                                        <p:tgtEl>
                                          <p:spTgt spid="215"/>
                                        </p:tgtEl>
                                        <p:attrNameLst>
                                          <p:attrName>style.visibility</p:attrName>
                                        </p:attrNameLst>
                                      </p:cBhvr>
                                      <p:to>
                                        <p:strVal val="visible"/>
                                      </p:to>
                                    </p:set>
                                    <p:animEffect transition="in" filter="box(in)">
                                      <p:cBhvr>
                                        <p:cTn id="190" dur="500"/>
                                        <p:tgtEl>
                                          <p:spTgt spid="215"/>
                                        </p:tgtEl>
                                      </p:cBhvr>
                                    </p:animEffect>
                                  </p:childTnLst>
                                </p:cTn>
                              </p:par>
                            </p:childTnLst>
                          </p:cTn>
                        </p:par>
                      </p:childTnLst>
                    </p:cTn>
                  </p:par>
                  <p:par>
                    <p:cTn id="191" fill="hold">
                      <p:stCondLst>
                        <p:cond delay="indefinite"/>
                      </p:stCondLst>
                      <p:childTnLst>
                        <p:par>
                          <p:cTn id="192" fill="hold">
                            <p:stCondLst>
                              <p:cond delay="0"/>
                            </p:stCondLst>
                            <p:childTnLst>
                              <p:par>
                                <p:cTn id="193" presetID="4" presetClass="entr" presetSubtype="16" fill="hold" grpId="0" nodeType="clickEffect">
                                  <p:stCondLst>
                                    <p:cond delay="0"/>
                                  </p:stCondLst>
                                  <p:childTnLst>
                                    <p:set>
                                      <p:cBhvr>
                                        <p:cTn id="194" dur="1" fill="hold">
                                          <p:stCondLst>
                                            <p:cond delay="0"/>
                                          </p:stCondLst>
                                        </p:cTn>
                                        <p:tgtEl>
                                          <p:spTgt spid="217"/>
                                        </p:tgtEl>
                                        <p:attrNameLst>
                                          <p:attrName>style.visibility</p:attrName>
                                        </p:attrNameLst>
                                      </p:cBhvr>
                                      <p:to>
                                        <p:strVal val="visible"/>
                                      </p:to>
                                    </p:set>
                                    <p:animEffect transition="in" filter="box(in)">
                                      <p:cBhvr>
                                        <p:cTn id="195" dur="500"/>
                                        <p:tgtEl>
                                          <p:spTgt spid="217"/>
                                        </p:tgtEl>
                                      </p:cBhvr>
                                    </p:animEffect>
                                  </p:childTnLst>
                                </p:cTn>
                              </p:par>
                            </p:childTnLst>
                          </p:cTn>
                        </p:par>
                      </p:childTnLst>
                    </p:cTn>
                  </p:par>
                  <p:par>
                    <p:cTn id="196" fill="hold">
                      <p:stCondLst>
                        <p:cond delay="indefinite"/>
                      </p:stCondLst>
                      <p:childTnLst>
                        <p:par>
                          <p:cTn id="197" fill="hold">
                            <p:stCondLst>
                              <p:cond delay="0"/>
                            </p:stCondLst>
                            <p:childTnLst>
                              <p:par>
                                <p:cTn id="198" presetID="4" presetClass="entr" presetSubtype="16" fill="hold" grpId="0" nodeType="clickEffect">
                                  <p:stCondLst>
                                    <p:cond delay="0"/>
                                  </p:stCondLst>
                                  <p:childTnLst>
                                    <p:set>
                                      <p:cBhvr>
                                        <p:cTn id="199" dur="1" fill="hold">
                                          <p:stCondLst>
                                            <p:cond delay="0"/>
                                          </p:stCondLst>
                                        </p:cTn>
                                        <p:tgtEl>
                                          <p:spTgt spid="225"/>
                                        </p:tgtEl>
                                        <p:attrNameLst>
                                          <p:attrName>style.visibility</p:attrName>
                                        </p:attrNameLst>
                                      </p:cBhvr>
                                      <p:to>
                                        <p:strVal val="visible"/>
                                      </p:to>
                                    </p:set>
                                    <p:animEffect transition="in" filter="box(in)">
                                      <p:cBhvr>
                                        <p:cTn id="200" dur="500"/>
                                        <p:tgtEl>
                                          <p:spTgt spid="225"/>
                                        </p:tgtEl>
                                      </p:cBhvr>
                                    </p:animEffect>
                                  </p:childTnLst>
                                </p:cTn>
                              </p:par>
                            </p:childTnLst>
                          </p:cTn>
                        </p:par>
                      </p:childTnLst>
                    </p:cTn>
                  </p:par>
                  <p:par>
                    <p:cTn id="201" fill="hold">
                      <p:stCondLst>
                        <p:cond delay="indefinite"/>
                      </p:stCondLst>
                      <p:childTnLst>
                        <p:par>
                          <p:cTn id="202" fill="hold">
                            <p:stCondLst>
                              <p:cond delay="0"/>
                            </p:stCondLst>
                            <p:childTnLst>
                              <p:par>
                                <p:cTn id="203" presetID="4" presetClass="entr" presetSubtype="16" fill="hold" grpId="0" nodeType="clickEffect">
                                  <p:stCondLst>
                                    <p:cond delay="0"/>
                                  </p:stCondLst>
                                  <p:childTnLst>
                                    <p:set>
                                      <p:cBhvr>
                                        <p:cTn id="204" dur="1" fill="hold">
                                          <p:stCondLst>
                                            <p:cond delay="0"/>
                                          </p:stCondLst>
                                        </p:cTn>
                                        <p:tgtEl>
                                          <p:spTgt spid="218"/>
                                        </p:tgtEl>
                                        <p:attrNameLst>
                                          <p:attrName>style.visibility</p:attrName>
                                        </p:attrNameLst>
                                      </p:cBhvr>
                                      <p:to>
                                        <p:strVal val="visible"/>
                                      </p:to>
                                    </p:set>
                                    <p:animEffect transition="in" filter="box(in)">
                                      <p:cBhvr>
                                        <p:cTn id="205" dur="500"/>
                                        <p:tgtEl>
                                          <p:spTgt spid="218"/>
                                        </p:tgtEl>
                                      </p:cBhvr>
                                    </p:animEffect>
                                  </p:childTnLst>
                                </p:cTn>
                              </p:par>
                            </p:childTnLst>
                          </p:cTn>
                        </p:par>
                      </p:childTnLst>
                    </p:cTn>
                  </p:par>
                  <p:par>
                    <p:cTn id="206" fill="hold">
                      <p:stCondLst>
                        <p:cond delay="indefinite"/>
                      </p:stCondLst>
                      <p:childTnLst>
                        <p:par>
                          <p:cTn id="207" fill="hold">
                            <p:stCondLst>
                              <p:cond delay="0"/>
                            </p:stCondLst>
                            <p:childTnLst>
                              <p:par>
                                <p:cTn id="208" presetID="4" presetClass="entr" presetSubtype="16" fill="hold" grpId="0" nodeType="clickEffect">
                                  <p:stCondLst>
                                    <p:cond delay="0"/>
                                  </p:stCondLst>
                                  <p:childTnLst>
                                    <p:set>
                                      <p:cBhvr>
                                        <p:cTn id="209" dur="1" fill="hold">
                                          <p:stCondLst>
                                            <p:cond delay="0"/>
                                          </p:stCondLst>
                                        </p:cTn>
                                        <p:tgtEl>
                                          <p:spTgt spid="226"/>
                                        </p:tgtEl>
                                        <p:attrNameLst>
                                          <p:attrName>style.visibility</p:attrName>
                                        </p:attrNameLst>
                                      </p:cBhvr>
                                      <p:to>
                                        <p:strVal val="visible"/>
                                      </p:to>
                                    </p:set>
                                    <p:animEffect transition="in" filter="box(in)">
                                      <p:cBhvr>
                                        <p:cTn id="210" dur="500"/>
                                        <p:tgtEl>
                                          <p:spTgt spid="226"/>
                                        </p:tgtEl>
                                      </p:cBhvr>
                                    </p:animEffect>
                                  </p:childTnLst>
                                </p:cTn>
                              </p:par>
                            </p:childTnLst>
                          </p:cTn>
                        </p:par>
                      </p:childTnLst>
                    </p:cTn>
                  </p:par>
                  <p:par>
                    <p:cTn id="211" fill="hold">
                      <p:stCondLst>
                        <p:cond delay="indefinite"/>
                      </p:stCondLst>
                      <p:childTnLst>
                        <p:par>
                          <p:cTn id="212" fill="hold">
                            <p:stCondLst>
                              <p:cond delay="0"/>
                            </p:stCondLst>
                            <p:childTnLst>
                              <p:par>
                                <p:cTn id="213" presetID="4" presetClass="entr" presetSubtype="16" fill="hold" grpId="0" nodeType="clickEffect">
                                  <p:stCondLst>
                                    <p:cond delay="0"/>
                                  </p:stCondLst>
                                  <p:childTnLst>
                                    <p:set>
                                      <p:cBhvr>
                                        <p:cTn id="214" dur="1" fill="hold">
                                          <p:stCondLst>
                                            <p:cond delay="0"/>
                                          </p:stCondLst>
                                        </p:cTn>
                                        <p:tgtEl>
                                          <p:spTgt spid="224"/>
                                        </p:tgtEl>
                                        <p:attrNameLst>
                                          <p:attrName>style.visibility</p:attrName>
                                        </p:attrNameLst>
                                      </p:cBhvr>
                                      <p:to>
                                        <p:strVal val="visible"/>
                                      </p:to>
                                    </p:set>
                                    <p:animEffect transition="in" filter="box(in)">
                                      <p:cBhvr>
                                        <p:cTn id="215" dur="500"/>
                                        <p:tgtEl>
                                          <p:spTgt spid="224"/>
                                        </p:tgtEl>
                                      </p:cBhvr>
                                    </p:animEffect>
                                  </p:childTnLst>
                                </p:cTn>
                              </p:par>
                            </p:childTnLst>
                          </p:cTn>
                        </p:par>
                      </p:childTnLst>
                    </p:cTn>
                  </p:par>
                  <p:par>
                    <p:cTn id="216" fill="hold">
                      <p:stCondLst>
                        <p:cond delay="indefinite"/>
                      </p:stCondLst>
                      <p:childTnLst>
                        <p:par>
                          <p:cTn id="217" fill="hold">
                            <p:stCondLst>
                              <p:cond delay="0"/>
                            </p:stCondLst>
                            <p:childTnLst>
                              <p:par>
                                <p:cTn id="218" presetID="4" presetClass="exit" presetSubtype="16" fill="hold" grpId="1" nodeType="clickEffect">
                                  <p:stCondLst>
                                    <p:cond delay="0"/>
                                  </p:stCondLst>
                                  <p:childTnLst>
                                    <p:animEffect transition="out" filter="box(in)">
                                      <p:cBhvr>
                                        <p:cTn id="219" dur="500"/>
                                        <p:tgtEl>
                                          <p:spTgt spid="224"/>
                                        </p:tgtEl>
                                      </p:cBhvr>
                                    </p:animEffect>
                                    <p:set>
                                      <p:cBhvr>
                                        <p:cTn id="220" dur="1" fill="hold">
                                          <p:stCondLst>
                                            <p:cond delay="499"/>
                                          </p:stCondLst>
                                        </p:cTn>
                                        <p:tgtEl>
                                          <p:spTgt spid="224"/>
                                        </p:tgtEl>
                                        <p:attrNameLst>
                                          <p:attrName>style.visibility</p:attrName>
                                        </p:attrNameLst>
                                      </p:cBhvr>
                                      <p:to>
                                        <p:strVal val="hidden"/>
                                      </p:to>
                                    </p:set>
                                  </p:childTnLst>
                                </p:cTn>
                              </p:par>
                            </p:childTnLst>
                          </p:cTn>
                        </p:par>
                      </p:childTnLst>
                    </p:cTn>
                  </p:par>
                  <p:par>
                    <p:cTn id="221" fill="hold">
                      <p:stCondLst>
                        <p:cond delay="indefinite"/>
                      </p:stCondLst>
                      <p:childTnLst>
                        <p:par>
                          <p:cTn id="222" fill="hold">
                            <p:stCondLst>
                              <p:cond delay="0"/>
                            </p:stCondLst>
                            <p:childTnLst>
                              <p:par>
                                <p:cTn id="223" presetID="4" presetClass="entr" presetSubtype="16" fill="hold" grpId="0" nodeType="clickEffect">
                                  <p:stCondLst>
                                    <p:cond delay="0"/>
                                  </p:stCondLst>
                                  <p:childTnLst>
                                    <p:set>
                                      <p:cBhvr>
                                        <p:cTn id="224" dur="1" fill="hold">
                                          <p:stCondLst>
                                            <p:cond delay="0"/>
                                          </p:stCondLst>
                                        </p:cTn>
                                        <p:tgtEl>
                                          <p:spTgt spid="219"/>
                                        </p:tgtEl>
                                        <p:attrNameLst>
                                          <p:attrName>style.visibility</p:attrName>
                                        </p:attrNameLst>
                                      </p:cBhvr>
                                      <p:to>
                                        <p:strVal val="visible"/>
                                      </p:to>
                                    </p:set>
                                    <p:animEffect transition="in" filter="box(in)">
                                      <p:cBhvr>
                                        <p:cTn id="225" dur="500"/>
                                        <p:tgtEl>
                                          <p:spTgt spid="219"/>
                                        </p:tgtEl>
                                      </p:cBhvr>
                                    </p:animEffect>
                                  </p:childTnLst>
                                </p:cTn>
                              </p:par>
                            </p:childTnLst>
                          </p:cTn>
                        </p:par>
                        <p:par>
                          <p:cTn id="226" fill="hold">
                            <p:stCondLst>
                              <p:cond delay="500"/>
                            </p:stCondLst>
                            <p:childTnLst>
                              <p:par>
                                <p:cTn id="227" presetID="4" presetClass="entr" presetSubtype="16" fill="hold" grpId="0" nodeType="afterEffect">
                                  <p:stCondLst>
                                    <p:cond delay="0"/>
                                  </p:stCondLst>
                                  <p:childTnLst>
                                    <p:set>
                                      <p:cBhvr>
                                        <p:cTn id="228" dur="1" fill="hold">
                                          <p:stCondLst>
                                            <p:cond delay="0"/>
                                          </p:stCondLst>
                                        </p:cTn>
                                        <p:tgtEl>
                                          <p:spTgt spid="220"/>
                                        </p:tgtEl>
                                        <p:attrNameLst>
                                          <p:attrName>style.visibility</p:attrName>
                                        </p:attrNameLst>
                                      </p:cBhvr>
                                      <p:to>
                                        <p:strVal val="visible"/>
                                      </p:to>
                                    </p:set>
                                    <p:animEffect transition="in" filter="box(in)">
                                      <p:cBhvr>
                                        <p:cTn id="229" dur="500"/>
                                        <p:tgtEl>
                                          <p:spTgt spid="220"/>
                                        </p:tgtEl>
                                      </p:cBhvr>
                                    </p:animEffect>
                                  </p:childTnLst>
                                </p:cTn>
                              </p:par>
                            </p:childTnLst>
                          </p:cTn>
                        </p:par>
                        <p:par>
                          <p:cTn id="230" fill="hold">
                            <p:stCondLst>
                              <p:cond delay="1000"/>
                            </p:stCondLst>
                            <p:childTnLst>
                              <p:par>
                                <p:cTn id="231" presetID="4" presetClass="entr" presetSubtype="16" fill="hold" grpId="0" nodeType="afterEffect">
                                  <p:stCondLst>
                                    <p:cond delay="0"/>
                                  </p:stCondLst>
                                  <p:childTnLst>
                                    <p:set>
                                      <p:cBhvr>
                                        <p:cTn id="232" dur="1" fill="hold">
                                          <p:stCondLst>
                                            <p:cond delay="0"/>
                                          </p:stCondLst>
                                        </p:cTn>
                                        <p:tgtEl>
                                          <p:spTgt spid="221"/>
                                        </p:tgtEl>
                                        <p:attrNameLst>
                                          <p:attrName>style.visibility</p:attrName>
                                        </p:attrNameLst>
                                      </p:cBhvr>
                                      <p:to>
                                        <p:strVal val="visible"/>
                                      </p:to>
                                    </p:set>
                                    <p:animEffect transition="in" filter="box(in)">
                                      <p:cBhvr>
                                        <p:cTn id="233" dur="500"/>
                                        <p:tgtEl>
                                          <p:spTgt spid="221"/>
                                        </p:tgtEl>
                                      </p:cBhvr>
                                    </p:animEffect>
                                  </p:childTnLst>
                                </p:cTn>
                              </p:par>
                            </p:childTnLst>
                          </p:cTn>
                        </p:par>
                        <p:par>
                          <p:cTn id="234" fill="hold">
                            <p:stCondLst>
                              <p:cond delay="1500"/>
                            </p:stCondLst>
                            <p:childTnLst>
                              <p:par>
                                <p:cTn id="235" presetID="4" presetClass="entr" presetSubtype="16" fill="hold" grpId="0" nodeType="afterEffect">
                                  <p:stCondLst>
                                    <p:cond delay="0"/>
                                  </p:stCondLst>
                                  <p:childTnLst>
                                    <p:set>
                                      <p:cBhvr>
                                        <p:cTn id="236" dur="1" fill="hold">
                                          <p:stCondLst>
                                            <p:cond delay="0"/>
                                          </p:stCondLst>
                                        </p:cTn>
                                        <p:tgtEl>
                                          <p:spTgt spid="222"/>
                                        </p:tgtEl>
                                        <p:attrNameLst>
                                          <p:attrName>style.visibility</p:attrName>
                                        </p:attrNameLst>
                                      </p:cBhvr>
                                      <p:to>
                                        <p:strVal val="visible"/>
                                      </p:to>
                                    </p:set>
                                    <p:animEffect transition="in" filter="box(in)">
                                      <p:cBhvr>
                                        <p:cTn id="237" dur="500"/>
                                        <p:tgtEl>
                                          <p:spTgt spid="222"/>
                                        </p:tgtEl>
                                      </p:cBhvr>
                                    </p:animEffect>
                                  </p:childTnLst>
                                </p:cTn>
                              </p:par>
                            </p:childTnLst>
                          </p:cTn>
                        </p:par>
                      </p:childTnLst>
                    </p:cTn>
                  </p:par>
                  <p:par>
                    <p:cTn id="238" fill="hold">
                      <p:stCondLst>
                        <p:cond delay="indefinite"/>
                      </p:stCondLst>
                      <p:childTnLst>
                        <p:par>
                          <p:cTn id="239" fill="hold">
                            <p:stCondLst>
                              <p:cond delay="0"/>
                            </p:stCondLst>
                            <p:childTnLst>
                              <p:par>
                                <p:cTn id="240" presetID="4" presetClass="entr" presetSubtype="16" fill="hold" grpId="0" nodeType="clickEffect">
                                  <p:stCondLst>
                                    <p:cond delay="0"/>
                                  </p:stCondLst>
                                  <p:childTnLst>
                                    <p:set>
                                      <p:cBhvr>
                                        <p:cTn id="241" dur="1" fill="hold">
                                          <p:stCondLst>
                                            <p:cond delay="0"/>
                                          </p:stCondLst>
                                        </p:cTn>
                                        <p:tgtEl>
                                          <p:spTgt spid="227"/>
                                        </p:tgtEl>
                                        <p:attrNameLst>
                                          <p:attrName>style.visibility</p:attrName>
                                        </p:attrNameLst>
                                      </p:cBhvr>
                                      <p:to>
                                        <p:strVal val="visible"/>
                                      </p:to>
                                    </p:set>
                                    <p:animEffect transition="in" filter="box(in)">
                                      <p:cBhvr>
                                        <p:cTn id="242" dur="500"/>
                                        <p:tgtEl>
                                          <p:spTgt spid="227"/>
                                        </p:tgtEl>
                                      </p:cBhvr>
                                    </p:animEffect>
                                  </p:childTnLst>
                                </p:cTn>
                              </p:par>
                            </p:childTnLst>
                          </p:cTn>
                        </p:par>
                      </p:childTnLst>
                    </p:cTn>
                  </p:par>
                  <p:par>
                    <p:cTn id="243" fill="hold">
                      <p:stCondLst>
                        <p:cond delay="indefinite"/>
                      </p:stCondLst>
                      <p:childTnLst>
                        <p:par>
                          <p:cTn id="244" fill="hold">
                            <p:stCondLst>
                              <p:cond delay="0"/>
                            </p:stCondLst>
                            <p:childTnLst>
                              <p:par>
                                <p:cTn id="245" presetID="4" presetClass="entr" presetSubtype="16" fill="hold" grpId="0" nodeType="clickEffect">
                                  <p:stCondLst>
                                    <p:cond delay="0"/>
                                  </p:stCondLst>
                                  <p:childTnLst>
                                    <p:set>
                                      <p:cBhvr>
                                        <p:cTn id="246" dur="1" fill="hold">
                                          <p:stCondLst>
                                            <p:cond delay="0"/>
                                          </p:stCondLst>
                                        </p:cTn>
                                        <p:tgtEl>
                                          <p:spTgt spid="223"/>
                                        </p:tgtEl>
                                        <p:attrNameLst>
                                          <p:attrName>style.visibility</p:attrName>
                                        </p:attrNameLst>
                                      </p:cBhvr>
                                      <p:to>
                                        <p:strVal val="visible"/>
                                      </p:to>
                                    </p:set>
                                    <p:animEffect transition="in" filter="box(in)">
                                      <p:cBhvr>
                                        <p:cTn id="247" dur="500"/>
                                        <p:tgtEl>
                                          <p:spTgt spid="223"/>
                                        </p:tgtEl>
                                      </p:cBhvr>
                                    </p:animEffect>
                                  </p:childTnLst>
                                </p:cTn>
                              </p:par>
                            </p:childTnLst>
                          </p:cTn>
                        </p:par>
                      </p:childTnLst>
                    </p:cTn>
                  </p:par>
                  <p:par>
                    <p:cTn id="248" fill="hold">
                      <p:stCondLst>
                        <p:cond delay="indefinite"/>
                      </p:stCondLst>
                      <p:childTnLst>
                        <p:par>
                          <p:cTn id="249" fill="hold">
                            <p:stCondLst>
                              <p:cond delay="0"/>
                            </p:stCondLst>
                            <p:childTnLst>
                              <p:par>
                                <p:cTn id="250" presetID="17" presetClass="entr" presetSubtype="1" fill="hold" grpId="0" nodeType="clickEffect">
                                  <p:stCondLst>
                                    <p:cond delay="0"/>
                                  </p:stCondLst>
                                  <p:childTnLst>
                                    <p:set>
                                      <p:cBhvr>
                                        <p:cTn id="251" dur="1" fill="hold">
                                          <p:stCondLst>
                                            <p:cond delay="0"/>
                                          </p:stCondLst>
                                        </p:cTn>
                                        <p:tgtEl>
                                          <p:spTgt spid="216"/>
                                        </p:tgtEl>
                                        <p:attrNameLst>
                                          <p:attrName>style.visibility</p:attrName>
                                        </p:attrNameLst>
                                      </p:cBhvr>
                                      <p:to>
                                        <p:strVal val="visible"/>
                                      </p:to>
                                    </p:set>
                                    <p:anim calcmode="lin" valueType="num">
                                      <p:cBhvr>
                                        <p:cTn id="252" dur="500" fill="hold"/>
                                        <p:tgtEl>
                                          <p:spTgt spid="216"/>
                                        </p:tgtEl>
                                        <p:attrNameLst>
                                          <p:attrName>ppt_x</p:attrName>
                                        </p:attrNameLst>
                                      </p:cBhvr>
                                      <p:tavLst>
                                        <p:tav tm="0">
                                          <p:val>
                                            <p:strVal val="#ppt_x"/>
                                          </p:val>
                                        </p:tav>
                                        <p:tav tm="100000">
                                          <p:val>
                                            <p:strVal val="#ppt_x"/>
                                          </p:val>
                                        </p:tav>
                                      </p:tavLst>
                                    </p:anim>
                                    <p:anim calcmode="lin" valueType="num">
                                      <p:cBhvr>
                                        <p:cTn id="253" dur="500" fill="hold"/>
                                        <p:tgtEl>
                                          <p:spTgt spid="216"/>
                                        </p:tgtEl>
                                        <p:attrNameLst>
                                          <p:attrName>ppt_y</p:attrName>
                                        </p:attrNameLst>
                                      </p:cBhvr>
                                      <p:tavLst>
                                        <p:tav tm="0">
                                          <p:val>
                                            <p:strVal val="#ppt_y-#ppt_h/2"/>
                                          </p:val>
                                        </p:tav>
                                        <p:tav tm="100000">
                                          <p:val>
                                            <p:strVal val="#ppt_y"/>
                                          </p:val>
                                        </p:tav>
                                      </p:tavLst>
                                    </p:anim>
                                    <p:anim calcmode="lin" valueType="num">
                                      <p:cBhvr>
                                        <p:cTn id="254" dur="500" fill="hold"/>
                                        <p:tgtEl>
                                          <p:spTgt spid="216"/>
                                        </p:tgtEl>
                                        <p:attrNameLst>
                                          <p:attrName>ppt_w</p:attrName>
                                        </p:attrNameLst>
                                      </p:cBhvr>
                                      <p:tavLst>
                                        <p:tav tm="0">
                                          <p:val>
                                            <p:strVal val="#ppt_w"/>
                                          </p:val>
                                        </p:tav>
                                        <p:tav tm="100000">
                                          <p:val>
                                            <p:strVal val="#ppt_w"/>
                                          </p:val>
                                        </p:tav>
                                      </p:tavLst>
                                    </p:anim>
                                    <p:anim calcmode="lin" valueType="num">
                                      <p:cBhvr>
                                        <p:cTn id="255" dur="500" fill="hold"/>
                                        <p:tgtEl>
                                          <p:spTgt spid="216"/>
                                        </p:tgtEl>
                                        <p:attrNameLst>
                                          <p:attrName>ppt_h</p:attrName>
                                        </p:attrNameLst>
                                      </p:cBhvr>
                                      <p:tavLst>
                                        <p:tav tm="0">
                                          <p:val>
                                            <p:fltVal val="0"/>
                                          </p:val>
                                        </p:tav>
                                        <p:tav tm="100000">
                                          <p:val>
                                            <p:strVal val="#ppt_h"/>
                                          </p:val>
                                        </p:tav>
                                      </p:tavLst>
                                    </p:anim>
                                  </p:childTnLst>
                                </p:cTn>
                              </p:par>
                            </p:childTnLst>
                          </p:cTn>
                        </p:par>
                      </p:childTnLst>
                    </p:cTn>
                  </p:par>
                  <p:par>
                    <p:cTn id="256" fill="hold">
                      <p:stCondLst>
                        <p:cond delay="indefinite"/>
                      </p:stCondLst>
                      <p:childTnLst>
                        <p:par>
                          <p:cTn id="257" fill="hold">
                            <p:stCondLst>
                              <p:cond delay="0"/>
                            </p:stCondLst>
                            <p:childTnLst>
                              <p:par>
                                <p:cTn id="258" presetID="2" presetClass="entr" presetSubtype="4" fill="hold" grpId="0" nodeType="clickEffect">
                                  <p:stCondLst>
                                    <p:cond delay="0"/>
                                  </p:stCondLst>
                                  <p:childTnLst>
                                    <p:set>
                                      <p:cBhvr>
                                        <p:cTn id="259" dur="1" fill="hold">
                                          <p:stCondLst>
                                            <p:cond delay="0"/>
                                          </p:stCondLst>
                                        </p:cTn>
                                        <p:tgtEl>
                                          <p:spTgt spid="228"/>
                                        </p:tgtEl>
                                        <p:attrNameLst>
                                          <p:attrName>style.visibility</p:attrName>
                                        </p:attrNameLst>
                                      </p:cBhvr>
                                      <p:to>
                                        <p:strVal val="visible"/>
                                      </p:to>
                                    </p:set>
                                    <p:anim calcmode="lin" valueType="num">
                                      <p:cBhvr additive="base">
                                        <p:cTn id="260" dur="3000" fill="hold"/>
                                        <p:tgtEl>
                                          <p:spTgt spid="228"/>
                                        </p:tgtEl>
                                        <p:attrNameLst>
                                          <p:attrName>ppt_x</p:attrName>
                                        </p:attrNameLst>
                                      </p:cBhvr>
                                      <p:tavLst>
                                        <p:tav tm="0">
                                          <p:val>
                                            <p:strVal val="#ppt_x"/>
                                          </p:val>
                                        </p:tav>
                                        <p:tav tm="100000">
                                          <p:val>
                                            <p:strVal val="#ppt_x"/>
                                          </p:val>
                                        </p:tav>
                                      </p:tavLst>
                                    </p:anim>
                                    <p:anim calcmode="lin" valueType="num">
                                      <p:cBhvr additive="base">
                                        <p:cTn id="261" dur="3000" fill="hold"/>
                                        <p:tgtEl>
                                          <p:spTgt spid="228"/>
                                        </p:tgtEl>
                                        <p:attrNameLst>
                                          <p:attrName>ppt_y</p:attrName>
                                        </p:attrNameLst>
                                      </p:cBhvr>
                                      <p:tavLst>
                                        <p:tav tm="0">
                                          <p:val>
                                            <p:strVal val="1+#ppt_h/2"/>
                                          </p:val>
                                        </p:tav>
                                        <p:tav tm="100000">
                                          <p:val>
                                            <p:strVal val="#ppt_y"/>
                                          </p:val>
                                        </p:tav>
                                      </p:tavLst>
                                    </p:anim>
                                  </p:childTnLst>
                                </p:cTn>
                              </p:par>
                            </p:childTnLst>
                          </p:cTn>
                        </p:par>
                      </p:childTnLst>
                    </p:cTn>
                  </p:par>
                  <p:par>
                    <p:cTn id="262" fill="hold">
                      <p:stCondLst>
                        <p:cond delay="indefinite"/>
                      </p:stCondLst>
                      <p:childTnLst>
                        <p:par>
                          <p:cTn id="263" fill="hold">
                            <p:stCondLst>
                              <p:cond delay="0"/>
                            </p:stCondLst>
                            <p:childTnLst>
                              <p:par>
                                <p:cTn id="264" presetID="17" presetClass="entr" presetSubtype="8" fill="hold" grpId="0" nodeType="clickEffect">
                                  <p:stCondLst>
                                    <p:cond delay="0"/>
                                  </p:stCondLst>
                                  <p:childTnLst>
                                    <p:set>
                                      <p:cBhvr>
                                        <p:cTn id="265" dur="1" fill="hold">
                                          <p:stCondLst>
                                            <p:cond delay="0"/>
                                          </p:stCondLst>
                                        </p:cTn>
                                        <p:tgtEl>
                                          <p:spTgt spid="233"/>
                                        </p:tgtEl>
                                        <p:attrNameLst>
                                          <p:attrName>style.visibility</p:attrName>
                                        </p:attrNameLst>
                                      </p:cBhvr>
                                      <p:to>
                                        <p:strVal val="visible"/>
                                      </p:to>
                                    </p:set>
                                    <p:anim calcmode="lin" valueType="num">
                                      <p:cBhvr>
                                        <p:cTn id="266" dur="500" fill="hold"/>
                                        <p:tgtEl>
                                          <p:spTgt spid="233"/>
                                        </p:tgtEl>
                                        <p:attrNameLst>
                                          <p:attrName>ppt_x</p:attrName>
                                        </p:attrNameLst>
                                      </p:cBhvr>
                                      <p:tavLst>
                                        <p:tav tm="0">
                                          <p:val>
                                            <p:strVal val="#ppt_x-#ppt_w/2"/>
                                          </p:val>
                                        </p:tav>
                                        <p:tav tm="100000">
                                          <p:val>
                                            <p:strVal val="#ppt_x"/>
                                          </p:val>
                                        </p:tav>
                                      </p:tavLst>
                                    </p:anim>
                                    <p:anim calcmode="lin" valueType="num">
                                      <p:cBhvr>
                                        <p:cTn id="267" dur="500" fill="hold"/>
                                        <p:tgtEl>
                                          <p:spTgt spid="233"/>
                                        </p:tgtEl>
                                        <p:attrNameLst>
                                          <p:attrName>ppt_y</p:attrName>
                                        </p:attrNameLst>
                                      </p:cBhvr>
                                      <p:tavLst>
                                        <p:tav tm="0">
                                          <p:val>
                                            <p:strVal val="#ppt_y"/>
                                          </p:val>
                                        </p:tav>
                                        <p:tav tm="100000">
                                          <p:val>
                                            <p:strVal val="#ppt_y"/>
                                          </p:val>
                                        </p:tav>
                                      </p:tavLst>
                                    </p:anim>
                                    <p:anim calcmode="lin" valueType="num">
                                      <p:cBhvr>
                                        <p:cTn id="268" dur="500" fill="hold"/>
                                        <p:tgtEl>
                                          <p:spTgt spid="233"/>
                                        </p:tgtEl>
                                        <p:attrNameLst>
                                          <p:attrName>ppt_w</p:attrName>
                                        </p:attrNameLst>
                                      </p:cBhvr>
                                      <p:tavLst>
                                        <p:tav tm="0">
                                          <p:val>
                                            <p:fltVal val="0"/>
                                          </p:val>
                                        </p:tav>
                                        <p:tav tm="100000">
                                          <p:val>
                                            <p:strVal val="#ppt_w"/>
                                          </p:val>
                                        </p:tav>
                                      </p:tavLst>
                                    </p:anim>
                                    <p:anim calcmode="lin" valueType="num">
                                      <p:cBhvr>
                                        <p:cTn id="269" dur="500" fill="hold"/>
                                        <p:tgtEl>
                                          <p:spTgt spid="233"/>
                                        </p:tgtEl>
                                        <p:attrNameLst>
                                          <p:attrName>ppt_h</p:attrName>
                                        </p:attrNameLst>
                                      </p:cBhvr>
                                      <p:tavLst>
                                        <p:tav tm="0">
                                          <p:val>
                                            <p:strVal val="#ppt_h"/>
                                          </p:val>
                                        </p:tav>
                                        <p:tav tm="100000">
                                          <p:val>
                                            <p:strVal val="#ppt_h"/>
                                          </p:val>
                                        </p:tav>
                                      </p:tavLst>
                                    </p:anim>
                                  </p:childTnLst>
                                </p:cTn>
                              </p:par>
                            </p:childTnLst>
                          </p:cTn>
                        </p:par>
                      </p:childTnLst>
                    </p:cTn>
                  </p:par>
                  <p:par>
                    <p:cTn id="270" fill="hold">
                      <p:stCondLst>
                        <p:cond delay="indefinite"/>
                      </p:stCondLst>
                      <p:childTnLst>
                        <p:par>
                          <p:cTn id="271" fill="hold">
                            <p:stCondLst>
                              <p:cond delay="0"/>
                            </p:stCondLst>
                            <p:childTnLst>
                              <p:par>
                                <p:cTn id="272" presetID="17" presetClass="entr" presetSubtype="8" fill="hold" grpId="0" nodeType="clickEffect">
                                  <p:stCondLst>
                                    <p:cond delay="0"/>
                                  </p:stCondLst>
                                  <p:childTnLst>
                                    <p:set>
                                      <p:cBhvr>
                                        <p:cTn id="273" dur="1" fill="hold">
                                          <p:stCondLst>
                                            <p:cond delay="0"/>
                                          </p:stCondLst>
                                        </p:cTn>
                                        <p:tgtEl>
                                          <p:spTgt spid="231"/>
                                        </p:tgtEl>
                                        <p:attrNameLst>
                                          <p:attrName>style.visibility</p:attrName>
                                        </p:attrNameLst>
                                      </p:cBhvr>
                                      <p:to>
                                        <p:strVal val="visible"/>
                                      </p:to>
                                    </p:set>
                                    <p:anim calcmode="lin" valueType="num">
                                      <p:cBhvr>
                                        <p:cTn id="274" dur="500" fill="hold"/>
                                        <p:tgtEl>
                                          <p:spTgt spid="231"/>
                                        </p:tgtEl>
                                        <p:attrNameLst>
                                          <p:attrName>ppt_x</p:attrName>
                                        </p:attrNameLst>
                                      </p:cBhvr>
                                      <p:tavLst>
                                        <p:tav tm="0">
                                          <p:val>
                                            <p:strVal val="#ppt_x-#ppt_w/2"/>
                                          </p:val>
                                        </p:tav>
                                        <p:tav tm="100000">
                                          <p:val>
                                            <p:strVal val="#ppt_x"/>
                                          </p:val>
                                        </p:tav>
                                      </p:tavLst>
                                    </p:anim>
                                    <p:anim calcmode="lin" valueType="num">
                                      <p:cBhvr>
                                        <p:cTn id="275" dur="500" fill="hold"/>
                                        <p:tgtEl>
                                          <p:spTgt spid="231"/>
                                        </p:tgtEl>
                                        <p:attrNameLst>
                                          <p:attrName>ppt_y</p:attrName>
                                        </p:attrNameLst>
                                      </p:cBhvr>
                                      <p:tavLst>
                                        <p:tav tm="0">
                                          <p:val>
                                            <p:strVal val="#ppt_y"/>
                                          </p:val>
                                        </p:tav>
                                        <p:tav tm="100000">
                                          <p:val>
                                            <p:strVal val="#ppt_y"/>
                                          </p:val>
                                        </p:tav>
                                      </p:tavLst>
                                    </p:anim>
                                    <p:anim calcmode="lin" valueType="num">
                                      <p:cBhvr>
                                        <p:cTn id="276" dur="500" fill="hold"/>
                                        <p:tgtEl>
                                          <p:spTgt spid="231"/>
                                        </p:tgtEl>
                                        <p:attrNameLst>
                                          <p:attrName>ppt_w</p:attrName>
                                        </p:attrNameLst>
                                      </p:cBhvr>
                                      <p:tavLst>
                                        <p:tav tm="0">
                                          <p:val>
                                            <p:fltVal val="0"/>
                                          </p:val>
                                        </p:tav>
                                        <p:tav tm="100000">
                                          <p:val>
                                            <p:strVal val="#ppt_w"/>
                                          </p:val>
                                        </p:tav>
                                      </p:tavLst>
                                    </p:anim>
                                    <p:anim calcmode="lin" valueType="num">
                                      <p:cBhvr>
                                        <p:cTn id="277" dur="500" fill="hold"/>
                                        <p:tgtEl>
                                          <p:spTgt spid="231"/>
                                        </p:tgtEl>
                                        <p:attrNameLst>
                                          <p:attrName>ppt_h</p:attrName>
                                        </p:attrNameLst>
                                      </p:cBhvr>
                                      <p:tavLst>
                                        <p:tav tm="0">
                                          <p:val>
                                            <p:strVal val="#ppt_h"/>
                                          </p:val>
                                        </p:tav>
                                        <p:tav tm="100000">
                                          <p:val>
                                            <p:strVal val="#ppt_h"/>
                                          </p:val>
                                        </p:tav>
                                      </p:tavLst>
                                    </p:anim>
                                  </p:childTnLst>
                                </p:cTn>
                              </p:par>
                              <p:par>
                                <p:cTn id="278" presetID="17" presetClass="entr" presetSubtype="8" fill="hold" grpId="0" nodeType="withEffect">
                                  <p:stCondLst>
                                    <p:cond delay="0"/>
                                  </p:stCondLst>
                                  <p:childTnLst>
                                    <p:set>
                                      <p:cBhvr>
                                        <p:cTn id="279" dur="1" fill="hold">
                                          <p:stCondLst>
                                            <p:cond delay="0"/>
                                          </p:stCondLst>
                                        </p:cTn>
                                        <p:tgtEl>
                                          <p:spTgt spid="235"/>
                                        </p:tgtEl>
                                        <p:attrNameLst>
                                          <p:attrName>style.visibility</p:attrName>
                                        </p:attrNameLst>
                                      </p:cBhvr>
                                      <p:to>
                                        <p:strVal val="visible"/>
                                      </p:to>
                                    </p:set>
                                    <p:anim calcmode="lin" valueType="num">
                                      <p:cBhvr>
                                        <p:cTn id="280" dur="500" fill="hold"/>
                                        <p:tgtEl>
                                          <p:spTgt spid="235"/>
                                        </p:tgtEl>
                                        <p:attrNameLst>
                                          <p:attrName>ppt_x</p:attrName>
                                        </p:attrNameLst>
                                      </p:cBhvr>
                                      <p:tavLst>
                                        <p:tav tm="0">
                                          <p:val>
                                            <p:strVal val="#ppt_x-#ppt_w/2"/>
                                          </p:val>
                                        </p:tav>
                                        <p:tav tm="100000">
                                          <p:val>
                                            <p:strVal val="#ppt_x"/>
                                          </p:val>
                                        </p:tav>
                                      </p:tavLst>
                                    </p:anim>
                                    <p:anim calcmode="lin" valueType="num">
                                      <p:cBhvr>
                                        <p:cTn id="281" dur="500" fill="hold"/>
                                        <p:tgtEl>
                                          <p:spTgt spid="235"/>
                                        </p:tgtEl>
                                        <p:attrNameLst>
                                          <p:attrName>ppt_y</p:attrName>
                                        </p:attrNameLst>
                                      </p:cBhvr>
                                      <p:tavLst>
                                        <p:tav tm="0">
                                          <p:val>
                                            <p:strVal val="#ppt_y"/>
                                          </p:val>
                                        </p:tav>
                                        <p:tav tm="100000">
                                          <p:val>
                                            <p:strVal val="#ppt_y"/>
                                          </p:val>
                                        </p:tav>
                                      </p:tavLst>
                                    </p:anim>
                                    <p:anim calcmode="lin" valueType="num">
                                      <p:cBhvr>
                                        <p:cTn id="282" dur="500" fill="hold"/>
                                        <p:tgtEl>
                                          <p:spTgt spid="235"/>
                                        </p:tgtEl>
                                        <p:attrNameLst>
                                          <p:attrName>ppt_w</p:attrName>
                                        </p:attrNameLst>
                                      </p:cBhvr>
                                      <p:tavLst>
                                        <p:tav tm="0">
                                          <p:val>
                                            <p:fltVal val="0"/>
                                          </p:val>
                                        </p:tav>
                                        <p:tav tm="100000">
                                          <p:val>
                                            <p:strVal val="#ppt_w"/>
                                          </p:val>
                                        </p:tav>
                                      </p:tavLst>
                                    </p:anim>
                                    <p:anim calcmode="lin" valueType="num">
                                      <p:cBhvr>
                                        <p:cTn id="283" dur="500" fill="hold"/>
                                        <p:tgtEl>
                                          <p:spTgt spid="235"/>
                                        </p:tgtEl>
                                        <p:attrNameLst>
                                          <p:attrName>ppt_h</p:attrName>
                                        </p:attrNameLst>
                                      </p:cBhvr>
                                      <p:tavLst>
                                        <p:tav tm="0">
                                          <p:val>
                                            <p:strVal val="#ppt_h"/>
                                          </p:val>
                                        </p:tav>
                                        <p:tav tm="100000">
                                          <p:val>
                                            <p:strVal val="#ppt_h"/>
                                          </p:val>
                                        </p:tav>
                                      </p:tavLst>
                                    </p:anim>
                                  </p:childTnLst>
                                </p:cTn>
                              </p:par>
                            </p:childTnLst>
                          </p:cTn>
                        </p:par>
                      </p:childTnLst>
                    </p:cTn>
                  </p:par>
                  <p:par>
                    <p:cTn id="284" fill="hold">
                      <p:stCondLst>
                        <p:cond delay="indefinite"/>
                      </p:stCondLst>
                      <p:childTnLst>
                        <p:par>
                          <p:cTn id="285" fill="hold">
                            <p:stCondLst>
                              <p:cond delay="0"/>
                            </p:stCondLst>
                            <p:childTnLst>
                              <p:par>
                                <p:cTn id="286" presetID="17" presetClass="entr" presetSubtype="2" fill="hold" grpId="0" nodeType="clickEffect">
                                  <p:stCondLst>
                                    <p:cond delay="0"/>
                                  </p:stCondLst>
                                  <p:childTnLst>
                                    <p:set>
                                      <p:cBhvr>
                                        <p:cTn id="287" dur="1" fill="hold">
                                          <p:stCondLst>
                                            <p:cond delay="0"/>
                                          </p:stCondLst>
                                        </p:cTn>
                                        <p:tgtEl>
                                          <p:spTgt spid="237"/>
                                        </p:tgtEl>
                                        <p:attrNameLst>
                                          <p:attrName>style.visibility</p:attrName>
                                        </p:attrNameLst>
                                      </p:cBhvr>
                                      <p:to>
                                        <p:strVal val="visible"/>
                                      </p:to>
                                    </p:set>
                                    <p:anim calcmode="lin" valueType="num">
                                      <p:cBhvr>
                                        <p:cTn id="288" dur="500" fill="hold"/>
                                        <p:tgtEl>
                                          <p:spTgt spid="237"/>
                                        </p:tgtEl>
                                        <p:attrNameLst>
                                          <p:attrName>ppt_x</p:attrName>
                                        </p:attrNameLst>
                                      </p:cBhvr>
                                      <p:tavLst>
                                        <p:tav tm="0">
                                          <p:val>
                                            <p:strVal val="#ppt_x+#ppt_w/2"/>
                                          </p:val>
                                        </p:tav>
                                        <p:tav tm="100000">
                                          <p:val>
                                            <p:strVal val="#ppt_x"/>
                                          </p:val>
                                        </p:tav>
                                      </p:tavLst>
                                    </p:anim>
                                    <p:anim calcmode="lin" valueType="num">
                                      <p:cBhvr>
                                        <p:cTn id="289" dur="500" fill="hold"/>
                                        <p:tgtEl>
                                          <p:spTgt spid="237"/>
                                        </p:tgtEl>
                                        <p:attrNameLst>
                                          <p:attrName>ppt_y</p:attrName>
                                        </p:attrNameLst>
                                      </p:cBhvr>
                                      <p:tavLst>
                                        <p:tav tm="0">
                                          <p:val>
                                            <p:strVal val="#ppt_y"/>
                                          </p:val>
                                        </p:tav>
                                        <p:tav tm="100000">
                                          <p:val>
                                            <p:strVal val="#ppt_y"/>
                                          </p:val>
                                        </p:tav>
                                      </p:tavLst>
                                    </p:anim>
                                    <p:anim calcmode="lin" valueType="num">
                                      <p:cBhvr>
                                        <p:cTn id="290" dur="500" fill="hold"/>
                                        <p:tgtEl>
                                          <p:spTgt spid="237"/>
                                        </p:tgtEl>
                                        <p:attrNameLst>
                                          <p:attrName>ppt_w</p:attrName>
                                        </p:attrNameLst>
                                      </p:cBhvr>
                                      <p:tavLst>
                                        <p:tav tm="0">
                                          <p:val>
                                            <p:fltVal val="0"/>
                                          </p:val>
                                        </p:tav>
                                        <p:tav tm="100000">
                                          <p:val>
                                            <p:strVal val="#ppt_w"/>
                                          </p:val>
                                        </p:tav>
                                      </p:tavLst>
                                    </p:anim>
                                    <p:anim calcmode="lin" valueType="num">
                                      <p:cBhvr>
                                        <p:cTn id="291" dur="500" fill="hold"/>
                                        <p:tgtEl>
                                          <p:spTgt spid="237"/>
                                        </p:tgtEl>
                                        <p:attrNameLst>
                                          <p:attrName>ppt_h</p:attrName>
                                        </p:attrNameLst>
                                      </p:cBhvr>
                                      <p:tavLst>
                                        <p:tav tm="0">
                                          <p:val>
                                            <p:strVal val="#ppt_h"/>
                                          </p:val>
                                        </p:tav>
                                        <p:tav tm="100000">
                                          <p:val>
                                            <p:strVal val="#ppt_h"/>
                                          </p:val>
                                        </p:tav>
                                      </p:tavLst>
                                    </p:anim>
                                  </p:childTnLst>
                                </p:cTn>
                              </p:par>
                              <p:par>
                                <p:cTn id="292" presetID="17" presetClass="entr" presetSubtype="2" fill="hold" grpId="0" nodeType="withEffect">
                                  <p:stCondLst>
                                    <p:cond delay="0"/>
                                  </p:stCondLst>
                                  <p:childTnLst>
                                    <p:set>
                                      <p:cBhvr>
                                        <p:cTn id="293" dur="1" fill="hold">
                                          <p:stCondLst>
                                            <p:cond delay="0"/>
                                          </p:stCondLst>
                                        </p:cTn>
                                        <p:tgtEl>
                                          <p:spTgt spid="234"/>
                                        </p:tgtEl>
                                        <p:attrNameLst>
                                          <p:attrName>style.visibility</p:attrName>
                                        </p:attrNameLst>
                                      </p:cBhvr>
                                      <p:to>
                                        <p:strVal val="visible"/>
                                      </p:to>
                                    </p:set>
                                    <p:anim calcmode="lin" valueType="num">
                                      <p:cBhvr>
                                        <p:cTn id="294" dur="500" fill="hold"/>
                                        <p:tgtEl>
                                          <p:spTgt spid="234"/>
                                        </p:tgtEl>
                                        <p:attrNameLst>
                                          <p:attrName>ppt_x</p:attrName>
                                        </p:attrNameLst>
                                      </p:cBhvr>
                                      <p:tavLst>
                                        <p:tav tm="0">
                                          <p:val>
                                            <p:strVal val="#ppt_x+#ppt_w/2"/>
                                          </p:val>
                                        </p:tav>
                                        <p:tav tm="100000">
                                          <p:val>
                                            <p:strVal val="#ppt_x"/>
                                          </p:val>
                                        </p:tav>
                                      </p:tavLst>
                                    </p:anim>
                                    <p:anim calcmode="lin" valueType="num">
                                      <p:cBhvr>
                                        <p:cTn id="295" dur="500" fill="hold"/>
                                        <p:tgtEl>
                                          <p:spTgt spid="234"/>
                                        </p:tgtEl>
                                        <p:attrNameLst>
                                          <p:attrName>ppt_y</p:attrName>
                                        </p:attrNameLst>
                                      </p:cBhvr>
                                      <p:tavLst>
                                        <p:tav tm="0">
                                          <p:val>
                                            <p:strVal val="#ppt_y"/>
                                          </p:val>
                                        </p:tav>
                                        <p:tav tm="100000">
                                          <p:val>
                                            <p:strVal val="#ppt_y"/>
                                          </p:val>
                                        </p:tav>
                                      </p:tavLst>
                                    </p:anim>
                                    <p:anim calcmode="lin" valueType="num">
                                      <p:cBhvr>
                                        <p:cTn id="296" dur="500" fill="hold"/>
                                        <p:tgtEl>
                                          <p:spTgt spid="234"/>
                                        </p:tgtEl>
                                        <p:attrNameLst>
                                          <p:attrName>ppt_w</p:attrName>
                                        </p:attrNameLst>
                                      </p:cBhvr>
                                      <p:tavLst>
                                        <p:tav tm="0">
                                          <p:val>
                                            <p:fltVal val="0"/>
                                          </p:val>
                                        </p:tav>
                                        <p:tav tm="100000">
                                          <p:val>
                                            <p:strVal val="#ppt_w"/>
                                          </p:val>
                                        </p:tav>
                                      </p:tavLst>
                                    </p:anim>
                                    <p:anim calcmode="lin" valueType="num">
                                      <p:cBhvr>
                                        <p:cTn id="297" dur="500" fill="hold"/>
                                        <p:tgtEl>
                                          <p:spTgt spid="234"/>
                                        </p:tgtEl>
                                        <p:attrNameLst>
                                          <p:attrName>ppt_h</p:attrName>
                                        </p:attrNameLst>
                                      </p:cBhvr>
                                      <p:tavLst>
                                        <p:tav tm="0">
                                          <p:val>
                                            <p:strVal val="#ppt_h"/>
                                          </p:val>
                                        </p:tav>
                                        <p:tav tm="100000">
                                          <p:val>
                                            <p:strVal val="#ppt_h"/>
                                          </p:val>
                                        </p:tav>
                                      </p:tavLst>
                                    </p:anim>
                                  </p:childTnLst>
                                </p:cTn>
                              </p:par>
                            </p:childTnLst>
                          </p:cTn>
                        </p:par>
                      </p:childTnLst>
                    </p:cTn>
                  </p:par>
                  <p:par>
                    <p:cTn id="298" fill="hold">
                      <p:stCondLst>
                        <p:cond delay="indefinite"/>
                      </p:stCondLst>
                      <p:childTnLst>
                        <p:par>
                          <p:cTn id="299" fill="hold">
                            <p:stCondLst>
                              <p:cond delay="0"/>
                            </p:stCondLst>
                            <p:childTnLst>
                              <p:par>
                                <p:cTn id="300" presetID="17" presetClass="entr" presetSubtype="8" fill="hold" grpId="0" nodeType="clickEffect">
                                  <p:stCondLst>
                                    <p:cond delay="0"/>
                                  </p:stCondLst>
                                  <p:childTnLst>
                                    <p:set>
                                      <p:cBhvr>
                                        <p:cTn id="301" dur="1" fill="hold">
                                          <p:stCondLst>
                                            <p:cond delay="0"/>
                                          </p:stCondLst>
                                        </p:cTn>
                                        <p:tgtEl>
                                          <p:spTgt spid="232"/>
                                        </p:tgtEl>
                                        <p:attrNameLst>
                                          <p:attrName>style.visibility</p:attrName>
                                        </p:attrNameLst>
                                      </p:cBhvr>
                                      <p:to>
                                        <p:strVal val="visible"/>
                                      </p:to>
                                    </p:set>
                                    <p:anim calcmode="lin" valueType="num">
                                      <p:cBhvr>
                                        <p:cTn id="302" dur="500" fill="hold"/>
                                        <p:tgtEl>
                                          <p:spTgt spid="232"/>
                                        </p:tgtEl>
                                        <p:attrNameLst>
                                          <p:attrName>ppt_x</p:attrName>
                                        </p:attrNameLst>
                                      </p:cBhvr>
                                      <p:tavLst>
                                        <p:tav tm="0">
                                          <p:val>
                                            <p:strVal val="#ppt_x-#ppt_w/2"/>
                                          </p:val>
                                        </p:tav>
                                        <p:tav tm="100000">
                                          <p:val>
                                            <p:strVal val="#ppt_x"/>
                                          </p:val>
                                        </p:tav>
                                      </p:tavLst>
                                    </p:anim>
                                    <p:anim calcmode="lin" valueType="num">
                                      <p:cBhvr>
                                        <p:cTn id="303" dur="500" fill="hold"/>
                                        <p:tgtEl>
                                          <p:spTgt spid="232"/>
                                        </p:tgtEl>
                                        <p:attrNameLst>
                                          <p:attrName>ppt_y</p:attrName>
                                        </p:attrNameLst>
                                      </p:cBhvr>
                                      <p:tavLst>
                                        <p:tav tm="0">
                                          <p:val>
                                            <p:strVal val="#ppt_y"/>
                                          </p:val>
                                        </p:tav>
                                        <p:tav tm="100000">
                                          <p:val>
                                            <p:strVal val="#ppt_y"/>
                                          </p:val>
                                        </p:tav>
                                      </p:tavLst>
                                    </p:anim>
                                    <p:anim calcmode="lin" valueType="num">
                                      <p:cBhvr>
                                        <p:cTn id="304" dur="500" fill="hold"/>
                                        <p:tgtEl>
                                          <p:spTgt spid="232"/>
                                        </p:tgtEl>
                                        <p:attrNameLst>
                                          <p:attrName>ppt_w</p:attrName>
                                        </p:attrNameLst>
                                      </p:cBhvr>
                                      <p:tavLst>
                                        <p:tav tm="0">
                                          <p:val>
                                            <p:fltVal val="0"/>
                                          </p:val>
                                        </p:tav>
                                        <p:tav tm="100000">
                                          <p:val>
                                            <p:strVal val="#ppt_w"/>
                                          </p:val>
                                        </p:tav>
                                      </p:tavLst>
                                    </p:anim>
                                    <p:anim calcmode="lin" valueType="num">
                                      <p:cBhvr>
                                        <p:cTn id="305" dur="500" fill="hold"/>
                                        <p:tgtEl>
                                          <p:spTgt spid="232"/>
                                        </p:tgtEl>
                                        <p:attrNameLst>
                                          <p:attrName>ppt_h</p:attrName>
                                        </p:attrNameLst>
                                      </p:cBhvr>
                                      <p:tavLst>
                                        <p:tav tm="0">
                                          <p:val>
                                            <p:strVal val="#ppt_h"/>
                                          </p:val>
                                        </p:tav>
                                        <p:tav tm="100000">
                                          <p:val>
                                            <p:strVal val="#ppt_h"/>
                                          </p:val>
                                        </p:tav>
                                      </p:tavLst>
                                    </p:anim>
                                  </p:childTnLst>
                                </p:cTn>
                              </p:par>
                              <p:par>
                                <p:cTn id="306" presetID="17" presetClass="entr" presetSubtype="8" fill="hold" grpId="0" nodeType="withEffect">
                                  <p:stCondLst>
                                    <p:cond delay="0"/>
                                  </p:stCondLst>
                                  <p:childTnLst>
                                    <p:set>
                                      <p:cBhvr>
                                        <p:cTn id="307" dur="1" fill="hold">
                                          <p:stCondLst>
                                            <p:cond delay="0"/>
                                          </p:stCondLst>
                                        </p:cTn>
                                        <p:tgtEl>
                                          <p:spTgt spid="236"/>
                                        </p:tgtEl>
                                        <p:attrNameLst>
                                          <p:attrName>style.visibility</p:attrName>
                                        </p:attrNameLst>
                                      </p:cBhvr>
                                      <p:to>
                                        <p:strVal val="visible"/>
                                      </p:to>
                                    </p:set>
                                    <p:anim calcmode="lin" valueType="num">
                                      <p:cBhvr>
                                        <p:cTn id="308" dur="500" fill="hold"/>
                                        <p:tgtEl>
                                          <p:spTgt spid="236"/>
                                        </p:tgtEl>
                                        <p:attrNameLst>
                                          <p:attrName>ppt_x</p:attrName>
                                        </p:attrNameLst>
                                      </p:cBhvr>
                                      <p:tavLst>
                                        <p:tav tm="0">
                                          <p:val>
                                            <p:strVal val="#ppt_x-#ppt_w/2"/>
                                          </p:val>
                                        </p:tav>
                                        <p:tav tm="100000">
                                          <p:val>
                                            <p:strVal val="#ppt_x"/>
                                          </p:val>
                                        </p:tav>
                                      </p:tavLst>
                                    </p:anim>
                                    <p:anim calcmode="lin" valueType="num">
                                      <p:cBhvr>
                                        <p:cTn id="309" dur="500" fill="hold"/>
                                        <p:tgtEl>
                                          <p:spTgt spid="236"/>
                                        </p:tgtEl>
                                        <p:attrNameLst>
                                          <p:attrName>ppt_y</p:attrName>
                                        </p:attrNameLst>
                                      </p:cBhvr>
                                      <p:tavLst>
                                        <p:tav tm="0">
                                          <p:val>
                                            <p:strVal val="#ppt_y"/>
                                          </p:val>
                                        </p:tav>
                                        <p:tav tm="100000">
                                          <p:val>
                                            <p:strVal val="#ppt_y"/>
                                          </p:val>
                                        </p:tav>
                                      </p:tavLst>
                                    </p:anim>
                                    <p:anim calcmode="lin" valueType="num">
                                      <p:cBhvr>
                                        <p:cTn id="310" dur="500" fill="hold"/>
                                        <p:tgtEl>
                                          <p:spTgt spid="236"/>
                                        </p:tgtEl>
                                        <p:attrNameLst>
                                          <p:attrName>ppt_w</p:attrName>
                                        </p:attrNameLst>
                                      </p:cBhvr>
                                      <p:tavLst>
                                        <p:tav tm="0">
                                          <p:val>
                                            <p:fltVal val="0"/>
                                          </p:val>
                                        </p:tav>
                                        <p:tav tm="100000">
                                          <p:val>
                                            <p:strVal val="#ppt_w"/>
                                          </p:val>
                                        </p:tav>
                                      </p:tavLst>
                                    </p:anim>
                                    <p:anim calcmode="lin" valueType="num">
                                      <p:cBhvr>
                                        <p:cTn id="311" dur="500" fill="hold"/>
                                        <p:tgtEl>
                                          <p:spTgt spid="236"/>
                                        </p:tgtEl>
                                        <p:attrNameLst>
                                          <p:attrName>ppt_h</p:attrName>
                                        </p:attrNameLst>
                                      </p:cBhvr>
                                      <p:tavLst>
                                        <p:tav tm="0">
                                          <p:val>
                                            <p:strVal val="#ppt_h"/>
                                          </p:val>
                                        </p:tav>
                                        <p:tav tm="100000">
                                          <p:val>
                                            <p:strVal val="#ppt_h"/>
                                          </p:val>
                                        </p:tav>
                                      </p:tavLst>
                                    </p:anim>
                                  </p:childTnLst>
                                </p:cTn>
                              </p:par>
                            </p:childTnLst>
                          </p:cTn>
                        </p:par>
                      </p:childTnLst>
                    </p:cTn>
                  </p:par>
                  <p:par>
                    <p:cTn id="312" fill="hold">
                      <p:stCondLst>
                        <p:cond delay="indefinite"/>
                      </p:stCondLst>
                      <p:childTnLst>
                        <p:par>
                          <p:cTn id="313" fill="hold">
                            <p:stCondLst>
                              <p:cond delay="0"/>
                            </p:stCondLst>
                            <p:childTnLst>
                              <p:par>
                                <p:cTn id="314" presetID="17" presetClass="entr" presetSubtype="1" fill="hold" grpId="0" nodeType="clickEffect">
                                  <p:stCondLst>
                                    <p:cond delay="0"/>
                                  </p:stCondLst>
                                  <p:childTnLst>
                                    <p:set>
                                      <p:cBhvr>
                                        <p:cTn id="315" dur="1" fill="hold">
                                          <p:stCondLst>
                                            <p:cond delay="0"/>
                                          </p:stCondLst>
                                        </p:cTn>
                                        <p:tgtEl>
                                          <p:spTgt spid="238"/>
                                        </p:tgtEl>
                                        <p:attrNameLst>
                                          <p:attrName>style.visibility</p:attrName>
                                        </p:attrNameLst>
                                      </p:cBhvr>
                                      <p:to>
                                        <p:strVal val="visible"/>
                                      </p:to>
                                    </p:set>
                                    <p:anim calcmode="lin" valueType="num">
                                      <p:cBhvr>
                                        <p:cTn id="316" dur="500" fill="hold"/>
                                        <p:tgtEl>
                                          <p:spTgt spid="238"/>
                                        </p:tgtEl>
                                        <p:attrNameLst>
                                          <p:attrName>ppt_x</p:attrName>
                                        </p:attrNameLst>
                                      </p:cBhvr>
                                      <p:tavLst>
                                        <p:tav tm="0">
                                          <p:val>
                                            <p:strVal val="#ppt_x"/>
                                          </p:val>
                                        </p:tav>
                                        <p:tav tm="100000">
                                          <p:val>
                                            <p:strVal val="#ppt_x"/>
                                          </p:val>
                                        </p:tav>
                                      </p:tavLst>
                                    </p:anim>
                                    <p:anim calcmode="lin" valueType="num">
                                      <p:cBhvr>
                                        <p:cTn id="317" dur="500" fill="hold"/>
                                        <p:tgtEl>
                                          <p:spTgt spid="238"/>
                                        </p:tgtEl>
                                        <p:attrNameLst>
                                          <p:attrName>ppt_y</p:attrName>
                                        </p:attrNameLst>
                                      </p:cBhvr>
                                      <p:tavLst>
                                        <p:tav tm="0">
                                          <p:val>
                                            <p:strVal val="#ppt_y-#ppt_h/2"/>
                                          </p:val>
                                        </p:tav>
                                        <p:tav tm="100000">
                                          <p:val>
                                            <p:strVal val="#ppt_y"/>
                                          </p:val>
                                        </p:tav>
                                      </p:tavLst>
                                    </p:anim>
                                    <p:anim calcmode="lin" valueType="num">
                                      <p:cBhvr>
                                        <p:cTn id="318" dur="500" fill="hold"/>
                                        <p:tgtEl>
                                          <p:spTgt spid="238"/>
                                        </p:tgtEl>
                                        <p:attrNameLst>
                                          <p:attrName>ppt_w</p:attrName>
                                        </p:attrNameLst>
                                      </p:cBhvr>
                                      <p:tavLst>
                                        <p:tav tm="0">
                                          <p:val>
                                            <p:strVal val="#ppt_w"/>
                                          </p:val>
                                        </p:tav>
                                        <p:tav tm="100000">
                                          <p:val>
                                            <p:strVal val="#ppt_w"/>
                                          </p:val>
                                        </p:tav>
                                      </p:tavLst>
                                    </p:anim>
                                    <p:anim calcmode="lin" valueType="num">
                                      <p:cBhvr>
                                        <p:cTn id="319" dur="500" fill="hold"/>
                                        <p:tgtEl>
                                          <p:spTgt spid="238"/>
                                        </p:tgtEl>
                                        <p:attrNameLst>
                                          <p:attrName>ppt_h</p:attrName>
                                        </p:attrNameLst>
                                      </p:cBhvr>
                                      <p:tavLst>
                                        <p:tav tm="0">
                                          <p:val>
                                            <p:fltVal val="0"/>
                                          </p:val>
                                        </p:tav>
                                        <p:tav tm="100000">
                                          <p:val>
                                            <p:strVal val="#ppt_h"/>
                                          </p:val>
                                        </p:tav>
                                      </p:tavLst>
                                    </p:anim>
                                  </p:childTnLst>
                                </p:cTn>
                              </p:par>
                              <p:par>
                                <p:cTn id="320" presetID="17" presetClass="entr" presetSubtype="1" fill="hold" grpId="0" nodeType="withEffect">
                                  <p:stCondLst>
                                    <p:cond delay="0"/>
                                  </p:stCondLst>
                                  <p:childTnLst>
                                    <p:set>
                                      <p:cBhvr>
                                        <p:cTn id="321" dur="1" fill="hold">
                                          <p:stCondLst>
                                            <p:cond delay="0"/>
                                          </p:stCondLst>
                                        </p:cTn>
                                        <p:tgtEl>
                                          <p:spTgt spid="239"/>
                                        </p:tgtEl>
                                        <p:attrNameLst>
                                          <p:attrName>style.visibility</p:attrName>
                                        </p:attrNameLst>
                                      </p:cBhvr>
                                      <p:to>
                                        <p:strVal val="visible"/>
                                      </p:to>
                                    </p:set>
                                    <p:anim calcmode="lin" valueType="num">
                                      <p:cBhvr>
                                        <p:cTn id="322" dur="500" fill="hold"/>
                                        <p:tgtEl>
                                          <p:spTgt spid="239"/>
                                        </p:tgtEl>
                                        <p:attrNameLst>
                                          <p:attrName>ppt_x</p:attrName>
                                        </p:attrNameLst>
                                      </p:cBhvr>
                                      <p:tavLst>
                                        <p:tav tm="0">
                                          <p:val>
                                            <p:strVal val="#ppt_x"/>
                                          </p:val>
                                        </p:tav>
                                        <p:tav tm="100000">
                                          <p:val>
                                            <p:strVal val="#ppt_x"/>
                                          </p:val>
                                        </p:tav>
                                      </p:tavLst>
                                    </p:anim>
                                    <p:anim calcmode="lin" valueType="num">
                                      <p:cBhvr>
                                        <p:cTn id="323" dur="500" fill="hold"/>
                                        <p:tgtEl>
                                          <p:spTgt spid="239"/>
                                        </p:tgtEl>
                                        <p:attrNameLst>
                                          <p:attrName>ppt_y</p:attrName>
                                        </p:attrNameLst>
                                      </p:cBhvr>
                                      <p:tavLst>
                                        <p:tav tm="0">
                                          <p:val>
                                            <p:strVal val="#ppt_y-#ppt_h/2"/>
                                          </p:val>
                                        </p:tav>
                                        <p:tav tm="100000">
                                          <p:val>
                                            <p:strVal val="#ppt_y"/>
                                          </p:val>
                                        </p:tav>
                                      </p:tavLst>
                                    </p:anim>
                                    <p:anim calcmode="lin" valueType="num">
                                      <p:cBhvr>
                                        <p:cTn id="324" dur="500" fill="hold"/>
                                        <p:tgtEl>
                                          <p:spTgt spid="239"/>
                                        </p:tgtEl>
                                        <p:attrNameLst>
                                          <p:attrName>ppt_w</p:attrName>
                                        </p:attrNameLst>
                                      </p:cBhvr>
                                      <p:tavLst>
                                        <p:tav tm="0">
                                          <p:val>
                                            <p:strVal val="#ppt_w"/>
                                          </p:val>
                                        </p:tav>
                                        <p:tav tm="100000">
                                          <p:val>
                                            <p:strVal val="#ppt_w"/>
                                          </p:val>
                                        </p:tav>
                                      </p:tavLst>
                                    </p:anim>
                                    <p:anim calcmode="lin" valueType="num">
                                      <p:cBhvr>
                                        <p:cTn id="325" dur="500" fill="hold"/>
                                        <p:tgtEl>
                                          <p:spTgt spid="23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9" grpId="0" animBg="1"/>
      <p:bldP spid="39959" grpId="1" animBg="1"/>
      <p:bldP spid="39961" grpId="0" animBg="1"/>
      <p:bldP spid="39961" grpId="1" animBg="1"/>
      <p:bldP spid="39963" grpId="0" animBg="1"/>
      <p:bldP spid="39963" grpId="1" animBg="1"/>
      <p:bldP spid="39967" grpId="0" animBg="1"/>
      <p:bldP spid="39967" grpId="1" animBg="1"/>
      <p:bldP spid="39969" grpId="0" animBg="1"/>
      <p:bldP spid="39969" grpId="1" animBg="1"/>
      <p:bldP spid="39973" grpId="0" animBg="1"/>
      <p:bldP spid="39973" grpId="1" animBg="1"/>
      <p:bldP spid="39975" grpId="0" animBg="1"/>
      <p:bldP spid="39975" grpId="1" animBg="1"/>
      <p:bldP spid="39984" grpId="0" animBg="1"/>
      <p:bldP spid="39984" grpId="1" animBg="1"/>
      <p:bldP spid="39988" grpId="0" animBg="1"/>
      <p:bldP spid="39988" grpId="1" animBg="1"/>
      <p:bldP spid="39992" grpId="0" animBg="1"/>
      <p:bldP spid="39992" grpId="1" animBg="1"/>
      <p:bldP spid="39994" grpId="0" animBg="1"/>
      <p:bldP spid="39994" grpId="1" animBg="1"/>
      <p:bldP spid="39998" grpId="0" animBg="1"/>
      <p:bldP spid="39998" grpId="1" animBg="1"/>
      <p:bldP spid="40137" grpId="0" animBg="1"/>
      <p:bldP spid="40137" grpId="1" animBg="1"/>
      <p:bldP spid="40161" grpId="0" animBg="1"/>
      <p:bldP spid="40161" grpId="1" animBg="1"/>
      <p:bldP spid="192" grpId="0" animBg="1"/>
      <p:bldP spid="2" grpId="0" animBg="1"/>
      <p:bldP spid="194" grpId="0" animBg="1"/>
      <p:bldP spid="199" grpId="0" animBg="1"/>
      <p:bldP spid="201" grpId="0" animBg="1"/>
      <p:bldP spid="203" grpId="0" animBg="1"/>
      <p:bldP spid="208" grpId="0"/>
      <p:bldP spid="209" grpId="0"/>
      <p:bldP spid="215" grpId="0" animBg="1"/>
      <p:bldP spid="217" grpId="0" animBg="1"/>
      <p:bldP spid="218" grpId="0" animBg="1"/>
      <p:bldP spid="219" grpId="0" animBg="1"/>
      <p:bldP spid="220" grpId="0" animBg="1"/>
      <p:bldP spid="221" grpId="0" animBg="1"/>
      <p:bldP spid="222" grpId="0" animBg="1"/>
      <p:bldP spid="223" grpId="0" animBg="1"/>
      <p:bldP spid="224" grpId="0" animBg="1"/>
      <p:bldP spid="224" grpId="1" animBg="1"/>
      <p:bldP spid="225" grpId="0" animBg="1"/>
      <p:bldP spid="226" grpId="0" animBg="1"/>
      <p:bldP spid="227" grpId="0" animBg="1"/>
      <p:bldP spid="216" grpId="0" animBg="1"/>
      <p:bldP spid="228"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6" name="Rectangle 5"/>
          <p:cNvSpPr>
            <a:spLocks noChangeArrowheads="1"/>
          </p:cNvSpPr>
          <p:nvPr/>
        </p:nvSpPr>
        <p:spPr bwMode="auto">
          <a:xfrm>
            <a:off x="4713288" y="1698338"/>
            <a:ext cx="4786312" cy="2030412"/>
          </a:xfrm>
          <a:prstGeom prst="rect">
            <a:avLst/>
          </a:prstGeom>
          <a:solidFill>
            <a:srgbClr val="FFFFFF"/>
          </a:solidFill>
          <a:ln w="38100">
            <a:solidFill>
              <a:srgbClr val="000000"/>
            </a:solid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32777" name="Line 6"/>
          <p:cNvSpPr>
            <a:spLocks noChangeShapeType="1"/>
          </p:cNvSpPr>
          <p:nvPr/>
        </p:nvSpPr>
        <p:spPr bwMode="auto">
          <a:xfrm>
            <a:off x="7054850" y="1715800"/>
            <a:ext cx="1588" cy="2028825"/>
          </a:xfrm>
          <a:prstGeom prst="line">
            <a:avLst/>
          </a:prstGeom>
          <a:noFill/>
          <a:ln w="3810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grpSp>
        <p:nvGrpSpPr>
          <p:cNvPr id="32778" name="组合 345"/>
          <p:cNvGrpSpPr>
            <a:grpSpLocks/>
          </p:cNvGrpSpPr>
          <p:nvPr/>
        </p:nvGrpSpPr>
        <p:grpSpPr bwMode="auto">
          <a:xfrm>
            <a:off x="4876800" y="1731675"/>
            <a:ext cx="265113" cy="436563"/>
            <a:chOff x="3708391" y="4698272"/>
            <a:chExt cx="265290" cy="436662"/>
          </a:xfrm>
        </p:grpSpPr>
        <p:sp>
          <p:nvSpPr>
            <p:cNvPr id="3277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780" name="组合 127"/>
            <p:cNvGrpSpPr>
              <a:grpSpLocks/>
            </p:cNvGrpSpPr>
            <p:nvPr/>
          </p:nvGrpSpPr>
          <p:grpSpPr bwMode="auto">
            <a:xfrm>
              <a:off x="3723561" y="4885168"/>
              <a:ext cx="250120" cy="249766"/>
              <a:chOff x="3723561" y="4885168"/>
              <a:chExt cx="250120" cy="249766"/>
            </a:xfrm>
          </p:grpSpPr>
          <p:sp>
            <p:nvSpPr>
              <p:cNvPr id="3278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78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783" name="组合 129"/>
          <p:cNvGrpSpPr>
            <a:grpSpLocks/>
          </p:cNvGrpSpPr>
          <p:nvPr/>
        </p:nvGrpSpPr>
        <p:grpSpPr bwMode="auto">
          <a:xfrm rot="17632110">
            <a:off x="8867776" y="1776125"/>
            <a:ext cx="254000" cy="434975"/>
            <a:chOff x="5149850" y="4703444"/>
            <a:chExt cx="253825" cy="434955"/>
          </a:xfrm>
        </p:grpSpPr>
        <p:sp>
          <p:nvSpPr>
            <p:cNvPr id="3278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2785" name="组合 128"/>
            <p:cNvGrpSpPr>
              <a:grpSpLocks/>
            </p:cNvGrpSpPr>
            <p:nvPr/>
          </p:nvGrpSpPr>
          <p:grpSpPr bwMode="auto">
            <a:xfrm>
              <a:off x="5149850" y="4865143"/>
              <a:ext cx="249687" cy="273256"/>
              <a:chOff x="5149850" y="4865143"/>
              <a:chExt cx="249687" cy="273256"/>
            </a:xfrm>
          </p:grpSpPr>
          <p:sp>
            <p:nvSpPr>
              <p:cNvPr id="3278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78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78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789" name="组合 255"/>
          <p:cNvGrpSpPr>
            <a:grpSpLocks/>
          </p:cNvGrpSpPr>
          <p:nvPr/>
        </p:nvGrpSpPr>
        <p:grpSpPr bwMode="auto">
          <a:xfrm rot="4565890">
            <a:off x="8502651" y="2265075"/>
            <a:ext cx="254000" cy="434975"/>
            <a:chOff x="5149850" y="4703444"/>
            <a:chExt cx="253825" cy="434955"/>
          </a:xfrm>
        </p:grpSpPr>
        <p:sp>
          <p:nvSpPr>
            <p:cNvPr id="3279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791" name="组合 128"/>
            <p:cNvGrpSpPr>
              <a:grpSpLocks/>
            </p:cNvGrpSpPr>
            <p:nvPr/>
          </p:nvGrpSpPr>
          <p:grpSpPr bwMode="auto">
            <a:xfrm>
              <a:off x="5149850" y="4865143"/>
              <a:ext cx="249687" cy="273256"/>
              <a:chOff x="5149850" y="4865143"/>
              <a:chExt cx="249687" cy="273256"/>
            </a:xfrm>
          </p:grpSpPr>
          <p:sp>
            <p:nvSpPr>
              <p:cNvPr id="3279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79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79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795" name="组合 261"/>
          <p:cNvGrpSpPr>
            <a:grpSpLocks/>
          </p:cNvGrpSpPr>
          <p:nvPr/>
        </p:nvGrpSpPr>
        <p:grpSpPr bwMode="auto">
          <a:xfrm rot="2189922">
            <a:off x="9010650" y="2265075"/>
            <a:ext cx="254000" cy="434975"/>
            <a:chOff x="5149850" y="4703444"/>
            <a:chExt cx="253825" cy="434955"/>
          </a:xfrm>
        </p:grpSpPr>
        <p:sp>
          <p:nvSpPr>
            <p:cNvPr id="3279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797" name="组合 128"/>
            <p:cNvGrpSpPr>
              <a:grpSpLocks/>
            </p:cNvGrpSpPr>
            <p:nvPr/>
          </p:nvGrpSpPr>
          <p:grpSpPr bwMode="auto">
            <a:xfrm>
              <a:off x="5149850" y="4865143"/>
              <a:ext cx="249687" cy="273256"/>
              <a:chOff x="5149850" y="4865143"/>
              <a:chExt cx="249687" cy="273256"/>
            </a:xfrm>
          </p:grpSpPr>
          <p:sp>
            <p:nvSpPr>
              <p:cNvPr id="3279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79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0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01" name="组合 267"/>
          <p:cNvGrpSpPr>
            <a:grpSpLocks/>
          </p:cNvGrpSpPr>
          <p:nvPr/>
        </p:nvGrpSpPr>
        <p:grpSpPr bwMode="auto">
          <a:xfrm rot="15632697">
            <a:off x="8362951" y="1776125"/>
            <a:ext cx="254000" cy="434975"/>
            <a:chOff x="5149850" y="4703444"/>
            <a:chExt cx="253825" cy="434955"/>
          </a:xfrm>
        </p:grpSpPr>
        <p:sp>
          <p:nvSpPr>
            <p:cNvPr id="3280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2803" name="组合 128"/>
            <p:cNvGrpSpPr>
              <a:grpSpLocks/>
            </p:cNvGrpSpPr>
            <p:nvPr/>
          </p:nvGrpSpPr>
          <p:grpSpPr bwMode="auto">
            <a:xfrm>
              <a:off x="5149850" y="4865143"/>
              <a:ext cx="249687" cy="273256"/>
              <a:chOff x="5149850" y="4865143"/>
              <a:chExt cx="249687" cy="273256"/>
            </a:xfrm>
          </p:grpSpPr>
          <p:sp>
            <p:nvSpPr>
              <p:cNvPr id="3280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0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0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07" name="组合 273"/>
          <p:cNvGrpSpPr>
            <a:grpSpLocks/>
          </p:cNvGrpSpPr>
          <p:nvPr/>
        </p:nvGrpSpPr>
        <p:grpSpPr bwMode="auto">
          <a:xfrm>
            <a:off x="8477250" y="2754025"/>
            <a:ext cx="254000" cy="434975"/>
            <a:chOff x="5149850" y="4703444"/>
            <a:chExt cx="253825" cy="434955"/>
          </a:xfrm>
        </p:grpSpPr>
        <p:sp>
          <p:nvSpPr>
            <p:cNvPr id="3280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09" name="组合 128"/>
            <p:cNvGrpSpPr>
              <a:grpSpLocks/>
            </p:cNvGrpSpPr>
            <p:nvPr/>
          </p:nvGrpSpPr>
          <p:grpSpPr bwMode="auto">
            <a:xfrm>
              <a:off x="5149850" y="4865143"/>
              <a:ext cx="249687" cy="273256"/>
              <a:chOff x="5149850" y="4865143"/>
              <a:chExt cx="249687" cy="273256"/>
            </a:xfrm>
          </p:grpSpPr>
          <p:sp>
            <p:nvSpPr>
              <p:cNvPr id="3281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1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1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13" name="组合 279"/>
          <p:cNvGrpSpPr>
            <a:grpSpLocks/>
          </p:cNvGrpSpPr>
          <p:nvPr/>
        </p:nvGrpSpPr>
        <p:grpSpPr bwMode="auto">
          <a:xfrm rot="953232">
            <a:off x="8966200" y="2798475"/>
            <a:ext cx="254000" cy="434975"/>
            <a:chOff x="5149850" y="4703444"/>
            <a:chExt cx="253825" cy="434955"/>
          </a:xfrm>
        </p:grpSpPr>
        <p:sp>
          <p:nvSpPr>
            <p:cNvPr id="3281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15" name="组合 128"/>
            <p:cNvGrpSpPr>
              <a:grpSpLocks/>
            </p:cNvGrpSpPr>
            <p:nvPr/>
          </p:nvGrpSpPr>
          <p:grpSpPr bwMode="auto">
            <a:xfrm>
              <a:off x="5149850" y="4865143"/>
              <a:ext cx="249687" cy="273256"/>
              <a:chOff x="5149850" y="4865143"/>
              <a:chExt cx="249687" cy="273256"/>
            </a:xfrm>
          </p:grpSpPr>
          <p:sp>
            <p:nvSpPr>
              <p:cNvPr id="3281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1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1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19" name="组合 128"/>
          <p:cNvGrpSpPr>
            <a:grpSpLocks/>
          </p:cNvGrpSpPr>
          <p:nvPr/>
        </p:nvGrpSpPr>
        <p:grpSpPr bwMode="auto">
          <a:xfrm>
            <a:off x="7321550" y="1938050"/>
            <a:ext cx="249238" cy="273050"/>
            <a:chOff x="5149850" y="4865143"/>
            <a:chExt cx="249687" cy="273256"/>
          </a:xfrm>
        </p:grpSpPr>
        <p:sp>
          <p:nvSpPr>
            <p:cNvPr id="3282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2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2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23" name="组合 128"/>
          <p:cNvGrpSpPr>
            <a:grpSpLocks/>
          </p:cNvGrpSpPr>
          <p:nvPr/>
        </p:nvGrpSpPr>
        <p:grpSpPr bwMode="auto">
          <a:xfrm rot="4827573">
            <a:off x="7325519" y="2378582"/>
            <a:ext cx="249237" cy="273050"/>
            <a:chOff x="5149850" y="4865143"/>
            <a:chExt cx="249687" cy="273256"/>
          </a:xfrm>
        </p:grpSpPr>
        <p:sp>
          <p:nvSpPr>
            <p:cNvPr id="3282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2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2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27" name="组合 128"/>
          <p:cNvGrpSpPr>
            <a:grpSpLocks/>
          </p:cNvGrpSpPr>
          <p:nvPr/>
        </p:nvGrpSpPr>
        <p:grpSpPr bwMode="auto">
          <a:xfrm rot="18025955">
            <a:off x="7339806" y="2840544"/>
            <a:ext cx="249238" cy="273050"/>
            <a:chOff x="5149850" y="4865143"/>
            <a:chExt cx="249687" cy="273256"/>
          </a:xfrm>
        </p:grpSpPr>
        <p:sp>
          <p:nvSpPr>
            <p:cNvPr id="3282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2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3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31" name="组合 303"/>
          <p:cNvGrpSpPr>
            <a:grpSpLocks/>
          </p:cNvGrpSpPr>
          <p:nvPr/>
        </p:nvGrpSpPr>
        <p:grpSpPr bwMode="auto">
          <a:xfrm rot="16750466">
            <a:off x="8407401" y="3274725"/>
            <a:ext cx="254000" cy="434975"/>
            <a:chOff x="5149850" y="4703444"/>
            <a:chExt cx="253825" cy="434955"/>
          </a:xfrm>
        </p:grpSpPr>
        <p:sp>
          <p:nvSpPr>
            <p:cNvPr id="3283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2833" name="组合 128"/>
            <p:cNvGrpSpPr>
              <a:grpSpLocks/>
            </p:cNvGrpSpPr>
            <p:nvPr/>
          </p:nvGrpSpPr>
          <p:grpSpPr bwMode="auto">
            <a:xfrm>
              <a:off x="5149850" y="4865143"/>
              <a:ext cx="249687" cy="273256"/>
              <a:chOff x="5149850" y="4865143"/>
              <a:chExt cx="249687" cy="273256"/>
            </a:xfrm>
          </p:grpSpPr>
          <p:sp>
            <p:nvSpPr>
              <p:cNvPr id="3283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3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3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37" name="组合 309"/>
          <p:cNvGrpSpPr>
            <a:grpSpLocks/>
          </p:cNvGrpSpPr>
          <p:nvPr/>
        </p:nvGrpSpPr>
        <p:grpSpPr bwMode="auto">
          <a:xfrm>
            <a:off x="9010650" y="3198525"/>
            <a:ext cx="254000" cy="434975"/>
            <a:chOff x="5149850" y="4703444"/>
            <a:chExt cx="253825" cy="434955"/>
          </a:xfrm>
        </p:grpSpPr>
        <p:sp>
          <p:nvSpPr>
            <p:cNvPr id="3283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39" name="组合 128"/>
            <p:cNvGrpSpPr>
              <a:grpSpLocks/>
            </p:cNvGrpSpPr>
            <p:nvPr/>
          </p:nvGrpSpPr>
          <p:grpSpPr bwMode="auto">
            <a:xfrm>
              <a:off x="5149850" y="4865143"/>
              <a:ext cx="249687" cy="273256"/>
              <a:chOff x="5149850" y="4865143"/>
              <a:chExt cx="249687" cy="273256"/>
            </a:xfrm>
          </p:grpSpPr>
          <p:sp>
            <p:nvSpPr>
              <p:cNvPr id="3284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4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4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43" name="组合 128"/>
          <p:cNvGrpSpPr>
            <a:grpSpLocks/>
          </p:cNvGrpSpPr>
          <p:nvPr/>
        </p:nvGrpSpPr>
        <p:grpSpPr bwMode="auto">
          <a:xfrm rot="9849479">
            <a:off x="7350125" y="3227100"/>
            <a:ext cx="250825" cy="273050"/>
            <a:chOff x="5149850" y="4865143"/>
            <a:chExt cx="249687" cy="273256"/>
          </a:xfrm>
        </p:grpSpPr>
        <p:sp>
          <p:nvSpPr>
            <p:cNvPr id="3284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4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4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47" name="组合 128"/>
          <p:cNvGrpSpPr>
            <a:grpSpLocks/>
          </p:cNvGrpSpPr>
          <p:nvPr/>
        </p:nvGrpSpPr>
        <p:grpSpPr bwMode="auto">
          <a:xfrm>
            <a:off x="7823200" y="1947575"/>
            <a:ext cx="249238" cy="273050"/>
            <a:chOff x="5149850" y="4865143"/>
            <a:chExt cx="249687" cy="273256"/>
          </a:xfrm>
        </p:grpSpPr>
        <p:sp>
          <p:nvSpPr>
            <p:cNvPr id="3284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4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5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32851" name="Oval 57"/>
          <p:cNvSpPr>
            <a:spLocks noChangeAspect="1" noChangeArrowheads="1"/>
          </p:cNvSpPr>
          <p:nvPr/>
        </p:nvSpPr>
        <p:spPr bwMode="auto">
          <a:xfrm rot="4827573">
            <a:off x="8171657" y="2454781"/>
            <a:ext cx="101600" cy="103187"/>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52" name="组合 128"/>
          <p:cNvGrpSpPr>
            <a:grpSpLocks/>
          </p:cNvGrpSpPr>
          <p:nvPr/>
        </p:nvGrpSpPr>
        <p:grpSpPr bwMode="auto">
          <a:xfrm rot="4827573">
            <a:off x="7841456" y="2334132"/>
            <a:ext cx="249237" cy="273050"/>
            <a:chOff x="5149850" y="4865143"/>
            <a:chExt cx="249687" cy="273256"/>
          </a:xfrm>
        </p:grpSpPr>
        <p:sp>
          <p:nvSpPr>
            <p:cNvPr id="3285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5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5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56" name="组合 128"/>
          <p:cNvGrpSpPr>
            <a:grpSpLocks/>
          </p:cNvGrpSpPr>
          <p:nvPr/>
        </p:nvGrpSpPr>
        <p:grpSpPr bwMode="auto">
          <a:xfrm rot="18025955">
            <a:off x="7873206" y="2840544"/>
            <a:ext cx="249238" cy="273050"/>
            <a:chOff x="5149850" y="4865143"/>
            <a:chExt cx="249687" cy="273256"/>
          </a:xfrm>
        </p:grpSpPr>
        <p:sp>
          <p:nvSpPr>
            <p:cNvPr id="3285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5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5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60" name="组合 128"/>
          <p:cNvGrpSpPr>
            <a:grpSpLocks/>
          </p:cNvGrpSpPr>
          <p:nvPr/>
        </p:nvGrpSpPr>
        <p:grpSpPr bwMode="auto">
          <a:xfrm rot="9849479">
            <a:off x="7891463" y="3273138"/>
            <a:ext cx="249237" cy="273050"/>
            <a:chOff x="5149850" y="4865143"/>
            <a:chExt cx="249687" cy="273256"/>
          </a:xfrm>
        </p:grpSpPr>
        <p:sp>
          <p:nvSpPr>
            <p:cNvPr id="3286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6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286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2864" name="组合 346"/>
          <p:cNvGrpSpPr>
            <a:grpSpLocks/>
          </p:cNvGrpSpPr>
          <p:nvPr/>
        </p:nvGrpSpPr>
        <p:grpSpPr bwMode="auto">
          <a:xfrm rot="19240560">
            <a:off x="4806950" y="2176175"/>
            <a:ext cx="265113" cy="436563"/>
            <a:chOff x="3708391" y="4698272"/>
            <a:chExt cx="265290" cy="436662"/>
          </a:xfrm>
        </p:grpSpPr>
        <p:sp>
          <p:nvSpPr>
            <p:cNvPr id="32865"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2866" name="组合 127"/>
            <p:cNvGrpSpPr>
              <a:grpSpLocks/>
            </p:cNvGrpSpPr>
            <p:nvPr/>
          </p:nvGrpSpPr>
          <p:grpSpPr bwMode="auto">
            <a:xfrm>
              <a:off x="3723561" y="4885168"/>
              <a:ext cx="250120" cy="249766"/>
              <a:chOff x="3723561" y="4885168"/>
              <a:chExt cx="250120" cy="249766"/>
            </a:xfrm>
          </p:grpSpPr>
          <p:sp>
            <p:nvSpPr>
              <p:cNvPr id="3286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6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69" name="组合 351"/>
          <p:cNvGrpSpPr>
            <a:grpSpLocks/>
          </p:cNvGrpSpPr>
          <p:nvPr/>
        </p:nvGrpSpPr>
        <p:grpSpPr bwMode="auto">
          <a:xfrm rot="20226363">
            <a:off x="4818063" y="2665125"/>
            <a:ext cx="265112" cy="436563"/>
            <a:chOff x="3708391" y="4698272"/>
            <a:chExt cx="265290" cy="436662"/>
          </a:xfrm>
        </p:grpSpPr>
        <p:sp>
          <p:nvSpPr>
            <p:cNvPr id="32870"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2871" name="组合 127"/>
            <p:cNvGrpSpPr>
              <a:grpSpLocks/>
            </p:cNvGrpSpPr>
            <p:nvPr/>
          </p:nvGrpSpPr>
          <p:grpSpPr bwMode="auto">
            <a:xfrm>
              <a:off x="3723561" y="4885168"/>
              <a:ext cx="250120" cy="249766"/>
              <a:chOff x="3723561" y="4885168"/>
              <a:chExt cx="250120" cy="249766"/>
            </a:xfrm>
          </p:grpSpPr>
          <p:sp>
            <p:nvSpPr>
              <p:cNvPr id="3287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7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74" name="组合 356"/>
          <p:cNvGrpSpPr>
            <a:grpSpLocks/>
          </p:cNvGrpSpPr>
          <p:nvPr/>
        </p:nvGrpSpPr>
        <p:grpSpPr bwMode="auto">
          <a:xfrm rot="2420365">
            <a:off x="4946650" y="3154075"/>
            <a:ext cx="265113" cy="436563"/>
            <a:chOff x="3708391" y="4698272"/>
            <a:chExt cx="265290" cy="436662"/>
          </a:xfrm>
        </p:grpSpPr>
        <p:sp>
          <p:nvSpPr>
            <p:cNvPr id="32875"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76" name="组合 127"/>
            <p:cNvGrpSpPr>
              <a:grpSpLocks/>
            </p:cNvGrpSpPr>
            <p:nvPr/>
          </p:nvGrpSpPr>
          <p:grpSpPr bwMode="auto">
            <a:xfrm>
              <a:off x="3723561" y="4885168"/>
              <a:ext cx="250120" cy="249766"/>
              <a:chOff x="3723561" y="4885168"/>
              <a:chExt cx="250120" cy="249766"/>
            </a:xfrm>
          </p:grpSpPr>
          <p:sp>
            <p:nvSpPr>
              <p:cNvPr id="3287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7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79" name="组合 361"/>
          <p:cNvGrpSpPr>
            <a:grpSpLocks/>
          </p:cNvGrpSpPr>
          <p:nvPr/>
        </p:nvGrpSpPr>
        <p:grpSpPr bwMode="auto">
          <a:xfrm rot="2699194">
            <a:off x="5392738" y="1761838"/>
            <a:ext cx="265112" cy="436562"/>
            <a:chOff x="3708391" y="4698272"/>
            <a:chExt cx="265290" cy="436662"/>
          </a:xfrm>
        </p:grpSpPr>
        <p:sp>
          <p:nvSpPr>
            <p:cNvPr id="32880"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81" name="组合 127"/>
            <p:cNvGrpSpPr>
              <a:grpSpLocks/>
            </p:cNvGrpSpPr>
            <p:nvPr/>
          </p:nvGrpSpPr>
          <p:grpSpPr bwMode="auto">
            <a:xfrm>
              <a:off x="3723561" y="4885168"/>
              <a:ext cx="250120" cy="249766"/>
              <a:chOff x="3723561" y="4885168"/>
              <a:chExt cx="250120" cy="249766"/>
            </a:xfrm>
          </p:grpSpPr>
          <p:sp>
            <p:nvSpPr>
              <p:cNvPr id="3288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8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84" name="组合 366"/>
          <p:cNvGrpSpPr>
            <a:grpSpLocks/>
          </p:cNvGrpSpPr>
          <p:nvPr/>
        </p:nvGrpSpPr>
        <p:grpSpPr bwMode="auto">
          <a:xfrm rot="20017385">
            <a:off x="5270500" y="2168238"/>
            <a:ext cx="266700" cy="436562"/>
            <a:chOff x="3708391" y="4698272"/>
            <a:chExt cx="265290" cy="436662"/>
          </a:xfrm>
        </p:grpSpPr>
        <p:sp>
          <p:nvSpPr>
            <p:cNvPr id="32885"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32886" name="组合 127"/>
            <p:cNvGrpSpPr>
              <a:grpSpLocks/>
            </p:cNvGrpSpPr>
            <p:nvPr/>
          </p:nvGrpSpPr>
          <p:grpSpPr bwMode="auto">
            <a:xfrm>
              <a:off x="3723561" y="4885168"/>
              <a:ext cx="250120" cy="249766"/>
              <a:chOff x="3723561" y="4885168"/>
              <a:chExt cx="250120" cy="249766"/>
            </a:xfrm>
          </p:grpSpPr>
          <p:sp>
            <p:nvSpPr>
              <p:cNvPr id="3288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88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89" name="组合 371"/>
          <p:cNvGrpSpPr>
            <a:grpSpLocks/>
          </p:cNvGrpSpPr>
          <p:nvPr/>
        </p:nvGrpSpPr>
        <p:grpSpPr bwMode="auto">
          <a:xfrm rot="2796568">
            <a:off x="5349875" y="2604800"/>
            <a:ext cx="265113" cy="436563"/>
            <a:chOff x="3708391" y="4698272"/>
            <a:chExt cx="265290" cy="436662"/>
          </a:xfrm>
        </p:grpSpPr>
        <p:sp>
          <p:nvSpPr>
            <p:cNvPr id="32890"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91" name="组合 127"/>
            <p:cNvGrpSpPr>
              <a:grpSpLocks/>
            </p:cNvGrpSpPr>
            <p:nvPr/>
          </p:nvGrpSpPr>
          <p:grpSpPr bwMode="auto">
            <a:xfrm>
              <a:off x="3723561" y="4885168"/>
              <a:ext cx="250120" cy="249766"/>
              <a:chOff x="3723561" y="4885168"/>
              <a:chExt cx="250120" cy="249766"/>
            </a:xfrm>
          </p:grpSpPr>
          <p:sp>
            <p:nvSpPr>
              <p:cNvPr id="3289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9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94" name="组合 376"/>
          <p:cNvGrpSpPr>
            <a:grpSpLocks/>
          </p:cNvGrpSpPr>
          <p:nvPr/>
        </p:nvGrpSpPr>
        <p:grpSpPr bwMode="auto">
          <a:xfrm rot="4797862">
            <a:off x="5430044" y="3186619"/>
            <a:ext cx="265112" cy="438150"/>
            <a:chOff x="3708391" y="4698272"/>
            <a:chExt cx="265290" cy="436662"/>
          </a:xfrm>
        </p:grpSpPr>
        <p:sp>
          <p:nvSpPr>
            <p:cNvPr id="32895"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2896" name="组合 127"/>
            <p:cNvGrpSpPr>
              <a:grpSpLocks/>
            </p:cNvGrpSpPr>
            <p:nvPr/>
          </p:nvGrpSpPr>
          <p:grpSpPr bwMode="auto">
            <a:xfrm>
              <a:off x="3723561" y="4885168"/>
              <a:ext cx="250120" cy="249766"/>
              <a:chOff x="3723561" y="4885168"/>
              <a:chExt cx="250120" cy="249766"/>
            </a:xfrm>
          </p:grpSpPr>
          <p:sp>
            <p:nvSpPr>
              <p:cNvPr id="3289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89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32899" name="组合 127"/>
          <p:cNvGrpSpPr>
            <a:grpSpLocks/>
          </p:cNvGrpSpPr>
          <p:nvPr/>
        </p:nvGrpSpPr>
        <p:grpSpPr bwMode="auto">
          <a:xfrm rot="3206337">
            <a:off x="5882482" y="1886456"/>
            <a:ext cx="249238" cy="250825"/>
            <a:chOff x="3723561" y="4885168"/>
            <a:chExt cx="250120" cy="249766"/>
          </a:xfrm>
        </p:grpSpPr>
        <p:sp>
          <p:nvSpPr>
            <p:cNvPr id="3290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90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02" name="组合 127"/>
          <p:cNvGrpSpPr>
            <a:grpSpLocks/>
          </p:cNvGrpSpPr>
          <p:nvPr/>
        </p:nvGrpSpPr>
        <p:grpSpPr bwMode="auto">
          <a:xfrm rot="19781852">
            <a:off x="5875338" y="2295238"/>
            <a:ext cx="249237" cy="249237"/>
            <a:chOff x="3723561" y="4885168"/>
            <a:chExt cx="250120" cy="249766"/>
          </a:xfrm>
        </p:grpSpPr>
        <p:sp>
          <p:nvSpPr>
            <p:cNvPr id="3290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90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05" name="组合 127"/>
          <p:cNvGrpSpPr>
            <a:grpSpLocks/>
          </p:cNvGrpSpPr>
          <p:nvPr/>
        </p:nvGrpSpPr>
        <p:grpSpPr bwMode="auto">
          <a:xfrm rot="2365828">
            <a:off x="5838825" y="2779425"/>
            <a:ext cx="250825" cy="249238"/>
            <a:chOff x="3723561" y="4885168"/>
            <a:chExt cx="250120" cy="249766"/>
          </a:xfrm>
        </p:grpSpPr>
        <p:sp>
          <p:nvSpPr>
            <p:cNvPr id="3290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90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08" name="组合 127"/>
          <p:cNvGrpSpPr>
            <a:grpSpLocks/>
          </p:cNvGrpSpPr>
          <p:nvPr/>
        </p:nvGrpSpPr>
        <p:grpSpPr bwMode="auto">
          <a:xfrm rot="3156746">
            <a:off x="5839619" y="3318381"/>
            <a:ext cx="249238" cy="250825"/>
            <a:chOff x="3723561" y="4885168"/>
            <a:chExt cx="250120" cy="249766"/>
          </a:xfrm>
        </p:grpSpPr>
        <p:sp>
          <p:nvSpPr>
            <p:cNvPr id="3290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91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11" name="组合 127"/>
          <p:cNvGrpSpPr>
            <a:grpSpLocks/>
          </p:cNvGrpSpPr>
          <p:nvPr/>
        </p:nvGrpSpPr>
        <p:grpSpPr bwMode="auto">
          <a:xfrm rot="2191984">
            <a:off x="6391275" y="1949163"/>
            <a:ext cx="250825" cy="249237"/>
            <a:chOff x="3723561" y="4885168"/>
            <a:chExt cx="250120" cy="249766"/>
          </a:xfrm>
        </p:grpSpPr>
        <p:sp>
          <p:nvSpPr>
            <p:cNvPr id="3291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91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14" name="组合 127"/>
          <p:cNvGrpSpPr>
            <a:grpSpLocks/>
          </p:cNvGrpSpPr>
          <p:nvPr/>
        </p:nvGrpSpPr>
        <p:grpSpPr bwMode="auto">
          <a:xfrm rot="19482592">
            <a:off x="6424613" y="2385725"/>
            <a:ext cx="249237" cy="249238"/>
            <a:chOff x="3723561" y="4885168"/>
            <a:chExt cx="250120" cy="249766"/>
          </a:xfrm>
        </p:grpSpPr>
        <p:sp>
          <p:nvSpPr>
            <p:cNvPr id="3291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3291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17" name="组合 127"/>
          <p:cNvGrpSpPr>
            <a:grpSpLocks/>
          </p:cNvGrpSpPr>
          <p:nvPr/>
        </p:nvGrpSpPr>
        <p:grpSpPr bwMode="auto">
          <a:xfrm rot="3431710">
            <a:off x="6423025" y="2860388"/>
            <a:ext cx="249237" cy="249238"/>
            <a:chOff x="3723561" y="4885168"/>
            <a:chExt cx="250120" cy="249766"/>
          </a:xfrm>
        </p:grpSpPr>
        <p:sp>
          <p:nvSpPr>
            <p:cNvPr id="3291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91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20" name="组合 127"/>
          <p:cNvGrpSpPr>
            <a:grpSpLocks/>
          </p:cNvGrpSpPr>
          <p:nvPr/>
        </p:nvGrpSpPr>
        <p:grpSpPr bwMode="auto">
          <a:xfrm rot="2750622">
            <a:off x="6422231" y="3364419"/>
            <a:ext cx="250825" cy="249238"/>
            <a:chOff x="3723561" y="4885168"/>
            <a:chExt cx="250120" cy="249766"/>
          </a:xfrm>
        </p:grpSpPr>
        <p:sp>
          <p:nvSpPr>
            <p:cNvPr id="3292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292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32923" name="Group 184"/>
          <p:cNvGrpSpPr>
            <a:grpSpLocks/>
          </p:cNvGrpSpPr>
          <p:nvPr/>
        </p:nvGrpSpPr>
        <p:grpSpPr bwMode="auto">
          <a:xfrm>
            <a:off x="4713288" y="1226850"/>
            <a:ext cx="1008062" cy="427038"/>
            <a:chOff x="1321" y="964"/>
            <a:chExt cx="1478" cy="269"/>
          </a:xfrm>
        </p:grpSpPr>
        <p:sp>
          <p:nvSpPr>
            <p:cNvPr id="32924" name="Line 123"/>
            <p:cNvSpPr>
              <a:spLocks noChangeShapeType="1"/>
            </p:cNvSpPr>
            <p:nvPr/>
          </p:nvSpPr>
          <p:spPr bwMode="auto">
            <a:xfrm>
              <a:off x="1321" y="1111"/>
              <a:ext cx="1478" cy="0"/>
            </a:xfrm>
            <a:prstGeom prst="line">
              <a:avLst/>
            </a:prstGeom>
            <a:noFill/>
            <a:ln w="38100">
              <a:solidFill>
                <a:srgbClr val="000000"/>
              </a:solidFill>
              <a:round/>
              <a:headEnd type="stealth" w="med" len="lg"/>
              <a:tailEnd type="stealth" w="med" len="lg"/>
            </a:ln>
          </p:spPr>
          <p:txBody>
            <a:bodyPr/>
            <a:lstStyle/>
            <a:p>
              <a:endParaRPr lang="zh-CN" altLang="en-US">
                <a:latin typeface="微软雅黑" pitchFamily="34" charset="-122"/>
                <a:ea typeface="微软雅黑" pitchFamily="34" charset="-122"/>
              </a:endParaRPr>
            </a:p>
          </p:txBody>
        </p:sp>
        <p:sp>
          <p:nvSpPr>
            <p:cNvPr id="32925" name="Text Box 124"/>
            <p:cNvSpPr txBox="1">
              <a:spLocks noChangeArrowheads="1"/>
            </p:cNvSpPr>
            <p:nvPr/>
          </p:nvSpPr>
          <p:spPr bwMode="auto">
            <a:xfrm>
              <a:off x="1956" y="964"/>
              <a:ext cx="406" cy="269"/>
            </a:xfrm>
            <a:prstGeom prst="rect">
              <a:avLst/>
            </a:prstGeom>
            <a:solidFill>
              <a:srgbClr val="FFFFFF"/>
            </a:solidFill>
            <a:ln w="9525">
              <a:noFill/>
              <a:miter lim="800000"/>
              <a:headEnd/>
              <a:tailEnd/>
            </a:ln>
          </p:spPr>
          <p:txBody>
            <a:bodyPr lIns="0" tIns="0" rIns="0" bIns="0"/>
            <a:lstStyle/>
            <a:p>
              <a:pPr algn="just" defTabSz="914400"/>
              <a:r>
                <a:rPr lang="en-US" altLang="zh-CN" sz="2400" b="1" dirty="0">
                  <a:latin typeface="Times New Roman" panose="02020603050405020304" pitchFamily="18" charset="0"/>
                  <a:ea typeface="微软雅黑" pitchFamily="34" charset="-122"/>
                  <a:cs typeface="Times New Roman" panose="02020603050405020304" pitchFamily="18" charset="0"/>
                </a:rPr>
                <a:t>P</a:t>
              </a:r>
              <a:endParaRPr lang="zh-CN" altLang="zh-CN" sz="6600" b="1" dirty="0">
                <a:latin typeface="Times New Roman" panose="02020603050405020304" pitchFamily="18" charset="0"/>
                <a:ea typeface="微软雅黑" pitchFamily="34" charset="-122"/>
                <a:cs typeface="Times New Roman" panose="02020603050405020304" pitchFamily="18" charset="0"/>
              </a:endParaRPr>
            </a:p>
          </p:txBody>
        </p:sp>
      </p:grpSp>
      <p:grpSp>
        <p:nvGrpSpPr>
          <p:cNvPr id="32926" name="Group 184"/>
          <p:cNvGrpSpPr>
            <a:grpSpLocks/>
          </p:cNvGrpSpPr>
          <p:nvPr/>
        </p:nvGrpSpPr>
        <p:grpSpPr bwMode="auto">
          <a:xfrm>
            <a:off x="8255000" y="1226850"/>
            <a:ext cx="1189038" cy="427038"/>
            <a:chOff x="1321" y="964"/>
            <a:chExt cx="1478" cy="269"/>
          </a:xfrm>
        </p:grpSpPr>
        <p:sp>
          <p:nvSpPr>
            <p:cNvPr id="32927" name="Line 123"/>
            <p:cNvSpPr>
              <a:spLocks noChangeShapeType="1"/>
            </p:cNvSpPr>
            <p:nvPr/>
          </p:nvSpPr>
          <p:spPr bwMode="auto">
            <a:xfrm>
              <a:off x="1321" y="1111"/>
              <a:ext cx="1478" cy="0"/>
            </a:xfrm>
            <a:prstGeom prst="line">
              <a:avLst/>
            </a:prstGeom>
            <a:noFill/>
            <a:ln w="38100">
              <a:solidFill>
                <a:srgbClr val="000000"/>
              </a:solidFill>
              <a:round/>
              <a:headEnd type="stealth" w="med" len="lg"/>
              <a:tailEnd type="stealth" w="med" len="lg"/>
            </a:ln>
          </p:spPr>
          <p:txBody>
            <a:bodyPr/>
            <a:lstStyle/>
            <a:p>
              <a:endParaRPr lang="zh-CN" altLang="en-US">
                <a:latin typeface="微软雅黑" pitchFamily="34" charset="-122"/>
                <a:ea typeface="微软雅黑" pitchFamily="34" charset="-122"/>
              </a:endParaRPr>
            </a:p>
          </p:txBody>
        </p:sp>
        <p:sp>
          <p:nvSpPr>
            <p:cNvPr id="32928" name="Text Box 124"/>
            <p:cNvSpPr txBox="1">
              <a:spLocks noChangeArrowheads="1"/>
            </p:cNvSpPr>
            <p:nvPr/>
          </p:nvSpPr>
          <p:spPr bwMode="auto">
            <a:xfrm>
              <a:off x="1956" y="964"/>
              <a:ext cx="360" cy="269"/>
            </a:xfrm>
            <a:prstGeom prst="rect">
              <a:avLst/>
            </a:prstGeom>
            <a:solidFill>
              <a:srgbClr val="FFFFFF"/>
            </a:solidFill>
            <a:ln w="9525">
              <a:noFill/>
              <a:miter lim="800000"/>
              <a:headEnd/>
              <a:tailEnd/>
            </a:ln>
          </p:spPr>
          <p:txBody>
            <a:bodyPr lIns="0" tIns="0" rIns="0" bIns="0"/>
            <a:lstStyle/>
            <a:p>
              <a:pPr algn="just" defTabSz="914400"/>
              <a:r>
                <a:rPr lang="en-US" altLang="zh-CN" sz="2400" b="1" dirty="0">
                  <a:latin typeface="Times New Roman" panose="02020603050405020304" pitchFamily="18" charset="0"/>
                  <a:ea typeface="微软雅黑" pitchFamily="34" charset="-122"/>
                  <a:cs typeface="Times New Roman" panose="02020603050405020304" pitchFamily="18" charset="0"/>
                </a:rPr>
                <a:t>N</a:t>
              </a:r>
              <a:endParaRPr lang="zh-CN" altLang="zh-CN" sz="6600" b="1" dirty="0">
                <a:latin typeface="Times New Roman" panose="02020603050405020304" pitchFamily="18" charset="0"/>
                <a:ea typeface="微软雅黑" pitchFamily="34" charset="-122"/>
                <a:cs typeface="Times New Roman" panose="02020603050405020304" pitchFamily="18" charset="0"/>
              </a:endParaRPr>
            </a:p>
          </p:txBody>
        </p:sp>
      </p:grpSp>
      <p:sp>
        <p:nvSpPr>
          <p:cNvPr id="32929" name="Rectangle 13"/>
          <p:cNvSpPr>
            <a:spLocks noChangeArrowheads="1"/>
          </p:cNvSpPr>
          <p:nvPr/>
        </p:nvSpPr>
        <p:spPr bwMode="auto">
          <a:xfrm>
            <a:off x="5703888" y="1734850"/>
            <a:ext cx="2474912" cy="1944688"/>
          </a:xfrm>
          <a:prstGeom prst="rect">
            <a:avLst/>
          </a:prstGeom>
          <a:noFill/>
          <a:ln w="57150">
            <a:solidFill>
              <a:srgbClr val="FF0000"/>
            </a:solidFill>
            <a:prstDash val="dash"/>
            <a:miter lim="800000"/>
            <a:headEnd/>
            <a:tailEnd/>
          </a:ln>
        </p:spPr>
        <p:txBody>
          <a:bodyPr wrap="none" anchor="ctr"/>
          <a:lstStyle/>
          <a:p>
            <a:pPr defTabSz="914400"/>
            <a:endParaRPr lang="zh-CN" altLang="en-US" sz="2800" b="1">
              <a:latin typeface="微软雅黑" pitchFamily="34" charset="-122"/>
              <a:ea typeface="微软雅黑" pitchFamily="34" charset="-122"/>
            </a:endParaRPr>
          </a:p>
        </p:txBody>
      </p:sp>
      <p:cxnSp>
        <p:nvCxnSpPr>
          <p:cNvPr id="196" name="直接箭头连接符 195"/>
          <p:cNvCxnSpPr/>
          <p:nvPr/>
        </p:nvCxnSpPr>
        <p:spPr>
          <a:xfrm>
            <a:off x="5721350" y="4142135"/>
            <a:ext cx="1289050" cy="22225"/>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rot="5400000">
            <a:off x="5499101" y="4004975"/>
            <a:ext cx="444500" cy="3175"/>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rot="5400000">
            <a:off x="7987507" y="4004181"/>
            <a:ext cx="444500"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rot="5400000">
            <a:off x="6833394" y="4070856"/>
            <a:ext cx="444500"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2" name="直接箭头连接符 201"/>
          <p:cNvCxnSpPr/>
          <p:nvPr/>
        </p:nvCxnSpPr>
        <p:spPr>
          <a:xfrm>
            <a:off x="7099300" y="4164360"/>
            <a:ext cx="1111250" cy="1588"/>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sp useBgFill="1">
        <p:nvSpPr>
          <p:cNvPr id="32935" name="TextBox 203"/>
          <p:cNvSpPr txBox="1">
            <a:spLocks noChangeArrowheads="1"/>
          </p:cNvSpPr>
          <p:nvPr/>
        </p:nvSpPr>
        <p:spPr bwMode="auto">
          <a:xfrm>
            <a:off x="6210300" y="3804950"/>
            <a:ext cx="800100" cy="430887"/>
          </a:xfrm>
          <a:prstGeom prst="rect">
            <a:avLst/>
          </a:prstGeom>
          <a:ln w="9525">
            <a:noFill/>
            <a:miter lim="800000"/>
            <a:headEnd/>
            <a:tailEnd/>
          </a:ln>
        </p:spPr>
        <p:txBody>
          <a:bodyPr wrap="square" lIns="0" tIns="0" rIns="0" bIns="0">
            <a:spAutoFit/>
          </a:bodyPr>
          <a:lstStyle/>
          <a:p>
            <a:pPr defTabSz="914400"/>
            <a:r>
              <a:rPr lang="en-US" altLang="zh-CN" sz="2800" b="1" dirty="0">
                <a:latin typeface="Times New Roman" panose="02020603050405020304" pitchFamily="18" charset="0"/>
                <a:ea typeface="微软雅黑" pitchFamily="34" charset="-122"/>
                <a:cs typeface="Times New Roman" panose="02020603050405020304" pitchFamily="18" charset="0"/>
              </a:rPr>
              <a:t>W</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P</a:t>
            </a:r>
            <a:endParaRPr lang="zh-CN" altLang="en-US" sz="2800" b="1" baseline="-25000" dirty="0">
              <a:latin typeface="Times New Roman" panose="02020603050405020304" pitchFamily="18" charset="0"/>
              <a:ea typeface="微软雅黑" pitchFamily="34" charset="-122"/>
              <a:cs typeface="Times New Roman" panose="02020603050405020304" pitchFamily="18" charset="0"/>
            </a:endParaRPr>
          </a:p>
        </p:txBody>
      </p:sp>
      <p:sp useBgFill="1">
        <p:nvSpPr>
          <p:cNvPr id="32936" name="TextBox 204"/>
          <p:cNvSpPr txBox="1">
            <a:spLocks noChangeArrowheads="1"/>
          </p:cNvSpPr>
          <p:nvPr/>
        </p:nvSpPr>
        <p:spPr bwMode="auto">
          <a:xfrm>
            <a:off x="7410450" y="3804950"/>
            <a:ext cx="844550" cy="430887"/>
          </a:xfrm>
          <a:prstGeom prst="rect">
            <a:avLst/>
          </a:prstGeom>
          <a:ln w="9525">
            <a:noFill/>
            <a:miter lim="800000"/>
            <a:headEnd/>
            <a:tailEnd/>
          </a:ln>
        </p:spPr>
        <p:txBody>
          <a:bodyPr wrap="square" lIns="0" tIns="0" rIns="0" bIns="0">
            <a:spAutoFit/>
          </a:bodyPr>
          <a:lstStyle/>
          <a:p>
            <a:pPr defTabSz="914400"/>
            <a:r>
              <a:rPr lang="en-US" altLang="zh-CN" sz="2800" b="1" dirty="0" err="1">
                <a:latin typeface="Times New Roman" panose="02020603050405020304" pitchFamily="18" charset="0"/>
                <a:ea typeface="微软雅黑" pitchFamily="34" charset="-122"/>
                <a:cs typeface="Times New Roman" panose="02020603050405020304" pitchFamily="18" charset="0"/>
              </a:rPr>
              <a:t>W</a:t>
            </a:r>
            <a:r>
              <a:rPr lang="en-US" altLang="zh-CN" sz="2800" b="1" baseline="-25000" dirty="0" err="1">
                <a:latin typeface="Times New Roman" panose="02020603050405020304" pitchFamily="18" charset="0"/>
                <a:ea typeface="微软雅黑" pitchFamily="34" charset="-122"/>
                <a:cs typeface="Times New Roman" panose="02020603050405020304" pitchFamily="18" charset="0"/>
              </a:rPr>
              <a:t>n</a:t>
            </a:r>
            <a:endParaRPr lang="zh-CN" altLang="en-US" sz="2800" b="1" baseline="-25000" dirty="0">
              <a:latin typeface="Times New Roman" panose="02020603050405020304" pitchFamily="18" charset="0"/>
              <a:ea typeface="微软雅黑" pitchFamily="34" charset="-122"/>
              <a:cs typeface="Times New Roman" panose="02020603050405020304" pitchFamily="18" charset="0"/>
            </a:endParaRPr>
          </a:p>
        </p:txBody>
      </p:sp>
      <p:cxnSp>
        <p:nvCxnSpPr>
          <p:cNvPr id="206" name="直接连接符 205"/>
          <p:cNvCxnSpPr/>
          <p:nvPr/>
        </p:nvCxnSpPr>
        <p:spPr>
          <a:xfrm rot="5400000">
            <a:off x="4477544" y="1492756"/>
            <a:ext cx="444500"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rot="5400000">
            <a:off x="5499894" y="1492756"/>
            <a:ext cx="444500"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rot="5400000">
            <a:off x="7952582" y="1537206"/>
            <a:ext cx="444500"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rot="5400000">
            <a:off x="9268619" y="1492756"/>
            <a:ext cx="444500"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useBgFill="1">
        <p:nvSpPr>
          <p:cNvPr id="32943" name="TextBox 211"/>
          <p:cNvSpPr txBox="1">
            <a:spLocks noChangeArrowheads="1"/>
          </p:cNvSpPr>
          <p:nvPr/>
        </p:nvSpPr>
        <p:spPr bwMode="auto">
          <a:xfrm>
            <a:off x="757876" y="4602395"/>
            <a:ext cx="8248730" cy="646331"/>
          </a:xfrm>
          <a:prstGeom prst="rect">
            <a:avLst/>
          </a:prstGeom>
          <a:ln w="9525">
            <a:noFill/>
            <a:miter lim="800000"/>
            <a:headEnd/>
            <a:tailEnd/>
          </a:ln>
        </p:spPr>
        <p:txBody>
          <a:bodyPr wrap="square" lIns="0" tIns="0" rIns="0" bIns="0">
            <a:spAutoFit/>
          </a:bodyPr>
          <a:lstStyle/>
          <a:p>
            <a:pPr algn="ctr" defTabSz="914400">
              <a:lnSpc>
                <a:spcPct val="150000"/>
              </a:lnSpc>
            </a:pPr>
            <a:r>
              <a:rPr lang="zh-CN" altLang="en-US" sz="2800" b="1" dirty="0">
                <a:latin typeface="微软雅黑" pitchFamily="34" charset="-122"/>
                <a:ea typeface="微软雅黑" pitchFamily="34" charset="-122"/>
                <a:cs typeface="Times New Roman" pitchFamily="18" charset="0"/>
              </a:rPr>
              <a:t>平衡时，</a:t>
            </a:r>
            <a:r>
              <a:rPr lang="en-US" altLang="zh-CN" sz="2800" b="1" dirty="0">
                <a:latin typeface="微软雅黑" pitchFamily="34" charset="-122"/>
                <a:ea typeface="微软雅黑" pitchFamily="34" charset="-122"/>
                <a:cs typeface="Times New Roman" pitchFamily="18" charset="0"/>
              </a:rPr>
              <a:t>P</a:t>
            </a:r>
            <a:r>
              <a:rPr lang="zh-CN" altLang="en-US" sz="2800" b="1" dirty="0">
                <a:latin typeface="微软雅黑" pitchFamily="34" charset="-122"/>
                <a:ea typeface="微软雅黑" pitchFamily="34" charset="-122"/>
                <a:cs typeface="Times New Roman" pitchFamily="18" charset="0"/>
              </a:rPr>
              <a:t>区空间总净电荷与</a:t>
            </a:r>
            <a:r>
              <a:rPr lang="en-US" altLang="zh-CN" sz="2800" b="1" dirty="0">
                <a:latin typeface="微软雅黑" pitchFamily="34" charset="-122"/>
                <a:ea typeface="微软雅黑" pitchFamily="34" charset="-122"/>
                <a:cs typeface="Times New Roman" pitchFamily="18" charset="0"/>
              </a:rPr>
              <a:t>N</a:t>
            </a:r>
            <a:r>
              <a:rPr lang="zh-CN" altLang="en-US" sz="2800" b="1" dirty="0">
                <a:latin typeface="微软雅黑" pitchFamily="34" charset="-122"/>
                <a:ea typeface="微软雅黑" pitchFamily="34" charset="-122"/>
                <a:cs typeface="Times New Roman" pitchFamily="18" charset="0"/>
              </a:rPr>
              <a:t>区空间总净电荷相等</a:t>
            </a:r>
          </a:p>
        </p:txBody>
      </p:sp>
      <p:graphicFrame>
        <p:nvGraphicFramePr>
          <p:cNvPr id="32947" name="Object 6"/>
          <p:cNvGraphicFramePr>
            <a:graphicFrameLocks noChangeAspect="1"/>
          </p:cNvGraphicFramePr>
          <p:nvPr/>
        </p:nvGraphicFramePr>
        <p:xfrm>
          <a:off x="3498884" y="6208515"/>
          <a:ext cx="747222" cy="715511"/>
        </p:xfrm>
        <a:graphic>
          <a:graphicData uri="http://schemas.openxmlformats.org/presentationml/2006/ole">
            <mc:AlternateContent xmlns:mc="http://schemas.openxmlformats.org/markup-compatibility/2006">
              <mc:Choice xmlns:v="urn:schemas-microsoft-com:vml" Requires="v">
                <p:oleObj spid="_x0000_s42206" name="Equation" r:id="rId3" imgW="203040" imgH="190440" progId="">
                  <p:embed/>
                </p:oleObj>
              </mc:Choice>
              <mc:Fallback>
                <p:oleObj name="Equation" r:id="rId3" imgW="203040" imgH="1904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884" y="6208515"/>
                        <a:ext cx="747222" cy="715511"/>
                      </a:xfrm>
                      <a:prstGeom prst="rect">
                        <a:avLst/>
                      </a:prstGeom>
                      <a:solidFill>
                        <a:srgbClr val="FF00FF"/>
                      </a:solidFill>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693604001"/>
              </p:ext>
            </p:extLst>
          </p:nvPr>
        </p:nvGraphicFramePr>
        <p:xfrm>
          <a:off x="9134889" y="4556351"/>
          <a:ext cx="2749550" cy="746125"/>
        </p:xfrm>
        <a:graphic>
          <a:graphicData uri="http://schemas.openxmlformats.org/presentationml/2006/ole">
            <mc:AlternateContent xmlns:mc="http://schemas.openxmlformats.org/markup-compatibility/2006">
              <mc:Choice xmlns:v="urn:schemas-microsoft-com:vml" Requires="v">
                <p:oleObj spid="_x0000_s42207" name="Equation" r:id="rId5" imgW="888840" imgH="241200" progId="Equation.DSMT4">
                  <p:embed/>
                </p:oleObj>
              </mc:Choice>
              <mc:Fallback>
                <p:oleObj name="Equation" r:id="rId5" imgW="888840" imgH="241200" progId="Equation.DSMT4">
                  <p:embed/>
                  <p:pic>
                    <p:nvPicPr>
                      <p:cNvPr id="0" name=""/>
                      <p:cNvPicPr/>
                      <p:nvPr/>
                    </p:nvPicPr>
                    <p:blipFill>
                      <a:blip r:embed="rId6"/>
                      <a:stretch>
                        <a:fillRect/>
                      </a:stretch>
                    </p:blipFill>
                    <p:spPr>
                      <a:xfrm>
                        <a:off x="9134889" y="4556351"/>
                        <a:ext cx="2749550" cy="746125"/>
                      </a:xfrm>
                      <a:prstGeom prst="rect">
                        <a:avLst/>
                      </a:prstGeom>
                      <a:solidFill>
                        <a:srgbClr val="FFFF00"/>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1880322"/>
              </p:ext>
            </p:extLst>
          </p:nvPr>
        </p:nvGraphicFramePr>
        <p:xfrm>
          <a:off x="5021263" y="6159500"/>
          <a:ext cx="1846262" cy="708025"/>
        </p:xfrm>
        <a:graphic>
          <a:graphicData uri="http://schemas.openxmlformats.org/presentationml/2006/ole">
            <mc:AlternateContent xmlns:mc="http://schemas.openxmlformats.org/markup-compatibility/2006">
              <mc:Choice xmlns:v="urn:schemas-microsoft-com:vml" Requires="v">
                <p:oleObj spid="_x0000_s42208" name="Equation" r:id="rId7" imgW="596880" imgH="228600" progId="Equation.DSMT4">
                  <p:embed/>
                </p:oleObj>
              </mc:Choice>
              <mc:Fallback>
                <p:oleObj name="Equation" r:id="rId7" imgW="596880" imgH="228600" progId="Equation.DSMT4">
                  <p:embed/>
                  <p:pic>
                    <p:nvPicPr>
                      <p:cNvPr id="0" name=""/>
                      <p:cNvPicPr>
                        <a:picLocks noChangeAspect="1" noChangeArrowheads="1"/>
                      </p:cNvPicPr>
                      <p:nvPr/>
                    </p:nvPicPr>
                    <p:blipFill>
                      <a:blip r:embed="rId8"/>
                      <a:srcRect/>
                      <a:stretch>
                        <a:fillRect/>
                      </a:stretch>
                    </p:blipFill>
                    <p:spPr bwMode="auto">
                      <a:xfrm>
                        <a:off x="5021263" y="6159500"/>
                        <a:ext cx="1846262" cy="708025"/>
                      </a:xfrm>
                      <a:prstGeom prst="rect">
                        <a:avLst/>
                      </a:prstGeom>
                      <a:solidFill>
                        <a:srgbClr val="FFC000"/>
                      </a:solidFill>
                      <a:ln>
                        <a:no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84873050"/>
              </p:ext>
            </p:extLst>
          </p:nvPr>
        </p:nvGraphicFramePr>
        <p:xfrm>
          <a:off x="7631113" y="6102350"/>
          <a:ext cx="1808162" cy="746125"/>
        </p:xfrm>
        <a:graphic>
          <a:graphicData uri="http://schemas.openxmlformats.org/presentationml/2006/ole">
            <mc:AlternateContent xmlns:mc="http://schemas.openxmlformats.org/markup-compatibility/2006">
              <mc:Choice xmlns:v="urn:schemas-microsoft-com:vml" Requires="v">
                <p:oleObj spid="_x0000_s42209" name="Equation" r:id="rId9" imgW="583920" imgH="241200" progId="Equation.DSMT4">
                  <p:embed/>
                </p:oleObj>
              </mc:Choice>
              <mc:Fallback>
                <p:oleObj name="Equation" r:id="rId9" imgW="583920" imgH="241200" progId="Equation.DSMT4">
                  <p:embed/>
                  <p:pic>
                    <p:nvPicPr>
                      <p:cNvPr id="0" name=""/>
                      <p:cNvPicPr>
                        <a:picLocks noChangeAspect="1" noChangeArrowheads="1"/>
                      </p:cNvPicPr>
                      <p:nvPr/>
                    </p:nvPicPr>
                    <p:blipFill>
                      <a:blip r:embed="rId10"/>
                      <a:srcRect/>
                      <a:stretch>
                        <a:fillRect/>
                      </a:stretch>
                    </p:blipFill>
                    <p:spPr bwMode="auto">
                      <a:xfrm>
                        <a:off x="7631113" y="6102350"/>
                        <a:ext cx="1808162" cy="746125"/>
                      </a:xfrm>
                      <a:prstGeom prst="rect">
                        <a:avLst/>
                      </a:prstGeom>
                      <a:solidFill>
                        <a:srgbClr val="00B0F0"/>
                      </a:solidFill>
                      <a:ln>
                        <a:noFill/>
                      </a:ln>
                    </p:spPr>
                  </p:pic>
                </p:oleObj>
              </mc:Fallback>
            </mc:AlternateContent>
          </a:graphicData>
        </a:graphic>
      </p:graphicFrame>
      <p:sp>
        <p:nvSpPr>
          <p:cNvPr id="179" name="文本框 60">
            <a:extLst>
              <a:ext uri="{FF2B5EF4-FFF2-40B4-BE49-F238E27FC236}">
                <a16:creationId xmlns="" xmlns:a16="http://schemas.microsoft.com/office/drawing/2014/main" id="{1CE5D590-8152-42D7-8A57-CC877C7B02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80" name="矩形 179">
            <a:extLst>
              <a:ext uri="{FF2B5EF4-FFF2-40B4-BE49-F238E27FC236}">
                <a16:creationId xmlns="" xmlns:a16="http://schemas.microsoft.com/office/drawing/2014/main" id="{D04F7EB2-4118-4CF8-8DD9-DD432C3E256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3" name="矩形 182">
            <a:extLst>
              <a:ext uri="{FF2B5EF4-FFF2-40B4-BE49-F238E27FC236}">
                <a16:creationId xmlns="" xmlns:a16="http://schemas.microsoft.com/office/drawing/2014/main" id="{560FFBF2-E8FD-4E7B-8913-3566CF907C71}"/>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矩形: 圆角 183">
            <a:extLst>
              <a:ext uri="{FF2B5EF4-FFF2-40B4-BE49-F238E27FC236}">
                <a16:creationId xmlns="" xmlns:a16="http://schemas.microsoft.com/office/drawing/2014/main" id="{42CD410F-6049-4F59-80F0-C24AE6D4FAE3}"/>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5" name="直接连接符 58">
            <a:extLst>
              <a:ext uri="{FF2B5EF4-FFF2-40B4-BE49-F238E27FC236}">
                <a16:creationId xmlns="" xmlns:a16="http://schemas.microsoft.com/office/drawing/2014/main" id="{7BF92F4A-39D1-4D80-B19E-632627D11B04}"/>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6" name="矩形 185">
            <a:extLst>
              <a:ext uri="{FF2B5EF4-FFF2-40B4-BE49-F238E27FC236}">
                <a16:creationId xmlns="" xmlns:a16="http://schemas.microsoft.com/office/drawing/2014/main" id="{2F4BA2C6-F602-45FB-AE97-F63CE61A6E1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7" name="矩形 186">
            <a:extLst>
              <a:ext uri="{FF2B5EF4-FFF2-40B4-BE49-F238E27FC236}">
                <a16:creationId xmlns="" xmlns:a16="http://schemas.microsoft.com/office/drawing/2014/main" id="{4B669A08-A67E-436D-97C8-BD282C7FB48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9064022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3999328" y="1205462"/>
            <a:ext cx="5725160" cy="615553"/>
          </a:xfrm>
          <a:prstGeom prst="rect">
            <a:avLst/>
          </a:prstGeom>
          <a:gradFill rotWithShape="1">
            <a:gsLst>
              <a:gs pos="0">
                <a:srgbClr val="FFF200"/>
              </a:gs>
              <a:gs pos="45000">
                <a:srgbClr val="FF7A00"/>
              </a:gs>
              <a:gs pos="70000">
                <a:srgbClr val="FF0300"/>
              </a:gs>
              <a:gs pos="100000">
                <a:srgbClr val="4D0808"/>
              </a:gs>
            </a:gsLst>
            <a:path path="rect">
              <a:fillToRect l="100000" t="100000"/>
            </a:path>
          </a:gradFill>
          <a:ln w="9525">
            <a:noFill/>
            <a:miter lim="800000"/>
            <a:headEnd/>
            <a:tailEnd/>
          </a:ln>
        </p:spPr>
        <p:txBody>
          <a:bodyPr wrap="square" lIns="0" tIns="0" rIns="0" bIns="0" anchor="ctr">
            <a:spAutoFit/>
          </a:bodyPr>
          <a:lstStyle/>
          <a:p>
            <a:pPr algn="ctr" defTabSz="914400"/>
            <a:r>
              <a:rPr lang="en-US" altLang="zh-CN" sz="4000" b="1" dirty="0">
                <a:solidFill>
                  <a:schemeClr val="bg1"/>
                </a:solidFill>
                <a:latin typeface="Times New Roman" pitchFamily="18" charset="0"/>
                <a:ea typeface="微软雅黑" pitchFamily="34" charset="-122"/>
                <a:cs typeface="Times New Roman" pitchFamily="18" charset="0"/>
              </a:rPr>
              <a:t>2 PN</a:t>
            </a:r>
            <a:r>
              <a:rPr lang="zh-CN" altLang="en-US" sz="4000" b="1" dirty="0">
                <a:solidFill>
                  <a:schemeClr val="bg1"/>
                </a:solidFill>
                <a:latin typeface="Times New Roman" pitchFamily="18" charset="0"/>
                <a:ea typeface="微软雅黑" pitchFamily="34" charset="-122"/>
                <a:cs typeface="Times New Roman" pitchFamily="18" charset="0"/>
              </a:rPr>
              <a:t>结能带与势垒 </a:t>
            </a:r>
          </a:p>
        </p:txBody>
      </p:sp>
      <p:sp>
        <p:nvSpPr>
          <p:cNvPr id="33" name="Text Box 10"/>
          <p:cNvSpPr txBox="1">
            <a:spLocks noChangeArrowheads="1"/>
          </p:cNvSpPr>
          <p:nvPr/>
        </p:nvSpPr>
        <p:spPr bwMode="auto">
          <a:xfrm>
            <a:off x="3465830" y="2935605"/>
            <a:ext cx="266700" cy="311150"/>
          </a:xfrm>
          <a:prstGeom prst="rect">
            <a:avLst/>
          </a:prstGeom>
          <a:solidFill>
            <a:srgbClr val="FFFFFF"/>
          </a:solidFill>
          <a:ln w="34925">
            <a:noFill/>
            <a:miter lim="800000"/>
            <a:headEnd/>
            <a:tailEnd/>
          </a:ln>
        </p:spPr>
        <p:txBody>
          <a:bodyPr lIns="0" tIns="0" rIns="0" bIns="0"/>
          <a:lstStyle/>
          <a:p>
            <a:pPr algn="just" defTabSz="914400"/>
            <a:r>
              <a:rPr lang="en-US" altLang="zh-CN" b="1">
                <a:latin typeface="Times New Roman" pitchFamily="18" charset="0"/>
                <a:ea typeface="微软雅黑" pitchFamily="34" charset="-122"/>
                <a:cs typeface="Times New Roman" pitchFamily="18" charset="0"/>
              </a:rPr>
              <a:t>E</a:t>
            </a:r>
            <a:r>
              <a:rPr lang="en-US" altLang="zh-CN" b="1" i="1" baseline="-25000">
                <a:latin typeface="Times New Roman" pitchFamily="18" charset="0"/>
                <a:ea typeface="微软雅黑" pitchFamily="34" charset="-122"/>
                <a:cs typeface="Times New Roman" pitchFamily="18" charset="0"/>
              </a:rPr>
              <a:t>c</a:t>
            </a:r>
            <a:endParaRPr lang="zh-CN" altLang="zh-CN" sz="6600" b="1" i="1">
              <a:latin typeface="Times New Roman" pitchFamily="18" charset="0"/>
              <a:ea typeface="微软雅黑" pitchFamily="34" charset="-122"/>
              <a:cs typeface="Times New Roman" pitchFamily="18" charset="0"/>
            </a:endParaRPr>
          </a:p>
        </p:txBody>
      </p:sp>
      <p:sp>
        <p:nvSpPr>
          <p:cNvPr id="34" name="Text Box 11"/>
          <p:cNvSpPr txBox="1">
            <a:spLocks noChangeArrowheads="1"/>
          </p:cNvSpPr>
          <p:nvPr/>
        </p:nvSpPr>
        <p:spPr bwMode="auto">
          <a:xfrm>
            <a:off x="3421380" y="4802505"/>
            <a:ext cx="311150" cy="311150"/>
          </a:xfrm>
          <a:prstGeom prst="rect">
            <a:avLst/>
          </a:prstGeom>
          <a:solidFill>
            <a:srgbClr val="FFFFFF"/>
          </a:solidFill>
          <a:ln w="34925">
            <a:noFill/>
            <a:miter lim="800000"/>
            <a:headEnd/>
            <a:tailEnd/>
          </a:ln>
        </p:spPr>
        <p:txBody>
          <a:bodyPr lIns="0" tIns="0" rIns="0" bIns="0"/>
          <a:lstStyle/>
          <a:p>
            <a:pPr algn="just" defTabSz="914400"/>
            <a:r>
              <a:rPr lang="en-US" altLang="zh-CN" b="1">
                <a:latin typeface="Times New Roman" pitchFamily="18" charset="0"/>
                <a:ea typeface="微软雅黑" pitchFamily="34" charset="-122"/>
                <a:cs typeface="Times New Roman" pitchFamily="18" charset="0"/>
              </a:rPr>
              <a:t>E</a:t>
            </a:r>
            <a:r>
              <a:rPr lang="en-US" altLang="zh-CN" i="1" baseline="-25000">
                <a:latin typeface="Times New Roman" pitchFamily="18" charset="0"/>
                <a:ea typeface="微软雅黑" pitchFamily="34" charset="-122"/>
                <a:cs typeface="Times New Roman" pitchFamily="18" charset="0"/>
              </a:rPr>
              <a:t>V</a:t>
            </a:r>
            <a:endParaRPr lang="zh-CN" altLang="zh-CN" sz="6600" i="1">
              <a:latin typeface="Times New Roman" pitchFamily="18" charset="0"/>
              <a:ea typeface="微软雅黑" pitchFamily="34" charset="-122"/>
              <a:cs typeface="Times New Roman" pitchFamily="18" charset="0"/>
            </a:endParaRPr>
          </a:p>
        </p:txBody>
      </p:sp>
      <p:sp>
        <p:nvSpPr>
          <p:cNvPr id="35" name="Text Box 12"/>
          <p:cNvSpPr txBox="1">
            <a:spLocks noChangeArrowheads="1"/>
          </p:cNvSpPr>
          <p:nvPr/>
        </p:nvSpPr>
        <p:spPr bwMode="auto">
          <a:xfrm>
            <a:off x="3421380" y="4429443"/>
            <a:ext cx="311150" cy="311150"/>
          </a:xfrm>
          <a:prstGeom prst="rect">
            <a:avLst/>
          </a:prstGeom>
          <a:solidFill>
            <a:srgbClr val="FFFFFF"/>
          </a:solidFill>
          <a:ln w="34925">
            <a:noFill/>
            <a:miter lim="800000"/>
            <a:headEnd/>
            <a:tailEnd/>
          </a:ln>
        </p:spPr>
        <p:txBody>
          <a:bodyPr lIns="0" tIns="0" rIns="0" bIns="0"/>
          <a:lstStyle/>
          <a:p>
            <a:pPr algn="just" defTabSz="914400"/>
            <a:r>
              <a:rPr lang="en-US" altLang="zh-CN" b="1" dirty="0" err="1">
                <a:solidFill>
                  <a:srgbClr val="FF00FF"/>
                </a:solidFill>
                <a:latin typeface="Times New Roman" pitchFamily="18" charset="0"/>
                <a:ea typeface="微软雅黑" pitchFamily="34" charset="-122"/>
                <a:cs typeface="Times New Roman" pitchFamily="18" charset="0"/>
              </a:rPr>
              <a:t>E</a:t>
            </a:r>
            <a:r>
              <a:rPr lang="en-US" altLang="zh-CN" b="1" baseline="-25000" dirty="0" err="1">
                <a:solidFill>
                  <a:srgbClr val="FF00FF"/>
                </a:solidFill>
                <a:latin typeface="Times New Roman" pitchFamily="18" charset="0"/>
                <a:ea typeface="微软雅黑" pitchFamily="34" charset="-122"/>
                <a:cs typeface="Times New Roman" pitchFamily="18" charset="0"/>
              </a:rPr>
              <a:t>a</a:t>
            </a:r>
            <a:endParaRPr lang="zh-CN" altLang="zh-CN" sz="6600" b="1" dirty="0">
              <a:solidFill>
                <a:srgbClr val="FF00FF"/>
              </a:solidFill>
              <a:latin typeface="Times New Roman" pitchFamily="18" charset="0"/>
              <a:ea typeface="微软雅黑" pitchFamily="34" charset="-122"/>
              <a:cs typeface="Times New Roman" pitchFamily="18" charset="0"/>
            </a:endParaRPr>
          </a:p>
        </p:txBody>
      </p:sp>
      <p:sp>
        <p:nvSpPr>
          <p:cNvPr id="36" name="Text Box 13"/>
          <p:cNvSpPr txBox="1">
            <a:spLocks noChangeArrowheads="1"/>
          </p:cNvSpPr>
          <p:nvPr/>
        </p:nvSpPr>
        <p:spPr bwMode="auto">
          <a:xfrm>
            <a:off x="3278221" y="4073843"/>
            <a:ext cx="498759" cy="355600"/>
          </a:xfrm>
          <a:prstGeom prst="rect">
            <a:avLst/>
          </a:prstGeom>
          <a:solidFill>
            <a:srgbClr val="FFFFFF"/>
          </a:solidFill>
          <a:ln w="34925">
            <a:noFill/>
            <a:miter lim="800000"/>
            <a:headEnd/>
            <a:tailEnd/>
          </a:ln>
        </p:spPr>
        <p:txBody>
          <a:bodyPr lIns="0" tIns="0" rIns="0" bIns="0"/>
          <a:lstStyle/>
          <a:p>
            <a:pPr algn="just" defTabSz="914400"/>
            <a:r>
              <a:rPr lang="en-US" altLang="zh-CN" b="1" dirty="0" err="1">
                <a:solidFill>
                  <a:srgbClr val="0000CC"/>
                </a:solidFill>
                <a:latin typeface="Times New Roman" pitchFamily="18" charset="0"/>
                <a:ea typeface="微软雅黑" pitchFamily="34" charset="-122"/>
                <a:cs typeface="Times New Roman" pitchFamily="18" charset="0"/>
              </a:rPr>
              <a:t>E</a:t>
            </a:r>
            <a:r>
              <a:rPr lang="en-US" altLang="zh-CN" b="1" i="1" baseline="-25000" dirty="0" err="1">
                <a:solidFill>
                  <a:srgbClr val="0000CC"/>
                </a:solidFill>
                <a:latin typeface="Times New Roman" pitchFamily="18" charset="0"/>
                <a:ea typeface="微软雅黑" pitchFamily="34" charset="-122"/>
                <a:cs typeface="Times New Roman" pitchFamily="18" charset="0"/>
              </a:rPr>
              <a:t>fP</a:t>
            </a:r>
            <a:endParaRPr lang="zh-CN" altLang="zh-CN" sz="6600" b="1" i="1" dirty="0">
              <a:solidFill>
                <a:srgbClr val="0000CC"/>
              </a:solidFill>
              <a:latin typeface="Times New Roman" pitchFamily="18" charset="0"/>
              <a:ea typeface="微软雅黑" pitchFamily="34" charset="-122"/>
              <a:cs typeface="Times New Roman" pitchFamily="18" charset="0"/>
            </a:endParaRPr>
          </a:p>
        </p:txBody>
      </p:sp>
      <p:sp>
        <p:nvSpPr>
          <p:cNvPr id="37" name="Text Box 14"/>
          <p:cNvSpPr txBox="1">
            <a:spLocks noChangeArrowheads="1"/>
          </p:cNvSpPr>
          <p:nvPr/>
        </p:nvSpPr>
        <p:spPr bwMode="auto">
          <a:xfrm>
            <a:off x="3421380" y="3735705"/>
            <a:ext cx="334963" cy="355600"/>
          </a:xfrm>
          <a:prstGeom prst="rect">
            <a:avLst/>
          </a:prstGeom>
          <a:solidFill>
            <a:srgbClr val="FFFFFF"/>
          </a:solidFill>
          <a:ln w="34925">
            <a:noFill/>
            <a:miter lim="800000"/>
            <a:headEnd/>
            <a:tailEnd/>
          </a:ln>
        </p:spPr>
        <p:txBody>
          <a:bodyPr lIns="0" tIns="0" rIns="0" bIns="0"/>
          <a:lstStyle/>
          <a:p>
            <a:pPr algn="just" defTabSz="914400"/>
            <a:r>
              <a:rPr lang="en-US" altLang="zh-CN" b="1">
                <a:solidFill>
                  <a:srgbClr val="000099"/>
                </a:solidFill>
                <a:latin typeface="Times New Roman" pitchFamily="18" charset="0"/>
                <a:ea typeface="微软雅黑" pitchFamily="34" charset="-122"/>
                <a:cs typeface="Times New Roman" pitchFamily="18" charset="0"/>
              </a:rPr>
              <a:t>E</a:t>
            </a:r>
            <a:r>
              <a:rPr lang="en-US" altLang="zh-CN" b="1" i="1" baseline="-25000">
                <a:solidFill>
                  <a:srgbClr val="000099"/>
                </a:solidFill>
                <a:latin typeface="Times New Roman" pitchFamily="18" charset="0"/>
                <a:ea typeface="微软雅黑" pitchFamily="34" charset="-122"/>
                <a:cs typeface="Times New Roman" pitchFamily="18" charset="0"/>
              </a:rPr>
              <a:t>i</a:t>
            </a:r>
            <a:endParaRPr lang="zh-CN" altLang="zh-CN" sz="6600" b="1" i="1">
              <a:solidFill>
                <a:srgbClr val="000099"/>
              </a:solidFill>
              <a:latin typeface="Times New Roman" pitchFamily="18" charset="0"/>
              <a:ea typeface="微软雅黑" pitchFamily="34" charset="-122"/>
              <a:cs typeface="Times New Roman" pitchFamily="18" charset="0"/>
            </a:endParaRPr>
          </a:p>
        </p:txBody>
      </p:sp>
      <p:sp>
        <p:nvSpPr>
          <p:cNvPr id="43" name="Text Box 10"/>
          <p:cNvSpPr txBox="1">
            <a:spLocks noChangeArrowheads="1"/>
          </p:cNvSpPr>
          <p:nvPr/>
        </p:nvSpPr>
        <p:spPr bwMode="auto">
          <a:xfrm>
            <a:off x="9936480" y="2899093"/>
            <a:ext cx="266700" cy="311150"/>
          </a:xfrm>
          <a:prstGeom prst="rect">
            <a:avLst/>
          </a:prstGeom>
          <a:solidFill>
            <a:srgbClr val="FFFFFF"/>
          </a:solidFill>
          <a:ln w="34925">
            <a:noFill/>
            <a:miter lim="800000"/>
            <a:headEnd/>
            <a:tailEnd/>
          </a:ln>
        </p:spPr>
        <p:txBody>
          <a:bodyPr lIns="0" tIns="0" rIns="0" bIns="0"/>
          <a:lstStyle/>
          <a:p>
            <a:pPr algn="just" defTabSz="914400"/>
            <a:r>
              <a:rPr lang="en-US" altLang="zh-CN" b="1">
                <a:latin typeface="Times New Roman" pitchFamily="18" charset="0"/>
                <a:ea typeface="微软雅黑" pitchFamily="34" charset="-122"/>
                <a:cs typeface="Times New Roman" pitchFamily="18" charset="0"/>
              </a:rPr>
              <a:t>E</a:t>
            </a:r>
            <a:r>
              <a:rPr lang="en-US" altLang="zh-CN" b="1" i="1" baseline="-25000">
                <a:latin typeface="Times New Roman" pitchFamily="18" charset="0"/>
                <a:ea typeface="微软雅黑" pitchFamily="34" charset="-122"/>
                <a:cs typeface="Times New Roman" pitchFamily="18" charset="0"/>
              </a:rPr>
              <a:t>c</a:t>
            </a:r>
            <a:endParaRPr lang="zh-CN" altLang="zh-CN" sz="6600" b="1" i="1">
              <a:latin typeface="Times New Roman" pitchFamily="18" charset="0"/>
              <a:ea typeface="微软雅黑" pitchFamily="34" charset="-122"/>
              <a:cs typeface="Times New Roman" pitchFamily="18" charset="0"/>
            </a:endParaRPr>
          </a:p>
        </p:txBody>
      </p:sp>
      <p:sp>
        <p:nvSpPr>
          <p:cNvPr id="44" name="Text Box 11"/>
          <p:cNvSpPr txBox="1">
            <a:spLocks noChangeArrowheads="1"/>
          </p:cNvSpPr>
          <p:nvPr/>
        </p:nvSpPr>
        <p:spPr bwMode="auto">
          <a:xfrm>
            <a:off x="9979343" y="4769168"/>
            <a:ext cx="311150" cy="311150"/>
          </a:xfrm>
          <a:prstGeom prst="rect">
            <a:avLst/>
          </a:prstGeom>
          <a:solidFill>
            <a:srgbClr val="FFFFFF"/>
          </a:solidFill>
          <a:ln w="34925">
            <a:noFill/>
            <a:miter lim="800000"/>
            <a:headEnd/>
            <a:tailEnd/>
          </a:ln>
        </p:spPr>
        <p:txBody>
          <a:bodyPr lIns="0" tIns="0" rIns="0" bIns="0"/>
          <a:lstStyle/>
          <a:p>
            <a:pPr algn="just" defTabSz="914400"/>
            <a:r>
              <a:rPr lang="en-US" altLang="zh-CN" b="1">
                <a:latin typeface="Times New Roman" pitchFamily="18" charset="0"/>
                <a:ea typeface="微软雅黑" pitchFamily="34" charset="-122"/>
                <a:cs typeface="Times New Roman" pitchFamily="18" charset="0"/>
              </a:rPr>
              <a:t>E</a:t>
            </a:r>
            <a:r>
              <a:rPr lang="en-US" altLang="zh-CN" i="1" baseline="-25000">
                <a:latin typeface="Times New Roman" pitchFamily="18" charset="0"/>
                <a:ea typeface="微软雅黑" pitchFamily="34" charset="-122"/>
                <a:cs typeface="Times New Roman" pitchFamily="18" charset="0"/>
              </a:rPr>
              <a:t>V</a:t>
            </a:r>
            <a:endParaRPr lang="zh-CN" altLang="zh-CN" sz="6600" i="1">
              <a:latin typeface="Times New Roman" pitchFamily="18" charset="0"/>
              <a:ea typeface="微软雅黑" pitchFamily="34" charset="-122"/>
              <a:cs typeface="Times New Roman" pitchFamily="18" charset="0"/>
            </a:endParaRPr>
          </a:p>
        </p:txBody>
      </p:sp>
      <p:sp>
        <p:nvSpPr>
          <p:cNvPr id="45" name="Text Box 12"/>
          <p:cNvSpPr txBox="1">
            <a:spLocks noChangeArrowheads="1"/>
          </p:cNvSpPr>
          <p:nvPr/>
        </p:nvSpPr>
        <p:spPr bwMode="auto">
          <a:xfrm>
            <a:off x="9931718" y="3202305"/>
            <a:ext cx="311150" cy="311150"/>
          </a:xfrm>
          <a:prstGeom prst="rect">
            <a:avLst/>
          </a:prstGeom>
          <a:solidFill>
            <a:srgbClr val="FFFFFF"/>
          </a:solidFill>
          <a:ln w="34925">
            <a:noFill/>
            <a:miter lim="800000"/>
            <a:headEnd/>
            <a:tailEnd/>
          </a:ln>
        </p:spPr>
        <p:txBody>
          <a:bodyPr lIns="0" tIns="0" rIns="0" bIns="0"/>
          <a:lstStyle/>
          <a:p>
            <a:pPr algn="just" defTabSz="914400"/>
            <a:r>
              <a:rPr lang="en-US" altLang="zh-CN" b="1" dirty="0">
                <a:solidFill>
                  <a:srgbClr val="0000FF"/>
                </a:solidFill>
                <a:latin typeface="Times New Roman" pitchFamily="18" charset="0"/>
                <a:ea typeface="微软雅黑" pitchFamily="34" charset="-122"/>
                <a:cs typeface="Times New Roman" pitchFamily="18" charset="0"/>
              </a:rPr>
              <a:t>E</a:t>
            </a:r>
            <a:r>
              <a:rPr lang="en-US" altLang="zh-CN" b="1" baseline="-25000" dirty="0">
                <a:solidFill>
                  <a:srgbClr val="0000FF"/>
                </a:solidFill>
                <a:latin typeface="Times New Roman" pitchFamily="18" charset="0"/>
                <a:ea typeface="微软雅黑" pitchFamily="34" charset="-122"/>
                <a:cs typeface="Times New Roman" pitchFamily="18" charset="0"/>
              </a:rPr>
              <a:t>d</a:t>
            </a:r>
            <a:endParaRPr lang="zh-CN" altLang="zh-CN" sz="6600" b="1" dirty="0">
              <a:solidFill>
                <a:srgbClr val="0000FF"/>
              </a:solidFill>
              <a:latin typeface="Times New Roman" pitchFamily="18" charset="0"/>
              <a:ea typeface="微软雅黑" pitchFamily="34" charset="-122"/>
              <a:cs typeface="Times New Roman" pitchFamily="18" charset="0"/>
            </a:endParaRPr>
          </a:p>
        </p:txBody>
      </p:sp>
      <p:sp>
        <p:nvSpPr>
          <p:cNvPr id="46" name="Text Box 13"/>
          <p:cNvSpPr txBox="1">
            <a:spLocks noChangeArrowheads="1"/>
          </p:cNvSpPr>
          <p:nvPr/>
        </p:nvSpPr>
        <p:spPr bwMode="auto">
          <a:xfrm>
            <a:off x="9923780" y="3508693"/>
            <a:ext cx="355600" cy="355600"/>
          </a:xfrm>
          <a:prstGeom prst="rect">
            <a:avLst/>
          </a:prstGeom>
          <a:solidFill>
            <a:srgbClr val="FFFFFF"/>
          </a:solidFill>
          <a:ln w="34925">
            <a:noFill/>
            <a:miter lim="800000"/>
            <a:headEnd/>
            <a:tailEnd/>
          </a:ln>
        </p:spPr>
        <p:txBody>
          <a:bodyPr lIns="0" tIns="0" rIns="0" bIns="0"/>
          <a:lstStyle/>
          <a:p>
            <a:pPr algn="just" defTabSz="914400"/>
            <a:r>
              <a:rPr lang="en-US" altLang="zh-CN" b="1">
                <a:solidFill>
                  <a:srgbClr val="FF0000"/>
                </a:solidFill>
                <a:latin typeface="Times New Roman" pitchFamily="18" charset="0"/>
                <a:ea typeface="微软雅黑" pitchFamily="34" charset="-122"/>
                <a:cs typeface="Times New Roman" pitchFamily="18" charset="0"/>
              </a:rPr>
              <a:t>E</a:t>
            </a:r>
            <a:r>
              <a:rPr lang="en-US" altLang="zh-CN" b="1" i="1" baseline="-25000">
                <a:solidFill>
                  <a:srgbClr val="FF0000"/>
                </a:solidFill>
                <a:latin typeface="Times New Roman" pitchFamily="18" charset="0"/>
                <a:ea typeface="微软雅黑" pitchFamily="34" charset="-122"/>
                <a:cs typeface="Times New Roman" pitchFamily="18" charset="0"/>
              </a:rPr>
              <a:t>fn</a:t>
            </a:r>
            <a:endParaRPr lang="zh-CN" altLang="zh-CN" sz="6600" b="1" i="1">
              <a:solidFill>
                <a:srgbClr val="FF0000"/>
              </a:solidFill>
              <a:latin typeface="Times New Roman" pitchFamily="18" charset="0"/>
              <a:ea typeface="微软雅黑" pitchFamily="34" charset="-122"/>
              <a:cs typeface="Times New Roman" pitchFamily="18" charset="0"/>
            </a:endParaRPr>
          </a:p>
        </p:txBody>
      </p:sp>
      <p:sp>
        <p:nvSpPr>
          <p:cNvPr id="47" name="Text Box 14"/>
          <p:cNvSpPr txBox="1">
            <a:spLocks noChangeArrowheads="1"/>
          </p:cNvSpPr>
          <p:nvPr/>
        </p:nvSpPr>
        <p:spPr bwMode="auto">
          <a:xfrm>
            <a:off x="9923780" y="3876993"/>
            <a:ext cx="333375" cy="355600"/>
          </a:xfrm>
          <a:prstGeom prst="rect">
            <a:avLst/>
          </a:prstGeom>
          <a:solidFill>
            <a:srgbClr val="FFFFFF"/>
          </a:solidFill>
          <a:ln w="34925">
            <a:noFill/>
            <a:miter lim="800000"/>
            <a:headEnd/>
            <a:tailEnd/>
          </a:ln>
        </p:spPr>
        <p:txBody>
          <a:bodyPr lIns="0" tIns="0" rIns="0" bIns="0"/>
          <a:lstStyle/>
          <a:p>
            <a:pPr algn="just" defTabSz="914400"/>
            <a:r>
              <a:rPr lang="en-US" altLang="zh-CN" b="1">
                <a:solidFill>
                  <a:srgbClr val="000099"/>
                </a:solidFill>
                <a:latin typeface="Times New Roman" pitchFamily="18" charset="0"/>
                <a:ea typeface="微软雅黑" pitchFamily="34" charset="-122"/>
                <a:cs typeface="Times New Roman" pitchFamily="18" charset="0"/>
              </a:rPr>
              <a:t>E</a:t>
            </a:r>
            <a:r>
              <a:rPr lang="en-US" altLang="zh-CN" b="1" i="1" baseline="-25000">
                <a:solidFill>
                  <a:srgbClr val="000099"/>
                </a:solidFill>
                <a:latin typeface="Times New Roman" pitchFamily="18" charset="0"/>
                <a:ea typeface="微软雅黑" pitchFamily="34" charset="-122"/>
                <a:cs typeface="Times New Roman" pitchFamily="18" charset="0"/>
              </a:rPr>
              <a:t>i</a:t>
            </a:r>
            <a:endParaRPr lang="zh-CN" altLang="zh-CN" sz="6600" b="1" i="1">
              <a:solidFill>
                <a:srgbClr val="000099"/>
              </a:solidFill>
              <a:latin typeface="Times New Roman" pitchFamily="18" charset="0"/>
              <a:ea typeface="微软雅黑" pitchFamily="34" charset="-122"/>
              <a:cs typeface="Times New Roman" pitchFamily="18" charset="0"/>
            </a:endParaRPr>
          </a:p>
        </p:txBody>
      </p:sp>
      <p:sp>
        <p:nvSpPr>
          <p:cNvPr id="48" name="Oval 41"/>
          <p:cNvSpPr>
            <a:spLocks noChangeAspect="1" noChangeArrowheads="1"/>
          </p:cNvSpPr>
          <p:nvPr/>
        </p:nvSpPr>
        <p:spPr bwMode="auto">
          <a:xfrm rot="773108">
            <a:off x="4007168" y="5062855"/>
            <a:ext cx="125412"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9" name="Oval 57"/>
          <p:cNvSpPr>
            <a:spLocks noChangeAspect="1" noChangeArrowheads="1"/>
          </p:cNvSpPr>
          <p:nvPr/>
        </p:nvSpPr>
        <p:spPr bwMode="auto">
          <a:xfrm rot="-4849534">
            <a:off x="7519512" y="2899886"/>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0" name="Oval 41"/>
          <p:cNvSpPr>
            <a:spLocks noChangeAspect="1" noChangeArrowheads="1"/>
          </p:cNvSpPr>
          <p:nvPr/>
        </p:nvSpPr>
        <p:spPr bwMode="auto">
          <a:xfrm rot="773108">
            <a:off x="4288155" y="5062855"/>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1" name="Oval 41"/>
          <p:cNvSpPr>
            <a:spLocks noChangeAspect="1" noChangeArrowheads="1"/>
          </p:cNvSpPr>
          <p:nvPr/>
        </p:nvSpPr>
        <p:spPr bwMode="auto">
          <a:xfrm rot="773108">
            <a:off x="4640580" y="5062855"/>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2" name="Oval 41"/>
          <p:cNvSpPr>
            <a:spLocks noChangeAspect="1" noChangeArrowheads="1"/>
          </p:cNvSpPr>
          <p:nvPr/>
        </p:nvSpPr>
        <p:spPr bwMode="auto">
          <a:xfrm rot="773108">
            <a:off x="5313680" y="5062855"/>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3" name="Oval 41"/>
          <p:cNvSpPr>
            <a:spLocks noChangeAspect="1" noChangeArrowheads="1"/>
          </p:cNvSpPr>
          <p:nvPr/>
        </p:nvSpPr>
        <p:spPr bwMode="auto">
          <a:xfrm rot="773108">
            <a:off x="5654993" y="5062855"/>
            <a:ext cx="125412"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4" name="Oval 41"/>
          <p:cNvSpPr>
            <a:spLocks noChangeAspect="1" noChangeArrowheads="1"/>
          </p:cNvSpPr>
          <p:nvPr/>
        </p:nvSpPr>
        <p:spPr bwMode="auto">
          <a:xfrm rot="773108">
            <a:off x="5977255" y="5062855"/>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5" name="Oval 41"/>
          <p:cNvSpPr>
            <a:spLocks noChangeAspect="1" noChangeArrowheads="1"/>
          </p:cNvSpPr>
          <p:nvPr/>
        </p:nvSpPr>
        <p:spPr bwMode="auto">
          <a:xfrm rot="773108">
            <a:off x="8501380" y="5073968"/>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6" name="Oval 57"/>
          <p:cNvSpPr>
            <a:spLocks noChangeAspect="1" noChangeArrowheads="1"/>
          </p:cNvSpPr>
          <p:nvPr/>
        </p:nvSpPr>
        <p:spPr bwMode="auto">
          <a:xfrm rot="-4849534">
            <a:off x="8141812" y="2914174"/>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7" name="Oval 57"/>
          <p:cNvSpPr>
            <a:spLocks noChangeAspect="1" noChangeArrowheads="1"/>
          </p:cNvSpPr>
          <p:nvPr/>
        </p:nvSpPr>
        <p:spPr bwMode="auto">
          <a:xfrm rot="-4849534">
            <a:off x="8459312" y="2904649"/>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8" name="Oval 57"/>
          <p:cNvSpPr>
            <a:spLocks noChangeAspect="1" noChangeArrowheads="1"/>
          </p:cNvSpPr>
          <p:nvPr/>
        </p:nvSpPr>
        <p:spPr bwMode="auto">
          <a:xfrm rot="-4849534">
            <a:off x="8800624" y="2904649"/>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9" name="Oval 57"/>
          <p:cNvSpPr>
            <a:spLocks noChangeAspect="1" noChangeArrowheads="1"/>
          </p:cNvSpPr>
          <p:nvPr/>
        </p:nvSpPr>
        <p:spPr bwMode="auto">
          <a:xfrm rot="-4849534">
            <a:off x="9075262" y="2904649"/>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60" name="Oval 57"/>
          <p:cNvSpPr>
            <a:spLocks noChangeAspect="1" noChangeArrowheads="1"/>
          </p:cNvSpPr>
          <p:nvPr/>
        </p:nvSpPr>
        <p:spPr bwMode="auto">
          <a:xfrm rot="-4849534">
            <a:off x="9400699" y="2901474"/>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61" name="Oval 57"/>
          <p:cNvSpPr>
            <a:spLocks noChangeAspect="1" noChangeArrowheads="1"/>
          </p:cNvSpPr>
          <p:nvPr/>
        </p:nvSpPr>
        <p:spPr bwMode="auto">
          <a:xfrm rot="-4849534">
            <a:off x="4896962" y="2909411"/>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62" name="Oval 57"/>
          <p:cNvSpPr>
            <a:spLocks noChangeAspect="1" noChangeArrowheads="1"/>
          </p:cNvSpPr>
          <p:nvPr/>
        </p:nvSpPr>
        <p:spPr bwMode="auto">
          <a:xfrm rot="-4849534">
            <a:off x="7830662" y="2904649"/>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63" name="Oval 41"/>
          <p:cNvSpPr>
            <a:spLocks noChangeAspect="1" noChangeArrowheads="1"/>
          </p:cNvSpPr>
          <p:nvPr/>
        </p:nvSpPr>
        <p:spPr bwMode="auto">
          <a:xfrm rot="773108">
            <a:off x="4970780" y="5062855"/>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64" name="Text Box 10"/>
          <p:cNvSpPr txBox="1">
            <a:spLocks noChangeArrowheads="1"/>
          </p:cNvSpPr>
          <p:nvPr/>
        </p:nvSpPr>
        <p:spPr bwMode="auto">
          <a:xfrm>
            <a:off x="2576830" y="3648393"/>
            <a:ext cx="355600" cy="488950"/>
          </a:xfrm>
          <a:prstGeom prst="rect">
            <a:avLst/>
          </a:prstGeom>
          <a:solidFill>
            <a:srgbClr val="FFFFFF"/>
          </a:solidFill>
          <a:ln w="34925">
            <a:noFill/>
            <a:miter lim="800000"/>
            <a:headEnd/>
            <a:tailEnd/>
          </a:ln>
        </p:spPr>
        <p:txBody>
          <a:bodyPr lIns="0" tIns="0" rIns="0" bIns="0"/>
          <a:lstStyle/>
          <a:p>
            <a:pPr algn="just" defTabSz="914400"/>
            <a:r>
              <a:rPr lang="en-US" altLang="zh-CN" sz="3200" b="1">
                <a:latin typeface="Times New Roman" pitchFamily="18" charset="0"/>
                <a:ea typeface="微软雅黑" pitchFamily="34" charset="-122"/>
                <a:cs typeface="Times New Roman" pitchFamily="18" charset="0"/>
              </a:rPr>
              <a:t>P</a:t>
            </a:r>
            <a:endParaRPr lang="zh-CN" altLang="zh-CN" sz="8800" b="1" i="1">
              <a:latin typeface="Times New Roman" pitchFamily="18" charset="0"/>
              <a:ea typeface="微软雅黑" pitchFamily="34" charset="-122"/>
              <a:cs typeface="Times New Roman" pitchFamily="18" charset="0"/>
            </a:endParaRPr>
          </a:p>
        </p:txBody>
      </p:sp>
      <p:sp>
        <p:nvSpPr>
          <p:cNvPr id="65" name="Text Box 10"/>
          <p:cNvSpPr txBox="1">
            <a:spLocks noChangeArrowheads="1"/>
          </p:cNvSpPr>
          <p:nvPr/>
        </p:nvSpPr>
        <p:spPr bwMode="auto">
          <a:xfrm>
            <a:off x="10533380" y="3557905"/>
            <a:ext cx="355600" cy="488950"/>
          </a:xfrm>
          <a:prstGeom prst="rect">
            <a:avLst/>
          </a:prstGeom>
          <a:solidFill>
            <a:srgbClr val="FFFFFF"/>
          </a:solidFill>
          <a:ln w="34925">
            <a:noFill/>
            <a:miter lim="800000"/>
            <a:headEnd/>
            <a:tailEnd/>
          </a:ln>
        </p:spPr>
        <p:txBody>
          <a:bodyPr lIns="0" tIns="0" rIns="0" bIns="0"/>
          <a:lstStyle/>
          <a:p>
            <a:pPr algn="just" defTabSz="914400"/>
            <a:r>
              <a:rPr lang="en-US" altLang="zh-CN" sz="3200" b="1">
                <a:latin typeface="Times New Roman" pitchFamily="18" charset="0"/>
                <a:ea typeface="微软雅黑" pitchFamily="34" charset="-122"/>
                <a:cs typeface="Times New Roman" pitchFamily="18" charset="0"/>
              </a:rPr>
              <a:t>N</a:t>
            </a:r>
            <a:endParaRPr lang="zh-CN" altLang="zh-CN" sz="8800" b="1" i="1">
              <a:latin typeface="Times New Roman" pitchFamily="18" charset="0"/>
              <a:ea typeface="微软雅黑" pitchFamily="34" charset="-122"/>
              <a:cs typeface="Times New Roman" pitchFamily="18" charset="0"/>
            </a:endParaRPr>
          </a:p>
        </p:txBody>
      </p:sp>
      <p:sp>
        <p:nvSpPr>
          <p:cNvPr id="66" name="Rectangle 8"/>
          <p:cNvSpPr>
            <a:spLocks noChangeArrowheads="1"/>
          </p:cNvSpPr>
          <p:nvPr/>
        </p:nvSpPr>
        <p:spPr bwMode="auto">
          <a:xfrm>
            <a:off x="2411413" y="6463694"/>
            <a:ext cx="9890760" cy="584775"/>
          </a:xfrm>
          <a:prstGeom prst="rect">
            <a:avLst/>
          </a:prstGeom>
          <a:noFill/>
          <a:ln w="38100">
            <a:solidFill>
              <a:srgbClr val="FF0000"/>
            </a:solidFill>
            <a:miter lim="800000"/>
            <a:headEnd/>
            <a:tailEnd/>
          </a:ln>
        </p:spPr>
        <p:txBody>
          <a:bodyPr wrap="square" anchor="ctr">
            <a:spAutoFit/>
          </a:bodyPr>
          <a:lstStyle/>
          <a:p>
            <a:pPr algn="ctr" defTabSz="914400"/>
            <a:r>
              <a:rPr lang="zh-CN" altLang="en-US" sz="3200" b="1">
                <a:latin typeface="Times New Roman" pitchFamily="18" charset="0"/>
                <a:ea typeface="微软雅黑" pitchFamily="34" charset="-122"/>
                <a:cs typeface="Times New Roman" pitchFamily="18" charset="0"/>
              </a:rPr>
              <a:t>费米能级与导带或价带的相对位置由材料掺杂决定</a:t>
            </a:r>
          </a:p>
        </p:txBody>
      </p:sp>
      <p:cxnSp>
        <p:nvCxnSpPr>
          <p:cNvPr id="68" name="直接连接符 67"/>
          <p:cNvCxnSpPr/>
          <p:nvPr/>
        </p:nvCxnSpPr>
        <p:spPr>
          <a:xfrm>
            <a:off x="7320280" y="3111818"/>
            <a:ext cx="2355850" cy="15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853180" y="3113405"/>
            <a:ext cx="2355850" cy="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865880" y="4045268"/>
            <a:ext cx="2355850" cy="1587"/>
          </a:xfrm>
          <a:prstGeom prst="line">
            <a:avLst/>
          </a:prstGeom>
          <a:ln w="38100">
            <a:solidFill>
              <a:srgbClr val="0000FF"/>
            </a:solidFill>
            <a:prstDash val="lg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3854768" y="4356418"/>
            <a:ext cx="2355850" cy="1587"/>
          </a:xfrm>
          <a:prstGeom prst="line">
            <a:avLst/>
          </a:prstGeom>
          <a:ln w="3810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3865880" y="4667568"/>
            <a:ext cx="2355850" cy="1587"/>
          </a:xfrm>
          <a:prstGeom prst="line">
            <a:avLst/>
          </a:prstGeom>
          <a:ln w="38100">
            <a:solidFill>
              <a:srgbClr val="FF00FF"/>
            </a:solidFill>
            <a:prstDash val="lg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3883343" y="4978718"/>
            <a:ext cx="2355850" cy="15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7332980" y="3378518"/>
            <a:ext cx="2355850" cy="1587"/>
          </a:xfrm>
          <a:prstGeom prst="line">
            <a:avLst/>
          </a:prstGeom>
          <a:ln w="38100">
            <a:solidFill>
              <a:srgbClr val="0000FF"/>
            </a:solidFill>
            <a:prstDash val="lg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7332980" y="3689668"/>
            <a:ext cx="2355850" cy="1587"/>
          </a:xfrm>
          <a:prstGeom prst="line">
            <a:avLst/>
          </a:prstGeom>
          <a:ln w="3810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7332980" y="4045268"/>
            <a:ext cx="2355850" cy="1587"/>
          </a:xfrm>
          <a:prstGeom prst="line">
            <a:avLst/>
          </a:prstGeom>
          <a:ln w="38100">
            <a:solidFill>
              <a:srgbClr val="0000FF"/>
            </a:solidFill>
            <a:prstDash val="lgDash"/>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7356793" y="4978718"/>
            <a:ext cx="2355850" cy="15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p:cNvSpPr txBox="1">
            <a:spLocks noChangeArrowheads="1"/>
          </p:cNvSpPr>
          <p:nvPr/>
        </p:nvSpPr>
        <p:spPr bwMode="auto">
          <a:xfrm>
            <a:off x="4532630" y="5650230"/>
            <a:ext cx="844550" cy="369332"/>
          </a:xfrm>
          <a:prstGeom prst="rect">
            <a:avLst/>
          </a:prstGeom>
          <a:noFill/>
          <a:ln w="9525">
            <a:noFill/>
            <a:miter lim="800000"/>
            <a:headEnd/>
            <a:tailEnd/>
          </a:ln>
        </p:spPr>
        <p:txBody>
          <a:bodyPr lIns="0" tIns="0" rIns="0" bIns="0">
            <a:spAutoFit/>
          </a:bodyPr>
          <a:lstStyle/>
          <a:p>
            <a:pPr algn="ctr" defTabSz="914400"/>
            <a:r>
              <a:rPr lang="zh-CN" altLang="en-US" sz="2400" b="1" dirty="0">
                <a:latin typeface="Times New Roman" pitchFamily="18" charset="0"/>
                <a:ea typeface="微软雅黑" pitchFamily="34" charset="-122"/>
                <a:cs typeface="Times New Roman" pitchFamily="18" charset="0"/>
              </a:rPr>
              <a:t>多子</a:t>
            </a:r>
          </a:p>
        </p:txBody>
      </p:sp>
      <p:sp>
        <p:nvSpPr>
          <p:cNvPr id="84" name="上箭头 83"/>
          <p:cNvSpPr/>
          <p:nvPr/>
        </p:nvSpPr>
        <p:spPr>
          <a:xfrm>
            <a:off x="4799330" y="5381943"/>
            <a:ext cx="311150" cy="222250"/>
          </a:xfrm>
          <a:prstGeom prst="upArrow">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Times New Roman" pitchFamily="18" charset="0"/>
              <a:ea typeface="微软雅黑" pitchFamily="34" charset="-122"/>
              <a:cs typeface="Times New Roman" pitchFamily="18" charset="0"/>
            </a:endParaRPr>
          </a:p>
        </p:txBody>
      </p:sp>
      <p:sp>
        <p:nvSpPr>
          <p:cNvPr id="85" name="TextBox 84"/>
          <p:cNvSpPr txBox="1">
            <a:spLocks noChangeArrowheads="1"/>
          </p:cNvSpPr>
          <p:nvPr/>
        </p:nvSpPr>
        <p:spPr bwMode="auto">
          <a:xfrm>
            <a:off x="3910330" y="2714943"/>
            <a:ext cx="844550" cy="304800"/>
          </a:xfrm>
          <a:prstGeom prst="rect">
            <a:avLst/>
          </a:prstGeom>
          <a:noFill/>
          <a:ln w="9525">
            <a:noFill/>
            <a:miter lim="800000"/>
            <a:headEnd/>
            <a:tailEnd/>
          </a:ln>
        </p:spPr>
        <p:txBody>
          <a:bodyPr lIns="0" tIns="0" rIns="0" bIns="0">
            <a:spAutoFit/>
          </a:bodyPr>
          <a:lstStyle/>
          <a:p>
            <a:pPr algn="ctr" defTabSz="914400"/>
            <a:r>
              <a:rPr lang="zh-CN" altLang="en-US" b="1">
                <a:latin typeface="Times New Roman" pitchFamily="18" charset="0"/>
                <a:ea typeface="微软雅黑" pitchFamily="34" charset="-122"/>
                <a:cs typeface="Times New Roman" pitchFamily="18" charset="0"/>
              </a:rPr>
              <a:t>少子</a:t>
            </a:r>
          </a:p>
        </p:txBody>
      </p:sp>
      <p:sp>
        <p:nvSpPr>
          <p:cNvPr id="86" name="TextBox 85"/>
          <p:cNvSpPr txBox="1">
            <a:spLocks noChangeArrowheads="1"/>
          </p:cNvSpPr>
          <p:nvPr/>
        </p:nvSpPr>
        <p:spPr bwMode="auto">
          <a:xfrm>
            <a:off x="7999730" y="2403793"/>
            <a:ext cx="844550" cy="369332"/>
          </a:xfrm>
          <a:prstGeom prst="rect">
            <a:avLst/>
          </a:prstGeom>
          <a:noFill/>
          <a:ln w="9525">
            <a:noFill/>
            <a:miter lim="800000"/>
            <a:headEnd/>
            <a:tailEnd/>
          </a:ln>
        </p:spPr>
        <p:txBody>
          <a:bodyPr lIns="0" tIns="0" rIns="0" bIns="0">
            <a:spAutoFit/>
          </a:bodyPr>
          <a:lstStyle/>
          <a:p>
            <a:pPr algn="ctr" defTabSz="914400"/>
            <a:r>
              <a:rPr lang="zh-CN" altLang="en-US" sz="2400" b="1">
                <a:latin typeface="Times New Roman" pitchFamily="18" charset="0"/>
                <a:ea typeface="微软雅黑" pitchFamily="34" charset="-122"/>
                <a:cs typeface="Times New Roman" pitchFamily="18" charset="0"/>
              </a:rPr>
              <a:t>多子</a:t>
            </a:r>
          </a:p>
        </p:txBody>
      </p:sp>
      <p:sp>
        <p:nvSpPr>
          <p:cNvPr id="87" name="TextBox 86"/>
          <p:cNvSpPr txBox="1">
            <a:spLocks noChangeArrowheads="1"/>
          </p:cNvSpPr>
          <p:nvPr/>
        </p:nvSpPr>
        <p:spPr bwMode="auto">
          <a:xfrm>
            <a:off x="8133080" y="5248593"/>
            <a:ext cx="844550" cy="304800"/>
          </a:xfrm>
          <a:prstGeom prst="rect">
            <a:avLst/>
          </a:prstGeom>
          <a:noFill/>
          <a:ln w="9525">
            <a:noFill/>
            <a:miter lim="800000"/>
            <a:headEnd/>
            <a:tailEnd/>
          </a:ln>
        </p:spPr>
        <p:txBody>
          <a:bodyPr lIns="0" tIns="0" rIns="0" bIns="0">
            <a:spAutoFit/>
          </a:bodyPr>
          <a:lstStyle/>
          <a:p>
            <a:pPr algn="ctr" defTabSz="914400"/>
            <a:r>
              <a:rPr lang="zh-CN" altLang="en-US" b="1">
                <a:latin typeface="Times New Roman" pitchFamily="18" charset="0"/>
                <a:ea typeface="微软雅黑" pitchFamily="34" charset="-122"/>
                <a:cs typeface="Times New Roman" pitchFamily="18" charset="0"/>
              </a:rPr>
              <a:t>少子</a:t>
            </a:r>
          </a:p>
        </p:txBody>
      </p:sp>
      <p:sp>
        <p:nvSpPr>
          <p:cNvPr id="67" name="文本框 60">
            <a:extLst>
              <a:ext uri="{FF2B5EF4-FFF2-40B4-BE49-F238E27FC236}">
                <a16:creationId xmlns="" xmlns:a16="http://schemas.microsoft.com/office/drawing/2014/main" id="{73C5BE18-DE07-436D-9062-9D36BA493169}"/>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74" name="矩形 73">
            <a:extLst>
              <a:ext uri="{FF2B5EF4-FFF2-40B4-BE49-F238E27FC236}">
                <a16:creationId xmlns="" xmlns:a16="http://schemas.microsoft.com/office/drawing/2014/main" id="{38CD869B-D9B4-4227-8458-9621E681F3B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81" name="矩形 80">
            <a:extLst>
              <a:ext uri="{FF2B5EF4-FFF2-40B4-BE49-F238E27FC236}">
                <a16:creationId xmlns="" xmlns:a16="http://schemas.microsoft.com/office/drawing/2014/main" id="{54F65DA9-253F-4233-988F-EF4112AFB669}"/>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圆角 81">
            <a:extLst>
              <a:ext uri="{FF2B5EF4-FFF2-40B4-BE49-F238E27FC236}">
                <a16:creationId xmlns="" xmlns:a16="http://schemas.microsoft.com/office/drawing/2014/main" id="{E4DCD585-57CE-4337-B636-402F3F01011D}"/>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8" name="直接连接符 58">
            <a:extLst>
              <a:ext uri="{FF2B5EF4-FFF2-40B4-BE49-F238E27FC236}">
                <a16:creationId xmlns="" xmlns:a16="http://schemas.microsoft.com/office/drawing/2014/main" id="{94708D46-963E-4CB4-AF72-2ADEFC0DA2D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89" name="矩形 88">
            <a:extLst>
              <a:ext uri="{FF2B5EF4-FFF2-40B4-BE49-F238E27FC236}">
                <a16:creationId xmlns="" xmlns:a16="http://schemas.microsoft.com/office/drawing/2014/main" id="{7E7A98F3-EC9B-46EE-9A90-3BE73B01867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90" name="矩形 89">
            <a:extLst>
              <a:ext uri="{FF2B5EF4-FFF2-40B4-BE49-F238E27FC236}">
                <a16:creationId xmlns="" xmlns:a16="http://schemas.microsoft.com/office/drawing/2014/main" id="{B43F3DA1-6D87-4C09-A636-ADA5F194A1E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52792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box(in)">
                                      <p:cBhvr>
                                        <p:cTn id="12" dur="500"/>
                                        <p:tgtEl>
                                          <p:spTgt spid="64"/>
                                        </p:tgtEl>
                                      </p:cBhvr>
                                    </p:animEffect>
                                  </p:child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box(in)">
                                      <p:cBhvr>
                                        <p:cTn id="16" dur="500"/>
                                        <p:tgtEl>
                                          <p:spTgt spid="69"/>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box(in)">
                                      <p:cBhvr>
                                        <p:cTn id="19" dur="500"/>
                                        <p:tgtEl>
                                          <p:spTgt spid="33"/>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box(in)">
                                      <p:cBhvr>
                                        <p:cTn id="22" dur="500"/>
                                        <p:tgtEl>
                                          <p:spTgt spid="34"/>
                                        </p:tgtEl>
                                      </p:cBhvr>
                                    </p:animEffect>
                                  </p:childTnLst>
                                </p:cTn>
                              </p:par>
                              <p:par>
                                <p:cTn id="23" presetID="4" presetClass="entr" presetSubtype="16"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box(in)">
                                      <p:cBhvr>
                                        <p:cTn id="25" dur="500"/>
                                        <p:tgtEl>
                                          <p:spTgt spid="73"/>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box(in)">
                                      <p:cBhvr>
                                        <p:cTn id="30" dur="500"/>
                                        <p:tgtEl>
                                          <p:spTgt spid="35"/>
                                        </p:tgtEl>
                                      </p:cBhvr>
                                    </p:animEffect>
                                  </p:childTnLst>
                                </p:cTn>
                              </p:par>
                              <p:par>
                                <p:cTn id="31" presetID="4" presetClass="entr" presetSubtype="16" fill="hold" nodeType="with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box(in)">
                                      <p:cBhvr>
                                        <p:cTn id="33" dur="500"/>
                                        <p:tgtEl>
                                          <p:spTgt spid="72"/>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6" fill="hold" grpId="0" nodeType="click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barn(inHorizontal)">
                                      <p:cBhvr>
                                        <p:cTn id="38" dur="500"/>
                                        <p:tgtEl>
                                          <p:spTgt spid="48"/>
                                        </p:tgtEl>
                                      </p:cBhvr>
                                    </p:animEffect>
                                  </p:childTnLst>
                                </p:cTn>
                              </p:par>
                            </p:childTnLst>
                          </p:cTn>
                        </p:par>
                        <p:par>
                          <p:cTn id="39" fill="hold">
                            <p:stCondLst>
                              <p:cond delay="500"/>
                            </p:stCondLst>
                            <p:childTnLst>
                              <p:par>
                                <p:cTn id="40" presetID="55" presetClass="entr" presetSubtype="0" fill="hold" grpId="0" nodeType="afterEffect">
                                  <p:stCondLst>
                                    <p:cond delay="0"/>
                                  </p:stCondLst>
                                  <p:childTnLst>
                                    <p:set>
                                      <p:cBhvr>
                                        <p:cTn id="41" dur="1" fill="hold">
                                          <p:stCondLst>
                                            <p:cond delay="0"/>
                                          </p:stCondLst>
                                        </p:cTn>
                                        <p:tgtEl>
                                          <p:spTgt spid="50"/>
                                        </p:tgtEl>
                                        <p:attrNameLst>
                                          <p:attrName>style.visibility</p:attrName>
                                        </p:attrNameLst>
                                      </p:cBhvr>
                                      <p:to>
                                        <p:strVal val="visible"/>
                                      </p:to>
                                    </p:set>
                                    <p:anim calcmode="lin" valueType="num">
                                      <p:cBhvr>
                                        <p:cTn id="42" dur="1000" fill="hold"/>
                                        <p:tgtEl>
                                          <p:spTgt spid="50"/>
                                        </p:tgtEl>
                                        <p:attrNameLst>
                                          <p:attrName>ppt_w</p:attrName>
                                        </p:attrNameLst>
                                      </p:cBhvr>
                                      <p:tavLst>
                                        <p:tav tm="0">
                                          <p:val>
                                            <p:strVal val="#ppt_w*0.70"/>
                                          </p:val>
                                        </p:tav>
                                        <p:tav tm="100000">
                                          <p:val>
                                            <p:strVal val="#ppt_w"/>
                                          </p:val>
                                        </p:tav>
                                      </p:tavLst>
                                    </p:anim>
                                    <p:anim calcmode="lin" valueType="num">
                                      <p:cBhvr>
                                        <p:cTn id="43" dur="1000" fill="hold"/>
                                        <p:tgtEl>
                                          <p:spTgt spid="50"/>
                                        </p:tgtEl>
                                        <p:attrNameLst>
                                          <p:attrName>ppt_h</p:attrName>
                                        </p:attrNameLst>
                                      </p:cBhvr>
                                      <p:tavLst>
                                        <p:tav tm="0">
                                          <p:val>
                                            <p:strVal val="#ppt_h"/>
                                          </p:val>
                                        </p:tav>
                                        <p:tav tm="100000">
                                          <p:val>
                                            <p:strVal val="#ppt_h"/>
                                          </p:val>
                                        </p:tav>
                                      </p:tavLst>
                                    </p:anim>
                                    <p:animEffect transition="in" filter="fade">
                                      <p:cBhvr>
                                        <p:cTn id="44" dur="1000"/>
                                        <p:tgtEl>
                                          <p:spTgt spid="50"/>
                                        </p:tgtEl>
                                      </p:cBhvr>
                                    </p:animEffect>
                                  </p:childTnLst>
                                </p:cTn>
                              </p:par>
                            </p:childTnLst>
                          </p:cTn>
                        </p:par>
                        <p:par>
                          <p:cTn id="45" fill="hold">
                            <p:stCondLst>
                              <p:cond delay="1500"/>
                            </p:stCondLst>
                            <p:childTnLst>
                              <p:par>
                                <p:cTn id="46" presetID="55" presetClass="entr" presetSubtype="0" fill="hold" grpId="0" nodeType="afterEffect">
                                  <p:stCondLst>
                                    <p:cond delay="0"/>
                                  </p:stCondLst>
                                  <p:childTnLst>
                                    <p:set>
                                      <p:cBhvr>
                                        <p:cTn id="47" dur="1" fill="hold">
                                          <p:stCondLst>
                                            <p:cond delay="0"/>
                                          </p:stCondLst>
                                        </p:cTn>
                                        <p:tgtEl>
                                          <p:spTgt spid="51"/>
                                        </p:tgtEl>
                                        <p:attrNameLst>
                                          <p:attrName>style.visibility</p:attrName>
                                        </p:attrNameLst>
                                      </p:cBhvr>
                                      <p:to>
                                        <p:strVal val="visible"/>
                                      </p:to>
                                    </p:set>
                                    <p:anim calcmode="lin" valueType="num">
                                      <p:cBhvr>
                                        <p:cTn id="48" dur="1000" fill="hold"/>
                                        <p:tgtEl>
                                          <p:spTgt spid="51"/>
                                        </p:tgtEl>
                                        <p:attrNameLst>
                                          <p:attrName>ppt_w</p:attrName>
                                        </p:attrNameLst>
                                      </p:cBhvr>
                                      <p:tavLst>
                                        <p:tav tm="0">
                                          <p:val>
                                            <p:strVal val="#ppt_w*0.70"/>
                                          </p:val>
                                        </p:tav>
                                        <p:tav tm="100000">
                                          <p:val>
                                            <p:strVal val="#ppt_w"/>
                                          </p:val>
                                        </p:tav>
                                      </p:tavLst>
                                    </p:anim>
                                    <p:anim calcmode="lin" valueType="num">
                                      <p:cBhvr>
                                        <p:cTn id="49" dur="1000" fill="hold"/>
                                        <p:tgtEl>
                                          <p:spTgt spid="51"/>
                                        </p:tgtEl>
                                        <p:attrNameLst>
                                          <p:attrName>ppt_h</p:attrName>
                                        </p:attrNameLst>
                                      </p:cBhvr>
                                      <p:tavLst>
                                        <p:tav tm="0">
                                          <p:val>
                                            <p:strVal val="#ppt_h"/>
                                          </p:val>
                                        </p:tav>
                                        <p:tav tm="100000">
                                          <p:val>
                                            <p:strVal val="#ppt_h"/>
                                          </p:val>
                                        </p:tav>
                                      </p:tavLst>
                                    </p:anim>
                                    <p:animEffect transition="in" filter="fade">
                                      <p:cBhvr>
                                        <p:cTn id="50" dur="1000"/>
                                        <p:tgtEl>
                                          <p:spTgt spid="51"/>
                                        </p:tgtEl>
                                      </p:cBhvr>
                                    </p:animEffect>
                                  </p:childTnLst>
                                </p:cTn>
                              </p:par>
                            </p:childTnLst>
                          </p:cTn>
                        </p:par>
                        <p:par>
                          <p:cTn id="51" fill="hold">
                            <p:stCondLst>
                              <p:cond delay="2500"/>
                            </p:stCondLst>
                            <p:childTnLst>
                              <p:par>
                                <p:cTn id="52" presetID="55" presetClass="entr" presetSubtype="0" fill="hold" grpId="0" nodeType="after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p:cTn id="54" dur="1000" fill="hold"/>
                                        <p:tgtEl>
                                          <p:spTgt spid="63"/>
                                        </p:tgtEl>
                                        <p:attrNameLst>
                                          <p:attrName>ppt_w</p:attrName>
                                        </p:attrNameLst>
                                      </p:cBhvr>
                                      <p:tavLst>
                                        <p:tav tm="0">
                                          <p:val>
                                            <p:strVal val="#ppt_w*0.70"/>
                                          </p:val>
                                        </p:tav>
                                        <p:tav tm="100000">
                                          <p:val>
                                            <p:strVal val="#ppt_w"/>
                                          </p:val>
                                        </p:tav>
                                      </p:tavLst>
                                    </p:anim>
                                    <p:anim calcmode="lin" valueType="num">
                                      <p:cBhvr>
                                        <p:cTn id="55" dur="1000" fill="hold"/>
                                        <p:tgtEl>
                                          <p:spTgt spid="63"/>
                                        </p:tgtEl>
                                        <p:attrNameLst>
                                          <p:attrName>ppt_h</p:attrName>
                                        </p:attrNameLst>
                                      </p:cBhvr>
                                      <p:tavLst>
                                        <p:tav tm="0">
                                          <p:val>
                                            <p:strVal val="#ppt_h"/>
                                          </p:val>
                                        </p:tav>
                                        <p:tav tm="100000">
                                          <p:val>
                                            <p:strVal val="#ppt_h"/>
                                          </p:val>
                                        </p:tav>
                                      </p:tavLst>
                                    </p:anim>
                                    <p:animEffect transition="in" filter="fade">
                                      <p:cBhvr>
                                        <p:cTn id="56" dur="1000"/>
                                        <p:tgtEl>
                                          <p:spTgt spid="63"/>
                                        </p:tgtEl>
                                      </p:cBhvr>
                                    </p:animEffect>
                                  </p:childTnLst>
                                </p:cTn>
                              </p:par>
                            </p:childTnLst>
                          </p:cTn>
                        </p:par>
                        <p:par>
                          <p:cTn id="57" fill="hold">
                            <p:stCondLst>
                              <p:cond delay="3500"/>
                            </p:stCondLst>
                            <p:childTnLst>
                              <p:par>
                                <p:cTn id="58" presetID="55" presetClass="entr" presetSubtype="0" fill="hold" grpId="0" nodeType="afterEffect">
                                  <p:stCondLst>
                                    <p:cond delay="0"/>
                                  </p:stCondLst>
                                  <p:childTnLst>
                                    <p:set>
                                      <p:cBhvr>
                                        <p:cTn id="59" dur="1" fill="hold">
                                          <p:stCondLst>
                                            <p:cond delay="0"/>
                                          </p:stCondLst>
                                        </p:cTn>
                                        <p:tgtEl>
                                          <p:spTgt spid="52"/>
                                        </p:tgtEl>
                                        <p:attrNameLst>
                                          <p:attrName>style.visibility</p:attrName>
                                        </p:attrNameLst>
                                      </p:cBhvr>
                                      <p:to>
                                        <p:strVal val="visible"/>
                                      </p:to>
                                    </p:set>
                                    <p:anim calcmode="lin" valueType="num">
                                      <p:cBhvr>
                                        <p:cTn id="60" dur="1000" fill="hold"/>
                                        <p:tgtEl>
                                          <p:spTgt spid="52"/>
                                        </p:tgtEl>
                                        <p:attrNameLst>
                                          <p:attrName>ppt_w</p:attrName>
                                        </p:attrNameLst>
                                      </p:cBhvr>
                                      <p:tavLst>
                                        <p:tav tm="0">
                                          <p:val>
                                            <p:strVal val="#ppt_w*0.70"/>
                                          </p:val>
                                        </p:tav>
                                        <p:tav tm="100000">
                                          <p:val>
                                            <p:strVal val="#ppt_w"/>
                                          </p:val>
                                        </p:tav>
                                      </p:tavLst>
                                    </p:anim>
                                    <p:anim calcmode="lin" valueType="num">
                                      <p:cBhvr>
                                        <p:cTn id="61" dur="1000" fill="hold"/>
                                        <p:tgtEl>
                                          <p:spTgt spid="52"/>
                                        </p:tgtEl>
                                        <p:attrNameLst>
                                          <p:attrName>ppt_h</p:attrName>
                                        </p:attrNameLst>
                                      </p:cBhvr>
                                      <p:tavLst>
                                        <p:tav tm="0">
                                          <p:val>
                                            <p:strVal val="#ppt_h"/>
                                          </p:val>
                                        </p:tav>
                                        <p:tav tm="100000">
                                          <p:val>
                                            <p:strVal val="#ppt_h"/>
                                          </p:val>
                                        </p:tav>
                                      </p:tavLst>
                                    </p:anim>
                                    <p:animEffect transition="in" filter="fade">
                                      <p:cBhvr>
                                        <p:cTn id="62" dur="1000"/>
                                        <p:tgtEl>
                                          <p:spTgt spid="52"/>
                                        </p:tgtEl>
                                      </p:cBhvr>
                                    </p:animEffect>
                                  </p:childTnLst>
                                </p:cTn>
                              </p:par>
                            </p:childTnLst>
                          </p:cTn>
                        </p:par>
                        <p:par>
                          <p:cTn id="63" fill="hold">
                            <p:stCondLst>
                              <p:cond delay="4500"/>
                            </p:stCondLst>
                            <p:childTnLst>
                              <p:par>
                                <p:cTn id="64" presetID="55" presetClass="entr" presetSubtype="0" fill="hold" grpId="0" nodeType="after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p:cTn id="66" dur="1000" fill="hold"/>
                                        <p:tgtEl>
                                          <p:spTgt spid="53"/>
                                        </p:tgtEl>
                                        <p:attrNameLst>
                                          <p:attrName>ppt_w</p:attrName>
                                        </p:attrNameLst>
                                      </p:cBhvr>
                                      <p:tavLst>
                                        <p:tav tm="0">
                                          <p:val>
                                            <p:strVal val="#ppt_w*0.70"/>
                                          </p:val>
                                        </p:tav>
                                        <p:tav tm="100000">
                                          <p:val>
                                            <p:strVal val="#ppt_w"/>
                                          </p:val>
                                        </p:tav>
                                      </p:tavLst>
                                    </p:anim>
                                    <p:anim calcmode="lin" valueType="num">
                                      <p:cBhvr>
                                        <p:cTn id="67" dur="1000" fill="hold"/>
                                        <p:tgtEl>
                                          <p:spTgt spid="53"/>
                                        </p:tgtEl>
                                        <p:attrNameLst>
                                          <p:attrName>ppt_h</p:attrName>
                                        </p:attrNameLst>
                                      </p:cBhvr>
                                      <p:tavLst>
                                        <p:tav tm="0">
                                          <p:val>
                                            <p:strVal val="#ppt_h"/>
                                          </p:val>
                                        </p:tav>
                                        <p:tav tm="100000">
                                          <p:val>
                                            <p:strVal val="#ppt_h"/>
                                          </p:val>
                                        </p:tav>
                                      </p:tavLst>
                                    </p:anim>
                                    <p:animEffect transition="in" filter="fade">
                                      <p:cBhvr>
                                        <p:cTn id="68" dur="1000"/>
                                        <p:tgtEl>
                                          <p:spTgt spid="53"/>
                                        </p:tgtEl>
                                      </p:cBhvr>
                                    </p:animEffect>
                                  </p:childTnLst>
                                </p:cTn>
                              </p:par>
                            </p:childTnLst>
                          </p:cTn>
                        </p:par>
                        <p:par>
                          <p:cTn id="69" fill="hold">
                            <p:stCondLst>
                              <p:cond delay="5500"/>
                            </p:stCondLst>
                            <p:childTnLst>
                              <p:par>
                                <p:cTn id="70" presetID="55" presetClass="entr" presetSubtype="0" fill="hold" grpId="0" nodeType="afterEffect">
                                  <p:stCondLst>
                                    <p:cond delay="0"/>
                                  </p:stCondLst>
                                  <p:childTnLst>
                                    <p:set>
                                      <p:cBhvr>
                                        <p:cTn id="71" dur="1" fill="hold">
                                          <p:stCondLst>
                                            <p:cond delay="0"/>
                                          </p:stCondLst>
                                        </p:cTn>
                                        <p:tgtEl>
                                          <p:spTgt spid="54"/>
                                        </p:tgtEl>
                                        <p:attrNameLst>
                                          <p:attrName>style.visibility</p:attrName>
                                        </p:attrNameLst>
                                      </p:cBhvr>
                                      <p:to>
                                        <p:strVal val="visible"/>
                                      </p:to>
                                    </p:set>
                                    <p:anim calcmode="lin" valueType="num">
                                      <p:cBhvr>
                                        <p:cTn id="72" dur="1000" fill="hold"/>
                                        <p:tgtEl>
                                          <p:spTgt spid="54"/>
                                        </p:tgtEl>
                                        <p:attrNameLst>
                                          <p:attrName>ppt_w</p:attrName>
                                        </p:attrNameLst>
                                      </p:cBhvr>
                                      <p:tavLst>
                                        <p:tav tm="0">
                                          <p:val>
                                            <p:strVal val="#ppt_w*0.70"/>
                                          </p:val>
                                        </p:tav>
                                        <p:tav tm="100000">
                                          <p:val>
                                            <p:strVal val="#ppt_w"/>
                                          </p:val>
                                        </p:tav>
                                      </p:tavLst>
                                    </p:anim>
                                    <p:anim calcmode="lin" valueType="num">
                                      <p:cBhvr>
                                        <p:cTn id="73" dur="1000" fill="hold"/>
                                        <p:tgtEl>
                                          <p:spTgt spid="54"/>
                                        </p:tgtEl>
                                        <p:attrNameLst>
                                          <p:attrName>ppt_h</p:attrName>
                                        </p:attrNameLst>
                                      </p:cBhvr>
                                      <p:tavLst>
                                        <p:tav tm="0">
                                          <p:val>
                                            <p:strVal val="#ppt_h"/>
                                          </p:val>
                                        </p:tav>
                                        <p:tav tm="100000">
                                          <p:val>
                                            <p:strVal val="#ppt_h"/>
                                          </p:val>
                                        </p:tav>
                                      </p:tavLst>
                                    </p:anim>
                                    <p:animEffect transition="in" filter="fade">
                                      <p:cBhvr>
                                        <p:cTn id="74" dur="1000"/>
                                        <p:tgtEl>
                                          <p:spTgt spid="54"/>
                                        </p:tgtEl>
                                      </p:cBhvr>
                                    </p:animEffect>
                                  </p:childTnLst>
                                </p:cTn>
                              </p:par>
                            </p:childTnLst>
                          </p:cTn>
                        </p:par>
                      </p:childTnLst>
                    </p:cTn>
                  </p:par>
                  <p:par>
                    <p:cTn id="75" fill="hold">
                      <p:stCondLst>
                        <p:cond delay="indefinite"/>
                      </p:stCondLst>
                      <p:childTnLst>
                        <p:par>
                          <p:cTn id="76" fill="hold">
                            <p:stCondLst>
                              <p:cond delay="0"/>
                            </p:stCondLst>
                            <p:childTnLst>
                              <p:par>
                                <p:cTn id="77" presetID="4" presetClass="entr" presetSubtype="16" fill="hold" grpId="0" nodeType="clickEffect">
                                  <p:stCondLst>
                                    <p:cond delay="0"/>
                                  </p:stCondLst>
                                  <p:childTnLst>
                                    <p:set>
                                      <p:cBhvr>
                                        <p:cTn id="78" dur="1" fill="hold">
                                          <p:stCondLst>
                                            <p:cond delay="0"/>
                                          </p:stCondLst>
                                        </p:cTn>
                                        <p:tgtEl>
                                          <p:spTgt spid="84"/>
                                        </p:tgtEl>
                                        <p:attrNameLst>
                                          <p:attrName>style.visibility</p:attrName>
                                        </p:attrNameLst>
                                      </p:cBhvr>
                                      <p:to>
                                        <p:strVal val="visible"/>
                                      </p:to>
                                    </p:set>
                                    <p:animEffect transition="in" filter="box(in)">
                                      <p:cBhvr>
                                        <p:cTn id="79" dur="500"/>
                                        <p:tgtEl>
                                          <p:spTgt spid="84"/>
                                        </p:tgtEl>
                                      </p:cBhvr>
                                    </p:animEffect>
                                  </p:childTnLst>
                                </p:cTn>
                              </p:par>
                              <p:par>
                                <p:cTn id="80" presetID="4" presetClass="entr" presetSubtype="16" fill="hold" grpId="0" nodeType="withEffect">
                                  <p:stCondLst>
                                    <p:cond delay="0"/>
                                  </p:stCondLst>
                                  <p:childTnLst>
                                    <p:set>
                                      <p:cBhvr>
                                        <p:cTn id="81" dur="1" fill="hold">
                                          <p:stCondLst>
                                            <p:cond delay="0"/>
                                          </p:stCondLst>
                                        </p:cTn>
                                        <p:tgtEl>
                                          <p:spTgt spid="83"/>
                                        </p:tgtEl>
                                        <p:attrNameLst>
                                          <p:attrName>style.visibility</p:attrName>
                                        </p:attrNameLst>
                                      </p:cBhvr>
                                      <p:to>
                                        <p:strVal val="visible"/>
                                      </p:to>
                                    </p:set>
                                    <p:animEffect transition="in" filter="box(in)">
                                      <p:cBhvr>
                                        <p:cTn id="82" dur="500"/>
                                        <p:tgtEl>
                                          <p:spTgt spid="83"/>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61"/>
                                        </p:tgtEl>
                                        <p:attrNameLst>
                                          <p:attrName>style.visibility</p:attrName>
                                        </p:attrNameLst>
                                      </p:cBhvr>
                                      <p:to>
                                        <p:strVal val="visible"/>
                                      </p:to>
                                    </p:set>
                                    <p:animEffect transition="in" filter="box(in)">
                                      <p:cBhvr>
                                        <p:cTn id="87" dur="500"/>
                                        <p:tgtEl>
                                          <p:spTgt spid="61"/>
                                        </p:tgtEl>
                                      </p:cBhvr>
                                    </p:animEffect>
                                  </p:childTnLst>
                                </p:cTn>
                              </p:par>
                              <p:par>
                                <p:cTn id="88" presetID="4" presetClass="entr" presetSubtype="16" fill="hold" grpId="0" nodeType="withEffect">
                                  <p:stCondLst>
                                    <p:cond delay="0"/>
                                  </p:stCondLst>
                                  <p:childTnLst>
                                    <p:set>
                                      <p:cBhvr>
                                        <p:cTn id="89" dur="1" fill="hold">
                                          <p:stCondLst>
                                            <p:cond delay="0"/>
                                          </p:stCondLst>
                                        </p:cTn>
                                        <p:tgtEl>
                                          <p:spTgt spid="85"/>
                                        </p:tgtEl>
                                        <p:attrNameLst>
                                          <p:attrName>style.visibility</p:attrName>
                                        </p:attrNameLst>
                                      </p:cBhvr>
                                      <p:to>
                                        <p:strVal val="visible"/>
                                      </p:to>
                                    </p:set>
                                    <p:animEffect transition="in" filter="box(in)">
                                      <p:cBhvr>
                                        <p:cTn id="90" dur="500"/>
                                        <p:tgtEl>
                                          <p:spTgt spid="85"/>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16" fill="hold" grpId="0"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box(in)">
                                      <p:cBhvr>
                                        <p:cTn id="95" dur="500"/>
                                        <p:tgtEl>
                                          <p:spTgt spid="37"/>
                                        </p:tgtEl>
                                      </p:cBhvr>
                                    </p:animEffect>
                                  </p:childTnLst>
                                </p:cTn>
                              </p:par>
                              <p:par>
                                <p:cTn id="96" presetID="4" presetClass="entr" presetSubtype="16" fill="hold" nodeType="withEffect">
                                  <p:stCondLst>
                                    <p:cond delay="0"/>
                                  </p:stCondLst>
                                  <p:childTnLst>
                                    <p:set>
                                      <p:cBhvr>
                                        <p:cTn id="97" dur="1" fill="hold">
                                          <p:stCondLst>
                                            <p:cond delay="0"/>
                                          </p:stCondLst>
                                        </p:cTn>
                                        <p:tgtEl>
                                          <p:spTgt spid="70"/>
                                        </p:tgtEl>
                                        <p:attrNameLst>
                                          <p:attrName>style.visibility</p:attrName>
                                        </p:attrNameLst>
                                      </p:cBhvr>
                                      <p:to>
                                        <p:strVal val="visible"/>
                                      </p:to>
                                    </p:set>
                                    <p:animEffect transition="in" filter="box(in)">
                                      <p:cBhvr>
                                        <p:cTn id="98" dur="500"/>
                                        <p:tgtEl>
                                          <p:spTgt spid="70"/>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p:cTn id="103" dur="500" fill="hold"/>
                                        <p:tgtEl>
                                          <p:spTgt spid="36"/>
                                        </p:tgtEl>
                                        <p:attrNameLst>
                                          <p:attrName>ppt_w</p:attrName>
                                        </p:attrNameLst>
                                      </p:cBhvr>
                                      <p:tavLst>
                                        <p:tav tm="0">
                                          <p:val>
                                            <p:fltVal val="0"/>
                                          </p:val>
                                        </p:tav>
                                        <p:tav tm="100000">
                                          <p:val>
                                            <p:strVal val="#ppt_w"/>
                                          </p:val>
                                        </p:tav>
                                      </p:tavLst>
                                    </p:anim>
                                    <p:anim calcmode="lin" valueType="num">
                                      <p:cBhvr>
                                        <p:cTn id="104" dur="500" fill="hold"/>
                                        <p:tgtEl>
                                          <p:spTgt spid="36"/>
                                        </p:tgtEl>
                                        <p:attrNameLst>
                                          <p:attrName>ppt_h</p:attrName>
                                        </p:attrNameLst>
                                      </p:cBhvr>
                                      <p:tavLst>
                                        <p:tav tm="0">
                                          <p:val>
                                            <p:fltVal val="0"/>
                                          </p:val>
                                        </p:tav>
                                        <p:tav tm="100000">
                                          <p:val>
                                            <p:strVal val="#ppt_h"/>
                                          </p:val>
                                        </p:tav>
                                      </p:tavLst>
                                    </p:anim>
                                    <p:animEffect transition="in" filter="fade">
                                      <p:cBhvr>
                                        <p:cTn id="105" dur="500"/>
                                        <p:tgtEl>
                                          <p:spTgt spid="36"/>
                                        </p:tgtEl>
                                      </p:cBhvr>
                                    </p:animEffect>
                                  </p:childTnLst>
                                </p:cTn>
                              </p:par>
                              <p:par>
                                <p:cTn id="106" presetID="21" presetClass="entr" presetSubtype="4" fill="hold" nodeType="withEffect">
                                  <p:stCondLst>
                                    <p:cond delay="0"/>
                                  </p:stCondLst>
                                  <p:childTnLst>
                                    <p:set>
                                      <p:cBhvr>
                                        <p:cTn id="107" dur="1" fill="hold">
                                          <p:stCondLst>
                                            <p:cond delay="0"/>
                                          </p:stCondLst>
                                        </p:cTn>
                                        <p:tgtEl>
                                          <p:spTgt spid="71"/>
                                        </p:tgtEl>
                                        <p:attrNameLst>
                                          <p:attrName>style.visibility</p:attrName>
                                        </p:attrNameLst>
                                      </p:cBhvr>
                                      <p:to>
                                        <p:strVal val="visible"/>
                                      </p:to>
                                    </p:set>
                                    <p:animEffect transition="in" filter="wheel(4)">
                                      <p:cBhvr>
                                        <p:cTn id="108" dur="2000"/>
                                        <p:tgtEl>
                                          <p:spTgt spid="71"/>
                                        </p:tgtEl>
                                      </p:cBhvr>
                                    </p:animEffect>
                                  </p:childTnLst>
                                </p:cTn>
                              </p:par>
                              <p:par>
                                <p:cTn id="109" presetID="27" presetClass="emph" presetSubtype="0" fill="hold" nodeType="withEffect">
                                  <p:stCondLst>
                                    <p:cond delay="0"/>
                                  </p:stCondLst>
                                  <p:childTnLst>
                                    <p:animClr clrSpc="rgb" dir="cw">
                                      <p:cBhvr override="childStyle">
                                        <p:cTn id="110" dur="250" autoRev="1" fill="hold"/>
                                        <p:tgtEl>
                                          <p:spTgt spid="71"/>
                                        </p:tgtEl>
                                        <p:attrNameLst>
                                          <p:attrName>style.color</p:attrName>
                                        </p:attrNameLst>
                                      </p:cBhvr>
                                      <p:to>
                                        <a:schemeClr val="bg1"/>
                                      </p:to>
                                    </p:animClr>
                                    <p:animClr clrSpc="rgb" dir="cw">
                                      <p:cBhvr>
                                        <p:cTn id="111" dur="250" autoRev="1" fill="hold"/>
                                        <p:tgtEl>
                                          <p:spTgt spid="71"/>
                                        </p:tgtEl>
                                        <p:attrNameLst>
                                          <p:attrName>fillcolor</p:attrName>
                                        </p:attrNameLst>
                                      </p:cBhvr>
                                      <p:to>
                                        <a:schemeClr val="bg1"/>
                                      </p:to>
                                    </p:animClr>
                                    <p:set>
                                      <p:cBhvr>
                                        <p:cTn id="112" dur="250" autoRev="1" fill="hold"/>
                                        <p:tgtEl>
                                          <p:spTgt spid="71"/>
                                        </p:tgtEl>
                                        <p:attrNameLst>
                                          <p:attrName>fill.type</p:attrName>
                                        </p:attrNameLst>
                                      </p:cBhvr>
                                      <p:to>
                                        <p:strVal val="solid"/>
                                      </p:to>
                                    </p:set>
                                    <p:set>
                                      <p:cBhvr>
                                        <p:cTn id="113" dur="250" autoRev="1" fill="hold"/>
                                        <p:tgtEl>
                                          <p:spTgt spid="71"/>
                                        </p:tgtEl>
                                        <p:attrNameLst>
                                          <p:attrName>fill.on</p:attrName>
                                        </p:attrNameLst>
                                      </p:cBhvr>
                                      <p:to>
                                        <p:strVal val="true"/>
                                      </p:to>
                                    </p:set>
                                  </p:childTnLst>
                                </p:cTn>
                              </p:par>
                            </p:childTnLst>
                          </p:cTn>
                        </p:par>
                      </p:childTnLst>
                    </p:cTn>
                  </p:par>
                  <p:par>
                    <p:cTn id="114" fill="hold">
                      <p:stCondLst>
                        <p:cond delay="indefinite"/>
                      </p:stCondLst>
                      <p:childTnLst>
                        <p:par>
                          <p:cTn id="115" fill="hold">
                            <p:stCondLst>
                              <p:cond delay="0"/>
                            </p:stCondLst>
                            <p:childTnLst>
                              <p:par>
                                <p:cTn id="116" presetID="4" presetClass="entr" presetSubtype="16" fill="hold" grpId="0" nodeType="clickEffect">
                                  <p:stCondLst>
                                    <p:cond delay="0"/>
                                  </p:stCondLst>
                                  <p:childTnLst>
                                    <p:set>
                                      <p:cBhvr>
                                        <p:cTn id="117" dur="1" fill="hold">
                                          <p:stCondLst>
                                            <p:cond delay="0"/>
                                          </p:stCondLst>
                                        </p:cTn>
                                        <p:tgtEl>
                                          <p:spTgt spid="65"/>
                                        </p:tgtEl>
                                        <p:attrNameLst>
                                          <p:attrName>style.visibility</p:attrName>
                                        </p:attrNameLst>
                                      </p:cBhvr>
                                      <p:to>
                                        <p:strVal val="visible"/>
                                      </p:to>
                                    </p:set>
                                    <p:animEffect transition="in" filter="box(in)">
                                      <p:cBhvr>
                                        <p:cTn id="118" dur="500"/>
                                        <p:tgtEl>
                                          <p:spTgt spid="65"/>
                                        </p:tgtEl>
                                      </p:cBhvr>
                                    </p:animEffect>
                                  </p:childTnLst>
                                </p:cTn>
                              </p:par>
                            </p:childTnLst>
                          </p:cTn>
                        </p:par>
                        <p:par>
                          <p:cTn id="119" fill="hold">
                            <p:stCondLst>
                              <p:cond delay="500"/>
                            </p:stCondLst>
                            <p:childTnLst>
                              <p:par>
                                <p:cTn id="120" presetID="4" presetClass="entr" presetSubtype="16" fill="hold" nodeType="afterEffect">
                                  <p:stCondLst>
                                    <p:cond delay="0"/>
                                  </p:stCondLst>
                                  <p:childTnLst>
                                    <p:set>
                                      <p:cBhvr>
                                        <p:cTn id="121" dur="1" fill="hold">
                                          <p:stCondLst>
                                            <p:cond delay="0"/>
                                          </p:stCondLst>
                                        </p:cTn>
                                        <p:tgtEl>
                                          <p:spTgt spid="68"/>
                                        </p:tgtEl>
                                        <p:attrNameLst>
                                          <p:attrName>style.visibility</p:attrName>
                                        </p:attrNameLst>
                                      </p:cBhvr>
                                      <p:to>
                                        <p:strVal val="visible"/>
                                      </p:to>
                                    </p:set>
                                    <p:animEffect transition="in" filter="box(in)">
                                      <p:cBhvr>
                                        <p:cTn id="122" dur="500"/>
                                        <p:tgtEl>
                                          <p:spTgt spid="68"/>
                                        </p:tgtEl>
                                      </p:cBhvr>
                                    </p:animEffect>
                                  </p:childTnLst>
                                </p:cTn>
                              </p:par>
                            </p:childTnLst>
                          </p:cTn>
                        </p:par>
                        <p:par>
                          <p:cTn id="123" fill="hold">
                            <p:stCondLst>
                              <p:cond delay="1000"/>
                            </p:stCondLst>
                            <p:childTnLst>
                              <p:par>
                                <p:cTn id="124" presetID="4" presetClass="entr" presetSubtype="16" fill="hold" grpId="0" nodeType="after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box(in)">
                                      <p:cBhvr>
                                        <p:cTn id="126" dur="500"/>
                                        <p:tgtEl>
                                          <p:spTgt spid="43"/>
                                        </p:tgtEl>
                                      </p:cBhvr>
                                    </p:animEffect>
                                  </p:childTnLst>
                                </p:cTn>
                              </p:par>
                            </p:childTnLst>
                          </p:cTn>
                        </p:par>
                        <p:par>
                          <p:cTn id="127" fill="hold">
                            <p:stCondLst>
                              <p:cond delay="1500"/>
                            </p:stCondLst>
                            <p:childTnLst>
                              <p:par>
                                <p:cTn id="128" presetID="4" presetClass="entr" presetSubtype="16" fill="hold" nodeType="afterEffect">
                                  <p:stCondLst>
                                    <p:cond delay="0"/>
                                  </p:stCondLst>
                                  <p:childTnLst>
                                    <p:set>
                                      <p:cBhvr>
                                        <p:cTn id="129" dur="1" fill="hold">
                                          <p:stCondLst>
                                            <p:cond delay="0"/>
                                          </p:stCondLst>
                                        </p:cTn>
                                        <p:tgtEl>
                                          <p:spTgt spid="80"/>
                                        </p:tgtEl>
                                        <p:attrNameLst>
                                          <p:attrName>style.visibility</p:attrName>
                                        </p:attrNameLst>
                                      </p:cBhvr>
                                      <p:to>
                                        <p:strVal val="visible"/>
                                      </p:to>
                                    </p:set>
                                    <p:animEffect transition="in" filter="box(in)">
                                      <p:cBhvr>
                                        <p:cTn id="130" dur="500"/>
                                        <p:tgtEl>
                                          <p:spTgt spid="80"/>
                                        </p:tgtEl>
                                      </p:cBhvr>
                                    </p:animEffect>
                                  </p:childTnLst>
                                </p:cTn>
                              </p:par>
                            </p:childTnLst>
                          </p:cTn>
                        </p:par>
                        <p:par>
                          <p:cTn id="131" fill="hold">
                            <p:stCondLst>
                              <p:cond delay="2000"/>
                            </p:stCondLst>
                            <p:childTnLst>
                              <p:par>
                                <p:cTn id="132" presetID="4" presetClass="entr" presetSubtype="16" fill="hold" grpId="0" nodeType="after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box(in)">
                                      <p:cBhvr>
                                        <p:cTn id="134" dur="500"/>
                                        <p:tgtEl>
                                          <p:spTgt spid="44"/>
                                        </p:tgtEl>
                                      </p:cBhvr>
                                    </p:animEffect>
                                  </p:childTnLst>
                                </p:cTn>
                              </p:par>
                            </p:childTnLst>
                          </p:cTn>
                        </p:par>
                      </p:childTnLst>
                    </p:cTn>
                  </p:par>
                  <p:par>
                    <p:cTn id="135" fill="hold">
                      <p:stCondLst>
                        <p:cond delay="indefinite"/>
                      </p:stCondLst>
                      <p:childTnLst>
                        <p:par>
                          <p:cTn id="136" fill="hold">
                            <p:stCondLst>
                              <p:cond delay="0"/>
                            </p:stCondLst>
                            <p:childTnLst>
                              <p:par>
                                <p:cTn id="137" presetID="4" presetClass="entr" presetSubtype="16" fill="hold" nodeType="clickEffect">
                                  <p:stCondLst>
                                    <p:cond delay="0"/>
                                  </p:stCondLst>
                                  <p:childTnLst>
                                    <p:set>
                                      <p:cBhvr>
                                        <p:cTn id="138" dur="1" fill="hold">
                                          <p:stCondLst>
                                            <p:cond delay="0"/>
                                          </p:stCondLst>
                                        </p:cTn>
                                        <p:tgtEl>
                                          <p:spTgt spid="77"/>
                                        </p:tgtEl>
                                        <p:attrNameLst>
                                          <p:attrName>style.visibility</p:attrName>
                                        </p:attrNameLst>
                                      </p:cBhvr>
                                      <p:to>
                                        <p:strVal val="visible"/>
                                      </p:to>
                                    </p:set>
                                    <p:animEffect transition="in" filter="box(in)">
                                      <p:cBhvr>
                                        <p:cTn id="139" dur="500"/>
                                        <p:tgtEl>
                                          <p:spTgt spid="77"/>
                                        </p:tgtEl>
                                      </p:cBhvr>
                                    </p:animEffect>
                                  </p:childTnLst>
                                </p:cTn>
                              </p:par>
                              <p:par>
                                <p:cTn id="140" presetID="4" presetClass="entr" presetSubtype="16" fill="hold" grpId="0" nodeType="with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box(in)">
                                      <p:cBhvr>
                                        <p:cTn id="142" dur="500"/>
                                        <p:tgtEl>
                                          <p:spTgt spid="45"/>
                                        </p:tgtEl>
                                      </p:cBhvr>
                                    </p:animEffect>
                                  </p:childTnLst>
                                </p:cTn>
                              </p:par>
                            </p:childTnLst>
                          </p:cTn>
                        </p:par>
                      </p:childTnLst>
                    </p:cTn>
                  </p:par>
                  <p:par>
                    <p:cTn id="143" fill="hold">
                      <p:stCondLst>
                        <p:cond delay="indefinite"/>
                      </p:stCondLst>
                      <p:childTnLst>
                        <p:par>
                          <p:cTn id="144" fill="hold">
                            <p:stCondLst>
                              <p:cond delay="0"/>
                            </p:stCondLst>
                            <p:childTnLst>
                              <p:par>
                                <p:cTn id="145" presetID="55" presetClass="entr" presetSubtype="0" fill="hold" grpId="0" nodeType="clickEffect">
                                  <p:stCondLst>
                                    <p:cond delay="0"/>
                                  </p:stCondLst>
                                  <p:childTnLst>
                                    <p:set>
                                      <p:cBhvr>
                                        <p:cTn id="146" dur="1" fill="hold">
                                          <p:stCondLst>
                                            <p:cond delay="0"/>
                                          </p:stCondLst>
                                        </p:cTn>
                                        <p:tgtEl>
                                          <p:spTgt spid="49"/>
                                        </p:tgtEl>
                                        <p:attrNameLst>
                                          <p:attrName>style.visibility</p:attrName>
                                        </p:attrNameLst>
                                      </p:cBhvr>
                                      <p:to>
                                        <p:strVal val="visible"/>
                                      </p:to>
                                    </p:set>
                                    <p:anim calcmode="lin" valueType="num">
                                      <p:cBhvr>
                                        <p:cTn id="147" dur="1000" fill="hold"/>
                                        <p:tgtEl>
                                          <p:spTgt spid="49"/>
                                        </p:tgtEl>
                                        <p:attrNameLst>
                                          <p:attrName>ppt_w</p:attrName>
                                        </p:attrNameLst>
                                      </p:cBhvr>
                                      <p:tavLst>
                                        <p:tav tm="0">
                                          <p:val>
                                            <p:strVal val="#ppt_w*0.70"/>
                                          </p:val>
                                        </p:tav>
                                        <p:tav tm="100000">
                                          <p:val>
                                            <p:strVal val="#ppt_w"/>
                                          </p:val>
                                        </p:tav>
                                      </p:tavLst>
                                    </p:anim>
                                    <p:anim calcmode="lin" valueType="num">
                                      <p:cBhvr>
                                        <p:cTn id="148" dur="1000" fill="hold"/>
                                        <p:tgtEl>
                                          <p:spTgt spid="49"/>
                                        </p:tgtEl>
                                        <p:attrNameLst>
                                          <p:attrName>ppt_h</p:attrName>
                                        </p:attrNameLst>
                                      </p:cBhvr>
                                      <p:tavLst>
                                        <p:tav tm="0">
                                          <p:val>
                                            <p:strVal val="#ppt_h"/>
                                          </p:val>
                                        </p:tav>
                                        <p:tav tm="100000">
                                          <p:val>
                                            <p:strVal val="#ppt_h"/>
                                          </p:val>
                                        </p:tav>
                                      </p:tavLst>
                                    </p:anim>
                                    <p:animEffect transition="in" filter="fade">
                                      <p:cBhvr>
                                        <p:cTn id="149" dur="1000"/>
                                        <p:tgtEl>
                                          <p:spTgt spid="49"/>
                                        </p:tgtEl>
                                      </p:cBhvr>
                                    </p:animEffect>
                                  </p:childTnLst>
                                </p:cTn>
                              </p:par>
                              <p:par>
                                <p:cTn id="150" presetID="55" presetClass="entr" presetSubtype="0" fill="hold" grpId="0" nodeType="withEffect">
                                  <p:stCondLst>
                                    <p:cond delay="0"/>
                                  </p:stCondLst>
                                  <p:childTnLst>
                                    <p:set>
                                      <p:cBhvr>
                                        <p:cTn id="151" dur="1" fill="hold">
                                          <p:stCondLst>
                                            <p:cond delay="0"/>
                                          </p:stCondLst>
                                        </p:cTn>
                                        <p:tgtEl>
                                          <p:spTgt spid="62"/>
                                        </p:tgtEl>
                                        <p:attrNameLst>
                                          <p:attrName>style.visibility</p:attrName>
                                        </p:attrNameLst>
                                      </p:cBhvr>
                                      <p:to>
                                        <p:strVal val="visible"/>
                                      </p:to>
                                    </p:set>
                                    <p:anim calcmode="lin" valueType="num">
                                      <p:cBhvr>
                                        <p:cTn id="152" dur="1000" fill="hold"/>
                                        <p:tgtEl>
                                          <p:spTgt spid="62"/>
                                        </p:tgtEl>
                                        <p:attrNameLst>
                                          <p:attrName>ppt_w</p:attrName>
                                        </p:attrNameLst>
                                      </p:cBhvr>
                                      <p:tavLst>
                                        <p:tav tm="0">
                                          <p:val>
                                            <p:strVal val="#ppt_w*0.70"/>
                                          </p:val>
                                        </p:tav>
                                        <p:tav tm="100000">
                                          <p:val>
                                            <p:strVal val="#ppt_w"/>
                                          </p:val>
                                        </p:tav>
                                      </p:tavLst>
                                    </p:anim>
                                    <p:anim calcmode="lin" valueType="num">
                                      <p:cBhvr>
                                        <p:cTn id="153" dur="1000" fill="hold"/>
                                        <p:tgtEl>
                                          <p:spTgt spid="62"/>
                                        </p:tgtEl>
                                        <p:attrNameLst>
                                          <p:attrName>ppt_h</p:attrName>
                                        </p:attrNameLst>
                                      </p:cBhvr>
                                      <p:tavLst>
                                        <p:tav tm="0">
                                          <p:val>
                                            <p:strVal val="#ppt_h"/>
                                          </p:val>
                                        </p:tav>
                                        <p:tav tm="100000">
                                          <p:val>
                                            <p:strVal val="#ppt_h"/>
                                          </p:val>
                                        </p:tav>
                                      </p:tavLst>
                                    </p:anim>
                                    <p:animEffect transition="in" filter="fade">
                                      <p:cBhvr>
                                        <p:cTn id="154" dur="1000"/>
                                        <p:tgtEl>
                                          <p:spTgt spid="62"/>
                                        </p:tgtEl>
                                      </p:cBhvr>
                                    </p:animEffect>
                                  </p:childTnLst>
                                </p:cTn>
                              </p:par>
                              <p:par>
                                <p:cTn id="155" presetID="55"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 calcmode="lin" valueType="num">
                                      <p:cBhvr>
                                        <p:cTn id="157" dur="1000" fill="hold"/>
                                        <p:tgtEl>
                                          <p:spTgt spid="56"/>
                                        </p:tgtEl>
                                        <p:attrNameLst>
                                          <p:attrName>ppt_w</p:attrName>
                                        </p:attrNameLst>
                                      </p:cBhvr>
                                      <p:tavLst>
                                        <p:tav tm="0">
                                          <p:val>
                                            <p:strVal val="#ppt_w*0.70"/>
                                          </p:val>
                                        </p:tav>
                                        <p:tav tm="100000">
                                          <p:val>
                                            <p:strVal val="#ppt_w"/>
                                          </p:val>
                                        </p:tav>
                                      </p:tavLst>
                                    </p:anim>
                                    <p:anim calcmode="lin" valueType="num">
                                      <p:cBhvr>
                                        <p:cTn id="158" dur="1000" fill="hold"/>
                                        <p:tgtEl>
                                          <p:spTgt spid="56"/>
                                        </p:tgtEl>
                                        <p:attrNameLst>
                                          <p:attrName>ppt_h</p:attrName>
                                        </p:attrNameLst>
                                      </p:cBhvr>
                                      <p:tavLst>
                                        <p:tav tm="0">
                                          <p:val>
                                            <p:strVal val="#ppt_h"/>
                                          </p:val>
                                        </p:tav>
                                        <p:tav tm="100000">
                                          <p:val>
                                            <p:strVal val="#ppt_h"/>
                                          </p:val>
                                        </p:tav>
                                      </p:tavLst>
                                    </p:anim>
                                    <p:animEffect transition="in" filter="fade">
                                      <p:cBhvr>
                                        <p:cTn id="159" dur="1000"/>
                                        <p:tgtEl>
                                          <p:spTgt spid="56"/>
                                        </p:tgtEl>
                                      </p:cBhvr>
                                    </p:animEffect>
                                  </p:childTnLst>
                                </p:cTn>
                              </p:par>
                              <p:par>
                                <p:cTn id="160" presetID="55" presetClass="entr" presetSubtype="0" fill="hold" grpId="0" nodeType="withEffect">
                                  <p:stCondLst>
                                    <p:cond delay="0"/>
                                  </p:stCondLst>
                                  <p:childTnLst>
                                    <p:set>
                                      <p:cBhvr>
                                        <p:cTn id="161" dur="1" fill="hold">
                                          <p:stCondLst>
                                            <p:cond delay="0"/>
                                          </p:stCondLst>
                                        </p:cTn>
                                        <p:tgtEl>
                                          <p:spTgt spid="57"/>
                                        </p:tgtEl>
                                        <p:attrNameLst>
                                          <p:attrName>style.visibility</p:attrName>
                                        </p:attrNameLst>
                                      </p:cBhvr>
                                      <p:to>
                                        <p:strVal val="visible"/>
                                      </p:to>
                                    </p:set>
                                    <p:anim calcmode="lin" valueType="num">
                                      <p:cBhvr>
                                        <p:cTn id="162" dur="1000" fill="hold"/>
                                        <p:tgtEl>
                                          <p:spTgt spid="57"/>
                                        </p:tgtEl>
                                        <p:attrNameLst>
                                          <p:attrName>ppt_w</p:attrName>
                                        </p:attrNameLst>
                                      </p:cBhvr>
                                      <p:tavLst>
                                        <p:tav tm="0">
                                          <p:val>
                                            <p:strVal val="#ppt_w*0.70"/>
                                          </p:val>
                                        </p:tav>
                                        <p:tav tm="100000">
                                          <p:val>
                                            <p:strVal val="#ppt_w"/>
                                          </p:val>
                                        </p:tav>
                                      </p:tavLst>
                                    </p:anim>
                                    <p:anim calcmode="lin" valueType="num">
                                      <p:cBhvr>
                                        <p:cTn id="163" dur="1000" fill="hold"/>
                                        <p:tgtEl>
                                          <p:spTgt spid="57"/>
                                        </p:tgtEl>
                                        <p:attrNameLst>
                                          <p:attrName>ppt_h</p:attrName>
                                        </p:attrNameLst>
                                      </p:cBhvr>
                                      <p:tavLst>
                                        <p:tav tm="0">
                                          <p:val>
                                            <p:strVal val="#ppt_h"/>
                                          </p:val>
                                        </p:tav>
                                        <p:tav tm="100000">
                                          <p:val>
                                            <p:strVal val="#ppt_h"/>
                                          </p:val>
                                        </p:tav>
                                      </p:tavLst>
                                    </p:anim>
                                    <p:animEffect transition="in" filter="fade">
                                      <p:cBhvr>
                                        <p:cTn id="164" dur="1000"/>
                                        <p:tgtEl>
                                          <p:spTgt spid="57"/>
                                        </p:tgtEl>
                                      </p:cBhvr>
                                    </p:animEffect>
                                  </p:childTnLst>
                                </p:cTn>
                              </p:par>
                              <p:par>
                                <p:cTn id="165" presetID="55"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 calcmode="lin" valueType="num">
                                      <p:cBhvr>
                                        <p:cTn id="167" dur="1000" fill="hold"/>
                                        <p:tgtEl>
                                          <p:spTgt spid="58"/>
                                        </p:tgtEl>
                                        <p:attrNameLst>
                                          <p:attrName>ppt_w</p:attrName>
                                        </p:attrNameLst>
                                      </p:cBhvr>
                                      <p:tavLst>
                                        <p:tav tm="0">
                                          <p:val>
                                            <p:strVal val="#ppt_w*0.70"/>
                                          </p:val>
                                        </p:tav>
                                        <p:tav tm="100000">
                                          <p:val>
                                            <p:strVal val="#ppt_w"/>
                                          </p:val>
                                        </p:tav>
                                      </p:tavLst>
                                    </p:anim>
                                    <p:anim calcmode="lin" valueType="num">
                                      <p:cBhvr>
                                        <p:cTn id="168" dur="1000" fill="hold"/>
                                        <p:tgtEl>
                                          <p:spTgt spid="58"/>
                                        </p:tgtEl>
                                        <p:attrNameLst>
                                          <p:attrName>ppt_h</p:attrName>
                                        </p:attrNameLst>
                                      </p:cBhvr>
                                      <p:tavLst>
                                        <p:tav tm="0">
                                          <p:val>
                                            <p:strVal val="#ppt_h"/>
                                          </p:val>
                                        </p:tav>
                                        <p:tav tm="100000">
                                          <p:val>
                                            <p:strVal val="#ppt_h"/>
                                          </p:val>
                                        </p:tav>
                                      </p:tavLst>
                                    </p:anim>
                                    <p:animEffect transition="in" filter="fade">
                                      <p:cBhvr>
                                        <p:cTn id="169" dur="1000"/>
                                        <p:tgtEl>
                                          <p:spTgt spid="58"/>
                                        </p:tgtEl>
                                      </p:cBhvr>
                                    </p:animEffect>
                                  </p:childTnLst>
                                </p:cTn>
                              </p:par>
                              <p:par>
                                <p:cTn id="170" presetID="55" presetClass="entr" presetSubtype="0" fill="hold" grpId="0" nodeType="withEffect">
                                  <p:stCondLst>
                                    <p:cond delay="0"/>
                                  </p:stCondLst>
                                  <p:childTnLst>
                                    <p:set>
                                      <p:cBhvr>
                                        <p:cTn id="171" dur="1" fill="hold">
                                          <p:stCondLst>
                                            <p:cond delay="0"/>
                                          </p:stCondLst>
                                        </p:cTn>
                                        <p:tgtEl>
                                          <p:spTgt spid="59"/>
                                        </p:tgtEl>
                                        <p:attrNameLst>
                                          <p:attrName>style.visibility</p:attrName>
                                        </p:attrNameLst>
                                      </p:cBhvr>
                                      <p:to>
                                        <p:strVal val="visible"/>
                                      </p:to>
                                    </p:set>
                                    <p:anim calcmode="lin" valueType="num">
                                      <p:cBhvr>
                                        <p:cTn id="172" dur="1000" fill="hold"/>
                                        <p:tgtEl>
                                          <p:spTgt spid="59"/>
                                        </p:tgtEl>
                                        <p:attrNameLst>
                                          <p:attrName>ppt_w</p:attrName>
                                        </p:attrNameLst>
                                      </p:cBhvr>
                                      <p:tavLst>
                                        <p:tav tm="0">
                                          <p:val>
                                            <p:strVal val="#ppt_w*0.70"/>
                                          </p:val>
                                        </p:tav>
                                        <p:tav tm="100000">
                                          <p:val>
                                            <p:strVal val="#ppt_w"/>
                                          </p:val>
                                        </p:tav>
                                      </p:tavLst>
                                    </p:anim>
                                    <p:anim calcmode="lin" valueType="num">
                                      <p:cBhvr>
                                        <p:cTn id="173" dur="1000" fill="hold"/>
                                        <p:tgtEl>
                                          <p:spTgt spid="59"/>
                                        </p:tgtEl>
                                        <p:attrNameLst>
                                          <p:attrName>ppt_h</p:attrName>
                                        </p:attrNameLst>
                                      </p:cBhvr>
                                      <p:tavLst>
                                        <p:tav tm="0">
                                          <p:val>
                                            <p:strVal val="#ppt_h"/>
                                          </p:val>
                                        </p:tav>
                                        <p:tav tm="100000">
                                          <p:val>
                                            <p:strVal val="#ppt_h"/>
                                          </p:val>
                                        </p:tav>
                                      </p:tavLst>
                                    </p:anim>
                                    <p:animEffect transition="in" filter="fade">
                                      <p:cBhvr>
                                        <p:cTn id="174" dur="1000"/>
                                        <p:tgtEl>
                                          <p:spTgt spid="59"/>
                                        </p:tgtEl>
                                      </p:cBhvr>
                                    </p:animEffect>
                                  </p:childTnLst>
                                </p:cTn>
                              </p:par>
                              <p:par>
                                <p:cTn id="175" presetID="55" presetClass="entr" presetSubtype="0" fill="hold" grpId="0" nodeType="withEffect">
                                  <p:stCondLst>
                                    <p:cond delay="0"/>
                                  </p:stCondLst>
                                  <p:childTnLst>
                                    <p:set>
                                      <p:cBhvr>
                                        <p:cTn id="176" dur="1" fill="hold">
                                          <p:stCondLst>
                                            <p:cond delay="0"/>
                                          </p:stCondLst>
                                        </p:cTn>
                                        <p:tgtEl>
                                          <p:spTgt spid="60"/>
                                        </p:tgtEl>
                                        <p:attrNameLst>
                                          <p:attrName>style.visibility</p:attrName>
                                        </p:attrNameLst>
                                      </p:cBhvr>
                                      <p:to>
                                        <p:strVal val="visible"/>
                                      </p:to>
                                    </p:set>
                                    <p:anim calcmode="lin" valueType="num">
                                      <p:cBhvr>
                                        <p:cTn id="177" dur="1000" fill="hold"/>
                                        <p:tgtEl>
                                          <p:spTgt spid="60"/>
                                        </p:tgtEl>
                                        <p:attrNameLst>
                                          <p:attrName>ppt_w</p:attrName>
                                        </p:attrNameLst>
                                      </p:cBhvr>
                                      <p:tavLst>
                                        <p:tav tm="0">
                                          <p:val>
                                            <p:strVal val="#ppt_w*0.70"/>
                                          </p:val>
                                        </p:tav>
                                        <p:tav tm="100000">
                                          <p:val>
                                            <p:strVal val="#ppt_w"/>
                                          </p:val>
                                        </p:tav>
                                      </p:tavLst>
                                    </p:anim>
                                    <p:anim calcmode="lin" valueType="num">
                                      <p:cBhvr>
                                        <p:cTn id="178" dur="1000" fill="hold"/>
                                        <p:tgtEl>
                                          <p:spTgt spid="60"/>
                                        </p:tgtEl>
                                        <p:attrNameLst>
                                          <p:attrName>ppt_h</p:attrName>
                                        </p:attrNameLst>
                                      </p:cBhvr>
                                      <p:tavLst>
                                        <p:tav tm="0">
                                          <p:val>
                                            <p:strVal val="#ppt_h"/>
                                          </p:val>
                                        </p:tav>
                                        <p:tav tm="100000">
                                          <p:val>
                                            <p:strVal val="#ppt_h"/>
                                          </p:val>
                                        </p:tav>
                                      </p:tavLst>
                                    </p:anim>
                                    <p:animEffect transition="in" filter="fade">
                                      <p:cBhvr>
                                        <p:cTn id="179" dur="1000"/>
                                        <p:tgtEl>
                                          <p:spTgt spid="60"/>
                                        </p:tgtEl>
                                      </p:cBhvr>
                                    </p:animEffect>
                                  </p:childTnLst>
                                </p:cTn>
                              </p:par>
                              <p:par>
                                <p:cTn id="180" presetID="4" presetClass="entr" presetSubtype="16" fill="hold" grpId="0" nodeType="withEffect">
                                  <p:stCondLst>
                                    <p:cond delay="0"/>
                                  </p:stCondLst>
                                  <p:childTnLst>
                                    <p:set>
                                      <p:cBhvr>
                                        <p:cTn id="181" dur="1" fill="hold">
                                          <p:stCondLst>
                                            <p:cond delay="0"/>
                                          </p:stCondLst>
                                        </p:cTn>
                                        <p:tgtEl>
                                          <p:spTgt spid="86"/>
                                        </p:tgtEl>
                                        <p:attrNameLst>
                                          <p:attrName>style.visibility</p:attrName>
                                        </p:attrNameLst>
                                      </p:cBhvr>
                                      <p:to>
                                        <p:strVal val="visible"/>
                                      </p:to>
                                    </p:set>
                                    <p:animEffect transition="in" filter="box(in)">
                                      <p:cBhvr>
                                        <p:cTn id="182" dur="500"/>
                                        <p:tgtEl>
                                          <p:spTgt spid="86"/>
                                        </p:tgtEl>
                                      </p:cBhvr>
                                    </p:animEffect>
                                  </p:childTnLst>
                                </p:cTn>
                              </p:par>
                            </p:childTnLst>
                          </p:cTn>
                        </p:par>
                      </p:childTnLst>
                    </p:cTn>
                  </p:par>
                  <p:par>
                    <p:cTn id="183" fill="hold">
                      <p:stCondLst>
                        <p:cond delay="indefinite"/>
                      </p:stCondLst>
                      <p:childTnLst>
                        <p:par>
                          <p:cTn id="184" fill="hold">
                            <p:stCondLst>
                              <p:cond delay="0"/>
                            </p:stCondLst>
                            <p:childTnLst>
                              <p:par>
                                <p:cTn id="185" presetID="4" presetClass="entr" presetSubtype="16" fill="hold" grpId="0" nodeType="clickEffect">
                                  <p:stCondLst>
                                    <p:cond delay="0"/>
                                  </p:stCondLst>
                                  <p:childTnLst>
                                    <p:set>
                                      <p:cBhvr>
                                        <p:cTn id="186" dur="1" fill="hold">
                                          <p:stCondLst>
                                            <p:cond delay="0"/>
                                          </p:stCondLst>
                                        </p:cTn>
                                        <p:tgtEl>
                                          <p:spTgt spid="55"/>
                                        </p:tgtEl>
                                        <p:attrNameLst>
                                          <p:attrName>style.visibility</p:attrName>
                                        </p:attrNameLst>
                                      </p:cBhvr>
                                      <p:to>
                                        <p:strVal val="visible"/>
                                      </p:to>
                                    </p:set>
                                    <p:animEffect transition="in" filter="box(in)">
                                      <p:cBhvr>
                                        <p:cTn id="187" dur="500"/>
                                        <p:tgtEl>
                                          <p:spTgt spid="55"/>
                                        </p:tgtEl>
                                      </p:cBhvr>
                                    </p:animEffect>
                                  </p:childTnLst>
                                </p:cTn>
                              </p:par>
                              <p:par>
                                <p:cTn id="188" presetID="4" presetClass="entr" presetSubtype="16" fill="hold" grpId="0" nodeType="withEffect">
                                  <p:stCondLst>
                                    <p:cond delay="0"/>
                                  </p:stCondLst>
                                  <p:childTnLst>
                                    <p:set>
                                      <p:cBhvr>
                                        <p:cTn id="189" dur="1" fill="hold">
                                          <p:stCondLst>
                                            <p:cond delay="0"/>
                                          </p:stCondLst>
                                        </p:cTn>
                                        <p:tgtEl>
                                          <p:spTgt spid="87"/>
                                        </p:tgtEl>
                                        <p:attrNameLst>
                                          <p:attrName>style.visibility</p:attrName>
                                        </p:attrNameLst>
                                      </p:cBhvr>
                                      <p:to>
                                        <p:strVal val="visible"/>
                                      </p:to>
                                    </p:set>
                                    <p:animEffect transition="in" filter="box(in)">
                                      <p:cBhvr>
                                        <p:cTn id="190" dur="500"/>
                                        <p:tgtEl>
                                          <p:spTgt spid="87"/>
                                        </p:tgtEl>
                                      </p:cBhvr>
                                    </p:animEffect>
                                  </p:childTnLst>
                                </p:cTn>
                              </p:par>
                            </p:childTnLst>
                          </p:cTn>
                        </p:par>
                      </p:childTnLst>
                    </p:cTn>
                  </p:par>
                  <p:par>
                    <p:cTn id="191" fill="hold">
                      <p:stCondLst>
                        <p:cond delay="indefinite"/>
                      </p:stCondLst>
                      <p:childTnLst>
                        <p:par>
                          <p:cTn id="192" fill="hold">
                            <p:stCondLst>
                              <p:cond delay="0"/>
                            </p:stCondLst>
                            <p:childTnLst>
                              <p:par>
                                <p:cTn id="193" presetID="4" presetClass="entr" presetSubtype="16" fill="hold" nodeType="clickEffect">
                                  <p:stCondLst>
                                    <p:cond delay="0"/>
                                  </p:stCondLst>
                                  <p:childTnLst>
                                    <p:set>
                                      <p:cBhvr>
                                        <p:cTn id="194" dur="1" fill="hold">
                                          <p:stCondLst>
                                            <p:cond delay="0"/>
                                          </p:stCondLst>
                                        </p:cTn>
                                        <p:tgtEl>
                                          <p:spTgt spid="79"/>
                                        </p:tgtEl>
                                        <p:attrNameLst>
                                          <p:attrName>style.visibility</p:attrName>
                                        </p:attrNameLst>
                                      </p:cBhvr>
                                      <p:to>
                                        <p:strVal val="visible"/>
                                      </p:to>
                                    </p:set>
                                    <p:animEffect transition="in" filter="box(in)">
                                      <p:cBhvr>
                                        <p:cTn id="195" dur="500"/>
                                        <p:tgtEl>
                                          <p:spTgt spid="79"/>
                                        </p:tgtEl>
                                      </p:cBhvr>
                                    </p:animEffect>
                                  </p:childTnLst>
                                </p:cTn>
                              </p:par>
                              <p:par>
                                <p:cTn id="196" presetID="4" presetClass="entr" presetSubtype="16" fill="hold" grpId="0" nodeType="withEffect">
                                  <p:stCondLst>
                                    <p:cond delay="0"/>
                                  </p:stCondLst>
                                  <p:childTnLst>
                                    <p:set>
                                      <p:cBhvr>
                                        <p:cTn id="197" dur="1" fill="hold">
                                          <p:stCondLst>
                                            <p:cond delay="0"/>
                                          </p:stCondLst>
                                        </p:cTn>
                                        <p:tgtEl>
                                          <p:spTgt spid="47"/>
                                        </p:tgtEl>
                                        <p:attrNameLst>
                                          <p:attrName>style.visibility</p:attrName>
                                        </p:attrNameLst>
                                      </p:cBhvr>
                                      <p:to>
                                        <p:strVal val="visible"/>
                                      </p:to>
                                    </p:set>
                                    <p:animEffect transition="in" filter="box(in)">
                                      <p:cBhvr>
                                        <p:cTn id="198" dur="500"/>
                                        <p:tgtEl>
                                          <p:spTgt spid="47"/>
                                        </p:tgtEl>
                                      </p:cBhvr>
                                    </p:animEffect>
                                  </p:childTnLst>
                                </p:cTn>
                              </p:par>
                            </p:childTnLst>
                          </p:cTn>
                        </p:par>
                      </p:childTnLst>
                    </p:cTn>
                  </p:par>
                  <p:par>
                    <p:cTn id="199" fill="hold">
                      <p:stCondLst>
                        <p:cond delay="indefinite"/>
                      </p:stCondLst>
                      <p:childTnLst>
                        <p:par>
                          <p:cTn id="200" fill="hold">
                            <p:stCondLst>
                              <p:cond delay="0"/>
                            </p:stCondLst>
                            <p:childTnLst>
                              <p:par>
                                <p:cTn id="201" presetID="20" presetClass="entr" presetSubtype="0" fill="hold" nodeType="clickEffect">
                                  <p:stCondLst>
                                    <p:cond delay="0"/>
                                  </p:stCondLst>
                                  <p:childTnLst>
                                    <p:set>
                                      <p:cBhvr>
                                        <p:cTn id="202" dur="1" fill="hold">
                                          <p:stCondLst>
                                            <p:cond delay="0"/>
                                          </p:stCondLst>
                                        </p:cTn>
                                        <p:tgtEl>
                                          <p:spTgt spid="78"/>
                                        </p:tgtEl>
                                        <p:attrNameLst>
                                          <p:attrName>style.visibility</p:attrName>
                                        </p:attrNameLst>
                                      </p:cBhvr>
                                      <p:to>
                                        <p:strVal val="visible"/>
                                      </p:to>
                                    </p:set>
                                    <p:animEffect transition="in" filter="wedge">
                                      <p:cBhvr>
                                        <p:cTn id="203" dur="2000"/>
                                        <p:tgtEl>
                                          <p:spTgt spid="78"/>
                                        </p:tgtEl>
                                      </p:cBhvr>
                                    </p:animEffect>
                                  </p:childTnLst>
                                </p:cTn>
                              </p:par>
                              <p:par>
                                <p:cTn id="204" presetID="20" presetClass="entr" presetSubtype="0" fill="hold" grpId="0" nodeType="withEffect">
                                  <p:stCondLst>
                                    <p:cond delay="0"/>
                                  </p:stCondLst>
                                  <p:childTnLst>
                                    <p:set>
                                      <p:cBhvr>
                                        <p:cTn id="205" dur="1" fill="hold">
                                          <p:stCondLst>
                                            <p:cond delay="0"/>
                                          </p:stCondLst>
                                        </p:cTn>
                                        <p:tgtEl>
                                          <p:spTgt spid="46"/>
                                        </p:tgtEl>
                                        <p:attrNameLst>
                                          <p:attrName>style.visibility</p:attrName>
                                        </p:attrNameLst>
                                      </p:cBhvr>
                                      <p:to>
                                        <p:strVal val="visible"/>
                                      </p:to>
                                    </p:set>
                                    <p:animEffect transition="in" filter="wedge">
                                      <p:cBhvr>
                                        <p:cTn id="206" dur="2000"/>
                                        <p:tgtEl>
                                          <p:spTgt spid="46"/>
                                        </p:tgtEl>
                                      </p:cBhvr>
                                    </p:animEffect>
                                  </p:childTnLst>
                                </p:cTn>
                              </p:par>
                            </p:childTnLst>
                          </p:cTn>
                        </p:par>
                        <p:par>
                          <p:cTn id="207" fill="hold">
                            <p:stCondLst>
                              <p:cond delay="2000"/>
                            </p:stCondLst>
                            <p:childTnLst>
                              <p:par>
                                <p:cTn id="208" presetID="8" presetClass="emph" presetSubtype="0" fill="hold" nodeType="afterEffect">
                                  <p:stCondLst>
                                    <p:cond delay="0"/>
                                  </p:stCondLst>
                                  <p:childTnLst>
                                    <p:animRot by="21600000">
                                      <p:cBhvr>
                                        <p:cTn id="209" dur="2000" fill="hold"/>
                                        <p:tgtEl>
                                          <p:spTgt spid="78"/>
                                        </p:tgtEl>
                                        <p:attrNameLst>
                                          <p:attrName>r</p:attrName>
                                        </p:attrNameLst>
                                      </p:cBhvr>
                                    </p:animRot>
                                  </p:childTnLst>
                                </p:cTn>
                              </p:par>
                            </p:childTnLst>
                          </p:cTn>
                        </p:par>
                        <p:par>
                          <p:cTn id="210" fill="hold">
                            <p:stCondLst>
                              <p:cond delay="4000"/>
                            </p:stCondLst>
                            <p:childTnLst>
                              <p:par>
                                <p:cTn id="211" presetID="8" presetClass="emph" presetSubtype="0" fill="hold" grpId="1" nodeType="afterEffect">
                                  <p:stCondLst>
                                    <p:cond delay="0"/>
                                  </p:stCondLst>
                                  <p:childTnLst>
                                    <p:animRot by="21600000">
                                      <p:cBhvr>
                                        <p:cTn id="212" dur="2000" fill="hold"/>
                                        <p:tgtEl>
                                          <p:spTgt spid="46"/>
                                        </p:tgtEl>
                                        <p:attrNameLst>
                                          <p:attrName>r</p:attrName>
                                        </p:attrNameLst>
                                      </p:cBhvr>
                                    </p:animRot>
                                  </p:childTnLst>
                                </p:cTn>
                              </p:par>
                            </p:childTnLst>
                          </p:cTn>
                        </p:par>
                      </p:childTnLst>
                    </p:cTn>
                  </p:par>
                  <p:par>
                    <p:cTn id="213" fill="hold">
                      <p:stCondLst>
                        <p:cond delay="indefinite"/>
                      </p:stCondLst>
                      <p:childTnLst>
                        <p:par>
                          <p:cTn id="214" fill="hold">
                            <p:stCondLst>
                              <p:cond delay="0"/>
                            </p:stCondLst>
                            <p:childTnLst>
                              <p:par>
                                <p:cTn id="215" presetID="4" presetClass="entr" presetSubtype="16" fill="hold" grpId="0" nodeType="clickEffect">
                                  <p:stCondLst>
                                    <p:cond delay="0"/>
                                  </p:stCondLst>
                                  <p:childTnLst>
                                    <p:set>
                                      <p:cBhvr>
                                        <p:cTn id="216" dur="1" fill="hold">
                                          <p:stCondLst>
                                            <p:cond delay="0"/>
                                          </p:stCondLst>
                                        </p:cTn>
                                        <p:tgtEl>
                                          <p:spTgt spid="66"/>
                                        </p:tgtEl>
                                        <p:attrNameLst>
                                          <p:attrName>style.visibility</p:attrName>
                                        </p:attrNameLst>
                                      </p:cBhvr>
                                      <p:to>
                                        <p:strVal val="visible"/>
                                      </p:to>
                                    </p:set>
                                    <p:animEffect transition="in" filter="box(in)">
                                      <p:cBhvr>
                                        <p:cTn id="21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3" grpId="0" animBg="1"/>
      <p:bldP spid="34" grpId="0" animBg="1"/>
      <p:bldP spid="35" grpId="0" animBg="1"/>
      <p:bldP spid="36" grpId="0" animBg="1"/>
      <p:bldP spid="37" grpId="0" animBg="1"/>
      <p:bldP spid="43" grpId="0" animBg="1"/>
      <p:bldP spid="44" grpId="0" animBg="1"/>
      <p:bldP spid="45" grpId="0" animBg="1"/>
      <p:bldP spid="46" grpId="0" animBg="1"/>
      <p:bldP spid="46" grpId="1"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83" grpId="0"/>
      <p:bldP spid="84" grpId="0" animBg="1"/>
      <p:bldP spid="85" grpId="0"/>
      <p:bldP spid="86" grpId="0"/>
      <p:bldP spid="8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箭头连接符 51"/>
          <p:cNvCxnSpPr/>
          <p:nvPr/>
        </p:nvCxnSpPr>
        <p:spPr>
          <a:xfrm rot="5400000">
            <a:off x="8334693" y="2168208"/>
            <a:ext cx="757237" cy="1587"/>
          </a:xfrm>
          <a:prstGeom prst="straightConnector1">
            <a:avLst/>
          </a:prstGeom>
          <a:ln w="38100">
            <a:solidFill>
              <a:srgbClr val="FF00FF"/>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sp>
        <p:nvSpPr>
          <p:cNvPr id="6" name="Oval 41"/>
          <p:cNvSpPr>
            <a:spLocks noChangeAspect="1" noChangeArrowheads="1"/>
          </p:cNvSpPr>
          <p:nvPr/>
        </p:nvSpPr>
        <p:spPr bwMode="auto">
          <a:xfrm rot="773108">
            <a:off x="3526155" y="3454083"/>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8" name="Oval 41"/>
          <p:cNvSpPr>
            <a:spLocks noChangeAspect="1" noChangeArrowheads="1"/>
          </p:cNvSpPr>
          <p:nvPr/>
        </p:nvSpPr>
        <p:spPr bwMode="auto">
          <a:xfrm rot="773108">
            <a:off x="3908743" y="3473133"/>
            <a:ext cx="125412"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9" name="Oval 41"/>
          <p:cNvSpPr>
            <a:spLocks noChangeAspect="1" noChangeArrowheads="1"/>
          </p:cNvSpPr>
          <p:nvPr/>
        </p:nvSpPr>
        <p:spPr bwMode="auto">
          <a:xfrm rot="773108">
            <a:off x="4281805" y="3473133"/>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0" name="Oval 41"/>
          <p:cNvSpPr>
            <a:spLocks noChangeAspect="1" noChangeArrowheads="1"/>
          </p:cNvSpPr>
          <p:nvPr/>
        </p:nvSpPr>
        <p:spPr bwMode="auto">
          <a:xfrm rot="773108">
            <a:off x="4993005" y="3473133"/>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1" name="Oval 41"/>
          <p:cNvSpPr>
            <a:spLocks noChangeAspect="1" noChangeArrowheads="1"/>
          </p:cNvSpPr>
          <p:nvPr/>
        </p:nvSpPr>
        <p:spPr bwMode="auto">
          <a:xfrm rot="773108">
            <a:off x="5393055" y="3473133"/>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3" name="Oval 41"/>
          <p:cNvSpPr>
            <a:spLocks noChangeAspect="1" noChangeArrowheads="1"/>
          </p:cNvSpPr>
          <p:nvPr/>
        </p:nvSpPr>
        <p:spPr bwMode="auto">
          <a:xfrm rot="773108">
            <a:off x="8829993" y="4273233"/>
            <a:ext cx="125412"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4" name="Oval 57"/>
          <p:cNvSpPr>
            <a:spLocks noChangeAspect="1" noChangeArrowheads="1"/>
          </p:cNvSpPr>
          <p:nvPr/>
        </p:nvSpPr>
        <p:spPr bwMode="auto">
          <a:xfrm rot="-4849534">
            <a:off x="8114824" y="2369026"/>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5" name="Oval 57"/>
          <p:cNvSpPr>
            <a:spLocks noChangeAspect="1" noChangeArrowheads="1"/>
          </p:cNvSpPr>
          <p:nvPr/>
        </p:nvSpPr>
        <p:spPr bwMode="auto">
          <a:xfrm rot="-4849534">
            <a:off x="8500587" y="2361089"/>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6" name="Oval 57"/>
          <p:cNvSpPr>
            <a:spLocks noChangeAspect="1" noChangeArrowheads="1"/>
          </p:cNvSpPr>
          <p:nvPr/>
        </p:nvSpPr>
        <p:spPr bwMode="auto">
          <a:xfrm rot="-4849534">
            <a:off x="8870474" y="2361089"/>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 name="Oval 57"/>
          <p:cNvSpPr>
            <a:spLocks noChangeAspect="1" noChangeArrowheads="1"/>
          </p:cNvSpPr>
          <p:nvPr/>
        </p:nvSpPr>
        <p:spPr bwMode="auto">
          <a:xfrm rot="-4849534">
            <a:off x="9226074" y="2361089"/>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8" name="Oval 57"/>
          <p:cNvSpPr>
            <a:spLocks noChangeAspect="1" noChangeArrowheads="1"/>
          </p:cNvSpPr>
          <p:nvPr/>
        </p:nvSpPr>
        <p:spPr bwMode="auto">
          <a:xfrm rot="-4849534">
            <a:off x="9581674" y="2356326"/>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9" name="Oval 57"/>
          <p:cNvSpPr>
            <a:spLocks noChangeAspect="1" noChangeArrowheads="1"/>
          </p:cNvSpPr>
          <p:nvPr/>
        </p:nvSpPr>
        <p:spPr bwMode="auto">
          <a:xfrm rot="-4849534">
            <a:off x="7714774" y="2372201"/>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0" name="Oval 41"/>
          <p:cNvSpPr>
            <a:spLocks noChangeAspect="1" noChangeArrowheads="1"/>
          </p:cNvSpPr>
          <p:nvPr/>
        </p:nvSpPr>
        <p:spPr bwMode="auto">
          <a:xfrm rot="773108">
            <a:off x="4637405" y="3469958"/>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cxnSp>
        <p:nvCxnSpPr>
          <p:cNvPr id="26" name="直接连接符 25"/>
          <p:cNvCxnSpPr/>
          <p:nvPr/>
        </p:nvCxnSpPr>
        <p:spPr>
          <a:xfrm>
            <a:off x="3394393" y="2946083"/>
            <a:ext cx="6400800" cy="1587"/>
          </a:xfrm>
          <a:prstGeom prst="line">
            <a:avLst/>
          </a:prstGeom>
          <a:ln w="44450">
            <a:solidFill>
              <a:srgbClr val="FF0000"/>
            </a:solidFill>
            <a:prstDash val="lgDash"/>
          </a:ln>
        </p:spPr>
        <p:style>
          <a:lnRef idx="1">
            <a:schemeClr val="accent1"/>
          </a:lnRef>
          <a:fillRef idx="0">
            <a:schemeClr val="accent1"/>
          </a:fillRef>
          <a:effectRef idx="0">
            <a:schemeClr val="accent1"/>
          </a:effectRef>
          <a:fontRef idx="minor">
            <a:schemeClr val="tx1"/>
          </a:fontRef>
        </p:style>
      </p:cxnSp>
      <p:grpSp>
        <p:nvGrpSpPr>
          <p:cNvPr id="2" name="组合 36"/>
          <p:cNvGrpSpPr>
            <a:grpSpLocks/>
          </p:cNvGrpSpPr>
          <p:nvPr/>
        </p:nvGrpSpPr>
        <p:grpSpPr bwMode="auto">
          <a:xfrm>
            <a:off x="3349943" y="1782445"/>
            <a:ext cx="6489700" cy="817563"/>
            <a:chOff x="1238250" y="2087245"/>
            <a:chExt cx="6489700" cy="817880"/>
          </a:xfrm>
        </p:grpSpPr>
        <p:cxnSp>
          <p:nvCxnSpPr>
            <p:cNvPr id="29" name="直接连接符 28"/>
            <p:cNvCxnSpPr/>
            <p:nvPr/>
          </p:nvCxnSpPr>
          <p:spPr>
            <a:xfrm>
              <a:off x="1238250" y="2092010"/>
              <a:ext cx="2311400" cy="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416550" y="2900360"/>
              <a:ext cx="2311400" cy="158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任意多边形 32"/>
            <p:cNvSpPr/>
            <p:nvPr/>
          </p:nvSpPr>
          <p:spPr>
            <a:xfrm>
              <a:off x="3265487" y="2087245"/>
              <a:ext cx="2212975" cy="817880"/>
            </a:xfrm>
            <a:custGeom>
              <a:avLst/>
              <a:gdLst>
                <a:gd name="connsiteX0" fmla="*/ 0 w 2213610"/>
                <a:gd name="connsiteY0" fmla="*/ 8255 h 817880"/>
                <a:gd name="connsiteX1" fmla="*/ 346710 w 2213610"/>
                <a:gd name="connsiteY1" fmla="*/ 8255 h 817880"/>
                <a:gd name="connsiteX2" fmla="*/ 510540 w 2213610"/>
                <a:gd name="connsiteY2" fmla="*/ 57785 h 817880"/>
                <a:gd name="connsiteX3" fmla="*/ 716280 w 2213610"/>
                <a:gd name="connsiteY3" fmla="*/ 210185 h 817880"/>
                <a:gd name="connsiteX4" fmla="*/ 979170 w 2213610"/>
                <a:gd name="connsiteY4" fmla="*/ 442595 h 817880"/>
                <a:gd name="connsiteX5" fmla="*/ 1135380 w 2213610"/>
                <a:gd name="connsiteY5" fmla="*/ 564515 h 817880"/>
                <a:gd name="connsiteX6" fmla="*/ 1398270 w 2213610"/>
                <a:gd name="connsiteY6" fmla="*/ 709295 h 817880"/>
                <a:gd name="connsiteX7" fmla="*/ 1847850 w 2213610"/>
                <a:gd name="connsiteY7" fmla="*/ 800735 h 817880"/>
                <a:gd name="connsiteX8" fmla="*/ 2072640 w 2213610"/>
                <a:gd name="connsiteY8" fmla="*/ 812165 h 817880"/>
                <a:gd name="connsiteX9" fmla="*/ 2213610 w 2213610"/>
                <a:gd name="connsiteY9" fmla="*/ 812165 h 817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3610" h="817880">
                  <a:moveTo>
                    <a:pt x="0" y="8255"/>
                  </a:moveTo>
                  <a:cubicBezTo>
                    <a:pt x="130810" y="4127"/>
                    <a:pt x="261620" y="0"/>
                    <a:pt x="346710" y="8255"/>
                  </a:cubicBezTo>
                  <a:cubicBezTo>
                    <a:pt x="431800" y="16510"/>
                    <a:pt x="448945" y="24130"/>
                    <a:pt x="510540" y="57785"/>
                  </a:cubicBezTo>
                  <a:cubicBezTo>
                    <a:pt x="572135" y="91440"/>
                    <a:pt x="638175" y="146050"/>
                    <a:pt x="716280" y="210185"/>
                  </a:cubicBezTo>
                  <a:cubicBezTo>
                    <a:pt x="794385" y="274320"/>
                    <a:pt x="909320" y="383540"/>
                    <a:pt x="979170" y="442595"/>
                  </a:cubicBezTo>
                  <a:cubicBezTo>
                    <a:pt x="1049020" y="501650"/>
                    <a:pt x="1065530" y="520065"/>
                    <a:pt x="1135380" y="564515"/>
                  </a:cubicBezTo>
                  <a:cubicBezTo>
                    <a:pt x="1205230" y="608965"/>
                    <a:pt x="1279525" y="669925"/>
                    <a:pt x="1398270" y="709295"/>
                  </a:cubicBezTo>
                  <a:cubicBezTo>
                    <a:pt x="1517015" y="748665"/>
                    <a:pt x="1735455" y="783590"/>
                    <a:pt x="1847850" y="800735"/>
                  </a:cubicBezTo>
                  <a:cubicBezTo>
                    <a:pt x="1960245" y="817880"/>
                    <a:pt x="2011680" y="810260"/>
                    <a:pt x="2072640" y="812165"/>
                  </a:cubicBezTo>
                  <a:cubicBezTo>
                    <a:pt x="2133600" y="814070"/>
                    <a:pt x="2173605" y="813117"/>
                    <a:pt x="2213610" y="812165"/>
                  </a:cubicBezTo>
                </a:path>
              </a:pathLst>
            </a:custGeom>
            <a:ln w="571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latin typeface="Times New Roman" pitchFamily="18" charset="0"/>
                <a:ea typeface="微软雅黑" pitchFamily="34" charset="-122"/>
                <a:cs typeface="Times New Roman" pitchFamily="18" charset="0"/>
              </a:endParaRPr>
            </a:p>
          </p:txBody>
        </p:sp>
      </p:grpSp>
      <p:grpSp>
        <p:nvGrpSpPr>
          <p:cNvPr id="3" name="组合 45"/>
          <p:cNvGrpSpPr>
            <a:grpSpLocks/>
          </p:cNvGrpSpPr>
          <p:nvPr/>
        </p:nvGrpSpPr>
        <p:grpSpPr bwMode="auto">
          <a:xfrm>
            <a:off x="3391218" y="3339783"/>
            <a:ext cx="6492875" cy="817562"/>
            <a:chOff x="1427151" y="2888971"/>
            <a:chExt cx="6493417" cy="817880"/>
          </a:xfrm>
        </p:grpSpPr>
        <p:cxnSp>
          <p:nvCxnSpPr>
            <p:cNvPr id="31" name="直接连接符 30"/>
            <p:cNvCxnSpPr/>
            <p:nvPr/>
          </p:nvCxnSpPr>
          <p:spPr>
            <a:xfrm>
              <a:off x="5608975" y="3705263"/>
              <a:ext cx="2311593" cy="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427151" y="2900087"/>
              <a:ext cx="2311593" cy="158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任意多边形 33"/>
            <p:cNvSpPr/>
            <p:nvPr/>
          </p:nvSpPr>
          <p:spPr>
            <a:xfrm>
              <a:off x="3565692" y="2888971"/>
              <a:ext cx="2213160" cy="817880"/>
            </a:xfrm>
            <a:custGeom>
              <a:avLst/>
              <a:gdLst>
                <a:gd name="connsiteX0" fmla="*/ 0 w 2213610"/>
                <a:gd name="connsiteY0" fmla="*/ 8255 h 817880"/>
                <a:gd name="connsiteX1" fmla="*/ 346710 w 2213610"/>
                <a:gd name="connsiteY1" fmla="*/ 8255 h 817880"/>
                <a:gd name="connsiteX2" fmla="*/ 510540 w 2213610"/>
                <a:gd name="connsiteY2" fmla="*/ 57785 h 817880"/>
                <a:gd name="connsiteX3" fmla="*/ 716280 w 2213610"/>
                <a:gd name="connsiteY3" fmla="*/ 210185 h 817880"/>
                <a:gd name="connsiteX4" fmla="*/ 979170 w 2213610"/>
                <a:gd name="connsiteY4" fmla="*/ 442595 h 817880"/>
                <a:gd name="connsiteX5" fmla="*/ 1135380 w 2213610"/>
                <a:gd name="connsiteY5" fmla="*/ 564515 h 817880"/>
                <a:gd name="connsiteX6" fmla="*/ 1398270 w 2213610"/>
                <a:gd name="connsiteY6" fmla="*/ 709295 h 817880"/>
                <a:gd name="connsiteX7" fmla="*/ 1847850 w 2213610"/>
                <a:gd name="connsiteY7" fmla="*/ 800735 h 817880"/>
                <a:gd name="connsiteX8" fmla="*/ 2072640 w 2213610"/>
                <a:gd name="connsiteY8" fmla="*/ 812165 h 817880"/>
                <a:gd name="connsiteX9" fmla="*/ 2213610 w 2213610"/>
                <a:gd name="connsiteY9" fmla="*/ 812165 h 817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3610" h="817880">
                  <a:moveTo>
                    <a:pt x="0" y="8255"/>
                  </a:moveTo>
                  <a:cubicBezTo>
                    <a:pt x="130810" y="4127"/>
                    <a:pt x="261620" y="0"/>
                    <a:pt x="346710" y="8255"/>
                  </a:cubicBezTo>
                  <a:cubicBezTo>
                    <a:pt x="431800" y="16510"/>
                    <a:pt x="448945" y="24130"/>
                    <a:pt x="510540" y="57785"/>
                  </a:cubicBezTo>
                  <a:cubicBezTo>
                    <a:pt x="572135" y="91440"/>
                    <a:pt x="638175" y="146050"/>
                    <a:pt x="716280" y="210185"/>
                  </a:cubicBezTo>
                  <a:cubicBezTo>
                    <a:pt x="794385" y="274320"/>
                    <a:pt x="909320" y="383540"/>
                    <a:pt x="979170" y="442595"/>
                  </a:cubicBezTo>
                  <a:cubicBezTo>
                    <a:pt x="1049020" y="501650"/>
                    <a:pt x="1065530" y="520065"/>
                    <a:pt x="1135380" y="564515"/>
                  </a:cubicBezTo>
                  <a:cubicBezTo>
                    <a:pt x="1205230" y="608965"/>
                    <a:pt x="1279525" y="669925"/>
                    <a:pt x="1398270" y="709295"/>
                  </a:cubicBezTo>
                  <a:cubicBezTo>
                    <a:pt x="1517015" y="748665"/>
                    <a:pt x="1735455" y="783590"/>
                    <a:pt x="1847850" y="800735"/>
                  </a:cubicBezTo>
                  <a:cubicBezTo>
                    <a:pt x="1960245" y="817880"/>
                    <a:pt x="2011680" y="810260"/>
                    <a:pt x="2072640" y="812165"/>
                  </a:cubicBezTo>
                  <a:cubicBezTo>
                    <a:pt x="2133600" y="814070"/>
                    <a:pt x="2173605" y="813117"/>
                    <a:pt x="2213610" y="812165"/>
                  </a:cubicBezTo>
                </a:path>
              </a:pathLst>
            </a:custGeom>
            <a:ln w="571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latin typeface="Times New Roman" pitchFamily="18" charset="0"/>
                <a:ea typeface="微软雅黑" pitchFamily="34" charset="-122"/>
                <a:cs typeface="Times New Roman" pitchFamily="18" charset="0"/>
              </a:endParaRPr>
            </a:p>
          </p:txBody>
        </p:sp>
      </p:grpSp>
      <p:cxnSp>
        <p:nvCxnSpPr>
          <p:cNvPr id="36" name="直接连接符 35"/>
          <p:cNvCxnSpPr/>
          <p:nvPr/>
        </p:nvCxnSpPr>
        <p:spPr>
          <a:xfrm rot="16200000" flipH="1">
            <a:off x="4483418" y="3190558"/>
            <a:ext cx="2667000" cy="4445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527993" y="1776095"/>
            <a:ext cx="4222750" cy="1588"/>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16200000" flipH="1">
            <a:off x="6216968" y="3146108"/>
            <a:ext cx="2667000" cy="4445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5" name="Object 2"/>
          <p:cNvGraphicFramePr>
            <a:graphicFrameLocks noChangeAspect="1"/>
          </p:cNvGraphicFramePr>
          <p:nvPr/>
        </p:nvGraphicFramePr>
        <p:xfrm>
          <a:off x="8501380" y="2003108"/>
          <a:ext cx="430213" cy="322262"/>
        </p:xfrm>
        <a:graphic>
          <a:graphicData uri="http://schemas.openxmlformats.org/presentationml/2006/ole">
            <mc:AlternateContent xmlns:mc="http://schemas.openxmlformats.org/markup-compatibility/2006">
              <mc:Choice xmlns:v="urn:schemas-microsoft-com:vml" Requires="v">
                <p:oleObj spid="_x0000_s43434" name="Equation" r:id="rId3" imgW="304560" imgH="228600" progId="">
                  <p:embed/>
                </p:oleObj>
              </mc:Choice>
              <mc:Fallback>
                <p:oleObj name="Equation" r:id="rId3" imgW="304560" imgH="2286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80" y="2003108"/>
                        <a:ext cx="430213" cy="322262"/>
                      </a:xfrm>
                      <a:prstGeom prst="rect">
                        <a:avLst/>
                      </a:prstGeom>
                      <a:solidFill>
                        <a:srgbClr val="FFFF00"/>
                      </a:solidFill>
                    </p:spPr>
                  </p:pic>
                </p:oleObj>
              </mc:Fallback>
            </mc:AlternateContent>
          </a:graphicData>
        </a:graphic>
      </p:graphicFrame>
      <p:graphicFrame>
        <p:nvGraphicFramePr>
          <p:cNvPr id="101379" name="Object 3"/>
          <p:cNvGraphicFramePr>
            <a:graphicFrameLocks noChangeAspect="1"/>
          </p:cNvGraphicFramePr>
          <p:nvPr/>
        </p:nvGraphicFramePr>
        <p:xfrm>
          <a:off x="2846705" y="1523683"/>
          <a:ext cx="390525" cy="412750"/>
        </p:xfrm>
        <a:graphic>
          <a:graphicData uri="http://schemas.openxmlformats.org/presentationml/2006/ole">
            <mc:AlternateContent xmlns:mc="http://schemas.openxmlformats.org/markup-compatibility/2006">
              <mc:Choice xmlns:v="urn:schemas-microsoft-com:vml" Requires="v">
                <p:oleObj spid="_x0000_s43435" name="Equation" r:id="rId5" imgW="228600" imgH="241200" progId="">
                  <p:embed/>
                </p:oleObj>
              </mc:Choice>
              <mc:Fallback>
                <p:oleObj name="Equation" r:id="rId5" imgW="228600" imgH="2412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6705" y="1523683"/>
                        <a:ext cx="390525" cy="412750"/>
                      </a:xfrm>
                      <a:prstGeom prst="rect">
                        <a:avLst/>
                      </a:prstGeom>
                      <a:solidFill>
                        <a:srgbClr val="FF00FF"/>
                      </a:solidFill>
                    </p:spPr>
                  </p:pic>
                </p:oleObj>
              </mc:Fallback>
            </mc:AlternateContent>
          </a:graphicData>
        </a:graphic>
      </p:graphicFrame>
      <p:graphicFrame>
        <p:nvGraphicFramePr>
          <p:cNvPr id="101380" name="Object 4"/>
          <p:cNvGraphicFramePr>
            <a:graphicFrameLocks noChangeAspect="1"/>
          </p:cNvGraphicFramePr>
          <p:nvPr/>
        </p:nvGraphicFramePr>
        <p:xfrm>
          <a:off x="2846705" y="3122295"/>
          <a:ext cx="390525" cy="414338"/>
        </p:xfrm>
        <a:graphic>
          <a:graphicData uri="http://schemas.openxmlformats.org/presentationml/2006/ole">
            <mc:AlternateContent xmlns:mc="http://schemas.openxmlformats.org/markup-compatibility/2006">
              <mc:Choice xmlns:v="urn:schemas-microsoft-com:vml" Requires="v">
                <p:oleObj spid="_x0000_s43436" name="Equation" r:id="rId7" imgW="228600" imgH="241200" progId="">
                  <p:embed/>
                </p:oleObj>
              </mc:Choice>
              <mc:Fallback>
                <p:oleObj name="Equation" r:id="rId7" imgW="228600" imgH="2412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6705" y="3122295"/>
                        <a:ext cx="390525" cy="414338"/>
                      </a:xfrm>
                      <a:prstGeom prst="rect">
                        <a:avLst/>
                      </a:prstGeom>
                      <a:solidFill>
                        <a:srgbClr val="FF00FF"/>
                      </a:solidFill>
                    </p:spPr>
                  </p:pic>
                </p:oleObj>
              </mc:Fallback>
            </mc:AlternateContent>
          </a:graphicData>
        </a:graphic>
      </p:graphicFrame>
      <p:graphicFrame>
        <p:nvGraphicFramePr>
          <p:cNvPr id="101381" name="Object 5"/>
          <p:cNvGraphicFramePr>
            <a:graphicFrameLocks noChangeAspect="1"/>
          </p:cNvGraphicFramePr>
          <p:nvPr/>
        </p:nvGraphicFramePr>
        <p:xfrm>
          <a:off x="10047605" y="2423795"/>
          <a:ext cx="390525" cy="390525"/>
        </p:xfrm>
        <a:graphic>
          <a:graphicData uri="http://schemas.openxmlformats.org/presentationml/2006/ole">
            <mc:AlternateContent xmlns:mc="http://schemas.openxmlformats.org/markup-compatibility/2006">
              <mc:Choice xmlns:v="urn:schemas-microsoft-com:vml" Requires="v">
                <p:oleObj spid="_x0000_s43437" name="Equation" r:id="rId9" imgW="228600" imgH="228600" progId="">
                  <p:embed/>
                </p:oleObj>
              </mc:Choice>
              <mc:Fallback>
                <p:oleObj name="Equation" r:id="rId9" imgW="228600" imgH="2286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47605" y="2423795"/>
                        <a:ext cx="390525" cy="390525"/>
                      </a:xfrm>
                      <a:prstGeom prst="rect">
                        <a:avLst/>
                      </a:prstGeom>
                      <a:solidFill>
                        <a:srgbClr val="00FFFF"/>
                      </a:solidFill>
                    </p:spPr>
                  </p:pic>
                </p:oleObj>
              </mc:Fallback>
            </mc:AlternateContent>
          </a:graphicData>
        </a:graphic>
      </p:graphicFrame>
      <p:graphicFrame>
        <p:nvGraphicFramePr>
          <p:cNvPr id="101382" name="Object 6"/>
          <p:cNvGraphicFramePr>
            <a:graphicFrameLocks noChangeAspect="1"/>
          </p:cNvGraphicFramePr>
          <p:nvPr/>
        </p:nvGraphicFramePr>
        <p:xfrm>
          <a:off x="10101580" y="3968433"/>
          <a:ext cx="390525" cy="390525"/>
        </p:xfrm>
        <a:graphic>
          <a:graphicData uri="http://schemas.openxmlformats.org/presentationml/2006/ole">
            <mc:AlternateContent xmlns:mc="http://schemas.openxmlformats.org/markup-compatibility/2006">
              <mc:Choice xmlns:v="urn:schemas-microsoft-com:vml" Requires="v">
                <p:oleObj spid="_x0000_s43438" name="Equation" r:id="rId11" imgW="228600" imgH="228600" progId="">
                  <p:embed/>
                </p:oleObj>
              </mc:Choice>
              <mc:Fallback>
                <p:oleObj name="Equation" r:id="rId11" imgW="228600" imgH="2286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01580" y="3968433"/>
                        <a:ext cx="390525" cy="390525"/>
                      </a:xfrm>
                      <a:prstGeom prst="rect">
                        <a:avLst/>
                      </a:prstGeom>
                      <a:solidFill>
                        <a:srgbClr val="00FFFF"/>
                      </a:solidFill>
                    </p:spPr>
                  </p:pic>
                </p:oleObj>
              </mc:Fallback>
            </mc:AlternateContent>
          </a:graphicData>
        </a:graphic>
      </p:graphicFrame>
      <p:graphicFrame>
        <p:nvGraphicFramePr>
          <p:cNvPr id="101383" name="Object 7"/>
          <p:cNvGraphicFramePr>
            <a:graphicFrameLocks noChangeAspect="1"/>
          </p:cNvGraphicFramePr>
          <p:nvPr/>
        </p:nvGraphicFramePr>
        <p:xfrm>
          <a:off x="4758055" y="2634933"/>
          <a:ext cx="512763" cy="573087"/>
        </p:xfrm>
        <a:graphic>
          <a:graphicData uri="http://schemas.openxmlformats.org/presentationml/2006/ole">
            <mc:AlternateContent xmlns:mc="http://schemas.openxmlformats.org/markup-compatibility/2006">
              <mc:Choice xmlns:v="urn:schemas-microsoft-com:vml" Requires="v">
                <p:oleObj spid="_x0000_s43439" name="Equation" r:id="rId13" imgW="215640" imgH="241200" progId="">
                  <p:embed/>
                </p:oleObj>
              </mc:Choice>
              <mc:Fallback>
                <p:oleObj name="Equation" r:id="rId13" imgW="215640" imgH="241200"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8055" y="2634933"/>
                        <a:ext cx="512763" cy="573087"/>
                      </a:xfrm>
                      <a:prstGeom prst="rect">
                        <a:avLst/>
                      </a:prstGeom>
                      <a:solidFill>
                        <a:srgbClr val="00FFFF"/>
                      </a:solidFill>
                    </p:spPr>
                  </p:pic>
                </p:oleObj>
              </mc:Fallback>
            </mc:AlternateContent>
          </a:graphicData>
        </a:graphic>
      </p:graphicFrame>
      <p:graphicFrame>
        <p:nvGraphicFramePr>
          <p:cNvPr id="101384" name="Object 8"/>
          <p:cNvGraphicFramePr>
            <a:graphicFrameLocks noChangeAspect="1"/>
          </p:cNvGraphicFramePr>
          <p:nvPr/>
        </p:nvGraphicFramePr>
        <p:xfrm>
          <a:off x="2944494" y="5084762"/>
          <a:ext cx="3406525" cy="843597"/>
        </p:xfrm>
        <a:graphic>
          <a:graphicData uri="http://schemas.openxmlformats.org/presentationml/2006/ole">
            <mc:AlternateContent xmlns:mc="http://schemas.openxmlformats.org/markup-compatibility/2006">
              <mc:Choice xmlns:v="urn:schemas-microsoft-com:vml" Requires="v">
                <p:oleObj spid="_x0000_s43440" name="Equation" r:id="rId15" imgW="990170" imgH="241195" progId="">
                  <p:embed/>
                </p:oleObj>
              </mc:Choice>
              <mc:Fallback>
                <p:oleObj name="Equation" r:id="rId15" imgW="990170" imgH="241195"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44494" y="5084762"/>
                        <a:ext cx="3406525" cy="843597"/>
                      </a:xfrm>
                      <a:prstGeom prst="rect">
                        <a:avLst/>
                      </a:prstGeom>
                      <a:solidFill>
                        <a:srgbClr val="FFFF00"/>
                      </a:solidFill>
                    </p:spPr>
                  </p:pic>
                </p:oleObj>
              </mc:Fallback>
            </mc:AlternateContent>
          </a:graphicData>
        </a:graphic>
      </p:graphicFrame>
      <p:graphicFrame>
        <p:nvGraphicFramePr>
          <p:cNvPr id="101386" name="Object 10"/>
          <p:cNvGraphicFramePr>
            <a:graphicFrameLocks noChangeAspect="1"/>
          </p:cNvGraphicFramePr>
          <p:nvPr/>
        </p:nvGraphicFramePr>
        <p:xfrm>
          <a:off x="6717665" y="4993322"/>
          <a:ext cx="4641440" cy="919797"/>
        </p:xfrm>
        <a:graphic>
          <a:graphicData uri="http://schemas.openxmlformats.org/presentationml/2006/ole">
            <mc:AlternateContent xmlns:mc="http://schemas.openxmlformats.org/markup-compatibility/2006">
              <mc:Choice xmlns:v="urn:schemas-microsoft-com:vml" Requires="v">
                <p:oleObj spid="_x0000_s43441" name="Equation" r:id="rId17" imgW="2159000" imgH="431800" progId="">
                  <p:embed/>
                </p:oleObj>
              </mc:Choice>
              <mc:Fallback>
                <p:oleObj name="Equation" r:id="rId17" imgW="2159000" imgH="431800" progId="">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17665" y="4993322"/>
                        <a:ext cx="4641440" cy="919797"/>
                      </a:xfrm>
                      <a:prstGeom prst="rect">
                        <a:avLst/>
                      </a:prstGeom>
                      <a:solidFill>
                        <a:srgbClr val="FFFF00"/>
                      </a:solidFill>
                    </p:spPr>
                  </p:pic>
                </p:oleObj>
              </mc:Fallback>
            </mc:AlternateContent>
          </a:graphicData>
        </a:graphic>
      </p:graphicFrame>
      <p:sp>
        <p:nvSpPr>
          <p:cNvPr id="59" name="Rectangle 9"/>
          <p:cNvSpPr>
            <a:spLocks noChangeArrowheads="1"/>
          </p:cNvSpPr>
          <p:nvPr/>
        </p:nvSpPr>
        <p:spPr bwMode="auto">
          <a:xfrm>
            <a:off x="3735705" y="6274941"/>
            <a:ext cx="6368415" cy="584775"/>
          </a:xfrm>
          <a:prstGeom prst="rect">
            <a:avLst/>
          </a:prstGeom>
          <a:solidFill>
            <a:srgbClr val="0000FF"/>
          </a:solidFill>
          <a:ln w="9525">
            <a:noFill/>
            <a:miter lim="800000"/>
            <a:headEnd/>
            <a:tailEnd/>
          </a:ln>
        </p:spPr>
        <p:txBody>
          <a:bodyPr wrap="square" anchor="ctr">
            <a:spAutoFit/>
          </a:bodyPr>
          <a:lstStyle/>
          <a:p>
            <a:pPr defTabSz="914400"/>
            <a:r>
              <a:rPr lang="zh-CN" altLang="en-US" sz="3200" b="1" dirty="0">
                <a:solidFill>
                  <a:schemeClr val="bg1"/>
                </a:solidFill>
                <a:latin typeface="Times New Roman" pitchFamily="18" charset="0"/>
                <a:ea typeface="微软雅黑" pitchFamily="34" charset="-122"/>
                <a:cs typeface="Times New Roman" pitchFamily="18" charset="0"/>
              </a:rPr>
              <a:t>一个平衡系统只能有一个</a:t>
            </a:r>
            <a:r>
              <a:rPr lang="zh-CN" altLang="en-US" sz="3200" b="1" dirty="0">
                <a:solidFill>
                  <a:srgbClr val="FFFF00"/>
                </a:solidFill>
                <a:latin typeface="Times New Roman" pitchFamily="18" charset="0"/>
                <a:ea typeface="微软雅黑" pitchFamily="34" charset="-122"/>
                <a:cs typeface="Times New Roman" pitchFamily="18" charset="0"/>
              </a:rPr>
              <a:t>费米能级 </a:t>
            </a:r>
          </a:p>
        </p:txBody>
      </p:sp>
      <p:sp>
        <p:nvSpPr>
          <p:cNvPr id="60" name="TextBox 59"/>
          <p:cNvSpPr txBox="1">
            <a:spLocks noChangeArrowheads="1"/>
          </p:cNvSpPr>
          <p:nvPr/>
        </p:nvSpPr>
        <p:spPr bwMode="auto">
          <a:xfrm>
            <a:off x="6180455" y="4235133"/>
            <a:ext cx="1111250" cy="369332"/>
          </a:xfrm>
          <a:prstGeom prst="rect">
            <a:avLst/>
          </a:prstGeom>
          <a:noFill/>
          <a:ln w="9525">
            <a:noFill/>
            <a:miter lim="800000"/>
            <a:headEnd/>
            <a:tailEnd/>
          </a:ln>
        </p:spPr>
        <p:txBody>
          <a:bodyPr lIns="0" tIns="0" rIns="0" bIns="0">
            <a:spAutoFit/>
          </a:bodyPr>
          <a:lstStyle/>
          <a:p>
            <a:pPr algn="ctr" defTabSz="914400"/>
            <a:r>
              <a:rPr lang="zh-CN" altLang="en-US" sz="2400" b="1">
                <a:latin typeface="Times New Roman" pitchFamily="18" charset="0"/>
                <a:ea typeface="微软雅黑" pitchFamily="34" charset="-122"/>
                <a:cs typeface="Times New Roman" pitchFamily="18" charset="0"/>
              </a:rPr>
              <a:t>耗尽层</a:t>
            </a:r>
          </a:p>
        </p:txBody>
      </p:sp>
      <p:sp>
        <p:nvSpPr>
          <p:cNvPr id="46" name="文本框 60">
            <a:extLst>
              <a:ext uri="{FF2B5EF4-FFF2-40B4-BE49-F238E27FC236}">
                <a16:creationId xmlns="" xmlns:a16="http://schemas.microsoft.com/office/drawing/2014/main" id="{5B6213B0-6299-4319-A0B6-CABA8C5D9823}"/>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47" name="矩形 46">
            <a:extLst>
              <a:ext uri="{FF2B5EF4-FFF2-40B4-BE49-F238E27FC236}">
                <a16:creationId xmlns="" xmlns:a16="http://schemas.microsoft.com/office/drawing/2014/main" id="{66AD4397-EBE6-40CB-8186-56D847B6459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0" name="矩形 49">
            <a:extLst>
              <a:ext uri="{FF2B5EF4-FFF2-40B4-BE49-F238E27FC236}">
                <a16:creationId xmlns="" xmlns:a16="http://schemas.microsoft.com/office/drawing/2014/main" id="{1F3E678D-25BC-474E-9360-97092F4F7B4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a:extLst>
              <a:ext uri="{FF2B5EF4-FFF2-40B4-BE49-F238E27FC236}">
                <a16:creationId xmlns="" xmlns:a16="http://schemas.microsoft.com/office/drawing/2014/main" id="{7DB1F11B-8B58-4B73-AC3E-0A834998220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3" name="直接连接符 58">
            <a:extLst>
              <a:ext uri="{FF2B5EF4-FFF2-40B4-BE49-F238E27FC236}">
                <a16:creationId xmlns="" xmlns:a16="http://schemas.microsoft.com/office/drawing/2014/main" id="{F679E5F4-2D74-4A8C-9F7D-4C72A363635F}"/>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 xmlns:a16="http://schemas.microsoft.com/office/drawing/2014/main" id="{62DAC4F7-3C96-43EE-BA22-3474A879D40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5" name="矩形 54">
            <a:extLst>
              <a:ext uri="{FF2B5EF4-FFF2-40B4-BE49-F238E27FC236}">
                <a16:creationId xmlns="" xmlns:a16="http://schemas.microsoft.com/office/drawing/2014/main" id="{0A88513A-C7A9-4EAE-A5E1-2FAA2AB4137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687616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childTnLst>
                          </p:cTn>
                        </p:par>
                        <p:par>
                          <p:cTn id="15" fill="hold">
                            <p:stCondLst>
                              <p:cond delay="1000"/>
                            </p:stCondLst>
                            <p:childTnLst>
                              <p:par>
                                <p:cTn id="16" presetID="4" presetClass="entr" presetSubtype="16" fill="hold" nodeType="afterEffect">
                                  <p:stCondLst>
                                    <p:cond delay="0"/>
                                  </p:stCondLst>
                                  <p:childTnLst>
                                    <p:set>
                                      <p:cBhvr>
                                        <p:cTn id="17" dur="1" fill="hold">
                                          <p:stCondLst>
                                            <p:cond delay="0"/>
                                          </p:stCondLst>
                                        </p:cTn>
                                        <p:tgtEl>
                                          <p:spTgt spid="101379"/>
                                        </p:tgtEl>
                                        <p:attrNameLst>
                                          <p:attrName>style.visibility</p:attrName>
                                        </p:attrNameLst>
                                      </p:cBhvr>
                                      <p:to>
                                        <p:strVal val="visible"/>
                                      </p:to>
                                    </p:set>
                                    <p:animEffect transition="in" filter="box(in)">
                                      <p:cBhvr>
                                        <p:cTn id="18" dur="500"/>
                                        <p:tgtEl>
                                          <p:spTgt spid="101379"/>
                                        </p:tgtEl>
                                      </p:cBhvr>
                                    </p:animEffect>
                                  </p:childTnLst>
                                </p:cTn>
                              </p:par>
                            </p:childTnLst>
                          </p:cTn>
                        </p:par>
                        <p:par>
                          <p:cTn id="19" fill="hold">
                            <p:stCondLst>
                              <p:cond delay="1500"/>
                            </p:stCondLst>
                            <p:childTnLst>
                              <p:par>
                                <p:cTn id="20" presetID="4" presetClass="entr" presetSubtype="16" fill="hold" nodeType="afterEffect">
                                  <p:stCondLst>
                                    <p:cond delay="0"/>
                                  </p:stCondLst>
                                  <p:childTnLst>
                                    <p:set>
                                      <p:cBhvr>
                                        <p:cTn id="21" dur="1" fill="hold">
                                          <p:stCondLst>
                                            <p:cond delay="0"/>
                                          </p:stCondLst>
                                        </p:cTn>
                                        <p:tgtEl>
                                          <p:spTgt spid="101380"/>
                                        </p:tgtEl>
                                        <p:attrNameLst>
                                          <p:attrName>style.visibility</p:attrName>
                                        </p:attrNameLst>
                                      </p:cBhvr>
                                      <p:to>
                                        <p:strVal val="visible"/>
                                      </p:to>
                                    </p:set>
                                    <p:animEffect transition="in" filter="box(in)">
                                      <p:cBhvr>
                                        <p:cTn id="22" dur="500"/>
                                        <p:tgtEl>
                                          <p:spTgt spid="101380"/>
                                        </p:tgtEl>
                                      </p:cBhvr>
                                    </p:animEffect>
                                  </p:childTnLst>
                                </p:cTn>
                              </p:par>
                            </p:childTnLst>
                          </p:cTn>
                        </p:par>
                        <p:par>
                          <p:cTn id="23" fill="hold">
                            <p:stCondLst>
                              <p:cond delay="2000"/>
                            </p:stCondLst>
                            <p:childTnLst>
                              <p:par>
                                <p:cTn id="24" presetID="4" presetClass="entr" presetSubtype="16" fill="hold" nodeType="afterEffect">
                                  <p:stCondLst>
                                    <p:cond delay="0"/>
                                  </p:stCondLst>
                                  <p:childTnLst>
                                    <p:set>
                                      <p:cBhvr>
                                        <p:cTn id="25" dur="1" fill="hold">
                                          <p:stCondLst>
                                            <p:cond delay="0"/>
                                          </p:stCondLst>
                                        </p:cTn>
                                        <p:tgtEl>
                                          <p:spTgt spid="101381"/>
                                        </p:tgtEl>
                                        <p:attrNameLst>
                                          <p:attrName>style.visibility</p:attrName>
                                        </p:attrNameLst>
                                      </p:cBhvr>
                                      <p:to>
                                        <p:strVal val="visible"/>
                                      </p:to>
                                    </p:set>
                                    <p:animEffect transition="in" filter="box(in)">
                                      <p:cBhvr>
                                        <p:cTn id="26" dur="500"/>
                                        <p:tgtEl>
                                          <p:spTgt spid="101381"/>
                                        </p:tgtEl>
                                      </p:cBhvr>
                                    </p:animEffect>
                                  </p:childTnLst>
                                </p:cTn>
                              </p:par>
                            </p:childTnLst>
                          </p:cTn>
                        </p:par>
                        <p:par>
                          <p:cTn id="27" fill="hold">
                            <p:stCondLst>
                              <p:cond delay="2500"/>
                            </p:stCondLst>
                            <p:childTnLst>
                              <p:par>
                                <p:cTn id="28" presetID="4" presetClass="entr" presetSubtype="16" fill="hold" nodeType="afterEffect">
                                  <p:stCondLst>
                                    <p:cond delay="0"/>
                                  </p:stCondLst>
                                  <p:childTnLst>
                                    <p:set>
                                      <p:cBhvr>
                                        <p:cTn id="29" dur="1" fill="hold">
                                          <p:stCondLst>
                                            <p:cond delay="0"/>
                                          </p:stCondLst>
                                        </p:cTn>
                                        <p:tgtEl>
                                          <p:spTgt spid="101382"/>
                                        </p:tgtEl>
                                        <p:attrNameLst>
                                          <p:attrName>style.visibility</p:attrName>
                                        </p:attrNameLst>
                                      </p:cBhvr>
                                      <p:to>
                                        <p:strVal val="visible"/>
                                      </p:to>
                                    </p:set>
                                    <p:animEffect transition="in" filter="box(in)">
                                      <p:cBhvr>
                                        <p:cTn id="30" dur="500"/>
                                        <p:tgtEl>
                                          <p:spTgt spid="101382"/>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box(in)">
                                      <p:cBhvr>
                                        <p:cTn id="35" dur="500"/>
                                        <p:tgtEl>
                                          <p:spTgt spid="36"/>
                                        </p:tgtEl>
                                      </p:cBhvr>
                                    </p:animEffect>
                                  </p:childTnLst>
                                </p:cTn>
                              </p:par>
                              <p:par>
                                <p:cTn id="36" presetID="4" presetClass="entr" presetSubtype="16"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box(in)">
                                      <p:cBhvr>
                                        <p:cTn id="38" dur="500"/>
                                        <p:tgtEl>
                                          <p:spTgt spid="42"/>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box(in)">
                                      <p:cBhvr>
                                        <p:cTn id="41" dur="500"/>
                                        <p:tgtEl>
                                          <p:spTgt spid="60"/>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box(in)">
                                      <p:cBhvr>
                                        <p:cTn id="46" dur="500"/>
                                        <p:tgtEl>
                                          <p:spTgt spid="26"/>
                                        </p:tgtEl>
                                      </p:cBhvr>
                                    </p:animEffect>
                                  </p:childTnLst>
                                </p:cTn>
                              </p:par>
                              <p:par>
                                <p:cTn id="47" presetID="4" presetClass="entr" presetSubtype="16" fill="hold" nodeType="withEffect">
                                  <p:stCondLst>
                                    <p:cond delay="0"/>
                                  </p:stCondLst>
                                  <p:childTnLst>
                                    <p:set>
                                      <p:cBhvr>
                                        <p:cTn id="48" dur="1" fill="hold">
                                          <p:stCondLst>
                                            <p:cond delay="0"/>
                                          </p:stCondLst>
                                        </p:cTn>
                                        <p:tgtEl>
                                          <p:spTgt spid="101383"/>
                                        </p:tgtEl>
                                        <p:attrNameLst>
                                          <p:attrName>style.visibility</p:attrName>
                                        </p:attrNameLst>
                                      </p:cBhvr>
                                      <p:to>
                                        <p:strVal val="visible"/>
                                      </p:to>
                                    </p:set>
                                    <p:animEffect transition="in" filter="box(in)">
                                      <p:cBhvr>
                                        <p:cTn id="49" dur="500"/>
                                        <p:tgtEl>
                                          <p:spTgt spid="101383"/>
                                        </p:tgtEl>
                                      </p:cBhvr>
                                    </p:animEffect>
                                  </p:childTnLst>
                                </p:cTn>
                              </p:par>
                            </p:childTnLst>
                          </p:cTn>
                        </p:par>
                        <p:par>
                          <p:cTn id="50" fill="hold">
                            <p:stCondLst>
                              <p:cond delay="500"/>
                            </p:stCondLst>
                            <p:childTnLst>
                              <p:par>
                                <p:cTn id="51" presetID="8" presetClass="emph" presetSubtype="0" fill="hold" nodeType="afterEffect">
                                  <p:stCondLst>
                                    <p:cond delay="0"/>
                                  </p:stCondLst>
                                  <p:childTnLst>
                                    <p:animRot by="21600000">
                                      <p:cBhvr>
                                        <p:cTn id="52" dur="2000" fill="hold"/>
                                        <p:tgtEl>
                                          <p:spTgt spid="26"/>
                                        </p:tgtEl>
                                        <p:attrNameLst>
                                          <p:attrName>r</p:attrName>
                                        </p:attrNameLst>
                                      </p:cBhvr>
                                    </p:animRot>
                                  </p:childTnLst>
                                </p:cTn>
                              </p:par>
                            </p:childTnLst>
                          </p:cTn>
                        </p:par>
                        <p:par>
                          <p:cTn id="53" fill="hold">
                            <p:stCondLst>
                              <p:cond delay="2500"/>
                            </p:stCondLst>
                            <p:childTnLst>
                              <p:par>
                                <p:cTn id="54" presetID="8" presetClass="emph" presetSubtype="0" fill="hold" nodeType="afterEffect">
                                  <p:stCondLst>
                                    <p:cond delay="0"/>
                                  </p:stCondLst>
                                  <p:childTnLst>
                                    <p:animRot by="21600000">
                                      <p:cBhvr>
                                        <p:cTn id="55" dur="2000" fill="hold"/>
                                        <p:tgtEl>
                                          <p:spTgt spid="101383"/>
                                        </p:tgtEl>
                                        <p:attrNameLst>
                                          <p:attrName>r</p:attrName>
                                        </p:attrNameLst>
                                      </p:cBhvr>
                                    </p:animRo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box(in)">
                                      <p:cBhvr>
                                        <p:cTn id="60" dur="500"/>
                                        <p:tgtEl>
                                          <p:spTgt spid="6"/>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box(in)">
                                      <p:cBhvr>
                                        <p:cTn id="63" dur="500"/>
                                        <p:tgtEl>
                                          <p:spTgt spid="8"/>
                                        </p:tgtEl>
                                      </p:cBhvr>
                                    </p:animEffect>
                                  </p:childTnLst>
                                </p:cTn>
                              </p:par>
                              <p:par>
                                <p:cTn id="64" presetID="4" presetClass="entr" presetSubtype="16"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box(in)">
                                      <p:cBhvr>
                                        <p:cTn id="66" dur="500"/>
                                        <p:tgtEl>
                                          <p:spTgt spid="9"/>
                                        </p:tgtEl>
                                      </p:cBhvr>
                                    </p:animEffect>
                                  </p:childTnLst>
                                </p:cTn>
                              </p:par>
                              <p:par>
                                <p:cTn id="67" presetID="4" presetClass="entr" presetSubtype="16"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box(in)">
                                      <p:cBhvr>
                                        <p:cTn id="69" dur="500"/>
                                        <p:tgtEl>
                                          <p:spTgt spid="20"/>
                                        </p:tgtEl>
                                      </p:cBhvr>
                                    </p:animEffect>
                                  </p:childTnLst>
                                </p:cTn>
                              </p:par>
                              <p:par>
                                <p:cTn id="70" presetID="4" presetClass="entr" presetSubtype="16"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box(in)">
                                      <p:cBhvr>
                                        <p:cTn id="72" dur="500"/>
                                        <p:tgtEl>
                                          <p:spTgt spid="10"/>
                                        </p:tgtEl>
                                      </p:cBhvr>
                                    </p:animEffect>
                                  </p:childTnLst>
                                </p:cTn>
                              </p:par>
                              <p:par>
                                <p:cTn id="73" presetID="4" presetClass="entr" presetSubtype="16"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box(in)">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grpId="1" nodeType="click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box(in)">
                                      <p:cBhvr>
                                        <p:cTn id="80" dur="500"/>
                                        <p:tgtEl>
                                          <p:spTgt spid="6"/>
                                        </p:tgtEl>
                                      </p:cBhvr>
                                    </p:animEffect>
                                  </p:childTnLst>
                                </p:cTn>
                              </p:par>
                              <p:par>
                                <p:cTn id="81" presetID="4" presetClass="entr" presetSubtype="16" fill="hold" grpId="1" nodeType="with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box(in)">
                                      <p:cBhvr>
                                        <p:cTn id="83" dur="500"/>
                                        <p:tgtEl>
                                          <p:spTgt spid="8"/>
                                        </p:tgtEl>
                                      </p:cBhvr>
                                    </p:animEffect>
                                  </p:childTnLst>
                                </p:cTn>
                              </p:par>
                              <p:par>
                                <p:cTn id="84" presetID="4" presetClass="entr" presetSubtype="16" fill="hold" grpId="1" nodeType="withEffect">
                                  <p:stCondLst>
                                    <p:cond delay="0"/>
                                  </p:stCondLst>
                                  <p:childTnLst>
                                    <p:set>
                                      <p:cBhvr>
                                        <p:cTn id="85" dur="1" fill="hold">
                                          <p:stCondLst>
                                            <p:cond delay="0"/>
                                          </p:stCondLst>
                                        </p:cTn>
                                        <p:tgtEl>
                                          <p:spTgt spid="9"/>
                                        </p:tgtEl>
                                        <p:attrNameLst>
                                          <p:attrName>style.visibility</p:attrName>
                                        </p:attrNameLst>
                                      </p:cBhvr>
                                      <p:to>
                                        <p:strVal val="visible"/>
                                      </p:to>
                                    </p:set>
                                    <p:animEffect transition="in" filter="box(in)">
                                      <p:cBhvr>
                                        <p:cTn id="86" dur="500"/>
                                        <p:tgtEl>
                                          <p:spTgt spid="9"/>
                                        </p:tgtEl>
                                      </p:cBhvr>
                                    </p:animEffect>
                                  </p:childTnLst>
                                </p:cTn>
                              </p:par>
                              <p:par>
                                <p:cTn id="87" presetID="4" presetClass="entr" presetSubtype="16" fill="hold" grpId="1"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box(in)">
                                      <p:cBhvr>
                                        <p:cTn id="89" dur="500"/>
                                        <p:tgtEl>
                                          <p:spTgt spid="20"/>
                                        </p:tgtEl>
                                      </p:cBhvr>
                                    </p:animEffect>
                                  </p:childTnLst>
                                </p:cTn>
                              </p:par>
                              <p:par>
                                <p:cTn id="90" presetID="4" presetClass="entr" presetSubtype="16" fill="hold" grpId="1" nodeType="with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box(in)">
                                      <p:cBhvr>
                                        <p:cTn id="92" dur="500"/>
                                        <p:tgtEl>
                                          <p:spTgt spid="10"/>
                                        </p:tgtEl>
                                      </p:cBhvr>
                                    </p:animEffect>
                                  </p:childTnLst>
                                </p:cTn>
                              </p:par>
                              <p:par>
                                <p:cTn id="93" presetID="4" presetClass="entr" presetSubtype="16" fill="hold" grpId="1" nodeType="withEffect">
                                  <p:stCondLst>
                                    <p:cond delay="0"/>
                                  </p:stCondLst>
                                  <p:childTnLst>
                                    <p:set>
                                      <p:cBhvr>
                                        <p:cTn id="94" dur="1" fill="hold">
                                          <p:stCondLst>
                                            <p:cond delay="0"/>
                                          </p:stCondLst>
                                        </p:cTn>
                                        <p:tgtEl>
                                          <p:spTgt spid="11"/>
                                        </p:tgtEl>
                                        <p:attrNameLst>
                                          <p:attrName>style.visibility</p:attrName>
                                        </p:attrNameLst>
                                      </p:cBhvr>
                                      <p:to>
                                        <p:strVal val="visible"/>
                                      </p:to>
                                    </p:set>
                                    <p:animEffect transition="in" filter="box(in)">
                                      <p:cBhvr>
                                        <p:cTn id="95" dur="500"/>
                                        <p:tgtEl>
                                          <p:spTgt spid="11"/>
                                        </p:tgtEl>
                                      </p:cBhvr>
                                    </p:animEffect>
                                  </p:childTnLst>
                                </p:cTn>
                              </p:par>
                              <p:par>
                                <p:cTn id="96" presetID="4" presetClass="entr" presetSubtype="16" fill="hold" grpId="0" nodeType="with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box(in)">
                                      <p:cBhvr>
                                        <p:cTn id="98" dur="500"/>
                                        <p:tgtEl>
                                          <p:spTgt spid="19"/>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box(in)">
                                      <p:cBhvr>
                                        <p:cTn id="101" dur="500"/>
                                        <p:tgtEl>
                                          <p:spTgt spid="14"/>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box(in)">
                                      <p:cBhvr>
                                        <p:cTn id="104" dur="500"/>
                                        <p:tgtEl>
                                          <p:spTgt spid="15"/>
                                        </p:tgtEl>
                                      </p:cBhvr>
                                    </p:animEffect>
                                  </p:childTnLst>
                                </p:cTn>
                              </p:par>
                              <p:par>
                                <p:cTn id="105" presetID="4" presetClass="entr" presetSubtype="16" fill="hold" grpId="0" nodeType="with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box(in)">
                                      <p:cBhvr>
                                        <p:cTn id="107" dur="500"/>
                                        <p:tgtEl>
                                          <p:spTgt spid="16"/>
                                        </p:tgtEl>
                                      </p:cBhvr>
                                    </p:animEffect>
                                  </p:childTnLst>
                                </p:cTn>
                              </p:par>
                              <p:par>
                                <p:cTn id="108" presetID="4" presetClass="entr" presetSubtype="16" fill="hold" grpId="0" nodeType="withEffect">
                                  <p:stCondLst>
                                    <p:cond delay="0"/>
                                  </p:stCondLst>
                                  <p:childTnLst>
                                    <p:set>
                                      <p:cBhvr>
                                        <p:cTn id="109" dur="1" fill="hold">
                                          <p:stCondLst>
                                            <p:cond delay="0"/>
                                          </p:stCondLst>
                                        </p:cTn>
                                        <p:tgtEl>
                                          <p:spTgt spid="17"/>
                                        </p:tgtEl>
                                        <p:attrNameLst>
                                          <p:attrName>style.visibility</p:attrName>
                                        </p:attrNameLst>
                                      </p:cBhvr>
                                      <p:to>
                                        <p:strVal val="visible"/>
                                      </p:to>
                                    </p:set>
                                    <p:animEffect transition="in" filter="box(in)">
                                      <p:cBhvr>
                                        <p:cTn id="110" dur="500"/>
                                        <p:tgtEl>
                                          <p:spTgt spid="17"/>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box(in)">
                                      <p:cBhvr>
                                        <p:cTn id="113" dur="500"/>
                                        <p:tgtEl>
                                          <p:spTgt spid="18"/>
                                        </p:tgtEl>
                                      </p:cBhvr>
                                    </p:animEffect>
                                  </p:childTnLst>
                                </p:cTn>
                              </p:par>
                              <p:par>
                                <p:cTn id="114" presetID="4" presetClass="entr" presetSubtype="16" fill="hold" grpId="0" nodeType="withEffect">
                                  <p:stCondLst>
                                    <p:cond delay="0"/>
                                  </p:stCondLst>
                                  <p:childTnLst>
                                    <p:set>
                                      <p:cBhvr>
                                        <p:cTn id="115" dur="1" fill="hold">
                                          <p:stCondLst>
                                            <p:cond delay="0"/>
                                          </p:stCondLst>
                                        </p:cTn>
                                        <p:tgtEl>
                                          <p:spTgt spid="13"/>
                                        </p:tgtEl>
                                        <p:attrNameLst>
                                          <p:attrName>style.visibility</p:attrName>
                                        </p:attrNameLst>
                                      </p:cBhvr>
                                      <p:to>
                                        <p:strVal val="visible"/>
                                      </p:to>
                                    </p:set>
                                    <p:animEffect transition="in" filter="box(in)">
                                      <p:cBhvr>
                                        <p:cTn id="116" dur="500"/>
                                        <p:tgtEl>
                                          <p:spTgt spid="13"/>
                                        </p:tgtEl>
                                      </p:cBhvr>
                                    </p:animEffect>
                                  </p:childTnLst>
                                </p:cTn>
                              </p:par>
                            </p:childTnLst>
                          </p:cTn>
                        </p:par>
                      </p:childTnLst>
                    </p:cTn>
                  </p:par>
                  <p:par>
                    <p:cTn id="117" fill="hold">
                      <p:stCondLst>
                        <p:cond delay="indefinite"/>
                      </p:stCondLst>
                      <p:childTnLst>
                        <p:par>
                          <p:cTn id="118" fill="hold">
                            <p:stCondLst>
                              <p:cond delay="0"/>
                            </p:stCondLst>
                            <p:childTnLst>
                              <p:par>
                                <p:cTn id="119" presetID="4" presetClass="entr" presetSubtype="16" fill="hold" nodeType="click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box(in)">
                                      <p:cBhvr>
                                        <p:cTn id="121" dur="500"/>
                                        <p:tgtEl>
                                          <p:spTgt spid="40"/>
                                        </p:tgtEl>
                                      </p:cBhvr>
                                    </p:animEffect>
                                  </p:childTnLst>
                                </p:cTn>
                              </p:par>
                              <p:par>
                                <p:cTn id="122" presetID="4" presetClass="entr" presetSubtype="16" fill="hold" nodeType="with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box(in)">
                                      <p:cBhvr>
                                        <p:cTn id="124" dur="500"/>
                                        <p:tgtEl>
                                          <p:spTgt spid="52"/>
                                        </p:tgtEl>
                                      </p:cBhvr>
                                    </p:animEffect>
                                  </p:childTnLst>
                                </p:cTn>
                              </p:par>
                              <p:par>
                                <p:cTn id="125" presetID="4" presetClass="entr" presetSubtype="16" fill="hold"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box(in)">
                                      <p:cBhvr>
                                        <p:cTn id="127" dur="500"/>
                                        <p:tgtEl>
                                          <p:spTgt spid="45"/>
                                        </p:tgtEl>
                                      </p:cBhvr>
                                    </p:animEffect>
                                  </p:childTnLst>
                                </p:cTn>
                              </p:par>
                            </p:childTnLst>
                          </p:cTn>
                        </p:par>
                      </p:childTnLst>
                    </p:cTn>
                  </p:par>
                  <p:par>
                    <p:cTn id="128" fill="hold">
                      <p:stCondLst>
                        <p:cond delay="indefinite"/>
                      </p:stCondLst>
                      <p:childTnLst>
                        <p:par>
                          <p:cTn id="129" fill="hold">
                            <p:stCondLst>
                              <p:cond delay="0"/>
                            </p:stCondLst>
                            <p:childTnLst>
                              <p:par>
                                <p:cTn id="130" presetID="6" presetClass="emph" presetSubtype="0" fill="hold" nodeType="clickEffect">
                                  <p:stCondLst>
                                    <p:cond delay="0"/>
                                  </p:stCondLst>
                                  <p:childTnLst>
                                    <p:animScale>
                                      <p:cBhvr>
                                        <p:cTn id="131" dur="2000" fill="hold"/>
                                        <p:tgtEl>
                                          <p:spTgt spid="45"/>
                                        </p:tgtEl>
                                      </p:cBhvr>
                                      <p:by x="150000" y="150000"/>
                                    </p:animScale>
                                  </p:childTnLst>
                                </p:cTn>
                              </p:par>
                            </p:childTnLst>
                          </p:cTn>
                        </p:par>
                      </p:childTnLst>
                    </p:cTn>
                  </p:par>
                  <p:par>
                    <p:cTn id="132" fill="hold">
                      <p:stCondLst>
                        <p:cond delay="indefinite"/>
                      </p:stCondLst>
                      <p:childTnLst>
                        <p:par>
                          <p:cTn id="133" fill="hold">
                            <p:stCondLst>
                              <p:cond delay="0"/>
                            </p:stCondLst>
                            <p:childTnLst>
                              <p:par>
                                <p:cTn id="134" presetID="4" presetClass="entr" presetSubtype="16" fill="hold" nodeType="clickEffect">
                                  <p:stCondLst>
                                    <p:cond delay="0"/>
                                  </p:stCondLst>
                                  <p:childTnLst>
                                    <p:set>
                                      <p:cBhvr>
                                        <p:cTn id="135" dur="1" fill="hold">
                                          <p:stCondLst>
                                            <p:cond delay="0"/>
                                          </p:stCondLst>
                                        </p:cTn>
                                        <p:tgtEl>
                                          <p:spTgt spid="101384"/>
                                        </p:tgtEl>
                                        <p:attrNameLst>
                                          <p:attrName>style.visibility</p:attrName>
                                        </p:attrNameLst>
                                      </p:cBhvr>
                                      <p:to>
                                        <p:strVal val="visible"/>
                                      </p:to>
                                    </p:set>
                                    <p:animEffect transition="in" filter="box(in)">
                                      <p:cBhvr>
                                        <p:cTn id="136" dur="500"/>
                                        <p:tgtEl>
                                          <p:spTgt spid="101384"/>
                                        </p:tgtEl>
                                      </p:cBhvr>
                                    </p:animEffect>
                                  </p:childTnLst>
                                </p:cTn>
                              </p:par>
                            </p:childTnLst>
                          </p:cTn>
                        </p:par>
                      </p:childTnLst>
                    </p:cTn>
                  </p:par>
                  <p:par>
                    <p:cTn id="137" fill="hold">
                      <p:stCondLst>
                        <p:cond delay="indefinite"/>
                      </p:stCondLst>
                      <p:childTnLst>
                        <p:par>
                          <p:cTn id="138" fill="hold">
                            <p:stCondLst>
                              <p:cond delay="0"/>
                            </p:stCondLst>
                            <p:childTnLst>
                              <p:par>
                                <p:cTn id="139" presetID="4" presetClass="entr" presetSubtype="16" fill="hold" nodeType="clickEffect">
                                  <p:stCondLst>
                                    <p:cond delay="0"/>
                                  </p:stCondLst>
                                  <p:childTnLst>
                                    <p:set>
                                      <p:cBhvr>
                                        <p:cTn id="140" dur="1" fill="hold">
                                          <p:stCondLst>
                                            <p:cond delay="0"/>
                                          </p:stCondLst>
                                        </p:cTn>
                                        <p:tgtEl>
                                          <p:spTgt spid="101386"/>
                                        </p:tgtEl>
                                        <p:attrNameLst>
                                          <p:attrName>style.visibility</p:attrName>
                                        </p:attrNameLst>
                                      </p:cBhvr>
                                      <p:to>
                                        <p:strVal val="visible"/>
                                      </p:to>
                                    </p:set>
                                    <p:animEffect transition="in" filter="box(in)">
                                      <p:cBhvr>
                                        <p:cTn id="141" dur="500"/>
                                        <p:tgtEl>
                                          <p:spTgt spid="101386"/>
                                        </p:tgtEl>
                                      </p:cBhvr>
                                    </p:animEffect>
                                  </p:childTnLst>
                                </p:cTn>
                              </p:par>
                            </p:childTnLst>
                          </p:cTn>
                        </p:par>
                      </p:childTnLst>
                    </p:cTn>
                  </p:par>
                  <p:par>
                    <p:cTn id="142" fill="hold">
                      <p:stCondLst>
                        <p:cond delay="indefinite"/>
                      </p:stCondLst>
                      <p:childTnLst>
                        <p:par>
                          <p:cTn id="143" fill="hold">
                            <p:stCondLst>
                              <p:cond delay="0"/>
                            </p:stCondLst>
                            <p:childTnLst>
                              <p:par>
                                <p:cTn id="144" presetID="4" presetClass="entr" presetSubtype="16" fill="hold" grpId="0" nodeType="clickEffect">
                                  <p:stCondLst>
                                    <p:cond delay="0"/>
                                  </p:stCondLst>
                                  <p:childTnLst>
                                    <p:set>
                                      <p:cBhvr>
                                        <p:cTn id="145" dur="1" fill="hold">
                                          <p:stCondLst>
                                            <p:cond delay="0"/>
                                          </p:stCondLst>
                                        </p:cTn>
                                        <p:tgtEl>
                                          <p:spTgt spid="59"/>
                                        </p:tgtEl>
                                        <p:attrNameLst>
                                          <p:attrName>style.visibility</p:attrName>
                                        </p:attrNameLst>
                                      </p:cBhvr>
                                      <p:to>
                                        <p:strVal val="visible"/>
                                      </p:to>
                                    </p:set>
                                    <p:animEffect transition="in" filter="box(in)">
                                      <p:cBhvr>
                                        <p:cTn id="14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P spid="8" grpId="1" animBg="1"/>
      <p:bldP spid="9" grpId="0" animBg="1"/>
      <p:bldP spid="9" grpId="1" animBg="1"/>
      <p:bldP spid="10" grpId="0" animBg="1"/>
      <p:bldP spid="10" grpId="1" animBg="1"/>
      <p:bldP spid="11" grpId="0" animBg="1"/>
      <p:bldP spid="11" grpId="1" animBg="1"/>
      <p:bldP spid="13" grpId="0" animBg="1"/>
      <p:bldP spid="14" grpId="0" animBg="1"/>
      <p:bldP spid="15" grpId="0" animBg="1"/>
      <p:bldP spid="16" grpId="0" animBg="1"/>
      <p:bldP spid="17" grpId="0" animBg="1"/>
      <p:bldP spid="18" grpId="0" animBg="1"/>
      <p:bldP spid="19" grpId="0" animBg="1"/>
      <p:bldP spid="20" grpId="0" animBg="1"/>
      <p:bldP spid="20" grpId="1" animBg="1"/>
      <p:bldP spid="59" grpId="0" animBg="1"/>
      <p:bldP spid="6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1"/>
          <p:cNvCxnSpPr/>
          <p:nvPr/>
        </p:nvCxnSpPr>
        <p:spPr>
          <a:xfrm rot="5400000">
            <a:off x="9225280" y="3292475"/>
            <a:ext cx="757238" cy="1588"/>
          </a:xfrm>
          <a:prstGeom prst="straightConnector1">
            <a:avLst/>
          </a:prstGeom>
          <a:ln w="38100">
            <a:solidFill>
              <a:srgbClr val="FF00FF"/>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grpSp>
        <p:nvGrpSpPr>
          <p:cNvPr id="35849" name="组合 2"/>
          <p:cNvGrpSpPr>
            <a:grpSpLocks/>
          </p:cNvGrpSpPr>
          <p:nvPr/>
        </p:nvGrpSpPr>
        <p:grpSpPr bwMode="auto">
          <a:xfrm>
            <a:off x="3305493" y="2916238"/>
            <a:ext cx="6489700" cy="817562"/>
            <a:chOff x="1238250" y="2087245"/>
            <a:chExt cx="6489700" cy="817880"/>
          </a:xfrm>
        </p:grpSpPr>
        <p:cxnSp>
          <p:nvCxnSpPr>
            <p:cNvPr id="4" name="直接连接符 3"/>
            <p:cNvCxnSpPr/>
            <p:nvPr/>
          </p:nvCxnSpPr>
          <p:spPr>
            <a:xfrm>
              <a:off x="1238250" y="2092009"/>
              <a:ext cx="2311400" cy="158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416550" y="2900361"/>
              <a:ext cx="2311400" cy="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任意多边形 5"/>
            <p:cNvSpPr/>
            <p:nvPr/>
          </p:nvSpPr>
          <p:spPr>
            <a:xfrm>
              <a:off x="3265487" y="2087245"/>
              <a:ext cx="2212975" cy="817880"/>
            </a:xfrm>
            <a:custGeom>
              <a:avLst/>
              <a:gdLst>
                <a:gd name="connsiteX0" fmla="*/ 0 w 2213610"/>
                <a:gd name="connsiteY0" fmla="*/ 8255 h 817880"/>
                <a:gd name="connsiteX1" fmla="*/ 346710 w 2213610"/>
                <a:gd name="connsiteY1" fmla="*/ 8255 h 817880"/>
                <a:gd name="connsiteX2" fmla="*/ 510540 w 2213610"/>
                <a:gd name="connsiteY2" fmla="*/ 57785 h 817880"/>
                <a:gd name="connsiteX3" fmla="*/ 716280 w 2213610"/>
                <a:gd name="connsiteY3" fmla="*/ 210185 h 817880"/>
                <a:gd name="connsiteX4" fmla="*/ 979170 w 2213610"/>
                <a:gd name="connsiteY4" fmla="*/ 442595 h 817880"/>
                <a:gd name="connsiteX5" fmla="*/ 1135380 w 2213610"/>
                <a:gd name="connsiteY5" fmla="*/ 564515 h 817880"/>
                <a:gd name="connsiteX6" fmla="*/ 1398270 w 2213610"/>
                <a:gd name="connsiteY6" fmla="*/ 709295 h 817880"/>
                <a:gd name="connsiteX7" fmla="*/ 1847850 w 2213610"/>
                <a:gd name="connsiteY7" fmla="*/ 800735 h 817880"/>
                <a:gd name="connsiteX8" fmla="*/ 2072640 w 2213610"/>
                <a:gd name="connsiteY8" fmla="*/ 812165 h 817880"/>
                <a:gd name="connsiteX9" fmla="*/ 2213610 w 2213610"/>
                <a:gd name="connsiteY9" fmla="*/ 812165 h 817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3610" h="817880">
                  <a:moveTo>
                    <a:pt x="0" y="8255"/>
                  </a:moveTo>
                  <a:cubicBezTo>
                    <a:pt x="130810" y="4127"/>
                    <a:pt x="261620" y="0"/>
                    <a:pt x="346710" y="8255"/>
                  </a:cubicBezTo>
                  <a:cubicBezTo>
                    <a:pt x="431800" y="16510"/>
                    <a:pt x="448945" y="24130"/>
                    <a:pt x="510540" y="57785"/>
                  </a:cubicBezTo>
                  <a:cubicBezTo>
                    <a:pt x="572135" y="91440"/>
                    <a:pt x="638175" y="146050"/>
                    <a:pt x="716280" y="210185"/>
                  </a:cubicBezTo>
                  <a:cubicBezTo>
                    <a:pt x="794385" y="274320"/>
                    <a:pt x="909320" y="383540"/>
                    <a:pt x="979170" y="442595"/>
                  </a:cubicBezTo>
                  <a:cubicBezTo>
                    <a:pt x="1049020" y="501650"/>
                    <a:pt x="1065530" y="520065"/>
                    <a:pt x="1135380" y="564515"/>
                  </a:cubicBezTo>
                  <a:cubicBezTo>
                    <a:pt x="1205230" y="608965"/>
                    <a:pt x="1279525" y="669925"/>
                    <a:pt x="1398270" y="709295"/>
                  </a:cubicBezTo>
                  <a:cubicBezTo>
                    <a:pt x="1517015" y="748665"/>
                    <a:pt x="1735455" y="783590"/>
                    <a:pt x="1847850" y="800735"/>
                  </a:cubicBezTo>
                  <a:cubicBezTo>
                    <a:pt x="1960245" y="817880"/>
                    <a:pt x="2011680" y="810260"/>
                    <a:pt x="2072640" y="812165"/>
                  </a:cubicBezTo>
                  <a:cubicBezTo>
                    <a:pt x="2133600" y="814070"/>
                    <a:pt x="2173605" y="813117"/>
                    <a:pt x="2213610" y="812165"/>
                  </a:cubicBezTo>
                </a:path>
              </a:pathLst>
            </a:custGeom>
            <a:ln w="571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p>
          </p:txBody>
        </p:sp>
      </p:grpSp>
      <p:grpSp>
        <p:nvGrpSpPr>
          <p:cNvPr id="35853" name="组合 6"/>
          <p:cNvGrpSpPr>
            <a:grpSpLocks/>
          </p:cNvGrpSpPr>
          <p:nvPr/>
        </p:nvGrpSpPr>
        <p:grpSpPr bwMode="auto">
          <a:xfrm>
            <a:off x="3346768" y="4473575"/>
            <a:ext cx="6492875" cy="817563"/>
            <a:chOff x="1427151" y="2888971"/>
            <a:chExt cx="6493417" cy="817880"/>
          </a:xfrm>
        </p:grpSpPr>
        <p:cxnSp>
          <p:nvCxnSpPr>
            <p:cNvPr id="8" name="直接连接符 7"/>
            <p:cNvCxnSpPr/>
            <p:nvPr/>
          </p:nvCxnSpPr>
          <p:spPr>
            <a:xfrm>
              <a:off x="5608975" y="3705262"/>
              <a:ext cx="2311593" cy="158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427151" y="2900088"/>
              <a:ext cx="2311593" cy="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任意多边形 9"/>
            <p:cNvSpPr/>
            <p:nvPr/>
          </p:nvSpPr>
          <p:spPr>
            <a:xfrm>
              <a:off x="3565692" y="2888971"/>
              <a:ext cx="2213160" cy="817880"/>
            </a:xfrm>
            <a:custGeom>
              <a:avLst/>
              <a:gdLst>
                <a:gd name="connsiteX0" fmla="*/ 0 w 2213610"/>
                <a:gd name="connsiteY0" fmla="*/ 8255 h 817880"/>
                <a:gd name="connsiteX1" fmla="*/ 346710 w 2213610"/>
                <a:gd name="connsiteY1" fmla="*/ 8255 h 817880"/>
                <a:gd name="connsiteX2" fmla="*/ 510540 w 2213610"/>
                <a:gd name="connsiteY2" fmla="*/ 57785 h 817880"/>
                <a:gd name="connsiteX3" fmla="*/ 716280 w 2213610"/>
                <a:gd name="connsiteY3" fmla="*/ 210185 h 817880"/>
                <a:gd name="connsiteX4" fmla="*/ 979170 w 2213610"/>
                <a:gd name="connsiteY4" fmla="*/ 442595 h 817880"/>
                <a:gd name="connsiteX5" fmla="*/ 1135380 w 2213610"/>
                <a:gd name="connsiteY5" fmla="*/ 564515 h 817880"/>
                <a:gd name="connsiteX6" fmla="*/ 1398270 w 2213610"/>
                <a:gd name="connsiteY6" fmla="*/ 709295 h 817880"/>
                <a:gd name="connsiteX7" fmla="*/ 1847850 w 2213610"/>
                <a:gd name="connsiteY7" fmla="*/ 800735 h 817880"/>
                <a:gd name="connsiteX8" fmla="*/ 2072640 w 2213610"/>
                <a:gd name="connsiteY8" fmla="*/ 812165 h 817880"/>
                <a:gd name="connsiteX9" fmla="*/ 2213610 w 2213610"/>
                <a:gd name="connsiteY9" fmla="*/ 812165 h 817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3610" h="817880">
                  <a:moveTo>
                    <a:pt x="0" y="8255"/>
                  </a:moveTo>
                  <a:cubicBezTo>
                    <a:pt x="130810" y="4127"/>
                    <a:pt x="261620" y="0"/>
                    <a:pt x="346710" y="8255"/>
                  </a:cubicBezTo>
                  <a:cubicBezTo>
                    <a:pt x="431800" y="16510"/>
                    <a:pt x="448945" y="24130"/>
                    <a:pt x="510540" y="57785"/>
                  </a:cubicBezTo>
                  <a:cubicBezTo>
                    <a:pt x="572135" y="91440"/>
                    <a:pt x="638175" y="146050"/>
                    <a:pt x="716280" y="210185"/>
                  </a:cubicBezTo>
                  <a:cubicBezTo>
                    <a:pt x="794385" y="274320"/>
                    <a:pt x="909320" y="383540"/>
                    <a:pt x="979170" y="442595"/>
                  </a:cubicBezTo>
                  <a:cubicBezTo>
                    <a:pt x="1049020" y="501650"/>
                    <a:pt x="1065530" y="520065"/>
                    <a:pt x="1135380" y="564515"/>
                  </a:cubicBezTo>
                  <a:cubicBezTo>
                    <a:pt x="1205230" y="608965"/>
                    <a:pt x="1279525" y="669925"/>
                    <a:pt x="1398270" y="709295"/>
                  </a:cubicBezTo>
                  <a:cubicBezTo>
                    <a:pt x="1517015" y="748665"/>
                    <a:pt x="1735455" y="783590"/>
                    <a:pt x="1847850" y="800735"/>
                  </a:cubicBezTo>
                  <a:cubicBezTo>
                    <a:pt x="1960245" y="817880"/>
                    <a:pt x="2011680" y="810260"/>
                    <a:pt x="2072640" y="812165"/>
                  </a:cubicBezTo>
                  <a:cubicBezTo>
                    <a:pt x="2133600" y="814070"/>
                    <a:pt x="2173605" y="813117"/>
                    <a:pt x="2213610" y="812165"/>
                  </a:cubicBezTo>
                </a:path>
              </a:pathLst>
            </a:custGeom>
            <a:ln w="571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p>
          </p:txBody>
        </p:sp>
      </p:grpSp>
      <p:cxnSp>
        <p:nvCxnSpPr>
          <p:cNvPr id="11" name="直接连接符 10"/>
          <p:cNvCxnSpPr/>
          <p:nvPr/>
        </p:nvCxnSpPr>
        <p:spPr>
          <a:xfrm>
            <a:off x="5483543" y="2909888"/>
            <a:ext cx="4222750" cy="1587"/>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35858" name="Object 2"/>
          <p:cNvGraphicFramePr>
            <a:graphicFrameLocks noChangeAspect="1"/>
          </p:cNvGraphicFramePr>
          <p:nvPr/>
        </p:nvGraphicFramePr>
        <p:xfrm>
          <a:off x="9692005" y="3092450"/>
          <a:ext cx="430213" cy="322263"/>
        </p:xfrm>
        <a:graphic>
          <a:graphicData uri="http://schemas.openxmlformats.org/presentationml/2006/ole">
            <mc:AlternateContent xmlns:mc="http://schemas.openxmlformats.org/markup-compatibility/2006">
              <mc:Choice xmlns:v="urn:schemas-microsoft-com:vml" Requires="v">
                <p:oleObj spid="_x0000_s44352" name="Equation" r:id="rId3" imgW="304560" imgH="228600" progId="">
                  <p:embed/>
                </p:oleObj>
              </mc:Choice>
              <mc:Fallback>
                <p:oleObj name="Equation" r:id="rId3" imgW="304560" imgH="2286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2005" y="3092450"/>
                        <a:ext cx="430213" cy="322263"/>
                      </a:xfrm>
                      <a:prstGeom prst="rect">
                        <a:avLst/>
                      </a:prstGeom>
                      <a:solidFill>
                        <a:srgbClr val="FFFF00"/>
                      </a:solidFill>
                    </p:spPr>
                  </p:pic>
                </p:oleObj>
              </mc:Fallback>
            </mc:AlternateContent>
          </a:graphicData>
        </a:graphic>
      </p:graphicFrame>
      <p:graphicFrame>
        <p:nvGraphicFramePr>
          <p:cNvPr id="35859" name="Object 3"/>
          <p:cNvGraphicFramePr>
            <a:graphicFrameLocks noChangeAspect="1"/>
          </p:cNvGraphicFramePr>
          <p:nvPr/>
        </p:nvGraphicFramePr>
        <p:xfrm>
          <a:off x="2802255" y="2657475"/>
          <a:ext cx="390525" cy="412750"/>
        </p:xfrm>
        <a:graphic>
          <a:graphicData uri="http://schemas.openxmlformats.org/presentationml/2006/ole">
            <mc:AlternateContent xmlns:mc="http://schemas.openxmlformats.org/markup-compatibility/2006">
              <mc:Choice xmlns:v="urn:schemas-microsoft-com:vml" Requires="v">
                <p:oleObj spid="_x0000_s44353" name="Equation" r:id="rId5" imgW="228600" imgH="241200" progId="">
                  <p:embed/>
                </p:oleObj>
              </mc:Choice>
              <mc:Fallback>
                <p:oleObj name="Equation" r:id="rId5" imgW="228600" imgH="2412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2255" y="2657475"/>
                        <a:ext cx="390525" cy="412750"/>
                      </a:xfrm>
                      <a:prstGeom prst="rect">
                        <a:avLst/>
                      </a:prstGeom>
                      <a:solidFill>
                        <a:srgbClr val="FF00FF"/>
                      </a:solidFill>
                    </p:spPr>
                  </p:pic>
                </p:oleObj>
              </mc:Fallback>
            </mc:AlternateContent>
          </a:graphicData>
        </a:graphic>
      </p:graphicFrame>
      <p:graphicFrame>
        <p:nvGraphicFramePr>
          <p:cNvPr id="35860" name="Object 4"/>
          <p:cNvGraphicFramePr>
            <a:graphicFrameLocks noChangeAspect="1"/>
          </p:cNvGraphicFramePr>
          <p:nvPr/>
        </p:nvGraphicFramePr>
        <p:xfrm>
          <a:off x="2802255" y="4256088"/>
          <a:ext cx="390525" cy="414337"/>
        </p:xfrm>
        <a:graphic>
          <a:graphicData uri="http://schemas.openxmlformats.org/presentationml/2006/ole">
            <mc:AlternateContent xmlns:mc="http://schemas.openxmlformats.org/markup-compatibility/2006">
              <mc:Choice xmlns:v="urn:schemas-microsoft-com:vml" Requires="v">
                <p:oleObj spid="_x0000_s44354" name="Equation" r:id="rId7" imgW="228600" imgH="241200" progId="">
                  <p:embed/>
                </p:oleObj>
              </mc:Choice>
              <mc:Fallback>
                <p:oleObj name="Equation" r:id="rId7" imgW="228600" imgH="2412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02255" y="4256088"/>
                        <a:ext cx="390525" cy="414337"/>
                      </a:xfrm>
                      <a:prstGeom prst="rect">
                        <a:avLst/>
                      </a:prstGeom>
                      <a:solidFill>
                        <a:srgbClr val="FF00FF"/>
                      </a:solidFill>
                    </p:spPr>
                  </p:pic>
                </p:oleObj>
              </mc:Fallback>
            </mc:AlternateContent>
          </a:graphicData>
        </a:graphic>
      </p:graphicFrame>
      <p:graphicFrame>
        <p:nvGraphicFramePr>
          <p:cNvPr id="35861" name="Object 5"/>
          <p:cNvGraphicFramePr>
            <a:graphicFrameLocks noChangeAspect="1"/>
          </p:cNvGraphicFramePr>
          <p:nvPr/>
        </p:nvGraphicFramePr>
        <p:xfrm>
          <a:off x="10003155" y="3557588"/>
          <a:ext cx="390525" cy="390525"/>
        </p:xfrm>
        <a:graphic>
          <a:graphicData uri="http://schemas.openxmlformats.org/presentationml/2006/ole">
            <mc:AlternateContent xmlns:mc="http://schemas.openxmlformats.org/markup-compatibility/2006">
              <mc:Choice xmlns:v="urn:schemas-microsoft-com:vml" Requires="v">
                <p:oleObj spid="_x0000_s44355" name="Equation" r:id="rId9" imgW="228600" imgH="228600" progId="">
                  <p:embed/>
                </p:oleObj>
              </mc:Choice>
              <mc:Fallback>
                <p:oleObj name="Equation" r:id="rId9" imgW="228600" imgH="2286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03155" y="3557588"/>
                        <a:ext cx="390525" cy="390525"/>
                      </a:xfrm>
                      <a:prstGeom prst="rect">
                        <a:avLst/>
                      </a:prstGeom>
                      <a:solidFill>
                        <a:srgbClr val="00FFFF"/>
                      </a:solidFill>
                    </p:spPr>
                  </p:pic>
                </p:oleObj>
              </mc:Fallback>
            </mc:AlternateContent>
          </a:graphicData>
        </a:graphic>
      </p:graphicFrame>
      <p:graphicFrame>
        <p:nvGraphicFramePr>
          <p:cNvPr id="35862" name="Object 6"/>
          <p:cNvGraphicFramePr>
            <a:graphicFrameLocks noChangeAspect="1"/>
          </p:cNvGraphicFramePr>
          <p:nvPr/>
        </p:nvGraphicFramePr>
        <p:xfrm>
          <a:off x="10057130" y="5102225"/>
          <a:ext cx="390525" cy="390525"/>
        </p:xfrm>
        <a:graphic>
          <a:graphicData uri="http://schemas.openxmlformats.org/presentationml/2006/ole">
            <mc:AlternateContent xmlns:mc="http://schemas.openxmlformats.org/markup-compatibility/2006">
              <mc:Choice xmlns:v="urn:schemas-microsoft-com:vml" Requires="v">
                <p:oleObj spid="_x0000_s44356" name="Equation" r:id="rId11" imgW="228600" imgH="228600" progId="">
                  <p:embed/>
                </p:oleObj>
              </mc:Choice>
              <mc:Fallback>
                <p:oleObj name="Equation" r:id="rId11" imgW="228600" imgH="2286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57130" y="5102225"/>
                        <a:ext cx="390525" cy="390525"/>
                      </a:xfrm>
                      <a:prstGeom prst="rect">
                        <a:avLst/>
                      </a:prstGeom>
                      <a:solidFill>
                        <a:srgbClr val="00FFFF"/>
                      </a:solidFill>
                    </p:spPr>
                  </p:pic>
                </p:oleObj>
              </mc:Fallback>
            </mc:AlternateContent>
          </a:graphicData>
        </a:graphic>
      </p:graphicFrame>
      <p:cxnSp>
        <p:nvCxnSpPr>
          <p:cNvPr id="17" name="直接连接符 16"/>
          <p:cNvCxnSpPr/>
          <p:nvPr/>
        </p:nvCxnSpPr>
        <p:spPr>
          <a:xfrm>
            <a:off x="3349943" y="4075113"/>
            <a:ext cx="6400800" cy="1587"/>
          </a:xfrm>
          <a:prstGeom prst="line">
            <a:avLst/>
          </a:prstGeom>
          <a:ln w="44450">
            <a:solidFill>
              <a:srgbClr val="FF0000"/>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35864" name="Object 7"/>
          <p:cNvGraphicFramePr>
            <a:graphicFrameLocks noChangeAspect="1"/>
          </p:cNvGraphicFramePr>
          <p:nvPr/>
        </p:nvGraphicFramePr>
        <p:xfrm>
          <a:off x="4713605" y="3763963"/>
          <a:ext cx="512763" cy="573087"/>
        </p:xfrm>
        <a:graphic>
          <a:graphicData uri="http://schemas.openxmlformats.org/presentationml/2006/ole">
            <mc:AlternateContent xmlns:mc="http://schemas.openxmlformats.org/markup-compatibility/2006">
              <mc:Choice xmlns:v="urn:schemas-microsoft-com:vml" Requires="v">
                <p:oleObj spid="_x0000_s44357" name="Equation" r:id="rId13" imgW="215640" imgH="241200" progId="">
                  <p:embed/>
                </p:oleObj>
              </mc:Choice>
              <mc:Fallback>
                <p:oleObj name="Equation" r:id="rId13" imgW="215640" imgH="241200"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3605" y="3763963"/>
                        <a:ext cx="512763" cy="573087"/>
                      </a:xfrm>
                      <a:prstGeom prst="rect">
                        <a:avLst/>
                      </a:prstGeom>
                      <a:solidFill>
                        <a:srgbClr val="00FFFF"/>
                      </a:solidFill>
                    </p:spPr>
                  </p:pic>
                </p:oleObj>
              </mc:Fallback>
            </mc:AlternateContent>
          </a:graphicData>
        </a:graphic>
      </p:graphicFrame>
      <p:sp>
        <p:nvSpPr>
          <p:cNvPr id="35865" name="Oval 41"/>
          <p:cNvSpPr>
            <a:spLocks noChangeAspect="1" noChangeArrowheads="1"/>
          </p:cNvSpPr>
          <p:nvPr/>
        </p:nvSpPr>
        <p:spPr bwMode="auto">
          <a:xfrm rot="773108">
            <a:off x="3437255" y="4686300"/>
            <a:ext cx="125413"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5866" name="Oval 41"/>
          <p:cNvSpPr>
            <a:spLocks noChangeAspect="1" noChangeArrowheads="1"/>
          </p:cNvSpPr>
          <p:nvPr/>
        </p:nvSpPr>
        <p:spPr bwMode="auto">
          <a:xfrm rot="773108">
            <a:off x="3883343" y="4686300"/>
            <a:ext cx="125412"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5867" name="Oval 41"/>
          <p:cNvSpPr>
            <a:spLocks noChangeAspect="1" noChangeArrowheads="1"/>
          </p:cNvSpPr>
          <p:nvPr/>
        </p:nvSpPr>
        <p:spPr bwMode="auto">
          <a:xfrm rot="773108">
            <a:off x="4331018" y="4686300"/>
            <a:ext cx="125412"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2" name="Oval 41"/>
          <p:cNvSpPr>
            <a:spLocks noChangeAspect="1" noChangeArrowheads="1"/>
          </p:cNvSpPr>
          <p:nvPr/>
        </p:nvSpPr>
        <p:spPr bwMode="auto">
          <a:xfrm rot="773108">
            <a:off x="4777105" y="4686300"/>
            <a:ext cx="125413"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3" name="Oval 41"/>
          <p:cNvSpPr>
            <a:spLocks noChangeAspect="1" noChangeArrowheads="1"/>
          </p:cNvSpPr>
          <p:nvPr/>
        </p:nvSpPr>
        <p:spPr bwMode="auto">
          <a:xfrm rot="773108">
            <a:off x="5224780" y="4686300"/>
            <a:ext cx="125413"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4" name="Oval 41"/>
          <p:cNvSpPr>
            <a:spLocks noChangeAspect="1" noChangeArrowheads="1"/>
          </p:cNvSpPr>
          <p:nvPr/>
        </p:nvSpPr>
        <p:spPr bwMode="auto">
          <a:xfrm rot="773108">
            <a:off x="5670868" y="4686300"/>
            <a:ext cx="125412"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5" name="Oval 57"/>
          <p:cNvSpPr>
            <a:spLocks noChangeAspect="1" noChangeArrowheads="1"/>
          </p:cNvSpPr>
          <p:nvPr/>
        </p:nvSpPr>
        <p:spPr bwMode="auto">
          <a:xfrm rot="-4849534">
            <a:off x="7211537" y="3499644"/>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26" name="Oval 57"/>
          <p:cNvSpPr>
            <a:spLocks noChangeAspect="1" noChangeArrowheads="1"/>
          </p:cNvSpPr>
          <p:nvPr/>
        </p:nvSpPr>
        <p:spPr bwMode="auto">
          <a:xfrm rot="-4849534">
            <a:off x="7667149" y="3499644"/>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27" name="Oval 57"/>
          <p:cNvSpPr>
            <a:spLocks noChangeAspect="1" noChangeArrowheads="1"/>
          </p:cNvSpPr>
          <p:nvPr/>
        </p:nvSpPr>
        <p:spPr bwMode="auto">
          <a:xfrm rot="-4849534">
            <a:off x="8122762" y="3499644"/>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5874" name="Oval 57"/>
          <p:cNvSpPr>
            <a:spLocks noChangeAspect="1" noChangeArrowheads="1"/>
          </p:cNvSpPr>
          <p:nvPr/>
        </p:nvSpPr>
        <p:spPr bwMode="auto">
          <a:xfrm rot="-4849534">
            <a:off x="8578374" y="3499644"/>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5875" name="Oval 57"/>
          <p:cNvSpPr>
            <a:spLocks noChangeAspect="1" noChangeArrowheads="1"/>
          </p:cNvSpPr>
          <p:nvPr/>
        </p:nvSpPr>
        <p:spPr bwMode="auto">
          <a:xfrm rot="-4849534">
            <a:off x="9033987" y="3499644"/>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5876" name="Oval 57"/>
          <p:cNvSpPr>
            <a:spLocks noChangeAspect="1" noChangeArrowheads="1"/>
          </p:cNvSpPr>
          <p:nvPr/>
        </p:nvSpPr>
        <p:spPr bwMode="auto">
          <a:xfrm rot="-4849534">
            <a:off x="9489599" y="3499644"/>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5877" name="Line 6"/>
          <p:cNvSpPr>
            <a:spLocks noChangeShapeType="1"/>
          </p:cNvSpPr>
          <p:nvPr/>
        </p:nvSpPr>
        <p:spPr bwMode="auto">
          <a:xfrm flipH="1">
            <a:off x="5913755" y="3848100"/>
            <a:ext cx="720725" cy="0"/>
          </a:xfrm>
          <a:prstGeom prst="line">
            <a:avLst/>
          </a:prstGeom>
          <a:noFill/>
          <a:ln w="76200">
            <a:solidFill>
              <a:schemeClr val="tx1"/>
            </a:solidFill>
            <a:round/>
            <a:headEnd/>
            <a:tailEnd type="triangle" w="med" len="med"/>
          </a:ln>
        </p:spPr>
        <p:txBody>
          <a:bodyPr/>
          <a:lstStyle/>
          <a:p>
            <a:endParaRPr lang="zh-CN" altLang="en-US"/>
          </a:p>
        </p:txBody>
      </p:sp>
      <p:sp>
        <p:nvSpPr>
          <p:cNvPr id="35878" name="Text Box 7"/>
          <p:cNvSpPr txBox="1">
            <a:spLocks noChangeArrowheads="1"/>
          </p:cNvSpPr>
          <p:nvPr/>
        </p:nvSpPr>
        <p:spPr bwMode="auto">
          <a:xfrm>
            <a:off x="5291455" y="3270250"/>
            <a:ext cx="488950" cy="641350"/>
          </a:xfrm>
          <a:prstGeom prst="rect">
            <a:avLst/>
          </a:prstGeom>
          <a:noFill/>
          <a:ln w="9525">
            <a:noFill/>
            <a:miter lim="800000"/>
            <a:headEnd/>
            <a:tailEnd/>
          </a:ln>
        </p:spPr>
        <p:txBody>
          <a:bodyPr>
            <a:spAutoFit/>
          </a:bodyPr>
          <a:lstStyle/>
          <a:p>
            <a:pPr defTabSz="914400">
              <a:spcBef>
                <a:spcPct val="50000"/>
              </a:spcBef>
            </a:pPr>
            <a:r>
              <a:rPr lang="en-US" altLang="zh-CN" sz="3600" b="1">
                <a:latin typeface="Times New Roman" pitchFamily="18" charset="0"/>
              </a:rPr>
              <a:t>E</a:t>
            </a:r>
          </a:p>
        </p:txBody>
      </p:sp>
      <p:sp>
        <p:nvSpPr>
          <p:cNvPr id="35" name="TextBox 34"/>
          <p:cNvSpPr txBox="1">
            <a:spLocks noChangeArrowheads="1"/>
          </p:cNvSpPr>
          <p:nvPr/>
        </p:nvSpPr>
        <p:spPr bwMode="auto">
          <a:xfrm>
            <a:off x="5824855" y="3981450"/>
            <a:ext cx="1111250" cy="427038"/>
          </a:xfrm>
          <a:prstGeom prst="rect">
            <a:avLst/>
          </a:prstGeom>
          <a:noFill/>
          <a:ln w="9525">
            <a:noFill/>
            <a:miter lim="800000"/>
            <a:headEnd/>
            <a:tailEnd/>
          </a:ln>
        </p:spPr>
        <p:txBody>
          <a:bodyPr lIns="0" tIns="0" rIns="0" bIns="0">
            <a:spAutoFit/>
          </a:bodyPr>
          <a:lstStyle/>
          <a:p>
            <a:pPr algn="ctr" defTabSz="914400"/>
            <a:r>
              <a:rPr lang="zh-CN" altLang="en-US" sz="2800" b="1">
                <a:latin typeface="黑体" pitchFamily="2" charset="-122"/>
                <a:ea typeface="黑体" pitchFamily="2" charset="-122"/>
              </a:rPr>
              <a:t>电场力</a:t>
            </a:r>
          </a:p>
        </p:txBody>
      </p:sp>
      <p:sp>
        <p:nvSpPr>
          <p:cNvPr id="39" name="文本框 60">
            <a:extLst>
              <a:ext uri="{FF2B5EF4-FFF2-40B4-BE49-F238E27FC236}">
                <a16:creationId xmlns="" xmlns:a16="http://schemas.microsoft.com/office/drawing/2014/main" id="{5DA6329C-CB39-45E4-9133-8F676B7686A8}"/>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40" name="矩形 39">
            <a:extLst>
              <a:ext uri="{FF2B5EF4-FFF2-40B4-BE49-F238E27FC236}">
                <a16:creationId xmlns="" xmlns:a16="http://schemas.microsoft.com/office/drawing/2014/main" id="{B371AB33-9C8B-4E15-A569-CC2B7F3D1DA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3" name="矩形 42">
            <a:extLst>
              <a:ext uri="{FF2B5EF4-FFF2-40B4-BE49-F238E27FC236}">
                <a16:creationId xmlns="" xmlns:a16="http://schemas.microsoft.com/office/drawing/2014/main" id="{53829E86-2936-41B6-9CEA-13B863B0B77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 xmlns:a16="http://schemas.microsoft.com/office/drawing/2014/main" id="{54F2C50D-D0C6-43AE-8AF7-FE0D64C8416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5" name="直接连接符 58">
            <a:extLst>
              <a:ext uri="{FF2B5EF4-FFF2-40B4-BE49-F238E27FC236}">
                <a16:creationId xmlns="" xmlns:a16="http://schemas.microsoft.com/office/drawing/2014/main" id="{2C834405-A85F-480B-A80F-2294FAECE44B}"/>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 xmlns:a16="http://schemas.microsoft.com/office/drawing/2014/main" id="{668778F1-9982-4FCC-9293-EDD0DAA6A375}"/>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7" name="矩形 46">
            <a:extLst>
              <a:ext uri="{FF2B5EF4-FFF2-40B4-BE49-F238E27FC236}">
                <a16:creationId xmlns="" xmlns:a16="http://schemas.microsoft.com/office/drawing/2014/main" id="{16228EC7-5F58-46F2-AA33-0D85F94A35B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131193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ox(in)">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1.85185E-7 -4.56061E-6 C 0.00683 0.00021 0.01389 0.00103 0.0228 0.00927 C 0.03183 0.0175 0.04514 0.0389 0.05347 0.0494 C 0.06204 0.0601 0.06539 0.06586 0.07384 0.07245 C 0.08229 0.07924 0.0912 0.08562 0.10463 0.08973 C 0.11794 0.09385 0.12292 0.09611 0.15382 0.09756 C 0.18472 0.099 0.23738 0.09817 0.29028 0.09756 " pathEditMode="relative" rAng="0" ptsTypes="aaaaaaA">
                                      <p:cBhvr>
                                        <p:cTn id="11" dur="2000" fill="hold"/>
                                        <p:tgtEl>
                                          <p:spTgt spid="24"/>
                                        </p:tgtEl>
                                        <p:attrNameLst>
                                          <p:attrName>ppt_x</p:attrName>
                                          <p:attrName>ppt_y</p:attrName>
                                        </p:attrNameLst>
                                      </p:cBhvr>
                                      <p:rCtr x="14514" y="4939"/>
                                    </p:animMotion>
                                  </p:childTnLst>
                                </p:cTn>
                              </p:par>
                              <p:par>
                                <p:cTn id="12" presetID="0" presetClass="path" presetSubtype="0" accel="50000" decel="50000" fill="hold" grpId="0" nodeType="withEffect">
                                  <p:stCondLst>
                                    <p:cond delay="0"/>
                                  </p:stCondLst>
                                  <p:childTnLst>
                                    <p:animMotion origin="layout" path="M 0.00047 0.00021 C -0.00763 0.00186 -0.01574 0.00371 -0.02361 0.00021 C -0.03159 -0.00329 -0.04027 -0.01235 -0.04687 -0.02017 C -0.05347 -0.02799 -0.05648 -0.03663 -0.06331 -0.04692 C -0.07025 -0.05742 -0.0802 -0.07265 -0.08819 -0.08273 C -0.09618 -0.09302 -0.10312 -0.10187 -0.11145 -0.10804 C -0.11967 -0.11422 -0.12893 -0.11875 -0.13807 -0.1206 C -0.14722 -0.12245 -0.14351 -0.11916 -0.16655 -0.11895 C -0.18946 -0.11875 -0.23275 -0.11895 -0.27569 -0.11895 " pathEditMode="relative" rAng="0" ptsTypes="aaaaaaaaA">
                                      <p:cBhvr>
                                        <p:cTn id="13" dur="2000" fill="hold"/>
                                        <p:tgtEl>
                                          <p:spTgt spid="25"/>
                                        </p:tgtEl>
                                        <p:attrNameLst>
                                          <p:attrName>ppt_x</p:attrName>
                                          <p:attrName>ppt_y</p:attrName>
                                        </p:attrNameLst>
                                      </p:cBhvr>
                                      <p:rCtr x="-13808" y="-5968"/>
                                    </p:animMotion>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0" nodeType="clickEffect">
                                  <p:stCondLst>
                                    <p:cond delay="0"/>
                                  </p:stCondLst>
                                  <p:childTnLst>
                                    <p:animMotion origin="layout" path="M 3.33333E-6 -0.00041 C 0.01493 -0.00391 0.03021 -0.0074 0.04444 -0.00041 C 0.05879 0.007 0.07419 0.03005 0.08541 0.04322 C 0.09664 0.05722 0.09965 0.07204 0.11238 0.08089 C 0.12534 0.08994 0.14247 0.09385 0.1625 0.09653 C 0.18264 0.09941 0.21273 0.09653 0.23252 0.09653 C 0.25208 0.09653 0.26643 0.09653 0.2809 0.09653 " pathEditMode="relative" rAng="0" ptsTypes="aaaaaaA">
                                      <p:cBhvr>
                                        <p:cTn id="17" dur="2000" fill="hold"/>
                                        <p:tgtEl>
                                          <p:spTgt spid="23"/>
                                        </p:tgtEl>
                                        <p:attrNameLst>
                                          <p:attrName>ppt_x</p:attrName>
                                          <p:attrName>ppt_y</p:attrName>
                                        </p:attrNameLst>
                                      </p:cBhvr>
                                      <p:rCtr x="14039" y="4631"/>
                                    </p:animMotion>
                                  </p:childTnLst>
                                </p:cTn>
                              </p:par>
                              <p:par>
                                <p:cTn id="18" presetID="0" presetClass="path" presetSubtype="0" accel="50000" decel="50000" fill="hold" grpId="0" nodeType="withEffect">
                                  <p:stCondLst>
                                    <p:cond delay="0"/>
                                  </p:stCondLst>
                                  <p:childTnLst>
                                    <p:animMotion origin="layout" path="M -3.88889E-6 7.7588E-7 C -0.01226 0.00062 -0.0243 0.00144 -0.03483 -0.00144 C -0.04537 -0.00412 -0.04988 -0.0035 -0.06331 -0.01708 C -0.07673 -0.03087 -0.10358 -0.0673 -0.11574 -0.08315 C -0.12801 -0.09879 -0.1272 -0.10434 -0.13692 -0.11134 C -0.14664 -0.11813 -0.15347 -0.12328 -0.17442 -0.12534 C -0.19548 -0.12739 -0.22893 -0.12554 -0.26261 -0.12369 " pathEditMode="relative" rAng="0" ptsTypes="aaaaaaA">
                                      <p:cBhvr>
                                        <p:cTn id="19" dur="2000" fill="hold"/>
                                        <p:tgtEl>
                                          <p:spTgt spid="26"/>
                                        </p:tgtEl>
                                        <p:attrNameLst>
                                          <p:attrName>ppt_x</p:attrName>
                                          <p:attrName>ppt_y</p:attrName>
                                        </p:attrNameLst>
                                      </p:cBhvr>
                                      <p:rCtr x="-13137" y="-6298"/>
                                    </p:animMotion>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grpId="0" nodeType="clickEffect">
                                  <p:stCondLst>
                                    <p:cond delay="0"/>
                                  </p:stCondLst>
                                  <p:childTnLst>
                                    <p:animMotion origin="layout" path="M -0.00047 0.00083 C 0.02581 -4.56061E-6 0.05243 -0.00041 0.0669 0.00083 C 0.08125 0.00206 0.07974 0.00577 0.08599 0.00824 C 0.09224 0.0105 0.09433 0.00803 0.10416 0.01523 C 0.114 0.02264 0.13368 0.0424 0.14433 0.05228 C 0.15509 0.06195 0.15393 0.0671 0.16863 0.07409 C 0.18333 0.08109 0.21435 0.08994 0.2331 0.09344 C 0.25185 0.09694 0.26643 0.09591 0.28136 0.09467 " pathEditMode="relative" rAng="0" ptsTypes="aaaaaaaA">
                                      <p:cBhvr>
                                        <p:cTn id="23" dur="2000" fill="hold"/>
                                        <p:tgtEl>
                                          <p:spTgt spid="22"/>
                                        </p:tgtEl>
                                        <p:attrNameLst>
                                          <p:attrName>ppt_x</p:attrName>
                                          <p:attrName>ppt_y</p:attrName>
                                        </p:attrNameLst>
                                      </p:cBhvr>
                                      <p:rCtr x="14086" y="4733"/>
                                    </p:animMotion>
                                  </p:childTnLst>
                                </p:cTn>
                              </p:par>
                              <p:par>
                                <p:cTn id="24" presetID="0" presetClass="path" presetSubtype="0" accel="50000" decel="50000" fill="hold" grpId="0" nodeType="withEffect">
                                  <p:stCondLst>
                                    <p:cond delay="0"/>
                                  </p:stCondLst>
                                  <p:childTnLst>
                                    <p:animMotion origin="layout" path="M 9.25926E-7 -0.0002 C -0.01296 -0.0002 -0.02593 -2.79481E-6 -0.04271 -0.0002 C -0.05938 -0.00041 -0.08449 0.00577 -0.10081 -0.00185 C -0.11713 -0.00926 -0.12732 -0.02819 -0.14051 -0.04466 C -0.15382 -0.06092 -0.17083 -0.08829 -0.18114 -0.09981 C -0.19144 -0.11154 -0.19016 -0.11051 -0.20243 -0.11401 C -0.21482 -0.11772 -0.23484 -0.11998 -0.25475 -0.12204 " pathEditMode="relative" rAng="0" ptsTypes="aaaaaaA">
                                      <p:cBhvr>
                                        <p:cTn id="25" dur="2000" fill="hold"/>
                                        <p:tgtEl>
                                          <p:spTgt spid="27"/>
                                        </p:tgtEl>
                                        <p:attrNameLst>
                                          <p:attrName>ppt_x</p:attrName>
                                          <p:attrName>ppt_y</p:attrName>
                                        </p:attrNameLst>
                                      </p:cBhvr>
                                      <p:rCtr x="-12743" y="-580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2606419" y="3552994"/>
            <a:ext cx="8833309" cy="733086"/>
          </a:xfrm>
          <a:prstGeom prst="rect">
            <a:avLst/>
          </a:prstGeom>
          <a:solidFill>
            <a:srgbClr val="FFC000"/>
          </a:solidFill>
          <a:ln w="9525">
            <a:noFill/>
            <a:miter lim="800000"/>
            <a:headEnd/>
            <a:tailEnd/>
          </a:ln>
        </p:spPr>
        <p:txBody>
          <a:bodyPr wrap="square" lIns="0" tIns="0" rIns="0" bIns="0" anchor="ctr">
            <a:spAutoFit/>
          </a:bodyPr>
          <a:lstStyle/>
          <a:p>
            <a:pPr algn="ctr" defTabSz="914400">
              <a:lnSpc>
                <a:spcPct val="150000"/>
              </a:lnSpc>
            </a:pPr>
            <a:r>
              <a:rPr lang="en-US" altLang="zh-CN" sz="3600" b="1" dirty="0">
                <a:solidFill>
                  <a:srgbClr val="0000CC"/>
                </a:solidFill>
                <a:latin typeface="微软雅黑" pitchFamily="34" charset="-122"/>
                <a:ea typeface="微软雅黑" pitchFamily="34" charset="-122"/>
                <a:cs typeface="Times New Roman" pitchFamily="18" charset="0"/>
              </a:rPr>
              <a:t>3 PN</a:t>
            </a:r>
            <a:r>
              <a:rPr lang="zh-CN" altLang="en-US" sz="3600" b="1" dirty="0">
                <a:solidFill>
                  <a:srgbClr val="0000CC"/>
                </a:solidFill>
                <a:latin typeface="微软雅黑" pitchFamily="34" charset="-122"/>
                <a:ea typeface="微软雅黑" pitchFamily="34" charset="-122"/>
                <a:cs typeface="Times New Roman" pitchFamily="18" charset="0"/>
              </a:rPr>
              <a:t>结电荷、电场、电势和电势能分布</a:t>
            </a:r>
          </a:p>
        </p:txBody>
      </p:sp>
      <p:sp>
        <p:nvSpPr>
          <p:cNvPr id="8" name="文本框 60">
            <a:extLst>
              <a:ext uri="{FF2B5EF4-FFF2-40B4-BE49-F238E27FC236}">
                <a16:creationId xmlns="" xmlns:a16="http://schemas.microsoft.com/office/drawing/2014/main" id="{76670138-9AA8-48A4-837F-378123DDE74E}"/>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9" name="矩形 8">
            <a:extLst>
              <a:ext uri="{FF2B5EF4-FFF2-40B4-BE49-F238E27FC236}">
                <a16:creationId xmlns="" xmlns:a16="http://schemas.microsoft.com/office/drawing/2014/main" id="{B2191245-8B4F-4CF8-AE53-C4832DA1A9B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 xmlns:a16="http://schemas.microsoft.com/office/drawing/2014/main" id="{2F6F2DEF-5DDB-4BF7-9FA9-954FF2DD1BC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 xmlns:a16="http://schemas.microsoft.com/office/drawing/2014/main" id="{B7F38042-282F-4452-9642-914FE95009F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4" name="直接连接符 58">
            <a:extLst>
              <a:ext uri="{FF2B5EF4-FFF2-40B4-BE49-F238E27FC236}">
                <a16:creationId xmlns="" xmlns:a16="http://schemas.microsoft.com/office/drawing/2014/main" id="{16ECF956-1ADD-4EB2-A04C-A6EC192F400D}"/>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 xmlns:a16="http://schemas.microsoft.com/office/drawing/2014/main" id="{A82C6694-9536-4239-BA13-F444525C3F5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6" name="矩形 15">
            <a:extLst>
              <a:ext uri="{FF2B5EF4-FFF2-40B4-BE49-F238E27FC236}">
                <a16:creationId xmlns="" xmlns:a16="http://schemas.microsoft.com/office/drawing/2014/main" id="{D21CE257-BED9-4D21-93A2-63A57DDFEAE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04495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46"/>
          <p:cNvSpPr txBox="1">
            <a:spLocks noChangeArrowheads="1"/>
          </p:cNvSpPr>
          <p:nvPr/>
        </p:nvSpPr>
        <p:spPr bwMode="auto">
          <a:xfrm>
            <a:off x="1677670" y="1517650"/>
            <a:ext cx="208915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楷体_GB2312" pitchFamily="49" charset="-122"/>
                <a:cs typeface="Times New Roman" pitchFamily="18" charset="0"/>
              </a:rPr>
              <a:t>Neutral p-region</a:t>
            </a:r>
            <a:endParaRPr lang="zh-CN" altLang="en-US" b="1">
              <a:latin typeface="Times New Roman" pitchFamily="18" charset="0"/>
              <a:ea typeface="楷体_GB2312" pitchFamily="49" charset="-122"/>
              <a:cs typeface="Times New Roman" pitchFamily="18" charset="0"/>
            </a:endParaRPr>
          </a:p>
        </p:txBody>
      </p:sp>
      <p:sp>
        <p:nvSpPr>
          <p:cNvPr id="12291" name="TextBox 347"/>
          <p:cNvSpPr txBox="1">
            <a:spLocks noChangeArrowheads="1"/>
          </p:cNvSpPr>
          <p:nvPr/>
        </p:nvSpPr>
        <p:spPr bwMode="auto">
          <a:xfrm>
            <a:off x="4293870" y="1471930"/>
            <a:ext cx="2000250" cy="396875"/>
          </a:xfrm>
          <a:prstGeom prst="rect">
            <a:avLst/>
          </a:prstGeom>
          <a:noFill/>
          <a:ln w="9525">
            <a:noFill/>
            <a:miter lim="800000"/>
            <a:headEnd/>
            <a:tailEnd/>
          </a:ln>
        </p:spPr>
        <p:txBody>
          <a:bodyPr>
            <a:spAutoFit/>
          </a:bodyPr>
          <a:lstStyle/>
          <a:p>
            <a:pPr defTabSz="914400"/>
            <a:r>
              <a:rPr lang="en-US" altLang="zh-CN" b="1" dirty="0">
                <a:latin typeface="Times New Roman" pitchFamily="18" charset="0"/>
                <a:ea typeface="楷体_GB2312" pitchFamily="49" charset="-122"/>
                <a:cs typeface="Times New Roman" pitchFamily="18" charset="0"/>
              </a:rPr>
              <a:t>Neutral n-region</a:t>
            </a:r>
            <a:endParaRPr lang="zh-CN" altLang="en-US" b="1" dirty="0">
              <a:latin typeface="Times New Roman" pitchFamily="18" charset="0"/>
              <a:ea typeface="楷体_GB2312" pitchFamily="49" charset="-122"/>
              <a:cs typeface="Times New Roman" pitchFamily="18" charset="0"/>
            </a:endParaRPr>
          </a:p>
        </p:txBody>
      </p:sp>
      <p:sp>
        <p:nvSpPr>
          <p:cNvPr id="12292" name="TextBox 348"/>
          <p:cNvSpPr txBox="1">
            <a:spLocks noChangeArrowheads="1"/>
          </p:cNvSpPr>
          <p:nvPr/>
        </p:nvSpPr>
        <p:spPr bwMode="auto">
          <a:xfrm>
            <a:off x="3722370" y="1473200"/>
            <a:ext cx="6223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E</a:t>
            </a:r>
            <a:r>
              <a:rPr lang="en-US" altLang="zh-CN" sz="2800" b="1" baseline="-25000">
                <a:latin typeface="Times New Roman" pitchFamily="18" charset="0"/>
                <a:ea typeface="楷体_GB2312" pitchFamily="49" charset="-122"/>
                <a:cs typeface="Times New Roman" pitchFamily="18" charset="0"/>
              </a:rPr>
              <a:t>o</a:t>
            </a:r>
            <a:endParaRPr lang="zh-CN" altLang="en-US" sz="2800" b="1" baseline="-25000">
              <a:latin typeface="Times New Roman" pitchFamily="18" charset="0"/>
              <a:ea typeface="楷体_GB2312" pitchFamily="49" charset="-122"/>
              <a:cs typeface="Times New Roman" pitchFamily="18" charset="0"/>
            </a:endParaRPr>
          </a:p>
        </p:txBody>
      </p:sp>
      <p:sp>
        <p:nvSpPr>
          <p:cNvPr id="12293" name="TextBox 351"/>
          <p:cNvSpPr txBox="1">
            <a:spLocks noChangeArrowheads="1"/>
          </p:cNvSpPr>
          <p:nvPr/>
        </p:nvSpPr>
        <p:spPr bwMode="auto">
          <a:xfrm>
            <a:off x="9190990" y="1295400"/>
            <a:ext cx="2266950" cy="366713"/>
          </a:xfrm>
          <a:prstGeom prst="rect">
            <a:avLst/>
          </a:prstGeom>
          <a:noFill/>
          <a:ln w="9525">
            <a:noFill/>
            <a:miter lim="800000"/>
            <a:headEnd/>
            <a:tailEnd/>
          </a:ln>
        </p:spPr>
        <p:txBody>
          <a:bodyPr>
            <a:spAutoFit/>
          </a:bodyPr>
          <a:lstStyle/>
          <a:p>
            <a:pPr defTabSz="914400"/>
            <a:r>
              <a:rPr lang="en-US" altLang="zh-CN" sz="1800" b="1">
                <a:latin typeface="Times New Roman" pitchFamily="18" charset="0"/>
                <a:ea typeface="楷体_GB2312" pitchFamily="49" charset="-122"/>
                <a:cs typeface="Times New Roman" pitchFamily="18" charset="0"/>
              </a:rPr>
              <a:t>Space charge region</a:t>
            </a:r>
            <a:endParaRPr lang="zh-CN" altLang="en-US" sz="1800" b="1">
              <a:latin typeface="Times New Roman" pitchFamily="18" charset="0"/>
              <a:ea typeface="楷体_GB2312" pitchFamily="49" charset="-122"/>
              <a:cs typeface="Times New Roman" pitchFamily="18" charset="0"/>
            </a:endParaRPr>
          </a:p>
        </p:txBody>
      </p:sp>
      <p:grpSp>
        <p:nvGrpSpPr>
          <p:cNvPr id="2" name="组合 355"/>
          <p:cNvGrpSpPr>
            <a:grpSpLocks/>
          </p:cNvGrpSpPr>
          <p:nvPr/>
        </p:nvGrpSpPr>
        <p:grpSpPr bwMode="auto">
          <a:xfrm>
            <a:off x="2441258" y="2163763"/>
            <a:ext cx="2797175" cy="833437"/>
            <a:chOff x="1557338" y="1674813"/>
            <a:chExt cx="2797175" cy="833437"/>
          </a:xfrm>
        </p:grpSpPr>
        <p:sp>
          <p:nvSpPr>
            <p:cNvPr id="37901" name="Rectangle 5"/>
            <p:cNvSpPr>
              <a:spLocks noChangeArrowheads="1"/>
            </p:cNvSpPr>
            <p:nvPr/>
          </p:nvSpPr>
          <p:spPr bwMode="auto">
            <a:xfrm>
              <a:off x="1557338" y="1674813"/>
              <a:ext cx="2797175" cy="833437"/>
            </a:xfrm>
            <a:prstGeom prst="rect">
              <a:avLst/>
            </a:prstGeom>
            <a:solidFill>
              <a:srgbClr val="FFFFFF"/>
            </a:solidFill>
            <a:ln w="381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02" name="组合 345"/>
            <p:cNvGrpSpPr>
              <a:grpSpLocks/>
            </p:cNvGrpSpPr>
            <p:nvPr/>
          </p:nvGrpSpPr>
          <p:grpSpPr bwMode="auto">
            <a:xfrm>
              <a:off x="1657350" y="1695450"/>
              <a:ext cx="160338" cy="261938"/>
              <a:chOff x="3708391" y="4698272"/>
              <a:chExt cx="265290" cy="436662"/>
            </a:xfrm>
          </p:grpSpPr>
          <p:sp>
            <p:nvSpPr>
              <p:cNvPr id="37903"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04" name="组合 127"/>
              <p:cNvGrpSpPr>
                <a:grpSpLocks/>
              </p:cNvGrpSpPr>
              <p:nvPr/>
            </p:nvGrpSpPr>
            <p:grpSpPr bwMode="auto">
              <a:xfrm>
                <a:off x="3723561" y="4885168"/>
                <a:ext cx="250120" cy="249766"/>
                <a:chOff x="3723561" y="4885168"/>
                <a:chExt cx="250120" cy="249766"/>
              </a:xfrm>
            </p:grpSpPr>
            <p:sp>
              <p:nvSpPr>
                <p:cNvPr id="3790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0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7907" name="组合 129"/>
            <p:cNvGrpSpPr>
              <a:grpSpLocks/>
            </p:cNvGrpSpPr>
            <p:nvPr/>
          </p:nvGrpSpPr>
          <p:grpSpPr bwMode="auto">
            <a:xfrm rot="-3967890">
              <a:off x="4071938" y="1698625"/>
              <a:ext cx="152400" cy="263525"/>
              <a:chOff x="5149850" y="4703444"/>
              <a:chExt cx="253825" cy="434955"/>
            </a:xfrm>
          </p:grpSpPr>
          <p:sp>
            <p:nvSpPr>
              <p:cNvPr id="3790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7909" name="组合 128"/>
              <p:cNvGrpSpPr>
                <a:grpSpLocks/>
              </p:cNvGrpSpPr>
              <p:nvPr/>
            </p:nvGrpSpPr>
            <p:grpSpPr bwMode="auto">
              <a:xfrm>
                <a:off x="5149850" y="4865143"/>
                <a:ext cx="249687" cy="273256"/>
                <a:chOff x="5149850" y="4865143"/>
                <a:chExt cx="249687" cy="273256"/>
              </a:xfrm>
            </p:grpSpPr>
            <p:sp>
              <p:nvSpPr>
                <p:cNvPr id="3791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1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1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7913" name="组合 255"/>
            <p:cNvGrpSpPr>
              <a:grpSpLocks/>
            </p:cNvGrpSpPr>
            <p:nvPr/>
          </p:nvGrpSpPr>
          <p:grpSpPr bwMode="auto">
            <a:xfrm rot="4565890">
              <a:off x="3851276" y="1914525"/>
              <a:ext cx="152400" cy="263525"/>
              <a:chOff x="5149850" y="4703444"/>
              <a:chExt cx="253825" cy="434955"/>
            </a:xfrm>
          </p:grpSpPr>
          <p:sp>
            <p:nvSpPr>
              <p:cNvPr id="3791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15" name="组合 128"/>
              <p:cNvGrpSpPr>
                <a:grpSpLocks/>
              </p:cNvGrpSpPr>
              <p:nvPr/>
            </p:nvGrpSpPr>
            <p:grpSpPr bwMode="auto">
              <a:xfrm>
                <a:off x="5149850" y="4865143"/>
                <a:ext cx="249687" cy="273256"/>
                <a:chOff x="5149850" y="4865143"/>
                <a:chExt cx="249687" cy="273256"/>
              </a:xfrm>
            </p:grpSpPr>
            <p:sp>
              <p:nvSpPr>
                <p:cNvPr id="3791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1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1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7919" name="组合 261"/>
            <p:cNvGrpSpPr>
              <a:grpSpLocks/>
            </p:cNvGrpSpPr>
            <p:nvPr/>
          </p:nvGrpSpPr>
          <p:grpSpPr bwMode="auto">
            <a:xfrm rot="2189922">
              <a:off x="4097338" y="1949450"/>
              <a:ext cx="153987" cy="261938"/>
              <a:chOff x="5149850" y="4703444"/>
              <a:chExt cx="253825" cy="434955"/>
            </a:xfrm>
          </p:grpSpPr>
          <p:sp>
            <p:nvSpPr>
              <p:cNvPr id="3792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21" name="组合 128"/>
              <p:cNvGrpSpPr>
                <a:grpSpLocks/>
              </p:cNvGrpSpPr>
              <p:nvPr/>
            </p:nvGrpSpPr>
            <p:grpSpPr bwMode="auto">
              <a:xfrm>
                <a:off x="5149850" y="4865143"/>
                <a:ext cx="249687" cy="273256"/>
                <a:chOff x="5149850" y="4865143"/>
                <a:chExt cx="249687" cy="273256"/>
              </a:xfrm>
            </p:grpSpPr>
            <p:sp>
              <p:nvSpPr>
                <p:cNvPr id="3792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2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2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7925" name="组合 267"/>
            <p:cNvGrpSpPr>
              <a:grpSpLocks/>
            </p:cNvGrpSpPr>
            <p:nvPr/>
          </p:nvGrpSpPr>
          <p:grpSpPr bwMode="auto">
            <a:xfrm rot="-5967303">
              <a:off x="3816351" y="1684337"/>
              <a:ext cx="152400" cy="263525"/>
              <a:chOff x="5149850" y="4703444"/>
              <a:chExt cx="253825" cy="434955"/>
            </a:xfrm>
          </p:grpSpPr>
          <p:sp>
            <p:nvSpPr>
              <p:cNvPr id="3792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7927" name="组合 128"/>
              <p:cNvGrpSpPr>
                <a:grpSpLocks/>
              </p:cNvGrpSpPr>
              <p:nvPr/>
            </p:nvGrpSpPr>
            <p:grpSpPr bwMode="auto">
              <a:xfrm>
                <a:off x="5149850" y="4865143"/>
                <a:ext cx="249687" cy="273256"/>
                <a:chOff x="5149850" y="4865143"/>
                <a:chExt cx="249687" cy="273256"/>
              </a:xfrm>
            </p:grpSpPr>
            <p:sp>
              <p:nvSpPr>
                <p:cNvPr id="3792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2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3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7931" name="组合 273"/>
            <p:cNvGrpSpPr>
              <a:grpSpLocks/>
            </p:cNvGrpSpPr>
            <p:nvPr/>
          </p:nvGrpSpPr>
          <p:grpSpPr bwMode="auto">
            <a:xfrm>
              <a:off x="3835400" y="2166938"/>
              <a:ext cx="153988" cy="261937"/>
              <a:chOff x="5149850" y="4703444"/>
              <a:chExt cx="253825" cy="434955"/>
            </a:xfrm>
          </p:grpSpPr>
          <p:sp>
            <p:nvSpPr>
              <p:cNvPr id="3793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33" name="组合 128"/>
              <p:cNvGrpSpPr>
                <a:grpSpLocks/>
              </p:cNvGrpSpPr>
              <p:nvPr/>
            </p:nvGrpSpPr>
            <p:grpSpPr bwMode="auto">
              <a:xfrm>
                <a:off x="5149850" y="4865143"/>
                <a:ext cx="249687" cy="273256"/>
                <a:chOff x="5149850" y="4865143"/>
                <a:chExt cx="249687" cy="273256"/>
              </a:xfrm>
            </p:grpSpPr>
            <p:sp>
              <p:nvSpPr>
                <p:cNvPr id="3793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3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3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7937" name="组合 279"/>
            <p:cNvGrpSpPr>
              <a:grpSpLocks/>
            </p:cNvGrpSpPr>
            <p:nvPr/>
          </p:nvGrpSpPr>
          <p:grpSpPr bwMode="auto">
            <a:xfrm rot="953232">
              <a:off x="4130675" y="2190750"/>
              <a:ext cx="153988" cy="261938"/>
              <a:chOff x="5149850" y="4703444"/>
              <a:chExt cx="253825" cy="434955"/>
            </a:xfrm>
          </p:grpSpPr>
          <p:sp>
            <p:nvSpPr>
              <p:cNvPr id="3793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39" name="组合 128"/>
              <p:cNvGrpSpPr>
                <a:grpSpLocks/>
              </p:cNvGrpSpPr>
              <p:nvPr/>
            </p:nvGrpSpPr>
            <p:grpSpPr bwMode="auto">
              <a:xfrm>
                <a:off x="5149850" y="4865143"/>
                <a:ext cx="249687" cy="273256"/>
                <a:chOff x="5149850" y="4865143"/>
                <a:chExt cx="249687" cy="273256"/>
              </a:xfrm>
            </p:grpSpPr>
            <p:sp>
              <p:nvSpPr>
                <p:cNvPr id="3794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4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4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7943" name="组合 128"/>
            <p:cNvGrpSpPr>
              <a:grpSpLocks/>
            </p:cNvGrpSpPr>
            <p:nvPr/>
          </p:nvGrpSpPr>
          <p:grpSpPr bwMode="auto">
            <a:xfrm>
              <a:off x="3060700" y="1754188"/>
              <a:ext cx="150813" cy="165100"/>
              <a:chOff x="5149850" y="4865143"/>
              <a:chExt cx="249687" cy="273256"/>
            </a:xfrm>
          </p:grpSpPr>
          <p:sp>
            <p:nvSpPr>
              <p:cNvPr id="3794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4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4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7947" name="组合 128"/>
            <p:cNvGrpSpPr>
              <a:grpSpLocks/>
            </p:cNvGrpSpPr>
            <p:nvPr/>
          </p:nvGrpSpPr>
          <p:grpSpPr bwMode="auto">
            <a:xfrm rot="4827573">
              <a:off x="3079984" y="1997075"/>
              <a:ext cx="150812" cy="166688"/>
              <a:chOff x="5149850" y="4865143"/>
              <a:chExt cx="249687" cy="273256"/>
            </a:xfrm>
          </p:grpSpPr>
          <p:sp>
            <p:nvSpPr>
              <p:cNvPr id="3794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4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5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7951" name="组合 128"/>
            <p:cNvGrpSpPr>
              <a:grpSpLocks/>
            </p:cNvGrpSpPr>
            <p:nvPr/>
          </p:nvGrpSpPr>
          <p:grpSpPr bwMode="auto">
            <a:xfrm rot="-3574045">
              <a:off x="3099367" y="2254251"/>
              <a:ext cx="149225" cy="165100"/>
              <a:chOff x="5149850" y="4865143"/>
              <a:chExt cx="249687" cy="273256"/>
            </a:xfrm>
          </p:grpSpPr>
          <p:sp>
            <p:nvSpPr>
              <p:cNvPr id="3795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5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5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7955" name="组合 128"/>
            <p:cNvGrpSpPr>
              <a:grpSpLocks/>
            </p:cNvGrpSpPr>
            <p:nvPr/>
          </p:nvGrpSpPr>
          <p:grpSpPr bwMode="auto">
            <a:xfrm>
              <a:off x="3371850" y="1754188"/>
              <a:ext cx="150812" cy="165100"/>
              <a:chOff x="5149850" y="4865143"/>
              <a:chExt cx="249687" cy="273256"/>
            </a:xfrm>
          </p:grpSpPr>
          <p:sp>
            <p:nvSpPr>
              <p:cNvPr id="3795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5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5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7959" name="组合 128"/>
            <p:cNvGrpSpPr>
              <a:grpSpLocks/>
            </p:cNvGrpSpPr>
            <p:nvPr/>
          </p:nvGrpSpPr>
          <p:grpSpPr bwMode="auto">
            <a:xfrm rot="4827573">
              <a:off x="3390350" y="2013804"/>
              <a:ext cx="150813" cy="165100"/>
              <a:chOff x="5149850" y="4865143"/>
              <a:chExt cx="249687" cy="273256"/>
            </a:xfrm>
          </p:grpSpPr>
          <p:sp>
            <p:nvSpPr>
              <p:cNvPr id="3796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6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6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7963" name="组合 128"/>
            <p:cNvGrpSpPr>
              <a:grpSpLocks/>
            </p:cNvGrpSpPr>
            <p:nvPr/>
          </p:nvGrpSpPr>
          <p:grpSpPr bwMode="auto">
            <a:xfrm rot="-3574045">
              <a:off x="3405816" y="2240757"/>
              <a:ext cx="150813" cy="165100"/>
              <a:chOff x="5149850" y="4865143"/>
              <a:chExt cx="249687" cy="273256"/>
            </a:xfrm>
          </p:grpSpPr>
          <p:sp>
            <p:nvSpPr>
              <p:cNvPr id="3796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6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796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7967" name="组合 346"/>
            <p:cNvGrpSpPr>
              <a:grpSpLocks/>
            </p:cNvGrpSpPr>
            <p:nvPr/>
          </p:nvGrpSpPr>
          <p:grpSpPr bwMode="auto">
            <a:xfrm rot="-2359440">
              <a:off x="1651000" y="1962150"/>
              <a:ext cx="160338" cy="263525"/>
              <a:chOff x="3708391" y="4698272"/>
              <a:chExt cx="265290" cy="436662"/>
            </a:xfrm>
          </p:grpSpPr>
          <p:sp>
            <p:nvSpPr>
              <p:cNvPr id="37968"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7969" name="组合 127"/>
              <p:cNvGrpSpPr>
                <a:grpSpLocks/>
              </p:cNvGrpSpPr>
              <p:nvPr/>
            </p:nvGrpSpPr>
            <p:grpSpPr bwMode="auto">
              <a:xfrm>
                <a:off x="3723561" y="4885168"/>
                <a:ext cx="250120" cy="249766"/>
                <a:chOff x="3723561" y="4885168"/>
                <a:chExt cx="250120" cy="249766"/>
              </a:xfrm>
            </p:grpSpPr>
            <p:sp>
              <p:nvSpPr>
                <p:cNvPr id="3797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7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7972" name="组合 351"/>
            <p:cNvGrpSpPr>
              <a:grpSpLocks/>
            </p:cNvGrpSpPr>
            <p:nvPr/>
          </p:nvGrpSpPr>
          <p:grpSpPr bwMode="auto">
            <a:xfrm rot="-1373637">
              <a:off x="1620838" y="2171700"/>
              <a:ext cx="160337" cy="263525"/>
              <a:chOff x="3708391" y="4698272"/>
              <a:chExt cx="265290" cy="436662"/>
            </a:xfrm>
          </p:grpSpPr>
          <p:sp>
            <p:nvSpPr>
              <p:cNvPr id="37973"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7974" name="组合 127"/>
              <p:cNvGrpSpPr>
                <a:grpSpLocks/>
              </p:cNvGrpSpPr>
              <p:nvPr/>
            </p:nvGrpSpPr>
            <p:grpSpPr bwMode="auto">
              <a:xfrm>
                <a:off x="3723561" y="4885168"/>
                <a:ext cx="250120" cy="249766"/>
                <a:chOff x="3723561" y="4885168"/>
                <a:chExt cx="250120" cy="249766"/>
              </a:xfrm>
            </p:grpSpPr>
            <p:sp>
              <p:nvSpPr>
                <p:cNvPr id="3797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76" name="Line 42"/>
                <p:cNvSpPr>
                  <a:spLocks noChangeShapeType="1"/>
                </p:cNvSpPr>
                <p:nvPr/>
              </p:nvSpPr>
              <p:spPr bwMode="auto">
                <a:xfrm rot="-2658602">
                  <a:off x="3723790" y="5009817"/>
                  <a:ext cx="248528" cy="1591"/>
                </a:xfrm>
                <a:prstGeom prst="line">
                  <a:avLst/>
                </a:prstGeom>
                <a:noFill/>
                <a:ln w="34925">
                  <a:solidFill>
                    <a:srgbClr val="006600"/>
                  </a:solidFill>
                  <a:round/>
                  <a:headEnd/>
                  <a:tailEnd/>
                </a:ln>
              </p:spPr>
              <p:txBody>
                <a:bodyPr/>
                <a:lstStyle/>
                <a:p>
                  <a:endParaRPr lang="zh-CN" altLang="en-US"/>
                </a:p>
              </p:txBody>
            </p:sp>
          </p:grpSp>
        </p:grpSp>
        <p:sp>
          <p:nvSpPr>
            <p:cNvPr id="37977" name="Oval 41"/>
            <p:cNvSpPr>
              <a:spLocks noChangeAspect="1" noChangeArrowheads="1"/>
            </p:cNvSpPr>
            <p:nvPr/>
          </p:nvSpPr>
          <p:spPr bwMode="auto">
            <a:xfrm rot="-238237">
              <a:off x="1838325" y="2193925"/>
              <a:ext cx="76200" cy="762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78" name="组合 361"/>
            <p:cNvGrpSpPr>
              <a:grpSpLocks/>
            </p:cNvGrpSpPr>
            <p:nvPr/>
          </p:nvGrpSpPr>
          <p:grpSpPr bwMode="auto">
            <a:xfrm rot="2699194">
              <a:off x="1968500" y="1712913"/>
              <a:ext cx="160338" cy="263525"/>
              <a:chOff x="3708391" y="4698272"/>
              <a:chExt cx="265290" cy="436662"/>
            </a:xfrm>
          </p:grpSpPr>
          <p:sp>
            <p:nvSpPr>
              <p:cNvPr id="3797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7980" name="组合 127"/>
              <p:cNvGrpSpPr>
                <a:grpSpLocks/>
              </p:cNvGrpSpPr>
              <p:nvPr/>
            </p:nvGrpSpPr>
            <p:grpSpPr bwMode="auto">
              <a:xfrm>
                <a:off x="3723561" y="4885168"/>
                <a:ext cx="250120" cy="249766"/>
                <a:chOff x="3723561" y="4885168"/>
                <a:chExt cx="250120" cy="249766"/>
              </a:xfrm>
            </p:grpSpPr>
            <p:sp>
              <p:nvSpPr>
                <p:cNvPr id="3798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8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7983" name="组合 366"/>
            <p:cNvGrpSpPr>
              <a:grpSpLocks/>
            </p:cNvGrpSpPr>
            <p:nvPr/>
          </p:nvGrpSpPr>
          <p:grpSpPr bwMode="auto">
            <a:xfrm rot="-1582615">
              <a:off x="1895475" y="1957388"/>
              <a:ext cx="160338" cy="263525"/>
              <a:chOff x="3708391" y="4698272"/>
              <a:chExt cx="265290" cy="436662"/>
            </a:xfrm>
          </p:grpSpPr>
          <p:sp>
            <p:nvSpPr>
              <p:cNvPr id="3798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7985" name="组合 127"/>
              <p:cNvGrpSpPr>
                <a:grpSpLocks/>
              </p:cNvGrpSpPr>
              <p:nvPr/>
            </p:nvGrpSpPr>
            <p:grpSpPr bwMode="auto">
              <a:xfrm>
                <a:off x="3723561" y="4885168"/>
                <a:ext cx="250120" cy="249766"/>
                <a:chOff x="3723561" y="4885168"/>
                <a:chExt cx="250120" cy="249766"/>
              </a:xfrm>
            </p:grpSpPr>
            <p:sp>
              <p:nvSpPr>
                <p:cNvPr id="3798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8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7988" name="组合 127"/>
            <p:cNvGrpSpPr>
              <a:grpSpLocks/>
            </p:cNvGrpSpPr>
            <p:nvPr/>
          </p:nvGrpSpPr>
          <p:grpSpPr bwMode="auto">
            <a:xfrm rot="2796568">
              <a:off x="1909605" y="2318368"/>
              <a:ext cx="151168" cy="151641"/>
              <a:chOff x="3723561" y="4885168"/>
              <a:chExt cx="250120" cy="249766"/>
            </a:xfrm>
          </p:grpSpPr>
          <p:sp>
            <p:nvSpPr>
              <p:cNvPr id="3798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9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7991" name="组合 127"/>
            <p:cNvGrpSpPr>
              <a:grpSpLocks/>
            </p:cNvGrpSpPr>
            <p:nvPr/>
          </p:nvGrpSpPr>
          <p:grpSpPr bwMode="auto">
            <a:xfrm rot="3206337">
              <a:off x="2266156" y="1788320"/>
              <a:ext cx="149225" cy="150812"/>
              <a:chOff x="3723561" y="4885168"/>
              <a:chExt cx="250120" cy="249766"/>
            </a:xfrm>
          </p:grpSpPr>
          <p:sp>
            <p:nvSpPr>
              <p:cNvPr id="3799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9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7994" name="组合 127"/>
            <p:cNvGrpSpPr>
              <a:grpSpLocks/>
            </p:cNvGrpSpPr>
            <p:nvPr/>
          </p:nvGrpSpPr>
          <p:grpSpPr bwMode="auto">
            <a:xfrm rot="-1818148">
              <a:off x="2260600" y="2033588"/>
              <a:ext cx="150813" cy="150812"/>
              <a:chOff x="3723561" y="4885168"/>
              <a:chExt cx="250120" cy="249766"/>
            </a:xfrm>
          </p:grpSpPr>
          <p:sp>
            <p:nvSpPr>
              <p:cNvPr id="3799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799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7997" name="组合 127"/>
            <p:cNvGrpSpPr>
              <a:grpSpLocks/>
            </p:cNvGrpSpPr>
            <p:nvPr/>
          </p:nvGrpSpPr>
          <p:grpSpPr bwMode="auto">
            <a:xfrm rot="2365828">
              <a:off x="2238375" y="2262188"/>
              <a:ext cx="152400" cy="149225"/>
              <a:chOff x="3723561" y="4885168"/>
              <a:chExt cx="250120" cy="249766"/>
            </a:xfrm>
          </p:grpSpPr>
          <p:sp>
            <p:nvSpPr>
              <p:cNvPr id="3799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799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000" name="组合 127"/>
            <p:cNvGrpSpPr>
              <a:grpSpLocks/>
            </p:cNvGrpSpPr>
            <p:nvPr/>
          </p:nvGrpSpPr>
          <p:grpSpPr bwMode="auto">
            <a:xfrm rot="2191984">
              <a:off x="2573338" y="1784350"/>
              <a:ext cx="152400" cy="150813"/>
              <a:chOff x="3723561" y="4885168"/>
              <a:chExt cx="250120" cy="249766"/>
            </a:xfrm>
          </p:grpSpPr>
          <p:sp>
            <p:nvSpPr>
              <p:cNvPr id="3800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0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003" name="组合 127"/>
            <p:cNvGrpSpPr>
              <a:grpSpLocks/>
            </p:cNvGrpSpPr>
            <p:nvPr/>
          </p:nvGrpSpPr>
          <p:grpSpPr bwMode="auto">
            <a:xfrm rot="-2117408">
              <a:off x="2593975" y="2022475"/>
              <a:ext cx="150813" cy="149225"/>
              <a:chOff x="3723561" y="4885168"/>
              <a:chExt cx="250120" cy="249766"/>
            </a:xfrm>
          </p:grpSpPr>
          <p:sp>
            <p:nvSpPr>
              <p:cNvPr id="3800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0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006" name="组合 127"/>
            <p:cNvGrpSpPr>
              <a:grpSpLocks/>
            </p:cNvGrpSpPr>
            <p:nvPr/>
          </p:nvGrpSpPr>
          <p:grpSpPr bwMode="auto">
            <a:xfrm rot="3431710">
              <a:off x="2592388" y="2259013"/>
              <a:ext cx="150812" cy="150812"/>
              <a:chOff x="3723561" y="4885168"/>
              <a:chExt cx="250120" cy="249766"/>
            </a:xfrm>
          </p:grpSpPr>
          <p:sp>
            <p:nvSpPr>
              <p:cNvPr id="3800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0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sp>
          <p:nvSpPr>
            <p:cNvPr id="38009" name="Rectangle 13"/>
            <p:cNvSpPr>
              <a:spLocks noChangeArrowheads="1"/>
            </p:cNvSpPr>
            <p:nvPr/>
          </p:nvSpPr>
          <p:spPr bwMode="auto">
            <a:xfrm>
              <a:off x="2197100" y="1697038"/>
              <a:ext cx="1477963" cy="771525"/>
            </a:xfrm>
            <a:prstGeom prst="rect">
              <a:avLst/>
            </a:prstGeom>
            <a:noFill/>
            <a:ln w="38100">
              <a:solidFill>
                <a:srgbClr val="FF0000"/>
              </a:solidFill>
              <a:prstDash val="dash"/>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grpSp>
      <p:cxnSp>
        <p:nvCxnSpPr>
          <p:cNvPr id="257" name="直接连接符 256"/>
          <p:cNvCxnSpPr/>
          <p:nvPr/>
        </p:nvCxnSpPr>
        <p:spPr>
          <a:xfrm rot="5400000">
            <a:off x="1722121" y="4141787"/>
            <a:ext cx="3954462" cy="42863"/>
          </a:xfrm>
          <a:prstGeom prst="line">
            <a:avLst/>
          </a:prstGeom>
          <a:ln w="50800">
            <a:solidFill>
              <a:srgbClr val="000099"/>
            </a:solidFill>
            <a:prstDash val="dash"/>
          </a:ln>
        </p:spPr>
        <p:style>
          <a:lnRef idx="1">
            <a:schemeClr val="dk1"/>
          </a:lnRef>
          <a:fillRef idx="0">
            <a:schemeClr val="dk1"/>
          </a:fillRef>
          <a:effectRef idx="0">
            <a:schemeClr val="dk1"/>
          </a:effectRef>
          <a:fontRef idx="minor">
            <a:schemeClr val="tx1"/>
          </a:fontRef>
        </p:style>
      </p:cxnSp>
      <p:cxnSp>
        <p:nvCxnSpPr>
          <p:cNvPr id="342" name="直接箭头连接符 341"/>
          <p:cNvCxnSpPr/>
          <p:nvPr/>
        </p:nvCxnSpPr>
        <p:spPr>
          <a:xfrm rot="10800000">
            <a:off x="3081020" y="2005013"/>
            <a:ext cx="1477963" cy="1587"/>
          </a:xfrm>
          <a:prstGeom prst="straightConnector1">
            <a:avLst/>
          </a:prstGeom>
          <a:ln w="38100">
            <a:solidFill>
              <a:srgbClr val="FF00FF"/>
            </a:solidFill>
            <a:tailEnd type="stealth" w="med" len="lg"/>
          </a:ln>
        </p:spPr>
        <p:style>
          <a:lnRef idx="1">
            <a:schemeClr val="accent3"/>
          </a:lnRef>
          <a:fillRef idx="0">
            <a:schemeClr val="accent3"/>
          </a:fillRef>
          <a:effectRef idx="0">
            <a:schemeClr val="accent3"/>
          </a:effectRef>
          <a:fontRef idx="minor">
            <a:schemeClr val="tx1"/>
          </a:fontRef>
        </p:style>
      </p:cxnSp>
      <p:cxnSp>
        <p:nvCxnSpPr>
          <p:cNvPr id="343" name="直接箭头连接符 342"/>
          <p:cNvCxnSpPr/>
          <p:nvPr/>
        </p:nvCxnSpPr>
        <p:spPr>
          <a:xfrm>
            <a:off x="2441258" y="2005013"/>
            <a:ext cx="639762" cy="1587"/>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cxnSp>
        <p:nvCxnSpPr>
          <p:cNvPr id="344" name="直接箭头连接符 343"/>
          <p:cNvCxnSpPr/>
          <p:nvPr/>
        </p:nvCxnSpPr>
        <p:spPr>
          <a:xfrm>
            <a:off x="4558983" y="2005013"/>
            <a:ext cx="719137" cy="1587"/>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cxnSp>
        <p:nvCxnSpPr>
          <p:cNvPr id="345" name="直接箭头连接符 344"/>
          <p:cNvCxnSpPr/>
          <p:nvPr/>
        </p:nvCxnSpPr>
        <p:spPr>
          <a:xfrm>
            <a:off x="8301990" y="2006600"/>
            <a:ext cx="639763" cy="1588"/>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cxnSp>
        <p:nvCxnSpPr>
          <p:cNvPr id="346" name="直接箭头连接符 345"/>
          <p:cNvCxnSpPr/>
          <p:nvPr/>
        </p:nvCxnSpPr>
        <p:spPr>
          <a:xfrm>
            <a:off x="8924290" y="2006600"/>
            <a:ext cx="877888" cy="1588"/>
          </a:xfrm>
          <a:prstGeom prst="straightConnector1">
            <a:avLst/>
          </a:prstGeom>
          <a:ln w="38100">
            <a:solidFill>
              <a:schemeClr val="tx1"/>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sp>
        <p:nvSpPr>
          <p:cNvPr id="12328" name="TextBox 349"/>
          <p:cNvSpPr txBox="1">
            <a:spLocks noChangeArrowheads="1"/>
          </p:cNvSpPr>
          <p:nvPr/>
        </p:nvSpPr>
        <p:spPr bwMode="auto">
          <a:xfrm>
            <a:off x="8390890" y="1695450"/>
            <a:ext cx="788988" cy="366713"/>
          </a:xfrm>
          <a:prstGeom prst="rect">
            <a:avLst/>
          </a:prstGeom>
          <a:noFill/>
          <a:ln w="9525">
            <a:noFill/>
            <a:miter lim="800000"/>
            <a:headEnd/>
            <a:tailEnd/>
          </a:ln>
        </p:spPr>
        <p:txBody>
          <a:bodyPr>
            <a:spAutoFit/>
          </a:bodyPr>
          <a:lstStyle/>
          <a:p>
            <a:pPr defTabSz="914400"/>
            <a:r>
              <a:rPr lang="en-US" altLang="zh-CN" sz="1800" b="1">
                <a:latin typeface="Times New Roman" pitchFamily="18" charset="0"/>
                <a:ea typeface="楷体_GB2312" pitchFamily="49" charset="-122"/>
                <a:cs typeface="Times New Roman" pitchFamily="18" charset="0"/>
              </a:rPr>
              <a:t>W</a:t>
            </a:r>
            <a:r>
              <a:rPr lang="en-US" altLang="zh-CN" sz="1800" b="1" baseline="-25000">
                <a:latin typeface="Times New Roman" pitchFamily="18" charset="0"/>
                <a:ea typeface="楷体_GB2312" pitchFamily="49" charset="-122"/>
                <a:cs typeface="Times New Roman" pitchFamily="18" charset="0"/>
              </a:rPr>
              <a:t>p</a:t>
            </a:r>
            <a:endParaRPr lang="zh-CN" altLang="en-US" sz="1800" b="1" baseline="-25000">
              <a:latin typeface="Times New Roman" pitchFamily="18" charset="0"/>
              <a:ea typeface="楷体_GB2312" pitchFamily="49" charset="-122"/>
              <a:cs typeface="Times New Roman" pitchFamily="18" charset="0"/>
            </a:endParaRPr>
          </a:p>
        </p:txBody>
      </p:sp>
      <p:sp>
        <p:nvSpPr>
          <p:cNvPr id="12329" name="TextBox 350"/>
          <p:cNvSpPr txBox="1">
            <a:spLocks noChangeArrowheads="1"/>
          </p:cNvSpPr>
          <p:nvPr/>
        </p:nvSpPr>
        <p:spPr bwMode="auto">
          <a:xfrm>
            <a:off x="9068753" y="1592263"/>
            <a:ext cx="700087" cy="366712"/>
          </a:xfrm>
          <a:prstGeom prst="rect">
            <a:avLst/>
          </a:prstGeom>
          <a:noFill/>
          <a:ln w="9525">
            <a:noFill/>
            <a:miter lim="800000"/>
            <a:headEnd/>
            <a:tailEnd/>
          </a:ln>
        </p:spPr>
        <p:txBody>
          <a:bodyPr>
            <a:spAutoFit/>
          </a:bodyPr>
          <a:lstStyle/>
          <a:p>
            <a:pPr defTabSz="914400"/>
            <a:r>
              <a:rPr lang="en-US" altLang="zh-CN" sz="1800" b="1">
                <a:latin typeface="Times New Roman" pitchFamily="18" charset="0"/>
                <a:ea typeface="楷体_GB2312" pitchFamily="49" charset="-122"/>
                <a:cs typeface="Times New Roman" pitchFamily="18" charset="0"/>
              </a:rPr>
              <a:t>W</a:t>
            </a:r>
            <a:r>
              <a:rPr lang="en-US" altLang="zh-CN" sz="1800" b="1" baseline="-25000">
                <a:latin typeface="Times New Roman" pitchFamily="18" charset="0"/>
                <a:ea typeface="楷体_GB2312" pitchFamily="49" charset="-122"/>
                <a:cs typeface="Times New Roman" pitchFamily="18" charset="0"/>
              </a:rPr>
              <a:t>n</a:t>
            </a:r>
            <a:endParaRPr lang="zh-CN" altLang="en-US" sz="1800" b="1" baseline="-25000">
              <a:latin typeface="Times New Roman" pitchFamily="18" charset="0"/>
              <a:ea typeface="楷体_GB2312" pitchFamily="49" charset="-122"/>
              <a:cs typeface="Times New Roman" pitchFamily="18" charset="0"/>
            </a:endParaRPr>
          </a:p>
        </p:txBody>
      </p:sp>
      <p:cxnSp>
        <p:nvCxnSpPr>
          <p:cNvPr id="481" name="直接连接符 480"/>
          <p:cNvCxnSpPr/>
          <p:nvPr/>
        </p:nvCxnSpPr>
        <p:spPr>
          <a:xfrm rot="5400000">
            <a:off x="3566002" y="3991769"/>
            <a:ext cx="1985962"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4" name="直接连接符 483"/>
          <p:cNvCxnSpPr/>
          <p:nvPr/>
        </p:nvCxnSpPr>
        <p:spPr>
          <a:xfrm rot="5400000">
            <a:off x="2088832" y="3992563"/>
            <a:ext cx="1984375"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966" name="组合 356"/>
          <p:cNvGrpSpPr>
            <a:grpSpLocks/>
          </p:cNvGrpSpPr>
          <p:nvPr/>
        </p:nvGrpSpPr>
        <p:grpSpPr bwMode="auto">
          <a:xfrm>
            <a:off x="7679690" y="2162175"/>
            <a:ext cx="2797175" cy="833438"/>
            <a:chOff x="5149850" y="1673225"/>
            <a:chExt cx="2797175" cy="833438"/>
          </a:xfrm>
        </p:grpSpPr>
        <p:sp>
          <p:nvSpPr>
            <p:cNvPr id="38021" name="Rectangle 5"/>
            <p:cNvSpPr>
              <a:spLocks noChangeArrowheads="1"/>
            </p:cNvSpPr>
            <p:nvPr/>
          </p:nvSpPr>
          <p:spPr bwMode="auto">
            <a:xfrm>
              <a:off x="5149850" y="1673225"/>
              <a:ext cx="2797175" cy="833438"/>
            </a:xfrm>
            <a:prstGeom prst="rect">
              <a:avLst/>
            </a:prstGeom>
            <a:solidFill>
              <a:srgbClr val="FFFFFF"/>
            </a:solidFill>
            <a:ln w="381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22" name="组合 345"/>
            <p:cNvGrpSpPr>
              <a:grpSpLocks/>
            </p:cNvGrpSpPr>
            <p:nvPr/>
          </p:nvGrpSpPr>
          <p:grpSpPr bwMode="auto">
            <a:xfrm>
              <a:off x="5248275" y="1693863"/>
              <a:ext cx="160338" cy="261937"/>
              <a:chOff x="3708391" y="4698272"/>
              <a:chExt cx="265290" cy="436662"/>
            </a:xfrm>
          </p:grpSpPr>
          <p:sp>
            <p:nvSpPr>
              <p:cNvPr id="38023"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24" name="组合 127"/>
              <p:cNvGrpSpPr>
                <a:grpSpLocks/>
              </p:cNvGrpSpPr>
              <p:nvPr/>
            </p:nvGrpSpPr>
            <p:grpSpPr bwMode="auto">
              <a:xfrm>
                <a:off x="3723561" y="4885168"/>
                <a:ext cx="250120" cy="249766"/>
                <a:chOff x="3723561" y="4885168"/>
                <a:chExt cx="250120" cy="249766"/>
              </a:xfrm>
            </p:grpSpPr>
            <p:sp>
              <p:nvSpPr>
                <p:cNvPr id="3802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2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8027" name="组合 129"/>
            <p:cNvGrpSpPr>
              <a:grpSpLocks/>
            </p:cNvGrpSpPr>
            <p:nvPr/>
          </p:nvGrpSpPr>
          <p:grpSpPr bwMode="auto">
            <a:xfrm rot="-3967890">
              <a:off x="7664451" y="1697037"/>
              <a:ext cx="152400" cy="263525"/>
              <a:chOff x="5149850" y="4703444"/>
              <a:chExt cx="253825" cy="434955"/>
            </a:xfrm>
          </p:grpSpPr>
          <p:sp>
            <p:nvSpPr>
              <p:cNvPr id="3802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8029" name="组合 128"/>
              <p:cNvGrpSpPr>
                <a:grpSpLocks/>
              </p:cNvGrpSpPr>
              <p:nvPr/>
            </p:nvGrpSpPr>
            <p:grpSpPr bwMode="auto">
              <a:xfrm>
                <a:off x="5149850" y="4865143"/>
                <a:ext cx="249687" cy="273256"/>
                <a:chOff x="5149850" y="4865143"/>
                <a:chExt cx="249687" cy="273256"/>
              </a:xfrm>
            </p:grpSpPr>
            <p:sp>
              <p:nvSpPr>
                <p:cNvPr id="3803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3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3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8033" name="组合 255"/>
            <p:cNvGrpSpPr>
              <a:grpSpLocks/>
            </p:cNvGrpSpPr>
            <p:nvPr/>
          </p:nvGrpSpPr>
          <p:grpSpPr bwMode="auto">
            <a:xfrm rot="4565890">
              <a:off x="7443788" y="1912937"/>
              <a:ext cx="152400" cy="263525"/>
              <a:chOff x="5149850" y="4703444"/>
              <a:chExt cx="253825" cy="434955"/>
            </a:xfrm>
          </p:grpSpPr>
          <p:sp>
            <p:nvSpPr>
              <p:cNvPr id="3803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35" name="组合 128"/>
              <p:cNvGrpSpPr>
                <a:grpSpLocks/>
              </p:cNvGrpSpPr>
              <p:nvPr/>
            </p:nvGrpSpPr>
            <p:grpSpPr bwMode="auto">
              <a:xfrm>
                <a:off x="5149850" y="4865143"/>
                <a:ext cx="249687" cy="273256"/>
                <a:chOff x="5149850" y="4865143"/>
                <a:chExt cx="249687" cy="273256"/>
              </a:xfrm>
            </p:grpSpPr>
            <p:sp>
              <p:nvSpPr>
                <p:cNvPr id="3803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3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3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8039" name="组合 261"/>
            <p:cNvGrpSpPr>
              <a:grpSpLocks/>
            </p:cNvGrpSpPr>
            <p:nvPr/>
          </p:nvGrpSpPr>
          <p:grpSpPr bwMode="auto">
            <a:xfrm rot="2189922">
              <a:off x="7689850" y="1947863"/>
              <a:ext cx="153988" cy="261937"/>
              <a:chOff x="5149850" y="4703444"/>
              <a:chExt cx="253825" cy="434955"/>
            </a:xfrm>
          </p:grpSpPr>
          <p:sp>
            <p:nvSpPr>
              <p:cNvPr id="3804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41" name="组合 128"/>
              <p:cNvGrpSpPr>
                <a:grpSpLocks/>
              </p:cNvGrpSpPr>
              <p:nvPr/>
            </p:nvGrpSpPr>
            <p:grpSpPr bwMode="auto">
              <a:xfrm>
                <a:off x="5149850" y="4865143"/>
                <a:ext cx="249687" cy="273256"/>
                <a:chOff x="5149850" y="4865143"/>
                <a:chExt cx="249687" cy="273256"/>
              </a:xfrm>
            </p:grpSpPr>
            <p:sp>
              <p:nvSpPr>
                <p:cNvPr id="3804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4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4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8045" name="组合 267"/>
            <p:cNvGrpSpPr>
              <a:grpSpLocks/>
            </p:cNvGrpSpPr>
            <p:nvPr/>
          </p:nvGrpSpPr>
          <p:grpSpPr bwMode="auto">
            <a:xfrm rot="-5967303">
              <a:off x="7408069" y="1683544"/>
              <a:ext cx="152400" cy="261938"/>
              <a:chOff x="5149850" y="4703444"/>
              <a:chExt cx="253825" cy="434955"/>
            </a:xfrm>
          </p:grpSpPr>
          <p:sp>
            <p:nvSpPr>
              <p:cNvPr id="3804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8047" name="组合 128"/>
              <p:cNvGrpSpPr>
                <a:grpSpLocks/>
              </p:cNvGrpSpPr>
              <p:nvPr/>
            </p:nvGrpSpPr>
            <p:grpSpPr bwMode="auto">
              <a:xfrm>
                <a:off x="5149850" y="4865143"/>
                <a:ext cx="249687" cy="273256"/>
                <a:chOff x="5149850" y="4865143"/>
                <a:chExt cx="249687" cy="273256"/>
              </a:xfrm>
            </p:grpSpPr>
            <p:sp>
              <p:nvSpPr>
                <p:cNvPr id="3804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4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5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8051" name="组合 273"/>
            <p:cNvGrpSpPr>
              <a:grpSpLocks/>
            </p:cNvGrpSpPr>
            <p:nvPr/>
          </p:nvGrpSpPr>
          <p:grpSpPr bwMode="auto">
            <a:xfrm>
              <a:off x="7427913" y="2166938"/>
              <a:ext cx="153987" cy="260350"/>
              <a:chOff x="5149850" y="4703444"/>
              <a:chExt cx="253825" cy="434955"/>
            </a:xfrm>
          </p:grpSpPr>
          <p:sp>
            <p:nvSpPr>
              <p:cNvPr id="3805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53" name="组合 128"/>
              <p:cNvGrpSpPr>
                <a:grpSpLocks/>
              </p:cNvGrpSpPr>
              <p:nvPr/>
            </p:nvGrpSpPr>
            <p:grpSpPr bwMode="auto">
              <a:xfrm>
                <a:off x="5149850" y="4865143"/>
                <a:ext cx="249687" cy="273256"/>
                <a:chOff x="5149850" y="4865143"/>
                <a:chExt cx="249687" cy="273256"/>
              </a:xfrm>
            </p:grpSpPr>
            <p:sp>
              <p:nvSpPr>
                <p:cNvPr id="3805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5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5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8057" name="组合 279"/>
            <p:cNvGrpSpPr>
              <a:grpSpLocks/>
            </p:cNvGrpSpPr>
            <p:nvPr/>
          </p:nvGrpSpPr>
          <p:grpSpPr bwMode="auto">
            <a:xfrm rot="953232">
              <a:off x="7723188" y="2190750"/>
              <a:ext cx="153987" cy="260350"/>
              <a:chOff x="5149850" y="4703444"/>
              <a:chExt cx="253825" cy="434955"/>
            </a:xfrm>
          </p:grpSpPr>
          <p:sp>
            <p:nvSpPr>
              <p:cNvPr id="3805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59" name="组合 128"/>
              <p:cNvGrpSpPr>
                <a:grpSpLocks/>
              </p:cNvGrpSpPr>
              <p:nvPr/>
            </p:nvGrpSpPr>
            <p:grpSpPr bwMode="auto">
              <a:xfrm>
                <a:off x="5149850" y="4865143"/>
                <a:ext cx="249687" cy="273256"/>
                <a:chOff x="5149850" y="4865143"/>
                <a:chExt cx="249687" cy="273256"/>
              </a:xfrm>
            </p:grpSpPr>
            <p:sp>
              <p:nvSpPr>
                <p:cNvPr id="3806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6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6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38063" name="组合 128"/>
            <p:cNvGrpSpPr>
              <a:grpSpLocks/>
            </p:cNvGrpSpPr>
            <p:nvPr/>
          </p:nvGrpSpPr>
          <p:grpSpPr bwMode="auto">
            <a:xfrm>
              <a:off x="6661150" y="1752600"/>
              <a:ext cx="150813" cy="165100"/>
              <a:chOff x="5149850" y="4865143"/>
              <a:chExt cx="249687" cy="273256"/>
            </a:xfrm>
          </p:grpSpPr>
          <p:sp>
            <p:nvSpPr>
              <p:cNvPr id="3806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6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6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8067" name="组合 128"/>
            <p:cNvGrpSpPr>
              <a:grpSpLocks/>
            </p:cNvGrpSpPr>
            <p:nvPr/>
          </p:nvGrpSpPr>
          <p:grpSpPr bwMode="auto">
            <a:xfrm rot="4827573">
              <a:off x="6635200" y="1996282"/>
              <a:ext cx="150813" cy="165100"/>
              <a:chOff x="5149850" y="4865143"/>
              <a:chExt cx="249687" cy="273256"/>
            </a:xfrm>
          </p:grpSpPr>
          <p:sp>
            <p:nvSpPr>
              <p:cNvPr id="3806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6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7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8071" name="组合 128"/>
            <p:cNvGrpSpPr>
              <a:grpSpLocks/>
            </p:cNvGrpSpPr>
            <p:nvPr/>
          </p:nvGrpSpPr>
          <p:grpSpPr bwMode="auto">
            <a:xfrm rot="-3574045">
              <a:off x="6650666" y="2253457"/>
              <a:ext cx="150813" cy="165100"/>
              <a:chOff x="5149850" y="4865143"/>
              <a:chExt cx="249687" cy="273256"/>
            </a:xfrm>
          </p:grpSpPr>
          <p:sp>
            <p:nvSpPr>
              <p:cNvPr id="3807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7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7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8075" name="组合 128"/>
            <p:cNvGrpSpPr>
              <a:grpSpLocks/>
            </p:cNvGrpSpPr>
            <p:nvPr/>
          </p:nvGrpSpPr>
          <p:grpSpPr bwMode="auto">
            <a:xfrm>
              <a:off x="6972300" y="1752600"/>
              <a:ext cx="150812" cy="165100"/>
              <a:chOff x="5149850" y="4865143"/>
              <a:chExt cx="249687" cy="273256"/>
            </a:xfrm>
          </p:grpSpPr>
          <p:sp>
            <p:nvSpPr>
              <p:cNvPr id="3807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7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7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8079" name="组合 128"/>
            <p:cNvGrpSpPr>
              <a:grpSpLocks/>
            </p:cNvGrpSpPr>
            <p:nvPr/>
          </p:nvGrpSpPr>
          <p:grpSpPr bwMode="auto">
            <a:xfrm rot="4827573">
              <a:off x="6946351" y="2013804"/>
              <a:ext cx="150812" cy="165100"/>
              <a:chOff x="5149850" y="4865143"/>
              <a:chExt cx="249687" cy="273256"/>
            </a:xfrm>
          </p:grpSpPr>
          <p:sp>
            <p:nvSpPr>
              <p:cNvPr id="3808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08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8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8083" name="组合 128"/>
            <p:cNvGrpSpPr>
              <a:grpSpLocks/>
            </p:cNvGrpSpPr>
            <p:nvPr/>
          </p:nvGrpSpPr>
          <p:grpSpPr bwMode="auto">
            <a:xfrm rot="-3574045">
              <a:off x="6961816" y="2239169"/>
              <a:ext cx="150812" cy="165100"/>
              <a:chOff x="5149850" y="4865143"/>
              <a:chExt cx="249687" cy="273256"/>
            </a:xfrm>
          </p:grpSpPr>
          <p:sp>
            <p:nvSpPr>
              <p:cNvPr id="3808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8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08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8087" name="组合 346"/>
            <p:cNvGrpSpPr>
              <a:grpSpLocks/>
            </p:cNvGrpSpPr>
            <p:nvPr/>
          </p:nvGrpSpPr>
          <p:grpSpPr bwMode="auto">
            <a:xfrm rot="-2359440">
              <a:off x="5243513" y="1960563"/>
              <a:ext cx="160337" cy="263525"/>
              <a:chOff x="3708391" y="4698272"/>
              <a:chExt cx="265290" cy="436662"/>
            </a:xfrm>
          </p:grpSpPr>
          <p:sp>
            <p:nvSpPr>
              <p:cNvPr id="38088"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8089" name="组合 127"/>
              <p:cNvGrpSpPr>
                <a:grpSpLocks/>
              </p:cNvGrpSpPr>
              <p:nvPr/>
            </p:nvGrpSpPr>
            <p:grpSpPr bwMode="auto">
              <a:xfrm>
                <a:off x="3723561" y="4885168"/>
                <a:ext cx="250120" cy="249766"/>
                <a:chOff x="3723561" y="4885168"/>
                <a:chExt cx="250120" cy="249766"/>
              </a:xfrm>
            </p:grpSpPr>
            <p:sp>
              <p:nvSpPr>
                <p:cNvPr id="3809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9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8092" name="组合 351"/>
            <p:cNvGrpSpPr>
              <a:grpSpLocks/>
            </p:cNvGrpSpPr>
            <p:nvPr/>
          </p:nvGrpSpPr>
          <p:grpSpPr bwMode="auto">
            <a:xfrm rot="-1373637">
              <a:off x="5213350" y="2170113"/>
              <a:ext cx="160338" cy="263525"/>
              <a:chOff x="3708391" y="4698272"/>
              <a:chExt cx="265290" cy="436662"/>
            </a:xfrm>
          </p:grpSpPr>
          <p:sp>
            <p:nvSpPr>
              <p:cNvPr id="38093"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8094" name="组合 127"/>
              <p:cNvGrpSpPr>
                <a:grpSpLocks/>
              </p:cNvGrpSpPr>
              <p:nvPr/>
            </p:nvGrpSpPr>
            <p:grpSpPr bwMode="auto">
              <a:xfrm>
                <a:off x="3723561" y="4885168"/>
                <a:ext cx="250120" cy="249766"/>
                <a:chOff x="3723561" y="4885168"/>
                <a:chExt cx="250120" cy="249766"/>
              </a:xfrm>
            </p:grpSpPr>
            <p:sp>
              <p:nvSpPr>
                <p:cNvPr id="3809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096" name="Line 42"/>
                <p:cNvSpPr>
                  <a:spLocks noChangeShapeType="1"/>
                </p:cNvSpPr>
                <p:nvPr/>
              </p:nvSpPr>
              <p:spPr bwMode="auto">
                <a:xfrm rot="-2658602">
                  <a:off x="3723790" y="5009817"/>
                  <a:ext cx="248528" cy="1591"/>
                </a:xfrm>
                <a:prstGeom prst="line">
                  <a:avLst/>
                </a:prstGeom>
                <a:noFill/>
                <a:ln w="34925">
                  <a:solidFill>
                    <a:srgbClr val="006600"/>
                  </a:solidFill>
                  <a:round/>
                  <a:headEnd/>
                  <a:tailEnd/>
                </a:ln>
              </p:spPr>
              <p:txBody>
                <a:bodyPr/>
                <a:lstStyle/>
                <a:p>
                  <a:endParaRPr lang="zh-CN" altLang="en-US"/>
                </a:p>
              </p:txBody>
            </p:sp>
          </p:grpSp>
        </p:grpSp>
        <p:sp>
          <p:nvSpPr>
            <p:cNvPr id="38097" name="Oval 41"/>
            <p:cNvSpPr>
              <a:spLocks noChangeAspect="1" noChangeArrowheads="1"/>
            </p:cNvSpPr>
            <p:nvPr/>
          </p:nvSpPr>
          <p:spPr bwMode="auto">
            <a:xfrm rot="-238237">
              <a:off x="5430838" y="2192338"/>
              <a:ext cx="76200" cy="762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098" name="组合 361"/>
            <p:cNvGrpSpPr>
              <a:grpSpLocks/>
            </p:cNvGrpSpPr>
            <p:nvPr/>
          </p:nvGrpSpPr>
          <p:grpSpPr bwMode="auto">
            <a:xfrm rot="2699194">
              <a:off x="5561013" y="1711325"/>
              <a:ext cx="160337" cy="263525"/>
              <a:chOff x="3708391" y="4698272"/>
              <a:chExt cx="265290" cy="436662"/>
            </a:xfrm>
          </p:grpSpPr>
          <p:sp>
            <p:nvSpPr>
              <p:cNvPr id="3809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8100" name="组合 127"/>
              <p:cNvGrpSpPr>
                <a:grpSpLocks/>
              </p:cNvGrpSpPr>
              <p:nvPr/>
            </p:nvGrpSpPr>
            <p:grpSpPr bwMode="auto">
              <a:xfrm>
                <a:off x="3723561" y="4885168"/>
                <a:ext cx="250120" cy="249766"/>
                <a:chOff x="3723561" y="4885168"/>
                <a:chExt cx="250120" cy="249766"/>
              </a:xfrm>
            </p:grpSpPr>
            <p:sp>
              <p:nvSpPr>
                <p:cNvPr id="3810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10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8103" name="组合 366"/>
            <p:cNvGrpSpPr>
              <a:grpSpLocks/>
            </p:cNvGrpSpPr>
            <p:nvPr/>
          </p:nvGrpSpPr>
          <p:grpSpPr bwMode="auto">
            <a:xfrm rot="-1582615">
              <a:off x="5486400" y="1955800"/>
              <a:ext cx="161925" cy="263525"/>
              <a:chOff x="3708391" y="4698272"/>
              <a:chExt cx="265290" cy="436662"/>
            </a:xfrm>
          </p:grpSpPr>
          <p:sp>
            <p:nvSpPr>
              <p:cNvPr id="3810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8105" name="组合 127"/>
              <p:cNvGrpSpPr>
                <a:grpSpLocks/>
              </p:cNvGrpSpPr>
              <p:nvPr/>
            </p:nvGrpSpPr>
            <p:grpSpPr bwMode="auto">
              <a:xfrm>
                <a:off x="3723561" y="4885168"/>
                <a:ext cx="250120" cy="249766"/>
                <a:chOff x="3723561" y="4885168"/>
                <a:chExt cx="250120" cy="249766"/>
              </a:xfrm>
            </p:grpSpPr>
            <p:sp>
              <p:nvSpPr>
                <p:cNvPr id="3810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0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8108" name="组合 127"/>
            <p:cNvGrpSpPr>
              <a:grpSpLocks/>
            </p:cNvGrpSpPr>
            <p:nvPr/>
          </p:nvGrpSpPr>
          <p:grpSpPr bwMode="auto">
            <a:xfrm rot="2796568">
              <a:off x="5501570" y="2317000"/>
              <a:ext cx="151169" cy="150733"/>
              <a:chOff x="3723561" y="4885168"/>
              <a:chExt cx="250120" cy="249766"/>
            </a:xfrm>
          </p:grpSpPr>
          <p:sp>
            <p:nvSpPr>
              <p:cNvPr id="3810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11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111" name="组合 127"/>
            <p:cNvGrpSpPr>
              <a:grpSpLocks/>
            </p:cNvGrpSpPr>
            <p:nvPr/>
          </p:nvGrpSpPr>
          <p:grpSpPr bwMode="auto">
            <a:xfrm rot="3206337">
              <a:off x="5857875" y="1785938"/>
              <a:ext cx="149225" cy="152400"/>
              <a:chOff x="3723561" y="4885168"/>
              <a:chExt cx="250120" cy="249766"/>
            </a:xfrm>
          </p:grpSpPr>
          <p:sp>
            <p:nvSpPr>
              <p:cNvPr id="3811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11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114" name="组合 127"/>
            <p:cNvGrpSpPr>
              <a:grpSpLocks/>
            </p:cNvGrpSpPr>
            <p:nvPr/>
          </p:nvGrpSpPr>
          <p:grpSpPr bwMode="auto">
            <a:xfrm rot="-1818148">
              <a:off x="5904742" y="2032000"/>
              <a:ext cx="150812" cy="150813"/>
              <a:chOff x="3723561" y="4885168"/>
              <a:chExt cx="250120" cy="249766"/>
            </a:xfrm>
          </p:grpSpPr>
          <p:sp>
            <p:nvSpPr>
              <p:cNvPr id="3811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1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117" name="组合 127"/>
            <p:cNvGrpSpPr>
              <a:grpSpLocks/>
            </p:cNvGrpSpPr>
            <p:nvPr/>
          </p:nvGrpSpPr>
          <p:grpSpPr bwMode="auto">
            <a:xfrm rot="2365828">
              <a:off x="5900853" y="2260600"/>
              <a:ext cx="152400" cy="149225"/>
              <a:chOff x="3723561" y="4885168"/>
              <a:chExt cx="250120" cy="249766"/>
            </a:xfrm>
          </p:grpSpPr>
          <p:sp>
            <p:nvSpPr>
              <p:cNvPr id="3811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11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120" name="组合 127"/>
            <p:cNvGrpSpPr>
              <a:grpSpLocks/>
            </p:cNvGrpSpPr>
            <p:nvPr/>
          </p:nvGrpSpPr>
          <p:grpSpPr bwMode="auto">
            <a:xfrm rot="2191984">
              <a:off x="6165850" y="1782763"/>
              <a:ext cx="150813" cy="150812"/>
              <a:chOff x="3723561" y="4885168"/>
              <a:chExt cx="250120" cy="249766"/>
            </a:xfrm>
          </p:grpSpPr>
          <p:sp>
            <p:nvSpPr>
              <p:cNvPr id="3812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12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123" name="组合 127"/>
            <p:cNvGrpSpPr>
              <a:grpSpLocks/>
            </p:cNvGrpSpPr>
            <p:nvPr/>
          </p:nvGrpSpPr>
          <p:grpSpPr bwMode="auto">
            <a:xfrm rot="-2117408">
              <a:off x="6184900" y="2020888"/>
              <a:ext cx="150813" cy="149225"/>
              <a:chOff x="3723561" y="4885168"/>
              <a:chExt cx="250120" cy="249766"/>
            </a:xfrm>
          </p:grpSpPr>
          <p:sp>
            <p:nvSpPr>
              <p:cNvPr id="3812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2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38126" name="组合 127"/>
            <p:cNvGrpSpPr>
              <a:grpSpLocks/>
            </p:cNvGrpSpPr>
            <p:nvPr/>
          </p:nvGrpSpPr>
          <p:grpSpPr bwMode="auto">
            <a:xfrm rot="3431710">
              <a:off x="6184900" y="2257425"/>
              <a:ext cx="150813" cy="150813"/>
              <a:chOff x="3723561" y="4885168"/>
              <a:chExt cx="250120" cy="249766"/>
            </a:xfrm>
          </p:grpSpPr>
          <p:sp>
            <p:nvSpPr>
              <p:cNvPr id="3812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12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sp>
          <p:nvSpPr>
            <p:cNvPr id="38129" name="Rectangle 13"/>
            <p:cNvSpPr>
              <a:spLocks noChangeArrowheads="1"/>
            </p:cNvSpPr>
            <p:nvPr/>
          </p:nvSpPr>
          <p:spPr bwMode="auto">
            <a:xfrm>
              <a:off x="5789613" y="1695450"/>
              <a:ext cx="1477962" cy="771525"/>
            </a:xfrm>
            <a:prstGeom prst="rect">
              <a:avLst/>
            </a:prstGeom>
            <a:noFill/>
            <a:ln w="57150">
              <a:solidFill>
                <a:srgbClr val="FF0000"/>
              </a:solidFill>
              <a:prstDash val="dash"/>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grpSp>
      <p:cxnSp>
        <p:nvCxnSpPr>
          <p:cNvPr id="973" name="直接连接符 972"/>
          <p:cNvCxnSpPr/>
          <p:nvPr/>
        </p:nvCxnSpPr>
        <p:spPr>
          <a:xfrm rot="5400000">
            <a:off x="7066122" y="4042568"/>
            <a:ext cx="3733800" cy="17463"/>
          </a:xfrm>
          <a:prstGeom prst="line">
            <a:avLst/>
          </a:prstGeom>
          <a:ln w="50800">
            <a:solidFill>
              <a:srgbClr val="000099"/>
            </a:solidFill>
            <a:prstDash val="dash"/>
          </a:ln>
        </p:spPr>
        <p:style>
          <a:lnRef idx="1">
            <a:schemeClr val="dk1"/>
          </a:lnRef>
          <a:fillRef idx="0">
            <a:schemeClr val="dk1"/>
          </a:fillRef>
          <a:effectRef idx="0">
            <a:schemeClr val="dk1"/>
          </a:effectRef>
          <a:fontRef idx="minor">
            <a:schemeClr val="tx1"/>
          </a:fontRef>
        </p:style>
      </p:cxnSp>
      <p:cxnSp>
        <p:nvCxnSpPr>
          <p:cNvPr id="974" name="直接连接符 973"/>
          <p:cNvCxnSpPr/>
          <p:nvPr/>
        </p:nvCxnSpPr>
        <p:spPr>
          <a:xfrm rot="5400000">
            <a:off x="8311516" y="4443412"/>
            <a:ext cx="2932112" cy="17463"/>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76" name="直接连接符 975"/>
          <p:cNvCxnSpPr>
            <a:endCxn id="994" idx="0"/>
          </p:cNvCxnSpPr>
          <p:nvPr/>
        </p:nvCxnSpPr>
        <p:spPr>
          <a:xfrm rot="5400000">
            <a:off x="6809740" y="4464050"/>
            <a:ext cx="2954338" cy="14288"/>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77" name="直接连接符 976"/>
          <p:cNvCxnSpPr/>
          <p:nvPr/>
        </p:nvCxnSpPr>
        <p:spPr>
          <a:xfrm>
            <a:off x="7786053" y="4273550"/>
            <a:ext cx="2635250" cy="1588"/>
          </a:xfrm>
          <a:prstGeom prst="line">
            <a:avLst/>
          </a:prstGeom>
          <a:ln w="38100">
            <a:prstDash val="dash"/>
          </a:ln>
        </p:spPr>
        <p:style>
          <a:lnRef idx="1">
            <a:schemeClr val="dk1"/>
          </a:lnRef>
          <a:fillRef idx="0">
            <a:schemeClr val="dk1"/>
          </a:fillRef>
          <a:effectRef idx="0">
            <a:schemeClr val="dk1"/>
          </a:effectRef>
          <a:fontRef idx="minor">
            <a:schemeClr val="tx1"/>
          </a:fontRef>
        </p:style>
      </p:cxnSp>
      <p:grpSp>
        <p:nvGrpSpPr>
          <p:cNvPr id="281" name="组合 977"/>
          <p:cNvGrpSpPr>
            <a:grpSpLocks/>
          </p:cNvGrpSpPr>
          <p:nvPr/>
        </p:nvGrpSpPr>
        <p:grpSpPr bwMode="auto">
          <a:xfrm>
            <a:off x="7762240" y="4586288"/>
            <a:ext cx="2754313" cy="2584450"/>
            <a:chOff x="6122261" y="3917156"/>
            <a:chExt cx="3021740" cy="2908663"/>
          </a:xfrm>
        </p:grpSpPr>
        <p:cxnSp>
          <p:nvCxnSpPr>
            <p:cNvPr id="979" name="直接箭头连接符 978"/>
            <p:cNvCxnSpPr/>
            <p:nvPr/>
          </p:nvCxnSpPr>
          <p:spPr>
            <a:xfrm>
              <a:off x="6122261" y="5416153"/>
              <a:ext cx="3021740" cy="1787"/>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980" name="直接箭头连接符 979"/>
            <p:cNvCxnSpPr/>
            <p:nvPr/>
          </p:nvCxnSpPr>
          <p:spPr>
            <a:xfrm rot="16200000" flipV="1">
              <a:off x="4671413" y="5368004"/>
              <a:ext cx="2908663" cy="6967"/>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grpSp>
        <p:nvGrpSpPr>
          <p:cNvPr id="282" name="组合 368"/>
          <p:cNvGrpSpPr>
            <a:grpSpLocks/>
          </p:cNvGrpSpPr>
          <p:nvPr/>
        </p:nvGrpSpPr>
        <p:grpSpPr bwMode="auto">
          <a:xfrm>
            <a:off x="8301990" y="3517900"/>
            <a:ext cx="1439863" cy="755650"/>
            <a:chOff x="5772150" y="3028950"/>
            <a:chExt cx="1439863" cy="755650"/>
          </a:xfrm>
        </p:grpSpPr>
        <p:cxnSp>
          <p:nvCxnSpPr>
            <p:cNvPr id="982" name="直接连接符 981"/>
            <p:cNvCxnSpPr/>
            <p:nvPr/>
          </p:nvCxnSpPr>
          <p:spPr>
            <a:xfrm rot="16200000" flipH="1">
              <a:off x="5705475" y="3095625"/>
              <a:ext cx="755650" cy="622300"/>
            </a:xfrm>
            <a:prstGeom prst="line">
              <a:avLst/>
            </a:prstGeom>
            <a:ln w="508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84" name="直接连接符 983"/>
            <p:cNvCxnSpPr/>
            <p:nvPr/>
          </p:nvCxnSpPr>
          <p:spPr>
            <a:xfrm flipV="1">
              <a:off x="6411913" y="3028950"/>
              <a:ext cx="800100" cy="755650"/>
            </a:xfrm>
            <a:prstGeom prst="line">
              <a:avLst/>
            </a:prstGeom>
            <a:ln w="508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83" name="组合 987"/>
          <p:cNvGrpSpPr>
            <a:grpSpLocks/>
          </p:cNvGrpSpPr>
          <p:nvPr/>
        </p:nvGrpSpPr>
        <p:grpSpPr bwMode="auto">
          <a:xfrm>
            <a:off x="2477770" y="3695700"/>
            <a:ext cx="3016250" cy="1422400"/>
            <a:chOff x="6083299" y="3473450"/>
            <a:chExt cx="3016252" cy="1422400"/>
          </a:xfrm>
        </p:grpSpPr>
        <p:sp>
          <p:nvSpPr>
            <p:cNvPr id="989" name="弧形 988"/>
            <p:cNvSpPr>
              <a:spLocks noChangeArrowheads="1"/>
            </p:cNvSpPr>
            <p:nvPr/>
          </p:nvSpPr>
          <p:spPr bwMode="auto">
            <a:xfrm rot="5400000">
              <a:off x="6134099" y="3568700"/>
              <a:ext cx="1098550" cy="1200151"/>
            </a:xfrm>
            <a:custGeom>
              <a:avLst/>
              <a:gdLst>
                <a:gd name="T0" fmla="*/ 549276 w 1098550"/>
                <a:gd name="T1" fmla="*/ 0 h 1200151"/>
                <a:gd name="T2" fmla="*/ 549275 w 1098550"/>
                <a:gd name="T3" fmla="*/ 600076 h 1200151"/>
                <a:gd name="T4" fmla="*/ 1097627 w 1098550"/>
                <a:gd name="T5" fmla="*/ 634853 h 1200151"/>
                <a:gd name="T6" fmla="*/ 11796480 60000 65536"/>
                <a:gd name="T7" fmla="*/ 11796480 60000 65536"/>
                <a:gd name="T8" fmla="*/ 5898240 60000 65536"/>
                <a:gd name="T9" fmla="*/ 549276 w 1098550"/>
                <a:gd name="T10" fmla="*/ 0 h 1200151"/>
                <a:gd name="T11" fmla="*/ 1098550 w 1098550"/>
                <a:gd name="T12" fmla="*/ 634853 h 1200151"/>
              </a:gdLst>
              <a:ahLst/>
              <a:cxnLst>
                <a:cxn ang="T6">
                  <a:pos x="T0" y="T1"/>
                </a:cxn>
                <a:cxn ang="T7">
                  <a:pos x="T2" y="T3"/>
                </a:cxn>
                <a:cxn ang="T8">
                  <a:pos x="T4" y="T5"/>
                </a:cxn>
              </a:cxnLst>
              <a:rect l="T9" t="T10" r="T11" b="T12"/>
              <a:pathLst>
                <a:path w="1098550" h="1200151" stroke="0">
                  <a:moveTo>
                    <a:pt x="549276" y="0"/>
                  </a:moveTo>
                  <a:lnTo>
                    <a:pt x="549275" y="0"/>
                  </a:lnTo>
                  <a:cubicBezTo>
                    <a:pt x="852631" y="0"/>
                    <a:pt x="1098550" y="268663"/>
                    <a:pt x="1098550" y="600076"/>
                  </a:cubicBezTo>
                  <a:cubicBezTo>
                    <a:pt x="1098550" y="611676"/>
                    <a:pt x="1098242" y="623274"/>
                    <a:pt x="1097626" y="634854"/>
                  </a:cubicBezTo>
                  <a:lnTo>
                    <a:pt x="549275" y="600076"/>
                  </a:lnTo>
                  <a:close/>
                </a:path>
                <a:path w="1098550" h="1200151" fill="none">
                  <a:moveTo>
                    <a:pt x="549276" y="0"/>
                  </a:moveTo>
                  <a:lnTo>
                    <a:pt x="549275" y="0"/>
                  </a:lnTo>
                  <a:cubicBezTo>
                    <a:pt x="852631" y="0"/>
                    <a:pt x="1098550" y="268663"/>
                    <a:pt x="1098550" y="600076"/>
                  </a:cubicBezTo>
                  <a:cubicBezTo>
                    <a:pt x="1098550" y="611676"/>
                    <a:pt x="1098242" y="623274"/>
                    <a:pt x="1097626" y="634854"/>
                  </a:cubicBezTo>
                </a:path>
              </a:pathLst>
            </a:custGeom>
            <a:noFill/>
            <a:ln w="50800" algn="ctr">
              <a:solidFill>
                <a:srgbClr val="E46C0A"/>
              </a:solidFill>
              <a:miter lim="800000"/>
              <a:headEnd/>
              <a:tailEnd/>
            </a:ln>
          </p:spPr>
          <p:txBody>
            <a:bodyPr rot="10800000" vert="eaVert" anchor="ctr"/>
            <a:lstStyle/>
            <a:p>
              <a:pPr algn="ctr" defTabSz="914400">
                <a:defRPr/>
              </a:pPr>
              <a:endParaRPr lang="zh-CN" altLang="en-US" sz="2800" b="1">
                <a:latin typeface="+mn-lt"/>
                <a:ea typeface="+mn-ea"/>
              </a:endParaRPr>
            </a:p>
          </p:txBody>
        </p:sp>
        <p:sp>
          <p:nvSpPr>
            <p:cNvPr id="990" name="弧形 989"/>
            <p:cNvSpPr>
              <a:spLocks noChangeArrowheads="1"/>
            </p:cNvSpPr>
            <p:nvPr/>
          </p:nvSpPr>
          <p:spPr bwMode="auto">
            <a:xfrm rot="-5400000">
              <a:off x="7480300" y="3276599"/>
              <a:ext cx="1422400" cy="1816101"/>
            </a:xfrm>
            <a:custGeom>
              <a:avLst/>
              <a:gdLst>
                <a:gd name="T0" fmla="*/ 711201 w 1422400"/>
                <a:gd name="T1" fmla="*/ 0 h 1816101"/>
                <a:gd name="T2" fmla="*/ 711200 w 1422400"/>
                <a:gd name="T3" fmla="*/ 908051 h 1816101"/>
                <a:gd name="T4" fmla="*/ 1422100 w 1422400"/>
                <a:gd name="T5" fmla="*/ 934414 h 1816101"/>
                <a:gd name="T6" fmla="*/ 11796480 60000 65536"/>
                <a:gd name="T7" fmla="*/ 11796480 60000 65536"/>
                <a:gd name="T8" fmla="*/ 5898240 60000 65536"/>
                <a:gd name="T9" fmla="*/ 711201 w 1422400"/>
                <a:gd name="T10" fmla="*/ 0 h 1816101"/>
                <a:gd name="T11" fmla="*/ 1422400 w 1422400"/>
                <a:gd name="T12" fmla="*/ 934414 h 1816101"/>
              </a:gdLst>
              <a:ahLst/>
              <a:cxnLst>
                <a:cxn ang="T6">
                  <a:pos x="T0" y="T1"/>
                </a:cxn>
                <a:cxn ang="T7">
                  <a:pos x="T2" y="T3"/>
                </a:cxn>
                <a:cxn ang="T8">
                  <a:pos x="T4" y="T5"/>
                </a:cxn>
              </a:cxnLst>
              <a:rect l="T9" t="T10" r="T11" b="T12"/>
              <a:pathLst>
                <a:path w="1422400" h="1816101" stroke="0">
                  <a:moveTo>
                    <a:pt x="711201" y="0"/>
                  </a:moveTo>
                  <a:lnTo>
                    <a:pt x="711200" y="0"/>
                  </a:lnTo>
                  <a:cubicBezTo>
                    <a:pt x="1103985" y="0"/>
                    <a:pt x="1422400" y="406548"/>
                    <a:pt x="1422400" y="908051"/>
                  </a:cubicBezTo>
                  <a:cubicBezTo>
                    <a:pt x="1422400" y="916840"/>
                    <a:pt x="1422300" y="925629"/>
                    <a:pt x="1422100" y="934416"/>
                  </a:cubicBezTo>
                  <a:lnTo>
                    <a:pt x="711200" y="908051"/>
                  </a:lnTo>
                  <a:close/>
                </a:path>
                <a:path w="1422400" h="1816101" fill="none">
                  <a:moveTo>
                    <a:pt x="711201" y="0"/>
                  </a:moveTo>
                  <a:lnTo>
                    <a:pt x="711200" y="0"/>
                  </a:lnTo>
                  <a:cubicBezTo>
                    <a:pt x="1103985" y="0"/>
                    <a:pt x="1422400" y="406548"/>
                    <a:pt x="1422400" y="908051"/>
                  </a:cubicBezTo>
                  <a:cubicBezTo>
                    <a:pt x="1422400" y="916840"/>
                    <a:pt x="1422300" y="925629"/>
                    <a:pt x="1422100" y="934416"/>
                  </a:cubicBezTo>
                </a:path>
              </a:pathLst>
            </a:custGeom>
            <a:noFill/>
            <a:ln w="50800" algn="ctr">
              <a:solidFill>
                <a:srgbClr val="E46C0A"/>
              </a:solidFill>
              <a:miter lim="800000"/>
              <a:headEnd/>
              <a:tailEnd/>
            </a:ln>
          </p:spPr>
          <p:txBody>
            <a:bodyPr vert="eaVert" anchor="ctr"/>
            <a:lstStyle/>
            <a:p>
              <a:pPr algn="ctr" defTabSz="914400">
                <a:defRPr/>
              </a:pPr>
              <a:endParaRPr lang="zh-CN" altLang="en-US" sz="2800" b="1">
                <a:latin typeface="+mn-lt"/>
                <a:ea typeface="+mn-ea"/>
              </a:endParaRPr>
            </a:p>
          </p:txBody>
        </p:sp>
      </p:grpSp>
      <p:grpSp>
        <p:nvGrpSpPr>
          <p:cNvPr id="284" name="组合 990"/>
          <p:cNvGrpSpPr>
            <a:grpSpLocks/>
          </p:cNvGrpSpPr>
          <p:nvPr/>
        </p:nvGrpSpPr>
        <p:grpSpPr bwMode="auto">
          <a:xfrm>
            <a:off x="7741603" y="4681538"/>
            <a:ext cx="3016250" cy="1422400"/>
            <a:chOff x="6083300" y="3206750"/>
            <a:chExt cx="3016252" cy="1422400"/>
          </a:xfrm>
        </p:grpSpPr>
        <p:sp>
          <p:nvSpPr>
            <p:cNvPr id="992" name="弧形 991"/>
            <p:cNvSpPr>
              <a:spLocks noChangeArrowheads="1"/>
            </p:cNvSpPr>
            <p:nvPr/>
          </p:nvSpPr>
          <p:spPr bwMode="auto">
            <a:xfrm rot="5400000">
              <a:off x="6134100" y="3302000"/>
              <a:ext cx="1098550" cy="1200151"/>
            </a:xfrm>
            <a:custGeom>
              <a:avLst/>
              <a:gdLst>
                <a:gd name="T0" fmla="*/ 549276 w 1098550"/>
                <a:gd name="T1" fmla="*/ 0 h 1200151"/>
                <a:gd name="T2" fmla="*/ 549275 w 1098550"/>
                <a:gd name="T3" fmla="*/ 600076 h 1200151"/>
                <a:gd name="T4" fmla="*/ 1097627 w 1098550"/>
                <a:gd name="T5" fmla="*/ 634853 h 1200151"/>
                <a:gd name="T6" fmla="*/ 11796480 60000 65536"/>
                <a:gd name="T7" fmla="*/ 11796480 60000 65536"/>
                <a:gd name="T8" fmla="*/ 5898240 60000 65536"/>
                <a:gd name="T9" fmla="*/ 549276 w 1098550"/>
                <a:gd name="T10" fmla="*/ 0 h 1200151"/>
                <a:gd name="T11" fmla="*/ 1098550 w 1098550"/>
                <a:gd name="T12" fmla="*/ 634853 h 1200151"/>
              </a:gdLst>
              <a:ahLst/>
              <a:cxnLst>
                <a:cxn ang="T6">
                  <a:pos x="T0" y="T1"/>
                </a:cxn>
                <a:cxn ang="T7">
                  <a:pos x="T2" y="T3"/>
                </a:cxn>
                <a:cxn ang="T8">
                  <a:pos x="T4" y="T5"/>
                </a:cxn>
              </a:cxnLst>
              <a:rect l="T9" t="T10" r="T11" b="T12"/>
              <a:pathLst>
                <a:path w="1098550" h="1200151" stroke="0">
                  <a:moveTo>
                    <a:pt x="549276" y="0"/>
                  </a:moveTo>
                  <a:lnTo>
                    <a:pt x="549275" y="0"/>
                  </a:lnTo>
                  <a:cubicBezTo>
                    <a:pt x="852631" y="0"/>
                    <a:pt x="1098550" y="268663"/>
                    <a:pt x="1098550" y="600076"/>
                  </a:cubicBezTo>
                  <a:cubicBezTo>
                    <a:pt x="1098550" y="611676"/>
                    <a:pt x="1098242" y="623274"/>
                    <a:pt x="1097626" y="634854"/>
                  </a:cubicBezTo>
                  <a:lnTo>
                    <a:pt x="549275" y="600076"/>
                  </a:lnTo>
                  <a:close/>
                </a:path>
                <a:path w="1098550" h="1200151" fill="none">
                  <a:moveTo>
                    <a:pt x="549276" y="0"/>
                  </a:moveTo>
                  <a:lnTo>
                    <a:pt x="549275" y="0"/>
                  </a:lnTo>
                  <a:cubicBezTo>
                    <a:pt x="852631" y="0"/>
                    <a:pt x="1098550" y="268663"/>
                    <a:pt x="1098550" y="600076"/>
                  </a:cubicBezTo>
                  <a:cubicBezTo>
                    <a:pt x="1098550" y="611676"/>
                    <a:pt x="1098242" y="623274"/>
                    <a:pt x="1097626" y="634854"/>
                  </a:cubicBezTo>
                </a:path>
              </a:pathLst>
            </a:custGeom>
            <a:noFill/>
            <a:ln w="50800" algn="ctr">
              <a:solidFill>
                <a:srgbClr val="E46C0A"/>
              </a:solidFill>
              <a:miter lim="800000"/>
              <a:headEnd/>
              <a:tailEnd/>
            </a:ln>
          </p:spPr>
          <p:txBody>
            <a:bodyPr rot="10800000" vert="eaVert" anchor="ctr"/>
            <a:lstStyle/>
            <a:p>
              <a:pPr algn="ctr" defTabSz="914400">
                <a:defRPr/>
              </a:pPr>
              <a:endParaRPr lang="zh-CN" altLang="en-US" sz="2800" b="1">
                <a:latin typeface="+mn-lt"/>
                <a:ea typeface="+mn-ea"/>
              </a:endParaRPr>
            </a:p>
          </p:txBody>
        </p:sp>
        <p:sp>
          <p:nvSpPr>
            <p:cNvPr id="993" name="弧形 992"/>
            <p:cNvSpPr>
              <a:spLocks noChangeArrowheads="1"/>
            </p:cNvSpPr>
            <p:nvPr/>
          </p:nvSpPr>
          <p:spPr bwMode="auto">
            <a:xfrm rot="-5400000">
              <a:off x="7480301" y="3009899"/>
              <a:ext cx="1422400" cy="1816101"/>
            </a:xfrm>
            <a:custGeom>
              <a:avLst/>
              <a:gdLst>
                <a:gd name="T0" fmla="*/ 711201 w 1422400"/>
                <a:gd name="T1" fmla="*/ 0 h 1816101"/>
                <a:gd name="T2" fmla="*/ 711200 w 1422400"/>
                <a:gd name="T3" fmla="*/ 908051 h 1816101"/>
                <a:gd name="T4" fmla="*/ 1422100 w 1422400"/>
                <a:gd name="T5" fmla="*/ 934414 h 1816101"/>
                <a:gd name="T6" fmla="*/ 11796480 60000 65536"/>
                <a:gd name="T7" fmla="*/ 11796480 60000 65536"/>
                <a:gd name="T8" fmla="*/ 5898240 60000 65536"/>
                <a:gd name="T9" fmla="*/ 711201 w 1422400"/>
                <a:gd name="T10" fmla="*/ 0 h 1816101"/>
                <a:gd name="T11" fmla="*/ 1422400 w 1422400"/>
                <a:gd name="T12" fmla="*/ 934414 h 1816101"/>
              </a:gdLst>
              <a:ahLst/>
              <a:cxnLst>
                <a:cxn ang="T6">
                  <a:pos x="T0" y="T1"/>
                </a:cxn>
                <a:cxn ang="T7">
                  <a:pos x="T2" y="T3"/>
                </a:cxn>
                <a:cxn ang="T8">
                  <a:pos x="T4" y="T5"/>
                </a:cxn>
              </a:cxnLst>
              <a:rect l="T9" t="T10" r="T11" b="T12"/>
              <a:pathLst>
                <a:path w="1422400" h="1816101" stroke="0">
                  <a:moveTo>
                    <a:pt x="711201" y="0"/>
                  </a:moveTo>
                  <a:lnTo>
                    <a:pt x="711200" y="0"/>
                  </a:lnTo>
                  <a:cubicBezTo>
                    <a:pt x="1103985" y="0"/>
                    <a:pt x="1422400" y="406548"/>
                    <a:pt x="1422400" y="908051"/>
                  </a:cubicBezTo>
                  <a:cubicBezTo>
                    <a:pt x="1422400" y="916840"/>
                    <a:pt x="1422300" y="925629"/>
                    <a:pt x="1422100" y="934416"/>
                  </a:cubicBezTo>
                  <a:lnTo>
                    <a:pt x="711200" y="908051"/>
                  </a:lnTo>
                  <a:close/>
                </a:path>
                <a:path w="1422400" h="1816101" fill="none">
                  <a:moveTo>
                    <a:pt x="711201" y="0"/>
                  </a:moveTo>
                  <a:lnTo>
                    <a:pt x="711200" y="0"/>
                  </a:lnTo>
                  <a:cubicBezTo>
                    <a:pt x="1103985" y="0"/>
                    <a:pt x="1422400" y="406548"/>
                    <a:pt x="1422400" y="908051"/>
                  </a:cubicBezTo>
                  <a:cubicBezTo>
                    <a:pt x="1422400" y="916840"/>
                    <a:pt x="1422300" y="925629"/>
                    <a:pt x="1422100" y="934416"/>
                  </a:cubicBezTo>
                </a:path>
              </a:pathLst>
            </a:custGeom>
            <a:noFill/>
            <a:ln w="50800" algn="ctr">
              <a:solidFill>
                <a:srgbClr val="E46C0A"/>
              </a:solidFill>
              <a:miter lim="800000"/>
              <a:headEnd/>
              <a:tailEnd/>
            </a:ln>
          </p:spPr>
          <p:txBody>
            <a:bodyPr vert="eaVert" anchor="ctr"/>
            <a:lstStyle/>
            <a:p>
              <a:pPr algn="ctr" defTabSz="914400">
                <a:defRPr/>
              </a:pPr>
              <a:endParaRPr lang="zh-CN" altLang="en-US" sz="2800" b="1">
                <a:latin typeface="+mn-lt"/>
                <a:ea typeface="+mn-ea"/>
              </a:endParaRPr>
            </a:p>
          </p:txBody>
        </p:sp>
      </p:grpSp>
      <p:grpSp>
        <p:nvGrpSpPr>
          <p:cNvPr id="285" name="组合 995"/>
          <p:cNvGrpSpPr>
            <a:grpSpLocks/>
          </p:cNvGrpSpPr>
          <p:nvPr/>
        </p:nvGrpSpPr>
        <p:grpSpPr bwMode="auto">
          <a:xfrm>
            <a:off x="8079740" y="5133975"/>
            <a:ext cx="2222500" cy="2073275"/>
            <a:chOff x="6513486" y="4699552"/>
            <a:chExt cx="2223144" cy="2073606"/>
          </a:xfrm>
        </p:grpSpPr>
        <p:sp>
          <p:nvSpPr>
            <p:cNvPr id="994" name="弧形 993"/>
            <p:cNvSpPr/>
            <p:nvPr/>
          </p:nvSpPr>
          <p:spPr>
            <a:xfrm rot="20312936">
              <a:off x="6513486" y="5461674"/>
              <a:ext cx="916253" cy="1311484"/>
            </a:xfrm>
            <a:prstGeom prst="arc">
              <a:avLst>
                <a:gd name="adj1" fmla="val 16239323"/>
                <a:gd name="adj2" fmla="val 124288"/>
              </a:avLst>
            </a:prstGeom>
            <a:ln w="508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p>
          </p:txBody>
        </p:sp>
        <p:sp>
          <p:nvSpPr>
            <p:cNvPr id="995" name="弧形 994"/>
            <p:cNvSpPr>
              <a:spLocks noChangeArrowheads="1"/>
            </p:cNvSpPr>
            <p:nvPr/>
          </p:nvSpPr>
          <p:spPr bwMode="auto">
            <a:xfrm rot="9567625">
              <a:off x="7337638" y="4699552"/>
              <a:ext cx="1398992" cy="1906892"/>
            </a:xfrm>
            <a:custGeom>
              <a:avLst/>
              <a:gdLst>
                <a:gd name="T0" fmla="*/ 699497 w 1398992"/>
                <a:gd name="T1" fmla="*/ 0 h 1906892"/>
                <a:gd name="T2" fmla="*/ 699496 w 1398992"/>
                <a:gd name="T3" fmla="*/ 953446 h 1906892"/>
                <a:gd name="T4" fmla="*/ 1398610 w 1398992"/>
                <a:gd name="T5" fmla="*/ 921929 h 1906892"/>
                <a:gd name="T6" fmla="*/ 11796480 60000 65536"/>
                <a:gd name="T7" fmla="*/ 17694720 60000 65536"/>
                <a:gd name="T8" fmla="*/ 5898240 60000 65536"/>
                <a:gd name="T9" fmla="*/ 699497 w 1398992"/>
                <a:gd name="T10" fmla="*/ 0 h 1906892"/>
                <a:gd name="T11" fmla="*/ 1398610 w 1398992"/>
                <a:gd name="T12" fmla="*/ 921929 h 1906892"/>
              </a:gdLst>
              <a:ahLst/>
              <a:cxnLst>
                <a:cxn ang="T6">
                  <a:pos x="T0" y="T1"/>
                </a:cxn>
                <a:cxn ang="T7">
                  <a:pos x="T2" y="T3"/>
                </a:cxn>
                <a:cxn ang="T8">
                  <a:pos x="T4" y="T5"/>
                </a:cxn>
              </a:cxnLst>
              <a:rect l="T9" t="T10" r="T11" b="T12"/>
              <a:pathLst>
                <a:path w="1398992" h="1906892" stroke="0">
                  <a:moveTo>
                    <a:pt x="699497" y="0"/>
                  </a:moveTo>
                  <a:lnTo>
                    <a:pt x="699496" y="0"/>
                  </a:lnTo>
                  <a:cubicBezTo>
                    <a:pt x="1076816" y="0"/>
                    <a:pt x="1386137" y="407905"/>
                    <a:pt x="1398609" y="921929"/>
                  </a:cubicBezTo>
                  <a:lnTo>
                    <a:pt x="699496" y="953446"/>
                  </a:lnTo>
                  <a:close/>
                </a:path>
                <a:path w="1398992" h="1906892" fill="none">
                  <a:moveTo>
                    <a:pt x="699497" y="0"/>
                  </a:moveTo>
                  <a:lnTo>
                    <a:pt x="699496" y="0"/>
                  </a:lnTo>
                  <a:cubicBezTo>
                    <a:pt x="1076816" y="0"/>
                    <a:pt x="1386137" y="407905"/>
                    <a:pt x="1398609" y="921929"/>
                  </a:cubicBezTo>
                </a:path>
              </a:pathLst>
            </a:custGeom>
            <a:noFill/>
            <a:ln w="50800" algn="ctr">
              <a:solidFill>
                <a:srgbClr val="0070C0"/>
              </a:solidFill>
              <a:miter lim="800000"/>
              <a:headEnd/>
              <a:tailEnd/>
            </a:ln>
          </p:spPr>
          <p:txBody>
            <a:bodyPr rot="10800000" anchor="ctr"/>
            <a:lstStyle/>
            <a:p>
              <a:pPr algn="ctr" defTabSz="914400">
                <a:defRPr/>
              </a:pPr>
              <a:endParaRPr lang="zh-CN" altLang="en-US" sz="2800" b="1">
                <a:latin typeface="+mn-lt"/>
                <a:ea typeface="+mn-ea"/>
              </a:endParaRPr>
            </a:p>
          </p:txBody>
        </p:sp>
      </p:grpSp>
      <p:sp>
        <p:nvSpPr>
          <p:cNvPr id="12383" name="TextBox 1008"/>
          <p:cNvSpPr txBox="1">
            <a:spLocks noChangeArrowheads="1"/>
          </p:cNvSpPr>
          <p:nvPr/>
        </p:nvSpPr>
        <p:spPr bwMode="auto">
          <a:xfrm>
            <a:off x="7190740" y="3962400"/>
            <a:ext cx="57785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E</a:t>
            </a:r>
            <a:r>
              <a:rPr lang="en-US" altLang="zh-CN" sz="1800" b="1">
                <a:latin typeface="Times New Roman" pitchFamily="18" charset="0"/>
                <a:ea typeface="楷体_GB2312" pitchFamily="49" charset="-122"/>
                <a:cs typeface="Times New Roman" pitchFamily="18" charset="0"/>
              </a:rPr>
              <a:t>o</a:t>
            </a:r>
            <a:endParaRPr lang="zh-CN" altLang="en-US" sz="1800" b="1">
              <a:latin typeface="Times New Roman" pitchFamily="18" charset="0"/>
              <a:ea typeface="楷体_GB2312" pitchFamily="49" charset="-122"/>
              <a:cs typeface="Times New Roman" pitchFamily="18" charset="0"/>
            </a:endParaRPr>
          </a:p>
        </p:txBody>
      </p:sp>
      <p:sp>
        <p:nvSpPr>
          <p:cNvPr id="12384" name="TextBox 1009"/>
          <p:cNvSpPr txBox="1">
            <a:spLocks noChangeArrowheads="1"/>
          </p:cNvSpPr>
          <p:nvPr/>
        </p:nvSpPr>
        <p:spPr bwMode="auto">
          <a:xfrm>
            <a:off x="8079740" y="3028950"/>
            <a:ext cx="53340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楷体_GB2312" pitchFamily="49" charset="-122"/>
                <a:cs typeface="Times New Roman" pitchFamily="18" charset="0"/>
              </a:rPr>
              <a:t>W</a:t>
            </a:r>
            <a:r>
              <a:rPr lang="en-US" altLang="zh-CN" b="1" baseline="-25000">
                <a:latin typeface="Times New Roman" pitchFamily="18" charset="0"/>
                <a:ea typeface="楷体_GB2312" pitchFamily="49" charset="-122"/>
                <a:cs typeface="Times New Roman" pitchFamily="18" charset="0"/>
              </a:rPr>
              <a:t>p</a:t>
            </a:r>
            <a:endParaRPr lang="zh-CN" altLang="en-US" b="1" baseline="-25000">
              <a:latin typeface="Times New Roman" pitchFamily="18" charset="0"/>
              <a:ea typeface="楷体_GB2312" pitchFamily="49" charset="-122"/>
              <a:cs typeface="Times New Roman" pitchFamily="18" charset="0"/>
            </a:endParaRPr>
          </a:p>
        </p:txBody>
      </p:sp>
      <p:sp>
        <p:nvSpPr>
          <p:cNvPr id="12385" name="TextBox 1010"/>
          <p:cNvSpPr txBox="1">
            <a:spLocks noChangeArrowheads="1"/>
          </p:cNvSpPr>
          <p:nvPr/>
        </p:nvSpPr>
        <p:spPr bwMode="auto">
          <a:xfrm>
            <a:off x="9546590" y="3028950"/>
            <a:ext cx="53340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楷体_GB2312" pitchFamily="49" charset="-122"/>
                <a:cs typeface="Times New Roman" pitchFamily="18" charset="0"/>
              </a:rPr>
              <a:t>W</a:t>
            </a:r>
            <a:r>
              <a:rPr lang="en-US" altLang="zh-CN" b="1" baseline="-25000">
                <a:latin typeface="Times New Roman" pitchFamily="18" charset="0"/>
                <a:ea typeface="楷体_GB2312" pitchFamily="49" charset="-122"/>
                <a:cs typeface="Times New Roman" pitchFamily="18" charset="0"/>
              </a:rPr>
              <a:t>n</a:t>
            </a:r>
            <a:endParaRPr lang="zh-CN" altLang="en-US" b="1" baseline="-25000">
              <a:latin typeface="Times New Roman" pitchFamily="18" charset="0"/>
              <a:ea typeface="楷体_GB2312" pitchFamily="49" charset="-122"/>
              <a:cs typeface="Times New Roman" pitchFamily="18" charset="0"/>
            </a:endParaRPr>
          </a:p>
        </p:txBody>
      </p:sp>
      <p:sp>
        <p:nvSpPr>
          <p:cNvPr id="12387" name="TextBox 1012"/>
          <p:cNvSpPr txBox="1">
            <a:spLocks noChangeArrowheads="1"/>
          </p:cNvSpPr>
          <p:nvPr/>
        </p:nvSpPr>
        <p:spPr bwMode="auto">
          <a:xfrm>
            <a:off x="4611370" y="3429000"/>
            <a:ext cx="577850" cy="457200"/>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楷体_GB2312" pitchFamily="49" charset="-122"/>
                <a:cs typeface="Times New Roman" pitchFamily="18" charset="0"/>
              </a:rPr>
              <a:t>U</a:t>
            </a:r>
            <a:r>
              <a:rPr lang="en-US" altLang="zh-CN" sz="2400" b="1" baseline="-25000">
                <a:latin typeface="Times New Roman" pitchFamily="18" charset="0"/>
                <a:ea typeface="楷体_GB2312" pitchFamily="49" charset="-122"/>
                <a:cs typeface="Times New Roman" pitchFamily="18" charset="0"/>
              </a:rPr>
              <a:t>o</a:t>
            </a:r>
            <a:endParaRPr lang="zh-CN" altLang="en-US" sz="2400" b="1" baseline="-25000">
              <a:latin typeface="Times New Roman" pitchFamily="18" charset="0"/>
              <a:ea typeface="楷体_GB2312" pitchFamily="49" charset="-122"/>
              <a:cs typeface="Times New Roman" pitchFamily="18" charset="0"/>
            </a:endParaRPr>
          </a:p>
        </p:txBody>
      </p:sp>
      <p:grpSp>
        <p:nvGrpSpPr>
          <p:cNvPr id="286" name="组合 360"/>
          <p:cNvGrpSpPr>
            <a:grpSpLocks/>
          </p:cNvGrpSpPr>
          <p:nvPr/>
        </p:nvGrpSpPr>
        <p:grpSpPr bwMode="auto">
          <a:xfrm>
            <a:off x="1988820" y="3678238"/>
            <a:ext cx="3556000" cy="1558925"/>
            <a:chOff x="1104900" y="3189585"/>
            <a:chExt cx="3556000" cy="1558630"/>
          </a:xfrm>
        </p:grpSpPr>
        <p:cxnSp>
          <p:nvCxnSpPr>
            <p:cNvPr id="986" name="直接箭头连接符 985"/>
            <p:cNvCxnSpPr/>
            <p:nvPr/>
          </p:nvCxnSpPr>
          <p:spPr>
            <a:xfrm>
              <a:off x="1638300" y="4495850"/>
              <a:ext cx="2667000" cy="1588"/>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987" name="直接箭头连接符 986"/>
            <p:cNvCxnSpPr/>
            <p:nvPr/>
          </p:nvCxnSpPr>
          <p:spPr>
            <a:xfrm rot="5400000" flipH="1" flipV="1">
              <a:off x="1038339" y="3895888"/>
              <a:ext cx="1199923"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38156" name="TextBox 1011"/>
            <p:cNvSpPr txBox="1">
              <a:spLocks noChangeArrowheads="1"/>
            </p:cNvSpPr>
            <p:nvPr/>
          </p:nvSpPr>
          <p:spPr bwMode="auto">
            <a:xfrm>
              <a:off x="1104900" y="3189585"/>
              <a:ext cx="400050" cy="457113"/>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楷体_GB2312" pitchFamily="49" charset="-122"/>
                  <a:cs typeface="Times New Roman" pitchFamily="18" charset="0"/>
                </a:rPr>
                <a:t>U</a:t>
              </a:r>
              <a:endParaRPr lang="zh-CN" altLang="en-US" sz="2400" b="1">
                <a:latin typeface="Times New Roman" pitchFamily="18" charset="0"/>
                <a:ea typeface="楷体_GB2312" pitchFamily="49" charset="-122"/>
                <a:cs typeface="Times New Roman" pitchFamily="18" charset="0"/>
              </a:endParaRPr>
            </a:p>
          </p:txBody>
        </p:sp>
        <p:sp>
          <p:nvSpPr>
            <p:cNvPr id="38157" name="TextBox 1013"/>
            <p:cNvSpPr txBox="1">
              <a:spLocks noChangeArrowheads="1"/>
            </p:cNvSpPr>
            <p:nvPr/>
          </p:nvSpPr>
          <p:spPr bwMode="auto">
            <a:xfrm>
              <a:off x="4260850" y="4229201"/>
              <a:ext cx="400050" cy="519014"/>
            </a:xfrm>
            <a:prstGeom prst="rect">
              <a:avLst/>
            </a:prstGeom>
            <a:noFill/>
            <a:ln w="9525">
              <a:noFill/>
              <a:miter lim="800000"/>
              <a:headEnd/>
              <a:tailEnd/>
            </a:ln>
          </p:spPr>
          <p:txBody>
            <a:bodyPr>
              <a:spAutoFit/>
            </a:bodyPr>
            <a:lstStyle/>
            <a:p>
              <a:pPr defTabSz="914400"/>
              <a:r>
                <a:rPr lang="en-US" altLang="zh-CN" sz="2800" b="1" i="1">
                  <a:latin typeface="Times New Roman" pitchFamily="18" charset="0"/>
                  <a:ea typeface="楷体_GB2312" pitchFamily="49" charset="-122"/>
                  <a:cs typeface="Times New Roman" pitchFamily="18" charset="0"/>
                </a:rPr>
                <a:t>x</a:t>
              </a:r>
              <a:endParaRPr lang="zh-CN" altLang="en-US" sz="2800" b="1" i="1">
                <a:latin typeface="Times New Roman" pitchFamily="18" charset="0"/>
                <a:ea typeface="楷体_GB2312" pitchFamily="49" charset="-122"/>
                <a:cs typeface="Times New Roman" pitchFamily="18" charset="0"/>
              </a:endParaRPr>
            </a:p>
          </p:txBody>
        </p:sp>
      </p:grpSp>
      <p:sp>
        <p:nvSpPr>
          <p:cNvPr id="12390" name="TextBox 1015"/>
          <p:cNvSpPr txBox="1">
            <a:spLocks noChangeArrowheads="1"/>
          </p:cNvSpPr>
          <p:nvPr/>
        </p:nvSpPr>
        <p:spPr bwMode="auto">
          <a:xfrm>
            <a:off x="10524490" y="5659438"/>
            <a:ext cx="400050" cy="519112"/>
          </a:xfrm>
          <a:prstGeom prst="rect">
            <a:avLst/>
          </a:prstGeom>
          <a:noFill/>
          <a:ln w="9525">
            <a:noFill/>
            <a:miter lim="800000"/>
            <a:headEnd/>
            <a:tailEnd/>
          </a:ln>
        </p:spPr>
        <p:txBody>
          <a:bodyPr>
            <a:spAutoFit/>
          </a:bodyPr>
          <a:lstStyle/>
          <a:p>
            <a:pPr defTabSz="914400"/>
            <a:r>
              <a:rPr lang="en-US" altLang="zh-CN" sz="2800" b="1" i="1">
                <a:latin typeface="Times New Roman" pitchFamily="18" charset="0"/>
                <a:ea typeface="楷体_GB2312" pitchFamily="49" charset="-122"/>
                <a:cs typeface="Times New Roman" pitchFamily="18" charset="0"/>
              </a:rPr>
              <a:t>x</a:t>
            </a:r>
            <a:endParaRPr lang="zh-CN" altLang="en-US" sz="2800" b="1" i="1">
              <a:latin typeface="Times New Roman" pitchFamily="18" charset="0"/>
              <a:ea typeface="楷体_GB2312" pitchFamily="49" charset="-122"/>
              <a:cs typeface="Times New Roman" pitchFamily="18" charset="0"/>
            </a:endParaRPr>
          </a:p>
        </p:txBody>
      </p:sp>
      <p:grpSp>
        <p:nvGrpSpPr>
          <p:cNvPr id="287" name="组合 366"/>
          <p:cNvGrpSpPr>
            <a:grpSpLocks/>
          </p:cNvGrpSpPr>
          <p:nvPr/>
        </p:nvGrpSpPr>
        <p:grpSpPr bwMode="auto">
          <a:xfrm>
            <a:off x="7235190" y="3206750"/>
            <a:ext cx="3644900" cy="1200150"/>
            <a:chOff x="4705350" y="2717800"/>
            <a:chExt cx="3644900" cy="1200150"/>
          </a:xfrm>
        </p:grpSpPr>
        <p:cxnSp>
          <p:nvCxnSpPr>
            <p:cNvPr id="975" name="直接箭头连接符 974"/>
            <p:cNvCxnSpPr/>
            <p:nvPr/>
          </p:nvCxnSpPr>
          <p:spPr>
            <a:xfrm>
              <a:off x="5229225" y="3027363"/>
              <a:ext cx="2717800" cy="1587"/>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981" name="直接箭头连接符 980"/>
            <p:cNvCxnSpPr/>
            <p:nvPr/>
          </p:nvCxnSpPr>
          <p:spPr>
            <a:xfrm rot="5400000" flipH="1" flipV="1">
              <a:off x="4611688" y="3317875"/>
              <a:ext cx="120015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38162" name="TextBox 1007"/>
            <p:cNvSpPr txBox="1">
              <a:spLocks noChangeArrowheads="1"/>
            </p:cNvSpPr>
            <p:nvPr/>
          </p:nvSpPr>
          <p:spPr bwMode="auto">
            <a:xfrm>
              <a:off x="4705350" y="2717800"/>
              <a:ext cx="444500" cy="457200"/>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楷体_GB2312" pitchFamily="49" charset="-122"/>
                  <a:cs typeface="Times New Roman" pitchFamily="18" charset="0"/>
                </a:rPr>
                <a:t>E</a:t>
              </a:r>
              <a:endParaRPr lang="zh-CN" altLang="en-US" sz="2400" b="1">
                <a:latin typeface="Times New Roman" pitchFamily="18" charset="0"/>
                <a:ea typeface="楷体_GB2312" pitchFamily="49" charset="-122"/>
                <a:cs typeface="Times New Roman" pitchFamily="18" charset="0"/>
              </a:endParaRPr>
            </a:p>
          </p:txBody>
        </p:sp>
        <p:sp>
          <p:nvSpPr>
            <p:cNvPr id="38163" name="TextBox 1016"/>
            <p:cNvSpPr txBox="1">
              <a:spLocks noChangeArrowheads="1"/>
            </p:cNvSpPr>
            <p:nvPr/>
          </p:nvSpPr>
          <p:spPr bwMode="auto">
            <a:xfrm>
              <a:off x="7950200" y="2717800"/>
              <a:ext cx="400050" cy="519113"/>
            </a:xfrm>
            <a:prstGeom prst="rect">
              <a:avLst/>
            </a:prstGeom>
            <a:noFill/>
            <a:ln w="9525">
              <a:noFill/>
              <a:miter lim="800000"/>
              <a:headEnd/>
              <a:tailEnd/>
            </a:ln>
          </p:spPr>
          <p:txBody>
            <a:bodyPr>
              <a:spAutoFit/>
            </a:bodyPr>
            <a:lstStyle/>
            <a:p>
              <a:pPr defTabSz="914400"/>
              <a:r>
                <a:rPr lang="en-US" altLang="zh-CN" sz="2800" b="1" i="1">
                  <a:latin typeface="Times New Roman" pitchFamily="18" charset="0"/>
                  <a:ea typeface="楷体_GB2312" pitchFamily="49" charset="-122"/>
                  <a:cs typeface="Times New Roman" pitchFamily="18" charset="0"/>
                </a:rPr>
                <a:t>x</a:t>
              </a:r>
              <a:endParaRPr lang="zh-CN" altLang="en-US" sz="2800" b="1" i="1">
                <a:latin typeface="Times New Roman" pitchFamily="18" charset="0"/>
                <a:ea typeface="楷体_GB2312" pitchFamily="49" charset="-122"/>
                <a:cs typeface="Times New Roman" pitchFamily="18" charset="0"/>
              </a:endParaRPr>
            </a:p>
          </p:txBody>
        </p:sp>
      </p:grpSp>
      <p:sp>
        <p:nvSpPr>
          <p:cNvPr id="12393" name="TextBox 1018"/>
          <p:cNvSpPr txBox="1">
            <a:spLocks noChangeArrowheads="1"/>
          </p:cNvSpPr>
          <p:nvPr/>
        </p:nvSpPr>
        <p:spPr bwMode="auto">
          <a:xfrm>
            <a:off x="7190740" y="4540250"/>
            <a:ext cx="577850" cy="457200"/>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楷体_GB2312" pitchFamily="49" charset="-122"/>
                <a:cs typeface="Times New Roman" pitchFamily="18" charset="0"/>
              </a:rPr>
              <a:t>PE</a:t>
            </a:r>
            <a:endParaRPr lang="zh-CN" altLang="en-US" sz="2400" b="1">
              <a:latin typeface="Times New Roman" pitchFamily="18" charset="0"/>
              <a:ea typeface="楷体_GB2312" pitchFamily="49" charset="-122"/>
              <a:cs typeface="Times New Roman" pitchFamily="18" charset="0"/>
            </a:endParaRPr>
          </a:p>
        </p:txBody>
      </p:sp>
      <p:sp>
        <p:nvSpPr>
          <p:cNvPr id="12394" name="TextBox 1019"/>
          <p:cNvSpPr txBox="1">
            <a:spLocks noChangeArrowheads="1"/>
          </p:cNvSpPr>
          <p:nvPr/>
        </p:nvSpPr>
        <p:spPr bwMode="auto">
          <a:xfrm>
            <a:off x="9902190" y="4406900"/>
            <a:ext cx="8890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e</a:t>
            </a:r>
            <a:r>
              <a:rPr lang="en-US" altLang="zh-CN" sz="2400" b="1">
                <a:latin typeface="Times New Roman" pitchFamily="18" charset="0"/>
                <a:ea typeface="楷体_GB2312" pitchFamily="49" charset="-122"/>
                <a:cs typeface="Times New Roman" pitchFamily="18" charset="0"/>
              </a:rPr>
              <a:t>U</a:t>
            </a:r>
            <a:r>
              <a:rPr lang="en-US" altLang="zh-CN" sz="1800" b="1">
                <a:latin typeface="Times New Roman" pitchFamily="18" charset="0"/>
                <a:ea typeface="楷体_GB2312" pitchFamily="49" charset="-122"/>
                <a:cs typeface="Times New Roman" pitchFamily="18" charset="0"/>
              </a:rPr>
              <a:t>o</a:t>
            </a:r>
            <a:endParaRPr lang="zh-CN" altLang="en-US" sz="1800" b="1">
              <a:latin typeface="Times New Roman" pitchFamily="18" charset="0"/>
              <a:ea typeface="楷体_GB2312" pitchFamily="49" charset="-122"/>
              <a:cs typeface="Times New Roman" pitchFamily="18" charset="0"/>
            </a:endParaRPr>
          </a:p>
        </p:txBody>
      </p:sp>
      <p:sp>
        <p:nvSpPr>
          <p:cNvPr id="12395" name="TextBox 1020"/>
          <p:cNvSpPr txBox="1">
            <a:spLocks noChangeArrowheads="1"/>
          </p:cNvSpPr>
          <p:nvPr/>
        </p:nvSpPr>
        <p:spPr bwMode="auto">
          <a:xfrm>
            <a:off x="9902190" y="6681788"/>
            <a:ext cx="1139825"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-eU</a:t>
            </a:r>
            <a:r>
              <a:rPr lang="en-US" altLang="zh-CN" sz="1800" b="1">
                <a:latin typeface="Times New Roman" pitchFamily="18" charset="0"/>
                <a:ea typeface="楷体_GB2312" pitchFamily="49" charset="-122"/>
                <a:cs typeface="Times New Roman" pitchFamily="18" charset="0"/>
              </a:rPr>
              <a:t>o</a:t>
            </a:r>
            <a:endParaRPr lang="zh-CN" altLang="en-US" sz="1800" b="1">
              <a:latin typeface="Times New Roman" pitchFamily="18" charset="0"/>
              <a:ea typeface="楷体_GB2312" pitchFamily="49" charset="-122"/>
              <a:cs typeface="Times New Roman" pitchFamily="18" charset="0"/>
            </a:endParaRPr>
          </a:p>
        </p:txBody>
      </p:sp>
      <p:sp>
        <p:nvSpPr>
          <p:cNvPr id="12396" name="TextBox 1021"/>
          <p:cNvSpPr txBox="1">
            <a:spLocks noChangeArrowheads="1"/>
          </p:cNvSpPr>
          <p:nvPr/>
        </p:nvSpPr>
        <p:spPr bwMode="auto">
          <a:xfrm>
            <a:off x="9806940" y="5207000"/>
            <a:ext cx="1606550" cy="457200"/>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楷体_GB2312" pitchFamily="49" charset="-122"/>
                <a:cs typeface="Times New Roman" pitchFamily="18" charset="0"/>
              </a:rPr>
              <a:t>Hole PE(</a:t>
            </a:r>
            <a:r>
              <a:rPr lang="en-US" altLang="zh-CN" sz="2400" b="1" i="1">
                <a:latin typeface="Times New Roman" pitchFamily="18" charset="0"/>
                <a:ea typeface="楷体_GB2312" pitchFamily="49" charset="-122"/>
                <a:cs typeface="Times New Roman" pitchFamily="18" charset="0"/>
              </a:rPr>
              <a:t>x</a:t>
            </a:r>
            <a:r>
              <a:rPr lang="en-US" altLang="zh-CN" sz="2400" b="1">
                <a:latin typeface="Times New Roman" pitchFamily="18" charset="0"/>
                <a:ea typeface="楷体_GB2312" pitchFamily="49" charset="-122"/>
                <a:cs typeface="Times New Roman" pitchFamily="18" charset="0"/>
              </a:rPr>
              <a:t>)</a:t>
            </a:r>
            <a:endParaRPr lang="zh-CN" altLang="en-US" sz="2400" b="1">
              <a:latin typeface="Times New Roman" pitchFamily="18" charset="0"/>
              <a:ea typeface="楷体_GB2312" pitchFamily="49" charset="-122"/>
              <a:cs typeface="Times New Roman" pitchFamily="18" charset="0"/>
            </a:endParaRPr>
          </a:p>
        </p:txBody>
      </p:sp>
      <p:sp>
        <p:nvSpPr>
          <p:cNvPr id="12397" name="TextBox 1022"/>
          <p:cNvSpPr txBox="1">
            <a:spLocks noChangeArrowheads="1"/>
          </p:cNvSpPr>
          <p:nvPr/>
        </p:nvSpPr>
        <p:spPr bwMode="auto">
          <a:xfrm>
            <a:off x="9279890" y="5962650"/>
            <a:ext cx="2222500" cy="457200"/>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楷体_GB2312" pitchFamily="49" charset="-122"/>
                <a:cs typeface="Times New Roman" pitchFamily="18" charset="0"/>
              </a:rPr>
              <a:t>Electron PE(</a:t>
            </a:r>
            <a:r>
              <a:rPr lang="en-US" altLang="zh-CN" sz="2400" b="1" i="1">
                <a:latin typeface="Times New Roman" pitchFamily="18" charset="0"/>
                <a:ea typeface="楷体_GB2312" pitchFamily="49" charset="-122"/>
                <a:cs typeface="Times New Roman" pitchFamily="18" charset="0"/>
              </a:rPr>
              <a:t>x</a:t>
            </a:r>
            <a:r>
              <a:rPr lang="en-US" altLang="zh-CN" sz="2400" b="1">
                <a:latin typeface="Times New Roman" pitchFamily="18" charset="0"/>
                <a:ea typeface="楷体_GB2312" pitchFamily="49" charset="-122"/>
                <a:cs typeface="Times New Roman" pitchFamily="18" charset="0"/>
              </a:rPr>
              <a:t>)</a:t>
            </a:r>
            <a:endParaRPr lang="zh-CN" altLang="en-US" sz="2400" b="1">
              <a:latin typeface="Times New Roman" pitchFamily="18" charset="0"/>
              <a:ea typeface="楷体_GB2312" pitchFamily="49" charset="-122"/>
              <a:cs typeface="Times New Roman" pitchFamily="18" charset="0"/>
            </a:endParaRPr>
          </a:p>
        </p:txBody>
      </p:sp>
      <p:cxnSp>
        <p:nvCxnSpPr>
          <p:cNvPr id="1025" name="直接箭头连接符 1024"/>
          <p:cNvCxnSpPr>
            <a:stCxn id="12396" idx="1"/>
          </p:cNvCxnSpPr>
          <p:nvPr/>
        </p:nvCxnSpPr>
        <p:spPr>
          <a:xfrm rot="10800000">
            <a:off x="9190990" y="4983163"/>
            <a:ext cx="615950" cy="452437"/>
          </a:xfrm>
          <a:prstGeom prst="straightConnector1">
            <a:avLst/>
          </a:prstGeom>
          <a:ln w="2857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26" name="直接箭头连接符 1025"/>
          <p:cNvCxnSpPr/>
          <p:nvPr/>
        </p:nvCxnSpPr>
        <p:spPr>
          <a:xfrm rot="10800000" flipV="1">
            <a:off x="9324340" y="6415088"/>
            <a:ext cx="400050" cy="355600"/>
          </a:xfrm>
          <a:prstGeom prst="straightConnector1">
            <a:avLst/>
          </a:prstGeom>
          <a:ln w="2857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nvGrpSpPr>
          <p:cNvPr id="996" name="组合 127"/>
          <p:cNvGrpSpPr>
            <a:grpSpLocks/>
          </p:cNvGrpSpPr>
          <p:nvPr/>
        </p:nvGrpSpPr>
        <p:grpSpPr bwMode="auto">
          <a:xfrm rot="-2117408">
            <a:off x="3201670" y="6257925"/>
            <a:ext cx="152400" cy="149225"/>
            <a:chOff x="3723561" y="4885168"/>
            <a:chExt cx="250120" cy="249766"/>
          </a:xfrm>
        </p:grpSpPr>
        <p:sp>
          <p:nvSpPr>
            <p:cNvPr id="3817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7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997" name="组合 127"/>
          <p:cNvGrpSpPr>
            <a:grpSpLocks/>
          </p:cNvGrpSpPr>
          <p:nvPr/>
        </p:nvGrpSpPr>
        <p:grpSpPr bwMode="auto">
          <a:xfrm rot="-2117408">
            <a:off x="3484245" y="6257925"/>
            <a:ext cx="153988" cy="149225"/>
            <a:chOff x="3723561" y="4885168"/>
            <a:chExt cx="250120" cy="249766"/>
          </a:xfrm>
        </p:grpSpPr>
        <p:sp>
          <p:nvSpPr>
            <p:cNvPr id="3817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7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998" name="组合 127"/>
          <p:cNvGrpSpPr>
            <a:grpSpLocks/>
          </p:cNvGrpSpPr>
          <p:nvPr/>
        </p:nvGrpSpPr>
        <p:grpSpPr bwMode="auto">
          <a:xfrm rot="-2117408">
            <a:off x="3241358" y="6465888"/>
            <a:ext cx="153987" cy="149225"/>
            <a:chOff x="3723561" y="4885168"/>
            <a:chExt cx="250120" cy="249766"/>
          </a:xfrm>
        </p:grpSpPr>
        <p:sp>
          <p:nvSpPr>
            <p:cNvPr id="3817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7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999" name="组合 127"/>
          <p:cNvGrpSpPr>
            <a:grpSpLocks/>
          </p:cNvGrpSpPr>
          <p:nvPr/>
        </p:nvGrpSpPr>
        <p:grpSpPr bwMode="auto">
          <a:xfrm rot="-2117408">
            <a:off x="3484245" y="6456363"/>
            <a:ext cx="153988" cy="149225"/>
            <a:chOff x="3723561" y="4885168"/>
            <a:chExt cx="250120" cy="249766"/>
          </a:xfrm>
        </p:grpSpPr>
        <p:sp>
          <p:nvSpPr>
            <p:cNvPr id="3818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8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1000" name="组合 127"/>
          <p:cNvGrpSpPr>
            <a:grpSpLocks/>
          </p:cNvGrpSpPr>
          <p:nvPr/>
        </p:nvGrpSpPr>
        <p:grpSpPr bwMode="auto">
          <a:xfrm rot="-2117408">
            <a:off x="3403283" y="6624638"/>
            <a:ext cx="153987" cy="149225"/>
            <a:chOff x="3723561" y="4885168"/>
            <a:chExt cx="250120" cy="249766"/>
          </a:xfrm>
        </p:grpSpPr>
        <p:sp>
          <p:nvSpPr>
            <p:cNvPr id="3818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8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1001" name="组合 128"/>
          <p:cNvGrpSpPr>
            <a:grpSpLocks/>
          </p:cNvGrpSpPr>
          <p:nvPr/>
        </p:nvGrpSpPr>
        <p:grpSpPr bwMode="auto">
          <a:xfrm rot="9849479">
            <a:off x="3839845" y="5783263"/>
            <a:ext cx="153988" cy="163512"/>
            <a:chOff x="5149850" y="4865143"/>
            <a:chExt cx="249687" cy="273256"/>
          </a:xfrm>
        </p:grpSpPr>
        <p:sp>
          <p:nvSpPr>
            <p:cNvPr id="3818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8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18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1002" name="组合 363"/>
          <p:cNvGrpSpPr>
            <a:grpSpLocks/>
          </p:cNvGrpSpPr>
          <p:nvPr/>
        </p:nvGrpSpPr>
        <p:grpSpPr bwMode="auto">
          <a:xfrm>
            <a:off x="3090545" y="5740400"/>
            <a:ext cx="1476375" cy="1111250"/>
            <a:chOff x="2206625" y="5251450"/>
            <a:chExt cx="1476375" cy="1111250"/>
          </a:xfrm>
        </p:grpSpPr>
        <p:cxnSp>
          <p:nvCxnSpPr>
            <p:cNvPr id="593" name="直接连接符 592"/>
            <p:cNvCxnSpPr/>
            <p:nvPr/>
          </p:nvCxnSpPr>
          <p:spPr>
            <a:xfrm rot="5400000">
              <a:off x="2238375" y="5807075"/>
              <a:ext cx="1111250" cy="0"/>
            </a:xfrm>
            <a:prstGeom prst="line">
              <a:avLst/>
            </a:prstGeom>
            <a:ln w="38100">
              <a:prstDash val="solid"/>
            </a:ln>
          </p:spPr>
          <p:style>
            <a:lnRef idx="1">
              <a:schemeClr val="dk1"/>
            </a:lnRef>
            <a:fillRef idx="0">
              <a:schemeClr val="dk1"/>
            </a:fillRef>
            <a:effectRef idx="0">
              <a:schemeClr val="dk1"/>
            </a:effectRef>
            <a:fontRef idx="minor">
              <a:schemeClr val="tx1"/>
            </a:fontRef>
          </p:style>
        </p:cxnSp>
        <p:cxnSp>
          <p:nvCxnSpPr>
            <p:cNvPr id="605" name="直接连接符 604"/>
            <p:cNvCxnSpPr/>
            <p:nvPr/>
          </p:nvCxnSpPr>
          <p:spPr>
            <a:xfrm>
              <a:off x="2527300" y="6338888"/>
              <a:ext cx="266700" cy="1587"/>
            </a:xfrm>
            <a:prstGeom prst="line">
              <a:avLst/>
            </a:prstGeom>
            <a:ln w="38100"/>
          </p:spPr>
          <p:style>
            <a:lnRef idx="1">
              <a:schemeClr val="dk1"/>
            </a:lnRef>
            <a:fillRef idx="0">
              <a:schemeClr val="dk1"/>
            </a:fillRef>
            <a:effectRef idx="0">
              <a:schemeClr val="dk1"/>
            </a:effectRef>
            <a:fontRef idx="minor">
              <a:schemeClr val="tx1"/>
            </a:fontRef>
          </p:style>
        </p:cxnSp>
        <p:cxnSp>
          <p:nvCxnSpPr>
            <p:cNvPr id="551" name="直接连接符 550"/>
            <p:cNvCxnSpPr/>
            <p:nvPr/>
          </p:nvCxnSpPr>
          <p:spPr bwMode="auto">
            <a:xfrm>
              <a:off x="2794000" y="5251450"/>
              <a:ext cx="75565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2" name="任意多边形 551"/>
            <p:cNvSpPr/>
            <p:nvPr/>
          </p:nvSpPr>
          <p:spPr bwMode="auto">
            <a:xfrm>
              <a:off x="2206625" y="5716588"/>
              <a:ext cx="323850" cy="627062"/>
            </a:xfrm>
            <a:custGeom>
              <a:avLst/>
              <a:gdLst>
                <a:gd name="connsiteX0" fmla="*/ 0 w 316433"/>
                <a:gd name="connsiteY0" fmla="*/ 0 h 743387"/>
                <a:gd name="connsiteX1" fmla="*/ 62821 w 316433"/>
                <a:gd name="connsiteY1" fmla="*/ 139603 h 743387"/>
                <a:gd name="connsiteX2" fmla="*/ 104702 w 316433"/>
                <a:gd name="connsiteY2" fmla="*/ 481631 h 743387"/>
                <a:gd name="connsiteX3" fmla="*/ 286186 w 316433"/>
                <a:gd name="connsiteY3" fmla="*/ 704996 h 743387"/>
                <a:gd name="connsiteX4" fmla="*/ 286186 w 316433"/>
                <a:gd name="connsiteY4" fmla="*/ 711976 h 743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433" h="743387">
                  <a:moveTo>
                    <a:pt x="0" y="0"/>
                  </a:moveTo>
                  <a:cubicBezTo>
                    <a:pt x="22685" y="29665"/>
                    <a:pt x="45371" y="59331"/>
                    <a:pt x="62821" y="139603"/>
                  </a:cubicBezTo>
                  <a:cubicBezTo>
                    <a:pt x="80271" y="219875"/>
                    <a:pt x="67475" y="387399"/>
                    <a:pt x="104702" y="481631"/>
                  </a:cubicBezTo>
                  <a:cubicBezTo>
                    <a:pt x="141929" y="575863"/>
                    <a:pt x="255939" y="666605"/>
                    <a:pt x="286186" y="704996"/>
                  </a:cubicBezTo>
                  <a:cubicBezTo>
                    <a:pt x="316433" y="743387"/>
                    <a:pt x="301309" y="727681"/>
                    <a:pt x="286186" y="711976"/>
                  </a:cubicBez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p>
          </p:txBody>
        </p:sp>
        <p:sp>
          <p:nvSpPr>
            <p:cNvPr id="573" name="任意多边形 572"/>
            <p:cNvSpPr/>
            <p:nvPr/>
          </p:nvSpPr>
          <p:spPr bwMode="auto">
            <a:xfrm>
              <a:off x="3541713" y="5251450"/>
              <a:ext cx="141287" cy="460375"/>
            </a:xfrm>
            <a:custGeom>
              <a:avLst/>
              <a:gdLst>
                <a:gd name="connsiteX0" fmla="*/ 0 w 234086"/>
                <a:gd name="connsiteY0" fmla="*/ 0 h 534010"/>
                <a:gd name="connsiteX1" fmla="*/ 80467 w 234086"/>
                <a:gd name="connsiteY1" fmla="*/ 36576 h 534010"/>
                <a:gd name="connsiteX2" fmla="*/ 80467 w 234086"/>
                <a:gd name="connsiteY2" fmla="*/ 36576 h 534010"/>
                <a:gd name="connsiteX3" fmla="*/ 131674 w 234086"/>
                <a:gd name="connsiteY3" fmla="*/ 182880 h 534010"/>
                <a:gd name="connsiteX4" fmla="*/ 234086 w 234086"/>
                <a:gd name="connsiteY4" fmla="*/ 534010 h 534010"/>
                <a:gd name="connsiteX5" fmla="*/ 234086 w 234086"/>
                <a:gd name="connsiteY5" fmla="*/ 534010 h 53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086" h="534010">
                  <a:moveTo>
                    <a:pt x="0" y="0"/>
                  </a:moveTo>
                  <a:lnTo>
                    <a:pt x="80467" y="36576"/>
                  </a:lnTo>
                  <a:lnTo>
                    <a:pt x="80467" y="36576"/>
                  </a:lnTo>
                  <a:cubicBezTo>
                    <a:pt x="89001" y="60960"/>
                    <a:pt x="106071" y="99974"/>
                    <a:pt x="131674" y="182880"/>
                  </a:cubicBezTo>
                  <a:cubicBezTo>
                    <a:pt x="157277" y="265786"/>
                    <a:pt x="234086" y="534010"/>
                    <a:pt x="234086" y="534010"/>
                  </a:cubicBezTo>
                  <a:lnTo>
                    <a:pt x="234086" y="534010"/>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p>
          </p:txBody>
        </p:sp>
      </p:grpSp>
      <p:grpSp>
        <p:nvGrpSpPr>
          <p:cNvPr id="1003" name="组合 128"/>
          <p:cNvGrpSpPr>
            <a:grpSpLocks/>
          </p:cNvGrpSpPr>
          <p:nvPr/>
        </p:nvGrpSpPr>
        <p:grpSpPr bwMode="auto">
          <a:xfrm rot="9849479">
            <a:off x="4041458" y="5822950"/>
            <a:ext cx="153987" cy="163513"/>
            <a:chOff x="5149850" y="4865143"/>
            <a:chExt cx="249687" cy="273256"/>
          </a:xfrm>
        </p:grpSpPr>
        <p:sp>
          <p:nvSpPr>
            <p:cNvPr id="3819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19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19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1004" name="组合 128"/>
          <p:cNvGrpSpPr>
            <a:grpSpLocks/>
          </p:cNvGrpSpPr>
          <p:nvPr/>
        </p:nvGrpSpPr>
        <p:grpSpPr bwMode="auto">
          <a:xfrm rot="9849479">
            <a:off x="4285933" y="5822950"/>
            <a:ext cx="152400" cy="163513"/>
            <a:chOff x="5149850" y="4865143"/>
            <a:chExt cx="249687" cy="273256"/>
          </a:xfrm>
        </p:grpSpPr>
        <p:sp>
          <p:nvSpPr>
            <p:cNvPr id="3820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20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20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1005" name="组合 128"/>
          <p:cNvGrpSpPr>
            <a:grpSpLocks/>
          </p:cNvGrpSpPr>
          <p:nvPr/>
        </p:nvGrpSpPr>
        <p:grpSpPr bwMode="auto">
          <a:xfrm rot="9849479">
            <a:off x="3879533" y="5980113"/>
            <a:ext cx="153987" cy="163512"/>
            <a:chOff x="5149850" y="4865143"/>
            <a:chExt cx="249687" cy="273256"/>
          </a:xfrm>
        </p:grpSpPr>
        <p:sp>
          <p:nvSpPr>
            <p:cNvPr id="3820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20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20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1006" name="组合 128"/>
          <p:cNvGrpSpPr>
            <a:grpSpLocks/>
          </p:cNvGrpSpPr>
          <p:nvPr/>
        </p:nvGrpSpPr>
        <p:grpSpPr bwMode="auto">
          <a:xfrm rot="9849479">
            <a:off x="4122420" y="5980113"/>
            <a:ext cx="153988" cy="163512"/>
            <a:chOff x="5149850" y="4865143"/>
            <a:chExt cx="249687" cy="273256"/>
          </a:xfrm>
        </p:grpSpPr>
        <p:sp>
          <p:nvSpPr>
            <p:cNvPr id="38209"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8210"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8211"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1007" name="组合 362"/>
          <p:cNvGrpSpPr>
            <a:grpSpLocks/>
          </p:cNvGrpSpPr>
          <p:nvPr/>
        </p:nvGrpSpPr>
        <p:grpSpPr bwMode="auto">
          <a:xfrm>
            <a:off x="1899920" y="4984750"/>
            <a:ext cx="3778250" cy="2044700"/>
            <a:chOff x="1016000" y="4495800"/>
            <a:chExt cx="3778250" cy="2044700"/>
          </a:xfrm>
        </p:grpSpPr>
        <p:cxnSp>
          <p:nvCxnSpPr>
            <p:cNvPr id="547" name="直接箭头连接符 546"/>
            <p:cNvCxnSpPr/>
            <p:nvPr/>
          </p:nvCxnSpPr>
          <p:spPr bwMode="auto">
            <a:xfrm>
              <a:off x="1638300" y="5711825"/>
              <a:ext cx="275590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548" name="直接箭头连接符 547"/>
            <p:cNvCxnSpPr/>
            <p:nvPr/>
          </p:nvCxnSpPr>
          <p:spPr bwMode="auto">
            <a:xfrm rot="5400000" flipH="1" flipV="1">
              <a:off x="749300" y="5651500"/>
              <a:ext cx="177800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38215" name="TextBox 1014"/>
            <p:cNvSpPr txBox="1">
              <a:spLocks noChangeArrowheads="1"/>
            </p:cNvSpPr>
            <p:nvPr/>
          </p:nvSpPr>
          <p:spPr bwMode="auto">
            <a:xfrm>
              <a:off x="4349750" y="5429250"/>
              <a:ext cx="444500" cy="519113"/>
            </a:xfrm>
            <a:prstGeom prst="rect">
              <a:avLst/>
            </a:prstGeom>
            <a:noFill/>
            <a:ln w="9525">
              <a:noFill/>
              <a:miter lim="800000"/>
              <a:headEnd/>
              <a:tailEnd/>
            </a:ln>
          </p:spPr>
          <p:txBody>
            <a:bodyPr>
              <a:spAutoFit/>
            </a:bodyPr>
            <a:lstStyle/>
            <a:p>
              <a:pPr defTabSz="914400"/>
              <a:r>
                <a:rPr lang="en-US" altLang="zh-CN" sz="2800" b="1" i="1">
                  <a:latin typeface="Times New Roman" pitchFamily="18" charset="0"/>
                  <a:ea typeface="楷体_GB2312" pitchFamily="49" charset="-122"/>
                  <a:cs typeface="Times New Roman" pitchFamily="18" charset="0"/>
                </a:rPr>
                <a:t>x</a:t>
              </a:r>
              <a:endParaRPr lang="zh-CN" altLang="en-US" sz="2800" b="1" i="1">
                <a:latin typeface="Times New Roman" pitchFamily="18" charset="0"/>
                <a:ea typeface="楷体_GB2312" pitchFamily="49" charset="-122"/>
                <a:cs typeface="Times New Roman" pitchFamily="18" charset="0"/>
              </a:endParaRPr>
            </a:p>
          </p:txBody>
        </p:sp>
        <p:sp>
          <p:nvSpPr>
            <p:cNvPr id="38216" name="TextBox 1029"/>
            <p:cNvSpPr txBox="1">
              <a:spLocks noChangeArrowheads="1"/>
            </p:cNvSpPr>
            <p:nvPr/>
          </p:nvSpPr>
          <p:spPr bwMode="auto">
            <a:xfrm>
              <a:off x="1016000" y="4495800"/>
              <a:ext cx="622300" cy="701675"/>
            </a:xfrm>
            <a:prstGeom prst="rect">
              <a:avLst/>
            </a:prstGeom>
            <a:noFill/>
            <a:ln w="9525">
              <a:noFill/>
              <a:miter lim="800000"/>
              <a:headEnd/>
              <a:tailEnd/>
            </a:ln>
          </p:spPr>
          <p:txBody>
            <a:bodyPr>
              <a:spAutoFit/>
            </a:bodyPr>
            <a:lstStyle/>
            <a:p>
              <a:pPr defTabSz="914400"/>
              <a:r>
                <a:rPr lang="el-GR" altLang="zh-CN" sz="2800" b="1">
                  <a:latin typeface="Times New Roman" pitchFamily="18" charset="0"/>
                  <a:ea typeface="楷体_GB2312" pitchFamily="49" charset="-122"/>
                  <a:cs typeface="Times New Roman" pitchFamily="18" charset="0"/>
                </a:rPr>
                <a:t>ρ</a:t>
              </a:r>
              <a:r>
                <a:rPr lang="en-US" altLang="zh-CN" sz="1800" b="1" baseline="-25000">
                  <a:latin typeface="Times New Roman" pitchFamily="18" charset="0"/>
                  <a:ea typeface="楷体_GB2312" pitchFamily="49" charset="-122"/>
                  <a:cs typeface="Times New Roman" pitchFamily="18" charset="0"/>
                </a:rPr>
                <a:t>net</a:t>
              </a:r>
              <a:endParaRPr lang="zh-CN" altLang="en-US" sz="1800" b="1" baseline="-25000">
                <a:latin typeface="Times New Roman" pitchFamily="18" charset="0"/>
                <a:ea typeface="楷体_GB2312" pitchFamily="49" charset="-122"/>
                <a:cs typeface="Times New Roman" pitchFamily="18" charset="0"/>
              </a:endParaRPr>
            </a:p>
          </p:txBody>
        </p:sp>
      </p:grpSp>
      <p:grpSp>
        <p:nvGrpSpPr>
          <p:cNvPr id="1008" name="组合 365"/>
          <p:cNvGrpSpPr>
            <a:grpSpLocks/>
          </p:cNvGrpSpPr>
          <p:nvPr/>
        </p:nvGrpSpPr>
        <p:grpSpPr bwMode="auto">
          <a:xfrm>
            <a:off x="1811020" y="5429250"/>
            <a:ext cx="1955800" cy="1597025"/>
            <a:chOff x="927100" y="4940300"/>
            <a:chExt cx="1955800" cy="1597025"/>
          </a:xfrm>
        </p:grpSpPr>
        <p:cxnSp>
          <p:nvCxnSpPr>
            <p:cNvPr id="549" name="直接连接符 548"/>
            <p:cNvCxnSpPr/>
            <p:nvPr/>
          </p:nvCxnSpPr>
          <p:spPr bwMode="auto">
            <a:xfrm>
              <a:off x="1638300" y="5251450"/>
              <a:ext cx="1244600" cy="1588"/>
            </a:xfrm>
            <a:prstGeom prst="line">
              <a:avLst/>
            </a:prstGeom>
            <a:ln w="38100">
              <a:prstDash val="dash"/>
            </a:ln>
          </p:spPr>
          <p:style>
            <a:lnRef idx="1">
              <a:schemeClr val="dk1"/>
            </a:lnRef>
            <a:fillRef idx="0">
              <a:schemeClr val="dk1"/>
            </a:fillRef>
            <a:effectRef idx="0">
              <a:schemeClr val="dk1"/>
            </a:effectRef>
            <a:fontRef idx="minor">
              <a:schemeClr val="tx1"/>
            </a:fontRef>
          </p:style>
        </p:cxnSp>
        <p:cxnSp>
          <p:nvCxnSpPr>
            <p:cNvPr id="553" name="直接连接符 552"/>
            <p:cNvCxnSpPr/>
            <p:nvPr/>
          </p:nvCxnSpPr>
          <p:spPr bwMode="auto">
            <a:xfrm>
              <a:off x="1638300" y="6346825"/>
              <a:ext cx="931863" cy="1588"/>
            </a:xfrm>
            <a:prstGeom prst="line">
              <a:avLst/>
            </a:prstGeom>
            <a:ln w="38100">
              <a:prstDash val="dash"/>
            </a:ln>
          </p:spPr>
          <p:style>
            <a:lnRef idx="1">
              <a:schemeClr val="dk1"/>
            </a:lnRef>
            <a:fillRef idx="0">
              <a:schemeClr val="dk1"/>
            </a:fillRef>
            <a:effectRef idx="0">
              <a:schemeClr val="dk1"/>
            </a:effectRef>
            <a:fontRef idx="minor">
              <a:schemeClr val="tx1"/>
            </a:fontRef>
          </p:style>
        </p:cxnSp>
        <p:sp>
          <p:nvSpPr>
            <p:cNvPr id="38220" name="TextBox 1031"/>
            <p:cNvSpPr txBox="1">
              <a:spLocks noChangeArrowheads="1"/>
            </p:cNvSpPr>
            <p:nvPr/>
          </p:nvSpPr>
          <p:spPr bwMode="auto">
            <a:xfrm>
              <a:off x="927100" y="4940300"/>
              <a:ext cx="8890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e</a:t>
              </a:r>
              <a:r>
                <a:rPr lang="en-US" altLang="zh-CN" sz="2400" b="1">
                  <a:latin typeface="Times New Roman" pitchFamily="18" charset="0"/>
                  <a:ea typeface="楷体_GB2312" pitchFamily="49" charset="-122"/>
                  <a:cs typeface="Times New Roman" pitchFamily="18" charset="0"/>
                </a:rPr>
                <a:t>N</a:t>
              </a:r>
              <a:r>
                <a:rPr lang="en-US" altLang="zh-CN" sz="2400" b="1" baseline="-25000">
                  <a:latin typeface="Times New Roman" pitchFamily="18" charset="0"/>
                  <a:ea typeface="楷体_GB2312" pitchFamily="49" charset="-122"/>
                  <a:cs typeface="Times New Roman" pitchFamily="18" charset="0"/>
                </a:rPr>
                <a:t>d</a:t>
              </a:r>
              <a:endParaRPr lang="zh-CN" altLang="en-US" sz="1800" b="1" baseline="-25000">
                <a:latin typeface="Times New Roman" pitchFamily="18" charset="0"/>
                <a:ea typeface="楷体_GB2312" pitchFamily="49" charset="-122"/>
                <a:cs typeface="Times New Roman" pitchFamily="18" charset="0"/>
              </a:endParaRPr>
            </a:p>
          </p:txBody>
        </p:sp>
        <p:sp>
          <p:nvSpPr>
            <p:cNvPr id="38221" name="TextBox 1033"/>
            <p:cNvSpPr txBox="1">
              <a:spLocks noChangeArrowheads="1"/>
            </p:cNvSpPr>
            <p:nvPr/>
          </p:nvSpPr>
          <p:spPr bwMode="auto">
            <a:xfrm>
              <a:off x="1016000" y="6110288"/>
              <a:ext cx="711200" cy="427037"/>
            </a:xfrm>
            <a:prstGeom prst="rect">
              <a:avLst/>
            </a:prstGeom>
            <a:noFill/>
            <a:ln w="9525">
              <a:noFill/>
              <a:miter lim="800000"/>
              <a:headEnd/>
              <a:tailEnd/>
            </a:ln>
          </p:spPr>
          <p:txBody>
            <a:bodyPr lIns="0" tIns="0" rIns="0" bIns="0">
              <a:spAutoFit/>
            </a:bodyPr>
            <a:lstStyle/>
            <a:p>
              <a:pPr defTabSz="914400"/>
              <a:r>
                <a:rPr lang="en-US" altLang="zh-CN" sz="2800" b="1">
                  <a:latin typeface="Times New Roman" pitchFamily="18" charset="0"/>
                  <a:ea typeface="楷体_GB2312" pitchFamily="49" charset="-122"/>
                  <a:cs typeface="Times New Roman" pitchFamily="18" charset="0"/>
                </a:rPr>
                <a:t>-</a:t>
              </a:r>
              <a:r>
                <a:rPr lang="en-US" altLang="zh-CN" sz="2400" b="1">
                  <a:latin typeface="Times New Roman" pitchFamily="18" charset="0"/>
                  <a:ea typeface="楷体_GB2312" pitchFamily="49" charset="-122"/>
                  <a:cs typeface="Times New Roman" pitchFamily="18" charset="0"/>
                </a:rPr>
                <a:t>eN</a:t>
              </a:r>
              <a:r>
                <a:rPr lang="en-US" altLang="zh-CN" sz="1800" b="1">
                  <a:latin typeface="Times New Roman" pitchFamily="18" charset="0"/>
                  <a:ea typeface="楷体_GB2312" pitchFamily="49" charset="-122"/>
                  <a:cs typeface="Times New Roman" pitchFamily="18" charset="0"/>
                </a:rPr>
                <a:t>a</a:t>
              </a:r>
              <a:endParaRPr lang="zh-CN" altLang="en-US" sz="1800" b="1">
                <a:latin typeface="Times New Roman" pitchFamily="18" charset="0"/>
                <a:ea typeface="楷体_GB2312" pitchFamily="49" charset="-122"/>
                <a:cs typeface="Times New Roman" pitchFamily="18" charset="0"/>
              </a:endParaRPr>
            </a:p>
          </p:txBody>
        </p:sp>
      </p:grpSp>
      <p:grpSp>
        <p:nvGrpSpPr>
          <p:cNvPr id="1009" name="组合 364"/>
          <p:cNvGrpSpPr>
            <a:grpSpLocks/>
          </p:cNvGrpSpPr>
          <p:nvPr/>
        </p:nvGrpSpPr>
        <p:grpSpPr bwMode="auto">
          <a:xfrm>
            <a:off x="2788920" y="5829300"/>
            <a:ext cx="2089150" cy="749300"/>
            <a:chOff x="1905000" y="5340350"/>
            <a:chExt cx="2089150" cy="749103"/>
          </a:xfrm>
        </p:grpSpPr>
        <p:sp>
          <p:nvSpPr>
            <p:cNvPr id="38223" name="TextBox 1030"/>
            <p:cNvSpPr txBox="1">
              <a:spLocks noChangeArrowheads="1"/>
            </p:cNvSpPr>
            <p:nvPr/>
          </p:nvSpPr>
          <p:spPr bwMode="auto">
            <a:xfrm>
              <a:off x="1905000" y="5340350"/>
              <a:ext cx="488950" cy="304720"/>
            </a:xfrm>
            <a:prstGeom prst="rect">
              <a:avLst/>
            </a:prstGeom>
            <a:noFill/>
            <a:ln w="9525">
              <a:noFill/>
              <a:miter lim="800000"/>
              <a:headEnd/>
              <a:tailEnd/>
            </a:ln>
          </p:spPr>
          <p:txBody>
            <a:bodyPr>
              <a:spAutoFit/>
            </a:bodyPr>
            <a:lstStyle/>
            <a:p>
              <a:pPr defTabSz="914400"/>
              <a:r>
                <a:rPr lang="en-US" altLang="zh-CN" sz="1400" b="1">
                  <a:latin typeface="Times New Roman" pitchFamily="18" charset="0"/>
                  <a:ea typeface="楷体_GB2312" pitchFamily="49" charset="-122"/>
                  <a:cs typeface="Times New Roman" pitchFamily="18" charset="0"/>
                </a:rPr>
                <a:t>Wp</a:t>
              </a:r>
              <a:endParaRPr lang="zh-CN" altLang="en-US" sz="1400" b="1">
                <a:latin typeface="Times New Roman" pitchFamily="18" charset="0"/>
                <a:ea typeface="楷体_GB2312" pitchFamily="49" charset="-122"/>
                <a:cs typeface="Times New Roman" pitchFamily="18" charset="0"/>
              </a:endParaRPr>
            </a:p>
          </p:txBody>
        </p:sp>
        <p:sp>
          <p:nvSpPr>
            <p:cNvPr id="38224" name="TextBox 1035"/>
            <p:cNvSpPr txBox="1">
              <a:spLocks noChangeArrowheads="1"/>
            </p:cNvSpPr>
            <p:nvPr/>
          </p:nvSpPr>
          <p:spPr bwMode="auto">
            <a:xfrm>
              <a:off x="3460750" y="5784733"/>
              <a:ext cx="533400" cy="304720"/>
            </a:xfrm>
            <a:prstGeom prst="rect">
              <a:avLst/>
            </a:prstGeom>
            <a:noFill/>
            <a:ln w="9525">
              <a:noFill/>
              <a:miter lim="800000"/>
              <a:headEnd/>
              <a:tailEnd/>
            </a:ln>
          </p:spPr>
          <p:txBody>
            <a:bodyPr>
              <a:spAutoFit/>
            </a:bodyPr>
            <a:lstStyle/>
            <a:p>
              <a:pPr defTabSz="914400"/>
              <a:r>
                <a:rPr lang="en-US" altLang="zh-CN" sz="1400" b="1">
                  <a:latin typeface="Times New Roman" pitchFamily="18" charset="0"/>
                  <a:ea typeface="楷体_GB2312" pitchFamily="49" charset="-122"/>
                  <a:cs typeface="Times New Roman" pitchFamily="18" charset="0"/>
                </a:rPr>
                <a:t>Wn</a:t>
              </a:r>
              <a:endParaRPr lang="zh-CN" altLang="en-US" sz="1400" b="1">
                <a:latin typeface="Times New Roman" pitchFamily="18" charset="0"/>
                <a:ea typeface="楷体_GB2312" pitchFamily="49" charset="-122"/>
                <a:cs typeface="Times New Roman" pitchFamily="18" charset="0"/>
              </a:endParaRPr>
            </a:p>
          </p:txBody>
        </p:sp>
      </p:grpSp>
      <p:cxnSp>
        <p:nvCxnSpPr>
          <p:cNvPr id="470" name="直接箭头连接符 469"/>
          <p:cNvCxnSpPr/>
          <p:nvPr/>
        </p:nvCxnSpPr>
        <p:spPr>
          <a:xfrm rot="10800000" flipV="1">
            <a:off x="8568690" y="1606550"/>
            <a:ext cx="1911350" cy="977900"/>
          </a:xfrm>
          <a:prstGeom prst="straightConnector1">
            <a:avLst/>
          </a:prstGeom>
          <a:ln w="38100">
            <a:tailEnd type="stealth" w="med" len="lg"/>
          </a:ln>
        </p:spPr>
        <p:style>
          <a:lnRef idx="1">
            <a:schemeClr val="dk1"/>
          </a:lnRef>
          <a:fillRef idx="0">
            <a:schemeClr val="dk1"/>
          </a:fillRef>
          <a:effectRef idx="0">
            <a:schemeClr val="dk1"/>
          </a:effectRef>
          <a:fontRef idx="minor">
            <a:schemeClr val="tx1"/>
          </a:fontRef>
        </p:style>
      </p:cxnSp>
      <p:cxnSp>
        <p:nvCxnSpPr>
          <p:cNvPr id="468" name="直接箭头连接符 467"/>
          <p:cNvCxnSpPr/>
          <p:nvPr/>
        </p:nvCxnSpPr>
        <p:spPr>
          <a:xfrm rot="10800000" flipV="1">
            <a:off x="9457690" y="1606550"/>
            <a:ext cx="1066800" cy="933450"/>
          </a:xfrm>
          <a:prstGeom prst="straightConnector1">
            <a:avLst/>
          </a:prstGeom>
          <a:ln w="38100">
            <a:tailEnd type="stealth" w="med" len="lg"/>
          </a:ln>
        </p:spPr>
        <p:style>
          <a:lnRef idx="1">
            <a:schemeClr val="dk1"/>
          </a:lnRef>
          <a:fillRef idx="0">
            <a:schemeClr val="dk1"/>
          </a:fillRef>
          <a:effectRef idx="0">
            <a:schemeClr val="dk1"/>
          </a:effectRef>
          <a:fontRef idx="minor">
            <a:schemeClr val="tx1"/>
          </a:fontRef>
        </p:style>
      </p:cxnSp>
      <p:sp>
        <p:nvSpPr>
          <p:cNvPr id="338" name="文本框 60">
            <a:extLst>
              <a:ext uri="{FF2B5EF4-FFF2-40B4-BE49-F238E27FC236}">
                <a16:creationId xmlns="" xmlns:a16="http://schemas.microsoft.com/office/drawing/2014/main" id="{D7ED4BA1-7C5B-469B-A4B8-2E352D3ADE6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339" name="矩形 338">
            <a:extLst>
              <a:ext uri="{FF2B5EF4-FFF2-40B4-BE49-F238E27FC236}">
                <a16:creationId xmlns="" xmlns:a16="http://schemas.microsoft.com/office/drawing/2014/main" id="{7F923D7E-79BE-44E9-8204-24A5431008E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47" name="矩形 346">
            <a:extLst>
              <a:ext uri="{FF2B5EF4-FFF2-40B4-BE49-F238E27FC236}">
                <a16:creationId xmlns="" xmlns:a16="http://schemas.microsoft.com/office/drawing/2014/main" id="{4ACCB496-D5F5-455E-B923-FEFCD69D19F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8" name="矩形: 圆角 347">
            <a:extLst>
              <a:ext uri="{FF2B5EF4-FFF2-40B4-BE49-F238E27FC236}">
                <a16:creationId xmlns="" xmlns:a16="http://schemas.microsoft.com/office/drawing/2014/main" id="{554B9640-2368-4453-B288-11EC09E324DC}"/>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49" name="直接连接符 58">
            <a:extLst>
              <a:ext uri="{FF2B5EF4-FFF2-40B4-BE49-F238E27FC236}">
                <a16:creationId xmlns="" xmlns:a16="http://schemas.microsoft.com/office/drawing/2014/main" id="{FCF13D71-3413-4BBE-8615-6518D47F221B}"/>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50" name="矩形 349">
            <a:extLst>
              <a:ext uri="{FF2B5EF4-FFF2-40B4-BE49-F238E27FC236}">
                <a16:creationId xmlns="" xmlns:a16="http://schemas.microsoft.com/office/drawing/2014/main" id="{19365A99-2E68-40CD-9FCB-C79D62042F1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51" name="矩形 350">
            <a:extLst>
              <a:ext uri="{FF2B5EF4-FFF2-40B4-BE49-F238E27FC236}">
                <a16:creationId xmlns="" xmlns:a16="http://schemas.microsoft.com/office/drawing/2014/main" id="{9BB8548A-C8DE-4656-979E-5D2AF6B990F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52295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43"/>
                                        </p:tgtEl>
                                        <p:attrNameLst>
                                          <p:attrName>style.visibility</p:attrName>
                                        </p:attrNameLst>
                                      </p:cBhvr>
                                      <p:to>
                                        <p:strVal val="visible"/>
                                      </p:to>
                                    </p:set>
                                    <p:animEffect transition="in" filter="box(in)">
                                      <p:cBhvr>
                                        <p:cTn id="12" dur="500"/>
                                        <p:tgtEl>
                                          <p:spTgt spid="34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290"/>
                                        </p:tgtEl>
                                        <p:attrNameLst>
                                          <p:attrName>style.visibility</p:attrName>
                                        </p:attrNameLst>
                                      </p:cBhvr>
                                      <p:to>
                                        <p:strVal val="visible"/>
                                      </p:to>
                                    </p:set>
                                    <p:animEffect transition="in" filter="box(in)">
                                      <p:cBhvr>
                                        <p:cTn id="17" dur="500"/>
                                        <p:tgtEl>
                                          <p:spTgt spid="1229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44"/>
                                        </p:tgtEl>
                                        <p:attrNameLst>
                                          <p:attrName>style.visibility</p:attrName>
                                        </p:attrNameLst>
                                      </p:cBhvr>
                                      <p:to>
                                        <p:strVal val="visible"/>
                                      </p:to>
                                    </p:set>
                                    <p:animEffect transition="in" filter="box(in)">
                                      <p:cBhvr>
                                        <p:cTn id="22" dur="500"/>
                                        <p:tgtEl>
                                          <p:spTgt spid="34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291"/>
                                        </p:tgtEl>
                                        <p:attrNameLst>
                                          <p:attrName>style.visibility</p:attrName>
                                        </p:attrNameLst>
                                      </p:cBhvr>
                                      <p:to>
                                        <p:strVal val="visible"/>
                                      </p:to>
                                    </p:set>
                                    <p:animEffect transition="in" filter="box(in)">
                                      <p:cBhvr>
                                        <p:cTn id="27" dur="500"/>
                                        <p:tgtEl>
                                          <p:spTgt spid="1229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42"/>
                                        </p:tgtEl>
                                        <p:attrNameLst>
                                          <p:attrName>style.visibility</p:attrName>
                                        </p:attrNameLst>
                                      </p:cBhvr>
                                      <p:to>
                                        <p:strVal val="visible"/>
                                      </p:to>
                                    </p:set>
                                    <p:animEffect transition="in" filter="box(in)">
                                      <p:cBhvr>
                                        <p:cTn id="32" dur="500"/>
                                        <p:tgtEl>
                                          <p:spTgt spid="342"/>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2292"/>
                                        </p:tgtEl>
                                        <p:attrNameLst>
                                          <p:attrName>style.visibility</p:attrName>
                                        </p:attrNameLst>
                                      </p:cBhvr>
                                      <p:to>
                                        <p:strVal val="visible"/>
                                      </p:to>
                                    </p:set>
                                    <p:animEffect transition="in" filter="box(in)">
                                      <p:cBhvr>
                                        <p:cTn id="35" dur="500"/>
                                        <p:tgtEl>
                                          <p:spTgt spid="12292"/>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966"/>
                                        </p:tgtEl>
                                        <p:attrNameLst>
                                          <p:attrName>style.visibility</p:attrName>
                                        </p:attrNameLst>
                                      </p:cBhvr>
                                      <p:to>
                                        <p:strVal val="visible"/>
                                      </p:to>
                                    </p:set>
                                    <p:animEffect transition="in" filter="box(in)">
                                      <p:cBhvr>
                                        <p:cTn id="40" dur="500"/>
                                        <p:tgtEl>
                                          <p:spTgt spid="966"/>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12328"/>
                                        </p:tgtEl>
                                        <p:attrNameLst>
                                          <p:attrName>style.visibility</p:attrName>
                                        </p:attrNameLst>
                                      </p:cBhvr>
                                      <p:to>
                                        <p:strVal val="visible"/>
                                      </p:to>
                                    </p:set>
                                    <p:animEffect transition="in" filter="box(in)">
                                      <p:cBhvr>
                                        <p:cTn id="45" dur="500"/>
                                        <p:tgtEl>
                                          <p:spTgt spid="12328"/>
                                        </p:tgtEl>
                                      </p:cBhvr>
                                    </p:animEffect>
                                  </p:childTnLst>
                                </p:cTn>
                              </p:par>
                              <p:par>
                                <p:cTn id="46" presetID="4" presetClass="entr" presetSubtype="16" fill="hold" nodeType="withEffect">
                                  <p:stCondLst>
                                    <p:cond delay="0"/>
                                  </p:stCondLst>
                                  <p:childTnLst>
                                    <p:set>
                                      <p:cBhvr>
                                        <p:cTn id="47" dur="1" fill="hold">
                                          <p:stCondLst>
                                            <p:cond delay="0"/>
                                          </p:stCondLst>
                                        </p:cTn>
                                        <p:tgtEl>
                                          <p:spTgt spid="345"/>
                                        </p:tgtEl>
                                        <p:attrNameLst>
                                          <p:attrName>style.visibility</p:attrName>
                                        </p:attrNameLst>
                                      </p:cBhvr>
                                      <p:to>
                                        <p:strVal val="visible"/>
                                      </p:to>
                                    </p:set>
                                    <p:animEffect transition="in" filter="box(in)">
                                      <p:cBhvr>
                                        <p:cTn id="48" dur="500"/>
                                        <p:tgtEl>
                                          <p:spTgt spid="345"/>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346"/>
                                        </p:tgtEl>
                                        <p:attrNameLst>
                                          <p:attrName>style.visibility</p:attrName>
                                        </p:attrNameLst>
                                      </p:cBhvr>
                                      <p:to>
                                        <p:strVal val="visible"/>
                                      </p:to>
                                    </p:set>
                                    <p:animEffect transition="in" filter="box(in)">
                                      <p:cBhvr>
                                        <p:cTn id="53" dur="500"/>
                                        <p:tgtEl>
                                          <p:spTgt spid="346"/>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12329"/>
                                        </p:tgtEl>
                                        <p:attrNameLst>
                                          <p:attrName>style.visibility</p:attrName>
                                        </p:attrNameLst>
                                      </p:cBhvr>
                                      <p:to>
                                        <p:strVal val="visible"/>
                                      </p:to>
                                    </p:set>
                                    <p:animEffect transition="in" filter="box(in)">
                                      <p:cBhvr>
                                        <p:cTn id="56" dur="500"/>
                                        <p:tgtEl>
                                          <p:spTgt spid="12329"/>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nodeType="clickEffect">
                                  <p:stCondLst>
                                    <p:cond delay="0"/>
                                  </p:stCondLst>
                                  <p:childTnLst>
                                    <p:set>
                                      <p:cBhvr>
                                        <p:cTn id="60" dur="1" fill="hold">
                                          <p:stCondLst>
                                            <p:cond delay="0"/>
                                          </p:stCondLst>
                                        </p:cTn>
                                        <p:tgtEl>
                                          <p:spTgt spid="470"/>
                                        </p:tgtEl>
                                        <p:attrNameLst>
                                          <p:attrName>style.visibility</p:attrName>
                                        </p:attrNameLst>
                                      </p:cBhvr>
                                      <p:to>
                                        <p:strVal val="visible"/>
                                      </p:to>
                                    </p:set>
                                    <p:animEffect transition="in" filter="box(in)">
                                      <p:cBhvr>
                                        <p:cTn id="61" dur="500"/>
                                        <p:tgtEl>
                                          <p:spTgt spid="470"/>
                                        </p:tgtEl>
                                      </p:cBhvr>
                                    </p:animEffect>
                                  </p:childTnLst>
                                </p:cTn>
                              </p:par>
                              <p:par>
                                <p:cTn id="62" presetID="4" presetClass="entr" presetSubtype="16" fill="hold" nodeType="withEffect">
                                  <p:stCondLst>
                                    <p:cond delay="0"/>
                                  </p:stCondLst>
                                  <p:childTnLst>
                                    <p:set>
                                      <p:cBhvr>
                                        <p:cTn id="63" dur="1" fill="hold">
                                          <p:stCondLst>
                                            <p:cond delay="0"/>
                                          </p:stCondLst>
                                        </p:cTn>
                                        <p:tgtEl>
                                          <p:spTgt spid="468"/>
                                        </p:tgtEl>
                                        <p:attrNameLst>
                                          <p:attrName>style.visibility</p:attrName>
                                        </p:attrNameLst>
                                      </p:cBhvr>
                                      <p:to>
                                        <p:strVal val="visible"/>
                                      </p:to>
                                    </p:set>
                                    <p:animEffect transition="in" filter="box(in)">
                                      <p:cBhvr>
                                        <p:cTn id="64" dur="500"/>
                                        <p:tgtEl>
                                          <p:spTgt spid="468"/>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grpId="0" nodeType="clickEffect">
                                  <p:stCondLst>
                                    <p:cond delay="0"/>
                                  </p:stCondLst>
                                  <p:childTnLst>
                                    <p:set>
                                      <p:cBhvr>
                                        <p:cTn id="68" dur="1" fill="hold">
                                          <p:stCondLst>
                                            <p:cond delay="0"/>
                                          </p:stCondLst>
                                        </p:cTn>
                                        <p:tgtEl>
                                          <p:spTgt spid="12293"/>
                                        </p:tgtEl>
                                        <p:attrNameLst>
                                          <p:attrName>style.visibility</p:attrName>
                                        </p:attrNameLst>
                                      </p:cBhvr>
                                      <p:to>
                                        <p:strVal val="visible"/>
                                      </p:to>
                                    </p:set>
                                    <p:animEffect transition="in" filter="box(in)">
                                      <p:cBhvr>
                                        <p:cTn id="69" dur="500"/>
                                        <p:tgtEl>
                                          <p:spTgt spid="12293"/>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nodeType="clickEffect">
                                  <p:stCondLst>
                                    <p:cond delay="0"/>
                                  </p:stCondLst>
                                  <p:childTnLst>
                                    <p:set>
                                      <p:cBhvr>
                                        <p:cTn id="73" dur="1" fill="hold">
                                          <p:stCondLst>
                                            <p:cond delay="0"/>
                                          </p:stCondLst>
                                        </p:cTn>
                                        <p:tgtEl>
                                          <p:spTgt spid="484"/>
                                        </p:tgtEl>
                                        <p:attrNameLst>
                                          <p:attrName>style.visibility</p:attrName>
                                        </p:attrNameLst>
                                      </p:cBhvr>
                                      <p:to>
                                        <p:strVal val="visible"/>
                                      </p:to>
                                    </p:set>
                                    <p:animEffect transition="in" filter="box(in)">
                                      <p:cBhvr>
                                        <p:cTn id="74" dur="500"/>
                                        <p:tgtEl>
                                          <p:spTgt spid="484"/>
                                        </p:tgtEl>
                                      </p:cBhvr>
                                    </p:animEffect>
                                  </p:childTnLst>
                                </p:cTn>
                              </p:par>
                              <p:par>
                                <p:cTn id="75" presetID="4" presetClass="entr" presetSubtype="16" fill="hold" nodeType="withEffect">
                                  <p:stCondLst>
                                    <p:cond delay="0"/>
                                  </p:stCondLst>
                                  <p:childTnLst>
                                    <p:set>
                                      <p:cBhvr>
                                        <p:cTn id="76" dur="1" fill="hold">
                                          <p:stCondLst>
                                            <p:cond delay="0"/>
                                          </p:stCondLst>
                                        </p:cTn>
                                        <p:tgtEl>
                                          <p:spTgt spid="257"/>
                                        </p:tgtEl>
                                        <p:attrNameLst>
                                          <p:attrName>style.visibility</p:attrName>
                                        </p:attrNameLst>
                                      </p:cBhvr>
                                      <p:to>
                                        <p:strVal val="visible"/>
                                      </p:to>
                                    </p:set>
                                    <p:animEffect transition="in" filter="box(in)">
                                      <p:cBhvr>
                                        <p:cTn id="77" dur="500"/>
                                        <p:tgtEl>
                                          <p:spTgt spid="257"/>
                                        </p:tgtEl>
                                      </p:cBhvr>
                                    </p:animEffect>
                                  </p:childTnLst>
                                </p:cTn>
                              </p:par>
                              <p:par>
                                <p:cTn id="78" presetID="4" presetClass="entr" presetSubtype="16" fill="hold" nodeType="withEffect">
                                  <p:stCondLst>
                                    <p:cond delay="0"/>
                                  </p:stCondLst>
                                  <p:childTnLst>
                                    <p:set>
                                      <p:cBhvr>
                                        <p:cTn id="79" dur="1" fill="hold">
                                          <p:stCondLst>
                                            <p:cond delay="0"/>
                                          </p:stCondLst>
                                        </p:cTn>
                                        <p:tgtEl>
                                          <p:spTgt spid="481"/>
                                        </p:tgtEl>
                                        <p:attrNameLst>
                                          <p:attrName>style.visibility</p:attrName>
                                        </p:attrNameLst>
                                      </p:cBhvr>
                                      <p:to>
                                        <p:strVal val="visible"/>
                                      </p:to>
                                    </p:set>
                                    <p:animEffect transition="in" filter="box(in)">
                                      <p:cBhvr>
                                        <p:cTn id="80" dur="500"/>
                                        <p:tgtEl>
                                          <p:spTgt spid="481"/>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286"/>
                                        </p:tgtEl>
                                        <p:attrNameLst>
                                          <p:attrName>style.visibility</p:attrName>
                                        </p:attrNameLst>
                                      </p:cBhvr>
                                      <p:to>
                                        <p:strVal val="visible"/>
                                      </p:to>
                                    </p:set>
                                    <p:animEffect transition="in" filter="box(in)">
                                      <p:cBhvr>
                                        <p:cTn id="85" dur="500"/>
                                        <p:tgtEl>
                                          <p:spTgt spid="286"/>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283"/>
                                        </p:tgtEl>
                                        <p:attrNameLst>
                                          <p:attrName>style.visibility</p:attrName>
                                        </p:attrNameLst>
                                      </p:cBhvr>
                                      <p:to>
                                        <p:strVal val="visible"/>
                                      </p:to>
                                    </p:set>
                                    <p:animEffect transition="in" filter="box(in)">
                                      <p:cBhvr>
                                        <p:cTn id="90" dur="500"/>
                                        <p:tgtEl>
                                          <p:spTgt spid="283"/>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16" fill="hold" grpId="0" nodeType="clickEffect">
                                  <p:stCondLst>
                                    <p:cond delay="0"/>
                                  </p:stCondLst>
                                  <p:childTnLst>
                                    <p:set>
                                      <p:cBhvr>
                                        <p:cTn id="94" dur="1" fill="hold">
                                          <p:stCondLst>
                                            <p:cond delay="0"/>
                                          </p:stCondLst>
                                        </p:cTn>
                                        <p:tgtEl>
                                          <p:spTgt spid="12387"/>
                                        </p:tgtEl>
                                        <p:attrNameLst>
                                          <p:attrName>style.visibility</p:attrName>
                                        </p:attrNameLst>
                                      </p:cBhvr>
                                      <p:to>
                                        <p:strVal val="visible"/>
                                      </p:to>
                                    </p:set>
                                    <p:animEffect transition="in" filter="box(in)">
                                      <p:cBhvr>
                                        <p:cTn id="95" dur="500"/>
                                        <p:tgtEl>
                                          <p:spTgt spid="12387"/>
                                        </p:tgtEl>
                                      </p:cBhvr>
                                    </p:animEffect>
                                  </p:childTnLst>
                                </p:cTn>
                              </p:par>
                            </p:childTnLst>
                          </p:cTn>
                        </p:par>
                      </p:childTnLst>
                    </p:cTn>
                  </p:par>
                  <p:par>
                    <p:cTn id="96" fill="hold">
                      <p:stCondLst>
                        <p:cond delay="indefinite"/>
                      </p:stCondLst>
                      <p:childTnLst>
                        <p:par>
                          <p:cTn id="97" fill="hold">
                            <p:stCondLst>
                              <p:cond delay="0"/>
                            </p:stCondLst>
                            <p:childTnLst>
                              <p:par>
                                <p:cTn id="98" presetID="4" presetClass="entr" presetSubtype="16" fill="hold" nodeType="clickEffect">
                                  <p:stCondLst>
                                    <p:cond delay="0"/>
                                  </p:stCondLst>
                                  <p:childTnLst>
                                    <p:set>
                                      <p:cBhvr>
                                        <p:cTn id="99" dur="1" fill="hold">
                                          <p:stCondLst>
                                            <p:cond delay="0"/>
                                          </p:stCondLst>
                                        </p:cTn>
                                        <p:tgtEl>
                                          <p:spTgt spid="1007"/>
                                        </p:tgtEl>
                                        <p:attrNameLst>
                                          <p:attrName>style.visibility</p:attrName>
                                        </p:attrNameLst>
                                      </p:cBhvr>
                                      <p:to>
                                        <p:strVal val="visible"/>
                                      </p:to>
                                    </p:set>
                                    <p:animEffect transition="in" filter="box(in)">
                                      <p:cBhvr>
                                        <p:cTn id="100" dur="500"/>
                                        <p:tgtEl>
                                          <p:spTgt spid="1007"/>
                                        </p:tgtEl>
                                      </p:cBhvr>
                                    </p:animEffect>
                                  </p:childTnLst>
                                </p:cTn>
                              </p:par>
                            </p:childTnLst>
                          </p:cTn>
                        </p:par>
                      </p:childTnLst>
                    </p:cTn>
                  </p:par>
                  <p:par>
                    <p:cTn id="101" fill="hold">
                      <p:stCondLst>
                        <p:cond delay="indefinite"/>
                      </p:stCondLst>
                      <p:childTnLst>
                        <p:par>
                          <p:cTn id="102" fill="hold">
                            <p:stCondLst>
                              <p:cond delay="0"/>
                            </p:stCondLst>
                            <p:childTnLst>
                              <p:par>
                                <p:cTn id="103" presetID="4" presetClass="entr" presetSubtype="16" fill="hold" nodeType="clickEffect">
                                  <p:stCondLst>
                                    <p:cond delay="0"/>
                                  </p:stCondLst>
                                  <p:childTnLst>
                                    <p:set>
                                      <p:cBhvr>
                                        <p:cTn id="104" dur="1" fill="hold">
                                          <p:stCondLst>
                                            <p:cond delay="0"/>
                                          </p:stCondLst>
                                        </p:cTn>
                                        <p:tgtEl>
                                          <p:spTgt spid="1002"/>
                                        </p:tgtEl>
                                        <p:attrNameLst>
                                          <p:attrName>style.visibility</p:attrName>
                                        </p:attrNameLst>
                                      </p:cBhvr>
                                      <p:to>
                                        <p:strVal val="visible"/>
                                      </p:to>
                                    </p:set>
                                    <p:animEffect transition="in" filter="box(in)">
                                      <p:cBhvr>
                                        <p:cTn id="105" dur="500"/>
                                        <p:tgtEl>
                                          <p:spTgt spid="1002"/>
                                        </p:tgtEl>
                                      </p:cBhvr>
                                    </p:animEffect>
                                  </p:childTnLst>
                                </p:cTn>
                              </p:par>
                            </p:childTnLst>
                          </p:cTn>
                        </p:par>
                      </p:childTnLst>
                    </p:cTn>
                  </p:par>
                  <p:par>
                    <p:cTn id="106" fill="hold">
                      <p:stCondLst>
                        <p:cond delay="indefinite"/>
                      </p:stCondLst>
                      <p:childTnLst>
                        <p:par>
                          <p:cTn id="107" fill="hold">
                            <p:stCondLst>
                              <p:cond delay="0"/>
                            </p:stCondLst>
                            <p:childTnLst>
                              <p:par>
                                <p:cTn id="108" presetID="4" presetClass="entr" presetSubtype="16" fill="hold" nodeType="clickEffect">
                                  <p:stCondLst>
                                    <p:cond delay="0"/>
                                  </p:stCondLst>
                                  <p:childTnLst>
                                    <p:set>
                                      <p:cBhvr>
                                        <p:cTn id="109" dur="1" fill="hold">
                                          <p:stCondLst>
                                            <p:cond delay="0"/>
                                          </p:stCondLst>
                                        </p:cTn>
                                        <p:tgtEl>
                                          <p:spTgt spid="1008"/>
                                        </p:tgtEl>
                                        <p:attrNameLst>
                                          <p:attrName>style.visibility</p:attrName>
                                        </p:attrNameLst>
                                      </p:cBhvr>
                                      <p:to>
                                        <p:strVal val="visible"/>
                                      </p:to>
                                    </p:set>
                                    <p:animEffect transition="in" filter="box(in)">
                                      <p:cBhvr>
                                        <p:cTn id="110" dur="500"/>
                                        <p:tgtEl>
                                          <p:spTgt spid="1008"/>
                                        </p:tgtEl>
                                      </p:cBhvr>
                                    </p:animEffect>
                                  </p:childTnLst>
                                </p:cTn>
                              </p:par>
                            </p:childTnLst>
                          </p:cTn>
                        </p:par>
                      </p:childTnLst>
                    </p:cTn>
                  </p:par>
                  <p:par>
                    <p:cTn id="111" fill="hold">
                      <p:stCondLst>
                        <p:cond delay="indefinite"/>
                      </p:stCondLst>
                      <p:childTnLst>
                        <p:par>
                          <p:cTn id="112" fill="hold">
                            <p:stCondLst>
                              <p:cond delay="0"/>
                            </p:stCondLst>
                            <p:childTnLst>
                              <p:par>
                                <p:cTn id="113" presetID="4" presetClass="entr" presetSubtype="16" fill="hold" nodeType="clickEffect">
                                  <p:stCondLst>
                                    <p:cond delay="0"/>
                                  </p:stCondLst>
                                  <p:childTnLst>
                                    <p:set>
                                      <p:cBhvr>
                                        <p:cTn id="114" dur="1" fill="hold">
                                          <p:stCondLst>
                                            <p:cond delay="0"/>
                                          </p:stCondLst>
                                        </p:cTn>
                                        <p:tgtEl>
                                          <p:spTgt spid="1009"/>
                                        </p:tgtEl>
                                        <p:attrNameLst>
                                          <p:attrName>style.visibility</p:attrName>
                                        </p:attrNameLst>
                                      </p:cBhvr>
                                      <p:to>
                                        <p:strVal val="visible"/>
                                      </p:to>
                                    </p:set>
                                    <p:animEffect transition="in" filter="box(in)">
                                      <p:cBhvr>
                                        <p:cTn id="115" dur="500"/>
                                        <p:tgtEl>
                                          <p:spTgt spid="1009"/>
                                        </p:tgtEl>
                                      </p:cBhvr>
                                    </p:animEffect>
                                  </p:childTnLst>
                                </p:cTn>
                              </p:par>
                            </p:childTnLst>
                          </p:cTn>
                        </p:par>
                      </p:childTnLst>
                    </p:cTn>
                  </p:par>
                  <p:par>
                    <p:cTn id="116" fill="hold">
                      <p:stCondLst>
                        <p:cond delay="indefinite"/>
                      </p:stCondLst>
                      <p:childTnLst>
                        <p:par>
                          <p:cTn id="117" fill="hold">
                            <p:stCondLst>
                              <p:cond delay="0"/>
                            </p:stCondLst>
                            <p:childTnLst>
                              <p:par>
                                <p:cTn id="118" presetID="55" presetClass="entr" presetSubtype="0" fill="hold" nodeType="clickEffect">
                                  <p:stCondLst>
                                    <p:cond delay="0"/>
                                  </p:stCondLst>
                                  <p:childTnLst>
                                    <p:set>
                                      <p:cBhvr>
                                        <p:cTn id="119" dur="1" fill="hold">
                                          <p:stCondLst>
                                            <p:cond delay="0"/>
                                          </p:stCondLst>
                                        </p:cTn>
                                        <p:tgtEl>
                                          <p:spTgt spid="996"/>
                                        </p:tgtEl>
                                        <p:attrNameLst>
                                          <p:attrName>style.visibility</p:attrName>
                                        </p:attrNameLst>
                                      </p:cBhvr>
                                      <p:to>
                                        <p:strVal val="visible"/>
                                      </p:to>
                                    </p:set>
                                    <p:anim calcmode="lin" valueType="num">
                                      <p:cBhvr>
                                        <p:cTn id="120" dur="1000" fill="hold"/>
                                        <p:tgtEl>
                                          <p:spTgt spid="996"/>
                                        </p:tgtEl>
                                        <p:attrNameLst>
                                          <p:attrName>ppt_w</p:attrName>
                                        </p:attrNameLst>
                                      </p:cBhvr>
                                      <p:tavLst>
                                        <p:tav tm="0">
                                          <p:val>
                                            <p:strVal val="#ppt_w*0.70"/>
                                          </p:val>
                                        </p:tav>
                                        <p:tav tm="100000">
                                          <p:val>
                                            <p:strVal val="#ppt_w"/>
                                          </p:val>
                                        </p:tav>
                                      </p:tavLst>
                                    </p:anim>
                                    <p:anim calcmode="lin" valueType="num">
                                      <p:cBhvr>
                                        <p:cTn id="121" dur="1000" fill="hold"/>
                                        <p:tgtEl>
                                          <p:spTgt spid="996"/>
                                        </p:tgtEl>
                                        <p:attrNameLst>
                                          <p:attrName>ppt_h</p:attrName>
                                        </p:attrNameLst>
                                      </p:cBhvr>
                                      <p:tavLst>
                                        <p:tav tm="0">
                                          <p:val>
                                            <p:strVal val="#ppt_h"/>
                                          </p:val>
                                        </p:tav>
                                        <p:tav tm="100000">
                                          <p:val>
                                            <p:strVal val="#ppt_h"/>
                                          </p:val>
                                        </p:tav>
                                      </p:tavLst>
                                    </p:anim>
                                    <p:animEffect transition="in" filter="fade">
                                      <p:cBhvr>
                                        <p:cTn id="122" dur="1000"/>
                                        <p:tgtEl>
                                          <p:spTgt spid="996"/>
                                        </p:tgtEl>
                                      </p:cBhvr>
                                    </p:animEffect>
                                  </p:childTnLst>
                                </p:cTn>
                              </p:par>
                              <p:par>
                                <p:cTn id="123" presetID="55" presetClass="entr" presetSubtype="0" fill="hold" nodeType="withEffect">
                                  <p:stCondLst>
                                    <p:cond delay="0"/>
                                  </p:stCondLst>
                                  <p:childTnLst>
                                    <p:set>
                                      <p:cBhvr>
                                        <p:cTn id="124" dur="1" fill="hold">
                                          <p:stCondLst>
                                            <p:cond delay="0"/>
                                          </p:stCondLst>
                                        </p:cTn>
                                        <p:tgtEl>
                                          <p:spTgt spid="997"/>
                                        </p:tgtEl>
                                        <p:attrNameLst>
                                          <p:attrName>style.visibility</p:attrName>
                                        </p:attrNameLst>
                                      </p:cBhvr>
                                      <p:to>
                                        <p:strVal val="visible"/>
                                      </p:to>
                                    </p:set>
                                    <p:anim calcmode="lin" valueType="num">
                                      <p:cBhvr>
                                        <p:cTn id="125" dur="1000" fill="hold"/>
                                        <p:tgtEl>
                                          <p:spTgt spid="997"/>
                                        </p:tgtEl>
                                        <p:attrNameLst>
                                          <p:attrName>ppt_w</p:attrName>
                                        </p:attrNameLst>
                                      </p:cBhvr>
                                      <p:tavLst>
                                        <p:tav tm="0">
                                          <p:val>
                                            <p:strVal val="#ppt_w*0.70"/>
                                          </p:val>
                                        </p:tav>
                                        <p:tav tm="100000">
                                          <p:val>
                                            <p:strVal val="#ppt_w"/>
                                          </p:val>
                                        </p:tav>
                                      </p:tavLst>
                                    </p:anim>
                                    <p:anim calcmode="lin" valueType="num">
                                      <p:cBhvr>
                                        <p:cTn id="126" dur="1000" fill="hold"/>
                                        <p:tgtEl>
                                          <p:spTgt spid="997"/>
                                        </p:tgtEl>
                                        <p:attrNameLst>
                                          <p:attrName>ppt_h</p:attrName>
                                        </p:attrNameLst>
                                      </p:cBhvr>
                                      <p:tavLst>
                                        <p:tav tm="0">
                                          <p:val>
                                            <p:strVal val="#ppt_h"/>
                                          </p:val>
                                        </p:tav>
                                        <p:tav tm="100000">
                                          <p:val>
                                            <p:strVal val="#ppt_h"/>
                                          </p:val>
                                        </p:tav>
                                      </p:tavLst>
                                    </p:anim>
                                    <p:animEffect transition="in" filter="fade">
                                      <p:cBhvr>
                                        <p:cTn id="127" dur="1000"/>
                                        <p:tgtEl>
                                          <p:spTgt spid="997"/>
                                        </p:tgtEl>
                                      </p:cBhvr>
                                    </p:animEffect>
                                  </p:childTnLst>
                                </p:cTn>
                              </p:par>
                              <p:par>
                                <p:cTn id="128" presetID="55" presetClass="entr" presetSubtype="0" fill="hold" nodeType="withEffect">
                                  <p:stCondLst>
                                    <p:cond delay="0"/>
                                  </p:stCondLst>
                                  <p:childTnLst>
                                    <p:set>
                                      <p:cBhvr>
                                        <p:cTn id="129" dur="1" fill="hold">
                                          <p:stCondLst>
                                            <p:cond delay="0"/>
                                          </p:stCondLst>
                                        </p:cTn>
                                        <p:tgtEl>
                                          <p:spTgt spid="998"/>
                                        </p:tgtEl>
                                        <p:attrNameLst>
                                          <p:attrName>style.visibility</p:attrName>
                                        </p:attrNameLst>
                                      </p:cBhvr>
                                      <p:to>
                                        <p:strVal val="visible"/>
                                      </p:to>
                                    </p:set>
                                    <p:anim calcmode="lin" valueType="num">
                                      <p:cBhvr>
                                        <p:cTn id="130" dur="1000" fill="hold"/>
                                        <p:tgtEl>
                                          <p:spTgt spid="998"/>
                                        </p:tgtEl>
                                        <p:attrNameLst>
                                          <p:attrName>ppt_w</p:attrName>
                                        </p:attrNameLst>
                                      </p:cBhvr>
                                      <p:tavLst>
                                        <p:tav tm="0">
                                          <p:val>
                                            <p:strVal val="#ppt_w*0.70"/>
                                          </p:val>
                                        </p:tav>
                                        <p:tav tm="100000">
                                          <p:val>
                                            <p:strVal val="#ppt_w"/>
                                          </p:val>
                                        </p:tav>
                                      </p:tavLst>
                                    </p:anim>
                                    <p:anim calcmode="lin" valueType="num">
                                      <p:cBhvr>
                                        <p:cTn id="131" dur="1000" fill="hold"/>
                                        <p:tgtEl>
                                          <p:spTgt spid="998"/>
                                        </p:tgtEl>
                                        <p:attrNameLst>
                                          <p:attrName>ppt_h</p:attrName>
                                        </p:attrNameLst>
                                      </p:cBhvr>
                                      <p:tavLst>
                                        <p:tav tm="0">
                                          <p:val>
                                            <p:strVal val="#ppt_h"/>
                                          </p:val>
                                        </p:tav>
                                        <p:tav tm="100000">
                                          <p:val>
                                            <p:strVal val="#ppt_h"/>
                                          </p:val>
                                        </p:tav>
                                      </p:tavLst>
                                    </p:anim>
                                    <p:animEffect transition="in" filter="fade">
                                      <p:cBhvr>
                                        <p:cTn id="132" dur="1000"/>
                                        <p:tgtEl>
                                          <p:spTgt spid="998"/>
                                        </p:tgtEl>
                                      </p:cBhvr>
                                    </p:animEffect>
                                  </p:childTnLst>
                                </p:cTn>
                              </p:par>
                              <p:par>
                                <p:cTn id="133" presetID="55" presetClass="entr" presetSubtype="0" fill="hold" nodeType="withEffect">
                                  <p:stCondLst>
                                    <p:cond delay="0"/>
                                  </p:stCondLst>
                                  <p:childTnLst>
                                    <p:set>
                                      <p:cBhvr>
                                        <p:cTn id="134" dur="1" fill="hold">
                                          <p:stCondLst>
                                            <p:cond delay="0"/>
                                          </p:stCondLst>
                                        </p:cTn>
                                        <p:tgtEl>
                                          <p:spTgt spid="999"/>
                                        </p:tgtEl>
                                        <p:attrNameLst>
                                          <p:attrName>style.visibility</p:attrName>
                                        </p:attrNameLst>
                                      </p:cBhvr>
                                      <p:to>
                                        <p:strVal val="visible"/>
                                      </p:to>
                                    </p:set>
                                    <p:anim calcmode="lin" valueType="num">
                                      <p:cBhvr>
                                        <p:cTn id="135" dur="1000" fill="hold"/>
                                        <p:tgtEl>
                                          <p:spTgt spid="999"/>
                                        </p:tgtEl>
                                        <p:attrNameLst>
                                          <p:attrName>ppt_w</p:attrName>
                                        </p:attrNameLst>
                                      </p:cBhvr>
                                      <p:tavLst>
                                        <p:tav tm="0">
                                          <p:val>
                                            <p:strVal val="#ppt_w*0.70"/>
                                          </p:val>
                                        </p:tav>
                                        <p:tav tm="100000">
                                          <p:val>
                                            <p:strVal val="#ppt_w"/>
                                          </p:val>
                                        </p:tav>
                                      </p:tavLst>
                                    </p:anim>
                                    <p:anim calcmode="lin" valueType="num">
                                      <p:cBhvr>
                                        <p:cTn id="136" dur="1000" fill="hold"/>
                                        <p:tgtEl>
                                          <p:spTgt spid="999"/>
                                        </p:tgtEl>
                                        <p:attrNameLst>
                                          <p:attrName>ppt_h</p:attrName>
                                        </p:attrNameLst>
                                      </p:cBhvr>
                                      <p:tavLst>
                                        <p:tav tm="0">
                                          <p:val>
                                            <p:strVal val="#ppt_h"/>
                                          </p:val>
                                        </p:tav>
                                        <p:tav tm="100000">
                                          <p:val>
                                            <p:strVal val="#ppt_h"/>
                                          </p:val>
                                        </p:tav>
                                      </p:tavLst>
                                    </p:anim>
                                    <p:animEffect transition="in" filter="fade">
                                      <p:cBhvr>
                                        <p:cTn id="137" dur="1000"/>
                                        <p:tgtEl>
                                          <p:spTgt spid="999"/>
                                        </p:tgtEl>
                                      </p:cBhvr>
                                    </p:animEffect>
                                  </p:childTnLst>
                                </p:cTn>
                              </p:par>
                              <p:par>
                                <p:cTn id="138" presetID="55" presetClass="entr" presetSubtype="0" fill="hold" nodeType="withEffect">
                                  <p:stCondLst>
                                    <p:cond delay="0"/>
                                  </p:stCondLst>
                                  <p:childTnLst>
                                    <p:set>
                                      <p:cBhvr>
                                        <p:cTn id="139" dur="1" fill="hold">
                                          <p:stCondLst>
                                            <p:cond delay="0"/>
                                          </p:stCondLst>
                                        </p:cTn>
                                        <p:tgtEl>
                                          <p:spTgt spid="1000"/>
                                        </p:tgtEl>
                                        <p:attrNameLst>
                                          <p:attrName>style.visibility</p:attrName>
                                        </p:attrNameLst>
                                      </p:cBhvr>
                                      <p:to>
                                        <p:strVal val="visible"/>
                                      </p:to>
                                    </p:set>
                                    <p:anim calcmode="lin" valueType="num">
                                      <p:cBhvr>
                                        <p:cTn id="140" dur="1000" fill="hold"/>
                                        <p:tgtEl>
                                          <p:spTgt spid="1000"/>
                                        </p:tgtEl>
                                        <p:attrNameLst>
                                          <p:attrName>ppt_w</p:attrName>
                                        </p:attrNameLst>
                                      </p:cBhvr>
                                      <p:tavLst>
                                        <p:tav tm="0">
                                          <p:val>
                                            <p:strVal val="#ppt_w*0.70"/>
                                          </p:val>
                                        </p:tav>
                                        <p:tav tm="100000">
                                          <p:val>
                                            <p:strVal val="#ppt_w"/>
                                          </p:val>
                                        </p:tav>
                                      </p:tavLst>
                                    </p:anim>
                                    <p:anim calcmode="lin" valueType="num">
                                      <p:cBhvr>
                                        <p:cTn id="141" dur="1000" fill="hold"/>
                                        <p:tgtEl>
                                          <p:spTgt spid="1000"/>
                                        </p:tgtEl>
                                        <p:attrNameLst>
                                          <p:attrName>ppt_h</p:attrName>
                                        </p:attrNameLst>
                                      </p:cBhvr>
                                      <p:tavLst>
                                        <p:tav tm="0">
                                          <p:val>
                                            <p:strVal val="#ppt_h"/>
                                          </p:val>
                                        </p:tav>
                                        <p:tav tm="100000">
                                          <p:val>
                                            <p:strVal val="#ppt_h"/>
                                          </p:val>
                                        </p:tav>
                                      </p:tavLst>
                                    </p:anim>
                                    <p:animEffect transition="in" filter="fade">
                                      <p:cBhvr>
                                        <p:cTn id="142" dur="1000"/>
                                        <p:tgtEl>
                                          <p:spTgt spid="1000"/>
                                        </p:tgtEl>
                                      </p:cBhvr>
                                    </p:animEffect>
                                  </p:childTnLst>
                                </p:cTn>
                              </p:par>
                            </p:childTnLst>
                          </p:cTn>
                        </p:par>
                      </p:childTnLst>
                    </p:cTn>
                  </p:par>
                  <p:par>
                    <p:cTn id="143" fill="hold">
                      <p:stCondLst>
                        <p:cond delay="indefinite"/>
                      </p:stCondLst>
                      <p:childTnLst>
                        <p:par>
                          <p:cTn id="144" fill="hold">
                            <p:stCondLst>
                              <p:cond delay="0"/>
                            </p:stCondLst>
                            <p:childTnLst>
                              <p:par>
                                <p:cTn id="145" presetID="55" presetClass="entr" presetSubtype="0" fill="hold" nodeType="clickEffect">
                                  <p:stCondLst>
                                    <p:cond delay="0"/>
                                  </p:stCondLst>
                                  <p:childTnLst>
                                    <p:set>
                                      <p:cBhvr>
                                        <p:cTn id="146" dur="1" fill="hold">
                                          <p:stCondLst>
                                            <p:cond delay="0"/>
                                          </p:stCondLst>
                                        </p:cTn>
                                        <p:tgtEl>
                                          <p:spTgt spid="1001"/>
                                        </p:tgtEl>
                                        <p:attrNameLst>
                                          <p:attrName>style.visibility</p:attrName>
                                        </p:attrNameLst>
                                      </p:cBhvr>
                                      <p:to>
                                        <p:strVal val="visible"/>
                                      </p:to>
                                    </p:set>
                                    <p:anim calcmode="lin" valueType="num">
                                      <p:cBhvr>
                                        <p:cTn id="147" dur="1000" fill="hold"/>
                                        <p:tgtEl>
                                          <p:spTgt spid="1001"/>
                                        </p:tgtEl>
                                        <p:attrNameLst>
                                          <p:attrName>ppt_w</p:attrName>
                                        </p:attrNameLst>
                                      </p:cBhvr>
                                      <p:tavLst>
                                        <p:tav tm="0">
                                          <p:val>
                                            <p:strVal val="#ppt_w*0.70"/>
                                          </p:val>
                                        </p:tav>
                                        <p:tav tm="100000">
                                          <p:val>
                                            <p:strVal val="#ppt_w"/>
                                          </p:val>
                                        </p:tav>
                                      </p:tavLst>
                                    </p:anim>
                                    <p:anim calcmode="lin" valueType="num">
                                      <p:cBhvr>
                                        <p:cTn id="148" dur="1000" fill="hold"/>
                                        <p:tgtEl>
                                          <p:spTgt spid="1001"/>
                                        </p:tgtEl>
                                        <p:attrNameLst>
                                          <p:attrName>ppt_h</p:attrName>
                                        </p:attrNameLst>
                                      </p:cBhvr>
                                      <p:tavLst>
                                        <p:tav tm="0">
                                          <p:val>
                                            <p:strVal val="#ppt_h"/>
                                          </p:val>
                                        </p:tav>
                                        <p:tav tm="100000">
                                          <p:val>
                                            <p:strVal val="#ppt_h"/>
                                          </p:val>
                                        </p:tav>
                                      </p:tavLst>
                                    </p:anim>
                                    <p:animEffect transition="in" filter="fade">
                                      <p:cBhvr>
                                        <p:cTn id="149" dur="1000"/>
                                        <p:tgtEl>
                                          <p:spTgt spid="1001"/>
                                        </p:tgtEl>
                                      </p:cBhvr>
                                    </p:animEffect>
                                  </p:childTnLst>
                                </p:cTn>
                              </p:par>
                              <p:par>
                                <p:cTn id="150" presetID="55" presetClass="entr" presetSubtype="0" fill="hold" nodeType="withEffect">
                                  <p:stCondLst>
                                    <p:cond delay="0"/>
                                  </p:stCondLst>
                                  <p:childTnLst>
                                    <p:set>
                                      <p:cBhvr>
                                        <p:cTn id="151" dur="1" fill="hold">
                                          <p:stCondLst>
                                            <p:cond delay="0"/>
                                          </p:stCondLst>
                                        </p:cTn>
                                        <p:tgtEl>
                                          <p:spTgt spid="1003"/>
                                        </p:tgtEl>
                                        <p:attrNameLst>
                                          <p:attrName>style.visibility</p:attrName>
                                        </p:attrNameLst>
                                      </p:cBhvr>
                                      <p:to>
                                        <p:strVal val="visible"/>
                                      </p:to>
                                    </p:set>
                                    <p:anim calcmode="lin" valueType="num">
                                      <p:cBhvr>
                                        <p:cTn id="152" dur="1000" fill="hold"/>
                                        <p:tgtEl>
                                          <p:spTgt spid="1003"/>
                                        </p:tgtEl>
                                        <p:attrNameLst>
                                          <p:attrName>ppt_w</p:attrName>
                                        </p:attrNameLst>
                                      </p:cBhvr>
                                      <p:tavLst>
                                        <p:tav tm="0">
                                          <p:val>
                                            <p:strVal val="#ppt_w*0.70"/>
                                          </p:val>
                                        </p:tav>
                                        <p:tav tm="100000">
                                          <p:val>
                                            <p:strVal val="#ppt_w"/>
                                          </p:val>
                                        </p:tav>
                                      </p:tavLst>
                                    </p:anim>
                                    <p:anim calcmode="lin" valueType="num">
                                      <p:cBhvr>
                                        <p:cTn id="153" dur="1000" fill="hold"/>
                                        <p:tgtEl>
                                          <p:spTgt spid="1003"/>
                                        </p:tgtEl>
                                        <p:attrNameLst>
                                          <p:attrName>ppt_h</p:attrName>
                                        </p:attrNameLst>
                                      </p:cBhvr>
                                      <p:tavLst>
                                        <p:tav tm="0">
                                          <p:val>
                                            <p:strVal val="#ppt_h"/>
                                          </p:val>
                                        </p:tav>
                                        <p:tav tm="100000">
                                          <p:val>
                                            <p:strVal val="#ppt_h"/>
                                          </p:val>
                                        </p:tav>
                                      </p:tavLst>
                                    </p:anim>
                                    <p:animEffect transition="in" filter="fade">
                                      <p:cBhvr>
                                        <p:cTn id="154" dur="1000"/>
                                        <p:tgtEl>
                                          <p:spTgt spid="1003"/>
                                        </p:tgtEl>
                                      </p:cBhvr>
                                    </p:animEffect>
                                  </p:childTnLst>
                                </p:cTn>
                              </p:par>
                              <p:par>
                                <p:cTn id="155" presetID="55" presetClass="entr" presetSubtype="0" fill="hold" nodeType="withEffect">
                                  <p:stCondLst>
                                    <p:cond delay="0"/>
                                  </p:stCondLst>
                                  <p:childTnLst>
                                    <p:set>
                                      <p:cBhvr>
                                        <p:cTn id="156" dur="1" fill="hold">
                                          <p:stCondLst>
                                            <p:cond delay="0"/>
                                          </p:stCondLst>
                                        </p:cTn>
                                        <p:tgtEl>
                                          <p:spTgt spid="1004"/>
                                        </p:tgtEl>
                                        <p:attrNameLst>
                                          <p:attrName>style.visibility</p:attrName>
                                        </p:attrNameLst>
                                      </p:cBhvr>
                                      <p:to>
                                        <p:strVal val="visible"/>
                                      </p:to>
                                    </p:set>
                                    <p:anim calcmode="lin" valueType="num">
                                      <p:cBhvr>
                                        <p:cTn id="157" dur="1000" fill="hold"/>
                                        <p:tgtEl>
                                          <p:spTgt spid="1004"/>
                                        </p:tgtEl>
                                        <p:attrNameLst>
                                          <p:attrName>ppt_w</p:attrName>
                                        </p:attrNameLst>
                                      </p:cBhvr>
                                      <p:tavLst>
                                        <p:tav tm="0">
                                          <p:val>
                                            <p:strVal val="#ppt_w*0.70"/>
                                          </p:val>
                                        </p:tav>
                                        <p:tav tm="100000">
                                          <p:val>
                                            <p:strVal val="#ppt_w"/>
                                          </p:val>
                                        </p:tav>
                                      </p:tavLst>
                                    </p:anim>
                                    <p:anim calcmode="lin" valueType="num">
                                      <p:cBhvr>
                                        <p:cTn id="158" dur="1000" fill="hold"/>
                                        <p:tgtEl>
                                          <p:spTgt spid="1004"/>
                                        </p:tgtEl>
                                        <p:attrNameLst>
                                          <p:attrName>ppt_h</p:attrName>
                                        </p:attrNameLst>
                                      </p:cBhvr>
                                      <p:tavLst>
                                        <p:tav tm="0">
                                          <p:val>
                                            <p:strVal val="#ppt_h"/>
                                          </p:val>
                                        </p:tav>
                                        <p:tav tm="100000">
                                          <p:val>
                                            <p:strVal val="#ppt_h"/>
                                          </p:val>
                                        </p:tav>
                                      </p:tavLst>
                                    </p:anim>
                                    <p:animEffect transition="in" filter="fade">
                                      <p:cBhvr>
                                        <p:cTn id="159" dur="1000"/>
                                        <p:tgtEl>
                                          <p:spTgt spid="1004"/>
                                        </p:tgtEl>
                                      </p:cBhvr>
                                    </p:animEffect>
                                  </p:childTnLst>
                                </p:cTn>
                              </p:par>
                              <p:par>
                                <p:cTn id="160" presetID="55" presetClass="entr" presetSubtype="0" fill="hold" nodeType="withEffect">
                                  <p:stCondLst>
                                    <p:cond delay="0"/>
                                  </p:stCondLst>
                                  <p:childTnLst>
                                    <p:set>
                                      <p:cBhvr>
                                        <p:cTn id="161" dur="1" fill="hold">
                                          <p:stCondLst>
                                            <p:cond delay="0"/>
                                          </p:stCondLst>
                                        </p:cTn>
                                        <p:tgtEl>
                                          <p:spTgt spid="1005"/>
                                        </p:tgtEl>
                                        <p:attrNameLst>
                                          <p:attrName>style.visibility</p:attrName>
                                        </p:attrNameLst>
                                      </p:cBhvr>
                                      <p:to>
                                        <p:strVal val="visible"/>
                                      </p:to>
                                    </p:set>
                                    <p:anim calcmode="lin" valueType="num">
                                      <p:cBhvr>
                                        <p:cTn id="162" dur="1000" fill="hold"/>
                                        <p:tgtEl>
                                          <p:spTgt spid="1005"/>
                                        </p:tgtEl>
                                        <p:attrNameLst>
                                          <p:attrName>ppt_w</p:attrName>
                                        </p:attrNameLst>
                                      </p:cBhvr>
                                      <p:tavLst>
                                        <p:tav tm="0">
                                          <p:val>
                                            <p:strVal val="#ppt_w*0.70"/>
                                          </p:val>
                                        </p:tav>
                                        <p:tav tm="100000">
                                          <p:val>
                                            <p:strVal val="#ppt_w"/>
                                          </p:val>
                                        </p:tav>
                                      </p:tavLst>
                                    </p:anim>
                                    <p:anim calcmode="lin" valueType="num">
                                      <p:cBhvr>
                                        <p:cTn id="163" dur="1000" fill="hold"/>
                                        <p:tgtEl>
                                          <p:spTgt spid="1005"/>
                                        </p:tgtEl>
                                        <p:attrNameLst>
                                          <p:attrName>ppt_h</p:attrName>
                                        </p:attrNameLst>
                                      </p:cBhvr>
                                      <p:tavLst>
                                        <p:tav tm="0">
                                          <p:val>
                                            <p:strVal val="#ppt_h"/>
                                          </p:val>
                                        </p:tav>
                                        <p:tav tm="100000">
                                          <p:val>
                                            <p:strVal val="#ppt_h"/>
                                          </p:val>
                                        </p:tav>
                                      </p:tavLst>
                                    </p:anim>
                                    <p:animEffect transition="in" filter="fade">
                                      <p:cBhvr>
                                        <p:cTn id="164" dur="1000"/>
                                        <p:tgtEl>
                                          <p:spTgt spid="1005"/>
                                        </p:tgtEl>
                                      </p:cBhvr>
                                    </p:animEffect>
                                  </p:childTnLst>
                                </p:cTn>
                              </p:par>
                              <p:par>
                                <p:cTn id="165" presetID="55" presetClass="entr" presetSubtype="0" fill="hold" nodeType="withEffect">
                                  <p:stCondLst>
                                    <p:cond delay="0"/>
                                  </p:stCondLst>
                                  <p:childTnLst>
                                    <p:set>
                                      <p:cBhvr>
                                        <p:cTn id="166" dur="1" fill="hold">
                                          <p:stCondLst>
                                            <p:cond delay="0"/>
                                          </p:stCondLst>
                                        </p:cTn>
                                        <p:tgtEl>
                                          <p:spTgt spid="1006"/>
                                        </p:tgtEl>
                                        <p:attrNameLst>
                                          <p:attrName>style.visibility</p:attrName>
                                        </p:attrNameLst>
                                      </p:cBhvr>
                                      <p:to>
                                        <p:strVal val="visible"/>
                                      </p:to>
                                    </p:set>
                                    <p:anim calcmode="lin" valueType="num">
                                      <p:cBhvr>
                                        <p:cTn id="167" dur="1000" fill="hold"/>
                                        <p:tgtEl>
                                          <p:spTgt spid="1006"/>
                                        </p:tgtEl>
                                        <p:attrNameLst>
                                          <p:attrName>ppt_w</p:attrName>
                                        </p:attrNameLst>
                                      </p:cBhvr>
                                      <p:tavLst>
                                        <p:tav tm="0">
                                          <p:val>
                                            <p:strVal val="#ppt_w*0.70"/>
                                          </p:val>
                                        </p:tav>
                                        <p:tav tm="100000">
                                          <p:val>
                                            <p:strVal val="#ppt_w"/>
                                          </p:val>
                                        </p:tav>
                                      </p:tavLst>
                                    </p:anim>
                                    <p:anim calcmode="lin" valueType="num">
                                      <p:cBhvr>
                                        <p:cTn id="168" dur="1000" fill="hold"/>
                                        <p:tgtEl>
                                          <p:spTgt spid="1006"/>
                                        </p:tgtEl>
                                        <p:attrNameLst>
                                          <p:attrName>ppt_h</p:attrName>
                                        </p:attrNameLst>
                                      </p:cBhvr>
                                      <p:tavLst>
                                        <p:tav tm="0">
                                          <p:val>
                                            <p:strVal val="#ppt_h"/>
                                          </p:val>
                                        </p:tav>
                                        <p:tav tm="100000">
                                          <p:val>
                                            <p:strVal val="#ppt_h"/>
                                          </p:val>
                                        </p:tav>
                                      </p:tavLst>
                                    </p:anim>
                                    <p:animEffect transition="in" filter="fade">
                                      <p:cBhvr>
                                        <p:cTn id="169" dur="1000"/>
                                        <p:tgtEl>
                                          <p:spTgt spid="1006"/>
                                        </p:tgtEl>
                                      </p:cBhvr>
                                    </p:animEffect>
                                  </p:childTnLst>
                                </p:cTn>
                              </p:par>
                            </p:childTnLst>
                          </p:cTn>
                        </p:par>
                      </p:childTnLst>
                    </p:cTn>
                  </p:par>
                  <p:par>
                    <p:cTn id="170" fill="hold">
                      <p:stCondLst>
                        <p:cond delay="indefinite"/>
                      </p:stCondLst>
                      <p:childTnLst>
                        <p:par>
                          <p:cTn id="171" fill="hold">
                            <p:stCondLst>
                              <p:cond delay="0"/>
                            </p:stCondLst>
                            <p:childTnLst>
                              <p:par>
                                <p:cTn id="172" presetID="4" presetClass="entr" presetSubtype="16" fill="hold" nodeType="clickEffect">
                                  <p:stCondLst>
                                    <p:cond delay="0"/>
                                  </p:stCondLst>
                                  <p:childTnLst>
                                    <p:set>
                                      <p:cBhvr>
                                        <p:cTn id="173" dur="1" fill="hold">
                                          <p:stCondLst>
                                            <p:cond delay="0"/>
                                          </p:stCondLst>
                                        </p:cTn>
                                        <p:tgtEl>
                                          <p:spTgt spid="976"/>
                                        </p:tgtEl>
                                        <p:attrNameLst>
                                          <p:attrName>style.visibility</p:attrName>
                                        </p:attrNameLst>
                                      </p:cBhvr>
                                      <p:to>
                                        <p:strVal val="visible"/>
                                      </p:to>
                                    </p:set>
                                    <p:animEffect transition="in" filter="box(in)">
                                      <p:cBhvr>
                                        <p:cTn id="174" dur="500"/>
                                        <p:tgtEl>
                                          <p:spTgt spid="976"/>
                                        </p:tgtEl>
                                      </p:cBhvr>
                                    </p:animEffect>
                                  </p:childTnLst>
                                </p:cTn>
                              </p:par>
                              <p:par>
                                <p:cTn id="175" presetID="4" presetClass="entr" presetSubtype="16" fill="hold" nodeType="withEffect">
                                  <p:stCondLst>
                                    <p:cond delay="0"/>
                                  </p:stCondLst>
                                  <p:childTnLst>
                                    <p:set>
                                      <p:cBhvr>
                                        <p:cTn id="176" dur="1" fill="hold">
                                          <p:stCondLst>
                                            <p:cond delay="0"/>
                                          </p:stCondLst>
                                        </p:cTn>
                                        <p:tgtEl>
                                          <p:spTgt spid="973"/>
                                        </p:tgtEl>
                                        <p:attrNameLst>
                                          <p:attrName>style.visibility</p:attrName>
                                        </p:attrNameLst>
                                      </p:cBhvr>
                                      <p:to>
                                        <p:strVal val="visible"/>
                                      </p:to>
                                    </p:set>
                                    <p:animEffect transition="in" filter="box(in)">
                                      <p:cBhvr>
                                        <p:cTn id="177" dur="500"/>
                                        <p:tgtEl>
                                          <p:spTgt spid="973"/>
                                        </p:tgtEl>
                                      </p:cBhvr>
                                    </p:animEffect>
                                  </p:childTnLst>
                                </p:cTn>
                              </p:par>
                              <p:par>
                                <p:cTn id="178" presetID="4" presetClass="entr" presetSubtype="16" fill="hold" nodeType="withEffect">
                                  <p:stCondLst>
                                    <p:cond delay="0"/>
                                  </p:stCondLst>
                                  <p:childTnLst>
                                    <p:set>
                                      <p:cBhvr>
                                        <p:cTn id="179" dur="1" fill="hold">
                                          <p:stCondLst>
                                            <p:cond delay="0"/>
                                          </p:stCondLst>
                                        </p:cTn>
                                        <p:tgtEl>
                                          <p:spTgt spid="974"/>
                                        </p:tgtEl>
                                        <p:attrNameLst>
                                          <p:attrName>style.visibility</p:attrName>
                                        </p:attrNameLst>
                                      </p:cBhvr>
                                      <p:to>
                                        <p:strVal val="visible"/>
                                      </p:to>
                                    </p:set>
                                    <p:animEffect transition="in" filter="box(in)">
                                      <p:cBhvr>
                                        <p:cTn id="180" dur="500"/>
                                        <p:tgtEl>
                                          <p:spTgt spid="974"/>
                                        </p:tgtEl>
                                      </p:cBhvr>
                                    </p:animEffect>
                                  </p:childTnLst>
                                </p:cTn>
                              </p:par>
                            </p:childTnLst>
                          </p:cTn>
                        </p:par>
                      </p:childTnLst>
                    </p:cTn>
                  </p:par>
                  <p:par>
                    <p:cTn id="181" fill="hold">
                      <p:stCondLst>
                        <p:cond delay="indefinite"/>
                      </p:stCondLst>
                      <p:childTnLst>
                        <p:par>
                          <p:cTn id="182" fill="hold">
                            <p:stCondLst>
                              <p:cond delay="0"/>
                            </p:stCondLst>
                            <p:childTnLst>
                              <p:par>
                                <p:cTn id="183" presetID="4" presetClass="entr" presetSubtype="16" fill="hold" nodeType="clickEffect">
                                  <p:stCondLst>
                                    <p:cond delay="0"/>
                                  </p:stCondLst>
                                  <p:childTnLst>
                                    <p:set>
                                      <p:cBhvr>
                                        <p:cTn id="184" dur="1" fill="hold">
                                          <p:stCondLst>
                                            <p:cond delay="0"/>
                                          </p:stCondLst>
                                        </p:cTn>
                                        <p:tgtEl>
                                          <p:spTgt spid="287"/>
                                        </p:tgtEl>
                                        <p:attrNameLst>
                                          <p:attrName>style.visibility</p:attrName>
                                        </p:attrNameLst>
                                      </p:cBhvr>
                                      <p:to>
                                        <p:strVal val="visible"/>
                                      </p:to>
                                    </p:set>
                                    <p:animEffect transition="in" filter="box(in)">
                                      <p:cBhvr>
                                        <p:cTn id="185" dur="500"/>
                                        <p:tgtEl>
                                          <p:spTgt spid="287"/>
                                        </p:tgtEl>
                                      </p:cBhvr>
                                    </p:animEffect>
                                  </p:childTnLst>
                                </p:cTn>
                              </p:par>
                            </p:childTnLst>
                          </p:cTn>
                        </p:par>
                      </p:childTnLst>
                    </p:cTn>
                  </p:par>
                  <p:par>
                    <p:cTn id="186" fill="hold">
                      <p:stCondLst>
                        <p:cond delay="indefinite"/>
                      </p:stCondLst>
                      <p:childTnLst>
                        <p:par>
                          <p:cTn id="187" fill="hold">
                            <p:stCondLst>
                              <p:cond delay="0"/>
                            </p:stCondLst>
                            <p:childTnLst>
                              <p:par>
                                <p:cTn id="188" presetID="4" presetClass="entr" presetSubtype="16" fill="hold" grpId="0" nodeType="clickEffect">
                                  <p:stCondLst>
                                    <p:cond delay="0"/>
                                  </p:stCondLst>
                                  <p:childTnLst>
                                    <p:set>
                                      <p:cBhvr>
                                        <p:cTn id="189" dur="1" fill="hold">
                                          <p:stCondLst>
                                            <p:cond delay="0"/>
                                          </p:stCondLst>
                                        </p:cTn>
                                        <p:tgtEl>
                                          <p:spTgt spid="12384"/>
                                        </p:tgtEl>
                                        <p:attrNameLst>
                                          <p:attrName>style.visibility</p:attrName>
                                        </p:attrNameLst>
                                      </p:cBhvr>
                                      <p:to>
                                        <p:strVal val="visible"/>
                                      </p:to>
                                    </p:set>
                                    <p:animEffect transition="in" filter="box(in)">
                                      <p:cBhvr>
                                        <p:cTn id="190" dur="500"/>
                                        <p:tgtEl>
                                          <p:spTgt spid="12384"/>
                                        </p:tgtEl>
                                      </p:cBhvr>
                                    </p:animEffect>
                                  </p:childTnLst>
                                </p:cTn>
                              </p:par>
                              <p:par>
                                <p:cTn id="191" presetID="4" presetClass="entr" presetSubtype="16" fill="hold" grpId="0" nodeType="withEffect">
                                  <p:stCondLst>
                                    <p:cond delay="0"/>
                                  </p:stCondLst>
                                  <p:childTnLst>
                                    <p:set>
                                      <p:cBhvr>
                                        <p:cTn id="192" dur="1" fill="hold">
                                          <p:stCondLst>
                                            <p:cond delay="0"/>
                                          </p:stCondLst>
                                        </p:cTn>
                                        <p:tgtEl>
                                          <p:spTgt spid="12385"/>
                                        </p:tgtEl>
                                        <p:attrNameLst>
                                          <p:attrName>style.visibility</p:attrName>
                                        </p:attrNameLst>
                                      </p:cBhvr>
                                      <p:to>
                                        <p:strVal val="visible"/>
                                      </p:to>
                                    </p:set>
                                    <p:animEffect transition="in" filter="box(in)">
                                      <p:cBhvr>
                                        <p:cTn id="193" dur="500"/>
                                        <p:tgtEl>
                                          <p:spTgt spid="12385"/>
                                        </p:tgtEl>
                                      </p:cBhvr>
                                    </p:animEffect>
                                  </p:childTnLst>
                                </p:cTn>
                              </p:par>
                            </p:childTnLst>
                          </p:cTn>
                        </p:par>
                      </p:childTnLst>
                    </p:cTn>
                  </p:par>
                  <p:par>
                    <p:cTn id="194" fill="hold">
                      <p:stCondLst>
                        <p:cond delay="indefinite"/>
                      </p:stCondLst>
                      <p:childTnLst>
                        <p:par>
                          <p:cTn id="195" fill="hold">
                            <p:stCondLst>
                              <p:cond delay="0"/>
                            </p:stCondLst>
                            <p:childTnLst>
                              <p:par>
                                <p:cTn id="196" presetID="4" presetClass="entr" presetSubtype="16" fill="hold" grpId="0" nodeType="clickEffect">
                                  <p:stCondLst>
                                    <p:cond delay="0"/>
                                  </p:stCondLst>
                                  <p:childTnLst>
                                    <p:set>
                                      <p:cBhvr>
                                        <p:cTn id="197" dur="1" fill="hold">
                                          <p:stCondLst>
                                            <p:cond delay="0"/>
                                          </p:stCondLst>
                                        </p:cTn>
                                        <p:tgtEl>
                                          <p:spTgt spid="12383"/>
                                        </p:tgtEl>
                                        <p:attrNameLst>
                                          <p:attrName>style.visibility</p:attrName>
                                        </p:attrNameLst>
                                      </p:cBhvr>
                                      <p:to>
                                        <p:strVal val="visible"/>
                                      </p:to>
                                    </p:set>
                                    <p:animEffect transition="in" filter="box(in)">
                                      <p:cBhvr>
                                        <p:cTn id="198" dur="500"/>
                                        <p:tgtEl>
                                          <p:spTgt spid="12383"/>
                                        </p:tgtEl>
                                      </p:cBhvr>
                                    </p:animEffect>
                                  </p:childTnLst>
                                </p:cTn>
                              </p:par>
                              <p:par>
                                <p:cTn id="199" presetID="4" presetClass="entr" presetSubtype="16" fill="hold" nodeType="withEffect">
                                  <p:stCondLst>
                                    <p:cond delay="0"/>
                                  </p:stCondLst>
                                  <p:childTnLst>
                                    <p:set>
                                      <p:cBhvr>
                                        <p:cTn id="200" dur="1" fill="hold">
                                          <p:stCondLst>
                                            <p:cond delay="0"/>
                                          </p:stCondLst>
                                        </p:cTn>
                                        <p:tgtEl>
                                          <p:spTgt spid="977"/>
                                        </p:tgtEl>
                                        <p:attrNameLst>
                                          <p:attrName>style.visibility</p:attrName>
                                        </p:attrNameLst>
                                      </p:cBhvr>
                                      <p:to>
                                        <p:strVal val="visible"/>
                                      </p:to>
                                    </p:set>
                                    <p:animEffect transition="in" filter="box(in)">
                                      <p:cBhvr>
                                        <p:cTn id="201" dur="500"/>
                                        <p:tgtEl>
                                          <p:spTgt spid="977"/>
                                        </p:tgtEl>
                                      </p:cBhvr>
                                    </p:animEffect>
                                  </p:childTnLst>
                                </p:cTn>
                              </p:par>
                            </p:childTnLst>
                          </p:cTn>
                        </p:par>
                      </p:childTnLst>
                    </p:cTn>
                  </p:par>
                  <p:par>
                    <p:cTn id="202" fill="hold">
                      <p:stCondLst>
                        <p:cond delay="indefinite"/>
                      </p:stCondLst>
                      <p:childTnLst>
                        <p:par>
                          <p:cTn id="203" fill="hold">
                            <p:stCondLst>
                              <p:cond delay="0"/>
                            </p:stCondLst>
                            <p:childTnLst>
                              <p:par>
                                <p:cTn id="204" presetID="4" presetClass="entr" presetSubtype="16" fill="hold" nodeType="clickEffect">
                                  <p:stCondLst>
                                    <p:cond delay="0"/>
                                  </p:stCondLst>
                                  <p:childTnLst>
                                    <p:set>
                                      <p:cBhvr>
                                        <p:cTn id="205" dur="1" fill="hold">
                                          <p:stCondLst>
                                            <p:cond delay="0"/>
                                          </p:stCondLst>
                                        </p:cTn>
                                        <p:tgtEl>
                                          <p:spTgt spid="282"/>
                                        </p:tgtEl>
                                        <p:attrNameLst>
                                          <p:attrName>style.visibility</p:attrName>
                                        </p:attrNameLst>
                                      </p:cBhvr>
                                      <p:to>
                                        <p:strVal val="visible"/>
                                      </p:to>
                                    </p:set>
                                    <p:animEffect transition="in" filter="box(in)">
                                      <p:cBhvr>
                                        <p:cTn id="206" dur="500"/>
                                        <p:tgtEl>
                                          <p:spTgt spid="282"/>
                                        </p:tgtEl>
                                      </p:cBhvr>
                                    </p:animEffect>
                                  </p:childTnLst>
                                </p:cTn>
                              </p:par>
                            </p:childTnLst>
                          </p:cTn>
                        </p:par>
                      </p:childTnLst>
                    </p:cTn>
                  </p:par>
                  <p:par>
                    <p:cTn id="207" fill="hold">
                      <p:stCondLst>
                        <p:cond delay="indefinite"/>
                      </p:stCondLst>
                      <p:childTnLst>
                        <p:par>
                          <p:cTn id="208" fill="hold">
                            <p:stCondLst>
                              <p:cond delay="0"/>
                            </p:stCondLst>
                            <p:childTnLst>
                              <p:par>
                                <p:cTn id="209" presetID="4" presetClass="entr" presetSubtype="16" fill="hold" nodeType="clickEffect">
                                  <p:stCondLst>
                                    <p:cond delay="0"/>
                                  </p:stCondLst>
                                  <p:childTnLst>
                                    <p:set>
                                      <p:cBhvr>
                                        <p:cTn id="210" dur="1" fill="hold">
                                          <p:stCondLst>
                                            <p:cond delay="0"/>
                                          </p:stCondLst>
                                        </p:cTn>
                                        <p:tgtEl>
                                          <p:spTgt spid="281"/>
                                        </p:tgtEl>
                                        <p:attrNameLst>
                                          <p:attrName>style.visibility</p:attrName>
                                        </p:attrNameLst>
                                      </p:cBhvr>
                                      <p:to>
                                        <p:strVal val="visible"/>
                                      </p:to>
                                    </p:set>
                                    <p:animEffect transition="in" filter="box(in)">
                                      <p:cBhvr>
                                        <p:cTn id="211" dur="500"/>
                                        <p:tgtEl>
                                          <p:spTgt spid="281"/>
                                        </p:tgtEl>
                                      </p:cBhvr>
                                    </p:animEffect>
                                  </p:childTnLst>
                                </p:cTn>
                              </p:par>
                              <p:par>
                                <p:cTn id="212" presetID="4" presetClass="entr" presetSubtype="16" fill="hold" grpId="0" nodeType="withEffect">
                                  <p:stCondLst>
                                    <p:cond delay="0"/>
                                  </p:stCondLst>
                                  <p:childTnLst>
                                    <p:set>
                                      <p:cBhvr>
                                        <p:cTn id="213" dur="1" fill="hold">
                                          <p:stCondLst>
                                            <p:cond delay="0"/>
                                          </p:stCondLst>
                                        </p:cTn>
                                        <p:tgtEl>
                                          <p:spTgt spid="12393"/>
                                        </p:tgtEl>
                                        <p:attrNameLst>
                                          <p:attrName>style.visibility</p:attrName>
                                        </p:attrNameLst>
                                      </p:cBhvr>
                                      <p:to>
                                        <p:strVal val="visible"/>
                                      </p:to>
                                    </p:set>
                                    <p:animEffect transition="in" filter="box(in)">
                                      <p:cBhvr>
                                        <p:cTn id="214" dur="500"/>
                                        <p:tgtEl>
                                          <p:spTgt spid="12393"/>
                                        </p:tgtEl>
                                      </p:cBhvr>
                                    </p:animEffect>
                                  </p:childTnLst>
                                </p:cTn>
                              </p:par>
                              <p:par>
                                <p:cTn id="215" presetID="4" presetClass="entr" presetSubtype="16" fill="hold" grpId="0" nodeType="withEffect">
                                  <p:stCondLst>
                                    <p:cond delay="0"/>
                                  </p:stCondLst>
                                  <p:childTnLst>
                                    <p:set>
                                      <p:cBhvr>
                                        <p:cTn id="216" dur="1" fill="hold">
                                          <p:stCondLst>
                                            <p:cond delay="0"/>
                                          </p:stCondLst>
                                        </p:cTn>
                                        <p:tgtEl>
                                          <p:spTgt spid="12390"/>
                                        </p:tgtEl>
                                        <p:attrNameLst>
                                          <p:attrName>style.visibility</p:attrName>
                                        </p:attrNameLst>
                                      </p:cBhvr>
                                      <p:to>
                                        <p:strVal val="visible"/>
                                      </p:to>
                                    </p:set>
                                    <p:animEffect transition="in" filter="box(in)">
                                      <p:cBhvr>
                                        <p:cTn id="217" dur="500"/>
                                        <p:tgtEl>
                                          <p:spTgt spid="12390"/>
                                        </p:tgtEl>
                                      </p:cBhvr>
                                    </p:animEffect>
                                  </p:childTnLst>
                                </p:cTn>
                              </p:par>
                            </p:childTnLst>
                          </p:cTn>
                        </p:par>
                      </p:childTnLst>
                    </p:cTn>
                  </p:par>
                  <p:par>
                    <p:cTn id="218" fill="hold">
                      <p:stCondLst>
                        <p:cond delay="indefinite"/>
                      </p:stCondLst>
                      <p:childTnLst>
                        <p:par>
                          <p:cTn id="219" fill="hold">
                            <p:stCondLst>
                              <p:cond delay="0"/>
                            </p:stCondLst>
                            <p:childTnLst>
                              <p:par>
                                <p:cTn id="220" presetID="4" presetClass="entr" presetSubtype="16" fill="hold" nodeType="clickEffect">
                                  <p:stCondLst>
                                    <p:cond delay="0"/>
                                  </p:stCondLst>
                                  <p:childTnLst>
                                    <p:set>
                                      <p:cBhvr>
                                        <p:cTn id="221" dur="1" fill="hold">
                                          <p:stCondLst>
                                            <p:cond delay="0"/>
                                          </p:stCondLst>
                                        </p:cTn>
                                        <p:tgtEl>
                                          <p:spTgt spid="284"/>
                                        </p:tgtEl>
                                        <p:attrNameLst>
                                          <p:attrName>style.visibility</p:attrName>
                                        </p:attrNameLst>
                                      </p:cBhvr>
                                      <p:to>
                                        <p:strVal val="visible"/>
                                      </p:to>
                                    </p:set>
                                    <p:animEffect transition="in" filter="box(in)">
                                      <p:cBhvr>
                                        <p:cTn id="222" dur="500"/>
                                        <p:tgtEl>
                                          <p:spTgt spid="284"/>
                                        </p:tgtEl>
                                      </p:cBhvr>
                                    </p:animEffect>
                                  </p:childTnLst>
                                </p:cTn>
                              </p:par>
                              <p:par>
                                <p:cTn id="223" presetID="4" presetClass="entr" presetSubtype="16" fill="hold" nodeType="withEffect">
                                  <p:stCondLst>
                                    <p:cond delay="0"/>
                                  </p:stCondLst>
                                  <p:childTnLst>
                                    <p:set>
                                      <p:cBhvr>
                                        <p:cTn id="224" dur="1" fill="hold">
                                          <p:stCondLst>
                                            <p:cond delay="0"/>
                                          </p:stCondLst>
                                        </p:cTn>
                                        <p:tgtEl>
                                          <p:spTgt spid="285"/>
                                        </p:tgtEl>
                                        <p:attrNameLst>
                                          <p:attrName>style.visibility</p:attrName>
                                        </p:attrNameLst>
                                      </p:cBhvr>
                                      <p:to>
                                        <p:strVal val="visible"/>
                                      </p:to>
                                    </p:set>
                                    <p:animEffect transition="in" filter="box(in)">
                                      <p:cBhvr>
                                        <p:cTn id="225" dur="500"/>
                                        <p:tgtEl>
                                          <p:spTgt spid="285"/>
                                        </p:tgtEl>
                                      </p:cBhvr>
                                    </p:animEffect>
                                  </p:childTnLst>
                                </p:cTn>
                              </p:par>
                            </p:childTnLst>
                          </p:cTn>
                        </p:par>
                      </p:childTnLst>
                    </p:cTn>
                  </p:par>
                  <p:par>
                    <p:cTn id="226" fill="hold">
                      <p:stCondLst>
                        <p:cond delay="indefinite"/>
                      </p:stCondLst>
                      <p:childTnLst>
                        <p:par>
                          <p:cTn id="227" fill="hold">
                            <p:stCondLst>
                              <p:cond delay="0"/>
                            </p:stCondLst>
                            <p:childTnLst>
                              <p:par>
                                <p:cTn id="228" presetID="4" presetClass="entr" presetSubtype="16" fill="hold" grpId="0" nodeType="clickEffect">
                                  <p:stCondLst>
                                    <p:cond delay="0"/>
                                  </p:stCondLst>
                                  <p:childTnLst>
                                    <p:set>
                                      <p:cBhvr>
                                        <p:cTn id="229" dur="1" fill="hold">
                                          <p:stCondLst>
                                            <p:cond delay="0"/>
                                          </p:stCondLst>
                                        </p:cTn>
                                        <p:tgtEl>
                                          <p:spTgt spid="12395"/>
                                        </p:tgtEl>
                                        <p:attrNameLst>
                                          <p:attrName>style.visibility</p:attrName>
                                        </p:attrNameLst>
                                      </p:cBhvr>
                                      <p:to>
                                        <p:strVal val="visible"/>
                                      </p:to>
                                    </p:set>
                                    <p:animEffect transition="in" filter="box(in)">
                                      <p:cBhvr>
                                        <p:cTn id="230" dur="500"/>
                                        <p:tgtEl>
                                          <p:spTgt spid="12395"/>
                                        </p:tgtEl>
                                      </p:cBhvr>
                                    </p:animEffect>
                                  </p:childTnLst>
                                </p:cTn>
                              </p:par>
                              <p:par>
                                <p:cTn id="231" presetID="4" presetClass="entr" presetSubtype="16" fill="hold" grpId="0" nodeType="withEffect">
                                  <p:stCondLst>
                                    <p:cond delay="0"/>
                                  </p:stCondLst>
                                  <p:childTnLst>
                                    <p:set>
                                      <p:cBhvr>
                                        <p:cTn id="232" dur="1" fill="hold">
                                          <p:stCondLst>
                                            <p:cond delay="0"/>
                                          </p:stCondLst>
                                        </p:cTn>
                                        <p:tgtEl>
                                          <p:spTgt spid="12394"/>
                                        </p:tgtEl>
                                        <p:attrNameLst>
                                          <p:attrName>style.visibility</p:attrName>
                                        </p:attrNameLst>
                                      </p:cBhvr>
                                      <p:to>
                                        <p:strVal val="visible"/>
                                      </p:to>
                                    </p:set>
                                    <p:animEffect transition="in" filter="box(in)">
                                      <p:cBhvr>
                                        <p:cTn id="233" dur="500"/>
                                        <p:tgtEl>
                                          <p:spTgt spid="12394"/>
                                        </p:tgtEl>
                                      </p:cBhvr>
                                    </p:animEffect>
                                  </p:childTnLst>
                                </p:cTn>
                              </p:par>
                            </p:childTnLst>
                          </p:cTn>
                        </p:par>
                      </p:childTnLst>
                    </p:cTn>
                  </p:par>
                  <p:par>
                    <p:cTn id="234" fill="hold">
                      <p:stCondLst>
                        <p:cond delay="indefinite"/>
                      </p:stCondLst>
                      <p:childTnLst>
                        <p:par>
                          <p:cTn id="235" fill="hold">
                            <p:stCondLst>
                              <p:cond delay="0"/>
                            </p:stCondLst>
                            <p:childTnLst>
                              <p:par>
                                <p:cTn id="236" presetID="4" presetClass="entr" presetSubtype="16" fill="hold" grpId="0" nodeType="clickEffect">
                                  <p:stCondLst>
                                    <p:cond delay="0"/>
                                  </p:stCondLst>
                                  <p:childTnLst>
                                    <p:set>
                                      <p:cBhvr>
                                        <p:cTn id="237" dur="1" fill="hold">
                                          <p:stCondLst>
                                            <p:cond delay="0"/>
                                          </p:stCondLst>
                                        </p:cTn>
                                        <p:tgtEl>
                                          <p:spTgt spid="12397"/>
                                        </p:tgtEl>
                                        <p:attrNameLst>
                                          <p:attrName>style.visibility</p:attrName>
                                        </p:attrNameLst>
                                      </p:cBhvr>
                                      <p:to>
                                        <p:strVal val="visible"/>
                                      </p:to>
                                    </p:set>
                                    <p:animEffect transition="in" filter="box(in)">
                                      <p:cBhvr>
                                        <p:cTn id="238" dur="500"/>
                                        <p:tgtEl>
                                          <p:spTgt spid="12397"/>
                                        </p:tgtEl>
                                      </p:cBhvr>
                                    </p:animEffect>
                                  </p:childTnLst>
                                </p:cTn>
                              </p:par>
                              <p:par>
                                <p:cTn id="239" presetID="4" presetClass="entr" presetSubtype="16" fill="hold" nodeType="withEffect">
                                  <p:stCondLst>
                                    <p:cond delay="0"/>
                                  </p:stCondLst>
                                  <p:childTnLst>
                                    <p:set>
                                      <p:cBhvr>
                                        <p:cTn id="240" dur="1" fill="hold">
                                          <p:stCondLst>
                                            <p:cond delay="0"/>
                                          </p:stCondLst>
                                        </p:cTn>
                                        <p:tgtEl>
                                          <p:spTgt spid="1026"/>
                                        </p:tgtEl>
                                        <p:attrNameLst>
                                          <p:attrName>style.visibility</p:attrName>
                                        </p:attrNameLst>
                                      </p:cBhvr>
                                      <p:to>
                                        <p:strVal val="visible"/>
                                      </p:to>
                                    </p:set>
                                    <p:animEffect transition="in" filter="box(in)">
                                      <p:cBhvr>
                                        <p:cTn id="241" dur="500"/>
                                        <p:tgtEl>
                                          <p:spTgt spid="1026"/>
                                        </p:tgtEl>
                                      </p:cBhvr>
                                    </p:animEffect>
                                  </p:childTnLst>
                                </p:cTn>
                              </p:par>
                              <p:par>
                                <p:cTn id="242" presetID="4" presetClass="entr" presetSubtype="16" fill="hold" grpId="0" nodeType="withEffect">
                                  <p:stCondLst>
                                    <p:cond delay="0"/>
                                  </p:stCondLst>
                                  <p:childTnLst>
                                    <p:set>
                                      <p:cBhvr>
                                        <p:cTn id="243" dur="1" fill="hold">
                                          <p:stCondLst>
                                            <p:cond delay="0"/>
                                          </p:stCondLst>
                                        </p:cTn>
                                        <p:tgtEl>
                                          <p:spTgt spid="12396"/>
                                        </p:tgtEl>
                                        <p:attrNameLst>
                                          <p:attrName>style.visibility</p:attrName>
                                        </p:attrNameLst>
                                      </p:cBhvr>
                                      <p:to>
                                        <p:strVal val="visible"/>
                                      </p:to>
                                    </p:set>
                                    <p:animEffect transition="in" filter="box(in)">
                                      <p:cBhvr>
                                        <p:cTn id="244" dur="500"/>
                                        <p:tgtEl>
                                          <p:spTgt spid="12396"/>
                                        </p:tgtEl>
                                      </p:cBhvr>
                                    </p:animEffect>
                                  </p:childTnLst>
                                </p:cTn>
                              </p:par>
                              <p:par>
                                <p:cTn id="245" presetID="4" presetClass="entr" presetSubtype="16" fill="hold" nodeType="withEffect">
                                  <p:stCondLst>
                                    <p:cond delay="0"/>
                                  </p:stCondLst>
                                  <p:childTnLst>
                                    <p:set>
                                      <p:cBhvr>
                                        <p:cTn id="246" dur="1" fill="hold">
                                          <p:stCondLst>
                                            <p:cond delay="0"/>
                                          </p:stCondLst>
                                        </p:cTn>
                                        <p:tgtEl>
                                          <p:spTgt spid="1025"/>
                                        </p:tgtEl>
                                        <p:attrNameLst>
                                          <p:attrName>style.visibility</p:attrName>
                                        </p:attrNameLst>
                                      </p:cBhvr>
                                      <p:to>
                                        <p:strVal val="visible"/>
                                      </p:to>
                                    </p:set>
                                    <p:animEffect transition="in" filter="box(in)">
                                      <p:cBhvr>
                                        <p:cTn id="247" dur="500"/>
                                        <p:tgtEl>
                                          <p:spTgt spid="1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p:bldP spid="12292" grpId="0"/>
      <p:bldP spid="12293" grpId="0"/>
      <p:bldP spid="12328" grpId="0"/>
      <p:bldP spid="12329" grpId="0"/>
      <p:bldP spid="12383" grpId="0"/>
      <p:bldP spid="12384" grpId="0"/>
      <p:bldP spid="12385" grpId="0"/>
      <p:bldP spid="12387" grpId="0"/>
      <p:bldP spid="12390" grpId="0"/>
      <p:bldP spid="12393" grpId="0"/>
      <p:bldP spid="12394" grpId="0"/>
      <p:bldP spid="12395" grpId="0"/>
      <p:bldP spid="12396" grpId="0"/>
      <p:bldP spid="1239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ChangeArrowheads="1"/>
          </p:cNvSpPr>
          <p:nvPr/>
        </p:nvSpPr>
        <p:spPr bwMode="auto">
          <a:xfrm>
            <a:off x="5334953" y="1955165"/>
            <a:ext cx="2733675" cy="711200"/>
          </a:xfrm>
          <a:prstGeom prst="rect">
            <a:avLst/>
          </a:prstGeom>
          <a:noFill/>
          <a:ln w="9525">
            <a:noFill/>
            <a:miter lim="800000"/>
            <a:headEnd/>
            <a:tailEnd/>
          </a:ln>
        </p:spPr>
        <p:txBody>
          <a:bodyPr/>
          <a:lstStyle/>
          <a:p>
            <a:pPr>
              <a:lnSpc>
                <a:spcPct val="90000"/>
              </a:lnSpc>
            </a:pPr>
            <a:r>
              <a:rPr lang="zh-CN" altLang="en-US" sz="4600" b="1">
                <a:solidFill>
                  <a:srgbClr val="FF0000"/>
                </a:solidFill>
                <a:latin typeface="华文琥珀" pitchFamily="2" charset="-122"/>
                <a:ea typeface="华文琥珀" pitchFamily="2" charset="-122"/>
              </a:rPr>
              <a:t>正向偏压</a:t>
            </a:r>
            <a:endParaRPr lang="en-US" altLang="zh-CN" sz="4600" b="1">
              <a:solidFill>
                <a:srgbClr val="FF0000"/>
              </a:solidFill>
              <a:latin typeface="华文琥珀" pitchFamily="2" charset="-122"/>
              <a:ea typeface="华文琥珀" pitchFamily="2" charset="-122"/>
            </a:endParaRPr>
          </a:p>
        </p:txBody>
      </p:sp>
      <p:sp>
        <p:nvSpPr>
          <p:cNvPr id="218121" name="Line 9"/>
          <p:cNvSpPr>
            <a:spLocks noChangeShapeType="1"/>
          </p:cNvSpPr>
          <p:nvPr/>
        </p:nvSpPr>
        <p:spPr bwMode="auto">
          <a:xfrm>
            <a:off x="3310890" y="5244465"/>
            <a:ext cx="7056438" cy="0"/>
          </a:xfrm>
          <a:prstGeom prst="line">
            <a:avLst/>
          </a:prstGeom>
          <a:noFill/>
          <a:ln w="76200">
            <a:solidFill>
              <a:srgbClr val="FF0000"/>
            </a:solidFill>
            <a:round/>
            <a:headEnd/>
            <a:tailEnd type="stealth" w="med" len="med"/>
          </a:ln>
        </p:spPr>
        <p:txBody>
          <a:bodyPr/>
          <a:lstStyle/>
          <a:p>
            <a:endParaRPr lang="zh-CN" altLang="en-US">
              <a:latin typeface="微软雅黑" pitchFamily="34" charset="-122"/>
              <a:ea typeface="微软雅黑" pitchFamily="34" charset="-122"/>
            </a:endParaRPr>
          </a:p>
        </p:txBody>
      </p:sp>
      <p:sp>
        <p:nvSpPr>
          <p:cNvPr id="218122" name="Text Box 10"/>
          <p:cNvSpPr txBox="1">
            <a:spLocks noChangeArrowheads="1"/>
          </p:cNvSpPr>
          <p:nvPr/>
        </p:nvSpPr>
        <p:spPr bwMode="auto">
          <a:xfrm>
            <a:off x="5711190" y="5422265"/>
            <a:ext cx="2160588" cy="579438"/>
          </a:xfrm>
          <a:prstGeom prst="rect">
            <a:avLst/>
          </a:prstGeom>
          <a:noFill/>
          <a:ln w="9525">
            <a:noFill/>
            <a:miter lim="800000"/>
            <a:headEnd/>
            <a:tailEnd/>
          </a:ln>
        </p:spPr>
        <p:txBody>
          <a:bodyPr>
            <a:spAutoFit/>
          </a:bodyPr>
          <a:lstStyle/>
          <a:p>
            <a:pPr algn="ctr" defTabSz="914400"/>
            <a:r>
              <a:rPr lang="zh-CN" altLang="en-US" sz="3200" b="1">
                <a:latin typeface="微软雅黑" pitchFamily="34" charset="-122"/>
                <a:ea typeface="微软雅黑" pitchFamily="34" charset="-122"/>
              </a:rPr>
              <a:t>外加电场</a:t>
            </a:r>
          </a:p>
        </p:txBody>
      </p:sp>
      <p:sp>
        <p:nvSpPr>
          <p:cNvPr id="49157" name="Rectangle 5"/>
          <p:cNvSpPr>
            <a:spLocks noChangeArrowheads="1"/>
          </p:cNvSpPr>
          <p:nvPr/>
        </p:nvSpPr>
        <p:spPr bwMode="auto">
          <a:xfrm>
            <a:off x="4303078" y="2969578"/>
            <a:ext cx="4786312" cy="2030412"/>
          </a:xfrm>
          <a:prstGeom prst="rect">
            <a:avLst/>
          </a:prstGeom>
          <a:solidFill>
            <a:srgbClr val="FFFFFF"/>
          </a:solidFill>
          <a:ln w="381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49158" name="Line 6"/>
          <p:cNvSpPr>
            <a:spLocks noChangeShapeType="1"/>
          </p:cNvSpPr>
          <p:nvPr/>
        </p:nvSpPr>
        <p:spPr bwMode="auto">
          <a:xfrm>
            <a:off x="6643053" y="2969578"/>
            <a:ext cx="1587" cy="2028825"/>
          </a:xfrm>
          <a:prstGeom prst="line">
            <a:avLst/>
          </a:prstGeom>
          <a:noFill/>
          <a:ln w="38100">
            <a:solidFill>
              <a:srgbClr val="000000"/>
            </a:solidFill>
            <a:prstDash val="dash"/>
            <a:round/>
            <a:headEnd/>
            <a:tailEnd/>
          </a:ln>
        </p:spPr>
        <p:txBody>
          <a:bodyPr/>
          <a:lstStyle/>
          <a:p>
            <a:endParaRPr lang="zh-CN" altLang="en-US"/>
          </a:p>
        </p:txBody>
      </p:sp>
      <p:grpSp>
        <p:nvGrpSpPr>
          <p:cNvPr id="2" name="组合 345"/>
          <p:cNvGrpSpPr>
            <a:grpSpLocks/>
          </p:cNvGrpSpPr>
          <p:nvPr/>
        </p:nvGrpSpPr>
        <p:grpSpPr bwMode="auto">
          <a:xfrm>
            <a:off x="4466590" y="3002915"/>
            <a:ext cx="265113" cy="436563"/>
            <a:chOff x="3708391" y="4698272"/>
            <a:chExt cx="265290" cy="436662"/>
          </a:xfrm>
        </p:grpSpPr>
        <p:sp>
          <p:nvSpPr>
            <p:cNvPr id="39950"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9951" name="组合 127"/>
            <p:cNvGrpSpPr>
              <a:grpSpLocks/>
            </p:cNvGrpSpPr>
            <p:nvPr/>
          </p:nvGrpSpPr>
          <p:grpSpPr bwMode="auto">
            <a:xfrm>
              <a:off x="3723561" y="4885168"/>
              <a:ext cx="250120" cy="249766"/>
              <a:chOff x="3723561" y="4885168"/>
              <a:chExt cx="250120" cy="249766"/>
            </a:xfrm>
          </p:grpSpPr>
          <p:sp>
            <p:nvSpPr>
              <p:cNvPr id="3995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995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6" name="组合 129"/>
          <p:cNvGrpSpPr>
            <a:grpSpLocks/>
          </p:cNvGrpSpPr>
          <p:nvPr/>
        </p:nvGrpSpPr>
        <p:grpSpPr bwMode="auto">
          <a:xfrm rot="-3967890">
            <a:off x="8457566" y="3047365"/>
            <a:ext cx="254000" cy="434975"/>
            <a:chOff x="5149850" y="4703444"/>
            <a:chExt cx="253825" cy="434955"/>
          </a:xfrm>
        </p:grpSpPr>
        <p:sp>
          <p:nvSpPr>
            <p:cNvPr id="39955"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9956" name="组合 128"/>
            <p:cNvGrpSpPr>
              <a:grpSpLocks/>
            </p:cNvGrpSpPr>
            <p:nvPr/>
          </p:nvGrpSpPr>
          <p:grpSpPr bwMode="auto">
            <a:xfrm>
              <a:off x="5149850" y="4865143"/>
              <a:ext cx="249687" cy="273256"/>
              <a:chOff x="5149850" y="4865143"/>
              <a:chExt cx="249687" cy="273256"/>
            </a:xfrm>
          </p:grpSpPr>
          <p:sp>
            <p:nvSpPr>
              <p:cNvPr id="3995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995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995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8" name="组合 255"/>
          <p:cNvGrpSpPr>
            <a:grpSpLocks/>
          </p:cNvGrpSpPr>
          <p:nvPr/>
        </p:nvGrpSpPr>
        <p:grpSpPr bwMode="auto">
          <a:xfrm rot="4565890">
            <a:off x="8092441" y="3536315"/>
            <a:ext cx="254000" cy="434975"/>
            <a:chOff x="5149850" y="4703444"/>
            <a:chExt cx="253825" cy="434955"/>
          </a:xfrm>
        </p:grpSpPr>
        <p:sp>
          <p:nvSpPr>
            <p:cNvPr id="39961"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9962" name="组合 128"/>
            <p:cNvGrpSpPr>
              <a:grpSpLocks/>
            </p:cNvGrpSpPr>
            <p:nvPr/>
          </p:nvGrpSpPr>
          <p:grpSpPr bwMode="auto">
            <a:xfrm>
              <a:off x="5149850" y="4865143"/>
              <a:ext cx="249687" cy="273256"/>
              <a:chOff x="5149850" y="4865143"/>
              <a:chExt cx="249687" cy="273256"/>
            </a:xfrm>
          </p:grpSpPr>
          <p:sp>
            <p:nvSpPr>
              <p:cNvPr id="3996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996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996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10" name="组合 261"/>
          <p:cNvGrpSpPr>
            <a:grpSpLocks/>
          </p:cNvGrpSpPr>
          <p:nvPr/>
        </p:nvGrpSpPr>
        <p:grpSpPr bwMode="auto">
          <a:xfrm rot="2189922">
            <a:off x="8600440" y="3536315"/>
            <a:ext cx="254000" cy="434975"/>
            <a:chOff x="5149850" y="4703444"/>
            <a:chExt cx="253825" cy="434955"/>
          </a:xfrm>
        </p:grpSpPr>
        <p:sp>
          <p:nvSpPr>
            <p:cNvPr id="39967"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39968" name="组合 128"/>
            <p:cNvGrpSpPr>
              <a:grpSpLocks/>
            </p:cNvGrpSpPr>
            <p:nvPr/>
          </p:nvGrpSpPr>
          <p:grpSpPr bwMode="auto">
            <a:xfrm>
              <a:off x="5149850" y="4865143"/>
              <a:ext cx="249687" cy="273256"/>
              <a:chOff x="5149850" y="4865143"/>
              <a:chExt cx="249687" cy="273256"/>
            </a:xfrm>
          </p:grpSpPr>
          <p:sp>
            <p:nvSpPr>
              <p:cNvPr id="39969"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9970"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9971"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12" name="组合 267"/>
          <p:cNvGrpSpPr>
            <a:grpSpLocks/>
          </p:cNvGrpSpPr>
          <p:nvPr/>
        </p:nvGrpSpPr>
        <p:grpSpPr bwMode="auto">
          <a:xfrm rot="-5967303">
            <a:off x="7952741" y="3047365"/>
            <a:ext cx="254000" cy="434975"/>
            <a:chOff x="5149850" y="4703444"/>
            <a:chExt cx="253825" cy="434955"/>
          </a:xfrm>
        </p:grpSpPr>
        <p:sp>
          <p:nvSpPr>
            <p:cNvPr id="39973"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39974" name="组合 128"/>
            <p:cNvGrpSpPr>
              <a:grpSpLocks/>
            </p:cNvGrpSpPr>
            <p:nvPr/>
          </p:nvGrpSpPr>
          <p:grpSpPr bwMode="auto">
            <a:xfrm>
              <a:off x="5149850" y="4865143"/>
              <a:ext cx="249687" cy="273256"/>
              <a:chOff x="5149850" y="4865143"/>
              <a:chExt cx="249687" cy="273256"/>
            </a:xfrm>
          </p:grpSpPr>
          <p:sp>
            <p:nvSpPr>
              <p:cNvPr id="3997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3997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997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14" name="组合 273"/>
          <p:cNvGrpSpPr>
            <a:grpSpLocks/>
          </p:cNvGrpSpPr>
          <p:nvPr/>
        </p:nvGrpSpPr>
        <p:grpSpPr bwMode="auto">
          <a:xfrm>
            <a:off x="8067040" y="4025265"/>
            <a:ext cx="254000" cy="434975"/>
            <a:chOff x="5149850" y="4703444"/>
            <a:chExt cx="253825" cy="434955"/>
          </a:xfrm>
        </p:grpSpPr>
        <p:sp>
          <p:nvSpPr>
            <p:cNvPr id="39979"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9980" name="组合 128"/>
            <p:cNvGrpSpPr>
              <a:grpSpLocks/>
            </p:cNvGrpSpPr>
            <p:nvPr/>
          </p:nvGrpSpPr>
          <p:grpSpPr bwMode="auto">
            <a:xfrm>
              <a:off x="5149850" y="4865143"/>
              <a:ext cx="249687" cy="273256"/>
              <a:chOff x="5149850" y="4865143"/>
              <a:chExt cx="249687" cy="273256"/>
            </a:xfrm>
          </p:grpSpPr>
          <p:sp>
            <p:nvSpPr>
              <p:cNvPr id="3998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998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998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16" name="组合 279"/>
          <p:cNvGrpSpPr>
            <a:grpSpLocks/>
          </p:cNvGrpSpPr>
          <p:nvPr/>
        </p:nvGrpSpPr>
        <p:grpSpPr bwMode="auto">
          <a:xfrm rot="953232">
            <a:off x="8555990" y="4069715"/>
            <a:ext cx="254000" cy="434975"/>
            <a:chOff x="5149850" y="4703444"/>
            <a:chExt cx="253825" cy="434955"/>
          </a:xfrm>
        </p:grpSpPr>
        <p:sp>
          <p:nvSpPr>
            <p:cNvPr id="39985"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39986" name="组合 128"/>
            <p:cNvGrpSpPr>
              <a:grpSpLocks/>
            </p:cNvGrpSpPr>
            <p:nvPr/>
          </p:nvGrpSpPr>
          <p:grpSpPr bwMode="auto">
            <a:xfrm>
              <a:off x="5149850" y="4865143"/>
              <a:ext cx="249687" cy="273256"/>
              <a:chOff x="5149850" y="4865143"/>
              <a:chExt cx="249687" cy="273256"/>
            </a:xfrm>
          </p:grpSpPr>
          <p:sp>
            <p:nvSpPr>
              <p:cNvPr id="3998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3998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3998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18" name="组合 128"/>
          <p:cNvGrpSpPr>
            <a:grpSpLocks/>
          </p:cNvGrpSpPr>
          <p:nvPr/>
        </p:nvGrpSpPr>
        <p:grpSpPr bwMode="auto">
          <a:xfrm>
            <a:off x="6911340" y="3209290"/>
            <a:ext cx="249238" cy="273050"/>
            <a:chOff x="5149850" y="4865143"/>
            <a:chExt cx="249687" cy="273256"/>
          </a:xfrm>
        </p:grpSpPr>
        <p:sp>
          <p:nvSpPr>
            <p:cNvPr id="3999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999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999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sp>
        <p:nvSpPr>
          <p:cNvPr id="60" name="Oval 57"/>
          <p:cNvSpPr>
            <a:spLocks noChangeAspect="1" noChangeArrowheads="1"/>
          </p:cNvSpPr>
          <p:nvPr/>
        </p:nvSpPr>
        <p:spPr bwMode="auto">
          <a:xfrm rot="4827573">
            <a:off x="7378859" y="3483134"/>
            <a:ext cx="101600" cy="103188"/>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19" name="组合 128"/>
          <p:cNvGrpSpPr>
            <a:grpSpLocks/>
          </p:cNvGrpSpPr>
          <p:nvPr/>
        </p:nvGrpSpPr>
        <p:grpSpPr bwMode="auto">
          <a:xfrm rot="4827573">
            <a:off x="6915309" y="3649822"/>
            <a:ext cx="249237" cy="273050"/>
            <a:chOff x="5149850" y="4865143"/>
            <a:chExt cx="249687" cy="273256"/>
          </a:xfrm>
        </p:grpSpPr>
        <p:sp>
          <p:nvSpPr>
            <p:cNvPr id="3999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999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3999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20" name="组合 128"/>
          <p:cNvGrpSpPr>
            <a:grpSpLocks/>
          </p:cNvGrpSpPr>
          <p:nvPr/>
        </p:nvGrpSpPr>
        <p:grpSpPr bwMode="auto">
          <a:xfrm rot="-3574045">
            <a:off x="6929596" y="4111784"/>
            <a:ext cx="249238" cy="273050"/>
            <a:chOff x="5149850" y="4865143"/>
            <a:chExt cx="249687" cy="273256"/>
          </a:xfrm>
        </p:grpSpPr>
        <p:sp>
          <p:nvSpPr>
            <p:cNvPr id="4000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000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4000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21" name="组合 303"/>
          <p:cNvGrpSpPr>
            <a:grpSpLocks/>
          </p:cNvGrpSpPr>
          <p:nvPr/>
        </p:nvGrpSpPr>
        <p:grpSpPr bwMode="auto">
          <a:xfrm rot="-4849534">
            <a:off x="7997191" y="4545965"/>
            <a:ext cx="254000" cy="434975"/>
            <a:chOff x="5149850" y="4703444"/>
            <a:chExt cx="253825" cy="434955"/>
          </a:xfrm>
        </p:grpSpPr>
        <p:sp>
          <p:nvSpPr>
            <p:cNvPr id="4000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40005" name="组合 128"/>
            <p:cNvGrpSpPr>
              <a:grpSpLocks/>
            </p:cNvGrpSpPr>
            <p:nvPr/>
          </p:nvGrpSpPr>
          <p:grpSpPr bwMode="auto">
            <a:xfrm>
              <a:off x="5149850" y="4865143"/>
              <a:ext cx="249687" cy="273256"/>
              <a:chOff x="5149850" y="4865143"/>
              <a:chExt cx="249687" cy="273256"/>
            </a:xfrm>
          </p:grpSpPr>
          <p:sp>
            <p:nvSpPr>
              <p:cNvPr id="4000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000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4000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23" name="组合 309"/>
          <p:cNvGrpSpPr>
            <a:grpSpLocks/>
          </p:cNvGrpSpPr>
          <p:nvPr/>
        </p:nvGrpSpPr>
        <p:grpSpPr bwMode="auto">
          <a:xfrm>
            <a:off x="8600440" y="4469765"/>
            <a:ext cx="254000" cy="434975"/>
            <a:chOff x="5149850" y="4703444"/>
            <a:chExt cx="253825" cy="434955"/>
          </a:xfrm>
        </p:grpSpPr>
        <p:sp>
          <p:nvSpPr>
            <p:cNvPr id="4001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0011" name="组合 128"/>
            <p:cNvGrpSpPr>
              <a:grpSpLocks/>
            </p:cNvGrpSpPr>
            <p:nvPr/>
          </p:nvGrpSpPr>
          <p:grpSpPr bwMode="auto">
            <a:xfrm>
              <a:off x="5149850" y="4865143"/>
              <a:ext cx="249687" cy="273256"/>
              <a:chOff x="5149850" y="4865143"/>
              <a:chExt cx="249687" cy="273256"/>
            </a:xfrm>
          </p:grpSpPr>
          <p:sp>
            <p:nvSpPr>
              <p:cNvPr id="4001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1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4001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25" name="组合 128"/>
          <p:cNvGrpSpPr>
            <a:grpSpLocks/>
          </p:cNvGrpSpPr>
          <p:nvPr/>
        </p:nvGrpSpPr>
        <p:grpSpPr bwMode="auto">
          <a:xfrm rot="9849479">
            <a:off x="6939915" y="4498340"/>
            <a:ext cx="250825" cy="273050"/>
            <a:chOff x="5149850" y="4865143"/>
            <a:chExt cx="249687" cy="273256"/>
          </a:xfrm>
        </p:grpSpPr>
        <p:sp>
          <p:nvSpPr>
            <p:cNvPr id="4001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001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4001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87" name="Oval 57"/>
          <p:cNvSpPr>
            <a:spLocks noChangeAspect="1" noChangeArrowheads="1"/>
          </p:cNvSpPr>
          <p:nvPr/>
        </p:nvSpPr>
        <p:spPr bwMode="auto">
          <a:xfrm flipH="1">
            <a:off x="7400290" y="3075940"/>
            <a:ext cx="131763" cy="133350"/>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26" name="组合 128"/>
          <p:cNvGrpSpPr>
            <a:grpSpLocks/>
          </p:cNvGrpSpPr>
          <p:nvPr/>
        </p:nvGrpSpPr>
        <p:grpSpPr bwMode="auto">
          <a:xfrm>
            <a:off x="7412990" y="3218815"/>
            <a:ext cx="249238" cy="273050"/>
            <a:chOff x="5149850" y="4865143"/>
            <a:chExt cx="249687" cy="273256"/>
          </a:xfrm>
        </p:grpSpPr>
        <p:sp>
          <p:nvSpPr>
            <p:cNvPr id="4002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02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002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27" name="组合 128"/>
          <p:cNvGrpSpPr>
            <a:grpSpLocks/>
          </p:cNvGrpSpPr>
          <p:nvPr/>
        </p:nvGrpSpPr>
        <p:grpSpPr bwMode="auto">
          <a:xfrm rot="4827573">
            <a:off x="7431246" y="3605372"/>
            <a:ext cx="249237" cy="273050"/>
            <a:chOff x="5149850" y="4865143"/>
            <a:chExt cx="249687" cy="273256"/>
          </a:xfrm>
        </p:grpSpPr>
        <p:sp>
          <p:nvSpPr>
            <p:cNvPr id="4002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02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002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sp>
        <p:nvSpPr>
          <p:cNvPr id="97" name="Oval 57"/>
          <p:cNvSpPr>
            <a:spLocks noChangeAspect="1" noChangeArrowheads="1"/>
          </p:cNvSpPr>
          <p:nvPr/>
        </p:nvSpPr>
        <p:spPr bwMode="auto">
          <a:xfrm rot="-3574045">
            <a:off x="7500303" y="4004628"/>
            <a:ext cx="103187" cy="103187"/>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28" name="组合 128"/>
          <p:cNvGrpSpPr>
            <a:grpSpLocks/>
          </p:cNvGrpSpPr>
          <p:nvPr/>
        </p:nvGrpSpPr>
        <p:grpSpPr bwMode="auto">
          <a:xfrm rot="-3574045">
            <a:off x="7462996" y="4111784"/>
            <a:ext cx="249238" cy="273050"/>
            <a:chOff x="5149850" y="4865143"/>
            <a:chExt cx="249687" cy="273256"/>
          </a:xfrm>
        </p:grpSpPr>
        <p:sp>
          <p:nvSpPr>
            <p:cNvPr id="4003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003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4003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sp>
        <p:nvSpPr>
          <p:cNvPr id="102" name="Oval 57"/>
          <p:cNvSpPr>
            <a:spLocks noChangeAspect="1" noChangeArrowheads="1"/>
          </p:cNvSpPr>
          <p:nvPr/>
        </p:nvSpPr>
        <p:spPr bwMode="auto">
          <a:xfrm rot="9849479">
            <a:off x="7412990" y="4466590"/>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29" name="组合 128"/>
          <p:cNvGrpSpPr>
            <a:grpSpLocks/>
          </p:cNvGrpSpPr>
          <p:nvPr/>
        </p:nvGrpSpPr>
        <p:grpSpPr bwMode="auto">
          <a:xfrm rot="9849479">
            <a:off x="7481253" y="4544378"/>
            <a:ext cx="249237" cy="273050"/>
            <a:chOff x="5149850" y="4865143"/>
            <a:chExt cx="249687" cy="273256"/>
          </a:xfrm>
        </p:grpSpPr>
        <p:sp>
          <p:nvSpPr>
            <p:cNvPr id="4003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003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4003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微软雅黑" pitchFamily="34" charset="-122"/>
                <a:ea typeface="微软雅黑" pitchFamily="34" charset="-122"/>
              </a:endParaRPr>
            </a:p>
          </p:txBody>
        </p:sp>
      </p:grpSp>
      <p:grpSp>
        <p:nvGrpSpPr>
          <p:cNvPr id="30" name="组合 346"/>
          <p:cNvGrpSpPr>
            <a:grpSpLocks/>
          </p:cNvGrpSpPr>
          <p:nvPr/>
        </p:nvGrpSpPr>
        <p:grpSpPr bwMode="auto">
          <a:xfrm rot="-2359440">
            <a:off x="4396740" y="3447415"/>
            <a:ext cx="265113" cy="436563"/>
            <a:chOff x="3708391" y="4698272"/>
            <a:chExt cx="265290" cy="436662"/>
          </a:xfrm>
        </p:grpSpPr>
        <p:sp>
          <p:nvSpPr>
            <p:cNvPr id="4003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0040" name="组合 127"/>
            <p:cNvGrpSpPr>
              <a:grpSpLocks/>
            </p:cNvGrpSpPr>
            <p:nvPr/>
          </p:nvGrpSpPr>
          <p:grpSpPr bwMode="auto">
            <a:xfrm>
              <a:off x="3723561" y="4885168"/>
              <a:ext cx="250120" cy="249766"/>
              <a:chOff x="3723561" y="4885168"/>
              <a:chExt cx="250120" cy="249766"/>
            </a:xfrm>
          </p:grpSpPr>
          <p:sp>
            <p:nvSpPr>
              <p:cNvPr id="4004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004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9312" name="组合 351"/>
          <p:cNvGrpSpPr>
            <a:grpSpLocks/>
          </p:cNvGrpSpPr>
          <p:nvPr/>
        </p:nvGrpSpPr>
        <p:grpSpPr bwMode="auto">
          <a:xfrm rot="-1373637">
            <a:off x="4407853" y="3936365"/>
            <a:ext cx="265112" cy="436563"/>
            <a:chOff x="3708391" y="4698272"/>
            <a:chExt cx="265290" cy="436662"/>
          </a:xfrm>
        </p:grpSpPr>
        <p:sp>
          <p:nvSpPr>
            <p:cNvPr id="4004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40045" name="组合 127"/>
            <p:cNvGrpSpPr>
              <a:grpSpLocks/>
            </p:cNvGrpSpPr>
            <p:nvPr/>
          </p:nvGrpSpPr>
          <p:grpSpPr bwMode="auto">
            <a:xfrm>
              <a:off x="3723561" y="4885168"/>
              <a:ext cx="250120" cy="249766"/>
              <a:chOff x="3723561" y="4885168"/>
              <a:chExt cx="250120" cy="249766"/>
            </a:xfrm>
          </p:grpSpPr>
          <p:sp>
            <p:nvSpPr>
              <p:cNvPr id="4004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004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49320" name="组合 356"/>
          <p:cNvGrpSpPr>
            <a:grpSpLocks/>
          </p:cNvGrpSpPr>
          <p:nvPr/>
        </p:nvGrpSpPr>
        <p:grpSpPr bwMode="auto">
          <a:xfrm rot="2420365">
            <a:off x="4536440" y="4425315"/>
            <a:ext cx="265113" cy="436563"/>
            <a:chOff x="3708391" y="4698272"/>
            <a:chExt cx="265290" cy="436662"/>
          </a:xfrm>
        </p:grpSpPr>
        <p:sp>
          <p:nvSpPr>
            <p:cNvPr id="4004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0050" name="组合 127"/>
            <p:cNvGrpSpPr>
              <a:grpSpLocks/>
            </p:cNvGrpSpPr>
            <p:nvPr/>
          </p:nvGrpSpPr>
          <p:grpSpPr bwMode="auto">
            <a:xfrm>
              <a:off x="3723561" y="4885168"/>
              <a:ext cx="250120" cy="249766"/>
              <a:chOff x="3723561" y="4885168"/>
              <a:chExt cx="250120" cy="249766"/>
            </a:xfrm>
          </p:grpSpPr>
          <p:sp>
            <p:nvSpPr>
              <p:cNvPr id="4005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5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49322" name="组合 361"/>
          <p:cNvGrpSpPr>
            <a:grpSpLocks/>
          </p:cNvGrpSpPr>
          <p:nvPr/>
        </p:nvGrpSpPr>
        <p:grpSpPr bwMode="auto">
          <a:xfrm rot="2699194">
            <a:off x="4982528" y="3033078"/>
            <a:ext cx="265112" cy="436562"/>
            <a:chOff x="3708391" y="4698272"/>
            <a:chExt cx="265290" cy="436662"/>
          </a:xfrm>
        </p:grpSpPr>
        <p:sp>
          <p:nvSpPr>
            <p:cNvPr id="4005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0055" name="组合 127"/>
            <p:cNvGrpSpPr>
              <a:grpSpLocks/>
            </p:cNvGrpSpPr>
            <p:nvPr/>
          </p:nvGrpSpPr>
          <p:grpSpPr bwMode="auto">
            <a:xfrm>
              <a:off x="3723561" y="4885168"/>
              <a:ext cx="250120" cy="249766"/>
              <a:chOff x="3723561" y="4885168"/>
              <a:chExt cx="250120" cy="249766"/>
            </a:xfrm>
          </p:grpSpPr>
          <p:sp>
            <p:nvSpPr>
              <p:cNvPr id="4005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05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9324" name="组合 366"/>
          <p:cNvGrpSpPr>
            <a:grpSpLocks/>
          </p:cNvGrpSpPr>
          <p:nvPr/>
        </p:nvGrpSpPr>
        <p:grpSpPr bwMode="auto">
          <a:xfrm rot="-1582615">
            <a:off x="4860290" y="3439478"/>
            <a:ext cx="266700" cy="436562"/>
            <a:chOff x="3708391" y="4698272"/>
            <a:chExt cx="265290" cy="436662"/>
          </a:xfrm>
        </p:grpSpPr>
        <p:sp>
          <p:nvSpPr>
            <p:cNvPr id="4005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0060" name="组合 127"/>
            <p:cNvGrpSpPr>
              <a:grpSpLocks/>
            </p:cNvGrpSpPr>
            <p:nvPr/>
          </p:nvGrpSpPr>
          <p:grpSpPr bwMode="auto">
            <a:xfrm>
              <a:off x="3723561" y="4885168"/>
              <a:ext cx="250120" cy="249766"/>
              <a:chOff x="3723561" y="4885168"/>
              <a:chExt cx="250120" cy="249766"/>
            </a:xfrm>
          </p:grpSpPr>
          <p:sp>
            <p:nvSpPr>
              <p:cNvPr id="4006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006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9326" name="组合 371"/>
          <p:cNvGrpSpPr>
            <a:grpSpLocks/>
          </p:cNvGrpSpPr>
          <p:nvPr/>
        </p:nvGrpSpPr>
        <p:grpSpPr bwMode="auto">
          <a:xfrm rot="2796568">
            <a:off x="4939665" y="3876040"/>
            <a:ext cx="265113" cy="436563"/>
            <a:chOff x="3708391" y="4698272"/>
            <a:chExt cx="265290" cy="436662"/>
          </a:xfrm>
        </p:grpSpPr>
        <p:sp>
          <p:nvSpPr>
            <p:cNvPr id="4006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0065" name="组合 127"/>
            <p:cNvGrpSpPr>
              <a:grpSpLocks/>
            </p:cNvGrpSpPr>
            <p:nvPr/>
          </p:nvGrpSpPr>
          <p:grpSpPr bwMode="auto">
            <a:xfrm>
              <a:off x="3723561" y="4885168"/>
              <a:ext cx="250120" cy="249766"/>
              <a:chOff x="3723561" y="4885168"/>
              <a:chExt cx="250120" cy="249766"/>
            </a:xfrm>
          </p:grpSpPr>
          <p:sp>
            <p:nvSpPr>
              <p:cNvPr id="4006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6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grpSp>
        <p:nvGrpSpPr>
          <p:cNvPr id="49328" name="组合 376"/>
          <p:cNvGrpSpPr>
            <a:grpSpLocks/>
          </p:cNvGrpSpPr>
          <p:nvPr/>
        </p:nvGrpSpPr>
        <p:grpSpPr bwMode="auto">
          <a:xfrm rot="2039390">
            <a:off x="5020628" y="4458653"/>
            <a:ext cx="263525" cy="438150"/>
            <a:chOff x="3708391" y="4698272"/>
            <a:chExt cx="265290" cy="436662"/>
          </a:xfrm>
        </p:grpSpPr>
        <p:sp>
          <p:nvSpPr>
            <p:cNvPr id="4006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0070" name="组合 127"/>
            <p:cNvGrpSpPr>
              <a:grpSpLocks/>
            </p:cNvGrpSpPr>
            <p:nvPr/>
          </p:nvGrpSpPr>
          <p:grpSpPr bwMode="auto">
            <a:xfrm>
              <a:off x="3723561" y="4885168"/>
              <a:ext cx="250120" cy="249766"/>
              <a:chOff x="3723561" y="4885168"/>
              <a:chExt cx="250120" cy="249766"/>
            </a:xfrm>
          </p:grpSpPr>
          <p:sp>
            <p:nvSpPr>
              <p:cNvPr id="4007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7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sp>
        <p:nvSpPr>
          <p:cNvPr id="142" name="Oval 41"/>
          <p:cNvSpPr>
            <a:spLocks noChangeAspect="1" noChangeArrowheads="1"/>
          </p:cNvSpPr>
          <p:nvPr/>
        </p:nvSpPr>
        <p:spPr bwMode="auto">
          <a:xfrm rot="547735">
            <a:off x="5409565" y="3841115"/>
            <a:ext cx="125413"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9330" name="组合 127"/>
          <p:cNvGrpSpPr>
            <a:grpSpLocks/>
          </p:cNvGrpSpPr>
          <p:nvPr/>
        </p:nvGrpSpPr>
        <p:grpSpPr bwMode="auto">
          <a:xfrm rot="3206337">
            <a:off x="5500847" y="3157696"/>
            <a:ext cx="249238" cy="250825"/>
            <a:chOff x="3723561" y="4885168"/>
            <a:chExt cx="250120" cy="249766"/>
          </a:xfrm>
        </p:grpSpPr>
        <p:sp>
          <p:nvSpPr>
            <p:cNvPr id="4007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07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sp>
        <p:nvSpPr>
          <p:cNvPr id="49193" name="Oval 41"/>
          <p:cNvSpPr>
            <a:spLocks noChangeAspect="1" noChangeArrowheads="1"/>
          </p:cNvSpPr>
          <p:nvPr/>
        </p:nvSpPr>
        <p:spPr bwMode="auto">
          <a:xfrm rot="-4476750">
            <a:off x="5370672" y="3356134"/>
            <a:ext cx="127000" cy="128587"/>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9331" name="组合 127"/>
          <p:cNvGrpSpPr>
            <a:grpSpLocks/>
          </p:cNvGrpSpPr>
          <p:nvPr/>
        </p:nvGrpSpPr>
        <p:grpSpPr bwMode="auto">
          <a:xfrm rot="-1818148">
            <a:off x="5504815" y="3566478"/>
            <a:ext cx="249238" cy="249237"/>
            <a:chOff x="3723561" y="4885168"/>
            <a:chExt cx="250120" cy="249766"/>
          </a:xfrm>
        </p:grpSpPr>
        <p:sp>
          <p:nvSpPr>
            <p:cNvPr id="4007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008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sp>
        <p:nvSpPr>
          <p:cNvPr id="150" name="Oval 41"/>
          <p:cNvSpPr>
            <a:spLocks noChangeAspect="1" noChangeArrowheads="1"/>
          </p:cNvSpPr>
          <p:nvPr/>
        </p:nvSpPr>
        <p:spPr bwMode="auto">
          <a:xfrm rot="-292774">
            <a:off x="5449253" y="4725353"/>
            <a:ext cx="127000"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9332" name="组合 127"/>
          <p:cNvGrpSpPr>
            <a:grpSpLocks/>
          </p:cNvGrpSpPr>
          <p:nvPr/>
        </p:nvGrpSpPr>
        <p:grpSpPr bwMode="auto">
          <a:xfrm rot="2365828">
            <a:off x="5498465" y="4050665"/>
            <a:ext cx="250825" cy="249238"/>
            <a:chOff x="3723561" y="4885168"/>
            <a:chExt cx="250120" cy="249766"/>
          </a:xfrm>
        </p:grpSpPr>
        <p:sp>
          <p:nvSpPr>
            <p:cNvPr id="4008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8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49333" name="组合 127"/>
          <p:cNvGrpSpPr>
            <a:grpSpLocks/>
          </p:cNvGrpSpPr>
          <p:nvPr/>
        </p:nvGrpSpPr>
        <p:grpSpPr bwMode="auto">
          <a:xfrm rot="3156746">
            <a:off x="5500847" y="4589621"/>
            <a:ext cx="249238" cy="250825"/>
            <a:chOff x="3723561" y="4885168"/>
            <a:chExt cx="250120" cy="249766"/>
          </a:xfrm>
        </p:grpSpPr>
        <p:sp>
          <p:nvSpPr>
            <p:cNvPr id="4008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8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157" name="Oval 41"/>
          <p:cNvSpPr>
            <a:spLocks noChangeAspect="1" noChangeArrowheads="1"/>
          </p:cNvSpPr>
          <p:nvPr/>
        </p:nvSpPr>
        <p:spPr bwMode="auto">
          <a:xfrm rot="-466618">
            <a:off x="5452428" y="4372928"/>
            <a:ext cx="125412" cy="127000"/>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9334" name="组合 127"/>
          <p:cNvGrpSpPr>
            <a:grpSpLocks/>
          </p:cNvGrpSpPr>
          <p:nvPr/>
        </p:nvGrpSpPr>
        <p:grpSpPr bwMode="auto">
          <a:xfrm rot="2191984">
            <a:off x="6033453" y="3220403"/>
            <a:ext cx="250825" cy="249237"/>
            <a:chOff x="3723561" y="4885168"/>
            <a:chExt cx="250120" cy="249766"/>
          </a:xfrm>
        </p:grpSpPr>
        <p:sp>
          <p:nvSpPr>
            <p:cNvPr id="4009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09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9335" name="组合 127"/>
          <p:cNvGrpSpPr>
            <a:grpSpLocks/>
          </p:cNvGrpSpPr>
          <p:nvPr/>
        </p:nvGrpSpPr>
        <p:grpSpPr bwMode="auto">
          <a:xfrm rot="-2117408">
            <a:off x="6014403" y="3656965"/>
            <a:ext cx="249237" cy="249238"/>
            <a:chOff x="3723561" y="4885168"/>
            <a:chExt cx="250120" cy="249766"/>
          </a:xfrm>
        </p:grpSpPr>
        <p:sp>
          <p:nvSpPr>
            <p:cNvPr id="4009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009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9336" name="组合 127"/>
          <p:cNvGrpSpPr>
            <a:grpSpLocks/>
          </p:cNvGrpSpPr>
          <p:nvPr/>
        </p:nvGrpSpPr>
        <p:grpSpPr bwMode="auto">
          <a:xfrm rot="3431710">
            <a:off x="6012815" y="4131628"/>
            <a:ext cx="249237" cy="249238"/>
            <a:chOff x="3723561" y="4885168"/>
            <a:chExt cx="250120" cy="249766"/>
          </a:xfrm>
        </p:grpSpPr>
        <p:sp>
          <p:nvSpPr>
            <p:cNvPr id="4009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09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grpSp>
        <p:nvGrpSpPr>
          <p:cNvPr id="49337" name="组合 127"/>
          <p:cNvGrpSpPr>
            <a:grpSpLocks/>
          </p:cNvGrpSpPr>
          <p:nvPr/>
        </p:nvGrpSpPr>
        <p:grpSpPr bwMode="auto">
          <a:xfrm rot="2750622">
            <a:off x="6012021" y="4635659"/>
            <a:ext cx="250825" cy="249238"/>
            <a:chOff x="3723561" y="4885168"/>
            <a:chExt cx="250120" cy="249766"/>
          </a:xfrm>
        </p:grpSpPr>
        <p:sp>
          <p:nvSpPr>
            <p:cNvPr id="4009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010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微软雅黑" pitchFamily="34" charset="-122"/>
                <a:ea typeface="微软雅黑" pitchFamily="34" charset="-122"/>
              </a:endParaRPr>
            </a:p>
          </p:txBody>
        </p:sp>
      </p:grpSp>
      <p:sp>
        <p:nvSpPr>
          <p:cNvPr id="49224" name="Text Box 124"/>
          <p:cNvSpPr txBox="1">
            <a:spLocks noChangeArrowheads="1"/>
          </p:cNvSpPr>
          <p:nvPr/>
        </p:nvSpPr>
        <p:spPr bwMode="auto">
          <a:xfrm>
            <a:off x="5311140" y="2498090"/>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楷体_GB2312" pitchFamily="49" charset="-122"/>
                <a:cs typeface="Times New Roman" pitchFamily="18" charset="0"/>
              </a:rPr>
              <a:t>P</a:t>
            </a:r>
            <a:endParaRPr lang="zh-CN" altLang="zh-CN" sz="7200" b="1">
              <a:latin typeface="Times New Roman" pitchFamily="18" charset="0"/>
              <a:ea typeface="楷体_GB2312" pitchFamily="49" charset="-122"/>
              <a:cs typeface="Times New Roman" pitchFamily="18" charset="0"/>
            </a:endParaRPr>
          </a:p>
        </p:txBody>
      </p:sp>
      <p:sp>
        <p:nvSpPr>
          <p:cNvPr id="49216" name="Text Box 124"/>
          <p:cNvSpPr txBox="1">
            <a:spLocks noChangeArrowheads="1"/>
          </p:cNvSpPr>
          <p:nvPr/>
        </p:nvSpPr>
        <p:spPr bwMode="auto">
          <a:xfrm>
            <a:off x="7651115" y="2498090"/>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楷体_GB2312" pitchFamily="49" charset="-122"/>
                <a:cs typeface="Times New Roman" pitchFamily="18" charset="0"/>
              </a:rPr>
              <a:t>N</a:t>
            </a:r>
            <a:endParaRPr lang="zh-CN" altLang="zh-CN" sz="7200" b="1">
              <a:latin typeface="Times New Roman" pitchFamily="18" charset="0"/>
              <a:ea typeface="楷体_GB2312" pitchFamily="49" charset="-122"/>
              <a:cs typeface="Times New Roman" pitchFamily="18" charset="0"/>
            </a:endParaRPr>
          </a:p>
        </p:txBody>
      </p:sp>
      <p:sp>
        <p:nvSpPr>
          <p:cNvPr id="192" name="Rectangle 13"/>
          <p:cNvSpPr>
            <a:spLocks noChangeArrowheads="1"/>
          </p:cNvSpPr>
          <p:nvPr/>
        </p:nvSpPr>
        <p:spPr bwMode="auto">
          <a:xfrm>
            <a:off x="5311140" y="3021965"/>
            <a:ext cx="2474913" cy="1944688"/>
          </a:xfrm>
          <a:prstGeom prst="rect">
            <a:avLst/>
          </a:prstGeom>
          <a:noFill/>
          <a:ln w="63500">
            <a:solidFill>
              <a:srgbClr val="0000FF"/>
            </a:solidFill>
            <a:prstDash val="dash"/>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sp>
        <p:nvSpPr>
          <p:cNvPr id="189" name="Rectangle 8"/>
          <p:cNvSpPr>
            <a:spLocks noChangeArrowheads="1"/>
          </p:cNvSpPr>
          <p:nvPr/>
        </p:nvSpPr>
        <p:spPr bwMode="auto">
          <a:xfrm>
            <a:off x="3252507" y="6671131"/>
            <a:ext cx="7334250" cy="579437"/>
          </a:xfrm>
          <a:prstGeom prst="rect">
            <a:avLst/>
          </a:prstGeom>
          <a:solidFill>
            <a:srgbClr val="FFC000"/>
          </a:solidFill>
          <a:ln w="9525">
            <a:noFill/>
            <a:miter lim="800000"/>
            <a:headEnd/>
            <a:tailEnd/>
          </a:ln>
        </p:spPr>
        <p:txBody>
          <a:bodyPr anchor="ctr">
            <a:spAutoFit/>
          </a:bodyPr>
          <a:lstStyle/>
          <a:p>
            <a:pPr defTabSz="914400"/>
            <a:r>
              <a:rPr lang="zh-CN" altLang="en-US" sz="3200" b="1">
                <a:latin typeface="微软雅黑" pitchFamily="34" charset="-122"/>
                <a:ea typeface="微软雅黑" pitchFamily="34" charset="-122"/>
              </a:rPr>
              <a:t>正向偏压增大，耗尽层越来越薄</a:t>
            </a:r>
            <a:r>
              <a:rPr lang="en-US" altLang="zh-CN" sz="3200" b="1">
                <a:latin typeface="微软雅黑" pitchFamily="34" charset="-122"/>
                <a:ea typeface="微软雅黑" pitchFamily="34" charset="-122"/>
              </a:rPr>
              <a:t>···</a:t>
            </a:r>
          </a:p>
        </p:txBody>
      </p:sp>
      <p:sp>
        <p:nvSpPr>
          <p:cNvPr id="190" name="Text Box 5"/>
          <p:cNvSpPr txBox="1">
            <a:spLocks noChangeArrowheads="1"/>
          </p:cNvSpPr>
          <p:nvPr/>
        </p:nvSpPr>
        <p:spPr bwMode="auto">
          <a:xfrm>
            <a:off x="2688590" y="5422265"/>
            <a:ext cx="2736850" cy="588963"/>
          </a:xfrm>
          <a:prstGeom prst="rect">
            <a:avLst/>
          </a:prstGeom>
          <a:solidFill>
            <a:srgbClr val="0000FF"/>
          </a:solidFill>
          <a:ln w="9525">
            <a:solidFill>
              <a:schemeClr val="accent1"/>
            </a:solidFill>
            <a:miter lim="800000"/>
            <a:headEnd/>
            <a:tailEnd/>
          </a:ln>
        </p:spPr>
        <p:txBody>
          <a:bodyPr>
            <a:spAutoFit/>
          </a:bodyPr>
          <a:lstStyle/>
          <a:p>
            <a:pPr defTabSz="914400">
              <a:spcBef>
                <a:spcPct val="50000"/>
              </a:spcBef>
            </a:pPr>
            <a:r>
              <a:rPr lang="zh-CN" altLang="en-US" sz="3200" b="1">
                <a:solidFill>
                  <a:schemeClr val="bg1"/>
                </a:solidFill>
                <a:latin typeface="微软雅黑" pitchFamily="34" charset="-122"/>
                <a:ea typeface="微软雅黑" pitchFamily="34" charset="-122"/>
              </a:rPr>
              <a:t>负离子数减少</a:t>
            </a:r>
          </a:p>
        </p:txBody>
      </p:sp>
      <p:sp>
        <p:nvSpPr>
          <p:cNvPr id="191" name="Text Box 6"/>
          <p:cNvSpPr txBox="1">
            <a:spLocks noChangeArrowheads="1"/>
          </p:cNvSpPr>
          <p:nvPr/>
        </p:nvSpPr>
        <p:spPr bwMode="auto">
          <a:xfrm>
            <a:off x="8155940" y="5377815"/>
            <a:ext cx="2808288" cy="588963"/>
          </a:xfrm>
          <a:prstGeom prst="rect">
            <a:avLst/>
          </a:prstGeom>
          <a:solidFill>
            <a:srgbClr val="0000FF"/>
          </a:solidFill>
          <a:ln w="9525">
            <a:solidFill>
              <a:schemeClr val="accent1"/>
            </a:solidFill>
            <a:miter lim="800000"/>
            <a:headEnd/>
            <a:tailEnd/>
          </a:ln>
        </p:spPr>
        <p:txBody>
          <a:bodyPr>
            <a:spAutoFit/>
          </a:bodyPr>
          <a:lstStyle/>
          <a:p>
            <a:pPr defTabSz="914400">
              <a:spcBef>
                <a:spcPct val="50000"/>
              </a:spcBef>
            </a:pPr>
            <a:r>
              <a:rPr lang="zh-CN" altLang="en-US" sz="3200" b="1">
                <a:solidFill>
                  <a:schemeClr val="bg1"/>
                </a:solidFill>
                <a:latin typeface="微软雅黑" pitchFamily="34" charset="-122"/>
                <a:ea typeface="微软雅黑" pitchFamily="34" charset="-122"/>
              </a:rPr>
              <a:t>正离子数减少</a:t>
            </a:r>
          </a:p>
        </p:txBody>
      </p:sp>
      <p:sp>
        <p:nvSpPr>
          <p:cNvPr id="194" name="Line 7"/>
          <p:cNvSpPr>
            <a:spLocks noChangeShapeType="1"/>
          </p:cNvSpPr>
          <p:nvPr/>
        </p:nvSpPr>
        <p:spPr bwMode="auto">
          <a:xfrm flipV="1">
            <a:off x="5133340" y="4755515"/>
            <a:ext cx="844550" cy="658813"/>
          </a:xfrm>
          <a:prstGeom prst="line">
            <a:avLst/>
          </a:prstGeom>
          <a:noFill/>
          <a:ln w="38100">
            <a:solidFill>
              <a:srgbClr val="FF0000"/>
            </a:solidFill>
            <a:round/>
            <a:headEnd/>
            <a:tailEnd type="triangle" w="med" len="med"/>
          </a:ln>
        </p:spPr>
        <p:txBody>
          <a:bodyPr/>
          <a:lstStyle/>
          <a:p>
            <a:endParaRPr lang="zh-CN" altLang="en-US">
              <a:latin typeface="微软雅黑" pitchFamily="34" charset="-122"/>
              <a:ea typeface="微软雅黑" pitchFamily="34" charset="-122"/>
            </a:endParaRPr>
          </a:p>
        </p:txBody>
      </p:sp>
      <p:sp>
        <p:nvSpPr>
          <p:cNvPr id="195" name="Line 8"/>
          <p:cNvSpPr>
            <a:spLocks noChangeShapeType="1"/>
          </p:cNvSpPr>
          <p:nvPr/>
        </p:nvSpPr>
        <p:spPr bwMode="auto">
          <a:xfrm flipH="1" flipV="1">
            <a:off x="7000240" y="4888865"/>
            <a:ext cx="1066800" cy="666750"/>
          </a:xfrm>
          <a:prstGeom prst="line">
            <a:avLst/>
          </a:prstGeom>
          <a:noFill/>
          <a:ln w="38100">
            <a:solidFill>
              <a:srgbClr val="FF0000"/>
            </a:solidFill>
            <a:round/>
            <a:headEnd/>
            <a:tailEnd type="triangle" w="med" len="med"/>
          </a:ln>
        </p:spPr>
        <p:txBody>
          <a:bodyPr/>
          <a:lstStyle/>
          <a:p>
            <a:endParaRPr lang="zh-CN" altLang="en-US">
              <a:latin typeface="微软雅黑" pitchFamily="34" charset="-122"/>
              <a:ea typeface="微软雅黑" pitchFamily="34" charset="-122"/>
            </a:endParaRPr>
          </a:p>
        </p:txBody>
      </p:sp>
      <p:sp>
        <p:nvSpPr>
          <p:cNvPr id="172" name="Rectangle 3"/>
          <p:cNvSpPr>
            <a:spLocks noChangeArrowheads="1"/>
          </p:cNvSpPr>
          <p:nvPr/>
        </p:nvSpPr>
        <p:spPr bwMode="auto">
          <a:xfrm>
            <a:off x="3731260" y="1062006"/>
            <a:ext cx="6215697" cy="615553"/>
          </a:xfrm>
          <a:prstGeom prst="rect">
            <a:avLst/>
          </a:prstGeom>
          <a:gradFill rotWithShape="1">
            <a:gsLst>
              <a:gs pos="0">
                <a:srgbClr val="FFF200"/>
              </a:gs>
              <a:gs pos="45000">
                <a:srgbClr val="FF7A00"/>
              </a:gs>
              <a:gs pos="70000">
                <a:srgbClr val="FF0300"/>
              </a:gs>
              <a:gs pos="100000">
                <a:srgbClr val="4D0808"/>
              </a:gs>
            </a:gsLst>
            <a:path path="rect">
              <a:fillToRect l="100000" t="100000"/>
            </a:path>
          </a:gradFill>
          <a:ln w="9525">
            <a:noFill/>
            <a:miter lim="800000"/>
            <a:headEnd/>
            <a:tailEnd/>
          </a:ln>
        </p:spPr>
        <p:txBody>
          <a:bodyPr wrap="square" lIns="0" tIns="0" rIns="0" bIns="0" anchor="ctr">
            <a:spAutoFit/>
          </a:bodyPr>
          <a:lstStyle/>
          <a:p>
            <a:pPr algn="ctr" defTabSz="914400"/>
            <a:r>
              <a:rPr lang="en-US" altLang="zh-CN" sz="4000" b="1" dirty="0">
                <a:solidFill>
                  <a:srgbClr val="0000CC"/>
                </a:solidFill>
                <a:latin typeface="Times New Roman" pitchFamily="18" charset="0"/>
                <a:ea typeface="黑体" pitchFamily="2" charset="-122"/>
                <a:cs typeface="Times New Roman" pitchFamily="18" charset="0"/>
              </a:rPr>
              <a:t>4 PN</a:t>
            </a:r>
            <a:r>
              <a:rPr lang="zh-CN" altLang="en-US" sz="4000" b="1" dirty="0">
                <a:solidFill>
                  <a:srgbClr val="0000CC"/>
                </a:solidFill>
                <a:latin typeface="Times New Roman" pitchFamily="18" charset="0"/>
                <a:ea typeface="黑体" pitchFamily="2" charset="-122"/>
                <a:cs typeface="Times New Roman" pitchFamily="18" charset="0"/>
              </a:rPr>
              <a:t>结电流方程</a:t>
            </a:r>
          </a:p>
        </p:txBody>
      </p:sp>
      <p:sp>
        <p:nvSpPr>
          <p:cNvPr id="173" name="文本框 60">
            <a:extLst>
              <a:ext uri="{FF2B5EF4-FFF2-40B4-BE49-F238E27FC236}">
                <a16:creationId xmlns="" xmlns:a16="http://schemas.microsoft.com/office/drawing/2014/main" id="{1C7F3E35-C175-40BD-9F6D-C9984292743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76" name="矩形 175">
            <a:extLst>
              <a:ext uri="{FF2B5EF4-FFF2-40B4-BE49-F238E27FC236}">
                <a16:creationId xmlns="" xmlns:a16="http://schemas.microsoft.com/office/drawing/2014/main" id="{BFA45548-D5BA-403B-8335-B7A5251F69B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7" name="矩形 176">
            <a:extLst>
              <a:ext uri="{FF2B5EF4-FFF2-40B4-BE49-F238E27FC236}">
                <a16:creationId xmlns="" xmlns:a16="http://schemas.microsoft.com/office/drawing/2014/main" id="{F2072CF2-8380-4F90-9108-240BA2542A0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圆角 177">
            <a:extLst>
              <a:ext uri="{FF2B5EF4-FFF2-40B4-BE49-F238E27FC236}">
                <a16:creationId xmlns="" xmlns:a16="http://schemas.microsoft.com/office/drawing/2014/main" id="{503C88D1-6287-41A5-812A-E38D3C508E4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9" name="直接连接符 58">
            <a:extLst>
              <a:ext uri="{FF2B5EF4-FFF2-40B4-BE49-F238E27FC236}">
                <a16:creationId xmlns="" xmlns:a16="http://schemas.microsoft.com/office/drawing/2014/main" id="{9F45FFC2-A067-4007-BA81-50850C3D4F08}"/>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0" name="矩形 179">
            <a:extLst>
              <a:ext uri="{FF2B5EF4-FFF2-40B4-BE49-F238E27FC236}">
                <a16:creationId xmlns="" xmlns:a16="http://schemas.microsoft.com/office/drawing/2014/main" id="{BCB493AD-0908-4A21-87CA-D7231F1C5035}"/>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1" name="矩形 180">
            <a:extLst>
              <a:ext uri="{FF2B5EF4-FFF2-40B4-BE49-F238E27FC236}">
                <a16:creationId xmlns="" xmlns:a16="http://schemas.microsoft.com/office/drawing/2014/main" id="{DE7C08D4-9B67-4678-842B-DF89CC274E5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63950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box(in)">
                                      <p:cBhvr>
                                        <p:cTn id="7" dur="500"/>
                                        <p:tgtEl>
                                          <p:spTgt spid="3789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9157"/>
                                        </p:tgtEl>
                                        <p:attrNameLst>
                                          <p:attrName>style.visibility</p:attrName>
                                        </p:attrNameLst>
                                      </p:cBhvr>
                                      <p:to>
                                        <p:strVal val="visible"/>
                                      </p:to>
                                    </p:set>
                                    <p:animEffect transition="in" filter="box(in)">
                                      <p:cBhvr>
                                        <p:cTn id="12" dur="500"/>
                                        <p:tgtEl>
                                          <p:spTgt spid="49157"/>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49158"/>
                                        </p:tgtEl>
                                        <p:attrNameLst>
                                          <p:attrName>style.visibility</p:attrName>
                                        </p:attrNameLst>
                                      </p:cBhvr>
                                      <p:to>
                                        <p:strVal val="visible"/>
                                      </p:to>
                                    </p:set>
                                    <p:animEffect transition="in" filter="box(in)">
                                      <p:cBhvr>
                                        <p:cTn id="15" dur="500"/>
                                        <p:tgtEl>
                                          <p:spTgt spid="49158"/>
                                        </p:tgtEl>
                                      </p:cBhvr>
                                    </p:animEffect>
                                  </p:childTnLst>
                                </p:cTn>
                              </p:par>
                              <p:par>
                                <p:cTn id="16" presetID="4" presetClass="entr" presetSubtype="16"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ox(in)">
                                      <p:cBhvr>
                                        <p:cTn id="18" dur="500"/>
                                        <p:tgtEl>
                                          <p:spTgt spid="2"/>
                                        </p:tgtEl>
                                      </p:cBhvr>
                                    </p:animEffect>
                                  </p:childTnLst>
                                </p:cTn>
                              </p:par>
                              <p:par>
                                <p:cTn id="19" presetID="4"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500"/>
                                        <p:tgtEl>
                                          <p:spTgt spid="6"/>
                                        </p:tgtEl>
                                      </p:cBhvr>
                                    </p:animEffect>
                                  </p:childTnLst>
                                </p:cTn>
                              </p:par>
                              <p:par>
                                <p:cTn id="22" presetID="4"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ox(in)">
                                      <p:cBhvr>
                                        <p:cTn id="24" dur="500"/>
                                        <p:tgtEl>
                                          <p:spTgt spid="8"/>
                                        </p:tgtEl>
                                      </p:cBhvr>
                                    </p:animEffect>
                                  </p:childTnLst>
                                </p:cTn>
                              </p:par>
                              <p:par>
                                <p:cTn id="25" presetID="4" presetClass="entr" presetSubtype="16"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par>
                                <p:cTn id="28" presetID="4" presetClass="entr" presetSubtype="16"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ox(in)">
                                      <p:cBhvr>
                                        <p:cTn id="30" dur="500"/>
                                        <p:tgtEl>
                                          <p:spTgt spid="12"/>
                                        </p:tgtEl>
                                      </p:cBhvr>
                                    </p:animEffect>
                                  </p:childTnLst>
                                </p:cTn>
                              </p:par>
                              <p:par>
                                <p:cTn id="31" presetID="4" presetClass="entr" presetSubtype="16"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ox(in)">
                                      <p:cBhvr>
                                        <p:cTn id="33" dur="500"/>
                                        <p:tgtEl>
                                          <p:spTgt spid="14"/>
                                        </p:tgtEl>
                                      </p:cBhvr>
                                    </p:animEffect>
                                  </p:childTnLst>
                                </p:cTn>
                              </p:par>
                              <p:par>
                                <p:cTn id="34" presetID="4" presetClass="entr" presetSubtype="16"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ox(in)">
                                      <p:cBhvr>
                                        <p:cTn id="36" dur="500"/>
                                        <p:tgtEl>
                                          <p:spTgt spid="16"/>
                                        </p:tgtEl>
                                      </p:cBhvr>
                                    </p:animEffect>
                                  </p:childTnLst>
                                </p:cTn>
                              </p:par>
                              <p:par>
                                <p:cTn id="37" presetID="4" presetClass="entr" presetSubtype="16"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ox(in)">
                                      <p:cBhvr>
                                        <p:cTn id="39" dur="500"/>
                                        <p:tgtEl>
                                          <p:spTgt spid="18"/>
                                        </p:tgtEl>
                                      </p:cBhvr>
                                    </p:animEffect>
                                  </p:childTnLst>
                                </p:cTn>
                              </p:par>
                              <p:par>
                                <p:cTn id="40" presetID="4" presetClass="entr" presetSubtype="16"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ox(in)">
                                      <p:cBhvr>
                                        <p:cTn id="42" dur="500"/>
                                        <p:tgtEl>
                                          <p:spTgt spid="19"/>
                                        </p:tgtEl>
                                      </p:cBhvr>
                                    </p:animEffect>
                                  </p:childTnLst>
                                </p:cTn>
                              </p:par>
                              <p:par>
                                <p:cTn id="43" presetID="4" presetClass="entr" presetSubtype="16"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box(in)">
                                      <p:cBhvr>
                                        <p:cTn id="45" dur="500"/>
                                        <p:tgtEl>
                                          <p:spTgt spid="20"/>
                                        </p:tgtEl>
                                      </p:cBhvr>
                                    </p:animEffect>
                                  </p:childTnLst>
                                </p:cTn>
                              </p:par>
                              <p:par>
                                <p:cTn id="46" presetID="4" presetClass="entr" presetSubtype="16"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box(in)">
                                      <p:cBhvr>
                                        <p:cTn id="48" dur="500"/>
                                        <p:tgtEl>
                                          <p:spTgt spid="21"/>
                                        </p:tgtEl>
                                      </p:cBhvr>
                                    </p:animEffect>
                                  </p:childTnLst>
                                </p:cTn>
                              </p:par>
                              <p:par>
                                <p:cTn id="49" presetID="4" presetClass="entr" presetSubtype="16"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box(in)">
                                      <p:cBhvr>
                                        <p:cTn id="51" dur="500"/>
                                        <p:tgtEl>
                                          <p:spTgt spid="23"/>
                                        </p:tgtEl>
                                      </p:cBhvr>
                                    </p:animEffect>
                                  </p:childTnLst>
                                </p:cTn>
                              </p:par>
                              <p:par>
                                <p:cTn id="52" presetID="4" presetClass="entr" presetSubtype="16"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box(in)">
                                      <p:cBhvr>
                                        <p:cTn id="54" dur="500"/>
                                        <p:tgtEl>
                                          <p:spTgt spid="25"/>
                                        </p:tgtEl>
                                      </p:cBhvr>
                                    </p:animEffect>
                                  </p:childTnLst>
                                </p:cTn>
                              </p:par>
                              <p:par>
                                <p:cTn id="55" presetID="4" presetClass="entr" presetSubtype="16"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box(in)">
                                      <p:cBhvr>
                                        <p:cTn id="57" dur="500"/>
                                        <p:tgtEl>
                                          <p:spTgt spid="26"/>
                                        </p:tgtEl>
                                      </p:cBhvr>
                                    </p:animEffect>
                                  </p:childTnLst>
                                </p:cTn>
                              </p:par>
                              <p:par>
                                <p:cTn id="58" presetID="4" presetClass="entr" presetSubtype="16"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box(in)">
                                      <p:cBhvr>
                                        <p:cTn id="60" dur="500"/>
                                        <p:tgtEl>
                                          <p:spTgt spid="27"/>
                                        </p:tgtEl>
                                      </p:cBhvr>
                                    </p:animEffect>
                                  </p:childTnLst>
                                </p:cTn>
                              </p:par>
                              <p:par>
                                <p:cTn id="61" presetID="4" presetClass="entr" presetSubtype="16"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box(in)">
                                      <p:cBhvr>
                                        <p:cTn id="63" dur="500"/>
                                        <p:tgtEl>
                                          <p:spTgt spid="28"/>
                                        </p:tgtEl>
                                      </p:cBhvr>
                                    </p:animEffect>
                                  </p:childTnLst>
                                </p:cTn>
                              </p:par>
                              <p:par>
                                <p:cTn id="64" presetID="4" presetClass="entr" presetSubtype="16"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box(in)">
                                      <p:cBhvr>
                                        <p:cTn id="66" dur="500"/>
                                        <p:tgtEl>
                                          <p:spTgt spid="29"/>
                                        </p:tgtEl>
                                      </p:cBhvr>
                                    </p:animEffect>
                                  </p:childTnLst>
                                </p:cTn>
                              </p:par>
                              <p:par>
                                <p:cTn id="67" presetID="4" presetClass="entr" presetSubtype="16"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box(in)">
                                      <p:cBhvr>
                                        <p:cTn id="69" dur="500"/>
                                        <p:tgtEl>
                                          <p:spTgt spid="30"/>
                                        </p:tgtEl>
                                      </p:cBhvr>
                                    </p:animEffect>
                                  </p:childTnLst>
                                </p:cTn>
                              </p:par>
                              <p:par>
                                <p:cTn id="70" presetID="4" presetClass="entr" presetSubtype="16" fill="hold" nodeType="withEffect">
                                  <p:stCondLst>
                                    <p:cond delay="0"/>
                                  </p:stCondLst>
                                  <p:childTnLst>
                                    <p:set>
                                      <p:cBhvr>
                                        <p:cTn id="71" dur="1" fill="hold">
                                          <p:stCondLst>
                                            <p:cond delay="0"/>
                                          </p:stCondLst>
                                        </p:cTn>
                                        <p:tgtEl>
                                          <p:spTgt spid="49312"/>
                                        </p:tgtEl>
                                        <p:attrNameLst>
                                          <p:attrName>style.visibility</p:attrName>
                                        </p:attrNameLst>
                                      </p:cBhvr>
                                      <p:to>
                                        <p:strVal val="visible"/>
                                      </p:to>
                                    </p:set>
                                    <p:animEffect transition="in" filter="box(in)">
                                      <p:cBhvr>
                                        <p:cTn id="72" dur="500"/>
                                        <p:tgtEl>
                                          <p:spTgt spid="49312"/>
                                        </p:tgtEl>
                                      </p:cBhvr>
                                    </p:animEffect>
                                  </p:childTnLst>
                                </p:cTn>
                              </p:par>
                              <p:par>
                                <p:cTn id="73" presetID="4" presetClass="entr" presetSubtype="16" fill="hold" nodeType="withEffect">
                                  <p:stCondLst>
                                    <p:cond delay="0"/>
                                  </p:stCondLst>
                                  <p:childTnLst>
                                    <p:set>
                                      <p:cBhvr>
                                        <p:cTn id="74" dur="1" fill="hold">
                                          <p:stCondLst>
                                            <p:cond delay="0"/>
                                          </p:stCondLst>
                                        </p:cTn>
                                        <p:tgtEl>
                                          <p:spTgt spid="49320"/>
                                        </p:tgtEl>
                                        <p:attrNameLst>
                                          <p:attrName>style.visibility</p:attrName>
                                        </p:attrNameLst>
                                      </p:cBhvr>
                                      <p:to>
                                        <p:strVal val="visible"/>
                                      </p:to>
                                    </p:set>
                                    <p:animEffect transition="in" filter="box(in)">
                                      <p:cBhvr>
                                        <p:cTn id="75" dur="500"/>
                                        <p:tgtEl>
                                          <p:spTgt spid="49320"/>
                                        </p:tgtEl>
                                      </p:cBhvr>
                                    </p:animEffect>
                                  </p:childTnLst>
                                </p:cTn>
                              </p:par>
                              <p:par>
                                <p:cTn id="76" presetID="4" presetClass="entr" presetSubtype="16" fill="hold" nodeType="withEffect">
                                  <p:stCondLst>
                                    <p:cond delay="0"/>
                                  </p:stCondLst>
                                  <p:childTnLst>
                                    <p:set>
                                      <p:cBhvr>
                                        <p:cTn id="77" dur="1" fill="hold">
                                          <p:stCondLst>
                                            <p:cond delay="0"/>
                                          </p:stCondLst>
                                        </p:cTn>
                                        <p:tgtEl>
                                          <p:spTgt spid="49322"/>
                                        </p:tgtEl>
                                        <p:attrNameLst>
                                          <p:attrName>style.visibility</p:attrName>
                                        </p:attrNameLst>
                                      </p:cBhvr>
                                      <p:to>
                                        <p:strVal val="visible"/>
                                      </p:to>
                                    </p:set>
                                    <p:animEffect transition="in" filter="box(in)">
                                      <p:cBhvr>
                                        <p:cTn id="78" dur="500"/>
                                        <p:tgtEl>
                                          <p:spTgt spid="49322"/>
                                        </p:tgtEl>
                                      </p:cBhvr>
                                    </p:animEffect>
                                  </p:childTnLst>
                                </p:cTn>
                              </p:par>
                              <p:par>
                                <p:cTn id="79" presetID="4" presetClass="entr" presetSubtype="16" fill="hold" nodeType="withEffect">
                                  <p:stCondLst>
                                    <p:cond delay="0"/>
                                  </p:stCondLst>
                                  <p:childTnLst>
                                    <p:set>
                                      <p:cBhvr>
                                        <p:cTn id="80" dur="1" fill="hold">
                                          <p:stCondLst>
                                            <p:cond delay="0"/>
                                          </p:stCondLst>
                                        </p:cTn>
                                        <p:tgtEl>
                                          <p:spTgt spid="49324"/>
                                        </p:tgtEl>
                                        <p:attrNameLst>
                                          <p:attrName>style.visibility</p:attrName>
                                        </p:attrNameLst>
                                      </p:cBhvr>
                                      <p:to>
                                        <p:strVal val="visible"/>
                                      </p:to>
                                    </p:set>
                                    <p:animEffect transition="in" filter="box(in)">
                                      <p:cBhvr>
                                        <p:cTn id="81" dur="500"/>
                                        <p:tgtEl>
                                          <p:spTgt spid="49324"/>
                                        </p:tgtEl>
                                      </p:cBhvr>
                                    </p:animEffect>
                                  </p:childTnLst>
                                </p:cTn>
                              </p:par>
                              <p:par>
                                <p:cTn id="82" presetID="4" presetClass="entr" presetSubtype="16" fill="hold" nodeType="withEffect">
                                  <p:stCondLst>
                                    <p:cond delay="0"/>
                                  </p:stCondLst>
                                  <p:childTnLst>
                                    <p:set>
                                      <p:cBhvr>
                                        <p:cTn id="83" dur="1" fill="hold">
                                          <p:stCondLst>
                                            <p:cond delay="0"/>
                                          </p:stCondLst>
                                        </p:cTn>
                                        <p:tgtEl>
                                          <p:spTgt spid="49326"/>
                                        </p:tgtEl>
                                        <p:attrNameLst>
                                          <p:attrName>style.visibility</p:attrName>
                                        </p:attrNameLst>
                                      </p:cBhvr>
                                      <p:to>
                                        <p:strVal val="visible"/>
                                      </p:to>
                                    </p:set>
                                    <p:animEffect transition="in" filter="box(in)">
                                      <p:cBhvr>
                                        <p:cTn id="84" dur="500"/>
                                        <p:tgtEl>
                                          <p:spTgt spid="49326"/>
                                        </p:tgtEl>
                                      </p:cBhvr>
                                    </p:animEffect>
                                  </p:childTnLst>
                                </p:cTn>
                              </p:par>
                              <p:par>
                                <p:cTn id="85" presetID="4" presetClass="entr" presetSubtype="16" fill="hold" nodeType="withEffect">
                                  <p:stCondLst>
                                    <p:cond delay="0"/>
                                  </p:stCondLst>
                                  <p:childTnLst>
                                    <p:set>
                                      <p:cBhvr>
                                        <p:cTn id="86" dur="1" fill="hold">
                                          <p:stCondLst>
                                            <p:cond delay="0"/>
                                          </p:stCondLst>
                                        </p:cTn>
                                        <p:tgtEl>
                                          <p:spTgt spid="49328"/>
                                        </p:tgtEl>
                                        <p:attrNameLst>
                                          <p:attrName>style.visibility</p:attrName>
                                        </p:attrNameLst>
                                      </p:cBhvr>
                                      <p:to>
                                        <p:strVal val="visible"/>
                                      </p:to>
                                    </p:set>
                                    <p:animEffect transition="in" filter="box(in)">
                                      <p:cBhvr>
                                        <p:cTn id="87" dur="500"/>
                                        <p:tgtEl>
                                          <p:spTgt spid="49328"/>
                                        </p:tgtEl>
                                      </p:cBhvr>
                                    </p:animEffect>
                                  </p:childTnLst>
                                </p:cTn>
                              </p:par>
                              <p:par>
                                <p:cTn id="88" presetID="4" presetClass="entr" presetSubtype="16" fill="hold" nodeType="withEffect">
                                  <p:stCondLst>
                                    <p:cond delay="0"/>
                                  </p:stCondLst>
                                  <p:childTnLst>
                                    <p:set>
                                      <p:cBhvr>
                                        <p:cTn id="89" dur="1" fill="hold">
                                          <p:stCondLst>
                                            <p:cond delay="0"/>
                                          </p:stCondLst>
                                        </p:cTn>
                                        <p:tgtEl>
                                          <p:spTgt spid="49330"/>
                                        </p:tgtEl>
                                        <p:attrNameLst>
                                          <p:attrName>style.visibility</p:attrName>
                                        </p:attrNameLst>
                                      </p:cBhvr>
                                      <p:to>
                                        <p:strVal val="visible"/>
                                      </p:to>
                                    </p:set>
                                    <p:animEffect transition="in" filter="box(in)">
                                      <p:cBhvr>
                                        <p:cTn id="90" dur="500"/>
                                        <p:tgtEl>
                                          <p:spTgt spid="49330"/>
                                        </p:tgtEl>
                                      </p:cBhvr>
                                    </p:animEffect>
                                  </p:childTnLst>
                                </p:cTn>
                              </p:par>
                              <p:par>
                                <p:cTn id="91" presetID="4" presetClass="entr" presetSubtype="16" fill="hold" nodeType="withEffect">
                                  <p:stCondLst>
                                    <p:cond delay="0"/>
                                  </p:stCondLst>
                                  <p:childTnLst>
                                    <p:set>
                                      <p:cBhvr>
                                        <p:cTn id="92" dur="1" fill="hold">
                                          <p:stCondLst>
                                            <p:cond delay="0"/>
                                          </p:stCondLst>
                                        </p:cTn>
                                        <p:tgtEl>
                                          <p:spTgt spid="49331"/>
                                        </p:tgtEl>
                                        <p:attrNameLst>
                                          <p:attrName>style.visibility</p:attrName>
                                        </p:attrNameLst>
                                      </p:cBhvr>
                                      <p:to>
                                        <p:strVal val="visible"/>
                                      </p:to>
                                    </p:set>
                                    <p:animEffect transition="in" filter="box(in)">
                                      <p:cBhvr>
                                        <p:cTn id="93" dur="500"/>
                                        <p:tgtEl>
                                          <p:spTgt spid="49331"/>
                                        </p:tgtEl>
                                      </p:cBhvr>
                                    </p:animEffect>
                                  </p:childTnLst>
                                </p:cTn>
                              </p:par>
                              <p:par>
                                <p:cTn id="94" presetID="4" presetClass="entr" presetSubtype="16" fill="hold" nodeType="withEffect">
                                  <p:stCondLst>
                                    <p:cond delay="0"/>
                                  </p:stCondLst>
                                  <p:childTnLst>
                                    <p:set>
                                      <p:cBhvr>
                                        <p:cTn id="95" dur="1" fill="hold">
                                          <p:stCondLst>
                                            <p:cond delay="0"/>
                                          </p:stCondLst>
                                        </p:cTn>
                                        <p:tgtEl>
                                          <p:spTgt spid="49332"/>
                                        </p:tgtEl>
                                        <p:attrNameLst>
                                          <p:attrName>style.visibility</p:attrName>
                                        </p:attrNameLst>
                                      </p:cBhvr>
                                      <p:to>
                                        <p:strVal val="visible"/>
                                      </p:to>
                                    </p:set>
                                    <p:animEffect transition="in" filter="box(in)">
                                      <p:cBhvr>
                                        <p:cTn id="96" dur="500"/>
                                        <p:tgtEl>
                                          <p:spTgt spid="49332"/>
                                        </p:tgtEl>
                                      </p:cBhvr>
                                    </p:animEffect>
                                  </p:childTnLst>
                                </p:cTn>
                              </p:par>
                              <p:par>
                                <p:cTn id="97" presetID="4" presetClass="entr" presetSubtype="16" fill="hold" nodeType="withEffect">
                                  <p:stCondLst>
                                    <p:cond delay="0"/>
                                  </p:stCondLst>
                                  <p:childTnLst>
                                    <p:set>
                                      <p:cBhvr>
                                        <p:cTn id="98" dur="1" fill="hold">
                                          <p:stCondLst>
                                            <p:cond delay="0"/>
                                          </p:stCondLst>
                                        </p:cTn>
                                        <p:tgtEl>
                                          <p:spTgt spid="49333"/>
                                        </p:tgtEl>
                                        <p:attrNameLst>
                                          <p:attrName>style.visibility</p:attrName>
                                        </p:attrNameLst>
                                      </p:cBhvr>
                                      <p:to>
                                        <p:strVal val="visible"/>
                                      </p:to>
                                    </p:set>
                                    <p:animEffect transition="in" filter="box(in)">
                                      <p:cBhvr>
                                        <p:cTn id="99" dur="500"/>
                                        <p:tgtEl>
                                          <p:spTgt spid="49333"/>
                                        </p:tgtEl>
                                      </p:cBhvr>
                                    </p:animEffect>
                                  </p:childTnLst>
                                </p:cTn>
                              </p:par>
                              <p:par>
                                <p:cTn id="100" presetID="4" presetClass="entr" presetSubtype="16" fill="hold" nodeType="withEffect">
                                  <p:stCondLst>
                                    <p:cond delay="0"/>
                                  </p:stCondLst>
                                  <p:childTnLst>
                                    <p:set>
                                      <p:cBhvr>
                                        <p:cTn id="101" dur="1" fill="hold">
                                          <p:stCondLst>
                                            <p:cond delay="0"/>
                                          </p:stCondLst>
                                        </p:cTn>
                                        <p:tgtEl>
                                          <p:spTgt spid="49334"/>
                                        </p:tgtEl>
                                        <p:attrNameLst>
                                          <p:attrName>style.visibility</p:attrName>
                                        </p:attrNameLst>
                                      </p:cBhvr>
                                      <p:to>
                                        <p:strVal val="visible"/>
                                      </p:to>
                                    </p:set>
                                    <p:animEffect transition="in" filter="box(in)">
                                      <p:cBhvr>
                                        <p:cTn id="102" dur="500"/>
                                        <p:tgtEl>
                                          <p:spTgt spid="49334"/>
                                        </p:tgtEl>
                                      </p:cBhvr>
                                    </p:animEffect>
                                  </p:childTnLst>
                                </p:cTn>
                              </p:par>
                              <p:par>
                                <p:cTn id="103" presetID="4" presetClass="entr" presetSubtype="16" fill="hold" nodeType="withEffect">
                                  <p:stCondLst>
                                    <p:cond delay="0"/>
                                  </p:stCondLst>
                                  <p:childTnLst>
                                    <p:set>
                                      <p:cBhvr>
                                        <p:cTn id="104" dur="1" fill="hold">
                                          <p:stCondLst>
                                            <p:cond delay="0"/>
                                          </p:stCondLst>
                                        </p:cTn>
                                        <p:tgtEl>
                                          <p:spTgt spid="49335"/>
                                        </p:tgtEl>
                                        <p:attrNameLst>
                                          <p:attrName>style.visibility</p:attrName>
                                        </p:attrNameLst>
                                      </p:cBhvr>
                                      <p:to>
                                        <p:strVal val="visible"/>
                                      </p:to>
                                    </p:set>
                                    <p:animEffect transition="in" filter="box(in)">
                                      <p:cBhvr>
                                        <p:cTn id="105" dur="500"/>
                                        <p:tgtEl>
                                          <p:spTgt spid="49335"/>
                                        </p:tgtEl>
                                      </p:cBhvr>
                                    </p:animEffect>
                                  </p:childTnLst>
                                </p:cTn>
                              </p:par>
                              <p:par>
                                <p:cTn id="106" presetID="4" presetClass="entr" presetSubtype="16" fill="hold" nodeType="withEffect">
                                  <p:stCondLst>
                                    <p:cond delay="0"/>
                                  </p:stCondLst>
                                  <p:childTnLst>
                                    <p:set>
                                      <p:cBhvr>
                                        <p:cTn id="107" dur="1" fill="hold">
                                          <p:stCondLst>
                                            <p:cond delay="0"/>
                                          </p:stCondLst>
                                        </p:cTn>
                                        <p:tgtEl>
                                          <p:spTgt spid="49336"/>
                                        </p:tgtEl>
                                        <p:attrNameLst>
                                          <p:attrName>style.visibility</p:attrName>
                                        </p:attrNameLst>
                                      </p:cBhvr>
                                      <p:to>
                                        <p:strVal val="visible"/>
                                      </p:to>
                                    </p:set>
                                    <p:animEffect transition="in" filter="box(in)">
                                      <p:cBhvr>
                                        <p:cTn id="108" dur="500"/>
                                        <p:tgtEl>
                                          <p:spTgt spid="49336"/>
                                        </p:tgtEl>
                                      </p:cBhvr>
                                    </p:animEffect>
                                  </p:childTnLst>
                                </p:cTn>
                              </p:par>
                              <p:par>
                                <p:cTn id="109" presetID="4" presetClass="entr" presetSubtype="16" fill="hold" nodeType="withEffect">
                                  <p:stCondLst>
                                    <p:cond delay="0"/>
                                  </p:stCondLst>
                                  <p:childTnLst>
                                    <p:set>
                                      <p:cBhvr>
                                        <p:cTn id="110" dur="1" fill="hold">
                                          <p:stCondLst>
                                            <p:cond delay="0"/>
                                          </p:stCondLst>
                                        </p:cTn>
                                        <p:tgtEl>
                                          <p:spTgt spid="49337"/>
                                        </p:tgtEl>
                                        <p:attrNameLst>
                                          <p:attrName>style.visibility</p:attrName>
                                        </p:attrNameLst>
                                      </p:cBhvr>
                                      <p:to>
                                        <p:strVal val="visible"/>
                                      </p:to>
                                    </p:set>
                                    <p:animEffect transition="in" filter="box(in)">
                                      <p:cBhvr>
                                        <p:cTn id="111" dur="500"/>
                                        <p:tgtEl>
                                          <p:spTgt spid="49337"/>
                                        </p:tgtEl>
                                      </p:cBhvr>
                                    </p:animEffect>
                                  </p:childTnLst>
                                </p:cTn>
                              </p:par>
                              <p:par>
                                <p:cTn id="112" presetID="4" presetClass="entr" presetSubtype="16" fill="hold" nodeType="withEffect">
                                  <p:stCondLst>
                                    <p:cond delay="0"/>
                                  </p:stCondLst>
                                  <p:childTnLst>
                                    <p:set>
                                      <p:cBhvr>
                                        <p:cTn id="113" dur="1" fill="hold">
                                          <p:stCondLst>
                                            <p:cond delay="0"/>
                                          </p:stCondLst>
                                        </p:cTn>
                                        <p:tgtEl>
                                          <p:spTgt spid="49224"/>
                                        </p:tgtEl>
                                        <p:attrNameLst>
                                          <p:attrName>style.visibility</p:attrName>
                                        </p:attrNameLst>
                                      </p:cBhvr>
                                      <p:to>
                                        <p:strVal val="visible"/>
                                      </p:to>
                                    </p:set>
                                    <p:animEffect transition="in" filter="box(in)">
                                      <p:cBhvr>
                                        <p:cTn id="114" dur="500"/>
                                        <p:tgtEl>
                                          <p:spTgt spid="49224"/>
                                        </p:tgtEl>
                                      </p:cBhvr>
                                    </p:animEffect>
                                  </p:childTnLst>
                                </p:cTn>
                              </p:par>
                              <p:par>
                                <p:cTn id="115" presetID="4" presetClass="entr" presetSubtype="16" fill="hold" nodeType="withEffect">
                                  <p:stCondLst>
                                    <p:cond delay="0"/>
                                  </p:stCondLst>
                                  <p:childTnLst>
                                    <p:set>
                                      <p:cBhvr>
                                        <p:cTn id="116" dur="1" fill="hold">
                                          <p:stCondLst>
                                            <p:cond delay="0"/>
                                          </p:stCondLst>
                                        </p:cTn>
                                        <p:tgtEl>
                                          <p:spTgt spid="49216"/>
                                        </p:tgtEl>
                                        <p:attrNameLst>
                                          <p:attrName>style.visibility</p:attrName>
                                        </p:attrNameLst>
                                      </p:cBhvr>
                                      <p:to>
                                        <p:strVal val="visible"/>
                                      </p:to>
                                    </p:set>
                                    <p:animEffect transition="in" filter="box(in)">
                                      <p:cBhvr>
                                        <p:cTn id="117" dur="500"/>
                                        <p:tgtEl>
                                          <p:spTgt spid="49216"/>
                                        </p:tgtEl>
                                      </p:cBhvr>
                                    </p:animEffect>
                                  </p:child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grpId="0" nodeType="clickEffect">
                                  <p:stCondLst>
                                    <p:cond delay="0"/>
                                  </p:stCondLst>
                                  <p:childTnLst>
                                    <p:set>
                                      <p:cBhvr>
                                        <p:cTn id="121" dur="1" fill="hold">
                                          <p:stCondLst>
                                            <p:cond delay="0"/>
                                          </p:stCondLst>
                                        </p:cTn>
                                        <p:tgtEl>
                                          <p:spTgt spid="192"/>
                                        </p:tgtEl>
                                        <p:attrNameLst>
                                          <p:attrName>style.visibility</p:attrName>
                                        </p:attrNameLst>
                                      </p:cBhvr>
                                      <p:to>
                                        <p:strVal val="visible"/>
                                      </p:to>
                                    </p:set>
                                    <p:animEffect transition="in" filter="box(in)">
                                      <p:cBhvr>
                                        <p:cTn id="122" dur="500"/>
                                        <p:tgtEl>
                                          <p:spTgt spid="192"/>
                                        </p:tgtEl>
                                      </p:cBhvr>
                                    </p:animEffect>
                                  </p:child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218121"/>
                                        </p:tgtEl>
                                        <p:attrNameLst>
                                          <p:attrName>style.visibility</p:attrName>
                                        </p:attrNameLst>
                                      </p:cBhvr>
                                      <p:to>
                                        <p:strVal val="visible"/>
                                      </p:to>
                                    </p:set>
                                    <p:animEffect transition="in" filter="box(in)">
                                      <p:cBhvr>
                                        <p:cTn id="127" dur="500"/>
                                        <p:tgtEl>
                                          <p:spTgt spid="218121"/>
                                        </p:tgtEl>
                                      </p:cBhvr>
                                    </p:animEffect>
                                  </p:childTnLst>
                                </p:cTn>
                              </p:par>
                              <p:par>
                                <p:cTn id="128" presetID="4" presetClass="entr" presetSubtype="16" fill="hold" grpId="0" nodeType="withEffect">
                                  <p:stCondLst>
                                    <p:cond delay="0"/>
                                  </p:stCondLst>
                                  <p:childTnLst>
                                    <p:set>
                                      <p:cBhvr>
                                        <p:cTn id="129" dur="1" fill="hold">
                                          <p:stCondLst>
                                            <p:cond delay="0"/>
                                          </p:stCondLst>
                                        </p:cTn>
                                        <p:tgtEl>
                                          <p:spTgt spid="218122"/>
                                        </p:tgtEl>
                                        <p:attrNameLst>
                                          <p:attrName>style.visibility</p:attrName>
                                        </p:attrNameLst>
                                      </p:cBhvr>
                                      <p:to>
                                        <p:strVal val="visible"/>
                                      </p:to>
                                    </p:set>
                                    <p:animEffect transition="in" filter="box(in)">
                                      <p:cBhvr>
                                        <p:cTn id="130" dur="500"/>
                                        <p:tgtEl>
                                          <p:spTgt spid="218122"/>
                                        </p:tgtEl>
                                      </p:cBhvr>
                                    </p:animEffect>
                                  </p:childTnLst>
                                </p:cTn>
                              </p:par>
                            </p:childTnLst>
                          </p:cTn>
                        </p:par>
                      </p:childTnLst>
                    </p:cTn>
                  </p:par>
                  <p:par>
                    <p:cTn id="131" fill="hold">
                      <p:stCondLst>
                        <p:cond delay="indefinite"/>
                      </p:stCondLst>
                      <p:childTnLst>
                        <p:par>
                          <p:cTn id="132" fill="hold">
                            <p:stCondLst>
                              <p:cond delay="0"/>
                            </p:stCondLst>
                            <p:childTnLst>
                              <p:par>
                                <p:cTn id="133" presetID="6" presetClass="emph" presetSubtype="0" fill="hold" grpId="1" nodeType="clickEffect">
                                  <p:stCondLst>
                                    <p:cond delay="0"/>
                                  </p:stCondLst>
                                  <p:childTnLst>
                                    <p:animScale>
                                      <p:cBhvr>
                                        <p:cTn id="134" dur="2000" fill="hold"/>
                                        <p:tgtEl>
                                          <p:spTgt spid="192"/>
                                        </p:tgtEl>
                                      </p:cBhvr>
                                      <p:by x="60000" y="100000"/>
                                    </p:animScale>
                                  </p:childTnLst>
                                </p:cTn>
                              </p:par>
                            </p:childTnLst>
                          </p:cTn>
                        </p:par>
                      </p:childTnLst>
                    </p:cTn>
                  </p:par>
                  <p:par>
                    <p:cTn id="135" fill="hold">
                      <p:stCondLst>
                        <p:cond delay="indefinite"/>
                      </p:stCondLst>
                      <p:childTnLst>
                        <p:par>
                          <p:cTn id="136" fill="hold">
                            <p:stCondLst>
                              <p:cond delay="0"/>
                            </p:stCondLst>
                            <p:childTnLst>
                              <p:par>
                                <p:cTn id="137" presetID="16" presetClass="entr" presetSubtype="26" fill="hold" grpId="0" nodeType="clickEffect">
                                  <p:stCondLst>
                                    <p:cond delay="0"/>
                                  </p:stCondLst>
                                  <p:childTnLst>
                                    <p:set>
                                      <p:cBhvr>
                                        <p:cTn id="138" dur="1" fill="hold">
                                          <p:stCondLst>
                                            <p:cond delay="0"/>
                                          </p:stCondLst>
                                        </p:cTn>
                                        <p:tgtEl>
                                          <p:spTgt spid="49193"/>
                                        </p:tgtEl>
                                        <p:attrNameLst>
                                          <p:attrName>style.visibility</p:attrName>
                                        </p:attrNameLst>
                                      </p:cBhvr>
                                      <p:to>
                                        <p:strVal val="visible"/>
                                      </p:to>
                                    </p:set>
                                    <p:animEffect transition="in" filter="barn(inHorizontal)">
                                      <p:cBhvr>
                                        <p:cTn id="139" dur="500"/>
                                        <p:tgtEl>
                                          <p:spTgt spid="49193"/>
                                        </p:tgtEl>
                                      </p:cBhvr>
                                    </p:animEffect>
                                  </p:childTnLst>
                                </p:cTn>
                              </p:par>
                              <p:par>
                                <p:cTn id="140" presetID="16" presetClass="entr" presetSubtype="26" fill="hold" grpId="0" nodeType="withEffect">
                                  <p:stCondLst>
                                    <p:cond delay="0"/>
                                  </p:stCondLst>
                                  <p:childTnLst>
                                    <p:set>
                                      <p:cBhvr>
                                        <p:cTn id="141" dur="1" fill="hold">
                                          <p:stCondLst>
                                            <p:cond delay="0"/>
                                          </p:stCondLst>
                                        </p:cTn>
                                        <p:tgtEl>
                                          <p:spTgt spid="142"/>
                                        </p:tgtEl>
                                        <p:attrNameLst>
                                          <p:attrName>style.visibility</p:attrName>
                                        </p:attrNameLst>
                                      </p:cBhvr>
                                      <p:to>
                                        <p:strVal val="visible"/>
                                      </p:to>
                                    </p:set>
                                    <p:animEffect transition="in" filter="barn(inHorizontal)">
                                      <p:cBhvr>
                                        <p:cTn id="142" dur="500"/>
                                        <p:tgtEl>
                                          <p:spTgt spid="142"/>
                                        </p:tgtEl>
                                      </p:cBhvr>
                                    </p:animEffect>
                                  </p:childTnLst>
                                </p:cTn>
                              </p:par>
                              <p:par>
                                <p:cTn id="143" presetID="16" presetClass="entr" presetSubtype="26" fill="hold" grpId="0" nodeType="withEffect">
                                  <p:stCondLst>
                                    <p:cond delay="0"/>
                                  </p:stCondLst>
                                  <p:childTnLst>
                                    <p:set>
                                      <p:cBhvr>
                                        <p:cTn id="144" dur="1" fill="hold">
                                          <p:stCondLst>
                                            <p:cond delay="0"/>
                                          </p:stCondLst>
                                        </p:cTn>
                                        <p:tgtEl>
                                          <p:spTgt spid="157"/>
                                        </p:tgtEl>
                                        <p:attrNameLst>
                                          <p:attrName>style.visibility</p:attrName>
                                        </p:attrNameLst>
                                      </p:cBhvr>
                                      <p:to>
                                        <p:strVal val="visible"/>
                                      </p:to>
                                    </p:set>
                                    <p:animEffect transition="in" filter="barn(inHorizontal)">
                                      <p:cBhvr>
                                        <p:cTn id="145" dur="500"/>
                                        <p:tgtEl>
                                          <p:spTgt spid="157"/>
                                        </p:tgtEl>
                                      </p:cBhvr>
                                    </p:animEffect>
                                  </p:childTnLst>
                                </p:cTn>
                              </p:par>
                              <p:par>
                                <p:cTn id="146" presetID="16" presetClass="entr" presetSubtype="26" fill="hold" grpId="0" nodeType="withEffect">
                                  <p:stCondLst>
                                    <p:cond delay="0"/>
                                  </p:stCondLst>
                                  <p:childTnLst>
                                    <p:set>
                                      <p:cBhvr>
                                        <p:cTn id="147" dur="1" fill="hold">
                                          <p:stCondLst>
                                            <p:cond delay="0"/>
                                          </p:stCondLst>
                                        </p:cTn>
                                        <p:tgtEl>
                                          <p:spTgt spid="150"/>
                                        </p:tgtEl>
                                        <p:attrNameLst>
                                          <p:attrName>style.visibility</p:attrName>
                                        </p:attrNameLst>
                                      </p:cBhvr>
                                      <p:to>
                                        <p:strVal val="visible"/>
                                      </p:to>
                                    </p:set>
                                    <p:animEffect transition="in" filter="barn(inHorizontal)">
                                      <p:cBhvr>
                                        <p:cTn id="148" dur="500"/>
                                        <p:tgtEl>
                                          <p:spTgt spid="150"/>
                                        </p:tgtEl>
                                      </p:cBhvr>
                                    </p:animEffect>
                                  </p:childTnLst>
                                </p:cTn>
                              </p:par>
                              <p:par>
                                <p:cTn id="149" presetID="16" presetClass="entr" presetSubtype="26" fill="hold" grpId="0" nodeType="withEffect">
                                  <p:stCondLst>
                                    <p:cond delay="0"/>
                                  </p:stCondLst>
                                  <p:childTnLst>
                                    <p:set>
                                      <p:cBhvr>
                                        <p:cTn id="150" dur="1" fill="hold">
                                          <p:stCondLst>
                                            <p:cond delay="0"/>
                                          </p:stCondLst>
                                        </p:cTn>
                                        <p:tgtEl>
                                          <p:spTgt spid="87"/>
                                        </p:tgtEl>
                                        <p:attrNameLst>
                                          <p:attrName>style.visibility</p:attrName>
                                        </p:attrNameLst>
                                      </p:cBhvr>
                                      <p:to>
                                        <p:strVal val="visible"/>
                                      </p:to>
                                    </p:set>
                                    <p:animEffect transition="in" filter="barn(inHorizontal)">
                                      <p:cBhvr>
                                        <p:cTn id="151" dur="500"/>
                                        <p:tgtEl>
                                          <p:spTgt spid="87"/>
                                        </p:tgtEl>
                                      </p:cBhvr>
                                    </p:animEffect>
                                  </p:childTnLst>
                                </p:cTn>
                              </p:par>
                              <p:par>
                                <p:cTn id="152" presetID="16" presetClass="entr" presetSubtype="26" fill="hold" grpId="0" nodeType="withEffect">
                                  <p:stCondLst>
                                    <p:cond delay="0"/>
                                  </p:stCondLst>
                                  <p:childTnLst>
                                    <p:set>
                                      <p:cBhvr>
                                        <p:cTn id="153" dur="1" fill="hold">
                                          <p:stCondLst>
                                            <p:cond delay="0"/>
                                          </p:stCondLst>
                                        </p:cTn>
                                        <p:tgtEl>
                                          <p:spTgt spid="60"/>
                                        </p:tgtEl>
                                        <p:attrNameLst>
                                          <p:attrName>style.visibility</p:attrName>
                                        </p:attrNameLst>
                                      </p:cBhvr>
                                      <p:to>
                                        <p:strVal val="visible"/>
                                      </p:to>
                                    </p:set>
                                    <p:animEffect transition="in" filter="barn(inHorizontal)">
                                      <p:cBhvr>
                                        <p:cTn id="154" dur="500"/>
                                        <p:tgtEl>
                                          <p:spTgt spid="60"/>
                                        </p:tgtEl>
                                      </p:cBhvr>
                                    </p:animEffect>
                                  </p:childTnLst>
                                </p:cTn>
                              </p:par>
                              <p:par>
                                <p:cTn id="155" presetID="16" presetClass="entr" presetSubtype="26" fill="hold" grpId="0" nodeType="withEffect">
                                  <p:stCondLst>
                                    <p:cond delay="0"/>
                                  </p:stCondLst>
                                  <p:childTnLst>
                                    <p:set>
                                      <p:cBhvr>
                                        <p:cTn id="156" dur="1" fill="hold">
                                          <p:stCondLst>
                                            <p:cond delay="0"/>
                                          </p:stCondLst>
                                        </p:cTn>
                                        <p:tgtEl>
                                          <p:spTgt spid="97"/>
                                        </p:tgtEl>
                                        <p:attrNameLst>
                                          <p:attrName>style.visibility</p:attrName>
                                        </p:attrNameLst>
                                      </p:cBhvr>
                                      <p:to>
                                        <p:strVal val="visible"/>
                                      </p:to>
                                    </p:set>
                                    <p:animEffect transition="in" filter="barn(inHorizontal)">
                                      <p:cBhvr>
                                        <p:cTn id="157" dur="500"/>
                                        <p:tgtEl>
                                          <p:spTgt spid="97"/>
                                        </p:tgtEl>
                                      </p:cBhvr>
                                    </p:animEffect>
                                  </p:childTnLst>
                                </p:cTn>
                              </p:par>
                              <p:par>
                                <p:cTn id="158" presetID="16" presetClass="entr" presetSubtype="26" fill="hold" grpId="0" nodeType="withEffect">
                                  <p:stCondLst>
                                    <p:cond delay="0"/>
                                  </p:stCondLst>
                                  <p:childTnLst>
                                    <p:set>
                                      <p:cBhvr>
                                        <p:cTn id="159" dur="1" fill="hold">
                                          <p:stCondLst>
                                            <p:cond delay="0"/>
                                          </p:stCondLst>
                                        </p:cTn>
                                        <p:tgtEl>
                                          <p:spTgt spid="102"/>
                                        </p:tgtEl>
                                        <p:attrNameLst>
                                          <p:attrName>style.visibility</p:attrName>
                                        </p:attrNameLst>
                                      </p:cBhvr>
                                      <p:to>
                                        <p:strVal val="visible"/>
                                      </p:to>
                                    </p:set>
                                    <p:animEffect transition="in" filter="barn(inHorizontal)">
                                      <p:cBhvr>
                                        <p:cTn id="160" dur="500"/>
                                        <p:tgtEl>
                                          <p:spTgt spid="102"/>
                                        </p:tgtEl>
                                      </p:cBhvr>
                                    </p:animEffect>
                                  </p:childTnLst>
                                </p:cTn>
                              </p:par>
                            </p:childTnLst>
                          </p:cTn>
                        </p:par>
                      </p:childTnLst>
                    </p:cTn>
                  </p:par>
                  <p:par>
                    <p:cTn id="161" fill="hold">
                      <p:stCondLst>
                        <p:cond delay="indefinite"/>
                      </p:stCondLst>
                      <p:childTnLst>
                        <p:par>
                          <p:cTn id="162" fill="hold">
                            <p:stCondLst>
                              <p:cond delay="0"/>
                            </p:stCondLst>
                            <p:childTnLst>
                              <p:par>
                                <p:cTn id="163" presetID="4" presetClass="entr" presetSubtype="16" fill="hold" grpId="0" nodeType="clickEffect">
                                  <p:stCondLst>
                                    <p:cond delay="0"/>
                                  </p:stCondLst>
                                  <p:childTnLst>
                                    <p:set>
                                      <p:cBhvr>
                                        <p:cTn id="164" dur="1" fill="hold">
                                          <p:stCondLst>
                                            <p:cond delay="0"/>
                                          </p:stCondLst>
                                        </p:cTn>
                                        <p:tgtEl>
                                          <p:spTgt spid="190"/>
                                        </p:tgtEl>
                                        <p:attrNameLst>
                                          <p:attrName>style.visibility</p:attrName>
                                        </p:attrNameLst>
                                      </p:cBhvr>
                                      <p:to>
                                        <p:strVal val="visible"/>
                                      </p:to>
                                    </p:set>
                                    <p:animEffect transition="in" filter="box(in)">
                                      <p:cBhvr>
                                        <p:cTn id="165" dur="500"/>
                                        <p:tgtEl>
                                          <p:spTgt spid="190"/>
                                        </p:tgtEl>
                                      </p:cBhvr>
                                    </p:animEffect>
                                  </p:childTnLst>
                                </p:cTn>
                              </p:par>
                              <p:par>
                                <p:cTn id="166" presetID="4" presetClass="entr" presetSubtype="16" fill="hold" grpId="0" nodeType="withEffect">
                                  <p:stCondLst>
                                    <p:cond delay="0"/>
                                  </p:stCondLst>
                                  <p:childTnLst>
                                    <p:set>
                                      <p:cBhvr>
                                        <p:cTn id="167" dur="1" fill="hold">
                                          <p:stCondLst>
                                            <p:cond delay="0"/>
                                          </p:stCondLst>
                                        </p:cTn>
                                        <p:tgtEl>
                                          <p:spTgt spid="194"/>
                                        </p:tgtEl>
                                        <p:attrNameLst>
                                          <p:attrName>style.visibility</p:attrName>
                                        </p:attrNameLst>
                                      </p:cBhvr>
                                      <p:to>
                                        <p:strVal val="visible"/>
                                      </p:to>
                                    </p:set>
                                    <p:animEffect transition="in" filter="box(in)">
                                      <p:cBhvr>
                                        <p:cTn id="168" dur="500"/>
                                        <p:tgtEl>
                                          <p:spTgt spid="194"/>
                                        </p:tgtEl>
                                      </p:cBhvr>
                                    </p:animEffect>
                                  </p:childTnLst>
                                </p:cTn>
                              </p:par>
                            </p:childTnLst>
                          </p:cTn>
                        </p:par>
                      </p:childTnLst>
                    </p:cTn>
                  </p:par>
                  <p:par>
                    <p:cTn id="169" fill="hold">
                      <p:stCondLst>
                        <p:cond delay="indefinite"/>
                      </p:stCondLst>
                      <p:childTnLst>
                        <p:par>
                          <p:cTn id="170" fill="hold">
                            <p:stCondLst>
                              <p:cond delay="0"/>
                            </p:stCondLst>
                            <p:childTnLst>
                              <p:par>
                                <p:cTn id="171" presetID="4" presetClass="entr" presetSubtype="16" fill="hold" grpId="0" nodeType="clickEffect">
                                  <p:stCondLst>
                                    <p:cond delay="0"/>
                                  </p:stCondLst>
                                  <p:childTnLst>
                                    <p:set>
                                      <p:cBhvr>
                                        <p:cTn id="172" dur="1" fill="hold">
                                          <p:stCondLst>
                                            <p:cond delay="0"/>
                                          </p:stCondLst>
                                        </p:cTn>
                                        <p:tgtEl>
                                          <p:spTgt spid="195"/>
                                        </p:tgtEl>
                                        <p:attrNameLst>
                                          <p:attrName>style.visibility</p:attrName>
                                        </p:attrNameLst>
                                      </p:cBhvr>
                                      <p:to>
                                        <p:strVal val="visible"/>
                                      </p:to>
                                    </p:set>
                                    <p:animEffect transition="in" filter="box(in)">
                                      <p:cBhvr>
                                        <p:cTn id="173" dur="500"/>
                                        <p:tgtEl>
                                          <p:spTgt spid="195"/>
                                        </p:tgtEl>
                                      </p:cBhvr>
                                    </p:animEffect>
                                  </p:childTnLst>
                                </p:cTn>
                              </p:par>
                              <p:par>
                                <p:cTn id="174" presetID="4" presetClass="entr" presetSubtype="16" fill="hold" grpId="0" nodeType="withEffect">
                                  <p:stCondLst>
                                    <p:cond delay="0"/>
                                  </p:stCondLst>
                                  <p:childTnLst>
                                    <p:set>
                                      <p:cBhvr>
                                        <p:cTn id="175" dur="1" fill="hold">
                                          <p:stCondLst>
                                            <p:cond delay="0"/>
                                          </p:stCondLst>
                                        </p:cTn>
                                        <p:tgtEl>
                                          <p:spTgt spid="191"/>
                                        </p:tgtEl>
                                        <p:attrNameLst>
                                          <p:attrName>style.visibility</p:attrName>
                                        </p:attrNameLst>
                                      </p:cBhvr>
                                      <p:to>
                                        <p:strVal val="visible"/>
                                      </p:to>
                                    </p:set>
                                    <p:animEffect transition="in" filter="box(in)">
                                      <p:cBhvr>
                                        <p:cTn id="176" dur="500"/>
                                        <p:tgtEl>
                                          <p:spTgt spid="191"/>
                                        </p:tgtEl>
                                      </p:cBhvr>
                                    </p:animEffect>
                                  </p:childTnLst>
                                </p:cTn>
                              </p:par>
                            </p:childTnLst>
                          </p:cTn>
                        </p:par>
                      </p:childTnLst>
                    </p:cTn>
                  </p:par>
                  <p:par>
                    <p:cTn id="177" fill="hold">
                      <p:stCondLst>
                        <p:cond delay="indefinite"/>
                      </p:stCondLst>
                      <p:childTnLst>
                        <p:par>
                          <p:cTn id="178" fill="hold">
                            <p:stCondLst>
                              <p:cond delay="0"/>
                            </p:stCondLst>
                            <p:childTnLst>
                              <p:par>
                                <p:cTn id="179" presetID="4" presetClass="entr" presetSubtype="16" fill="hold" grpId="0" nodeType="clickEffect">
                                  <p:stCondLst>
                                    <p:cond delay="0"/>
                                  </p:stCondLst>
                                  <p:childTnLst>
                                    <p:set>
                                      <p:cBhvr>
                                        <p:cTn id="180" dur="1" fill="hold">
                                          <p:stCondLst>
                                            <p:cond delay="0"/>
                                          </p:stCondLst>
                                        </p:cTn>
                                        <p:tgtEl>
                                          <p:spTgt spid="189"/>
                                        </p:tgtEl>
                                        <p:attrNameLst>
                                          <p:attrName>style.visibility</p:attrName>
                                        </p:attrNameLst>
                                      </p:cBhvr>
                                      <p:to>
                                        <p:strVal val="visible"/>
                                      </p:to>
                                    </p:set>
                                    <p:animEffect transition="in" filter="box(in)">
                                      <p:cBhvr>
                                        <p:cTn id="181"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nimBg="1"/>
      <p:bldP spid="218121" grpId="0" animBg="1"/>
      <p:bldP spid="218122" grpId="0"/>
      <p:bldP spid="49157" grpId="0" animBg="1"/>
      <p:bldP spid="49158" grpId="0" animBg="1"/>
      <p:bldP spid="60" grpId="0" animBg="1"/>
      <p:bldP spid="87" grpId="0" animBg="1"/>
      <p:bldP spid="97" grpId="0" animBg="1"/>
      <p:bldP spid="102" grpId="0" animBg="1"/>
      <p:bldP spid="142" grpId="0" animBg="1"/>
      <p:bldP spid="49193" grpId="0" animBg="1"/>
      <p:bldP spid="150" grpId="0" animBg="1"/>
      <p:bldP spid="157" grpId="0" animBg="1"/>
      <p:bldP spid="192" grpId="0" animBg="1"/>
      <p:bldP spid="192" grpId="1" animBg="1"/>
      <p:bldP spid="189" grpId="0" animBg="1"/>
      <p:bldP spid="190" grpId="0" animBg="1"/>
      <p:bldP spid="191" grpId="0" animBg="1"/>
      <p:bldP spid="194" grpId="0" animBg="1"/>
      <p:bldP spid="19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5472430" y="1640205"/>
            <a:ext cx="2365375" cy="609600"/>
          </a:xfrm>
          <a:prstGeom prst="rect">
            <a:avLst/>
          </a:prstGeom>
          <a:noFill/>
          <a:ln>
            <a:miter lim="800000"/>
            <a:headEnd/>
            <a:tailEnd/>
          </a:ln>
        </p:spPr>
        <p:txBody>
          <a:bodyPr/>
          <a:lstStyle/>
          <a:p>
            <a:pPr algn="ctr" defTabSz="914400">
              <a:defRPr/>
            </a:pPr>
            <a:r>
              <a:rPr lang="zh-CN" altLang="en-US" sz="3600" b="1" dirty="0">
                <a:solidFill>
                  <a:srgbClr val="FF0000"/>
                </a:solidFill>
                <a:latin typeface="华文琥珀" pitchFamily="2" charset="-122"/>
                <a:ea typeface="华文琥珀" pitchFamily="2" charset="-122"/>
                <a:cs typeface="+mj-cs"/>
              </a:rPr>
              <a:t>反向偏压</a:t>
            </a:r>
            <a:endParaRPr lang="en-US" altLang="zh-CN" sz="3600" b="1" dirty="0">
              <a:solidFill>
                <a:srgbClr val="FF0000"/>
              </a:solidFill>
              <a:latin typeface="华文琥珀" pitchFamily="2" charset="-122"/>
              <a:ea typeface="华文琥珀" pitchFamily="2" charset="-122"/>
              <a:cs typeface="+mj-cs"/>
            </a:endParaRPr>
          </a:p>
        </p:txBody>
      </p:sp>
      <p:sp>
        <p:nvSpPr>
          <p:cNvPr id="3" name="Line 9"/>
          <p:cNvSpPr>
            <a:spLocks noChangeShapeType="1"/>
          </p:cNvSpPr>
          <p:nvPr/>
        </p:nvSpPr>
        <p:spPr bwMode="auto">
          <a:xfrm>
            <a:off x="3526155" y="4967605"/>
            <a:ext cx="7056438" cy="0"/>
          </a:xfrm>
          <a:prstGeom prst="line">
            <a:avLst/>
          </a:prstGeom>
          <a:noFill/>
          <a:ln w="76200">
            <a:solidFill>
              <a:srgbClr val="FF0000"/>
            </a:solidFill>
            <a:round/>
            <a:headEnd type="stealth" w="med" len="med"/>
            <a:tailEnd/>
          </a:ln>
        </p:spPr>
        <p:txBody>
          <a:bodyPr/>
          <a:lstStyle/>
          <a:p>
            <a:endParaRPr lang="zh-CN" altLang="en-US" b="1">
              <a:latin typeface="微软雅黑" pitchFamily="34" charset="-122"/>
              <a:ea typeface="微软雅黑" pitchFamily="34" charset="-122"/>
            </a:endParaRPr>
          </a:p>
        </p:txBody>
      </p:sp>
      <p:sp>
        <p:nvSpPr>
          <p:cNvPr id="4" name="Text Box 10"/>
          <p:cNvSpPr txBox="1">
            <a:spLocks noChangeArrowheads="1"/>
          </p:cNvSpPr>
          <p:nvPr/>
        </p:nvSpPr>
        <p:spPr bwMode="auto">
          <a:xfrm>
            <a:off x="5926455" y="5145405"/>
            <a:ext cx="2160588" cy="579438"/>
          </a:xfrm>
          <a:prstGeom prst="rect">
            <a:avLst/>
          </a:prstGeom>
          <a:noFill/>
          <a:ln w="9525">
            <a:noFill/>
            <a:miter lim="800000"/>
            <a:headEnd/>
            <a:tailEnd/>
          </a:ln>
        </p:spPr>
        <p:txBody>
          <a:bodyPr>
            <a:spAutoFit/>
          </a:bodyPr>
          <a:lstStyle/>
          <a:p>
            <a:pPr algn="ctr" defTabSz="914400"/>
            <a:r>
              <a:rPr lang="zh-CN" altLang="en-US" sz="3200" b="1">
                <a:latin typeface="微软雅黑" pitchFamily="34" charset="-122"/>
                <a:ea typeface="微软雅黑" pitchFamily="34" charset="-122"/>
              </a:rPr>
              <a:t>外加电场</a:t>
            </a:r>
          </a:p>
        </p:txBody>
      </p:sp>
      <p:sp>
        <p:nvSpPr>
          <p:cNvPr id="5" name="Rectangle 5"/>
          <p:cNvSpPr>
            <a:spLocks noChangeArrowheads="1"/>
          </p:cNvSpPr>
          <p:nvPr/>
        </p:nvSpPr>
        <p:spPr bwMode="auto">
          <a:xfrm>
            <a:off x="4518343" y="2692718"/>
            <a:ext cx="4786312" cy="2030412"/>
          </a:xfrm>
          <a:prstGeom prst="rect">
            <a:avLst/>
          </a:prstGeom>
          <a:solidFill>
            <a:srgbClr val="FFFFFF"/>
          </a:solidFill>
          <a:ln w="381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6" name="Line 6"/>
          <p:cNvSpPr>
            <a:spLocks noChangeShapeType="1"/>
          </p:cNvSpPr>
          <p:nvPr/>
        </p:nvSpPr>
        <p:spPr bwMode="auto">
          <a:xfrm>
            <a:off x="6858318" y="2692718"/>
            <a:ext cx="1587" cy="2028825"/>
          </a:xfrm>
          <a:prstGeom prst="line">
            <a:avLst/>
          </a:prstGeom>
          <a:noFill/>
          <a:ln w="38100">
            <a:solidFill>
              <a:srgbClr val="000000"/>
            </a:solidFill>
            <a:prstDash val="dash"/>
            <a:round/>
            <a:headEnd/>
            <a:tailEnd/>
          </a:ln>
        </p:spPr>
        <p:txBody>
          <a:bodyPr/>
          <a:lstStyle/>
          <a:p>
            <a:endParaRPr lang="zh-CN" altLang="en-US"/>
          </a:p>
        </p:txBody>
      </p:sp>
      <p:grpSp>
        <p:nvGrpSpPr>
          <p:cNvPr id="8" name="组合 345"/>
          <p:cNvGrpSpPr>
            <a:grpSpLocks/>
          </p:cNvGrpSpPr>
          <p:nvPr/>
        </p:nvGrpSpPr>
        <p:grpSpPr bwMode="auto">
          <a:xfrm>
            <a:off x="4637405" y="2726055"/>
            <a:ext cx="265113" cy="436563"/>
            <a:chOff x="3708391" y="4698272"/>
            <a:chExt cx="265290" cy="436662"/>
          </a:xfrm>
        </p:grpSpPr>
        <p:sp>
          <p:nvSpPr>
            <p:cNvPr id="4097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0975" name="组合 127"/>
            <p:cNvGrpSpPr>
              <a:grpSpLocks/>
            </p:cNvGrpSpPr>
            <p:nvPr/>
          </p:nvGrpSpPr>
          <p:grpSpPr bwMode="auto">
            <a:xfrm>
              <a:off x="3723561" y="4885168"/>
              <a:ext cx="250120" cy="249766"/>
              <a:chOff x="3723561" y="4885168"/>
              <a:chExt cx="250120" cy="249766"/>
            </a:xfrm>
          </p:grpSpPr>
          <p:sp>
            <p:nvSpPr>
              <p:cNvPr id="4097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97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9" name="组合 129"/>
          <p:cNvGrpSpPr>
            <a:grpSpLocks/>
          </p:cNvGrpSpPr>
          <p:nvPr/>
        </p:nvGrpSpPr>
        <p:grpSpPr bwMode="auto">
          <a:xfrm rot="-3967890">
            <a:off x="8672831" y="2770505"/>
            <a:ext cx="254000" cy="434975"/>
            <a:chOff x="5149850" y="4703444"/>
            <a:chExt cx="253825" cy="434955"/>
          </a:xfrm>
        </p:grpSpPr>
        <p:sp>
          <p:nvSpPr>
            <p:cNvPr id="40979"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0980" name="组合 128"/>
            <p:cNvGrpSpPr>
              <a:grpSpLocks/>
            </p:cNvGrpSpPr>
            <p:nvPr/>
          </p:nvGrpSpPr>
          <p:grpSpPr bwMode="auto">
            <a:xfrm>
              <a:off x="5149850" y="4865143"/>
              <a:ext cx="249687" cy="273256"/>
              <a:chOff x="5149850" y="4865143"/>
              <a:chExt cx="249687" cy="273256"/>
            </a:xfrm>
          </p:grpSpPr>
          <p:sp>
            <p:nvSpPr>
              <p:cNvPr id="4098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098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098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11" name="组合 255"/>
          <p:cNvGrpSpPr>
            <a:grpSpLocks/>
          </p:cNvGrpSpPr>
          <p:nvPr/>
        </p:nvGrpSpPr>
        <p:grpSpPr bwMode="auto">
          <a:xfrm rot="4565890">
            <a:off x="8307706" y="3259455"/>
            <a:ext cx="254000" cy="434975"/>
            <a:chOff x="5149850" y="4703444"/>
            <a:chExt cx="253825" cy="434955"/>
          </a:xfrm>
        </p:grpSpPr>
        <p:sp>
          <p:nvSpPr>
            <p:cNvPr id="40985"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0986" name="组合 128"/>
            <p:cNvGrpSpPr>
              <a:grpSpLocks/>
            </p:cNvGrpSpPr>
            <p:nvPr/>
          </p:nvGrpSpPr>
          <p:grpSpPr bwMode="auto">
            <a:xfrm>
              <a:off x="5149850" y="4865143"/>
              <a:ext cx="249687" cy="273256"/>
              <a:chOff x="5149850" y="4865143"/>
              <a:chExt cx="249687" cy="273256"/>
            </a:xfrm>
          </p:grpSpPr>
          <p:sp>
            <p:nvSpPr>
              <p:cNvPr id="4098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98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098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13" name="组合 261"/>
          <p:cNvGrpSpPr>
            <a:grpSpLocks/>
          </p:cNvGrpSpPr>
          <p:nvPr/>
        </p:nvGrpSpPr>
        <p:grpSpPr bwMode="auto">
          <a:xfrm rot="2189922">
            <a:off x="8815705" y="3259455"/>
            <a:ext cx="254000" cy="434975"/>
            <a:chOff x="5149850" y="4703444"/>
            <a:chExt cx="253825" cy="434955"/>
          </a:xfrm>
        </p:grpSpPr>
        <p:sp>
          <p:nvSpPr>
            <p:cNvPr id="40991"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0992" name="组合 128"/>
            <p:cNvGrpSpPr>
              <a:grpSpLocks/>
            </p:cNvGrpSpPr>
            <p:nvPr/>
          </p:nvGrpSpPr>
          <p:grpSpPr bwMode="auto">
            <a:xfrm>
              <a:off x="5149850" y="4865143"/>
              <a:ext cx="249687" cy="273256"/>
              <a:chOff x="5149850" y="4865143"/>
              <a:chExt cx="249687" cy="273256"/>
            </a:xfrm>
          </p:grpSpPr>
          <p:sp>
            <p:nvSpPr>
              <p:cNvPr id="4099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099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099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sp>
        <p:nvSpPr>
          <p:cNvPr id="31" name="Oval 57"/>
          <p:cNvSpPr>
            <a:spLocks noChangeAspect="1" noChangeArrowheads="1"/>
          </p:cNvSpPr>
          <p:nvPr/>
        </p:nvSpPr>
        <p:spPr bwMode="auto">
          <a:xfrm rot="-5967303">
            <a:off x="8171974" y="3168174"/>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15" name="组合 128"/>
          <p:cNvGrpSpPr>
            <a:grpSpLocks/>
          </p:cNvGrpSpPr>
          <p:nvPr/>
        </p:nvGrpSpPr>
        <p:grpSpPr bwMode="auto">
          <a:xfrm rot="-5967303">
            <a:off x="8249761" y="2839562"/>
            <a:ext cx="250825" cy="274638"/>
            <a:chOff x="5149850" y="4865143"/>
            <a:chExt cx="249687" cy="273256"/>
          </a:xfrm>
        </p:grpSpPr>
        <p:sp>
          <p:nvSpPr>
            <p:cNvPr id="4099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099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0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16" name="组合 273"/>
          <p:cNvGrpSpPr>
            <a:grpSpLocks/>
          </p:cNvGrpSpPr>
          <p:nvPr/>
        </p:nvGrpSpPr>
        <p:grpSpPr bwMode="auto">
          <a:xfrm>
            <a:off x="8282305" y="3723005"/>
            <a:ext cx="254000" cy="434975"/>
            <a:chOff x="5149850" y="4703444"/>
            <a:chExt cx="253825" cy="434955"/>
          </a:xfrm>
        </p:grpSpPr>
        <p:sp>
          <p:nvSpPr>
            <p:cNvPr id="4100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1003" name="组合 128"/>
            <p:cNvGrpSpPr>
              <a:grpSpLocks/>
            </p:cNvGrpSpPr>
            <p:nvPr/>
          </p:nvGrpSpPr>
          <p:grpSpPr bwMode="auto">
            <a:xfrm>
              <a:off x="5149850" y="4865143"/>
              <a:ext cx="249687" cy="273256"/>
              <a:chOff x="5149850" y="4865143"/>
              <a:chExt cx="249687" cy="273256"/>
            </a:xfrm>
          </p:grpSpPr>
          <p:sp>
            <p:nvSpPr>
              <p:cNvPr id="4100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0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0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18" name="组合 279"/>
          <p:cNvGrpSpPr>
            <a:grpSpLocks/>
          </p:cNvGrpSpPr>
          <p:nvPr/>
        </p:nvGrpSpPr>
        <p:grpSpPr bwMode="auto">
          <a:xfrm rot="953232">
            <a:off x="8771255" y="3792855"/>
            <a:ext cx="254000" cy="434975"/>
            <a:chOff x="5149850" y="4703444"/>
            <a:chExt cx="253825" cy="434955"/>
          </a:xfrm>
        </p:grpSpPr>
        <p:sp>
          <p:nvSpPr>
            <p:cNvPr id="4100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1009" name="组合 128"/>
            <p:cNvGrpSpPr>
              <a:grpSpLocks/>
            </p:cNvGrpSpPr>
            <p:nvPr/>
          </p:nvGrpSpPr>
          <p:grpSpPr bwMode="auto">
            <a:xfrm>
              <a:off x="5149850" y="4865143"/>
              <a:ext cx="249687" cy="273256"/>
              <a:chOff x="5149850" y="4865143"/>
              <a:chExt cx="249687" cy="273256"/>
            </a:xfrm>
          </p:grpSpPr>
          <p:sp>
            <p:nvSpPr>
              <p:cNvPr id="4101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1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1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20" name="组合 128"/>
          <p:cNvGrpSpPr>
            <a:grpSpLocks/>
          </p:cNvGrpSpPr>
          <p:nvPr/>
        </p:nvGrpSpPr>
        <p:grpSpPr bwMode="auto">
          <a:xfrm>
            <a:off x="7126605" y="2932430"/>
            <a:ext cx="249238" cy="273050"/>
            <a:chOff x="5149850" y="4865143"/>
            <a:chExt cx="249687" cy="273256"/>
          </a:xfrm>
        </p:grpSpPr>
        <p:sp>
          <p:nvSpPr>
            <p:cNvPr id="4101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1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1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21" name="组合 128"/>
          <p:cNvGrpSpPr>
            <a:grpSpLocks/>
          </p:cNvGrpSpPr>
          <p:nvPr/>
        </p:nvGrpSpPr>
        <p:grpSpPr bwMode="auto">
          <a:xfrm rot="4827573">
            <a:off x="7130574" y="3372962"/>
            <a:ext cx="249237" cy="273050"/>
            <a:chOff x="5149850" y="4865143"/>
            <a:chExt cx="249687" cy="273256"/>
          </a:xfrm>
        </p:grpSpPr>
        <p:sp>
          <p:nvSpPr>
            <p:cNvPr id="4101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1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2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22" name="组合 128"/>
          <p:cNvGrpSpPr>
            <a:grpSpLocks/>
          </p:cNvGrpSpPr>
          <p:nvPr/>
        </p:nvGrpSpPr>
        <p:grpSpPr bwMode="auto">
          <a:xfrm rot="-3574045">
            <a:off x="7144861" y="3834924"/>
            <a:ext cx="249238" cy="273050"/>
            <a:chOff x="5149850" y="4865143"/>
            <a:chExt cx="249687" cy="273256"/>
          </a:xfrm>
        </p:grpSpPr>
        <p:sp>
          <p:nvSpPr>
            <p:cNvPr id="4102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02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2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sp>
        <p:nvSpPr>
          <p:cNvPr id="62" name="Oval 57"/>
          <p:cNvSpPr>
            <a:spLocks noChangeAspect="1" noChangeArrowheads="1"/>
          </p:cNvSpPr>
          <p:nvPr/>
        </p:nvSpPr>
        <p:spPr bwMode="auto">
          <a:xfrm rot="-4849534">
            <a:off x="8137049" y="4174649"/>
            <a:ext cx="101600" cy="103188"/>
          </a:xfrm>
          <a:prstGeom prst="ellipse">
            <a:avLst/>
          </a:prstGeom>
          <a:solidFill>
            <a:srgbClr val="0000FF"/>
          </a:solidFill>
          <a:ln w="1587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nvGrpSpPr>
          <p:cNvPr id="23" name="组合 128"/>
          <p:cNvGrpSpPr>
            <a:grpSpLocks/>
          </p:cNvGrpSpPr>
          <p:nvPr/>
        </p:nvGrpSpPr>
        <p:grpSpPr bwMode="auto">
          <a:xfrm rot="-4849534">
            <a:off x="8294211" y="4365149"/>
            <a:ext cx="249238" cy="273050"/>
            <a:chOff x="5149850" y="4865143"/>
            <a:chExt cx="249687" cy="273256"/>
          </a:xfrm>
        </p:grpSpPr>
        <p:sp>
          <p:nvSpPr>
            <p:cNvPr id="4102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102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sp>
          <p:nvSpPr>
            <p:cNvPr id="4102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grpSp>
      <p:grpSp>
        <p:nvGrpSpPr>
          <p:cNvPr id="24" name="组合 309"/>
          <p:cNvGrpSpPr>
            <a:grpSpLocks/>
          </p:cNvGrpSpPr>
          <p:nvPr/>
        </p:nvGrpSpPr>
        <p:grpSpPr bwMode="auto">
          <a:xfrm>
            <a:off x="8815705" y="4192905"/>
            <a:ext cx="254000" cy="434975"/>
            <a:chOff x="5149850" y="4703444"/>
            <a:chExt cx="253825" cy="434955"/>
          </a:xfrm>
        </p:grpSpPr>
        <p:sp>
          <p:nvSpPr>
            <p:cNvPr id="41031"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1032" name="组合 128"/>
            <p:cNvGrpSpPr>
              <a:grpSpLocks/>
            </p:cNvGrpSpPr>
            <p:nvPr/>
          </p:nvGrpSpPr>
          <p:grpSpPr bwMode="auto">
            <a:xfrm>
              <a:off x="5149850" y="4865143"/>
              <a:ext cx="249687" cy="273256"/>
              <a:chOff x="5149850" y="4865143"/>
              <a:chExt cx="249687" cy="273256"/>
            </a:xfrm>
          </p:grpSpPr>
          <p:sp>
            <p:nvSpPr>
              <p:cNvPr id="4103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103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sp>
            <p:nvSpPr>
              <p:cNvPr id="4103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grpSp>
      </p:grpSp>
      <p:grpSp>
        <p:nvGrpSpPr>
          <p:cNvPr id="26" name="组合 128"/>
          <p:cNvGrpSpPr>
            <a:grpSpLocks/>
          </p:cNvGrpSpPr>
          <p:nvPr/>
        </p:nvGrpSpPr>
        <p:grpSpPr bwMode="auto">
          <a:xfrm rot="9849479">
            <a:off x="7155180" y="4221480"/>
            <a:ext cx="250825" cy="273050"/>
            <a:chOff x="5149850" y="4865143"/>
            <a:chExt cx="249687" cy="273256"/>
          </a:xfrm>
        </p:grpSpPr>
        <p:sp>
          <p:nvSpPr>
            <p:cNvPr id="4103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103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sp>
          <p:nvSpPr>
            <p:cNvPr id="4103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grpSp>
      <p:grpSp>
        <p:nvGrpSpPr>
          <p:cNvPr id="27" name="组合 128"/>
          <p:cNvGrpSpPr>
            <a:grpSpLocks/>
          </p:cNvGrpSpPr>
          <p:nvPr/>
        </p:nvGrpSpPr>
        <p:grpSpPr bwMode="auto">
          <a:xfrm>
            <a:off x="7628255" y="2941955"/>
            <a:ext cx="249238" cy="273050"/>
            <a:chOff x="5149850" y="4865143"/>
            <a:chExt cx="249687" cy="273256"/>
          </a:xfrm>
        </p:grpSpPr>
        <p:sp>
          <p:nvSpPr>
            <p:cNvPr id="4104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4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4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28" name="组合 128"/>
          <p:cNvGrpSpPr>
            <a:grpSpLocks/>
          </p:cNvGrpSpPr>
          <p:nvPr/>
        </p:nvGrpSpPr>
        <p:grpSpPr bwMode="auto">
          <a:xfrm rot="4827573">
            <a:off x="7646511" y="3328512"/>
            <a:ext cx="249237" cy="273050"/>
            <a:chOff x="5149850" y="4865143"/>
            <a:chExt cx="249687" cy="273256"/>
          </a:xfrm>
        </p:grpSpPr>
        <p:sp>
          <p:nvSpPr>
            <p:cNvPr id="4104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4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4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29" name="组合 128"/>
          <p:cNvGrpSpPr>
            <a:grpSpLocks/>
          </p:cNvGrpSpPr>
          <p:nvPr/>
        </p:nvGrpSpPr>
        <p:grpSpPr bwMode="auto">
          <a:xfrm rot="-3574045">
            <a:off x="7678261" y="3834924"/>
            <a:ext cx="249238" cy="273050"/>
            <a:chOff x="5149850" y="4865143"/>
            <a:chExt cx="249687" cy="273256"/>
          </a:xfrm>
        </p:grpSpPr>
        <p:sp>
          <p:nvSpPr>
            <p:cNvPr id="41049"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050"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1051"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30" name="组合 128"/>
          <p:cNvGrpSpPr>
            <a:grpSpLocks/>
          </p:cNvGrpSpPr>
          <p:nvPr/>
        </p:nvGrpSpPr>
        <p:grpSpPr bwMode="auto">
          <a:xfrm rot="9849479">
            <a:off x="7696518" y="4267518"/>
            <a:ext cx="249237" cy="273050"/>
            <a:chOff x="5149850" y="4865143"/>
            <a:chExt cx="249687" cy="273256"/>
          </a:xfrm>
        </p:grpSpPr>
        <p:sp>
          <p:nvSpPr>
            <p:cNvPr id="4105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105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sp>
          <p:nvSpPr>
            <p:cNvPr id="4105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b="1">
                <a:latin typeface="微软雅黑" pitchFamily="34" charset="-122"/>
                <a:ea typeface="微软雅黑" pitchFamily="34" charset="-122"/>
              </a:endParaRPr>
            </a:p>
          </p:txBody>
        </p:sp>
      </p:grpSp>
      <p:grpSp>
        <p:nvGrpSpPr>
          <p:cNvPr id="32" name="组合 346"/>
          <p:cNvGrpSpPr>
            <a:grpSpLocks/>
          </p:cNvGrpSpPr>
          <p:nvPr/>
        </p:nvGrpSpPr>
        <p:grpSpPr bwMode="auto">
          <a:xfrm rot="-2359440">
            <a:off x="4612005" y="3170555"/>
            <a:ext cx="265113" cy="436563"/>
            <a:chOff x="3708391" y="4698272"/>
            <a:chExt cx="265290" cy="436662"/>
          </a:xfrm>
        </p:grpSpPr>
        <p:sp>
          <p:nvSpPr>
            <p:cNvPr id="4105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1058" name="组合 127"/>
            <p:cNvGrpSpPr>
              <a:grpSpLocks/>
            </p:cNvGrpSpPr>
            <p:nvPr/>
          </p:nvGrpSpPr>
          <p:grpSpPr bwMode="auto">
            <a:xfrm>
              <a:off x="3723561" y="4885168"/>
              <a:ext cx="250120" cy="249766"/>
              <a:chOff x="3723561" y="4885168"/>
              <a:chExt cx="250120" cy="249766"/>
            </a:xfrm>
          </p:grpSpPr>
          <p:sp>
            <p:nvSpPr>
              <p:cNvPr id="4105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06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4" name="组合 351"/>
          <p:cNvGrpSpPr>
            <a:grpSpLocks/>
          </p:cNvGrpSpPr>
          <p:nvPr/>
        </p:nvGrpSpPr>
        <p:grpSpPr bwMode="auto">
          <a:xfrm rot="-1373637">
            <a:off x="4623118" y="3659505"/>
            <a:ext cx="265112" cy="436563"/>
            <a:chOff x="3708391" y="4698272"/>
            <a:chExt cx="265290" cy="436662"/>
          </a:xfrm>
        </p:grpSpPr>
        <p:sp>
          <p:nvSpPr>
            <p:cNvPr id="41062"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1063" name="组合 127"/>
            <p:cNvGrpSpPr>
              <a:grpSpLocks/>
            </p:cNvGrpSpPr>
            <p:nvPr/>
          </p:nvGrpSpPr>
          <p:grpSpPr bwMode="auto">
            <a:xfrm>
              <a:off x="3723561" y="4885168"/>
              <a:ext cx="250120" cy="249766"/>
              <a:chOff x="3723561" y="4885168"/>
              <a:chExt cx="250120" cy="249766"/>
            </a:xfrm>
          </p:grpSpPr>
          <p:sp>
            <p:nvSpPr>
              <p:cNvPr id="4106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06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36" name="组合 356"/>
          <p:cNvGrpSpPr>
            <a:grpSpLocks/>
          </p:cNvGrpSpPr>
          <p:nvPr/>
        </p:nvGrpSpPr>
        <p:grpSpPr bwMode="auto">
          <a:xfrm rot="2420365">
            <a:off x="4751705" y="4148455"/>
            <a:ext cx="265113" cy="436563"/>
            <a:chOff x="3708391" y="4698272"/>
            <a:chExt cx="265290" cy="436662"/>
          </a:xfrm>
        </p:grpSpPr>
        <p:sp>
          <p:nvSpPr>
            <p:cNvPr id="4106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1068" name="组合 127"/>
            <p:cNvGrpSpPr>
              <a:grpSpLocks/>
            </p:cNvGrpSpPr>
            <p:nvPr/>
          </p:nvGrpSpPr>
          <p:grpSpPr bwMode="auto">
            <a:xfrm>
              <a:off x="3723561" y="4885168"/>
              <a:ext cx="250120" cy="249766"/>
              <a:chOff x="3723561" y="4885168"/>
              <a:chExt cx="250120" cy="249766"/>
            </a:xfrm>
          </p:grpSpPr>
          <p:sp>
            <p:nvSpPr>
              <p:cNvPr id="4106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107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b="1">
                  <a:latin typeface="微软雅黑" pitchFamily="34" charset="-122"/>
                  <a:ea typeface="微软雅黑" pitchFamily="34" charset="-122"/>
                </a:endParaRPr>
              </a:p>
            </p:txBody>
          </p:sp>
        </p:grpSp>
      </p:grpSp>
      <p:grpSp>
        <p:nvGrpSpPr>
          <p:cNvPr id="38" name="组合 361"/>
          <p:cNvGrpSpPr>
            <a:grpSpLocks/>
          </p:cNvGrpSpPr>
          <p:nvPr/>
        </p:nvGrpSpPr>
        <p:grpSpPr bwMode="auto">
          <a:xfrm rot="-3005031">
            <a:off x="5046981" y="2756217"/>
            <a:ext cx="265112" cy="436563"/>
            <a:chOff x="3708391" y="4698272"/>
            <a:chExt cx="265290" cy="436662"/>
          </a:xfrm>
        </p:grpSpPr>
        <p:sp>
          <p:nvSpPr>
            <p:cNvPr id="41072"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nvGrpSpPr>
            <p:cNvPr id="41073" name="组合 127"/>
            <p:cNvGrpSpPr>
              <a:grpSpLocks/>
            </p:cNvGrpSpPr>
            <p:nvPr/>
          </p:nvGrpSpPr>
          <p:grpSpPr bwMode="auto">
            <a:xfrm>
              <a:off x="3723561" y="4885168"/>
              <a:ext cx="250120" cy="249766"/>
              <a:chOff x="3723561" y="4885168"/>
              <a:chExt cx="250120" cy="249766"/>
            </a:xfrm>
          </p:grpSpPr>
          <p:sp>
            <p:nvSpPr>
              <p:cNvPr id="4107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4107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0" name="组合 366"/>
          <p:cNvGrpSpPr>
            <a:grpSpLocks/>
          </p:cNvGrpSpPr>
          <p:nvPr/>
        </p:nvGrpSpPr>
        <p:grpSpPr bwMode="auto">
          <a:xfrm rot="-2714394">
            <a:off x="5019199" y="3163412"/>
            <a:ext cx="266700" cy="436562"/>
            <a:chOff x="3708391" y="4698272"/>
            <a:chExt cx="265290" cy="436662"/>
          </a:xfrm>
        </p:grpSpPr>
        <p:sp>
          <p:nvSpPr>
            <p:cNvPr id="4107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1078" name="组合 127"/>
            <p:cNvGrpSpPr>
              <a:grpSpLocks/>
            </p:cNvGrpSpPr>
            <p:nvPr/>
          </p:nvGrpSpPr>
          <p:grpSpPr bwMode="auto">
            <a:xfrm>
              <a:off x="3723561" y="4885168"/>
              <a:ext cx="250120" cy="249766"/>
              <a:chOff x="3723561" y="4885168"/>
              <a:chExt cx="250120" cy="249766"/>
            </a:xfrm>
          </p:grpSpPr>
          <p:sp>
            <p:nvSpPr>
              <p:cNvPr id="4107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08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sp>
        <p:nvSpPr>
          <p:cNvPr id="122" name="Oval 41"/>
          <p:cNvSpPr>
            <a:spLocks noChangeAspect="1" noChangeArrowheads="1"/>
          </p:cNvSpPr>
          <p:nvPr/>
        </p:nvSpPr>
        <p:spPr bwMode="auto">
          <a:xfrm rot="137966">
            <a:off x="5289868" y="3597593"/>
            <a:ext cx="125412" cy="127000"/>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2" name="组合 127"/>
          <p:cNvGrpSpPr>
            <a:grpSpLocks/>
          </p:cNvGrpSpPr>
          <p:nvPr/>
        </p:nvGrpSpPr>
        <p:grpSpPr bwMode="auto">
          <a:xfrm rot="2796568">
            <a:off x="5100162" y="3761899"/>
            <a:ext cx="249237" cy="250825"/>
            <a:chOff x="3723561" y="4885168"/>
            <a:chExt cx="250120" cy="249766"/>
          </a:xfrm>
        </p:grpSpPr>
        <p:sp>
          <p:nvSpPr>
            <p:cNvPr id="4108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8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sp>
        <p:nvSpPr>
          <p:cNvPr id="127" name="Oval 41"/>
          <p:cNvSpPr>
            <a:spLocks noChangeAspect="1" noChangeArrowheads="1"/>
          </p:cNvSpPr>
          <p:nvPr/>
        </p:nvSpPr>
        <p:spPr bwMode="auto">
          <a:xfrm rot="-619212">
            <a:off x="5280343" y="4146868"/>
            <a:ext cx="125412" cy="128587"/>
          </a:xfrm>
          <a:prstGeom prst="ellipse">
            <a:avLst/>
          </a:prstGeom>
          <a:solidFill>
            <a:srgbClr val="FF00FF"/>
          </a:solidFill>
          <a:ln w="15875">
            <a:noFill/>
            <a:round/>
            <a:headEnd/>
            <a:tailEnd/>
          </a:ln>
        </p:spPr>
        <p:txBody>
          <a:bodyPr/>
          <a:lstStyle/>
          <a:p>
            <a:pPr defTabSz="914400"/>
            <a:endParaRPr lang="zh-CN" altLang="en-US" sz="2800" b="1">
              <a:latin typeface="微软雅黑" pitchFamily="34" charset="-122"/>
              <a:ea typeface="微软雅黑" pitchFamily="34" charset="-122"/>
            </a:endParaRPr>
          </a:p>
        </p:txBody>
      </p:sp>
      <p:grpSp>
        <p:nvGrpSpPr>
          <p:cNvPr id="43" name="组合 127"/>
          <p:cNvGrpSpPr>
            <a:grpSpLocks/>
          </p:cNvGrpSpPr>
          <p:nvPr/>
        </p:nvGrpSpPr>
        <p:grpSpPr bwMode="auto">
          <a:xfrm rot="2039390">
            <a:off x="5143818" y="4335780"/>
            <a:ext cx="249237" cy="250825"/>
            <a:chOff x="3723561" y="4885168"/>
            <a:chExt cx="250120" cy="249766"/>
          </a:xfrm>
        </p:grpSpPr>
        <p:sp>
          <p:nvSpPr>
            <p:cNvPr id="4108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108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b="1">
                <a:latin typeface="微软雅黑" pitchFamily="34" charset="-122"/>
                <a:ea typeface="微软雅黑" pitchFamily="34" charset="-122"/>
              </a:endParaRPr>
            </a:p>
          </p:txBody>
        </p:sp>
      </p:grpSp>
      <p:grpSp>
        <p:nvGrpSpPr>
          <p:cNvPr id="44" name="组合 127"/>
          <p:cNvGrpSpPr>
            <a:grpSpLocks/>
          </p:cNvGrpSpPr>
          <p:nvPr/>
        </p:nvGrpSpPr>
        <p:grpSpPr bwMode="auto">
          <a:xfrm rot="3206337">
            <a:off x="5716112" y="2880836"/>
            <a:ext cx="249238" cy="250825"/>
            <a:chOff x="3723561" y="4885168"/>
            <a:chExt cx="250120" cy="249766"/>
          </a:xfrm>
        </p:grpSpPr>
        <p:sp>
          <p:nvSpPr>
            <p:cNvPr id="4109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9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5" name="组合 127"/>
          <p:cNvGrpSpPr>
            <a:grpSpLocks/>
          </p:cNvGrpSpPr>
          <p:nvPr/>
        </p:nvGrpSpPr>
        <p:grpSpPr bwMode="auto">
          <a:xfrm rot="-1818148">
            <a:off x="5720080" y="3289618"/>
            <a:ext cx="249238" cy="249237"/>
            <a:chOff x="3723561" y="4885168"/>
            <a:chExt cx="250120" cy="249766"/>
          </a:xfrm>
        </p:grpSpPr>
        <p:sp>
          <p:nvSpPr>
            <p:cNvPr id="4109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09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 name="组合 127"/>
          <p:cNvGrpSpPr>
            <a:grpSpLocks/>
          </p:cNvGrpSpPr>
          <p:nvPr/>
        </p:nvGrpSpPr>
        <p:grpSpPr bwMode="auto">
          <a:xfrm rot="2365828">
            <a:off x="5713730" y="3773805"/>
            <a:ext cx="250825" cy="249238"/>
            <a:chOff x="3723561" y="4885168"/>
            <a:chExt cx="250120" cy="249766"/>
          </a:xfrm>
        </p:grpSpPr>
        <p:sp>
          <p:nvSpPr>
            <p:cNvPr id="4109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09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7" name="组合 127"/>
          <p:cNvGrpSpPr>
            <a:grpSpLocks/>
          </p:cNvGrpSpPr>
          <p:nvPr/>
        </p:nvGrpSpPr>
        <p:grpSpPr bwMode="auto">
          <a:xfrm rot="3156746">
            <a:off x="5716112" y="4312761"/>
            <a:ext cx="249238" cy="250825"/>
            <a:chOff x="3723561" y="4885168"/>
            <a:chExt cx="250120" cy="249766"/>
          </a:xfrm>
        </p:grpSpPr>
        <p:sp>
          <p:nvSpPr>
            <p:cNvPr id="4109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110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b="1">
                <a:latin typeface="微软雅黑" pitchFamily="34" charset="-122"/>
                <a:ea typeface="微软雅黑" pitchFamily="34" charset="-122"/>
              </a:endParaRPr>
            </a:p>
          </p:txBody>
        </p:sp>
      </p:grpSp>
      <p:grpSp>
        <p:nvGrpSpPr>
          <p:cNvPr id="48" name="组合 127"/>
          <p:cNvGrpSpPr>
            <a:grpSpLocks/>
          </p:cNvGrpSpPr>
          <p:nvPr/>
        </p:nvGrpSpPr>
        <p:grpSpPr bwMode="auto">
          <a:xfrm rot="2191984">
            <a:off x="6248718" y="2943543"/>
            <a:ext cx="250825" cy="249237"/>
            <a:chOff x="3723561" y="4885168"/>
            <a:chExt cx="250120" cy="249766"/>
          </a:xfrm>
        </p:grpSpPr>
        <p:sp>
          <p:nvSpPr>
            <p:cNvPr id="4110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10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9" name="组合 127"/>
          <p:cNvGrpSpPr>
            <a:grpSpLocks/>
          </p:cNvGrpSpPr>
          <p:nvPr/>
        </p:nvGrpSpPr>
        <p:grpSpPr bwMode="auto">
          <a:xfrm rot="-2117408">
            <a:off x="6229668" y="3380105"/>
            <a:ext cx="249237" cy="249238"/>
            <a:chOff x="3723561" y="4885168"/>
            <a:chExt cx="250120" cy="249766"/>
          </a:xfrm>
        </p:grpSpPr>
        <p:sp>
          <p:nvSpPr>
            <p:cNvPr id="4110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110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50" name="组合 127"/>
          <p:cNvGrpSpPr>
            <a:grpSpLocks/>
          </p:cNvGrpSpPr>
          <p:nvPr/>
        </p:nvGrpSpPr>
        <p:grpSpPr bwMode="auto">
          <a:xfrm rot="3431710">
            <a:off x="6228080" y="3854768"/>
            <a:ext cx="249237" cy="249238"/>
            <a:chOff x="3723561" y="4885168"/>
            <a:chExt cx="250120" cy="249766"/>
          </a:xfrm>
        </p:grpSpPr>
        <p:sp>
          <p:nvSpPr>
            <p:cNvPr id="4110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10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51" name="组合 127"/>
          <p:cNvGrpSpPr>
            <a:grpSpLocks/>
          </p:cNvGrpSpPr>
          <p:nvPr/>
        </p:nvGrpSpPr>
        <p:grpSpPr bwMode="auto">
          <a:xfrm rot="2750622">
            <a:off x="6227286" y="4358799"/>
            <a:ext cx="250825" cy="249238"/>
            <a:chOff x="3723561" y="4885168"/>
            <a:chExt cx="250120" cy="249766"/>
          </a:xfrm>
        </p:grpSpPr>
        <p:sp>
          <p:nvSpPr>
            <p:cNvPr id="4111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4111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b="1">
                <a:latin typeface="微软雅黑" pitchFamily="34" charset="-122"/>
                <a:ea typeface="微软雅黑" pitchFamily="34" charset="-122"/>
              </a:endParaRPr>
            </a:p>
          </p:txBody>
        </p:sp>
      </p:grpSp>
      <p:sp>
        <p:nvSpPr>
          <p:cNvPr id="159" name="Text Box 124"/>
          <p:cNvSpPr txBox="1">
            <a:spLocks noChangeArrowheads="1"/>
          </p:cNvSpPr>
          <p:nvPr/>
        </p:nvSpPr>
        <p:spPr bwMode="auto">
          <a:xfrm>
            <a:off x="5526405" y="2221230"/>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楷体_GB2312" pitchFamily="49" charset="-122"/>
                <a:cs typeface="Times New Roman" pitchFamily="18" charset="0"/>
              </a:rPr>
              <a:t>P</a:t>
            </a:r>
            <a:endParaRPr lang="zh-CN" altLang="zh-CN" sz="7200" b="1">
              <a:latin typeface="Times New Roman" pitchFamily="18" charset="0"/>
              <a:ea typeface="楷体_GB2312" pitchFamily="49" charset="-122"/>
              <a:cs typeface="Times New Roman" pitchFamily="18" charset="0"/>
            </a:endParaRPr>
          </a:p>
        </p:txBody>
      </p:sp>
      <p:sp>
        <p:nvSpPr>
          <p:cNvPr id="160" name="Text Box 124"/>
          <p:cNvSpPr txBox="1">
            <a:spLocks noChangeArrowheads="1"/>
          </p:cNvSpPr>
          <p:nvPr/>
        </p:nvSpPr>
        <p:spPr bwMode="auto">
          <a:xfrm>
            <a:off x="7866380" y="2221230"/>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楷体_GB2312" pitchFamily="49" charset="-122"/>
                <a:cs typeface="Times New Roman" pitchFamily="18" charset="0"/>
              </a:rPr>
              <a:t>N</a:t>
            </a:r>
            <a:endParaRPr lang="zh-CN" altLang="zh-CN" sz="7200" b="1">
              <a:latin typeface="Times New Roman" pitchFamily="18" charset="0"/>
              <a:ea typeface="楷体_GB2312" pitchFamily="49" charset="-122"/>
              <a:cs typeface="Times New Roman" pitchFamily="18" charset="0"/>
            </a:endParaRPr>
          </a:p>
        </p:txBody>
      </p:sp>
      <p:sp>
        <p:nvSpPr>
          <p:cNvPr id="161" name="Rectangle 13"/>
          <p:cNvSpPr>
            <a:spLocks noChangeArrowheads="1"/>
          </p:cNvSpPr>
          <p:nvPr/>
        </p:nvSpPr>
        <p:spPr bwMode="auto">
          <a:xfrm>
            <a:off x="5526405" y="2745105"/>
            <a:ext cx="2474913" cy="1944688"/>
          </a:xfrm>
          <a:prstGeom prst="rect">
            <a:avLst/>
          </a:prstGeom>
          <a:noFill/>
          <a:ln w="63500">
            <a:solidFill>
              <a:srgbClr val="0000FF"/>
            </a:solidFill>
            <a:prstDash val="dash"/>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sp>
        <p:nvSpPr>
          <p:cNvPr id="162" name="Rectangle 8"/>
          <p:cNvSpPr>
            <a:spLocks noChangeArrowheads="1"/>
          </p:cNvSpPr>
          <p:nvPr/>
        </p:nvSpPr>
        <p:spPr bwMode="auto">
          <a:xfrm>
            <a:off x="3392805" y="6254433"/>
            <a:ext cx="7334250" cy="579437"/>
          </a:xfrm>
          <a:prstGeom prst="rect">
            <a:avLst/>
          </a:prstGeom>
          <a:solidFill>
            <a:srgbClr val="FFC000"/>
          </a:solid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反向偏压增大，耗尽层越来越厚</a:t>
            </a:r>
            <a:r>
              <a:rPr lang="en-US" altLang="zh-CN" sz="3200" b="1" dirty="0">
                <a:latin typeface="微软雅黑" pitchFamily="34" charset="-122"/>
                <a:ea typeface="微软雅黑" pitchFamily="34" charset="-122"/>
              </a:rPr>
              <a:t>···</a:t>
            </a:r>
          </a:p>
        </p:txBody>
      </p:sp>
      <p:sp>
        <p:nvSpPr>
          <p:cNvPr id="163" name="Text Box 5"/>
          <p:cNvSpPr txBox="1">
            <a:spLocks noChangeArrowheads="1"/>
          </p:cNvSpPr>
          <p:nvPr/>
        </p:nvSpPr>
        <p:spPr bwMode="auto">
          <a:xfrm>
            <a:off x="2903855" y="5100955"/>
            <a:ext cx="2736850" cy="588963"/>
          </a:xfrm>
          <a:prstGeom prst="rect">
            <a:avLst/>
          </a:prstGeom>
          <a:solidFill>
            <a:srgbClr val="0000FF"/>
          </a:solidFill>
          <a:ln w="9525">
            <a:solidFill>
              <a:schemeClr val="accent1"/>
            </a:solidFill>
            <a:miter lim="800000"/>
            <a:headEnd/>
            <a:tailEnd/>
          </a:ln>
        </p:spPr>
        <p:txBody>
          <a:bodyPr>
            <a:spAutoFit/>
          </a:bodyPr>
          <a:lstStyle/>
          <a:p>
            <a:pPr defTabSz="914400">
              <a:spcBef>
                <a:spcPct val="50000"/>
              </a:spcBef>
            </a:pPr>
            <a:r>
              <a:rPr lang="zh-CN" altLang="en-US" sz="3200" b="1">
                <a:solidFill>
                  <a:schemeClr val="bg1"/>
                </a:solidFill>
                <a:latin typeface="微软雅黑" pitchFamily="34" charset="-122"/>
                <a:ea typeface="微软雅黑" pitchFamily="34" charset="-122"/>
              </a:rPr>
              <a:t>负离子数增加</a:t>
            </a:r>
          </a:p>
        </p:txBody>
      </p:sp>
      <p:sp>
        <p:nvSpPr>
          <p:cNvPr id="164" name="Text Box 6"/>
          <p:cNvSpPr txBox="1">
            <a:spLocks noChangeArrowheads="1"/>
          </p:cNvSpPr>
          <p:nvPr/>
        </p:nvSpPr>
        <p:spPr bwMode="auto">
          <a:xfrm>
            <a:off x="8060055" y="5100955"/>
            <a:ext cx="2808288" cy="588963"/>
          </a:xfrm>
          <a:prstGeom prst="rect">
            <a:avLst/>
          </a:prstGeom>
          <a:solidFill>
            <a:srgbClr val="0000FF"/>
          </a:solidFill>
          <a:ln w="9525">
            <a:solidFill>
              <a:schemeClr val="accent1"/>
            </a:solidFill>
            <a:miter lim="800000"/>
            <a:headEnd/>
            <a:tailEnd/>
          </a:ln>
        </p:spPr>
        <p:txBody>
          <a:bodyPr>
            <a:spAutoFit/>
          </a:bodyPr>
          <a:lstStyle/>
          <a:p>
            <a:pPr defTabSz="914400">
              <a:spcBef>
                <a:spcPct val="50000"/>
              </a:spcBef>
            </a:pPr>
            <a:r>
              <a:rPr lang="zh-CN" altLang="en-US" sz="3200" b="1">
                <a:solidFill>
                  <a:schemeClr val="bg1"/>
                </a:solidFill>
                <a:latin typeface="微软雅黑" pitchFamily="34" charset="-122"/>
                <a:ea typeface="微软雅黑" pitchFamily="34" charset="-122"/>
              </a:rPr>
              <a:t>正离子数增加</a:t>
            </a:r>
          </a:p>
        </p:txBody>
      </p:sp>
      <p:sp>
        <p:nvSpPr>
          <p:cNvPr id="165" name="Line 7"/>
          <p:cNvSpPr>
            <a:spLocks noChangeShapeType="1"/>
          </p:cNvSpPr>
          <p:nvPr/>
        </p:nvSpPr>
        <p:spPr bwMode="auto">
          <a:xfrm flipV="1">
            <a:off x="5364480" y="4567555"/>
            <a:ext cx="695325" cy="525463"/>
          </a:xfrm>
          <a:prstGeom prst="line">
            <a:avLst/>
          </a:prstGeom>
          <a:noFill/>
          <a:ln w="38100">
            <a:solidFill>
              <a:srgbClr val="FF0000"/>
            </a:solidFill>
            <a:round/>
            <a:headEnd/>
            <a:tailEnd type="triangle" w="med" len="med"/>
          </a:ln>
        </p:spPr>
        <p:txBody>
          <a:bodyPr/>
          <a:lstStyle/>
          <a:p>
            <a:endParaRPr lang="zh-CN" altLang="en-US" b="1">
              <a:latin typeface="微软雅黑" pitchFamily="34" charset="-122"/>
              <a:ea typeface="微软雅黑" pitchFamily="34" charset="-122"/>
            </a:endParaRPr>
          </a:p>
        </p:txBody>
      </p:sp>
      <p:sp>
        <p:nvSpPr>
          <p:cNvPr id="166" name="Line 8"/>
          <p:cNvSpPr>
            <a:spLocks noChangeShapeType="1"/>
          </p:cNvSpPr>
          <p:nvPr/>
        </p:nvSpPr>
        <p:spPr bwMode="auto">
          <a:xfrm flipH="1" flipV="1">
            <a:off x="7525068" y="4661218"/>
            <a:ext cx="719137" cy="431800"/>
          </a:xfrm>
          <a:prstGeom prst="line">
            <a:avLst/>
          </a:prstGeom>
          <a:noFill/>
          <a:ln w="38100">
            <a:solidFill>
              <a:srgbClr val="FF0000"/>
            </a:solidFill>
            <a:round/>
            <a:headEnd/>
            <a:tailEnd type="triangle" w="med" len="med"/>
          </a:ln>
        </p:spPr>
        <p:txBody>
          <a:bodyPr/>
          <a:lstStyle/>
          <a:p>
            <a:endParaRPr lang="zh-CN" altLang="en-US" b="1">
              <a:latin typeface="微软雅黑" pitchFamily="34" charset="-122"/>
              <a:ea typeface="微软雅黑" pitchFamily="34" charset="-122"/>
            </a:endParaRPr>
          </a:p>
        </p:txBody>
      </p:sp>
      <p:sp>
        <p:nvSpPr>
          <p:cNvPr id="167" name="文本框 60">
            <a:extLst>
              <a:ext uri="{FF2B5EF4-FFF2-40B4-BE49-F238E27FC236}">
                <a16:creationId xmlns="" xmlns:a16="http://schemas.microsoft.com/office/drawing/2014/main" id="{D042812A-E265-48A3-B4FD-9A266429402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68" name="矩形 167">
            <a:extLst>
              <a:ext uri="{FF2B5EF4-FFF2-40B4-BE49-F238E27FC236}">
                <a16:creationId xmlns="" xmlns:a16="http://schemas.microsoft.com/office/drawing/2014/main" id="{C69BFEA9-C103-43B6-9258-9E8B023EE1C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1" name="矩形 170">
            <a:extLst>
              <a:ext uri="{FF2B5EF4-FFF2-40B4-BE49-F238E27FC236}">
                <a16:creationId xmlns="" xmlns:a16="http://schemas.microsoft.com/office/drawing/2014/main" id="{4CA8C788-A4D4-43DA-864C-89B522377A41}"/>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矩形: 圆角 171">
            <a:extLst>
              <a:ext uri="{FF2B5EF4-FFF2-40B4-BE49-F238E27FC236}">
                <a16:creationId xmlns="" xmlns:a16="http://schemas.microsoft.com/office/drawing/2014/main" id="{6FB6D2D1-3646-47BD-A49A-35507D52AA40}"/>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3" name="直接连接符 58">
            <a:extLst>
              <a:ext uri="{FF2B5EF4-FFF2-40B4-BE49-F238E27FC236}">
                <a16:creationId xmlns="" xmlns:a16="http://schemas.microsoft.com/office/drawing/2014/main" id="{6B2D2E11-1608-4BAB-A4D1-D2456374BB0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4" name="矩形 173">
            <a:extLst>
              <a:ext uri="{FF2B5EF4-FFF2-40B4-BE49-F238E27FC236}">
                <a16:creationId xmlns="" xmlns:a16="http://schemas.microsoft.com/office/drawing/2014/main" id="{AA390894-A54B-4C71-94B0-F36AEB175B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5" name="矩形 174">
            <a:extLst>
              <a:ext uri="{FF2B5EF4-FFF2-40B4-BE49-F238E27FC236}">
                <a16:creationId xmlns="" xmlns:a16="http://schemas.microsoft.com/office/drawing/2014/main" id="{6E656BAD-C985-4188-8909-299E0BF7C94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50821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par>
                                <p:cTn id="16" presetID="4" presetClass="entr" presetSubtype="16"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ox(in)">
                                      <p:cBhvr>
                                        <p:cTn id="18" dur="500"/>
                                        <p:tgtEl>
                                          <p:spTgt spid="8"/>
                                        </p:tgtEl>
                                      </p:cBhvr>
                                    </p:animEffect>
                                  </p:childTnLst>
                                </p:cTn>
                              </p:par>
                              <p:par>
                                <p:cTn id="19" presetID="4" presetClass="entr" presetSubtype="16"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ox(in)">
                                      <p:cBhvr>
                                        <p:cTn id="21" dur="500"/>
                                        <p:tgtEl>
                                          <p:spTgt spid="9"/>
                                        </p:tgtEl>
                                      </p:cBhvr>
                                    </p:animEffect>
                                  </p:childTnLst>
                                </p:cTn>
                              </p:par>
                              <p:par>
                                <p:cTn id="22" presetID="4" presetClass="entr" presetSubtype="16"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ox(in)">
                                      <p:cBhvr>
                                        <p:cTn id="24" dur="500"/>
                                        <p:tgtEl>
                                          <p:spTgt spid="11"/>
                                        </p:tgtEl>
                                      </p:cBhvr>
                                    </p:animEffect>
                                  </p:childTnLst>
                                </p:cTn>
                              </p:par>
                              <p:par>
                                <p:cTn id="25" presetID="4" presetClass="entr" presetSubtype="16"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ox(in)">
                                      <p:cBhvr>
                                        <p:cTn id="27" dur="500"/>
                                        <p:tgtEl>
                                          <p:spTgt spid="13"/>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box(in)">
                                      <p:cBhvr>
                                        <p:cTn id="30" dur="500"/>
                                        <p:tgtEl>
                                          <p:spTgt spid="31"/>
                                        </p:tgtEl>
                                      </p:cBhvr>
                                    </p:animEffect>
                                  </p:childTnLst>
                                </p:cTn>
                              </p:par>
                              <p:par>
                                <p:cTn id="31" presetID="4" presetClass="entr" presetSubtype="16"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ox(in)">
                                      <p:cBhvr>
                                        <p:cTn id="33" dur="500"/>
                                        <p:tgtEl>
                                          <p:spTgt spid="15"/>
                                        </p:tgtEl>
                                      </p:cBhvr>
                                    </p:animEffect>
                                  </p:childTnLst>
                                </p:cTn>
                              </p:par>
                              <p:par>
                                <p:cTn id="34" presetID="4" presetClass="entr" presetSubtype="16"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ox(in)">
                                      <p:cBhvr>
                                        <p:cTn id="36" dur="500"/>
                                        <p:tgtEl>
                                          <p:spTgt spid="16"/>
                                        </p:tgtEl>
                                      </p:cBhvr>
                                    </p:animEffect>
                                  </p:childTnLst>
                                </p:cTn>
                              </p:par>
                              <p:par>
                                <p:cTn id="37" presetID="4" presetClass="entr" presetSubtype="16"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ox(in)">
                                      <p:cBhvr>
                                        <p:cTn id="39" dur="500"/>
                                        <p:tgtEl>
                                          <p:spTgt spid="18"/>
                                        </p:tgtEl>
                                      </p:cBhvr>
                                    </p:animEffect>
                                  </p:childTnLst>
                                </p:cTn>
                              </p:par>
                              <p:par>
                                <p:cTn id="40" presetID="4" presetClass="entr" presetSubtype="16"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ox(in)">
                                      <p:cBhvr>
                                        <p:cTn id="42" dur="500"/>
                                        <p:tgtEl>
                                          <p:spTgt spid="20"/>
                                        </p:tgtEl>
                                      </p:cBhvr>
                                    </p:animEffect>
                                  </p:childTnLst>
                                </p:cTn>
                              </p:par>
                              <p:par>
                                <p:cTn id="43" presetID="4" presetClass="entr" presetSubtype="16"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box(in)">
                                      <p:cBhvr>
                                        <p:cTn id="45" dur="500"/>
                                        <p:tgtEl>
                                          <p:spTgt spid="21"/>
                                        </p:tgtEl>
                                      </p:cBhvr>
                                    </p:animEffect>
                                  </p:childTnLst>
                                </p:cTn>
                              </p:par>
                              <p:par>
                                <p:cTn id="46" presetID="4" presetClass="entr" presetSubtype="16"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box(in)">
                                      <p:cBhvr>
                                        <p:cTn id="48" dur="500"/>
                                        <p:tgtEl>
                                          <p:spTgt spid="22"/>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box(in)">
                                      <p:cBhvr>
                                        <p:cTn id="51" dur="500"/>
                                        <p:tgtEl>
                                          <p:spTgt spid="62"/>
                                        </p:tgtEl>
                                      </p:cBhvr>
                                    </p:animEffect>
                                  </p:childTnLst>
                                </p:cTn>
                              </p:par>
                              <p:par>
                                <p:cTn id="52" presetID="4" presetClass="entr" presetSubtype="16"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box(in)">
                                      <p:cBhvr>
                                        <p:cTn id="54" dur="500"/>
                                        <p:tgtEl>
                                          <p:spTgt spid="23"/>
                                        </p:tgtEl>
                                      </p:cBhvr>
                                    </p:animEffect>
                                  </p:childTnLst>
                                </p:cTn>
                              </p:par>
                              <p:par>
                                <p:cTn id="55" presetID="4" presetClass="entr" presetSubtype="16"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box(in)">
                                      <p:cBhvr>
                                        <p:cTn id="57" dur="500"/>
                                        <p:tgtEl>
                                          <p:spTgt spid="24"/>
                                        </p:tgtEl>
                                      </p:cBhvr>
                                    </p:animEffect>
                                  </p:childTnLst>
                                </p:cTn>
                              </p:par>
                              <p:par>
                                <p:cTn id="58" presetID="4" presetClass="entr" presetSubtype="16" fill="hold"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box(in)">
                                      <p:cBhvr>
                                        <p:cTn id="60" dur="500"/>
                                        <p:tgtEl>
                                          <p:spTgt spid="26"/>
                                        </p:tgtEl>
                                      </p:cBhvr>
                                    </p:animEffect>
                                  </p:childTnLst>
                                </p:cTn>
                              </p:par>
                              <p:par>
                                <p:cTn id="61" presetID="4" presetClass="entr" presetSubtype="16"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box(in)">
                                      <p:cBhvr>
                                        <p:cTn id="63" dur="500"/>
                                        <p:tgtEl>
                                          <p:spTgt spid="27"/>
                                        </p:tgtEl>
                                      </p:cBhvr>
                                    </p:animEffect>
                                  </p:childTnLst>
                                </p:cTn>
                              </p:par>
                              <p:par>
                                <p:cTn id="64" presetID="4" presetClass="entr" presetSubtype="16"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box(in)">
                                      <p:cBhvr>
                                        <p:cTn id="66" dur="500"/>
                                        <p:tgtEl>
                                          <p:spTgt spid="28"/>
                                        </p:tgtEl>
                                      </p:cBhvr>
                                    </p:animEffect>
                                  </p:childTnLst>
                                </p:cTn>
                              </p:par>
                              <p:par>
                                <p:cTn id="67" presetID="4" presetClass="entr" presetSubtype="16"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box(in)">
                                      <p:cBhvr>
                                        <p:cTn id="69" dur="500"/>
                                        <p:tgtEl>
                                          <p:spTgt spid="29"/>
                                        </p:tgtEl>
                                      </p:cBhvr>
                                    </p:animEffect>
                                  </p:childTnLst>
                                </p:cTn>
                              </p:par>
                              <p:par>
                                <p:cTn id="70" presetID="4" presetClass="entr" presetSubtype="16"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box(in)">
                                      <p:cBhvr>
                                        <p:cTn id="72" dur="500"/>
                                        <p:tgtEl>
                                          <p:spTgt spid="30"/>
                                        </p:tgtEl>
                                      </p:cBhvr>
                                    </p:animEffect>
                                  </p:childTnLst>
                                </p:cTn>
                              </p:par>
                              <p:par>
                                <p:cTn id="73" presetID="4" presetClass="entr" presetSubtype="16" fill="hold"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box(in)">
                                      <p:cBhvr>
                                        <p:cTn id="75" dur="500"/>
                                        <p:tgtEl>
                                          <p:spTgt spid="32"/>
                                        </p:tgtEl>
                                      </p:cBhvr>
                                    </p:animEffect>
                                  </p:childTnLst>
                                </p:cTn>
                              </p:par>
                              <p:par>
                                <p:cTn id="76" presetID="4" presetClass="entr" presetSubtype="16" fill="hold"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box(in)">
                                      <p:cBhvr>
                                        <p:cTn id="78" dur="500"/>
                                        <p:tgtEl>
                                          <p:spTgt spid="34"/>
                                        </p:tgtEl>
                                      </p:cBhvr>
                                    </p:animEffect>
                                  </p:childTnLst>
                                </p:cTn>
                              </p:par>
                              <p:par>
                                <p:cTn id="79" presetID="4" presetClass="entr" presetSubtype="16" fill="hold"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box(in)">
                                      <p:cBhvr>
                                        <p:cTn id="81" dur="500"/>
                                        <p:tgtEl>
                                          <p:spTgt spid="36"/>
                                        </p:tgtEl>
                                      </p:cBhvr>
                                    </p:animEffect>
                                  </p:childTnLst>
                                </p:cTn>
                              </p:par>
                              <p:par>
                                <p:cTn id="82" presetID="4" presetClass="entr" presetSubtype="16" fill="hold" nodeType="with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box(in)">
                                      <p:cBhvr>
                                        <p:cTn id="84" dur="500"/>
                                        <p:tgtEl>
                                          <p:spTgt spid="38"/>
                                        </p:tgtEl>
                                      </p:cBhvr>
                                    </p:animEffect>
                                  </p:childTnLst>
                                </p:cTn>
                              </p:par>
                              <p:par>
                                <p:cTn id="85" presetID="4" presetClass="entr" presetSubtype="16" fill="hold"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box(in)">
                                      <p:cBhvr>
                                        <p:cTn id="87" dur="500"/>
                                        <p:tgtEl>
                                          <p:spTgt spid="40"/>
                                        </p:tgtEl>
                                      </p:cBhvr>
                                    </p:animEffect>
                                  </p:childTnLst>
                                </p:cTn>
                              </p:par>
                              <p:par>
                                <p:cTn id="88" presetID="4" presetClass="entr" presetSubtype="16" fill="hold" grpId="0" nodeType="withEffect">
                                  <p:stCondLst>
                                    <p:cond delay="0"/>
                                  </p:stCondLst>
                                  <p:childTnLst>
                                    <p:set>
                                      <p:cBhvr>
                                        <p:cTn id="89" dur="1" fill="hold">
                                          <p:stCondLst>
                                            <p:cond delay="0"/>
                                          </p:stCondLst>
                                        </p:cTn>
                                        <p:tgtEl>
                                          <p:spTgt spid="122"/>
                                        </p:tgtEl>
                                        <p:attrNameLst>
                                          <p:attrName>style.visibility</p:attrName>
                                        </p:attrNameLst>
                                      </p:cBhvr>
                                      <p:to>
                                        <p:strVal val="visible"/>
                                      </p:to>
                                    </p:set>
                                    <p:animEffect transition="in" filter="box(in)">
                                      <p:cBhvr>
                                        <p:cTn id="90" dur="500"/>
                                        <p:tgtEl>
                                          <p:spTgt spid="122"/>
                                        </p:tgtEl>
                                      </p:cBhvr>
                                    </p:animEffect>
                                  </p:childTnLst>
                                </p:cTn>
                              </p:par>
                              <p:par>
                                <p:cTn id="91" presetID="4" presetClass="entr" presetSubtype="16"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box(in)">
                                      <p:cBhvr>
                                        <p:cTn id="93" dur="500"/>
                                        <p:tgtEl>
                                          <p:spTgt spid="42"/>
                                        </p:tgtEl>
                                      </p:cBhvr>
                                    </p:animEffect>
                                  </p:childTnLst>
                                </p:cTn>
                              </p:par>
                              <p:par>
                                <p:cTn id="94" presetID="4" presetClass="entr" presetSubtype="16" fill="hold" grpId="0" nodeType="withEffect">
                                  <p:stCondLst>
                                    <p:cond delay="0"/>
                                  </p:stCondLst>
                                  <p:childTnLst>
                                    <p:set>
                                      <p:cBhvr>
                                        <p:cTn id="95" dur="1" fill="hold">
                                          <p:stCondLst>
                                            <p:cond delay="0"/>
                                          </p:stCondLst>
                                        </p:cTn>
                                        <p:tgtEl>
                                          <p:spTgt spid="127"/>
                                        </p:tgtEl>
                                        <p:attrNameLst>
                                          <p:attrName>style.visibility</p:attrName>
                                        </p:attrNameLst>
                                      </p:cBhvr>
                                      <p:to>
                                        <p:strVal val="visible"/>
                                      </p:to>
                                    </p:set>
                                    <p:animEffect transition="in" filter="box(in)">
                                      <p:cBhvr>
                                        <p:cTn id="96" dur="500"/>
                                        <p:tgtEl>
                                          <p:spTgt spid="127"/>
                                        </p:tgtEl>
                                      </p:cBhvr>
                                    </p:animEffect>
                                  </p:childTnLst>
                                </p:cTn>
                              </p:par>
                              <p:par>
                                <p:cTn id="97" presetID="4" presetClass="entr" presetSubtype="16"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box(in)">
                                      <p:cBhvr>
                                        <p:cTn id="99" dur="500"/>
                                        <p:tgtEl>
                                          <p:spTgt spid="43"/>
                                        </p:tgtEl>
                                      </p:cBhvr>
                                    </p:animEffect>
                                  </p:childTnLst>
                                </p:cTn>
                              </p:par>
                              <p:par>
                                <p:cTn id="100" presetID="4" presetClass="entr" presetSubtype="16" fill="hold"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box(in)">
                                      <p:cBhvr>
                                        <p:cTn id="102" dur="500"/>
                                        <p:tgtEl>
                                          <p:spTgt spid="44"/>
                                        </p:tgtEl>
                                      </p:cBhvr>
                                    </p:animEffect>
                                  </p:childTnLst>
                                </p:cTn>
                              </p:par>
                              <p:par>
                                <p:cTn id="103" presetID="4" presetClass="entr" presetSubtype="16"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box(in)">
                                      <p:cBhvr>
                                        <p:cTn id="105" dur="500"/>
                                        <p:tgtEl>
                                          <p:spTgt spid="45"/>
                                        </p:tgtEl>
                                      </p:cBhvr>
                                    </p:animEffect>
                                  </p:childTnLst>
                                </p:cTn>
                              </p:par>
                              <p:par>
                                <p:cTn id="106" presetID="4" presetClass="entr" presetSubtype="16" fill="hold"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box(in)">
                                      <p:cBhvr>
                                        <p:cTn id="108" dur="500"/>
                                        <p:tgtEl>
                                          <p:spTgt spid="46"/>
                                        </p:tgtEl>
                                      </p:cBhvr>
                                    </p:animEffect>
                                  </p:childTnLst>
                                </p:cTn>
                              </p:par>
                              <p:par>
                                <p:cTn id="109" presetID="4" presetClass="entr" presetSubtype="16"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box(in)">
                                      <p:cBhvr>
                                        <p:cTn id="111" dur="500"/>
                                        <p:tgtEl>
                                          <p:spTgt spid="47"/>
                                        </p:tgtEl>
                                      </p:cBhvr>
                                    </p:animEffect>
                                  </p:childTnLst>
                                </p:cTn>
                              </p:par>
                              <p:par>
                                <p:cTn id="112" presetID="4" presetClass="entr" presetSubtype="16" fill="hold"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box(in)">
                                      <p:cBhvr>
                                        <p:cTn id="114" dur="500"/>
                                        <p:tgtEl>
                                          <p:spTgt spid="48"/>
                                        </p:tgtEl>
                                      </p:cBhvr>
                                    </p:animEffect>
                                  </p:childTnLst>
                                </p:cTn>
                              </p:par>
                              <p:par>
                                <p:cTn id="115" presetID="4" presetClass="entr" presetSubtype="16"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box(in)">
                                      <p:cBhvr>
                                        <p:cTn id="117" dur="500"/>
                                        <p:tgtEl>
                                          <p:spTgt spid="49"/>
                                        </p:tgtEl>
                                      </p:cBhvr>
                                    </p:animEffect>
                                  </p:childTnLst>
                                </p:cTn>
                              </p:par>
                              <p:par>
                                <p:cTn id="118" presetID="4" presetClass="entr" presetSubtype="16" fill="hold"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box(in)">
                                      <p:cBhvr>
                                        <p:cTn id="120" dur="500"/>
                                        <p:tgtEl>
                                          <p:spTgt spid="50"/>
                                        </p:tgtEl>
                                      </p:cBhvr>
                                    </p:animEffect>
                                  </p:childTnLst>
                                </p:cTn>
                              </p:par>
                              <p:par>
                                <p:cTn id="121" presetID="4" presetClass="entr" presetSubtype="16"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box(in)">
                                      <p:cBhvr>
                                        <p:cTn id="123" dur="500"/>
                                        <p:tgtEl>
                                          <p:spTgt spid="51"/>
                                        </p:tgtEl>
                                      </p:cBhvr>
                                    </p:animEffect>
                                  </p:childTnLst>
                                </p:cTn>
                              </p:par>
                              <p:par>
                                <p:cTn id="124" presetID="4" presetClass="entr" presetSubtype="16" fill="hold" grpId="0" nodeType="withEffect">
                                  <p:stCondLst>
                                    <p:cond delay="0"/>
                                  </p:stCondLst>
                                  <p:childTnLst>
                                    <p:set>
                                      <p:cBhvr>
                                        <p:cTn id="125" dur="1" fill="hold">
                                          <p:stCondLst>
                                            <p:cond delay="0"/>
                                          </p:stCondLst>
                                        </p:cTn>
                                        <p:tgtEl>
                                          <p:spTgt spid="159"/>
                                        </p:tgtEl>
                                        <p:attrNameLst>
                                          <p:attrName>style.visibility</p:attrName>
                                        </p:attrNameLst>
                                      </p:cBhvr>
                                      <p:to>
                                        <p:strVal val="visible"/>
                                      </p:to>
                                    </p:set>
                                    <p:animEffect transition="in" filter="box(in)">
                                      <p:cBhvr>
                                        <p:cTn id="126" dur="500"/>
                                        <p:tgtEl>
                                          <p:spTgt spid="159"/>
                                        </p:tgtEl>
                                      </p:cBhvr>
                                    </p:animEffect>
                                  </p:childTnLst>
                                </p:cTn>
                              </p:par>
                              <p:par>
                                <p:cTn id="127" presetID="4" presetClass="entr" presetSubtype="16" fill="hold" grpId="0" nodeType="withEffect">
                                  <p:stCondLst>
                                    <p:cond delay="0"/>
                                  </p:stCondLst>
                                  <p:childTnLst>
                                    <p:set>
                                      <p:cBhvr>
                                        <p:cTn id="128" dur="1" fill="hold">
                                          <p:stCondLst>
                                            <p:cond delay="0"/>
                                          </p:stCondLst>
                                        </p:cTn>
                                        <p:tgtEl>
                                          <p:spTgt spid="160"/>
                                        </p:tgtEl>
                                        <p:attrNameLst>
                                          <p:attrName>style.visibility</p:attrName>
                                        </p:attrNameLst>
                                      </p:cBhvr>
                                      <p:to>
                                        <p:strVal val="visible"/>
                                      </p:to>
                                    </p:set>
                                    <p:animEffect transition="in" filter="box(in)">
                                      <p:cBhvr>
                                        <p:cTn id="129" dur="500"/>
                                        <p:tgtEl>
                                          <p:spTgt spid="160"/>
                                        </p:tgtEl>
                                      </p:cBhvr>
                                    </p:animEffect>
                                  </p:childTnLst>
                                </p:cTn>
                              </p:par>
                            </p:childTnLst>
                          </p:cTn>
                        </p:par>
                      </p:childTnLst>
                    </p:cTn>
                  </p:par>
                  <p:par>
                    <p:cTn id="130" fill="hold">
                      <p:stCondLst>
                        <p:cond delay="indefinite"/>
                      </p:stCondLst>
                      <p:childTnLst>
                        <p:par>
                          <p:cTn id="131" fill="hold">
                            <p:stCondLst>
                              <p:cond delay="0"/>
                            </p:stCondLst>
                            <p:childTnLst>
                              <p:par>
                                <p:cTn id="132" presetID="4" presetClass="entr" presetSubtype="16" fill="hold" grpId="0" nodeType="clickEffect">
                                  <p:stCondLst>
                                    <p:cond delay="0"/>
                                  </p:stCondLst>
                                  <p:childTnLst>
                                    <p:set>
                                      <p:cBhvr>
                                        <p:cTn id="133" dur="1" fill="hold">
                                          <p:stCondLst>
                                            <p:cond delay="0"/>
                                          </p:stCondLst>
                                        </p:cTn>
                                        <p:tgtEl>
                                          <p:spTgt spid="161"/>
                                        </p:tgtEl>
                                        <p:attrNameLst>
                                          <p:attrName>style.visibility</p:attrName>
                                        </p:attrNameLst>
                                      </p:cBhvr>
                                      <p:to>
                                        <p:strVal val="visible"/>
                                      </p:to>
                                    </p:set>
                                    <p:animEffect transition="in" filter="box(in)">
                                      <p:cBhvr>
                                        <p:cTn id="134" dur="500"/>
                                        <p:tgtEl>
                                          <p:spTgt spid="161"/>
                                        </p:tgtEl>
                                      </p:cBhvr>
                                    </p:animEffect>
                                  </p:childTnLst>
                                </p:cTn>
                              </p:par>
                            </p:childTnLst>
                          </p:cTn>
                        </p:par>
                      </p:childTnLst>
                    </p:cTn>
                  </p:par>
                  <p:par>
                    <p:cTn id="135" fill="hold">
                      <p:stCondLst>
                        <p:cond delay="indefinite"/>
                      </p:stCondLst>
                      <p:childTnLst>
                        <p:par>
                          <p:cTn id="136" fill="hold">
                            <p:stCondLst>
                              <p:cond delay="0"/>
                            </p:stCondLst>
                            <p:childTnLst>
                              <p:par>
                                <p:cTn id="137" presetID="4" presetClass="entr" presetSubtype="16" fill="hold" grpId="0" nodeType="clickEffect">
                                  <p:stCondLst>
                                    <p:cond delay="0"/>
                                  </p:stCondLst>
                                  <p:childTnLst>
                                    <p:set>
                                      <p:cBhvr>
                                        <p:cTn id="138" dur="1" fill="hold">
                                          <p:stCondLst>
                                            <p:cond delay="0"/>
                                          </p:stCondLst>
                                        </p:cTn>
                                        <p:tgtEl>
                                          <p:spTgt spid="3"/>
                                        </p:tgtEl>
                                        <p:attrNameLst>
                                          <p:attrName>style.visibility</p:attrName>
                                        </p:attrNameLst>
                                      </p:cBhvr>
                                      <p:to>
                                        <p:strVal val="visible"/>
                                      </p:to>
                                    </p:set>
                                    <p:animEffect transition="in" filter="box(in)">
                                      <p:cBhvr>
                                        <p:cTn id="139" dur="500"/>
                                        <p:tgtEl>
                                          <p:spTgt spid="3"/>
                                        </p:tgtEl>
                                      </p:cBhvr>
                                    </p:animEffect>
                                  </p:childTnLst>
                                </p:cTn>
                              </p:par>
                              <p:par>
                                <p:cTn id="140" presetID="4" presetClass="entr" presetSubtype="16" fill="hold" grpId="0" nodeType="withEffect">
                                  <p:stCondLst>
                                    <p:cond delay="0"/>
                                  </p:stCondLst>
                                  <p:childTnLst>
                                    <p:set>
                                      <p:cBhvr>
                                        <p:cTn id="141" dur="1" fill="hold">
                                          <p:stCondLst>
                                            <p:cond delay="0"/>
                                          </p:stCondLst>
                                        </p:cTn>
                                        <p:tgtEl>
                                          <p:spTgt spid="4"/>
                                        </p:tgtEl>
                                        <p:attrNameLst>
                                          <p:attrName>style.visibility</p:attrName>
                                        </p:attrNameLst>
                                      </p:cBhvr>
                                      <p:to>
                                        <p:strVal val="visible"/>
                                      </p:to>
                                    </p:set>
                                    <p:animEffect transition="in" filter="box(in)">
                                      <p:cBhvr>
                                        <p:cTn id="142" dur="500"/>
                                        <p:tgtEl>
                                          <p:spTgt spid="4"/>
                                        </p:tgtEl>
                                      </p:cBhvr>
                                    </p:animEffect>
                                  </p:childTnLst>
                                </p:cTn>
                              </p:par>
                            </p:childTnLst>
                          </p:cTn>
                        </p:par>
                      </p:childTnLst>
                    </p:cTn>
                  </p:par>
                  <p:par>
                    <p:cTn id="143" fill="hold">
                      <p:stCondLst>
                        <p:cond delay="indefinite"/>
                      </p:stCondLst>
                      <p:childTnLst>
                        <p:par>
                          <p:cTn id="144" fill="hold">
                            <p:stCondLst>
                              <p:cond delay="0"/>
                            </p:stCondLst>
                            <p:childTnLst>
                              <p:par>
                                <p:cTn id="145" presetID="6" presetClass="emph" presetSubtype="0" fill="hold" grpId="1" nodeType="clickEffect">
                                  <p:stCondLst>
                                    <p:cond delay="0"/>
                                  </p:stCondLst>
                                  <p:childTnLst>
                                    <p:animScale>
                                      <p:cBhvr>
                                        <p:cTn id="146" dur="2000" fill="hold"/>
                                        <p:tgtEl>
                                          <p:spTgt spid="161"/>
                                        </p:tgtEl>
                                      </p:cBhvr>
                                      <p:by x="130000" y="100000"/>
                                    </p:animScale>
                                  </p:childTnLst>
                                </p:cTn>
                              </p:par>
                            </p:childTnLst>
                          </p:cTn>
                        </p:par>
                      </p:childTnLst>
                    </p:cTn>
                  </p:par>
                  <p:par>
                    <p:cTn id="147" fill="hold">
                      <p:stCondLst>
                        <p:cond delay="indefinite"/>
                      </p:stCondLst>
                      <p:childTnLst>
                        <p:par>
                          <p:cTn id="148" fill="hold">
                            <p:stCondLst>
                              <p:cond delay="0"/>
                            </p:stCondLst>
                            <p:childTnLst>
                              <p:par>
                                <p:cTn id="149" presetID="4" presetClass="exit" presetSubtype="16" fill="hold" grpId="1" nodeType="clickEffect">
                                  <p:stCondLst>
                                    <p:cond delay="0"/>
                                  </p:stCondLst>
                                  <p:childTnLst>
                                    <p:animEffect transition="out" filter="box(in)">
                                      <p:cBhvr>
                                        <p:cTn id="150" dur="500"/>
                                        <p:tgtEl>
                                          <p:spTgt spid="127"/>
                                        </p:tgtEl>
                                      </p:cBhvr>
                                    </p:animEffect>
                                    <p:set>
                                      <p:cBhvr>
                                        <p:cTn id="151" dur="1" fill="hold">
                                          <p:stCondLst>
                                            <p:cond delay="499"/>
                                          </p:stCondLst>
                                        </p:cTn>
                                        <p:tgtEl>
                                          <p:spTgt spid="127"/>
                                        </p:tgtEl>
                                        <p:attrNameLst>
                                          <p:attrName>style.visibility</p:attrName>
                                        </p:attrNameLst>
                                      </p:cBhvr>
                                      <p:to>
                                        <p:strVal val="hidden"/>
                                      </p:to>
                                    </p:set>
                                  </p:childTnLst>
                                </p:cTn>
                              </p:par>
                              <p:par>
                                <p:cTn id="152" presetID="4" presetClass="exit" presetSubtype="16" fill="hold" grpId="1" nodeType="withEffect">
                                  <p:stCondLst>
                                    <p:cond delay="0"/>
                                  </p:stCondLst>
                                  <p:childTnLst>
                                    <p:animEffect transition="out" filter="box(in)">
                                      <p:cBhvr>
                                        <p:cTn id="153" dur="500"/>
                                        <p:tgtEl>
                                          <p:spTgt spid="122"/>
                                        </p:tgtEl>
                                      </p:cBhvr>
                                    </p:animEffect>
                                    <p:set>
                                      <p:cBhvr>
                                        <p:cTn id="154" dur="1" fill="hold">
                                          <p:stCondLst>
                                            <p:cond delay="499"/>
                                          </p:stCondLst>
                                        </p:cTn>
                                        <p:tgtEl>
                                          <p:spTgt spid="122"/>
                                        </p:tgtEl>
                                        <p:attrNameLst>
                                          <p:attrName>style.visibility</p:attrName>
                                        </p:attrNameLst>
                                      </p:cBhvr>
                                      <p:to>
                                        <p:strVal val="hidden"/>
                                      </p:to>
                                    </p:set>
                                  </p:childTnLst>
                                </p:cTn>
                              </p:par>
                              <p:par>
                                <p:cTn id="155" presetID="4" presetClass="exit" presetSubtype="16" fill="hold" grpId="1" nodeType="withEffect">
                                  <p:stCondLst>
                                    <p:cond delay="0"/>
                                  </p:stCondLst>
                                  <p:childTnLst>
                                    <p:animEffect transition="out" filter="box(in)">
                                      <p:cBhvr>
                                        <p:cTn id="156" dur="500"/>
                                        <p:tgtEl>
                                          <p:spTgt spid="62"/>
                                        </p:tgtEl>
                                      </p:cBhvr>
                                    </p:animEffect>
                                    <p:set>
                                      <p:cBhvr>
                                        <p:cTn id="157" dur="1" fill="hold">
                                          <p:stCondLst>
                                            <p:cond delay="499"/>
                                          </p:stCondLst>
                                        </p:cTn>
                                        <p:tgtEl>
                                          <p:spTgt spid="62"/>
                                        </p:tgtEl>
                                        <p:attrNameLst>
                                          <p:attrName>style.visibility</p:attrName>
                                        </p:attrNameLst>
                                      </p:cBhvr>
                                      <p:to>
                                        <p:strVal val="hidden"/>
                                      </p:to>
                                    </p:set>
                                  </p:childTnLst>
                                </p:cTn>
                              </p:par>
                              <p:par>
                                <p:cTn id="158" presetID="4" presetClass="exit" presetSubtype="16" fill="hold" grpId="1" nodeType="withEffect">
                                  <p:stCondLst>
                                    <p:cond delay="0"/>
                                  </p:stCondLst>
                                  <p:childTnLst>
                                    <p:animEffect transition="out" filter="box(in)">
                                      <p:cBhvr>
                                        <p:cTn id="159" dur="500"/>
                                        <p:tgtEl>
                                          <p:spTgt spid="31"/>
                                        </p:tgtEl>
                                      </p:cBhvr>
                                    </p:animEffect>
                                    <p:set>
                                      <p:cBhvr>
                                        <p:cTn id="160" dur="1" fill="hold">
                                          <p:stCondLst>
                                            <p:cond delay="499"/>
                                          </p:stCondLst>
                                        </p:cTn>
                                        <p:tgtEl>
                                          <p:spTgt spid="31"/>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7" presetClass="entr" presetSubtype="10" fill="hold" grpId="0" nodeType="clickEffect">
                                  <p:stCondLst>
                                    <p:cond delay="0"/>
                                  </p:stCondLst>
                                  <p:childTnLst>
                                    <p:set>
                                      <p:cBhvr>
                                        <p:cTn id="164" dur="1" fill="hold">
                                          <p:stCondLst>
                                            <p:cond delay="0"/>
                                          </p:stCondLst>
                                        </p:cTn>
                                        <p:tgtEl>
                                          <p:spTgt spid="163"/>
                                        </p:tgtEl>
                                        <p:attrNameLst>
                                          <p:attrName>style.visibility</p:attrName>
                                        </p:attrNameLst>
                                      </p:cBhvr>
                                      <p:to>
                                        <p:strVal val="visible"/>
                                      </p:to>
                                    </p:set>
                                    <p:anim calcmode="lin" valueType="num">
                                      <p:cBhvr>
                                        <p:cTn id="165" dur="500" fill="hold"/>
                                        <p:tgtEl>
                                          <p:spTgt spid="163"/>
                                        </p:tgtEl>
                                        <p:attrNameLst>
                                          <p:attrName>ppt_w</p:attrName>
                                        </p:attrNameLst>
                                      </p:cBhvr>
                                      <p:tavLst>
                                        <p:tav tm="0">
                                          <p:val>
                                            <p:fltVal val="0"/>
                                          </p:val>
                                        </p:tav>
                                        <p:tav tm="100000">
                                          <p:val>
                                            <p:strVal val="#ppt_w"/>
                                          </p:val>
                                        </p:tav>
                                      </p:tavLst>
                                    </p:anim>
                                    <p:anim calcmode="lin" valueType="num">
                                      <p:cBhvr>
                                        <p:cTn id="166" dur="500" fill="hold"/>
                                        <p:tgtEl>
                                          <p:spTgt spid="163"/>
                                        </p:tgtEl>
                                        <p:attrNameLst>
                                          <p:attrName>ppt_h</p:attrName>
                                        </p:attrNameLst>
                                      </p:cBhvr>
                                      <p:tavLst>
                                        <p:tav tm="0">
                                          <p:val>
                                            <p:strVal val="#ppt_h"/>
                                          </p:val>
                                        </p:tav>
                                        <p:tav tm="100000">
                                          <p:val>
                                            <p:strVal val="#ppt_h"/>
                                          </p:val>
                                        </p:tav>
                                      </p:tavLst>
                                    </p:anim>
                                  </p:childTnLst>
                                </p:cTn>
                              </p:par>
                              <p:par>
                                <p:cTn id="167" presetID="17" presetClass="entr" presetSubtype="10" fill="hold" grpId="0" nodeType="withEffect">
                                  <p:stCondLst>
                                    <p:cond delay="0"/>
                                  </p:stCondLst>
                                  <p:childTnLst>
                                    <p:set>
                                      <p:cBhvr>
                                        <p:cTn id="168" dur="1" fill="hold">
                                          <p:stCondLst>
                                            <p:cond delay="0"/>
                                          </p:stCondLst>
                                        </p:cTn>
                                        <p:tgtEl>
                                          <p:spTgt spid="165"/>
                                        </p:tgtEl>
                                        <p:attrNameLst>
                                          <p:attrName>style.visibility</p:attrName>
                                        </p:attrNameLst>
                                      </p:cBhvr>
                                      <p:to>
                                        <p:strVal val="visible"/>
                                      </p:to>
                                    </p:set>
                                    <p:anim calcmode="lin" valueType="num">
                                      <p:cBhvr>
                                        <p:cTn id="169" dur="500" fill="hold"/>
                                        <p:tgtEl>
                                          <p:spTgt spid="165"/>
                                        </p:tgtEl>
                                        <p:attrNameLst>
                                          <p:attrName>ppt_w</p:attrName>
                                        </p:attrNameLst>
                                      </p:cBhvr>
                                      <p:tavLst>
                                        <p:tav tm="0">
                                          <p:val>
                                            <p:fltVal val="0"/>
                                          </p:val>
                                        </p:tav>
                                        <p:tav tm="100000">
                                          <p:val>
                                            <p:strVal val="#ppt_w"/>
                                          </p:val>
                                        </p:tav>
                                      </p:tavLst>
                                    </p:anim>
                                    <p:anim calcmode="lin" valueType="num">
                                      <p:cBhvr>
                                        <p:cTn id="170" dur="500" fill="hold"/>
                                        <p:tgtEl>
                                          <p:spTgt spid="165"/>
                                        </p:tgtEl>
                                        <p:attrNameLst>
                                          <p:attrName>ppt_h</p:attrName>
                                        </p:attrNameLst>
                                      </p:cBhvr>
                                      <p:tavLst>
                                        <p:tav tm="0">
                                          <p:val>
                                            <p:strVal val="#ppt_h"/>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17" presetClass="entr" presetSubtype="10" fill="hold" grpId="0" nodeType="clickEffect">
                                  <p:stCondLst>
                                    <p:cond delay="0"/>
                                  </p:stCondLst>
                                  <p:childTnLst>
                                    <p:set>
                                      <p:cBhvr>
                                        <p:cTn id="174" dur="1" fill="hold">
                                          <p:stCondLst>
                                            <p:cond delay="0"/>
                                          </p:stCondLst>
                                        </p:cTn>
                                        <p:tgtEl>
                                          <p:spTgt spid="164"/>
                                        </p:tgtEl>
                                        <p:attrNameLst>
                                          <p:attrName>style.visibility</p:attrName>
                                        </p:attrNameLst>
                                      </p:cBhvr>
                                      <p:to>
                                        <p:strVal val="visible"/>
                                      </p:to>
                                    </p:set>
                                    <p:anim calcmode="lin" valueType="num">
                                      <p:cBhvr>
                                        <p:cTn id="175" dur="500" fill="hold"/>
                                        <p:tgtEl>
                                          <p:spTgt spid="164"/>
                                        </p:tgtEl>
                                        <p:attrNameLst>
                                          <p:attrName>ppt_w</p:attrName>
                                        </p:attrNameLst>
                                      </p:cBhvr>
                                      <p:tavLst>
                                        <p:tav tm="0">
                                          <p:val>
                                            <p:fltVal val="0"/>
                                          </p:val>
                                        </p:tav>
                                        <p:tav tm="100000">
                                          <p:val>
                                            <p:strVal val="#ppt_w"/>
                                          </p:val>
                                        </p:tav>
                                      </p:tavLst>
                                    </p:anim>
                                    <p:anim calcmode="lin" valueType="num">
                                      <p:cBhvr>
                                        <p:cTn id="176" dur="500" fill="hold"/>
                                        <p:tgtEl>
                                          <p:spTgt spid="164"/>
                                        </p:tgtEl>
                                        <p:attrNameLst>
                                          <p:attrName>ppt_h</p:attrName>
                                        </p:attrNameLst>
                                      </p:cBhvr>
                                      <p:tavLst>
                                        <p:tav tm="0">
                                          <p:val>
                                            <p:strVal val="#ppt_h"/>
                                          </p:val>
                                        </p:tav>
                                        <p:tav tm="100000">
                                          <p:val>
                                            <p:strVal val="#ppt_h"/>
                                          </p:val>
                                        </p:tav>
                                      </p:tavLst>
                                    </p:anim>
                                  </p:childTnLst>
                                </p:cTn>
                              </p:par>
                            </p:childTnLst>
                          </p:cTn>
                        </p:par>
                      </p:childTnLst>
                    </p:cTn>
                  </p:par>
                  <p:par>
                    <p:cTn id="177" fill="hold">
                      <p:stCondLst>
                        <p:cond delay="indefinite"/>
                      </p:stCondLst>
                      <p:childTnLst>
                        <p:par>
                          <p:cTn id="178" fill="hold">
                            <p:stCondLst>
                              <p:cond delay="0"/>
                            </p:stCondLst>
                            <p:childTnLst>
                              <p:par>
                                <p:cTn id="179" presetID="4" presetClass="entr" presetSubtype="16" fill="hold" grpId="0" nodeType="clickEffect">
                                  <p:stCondLst>
                                    <p:cond delay="0"/>
                                  </p:stCondLst>
                                  <p:childTnLst>
                                    <p:set>
                                      <p:cBhvr>
                                        <p:cTn id="180" dur="1" fill="hold">
                                          <p:stCondLst>
                                            <p:cond delay="0"/>
                                          </p:stCondLst>
                                        </p:cTn>
                                        <p:tgtEl>
                                          <p:spTgt spid="162"/>
                                        </p:tgtEl>
                                        <p:attrNameLst>
                                          <p:attrName>style.visibility</p:attrName>
                                        </p:attrNameLst>
                                      </p:cBhvr>
                                      <p:to>
                                        <p:strVal val="visible"/>
                                      </p:to>
                                    </p:set>
                                    <p:animEffect transition="in" filter="box(in)">
                                      <p:cBhvr>
                                        <p:cTn id="181" dur="500"/>
                                        <p:tgtEl>
                                          <p:spTgt spid="162"/>
                                        </p:tgtEl>
                                      </p:cBhvr>
                                    </p:animEffect>
                                  </p:childTnLst>
                                </p:cTn>
                              </p:par>
                              <p:par>
                                <p:cTn id="182" presetID="17" presetClass="entr" presetSubtype="10" fill="hold" grpId="0" nodeType="withEffect">
                                  <p:stCondLst>
                                    <p:cond delay="0"/>
                                  </p:stCondLst>
                                  <p:childTnLst>
                                    <p:set>
                                      <p:cBhvr>
                                        <p:cTn id="183" dur="1" fill="hold">
                                          <p:stCondLst>
                                            <p:cond delay="0"/>
                                          </p:stCondLst>
                                        </p:cTn>
                                        <p:tgtEl>
                                          <p:spTgt spid="166"/>
                                        </p:tgtEl>
                                        <p:attrNameLst>
                                          <p:attrName>style.visibility</p:attrName>
                                        </p:attrNameLst>
                                      </p:cBhvr>
                                      <p:to>
                                        <p:strVal val="visible"/>
                                      </p:to>
                                    </p:set>
                                    <p:anim calcmode="lin" valueType="num">
                                      <p:cBhvr>
                                        <p:cTn id="184" dur="500" fill="hold"/>
                                        <p:tgtEl>
                                          <p:spTgt spid="166"/>
                                        </p:tgtEl>
                                        <p:attrNameLst>
                                          <p:attrName>ppt_w</p:attrName>
                                        </p:attrNameLst>
                                      </p:cBhvr>
                                      <p:tavLst>
                                        <p:tav tm="0">
                                          <p:val>
                                            <p:fltVal val="0"/>
                                          </p:val>
                                        </p:tav>
                                        <p:tav tm="100000">
                                          <p:val>
                                            <p:strVal val="#ppt_w"/>
                                          </p:val>
                                        </p:tav>
                                      </p:tavLst>
                                    </p:anim>
                                    <p:anim calcmode="lin" valueType="num">
                                      <p:cBhvr>
                                        <p:cTn id="185" dur="500" fill="hold"/>
                                        <p:tgtEl>
                                          <p:spTgt spid="1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animBg="1"/>
      <p:bldP spid="31" grpId="0" animBg="1"/>
      <p:bldP spid="31" grpId="1" animBg="1"/>
      <p:bldP spid="62" grpId="0" animBg="1"/>
      <p:bldP spid="62" grpId="1" animBg="1"/>
      <p:bldP spid="122" grpId="0" animBg="1"/>
      <p:bldP spid="122" grpId="1" animBg="1"/>
      <p:bldP spid="127" grpId="0" animBg="1"/>
      <p:bldP spid="127" grpId="1" animBg="1"/>
      <p:bldP spid="159" grpId="0" animBg="1"/>
      <p:bldP spid="160" grpId="0" animBg="1"/>
      <p:bldP spid="161" grpId="0" animBg="1"/>
      <p:bldP spid="161" grpId="1" animBg="1"/>
      <p:bldP spid="162" grpId="0" animBg="1"/>
      <p:bldP spid="163" grpId="0" animBg="1"/>
      <p:bldP spid="164" grpId="0" animBg="1"/>
      <p:bldP spid="165" grpId="0" animBg="1"/>
      <p:bldP spid="16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5" name="Rectangle 7"/>
          <p:cNvSpPr>
            <a:spLocks noChangeArrowheads="1"/>
          </p:cNvSpPr>
          <p:nvPr/>
        </p:nvSpPr>
        <p:spPr bwMode="auto">
          <a:xfrm>
            <a:off x="5640070" y="1224985"/>
            <a:ext cx="2345690" cy="707886"/>
          </a:xfrm>
          <a:prstGeom prst="rect">
            <a:avLst/>
          </a:prstGeom>
          <a:noFill/>
          <a:ln w="9525">
            <a:noFill/>
            <a:miter lim="800000"/>
            <a:headEnd/>
            <a:tailEnd/>
          </a:ln>
        </p:spPr>
        <p:txBody>
          <a:bodyPr wrap="square">
            <a:spAutoFit/>
          </a:bodyPr>
          <a:lstStyle/>
          <a:p>
            <a:pPr defTabSz="914400"/>
            <a:r>
              <a:rPr lang="zh-CN" altLang="en-US" sz="4000" b="1" dirty="0">
                <a:latin typeface="华文琥珀" pitchFamily="2" charset="-122"/>
                <a:ea typeface="华文琥珀" pitchFamily="2" charset="-122"/>
              </a:rPr>
              <a:t>电流方程</a:t>
            </a:r>
          </a:p>
        </p:txBody>
      </p:sp>
      <p:graphicFrame>
        <p:nvGraphicFramePr>
          <p:cNvPr id="41997" name="Object 7"/>
          <p:cNvGraphicFramePr>
            <a:graphicFrameLocks noChangeAspect="1"/>
          </p:cNvGraphicFramePr>
          <p:nvPr>
            <p:extLst>
              <p:ext uri="{D42A27DB-BD31-4B8C-83A1-F6EECF244321}">
                <p14:modId xmlns:p14="http://schemas.microsoft.com/office/powerpoint/2010/main" val="2027030796"/>
              </p:ext>
            </p:extLst>
          </p:nvPr>
        </p:nvGraphicFramePr>
        <p:xfrm>
          <a:off x="3851275" y="3429000"/>
          <a:ext cx="6443663" cy="841375"/>
        </p:xfrm>
        <a:graphic>
          <a:graphicData uri="http://schemas.openxmlformats.org/presentationml/2006/ole">
            <mc:AlternateContent xmlns:mc="http://schemas.openxmlformats.org/markup-compatibility/2006">
              <mc:Choice xmlns:v="urn:schemas-microsoft-com:vml" Requires="v">
                <p:oleObj spid="_x0000_s46192" name="Equation" r:id="rId3" imgW="1854000" imgH="241200" progId="Equation.DSMT4">
                  <p:embed/>
                </p:oleObj>
              </mc:Choice>
              <mc:Fallback>
                <p:oleObj name="Equation" r:id="rId3" imgW="1854000" imgH="241200" progId="Equation.DSMT4">
                  <p:embed/>
                  <p:pic>
                    <p:nvPicPr>
                      <p:cNvPr id="0" name=""/>
                      <p:cNvPicPr>
                        <a:picLocks noChangeAspect="1" noChangeArrowheads="1"/>
                      </p:cNvPicPr>
                      <p:nvPr/>
                    </p:nvPicPr>
                    <p:blipFill>
                      <a:blip r:embed="rId4"/>
                      <a:srcRect/>
                      <a:stretch>
                        <a:fillRect/>
                      </a:stretch>
                    </p:blipFill>
                    <p:spPr bwMode="auto">
                      <a:xfrm>
                        <a:off x="3851275" y="3429000"/>
                        <a:ext cx="6443663" cy="841375"/>
                      </a:xfrm>
                      <a:prstGeom prst="rect">
                        <a:avLst/>
                      </a:prstGeom>
                      <a:solidFill>
                        <a:srgbClr val="FFFF00"/>
                      </a:solidFill>
                    </p:spPr>
                  </p:pic>
                </p:oleObj>
              </mc:Fallback>
            </mc:AlternateContent>
          </a:graphicData>
        </a:graphic>
      </p:graphicFrame>
      <p:graphicFrame>
        <p:nvGraphicFramePr>
          <p:cNvPr id="41999" name="Object 11"/>
          <p:cNvGraphicFramePr>
            <a:graphicFrameLocks noChangeAspect="1"/>
          </p:cNvGraphicFramePr>
          <p:nvPr>
            <p:extLst>
              <p:ext uri="{D42A27DB-BD31-4B8C-83A1-F6EECF244321}">
                <p14:modId xmlns:p14="http://schemas.microsoft.com/office/powerpoint/2010/main" val="3432748107"/>
              </p:ext>
            </p:extLst>
          </p:nvPr>
        </p:nvGraphicFramePr>
        <p:xfrm>
          <a:off x="3770313" y="2346325"/>
          <a:ext cx="6142037" cy="781050"/>
        </p:xfrm>
        <a:graphic>
          <a:graphicData uri="http://schemas.openxmlformats.org/presentationml/2006/ole">
            <mc:AlternateContent xmlns:mc="http://schemas.openxmlformats.org/markup-compatibility/2006">
              <mc:Choice xmlns:v="urn:schemas-microsoft-com:vml" Requires="v">
                <p:oleObj spid="_x0000_s46193" name="Equation" r:id="rId5" imgW="1917360" imgH="241200" progId="Equation.DSMT4">
                  <p:embed/>
                </p:oleObj>
              </mc:Choice>
              <mc:Fallback>
                <p:oleObj name="Equation" r:id="rId5" imgW="1917360" imgH="241200" progId="Equation.DSMT4">
                  <p:embed/>
                  <p:pic>
                    <p:nvPicPr>
                      <p:cNvPr id="0" name=""/>
                      <p:cNvPicPr>
                        <a:picLocks noChangeAspect="1" noChangeArrowheads="1"/>
                      </p:cNvPicPr>
                      <p:nvPr/>
                    </p:nvPicPr>
                    <p:blipFill>
                      <a:blip r:embed="rId6"/>
                      <a:srcRect/>
                      <a:stretch>
                        <a:fillRect/>
                      </a:stretch>
                    </p:blipFill>
                    <p:spPr bwMode="auto">
                      <a:xfrm>
                        <a:off x="3770313" y="2346325"/>
                        <a:ext cx="6142037" cy="781050"/>
                      </a:xfrm>
                      <a:prstGeom prst="rect">
                        <a:avLst/>
                      </a:prstGeom>
                      <a:solidFill>
                        <a:srgbClr val="FFFF00"/>
                      </a:solidFill>
                    </p:spPr>
                  </p:pic>
                </p:oleObj>
              </mc:Fallback>
            </mc:AlternateContent>
          </a:graphicData>
        </a:graphic>
      </p:graphicFrame>
      <p:sp>
        <p:nvSpPr>
          <p:cNvPr id="42000" name="TextBox 12"/>
          <p:cNvSpPr txBox="1">
            <a:spLocks noChangeArrowheads="1"/>
          </p:cNvSpPr>
          <p:nvPr/>
        </p:nvSpPr>
        <p:spPr bwMode="auto">
          <a:xfrm>
            <a:off x="1081088" y="4771867"/>
            <a:ext cx="11841480" cy="203132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式中，</a:t>
            </a:r>
            <a:r>
              <a:rPr lang="en-US" altLang="zh-CN" sz="2800" b="1" i="1" dirty="0">
                <a:latin typeface="Times New Roman" pitchFamily="18" charset="0"/>
                <a:ea typeface="微软雅黑" pitchFamily="34" charset="-122"/>
                <a:cs typeface="Times New Roman" pitchFamily="18" charset="0"/>
              </a:rPr>
              <a:t>I</a:t>
            </a:r>
            <a:r>
              <a:rPr lang="zh-CN" altLang="en-US" sz="2800" b="1" dirty="0">
                <a:latin typeface="Times New Roman" pitchFamily="18" charset="0"/>
                <a:ea typeface="微软雅黑" pitchFamily="34" charset="-122"/>
                <a:cs typeface="Times New Roman" pitchFamily="18" charset="0"/>
              </a:rPr>
              <a:t>为流过</a:t>
            </a:r>
            <a:r>
              <a:rPr lang="en-US" altLang="zh-CN" sz="2800" b="1" dirty="0">
                <a:latin typeface="Times New Roman" pitchFamily="18" charset="0"/>
                <a:ea typeface="微软雅黑" pitchFamily="34" charset="-122"/>
                <a:cs typeface="Times New Roman" pitchFamily="18" charset="0"/>
              </a:rPr>
              <a:t>PN</a:t>
            </a:r>
            <a:r>
              <a:rPr lang="zh-CN" altLang="en-US" sz="2800" b="1" dirty="0">
                <a:latin typeface="Times New Roman" pitchFamily="18" charset="0"/>
                <a:ea typeface="微软雅黑" pitchFamily="34" charset="-122"/>
                <a:cs typeface="Times New Roman" pitchFamily="18" charset="0"/>
              </a:rPr>
              <a:t>结的电流；</a:t>
            </a:r>
            <a:r>
              <a:rPr lang="en-US" altLang="zh-CN" sz="2800" b="1" i="1" dirty="0">
                <a:latin typeface="Times New Roman" pitchFamily="18" charset="0"/>
                <a:ea typeface="微软雅黑" pitchFamily="34" charset="-122"/>
                <a:cs typeface="Times New Roman" pitchFamily="18" charset="0"/>
              </a:rPr>
              <a:t>J</a:t>
            </a:r>
            <a:r>
              <a:rPr lang="en-US" altLang="zh-CN" sz="2800" b="1" baseline="-25000" dirty="0">
                <a:latin typeface="Times New Roman" pitchFamily="18" charset="0"/>
                <a:ea typeface="微软雅黑" pitchFamily="34" charset="-122"/>
                <a:cs typeface="Times New Roman" pitchFamily="18" charset="0"/>
              </a:rPr>
              <a:t>s</a:t>
            </a:r>
            <a:r>
              <a:rPr lang="zh-CN" altLang="en-US" sz="2800" b="1" dirty="0">
                <a:latin typeface="Times New Roman" pitchFamily="18" charset="0"/>
                <a:ea typeface="微软雅黑" pitchFamily="34" charset="-122"/>
                <a:cs typeface="Times New Roman" pitchFamily="18" charset="0"/>
              </a:rPr>
              <a:t>为反向饱和电流；</a:t>
            </a:r>
            <a:r>
              <a:rPr lang="en-US" altLang="zh-CN" sz="2800" b="1" dirty="0">
                <a:latin typeface="Times New Roman" pitchFamily="18" charset="0"/>
                <a:ea typeface="微软雅黑" pitchFamily="34" charset="-122"/>
                <a:cs typeface="Times New Roman" pitchFamily="18" charset="0"/>
              </a:rPr>
              <a:t>V</a:t>
            </a:r>
            <a:r>
              <a:rPr lang="zh-CN" altLang="en-US" sz="2800" b="1" dirty="0">
                <a:latin typeface="Times New Roman" pitchFamily="18" charset="0"/>
                <a:ea typeface="微软雅黑" pitchFamily="34" charset="-122"/>
                <a:cs typeface="Times New Roman" pitchFamily="18" charset="0"/>
              </a:rPr>
              <a:t>为外加电压；</a:t>
            </a:r>
            <a:r>
              <a:rPr lang="en-US" altLang="zh-CN" sz="2800" b="1" dirty="0">
                <a:latin typeface="Times New Roman" pitchFamily="18" charset="0"/>
                <a:ea typeface="微软雅黑" pitchFamily="34" charset="-122"/>
                <a:cs typeface="Times New Roman" pitchFamily="18" charset="0"/>
              </a:rPr>
              <a:t>V</a:t>
            </a:r>
            <a:r>
              <a:rPr lang="en-US" altLang="zh-CN" sz="2800" b="1" baseline="-25000" dirty="0">
                <a:latin typeface="Times New Roman" pitchFamily="18" charset="0"/>
                <a:ea typeface="微软雅黑" pitchFamily="34" charset="-122"/>
                <a:cs typeface="Times New Roman" pitchFamily="18" charset="0"/>
              </a:rPr>
              <a:t>T</a:t>
            </a:r>
            <a:r>
              <a:rPr lang="en-US" altLang="zh-CN" sz="2800" b="1" dirty="0">
                <a:latin typeface="Times New Roman" pitchFamily="18" charset="0"/>
                <a:ea typeface="微软雅黑" pitchFamily="34" charset="-122"/>
                <a:cs typeface="Times New Roman" pitchFamily="18" charset="0"/>
              </a:rPr>
              <a:t>=</a:t>
            </a:r>
            <a:r>
              <a:rPr lang="en-US" altLang="zh-CN" sz="2800" b="1" dirty="0" err="1">
                <a:latin typeface="Times New Roman" pitchFamily="18" charset="0"/>
                <a:ea typeface="微软雅黑" pitchFamily="34" charset="-122"/>
                <a:cs typeface="Times New Roman" pitchFamily="18" charset="0"/>
              </a:rPr>
              <a:t>kT</a:t>
            </a:r>
            <a:r>
              <a:rPr lang="en-US" altLang="zh-CN" sz="2800" b="1" dirty="0">
                <a:latin typeface="Times New Roman" pitchFamily="18" charset="0"/>
                <a:ea typeface="微软雅黑" pitchFamily="34" charset="-122"/>
                <a:cs typeface="Times New Roman" pitchFamily="18" charset="0"/>
              </a:rPr>
              <a:t>/e</a:t>
            </a:r>
            <a:r>
              <a:rPr lang="zh-CN" altLang="en-US" sz="2800" b="1" dirty="0">
                <a:latin typeface="Times New Roman" pitchFamily="18" charset="0"/>
                <a:ea typeface="微软雅黑" pitchFamily="34" charset="-122"/>
                <a:cs typeface="Times New Roman" pitchFamily="18" charset="0"/>
              </a:rPr>
              <a:t>为温度的电压当量，其中</a:t>
            </a:r>
            <a:r>
              <a:rPr lang="en-US" altLang="zh-CN" sz="2800" b="1" dirty="0">
                <a:latin typeface="Times New Roman" pitchFamily="18" charset="0"/>
                <a:ea typeface="微软雅黑" pitchFamily="34" charset="-122"/>
                <a:cs typeface="Times New Roman" pitchFamily="18" charset="0"/>
              </a:rPr>
              <a:t>k=1.38×10</a:t>
            </a:r>
            <a:r>
              <a:rPr lang="en-US" altLang="zh-CN" sz="2800" b="1" baseline="30000" dirty="0">
                <a:latin typeface="Times New Roman" pitchFamily="18" charset="0"/>
                <a:ea typeface="微软雅黑" pitchFamily="34" charset="-122"/>
                <a:cs typeface="Times New Roman" pitchFamily="18" charset="0"/>
              </a:rPr>
              <a:t>-23</a:t>
            </a:r>
            <a:r>
              <a:rPr lang="en-US" altLang="zh-CN" sz="2800" b="1" dirty="0">
                <a:latin typeface="Times New Roman" pitchFamily="18" charset="0"/>
                <a:ea typeface="微软雅黑" pitchFamily="34" charset="-122"/>
                <a:cs typeface="Times New Roman" pitchFamily="18" charset="0"/>
              </a:rPr>
              <a:t>J/K</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e=1.6×10</a:t>
            </a:r>
            <a:r>
              <a:rPr lang="en-US" altLang="zh-CN" sz="2800" b="1" baseline="30000" dirty="0">
                <a:latin typeface="Times New Roman" pitchFamily="18" charset="0"/>
                <a:ea typeface="微软雅黑" pitchFamily="34" charset="-122"/>
                <a:cs typeface="Times New Roman" pitchFamily="18" charset="0"/>
              </a:rPr>
              <a:t>-19</a:t>
            </a:r>
            <a:r>
              <a:rPr lang="en-US" altLang="zh-CN" sz="2800" b="1" dirty="0">
                <a:latin typeface="Times New Roman" pitchFamily="18" charset="0"/>
                <a:ea typeface="微软雅黑" pitchFamily="34" charset="-122"/>
                <a:cs typeface="Times New Roman" pitchFamily="18" charset="0"/>
              </a:rPr>
              <a:t>C</a:t>
            </a:r>
            <a:r>
              <a:rPr lang="zh-CN" altLang="en-US" sz="2800" b="1" dirty="0">
                <a:latin typeface="Times New Roman" pitchFamily="18" charset="0"/>
                <a:ea typeface="微软雅黑" pitchFamily="34" charset="-122"/>
                <a:cs typeface="Times New Roman" pitchFamily="18" charset="0"/>
              </a:rPr>
              <a:t>。</a:t>
            </a:r>
            <a:endParaRPr lang="en-US" altLang="zh-CN" sz="2800" b="1" dirty="0">
              <a:latin typeface="Times New Roman" pitchFamily="18" charset="0"/>
              <a:ea typeface="微软雅黑" pitchFamily="34" charset="-122"/>
              <a:cs typeface="Times New Roman" pitchFamily="18" charset="0"/>
            </a:endParaRPr>
          </a:p>
          <a:p>
            <a:pPr defTabSz="914400">
              <a:lnSpc>
                <a:spcPct val="150000"/>
              </a:lnSpc>
            </a:pPr>
            <a:r>
              <a:rPr lang="zh-CN" altLang="en-US" sz="2800" b="1" dirty="0">
                <a:latin typeface="Times New Roman" pitchFamily="18" charset="0"/>
                <a:ea typeface="微软雅黑" pitchFamily="34" charset="-122"/>
                <a:cs typeface="Times New Roman" pitchFamily="18" charset="0"/>
              </a:rPr>
              <a:t>常温（</a:t>
            </a:r>
            <a:r>
              <a:rPr lang="en-US" altLang="zh-CN" sz="2800" b="1" dirty="0">
                <a:latin typeface="Times New Roman" pitchFamily="18" charset="0"/>
                <a:ea typeface="微软雅黑" pitchFamily="34" charset="-122"/>
                <a:cs typeface="Times New Roman" pitchFamily="18" charset="0"/>
              </a:rPr>
              <a:t>300K</a:t>
            </a:r>
            <a:r>
              <a:rPr lang="zh-CN" altLang="en-US" sz="2800" b="1" dirty="0">
                <a:latin typeface="Times New Roman" pitchFamily="18" charset="0"/>
                <a:ea typeface="微软雅黑" pitchFamily="34" charset="-122"/>
                <a:cs typeface="Times New Roman" pitchFamily="18" charset="0"/>
              </a:rPr>
              <a:t>）下，</a:t>
            </a:r>
            <a:r>
              <a:rPr lang="en-US" altLang="zh-CN" sz="2800" b="1" dirty="0">
                <a:latin typeface="Times New Roman" pitchFamily="18" charset="0"/>
                <a:ea typeface="微软雅黑" pitchFamily="34" charset="-122"/>
                <a:cs typeface="Times New Roman" pitchFamily="18" charset="0"/>
              </a:rPr>
              <a:t>V</a:t>
            </a:r>
            <a:r>
              <a:rPr lang="en-US" altLang="zh-CN" sz="2800" b="1" baseline="-25000" dirty="0">
                <a:latin typeface="Times New Roman" pitchFamily="18" charset="0"/>
                <a:ea typeface="微软雅黑" pitchFamily="34" charset="-122"/>
                <a:cs typeface="Times New Roman" pitchFamily="18" charset="0"/>
              </a:rPr>
              <a:t>T</a:t>
            </a:r>
            <a:r>
              <a:rPr lang="en-US" altLang="zh-CN" sz="2800" b="1" dirty="0">
                <a:latin typeface="Times New Roman" pitchFamily="18" charset="0"/>
                <a:ea typeface="微软雅黑" pitchFamily="34" charset="-122"/>
                <a:cs typeface="Times New Roman" pitchFamily="18" charset="0"/>
              </a:rPr>
              <a:t>=26mV</a:t>
            </a:r>
            <a:r>
              <a:rPr lang="zh-CN" altLang="en-US" sz="2800" b="1" dirty="0">
                <a:latin typeface="Times New Roman" pitchFamily="18" charset="0"/>
                <a:ea typeface="微软雅黑" pitchFamily="34" charset="-122"/>
                <a:cs typeface="Times New Roman" pitchFamily="18" charset="0"/>
              </a:rPr>
              <a:t>。</a:t>
            </a:r>
          </a:p>
        </p:txBody>
      </p:sp>
      <p:sp>
        <p:nvSpPr>
          <p:cNvPr id="15" name="文本框 60">
            <a:extLst>
              <a:ext uri="{FF2B5EF4-FFF2-40B4-BE49-F238E27FC236}">
                <a16:creationId xmlns="" xmlns:a16="http://schemas.microsoft.com/office/drawing/2014/main" id="{F0223D58-BC92-408C-B363-FD6C10E2BB3B}"/>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6" name="矩形 15">
            <a:extLst>
              <a:ext uri="{FF2B5EF4-FFF2-40B4-BE49-F238E27FC236}">
                <a16:creationId xmlns="" xmlns:a16="http://schemas.microsoft.com/office/drawing/2014/main" id="{5F9F8827-2DA1-475E-BB31-BA3156F069C3}"/>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 xmlns:a16="http://schemas.microsoft.com/office/drawing/2014/main" id="{5C1CE036-587C-4EE9-8659-056F29D9251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 xmlns:a16="http://schemas.microsoft.com/office/drawing/2014/main" id="{8BC78026-858A-427B-9A07-AC5288F793E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 xmlns:a16="http://schemas.microsoft.com/office/drawing/2014/main" id="{FCFBE745-2D64-4625-A4D3-88A6AA73F4A7}"/>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 xmlns:a16="http://schemas.microsoft.com/office/drawing/2014/main" id="{7E86286B-61FE-481A-B0D9-2A0FCC59F91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 xmlns:a16="http://schemas.microsoft.com/office/drawing/2014/main" id="{E424450F-357E-470B-8874-0655862A691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2711648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7" name="Object 1"/>
          <p:cNvGraphicFramePr>
            <a:graphicFrameLocks noChangeAspect="1"/>
          </p:cNvGraphicFramePr>
          <p:nvPr/>
        </p:nvGraphicFramePr>
        <p:xfrm>
          <a:off x="6323647" y="2815908"/>
          <a:ext cx="2993769" cy="948372"/>
        </p:xfrm>
        <a:graphic>
          <a:graphicData uri="http://schemas.openxmlformats.org/presentationml/2006/ole">
            <mc:AlternateContent xmlns:mc="http://schemas.openxmlformats.org/markup-compatibility/2006">
              <mc:Choice xmlns:v="urn:schemas-microsoft-com:vml" Requires="v">
                <p:oleObj spid="_x0000_s47268" name="公式" r:id="rId3" imgW="1536700" imgH="482600" progId="Equation.3">
                  <p:embed/>
                </p:oleObj>
              </mc:Choice>
              <mc:Fallback>
                <p:oleObj name="公式" r:id="rId3" imgW="1536700" imgH="482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647" y="2815908"/>
                        <a:ext cx="2993769" cy="948372"/>
                      </a:xfrm>
                      <a:prstGeom prst="rect">
                        <a:avLst/>
                      </a:prstGeom>
                      <a:solidFill>
                        <a:srgbClr val="FFFF00"/>
                      </a:solidFill>
                    </p:spPr>
                  </p:pic>
                </p:oleObj>
              </mc:Fallback>
            </mc:AlternateContent>
          </a:graphicData>
        </a:graphic>
      </p:graphicFrame>
      <p:sp>
        <p:nvSpPr>
          <p:cNvPr id="43018" name="TextBox 6"/>
          <p:cNvSpPr txBox="1">
            <a:spLocks noChangeArrowheads="1"/>
          </p:cNvSpPr>
          <p:nvPr/>
        </p:nvSpPr>
        <p:spPr bwMode="auto">
          <a:xfrm>
            <a:off x="2354898" y="3044508"/>
            <a:ext cx="3378200" cy="584775"/>
          </a:xfrm>
          <a:prstGeom prst="rect">
            <a:avLst/>
          </a:prstGeom>
          <a:noFill/>
          <a:ln w="9525">
            <a:noFill/>
            <a:miter lim="800000"/>
            <a:headEnd/>
            <a:tailEnd/>
          </a:ln>
        </p:spPr>
        <p:txBody>
          <a:bodyPr>
            <a:spAutoFit/>
          </a:bodyPr>
          <a:lstStyle/>
          <a:p>
            <a:pPr defTabSz="914400"/>
            <a:r>
              <a:rPr lang="en-US" altLang="zh-CN" sz="3200" b="1" dirty="0">
                <a:latin typeface="Times New Roman" pitchFamily="18" charset="0"/>
                <a:ea typeface="微软雅黑" pitchFamily="34" charset="-122"/>
                <a:cs typeface="Times New Roman" pitchFamily="18" charset="0"/>
              </a:rPr>
              <a:t>(1)PN</a:t>
            </a:r>
            <a:r>
              <a:rPr lang="zh-CN" altLang="en-US" sz="3200" b="1" dirty="0">
                <a:latin typeface="Times New Roman" pitchFamily="18" charset="0"/>
                <a:ea typeface="微软雅黑" pitchFamily="34" charset="-122"/>
                <a:cs typeface="Times New Roman" pitchFamily="18" charset="0"/>
              </a:rPr>
              <a:t>结无偏压时</a:t>
            </a:r>
          </a:p>
        </p:txBody>
      </p:sp>
      <p:sp>
        <p:nvSpPr>
          <p:cNvPr id="43019" name="TextBox 7"/>
          <p:cNvSpPr txBox="1">
            <a:spLocks noChangeArrowheads="1"/>
          </p:cNvSpPr>
          <p:nvPr/>
        </p:nvSpPr>
        <p:spPr bwMode="auto">
          <a:xfrm>
            <a:off x="2325688" y="4637088"/>
            <a:ext cx="3689350" cy="584775"/>
          </a:xfrm>
          <a:prstGeom prst="rect">
            <a:avLst/>
          </a:prstGeom>
          <a:noFill/>
          <a:ln w="9525">
            <a:noFill/>
            <a:miter lim="800000"/>
            <a:headEnd/>
            <a:tailEnd/>
          </a:ln>
        </p:spPr>
        <p:txBody>
          <a:bodyPr>
            <a:spAutoFit/>
          </a:bodyPr>
          <a:lstStyle/>
          <a:p>
            <a:pPr defTabSz="914400"/>
            <a:r>
              <a:rPr lang="en-US" altLang="zh-CN" sz="3200" b="1" dirty="0">
                <a:latin typeface="Times New Roman" pitchFamily="18" charset="0"/>
                <a:ea typeface="微软雅黑" pitchFamily="34" charset="-122"/>
                <a:cs typeface="Times New Roman" pitchFamily="18" charset="0"/>
              </a:rPr>
              <a:t>(2)PN</a:t>
            </a:r>
            <a:r>
              <a:rPr lang="zh-CN" altLang="en-US" sz="3200" b="1" dirty="0">
                <a:latin typeface="Times New Roman" pitchFamily="18" charset="0"/>
                <a:ea typeface="微软雅黑" pitchFamily="34" charset="-122"/>
                <a:cs typeface="Times New Roman" pitchFamily="18" charset="0"/>
              </a:rPr>
              <a:t>结正向偏压时</a:t>
            </a:r>
          </a:p>
        </p:txBody>
      </p:sp>
      <p:graphicFrame>
        <p:nvGraphicFramePr>
          <p:cNvPr id="43021" name="Object 3"/>
          <p:cNvGraphicFramePr>
            <a:graphicFrameLocks noChangeAspect="1"/>
          </p:cNvGraphicFramePr>
          <p:nvPr>
            <p:extLst>
              <p:ext uri="{D42A27DB-BD31-4B8C-83A1-F6EECF244321}">
                <p14:modId xmlns:p14="http://schemas.microsoft.com/office/powerpoint/2010/main" val="2383810827"/>
              </p:ext>
            </p:extLst>
          </p:nvPr>
        </p:nvGraphicFramePr>
        <p:xfrm>
          <a:off x="6338888" y="4348163"/>
          <a:ext cx="3887787" cy="1031875"/>
        </p:xfrm>
        <a:graphic>
          <a:graphicData uri="http://schemas.openxmlformats.org/presentationml/2006/ole">
            <mc:AlternateContent xmlns:mc="http://schemas.openxmlformats.org/markup-compatibility/2006">
              <mc:Choice xmlns:v="urn:schemas-microsoft-com:vml" Requires="v">
                <p:oleObj spid="_x0000_s47269" name="Equation" r:id="rId5" imgW="1828800" imgH="482400" progId="Equation.DSMT4">
                  <p:embed/>
                </p:oleObj>
              </mc:Choice>
              <mc:Fallback>
                <p:oleObj name="Equation" r:id="rId5" imgW="1828800" imgH="482400" progId="Equation.DSMT4">
                  <p:embed/>
                  <p:pic>
                    <p:nvPicPr>
                      <p:cNvPr id="0" name=""/>
                      <p:cNvPicPr>
                        <a:picLocks noChangeAspect="1" noChangeArrowheads="1"/>
                      </p:cNvPicPr>
                      <p:nvPr/>
                    </p:nvPicPr>
                    <p:blipFill>
                      <a:blip r:embed="rId6"/>
                      <a:srcRect/>
                      <a:stretch>
                        <a:fillRect/>
                      </a:stretch>
                    </p:blipFill>
                    <p:spPr bwMode="auto">
                      <a:xfrm>
                        <a:off x="6338888" y="4348163"/>
                        <a:ext cx="3887787" cy="1031875"/>
                      </a:xfrm>
                      <a:prstGeom prst="rect">
                        <a:avLst/>
                      </a:prstGeom>
                      <a:solidFill>
                        <a:srgbClr val="FFCC00"/>
                      </a:solidFill>
                    </p:spPr>
                  </p:pic>
                </p:oleObj>
              </mc:Fallback>
            </mc:AlternateContent>
          </a:graphicData>
        </a:graphic>
      </p:graphicFrame>
      <p:sp>
        <p:nvSpPr>
          <p:cNvPr id="43022" name="TextBox 10"/>
          <p:cNvSpPr txBox="1">
            <a:spLocks noChangeArrowheads="1"/>
          </p:cNvSpPr>
          <p:nvPr/>
        </p:nvSpPr>
        <p:spPr bwMode="auto">
          <a:xfrm>
            <a:off x="2368868" y="6036628"/>
            <a:ext cx="3689350" cy="584775"/>
          </a:xfrm>
          <a:prstGeom prst="rect">
            <a:avLst/>
          </a:prstGeom>
          <a:noFill/>
          <a:ln w="9525">
            <a:noFill/>
            <a:miter lim="800000"/>
            <a:headEnd/>
            <a:tailEnd/>
          </a:ln>
        </p:spPr>
        <p:txBody>
          <a:bodyPr>
            <a:spAutoFit/>
          </a:bodyPr>
          <a:lstStyle/>
          <a:p>
            <a:pPr defTabSz="914400"/>
            <a:r>
              <a:rPr lang="en-US" altLang="zh-CN" sz="3200" b="1" dirty="0">
                <a:latin typeface="Times New Roman" pitchFamily="18" charset="0"/>
                <a:ea typeface="微软雅黑" pitchFamily="34" charset="-122"/>
                <a:cs typeface="Times New Roman" pitchFamily="18" charset="0"/>
              </a:rPr>
              <a:t>(3)PN</a:t>
            </a:r>
            <a:r>
              <a:rPr lang="zh-CN" altLang="en-US" sz="3200" b="1" dirty="0">
                <a:latin typeface="Times New Roman" pitchFamily="18" charset="0"/>
                <a:ea typeface="微软雅黑" pitchFamily="34" charset="-122"/>
                <a:cs typeface="Times New Roman" pitchFamily="18" charset="0"/>
              </a:rPr>
              <a:t>结反向偏压时</a:t>
            </a:r>
          </a:p>
        </p:txBody>
      </p:sp>
      <p:graphicFrame>
        <p:nvGraphicFramePr>
          <p:cNvPr id="43023" name="Object 5"/>
          <p:cNvGraphicFramePr>
            <a:graphicFrameLocks noChangeAspect="1"/>
          </p:cNvGraphicFramePr>
          <p:nvPr>
            <p:extLst>
              <p:ext uri="{D42A27DB-BD31-4B8C-83A1-F6EECF244321}">
                <p14:modId xmlns:p14="http://schemas.microsoft.com/office/powerpoint/2010/main" val="3712847852"/>
              </p:ext>
            </p:extLst>
          </p:nvPr>
        </p:nvGraphicFramePr>
        <p:xfrm>
          <a:off x="6338888" y="5748338"/>
          <a:ext cx="3840162" cy="1017587"/>
        </p:xfrm>
        <a:graphic>
          <a:graphicData uri="http://schemas.openxmlformats.org/presentationml/2006/ole">
            <mc:AlternateContent xmlns:mc="http://schemas.openxmlformats.org/markup-compatibility/2006">
              <mc:Choice xmlns:v="urn:schemas-microsoft-com:vml" Requires="v">
                <p:oleObj spid="_x0000_s47270" name="Equation" r:id="rId7" imgW="1828800" imgH="482400" progId="Equation.DSMT4">
                  <p:embed/>
                </p:oleObj>
              </mc:Choice>
              <mc:Fallback>
                <p:oleObj name="Equation" r:id="rId7" imgW="1828800" imgH="482400" progId="Equation.DSMT4">
                  <p:embed/>
                  <p:pic>
                    <p:nvPicPr>
                      <p:cNvPr id="0" name=""/>
                      <p:cNvPicPr>
                        <a:picLocks noChangeAspect="1" noChangeArrowheads="1"/>
                      </p:cNvPicPr>
                      <p:nvPr/>
                    </p:nvPicPr>
                    <p:blipFill>
                      <a:blip r:embed="rId8"/>
                      <a:srcRect/>
                      <a:stretch>
                        <a:fillRect/>
                      </a:stretch>
                    </p:blipFill>
                    <p:spPr bwMode="auto">
                      <a:xfrm>
                        <a:off x="6338888" y="5748338"/>
                        <a:ext cx="3840162" cy="1017587"/>
                      </a:xfrm>
                      <a:prstGeom prst="rect">
                        <a:avLst/>
                      </a:prstGeom>
                      <a:solidFill>
                        <a:srgbClr val="FF9900"/>
                      </a:solidFill>
                    </p:spPr>
                  </p:pic>
                </p:oleObj>
              </mc:Fallback>
            </mc:AlternateContent>
          </a:graphicData>
        </a:graphic>
      </p:graphicFrame>
      <p:sp>
        <p:nvSpPr>
          <p:cNvPr id="43024" name="Rectangle 3"/>
          <p:cNvSpPr>
            <a:spLocks noChangeArrowheads="1"/>
          </p:cNvSpPr>
          <p:nvPr/>
        </p:nvSpPr>
        <p:spPr bwMode="auto">
          <a:xfrm>
            <a:off x="3182938" y="1260416"/>
            <a:ext cx="6486842" cy="615553"/>
          </a:xfrm>
          <a:prstGeom prst="rect">
            <a:avLst/>
          </a:prstGeom>
          <a:gradFill rotWithShape="1">
            <a:gsLst>
              <a:gs pos="0">
                <a:srgbClr val="FFF200"/>
              </a:gs>
              <a:gs pos="45000">
                <a:srgbClr val="FF7A00"/>
              </a:gs>
              <a:gs pos="70000">
                <a:srgbClr val="FF0300"/>
              </a:gs>
              <a:gs pos="100000">
                <a:srgbClr val="4D0808"/>
              </a:gs>
            </a:gsLst>
            <a:path path="rect">
              <a:fillToRect l="100000" t="100000"/>
            </a:path>
          </a:gradFill>
          <a:ln w="9525">
            <a:noFill/>
            <a:miter lim="800000"/>
            <a:headEnd/>
            <a:tailEnd/>
          </a:ln>
        </p:spPr>
        <p:txBody>
          <a:bodyPr wrap="square" lIns="0" tIns="0" rIns="0" bIns="0" anchor="ctr">
            <a:spAutoFit/>
          </a:bodyPr>
          <a:lstStyle/>
          <a:p>
            <a:pPr algn="ctr" defTabSz="914400"/>
            <a:r>
              <a:rPr lang="en-US" altLang="zh-CN" sz="4000" b="1" dirty="0">
                <a:solidFill>
                  <a:srgbClr val="0000CC"/>
                </a:solidFill>
                <a:latin typeface="微软雅黑" pitchFamily="34" charset="-122"/>
                <a:ea typeface="微软雅黑" pitchFamily="34" charset="-122"/>
                <a:cs typeface="Times New Roman" pitchFamily="18" charset="0"/>
              </a:rPr>
              <a:t>5 PN</a:t>
            </a:r>
            <a:r>
              <a:rPr lang="zh-CN" altLang="en-US" sz="4000" b="1" dirty="0">
                <a:solidFill>
                  <a:srgbClr val="0000CC"/>
                </a:solidFill>
                <a:latin typeface="微软雅黑" pitchFamily="34" charset="-122"/>
                <a:ea typeface="微软雅黑" pitchFamily="34" charset="-122"/>
                <a:cs typeface="Times New Roman" pitchFamily="18" charset="0"/>
              </a:rPr>
              <a:t>结耗尽层宽度</a:t>
            </a:r>
          </a:p>
        </p:txBody>
      </p:sp>
      <p:sp>
        <p:nvSpPr>
          <p:cNvPr id="16" name="文本框 60">
            <a:extLst>
              <a:ext uri="{FF2B5EF4-FFF2-40B4-BE49-F238E27FC236}">
                <a16:creationId xmlns="" xmlns:a16="http://schemas.microsoft.com/office/drawing/2014/main" id="{763517CC-D387-4AD9-93DF-FFCB61FA80B8}"/>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7" name="矩形 16">
            <a:extLst>
              <a:ext uri="{FF2B5EF4-FFF2-40B4-BE49-F238E27FC236}">
                <a16:creationId xmlns="" xmlns:a16="http://schemas.microsoft.com/office/drawing/2014/main" id="{9118AF53-CE5E-4B3A-A256-9C6FDBBE207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 xmlns:a16="http://schemas.microsoft.com/office/drawing/2014/main" id="{72EE7300-C497-49AE-ADD9-A5240610F516}"/>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FAD4FFC4-78BB-45DD-9BB4-954417328E01}"/>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B6E6B345-7D69-43A5-91CA-A03475301BD5}"/>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8931FB71-A2B4-43D2-A3D3-CE6D06A2F83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BCB7AF63-BE0E-4B11-8A83-ADD910D540A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8464148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ChangeArrowheads="1"/>
          </p:cNvSpPr>
          <p:nvPr/>
        </p:nvSpPr>
        <p:spPr bwMode="auto">
          <a:xfrm>
            <a:off x="4446904" y="1205656"/>
            <a:ext cx="4697095" cy="830997"/>
          </a:xfrm>
          <a:prstGeom prst="rect">
            <a:avLst/>
          </a:prstGeom>
          <a:gradFill rotWithShape="1">
            <a:gsLst>
              <a:gs pos="0">
                <a:srgbClr val="FFF200"/>
              </a:gs>
              <a:gs pos="45000">
                <a:srgbClr val="FF7A00"/>
              </a:gs>
              <a:gs pos="70000">
                <a:srgbClr val="FF0300"/>
              </a:gs>
              <a:gs pos="100000">
                <a:srgbClr val="4D0808"/>
              </a:gs>
            </a:gsLst>
            <a:lin ang="13500000" scaled="1"/>
          </a:gradFill>
          <a:ln w="9525">
            <a:noFill/>
            <a:miter lim="800000"/>
            <a:headEnd/>
            <a:tailEnd/>
          </a:ln>
        </p:spPr>
        <p:txBody>
          <a:bodyPr wrap="square" anchor="ctr">
            <a:spAutoFit/>
          </a:bodyPr>
          <a:lstStyle/>
          <a:p>
            <a:pPr algn="ctr" defTabSz="914400"/>
            <a:r>
              <a:rPr lang="en-US" altLang="zh-CN" sz="4800" b="1" dirty="0">
                <a:latin typeface="Times New Roman" pitchFamily="18" charset="0"/>
                <a:ea typeface="微软雅黑" pitchFamily="34" charset="-122"/>
                <a:cs typeface="Times New Roman" pitchFamily="18" charset="0"/>
              </a:rPr>
              <a:t>6  PN</a:t>
            </a:r>
            <a:r>
              <a:rPr lang="zh-CN" altLang="en-US" sz="4800" b="1" dirty="0">
                <a:latin typeface="Times New Roman" pitchFamily="18" charset="0"/>
                <a:ea typeface="微软雅黑" pitchFamily="34" charset="-122"/>
                <a:cs typeface="Times New Roman" pitchFamily="18" charset="0"/>
              </a:rPr>
              <a:t>结电容</a:t>
            </a:r>
          </a:p>
        </p:txBody>
      </p:sp>
      <p:graphicFrame>
        <p:nvGraphicFramePr>
          <p:cNvPr id="13314" name="Object 1"/>
          <p:cNvGraphicFramePr>
            <a:graphicFrameLocks noChangeAspect="1"/>
          </p:cNvGraphicFramePr>
          <p:nvPr>
            <p:extLst>
              <p:ext uri="{D42A27DB-BD31-4B8C-83A1-F6EECF244321}">
                <p14:modId xmlns:p14="http://schemas.microsoft.com/office/powerpoint/2010/main" val="3917629835"/>
              </p:ext>
            </p:extLst>
          </p:nvPr>
        </p:nvGraphicFramePr>
        <p:xfrm>
          <a:off x="5957888" y="2235200"/>
          <a:ext cx="4305300" cy="788988"/>
        </p:xfrm>
        <a:graphic>
          <a:graphicData uri="http://schemas.openxmlformats.org/presentationml/2006/ole">
            <mc:AlternateContent xmlns:mc="http://schemas.openxmlformats.org/markup-compatibility/2006">
              <mc:Choice xmlns:v="urn:schemas-microsoft-com:vml" Requires="v">
                <p:oleObj spid="_x0000_s48238" name="Equation" r:id="rId3" imgW="2336760" imgH="431640" progId="Equation.DSMT4">
                  <p:embed/>
                </p:oleObj>
              </mc:Choice>
              <mc:Fallback>
                <p:oleObj name="Equation" r:id="rId3" imgW="2336760" imgH="431640" progId="Equation.DSMT4">
                  <p:embed/>
                  <p:pic>
                    <p:nvPicPr>
                      <p:cNvPr id="0" name=""/>
                      <p:cNvPicPr>
                        <a:picLocks noChangeAspect="1" noChangeArrowheads="1"/>
                      </p:cNvPicPr>
                      <p:nvPr/>
                    </p:nvPicPr>
                    <p:blipFill>
                      <a:blip r:embed="rId4"/>
                      <a:srcRect/>
                      <a:stretch>
                        <a:fillRect/>
                      </a:stretch>
                    </p:blipFill>
                    <p:spPr bwMode="auto">
                      <a:xfrm>
                        <a:off x="5957888" y="2235200"/>
                        <a:ext cx="4305300" cy="788988"/>
                      </a:xfrm>
                      <a:prstGeom prst="rect">
                        <a:avLst/>
                      </a:prstGeom>
                      <a:solidFill>
                        <a:srgbClr val="FFFF00"/>
                      </a:solidFill>
                    </p:spPr>
                  </p:pic>
                </p:oleObj>
              </mc:Fallback>
            </mc:AlternateContent>
          </a:graphicData>
        </a:graphic>
      </p:graphicFrame>
      <p:sp>
        <p:nvSpPr>
          <p:cNvPr id="13318" name="TextBox 4"/>
          <p:cNvSpPr txBox="1">
            <a:spLocks noChangeArrowheads="1"/>
          </p:cNvSpPr>
          <p:nvPr/>
        </p:nvSpPr>
        <p:spPr bwMode="auto">
          <a:xfrm>
            <a:off x="2263775" y="2344103"/>
            <a:ext cx="3683000" cy="579437"/>
          </a:xfrm>
          <a:prstGeom prst="rect">
            <a:avLst/>
          </a:prstGeom>
          <a:noFill/>
          <a:ln w="9525">
            <a:noFill/>
            <a:miter lim="800000"/>
            <a:headEnd/>
            <a:tailEnd/>
          </a:ln>
        </p:spPr>
        <p:txBody>
          <a:bodyPr>
            <a:spAutoFit/>
          </a:bodyPr>
          <a:lstStyle/>
          <a:p>
            <a:pPr defTabSz="914400"/>
            <a:r>
              <a:rPr lang="zh-CN" altLang="en-US" sz="3200" b="1" dirty="0">
                <a:latin typeface="Times New Roman" pitchFamily="18" charset="0"/>
                <a:ea typeface="微软雅黑" pitchFamily="34" charset="-122"/>
                <a:cs typeface="Times New Roman" pitchFamily="18" charset="0"/>
              </a:rPr>
              <a:t>突变</a:t>
            </a:r>
            <a:r>
              <a:rPr lang="en-US" altLang="zh-CN" sz="3200" b="1" dirty="0">
                <a:latin typeface="Times New Roman" pitchFamily="18" charset="0"/>
                <a:ea typeface="微软雅黑" pitchFamily="34" charset="-122"/>
                <a:cs typeface="Times New Roman" pitchFamily="18" charset="0"/>
              </a:rPr>
              <a:t>PN</a:t>
            </a:r>
            <a:r>
              <a:rPr lang="zh-CN" altLang="en-US" sz="3200" b="1" dirty="0">
                <a:latin typeface="Times New Roman" pitchFamily="18" charset="0"/>
                <a:ea typeface="微软雅黑" pitchFamily="34" charset="-122"/>
                <a:cs typeface="Times New Roman" pitchFamily="18" charset="0"/>
              </a:rPr>
              <a:t>结势垒电容</a:t>
            </a:r>
            <a:r>
              <a:rPr lang="zh-CN" altLang="en-US" sz="2800" b="1" dirty="0">
                <a:latin typeface="Times New Roman" pitchFamily="18" charset="0"/>
                <a:ea typeface="微软雅黑" pitchFamily="34" charset="-122"/>
                <a:cs typeface="Times New Roman" pitchFamily="18" charset="0"/>
              </a:rPr>
              <a:t>：</a:t>
            </a:r>
          </a:p>
        </p:txBody>
      </p:sp>
      <p:sp>
        <p:nvSpPr>
          <p:cNvPr id="13319" name="TextBox 5"/>
          <p:cNvSpPr txBox="1">
            <a:spLocks noChangeArrowheads="1"/>
          </p:cNvSpPr>
          <p:nvPr/>
        </p:nvSpPr>
        <p:spPr bwMode="auto">
          <a:xfrm>
            <a:off x="2386965" y="5064443"/>
            <a:ext cx="3638550" cy="584775"/>
          </a:xfrm>
          <a:prstGeom prst="rect">
            <a:avLst/>
          </a:prstGeom>
          <a:noFill/>
          <a:ln w="9525">
            <a:noFill/>
            <a:miter lim="800000"/>
            <a:headEnd/>
            <a:tailEnd/>
          </a:ln>
        </p:spPr>
        <p:txBody>
          <a:bodyPr>
            <a:spAutoFit/>
          </a:bodyPr>
          <a:lstStyle/>
          <a:p>
            <a:pPr defTabSz="914400"/>
            <a:r>
              <a:rPr lang="zh-CN" altLang="en-US" sz="3200" b="1" dirty="0">
                <a:latin typeface="Times New Roman" pitchFamily="18" charset="0"/>
                <a:ea typeface="微软雅黑" pitchFamily="34" charset="-122"/>
                <a:cs typeface="Times New Roman" pitchFamily="18" charset="0"/>
              </a:rPr>
              <a:t>缓变</a:t>
            </a:r>
            <a:r>
              <a:rPr lang="en-US" altLang="zh-CN" sz="3200" b="1" dirty="0">
                <a:latin typeface="Times New Roman" pitchFamily="18" charset="0"/>
                <a:ea typeface="微软雅黑" pitchFamily="34" charset="-122"/>
                <a:cs typeface="Times New Roman" pitchFamily="18" charset="0"/>
              </a:rPr>
              <a:t>PN</a:t>
            </a:r>
            <a:r>
              <a:rPr lang="zh-CN" altLang="en-US" sz="3200" b="1" dirty="0">
                <a:latin typeface="Times New Roman" pitchFamily="18" charset="0"/>
                <a:ea typeface="微软雅黑" pitchFamily="34" charset="-122"/>
                <a:cs typeface="Times New Roman" pitchFamily="18" charset="0"/>
              </a:rPr>
              <a:t>结势垒电容：</a:t>
            </a:r>
          </a:p>
        </p:txBody>
      </p:sp>
      <p:graphicFrame>
        <p:nvGraphicFramePr>
          <p:cNvPr id="13315" name="Object 3"/>
          <p:cNvGraphicFramePr>
            <a:graphicFrameLocks noChangeAspect="1"/>
          </p:cNvGraphicFramePr>
          <p:nvPr>
            <p:extLst>
              <p:ext uri="{D42A27DB-BD31-4B8C-83A1-F6EECF244321}">
                <p14:modId xmlns:p14="http://schemas.microsoft.com/office/powerpoint/2010/main" val="1741074651"/>
              </p:ext>
            </p:extLst>
          </p:nvPr>
        </p:nvGraphicFramePr>
        <p:xfrm>
          <a:off x="6221413" y="4776788"/>
          <a:ext cx="3786187" cy="998537"/>
        </p:xfrm>
        <a:graphic>
          <a:graphicData uri="http://schemas.openxmlformats.org/presentationml/2006/ole">
            <mc:AlternateContent xmlns:mc="http://schemas.openxmlformats.org/markup-compatibility/2006">
              <mc:Choice xmlns:v="urn:schemas-microsoft-com:vml" Requires="v">
                <p:oleObj spid="_x0000_s48239" name="Equation" r:id="rId5" imgW="1765080" imgH="469800" progId="Equation.DSMT4">
                  <p:embed/>
                </p:oleObj>
              </mc:Choice>
              <mc:Fallback>
                <p:oleObj name="Equation" r:id="rId5" imgW="1765080" imgH="469800" progId="Equation.DSMT4">
                  <p:embed/>
                  <p:pic>
                    <p:nvPicPr>
                      <p:cNvPr id="0" name=""/>
                      <p:cNvPicPr>
                        <a:picLocks noChangeAspect="1" noChangeArrowheads="1"/>
                      </p:cNvPicPr>
                      <p:nvPr/>
                    </p:nvPicPr>
                    <p:blipFill>
                      <a:blip r:embed="rId6"/>
                      <a:srcRect/>
                      <a:stretch>
                        <a:fillRect/>
                      </a:stretch>
                    </p:blipFill>
                    <p:spPr bwMode="auto">
                      <a:xfrm>
                        <a:off x="6221413" y="4776788"/>
                        <a:ext cx="3786187" cy="998537"/>
                      </a:xfrm>
                      <a:prstGeom prst="rect">
                        <a:avLst/>
                      </a:prstGeom>
                      <a:solidFill>
                        <a:srgbClr val="FFFF00"/>
                      </a:solidFill>
                    </p:spPr>
                  </p:pic>
                </p:oleObj>
              </mc:Fallback>
            </mc:AlternateContent>
          </a:graphicData>
        </a:graphic>
      </p:graphicFrame>
      <p:sp>
        <p:nvSpPr>
          <p:cNvPr id="13321" name="TextBox 8"/>
          <p:cNvSpPr txBox="1">
            <a:spLocks noChangeArrowheads="1"/>
          </p:cNvSpPr>
          <p:nvPr/>
        </p:nvSpPr>
        <p:spPr bwMode="auto">
          <a:xfrm>
            <a:off x="727074" y="3128963"/>
            <a:ext cx="12181205" cy="1569660"/>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Times New Roman" pitchFamily="18" charset="0"/>
                <a:ea typeface="微软雅黑" pitchFamily="34" charset="-122"/>
                <a:cs typeface="Times New Roman" pitchFamily="18" charset="0"/>
              </a:rPr>
              <a:t>外加正向偏置电压，结电容变大；</a:t>
            </a:r>
            <a:r>
              <a:rPr lang="zh-CN" altLang="en-US" sz="3200" b="1" dirty="0">
                <a:solidFill>
                  <a:srgbClr val="FF00FF"/>
                </a:solidFill>
                <a:latin typeface="Times New Roman" pitchFamily="18" charset="0"/>
                <a:ea typeface="微软雅黑" pitchFamily="34" charset="-122"/>
                <a:cs typeface="Times New Roman" pitchFamily="18" charset="0"/>
              </a:rPr>
              <a:t>外加反向偏置电压，结电容变小。</a:t>
            </a:r>
            <a:r>
              <a:rPr lang="zh-CN" altLang="en-US" sz="3200" b="1" dirty="0">
                <a:latin typeface="Times New Roman" pitchFamily="18" charset="0"/>
                <a:ea typeface="微软雅黑" pitchFamily="34" charset="-122"/>
                <a:cs typeface="Times New Roman" pitchFamily="18" charset="0"/>
              </a:rPr>
              <a:t>减小结电容提高光伏探测器的响应速度。</a:t>
            </a:r>
          </a:p>
        </p:txBody>
      </p:sp>
      <p:sp>
        <p:nvSpPr>
          <p:cNvPr id="13322" name="TextBox 9"/>
          <p:cNvSpPr txBox="1">
            <a:spLocks noChangeArrowheads="1"/>
          </p:cNvSpPr>
          <p:nvPr/>
        </p:nvSpPr>
        <p:spPr bwMode="auto">
          <a:xfrm>
            <a:off x="853440" y="5681663"/>
            <a:ext cx="11887199" cy="1569660"/>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Times New Roman" pitchFamily="18" charset="0"/>
                <a:ea typeface="微软雅黑" pitchFamily="34" charset="-122"/>
                <a:cs typeface="Times New Roman" pitchFamily="18" charset="0"/>
              </a:rPr>
              <a:t>线性缓变结的势垒电容和结面积及杂质浓度梯度的立方根成正比，因此</a:t>
            </a:r>
            <a:r>
              <a:rPr lang="zh-CN" altLang="en-US" sz="3200" b="1" dirty="0">
                <a:solidFill>
                  <a:srgbClr val="FF00FF"/>
                </a:solidFill>
                <a:latin typeface="Times New Roman" pitchFamily="18" charset="0"/>
                <a:ea typeface="微软雅黑" pitchFamily="34" charset="-122"/>
                <a:cs typeface="Times New Roman" pitchFamily="18" charset="0"/>
              </a:rPr>
              <a:t>减小结面积和降低杂质浓度梯度</a:t>
            </a:r>
            <a:r>
              <a:rPr lang="zh-CN" altLang="en-US" sz="3200" b="1" dirty="0">
                <a:latin typeface="Times New Roman" pitchFamily="18" charset="0"/>
                <a:ea typeface="微软雅黑" pitchFamily="34" charset="-122"/>
                <a:cs typeface="Times New Roman" pitchFamily="18" charset="0"/>
              </a:rPr>
              <a:t>有利于减小势垒电容。</a:t>
            </a:r>
          </a:p>
        </p:txBody>
      </p:sp>
      <p:sp>
        <p:nvSpPr>
          <p:cNvPr id="16" name="文本框 60">
            <a:extLst>
              <a:ext uri="{FF2B5EF4-FFF2-40B4-BE49-F238E27FC236}">
                <a16:creationId xmlns="" xmlns:a16="http://schemas.microsoft.com/office/drawing/2014/main" id="{E08511E1-3AC0-451D-AAC7-882CD19E5BB0}"/>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7" name="矩形 16">
            <a:extLst>
              <a:ext uri="{FF2B5EF4-FFF2-40B4-BE49-F238E27FC236}">
                <a16:creationId xmlns="" xmlns:a16="http://schemas.microsoft.com/office/drawing/2014/main" id="{ACCF6965-9D04-48AF-BB06-46C499923AC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 xmlns:a16="http://schemas.microsoft.com/office/drawing/2014/main" id="{84F09CED-DBBF-4AB2-95B9-5F8AB39301C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888EEDC0-1079-4D12-ACF5-D49B004A6B31}"/>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63303883-BF2B-4835-9B64-8CEB1778C88B}"/>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B090DD49-1171-4FEA-8921-C440805A9C5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344E375B-931B-4CA5-BA36-26E57F4318B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85417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box(in)">
                                      <p:cBhvr>
                                        <p:cTn id="7" dur="500"/>
                                        <p:tgtEl>
                                          <p:spTgt spid="1331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318"/>
                                        </p:tgtEl>
                                        <p:attrNameLst>
                                          <p:attrName>style.visibility</p:attrName>
                                        </p:attrNameLst>
                                      </p:cBhvr>
                                      <p:to>
                                        <p:strVal val="visible"/>
                                      </p:to>
                                    </p:set>
                                    <p:animEffect transition="in" filter="box(in)">
                                      <p:cBhvr>
                                        <p:cTn id="12" dur="500"/>
                                        <p:tgtEl>
                                          <p:spTgt spid="133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314"/>
                                        </p:tgtEl>
                                        <p:attrNameLst>
                                          <p:attrName>style.visibility</p:attrName>
                                        </p:attrNameLst>
                                      </p:cBhvr>
                                      <p:to>
                                        <p:strVal val="visible"/>
                                      </p:to>
                                    </p:set>
                                    <p:animEffect transition="in" filter="box(in)">
                                      <p:cBhvr>
                                        <p:cTn id="17" dur="500"/>
                                        <p:tgtEl>
                                          <p:spTgt spid="1331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321"/>
                                        </p:tgtEl>
                                        <p:attrNameLst>
                                          <p:attrName>style.visibility</p:attrName>
                                        </p:attrNameLst>
                                      </p:cBhvr>
                                      <p:to>
                                        <p:strVal val="visible"/>
                                      </p:to>
                                    </p:set>
                                    <p:animEffect transition="in" filter="box(in)">
                                      <p:cBhvr>
                                        <p:cTn id="22" dur="500"/>
                                        <p:tgtEl>
                                          <p:spTgt spid="1332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3319"/>
                                        </p:tgtEl>
                                        <p:attrNameLst>
                                          <p:attrName>style.visibility</p:attrName>
                                        </p:attrNameLst>
                                      </p:cBhvr>
                                      <p:to>
                                        <p:strVal val="visible"/>
                                      </p:to>
                                    </p:set>
                                    <p:animEffect transition="in" filter="box(in)">
                                      <p:cBhvr>
                                        <p:cTn id="27" dur="500"/>
                                        <p:tgtEl>
                                          <p:spTgt spid="1331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3315"/>
                                        </p:tgtEl>
                                        <p:attrNameLst>
                                          <p:attrName>style.visibility</p:attrName>
                                        </p:attrNameLst>
                                      </p:cBhvr>
                                      <p:to>
                                        <p:strVal val="visible"/>
                                      </p:to>
                                    </p:set>
                                    <p:animEffect transition="in" filter="box(in)">
                                      <p:cBhvr>
                                        <p:cTn id="32" dur="500"/>
                                        <p:tgtEl>
                                          <p:spTgt spid="1331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3322"/>
                                        </p:tgtEl>
                                        <p:attrNameLst>
                                          <p:attrName>style.visibility</p:attrName>
                                        </p:attrNameLst>
                                      </p:cBhvr>
                                      <p:to>
                                        <p:strVal val="visible"/>
                                      </p:to>
                                    </p:set>
                                    <p:animEffect transition="in" filter="box(in)">
                                      <p:cBhvr>
                                        <p:cTn id="37"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nimBg="1"/>
      <p:bldP spid="13318" grpId="0"/>
      <p:bldP spid="13319" grpId="0"/>
      <p:bldP spid="13321" grpId="0"/>
      <p:bldP spid="133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2"/>
          <p:cNvGrpSpPr>
            <a:grpSpLocks/>
          </p:cNvGrpSpPr>
          <p:nvPr/>
        </p:nvGrpSpPr>
        <p:grpSpPr bwMode="auto">
          <a:xfrm>
            <a:off x="5467350" y="2985135"/>
            <a:ext cx="2222500" cy="427038"/>
            <a:chOff x="3238500" y="1606550"/>
            <a:chExt cx="2222500" cy="427038"/>
          </a:xfrm>
        </p:grpSpPr>
        <p:cxnSp>
          <p:nvCxnSpPr>
            <p:cNvPr id="201" name="直接箭头连接符 200"/>
            <p:cNvCxnSpPr/>
            <p:nvPr/>
          </p:nvCxnSpPr>
          <p:spPr>
            <a:xfrm rot="10800000">
              <a:off x="3505200" y="1828800"/>
              <a:ext cx="1955800" cy="1588"/>
            </a:xfrm>
            <a:prstGeom prst="straightConnector1">
              <a:avLst/>
            </a:prstGeom>
            <a:ln w="508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5066" name="Text Box 124"/>
            <p:cNvSpPr txBox="1">
              <a:spLocks noChangeArrowheads="1"/>
            </p:cNvSpPr>
            <p:nvPr/>
          </p:nvSpPr>
          <p:spPr bwMode="auto">
            <a:xfrm>
              <a:off x="3238500" y="1606550"/>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微软雅黑" pitchFamily="34" charset="-122"/>
                  <a:cs typeface="Times New Roman" pitchFamily="18" charset="0"/>
                </a:rPr>
                <a:t>E</a:t>
              </a:r>
              <a:endParaRPr lang="zh-CN" altLang="zh-CN" sz="7200" b="1">
                <a:latin typeface="Times New Roman" pitchFamily="18" charset="0"/>
                <a:ea typeface="微软雅黑" pitchFamily="34" charset="-122"/>
                <a:cs typeface="Times New Roman" pitchFamily="18" charset="0"/>
              </a:endParaRPr>
            </a:p>
          </p:txBody>
        </p:sp>
      </p:grpSp>
      <p:sp>
        <p:nvSpPr>
          <p:cNvPr id="45067" name="Rectangle 5"/>
          <p:cNvSpPr>
            <a:spLocks noChangeArrowheads="1"/>
          </p:cNvSpPr>
          <p:nvPr/>
        </p:nvSpPr>
        <p:spPr bwMode="auto">
          <a:xfrm>
            <a:off x="4370388" y="3567748"/>
            <a:ext cx="4786312" cy="2030412"/>
          </a:xfrm>
          <a:prstGeom prst="rect">
            <a:avLst/>
          </a:prstGeom>
          <a:solidFill>
            <a:srgbClr val="FFFFFF"/>
          </a:solidFill>
          <a:ln w="50800">
            <a:solidFill>
              <a:srgbClr val="000000"/>
            </a:solidFill>
            <a:miter lim="800000"/>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068" name="Line 6"/>
          <p:cNvSpPr>
            <a:spLocks noChangeShapeType="1"/>
          </p:cNvSpPr>
          <p:nvPr/>
        </p:nvSpPr>
        <p:spPr bwMode="auto">
          <a:xfrm>
            <a:off x="6710363" y="3567748"/>
            <a:ext cx="1587" cy="2028825"/>
          </a:xfrm>
          <a:prstGeom prst="line">
            <a:avLst/>
          </a:prstGeom>
          <a:noFill/>
          <a:ln w="38100">
            <a:solidFill>
              <a:srgbClr val="000000"/>
            </a:solidFill>
            <a:prstDash val="dash"/>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nvGrpSpPr>
          <p:cNvPr id="45069" name="组合 345"/>
          <p:cNvGrpSpPr>
            <a:grpSpLocks/>
          </p:cNvGrpSpPr>
          <p:nvPr/>
        </p:nvGrpSpPr>
        <p:grpSpPr bwMode="auto">
          <a:xfrm>
            <a:off x="4533900" y="3601085"/>
            <a:ext cx="265113" cy="436563"/>
            <a:chOff x="3708391" y="4698272"/>
            <a:chExt cx="265290" cy="436662"/>
          </a:xfrm>
        </p:grpSpPr>
        <p:sp>
          <p:nvSpPr>
            <p:cNvPr id="45070"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071" name="组合 127"/>
            <p:cNvGrpSpPr>
              <a:grpSpLocks/>
            </p:cNvGrpSpPr>
            <p:nvPr/>
          </p:nvGrpSpPr>
          <p:grpSpPr bwMode="auto">
            <a:xfrm>
              <a:off x="3723561" y="4885168"/>
              <a:ext cx="250120" cy="249766"/>
              <a:chOff x="3723561" y="4885168"/>
              <a:chExt cx="250120" cy="249766"/>
            </a:xfrm>
          </p:grpSpPr>
          <p:sp>
            <p:nvSpPr>
              <p:cNvPr id="4507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07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074" name="组合 129"/>
          <p:cNvGrpSpPr>
            <a:grpSpLocks/>
          </p:cNvGrpSpPr>
          <p:nvPr/>
        </p:nvGrpSpPr>
        <p:grpSpPr bwMode="auto">
          <a:xfrm rot="-3967890">
            <a:off x="8524876" y="3645535"/>
            <a:ext cx="254000" cy="434975"/>
            <a:chOff x="5149850" y="4703444"/>
            <a:chExt cx="253825" cy="434955"/>
          </a:xfrm>
        </p:grpSpPr>
        <p:sp>
          <p:nvSpPr>
            <p:cNvPr id="45075"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076" name="组合 128"/>
            <p:cNvGrpSpPr>
              <a:grpSpLocks/>
            </p:cNvGrpSpPr>
            <p:nvPr/>
          </p:nvGrpSpPr>
          <p:grpSpPr bwMode="auto">
            <a:xfrm>
              <a:off x="5149850" y="4865143"/>
              <a:ext cx="249687" cy="273256"/>
              <a:chOff x="5149850" y="4865143"/>
              <a:chExt cx="249687" cy="273256"/>
            </a:xfrm>
          </p:grpSpPr>
          <p:sp>
            <p:nvSpPr>
              <p:cNvPr id="4507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07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07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080" name="组合 255"/>
          <p:cNvGrpSpPr>
            <a:grpSpLocks/>
          </p:cNvGrpSpPr>
          <p:nvPr/>
        </p:nvGrpSpPr>
        <p:grpSpPr bwMode="auto">
          <a:xfrm rot="4565890">
            <a:off x="8159751" y="4134485"/>
            <a:ext cx="254000" cy="434975"/>
            <a:chOff x="5149850" y="4703444"/>
            <a:chExt cx="253825" cy="434955"/>
          </a:xfrm>
        </p:grpSpPr>
        <p:sp>
          <p:nvSpPr>
            <p:cNvPr id="45081"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082" name="组合 128"/>
            <p:cNvGrpSpPr>
              <a:grpSpLocks/>
            </p:cNvGrpSpPr>
            <p:nvPr/>
          </p:nvGrpSpPr>
          <p:grpSpPr bwMode="auto">
            <a:xfrm>
              <a:off x="5149850" y="4865143"/>
              <a:ext cx="249687" cy="273256"/>
              <a:chOff x="5149850" y="4865143"/>
              <a:chExt cx="249687" cy="273256"/>
            </a:xfrm>
          </p:grpSpPr>
          <p:sp>
            <p:nvSpPr>
              <p:cNvPr id="4508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08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08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086" name="组合 261"/>
          <p:cNvGrpSpPr>
            <a:grpSpLocks/>
          </p:cNvGrpSpPr>
          <p:nvPr/>
        </p:nvGrpSpPr>
        <p:grpSpPr bwMode="auto">
          <a:xfrm rot="2189922">
            <a:off x="8667750" y="4134485"/>
            <a:ext cx="254000" cy="434975"/>
            <a:chOff x="5149850" y="4703444"/>
            <a:chExt cx="253825" cy="434955"/>
          </a:xfrm>
        </p:grpSpPr>
        <p:sp>
          <p:nvSpPr>
            <p:cNvPr id="45087"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088" name="组合 128"/>
            <p:cNvGrpSpPr>
              <a:grpSpLocks/>
            </p:cNvGrpSpPr>
            <p:nvPr/>
          </p:nvGrpSpPr>
          <p:grpSpPr bwMode="auto">
            <a:xfrm>
              <a:off x="5149850" y="4865143"/>
              <a:ext cx="249687" cy="273256"/>
              <a:chOff x="5149850" y="4865143"/>
              <a:chExt cx="249687" cy="273256"/>
            </a:xfrm>
          </p:grpSpPr>
          <p:sp>
            <p:nvSpPr>
              <p:cNvPr id="45089"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090"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091"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092" name="组合 267"/>
          <p:cNvGrpSpPr>
            <a:grpSpLocks/>
          </p:cNvGrpSpPr>
          <p:nvPr/>
        </p:nvGrpSpPr>
        <p:grpSpPr bwMode="auto">
          <a:xfrm rot="-5967303">
            <a:off x="8020051" y="3645535"/>
            <a:ext cx="254000" cy="434975"/>
            <a:chOff x="5149850" y="4703444"/>
            <a:chExt cx="253825" cy="434955"/>
          </a:xfrm>
        </p:grpSpPr>
        <p:sp>
          <p:nvSpPr>
            <p:cNvPr id="45093"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094" name="组合 128"/>
            <p:cNvGrpSpPr>
              <a:grpSpLocks/>
            </p:cNvGrpSpPr>
            <p:nvPr/>
          </p:nvGrpSpPr>
          <p:grpSpPr bwMode="auto">
            <a:xfrm>
              <a:off x="5149850" y="4865143"/>
              <a:ext cx="249687" cy="273256"/>
              <a:chOff x="5149850" y="4865143"/>
              <a:chExt cx="249687" cy="273256"/>
            </a:xfrm>
          </p:grpSpPr>
          <p:sp>
            <p:nvSpPr>
              <p:cNvPr id="4509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09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09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098" name="组合 273"/>
          <p:cNvGrpSpPr>
            <a:grpSpLocks/>
          </p:cNvGrpSpPr>
          <p:nvPr/>
        </p:nvGrpSpPr>
        <p:grpSpPr bwMode="auto">
          <a:xfrm>
            <a:off x="8134350" y="4623435"/>
            <a:ext cx="254000" cy="434975"/>
            <a:chOff x="5149850" y="4703444"/>
            <a:chExt cx="253825" cy="434955"/>
          </a:xfrm>
        </p:grpSpPr>
        <p:sp>
          <p:nvSpPr>
            <p:cNvPr id="45099"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00" name="组合 128"/>
            <p:cNvGrpSpPr>
              <a:grpSpLocks/>
            </p:cNvGrpSpPr>
            <p:nvPr/>
          </p:nvGrpSpPr>
          <p:grpSpPr bwMode="auto">
            <a:xfrm>
              <a:off x="5149850" y="4865143"/>
              <a:ext cx="249687" cy="273256"/>
              <a:chOff x="5149850" y="4865143"/>
              <a:chExt cx="249687" cy="273256"/>
            </a:xfrm>
          </p:grpSpPr>
          <p:sp>
            <p:nvSpPr>
              <p:cNvPr id="4510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0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0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04" name="组合 279"/>
          <p:cNvGrpSpPr>
            <a:grpSpLocks/>
          </p:cNvGrpSpPr>
          <p:nvPr/>
        </p:nvGrpSpPr>
        <p:grpSpPr bwMode="auto">
          <a:xfrm rot="953232">
            <a:off x="8623300" y="4667885"/>
            <a:ext cx="254000" cy="434975"/>
            <a:chOff x="5149850" y="4703444"/>
            <a:chExt cx="253825" cy="434955"/>
          </a:xfrm>
        </p:grpSpPr>
        <p:sp>
          <p:nvSpPr>
            <p:cNvPr id="45105"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06" name="组合 128"/>
            <p:cNvGrpSpPr>
              <a:grpSpLocks/>
            </p:cNvGrpSpPr>
            <p:nvPr/>
          </p:nvGrpSpPr>
          <p:grpSpPr bwMode="auto">
            <a:xfrm>
              <a:off x="5149850" y="4865143"/>
              <a:ext cx="249687" cy="273256"/>
              <a:chOff x="5149850" y="4865143"/>
              <a:chExt cx="249687" cy="273256"/>
            </a:xfrm>
          </p:grpSpPr>
          <p:sp>
            <p:nvSpPr>
              <p:cNvPr id="4510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0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0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10" name="组合 128"/>
          <p:cNvGrpSpPr>
            <a:grpSpLocks/>
          </p:cNvGrpSpPr>
          <p:nvPr/>
        </p:nvGrpSpPr>
        <p:grpSpPr bwMode="auto">
          <a:xfrm>
            <a:off x="6978650" y="3807460"/>
            <a:ext cx="249238" cy="273050"/>
            <a:chOff x="5149850" y="4865143"/>
            <a:chExt cx="249687" cy="273256"/>
          </a:xfrm>
        </p:grpSpPr>
        <p:sp>
          <p:nvSpPr>
            <p:cNvPr id="4511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1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1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50" name="Oval 57"/>
          <p:cNvSpPr>
            <a:spLocks noChangeAspect="1" noChangeArrowheads="1"/>
          </p:cNvSpPr>
          <p:nvPr/>
        </p:nvSpPr>
        <p:spPr bwMode="auto">
          <a:xfrm rot="4827573">
            <a:off x="6676232" y="4103529"/>
            <a:ext cx="101600" cy="103187"/>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15" name="组合 128"/>
          <p:cNvGrpSpPr>
            <a:grpSpLocks/>
          </p:cNvGrpSpPr>
          <p:nvPr/>
        </p:nvGrpSpPr>
        <p:grpSpPr bwMode="auto">
          <a:xfrm rot="4827573">
            <a:off x="6982619" y="4247992"/>
            <a:ext cx="249237" cy="273050"/>
            <a:chOff x="5149850" y="4865143"/>
            <a:chExt cx="249687" cy="273256"/>
          </a:xfrm>
        </p:grpSpPr>
        <p:sp>
          <p:nvSpPr>
            <p:cNvPr id="4511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1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1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55" name="Oval 57"/>
          <p:cNvSpPr>
            <a:spLocks noChangeAspect="1" noChangeArrowheads="1"/>
          </p:cNvSpPr>
          <p:nvPr/>
        </p:nvSpPr>
        <p:spPr bwMode="auto">
          <a:xfrm rot="-3574045">
            <a:off x="6286500" y="4559935"/>
            <a:ext cx="103188" cy="103188"/>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20" name="组合 128"/>
          <p:cNvGrpSpPr>
            <a:grpSpLocks/>
          </p:cNvGrpSpPr>
          <p:nvPr/>
        </p:nvGrpSpPr>
        <p:grpSpPr bwMode="auto">
          <a:xfrm rot="-3574045">
            <a:off x="6996906" y="4709954"/>
            <a:ext cx="249238" cy="273050"/>
            <a:chOff x="5149850" y="4865143"/>
            <a:chExt cx="249687" cy="273256"/>
          </a:xfrm>
        </p:grpSpPr>
        <p:sp>
          <p:nvSpPr>
            <p:cNvPr id="4512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2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2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24" name="组合 303"/>
          <p:cNvGrpSpPr>
            <a:grpSpLocks/>
          </p:cNvGrpSpPr>
          <p:nvPr/>
        </p:nvGrpSpPr>
        <p:grpSpPr bwMode="auto">
          <a:xfrm rot="-4849534">
            <a:off x="8064501" y="5144135"/>
            <a:ext cx="254000" cy="434975"/>
            <a:chOff x="5149850" y="4703444"/>
            <a:chExt cx="253825" cy="434955"/>
          </a:xfrm>
        </p:grpSpPr>
        <p:sp>
          <p:nvSpPr>
            <p:cNvPr id="45125"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26" name="组合 128"/>
            <p:cNvGrpSpPr>
              <a:grpSpLocks/>
            </p:cNvGrpSpPr>
            <p:nvPr/>
          </p:nvGrpSpPr>
          <p:grpSpPr bwMode="auto">
            <a:xfrm>
              <a:off x="5149850" y="4865143"/>
              <a:ext cx="249687" cy="273256"/>
              <a:chOff x="5149850" y="4865143"/>
              <a:chExt cx="249687" cy="273256"/>
            </a:xfrm>
          </p:grpSpPr>
          <p:sp>
            <p:nvSpPr>
              <p:cNvPr id="4512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2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2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30" name="组合 309"/>
          <p:cNvGrpSpPr>
            <a:grpSpLocks/>
          </p:cNvGrpSpPr>
          <p:nvPr/>
        </p:nvGrpSpPr>
        <p:grpSpPr bwMode="auto">
          <a:xfrm>
            <a:off x="8667750" y="5067935"/>
            <a:ext cx="254000" cy="434975"/>
            <a:chOff x="5149850" y="4703444"/>
            <a:chExt cx="253825" cy="434955"/>
          </a:xfrm>
        </p:grpSpPr>
        <p:sp>
          <p:nvSpPr>
            <p:cNvPr id="45131"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32" name="组合 128"/>
            <p:cNvGrpSpPr>
              <a:grpSpLocks/>
            </p:cNvGrpSpPr>
            <p:nvPr/>
          </p:nvGrpSpPr>
          <p:grpSpPr bwMode="auto">
            <a:xfrm>
              <a:off x="5149850" y="4865143"/>
              <a:ext cx="249687" cy="273256"/>
              <a:chOff x="5149850" y="4865143"/>
              <a:chExt cx="249687" cy="273256"/>
            </a:xfrm>
          </p:grpSpPr>
          <p:sp>
            <p:nvSpPr>
              <p:cNvPr id="4513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3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3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sp>
        <p:nvSpPr>
          <p:cNvPr id="72" name="Oval 57"/>
          <p:cNvSpPr>
            <a:spLocks noChangeAspect="1" noChangeArrowheads="1"/>
          </p:cNvSpPr>
          <p:nvPr/>
        </p:nvSpPr>
        <p:spPr bwMode="auto">
          <a:xfrm rot="9849479">
            <a:off x="6902450" y="5040948"/>
            <a:ext cx="101600" cy="104775"/>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37" name="组合 128"/>
          <p:cNvGrpSpPr>
            <a:grpSpLocks/>
          </p:cNvGrpSpPr>
          <p:nvPr/>
        </p:nvGrpSpPr>
        <p:grpSpPr bwMode="auto">
          <a:xfrm rot="9849479">
            <a:off x="7007225" y="5096510"/>
            <a:ext cx="250825" cy="273050"/>
            <a:chOff x="5149850" y="4865143"/>
            <a:chExt cx="249687" cy="273256"/>
          </a:xfrm>
        </p:grpSpPr>
        <p:sp>
          <p:nvSpPr>
            <p:cNvPr id="4513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3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4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41" name="组合 128"/>
          <p:cNvGrpSpPr>
            <a:grpSpLocks/>
          </p:cNvGrpSpPr>
          <p:nvPr/>
        </p:nvGrpSpPr>
        <p:grpSpPr bwMode="auto">
          <a:xfrm>
            <a:off x="7480300" y="3816985"/>
            <a:ext cx="249238" cy="273050"/>
            <a:chOff x="5149850" y="4865143"/>
            <a:chExt cx="249687" cy="273256"/>
          </a:xfrm>
        </p:grpSpPr>
        <p:sp>
          <p:nvSpPr>
            <p:cNvPr id="4514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4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4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45145" name="Oval 57"/>
          <p:cNvSpPr>
            <a:spLocks noChangeAspect="1" noChangeArrowheads="1"/>
          </p:cNvSpPr>
          <p:nvPr/>
        </p:nvSpPr>
        <p:spPr bwMode="auto">
          <a:xfrm rot="4827573">
            <a:off x="7828757" y="4324191"/>
            <a:ext cx="101600" cy="103187"/>
          </a:xfrm>
          <a:prstGeom prst="ellipse">
            <a:avLst/>
          </a:prstGeom>
          <a:solidFill>
            <a:srgbClr val="00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46" name="组合 128"/>
          <p:cNvGrpSpPr>
            <a:grpSpLocks/>
          </p:cNvGrpSpPr>
          <p:nvPr/>
        </p:nvGrpSpPr>
        <p:grpSpPr bwMode="auto">
          <a:xfrm rot="4827573">
            <a:off x="7498556" y="4203542"/>
            <a:ext cx="249237" cy="273050"/>
            <a:chOff x="5149850" y="4865143"/>
            <a:chExt cx="249687" cy="273256"/>
          </a:xfrm>
        </p:grpSpPr>
        <p:sp>
          <p:nvSpPr>
            <p:cNvPr id="45147"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48"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49"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50" name="组合 128"/>
          <p:cNvGrpSpPr>
            <a:grpSpLocks/>
          </p:cNvGrpSpPr>
          <p:nvPr/>
        </p:nvGrpSpPr>
        <p:grpSpPr bwMode="auto">
          <a:xfrm rot="-3574045">
            <a:off x="7530306" y="4709954"/>
            <a:ext cx="249238" cy="273050"/>
            <a:chOff x="5149850" y="4865143"/>
            <a:chExt cx="249687" cy="273256"/>
          </a:xfrm>
        </p:grpSpPr>
        <p:sp>
          <p:nvSpPr>
            <p:cNvPr id="4515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5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5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54" name="组合 128"/>
          <p:cNvGrpSpPr>
            <a:grpSpLocks/>
          </p:cNvGrpSpPr>
          <p:nvPr/>
        </p:nvGrpSpPr>
        <p:grpSpPr bwMode="auto">
          <a:xfrm rot="9849479">
            <a:off x="7548563" y="5142548"/>
            <a:ext cx="249237" cy="273050"/>
            <a:chOff x="5149850" y="4865143"/>
            <a:chExt cx="249687" cy="273256"/>
          </a:xfrm>
        </p:grpSpPr>
        <p:sp>
          <p:nvSpPr>
            <p:cNvPr id="4515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5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515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58" name="组合 346"/>
          <p:cNvGrpSpPr>
            <a:grpSpLocks/>
          </p:cNvGrpSpPr>
          <p:nvPr/>
        </p:nvGrpSpPr>
        <p:grpSpPr bwMode="auto">
          <a:xfrm rot="-2359440">
            <a:off x="4464050" y="4045585"/>
            <a:ext cx="265113" cy="436563"/>
            <a:chOff x="3708391" y="4698272"/>
            <a:chExt cx="265290" cy="436662"/>
          </a:xfrm>
        </p:grpSpPr>
        <p:sp>
          <p:nvSpPr>
            <p:cNvPr id="4515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60" name="组合 127"/>
            <p:cNvGrpSpPr>
              <a:grpSpLocks/>
            </p:cNvGrpSpPr>
            <p:nvPr/>
          </p:nvGrpSpPr>
          <p:grpSpPr bwMode="auto">
            <a:xfrm>
              <a:off x="3723561" y="4885168"/>
              <a:ext cx="250120" cy="249766"/>
              <a:chOff x="3723561" y="4885168"/>
              <a:chExt cx="250120" cy="249766"/>
            </a:xfrm>
          </p:grpSpPr>
          <p:sp>
            <p:nvSpPr>
              <p:cNvPr id="4516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6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63" name="组合 351"/>
          <p:cNvGrpSpPr>
            <a:grpSpLocks/>
          </p:cNvGrpSpPr>
          <p:nvPr/>
        </p:nvGrpSpPr>
        <p:grpSpPr bwMode="auto">
          <a:xfrm rot="-1373637">
            <a:off x="4475163" y="4534535"/>
            <a:ext cx="265112" cy="436563"/>
            <a:chOff x="3708391" y="4698272"/>
            <a:chExt cx="265290" cy="436662"/>
          </a:xfrm>
        </p:grpSpPr>
        <p:sp>
          <p:nvSpPr>
            <p:cNvPr id="4516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65" name="组合 127"/>
            <p:cNvGrpSpPr>
              <a:grpSpLocks/>
            </p:cNvGrpSpPr>
            <p:nvPr/>
          </p:nvGrpSpPr>
          <p:grpSpPr bwMode="auto">
            <a:xfrm>
              <a:off x="3723561" y="4885168"/>
              <a:ext cx="250120" cy="249766"/>
              <a:chOff x="3723561" y="4885168"/>
              <a:chExt cx="250120" cy="249766"/>
            </a:xfrm>
          </p:grpSpPr>
          <p:sp>
            <p:nvSpPr>
              <p:cNvPr id="4516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6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68" name="组合 356"/>
          <p:cNvGrpSpPr>
            <a:grpSpLocks/>
          </p:cNvGrpSpPr>
          <p:nvPr/>
        </p:nvGrpSpPr>
        <p:grpSpPr bwMode="auto">
          <a:xfrm rot="2420365">
            <a:off x="4603750" y="5023485"/>
            <a:ext cx="265113" cy="436563"/>
            <a:chOff x="3708391" y="4698272"/>
            <a:chExt cx="265290" cy="436662"/>
          </a:xfrm>
        </p:grpSpPr>
        <p:sp>
          <p:nvSpPr>
            <p:cNvPr id="4516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70" name="组合 127"/>
            <p:cNvGrpSpPr>
              <a:grpSpLocks/>
            </p:cNvGrpSpPr>
            <p:nvPr/>
          </p:nvGrpSpPr>
          <p:grpSpPr bwMode="auto">
            <a:xfrm>
              <a:off x="3723561" y="4885168"/>
              <a:ext cx="250120" cy="249766"/>
              <a:chOff x="3723561" y="4885168"/>
              <a:chExt cx="250120" cy="249766"/>
            </a:xfrm>
          </p:grpSpPr>
          <p:sp>
            <p:nvSpPr>
              <p:cNvPr id="4517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7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73" name="组合 361"/>
          <p:cNvGrpSpPr>
            <a:grpSpLocks/>
          </p:cNvGrpSpPr>
          <p:nvPr/>
        </p:nvGrpSpPr>
        <p:grpSpPr bwMode="auto">
          <a:xfrm rot="2699194">
            <a:off x="5049838" y="3631248"/>
            <a:ext cx="265112" cy="436562"/>
            <a:chOff x="3708391" y="4698272"/>
            <a:chExt cx="265290" cy="436662"/>
          </a:xfrm>
        </p:grpSpPr>
        <p:sp>
          <p:nvSpPr>
            <p:cNvPr id="4517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75" name="组合 127"/>
            <p:cNvGrpSpPr>
              <a:grpSpLocks/>
            </p:cNvGrpSpPr>
            <p:nvPr/>
          </p:nvGrpSpPr>
          <p:grpSpPr bwMode="auto">
            <a:xfrm>
              <a:off x="3723561" y="4885168"/>
              <a:ext cx="250120" cy="249766"/>
              <a:chOff x="3723561" y="4885168"/>
              <a:chExt cx="250120" cy="249766"/>
            </a:xfrm>
          </p:grpSpPr>
          <p:sp>
            <p:nvSpPr>
              <p:cNvPr id="4517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7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78" name="组合 366"/>
          <p:cNvGrpSpPr>
            <a:grpSpLocks/>
          </p:cNvGrpSpPr>
          <p:nvPr/>
        </p:nvGrpSpPr>
        <p:grpSpPr bwMode="auto">
          <a:xfrm rot="-1582615">
            <a:off x="4927600" y="4037648"/>
            <a:ext cx="266700" cy="436562"/>
            <a:chOff x="3708391" y="4698272"/>
            <a:chExt cx="265290" cy="436662"/>
          </a:xfrm>
        </p:grpSpPr>
        <p:sp>
          <p:nvSpPr>
            <p:cNvPr id="4517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80" name="组合 127"/>
            <p:cNvGrpSpPr>
              <a:grpSpLocks/>
            </p:cNvGrpSpPr>
            <p:nvPr/>
          </p:nvGrpSpPr>
          <p:grpSpPr bwMode="auto">
            <a:xfrm>
              <a:off x="3723561" y="4885168"/>
              <a:ext cx="250120" cy="249766"/>
              <a:chOff x="3723561" y="4885168"/>
              <a:chExt cx="250120" cy="249766"/>
            </a:xfrm>
          </p:grpSpPr>
          <p:sp>
            <p:nvSpPr>
              <p:cNvPr id="4518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8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83" name="组合 371"/>
          <p:cNvGrpSpPr>
            <a:grpSpLocks/>
          </p:cNvGrpSpPr>
          <p:nvPr/>
        </p:nvGrpSpPr>
        <p:grpSpPr bwMode="auto">
          <a:xfrm rot="2796568">
            <a:off x="5006975" y="4474210"/>
            <a:ext cx="265113" cy="436563"/>
            <a:chOff x="3708391" y="4698272"/>
            <a:chExt cx="265290" cy="436662"/>
          </a:xfrm>
        </p:grpSpPr>
        <p:sp>
          <p:nvSpPr>
            <p:cNvPr id="45184"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85" name="组合 127"/>
            <p:cNvGrpSpPr>
              <a:grpSpLocks/>
            </p:cNvGrpSpPr>
            <p:nvPr/>
          </p:nvGrpSpPr>
          <p:grpSpPr bwMode="auto">
            <a:xfrm>
              <a:off x="3723561" y="4885168"/>
              <a:ext cx="250120" cy="249766"/>
              <a:chOff x="3723561" y="4885168"/>
              <a:chExt cx="250120" cy="249766"/>
            </a:xfrm>
          </p:grpSpPr>
          <p:sp>
            <p:nvSpPr>
              <p:cNvPr id="4518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8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88" name="组合 376"/>
          <p:cNvGrpSpPr>
            <a:grpSpLocks/>
          </p:cNvGrpSpPr>
          <p:nvPr/>
        </p:nvGrpSpPr>
        <p:grpSpPr bwMode="auto">
          <a:xfrm rot="2003620">
            <a:off x="5087938" y="5056823"/>
            <a:ext cx="263525" cy="438150"/>
            <a:chOff x="3708391" y="4698272"/>
            <a:chExt cx="265290" cy="436662"/>
          </a:xfrm>
        </p:grpSpPr>
        <p:sp>
          <p:nvSpPr>
            <p:cNvPr id="45189"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190" name="组合 127"/>
            <p:cNvGrpSpPr>
              <a:grpSpLocks/>
            </p:cNvGrpSpPr>
            <p:nvPr/>
          </p:nvGrpSpPr>
          <p:grpSpPr bwMode="auto">
            <a:xfrm>
              <a:off x="3723561" y="4885168"/>
              <a:ext cx="250120" cy="249766"/>
              <a:chOff x="3723561" y="4885168"/>
              <a:chExt cx="250120" cy="249766"/>
            </a:xfrm>
          </p:grpSpPr>
          <p:sp>
            <p:nvSpPr>
              <p:cNvPr id="4519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9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grpSp>
        <p:nvGrpSpPr>
          <p:cNvPr id="45193" name="组合 127"/>
          <p:cNvGrpSpPr>
            <a:grpSpLocks/>
          </p:cNvGrpSpPr>
          <p:nvPr/>
        </p:nvGrpSpPr>
        <p:grpSpPr bwMode="auto">
          <a:xfrm rot="3206337">
            <a:off x="5539582" y="3755866"/>
            <a:ext cx="249238" cy="250825"/>
            <a:chOff x="3723561" y="4885168"/>
            <a:chExt cx="250120" cy="249766"/>
          </a:xfrm>
        </p:grpSpPr>
        <p:sp>
          <p:nvSpPr>
            <p:cNvPr id="4519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9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96" name="组合 127"/>
          <p:cNvGrpSpPr>
            <a:grpSpLocks/>
          </p:cNvGrpSpPr>
          <p:nvPr/>
        </p:nvGrpSpPr>
        <p:grpSpPr bwMode="auto">
          <a:xfrm rot="-1818148">
            <a:off x="5532438" y="4164648"/>
            <a:ext cx="249237" cy="249237"/>
            <a:chOff x="3723561" y="4885168"/>
            <a:chExt cx="250120" cy="249766"/>
          </a:xfrm>
        </p:grpSpPr>
        <p:sp>
          <p:nvSpPr>
            <p:cNvPr id="4519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19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199" name="组合 127"/>
          <p:cNvGrpSpPr>
            <a:grpSpLocks/>
          </p:cNvGrpSpPr>
          <p:nvPr/>
        </p:nvGrpSpPr>
        <p:grpSpPr bwMode="auto">
          <a:xfrm rot="2365828">
            <a:off x="5495925" y="4648835"/>
            <a:ext cx="250825" cy="249238"/>
            <a:chOff x="3723561" y="4885168"/>
            <a:chExt cx="250120" cy="249766"/>
          </a:xfrm>
        </p:grpSpPr>
        <p:sp>
          <p:nvSpPr>
            <p:cNvPr id="4520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0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202" name="组合 127"/>
          <p:cNvGrpSpPr>
            <a:grpSpLocks/>
          </p:cNvGrpSpPr>
          <p:nvPr/>
        </p:nvGrpSpPr>
        <p:grpSpPr bwMode="auto">
          <a:xfrm rot="3156746">
            <a:off x="5496719" y="5187791"/>
            <a:ext cx="249238" cy="250825"/>
            <a:chOff x="3723561" y="4885168"/>
            <a:chExt cx="250120" cy="249766"/>
          </a:xfrm>
        </p:grpSpPr>
        <p:sp>
          <p:nvSpPr>
            <p:cNvPr id="4520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0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205" name="组合 127"/>
          <p:cNvGrpSpPr>
            <a:grpSpLocks/>
          </p:cNvGrpSpPr>
          <p:nvPr/>
        </p:nvGrpSpPr>
        <p:grpSpPr bwMode="auto">
          <a:xfrm rot="2191984">
            <a:off x="6048375" y="3818573"/>
            <a:ext cx="250825" cy="249237"/>
            <a:chOff x="3723561" y="4885168"/>
            <a:chExt cx="250120" cy="249766"/>
          </a:xfrm>
        </p:grpSpPr>
        <p:sp>
          <p:nvSpPr>
            <p:cNvPr id="45206"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07"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151" name="Oval 41"/>
          <p:cNvSpPr>
            <a:spLocks noChangeAspect="1" noChangeArrowheads="1"/>
          </p:cNvSpPr>
          <p:nvPr/>
        </p:nvSpPr>
        <p:spPr bwMode="auto">
          <a:xfrm rot="-4776010">
            <a:off x="6556376" y="4105910"/>
            <a:ext cx="125412" cy="128587"/>
          </a:xfrm>
          <a:prstGeom prst="ellipse">
            <a:avLst/>
          </a:prstGeom>
          <a:solidFill>
            <a:srgbClr val="FF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209" name="组合 127"/>
          <p:cNvGrpSpPr>
            <a:grpSpLocks/>
          </p:cNvGrpSpPr>
          <p:nvPr/>
        </p:nvGrpSpPr>
        <p:grpSpPr bwMode="auto">
          <a:xfrm rot="-2117408">
            <a:off x="6081713" y="4255135"/>
            <a:ext cx="249237" cy="249238"/>
            <a:chOff x="3723561" y="4885168"/>
            <a:chExt cx="250120" cy="249766"/>
          </a:xfrm>
        </p:grpSpPr>
        <p:sp>
          <p:nvSpPr>
            <p:cNvPr id="4521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1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212" name="组合 127"/>
          <p:cNvGrpSpPr>
            <a:grpSpLocks/>
          </p:cNvGrpSpPr>
          <p:nvPr/>
        </p:nvGrpSpPr>
        <p:grpSpPr bwMode="auto">
          <a:xfrm rot="3431710">
            <a:off x="6080125" y="4729798"/>
            <a:ext cx="249237" cy="249238"/>
            <a:chOff x="3723561" y="4885168"/>
            <a:chExt cx="250120" cy="249766"/>
          </a:xfrm>
        </p:grpSpPr>
        <p:sp>
          <p:nvSpPr>
            <p:cNvPr id="4521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1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158" name="Oval 41"/>
          <p:cNvSpPr>
            <a:spLocks noChangeAspect="1" noChangeArrowheads="1"/>
          </p:cNvSpPr>
          <p:nvPr/>
        </p:nvSpPr>
        <p:spPr bwMode="auto">
          <a:xfrm rot="92020">
            <a:off x="6980238" y="4986973"/>
            <a:ext cx="125412"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45216" name="组合 127"/>
          <p:cNvGrpSpPr>
            <a:grpSpLocks/>
          </p:cNvGrpSpPr>
          <p:nvPr/>
        </p:nvGrpSpPr>
        <p:grpSpPr bwMode="auto">
          <a:xfrm rot="2750622">
            <a:off x="6079331" y="5233829"/>
            <a:ext cx="250825" cy="249238"/>
            <a:chOff x="3723561" y="4885168"/>
            <a:chExt cx="250120" cy="249766"/>
          </a:xfrm>
        </p:grpSpPr>
        <p:sp>
          <p:nvSpPr>
            <p:cNvPr id="4521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1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45219" name="Group 193"/>
          <p:cNvGrpSpPr>
            <a:grpSpLocks/>
          </p:cNvGrpSpPr>
          <p:nvPr/>
        </p:nvGrpSpPr>
        <p:grpSpPr bwMode="auto">
          <a:xfrm>
            <a:off x="2889250" y="3429635"/>
            <a:ext cx="923925" cy="427038"/>
            <a:chOff x="4864" y="180"/>
            <a:chExt cx="582" cy="269"/>
          </a:xfrm>
        </p:grpSpPr>
        <p:sp>
          <p:nvSpPr>
            <p:cNvPr id="45220" name="Text Box 116"/>
            <p:cNvSpPr txBox="1">
              <a:spLocks noChangeArrowheads="1"/>
            </p:cNvSpPr>
            <p:nvPr/>
          </p:nvSpPr>
          <p:spPr bwMode="auto">
            <a:xfrm>
              <a:off x="4864" y="180"/>
              <a:ext cx="461" cy="269"/>
            </a:xfrm>
            <a:prstGeom prst="rect">
              <a:avLst/>
            </a:prstGeom>
            <a:solidFill>
              <a:srgbClr val="FFFFFF"/>
            </a:solidFill>
            <a:ln w="9525">
              <a:noFill/>
              <a:miter lim="800000"/>
              <a:headEnd/>
              <a:tailEnd/>
            </a:ln>
          </p:spPr>
          <p:txBody>
            <a:bodyPr lIns="0" tIns="0" rIns="0" bIns="0"/>
            <a:lstStyle/>
            <a:p>
              <a:pPr algn="just" defTabSz="914400"/>
              <a:r>
                <a:rPr lang="zh-CN" altLang="en-US" sz="2800" b="1">
                  <a:latin typeface="Times New Roman" pitchFamily="18" charset="0"/>
                  <a:ea typeface="微软雅黑" pitchFamily="34" charset="-122"/>
                  <a:cs typeface="Times New Roman" pitchFamily="18" charset="0"/>
                </a:rPr>
                <a:t>电子</a:t>
              </a:r>
              <a:endParaRPr lang="zh-CN" altLang="en-US" sz="7200" b="1">
                <a:latin typeface="Times New Roman" pitchFamily="18" charset="0"/>
                <a:ea typeface="微软雅黑" pitchFamily="34" charset="-122"/>
                <a:cs typeface="Times New Roman" pitchFamily="18" charset="0"/>
              </a:endParaRPr>
            </a:p>
          </p:txBody>
        </p:sp>
        <p:sp>
          <p:nvSpPr>
            <p:cNvPr id="45221" name="Oval 57"/>
            <p:cNvSpPr>
              <a:spLocks noChangeAspect="1" noChangeArrowheads="1"/>
            </p:cNvSpPr>
            <p:nvPr/>
          </p:nvSpPr>
          <p:spPr bwMode="auto">
            <a:xfrm rot="-4849534">
              <a:off x="5360" y="284"/>
              <a:ext cx="85" cy="86"/>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grpSp>
      <p:sp>
        <p:nvSpPr>
          <p:cNvPr id="45222" name="Text Box 124"/>
          <p:cNvSpPr txBox="1">
            <a:spLocks noChangeArrowheads="1"/>
          </p:cNvSpPr>
          <p:nvPr/>
        </p:nvSpPr>
        <p:spPr bwMode="auto">
          <a:xfrm>
            <a:off x="4622800" y="3074035"/>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微软雅黑" pitchFamily="34" charset="-122"/>
                <a:cs typeface="Times New Roman" pitchFamily="18" charset="0"/>
              </a:rPr>
              <a:t>P</a:t>
            </a:r>
            <a:endParaRPr lang="zh-CN" altLang="zh-CN" sz="7200" b="1">
              <a:latin typeface="Times New Roman" pitchFamily="18" charset="0"/>
              <a:ea typeface="微软雅黑" pitchFamily="34" charset="-122"/>
              <a:cs typeface="Times New Roman" pitchFamily="18" charset="0"/>
            </a:endParaRPr>
          </a:p>
        </p:txBody>
      </p:sp>
      <p:grpSp>
        <p:nvGrpSpPr>
          <p:cNvPr id="45223" name="Group 192"/>
          <p:cNvGrpSpPr>
            <a:grpSpLocks/>
          </p:cNvGrpSpPr>
          <p:nvPr/>
        </p:nvGrpSpPr>
        <p:grpSpPr bwMode="auto">
          <a:xfrm>
            <a:off x="2889250" y="2851785"/>
            <a:ext cx="965200" cy="427038"/>
            <a:chOff x="4835" y="941"/>
            <a:chExt cx="608" cy="269"/>
          </a:xfrm>
        </p:grpSpPr>
        <p:sp>
          <p:nvSpPr>
            <p:cNvPr id="45224" name="Text Box 118"/>
            <p:cNvSpPr txBox="1">
              <a:spLocks noChangeArrowheads="1"/>
            </p:cNvSpPr>
            <p:nvPr/>
          </p:nvSpPr>
          <p:spPr bwMode="auto">
            <a:xfrm>
              <a:off x="4835" y="941"/>
              <a:ext cx="461" cy="269"/>
            </a:xfrm>
            <a:prstGeom prst="rect">
              <a:avLst/>
            </a:prstGeom>
            <a:solidFill>
              <a:srgbClr val="FFFFFF"/>
            </a:solidFill>
            <a:ln w="9525">
              <a:noFill/>
              <a:miter lim="800000"/>
              <a:headEnd/>
              <a:tailEnd/>
            </a:ln>
          </p:spPr>
          <p:txBody>
            <a:bodyPr lIns="0" tIns="0" rIns="0" bIns="0"/>
            <a:lstStyle/>
            <a:p>
              <a:pPr algn="just" defTabSz="914400"/>
              <a:r>
                <a:rPr lang="zh-CN" altLang="en-US" sz="2800" b="1">
                  <a:latin typeface="Times New Roman" pitchFamily="18" charset="0"/>
                  <a:ea typeface="微软雅黑" pitchFamily="34" charset="-122"/>
                  <a:cs typeface="Times New Roman" pitchFamily="18" charset="0"/>
                </a:rPr>
                <a:t>空穴</a:t>
              </a:r>
              <a:endParaRPr lang="zh-CN" altLang="en-US" sz="7200" b="1">
                <a:latin typeface="Times New Roman" pitchFamily="18" charset="0"/>
                <a:ea typeface="微软雅黑" pitchFamily="34" charset="-122"/>
                <a:cs typeface="Times New Roman" pitchFamily="18" charset="0"/>
              </a:endParaRPr>
            </a:p>
          </p:txBody>
        </p:sp>
        <p:sp>
          <p:nvSpPr>
            <p:cNvPr id="45225" name="Oval 41"/>
            <p:cNvSpPr>
              <a:spLocks noChangeAspect="1" noChangeArrowheads="1"/>
            </p:cNvSpPr>
            <p:nvPr/>
          </p:nvSpPr>
          <p:spPr bwMode="auto">
            <a:xfrm rot="773108">
              <a:off x="5364" y="1061"/>
              <a:ext cx="79" cy="8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sp>
        <p:nvSpPr>
          <p:cNvPr id="174" name="Oval 41"/>
          <p:cNvSpPr>
            <a:spLocks noChangeAspect="1" noChangeArrowheads="1"/>
          </p:cNvSpPr>
          <p:nvPr/>
        </p:nvSpPr>
        <p:spPr bwMode="auto">
          <a:xfrm rot="773108">
            <a:off x="6146800" y="4553585"/>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9" name="Rectangle 13"/>
          <p:cNvSpPr>
            <a:spLocks noChangeArrowheads="1"/>
          </p:cNvSpPr>
          <p:nvPr/>
        </p:nvSpPr>
        <p:spPr bwMode="auto">
          <a:xfrm>
            <a:off x="5360988" y="3604260"/>
            <a:ext cx="2474912" cy="1944688"/>
          </a:xfrm>
          <a:prstGeom prst="rect">
            <a:avLst/>
          </a:prstGeom>
          <a:noFill/>
          <a:ln w="57150">
            <a:solidFill>
              <a:srgbClr val="0000FF"/>
            </a:solidFill>
            <a:prstDash val="dash"/>
            <a:miter lim="800000"/>
            <a:headEnd/>
            <a:tailEnd/>
          </a:ln>
        </p:spPr>
        <p:txBody>
          <a:bodyPr wrap="none" anchor="ct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54" name="组合 203"/>
          <p:cNvGrpSpPr>
            <a:grpSpLocks/>
          </p:cNvGrpSpPr>
          <p:nvPr/>
        </p:nvGrpSpPr>
        <p:grpSpPr bwMode="auto">
          <a:xfrm>
            <a:off x="9779000" y="3874135"/>
            <a:ext cx="1028700" cy="863600"/>
            <a:chOff x="7415213" y="2978150"/>
            <a:chExt cx="1028700" cy="863600"/>
          </a:xfrm>
        </p:grpSpPr>
        <p:cxnSp>
          <p:nvCxnSpPr>
            <p:cNvPr id="185" name="直接箭头连接符 184"/>
            <p:cNvCxnSpPr/>
            <p:nvPr/>
          </p:nvCxnSpPr>
          <p:spPr>
            <a:xfrm>
              <a:off x="7550151" y="3276600"/>
              <a:ext cx="800100" cy="1588"/>
            </a:xfrm>
            <a:prstGeom prst="straightConnector1">
              <a:avLst/>
            </a:prstGeom>
            <a:ln w="38100">
              <a:solidFill>
                <a:srgbClr val="0000FF"/>
              </a:solidFill>
              <a:tailEnd type="stealth" w="lg" len="lg"/>
            </a:ln>
          </p:spPr>
          <p:style>
            <a:lnRef idx="1">
              <a:schemeClr val="accent1"/>
            </a:lnRef>
            <a:fillRef idx="0">
              <a:schemeClr val="accent1"/>
            </a:fillRef>
            <a:effectRef idx="0">
              <a:schemeClr val="accent1"/>
            </a:effectRef>
            <a:fontRef idx="minor">
              <a:schemeClr val="tx1"/>
            </a:fontRef>
          </p:style>
        </p:cxnSp>
        <p:sp>
          <p:nvSpPr>
            <p:cNvPr id="45230" name="Oval 41"/>
            <p:cNvSpPr>
              <a:spLocks noChangeAspect="1" noChangeArrowheads="1"/>
            </p:cNvSpPr>
            <p:nvPr/>
          </p:nvSpPr>
          <p:spPr bwMode="auto">
            <a:xfrm rot="773108">
              <a:off x="8318500" y="2978150"/>
              <a:ext cx="125413" cy="127000"/>
            </a:xfrm>
            <a:prstGeom prst="ellipse">
              <a:avLst/>
            </a:prstGeom>
            <a:solidFill>
              <a:srgbClr val="FF00FF"/>
            </a:solidFill>
            <a:ln w="15875">
              <a:no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cxnSp>
          <p:nvCxnSpPr>
            <p:cNvPr id="187" name="直接箭头连接符 186"/>
            <p:cNvCxnSpPr/>
            <p:nvPr/>
          </p:nvCxnSpPr>
          <p:spPr>
            <a:xfrm rot="10800000" flipV="1">
              <a:off x="7550151" y="3054350"/>
              <a:ext cx="711200" cy="9525"/>
            </a:xfrm>
            <a:prstGeom prst="straightConnector1">
              <a:avLst/>
            </a:prstGeom>
            <a:ln w="38100">
              <a:solidFill>
                <a:srgbClr val="FF00FF"/>
              </a:solidFill>
              <a:tailEnd type="stealth" w="lg" len="lg"/>
            </a:ln>
          </p:spPr>
          <p:style>
            <a:lnRef idx="1">
              <a:schemeClr val="accent1"/>
            </a:lnRef>
            <a:fillRef idx="0">
              <a:schemeClr val="accent1"/>
            </a:fillRef>
            <a:effectRef idx="0">
              <a:schemeClr val="accent1"/>
            </a:effectRef>
            <a:fontRef idx="minor">
              <a:schemeClr val="tx1"/>
            </a:fontRef>
          </p:style>
        </p:cxnSp>
        <p:sp>
          <p:nvSpPr>
            <p:cNvPr id="45232" name="Oval 57"/>
            <p:cNvSpPr>
              <a:spLocks noChangeAspect="1" noChangeArrowheads="1"/>
            </p:cNvSpPr>
            <p:nvPr/>
          </p:nvSpPr>
          <p:spPr bwMode="auto">
            <a:xfrm rot="-4849534">
              <a:off x="7416007" y="3229769"/>
              <a:ext cx="101600" cy="103187"/>
            </a:xfrm>
            <a:prstGeom prst="ellipse">
              <a:avLst/>
            </a:prstGeom>
            <a:solidFill>
              <a:srgbClr val="0000FF"/>
            </a:solidFill>
            <a:ln w="15875">
              <a:noFill/>
              <a:round/>
              <a:headEnd/>
              <a:tailEnd/>
            </a:ln>
          </p:spPr>
          <p:txBody>
            <a:bodyPr rot="10800000"/>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33" name="TextBox 189"/>
            <p:cNvSpPr txBox="1">
              <a:spLocks noChangeArrowheads="1"/>
            </p:cNvSpPr>
            <p:nvPr/>
          </p:nvSpPr>
          <p:spPr bwMode="auto">
            <a:xfrm>
              <a:off x="7550151" y="3384550"/>
              <a:ext cx="844550" cy="457200"/>
            </a:xfrm>
            <a:prstGeom prst="rect">
              <a:avLst/>
            </a:prstGeom>
            <a:noFill/>
            <a:ln w="9525">
              <a:noFill/>
              <a:miter lim="800000"/>
              <a:headEnd/>
              <a:tailEnd/>
            </a:ln>
          </p:spPr>
          <p:txBody>
            <a:bodyPr>
              <a:spAutoFit/>
            </a:bodyPr>
            <a:lstStyle/>
            <a:p>
              <a:pPr defTabSz="914400"/>
              <a:r>
                <a:rPr lang="zh-CN" altLang="en-US" sz="2400" b="1">
                  <a:solidFill>
                    <a:srgbClr val="0000FF"/>
                  </a:solidFill>
                  <a:latin typeface="Times New Roman" pitchFamily="18" charset="0"/>
                  <a:ea typeface="微软雅黑" pitchFamily="34" charset="-122"/>
                  <a:cs typeface="Times New Roman" pitchFamily="18" charset="0"/>
                </a:rPr>
                <a:t>漂移</a:t>
              </a:r>
            </a:p>
          </p:txBody>
        </p:sp>
      </p:grpSp>
      <p:sp>
        <p:nvSpPr>
          <p:cNvPr id="196" name="任意多边形 20"/>
          <p:cNvSpPr>
            <a:spLocks noChangeArrowheads="1"/>
          </p:cNvSpPr>
          <p:nvPr/>
        </p:nvSpPr>
        <p:spPr bwMode="auto">
          <a:xfrm>
            <a:off x="6889750" y="2318385"/>
            <a:ext cx="177800" cy="2670175"/>
          </a:xfrm>
          <a:custGeom>
            <a:avLst/>
            <a:gdLst>
              <a:gd name="T0" fmla="*/ 67092 w 181971"/>
              <a:gd name="T1" fmla="*/ 0 h 1869744"/>
              <a:gd name="T2" fmla="*/ 100640 w 181971"/>
              <a:gd name="T3" fmla="*/ 676408324 h 1869744"/>
              <a:gd name="T4" fmla="*/ 0 w 181971"/>
              <a:gd name="T5" fmla="*/ 1141437574 h 1869744"/>
              <a:gd name="T6" fmla="*/ 100640 w 181971"/>
              <a:gd name="T7" fmla="*/ 1543054599 h 1869744"/>
              <a:gd name="T8" fmla="*/ 41932 w 181971"/>
              <a:gd name="T9" fmla="*/ 1944671259 h 1869744"/>
              <a:gd name="T10" fmla="*/ 75477 w 181971"/>
              <a:gd name="T11" fmla="*/ 2147483647 h 1869744"/>
              <a:gd name="T12" fmla="*/ 67092 w 181971"/>
              <a:gd name="T13" fmla="*/ 2147483647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FF0000"/>
            </a:solidFill>
            <a:round/>
            <a:headEnd/>
            <a:tailEnd type="stealth" w="med" len="lg"/>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97" name="任意多边形 21"/>
          <p:cNvSpPr>
            <a:spLocks noChangeArrowheads="1"/>
          </p:cNvSpPr>
          <p:nvPr/>
        </p:nvSpPr>
        <p:spPr bwMode="auto">
          <a:xfrm>
            <a:off x="5527040" y="2245995"/>
            <a:ext cx="182563" cy="1870075"/>
          </a:xfrm>
          <a:custGeom>
            <a:avLst/>
            <a:gdLst>
              <a:gd name="T0" fmla="*/ 116512 w 181971"/>
              <a:gd name="T1" fmla="*/ 0 h 1869744"/>
              <a:gd name="T2" fmla="*/ 174767 w 181971"/>
              <a:gd name="T3" fmla="*/ 438275 h 1869744"/>
              <a:gd name="T4" fmla="*/ 0 w 181971"/>
              <a:gd name="T5" fmla="*/ 739599 h 1869744"/>
              <a:gd name="T6" fmla="*/ 174767 w 181971"/>
              <a:gd name="T7" fmla="*/ 999822 h 1869744"/>
              <a:gd name="T8" fmla="*/ 72819 w 181971"/>
              <a:gd name="T9" fmla="*/ 1260052 h 1869744"/>
              <a:gd name="T10" fmla="*/ 131074 w 181971"/>
              <a:gd name="T11" fmla="*/ 1588757 h 1869744"/>
              <a:gd name="T12" fmla="*/ 116512 w 181971"/>
              <a:gd name="T13" fmla="*/ 1876375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7030A0"/>
            </a:solidFill>
            <a:round/>
            <a:headEnd/>
            <a:tailEnd type="stealth" w="med" len="lg"/>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98" name="任意多边形 20"/>
          <p:cNvSpPr>
            <a:spLocks noChangeArrowheads="1"/>
          </p:cNvSpPr>
          <p:nvPr/>
        </p:nvSpPr>
        <p:spPr bwMode="auto">
          <a:xfrm>
            <a:off x="6178550" y="2273935"/>
            <a:ext cx="177800" cy="2359025"/>
          </a:xfrm>
          <a:custGeom>
            <a:avLst/>
            <a:gdLst>
              <a:gd name="T0" fmla="*/ 67092 w 181971"/>
              <a:gd name="T1" fmla="*/ 0 h 1869744"/>
              <a:gd name="T2" fmla="*/ 100640 w 181971"/>
              <a:gd name="T3" fmla="*/ 195946206 h 1869744"/>
              <a:gd name="T4" fmla="*/ 0 w 181971"/>
              <a:gd name="T5" fmla="*/ 330658753 h 1869744"/>
              <a:gd name="T6" fmla="*/ 100640 w 181971"/>
              <a:gd name="T7" fmla="*/ 447001759 h 1869744"/>
              <a:gd name="T8" fmla="*/ 41932 w 181971"/>
              <a:gd name="T9" fmla="*/ 563345008 h 1869744"/>
              <a:gd name="T10" fmla="*/ 75477 w 181971"/>
              <a:gd name="T11" fmla="*/ 710303754 h 1869744"/>
              <a:gd name="T12" fmla="*/ 67092 w 181971"/>
              <a:gd name="T13" fmla="*/ 838894170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0000FF"/>
            </a:solidFill>
            <a:round/>
            <a:headEnd/>
            <a:tailEnd type="stealth" w="med" len="lg"/>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237" name="Text Box 124"/>
          <p:cNvSpPr txBox="1">
            <a:spLocks noChangeArrowheads="1"/>
          </p:cNvSpPr>
          <p:nvPr/>
        </p:nvSpPr>
        <p:spPr bwMode="auto">
          <a:xfrm>
            <a:off x="8401050" y="3029585"/>
            <a:ext cx="303213" cy="427038"/>
          </a:xfrm>
          <a:prstGeom prst="rect">
            <a:avLst/>
          </a:prstGeom>
          <a:solidFill>
            <a:srgbClr val="FFFFFF"/>
          </a:solidFill>
          <a:ln w="9525">
            <a:noFill/>
            <a:miter lim="800000"/>
            <a:headEnd/>
            <a:tailEnd/>
          </a:ln>
        </p:spPr>
        <p:txBody>
          <a:bodyPr lIns="0" tIns="0" rIns="0" bIns="0"/>
          <a:lstStyle/>
          <a:p>
            <a:pPr algn="just" defTabSz="914400"/>
            <a:r>
              <a:rPr lang="en-US" altLang="zh-CN" sz="2800" b="1">
                <a:latin typeface="Times New Roman" pitchFamily="18" charset="0"/>
                <a:ea typeface="微软雅黑" pitchFamily="34" charset="-122"/>
                <a:cs typeface="Times New Roman" pitchFamily="18" charset="0"/>
              </a:rPr>
              <a:t>N</a:t>
            </a:r>
            <a:endParaRPr lang="zh-CN" altLang="zh-CN" sz="7200" b="1">
              <a:latin typeface="Times New Roman" pitchFamily="18" charset="0"/>
              <a:ea typeface="微软雅黑" pitchFamily="34" charset="-122"/>
              <a:cs typeface="Times New Roman" pitchFamily="18" charset="0"/>
            </a:endParaRPr>
          </a:p>
        </p:txBody>
      </p:sp>
      <p:grpSp>
        <p:nvGrpSpPr>
          <p:cNvPr id="56" name="组合 208"/>
          <p:cNvGrpSpPr>
            <a:grpSpLocks/>
          </p:cNvGrpSpPr>
          <p:nvPr/>
        </p:nvGrpSpPr>
        <p:grpSpPr bwMode="auto">
          <a:xfrm>
            <a:off x="2012528" y="3829685"/>
            <a:ext cx="3422650" cy="2000250"/>
            <a:chOff x="260350" y="2451100"/>
            <a:chExt cx="3422650" cy="2000250"/>
          </a:xfrm>
        </p:grpSpPr>
        <p:sp>
          <p:nvSpPr>
            <p:cNvPr id="205" name="椭圆 204"/>
            <p:cNvSpPr/>
            <p:nvPr/>
          </p:nvSpPr>
          <p:spPr>
            <a:xfrm>
              <a:off x="3238500" y="2451100"/>
              <a:ext cx="444500" cy="15113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Times New Roman" pitchFamily="18" charset="0"/>
                <a:ea typeface="微软雅黑" pitchFamily="34" charset="-122"/>
                <a:cs typeface="Times New Roman" pitchFamily="18" charset="0"/>
              </a:endParaRPr>
            </a:p>
          </p:txBody>
        </p:sp>
        <p:sp>
          <p:nvSpPr>
            <p:cNvPr id="206" name="Text Box 124"/>
            <p:cNvSpPr txBox="1">
              <a:spLocks noChangeArrowheads="1"/>
            </p:cNvSpPr>
            <p:nvPr/>
          </p:nvSpPr>
          <p:spPr bwMode="auto">
            <a:xfrm>
              <a:off x="260350" y="3651250"/>
              <a:ext cx="1155700" cy="800100"/>
            </a:xfrm>
            <a:prstGeom prst="rect">
              <a:avLst/>
            </a:prstGeom>
            <a:solidFill>
              <a:srgbClr val="FFFFFF"/>
            </a:solidFill>
            <a:ln w="38100">
              <a:solidFill>
                <a:schemeClr val="accent6">
                  <a:lumMod val="75000"/>
                </a:schemeClr>
              </a:solidFill>
              <a:miter lim="800000"/>
              <a:headEnd/>
              <a:tailEnd/>
            </a:ln>
          </p:spPr>
          <p:txBody>
            <a:bodyPr lIns="0" tIns="0" rIns="0" bIns="0"/>
            <a:lstStyle/>
            <a:p>
              <a:pPr algn="ctr" defTabSz="914400">
                <a:defRPr/>
              </a:pPr>
              <a:r>
                <a:rPr lang="zh-CN" altLang="en-US" sz="2400" b="1" dirty="0">
                  <a:latin typeface="Times New Roman" pitchFamily="18" charset="0"/>
                  <a:ea typeface="微软雅黑" pitchFamily="34" charset="-122"/>
                  <a:cs typeface="Times New Roman" pitchFamily="18" charset="0"/>
                </a:rPr>
                <a:t>积累</a:t>
              </a:r>
              <a:endParaRPr lang="en-US" altLang="zh-CN" sz="2400" b="1" dirty="0">
                <a:latin typeface="Times New Roman" pitchFamily="18" charset="0"/>
                <a:ea typeface="微软雅黑" pitchFamily="34" charset="-122"/>
                <a:cs typeface="Times New Roman" pitchFamily="18" charset="0"/>
              </a:endParaRPr>
            </a:p>
            <a:p>
              <a:pPr algn="ctr" defTabSz="914400">
                <a:defRPr/>
              </a:pPr>
              <a:r>
                <a:rPr lang="zh-CN" altLang="en-US" sz="2400" b="1" dirty="0">
                  <a:latin typeface="Times New Roman" pitchFamily="18" charset="0"/>
                  <a:ea typeface="微软雅黑" pitchFamily="34" charset="-122"/>
                  <a:cs typeface="Times New Roman" pitchFamily="18" charset="0"/>
                </a:rPr>
                <a:t>正电荷</a:t>
              </a:r>
              <a:endParaRPr lang="zh-CN" altLang="zh-CN" sz="2400" b="1" dirty="0">
                <a:latin typeface="Times New Roman" pitchFamily="18" charset="0"/>
                <a:ea typeface="微软雅黑" pitchFamily="34" charset="-122"/>
                <a:cs typeface="Times New Roman" pitchFamily="18" charset="0"/>
              </a:endParaRPr>
            </a:p>
          </p:txBody>
        </p:sp>
        <p:cxnSp>
          <p:nvCxnSpPr>
            <p:cNvPr id="208" name="直接箭头连接符 207"/>
            <p:cNvCxnSpPr>
              <a:stCxn id="206" idx="3"/>
            </p:cNvCxnSpPr>
            <p:nvPr/>
          </p:nvCxnSpPr>
          <p:spPr>
            <a:xfrm flipV="1">
              <a:off x="1416050" y="3429000"/>
              <a:ext cx="1822450" cy="622300"/>
            </a:xfrm>
            <a:prstGeom prst="straightConnector1">
              <a:avLst/>
            </a:prstGeom>
            <a:ln w="38100">
              <a:solidFill>
                <a:schemeClr val="accent6">
                  <a:lumMod val="75000"/>
                </a:schemeClr>
              </a:solidFill>
              <a:tailEnd type="stealth" w="med" len="lg"/>
            </a:ln>
          </p:spPr>
          <p:style>
            <a:lnRef idx="1">
              <a:schemeClr val="accent1"/>
            </a:lnRef>
            <a:fillRef idx="0">
              <a:schemeClr val="accent1"/>
            </a:fillRef>
            <a:effectRef idx="0">
              <a:schemeClr val="accent1"/>
            </a:effectRef>
            <a:fontRef idx="minor">
              <a:schemeClr val="tx1"/>
            </a:fontRef>
          </p:style>
        </p:cxnSp>
      </p:grpSp>
      <p:grpSp>
        <p:nvGrpSpPr>
          <p:cNvPr id="57" name="组合 215"/>
          <p:cNvGrpSpPr>
            <a:grpSpLocks/>
          </p:cNvGrpSpPr>
          <p:nvPr/>
        </p:nvGrpSpPr>
        <p:grpSpPr bwMode="auto">
          <a:xfrm>
            <a:off x="7781738" y="3874135"/>
            <a:ext cx="3556000" cy="2089150"/>
            <a:chOff x="5105400" y="2495550"/>
            <a:chExt cx="3556000" cy="2089150"/>
          </a:xfrm>
        </p:grpSpPr>
        <p:sp>
          <p:nvSpPr>
            <p:cNvPr id="211" name="椭圆 210"/>
            <p:cNvSpPr/>
            <p:nvPr/>
          </p:nvSpPr>
          <p:spPr>
            <a:xfrm>
              <a:off x="5105400" y="2495550"/>
              <a:ext cx="444500" cy="15113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Times New Roman" pitchFamily="18" charset="0"/>
                <a:ea typeface="微软雅黑" pitchFamily="34" charset="-122"/>
                <a:cs typeface="Times New Roman" pitchFamily="18" charset="0"/>
              </a:endParaRPr>
            </a:p>
          </p:txBody>
        </p:sp>
        <p:sp>
          <p:nvSpPr>
            <p:cNvPr id="212" name="Text Box 124"/>
            <p:cNvSpPr txBox="1">
              <a:spLocks noChangeArrowheads="1"/>
            </p:cNvSpPr>
            <p:nvPr/>
          </p:nvSpPr>
          <p:spPr bwMode="auto">
            <a:xfrm>
              <a:off x="7505700" y="3784600"/>
              <a:ext cx="1155700" cy="800100"/>
            </a:xfrm>
            <a:prstGeom prst="rect">
              <a:avLst/>
            </a:prstGeom>
            <a:solidFill>
              <a:srgbClr val="FFFFFF"/>
            </a:solidFill>
            <a:ln w="38100">
              <a:solidFill>
                <a:schemeClr val="accent6">
                  <a:lumMod val="75000"/>
                </a:schemeClr>
              </a:solidFill>
              <a:miter lim="800000"/>
              <a:headEnd/>
              <a:tailEnd/>
            </a:ln>
          </p:spPr>
          <p:txBody>
            <a:bodyPr lIns="0" tIns="0" rIns="0" bIns="0"/>
            <a:lstStyle/>
            <a:p>
              <a:pPr algn="ctr" defTabSz="914400">
                <a:defRPr/>
              </a:pPr>
              <a:r>
                <a:rPr lang="zh-CN" altLang="en-US" sz="2400" b="1" dirty="0">
                  <a:latin typeface="Times New Roman" pitchFamily="18" charset="0"/>
                  <a:ea typeface="微软雅黑" pitchFamily="34" charset="-122"/>
                  <a:cs typeface="Times New Roman" pitchFamily="18" charset="0"/>
                </a:rPr>
                <a:t>积累</a:t>
              </a:r>
              <a:endParaRPr lang="en-US" altLang="zh-CN" sz="2400" b="1" dirty="0">
                <a:latin typeface="Times New Roman" pitchFamily="18" charset="0"/>
                <a:ea typeface="微软雅黑" pitchFamily="34" charset="-122"/>
                <a:cs typeface="Times New Roman" pitchFamily="18" charset="0"/>
              </a:endParaRPr>
            </a:p>
            <a:p>
              <a:pPr algn="ctr" defTabSz="914400">
                <a:defRPr/>
              </a:pPr>
              <a:r>
                <a:rPr lang="zh-CN" altLang="en-US" sz="2400" b="1" dirty="0">
                  <a:latin typeface="Times New Roman" pitchFamily="18" charset="0"/>
                  <a:ea typeface="微软雅黑" pitchFamily="34" charset="-122"/>
                  <a:cs typeface="Times New Roman" pitchFamily="18" charset="0"/>
                </a:rPr>
                <a:t>负电荷</a:t>
              </a:r>
              <a:endParaRPr lang="zh-CN" altLang="zh-CN" sz="2400" b="1" dirty="0">
                <a:latin typeface="Times New Roman" pitchFamily="18" charset="0"/>
                <a:ea typeface="微软雅黑" pitchFamily="34" charset="-122"/>
                <a:cs typeface="Times New Roman" pitchFamily="18" charset="0"/>
              </a:endParaRPr>
            </a:p>
          </p:txBody>
        </p:sp>
        <p:cxnSp>
          <p:nvCxnSpPr>
            <p:cNvPr id="213" name="直接箭头连接符 212"/>
            <p:cNvCxnSpPr/>
            <p:nvPr/>
          </p:nvCxnSpPr>
          <p:spPr>
            <a:xfrm rot="10800000">
              <a:off x="5594350" y="3606800"/>
              <a:ext cx="1866900" cy="577850"/>
            </a:xfrm>
            <a:prstGeom prst="straightConnector1">
              <a:avLst/>
            </a:prstGeom>
            <a:ln w="38100">
              <a:solidFill>
                <a:schemeClr val="accent6">
                  <a:lumMod val="75000"/>
                </a:schemeClr>
              </a:solidFill>
              <a:tailEnd type="stealth" w="med" len="lg"/>
            </a:ln>
          </p:spPr>
          <p:style>
            <a:lnRef idx="1">
              <a:schemeClr val="accent1"/>
            </a:lnRef>
            <a:fillRef idx="0">
              <a:schemeClr val="accent1"/>
            </a:fillRef>
            <a:effectRef idx="0">
              <a:schemeClr val="accent1"/>
            </a:effectRef>
            <a:fontRef idx="minor">
              <a:schemeClr val="tx1"/>
            </a:fontRef>
          </p:style>
        </p:cxnSp>
      </p:grpSp>
      <p:sp>
        <p:nvSpPr>
          <p:cNvPr id="217" name="Text Box 124"/>
          <p:cNvSpPr txBox="1">
            <a:spLocks noChangeArrowheads="1"/>
          </p:cNvSpPr>
          <p:nvPr/>
        </p:nvSpPr>
        <p:spPr bwMode="auto">
          <a:xfrm>
            <a:off x="5734050" y="5829935"/>
            <a:ext cx="1866900" cy="444500"/>
          </a:xfrm>
          <a:prstGeom prst="rect">
            <a:avLst/>
          </a:prstGeom>
          <a:solidFill>
            <a:srgbClr val="0000FF"/>
          </a:solidFill>
          <a:ln w="38100">
            <a:solidFill>
              <a:srgbClr val="FF0000"/>
            </a:solidFill>
            <a:miter lim="800000"/>
            <a:headEnd/>
            <a:tailEnd/>
          </a:ln>
        </p:spPr>
        <p:txBody>
          <a:bodyPr lIns="0" tIns="0" rIns="0" bIns="0"/>
          <a:lstStyle/>
          <a:p>
            <a:pPr algn="ctr" defTabSz="914400"/>
            <a:r>
              <a:rPr lang="zh-CN" altLang="en-US" sz="2400" b="1">
                <a:solidFill>
                  <a:schemeClr val="bg1"/>
                </a:solidFill>
                <a:latin typeface="Times New Roman" pitchFamily="18" charset="0"/>
                <a:ea typeface="微软雅黑" pitchFamily="34" charset="-122"/>
                <a:cs typeface="Times New Roman" pitchFamily="18" charset="0"/>
              </a:rPr>
              <a:t>光生电势差</a:t>
            </a:r>
            <a:endParaRPr lang="zh-CN" altLang="zh-CN" sz="2400" b="1">
              <a:solidFill>
                <a:schemeClr val="bg1"/>
              </a:solidFill>
              <a:latin typeface="Times New Roman" pitchFamily="18" charset="0"/>
              <a:ea typeface="微软雅黑" pitchFamily="34" charset="-122"/>
              <a:cs typeface="Times New Roman" pitchFamily="18" charset="0"/>
            </a:endParaRPr>
          </a:p>
        </p:txBody>
      </p:sp>
      <p:grpSp>
        <p:nvGrpSpPr>
          <p:cNvPr id="58" name="组合 229"/>
          <p:cNvGrpSpPr>
            <a:grpSpLocks/>
          </p:cNvGrpSpPr>
          <p:nvPr/>
        </p:nvGrpSpPr>
        <p:grpSpPr bwMode="auto">
          <a:xfrm>
            <a:off x="4044950" y="4585335"/>
            <a:ext cx="5500688" cy="2355850"/>
            <a:chOff x="1816100" y="3206750"/>
            <a:chExt cx="5501042" cy="2355850"/>
          </a:xfrm>
        </p:grpSpPr>
        <p:cxnSp>
          <p:nvCxnSpPr>
            <p:cNvPr id="221" name="直接连接符 220"/>
            <p:cNvCxnSpPr/>
            <p:nvPr/>
          </p:nvCxnSpPr>
          <p:spPr>
            <a:xfrm>
              <a:off x="1816100" y="3232150"/>
              <a:ext cx="311170"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928179" y="3227388"/>
              <a:ext cx="355623"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rot="16200000" flipH="1">
              <a:off x="668340" y="4362449"/>
              <a:ext cx="2355850" cy="4445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rot="16200000" flipH="1">
              <a:off x="6109052" y="4362449"/>
              <a:ext cx="2355850" cy="4445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a:off x="1849440" y="5541963"/>
              <a:ext cx="5467702"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2" name="直接箭头连接符 231"/>
          <p:cNvCxnSpPr/>
          <p:nvPr/>
        </p:nvCxnSpPr>
        <p:spPr>
          <a:xfrm>
            <a:off x="5556250" y="6763385"/>
            <a:ext cx="1600200" cy="1588"/>
          </a:xfrm>
          <a:prstGeom prst="straightConnector1">
            <a:avLst/>
          </a:pr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233" name="Object 2"/>
          <p:cNvGraphicFramePr>
            <a:graphicFrameLocks noChangeAspect="1"/>
          </p:cNvGraphicFramePr>
          <p:nvPr/>
        </p:nvGraphicFramePr>
        <p:xfrm>
          <a:off x="8001000" y="6407785"/>
          <a:ext cx="339725" cy="460375"/>
        </p:xfrm>
        <a:graphic>
          <a:graphicData uri="http://schemas.openxmlformats.org/presentationml/2006/ole">
            <mc:AlternateContent xmlns:mc="http://schemas.openxmlformats.org/markup-compatibility/2006">
              <mc:Choice xmlns:v="urn:schemas-microsoft-com:vml" Requires="v">
                <p:oleObj spid="_x0000_s49207" name="Equation" r:id="rId3" imgW="177480" imgH="241200" progId="">
                  <p:embed/>
                </p:oleObj>
              </mc:Choice>
              <mc:Fallback>
                <p:oleObj name="Equation" r:id="rId3" imgW="177480" imgH="241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0" y="6407785"/>
                        <a:ext cx="339725" cy="460375"/>
                      </a:xfrm>
                      <a:prstGeom prst="rect">
                        <a:avLst/>
                      </a:prstGeom>
                      <a:solidFill>
                        <a:srgbClr val="FF0000"/>
                      </a:solidFill>
                    </p:spPr>
                  </p:pic>
                </p:oleObj>
              </mc:Fallback>
            </mc:AlternateContent>
          </a:graphicData>
        </a:graphic>
      </p:graphicFrame>
      <p:sp>
        <p:nvSpPr>
          <p:cNvPr id="45255" name="Rectangle 3"/>
          <p:cNvSpPr>
            <a:spLocks noChangeArrowheads="1"/>
          </p:cNvSpPr>
          <p:nvPr/>
        </p:nvSpPr>
        <p:spPr bwMode="auto">
          <a:xfrm>
            <a:off x="4042100" y="1148725"/>
            <a:ext cx="5185410" cy="615553"/>
          </a:xfrm>
          <a:prstGeom prst="rect">
            <a:avLst/>
          </a:prstGeom>
          <a:gradFill rotWithShape="1">
            <a:gsLst>
              <a:gs pos="0">
                <a:srgbClr val="FFF200"/>
              </a:gs>
              <a:gs pos="45000">
                <a:srgbClr val="FF7A00"/>
              </a:gs>
              <a:gs pos="70000">
                <a:srgbClr val="FF0300"/>
              </a:gs>
              <a:gs pos="100000">
                <a:srgbClr val="4D0808"/>
              </a:gs>
            </a:gsLst>
            <a:path path="rect">
              <a:fillToRect l="100000" t="100000"/>
            </a:path>
          </a:gradFill>
          <a:ln w="9525">
            <a:noFill/>
            <a:miter lim="800000"/>
            <a:headEnd/>
            <a:tailEnd/>
          </a:ln>
        </p:spPr>
        <p:txBody>
          <a:bodyPr wrap="square" lIns="0" tIns="0" rIns="0" bIns="0" anchor="ctr">
            <a:spAutoFit/>
          </a:bodyPr>
          <a:lstStyle/>
          <a:p>
            <a:pPr algn="ctr" defTabSz="914400"/>
            <a:r>
              <a:rPr lang="en-US" altLang="zh-CN" sz="4000" b="1" dirty="0">
                <a:solidFill>
                  <a:srgbClr val="0000CC"/>
                </a:solidFill>
                <a:latin typeface="Times New Roman" pitchFamily="18" charset="0"/>
                <a:ea typeface="微软雅黑" pitchFamily="34" charset="-122"/>
                <a:cs typeface="Times New Roman" pitchFamily="18" charset="0"/>
              </a:rPr>
              <a:t>7 PN</a:t>
            </a:r>
            <a:r>
              <a:rPr lang="zh-CN" altLang="en-US" sz="4000" b="1" dirty="0">
                <a:solidFill>
                  <a:srgbClr val="0000CC"/>
                </a:solidFill>
                <a:latin typeface="Times New Roman" pitchFamily="18" charset="0"/>
                <a:ea typeface="微软雅黑" pitchFamily="34" charset="-122"/>
                <a:cs typeface="Times New Roman" pitchFamily="18" charset="0"/>
              </a:rPr>
              <a:t>结光电效应</a:t>
            </a:r>
          </a:p>
        </p:txBody>
      </p:sp>
      <p:sp>
        <p:nvSpPr>
          <p:cNvPr id="199" name="文本框 60">
            <a:extLst>
              <a:ext uri="{FF2B5EF4-FFF2-40B4-BE49-F238E27FC236}">
                <a16:creationId xmlns="" xmlns:a16="http://schemas.microsoft.com/office/drawing/2014/main" id="{9C2A677C-B3EC-4CF2-BB17-82CF458F9D63}"/>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200" name="矩形 199">
            <a:extLst>
              <a:ext uri="{FF2B5EF4-FFF2-40B4-BE49-F238E27FC236}">
                <a16:creationId xmlns="" xmlns:a16="http://schemas.microsoft.com/office/drawing/2014/main" id="{9941070B-0F76-4A36-A0C9-0CF810A2648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2" name="矩形 201">
            <a:extLst>
              <a:ext uri="{FF2B5EF4-FFF2-40B4-BE49-F238E27FC236}">
                <a16:creationId xmlns="" xmlns:a16="http://schemas.microsoft.com/office/drawing/2014/main" id="{AF1BBECD-6276-4CA4-B748-31CB3D43E27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矩形: 圆角 202">
            <a:extLst>
              <a:ext uri="{FF2B5EF4-FFF2-40B4-BE49-F238E27FC236}">
                <a16:creationId xmlns="" xmlns:a16="http://schemas.microsoft.com/office/drawing/2014/main" id="{D6DAB040-54AA-4F13-B204-537FA5FF36F0}"/>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9" name="直接连接符 58">
            <a:extLst>
              <a:ext uri="{FF2B5EF4-FFF2-40B4-BE49-F238E27FC236}">
                <a16:creationId xmlns="" xmlns:a16="http://schemas.microsoft.com/office/drawing/2014/main" id="{3D1AD35A-8F74-40DE-8BA1-E013B32C6E9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0" name="矩形 209">
            <a:extLst>
              <a:ext uri="{FF2B5EF4-FFF2-40B4-BE49-F238E27FC236}">
                <a16:creationId xmlns="" xmlns:a16="http://schemas.microsoft.com/office/drawing/2014/main" id="{E12D61DA-2CF4-481B-9545-2FEB7ED9114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4" name="矩形 213">
            <a:extLst>
              <a:ext uri="{FF2B5EF4-FFF2-40B4-BE49-F238E27FC236}">
                <a16:creationId xmlns="" xmlns:a16="http://schemas.microsoft.com/office/drawing/2014/main" id="{BA264634-8BCB-49D4-98EB-43708376F0D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98392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197"/>
                                        </p:tgtEl>
                                        <p:attrNameLst>
                                          <p:attrName>style.visibility</p:attrName>
                                        </p:attrNameLst>
                                      </p:cBhvr>
                                      <p:to>
                                        <p:strVal val="visible"/>
                                      </p:to>
                                    </p:set>
                                    <p:anim calcmode="lin" valueType="num">
                                      <p:cBhvr additive="base">
                                        <p:cTn id="12" dur="500" fill="hold"/>
                                        <p:tgtEl>
                                          <p:spTgt spid="197"/>
                                        </p:tgtEl>
                                        <p:attrNameLst>
                                          <p:attrName>ppt_x</p:attrName>
                                        </p:attrNameLst>
                                      </p:cBhvr>
                                      <p:tavLst>
                                        <p:tav tm="0">
                                          <p:val>
                                            <p:strVal val="#ppt_x"/>
                                          </p:val>
                                        </p:tav>
                                        <p:tav tm="100000">
                                          <p:val>
                                            <p:strVal val="#ppt_x"/>
                                          </p:val>
                                        </p:tav>
                                      </p:tavLst>
                                    </p:anim>
                                    <p:anim calcmode="lin" valueType="num">
                                      <p:cBhvr additive="base">
                                        <p:cTn id="13" dur="500" fill="hold"/>
                                        <p:tgtEl>
                                          <p:spTgt spid="197"/>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1"/>
                                        </p:tgtEl>
                                        <p:attrNameLst>
                                          <p:attrName>style.visibility</p:attrName>
                                        </p:attrNameLst>
                                      </p:cBhvr>
                                      <p:to>
                                        <p:strVal val="visible"/>
                                      </p:to>
                                    </p:set>
                                    <p:animEffect transition="in" filter="box(in)">
                                      <p:cBhvr>
                                        <p:cTn id="18" dur="500"/>
                                        <p:tgtEl>
                                          <p:spTgt spid="151"/>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box(in)">
                                      <p:cBhvr>
                                        <p:cTn id="21" dur="500"/>
                                        <p:tgtEl>
                                          <p:spTgt spid="50"/>
                                        </p:tgtEl>
                                      </p:cBhvr>
                                    </p:animEffect>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grpId="1" nodeType="clickEffect">
                                  <p:stCondLst>
                                    <p:cond delay="0"/>
                                  </p:stCondLst>
                                  <p:childTnLst>
                                    <p:animMotion origin="layout" path="M -2.77778E-7 1.16817E-6 L 0.09184 -0.00301 " pathEditMode="relative" rAng="0" ptsTypes="AA">
                                      <p:cBhvr>
                                        <p:cTn id="25" dur="2000" fill="hold"/>
                                        <p:tgtEl>
                                          <p:spTgt spid="50"/>
                                        </p:tgtEl>
                                        <p:attrNameLst>
                                          <p:attrName>ppt_x</p:attrName>
                                          <p:attrName>ppt_y</p:attrName>
                                        </p:attrNameLst>
                                      </p:cBhvr>
                                      <p:rCtr x="4600" y="-200"/>
                                    </p:animMotion>
                                  </p:childTnLst>
                                </p:cTn>
                              </p:par>
                              <p:par>
                                <p:cTn id="26" presetID="35" presetClass="path" presetSubtype="0" accel="50000" decel="50000" fill="hold" grpId="1" nodeType="withEffect">
                                  <p:stCondLst>
                                    <p:cond delay="0"/>
                                  </p:stCondLst>
                                  <p:childTnLst>
                                    <p:animMotion origin="layout" path="M 5.55556E-7 -2.04025E-6 L -0.10677 -0.01203 " pathEditMode="relative" rAng="0" ptsTypes="AA">
                                      <p:cBhvr>
                                        <p:cTn id="27" dur="2000" fill="hold"/>
                                        <p:tgtEl>
                                          <p:spTgt spid="151"/>
                                        </p:tgtEl>
                                        <p:attrNameLst>
                                          <p:attrName>ppt_x</p:attrName>
                                          <p:attrName>ppt_y</p:attrName>
                                        </p:attrNameLst>
                                      </p:cBhvr>
                                      <p:rCtr x="-5300" y="-600"/>
                                    </p:animMotion>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box(in)">
                                      <p:cBhvr>
                                        <p:cTn id="32" dur="500"/>
                                        <p:tgtEl>
                                          <p:spTgt spid="5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198"/>
                                        </p:tgtEl>
                                        <p:attrNameLst>
                                          <p:attrName>style.visibility</p:attrName>
                                        </p:attrNameLst>
                                      </p:cBhvr>
                                      <p:to>
                                        <p:strVal val="visible"/>
                                      </p:to>
                                    </p:set>
                                    <p:anim calcmode="lin" valueType="num">
                                      <p:cBhvr additive="base">
                                        <p:cTn id="37" dur="500" fill="hold"/>
                                        <p:tgtEl>
                                          <p:spTgt spid="198"/>
                                        </p:tgtEl>
                                        <p:attrNameLst>
                                          <p:attrName>ppt_x</p:attrName>
                                        </p:attrNameLst>
                                      </p:cBhvr>
                                      <p:tavLst>
                                        <p:tav tm="0">
                                          <p:val>
                                            <p:strVal val="#ppt_x"/>
                                          </p:val>
                                        </p:tav>
                                        <p:tav tm="100000">
                                          <p:val>
                                            <p:strVal val="#ppt_x"/>
                                          </p:val>
                                        </p:tav>
                                      </p:tavLst>
                                    </p:anim>
                                    <p:anim calcmode="lin" valueType="num">
                                      <p:cBhvr additive="base">
                                        <p:cTn id="38" dur="500" fill="hold"/>
                                        <p:tgtEl>
                                          <p:spTgt spid="198"/>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box(in)">
                                      <p:cBhvr>
                                        <p:cTn id="43" dur="500"/>
                                        <p:tgtEl>
                                          <p:spTgt spid="55"/>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174"/>
                                        </p:tgtEl>
                                        <p:attrNameLst>
                                          <p:attrName>style.visibility</p:attrName>
                                        </p:attrNameLst>
                                      </p:cBhvr>
                                      <p:to>
                                        <p:strVal val="visible"/>
                                      </p:to>
                                    </p:set>
                                    <p:animEffect transition="in" filter="box(in)">
                                      <p:cBhvr>
                                        <p:cTn id="46" dur="500"/>
                                        <p:tgtEl>
                                          <p:spTgt spid="174"/>
                                        </p:tgtEl>
                                      </p:cBhvr>
                                    </p:animEffect>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grpId="1" nodeType="clickEffect">
                                  <p:stCondLst>
                                    <p:cond delay="0"/>
                                  </p:stCondLst>
                                  <p:childTnLst>
                                    <p:animMotion origin="layout" path="M 4.44444E-6 7.65672E-7 L 0.13437 0.00254 " pathEditMode="relative" rAng="0" ptsTypes="AA">
                                      <p:cBhvr>
                                        <p:cTn id="50" dur="2000" fill="hold"/>
                                        <p:tgtEl>
                                          <p:spTgt spid="55"/>
                                        </p:tgtEl>
                                        <p:attrNameLst>
                                          <p:attrName>ppt_x</p:attrName>
                                          <p:attrName>ppt_y</p:attrName>
                                        </p:attrNameLst>
                                      </p:cBhvr>
                                      <p:rCtr x="6700" y="100"/>
                                    </p:animMotion>
                                  </p:childTnLst>
                                </p:cTn>
                              </p:par>
                              <p:par>
                                <p:cTn id="51" presetID="35" presetClass="path" presetSubtype="0" accel="50000" decel="50000" fill="hold" grpId="1" nodeType="withEffect">
                                  <p:stCondLst>
                                    <p:cond delay="0"/>
                                  </p:stCondLst>
                                  <p:childTnLst>
                                    <p:animMotion origin="layout" path="M -3.05556E-6 -4.5177E-6 L -0.06319 -0.00508 " pathEditMode="relative" rAng="0" ptsTypes="AA">
                                      <p:cBhvr>
                                        <p:cTn id="52" dur="2000" fill="hold"/>
                                        <p:tgtEl>
                                          <p:spTgt spid="174"/>
                                        </p:tgtEl>
                                        <p:attrNameLst>
                                          <p:attrName>ppt_x</p:attrName>
                                          <p:attrName>ppt_y</p:attrName>
                                        </p:attrNameLst>
                                      </p:cBhvr>
                                      <p:rCtr x="-3200" y="-300"/>
                                    </p:animMotion>
                                  </p:childTnLst>
                                </p:cTn>
                              </p:par>
                            </p:childTnLst>
                          </p:cTn>
                        </p:par>
                      </p:childTnLst>
                    </p:cTn>
                  </p:par>
                  <p:par>
                    <p:cTn id="53" fill="hold">
                      <p:stCondLst>
                        <p:cond delay="indefinite"/>
                      </p:stCondLst>
                      <p:childTnLst>
                        <p:par>
                          <p:cTn id="54" fill="hold">
                            <p:stCondLst>
                              <p:cond delay="0"/>
                            </p:stCondLst>
                            <p:childTnLst>
                              <p:par>
                                <p:cTn id="55" presetID="2" presetClass="entr" presetSubtype="1" fill="hold" grpId="0" nodeType="clickEffect">
                                  <p:stCondLst>
                                    <p:cond delay="0"/>
                                  </p:stCondLst>
                                  <p:childTnLst>
                                    <p:set>
                                      <p:cBhvr>
                                        <p:cTn id="56" dur="1" fill="hold">
                                          <p:stCondLst>
                                            <p:cond delay="0"/>
                                          </p:stCondLst>
                                        </p:cTn>
                                        <p:tgtEl>
                                          <p:spTgt spid="196"/>
                                        </p:tgtEl>
                                        <p:attrNameLst>
                                          <p:attrName>style.visibility</p:attrName>
                                        </p:attrNameLst>
                                      </p:cBhvr>
                                      <p:to>
                                        <p:strVal val="visible"/>
                                      </p:to>
                                    </p:set>
                                    <p:anim calcmode="lin" valueType="num">
                                      <p:cBhvr additive="base">
                                        <p:cTn id="57" dur="500" fill="hold"/>
                                        <p:tgtEl>
                                          <p:spTgt spid="196"/>
                                        </p:tgtEl>
                                        <p:attrNameLst>
                                          <p:attrName>ppt_x</p:attrName>
                                        </p:attrNameLst>
                                      </p:cBhvr>
                                      <p:tavLst>
                                        <p:tav tm="0">
                                          <p:val>
                                            <p:strVal val="#ppt_x"/>
                                          </p:val>
                                        </p:tav>
                                        <p:tav tm="100000">
                                          <p:val>
                                            <p:strVal val="#ppt_x"/>
                                          </p:val>
                                        </p:tav>
                                      </p:tavLst>
                                    </p:anim>
                                    <p:anim calcmode="lin" valueType="num">
                                      <p:cBhvr additive="base">
                                        <p:cTn id="58" dur="500" fill="hold"/>
                                        <p:tgtEl>
                                          <p:spTgt spid="196"/>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box(in)">
                                      <p:cBhvr>
                                        <p:cTn id="63" dur="500"/>
                                        <p:tgtEl>
                                          <p:spTgt spid="72"/>
                                        </p:tgtEl>
                                      </p:cBhvr>
                                    </p:animEffect>
                                  </p:childTnLst>
                                </p:cTn>
                              </p:par>
                              <p:par>
                                <p:cTn id="64" presetID="4" presetClass="entr" presetSubtype="16" fill="hold" grpId="0" nodeType="withEffect">
                                  <p:stCondLst>
                                    <p:cond delay="0"/>
                                  </p:stCondLst>
                                  <p:childTnLst>
                                    <p:set>
                                      <p:cBhvr>
                                        <p:cTn id="65" dur="1" fill="hold">
                                          <p:stCondLst>
                                            <p:cond delay="0"/>
                                          </p:stCondLst>
                                        </p:cTn>
                                        <p:tgtEl>
                                          <p:spTgt spid="158"/>
                                        </p:tgtEl>
                                        <p:attrNameLst>
                                          <p:attrName>style.visibility</p:attrName>
                                        </p:attrNameLst>
                                      </p:cBhvr>
                                      <p:to>
                                        <p:strVal val="visible"/>
                                      </p:to>
                                    </p:set>
                                    <p:animEffect transition="in" filter="box(in)">
                                      <p:cBhvr>
                                        <p:cTn id="66" dur="500"/>
                                        <p:tgtEl>
                                          <p:spTgt spid="158"/>
                                        </p:tgtEl>
                                      </p:cBhvr>
                                    </p:animEffect>
                                  </p:childTnLst>
                                </p:cTn>
                              </p:par>
                            </p:childTnLst>
                          </p:cTn>
                        </p:par>
                      </p:childTnLst>
                    </p:cTn>
                  </p:par>
                  <p:par>
                    <p:cTn id="67" fill="hold">
                      <p:stCondLst>
                        <p:cond delay="indefinite"/>
                      </p:stCondLst>
                      <p:childTnLst>
                        <p:par>
                          <p:cTn id="68" fill="hold">
                            <p:stCondLst>
                              <p:cond delay="0"/>
                            </p:stCondLst>
                            <p:childTnLst>
                              <p:par>
                                <p:cTn id="69" presetID="63" presetClass="path" presetSubtype="0" accel="50000" decel="50000" fill="hold" grpId="1" nodeType="clickEffect">
                                  <p:stCondLst>
                                    <p:cond delay="0"/>
                                  </p:stCondLst>
                                  <p:childTnLst>
                                    <p:animMotion origin="layout" path="M 3.33333E-6 -7.70298E-7 L 0.06701 -0.00231 " pathEditMode="relative" rAng="0" ptsTypes="AA">
                                      <p:cBhvr>
                                        <p:cTn id="70" dur="2000" fill="hold"/>
                                        <p:tgtEl>
                                          <p:spTgt spid="72"/>
                                        </p:tgtEl>
                                        <p:attrNameLst>
                                          <p:attrName>ppt_x</p:attrName>
                                          <p:attrName>ppt_y</p:attrName>
                                        </p:attrNameLst>
                                      </p:cBhvr>
                                      <p:rCtr x="3400" y="-100"/>
                                    </p:animMotion>
                                  </p:childTnLst>
                                </p:cTn>
                              </p:par>
                              <p:par>
                                <p:cTn id="71" presetID="35" presetClass="path" presetSubtype="0" accel="50000" decel="50000" fill="hold" grpId="1" nodeType="withEffect">
                                  <p:stCondLst>
                                    <p:cond delay="0"/>
                                  </p:stCondLst>
                                  <p:childTnLst>
                                    <p:animMotion origin="layout" path="M 1.11111E-6 4.89244E-6 L -0.14948 -0.00255 " pathEditMode="relative" rAng="0" ptsTypes="AA">
                                      <p:cBhvr>
                                        <p:cTn id="72" dur="2000" fill="hold"/>
                                        <p:tgtEl>
                                          <p:spTgt spid="158"/>
                                        </p:tgtEl>
                                        <p:attrNameLst>
                                          <p:attrName>ppt_x</p:attrName>
                                          <p:attrName>ppt_y</p:attrName>
                                        </p:attrNameLst>
                                      </p:cBhvr>
                                      <p:rCtr x="-7500" y="-100"/>
                                    </p:animMotion>
                                  </p:childTnLst>
                                </p:cTn>
                              </p:par>
                            </p:childTnLst>
                          </p:cTn>
                        </p:par>
                      </p:childTnLst>
                    </p:cTn>
                  </p:par>
                  <p:par>
                    <p:cTn id="73" fill="hold">
                      <p:stCondLst>
                        <p:cond delay="indefinite"/>
                      </p:stCondLst>
                      <p:childTnLst>
                        <p:par>
                          <p:cTn id="74" fill="hold">
                            <p:stCondLst>
                              <p:cond delay="0"/>
                            </p:stCondLst>
                            <p:childTnLst>
                              <p:par>
                                <p:cTn id="75" presetID="6" presetClass="emph" presetSubtype="0" fill="hold" grpId="0" nodeType="clickEffect">
                                  <p:stCondLst>
                                    <p:cond delay="0"/>
                                  </p:stCondLst>
                                  <p:childTnLst>
                                    <p:animScale>
                                      <p:cBhvr>
                                        <p:cTn id="76" dur="2000" fill="hold"/>
                                        <p:tgtEl>
                                          <p:spTgt spid="179"/>
                                        </p:tgtEl>
                                      </p:cBhvr>
                                      <p:by x="60000" y="100000"/>
                                    </p:animScale>
                                  </p:childTnLst>
                                </p:cTn>
                              </p:par>
                            </p:childTnLst>
                          </p:cTn>
                        </p:par>
                      </p:childTnLst>
                    </p:cTn>
                  </p:par>
                  <p:par>
                    <p:cTn id="77" fill="hold">
                      <p:stCondLst>
                        <p:cond delay="indefinite"/>
                      </p:stCondLst>
                      <p:childTnLst>
                        <p:par>
                          <p:cTn id="78" fill="hold">
                            <p:stCondLst>
                              <p:cond delay="0"/>
                            </p:stCondLst>
                            <p:childTnLst>
                              <p:par>
                                <p:cTn id="79" presetID="4" presetClass="entr" presetSubtype="16" fill="hold" nodeType="click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box(in)">
                                      <p:cBhvr>
                                        <p:cTn id="81" dur="500"/>
                                        <p:tgtEl>
                                          <p:spTgt spid="56"/>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nodeType="clickEffect">
                                  <p:stCondLst>
                                    <p:cond delay="0"/>
                                  </p:stCondLst>
                                  <p:childTnLst>
                                    <p:set>
                                      <p:cBhvr>
                                        <p:cTn id="85" dur="1" fill="hold">
                                          <p:stCondLst>
                                            <p:cond delay="0"/>
                                          </p:stCondLst>
                                        </p:cTn>
                                        <p:tgtEl>
                                          <p:spTgt spid="57"/>
                                        </p:tgtEl>
                                        <p:attrNameLst>
                                          <p:attrName>style.visibility</p:attrName>
                                        </p:attrNameLst>
                                      </p:cBhvr>
                                      <p:to>
                                        <p:strVal val="visible"/>
                                      </p:to>
                                    </p:set>
                                    <p:animEffect transition="in" filter="box(in)">
                                      <p:cBhvr>
                                        <p:cTn id="86" dur="500"/>
                                        <p:tgtEl>
                                          <p:spTgt spid="57"/>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16" fill="hold" grpId="0" nodeType="clickEffect">
                                  <p:stCondLst>
                                    <p:cond delay="0"/>
                                  </p:stCondLst>
                                  <p:childTnLst>
                                    <p:set>
                                      <p:cBhvr>
                                        <p:cTn id="90" dur="1" fill="hold">
                                          <p:stCondLst>
                                            <p:cond delay="0"/>
                                          </p:stCondLst>
                                        </p:cTn>
                                        <p:tgtEl>
                                          <p:spTgt spid="217"/>
                                        </p:tgtEl>
                                        <p:attrNameLst>
                                          <p:attrName>style.visibility</p:attrName>
                                        </p:attrNameLst>
                                      </p:cBhvr>
                                      <p:to>
                                        <p:strVal val="visible"/>
                                      </p:to>
                                    </p:set>
                                    <p:animEffect transition="in" filter="box(in)">
                                      <p:cBhvr>
                                        <p:cTn id="91" dur="500"/>
                                        <p:tgtEl>
                                          <p:spTgt spid="217"/>
                                        </p:tgtEl>
                                      </p:cBhvr>
                                    </p:animEffect>
                                  </p:childTnLst>
                                </p:cTn>
                              </p:par>
                            </p:childTnLst>
                          </p:cTn>
                        </p:par>
                      </p:childTnLst>
                    </p:cTn>
                  </p:par>
                  <p:par>
                    <p:cTn id="92" fill="hold">
                      <p:stCondLst>
                        <p:cond delay="indefinite"/>
                      </p:stCondLst>
                      <p:childTnLst>
                        <p:par>
                          <p:cTn id="93" fill="hold">
                            <p:stCondLst>
                              <p:cond delay="0"/>
                            </p:stCondLst>
                            <p:childTnLst>
                              <p:par>
                                <p:cTn id="94" presetID="4" presetClass="entr" presetSubtype="16" fill="hold" nodeType="clickEffect">
                                  <p:stCondLst>
                                    <p:cond delay="0"/>
                                  </p:stCondLst>
                                  <p:childTnLst>
                                    <p:set>
                                      <p:cBhvr>
                                        <p:cTn id="95" dur="1" fill="hold">
                                          <p:stCondLst>
                                            <p:cond delay="0"/>
                                          </p:stCondLst>
                                        </p:cTn>
                                        <p:tgtEl>
                                          <p:spTgt spid="58"/>
                                        </p:tgtEl>
                                        <p:attrNameLst>
                                          <p:attrName>style.visibility</p:attrName>
                                        </p:attrNameLst>
                                      </p:cBhvr>
                                      <p:to>
                                        <p:strVal val="visible"/>
                                      </p:to>
                                    </p:set>
                                    <p:animEffect transition="in" filter="box(in)">
                                      <p:cBhvr>
                                        <p:cTn id="96" dur="500"/>
                                        <p:tgtEl>
                                          <p:spTgt spid="58"/>
                                        </p:tgtEl>
                                      </p:cBhvr>
                                    </p:animEffect>
                                  </p:childTnLst>
                                </p:cTn>
                              </p:par>
                            </p:childTnLst>
                          </p:cTn>
                        </p:par>
                      </p:childTnLst>
                    </p:cTn>
                  </p:par>
                  <p:par>
                    <p:cTn id="97" fill="hold">
                      <p:stCondLst>
                        <p:cond delay="indefinite"/>
                      </p:stCondLst>
                      <p:childTnLst>
                        <p:par>
                          <p:cTn id="98" fill="hold">
                            <p:stCondLst>
                              <p:cond delay="0"/>
                            </p:stCondLst>
                            <p:childTnLst>
                              <p:par>
                                <p:cTn id="99" presetID="26" presetClass="emph" presetSubtype="0" fill="hold" nodeType="clickEffect">
                                  <p:stCondLst>
                                    <p:cond delay="0"/>
                                  </p:stCondLst>
                                  <p:childTnLst>
                                    <p:animEffect transition="out" filter="fade">
                                      <p:cBhvr>
                                        <p:cTn id="100" dur="500" tmFilter="0, 0; .2, .5; .8, .5; 1, 0"/>
                                        <p:tgtEl>
                                          <p:spTgt spid="58"/>
                                        </p:tgtEl>
                                      </p:cBhvr>
                                    </p:animEffect>
                                    <p:animScale>
                                      <p:cBhvr>
                                        <p:cTn id="101" dur="250" autoRev="1" fill="hold"/>
                                        <p:tgtEl>
                                          <p:spTgt spid="58"/>
                                        </p:tgtEl>
                                      </p:cBhvr>
                                      <p:by x="105000" y="105000"/>
                                    </p:animScale>
                                  </p:child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232"/>
                                        </p:tgtEl>
                                        <p:attrNameLst>
                                          <p:attrName>style.visibility</p:attrName>
                                        </p:attrNameLst>
                                      </p:cBhvr>
                                      <p:to>
                                        <p:strVal val="visible"/>
                                      </p:to>
                                    </p:set>
                                    <p:animEffect transition="in" filter="box(in)">
                                      <p:cBhvr>
                                        <p:cTn id="106" dur="500"/>
                                        <p:tgtEl>
                                          <p:spTgt spid="232"/>
                                        </p:tgtEl>
                                      </p:cBhvr>
                                    </p:animEffect>
                                  </p:childTnLst>
                                </p:cTn>
                              </p:par>
                            </p:childTnLst>
                          </p:cTn>
                        </p:par>
                      </p:childTnLst>
                    </p:cTn>
                  </p:par>
                  <p:par>
                    <p:cTn id="107" fill="hold">
                      <p:stCondLst>
                        <p:cond delay="indefinite"/>
                      </p:stCondLst>
                      <p:childTnLst>
                        <p:par>
                          <p:cTn id="108" fill="hold">
                            <p:stCondLst>
                              <p:cond delay="0"/>
                            </p:stCondLst>
                            <p:childTnLst>
                              <p:par>
                                <p:cTn id="109" presetID="4" presetClass="entr" presetSubtype="16" fill="hold" nodeType="clickEffect">
                                  <p:stCondLst>
                                    <p:cond delay="0"/>
                                  </p:stCondLst>
                                  <p:childTnLst>
                                    <p:set>
                                      <p:cBhvr>
                                        <p:cTn id="110" dur="1" fill="hold">
                                          <p:stCondLst>
                                            <p:cond delay="0"/>
                                          </p:stCondLst>
                                        </p:cTn>
                                        <p:tgtEl>
                                          <p:spTgt spid="233"/>
                                        </p:tgtEl>
                                        <p:attrNameLst>
                                          <p:attrName>style.visibility</p:attrName>
                                        </p:attrNameLst>
                                      </p:cBhvr>
                                      <p:to>
                                        <p:strVal val="visible"/>
                                      </p:to>
                                    </p:set>
                                    <p:animEffect transition="in" filter="box(in)">
                                      <p:cBhvr>
                                        <p:cTn id="111" dur="500"/>
                                        <p:tgtEl>
                                          <p:spTgt spid="233"/>
                                        </p:tgtEl>
                                      </p:cBhvr>
                                    </p:animEffect>
                                  </p:childTnLst>
                                </p:cTn>
                              </p:par>
                            </p:childTnLst>
                          </p:cTn>
                        </p:par>
                      </p:childTnLst>
                    </p:cTn>
                  </p:par>
                  <p:par>
                    <p:cTn id="112" fill="hold">
                      <p:stCondLst>
                        <p:cond delay="indefinite"/>
                      </p:stCondLst>
                      <p:childTnLst>
                        <p:par>
                          <p:cTn id="113" fill="hold">
                            <p:stCondLst>
                              <p:cond delay="0"/>
                            </p:stCondLst>
                            <p:childTnLst>
                              <p:par>
                                <p:cTn id="114" presetID="6" presetClass="emph" presetSubtype="0" fill="hold" nodeType="clickEffect">
                                  <p:stCondLst>
                                    <p:cond delay="0"/>
                                  </p:stCondLst>
                                  <p:childTnLst>
                                    <p:animScale>
                                      <p:cBhvr>
                                        <p:cTn id="115" dur="2000" fill="hold"/>
                                        <p:tgtEl>
                                          <p:spTgt spid="232"/>
                                        </p:tgtEl>
                                      </p:cBhvr>
                                      <p:by x="150000" y="150000"/>
                                    </p:animScale>
                                  </p:childTnLst>
                                </p:cTn>
                              </p:par>
                              <p:par>
                                <p:cTn id="116" presetID="6" presetClass="emph" presetSubtype="0" fill="hold" nodeType="withEffect">
                                  <p:stCondLst>
                                    <p:cond delay="0"/>
                                  </p:stCondLst>
                                  <p:childTnLst>
                                    <p:animScale>
                                      <p:cBhvr>
                                        <p:cTn id="117" dur="2000" fill="hold"/>
                                        <p:tgtEl>
                                          <p:spTgt spid="23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5" grpId="0" animBg="1"/>
      <p:bldP spid="55" grpId="1" animBg="1"/>
      <p:bldP spid="72" grpId="0" animBg="1"/>
      <p:bldP spid="72" grpId="1" animBg="1"/>
      <p:bldP spid="151" grpId="0" animBg="1"/>
      <p:bldP spid="151" grpId="1" animBg="1"/>
      <p:bldP spid="158" grpId="0" animBg="1"/>
      <p:bldP spid="158" grpId="1" animBg="1"/>
      <p:bldP spid="174" grpId="0" animBg="1"/>
      <p:bldP spid="174" grpId="1" animBg="1"/>
      <p:bldP spid="179" grpId="0" animBg="1"/>
      <p:bldP spid="196" grpId="0" animBg="1"/>
      <p:bldP spid="197" grpId="0" animBg="1"/>
      <p:bldP spid="198" grpId="0" animBg="1"/>
      <p:bldP spid="2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8" name="Rectangle 5"/>
          <p:cNvSpPr>
            <a:spLocks noChangeArrowheads="1"/>
          </p:cNvSpPr>
          <p:nvPr/>
        </p:nvSpPr>
        <p:spPr bwMode="auto">
          <a:xfrm>
            <a:off x="3931285" y="2429088"/>
            <a:ext cx="4786313" cy="2030413"/>
          </a:xfrm>
          <a:prstGeom prst="rect">
            <a:avLst/>
          </a:prstGeom>
          <a:solidFill>
            <a:srgbClr val="FFFFFF"/>
          </a:solidFill>
          <a:ln w="508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46089" name="Line 6"/>
          <p:cNvSpPr>
            <a:spLocks noChangeShapeType="1"/>
          </p:cNvSpPr>
          <p:nvPr/>
        </p:nvSpPr>
        <p:spPr bwMode="auto">
          <a:xfrm>
            <a:off x="6271260" y="2429088"/>
            <a:ext cx="1588" cy="2028825"/>
          </a:xfrm>
          <a:prstGeom prst="line">
            <a:avLst/>
          </a:prstGeom>
          <a:noFill/>
          <a:ln w="38100">
            <a:solidFill>
              <a:srgbClr val="000000"/>
            </a:solidFill>
            <a:prstDash val="dash"/>
            <a:round/>
            <a:headEnd/>
            <a:tailEnd/>
          </a:ln>
        </p:spPr>
        <p:txBody>
          <a:bodyPr/>
          <a:lstStyle/>
          <a:p>
            <a:endParaRPr lang="zh-CN" altLang="en-US"/>
          </a:p>
        </p:txBody>
      </p:sp>
      <p:grpSp>
        <p:nvGrpSpPr>
          <p:cNvPr id="46090" name="组合 345"/>
          <p:cNvGrpSpPr>
            <a:grpSpLocks/>
          </p:cNvGrpSpPr>
          <p:nvPr/>
        </p:nvGrpSpPr>
        <p:grpSpPr bwMode="auto">
          <a:xfrm>
            <a:off x="4094798" y="2462426"/>
            <a:ext cx="265112" cy="436562"/>
            <a:chOff x="3708391" y="4698272"/>
            <a:chExt cx="265290" cy="436662"/>
          </a:xfrm>
        </p:grpSpPr>
        <p:sp>
          <p:nvSpPr>
            <p:cNvPr id="46091"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092" name="组合 127"/>
            <p:cNvGrpSpPr>
              <a:grpSpLocks/>
            </p:cNvGrpSpPr>
            <p:nvPr/>
          </p:nvGrpSpPr>
          <p:grpSpPr bwMode="auto">
            <a:xfrm>
              <a:off x="3723561" y="4885168"/>
              <a:ext cx="250120" cy="249766"/>
              <a:chOff x="3723561" y="4885168"/>
              <a:chExt cx="250120" cy="249766"/>
            </a:xfrm>
          </p:grpSpPr>
          <p:sp>
            <p:nvSpPr>
              <p:cNvPr id="4609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09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095" name="组合 129"/>
          <p:cNvGrpSpPr>
            <a:grpSpLocks/>
          </p:cNvGrpSpPr>
          <p:nvPr/>
        </p:nvGrpSpPr>
        <p:grpSpPr bwMode="auto">
          <a:xfrm rot="17632110">
            <a:off x="8085773" y="2506875"/>
            <a:ext cx="254000" cy="434975"/>
            <a:chOff x="5149850" y="4703444"/>
            <a:chExt cx="253825" cy="434955"/>
          </a:xfrm>
        </p:grpSpPr>
        <p:sp>
          <p:nvSpPr>
            <p:cNvPr id="4609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6097" name="组合 128"/>
            <p:cNvGrpSpPr>
              <a:grpSpLocks/>
            </p:cNvGrpSpPr>
            <p:nvPr/>
          </p:nvGrpSpPr>
          <p:grpSpPr bwMode="auto">
            <a:xfrm>
              <a:off x="5149850" y="4865143"/>
              <a:ext cx="249687" cy="273256"/>
              <a:chOff x="5149850" y="4865143"/>
              <a:chExt cx="249687" cy="273256"/>
            </a:xfrm>
          </p:grpSpPr>
          <p:sp>
            <p:nvSpPr>
              <p:cNvPr id="4609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09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0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01" name="组合 255"/>
          <p:cNvGrpSpPr>
            <a:grpSpLocks/>
          </p:cNvGrpSpPr>
          <p:nvPr/>
        </p:nvGrpSpPr>
        <p:grpSpPr bwMode="auto">
          <a:xfrm rot="4565890">
            <a:off x="7720648" y="2995825"/>
            <a:ext cx="254000" cy="434975"/>
            <a:chOff x="5149850" y="4703444"/>
            <a:chExt cx="253825" cy="434955"/>
          </a:xfrm>
        </p:grpSpPr>
        <p:sp>
          <p:nvSpPr>
            <p:cNvPr id="46102"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03" name="组合 128"/>
            <p:cNvGrpSpPr>
              <a:grpSpLocks/>
            </p:cNvGrpSpPr>
            <p:nvPr/>
          </p:nvGrpSpPr>
          <p:grpSpPr bwMode="auto">
            <a:xfrm>
              <a:off x="5149850" y="4865143"/>
              <a:ext cx="249687" cy="273256"/>
              <a:chOff x="5149850" y="4865143"/>
              <a:chExt cx="249687" cy="273256"/>
            </a:xfrm>
          </p:grpSpPr>
          <p:sp>
            <p:nvSpPr>
              <p:cNvPr id="46104"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05"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06"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07" name="组合 261"/>
          <p:cNvGrpSpPr>
            <a:grpSpLocks/>
          </p:cNvGrpSpPr>
          <p:nvPr/>
        </p:nvGrpSpPr>
        <p:grpSpPr bwMode="auto">
          <a:xfrm rot="2189922">
            <a:off x="8228648" y="2995826"/>
            <a:ext cx="254000" cy="434975"/>
            <a:chOff x="5149850" y="4703444"/>
            <a:chExt cx="253825" cy="434955"/>
          </a:xfrm>
        </p:grpSpPr>
        <p:sp>
          <p:nvSpPr>
            <p:cNvPr id="46108"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09" name="组合 128"/>
            <p:cNvGrpSpPr>
              <a:grpSpLocks/>
            </p:cNvGrpSpPr>
            <p:nvPr/>
          </p:nvGrpSpPr>
          <p:grpSpPr bwMode="auto">
            <a:xfrm>
              <a:off x="5149850" y="4865143"/>
              <a:ext cx="249687" cy="273256"/>
              <a:chOff x="5149850" y="4865143"/>
              <a:chExt cx="249687" cy="273256"/>
            </a:xfrm>
          </p:grpSpPr>
          <p:sp>
            <p:nvSpPr>
              <p:cNvPr id="4611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1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1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13" name="组合 267"/>
          <p:cNvGrpSpPr>
            <a:grpSpLocks/>
          </p:cNvGrpSpPr>
          <p:nvPr/>
        </p:nvGrpSpPr>
        <p:grpSpPr bwMode="auto">
          <a:xfrm rot="15632697">
            <a:off x="7580948" y="2506875"/>
            <a:ext cx="254000" cy="434975"/>
            <a:chOff x="5149850" y="4703444"/>
            <a:chExt cx="253825" cy="434955"/>
          </a:xfrm>
        </p:grpSpPr>
        <p:sp>
          <p:nvSpPr>
            <p:cNvPr id="4611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6115" name="组合 128"/>
            <p:cNvGrpSpPr>
              <a:grpSpLocks/>
            </p:cNvGrpSpPr>
            <p:nvPr/>
          </p:nvGrpSpPr>
          <p:grpSpPr bwMode="auto">
            <a:xfrm>
              <a:off x="5149850" y="4865143"/>
              <a:ext cx="249687" cy="273256"/>
              <a:chOff x="5149850" y="4865143"/>
              <a:chExt cx="249687" cy="273256"/>
            </a:xfrm>
          </p:grpSpPr>
          <p:sp>
            <p:nvSpPr>
              <p:cNvPr id="4611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1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1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19" name="组合 273"/>
          <p:cNvGrpSpPr>
            <a:grpSpLocks/>
          </p:cNvGrpSpPr>
          <p:nvPr/>
        </p:nvGrpSpPr>
        <p:grpSpPr bwMode="auto">
          <a:xfrm>
            <a:off x="7695248" y="3484776"/>
            <a:ext cx="254000" cy="434975"/>
            <a:chOff x="5149850" y="4703444"/>
            <a:chExt cx="253825" cy="434955"/>
          </a:xfrm>
        </p:grpSpPr>
        <p:sp>
          <p:nvSpPr>
            <p:cNvPr id="4612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21" name="组合 128"/>
            <p:cNvGrpSpPr>
              <a:grpSpLocks/>
            </p:cNvGrpSpPr>
            <p:nvPr/>
          </p:nvGrpSpPr>
          <p:grpSpPr bwMode="auto">
            <a:xfrm>
              <a:off x="5149850" y="4865143"/>
              <a:ext cx="249687" cy="273256"/>
              <a:chOff x="5149850" y="4865143"/>
              <a:chExt cx="249687" cy="273256"/>
            </a:xfrm>
          </p:grpSpPr>
          <p:sp>
            <p:nvSpPr>
              <p:cNvPr id="4612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2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2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25" name="组合 279"/>
          <p:cNvGrpSpPr>
            <a:grpSpLocks/>
          </p:cNvGrpSpPr>
          <p:nvPr/>
        </p:nvGrpSpPr>
        <p:grpSpPr bwMode="auto">
          <a:xfrm rot="953232">
            <a:off x="8184198" y="3529226"/>
            <a:ext cx="254000" cy="434975"/>
            <a:chOff x="5149850" y="4703444"/>
            <a:chExt cx="253825" cy="434955"/>
          </a:xfrm>
        </p:grpSpPr>
        <p:sp>
          <p:nvSpPr>
            <p:cNvPr id="46126"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27" name="组合 128"/>
            <p:cNvGrpSpPr>
              <a:grpSpLocks/>
            </p:cNvGrpSpPr>
            <p:nvPr/>
          </p:nvGrpSpPr>
          <p:grpSpPr bwMode="auto">
            <a:xfrm>
              <a:off x="5149850" y="4865143"/>
              <a:ext cx="249687" cy="273256"/>
              <a:chOff x="5149850" y="4865143"/>
              <a:chExt cx="249687" cy="273256"/>
            </a:xfrm>
          </p:grpSpPr>
          <p:sp>
            <p:nvSpPr>
              <p:cNvPr id="46128"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29"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30"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31" name="组合 128"/>
          <p:cNvGrpSpPr>
            <a:grpSpLocks/>
          </p:cNvGrpSpPr>
          <p:nvPr/>
        </p:nvGrpSpPr>
        <p:grpSpPr bwMode="auto">
          <a:xfrm>
            <a:off x="6539548" y="2668801"/>
            <a:ext cx="249237" cy="273050"/>
            <a:chOff x="5149850" y="4865143"/>
            <a:chExt cx="249687" cy="273256"/>
          </a:xfrm>
        </p:grpSpPr>
        <p:sp>
          <p:nvSpPr>
            <p:cNvPr id="4613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3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3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35" name="组合 128"/>
          <p:cNvGrpSpPr>
            <a:grpSpLocks/>
          </p:cNvGrpSpPr>
          <p:nvPr/>
        </p:nvGrpSpPr>
        <p:grpSpPr bwMode="auto">
          <a:xfrm rot="4827573">
            <a:off x="6543516" y="3109332"/>
            <a:ext cx="249238" cy="273050"/>
            <a:chOff x="5149850" y="4865143"/>
            <a:chExt cx="249687" cy="273256"/>
          </a:xfrm>
        </p:grpSpPr>
        <p:sp>
          <p:nvSpPr>
            <p:cNvPr id="4613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3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3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39" name="组合 128"/>
          <p:cNvGrpSpPr>
            <a:grpSpLocks/>
          </p:cNvGrpSpPr>
          <p:nvPr/>
        </p:nvGrpSpPr>
        <p:grpSpPr bwMode="auto">
          <a:xfrm rot="18025955">
            <a:off x="6557804" y="3571295"/>
            <a:ext cx="249237" cy="273050"/>
            <a:chOff x="5149850" y="4865143"/>
            <a:chExt cx="249687" cy="273256"/>
          </a:xfrm>
        </p:grpSpPr>
        <p:sp>
          <p:nvSpPr>
            <p:cNvPr id="4614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4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4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43" name="组合 303"/>
          <p:cNvGrpSpPr>
            <a:grpSpLocks/>
          </p:cNvGrpSpPr>
          <p:nvPr/>
        </p:nvGrpSpPr>
        <p:grpSpPr bwMode="auto">
          <a:xfrm rot="16750466">
            <a:off x="7625398" y="4005475"/>
            <a:ext cx="254000" cy="434975"/>
            <a:chOff x="5149850" y="4703444"/>
            <a:chExt cx="253825" cy="434955"/>
          </a:xfrm>
        </p:grpSpPr>
        <p:sp>
          <p:nvSpPr>
            <p:cNvPr id="46144"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6145" name="组合 128"/>
            <p:cNvGrpSpPr>
              <a:grpSpLocks/>
            </p:cNvGrpSpPr>
            <p:nvPr/>
          </p:nvGrpSpPr>
          <p:grpSpPr bwMode="auto">
            <a:xfrm>
              <a:off x="5149850" y="4865143"/>
              <a:ext cx="249687" cy="273256"/>
              <a:chOff x="5149850" y="4865143"/>
              <a:chExt cx="249687" cy="273256"/>
            </a:xfrm>
          </p:grpSpPr>
          <p:sp>
            <p:nvSpPr>
              <p:cNvPr id="4614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4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4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49" name="组合 309"/>
          <p:cNvGrpSpPr>
            <a:grpSpLocks/>
          </p:cNvGrpSpPr>
          <p:nvPr/>
        </p:nvGrpSpPr>
        <p:grpSpPr bwMode="auto">
          <a:xfrm>
            <a:off x="8228648" y="3929276"/>
            <a:ext cx="254000" cy="434975"/>
            <a:chOff x="5149850" y="4703444"/>
            <a:chExt cx="253825" cy="434955"/>
          </a:xfrm>
        </p:grpSpPr>
        <p:sp>
          <p:nvSpPr>
            <p:cNvPr id="46150" name="Oval 57"/>
            <p:cNvSpPr>
              <a:spLocks noChangeAspect="1" noChangeArrowheads="1"/>
            </p:cNvSpPr>
            <p:nvPr/>
          </p:nvSpPr>
          <p:spPr bwMode="auto">
            <a:xfrm>
              <a:off x="5301593" y="4703444"/>
              <a:ext cx="102082" cy="103506"/>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51" name="组合 128"/>
            <p:cNvGrpSpPr>
              <a:grpSpLocks/>
            </p:cNvGrpSpPr>
            <p:nvPr/>
          </p:nvGrpSpPr>
          <p:grpSpPr bwMode="auto">
            <a:xfrm>
              <a:off x="5149850" y="4865143"/>
              <a:ext cx="249687" cy="273256"/>
              <a:chOff x="5149850" y="4865143"/>
              <a:chExt cx="249687" cy="273256"/>
            </a:xfrm>
          </p:grpSpPr>
          <p:sp>
            <p:nvSpPr>
              <p:cNvPr id="46152"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53"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54"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grpSp>
        <p:nvGrpSpPr>
          <p:cNvPr id="46155" name="组合 128"/>
          <p:cNvGrpSpPr>
            <a:grpSpLocks/>
          </p:cNvGrpSpPr>
          <p:nvPr/>
        </p:nvGrpSpPr>
        <p:grpSpPr bwMode="auto">
          <a:xfrm rot="9849479">
            <a:off x="6568123" y="3957851"/>
            <a:ext cx="250825" cy="273050"/>
            <a:chOff x="5149850" y="4865143"/>
            <a:chExt cx="249687" cy="273256"/>
          </a:xfrm>
        </p:grpSpPr>
        <p:sp>
          <p:nvSpPr>
            <p:cNvPr id="46156"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57"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58"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59" name="组合 128"/>
          <p:cNvGrpSpPr>
            <a:grpSpLocks/>
          </p:cNvGrpSpPr>
          <p:nvPr/>
        </p:nvGrpSpPr>
        <p:grpSpPr bwMode="auto">
          <a:xfrm>
            <a:off x="7041198" y="2678326"/>
            <a:ext cx="249237" cy="273050"/>
            <a:chOff x="5149850" y="4865143"/>
            <a:chExt cx="249687" cy="273256"/>
          </a:xfrm>
        </p:grpSpPr>
        <p:sp>
          <p:nvSpPr>
            <p:cNvPr id="46160"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61"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62"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sp>
        <p:nvSpPr>
          <p:cNvPr id="46163" name="Oval 57"/>
          <p:cNvSpPr>
            <a:spLocks noChangeAspect="1" noChangeArrowheads="1"/>
          </p:cNvSpPr>
          <p:nvPr/>
        </p:nvSpPr>
        <p:spPr bwMode="auto">
          <a:xfrm rot="4827573">
            <a:off x="7389654" y="3185532"/>
            <a:ext cx="101600" cy="103188"/>
          </a:xfrm>
          <a:prstGeom prst="ellipse">
            <a:avLst/>
          </a:prstGeom>
          <a:solidFill>
            <a:srgbClr val="00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64" name="组合 128"/>
          <p:cNvGrpSpPr>
            <a:grpSpLocks/>
          </p:cNvGrpSpPr>
          <p:nvPr/>
        </p:nvGrpSpPr>
        <p:grpSpPr bwMode="auto">
          <a:xfrm rot="4827573">
            <a:off x="7059454" y="3064882"/>
            <a:ext cx="249238" cy="273050"/>
            <a:chOff x="5149850" y="4865143"/>
            <a:chExt cx="249687" cy="273256"/>
          </a:xfrm>
        </p:grpSpPr>
        <p:sp>
          <p:nvSpPr>
            <p:cNvPr id="46165"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66"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67"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68" name="组合 128"/>
          <p:cNvGrpSpPr>
            <a:grpSpLocks/>
          </p:cNvGrpSpPr>
          <p:nvPr/>
        </p:nvGrpSpPr>
        <p:grpSpPr bwMode="auto">
          <a:xfrm rot="18025955">
            <a:off x="7091204" y="3571295"/>
            <a:ext cx="249237" cy="273050"/>
            <a:chOff x="5149850" y="4865143"/>
            <a:chExt cx="249687" cy="273256"/>
          </a:xfrm>
        </p:grpSpPr>
        <p:sp>
          <p:nvSpPr>
            <p:cNvPr id="46169"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70"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71"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72" name="组合 128"/>
          <p:cNvGrpSpPr>
            <a:grpSpLocks/>
          </p:cNvGrpSpPr>
          <p:nvPr/>
        </p:nvGrpSpPr>
        <p:grpSpPr bwMode="auto">
          <a:xfrm rot="9849479">
            <a:off x="7109460" y="4003888"/>
            <a:ext cx="249238" cy="273050"/>
            <a:chOff x="5149850" y="4865143"/>
            <a:chExt cx="249687" cy="273256"/>
          </a:xfrm>
        </p:grpSpPr>
        <p:sp>
          <p:nvSpPr>
            <p:cNvPr id="46173"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74"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6175"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6176" name="组合 346"/>
          <p:cNvGrpSpPr>
            <a:grpSpLocks/>
          </p:cNvGrpSpPr>
          <p:nvPr/>
        </p:nvGrpSpPr>
        <p:grpSpPr bwMode="auto">
          <a:xfrm rot="19240560">
            <a:off x="4024948" y="2906926"/>
            <a:ext cx="265112" cy="436562"/>
            <a:chOff x="3708391" y="4698272"/>
            <a:chExt cx="265290" cy="436662"/>
          </a:xfrm>
        </p:grpSpPr>
        <p:sp>
          <p:nvSpPr>
            <p:cNvPr id="4617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6178" name="组合 127"/>
            <p:cNvGrpSpPr>
              <a:grpSpLocks/>
            </p:cNvGrpSpPr>
            <p:nvPr/>
          </p:nvGrpSpPr>
          <p:grpSpPr bwMode="auto">
            <a:xfrm>
              <a:off x="3723561" y="4885168"/>
              <a:ext cx="250120" cy="249766"/>
              <a:chOff x="3723561" y="4885168"/>
              <a:chExt cx="250120" cy="249766"/>
            </a:xfrm>
          </p:grpSpPr>
          <p:sp>
            <p:nvSpPr>
              <p:cNvPr id="4617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8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181" name="组合 351"/>
          <p:cNvGrpSpPr>
            <a:grpSpLocks/>
          </p:cNvGrpSpPr>
          <p:nvPr/>
        </p:nvGrpSpPr>
        <p:grpSpPr bwMode="auto">
          <a:xfrm rot="20226363">
            <a:off x="4036060" y="3395876"/>
            <a:ext cx="265113" cy="436562"/>
            <a:chOff x="3708391" y="4698272"/>
            <a:chExt cx="265290" cy="436662"/>
          </a:xfrm>
        </p:grpSpPr>
        <p:sp>
          <p:nvSpPr>
            <p:cNvPr id="46182"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6183" name="组合 127"/>
            <p:cNvGrpSpPr>
              <a:grpSpLocks/>
            </p:cNvGrpSpPr>
            <p:nvPr/>
          </p:nvGrpSpPr>
          <p:grpSpPr bwMode="auto">
            <a:xfrm>
              <a:off x="3723561" y="4885168"/>
              <a:ext cx="250120" cy="249766"/>
              <a:chOff x="3723561" y="4885168"/>
              <a:chExt cx="250120" cy="249766"/>
            </a:xfrm>
          </p:grpSpPr>
          <p:sp>
            <p:nvSpPr>
              <p:cNvPr id="4618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18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186" name="组合 356"/>
          <p:cNvGrpSpPr>
            <a:grpSpLocks/>
          </p:cNvGrpSpPr>
          <p:nvPr/>
        </p:nvGrpSpPr>
        <p:grpSpPr bwMode="auto">
          <a:xfrm rot="2420365">
            <a:off x="4164648" y="3884826"/>
            <a:ext cx="265112" cy="436562"/>
            <a:chOff x="3708391" y="4698272"/>
            <a:chExt cx="265290" cy="436662"/>
          </a:xfrm>
        </p:grpSpPr>
        <p:sp>
          <p:nvSpPr>
            <p:cNvPr id="4618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88" name="组合 127"/>
            <p:cNvGrpSpPr>
              <a:grpSpLocks/>
            </p:cNvGrpSpPr>
            <p:nvPr/>
          </p:nvGrpSpPr>
          <p:grpSpPr bwMode="auto">
            <a:xfrm>
              <a:off x="3723561" y="4885168"/>
              <a:ext cx="250120" cy="249766"/>
              <a:chOff x="3723561" y="4885168"/>
              <a:chExt cx="250120" cy="249766"/>
            </a:xfrm>
          </p:grpSpPr>
          <p:sp>
            <p:nvSpPr>
              <p:cNvPr id="4618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9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191" name="组合 361"/>
          <p:cNvGrpSpPr>
            <a:grpSpLocks/>
          </p:cNvGrpSpPr>
          <p:nvPr/>
        </p:nvGrpSpPr>
        <p:grpSpPr bwMode="auto">
          <a:xfrm rot="2699194">
            <a:off x="4610735" y="2492588"/>
            <a:ext cx="265113" cy="436563"/>
            <a:chOff x="3708391" y="4698272"/>
            <a:chExt cx="265290" cy="436662"/>
          </a:xfrm>
        </p:grpSpPr>
        <p:sp>
          <p:nvSpPr>
            <p:cNvPr id="46192"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193" name="组合 127"/>
            <p:cNvGrpSpPr>
              <a:grpSpLocks/>
            </p:cNvGrpSpPr>
            <p:nvPr/>
          </p:nvGrpSpPr>
          <p:grpSpPr bwMode="auto">
            <a:xfrm>
              <a:off x="3723561" y="4885168"/>
              <a:ext cx="250120" cy="249766"/>
              <a:chOff x="3723561" y="4885168"/>
              <a:chExt cx="250120" cy="249766"/>
            </a:xfrm>
          </p:grpSpPr>
          <p:sp>
            <p:nvSpPr>
              <p:cNvPr id="4619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19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196" name="组合 366"/>
          <p:cNvGrpSpPr>
            <a:grpSpLocks/>
          </p:cNvGrpSpPr>
          <p:nvPr/>
        </p:nvGrpSpPr>
        <p:grpSpPr bwMode="auto">
          <a:xfrm rot="20017385">
            <a:off x="4488498" y="2898988"/>
            <a:ext cx="266700" cy="436563"/>
            <a:chOff x="3708391" y="4698272"/>
            <a:chExt cx="265290" cy="436662"/>
          </a:xfrm>
        </p:grpSpPr>
        <p:sp>
          <p:nvSpPr>
            <p:cNvPr id="4619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46198" name="组合 127"/>
            <p:cNvGrpSpPr>
              <a:grpSpLocks/>
            </p:cNvGrpSpPr>
            <p:nvPr/>
          </p:nvGrpSpPr>
          <p:grpSpPr bwMode="auto">
            <a:xfrm>
              <a:off x="3723561" y="4885168"/>
              <a:ext cx="250120" cy="249766"/>
              <a:chOff x="3723561" y="4885168"/>
              <a:chExt cx="250120" cy="249766"/>
            </a:xfrm>
          </p:grpSpPr>
          <p:sp>
            <p:nvSpPr>
              <p:cNvPr id="4619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20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201" name="组合 371"/>
          <p:cNvGrpSpPr>
            <a:grpSpLocks/>
          </p:cNvGrpSpPr>
          <p:nvPr/>
        </p:nvGrpSpPr>
        <p:grpSpPr bwMode="auto">
          <a:xfrm rot="2796568">
            <a:off x="4567873" y="3335551"/>
            <a:ext cx="265112" cy="436562"/>
            <a:chOff x="3708391" y="4698272"/>
            <a:chExt cx="265290" cy="436662"/>
          </a:xfrm>
        </p:grpSpPr>
        <p:sp>
          <p:nvSpPr>
            <p:cNvPr id="46202"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203" name="组合 127"/>
            <p:cNvGrpSpPr>
              <a:grpSpLocks/>
            </p:cNvGrpSpPr>
            <p:nvPr/>
          </p:nvGrpSpPr>
          <p:grpSpPr bwMode="auto">
            <a:xfrm>
              <a:off x="3723561" y="4885168"/>
              <a:ext cx="250120" cy="249766"/>
              <a:chOff x="3723561" y="4885168"/>
              <a:chExt cx="250120" cy="249766"/>
            </a:xfrm>
          </p:grpSpPr>
          <p:sp>
            <p:nvSpPr>
              <p:cNvPr id="4620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0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206" name="组合 376"/>
          <p:cNvGrpSpPr>
            <a:grpSpLocks/>
          </p:cNvGrpSpPr>
          <p:nvPr/>
        </p:nvGrpSpPr>
        <p:grpSpPr bwMode="auto">
          <a:xfrm rot="2003620">
            <a:off x="4648835" y="3918163"/>
            <a:ext cx="263525" cy="438150"/>
            <a:chOff x="3708391" y="4698272"/>
            <a:chExt cx="265290" cy="436662"/>
          </a:xfrm>
        </p:grpSpPr>
        <p:sp>
          <p:nvSpPr>
            <p:cNvPr id="46207" name="Oval 41"/>
            <p:cNvSpPr>
              <a:spLocks noChangeAspect="1" noChangeArrowheads="1"/>
            </p:cNvSpPr>
            <p:nvPr/>
          </p:nvSpPr>
          <p:spPr bwMode="auto">
            <a:xfrm rot="-2658602">
              <a:off x="3708391" y="4698272"/>
              <a:ext cx="125856" cy="127269"/>
            </a:xfrm>
            <a:prstGeom prst="ellipse">
              <a:avLst/>
            </a:prstGeom>
            <a:solidFill>
              <a:srgbClr val="FF00FF"/>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46208" name="组合 121"/>
            <p:cNvGrpSpPr>
              <a:grpSpLocks/>
            </p:cNvGrpSpPr>
            <p:nvPr/>
          </p:nvGrpSpPr>
          <p:grpSpPr bwMode="auto">
            <a:xfrm>
              <a:off x="3723561" y="4885168"/>
              <a:ext cx="250120" cy="249766"/>
              <a:chOff x="3723561" y="4885168"/>
              <a:chExt cx="250120" cy="249766"/>
            </a:xfrm>
          </p:grpSpPr>
          <p:sp>
            <p:nvSpPr>
              <p:cNvPr id="46209"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10"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grpSp>
        <p:nvGrpSpPr>
          <p:cNvPr id="46211" name="组合 127"/>
          <p:cNvGrpSpPr>
            <a:grpSpLocks/>
          </p:cNvGrpSpPr>
          <p:nvPr/>
        </p:nvGrpSpPr>
        <p:grpSpPr bwMode="auto">
          <a:xfrm rot="3206337">
            <a:off x="5100479" y="2617207"/>
            <a:ext cx="249237" cy="250825"/>
            <a:chOff x="3723561" y="4885168"/>
            <a:chExt cx="250120" cy="249766"/>
          </a:xfrm>
        </p:grpSpPr>
        <p:sp>
          <p:nvSpPr>
            <p:cNvPr id="46212"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13"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14" name="组合 127"/>
          <p:cNvGrpSpPr>
            <a:grpSpLocks/>
          </p:cNvGrpSpPr>
          <p:nvPr/>
        </p:nvGrpSpPr>
        <p:grpSpPr bwMode="auto">
          <a:xfrm rot="19781852">
            <a:off x="5093335" y="3025988"/>
            <a:ext cx="249238" cy="249238"/>
            <a:chOff x="3723561" y="4885168"/>
            <a:chExt cx="250120" cy="249766"/>
          </a:xfrm>
        </p:grpSpPr>
        <p:sp>
          <p:nvSpPr>
            <p:cNvPr id="4621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21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17" name="组合 127"/>
          <p:cNvGrpSpPr>
            <a:grpSpLocks/>
          </p:cNvGrpSpPr>
          <p:nvPr/>
        </p:nvGrpSpPr>
        <p:grpSpPr bwMode="auto">
          <a:xfrm rot="2365828">
            <a:off x="5056823" y="3510176"/>
            <a:ext cx="250825" cy="249237"/>
            <a:chOff x="3723561" y="4885168"/>
            <a:chExt cx="250120" cy="249766"/>
          </a:xfrm>
        </p:grpSpPr>
        <p:sp>
          <p:nvSpPr>
            <p:cNvPr id="46218"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19"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20" name="组合 127"/>
          <p:cNvGrpSpPr>
            <a:grpSpLocks/>
          </p:cNvGrpSpPr>
          <p:nvPr/>
        </p:nvGrpSpPr>
        <p:grpSpPr bwMode="auto">
          <a:xfrm rot="3156746">
            <a:off x="5057617" y="4049132"/>
            <a:ext cx="249237" cy="250825"/>
            <a:chOff x="3723561" y="4885168"/>
            <a:chExt cx="250120" cy="249766"/>
          </a:xfrm>
        </p:grpSpPr>
        <p:sp>
          <p:nvSpPr>
            <p:cNvPr id="46221"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22"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23" name="组合 127"/>
          <p:cNvGrpSpPr>
            <a:grpSpLocks/>
          </p:cNvGrpSpPr>
          <p:nvPr/>
        </p:nvGrpSpPr>
        <p:grpSpPr bwMode="auto">
          <a:xfrm rot="2191984">
            <a:off x="5609273" y="2679913"/>
            <a:ext cx="250825" cy="249238"/>
            <a:chOff x="3723561" y="4885168"/>
            <a:chExt cx="250120" cy="249766"/>
          </a:xfrm>
        </p:grpSpPr>
        <p:sp>
          <p:nvSpPr>
            <p:cNvPr id="46224"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25"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26" name="组合 127"/>
          <p:cNvGrpSpPr>
            <a:grpSpLocks/>
          </p:cNvGrpSpPr>
          <p:nvPr/>
        </p:nvGrpSpPr>
        <p:grpSpPr bwMode="auto">
          <a:xfrm rot="19482592">
            <a:off x="5642610" y="3116476"/>
            <a:ext cx="249238" cy="249237"/>
            <a:chOff x="3723561" y="4885168"/>
            <a:chExt cx="250120" cy="249766"/>
          </a:xfrm>
        </p:grpSpPr>
        <p:sp>
          <p:nvSpPr>
            <p:cNvPr id="46227"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228"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29" name="组合 127"/>
          <p:cNvGrpSpPr>
            <a:grpSpLocks/>
          </p:cNvGrpSpPr>
          <p:nvPr/>
        </p:nvGrpSpPr>
        <p:grpSpPr bwMode="auto">
          <a:xfrm rot="3431710">
            <a:off x="5641023" y="3591138"/>
            <a:ext cx="249238" cy="249237"/>
            <a:chOff x="3723561" y="4885168"/>
            <a:chExt cx="250120" cy="249766"/>
          </a:xfrm>
        </p:grpSpPr>
        <p:sp>
          <p:nvSpPr>
            <p:cNvPr id="46230"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31"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6232" name="组合 127"/>
          <p:cNvGrpSpPr>
            <a:grpSpLocks/>
          </p:cNvGrpSpPr>
          <p:nvPr/>
        </p:nvGrpSpPr>
        <p:grpSpPr bwMode="auto">
          <a:xfrm rot="2750622">
            <a:off x="5640229" y="4095170"/>
            <a:ext cx="250825" cy="249237"/>
            <a:chOff x="3723561" y="4885168"/>
            <a:chExt cx="250120" cy="249766"/>
          </a:xfrm>
        </p:grpSpPr>
        <p:sp>
          <p:nvSpPr>
            <p:cNvPr id="46233"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6234"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sp>
        <p:nvSpPr>
          <p:cNvPr id="149" name="Text Box 124"/>
          <p:cNvSpPr txBox="1">
            <a:spLocks noChangeArrowheads="1"/>
          </p:cNvSpPr>
          <p:nvPr/>
        </p:nvSpPr>
        <p:spPr bwMode="auto">
          <a:xfrm>
            <a:off x="4183698" y="1668676"/>
            <a:ext cx="303212" cy="533400"/>
          </a:xfrm>
          <a:prstGeom prst="rect">
            <a:avLst/>
          </a:prstGeom>
          <a:solidFill>
            <a:srgbClr val="FFFF00"/>
          </a:solidFill>
          <a:ln w="9525">
            <a:noFill/>
            <a:miter lim="800000"/>
            <a:headEnd/>
            <a:tailEnd/>
          </a:ln>
        </p:spPr>
        <p:txBody>
          <a:bodyPr lIns="0" tIns="0" rIns="0" bIns="0"/>
          <a:lstStyle/>
          <a:p>
            <a:pPr algn="just" defTabSz="914400"/>
            <a:r>
              <a:rPr lang="en-US" altLang="zh-CN" sz="4000" b="1">
                <a:latin typeface="Times New Roman" pitchFamily="18" charset="0"/>
                <a:ea typeface="楷体_GB2312" pitchFamily="49" charset="-122"/>
                <a:cs typeface="Times New Roman" pitchFamily="18" charset="0"/>
              </a:rPr>
              <a:t>P</a:t>
            </a:r>
            <a:endParaRPr lang="zh-CN" altLang="zh-CN" sz="9600" b="1">
              <a:latin typeface="Times New Roman" pitchFamily="18" charset="0"/>
              <a:ea typeface="楷体_GB2312" pitchFamily="49" charset="-122"/>
              <a:cs typeface="Times New Roman" pitchFamily="18" charset="0"/>
            </a:endParaRPr>
          </a:p>
        </p:txBody>
      </p:sp>
      <p:sp>
        <p:nvSpPr>
          <p:cNvPr id="46236" name="Rectangle 13"/>
          <p:cNvSpPr>
            <a:spLocks noChangeArrowheads="1"/>
          </p:cNvSpPr>
          <p:nvPr/>
        </p:nvSpPr>
        <p:spPr bwMode="auto">
          <a:xfrm>
            <a:off x="4921885" y="2465601"/>
            <a:ext cx="2474913" cy="1944687"/>
          </a:xfrm>
          <a:prstGeom prst="rect">
            <a:avLst/>
          </a:prstGeom>
          <a:noFill/>
          <a:ln w="57150">
            <a:solidFill>
              <a:srgbClr val="0000FF"/>
            </a:solidFill>
            <a:prstDash val="dash"/>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sp>
        <p:nvSpPr>
          <p:cNvPr id="151" name="Text Box 124"/>
          <p:cNvSpPr txBox="1">
            <a:spLocks noChangeArrowheads="1"/>
          </p:cNvSpPr>
          <p:nvPr/>
        </p:nvSpPr>
        <p:spPr bwMode="auto">
          <a:xfrm>
            <a:off x="7917498" y="1802026"/>
            <a:ext cx="355600" cy="533400"/>
          </a:xfrm>
          <a:prstGeom prst="rect">
            <a:avLst/>
          </a:prstGeom>
          <a:solidFill>
            <a:srgbClr val="FFFF00"/>
          </a:solidFill>
          <a:ln w="9525">
            <a:noFill/>
            <a:miter lim="800000"/>
            <a:headEnd/>
            <a:tailEnd/>
          </a:ln>
        </p:spPr>
        <p:txBody>
          <a:bodyPr lIns="0" tIns="0" rIns="0" bIns="0"/>
          <a:lstStyle/>
          <a:p>
            <a:pPr algn="just" defTabSz="914400"/>
            <a:r>
              <a:rPr lang="en-US" altLang="zh-CN" sz="4000" b="1">
                <a:latin typeface="Times New Roman" pitchFamily="18" charset="0"/>
                <a:ea typeface="楷体_GB2312" pitchFamily="49" charset="-122"/>
                <a:cs typeface="Times New Roman" pitchFamily="18" charset="0"/>
              </a:rPr>
              <a:t>N</a:t>
            </a:r>
            <a:endParaRPr lang="zh-CN" altLang="zh-CN" sz="9600" b="1">
              <a:latin typeface="Times New Roman" pitchFamily="18" charset="0"/>
              <a:ea typeface="楷体_GB2312" pitchFamily="49" charset="-122"/>
              <a:cs typeface="Times New Roman" pitchFamily="18" charset="0"/>
            </a:endParaRPr>
          </a:p>
        </p:txBody>
      </p:sp>
      <p:graphicFrame>
        <p:nvGraphicFramePr>
          <p:cNvPr id="152" name="Object 2"/>
          <p:cNvGraphicFramePr>
            <a:graphicFrameLocks noChangeAspect="1"/>
          </p:cNvGraphicFramePr>
          <p:nvPr/>
        </p:nvGraphicFramePr>
        <p:xfrm>
          <a:off x="4939348" y="1535326"/>
          <a:ext cx="517525" cy="701675"/>
        </p:xfrm>
        <a:graphic>
          <a:graphicData uri="http://schemas.openxmlformats.org/presentationml/2006/ole">
            <mc:AlternateContent xmlns:mc="http://schemas.openxmlformats.org/markup-compatibility/2006">
              <mc:Choice xmlns:v="urn:schemas-microsoft-com:vml" Requires="v">
                <p:oleObj spid="_x0000_s50284" name="Equation" r:id="rId3" imgW="177480" imgH="241200" progId="">
                  <p:embed/>
                </p:oleObj>
              </mc:Choice>
              <mc:Fallback>
                <p:oleObj name="Equation" r:id="rId3" imgW="177480" imgH="241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9348" y="1535326"/>
                        <a:ext cx="517525" cy="701675"/>
                      </a:xfrm>
                      <a:prstGeom prst="rect">
                        <a:avLst/>
                      </a:prstGeom>
                      <a:solidFill>
                        <a:srgbClr val="FFFF00"/>
                      </a:solidFill>
                    </p:spPr>
                  </p:pic>
                </p:oleObj>
              </mc:Fallback>
            </mc:AlternateContent>
          </a:graphicData>
        </a:graphic>
      </p:graphicFrame>
      <p:sp>
        <p:nvSpPr>
          <p:cNvPr id="153" name="左箭头 152"/>
          <p:cNvSpPr/>
          <p:nvPr/>
        </p:nvSpPr>
        <p:spPr>
          <a:xfrm>
            <a:off x="5783898" y="1890926"/>
            <a:ext cx="1422400" cy="35560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154" name="右箭头 153"/>
          <p:cNvSpPr/>
          <p:nvPr/>
        </p:nvSpPr>
        <p:spPr>
          <a:xfrm>
            <a:off x="4939348" y="4646826"/>
            <a:ext cx="1244600" cy="222250"/>
          </a:xfrm>
          <a:prstGeom prst="rightArrow">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155" name="TextBox 154"/>
          <p:cNvSpPr txBox="1">
            <a:spLocks noChangeArrowheads="1"/>
          </p:cNvSpPr>
          <p:nvPr/>
        </p:nvSpPr>
        <p:spPr bwMode="auto">
          <a:xfrm>
            <a:off x="5472748" y="1357526"/>
            <a:ext cx="2133600" cy="519112"/>
          </a:xfrm>
          <a:prstGeom prst="rect">
            <a:avLst/>
          </a:prstGeom>
          <a:noFill/>
          <a:ln w="9525">
            <a:noFill/>
            <a:miter lim="800000"/>
            <a:headEnd/>
            <a:tailEnd/>
          </a:ln>
        </p:spPr>
        <p:txBody>
          <a:bodyPr>
            <a:spAutoFit/>
          </a:bodyPr>
          <a:lstStyle/>
          <a:p>
            <a:pPr defTabSz="914400"/>
            <a:r>
              <a:rPr lang="zh-CN" altLang="en-US" sz="2800" b="1">
                <a:solidFill>
                  <a:srgbClr val="FF0000"/>
                </a:solidFill>
                <a:latin typeface="华文彩云" pitchFamily="2" charset="-122"/>
                <a:ea typeface="华文彩云" pitchFamily="2" charset="-122"/>
              </a:rPr>
              <a:t>光电流方向</a:t>
            </a:r>
          </a:p>
        </p:txBody>
      </p:sp>
      <p:sp>
        <p:nvSpPr>
          <p:cNvPr id="156" name="TextBox 155"/>
          <p:cNvSpPr txBox="1">
            <a:spLocks noChangeArrowheads="1"/>
          </p:cNvSpPr>
          <p:nvPr/>
        </p:nvSpPr>
        <p:spPr bwMode="auto">
          <a:xfrm>
            <a:off x="6228398" y="4513476"/>
            <a:ext cx="2755900" cy="519112"/>
          </a:xfrm>
          <a:prstGeom prst="rect">
            <a:avLst/>
          </a:prstGeom>
          <a:noFill/>
          <a:ln w="9525">
            <a:noFill/>
            <a:miter lim="800000"/>
            <a:headEnd/>
            <a:tailEnd/>
          </a:ln>
        </p:spPr>
        <p:txBody>
          <a:bodyPr>
            <a:spAutoFit/>
          </a:bodyPr>
          <a:lstStyle/>
          <a:p>
            <a:pPr defTabSz="914400"/>
            <a:r>
              <a:rPr lang="zh-CN" altLang="en-US" sz="2800" b="1">
                <a:solidFill>
                  <a:srgbClr val="0000FF"/>
                </a:solidFill>
                <a:latin typeface="华文彩云" pitchFamily="2" charset="-122"/>
                <a:ea typeface="华文彩云" pitchFamily="2" charset="-122"/>
              </a:rPr>
              <a:t>二极管电流方向</a:t>
            </a:r>
          </a:p>
        </p:txBody>
      </p:sp>
      <p:graphicFrame>
        <p:nvGraphicFramePr>
          <p:cNvPr id="157" name="Object 8"/>
          <p:cNvGraphicFramePr>
            <a:graphicFrameLocks noChangeAspect="1"/>
          </p:cNvGraphicFramePr>
          <p:nvPr/>
        </p:nvGraphicFramePr>
        <p:xfrm>
          <a:off x="5117148" y="5046876"/>
          <a:ext cx="2363787" cy="477837"/>
        </p:xfrm>
        <a:graphic>
          <a:graphicData uri="http://schemas.openxmlformats.org/presentationml/2006/ole">
            <mc:AlternateContent xmlns:mc="http://schemas.openxmlformats.org/markup-compatibility/2006">
              <mc:Choice xmlns:v="urn:schemas-microsoft-com:vml" Requires="v">
                <p:oleObj spid="_x0000_s50285" name="Equation" r:id="rId5" imgW="939600" imgH="215640" progId="">
                  <p:embed/>
                </p:oleObj>
              </mc:Choice>
              <mc:Fallback>
                <p:oleObj name="Equation" r:id="rId5" imgW="939600" imgH="21564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7148" y="5046876"/>
                        <a:ext cx="2363787" cy="477837"/>
                      </a:xfrm>
                      <a:prstGeom prst="rect">
                        <a:avLst/>
                      </a:prstGeom>
                      <a:solidFill>
                        <a:srgbClr val="FFFF00"/>
                      </a:solidFill>
                    </p:spPr>
                  </p:pic>
                </p:oleObj>
              </mc:Fallback>
            </mc:AlternateContent>
          </a:graphicData>
        </a:graphic>
      </p:graphicFrame>
      <p:sp>
        <p:nvSpPr>
          <p:cNvPr id="158" name="Text Box 16"/>
          <p:cNvSpPr txBox="1">
            <a:spLocks noChangeArrowheads="1"/>
          </p:cNvSpPr>
          <p:nvPr/>
        </p:nvSpPr>
        <p:spPr bwMode="auto">
          <a:xfrm>
            <a:off x="2747328" y="6010806"/>
            <a:ext cx="7509192" cy="646331"/>
          </a:xfrm>
          <a:prstGeom prst="rect">
            <a:avLst/>
          </a:prstGeom>
          <a:solidFill>
            <a:schemeClr val="bg1"/>
          </a:solidFill>
          <a:ln w="9525">
            <a:noFill/>
            <a:miter lim="800000"/>
            <a:headEnd/>
            <a:tailEnd/>
          </a:ln>
        </p:spPr>
        <p:txBody>
          <a:bodyPr wrap="square">
            <a:spAutoFit/>
          </a:bodyPr>
          <a:lstStyle/>
          <a:p>
            <a:pPr algn="ctr" defTabSz="914400">
              <a:spcBef>
                <a:spcPct val="50000"/>
              </a:spcBef>
            </a:pPr>
            <a:r>
              <a:rPr lang="zh-CN" altLang="en-US" sz="3600" b="1" dirty="0">
                <a:solidFill>
                  <a:srgbClr val="FF0000"/>
                </a:solidFill>
                <a:latin typeface="微软雅黑" pitchFamily="34" charset="-122"/>
                <a:ea typeface="微软雅黑" pitchFamily="34" charset="-122"/>
              </a:rPr>
              <a:t>光电流方向</a:t>
            </a:r>
            <a:r>
              <a:rPr lang="zh-CN" altLang="en-US" sz="3600" b="1" dirty="0">
                <a:solidFill>
                  <a:srgbClr val="000066"/>
                </a:solidFill>
                <a:latin typeface="微软雅黑" pitchFamily="34" charset="-122"/>
                <a:ea typeface="微软雅黑" pitchFamily="34" charset="-122"/>
              </a:rPr>
              <a:t>与普通二极管电流相反</a:t>
            </a:r>
          </a:p>
        </p:txBody>
      </p:sp>
      <p:sp>
        <p:nvSpPr>
          <p:cNvPr id="164" name="文本框 60">
            <a:extLst>
              <a:ext uri="{FF2B5EF4-FFF2-40B4-BE49-F238E27FC236}">
                <a16:creationId xmlns="" xmlns:a16="http://schemas.microsoft.com/office/drawing/2014/main" id="{2FF86808-B2F8-4A03-82F6-9B8CA78DCEE7}"/>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165" name="矩形 164">
            <a:extLst>
              <a:ext uri="{FF2B5EF4-FFF2-40B4-BE49-F238E27FC236}">
                <a16:creationId xmlns="" xmlns:a16="http://schemas.microsoft.com/office/drawing/2014/main" id="{D802DB69-7CCE-4096-996D-94E7F7ED5AA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8" name="矩形 167">
            <a:extLst>
              <a:ext uri="{FF2B5EF4-FFF2-40B4-BE49-F238E27FC236}">
                <a16:creationId xmlns="" xmlns:a16="http://schemas.microsoft.com/office/drawing/2014/main" id="{E0D1DAB0-2512-47A5-91BF-B239D59DCD4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矩形: 圆角 168">
            <a:extLst>
              <a:ext uri="{FF2B5EF4-FFF2-40B4-BE49-F238E27FC236}">
                <a16:creationId xmlns="" xmlns:a16="http://schemas.microsoft.com/office/drawing/2014/main" id="{4FADB16D-5E68-4127-B9C9-1E771B6F67A1}"/>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0" name="直接连接符 58">
            <a:extLst>
              <a:ext uri="{FF2B5EF4-FFF2-40B4-BE49-F238E27FC236}">
                <a16:creationId xmlns="" xmlns:a16="http://schemas.microsoft.com/office/drawing/2014/main" id="{36BFA03D-A211-494F-9E7E-786BD24FE774}"/>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1" name="矩形 170">
            <a:extLst>
              <a:ext uri="{FF2B5EF4-FFF2-40B4-BE49-F238E27FC236}">
                <a16:creationId xmlns="" xmlns:a16="http://schemas.microsoft.com/office/drawing/2014/main" id="{DDD0CD9F-D62D-4624-834B-53F886E619B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2" name="矩形 171">
            <a:extLst>
              <a:ext uri="{FF2B5EF4-FFF2-40B4-BE49-F238E27FC236}">
                <a16:creationId xmlns="" xmlns:a16="http://schemas.microsoft.com/office/drawing/2014/main" id="{29724D39-9113-4B89-8C45-6B66F4195DC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56474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box(in)">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52"/>
                                        </p:tgtEl>
                                        <p:attrNameLst>
                                          <p:attrName>style.visibility</p:attrName>
                                        </p:attrNameLst>
                                      </p:cBhvr>
                                      <p:to>
                                        <p:strVal val="visible"/>
                                      </p:to>
                                    </p:set>
                                    <p:animEffect transition="in" filter="box(in)">
                                      <p:cBhvr>
                                        <p:cTn id="12" dur="500"/>
                                        <p:tgtEl>
                                          <p:spTgt spid="15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1"/>
                                        </p:tgtEl>
                                        <p:attrNameLst>
                                          <p:attrName>style.visibility</p:attrName>
                                        </p:attrNameLst>
                                      </p:cBhvr>
                                      <p:to>
                                        <p:strVal val="visible"/>
                                      </p:to>
                                    </p:set>
                                    <p:animEffect transition="in" filter="box(in)">
                                      <p:cBhvr>
                                        <p:cTn id="17" dur="500"/>
                                        <p:tgtEl>
                                          <p:spTgt spid="15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3"/>
                                        </p:tgtEl>
                                        <p:attrNameLst>
                                          <p:attrName>style.visibility</p:attrName>
                                        </p:attrNameLst>
                                      </p:cBhvr>
                                      <p:to>
                                        <p:strVal val="visible"/>
                                      </p:to>
                                    </p:set>
                                    <p:animEffect transition="in" filter="box(in)">
                                      <p:cBhvr>
                                        <p:cTn id="22" dur="500"/>
                                        <p:tgtEl>
                                          <p:spTgt spid="15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49"/>
                                        </p:tgtEl>
                                        <p:attrNameLst>
                                          <p:attrName>style.visibility</p:attrName>
                                        </p:attrNameLst>
                                      </p:cBhvr>
                                      <p:to>
                                        <p:strVal val="visible"/>
                                      </p:to>
                                    </p:set>
                                    <p:animEffect transition="in" filter="box(in)">
                                      <p:cBhvr>
                                        <p:cTn id="27" dur="500"/>
                                        <p:tgtEl>
                                          <p:spTgt spid="149"/>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mph" presetSubtype="0" fill="hold" grpId="1" nodeType="clickEffect">
                                  <p:stCondLst>
                                    <p:cond delay="0"/>
                                  </p:stCondLst>
                                  <p:childTnLst>
                                    <p:animScale>
                                      <p:cBhvr>
                                        <p:cTn id="31" dur="2000" fill="hold"/>
                                        <p:tgtEl>
                                          <p:spTgt spid="151"/>
                                        </p:tgtEl>
                                      </p:cBhvr>
                                      <p:by x="150000" y="150000"/>
                                    </p:animScale>
                                  </p:childTnLst>
                                </p:cTn>
                              </p:par>
                              <p:par>
                                <p:cTn id="32" presetID="6" presetClass="emph" presetSubtype="0" fill="hold" grpId="1" nodeType="withEffect">
                                  <p:stCondLst>
                                    <p:cond delay="0"/>
                                  </p:stCondLst>
                                  <p:childTnLst>
                                    <p:animScale>
                                      <p:cBhvr>
                                        <p:cTn id="33" dur="2000" fill="hold"/>
                                        <p:tgtEl>
                                          <p:spTgt spid="153"/>
                                        </p:tgtEl>
                                      </p:cBhvr>
                                      <p:by x="150000" y="150000"/>
                                    </p:animScale>
                                  </p:childTnLst>
                                </p:cTn>
                              </p:par>
                              <p:par>
                                <p:cTn id="34" presetID="6" presetClass="emph" presetSubtype="0" fill="hold" grpId="1" nodeType="withEffect">
                                  <p:stCondLst>
                                    <p:cond delay="0"/>
                                  </p:stCondLst>
                                  <p:childTnLst>
                                    <p:animScale>
                                      <p:cBhvr>
                                        <p:cTn id="35" dur="2000" fill="hold"/>
                                        <p:tgtEl>
                                          <p:spTgt spid="149"/>
                                        </p:tgtEl>
                                      </p:cBhvr>
                                      <p:by x="150000" y="150000"/>
                                    </p:animScale>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156"/>
                                        </p:tgtEl>
                                        <p:attrNameLst>
                                          <p:attrName>style.visibility</p:attrName>
                                        </p:attrNameLst>
                                      </p:cBhvr>
                                      <p:to>
                                        <p:strVal val="visible"/>
                                      </p:to>
                                    </p:set>
                                    <p:animEffect transition="in" filter="box(in)">
                                      <p:cBhvr>
                                        <p:cTn id="40" dur="500"/>
                                        <p:tgtEl>
                                          <p:spTgt spid="156"/>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154"/>
                                        </p:tgtEl>
                                        <p:attrNameLst>
                                          <p:attrName>style.visibility</p:attrName>
                                        </p:attrNameLst>
                                      </p:cBhvr>
                                      <p:to>
                                        <p:strVal val="visible"/>
                                      </p:to>
                                    </p:set>
                                    <p:animEffect transition="in" filter="box(in)">
                                      <p:cBhvr>
                                        <p:cTn id="45" dur="500"/>
                                        <p:tgtEl>
                                          <p:spTgt spid="154"/>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nodeType="clickEffect">
                                  <p:stCondLst>
                                    <p:cond delay="0"/>
                                  </p:stCondLst>
                                  <p:childTnLst>
                                    <p:set>
                                      <p:cBhvr>
                                        <p:cTn id="49" dur="1" fill="hold">
                                          <p:stCondLst>
                                            <p:cond delay="0"/>
                                          </p:stCondLst>
                                        </p:cTn>
                                        <p:tgtEl>
                                          <p:spTgt spid="157"/>
                                        </p:tgtEl>
                                        <p:attrNameLst>
                                          <p:attrName>style.visibility</p:attrName>
                                        </p:attrNameLst>
                                      </p:cBhvr>
                                      <p:to>
                                        <p:strVal val="visible"/>
                                      </p:to>
                                    </p:set>
                                    <p:animEffect transition="in" filter="box(in)">
                                      <p:cBhvr>
                                        <p:cTn id="50" dur="500"/>
                                        <p:tgtEl>
                                          <p:spTgt spid="157"/>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158"/>
                                        </p:tgtEl>
                                        <p:attrNameLst>
                                          <p:attrName>style.visibility</p:attrName>
                                        </p:attrNameLst>
                                      </p:cBhvr>
                                      <p:to>
                                        <p:strVal val="visible"/>
                                      </p:to>
                                    </p:set>
                                    <p:animEffect transition="in" filter="box(in)">
                                      <p:cBhvr>
                                        <p:cTn id="55"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49" grpId="1" animBg="1"/>
      <p:bldP spid="151" grpId="0" animBg="1"/>
      <p:bldP spid="151" grpId="1" animBg="1"/>
      <p:bldP spid="153" grpId="0" animBg="1"/>
      <p:bldP spid="153" grpId="1" animBg="1"/>
      <p:bldP spid="154" grpId="0" animBg="1"/>
      <p:bldP spid="155" grpId="0"/>
      <p:bldP spid="156" grpId="0"/>
      <p:bldP spid="15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2" name="Rectangle 5"/>
          <p:cNvSpPr>
            <a:spLocks noChangeArrowheads="1"/>
          </p:cNvSpPr>
          <p:nvPr/>
        </p:nvSpPr>
        <p:spPr bwMode="auto">
          <a:xfrm>
            <a:off x="1537018" y="360489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7113" name="Rectangle 6"/>
          <p:cNvSpPr>
            <a:spLocks noChangeArrowheads="1"/>
          </p:cNvSpPr>
          <p:nvPr/>
        </p:nvSpPr>
        <p:spPr bwMode="auto">
          <a:xfrm>
            <a:off x="1537018" y="358108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5" name="Rectangle 7"/>
          <p:cNvSpPr>
            <a:spLocks noChangeArrowheads="1"/>
          </p:cNvSpPr>
          <p:nvPr/>
        </p:nvSpPr>
        <p:spPr bwMode="auto">
          <a:xfrm>
            <a:off x="2114868" y="3762058"/>
            <a:ext cx="3095625" cy="569912"/>
          </a:xfrm>
          <a:prstGeom prst="rect">
            <a:avLst/>
          </a:prstGeom>
          <a:noFill/>
          <a:ln w="50800">
            <a:solidFill>
              <a:schemeClr val="tx1"/>
            </a:solidFill>
            <a:miter lim="800000"/>
            <a:headEnd/>
            <a:tailEnd/>
          </a:ln>
        </p:spPr>
        <p:txBody>
          <a:bodyPr anchor="ctr">
            <a:spAutoFit/>
          </a:bodyPr>
          <a:lstStyle/>
          <a:p>
            <a:pPr algn="ctr" defTabSz="914400"/>
            <a:r>
              <a:rPr lang="zh-CN" altLang="en-US" sz="2800" b="1">
                <a:solidFill>
                  <a:srgbClr val="0000FF"/>
                </a:solidFill>
                <a:latin typeface="黑体" pitchFamily="2" charset="-122"/>
                <a:ea typeface="黑体" pitchFamily="2" charset="-122"/>
              </a:rPr>
              <a:t>扩散、漂移 </a:t>
            </a:r>
          </a:p>
        </p:txBody>
      </p:sp>
      <p:sp>
        <p:nvSpPr>
          <p:cNvPr id="6" name="Rectangle 8"/>
          <p:cNvSpPr>
            <a:spLocks noChangeArrowheads="1"/>
          </p:cNvSpPr>
          <p:nvPr/>
        </p:nvSpPr>
        <p:spPr bwMode="auto">
          <a:xfrm>
            <a:off x="2103755" y="4792345"/>
            <a:ext cx="3090863" cy="569913"/>
          </a:xfrm>
          <a:prstGeom prst="rect">
            <a:avLst/>
          </a:prstGeom>
          <a:noFill/>
          <a:ln w="50800">
            <a:solidFill>
              <a:schemeClr val="tx1"/>
            </a:solidFill>
            <a:miter lim="800000"/>
            <a:headEnd/>
            <a:tailEnd/>
          </a:ln>
        </p:spPr>
        <p:txBody>
          <a:bodyPr wrap="none">
            <a:spAutoFit/>
          </a:bodyPr>
          <a:lstStyle/>
          <a:p>
            <a:pPr algn="ctr" defTabSz="914400"/>
            <a:r>
              <a:rPr lang="zh-CN" altLang="en-US" sz="2800" b="1">
                <a:solidFill>
                  <a:srgbClr val="FF00FF"/>
                </a:solidFill>
                <a:latin typeface="黑体" pitchFamily="2" charset="-122"/>
                <a:ea typeface="黑体" pitchFamily="2" charset="-122"/>
              </a:rPr>
              <a:t>电子</a:t>
            </a:r>
            <a:r>
              <a:rPr lang="en-US" altLang="zh-CN" sz="2800" b="1">
                <a:solidFill>
                  <a:srgbClr val="FF00FF"/>
                </a:solidFill>
                <a:ea typeface="黑体" pitchFamily="2" charset="-122"/>
              </a:rPr>
              <a:t>—</a:t>
            </a:r>
            <a:r>
              <a:rPr lang="zh-CN" altLang="en-US" sz="2800" b="1">
                <a:solidFill>
                  <a:srgbClr val="FF00FF"/>
                </a:solidFill>
                <a:latin typeface="黑体" pitchFamily="2" charset="-122"/>
                <a:ea typeface="黑体" pitchFamily="2" charset="-122"/>
              </a:rPr>
              <a:t>空穴对分离</a:t>
            </a:r>
          </a:p>
        </p:txBody>
      </p:sp>
      <p:sp>
        <p:nvSpPr>
          <p:cNvPr id="2" name="Rectangle 9"/>
          <p:cNvSpPr>
            <a:spLocks noChangeArrowheads="1"/>
          </p:cNvSpPr>
          <p:nvPr/>
        </p:nvSpPr>
        <p:spPr bwMode="auto">
          <a:xfrm>
            <a:off x="2114868" y="2776220"/>
            <a:ext cx="3095625" cy="569913"/>
          </a:xfrm>
          <a:prstGeom prst="rect">
            <a:avLst/>
          </a:prstGeom>
          <a:noFill/>
          <a:ln w="50800">
            <a:solidFill>
              <a:schemeClr val="tx1"/>
            </a:solidFill>
            <a:miter lim="800000"/>
            <a:headEnd/>
            <a:tailEnd/>
          </a:ln>
        </p:spPr>
        <p:txBody>
          <a:bodyPr>
            <a:spAutoFit/>
          </a:bodyPr>
          <a:lstStyle/>
          <a:p>
            <a:pPr algn="ctr" defTabSz="914400"/>
            <a:r>
              <a:rPr lang="zh-CN" altLang="en-US" sz="2800" b="1">
                <a:solidFill>
                  <a:srgbClr val="FF00FF"/>
                </a:solidFill>
                <a:latin typeface="黑体" pitchFamily="2" charset="-122"/>
                <a:ea typeface="黑体" pitchFamily="2" charset="-122"/>
              </a:rPr>
              <a:t>电子</a:t>
            </a:r>
            <a:r>
              <a:rPr lang="en-US" altLang="zh-CN" sz="2800" b="1">
                <a:solidFill>
                  <a:srgbClr val="FF00FF"/>
                </a:solidFill>
                <a:ea typeface="黑体" pitchFamily="2" charset="-122"/>
              </a:rPr>
              <a:t>—</a:t>
            </a:r>
            <a:r>
              <a:rPr lang="zh-CN" altLang="en-US" sz="2800" b="1">
                <a:solidFill>
                  <a:srgbClr val="FF00FF"/>
                </a:solidFill>
                <a:latin typeface="黑体" pitchFamily="2" charset="-122"/>
                <a:ea typeface="黑体" pitchFamily="2" charset="-122"/>
              </a:rPr>
              <a:t>空穴对</a:t>
            </a:r>
          </a:p>
        </p:txBody>
      </p:sp>
      <p:sp>
        <p:nvSpPr>
          <p:cNvPr id="47117" name="Rectangle 10"/>
          <p:cNvSpPr>
            <a:spLocks noChangeArrowheads="1"/>
          </p:cNvSpPr>
          <p:nvPr/>
        </p:nvSpPr>
        <p:spPr bwMode="auto">
          <a:xfrm>
            <a:off x="2114868" y="1747520"/>
            <a:ext cx="3095625" cy="569913"/>
          </a:xfrm>
          <a:prstGeom prst="rect">
            <a:avLst/>
          </a:prstGeom>
          <a:noFill/>
          <a:ln w="50800">
            <a:solidFill>
              <a:schemeClr val="tx1"/>
            </a:solidFill>
            <a:miter lim="800000"/>
            <a:headEnd/>
            <a:tailEnd/>
          </a:ln>
        </p:spPr>
        <p:txBody>
          <a:bodyPr>
            <a:spAutoFit/>
          </a:bodyPr>
          <a:lstStyle/>
          <a:p>
            <a:pPr algn="ctr" defTabSz="914400"/>
            <a:r>
              <a:rPr lang="zh-CN" altLang="en-US" sz="2800" b="1">
                <a:solidFill>
                  <a:srgbClr val="FF0000"/>
                </a:solidFill>
                <a:latin typeface="黑体" pitchFamily="2" charset="-122"/>
                <a:ea typeface="黑体" pitchFamily="2" charset="-122"/>
              </a:rPr>
              <a:t>光  照</a:t>
            </a:r>
          </a:p>
        </p:txBody>
      </p:sp>
      <p:sp>
        <p:nvSpPr>
          <p:cNvPr id="9" name="AutoShape 11"/>
          <p:cNvSpPr>
            <a:spLocks noChangeArrowheads="1"/>
          </p:cNvSpPr>
          <p:nvPr/>
        </p:nvSpPr>
        <p:spPr bwMode="auto">
          <a:xfrm>
            <a:off x="3122930" y="2290445"/>
            <a:ext cx="719138" cy="431800"/>
          </a:xfrm>
          <a:prstGeom prst="downArrow">
            <a:avLst>
              <a:gd name="adj1" fmla="val 50000"/>
              <a:gd name="adj2" fmla="val 25000"/>
            </a:avLst>
          </a:prstGeom>
          <a:solidFill>
            <a:srgbClr val="FF0000"/>
          </a:solidFill>
          <a:ln w="50800">
            <a:solidFill>
              <a:schemeClr val="tx1"/>
            </a:solidFill>
            <a:miter lim="800000"/>
            <a:headEnd/>
            <a:tailEnd/>
          </a:ln>
        </p:spPr>
        <p:txBody>
          <a:bodyPr vert="eaVert" wrap="none" anchor="ctr"/>
          <a:lstStyle/>
          <a:p>
            <a:pPr defTabSz="914400"/>
            <a:endParaRPr lang="zh-CN" altLang="en-US" sz="2800" b="1">
              <a:latin typeface="楷体_GB2312" pitchFamily="49" charset="-122"/>
              <a:ea typeface="楷体_GB2312" pitchFamily="49" charset="-122"/>
            </a:endParaRPr>
          </a:p>
        </p:txBody>
      </p:sp>
      <p:sp>
        <p:nvSpPr>
          <p:cNvPr id="10" name="AutoShape 12"/>
          <p:cNvSpPr>
            <a:spLocks noChangeArrowheads="1"/>
          </p:cNvSpPr>
          <p:nvPr/>
        </p:nvSpPr>
        <p:spPr bwMode="auto">
          <a:xfrm>
            <a:off x="3130868" y="3357245"/>
            <a:ext cx="719137" cy="431800"/>
          </a:xfrm>
          <a:prstGeom prst="downArrow">
            <a:avLst>
              <a:gd name="adj1" fmla="val 50000"/>
              <a:gd name="adj2" fmla="val 25000"/>
            </a:avLst>
          </a:prstGeom>
          <a:solidFill>
            <a:srgbClr val="FF00FF"/>
          </a:solidFill>
          <a:ln w="50800">
            <a:solidFill>
              <a:schemeClr val="tx1"/>
            </a:solidFill>
            <a:miter lim="800000"/>
            <a:headEnd/>
            <a:tailEnd/>
          </a:ln>
        </p:spPr>
        <p:txBody>
          <a:bodyPr vert="eaVert" wrap="none" anchor="ctr"/>
          <a:lstStyle/>
          <a:p>
            <a:pPr defTabSz="914400"/>
            <a:endParaRPr lang="zh-CN" altLang="en-US" sz="2800" b="1">
              <a:latin typeface="楷体_GB2312" pitchFamily="49" charset="-122"/>
              <a:ea typeface="楷体_GB2312" pitchFamily="49" charset="-122"/>
            </a:endParaRPr>
          </a:p>
        </p:txBody>
      </p:sp>
      <p:sp>
        <p:nvSpPr>
          <p:cNvPr id="11" name="AutoShape 13"/>
          <p:cNvSpPr>
            <a:spLocks noChangeArrowheads="1"/>
          </p:cNvSpPr>
          <p:nvPr/>
        </p:nvSpPr>
        <p:spPr bwMode="auto">
          <a:xfrm>
            <a:off x="3122930" y="4338320"/>
            <a:ext cx="719138" cy="431800"/>
          </a:xfrm>
          <a:prstGeom prst="downArrow">
            <a:avLst>
              <a:gd name="adj1" fmla="val 50000"/>
              <a:gd name="adj2" fmla="val 25000"/>
            </a:avLst>
          </a:prstGeom>
          <a:solidFill>
            <a:srgbClr val="0000FF"/>
          </a:solidFill>
          <a:ln w="50800">
            <a:solidFill>
              <a:schemeClr val="tx1"/>
            </a:solidFill>
            <a:miter lim="800000"/>
            <a:headEnd/>
            <a:tailEnd/>
          </a:ln>
        </p:spPr>
        <p:txBody>
          <a:bodyPr vert="eaVert" wrap="none" anchor="ctr"/>
          <a:lstStyle/>
          <a:p>
            <a:pPr defTabSz="914400"/>
            <a:endParaRPr lang="zh-CN" altLang="en-US" sz="2800" b="1">
              <a:latin typeface="楷体_GB2312" pitchFamily="49" charset="-122"/>
              <a:ea typeface="楷体_GB2312" pitchFamily="49" charset="-122"/>
            </a:endParaRPr>
          </a:p>
        </p:txBody>
      </p:sp>
      <p:sp>
        <p:nvSpPr>
          <p:cNvPr id="13" name="AutoShape 15"/>
          <p:cNvSpPr>
            <a:spLocks noChangeArrowheads="1"/>
          </p:cNvSpPr>
          <p:nvPr/>
        </p:nvSpPr>
        <p:spPr bwMode="auto">
          <a:xfrm>
            <a:off x="3229293" y="5363845"/>
            <a:ext cx="719137" cy="576263"/>
          </a:xfrm>
          <a:prstGeom prst="downArrow">
            <a:avLst>
              <a:gd name="adj1" fmla="val 50000"/>
              <a:gd name="adj2" fmla="val 25000"/>
            </a:avLst>
          </a:prstGeom>
          <a:solidFill>
            <a:srgbClr val="FF66CC"/>
          </a:solidFill>
          <a:ln w="50800">
            <a:solidFill>
              <a:schemeClr val="tx1"/>
            </a:solidFill>
            <a:miter lim="800000"/>
            <a:headEnd/>
            <a:tailEnd/>
          </a:ln>
        </p:spPr>
        <p:txBody>
          <a:bodyPr vert="eaVert" wrap="none" anchor="ctr"/>
          <a:lstStyle/>
          <a:p>
            <a:pPr defTabSz="914400"/>
            <a:endParaRPr lang="zh-CN" altLang="en-US" sz="2800" b="1">
              <a:latin typeface="楷体_GB2312" pitchFamily="49" charset="-122"/>
              <a:ea typeface="楷体_GB2312" pitchFamily="49" charset="-122"/>
            </a:endParaRPr>
          </a:p>
        </p:txBody>
      </p:sp>
      <p:sp>
        <p:nvSpPr>
          <p:cNvPr id="14" name="Rectangle 16"/>
          <p:cNvSpPr>
            <a:spLocks noChangeArrowheads="1"/>
          </p:cNvSpPr>
          <p:nvPr/>
        </p:nvSpPr>
        <p:spPr bwMode="auto">
          <a:xfrm>
            <a:off x="1937068" y="5724208"/>
            <a:ext cx="3975100" cy="914400"/>
          </a:xfrm>
          <a:prstGeom prst="rect">
            <a:avLst/>
          </a:prstGeom>
          <a:noFill/>
          <a:ln w="9525">
            <a:noFill/>
            <a:miter lim="800000"/>
            <a:headEnd/>
            <a:tailEnd/>
          </a:ln>
        </p:spPr>
        <p:txBody>
          <a:bodyPr wrap="none" anchor="ctr">
            <a:spAutoFit/>
          </a:bodyPr>
          <a:lstStyle/>
          <a:p>
            <a:pPr defTabSz="914400"/>
            <a:r>
              <a:rPr lang="zh-CN" altLang="en-US" sz="5400" b="1">
                <a:latin typeface="黑体" pitchFamily="2" charset="-122"/>
                <a:ea typeface="黑体" pitchFamily="2" charset="-122"/>
              </a:rPr>
              <a:t>光生电势差</a:t>
            </a:r>
            <a:r>
              <a:rPr lang="zh-CN" altLang="en-US" sz="5400" b="1">
                <a:solidFill>
                  <a:srgbClr val="FFFF00"/>
                </a:solidFill>
                <a:latin typeface="黑体" pitchFamily="2" charset="-122"/>
                <a:ea typeface="黑体" pitchFamily="2" charset="-122"/>
              </a:rPr>
              <a:t> </a:t>
            </a:r>
          </a:p>
        </p:txBody>
      </p:sp>
      <p:sp>
        <p:nvSpPr>
          <p:cNvPr id="17" name="Rectangle 6"/>
          <p:cNvSpPr>
            <a:spLocks noChangeArrowheads="1"/>
          </p:cNvSpPr>
          <p:nvPr/>
        </p:nvSpPr>
        <p:spPr bwMode="auto">
          <a:xfrm>
            <a:off x="9979978" y="5148580"/>
            <a:ext cx="1638300" cy="692150"/>
          </a:xfrm>
          <a:prstGeom prst="rect">
            <a:avLst/>
          </a:prstGeom>
          <a:noFill/>
          <a:ln w="50800">
            <a:solidFill>
              <a:srgbClr val="FF0000"/>
            </a:solidFill>
            <a:miter lim="800000"/>
            <a:headEnd/>
            <a:tailEnd/>
          </a:ln>
        </p:spPr>
        <p:txBody>
          <a:bodyPr anchor="ctr">
            <a:spAutoFit/>
          </a:bodyPr>
          <a:lstStyle/>
          <a:p>
            <a:pPr defTabSz="914400"/>
            <a:r>
              <a:rPr lang="zh-CN" altLang="en-US" sz="3600" b="1">
                <a:solidFill>
                  <a:srgbClr val="FF0000"/>
                </a:solidFill>
                <a:latin typeface="华文彩云" pitchFamily="2" charset="-122"/>
                <a:ea typeface="华文彩云" pitchFamily="2" charset="-122"/>
              </a:rPr>
              <a:t>光电流</a:t>
            </a:r>
            <a:r>
              <a:rPr lang="zh-CN" altLang="en-US" sz="3600" b="1">
                <a:solidFill>
                  <a:srgbClr val="FFFF00"/>
                </a:solidFill>
              </a:rPr>
              <a:t> </a:t>
            </a:r>
          </a:p>
        </p:txBody>
      </p:sp>
      <p:sp>
        <p:nvSpPr>
          <p:cNvPr id="18" name="Rectangle 8"/>
          <p:cNvSpPr>
            <a:spLocks noChangeArrowheads="1"/>
          </p:cNvSpPr>
          <p:nvPr/>
        </p:nvSpPr>
        <p:spPr bwMode="auto">
          <a:xfrm>
            <a:off x="7535228" y="2033905"/>
            <a:ext cx="3200400" cy="1190625"/>
          </a:xfrm>
          <a:prstGeom prst="rect">
            <a:avLst/>
          </a:prstGeom>
          <a:solidFill>
            <a:schemeClr val="accent6">
              <a:lumMod val="40000"/>
              <a:lumOff val="60000"/>
            </a:schemeClr>
          </a:solidFill>
          <a:ln w="9525">
            <a:noFill/>
            <a:miter lim="800000"/>
            <a:headEnd/>
            <a:tailEnd/>
          </a:ln>
        </p:spPr>
        <p:txBody>
          <a:bodyPr anchor="ctr">
            <a:spAutoFit/>
          </a:bodyPr>
          <a:lstStyle/>
          <a:p>
            <a:pPr algn="ctr" defTabSz="914400">
              <a:defRPr/>
            </a:pPr>
            <a:r>
              <a:rPr lang="zh-CN" altLang="en-US" sz="3600" b="1" dirty="0">
                <a:solidFill>
                  <a:srgbClr val="FF0000"/>
                </a:solidFill>
                <a:latin typeface="Times New Roman" panose="02020603050405020304" pitchFamily="18" charset="0"/>
                <a:ea typeface="黑体" pitchFamily="2" charset="-122"/>
                <a:cs typeface="Times New Roman" panose="02020603050405020304" pitchFamily="18" charset="0"/>
              </a:rPr>
              <a:t>光照下</a:t>
            </a:r>
            <a:r>
              <a:rPr lang="en-US" altLang="zh-CN" sz="3600" b="1" dirty="0">
                <a:solidFill>
                  <a:srgbClr val="FF0000"/>
                </a:solidFill>
                <a:latin typeface="Times New Roman" panose="02020603050405020304" pitchFamily="18" charset="0"/>
                <a:ea typeface="黑体" pitchFamily="2" charset="-122"/>
                <a:cs typeface="Times New Roman" panose="02020603050405020304" pitchFamily="18" charset="0"/>
              </a:rPr>
              <a:t>PN</a:t>
            </a:r>
            <a:r>
              <a:rPr lang="zh-CN" altLang="en-US" sz="3600" b="1" dirty="0">
                <a:solidFill>
                  <a:srgbClr val="FF0000"/>
                </a:solidFill>
                <a:latin typeface="Times New Roman" panose="02020603050405020304" pitchFamily="18" charset="0"/>
                <a:ea typeface="黑体" pitchFamily="2" charset="-122"/>
                <a:cs typeface="Times New Roman" panose="02020603050405020304" pitchFamily="18" charset="0"/>
              </a:rPr>
              <a:t>结的电流方程 </a:t>
            </a:r>
          </a:p>
        </p:txBody>
      </p:sp>
      <p:sp>
        <p:nvSpPr>
          <p:cNvPr id="19" name="Rectangle 9"/>
          <p:cNvSpPr>
            <a:spLocks noChangeArrowheads="1"/>
          </p:cNvSpPr>
          <p:nvPr/>
        </p:nvSpPr>
        <p:spPr bwMode="auto">
          <a:xfrm>
            <a:off x="7268528" y="5185093"/>
            <a:ext cx="2578100" cy="692150"/>
          </a:xfrm>
          <a:prstGeom prst="rect">
            <a:avLst/>
          </a:prstGeom>
          <a:noFill/>
          <a:ln w="50800">
            <a:solidFill>
              <a:srgbClr val="FF0000"/>
            </a:solidFill>
            <a:miter lim="800000"/>
            <a:headEnd/>
            <a:tailEnd/>
          </a:ln>
        </p:spPr>
        <p:txBody>
          <a:bodyPr>
            <a:spAutoFit/>
          </a:bodyPr>
          <a:lstStyle/>
          <a:p>
            <a:pPr algn="ctr" defTabSz="914400"/>
            <a:r>
              <a:rPr lang="zh-CN" altLang="en-US" sz="3600" b="1">
                <a:solidFill>
                  <a:srgbClr val="0000FF"/>
                </a:solidFill>
                <a:latin typeface="华文彩云" pitchFamily="2" charset="-122"/>
                <a:ea typeface="华文彩云" pitchFamily="2" charset="-122"/>
              </a:rPr>
              <a:t>二极管电流</a:t>
            </a:r>
          </a:p>
        </p:txBody>
      </p:sp>
      <p:sp>
        <p:nvSpPr>
          <p:cNvPr id="20" name="AutoShape 10"/>
          <p:cNvSpPr>
            <a:spLocks noChangeArrowheads="1"/>
          </p:cNvSpPr>
          <p:nvPr/>
        </p:nvSpPr>
        <p:spPr bwMode="auto">
          <a:xfrm>
            <a:off x="8335328" y="4340543"/>
            <a:ext cx="1079500" cy="800100"/>
          </a:xfrm>
          <a:prstGeom prst="upArrow">
            <a:avLst>
              <a:gd name="adj1" fmla="val 50000"/>
              <a:gd name="adj2" fmla="val 25000"/>
            </a:avLst>
          </a:prstGeom>
          <a:solidFill>
            <a:srgbClr val="0000FF"/>
          </a:solidFill>
          <a:ln w="9525">
            <a:solidFill>
              <a:schemeClr val="tx1"/>
            </a:solidFill>
            <a:miter lim="800000"/>
            <a:headEnd/>
            <a:tailEnd/>
          </a:ln>
        </p:spPr>
        <p:txBody>
          <a:bodyPr vert="eaVert" wrap="none" anchor="ctr"/>
          <a:lstStyle/>
          <a:p>
            <a:pPr defTabSz="914400"/>
            <a:endParaRPr lang="zh-CN" altLang="en-US" sz="2800" b="1">
              <a:latin typeface="楷体_GB2312" pitchFamily="49" charset="-122"/>
              <a:ea typeface="楷体_GB2312" pitchFamily="49" charset="-122"/>
            </a:endParaRPr>
          </a:p>
        </p:txBody>
      </p:sp>
      <p:graphicFrame>
        <p:nvGraphicFramePr>
          <p:cNvPr id="24" name="Object 8"/>
          <p:cNvGraphicFramePr>
            <a:graphicFrameLocks noChangeAspect="1"/>
          </p:cNvGraphicFramePr>
          <p:nvPr>
            <p:extLst>
              <p:ext uri="{D42A27DB-BD31-4B8C-83A1-F6EECF244321}">
                <p14:modId xmlns:p14="http://schemas.microsoft.com/office/powerpoint/2010/main" val="1330851887"/>
              </p:ext>
            </p:extLst>
          </p:nvPr>
        </p:nvGraphicFramePr>
        <p:xfrm>
          <a:off x="6601778" y="3362643"/>
          <a:ext cx="4789487" cy="889000"/>
        </p:xfrm>
        <a:graphic>
          <a:graphicData uri="http://schemas.openxmlformats.org/presentationml/2006/ole">
            <mc:AlternateContent xmlns:mc="http://schemas.openxmlformats.org/markup-compatibility/2006">
              <mc:Choice xmlns:v="urn:schemas-microsoft-com:vml" Requires="v">
                <p:oleObj spid="_x0000_s51257" name="Equation" r:id="rId3" imgW="1143000" imgH="241200" progId="Equation.DSMT4">
                  <p:embed/>
                </p:oleObj>
              </mc:Choice>
              <mc:Fallback>
                <p:oleObj name="Equation" r:id="rId3" imgW="1143000" imgH="241200" progId="Equation.DSMT4">
                  <p:embed/>
                  <p:pic>
                    <p:nvPicPr>
                      <p:cNvPr id="0" name=""/>
                      <p:cNvPicPr>
                        <a:picLocks noChangeAspect="1" noChangeArrowheads="1"/>
                      </p:cNvPicPr>
                      <p:nvPr/>
                    </p:nvPicPr>
                    <p:blipFill>
                      <a:blip r:embed="rId4"/>
                      <a:srcRect/>
                      <a:stretch>
                        <a:fillRect/>
                      </a:stretch>
                    </p:blipFill>
                    <p:spPr bwMode="auto">
                      <a:xfrm>
                        <a:off x="6601778" y="3362643"/>
                        <a:ext cx="4789487" cy="889000"/>
                      </a:xfrm>
                      <a:prstGeom prst="rect">
                        <a:avLst/>
                      </a:prstGeom>
                      <a:solidFill>
                        <a:srgbClr val="FFFF00"/>
                      </a:solidFill>
                    </p:spPr>
                  </p:pic>
                </p:oleObj>
              </mc:Fallback>
            </mc:AlternateContent>
          </a:graphicData>
        </a:graphic>
      </p:graphicFrame>
      <p:sp>
        <p:nvSpPr>
          <p:cNvPr id="25" name="AutoShape 10"/>
          <p:cNvSpPr>
            <a:spLocks noChangeArrowheads="1"/>
          </p:cNvSpPr>
          <p:nvPr/>
        </p:nvSpPr>
        <p:spPr bwMode="auto">
          <a:xfrm>
            <a:off x="10735628" y="4340543"/>
            <a:ext cx="641350" cy="800100"/>
          </a:xfrm>
          <a:prstGeom prst="upArrow">
            <a:avLst>
              <a:gd name="adj1" fmla="val 50000"/>
              <a:gd name="adj2" fmla="val 25002"/>
            </a:avLst>
          </a:prstGeom>
          <a:solidFill>
            <a:srgbClr val="FF0000"/>
          </a:solidFill>
          <a:ln w="9525">
            <a:solidFill>
              <a:schemeClr val="tx1"/>
            </a:solidFill>
            <a:miter lim="800000"/>
            <a:headEnd/>
            <a:tailEnd/>
          </a:ln>
        </p:spPr>
        <p:txBody>
          <a:bodyPr vert="eaVert" wrap="none" anchor="ctr"/>
          <a:lstStyle/>
          <a:p>
            <a:pPr defTabSz="914400"/>
            <a:endParaRPr lang="zh-CN" altLang="en-US" sz="2800" b="1">
              <a:latin typeface="楷体_GB2312" pitchFamily="49" charset="-122"/>
              <a:ea typeface="楷体_GB2312" pitchFamily="49" charset="-122"/>
            </a:endParaRPr>
          </a:p>
        </p:txBody>
      </p:sp>
      <p:sp>
        <p:nvSpPr>
          <p:cNvPr id="26" name="文本框 60">
            <a:extLst>
              <a:ext uri="{FF2B5EF4-FFF2-40B4-BE49-F238E27FC236}">
                <a16:creationId xmlns="" xmlns:a16="http://schemas.microsoft.com/office/drawing/2014/main" id="{6E628A91-6ACF-4DCA-A730-F14C1303CA09}"/>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27" name="矩形 26">
            <a:extLst>
              <a:ext uri="{FF2B5EF4-FFF2-40B4-BE49-F238E27FC236}">
                <a16:creationId xmlns="" xmlns:a16="http://schemas.microsoft.com/office/drawing/2014/main" id="{27CB21F4-591D-4022-9865-4B64B3E46F2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0" name="矩形 29">
            <a:extLst>
              <a:ext uri="{FF2B5EF4-FFF2-40B4-BE49-F238E27FC236}">
                <a16:creationId xmlns="" xmlns:a16="http://schemas.microsoft.com/office/drawing/2014/main" id="{3C6AD10C-8956-4054-B920-02C1AA37900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a:extLst>
              <a:ext uri="{FF2B5EF4-FFF2-40B4-BE49-F238E27FC236}">
                <a16:creationId xmlns="" xmlns:a16="http://schemas.microsoft.com/office/drawing/2014/main" id="{874CB106-2355-40FD-8D82-E0154775538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2" name="直接连接符 58">
            <a:extLst>
              <a:ext uri="{FF2B5EF4-FFF2-40B4-BE49-F238E27FC236}">
                <a16:creationId xmlns="" xmlns:a16="http://schemas.microsoft.com/office/drawing/2014/main" id="{892385DD-A58C-4222-9FEF-7B1738F16E2D}"/>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 xmlns:a16="http://schemas.microsoft.com/office/drawing/2014/main" id="{E06C530E-DCB8-40D7-9E8E-89B9239F4F55}"/>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4" name="矩形 33">
            <a:extLst>
              <a:ext uri="{FF2B5EF4-FFF2-40B4-BE49-F238E27FC236}">
                <a16:creationId xmlns="" xmlns:a16="http://schemas.microsoft.com/office/drawing/2014/main" id="{1E59F433-268E-4552-9731-EBFA43FEE53D}"/>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59449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par>
                                <p:cTn id="11" presetID="17"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ppt_h/2"/>
                                          </p:val>
                                        </p:tav>
                                        <p:tav tm="100000">
                                          <p:val>
                                            <p:strVal val="#ppt_y"/>
                                          </p:val>
                                        </p:tav>
                                      </p:tavLst>
                                    </p:anim>
                                    <p:anim calcmode="lin" valueType="num">
                                      <p:cBhvr>
                                        <p:cTn id="15" dur="500" fill="hold"/>
                                        <p:tgtEl>
                                          <p:spTgt spid="9"/>
                                        </p:tgtEl>
                                        <p:attrNameLst>
                                          <p:attrName>ppt_w</p:attrName>
                                        </p:attrNameLst>
                                      </p:cBhvr>
                                      <p:tavLst>
                                        <p:tav tm="0">
                                          <p:val>
                                            <p:strVal val="#ppt_w"/>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ppt_y-#ppt_h/2"/>
                                          </p:val>
                                        </p:tav>
                                        <p:tav tm="100000">
                                          <p:val>
                                            <p:strVal val="#ppt_y"/>
                                          </p:val>
                                        </p:tav>
                                      </p:tavLst>
                                    </p:anim>
                                    <p:anim calcmode="lin" valueType="num">
                                      <p:cBhvr>
                                        <p:cTn id="23" dur="500" fill="hold"/>
                                        <p:tgtEl>
                                          <p:spTgt spid="5"/>
                                        </p:tgtEl>
                                        <p:attrNameLst>
                                          <p:attrName>ppt_w</p:attrName>
                                        </p:attrNameLst>
                                      </p:cBhvr>
                                      <p:tavLst>
                                        <p:tav tm="0">
                                          <p:val>
                                            <p:strVal val="#ppt_w"/>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childTnLst>
                                </p:cTn>
                              </p:par>
                              <p:par>
                                <p:cTn id="25" presetID="17" presetClass="entr" presetSubtype="1"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ppt_x</p:attrName>
                                        </p:attrNameLst>
                                      </p:cBhvr>
                                      <p:tavLst>
                                        <p:tav tm="0">
                                          <p:val>
                                            <p:strVal val="#ppt_x"/>
                                          </p:val>
                                        </p:tav>
                                        <p:tav tm="100000">
                                          <p:val>
                                            <p:strVal val="#ppt_x"/>
                                          </p:val>
                                        </p:tav>
                                      </p:tavLst>
                                    </p:anim>
                                    <p:anim calcmode="lin" valueType="num">
                                      <p:cBhvr>
                                        <p:cTn id="28" dur="500" fill="hold"/>
                                        <p:tgtEl>
                                          <p:spTgt spid="10"/>
                                        </p:tgtEl>
                                        <p:attrNameLst>
                                          <p:attrName>ppt_y</p:attrName>
                                        </p:attrNameLst>
                                      </p:cBhvr>
                                      <p:tavLst>
                                        <p:tav tm="0">
                                          <p:val>
                                            <p:strVal val="#ppt_y-#ppt_h/2"/>
                                          </p:val>
                                        </p:tav>
                                        <p:tav tm="100000">
                                          <p:val>
                                            <p:strVal val="#ppt_y"/>
                                          </p:val>
                                        </p:tav>
                                      </p:tavLst>
                                    </p:anim>
                                    <p:anim calcmode="lin" valueType="num">
                                      <p:cBhvr>
                                        <p:cTn id="29" dur="500" fill="hold"/>
                                        <p:tgtEl>
                                          <p:spTgt spid="10"/>
                                        </p:tgtEl>
                                        <p:attrNameLst>
                                          <p:attrName>ppt_w</p:attrName>
                                        </p:attrNameLst>
                                      </p:cBhvr>
                                      <p:tavLst>
                                        <p:tav tm="0">
                                          <p:val>
                                            <p:strVal val="#ppt_w"/>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ppt_x</p:attrName>
                                        </p:attrNameLst>
                                      </p:cBhvr>
                                      <p:tavLst>
                                        <p:tav tm="0">
                                          <p:val>
                                            <p:strVal val="#ppt_x"/>
                                          </p:val>
                                        </p:tav>
                                        <p:tav tm="100000">
                                          <p:val>
                                            <p:strVal val="#ppt_x"/>
                                          </p:val>
                                        </p:tav>
                                      </p:tavLst>
                                    </p:anim>
                                    <p:anim calcmode="lin" valueType="num">
                                      <p:cBhvr>
                                        <p:cTn id="36" dur="500" fill="hold"/>
                                        <p:tgtEl>
                                          <p:spTgt spid="6"/>
                                        </p:tgtEl>
                                        <p:attrNameLst>
                                          <p:attrName>ppt_y</p:attrName>
                                        </p:attrNameLst>
                                      </p:cBhvr>
                                      <p:tavLst>
                                        <p:tav tm="0">
                                          <p:val>
                                            <p:strVal val="#ppt_y-#ppt_h/2"/>
                                          </p:val>
                                        </p:tav>
                                        <p:tav tm="100000">
                                          <p:val>
                                            <p:strVal val="#ppt_y"/>
                                          </p:val>
                                        </p:tav>
                                      </p:tavLst>
                                    </p:anim>
                                    <p:anim calcmode="lin" valueType="num">
                                      <p:cBhvr>
                                        <p:cTn id="37" dur="500" fill="hold"/>
                                        <p:tgtEl>
                                          <p:spTgt spid="6"/>
                                        </p:tgtEl>
                                        <p:attrNameLst>
                                          <p:attrName>ppt_w</p:attrName>
                                        </p:attrNameLst>
                                      </p:cBhvr>
                                      <p:tavLst>
                                        <p:tav tm="0">
                                          <p:val>
                                            <p:strVal val="#ppt_w"/>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childTnLst>
                                </p:cTn>
                              </p:par>
                              <p:par>
                                <p:cTn id="39" presetID="17" presetClass="entr" presetSubtype="1"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ppt_x</p:attrName>
                                        </p:attrNameLst>
                                      </p:cBhvr>
                                      <p:tavLst>
                                        <p:tav tm="0">
                                          <p:val>
                                            <p:strVal val="#ppt_x"/>
                                          </p:val>
                                        </p:tav>
                                        <p:tav tm="100000">
                                          <p:val>
                                            <p:strVal val="#ppt_x"/>
                                          </p:val>
                                        </p:tav>
                                      </p:tavLst>
                                    </p:anim>
                                    <p:anim calcmode="lin" valueType="num">
                                      <p:cBhvr>
                                        <p:cTn id="42" dur="500" fill="hold"/>
                                        <p:tgtEl>
                                          <p:spTgt spid="11"/>
                                        </p:tgtEl>
                                        <p:attrNameLst>
                                          <p:attrName>ppt_y</p:attrName>
                                        </p:attrNameLst>
                                      </p:cBhvr>
                                      <p:tavLst>
                                        <p:tav tm="0">
                                          <p:val>
                                            <p:strVal val="#ppt_y-#ppt_h/2"/>
                                          </p:val>
                                        </p:tav>
                                        <p:tav tm="100000">
                                          <p:val>
                                            <p:strVal val="#ppt_y"/>
                                          </p:val>
                                        </p:tav>
                                      </p:tavLst>
                                    </p:anim>
                                    <p:anim calcmode="lin" valueType="num">
                                      <p:cBhvr>
                                        <p:cTn id="43" dur="500" fill="hold"/>
                                        <p:tgtEl>
                                          <p:spTgt spid="11"/>
                                        </p:tgtEl>
                                        <p:attrNameLst>
                                          <p:attrName>ppt_w</p:attrName>
                                        </p:attrNameLst>
                                      </p:cBhvr>
                                      <p:tavLst>
                                        <p:tav tm="0">
                                          <p:val>
                                            <p:strVal val="#ppt_w"/>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childTnLst>
                                </p:cTn>
                              </p:par>
                              <p:par>
                                <p:cTn id="45" presetID="17" presetClass="entr" presetSubtype="1"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ppt_h/2"/>
                                          </p:val>
                                        </p:tav>
                                        <p:tav tm="100000">
                                          <p:val>
                                            <p:strVal val="#ppt_y"/>
                                          </p:val>
                                        </p:tav>
                                      </p:tavLst>
                                    </p:anim>
                                    <p:anim calcmode="lin" valueType="num">
                                      <p:cBhvr>
                                        <p:cTn id="49" dur="500" fill="hold"/>
                                        <p:tgtEl>
                                          <p:spTgt spid="13"/>
                                        </p:tgtEl>
                                        <p:attrNameLst>
                                          <p:attrName>ppt_w</p:attrName>
                                        </p:attrNameLst>
                                      </p:cBhvr>
                                      <p:tavLst>
                                        <p:tav tm="0">
                                          <p:val>
                                            <p:strVal val="#ppt_w"/>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childTnLst>
                                </p:cTn>
                              </p:par>
                              <p:par>
                                <p:cTn id="51" presetID="17" presetClass="entr" presetSubtype="8"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00" fill="hold"/>
                                        <p:tgtEl>
                                          <p:spTgt spid="14"/>
                                        </p:tgtEl>
                                        <p:attrNameLst>
                                          <p:attrName>ppt_x</p:attrName>
                                        </p:attrNameLst>
                                      </p:cBhvr>
                                      <p:tavLst>
                                        <p:tav tm="0">
                                          <p:val>
                                            <p:strVal val="#ppt_x-#ppt_w/2"/>
                                          </p:val>
                                        </p:tav>
                                        <p:tav tm="100000">
                                          <p:val>
                                            <p:strVal val="#ppt_x"/>
                                          </p:val>
                                        </p:tav>
                                      </p:tavLst>
                                    </p:anim>
                                    <p:anim calcmode="lin" valueType="num">
                                      <p:cBhvr>
                                        <p:cTn id="54" dur="500" fill="hold"/>
                                        <p:tgtEl>
                                          <p:spTgt spid="14"/>
                                        </p:tgtEl>
                                        <p:attrNameLst>
                                          <p:attrName>ppt_y</p:attrName>
                                        </p:attrNameLst>
                                      </p:cBhvr>
                                      <p:tavLst>
                                        <p:tav tm="0">
                                          <p:val>
                                            <p:strVal val="#ppt_y"/>
                                          </p:val>
                                        </p:tav>
                                        <p:tav tm="100000">
                                          <p:val>
                                            <p:strVal val="#ppt_y"/>
                                          </p:val>
                                        </p:tav>
                                      </p:tavLst>
                                    </p:anim>
                                    <p:anim calcmode="lin" valueType="num">
                                      <p:cBhvr>
                                        <p:cTn id="55" dur="500" fill="hold"/>
                                        <p:tgtEl>
                                          <p:spTgt spid="14"/>
                                        </p:tgtEl>
                                        <p:attrNameLst>
                                          <p:attrName>ppt_w</p:attrName>
                                        </p:attrNameLst>
                                      </p:cBhvr>
                                      <p:tavLst>
                                        <p:tav tm="0">
                                          <p:val>
                                            <p:fltVal val="0"/>
                                          </p:val>
                                        </p:tav>
                                        <p:tav tm="100000">
                                          <p:val>
                                            <p:strVal val="#ppt_w"/>
                                          </p:val>
                                        </p:tav>
                                      </p:tavLst>
                                    </p:anim>
                                    <p:anim calcmode="lin" valueType="num">
                                      <p:cBhvr>
                                        <p:cTn id="56"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box(in)">
                                      <p:cBhvr>
                                        <p:cTn id="61" dur="5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box(in)">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box(in)">
                                      <p:cBhvr>
                                        <p:cTn id="71" dur="500"/>
                                        <p:tgtEl>
                                          <p:spTgt spid="19"/>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box(in)">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box(in)">
                                      <p:cBhvr>
                                        <p:cTn id="81" dur="500"/>
                                        <p:tgtEl>
                                          <p:spTgt spid="17"/>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grpId="0"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box(in)">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 grpId="0" animBg="1"/>
      <p:bldP spid="9" grpId="0" animBg="1"/>
      <p:bldP spid="10" grpId="0" animBg="1"/>
      <p:bldP spid="11" grpId="0" animBg="1"/>
      <p:bldP spid="13" grpId="0" animBg="1"/>
      <p:bldP spid="14" grpId="0"/>
      <p:bldP spid="17" grpId="0" animBg="1"/>
      <p:bldP spid="18" grpId="0" animBg="1"/>
      <p:bldP spid="19" grpId="0" animBg="1"/>
      <p:bldP spid="20"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ctrTitle" idx="4294967295"/>
          </p:nvPr>
        </p:nvSpPr>
        <p:spPr>
          <a:xfrm>
            <a:off x="1745932" y="1696720"/>
            <a:ext cx="9927907" cy="622300"/>
          </a:xfrm>
          <a:solidFill>
            <a:schemeClr val="accent6">
              <a:lumMod val="40000"/>
              <a:lumOff val="60000"/>
            </a:schemeClr>
          </a:solidFill>
          <a:ln>
            <a:solidFill>
              <a:schemeClr val="accent1"/>
            </a:solidFill>
          </a:ln>
        </p:spPr>
        <p:txBody>
          <a:bodyPr lIns="91440" tIns="45720" rIns="91440" bIns="45720" anchor="t"/>
          <a:lstStyle/>
          <a:p>
            <a:r>
              <a:rPr lang="zh-CN" altLang="en-US" sz="3800" b="1" dirty="0">
                <a:latin typeface="微软雅黑" pitchFamily="34" charset="-122"/>
                <a:ea typeface="微软雅黑" pitchFamily="34" charset="-122"/>
              </a:rPr>
              <a:t>问题：</a:t>
            </a:r>
            <a:r>
              <a:rPr lang="en-US" altLang="zh-CN" sz="3800" b="1" dirty="0">
                <a:latin typeface="微软雅黑" pitchFamily="34" charset="-122"/>
                <a:ea typeface="微软雅黑" pitchFamily="34" charset="-122"/>
              </a:rPr>
              <a:t>PN</a:t>
            </a:r>
            <a:r>
              <a:rPr lang="zh-CN" altLang="en-US" sz="3800" b="1" dirty="0">
                <a:latin typeface="微软雅黑" pitchFamily="34" charset="-122"/>
                <a:ea typeface="微软雅黑" pitchFamily="34" charset="-122"/>
              </a:rPr>
              <a:t>结加正向偏压，如何影响光伏效应？</a:t>
            </a:r>
          </a:p>
        </p:txBody>
      </p:sp>
      <p:grpSp>
        <p:nvGrpSpPr>
          <p:cNvPr id="2" name="组合 15"/>
          <p:cNvGrpSpPr>
            <a:grpSpLocks/>
          </p:cNvGrpSpPr>
          <p:nvPr/>
        </p:nvGrpSpPr>
        <p:grpSpPr bwMode="auto">
          <a:xfrm>
            <a:off x="3851275" y="2693988"/>
            <a:ext cx="4889500" cy="2449512"/>
            <a:chOff x="2284412" y="1989138"/>
            <a:chExt cx="4889501" cy="2449512"/>
          </a:xfrm>
        </p:grpSpPr>
        <p:graphicFrame>
          <p:nvGraphicFramePr>
            <p:cNvPr id="228358" name="Object 6"/>
            <p:cNvGraphicFramePr>
              <a:graphicFrameLocks noChangeAspect="1"/>
            </p:cNvGraphicFramePr>
            <p:nvPr/>
          </p:nvGraphicFramePr>
          <p:xfrm>
            <a:off x="3141663" y="1989138"/>
            <a:ext cx="3362325" cy="1873250"/>
          </p:xfrm>
          <a:graphic>
            <a:graphicData uri="http://schemas.openxmlformats.org/presentationml/2006/ole">
              <mc:AlternateContent xmlns:mc="http://schemas.openxmlformats.org/markup-compatibility/2006">
                <mc:Choice xmlns:v="urn:schemas-microsoft-com:vml" Requires="v">
                  <p:oleObj spid="_x0000_s52279" name="Visio" r:id="rId3" imgW="4763310" imgH="2728627" progId="">
                    <p:embed/>
                  </p:oleObj>
                </mc:Choice>
                <mc:Fallback>
                  <p:oleObj name="Visio" r:id="rId3" imgW="4763310" imgH="2728627"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1663" y="1989138"/>
                          <a:ext cx="3362325" cy="1873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9" name="Line 7"/>
            <p:cNvSpPr>
              <a:spLocks noChangeShapeType="1"/>
            </p:cNvSpPr>
            <p:nvPr/>
          </p:nvSpPr>
          <p:spPr bwMode="auto">
            <a:xfrm>
              <a:off x="2314575" y="2752725"/>
              <a:ext cx="0" cy="151130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0" name="Line 8"/>
            <p:cNvSpPr>
              <a:spLocks noChangeShapeType="1"/>
            </p:cNvSpPr>
            <p:nvPr/>
          </p:nvSpPr>
          <p:spPr bwMode="auto">
            <a:xfrm>
              <a:off x="2305050" y="4229100"/>
              <a:ext cx="792163" cy="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1" name="Line 9"/>
            <p:cNvSpPr>
              <a:spLocks noChangeShapeType="1"/>
            </p:cNvSpPr>
            <p:nvPr/>
          </p:nvSpPr>
          <p:spPr bwMode="auto">
            <a:xfrm>
              <a:off x="3860800" y="4229100"/>
              <a:ext cx="936625" cy="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2" name="Line 10"/>
            <p:cNvSpPr>
              <a:spLocks noChangeShapeType="1"/>
            </p:cNvSpPr>
            <p:nvPr/>
          </p:nvSpPr>
          <p:spPr bwMode="auto">
            <a:xfrm>
              <a:off x="4962525" y="4229100"/>
              <a:ext cx="2160588" cy="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3" name="Line 11"/>
            <p:cNvSpPr>
              <a:spLocks noChangeShapeType="1"/>
            </p:cNvSpPr>
            <p:nvPr/>
          </p:nvSpPr>
          <p:spPr bwMode="auto">
            <a:xfrm flipV="1">
              <a:off x="7150100" y="2843213"/>
              <a:ext cx="0" cy="139700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4" name="Line 12"/>
            <p:cNvSpPr>
              <a:spLocks noChangeShapeType="1"/>
            </p:cNvSpPr>
            <p:nvPr/>
          </p:nvSpPr>
          <p:spPr bwMode="auto">
            <a:xfrm flipH="1">
              <a:off x="6453188" y="2843213"/>
              <a:ext cx="720725" cy="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5" name="Rectangle 13"/>
            <p:cNvSpPr>
              <a:spLocks noChangeArrowheads="1"/>
            </p:cNvSpPr>
            <p:nvPr/>
          </p:nvSpPr>
          <p:spPr bwMode="auto">
            <a:xfrm>
              <a:off x="3122613" y="4095750"/>
              <a:ext cx="719137" cy="287338"/>
            </a:xfrm>
            <a:prstGeom prst="rect">
              <a:avLst/>
            </a:prstGeom>
            <a:noFill/>
            <a:ln w="38100">
              <a:solidFill>
                <a:schemeClr val="tx1"/>
              </a:solidFill>
              <a:miter lim="800000"/>
              <a:headEnd/>
              <a:tailEnd/>
            </a:ln>
          </p:spPr>
          <p:txBody>
            <a:bodyPr wrap="none" anchor="ctr"/>
            <a:lstStyle/>
            <a:p>
              <a:pPr defTabSz="914400"/>
              <a:endParaRPr lang="zh-CN" altLang="en-US" sz="2800" b="1">
                <a:latin typeface="微软雅黑" pitchFamily="34" charset="-122"/>
                <a:ea typeface="微软雅黑" pitchFamily="34" charset="-122"/>
              </a:endParaRPr>
            </a:p>
          </p:txBody>
        </p:sp>
        <p:sp>
          <p:nvSpPr>
            <p:cNvPr id="48146" name="Line 14"/>
            <p:cNvSpPr>
              <a:spLocks noChangeShapeType="1"/>
            </p:cNvSpPr>
            <p:nvPr/>
          </p:nvSpPr>
          <p:spPr bwMode="auto">
            <a:xfrm>
              <a:off x="2284412" y="2771775"/>
              <a:ext cx="865188" cy="0"/>
            </a:xfrm>
            <a:prstGeom prst="line">
              <a:avLst/>
            </a:prstGeom>
            <a:noFill/>
            <a:ln w="571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7" name="Line 15"/>
            <p:cNvSpPr>
              <a:spLocks noChangeShapeType="1"/>
            </p:cNvSpPr>
            <p:nvPr/>
          </p:nvSpPr>
          <p:spPr bwMode="auto">
            <a:xfrm>
              <a:off x="4797425" y="4006850"/>
              <a:ext cx="0" cy="431800"/>
            </a:xfrm>
            <a:prstGeom prst="line">
              <a:avLst/>
            </a:prstGeom>
            <a:noFill/>
            <a:ln w="3810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48148" name="Line 16"/>
            <p:cNvSpPr>
              <a:spLocks noChangeShapeType="1"/>
            </p:cNvSpPr>
            <p:nvPr/>
          </p:nvSpPr>
          <p:spPr bwMode="auto">
            <a:xfrm>
              <a:off x="4941888" y="4078287"/>
              <a:ext cx="0" cy="287338"/>
            </a:xfrm>
            <a:prstGeom prst="line">
              <a:avLst/>
            </a:prstGeom>
            <a:noFill/>
            <a:ln w="38100">
              <a:solidFill>
                <a:schemeClr val="tx1"/>
              </a:solidFill>
              <a:round/>
              <a:headEnd/>
              <a:tailEnd/>
            </a:ln>
          </p:spPr>
          <p:txBody>
            <a:bodyPr/>
            <a:lstStyle/>
            <a:p>
              <a:endParaRPr lang="zh-CN" altLang="en-US">
                <a:latin typeface="微软雅黑" pitchFamily="34" charset="-122"/>
                <a:ea typeface="微软雅黑" pitchFamily="34" charset="-122"/>
              </a:endParaRPr>
            </a:p>
          </p:txBody>
        </p:sp>
      </p:grpSp>
      <p:sp>
        <p:nvSpPr>
          <p:cNvPr id="228370" name="Rectangle 18"/>
          <p:cNvSpPr>
            <a:spLocks noChangeArrowheads="1"/>
          </p:cNvSpPr>
          <p:nvPr/>
        </p:nvSpPr>
        <p:spPr bwMode="auto">
          <a:xfrm>
            <a:off x="2828904" y="5378450"/>
            <a:ext cx="8157527" cy="1510030"/>
          </a:xfrm>
          <a:prstGeom prst="rect">
            <a:avLst/>
          </a:prstGeom>
          <a:noFill/>
          <a:ln w="50800">
            <a:solidFill>
              <a:srgbClr val="FF0000"/>
            </a:solidFill>
            <a:miter lim="800000"/>
            <a:headEnd/>
            <a:tailEnd/>
          </a:ln>
        </p:spPr>
        <p:txBody>
          <a:bodyPr anchor="ctr"/>
          <a:lstStyle/>
          <a:p>
            <a:pPr algn="ctr" defTabSz="914400" eaLnBrk="0" hangingPunct="0">
              <a:lnSpc>
                <a:spcPct val="150000"/>
              </a:lnSpc>
            </a:pPr>
            <a:r>
              <a:rPr lang="zh-CN" altLang="en-US" sz="3200" b="1" dirty="0">
                <a:latin typeface="微软雅黑" pitchFamily="34" charset="-122"/>
                <a:ea typeface="微软雅黑" pitchFamily="34" charset="-122"/>
              </a:rPr>
              <a:t>结论：</a:t>
            </a:r>
            <a:r>
              <a:rPr lang="en-US" altLang="zh-CN" sz="3200" b="1" dirty="0">
                <a:latin typeface="微软雅黑" pitchFamily="34" charset="-122"/>
                <a:ea typeface="微软雅黑" pitchFamily="34" charset="-122"/>
              </a:rPr>
              <a:t>PN</a:t>
            </a:r>
            <a:r>
              <a:rPr lang="zh-CN" altLang="en-US" sz="3200" b="1" dirty="0">
                <a:latin typeface="微软雅黑" pitchFamily="34" charset="-122"/>
                <a:ea typeface="微软雅黑" pitchFamily="34" charset="-122"/>
              </a:rPr>
              <a:t>结加正向偏压，不利于结区光生电子、空穴对的分离，光电效应不明显。</a:t>
            </a:r>
          </a:p>
        </p:txBody>
      </p:sp>
      <p:sp>
        <p:nvSpPr>
          <p:cNvPr id="21" name="文本框 60">
            <a:extLst>
              <a:ext uri="{FF2B5EF4-FFF2-40B4-BE49-F238E27FC236}">
                <a16:creationId xmlns="" xmlns:a16="http://schemas.microsoft.com/office/drawing/2014/main" id="{6A75BF99-AA33-48E2-B901-8B555586993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光伏效应</a:t>
            </a:r>
          </a:p>
        </p:txBody>
      </p:sp>
      <p:sp>
        <p:nvSpPr>
          <p:cNvPr id="22" name="矩形 21">
            <a:extLst>
              <a:ext uri="{FF2B5EF4-FFF2-40B4-BE49-F238E27FC236}">
                <a16:creationId xmlns="" xmlns:a16="http://schemas.microsoft.com/office/drawing/2014/main" id="{B71C4520-4F09-4558-9457-D63F5F23842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377B492F-94E8-45E3-8E02-A8DF6F9F002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55B463FD-86FD-4674-87AC-AFF4C6BA551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 xmlns:a16="http://schemas.microsoft.com/office/drawing/2014/main" id="{43F0895E-E4EF-4A5E-9B00-453D0C249998}"/>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 xmlns:a16="http://schemas.microsoft.com/office/drawing/2014/main" id="{D4FC8AF1-675D-486A-B103-1827F13CF6C5}"/>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AE48B49D-CFFE-45BB-90AB-C4DC5DE5038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46513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ox(in)">
                                      <p:cBhvr>
                                        <p:cTn id="7" dur="500"/>
                                        <p:tgtEl>
                                          <p:spTgt spid="1843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83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nimBg="1"/>
      <p:bldP spid="22837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光电发射效应</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996883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Rectangle 3"/>
          <p:cNvSpPr>
            <a:spLocks noChangeArrowheads="1"/>
          </p:cNvSpPr>
          <p:nvPr/>
        </p:nvSpPr>
        <p:spPr bwMode="auto">
          <a:xfrm>
            <a:off x="3751580" y="2615487"/>
            <a:ext cx="4497741" cy="584775"/>
          </a:xfrm>
          <a:prstGeom prst="rect">
            <a:avLst/>
          </a:prstGeom>
          <a:gradFill rotWithShape="1">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2700000" scaled="1"/>
          </a:gradFill>
          <a:ln w="9525">
            <a:noFill/>
            <a:miter lim="800000"/>
            <a:headEnd/>
            <a:tailEnd/>
          </a:ln>
        </p:spPr>
        <p:txBody>
          <a:bodyPr wrap="square" anchor="ctr">
            <a:spAutoFit/>
          </a:bodyPr>
          <a:lstStyle/>
          <a:p>
            <a:pPr algn="ctr" defTabSz="914400"/>
            <a:r>
              <a:rPr lang="en-US" altLang="zh-CN" sz="3200" b="1" dirty="0">
                <a:latin typeface="微软雅黑" pitchFamily="34" charset="-122"/>
                <a:ea typeface="微软雅黑" pitchFamily="34" charset="-122"/>
                <a:cs typeface="Times New Roman" pitchFamily="18" charset="0"/>
              </a:rPr>
              <a:t>1 </a:t>
            </a:r>
            <a:r>
              <a:rPr lang="en-US" altLang="zh-CN" sz="3200" b="1" dirty="0">
                <a:latin typeface="微软雅黑" pitchFamily="34" charset="-122"/>
                <a:ea typeface="微软雅黑" pitchFamily="34" charset="-122"/>
              </a:rPr>
              <a:t> </a:t>
            </a:r>
            <a:r>
              <a:rPr lang="zh-CN" altLang="en-US" sz="3200" b="1" dirty="0">
                <a:latin typeface="微软雅黑" pitchFamily="34" charset="-122"/>
                <a:ea typeface="微软雅黑" pitchFamily="34" charset="-122"/>
              </a:rPr>
              <a:t>爱因斯坦定律</a:t>
            </a:r>
            <a:r>
              <a:rPr lang="zh-CN" altLang="en-US" sz="3200" b="1" dirty="0">
                <a:solidFill>
                  <a:srgbClr val="FFFF00"/>
                </a:solidFill>
                <a:latin typeface="微软雅黑" pitchFamily="34" charset="-122"/>
                <a:ea typeface="微软雅黑" pitchFamily="34" charset="-122"/>
              </a:rPr>
              <a:t> </a:t>
            </a:r>
          </a:p>
        </p:txBody>
      </p:sp>
      <p:graphicFrame>
        <p:nvGraphicFramePr>
          <p:cNvPr id="17410" name="Object 5"/>
          <p:cNvGraphicFramePr>
            <a:graphicFrameLocks noChangeAspect="1"/>
          </p:cNvGraphicFramePr>
          <p:nvPr>
            <p:extLst>
              <p:ext uri="{D42A27DB-BD31-4B8C-83A1-F6EECF244321}">
                <p14:modId xmlns:p14="http://schemas.microsoft.com/office/powerpoint/2010/main" val="2375768933"/>
              </p:ext>
            </p:extLst>
          </p:nvPr>
        </p:nvGraphicFramePr>
        <p:xfrm>
          <a:off x="2426335" y="3434630"/>
          <a:ext cx="2650490" cy="873457"/>
        </p:xfrm>
        <a:graphic>
          <a:graphicData uri="http://schemas.openxmlformats.org/presentationml/2006/ole">
            <mc:AlternateContent xmlns:mc="http://schemas.openxmlformats.org/markup-compatibility/2006">
              <mc:Choice xmlns:v="urn:schemas-microsoft-com:vml" Requires="v">
                <p:oleObj spid="_x0000_s53454" name="Equation" r:id="rId3" imgW="1180800" imgH="393480" progId="">
                  <p:embed/>
                </p:oleObj>
              </mc:Choice>
              <mc:Fallback>
                <p:oleObj name="Equation" r:id="rId3" imgW="1180800" imgH="39348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335" y="3434630"/>
                        <a:ext cx="2650490" cy="873457"/>
                      </a:xfrm>
                      <a:prstGeom prst="rect">
                        <a:avLst/>
                      </a:prstGeom>
                      <a:solidFill>
                        <a:schemeClr val="bg1"/>
                      </a:solidFill>
                    </p:spPr>
                  </p:pic>
                </p:oleObj>
              </mc:Fallback>
            </mc:AlternateContent>
          </a:graphicData>
        </a:graphic>
      </p:graphicFrame>
      <p:graphicFrame>
        <p:nvGraphicFramePr>
          <p:cNvPr id="233479" name="Object 7"/>
          <p:cNvGraphicFramePr>
            <a:graphicFrameLocks noChangeAspect="1"/>
          </p:cNvGraphicFramePr>
          <p:nvPr>
            <p:extLst>
              <p:ext uri="{D42A27DB-BD31-4B8C-83A1-F6EECF244321}">
                <p14:modId xmlns:p14="http://schemas.microsoft.com/office/powerpoint/2010/main" val="889052509"/>
              </p:ext>
            </p:extLst>
          </p:nvPr>
        </p:nvGraphicFramePr>
        <p:xfrm>
          <a:off x="2010410" y="4475262"/>
          <a:ext cx="3201988" cy="1147763"/>
        </p:xfrm>
        <a:graphic>
          <a:graphicData uri="http://schemas.openxmlformats.org/presentationml/2006/ole">
            <mc:AlternateContent xmlns:mc="http://schemas.openxmlformats.org/markup-compatibility/2006">
              <mc:Choice xmlns:v="urn:schemas-microsoft-com:vml" Requires="v">
                <p:oleObj spid="_x0000_s53455" name="公式" r:id="rId5" imgW="837836" imgH="431613" progId="Equation.3">
                  <p:embed/>
                </p:oleObj>
              </mc:Choice>
              <mc:Fallback>
                <p:oleObj name="公式" r:id="rId5" imgW="837836" imgH="4316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0410" y="4475262"/>
                        <a:ext cx="3201988" cy="1147763"/>
                      </a:xfrm>
                      <a:prstGeom prst="rect">
                        <a:avLst/>
                      </a:prstGeom>
                      <a:solidFill>
                        <a:schemeClr val="bg1"/>
                      </a:solidFill>
                    </p:spPr>
                  </p:pic>
                </p:oleObj>
              </mc:Fallback>
            </mc:AlternateContent>
          </a:graphicData>
        </a:graphic>
      </p:graphicFrame>
      <p:graphicFrame>
        <p:nvGraphicFramePr>
          <p:cNvPr id="233480" name="Object 8"/>
          <p:cNvGraphicFramePr>
            <a:graphicFrameLocks noChangeAspect="1"/>
          </p:cNvGraphicFramePr>
          <p:nvPr>
            <p:extLst>
              <p:ext uri="{D42A27DB-BD31-4B8C-83A1-F6EECF244321}">
                <p14:modId xmlns:p14="http://schemas.microsoft.com/office/powerpoint/2010/main" val="3682688743"/>
              </p:ext>
            </p:extLst>
          </p:nvPr>
        </p:nvGraphicFramePr>
        <p:xfrm>
          <a:off x="2185035" y="6208812"/>
          <a:ext cx="2017713" cy="1289050"/>
        </p:xfrm>
        <a:graphic>
          <a:graphicData uri="http://schemas.openxmlformats.org/presentationml/2006/ole">
            <mc:AlternateContent xmlns:mc="http://schemas.openxmlformats.org/markup-compatibility/2006">
              <mc:Choice xmlns:v="urn:schemas-microsoft-com:vml" Requires="v">
                <p:oleObj spid="_x0000_s53456" name="公式" r:id="rId7" imgW="507780" imgH="393529" progId="Equation.3">
                  <p:embed/>
                </p:oleObj>
              </mc:Choice>
              <mc:Fallback>
                <p:oleObj name="公式" r:id="rId7" imgW="507780"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85035" y="6208812"/>
                        <a:ext cx="2017713" cy="1289050"/>
                      </a:xfrm>
                      <a:prstGeom prst="rect">
                        <a:avLst/>
                      </a:prstGeom>
                      <a:solidFill>
                        <a:schemeClr val="bg1"/>
                      </a:solidFill>
                    </p:spPr>
                  </p:pic>
                </p:oleObj>
              </mc:Fallback>
            </mc:AlternateContent>
          </a:graphicData>
        </a:graphic>
      </p:graphicFrame>
      <p:graphicFrame>
        <p:nvGraphicFramePr>
          <p:cNvPr id="233482" name="Object 10"/>
          <p:cNvGraphicFramePr>
            <a:graphicFrameLocks noChangeAspect="1"/>
          </p:cNvGraphicFramePr>
          <p:nvPr>
            <p:extLst>
              <p:ext uri="{D42A27DB-BD31-4B8C-83A1-F6EECF244321}">
                <p14:modId xmlns:p14="http://schemas.microsoft.com/office/powerpoint/2010/main" val="3437840599"/>
              </p:ext>
            </p:extLst>
          </p:nvPr>
        </p:nvGraphicFramePr>
        <p:xfrm>
          <a:off x="6285588" y="6302122"/>
          <a:ext cx="2298680" cy="1102428"/>
        </p:xfrm>
        <a:graphic>
          <a:graphicData uri="http://schemas.openxmlformats.org/presentationml/2006/ole">
            <mc:AlternateContent xmlns:mc="http://schemas.openxmlformats.org/markup-compatibility/2006">
              <mc:Choice xmlns:v="urn:schemas-microsoft-com:vml" Requires="v">
                <p:oleObj spid="_x0000_s53457" name="公式" r:id="rId9" imgW="926698" imgH="393529" progId="Equation.3">
                  <p:embed/>
                </p:oleObj>
              </mc:Choice>
              <mc:Fallback>
                <p:oleObj name="公式" r:id="rId9" imgW="926698"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85588" y="6302122"/>
                        <a:ext cx="2298680" cy="1102428"/>
                      </a:xfrm>
                      <a:prstGeom prst="rect">
                        <a:avLst/>
                      </a:prstGeom>
                      <a:solidFill>
                        <a:schemeClr val="bg1"/>
                      </a:solidFill>
                    </p:spPr>
                  </p:pic>
                </p:oleObj>
              </mc:Fallback>
            </mc:AlternateContent>
          </a:graphicData>
        </a:graphic>
      </p:graphicFrame>
      <p:sp>
        <p:nvSpPr>
          <p:cNvPr id="233483" name="AutoShape 11"/>
          <p:cNvSpPr>
            <a:spLocks noChangeArrowheads="1"/>
          </p:cNvSpPr>
          <p:nvPr/>
        </p:nvSpPr>
        <p:spPr bwMode="auto">
          <a:xfrm>
            <a:off x="3392170" y="4133318"/>
            <a:ext cx="576263" cy="4318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defTabSz="914400"/>
            <a:endParaRPr lang="zh-CN" altLang="en-US" sz="2800" b="1">
              <a:latin typeface="微软雅黑" pitchFamily="34" charset="-122"/>
              <a:ea typeface="微软雅黑" pitchFamily="34" charset="-122"/>
            </a:endParaRPr>
          </a:p>
        </p:txBody>
      </p:sp>
      <p:sp>
        <p:nvSpPr>
          <p:cNvPr id="233484" name="AutoShape 12"/>
          <p:cNvSpPr>
            <a:spLocks noChangeArrowheads="1"/>
          </p:cNvSpPr>
          <p:nvPr/>
        </p:nvSpPr>
        <p:spPr bwMode="auto">
          <a:xfrm>
            <a:off x="3029585" y="5630962"/>
            <a:ext cx="647700" cy="503238"/>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defTabSz="914400"/>
            <a:endParaRPr lang="zh-CN" altLang="en-US" sz="2800" b="1">
              <a:latin typeface="微软雅黑" pitchFamily="34" charset="-122"/>
              <a:ea typeface="微软雅黑" pitchFamily="34" charset="-122"/>
            </a:endParaRPr>
          </a:p>
        </p:txBody>
      </p:sp>
      <p:sp>
        <p:nvSpPr>
          <p:cNvPr id="233485" name="AutoShape 13"/>
          <p:cNvSpPr>
            <a:spLocks noChangeArrowheads="1"/>
          </p:cNvSpPr>
          <p:nvPr/>
        </p:nvSpPr>
        <p:spPr bwMode="auto">
          <a:xfrm>
            <a:off x="4271824" y="6649293"/>
            <a:ext cx="1944688" cy="408087"/>
          </a:xfrm>
          <a:prstGeom prst="rightArrow">
            <a:avLst>
              <a:gd name="adj1" fmla="val 50000"/>
              <a:gd name="adj2" fmla="val 84366"/>
            </a:avLst>
          </a:prstGeom>
          <a:solidFill>
            <a:schemeClr val="accent1"/>
          </a:solidFill>
          <a:ln w="9525">
            <a:solidFill>
              <a:schemeClr val="tx1"/>
            </a:solidFill>
            <a:miter lim="800000"/>
            <a:headEnd/>
            <a:tailEnd/>
          </a:ln>
        </p:spPr>
        <p:txBody>
          <a:bodyPr wrap="none" anchor="ctr"/>
          <a:lstStyle/>
          <a:p>
            <a:pPr defTabSz="914400"/>
            <a:endParaRPr lang="zh-CN" altLang="en-US" sz="2800" b="1">
              <a:latin typeface="微软雅黑" pitchFamily="34" charset="-122"/>
              <a:ea typeface="微软雅黑" pitchFamily="34" charset="-122"/>
            </a:endParaRPr>
          </a:p>
        </p:txBody>
      </p:sp>
      <p:sp>
        <p:nvSpPr>
          <p:cNvPr id="233486" name="Rectangle 14"/>
          <p:cNvSpPr>
            <a:spLocks noChangeArrowheads="1"/>
          </p:cNvSpPr>
          <p:nvPr/>
        </p:nvSpPr>
        <p:spPr bwMode="auto">
          <a:xfrm>
            <a:off x="5512347" y="3595256"/>
            <a:ext cx="1790875" cy="523220"/>
          </a:xfrm>
          <a:prstGeom prst="rect">
            <a:avLst/>
          </a:prstGeom>
          <a:noFill/>
          <a:ln w="9525">
            <a:noFill/>
            <a:miter lim="800000"/>
            <a:headEnd/>
            <a:tailEnd/>
          </a:ln>
        </p:spPr>
        <p:txBody>
          <a:bodyPr wrap="none" anchor="ctr">
            <a:spAutoFit/>
          </a:bodyPr>
          <a:lstStyle/>
          <a:p>
            <a:pPr defTabSz="914400"/>
            <a:r>
              <a:rPr lang="en-US" altLang="zh-CN" sz="2800" b="1" i="1" dirty="0">
                <a:latin typeface="Times New Roman" panose="02020603050405020304" pitchFamily="18" charset="0"/>
                <a:ea typeface="微软雅黑" pitchFamily="34" charset="-122"/>
                <a:cs typeface="Times New Roman" panose="02020603050405020304" pitchFamily="18" charset="0"/>
              </a:rPr>
              <a:t>W</a:t>
            </a:r>
            <a:r>
              <a:rPr lang="en-US" altLang="zh-CN" sz="2800" b="1" dirty="0">
                <a:latin typeface="Times New Roman" panose="02020603050405020304" pitchFamily="18" charset="0"/>
                <a:ea typeface="微软雅黑" pitchFamily="34" charset="-122"/>
                <a:cs typeface="Times New Roman" panose="02020603050405020304" pitchFamily="18" charset="0"/>
              </a:rPr>
              <a:t>-</a:t>
            </a:r>
            <a:r>
              <a:rPr lang="zh-CN" altLang="en-US" sz="2800" b="1" dirty="0">
                <a:latin typeface="Times New Roman" panose="02020603050405020304" pitchFamily="18" charset="0"/>
                <a:ea typeface="微软雅黑" pitchFamily="34" charset="-122"/>
                <a:cs typeface="Times New Roman" panose="02020603050405020304" pitchFamily="18" charset="0"/>
              </a:rPr>
              <a:t>逸出功</a:t>
            </a:r>
            <a:r>
              <a:rPr lang="zh-CN" altLang="en-US" sz="2800" b="1" dirty="0">
                <a:solidFill>
                  <a:schemeClr val="bg1"/>
                </a:solidFill>
                <a:latin typeface="Times New Roman" panose="02020603050405020304" pitchFamily="18" charset="0"/>
                <a:ea typeface="微软雅黑" pitchFamily="34" charset="-122"/>
                <a:cs typeface="Times New Roman" panose="02020603050405020304" pitchFamily="18" charset="0"/>
              </a:rPr>
              <a:t> </a:t>
            </a:r>
          </a:p>
        </p:txBody>
      </p:sp>
      <p:sp>
        <p:nvSpPr>
          <p:cNvPr id="233487" name="Rectangle 15"/>
          <p:cNvSpPr>
            <a:spLocks noChangeArrowheads="1"/>
          </p:cNvSpPr>
          <p:nvPr/>
        </p:nvSpPr>
        <p:spPr bwMode="auto">
          <a:xfrm>
            <a:off x="9243060" y="6258817"/>
            <a:ext cx="2428875" cy="1189037"/>
          </a:xfrm>
          <a:prstGeom prst="rect">
            <a:avLst/>
          </a:prstGeom>
          <a:solidFill>
            <a:srgbClr val="FFFF00"/>
          </a:solidFill>
          <a:ln w="9525">
            <a:noFill/>
            <a:miter lim="800000"/>
            <a:headEnd/>
            <a:tailEnd/>
          </a:ln>
        </p:spPr>
        <p:txBody>
          <a:bodyPr wrap="none" anchor="ctr">
            <a:spAutoFit/>
          </a:bodyPr>
          <a:lstStyle/>
          <a:p>
            <a:pPr defTabSz="914400"/>
            <a:r>
              <a:rPr lang="zh-CN" altLang="en-US" sz="4000" b="1" dirty="0">
                <a:solidFill>
                  <a:schemeClr val="bg1"/>
                </a:solidFill>
                <a:latin typeface="微软雅黑" pitchFamily="34" charset="-122"/>
                <a:ea typeface="微软雅黑" pitchFamily="34" charset="-122"/>
              </a:rPr>
              <a:t> </a:t>
            </a:r>
            <a:r>
              <a:rPr lang="zh-CN" altLang="en-US" sz="3200" b="1" dirty="0">
                <a:latin typeface="微软雅黑" pitchFamily="34" charset="-122"/>
                <a:ea typeface="微软雅黑" pitchFamily="34" charset="-122"/>
              </a:rPr>
              <a:t>截止波长</a:t>
            </a:r>
          </a:p>
          <a:p>
            <a:pPr defTabSz="914400"/>
            <a:r>
              <a:rPr lang="zh-CN" altLang="en-US" sz="3200" b="1" dirty="0">
                <a:latin typeface="微软雅黑" pitchFamily="34" charset="-122"/>
                <a:ea typeface="微软雅黑" pitchFamily="34" charset="-122"/>
              </a:rPr>
              <a:t>（长波限） </a:t>
            </a:r>
          </a:p>
        </p:txBody>
      </p:sp>
      <p:sp>
        <p:nvSpPr>
          <p:cNvPr id="17" name="Rectangle 3"/>
          <p:cNvSpPr>
            <a:spLocks noChangeArrowheads="1"/>
          </p:cNvSpPr>
          <p:nvPr/>
        </p:nvSpPr>
        <p:spPr bwMode="auto">
          <a:xfrm>
            <a:off x="1265873" y="1057030"/>
            <a:ext cx="10610215" cy="581057"/>
          </a:xfrm>
          <a:prstGeom prst="rect">
            <a:avLst/>
          </a:prstGeom>
          <a:noFill/>
          <a:ln w="38100">
            <a:noFill/>
            <a:miter lim="800000"/>
            <a:headEnd/>
            <a:tailEnd/>
          </a:ln>
        </p:spPr>
        <p:txBody>
          <a:bodyPr wrap="square" anchor="ctr">
            <a:spAutoFit/>
          </a:bodyPr>
          <a:lstStyle/>
          <a:p>
            <a:pPr defTabSz="914400">
              <a:lnSpc>
                <a:spcPct val="150000"/>
              </a:lnSpc>
            </a:pPr>
            <a:r>
              <a:rPr lang="zh-CN" altLang="en-US" sz="2400" b="1" dirty="0">
                <a:latin typeface="微软雅黑" pitchFamily="34" charset="-122"/>
                <a:ea typeface="微软雅黑" pitchFamily="34" charset="-122"/>
              </a:rPr>
              <a:t>金属或半导体受到光照时，电子从材料表面逸出这一现象称为</a:t>
            </a:r>
            <a:r>
              <a:rPr lang="zh-CN" altLang="en-US" sz="2400" b="1" dirty="0">
                <a:solidFill>
                  <a:srgbClr val="FF0000"/>
                </a:solidFill>
                <a:latin typeface="微软雅黑" pitchFamily="34" charset="-122"/>
                <a:ea typeface="微软雅黑" pitchFamily="34" charset="-122"/>
              </a:rPr>
              <a:t>光电发射效应</a:t>
            </a:r>
            <a:r>
              <a:rPr lang="zh-CN" altLang="en-US" sz="2400" b="1" dirty="0">
                <a:latin typeface="微软雅黑" pitchFamily="34" charset="-122"/>
                <a:ea typeface="微软雅黑" pitchFamily="34" charset="-122"/>
              </a:rPr>
              <a:t>。 </a:t>
            </a:r>
          </a:p>
        </p:txBody>
      </p:sp>
      <p:sp>
        <p:nvSpPr>
          <p:cNvPr id="19" name="Rectangle 4"/>
          <p:cNvSpPr>
            <a:spLocks noChangeArrowheads="1"/>
          </p:cNvSpPr>
          <p:nvPr/>
        </p:nvSpPr>
        <p:spPr bwMode="auto">
          <a:xfrm>
            <a:off x="1000125" y="1789937"/>
            <a:ext cx="7880985" cy="535531"/>
          </a:xfrm>
          <a:prstGeom prst="rect">
            <a:avLst/>
          </a:prstGeom>
          <a:noFill/>
          <a:ln w="38100">
            <a:noFill/>
            <a:miter lim="800000"/>
            <a:headEnd/>
            <a:tailEnd/>
          </a:ln>
        </p:spPr>
        <p:txBody>
          <a:bodyPr wrap="square">
            <a:spAutoFit/>
          </a:bodyPr>
          <a:lstStyle/>
          <a:p>
            <a:pPr defTabSz="914400">
              <a:lnSpc>
                <a:spcPct val="120000"/>
              </a:lnSpc>
            </a:pPr>
            <a:r>
              <a:rPr lang="zh-CN" altLang="en-US" sz="2400" b="1" dirty="0">
                <a:latin typeface="微软雅黑" pitchFamily="34" charset="-122"/>
                <a:ea typeface="微软雅黑" pitchFamily="34" charset="-122"/>
              </a:rPr>
              <a:t>－－又称外光电效应。逸出物质表面的电子叫做光电子。</a:t>
            </a:r>
            <a:r>
              <a:rPr lang="zh-CN" altLang="en-US" sz="2400" dirty="0">
                <a:latin typeface="微软雅黑" pitchFamily="34" charset="-122"/>
                <a:ea typeface="微软雅黑" pitchFamily="34" charset="-122"/>
              </a:rPr>
              <a:t> </a:t>
            </a:r>
          </a:p>
        </p:txBody>
      </p:sp>
      <p:sp>
        <p:nvSpPr>
          <p:cNvPr id="21" name="文本框 60">
            <a:extLst>
              <a:ext uri="{FF2B5EF4-FFF2-40B4-BE49-F238E27FC236}">
                <a16:creationId xmlns="" xmlns:a16="http://schemas.microsoft.com/office/drawing/2014/main" id="{90971530-DC4A-41D5-A44A-7A343F6489D8}"/>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22" name="矩形 21">
            <a:extLst>
              <a:ext uri="{FF2B5EF4-FFF2-40B4-BE49-F238E27FC236}">
                <a16:creationId xmlns="" xmlns:a16="http://schemas.microsoft.com/office/drawing/2014/main" id="{471B7804-F920-4FF8-8835-FDABDC6AB30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D2E20F8C-B102-4AA5-9BEC-ED8DE315F4A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54E33BDE-B7A6-475C-BCB4-223192E03ECC}"/>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5" name="直接连接符 58">
            <a:extLst>
              <a:ext uri="{FF2B5EF4-FFF2-40B4-BE49-F238E27FC236}">
                <a16:creationId xmlns="" xmlns:a16="http://schemas.microsoft.com/office/drawing/2014/main" id="{4D1103E9-3F27-4A58-B2C5-5C631CCF232D}"/>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 xmlns:a16="http://schemas.microsoft.com/office/drawing/2014/main" id="{829671AD-8FC0-496F-9B3F-2ECE099ED2A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 xmlns:a16="http://schemas.microsoft.com/office/drawing/2014/main" id="{6188C81D-35CF-4374-8358-4531CFB8D16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20072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1+#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7414"/>
                                        </p:tgtEl>
                                        <p:attrNameLst>
                                          <p:attrName>style.visibility</p:attrName>
                                        </p:attrNameLst>
                                      </p:cBhvr>
                                      <p:to>
                                        <p:strVal val="visible"/>
                                      </p:to>
                                    </p:set>
                                    <p:animEffect transition="in" filter="box(in)">
                                      <p:cBhvr>
                                        <p:cTn id="19" dur="500"/>
                                        <p:tgtEl>
                                          <p:spTgt spid="17414"/>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17410"/>
                                        </p:tgtEl>
                                        <p:attrNameLst>
                                          <p:attrName>style.visibility</p:attrName>
                                        </p:attrNameLst>
                                      </p:cBhvr>
                                      <p:to>
                                        <p:strVal val="visible"/>
                                      </p:to>
                                    </p:set>
                                    <p:animEffect transition="in" filter="box(in)">
                                      <p:cBhvr>
                                        <p:cTn id="24" dur="500"/>
                                        <p:tgtEl>
                                          <p:spTgt spid="17410"/>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233486"/>
                                        </p:tgtEl>
                                        <p:attrNameLst>
                                          <p:attrName>style.visibility</p:attrName>
                                        </p:attrNameLst>
                                      </p:cBhvr>
                                      <p:to>
                                        <p:strVal val="visible"/>
                                      </p:to>
                                    </p:set>
                                    <p:anim calcmode="lin" valueType="num">
                                      <p:cBhvr>
                                        <p:cTn id="29" dur="500" fill="hold"/>
                                        <p:tgtEl>
                                          <p:spTgt spid="233486"/>
                                        </p:tgtEl>
                                        <p:attrNameLst>
                                          <p:attrName>ppt_w</p:attrName>
                                        </p:attrNameLst>
                                      </p:cBhvr>
                                      <p:tavLst>
                                        <p:tav tm="0">
                                          <p:val>
                                            <p:fltVal val="0"/>
                                          </p:val>
                                        </p:tav>
                                        <p:tav tm="100000">
                                          <p:val>
                                            <p:strVal val="#ppt_w"/>
                                          </p:val>
                                        </p:tav>
                                      </p:tavLst>
                                    </p:anim>
                                    <p:anim calcmode="lin" valueType="num">
                                      <p:cBhvr>
                                        <p:cTn id="30" dur="500" fill="hold"/>
                                        <p:tgtEl>
                                          <p:spTgt spid="233486"/>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 fill="hold" nodeType="clickEffect">
                                  <p:stCondLst>
                                    <p:cond delay="0"/>
                                  </p:stCondLst>
                                  <p:childTnLst>
                                    <p:set>
                                      <p:cBhvr>
                                        <p:cTn id="34" dur="1" fill="hold">
                                          <p:stCondLst>
                                            <p:cond delay="0"/>
                                          </p:stCondLst>
                                        </p:cTn>
                                        <p:tgtEl>
                                          <p:spTgt spid="233479"/>
                                        </p:tgtEl>
                                        <p:attrNameLst>
                                          <p:attrName>style.visibility</p:attrName>
                                        </p:attrNameLst>
                                      </p:cBhvr>
                                      <p:to>
                                        <p:strVal val="visible"/>
                                      </p:to>
                                    </p:set>
                                    <p:anim calcmode="lin" valueType="num">
                                      <p:cBhvr>
                                        <p:cTn id="35" dur="500" fill="hold"/>
                                        <p:tgtEl>
                                          <p:spTgt spid="233479"/>
                                        </p:tgtEl>
                                        <p:attrNameLst>
                                          <p:attrName>ppt_x</p:attrName>
                                        </p:attrNameLst>
                                      </p:cBhvr>
                                      <p:tavLst>
                                        <p:tav tm="0">
                                          <p:val>
                                            <p:strVal val="#ppt_x"/>
                                          </p:val>
                                        </p:tav>
                                        <p:tav tm="100000">
                                          <p:val>
                                            <p:strVal val="#ppt_x"/>
                                          </p:val>
                                        </p:tav>
                                      </p:tavLst>
                                    </p:anim>
                                    <p:anim calcmode="lin" valueType="num">
                                      <p:cBhvr>
                                        <p:cTn id="36" dur="500" fill="hold"/>
                                        <p:tgtEl>
                                          <p:spTgt spid="233479"/>
                                        </p:tgtEl>
                                        <p:attrNameLst>
                                          <p:attrName>ppt_y</p:attrName>
                                        </p:attrNameLst>
                                      </p:cBhvr>
                                      <p:tavLst>
                                        <p:tav tm="0">
                                          <p:val>
                                            <p:strVal val="#ppt_y-#ppt_h/2"/>
                                          </p:val>
                                        </p:tav>
                                        <p:tav tm="100000">
                                          <p:val>
                                            <p:strVal val="#ppt_y"/>
                                          </p:val>
                                        </p:tav>
                                      </p:tavLst>
                                    </p:anim>
                                    <p:anim calcmode="lin" valueType="num">
                                      <p:cBhvr>
                                        <p:cTn id="37" dur="500" fill="hold"/>
                                        <p:tgtEl>
                                          <p:spTgt spid="233479"/>
                                        </p:tgtEl>
                                        <p:attrNameLst>
                                          <p:attrName>ppt_w</p:attrName>
                                        </p:attrNameLst>
                                      </p:cBhvr>
                                      <p:tavLst>
                                        <p:tav tm="0">
                                          <p:val>
                                            <p:strVal val="#ppt_w"/>
                                          </p:val>
                                        </p:tav>
                                        <p:tav tm="100000">
                                          <p:val>
                                            <p:strVal val="#ppt_w"/>
                                          </p:val>
                                        </p:tav>
                                      </p:tavLst>
                                    </p:anim>
                                    <p:anim calcmode="lin" valueType="num">
                                      <p:cBhvr>
                                        <p:cTn id="38" dur="500" fill="hold"/>
                                        <p:tgtEl>
                                          <p:spTgt spid="233479"/>
                                        </p:tgtEl>
                                        <p:attrNameLst>
                                          <p:attrName>ppt_h</p:attrName>
                                        </p:attrNameLst>
                                      </p:cBhvr>
                                      <p:tavLst>
                                        <p:tav tm="0">
                                          <p:val>
                                            <p:fltVal val="0"/>
                                          </p:val>
                                        </p:tav>
                                        <p:tav tm="100000">
                                          <p:val>
                                            <p:strVal val="#ppt_h"/>
                                          </p:val>
                                        </p:tav>
                                      </p:tavLst>
                                    </p:anim>
                                  </p:childTnLst>
                                </p:cTn>
                              </p:par>
                              <p:par>
                                <p:cTn id="39" presetID="17" presetClass="entr" presetSubtype="1" fill="hold" grpId="0" nodeType="withEffect">
                                  <p:stCondLst>
                                    <p:cond delay="0"/>
                                  </p:stCondLst>
                                  <p:childTnLst>
                                    <p:set>
                                      <p:cBhvr>
                                        <p:cTn id="40" dur="1" fill="hold">
                                          <p:stCondLst>
                                            <p:cond delay="0"/>
                                          </p:stCondLst>
                                        </p:cTn>
                                        <p:tgtEl>
                                          <p:spTgt spid="233483"/>
                                        </p:tgtEl>
                                        <p:attrNameLst>
                                          <p:attrName>style.visibility</p:attrName>
                                        </p:attrNameLst>
                                      </p:cBhvr>
                                      <p:to>
                                        <p:strVal val="visible"/>
                                      </p:to>
                                    </p:set>
                                    <p:anim calcmode="lin" valueType="num">
                                      <p:cBhvr>
                                        <p:cTn id="41" dur="500" fill="hold"/>
                                        <p:tgtEl>
                                          <p:spTgt spid="233483"/>
                                        </p:tgtEl>
                                        <p:attrNameLst>
                                          <p:attrName>ppt_x</p:attrName>
                                        </p:attrNameLst>
                                      </p:cBhvr>
                                      <p:tavLst>
                                        <p:tav tm="0">
                                          <p:val>
                                            <p:strVal val="#ppt_x"/>
                                          </p:val>
                                        </p:tav>
                                        <p:tav tm="100000">
                                          <p:val>
                                            <p:strVal val="#ppt_x"/>
                                          </p:val>
                                        </p:tav>
                                      </p:tavLst>
                                    </p:anim>
                                    <p:anim calcmode="lin" valueType="num">
                                      <p:cBhvr>
                                        <p:cTn id="42" dur="500" fill="hold"/>
                                        <p:tgtEl>
                                          <p:spTgt spid="233483"/>
                                        </p:tgtEl>
                                        <p:attrNameLst>
                                          <p:attrName>ppt_y</p:attrName>
                                        </p:attrNameLst>
                                      </p:cBhvr>
                                      <p:tavLst>
                                        <p:tav tm="0">
                                          <p:val>
                                            <p:strVal val="#ppt_y-#ppt_h/2"/>
                                          </p:val>
                                        </p:tav>
                                        <p:tav tm="100000">
                                          <p:val>
                                            <p:strVal val="#ppt_y"/>
                                          </p:val>
                                        </p:tav>
                                      </p:tavLst>
                                    </p:anim>
                                    <p:anim calcmode="lin" valueType="num">
                                      <p:cBhvr>
                                        <p:cTn id="43" dur="500" fill="hold"/>
                                        <p:tgtEl>
                                          <p:spTgt spid="233483"/>
                                        </p:tgtEl>
                                        <p:attrNameLst>
                                          <p:attrName>ppt_w</p:attrName>
                                        </p:attrNameLst>
                                      </p:cBhvr>
                                      <p:tavLst>
                                        <p:tav tm="0">
                                          <p:val>
                                            <p:strVal val="#ppt_w"/>
                                          </p:val>
                                        </p:tav>
                                        <p:tav tm="100000">
                                          <p:val>
                                            <p:strVal val="#ppt_w"/>
                                          </p:val>
                                        </p:tav>
                                      </p:tavLst>
                                    </p:anim>
                                    <p:anim calcmode="lin" valueType="num">
                                      <p:cBhvr>
                                        <p:cTn id="44" dur="500" fill="hold"/>
                                        <p:tgtEl>
                                          <p:spTgt spid="233483"/>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 fill="hold" nodeType="clickEffect">
                                  <p:stCondLst>
                                    <p:cond delay="0"/>
                                  </p:stCondLst>
                                  <p:childTnLst>
                                    <p:set>
                                      <p:cBhvr>
                                        <p:cTn id="48" dur="1" fill="hold">
                                          <p:stCondLst>
                                            <p:cond delay="0"/>
                                          </p:stCondLst>
                                        </p:cTn>
                                        <p:tgtEl>
                                          <p:spTgt spid="233480"/>
                                        </p:tgtEl>
                                        <p:attrNameLst>
                                          <p:attrName>style.visibility</p:attrName>
                                        </p:attrNameLst>
                                      </p:cBhvr>
                                      <p:to>
                                        <p:strVal val="visible"/>
                                      </p:to>
                                    </p:set>
                                    <p:anim calcmode="lin" valueType="num">
                                      <p:cBhvr>
                                        <p:cTn id="49" dur="500" fill="hold"/>
                                        <p:tgtEl>
                                          <p:spTgt spid="233480"/>
                                        </p:tgtEl>
                                        <p:attrNameLst>
                                          <p:attrName>ppt_x</p:attrName>
                                        </p:attrNameLst>
                                      </p:cBhvr>
                                      <p:tavLst>
                                        <p:tav tm="0">
                                          <p:val>
                                            <p:strVal val="#ppt_x"/>
                                          </p:val>
                                        </p:tav>
                                        <p:tav tm="100000">
                                          <p:val>
                                            <p:strVal val="#ppt_x"/>
                                          </p:val>
                                        </p:tav>
                                      </p:tavLst>
                                    </p:anim>
                                    <p:anim calcmode="lin" valueType="num">
                                      <p:cBhvr>
                                        <p:cTn id="50" dur="500" fill="hold"/>
                                        <p:tgtEl>
                                          <p:spTgt spid="233480"/>
                                        </p:tgtEl>
                                        <p:attrNameLst>
                                          <p:attrName>ppt_y</p:attrName>
                                        </p:attrNameLst>
                                      </p:cBhvr>
                                      <p:tavLst>
                                        <p:tav tm="0">
                                          <p:val>
                                            <p:strVal val="#ppt_y-#ppt_h/2"/>
                                          </p:val>
                                        </p:tav>
                                        <p:tav tm="100000">
                                          <p:val>
                                            <p:strVal val="#ppt_y"/>
                                          </p:val>
                                        </p:tav>
                                      </p:tavLst>
                                    </p:anim>
                                    <p:anim calcmode="lin" valueType="num">
                                      <p:cBhvr>
                                        <p:cTn id="51" dur="500" fill="hold"/>
                                        <p:tgtEl>
                                          <p:spTgt spid="233480"/>
                                        </p:tgtEl>
                                        <p:attrNameLst>
                                          <p:attrName>ppt_w</p:attrName>
                                        </p:attrNameLst>
                                      </p:cBhvr>
                                      <p:tavLst>
                                        <p:tav tm="0">
                                          <p:val>
                                            <p:strVal val="#ppt_w"/>
                                          </p:val>
                                        </p:tav>
                                        <p:tav tm="100000">
                                          <p:val>
                                            <p:strVal val="#ppt_w"/>
                                          </p:val>
                                        </p:tav>
                                      </p:tavLst>
                                    </p:anim>
                                    <p:anim calcmode="lin" valueType="num">
                                      <p:cBhvr>
                                        <p:cTn id="52" dur="500" fill="hold"/>
                                        <p:tgtEl>
                                          <p:spTgt spid="233480"/>
                                        </p:tgtEl>
                                        <p:attrNameLst>
                                          <p:attrName>ppt_h</p:attrName>
                                        </p:attrNameLst>
                                      </p:cBhvr>
                                      <p:tavLst>
                                        <p:tav tm="0">
                                          <p:val>
                                            <p:fltVal val="0"/>
                                          </p:val>
                                        </p:tav>
                                        <p:tav tm="100000">
                                          <p:val>
                                            <p:strVal val="#ppt_h"/>
                                          </p:val>
                                        </p:tav>
                                      </p:tavLst>
                                    </p:anim>
                                  </p:childTnLst>
                                </p:cTn>
                              </p:par>
                              <p:par>
                                <p:cTn id="53" presetID="17" presetClass="entr" presetSubtype="1" fill="hold" grpId="0" nodeType="withEffect">
                                  <p:stCondLst>
                                    <p:cond delay="0"/>
                                  </p:stCondLst>
                                  <p:childTnLst>
                                    <p:set>
                                      <p:cBhvr>
                                        <p:cTn id="54" dur="1" fill="hold">
                                          <p:stCondLst>
                                            <p:cond delay="0"/>
                                          </p:stCondLst>
                                        </p:cTn>
                                        <p:tgtEl>
                                          <p:spTgt spid="233484"/>
                                        </p:tgtEl>
                                        <p:attrNameLst>
                                          <p:attrName>style.visibility</p:attrName>
                                        </p:attrNameLst>
                                      </p:cBhvr>
                                      <p:to>
                                        <p:strVal val="visible"/>
                                      </p:to>
                                    </p:set>
                                    <p:anim calcmode="lin" valueType="num">
                                      <p:cBhvr>
                                        <p:cTn id="55" dur="500" fill="hold"/>
                                        <p:tgtEl>
                                          <p:spTgt spid="233484"/>
                                        </p:tgtEl>
                                        <p:attrNameLst>
                                          <p:attrName>ppt_x</p:attrName>
                                        </p:attrNameLst>
                                      </p:cBhvr>
                                      <p:tavLst>
                                        <p:tav tm="0">
                                          <p:val>
                                            <p:strVal val="#ppt_x"/>
                                          </p:val>
                                        </p:tav>
                                        <p:tav tm="100000">
                                          <p:val>
                                            <p:strVal val="#ppt_x"/>
                                          </p:val>
                                        </p:tav>
                                      </p:tavLst>
                                    </p:anim>
                                    <p:anim calcmode="lin" valueType="num">
                                      <p:cBhvr>
                                        <p:cTn id="56" dur="500" fill="hold"/>
                                        <p:tgtEl>
                                          <p:spTgt spid="233484"/>
                                        </p:tgtEl>
                                        <p:attrNameLst>
                                          <p:attrName>ppt_y</p:attrName>
                                        </p:attrNameLst>
                                      </p:cBhvr>
                                      <p:tavLst>
                                        <p:tav tm="0">
                                          <p:val>
                                            <p:strVal val="#ppt_y-#ppt_h/2"/>
                                          </p:val>
                                        </p:tav>
                                        <p:tav tm="100000">
                                          <p:val>
                                            <p:strVal val="#ppt_y"/>
                                          </p:val>
                                        </p:tav>
                                      </p:tavLst>
                                    </p:anim>
                                    <p:anim calcmode="lin" valueType="num">
                                      <p:cBhvr>
                                        <p:cTn id="57" dur="500" fill="hold"/>
                                        <p:tgtEl>
                                          <p:spTgt spid="233484"/>
                                        </p:tgtEl>
                                        <p:attrNameLst>
                                          <p:attrName>ppt_w</p:attrName>
                                        </p:attrNameLst>
                                      </p:cBhvr>
                                      <p:tavLst>
                                        <p:tav tm="0">
                                          <p:val>
                                            <p:strVal val="#ppt_w"/>
                                          </p:val>
                                        </p:tav>
                                        <p:tav tm="100000">
                                          <p:val>
                                            <p:strVal val="#ppt_w"/>
                                          </p:val>
                                        </p:tav>
                                      </p:tavLst>
                                    </p:anim>
                                    <p:anim calcmode="lin" valueType="num">
                                      <p:cBhvr>
                                        <p:cTn id="58" dur="500" fill="hold"/>
                                        <p:tgtEl>
                                          <p:spTgt spid="233484"/>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8" fill="hold" nodeType="clickEffect">
                                  <p:stCondLst>
                                    <p:cond delay="0"/>
                                  </p:stCondLst>
                                  <p:childTnLst>
                                    <p:set>
                                      <p:cBhvr>
                                        <p:cTn id="62" dur="1" fill="hold">
                                          <p:stCondLst>
                                            <p:cond delay="0"/>
                                          </p:stCondLst>
                                        </p:cTn>
                                        <p:tgtEl>
                                          <p:spTgt spid="233482"/>
                                        </p:tgtEl>
                                        <p:attrNameLst>
                                          <p:attrName>style.visibility</p:attrName>
                                        </p:attrNameLst>
                                      </p:cBhvr>
                                      <p:to>
                                        <p:strVal val="visible"/>
                                      </p:to>
                                    </p:set>
                                    <p:anim calcmode="lin" valueType="num">
                                      <p:cBhvr>
                                        <p:cTn id="63" dur="500" fill="hold"/>
                                        <p:tgtEl>
                                          <p:spTgt spid="233482"/>
                                        </p:tgtEl>
                                        <p:attrNameLst>
                                          <p:attrName>ppt_x</p:attrName>
                                        </p:attrNameLst>
                                      </p:cBhvr>
                                      <p:tavLst>
                                        <p:tav tm="0">
                                          <p:val>
                                            <p:strVal val="#ppt_x-#ppt_w/2"/>
                                          </p:val>
                                        </p:tav>
                                        <p:tav tm="100000">
                                          <p:val>
                                            <p:strVal val="#ppt_x"/>
                                          </p:val>
                                        </p:tav>
                                      </p:tavLst>
                                    </p:anim>
                                    <p:anim calcmode="lin" valueType="num">
                                      <p:cBhvr>
                                        <p:cTn id="64" dur="500" fill="hold"/>
                                        <p:tgtEl>
                                          <p:spTgt spid="233482"/>
                                        </p:tgtEl>
                                        <p:attrNameLst>
                                          <p:attrName>ppt_y</p:attrName>
                                        </p:attrNameLst>
                                      </p:cBhvr>
                                      <p:tavLst>
                                        <p:tav tm="0">
                                          <p:val>
                                            <p:strVal val="#ppt_y"/>
                                          </p:val>
                                        </p:tav>
                                        <p:tav tm="100000">
                                          <p:val>
                                            <p:strVal val="#ppt_y"/>
                                          </p:val>
                                        </p:tav>
                                      </p:tavLst>
                                    </p:anim>
                                    <p:anim calcmode="lin" valueType="num">
                                      <p:cBhvr>
                                        <p:cTn id="65" dur="500" fill="hold"/>
                                        <p:tgtEl>
                                          <p:spTgt spid="233482"/>
                                        </p:tgtEl>
                                        <p:attrNameLst>
                                          <p:attrName>ppt_w</p:attrName>
                                        </p:attrNameLst>
                                      </p:cBhvr>
                                      <p:tavLst>
                                        <p:tav tm="0">
                                          <p:val>
                                            <p:fltVal val="0"/>
                                          </p:val>
                                        </p:tav>
                                        <p:tav tm="100000">
                                          <p:val>
                                            <p:strVal val="#ppt_w"/>
                                          </p:val>
                                        </p:tav>
                                      </p:tavLst>
                                    </p:anim>
                                    <p:anim calcmode="lin" valueType="num">
                                      <p:cBhvr>
                                        <p:cTn id="66" dur="500" fill="hold"/>
                                        <p:tgtEl>
                                          <p:spTgt spid="233482"/>
                                        </p:tgtEl>
                                        <p:attrNameLst>
                                          <p:attrName>ppt_h</p:attrName>
                                        </p:attrNameLst>
                                      </p:cBhvr>
                                      <p:tavLst>
                                        <p:tav tm="0">
                                          <p:val>
                                            <p:strVal val="#ppt_h"/>
                                          </p:val>
                                        </p:tav>
                                        <p:tav tm="100000">
                                          <p:val>
                                            <p:strVal val="#ppt_h"/>
                                          </p:val>
                                        </p:tav>
                                      </p:tavLst>
                                    </p:anim>
                                  </p:childTnLst>
                                </p:cTn>
                              </p:par>
                              <p:par>
                                <p:cTn id="67" presetID="17" presetClass="entr" presetSubtype="8" fill="hold" grpId="0" nodeType="withEffect">
                                  <p:stCondLst>
                                    <p:cond delay="0"/>
                                  </p:stCondLst>
                                  <p:childTnLst>
                                    <p:set>
                                      <p:cBhvr>
                                        <p:cTn id="68" dur="1" fill="hold">
                                          <p:stCondLst>
                                            <p:cond delay="0"/>
                                          </p:stCondLst>
                                        </p:cTn>
                                        <p:tgtEl>
                                          <p:spTgt spid="233485"/>
                                        </p:tgtEl>
                                        <p:attrNameLst>
                                          <p:attrName>style.visibility</p:attrName>
                                        </p:attrNameLst>
                                      </p:cBhvr>
                                      <p:to>
                                        <p:strVal val="visible"/>
                                      </p:to>
                                    </p:set>
                                    <p:anim calcmode="lin" valueType="num">
                                      <p:cBhvr>
                                        <p:cTn id="69" dur="500" fill="hold"/>
                                        <p:tgtEl>
                                          <p:spTgt spid="233485"/>
                                        </p:tgtEl>
                                        <p:attrNameLst>
                                          <p:attrName>ppt_x</p:attrName>
                                        </p:attrNameLst>
                                      </p:cBhvr>
                                      <p:tavLst>
                                        <p:tav tm="0">
                                          <p:val>
                                            <p:strVal val="#ppt_x-#ppt_w/2"/>
                                          </p:val>
                                        </p:tav>
                                        <p:tav tm="100000">
                                          <p:val>
                                            <p:strVal val="#ppt_x"/>
                                          </p:val>
                                        </p:tav>
                                      </p:tavLst>
                                    </p:anim>
                                    <p:anim calcmode="lin" valueType="num">
                                      <p:cBhvr>
                                        <p:cTn id="70" dur="500" fill="hold"/>
                                        <p:tgtEl>
                                          <p:spTgt spid="233485"/>
                                        </p:tgtEl>
                                        <p:attrNameLst>
                                          <p:attrName>ppt_y</p:attrName>
                                        </p:attrNameLst>
                                      </p:cBhvr>
                                      <p:tavLst>
                                        <p:tav tm="0">
                                          <p:val>
                                            <p:strVal val="#ppt_y"/>
                                          </p:val>
                                        </p:tav>
                                        <p:tav tm="100000">
                                          <p:val>
                                            <p:strVal val="#ppt_y"/>
                                          </p:val>
                                        </p:tav>
                                      </p:tavLst>
                                    </p:anim>
                                    <p:anim calcmode="lin" valueType="num">
                                      <p:cBhvr>
                                        <p:cTn id="71" dur="500" fill="hold"/>
                                        <p:tgtEl>
                                          <p:spTgt spid="233485"/>
                                        </p:tgtEl>
                                        <p:attrNameLst>
                                          <p:attrName>ppt_w</p:attrName>
                                        </p:attrNameLst>
                                      </p:cBhvr>
                                      <p:tavLst>
                                        <p:tav tm="0">
                                          <p:val>
                                            <p:fltVal val="0"/>
                                          </p:val>
                                        </p:tav>
                                        <p:tav tm="100000">
                                          <p:val>
                                            <p:strVal val="#ppt_w"/>
                                          </p:val>
                                        </p:tav>
                                      </p:tavLst>
                                    </p:anim>
                                    <p:anim calcmode="lin" valueType="num">
                                      <p:cBhvr>
                                        <p:cTn id="72" dur="500" fill="hold"/>
                                        <p:tgtEl>
                                          <p:spTgt spid="233485"/>
                                        </p:tgtEl>
                                        <p:attrNameLst>
                                          <p:attrName>ppt_h</p:attrName>
                                        </p:attrNameLst>
                                      </p:cBhvr>
                                      <p:tavLst>
                                        <p:tav tm="0">
                                          <p:val>
                                            <p:strVal val="#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17" presetClass="entr" presetSubtype="10" fill="hold" grpId="0" nodeType="clickEffect">
                                  <p:stCondLst>
                                    <p:cond delay="0"/>
                                  </p:stCondLst>
                                  <p:childTnLst>
                                    <p:set>
                                      <p:cBhvr>
                                        <p:cTn id="76" dur="1" fill="hold">
                                          <p:stCondLst>
                                            <p:cond delay="0"/>
                                          </p:stCondLst>
                                        </p:cTn>
                                        <p:tgtEl>
                                          <p:spTgt spid="233487"/>
                                        </p:tgtEl>
                                        <p:attrNameLst>
                                          <p:attrName>style.visibility</p:attrName>
                                        </p:attrNameLst>
                                      </p:cBhvr>
                                      <p:to>
                                        <p:strVal val="visible"/>
                                      </p:to>
                                    </p:set>
                                    <p:anim calcmode="lin" valueType="num">
                                      <p:cBhvr>
                                        <p:cTn id="77" dur="500" fill="hold"/>
                                        <p:tgtEl>
                                          <p:spTgt spid="233487"/>
                                        </p:tgtEl>
                                        <p:attrNameLst>
                                          <p:attrName>ppt_w</p:attrName>
                                        </p:attrNameLst>
                                      </p:cBhvr>
                                      <p:tavLst>
                                        <p:tav tm="0">
                                          <p:val>
                                            <p:fltVal val="0"/>
                                          </p:val>
                                        </p:tav>
                                        <p:tav tm="100000">
                                          <p:val>
                                            <p:strVal val="#ppt_w"/>
                                          </p:val>
                                        </p:tav>
                                      </p:tavLst>
                                    </p:anim>
                                    <p:anim calcmode="lin" valueType="num">
                                      <p:cBhvr>
                                        <p:cTn id="78" dur="500" fill="hold"/>
                                        <p:tgtEl>
                                          <p:spTgt spid="23348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animBg="1"/>
      <p:bldP spid="233483" grpId="0" animBg="1"/>
      <p:bldP spid="233484" grpId="0" animBg="1"/>
      <p:bldP spid="233485" grpId="0" animBg="1"/>
      <p:bldP spid="233486" grpId="0"/>
      <p:bldP spid="233487" grpId="0" animBg="1"/>
      <p:bldP spid="17" grpId="0"/>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2" name="Rectangle 2"/>
          <p:cNvSpPr>
            <a:spLocks noChangeArrowheads="1"/>
          </p:cNvSpPr>
          <p:nvPr/>
        </p:nvSpPr>
        <p:spPr bwMode="auto">
          <a:xfrm>
            <a:off x="2153285" y="406209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微软雅黑" pitchFamily="34" charset="-122"/>
              <a:ea typeface="微软雅黑" pitchFamily="34" charset="-122"/>
            </a:endParaRPr>
          </a:p>
        </p:txBody>
      </p:sp>
      <p:sp>
        <p:nvSpPr>
          <p:cNvPr id="52233" name="Rectangle 3"/>
          <p:cNvSpPr>
            <a:spLocks noChangeArrowheads="1"/>
          </p:cNvSpPr>
          <p:nvPr/>
        </p:nvSpPr>
        <p:spPr bwMode="auto">
          <a:xfrm>
            <a:off x="2153285" y="404780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微软雅黑" pitchFamily="34" charset="-122"/>
              <a:ea typeface="微软雅黑" pitchFamily="34" charset="-122"/>
            </a:endParaRPr>
          </a:p>
        </p:txBody>
      </p:sp>
      <p:sp>
        <p:nvSpPr>
          <p:cNvPr id="52234" name="Rectangle 4"/>
          <p:cNvSpPr>
            <a:spLocks noChangeArrowheads="1"/>
          </p:cNvSpPr>
          <p:nvPr/>
        </p:nvSpPr>
        <p:spPr bwMode="auto">
          <a:xfrm>
            <a:off x="-412750" y="33067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52235" name="Object 5"/>
          <p:cNvGraphicFramePr>
            <a:graphicFrameLocks noChangeAspect="1"/>
          </p:cNvGraphicFramePr>
          <p:nvPr/>
        </p:nvGraphicFramePr>
        <p:xfrm>
          <a:off x="2591435" y="2096770"/>
          <a:ext cx="3457575" cy="1008063"/>
        </p:xfrm>
        <a:graphic>
          <a:graphicData uri="http://schemas.openxmlformats.org/presentationml/2006/ole">
            <mc:AlternateContent xmlns:mc="http://schemas.openxmlformats.org/markup-compatibility/2006">
              <mc:Choice xmlns:v="urn:schemas-microsoft-com:vml" Requires="v">
                <p:oleObj spid="_x0000_s54325" name="公式" r:id="rId3" imgW="926698" imgH="393529" progId="Equation.3">
                  <p:embed/>
                </p:oleObj>
              </mc:Choice>
              <mc:Fallback>
                <p:oleObj name="公式" r:id="rId3" imgW="926698"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435" y="2096770"/>
                        <a:ext cx="3457575" cy="1008063"/>
                      </a:xfrm>
                      <a:prstGeom prst="rect">
                        <a:avLst/>
                      </a:prstGeom>
                      <a:solidFill>
                        <a:srgbClr val="FFFF00"/>
                      </a:solidFill>
                    </p:spPr>
                  </p:pic>
                </p:oleObj>
              </mc:Fallback>
            </mc:AlternateContent>
          </a:graphicData>
        </a:graphic>
      </p:graphicFrame>
      <p:sp>
        <p:nvSpPr>
          <p:cNvPr id="52236" name="Text Box 6"/>
          <p:cNvSpPr txBox="1">
            <a:spLocks noChangeArrowheads="1"/>
          </p:cNvSpPr>
          <p:nvPr/>
        </p:nvSpPr>
        <p:spPr bwMode="auto">
          <a:xfrm>
            <a:off x="8211185" y="2363470"/>
            <a:ext cx="2376488" cy="519113"/>
          </a:xfrm>
          <a:prstGeom prst="rect">
            <a:avLst/>
          </a:prstGeom>
          <a:noFill/>
          <a:ln w="9525">
            <a:noFill/>
            <a:miter lim="800000"/>
            <a:headEnd/>
            <a:tailEnd/>
          </a:ln>
        </p:spPr>
        <p:txBody>
          <a:bodyPr>
            <a:spAutoFit/>
          </a:bodyPr>
          <a:lstStyle/>
          <a:p>
            <a:pPr defTabSz="914400">
              <a:spcBef>
                <a:spcPct val="50000"/>
              </a:spcBef>
            </a:pPr>
            <a:r>
              <a:rPr lang="zh-CN" altLang="en-US" sz="2800" b="1" dirty="0">
                <a:latin typeface="微软雅黑" pitchFamily="34" charset="-122"/>
                <a:ea typeface="微软雅黑" pitchFamily="34" charset="-122"/>
              </a:rPr>
              <a:t>－－光电发射</a:t>
            </a:r>
          </a:p>
        </p:txBody>
      </p:sp>
      <p:sp>
        <p:nvSpPr>
          <p:cNvPr id="234503" name="Rectangle 7"/>
          <p:cNvSpPr>
            <a:spLocks noChangeArrowheads="1"/>
          </p:cNvSpPr>
          <p:nvPr/>
        </p:nvSpPr>
        <p:spPr bwMode="auto">
          <a:xfrm>
            <a:off x="8242935" y="3442205"/>
            <a:ext cx="2327275" cy="519113"/>
          </a:xfrm>
          <a:prstGeom prst="rect">
            <a:avLst/>
          </a:prstGeom>
          <a:noFill/>
          <a:ln w="9525">
            <a:noFill/>
            <a:miter lim="800000"/>
            <a:headEnd/>
            <a:tailEnd/>
          </a:ln>
        </p:spPr>
        <p:txBody>
          <a:bodyPr wrap="none" anchor="ctr">
            <a:spAutoFit/>
          </a:bodyPr>
          <a:lstStyle/>
          <a:p>
            <a:pPr defTabSz="914400"/>
            <a:r>
              <a:rPr lang="zh-CN" altLang="en-US" sz="2800" b="1" dirty="0">
                <a:latin typeface="微软雅黑" pitchFamily="34" charset="-122"/>
                <a:ea typeface="微软雅黑" pitchFamily="34" charset="-122"/>
              </a:rPr>
              <a:t>－－本征吸收</a:t>
            </a:r>
          </a:p>
        </p:txBody>
      </p:sp>
      <p:pic>
        <p:nvPicPr>
          <p:cNvPr id="234504" name="Picture 8"/>
          <p:cNvPicPr>
            <a:picLocks noChangeAspect="1" noChangeArrowheads="1"/>
          </p:cNvPicPr>
          <p:nvPr/>
        </p:nvPicPr>
        <p:blipFill>
          <a:blip r:embed="rId5" cstate="print"/>
          <a:srcRect/>
          <a:stretch>
            <a:fillRect/>
          </a:stretch>
        </p:blipFill>
        <p:spPr bwMode="auto">
          <a:xfrm>
            <a:off x="2591435" y="3163570"/>
            <a:ext cx="3457575" cy="1119188"/>
          </a:xfrm>
          <a:prstGeom prst="rect">
            <a:avLst/>
          </a:prstGeom>
          <a:solidFill>
            <a:srgbClr val="FFC000"/>
          </a:solidFill>
          <a:ln w="9525">
            <a:noFill/>
            <a:miter lim="800000"/>
            <a:headEnd/>
            <a:tailEnd/>
          </a:ln>
        </p:spPr>
      </p:pic>
      <p:sp>
        <p:nvSpPr>
          <p:cNvPr id="234505" name="Rectangle 9"/>
          <p:cNvSpPr>
            <a:spLocks noChangeArrowheads="1"/>
          </p:cNvSpPr>
          <p:nvPr/>
        </p:nvSpPr>
        <p:spPr bwMode="auto">
          <a:xfrm>
            <a:off x="8273415" y="4591685"/>
            <a:ext cx="2327275" cy="519113"/>
          </a:xfrm>
          <a:prstGeom prst="rect">
            <a:avLst/>
          </a:prstGeom>
          <a:noFill/>
          <a:ln w="9525">
            <a:noFill/>
            <a:miter lim="800000"/>
            <a:headEnd/>
            <a:tailEnd/>
          </a:ln>
        </p:spPr>
        <p:txBody>
          <a:bodyPr wrap="none" anchor="ctr">
            <a:spAutoFit/>
          </a:bodyPr>
          <a:lstStyle/>
          <a:p>
            <a:pPr defTabSz="914400"/>
            <a:r>
              <a:rPr lang="zh-CN" altLang="en-US" sz="2800" b="1">
                <a:latin typeface="微软雅黑" pitchFamily="34" charset="-122"/>
                <a:ea typeface="微软雅黑" pitchFamily="34" charset="-122"/>
              </a:rPr>
              <a:t>－－杂质吸收</a:t>
            </a:r>
          </a:p>
        </p:txBody>
      </p:sp>
      <p:pic>
        <p:nvPicPr>
          <p:cNvPr id="234506" name="Picture 10"/>
          <p:cNvPicPr>
            <a:picLocks noChangeAspect="1" noChangeArrowheads="1"/>
          </p:cNvPicPr>
          <p:nvPr/>
        </p:nvPicPr>
        <p:blipFill>
          <a:blip r:embed="rId6" cstate="print"/>
          <a:srcRect/>
          <a:stretch>
            <a:fillRect/>
          </a:stretch>
        </p:blipFill>
        <p:spPr bwMode="auto">
          <a:xfrm>
            <a:off x="2575878" y="4447223"/>
            <a:ext cx="5616575" cy="909637"/>
          </a:xfrm>
          <a:prstGeom prst="rect">
            <a:avLst/>
          </a:prstGeom>
          <a:solidFill>
            <a:schemeClr val="accent2">
              <a:lumMod val="40000"/>
              <a:lumOff val="60000"/>
            </a:schemeClr>
          </a:solidFill>
          <a:ln w="9525">
            <a:noFill/>
            <a:miter lim="800000"/>
            <a:headEnd/>
            <a:tailEnd/>
          </a:ln>
        </p:spPr>
      </p:pic>
      <p:sp>
        <p:nvSpPr>
          <p:cNvPr id="234507" name="Rectangle 11"/>
          <p:cNvSpPr>
            <a:spLocks noChangeArrowheads="1"/>
          </p:cNvSpPr>
          <p:nvPr/>
        </p:nvSpPr>
        <p:spPr bwMode="auto">
          <a:xfrm>
            <a:off x="1661478" y="6168390"/>
            <a:ext cx="1408112" cy="579438"/>
          </a:xfrm>
          <a:prstGeom prst="rect">
            <a:avLst/>
          </a:prstGeom>
          <a:solidFill>
            <a:schemeClr val="bg1"/>
          </a:solidFill>
          <a:ln w="9525">
            <a:noFill/>
            <a:miter lim="800000"/>
            <a:headEnd/>
            <a:tailEnd/>
          </a:ln>
        </p:spPr>
        <p:txBody>
          <a:bodyPr wrap="none">
            <a:spAutoFit/>
          </a:bodyPr>
          <a:lstStyle/>
          <a:p>
            <a:pPr defTabSz="914400"/>
            <a:r>
              <a:rPr lang="zh-CN" altLang="en-US" sz="3200" b="1" dirty="0">
                <a:solidFill>
                  <a:srgbClr val="FF0000"/>
                </a:solidFill>
                <a:latin typeface="微软雅黑" pitchFamily="34" charset="-122"/>
                <a:ea typeface="微软雅黑" pitchFamily="34" charset="-122"/>
              </a:rPr>
              <a:t>结论：</a:t>
            </a:r>
          </a:p>
        </p:txBody>
      </p:sp>
      <p:sp>
        <p:nvSpPr>
          <p:cNvPr id="52242" name="Text Box 13"/>
          <p:cNvSpPr txBox="1">
            <a:spLocks noChangeArrowheads="1"/>
          </p:cNvSpPr>
          <p:nvPr/>
        </p:nvSpPr>
        <p:spPr bwMode="auto">
          <a:xfrm>
            <a:off x="5384165" y="1035734"/>
            <a:ext cx="2980056" cy="646331"/>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2700000"/>
          </a:gradFill>
          <a:ln w="9525">
            <a:noFill/>
            <a:miter lim="800000"/>
            <a:headEnd/>
            <a:tailEnd/>
          </a:ln>
        </p:spPr>
        <p:txBody>
          <a:bodyPr wrap="square">
            <a:spAutoFit/>
          </a:bodyPr>
          <a:lstStyle/>
          <a:p>
            <a:pPr defTabSz="914400">
              <a:spcBef>
                <a:spcPct val="50000"/>
              </a:spcBef>
            </a:pPr>
            <a:r>
              <a:rPr lang="zh-CN" altLang="en-US" sz="3600" b="1" dirty="0">
                <a:latin typeface="微软雅黑" pitchFamily="34" charset="-122"/>
                <a:ea typeface="微软雅黑" pitchFamily="34" charset="-122"/>
              </a:rPr>
              <a:t>截止波长对比</a:t>
            </a:r>
          </a:p>
        </p:txBody>
      </p:sp>
      <p:sp>
        <p:nvSpPr>
          <p:cNvPr id="234510" name="Line 14"/>
          <p:cNvSpPr>
            <a:spLocks noChangeShapeType="1"/>
          </p:cNvSpPr>
          <p:nvPr/>
        </p:nvSpPr>
        <p:spPr bwMode="auto">
          <a:xfrm>
            <a:off x="3564573" y="6690678"/>
            <a:ext cx="7200900" cy="0"/>
          </a:xfrm>
          <a:prstGeom prst="line">
            <a:avLst/>
          </a:prstGeom>
          <a:noFill/>
          <a:ln w="76200">
            <a:solidFill>
              <a:srgbClr val="FF0000"/>
            </a:solidFill>
            <a:round/>
            <a:headEnd/>
            <a:tailEnd type="triangle" w="med" len="med"/>
          </a:ln>
        </p:spPr>
        <p:txBody>
          <a:bodyPr/>
          <a:lstStyle/>
          <a:p>
            <a:endParaRPr lang="zh-CN" altLang="en-US" b="1">
              <a:latin typeface="微软雅黑" pitchFamily="34" charset="-122"/>
              <a:ea typeface="微软雅黑" pitchFamily="34" charset="-122"/>
            </a:endParaRPr>
          </a:p>
        </p:txBody>
      </p:sp>
      <p:sp>
        <p:nvSpPr>
          <p:cNvPr id="234511" name="Rectangle 15"/>
          <p:cNvSpPr>
            <a:spLocks noChangeArrowheads="1"/>
          </p:cNvSpPr>
          <p:nvPr/>
        </p:nvSpPr>
        <p:spPr bwMode="auto">
          <a:xfrm>
            <a:off x="9189085" y="5958840"/>
            <a:ext cx="1727200" cy="519113"/>
          </a:xfrm>
          <a:prstGeom prst="rect">
            <a:avLst/>
          </a:prstGeom>
          <a:noFill/>
          <a:ln w="9525">
            <a:noFill/>
            <a:miter lim="800000"/>
            <a:headEnd/>
            <a:tailEnd/>
          </a:ln>
        </p:spPr>
        <p:txBody>
          <a:bodyPr>
            <a:spAutoFit/>
          </a:bodyPr>
          <a:lstStyle/>
          <a:p>
            <a:pPr defTabSz="914400"/>
            <a:r>
              <a:rPr lang="zh-CN" altLang="en-US" sz="2800" b="1" dirty="0">
                <a:solidFill>
                  <a:srgbClr val="0000CC"/>
                </a:solidFill>
                <a:latin typeface="微软雅黑" pitchFamily="34" charset="-122"/>
                <a:ea typeface="微软雅黑" pitchFamily="34" charset="-122"/>
              </a:rPr>
              <a:t>波长增大</a:t>
            </a:r>
          </a:p>
        </p:txBody>
      </p:sp>
      <p:sp>
        <p:nvSpPr>
          <p:cNvPr id="234512" name="Text Box 16"/>
          <p:cNvSpPr txBox="1">
            <a:spLocks noChangeArrowheads="1"/>
          </p:cNvSpPr>
          <p:nvPr/>
        </p:nvSpPr>
        <p:spPr bwMode="auto">
          <a:xfrm>
            <a:off x="3782060" y="6690678"/>
            <a:ext cx="1871663" cy="519112"/>
          </a:xfrm>
          <a:prstGeom prst="rect">
            <a:avLst/>
          </a:prstGeom>
          <a:noFill/>
          <a:ln w="9525">
            <a:noFill/>
            <a:miter lim="800000"/>
            <a:headEnd/>
            <a:tailEnd/>
          </a:ln>
        </p:spPr>
        <p:txBody>
          <a:bodyPr>
            <a:spAutoFit/>
          </a:bodyPr>
          <a:lstStyle/>
          <a:p>
            <a:pPr defTabSz="914400">
              <a:spcBef>
                <a:spcPct val="50000"/>
              </a:spcBef>
            </a:pPr>
            <a:r>
              <a:rPr lang="zh-CN" altLang="en-US" sz="2800" b="1">
                <a:solidFill>
                  <a:srgbClr val="FF0000"/>
                </a:solidFill>
                <a:latin typeface="微软雅黑" pitchFamily="34" charset="-122"/>
                <a:ea typeface="微软雅黑" pitchFamily="34" charset="-122"/>
              </a:rPr>
              <a:t>光电发射</a:t>
            </a:r>
          </a:p>
        </p:txBody>
      </p:sp>
      <p:sp>
        <p:nvSpPr>
          <p:cNvPr id="234513" name="Rectangle 17"/>
          <p:cNvSpPr>
            <a:spLocks noChangeArrowheads="1"/>
          </p:cNvSpPr>
          <p:nvPr/>
        </p:nvSpPr>
        <p:spPr bwMode="auto">
          <a:xfrm>
            <a:off x="7814310" y="6690678"/>
            <a:ext cx="1612900" cy="519112"/>
          </a:xfrm>
          <a:prstGeom prst="rect">
            <a:avLst/>
          </a:prstGeom>
          <a:noFill/>
          <a:ln w="9525">
            <a:noFill/>
            <a:miter lim="800000"/>
            <a:headEnd/>
            <a:tailEnd/>
          </a:ln>
        </p:spPr>
        <p:txBody>
          <a:bodyPr wrap="none" anchor="ctr">
            <a:spAutoFit/>
          </a:bodyPr>
          <a:lstStyle/>
          <a:p>
            <a:pPr defTabSz="914400"/>
            <a:r>
              <a:rPr lang="zh-CN" altLang="en-US" sz="2800" b="1" dirty="0">
                <a:solidFill>
                  <a:srgbClr val="FF00FF"/>
                </a:solidFill>
                <a:latin typeface="微软雅黑" pitchFamily="34" charset="-122"/>
                <a:ea typeface="微软雅黑" pitchFamily="34" charset="-122"/>
              </a:rPr>
              <a:t>杂质吸收</a:t>
            </a:r>
          </a:p>
        </p:txBody>
      </p:sp>
      <p:sp>
        <p:nvSpPr>
          <p:cNvPr id="234514" name="Rectangle 18"/>
          <p:cNvSpPr>
            <a:spLocks noChangeArrowheads="1"/>
          </p:cNvSpPr>
          <p:nvPr/>
        </p:nvSpPr>
        <p:spPr bwMode="auto">
          <a:xfrm>
            <a:off x="6014085" y="6690678"/>
            <a:ext cx="1612900" cy="519112"/>
          </a:xfrm>
          <a:prstGeom prst="rect">
            <a:avLst/>
          </a:prstGeom>
          <a:noFill/>
          <a:ln w="9525">
            <a:noFill/>
            <a:miter lim="800000"/>
            <a:headEnd/>
            <a:tailEnd/>
          </a:ln>
        </p:spPr>
        <p:txBody>
          <a:bodyPr wrap="none" anchor="ctr">
            <a:spAutoFit/>
          </a:bodyPr>
          <a:lstStyle/>
          <a:p>
            <a:pPr defTabSz="914400"/>
            <a:r>
              <a:rPr lang="zh-CN" altLang="en-US" sz="2800" b="1">
                <a:latin typeface="微软雅黑" pitchFamily="34" charset="-122"/>
                <a:ea typeface="微软雅黑" pitchFamily="34" charset="-122"/>
              </a:rPr>
              <a:t>本征吸收</a:t>
            </a:r>
          </a:p>
        </p:txBody>
      </p:sp>
      <p:sp>
        <p:nvSpPr>
          <p:cNvPr id="234515" name="Line 19"/>
          <p:cNvSpPr>
            <a:spLocks noChangeShapeType="1"/>
          </p:cNvSpPr>
          <p:nvPr/>
        </p:nvSpPr>
        <p:spPr bwMode="auto">
          <a:xfrm>
            <a:off x="6590348" y="5898515"/>
            <a:ext cx="2592387" cy="0"/>
          </a:xfrm>
          <a:prstGeom prst="line">
            <a:avLst/>
          </a:prstGeom>
          <a:noFill/>
          <a:ln w="38100">
            <a:solidFill>
              <a:srgbClr val="0000FF"/>
            </a:solidFill>
            <a:round/>
            <a:headEnd/>
            <a:tailEnd/>
          </a:ln>
        </p:spPr>
        <p:txBody>
          <a:bodyPr/>
          <a:lstStyle/>
          <a:p>
            <a:endParaRPr lang="zh-CN" altLang="en-US" b="1">
              <a:latin typeface="微软雅黑" pitchFamily="34" charset="-122"/>
              <a:ea typeface="微软雅黑" pitchFamily="34" charset="-122"/>
            </a:endParaRPr>
          </a:p>
        </p:txBody>
      </p:sp>
      <p:sp>
        <p:nvSpPr>
          <p:cNvPr id="234516" name="Line 20"/>
          <p:cNvSpPr>
            <a:spLocks noChangeShapeType="1"/>
          </p:cNvSpPr>
          <p:nvPr/>
        </p:nvSpPr>
        <p:spPr bwMode="auto">
          <a:xfrm>
            <a:off x="9182735" y="5898515"/>
            <a:ext cx="0" cy="792163"/>
          </a:xfrm>
          <a:prstGeom prst="line">
            <a:avLst/>
          </a:prstGeom>
          <a:noFill/>
          <a:ln w="38100">
            <a:solidFill>
              <a:srgbClr val="0000FF"/>
            </a:solidFill>
            <a:round/>
            <a:headEnd/>
            <a:tailEnd/>
          </a:ln>
        </p:spPr>
        <p:txBody>
          <a:bodyPr/>
          <a:lstStyle/>
          <a:p>
            <a:endParaRPr lang="zh-CN" altLang="en-US" b="1">
              <a:latin typeface="微软雅黑" pitchFamily="34" charset="-122"/>
              <a:ea typeface="微软雅黑" pitchFamily="34" charset="-122"/>
            </a:endParaRPr>
          </a:p>
        </p:txBody>
      </p:sp>
      <p:sp>
        <p:nvSpPr>
          <p:cNvPr id="234517" name="Line 21"/>
          <p:cNvSpPr>
            <a:spLocks noChangeShapeType="1"/>
          </p:cNvSpPr>
          <p:nvPr/>
        </p:nvSpPr>
        <p:spPr bwMode="auto">
          <a:xfrm>
            <a:off x="4645660" y="6114415"/>
            <a:ext cx="2736850" cy="0"/>
          </a:xfrm>
          <a:prstGeom prst="line">
            <a:avLst/>
          </a:prstGeom>
          <a:noFill/>
          <a:ln w="38100">
            <a:solidFill>
              <a:srgbClr val="00FF00"/>
            </a:solidFill>
            <a:round/>
            <a:headEnd/>
            <a:tailEnd/>
          </a:ln>
        </p:spPr>
        <p:txBody>
          <a:bodyPr/>
          <a:lstStyle/>
          <a:p>
            <a:endParaRPr lang="zh-CN" altLang="en-US" b="1">
              <a:latin typeface="微软雅黑" pitchFamily="34" charset="-122"/>
              <a:ea typeface="微软雅黑" pitchFamily="34" charset="-122"/>
            </a:endParaRPr>
          </a:p>
        </p:txBody>
      </p:sp>
      <p:sp>
        <p:nvSpPr>
          <p:cNvPr id="234518" name="Line 22"/>
          <p:cNvSpPr>
            <a:spLocks noChangeShapeType="1"/>
          </p:cNvSpPr>
          <p:nvPr/>
        </p:nvSpPr>
        <p:spPr bwMode="auto">
          <a:xfrm>
            <a:off x="5725160" y="6401753"/>
            <a:ext cx="0" cy="288925"/>
          </a:xfrm>
          <a:prstGeom prst="line">
            <a:avLst/>
          </a:prstGeom>
          <a:noFill/>
          <a:ln w="38100">
            <a:solidFill>
              <a:srgbClr val="FF3300"/>
            </a:solidFill>
            <a:round/>
            <a:headEnd/>
            <a:tailEnd/>
          </a:ln>
        </p:spPr>
        <p:txBody>
          <a:bodyPr/>
          <a:lstStyle/>
          <a:p>
            <a:endParaRPr lang="zh-CN" altLang="en-US" b="1">
              <a:latin typeface="微软雅黑" pitchFamily="34" charset="-122"/>
              <a:ea typeface="微软雅黑" pitchFamily="34" charset="-122"/>
            </a:endParaRPr>
          </a:p>
        </p:txBody>
      </p:sp>
      <p:sp>
        <p:nvSpPr>
          <p:cNvPr id="234519" name="Line 23"/>
          <p:cNvSpPr>
            <a:spLocks noChangeShapeType="1"/>
          </p:cNvSpPr>
          <p:nvPr/>
        </p:nvSpPr>
        <p:spPr bwMode="auto">
          <a:xfrm>
            <a:off x="3564573" y="6401753"/>
            <a:ext cx="2160587" cy="0"/>
          </a:xfrm>
          <a:prstGeom prst="line">
            <a:avLst/>
          </a:prstGeom>
          <a:noFill/>
          <a:ln w="38100">
            <a:solidFill>
              <a:srgbClr val="FF3300"/>
            </a:solidFill>
            <a:round/>
            <a:headEnd/>
            <a:tailEnd/>
          </a:ln>
        </p:spPr>
        <p:txBody>
          <a:bodyPr/>
          <a:lstStyle/>
          <a:p>
            <a:endParaRPr lang="zh-CN" altLang="en-US" b="1">
              <a:latin typeface="微软雅黑" pitchFamily="34" charset="-122"/>
              <a:ea typeface="微软雅黑" pitchFamily="34" charset="-122"/>
            </a:endParaRPr>
          </a:p>
        </p:txBody>
      </p:sp>
      <p:sp>
        <p:nvSpPr>
          <p:cNvPr id="234520" name="Line 24"/>
          <p:cNvSpPr>
            <a:spLocks noChangeShapeType="1"/>
          </p:cNvSpPr>
          <p:nvPr/>
        </p:nvSpPr>
        <p:spPr bwMode="auto">
          <a:xfrm>
            <a:off x="7382510" y="6114415"/>
            <a:ext cx="0" cy="576263"/>
          </a:xfrm>
          <a:prstGeom prst="line">
            <a:avLst/>
          </a:prstGeom>
          <a:noFill/>
          <a:ln w="38100">
            <a:solidFill>
              <a:srgbClr val="00FF00"/>
            </a:solidFill>
            <a:round/>
            <a:headEnd/>
            <a:tailEnd/>
          </a:ln>
        </p:spPr>
        <p:txBody>
          <a:bodyPr/>
          <a:lstStyle/>
          <a:p>
            <a:endParaRPr lang="zh-CN" altLang="en-US" b="1">
              <a:latin typeface="微软雅黑" pitchFamily="34" charset="-122"/>
              <a:ea typeface="微软雅黑" pitchFamily="34" charset="-122"/>
            </a:endParaRPr>
          </a:p>
        </p:txBody>
      </p:sp>
      <p:sp>
        <p:nvSpPr>
          <p:cNvPr id="29" name="文本框 60">
            <a:extLst>
              <a:ext uri="{FF2B5EF4-FFF2-40B4-BE49-F238E27FC236}">
                <a16:creationId xmlns="" xmlns:a16="http://schemas.microsoft.com/office/drawing/2014/main" id="{65D4FE61-33CA-41D3-9A37-3FBDC7976D02}"/>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30" name="矩形 29">
            <a:extLst>
              <a:ext uri="{FF2B5EF4-FFF2-40B4-BE49-F238E27FC236}">
                <a16:creationId xmlns="" xmlns:a16="http://schemas.microsoft.com/office/drawing/2014/main" id="{410B1D00-DF3D-4ABD-B97C-B6B1C55528C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3" name="矩形 32">
            <a:extLst>
              <a:ext uri="{FF2B5EF4-FFF2-40B4-BE49-F238E27FC236}">
                <a16:creationId xmlns="" xmlns:a16="http://schemas.microsoft.com/office/drawing/2014/main" id="{E78B4AC2-CA47-41F5-8265-3933220CAFF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 xmlns:a16="http://schemas.microsoft.com/office/drawing/2014/main" id="{A1456059-66B4-4FBD-8B7C-2B5B8EBFB08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5" name="直接连接符 58">
            <a:extLst>
              <a:ext uri="{FF2B5EF4-FFF2-40B4-BE49-F238E27FC236}">
                <a16:creationId xmlns="" xmlns:a16="http://schemas.microsoft.com/office/drawing/2014/main" id="{2ECDB657-8425-4F8D-AD29-74F58E1FCDA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 xmlns:a16="http://schemas.microsoft.com/office/drawing/2014/main" id="{4334AF5D-AB4F-4770-ABD3-ED5BE3808EB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7" name="矩形 36">
            <a:extLst>
              <a:ext uri="{FF2B5EF4-FFF2-40B4-BE49-F238E27FC236}">
                <a16:creationId xmlns="" xmlns:a16="http://schemas.microsoft.com/office/drawing/2014/main" id="{E7154CC0-3950-42E3-B76F-D0CCBB83DCF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82249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5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450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450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45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45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45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45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45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45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45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45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45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45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45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45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4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3" grpId="0"/>
      <p:bldP spid="234505" grpId="0"/>
      <p:bldP spid="234507" grpId="0" animBg="1"/>
      <p:bldP spid="234510" grpId="0" animBg="1"/>
      <p:bldP spid="234511" grpId="0"/>
      <p:bldP spid="234512" grpId="0"/>
      <p:bldP spid="234513" grpId="0"/>
      <p:bldP spid="234514" grpId="0"/>
      <p:bldP spid="234515" grpId="0" animBg="1"/>
      <p:bldP spid="234516" grpId="0" animBg="1"/>
      <p:bldP spid="234517" grpId="0" animBg="1"/>
      <p:bldP spid="234518" grpId="0" animBg="1"/>
      <p:bldP spid="234519" grpId="0" animBg="1"/>
      <p:bldP spid="23452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6" name="TextBox 3"/>
          <p:cNvSpPr txBox="1">
            <a:spLocks noChangeArrowheads="1"/>
          </p:cNvSpPr>
          <p:nvPr/>
        </p:nvSpPr>
        <p:spPr bwMode="auto">
          <a:xfrm>
            <a:off x="4072255" y="1547495"/>
            <a:ext cx="4243070" cy="707886"/>
          </a:xfrm>
          <a:prstGeom prst="rect">
            <a:avLst/>
          </a:prstGeom>
          <a:gradFill rotWithShape="0">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2700000" scaled="1"/>
          </a:gradFill>
          <a:ln w="9525">
            <a:noFill/>
            <a:miter lim="800000"/>
            <a:headEnd/>
            <a:tailEnd/>
          </a:ln>
        </p:spPr>
        <p:txBody>
          <a:bodyPr wrap="square">
            <a:spAutoFit/>
          </a:bodyPr>
          <a:lstStyle/>
          <a:p>
            <a:pPr defTabSz="914400"/>
            <a:r>
              <a:rPr lang="en-US" altLang="zh-CN" sz="4000" b="1" dirty="0">
                <a:solidFill>
                  <a:srgbClr val="0000CC"/>
                </a:solidFill>
                <a:latin typeface="微软雅黑" pitchFamily="34" charset="-122"/>
                <a:ea typeface="微软雅黑" pitchFamily="34" charset="-122"/>
                <a:cs typeface="Times New Roman" pitchFamily="18" charset="0"/>
              </a:rPr>
              <a:t>2.</a:t>
            </a:r>
            <a:r>
              <a:rPr lang="zh-CN" altLang="en-US" sz="4000" b="1" dirty="0">
                <a:solidFill>
                  <a:srgbClr val="0000CC"/>
                </a:solidFill>
                <a:latin typeface="微软雅黑" pitchFamily="34" charset="-122"/>
                <a:ea typeface="微软雅黑" pitchFamily="34" charset="-122"/>
                <a:cs typeface="Times New Roman" pitchFamily="18" charset="0"/>
              </a:rPr>
              <a:t>斯托列托夫定律</a:t>
            </a:r>
          </a:p>
        </p:txBody>
      </p:sp>
      <p:sp>
        <p:nvSpPr>
          <p:cNvPr id="53257" name="TextBox 4"/>
          <p:cNvSpPr txBox="1">
            <a:spLocks noChangeArrowheads="1"/>
          </p:cNvSpPr>
          <p:nvPr/>
        </p:nvSpPr>
        <p:spPr bwMode="auto">
          <a:xfrm>
            <a:off x="878204" y="2719705"/>
            <a:ext cx="12045315" cy="1569660"/>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微软雅黑" pitchFamily="34" charset="-122"/>
                <a:ea typeface="微软雅黑" pitchFamily="34" charset="-122"/>
              </a:rPr>
              <a:t>   当入射光的频率不变时，饱和光电流（即单位时间内发射的光电子数目）与入射光的强度成正比。</a:t>
            </a:r>
          </a:p>
        </p:txBody>
      </p:sp>
      <p:graphicFrame>
        <p:nvGraphicFramePr>
          <p:cNvPr id="53259" name="Object 1"/>
          <p:cNvGraphicFramePr>
            <a:graphicFrameLocks noChangeAspect="1"/>
          </p:cNvGraphicFramePr>
          <p:nvPr/>
        </p:nvGraphicFramePr>
        <p:xfrm>
          <a:off x="4636135" y="4648834"/>
          <a:ext cx="4327926" cy="1294765"/>
        </p:xfrm>
        <a:graphic>
          <a:graphicData uri="http://schemas.openxmlformats.org/presentationml/2006/ole">
            <mc:AlternateContent xmlns:mc="http://schemas.openxmlformats.org/markup-compatibility/2006">
              <mc:Choice xmlns:v="urn:schemas-microsoft-com:vml" Requires="v">
                <p:oleObj spid="_x0000_s55349" name="公式" r:id="rId3" imgW="1307532" imgH="393529" progId="Equation.3">
                  <p:embed/>
                </p:oleObj>
              </mc:Choice>
              <mc:Fallback>
                <p:oleObj name="公式" r:id="rId3" imgW="1307532"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6135" y="4648834"/>
                        <a:ext cx="4327926" cy="1294765"/>
                      </a:xfrm>
                      <a:prstGeom prst="rect">
                        <a:avLst/>
                      </a:prstGeom>
                      <a:solidFill>
                        <a:srgbClr val="FFFF00"/>
                      </a:solidFill>
                    </p:spPr>
                  </p:pic>
                </p:oleObj>
              </mc:Fallback>
            </mc:AlternateContent>
          </a:graphicData>
        </a:graphic>
      </p:graphicFrame>
      <p:sp>
        <p:nvSpPr>
          <p:cNvPr id="11" name="文本框 60">
            <a:extLst>
              <a:ext uri="{FF2B5EF4-FFF2-40B4-BE49-F238E27FC236}">
                <a16:creationId xmlns="" xmlns:a16="http://schemas.microsoft.com/office/drawing/2014/main" id="{8B9A9157-34AE-4F63-9B8F-3CC9CE0DCEE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2" name="矩形 11">
            <a:extLst>
              <a:ext uri="{FF2B5EF4-FFF2-40B4-BE49-F238E27FC236}">
                <a16:creationId xmlns="" xmlns:a16="http://schemas.microsoft.com/office/drawing/2014/main" id="{70B550A1-8430-4096-BB1F-806E55D9335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 xmlns:a16="http://schemas.microsoft.com/office/drawing/2014/main" id="{6D543E8F-362D-4EDC-967E-EBE579C9F74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 xmlns:a16="http://schemas.microsoft.com/office/drawing/2014/main" id="{06CC06F9-967D-4414-A54C-A3A08F039405}"/>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 xmlns:a16="http://schemas.microsoft.com/office/drawing/2014/main" id="{EDECCB0E-528E-4CD0-91B9-4FB9D1EC86E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 xmlns:a16="http://schemas.microsoft.com/office/drawing/2014/main" id="{423AEB02-CF41-486C-9DF1-AB2D134F3D85}"/>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 xmlns:a16="http://schemas.microsoft.com/office/drawing/2014/main" id="{B17D1A59-58A9-43CD-832F-F96DD3AC57A4}"/>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968747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3625690" y="1398041"/>
            <a:ext cx="5047776" cy="646331"/>
          </a:xfrm>
          <a:prstGeom prst="rect">
            <a:avLst/>
          </a:prstGeom>
          <a:gradFill rotWithShape="0">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2700000" scaled="1"/>
          </a:gradFill>
          <a:ln w="9525">
            <a:noFill/>
            <a:miter lim="800000"/>
            <a:headEnd/>
            <a:tailEnd/>
          </a:ln>
        </p:spPr>
        <p:txBody>
          <a:bodyPr wrap="square">
            <a:spAutoFit/>
          </a:bodyPr>
          <a:lstStyle/>
          <a:p>
            <a:pPr algn="ctr" defTabSz="914400"/>
            <a:r>
              <a:rPr lang="en-US" altLang="zh-CN" sz="3600" b="1" dirty="0">
                <a:solidFill>
                  <a:srgbClr val="0000CC"/>
                </a:solidFill>
                <a:latin typeface="Times New Roman" pitchFamily="18" charset="0"/>
                <a:ea typeface="微软雅黑" pitchFamily="34" charset="-122"/>
                <a:cs typeface="Times New Roman" pitchFamily="18" charset="0"/>
              </a:rPr>
              <a:t>3.</a:t>
            </a:r>
            <a:r>
              <a:rPr lang="zh-CN" altLang="en-US" sz="3600" b="1" dirty="0">
                <a:solidFill>
                  <a:srgbClr val="0000CC"/>
                </a:solidFill>
                <a:latin typeface="Times New Roman" pitchFamily="18" charset="0"/>
                <a:ea typeface="微软雅黑" pitchFamily="34" charset="-122"/>
                <a:cs typeface="Times New Roman" pitchFamily="18" charset="0"/>
              </a:rPr>
              <a:t>半导体光电发射过程</a:t>
            </a:r>
          </a:p>
        </p:txBody>
      </p:sp>
      <p:sp>
        <p:nvSpPr>
          <p:cNvPr id="3" name="TextBox 2"/>
          <p:cNvSpPr txBox="1">
            <a:spLocks noChangeArrowheads="1"/>
          </p:cNvSpPr>
          <p:nvPr/>
        </p:nvSpPr>
        <p:spPr bwMode="auto">
          <a:xfrm>
            <a:off x="909039" y="2348072"/>
            <a:ext cx="12021185" cy="1954959"/>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       </a:t>
            </a:r>
            <a:r>
              <a:rPr lang="zh-CN" altLang="en-US" sz="2800" b="1" dirty="0">
                <a:solidFill>
                  <a:srgbClr val="0000CC"/>
                </a:solidFill>
                <a:latin typeface="Times New Roman" pitchFamily="18" charset="0"/>
                <a:ea typeface="微软雅黑" pitchFamily="34" charset="-122"/>
                <a:cs typeface="Times New Roman" pitchFamily="18" charset="0"/>
              </a:rPr>
              <a:t>半导体光电发射的量子效率</a:t>
            </a:r>
            <a:r>
              <a:rPr lang="zh-CN" altLang="en-US" sz="2800" b="1" dirty="0">
                <a:latin typeface="Times New Roman" pitchFamily="18" charset="0"/>
                <a:ea typeface="微软雅黑" pitchFamily="34" charset="-122"/>
                <a:cs typeface="Times New Roman" pitchFamily="18" charset="0"/>
              </a:rPr>
              <a:t>远</a:t>
            </a:r>
            <a:r>
              <a:rPr lang="zh-CN" altLang="en-US" sz="2800" b="1" dirty="0">
                <a:solidFill>
                  <a:srgbClr val="FF0000"/>
                </a:solidFill>
                <a:latin typeface="Times New Roman" pitchFamily="18" charset="0"/>
                <a:ea typeface="微软雅黑" pitchFamily="34" charset="-122"/>
                <a:cs typeface="Times New Roman" pitchFamily="18" charset="0"/>
              </a:rPr>
              <a:t>高于</a:t>
            </a:r>
            <a:r>
              <a:rPr lang="zh-CN" altLang="en-US" sz="2800" b="1" dirty="0">
                <a:solidFill>
                  <a:srgbClr val="00B0F0"/>
                </a:solidFill>
                <a:latin typeface="Times New Roman" pitchFamily="18" charset="0"/>
                <a:ea typeface="微软雅黑" pitchFamily="34" charset="-122"/>
                <a:cs typeface="Times New Roman" pitchFamily="18" charset="0"/>
              </a:rPr>
              <a:t>金属光电发射的量子效率</a:t>
            </a:r>
            <a:r>
              <a:rPr lang="zh-CN" altLang="en-US" sz="2800" b="1" dirty="0">
                <a:latin typeface="Times New Roman" pitchFamily="18" charset="0"/>
                <a:ea typeface="微软雅黑" pitchFamily="34" charset="-122"/>
                <a:cs typeface="Times New Roman" pitchFamily="18" charset="0"/>
              </a:rPr>
              <a:t>，而且探测响应宽，尤其在红外探测方面有不可替代的地位，在红外探测、夜视、地物勘探等方面具有越来越重要的作用。</a:t>
            </a:r>
          </a:p>
        </p:txBody>
      </p:sp>
      <p:sp>
        <p:nvSpPr>
          <p:cNvPr id="4" name="TextBox 3"/>
          <p:cNvSpPr txBox="1">
            <a:spLocks noChangeArrowheads="1"/>
          </p:cNvSpPr>
          <p:nvPr/>
        </p:nvSpPr>
        <p:spPr bwMode="auto">
          <a:xfrm>
            <a:off x="1000125" y="4606731"/>
            <a:ext cx="10163176" cy="2308324"/>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       半导体光电发射的物理过程：</a:t>
            </a:r>
            <a:endParaRPr lang="en-US" altLang="zh-CN" sz="2400" b="1" dirty="0">
              <a:latin typeface="Times New Roman" pitchFamily="18" charset="0"/>
              <a:ea typeface="微软雅黑" pitchFamily="34" charset="-122"/>
              <a:cs typeface="Times New Roman" pitchFamily="18" charset="0"/>
            </a:endParaRPr>
          </a:p>
          <a:p>
            <a:pPr defTabSz="914400">
              <a:lnSpc>
                <a:spcPct val="150000"/>
              </a:lnSpc>
            </a:pPr>
            <a:r>
              <a:rPr lang="en-US" altLang="zh-CN" sz="2400" b="1" dirty="0">
                <a:latin typeface="Times New Roman" pitchFamily="18" charset="0"/>
                <a:ea typeface="微软雅黑" pitchFamily="34" charset="-122"/>
                <a:cs typeface="Times New Roman" pitchFamily="18" charset="0"/>
              </a:rPr>
              <a:t>(1)</a:t>
            </a:r>
            <a:r>
              <a:rPr lang="zh-CN" altLang="en-US" sz="2400" b="1" dirty="0">
                <a:latin typeface="Times New Roman" pitchFamily="18" charset="0"/>
                <a:ea typeface="微软雅黑" pitchFamily="34" charset="-122"/>
                <a:cs typeface="Times New Roman" pitchFamily="18" charset="0"/>
              </a:rPr>
              <a:t>半导体中的电子吸收入射光子的能量而被激发到高能态（导带）上。</a:t>
            </a:r>
            <a:endParaRPr lang="en-US" altLang="zh-CN" sz="2400" b="1" dirty="0">
              <a:latin typeface="Times New Roman" pitchFamily="18" charset="0"/>
              <a:ea typeface="微软雅黑" pitchFamily="34" charset="-122"/>
              <a:cs typeface="Times New Roman" pitchFamily="18" charset="0"/>
            </a:endParaRPr>
          </a:p>
          <a:p>
            <a:pPr defTabSz="914400">
              <a:lnSpc>
                <a:spcPct val="150000"/>
              </a:lnSpc>
            </a:pPr>
            <a:r>
              <a:rPr lang="en-US" altLang="zh-CN" sz="2400" b="1" dirty="0">
                <a:latin typeface="Times New Roman" pitchFamily="18" charset="0"/>
                <a:ea typeface="微软雅黑" pitchFamily="34" charset="-122"/>
                <a:cs typeface="Times New Roman" pitchFamily="18" charset="0"/>
              </a:rPr>
              <a:t>(2)</a:t>
            </a:r>
            <a:r>
              <a:rPr lang="zh-CN" altLang="en-US" sz="2400" b="1" dirty="0">
                <a:latin typeface="Times New Roman" pitchFamily="18" charset="0"/>
                <a:ea typeface="微软雅黑" pitchFamily="34" charset="-122"/>
                <a:cs typeface="Times New Roman" pitchFamily="18" charset="0"/>
              </a:rPr>
              <a:t>这些被激电子在向表面运动的过程中受到散射而损失掉一部分能量。</a:t>
            </a:r>
            <a:endParaRPr lang="en-US" altLang="zh-CN" sz="2400" b="1" dirty="0">
              <a:latin typeface="Times New Roman" pitchFamily="18" charset="0"/>
              <a:ea typeface="微软雅黑" pitchFamily="34" charset="-122"/>
              <a:cs typeface="Times New Roman" pitchFamily="18" charset="0"/>
            </a:endParaRPr>
          </a:p>
          <a:p>
            <a:pPr defTabSz="914400">
              <a:lnSpc>
                <a:spcPct val="150000"/>
              </a:lnSpc>
            </a:pPr>
            <a:r>
              <a:rPr lang="en-US" altLang="zh-CN" sz="2400" b="1" dirty="0">
                <a:latin typeface="Times New Roman" pitchFamily="18" charset="0"/>
                <a:ea typeface="微软雅黑" pitchFamily="34" charset="-122"/>
                <a:cs typeface="Times New Roman" pitchFamily="18" charset="0"/>
              </a:rPr>
              <a:t>(3)</a:t>
            </a:r>
            <a:r>
              <a:rPr lang="zh-CN" altLang="en-US" sz="2400" b="1" dirty="0">
                <a:latin typeface="Times New Roman" pitchFamily="18" charset="0"/>
                <a:ea typeface="微软雅黑" pitchFamily="34" charset="-122"/>
                <a:cs typeface="Times New Roman" pitchFamily="18" charset="0"/>
              </a:rPr>
              <a:t>到达表面的电子克服表面电子势而逸出。</a:t>
            </a:r>
          </a:p>
        </p:txBody>
      </p:sp>
      <p:sp>
        <p:nvSpPr>
          <p:cNvPr id="10" name="文本框 60">
            <a:extLst>
              <a:ext uri="{FF2B5EF4-FFF2-40B4-BE49-F238E27FC236}">
                <a16:creationId xmlns="" xmlns:a16="http://schemas.microsoft.com/office/drawing/2014/main" id="{0339AC54-542D-41F6-BAD9-9A2C335BAE95}"/>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1" name="矩形 10">
            <a:extLst>
              <a:ext uri="{FF2B5EF4-FFF2-40B4-BE49-F238E27FC236}">
                <a16:creationId xmlns="" xmlns:a16="http://schemas.microsoft.com/office/drawing/2014/main" id="{83CE0EBB-8A60-46F9-B0EA-69B2AA67CA4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 xmlns:a16="http://schemas.microsoft.com/office/drawing/2014/main" id="{A7A528C2-8543-44C7-9736-A799C7E5A28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 xmlns:a16="http://schemas.microsoft.com/office/drawing/2014/main" id="{FB17AD27-8DB2-46C2-8733-C2647D92ADCF}"/>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6" name="直接连接符 58">
            <a:extLst>
              <a:ext uri="{FF2B5EF4-FFF2-40B4-BE49-F238E27FC236}">
                <a16:creationId xmlns="" xmlns:a16="http://schemas.microsoft.com/office/drawing/2014/main" id="{D0CD6070-7047-4156-A86E-2998DCB9DA8D}"/>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 xmlns:a16="http://schemas.microsoft.com/office/drawing/2014/main" id="{E06FAD72-5EB0-41F3-99EB-7A278566402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 xmlns:a16="http://schemas.microsoft.com/office/drawing/2014/main" id="{F8824975-6CC8-430D-B00C-8230000EFD3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7964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p:cNvSpPr txBox="1">
            <a:spLocks noChangeArrowheads="1"/>
          </p:cNvSpPr>
          <p:nvPr/>
        </p:nvSpPr>
        <p:spPr bwMode="auto">
          <a:xfrm>
            <a:off x="5385433" y="1084657"/>
            <a:ext cx="2859405" cy="646331"/>
          </a:xfrm>
          <a:prstGeom prst="rect">
            <a:avLst/>
          </a:prstGeom>
          <a:noFill/>
          <a:ln w="9525">
            <a:noFill/>
            <a:miter lim="800000"/>
            <a:headEnd/>
            <a:tailEnd/>
          </a:ln>
        </p:spPr>
        <p:txBody>
          <a:bodyPr wrap="square">
            <a:spAutoFit/>
          </a:bodyPr>
          <a:lstStyle/>
          <a:p>
            <a:pPr defTabSz="914400"/>
            <a:r>
              <a:rPr lang="zh-CN" altLang="en-US" sz="3600" b="1" dirty="0">
                <a:latin typeface="Times New Roman" pitchFamily="18" charset="0"/>
                <a:ea typeface="微软雅黑" pitchFamily="34" charset="-122"/>
                <a:cs typeface="Times New Roman" pitchFamily="18" charset="0"/>
              </a:rPr>
              <a:t>基本概念</a:t>
            </a:r>
          </a:p>
        </p:txBody>
      </p:sp>
      <p:sp>
        <p:nvSpPr>
          <p:cNvPr id="236554" name="Rectangle 10"/>
          <p:cNvSpPr>
            <a:spLocks noChangeArrowheads="1"/>
          </p:cNvSpPr>
          <p:nvPr/>
        </p:nvSpPr>
        <p:spPr bwMode="auto">
          <a:xfrm>
            <a:off x="1081088" y="1818079"/>
            <a:ext cx="11515725" cy="1477328"/>
          </a:xfrm>
          <a:prstGeom prst="rect">
            <a:avLst/>
          </a:prstGeom>
          <a:solidFill>
            <a:srgbClr val="FFFF00"/>
          </a:solidFill>
          <a:ln w="9525" algn="ctr">
            <a:noFill/>
            <a:miter lim="800000"/>
            <a:headEnd/>
            <a:tailEnd/>
          </a:ln>
        </p:spPr>
        <p:txBody>
          <a:bodyPr wrap="square">
            <a:spAutoFit/>
          </a:bodyPr>
          <a:lstStyle/>
          <a:p>
            <a:pPr defTabSz="914400">
              <a:lnSpc>
                <a:spcPct val="150000"/>
              </a:lnSpc>
            </a:pPr>
            <a:r>
              <a:rPr lang="zh-CN" altLang="en-US" sz="3200" b="1" dirty="0">
                <a:solidFill>
                  <a:srgbClr val="FF0000"/>
                </a:solidFill>
                <a:latin typeface="Times New Roman" pitchFamily="18" charset="0"/>
                <a:ea typeface="微软雅黑" pitchFamily="34" charset="-122"/>
                <a:cs typeface="Times New Roman" pitchFamily="18" charset="0"/>
              </a:rPr>
              <a:t>真空能级</a:t>
            </a:r>
            <a:r>
              <a:rPr lang="en-US" altLang="zh-CN" sz="3200" b="1" dirty="0">
                <a:solidFill>
                  <a:srgbClr val="FF0000"/>
                </a:solidFill>
                <a:latin typeface="Times New Roman" pitchFamily="18" charset="0"/>
                <a:ea typeface="微软雅黑" pitchFamily="34" charset="-122"/>
                <a:cs typeface="Times New Roman" pitchFamily="18" charset="0"/>
              </a:rPr>
              <a:t>E</a:t>
            </a:r>
            <a:r>
              <a:rPr lang="en-US" altLang="zh-CN" sz="3200" b="1" baseline="-25000" dirty="0">
                <a:solidFill>
                  <a:srgbClr val="FF0000"/>
                </a:solidFill>
                <a:latin typeface="Times New Roman" pitchFamily="18" charset="0"/>
                <a:ea typeface="微软雅黑" pitchFamily="34" charset="-122"/>
                <a:cs typeface="Times New Roman" pitchFamily="18" charset="0"/>
              </a:rPr>
              <a:t>0</a:t>
            </a:r>
          </a:p>
          <a:p>
            <a:pPr defTabSz="914400">
              <a:lnSpc>
                <a:spcPct val="150000"/>
              </a:lnSpc>
            </a:pPr>
            <a:r>
              <a:rPr lang="en-US" altLang="zh-CN" sz="2400" b="1" baseline="-25000" dirty="0">
                <a:solidFill>
                  <a:schemeClr val="bg1"/>
                </a:solidFill>
                <a:latin typeface="Times New Roman" pitchFamily="18" charset="0"/>
                <a:ea typeface="微软雅黑" pitchFamily="34" charset="-122"/>
                <a:cs typeface="Times New Roman" pitchFamily="18" charset="0"/>
              </a:rPr>
              <a:t>           </a:t>
            </a:r>
            <a:r>
              <a:rPr lang="zh-CN" altLang="en-US" sz="2800" b="1" dirty="0">
                <a:solidFill>
                  <a:srgbClr val="FF0000"/>
                </a:solidFill>
                <a:latin typeface="Times New Roman" pitchFamily="18" charset="0"/>
                <a:ea typeface="微软雅黑" pitchFamily="34" charset="-122"/>
                <a:cs typeface="Times New Roman" pitchFamily="18" charset="0"/>
              </a:rPr>
              <a:t>真空中</a:t>
            </a:r>
            <a:r>
              <a:rPr lang="zh-CN" altLang="en-US" sz="2800" b="1" dirty="0">
                <a:latin typeface="Times New Roman" pitchFamily="18" charset="0"/>
                <a:ea typeface="微软雅黑" pitchFamily="34" charset="-122"/>
                <a:cs typeface="Times New Roman" pitchFamily="18" charset="0"/>
              </a:rPr>
              <a:t>静止电子能量（半导体外自由电子最小能量）</a:t>
            </a:r>
          </a:p>
        </p:txBody>
      </p:sp>
      <p:sp>
        <p:nvSpPr>
          <p:cNvPr id="236555" name="Rectangle 11"/>
          <p:cNvSpPr>
            <a:spLocks noChangeArrowheads="1"/>
          </p:cNvSpPr>
          <p:nvPr/>
        </p:nvSpPr>
        <p:spPr bwMode="auto">
          <a:xfrm>
            <a:off x="1057274" y="3509963"/>
            <a:ext cx="11454765" cy="1477328"/>
          </a:xfrm>
          <a:prstGeom prst="rect">
            <a:avLst/>
          </a:prstGeom>
          <a:solidFill>
            <a:srgbClr val="FFFF00"/>
          </a:solidFill>
          <a:ln w="9525">
            <a:noFill/>
            <a:miter lim="800000"/>
            <a:headEnd/>
            <a:tailEnd/>
          </a:ln>
        </p:spPr>
        <p:txBody>
          <a:bodyPr wrap="square">
            <a:spAutoFit/>
          </a:bodyPr>
          <a:lstStyle/>
          <a:p>
            <a:pPr defTabSz="914400">
              <a:lnSpc>
                <a:spcPct val="150000"/>
              </a:lnSpc>
            </a:pPr>
            <a:r>
              <a:rPr lang="zh-CN" altLang="en-US" sz="3200" b="1" dirty="0">
                <a:solidFill>
                  <a:srgbClr val="FF0000"/>
                </a:solidFill>
                <a:latin typeface="Times New Roman" pitchFamily="18" charset="0"/>
                <a:ea typeface="微软雅黑" pitchFamily="34" charset="-122"/>
                <a:cs typeface="Times New Roman" pitchFamily="18" charset="0"/>
              </a:rPr>
              <a:t>电子亲和势</a:t>
            </a:r>
            <a:r>
              <a:rPr lang="en-US" altLang="zh-CN" sz="3200" b="1" dirty="0">
                <a:solidFill>
                  <a:srgbClr val="FF0000"/>
                </a:solidFill>
                <a:latin typeface="Times New Roman" pitchFamily="18" charset="0"/>
                <a:ea typeface="微软雅黑" pitchFamily="34" charset="-122"/>
                <a:cs typeface="Times New Roman" pitchFamily="18" charset="0"/>
              </a:rPr>
              <a:t>E</a:t>
            </a:r>
            <a:r>
              <a:rPr lang="en-US" altLang="zh-CN" sz="3200" b="1" baseline="-25000" dirty="0">
                <a:solidFill>
                  <a:srgbClr val="FF0000"/>
                </a:solidFill>
                <a:latin typeface="Times New Roman" pitchFamily="18" charset="0"/>
                <a:ea typeface="微软雅黑" pitchFamily="34" charset="-122"/>
                <a:cs typeface="Times New Roman" pitchFamily="18" charset="0"/>
              </a:rPr>
              <a:t>A</a:t>
            </a:r>
            <a:endParaRPr lang="en-US" altLang="zh-CN" sz="3200" b="1" dirty="0">
              <a:solidFill>
                <a:srgbClr val="FF0000"/>
              </a:solidFill>
              <a:latin typeface="Times New Roman" pitchFamily="18" charset="0"/>
              <a:ea typeface="微软雅黑" pitchFamily="34" charset="-122"/>
              <a:cs typeface="Times New Roman" pitchFamily="18" charset="0"/>
            </a:endParaRPr>
          </a:p>
          <a:p>
            <a:pPr defTabSz="914400">
              <a:lnSpc>
                <a:spcPct val="150000"/>
              </a:lnSpc>
            </a:pPr>
            <a:r>
              <a:rPr lang="en-US" altLang="zh-CN" sz="2400" b="1" dirty="0">
                <a:solidFill>
                  <a:schemeClr val="bg1"/>
                </a:solidFill>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真空能级与</a:t>
            </a:r>
            <a:r>
              <a:rPr lang="zh-CN" altLang="en-US" sz="2800" b="1" dirty="0">
                <a:solidFill>
                  <a:srgbClr val="FF0000"/>
                </a:solidFill>
                <a:latin typeface="Times New Roman" pitchFamily="18" charset="0"/>
                <a:ea typeface="微软雅黑" pitchFamily="34" charset="-122"/>
                <a:cs typeface="Times New Roman" pitchFamily="18" charset="0"/>
              </a:rPr>
              <a:t>导带底</a:t>
            </a:r>
            <a:r>
              <a:rPr lang="zh-CN" altLang="en-US" sz="2800" b="1" dirty="0">
                <a:latin typeface="Times New Roman" pitchFamily="18" charset="0"/>
                <a:ea typeface="微软雅黑" pitchFamily="34" charset="-122"/>
                <a:cs typeface="Times New Roman" pitchFamily="18" charset="0"/>
              </a:rPr>
              <a:t>能级之差称为电子亲和势   </a:t>
            </a:r>
          </a:p>
        </p:txBody>
      </p:sp>
      <p:sp>
        <p:nvSpPr>
          <p:cNvPr id="236557" name="Rectangle 13"/>
          <p:cNvSpPr>
            <a:spLocks noChangeArrowheads="1"/>
          </p:cNvSpPr>
          <p:nvPr/>
        </p:nvSpPr>
        <p:spPr bwMode="auto">
          <a:xfrm>
            <a:off x="7685405" y="5980113"/>
            <a:ext cx="5222876" cy="646331"/>
          </a:xfrm>
          <a:prstGeom prst="rect">
            <a:avLst/>
          </a:prstGeom>
          <a:noFill/>
          <a:ln w="9525">
            <a:solidFill>
              <a:schemeClr val="accent1"/>
            </a:solidFill>
            <a:miter lim="800000"/>
            <a:headEnd/>
            <a:tailEnd/>
          </a:ln>
        </p:spPr>
        <p:txBody>
          <a:bodyPr wrap="square">
            <a:spAutoFit/>
          </a:bodyPr>
          <a:lstStyle/>
          <a:p>
            <a:pPr defTabSz="914400"/>
            <a:r>
              <a:rPr lang="zh-CN" altLang="en-US" sz="3600" b="1" dirty="0">
                <a:solidFill>
                  <a:srgbClr val="FF0000"/>
                </a:solidFill>
                <a:latin typeface="Times New Roman" pitchFamily="18" charset="0"/>
                <a:ea typeface="微软雅黑" pitchFamily="34" charset="-122"/>
                <a:cs typeface="Times New Roman" pitchFamily="18" charset="0"/>
              </a:rPr>
              <a:t>电子亲和势</a:t>
            </a:r>
            <a:r>
              <a:rPr lang="zh-CN" altLang="en-US" sz="3600" b="1" dirty="0">
                <a:solidFill>
                  <a:srgbClr val="0000CC"/>
                </a:solidFill>
                <a:latin typeface="Times New Roman" pitchFamily="18" charset="0"/>
                <a:ea typeface="微软雅黑" pitchFamily="34" charset="-122"/>
                <a:cs typeface="Times New Roman" pitchFamily="18" charset="0"/>
              </a:rPr>
              <a:t>的物理意义？</a:t>
            </a:r>
          </a:p>
        </p:txBody>
      </p:sp>
      <p:pic>
        <p:nvPicPr>
          <p:cNvPr id="3" name="Picture 14" descr="1T22"/>
          <p:cNvPicPr>
            <a:picLocks noChangeAspect="1" noChangeArrowheads="1"/>
          </p:cNvPicPr>
          <p:nvPr/>
        </p:nvPicPr>
        <p:blipFill>
          <a:blip r:embed="rId2" cstate="print"/>
          <a:srcRect/>
          <a:stretch>
            <a:fillRect/>
          </a:stretch>
        </p:blipFill>
        <p:spPr bwMode="auto">
          <a:xfrm>
            <a:off x="3105785" y="4988243"/>
            <a:ext cx="3910013" cy="2112962"/>
          </a:xfrm>
          <a:prstGeom prst="rect">
            <a:avLst/>
          </a:prstGeom>
          <a:noFill/>
          <a:ln w="9525">
            <a:noFill/>
            <a:miter lim="800000"/>
            <a:headEnd/>
            <a:tailEnd/>
          </a:ln>
        </p:spPr>
      </p:pic>
      <p:sp>
        <p:nvSpPr>
          <p:cNvPr id="12" name="文本框 60">
            <a:extLst>
              <a:ext uri="{FF2B5EF4-FFF2-40B4-BE49-F238E27FC236}">
                <a16:creationId xmlns="" xmlns:a16="http://schemas.microsoft.com/office/drawing/2014/main" id="{74F8A9AB-1083-4746-9BA0-49E83FE4812B}"/>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3" name="矩形 12">
            <a:extLst>
              <a:ext uri="{FF2B5EF4-FFF2-40B4-BE49-F238E27FC236}">
                <a16:creationId xmlns="" xmlns:a16="http://schemas.microsoft.com/office/drawing/2014/main" id="{FB593BB4-3E3B-4EC6-B838-F8D566F819B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 xmlns:a16="http://schemas.microsoft.com/office/drawing/2014/main" id="{8104E104-75F6-4487-9CB7-5621551D864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 xmlns:a16="http://schemas.microsoft.com/office/drawing/2014/main" id="{383C2612-3C02-44F2-AD93-19358945A9B7}"/>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 xmlns:a16="http://schemas.microsoft.com/office/drawing/2014/main" id="{85F98078-DDCE-4943-9A1E-505410728A2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 xmlns:a16="http://schemas.microsoft.com/office/drawing/2014/main" id="{B62F0CF9-479F-4D0C-B50C-3E422B9FE43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 xmlns:a16="http://schemas.microsoft.com/office/drawing/2014/main" id="{9B378E6E-ACFF-4359-89BC-271E6886BD6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06225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236554"/>
                                        </p:tgtEl>
                                        <p:attrNameLst>
                                          <p:attrName>style.visibility</p:attrName>
                                        </p:attrNameLst>
                                      </p:cBhvr>
                                      <p:to>
                                        <p:strVal val="visible"/>
                                      </p:to>
                                    </p:set>
                                    <p:anim calcmode="lin" valueType="num">
                                      <p:cBhvr>
                                        <p:cTn id="12" dur="500" fill="hold"/>
                                        <p:tgtEl>
                                          <p:spTgt spid="236554"/>
                                        </p:tgtEl>
                                        <p:attrNameLst>
                                          <p:attrName>ppt_x</p:attrName>
                                        </p:attrNameLst>
                                      </p:cBhvr>
                                      <p:tavLst>
                                        <p:tav tm="0">
                                          <p:val>
                                            <p:strVal val="#ppt_x-#ppt_w/2"/>
                                          </p:val>
                                        </p:tav>
                                        <p:tav tm="100000">
                                          <p:val>
                                            <p:strVal val="#ppt_x"/>
                                          </p:val>
                                        </p:tav>
                                      </p:tavLst>
                                    </p:anim>
                                    <p:anim calcmode="lin" valueType="num">
                                      <p:cBhvr>
                                        <p:cTn id="13" dur="500" fill="hold"/>
                                        <p:tgtEl>
                                          <p:spTgt spid="236554"/>
                                        </p:tgtEl>
                                        <p:attrNameLst>
                                          <p:attrName>ppt_y</p:attrName>
                                        </p:attrNameLst>
                                      </p:cBhvr>
                                      <p:tavLst>
                                        <p:tav tm="0">
                                          <p:val>
                                            <p:strVal val="#ppt_y"/>
                                          </p:val>
                                        </p:tav>
                                        <p:tav tm="100000">
                                          <p:val>
                                            <p:strVal val="#ppt_y"/>
                                          </p:val>
                                        </p:tav>
                                      </p:tavLst>
                                    </p:anim>
                                    <p:anim calcmode="lin" valueType="num">
                                      <p:cBhvr>
                                        <p:cTn id="14" dur="500" fill="hold"/>
                                        <p:tgtEl>
                                          <p:spTgt spid="236554"/>
                                        </p:tgtEl>
                                        <p:attrNameLst>
                                          <p:attrName>ppt_w</p:attrName>
                                        </p:attrNameLst>
                                      </p:cBhvr>
                                      <p:tavLst>
                                        <p:tav tm="0">
                                          <p:val>
                                            <p:fltVal val="0"/>
                                          </p:val>
                                        </p:tav>
                                        <p:tav tm="100000">
                                          <p:val>
                                            <p:strVal val="#ppt_w"/>
                                          </p:val>
                                        </p:tav>
                                      </p:tavLst>
                                    </p:anim>
                                    <p:anim calcmode="lin" valueType="num">
                                      <p:cBhvr>
                                        <p:cTn id="15" dur="500" fill="hold"/>
                                        <p:tgtEl>
                                          <p:spTgt spid="236554"/>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236555"/>
                                        </p:tgtEl>
                                        <p:attrNameLst>
                                          <p:attrName>style.visibility</p:attrName>
                                        </p:attrNameLst>
                                      </p:cBhvr>
                                      <p:to>
                                        <p:strVal val="visible"/>
                                      </p:to>
                                    </p:set>
                                    <p:anim calcmode="lin" valueType="num">
                                      <p:cBhvr>
                                        <p:cTn id="20" dur="500" fill="hold"/>
                                        <p:tgtEl>
                                          <p:spTgt spid="236555"/>
                                        </p:tgtEl>
                                        <p:attrNameLst>
                                          <p:attrName>ppt_x</p:attrName>
                                        </p:attrNameLst>
                                      </p:cBhvr>
                                      <p:tavLst>
                                        <p:tav tm="0">
                                          <p:val>
                                            <p:strVal val="#ppt_x-#ppt_w/2"/>
                                          </p:val>
                                        </p:tav>
                                        <p:tav tm="100000">
                                          <p:val>
                                            <p:strVal val="#ppt_x"/>
                                          </p:val>
                                        </p:tav>
                                      </p:tavLst>
                                    </p:anim>
                                    <p:anim calcmode="lin" valueType="num">
                                      <p:cBhvr>
                                        <p:cTn id="21" dur="500" fill="hold"/>
                                        <p:tgtEl>
                                          <p:spTgt spid="236555"/>
                                        </p:tgtEl>
                                        <p:attrNameLst>
                                          <p:attrName>ppt_y</p:attrName>
                                        </p:attrNameLst>
                                      </p:cBhvr>
                                      <p:tavLst>
                                        <p:tav tm="0">
                                          <p:val>
                                            <p:strVal val="#ppt_y"/>
                                          </p:val>
                                        </p:tav>
                                        <p:tav tm="100000">
                                          <p:val>
                                            <p:strVal val="#ppt_y"/>
                                          </p:val>
                                        </p:tav>
                                      </p:tavLst>
                                    </p:anim>
                                    <p:anim calcmode="lin" valueType="num">
                                      <p:cBhvr>
                                        <p:cTn id="22" dur="500" fill="hold"/>
                                        <p:tgtEl>
                                          <p:spTgt spid="236555"/>
                                        </p:tgtEl>
                                        <p:attrNameLst>
                                          <p:attrName>ppt_w</p:attrName>
                                        </p:attrNameLst>
                                      </p:cBhvr>
                                      <p:tavLst>
                                        <p:tav tm="0">
                                          <p:val>
                                            <p:fltVal val="0"/>
                                          </p:val>
                                        </p:tav>
                                        <p:tav tm="100000">
                                          <p:val>
                                            <p:strVal val="#ppt_w"/>
                                          </p:val>
                                        </p:tav>
                                      </p:tavLst>
                                    </p:anim>
                                    <p:anim calcmode="lin" valueType="num">
                                      <p:cBhvr>
                                        <p:cTn id="23" dur="500" fill="hold"/>
                                        <p:tgtEl>
                                          <p:spTgt spid="23655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ox(in)">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6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6554" grpId="0" animBg="1"/>
      <p:bldP spid="236555" grpId="0" animBg="1"/>
      <p:bldP spid="23655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8" name="Rectangle 9"/>
          <p:cNvSpPr>
            <a:spLocks noChangeArrowheads="1"/>
          </p:cNvSpPr>
          <p:nvPr/>
        </p:nvSpPr>
        <p:spPr bwMode="auto">
          <a:xfrm>
            <a:off x="3160713" y="4496118"/>
            <a:ext cx="2224087" cy="579437"/>
          </a:xfrm>
          <a:prstGeom prst="rect">
            <a:avLst/>
          </a:prstGeom>
          <a:noFill/>
          <a:ln w="9525">
            <a:noFill/>
            <a:miter lim="800000"/>
            <a:headEnd/>
            <a:tailEnd/>
          </a:ln>
        </p:spPr>
        <p:txBody>
          <a:bodyPr wrap="none" anchor="ctr">
            <a:spAutoFit/>
          </a:bodyPr>
          <a:lstStyle/>
          <a:p>
            <a:pPr defTabSz="914400"/>
            <a:r>
              <a:rPr lang="zh-CN" altLang="en-US" sz="3200" b="1" dirty="0">
                <a:solidFill>
                  <a:srgbClr val="FF0000"/>
                </a:solidFill>
                <a:latin typeface="微软雅黑" pitchFamily="34" charset="-122"/>
                <a:ea typeface="微软雅黑" pitchFamily="34" charset="-122"/>
              </a:rPr>
              <a:t>金属逸出功</a:t>
            </a:r>
            <a:endParaRPr lang="en-US" altLang="zh-CN" sz="3200" b="1" dirty="0">
              <a:solidFill>
                <a:srgbClr val="FF0000"/>
              </a:solidFill>
              <a:latin typeface="微软雅黑" pitchFamily="34" charset="-122"/>
              <a:ea typeface="微软雅黑" pitchFamily="34" charset="-122"/>
            </a:endParaRPr>
          </a:p>
        </p:txBody>
      </p:sp>
      <p:graphicFrame>
        <p:nvGraphicFramePr>
          <p:cNvPr id="56329" name="Object 11"/>
          <p:cNvGraphicFramePr>
            <a:graphicFrameLocks noChangeAspect="1"/>
          </p:cNvGraphicFramePr>
          <p:nvPr/>
        </p:nvGraphicFramePr>
        <p:xfrm>
          <a:off x="2449513" y="5294630"/>
          <a:ext cx="3527425" cy="928688"/>
        </p:xfrm>
        <a:graphic>
          <a:graphicData uri="http://schemas.openxmlformats.org/presentationml/2006/ole">
            <mc:AlternateContent xmlns:mc="http://schemas.openxmlformats.org/markup-compatibility/2006">
              <mc:Choice xmlns:v="urn:schemas-microsoft-com:vml" Requires="v">
                <p:oleObj spid="_x0000_s56424" name="公式" r:id="rId3" imgW="710891" imgH="203112" progId="Equation.3">
                  <p:embed/>
                </p:oleObj>
              </mc:Choice>
              <mc:Fallback>
                <p:oleObj name="公式" r:id="rId3" imgW="710891"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9513" y="5294630"/>
                        <a:ext cx="3527425" cy="928688"/>
                      </a:xfrm>
                      <a:prstGeom prst="rect">
                        <a:avLst/>
                      </a:prstGeom>
                      <a:solidFill>
                        <a:schemeClr val="bg1"/>
                      </a:solidFill>
                    </p:spPr>
                  </p:pic>
                </p:oleObj>
              </mc:Fallback>
            </mc:AlternateContent>
          </a:graphicData>
        </a:graphic>
      </p:graphicFrame>
      <p:sp>
        <p:nvSpPr>
          <p:cNvPr id="235532" name="Rectangle 12"/>
          <p:cNvSpPr>
            <a:spLocks noChangeArrowheads="1"/>
          </p:cNvSpPr>
          <p:nvPr/>
        </p:nvSpPr>
        <p:spPr bwMode="auto">
          <a:xfrm>
            <a:off x="6761163" y="4451668"/>
            <a:ext cx="3333750" cy="579437"/>
          </a:xfrm>
          <a:prstGeom prst="rect">
            <a:avLst/>
          </a:prstGeom>
          <a:noFill/>
          <a:ln w="9525">
            <a:noFill/>
            <a:miter lim="800000"/>
            <a:headEnd/>
            <a:tailEnd/>
          </a:ln>
        </p:spPr>
        <p:txBody>
          <a:bodyPr anchor="ctr">
            <a:spAutoFit/>
          </a:bodyPr>
          <a:lstStyle/>
          <a:p>
            <a:pPr defTabSz="914400"/>
            <a:r>
              <a:rPr lang="zh-CN" altLang="en-US" sz="3200" b="1" dirty="0">
                <a:solidFill>
                  <a:srgbClr val="FF0000"/>
                </a:solidFill>
                <a:latin typeface="微软雅黑" pitchFamily="34" charset="-122"/>
                <a:ea typeface="微软雅黑" pitchFamily="34" charset="-122"/>
              </a:rPr>
              <a:t>半导体发射阈值</a:t>
            </a:r>
            <a:endParaRPr lang="en-US" altLang="zh-CN" sz="3200" b="1" dirty="0">
              <a:solidFill>
                <a:srgbClr val="FF0000"/>
              </a:solidFill>
              <a:latin typeface="微软雅黑" pitchFamily="34" charset="-122"/>
              <a:ea typeface="微软雅黑" pitchFamily="34" charset="-122"/>
            </a:endParaRPr>
          </a:p>
        </p:txBody>
      </p:sp>
      <p:graphicFrame>
        <p:nvGraphicFramePr>
          <p:cNvPr id="235534" name="Object 14"/>
          <p:cNvGraphicFramePr>
            <a:graphicFrameLocks noChangeAspect="1"/>
          </p:cNvGraphicFramePr>
          <p:nvPr/>
        </p:nvGraphicFramePr>
        <p:xfrm>
          <a:off x="7161213" y="5339080"/>
          <a:ext cx="2922587" cy="757238"/>
        </p:xfrm>
        <a:graphic>
          <a:graphicData uri="http://schemas.openxmlformats.org/presentationml/2006/ole">
            <mc:AlternateContent xmlns:mc="http://schemas.openxmlformats.org/markup-compatibility/2006">
              <mc:Choice xmlns:v="urn:schemas-microsoft-com:vml" Requires="v">
                <p:oleObj spid="_x0000_s56425" name="公式" r:id="rId5" imgW="266353" imgH="164885" progId="Equation.3">
                  <p:embed/>
                </p:oleObj>
              </mc:Choice>
              <mc:Fallback>
                <p:oleObj name="公式" r:id="rId5" imgW="266353" imgH="16488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1213" y="5339080"/>
                        <a:ext cx="2922587" cy="757238"/>
                      </a:xfrm>
                      <a:prstGeom prst="rect">
                        <a:avLst/>
                      </a:prstGeom>
                      <a:solidFill>
                        <a:schemeClr val="bg1"/>
                      </a:solidFill>
                    </p:spPr>
                  </p:pic>
                </p:oleObj>
              </mc:Fallback>
            </mc:AlternateContent>
          </a:graphicData>
        </a:graphic>
      </p:graphicFrame>
      <p:pic>
        <p:nvPicPr>
          <p:cNvPr id="56332" name="Picture 17" descr="1t23"/>
          <p:cNvPicPr>
            <a:picLocks noChangeAspect="1" noChangeArrowheads="1"/>
          </p:cNvPicPr>
          <p:nvPr/>
        </p:nvPicPr>
        <p:blipFill>
          <a:blip r:embed="rId7" cstate="print"/>
          <a:srcRect/>
          <a:stretch>
            <a:fillRect/>
          </a:stretch>
        </p:blipFill>
        <p:spPr bwMode="auto">
          <a:xfrm>
            <a:off x="2301875" y="2016443"/>
            <a:ext cx="3598863" cy="2043112"/>
          </a:xfrm>
          <a:prstGeom prst="rect">
            <a:avLst/>
          </a:prstGeom>
          <a:noFill/>
          <a:ln w="9525">
            <a:noFill/>
            <a:miter lim="800000"/>
            <a:headEnd/>
            <a:tailEnd/>
          </a:ln>
        </p:spPr>
      </p:pic>
      <p:pic>
        <p:nvPicPr>
          <p:cNvPr id="235538" name="Picture 18" descr="1T22"/>
          <p:cNvPicPr>
            <a:picLocks noChangeAspect="1" noChangeArrowheads="1"/>
          </p:cNvPicPr>
          <p:nvPr/>
        </p:nvPicPr>
        <p:blipFill>
          <a:blip r:embed="rId8" cstate="print"/>
          <a:srcRect/>
          <a:stretch>
            <a:fillRect/>
          </a:stretch>
        </p:blipFill>
        <p:spPr bwMode="auto">
          <a:xfrm>
            <a:off x="6627813" y="2005330"/>
            <a:ext cx="3744912" cy="2024063"/>
          </a:xfrm>
          <a:prstGeom prst="rect">
            <a:avLst/>
          </a:prstGeom>
          <a:noFill/>
          <a:ln w="9525">
            <a:noFill/>
            <a:miter lim="800000"/>
            <a:headEnd/>
            <a:tailEnd/>
          </a:ln>
        </p:spPr>
      </p:pic>
      <p:sp>
        <p:nvSpPr>
          <p:cNvPr id="13" name="文本框 60">
            <a:extLst>
              <a:ext uri="{FF2B5EF4-FFF2-40B4-BE49-F238E27FC236}">
                <a16:creationId xmlns="" xmlns:a16="http://schemas.microsoft.com/office/drawing/2014/main" id="{A204A3E9-38E4-4D8D-8A76-C308ABFEE01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4" name="矩形 13">
            <a:extLst>
              <a:ext uri="{FF2B5EF4-FFF2-40B4-BE49-F238E27FC236}">
                <a16:creationId xmlns="" xmlns:a16="http://schemas.microsoft.com/office/drawing/2014/main" id="{B82029F1-DD71-419C-AAFB-536B0AD8C2E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 xmlns:a16="http://schemas.microsoft.com/office/drawing/2014/main" id="{7B4C650F-B781-429E-B90A-D2D1E3D3F66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 xmlns:a16="http://schemas.microsoft.com/office/drawing/2014/main" id="{102262A4-8993-44F2-8B07-7AF5BCA3AB4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 xmlns:a16="http://schemas.microsoft.com/office/drawing/2014/main" id="{1A0429E0-0394-41B6-9AA3-704CEE82C344}"/>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 xmlns:a16="http://schemas.microsoft.com/office/drawing/2014/main" id="{17F79365-B2D5-4D97-B48D-B5C14CB980E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 xmlns:a16="http://schemas.microsoft.com/office/drawing/2014/main" id="{B581FF9F-3CD8-4B64-A8AE-CD172D7D21B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68730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3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2" name="Rectangle 5"/>
          <p:cNvSpPr>
            <a:spLocks noChangeArrowheads="1"/>
          </p:cNvSpPr>
          <p:nvPr/>
        </p:nvSpPr>
        <p:spPr bwMode="auto">
          <a:xfrm>
            <a:off x="-273050" y="29511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1510" name="Rectangle 8"/>
          <p:cNvSpPr>
            <a:spLocks noChangeArrowheads="1"/>
          </p:cNvSpPr>
          <p:nvPr/>
        </p:nvSpPr>
        <p:spPr bwMode="auto">
          <a:xfrm>
            <a:off x="2124393" y="4348967"/>
            <a:ext cx="2190023" cy="523220"/>
          </a:xfrm>
          <a:prstGeom prst="rect">
            <a:avLst/>
          </a:prstGeom>
          <a:noFill/>
          <a:ln w="9525">
            <a:noFill/>
            <a:miter lim="800000"/>
            <a:headEnd/>
            <a:tailEnd/>
          </a:ln>
        </p:spPr>
        <p:txBody>
          <a:bodyPr wrap="none" anchor="ctr">
            <a:spAutoFit/>
          </a:bodyPr>
          <a:lstStyle/>
          <a:p>
            <a:pPr defTabSz="914400"/>
            <a:r>
              <a:rPr lang="zh-CN" altLang="en-US" sz="2800" b="1">
                <a:latin typeface="微软雅黑" pitchFamily="34" charset="-122"/>
                <a:ea typeface="微软雅黑" pitchFamily="34" charset="-122"/>
              </a:rPr>
              <a:t>金属逸出功</a:t>
            </a:r>
            <a:r>
              <a:rPr lang="en-US" altLang="zh-CN" sz="2800" b="1">
                <a:latin typeface="微软雅黑" pitchFamily="34" charset="-122"/>
                <a:ea typeface="微软雅黑" pitchFamily="34" charset="-122"/>
              </a:rPr>
              <a:t>:</a:t>
            </a:r>
            <a:r>
              <a:rPr lang="en-US" altLang="zh-CN" sz="2800" b="1">
                <a:solidFill>
                  <a:srgbClr val="FFFF00"/>
                </a:solidFill>
                <a:latin typeface="微软雅黑" pitchFamily="34" charset="-122"/>
                <a:ea typeface="微软雅黑" pitchFamily="34" charset="-122"/>
              </a:rPr>
              <a:t> </a:t>
            </a:r>
          </a:p>
        </p:txBody>
      </p:sp>
      <p:graphicFrame>
        <p:nvGraphicFramePr>
          <p:cNvPr id="21506" name="Object 10"/>
          <p:cNvGraphicFramePr>
            <a:graphicFrameLocks noChangeAspect="1"/>
          </p:cNvGraphicFramePr>
          <p:nvPr/>
        </p:nvGraphicFramePr>
        <p:xfrm>
          <a:off x="2268855" y="5071745"/>
          <a:ext cx="3313113" cy="928688"/>
        </p:xfrm>
        <a:graphic>
          <a:graphicData uri="http://schemas.openxmlformats.org/presentationml/2006/ole">
            <mc:AlternateContent xmlns:mc="http://schemas.openxmlformats.org/markup-compatibility/2006">
              <mc:Choice xmlns:v="urn:schemas-microsoft-com:vml" Requires="v">
                <p:oleObj spid="_x0000_s57499" name="公式" r:id="rId3" imgW="710891" imgH="203112" progId="Equation.3">
                  <p:embed/>
                </p:oleObj>
              </mc:Choice>
              <mc:Fallback>
                <p:oleObj name="公式" r:id="rId3" imgW="710891"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855" y="5071745"/>
                        <a:ext cx="3313113" cy="928688"/>
                      </a:xfrm>
                      <a:prstGeom prst="rect">
                        <a:avLst/>
                      </a:prstGeom>
                      <a:solidFill>
                        <a:schemeClr val="bg1"/>
                      </a:solidFill>
                    </p:spPr>
                  </p:pic>
                </p:oleObj>
              </mc:Fallback>
            </mc:AlternateContent>
          </a:graphicData>
        </a:graphic>
      </p:graphicFrame>
      <p:sp>
        <p:nvSpPr>
          <p:cNvPr id="21511" name="Rectangle 11"/>
          <p:cNvSpPr>
            <a:spLocks noChangeArrowheads="1"/>
          </p:cNvSpPr>
          <p:nvPr/>
        </p:nvSpPr>
        <p:spPr bwMode="auto">
          <a:xfrm>
            <a:off x="7083425" y="3906520"/>
            <a:ext cx="2863850" cy="519113"/>
          </a:xfrm>
          <a:prstGeom prst="rect">
            <a:avLst/>
          </a:prstGeom>
          <a:noFill/>
          <a:ln w="9525">
            <a:noFill/>
            <a:miter lim="800000"/>
            <a:headEnd/>
            <a:tailEnd/>
          </a:ln>
        </p:spPr>
        <p:txBody>
          <a:bodyPr wrap="none" anchor="ctr">
            <a:spAutoFit/>
          </a:bodyPr>
          <a:lstStyle/>
          <a:p>
            <a:pPr defTabSz="914400"/>
            <a:r>
              <a:rPr lang="zh-CN" altLang="en-US" sz="2800" b="1">
                <a:latin typeface="微软雅黑" pitchFamily="34" charset="-122"/>
                <a:ea typeface="微软雅黑" pitchFamily="34" charset="-122"/>
              </a:rPr>
              <a:t>半导体发射阈值</a:t>
            </a:r>
            <a:r>
              <a:rPr lang="en-US" altLang="zh-CN" sz="2800" b="1">
                <a:latin typeface="微软雅黑" pitchFamily="34" charset="-122"/>
                <a:ea typeface="微软雅黑" pitchFamily="34" charset="-122"/>
              </a:rPr>
              <a:t>:</a:t>
            </a:r>
          </a:p>
        </p:txBody>
      </p:sp>
      <p:graphicFrame>
        <p:nvGraphicFramePr>
          <p:cNvPr id="21507" name="Object 13"/>
          <p:cNvGraphicFramePr>
            <a:graphicFrameLocks noChangeAspect="1"/>
          </p:cNvGraphicFramePr>
          <p:nvPr/>
        </p:nvGraphicFramePr>
        <p:xfrm>
          <a:off x="7127875" y="4573270"/>
          <a:ext cx="3489325" cy="936625"/>
        </p:xfrm>
        <a:graphic>
          <a:graphicData uri="http://schemas.openxmlformats.org/presentationml/2006/ole">
            <mc:AlternateContent xmlns:mc="http://schemas.openxmlformats.org/markup-compatibility/2006">
              <mc:Choice xmlns:v="urn:schemas-microsoft-com:vml" Requires="v">
                <p:oleObj spid="_x0000_s57500" name="公式" r:id="rId5" imgW="774364" imgH="215806" progId="Equation.3">
                  <p:embed/>
                </p:oleObj>
              </mc:Choice>
              <mc:Fallback>
                <p:oleObj name="公式" r:id="rId5" imgW="774364" imgH="21580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7875" y="4573270"/>
                        <a:ext cx="3489325" cy="936625"/>
                      </a:xfrm>
                      <a:prstGeom prst="rect">
                        <a:avLst/>
                      </a:prstGeom>
                      <a:solidFill>
                        <a:srgbClr val="FFFF00"/>
                      </a:solidFill>
                    </p:spPr>
                  </p:pic>
                </p:oleObj>
              </mc:Fallback>
            </mc:AlternateContent>
          </a:graphicData>
        </a:graphic>
      </p:graphicFrame>
      <p:pic>
        <p:nvPicPr>
          <p:cNvPr id="21512" name="Picture 15" descr="1t23"/>
          <p:cNvPicPr>
            <a:picLocks noChangeAspect="1" noChangeArrowheads="1"/>
          </p:cNvPicPr>
          <p:nvPr/>
        </p:nvPicPr>
        <p:blipFill>
          <a:blip r:embed="rId7" cstate="print"/>
          <a:srcRect/>
          <a:stretch>
            <a:fillRect/>
          </a:stretch>
        </p:blipFill>
        <p:spPr bwMode="auto">
          <a:xfrm>
            <a:off x="2197418" y="1596708"/>
            <a:ext cx="3743325" cy="2124075"/>
          </a:xfrm>
          <a:prstGeom prst="rect">
            <a:avLst/>
          </a:prstGeom>
          <a:noFill/>
          <a:ln w="9525">
            <a:noFill/>
            <a:miter lim="800000"/>
            <a:headEnd/>
            <a:tailEnd/>
          </a:ln>
        </p:spPr>
      </p:pic>
      <p:pic>
        <p:nvPicPr>
          <p:cNvPr id="21513" name="Picture 16" descr="1t24"/>
          <p:cNvPicPr>
            <a:picLocks noChangeAspect="1" noChangeArrowheads="1"/>
          </p:cNvPicPr>
          <p:nvPr/>
        </p:nvPicPr>
        <p:blipFill>
          <a:blip r:embed="rId8" cstate="print"/>
          <a:srcRect/>
          <a:stretch>
            <a:fillRect/>
          </a:stretch>
        </p:blipFill>
        <p:spPr bwMode="auto">
          <a:xfrm>
            <a:off x="6799263" y="1668145"/>
            <a:ext cx="3529012" cy="2024063"/>
          </a:xfrm>
          <a:prstGeom prst="rect">
            <a:avLst/>
          </a:prstGeom>
          <a:noFill/>
          <a:ln w="9525">
            <a:noFill/>
            <a:miter lim="800000"/>
            <a:headEnd/>
            <a:tailEnd/>
          </a:ln>
        </p:spPr>
      </p:pic>
      <p:graphicFrame>
        <p:nvGraphicFramePr>
          <p:cNvPr id="21508" name="Object 14"/>
          <p:cNvGraphicFramePr>
            <a:graphicFrameLocks noChangeAspect="1"/>
          </p:cNvGraphicFramePr>
          <p:nvPr/>
        </p:nvGraphicFramePr>
        <p:xfrm>
          <a:off x="7350125" y="5417820"/>
          <a:ext cx="3111500" cy="1085850"/>
        </p:xfrm>
        <a:graphic>
          <a:graphicData uri="http://schemas.openxmlformats.org/presentationml/2006/ole">
            <mc:AlternateContent xmlns:mc="http://schemas.openxmlformats.org/markup-compatibility/2006">
              <mc:Choice xmlns:v="urn:schemas-microsoft-com:vml" Requires="v">
                <p:oleObj spid="_x0000_s57501" r:id="rId9" imgW="1231366" imgH="431613" progId="">
                  <p:embed/>
                </p:oleObj>
              </mc:Choice>
              <mc:Fallback>
                <p:oleObj r:id="rId9" imgW="1231366" imgH="431613"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50125" y="5417820"/>
                        <a:ext cx="3111500" cy="108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文本框 60">
            <a:extLst>
              <a:ext uri="{FF2B5EF4-FFF2-40B4-BE49-F238E27FC236}">
                <a16:creationId xmlns="" xmlns:a16="http://schemas.microsoft.com/office/drawing/2014/main" id="{26F1C5B2-39E2-44D3-B811-B889A788C095}"/>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7" name="矩形 16">
            <a:extLst>
              <a:ext uri="{FF2B5EF4-FFF2-40B4-BE49-F238E27FC236}">
                <a16:creationId xmlns="" xmlns:a16="http://schemas.microsoft.com/office/drawing/2014/main" id="{BF18033F-4494-4B21-93C8-B75B592800F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 xmlns:a16="http://schemas.microsoft.com/office/drawing/2014/main" id="{125579D1-BEB5-4540-8405-4C7F11800611}"/>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AAA02562-E757-4EB8-9229-4404086911E9}"/>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29D1C7E2-D63A-4377-8499-D71485B14CD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D62C1287-C327-4E3D-BBAA-6235E6B5255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935189C9-024C-44D3-A060-5B2B5D0F985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16229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Effect transition="in" filter="box(in)">
                                      <p:cBhvr>
                                        <p:cTn id="7" dur="500"/>
                                        <p:tgtEl>
                                          <p:spTgt spid="21510"/>
                                        </p:tgtEl>
                                      </p:cBhvr>
                                    </p:animEffect>
                                  </p:childTnLst>
                                </p:cTn>
                              </p:par>
                              <p:par>
                                <p:cTn id="8" presetID="4" presetClass="entr" presetSubtype="16" fill="hold" nodeType="withEffect">
                                  <p:stCondLst>
                                    <p:cond delay="0"/>
                                  </p:stCondLst>
                                  <p:childTnLst>
                                    <p:set>
                                      <p:cBhvr>
                                        <p:cTn id="9" dur="1" fill="hold">
                                          <p:stCondLst>
                                            <p:cond delay="0"/>
                                          </p:stCondLst>
                                        </p:cTn>
                                        <p:tgtEl>
                                          <p:spTgt spid="21506"/>
                                        </p:tgtEl>
                                        <p:attrNameLst>
                                          <p:attrName>style.visibility</p:attrName>
                                        </p:attrNameLst>
                                      </p:cBhvr>
                                      <p:to>
                                        <p:strVal val="visible"/>
                                      </p:to>
                                    </p:set>
                                    <p:animEffect transition="in" filter="box(in)">
                                      <p:cBhvr>
                                        <p:cTn id="10" dur="500"/>
                                        <p:tgtEl>
                                          <p:spTgt spid="21506"/>
                                        </p:tgtEl>
                                      </p:cBhvr>
                                    </p:animEffect>
                                  </p:childTnLst>
                                </p:cTn>
                              </p:par>
                              <p:par>
                                <p:cTn id="11" presetID="4" presetClass="entr" presetSubtype="16" fill="hold" nodeType="withEffect">
                                  <p:stCondLst>
                                    <p:cond delay="0"/>
                                  </p:stCondLst>
                                  <p:childTnLst>
                                    <p:set>
                                      <p:cBhvr>
                                        <p:cTn id="12" dur="1" fill="hold">
                                          <p:stCondLst>
                                            <p:cond delay="0"/>
                                          </p:stCondLst>
                                        </p:cTn>
                                        <p:tgtEl>
                                          <p:spTgt spid="21512"/>
                                        </p:tgtEl>
                                        <p:attrNameLst>
                                          <p:attrName>style.visibility</p:attrName>
                                        </p:attrNameLst>
                                      </p:cBhvr>
                                      <p:to>
                                        <p:strVal val="visible"/>
                                      </p:to>
                                    </p:set>
                                    <p:animEffect transition="in" filter="box(in)">
                                      <p:cBhvr>
                                        <p:cTn id="13" dur="500"/>
                                        <p:tgtEl>
                                          <p:spTgt spid="2151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1513"/>
                                        </p:tgtEl>
                                        <p:attrNameLst>
                                          <p:attrName>style.visibility</p:attrName>
                                        </p:attrNameLst>
                                      </p:cBhvr>
                                      <p:to>
                                        <p:strVal val="visible"/>
                                      </p:to>
                                    </p:set>
                                    <p:animEffect transition="in" filter="box(in)">
                                      <p:cBhvr>
                                        <p:cTn id="18" dur="500"/>
                                        <p:tgtEl>
                                          <p:spTgt spid="215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21511"/>
                                        </p:tgtEl>
                                        <p:attrNameLst>
                                          <p:attrName>style.visibility</p:attrName>
                                        </p:attrNameLst>
                                      </p:cBhvr>
                                      <p:to>
                                        <p:strVal val="visible"/>
                                      </p:to>
                                    </p:set>
                                    <p:animEffect transition="in" filter="box(in)">
                                      <p:cBhvr>
                                        <p:cTn id="23" dur="500"/>
                                        <p:tgtEl>
                                          <p:spTgt spid="21511"/>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1507"/>
                                        </p:tgtEl>
                                        <p:attrNameLst>
                                          <p:attrName>style.visibility</p:attrName>
                                        </p:attrNameLst>
                                      </p:cBhvr>
                                      <p:to>
                                        <p:strVal val="visible"/>
                                      </p:to>
                                    </p:set>
                                    <p:animEffect transition="in" filter="box(in)">
                                      <p:cBhvr>
                                        <p:cTn id="28" dur="500"/>
                                        <p:tgtEl>
                                          <p:spTgt spid="2150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21508"/>
                                        </p:tgtEl>
                                        <p:attrNameLst>
                                          <p:attrName>style.visibility</p:attrName>
                                        </p:attrNameLst>
                                      </p:cBhvr>
                                      <p:to>
                                        <p:strVal val="visible"/>
                                      </p:to>
                                    </p:set>
                                    <p:animEffect transition="in" filter="box(in)">
                                      <p:cBhvr>
                                        <p:cTn id="33" dur="500"/>
                                        <p:tgtEl>
                                          <p:spTgt spid="21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p:bldP spid="215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6" name="TextBox 1"/>
          <p:cNvSpPr txBox="1">
            <a:spLocks noChangeArrowheads="1"/>
          </p:cNvSpPr>
          <p:nvPr/>
        </p:nvSpPr>
        <p:spPr bwMode="auto">
          <a:xfrm>
            <a:off x="2725420" y="2499360"/>
            <a:ext cx="3067050" cy="641350"/>
          </a:xfrm>
          <a:prstGeom prst="rect">
            <a:avLst/>
          </a:prstGeom>
          <a:noFill/>
          <a:ln w="9525">
            <a:noFill/>
            <a:miter lim="800000"/>
            <a:headEnd/>
            <a:tailEnd/>
          </a:ln>
        </p:spPr>
        <p:txBody>
          <a:bodyPr>
            <a:spAutoFit/>
          </a:bodyPr>
          <a:lstStyle/>
          <a:p>
            <a:pPr defTabSz="914400"/>
            <a:r>
              <a:rPr lang="zh-CN" altLang="en-US" sz="3600" b="1">
                <a:solidFill>
                  <a:srgbClr val="FF0000"/>
                </a:solidFill>
                <a:latin typeface="微软雅黑" pitchFamily="34" charset="-122"/>
                <a:ea typeface="微软雅黑" pitchFamily="34" charset="-122"/>
              </a:rPr>
              <a:t>负电子亲和势</a:t>
            </a:r>
          </a:p>
        </p:txBody>
      </p:sp>
      <p:sp>
        <p:nvSpPr>
          <p:cNvPr id="58377" name="TextBox 3"/>
          <p:cNvSpPr txBox="1">
            <a:spLocks noChangeArrowheads="1"/>
          </p:cNvSpPr>
          <p:nvPr/>
        </p:nvSpPr>
        <p:spPr bwMode="auto">
          <a:xfrm>
            <a:off x="1368994" y="5438397"/>
            <a:ext cx="4256591" cy="1015663"/>
          </a:xfrm>
          <a:prstGeom prst="rect">
            <a:avLst/>
          </a:prstGeom>
          <a:noFill/>
          <a:ln w="9525">
            <a:noFill/>
            <a:miter lim="800000"/>
            <a:headEnd/>
            <a:tailEnd/>
          </a:ln>
        </p:spPr>
        <p:txBody>
          <a:bodyPr wrap="square">
            <a:spAutoFit/>
          </a:bodyPr>
          <a:lstStyle/>
          <a:p>
            <a:pPr defTabSz="914400">
              <a:lnSpc>
                <a:spcPct val="150000"/>
              </a:lnSpc>
            </a:pPr>
            <a:r>
              <a:rPr lang="zh-CN" altLang="en-US" b="1" dirty="0">
                <a:solidFill>
                  <a:srgbClr val="FF0000"/>
                </a:solidFill>
                <a:latin typeface="Times New Roman" pitchFamily="18" charset="0"/>
                <a:ea typeface="微软雅黑" pitchFamily="34" charset="-122"/>
                <a:cs typeface="Times New Roman" pitchFamily="18" charset="0"/>
              </a:rPr>
              <a:t>有效电子亲和势</a:t>
            </a:r>
            <a:r>
              <a:rPr lang="en-US" altLang="zh-CN" b="1" i="1" dirty="0" err="1">
                <a:solidFill>
                  <a:srgbClr val="FF0000"/>
                </a:solidFill>
                <a:latin typeface="Times New Roman" pitchFamily="18" charset="0"/>
                <a:ea typeface="微软雅黑" pitchFamily="34" charset="-122"/>
                <a:cs typeface="Times New Roman" pitchFamily="18" charset="0"/>
              </a:rPr>
              <a:t>E</a:t>
            </a:r>
            <a:r>
              <a:rPr lang="en-US" altLang="zh-CN" b="1" baseline="-25000" dirty="0" err="1">
                <a:solidFill>
                  <a:srgbClr val="FF0000"/>
                </a:solidFill>
                <a:latin typeface="Times New Roman" pitchFamily="18" charset="0"/>
                <a:ea typeface="微软雅黑" pitchFamily="34" charset="-122"/>
                <a:cs typeface="Times New Roman" pitchFamily="18" charset="0"/>
              </a:rPr>
              <a:t>Aeff</a:t>
            </a:r>
            <a:r>
              <a:rPr lang="zh-CN" altLang="en-US" b="1" dirty="0">
                <a:latin typeface="Times New Roman" pitchFamily="18" charset="0"/>
                <a:ea typeface="微软雅黑" pitchFamily="34" charset="-122"/>
                <a:cs typeface="Times New Roman" pitchFamily="18" charset="0"/>
              </a:rPr>
              <a:t>电子从体内导带底逸出真空能级所需要的最低能量</a:t>
            </a:r>
            <a:endParaRPr lang="zh-CN" altLang="en-US" b="1" baseline="-25000" dirty="0">
              <a:latin typeface="Times New Roman" pitchFamily="18" charset="0"/>
              <a:ea typeface="微软雅黑" pitchFamily="34" charset="-122"/>
              <a:cs typeface="Times New Roman" pitchFamily="18" charset="0"/>
            </a:endParaRPr>
          </a:p>
        </p:txBody>
      </p:sp>
      <p:sp>
        <p:nvSpPr>
          <p:cNvPr id="58378" name="TextBox 4"/>
          <p:cNvSpPr txBox="1">
            <a:spLocks noChangeArrowheads="1"/>
          </p:cNvSpPr>
          <p:nvPr/>
        </p:nvSpPr>
        <p:spPr bwMode="auto">
          <a:xfrm>
            <a:off x="6766251" y="5746174"/>
            <a:ext cx="3716027" cy="707886"/>
          </a:xfrm>
          <a:prstGeom prst="rect">
            <a:avLst/>
          </a:prstGeom>
          <a:noFill/>
          <a:ln w="9525">
            <a:noFill/>
            <a:miter lim="800000"/>
            <a:headEnd/>
            <a:tailEnd/>
          </a:ln>
        </p:spPr>
        <p:txBody>
          <a:bodyPr wrap="square">
            <a:spAutoFit/>
          </a:bodyPr>
          <a:lstStyle/>
          <a:p>
            <a:pPr defTabSz="914400"/>
            <a:r>
              <a:rPr lang="zh-CN" altLang="en-US" b="1" dirty="0">
                <a:latin typeface="Times New Roman" pitchFamily="18" charset="0"/>
                <a:ea typeface="微软雅黑" pitchFamily="34" charset="-122"/>
                <a:cs typeface="Times New Roman" pitchFamily="18" charset="0"/>
              </a:rPr>
              <a:t>有效电子亲和势</a:t>
            </a:r>
            <a:r>
              <a:rPr lang="en-US" altLang="zh-CN" b="1" i="1" dirty="0" err="1">
                <a:latin typeface="Times New Roman" pitchFamily="18" charset="0"/>
                <a:ea typeface="微软雅黑" pitchFamily="34" charset="-122"/>
                <a:cs typeface="Times New Roman" pitchFamily="18" charset="0"/>
              </a:rPr>
              <a:t>E</a:t>
            </a:r>
            <a:r>
              <a:rPr lang="en-US" altLang="zh-CN" b="1" baseline="-25000" dirty="0" err="1">
                <a:latin typeface="Times New Roman" pitchFamily="18" charset="0"/>
                <a:ea typeface="微软雅黑" pitchFamily="34" charset="-122"/>
                <a:cs typeface="Times New Roman" pitchFamily="18" charset="0"/>
              </a:rPr>
              <a:t>Aeff</a:t>
            </a:r>
            <a:r>
              <a:rPr lang="zh-CN" altLang="en-US" b="1" dirty="0">
                <a:latin typeface="Times New Roman" pitchFamily="18" charset="0"/>
                <a:ea typeface="微软雅黑" pitchFamily="34" charset="-122"/>
                <a:cs typeface="Times New Roman" pitchFamily="18" charset="0"/>
              </a:rPr>
              <a:t>为</a:t>
            </a:r>
            <a:r>
              <a:rPr lang="zh-CN" altLang="en-US" b="1" dirty="0">
                <a:solidFill>
                  <a:srgbClr val="0000CC"/>
                </a:solidFill>
                <a:latin typeface="Times New Roman" pitchFamily="18" charset="0"/>
                <a:ea typeface="微软雅黑" pitchFamily="34" charset="-122"/>
                <a:cs typeface="Times New Roman" pitchFamily="18" charset="0"/>
              </a:rPr>
              <a:t>负值</a:t>
            </a:r>
            <a:r>
              <a:rPr lang="zh-CN" altLang="en-US" b="1" dirty="0">
                <a:latin typeface="Times New Roman" pitchFamily="18" charset="0"/>
                <a:ea typeface="微软雅黑" pitchFamily="34" charset="-122"/>
                <a:cs typeface="Times New Roman" pitchFamily="18" charset="0"/>
              </a:rPr>
              <a:t>的光电材料称为负电子亲和势材料。</a:t>
            </a:r>
            <a:endParaRPr lang="zh-CN" altLang="en-US" b="1" baseline="-25000" dirty="0">
              <a:latin typeface="Times New Roman" pitchFamily="18" charset="0"/>
              <a:ea typeface="微软雅黑" pitchFamily="34" charset="-122"/>
              <a:cs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552928558"/>
              </p:ext>
            </p:extLst>
          </p:nvPr>
        </p:nvGraphicFramePr>
        <p:xfrm>
          <a:off x="6928597" y="1244872"/>
          <a:ext cx="4313144" cy="3126290"/>
        </p:xfrm>
        <a:graphic>
          <a:graphicData uri="http://schemas.openxmlformats.org/presentationml/2006/ole">
            <mc:AlternateContent xmlns:mc="http://schemas.openxmlformats.org/markup-compatibility/2006">
              <mc:Choice xmlns:v="urn:schemas-microsoft-com:vml" Requires="v">
                <p:oleObj spid="_x0000_s58424" name="Visio" r:id="rId3" imgW="2600336" imgH="1876588" progId="Visio.Drawing.11">
                  <p:embed/>
                </p:oleObj>
              </mc:Choice>
              <mc:Fallback>
                <p:oleObj name="Visio" r:id="rId3" imgW="2600336" imgH="1876588" progId="Visio.Drawing.11">
                  <p:embed/>
                  <p:pic>
                    <p:nvPicPr>
                      <p:cNvPr id="0" name="Object 9"/>
                      <p:cNvPicPr>
                        <a:picLocks noChangeAspect="1" noChangeArrowheads="1"/>
                      </p:cNvPicPr>
                      <p:nvPr/>
                    </p:nvPicPr>
                    <p:blipFill>
                      <a:blip r:embed="rId4"/>
                      <a:srcRect/>
                      <a:stretch>
                        <a:fillRect/>
                      </a:stretch>
                    </p:blipFill>
                    <p:spPr bwMode="auto">
                      <a:xfrm>
                        <a:off x="6928597" y="1244872"/>
                        <a:ext cx="4313144" cy="3126290"/>
                      </a:xfrm>
                      <a:prstGeom prst="rect">
                        <a:avLst/>
                      </a:prstGeom>
                      <a:noFill/>
                      <a:ln>
                        <a:noFill/>
                      </a:ln>
                    </p:spPr>
                  </p:pic>
                </p:oleObj>
              </mc:Fallback>
            </mc:AlternateContent>
          </a:graphicData>
        </a:graphic>
      </p:graphicFrame>
      <p:sp>
        <p:nvSpPr>
          <p:cNvPr id="11" name="文本框 60">
            <a:extLst>
              <a:ext uri="{FF2B5EF4-FFF2-40B4-BE49-F238E27FC236}">
                <a16:creationId xmlns="" xmlns:a16="http://schemas.microsoft.com/office/drawing/2014/main" id="{2CE11A32-D7AA-44D6-A3E2-D638E406AC0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12" name="矩形 11">
            <a:extLst>
              <a:ext uri="{FF2B5EF4-FFF2-40B4-BE49-F238E27FC236}">
                <a16:creationId xmlns="" xmlns:a16="http://schemas.microsoft.com/office/drawing/2014/main" id="{D5495850-CF06-4DDB-9540-7F5824F5136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 xmlns:a16="http://schemas.microsoft.com/office/drawing/2014/main" id="{50743946-5D3D-4454-B82D-7429B95C9F5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 xmlns:a16="http://schemas.microsoft.com/office/drawing/2014/main" id="{5F4AFA49-0485-4170-B9B1-43213B12EC34}"/>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 xmlns:a16="http://schemas.microsoft.com/office/drawing/2014/main" id="{294CA1C7-84C5-4E78-9946-FB4FF3CAA993}"/>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 xmlns:a16="http://schemas.microsoft.com/office/drawing/2014/main" id="{D4C3FBB8-DCD9-4193-8FF8-F0511CE447F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 xmlns:a16="http://schemas.microsoft.com/office/drawing/2014/main" id="{DCA20A79-B06E-46C3-8C43-B5DE8D71C90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3474773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4659640" y="1935224"/>
            <a:ext cx="2713016" cy="0"/>
          </a:xfrm>
          <a:prstGeom prst="line">
            <a:avLst/>
          </a:prstGeom>
          <a:noFill/>
          <a:ln w="28575" cap="flat" cmpd="sng" algn="ctr">
            <a:solidFill>
              <a:srgbClr val="0000FF"/>
            </a:solidFill>
            <a:prstDash val="solid"/>
            <a:miter lim="800000"/>
          </a:ln>
          <a:effectLst/>
        </p:spPr>
      </p:cxnSp>
      <p:cxnSp>
        <p:nvCxnSpPr>
          <p:cNvPr id="24" name="直接连接符 23"/>
          <p:cNvCxnSpPr/>
          <p:nvPr/>
        </p:nvCxnSpPr>
        <p:spPr>
          <a:xfrm>
            <a:off x="4659640" y="2880054"/>
            <a:ext cx="2711838" cy="0"/>
          </a:xfrm>
          <a:prstGeom prst="line">
            <a:avLst/>
          </a:prstGeom>
          <a:noFill/>
          <a:ln w="28575" cap="flat" cmpd="sng" algn="ctr">
            <a:solidFill>
              <a:sysClr val="windowText" lastClr="000000"/>
            </a:solidFill>
            <a:prstDash val="solid"/>
            <a:miter lim="800000"/>
          </a:ln>
          <a:effectLst/>
        </p:spPr>
      </p:cxnSp>
      <p:cxnSp>
        <p:nvCxnSpPr>
          <p:cNvPr id="25" name="直接连接符 24"/>
          <p:cNvCxnSpPr/>
          <p:nvPr/>
        </p:nvCxnSpPr>
        <p:spPr>
          <a:xfrm>
            <a:off x="4659640" y="4365817"/>
            <a:ext cx="2713016" cy="0"/>
          </a:xfrm>
          <a:prstGeom prst="line">
            <a:avLst/>
          </a:prstGeom>
          <a:noFill/>
          <a:ln w="28575" cap="flat" cmpd="sng" algn="ctr">
            <a:solidFill>
              <a:sysClr val="windowText" lastClr="000000"/>
            </a:solidFill>
            <a:prstDash val="solid"/>
            <a:miter lim="800000"/>
          </a:ln>
          <a:effectLst/>
        </p:spPr>
      </p:cxnSp>
      <p:cxnSp>
        <p:nvCxnSpPr>
          <p:cNvPr id="26" name="直接连接符 25"/>
          <p:cNvCxnSpPr/>
          <p:nvPr/>
        </p:nvCxnSpPr>
        <p:spPr>
          <a:xfrm>
            <a:off x="7376629" y="1935224"/>
            <a:ext cx="1550295" cy="0"/>
          </a:xfrm>
          <a:prstGeom prst="line">
            <a:avLst/>
          </a:prstGeom>
          <a:noFill/>
          <a:ln w="25400" cap="flat" cmpd="sng" algn="ctr">
            <a:solidFill>
              <a:sysClr val="windowText" lastClr="000000"/>
            </a:solidFill>
            <a:prstDash val="sysDash"/>
            <a:miter lim="800000"/>
          </a:ln>
          <a:effectLst/>
        </p:spPr>
      </p:cxnSp>
      <p:cxnSp>
        <p:nvCxnSpPr>
          <p:cNvPr id="27" name="直接连接符 26"/>
          <p:cNvCxnSpPr/>
          <p:nvPr/>
        </p:nvCxnSpPr>
        <p:spPr>
          <a:xfrm>
            <a:off x="7385903" y="3673422"/>
            <a:ext cx="1550295" cy="0"/>
          </a:xfrm>
          <a:prstGeom prst="line">
            <a:avLst/>
          </a:prstGeom>
          <a:noFill/>
          <a:ln w="25400" cap="flat" cmpd="sng" algn="ctr">
            <a:solidFill>
              <a:sysClr val="windowText" lastClr="000000"/>
            </a:solidFill>
            <a:prstDash val="sysDash"/>
            <a:miter lim="800000"/>
          </a:ln>
          <a:effectLst/>
        </p:spPr>
      </p:cxnSp>
      <p:cxnSp>
        <p:nvCxnSpPr>
          <p:cNvPr id="28" name="直接连接符 27"/>
          <p:cNvCxnSpPr/>
          <p:nvPr/>
        </p:nvCxnSpPr>
        <p:spPr>
          <a:xfrm>
            <a:off x="7367356" y="2880054"/>
            <a:ext cx="1162721" cy="0"/>
          </a:xfrm>
          <a:prstGeom prst="line">
            <a:avLst/>
          </a:prstGeom>
          <a:noFill/>
          <a:ln w="25400" cap="flat" cmpd="sng" algn="ctr">
            <a:solidFill>
              <a:sysClr val="windowText" lastClr="000000"/>
            </a:solidFill>
            <a:prstDash val="sysDash"/>
            <a:miter lim="800000"/>
          </a:ln>
          <a:effectLst/>
        </p:spPr>
      </p:cxnSp>
      <p:cxnSp>
        <p:nvCxnSpPr>
          <p:cNvPr id="29" name="直接连接符 28"/>
          <p:cNvCxnSpPr/>
          <p:nvPr/>
        </p:nvCxnSpPr>
        <p:spPr>
          <a:xfrm>
            <a:off x="7438145" y="4356853"/>
            <a:ext cx="1583329" cy="148"/>
          </a:xfrm>
          <a:prstGeom prst="line">
            <a:avLst/>
          </a:prstGeom>
          <a:noFill/>
          <a:ln w="28575" cap="flat" cmpd="sng" algn="ctr">
            <a:solidFill>
              <a:sysClr val="windowText" lastClr="000000"/>
            </a:solidFill>
            <a:prstDash val="sysDash"/>
            <a:miter lim="800000"/>
          </a:ln>
          <a:effectLst/>
        </p:spPr>
      </p:cxnSp>
      <p:cxnSp>
        <p:nvCxnSpPr>
          <p:cNvPr id="30" name="直接箭头连接符 29"/>
          <p:cNvCxnSpPr/>
          <p:nvPr/>
        </p:nvCxnSpPr>
        <p:spPr>
          <a:xfrm>
            <a:off x="8851037" y="1935224"/>
            <a:ext cx="0" cy="1749846"/>
          </a:xfrm>
          <a:prstGeom prst="straightConnector1">
            <a:avLst/>
          </a:prstGeom>
          <a:noFill/>
          <a:ln w="25400" cap="flat" cmpd="sng" algn="ctr">
            <a:solidFill>
              <a:schemeClr val="accent2">
                <a:lumMod val="60000"/>
                <a:lumOff val="40000"/>
              </a:schemeClr>
            </a:solidFill>
            <a:prstDash val="solid"/>
            <a:miter lim="800000"/>
            <a:headEnd type="triangle"/>
            <a:tailEnd type="triangle"/>
          </a:ln>
          <a:effectLst/>
        </p:spPr>
      </p:cxnSp>
      <p:cxnSp>
        <p:nvCxnSpPr>
          <p:cNvPr id="31" name="直接箭头连接符 30"/>
          <p:cNvCxnSpPr/>
          <p:nvPr/>
        </p:nvCxnSpPr>
        <p:spPr>
          <a:xfrm>
            <a:off x="8248291" y="1964073"/>
            <a:ext cx="0" cy="916515"/>
          </a:xfrm>
          <a:prstGeom prst="straightConnector1">
            <a:avLst/>
          </a:prstGeom>
          <a:noFill/>
          <a:ln w="25400" cap="flat" cmpd="sng" algn="ctr">
            <a:solidFill>
              <a:srgbClr val="0000FF"/>
            </a:solidFill>
            <a:prstDash val="solid"/>
            <a:miter lim="800000"/>
            <a:headEnd type="stealth"/>
            <a:tailEnd type="stealth"/>
          </a:ln>
          <a:effectLst/>
        </p:spPr>
      </p:cxnSp>
      <p:cxnSp>
        <p:nvCxnSpPr>
          <p:cNvPr id="9" name="直接箭头连接符 8"/>
          <p:cNvCxnSpPr/>
          <p:nvPr/>
        </p:nvCxnSpPr>
        <p:spPr>
          <a:xfrm>
            <a:off x="5271657" y="3709484"/>
            <a:ext cx="15027" cy="631383"/>
          </a:xfrm>
          <a:prstGeom prst="straightConnector1">
            <a:avLst/>
          </a:prstGeom>
          <a:noFill/>
          <a:ln w="9525" cap="flat" cmpd="sng" algn="ctr">
            <a:solidFill>
              <a:sysClr val="windowText" lastClr="000000"/>
            </a:solidFill>
            <a:prstDash val="solid"/>
            <a:miter lim="800000"/>
            <a:tailEnd type="triangle" w="sm" len="med"/>
          </a:ln>
          <a:effectLst/>
        </p:spPr>
      </p:cxnSp>
      <p:pic>
        <p:nvPicPr>
          <p:cNvPr id="10" name="图片 9"/>
          <p:cNvPicPr/>
          <p:nvPr/>
        </p:nvPicPr>
        <p:blipFill>
          <a:blip r:embed="rId2"/>
          <a:stretch>
            <a:fillRect/>
          </a:stretch>
        </p:blipFill>
        <p:spPr>
          <a:xfrm rot="16031648">
            <a:off x="7946388" y="3130822"/>
            <a:ext cx="279498" cy="220235"/>
          </a:xfrm>
          <a:prstGeom prst="rect">
            <a:avLst/>
          </a:prstGeom>
        </p:spPr>
      </p:pic>
      <p:cxnSp>
        <p:nvCxnSpPr>
          <p:cNvPr id="11" name="直接连接符 10"/>
          <p:cNvCxnSpPr/>
          <p:nvPr/>
        </p:nvCxnSpPr>
        <p:spPr>
          <a:xfrm>
            <a:off x="4687459" y="3882583"/>
            <a:ext cx="4033755" cy="16949"/>
          </a:xfrm>
          <a:prstGeom prst="line">
            <a:avLst/>
          </a:prstGeom>
          <a:noFill/>
          <a:ln w="25400" cap="flat" cmpd="sng" algn="ctr">
            <a:solidFill>
              <a:srgbClr val="FF66FF"/>
            </a:solidFill>
            <a:prstDash val="dashDot"/>
            <a:miter lim="800000"/>
          </a:ln>
          <a:effectLst/>
        </p:spPr>
      </p:cxnSp>
      <p:cxnSp>
        <p:nvCxnSpPr>
          <p:cNvPr id="12" name="直接箭头连接符 11"/>
          <p:cNvCxnSpPr/>
          <p:nvPr/>
        </p:nvCxnSpPr>
        <p:spPr>
          <a:xfrm flipH="1" flipV="1">
            <a:off x="5271657" y="2880054"/>
            <a:ext cx="8484" cy="461937"/>
          </a:xfrm>
          <a:prstGeom prst="straightConnector1">
            <a:avLst/>
          </a:prstGeom>
          <a:noFill/>
          <a:ln w="9525" cap="flat" cmpd="sng" algn="ctr">
            <a:solidFill>
              <a:sysClr val="windowText" lastClr="000000"/>
            </a:solidFill>
            <a:prstDash val="solid"/>
            <a:miter lim="800000"/>
            <a:tailEnd type="triangle" w="sm" len="med"/>
          </a:ln>
          <a:effectLst/>
        </p:spPr>
      </p:cxnSp>
      <p:sp>
        <p:nvSpPr>
          <p:cNvPr id="13" name="文本框 36"/>
          <p:cNvSpPr txBox="1"/>
          <p:nvPr/>
        </p:nvSpPr>
        <p:spPr>
          <a:xfrm>
            <a:off x="5072658" y="3370499"/>
            <a:ext cx="428054" cy="374092"/>
          </a:xfrm>
          <a:prstGeom prst="rect">
            <a:avLst/>
          </a:prstGeom>
          <a:solidFill>
            <a:sysClr val="window" lastClr="FFFFFF"/>
          </a:solidFill>
        </p:spPr>
        <p:txBody>
          <a:bodyPr wrap="square" rtlCol="0">
            <a:noAutofit/>
          </a:bodyPr>
          <a:lstStyle/>
          <a:p>
            <a:pPr fontAlgn="base">
              <a:spcAft>
                <a:spcPts val="0"/>
              </a:spcAft>
            </a:pPr>
            <a:r>
              <a:rPr lang="en-US" sz="1400" i="1" kern="12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E</a:t>
            </a:r>
            <a:r>
              <a:rPr lang="en-US" sz="1400" i="1" kern="1200" baseline="-250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g</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4" name="文本框 37"/>
          <p:cNvSpPr txBox="1"/>
          <p:nvPr/>
        </p:nvSpPr>
        <p:spPr>
          <a:xfrm>
            <a:off x="4112533" y="1766715"/>
            <a:ext cx="426358" cy="394715"/>
          </a:xfrm>
          <a:prstGeom prst="rect">
            <a:avLst/>
          </a:prstGeom>
          <a:solidFill>
            <a:sysClr val="window" lastClr="FFFFFF"/>
          </a:solidFill>
        </p:spPr>
        <p:txBody>
          <a:bodyPr wrap="square" rtlCol="0">
            <a:noAutofit/>
          </a:bodyPr>
          <a:lstStyle/>
          <a:p>
            <a:pPr fontAlgn="base">
              <a:spcAft>
                <a:spcPts val="0"/>
              </a:spcAft>
            </a:pPr>
            <a:r>
              <a:rPr lang="en-US" sz="1600" i="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E</a:t>
            </a:r>
            <a:r>
              <a:rPr lang="en-US" sz="1600" kern="1200" baseline="-25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5" name="文本框 39"/>
          <p:cNvSpPr txBox="1"/>
          <p:nvPr/>
        </p:nvSpPr>
        <p:spPr>
          <a:xfrm>
            <a:off x="4050253" y="2714924"/>
            <a:ext cx="448351" cy="462119"/>
          </a:xfrm>
          <a:prstGeom prst="rect">
            <a:avLst/>
          </a:prstGeom>
          <a:solidFill>
            <a:sysClr val="window" lastClr="FFFFFF"/>
          </a:solidFill>
        </p:spPr>
        <p:txBody>
          <a:bodyPr wrap="square" rtlCol="0">
            <a:noAutofit/>
          </a:bodyPr>
          <a:lstStyle/>
          <a:p>
            <a:pPr fontAlgn="base">
              <a:spcAft>
                <a:spcPts val="0"/>
              </a:spcAft>
            </a:pPr>
            <a:r>
              <a:rPr lang="en-US" sz="1600" i="1" kern="12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E</a:t>
            </a:r>
            <a:r>
              <a:rPr lang="en-US" sz="1600" kern="1200" baseline="-250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6" name="文本框 40"/>
          <p:cNvSpPr txBox="1"/>
          <p:nvPr/>
        </p:nvSpPr>
        <p:spPr>
          <a:xfrm>
            <a:off x="4213040" y="3695232"/>
            <a:ext cx="356861" cy="307456"/>
          </a:xfrm>
          <a:prstGeom prst="rect">
            <a:avLst/>
          </a:prstGeom>
          <a:solidFill>
            <a:sysClr val="window" lastClr="FFFFFF"/>
          </a:solidFill>
        </p:spPr>
        <p:txBody>
          <a:bodyPr wrap="square" rtlCol="0">
            <a:noAutofit/>
          </a:bodyPr>
          <a:lstStyle/>
          <a:p>
            <a:pPr fontAlgn="base">
              <a:spcAft>
                <a:spcPts val="0"/>
              </a:spcAft>
            </a:pPr>
            <a:r>
              <a:rPr lang="en-US" sz="1600" i="1" kern="1200" dirty="0" err="1">
                <a:solidFill>
                  <a:srgbClr val="FF66FF"/>
                </a:solidFill>
                <a:effectLst/>
                <a:latin typeface="Times New Roman" panose="02020603050405020304" pitchFamily="18" charset="0"/>
                <a:ea typeface="宋体" panose="02010600030101010101" pitchFamily="2" charset="-122"/>
                <a:cs typeface="宋体" panose="02010600030101010101" pitchFamily="2" charset="-122"/>
              </a:rPr>
              <a:t>E</a:t>
            </a:r>
            <a:r>
              <a:rPr lang="en-US" sz="1600" kern="1200" baseline="-25000" dirty="0" err="1">
                <a:solidFill>
                  <a:srgbClr val="FF66FF"/>
                </a:solidFill>
                <a:effectLst/>
                <a:latin typeface="Times New Roman" panose="02020603050405020304" pitchFamily="18" charset="0"/>
                <a:ea typeface="宋体" panose="02010600030101010101" pitchFamily="2" charset="-122"/>
                <a:cs typeface="宋体" panose="02010600030101010101" pitchFamily="2" charset="-122"/>
              </a:rPr>
              <a:t>f</a:t>
            </a:r>
            <a:endParaRPr lang="zh-CN" sz="1600" dirty="0">
              <a:solidFill>
                <a:srgbClr val="FF66FF"/>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7" name="文本框 41"/>
          <p:cNvSpPr txBox="1"/>
          <p:nvPr/>
        </p:nvSpPr>
        <p:spPr>
          <a:xfrm>
            <a:off x="4112533" y="4210920"/>
            <a:ext cx="457367" cy="259893"/>
          </a:xfrm>
          <a:prstGeom prst="rect">
            <a:avLst/>
          </a:prstGeom>
          <a:solidFill>
            <a:sysClr val="window" lastClr="FFFFFF"/>
          </a:solidFill>
        </p:spPr>
        <p:txBody>
          <a:bodyPr wrap="square" rtlCol="0">
            <a:noAutofit/>
          </a:bodyPr>
          <a:lstStyle/>
          <a:p>
            <a:pPr algn="ctr" fontAlgn="base">
              <a:spcAft>
                <a:spcPts val="0"/>
              </a:spcAft>
            </a:pPr>
            <a:r>
              <a:rPr lang="en-US" sz="1600" i="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E</a:t>
            </a:r>
            <a:r>
              <a:rPr lang="en-US" sz="1600" kern="1200" baseline="-25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V</a:t>
            </a:r>
            <a:endParaRPr lang="zh-CN" sz="1600" baseline="-250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8" name="文本框 59"/>
          <p:cNvSpPr txBox="1"/>
          <p:nvPr/>
        </p:nvSpPr>
        <p:spPr>
          <a:xfrm rot="16200000">
            <a:off x="7768879" y="2241924"/>
            <a:ext cx="564782" cy="313278"/>
          </a:xfrm>
          <a:prstGeom prst="rect">
            <a:avLst/>
          </a:prstGeom>
          <a:solidFill>
            <a:srgbClr val="FFFF00"/>
          </a:solidFill>
        </p:spPr>
        <p:txBody>
          <a:bodyPr wrap="square" rtlCol="0">
            <a:noAutofit/>
          </a:bodyPr>
          <a:lstStyle/>
          <a:p>
            <a:pPr fontAlgn="base">
              <a:spcAft>
                <a:spcPts val="0"/>
              </a:spcAft>
            </a:pPr>
            <a:r>
              <a:rPr lang="en-US" sz="1400" i="1" kern="12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E</a:t>
            </a:r>
            <a:r>
              <a:rPr lang="en-US" sz="1400" kern="1200" baseline="-250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Aeff</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9" name="文本框 65"/>
          <p:cNvSpPr txBox="1"/>
          <p:nvPr/>
        </p:nvSpPr>
        <p:spPr>
          <a:xfrm rot="16200000">
            <a:off x="8963380" y="2728370"/>
            <a:ext cx="354989" cy="380203"/>
          </a:xfrm>
          <a:prstGeom prst="rect">
            <a:avLst/>
          </a:prstGeom>
          <a:solidFill>
            <a:schemeClr val="accent2">
              <a:lumMod val="40000"/>
              <a:lumOff val="60000"/>
            </a:schemeClr>
          </a:solidFill>
        </p:spPr>
        <p:txBody>
          <a:bodyPr wrap="square" lIns="0" tIns="0" rIns="0" bIns="0" rtlCol="0">
            <a:noAutofit/>
          </a:bodyPr>
          <a:lstStyle/>
          <a:p>
            <a:pPr fontAlgn="base">
              <a:spcAft>
                <a:spcPts val="0"/>
              </a:spcAft>
            </a:pPr>
            <a:r>
              <a:rPr lang="en-US" sz="1600" i="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E</a:t>
            </a:r>
            <a:r>
              <a:rPr lang="en-US" sz="1600" kern="1200" baseline="-25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20" name="任意多边形 19"/>
          <p:cNvSpPr/>
          <p:nvPr/>
        </p:nvSpPr>
        <p:spPr>
          <a:xfrm>
            <a:off x="7348809" y="2872841"/>
            <a:ext cx="1020232" cy="800978"/>
          </a:xfrm>
          <a:custGeom>
            <a:avLst/>
            <a:gdLst>
              <a:gd name="connsiteX0" fmla="*/ 0 w 1105786"/>
              <a:gd name="connsiteY0" fmla="*/ 0 h 844759"/>
              <a:gd name="connsiteX1" fmla="*/ 212651 w 1105786"/>
              <a:gd name="connsiteY1" fmla="*/ 85061 h 844759"/>
              <a:gd name="connsiteX2" fmla="*/ 411126 w 1105786"/>
              <a:gd name="connsiteY2" fmla="*/ 311889 h 844759"/>
              <a:gd name="connsiteX3" fmla="*/ 581247 w 1105786"/>
              <a:gd name="connsiteY3" fmla="*/ 588335 h 844759"/>
              <a:gd name="connsiteX4" fmla="*/ 758456 w 1105786"/>
              <a:gd name="connsiteY4" fmla="*/ 822251 h 844759"/>
              <a:gd name="connsiteX5" fmla="*/ 1105786 w 1105786"/>
              <a:gd name="connsiteY5" fmla="*/ 822251 h 844759"/>
              <a:gd name="connsiteX0" fmla="*/ 0 w 1077433"/>
              <a:gd name="connsiteY0" fmla="*/ 0 h 844759"/>
              <a:gd name="connsiteX1" fmla="*/ 212651 w 1077433"/>
              <a:gd name="connsiteY1" fmla="*/ 85061 h 844759"/>
              <a:gd name="connsiteX2" fmla="*/ 411126 w 1077433"/>
              <a:gd name="connsiteY2" fmla="*/ 311889 h 844759"/>
              <a:gd name="connsiteX3" fmla="*/ 581247 w 1077433"/>
              <a:gd name="connsiteY3" fmla="*/ 588335 h 844759"/>
              <a:gd name="connsiteX4" fmla="*/ 758456 w 1077433"/>
              <a:gd name="connsiteY4" fmla="*/ 822251 h 844759"/>
              <a:gd name="connsiteX5" fmla="*/ 1077433 w 1077433"/>
              <a:gd name="connsiteY5" fmla="*/ 822251 h 844759"/>
              <a:gd name="connsiteX0" fmla="*/ 0 w 1063256"/>
              <a:gd name="connsiteY0" fmla="*/ 0 h 952634"/>
              <a:gd name="connsiteX1" fmla="*/ 212651 w 1063256"/>
              <a:gd name="connsiteY1" fmla="*/ 85061 h 952634"/>
              <a:gd name="connsiteX2" fmla="*/ 411126 w 1063256"/>
              <a:gd name="connsiteY2" fmla="*/ 311889 h 952634"/>
              <a:gd name="connsiteX3" fmla="*/ 581247 w 1063256"/>
              <a:gd name="connsiteY3" fmla="*/ 588335 h 952634"/>
              <a:gd name="connsiteX4" fmla="*/ 758456 w 1063256"/>
              <a:gd name="connsiteY4" fmla="*/ 822251 h 952634"/>
              <a:gd name="connsiteX5" fmla="*/ 1063256 w 1063256"/>
              <a:gd name="connsiteY5" fmla="*/ 949842 h 952634"/>
              <a:gd name="connsiteX0" fmla="*/ 0 w 1049079"/>
              <a:gd name="connsiteY0" fmla="*/ 0 h 945715"/>
              <a:gd name="connsiteX1" fmla="*/ 212651 w 1049079"/>
              <a:gd name="connsiteY1" fmla="*/ 85061 h 945715"/>
              <a:gd name="connsiteX2" fmla="*/ 411126 w 1049079"/>
              <a:gd name="connsiteY2" fmla="*/ 311889 h 945715"/>
              <a:gd name="connsiteX3" fmla="*/ 581247 w 1049079"/>
              <a:gd name="connsiteY3" fmla="*/ 588335 h 945715"/>
              <a:gd name="connsiteX4" fmla="*/ 758456 w 1049079"/>
              <a:gd name="connsiteY4" fmla="*/ 822251 h 945715"/>
              <a:gd name="connsiteX5" fmla="*/ 1049079 w 1049079"/>
              <a:gd name="connsiteY5" fmla="*/ 942754 h 945715"/>
              <a:gd name="connsiteX0" fmla="*/ 0 w 1049079"/>
              <a:gd name="connsiteY0" fmla="*/ 0 h 945715"/>
              <a:gd name="connsiteX1" fmla="*/ 212651 w 1049079"/>
              <a:gd name="connsiteY1" fmla="*/ 85061 h 945715"/>
              <a:gd name="connsiteX2" fmla="*/ 411126 w 1049079"/>
              <a:gd name="connsiteY2" fmla="*/ 311889 h 945715"/>
              <a:gd name="connsiteX3" fmla="*/ 581247 w 1049079"/>
              <a:gd name="connsiteY3" fmla="*/ 588335 h 945715"/>
              <a:gd name="connsiteX4" fmla="*/ 786809 w 1049079"/>
              <a:gd name="connsiteY4" fmla="*/ 822251 h 945715"/>
              <a:gd name="connsiteX5" fmla="*/ 1049079 w 1049079"/>
              <a:gd name="connsiteY5" fmla="*/ 942754 h 945715"/>
              <a:gd name="connsiteX0" fmla="*/ 0 w 1049079"/>
              <a:gd name="connsiteY0" fmla="*/ 0 h 945516"/>
              <a:gd name="connsiteX1" fmla="*/ 212651 w 1049079"/>
              <a:gd name="connsiteY1" fmla="*/ 85061 h 945516"/>
              <a:gd name="connsiteX2" fmla="*/ 411126 w 1049079"/>
              <a:gd name="connsiteY2" fmla="*/ 311889 h 945516"/>
              <a:gd name="connsiteX3" fmla="*/ 581247 w 1049079"/>
              <a:gd name="connsiteY3" fmla="*/ 588335 h 945516"/>
              <a:gd name="connsiteX4" fmla="*/ 680483 w 1049079"/>
              <a:gd name="connsiteY4" fmla="*/ 815163 h 945516"/>
              <a:gd name="connsiteX5" fmla="*/ 1049079 w 1049079"/>
              <a:gd name="connsiteY5" fmla="*/ 942754 h 945516"/>
              <a:gd name="connsiteX0" fmla="*/ 0 w 1049079"/>
              <a:gd name="connsiteY0" fmla="*/ 0 h 945516"/>
              <a:gd name="connsiteX1" fmla="*/ 212651 w 1049079"/>
              <a:gd name="connsiteY1" fmla="*/ 85061 h 945516"/>
              <a:gd name="connsiteX2" fmla="*/ 467833 w 1049079"/>
              <a:gd name="connsiteY2" fmla="*/ 219740 h 945516"/>
              <a:gd name="connsiteX3" fmla="*/ 581247 w 1049079"/>
              <a:gd name="connsiteY3" fmla="*/ 588335 h 945516"/>
              <a:gd name="connsiteX4" fmla="*/ 680483 w 1049079"/>
              <a:gd name="connsiteY4" fmla="*/ 815163 h 945516"/>
              <a:gd name="connsiteX5" fmla="*/ 1049079 w 1049079"/>
              <a:gd name="connsiteY5" fmla="*/ 942754 h 945516"/>
              <a:gd name="connsiteX0" fmla="*/ 0 w 1049079"/>
              <a:gd name="connsiteY0" fmla="*/ 0 h 945516"/>
              <a:gd name="connsiteX1" fmla="*/ 248093 w 1049079"/>
              <a:gd name="connsiteY1" fmla="*/ 42531 h 945516"/>
              <a:gd name="connsiteX2" fmla="*/ 467833 w 1049079"/>
              <a:gd name="connsiteY2" fmla="*/ 219740 h 945516"/>
              <a:gd name="connsiteX3" fmla="*/ 581247 w 1049079"/>
              <a:gd name="connsiteY3" fmla="*/ 588335 h 945516"/>
              <a:gd name="connsiteX4" fmla="*/ 680483 w 1049079"/>
              <a:gd name="connsiteY4" fmla="*/ 815163 h 945516"/>
              <a:gd name="connsiteX5" fmla="*/ 1049079 w 1049079"/>
              <a:gd name="connsiteY5" fmla="*/ 942754 h 945516"/>
              <a:gd name="connsiteX0" fmla="*/ 0 w 1049079"/>
              <a:gd name="connsiteY0" fmla="*/ 0 h 945608"/>
              <a:gd name="connsiteX1" fmla="*/ 248093 w 1049079"/>
              <a:gd name="connsiteY1" fmla="*/ 42531 h 945608"/>
              <a:gd name="connsiteX2" fmla="*/ 467833 w 1049079"/>
              <a:gd name="connsiteY2" fmla="*/ 219740 h 945608"/>
              <a:gd name="connsiteX3" fmla="*/ 581247 w 1049079"/>
              <a:gd name="connsiteY3" fmla="*/ 567070 h 945608"/>
              <a:gd name="connsiteX4" fmla="*/ 680483 w 1049079"/>
              <a:gd name="connsiteY4" fmla="*/ 815163 h 945608"/>
              <a:gd name="connsiteX5" fmla="*/ 1049079 w 1049079"/>
              <a:gd name="connsiteY5" fmla="*/ 942754 h 945608"/>
              <a:gd name="connsiteX0" fmla="*/ 0 w 1049079"/>
              <a:gd name="connsiteY0" fmla="*/ 0 h 945260"/>
              <a:gd name="connsiteX1" fmla="*/ 248093 w 1049079"/>
              <a:gd name="connsiteY1" fmla="*/ 42531 h 945260"/>
              <a:gd name="connsiteX2" fmla="*/ 467833 w 1049079"/>
              <a:gd name="connsiteY2" fmla="*/ 219740 h 945260"/>
              <a:gd name="connsiteX3" fmla="*/ 581247 w 1049079"/>
              <a:gd name="connsiteY3" fmla="*/ 567070 h 945260"/>
              <a:gd name="connsiteX4" fmla="*/ 708836 w 1049079"/>
              <a:gd name="connsiteY4" fmla="*/ 800987 h 945260"/>
              <a:gd name="connsiteX5" fmla="*/ 1049079 w 1049079"/>
              <a:gd name="connsiteY5" fmla="*/ 942754 h 945260"/>
              <a:gd name="connsiteX0" fmla="*/ 0 w 1049079"/>
              <a:gd name="connsiteY0" fmla="*/ 0 h 945311"/>
              <a:gd name="connsiteX1" fmla="*/ 248093 w 1049079"/>
              <a:gd name="connsiteY1" fmla="*/ 42531 h 945311"/>
              <a:gd name="connsiteX2" fmla="*/ 467833 w 1049079"/>
              <a:gd name="connsiteY2" fmla="*/ 219740 h 945311"/>
              <a:gd name="connsiteX3" fmla="*/ 602512 w 1049079"/>
              <a:gd name="connsiteY3" fmla="*/ 552893 h 945311"/>
              <a:gd name="connsiteX4" fmla="*/ 708836 w 1049079"/>
              <a:gd name="connsiteY4" fmla="*/ 800987 h 945311"/>
              <a:gd name="connsiteX5" fmla="*/ 1049079 w 1049079"/>
              <a:gd name="connsiteY5" fmla="*/ 942754 h 945311"/>
              <a:gd name="connsiteX0" fmla="*/ 0 w 1049079"/>
              <a:gd name="connsiteY0" fmla="*/ 0 h 945658"/>
              <a:gd name="connsiteX1" fmla="*/ 248093 w 1049079"/>
              <a:gd name="connsiteY1" fmla="*/ 42531 h 945658"/>
              <a:gd name="connsiteX2" fmla="*/ 467833 w 1049079"/>
              <a:gd name="connsiteY2" fmla="*/ 219740 h 945658"/>
              <a:gd name="connsiteX3" fmla="*/ 602512 w 1049079"/>
              <a:gd name="connsiteY3" fmla="*/ 552893 h 945658"/>
              <a:gd name="connsiteX4" fmla="*/ 708836 w 1049079"/>
              <a:gd name="connsiteY4" fmla="*/ 800987 h 945658"/>
              <a:gd name="connsiteX5" fmla="*/ 1049079 w 1049079"/>
              <a:gd name="connsiteY5" fmla="*/ 942754 h 945658"/>
              <a:gd name="connsiteX0" fmla="*/ 0 w 1049079"/>
              <a:gd name="connsiteY0" fmla="*/ 0 h 946105"/>
              <a:gd name="connsiteX1" fmla="*/ 248093 w 1049079"/>
              <a:gd name="connsiteY1" fmla="*/ 42531 h 946105"/>
              <a:gd name="connsiteX2" fmla="*/ 467833 w 1049079"/>
              <a:gd name="connsiteY2" fmla="*/ 219740 h 946105"/>
              <a:gd name="connsiteX3" fmla="*/ 602512 w 1049079"/>
              <a:gd name="connsiteY3" fmla="*/ 552893 h 946105"/>
              <a:gd name="connsiteX4" fmla="*/ 708836 w 1049079"/>
              <a:gd name="connsiteY4" fmla="*/ 800987 h 946105"/>
              <a:gd name="connsiteX5" fmla="*/ 1049079 w 1049079"/>
              <a:gd name="connsiteY5" fmla="*/ 942754 h 946105"/>
              <a:gd name="connsiteX0" fmla="*/ 0 w 1049079"/>
              <a:gd name="connsiteY0" fmla="*/ 0 h 946105"/>
              <a:gd name="connsiteX1" fmla="*/ 248093 w 1049079"/>
              <a:gd name="connsiteY1" fmla="*/ 42531 h 946105"/>
              <a:gd name="connsiteX2" fmla="*/ 467833 w 1049079"/>
              <a:gd name="connsiteY2" fmla="*/ 219740 h 946105"/>
              <a:gd name="connsiteX3" fmla="*/ 602512 w 1049079"/>
              <a:gd name="connsiteY3" fmla="*/ 552893 h 946105"/>
              <a:gd name="connsiteX4" fmla="*/ 708836 w 1049079"/>
              <a:gd name="connsiteY4" fmla="*/ 800987 h 946105"/>
              <a:gd name="connsiteX5" fmla="*/ 1049079 w 1049079"/>
              <a:gd name="connsiteY5" fmla="*/ 942754 h 946105"/>
              <a:gd name="connsiteX0" fmla="*/ 0 w 1049079"/>
              <a:gd name="connsiteY0" fmla="*/ 0 h 945503"/>
              <a:gd name="connsiteX1" fmla="*/ 248093 w 1049079"/>
              <a:gd name="connsiteY1" fmla="*/ 42531 h 945503"/>
              <a:gd name="connsiteX2" fmla="*/ 467833 w 1049079"/>
              <a:gd name="connsiteY2" fmla="*/ 219740 h 945503"/>
              <a:gd name="connsiteX3" fmla="*/ 581247 w 1049079"/>
              <a:gd name="connsiteY3" fmla="*/ 503275 h 945503"/>
              <a:gd name="connsiteX4" fmla="*/ 708836 w 1049079"/>
              <a:gd name="connsiteY4" fmla="*/ 800987 h 945503"/>
              <a:gd name="connsiteX5" fmla="*/ 1049079 w 1049079"/>
              <a:gd name="connsiteY5" fmla="*/ 942754 h 945503"/>
              <a:gd name="connsiteX0" fmla="*/ 0 w 1049079"/>
              <a:gd name="connsiteY0" fmla="*/ 0 h 945503"/>
              <a:gd name="connsiteX1" fmla="*/ 248093 w 1049079"/>
              <a:gd name="connsiteY1" fmla="*/ 42531 h 945503"/>
              <a:gd name="connsiteX2" fmla="*/ 467833 w 1049079"/>
              <a:gd name="connsiteY2" fmla="*/ 219740 h 945503"/>
              <a:gd name="connsiteX3" fmla="*/ 581247 w 1049079"/>
              <a:gd name="connsiteY3" fmla="*/ 503275 h 945503"/>
              <a:gd name="connsiteX4" fmla="*/ 708836 w 1049079"/>
              <a:gd name="connsiteY4" fmla="*/ 800987 h 945503"/>
              <a:gd name="connsiteX5" fmla="*/ 1049079 w 1049079"/>
              <a:gd name="connsiteY5" fmla="*/ 942754 h 945503"/>
              <a:gd name="connsiteX0" fmla="*/ 0 w 1049079"/>
              <a:gd name="connsiteY0" fmla="*/ 0 h 947122"/>
              <a:gd name="connsiteX1" fmla="*/ 248093 w 1049079"/>
              <a:gd name="connsiteY1" fmla="*/ 42531 h 947122"/>
              <a:gd name="connsiteX2" fmla="*/ 467833 w 1049079"/>
              <a:gd name="connsiteY2" fmla="*/ 219740 h 947122"/>
              <a:gd name="connsiteX3" fmla="*/ 581247 w 1049079"/>
              <a:gd name="connsiteY3" fmla="*/ 503275 h 947122"/>
              <a:gd name="connsiteX4" fmla="*/ 708836 w 1049079"/>
              <a:gd name="connsiteY4" fmla="*/ 800987 h 947122"/>
              <a:gd name="connsiteX5" fmla="*/ 1049079 w 1049079"/>
              <a:gd name="connsiteY5" fmla="*/ 942754 h 947122"/>
              <a:gd name="connsiteX0" fmla="*/ 0 w 1049079"/>
              <a:gd name="connsiteY0" fmla="*/ 0 h 947122"/>
              <a:gd name="connsiteX1" fmla="*/ 248093 w 1049079"/>
              <a:gd name="connsiteY1" fmla="*/ 42531 h 947122"/>
              <a:gd name="connsiteX2" fmla="*/ 467833 w 1049079"/>
              <a:gd name="connsiteY2" fmla="*/ 219740 h 947122"/>
              <a:gd name="connsiteX3" fmla="*/ 581247 w 1049079"/>
              <a:gd name="connsiteY3" fmla="*/ 503275 h 947122"/>
              <a:gd name="connsiteX4" fmla="*/ 708836 w 1049079"/>
              <a:gd name="connsiteY4" fmla="*/ 800987 h 947122"/>
              <a:gd name="connsiteX5" fmla="*/ 1049079 w 1049079"/>
              <a:gd name="connsiteY5" fmla="*/ 942754 h 947122"/>
              <a:gd name="connsiteX0" fmla="*/ 0 w 1049079"/>
              <a:gd name="connsiteY0" fmla="*/ 0 h 945318"/>
              <a:gd name="connsiteX1" fmla="*/ 248093 w 1049079"/>
              <a:gd name="connsiteY1" fmla="*/ 42531 h 945318"/>
              <a:gd name="connsiteX2" fmla="*/ 467833 w 1049079"/>
              <a:gd name="connsiteY2" fmla="*/ 219740 h 945318"/>
              <a:gd name="connsiteX3" fmla="*/ 581247 w 1049079"/>
              <a:gd name="connsiteY3" fmla="*/ 503275 h 945318"/>
              <a:gd name="connsiteX4" fmla="*/ 693142 w 1049079"/>
              <a:gd name="connsiteY4" fmla="*/ 752112 h 945318"/>
              <a:gd name="connsiteX5" fmla="*/ 1049079 w 1049079"/>
              <a:gd name="connsiteY5" fmla="*/ 942754 h 945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9079" h="945318">
                <a:moveTo>
                  <a:pt x="0" y="0"/>
                </a:moveTo>
                <a:cubicBezTo>
                  <a:pt x="107507" y="2363"/>
                  <a:pt x="170121" y="5908"/>
                  <a:pt x="248093" y="42531"/>
                </a:cubicBezTo>
                <a:cubicBezTo>
                  <a:pt x="326065" y="79154"/>
                  <a:pt x="398130" y="114595"/>
                  <a:pt x="467833" y="219740"/>
                </a:cubicBezTo>
                <a:cubicBezTo>
                  <a:pt x="537536" y="324885"/>
                  <a:pt x="543696" y="414546"/>
                  <a:pt x="581247" y="503275"/>
                </a:cubicBezTo>
                <a:cubicBezTo>
                  <a:pt x="618798" y="592004"/>
                  <a:pt x="636435" y="636335"/>
                  <a:pt x="693142" y="752112"/>
                </a:cubicBezTo>
                <a:cubicBezTo>
                  <a:pt x="749849" y="867889"/>
                  <a:pt x="919125" y="962247"/>
                  <a:pt x="1049079" y="942754"/>
                </a:cubicBezTo>
              </a:path>
            </a:pathLst>
          </a:custGeom>
          <a:noFill/>
          <a:ln w="19050" cap="flat" cmpd="sng" algn="ctr">
            <a:solidFill>
              <a:sysClr val="windowText" lastClr="000000"/>
            </a:solidFill>
            <a:prstDash val="solid"/>
            <a:miter lim="800000"/>
          </a:ln>
          <a:effectLst/>
        </p:spPr>
        <p:txBody>
          <a:bodyPr rtlCol="0" anchor="ctr"/>
          <a:lstStyle/>
          <a:p>
            <a:endParaRPr lang="zh-CN" altLang="en-US"/>
          </a:p>
        </p:txBody>
      </p:sp>
      <p:sp>
        <p:nvSpPr>
          <p:cNvPr id="21" name="任意多边形 20"/>
          <p:cNvSpPr/>
          <p:nvPr/>
        </p:nvSpPr>
        <p:spPr>
          <a:xfrm>
            <a:off x="7395174" y="4358604"/>
            <a:ext cx="998913" cy="608688"/>
          </a:xfrm>
          <a:custGeom>
            <a:avLst/>
            <a:gdLst>
              <a:gd name="connsiteX0" fmla="*/ 0 w 1105786"/>
              <a:gd name="connsiteY0" fmla="*/ 0 h 844759"/>
              <a:gd name="connsiteX1" fmla="*/ 212651 w 1105786"/>
              <a:gd name="connsiteY1" fmla="*/ 85061 h 844759"/>
              <a:gd name="connsiteX2" fmla="*/ 411126 w 1105786"/>
              <a:gd name="connsiteY2" fmla="*/ 311889 h 844759"/>
              <a:gd name="connsiteX3" fmla="*/ 581247 w 1105786"/>
              <a:gd name="connsiteY3" fmla="*/ 588335 h 844759"/>
              <a:gd name="connsiteX4" fmla="*/ 758456 w 1105786"/>
              <a:gd name="connsiteY4" fmla="*/ 822251 h 844759"/>
              <a:gd name="connsiteX5" fmla="*/ 1105786 w 1105786"/>
              <a:gd name="connsiteY5" fmla="*/ 822251 h 844759"/>
              <a:gd name="connsiteX0" fmla="*/ 0 w 1077433"/>
              <a:gd name="connsiteY0" fmla="*/ 0 h 844759"/>
              <a:gd name="connsiteX1" fmla="*/ 212651 w 1077433"/>
              <a:gd name="connsiteY1" fmla="*/ 85061 h 844759"/>
              <a:gd name="connsiteX2" fmla="*/ 411126 w 1077433"/>
              <a:gd name="connsiteY2" fmla="*/ 311889 h 844759"/>
              <a:gd name="connsiteX3" fmla="*/ 581247 w 1077433"/>
              <a:gd name="connsiteY3" fmla="*/ 588335 h 844759"/>
              <a:gd name="connsiteX4" fmla="*/ 758456 w 1077433"/>
              <a:gd name="connsiteY4" fmla="*/ 822251 h 844759"/>
              <a:gd name="connsiteX5" fmla="*/ 1077433 w 1077433"/>
              <a:gd name="connsiteY5" fmla="*/ 822251 h 844759"/>
              <a:gd name="connsiteX0" fmla="*/ 0 w 1063256"/>
              <a:gd name="connsiteY0" fmla="*/ 0 h 952634"/>
              <a:gd name="connsiteX1" fmla="*/ 212651 w 1063256"/>
              <a:gd name="connsiteY1" fmla="*/ 85061 h 952634"/>
              <a:gd name="connsiteX2" fmla="*/ 411126 w 1063256"/>
              <a:gd name="connsiteY2" fmla="*/ 311889 h 952634"/>
              <a:gd name="connsiteX3" fmla="*/ 581247 w 1063256"/>
              <a:gd name="connsiteY3" fmla="*/ 588335 h 952634"/>
              <a:gd name="connsiteX4" fmla="*/ 758456 w 1063256"/>
              <a:gd name="connsiteY4" fmla="*/ 822251 h 952634"/>
              <a:gd name="connsiteX5" fmla="*/ 1063256 w 1063256"/>
              <a:gd name="connsiteY5" fmla="*/ 949842 h 952634"/>
              <a:gd name="connsiteX0" fmla="*/ 0 w 1049079"/>
              <a:gd name="connsiteY0" fmla="*/ 0 h 945715"/>
              <a:gd name="connsiteX1" fmla="*/ 212651 w 1049079"/>
              <a:gd name="connsiteY1" fmla="*/ 85061 h 945715"/>
              <a:gd name="connsiteX2" fmla="*/ 411126 w 1049079"/>
              <a:gd name="connsiteY2" fmla="*/ 311889 h 945715"/>
              <a:gd name="connsiteX3" fmla="*/ 581247 w 1049079"/>
              <a:gd name="connsiteY3" fmla="*/ 588335 h 945715"/>
              <a:gd name="connsiteX4" fmla="*/ 758456 w 1049079"/>
              <a:gd name="connsiteY4" fmla="*/ 822251 h 945715"/>
              <a:gd name="connsiteX5" fmla="*/ 1049079 w 1049079"/>
              <a:gd name="connsiteY5" fmla="*/ 942754 h 945715"/>
              <a:gd name="connsiteX0" fmla="*/ 0 w 1049079"/>
              <a:gd name="connsiteY0" fmla="*/ 0 h 945715"/>
              <a:gd name="connsiteX1" fmla="*/ 212651 w 1049079"/>
              <a:gd name="connsiteY1" fmla="*/ 85061 h 945715"/>
              <a:gd name="connsiteX2" fmla="*/ 411126 w 1049079"/>
              <a:gd name="connsiteY2" fmla="*/ 311889 h 945715"/>
              <a:gd name="connsiteX3" fmla="*/ 581247 w 1049079"/>
              <a:gd name="connsiteY3" fmla="*/ 588335 h 945715"/>
              <a:gd name="connsiteX4" fmla="*/ 786809 w 1049079"/>
              <a:gd name="connsiteY4" fmla="*/ 822251 h 945715"/>
              <a:gd name="connsiteX5" fmla="*/ 1049079 w 1049079"/>
              <a:gd name="connsiteY5" fmla="*/ 942754 h 945715"/>
              <a:gd name="connsiteX0" fmla="*/ 0 w 1049079"/>
              <a:gd name="connsiteY0" fmla="*/ 0 h 945516"/>
              <a:gd name="connsiteX1" fmla="*/ 212651 w 1049079"/>
              <a:gd name="connsiteY1" fmla="*/ 85061 h 945516"/>
              <a:gd name="connsiteX2" fmla="*/ 411126 w 1049079"/>
              <a:gd name="connsiteY2" fmla="*/ 311889 h 945516"/>
              <a:gd name="connsiteX3" fmla="*/ 581247 w 1049079"/>
              <a:gd name="connsiteY3" fmla="*/ 588335 h 945516"/>
              <a:gd name="connsiteX4" fmla="*/ 680483 w 1049079"/>
              <a:gd name="connsiteY4" fmla="*/ 815163 h 945516"/>
              <a:gd name="connsiteX5" fmla="*/ 1049079 w 1049079"/>
              <a:gd name="connsiteY5" fmla="*/ 942754 h 945516"/>
              <a:gd name="connsiteX0" fmla="*/ 0 w 1049079"/>
              <a:gd name="connsiteY0" fmla="*/ 0 h 945516"/>
              <a:gd name="connsiteX1" fmla="*/ 212651 w 1049079"/>
              <a:gd name="connsiteY1" fmla="*/ 85061 h 945516"/>
              <a:gd name="connsiteX2" fmla="*/ 467833 w 1049079"/>
              <a:gd name="connsiteY2" fmla="*/ 219740 h 945516"/>
              <a:gd name="connsiteX3" fmla="*/ 581247 w 1049079"/>
              <a:gd name="connsiteY3" fmla="*/ 588335 h 945516"/>
              <a:gd name="connsiteX4" fmla="*/ 680483 w 1049079"/>
              <a:gd name="connsiteY4" fmla="*/ 815163 h 945516"/>
              <a:gd name="connsiteX5" fmla="*/ 1049079 w 1049079"/>
              <a:gd name="connsiteY5" fmla="*/ 942754 h 945516"/>
              <a:gd name="connsiteX0" fmla="*/ 0 w 1049079"/>
              <a:gd name="connsiteY0" fmla="*/ 0 h 945516"/>
              <a:gd name="connsiteX1" fmla="*/ 248093 w 1049079"/>
              <a:gd name="connsiteY1" fmla="*/ 42531 h 945516"/>
              <a:gd name="connsiteX2" fmla="*/ 467833 w 1049079"/>
              <a:gd name="connsiteY2" fmla="*/ 219740 h 945516"/>
              <a:gd name="connsiteX3" fmla="*/ 581247 w 1049079"/>
              <a:gd name="connsiteY3" fmla="*/ 588335 h 945516"/>
              <a:gd name="connsiteX4" fmla="*/ 680483 w 1049079"/>
              <a:gd name="connsiteY4" fmla="*/ 815163 h 945516"/>
              <a:gd name="connsiteX5" fmla="*/ 1049079 w 1049079"/>
              <a:gd name="connsiteY5" fmla="*/ 942754 h 945516"/>
              <a:gd name="connsiteX0" fmla="*/ 0 w 1049079"/>
              <a:gd name="connsiteY0" fmla="*/ 0 h 945608"/>
              <a:gd name="connsiteX1" fmla="*/ 248093 w 1049079"/>
              <a:gd name="connsiteY1" fmla="*/ 42531 h 945608"/>
              <a:gd name="connsiteX2" fmla="*/ 467833 w 1049079"/>
              <a:gd name="connsiteY2" fmla="*/ 219740 h 945608"/>
              <a:gd name="connsiteX3" fmla="*/ 581247 w 1049079"/>
              <a:gd name="connsiteY3" fmla="*/ 567070 h 945608"/>
              <a:gd name="connsiteX4" fmla="*/ 680483 w 1049079"/>
              <a:gd name="connsiteY4" fmla="*/ 815163 h 945608"/>
              <a:gd name="connsiteX5" fmla="*/ 1049079 w 1049079"/>
              <a:gd name="connsiteY5" fmla="*/ 942754 h 945608"/>
              <a:gd name="connsiteX0" fmla="*/ 0 w 1049079"/>
              <a:gd name="connsiteY0" fmla="*/ 0 h 945260"/>
              <a:gd name="connsiteX1" fmla="*/ 248093 w 1049079"/>
              <a:gd name="connsiteY1" fmla="*/ 42531 h 945260"/>
              <a:gd name="connsiteX2" fmla="*/ 467833 w 1049079"/>
              <a:gd name="connsiteY2" fmla="*/ 219740 h 945260"/>
              <a:gd name="connsiteX3" fmla="*/ 581247 w 1049079"/>
              <a:gd name="connsiteY3" fmla="*/ 567070 h 945260"/>
              <a:gd name="connsiteX4" fmla="*/ 708836 w 1049079"/>
              <a:gd name="connsiteY4" fmla="*/ 800987 h 945260"/>
              <a:gd name="connsiteX5" fmla="*/ 1049079 w 1049079"/>
              <a:gd name="connsiteY5" fmla="*/ 942754 h 945260"/>
              <a:gd name="connsiteX0" fmla="*/ 0 w 1049079"/>
              <a:gd name="connsiteY0" fmla="*/ 0 h 945311"/>
              <a:gd name="connsiteX1" fmla="*/ 248093 w 1049079"/>
              <a:gd name="connsiteY1" fmla="*/ 42531 h 945311"/>
              <a:gd name="connsiteX2" fmla="*/ 467833 w 1049079"/>
              <a:gd name="connsiteY2" fmla="*/ 219740 h 945311"/>
              <a:gd name="connsiteX3" fmla="*/ 602512 w 1049079"/>
              <a:gd name="connsiteY3" fmla="*/ 552893 h 945311"/>
              <a:gd name="connsiteX4" fmla="*/ 708836 w 1049079"/>
              <a:gd name="connsiteY4" fmla="*/ 800987 h 945311"/>
              <a:gd name="connsiteX5" fmla="*/ 1049079 w 1049079"/>
              <a:gd name="connsiteY5" fmla="*/ 942754 h 945311"/>
              <a:gd name="connsiteX0" fmla="*/ 0 w 1049079"/>
              <a:gd name="connsiteY0" fmla="*/ 0 h 945658"/>
              <a:gd name="connsiteX1" fmla="*/ 248093 w 1049079"/>
              <a:gd name="connsiteY1" fmla="*/ 42531 h 945658"/>
              <a:gd name="connsiteX2" fmla="*/ 467833 w 1049079"/>
              <a:gd name="connsiteY2" fmla="*/ 219740 h 945658"/>
              <a:gd name="connsiteX3" fmla="*/ 602512 w 1049079"/>
              <a:gd name="connsiteY3" fmla="*/ 552893 h 945658"/>
              <a:gd name="connsiteX4" fmla="*/ 708836 w 1049079"/>
              <a:gd name="connsiteY4" fmla="*/ 800987 h 945658"/>
              <a:gd name="connsiteX5" fmla="*/ 1049079 w 1049079"/>
              <a:gd name="connsiteY5" fmla="*/ 942754 h 945658"/>
              <a:gd name="connsiteX0" fmla="*/ 0 w 1049079"/>
              <a:gd name="connsiteY0" fmla="*/ 0 h 946105"/>
              <a:gd name="connsiteX1" fmla="*/ 248093 w 1049079"/>
              <a:gd name="connsiteY1" fmla="*/ 42531 h 946105"/>
              <a:gd name="connsiteX2" fmla="*/ 467833 w 1049079"/>
              <a:gd name="connsiteY2" fmla="*/ 219740 h 946105"/>
              <a:gd name="connsiteX3" fmla="*/ 602512 w 1049079"/>
              <a:gd name="connsiteY3" fmla="*/ 552893 h 946105"/>
              <a:gd name="connsiteX4" fmla="*/ 708836 w 1049079"/>
              <a:gd name="connsiteY4" fmla="*/ 800987 h 946105"/>
              <a:gd name="connsiteX5" fmla="*/ 1049079 w 1049079"/>
              <a:gd name="connsiteY5" fmla="*/ 942754 h 946105"/>
              <a:gd name="connsiteX0" fmla="*/ 0 w 1049079"/>
              <a:gd name="connsiteY0" fmla="*/ 0 h 946105"/>
              <a:gd name="connsiteX1" fmla="*/ 248093 w 1049079"/>
              <a:gd name="connsiteY1" fmla="*/ 42531 h 946105"/>
              <a:gd name="connsiteX2" fmla="*/ 467833 w 1049079"/>
              <a:gd name="connsiteY2" fmla="*/ 219740 h 946105"/>
              <a:gd name="connsiteX3" fmla="*/ 602512 w 1049079"/>
              <a:gd name="connsiteY3" fmla="*/ 552893 h 946105"/>
              <a:gd name="connsiteX4" fmla="*/ 708836 w 1049079"/>
              <a:gd name="connsiteY4" fmla="*/ 800987 h 946105"/>
              <a:gd name="connsiteX5" fmla="*/ 1049079 w 1049079"/>
              <a:gd name="connsiteY5" fmla="*/ 942754 h 946105"/>
              <a:gd name="connsiteX0" fmla="*/ 0 w 1049079"/>
              <a:gd name="connsiteY0" fmla="*/ 0 h 945503"/>
              <a:gd name="connsiteX1" fmla="*/ 248093 w 1049079"/>
              <a:gd name="connsiteY1" fmla="*/ 42531 h 945503"/>
              <a:gd name="connsiteX2" fmla="*/ 467833 w 1049079"/>
              <a:gd name="connsiteY2" fmla="*/ 219740 h 945503"/>
              <a:gd name="connsiteX3" fmla="*/ 581247 w 1049079"/>
              <a:gd name="connsiteY3" fmla="*/ 503275 h 945503"/>
              <a:gd name="connsiteX4" fmla="*/ 708836 w 1049079"/>
              <a:gd name="connsiteY4" fmla="*/ 800987 h 945503"/>
              <a:gd name="connsiteX5" fmla="*/ 1049079 w 1049079"/>
              <a:gd name="connsiteY5" fmla="*/ 942754 h 945503"/>
              <a:gd name="connsiteX0" fmla="*/ 0 w 1049079"/>
              <a:gd name="connsiteY0" fmla="*/ 0 h 945503"/>
              <a:gd name="connsiteX1" fmla="*/ 248093 w 1049079"/>
              <a:gd name="connsiteY1" fmla="*/ 42531 h 945503"/>
              <a:gd name="connsiteX2" fmla="*/ 467833 w 1049079"/>
              <a:gd name="connsiteY2" fmla="*/ 219740 h 945503"/>
              <a:gd name="connsiteX3" fmla="*/ 581247 w 1049079"/>
              <a:gd name="connsiteY3" fmla="*/ 503275 h 945503"/>
              <a:gd name="connsiteX4" fmla="*/ 708836 w 1049079"/>
              <a:gd name="connsiteY4" fmla="*/ 800987 h 945503"/>
              <a:gd name="connsiteX5" fmla="*/ 1049079 w 1049079"/>
              <a:gd name="connsiteY5" fmla="*/ 942754 h 945503"/>
              <a:gd name="connsiteX0" fmla="*/ 0 w 1049079"/>
              <a:gd name="connsiteY0" fmla="*/ 0 h 947122"/>
              <a:gd name="connsiteX1" fmla="*/ 248093 w 1049079"/>
              <a:gd name="connsiteY1" fmla="*/ 42531 h 947122"/>
              <a:gd name="connsiteX2" fmla="*/ 467833 w 1049079"/>
              <a:gd name="connsiteY2" fmla="*/ 219740 h 947122"/>
              <a:gd name="connsiteX3" fmla="*/ 581247 w 1049079"/>
              <a:gd name="connsiteY3" fmla="*/ 503275 h 947122"/>
              <a:gd name="connsiteX4" fmla="*/ 708836 w 1049079"/>
              <a:gd name="connsiteY4" fmla="*/ 800987 h 947122"/>
              <a:gd name="connsiteX5" fmla="*/ 1049079 w 1049079"/>
              <a:gd name="connsiteY5" fmla="*/ 942754 h 947122"/>
              <a:gd name="connsiteX0" fmla="*/ 0 w 1049079"/>
              <a:gd name="connsiteY0" fmla="*/ 0 h 947122"/>
              <a:gd name="connsiteX1" fmla="*/ 248093 w 1049079"/>
              <a:gd name="connsiteY1" fmla="*/ 42531 h 947122"/>
              <a:gd name="connsiteX2" fmla="*/ 467833 w 1049079"/>
              <a:gd name="connsiteY2" fmla="*/ 219740 h 947122"/>
              <a:gd name="connsiteX3" fmla="*/ 581247 w 1049079"/>
              <a:gd name="connsiteY3" fmla="*/ 503275 h 947122"/>
              <a:gd name="connsiteX4" fmla="*/ 708836 w 1049079"/>
              <a:gd name="connsiteY4" fmla="*/ 800987 h 947122"/>
              <a:gd name="connsiteX5" fmla="*/ 1049079 w 1049079"/>
              <a:gd name="connsiteY5" fmla="*/ 942754 h 947122"/>
              <a:gd name="connsiteX0" fmla="*/ 0 w 1049079"/>
              <a:gd name="connsiteY0" fmla="*/ 0 h 945318"/>
              <a:gd name="connsiteX1" fmla="*/ 248093 w 1049079"/>
              <a:gd name="connsiteY1" fmla="*/ 42531 h 945318"/>
              <a:gd name="connsiteX2" fmla="*/ 467833 w 1049079"/>
              <a:gd name="connsiteY2" fmla="*/ 219740 h 945318"/>
              <a:gd name="connsiteX3" fmla="*/ 581247 w 1049079"/>
              <a:gd name="connsiteY3" fmla="*/ 503275 h 945318"/>
              <a:gd name="connsiteX4" fmla="*/ 693142 w 1049079"/>
              <a:gd name="connsiteY4" fmla="*/ 752112 h 945318"/>
              <a:gd name="connsiteX5" fmla="*/ 1049079 w 1049079"/>
              <a:gd name="connsiteY5" fmla="*/ 942754 h 945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9079" h="945318">
                <a:moveTo>
                  <a:pt x="0" y="0"/>
                </a:moveTo>
                <a:cubicBezTo>
                  <a:pt x="107507" y="2363"/>
                  <a:pt x="170121" y="5908"/>
                  <a:pt x="248093" y="42531"/>
                </a:cubicBezTo>
                <a:cubicBezTo>
                  <a:pt x="326065" y="79154"/>
                  <a:pt x="398130" y="114595"/>
                  <a:pt x="467833" y="219740"/>
                </a:cubicBezTo>
                <a:cubicBezTo>
                  <a:pt x="537536" y="324885"/>
                  <a:pt x="543696" y="414546"/>
                  <a:pt x="581247" y="503275"/>
                </a:cubicBezTo>
                <a:cubicBezTo>
                  <a:pt x="618798" y="592004"/>
                  <a:pt x="636435" y="636335"/>
                  <a:pt x="693142" y="752112"/>
                </a:cubicBezTo>
                <a:cubicBezTo>
                  <a:pt x="749849" y="867889"/>
                  <a:pt x="919125" y="962247"/>
                  <a:pt x="1049079" y="942754"/>
                </a:cubicBezTo>
              </a:path>
            </a:pathLst>
          </a:custGeom>
          <a:noFill/>
          <a:ln w="19050" cap="flat" cmpd="sng" algn="ctr">
            <a:solidFill>
              <a:sysClr val="windowText" lastClr="000000"/>
            </a:solidFill>
            <a:prstDash val="solid"/>
            <a:miter lim="800000"/>
          </a:ln>
          <a:effectLst/>
        </p:spPr>
        <p:txBody>
          <a:bodyPr rtlCol="0" anchor="ctr"/>
          <a:lstStyle/>
          <a:p>
            <a:endParaRPr lang="zh-CN" altLang="en-US"/>
          </a:p>
        </p:txBody>
      </p:sp>
      <p:cxnSp>
        <p:nvCxnSpPr>
          <p:cNvPr id="22" name="直接箭头连接符 21"/>
          <p:cNvCxnSpPr/>
          <p:nvPr/>
        </p:nvCxnSpPr>
        <p:spPr>
          <a:xfrm>
            <a:off x="8248292" y="2894480"/>
            <a:ext cx="6053" cy="790964"/>
          </a:xfrm>
          <a:prstGeom prst="straightConnector1">
            <a:avLst/>
          </a:prstGeom>
          <a:noFill/>
          <a:ln w="15875" cap="flat" cmpd="sng" algn="ctr">
            <a:solidFill>
              <a:srgbClr val="FF0000"/>
            </a:solidFill>
            <a:prstDash val="solid"/>
            <a:miter lim="800000"/>
            <a:headEnd type="stealth"/>
            <a:tailEnd type="stealth"/>
          </a:ln>
          <a:effectLst/>
        </p:spPr>
      </p:cxnSp>
      <p:cxnSp>
        <p:nvCxnSpPr>
          <p:cNvPr id="6" name="直接连接符 5"/>
          <p:cNvCxnSpPr/>
          <p:nvPr/>
        </p:nvCxnSpPr>
        <p:spPr>
          <a:xfrm flipV="1">
            <a:off x="8391973" y="4967292"/>
            <a:ext cx="629501" cy="613"/>
          </a:xfrm>
          <a:prstGeom prst="line">
            <a:avLst/>
          </a:prstGeom>
          <a:noFill/>
          <a:ln w="25400" cap="flat" cmpd="sng" algn="ctr">
            <a:solidFill>
              <a:sysClr val="windowText" lastClr="000000"/>
            </a:solidFill>
            <a:prstDash val="sysDash"/>
            <a:miter lim="800000"/>
          </a:ln>
          <a:effectLst/>
        </p:spPr>
      </p:cxnSp>
      <p:sp>
        <p:nvSpPr>
          <p:cNvPr id="4" name="文本框 2"/>
          <p:cNvSpPr txBox="1">
            <a:spLocks noChangeArrowheads="1"/>
          </p:cNvSpPr>
          <p:nvPr/>
        </p:nvSpPr>
        <p:spPr bwMode="auto">
          <a:xfrm>
            <a:off x="4851789" y="5712042"/>
            <a:ext cx="3279200" cy="369332"/>
          </a:xfrm>
          <a:prstGeom prst="rect">
            <a:avLst/>
          </a:prstGeom>
          <a:solidFill>
            <a:srgbClr val="FFFFFF"/>
          </a:solidFill>
          <a:ln w="9525">
            <a:noFill/>
            <a:miter lim="800000"/>
            <a:headEnd/>
            <a:tailEnd/>
          </a:ln>
        </p:spPr>
        <p:txBody>
          <a:bodyPr rot="0" vert="horz" wrap="square" lIns="0" tIns="0" rIns="0" bIns="0" anchor="t" anchorCtr="0">
            <a:spAutoFit/>
          </a:bodyPr>
          <a:lstStyle/>
          <a:p>
            <a:pPr algn="ctr">
              <a:spcAft>
                <a:spcPts val="0"/>
              </a:spcAft>
            </a:pPr>
            <a:r>
              <a:rPr lang="zh-CN" sz="24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表面</a:t>
            </a:r>
            <a:r>
              <a:rPr 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rPr>
              <a:t>能带弯曲的能级图</a:t>
            </a:r>
          </a:p>
        </p:txBody>
      </p:sp>
      <p:sp>
        <p:nvSpPr>
          <p:cNvPr id="32" name="TextBox 3"/>
          <p:cNvSpPr txBox="1">
            <a:spLocks noChangeArrowheads="1"/>
          </p:cNvSpPr>
          <p:nvPr/>
        </p:nvSpPr>
        <p:spPr bwMode="auto">
          <a:xfrm>
            <a:off x="626324" y="2438379"/>
            <a:ext cx="2983971" cy="1477328"/>
          </a:xfrm>
          <a:prstGeom prst="rect">
            <a:avLst/>
          </a:prstGeom>
          <a:noFill/>
          <a:ln w="9525">
            <a:noFill/>
            <a:miter lim="800000"/>
            <a:headEnd/>
            <a:tailEnd/>
          </a:ln>
        </p:spPr>
        <p:txBody>
          <a:bodyPr wrap="square">
            <a:spAutoFit/>
          </a:bodyPr>
          <a:lstStyle/>
          <a:p>
            <a:pPr defTabSz="914400">
              <a:lnSpc>
                <a:spcPct val="150000"/>
              </a:lnSpc>
            </a:pPr>
            <a:r>
              <a:rPr lang="zh-CN" altLang="en-US" b="1" dirty="0">
                <a:solidFill>
                  <a:srgbClr val="FF0000"/>
                </a:solidFill>
                <a:latin typeface="Times New Roman" pitchFamily="18" charset="0"/>
                <a:ea typeface="微软雅黑" pitchFamily="34" charset="-122"/>
                <a:cs typeface="Times New Roman" pitchFamily="18" charset="0"/>
              </a:rPr>
              <a:t>有效电子亲和势</a:t>
            </a:r>
            <a:r>
              <a:rPr lang="en-US" altLang="zh-CN" b="1" i="1" dirty="0" err="1">
                <a:solidFill>
                  <a:srgbClr val="FF0000"/>
                </a:solidFill>
                <a:latin typeface="Times New Roman" pitchFamily="18" charset="0"/>
                <a:ea typeface="微软雅黑" pitchFamily="34" charset="-122"/>
                <a:cs typeface="Times New Roman" pitchFamily="18" charset="0"/>
              </a:rPr>
              <a:t>E</a:t>
            </a:r>
            <a:r>
              <a:rPr lang="en-US" altLang="zh-CN" b="1" baseline="-25000" dirty="0" err="1">
                <a:solidFill>
                  <a:srgbClr val="FF0000"/>
                </a:solidFill>
                <a:latin typeface="Times New Roman" pitchFamily="18" charset="0"/>
                <a:ea typeface="微软雅黑" pitchFamily="34" charset="-122"/>
                <a:cs typeface="Times New Roman" pitchFamily="18" charset="0"/>
              </a:rPr>
              <a:t>Aeff</a:t>
            </a:r>
            <a:r>
              <a:rPr lang="zh-CN" altLang="en-US" b="1" dirty="0">
                <a:latin typeface="Times New Roman" pitchFamily="18" charset="0"/>
                <a:ea typeface="微软雅黑" pitchFamily="34" charset="-122"/>
                <a:cs typeface="Times New Roman" pitchFamily="18" charset="0"/>
              </a:rPr>
              <a:t>电子从体内导带底逸出真空能级所需要的最低能量</a:t>
            </a:r>
            <a:endParaRPr lang="zh-CN" altLang="en-US" b="1" baseline="-25000" dirty="0">
              <a:latin typeface="Times New Roman" pitchFamily="18" charset="0"/>
              <a:ea typeface="微软雅黑" pitchFamily="34" charset="-122"/>
              <a:cs typeface="Times New Roman" pitchFamily="18" charset="0"/>
            </a:endParaRPr>
          </a:p>
        </p:txBody>
      </p:sp>
      <p:sp>
        <p:nvSpPr>
          <p:cNvPr id="33" name="TextBox 4"/>
          <p:cNvSpPr txBox="1">
            <a:spLocks noChangeArrowheads="1"/>
          </p:cNvSpPr>
          <p:nvPr/>
        </p:nvSpPr>
        <p:spPr bwMode="auto">
          <a:xfrm>
            <a:off x="9960735" y="2745013"/>
            <a:ext cx="2633843" cy="1422954"/>
          </a:xfrm>
          <a:prstGeom prst="rect">
            <a:avLst/>
          </a:prstGeom>
          <a:noFill/>
          <a:ln w="9525">
            <a:noFill/>
            <a:miter lim="800000"/>
            <a:headEnd/>
            <a:tailEnd/>
          </a:ln>
        </p:spPr>
        <p:txBody>
          <a:bodyPr wrap="square">
            <a:spAutoFit/>
          </a:bodyPr>
          <a:lstStyle/>
          <a:p>
            <a:pPr defTabSz="914400">
              <a:lnSpc>
                <a:spcPct val="150000"/>
              </a:lnSpc>
            </a:pPr>
            <a:r>
              <a:rPr lang="zh-CN" altLang="en-US" b="1" dirty="0">
                <a:latin typeface="Times New Roman" pitchFamily="18" charset="0"/>
                <a:ea typeface="微软雅黑" pitchFamily="34" charset="-122"/>
                <a:cs typeface="Times New Roman" pitchFamily="18" charset="0"/>
              </a:rPr>
              <a:t>有效电子亲和势</a:t>
            </a:r>
            <a:r>
              <a:rPr lang="en-US" altLang="zh-CN" b="1" i="1" dirty="0" err="1">
                <a:latin typeface="Times New Roman" pitchFamily="18" charset="0"/>
                <a:ea typeface="微软雅黑" pitchFamily="34" charset="-122"/>
                <a:cs typeface="Times New Roman" pitchFamily="18" charset="0"/>
              </a:rPr>
              <a:t>E</a:t>
            </a:r>
            <a:r>
              <a:rPr lang="en-US" altLang="zh-CN" b="1" baseline="-25000" dirty="0" err="1">
                <a:latin typeface="Times New Roman" pitchFamily="18" charset="0"/>
                <a:ea typeface="微软雅黑" pitchFamily="34" charset="-122"/>
                <a:cs typeface="Times New Roman" pitchFamily="18" charset="0"/>
              </a:rPr>
              <a:t>Aeff</a:t>
            </a:r>
            <a:r>
              <a:rPr lang="zh-CN" altLang="en-US" b="1" dirty="0">
                <a:latin typeface="Times New Roman" pitchFamily="18" charset="0"/>
                <a:ea typeface="微软雅黑" pitchFamily="34" charset="-122"/>
                <a:cs typeface="Times New Roman" pitchFamily="18" charset="0"/>
              </a:rPr>
              <a:t>为</a:t>
            </a:r>
            <a:r>
              <a:rPr lang="zh-CN" altLang="en-US" b="1" dirty="0">
                <a:solidFill>
                  <a:srgbClr val="0000CC"/>
                </a:solidFill>
                <a:latin typeface="Times New Roman" pitchFamily="18" charset="0"/>
                <a:ea typeface="微软雅黑" pitchFamily="34" charset="-122"/>
                <a:cs typeface="Times New Roman" pitchFamily="18" charset="0"/>
              </a:rPr>
              <a:t>负值</a:t>
            </a:r>
            <a:r>
              <a:rPr lang="zh-CN" altLang="en-US" b="1" dirty="0">
                <a:latin typeface="Times New Roman" pitchFamily="18" charset="0"/>
                <a:ea typeface="微软雅黑" pitchFamily="34" charset="-122"/>
                <a:cs typeface="Times New Roman" pitchFamily="18" charset="0"/>
              </a:rPr>
              <a:t>的光电材料称为负电子亲和势</a:t>
            </a:r>
            <a:r>
              <a:rPr lang="zh-CN" altLang="en-US" b="1" dirty="0" smtClean="0">
                <a:latin typeface="Times New Roman" pitchFamily="18" charset="0"/>
                <a:ea typeface="微软雅黑" pitchFamily="34" charset="-122"/>
                <a:cs typeface="Times New Roman" pitchFamily="18" charset="0"/>
              </a:rPr>
              <a:t>材料</a:t>
            </a:r>
            <a:endParaRPr lang="zh-CN" altLang="en-US" b="1" baseline="-25000" dirty="0">
              <a:latin typeface="Times New Roman" pitchFamily="18" charset="0"/>
              <a:ea typeface="微软雅黑" pitchFamily="34" charset="-122"/>
              <a:cs typeface="Times New Roman" pitchFamily="18" charset="0"/>
            </a:endParaRPr>
          </a:p>
        </p:txBody>
      </p:sp>
      <p:sp>
        <p:nvSpPr>
          <p:cNvPr id="35" name="文本框 60">
            <a:extLst>
              <a:ext uri="{FF2B5EF4-FFF2-40B4-BE49-F238E27FC236}">
                <a16:creationId xmlns="" xmlns:a16="http://schemas.microsoft.com/office/drawing/2014/main" id="{2CE11A32-D7AA-44D6-A3E2-D638E406AC0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光电发射效应</a:t>
            </a:r>
          </a:p>
        </p:txBody>
      </p:sp>
      <p:sp>
        <p:nvSpPr>
          <p:cNvPr id="36" name="矩形: 圆角 15">
            <a:extLst>
              <a:ext uri="{FF2B5EF4-FFF2-40B4-BE49-F238E27FC236}">
                <a16:creationId xmlns="" xmlns:a16="http://schemas.microsoft.com/office/drawing/2014/main" id="{5F4AFA49-0485-4170-B9B1-43213B12EC34}"/>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7" name="直接连接符 58">
            <a:extLst>
              <a:ext uri="{FF2B5EF4-FFF2-40B4-BE49-F238E27FC236}">
                <a16:creationId xmlns="" xmlns:a16="http://schemas.microsoft.com/office/drawing/2014/main" id="{294CA1C7-84C5-4E78-9946-FB4FF3CAA993}"/>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89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arn(inVertical)">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arn(inVertical)">
                                      <p:cBhvr>
                                        <p:cTn id="52" dur="500"/>
                                        <p:tgtEl>
                                          <p:spTgt spid="20"/>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barn(inVertical)">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8"/>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barn(inVertical)">
                                      <p:cBhvr>
                                        <p:cTn id="74" dur="50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barn(inVertical)">
                                      <p:cBhvr>
                                        <p:cTn id="83" dur="5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nodeType="click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barn(inVertical)">
                                      <p:cBhvr>
                                        <p:cTn id="92" dur="500"/>
                                        <p:tgtEl>
                                          <p:spTgt spid="31"/>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wheel(1)">
                                      <p:cBhvr>
                                        <p:cTn id="97" dur="2000"/>
                                        <p:tgtEl>
                                          <p:spTgt spid="18"/>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2"/>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4" grpId="0" animBg="1"/>
      <p:bldP spid="32" grpId="0"/>
      <p:bldP spid="33" grpId="0"/>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1738</TotalTime>
  <Words>1522</Words>
  <Application>Microsoft Office PowerPoint</Application>
  <PresentationFormat>自定义</PresentationFormat>
  <Paragraphs>484</Paragraphs>
  <Slides>43</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43</vt:i4>
      </vt:variant>
    </vt:vector>
  </HeadingPairs>
  <TitlesOfParts>
    <vt:vector size="65" baseType="lpstr">
      <vt:lpstr>HY견고딕</vt:lpstr>
      <vt:lpstr>Yu Gothic UI</vt:lpstr>
      <vt:lpstr>阿里巴巴普惠体 M</vt:lpstr>
      <vt:lpstr>阿里巴巴普惠体 R</vt:lpstr>
      <vt:lpstr>冬青黑体简体中文 W3</vt:lpstr>
      <vt:lpstr>冬青黑体简体中文 W6</vt:lpstr>
      <vt:lpstr>黑体</vt:lpstr>
      <vt:lpstr>华文彩云</vt:lpstr>
      <vt:lpstr>华文琥珀</vt:lpstr>
      <vt:lpstr>楷体_GB2312</vt:lpstr>
      <vt:lpstr>宋体</vt:lpstr>
      <vt:lpstr>微软雅黑</vt:lpstr>
      <vt:lpstr>微软雅黑</vt:lpstr>
      <vt:lpstr>Arial</vt:lpstr>
      <vt:lpstr>Calibri</vt:lpstr>
      <vt:lpstr>Calibri Light</vt:lpstr>
      <vt:lpstr>Microsoft Yi Baiti</vt:lpstr>
      <vt:lpstr>Times New Roman</vt:lpstr>
      <vt:lpstr>光电技术模板-2015-6-18</vt:lpstr>
      <vt:lpstr>公式</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问题：PN结加正向偏压，如何影响光伏效应？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user</cp:lastModifiedBy>
  <cp:revision>89</cp:revision>
  <dcterms:created xsi:type="dcterms:W3CDTF">2015-06-18T01:42:52Z</dcterms:created>
  <dcterms:modified xsi:type="dcterms:W3CDTF">2023-02-23T08:52:12Z</dcterms:modified>
</cp:coreProperties>
</file>