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22"/>
  </p:notesMasterIdLst>
  <p:sldIdLst>
    <p:sldId id="373" r:id="rId2"/>
    <p:sldId id="376" r:id="rId3"/>
    <p:sldId id="380" r:id="rId4"/>
    <p:sldId id="377" r:id="rId5"/>
    <p:sldId id="385" r:id="rId6"/>
    <p:sldId id="383" r:id="rId7"/>
    <p:sldId id="386" r:id="rId8"/>
    <p:sldId id="272" r:id="rId9"/>
    <p:sldId id="273" r:id="rId10"/>
    <p:sldId id="274" r:id="rId11"/>
    <p:sldId id="275" r:id="rId12"/>
    <p:sldId id="276" r:id="rId13"/>
    <p:sldId id="378" r:id="rId14"/>
    <p:sldId id="277" r:id="rId15"/>
    <p:sldId id="279" r:id="rId16"/>
    <p:sldId id="280" r:id="rId17"/>
    <p:sldId id="379" r:id="rId18"/>
    <p:sldId id="281" r:id="rId19"/>
    <p:sldId id="282" r:id="rId20"/>
    <p:sldId id="283" r:id="rId21"/>
  </p:sldIdLst>
  <p:sldSz cx="9144000" cy="5143500" type="screen16x9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0" d="100"/>
          <a:sy n="140" d="100"/>
        </p:scale>
        <p:origin x="1392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2F2EA43-B905-4950-9973-30FDB2E32FE3}" type="datetimeFigureOut">
              <a:rPr lang="zh-CN" altLang="en-US"/>
              <a:pPr>
                <a:defRPr/>
              </a:pPr>
              <a:t>2023/2/23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47808A2-1E43-405D-83EF-464AA0AB519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9533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/>
              <a:t>the Curie temperature </a:t>
            </a:r>
            <a:r>
              <a:rPr lang="zh-CN" altLang="en-US"/>
              <a:t>居里点也称居里温度或磁性转变点，是指材料可以在铁磁体和顺磁体之间改变的温度，即铁磁体从铁磁相转变成顺磁相的相变温度。也可以说是发生二级相变的转变温度。低于居里点温度时该物质成为铁磁体，此时和材料有关的磁场很难改变。当温度高于居里点温度时，该物质成为顺磁体，磁体的磁场很容易随周围磁场的改变而改变。这时的磁敏感度约为</a:t>
            </a:r>
            <a:r>
              <a:rPr lang="en-US" altLang="zh-CN"/>
              <a:t>10</a:t>
            </a:r>
            <a:r>
              <a:rPr lang="zh-CN" altLang="en-US"/>
              <a:t>的负</a:t>
            </a:r>
            <a:r>
              <a:rPr lang="en-US" altLang="zh-CN"/>
              <a:t>6</a:t>
            </a:r>
            <a:r>
              <a:rPr lang="zh-CN" altLang="en-US"/>
              <a:t>次方。</a:t>
            </a:r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8A92CDC-D95C-4D8A-995B-6594EF0CB312}" type="slidenum">
              <a:rPr lang="zh-CN" altLang="en-US" smtClean="0"/>
              <a:pPr>
                <a:spcBef>
                  <a:spcPct val="0"/>
                </a:spcBef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089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0720434"/>
      </p:ext>
    </p:extLst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1" y="841772"/>
            <a:ext cx="6858000" cy="1790700"/>
          </a:xfrm>
        </p:spPr>
        <p:txBody>
          <a:bodyPr anchor="b"/>
          <a:lstStyle>
            <a:lvl1pPr algn="ctr">
              <a:defRPr sz="4533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1" y="2701529"/>
            <a:ext cx="6858000" cy="124182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66" indent="0" algn="ctr">
              <a:buNone/>
              <a:defRPr sz="1533"/>
            </a:lvl2pPr>
            <a:lvl3pPr marL="685731" indent="0" algn="ctr">
              <a:buNone/>
              <a:defRPr sz="1333"/>
            </a:lvl3pPr>
            <a:lvl4pPr marL="1028597" indent="0" algn="ctr">
              <a:buNone/>
              <a:defRPr sz="1200"/>
            </a:lvl4pPr>
            <a:lvl5pPr marL="1371463" indent="0" algn="ctr">
              <a:buNone/>
              <a:defRPr sz="1200"/>
            </a:lvl5pPr>
            <a:lvl6pPr marL="1714329" indent="0" algn="ctr">
              <a:buNone/>
              <a:defRPr sz="1200"/>
            </a:lvl6pPr>
            <a:lvl7pPr marL="2057194" indent="0" algn="ctr">
              <a:buNone/>
              <a:defRPr sz="1200"/>
            </a:lvl7pPr>
            <a:lvl8pPr marL="2400060" indent="0" algn="ctr">
              <a:buNone/>
              <a:defRPr sz="1200"/>
            </a:lvl8pPr>
            <a:lvl9pPr marL="2742926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C8910A-C6A2-4D7C-BD93-C521D6BD6433}" type="datetimeFigureOut">
              <a:rPr lang="zh-CN" altLang="en-US"/>
              <a:pPr>
                <a:defRPr/>
              </a:pPr>
              <a:t>2023/2/23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DF2088-823D-4D74-BE43-AD67773FB7F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363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ransition spd="med">
    <p:wipe dir="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5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png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1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702150" y="1781800"/>
            <a:ext cx="1790493" cy="7853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zh-CN" altLang="en-US" sz="48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kumimoji="1" lang="en-US" altLang="zh-CN" sz="48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kumimoji="1" lang="zh-CN" altLang="en-US" sz="48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</a:t>
            </a:r>
          </a:p>
        </p:txBody>
      </p:sp>
      <p:sp>
        <p:nvSpPr>
          <p:cNvPr id="3" name="矩形 2"/>
          <p:cNvSpPr/>
          <p:nvPr/>
        </p:nvSpPr>
        <p:spPr>
          <a:xfrm>
            <a:off x="973282" y="1195895"/>
            <a:ext cx="1149018" cy="369324"/>
          </a:xfrm>
          <a:prstGeom prst="rect">
            <a:avLst/>
          </a:prstGeom>
          <a:noFill/>
        </p:spPr>
        <p:txBody>
          <a:bodyPr wrap="none" lIns="60953" tIns="30476" rIns="60953" bIns="30476">
            <a:spAutoFit/>
          </a:bodyPr>
          <a:lstStyle/>
          <a:p>
            <a:pPr algn="ctr"/>
            <a:r>
              <a:rPr lang="zh-CN" altLang="en-US" sz="2000" dirty="0">
                <a:latin typeface="Microsoft Yi Baiti" panose="03000500000000000000" pitchFamily="66" charset="0"/>
                <a:ea typeface="冬青黑体简体中文 W6" panose="020B0600000000000000" pitchFamily="34" charset="-122"/>
                <a:cs typeface="阿里巴巴普惠体 M" panose="00020600040101010101" pitchFamily="18" charset="-122"/>
              </a:rPr>
              <a:t>光电技术</a:t>
            </a:r>
            <a:endParaRPr lang="en-US" altLang="zh-CN" sz="2000" dirty="0">
              <a:latin typeface="Microsoft Yi Baiti" panose="03000500000000000000" pitchFamily="66" charset="0"/>
              <a:ea typeface="Microsoft Yi Baiti" panose="03000500000000000000" pitchFamily="66" charset="0"/>
              <a:cs typeface="阿里巴巴普惠体 M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5441AE38-A11D-4793-BDA3-DCA36976B496}"/>
              </a:ext>
            </a:extLst>
          </p:cNvPr>
          <p:cNvSpPr/>
          <p:nvPr/>
        </p:nvSpPr>
        <p:spPr>
          <a:xfrm>
            <a:off x="2624068" y="1804023"/>
            <a:ext cx="6391731" cy="7483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zh-CN" altLang="en-US" sz="48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热探测器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B4AF438E-361B-42EE-9E70-DDB98227F7D7}"/>
              </a:ext>
            </a:extLst>
          </p:cNvPr>
          <p:cNvSpPr/>
          <p:nvPr/>
        </p:nvSpPr>
        <p:spPr>
          <a:xfrm>
            <a:off x="2126762" y="1224242"/>
            <a:ext cx="825646" cy="310013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zh-CN" sz="800" b="1" spc="27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000"/>
              </a:lnSpc>
            </a:pPr>
            <a:r>
              <a:rPr lang="en-US" altLang="zh-CN" sz="800" b="1" spc="27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Technology</a:t>
            </a:r>
            <a:endParaRPr lang="zh-CN" altLang="en-US" sz="800" b="1" spc="27" dirty="0">
              <a:ln w="22225">
                <a:solidFill>
                  <a:schemeClr val="accent2"/>
                </a:solidFill>
                <a:prstDash val="solid"/>
              </a:ln>
              <a:latin typeface="Times New Roman" panose="02020603050405020304" pitchFamily="18" charset="0"/>
              <a:ea typeface="Yu Gothic UI" panose="020B05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6" name="直接连接符 58">
            <a:extLst>
              <a:ext uri="{FF2B5EF4-FFF2-40B4-BE49-F238E27FC236}">
                <a16:creationId xmlns="" xmlns:a16="http://schemas.microsoft.com/office/drawing/2014/main" id="{19E605B0-7A69-4DF3-BD2D-6C50DF5A8F84}"/>
              </a:ext>
            </a:extLst>
          </p:cNvPr>
          <p:cNvCxnSpPr>
            <a:cxnSpLocks/>
          </p:cNvCxnSpPr>
          <p:nvPr/>
        </p:nvCxnSpPr>
        <p:spPr>
          <a:xfrm>
            <a:off x="806356" y="2783729"/>
            <a:ext cx="3196373" cy="7792"/>
          </a:xfrm>
          <a:prstGeom prst="line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1C44C9C7-7166-4DA9-8A1A-D2BB836F3F54}"/>
              </a:ext>
            </a:extLst>
          </p:cNvPr>
          <p:cNvSpPr/>
          <p:nvPr/>
        </p:nvSpPr>
        <p:spPr>
          <a:xfrm>
            <a:off x="761912" y="3008135"/>
            <a:ext cx="4772466" cy="307768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r>
              <a:rPr lang="en-US" altLang="zh-CN" sz="1600" dirty="0">
                <a:solidFill>
                  <a:srgbClr val="1271FE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cs typeface="Times New Roman" panose="02020603050405020304" pitchFamily="18" charset="0"/>
              </a:rPr>
              <a:t>Heat detector</a:t>
            </a:r>
            <a:endParaRPr lang="zh-CN" altLang="en-US" sz="1600" dirty="0">
              <a:ln w="22225">
                <a:solidFill>
                  <a:schemeClr val="accent2"/>
                </a:solidFill>
                <a:prstDash val="solid"/>
              </a:ln>
              <a:solidFill>
                <a:srgbClr val="1271FE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AE184DEE-FEA5-431F-856D-B2DD56F698B6}"/>
              </a:ext>
            </a:extLst>
          </p:cNvPr>
          <p:cNvSpPr/>
          <p:nvPr/>
        </p:nvSpPr>
        <p:spPr>
          <a:xfrm>
            <a:off x="806357" y="1246180"/>
            <a:ext cx="111669" cy="26871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909749" y="195796"/>
            <a:ext cx="2130508" cy="2769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热释电探测器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=""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2411760" y="2253935"/>
            <a:ext cx="5327033" cy="74057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zh-CN" altLang="en-US" sz="2933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热释电探测器</a:t>
            </a:r>
          </a:p>
        </p:txBody>
      </p:sp>
      <p:sp>
        <p:nvSpPr>
          <p:cNvPr id="20" name="矩形 19"/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1030968" y="2222541"/>
            <a:ext cx="1529424" cy="824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44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6.4</a:t>
            </a:r>
            <a:endParaRPr kumimoji="1" lang="zh-CN" altLang="en-US" sz="44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288311" y="195797"/>
            <a:ext cx="568006" cy="32084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6.4</a:t>
            </a:r>
            <a:endParaRPr kumimoji="1" lang="zh-CN" altLang="en-US" sz="1866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966892" y="463765"/>
            <a:ext cx="1999297" cy="1047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52084" y="1612454"/>
            <a:ext cx="1687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热释电</a:t>
            </a: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探测器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3653305" y="596270"/>
            <a:ext cx="4363285" cy="4093301"/>
            <a:chOff x="3653305" y="596270"/>
            <a:chExt cx="4363285" cy="4093301"/>
          </a:xfrm>
        </p:grpSpPr>
        <p:sp>
          <p:nvSpPr>
            <p:cNvPr id="3" name="AutoShape 12"/>
            <p:cNvSpPr>
              <a:spLocks noChangeArrowheads="1"/>
            </p:cNvSpPr>
            <p:nvPr/>
          </p:nvSpPr>
          <p:spPr bwMode="auto">
            <a:xfrm rot="14897276" flipH="1">
              <a:off x="5910587" y="1235296"/>
              <a:ext cx="2332553" cy="1879453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rgbClr val="FF0000"/>
                </a:gs>
                <a:gs pos="100000">
                  <a:srgbClr val="FFFF66">
                    <a:alpha val="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 lIns="91431" tIns="45716" rIns="91431" bIns="45716" anchor="ctr"/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250" b="1">
                <a:latin typeface="Arial" panose="020B060402020202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" name="AutoShape 12"/>
            <p:cNvSpPr>
              <a:spLocks noChangeArrowheads="1"/>
            </p:cNvSpPr>
            <p:nvPr/>
          </p:nvSpPr>
          <p:spPr bwMode="auto">
            <a:xfrm rot="10800000" flipH="1">
              <a:off x="4596710" y="596270"/>
              <a:ext cx="2628548" cy="1912143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rgbClr val="FF0000"/>
                </a:gs>
                <a:gs pos="100000">
                  <a:srgbClr val="FFFF66">
                    <a:alpha val="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1431" tIns="45716" rIns="91431" bIns="45716" anchor="ctr"/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250" b="1">
                <a:latin typeface="Arial" panose="020B060402020202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" name="AutoShape 12"/>
            <p:cNvSpPr>
              <a:spLocks noChangeArrowheads="1"/>
            </p:cNvSpPr>
            <p:nvPr/>
          </p:nvSpPr>
          <p:spPr bwMode="auto">
            <a:xfrm rot="6250560" flipH="1">
              <a:off x="3334495" y="1342405"/>
              <a:ext cx="2496627" cy="1859008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rgbClr val="FF0000"/>
                </a:gs>
                <a:gs pos="100000">
                  <a:srgbClr val="FFFF66">
                    <a:alpha val="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vert="eaVert" wrap="none" lIns="91431" tIns="45716" rIns="91431" bIns="45716" anchor="ctr"/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250" b="1">
                <a:latin typeface="Arial" panose="020B060402020202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AutoShape 12"/>
            <p:cNvSpPr>
              <a:spLocks noChangeArrowheads="1"/>
            </p:cNvSpPr>
            <p:nvPr/>
          </p:nvSpPr>
          <p:spPr bwMode="auto">
            <a:xfrm rot="18728198" flipH="1">
              <a:off x="5211337" y="2419715"/>
              <a:ext cx="2551206" cy="1988505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rgbClr val="FF0000"/>
                </a:gs>
                <a:gs pos="100000">
                  <a:srgbClr val="FFFF66">
                    <a:alpha val="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 lIns="91431" tIns="45716" rIns="91431" bIns="45716" anchor="ctr"/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250" b="1">
                <a:latin typeface="Arial" panose="020B060402020202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" name="AutoShape 12"/>
            <p:cNvSpPr>
              <a:spLocks noChangeArrowheads="1"/>
            </p:cNvSpPr>
            <p:nvPr/>
          </p:nvSpPr>
          <p:spPr bwMode="auto">
            <a:xfrm rot="1925912" flipH="1">
              <a:off x="3804879" y="2567911"/>
              <a:ext cx="2609677" cy="1946441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rgbClr val="FF0000"/>
                </a:gs>
                <a:gs pos="100000">
                  <a:srgbClr val="FFFF66">
                    <a:alpha val="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1" tIns="45716" rIns="91431" bIns="45716" anchor="ctr"/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250" b="1">
                <a:latin typeface="Arial" panose="020B060402020202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8" name="Oval 19"/>
            <p:cNvSpPr>
              <a:spLocks noChangeArrowheads="1"/>
            </p:cNvSpPr>
            <p:nvPr/>
          </p:nvSpPr>
          <p:spPr bwMode="auto">
            <a:xfrm>
              <a:off x="4714629" y="1451537"/>
              <a:ext cx="2243138" cy="2181225"/>
            </a:xfrm>
            <a:prstGeom prst="ellipse">
              <a:avLst/>
            </a:prstGeom>
            <a:solidFill>
              <a:srgbClr val="FFFF00">
                <a:alpha val="25098"/>
              </a:srgbClr>
            </a:solidFill>
            <a:ln w="12700">
              <a:solidFill>
                <a:srgbClr val="FFFF00"/>
              </a:solidFill>
              <a:round/>
              <a:headEnd/>
              <a:tailEnd/>
            </a:ln>
          </p:spPr>
          <p:txBody>
            <a:bodyPr wrap="none" lIns="91431" tIns="45716" rIns="91431" bIns="45716" anchor="ctr"/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250" b="1">
                <a:latin typeface="Arial" panose="020B060402020202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9" name="Oval 20"/>
            <p:cNvSpPr>
              <a:spLocks noChangeArrowheads="1"/>
            </p:cNvSpPr>
            <p:nvPr/>
          </p:nvSpPr>
          <p:spPr bwMode="auto">
            <a:xfrm>
              <a:off x="4805116" y="1525357"/>
              <a:ext cx="2057400" cy="2005013"/>
            </a:xfrm>
            <a:prstGeom prst="ellipse">
              <a:avLst/>
            </a:prstGeom>
            <a:solidFill>
              <a:srgbClr val="FFFF66">
                <a:alpha val="50195"/>
              </a:srgbClr>
            </a:solidFill>
            <a:ln w="57150">
              <a:solidFill>
                <a:srgbClr val="FFFF66"/>
              </a:solidFill>
              <a:round/>
              <a:headEnd/>
              <a:tailEnd/>
            </a:ln>
          </p:spPr>
          <p:txBody>
            <a:bodyPr wrap="none" lIns="91431" tIns="45716" rIns="91431" bIns="45716" anchor="ctr"/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250" b="1">
                <a:latin typeface="Arial" panose="020B060402020202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0" name="Oval 48"/>
            <p:cNvSpPr>
              <a:spLocks noChangeAspect="1" noChangeArrowheads="1"/>
            </p:cNvSpPr>
            <p:nvPr/>
          </p:nvSpPr>
          <p:spPr bwMode="auto">
            <a:xfrm>
              <a:off x="4950372" y="1708712"/>
              <a:ext cx="1738313" cy="1685925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wrap="none" lIns="91431" tIns="45716" rIns="91431" bIns="45716" anchor="ctr"/>
            <a:lstStyle/>
            <a:p>
              <a:pPr defTabSz="914309">
                <a:defRPr/>
              </a:pPr>
              <a:endParaRPr lang="zh-CN" altLang="en-US" sz="2250" b="1" dirty="0">
                <a:ea typeface="楷体_GB2312" pitchFamily="49" charset="-122"/>
              </a:endParaRPr>
            </a:p>
          </p:txBody>
        </p:sp>
      </p:grpSp>
      <p:grpSp>
        <p:nvGrpSpPr>
          <p:cNvPr id="11" name="组合 67"/>
          <p:cNvGrpSpPr>
            <a:grpSpLocks/>
          </p:cNvGrpSpPr>
          <p:nvPr/>
        </p:nvGrpSpPr>
        <p:grpSpPr bwMode="auto">
          <a:xfrm>
            <a:off x="5031819" y="1779567"/>
            <a:ext cx="1561552" cy="1533525"/>
            <a:chOff x="3745971" y="2516175"/>
            <a:chExt cx="1328179" cy="1226837"/>
          </a:xfrm>
        </p:grpSpPr>
        <p:sp>
          <p:nvSpPr>
            <p:cNvPr id="12" name="Oval 49"/>
            <p:cNvSpPr>
              <a:spLocks noChangeAspect="1" noChangeArrowheads="1"/>
            </p:cNvSpPr>
            <p:nvPr/>
          </p:nvSpPr>
          <p:spPr bwMode="auto">
            <a:xfrm>
              <a:off x="3745971" y="2516175"/>
              <a:ext cx="1297005" cy="122683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latinLnBrk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650" b="1">
                <a:latin typeface="Arial" panose="020B0604020202020204" pitchFamily="34" charset="0"/>
                <a:ea typeface="HY견고딕"/>
                <a:cs typeface="HY견고딕"/>
              </a:endParaRPr>
            </a:p>
          </p:txBody>
        </p:sp>
        <p:sp>
          <p:nvSpPr>
            <p:cNvPr id="13" name="TextBox 2"/>
            <p:cNvSpPr txBox="1">
              <a:spLocks noChangeArrowheads="1"/>
            </p:cNvSpPr>
            <p:nvPr/>
          </p:nvSpPr>
          <p:spPr bwMode="auto">
            <a:xfrm>
              <a:off x="3759682" y="2982413"/>
              <a:ext cx="1314468" cy="443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热释电</a:t>
              </a:r>
              <a:r>
                <a:rPr lang="zh-CN" altLang="en-US" sz="1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探测器</a:t>
              </a:r>
              <a:endParaRPr lang="en-US" altLang="zh-CN" sz="1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优点</a:t>
              </a:r>
              <a:endPara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29"/>
          <p:cNvGrpSpPr>
            <a:grpSpLocks/>
          </p:cNvGrpSpPr>
          <p:nvPr/>
        </p:nvGrpSpPr>
        <p:grpSpPr bwMode="auto">
          <a:xfrm>
            <a:off x="5180164" y="558470"/>
            <a:ext cx="1569243" cy="583010"/>
            <a:chOff x="6233339" y="4340729"/>
            <a:chExt cx="1896702" cy="429170"/>
          </a:xfrm>
        </p:grpSpPr>
        <p:sp>
          <p:nvSpPr>
            <p:cNvPr id="15" name="圆角矩形 14"/>
            <p:cNvSpPr/>
            <p:nvPr/>
          </p:nvSpPr>
          <p:spPr>
            <a:xfrm>
              <a:off x="6233339" y="4340729"/>
              <a:ext cx="1772942" cy="429170"/>
            </a:xfrm>
            <a:prstGeom prst="roundRect">
              <a:avLst/>
            </a:prstGeom>
            <a:gradFill>
              <a:gsLst>
                <a:gs pos="0">
                  <a:srgbClr val="03D4A8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09">
                <a:defRPr/>
              </a:pPr>
              <a:endParaRPr lang="zh-CN" altLang="en-US" sz="1950" b="1" dirty="0"/>
            </a:p>
          </p:txBody>
        </p:sp>
        <p:sp>
          <p:nvSpPr>
            <p:cNvPr id="16" name="TextBox 9"/>
            <p:cNvSpPr txBox="1">
              <a:spLocks noChangeArrowheads="1"/>
            </p:cNvSpPr>
            <p:nvPr/>
          </p:nvSpPr>
          <p:spPr bwMode="auto">
            <a:xfrm>
              <a:off x="6233339" y="4376959"/>
              <a:ext cx="1896702" cy="362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具有较宽</a:t>
              </a: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的</a:t>
              </a:r>
              <a:endPara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频率响应</a:t>
              </a:r>
              <a:endParaRPr lang="zh-CN" altLang="en-US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组合 29"/>
          <p:cNvGrpSpPr>
            <a:grpSpLocks/>
          </p:cNvGrpSpPr>
          <p:nvPr/>
        </p:nvGrpSpPr>
        <p:grpSpPr bwMode="auto">
          <a:xfrm>
            <a:off x="7251281" y="1970184"/>
            <a:ext cx="1166746" cy="463364"/>
            <a:chOff x="6226895" y="4618506"/>
            <a:chExt cx="1409645" cy="314855"/>
          </a:xfrm>
          <a:noFill/>
        </p:grpSpPr>
        <p:sp>
          <p:nvSpPr>
            <p:cNvPr id="18" name="圆角矩形 17"/>
            <p:cNvSpPr/>
            <p:nvPr/>
          </p:nvSpPr>
          <p:spPr>
            <a:xfrm>
              <a:off x="6226895" y="4618506"/>
              <a:ext cx="1409645" cy="314855"/>
            </a:xfrm>
            <a:prstGeom prst="roundRect">
              <a:avLst/>
            </a:prstGeom>
            <a:gradFill>
              <a:gsLst>
                <a:gs pos="0">
                  <a:srgbClr val="FC9FCB"/>
                </a:gs>
                <a:gs pos="13000">
                  <a:srgbClr val="F8B049"/>
                </a:gs>
                <a:gs pos="21001">
                  <a:srgbClr val="F8B049"/>
                </a:gs>
                <a:gs pos="63000">
                  <a:srgbClr val="FEE7F2"/>
                </a:gs>
                <a:gs pos="67000">
                  <a:srgbClr val="F952A0"/>
                </a:gs>
                <a:gs pos="69000">
                  <a:srgbClr val="C50849"/>
                </a:gs>
                <a:gs pos="82001">
                  <a:srgbClr val="B43E85"/>
                </a:gs>
                <a:gs pos="100000">
                  <a:srgbClr val="F8B049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09">
                <a:defRPr/>
              </a:pPr>
              <a:endParaRPr lang="zh-CN" altLang="en-US" sz="1950" b="1" dirty="0"/>
            </a:p>
          </p:txBody>
        </p:sp>
        <p:sp>
          <p:nvSpPr>
            <p:cNvPr id="19" name="TextBox 9"/>
            <p:cNvSpPr txBox="1">
              <a:spLocks noChangeArrowheads="1"/>
            </p:cNvSpPr>
            <p:nvPr/>
          </p:nvSpPr>
          <p:spPr bwMode="auto">
            <a:xfrm>
              <a:off x="6229172" y="4687029"/>
              <a:ext cx="1353310" cy="16730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 defTabSz="914309">
                <a:defRPr/>
              </a:pPr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探测率高</a:t>
              </a:r>
              <a:endParaRPr lang="zh-CN" altLang="en-US" sz="16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20" name="组合 29"/>
          <p:cNvGrpSpPr>
            <a:grpSpLocks/>
          </p:cNvGrpSpPr>
          <p:nvPr/>
        </p:nvGrpSpPr>
        <p:grpSpPr bwMode="auto">
          <a:xfrm>
            <a:off x="6732240" y="3579862"/>
            <a:ext cx="1506639" cy="624351"/>
            <a:chOff x="6233338" y="4340729"/>
            <a:chExt cx="2116570" cy="315160"/>
          </a:xfrm>
        </p:grpSpPr>
        <p:sp>
          <p:nvSpPr>
            <p:cNvPr id="21" name="圆角矩形 20"/>
            <p:cNvSpPr/>
            <p:nvPr/>
          </p:nvSpPr>
          <p:spPr>
            <a:xfrm>
              <a:off x="6233339" y="4340729"/>
              <a:ext cx="2116569" cy="315160"/>
            </a:xfrm>
            <a:prstGeom prst="roundRect">
              <a:avLst/>
            </a:prstGeom>
            <a:gradFill>
              <a:gsLst>
                <a:gs pos="0">
                  <a:srgbClr val="CCCCFF"/>
                </a:gs>
                <a:gs pos="17999">
                  <a:srgbClr val="99CCFF"/>
                </a:gs>
                <a:gs pos="36000">
                  <a:srgbClr val="9966FF"/>
                </a:gs>
                <a:gs pos="61000">
                  <a:srgbClr val="CC99FF"/>
                </a:gs>
                <a:gs pos="82001">
                  <a:srgbClr val="99CCFF"/>
                </a:gs>
                <a:gs pos="100000">
                  <a:srgbClr val="CCCC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09">
                <a:defRPr/>
              </a:pPr>
              <a:endParaRPr lang="zh-CN" altLang="en-US" sz="1950" b="1" dirty="0"/>
            </a:p>
          </p:txBody>
        </p:sp>
        <p:sp>
          <p:nvSpPr>
            <p:cNvPr id="22" name="TextBox 9"/>
            <p:cNvSpPr txBox="1">
              <a:spLocks noChangeArrowheads="1"/>
            </p:cNvSpPr>
            <p:nvPr/>
          </p:nvSpPr>
          <p:spPr bwMode="auto">
            <a:xfrm>
              <a:off x="6233338" y="4377591"/>
              <a:ext cx="2116570" cy="248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大面积均匀的敏感</a:t>
              </a: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面，无需偏压</a:t>
              </a:r>
              <a:endParaRPr lang="zh-CN" altLang="en-US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组合 29"/>
          <p:cNvGrpSpPr>
            <a:grpSpLocks/>
          </p:cNvGrpSpPr>
          <p:nvPr/>
        </p:nvGrpSpPr>
        <p:grpSpPr bwMode="auto">
          <a:xfrm>
            <a:off x="3040780" y="1895416"/>
            <a:ext cx="1392725" cy="646733"/>
            <a:chOff x="6224264" y="4420236"/>
            <a:chExt cx="1848311" cy="414770"/>
          </a:xfrm>
        </p:grpSpPr>
        <p:sp>
          <p:nvSpPr>
            <p:cNvPr id="24" name="圆角矩形 23"/>
            <p:cNvSpPr/>
            <p:nvPr/>
          </p:nvSpPr>
          <p:spPr>
            <a:xfrm>
              <a:off x="6233338" y="4420236"/>
              <a:ext cx="1839237" cy="414770"/>
            </a:xfrm>
            <a:prstGeom prst="roundRect">
              <a:avLst/>
            </a:prstGeom>
            <a:gradFill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09">
                <a:defRPr/>
              </a:pPr>
              <a:endParaRPr lang="zh-CN" altLang="en-US" sz="1950" b="1" dirty="0"/>
            </a:p>
          </p:txBody>
        </p:sp>
        <p:sp>
          <p:nvSpPr>
            <p:cNvPr id="25" name="TextBox 9"/>
            <p:cNvSpPr txBox="1">
              <a:spLocks noChangeArrowheads="1"/>
            </p:cNvSpPr>
            <p:nvPr/>
          </p:nvSpPr>
          <p:spPr bwMode="auto">
            <a:xfrm>
              <a:off x="6224264" y="4490189"/>
              <a:ext cx="1839237" cy="3158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强度和</a:t>
              </a: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可靠要好，易制造</a:t>
              </a:r>
              <a:endParaRPr lang="zh-CN" altLang="en-US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组合 29"/>
          <p:cNvGrpSpPr>
            <a:grpSpLocks/>
          </p:cNvGrpSpPr>
          <p:nvPr/>
        </p:nvGrpSpPr>
        <p:grpSpPr bwMode="auto">
          <a:xfrm>
            <a:off x="3961399" y="3613060"/>
            <a:ext cx="1571625" cy="561901"/>
            <a:chOff x="6233339" y="4340730"/>
            <a:chExt cx="1891218" cy="468891"/>
          </a:xfrm>
        </p:grpSpPr>
        <p:sp>
          <p:nvSpPr>
            <p:cNvPr id="27" name="圆角矩形 26"/>
            <p:cNvSpPr/>
            <p:nvPr/>
          </p:nvSpPr>
          <p:spPr>
            <a:xfrm>
              <a:off x="6233339" y="4340730"/>
              <a:ext cx="1891218" cy="468891"/>
            </a:xfrm>
            <a:prstGeom prst="roundRect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09">
                <a:defRPr/>
              </a:pPr>
              <a:endParaRPr lang="zh-CN" altLang="en-US" sz="1950" b="1" dirty="0"/>
            </a:p>
          </p:txBody>
        </p:sp>
        <p:sp>
          <p:nvSpPr>
            <p:cNvPr id="28" name="TextBox 9"/>
            <p:cNvSpPr txBox="1">
              <a:spLocks noChangeArrowheads="1"/>
            </p:cNvSpPr>
            <p:nvPr/>
          </p:nvSpPr>
          <p:spPr bwMode="auto">
            <a:xfrm>
              <a:off x="6365285" y="4377785"/>
              <a:ext cx="1671310" cy="410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受环境温度变化的影响更小</a:t>
              </a:r>
              <a:endParaRPr lang="zh-CN" altLang="en-US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组合 38"/>
          <p:cNvGrpSpPr>
            <a:grpSpLocks/>
          </p:cNvGrpSpPr>
          <p:nvPr/>
        </p:nvGrpSpPr>
        <p:grpSpPr bwMode="auto">
          <a:xfrm>
            <a:off x="5808570" y="1183816"/>
            <a:ext cx="287103" cy="258745"/>
            <a:chOff x="603524" y="1084832"/>
            <a:chExt cx="307233" cy="275191"/>
          </a:xfrm>
        </p:grpSpPr>
        <p:sp>
          <p:nvSpPr>
            <p:cNvPr id="31" name="椭圆 30"/>
            <p:cNvSpPr>
              <a:spLocks noChangeAspect="1"/>
            </p:cNvSpPr>
            <p:nvPr/>
          </p:nvSpPr>
          <p:spPr>
            <a:xfrm>
              <a:off x="603524" y="1105391"/>
              <a:ext cx="254732" cy="254632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  <a:ln w="22225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09">
                <a:defRPr/>
              </a:pPr>
              <a:endParaRPr lang="zh-CN" altLang="en-US" sz="2550" b="1" dirty="0"/>
            </a:p>
          </p:txBody>
        </p:sp>
        <p:sp>
          <p:nvSpPr>
            <p:cNvPr id="32" name="TextBox 37"/>
            <p:cNvSpPr txBox="1">
              <a:spLocks noChangeArrowheads="1"/>
            </p:cNvSpPr>
            <p:nvPr/>
          </p:nvSpPr>
          <p:spPr bwMode="auto">
            <a:xfrm>
              <a:off x="669568" y="1084832"/>
              <a:ext cx="241189" cy="252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solidFill>
                    <a:srgbClr val="FF66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  <a:endParaRPr lang="zh-CN" altLang="en-US" sz="1800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组合 38"/>
          <p:cNvGrpSpPr>
            <a:grpSpLocks/>
          </p:cNvGrpSpPr>
          <p:nvPr/>
        </p:nvGrpSpPr>
        <p:grpSpPr bwMode="auto">
          <a:xfrm>
            <a:off x="6952021" y="2098267"/>
            <a:ext cx="287103" cy="276999"/>
            <a:chOff x="603524" y="1084832"/>
            <a:chExt cx="307233" cy="294605"/>
          </a:xfrm>
        </p:grpSpPr>
        <p:sp>
          <p:nvSpPr>
            <p:cNvPr id="46" name="椭圆 45"/>
            <p:cNvSpPr>
              <a:spLocks noChangeAspect="1"/>
            </p:cNvSpPr>
            <p:nvPr/>
          </p:nvSpPr>
          <p:spPr>
            <a:xfrm>
              <a:off x="603524" y="1105391"/>
              <a:ext cx="254732" cy="254632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  <a:ln w="22225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09">
                <a:defRPr/>
              </a:pPr>
              <a:endParaRPr lang="zh-CN" altLang="en-US" sz="2550" b="1" dirty="0"/>
            </a:p>
          </p:txBody>
        </p:sp>
        <p:sp>
          <p:nvSpPr>
            <p:cNvPr id="47" name="TextBox 37"/>
            <p:cNvSpPr txBox="1">
              <a:spLocks noChangeArrowheads="1"/>
            </p:cNvSpPr>
            <p:nvPr/>
          </p:nvSpPr>
          <p:spPr bwMode="auto">
            <a:xfrm>
              <a:off x="669568" y="1084832"/>
              <a:ext cx="241189" cy="294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solidFill>
                    <a:srgbClr val="FF66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  <a:endParaRPr lang="zh-CN" altLang="en-US" sz="1800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组合 38"/>
          <p:cNvGrpSpPr>
            <a:grpSpLocks/>
          </p:cNvGrpSpPr>
          <p:nvPr/>
        </p:nvGrpSpPr>
        <p:grpSpPr bwMode="auto">
          <a:xfrm>
            <a:off x="6531162" y="3345976"/>
            <a:ext cx="287103" cy="276999"/>
            <a:chOff x="603524" y="1084832"/>
            <a:chExt cx="307233" cy="294605"/>
          </a:xfrm>
        </p:grpSpPr>
        <p:sp>
          <p:nvSpPr>
            <p:cNvPr id="49" name="椭圆 48"/>
            <p:cNvSpPr>
              <a:spLocks noChangeAspect="1"/>
            </p:cNvSpPr>
            <p:nvPr/>
          </p:nvSpPr>
          <p:spPr>
            <a:xfrm>
              <a:off x="603524" y="1105391"/>
              <a:ext cx="254732" cy="254632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  <a:ln w="22225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09">
                <a:defRPr/>
              </a:pPr>
              <a:endParaRPr lang="zh-CN" altLang="en-US" sz="2550" b="1" dirty="0"/>
            </a:p>
          </p:txBody>
        </p:sp>
        <p:sp>
          <p:nvSpPr>
            <p:cNvPr id="50" name="TextBox 37"/>
            <p:cNvSpPr txBox="1">
              <a:spLocks noChangeArrowheads="1"/>
            </p:cNvSpPr>
            <p:nvPr/>
          </p:nvSpPr>
          <p:spPr bwMode="auto">
            <a:xfrm>
              <a:off x="669568" y="1084832"/>
              <a:ext cx="241189" cy="294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solidFill>
                    <a:srgbClr val="FF66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endParaRPr lang="zh-CN" altLang="en-US" sz="1800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1" name="组合 38"/>
          <p:cNvGrpSpPr>
            <a:grpSpLocks/>
          </p:cNvGrpSpPr>
          <p:nvPr/>
        </p:nvGrpSpPr>
        <p:grpSpPr bwMode="auto">
          <a:xfrm>
            <a:off x="4922825" y="3333815"/>
            <a:ext cx="287103" cy="276999"/>
            <a:chOff x="603524" y="1084832"/>
            <a:chExt cx="307233" cy="294605"/>
          </a:xfrm>
        </p:grpSpPr>
        <p:sp>
          <p:nvSpPr>
            <p:cNvPr id="52" name="椭圆 51"/>
            <p:cNvSpPr>
              <a:spLocks noChangeAspect="1"/>
            </p:cNvSpPr>
            <p:nvPr/>
          </p:nvSpPr>
          <p:spPr>
            <a:xfrm>
              <a:off x="603524" y="1105391"/>
              <a:ext cx="254732" cy="254632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  <a:ln w="22225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09">
                <a:defRPr/>
              </a:pPr>
              <a:endParaRPr lang="zh-CN" altLang="en-US" sz="2550" b="1" dirty="0"/>
            </a:p>
          </p:txBody>
        </p:sp>
        <p:sp>
          <p:nvSpPr>
            <p:cNvPr id="53" name="TextBox 37"/>
            <p:cNvSpPr txBox="1">
              <a:spLocks noChangeArrowheads="1"/>
            </p:cNvSpPr>
            <p:nvPr/>
          </p:nvSpPr>
          <p:spPr bwMode="auto">
            <a:xfrm>
              <a:off x="669568" y="1084832"/>
              <a:ext cx="241189" cy="294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solidFill>
                    <a:srgbClr val="FF66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  <a:endParaRPr lang="zh-CN" altLang="en-US" sz="1800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4" name="组合 38"/>
          <p:cNvGrpSpPr>
            <a:grpSpLocks/>
          </p:cNvGrpSpPr>
          <p:nvPr/>
        </p:nvGrpSpPr>
        <p:grpSpPr bwMode="auto">
          <a:xfrm>
            <a:off x="4455071" y="2098266"/>
            <a:ext cx="287103" cy="276999"/>
            <a:chOff x="603524" y="1084832"/>
            <a:chExt cx="307233" cy="294605"/>
          </a:xfrm>
        </p:grpSpPr>
        <p:sp>
          <p:nvSpPr>
            <p:cNvPr id="55" name="椭圆 54"/>
            <p:cNvSpPr>
              <a:spLocks noChangeAspect="1"/>
            </p:cNvSpPr>
            <p:nvPr/>
          </p:nvSpPr>
          <p:spPr>
            <a:xfrm>
              <a:off x="603524" y="1105391"/>
              <a:ext cx="254732" cy="254632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  <a:ln w="22225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09">
                <a:defRPr/>
              </a:pPr>
              <a:endParaRPr lang="zh-CN" altLang="en-US" sz="2550" b="1" dirty="0"/>
            </a:p>
          </p:txBody>
        </p:sp>
        <p:sp>
          <p:nvSpPr>
            <p:cNvPr id="56" name="TextBox 37"/>
            <p:cNvSpPr txBox="1">
              <a:spLocks noChangeArrowheads="1"/>
            </p:cNvSpPr>
            <p:nvPr/>
          </p:nvSpPr>
          <p:spPr bwMode="auto">
            <a:xfrm>
              <a:off x="669568" y="1084832"/>
              <a:ext cx="241189" cy="294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solidFill>
                    <a:srgbClr val="FF66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5</a:t>
              </a:r>
              <a:endParaRPr lang="zh-CN" altLang="en-US" sz="1800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sp>
        <p:nvSpPr>
          <p:cNvPr id="57" name="文本框 56"/>
          <p:cNvSpPr txBox="1"/>
          <p:nvPr/>
        </p:nvSpPr>
        <p:spPr>
          <a:xfrm>
            <a:off x="439816" y="2218782"/>
            <a:ext cx="2387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种利用热释电效应制成的热探测器件。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251520" y="219732"/>
            <a:ext cx="1656184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热释电探测器</a:t>
            </a:r>
          </a:p>
        </p:txBody>
      </p:sp>
      <p:sp>
        <p:nvSpPr>
          <p:cNvPr id="59" name="矩形 58"/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323528" y="544473"/>
            <a:ext cx="1281135" cy="13813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48419887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=""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2411760" y="2253935"/>
            <a:ext cx="5327033" cy="74057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zh-CN" altLang="en-US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热释电</a:t>
            </a:r>
            <a:r>
              <a:rPr kumimoji="1" lang="zh-CN" altLang="en-US" sz="28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探测器基本原理</a:t>
            </a:r>
            <a:endParaRPr kumimoji="1" lang="zh-CN" altLang="en-US" sz="28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1030968" y="2222541"/>
            <a:ext cx="1529424" cy="824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4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6.4.1</a:t>
            </a:r>
            <a:endParaRPr kumimoji="1" lang="zh-CN" altLang="en-US" sz="4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107504" y="195797"/>
            <a:ext cx="748813" cy="32084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6.4.1</a:t>
            </a:r>
            <a:endParaRPr kumimoji="1" lang="zh-CN" altLang="en-US" sz="1866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99592" y="178083"/>
            <a:ext cx="2520280" cy="338554"/>
            <a:chOff x="899592" y="178083"/>
            <a:chExt cx="2520280" cy="338554"/>
          </a:xfrm>
        </p:grpSpPr>
        <p:sp>
          <p:nvSpPr>
            <p:cNvPr id="11" name="文本框 60">
              <a:extLst>
                <a:ext uri="{FF2B5EF4-FFF2-40B4-BE49-F238E27FC236}">
                  <a16:creationId xmlns="" xmlns:a16="http://schemas.microsoft.com/office/drawing/2014/main" id="{791D85D7-F412-9C48-9F2B-E33F5B7B4F3C}"/>
                </a:ext>
              </a:extLst>
            </p:cNvPr>
            <p:cNvSpPr txBox="1"/>
            <p:nvPr/>
          </p:nvSpPr>
          <p:spPr>
            <a:xfrm>
              <a:off x="899592" y="178083"/>
              <a:ext cx="2520280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热释电</a:t>
              </a: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探测器基本原理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3" name="直接连接符 58">
              <a:extLst>
                <a:ext uri="{FF2B5EF4-FFF2-40B4-BE49-F238E27FC236}">
                  <a16:creationId xmlns="" xmlns:a16="http://schemas.microsoft.com/office/drawing/2014/main" id="{8C5F82EF-52B4-4531-96F0-44689EA1125E}"/>
                </a:ext>
              </a:extLst>
            </p:cNvPr>
            <p:cNvCxnSpPr>
              <a:cxnSpLocks/>
            </p:cNvCxnSpPr>
            <p:nvPr/>
          </p:nvCxnSpPr>
          <p:spPr>
            <a:xfrm>
              <a:off x="971600" y="483518"/>
              <a:ext cx="2412000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矩形 39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68220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4391DA37-E40E-4109-B6C3-143E0F5CF2F6}"/>
              </a:ext>
            </a:extLst>
          </p:cNvPr>
          <p:cNvGrpSpPr/>
          <p:nvPr/>
        </p:nvGrpSpPr>
        <p:grpSpPr>
          <a:xfrm>
            <a:off x="0" y="195797"/>
            <a:ext cx="8773149" cy="4947406"/>
            <a:chOff x="0" y="195797"/>
            <a:chExt cx="8773149" cy="494740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F1015882-45DA-4225-829B-62C1F83B22B2}"/>
                </a:ext>
              </a:extLst>
            </p:cNvPr>
            <p:cNvSpPr/>
            <p:nvPr/>
          </p:nvSpPr>
          <p:spPr>
            <a:xfrm>
              <a:off x="6678647" y="219732"/>
              <a:ext cx="965535" cy="285904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733" b="1" spc="33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6C4E530C-E168-47A1-BCCE-00F971AE4AEF}"/>
                </a:ext>
              </a:extLst>
            </p:cNvPr>
            <p:cNvSpPr/>
            <p:nvPr/>
          </p:nvSpPr>
          <p:spPr>
            <a:xfrm>
              <a:off x="8661480" y="241570"/>
              <a:ext cx="111669" cy="275067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xmlns="" id="{535FB9A6-F136-4290-B6A4-6685C655D6C5}"/>
                </a:ext>
              </a:extLst>
            </p:cNvPr>
            <p:cNvSpPr/>
            <p:nvPr/>
          </p:nvSpPr>
          <p:spPr>
            <a:xfrm>
              <a:off x="107504" y="195797"/>
              <a:ext cx="748813" cy="320841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533"/>
                </a:spcBef>
              </a:pPr>
              <a:r>
                <a:rPr kumimoji="1" lang="en-US" altLang="zh-CN" sz="1866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6.4.1</a:t>
              </a:r>
              <a:endParaRPr kumimoji="1" lang="zh-CN" altLang="en-US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38D2B69F-DD76-4414-A0F4-715C3BF6E522}"/>
                </a:ext>
              </a:extLst>
            </p:cNvPr>
            <p:cNvSpPr/>
            <p:nvPr/>
          </p:nvSpPr>
          <p:spPr>
            <a:xfrm>
              <a:off x="7500411" y="195797"/>
              <a:ext cx="1161069" cy="348677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 algn="r"/>
              <a:r>
                <a:rPr lang="zh-CN" altLang="en-US" sz="1866" spc="13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xmlns="" id="{80318028-0CA3-42D6-87BA-1CB39B734436}"/>
                </a:ext>
              </a:extLst>
            </p:cNvPr>
            <p:cNvSpPr/>
            <p:nvPr/>
          </p:nvSpPr>
          <p:spPr>
            <a:xfrm flipV="1">
              <a:off x="0" y="5059383"/>
              <a:ext cx="6760050" cy="83820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99592" y="178083"/>
            <a:ext cx="2520280" cy="307777"/>
            <a:chOff x="899592" y="178083"/>
            <a:chExt cx="2520280" cy="307777"/>
          </a:xfrm>
        </p:grpSpPr>
        <p:sp>
          <p:nvSpPr>
            <p:cNvPr id="24" name="文本框 60">
              <a:extLst>
                <a:ext uri="{FF2B5EF4-FFF2-40B4-BE49-F238E27FC236}">
                  <a16:creationId xmlns:a16="http://schemas.microsoft.com/office/drawing/2014/main" xmlns="" id="{791D85D7-F412-9C48-9F2B-E33F5B7B4F3C}"/>
                </a:ext>
              </a:extLst>
            </p:cNvPr>
            <p:cNvSpPr txBox="1"/>
            <p:nvPr/>
          </p:nvSpPr>
          <p:spPr>
            <a:xfrm>
              <a:off x="899592" y="178083"/>
              <a:ext cx="2520280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热释电</a:t>
              </a:r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探测器基本原理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5" name="直接连接符 58">
              <a:extLst>
                <a:ext uri="{FF2B5EF4-FFF2-40B4-BE49-F238E27FC236}">
                  <a16:creationId xmlns:a16="http://schemas.microsoft.com/office/drawing/2014/main" xmlns="" id="{8C5F82EF-52B4-4531-96F0-44689EA1125E}"/>
                </a:ext>
              </a:extLst>
            </p:cNvPr>
            <p:cNvCxnSpPr>
              <a:cxnSpLocks/>
            </p:cNvCxnSpPr>
            <p:nvPr/>
          </p:nvCxnSpPr>
          <p:spPr>
            <a:xfrm>
              <a:off x="971600" y="483518"/>
              <a:ext cx="2412000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/>
        </p:nvGrpSpPr>
        <p:grpSpPr>
          <a:xfrm>
            <a:off x="3131840" y="2504985"/>
            <a:ext cx="1928733" cy="2124382"/>
            <a:chOff x="3131840" y="2504985"/>
            <a:chExt cx="1928733" cy="2124382"/>
          </a:xfrm>
        </p:grpSpPr>
        <p:grpSp>
          <p:nvGrpSpPr>
            <p:cNvPr id="28" name="组合 27"/>
            <p:cNvGrpSpPr/>
            <p:nvPr/>
          </p:nvGrpSpPr>
          <p:grpSpPr>
            <a:xfrm>
              <a:off x="3131840" y="3003798"/>
              <a:ext cx="837336" cy="1420699"/>
              <a:chOff x="3702943" y="2862023"/>
              <a:chExt cx="837336" cy="1420699"/>
            </a:xfrm>
          </p:grpSpPr>
          <p:sp>
            <p:nvSpPr>
              <p:cNvPr id="29" name="任意多边形 28"/>
              <p:cNvSpPr/>
              <p:nvPr/>
            </p:nvSpPr>
            <p:spPr>
              <a:xfrm>
                <a:off x="3923590" y="2862023"/>
                <a:ext cx="616689" cy="473149"/>
              </a:xfrm>
              <a:custGeom>
                <a:avLst/>
                <a:gdLst>
                  <a:gd name="connsiteX0" fmla="*/ 122275 w 616689"/>
                  <a:gd name="connsiteY0" fmla="*/ 0 h 473149"/>
                  <a:gd name="connsiteX1" fmla="*/ 0 w 616689"/>
                  <a:gd name="connsiteY1" fmla="*/ 127591 h 473149"/>
                  <a:gd name="connsiteX2" fmla="*/ 207335 w 616689"/>
                  <a:gd name="connsiteY2" fmla="*/ 451884 h 473149"/>
                  <a:gd name="connsiteX3" fmla="*/ 260498 w 616689"/>
                  <a:gd name="connsiteY3" fmla="*/ 473149 h 473149"/>
                  <a:gd name="connsiteX4" fmla="*/ 361507 w 616689"/>
                  <a:gd name="connsiteY4" fmla="*/ 467832 h 473149"/>
                  <a:gd name="connsiteX5" fmla="*/ 606056 w 616689"/>
                  <a:gd name="connsiteY5" fmla="*/ 271130 h 473149"/>
                  <a:gd name="connsiteX6" fmla="*/ 616689 w 616689"/>
                  <a:gd name="connsiteY6" fmla="*/ 170121 h 473149"/>
                  <a:gd name="connsiteX7" fmla="*/ 122275 w 616689"/>
                  <a:gd name="connsiteY7" fmla="*/ 0 h 47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16689" h="473149">
                    <a:moveTo>
                      <a:pt x="122275" y="0"/>
                    </a:moveTo>
                    <a:lnTo>
                      <a:pt x="0" y="127591"/>
                    </a:lnTo>
                    <a:lnTo>
                      <a:pt x="207335" y="451884"/>
                    </a:lnTo>
                    <a:lnTo>
                      <a:pt x="260498" y="473149"/>
                    </a:lnTo>
                    <a:lnTo>
                      <a:pt x="361507" y="467832"/>
                    </a:lnTo>
                    <a:lnTo>
                      <a:pt x="606056" y="271130"/>
                    </a:lnTo>
                    <a:lnTo>
                      <a:pt x="616689" y="170121"/>
                    </a:lnTo>
                    <a:lnTo>
                      <a:pt x="122275" y="0"/>
                    </a:lnTo>
                    <a:close/>
                  </a:path>
                </a:pathLst>
              </a:custGeom>
              <a:ln w="19050">
                <a:solidFill>
                  <a:srgbClr val="FF339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l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任意多边形 29"/>
              <p:cNvSpPr/>
              <p:nvPr/>
            </p:nvSpPr>
            <p:spPr>
              <a:xfrm>
                <a:off x="3703281" y="3809573"/>
                <a:ext cx="616689" cy="473149"/>
              </a:xfrm>
              <a:custGeom>
                <a:avLst/>
                <a:gdLst>
                  <a:gd name="connsiteX0" fmla="*/ 122275 w 616689"/>
                  <a:gd name="connsiteY0" fmla="*/ 0 h 473149"/>
                  <a:gd name="connsiteX1" fmla="*/ 0 w 616689"/>
                  <a:gd name="connsiteY1" fmla="*/ 127591 h 473149"/>
                  <a:gd name="connsiteX2" fmla="*/ 207335 w 616689"/>
                  <a:gd name="connsiteY2" fmla="*/ 451884 h 473149"/>
                  <a:gd name="connsiteX3" fmla="*/ 260498 w 616689"/>
                  <a:gd name="connsiteY3" fmla="*/ 473149 h 473149"/>
                  <a:gd name="connsiteX4" fmla="*/ 361507 w 616689"/>
                  <a:gd name="connsiteY4" fmla="*/ 467832 h 473149"/>
                  <a:gd name="connsiteX5" fmla="*/ 606056 w 616689"/>
                  <a:gd name="connsiteY5" fmla="*/ 271130 h 473149"/>
                  <a:gd name="connsiteX6" fmla="*/ 616689 w 616689"/>
                  <a:gd name="connsiteY6" fmla="*/ 170121 h 473149"/>
                  <a:gd name="connsiteX7" fmla="*/ 122275 w 616689"/>
                  <a:gd name="connsiteY7" fmla="*/ 0 h 47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16689" h="473149">
                    <a:moveTo>
                      <a:pt x="122275" y="0"/>
                    </a:moveTo>
                    <a:lnTo>
                      <a:pt x="0" y="127591"/>
                    </a:lnTo>
                    <a:lnTo>
                      <a:pt x="207335" y="451884"/>
                    </a:lnTo>
                    <a:lnTo>
                      <a:pt x="260498" y="473149"/>
                    </a:lnTo>
                    <a:lnTo>
                      <a:pt x="361507" y="467832"/>
                    </a:lnTo>
                    <a:lnTo>
                      <a:pt x="606056" y="271130"/>
                    </a:lnTo>
                    <a:lnTo>
                      <a:pt x="616689" y="170121"/>
                    </a:lnTo>
                    <a:lnTo>
                      <a:pt x="122275" y="0"/>
                    </a:lnTo>
                    <a:close/>
                  </a:path>
                </a:pathLst>
              </a:custGeom>
              <a:ln w="19050">
                <a:gradFill>
                  <a:gsLst>
                    <a:gs pos="0">
                      <a:srgbClr val="E6BAC2"/>
                    </a:gs>
                    <a:gs pos="28000">
                      <a:srgbClr val="E0C0C8"/>
                    </a:gs>
                    <a:gs pos="54000">
                      <a:srgbClr val="FF3399"/>
                    </a:gs>
                    <a:gs pos="100000">
                      <a:srgbClr val="FF3399"/>
                    </a:gs>
                  </a:gsLst>
                  <a:lin ang="5400000" scaled="1"/>
                </a:gradFill>
              </a:ln>
              <a:effectLst>
                <a:outerShdw blurRad="50800" dist="50800" dir="5400000" algn="ctr" rotWithShape="0">
                  <a:schemeClr val="tx1">
                    <a:alpha val="5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l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1" name="直接连接符 30"/>
              <p:cNvCxnSpPr>
                <a:stCxn id="29" idx="1"/>
              </p:cNvCxnSpPr>
              <p:nvPr/>
            </p:nvCxnSpPr>
            <p:spPr>
              <a:xfrm flipH="1">
                <a:off x="3702943" y="2989614"/>
                <a:ext cx="220647" cy="949791"/>
              </a:xfrm>
              <a:prstGeom prst="line">
                <a:avLst/>
              </a:prstGeom>
              <a:ln w="1905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>
                <a:stCxn id="29" idx="5"/>
              </p:cNvCxnSpPr>
              <p:nvPr/>
            </p:nvCxnSpPr>
            <p:spPr>
              <a:xfrm flipH="1">
                <a:off x="4308999" y="3133153"/>
                <a:ext cx="220647" cy="949791"/>
              </a:xfrm>
              <a:prstGeom prst="line">
                <a:avLst/>
              </a:prstGeom>
              <a:ln w="1905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>
                <a:stCxn id="29" idx="4"/>
              </p:cNvCxnSpPr>
              <p:nvPr/>
            </p:nvCxnSpPr>
            <p:spPr>
              <a:xfrm flipH="1">
                <a:off x="4064450" y="3329855"/>
                <a:ext cx="220647" cy="949791"/>
              </a:xfrm>
              <a:prstGeom prst="line">
                <a:avLst/>
              </a:prstGeom>
              <a:ln w="1905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组合 33"/>
            <p:cNvGrpSpPr/>
            <p:nvPr/>
          </p:nvGrpSpPr>
          <p:grpSpPr>
            <a:xfrm>
              <a:off x="3202236" y="4015570"/>
              <a:ext cx="500167" cy="360040"/>
              <a:chOff x="4694381" y="4059674"/>
              <a:chExt cx="500167" cy="360040"/>
            </a:xfrm>
          </p:grpSpPr>
          <p:cxnSp>
            <p:nvCxnSpPr>
              <p:cNvPr id="35" name="直接连接符 34"/>
              <p:cNvCxnSpPr/>
              <p:nvPr/>
            </p:nvCxnSpPr>
            <p:spPr>
              <a:xfrm>
                <a:off x="4694381" y="4117803"/>
                <a:ext cx="72008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>
                <a:off x="4782814" y="4059674"/>
                <a:ext cx="72008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4766389" y="4178286"/>
                <a:ext cx="72008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4782814" y="4251620"/>
                <a:ext cx="72008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4870512" y="4419714"/>
                <a:ext cx="72008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4854822" y="4347706"/>
                <a:ext cx="72008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4895134" y="4131682"/>
                <a:ext cx="72008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>
                <a:off x="4890826" y="4217064"/>
                <a:ext cx="72008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>
                <a:off x="4942520" y="4178286"/>
                <a:ext cx="72008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>
                <a:off x="4910824" y="4275698"/>
                <a:ext cx="72008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5061701" y="4275698"/>
                <a:ext cx="72008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5086536" y="4178286"/>
                <a:ext cx="72008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5122540" y="4218787"/>
                <a:ext cx="72008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5033998" y="4354129"/>
                <a:ext cx="72008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组合 48"/>
            <p:cNvGrpSpPr/>
            <p:nvPr/>
          </p:nvGrpSpPr>
          <p:grpSpPr>
            <a:xfrm>
              <a:off x="3466939" y="3059381"/>
              <a:ext cx="431966" cy="339299"/>
              <a:chOff x="4030070" y="2915365"/>
              <a:chExt cx="431966" cy="339299"/>
            </a:xfrm>
          </p:grpSpPr>
          <p:grpSp>
            <p:nvGrpSpPr>
              <p:cNvPr id="50" name="组合 49"/>
              <p:cNvGrpSpPr/>
              <p:nvPr/>
            </p:nvGrpSpPr>
            <p:grpSpPr>
              <a:xfrm>
                <a:off x="4030070" y="2915365"/>
                <a:ext cx="72008" cy="72008"/>
                <a:chOff x="4491574" y="2753907"/>
                <a:chExt cx="72008" cy="72008"/>
              </a:xfrm>
            </p:grpSpPr>
            <p:cxnSp>
              <p:nvCxnSpPr>
                <p:cNvPr id="84" name="直接连接符 83"/>
                <p:cNvCxnSpPr/>
                <p:nvPr/>
              </p:nvCxnSpPr>
              <p:spPr>
                <a:xfrm>
                  <a:off x="4491574" y="2787774"/>
                  <a:ext cx="72008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接连接符 84"/>
                <p:cNvCxnSpPr/>
                <p:nvPr/>
              </p:nvCxnSpPr>
              <p:spPr>
                <a:xfrm>
                  <a:off x="4527867" y="2753907"/>
                  <a:ext cx="0" cy="7200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组合 50"/>
              <p:cNvGrpSpPr/>
              <p:nvPr/>
            </p:nvGrpSpPr>
            <p:grpSpPr>
              <a:xfrm>
                <a:off x="4059527" y="3010838"/>
                <a:ext cx="72008" cy="72008"/>
                <a:chOff x="4491574" y="2753907"/>
                <a:chExt cx="72008" cy="72008"/>
              </a:xfrm>
            </p:grpSpPr>
            <p:cxnSp>
              <p:nvCxnSpPr>
                <p:cNvPr id="82" name="直接连接符 81"/>
                <p:cNvCxnSpPr/>
                <p:nvPr/>
              </p:nvCxnSpPr>
              <p:spPr>
                <a:xfrm>
                  <a:off x="4491574" y="2787774"/>
                  <a:ext cx="72008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连接符 82"/>
                <p:cNvCxnSpPr/>
                <p:nvPr/>
              </p:nvCxnSpPr>
              <p:spPr>
                <a:xfrm>
                  <a:off x="4527867" y="2753907"/>
                  <a:ext cx="0" cy="7200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2" name="组合 51"/>
              <p:cNvGrpSpPr/>
              <p:nvPr/>
            </p:nvGrpSpPr>
            <p:grpSpPr>
              <a:xfrm>
                <a:off x="4132672" y="2947294"/>
                <a:ext cx="72008" cy="72008"/>
                <a:chOff x="4491574" y="2753907"/>
                <a:chExt cx="72008" cy="72008"/>
              </a:xfrm>
            </p:grpSpPr>
            <p:cxnSp>
              <p:nvCxnSpPr>
                <p:cNvPr id="80" name="直接连接符 79"/>
                <p:cNvCxnSpPr/>
                <p:nvPr/>
              </p:nvCxnSpPr>
              <p:spPr>
                <a:xfrm>
                  <a:off x="4491574" y="2787774"/>
                  <a:ext cx="72008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连接符 80"/>
                <p:cNvCxnSpPr/>
                <p:nvPr/>
              </p:nvCxnSpPr>
              <p:spPr>
                <a:xfrm>
                  <a:off x="4527867" y="2753907"/>
                  <a:ext cx="0" cy="7200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" name="组合 52"/>
              <p:cNvGrpSpPr/>
              <p:nvPr/>
            </p:nvGrpSpPr>
            <p:grpSpPr>
              <a:xfrm>
                <a:off x="4133087" y="3064927"/>
                <a:ext cx="72008" cy="72008"/>
                <a:chOff x="4491574" y="2753907"/>
                <a:chExt cx="72008" cy="72008"/>
              </a:xfrm>
            </p:grpSpPr>
            <p:cxnSp>
              <p:nvCxnSpPr>
                <p:cNvPr id="78" name="直接连接符 77"/>
                <p:cNvCxnSpPr/>
                <p:nvPr/>
              </p:nvCxnSpPr>
              <p:spPr>
                <a:xfrm>
                  <a:off x="4491574" y="2787774"/>
                  <a:ext cx="72008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连接符 78"/>
                <p:cNvCxnSpPr/>
                <p:nvPr/>
              </p:nvCxnSpPr>
              <p:spPr>
                <a:xfrm>
                  <a:off x="4527867" y="2753907"/>
                  <a:ext cx="0" cy="7200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" name="组合 53"/>
              <p:cNvGrpSpPr/>
              <p:nvPr/>
            </p:nvGrpSpPr>
            <p:grpSpPr>
              <a:xfrm>
                <a:off x="4214782" y="3003442"/>
                <a:ext cx="72008" cy="72008"/>
                <a:chOff x="4491574" y="2753907"/>
                <a:chExt cx="72008" cy="72008"/>
              </a:xfrm>
            </p:grpSpPr>
            <p:cxnSp>
              <p:nvCxnSpPr>
                <p:cNvPr id="76" name="直接连接符 75"/>
                <p:cNvCxnSpPr/>
                <p:nvPr/>
              </p:nvCxnSpPr>
              <p:spPr>
                <a:xfrm>
                  <a:off x="4491574" y="2787774"/>
                  <a:ext cx="72008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连接符 76"/>
                <p:cNvCxnSpPr/>
                <p:nvPr/>
              </p:nvCxnSpPr>
              <p:spPr>
                <a:xfrm>
                  <a:off x="4527867" y="2753907"/>
                  <a:ext cx="0" cy="7200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" name="组合 54"/>
              <p:cNvGrpSpPr/>
              <p:nvPr/>
            </p:nvGrpSpPr>
            <p:grpSpPr>
              <a:xfrm>
                <a:off x="4288631" y="3064927"/>
                <a:ext cx="72008" cy="72008"/>
                <a:chOff x="4491574" y="2753907"/>
                <a:chExt cx="72008" cy="72008"/>
              </a:xfrm>
            </p:grpSpPr>
            <p:cxnSp>
              <p:nvCxnSpPr>
                <p:cNvPr id="74" name="直接连接符 73"/>
                <p:cNvCxnSpPr/>
                <p:nvPr/>
              </p:nvCxnSpPr>
              <p:spPr>
                <a:xfrm>
                  <a:off x="4491574" y="2787774"/>
                  <a:ext cx="72008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/>
                <p:cNvCxnSpPr/>
                <p:nvPr/>
              </p:nvCxnSpPr>
              <p:spPr>
                <a:xfrm>
                  <a:off x="4527867" y="2753907"/>
                  <a:ext cx="0" cy="7200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6" name="组合 55"/>
              <p:cNvGrpSpPr/>
              <p:nvPr/>
            </p:nvGrpSpPr>
            <p:grpSpPr>
              <a:xfrm>
                <a:off x="4211358" y="3101679"/>
                <a:ext cx="72008" cy="72008"/>
                <a:chOff x="4491574" y="2753907"/>
                <a:chExt cx="72008" cy="72008"/>
              </a:xfrm>
            </p:grpSpPr>
            <p:cxnSp>
              <p:nvCxnSpPr>
                <p:cNvPr id="72" name="直接连接符 71"/>
                <p:cNvCxnSpPr/>
                <p:nvPr/>
              </p:nvCxnSpPr>
              <p:spPr>
                <a:xfrm>
                  <a:off x="4491574" y="2787774"/>
                  <a:ext cx="72008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连接符 72"/>
                <p:cNvCxnSpPr/>
                <p:nvPr/>
              </p:nvCxnSpPr>
              <p:spPr>
                <a:xfrm>
                  <a:off x="4527867" y="2753907"/>
                  <a:ext cx="0" cy="7200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" name="组合 56"/>
              <p:cNvGrpSpPr/>
              <p:nvPr/>
            </p:nvGrpSpPr>
            <p:grpSpPr>
              <a:xfrm>
                <a:off x="4090489" y="3144230"/>
                <a:ext cx="72008" cy="72008"/>
                <a:chOff x="4491574" y="2753907"/>
                <a:chExt cx="72008" cy="72008"/>
              </a:xfrm>
            </p:grpSpPr>
            <p:cxnSp>
              <p:nvCxnSpPr>
                <p:cNvPr id="70" name="直接连接符 69"/>
                <p:cNvCxnSpPr/>
                <p:nvPr/>
              </p:nvCxnSpPr>
              <p:spPr>
                <a:xfrm>
                  <a:off x="4491574" y="2787774"/>
                  <a:ext cx="72008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连接符 70"/>
                <p:cNvCxnSpPr/>
                <p:nvPr/>
              </p:nvCxnSpPr>
              <p:spPr>
                <a:xfrm>
                  <a:off x="4527867" y="2753907"/>
                  <a:ext cx="0" cy="7200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8" name="组合 57"/>
              <p:cNvGrpSpPr/>
              <p:nvPr/>
            </p:nvGrpSpPr>
            <p:grpSpPr>
              <a:xfrm>
                <a:off x="4177969" y="3182656"/>
                <a:ext cx="72008" cy="72008"/>
                <a:chOff x="4491574" y="2753907"/>
                <a:chExt cx="72008" cy="72008"/>
              </a:xfrm>
            </p:grpSpPr>
            <p:cxnSp>
              <p:nvCxnSpPr>
                <p:cNvPr id="68" name="直接连接符 67"/>
                <p:cNvCxnSpPr/>
                <p:nvPr/>
              </p:nvCxnSpPr>
              <p:spPr>
                <a:xfrm>
                  <a:off x="4491574" y="2787774"/>
                  <a:ext cx="72008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连接符 68"/>
                <p:cNvCxnSpPr/>
                <p:nvPr/>
              </p:nvCxnSpPr>
              <p:spPr>
                <a:xfrm>
                  <a:off x="4527867" y="2753907"/>
                  <a:ext cx="0" cy="7200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9" name="组合 58"/>
              <p:cNvGrpSpPr/>
              <p:nvPr/>
            </p:nvGrpSpPr>
            <p:grpSpPr>
              <a:xfrm>
                <a:off x="4366901" y="3108226"/>
                <a:ext cx="72008" cy="72008"/>
                <a:chOff x="4491574" y="2753907"/>
                <a:chExt cx="72008" cy="72008"/>
              </a:xfrm>
            </p:grpSpPr>
            <p:cxnSp>
              <p:nvCxnSpPr>
                <p:cNvPr id="66" name="直接连接符 65"/>
                <p:cNvCxnSpPr/>
                <p:nvPr/>
              </p:nvCxnSpPr>
              <p:spPr>
                <a:xfrm>
                  <a:off x="4491574" y="2787774"/>
                  <a:ext cx="72008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连接符 66"/>
                <p:cNvCxnSpPr/>
                <p:nvPr/>
              </p:nvCxnSpPr>
              <p:spPr>
                <a:xfrm>
                  <a:off x="4527867" y="2753907"/>
                  <a:ext cx="0" cy="7200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" name="组合 59"/>
              <p:cNvGrpSpPr/>
              <p:nvPr/>
            </p:nvGrpSpPr>
            <p:grpSpPr>
              <a:xfrm>
                <a:off x="4390028" y="3028923"/>
                <a:ext cx="72008" cy="72008"/>
                <a:chOff x="4491574" y="2753907"/>
                <a:chExt cx="72008" cy="72008"/>
              </a:xfrm>
            </p:grpSpPr>
            <p:cxnSp>
              <p:nvCxnSpPr>
                <p:cNvPr id="64" name="直接连接符 63"/>
                <p:cNvCxnSpPr/>
                <p:nvPr/>
              </p:nvCxnSpPr>
              <p:spPr>
                <a:xfrm>
                  <a:off x="4491574" y="2787774"/>
                  <a:ext cx="72008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连接符 64"/>
                <p:cNvCxnSpPr/>
                <p:nvPr/>
              </p:nvCxnSpPr>
              <p:spPr>
                <a:xfrm>
                  <a:off x="4527867" y="2753907"/>
                  <a:ext cx="0" cy="7200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1" name="组合 60"/>
              <p:cNvGrpSpPr/>
              <p:nvPr/>
            </p:nvGrpSpPr>
            <p:grpSpPr>
              <a:xfrm>
                <a:off x="4264822" y="3176047"/>
                <a:ext cx="72008" cy="72008"/>
                <a:chOff x="4491574" y="2753907"/>
                <a:chExt cx="72008" cy="72008"/>
              </a:xfrm>
            </p:grpSpPr>
            <p:cxnSp>
              <p:nvCxnSpPr>
                <p:cNvPr id="62" name="直接连接符 61"/>
                <p:cNvCxnSpPr/>
                <p:nvPr/>
              </p:nvCxnSpPr>
              <p:spPr>
                <a:xfrm>
                  <a:off x="4491574" y="2787774"/>
                  <a:ext cx="72008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连接符 62"/>
                <p:cNvCxnSpPr/>
                <p:nvPr/>
              </p:nvCxnSpPr>
              <p:spPr>
                <a:xfrm>
                  <a:off x="4527867" y="2753907"/>
                  <a:ext cx="0" cy="7200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86" name="直接箭头连接符 85"/>
            <p:cNvCxnSpPr/>
            <p:nvPr/>
          </p:nvCxnSpPr>
          <p:spPr>
            <a:xfrm flipH="1">
              <a:off x="3851920" y="3867894"/>
              <a:ext cx="57606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文本框 86"/>
            <p:cNvSpPr txBox="1"/>
            <p:nvPr/>
          </p:nvSpPr>
          <p:spPr>
            <a:xfrm>
              <a:off x="4355976" y="3714005"/>
              <a:ext cx="691219" cy="30777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HEAT</a:t>
              </a:r>
              <a:endPara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3774054" y="2879749"/>
              <a:ext cx="12665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Positive charge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3491203" y="4367757"/>
              <a:ext cx="11031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Negative charge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3131840" y="2504985"/>
              <a:ext cx="192873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Pyroelectric property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1" name="Rectangle 35"/>
          <p:cNvSpPr>
            <a:spLocks noChangeArrowheads="1"/>
          </p:cNvSpPr>
          <p:nvPr/>
        </p:nvSpPr>
        <p:spPr bwMode="auto">
          <a:xfrm>
            <a:off x="560823" y="2017177"/>
            <a:ext cx="43712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 smtClean="0">
                <a:solidFill>
                  <a:srgbClr val="CE5E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热电晶体具有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非中心对称</a:t>
            </a:r>
            <a:r>
              <a:rPr lang="zh-CN" altLang="en-US" sz="2000" b="1" dirty="0">
                <a:solidFill>
                  <a:srgbClr val="CE5E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的极性晶体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71815" y="2792318"/>
            <a:ext cx="1961192" cy="1800200"/>
            <a:chOff x="571815" y="2792318"/>
            <a:chExt cx="1961192" cy="1800200"/>
          </a:xfrm>
        </p:grpSpPr>
        <p:sp>
          <p:nvSpPr>
            <p:cNvPr id="20" name="椭圆 19"/>
            <p:cNvSpPr/>
            <p:nvPr/>
          </p:nvSpPr>
          <p:spPr>
            <a:xfrm>
              <a:off x="571815" y="2792318"/>
              <a:ext cx="1872208" cy="1800200"/>
            </a:xfrm>
            <a:prstGeom prst="ellipse">
              <a:avLst/>
            </a:prstGeom>
            <a:solidFill>
              <a:srgbClr val="FFC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椭圆 25"/>
            <p:cNvSpPr/>
            <p:nvPr/>
          </p:nvSpPr>
          <p:spPr>
            <a:xfrm>
              <a:off x="976847" y="3224056"/>
              <a:ext cx="1440160" cy="828092"/>
            </a:xfrm>
            <a:prstGeom prst="ellipse">
              <a:avLst/>
            </a:prstGeom>
            <a:solidFill>
              <a:srgbClr val="00B0F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80903" y="3431079"/>
              <a:ext cx="936104" cy="414046"/>
            </a:xfrm>
            <a:prstGeom prst="ellipse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792355" y="2943117"/>
              <a:ext cx="11104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Piezoelectrics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1246034" y="3232256"/>
              <a:ext cx="982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Pyroelectrics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1452887" y="3493866"/>
              <a:ext cx="10801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Ferroelectrics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5" name="Rectangle 16"/>
          <p:cNvSpPr>
            <a:spLocks noChangeArrowheads="1"/>
          </p:cNvSpPr>
          <p:nvPr/>
        </p:nvSpPr>
        <p:spPr bwMode="auto">
          <a:xfrm>
            <a:off x="629682" y="736616"/>
            <a:ext cx="2160587" cy="4616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热释电效应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136750" y="1360184"/>
            <a:ext cx="13131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热电晶体</a:t>
            </a:r>
            <a:endParaRPr lang="zh-CN" altLang="en-US" sz="2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7" name="直接箭头连接符 96"/>
          <p:cNvCxnSpPr/>
          <p:nvPr/>
        </p:nvCxnSpPr>
        <p:spPr>
          <a:xfrm>
            <a:off x="1491346" y="1608054"/>
            <a:ext cx="1133456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97"/>
          <p:cNvSpPr txBox="1"/>
          <p:nvPr/>
        </p:nvSpPr>
        <p:spPr>
          <a:xfrm>
            <a:off x="2644028" y="1388438"/>
            <a:ext cx="377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endParaRPr lang="zh-CN" altLang="en-US" sz="2400" b="1" i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箭头连接符 98"/>
          <p:cNvCxnSpPr/>
          <p:nvPr/>
        </p:nvCxnSpPr>
        <p:spPr>
          <a:xfrm flipV="1">
            <a:off x="3029327" y="1433273"/>
            <a:ext cx="0" cy="349561"/>
          </a:xfrm>
          <a:prstGeom prst="straightConnector1">
            <a:avLst/>
          </a:prstGeom>
          <a:ln>
            <a:solidFill>
              <a:srgbClr val="FF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/>
          <p:nvPr/>
        </p:nvCxnSpPr>
        <p:spPr>
          <a:xfrm flipV="1">
            <a:off x="3121106" y="1617939"/>
            <a:ext cx="308955" cy="2196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3378367" y="1395138"/>
            <a:ext cx="24416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晶体表面电荷变化</a:t>
            </a:r>
            <a:endParaRPr lang="zh-CN" altLang="en-US" sz="2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1475656" y="1347614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吸收</a:t>
            </a:r>
            <a:r>
              <a:rPr lang="zh-CN" altLang="en-US" sz="1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</a:t>
            </a:r>
            <a:r>
              <a:rPr lang="zh-CN" altLang="en-US" sz="1400" b="1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辐射</a:t>
            </a:r>
            <a:endParaRPr lang="zh-CN" altLang="en-US" sz="1400" b="1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32194" y="862885"/>
            <a:ext cx="2960285" cy="3825128"/>
            <a:chOff x="5932194" y="862885"/>
            <a:chExt cx="2960285" cy="3825128"/>
          </a:xfrm>
        </p:grpSpPr>
        <p:sp>
          <p:nvSpPr>
            <p:cNvPr id="103" name="矩形 102"/>
            <p:cNvSpPr/>
            <p:nvPr/>
          </p:nvSpPr>
          <p:spPr>
            <a:xfrm>
              <a:off x="6406698" y="1334488"/>
              <a:ext cx="864096" cy="258742"/>
            </a:xfrm>
            <a:prstGeom prst="rect">
              <a:avLst/>
            </a:prstGeom>
            <a:solidFill>
              <a:srgbClr val="CF7FD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104" name="直接箭头连接符 103"/>
            <p:cNvCxnSpPr/>
            <p:nvPr/>
          </p:nvCxnSpPr>
          <p:spPr>
            <a:xfrm flipV="1">
              <a:off x="7355853" y="1458126"/>
              <a:ext cx="360000" cy="57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矩形 104"/>
            <p:cNvSpPr/>
            <p:nvPr/>
          </p:nvSpPr>
          <p:spPr>
            <a:xfrm>
              <a:off x="7820121" y="1334488"/>
              <a:ext cx="864096" cy="258742"/>
            </a:xfrm>
            <a:prstGeom prst="rect">
              <a:avLst/>
            </a:prstGeom>
            <a:solidFill>
              <a:srgbClr val="CF7FD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06" name="组合 105"/>
            <p:cNvGrpSpPr/>
            <p:nvPr/>
          </p:nvGrpSpPr>
          <p:grpSpPr>
            <a:xfrm>
              <a:off x="7875892" y="1233240"/>
              <a:ext cx="752554" cy="75600"/>
              <a:chOff x="6550424" y="2160000"/>
              <a:chExt cx="752554" cy="75600"/>
            </a:xfrm>
          </p:grpSpPr>
          <p:grpSp>
            <p:nvGrpSpPr>
              <p:cNvPr id="107" name="组合 106"/>
              <p:cNvGrpSpPr/>
              <p:nvPr/>
            </p:nvGrpSpPr>
            <p:grpSpPr>
              <a:xfrm>
                <a:off x="6550424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126" name="直接连接符 125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 126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8" name="组合 107"/>
              <p:cNvGrpSpPr/>
              <p:nvPr/>
            </p:nvGrpSpPr>
            <p:grpSpPr>
              <a:xfrm>
                <a:off x="6670965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124" name="直接连接符 123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连接符 124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9" name="组合 108"/>
              <p:cNvGrpSpPr/>
              <p:nvPr/>
            </p:nvGrpSpPr>
            <p:grpSpPr>
              <a:xfrm>
                <a:off x="6784364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122" name="直接连接符 121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直接连接符 122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0" name="组合 109"/>
              <p:cNvGrpSpPr/>
              <p:nvPr/>
            </p:nvGrpSpPr>
            <p:grpSpPr>
              <a:xfrm>
                <a:off x="6897762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120" name="直接连接符 119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接连接符 120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1" name="组合 110"/>
              <p:cNvGrpSpPr/>
              <p:nvPr/>
            </p:nvGrpSpPr>
            <p:grpSpPr>
              <a:xfrm>
                <a:off x="7011160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118" name="直接连接符 117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直接连接符 118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" name="组合 111"/>
              <p:cNvGrpSpPr/>
              <p:nvPr/>
            </p:nvGrpSpPr>
            <p:grpSpPr>
              <a:xfrm>
                <a:off x="7119269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116" name="直接连接符 115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直接连接符 116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3" name="组合 112"/>
              <p:cNvGrpSpPr/>
              <p:nvPr/>
            </p:nvGrpSpPr>
            <p:grpSpPr>
              <a:xfrm>
                <a:off x="7227378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114" name="直接连接符 113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接连接符 114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8" name="组合 127"/>
            <p:cNvGrpSpPr/>
            <p:nvPr/>
          </p:nvGrpSpPr>
          <p:grpSpPr>
            <a:xfrm>
              <a:off x="7870050" y="1644594"/>
              <a:ext cx="761372" cy="0"/>
              <a:chOff x="8051576" y="1635646"/>
              <a:chExt cx="761372" cy="0"/>
            </a:xfrm>
          </p:grpSpPr>
          <p:cxnSp>
            <p:nvCxnSpPr>
              <p:cNvPr id="129" name="直接连接符 128"/>
              <p:cNvCxnSpPr/>
              <p:nvPr/>
            </p:nvCxnSpPr>
            <p:spPr>
              <a:xfrm>
                <a:off x="8051576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129"/>
              <p:cNvCxnSpPr/>
              <p:nvPr/>
            </p:nvCxnSpPr>
            <p:spPr>
              <a:xfrm>
                <a:off x="8167458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/>
              <p:cNvCxnSpPr/>
              <p:nvPr/>
            </p:nvCxnSpPr>
            <p:spPr>
              <a:xfrm>
                <a:off x="8288107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/>
              <p:cNvCxnSpPr/>
              <p:nvPr/>
            </p:nvCxnSpPr>
            <p:spPr>
              <a:xfrm>
                <a:off x="8397637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/>
              <p:cNvCxnSpPr/>
              <p:nvPr/>
            </p:nvCxnSpPr>
            <p:spPr>
              <a:xfrm>
                <a:off x="8513536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/>
              <p:nvPr/>
            </p:nvCxnSpPr>
            <p:spPr>
              <a:xfrm>
                <a:off x="8623081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8737348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6" name="矩形 135"/>
            <p:cNvSpPr/>
            <p:nvPr/>
          </p:nvSpPr>
          <p:spPr>
            <a:xfrm>
              <a:off x="6406698" y="2615987"/>
              <a:ext cx="864096" cy="258742"/>
            </a:xfrm>
            <a:prstGeom prst="rect">
              <a:avLst/>
            </a:prstGeom>
            <a:solidFill>
              <a:srgbClr val="CF7FD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137" name="直接箭头连接符 136"/>
            <p:cNvCxnSpPr/>
            <p:nvPr/>
          </p:nvCxnSpPr>
          <p:spPr>
            <a:xfrm flipV="1">
              <a:off x="7355853" y="2739625"/>
              <a:ext cx="360000" cy="57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矩形 137"/>
            <p:cNvSpPr/>
            <p:nvPr/>
          </p:nvSpPr>
          <p:spPr>
            <a:xfrm>
              <a:off x="7820121" y="2615987"/>
              <a:ext cx="864096" cy="258742"/>
            </a:xfrm>
            <a:prstGeom prst="rect">
              <a:avLst/>
            </a:prstGeom>
            <a:solidFill>
              <a:srgbClr val="CF7FD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39" name="组合 138"/>
            <p:cNvGrpSpPr/>
            <p:nvPr/>
          </p:nvGrpSpPr>
          <p:grpSpPr>
            <a:xfrm>
              <a:off x="7875892" y="2514739"/>
              <a:ext cx="752554" cy="75600"/>
              <a:chOff x="6550424" y="2160000"/>
              <a:chExt cx="752554" cy="75600"/>
            </a:xfrm>
          </p:grpSpPr>
          <p:grpSp>
            <p:nvGrpSpPr>
              <p:cNvPr id="140" name="组合 139"/>
              <p:cNvGrpSpPr/>
              <p:nvPr/>
            </p:nvGrpSpPr>
            <p:grpSpPr>
              <a:xfrm>
                <a:off x="6550424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159" name="直接连接符 158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直接连接符 159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1" name="组合 140"/>
              <p:cNvGrpSpPr/>
              <p:nvPr/>
            </p:nvGrpSpPr>
            <p:grpSpPr>
              <a:xfrm>
                <a:off x="6670965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157" name="直接连接符 156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直接连接符 157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2" name="组合 141"/>
              <p:cNvGrpSpPr/>
              <p:nvPr/>
            </p:nvGrpSpPr>
            <p:grpSpPr>
              <a:xfrm>
                <a:off x="6784364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155" name="直接连接符 154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直接连接符 155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3" name="组合 142"/>
              <p:cNvGrpSpPr/>
              <p:nvPr/>
            </p:nvGrpSpPr>
            <p:grpSpPr>
              <a:xfrm>
                <a:off x="6897762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153" name="直接连接符 152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直接连接符 153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4" name="组合 143"/>
              <p:cNvGrpSpPr/>
              <p:nvPr/>
            </p:nvGrpSpPr>
            <p:grpSpPr>
              <a:xfrm>
                <a:off x="7011160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151" name="直接连接符 150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直接连接符 151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5" name="组合 144"/>
              <p:cNvGrpSpPr/>
              <p:nvPr/>
            </p:nvGrpSpPr>
            <p:grpSpPr>
              <a:xfrm>
                <a:off x="7119269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149" name="直接连接符 148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直接连接符 149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6" name="组合 145"/>
              <p:cNvGrpSpPr/>
              <p:nvPr/>
            </p:nvGrpSpPr>
            <p:grpSpPr>
              <a:xfrm>
                <a:off x="7227378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147" name="直接连接符 146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直接连接符 147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1" name="组合 160"/>
            <p:cNvGrpSpPr/>
            <p:nvPr/>
          </p:nvGrpSpPr>
          <p:grpSpPr>
            <a:xfrm>
              <a:off x="7870050" y="2926093"/>
              <a:ext cx="761372" cy="0"/>
              <a:chOff x="8051576" y="1635646"/>
              <a:chExt cx="761372" cy="0"/>
            </a:xfrm>
          </p:grpSpPr>
          <p:cxnSp>
            <p:nvCxnSpPr>
              <p:cNvPr id="162" name="直接连接符 161"/>
              <p:cNvCxnSpPr/>
              <p:nvPr/>
            </p:nvCxnSpPr>
            <p:spPr>
              <a:xfrm>
                <a:off x="8051576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>
                <a:off x="8167458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/>
              <p:cNvCxnSpPr/>
              <p:nvPr/>
            </p:nvCxnSpPr>
            <p:spPr>
              <a:xfrm>
                <a:off x="8288107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/>
              <p:cNvCxnSpPr/>
              <p:nvPr/>
            </p:nvCxnSpPr>
            <p:spPr>
              <a:xfrm>
                <a:off x="8397637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/>
              <p:cNvCxnSpPr/>
              <p:nvPr/>
            </p:nvCxnSpPr>
            <p:spPr>
              <a:xfrm>
                <a:off x="8513536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/>
              <p:cNvCxnSpPr/>
              <p:nvPr/>
            </p:nvCxnSpPr>
            <p:spPr>
              <a:xfrm>
                <a:off x="8623081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/>
              <p:cNvCxnSpPr/>
              <p:nvPr/>
            </p:nvCxnSpPr>
            <p:spPr>
              <a:xfrm>
                <a:off x="8737348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9" name="矩形 168"/>
            <p:cNvSpPr/>
            <p:nvPr/>
          </p:nvSpPr>
          <p:spPr>
            <a:xfrm>
              <a:off x="6406698" y="4034403"/>
              <a:ext cx="864096" cy="258742"/>
            </a:xfrm>
            <a:prstGeom prst="rect">
              <a:avLst/>
            </a:prstGeom>
            <a:solidFill>
              <a:srgbClr val="CF7FD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170" name="直接箭头连接符 169"/>
            <p:cNvCxnSpPr/>
            <p:nvPr/>
          </p:nvCxnSpPr>
          <p:spPr>
            <a:xfrm flipV="1">
              <a:off x="7355853" y="4158041"/>
              <a:ext cx="360000" cy="57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矩形 170"/>
            <p:cNvSpPr/>
            <p:nvPr/>
          </p:nvSpPr>
          <p:spPr>
            <a:xfrm>
              <a:off x="7820121" y="4034403"/>
              <a:ext cx="864096" cy="258742"/>
            </a:xfrm>
            <a:prstGeom prst="rect">
              <a:avLst/>
            </a:prstGeom>
            <a:solidFill>
              <a:srgbClr val="CF7FD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72" name="组合 171"/>
            <p:cNvGrpSpPr/>
            <p:nvPr/>
          </p:nvGrpSpPr>
          <p:grpSpPr>
            <a:xfrm>
              <a:off x="7875892" y="3933155"/>
              <a:ext cx="752554" cy="75600"/>
              <a:chOff x="6550424" y="2160000"/>
              <a:chExt cx="752554" cy="75600"/>
            </a:xfrm>
          </p:grpSpPr>
          <p:grpSp>
            <p:nvGrpSpPr>
              <p:cNvPr id="173" name="组合 172"/>
              <p:cNvGrpSpPr/>
              <p:nvPr/>
            </p:nvGrpSpPr>
            <p:grpSpPr>
              <a:xfrm>
                <a:off x="6550424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192" name="直接连接符 191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直接连接符 192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组合 173"/>
              <p:cNvGrpSpPr/>
              <p:nvPr/>
            </p:nvGrpSpPr>
            <p:grpSpPr>
              <a:xfrm>
                <a:off x="6670965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190" name="直接连接符 189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直接连接符 190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组合 174"/>
              <p:cNvGrpSpPr/>
              <p:nvPr/>
            </p:nvGrpSpPr>
            <p:grpSpPr>
              <a:xfrm>
                <a:off x="6784364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188" name="直接连接符 187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直接连接符 188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" name="组合 175"/>
              <p:cNvGrpSpPr/>
              <p:nvPr/>
            </p:nvGrpSpPr>
            <p:grpSpPr>
              <a:xfrm>
                <a:off x="6897762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186" name="直接连接符 185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直接连接符 186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组合 176"/>
              <p:cNvGrpSpPr/>
              <p:nvPr/>
            </p:nvGrpSpPr>
            <p:grpSpPr>
              <a:xfrm>
                <a:off x="7011160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184" name="直接连接符 183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直接连接符 184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组合 177"/>
              <p:cNvGrpSpPr/>
              <p:nvPr/>
            </p:nvGrpSpPr>
            <p:grpSpPr>
              <a:xfrm>
                <a:off x="7119269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182" name="直接连接符 181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直接连接符 182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组合 178"/>
              <p:cNvGrpSpPr/>
              <p:nvPr/>
            </p:nvGrpSpPr>
            <p:grpSpPr>
              <a:xfrm>
                <a:off x="7227378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180" name="直接连接符 179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直接连接符 180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4" name="组合 193"/>
            <p:cNvGrpSpPr/>
            <p:nvPr/>
          </p:nvGrpSpPr>
          <p:grpSpPr>
            <a:xfrm>
              <a:off x="7870050" y="4344509"/>
              <a:ext cx="761372" cy="0"/>
              <a:chOff x="8051576" y="1635646"/>
              <a:chExt cx="761372" cy="0"/>
            </a:xfrm>
          </p:grpSpPr>
          <p:cxnSp>
            <p:nvCxnSpPr>
              <p:cNvPr id="195" name="直接连接符 194"/>
              <p:cNvCxnSpPr/>
              <p:nvPr/>
            </p:nvCxnSpPr>
            <p:spPr>
              <a:xfrm>
                <a:off x="8051576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直接连接符 195"/>
              <p:cNvCxnSpPr/>
              <p:nvPr/>
            </p:nvCxnSpPr>
            <p:spPr>
              <a:xfrm>
                <a:off x="8167458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直接连接符 196"/>
              <p:cNvCxnSpPr/>
              <p:nvPr/>
            </p:nvCxnSpPr>
            <p:spPr>
              <a:xfrm>
                <a:off x="8288107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/>
              <p:cNvCxnSpPr/>
              <p:nvPr/>
            </p:nvCxnSpPr>
            <p:spPr>
              <a:xfrm>
                <a:off x="8397637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 198"/>
              <p:cNvCxnSpPr/>
              <p:nvPr/>
            </p:nvCxnSpPr>
            <p:spPr>
              <a:xfrm>
                <a:off x="8513536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连接符 199"/>
              <p:cNvCxnSpPr/>
              <p:nvPr/>
            </p:nvCxnSpPr>
            <p:spPr>
              <a:xfrm>
                <a:off x="8623081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接连接符 200"/>
              <p:cNvCxnSpPr/>
              <p:nvPr/>
            </p:nvCxnSpPr>
            <p:spPr>
              <a:xfrm>
                <a:off x="8737348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2" name="组合 201"/>
            <p:cNvGrpSpPr/>
            <p:nvPr/>
          </p:nvGrpSpPr>
          <p:grpSpPr>
            <a:xfrm>
              <a:off x="6460733" y="3933155"/>
              <a:ext cx="752554" cy="75600"/>
              <a:chOff x="6550424" y="2160000"/>
              <a:chExt cx="752554" cy="75600"/>
            </a:xfrm>
          </p:grpSpPr>
          <p:grpSp>
            <p:nvGrpSpPr>
              <p:cNvPr id="203" name="组合 202"/>
              <p:cNvGrpSpPr/>
              <p:nvPr/>
            </p:nvGrpSpPr>
            <p:grpSpPr>
              <a:xfrm>
                <a:off x="6550424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222" name="直接连接符 221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直接连接符 222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组合 203"/>
              <p:cNvGrpSpPr/>
              <p:nvPr/>
            </p:nvGrpSpPr>
            <p:grpSpPr>
              <a:xfrm>
                <a:off x="6670965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220" name="直接连接符 219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直接连接符 220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组合 204"/>
              <p:cNvGrpSpPr/>
              <p:nvPr/>
            </p:nvGrpSpPr>
            <p:grpSpPr>
              <a:xfrm>
                <a:off x="6784364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218" name="直接连接符 217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直接连接符 218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组合 205"/>
              <p:cNvGrpSpPr/>
              <p:nvPr/>
            </p:nvGrpSpPr>
            <p:grpSpPr>
              <a:xfrm>
                <a:off x="6897762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216" name="直接连接符 215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直接连接符 216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组合 206"/>
              <p:cNvGrpSpPr/>
              <p:nvPr/>
            </p:nvGrpSpPr>
            <p:grpSpPr>
              <a:xfrm>
                <a:off x="7011160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214" name="直接连接符 213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直接连接符 214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组合 207"/>
              <p:cNvGrpSpPr/>
              <p:nvPr/>
            </p:nvGrpSpPr>
            <p:grpSpPr>
              <a:xfrm>
                <a:off x="7119269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212" name="直接连接符 211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直接连接符 212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组合 208"/>
              <p:cNvGrpSpPr/>
              <p:nvPr/>
            </p:nvGrpSpPr>
            <p:grpSpPr>
              <a:xfrm>
                <a:off x="7227378" y="2160000"/>
                <a:ext cx="75600" cy="75600"/>
                <a:chOff x="6804248" y="2073796"/>
                <a:chExt cx="144016" cy="144000"/>
              </a:xfrm>
            </p:grpSpPr>
            <p:cxnSp>
              <p:nvCxnSpPr>
                <p:cNvPr id="210" name="直接连接符 209"/>
                <p:cNvCxnSpPr/>
                <p:nvPr/>
              </p:nvCxnSpPr>
              <p:spPr>
                <a:xfrm>
                  <a:off x="6804248" y="2139702"/>
                  <a:ext cx="14401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直接连接符 210"/>
                <p:cNvCxnSpPr/>
                <p:nvPr/>
              </p:nvCxnSpPr>
              <p:spPr>
                <a:xfrm>
                  <a:off x="6876256" y="2073796"/>
                  <a:ext cx="0" cy="14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4" name="组合 223"/>
            <p:cNvGrpSpPr/>
            <p:nvPr/>
          </p:nvGrpSpPr>
          <p:grpSpPr>
            <a:xfrm>
              <a:off x="6460733" y="4339617"/>
              <a:ext cx="761372" cy="0"/>
              <a:chOff x="8051576" y="1635646"/>
              <a:chExt cx="761372" cy="0"/>
            </a:xfrm>
          </p:grpSpPr>
          <p:cxnSp>
            <p:nvCxnSpPr>
              <p:cNvPr id="225" name="直接连接符 224"/>
              <p:cNvCxnSpPr/>
              <p:nvPr/>
            </p:nvCxnSpPr>
            <p:spPr>
              <a:xfrm>
                <a:off x="8051576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直接连接符 225"/>
              <p:cNvCxnSpPr/>
              <p:nvPr/>
            </p:nvCxnSpPr>
            <p:spPr>
              <a:xfrm>
                <a:off x="8167458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接连接符 226"/>
              <p:cNvCxnSpPr/>
              <p:nvPr/>
            </p:nvCxnSpPr>
            <p:spPr>
              <a:xfrm>
                <a:off x="8288107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直接连接符 227"/>
              <p:cNvCxnSpPr/>
              <p:nvPr/>
            </p:nvCxnSpPr>
            <p:spPr>
              <a:xfrm>
                <a:off x="8397637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直接连接符 228"/>
              <p:cNvCxnSpPr/>
              <p:nvPr/>
            </p:nvCxnSpPr>
            <p:spPr>
              <a:xfrm>
                <a:off x="8513536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直接连接符 229"/>
              <p:cNvCxnSpPr/>
              <p:nvPr/>
            </p:nvCxnSpPr>
            <p:spPr>
              <a:xfrm>
                <a:off x="8623081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直接连接符 230"/>
              <p:cNvCxnSpPr/>
              <p:nvPr/>
            </p:nvCxnSpPr>
            <p:spPr>
              <a:xfrm>
                <a:off x="8737348" y="1635646"/>
                <a:ext cx="75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2" name="文本框 231"/>
            <p:cNvSpPr txBox="1"/>
            <p:nvPr/>
          </p:nvSpPr>
          <p:spPr>
            <a:xfrm>
              <a:off x="5932194" y="871051"/>
              <a:ext cx="29602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 smtClean="0"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压电材料</a:t>
              </a:r>
              <a:r>
                <a:rPr lang="en-US" altLang="zh-CN" sz="1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Piezoelectric material) 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3" name="文本框 232"/>
            <p:cNvSpPr txBox="1"/>
            <p:nvPr/>
          </p:nvSpPr>
          <p:spPr>
            <a:xfrm>
              <a:off x="5964764" y="2146642"/>
              <a:ext cx="2393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 smtClean="0"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热</a:t>
              </a:r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释</a:t>
              </a:r>
              <a:r>
                <a:rPr lang="zh-CN" altLang="en-US" sz="1200" b="1" dirty="0" smtClean="0"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电材料</a:t>
              </a:r>
              <a:r>
                <a:rPr lang="en-US" altLang="zh-CN" sz="11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12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Pyroelectric</a:t>
              </a:r>
              <a:r>
                <a:rPr lang="en-US" altLang="zh-CN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material)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4" name="文本框 233"/>
            <p:cNvSpPr txBox="1"/>
            <p:nvPr/>
          </p:nvSpPr>
          <p:spPr>
            <a:xfrm>
              <a:off x="5946779" y="3448254"/>
              <a:ext cx="23503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铁</a:t>
              </a:r>
              <a:r>
                <a:rPr lang="zh-CN" altLang="en-US" sz="1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电材料</a:t>
              </a:r>
              <a:r>
                <a:rPr lang="en-US" altLang="zh-CN" sz="1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Ferroelectric material)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5" name="文本框 234"/>
            <p:cNvSpPr txBox="1"/>
            <p:nvPr/>
          </p:nvSpPr>
          <p:spPr>
            <a:xfrm>
              <a:off x="6494326" y="1780282"/>
              <a:ext cx="13830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Applied stress</a:t>
              </a:r>
              <a:endPara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6" name="文本框 235"/>
            <p:cNvSpPr txBox="1"/>
            <p:nvPr/>
          </p:nvSpPr>
          <p:spPr>
            <a:xfrm>
              <a:off x="6597532" y="3003798"/>
              <a:ext cx="13902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Temperature change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7" name="文本框 236"/>
            <p:cNvSpPr txBox="1"/>
            <p:nvPr/>
          </p:nvSpPr>
          <p:spPr>
            <a:xfrm>
              <a:off x="6639618" y="4434097"/>
              <a:ext cx="156001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Applied electric field </a:t>
              </a:r>
              <a:endPara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8" name="下箭头 237"/>
            <p:cNvSpPr/>
            <p:nvPr/>
          </p:nvSpPr>
          <p:spPr>
            <a:xfrm>
              <a:off x="8181528" y="862885"/>
              <a:ext cx="144000" cy="288000"/>
            </a:xfrm>
            <a:prstGeom prst="downArrow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9" name="上箭头 238"/>
            <p:cNvSpPr/>
            <p:nvPr/>
          </p:nvSpPr>
          <p:spPr>
            <a:xfrm>
              <a:off x="8182181" y="1734047"/>
              <a:ext cx="144000" cy="288000"/>
            </a:xfrm>
            <a:prstGeom prst="upArrow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241" name="图片 24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61532" y="2967637"/>
              <a:ext cx="554637" cy="4437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146329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95" grpId="0" animBg="1"/>
      <p:bldP spid="96" grpId="0"/>
      <p:bldP spid="98" grpId="0"/>
      <p:bldP spid="101" grpId="0"/>
      <p:bldP spid="10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14"/>
          <p:cNvSpPr>
            <a:spLocks noChangeArrowheads="1"/>
          </p:cNvSpPr>
          <p:nvPr/>
        </p:nvSpPr>
        <p:spPr bwMode="auto">
          <a:xfrm>
            <a:off x="2469305" y="822612"/>
            <a:ext cx="30561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热“释电”的物理过程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671B4BFE-ECB2-4736-A558-9E4639049F97}"/>
              </a:ext>
            </a:extLst>
          </p:cNvPr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F35B8EE9-39E1-4777-B33A-B94F50049672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806B9485-C4B7-4590-8EA5-459E21D5DE25}"/>
              </a:ext>
            </a:extLst>
          </p:cNvPr>
          <p:cNvSpPr/>
          <p:nvPr/>
        </p:nvSpPr>
        <p:spPr>
          <a:xfrm>
            <a:off x="107504" y="195797"/>
            <a:ext cx="748813" cy="32084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6.4.1</a:t>
            </a:r>
            <a:endParaRPr kumimoji="1" lang="zh-CN" altLang="en-US" sz="1866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4D5AF29E-33CA-4B13-B7F3-4AA9DD46F6B4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A55D759A-5851-4C23-8BC7-42D05DAD2EB6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2598409" y="2190907"/>
            <a:ext cx="155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123" name="Rectangle 9"/>
          <p:cNvSpPr>
            <a:spLocks noChangeArrowheads="1"/>
          </p:cNvSpPr>
          <p:nvPr/>
        </p:nvSpPr>
        <p:spPr bwMode="auto">
          <a:xfrm>
            <a:off x="2598409" y="2190907"/>
            <a:ext cx="155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124" name="Rectangle 10"/>
          <p:cNvSpPr>
            <a:spLocks noChangeArrowheads="1"/>
          </p:cNvSpPr>
          <p:nvPr/>
        </p:nvSpPr>
        <p:spPr bwMode="auto">
          <a:xfrm>
            <a:off x="2598409" y="2190907"/>
            <a:ext cx="155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6" name="椭圆 18"/>
          <p:cNvSpPr/>
          <p:nvPr/>
        </p:nvSpPr>
        <p:spPr>
          <a:xfrm>
            <a:off x="1672889" y="1999895"/>
            <a:ext cx="1242927" cy="1207031"/>
          </a:xfrm>
          <a:custGeom>
            <a:avLst/>
            <a:gdLst>
              <a:gd name="connsiteX0" fmla="*/ 0 w 2160240"/>
              <a:gd name="connsiteY0" fmla="*/ 651650 h 1303300"/>
              <a:gd name="connsiteX1" fmla="*/ 1080120 w 2160240"/>
              <a:gd name="connsiteY1" fmla="*/ 0 h 1303300"/>
              <a:gd name="connsiteX2" fmla="*/ 2160240 w 2160240"/>
              <a:gd name="connsiteY2" fmla="*/ 651650 h 1303300"/>
              <a:gd name="connsiteX3" fmla="*/ 1080120 w 2160240"/>
              <a:gd name="connsiteY3" fmla="*/ 1303300 h 1303300"/>
              <a:gd name="connsiteX4" fmla="*/ 0 w 2160240"/>
              <a:gd name="connsiteY4" fmla="*/ 651650 h 1303300"/>
              <a:gd name="connsiteX0" fmla="*/ 0 w 2160240"/>
              <a:gd name="connsiteY0" fmla="*/ 651650 h 733106"/>
              <a:gd name="connsiteX1" fmla="*/ 1080120 w 2160240"/>
              <a:gd name="connsiteY1" fmla="*/ 0 h 733106"/>
              <a:gd name="connsiteX2" fmla="*/ 2160240 w 2160240"/>
              <a:gd name="connsiteY2" fmla="*/ 651650 h 733106"/>
              <a:gd name="connsiteX3" fmla="*/ 0 w 2160240"/>
              <a:gd name="connsiteY3" fmla="*/ 651650 h 733106"/>
              <a:gd name="connsiteX0" fmla="*/ 2160240 w 2251680"/>
              <a:gd name="connsiteY0" fmla="*/ 651650 h 743090"/>
              <a:gd name="connsiteX1" fmla="*/ 0 w 2251680"/>
              <a:gd name="connsiteY1" fmla="*/ 651650 h 743090"/>
              <a:gd name="connsiteX2" fmla="*/ 1080120 w 2251680"/>
              <a:gd name="connsiteY2" fmla="*/ 0 h 743090"/>
              <a:gd name="connsiteX3" fmla="*/ 2251680 w 2251680"/>
              <a:gd name="connsiteY3" fmla="*/ 743090 h 743090"/>
              <a:gd name="connsiteX0" fmla="*/ 0 w 2251680"/>
              <a:gd name="connsiteY0" fmla="*/ 651650 h 743090"/>
              <a:gd name="connsiteX1" fmla="*/ 1080120 w 2251680"/>
              <a:gd name="connsiteY1" fmla="*/ 0 h 743090"/>
              <a:gd name="connsiteX2" fmla="*/ 2251680 w 2251680"/>
              <a:gd name="connsiteY2" fmla="*/ 743090 h 743090"/>
              <a:gd name="connsiteX0" fmla="*/ 0 w 1171560"/>
              <a:gd name="connsiteY0" fmla="*/ 0 h 743090"/>
              <a:gd name="connsiteX1" fmla="*/ 1171560 w 1171560"/>
              <a:gd name="connsiteY1" fmla="*/ 743090 h 743090"/>
              <a:gd name="connsiteX0" fmla="*/ 0 w 1252922"/>
              <a:gd name="connsiteY0" fmla="*/ 0 h 798159"/>
              <a:gd name="connsiteX1" fmla="*/ 1171560 w 1252922"/>
              <a:gd name="connsiteY1" fmla="*/ 743090 h 798159"/>
              <a:gd name="connsiteX2" fmla="*/ 1151984 w 1252922"/>
              <a:gd name="connsiteY2" fmla="*/ 743178 h 798159"/>
              <a:gd name="connsiteX0" fmla="*/ 0 w 1307554"/>
              <a:gd name="connsiteY0" fmla="*/ 0 h 1942058"/>
              <a:gd name="connsiteX1" fmla="*/ 1171560 w 1307554"/>
              <a:gd name="connsiteY1" fmla="*/ 743090 h 1942058"/>
              <a:gd name="connsiteX2" fmla="*/ 1284064 w 1307554"/>
              <a:gd name="connsiteY2" fmla="*/ 1942058 h 1942058"/>
              <a:gd name="connsiteX3" fmla="*/ 1151984 w 1307554"/>
              <a:gd name="connsiteY3" fmla="*/ 743178 h 1942058"/>
              <a:gd name="connsiteX0" fmla="*/ 0 w 1307554"/>
              <a:gd name="connsiteY0" fmla="*/ 0 h 1942058"/>
              <a:gd name="connsiteX1" fmla="*/ 1171560 w 1307554"/>
              <a:gd name="connsiteY1" fmla="*/ 743090 h 1942058"/>
              <a:gd name="connsiteX2" fmla="*/ 1284064 w 1307554"/>
              <a:gd name="connsiteY2" fmla="*/ 1942058 h 1942058"/>
              <a:gd name="connsiteX0" fmla="*/ 0 w 1527970"/>
              <a:gd name="connsiteY0" fmla="*/ 0 h 1942058"/>
              <a:gd name="connsiteX1" fmla="*/ 1466200 w 1527970"/>
              <a:gd name="connsiteY1" fmla="*/ 819290 h 1942058"/>
              <a:gd name="connsiteX2" fmla="*/ 1284064 w 1527970"/>
              <a:gd name="connsiteY2" fmla="*/ 1942058 h 1942058"/>
              <a:gd name="connsiteX0" fmla="*/ 0 w 1502766"/>
              <a:gd name="connsiteY0" fmla="*/ 0 h 1942058"/>
              <a:gd name="connsiteX1" fmla="*/ 1466200 w 1502766"/>
              <a:gd name="connsiteY1" fmla="*/ 819290 h 1942058"/>
              <a:gd name="connsiteX2" fmla="*/ 1284064 w 1502766"/>
              <a:gd name="connsiteY2" fmla="*/ 1942058 h 1942058"/>
              <a:gd name="connsiteX0" fmla="*/ 0 w 1502766"/>
              <a:gd name="connsiteY0" fmla="*/ 0 h 1942058"/>
              <a:gd name="connsiteX1" fmla="*/ 1466200 w 1502766"/>
              <a:gd name="connsiteY1" fmla="*/ 819290 h 1942058"/>
              <a:gd name="connsiteX2" fmla="*/ 1284064 w 1502766"/>
              <a:gd name="connsiteY2" fmla="*/ 1942058 h 1942058"/>
              <a:gd name="connsiteX0" fmla="*/ 0 w 1736243"/>
              <a:gd name="connsiteY0" fmla="*/ 0 h 2074138"/>
              <a:gd name="connsiteX1" fmla="*/ 1466200 w 1736243"/>
              <a:gd name="connsiteY1" fmla="*/ 819290 h 2074138"/>
              <a:gd name="connsiteX2" fmla="*/ 1736184 w 1736243"/>
              <a:gd name="connsiteY2" fmla="*/ 2074138 h 2074138"/>
              <a:gd name="connsiteX0" fmla="*/ 0 w 1736243"/>
              <a:gd name="connsiteY0" fmla="*/ 0 h 2074138"/>
              <a:gd name="connsiteX1" fmla="*/ 1466200 w 1736243"/>
              <a:gd name="connsiteY1" fmla="*/ 819290 h 2074138"/>
              <a:gd name="connsiteX2" fmla="*/ 1736184 w 1736243"/>
              <a:gd name="connsiteY2" fmla="*/ 2074138 h 2074138"/>
              <a:gd name="connsiteX0" fmla="*/ 0 w 1736489"/>
              <a:gd name="connsiteY0" fmla="*/ 0 h 2074138"/>
              <a:gd name="connsiteX1" fmla="*/ 1466200 w 1736489"/>
              <a:gd name="connsiteY1" fmla="*/ 819290 h 2074138"/>
              <a:gd name="connsiteX2" fmla="*/ 1736184 w 1736489"/>
              <a:gd name="connsiteY2" fmla="*/ 2074138 h 2074138"/>
              <a:gd name="connsiteX0" fmla="*/ 0 w 1736300"/>
              <a:gd name="connsiteY0" fmla="*/ 0 h 2074138"/>
              <a:gd name="connsiteX1" fmla="*/ 1420480 w 1736300"/>
              <a:gd name="connsiteY1" fmla="*/ 834530 h 2074138"/>
              <a:gd name="connsiteX2" fmla="*/ 1736184 w 1736300"/>
              <a:gd name="connsiteY2" fmla="*/ 2074138 h 2074138"/>
              <a:gd name="connsiteX0" fmla="*/ 0 w 1736261"/>
              <a:gd name="connsiteY0" fmla="*/ 0 h 2074138"/>
              <a:gd name="connsiteX1" fmla="*/ 1384920 w 1736261"/>
              <a:gd name="connsiteY1" fmla="*/ 854850 h 2074138"/>
              <a:gd name="connsiteX2" fmla="*/ 1736184 w 1736261"/>
              <a:gd name="connsiteY2" fmla="*/ 2074138 h 2074138"/>
              <a:gd name="connsiteX0" fmla="*/ 0 w 1736237"/>
              <a:gd name="connsiteY0" fmla="*/ 0 h 2074138"/>
              <a:gd name="connsiteX1" fmla="*/ 1339200 w 1736237"/>
              <a:gd name="connsiteY1" fmla="*/ 870090 h 2074138"/>
              <a:gd name="connsiteX2" fmla="*/ 1736184 w 1736237"/>
              <a:gd name="connsiteY2" fmla="*/ 2074138 h 2074138"/>
              <a:gd name="connsiteX0" fmla="*/ 0 w 1736234"/>
              <a:gd name="connsiteY0" fmla="*/ 0 h 2074138"/>
              <a:gd name="connsiteX1" fmla="*/ 1339200 w 1736234"/>
              <a:gd name="connsiteY1" fmla="*/ 870090 h 2074138"/>
              <a:gd name="connsiteX2" fmla="*/ 1736184 w 1736234"/>
              <a:gd name="connsiteY2" fmla="*/ 2074138 h 2074138"/>
              <a:gd name="connsiteX0" fmla="*/ 0 w 1736234"/>
              <a:gd name="connsiteY0" fmla="*/ 0 h 2074138"/>
              <a:gd name="connsiteX1" fmla="*/ 1339200 w 1736234"/>
              <a:gd name="connsiteY1" fmla="*/ 870090 h 2074138"/>
              <a:gd name="connsiteX2" fmla="*/ 1736184 w 1736234"/>
              <a:gd name="connsiteY2" fmla="*/ 2074138 h 2074138"/>
              <a:gd name="connsiteX0" fmla="*/ 0 w 1736234"/>
              <a:gd name="connsiteY0" fmla="*/ 0 h 2074138"/>
              <a:gd name="connsiteX1" fmla="*/ 652536 w 1736234"/>
              <a:gd name="connsiteY1" fmla="*/ 172165 h 2074138"/>
              <a:gd name="connsiteX2" fmla="*/ 1339200 w 1736234"/>
              <a:gd name="connsiteY2" fmla="*/ 870090 h 2074138"/>
              <a:gd name="connsiteX3" fmla="*/ 1736184 w 1736234"/>
              <a:gd name="connsiteY3" fmla="*/ 2074138 h 2074138"/>
              <a:gd name="connsiteX0" fmla="*/ 0 w 1736234"/>
              <a:gd name="connsiteY0" fmla="*/ 0 h 2074138"/>
              <a:gd name="connsiteX1" fmla="*/ 652536 w 1736234"/>
              <a:gd name="connsiteY1" fmla="*/ 172165 h 2074138"/>
              <a:gd name="connsiteX2" fmla="*/ 1339200 w 1736234"/>
              <a:gd name="connsiteY2" fmla="*/ 870090 h 2074138"/>
              <a:gd name="connsiteX3" fmla="*/ 1736184 w 1736234"/>
              <a:gd name="connsiteY3" fmla="*/ 2074138 h 2074138"/>
              <a:gd name="connsiteX0" fmla="*/ 0 w 1736234"/>
              <a:gd name="connsiteY0" fmla="*/ 0 h 2074138"/>
              <a:gd name="connsiteX1" fmla="*/ 652536 w 1736234"/>
              <a:gd name="connsiteY1" fmla="*/ 172165 h 2074138"/>
              <a:gd name="connsiteX2" fmla="*/ 1339200 w 1736234"/>
              <a:gd name="connsiteY2" fmla="*/ 870090 h 2074138"/>
              <a:gd name="connsiteX3" fmla="*/ 1736184 w 1736234"/>
              <a:gd name="connsiteY3" fmla="*/ 2074138 h 2074138"/>
              <a:gd name="connsiteX0" fmla="*/ 0 w 1736234"/>
              <a:gd name="connsiteY0" fmla="*/ 0 h 2074138"/>
              <a:gd name="connsiteX1" fmla="*/ 795323 w 1736234"/>
              <a:gd name="connsiteY1" fmla="*/ 215202 h 2074138"/>
              <a:gd name="connsiteX2" fmla="*/ 1339200 w 1736234"/>
              <a:gd name="connsiteY2" fmla="*/ 870090 h 2074138"/>
              <a:gd name="connsiteX3" fmla="*/ 1736184 w 1736234"/>
              <a:gd name="connsiteY3" fmla="*/ 2074138 h 2074138"/>
              <a:gd name="connsiteX0" fmla="*/ 0 w 1736234"/>
              <a:gd name="connsiteY0" fmla="*/ 0 h 2074138"/>
              <a:gd name="connsiteX1" fmla="*/ 851197 w 1736234"/>
              <a:gd name="connsiteY1" fmla="*/ 180772 h 2074138"/>
              <a:gd name="connsiteX2" fmla="*/ 1339200 w 1736234"/>
              <a:gd name="connsiteY2" fmla="*/ 870090 h 2074138"/>
              <a:gd name="connsiteX3" fmla="*/ 1736184 w 1736234"/>
              <a:gd name="connsiteY3" fmla="*/ 2074138 h 2074138"/>
              <a:gd name="connsiteX0" fmla="*/ 0 w 1736234"/>
              <a:gd name="connsiteY0" fmla="*/ 0 h 2074138"/>
              <a:gd name="connsiteX1" fmla="*/ 1339200 w 1736234"/>
              <a:gd name="connsiteY1" fmla="*/ 870090 h 2074138"/>
              <a:gd name="connsiteX2" fmla="*/ 1736184 w 1736234"/>
              <a:gd name="connsiteY2" fmla="*/ 2074138 h 2074138"/>
              <a:gd name="connsiteX0" fmla="*/ 0 w 1736234"/>
              <a:gd name="connsiteY0" fmla="*/ 0 h 2074138"/>
              <a:gd name="connsiteX1" fmla="*/ 925695 w 1736234"/>
              <a:gd name="connsiteY1" fmla="*/ 266846 h 2074138"/>
              <a:gd name="connsiteX2" fmla="*/ 1339200 w 1736234"/>
              <a:gd name="connsiteY2" fmla="*/ 870090 h 2074138"/>
              <a:gd name="connsiteX3" fmla="*/ 1736184 w 1736234"/>
              <a:gd name="connsiteY3" fmla="*/ 2074138 h 2074138"/>
              <a:gd name="connsiteX0" fmla="*/ 0 w 1736234"/>
              <a:gd name="connsiteY0" fmla="*/ 0 h 2074138"/>
              <a:gd name="connsiteX1" fmla="*/ 857405 w 1736234"/>
              <a:gd name="connsiteY1" fmla="*/ 292668 h 2074138"/>
              <a:gd name="connsiteX2" fmla="*/ 1339200 w 1736234"/>
              <a:gd name="connsiteY2" fmla="*/ 870090 h 2074138"/>
              <a:gd name="connsiteX3" fmla="*/ 1736184 w 1736234"/>
              <a:gd name="connsiteY3" fmla="*/ 2074138 h 2074138"/>
              <a:gd name="connsiteX0" fmla="*/ 0 w 1723618"/>
              <a:gd name="connsiteY0" fmla="*/ 0 h 2082884"/>
              <a:gd name="connsiteX1" fmla="*/ 844789 w 1723618"/>
              <a:gd name="connsiteY1" fmla="*/ 301414 h 2082884"/>
              <a:gd name="connsiteX2" fmla="*/ 1326584 w 1723618"/>
              <a:gd name="connsiteY2" fmla="*/ 878836 h 2082884"/>
              <a:gd name="connsiteX3" fmla="*/ 1723568 w 1723618"/>
              <a:gd name="connsiteY3" fmla="*/ 2082884 h 2082884"/>
              <a:gd name="connsiteX0" fmla="*/ 0 w 1723618"/>
              <a:gd name="connsiteY0" fmla="*/ 77 h 2082961"/>
              <a:gd name="connsiteX1" fmla="*/ 844789 w 1723618"/>
              <a:gd name="connsiteY1" fmla="*/ 301491 h 2082961"/>
              <a:gd name="connsiteX2" fmla="*/ 1326584 w 1723618"/>
              <a:gd name="connsiteY2" fmla="*/ 878913 h 2082961"/>
              <a:gd name="connsiteX3" fmla="*/ 1723568 w 1723618"/>
              <a:gd name="connsiteY3" fmla="*/ 2082961 h 2082961"/>
              <a:gd name="connsiteX0" fmla="*/ 0 w 1723618"/>
              <a:gd name="connsiteY0" fmla="*/ 77 h 2082961"/>
              <a:gd name="connsiteX1" fmla="*/ 844789 w 1723618"/>
              <a:gd name="connsiteY1" fmla="*/ 301491 h 2082961"/>
              <a:gd name="connsiteX2" fmla="*/ 1326584 w 1723618"/>
              <a:gd name="connsiteY2" fmla="*/ 878913 h 2082961"/>
              <a:gd name="connsiteX3" fmla="*/ 1723568 w 1723618"/>
              <a:gd name="connsiteY3" fmla="*/ 2082961 h 2082961"/>
              <a:gd name="connsiteX0" fmla="*/ 0 w 1723618"/>
              <a:gd name="connsiteY0" fmla="*/ 105 h 2082989"/>
              <a:gd name="connsiteX1" fmla="*/ 794326 w 1723618"/>
              <a:gd name="connsiteY1" fmla="*/ 257788 h 2082989"/>
              <a:gd name="connsiteX2" fmla="*/ 1326584 w 1723618"/>
              <a:gd name="connsiteY2" fmla="*/ 878941 h 2082989"/>
              <a:gd name="connsiteX3" fmla="*/ 1723568 w 1723618"/>
              <a:gd name="connsiteY3" fmla="*/ 2082989 h 2082989"/>
              <a:gd name="connsiteX0" fmla="*/ 0 w 1723618"/>
              <a:gd name="connsiteY0" fmla="*/ 105 h 2082989"/>
              <a:gd name="connsiteX1" fmla="*/ 794326 w 1723618"/>
              <a:gd name="connsiteY1" fmla="*/ 257788 h 2082989"/>
              <a:gd name="connsiteX2" fmla="*/ 1326584 w 1723618"/>
              <a:gd name="connsiteY2" fmla="*/ 878941 h 2082989"/>
              <a:gd name="connsiteX3" fmla="*/ 1723568 w 1723618"/>
              <a:gd name="connsiteY3" fmla="*/ 2082989 h 2082989"/>
              <a:gd name="connsiteX0" fmla="*/ 0 w 1723618"/>
              <a:gd name="connsiteY0" fmla="*/ 164 h 2083048"/>
              <a:gd name="connsiteX1" fmla="*/ 819557 w 1723618"/>
              <a:gd name="connsiteY1" fmla="*/ 214116 h 2083048"/>
              <a:gd name="connsiteX2" fmla="*/ 1326584 w 1723618"/>
              <a:gd name="connsiteY2" fmla="*/ 879000 h 2083048"/>
              <a:gd name="connsiteX3" fmla="*/ 1723568 w 1723618"/>
              <a:gd name="connsiteY3" fmla="*/ 2083048 h 2083048"/>
              <a:gd name="connsiteX0" fmla="*/ 0 w 1723618"/>
              <a:gd name="connsiteY0" fmla="*/ 825 h 2083709"/>
              <a:gd name="connsiteX1" fmla="*/ 819557 w 1723618"/>
              <a:gd name="connsiteY1" fmla="*/ 214777 h 2083709"/>
              <a:gd name="connsiteX2" fmla="*/ 1326584 w 1723618"/>
              <a:gd name="connsiteY2" fmla="*/ 879661 h 2083709"/>
              <a:gd name="connsiteX3" fmla="*/ 1723568 w 1723618"/>
              <a:gd name="connsiteY3" fmla="*/ 2083709 h 2083709"/>
              <a:gd name="connsiteX0" fmla="*/ 0 w 1723618"/>
              <a:gd name="connsiteY0" fmla="*/ 825 h 2083709"/>
              <a:gd name="connsiteX1" fmla="*/ 819557 w 1723618"/>
              <a:gd name="connsiteY1" fmla="*/ 214777 h 2083709"/>
              <a:gd name="connsiteX2" fmla="*/ 1326584 w 1723618"/>
              <a:gd name="connsiteY2" fmla="*/ 879661 h 2083709"/>
              <a:gd name="connsiteX3" fmla="*/ 1723568 w 1723618"/>
              <a:gd name="connsiteY3" fmla="*/ 2083709 h 2083709"/>
              <a:gd name="connsiteX0" fmla="*/ 0 w 1723618"/>
              <a:gd name="connsiteY0" fmla="*/ 825 h 2083709"/>
              <a:gd name="connsiteX1" fmla="*/ 863712 w 1723618"/>
              <a:gd name="connsiteY1" fmla="*/ 214776 h 2083709"/>
              <a:gd name="connsiteX2" fmla="*/ 1326584 w 1723618"/>
              <a:gd name="connsiteY2" fmla="*/ 879661 h 2083709"/>
              <a:gd name="connsiteX3" fmla="*/ 1723568 w 1723618"/>
              <a:gd name="connsiteY3" fmla="*/ 2083709 h 2083709"/>
              <a:gd name="connsiteX0" fmla="*/ 0 w 1723618"/>
              <a:gd name="connsiteY0" fmla="*/ 825 h 2083709"/>
              <a:gd name="connsiteX1" fmla="*/ 863712 w 1723618"/>
              <a:gd name="connsiteY1" fmla="*/ 214776 h 2083709"/>
              <a:gd name="connsiteX2" fmla="*/ 1326584 w 1723618"/>
              <a:gd name="connsiteY2" fmla="*/ 879661 h 2083709"/>
              <a:gd name="connsiteX3" fmla="*/ 1723568 w 1723618"/>
              <a:gd name="connsiteY3" fmla="*/ 2083709 h 2083709"/>
              <a:gd name="connsiteX0" fmla="*/ 0 w 1723633"/>
              <a:gd name="connsiteY0" fmla="*/ 825 h 2083709"/>
              <a:gd name="connsiteX1" fmla="*/ 863712 w 1723633"/>
              <a:gd name="connsiteY1" fmla="*/ 214776 h 2083709"/>
              <a:gd name="connsiteX2" fmla="*/ 1364430 w 1723633"/>
              <a:gd name="connsiteY2" fmla="*/ 870915 h 2083709"/>
              <a:gd name="connsiteX3" fmla="*/ 1723568 w 1723633"/>
              <a:gd name="connsiteY3" fmla="*/ 2083709 h 2083709"/>
              <a:gd name="connsiteX0" fmla="*/ 0 w 1723633"/>
              <a:gd name="connsiteY0" fmla="*/ 352 h 2083236"/>
              <a:gd name="connsiteX1" fmla="*/ 870020 w 1723633"/>
              <a:gd name="connsiteY1" fmla="*/ 240542 h 2083236"/>
              <a:gd name="connsiteX2" fmla="*/ 1364430 w 1723633"/>
              <a:gd name="connsiteY2" fmla="*/ 870442 h 2083236"/>
              <a:gd name="connsiteX3" fmla="*/ 1723568 w 1723633"/>
              <a:gd name="connsiteY3" fmla="*/ 2083236 h 2083236"/>
              <a:gd name="connsiteX0" fmla="*/ 0 w 1723633"/>
              <a:gd name="connsiteY0" fmla="*/ 350 h 2083234"/>
              <a:gd name="connsiteX1" fmla="*/ 870020 w 1723633"/>
              <a:gd name="connsiteY1" fmla="*/ 240540 h 2083234"/>
              <a:gd name="connsiteX2" fmla="*/ 1364430 w 1723633"/>
              <a:gd name="connsiteY2" fmla="*/ 870440 h 2083234"/>
              <a:gd name="connsiteX3" fmla="*/ 1723568 w 1723633"/>
              <a:gd name="connsiteY3" fmla="*/ 2083234 h 2083234"/>
              <a:gd name="connsiteX0" fmla="*/ 0 w 1723633"/>
              <a:gd name="connsiteY0" fmla="*/ 2743 h 2085627"/>
              <a:gd name="connsiteX1" fmla="*/ 920482 w 1723633"/>
              <a:gd name="connsiteY1" fmla="*/ 190455 h 2085627"/>
              <a:gd name="connsiteX2" fmla="*/ 1364430 w 1723633"/>
              <a:gd name="connsiteY2" fmla="*/ 872833 h 2085627"/>
              <a:gd name="connsiteX3" fmla="*/ 1723568 w 1723633"/>
              <a:gd name="connsiteY3" fmla="*/ 2085627 h 2085627"/>
              <a:gd name="connsiteX0" fmla="*/ 0 w 1723633"/>
              <a:gd name="connsiteY0" fmla="*/ 2743 h 2085627"/>
              <a:gd name="connsiteX1" fmla="*/ 920482 w 1723633"/>
              <a:gd name="connsiteY1" fmla="*/ 190455 h 2085627"/>
              <a:gd name="connsiteX2" fmla="*/ 1364430 w 1723633"/>
              <a:gd name="connsiteY2" fmla="*/ 872833 h 2085627"/>
              <a:gd name="connsiteX3" fmla="*/ 1723568 w 1723633"/>
              <a:gd name="connsiteY3" fmla="*/ 2085627 h 2085627"/>
              <a:gd name="connsiteX0" fmla="*/ 0 w 1547014"/>
              <a:gd name="connsiteY0" fmla="*/ 2743 h 2085627"/>
              <a:gd name="connsiteX1" fmla="*/ 743863 w 1547014"/>
              <a:gd name="connsiteY1" fmla="*/ 190455 h 2085627"/>
              <a:gd name="connsiteX2" fmla="*/ 1187811 w 1547014"/>
              <a:gd name="connsiteY2" fmla="*/ 872833 h 2085627"/>
              <a:gd name="connsiteX3" fmla="*/ 1546949 w 1547014"/>
              <a:gd name="connsiteY3" fmla="*/ 2085627 h 2085627"/>
              <a:gd name="connsiteX0" fmla="*/ 0 w 1521783"/>
              <a:gd name="connsiteY0" fmla="*/ 4019 h 2078157"/>
              <a:gd name="connsiteX1" fmla="*/ 718632 w 1521783"/>
              <a:gd name="connsiteY1" fmla="*/ 182985 h 2078157"/>
              <a:gd name="connsiteX2" fmla="*/ 1162580 w 1521783"/>
              <a:gd name="connsiteY2" fmla="*/ 865363 h 2078157"/>
              <a:gd name="connsiteX3" fmla="*/ 1521718 w 1521783"/>
              <a:gd name="connsiteY3" fmla="*/ 2078157 h 2078157"/>
              <a:gd name="connsiteX0" fmla="*/ 0 w 1521790"/>
              <a:gd name="connsiteY0" fmla="*/ 4019 h 2078157"/>
              <a:gd name="connsiteX1" fmla="*/ 718632 w 1521790"/>
              <a:gd name="connsiteY1" fmla="*/ 182985 h 2078157"/>
              <a:gd name="connsiteX2" fmla="*/ 1175721 w 1521790"/>
              <a:gd name="connsiteY2" fmla="*/ 861717 h 2078157"/>
              <a:gd name="connsiteX3" fmla="*/ 1521718 w 1521790"/>
              <a:gd name="connsiteY3" fmla="*/ 2078157 h 2078157"/>
              <a:gd name="connsiteX0" fmla="*/ 0 w 1521779"/>
              <a:gd name="connsiteY0" fmla="*/ 4019 h 2078157"/>
              <a:gd name="connsiteX1" fmla="*/ 718632 w 1521779"/>
              <a:gd name="connsiteY1" fmla="*/ 182985 h 2078157"/>
              <a:gd name="connsiteX2" fmla="*/ 1154694 w 1521779"/>
              <a:gd name="connsiteY2" fmla="*/ 869005 h 2078157"/>
              <a:gd name="connsiteX3" fmla="*/ 1521718 w 1521779"/>
              <a:gd name="connsiteY3" fmla="*/ 2078157 h 2078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1779" h="2078157">
                <a:moveTo>
                  <a:pt x="0" y="4019"/>
                </a:moveTo>
                <a:cubicBezTo>
                  <a:pt x="324892" y="-99"/>
                  <a:pt x="526972" y="-32000"/>
                  <a:pt x="718632" y="182985"/>
                </a:cubicBezTo>
                <a:cubicBezTo>
                  <a:pt x="967063" y="459191"/>
                  <a:pt x="963141" y="545439"/>
                  <a:pt x="1154694" y="869005"/>
                </a:cubicBezTo>
                <a:cubicBezTo>
                  <a:pt x="1399185" y="1223161"/>
                  <a:pt x="1524981" y="2078142"/>
                  <a:pt x="1521718" y="2078157"/>
                </a:cubicBezTo>
              </a:path>
            </a:pathLst>
          </a:custGeom>
          <a:ln w="19050">
            <a:solidFill>
              <a:srgbClr val="FF33C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36" name="直接连接符 5135"/>
          <p:cNvCxnSpPr/>
          <p:nvPr/>
        </p:nvCxnSpPr>
        <p:spPr>
          <a:xfrm>
            <a:off x="2096432" y="1802007"/>
            <a:ext cx="1080120" cy="1417815"/>
          </a:xfrm>
          <a:prstGeom prst="line">
            <a:avLst/>
          </a:prstGeom>
          <a:ln w="15875">
            <a:solidFill>
              <a:srgbClr val="FF0000"/>
            </a:solidFill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1653049" y="2245355"/>
            <a:ext cx="711852" cy="959237"/>
            <a:chOff x="1653049" y="2245355"/>
            <a:chExt cx="711852" cy="959237"/>
          </a:xfrm>
        </p:grpSpPr>
        <p:cxnSp>
          <p:nvCxnSpPr>
            <p:cNvPr id="5141" name="直接连接符 5140"/>
            <p:cNvCxnSpPr/>
            <p:nvPr/>
          </p:nvCxnSpPr>
          <p:spPr>
            <a:xfrm>
              <a:off x="1653049" y="2245355"/>
              <a:ext cx="711852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4" name="直接连接符 5143"/>
            <p:cNvCxnSpPr/>
            <p:nvPr/>
          </p:nvCxnSpPr>
          <p:spPr>
            <a:xfrm>
              <a:off x="2364901" y="2245355"/>
              <a:ext cx="0" cy="959237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1653049" y="2691331"/>
            <a:ext cx="1071892" cy="513261"/>
            <a:chOff x="1653049" y="2691331"/>
            <a:chExt cx="1071892" cy="513261"/>
          </a:xfrm>
        </p:grpSpPr>
        <p:cxnSp>
          <p:nvCxnSpPr>
            <p:cNvPr id="5146" name="直接连接符 5145"/>
            <p:cNvCxnSpPr/>
            <p:nvPr/>
          </p:nvCxnSpPr>
          <p:spPr>
            <a:xfrm>
              <a:off x="1653049" y="2691331"/>
              <a:ext cx="1071892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8" name="直接连接符 5147"/>
            <p:cNvCxnSpPr/>
            <p:nvPr/>
          </p:nvCxnSpPr>
          <p:spPr>
            <a:xfrm>
              <a:off x="2724941" y="2691331"/>
              <a:ext cx="0" cy="513261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51" name="直接连接符 5150"/>
          <p:cNvCxnSpPr/>
          <p:nvPr/>
        </p:nvCxnSpPr>
        <p:spPr>
          <a:xfrm flipH="1">
            <a:off x="2359345" y="2358722"/>
            <a:ext cx="104552" cy="56645"/>
          </a:xfrm>
          <a:prstGeom prst="line">
            <a:avLst/>
          </a:prstGeom>
          <a:ln w="158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3" name="直接连接符 5152"/>
          <p:cNvCxnSpPr/>
          <p:nvPr/>
        </p:nvCxnSpPr>
        <p:spPr>
          <a:xfrm flipH="1">
            <a:off x="2371250" y="2517949"/>
            <a:ext cx="218080" cy="133088"/>
          </a:xfrm>
          <a:prstGeom prst="line">
            <a:avLst/>
          </a:prstGeom>
          <a:ln w="158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5" name="直接连接符 5164"/>
          <p:cNvCxnSpPr/>
          <p:nvPr/>
        </p:nvCxnSpPr>
        <p:spPr>
          <a:xfrm flipV="1">
            <a:off x="2491662" y="2598265"/>
            <a:ext cx="144016" cy="87921"/>
          </a:xfrm>
          <a:prstGeom prst="line">
            <a:avLst/>
          </a:prstGeom>
          <a:ln w="158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7" name="直接连接符 5166"/>
          <p:cNvCxnSpPr/>
          <p:nvPr/>
        </p:nvCxnSpPr>
        <p:spPr>
          <a:xfrm flipV="1">
            <a:off x="2361731" y="2435438"/>
            <a:ext cx="167627" cy="99556"/>
          </a:xfrm>
          <a:prstGeom prst="line">
            <a:avLst/>
          </a:prstGeom>
          <a:ln w="158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71" name="文本框 5170"/>
          <p:cNvSpPr txBox="1"/>
          <p:nvPr/>
        </p:nvSpPr>
        <p:spPr>
          <a:xfrm>
            <a:off x="1290504" y="2335407"/>
            <a:ext cx="412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sz="1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1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800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5173" name="文本框 5172"/>
          <p:cNvSpPr txBox="1"/>
          <p:nvPr/>
        </p:nvSpPr>
        <p:spPr>
          <a:xfrm>
            <a:off x="2359345" y="3190677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sz="12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12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1200" i="1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75" name="文本框 5174"/>
          <p:cNvSpPr txBox="1"/>
          <p:nvPr/>
        </p:nvSpPr>
        <p:spPr>
          <a:xfrm>
            <a:off x="2741079" y="3190027"/>
            <a:ext cx="3004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2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2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296894" y="1673915"/>
            <a:ext cx="2357535" cy="1807890"/>
            <a:chOff x="1296894" y="1673915"/>
            <a:chExt cx="2357535" cy="1807890"/>
          </a:xfrm>
        </p:grpSpPr>
        <p:cxnSp>
          <p:nvCxnSpPr>
            <p:cNvPr id="3" name="直接箭头连接符 2"/>
            <p:cNvCxnSpPr/>
            <p:nvPr/>
          </p:nvCxnSpPr>
          <p:spPr>
            <a:xfrm>
              <a:off x="1658653" y="3204592"/>
              <a:ext cx="190651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直接箭头连接符 388"/>
            <p:cNvCxnSpPr/>
            <p:nvPr/>
          </p:nvCxnSpPr>
          <p:spPr>
            <a:xfrm flipH="1" flipV="1">
              <a:off x="1653049" y="1709639"/>
              <a:ext cx="11207" cy="14949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70" name="文本框 5169"/>
            <p:cNvSpPr txBox="1"/>
            <p:nvPr/>
          </p:nvSpPr>
          <p:spPr>
            <a:xfrm>
              <a:off x="1431894" y="3155778"/>
              <a:ext cx="3946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i="1" dirty="0" smtClean="0"/>
                <a:t>0</a:t>
              </a:r>
              <a:endParaRPr lang="zh-CN" altLang="en-US" sz="1400" i="1" dirty="0"/>
            </a:p>
          </p:txBody>
        </p:sp>
        <p:sp>
          <p:nvSpPr>
            <p:cNvPr id="5172" name="文本框 5171"/>
            <p:cNvSpPr txBox="1"/>
            <p:nvPr/>
          </p:nvSpPr>
          <p:spPr>
            <a:xfrm>
              <a:off x="1296894" y="1673915"/>
              <a:ext cx="38764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8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  <a:p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76" name="文本框 5175"/>
            <p:cNvSpPr txBox="1"/>
            <p:nvPr/>
          </p:nvSpPr>
          <p:spPr>
            <a:xfrm>
              <a:off x="3375185" y="3204806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178" name="直接箭头连接符 5177"/>
          <p:cNvCxnSpPr/>
          <p:nvPr/>
        </p:nvCxnSpPr>
        <p:spPr>
          <a:xfrm flipV="1">
            <a:off x="2452381" y="2360652"/>
            <a:ext cx="316527" cy="199493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80" name="文本框 5179"/>
          <p:cNvSpPr txBox="1"/>
          <p:nvPr/>
        </p:nvSpPr>
        <p:spPr>
          <a:xfrm>
            <a:off x="2689170" y="2095804"/>
            <a:ext cx="11365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有效工作区</a:t>
            </a:r>
            <a:endParaRPr lang="zh-CN" altLang="en-US" sz="1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235" name="组合 234"/>
          <p:cNvGrpSpPr/>
          <p:nvPr/>
        </p:nvGrpSpPr>
        <p:grpSpPr>
          <a:xfrm>
            <a:off x="899592" y="178083"/>
            <a:ext cx="2520280" cy="338554"/>
            <a:chOff x="899592" y="178083"/>
            <a:chExt cx="2520280" cy="338554"/>
          </a:xfrm>
        </p:grpSpPr>
        <p:sp>
          <p:nvSpPr>
            <p:cNvPr id="236" name="文本框 60">
              <a:extLst>
                <a:ext uri="{FF2B5EF4-FFF2-40B4-BE49-F238E27FC236}">
                  <a16:creationId xmlns="" xmlns:a16="http://schemas.microsoft.com/office/drawing/2014/main" id="{791D85D7-F412-9C48-9F2B-E33F5B7B4F3C}"/>
                </a:ext>
              </a:extLst>
            </p:cNvPr>
            <p:cNvSpPr txBox="1"/>
            <p:nvPr/>
          </p:nvSpPr>
          <p:spPr>
            <a:xfrm>
              <a:off x="899592" y="178083"/>
              <a:ext cx="2520280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热释电</a:t>
              </a: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探测器基本原理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37" name="直接连接符 58">
              <a:extLst>
                <a:ext uri="{FF2B5EF4-FFF2-40B4-BE49-F238E27FC236}">
                  <a16:creationId xmlns="" xmlns:a16="http://schemas.microsoft.com/office/drawing/2014/main" id="{8C5F82EF-52B4-4531-96F0-44689EA1125E}"/>
                </a:ext>
              </a:extLst>
            </p:cNvPr>
            <p:cNvCxnSpPr>
              <a:cxnSpLocks/>
            </p:cNvCxnSpPr>
            <p:nvPr/>
          </p:nvCxnSpPr>
          <p:spPr>
            <a:xfrm>
              <a:off x="971600" y="483518"/>
              <a:ext cx="2412000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9" name="文本框 238"/>
          <p:cNvSpPr txBox="1"/>
          <p:nvPr/>
        </p:nvSpPr>
        <p:spPr>
          <a:xfrm>
            <a:off x="1160183" y="2555547"/>
            <a:ext cx="5682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9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1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1121907" y="2098135"/>
            <a:ext cx="586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0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2581785" y="3186556"/>
            <a:ext cx="320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2209423" y="3161306"/>
            <a:ext cx="320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3" name="文本框 242"/>
          <p:cNvSpPr txBox="1"/>
          <p:nvPr/>
        </p:nvSpPr>
        <p:spPr>
          <a:xfrm>
            <a:off x="1457871" y="3669038"/>
            <a:ext cx="2044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极化强度</a:t>
            </a:r>
            <a:r>
              <a:rPr lang="en-US" altLang="zh-CN" sz="1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1400" b="1" i="1" baseline="-25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1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与温度关系</a:t>
            </a:r>
            <a:endParaRPr lang="zh-CN" altLang="en-US" sz="1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295794" y="1734909"/>
            <a:ext cx="2886728" cy="1007832"/>
            <a:chOff x="5295794" y="1734909"/>
            <a:chExt cx="2886728" cy="1007832"/>
          </a:xfrm>
        </p:grpSpPr>
        <p:sp>
          <p:nvSpPr>
            <p:cNvPr id="10" name="Rectangle 24"/>
            <p:cNvSpPr>
              <a:spLocks noChangeArrowheads="1"/>
            </p:cNvSpPr>
            <p:nvPr/>
          </p:nvSpPr>
          <p:spPr bwMode="auto">
            <a:xfrm>
              <a:off x="7289296" y="2344809"/>
              <a:ext cx="80021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温度低</a:t>
              </a:r>
            </a:p>
          </p:txBody>
        </p:sp>
        <p:sp>
          <p:nvSpPr>
            <p:cNvPr id="300" name="文本框 299"/>
            <p:cNvSpPr txBox="1"/>
            <p:nvPr/>
          </p:nvSpPr>
          <p:spPr>
            <a:xfrm>
              <a:off x="7318426" y="1944143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12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</a:t>
              </a:r>
              <a:r>
                <a:rPr lang="en-US" altLang="zh-CN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44" name="组合 243">
              <a:extLst>
                <a:ext uri="{FF2B5EF4-FFF2-40B4-BE49-F238E27FC236}">
                  <a16:creationId xmlns="" xmlns:a16="http://schemas.microsoft.com/office/drawing/2014/main" id="{A5F7D140-067F-F5AB-6A73-9ED5A3CE165F}"/>
                </a:ext>
              </a:extLst>
            </p:cNvPr>
            <p:cNvGrpSpPr/>
            <p:nvPr/>
          </p:nvGrpSpPr>
          <p:grpSpPr>
            <a:xfrm>
              <a:off x="5295794" y="1734909"/>
              <a:ext cx="1940502" cy="1007832"/>
              <a:chOff x="3723515" y="1616590"/>
              <a:chExt cx="1940502" cy="1007832"/>
            </a:xfrm>
          </p:grpSpPr>
          <p:cxnSp>
            <p:nvCxnSpPr>
              <p:cNvPr id="245" name="直接箭头连接符 244"/>
              <p:cNvCxnSpPr/>
              <p:nvPr/>
            </p:nvCxnSpPr>
            <p:spPr>
              <a:xfrm flipV="1">
                <a:off x="5664017" y="1684739"/>
                <a:ext cx="0" cy="779957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headEnd w="lg" len="lg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6" name="矩形 245"/>
              <p:cNvSpPr/>
              <p:nvPr/>
            </p:nvSpPr>
            <p:spPr>
              <a:xfrm>
                <a:off x="3723515" y="1616590"/>
                <a:ext cx="1800000" cy="1007832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47" name="组合 246"/>
              <p:cNvGrpSpPr/>
              <p:nvPr/>
            </p:nvGrpSpPr>
            <p:grpSpPr>
              <a:xfrm>
                <a:off x="4166505" y="1637648"/>
                <a:ext cx="160665" cy="977182"/>
                <a:chOff x="2546242" y="3303848"/>
                <a:chExt cx="160665" cy="977182"/>
              </a:xfrm>
            </p:grpSpPr>
            <p:grpSp>
              <p:nvGrpSpPr>
                <p:cNvPr id="331" name="组合 330"/>
                <p:cNvGrpSpPr/>
                <p:nvPr/>
              </p:nvGrpSpPr>
              <p:grpSpPr>
                <a:xfrm>
                  <a:off x="2548624" y="3303848"/>
                  <a:ext cx="158283" cy="367822"/>
                  <a:chOff x="2548624" y="3303848"/>
                  <a:chExt cx="158283" cy="367822"/>
                </a:xfrm>
              </p:grpSpPr>
              <p:sp>
                <p:nvSpPr>
                  <p:cNvPr id="342" name="流程图: 终止 341"/>
                  <p:cNvSpPr/>
                  <p:nvPr/>
                </p:nvSpPr>
                <p:spPr>
                  <a:xfrm rot="5400000">
                    <a:off x="2443855" y="3408617"/>
                    <a:ext cx="367822" cy="158283"/>
                  </a:xfrm>
                  <a:prstGeom prst="flowChartTerminator">
                    <a:avLst/>
                  </a:prstGeom>
                  <a:solidFill>
                    <a:srgbClr val="0099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343" name="组合 342"/>
                  <p:cNvGrpSpPr/>
                  <p:nvPr/>
                </p:nvGrpSpPr>
                <p:grpSpPr>
                  <a:xfrm>
                    <a:off x="2581105" y="3353695"/>
                    <a:ext cx="92402" cy="88949"/>
                    <a:chOff x="1993782" y="3190016"/>
                    <a:chExt cx="108575" cy="88949"/>
                  </a:xfrm>
                </p:grpSpPr>
                <p:sp>
                  <p:nvSpPr>
                    <p:cNvPr id="348" name="椭圆 347"/>
                    <p:cNvSpPr/>
                    <p:nvPr/>
                  </p:nvSpPr>
                  <p:spPr>
                    <a:xfrm>
                      <a:off x="1993782" y="3190016"/>
                      <a:ext cx="10857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49" name="直接连接符 348"/>
                    <p:cNvCxnSpPr>
                      <a:stCxn id="348" idx="2"/>
                      <a:endCxn id="348" idx="6"/>
                    </p:cNvCxnSpPr>
                    <p:nvPr/>
                  </p:nvCxnSpPr>
                  <p:spPr>
                    <a:xfrm>
                      <a:off x="1993782" y="3234491"/>
                      <a:ext cx="108575" cy="0"/>
                    </a:xfrm>
                    <a:prstGeom prst="line">
                      <a:avLst/>
                    </a:prstGeom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44" name="组合 343"/>
                  <p:cNvGrpSpPr/>
                  <p:nvPr/>
                </p:nvGrpSpPr>
                <p:grpSpPr>
                  <a:xfrm>
                    <a:off x="2575334" y="3528539"/>
                    <a:ext cx="100666" cy="88949"/>
                    <a:chOff x="2575333" y="3528539"/>
                    <a:chExt cx="104065" cy="88949"/>
                  </a:xfrm>
                </p:grpSpPr>
                <p:sp>
                  <p:nvSpPr>
                    <p:cNvPr id="345" name="椭圆 344"/>
                    <p:cNvSpPr/>
                    <p:nvPr/>
                  </p:nvSpPr>
                  <p:spPr>
                    <a:xfrm>
                      <a:off x="2575333" y="3528539"/>
                      <a:ext cx="10406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46" name="直接连接符 345"/>
                    <p:cNvCxnSpPr>
                      <a:stCxn id="345" idx="2"/>
                      <a:endCxn id="345" idx="6"/>
                    </p:cNvCxnSpPr>
                    <p:nvPr/>
                  </p:nvCxnSpPr>
                  <p:spPr>
                    <a:xfrm>
                      <a:off x="2575333" y="3573014"/>
                      <a:ext cx="104065" cy="0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7" name="直接连接符 346"/>
                    <p:cNvCxnSpPr/>
                    <p:nvPr/>
                  </p:nvCxnSpPr>
                  <p:spPr>
                    <a:xfrm>
                      <a:off x="2627784" y="3528539"/>
                      <a:ext cx="0" cy="88949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332" name="组合 331"/>
                <p:cNvGrpSpPr/>
                <p:nvPr/>
              </p:nvGrpSpPr>
              <p:grpSpPr>
                <a:xfrm>
                  <a:off x="2546242" y="3913208"/>
                  <a:ext cx="158283" cy="367822"/>
                  <a:chOff x="2548624" y="3303848"/>
                  <a:chExt cx="158283" cy="367822"/>
                </a:xfrm>
              </p:grpSpPr>
              <p:sp>
                <p:nvSpPr>
                  <p:cNvPr id="334" name="流程图: 终止 333"/>
                  <p:cNvSpPr/>
                  <p:nvPr/>
                </p:nvSpPr>
                <p:spPr>
                  <a:xfrm rot="5400000">
                    <a:off x="2443855" y="3408617"/>
                    <a:ext cx="367822" cy="158283"/>
                  </a:xfrm>
                  <a:prstGeom prst="flowChartTerminator">
                    <a:avLst/>
                  </a:prstGeom>
                  <a:solidFill>
                    <a:srgbClr val="0099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335" name="组合 334"/>
                  <p:cNvGrpSpPr/>
                  <p:nvPr/>
                </p:nvGrpSpPr>
                <p:grpSpPr>
                  <a:xfrm>
                    <a:off x="2581105" y="3353695"/>
                    <a:ext cx="92402" cy="88949"/>
                    <a:chOff x="1993782" y="3190016"/>
                    <a:chExt cx="108575" cy="88949"/>
                  </a:xfrm>
                </p:grpSpPr>
                <p:sp>
                  <p:nvSpPr>
                    <p:cNvPr id="340" name="椭圆 339"/>
                    <p:cNvSpPr/>
                    <p:nvPr/>
                  </p:nvSpPr>
                  <p:spPr>
                    <a:xfrm>
                      <a:off x="1993782" y="3190016"/>
                      <a:ext cx="10857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41" name="直接连接符 340"/>
                    <p:cNvCxnSpPr>
                      <a:stCxn id="340" idx="2"/>
                      <a:endCxn id="340" idx="6"/>
                    </p:cNvCxnSpPr>
                    <p:nvPr/>
                  </p:nvCxnSpPr>
                  <p:spPr>
                    <a:xfrm>
                      <a:off x="1993782" y="3234491"/>
                      <a:ext cx="108575" cy="0"/>
                    </a:xfrm>
                    <a:prstGeom prst="line">
                      <a:avLst/>
                    </a:prstGeom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36" name="组合 335"/>
                  <p:cNvGrpSpPr/>
                  <p:nvPr/>
                </p:nvGrpSpPr>
                <p:grpSpPr>
                  <a:xfrm>
                    <a:off x="2575334" y="3528539"/>
                    <a:ext cx="100666" cy="88949"/>
                    <a:chOff x="2575333" y="3528539"/>
                    <a:chExt cx="104065" cy="88949"/>
                  </a:xfrm>
                </p:grpSpPr>
                <p:sp>
                  <p:nvSpPr>
                    <p:cNvPr id="337" name="椭圆 336"/>
                    <p:cNvSpPr/>
                    <p:nvPr/>
                  </p:nvSpPr>
                  <p:spPr>
                    <a:xfrm>
                      <a:off x="2575333" y="3528539"/>
                      <a:ext cx="10406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38" name="直接连接符 337"/>
                    <p:cNvCxnSpPr>
                      <a:stCxn id="337" idx="2"/>
                      <a:endCxn id="337" idx="6"/>
                    </p:cNvCxnSpPr>
                    <p:nvPr/>
                  </p:nvCxnSpPr>
                  <p:spPr>
                    <a:xfrm>
                      <a:off x="2575333" y="3573014"/>
                      <a:ext cx="104065" cy="0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9" name="直接连接符 338"/>
                    <p:cNvCxnSpPr/>
                    <p:nvPr/>
                  </p:nvCxnSpPr>
                  <p:spPr>
                    <a:xfrm>
                      <a:off x="2627784" y="3528539"/>
                      <a:ext cx="0" cy="88949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333" name="直接连接符 332"/>
                <p:cNvCxnSpPr/>
                <p:nvPr/>
              </p:nvCxnSpPr>
              <p:spPr>
                <a:xfrm>
                  <a:off x="2627784" y="3687902"/>
                  <a:ext cx="0" cy="216000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75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组合 247"/>
              <p:cNvGrpSpPr/>
              <p:nvPr/>
            </p:nvGrpSpPr>
            <p:grpSpPr>
              <a:xfrm>
                <a:off x="3825879" y="1640846"/>
                <a:ext cx="160665" cy="977182"/>
                <a:chOff x="2546242" y="3303848"/>
                <a:chExt cx="160665" cy="977182"/>
              </a:xfrm>
            </p:grpSpPr>
            <p:grpSp>
              <p:nvGrpSpPr>
                <p:cNvPr id="312" name="组合 311"/>
                <p:cNvGrpSpPr/>
                <p:nvPr/>
              </p:nvGrpSpPr>
              <p:grpSpPr>
                <a:xfrm>
                  <a:off x="2548624" y="3303848"/>
                  <a:ext cx="158283" cy="367822"/>
                  <a:chOff x="2548624" y="3303848"/>
                  <a:chExt cx="158283" cy="367822"/>
                </a:xfrm>
              </p:grpSpPr>
              <p:sp>
                <p:nvSpPr>
                  <p:cNvPr id="323" name="流程图: 终止 322"/>
                  <p:cNvSpPr/>
                  <p:nvPr/>
                </p:nvSpPr>
                <p:spPr>
                  <a:xfrm rot="5400000">
                    <a:off x="2443855" y="3408617"/>
                    <a:ext cx="367822" cy="158283"/>
                  </a:xfrm>
                  <a:prstGeom prst="flowChartTerminator">
                    <a:avLst/>
                  </a:prstGeom>
                  <a:solidFill>
                    <a:srgbClr val="0099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324" name="组合 323"/>
                  <p:cNvGrpSpPr/>
                  <p:nvPr/>
                </p:nvGrpSpPr>
                <p:grpSpPr>
                  <a:xfrm>
                    <a:off x="2581105" y="3353695"/>
                    <a:ext cx="92402" cy="88949"/>
                    <a:chOff x="1993782" y="3190016"/>
                    <a:chExt cx="108575" cy="88949"/>
                  </a:xfrm>
                </p:grpSpPr>
                <p:sp>
                  <p:nvSpPr>
                    <p:cNvPr id="329" name="椭圆 328"/>
                    <p:cNvSpPr/>
                    <p:nvPr/>
                  </p:nvSpPr>
                  <p:spPr>
                    <a:xfrm>
                      <a:off x="1993782" y="3190016"/>
                      <a:ext cx="10857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30" name="直接连接符 329"/>
                    <p:cNvCxnSpPr>
                      <a:stCxn id="329" idx="2"/>
                      <a:endCxn id="329" idx="6"/>
                    </p:cNvCxnSpPr>
                    <p:nvPr/>
                  </p:nvCxnSpPr>
                  <p:spPr>
                    <a:xfrm>
                      <a:off x="1993782" y="3234491"/>
                      <a:ext cx="108575" cy="0"/>
                    </a:xfrm>
                    <a:prstGeom prst="line">
                      <a:avLst/>
                    </a:prstGeom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25" name="组合 324"/>
                  <p:cNvGrpSpPr/>
                  <p:nvPr/>
                </p:nvGrpSpPr>
                <p:grpSpPr>
                  <a:xfrm>
                    <a:off x="2575334" y="3528539"/>
                    <a:ext cx="100666" cy="88949"/>
                    <a:chOff x="2575333" y="3528539"/>
                    <a:chExt cx="104065" cy="88949"/>
                  </a:xfrm>
                </p:grpSpPr>
                <p:sp>
                  <p:nvSpPr>
                    <p:cNvPr id="326" name="椭圆 325"/>
                    <p:cNvSpPr/>
                    <p:nvPr/>
                  </p:nvSpPr>
                  <p:spPr>
                    <a:xfrm>
                      <a:off x="2575333" y="3528539"/>
                      <a:ext cx="10406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27" name="直接连接符 326"/>
                    <p:cNvCxnSpPr>
                      <a:stCxn id="326" idx="2"/>
                      <a:endCxn id="326" idx="6"/>
                    </p:cNvCxnSpPr>
                    <p:nvPr/>
                  </p:nvCxnSpPr>
                  <p:spPr>
                    <a:xfrm>
                      <a:off x="2575333" y="3573014"/>
                      <a:ext cx="104065" cy="0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8" name="直接连接符 327"/>
                    <p:cNvCxnSpPr/>
                    <p:nvPr/>
                  </p:nvCxnSpPr>
                  <p:spPr>
                    <a:xfrm>
                      <a:off x="2627784" y="3528539"/>
                      <a:ext cx="0" cy="88949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313" name="组合 312"/>
                <p:cNvGrpSpPr/>
                <p:nvPr/>
              </p:nvGrpSpPr>
              <p:grpSpPr>
                <a:xfrm>
                  <a:off x="2546242" y="3913208"/>
                  <a:ext cx="158283" cy="367822"/>
                  <a:chOff x="2548624" y="3303848"/>
                  <a:chExt cx="158283" cy="367822"/>
                </a:xfrm>
              </p:grpSpPr>
              <p:sp>
                <p:nvSpPr>
                  <p:cNvPr id="315" name="流程图: 终止 314"/>
                  <p:cNvSpPr/>
                  <p:nvPr/>
                </p:nvSpPr>
                <p:spPr>
                  <a:xfrm rot="5400000">
                    <a:off x="2443855" y="3408617"/>
                    <a:ext cx="367822" cy="158283"/>
                  </a:xfrm>
                  <a:prstGeom prst="flowChartTerminator">
                    <a:avLst/>
                  </a:prstGeom>
                  <a:solidFill>
                    <a:srgbClr val="0099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316" name="组合 315"/>
                  <p:cNvGrpSpPr/>
                  <p:nvPr/>
                </p:nvGrpSpPr>
                <p:grpSpPr>
                  <a:xfrm>
                    <a:off x="2581105" y="3353695"/>
                    <a:ext cx="92402" cy="88949"/>
                    <a:chOff x="1993782" y="3190016"/>
                    <a:chExt cx="108575" cy="88949"/>
                  </a:xfrm>
                </p:grpSpPr>
                <p:sp>
                  <p:nvSpPr>
                    <p:cNvPr id="321" name="椭圆 320"/>
                    <p:cNvSpPr/>
                    <p:nvPr/>
                  </p:nvSpPr>
                  <p:spPr>
                    <a:xfrm>
                      <a:off x="1993782" y="3190016"/>
                      <a:ext cx="10857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22" name="直接连接符 321"/>
                    <p:cNvCxnSpPr>
                      <a:stCxn id="321" idx="2"/>
                      <a:endCxn id="321" idx="6"/>
                    </p:cNvCxnSpPr>
                    <p:nvPr/>
                  </p:nvCxnSpPr>
                  <p:spPr>
                    <a:xfrm>
                      <a:off x="1993782" y="3234491"/>
                      <a:ext cx="108575" cy="0"/>
                    </a:xfrm>
                    <a:prstGeom prst="line">
                      <a:avLst/>
                    </a:prstGeom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17" name="组合 316"/>
                  <p:cNvGrpSpPr/>
                  <p:nvPr/>
                </p:nvGrpSpPr>
                <p:grpSpPr>
                  <a:xfrm>
                    <a:off x="2575334" y="3528539"/>
                    <a:ext cx="100666" cy="88949"/>
                    <a:chOff x="2575333" y="3528539"/>
                    <a:chExt cx="104065" cy="88949"/>
                  </a:xfrm>
                </p:grpSpPr>
                <p:sp>
                  <p:nvSpPr>
                    <p:cNvPr id="318" name="椭圆 317"/>
                    <p:cNvSpPr/>
                    <p:nvPr/>
                  </p:nvSpPr>
                  <p:spPr>
                    <a:xfrm>
                      <a:off x="2575333" y="3528539"/>
                      <a:ext cx="10406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19" name="直接连接符 318"/>
                    <p:cNvCxnSpPr>
                      <a:stCxn id="318" idx="2"/>
                      <a:endCxn id="318" idx="6"/>
                    </p:cNvCxnSpPr>
                    <p:nvPr/>
                  </p:nvCxnSpPr>
                  <p:spPr>
                    <a:xfrm>
                      <a:off x="2575333" y="3573014"/>
                      <a:ext cx="104065" cy="0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0" name="直接连接符 319"/>
                    <p:cNvCxnSpPr/>
                    <p:nvPr/>
                  </p:nvCxnSpPr>
                  <p:spPr>
                    <a:xfrm>
                      <a:off x="2627784" y="3528539"/>
                      <a:ext cx="0" cy="88949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314" name="直接连接符 313"/>
                <p:cNvCxnSpPr/>
                <p:nvPr/>
              </p:nvCxnSpPr>
              <p:spPr>
                <a:xfrm>
                  <a:off x="2627784" y="3687902"/>
                  <a:ext cx="0" cy="216000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75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组合 248"/>
              <p:cNvGrpSpPr/>
              <p:nvPr/>
            </p:nvGrpSpPr>
            <p:grpSpPr>
              <a:xfrm>
                <a:off x="4545337" y="1634892"/>
                <a:ext cx="160665" cy="977182"/>
                <a:chOff x="2546242" y="3303848"/>
                <a:chExt cx="160665" cy="977182"/>
              </a:xfrm>
            </p:grpSpPr>
            <p:grpSp>
              <p:nvGrpSpPr>
                <p:cNvPr id="290" name="组合 289"/>
                <p:cNvGrpSpPr/>
                <p:nvPr/>
              </p:nvGrpSpPr>
              <p:grpSpPr>
                <a:xfrm>
                  <a:off x="2548624" y="3303848"/>
                  <a:ext cx="158283" cy="367822"/>
                  <a:chOff x="2548624" y="3303848"/>
                  <a:chExt cx="158283" cy="367822"/>
                </a:xfrm>
              </p:grpSpPr>
              <p:sp>
                <p:nvSpPr>
                  <p:cNvPr id="304" name="流程图: 终止 303"/>
                  <p:cNvSpPr/>
                  <p:nvPr/>
                </p:nvSpPr>
                <p:spPr>
                  <a:xfrm rot="5400000">
                    <a:off x="2443855" y="3408617"/>
                    <a:ext cx="367822" cy="158283"/>
                  </a:xfrm>
                  <a:prstGeom prst="flowChartTerminator">
                    <a:avLst/>
                  </a:prstGeom>
                  <a:solidFill>
                    <a:srgbClr val="0099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305" name="组合 304"/>
                  <p:cNvGrpSpPr/>
                  <p:nvPr/>
                </p:nvGrpSpPr>
                <p:grpSpPr>
                  <a:xfrm>
                    <a:off x="2581105" y="3353695"/>
                    <a:ext cx="92402" cy="88949"/>
                    <a:chOff x="1993782" y="3190016"/>
                    <a:chExt cx="108575" cy="88949"/>
                  </a:xfrm>
                </p:grpSpPr>
                <p:sp>
                  <p:nvSpPr>
                    <p:cNvPr id="310" name="椭圆 309"/>
                    <p:cNvSpPr/>
                    <p:nvPr/>
                  </p:nvSpPr>
                  <p:spPr>
                    <a:xfrm>
                      <a:off x="1993782" y="3190016"/>
                      <a:ext cx="10857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11" name="直接连接符 310"/>
                    <p:cNvCxnSpPr>
                      <a:stCxn id="310" idx="2"/>
                      <a:endCxn id="310" idx="6"/>
                    </p:cNvCxnSpPr>
                    <p:nvPr/>
                  </p:nvCxnSpPr>
                  <p:spPr>
                    <a:xfrm>
                      <a:off x="1993782" y="3234491"/>
                      <a:ext cx="108575" cy="0"/>
                    </a:xfrm>
                    <a:prstGeom prst="line">
                      <a:avLst/>
                    </a:prstGeom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06" name="组合 305"/>
                  <p:cNvGrpSpPr/>
                  <p:nvPr/>
                </p:nvGrpSpPr>
                <p:grpSpPr>
                  <a:xfrm>
                    <a:off x="2575334" y="3528539"/>
                    <a:ext cx="100666" cy="88949"/>
                    <a:chOff x="2575333" y="3528539"/>
                    <a:chExt cx="104065" cy="88949"/>
                  </a:xfrm>
                </p:grpSpPr>
                <p:sp>
                  <p:nvSpPr>
                    <p:cNvPr id="307" name="椭圆 306"/>
                    <p:cNvSpPr/>
                    <p:nvPr/>
                  </p:nvSpPr>
                  <p:spPr>
                    <a:xfrm>
                      <a:off x="2575333" y="3528539"/>
                      <a:ext cx="10406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08" name="直接连接符 307"/>
                    <p:cNvCxnSpPr>
                      <a:stCxn id="307" idx="2"/>
                      <a:endCxn id="307" idx="6"/>
                    </p:cNvCxnSpPr>
                    <p:nvPr/>
                  </p:nvCxnSpPr>
                  <p:spPr>
                    <a:xfrm>
                      <a:off x="2575333" y="3573014"/>
                      <a:ext cx="104065" cy="0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9" name="直接连接符 308"/>
                    <p:cNvCxnSpPr/>
                    <p:nvPr/>
                  </p:nvCxnSpPr>
                  <p:spPr>
                    <a:xfrm>
                      <a:off x="2627784" y="3528539"/>
                      <a:ext cx="0" cy="88949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91" name="组合 290"/>
                <p:cNvGrpSpPr/>
                <p:nvPr/>
              </p:nvGrpSpPr>
              <p:grpSpPr>
                <a:xfrm>
                  <a:off x="2546242" y="3913208"/>
                  <a:ext cx="158283" cy="367822"/>
                  <a:chOff x="2548624" y="3303848"/>
                  <a:chExt cx="158283" cy="367822"/>
                </a:xfrm>
              </p:grpSpPr>
              <p:sp>
                <p:nvSpPr>
                  <p:cNvPr id="293" name="流程图: 终止 292"/>
                  <p:cNvSpPr/>
                  <p:nvPr/>
                </p:nvSpPr>
                <p:spPr>
                  <a:xfrm rot="5400000">
                    <a:off x="2443855" y="3408617"/>
                    <a:ext cx="367822" cy="158283"/>
                  </a:xfrm>
                  <a:prstGeom prst="flowChartTerminator">
                    <a:avLst/>
                  </a:prstGeom>
                  <a:solidFill>
                    <a:srgbClr val="0099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294" name="组合 293"/>
                  <p:cNvGrpSpPr/>
                  <p:nvPr/>
                </p:nvGrpSpPr>
                <p:grpSpPr>
                  <a:xfrm>
                    <a:off x="2581105" y="3353695"/>
                    <a:ext cx="92402" cy="88949"/>
                    <a:chOff x="1993782" y="3190016"/>
                    <a:chExt cx="108575" cy="88949"/>
                  </a:xfrm>
                </p:grpSpPr>
                <p:sp>
                  <p:nvSpPr>
                    <p:cNvPr id="301" name="椭圆 300"/>
                    <p:cNvSpPr/>
                    <p:nvPr/>
                  </p:nvSpPr>
                  <p:spPr>
                    <a:xfrm>
                      <a:off x="1993782" y="3190016"/>
                      <a:ext cx="10857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03" name="直接连接符 302"/>
                    <p:cNvCxnSpPr>
                      <a:stCxn id="301" idx="2"/>
                      <a:endCxn id="301" idx="6"/>
                    </p:cNvCxnSpPr>
                    <p:nvPr/>
                  </p:nvCxnSpPr>
                  <p:spPr>
                    <a:xfrm>
                      <a:off x="1993782" y="3234491"/>
                      <a:ext cx="108575" cy="0"/>
                    </a:xfrm>
                    <a:prstGeom prst="line">
                      <a:avLst/>
                    </a:prstGeom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5" name="组合 294"/>
                  <p:cNvGrpSpPr/>
                  <p:nvPr/>
                </p:nvGrpSpPr>
                <p:grpSpPr>
                  <a:xfrm>
                    <a:off x="2575334" y="3528539"/>
                    <a:ext cx="100666" cy="88949"/>
                    <a:chOff x="2575333" y="3528539"/>
                    <a:chExt cx="104065" cy="88949"/>
                  </a:xfrm>
                </p:grpSpPr>
                <p:sp>
                  <p:nvSpPr>
                    <p:cNvPr id="296" name="椭圆 295"/>
                    <p:cNvSpPr/>
                    <p:nvPr/>
                  </p:nvSpPr>
                  <p:spPr>
                    <a:xfrm>
                      <a:off x="2575333" y="3528539"/>
                      <a:ext cx="10406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297" name="直接连接符 296"/>
                    <p:cNvCxnSpPr>
                      <a:stCxn id="296" idx="2"/>
                      <a:endCxn id="296" idx="6"/>
                    </p:cNvCxnSpPr>
                    <p:nvPr/>
                  </p:nvCxnSpPr>
                  <p:spPr>
                    <a:xfrm>
                      <a:off x="2575333" y="3573014"/>
                      <a:ext cx="104065" cy="0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8" name="直接连接符 297"/>
                    <p:cNvCxnSpPr/>
                    <p:nvPr/>
                  </p:nvCxnSpPr>
                  <p:spPr>
                    <a:xfrm>
                      <a:off x="2627784" y="3528539"/>
                      <a:ext cx="0" cy="88949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92" name="直接连接符 291"/>
                <p:cNvCxnSpPr/>
                <p:nvPr/>
              </p:nvCxnSpPr>
              <p:spPr>
                <a:xfrm>
                  <a:off x="2627784" y="3687902"/>
                  <a:ext cx="0" cy="216000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75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组合 249"/>
              <p:cNvGrpSpPr/>
              <p:nvPr/>
            </p:nvGrpSpPr>
            <p:grpSpPr>
              <a:xfrm>
                <a:off x="4888345" y="1632437"/>
                <a:ext cx="160665" cy="977182"/>
                <a:chOff x="2546242" y="3303848"/>
                <a:chExt cx="160665" cy="977182"/>
              </a:xfrm>
            </p:grpSpPr>
            <p:grpSp>
              <p:nvGrpSpPr>
                <p:cNvPr id="271" name="组合 270"/>
                <p:cNvGrpSpPr/>
                <p:nvPr/>
              </p:nvGrpSpPr>
              <p:grpSpPr>
                <a:xfrm>
                  <a:off x="2548624" y="3303848"/>
                  <a:ext cx="158283" cy="367822"/>
                  <a:chOff x="2548624" y="3303848"/>
                  <a:chExt cx="158283" cy="367822"/>
                </a:xfrm>
              </p:grpSpPr>
              <p:sp>
                <p:nvSpPr>
                  <p:cNvPr id="282" name="流程图: 终止 281"/>
                  <p:cNvSpPr/>
                  <p:nvPr/>
                </p:nvSpPr>
                <p:spPr>
                  <a:xfrm rot="5400000">
                    <a:off x="2443855" y="3408617"/>
                    <a:ext cx="367822" cy="158283"/>
                  </a:xfrm>
                  <a:prstGeom prst="flowChartTerminator">
                    <a:avLst/>
                  </a:prstGeom>
                  <a:solidFill>
                    <a:srgbClr val="0099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283" name="组合 282"/>
                  <p:cNvGrpSpPr/>
                  <p:nvPr/>
                </p:nvGrpSpPr>
                <p:grpSpPr>
                  <a:xfrm>
                    <a:off x="2581105" y="3353695"/>
                    <a:ext cx="92402" cy="88949"/>
                    <a:chOff x="1993782" y="3190016"/>
                    <a:chExt cx="108575" cy="88949"/>
                  </a:xfrm>
                </p:grpSpPr>
                <p:sp>
                  <p:nvSpPr>
                    <p:cNvPr id="288" name="椭圆 287"/>
                    <p:cNvSpPr/>
                    <p:nvPr/>
                  </p:nvSpPr>
                  <p:spPr>
                    <a:xfrm>
                      <a:off x="1993782" y="3190016"/>
                      <a:ext cx="10857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289" name="直接连接符 288"/>
                    <p:cNvCxnSpPr>
                      <a:stCxn id="288" idx="2"/>
                      <a:endCxn id="288" idx="6"/>
                    </p:cNvCxnSpPr>
                    <p:nvPr/>
                  </p:nvCxnSpPr>
                  <p:spPr>
                    <a:xfrm>
                      <a:off x="1993782" y="3234491"/>
                      <a:ext cx="108575" cy="0"/>
                    </a:xfrm>
                    <a:prstGeom prst="line">
                      <a:avLst/>
                    </a:prstGeom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4" name="组合 283"/>
                  <p:cNvGrpSpPr/>
                  <p:nvPr/>
                </p:nvGrpSpPr>
                <p:grpSpPr>
                  <a:xfrm>
                    <a:off x="2575334" y="3528539"/>
                    <a:ext cx="100666" cy="88949"/>
                    <a:chOff x="2575333" y="3528539"/>
                    <a:chExt cx="104065" cy="88949"/>
                  </a:xfrm>
                </p:grpSpPr>
                <p:sp>
                  <p:nvSpPr>
                    <p:cNvPr id="285" name="椭圆 284"/>
                    <p:cNvSpPr/>
                    <p:nvPr/>
                  </p:nvSpPr>
                  <p:spPr>
                    <a:xfrm>
                      <a:off x="2575333" y="3528539"/>
                      <a:ext cx="10406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286" name="直接连接符 285"/>
                    <p:cNvCxnSpPr>
                      <a:stCxn id="285" idx="2"/>
                      <a:endCxn id="285" idx="6"/>
                    </p:cNvCxnSpPr>
                    <p:nvPr/>
                  </p:nvCxnSpPr>
                  <p:spPr>
                    <a:xfrm>
                      <a:off x="2575333" y="3573014"/>
                      <a:ext cx="104065" cy="0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7" name="直接连接符 286"/>
                    <p:cNvCxnSpPr/>
                    <p:nvPr/>
                  </p:nvCxnSpPr>
                  <p:spPr>
                    <a:xfrm>
                      <a:off x="2627784" y="3528539"/>
                      <a:ext cx="0" cy="88949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72" name="组合 271"/>
                <p:cNvGrpSpPr/>
                <p:nvPr/>
              </p:nvGrpSpPr>
              <p:grpSpPr>
                <a:xfrm>
                  <a:off x="2546242" y="3913208"/>
                  <a:ext cx="158283" cy="367822"/>
                  <a:chOff x="2548624" y="3303848"/>
                  <a:chExt cx="158283" cy="367822"/>
                </a:xfrm>
              </p:grpSpPr>
              <p:sp>
                <p:nvSpPr>
                  <p:cNvPr id="274" name="流程图: 终止 273"/>
                  <p:cNvSpPr/>
                  <p:nvPr/>
                </p:nvSpPr>
                <p:spPr>
                  <a:xfrm rot="5400000">
                    <a:off x="2443855" y="3408617"/>
                    <a:ext cx="367822" cy="158283"/>
                  </a:xfrm>
                  <a:prstGeom prst="flowChartTerminator">
                    <a:avLst/>
                  </a:prstGeom>
                  <a:solidFill>
                    <a:srgbClr val="0099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275" name="组合 274"/>
                  <p:cNvGrpSpPr/>
                  <p:nvPr/>
                </p:nvGrpSpPr>
                <p:grpSpPr>
                  <a:xfrm>
                    <a:off x="2581105" y="3353695"/>
                    <a:ext cx="92402" cy="88949"/>
                    <a:chOff x="1993782" y="3190016"/>
                    <a:chExt cx="108575" cy="88949"/>
                  </a:xfrm>
                </p:grpSpPr>
                <p:sp>
                  <p:nvSpPr>
                    <p:cNvPr id="280" name="椭圆 279"/>
                    <p:cNvSpPr/>
                    <p:nvPr/>
                  </p:nvSpPr>
                  <p:spPr>
                    <a:xfrm>
                      <a:off x="1993782" y="3190016"/>
                      <a:ext cx="10857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281" name="直接连接符 280"/>
                    <p:cNvCxnSpPr>
                      <a:stCxn id="280" idx="2"/>
                      <a:endCxn id="280" idx="6"/>
                    </p:cNvCxnSpPr>
                    <p:nvPr/>
                  </p:nvCxnSpPr>
                  <p:spPr>
                    <a:xfrm>
                      <a:off x="1993782" y="3234491"/>
                      <a:ext cx="108575" cy="0"/>
                    </a:xfrm>
                    <a:prstGeom prst="line">
                      <a:avLst/>
                    </a:prstGeom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76" name="组合 275"/>
                  <p:cNvGrpSpPr/>
                  <p:nvPr/>
                </p:nvGrpSpPr>
                <p:grpSpPr>
                  <a:xfrm>
                    <a:off x="2575334" y="3528539"/>
                    <a:ext cx="100666" cy="88949"/>
                    <a:chOff x="2575333" y="3528539"/>
                    <a:chExt cx="104065" cy="88949"/>
                  </a:xfrm>
                </p:grpSpPr>
                <p:sp>
                  <p:nvSpPr>
                    <p:cNvPr id="277" name="椭圆 276"/>
                    <p:cNvSpPr/>
                    <p:nvPr/>
                  </p:nvSpPr>
                  <p:spPr>
                    <a:xfrm>
                      <a:off x="2575333" y="3528539"/>
                      <a:ext cx="10406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278" name="直接连接符 277"/>
                    <p:cNvCxnSpPr>
                      <a:stCxn id="277" idx="2"/>
                      <a:endCxn id="277" idx="6"/>
                    </p:cNvCxnSpPr>
                    <p:nvPr/>
                  </p:nvCxnSpPr>
                  <p:spPr>
                    <a:xfrm>
                      <a:off x="2575333" y="3573014"/>
                      <a:ext cx="104065" cy="0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9" name="直接连接符 278"/>
                    <p:cNvCxnSpPr/>
                    <p:nvPr/>
                  </p:nvCxnSpPr>
                  <p:spPr>
                    <a:xfrm>
                      <a:off x="2627784" y="3528539"/>
                      <a:ext cx="0" cy="88949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73" name="直接连接符 272"/>
                <p:cNvCxnSpPr/>
                <p:nvPr/>
              </p:nvCxnSpPr>
              <p:spPr>
                <a:xfrm>
                  <a:off x="2627784" y="3687902"/>
                  <a:ext cx="0" cy="216000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75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组合 250"/>
              <p:cNvGrpSpPr/>
              <p:nvPr/>
            </p:nvGrpSpPr>
            <p:grpSpPr>
              <a:xfrm>
                <a:off x="5261910" y="1626436"/>
                <a:ext cx="160665" cy="977182"/>
                <a:chOff x="2546242" y="3303848"/>
                <a:chExt cx="160665" cy="977182"/>
              </a:xfrm>
            </p:grpSpPr>
            <p:grpSp>
              <p:nvGrpSpPr>
                <p:cNvPr id="252" name="组合 251"/>
                <p:cNvGrpSpPr/>
                <p:nvPr/>
              </p:nvGrpSpPr>
              <p:grpSpPr>
                <a:xfrm>
                  <a:off x="2548624" y="3303848"/>
                  <a:ext cx="158283" cy="367822"/>
                  <a:chOff x="2548624" y="3303848"/>
                  <a:chExt cx="158283" cy="367822"/>
                </a:xfrm>
              </p:grpSpPr>
              <p:sp>
                <p:nvSpPr>
                  <p:cNvPr id="263" name="流程图: 终止 262"/>
                  <p:cNvSpPr/>
                  <p:nvPr/>
                </p:nvSpPr>
                <p:spPr>
                  <a:xfrm rot="5400000">
                    <a:off x="2443855" y="3408617"/>
                    <a:ext cx="367822" cy="158283"/>
                  </a:xfrm>
                  <a:prstGeom prst="flowChartTerminator">
                    <a:avLst/>
                  </a:prstGeom>
                  <a:solidFill>
                    <a:srgbClr val="0099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264" name="组合 263"/>
                  <p:cNvGrpSpPr/>
                  <p:nvPr/>
                </p:nvGrpSpPr>
                <p:grpSpPr>
                  <a:xfrm>
                    <a:off x="2581105" y="3353695"/>
                    <a:ext cx="92402" cy="88949"/>
                    <a:chOff x="1993782" y="3190016"/>
                    <a:chExt cx="108575" cy="88949"/>
                  </a:xfrm>
                </p:grpSpPr>
                <p:sp>
                  <p:nvSpPr>
                    <p:cNvPr id="269" name="椭圆 268"/>
                    <p:cNvSpPr/>
                    <p:nvPr/>
                  </p:nvSpPr>
                  <p:spPr>
                    <a:xfrm>
                      <a:off x="1993782" y="3190016"/>
                      <a:ext cx="10857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270" name="直接连接符 269"/>
                    <p:cNvCxnSpPr>
                      <a:stCxn id="269" idx="2"/>
                      <a:endCxn id="269" idx="6"/>
                    </p:cNvCxnSpPr>
                    <p:nvPr/>
                  </p:nvCxnSpPr>
                  <p:spPr>
                    <a:xfrm>
                      <a:off x="1993782" y="3234491"/>
                      <a:ext cx="108575" cy="0"/>
                    </a:xfrm>
                    <a:prstGeom prst="line">
                      <a:avLst/>
                    </a:prstGeom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5" name="组合 264"/>
                  <p:cNvGrpSpPr/>
                  <p:nvPr/>
                </p:nvGrpSpPr>
                <p:grpSpPr>
                  <a:xfrm>
                    <a:off x="2575334" y="3528539"/>
                    <a:ext cx="100666" cy="88949"/>
                    <a:chOff x="2575333" y="3528539"/>
                    <a:chExt cx="104065" cy="88949"/>
                  </a:xfrm>
                </p:grpSpPr>
                <p:sp>
                  <p:nvSpPr>
                    <p:cNvPr id="266" name="椭圆 265"/>
                    <p:cNvSpPr/>
                    <p:nvPr/>
                  </p:nvSpPr>
                  <p:spPr>
                    <a:xfrm>
                      <a:off x="2575333" y="3528539"/>
                      <a:ext cx="10406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267" name="直接连接符 266"/>
                    <p:cNvCxnSpPr>
                      <a:stCxn id="266" idx="2"/>
                      <a:endCxn id="266" idx="6"/>
                    </p:cNvCxnSpPr>
                    <p:nvPr/>
                  </p:nvCxnSpPr>
                  <p:spPr>
                    <a:xfrm>
                      <a:off x="2575333" y="3573014"/>
                      <a:ext cx="104065" cy="0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8" name="直接连接符 267"/>
                    <p:cNvCxnSpPr/>
                    <p:nvPr/>
                  </p:nvCxnSpPr>
                  <p:spPr>
                    <a:xfrm>
                      <a:off x="2627784" y="3528539"/>
                      <a:ext cx="0" cy="88949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53" name="组合 252"/>
                <p:cNvGrpSpPr/>
                <p:nvPr/>
              </p:nvGrpSpPr>
              <p:grpSpPr>
                <a:xfrm>
                  <a:off x="2546242" y="3913208"/>
                  <a:ext cx="158283" cy="367822"/>
                  <a:chOff x="2548624" y="3303848"/>
                  <a:chExt cx="158283" cy="367822"/>
                </a:xfrm>
              </p:grpSpPr>
              <p:sp>
                <p:nvSpPr>
                  <p:cNvPr id="255" name="流程图: 终止 254"/>
                  <p:cNvSpPr/>
                  <p:nvPr/>
                </p:nvSpPr>
                <p:spPr>
                  <a:xfrm rot="5400000">
                    <a:off x="2443855" y="3408617"/>
                    <a:ext cx="367822" cy="158283"/>
                  </a:xfrm>
                  <a:prstGeom prst="flowChartTerminator">
                    <a:avLst/>
                  </a:prstGeom>
                  <a:solidFill>
                    <a:srgbClr val="0099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256" name="组合 255"/>
                  <p:cNvGrpSpPr/>
                  <p:nvPr/>
                </p:nvGrpSpPr>
                <p:grpSpPr>
                  <a:xfrm>
                    <a:off x="2581105" y="3353695"/>
                    <a:ext cx="92402" cy="88949"/>
                    <a:chOff x="1993782" y="3190016"/>
                    <a:chExt cx="108575" cy="88949"/>
                  </a:xfrm>
                </p:grpSpPr>
                <p:sp>
                  <p:nvSpPr>
                    <p:cNvPr id="261" name="椭圆 260"/>
                    <p:cNvSpPr/>
                    <p:nvPr/>
                  </p:nvSpPr>
                  <p:spPr>
                    <a:xfrm>
                      <a:off x="1993782" y="3190016"/>
                      <a:ext cx="10857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262" name="直接连接符 261"/>
                    <p:cNvCxnSpPr>
                      <a:stCxn id="261" idx="2"/>
                      <a:endCxn id="261" idx="6"/>
                    </p:cNvCxnSpPr>
                    <p:nvPr/>
                  </p:nvCxnSpPr>
                  <p:spPr>
                    <a:xfrm>
                      <a:off x="1993782" y="3234491"/>
                      <a:ext cx="108575" cy="0"/>
                    </a:xfrm>
                    <a:prstGeom prst="line">
                      <a:avLst/>
                    </a:prstGeom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7" name="组合 256"/>
                  <p:cNvGrpSpPr/>
                  <p:nvPr/>
                </p:nvGrpSpPr>
                <p:grpSpPr>
                  <a:xfrm>
                    <a:off x="2575334" y="3528539"/>
                    <a:ext cx="100666" cy="88949"/>
                    <a:chOff x="2575333" y="3528539"/>
                    <a:chExt cx="104065" cy="88949"/>
                  </a:xfrm>
                </p:grpSpPr>
                <p:sp>
                  <p:nvSpPr>
                    <p:cNvPr id="258" name="椭圆 257"/>
                    <p:cNvSpPr/>
                    <p:nvPr/>
                  </p:nvSpPr>
                  <p:spPr>
                    <a:xfrm>
                      <a:off x="2575333" y="3528539"/>
                      <a:ext cx="10406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259" name="直接连接符 258"/>
                    <p:cNvCxnSpPr>
                      <a:stCxn id="258" idx="2"/>
                      <a:endCxn id="258" idx="6"/>
                    </p:cNvCxnSpPr>
                    <p:nvPr/>
                  </p:nvCxnSpPr>
                  <p:spPr>
                    <a:xfrm>
                      <a:off x="2575333" y="3573014"/>
                      <a:ext cx="104065" cy="0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0" name="直接连接符 259"/>
                    <p:cNvCxnSpPr/>
                    <p:nvPr/>
                  </p:nvCxnSpPr>
                  <p:spPr>
                    <a:xfrm>
                      <a:off x="2627784" y="3528539"/>
                      <a:ext cx="0" cy="88949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54" name="直接连接符 253"/>
                <p:cNvCxnSpPr/>
                <p:nvPr/>
              </p:nvCxnSpPr>
              <p:spPr>
                <a:xfrm>
                  <a:off x="2627784" y="3687902"/>
                  <a:ext cx="0" cy="216000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75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6" name="组合 5"/>
          <p:cNvGrpSpPr/>
          <p:nvPr/>
        </p:nvGrpSpPr>
        <p:grpSpPr>
          <a:xfrm>
            <a:off x="5294659" y="3255259"/>
            <a:ext cx="2843509" cy="1055783"/>
            <a:chOff x="5294659" y="3255259"/>
            <a:chExt cx="2843509" cy="1055783"/>
          </a:xfrm>
        </p:grpSpPr>
        <p:sp>
          <p:nvSpPr>
            <p:cNvPr id="11" name="Rectangle 25"/>
            <p:cNvSpPr>
              <a:spLocks noChangeArrowheads="1"/>
            </p:cNvSpPr>
            <p:nvPr/>
          </p:nvSpPr>
          <p:spPr bwMode="auto">
            <a:xfrm>
              <a:off x="7320588" y="3972488"/>
              <a:ext cx="80021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温度高</a:t>
              </a:r>
            </a:p>
          </p:txBody>
        </p:sp>
        <p:cxnSp>
          <p:nvCxnSpPr>
            <p:cNvPr id="387" name="直接箭头连接符 386"/>
            <p:cNvCxnSpPr/>
            <p:nvPr/>
          </p:nvCxnSpPr>
          <p:spPr>
            <a:xfrm flipH="1" flipV="1">
              <a:off x="7274072" y="3511776"/>
              <a:ext cx="10894" cy="588155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w="lg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8" name="文本框 387"/>
            <p:cNvSpPr txBox="1"/>
            <p:nvPr/>
          </p:nvSpPr>
          <p:spPr>
            <a:xfrm>
              <a:off x="7274072" y="3567938"/>
              <a:ext cx="8640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11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</a:t>
              </a:r>
              <a:r>
                <a:rPr lang="en-US" altLang="zh-CN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16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50" name="组合 349">
              <a:extLst>
                <a:ext uri="{FF2B5EF4-FFF2-40B4-BE49-F238E27FC236}">
                  <a16:creationId xmlns="" xmlns:a16="http://schemas.microsoft.com/office/drawing/2014/main" id="{30B7BD57-5A8F-C476-0F84-CA032F5DCBC6}"/>
                </a:ext>
              </a:extLst>
            </p:cNvPr>
            <p:cNvGrpSpPr/>
            <p:nvPr/>
          </p:nvGrpSpPr>
          <p:grpSpPr>
            <a:xfrm>
              <a:off x="5294659" y="3255259"/>
              <a:ext cx="1800000" cy="1007832"/>
              <a:chOff x="3724976" y="3242710"/>
              <a:chExt cx="1800000" cy="1007832"/>
            </a:xfrm>
          </p:grpSpPr>
          <p:sp>
            <p:nvSpPr>
              <p:cNvPr id="351" name="矩形 350"/>
              <p:cNvSpPr/>
              <p:nvPr/>
            </p:nvSpPr>
            <p:spPr>
              <a:xfrm>
                <a:off x="3724976" y="3242710"/>
                <a:ext cx="1800000" cy="100783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52" name="组合 351"/>
              <p:cNvGrpSpPr/>
              <p:nvPr/>
            </p:nvGrpSpPr>
            <p:grpSpPr>
              <a:xfrm>
                <a:off x="3827340" y="3266966"/>
                <a:ext cx="160665" cy="977182"/>
                <a:chOff x="2546242" y="3303848"/>
                <a:chExt cx="160665" cy="977182"/>
              </a:xfrm>
            </p:grpSpPr>
            <p:grpSp>
              <p:nvGrpSpPr>
                <p:cNvPr id="401" name="组合 400"/>
                <p:cNvGrpSpPr/>
                <p:nvPr/>
              </p:nvGrpSpPr>
              <p:grpSpPr>
                <a:xfrm>
                  <a:off x="2548624" y="3303848"/>
                  <a:ext cx="158283" cy="367822"/>
                  <a:chOff x="2548624" y="3303848"/>
                  <a:chExt cx="158283" cy="367822"/>
                </a:xfrm>
              </p:grpSpPr>
              <p:sp>
                <p:nvSpPr>
                  <p:cNvPr id="427" name="流程图: 终止 426"/>
                  <p:cNvSpPr/>
                  <p:nvPr/>
                </p:nvSpPr>
                <p:spPr>
                  <a:xfrm rot="5400000">
                    <a:off x="2443855" y="3408617"/>
                    <a:ext cx="367822" cy="158283"/>
                  </a:xfrm>
                  <a:prstGeom prst="flowChartTerminator">
                    <a:avLst/>
                  </a:prstGeom>
                  <a:solidFill>
                    <a:srgbClr val="0099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428" name="组合 427"/>
                  <p:cNvGrpSpPr/>
                  <p:nvPr/>
                </p:nvGrpSpPr>
                <p:grpSpPr>
                  <a:xfrm>
                    <a:off x="2581105" y="3353695"/>
                    <a:ext cx="92402" cy="88949"/>
                    <a:chOff x="1993782" y="3190016"/>
                    <a:chExt cx="108575" cy="88949"/>
                  </a:xfrm>
                </p:grpSpPr>
                <p:sp>
                  <p:nvSpPr>
                    <p:cNvPr id="601" name="椭圆 600"/>
                    <p:cNvSpPr/>
                    <p:nvPr/>
                  </p:nvSpPr>
                  <p:spPr>
                    <a:xfrm>
                      <a:off x="1993782" y="3190016"/>
                      <a:ext cx="10857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602" name="直接连接符 601"/>
                    <p:cNvCxnSpPr>
                      <a:stCxn id="601" idx="2"/>
                      <a:endCxn id="601" idx="6"/>
                    </p:cNvCxnSpPr>
                    <p:nvPr/>
                  </p:nvCxnSpPr>
                  <p:spPr>
                    <a:xfrm>
                      <a:off x="1993782" y="3234491"/>
                      <a:ext cx="108575" cy="0"/>
                    </a:xfrm>
                    <a:prstGeom prst="line">
                      <a:avLst/>
                    </a:prstGeom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29" name="组合 428"/>
                  <p:cNvGrpSpPr/>
                  <p:nvPr/>
                </p:nvGrpSpPr>
                <p:grpSpPr>
                  <a:xfrm>
                    <a:off x="2575334" y="3528539"/>
                    <a:ext cx="100666" cy="88949"/>
                    <a:chOff x="2575333" y="3528539"/>
                    <a:chExt cx="104065" cy="88949"/>
                  </a:xfrm>
                </p:grpSpPr>
                <p:sp>
                  <p:nvSpPr>
                    <p:cNvPr id="430" name="椭圆 429"/>
                    <p:cNvSpPr/>
                    <p:nvPr/>
                  </p:nvSpPr>
                  <p:spPr>
                    <a:xfrm>
                      <a:off x="2575333" y="3528539"/>
                      <a:ext cx="10406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431" name="直接连接符 430"/>
                    <p:cNvCxnSpPr>
                      <a:stCxn id="430" idx="2"/>
                      <a:endCxn id="430" idx="6"/>
                    </p:cNvCxnSpPr>
                    <p:nvPr/>
                  </p:nvCxnSpPr>
                  <p:spPr>
                    <a:xfrm>
                      <a:off x="2575333" y="3573014"/>
                      <a:ext cx="104065" cy="0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00" name="直接连接符 599"/>
                    <p:cNvCxnSpPr/>
                    <p:nvPr/>
                  </p:nvCxnSpPr>
                  <p:spPr>
                    <a:xfrm>
                      <a:off x="2627784" y="3528539"/>
                      <a:ext cx="0" cy="88949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402" name="组合 401"/>
                <p:cNvGrpSpPr/>
                <p:nvPr/>
              </p:nvGrpSpPr>
              <p:grpSpPr>
                <a:xfrm>
                  <a:off x="2546242" y="3913208"/>
                  <a:ext cx="158283" cy="367822"/>
                  <a:chOff x="2548624" y="3303848"/>
                  <a:chExt cx="158283" cy="367822"/>
                </a:xfrm>
              </p:grpSpPr>
              <p:sp>
                <p:nvSpPr>
                  <p:cNvPr id="408" name="流程图: 终止 407"/>
                  <p:cNvSpPr/>
                  <p:nvPr/>
                </p:nvSpPr>
                <p:spPr>
                  <a:xfrm rot="5400000">
                    <a:off x="2443855" y="3408617"/>
                    <a:ext cx="367822" cy="158283"/>
                  </a:xfrm>
                  <a:prstGeom prst="flowChartTerminator">
                    <a:avLst/>
                  </a:prstGeom>
                  <a:solidFill>
                    <a:srgbClr val="0099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409" name="组合 408"/>
                  <p:cNvGrpSpPr/>
                  <p:nvPr/>
                </p:nvGrpSpPr>
                <p:grpSpPr>
                  <a:xfrm>
                    <a:off x="2581105" y="3353695"/>
                    <a:ext cx="92402" cy="88949"/>
                    <a:chOff x="1993782" y="3190016"/>
                    <a:chExt cx="108575" cy="88949"/>
                  </a:xfrm>
                </p:grpSpPr>
                <p:sp>
                  <p:nvSpPr>
                    <p:cNvPr id="425" name="椭圆 424"/>
                    <p:cNvSpPr/>
                    <p:nvPr/>
                  </p:nvSpPr>
                  <p:spPr>
                    <a:xfrm>
                      <a:off x="1993782" y="3190016"/>
                      <a:ext cx="10857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426" name="直接连接符 425"/>
                    <p:cNvCxnSpPr>
                      <a:stCxn id="425" idx="2"/>
                      <a:endCxn id="425" idx="6"/>
                    </p:cNvCxnSpPr>
                    <p:nvPr/>
                  </p:nvCxnSpPr>
                  <p:spPr>
                    <a:xfrm>
                      <a:off x="1993782" y="3234491"/>
                      <a:ext cx="108575" cy="0"/>
                    </a:xfrm>
                    <a:prstGeom prst="line">
                      <a:avLst/>
                    </a:prstGeom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21" name="组合 420"/>
                  <p:cNvGrpSpPr/>
                  <p:nvPr/>
                </p:nvGrpSpPr>
                <p:grpSpPr>
                  <a:xfrm>
                    <a:off x="2575334" y="3528539"/>
                    <a:ext cx="100666" cy="88949"/>
                    <a:chOff x="2575333" y="3528539"/>
                    <a:chExt cx="104065" cy="88949"/>
                  </a:xfrm>
                </p:grpSpPr>
                <p:sp>
                  <p:nvSpPr>
                    <p:cNvPr id="422" name="椭圆 421"/>
                    <p:cNvSpPr/>
                    <p:nvPr/>
                  </p:nvSpPr>
                  <p:spPr>
                    <a:xfrm>
                      <a:off x="2575333" y="3528539"/>
                      <a:ext cx="10406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423" name="直接连接符 422"/>
                    <p:cNvCxnSpPr>
                      <a:stCxn id="422" idx="2"/>
                      <a:endCxn id="422" idx="6"/>
                    </p:cNvCxnSpPr>
                    <p:nvPr/>
                  </p:nvCxnSpPr>
                  <p:spPr>
                    <a:xfrm>
                      <a:off x="2575333" y="3573014"/>
                      <a:ext cx="104065" cy="0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4" name="直接连接符 423"/>
                    <p:cNvCxnSpPr/>
                    <p:nvPr/>
                  </p:nvCxnSpPr>
                  <p:spPr>
                    <a:xfrm>
                      <a:off x="2627784" y="3528539"/>
                      <a:ext cx="0" cy="88949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407" name="直接连接符 406"/>
                <p:cNvCxnSpPr/>
                <p:nvPr/>
              </p:nvCxnSpPr>
              <p:spPr>
                <a:xfrm>
                  <a:off x="2627784" y="3687902"/>
                  <a:ext cx="0" cy="216000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75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3" name="组合 352"/>
              <p:cNvGrpSpPr/>
              <p:nvPr/>
            </p:nvGrpSpPr>
            <p:grpSpPr>
              <a:xfrm>
                <a:off x="4546798" y="3261012"/>
                <a:ext cx="160665" cy="977182"/>
                <a:chOff x="2546242" y="3303848"/>
                <a:chExt cx="160665" cy="977182"/>
              </a:xfrm>
            </p:grpSpPr>
            <p:grpSp>
              <p:nvGrpSpPr>
                <p:cNvPr id="376" name="组合 375"/>
                <p:cNvGrpSpPr/>
                <p:nvPr/>
              </p:nvGrpSpPr>
              <p:grpSpPr>
                <a:xfrm>
                  <a:off x="2548624" y="3303848"/>
                  <a:ext cx="158283" cy="367822"/>
                  <a:chOff x="2548624" y="3303848"/>
                  <a:chExt cx="158283" cy="367822"/>
                </a:xfrm>
              </p:grpSpPr>
              <p:sp>
                <p:nvSpPr>
                  <p:cNvPr id="390" name="流程图: 终止 389"/>
                  <p:cNvSpPr/>
                  <p:nvPr/>
                </p:nvSpPr>
                <p:spPr>
                  <a:xfrm rot="5400000">
                    <a:off x="2443855" y="3408617"/>
                    <a:ext cx="367822" cy="158283"/>
                  </a:xfrm>
                  <a:prstGeom prst="flowChartTerminator">
                    <a:avLst/>
                  </a:prstGeom>
                  <a:solidFill>
                    <a:srgbClr val="0099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391" name="组合 390"/>
                  <p:cNvGrpSpPr/>
                  <p:nvPr/>
                </p:nvGrpSpPr>
                <p:grpSpPr>
                  <a:xfrm>
                    <a:off x="2581105" y="3353695"/>
                    <a:ext cx="92402" cy="88949"/>
                    <a:chOff x="1993782" y="3190016"/>
                    <a:chExt cx="108575" cy="88949"/>
                  </a:xfrm>
                </p:grpSpPr>
                <p:sp>
                  <p:nvSpPr>
                    <p:cNvPr id="396" name="椭圆 395"/>
                    <p:cNvSpPr/>
                    <p:nvPr/>
                  </p:nvSpPr>
                  <p:spPr>
                    <a:xfrm>
                      <a:off x="1993782" y="3190016"/>
                      <a:ext cx="10857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97" name="直接连接符 396"/>
                    <p:cNvCxnSpPr>
                      <a:stCxn id="396" idx="2"/>
                      <a:endCxn id="396" idx="6"/>
                    </p:cNvCxnSpPr>
                    <p:nvPr/>
                  </p:nvCxnSpPr>
                  <p:spPr>
                    <a:xfrm>
                      <a:off x="1993782" y="3234491"/>
                      <a:ext cx="108575" cy="0"/>
                    </a:xfrm>
                    <a:prstGeom prst="line">
                      <a:avLst/>
                    </a:prstGeom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92" name="组合 391"/>
                  <p:cNvGrpSpPr/>
                  <p:nvPr/>
                </p:nvGrpSpPr>
                <p:grpSpPr>
                  <a:xfrm>
                    <a:off x="2575334" y="3528539"/>
                    <a:ext cx="100666" cy="88949"/>
                    <a:chOff x="2575333" y="3528539"/>
                    <a:chExt cx="104065" cy="88949"/>
                  </a:xfrm>
                </p:grpSpPr>
                <p:sp>
                  <p:nvSpPr>
                    <p:cNvPr id="393" name="椭圆 392"/>
                    <p:cNvSpPr/>
                    <p:nvPr/>
                  </p:nvSpPr>
                  <p:spPr>
                    <a:xfrm>
                      <a:off x="2575333" y="3528539"/>
                      <a:ext cx="10406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94" name="直接连接符 393"/>
                    <p:cNvCxnSpPr>
                      <a:stCxn id="393" idx="2"/>
                      <a:endCxn id="393" idx="6"/>
                    </p:cNvCxnSpPr>
                    <p:nvPr/>
                  </p:nvCxnSpPr>
                  <p:spPr>
                    <a:xfrm>
                      <a:off x="2575333" y="3573014"/>
                      <a:ext cx="104065" cy="0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5" name="直接连接符 394"/>
                    <p:cNvCxnSpPr/>
                    <p:nvPr/>
                  </p:nvCxnSpPr>
                  <p:spPr>
                    <a:xfrm>
                      <a:off x="2627784" y="3528539"/>
                      <a:ext cx="0" cy="88949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377" name="组合 376"/>
                <p:cNvGrpSpPr/>
                <p:nvPr/>
              </p:nvGrpSpPr>
              <p:grpSpPr>
                <a:xfrm>
                  <a:off x="2546242" y="3913208"/>
                  <a:ext cx="158283" cy="367822"/>
                  <a:chOff x="2548624" y="3303848"/>
                  <a:chExt cx="158283" cy="367822"/>
                </a:xfrm>
              </p:grpSpPr>
              <p:sp>
                <p:nvSpPr>
                  <p:cNvPr id="379" name="流程图: 终止 378"/>
                  <p:cNvSpPr/>
                  <p:nvPr/>
                </p:nvSpPr>
                <p:spPr>
                  <a:xfrm rot="5400000">
                    <a:off x="2443855" y="3408617"/>
                    <a:ext cx="367822" cy="158283"/>
                  </a:xfrm>
                  <a:prstGeom prst="flowChartTerminator">
                    <a:avLst/>
                  </a:prstGeom>
                  <a:solidFill>
                    <a:srgbClr val="0099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380" name="组合 379"/>
                  <p:cNvGrpSpPr/>
                  <p:nvPr/>
                </p:nvGrpSpPr>
                <p:grpSpPr>
                  <a:xfrm>
                    <a:off x="2581105" y="3353695"/>
                    <a:ext cx="92402" cy="88949"/>
                    <a:chOff x="1993782" y="3190016"/>
                    <a:chExt cx="108575" cy="88949"/>
                  </a:xfrm>
                </p:grpSpPr>
                <p:sp>
                  <p:nvSpPr>
                    <p:cNvPr id="385" name="椭圆 384"/>
                    <p:cNvSpPr/>
                    <p:nvPr/>
                  </p:nvSpPr>
                  <p:spPr>
                    <a:xfrm>
                      <a:off x="1993782" y="3190016"/>
                      <a:ext cx="10857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86" name="直接连接符 385"/>
                    <p:cNvCxnSpPr>
                      <a:stCxn id="385" idx="2"/>
                      <a:endCxn id="385" idx="6"/>
                    </p:cNvCxnSpPr>
                    <p:nvPr/>
                  </p:nvCxnSpPr>
                  <p:spPr>
                    <a:xfrm>
                      <a:off x="1993782" y="3234491"/>
                      <a:ext cx="108575" cy="0"/>
                    </a:xfrm>
                    <a:prstGeom prst="line">
                      <a:avLst/>
                    </a:prstGeom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81" name="组合 380"/>
                  <p:cNvGrpSpPr/>
                  <p:nvPr/>
                </p:nvGrpSpPr>
                <p:grpSpPr>
                  <a:xfrm>
                    <a:off x="2575334" y="3528539"/>
                    <a:ext cx="100666" cy="88949"/>
                    <a:chOff x="2575333" y="3528539"/>
                    <a:chExt cx="104065" cy="88949"/>
                  </a:xfrm>
                </p:grpSpPr>
                <p:sp>
                  <p:nvSpPr>
                    <p:cNvPr id="382" name="椭圆 381"/>
                    <p:cNvSpPr/>
                    <p:nvPr/>
                  </p:nvSpPr>
                  <p:spPr>
                    <a:xfrm>
                      <a:off x="2575333" y="3528539"/>
                      <a:ext cx="10406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83" name="直接连接符 382"/>
                    <p:cNvCxnSpPr>
                      <a:stCxn id="382" idx="2"/>
                      <a:endCxn id="382" idx="6"/>
                    </p:cNvCxnSpPr>
                    <p:nvPr/>
                  </p:nvCxnSpPr>
                  <p:spPr>
                    <a:xfrm>
                      <a:off x="2575333" y="3573014"/>
                      <a:ext cx="104065" cy="0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4" name="直接连接符 383"/>
                    <p:cNvCxnSpPr/>
                    <p:nvPr/>
                  </p:nvCxnSpPr>
                  <p:spPr>
                    <a:xfrm>
                      <a:off x="2627784" y="3528539"/>
                      <a:ext cx="0" cy="88949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378" name="直接连接符 377"/>
                <p:cNvCxnSpPr/>
                <p:nvPr/>
              </p:nvCxnSpPr>
              <p:spPr>
                <a:xfrm>
                  <a:off x="2627784" y="3687902"/>
                  <a:ext cx="0" cy="216000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75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4" name="组合 353"/>
              <p:cNvGrpSpPr/>
              <p:nvPr/>
            </p:nvGrpSpPr>
            <p:grpSpPr>
              <a:xfrm>
                <a:off x="5263371" y="3252556"/>
                <a:ext cx="160665" cy="977182"/>
                <a:chOff x="2546242" y="3303848"/>
                <a:chExt cx="160665" cy="977182"/>
              </a:xfrm>
            </p:grpSpPr>
            <p:grpSp>
              <p:nvGrpSpPr>
                <p:cNvPr id="357" name="组合 356"/>
                <p:cNvGrpSpPr/>
                <p:nvPr/>
              </p:nvGrpSpPr>
              <p:grpSpPr>
                <a:xfrm>
                  <a:off x="2548624" y="3303848"/>
                  <a:ext cx="158283" cy="367822"/>
                  <a:chOff x="2548624" y="3303848"/>
                  <a:chExt cx="158283" cy="367822"/>
                </a:xfrm>
              </p:grpSpPr>
              <p:sp>
                <p:nvSpPr>
                  <p:cNvPr id="368" name="流程图: 终止 367"/>
                  <p:cNvSpPr/>
                  <p:nvPr/>
                </p:nvSpPr>
                <p:spPr>
                  <a:xfrm rot="5400000">
                    <a:off x="2443855" y="3408617"/>
                    <a:ext cx="367822" cy="158283"/>
                  </a:xfrm>
                  <a:prstGeom prst="flowChartTerminator">
                    <a:avLst/>
                  </a:prstGeom>
                  <a:solidFill>
                    <a:srgbClr val="0099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369" name="组合 368"/>
                  <p:cNvGrpSpPr/>
                  <p:nvPr/>
                </p:nvGrpSpPr>
                <p:grpSpPr>
                  <a:xfrm>
                    <a:off x="2581105" y="3353695"/>
                    <a:ext cx="92402" cy="88949"/>
                    <a:chOff x="1993782" y="3190016"/>
                    <a:chExt cx="108575" cy="88949"/>
                  </a:xfrm>
                </p:grpSpPr>
                <p:sp>
                  <p:nvSpPr>
                    <p:cNvPr id="374" name="椭圆 373"/>
                    <p:cNvSpPr/>
                    <p:nvPr/>
                  </p:nvSpPr>
                  <p:spPr>
                    <a:xfrm>
                      <a:off x="1993782" y="3190016"/>
                      <a:ext cx="10857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75" name="直接连接符 374"/>
                    <p:cNvCxnSpPr>
                      <a:stCxn id="374" idx="2"/>
                      <a:endCxn id="374" idx="6"/>
                    </p:cNvCxnSpPr>
                    <p:nvPr/>
                  </p:nvCxnSpPr>
                  <p:spPr>
                    <a:xfrm>
                      <a:off x="1993782" y="3234491"/>
                      <a:ext cx="108575" cy="0"/>
                    </a:xfrm>
                    <a:prstGeom prst="line">
                      <a:avLst/>
                    </a:prstGeom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70" name="组合 369"/>
                  <p:cNvGrpSpPr/>
                  <p:nvPr/>
                </p:nvGrpSpPr>
                <p:grpSpPr>
                  <a:xfrm>
                    <a:off x="2575334" y="3528539"/>
                    <a:ext cx="100666" cy="88949"/>
                    <a:chOff x="2575333" y="3528539"/>
                    <a:chExt cx="104065" cy="88949"/>
                  </a:xfrm>
                </p:grpSpPr>
                <p:sp>
                  <p:nvSpPr>
                    <p:cNvPr id="371" name="椭圆 370"/>
                    <p:cNvSpPr/>
                    <p:nvPr/>
                  </p:nvSpPr>
                  <p:spPr>
                    <a:xfrm>
                      <a:off x="2575333" y="3528539"/>
                      <a:ext cx="10406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72" name="直接连接符 371"/>
                    <p:cNvCxnSpPr>
                      <a:stCxn id="371" idx="2"/>
                      <a:endCxn id="371" idx="6"/>
                    </p:cNvCxnSpPr>
                    <p:nvPr/>
                  </p:nvCxnSpPr>
                  <p:spPr>
                    <a:xfrm>
                      <a:off x="2575333" y="3573014"/>
                      <a:ext cx="104065" cy="0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3" name="直接连接符 372"/>
                    <p:cNvCxnSpPr/>
                    <p:nvPr/>
                  </p:nvCxnSpPr>
                  <p:spPr>
                    <a:xfrm>
                      <a:off x="2627784" y="3528539"/>
                      <a:ext cx="0" cy="88949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358" name="组合 357"/>
                <p:cNvGrpSpPr/>
                <p:nvPr/>
              </p:nvGrpSpPr>
              <p:grpSpPr>
                <a:xfrm>
                  <a:off x="2546242" y="3913208"/>
                  <a:ext cx="158283" cy="367822"/>
                  <a:chOff x="2548624" y="3303848"/>
                  <a:chExt cx="158283" cy="367822"/>
                </a:xfrm>
              </p:grpSpPr>
              <p:sp>
                <p:nvSpPr>
                  <p:cNvPr id="360" name="流程图: 终止 359"/>
                  <p:cNvSpPr/>
                  <p:nvPr/>
                </p:nvSpPr>
                <p:spPr>
                  <a:xfrm rot="5400000">
                    <a:off x="2443855" y="3408617"/>
                    <a:ext cx="367822" cy="158283"/>
                  </a:xfrm>
                  <a:prstGeom prst="flowChartTerminator">
                    <a:avLst/>
                  </a:prstGeom>
                  <a:solidFill>
                    <a:srgbClr val="0099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361" name="组合 360"/>
                  <p:cNvGrpSpPr/>
                  <p:nvPr/>
                </p:nvGrpSpPr>
                <p:grpSpPr>
                  <a:xfrm>
                    <a:off x="2581105" y="3353695"/>
                    <a:ext cx="92402" cy="88949"/>
                    <a:chOff x="1993782" y="3190016"/>
                    <a:chExt cx="108575" cy="88949"/>
                  </a:xfrm>
                </p:grpSpPr>
                <p:sp>
                  <p:nvSpPr>
                    <p:cNvPr id="366" name="椭圆 365"/>
                    <p:cNvSpPr/>
                    <p:nvPr/>
                  </p:nvSpPr>
                  <p:spPr>
                    <a:xfrm>
                      <a:off x="1993782" y="3190016"/>
                      <a:ext cx="10857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67" name="直接连接符 366"/>
                    <p:cNvCxnSpPr>
                      <a:stCxn id="366" idx="2"/>
                      <a:endCxn id="366" idx="6"/>
                    </p:cNvCxnSpPr>
                    <p:nvPr/>
                  </p:nvCxnSpPr>
                  <p:spPr>
                    <a:xfrm>
                      <a:off x="1993782" y="3234491"/>
                      <a:ext cx="108575" cy="0"/>
                    </a:xfrm>
                    <a:prstGeom prst="line">
                      <a:avLst/>
                    </a:prstGeom>
                    <a:ln w="12700">
                      <a:solidFill>
                        <a:srgbClr val="00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62" name="组合 361"/>
                  <p:cNvGrpSpPr/>
                  <p:nvPr/>
                </p:nvGrpSpPr>
                <p:grpSpPr>
                  <a:xfrm>
                    <a:off x="2575334" y="3528539"/>
                    <a:ext cx="100666" cy="88949"/>
                    <a:chOff x="2575333" y="3528539"/>
                    <a:chExt cx="104065" cy="88949"/>
                  </a:xfrm>
                </p:grpSpPr>
                <p:sp>
                  <p:nvSpPr>
                    <p:cNvPr id="363" name="椭圆 362"/>
                    <p:cNvSpPr/>
                    <p:nvPr/>
                  </p:nvSpPr>
                  <p:spPr>
                    <a:xfrm>
                      <a:off x="2575333" y="3528539"/>
                      <a:ext cx="104065" cy="8894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64" name="直接连接符 363"/>
                    <p:cNvCxnSpPr>
                      <a:stCxn id="363" idx="2"/>
                      <a:endCxn id="363" idx="6"/>
                    </p:cNvCxnSpPr>
                    <p:nvPr/>
                  </p:nvCxnSpPr>
                  <p:spPr>
                    <a:xfrm>
                      <a:off x="2575333" y="3573014"/>
                      <a:ext cx="104065" cy="0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5" name="直接连接符 364"/>
                    <p:cNvCxnSpPr/>
                    <p:nvPr/>
                  </p:nvCxnSpPr>
                  <p:spPr>
                    <a:xfrm>
                      <a:off x="2627784" y="3528539"/>
                      <a:ext cx="0" cy="88949"/>
                    </a:xfrm>
                    <a:prstGeom prst="line">
                      <a:avLst/>
                    </a:prstGeom>
                    <a:ln w="12700">
                      <a:solidFill>
                        <a:srgbClr val="FF66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359" name="直接连接符 358"/>
                <p:cNvCxnSpPr/>
                <p:nvPr/>
              </p:nvCxnSpPr>
              <p:spPr>
                <a:xfrm>
                  <a:off x="2627784" y="3687902"/>
                  <a:ext cx="0" cy="216000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75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86839309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" grpId="0" animBg="1"/>
      <p:bldP spid="5171" grpId="0"/>
      <p:bldP spid="5173" grpId="0"/>
      <p:bldP spid="5175" grpId="0"/>
      <p:bldP spid="5180" grpId="0"/>
      <p:bldP spid="239" grpId="0"/>
      <p:bldP spid="240" grpId="0"/>
      <p:bldP spid="241" grpId="0"/>
      <p:bldP spid="242" grpId="0"/>
      <p:bldP spid="2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7"/>
          <p:cNvSpPr>
            <a:spLocks noChangeArrowheads="1"/>
          </p:cNvSpPr>
          <p:nvPr/>
        </p:nvSpPr>
        <p:spPr bwMode="auto">
          <a:xfrm rot="10800000">
            <a:off x="6055224" y="1795860"/>
            <a:ext cx="351271" cy="630237"/>
          </a:xfrm>
          <a:prstGeom prst="rightArrow">
            <a:avLst>
              <a:gd name="adj1" fmla="val 50000"/>
              <a:gd name="adj2" fmla="val 36840"/>
            </a:avLst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9"/>
          <p:cNvSpPr>
            <a:spLocks noChangeArrowheads="1"/>
          </p:cNvSpPr>
          <p:nvPr/>
        </p:nvSpPr>
        <p:spPr bwMode="auto">
          <a:xfrm>
            <a:off x="4364611" y="2827599"/>
            <a:ext cx="548754" cy="225816"/>
          </a:xfrm>
          <a:prstGeom prst="downArrow">
            <a:avLst>
              <a:gd name="adj1" fmla="val 50000"/>
              <a:gd name="adj2" fmla="val 25009"/>
            </a:avLst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9525">
            <a:noFill/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B9FA1BF7-42D1-499D-9481-085518E074F7}"/>
              </a:ext>
            </a:extLst>
          </p:cNvPr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="" xmlns:a16="http://schemas.microsoft.com/office/drawing/2014/main" id="{37AA9855-F394-401F-9893-F288C6A475A5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A9F54A12-6BD3-4922-B1C5-7DB5CA89A6FE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3747F231-40AE-47D7-90BE-EEC8985F34B0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62" name="文本框 161"/>
          <p:cNvSpPr txBox="1"/>
          <p:nvPr/>
        </p:nvSpPr>
        <p:spPr>
          <a:xfrm>
            <a:off x="8306817" y="1942267"/>
            <a:ext cx="400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849610" y="2718422"/>
            <a:ext cx="1555447" cy="8549"/>
            <a:chOff x="5029497" y="2825956"/>
            <a:chExt cx="1555447" cy="8549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5029497" y="2825956"/>
              <a:ext cx="107704" cy="0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直接连接符 389"/>
            <p:cNvCxnSpPr/>
            <p:nvPr/>
          </p:nvCxnSpPr>
          <p:spPr>
            <a:xfrm>
              <a:off x="5392048" y="2825956"/>
              <a:ext cx="107704" cy="0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直接连接符 390"/>
            <p:cNvCxnSpPr/>
            <p:nvPr/>
          </p:nvCxnSpPr>
          <p:spPr>
            <a:xfrm>
              <a:off x="5757154" y="2826320"/>
              <a:ext cx="107704" cy="0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直接连接符 391"/>
            <p:cNvCxnSpPr/>
            <p:nvPr/>
          </p:nvCxnSpPr>
          <p:spPr>
            <a:xfrm>
              <a:off x="6112247" y="2828155"/>
              <a:ext cx="107704" cy="0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直接连接符 392"/>
            <p:cNvCxnSpPr/>
            <p:nvPr/>
          </p:nvCxnSpPr>
          <p:spPr>
            <a:xfrm>
              <a:off x="6477240" y="2834505"/>
              <a:ext cx="107704" cy="0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>
            <a:off x="3850994" y="1462034"/>
            <a:ext cx="1552232" cy="113977"/>
            <a:chOff x="5026648" y="1348918"/>
            <a:chExt cx="1552232" cy="113977"/>
          </a:xfrm>
        </p:grpSpPr>
        <p:grpSp>
          <p:nvGrpSpPr>
            <p:cNvPr id="11" name="组合 10"/>
            <p:cNvGrpSpPr/>
            <p:nvPr/>
          </p:nvGrpSpPr>
          <p:grpSpPr>
            <a:xfrm>
              <a:off x="5026648" y="1348919"/>
              <a:ext cx="107704" cy="109515"/>
              <a:chOff x="5123945" y="1286414"/>
              <a:chExt cx="122400" cy="122400"/>
            </a:xfrm>
          </p:grpSpPr>
          <p:cxnSp>
            <p:nvCxnSpPr>
              <p:cNvPr id="394" name="直接连接符 393"/>
              <p:cNvCxnSpPr/>
              <p:nvPr/>
            </p:nvCxnSpPr>
            <p:spPr>
              <a:xfrm>
                <a:off x="5123945" y="1347614"/>
                <a:ext cx="122400" cy="0"/>
              </a:xfrm>
              <a:prstGeom prst="line">
                <a:avLst/>
              </a:prstGeom>
              <a:ln w="15875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>
                <a:off x="5185138" y="1286414"/>
                <a:ext cx="0" cy="122400"/>
              </a:xfrm>
              <a:prstGeom prst="line">
                <a:avLst/>
              </a:prstGeom>
              <a:ln w="12700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6" name="组合 395"/>
            <p:cNvGrpSpPr/>
            <p:nvPr/>
          </p:nvGrpSpPr>
          <p:grpSpPr>
            <a:xfrm>
              <a:off x="5377519" y="1348918"/>
              <a:ext cx="107704" cy="109515"/>
              <a:chOff x="5123945" y="1286414"/>
              <a:chExt cx="122400" cy="122400"/>
            </a:xfrm>
          </p:grpSpPr>
          <p:cxnSp>
            <p:nvCxnSpPr>
              <p:cNvPr id="397" name="直接连接符 396"/>
              <p:cNvCxnSpPr/>
              <p:nvPr/>
            </p:nvCxnSpPr>
            <p:spPr>
              <a:xfrm>
                <a:off x="5123945" y="1347614"/>
                <a:ext cx="122400" cy="0"/>
              </a:xfrm>
              <a:prstGeom prst="line">
                <a:avLst/>
              </a:prstGeom>
              <a:ln w="15875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直接连接符 397"/>
              <p:cNvCxnSpPr/>
              <p:nvPr/>
            </p:nvCxnSpPr>
            <p:spPr>
              <a:xfrm>
                <a:off x="5185138" y="1286414"/>
                <a:ext cx="0" cy="122400"/>
              </a:xfrm>
              <a:prstGeom prst="line">
                <a:avLst/>
              </a:prstGeom>
              <a:ln w="12700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9" name="组合 398"/>
            <p:cNvGrpSpPr/>
            <p:nvPr/>
          </p:nvGrpSpPr>
          <p:grpSpPr>
            <a:xfrm>
              <a:off x="5752398" y="1349230"/>
              <a:ext cx="107704" cy="109515"/>
              <a:chOff x="5123945" y="1286414"/>
              <a:chExt cx="122400" cy="122400"/>
            </a:xfrm>
          </p:grpSpPr>
          <p:cxnSp>
            <p:nvCxnSpPr>
              <p:cNvPr id="400" name="直接连接符 399"/>
              <p:cNvCxnSpPr/>
              <p:nvPr/>
            </p:nvCxnSpPr>
            <p:spPr>
              <a:xfrm>
                <a:off x="5123945" y="1347614"/>
                <a:ext cx="122400" cy="0"/>
              </a:xfrm>
              <a:prstGeom prst="line">
                <a:avLst/>
              </a:prstGeom>
              <a:ln w="15875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直接连接符 400"/>
              <p:cNvCxnSpPr/>
              <p:nvPr/>
            </p:nvCxnSpPr>
            <p:spPr>
              <a:xfrm>
                <a:off x="5185138" y="1286414"/>
                <a:ext cx="0" cy="122400"/>
              </a:xfrm>
              <a:prstGeom prst="line">
                <a:avLst/>
              </a:prstGeom>
              <a:ln w="12700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2" name="组合 401"/>
            <p:cNvGrpSpPr/>
            <p:nvPr/>
          </p:nvGrpSpPr>
          <p:grpSpPr>
            <a:xfrm>
              <a:off x="6102871" y="1353380"/>
              <a:ext cx="107704" cy="109515"/>
              <a:chOff x="5123945" y="1286414"/>
              <a:chExt cx="122400" cy="122400"/>
            </a:xfrm>
          </p:grpSpPr>
          <p:cxnSp>
            <p:nvCxnSpPr>
              <p:cNvPr id="403" name="直接连接符 402"/>
              <p:cNvCxnSpPr/>
              <p:nvPr/>
            </p:nvCxnSpPr>
            <p:spPr>
              <a:xfrm>
                <a:off x="5123945" y="1347614"/>
                <a:ext cx="122400" cy="0"/>
              </a:xfrm>
              <a:prstGeom prst="line">
                <a:avLst/>
              </a:prstGeom>
              <a:ln w="15875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直接连接符 403"/>
              <p:cNvCxnSpPr/>
              <p:nvPr/>
            </p:nvCxnSpPr>
            <p:spPr>
              <a:xfrm>
                <a:off x="5185138" y="1286414"/>
                <a:ext cx="0" cy="122400"/>
              </a:xfrm>
              <a:prstGeom prst="line">
                <a:avLst/>
              </a:prstGeom>
              <a:ln w="12700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5" name="组合 404"/>
            <p:cNvGrpSpPr/>
            <p:nvPr/>
          </p:nvGrpSpPr>
          <p:grpSpPr>
            <a:xfrm>
              <a:off x="6471176" y="1350825"/>
              <a:ext cx="107704" cy="109515"/>
              <a:chOff x="5123945" y="1286414"/>
              <a:chExt cx="122400" cy="122400"/>
            </a:xfrm>
          </p:grpSpPr>
          <p:cxnSp>
            <p:nvCxnSpPr>
              <p:cNvPr id="406" name="直接连接符 405"/>
              <p:cNvCxnSpPr/>
              <p:nvPr/>
            </p:nvCxnSpPr>
            <p:spPr>
              <a:xfrm>
                <a:off x="5123945" y="1347614"/>
                <a:ext cx="122400" cy="0"/>
              </a:xfrm>
              <a:prstGeom prst="line">
                <a:avLst/>
              </a:prstGeom>
              <a:ln w="15875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7" name="直接连接符 406"/>
              <p:cNvCxnSpPr/>
              <p:nvPr/>
            </p:nvCxnSpPr>
            <p:spPr>
              <a:xfrm>
                <a:off x="5185138" y="1286414"/>
                <a:ext cx="0" cy="122400"/>
              </a:xfrm>
              <a:prstGeom prst="line">
                <a:avLst/>
              </a:prstGeom>
              <a:ln w="12700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文本框 13"/>
          <p:cNvSpPr txBox="1"/>
          <p:nvPr/>
        </p:nvSpPr>
        <p:spPr>
          <a:xfrm>
            <a:off x="2891421" y="132547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自由电荷</a:t>
            </a:r>
          </a:p>
        </p:txBody>
      </p:sp>
      <p:sp>
        <p:nvSpPr>
          <p:cNvPr id="568" name="文本框 567"/>
          <p:cNvSpPr txBox="1"/>
          <p:nvPr/>
        </p:nvSpPr>
        <p:spPr>
          <a:xfrm>
            <a:off x="2884873" y="250496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束缚电荷</a:t>
            </a:r>
          </a:p>
        </p:txBody>
      </p:sp>
      <p:sp>
        <p:nvSpPr>
          <p:cNvPr id="576" name="文本框 575"/>
          <p:cNvSpPr txBox="1"/>
          <p:nvPr/>
        </p:nvSpPr>
        <p:spPr>
          <a:xfrm>
            <a:off x="5538505" y="1945173"/>
            <a:ext cx="605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000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4" name="直接箭头连接符 433"/>
          <p:cNvCxnSpPr/>
          <p:nvPr/>
        </p:nvCxnSpPr>
        <p:spPr>
          <a:xfrm flipV="1">
            <a:off x="8378825" y="1687392"/>
            <a:ext cx="0" cy="998986"/>
          </a:xfrm>
          <a:prstGeom prst="straightConnector1">
            <a:avLst/>
          </a:prstGeom>
          <a:ln w="22225">
            <a:solidFill>
              <a:schemeClr val="tx1"/>
            </a:solidFill>
            <a:headEnd w="lg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="" xmlns:a16="http://schemas.microsoft.com/office/drawing/2014/main" id="{A5F7D140-067F-F5AB-6A73-9ED5A3CE165F}"/>
              </a:ext>
            </a:extLst>
          </p:cNvPr>
          <p:cNvGrpSpPr/>
          <p:nvPr/>
        </p:nvGrpSpPr>
        <p:grpSpPr>
          <a:xfrm>
            <a:off x="3723515" y="1616590"/>
            <a:ext cx="1865620" cy="1007832"/>
            <a:chOff x="3723515" y="1616590"/>
            <a:chExt cx="1865620" cy="1007832"/>
          </a:xfrm>
        </p:grpSpPr>
        <p:cxnSp>
          <p:nvCxnSpPr>
            <p:cNvPr id="575" name="直接箭头连接符 574"/>
            <p:cNvCxnSpPr/>
            <p:nvPr/>
          </p:nvCxnSpPr>
          <p:spPr>
            <a:xfrm flipV="1">
              <a:off x="5589135" y="1674356"/>
              <a:ext cx="0" cy="779957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w="lg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8" name="矩形 1007"/>
            <p:cNvSpPr/>
            <p:nvPr/>
          </p:nvSpPr>
          <p:spPr>
            <a:xfrm>
              <a:off x="3723515" y="1616590"/>
              <a:ext cx="1800000" cy="10078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4166505" y="1637648"/>
              <a:ext cx="160665" cy="977182"/>
              <a:chOff x="2546242" y="3303848"/>
              <a:chExt cx="160665" cy="977182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2548624" y="3303848"/>
                <a:ext cx="158283" cy="367822"/>
                <a:chOff x="2548624" y="3303848"/>
                <a:chExt cx="158283" cy="367822"/>
              </a:xfrm>
            </p:grpSpPr>
            <p:sp>
              <p:nvSpPr>
                <p:cNvPr id="2" name="流程图: 终止 1"/>
                <p:cNvSpPr/>
                <p:nvPr/>
              </p:nvSpPr>
              <p:spPr>
                <a:xfrm rot="5400000">
                  <a:off x="2443855" y="3408617"/>
                  <a:ext cx="367822" cy="158283"/>
                </a:xfrm>
                <a:prstGeom prst="flowChartTerminator">
                  <a:avLst/>
                </a:prstGeom>
                <a:solidFill>
                  <a:srgbClr val="0099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3" name="组合 2"/>
                <p:cNvGrpSpPr/>
                <p:nvPr/>
              </p:nvGrpSpPr>
              <p:grpSpPr>
                <a:xfrm>
                  <a:off x="2581105" y="3353695"/>
                  <a:ext cx="92402" cy="88949"/>
                  <a:chOff x="1993782" y="3190016"/>
                  <a:chExt cx="108575" cy="88949"/>
                </a:xfrm>
              </p:grpSpPr>
              <p:sp>
                <p:nvSpPr>
                  <p:cNvPr id="408" name="椭圆 407"/>
                  <p:cNvSpPr/>
                  <p:nvPr/>
                </p:nvSpPr>
                <p:spPr>
                  <a:xfrm>
                    <a:off x="1993782" y="3190016"/>
                    <a:ext cx="10857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10" name="直接连接符 409"/>
                  <p:cNvCxnSpPr>
                    <a:stCxn id="408" idx="2"/>
                    <a:endCxn id="408" idx="6"/>
                  </p:cNvCxnSpPr>
                  <p:nvPr/>
                </p:nvCxnSpPr>
                <p:spPr>
                  <a:xfrm>
                    <a:off x="1993782" y="3234491"/>
                    <a:ext cx="108575" cy="0"/>
                  </a:xfrm>
                  <a:prstGeom prst="line">
                    <a:avLst/>
                  </a:prstGeom>
                  <a:ln w="12700">
                    <a:solidFill>
                      <a:srgbClr val="00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" name="组合 8"/>
                <p:cNvGrpSpPr/>
                <p:nvPr/>
              </p:nvGrpSpPr>
              <p:grpSpPr>
                <a:xfrm>
                  <a:off x="2575334" y="3528539"/>
                  <a:ext cx="100666" cy="88949"/>
                  <a:chOff x="2575333" y="3528539"/>
                  <a:chExt cx="104065" cy="88949"/>
                </a:xfrm>
              </p:grpSpPr>
              <p:sp>
                <p:nvSpPr>
                  <p:cNvPr id="409" name="椭圆 408"/>
                  <p:cNvSpPr/>
                  <p:nvPr/>
                </p:nvSpPr>
                <p:spPr>
                  <a:xfrm>
                    <a:off x="2575333" y="3528539"/>
                    <a:ext cx="10406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FF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11" name="直接连接符 410"/>
                  <p:cNvCxnSpPr>
                    <a:stCxn id="409" idx="2"/>
                    <a:endCxn id="409" idx="6"/>
                  </p:cNvCxnSpPr>
                  <p:nvPr/>
                </p:nvCxnSpPr>
                <p:spPr>
                  <a:xfrm>
                    <a:off x="2575333" y="3573014"/>
                    <a:ext cx="104065" cy="0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2" name="直接连接符 411"/>
                  <p:cNvCxnSpPr/>
                  <p:nvPr/>
                </p:nvCxnSpPr>
                <p:spPr>
                  <a:xfrm>
                    <a:off x="2627784" y="3528539"/>
                    <a:ext cx="0" cy="88949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27" name="组合 426"/>
              <p:cNvGrpSpPr/>
              <p:nvPr/>
            </p:nvGrpSpPr>
            <p:grpSpPr>
              <a:xfrm>
                <a:off x="2546242" y="3913208"/>
                <a:ext cx="158283" cy="367822"/>
                <a:chOff x="2548624" y="3303848"/>
                <a:chExt cx="158283" cy="367822"/>
              </a:xfrm>
            </p:grpSpPr>
            <p:sp>
              <p:nvSpPr>
                <p:cNvPr id="428" name="流程图: 终止 427"/>
                <p:cNvSpPr/>
                <p:nvPr/>
              </p:nvSpPr>
              <p:spPr>
                <a:xfrm rot="5400000">
                  <a:off x="2443855" y="3408617"/>
                  <a:ext cx="367822" cy="158283"/>
                </a:xfrm>
                <a:prstGeom prst="flowChartTerminator">
                  <a:avLst/>
                </a:prstGeom>
                <a:solidFill>
                  <a:srgbClr val="0099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29" name="组合 428"/>
                <p:cNvGrpSpPr/>
                <p:nvPr/>
              </p:nvGrpSpPr>
              <p:grpSpPr>
                <a:xfrm>
                  <a:off x="2581105" y="3353695"/>
                  <a:ext cx="92402" cy="88949"/>
                  <a:chOff x="1993782" y="3190016"/>
                  <a:chExt cx="108575" cy="88949"/>
                </a:xfrm>
              </p:grpSpPr>
              <p:sp>
                <p:nvSpPr>
                  <p:cNvPr id="436" name="椭圆 435"/>
                  <p:cNvSpPr/>
                  <p:nvPr/>
                </p:nvSpPr>
                <p:spPr>
                  <a:xfrm>
                    <a:off x="1993782" y="3190016"/>
                    <a:ext cx="10857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37" name="直接连接符 436"/>
                  <p:cNvCxnSpPr>
                    <a:stCxn id="436" idx="2"/>
                    <a:endCxn id="436" idx="6"/>
                  </p:cNvCxnSpPr>
                  <p:nvPr/>
                </p:nvCxnSpPr>
                <p:spPr>
                  <a:xfrm>
                    <a:off x="1993782" y="3234491"/>
                    <a:ext cx="108575" cy="0"/>
                  </a:xfrm>
                  <a:prstGeom prst="line">
                    <a:avLst/>
                  </a:prstGeom>
                  <a:ln w="12700">
                    <a:solidFill>
                      <a:srgbClr val="00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30" name="组合 429"/>
                <p:cNvGrpSpPr/>
                <p:nvPr/>
              </p:nvGrpSpPr>
              <p:grpSpPr>
                <a:xfrm>
                  <a:off x="2575334" y="3528539"/>
                  <a:ext cx="100666" cy="88949"/>
                  <a:chOff x="2575333" y="3528539"/>
                  <a:chExt cx="104065" cy="88949"/>
                </a:xfrm>
              </p:grpSpPr>
              <p:sp>
                <p:nvSpPr>
                  <p:cNvPr id="431" name="椭圆 430"/>
                  <p:cNvSpPr/>
                  <p:nvPr/>
                </p:nvSpPr>
                <p:spPr>
                  <a:xfrm>
                    <a:off x="2575333" y="3528539"/>
                    <a:ext cx="10406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FF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32" name="直接连接符 431"/>
                  <p:cNvCxnSpPr>
                    <a:stCxn id="431" idx="2"/>
                    <a:endCxn id="431" idx="6"/>
                  </p:cNvCxnSpPr>
                  <p:nvPr/>
                </p:nvCxnSpPr>
                <p:spPr>
                  <a:xfrm>
                    <a:off x="2575333" y="3573014"/>
                    <a:ext cx="104065" cy="0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3" name="直接连接符 432"/>
                  <p:cNvCxnSpPr/>
                  <p:nvPr/>
                </p:nvCxnSpPr>
                <p:spPr>
                  <a:xfrm>
                    <a:off x="2627784" y="3528539"/>
                    <a:ext cx="0" cy="88949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6" name="直接连接符 15"/>
              <p:cNvCxnSpPr/>
              <p:nvPr/>
            </p:nvCxnSpPr>
            <p:spPr>
              <a:xfrm>
                <a:off x="2627784" y="3687902"/>
                <a:ext cx="0" cy="216000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0" name="组合 439"/>
            <p:cNvGrpSpPr/>
            <p:nvPr/>
          </p:nvGrpSpPr>
          <p:grpSpPr>
            <a:xfrm>
              <a:off x="3825879" y="1640846"/>
              <a:ext cx="160665" cy="977182"/>
              <a:chOff x="2546242" y="3303848"/>
              <a:chExt cx="160665" cy="977182"/>
            </a:xfrm>
          </p:grpSpPr>
          <p:grpSp>
            <p:nvGrpSpPr>
              <p:cNvPr id="441" name="组合 440"/>
              <p:cNvGrpSpPr/>
              <p:nvPr/>
            </p:nvGrpSpPr>
            <p:grpSpPr>
              <a:xfrm>
                <a:off x="2548624" y="3303848"/>
                <a:ext cx="158283" cy="367822"/>
                <a:chOff x="2548624" y="3303848"/>
                <a:chExt cx="158283" cy="367822"/>
              </a:xfrm>
            </p:grpSpPr>
            <p:sp>
              <p:nvSpPr>
                <p:cNvPr id="454" name="流程图: 终止 453"/>
                <p:cNvSpPr/>
                <p:nvPr/>
              </p:nvSpPr>
              <p:spPr>
                <a:xfrm rot="5400000">
                  <a:off x="2443855" y="3408617"/>
                  <a:ext cx="367822" cy="158283"/>
                </a:xfrm>
                <a:prstGeom prst="flowChartTerminator">
                  <a:avLst/>
                </a:prstGeom>
                <a:solidFill>
                  <a:srgbClr val="0099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55" name="组合 454"/>
                <p:cNvGrpSpPr/>
                <p:nvPr/>
              </p:nvGrpSpPr>
              <p:grpSpPr>
                <a:xfrm>
                  <a:off x="2581105" y="3353695"/>
                  <a:ext cx="92402" cy="88949"/>
                  <a:chOff x="1993782" y="3190016"/>
                  <a:chExt cx="108575" cy="88949"/>
                </a:xfrm>
              </p:grpSpPr>
              <p:sp>
                <p:nvSpPr>
                  <p:cNvPr id="460" name="椭圆 459"/>
                  <p:cNvSpPr/>
                  <p:nvPr/>
                </p:nvSpPr>
                <p:spPr>
                  <a:xfrm>
                    <a:off x="1993782" y="3190016"/>
                    <a:ext cx="10857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61" name="直接连接符 460"/>
                  <p:cNvCxnSpPr>
                    <a:stCxn id="460" idx="2"/>
                    <a:endCxn id="460" idx="6"/>
                  </p:cNvCxnSpPr>
                  <p:nvPr/>
                </p:nvCxnSpPr>
                <p:spPr>
                  <a:xfrm>
                    <a:off x="1993782" y="3234491"/>
                    <a:ext cx="108575" cy="0"/>
                  </a:xfrm>
                  <a:prstGeom prst="line">
                    <a:avLst/>
                  </a:prstGeom>
                  <a:ln w="12700">
                    <a:solidFill>
                      <a:srgbClr val="00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56" name="组合 455"/>
                <p:cNvGrpSpPr/>
                <p:nvPr/>
              </p:nvGrpSpPr>
              <p:grpSpPr>
                <a:xfrm>
                  <a:off x="2575334" y="3528539"/>
                  <a:ext cx="100666" cy="88949"/>
                  <a:chOff x="2575333" y="3528539"/>
                  <a:chExt cx="104065" cy="88949"/>
                </a:xfrm>
              </p:grpSpPr>
              <p:sp>
                <p:nvSpPr>
                  <p:cNvPr id="457" name="椭圆 456"/>
                  <p:cNvSpPr/>
                  <p:nvPr/>
                </p:nvSpPr>
                <p:spPr>
                  <a:xfrm>
                    <a:off x="2575333" y="3528539"/>
                    <a:ext cx="10406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FF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58" name="直接连接符 457"/>
                  <p:cNvCxnSpPr>
                    <a:stCxn id="457" idx="2"/>
                    <a:endCxn id="457" idx="6"/>
                  </p:cNvCxnSpPr>
                  <p:nvPr/>
                </p:nvCxnSpPr>
                <p:spPr>
                  <a:xfrm>
                    <a:off x="2575333" y="3573014"/>
                    <a:ext cx="104065" cy="0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9" name="直接连接符 458"/>
                  <p:cNvCxnSpPr/>
                  <p:nvPr/>
                </p:nvCxnSpPr>
                <p:spPr>
                  <a:xfrm>
                    <a:off x="2627784" y="3528539"/>
                    <a:ext cx="0" cy="88949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42" name="组合 441"/>
              <p:cNvGrpSpPr/>
              <p:nvPr/>
            </p:nvGrpSpPr>
            <p:grpSpPr>
              <a:xfrm>
                <a:off x="2546242" y="3913208"/>
                <a:ext cx="158283" cy="367822"/>
                <a:chOff x="2548624" y="3303848"/>
                <a:chExt cx="158283" cy="367822"/>
              </a:xfrm>
            </p:grpSpPr>
            <p:sp>
              <p:nvSpPr>
                <p:cNvPr id="446" name="流程图: 终止 445"/>
                <p:cNvSpPr/>
                <p:nvPr/>
              </p:nvSpPr>
              <p:spPr>
                <a:xfrm rot="5400000">
                  <a:off x="2443855" y="3408617"/>
                  <a:ext cx="367822" cy="158283"/>
                </a:xfrm>
                <a:prstGeom prst="flowChartTerminator">
                  <a:avLst/>
                </a:prstGeom>
                <a:solidFill>
                  <a:srgbClr val="0099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47" name="组合 446"/>
                <p:cNvGrpSpPr/>
                <p:nvPr/>
              </p:nvGrpSpPr>
              <p:grpSpPr>
                <a:xfrm>
                  <a:off x="2581105" y="3353695"/>
                  <a:ext cx="92402" cy="88949"/>
                  <a:chOff x="1993782" y="3190016"/>
                  <a:chExt cx="108575" cy="88949"/>
                </a:xfrm>
              </p:grpSpPr>
              <p:sp>
                <p:nvSpPr>
                  <p:cNvPr id="452" name="椭圆 451"/>
                  <p:cNvSpPr/>
                  <p:nvPr/>
                </p:nvSpPr>
                <p:spPr>
                  <a:xfrm>
                    <a:off x="1993782" y="3190016"/>
                    <a:ext cx="10857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53" name="直接连接符 452"/>
                  <p:cNvCxnSpPr>
                    <a:stCxn id="452" idx="2"/>
                    <a:endCxn id="452" idx="6"/>
                  </p:cNvCxnSpPr>
                  <p:nvPr/>
                </p:nvCxnSpPr>
                <p:spPr>
                  <a:xfrm>
                    <a:off x="1993782" y="3234491"/>
                    <a:ext cx="108575" cy="0"/>
                  </a:xfrm>
                  <a:prstGeom prst="line">
                    <a:avLst/>
                  </a:prstGeom>
                  <a:ln w="12700">
                    <a:solidFill>
                      <a:srgbClr val="00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48" name="组合 447"/>
                <p:cNvGrpSpPr/>
                <p:nvPr/>
              </p:nvGrpSpPr>
              <p:grpSpPr>
                <a:xfrm>
                  <a:off x="2575334" y="3528539"/>
                  <a:ext cx="100666" cy="88949"/>
                  <a:chOff x="2575333" y="3528539"/>
                  <a:chExt cx="104065" cy="88949"/>
                </a:xfrm>
              </p:grpSpPr>
              <p:sp>
                <p:nvSpPr>
                  <p:cNvPr id="449" name="椭圆 448"/>
                  <p:cNvSpPr/>
                  <p:nvPr/>
                </p:nvSpPr>
                <p:spPr>
                  <a:xfrm>
                    <a:off x="2575333" y="3528539"/>
                    <a:ext cx="10406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FF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50" name="直接连接符 449"/>
                  <p:cNvCxnSpPr>
                    <a:stCxn id="449" idx="2"/>
                    <a:endCxn id="449" idx="6"/>
                  </p:cNvCxnSpPr>
                  <p:nvPr/>
                </p:nvCxnSpPr>
                <p:spPr>
                  <a:xfrm>
                    <a:off x="2575333" y="3573014"/>
                    <a:ext cx="104065" cy="0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1" name="直接连接符 450"/>
                  <p:cNvCxnSpPr/>
                  <p:nvPr/>
                </p:nvCxnSpPr>
                <p:spPr>
                  <a:xfrm>
                    <a:off x="2627784" y="3528539"/>
                    <a:ext cx="0" cy="88949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444" name="直接连接符 443"/>
              <p:cNvCxnSpPr/>
              <p:nvPr/>
            </p:nvCxnSpPr>
            <p:spPr>
              <a:xfrm>
                <a:off x="2627784" y="3687902"/>
                <a:ext cx="0" cy="216000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2" name="组合 461"/>
            <p:cNvGrpSpPr/>
            <p:nvPr/>
          </p:nvGrpSpPr>
          <p:grpSpPr>
            <a:xfrm>
              <a:off x="4545337" y="1634892"/>
              <a:ext cx="160665" cy="977182"/>
              <a:chOff x="2546242" y="3303848"/>
              <a:chExt cx="160665" cy="977182"/>
            </a:xfrm>
          </p:grpSpPr>
          <p:grpSp>
            <p:nvGrpSpPr>
              <p:cNvPr id="463" name="组合 462"/>
              <p:cNvGrpSpPr/>
              <p:nvPr/>
            </p:nvGrpSpPr>
            <p:grpSpPr>
              <a:xfrm>
                <a:off x="2548624" y="3303848"/>
                <a:ext cx="158283" cy="367822"/>
                <a:chOff x="2548624" y="3303848"/>
                <a:chExt cx="158283" cy="367822"/>
              </a:xfrm>
            </p:grpSpPr>
            <p:sp>
              <p:nvSpPr>
                <p:cNvPr id="498" name="流程图: 终止 497"/>
                <p:cNvSpPr/>
                <p:nvPr/>
              </p:nvSpPr>
              <p:spPr>
                <a:xfrm rot="5400000">
                  <a:off x="2443855" y="3408617"/>
                  <a:ext cx="367822" cy="158283"/>
                </a:xfrm>
                <a:prstGeom prst="flowChartTerminator">
                  <a:avLst/>
                </a:prstGeom>
                <a:solidFill>
                  <a:srgbClr val="0099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99" name="组合 498"/>
                <p:cNvGrpSpPr/>
                <p:nvPr/>
              </p:nvGrpSpPr>
              <p:grpSpPr>
                <a:xfrm>
                  <a:off x="2581105" y="3353695"/>
                  <a:ext cx="92402" cy="88949"/>
                  <a:chOff x="1993782" y="3190016"/>
                  <a:chExt cx="108575" cy="88949"/>
                </a:xfrm>
              </p:grpSpPr>
              <p:sp>
                <p:nvSpPr>
                  <p:cNvPr id="504" name="椭圆 503"/>
                  <p:cNvSpPr/>
                  <p:nvPr/>
                </p:nvSpPr>
                <p:spPr>
                  <a:xfrm>
                    <a:off x="1993782" y="3190016"/>
                    <a:ext cx="10857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05" name="直接连接符 504"/>
                  <p:cNvCxnSpPr>
                    <a:stCxn id="504" idx="2"/>
                    <a:endCxn id="504" idx="6"/>
                  </p:cNvCxnSpPr>
                  <p:nvPr/>
                </p:nvCxnSpPr>
                <p:spPr>
                  <a:xfrm>
                    <a:off x="1993782" y="3234491"/>
                    <a:ext cx="108575" cy="0"/>
                  </a:xfrm>
                  <a:prstGeom prst="line">
                    <a:avLst/>
                  </a:prstGeom>
                  <a:ln w="12700">
                    <a:solidFill>
                      <a:srgbClr val="00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00" name="组合 499"/>
                <p:cNvGrpSpPr/>
                <p:nvPr/>
              </p:nvGrpSpPr>
              <p:grpSpPr>
                <a:xfrm>
                  <a:off x="2575334" y="3528539"/>
                  <a:ext cx="100666" cy="88949"/>
                  <a:chOff x="2575333" y="3528539"/>
                  <a:chExt cx="104065" cy="88949"/>
                </a:xfrm>
              </p:grpSpPr>
              <p:sp>
                <p:nvSpPr>
                  <p:cNvPr id="501" name="椭圆 500"/>
                  <p:cNvSpPr/>
                  <p:nvPr/>
                </p:nvSpPr>
                <p:spPr>
                  <a:xfrm>
                    <a:off x="2575333" y="3528539"/>
                    <a:ext cx="10406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FF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02" name="直接连接符 501"/>
                  <p:cNvCxnSpPr>
                    <a:stCxn id="501" idx="2"/>
                    <a:endCxn id="501" idx="6"/>
                  </p:cNvCxnSpPr>
                  <p:nvPr/>
                </p:nvCxnSpPr>
                <p:spPr>
                  <a:xfrm>
                    <a:off x="2575333" y="3573014"/>
                    <a:ext cx="104065" cy="0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3" name="直接连接符 502"/>
                  <p:cNvCxnSpPr/>
                  <p:nvPr/>
                </p:nvCxnSpPr>
                <p:spPr>
                  <a:xfrm>
                    <a:off x="2627784" y="3528539"/>
                    <a:ext cx="0" cy="88949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64" name="组合 463"/>
              <p:cNvGrpSpPr/>
              <p:nvPr/>
            </p:nvGrpSpPr>
            <p:grpSpPr>
              <a:xfrm>
                <a:off x="2546242" y="3913208"/>
                <a:ext cx="158283" cy="367822"/>
                <a:chOff x="2548624" y="3303848"/>
                <a:chExt cx="158283" cy="367822"/>
              </a:xfrm>
            </p:grpSpPr>
            <p:sp>
              <p:nvSpPr>
                <p:cNvPr id="466" name="流程图: 终止 465"/>
                <p:cNvSpPr/>
                <p:nvPr/>
              </p:nvSpPr>
              <p:spPr>
                <a:xfrm rot="5400000">
                  <a:off x="2443855" y="3408617"/>
                  <a:ext cx="367822" cy="158283"/>
                </a:xfrm>
                <a:prstGeom prst="flowChartTerminator">
                  <a:avLst/>
                </a:prstGeom>
                <a:solidFill>
                  <a:srgbClr val="0099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67" name="组合 466"/>
                <p:cNvGrpSpPr/>
                <p:nvPr/>
              </p:nvGrpSpPr>
              <p:grpSpPr>
                <a:xfrm>
                  <a:off x="2581105" y="3353695"/>
                  <a:ext cx="92402" cy="88949"/>
                  <a:chOff x="1993782" y="3190016"/>
                  <a:chExt cx="108575" cy="88949"/>
                </a:xfrm>
              </p:grpSpPr>
              <p:sp>
                <p:nvSpPr>
                  <p:cNvPr id="496" name="椭圆 495"/>
                  <p:cNvSpPr/>
                  <p:nvPr/>
                </p:nvSpPr>
                <p:spPr>
                  <a:xfrm>
                    <a:off x="1993782" y="3190016"/>
                    <a:ext cx="10857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97" name="直接连接符 496"/>
                  <p:cNvCxnSpPr>
                    <a:stCxn id="496" idx="2"/>
                    <a:endCxn id="496" idx="6"/>
                  </p:cNvCxnSpPr>
                  <p:nvPr/>
                </p:nvCxnSpPr>
                <p:spPr>
                  <a:xfrm>
                    <a:off x="1993782" y="3234491"/>
                    <a:ext cx="108575" cy="0"/>
                  </a:xfrm>
                  <a:prstGeom prst="line">
                    <a:avLst/>
                  </a:prstGeom>
                  <a:ln w="12700">
                    <a:solidFill>
                      <a:srgbClr val="00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8" name="组合 467"/>
                <p:cNvGrpSpPr/>
                <p:nvPr/>
              </p:nvGrpSpPr>
              <p:grpSpPr>
                <a:xfrm>
                  <a:off x="2575334" y="3528539"/>
                  <a:ext cx="100666" cy="88949"/>
                  <a:chOff x="2575333" y="3528539"/>
                  <a:chExt cx="104065" cy="88949"/>
                </a:xfrm>
              </p:grpSpPr>
              <p:sp>
                <p:nvSpPr>
                  <p:cNvPr id="469" name="椭圆 468"/>
                  <p:cNvSpPr/>
                  <p:nvPr/>
                </p:nvSpPr>
                <p:spPr>
                  <a:xfrm>
                    <a:off x="2575333" y="3528539"/>
                    <a:ext cx="10406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FF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70" name="直接连接符 469"/>
                  <p:cNvCxnSpPr>
                    <a:stCxn id="469" idx="2"/>
                    <a:endCxn id="469" idx="6"/>
                  </p:cNvCxnSpPr>
                  <p:nvPr/>
                </p:nvCxnSpPr>
                <p:spPr>
                  <a:xfrm>
                    <a:off x="2575333" y="3573014"/>
                    <a:ext cx="104065" cy="0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5" name="直接连接符 494"/>
                  <p:cNvCxnSpPr/>
                  <p:nvPr/>
                </p:nvCxnSpPr>
                <p:spPr>
                  <a:xfrm>
                    <a:off x="2627784" y="3528539"/>
                    <a:ext cx="0" cy="88949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465" name="直接连接符 464"/>
              <p:cNvCxnSpPr/>
              <p:nvPr/>
            </p:nvCxnSpPr>
            <p:spPr>
              <a:xfrm>
                <a:off x="2627784" y="3687902"/>
                <a:ext cx="0" cy="216000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6" name="组合 505"/>
            <p:cNvGrpSpPr/>
            <p:nvPr/>
          </p:nvGrpSpPr>
          <p:grpSpPr>
            <a:xfrm>
              <a:off x="4888345" y="1632437"/>
              <a:ext cx="160665" cy="977182"/>
              <a:chOff x="2546242" y="3303848"/>
              <a:chExt cx="160665" cy="977182"/>
            </a:xfrm>
          </p:grpSpPr>
          <p:grpSp>
            <p:nvGrpSpPr>
              <p:cNvPr id="507" name="组合 506"/>
              <p:cNvGrpSpPr/>
              <p:nvPr/>
            </p:nvGrpSpPr>
            <p:grpSpPr>
              <a:xfrm>
                <a:off x="2548624" y="3303848"/>
                <a:ext cx="158283" cy="367822"/>
                <a:chOff x="2548624" y="3303848"/>
                <a:chExt cx="158283" cy="367822"/>
              </a:xfrm>
            </p:grpSpPr>
            <p:sp>
              <p:nvSpPr>
                <p:cNvPr id="518" name="流程图: 终止 517"/>
                <p:cNvSpPr/>
                <p:nvPr/>
              </p:nvSpPr>
              <p:spPr>
                <a:xfrm rot="5400000">
                  <a:off x="2443855" y="3408617"/>
                  <a:ext cx="367822" cy="158283"/>
                </a:xfrm>
                <a:prstGeom prst="flowChartTerminator">
                  <a:avLst/>
                </a:prstGeom>
                <a:solidFill>
                  <a:srgbClr val="0099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543" name="组合 542"/>
                <p:cNvGrpSpPr/>
                <p:nvPr/>
              </p:nvGrpSpPr>
              <p:grpSpPr>
                <a:xfrm>
                  <a:off x="2581105" y="3353695"/>
                  <a:ext cx="92402" cy="88949"/>
                  <a:chOff x="1993782" y="3190016"/>
                  <a:chExt cx="108575" cy="88949"/>
                </a:xfrm>
              </p:grpSpPr>
              <p:sp>
                <p:nvSpPr>
                  <p:cNvPr id="548" name="椭圆 547"/>
                  <p:cNvSpPr/>
                  <p:nvPr/>
                </p:nvSpPr>
                <p:spPr>
                  <a:xfrm>
                    <a:off x="1993782" y="3190016"/>
                    <a:ext cx="10857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49" name="直接连接符 548"/>
                  <p:cNvCxnSpPr>
                    <a:stCxn id="548" idx="2"/>
                    <a:endCxn id="548" idx="6"/>
                  </p:cNvCxnSpPr>
                  <p:nvPr/>
                </p:nvCxnSpPr>
                <p:spPr>
                  <a:xfrm>
                    <a:off x="1993782" y="3234491"/>
                    <a:ext cx="108575" cy="0"/>
                  </a:xfrm>
                  <a:prstGeom prst="line">
                    <a:avLst/>
                  </a:prstGeom>
                  <a:ln w="12700">
                    <a:solidFill>
                      <a:srgbClr val="00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44" name="组合 543"/>
                <p:cNvGrpSpPr/>
                <p:nvPr/>
              </p:nvGrpSpPr>
              <p:grpSpPr>
                <a:xfrm>
                  <a:off x="2575334" y="3528539"/>
                  <a:ext cx="100666" cy="88949"/>
                  <a:chOff x="2575333" y="3528539"/>
                  <a:chExt cx="104065" cy="88949"/>
                </a:xfrm>
              </p:grpSpPr>
              <p:sp>
                <p:nvSpPr>
                  <p:cNvPr id="545" name="椭圆 544"/>
                  <p:cNvSpPr/>
                  <p:nvPr/>
                </p:nvSpPr>
                <p:spPr>
                  <a:xfrm>
                    <a:off x="2575333" y="3528539"/>
                    <a:ext cx="10406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FF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46" name="直接连接符 545"/>
                  <p:cNvCxnSpPr>
                    <a:stCxn id="545" idx="2"/>
                    <a:endCxn id="545" idx="6"/>
                  </p:cNvCxnSpPr>
                  <p:nvPr/>
                </p:nvCxnSpPr>
                <p:spPr>
                  <a:xfrm>
                    <a:off x="2575333" y="3573014"/>
                    <a:ext cx="104065" cy="0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7" name="直接连接符 546"/>
                  <p:cNvCxnSpPr/>
                  <p:nvPr/>
                </p:nvCxnSpPr>
                <p:spPr>
                  <a:xfrm>
                    <a:off x="2627784" y="3528539"/>
                    <a:ext cx="0" cy="88949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508" name="组合 507"/>
              <p:cNvGrpSpPr/>
              <p:nvPr/>
            </p:nvGrpSpPr>
            <p:grpSpPr>
              <a:xfrm>
                <a:off x="2546242" y="3913208"/>
                <a:ext cx="158283" cy="367822"/>
                <a:chOff x="2548624" y="3303848"/>
                <a:chExt cx="158283" cy="367822"/>
              </a:xfrm>
            </p:grpSpPr>
            <p:sp>
              <p:nvSpPr>
                <p:cNvPr id="510" name="流程图: 终止 509"/>
                <p:cNvSpPr/>
                <p:nvPr/>
              </p:nvSpPr>
              <p:spPr>
                <a:xfrm rot="5400000">
                  <a:off x="2443855" y="3408617"/>
                  <a:ext cx="367822" cy="158283"/>
                </a:xfrm>
                <a:prstGeom prst="flowChartTerminator">
                  <a:avLst/>
                </a:prstGeom>
                <a:solidFill>
                  <a:srgbClr val="0099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511" name="组合 510"/>
                <p:cNvGrpSpPr/>
                <p:nvPr/>
              </p:nvGrpSpPr>
              <p:grpSpPr>
                <a:xfrm>
                  <a:off x="2581105" y="3353695"/>
                  <a:ext cx="92402" cy="88949"/>
                  <a:chOff x="1993782" y="3190016"/>
                  <a:chExt cx="108575" cy="88949"/>
                </a:xfrm>
              </p:grpSpPr>
              <p:sp>
                <p:nvSpPr>
                  <p:cNvPr id="516" name="椭圆 515"/>
                  <p:cNvSpPr/>
                  <p:nvPr/>
                </p:nvSpPr>
                <p:spPr>
                  <a:xfrm>
                    <a:off x="1993782" y="3190016"/>
                    <a:ext cx="10857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17" name="直接连接符 516"/>
                  <p:cNvCxnSpPr>
                    <a:stCxn id="516" idx="2"/>
                    <a:endCxn id="516" idx="6"/>
                  </p:cNvCxnSpPr>
                  <p:nvPr/>
                </p:nvCxnSpPr>
                <p:spPr>
                  <a:xfrm>
                    <a:off x="1993782" y="3234491"/>
                    <a:ext cx="108575" cy="0"/>
                  </a:xfrm>
                  <a:prstGeom prst="line">
                    <a:avLst/>
                  </a:prstGeom>
                  <a:ln w="12700">
                    <a:solidFill>
                      <a:srgbClr val="00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12" name="组合 511"/>
                <p:cNvGrpSpPr/>
                <p:nvPr/>
              </p:nvGrpSpPr>
              <p:grpSpPr>
                <a:xfrm>
                  <a:off x="2575334" y="3528539"/>
                  <a:ext cx="100666" cy="88949"/>
                  <a:chOff x="2575333" y="3528539"/>
                  <a:chExt cx="104065" cy="88949"/>
                </a:xfrm>
              </p:grpSpPr>
              <p:sp>
                <p:nvSpPr>
                  <p:cNvPr id="513" name="椭圆 512"/>
                  <p:cNvSpPr/>
                  <p:nvPr/>
                </p:nvSpPr>
                <p:spPr>
                  <a:xfrm>
                    <a:off x="2575333" y="3528539"/>
                    <a:ext cx="10406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FF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14" name="直接连接符 513"/>
                  <p:cNvCxnSpPr>
                    <a:stCxn id="513" idx="2"/>
                    <a:endCxn id="513" idx="6"/>
                  </p:cNvCxnSpPr>
                  <p:nvPr/>
                </p:nvCxnSpPr>
                <p:spPr>
                  <a:xfrm>
                    <a:off x="2575333" y="3573014"/>
                    <a:ext cx="104065" cy="0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5" name="直接连接符 514"/>
                  <p:cNvCxnSpPr/>
                  <p:nvPr/>
                </p:nvCxnSpPr>
                <p:spPr>
                  <a:xfrm>
                    <a:off x="2627784" y="3528539"/>
                    <a:ext cx="0" cy="88949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509" name="直接连接符 508"/>
              <p:cNvCxnSpPr/>
              <p:nvPr/>
            </p:nvCxnSpPr>
            <p:spPr>
              <a:xfrm>
                <a:off x="2627784" y="3687902"/>
                <a:ext cx="0" cy="216000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0" name="组合 549"/>
            <p:cNvGrpSpPr/>
            <p:nvPr/>
          </p:nvGrpSpPr>
          <p:grpSpPr>
            <a:xfrm>
              <a:off x="5261910" y="1626436"/>
              <a:ext cx="160665" cy="977182"/>
              <a:chOff x="2546242" y="3303848"/>
              <a:chExt cx="160665" cy="977182"/>
            </a:xfrm>
          </p:grpSpPr>
          <p:grpSp>
            <p:nvGrpSpPr>
              <p:cNvPr id="551" name="组合 550"/>
              <p:cNvGrpSpPr/>
              <p:nvPr/>
            </p:nvGrpSpPr>
            <p:grpSpPr>
              <a:xfrm>
                <a:off x="2548624" y="3303848"/>
                <a:ext cx="158283" cy="367822"/>
                <a:chOff x="2548624" y="3303848"/>
                <a:chExt cx="158283" cy="367822"/>
              </a:xfrm>
            </p:grpSpPr>
            <p:sp>
              <p:nvSpPr>
                <p:cNvPr id="562" name="流程图: 终止 561"/>
                <p:cNvSpPr/>
                <p:nvPr/>
              </p:nvSpPr>
              <p:spPr>
                <a:xfrm rot="5400000">
                  <a:off x="2443855" y="3408617"/>
                  <a:ext cx="367822" cy="158283"/>
                </a:xfrm>
                <a:prstGeom prst="flowChartTerminator">
                  <a:avLst/>
                </a:prstGeom>
                <a:solidFill>
                  <a:srgbClr val="0099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563" name="组合 562"/>
                <p:cNvGrpSpPr/>
                <p:nvPr/>
              </p:nvGrpSpPr>
              <p:grpSpPr>
                <a:xfrm>
                  <a:off x="2581105" y="3353695"/>
                  <a:ext cx="92402" cy="88949"/>
                  <a:chOff x="1993782" y="3190016"/>
                  <a:chExt cx="108575" cy="88949"/>
                </a:xfrm>
              </p:grpSpPr>
              <p:sp>
                <p:nvSpPr>
                  <p:cNvPr id="644" name="椭圆 643"/>
                  <p:cNvSpPr/>
                  <p:nvPr/>
                </p:nvSpPr>
                <p:spPr>
                  <a:xfrm>
                    <a:off x="1993782" y="3190016"/>
                    <a:ext cx="10857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645" name="直接连接符 644"/>
                  <p:cNvCxnSpPr>
                    <a:stCxn id="644" idx="2"/>
                    <a:endCxn id="644" idx="6"/>
                  </p:cNvCxnSpPr>
                  <p:nvPr/>
                </p:nvCxnSpPr>
                <p:spPr>
                  <a:xfrm>
                    <a:off x="1993782" y="3234491"/>
                    <a:ext cx="108575" cy="0"/>
                  </a:xfrm>
                  <a:prstGeom prst="line">
                    <a:avLst/>
                  </a:prstGeom>
                  <a:ln w="12700">
                    <a:solidFill>
                      <a:srgbClr val="00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64" name="组合 563"/>
                <p:cNvGrpSpPr/>
                <p:nvPr/>
              </p:nvGrpSpPr>
              <p:grpSpPr>
                <a:xfrm>
                  <a:off x="2575334" y="3528539"/>
                  <a:ext cx="100666" cy="88949"/>
                  <a:chOff x="2575333" y="3528539"/>
                  <a:chExt cx="104065" cy="88949"/>
                </a:xfrm>
              </p:grpSpPr>
              <p:sp>
                <p:nvSpPr>
                  <p:cNvPr id="565" name="椭圆 564"/>
                  <p:cNvSpPr/>
                  <p:nvPr/>
                </p:nvSpPr>
                <p:spPr>
                  <a:xfrm>
                    <a:off x="2575333" y="3528539"/>
                    <a:ext cx="10406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FF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66" name="直接连接符 565"/>
                  <p:cNvCxnSpPr>
                    <a:stCxn id="565" idx="2"/>
                    <a:endCxn id="565" idx="6"/>
                  </p:cNvCxnSpPr>
                  <p:nvPr/>
                </p:nvCxnSpPr>
                <p:spPr>
                  <a:xfrm>
                    <a:off x="2575333" y="3573014"/>
                    <a:ext cx="104065" cy="0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3" name="直接连接符 642"/>
                  <p:cNvCxnSpPr/>
                  <p:nvPr/>
                </p:nvCxnSpPr>
                <p:spPr>
                  <a:xfrm>
                    <a:off x="2627784" y="3528539"/>
                    <a:ext cx="0" cy="88949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552" name="组合 551"/>
              <p:cNvGrpSpPr/>
              <p:nvPr/>
            </p:nvGrpSpPr>
            <p:grpSpPr>
              <a:xfrm>
                <a:off x="2546242" y="3913208"/>
                <a:ext cx="158283" cy="367822"/>
                <a:chOff x="2548624" y="3303848"/>
                <a:chExt cx="158283" cy="367822"/>
              </a:xfrm>
            </p:grpSpPr>
            <p:sp>
              <p:nvSpPr>
                <p:cNvPr id="554" name="流程图: 终止 553"/>
                <p:cNvSpPr/>
                <p:nvPr/>
              </p:nvSpPr>
              <p:spPr>
                <a:xfrm rot="5400000">
                  <a:off x="2443855" y="3408617"/>
                  <a:ext cx="367822" cy="158283"/>
                </a:xfrm>
                <a:prstGeom prst="flowChartTerminator">
                  <a:avLst/>
                </a:prstGeom>
                <a:solidFill>
                  <a:srgbClr val="0099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555" name="组合 554"/>
                <p:cNvGrpSpPr/>
                <p:nvPr/>
              </p:nvGrpSpPr>
              <p:grpSpPr>
                <a:xfrm>
                  <a:off x="2581105" y="3353695"/>
                  <a:ext cx="92402" cy="88949"/>
                  <a:chOff x="1993782" y="3190016"/>
                  <a:chExt cx="108575" cy="88949"/>
                </a:xfrm>
              </p:grpSpPr>
              <p:sp>
                <p:nvSpPr>
                  <p:cNvPr id="560" name="椭圆 559"/>
                  <p:cNvSpPr/>
                  <p:nvPr/>
                </p:nvSpPr>
                <p:spPr>
                  <a:xfrm>
                    <a:off x="1993782" y="3190016"/>
                    <a:ext cx="10857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61" name="直接连接符 560"/>
                  <p:cNvCxnSpPr>
                    <a:stCxn id="560" idx="2"/>
                    <a:endCxn id="560" idx="6"/>
                  </p:cNvCxnSpPr>
                  <p:nvPr/>
                </p:nvCxnSpPr>
                <p:spPr>
                  <a:xfrm>
                    <a:off x="1993782" y="3234491"/>
                    <a:ext cx="108575" cy="0"/>
                  </a:xfrm>
                  <a:prstGeom prst="line">
                    <a:avLst/>
                  </a:prstGeom>
                  <a:ln w="12700">
                    <a:solidFill>
                      <a:srgbClr val="00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56" name="组合 555"/>
                <p:cNvGrpSpPr/>
                <p:nvPr/>
              </p:nvGrpSpPr>
              <p:grpSpPr>
                <a:xfrm>
                  <a:off x="2575334" y="3528539"/>
                  <a:ext cx="100666" cy="88949"/>
                  <a:chOff x="2575333" y="3528539"/>
                  <a:chExt cx="104065" cy="88949"/>
                </a:xfrm>
              </p:grpSpPr>
              <p:sp>
                <p:nvSpPr>
                  <p:cNvPr id="557" name="椭圆 556"/>
                  <p:cNvSpPr/>
                  <p:nvPr/>
                </p:nvSpPr>
                <p:spPr>
                  <a:xfrm>
                    <a:off x="2575333" y="3528539"/>
                    <a:ext cx="10406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FF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58" name="直接连接符 557"/>
                  <p:cNvCxnSpPr>
                    <a:stCxn id="557" idx="2"/>
                    <a:endCxn id="557" idx="6"/>
                  </p:cNvCxnSpPr>
                  <p:nvPr/>
                </p:nvCxnSpPr>
                <p:spPr>
                  <a:xfrm>
                    <a:off x="2575333" y="3573014"/>
                    <a:ext cx="104065" cy="0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9" name="直接连接符 558"/>
                  <p:cNvCxnSpPr/>
                  <p:nvPr/>
                </p:nvCxnSpPr>
                <p:spPr>
                  <a:xfrm>
                    <a:off x="2627784" y="3528539"/>
                    <a:ext cx="0" cy="88949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553" name="直接连接符 552"/>
              <p:cNvCxnSpPr/>
              <p:nvPr/>
            </p:nvCxnSpPr>
            <p:spPr>
              <a:xfrm>
                <a:off x="2627784" y="3687902"/>
                <a:ext cx="0" cy="216000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53" name="矩形 652"/>
          <p:cNvSpPr/>
          <p:nvPr/>
        </p:nvSpPr>
        <p:spPr>
          <a:xfrm>
            <a:off x="6453942" y="1633888"/>
            <a:ext cx="1800000" cy="10078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54" name="组合 653"/>
          <p:cNvGrpSpPr/>
          <p:nvPr/>
        </p:nvGrpSpPr>
        <p:grpSpPr>
          <a:xfrm>
            <a:off x="6896932" y="1647468"/>
            <a:ext cx="160665" cy="977182"/>
            <a:chOff x="2546242" y="3303848"/>
            <a:chExt cx="160665" cy="977182"/>
          </a:xfrm>
        </p:grpSpPr>
        <p:grpSp>
          <p:nvGrpSpPr>
            <p:cNvPr id="655" name="组合 654"/>
            <p:cNvGrpSpPr/>
            <p:nvPr/>
          </p:nvGrpSpPr>
          <p:grpSpPr>
            <a:xfrm>
              <a:off x="2548624" y="3303848"/>
              <a:ext cx="158283" cy="367822"/>
              <a:chOff x="2548624" y="3303848"/>
              <a:chExt cx="158283" cy="367822"/>
            </a:xfrm>
          </p:grpSpPr>
          <p:sp>
            <p:nvSpPr>
              <p:cNvPr id="666" name="流程图: 终止 665"/>
              <p:cNvSpPr/>
              <p:nvPr/>
            </p:nvSpPr>
            <p:spPr>
              <a:xfrm rot="5400000">
                <a:off x="2443855" y="3408617"/>
                <a:ext cx="367822" cy="158283"/>
              </a:xfrm>
              <a:prstGeom prst="flowChartTerminator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67" name="组合 666"/>
              <p:cNvGrpSpPr/>
              <p:nvPr/>
            </p:nvGrpSpPr>
            <p:grpSpPr>
              <a:xfrm>
                <a:off x="2581105" y="3353695"/>
                <a:ext cx="92402" cy="88949"/>
                <a:chOff x="1993782" y="3190016"/>
                <a:chExt cx="108575" cy="88949"/>
              </a:xfrm>
            </p:grpSpPr>
            <p:sp>
              <p:nvSpPr>
                <p:cNvPr id="672" name="椭圆 671"/>
                <p:cNvSpPr/>
                <p:nvPr/>
              </p:nvSpPr>
              <p:spPr>
                <a:xfrm>
                  <a:off x="1993782" y="3190016"/>
                  <a:ext cx="108575" cy="8894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0066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673" name="直接连接符 672"/>
                <p:cNvCxnSpPr>
                  <a:stCxn id="672" idx="2"/>
                  <a:endCxn id="672" idx="6"/>
                </p:cNvCxnSpPr>
                <p:nvPr/>
              </p:nvCxnSpPr>
              <p:spPr>
                <a:xfrm>
                  <a:off x="1993782" y="3234491"/>
                  <a:ext cx="108575" cy="0"/>
                </a:xfrm>
                <a:prstGeom prst="line">
                  <a:avLst/>
                </a:prstGeom>
                <a:ln w="12700">
                  <a:solidFill>
                    <a:srgbClr val="00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68" name="组合 667"/>
              <p:cNvGrpSpPr/>
              <p:nvPr/>
            </p:nvGrpSpPr>
            <p:grpSpPr>
              <a:xfrm>
                <a:off x="2575334" y="3528539"/>
                <a:ext cx="100666" cy="88949"/>
                <a:chOff x="2575333" y="3528539"/>
                <a:chExt cx="104065" cy="88949"/>
              </a:xfrm>
            </p:grpSpPr>
            <p:sp>
              <p:nvSpPr>
                <p:cNvPr id="669" name="椭圆 668"/>
                <p:cNvSpPr/>
                <p:nvPr/>
              </p:nvSpPr>
              <p:spPr>
                <a:xfrm>
                  <a:off x="2575333" y="3528539"/>
                  <a:ext cx="104065" cy="8894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FF66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670" name="直接连接符 669"/>
                <p:cNvCxnSpPr>
                  <a:stCxn id="669" idx="2"/>
                  <a:endCxn id="669" idx="6"/>
                </p:cNvCxnSpPr>
                <p:nvPr/>
              </p:nvCxnSpPr>
              <p:spPr>
                <a:xfrm>
                  <a:off x="2575333" y="3573014"/>
                  <a:ext cx="104065" cy="0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1" name="直接连接符 670"/>
                <p:cNvCxnSpPr/>
                <p:nvPr/>
              </p:nvCxnSpPr>
              <p:spPr>
                <a:xfrm>
                  <a:off x="2627784" y="3528539"/>
                  <a:ext cx="0" cy="88949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56" name="组合 655"/>
            <p:cNvGrpSpPr/>
            <p:nvPr/>
          </p:nvGrpSpPr>
          <p:grpSpPr>
            <a:xfrm>
              <a:off x="2546242" y="3913208"/>
              <a:ext cx="158283" cy="367822"/>
              <a:chOff x="2548624" y="3303848"/>
              <a:chExt cx="158283" cy="367822"/>
            </a:xfrm>
          </p:grpSpPr>
          <p:sp>
            <p:nvSpPr>
              <p:cNvPr id="658" name="流程图: 终止 657"/>
              <p:cNvSpPr/>
              <p:nvPr/>
            </p:nvSpPr>
            <p:spPr>
              <a:xfrm rot="5400000">
                <a:off x="2443855" y="3408617"/>
                <a:ext cx="367822" cy="158283"/>
              </a:xfrm>
              <a:prstGeom prst="flowChartTerminator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59" name="组合 658"/>
              <p:cNvGrpSpPr/>
              <p:nvPr/>
            </p:nvGrpSpPr>
            <p:grpSpPr>
              <a:xfrm>
                <a:off x="2581105" y="3353695"/>
                <a:ext cx="92402" cy="88949"/>
                <a:chOff x="1993782" y="3190016"/>
                <a:chExt cx="108575" cy="88949"/>
              </a:xfrm>
            </p:grpSpPr>
            <p:sp>
              <p:nvSpPr>
                <p:cNvPr id="664" name="椭圆 663"/>
                <p:cNvSpPr/>
                <p:nvPr/>
              </p:nvSpPr>
              <p:spPr>
                <a:xfrm>
                  <a:off x="1993782" y="3190016"/>
                  <a:ext cx="108575" cy="8894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0066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665" name="直接连接符 664"/>
                <p:cNvCxnSpPr>
                  <a:stCxn id="664" idx="2"/>
                  <a:endCxn id="664" idx="6"/>
                </p:cNvCxnSpPr>
                <p:nvPr/>
              </p:nvCxnSpPr>
              <p:spPr>
                <a:xfrm>
                  <a:off x="1993782" y="3234491"/>
                  <a:ext cx="108575" cy="0"/>
                </a:xfrm>
                <a:prstGeom prst="line">
                  <a:avLst/>
                </a:prstGeom>
                <a:ln w="12700">
                  <a:solidFill>
                    <a:srgbClr val="00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60" name="组合 659"/>
              <p:cNvGrpSpPr/>
              <p:nvPr/>
            </p:nvGrpSpPr>
            <p:grpSpPr>
              <a:xfrm>
                <a:off x="2575334" y="3528539"/>
                <a:ext cx="100666" cy="88949"/>
                <a:chOff x="2575333" y="3528539"/>
                <a:chExt cx="104065" cy="88949"/>
              </a:xfrm>
            </p:grpSpPr>
            <p:sp>
              <p:nvSpPr>
                <p:cNvPr id="661" name="椭圆 660"/>
                <p:cNvSpPr/>
                <p:nvPr/>
              </p:nvSpPr>
              <p:spPr>
                <a:xfrm>
                  <a:off x="2575333" y="3528539"/>
                  <a:ext cx="104065" cy="8894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FF66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662" name="直接连接符 661"/>
                <p:cNvCxnSpPr>
                  <a:stCxn id="661" idx="2"/>
                  <a:endCxn id="661" idx="6"/>
                </p:cNvCxnSpPr>
                <p:nvPr/>
              </p:nvCxnSpPr>
              <p:spPr>
                <a:xfrm>
                  <a:off x="2575333" y="3573014"/>
                  <a:ext cx="104065" cy="0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3" name="直接连接符 662"/>
                <p:cNvCxnSpPr/>
                <p:nvPr/>
              </p:nvCxnSpPr>
              <p:spPr>
                <a:xfrm>
                  <a:off x="2627784" y="3528539"/>
                  <a:ext cx="0" cy="88949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57" name="直接连接符 656"/>
            <p:cNvCxnSpPr/>
            <p:nvPr/>
          </p:nvCxnSpPr>
          <p:spPr>
            <a:xfrm>
              <a:off x="2627784" y="3687902"/>
              <a:ext cx="0" cy="21600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4" name="组合 673"/>
          <p:cNvGrpSpPr/>
          <p:nvPr/>
        </p:nvGrpSpPr>
        <p:grpSpPr>
          <a:xfrm>
            <a:off x="6556306" y="1652709"/>
            <a:ext cx="160665" cy="977182"/>
            <a:chOff x="2546242" y="3303848"/>
            <a:chExt cx="160665" cy="977182"/>
          </a:xfrm>
        </p:grpSpPr>
        <p:grpSp>
          <p:nvGrpSpPr>
            <p:cNvPr id="675" name="组合 674"/>
            <p:cNvGrpSpPr/>
            <p:nvPr/>
          </p:nvGrpSpPr>
          <p:grpSpPr>
            <a:xfrm>
              <a:off x="2548624" y="3303848"/>
              <a:ext cx="158283" cy="367822"/>
              <a:chOff x="2548624" y="3303848"/>
              <a:chExt cx="158283" cy="367822"/>
            </a:xfrm>
          </p:grpSpPr>
          <p:sp>
            <p:nvSpPr>
              <p:cNvPr id="686" name="流程图: 终止 685"/>
              <p:cNvSpPr/>
              <p:nvPr/>
            </p:nvSpPr>
            <p:spPr>
              <a:xfrm rot="5400000">
                <a:off x="2443855" y="3408617"/>
                <a:ext cx="367822" cy="158283"/>
              </a:xfrm>
              <a:prstGeom prst="flowChartTerminator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87" name="组合 686"/>
              <p:cNvGrpSpPr/>
              <p:nvPr/>
            </p:nvGrpSpPr>
            <p:grpSpPr>
              <a:xfrm>
                <a:off x="2581105" y="3353695"/>
                <a:ext cx="92402" cy="88949"/>
                <a:chOff x="1993782" y="3190016"/>
                <a:chExt cx="108575" cy="88949"/>
              </a:xfrm>
            </p:grpSpPr>
            <p:sp>
              <p:nvSpPr>
                <p:cNvPr id="692" name="椭圆 691"/>
                <p:cNvSpPr/>
                <p:nvPr/>
              </p:nvSpPr>
              <p:spPr>
                <a:xfrm>
                  <a:off x="1993782" y="3190016"/>
                  <a:ext cx="108575" cy="8894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0066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693" name="直接连接符 692"/>
                <p:cNvCxnSpPr>
                  <a:stCxn id="692" idx="2"/>
                  <a:endCxn id="692" idx="6"/>
                </p:cNvCxnSpPr>
                <p:nvPr/>
              </p:nvCxnSpPr>
              <p:spPr>
                <a:xfrm>
                  <a:off x="1993782" y="3234491"/>
                  <a:ext cx="108575" cy="0"/>
                </a:xfrm>
                <a:prstGeom prst="line">
                  <a:avLst/>
                </a:prstGeom>
                <a:ln w="12700">
                  <a:solidFill>
                    <a:srgbClr val="00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88" name="组合 687"/>
              <p:cNvGrpSpPr/>
              <p:nvPr/>
            </p:nvGrpSpPr>
            <p:grpSpPr>
              <a:xfrm>
                <a:off x="2575334" y="3528539"/>
                <a:ext cx="100666" cy="88949"/>
                <a:chOff x="2575333" y="3528539"/>
                <a:chExt cx="104065" cy="88949"/>
              </a:xfrm>
            </p:grpSpPr>
            <p:sp>
              <p:nvSpPr>
                <p:cNvPr id="689" name="椭圆 688"/>
                <p:cNvSpPr/>
                <p:nvPr/>
              </p:nvSpPr>
              <p:spPr>
                <a:xfrm>
                  <a:off x="2575333" y="3528539"/>
                  <a:ext cx="104065" cy="8894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FF66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690" name="直接连接符 689"/>
                <p:cNvCxnSpPr>
                  <a:stCxn id="689" idx="2"/>
                  <a:endCxn id="689" idx="6"/>
                </p:cNvCxnSpPr>
                <p:nvPr/>
              </p:nvCxnSpPr>
              <p:spPr>
                <a:xfrm>
                  <a:off x="2575333" y="3573014"/>
                  <a:ext cx="104065" cy="0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1" name="直接连接符 690"/>
                <p:cNvCxnSpPr/>
                <p:nvPr/>
              </p:nvCxnSpPr>
              <p:spPr>
                <a:xfrm>
                  <a:off x="2627784" y="3528539"/>
                  <a:ext cx="0" cy="88949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76" name="组合 675"/>
            <p:cNvGrpSpPr/>
            <p:nvPr/>
          </p:nvGrpSpPr>
          <p:grpSpPr>
            <a:xfrm>
              <a:off x="2546242" y="3913208"/>
              <a:ext cx="158283" cy="367822"/>
              <a:chOff x="2548624" y="3303848"/>
              <a:chExt cx="158283" cy="367822"/>
            </a:xfrm>
          </p:grpSpPr>
          <p:sp>
            <p:nvSpPr>
              <p:cNvPr id="678" name="流程图: 终止 677"/>
              <p:cNvSpPr/>
              <p:nvPr/>
            </p:nvSpPr>
            <p:spPr>
              <a:xfrm rot="5400000">
                <a:off x="2443855" y="3408617"/>
                <a:ext cx="367822" cy="158283"/>
              </a:xfrm>
              <a:prstGeom prst="flowChartTerminator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79" name="组合 678"/>
              <p:cNvGrpSpPr/>
              <p:nvPr/>
            </p:nvGrpSpPr>
            <p:grpSpPr>
              <a:xfrm>
                <a:off x="2581105" y="3353695"/>
                <a:ext cx="92402" cy="88949"/>
                <a:chOff x="1993782" y="3190016"/>
                <a:chExt cx="108575" cy="88949"/>
              </a:xfrm>
            </p:grpSpPr>
            <p:sp>
              <p:nvSpPr>
                <p:cNvPr id="684" name="椭圆 683"/>
                <p:cNvSpPr/>
                <p:nvPr/>
              </p:nvSpPr>
              <p:spPr>
                <a:xfrm>
                  <a:off x="1993782" y="3190016"/>
                  <a:ext cx="108575" cy="8894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0066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685" name="直接连接符 684"/>
                <p:cNvCxnSpPr>
                  <a:stCxn id="684" idx="2"/>
                  <a:endCxn id="684" idx="6"/>
                </p:cNvCxnSpPr>
                <p:nvPr/>
              </p:nvCxnSpPr>
              <p:spPr>
                <a:xfrm>
                  <a:off x="1993782" y="3234491"/>
                  <a:ext cx="108575" cy="0"/>
                </a:xfrm>
                <a:prstGeom prst="line">
                  <a:avLst/>
                </a:prstGeom>
                <a:ln w="12700">
                  <a:solidFill>
                    <a:srgbClr val="00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80" name="组合 679"/>
              <p:cNvGrpSpPr/>
              <p:nvPr/>
            </p:nvGrpSpPr>
            <p:grpSpPr>
              <a:xfrm>
                <a:off x="2575334" y="3528539"/>
                <a:ext cx="100666" cy="88949"/>
                <a:chOff x="2575333" y="3528539"/>
                <a:chExt cx="104065" cy="88949"/>
              </a:xfrm>
            </p:grpSpPr>
            <p:sp>
              <p:nvSpPr>
                <p:cNvPr id="681" name="椭圆 680"/>
                <p:cNvSpPr/>
                <p:nvPr/>
              </p:nvSpPr>
              <p:spPr>
                <a:xfrm>
                  <a:off x="2575333" y="3528539"/>
                  <a:ext cx="104065" cy="8894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FF66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682" name="直接连接符 681"/>
                <p:cNvCxnSpPr>
                  <a:stCxn id="681" idx="2"/>
                  <a:endCxn id="681" idx="6"/>
                </p:cNvCxnSpPr>
                <p:nvPr/>
              </p:nvCxnSpPr>
              <p:spPr>
                <a:xfrm>
                  <a:off x="2575333" y="3573014"/>
                  <a:ext cx="104065" cy="0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3" name="直接连接符 682"/>
                <p:cNvCxnSpPr/>
                <p:nvPr/>
              </p:nvCxnSpPr>
              <p:spPr>
                <a:xfrm>
                  <a:off x="2627784" y="3528539"/>
                  <a:ext cx="0" cy="88949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77" name="直接连接符 676"/>
            <p:cNvCxnSpPr/>
            <p:nvPr/>
          </p:nvCxnSpPr>
          <p:spPr>
            <a:xfrm>
              <a:off x="2627784" y="3687902"/>
              <a:ext cx="0" cy="21600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4" name="组合 693"/>
          <p:cNvGrpSpPr/>
          <p:nvPr/>
        </p:nvGrpSpPr>
        <p:grpSpPr>
          <a:xfrm>
            <a:off x="7275764" y="1648072"/>
            <a:ext cx="160665" cy="977182"/>
            <a:chOff x="2546242" y="3303848"/>
            <a:chExt cx="160665" cy="977182"/>
          </a:xfrm>
        </p:grpSpPr>
        <p:grpSp>
          <p:nvGrpSpPr>
            <p:cNvPr id="695" name="组合 694"/>
            <p:cNvGrpSpPr/>
            <p:nvPr/>
          </p:nvGrpSpPr>
          <p:grpSpPr>
            <a:xfrm>
              <a:off x="2548624" y="3303848"/>
              <a:ext cx="158283" cy="367822"/>
              <a:chOff x="2548624" y="3303848"/>
              <a:chExt cx="158283" cy="367822"/>
            </a:xfrm>
          </p:grpSpPr>
          <p:sp>
            <p:nvSpPr>
              <p:cNvPr id="706" name="流程图: 终止 705"/>
              <p:cNvSpPr/>
              <p:nvPr/>
            </p:nvSpPr>
            <p:spPr>
              <a:xfrm rot="5400000">
                <a:off x="2443855" y="3408617"/>
                <a:ext cx="367822" cy="158283"/>
              </a:xfrm>
              <a:prstGeom prst="flowChartTerminator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07" name="组合 706"/>
              <p:cNvGrpSpPr/>
              <p:nvPr/>
            </p:nvGrpSpPr>
            <p:grpSpPr>
              <a:xfrm>
                <a:off x="2581105" y="3353695"/>
                <a:ext cx="92402" cy="88949"/>
                <a:chOff x="1993782" y="3190016"/>
                <a:chExt cx="108575" cy="88949"/>
              </a:xfrm>
            </p:grpSpPr>
            <p:sp>
              <p:nvSpPr>
                <p:cNvPr id="712" name="椭圆 711"/>
                <p:cNvSpPr/>
                <p:nvPr/>
              </p:nvSpPr>
              <p:spPr>
                <a:xfrm>
                  <a:off x="1993782" y="3190016"/>
                  <a:ext cx="108575" cy="8894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0066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13" name="直接连接符 712"/>
                <p:cNvCxnSpPr>
                  <a:stCxn id="712" idx="2"/>
                  <a:endCxn id="712" idx="6"/>
                </p:cNvCxnSpPr>
                <p:nvPr/>
              </p:nvCxnSpPr>
              <p:spPr>
                <a:xfrm>
                  <a:off x="1993782" y="3234491"/>
                  <a:ext cx="108575" cy="0"/>
                </a:xfrm>
                <a:prstGeom prst="line">
                  <a:avLst/>
                </a:prstGeom>
                <a:ln w="12700">
                  <a:solidFill>
                    <a:srgbClr val="00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08" name="组合 707"/>
              <p:cNvGrpSpPr/>
              <p:nvPr/>
            </p:nvGrpSpPr>
            <p:grpSpPr>
              <a:xfrm>
                <a:off x="2575334" y="3528539"/>
                <a:ext cx="100666" cy="88949"/>
                <a:chOff x="2575333" y="3528539"/>
                <a:chExt cx="104065" cy="88949"/>
              </a:xfrm>
            </p:grpSpPr>
            <p:sp>
              <p:nvSpPr>
                <p:cNvPr id="709" name="椭圆 708"/>
                <p:cNvSpPr/>
                <p:nvPr/>
              </p:nvSpPr>
              <p:spPr>
                <a:xfrm>
                  <a:off x="2575333" y="3528539"/>
                  <a:ext cx="104065" cy="8894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FF66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10" name="直接连接符 709"/>
                <p:cNvCxnSpPr>
                  <a:stCxn id="709" idx="2"/>
                  <a:endCxn id="709" idx="6"/>
                </p:cNvCxnSpPr>
                <p:nvPr/>
              </p:nvCxnSpPr>
              <p:spPr>
                <a:xfrm>
                  <a:off x="2575333" y="3573014"/>
                  <a:ext cx="104065" cy="0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1" name="直接连接符 710"/>
                <p:cNvCxnSpPr/>
                <p:nvPr/>
              </p:nvCxnSpPr>
              <p:spPr>
                <a:xfrm>
                  <a:off x="2627784" y="3528539"/>
                  <a:ext cx="0" cy="88949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96" name="组合 695"/>
            <p:cNvGrpSpPr/>
            <p:nvPr/>
          </p:nvGrpSpPr>
          <p:grpSpPr>
            <a:xfrm>
              <a:off x="2546242" y="3913208"/>
              <a:ext cx="158283" cy="367822"/>
              <a:chOff x="2548624" y="3303848"/>
              <a:chExt cx="158283" cy="367822"/>
            </a:xfrm>
          </p:grpSpPr>
          <p:sp>
            <p:nvSpPr>
              <p:cNvPr id="698" name="流程图: 终止 697"/>
              <p:cNvSpPr/>
              <p:nvPr/>
            </p:nvSpPr>
            <p:spPr>
              <a:xfrm rot="5400000">
                <a:off x="2443855" y="3408617"/>
                <a:ext cx="367822" cy="158283"/>
              </a:xfrm>
              <a:prstGeom prst="flowChartTerminator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99" name="组合 698"/>
              <p:cNvGrpSpPr/>
              <p:nvPr/>
            </p:nvGrpSpPr>
            <p:grpSpPr>
              <a:xfrm>
                <a:off x="2581105" y="3353695"/>
                <a:ext cx="92402" cy="88949"/>
                <a:chOff x="1993782" y="3190016"/>
                <a:chExt cx="108575" cy="88949"/>
              </a:xfrm>
            </p:grpSpPr>
            <p:sp>
              <p:nvSpPr>
                <p:cNvPr id="704" name="椭圆 703"/>
                <p:cNvSpPr/>
                <p:nvPr/>
              </p:nvSpPr>
              <p:spPr>
                <a:xfrm>
                  <a:off x="1993782" y="3190016"/>
                  <a:ext cx="108575" cy="8894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0066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05" name="直接连接符 704"/>
                <p:cNvCxnSpPr>
                  <a:stCxn id="704" idx="2"/>
                  <a:endCxn id="704" idx="6"/>
                </p:cNvCxnSpPr>
                <p:nvPr/>
              </p:nvCxnSpPr>
              <p:spPr>
                <a:xfrm>
                  <a:off x="1993782" y="3234491"/>
                  <a:ext cx="108575" cy="0"/>
                </a:xfrm>
                <a:prstGeom prst="line">
                  <a:avLst/>
                </a:prstGeom>
                <a:ln w="12700">
                  <a:solidFill>
                    <a:srgbClr val="00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00" name="组合 699"/>
              <p:cNvGrpSpPr/>
              <p:nvPr/>
            </p:nvGrpSpPr>
            <p:grpSpPr>
              <a:xfrm>
                <a:off x="2575334" y="3528539"/>
                <a:ext cx="100666" cy="88949"/>
                <a:chOff x="2575333" y="3528539"/>
                <a:chExt cx="104065" cy="88949"/>
              </a:xfrm>
            </p:grpSpPr>
            <p:sp>
              <p:nvSpPr>
                <p:cNvPr id="701" name="椭圆 700"/>
                <p:cNvSpPr/>
                <p:nvPr/>
              </p:nvSpPr>
              <p:spPr>
                <a:xfrm>
                  <a:off x="2575333" y="3528539"/>
                  <a:ext cx="104065" cy="8894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FF66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02" name="直接连接符 701"/>
                <p:cNvCxnSpPr>
                  <a:stCxn id="701" idx="2"/>
                  <a:endCxn id="701" idx="6"/>
                </p:cNvCxnSpPr>
                <p:nvPr/>
              </p:nvCxnSpPr>
              <p:spPr>
                <a:xfrm>
                  <a:off x="2575333" y="3573014"/>
                  <a:ext cx="104065" cy="0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3" name="直接连接符 702"/>
                <p:cNvCxnSpPr/>
                <p:nvPr/>
              </p:nvCxnSpPr>
              <p:spPr>
                <a:xfrm>
                  <a:off x="2627784" y="3528539"/>
                  <a:ext cx="0" cy="88949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97" name="直接连接符 696"/>
            <p:cNvCxnSpPr/>
            <p:nvPr/>
          </p:nvCxnSpPr>
          <p:spPr>
            <a:xfrm>
              <a:off x="2627784" y="3687902"/>
              <a:ext cx="0" cy="21600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4" name="组合 713"/>
          <p:cNvGrpSpPr/>
          <p:nvPr/>
        </p:nvGrpSpPr>
        <p:grpSpPr>
          <a:xfrm>
            <a:off x="7618772" y="1646608"/>
            <a:ext cx="160665" cy="977182"/>
            <a:chOff x="2546242" y="3303848"/>
            <a:chExt cx="160665" cy="977182"/>
          </a:xfrm>
        </p:grpSpPr>
        <p:grpSp>
          <p:nvGrpSpPr>
            <p:cNvPr id="715" name="组合 714"/>
            <p:cNvGrpSpPr/>
            <p:nvPr/>
          </p:nvGrpSpPr>
          <p:grpSpPr>
            <a:xfrm>
              <a:off x="2548624" y="3303848"/>
              <a:ext cx="158283" cy="367822"/>
              <a:chOff x="2548624" y="3303848"/>
              <a:chExt cx="158283" cy="367822"/>
            </a:xfrm>
          </p:grpSpPr>
          <p:sp>
            <p:nvSpPr>
              <p:cNvPr id="726" name="流程图: 终止 725"/>
              <p:cNvSpPr/>
              <p:nvPr/>
            </p:nvSpPr>
            <p:spPr>
              <a:xfrm rot="5400000">
                <a:off x="2443855" y="3408617"/>
                <a:ext cx="367822" cy="158283"/>
              </a:xfrm>
              <a:prstGeom prst="flowChartTerminator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27" name="组合 726"/>
              <p:cNvGrpSpPr/>
              <p:nvPr/>
            </p:nvGrpSpPr>
            <p:grpSpPr>
              <a:xfrm>
                <a:off x="2581105" y="3353695"/>
                <a:ext cx="92402" cy="88949"/>
                <a:chOff x="1993782" y="3190016"/>
                <a:chExt cx="108575" cy="88949"/>
              </a:xfrm>
            </p:grpSpPr>
            <p:sp>
              <p:nvSpPr>
                <p:cNvPr id="732" name="椭圆 731"/>
                <p:cNvSpPr/>
                <p:nvPr/>
              </p:nvSpPr>
              <p:spPr>
                <a:xfrm>
                  <a:off x="1993782" y="3190016"/>
                  <a:ext cx="108575" cy="8894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0066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33" name="直接连接符 732"/>
                <p:cNvCxnSpPr>
                  <a:stCxn id="732" idx="2"/>
                  <a:endCxn id="732" idx="6"/>
                </p:cNvCxnSpPr>
                <p:nvPr/>
              </p:nvCxnSpPr>
              <p:spPr>
                <a:xfrm>
                  <a:off x="1993782" y="3234491"/>
                  <a:ext cx="108575" cy="0"/>
                </a:xfrm>
                <a:prstGeom prst="line">
                  <a:avLst/>
                </a:prstGeom>
                <a:ln w="12700">
                  <a:solidFill>
                    <a:srgbClr val="00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28" name="组合 727"/>
              <p:cNvGrpSpPr/>
              <p:nvPr/>
            </p:nvGrpSpPr>
            <p:grpSpPr>
              <a:xfrm>
                <a:off x="2575334" y="3528539"/>
                <a:ext cx="100666" cy="88949"/>
                <a:chOff x="2575333" y="3528539"/>
                <a:chExt cx="104065" cy="88949"/>
              </a:xfrm>
            </p:grpSpPr>
            <p:sp>
              <p:nvSpPr>
                <p:cNvPr id="729" name="椭圆 728"/>
                <p:cNvSpPr/>
                <p:nvPr/>
              </p:nvSpPr>
              <p:spPr>
                <a:xfrm>
                  <a:off x="2575333" y="3528539"/>
                  <a:ext cx="104065" cy="8894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FF66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30" name="直接连接符 729"/>
                <p:cNvCxnSpPr>
                  <a:stCxn id="729" idx="2"/>
                  <a:endCxn id="729" idx="6"/>
                </p:cNvCxnSpPr>
                <p:nvPr/>
              </p:nvCxnSpPr>
              <p:spPr>
                <a:xfrm>
                  <a:off x="2575333" y="3573014"/>
                  <a:ext cx="104065" cy="0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1" name="直接连接符 730"/>
                <p:cNvCxnSpPr/>
                <p:nvPr/>
              </p:nvCxnSpPr>
              <p:spPr>
                <a:xfrm>
                  <a:off x="2627784" y="3528539"/>
                  <a:ext cx="0" cy="88949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16" name="组合 715"/>
            <p:cNvGrpSpPr/>
            <p:nvPr/>
          </p:nvGrpSpPr>
          <p:grpSpPr>
            <a:xfrm>
              <a:off x="2546242" y="3913208"/>
              <a:ext cx="158283" cy="367822"/>
              <a:chOff x="2548624" y="3303848"/>
              <a:chExt cx="158283" cy="367822"/>
            </a:xfrm>
          </p:grpSpPr>
          <p:sp>
            <p:nvSpPr>
              <p:cNvPr id="718" name="流程图: 终止 717"/>
              <p:cNvSpPr/>
              <p:nvPr/>
            </p:nvSpPr>
            <p:spPr>
              <a:xfrm rot="5400000">
                <a:off x="2443855" y="3408617"/>
                <a:ext cx="367822" cy="158283"/>
              </a:xfrm>
              <a:prstGeom prst="flowChartTerminator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9" name="组合 718"/>
              <p:cNvGrpSpPr/>
              <p:nvPr/>
            </p:nvGrpSpPr>
            <p:grpSpPr>
              <a:xfrm>
                <a:off x="2581105" y="3353695"/>
                <a:ext cx="92402" cy="88949"/>
                <a:chOff x="1993782" y="3190016"/>
                <a:chExt cx="108575" cy="88949"/>
              </a:xfrm>
            </p:grpSpPr>
            <p:sp>
              <p:nvSpPr>
                <p:cNvPr id="724" name="椭圆 723"/>
                <p:cNvSpPr/>
                <p:nvPr/>
              </p:nvSpPr>
              <p:spPr>
                <a:xfrm>
                  <a:off x="1993782" y="3190016"/>
                  <a:ext cx="108575" cy="8894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0066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25" name="直接连接符 724"/>
                <p:cNvCxnSpPr>
                  <a:stCxn id="724" idx="2"/>
                  <a:endCxn id="724" idx="6"/>
                </p:cNvCxnSpPr>
                <p:nvPr/>
              </p:nvCxnSpPr>
              <p:spPr>
                <a:xfrm>
                  <a:off x="1993782" y="3234491"/>
                  <a:ext cx="108575" cy="0"/>
                </a:xfrm>
                <a:prstGeom prst="line">
                  <a:avLst/>
                </a:prstGeom>
                <a:ln w="12700">
                  <a:solidFill>
                    <a:srgbClr val="00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20" name="组合 719"/>
              <p:cNvGrpSpPr/>
              <p:nvPr/>
            </p:nvGrpSpPr>
            <p:grpSpPr>
              <a:xfrm>
                <a:off x="2575334" y="3528539"/>
                <a:ext cx="100666" cy="88949"/>
                <a:chOff x="2575333" y="3528539"/>
                <a:chExt cx="104065" cy="88949"/>
              </a:xfrm>
            </p:grpSpPr>
            <p:sp>
              <p:nvSpPr>
                <p:cNvPr id="721" name="椭圆 720"/>
                <p:cNvSpPr/>
                <p:nvPr/>
              </p:nvSpPr>
              <p:spPr>
                <a:xfrm>
                  <a:off x="2575333" y="3528539"/>
                  <a:ext cx="104065" cy="8894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FF66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22" name="直接连接符 721"/>
                <p:cNvCxnSpPr>
                  <a:stCxn id="721" idx="2"/>
                  <a:endCxn id="721" idx="6"/>
                </p:cNvCxnSpPr>
                <p:nvPr/>
              </p:nvCxnSpPr>
              <p:spPr>
                <a:xfrm>
                  <a:off x="2575333" y="3573014"/>
                  <a:ext cx="104065" cy="0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3" name="直接连接符 722"/>
                <p:cNvCxnSpPr/>
                <p:nvPr/>
              </p:nvCxnSpPr>
              <p:spPr>
                <a:xfrm>
                  <a:off x="2627784" y="3528539"/>
                  <a:ext cx="0" cy="88949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17" name="直接连接符 716"/>
            <p:cNvCxnSpPr/>
            <p:nvPr/>
          </p:nvCxnSpPr>
          <p:spPr>
            <a:xfrm>
              <a:off x="2627784" y="3687902"/>
              <a:ext cx="0" cy="21600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4" name="组合 733"/>
          <p:cNvGrpSpPr/>
          <p:nvPr/>
        </p:nvGrpSpPr>
        <p:grpSpPr>
          <a:xfrm>
            <a:off x="7992337" y="1642073"/>
            <a:ext cx="160665" cy="977182"/>
            <a:chOff x="2546242" y="3303848"/>
            <a:chExt cx="160665" cy="977182"/>
          </a:xfrm>
        </p:grpSpPr>
        <p:grpSp>
          <p:nvGrpSpPr>
            <p:cNvPr id="735" name="组合 734"/>
            <p:cNvGrpSpPr/>
            <p:nvPr/>
          </p:nvGrpSpPr>
          <p:grpSpPr>
            <a:xfrm>
              <a:off x="2548624" y="3303848"/>
              <a:ext cx="158283" cy="367822"/>
              <a:chOff x="2548624" y="3303848"/>
              <a:chExt cx="158283" cy="367822"/>
            </a:xfrm>
          </p:grpSpPr>
          <p:sp>
            <p:nvSpPr>
              <p:cNvPr id="746" name="流程图: 终止 745"/>
              <p:cNvSpPr/>
              <p:nvPr/>
            </p:nvSpPr>
            <p:spPr>
              <a:xfrm rot="5400000">
                <a:off x="2443855" y="3408617"/>
                <a:ext cx="367822" cy="158283"/>
              </a:xfrm>
              <a:prstGeom prst="flowChartTerminator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47" name="组合 746"/>
              <p:cNvGrpSpPr/>
              <p:nvPr/>
            </p:nvGrpSpPr>
            <p:grpSpPr>
              <a:xfrm>
                <a:off x="2581105" y="3353695"/>
                <a:ext cx="92402" cy="88949"/>
                <a:chOff x="1993782" y="3190016"/>
                <a:chExt cx="108575" cy="88949"/>
              </a:xfrm>
            </p:grpSpPr>
            <p:sp>
              <p:nvSpPr>
                <p:cNvPr id="752" name="椭圆 751"/>
                <p:cNvSpPr/>
                <p:nvPr/>
              </p:nvSpPr>
              <p:spPr>
                <a:xfrm>
                  <a:off x="1993782" y="3190016"/>
                  <a:ext cx="108575" cy="8894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0066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53" name="直接连接符 752"/>
                <p:cNvCxnSpPr>
                  <a:stCxn id="752" idx="2"/>
                  <a:endCxn id="752" idx="6"/>
                </p:cNvCxnSpPr>
                <p:nvPr/>
              </p:nvCxnSpPr>
              <p:spPr>
                <a:xfrm>
                  <a:off x="1993782" y="3234491"/>
                  <a:ext cx="108575" cy="0"/>
                </a:xfrm>
                <a:prstGeom prst="line">
                  <a:avLst/>
                </a:prstGeom>
                <a:ln w="12700">
                  <a:solidFill>
                    <a:srgbClr val="00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48" name="组合 747"/>
              <p:cNvGrpSpPr/>
              <p:nvPr/>
            </p:nvGrpSpPr>
            <p:grpSpPr>
              <a:xfrm>
                <a:off x="2575334" y="3528539"/>
                <a:ext cx="100666" cy="88949"/>
                <a:chOff x="2575333" y="3528539"/>
                <a:chExt cx="104065" cy="88949"/>
              </a:xfrm>
            </p:grpSpPr>
            <p:sp>
              <p:nvSpPr>
                <p:cNvPr id="749" name="椭圆 748"/>
                <p:cNvSpPr/>
                <p:nvPr/>
              </p:nvSpPr>
              <p:spPr>
                <a:xfrm>
                  <a:off x="2575333" y="3528539"/>
                  <a:ext cx="104065" cy="8894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FF66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50" name="直接连接符 749"/>
                <p:cNvCxnSpPr>
                  <a:stCxn id="749" idx="2"/>
                  <a:endCxn id="749" idx="6"/>
                </p:cNvCxnSpPr>
                <p:nvPr/>
              </p:nvCxnSpPr>
              <p:spPr>
                <a:xfrm>
                  <a:off x="2575333" y="3573014"/>
                  <a:ext cx="104065" cy="0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1" name="直接连接符 750"/>
                <p:cNvCxnSpPr/>
                <p:nvPr/>
              </p:nvCxnSpPr>
              <p:spPr>
                <a:xfrm>
                  <a:off x="2627784" y="3528539"/>
                  <a:ext cx="0" cy="88949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36" name="组合 735"/>
            <p:cNvGrpSpPr/>
            <p:nvPr/>
          </p:nvGrpSpPr>
          <p:grpSpPr>
            <a:xfrm>
              <a:off x="2546242" y="3913208"/>
              <a:ext cx="158283" cy="367822"/>
              <a:chOff x="2548624" y="3303848"/>
              <a:chExt cx="158283" cy="367822"/>
            </a:xfrm>
          </p:grpSpPr>
          <p:sp>
            <p:nvSpPr>
              <p:cNvPr id="738" name="流程图: 终止 737"/>
              <p:cNvSpPr/>
              <p:nvPr/>
            </p:nvSpPr>
            <p:spPr>
              <a:xfrm rot="5400000">
                <a:off x="2443855" y="3408617"/>
                <a:ext cx="367822" cy="158283"/>
              </a:xfrm>
              <a:prstGeom prst="flowChartTerminator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39" name="组合 738"/>
              <p:cNvGrpSpPr/>
              <p:nvPr/>
            </p:nvGrpSpPr>
            <p:grpSpPr>
              <a:xfrm>
                <a:off x="2581105" y="3353695"/>
                <a:ext cx="92402" cy="88949"/>
                <a:chOff x="1993782" y="3190016"/>
                <a:chExt cx="108575" cy="88949"/>
              </a:xfrm>
            </p:grpSpPr>
            <p:sp>
              <p:nvSpPr>
                <p:cNvPr id="744" name="椭圆 743"/>
                <p:cNvSpPr/>
                <p:nvPr/>
              </p:nvSpPr>
              <p:spPr>
                <a:xfrm>
                  <a:off x="1993782" y="3190016"/>
                  <a:ext cx="108575" cy="8894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0066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45" name="直接连接符 744"/>
                <p:cNvCxnSpPr>
                  <a:stCxn id="744" idx="2"/>
                  <a:endCxn id="744" idx="6"/>
                </p:cNvCxnSpPr>
                <p:nvPr/>
              </p:nvCxnSpPr>
              <p:spPr>
                <a:xfrm>
                  <a:off x="1993782" y="3234491"/>
                  <a:ext cx="108575" cy="0"/>
                </a:xfrm>
                <a:prstGeom prst="line">
                  <a:avLst/>
                </a:prstGeom>
                <a:ln w="12700">
                  <a:solidFill>
                    <a:srgbClr val="00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40" name="组合 739"/>
              <p:cNvGrpSpPr/>
              <p:nvPr/>
            </p:nvGrpSpPr>
            <p:grpSpPr>
              <a:xfrm>
                <a:off x="2575334" y="3528539"/>
                <a:ext cx="100666" cy="88949"/>
                <a:chOff x="2575333" y="3528539"/>
                <a:chExt cx="104065" cy="88949"/>
              </a:xfrm>
            </p:grpSpPr>
            <p:sp>
              <p:nvSpPr>
                <p:cNvPr id="741" name="椭圆 740"/>
                <p:cNvSpPr/>
                <p:nvPr/>
              </p:nvSpPr>
              <p:spPr>
                <a:xfrm>
                  <a:off x="2575333" y="3528539"/>
                  <a:ext cx="104065" cy="8894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FF66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42" name="直接连接符 741"/>
                <p:cNvCxnSpPr>
                  <a:stCxn id="741" idx="2"/>
                  <a:endCxn id="741" idx="6"/>
                </p:cNvCxnSpPr>
                <p:nvPr/>
              </p:nvCxnSpPr>
              <p:spPr>
                <a:xfrm>
                  <a:off x="2575333" y="3573014"/>
                  <a:ext cx="104065" cy="0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3" name="直接连接符 742"/>
                <p:cNvCxnSpPr/>
                <p:nvPr/>
              </p:nvCxnSpPr>
              <p:spPr>
                <a:xfrm>
                  <a:off x="2627784" y="3528539"/>
                  <a:ext cx="0" cy="88949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37" name="直接连接符 736"/>
            <p:cNvCxnSpPr/>
            <p:nvPr/>
          </p:nvCxnSpPr>
          <p:spPr>
            <a:xfrm>
              <a:off x="2627784" y="3687902"/>
              <a:ext cx="0" cy="21600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4" name="文本框 753"/>
          <p:cNvSpPr txBox="1"/>
          <p:nvPr/>
        </p:nvSpPr>
        <p:spPr>
          <a:xfrm>
            <a:off x="6533930" y="1139433"/>
            <a:ext cx="17169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面束缚电荷密度</a:t>
            </a:r>
            <a:r>
              <a:rPr lang="el-GR" altLang="zh-CN" sz="1600" b="1" dirty="0">
                <a:solidFill>
                  <a:srgbClr val="FF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σ</a:t>
            </a:r>
            <a:endParaRPr lang="zh-CN" altLang="en-US" sz="1600" b="1" dirty="0">
              <a:solidFill>
                <a:srgbClr val="FF33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755" name="直接箭头连接符 754"/>
          <p:cNvCxnSpPr/>
          <p:nvPr/>
        </p:nvCxnSpPr>
        <p:spPr>
          <a:xfrm flipH="1">
            <a:off x="7072617" y="1426407"/>
            <a:ext cx="236912" cy="320113"/>
          </a:xfrm>
          <a:prstGeom prst="straightConnector1">
            <a:avLst/>
          </a:prstGeom>
          <a:ln w="1905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直接箭头连接符 755"/>
          <p:cNvCxnSpPr/>
          <p:nvPr/>
        </p:nvCxnSpPr>
        <p:spPr>
          <a:xfrm>
            <a:off x="7331809" y="1424257"/>
            <a:ext cx="271497" cy="1096341"/>
          </a:xfrm>
          <a:prstGeom prst="straightConnector1">
            <a:avLst/>
          </a:prstGeom>
          <a:ln w="1905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圆角矩形 28"/>
          <p:cNvSpPr/>
          <p:nvPr/>
        </p:nvSpPr>
        <p:spPr>
          <a:xfrm>
            <a:off x="6421349" y="2447689"/>
            <a:ext cx="1862608" cy="194030"/>
          </a:xfrm>
          <a:prstGeom prst="roundRect">
            <a:avLst/>
          </a:prstGeom>
          <a:noFill/>
          <a:ln w="12700">
            <a:solidFill>
              <a:srgbClr val="FF33C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7" name="圆角矩形 756"/>
          <p:cNvSpPr/>
          <p:nvPr/>
        </p:nvSpPr>
        <p:spPr>
          <a:xfrm>
            <a:off x="6402007" y="1640419"/>
            <a:ext cx="1862608" cy="194030"/>
          </a:xfrm>
          <a:prstGeom prst="roundRect">
            <a:avLst/>
          </a:prstGeom>
          <a:noFill/>
          <a:ln w="1270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58" name="组合 757"/>
          <p:cNvGrpSpPr/>
          <p:nvPr/>
        </p:nvGrpSpPr>
        <p:grpSpPr>
          <a:xfrm>
            <a:off x="3851071" y="4344542"/>
            <a:ext cx="1555447" cy="8549"/>
            <a:chOff x="5029497" y="2825956"/>
            <a:chExt cx="1555447" cy="8549"/>
          </a:xfrm>
        </p:grpSpPr>
        <p:cxnSp>
          <p:nvCxnSpPr>
            <p:cNvPr id="759" name="直接连接符 758"/>
            <p:cNvCxnSpPr/>
            <p:nvPr/>
          </p:nvCxnSpPr>
          <p:spPr>
            <a:xfrm>
              <a:off x="5029497" y="2825956"/>
              <a:ext cx="107704" cy="0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直接连接符 759"/>
            <p:cNvCxnSpPr/>
            <p:nvPr/>
          </p:nvCxnSpPr>
          <p:spPr>
            <a:xfrm>
              <a:off x="5392048" y="2825956"/>
              <a:ext cx="107704" cy="0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直接连接符 760"/>
            <p:cNvCxnSpPr/>
            <p:nvPr/>
          </p:nvCxnSpPr>
          <p:spPr>
            <a:xfrm>
              <a:off x="5757154" y="2826320"/>
              <a:ext cx="107704" cy="0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直接连接符 761"/>
            <p:cNvCxnSpPr/>
            <p:nvPr/>
          </p:nvCxnSpPr>
          <p:spPr>
            <a:xfrm>
              <a:off x="6112247" y="2828155"/>
              <a:ext cx="107704" cy="0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直接连接符 762"/>
            <p:cNvCxnSpPr/>
            <p:nvPr/>
          </p:nvCxnSpPr>
          <p:spPr>
            <a:xfrm>
              <a:off x="6477240" y="2834505"/>
              <a:ext cx="107704" cy="0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4" name="组合 763"/>
          <p:cNvGrpSpPr/>
          <p:nvPr/>
        </p:nvGrpSpPr>
        <p:grpSpPr>
          <a:xfrm>
            <a:off x="3852455" y="3088154"/>
            <a:ext cx="1552232" cy="113977"/>
            <a:chOff x="5026648" y="1348918"/>
            <a:chExt cx="1552232" cy="113977"/>
          </a:xfrm>
        </p:grpSpPr>
        <p:grpSp>
          <p:nvGrpSpPr>
            <p:cNvPr id="765" name="组合 764"/>
            <p:cNvGrpSpPr/>
            <p:nvPr/>
          </p:nvGrpSpPr>
          <p:grpSpPr>
            <a:xfrm>
              <a:off x="5026648" y="1348919"/>
              <a:ext cx="107704" cy="109515"/>
              <a:chOff x="5123945" y="1286414"/>
              <a:chExt cx="122400" cy="122400"/>
            </a:xfrm>
          </p:grpSpPr>
          <p:cxnSp>
            <p:nvCxnSpPr>
              <p:cNvPr id="778" name="直接连接符 777"/>
              <p:cNvCxnSpPr/>
              <p:nvPr/>
            </p:nvCxnSpPr>
            <p:spPr>
              <a:xfrm>
                <a:off x="5123945" y="1347614"/>
                <a:ext cx="122400" cy="0"/>
              </a:xfrm>
              <a:prstGeom prst="line">
                <a:avLst/>
              </a:prstGeom>
              <a:ln w="15875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9" name="直接连接符 778"/>
              <p:cNvCxnSpPr/>
              <p:nvPr/>
            </p:nvCxnSpPr>
            <p:spPr>
              <a:xfrm>
                <a:off x="5185138" y="1286414"/>
                <a:ext cx="0" cy="122400"/>
              </a:xfrm>
              <a:prstGeom prst="line">
                <a:avLst/>
              </a:prstGeom>
              <a:ln w="12700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6" name="组合 765"/>
            <p:cNvGrpSpPr/>
            <p:nvPr/>
          </p:nvGrpSpPr>
          <p:grpSpPr>
            <a:xfrm>
              <a:off x="5377519" y="1348918"/>
              <a:ext cx="107704" cy="109515"/>
              <a:chOff x="5123945" y="1286414"/>
              <a:chExt cx="122400" cy="122400"/>
            </a:xfrm>
          </p:grpSpPr>
          <p:cxnSp>
            <p:nvCxnSpPr>
              <p:cNvPr id="776" name="直接连接符 775"/>
              <p:cNvCxnSpPr/>
              <p:nvPr/>
            </p:nvCxnSpPr>
            <p:spPr>
              <a:xfrm>
                <a:off x="5123945" y="1347614"/>
                <a:ext cx="122400" cy="0"/>
              </a:xfrm>
              <a:prstGeom prst="line">
                <a:avLst/>
              </a:prstGeom>
              <a:ln w="15875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7" name="直接连接符 776"/>
              <p:cNvCxnSpPr/>
              <p:nvPr/>
            </p:nvCxnSpPr>
            <p:spPr>
              <a:xfrm>
                <a:off x="5185138" y="1286414"/>
                <a:ext cx="0" cy="122400"/>
              </a:xfrm>
              <a:prstGeom prst="line">
                <a:avLst/>
              </a:prstGeom>
              <a:ln w="12700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7" name="组合 766"/>
            <p:cNvGrpSpPr/>
            <p:nvPr/>
          </p:nvGrpSpPr>
          <p:grpSpPr>
            <a:xfrm>
              <a:off x="5752398" y="1349230"/>
              <a:ext cx="107704" cy="109515"/>
              <a:chOff x="5123945" y="1286414"/>
              <a:chExt cx="122400" cy="122400"/>
            </a:xfrm>
          </p:grpSpPr>
          <p:cxnSp>
            <p:nvCxnSpPr>
              <p:cNvPr id="774" name="直接连接符 773"/>
              <p:cNvCxnSpPr/>
              <p:nvPr/>
            </p:nvCxnSpPr>
            <p:spPr>
              <a:xfrm>
                <a:off x="5123945" y="1347614"/>
                <a:ext cx="122400" cy="0"/>
              </a:xfrm>
              <a:prstGeom prst="line">
                <a:avLst/>
              </a:prstGeom>
              <a:ln w="15875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5" name="直接连接符 774"/>
              <p:cNvCxnSpPr/>
              <p:nvPr/>
            </p:nvCxnSpPr>
            <p:spPr>
              <a:xfrm>
                <a:off x="5185138" y="1286414"/>
                <a:ext cx="0" cy="122400"/>
              </a:xfrm>
              <a:prstGeom prst="line">
                <a:avLst/>
              </a:prstGeom>
              <a:ln w="12700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8" name="组合 767"/>
            <p:cNvGrpSpPr/>
            <p:nvPr/>
          </p:nvGrpSpPr>
          <p:grpSpPr>
            <a:xfrm>
              <a:off x="6102871" y="1353380"/>
              <a:ext cx="107704" cy="109515"/>
              <a:chOff x="5123945" y="1286414"/>
              <a:chExt cx="122400" cy="122400"/>
            </a:xfrm>
          </p:grpSpPr>
          <p:cxnSp>
            <p:nvCxnSpPr>
              <p:cNvPr id="772" name="直接连接符 771"/>
              <p:cNvCxnSpPr/>
              <p:nvPr/>
            </p:nvCxnSpPr>
            <p:spPr>
              <a:xfrm>
                <a:off x="5123945" y="1347614"/>
                <a:ext cx="122400" cy="0"/>
              </a:xfrm>
              <a:prstGeom prst="line">
                <a:avLst/>
              </a:prstGeom>
              <a:ln w="15875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3" name="直接连接符 772"/>
              <p:cNvCxnSpPr/>
              <p:nvPr/>
            </p:nvCxnSpPr>
            <p:spPr>
              <a:xfrm>
                <a:off x="5185138" y="1286414"/>
                <a:ext cx="0" cy="122400"/>
              </a:xfrm>
              <a:prstGeom prst="line">
                <a:avLst/>
              </a:prstGeom>
              <a:ln w="12700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9" name="组合 768"/>
            <p:cNvGrpSpPr/>
            <p:nvPr/>
          </p:nvGrpSpPr>
          <p:grpSpPr>
            <a:xfrm>
              <a:off x="6471176" y="1350825"/>
              <a:ext cx="107704" cy="109515"/>
              <a:chOff x="5123945" y="1286414"/>
              <a:chExt cx="122400" cy="122400"/>
            </a:xfrm>
          </p:grpSpPr>
          <p:cxnSp>
            <p:nvCxnSpPr>
              <p:cNvPr id="770" name="直接连接符 769"/>
              <p:cNvCxnSpPr/>
              <p:nvPr/>
            </p:nvCxnSpPr>
            <p:spPr>
              <a:xfrm>
                <a:off x="5123945" y="1347614"/>
                <a:ext cx="122400" cy="0"/>
              </a:xfrm>
              <a:prstGeom prst="line">
                <a:avLst/>
              </a:prstGeom>
              <a:ln w="15875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1" name="直接连接符 770"/>
              <p:cNvCxnSpPr/>
              <p:nvPr/>
            </p:nvCxnSpPr>
            <p:spPr>
              <a:xfrm>
                <a:off x="5185138" y="1286414"/>
                <a:ext cx="0" cy="122400"/>
              </a:xfrm>
              <a:prstGeom prst="line">
                <a:avLst/>
              </a:prstGeom>
              <a:ln w="12700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" name="组合 16">
            <a:extLst>
              <a:ext uri="{FF2B5EF4-FFF2-40B4-BE49-F238E27FC236}">
                <a16:creationId xmlns="" xmlns:a16="http://schemas.microsoft.com/office/drawing/2014/main" id="{30B7BD57-5A8F-C476-0F84-CA032F5DCBC6}"/>
              </a:ext>
            </a:extLst>
          </p:cNvPr>
          <p:cNvGrpSpPr/>
          <p:nvPr/>
        </p:nvGrpSpPr>
        <p:grpSpPr>
          <a:xfrm>
            <a:off x="3724976" y="3242710"/>
            <a:ext cx="2422735" cy="1007832"/>
            <a:chOff x="3724976" y="3242710"/>
            <a:chExt cx="2422735" cy="1007832"/>
          </a:xfrm>
        </p:grpSpPr>
        <p:sp>
          <p:nvSpPr>
            <p:cNvPr id="781" name="矩形 780"/>
            <p:cNvSpPr/>
            <p:nvPr/>
          </p:nvSpPr>
          <p:spPr>
            <a:xfrm>
              <a:off x="3724976" y="3242710"/>
              <a:ext cx="1800000" cy="10078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02" name="组合 801"/>
            <p:cNvGrpSpPr/>
            <p:nvPr/>
          </p:nvGrpSpPr>
          <p:grpSpPr>
            <a:xfrm>
              <a:off x="3827340" y="3266966"/>
              <a:ext cx="160665" cy="977182"/>
              <a:chOff x="2546242" y="3303848"/>
              <a:chExt cx="160665" cy="977182"/>
            </a:xfrm>
          </p:grpSpPr>
          <p:grpSp>
            <p:nvGrpSpPr>
              <p:cNvPr id="803" name="组合 802"/>
              <p:cNvGrpSpPr/>
              <p:nvPr/>
            </p:nvGrpSpPr>
            <p:grpSpPr>
              <a:xfrm>
                <a:off x="2548624" y="3303848"/>
                <a:ext cx="158283" cy="367822"/>
                <a:chOff x="2548624" y="3303848"/>
                <a:chExt cx="158283" cy="367822"/>
              </a:xfrm>
            </p:grpSpPr>
            <p:sp>
              <p:nvSpPr>
                <p:cNvPr id="814" name="流程图: 终止 813"/>
                <p:cNvSpPr/>
                <p:nvPr/>
              </p:nvSpPr>
              <p:spPr>
                <a:xfrm rot="5400000">
                  <a:off x="2443855" y="3408617"/>
                  <a:ext cx="367822" cy="158283"/>
                </a:xfrm>
                <a:prstGeom prst="flowChartTerminator">
                  <a:avLst/>
                </a:prstGeom>
                <a:solidFill>
                  <a:srgbClr val="0099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815" name="组合 814"/>
                <p:cNvGrpSpPr/>
                <p:nvPr/>
              </p:nvGrpSpPr>
              <p:grpSpPr>
                <a:xfrm>
                  <a:off x="2581105" y="3353695"/>
                  <a:ext cx="92402" cy="88949"/>
                  <a:chOff x="1993782" y="3190016"/>
                  <a:chExt cx="108575" cy="88949"/>
                </a:xfrm>
              </p:grpSpPr>
              <p:sp>
                <p:nvSpPr>
                  <p:cNvPr id="820" name="椭圆 819"/>
                  <p:cNvSpPr/>
                  <p:nvPr/>
                </p:nvSpPr>
                <p:spPr>
                  <a:xfrm>
                    <a:off x="1993782" y="3190016"/>
                    <a:ext cx="10857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21" name="直接连接符 820"/>
                  <p:cNvCxnSpPr>
                    <a:stCxn id="820" idx="2"/>
                    <a:endCxn id="820" idx="6"/>
                  </p:cNvCxnSpPr>
                  <p:nvPr/>
                </p:nvCxnSpPr>
                <p:spPr>
                  <a:xfrm>
                    <a:off x="1993782" y="3234491"/>
                    <a:ext cx="108575" cy="0"/>
                  </a:xfrm>
                  <a:prstGeom prst="line">
                    <a:avLst/>
                  </a:prstGeom>
                  <a:ln w="12700">
                    <a:solidFill>
                      <a:srgbClr val="00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16" name="组合 815"/>
                <p:cNvGrpSpPr/>
                <p:nvPr/>
              </p:nvGrpSpPr>
              <p:grpSpPr>
                <a:xfrm>
                  <a:off x="2575334" y="3528539"/>
                  <a:ext cx="100666" cy="88949"/>
                  <a:chOff x="2575333" y="3528539"/>
                  <a:chExt cx="104065" cy="88949"/>
                </a:xfrm>
              </p:grpSpPr>
              <p:sp>
                <p:nvSpPr>
                  <p:cNvPr id="817" name="椭圆 816"/>
                  <p:cNvSpPr/>
                  <p:nvPr/>
                </p:nvSpPr>
                <p:spPr>
                  <a:xfrm>
                    <a:off x="2575333" y="3528539"/>
                    <a:ext cx="10406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FF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18" name="直接连接符 817"/>
                  <p:cNvCxnSpPr>
                    <a:stCxn id="817" idx="2"/>
                    <a:endCxn id="817" idx="6"/>
                  </p:cNvCxnSpPr>
                  <p:nvPr/>
                </p:nvCxnSpPr>
                <p:spPr>
                  <a:xfrm>
                    <a:off x="2575333" y="3573014"/>
                    <a:ext cx="104065" cy="0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9" name="直接连接符 818"/>
                  <p:cNvCxnSpPr/>
                  <p:nvPr/>
                </p:nvCxnSpPr>
                <p:spPr>
                  <a:xfrm>
                    <a:off x="2627784" y="3528539"/>
                    <a:ext cx="0" cy="88949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804" name="组合 803"/>
              <p:cNvGrpSpPr/>
              <p:nvPr/>
            </p:nvGrpSpPr>
            <p:grpSpPr>
              <a:xfrm>
                <a:off x="2546242" y="3913208"/>
                <a:ext cx="158283" cy="367822"/>
                <a:chOff x="2548624" y="3303848"/>
                <a:chExt cx="158283" cy="367822"/>
              </a:xfrm>
            </p:grpSpPr>
            <p:sp>
              <p:nvSpPr>
                <p:cNvPr id="806" name="流程图: 终止 805"/>
                <p:cNvSpPr/>
                <p:nvPr/>
              </p:nvSpPr>
              <p:spPr>
                <a:xfrm rot="5400000">
                  <a:off x="2443855" y="3408617"/>
                  <a:ext cx="367822" cy="158283"/>
                </a:xfrm>
                <a:prstGeom prst="flowChartTerminator">
                  <a:avLst/>
                </a:prstGeom>
                <a:solidFill>
                  <a:srgbClr val="0099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807" name="组合 806"/>
                <p:cNvGrpSpPr/>
                <p:nvPr/>
              </p:nvGrpSpPr>
              <p:grpSpPr>
                <a:xfrm>
                  <a:off x="2581105" y="3353695"/>
                  <a:ext cx="92402" cy="88949"/>
                  <a:chOff x="1993782" y="3190016"/>
                  <a:chExt cx="108575" cy="88949"/>
                </a:xfrm>
              </p:grpSpPr>
              <p:sp>
                <p:nvSpPr>
                  <p:cNvPr id="812" name="椭圆 811"/>
                  <p:cNvSpPr/>
                  <p:nvPr/>
                </p:nvSpPr>
                <p:spPr>
                  <a:xfrm>
                    <a:off x="1993782" y="3190016"/>
                    <a:ext cx="10857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13" name="直接连接符 812"/>
                  <p:cNvCxnSpPr>
                    <a:stCxn id="812" idx="2"/>
                    <a:endCxn id="812" idx="6"/>
                  </p:cNvCxnSpPr>
                  <p:nvPr/>
                </p:nvCxnSpPr>
                <p:spPr>
                  <a:xfrm>
                    <a:off x="1993782" y="3234491"/>
                    <a:ext cx="108575" cy="0"/>
                  </a:xfrm>
                  <a:prstGeom prst="line">
                    <a:avLst/>
                  </a:prstGeom>
                  <a:ln w="12700">
                    <a:solidFill>
                      <a:srgbClr val="00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08" name="组合 807"/>
                <p:cNvGrpSpPr/>
                <p:nvPr/>
              </p:nvGrpSpPr>
              <p:grpSpPr>
                <a:xfrm>
                  <a:off x="2575334" y="3528539"/>
                  <a:ext cx="100666" cy="88949"/>
                  <a:chOff x="2575333" y="3528539"/>
                  <a:chExt cx="104065" cy="88949"/>
                </a:xfrm>
              </p:grpSpPr>
              <p:sp>
                <p:nvSpPr>
                  <p:cNvPr id="809" name="椭圆 808"/>
                  <p:cNvSpPr/>
                  <p:nvPr/>
                </p:nvSpPr>
                <p:spPr>
                  <a:xfrm>
                    <a:off x="2575333" y="3528539"/>
                    <a:ext cx="10406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FF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10" name="直接连接符 809"/>
                  <p:cNvCxnSpPr>
                    <a:stCxn id="809" idx="2"/>
                    <a:endCxn id="809" idx="6"/>
                  </p:cNvCxnSpPr>
                  <p:nvPr/>
                </p:nvCxnSpPr>
                <p:spPr>
                  <a:xfrm>
                    <a:off x="2575333" y="3573014"/>
                    <a:ext cx="104065" cy="0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1" name="直接连接符 810"/>
                  <p:cNvCxnSpPr/>
                  <p:nvPr/>
                </p:nvCxnSpPr>
                <p:spPr>
                  <a:xfrm>
                    <a:off x="2627784" y="3528539"/>
                    <a:ext cx="0" cy="88949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805" name="直接连接符 804"/>
              <p:cNvCxnSpPr/>
              <p:nvPr/>
            </p:nvCxnSpPr>
            <p:spPr>
              <a:xfrm>
                <a:off x="2627784" y="3687902"/>
                <a:ext cx="0" cy="216000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22" name="组合 821"/>
            <p:cNvGrpSpPr/>
            <p:nvPr/>
          </p:nvGrpSpPr>
          <p:grpSpPr>
            <a:xfrm>
              <a:off x="4546798" y="3261012"/>
              <a:ext cx="160665" cy="977182"/>
              <a:chOff x="2546242" y="3303848"/>
              <a:chExt cx="160665" cy="977182"/>
            </a:xfrm>
          </p:grpSpPr>
          <p:grpSp>
            <p:nvGrpSpPr>
              <p:cNvPr id="823" name="组合 822"/>
              <p:cNvGrpSpPr/>
              <p:nvPr/>
            </p:nvGrpSpPr>
            <p:grpSpPr>
              <a:xfrm>
                <a:off x="2548624" y="3303848"/>
                <a:ext cx="158283" cy="367822"/>
                <a:chOff x="2548624" y="3303848"/>
                <a:chExt cx="158283" cy="367822"/>
              </a:xfrm>
            </p:grpSpPr>
            <p:sp>
              <p:nvSpPr>
                <p:cNvPr id="834" name="流程图: 终止 833"/>
                <p:cNvSpPr/>
                <p:nvPr/>
              </p:nvSpPr>
              <p:spPr>
                <a:xfrm rot="5400000">
                  <a:off x="2443855" y="3408617"/>
                  <a:ext cx="367822" cy="158283"/>
                </a:xfrm>
                <a:prstGeom prst="flowChartTerminator">
                  <a:avLst/>
                </a:prstGeom>
                <a:solidFill>
                  <a:srgbClr val="0099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835" name="组合 834"/>
                <p:cNvGrpSpPr/>
                <p:nvPr/>
              </p:nvGrpSpPr>
              <p:grpSpPr>
                <a:xfrm>
                  <a:off x="2581105" y="3353695"/>
                  <a:ext cx="92402" cy="88949"/>
                  <a:chOff x="1993782" y="3190016"/>
                  <a:chExt cx="108575" cy="88949"/>
                </a:xfrm>
              </p:grpSpPr>
              <p:sp>
                <p:nvSpPr>
                  <p:cNvPr id="840" name="椭圆 839"/>
                  <p:cNvSpPr/>
                  <p:nvPr/>
                </p:nvSpPr>
                <p:spPr>
                  <a:xfrm>
                    <a:off x="1993782" y="3190016"/>
                    <a:ext cx="10857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41" name="直接连接符 840"/>
                  <p:cNvCxnSpPr>
                    <a:stCxn id="840" idx="2"/>
                    <a:endCxn id="840" idx="6"/>
                  </p:cNvCxnSpPr>
                  <p:nvPr/>
                </p:nvCxnSpPr>
                <p:spPr>
                  <a:xfrm>
                    <a:off x="1993782" y="3234491"/>
                    <a:ext cx="108575" cy="0"/>
                  </a:xfrm>
                  <a:prstGeom prst="line">
                    <a:avLst/>
                  </a:prstGeom>
                  <a:ln w="12700">
                    <a:solidFill>
                      <a:srgbClr val="00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36" name="组合 835"/>
                <p:cNvGrpSpPr/>
                <p:nvPr/>
              </p:nvGrpSpPr>
              <p:grpSpPr>
                <a:xfrm>
                  <a:off x="2575334" y="3528539"/>
                  <a:ext cx="100666" cy="88949"/>
                  <a:chOff x="2575333" y="3528539"/>
                  <a:chExt cx="104065" cy="88949"/>
                </a:xfrm>
              </p:grpSpPr>
              <p:sp>
                <p:nvSpPr>
                  <p:cNvPr id="837" name="椭圆 836"/>
                  <p:cNvSpPr/>
                  <p:nvPr/>
                </p:nvSpPr>
                <p:spPr>
                  <a:xfrm>
                    <a:off x="2575333" y="3528539"/>
                    <a:ext cx="10406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FF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38" name="直接连接符 837"/>
                  <p:cNvCxnSpPr>
                    <a:stCxn id="837" idx="2"/>
                    <a:endCxn id="837" idx="6"/>
                  </p:cNvCxnSpPr>
                  <p:nvPr/>
                </p:nvCxnSpPr>
                <p:spPr>
                  <a:xfrm>
                    <a:off x="2575333" y="3573014"/>
                    <a:ext cx="104065" cy="0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9" name="直接连接符 838"/>
                  <p:cNvCxnSpPr/>
                  <p:nvPr/>
                </p:nvCxnSpPr>
                <p:spPr>
                  <a:xfrm>
                    <a:off x="2627784" y="3528539"/>
                    <a:ext cx="0" cy="88949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824" name="组合 823"/>
              <p:cNvGrpSpPr/>
              <p:nvPr/>
            </p:nvGrpSpPr>
            <p:grpSpPr>
              <a:xfrm>
                <a:off x="2546242" y="3913208"/>
                <a:ext cx="158283" cy="367822"/>
                <a:chOff x="2548624" y="3303848"/>
                <a:chExt cx="158283" cy="367822"/>
              </a:xfrm>
            </p:grpSpPr>
            <p:sp>
              <p:nvSpPr>
                <p:cNvPr id="826" name="流程图: 终止 825"/>
                <p:cNvSpPr/>
                <p:nvPr/>
              </p:nvSpPr>
              <p:spPr>
                <a:xfrm rot="5400000">
                  <a:off x="2443855" y="3408617"/>
                  <a:ext cx="367822" cy="158283"/>
                </a:xfrm>
                <a:prstGeom prst="flowChartTerminator">
                  <a:avLst/>
                </a:prstGeom>
                <a:solidFill>
                  <a:srgbClr val="0099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827" name="组合 826"/>
                <p:cNvGrpSpPr/>
                <p:nvPr/>
              </p:nvGrpSpPr>
              <p:grpSpPr>
                <a:xfrm>
                  <a:off x="2581105" y="3353695"/>
                  <a:ext cx="92402" cy="88949"/>
                  <a:chOff x="1993782" y="3190016"/>
                  <a:chExt cx="108575" cy="88949"/>
                </a:xfrm>
              </p:grpSpPr>
              <p:sp>
                <p:nvSpPr>
                  <p:cNvPr id="832" name="椭圆 831"/>
                  <p:cNvSpPr/>
                  <p:nvPr/>
                </p:nvSpPr>
                <p:spPr>
                  <a:xfrm>
                    <a:off x="1993782" y="3190016"/>
                    <a:ext cx="10857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33" name="直接连接符 832"/>
                  <p:cNvCxnSpPr>
                    <a:stCxn id="832" idx="2"/>
                    <a:endCxn id="832" idx="6"/>
                  </p:cNvCxnSpPr>
                  <p:nvPr/>
                </p:nvCxnSpPr>
                <p:spPr>
                  <a:xfrm>
                    <a:off x="1993782" y="3234491"/>
                    <a:ext cx="108575" cy="0"/>
                  </a:xfrm>
                  <a:prstGeom prst="line">
                    <a:avLst/>
                  </a:prstGeom>
                  <a:ln w="12700">
                    <a:solidFill>
                      <a:srgbClr val="00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28" name="组合 827"/>
                <p:cNvGrpSpPr/>
                <p:nvPr/>
              </p:nvGrpSpPr>
              <p:grpSpPr>
                <a:xfrm>
                  <a:off x="2575334" y="3528539"/>
                  <a:ext cx="100666" cy="88949"/>
                  <a:chOff x="2575333" y="3528539"/>
                  <a:chExt cx="104065" cy="88949"/>
                </a:xfrm>
              </p:grpSpPr>
              <p:sp>
                <p:nvSpPr>
                  <p:cNvPr id="829" name="椭圆 828"/>
                  <p:cNvSpPr/>
                  <p:nvPr/>
                </p:nvSpPr>
                <p:spPr>
                  <a:xfrm>
                    <a:off x="2575333" y="3528539"/>
                    <a:ext cx="10406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FF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30" name="直接连接符 829"/>
                  <p:cNvCxnSpPr>
                    <a:stCxn id="829" idx="2"/>
                    <a:endCxn id="829" idx="6"/>
                  </p:cNvCxnSpPr>
                  <p:nvPr/>
                </p:nvCxnSpPr>
                <p:spPr>
                  <a:xfrm>
                    <a:off x="2575333" y="3573014"/>
                    <a:ext cx="104065" cy="0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1" name="直接连接符 830"/>
                  <p:cNvCxnSpPr/>
                  <p:nvPr/>
                </p:nvCxnSpPr>
                <p:spPr>
                  <a:xfrm>
                    <a:off x="2627784" y="3528539"/>
                    <a:ext cx="0" cy="88949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825" name="直接连接符 824"/>
              <p:cNvCxnSpPr/>
              <p:nvPr/>
            </p:nvCxnSpPr>
            <p:spPr>
              <a:xfrm>
                <a:off x="2627784" y="3687902"/>
                <a:ext cx="0" cy="216000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2" name="组合 861"/>
            <p:cNvGrpSpPr/>
            <p:nvPr/>
          </p:nvGrpSpPr>
          <p:grpSpPr>
            <a:xfrm>
              <a:off x="5263371" y="3252556"/>
              <a:ext cx="160665" cy="977182"/>
              <a:chOff x="2546242" y="3303848"/>
              <a:chExt cx="160665" cy="977182"/>
            </a:xfrm>
          </p:grpSpPr>
          <p:grpSp>
            <p:nvGrpSpPr>
              <p:cNvPr id="863" name="组合 862"/>
              <p:cNvGrpSpPr/>
              <p:nvPr/>
            </p:nvGrpSpPr>
            <p:grpSpPr>
              <a:xfrm>
                <a:off x="2548624" y="3303848"/>
                <a:ext cx="158283" cy="367822"/>
                <a:chOff x="2548624" y="3303848"/>
                <a:chExt cx="158283" cy="367822"/>
              </a:xfrm>
            </p:grpSpPr>
            <p:sp>
              <p:nvSpPr>
                <p:cNvPr id="874" name="流程图: 终止 873"/>
                <p:cNvSpPr/>
                <p:nvPr/>
              </p:nvSpPr>
              <p:spPr>
                <a:xfrm rot="5400000">
                  <a:off x="2443855" y="3408617"/>
                  <a:ext cx="367822" cy="158283"/>
                </a:xfrm>
                <a:prstGeom prst="flowChartTerminator">
                  <a:avLst/>
                </a:prstGeom>
                <a:solidFill>
                  <a:srgbClr val="0099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875" name="组合 874"/>
                <p:cNvGrpSpPr/>
                <p:nvPr/>
              </p:nvGrpSpPr>
              <p:grpSpPr>
                <a:xfrm>
                  <a:off x="2581105" y="3353695"/>
                  <a:ext cx="92402" cy="88949"/>
                  <a:chOff x="1993782" y="3190016"/>
                  <a:chExt cx="108575" cy="88949"/>
                </a:xfrm>
              </p:grpSpPr>
              <p:sp>
                <p:nvSpPr>
                  <p:cNvPr id="880" name="椭圆 879"/>
                  <p:cNvSpPr/>
                  <p:nvPr/>
                </p:nvSpPr>
                <p:spPr>
                  <a:xfrm>
                    <a:off x="1993782" y="3190016"/>
                    <a:ext cx="10857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81" name="直接连接符 880"/>
                  <p:cNvCxnSpPr>
                    <a:stCxn id="880" idx="2"/>
                    <a:endCxn id="880" idx="6"/>
                  </p:cNvCxnSpPr>
                  <p:nvPr/>
                </p:nvCxnSpPr>
                <p:spPr>
                  <a:xfrm>
                    <a:off x="1993782" y="3234491"/>
                    <a:ext cx="108575" cy="0"/>
                  </a:xfrm>
                  <a:prstGeom prst="line">
                    <a:avLst/>
                  </a:prstGeom>
                  <a:ln w="12700">
                    <a:solidFill>
                      <a:srgbClr val="00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76" name="组合 875"/>
                <p:cNvGrpSpPr/>
                <p:nvPr/>
              </p:nvGrpSpPr>
              <p:grpSpPr>
                <a:xfrm>
                  <a:off x="2575334" y="3528539"/>
                  <a:ext cx="100666" cy="88949"/>
                  <a:chOff x="2575333" y="3528539"/>
                  <a:chExt cx="104065" cy="88949"/>
                </a:xfrm>
              </p:grpSpPr>
              <p:sp>
                <p:nvSpPr>
                  <p:cNvPr id="877" name="椭圆 876"/>
                  <p:cNvSpPr/>
                  <p:nvPr/>
                </p:nvSpPr>
                <p:spPr>
                  <a:xfrm>
                    <a:off x="2575333" y="3528539"/>
                    <a:ext cx="10406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FF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78" name="直接连接符 877"/>
                  <p:cNvCxnSpPr>
                    <a:stCxn id="877" idx="2"/>
                    <a:endCxn id="877" idx="6"/>
                  </p:cNvCxnSpPr>
                  <p:nvPr/>
                </p:nvCxnSpPr>
                <p:spPr>
                  <a:xfrm>
                    <a:off x="2575333" y="3573014"/>
                    <a:ext cx="104065" cy="0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9" name="直接连接符 878"/>
                  <p:cNvCxnSpPr/>
                  <p:nvPr/>
                </p:nvCxnSpPr>
                <p:spPr>
                  <a:xfrm>
                    <a:off x="2627784" y="3528539"/>
                    <a:ext cx="0" cy="88949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864" name="组合 863"/>
              <p:cNvGrpSpPr/>
              <p:nvPr/>
            </p:nvGrpSpPr>
            <p:grpSpPr>
              <a:xfrm>
                <a:off x="2546242" y="3913208"/>
                <a:ext cx="158283" cy="367822"/>
                <a:chOff x="2548624" y="3303848"/>
                <a:chExt cx="158283" cy="367822"/>
              </a:xfrm>
            </p:grpSpPr>
            <p:sp>
              <p:nvSpPr>
                <p:cNvPr id="866" name="流程图: 终止 865"/>
                <p:cNvSpPr/>
                <p:nvPr/>
              </p:nvSpPr>
              <p:spPr>
                <a:xfrm rot="5400000">
                  <a:off x="2443855" y="3408617"/>
                  <a:ext cx="367822" cy="158283"/>
                </a:xfrm>
                <a:prstGeom prst="flowChartTerminator">
                  <a:avLst/>
                </a:prstGeom>
                <a:solidFill>
                  <a:srgbClr val="0099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867" name="组合 866"/>
                <p:cNvGrpSpPr/>
                <p:nvPr/>
              </p:nvGrpSpPr>
              <p:grpSpPr>
                <a:xfrm>
                  <a:off x="2581105" y="3353695"/>
                  <a:ext cx="92402" cy="88949"/>
                  <a:chOff x="1993782" y="3190016"/>
                  <a:chExt cx="108575" cy="88949"/>
                </a:xfrm>
              </p:grpSpPr>
              <p:sp>
                <p:nvSpPr>
                  <p:cNvPr id="872" name="椭圆 871"/>
                  <p:cNvSpPr/>
                  <p:nvPr/>
                </p:nvSpPr>
                <p:spPr>
                  <a:xfrm>
                    <a:off x="1993782" y="3190016"/>
                    <a:ext cx="10857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73" name="直接连接符 872"/>
                  <p:cNvCxnSpPr>
                    <a:stCxn id="872" idx="2"/>
                    <a:endCxn id="872" idx="6"/>
                  </p:cNvCxnSpPr>
                  <p:nvPr/>
                </p:nvCxnSpPr>
                <p:spPr>
                  <a:xfrm>
                    <a:off x="1993782" y="3234491"/>
                    <a:ext cx="108575" cy="0"/>
                  </a:xfrm>
                  <a:prstGeom prst="line">
                    <a:avLst/>
                  </a:prstGeom>
                  <a:ln w="12700">
                    <a:solidFill>
                      <a:srgbClr val="00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68" name="组合 867"/>
                <p:cNvGrpSpPr/>
                <p:nvPr/>
              </p:nvGrpSpPr>
              <p:grpSpPr>
                <a:xfrm>
                  <a:off x="2575334" y="3528539"/>
                  <a:ext cx="100666" cy="88949"/>
                  <a:chOff x="2575333" y="3528539"/>
                  <a:chExt cx="104065" cy="88949"/>
                </a:xfrm>
              </p:grpSpPr>
              <p:sp>
                <p:nvSpPr>
                  <p:cNvPr id="869" name="椭圆 868"/>
                  <p:cNvSpPr/>
                  <p:nvPr/>
                </p:nvSpPr>
                <p:spPr>
                  <a:xfrm>
                    <a:off x="2575333" y="3528539"/>
                    <a:ext cx="104065" cy="8894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FF6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70" name="直接连接符 869"/>
                  <p:cNvCxnSpPr>
                    <a:stCxn id="869" idx="2"/>
                    <a:endCxn id="869" idx="6"/>
                  </p:cNvCxnSpPr>
                  <p:nvPr/>
                </p:nvCxnSpPr>
                <p:spPr>
                  <a:xfrm>
                    <a:off x="2575333" y="3573014"/>
                    <a:ext cx="104065" cy="0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1" name="直接连接符 870"/>
                  <p:cNvCxnSpPr/>
                  <p:nvPr/>
                </p:nvCxnSpPr>
                <p:spPr>
                  <a:xfrm>
                    <a:off x="2627784" y="3528539"/>
                    <a:ext cx="0" cy="88949"/>
                  </a:xfrm>
                  <a:prstGeom prst="line">
                    <a:avLst/>
                  </a:prstGeom>
                  <a:ln w="12700">
                    <a:solidFill>
                      <a:srgbClr val="FF66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865" name="直接连接符 864"/>
              <p:cNvCxnSpPr/>
              <p:nvPr/>
            </p:nvCxnSpPr>
            <p:spPr>
              <a:xfrm>
                <a:off x="2627784" y="3687902"/>
                <a:ext cx="0" cy="216000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83" name="直接箭头连接符 882"/>
            <p:cNvCxnSpPr/>
            <p:nvPr/>
          </p:nvCxnSpPr>
          <p:spPr>
            <a:xfrm flipV="1">
              <a:off x="5580665" y="3363087"/>
              <a:ext cx="0" cy="779957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w="lg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4" name="文本框 883"/>
            <p:cNvSpPr txBox="1"/>
            <p:nvPr/>
          </p:nvSpPr>
          <p:spPr>
            <a:xfrm>
              <a:off x="5541495" y="3606110"/>
              <a:ext cx="6062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100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 </a:t>
              </a:r>
              <a:r>
                <a:rPr lang="en-US" altLang="zh-CN" sz="1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12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2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67" name="直接连接符 566"/>
          <p:cNvCxnSpPr>
            <a:endCxn id="568" idx="3"/>
          </p:cNvCxnSpPr>
          <p:nvPr/>
        </p:nvCxnSpPr>
        <p:spPr>
          <a:xfrm flipH="1">
            <a:off x="3787684" y="2588212"/>
            <a:ext cx="376438" cy="70638"/>
          </a:xfrm>
          <a:prstGeom prst="line">
            <a:avLst/>
          </a:prstGeom>
          <a:ln w="12700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5" name="直接连接符 884"/>
          <p:cNvCxnSpPr>
            <a:endCxn id="14" idx="3"/>
          </p:cNvCxnSpPr>
          <p:nvPr/>
        </p:nvCxnSpPr>
        <p:spPr>
          <a:xfrm flipH="1" flipV="1">
            <a:off x="3794232" y="1479367"/>
            <a:ext cx="350472" cy="31240"/>
          </a:xfrm>
          <a:prstGeom prst="line">
            <a:avLst/>
          </a:prstGeom>
          <a:ln w="12700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1" name="AutoShape 17"/>
          <p:cNvSpPr>
            <a:spLocks noChangeArrowheads="1"/>
          </p:cNvSpPr>
          <p:nvPr/>
        </p:nvSpPr>
        <p:spPr bwMode="auto">
          <a:xfrm>
            <a:off x="6056685" y="3436466"/>
            <a:ext cx="351271" cy="630237"/>
          </a:xfrm>
          <a:prstGeom prst="rightArrow">
            <a:avLst>
              <a:gd name="adj1" fmla="val 50000"/>
              <a:gd name="adj2" fmla="val 36840"/>
            </a:avLst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="" xmlns:a16="http://schemas.microsoft.com/office/drawing/2014/main" id="{049F8300-607B-A0E2-FD7E-CCDE317DF5C8}"/>
              </a:ext>
            </a:extLst>
          </p:cNvPr>
          <p:cNvGrpSpPr/>
          <p:nvPr/>
        </p:nvGrpSpPr>
        <p:grpSpPr>
          <a:xfrm>
            <a:off x="6448625" y="3078152"/>
            <a:ext cx="2482040" cy="1258587"/>
            <a:chOff x="6440858" y="3075806"/>
            <a:chExt cx="2482040" cy="1258587"/>
          </a:xfrm>
        </p:grpSpPr>
        <p:grpSp>
          <p:nvGrpSpPr>
            <p:cNvPr id="886" name="组合 885"/>
            <p:cNvGrpSpPr/>
            <p:nvPr/>
          </p:nvGrpSpPr>
          <p:grpSpPr>
            <a:xfrm>
              <a:off x="6929504" y="4332194"/>
              <a:ext cx="827903" cy="2199"/>
              <a:chOff x="5392048" y="2825956"/>
              <a:chExt cx="827903" cy="2199"/>
            </a:xfrm>
          </p:grpSpPr>
          <p:cxnSp>
            <p:nvCxnSpPr>
              <p:cNvPr id="1009" name="直接连接符 1008"/>
              <p:cNvCxnSpPr/>
              <p:nvPr/>
            </p:nvCxnSpPr>
            <p:spPr>
              <a:xfrm>
                <a:off x="5392048" y="2825956"/>
                <a:ext cx="107704" cy="0"/>
              </a:xfrm>
              <a:prstGeom prst="line">
                <a:avLst/>
              </a:prstGeom>
              <a:ln w="15875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1" name="直接连接符 1010"/>
              <p:cNvCxnSpPr/>
              <p:nvPr/>
            </p:nvCxnSpPr>
            <p:spPr>
              <a:xfrm>
                <a:off x="6112247" y="2828155"/>
                <a:ext cx="107704" cy="0"/>
              </a:xfrm>
              <a:prstGeom prst="line">
                <a:avLst/>
              </a:prstGeom>
              <a:ln w="15875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3" name="组合 1012"/>
            <p:cNvGrpSpPr/>
            <p:nvPr/>
          </p:nvGrpSpPr>
          <p:grpSpPr>
            <a:xfrm>
              <a:off x="6568337" y="3075806"/>
              <a:ext cx="1552232" cy="198527"/>
              <a:chOff x="5026648" y="1348918"/>
              <a:chExt cx="1552232" cy="198527"/>
            </a:xfrm>
          </p:grpSpPr>
          <p:cxnSp>
            <p:nvCxnSpPr>
              <p:cNvPr id="1027" name="直接连接符 1026"/>
              <p:cNvCxnSpPr/>
              <p:nvPr/>
            </p:nvCxnSpPr>
            <p:spPr>
              <a:xfrm>
                <a:off x="5026648" y="1545539"/>
                <a:ext cx="107704" cy="0"/>
              </a:xfrm>
              <a:prstGeom prst="line">
                <a:avLst/>
              </a:prstGeom>
              <a:ln w="15875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15" name="组合 1014"/>
              <p:cNvGrpSpPr/>
              <p:nvPr/>
            </p:nvGrpSpPr>
            <p:grpSpPr>
              <a:xfrm>
                <a:off x="5377519" y="1348918"/>
                <a:ext cx="107704" cy="109515"/>
                <a:chOff x="5123945" y="1286414"/>
                <a:chExt cx="122400" cy="122400"/>
              </a:xfrm>
            </p:grpSpPr>
            <p:cxnSp>
              <p:nvCxnSpPr>
                <p:cNvPr id="1025" name="直接连接符 1024"/>
                <p:cNvCxnSpPr/>
                <p:nvPr/>
              </p:nvCxnSpPr>
              <p:spPr>
                <a:xfrm>
                  <a:off x="5123945" y="1347614"/>
                  <a:ext cx="122400" cy="0"/>
                </a:xfrm>
                <a:prstGeom prst="line">
                  <a:avLst/>
                </a:prstGeom>
                <a:ln w="15875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6" name="直接连接符 1025"/>
                <p:cNvCxnSpPr/>
                <p:nvPr/>
              </p:nvCxnSpPr>
              <p:spPr>
                <a:xfrm>
                  <a:off x="5185138" y="1286414"/>
                  <a:ext cx="0" cy="122400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23" name="直接连接符 1022"/>
              <p:cNvCxnSpPr/>
              <p:nvPr/>
            </p:nvCxnSpPr>
            <p:spPr>
              <a:xfrm>
                <a:off x="5752398" y="1545850"/>
                <a:ext cx="107704" cy="0"/>
              </a:xfrm>
              <a:prstGeom prst="line">
                <a:avLst/>
              </a:prstGeom>
              <a:ln w="15875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17" name="组合 1016"/>
              <p:cNvGrpSpPr/>
              <p:nvPr/>
            </p:nvGrpSpPr>
            <p:grpSpPr>
              <a:xfrm>
                <a:off x="6102871" y="1353380"/>
                <a:ext cx="107704" cy="109515"/>
                <a:chOff x="5123945" y="1286414"/>
                <a:chExt cx="122400" cy="122400"/>
              </a:xfrm>
            </p:grpSpPr>
            <p:cxnSp>
              <p:nvCxnSpPr>
                <p:cNvPr id="1021" name="直接连接符 1020"/>
                <p:cNvCxnSpPr/>
                <p:nvPr/>
              </p:nvCxnSpPr>
              <p:spPr>
                <a:xfrm>
                  <a:off x="5123945" y="1347614"/>
                  <a:ext cx="122400" cy="0"/>
                </a:xfrm>
                <a:prstGeom prst="line">
                  <a:avLst/>
                </a:prstGeom>
                <a:ln w="15875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2" name="直接连接符 1021"/>
                <p:cNvCxnSpPr/>
                <p:nvPr/>
              </p:nvCxnSpPr>
              <p:spPr>
                <a:xfrm>
                  <a:off x="5185138" y="1286414"/>
                  <a:ext cx="0" cy="122400"/>
                </a:xfrm>
                <a:prstGeom prst="line">
                  <a:avLst/>
                </a:prstGeom>
                <a:ln w="12700">
                  <a:solidFill>
                    <a:srgbClr val="FF66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19" name="直接连接符 1018"/>
              <p:cNvCxnSpPr/>
              <p:nvPr/>
            </p:nvCxnSpPr>
            <p:spPr>
              <a:xfrm>
                <a:off x="6471176" y="1547445"/>
                <a:ext cx="107704" cy="0"/>
              </a:xfrm>
              <a:prstGeom prst="line">
                <a:avLst/>
              </a:prstGeom>
              <a:ln w="15875">
                <a:solidFill>
                  <a:srgbClr val="FF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9" name="矩形 1028"/>
            <p:cNvSpPr/>
            <p:nvPr/>
          </p:nvSpPr>
          <p:spPr>
            <a:xfrm>
              <a:off x="6440858" y="3230362"/>
              <a:ext cx="1800000" cy="10078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90" name="直接箭头连接符 1089"/>
            <p:cNvCxnSpPr/>
            <p:nvPr/>
          </p:nvCxnSpPr>
          <p:spPr>
            <a:xfrm flipV="1">
              <a:off x="8342008" y="3350739"/>
              <a:ext cx="0" cy="779957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w="lg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2" name="文本框 1091"/>
            <p:cNvSpPr txBox="1"/>
            <p:nvPr/>
          </p:nvSpPr>
          <p:spPr>
            <a:xfrm>
              <a:off x="8316682" y="3643220"/>
              <a:ext cx="6062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100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 </a:t>
              </a:r>
              <a:r>
                <a:rPr lang="en-US" altLang="zh-CN" sz="1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12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2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93" name="矩形: 圆角 20">
            <a:extLst>
              <a:ext uri="{FF2B5EF4-FFF2-40B4-BE49-F238E27FC236}">
                <a16:creationId xmlns="" xmlns:a16="http://schemas.microsoft.com/office/drawing/2014/main" id="{BDC70CAB-9FE0-4BF3-8D3C-C8DE7E44F66E}"/>
              </a:ext>
            </a:extLst>
          </p:cNvPr>
          <p:cNvSpPr/>
          <p:nvPr/>
        </p:nvSpPr>
        <p:spPr>
          <a:xfrm>
            <a:off x="107504" y="195797"/>
            <a:ext cx="748813" cy="32084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6.4.1</a:t>
            </a:r>
            <a:endParaRPr kumimoji="1" lang="zh-CN" altLang="en-US" sz="1866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094" name="组合 1093"/>
          <p:cNvGrpSpPr/>
          <p:nvPr/>
        </p:nvGrpSpPr>
        <p:grpSpPr>
          <a:xfrm>
            <a:off x="899592" y="178083"/>
            <a:ext cx="2520280" cy="338554"/>
            <a:chOff x="899592" y="178083"/>
            <a:chExt cx="2520280" cy="338554"/>
          </a:xfrm>
        </p:grpSpPr>
        <p:sp>
          <p:nvSpPr>
            <p:cNvPr id="1095" name="文本框 60">
              <a:extLst>
                <a:ext uri="{FF2B5EF4-FFF2-40B4-BE49-F238E27FC236}">
                  <a16:creationId xmlns="" xmlns:a16="http://schemas.microsoft.com/office/drawing/2014/main" id="{791D85D7-F412-9C48-9F2B-E33F5B7B4F3C}"/>
                </a:ext>
              </a:extLst>
            </p:cNvPr>
            <p:cNvSpPr txBox="1"/>
            <p:nvPr/>
          </p:nvSpPr>
          <p:spPr>
            <a:xfrm>
              <a:off x="899592" y="178083"/>
              <a:ext cx="2520280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热释电探测器基本原理</a:t>
              </a:r>
            </a:p>
          </p:txBody>
        </p:sp>
        <p:cxnSp>
          <p:nvCxnSpPr>
            <p:cNvPr id="1096" name="直接连接符 58">
              <a:extLst>
                <a:ext uri="{FF2B5EF4-FFF2-40B4-BE49-F238E27FC236}">
                  <a16:creationId xmlns="" xmlns:a16="http://schemas.microsoft.com/office/drawing/2014/main" id="{8C5F82EF-52B4-4531-96F0-44689EA1125E}"/>
                </a:ext>
              </a:extLst>
            </p:cNvPr>
            <p:cNvCxnSpPr>
              <a:cxnSpLocks/>
            </p:cNvCxnSpPr>
            <p:nvPr/>
          </p:nvCxnSpPr>
          <p:spPr>
            <a:xfrm>
              <a:off x="971600" y="483518"/>
              <a:ext cx="2412000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7" name="Rectangle 65"/>
          <p:cNvSpPr>
            <a:spLocks noChangeArrowheads="1"/>
          </p:cNvSpPr>
          <p:nvPr/>
        </p:nvSpPr>
        <p:spPr bwMode="auto">
          <a:xfrm>
            <a:off x="6544028" y="4455261"/>
            <a:ext cx="173685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“释放” 电荷 </a:t>
            </a:r>
          </a:p>
        </p:txBody>
      </p:sp>
      <p:sp>
        <p:nvSpPr>
          <p:cNvPr id="1100" name="Rectangle 20"/>
          <p:cNvSpPr>
            <a:spLocks noChangeArrowheads="1"/>
          </p:cNvSpPr>
          <p:nvPr/>
        </p:nvSpPr>
        <p:spPr bwMode="auto">
          <a:xfrm>
            <a:off x="14896" y="3511878"/>
            <a:ext cx="2099636" cy="738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zh-CN" altLang="en-US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温升到</a:t>
            </a:r>
            <a:r>
              <a:rPr lang="en-US" altLang="zh-CN" sz="1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1400" b="1" baseline="-25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400" b="1" baseline="-25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束缚电荷减少</a:t>
            </a:r>
            <a:endParaRPr lang="en-US" altLang="zh-CN" sz="1400" b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zh-CN" altLang="en-US" sz="1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极化</a:t>
            </a:r>
            <a:r>
              <a:rPr lang="zh-CN" altLang="en-US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驰豫</a:t>
            </a:r>
            <a:r>
              <a:rPr lang="zh-CN" altLang="en-US" sz="1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时间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98" name="文本框 1097"/>
          <p:cNvSpPr txBox="1"/>
          <p:nvPr/>
        </p:nvSpPr>
        <p:spPr>
          <a:xfrm>
            <a:off x="14896" y="1635928"/>
            <a:ext cx="2126254" cy="73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表面束缚电荷中和</a:t>
            </a:r>
            <a:endParaRPr lang="en-US" altLang="zh-CN" sz="1400" b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时间常数</a:t>
            </a:r>
            <a:r>
              <a:rPr lang="el-GR" altLang="zh-CN" sz="1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τ</a:t>
            </a:r>
            <a:r>
              <a:rPr lang="en-US" altLang="zh-CN" sz="1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l-GR" altLang="zh-CN" sz="1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ε</a:t>
            </a:r>
            <a:r>
              <a:rPr lang="en-US" altLang="zh-CN" sz="1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l-GR" altLang="zh-CN" sz="1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ρ</a:t>
            </a:r>
            <a:endParaRPr lang="zh-CN" altLang="en-US" sz="1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5" name="文本框 364"/>
          <p:cNvSpPr txBox="1"/>
          <p:nvPr/>
        </p:nvSpPr>
        <p:spPr>
          <a:xfrm>
            <a:off x="2111309" y="1840790"/>
            <a:ext cx="88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1~10</a:t>
            </a:r>
            <a:r>
              <a:rPr lang="en-US" altLang="zh-C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177600" y="3676400"/>
            <a:ext cx="707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皮秒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上下箭头 30"/>
          <p:cNvSpPr/>
          <p:nvPr/>
        </p:nvSpPr>
        <p:spPr>
          <a:xfrm>
            <a:off x="2397823" y="2255968"/>
            <a:ext cx="253671" cy="1364410"/>
          </a:xfrm>
          <a:prstGeom prst="upDownArrow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23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80667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6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6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1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62" grpId="0"/>
      <p:bldP spid="14" grpId="0"/>
      <p:bldP spid="568" grpId="0"/>
      <p:bldP spid="576" grpId="0"/>
      <p:bldP spid="653" grpId="0" animBg="1"/>
      <p:bldP spid="754" grpId="0"/>
      <p:bldP spid="29" grpId="0" animBg="1"/>
      <p:bldP spid="757" grpId="0" animBg="1"/>
      <p:bldP spid="1091" grpId="0" animBg="1"/>
      <p:bldP spid="1097" grpId="0" animBg="1"/>
      <p:bldP spid="1100" grpId="0" animBg="1"/>
      <p:bldP spid="1098" grpId="0" animBg="1"/>
      <p:bldP spid="365" grpId="0"/>
      <p:bldP spid="30" grpId="0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/>
          <p:cNvSpPr>
            <a:spLocks noChangeArrowheads="1"/>
          </p:cNvSpPr>
          <p:nvPr/>
        </p:nvSpPr>
        <p:spPr bwMode="auto">
          <a:xfrm>
            <a:off x="900113" y="3140176"/>
            <a:ext cx="7127875" cy="113486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纯容性器件：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阻抗高达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en-US" altLang="zh-CN" sz="2400" b="1" baseline="30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el-GR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Ω</a:t>
            </a:r>
            <a:endParaRPr lang="en-US" altLang="zh-CN" sz="2400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必须配以高阻抗的负载－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结型场效应管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JFET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171" name="Picture 20" descr="6t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1492250"/>
            <a:ext cx="4465638" cy="156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6"/>
          <p:cNvSpPr>
            <a:spLocks noChangeArrowheads="1"/>
          </p:cNvSpPr>
          <p:nvPr/>
        </p:nvSpPr>
        <p:spPr bwMode="auto">
          <a:xfrm>
            <a:off x="827088" y="771525"/>
            <a:ext cx="2305050" cy="4616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基本结构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="" xmlns:a16="http://schemas.microsoft.com/office/drawing/2014/main" id="{D2F60FA5-768D-462E-886C-313BFFE5E8BE}"/>
              </a:ext>
            </a:extLst>
          </p:cNvPr>
          <p:cNvGrpSpPr/>
          <p:nvPr/>
        </p:nvGrpSpPr>
        <p:grpSpPr>
          <a:xfrm>
            <a:off x="0" y="195797"/>
            <a:ext cx="8773149" cy="4947406"/>
            <a:chOff x="0" y="195797"/>
            <a:chExt cx="8773149" cy="4947406"/>
          </a:xfrm>
        </p:grpSpPr>
        <p:sp>
          <p:nvSpPr>
            <p:cNvPr id="11" name="矩形 10">
              <a:extLst>
                <a:ext uri="{FF2B5EF4-FFF2-40B4-BE49-F238E27FC236}">
                  <a16:creationId xmlns="" xmlns:a16="http://schemas.microsoft.com/office/drawing/2014/main" id="{ECFC462E-2284-46F7-98D1-863E6B18C686}"/>
                </a:ext>
              </a:extLst>
            </p:cNvPr>
            <p:cNvSpPr/>
            <p:nvPr/>
          </p:nvSpPr>
          <p:spPr>
            <a:xfrm>
              <a:off x="6678647" y="219732"/>
              <a:ext cx="965535" cy="285904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733" b="1" spc="33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="" xmlns:a16="http://schemas.microsoft.com/office/drawing/2014/main" id="{4F125898-0C70-400E-ACAF-2933374710D6}"/>
                </a:ext>
              </a:extLst>
            </p:cNvPr>
            <p:cNvSpPr/>
            <p:nvPr/>
          </p:nvSpPr>
          <p:spPr>
            <a:xfrm>
              <a:off x="8661480" y="241570"/>
              <a:ext cx="111669" cy="275067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="" xmlns:a16="http://schemas.microsoft.com/office/drawing/2014/main" id="{9D36AE2D-01AC-4449-A608-9E42D328B2E3}"/>
                </a:ext>
              </a:extLst>
            </p:cNvPr>
            <p:cNvSpPr/>
            <p:nvPr/>
          </p:nvSpPr>
          <p:spPr>
            <a:xfrm>
              <a:off x="107504" y="195797"/>
              <a:ext cx="748813" cy="320841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533"/>
                </a:spcBef>
              </a:pPr>
              <a:r>
                <a:rPr kumimoji="1" lang="en-US" altLang="zh-CN" sz="1866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6.4.1</a:t>
              </a:r>
              <a:endParaRPr kumimoji="1" lang="zh-CN" altLang="en-US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="" xmlns:a16="http://schemas.microsoft.com/office/drawing/2014/main" id="{BF9E7647-8904-4B09-8AF6-208115D88BC3}"/>
                </a:ext>
              </a:extLst>
            </p:cNvPr>
            <p:cNvSpPr/>
            <p:nvPr/>
          </p:nvSpPr>
          <p:spPr>
            <a:xfrm>
              <a:off x="7500411" y="195797"/>
              <a:ext cx="1161069" cy="348677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 algn="r"/>
              <a:r>
                <a:rPr lang="zh-CN" altLang="en-US" sz="1866" spc="13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="" xmlns:a16="http://schemas.microsoft.com/office/drawing/2014/main" id="{856E965A-66E1-4CAA-B78E-DFB742D498AA}"/>
                </a:ext>
              </a:extLst>
            </p:cNvPr>
            <p:cNvSpPr/>
            <p:nvPr/>
          </p:nvSpPr>
          <p:spPr>
            <a:xfrm flipV="1">
              <a:off x="0" y="5059383"/>
              <a:ext cx="6760050" cy="83820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99592" y="178083"/>
            <a:ext cx="2520280" cy="338554"/>
            <a:chOff x="899592" y="178083"/>
            <a:chExt cx="2520280" cy="338554"/>
          </a:xfrm>
        </p:grpSpPr>
        <p:sp>
          <p:nvSpPr>
            <p:cNvPr id="18" name="文本框 60">
              <a:extLst>
                <a:ext uri="{FF2B5EF4-FFF2-40B4-BE49-F238E27FC236}">
                  <a16:creationId xmlns="" xmlns:a16="http://schemas.microsoft.com/office/drawing/2014/main" id="{791D85D7-F412-9C48-9F2B-E33F5B7B4F3C}"/>
                </a:ext>
              </a:extLst>
            </p:cNvPr>
            <p:cNvSpPr txBox="1"/>
            <p:nvPr/>
          </p:nvSpPr>
          <p:spPr>
            <a:xfrm>
              <a:off x="899592" y="178083"/>
              <a:ext cx="2520280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热释电</a:t>
              </a: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探测器的基本原理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9" name="直接连接符 58">
              <a:extLst>
                <a:ext uri="{FF2B5EF4-FFF2-40B4-BE49-F238E27FC236}">
                  <a16:creationId xmlns="" xmlns:a16="http://schemas.microsoft.com/office/drawing/2014/main" id="{8C5F82EF-52B4-4531-96F0-44689EA1125E}"/>
                </a:ext>
              </a:extLst>
            </p:cNvPr>
            <p:cNvCxnSpPr>
              <a:cxnSpLocks/>
            </p:cNvCxnSpPr>
            <p:nvPr/>
          </p:nvCxnSpPr>
          <p:spPr>
            <a:xfrm>
              <a:off x="971600" y="483518"/>
              <a:ext cx="2412000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/>
          <p:cNvSpPr>
            <a:spLocks noChangeArrowheads="1"/>
          </p:cNvSpPr>
          <p:nvPr/>
        </p:nvSpPr>
        <p:spPr bwMode="auto">
          <a:xfrm>
            <a:off x="1475656" y="4443958"/>
            <a:ext cx="5472906" cy="40011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热释电－</a:t>
            </a:r>
            <a:r>
              <a:rPr lang="en-US" altLang="zh-CN" sz="2000" b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JFET</a:t>
            </a:r>
            <a:r>
              <a:rPr lang="zh-CN" altLang="en-US" sz="2000" b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组件：   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阻抗变换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低阻抗输出</a:t>
            </a:r>
          </a:p>
        </p:txBody>
      </p:sp>
      <p:sp>
        <p:nvSpPr>
          <p:cNvPr id="8195" name="Rectangle 16"/>
          <p:cNvSpPr>
            <a:spLocks noChangeArrowheads="1"/>
          </p:cNvSpPr>
          <p:nvPr/>
        </p:nvSpPr>
        <p:spPr bwMode="auto">
          <a:xfrm>
            <a:off x="752149" y="731952"/>
            <a:ext cx="1368078" cy="40011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实际电路：</a:t>
            </a:r>
          </a:p>
        </p:txBody>
      </p:sp>
      <p:sp>
        <p:nvSpPr>
          <p:cNvPr id="8196" name="Rectangle 17"/>
          <p:cNvSpPr>
            <a:spLocks noChangeArrowheads="1"/>
          </p:cNvSpPr>
          <p:nvPr/>
        </p:nvSpPr>
        <p:spPr bwMode="auto">
          <a:xfrm>
            <a:off x="744538" y="1212434"/>
            <a:ext cx="7366000" cy="87395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热释电探测器：纯容性器件，阻抗高达</a:t>
            </a:r>
            <a:r>
              <a:rPr lang="en-US" altLang="zh-CN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en-US" altLang="zh-CN" b="1" baseline="30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el-GR" altLang="zh-CN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Ω</a:t>
            </a:r>
            <a:endParaRPr lang="en-US" altLang="zh-CN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	</a:t>
            </a:r>
            <a:r>
              <a: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配高阻抗的负载</a:t>
            </a:r>
            <a:r>
              <a:rPr lang="en-US" altLang="zh-CN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结型场效应管（</a:t>
            </a:r>
            <a:r>
              <a:rPr lang="en-US" altLang="zh-CN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JFET</a:t>
            </a:r>
            <a:r>
              <a: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3557" name="Picture 19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D9C3A5">
                <a:tint val="50000"/>
                <a:satMod val="180000"/>
              </a:srgbClr>
            </a:duotone>
          </a:blip>
          <a:srcRect/>
          <a:stretch>
            <a:fillRect/>
          </a:stretch>
        </p:blipFill>
        <p:spPr bwMode="auto">
          <a:xfrm>
            <a:off x="2555776" y="2257734"/>
            <a:ext cx="3549421" cy="20486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组合 8">
            <a:extLst>
              <a:ext uri="{FF2B5EF4-FFF2-40B4-BE49-F238E27FC236}">
                <a16:creationId xmlns="" xmlns:a16="http://schemas.microsoft.com/office/drawing/2014/main" id="{F1B6B2E3-1DDD-4DDF-90AC-6676D9638FF9}"/>
              </a:ext>
            </a:extLst>
          </p:cNvPr>
          <p:cNvGrpSpPr/>
          <p:nvPr/>
        </p:nvGrpSpPr>
        <p:grpSpPr>
          <a:xfrm>
            <a:off x="0" y="195797"/>
            <a:ext cx="8773149" cy="4947406"/>
            <a:chOff x="0" y="195797"/>
            <a:chExt cx="8773149" cy="4947406"/>
          </a:xfrm>
        </p:grpSpPr>
        <p:sp>
          <p:nvSpPr>
            <p:cNvPr id="11" name="矩形 10">
              <a:extLst>
                <a:ext uri="{FF2B5EF4-FFF2-40B4-BE49-F238E27FC236}">
                  <a16:creationId xmlns="" xmlns:a16="http://schemas.microsoft.com/office/drawing/2014/main" id="{660CFF54-8859-4D12-A1CE-1E18435E228F}"/>
                </a:ext>
              </a:extLst>
            </p:cNvPr>
            <p:cNvSpPr/>
            <p:nvPr/>
          </p:nvSpPr>
          <p:spPr>
            <a:xfrm>
              <a:off x="6678647" y="219732"/>
              <a:ext cx="965535" cy="285904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733" b="1" spc="33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="" xmlns:a16="http://schemas.microsoft.com/office/drawing/2014/main" id="{306DF50F-7C72-4B3D-8E91-06F2D91DBD2C}"/>
                </a:ext>
              </a:extLst>
            </p:cNvPr>
            <p:cNvSpPr/>
            <p:nvPr/>
          </p:nvSpPr>
          <p:spPr>
            <a:xfrm>
              <a:off x="8661480" y="241570"/>
              <a:ext cx="111669" cy="275067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="" xmlns:a16="http://schemas.microsoft.com/office/drawing/2014/main" id="{7A867AA1-2A4E-4671-A680-242FFCE523F7}"/>
                </a:ext>
              </a:extLst>
            </p:cNvPr>
            <p:cNvSpPr/>
            <p:nvPr/>
          </p:nvSpPr>
          <p:spPr>
            <a:xfrm>
              <a:off x="107504" y="195797"/>
              <a:ext cx="748813" cy="320841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533"/>
                </a:spcBef>
              </a:pPr>
              <a:r>
                <a:rPr kumimoji="1" lang="en-US" altLang="zh-CN" sz="1866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6.4.1</a:t>
              </a:r>
              <a:endParaRPr kumimoji="1" lang="zh-CN" altLang="en-US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="" xmlns:a16="http://schemas.microsoft.com/office/drawing/2014/main" id="{D438FECB-1F67-42A6-8A9C-B989D84A6A3B}"/>
                </a:ext>
              </a:extLst>
            </p:cNvPr>
            <p:cNvSpPr/>
            <p:nvPr/>
          </p:nvSpPr>
          <p:spPr>
            <a:xfrm>
              <a:off x="7500411" y="195797"/>
              <a:ext cx="1161069" cy="348677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 algn="r"/>
              <a:r>
                <a:rPr lang="zh-CN" altLang="en-US" sz="1866" spc="13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="" xmlns:a16="http://schemas.microsoft.com/office/drawing/2014/main" id="{1F8896AC-118E-492F-9839-8CCC54888AC6}"/>
                </a:ext>
              </a:extLst>
            </p:cNvPr>
            <p:cNvSpPr/>
            <p:nvPr/>
          </p:nvSpPr>
          <p:spPr>
            <a:xfrm flipV="1">
              <a:off x="0" y="5059383"/>
              <a:ext cx="6760050" cy="83820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99592" y="178083"/>
            <a:ext cx="2520280" cy="338554"/>
            <a:chOff x="899592" y="178083"/>
            <a:chExt cx="2520280" cy="338554"/>
          </a:xfrm>
        </p:grpSpPr>
        <p:sp>
          <p:nvSpPr>
            <p:cNvPr id="18" name="文本框 60">
              <a:extLst>
                <a:ext uri="{FF2B5EF4-FFF2-40B4-BE49-F238E27FC236}">
                  <a16:creationId xmlns="" xmlns:a16="http://schemas.microsoft.com/office/drawing/2014/main" id="{791D85D7-F412-9C48-9F2B-E33F5B7B4F3C}"/>
                </a:ext>
              </a:extLst>
            </p:cNvPr>
            <p:cNvSpPr txBox="1"/>
            <p:nvPr/>
          </p:nvSpPr>
          <p:spPr>
            <a:xfrm>
              <a:off x="899592" y="178083"/>
              <a:ext cx="2520280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热释电</a:t>
              </a: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探测器的基本原理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9" name="直接连接符 58">
              <a:extLst>
                <a:ext uri="{FF2B5EF4-FFF2-40B4-BE49-F238E27FC236}">
                  <a16:creationId xmlns="" xmlns:a16="http://schemas.microsoft.com/office/drawing/2014/main" id="{8C5F82EF-52B4-4531-96F0-44689EA1125E}"/>
                </a:ext>
              </a:extLst>
            </p:cNvPr>
            <p:cNvCxnSpPr>
              <a:cxnSpLocks/>
            </p:cNvCxnSpPr>
            <p:nvPr/>
          </p:nvCxnSpPr>
          <p:spPr>
            <a:xfrm>
              <a:off x="971600" y="483518"/>
              <a:ext cx="2412000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1520825"/>
            <a:ext cx="4522787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Rectangle 13"/>
          <p:cNvSpPr>
            <a:spLocks noChangeArrowheads="1"/>
          </p:cNvSpPr>
          <p:nvPr/>
        </p:nvSpPr>
        <p:spPr bwMode="auto">
          <a:xfrm>
            <a:off x="1835696" y="1864786"/>
            <a:ext cx="431453" cy="1323439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</a:t>
            </a:r>
            <a:endParaRPr lang="en-US" altLang="zh-CN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</a:t>
            </a:r>
            <a:endParaRPr lang="en-US" altLang="zh-CN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</a:t>
            </a:r>
          </a:p>
        </p:txBody>
      </p:sp>
      <p:pic>
        <p:nvPicPr>
          <p:cNvPr id="5" name="Picture 16"/>
          <p:cNvPicPr>
            <a:picLocks noChangeAspect="1" noChangeArrowheads="1"/>
          </p:cNvPicPr>
          <p:nvPr/>
        </p:nvPicPr>
        <p:blipFill>
          <a:blip r:embed="rId3">
            <a:lum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925" y="3789363"/>
            <a:ext cx="11207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4954588" y="3806715"/>
            <a:ext cx="1724059" cy="64633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热释电探测器</a:t>
            </a:r>
          </a:p>
          <a:p>
            <a:pPr algn="ctr"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图形符号 </a:t>
            </a:r>
          </a:p>
        </p:txBody>
      </p:sp>
      <p:sp>
        <p:nvSpPr>
          <p:cNvPr id="7" name="Rectangle 18"/>
          <p:cNvSpPr>
            <a:spLocks noChangeArrowheads="1"/>
          </p:cNvSpPr>
          <p:nvPr/>
        </p:nvSpPr>
        <p:spPr bwMode="auto">
          <a:xfrm>
            <a:off x="2484438" y="1446213"/>
            <a:ext cx="2838450" cy="2160587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20"/>
          <p:cNvSpPr>
            <a:spLocks noChangeArrowheads="1"/>
          </p:cNvSpPr>
          <p:nvPr/>
        </p:nvSpPr>
        <p:spPr bwMode="auto">
          <a:xfrm>
            <a:off x="4025899" y="3673852"/>
            <a:ext cx="504825" cy="288925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16"/>
          <p:cNvSpPr>
            <a:spLocks noChangeArrowheads="1"/>
          </p:cNvSpPr>
          <p:nvPr/>
        </p:nvSpPr>
        <p:spPr bwMode="auto">
          <a:xfrm>
            <a:off x="720725" y="735013"/>
            <a:ext cx="1619027" cy="40011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工作原理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="" xmlns:a16="http://schemas.microsoft.com/office/drawing/2014/main" id="{68A740FF-0122-4212-ADF0-6F599C24654E}"/>
              </a:ext>
            </a:extLst>
          </p:cNvPr>
          <p:cNvGrpSpPr/>
          <p:nvPr/>
        </p:nvGrpSpPr>
        <p:grpSpPr>
          <a:xfrm>
            <a:off x="0" y="195797"/>
            <a:ext cx="8773149" cy="4947406"/>
            <a:chOff x="0" y="195797"/>
            <a:chExt cx="8773149" cy="4947406"/>
          </a:xfrm>
        </p:grpSpPr>
        <p:sp>
          <p:nvSpPr>
            <p:cNvPr id="15" name="矩形 14">
              <a:extLst>
                <a:ext uri="{FF2B5EF4-FFF2-40B4-BE49-F238E27FC236}">
                  <a16:creationId xmlns="" xmlns:a16="http://schemas.microsoft.com/office/drawing/2014/main" id="{BE513D16-E834-4FB3-8493-DEB4F48972CD}"/>
                </a:ext>
              </a:extLst>
            </p:cNvPr>
            <p:cNvSpPr/>
            <p:nvPr/>
          </p:nvSpPr>
          <p:spPr>
            <a:xfrm>
              <a:off x="6678647" y="219732"/>
              <a:ext cx="965535" cy="285904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733" b="1" spc="33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="" xmlns:a16="http://schemas.microsoft.com/office/drawing/2014/main" id="{1E0F89FF-A964-4A7D-B50B-0A311086A0D9}"/>
                </a:ext>
              </a:extLst>
            </p:cNvPr>
            <p:cNvSpPr/>
            <p:nvPr/>
          </p:nvSpPr>
          <p:spPr>
            <a:xfrm>
              <a:off x="8661480" y="241570"/>
              <a:ext cx="111669" cy="275067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="" xmlns:a16="http://schemas.microsoft.com/office/drawing/2014/main" id="{74EB395A-6DF1-4A3A-9796-AACA61DAE89F}"/>
                </a:ext>
              </a:extLst>
            </p:cNvPr>
            <p:cNvSpPr/>
            <p:nvPr/>
          </p:nvSpPr>
          <p:spPr>
            <a:xfrm>
              <a:off x="107504" y="195797"/>
              <a:ext cx="748813" cy="320841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533"/>
                </a:spcBef>
              </a:pPr>
              <a:r>
                <a:rPr kumimoji="1" lang="en-US" altLang="zh-CN" sz="1866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6.4.1</a:t>
              </a:r>
              <a:endParaRPr kumimoji="1" lang="zh-CN" altLang="en-US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="" xmlns:a16="http://schemas.microsoft.com/office/drawing/2014/main" id="{22CEE18A-5225-450C-8134-0A4FF325EEAF}"/>
                </a:ext>
              </a:extLst>
            </p:cNvPr>
            <p:cNvSpPr/>
            <p:nvPr/>
          </p:nvSpPr>
          <p:spPr>
            <a:xfrm>
              <a:off x="7500411" y="195797"/>
              <a:ext cx="1161069" cy="348677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 algn="r"/>
              <a:r>
                <a:rPr lang="zh-CN" altLang="en-US" sz="1866" spc="13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="" xmlns:a16="http://schemas.microsoft.com/office/drawing/2014/main" id="{CB5C0E81-3DA3-4423-80A9-DE4FD2F8FB16}"/>
                </a:ext>
              </a:extLst>
            </p:cNvPr>
            <p:cNvSpPr/>
            <p:nvPr/>
          </p:nvSpPr>
          <p:spPr>
            <a:xfrm flipV="1">
              <a:off x="0" y="5059383"/>
              <a:ext cx="6760050" cy="83820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899592" y="178083"/>
            <a:ext cx="2520280" cy="338554"/>
            <a:chOff x="899592" y="178083"/>
            <a:chExt cx="2520280" cy="338554"/>
          </a:xfrm>
        </p:grpSpPr>
        <p:sp>
          <p:nvSpPr>
            <p:cNvPr id="22" name="文本框 60">
              <a:extLst>
                <a:ext uri="{FF2B5EF4-FFF2-40B4-BE49-F238E27FC236}">
                  <a16:creationId xmlns="" xmlns:a16="http://schemas.microsoft.com/office/drawing/2014/main" id="{791D85D7-F412-9C48-9F2B-E33F5B7B4F3C}"/>
                </a:ext>
              </a:extLst>
            </p:cNvPr>
            <p:cNvSpPr txBox="1"/>
            <p:nvPr/>
          </p:nvSpPr>
          <p:spPr>
            <a:xfrm>
              <a:off x="899592" y="178083"/>
              <a:ext cx="2520280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热释电</a:t>
              </a: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探测器的基本原理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3" name="直接连接符 58">
              <a:extLst>
                <a:ext uri="{FF2B5EF4-FFF2-40B4-BE49-F238E27FC236}">
                  <a16:creationId xmlns="" xmlns:a16="http://schemas.microsoft.com/office/drawing/2014/main" id="{8C5F82EF-52B4-4531-96F0-44689EA1125E}"/>
                </a:ext>
              </a:extLst>
            </p:cNvPr>
            <p:cNvCxnSpPr>
              <a:cxnSpLocks/>
            </p:cNvCxnSpPr>
            <p:nvPr/>
          </p:nvCxnSpPr>
          <p:spPr>
            <a:xfrm>
              <a:off x="971600" y="483518"/>
              <a:ext cx="2412000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1"/>
          <p:cNvSpPr>
            <a:spLocks noChangeArrowheads="1"/>
          </p:cNvSpPr>
          <p:nvPr/>
        </p:nvSpPr>
        <p:spPr bwMode="auto">
          <a:xfrm>
            <a:off x="773854" y="847047"/>
            <a:ext cx="1438498" cy="40011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基本原理：</a:t>
            </a:r>
          </a:p>
        </p:txBody>
      </p:sp>
      <p:graphicFrame>
        <p:nvGraphicFramePr>
          <p:cNvPr id="3" name="Object 19"/>
          <p:cNvGraphicFramePr>
            <a:graphicFrameLocks noChangeAspect="1"/>
          </p:cNvGraphicFramePr>
          <p:nvPr/>
        </p:nvGraphicFramePr>
        <p:xfrm>
          <a:off x="755650" y="2481263"/>
          <a:ext cx="5545138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6" name="Equation" r:id="rId3" imgW="2743200" imgH="431800" progId="Equation.DSMT4">
                  <p:embed/>
                </p:oleObj>
              </mc:Choice>
              <mc:Fallback>
                <p:oleObj name="Equation" r:id="rId3" imgW="2743200" imgH="4318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481263"/>
                        <a:ext cx="5545138" cy="8112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5984983"/>
              </p:ext>
            </p:extLst>
          </p:nvPr>
        </p:nvGraphicFramePr>
        <p:xfrm>
          <a:off x="1571625" y="3654425"/>
          <a:ext cx="4056063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7" name="Equation" r:id="rId5" imgW="1625400" imgH="431640" progId="Equation.DSMT4">
                  <p:embed/>
                </p:oleObj>
              </mc:Choice>
              <mc:Fallback>
                <p:oleObj name="Equation" r:id="rId5" imgW="1625400" imgH="43164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3654425"/>
                        <a:ext cx="4056063" cy="8413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utoShape 24"/>
          <p:cNvSpPr>
            <a:spLocks noChangeArrowheads="1"/>
          </p:cNvSpPr>
          <p:nvPr/>
        </p:nvSpPr>
        <p:spPr bwMode="auto">
          <a:xfrm>
            <a:off x="3203575" y="3168650"/>
            <a:ext cx="576263" cy="485775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6" name="Text Box 25"/>
          <p:cNvSpPr txBox="1">
            <a:spLocks noChangeArrowheads="1"/>
          </p:cNvSpPr>
          <p:nvPr/>
        </p:nvSpPr>
        <p:spPr bwMode="auto">
          <a:xfrm>
            <a:off x="2555776" y="822072"/>
            <a:ext cx="3600450" cy="46166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辐射通量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信号电压</a:t>
            </a:r>
          </a:p>
        </p:txBody>
      </p:sp>
      <p:graphicFrame>
        <p:nvGraphicFramePr>
          <p:cNvPr id="10247" name="Object 28"/>
          <p:cNvGraphicFramePr>
            <a:graphicFrameLocks noChangeAspect="1"/>
          </p:cNvGraphicFramePr>
          <p:nvPr/>
        </p:nvGraphicFramePr>
        <p:xfrm>
          <a:off x="1158875" y="1347788"/>
          <a:ext cx="48101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8" name="Equation" r:id="rId7" imgW="3060700" imgH="393700" progId="Equation.DSMT4">
                  <p:embed/>
                </p:oleObj>
              </mc:Choice>
              <mc:Fallback>
                <p:oleObj name="Equation" r:id="rId7" imgW="3060700" imgH="3937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875" y="1347788"/>
                        <a:ext cx="4810125" cy="723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30"/>
          <p:cNvSpPr>
            <a:spLocks noChangeArrowheads="1"/>
          </p:cNvSpPr>
          <p:nvPr/>
        </p:nvSpPr>
        <p:spPr bwMode="auto">
          <a:xfrm>
            <a:off x="3132138" y="1924050"/>
            <a:ext cx="576262" cy="485775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="" xmlns:a16="http://schemas.microsoft.com/office/drawing/2014/main" id="{1B271126-93AE-4948-A1A7-FA4168F9F6F1}"/>
              </a:ext>
            </a:extLst>
          </p:cNvPr>
          <p:cNvGrpSpPr/>
          <p:nvPr/>
        </p:nvGrpSpPr>
        <p:grpSpPr>
          <a:xfrm>
            <a:off x="0" y="195797"/>
            <a:ext cx="8773149" cy="4947406"/>
            <a:chOff x="0" y="195797"/>
            <a:chExt cx="8773149" cy="4947406"/>
          </a:xfrm>
        </p:grpSpPr>
        <p:sp>
          <p:nvSpPr>
            <p:cNvPr id="14" name="矩形 13">
              <a:extLst>
                <a:ext uri="{FF2B5EF4-FFF2-40B4-BE49-F238E27FC236}">
                  <a16:creationId xmlns="" xmlns:a16="http://schemas.microsoft.com/office/drawing/2014/main" id="{6883E8F0-9B06-4F75-B67B-B8D80D8E2C4E}"/>
                </a:ext>
              </a:extLst>
            </p:cNvPr>
            <p:cNvSpPr/>
            <p:nvPr/>
          </p:nvSpPr>
          <p:spPr>
            <a:xfrm>
              <a:off x="6678647" y="219732"/>
              <a:ext cx="965535" cy="285904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733" b="1" spc="33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="" xmlns:a16="http://schemas.microsoft.com/office/drawing/2014/main" id="{82F37D32-9ACB-4E11-80C7-1417AD9BBBD7}"/>
                </a:ext>
              </a:extLst>
            </p:cNvPr>
            <p:cNvSpPr/>
            <p:nvPr/>
          </p:nvSpPr>
          <p:spPr>
            <a:xfrm>
              <a:off x="8661480" y="241570"/>
              <a:ext cx="111669" cy="275067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="" xmlns:a16="http://schemas.microsoft.com/office/drawing/2014/main" id="{4B9EA857-76F6-470E-A6A9-EB84E9A18272}"/>
                </a:ext>
              </a:extLst>
            </p:cNvPr>
            <p:cNvSpPr/>
            <p:nvPr/>
          </p:nvSpPr>
          <p:spPr>
            <a:xfrm>
              <a:off x="107504" y="195797"/>
              <a:ext cx="748813" cy="320841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533"/>
                </a:spcBef>
              </a:pPr>
              <a:r>
                <a:rPr kumimoji="1" lang="en-US" altLang="zh-CN" sz="1866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6.4.1</a:t>
              </a:r>
              <a:endParaRPr kumimoji="1" lang="zh-CN" altLang="en-US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="" xmlns:a16="http://schemas.microsoft.com/office/drawing/2014/main" id="{31B395B4-6F1D-4D6C-9FEB-01263843B383}"/>
                </a:ext>
              </a:extLst>
            </p:cNvPr>
            <p:cNvSpPr/>
            <p:nvPr/>
          </p:nvSpPr>
          <p:spPr>
            <a:xfrm>
              <a:off x="7500411" y="195797"/>
              <a:ext cx="1161069" cy="348677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 algn="r"/>
              <a:r>
                <a:rPr lang="zh-CN" altLang="en-US" sz="1866" spc="13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="" xmlns:a16="http://schemas.microsoft.com/office/drawing/2014/main" id="{4A711F84-B205-44A4-8552-71C2A0F43540}"/>
                </a:ext>
              </a:extLst>
            </p:cNvPr>
            <p:cNvSpPr/>
            <p:nvPr/>
          </p:nvSpPr>
          <p:spPr>
            <a:xfrm flipV="1">
              <a:off x="0" y="5059383"/>
              <a:ext cx="6760050" cy="83820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99592" y="178083"/>
            <a:ext cx="2520280" cy="338554"/>
            <a:chOff x="899592" y="178083"/>
            <a:chExt cx="2520280" cy="338554"/>
          </a:xfrm>
        </p:grpSpPr>
        <p:sp>
          <p:nvSpPr>
            <p:cNvPr id="21" name="文本框 60">
              <a:extLst>
                <a:ext uri="{FF2B5EF4-FFF2-40B4-BE49-F238E27FC236}">
                  <a16:creationId xmlns="" xmlns:a16="http://schemas.microsoft.com/office/drawing/2014/main" id="{791D85D7-F412-9C48-9F2B-E33F5B7B4F3C}"/>
                </a:ext>
              </a:extLst>
            </p:cNvPr>
            <p:cNvSpPr txBox="1"/>
            <p:nvPr/>
          </p:nvSpPr>
          <p:spPr>
            <a:xfrm>
              <a:off x="899592" y="178083"/>
              <a:ext cx="2520280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热释电</a:t>
              </a: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探测器的基本原理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2" name="直接连接符 58">
              <a:extLst>
                <a:ext uri="{FF2B5EF4-FFF2-40B4-BE49-F238E27FC236}">
                  <a16:creationId xmlns="" xmlns:a16="http://schemas.microsoft.com/office/drawing/2014/main" id="{8C5F82EF-52B4-4531-96F0-44689EA1125E}"/>
                </a:ext>
              </a:extLst>
            </p:cNvPr>
            <p:cNvCxnSpPr>
              <a:cxnSpLocks/>
            </p:cNvCxnSpPr>
            <p:nvPr/>
          </p:nvCxnSpPr>
          <p:spPr>
            <a:xfrm>
              <a:off x="971600" y="483518"/>
              <a:ext cx="2412000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241198"/>
              </p:ext>
            </p:extLst>
          </p:nvPr>
        </p:nvGraphicFramePr>
        <p:xfrm>
          <a:off x="1427163" y="842963"/>
          <a:ext cx="4206875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8" name="Equation" r:id="rId3" imgW="1625400" imgH="431640" progId="Equation.DSMT4">
                  <p:embed/>
                </p:oleObj>
              </mc:Choice>
              <mc:Fallback>
                <p:oleObj name="Equation" r:id="rId3" imgW="1625400" imgH="43164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7163" y="842963"/>
                        <a:ext cx="4206875" cy="8112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3"/>
          <p:cNvSpPr>
            <a:spLocks noChangeArrowheads="1"/>
          </p:cNvSpPr>
          <p:nvPr/>
        </p:nvSpPr>
        <p:spPr bwMode="auto">
          <a:xfrm>
            <a:off x="841375" y="1947863"/>
            <a:ext cx="2881313" cy="52228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热响应时间常数： </a:t>
            </a:r>
          </a:p>
        </p:txBody>
      </p:sp>
      <p:sp>
        <p:nvSpPr>
          <p:cNvPr id="4" name="Rectangle 24"/>
          <p:cNvSpPr>
            <a:spLocks noChangeArrowheads="1"/>
          </p:cNvSpPr>
          <p:nvPr/>
        </p:nvSpPr>
        <p:spPr bwMode="auto">
          <a:xfrm>
            <a:off x="828675" y="2740025"/>
            <a:ext cx="3168650" cy="5222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电路响应时间常数： </a:t>
            </a:r>
          </a:p>
        </p:txBody>
      </p:sp>
      <p:graphicFrame>
        <p:nvGraphicFramePr>
          <p:cNvPr id="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686819"/>
              </p:ext>
            </p:extLst>
          </p:nvPr>
        </p:nvGraphicFramePr>
        <p:xfrm>
          <a:off x="4211638" y="1947863"/>
          <a:ext cx="160337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9" name="Equation" r:id="rId5" imgW="660240" imgH="228600" progId="Equation.DSMT4">
                  <p:embed/>
                </p:oleObj>
              </mc:Choice>
              <mc:Fallback>
                <p:oleObj name="Equation" r:id="rId5" imgW="660240" imgH="228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1947863"/>
                        <a:ext cx="1603375" cy="5127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7"/>
          <p:cNvGraphicFramePr>
            <a:graphicFrameLocks noChangeAspect="1"/>
          </p:cNvGraphicFramePr>
          <p:nvPr/>
        </p:nvGraphicFramePr>
        <p:xfrm>
          <a:off x="4211638" y="2744788"/>
          <a:ext cx="15652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0" name="Equation" r:id="rId7" imgW="609600" imgH="228600" progId="Equation.DSMT4">
                  <p:embed/>
                </p:oleObj>
              </mc:Choice>
              <mc:Fallback>
                <p:oleObj name="Equation" r:id="rId7" imgW="609600" imgH="2286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2744788"/>
                        <a:ext cx="1565275" cy="5175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="" xmlns:a16="http://schemas.microsoft.com/office/drawing/2014/main" id="{0FADB167-A50F-4A5B-8028-407F5B8ECFA1}"/>
              </a:ext>
            </a:extLst>
          </p:cNvPr>
          <p:cNvGrpSpPr/>
          <p:nvPr/>
        </p:nvGrpSpPr>
        <p:grpSpPr>
          <a:xfrm>
            <a:off x="0" y="195797"/>
            <a:ext cx="8773149" cy="4947406"/>
            <a:chOff x="0" y="195797"/>
            <a:chExt cx="8773149" cy="4947406"/>
          </a:xfrm>
        </p:grpSpPr>
        <p:sp>
          <p:nvSpPr>
            <p:cNvPr id="12" name="矩形 11">
              <a:extLst>
                <a:ext uri="{FF2B5EF4-FFF2-40B4-BE49-F238E27FC236}">
                  <a16:creationId xmlns="" xmlns:a16="http://schemas.microsoft.com/office/drawing/2014/main" id="{F6F5BC91-2211-41E0-8691-781B2934D6B3}"/>
                </a:ext>
              </a:extLst>
            </p:cNvPr>
            <p:cNvSpPr/>
            <p:nvPr/>
          </p:nvSpPr>
          <p:spPr>
            <a:xfrm>
              <a:off x="6678647" y="219732"/>
              <a:ext cx="965535" cy="285904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733" b="1" spc="33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="" xmlns:a16="http://schemas.microsoft.com/office/drawing/2014/main" id="{1126642B-911A-439F-B448-A9052321C10C}"/>
                </a:ext>
              </a:extLst>
            </p:cNvPr>
            <p:cNvSpPr/>
            <p:nvPr/>
          </p:nvSpPr>
          <p:spPr>
            <a:xfrm>
              <a:off x="8661480" y="241570"/>
              <a:ext cx="111669" cy="275067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="" xmlns:a16="http://schemas.microsoft.com/office/drawing/2014/main" id="{FEEE7CD8-6AEF-42CE-89A4-773FCBFB6E04}"/>
                </a:ext>
              </a:extLst>
            </p:cNvPr>
            <p:cNvSpPr/>
            <p:nvPr/>
          </p:nvSpPr>
          <p:spPr>
            <a:xfrm>
              <a:off x="107504" y="195797"/>
              <a:ext cx="748813" cy="320841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533"/>
                </a:spcBef>
              </a:pPr>
              <a:r>
                <a:rPr kumimoji="1" lang="en-US" altLang="zh-CN" sz="1866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6.4.1</a:t>
              </a:r>
              <a:endParaRPr kumimoji="1" lang="zh-CN" altLang="en-US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="" xmlns:a16="http://schemas.microsoft.com/office/drawing/2014/main" id="{2610E998-ECBD-458C-AB62-91BAF0373472}"/>
                </a:ext>
              </a:extLst>
            </p:cNvPr>
            <p:cNvSpPr/>
            <p:nvPr/>
          </p:nvSpPr>
          <p:spPr>
            <a:xfrm>
              <a:off x="7500411" y="195797"/>
              <a:ext cx="1161069" cy="348677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 algn="r"/>
              <a:r>
                <a:rPr lang="zh-CN" altLang="en-US" sz="1866" spc="13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="" xmlns:a16="http://schemas.microsoft.com/office/drawing/2014/main" id="{A3C90033-DE17-4EF4-A518-9072379E6534}"/>
                </a:ext>
              </a:extLst>
            </p:cNvPr>
            <p:cNvSpPr/>
            <p:nvPr/>
          </p:nvSpPr>
          <p:spPr>
            <a:xfrm flipV="1">
              <a:off x="0" y="5059383"/>
              <a:ext cx="6760050" cy="83820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99592" y="178083"/>
            <a:ext cx="2520280" cy="338554"/>
            <a:chOff x="899592" y="178083"/>
            <a:chExt cx="2520280" cy="338554"/>
          </a:xfrm>
        </p:grpSpPr>
        <p:sp>
          <p:nvSpPr>
            <p:cNvPr id="19" name="文本框 60">
              <a:extLst>
                <a:ext uri="{FF2B5EF4-FFF2-40B4-BE49-F238E27FC236}">
                  <a16:creationId xmlns="" xmlns:a16="http://schemas.microsoft.com/office/drawing/2014/main" id="{791D85D7-F412-9C48-9F2B-E33F5B7B4F3C}"/>
                </a:ext>
              </a:extLst>
            </p:cNvPr>
            <p:cNvSpPr txBox="1"/>
            <p:nvPr/>
          </p:nvSpPr>
          <p:spPr>
            <a:xfrm>
              <a:off x="899592" y="178083"/>
              <a:ext cx="2520280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热释电</a:t>
              </a: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探测器的基本原理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0" name="直接连接符 58">
              <a:extLst>
                <a:ext uri="{FF2B5EF4-FFF2-40B4-BE49-F238E27FC236}">
                  <a16:creationId xmlns="" xmlns:a16="http://schemas.microsoft.com/office/drawing/2014/main" id="{8C5F82EF-52B4-4531-96F0-44689EA1125E}"/>
                </a:ext>
              </a:extLst>
            </p:cNvPr>
            <p:cNvCxnSpPr>
              <a:cxnSpLocks/>
            </p:cNvCxnSpPr>
            <p:nvPr/>
          </p:nvCxnSpPr>
          <p:spPr>
            <a:xfrm>
              <a:off x="971600" y="483518"/>
              <a:ext cx="2412000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=""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2411760" y="2253935"/>
            <a:ext cx="5327033" cy="74057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zh-CN" altLang="en-US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主要特性参数</a:t>
            </a:r>
          </a:p>
        </p:txBody>
      </p:sp>
      <p:sp>
        <p:nvSpPr>
          <p:cNvPr id="20" name="矩形 19"/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1030968" y="2222541"/>
            <a:ext cx="1529424" cy="824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4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6.4.2</a:t>
            </a:r>
            <a:endParaRPr kumimoji="1" lang="zh-CN" altLang="en-US" sz="4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107504" y="195797"/>
            <a:ext cx="748813" cy="32084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6.4.2</a:t>
            </a:r>
            <a:endParaRPr kumimoji="1" lang="zh-CN" altLang="en-US" sz="1866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4" name="文本框 60">
            <a:extLst>
              <a:ext uri="{FF2B5EF4-FFF2-40B4-BE49-F238E27FC236}">
                <a16:creationId xmlns="" xmlns:a16="http://schemas.microsoft.com/office/drawing/2014/main" id="{8B890328-8B39-4E01-97C4-C3C6C58C999E}"/>
              </a:ext>
            </a:extLst>
          </p:cNvPr>
          <p:cNvSpPr txBox="1"/>
          <p:nvPr/>
        </p:nvSpPr>
        <p:spPr>
          <a:xfrm>
            <a:off x="971600" y="156625"/>
            <a:ext cx="1558499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主要特性参数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D6CA42C7-C371-473B-B6AE-4101A8595741}"/>
              </a:ext>
            </a:extLst>
          </p:cNvPr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96D56337-FCBF-4F30-ACE4-F7BD9D2D5F80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="" xmlns:a16="http://schemas.microsoft.com/office/drawing/2014/main" id="{4E8CB356-4ADA-45D6-A228-5D2D57C93968}"/>
              </a:ext>
            </a:extLst>
          </p:cNvPr>
          <p:cNvSpPr/>
          <p:nvPr/>
        </p:nvSpPr>
        <p:spPr>
          <a:xfrm>
            <a:off x="107504" y="195797"/>
            <a:ext cx="748813" cy="32084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6.4.2</a:t>
            </a:r>
            <a:endParaRPr kumimoji="1" lang="zh-CN" altLang="en-US" sz="1866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8" name="直接连接符 58">
            <a:extLst>
              <a:ext uri="{FF2B5EF4-FFF2-40B4-BE49-F238E27FC236}">
                <a16:creationId xmlns="" xmlns:a16="http://schemas.microsoft.com/office/drawing/2014/main" id="{3D9B817F-8426-4149-B233-43E3E527B1AF}"/>
              </a:ext>
            </a:extLst>
          </p:cNvPr>
          <p:cNvCxnSpPr>
            <a:cxnSpLocks/>
          </p:cNvCxnSpPr>
          <p:nvPr/>
        </p:nvCxnSpPr>
        <p:spPr>
          <a:xfrm flipV="1">
            <a:off x="899592" y="463765"/>
            <a:ext cx="1512000" cy="1047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C21C81FE-7C40-44D8-A0D0-DD9201991C8B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F6CA5B13-F50B-47D1-9B08-1FD32B5715F2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4009727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18"/>
          <p:cNvSpPr>
            <a:spLocks noChangeArrowheads="1"/>
          </p:cNvSpPr>
          <p:nvPr/>
        </p:nvSpPr>
        <p:spPr bwMode="auto">
          <a:xfrm>
            <a:off x="539750" y="1274763"/>
            <a:ext cx="20304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电压灵敏度</a:t>
            </a:r>
          </a:p>
        </p:txBody>
      </p:sp>
      <p:graphicFrame>
        <p:nvGraphicFramePr>
          <p:cNvPr id="1229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320374"/>
              </p:ext>
            </p:extLst>
          </p:nvPr>
        </p:nvGraphicFramePr>
        <p:xfrm>
          <a:off x="663575" y="1851025"/>
          <a:ext cx="404812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2" name="Equation" r:id="rId3" imgW="1765080" imgH="469800" progId="Equation.DSMT4">
                  <p:embed/>
                </p:oleObj>
              </mc:Choice>
              <mc:Fallback>
                <p:oleObj name="Equation" r:id="rId3" imgW="1765080" imgH="4698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" y="1851025"/>
                        <a:ext cx="4048125" cy="806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706438" y="2743200"/>
            <a:ext cx="3887787" cy="8318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灵敏度与频率关系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三个工作频率段</a:t>
            </a: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706438" y="3651250"/>
            <a:ext cx="334010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特别注意：恒定光辐射 </a:t>
            </a:r>
          </a:p>
        </p:txBody>
      </p:sp>
      <p:graphicFrame>
        <p:nvGraphicFramePr>
          <p:cNvPr id="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982756"/>
              </p:ext>
            </p:extLst>
          </p:nvPr>
        </p:nvGraphicFramePr>
        <p:xfrm>
          <a:off x="2051050" y="4084638"/>
          <a:ext cx="14255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3" name="Equation" r:id="rId5" imgW="419040" imgH="228600" progId="Equation.DSMT4">
                  <p:embed/>
                </p:oleObj>
              </mc:Choice>
              <mc:Fallback>
                <p:oleObj name="Equation" r:id="rId5" imgW="419040" imgH="2286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084638"/>
                        <a:ext cx="1425575" cy="5762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704" name="Picture 34" descr="6t22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723336" y="1402556"/>
            <a:ext cx="2736874" cy="28157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组合 11">
            <a:extLst>
              <a:ext uri="{FF2B5EF4-FFF2-40B4-BE49-F238E27FC236}">
                <a16:creationId xmlns="" xmlns:a16="http://schemas.microsoft.com/office/drawing/2014/main" id="{17CBBD27-BACC-4773-AD46-7CEE412A83F7}"/>
              </a:ext>
            </a:extLst>
          </p:cNvPr>
          <p:cNvGrpSpPr/>
          <p:nvPr/>
        </p:nvGrpSpPr>
        <p:grpSpPr>
          <a:xfrm>
            <a:off x="0" y="195797"/>
            <a:ext cx="8773149" cy="4947406"/>
            <a:chOff x="0" y="195797"/>
            <a:chExt cx="8773149" cy="4947406"/>
          </a:xfrm>
        </p:grpSpPr>
        <p:sp>
          <p:nvSpPr>
            <p:cNvPr id="14" name="矩形 13">
              <a:extLst>
                <a:ext uri="{FF2B5EF4-FFF2-40B4-BE49-F238E27FC236}">
                  <a16:creationId xmlns="" xmlns:a16="http://schemas.microsoft.com/office/drawing/2014/main" id="{6E74A76B-0A65-4913-B8BF-A656389AF170}"/>
                </a:ext>
              </a:extLst>
            </p:cNvPr>
            <p:cNvSpPr/>
            <p:nvPr/>
          </p:nvSpPr>
          <p:spPr>
            <a:xfrm>
              <a:off x="6678647" y="219732"/>
              <a:ext cx="965535" cy="285904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733" b="1" spc="33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="" xmlns:a16="http://schemas.microsoft.com/office/drawing/2014/main" id="{785DB55A-6614-48B0-9071-6DB874939F26}"/>
                </a:ext>
              </a:extLst>
            </p:cNvPr>
            <p:cNvSpPr/>
            <p:nvPr/>
          </p:nvSpPr>
          <p:spPr>
            <a:xfrm>
              <a:off x="8661480" y="241570"/>
              <a:ext cx="111669" cy="275067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="" xmlns:a16="http://schemas.microsoft.com/office/drawing/2014/main" id="{E0C58B94-D693-4F50-BEF2-F9C4BCAB46D4}"/>
                </a:ext>
              </a:extLst>
            </p:cNvPr>
            <p:cNvSpPr/>
            <p:nvPr/>
          </p:nvSpPr>
          <p:spPr>
            <a:xfrm>
              <a:off x="107504" y="195797"/>
              <a:ext cx="748813" cy="320841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533"/>
                </a:spcBef>
              </a:pPr>
              <a:r>
                <a:rPr kumimoji="1" lang="en-US" altLang="zh-CN" sz="1866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6.4.2</a:t>
              </a:r>
              <a:endParaRPr kumimoji="1" lang="zh-CN" altLang="en-US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="" xmlns:a16="http://schemas.microsoft.com/office/drawing/2014/main" id="{CB0803EE-5849-450A-8537-7C7D81C7ED3C}"/>
                </a:ext>
              </a:extLst>
            </p:cNvPr>
            <p:cNvSpPr/>
            <p:nvPr/>
          </p:nvSpPr>
          <p:spPr>
            <a:xfrm>
              <a:off x="7500411" y="195797"/>
              <a:ext cx="1161069" cy="348677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 algn="r"/>
              <a:r>
                <a:rPr lang="zh-CN" altLang="en-US" sz="1866" spc="13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="" xmlns:a16="http://schemas.microsoft.com/office/drawing/2014/main" id="{C6A596BE-FBFD-489C-B9E3-4C4ECF29D660}"/>
                </a:ext>
              </a:extLst>
            </p:cNvPr>
            <p:cNvSpPr/>
            <p:nvPr/>
          </p:nvSpPr>
          <p:spPr>
            <a:xfrm flipV="1">
              <a:off x="0" y="5059383"/>
              <a:ext cx="6760050" cy="83820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</p:grpSp>
      <p:sp>
        <p:nvSpPr>
          <p:cNvPr id="20" name="文本框 60">
            <a:extLst>
              <a:ext uri="{FF2B5EF4-FFF2-40B4-BE49-F238E27FC236}">
                <a16:creationId xmlns="" xmlns:a16="http://schemas.microsoft.com/office/drawing/2014/main" id="{8B890328-8B39-4E01-97C4-C3C6C58C999E}"/>
              </a:ext>
            </a:extLst>
          </p:cNvPr>
          <p:cNvSpPr txBox="1"/>
          <p:nvPr/>
        </p:nvSpPr>
        <p:spPr>
          <a:xfrm>
            <a:off x="971600" y="156625"/>
            <a:ext cx="1558499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主要特性参数</a:t>
            </a:r>
          </a:p>
        </p:txBody>
      </p:sp>
      <p:cxnSp>
        <p:nvCxnSpPr>
          <p:cNvPr id="21" name="直接连接符 58">
            <a:extLst>
              <a:ext uri="{FF2B5EF4-FFF2-40B4-BE49-F238E27FC236}">
                <a16:creationId xmlns="" xmlns:a16="http://schemas.microsoft.com/office/drawing/2014/main" id="{3D9B817F-8426-4149-B233-43E3E527B1AF}"/>
              </a:ext>
            </a:extLst>
          </p:cNvPr>
          <p:cNvCxnSpPr>
            <a:cxnSpLocks/>
          </p:cNvCxnSpPr>
          <p:nvPr/>
        </p:nvCxnSpPr>
        <p:spPr>
          <a:xfrm flipV="1">
            <a:off x="899592" y="463765"/>
            <a:ext cx="1512000" cy="1047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2"/>
          <p:cNvSpPr>
            <a:spLocks noChangeArrowheads="1"/>
          </p:cNvSpPr>
          <p:nvPr/>
        </p:nvSpPr>
        <p:spPr bwMode="auto">
          <a:xfrm>
            <a:off x="454025" y="2592388"/>
            <a:ext cx="4032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．热释电探测器的响应时间</a:t>
            </a:r>
          </a:p>
        </p:txBody>
      </p:sp>
      <p:sp>
        <p:nvSpPr>
          <p:cNvPr id="13315" name="Rectangle 17"/>
          <p:cNvSpPr>
            <a:spLocks noChangeArrowheads="1"/>
          </p:cNvSpPr>
          <p:nvPr/>
        </p:nvSpPr>
        <p:spPr bwMode="auto">
          <a:xfrm>
            <a:off x="684213" y="862013"/>
            <a:ext cx="1871662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高频段应用 </a:t>
            </a:r>
          </a:p>
        </p:txBody>
      </p:sp>
      <p:graphicFrame>
        <p:nvGraphicFramePr>
          <p:cNvPr id="1331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1479674"/>
              </p:ext>
            </p:extLst>
          </p:nvPr>
        </p:nvGraphicFramePr>
        <p:xfrm>
          <a:off x="798513" y="1419225"/>
          <a:ext cx="329882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7" name="Equation" r:id="rId3" imgW="1447560" imgH="431640" progId="Equation.DSMT4">
                  <p:embed/>
                </p:oleObj>
              </mc:Choice>
              <mc:Fallback>
                <p:oleObj name="Equation" r:id="rId3" imgW="1447560" imgH="43164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513" y="1419225"/>
                        <a:ext cx="3298825" cy="8604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22"/>
          <p:cNvSpPr>
            <a:spLocks noChangeArrowheads="1"/>
          </p:cNvSpPr>
          <p:nvPr/>
        </p:nvSpPr>
        <p:spPr bwMode="auto">
          <a:xfrm>
            <a:off x="828675" y="3160713"/>
            <a:ext cx="3527425" cy="46196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热时间常数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例如：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1s</a:t>
            </a:r>
          </a:p>
        </p:txBody>
      </p:sp>
      <p:sp>
        <p:nvSpPr>
          <p:cNvPr id="13318" name="Rectangle 23"/>
          <p:cNvSpPr>
            <a:spLocks noChangeArrowheads="1"/>
          </p:cNvSpPr>
          <p:nvPr/>
        </p:nvSpPr>
        <p:spPr bwMode="auto">
          <a:xfrm>
            <a:off x="828675" y="3694113"/>
            <a:ext cx="3527425" cy="46196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电时间常数，例如：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1ms </a:t>
            </a:r>
          </a:p>
        </p:txBody>
      </p:sp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4486275" y="3400425"/>
            <a:ext cx="3868738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高频段</a:t>
            </a:r>
            <a:r>
              <a:rPr lang="en-US" altLang="zh-CN" sz="2400" b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 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时间常数小的为主</a:t>
            </a:r>
          </a:p>
        </p:txBody>
      </p:sp>
      <p:graphicFrame>
        <p:nvGraphicFramePr>
          <p:cNvPr id="13320" name="Object 28"/>
          <p:cNvGraphicFramePr>
            <a:graphicFrameLocks noChangeAspect="1"/>
          </p:cNvGraphicFramePr>
          <p:nvPr/>
        </p:nvGraphicFramePr>
        <p:xfrm>
          <a:off x="4860925" y="723900"/>
          <a:ext cx="2662238" cy="218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8" name="Visio" r:id="rId5" imgW="2639263" imgH="2184481" progId="Visio.Drawing.11">
                  <p:embed/>
                </p:oleObj>
              </mc:Choice>
              <mc:Fallback>
                <p:oleObj name="Visio" r:id="rId5" imgW="2639263" imgH="2184481" progId="Visio.Drawing.11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925" y="723900"/>
                        <a:ext cx="2662238" cy="21859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Rectangle 25"/>
          <p:cNvSpPr>
            <a:spLocks noChangeArrowheads="1"/>
          </p:cNvSpPr>
          <p:nvPr/>
        </p:nvSpPr>
        <p:spPr bwMode="auto">
          <a:xfrm>
            <a:off x="7308850" y="1835150"/>
            <a:ext cx="1008063" cy="7080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高端半功率点 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="" xmlns:a16="http://schemas.microsoft.com/office/drawing/2014/main" id="{BCA20846-FA49-4B43-AA16-F40907E27C42}"/>
              </a:ext>
            </a:extLst>
          </p:cNvPr>
          <p:cNvGrpSpPr/>
          <p:nvPr/>
        </p:nvGrpSpPr>
        <p:grpSpPr>
          <a:xfrm>
            <a:off x="0" y="195797"/>
            <a:ext cx="8773149" cy="4947406"/>
            <a:chOff x="0" y="195797"/>
            <a:chExt cx="8773149" cy="4947406"/>
          </a:xfrm>
        </p:grpSpPr>
        <p:sp>
          <p:nvSpPr>
            <p:cNvPr id="15" name="矩形 14">
              <a:extLst>
                <a:ext uri="{FF2B5EF4-FFF2-40B4-BE49-F238E27FC236}">
                  <a16:creationId xmlns="" xmlns:a16="http://schemas.microsoft.com/office/drawing/2014/main" id="{5137A099-9115-41EF-A105-7E7E51121739}"/>
                </a:ext>
              </a:extLst>
            </p:cNvPr>
            <p:cNvSpPr/>
            <p:nvPr/>
          </p:nvSpPr>
          <p:spPr>
            <a:xfrm>
              <a:off x="6678647" y="219732"/>
              <a:ext cx="965535" cy="285904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733" b="1" spc="33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="" xmlns:a16="http://schemas.microsoft.com/office/drawing/2014/main" id="{3A031183-5467-40A9-822E-794F76D4A564}"/>
                </a:ext>
              </a:extLst>
            </p:cNvPr>
            <p:cNvSpPr/>
            <p:nvPr/>
          </p:nvSpPr>
          <p:spPr>
            <a:xfrm>
              <a:off x="8661480" y="241570"/>
              <a:ext cx="111669" cy="275067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="" xmlns:a16="http://schemas.microsoft.com/office/drawing/2014/main" id="{AB33C789-B626-46A4-9662-307E12B80E6E}"/>
                </a:ext>
              </a:extLst>
            </p:cNvPr>
            <p:cNvSpPr/>
            <p:nvPr/>
          </p:nvSpPr>
          <p:spPr>
            <a:xfrm>
              <a:off x="107504" y="195797"/>
              <a:ext cx="748813" cy="320841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533"/>
                </a:spcBef>
              </a:pPr>
              <a:r>
                <a:rPr kumimoji="1" lang="en-US" altLang="zh-CN" sz="1866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6.4.2</a:t>
              </a:r>
              <a:endParaRPr kumimoji="1" lang="zh-CN" altLang="en-US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="" xmlns:a16="http://schemas.microsoft.com/office/drawing/2014/main" id="{2776D4C4-923C-4329-AC27-8DBAA690442E}"/>
                </a:ext>
              </a:extLst>
            </p:cNvPr>
            <p:cNvSpPr/>
            <p:nvPr/>
          </p:nvSpPr>
          <p:spPr>
            <a:xfrm>
              <a:off x="7500411" y="195797"/>
              <a:ext cx="1161069" cy="348677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 algn="r"/>
              <a:r>
                <a:rPr lang="zh-CN" altLang="en-US" sz="1866" spc="13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="" xmlns:a16="http://schemas.microsoft.com/office/drawing/2014/main" id="{C08FB2ED-2905-4005-A522-31A18C17DD1D}"/>
                </a:ext>
              </a:extLst>
            </p:cNvPr>
            <p:cNvSpPr/>
            <p:nvPr/>
          </p:nvSpPr>
          <p:spPr>
            <a:xfrm flipV="1">
              <a:off x="0" y="5059383"/>
              <a:ext cx="6760050" cy="83820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</p:grpSp>
      <p:sp>
        <p:nvSpPr>
          <p:cNvPr id="21" name="文本框 60">
            <a:extLst>
              <a:ext uri="{FF2B5EF4-FFF2-40B4-BE49-F238E27FC236}">
                <a16:creationId xmlns="" xmlns:a16="http://schemas.microsoft.com/office/drawing/2014/main" id="{8B890328-8B39-4E01-97C4-C3C6C58C999E}"/>
              </a:ext>
            </a:extLst>
          </p:cNvPr>
          <p:cNvSpPr txBox="1"/>
          <p:nvPr/>
        </p:nvSpPr>
        <p:spPr>
          <a:xfrm>
            <a:off x="971600" y="156625"/>
            <a:ext cx="1558499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主要特性参数</a:t>
            </a:r>
          </a:p>
        </p:txBody>
      </p:sp>
      <p:cxnSp>
        <p:nvCxnSpPr>
          <p:cNvPr id="22" name="直接连接符 58">
            <a:extLst>
              <a:ext uri="{FF2B5EF4-FFF2-40B4-BE49-F238E27FC236}">
                <a16:creationId xmlns="" xmlns:a16="http://schemas.microsoft.com/office/drawing/2014/main" id="{3D9B817F-8426-4149-B233-43E3E527B1AF}"/>
              </a:ext>
            </a:extLst>
          </p:cNvPr>
          <p:cNvCxnSpPr>
            <a:cxnSpLocks/>
          </p:cNvCxnSpPr>
          <p:nvPr/>
        </p:nvCxnSpPr>
        <p:spPr>
          <a:xfrm flipV="1">
            <a:off x="899592" y="463765"/>
            <a:ext cx="1512000" cy="1047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0"/>
          <p:cNvSpPr>
            <a:spLocks noChangeArrowheads="1"/>
          </p:cNvSpPr>
          <p:nvPr/>
        </p:nvSpPr>
        <p:spPr bwMode="auto">
          <a:xfrm>
            <a:off x="661988" y="76197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热释电探测器的居里温度</a:t>
            </a:r>
          </a:p>
        </p:txBody>
      </p:sp>
      <p:pic>
        <p:nvPicPr>
          <p:cNvPr id="14339" name="Picture 21"/>
          <p:cNvPicPr>
            <a:picLocks noChangeAspect="1" noChangeArrowheads="1"/>
          </p:cNvPicPr>
          <p:nvPr/>
        </p:nvPicPr>
        <p:blipFill>
          <a:blip r:embed="rId3">
            <a:lum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087" y="1604651"/>
            <a:ext cx="2303462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Rectangle 22"/>
          <p:cNvSpPr>
            <a:spLocks noChangeArrowheads="1"/>
          </p:cNvSpPr>
          <p:nvPr/>
        </p:nvSpPr>
        <p:spPr bwMode="auto">
          <a:xfrm>
            <a:off x="246856" y="4112455"/>
            <a:ext cx="3895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硫酸三甘肽（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TGS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）材料 </a:t>
            </a:r>
          </a:p>
        </p:txBody>
      </p:sp>
      <p:sp>
        <p:nvSpPr>
          <p:cNvPr id="32773" name="Rectangle 23"/>
          <p:cNvSpPr>
            <a:spLocks noChangeArrowheads="1"/>
          </p:cNvSpPr>
          <p:nvPr/>
        </p:nvSpPr>
        <p:spPr bwMode="auto">
          <a:xfrm>
            <a:off x="3290549" y="1987865"/>
            <a:ext cx="5697628" cy="10156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0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居里温度</a:t>
            </a:r>
            <a:r>
              <a:rPr lang="en-US" altLang="zh-CN" sz="20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0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en-US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当晶体温度达到某一特定温度</a:t>
            </a:r>
            <a:r>
              <a:rPr lang="en-US" altLang="zh-CN" sz="20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0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en-US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时，自发极化强度变为零。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="" xmlns:a16="http://schemas.microsoft.com/office/drawing/2014/main" id="{E21384DD-1F74-40FC-B1D0-84E65797FBFD}"/>
              </a:ext>
            </a:extLst>
          </p:cNvPr>
          <p:cNvGrpSpPr/>
          <p:nvPr/>
        </p:nvGrpSpPr>
        <p:grpSpPr>
          <a:xfrm>
            <a:off x="0" y="195797"/>
            <a:ext cx="8773149" cy="4947406"/>
            <a:chOff x="0" y="195797"/>
            <a:chExt cx="8773149" cy="4947406"/>
          </a:xfrm>
        </p:grpSpPr>
        <p:sp>
          <p:nvSpPr>
            <p:cNvPr id="13" name="矩形 12">
              <a:extLst>
                <a:ext uri="{FF2B5EF4-FFF2-40B4-BE49-F238E27FC236}">
                  <a16:creationId xmlns="" xmlns:a16="http://schemas.microsoft.com/office/drawing/2014/main" id="{3E661836-276A-40AE-9CA7-D486BFCCD775}"/>
                </a:ext>
              </a:extLst>
            </p:cNvPr>
            <p:cNvSpPr/>
            <p:nvPr/>
          </p:nvSpPr>
          <p:spPr>
            <a:xfrm>
              <a:off x="6678647" y="219732"/>
              <a:ext cx="965535" cy="285904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733" b="1" spc="33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="" xmlns:a16="http://schemas.microsoft.com/office/drawing/2014/main" id="{0A821037-F6E0-48E0-9414-38B66067BB00}"/>
                </a:ext>
              </a:extLst>
            </p:cNvPr>
            <p:cNvSpPr/>
            <p:nvPr/>
          </p:nvSpPr>
          <p:spPr>
            <a:xfrm>
              <a:off x="8661480" y="241570"/>
              <a:ext cx="111669" cy="275067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="" xmlns:a16="http://schemas.microsoft.com/office/drawing/2014/main" id="{D9ECCF7A-3E9C-4962-98D5-2BC736CE2285}"/>
                </a:ext>
              </a:extLst>
            </p:cNvPr>
            <p:cNvSpPr/>
            <p:nvPr/>
          </p:nvSpPr>
          <p:spPr>
            <a:xfrm>
              <a:off x="107504" y="195797"/>
              <a:ext cx="748813" cy="320841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533"/>
                </a:spcBef>
              </a:pPr>
              <a:r>
                <a:rPr kumimoji="1" lang="en-US" altLang="zh-CN" sz="1866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6.4.2</a:t>
              </a:r>
              <a:endParaRPr kumimoji="1" lang="zh-CN" altLang="en-US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="" xmlns:a16="http://schemas.microsoft.com/office/drawing/2014/main" id="{8B2E53C6-4626-4D0E-A351-87FDBCB517C8}"/>
                </a:ext>
              </a:extLst>
            </p:cNvPr>
            <p:cNvSpPr/>
            <p:nvPr/>
          </p:nvSpPr>
          <p:spPr>
            <a:xfrm>
              <a:off x="7500411" y="195797"/>
              <a:ext cx="1161069" cy="348677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 algn="r"/>
              <a:r>
                <a:rPr lang="zh-CN" altLang="en-US" sz="1866" spc="13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="" xmlns:a16="http://schemas.microsoft.com/office/drawing/2014/main" id="{C0F73D80-29B6-467D-AE47-60E1C2BDBE6C}"/>
                </a:ext>
              </a:extLst>
            </p:cNvPr>
            <p:cNvSpPr/>
            <p:nvPr/>
          </p:nvSpPr>
          <p:spPr>
            <a:xfrm flipV="1">
              <a:off x="0" y="5059383"/>
              <a:ext cx="6760050" cy="83820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</p:grpSp>
      <p:sp>
        <p:nvSpPr>
          <p:cNvPr id="19" name="文本框 60">
            <a:extLst>
              <a:ext uri="{FF2B5EF4-FFF2-40B4-BE49-F238E27FC236}">
                <a16:creationId xmlns="" xmlns:a16="http://schemas.microsoft.com/office/drawing/2014/main" id="{8B890328-8B39-4E01-97C4-C3C6C58C999E}"/>
              </a:ext>
            </a:extLst>
          </p:cNvPr>
          <p:cNvSpPr txBox="1"/>
          <p:nvPr/>
        </p:nvSpPr>
        <p:spPr>
          <a:xfrm>
            <a:off x="971600" y="156625"/>
            <a:ext cx="1558499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主要特性参数</a:t>
            </a:r>
          </a:p>
        </p:txBody>
      </p:sp>
      <p:cxnSp>
        <p:nvCxnSpPr>
          <p:cNvPr id="20" name="直接连接符 58">
            <a:extLst>
              <a:ext uri="{FF2B5EF4-FFF2-40B4-BE49-F238E27FC236}">
                <a16:creationId xmlns="" xmlns:a16="http://schemas.microsoft.com/office/drawing/2014/main" id="{3D9B817F-8426-4149-B233-43E3E527B1AF}"/>
              </a:ext>
            </a:extLst>
          </p:cNvPr>
          <p:cNvCxnSpPr>
            <a:cxnSpLocks/>
          </p:cNvCxnSpPr>
          <p:nvPr/>
        </p:nvCxnSpPr>
        <p:spPr>
          <a:xfrm flipV="1">
            <a:off x="899592" y="463765"/>
            <a:ext cx="1512000" cy="1047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917244" y="205920"/>
            <a:ext cx="2294099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热释电探测器应用举例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=""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2411760" y="2253935"/>
            <a:ext cx="5327033" cy="74057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zh-CN" altLang="en-US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热释电探测器应用举例</a:t>
            </a:r>
          </a:p>
        </p:txBody>
      </p:sp>
      <p:sp>
        <p:nvSpPr>
          <p:cNvPr id="20" name="矩形 19"/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1030968" y="2222541"/>
            <a:ext cx="1529424" cy="824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4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6.4.3</a:t>
            </a:r>
            <a:endParaRPr kumimoji="1" lang="zh-CN" altLang="en-US" sz="4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107504" y="195797"/>
            <a:ext cx="748813" cy="32084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6.4.2</a:t>
            </a:r>
            <a:endParaRPr kumimoji="1" lang="zh-CN" altLang="en-US" sz="1866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D6CA42C7-C371-473B-B6AE-4101A8595741}"/>
              </a:ext>
            </a:extLst>
          </p:cNvPr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96D56337-FCBF-4F30-ACE4-F7BD9D2D5F80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="" xmlns:a16="http://schemas.microsoft.com/office/drawing/2014/main" id="{4E8CB356-4ADA-45D6-A228-5D2D57C93968}"/>
              </a:ext>
            </a:extLst>
          </p:cNvPr>
          <p:cNvSpPr/>
          <p:nvPr/>
        </p:nvSpPr>
        <p:spPr>
          <a:xfrm>
            <a:off x="107504" y="195797"/>
            <a:ext cx="748813" cy="32084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6.4.3</a:t>
            </a:r>
            <a:endParaRPr kumimoji="1" lang="zh-CN" altLang="en-US" sz="1866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8" name="直接连接符 58">
            <a:extLst>
              <a:ext uri="{FF2B5EF4-FFF2-40B4-BE49-F238E27FC236}">
                <a16:creationId xmlns="" xmlns:a16="http://schemas.microsoft.com/office/drawing/2014/main" id="{3D9B817F-8426-4149-B233-43E3E527B1AF}"/>
              </a:ext>
            </a:extLst>
          </p:cNvPr>
          <p:cNvCxnSpPr>
            <a:cxnSpLocks/>
          </p:cNvCxnSpPr>
          <p:nvPr/>
        </p:nvCxnSpPr>
        <p:spPr>
          <a:xfrm flipV="1">
            <a:off x="966891" y="545049"/>
            <a:ext cx="2088000" cy="1047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C21C81FE-7C40-44D8-A0D0-DD9201991C8B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F6CA5B13-F50B-47D1-9B08-1FD32B5715F2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06692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2" descr="ther4.jpg (183068 bytes)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3138293"/>
            <a:ext cx="1800225" cy="159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38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3627379"/>
              </p:ext>
            </p:extLst>
          </p:nvPr>
        </p:nvGraphicFramePr>
        <p:xfrm>
          <a:off x="1203550" y="1627177"/>
          <a:ext cx="2519362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5" name="Visio" r:id="rId4" imgW="4012387" imgH="2288520" progId="Visio.Drawing.6">
                  <p:embed/>
                </p:oleObj>
              </mc:Choice>
              <mc:Fallback>
                <p:oleObj name="Visio" r:id="rId4" imgW="4012387" imgH="2288520" progId="Visio.Drawing.6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2000" contrast="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550" y="1627177"/>
                        <a:ext cx="2519362" cy="1463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89" name="Picture 32" descr="2005627134012"/>
          <p:cNvPicPr>
            <a:picLocks noChangeAspect="1" noChangeArrowheads="1"/>
          </p:cNvPicPr>
          <p:nvPr/>
        </p:nvPicPr>
        <p:blipFill>
          <a:blip r:embed="rId6">
            <a:lum bright="12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065" y="3090852"/>
            <a:ext cx="2376487" cy="18780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Rectangle 33"/>
          <p:cNvSpPr>
            <a:spLocks noChangeArrowheads="1"/>
          </p:cNvSpPr>
          <p:nvPr/>
        </p:nvSpPr>
        <p:spPr bwMode="auto">
          <a:xfrm>
            <a:off x="4427984" y="1419294"/>
            <a:ext cx="3168650" cy="83099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热像仪的机芯</a:t>
            </a:r>
          </a:p>
          <a:p>
            <a:pPr eaLnBrk="1" hangingPunct="1"/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热释电探测器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</a:p>
        </p:txBody>
      </p:sp>
      <p:sp>
        <p:nvSpPr>
          <p:cNvPr id="16391" name="AutoShape 34"/>
          <p:cNvSpPr>
            <a:spLocks noChangeArrowheads="1"/>
          </p:cNvSpPr>
          <p:nvPr/>
        </p:nvSpPr>
        <p:spPr bwMode="auto">
          <a:xfrm>
            <a:off x="5607050" y="2256377"/>
            <a:ext cx="863600" cy="8636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="" xmlns:a16="http://schemas.microsoft.com/office/drawing/2014/main" id="{B9400BE1-99D2-40FF-8962-D25BB415D394}"/>
              </a:ext>
            </a:extLst>
          </p:cNvPr>
          <p:cNvGrpSpPr/>
          <p:nvPr/>
        </p:nvGrpSpPr>
        <p:grpSpPr>
          <a:xfrm>
            <a:off x="0" y="195797"/>
            <a:ext cx="8773149" cy="4947406"/>
            <a:chOff x="0" y="195797"/>
            <a:chExt cx="8773149" cy="4947406"/>
          </a:xfrm>
        </p:grpSpPr>
        <p:sp>
          <p:nvSpPr>
            <p:cNvPr id="13" name="矩形 12">
              <a:extLst>
                <a:ext uri="{FF2B5EF4-FFF2-40B4-BE49-F238E27FC236}">
                  <a16:creationId xmlns="" xmlns:a16="http://schemas.microsoft.com/office/drawing/2014/main" id="{0E2EC8A9-9B1E-4A5F-8972-44C350B4A40E}"/>
                </a:ext>
              </a:extLst>
            </p:cNvPr>
            <p:cNvSpPr/>
            <p:nvPr/>
          </p:nvSpPr>
          <p:spPr>
            <a:xfrm>
              <a:off x="6678647" y="219732"/>
              <a:ext cx="965535" cy="285904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733" b="1" spc="33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="" xmlns:a16="http://schemas.microsoft.com/office/drawing/2014/main" id="{4E9ACCB6-AF71-48C6-835F-D9C5E3C37A66}"/>
                </a:ext>
              </a:extLst>
            </p:cNvPr>
            <p:cNvSpPr/>
            <p:nvPr/>
          </p:nvSpPr>
          <p:spPr>
            <a:xfrm>
              <a:off x="8661480" y="241570"/>
              <a:ext cx="111669" cy="275067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="" xmlns:a16="http://schemas.microsoft.com/office/drawing/2014/main" id="{328A8426-65A2-482F-A910-BADAE3054BFF}"/>
                </a:ext>
              </a:extLst>
            </p:cNvPr>
            <p:cNvSpPr/>
            <p:nvPr/>
          </p:nvSpPr>
          <p:spPr>
            <a:xfrm>
              <a:off x="107504" y="195797"/>
              <a:ext cx="748813" cy="320841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533"/>
                </a:spcBef>
              </a:pPr>
              <a:r>
                <a:rPr kumimoji="1" lang="en-US" altLang="zh-CN" sz="1866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6.4.2</a:t>
              </a:r>
              <a:endParaRPr kumimoji="1" lang="zh-CN" altLang="en-US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="" xmlns:a16="http://schemas.microsoft.com/office/drawing/2014/main" id="{9FFD64A3-1A59-4E66-91F5-D585938A7645}"/>
                </a:ext>
              </a:extLst>
            </p:cNvPr>
            <p:cNvSpPr/>
            <p:nvPr/>
          </p:nvSpPr>
          <p:spPr>
            <a:xfrm>
              <a:off x="7500411" y="195797"/>
              <a:ext cx="1161069" cy="348677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 algn="r"/>
              <a:r>
                <a:rPr lang="zh-CN" altLang="en-US" sz="1866" spc="13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="" xmlns:a16="http://schemas.microsoft.com/office/drawing/2014/main" id="{18CB319A-C103-4E45-BA69-FF6C46F8CC0C}"/>
                </a:ext>
              </a:extLst>
            </p:cNvPr>
            <p:cNvSpPr/>
            <p:nvPr/>
          </p:nvSpPr>
          <p:spPr>
            <a:xfrm flipV="1">
              <a:off x="0" y="5059383"/>
              <a:ext cx="6760050" cy="83820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="" xmlns:a16="http://schemas.microsoft.com/office/drawing/2014/main" id="{2B3E86E7-CE9C-4552-B3A7-40BEF0527CF7}"/>
                </a:ext>
              </a:extLst>
            </p:cNvPr>
            <p:cNvGrpSpPr/>
            <p:nvPr/>
          </p:nvGrpSpPr>
          <p:grpSpPr>
            <a:xfrm>
              <a:off x="0" y="195797"/>
              <a:ext cx="8773149" cy="4947406"/>
              <a:chOff x="0" y="195797"/>
              <a:chExt cx="8773149" cy="4947406"/>
            </a:xfrm>
          </p:grpSpPr>
          <p:sp>
            <p:nvSpPr>
              <p:cNvPr id="20" name="矩形 19">
                <a:extLst>
                  <a:ext uri="{FF2B5EF4-FFF2-40B4-BE49-F238E27FC236}">
                    <a16:creationId xmlns="" xmlns:a16="http://schemas.microsoft.com/office/drawing/2014/main" id="{B7BA2AA8-1EC2-4E6E-891A-A312F5AFF05E}"/>
                  </a:ext>
                </a:extLst>
              </p:cNvPr>
              <p:cNvSpPr/>
              <p:nvPr/>
            </p:nvSpPr>
            <p:spPr>
              <a:xfrm>
                <a:off x="6678647" y="219732"/>
                <a:ext cx="965535" cy="285904"/>
              </a:xfrm>
              <a:prstGeom prst="rect">
                <a:avLst/>
              </a:prstGeom>
              <a:noFill/>
            </p:spPr>
            <p:txBody>
              <a:bodyPr wrap="square" lIns="60953" tIns="30476" rIns="60953" bIns="30476">
                <a:spAutoFit/>
              </a:bodyPr>
              <a:lstStyle/>
              <a:p>
                <a:pPr>
                  <a:lnSpc>
                    <a:spcPts val="933"/>
                  </a:lnSpc>
                </a:pPr>
                <a:r>
                  <a:rPr lang="en-US" altLang="zh-CN" sz="733" b="1" spc="33" dirty="0">
                    <a:latin typeface="冬青黑体简体中文 W6"/>
                    <a:ea typeface="冬青黑体简体中文 W6" panose="020B0600000000000000" pitchFamily="34" charset="-122"/>
                    <a:cs typeface="Times New Roman" panose="02020603050405020304" pitchFamily="18" charset="0"/>
                  </a:rPr>
                  <a:t>Photoelectric</a:t>
                </a:r>
              </a:p>
              <a:p>
                <a:pPr>
                  <a:lnSpc>
                    <a:spcPts val="933"/>
                  </a:lnSpc>
                </a:pPr>
                <a:r>
                  <a:rPr lang="en-US" altLang="zh-CN" sz="733" b="1" spc="33" dirty="0">
                    <a:latin typeface="冬青黑体简体中文 W6"/>
                    <a:ea typeface="冬青黑体简体中文 W6" panose="020B0600000000000000" pitchFamily="34" charset="-122"/>
                    <a:cs typeface="Times New Roman" panose="02020603050405020304" pitchFamily="18" charset="0"/>
                  </a:rPr>
                  <a:t>Technology</a:t>
                </a:r>
                <a:endParaRPr lang="zh-CN" altLang="en-US" sz="733" b="1" spc="33" dirty="0">
                  <a:ln w="22225">
                    <a:solidFill>
                      <a:schemeClr val="accent2"/>
                    </a:solidFill>
                    <a:prstDash val="solid"/>
                  </a:ln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="" xmlns:a16="http://schemas.microsoft.com/office/drawing/2014/main" id="{16164067-1C8E-4EF2-8C6E-A0C88235474D}"/>
                  </a:ext>
                </a:extLst>
              </p:cNvPr>
              <p:cNvSpPr/>
              <p:nvPr/>
            </p:nvSpPr>
            <p:spPr>
              <a:xfrm>
                <a:off x="8661480" y="241570"/>
                <a:ext cx="111669" cy="275067"/>
              </a:xfrm>
              <a:prstGeom prst="rect">
                <a:avLst/>
              </a:prstGeom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: 圆角 21">
                <a:extLst>
                  <a:ext uri="{FF2B5EF4-FFF2-40B4-BE49-F238E27FC236}">
                    <a16:creationId xmlns="" xmlns:a16="http://schemas.microsoft.com/office/drawing/2014/main" id="{E3BD7536-0041-45B3-8D7A-3C08F5A395EC}"/>
                  </a:ext>
                </a:extLst>
              </p:cNvPr>
              <p:cNvSpPr/>
              <p:nvPr/>
            </p:nvSpPr>
            <p:spPr>
              <a:xfrm>
                <a:off x="107504" y="195797"/>
                <a:ext cx="748813" cy="320841"/>
              </a:xfrm>
              <a:prstGeom prst="roundRect">
                <a:avLst/>
              </a:prstGeom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533"/>
                  </a:spcBef>
                </a:pPr>
                <a:r>
                  <a:rPr kumimoji="1" lang="en-US" altLang="zh-CN" sz="1866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6.4.3</a:t>
                </a:r>
                <a:endParaRPr kumimoji="1" lang="zh-CN" altLang="en-US" sz="1866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="" xmlns:a16="http://schemas.microsoft.com/office/drawing/2014/main" id="{67F4F9F4-B377-4F43-8B7C-64017E7B70CF}"/>
                  </a:ext>
                </a:extLst>
              </p:cNvPr>
              <p:cNvSpPr/>
              <p:nvPr/>
            </p:nvSpPr>
            <p:spPr>
              <a:xfrm>
                <a:off x="7500411" y="195797"/>
                <a:ext cx="1161069" cy="348677"/>
              </a:xfrm>
              <a:prstGeom prst="rect">
                <a:avLst/>
              </a:prstGeom>
              <a:noFill/>
            </p:spPr>
            <p:txBody>
              <a:bodyPr wrap="square" lIns="60953" tIns="30476" rIns="60953" bIns="30476">
                <a:spAutoFit/>
              </a:bodyPr>
              <a:lstStyle/>
              <a:p>
                <a:pPr algn="r"/>
                <a:r>
                  <a:rPr lang="zh-CN" altLang="en-US" sz="1866" spc="13" dirty="0">
                    <a:latin typeface="冬青黑体简体中文 W6" panose="020B0600000000000000" pitchFamily="34" charset="-122"/>
                    <a:ea typeface="冬青黑体简体中文 W6" panose="020B0600000000000000" pitchFamily="34" charset="-122"/>
                    <a:cs typeface="阿里巴巴普惠体 R" panose="00020600040101010101" pitchFamily="18" charset="-122"/>
                  </a:rPr>
                  <a:t>光电技术</a:t>
                </a: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="" xmlns:a16="http://schemas.microsoft.com/office/drawing/2014/main" id="{24FD9B2F-63DD-487C-8367-D045FF882F89}"/>
                  </a:ext>
                </a:extLst>
              </p:cNvPr>
              <p:cNvSpPr/>
              <p:nvPr/>
            </p:nvSpPr>
            <p:spPr>
              <a:xfrm flipV="1">
                <a:off x="0" y="5059383"/>
                <a:ext cx="6760050" cy="83820"/>
              </a:xfrm>
              <a:prstGeom prst="rect">
                <a:avLst/>
              </a:prstGeom>
              <a:gradFill flip="none" rotWithShape="1">
                <a:gsLst>
                  <a:gs pos="0">
                    <a:srgbClr val="1271FE"/>
                  </a:gs>
                  <a:gs pos="45000">
                    <a:srgbClr val="6895F3"/>
                  </a:gs>
                  <a:gs pos="9000">
                    <a:srgbClr val="3366FF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/>
              </a:p>
            </p:txBody>
          </p:sp>
        </p:grpSp>
      </p:grpSp>
      <p:sp>
        <p:nvSpPr>
          <p:cNvPr id="34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917244" y="205920"/>
            <a:ext cx="2294099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热释电探测器应用举例</a:t>
            </a:r>
          </a:p>
        </p:txBody>
      </p:sp>
      <p:cxnSp>
        <p:nvCxnSpPr>
          <p:cNvPr id="35" name="直接连接符 58">
            <a:extLst>
              <a:ext uri="{FF2B5EF4-FFF2-40B4-BE49-F238E27FC236}">
                <a16:creationId xmlns="" xmlns:a16="http://schemas.microsoft.com/office/drawing/2014/main" id="{3D9B817F-8426-4149-B233-43E3E527B1AF}"/>
              </a:ext>
            </a:extLst>
          </p:cNvPr>
          <p:cNvCxnSpPr>
            <a:cxnSpLocks/>
          </p:cNvCxnSpPr>
          <p:nvPr/>
        </p:nvCxnSpPr>
        <p:spPr>
          <a:xfrm flipV="1">
            <a:off x="966891" y="545049"/>
            <a:ext cx="2088000" cy="1047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5"/>
          <p:cNvSpPr>
            <a:spLocks noChangeArrowheads="1"/>
          </p:cNvSpPr>
          <p:nvPr/>
        </p:nvSpPr>
        <p:spPr bwMode="auto">
          <a:xfrm>
            <a:off x="506413" y="1347614"/>
            <a:ext cx="3671887" cy="245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2   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云雨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6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号气象卫星</a:t>
            </a:r>
          </a:p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使用两个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TGS</a:t>
            </a:r>
          </a:p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</a:p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测量：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85km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处大气温度分布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太阳和地球的辐射</a:t>
            </a:r>
          </a:p>
        </p:txBody>
      </p:sp>
      <p:pic>
        <p:nvPicPr>
          <p:cNvPr id="3" name="Picture 17" descr="DSP IR detector satellite_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898413"/>
            <a:ext cx="2900362" cy="368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="" xmlns:a16="http://schemas.microsoft.com/office/drawing/2014/main" id="{D20B90A3-2E4E-4884-9396-FBC0FFF374C2}"/>
              </a:ext>
            </a:extLst>
          </p:cNvPr>
          <p:cNvGrpSpPr/>
          <p:nvPr/>
        </p:nvGrpSpPr>
        <p:grpSpPr>
          <a:xfrm>
            <a:off x="0" y="195797"/>
            <a:ext cx="8773149" cy="4947406"/>
            <a:chOff x="0" y="195797"/>
            <a:chExt cx="8773149" cy="4947406"/>
          </a:xfrm>
        </p:grpSpPr>
        <p:sp>
          <p:nvSpPr>
            <p:cNvPr id="9" name="矩形 8">
              <a:extLst>
                <a:ext uri="{FF2B5EF4-FFF2-40B4-BE49-F238E27FC236}">
                  <a16:creationId xmlns="" xmlns:a16="http://schemas.microsoft.com/office/drawing/2014/main" id="{D1A8ABF4-CECF-4AD6-94DA-408D79B620B3}"/>
                </a:ext>
              </a:extLst>
            </p:cNvPr>
            <p:cNvSpPr/>
            <p:nvPr/>
          </p:nvSpPr>
          <p:spPr>
            <a:xfrm>
              <a:off x="6678647" y="219732"/>
              <a:ext cx="965535" cy="285904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733" b="1" spc="33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="" xmlns:a16="http://schemas.microsoft.com/office/drawing/2014/main" id="{405C7748-56B6-4758-A27F-838FD0D43740}"/>
                </a:ext>
              </a:extLst>
            </p:cNvPr>
            <p:cNvSpPr/>
            <p:nvPr/>
          </p:nvSpPr>
          <p:spPr>
            <a:xfrm>
              <a:off x="8661480" y="241570"/>
              <a:ext cx="111669" cy="275067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="" xmlns:a16="http://schemas.microsoft.com/office/drawing/2014/main" id="{C5F2C0F2-240D-4F8E-BCEA-02C57F9AAAFB}"/>
                </a:ext>
              </a:extLst>
            </p:cNvPr>
            <p:cNvSpPr/>
            <p:nvPr/>
          </p:nvSpPr>
          <p:spPr>
            <a:xfrm>
              <a:off x="107504" y="195797"/>
              <a:ext cx="748813" cy="320841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533"/>
                </a:spcBef>
              </a:pPr>
              <a:r>
                <a:rPr kumimoji="1" lang="en-US" altLang="zh-CN" sz="1866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6.4.2</a:t>
              </a:r>
              <a:endParaRPr kumimoji="1" lang="zh-CN" altLang="en-US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="" xmlns:a16="http://schemas.microsoft.com/office/drawing/2014/main" id="{838B2FAF-039D-4E02-8D72-172AE39485F9}"/>
                </a:ext>
              </a:extLst>
            </p:cNvPr>
            <p:cNvSpPr/>
            <p:nvPr/>
          </p:nvSpPr>
          <p:spPr>
            <a:xfrm>
              <a:off x="7500411" y="195797"/>
              <a:ext cx="1161069" cy="348677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 algn="r"/>
              <a:r>
                <a:rPr lang="zh-CN" altLang="en-US" sz="1866" spc="13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="" xmlns:a16="http://schemas.microsoft.com/office/drawing/2014/main" id="{B3B846B6-1D0E-4DD9-B1DA-62FD65864F2D}"/>
                </a:ext>
              </a:extLst>
            </p:cNvPr>
            <p:cNvSpPr/>
            <p:nvPr/>
          </p:nvSpPr>
          <p:spPr>
            <a:xfrm flipV="1">
              <a:off x="0" y="5059383"/>
              <a:ext cx="6760050" cy="83820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="" xmlns:a16="http://schemas.microsoft.com/office/drawing/2014/main" id="{1371630C-F6EC-4BA2-BD17-BBE72BB99434}"/>
                </a:ext>
              </a:extLst>
            </p:cNvPr>
            <p:cNvGrpSpPr/>
            <p:nvPr/>
          </p:nvGrpSpPr>
          <p:grpSpPr>
            <a:xfrm>
              <a:off x="0" y="195797"/>
              <a:ext cx="8773149" cy="4947406"/>
              <a:chOff x="0" y="195797"/>
              <a:chExt cx="8773149" cy="4947406"/>
            </a:xfrm>
          </p:grpSpPr>
          <p:sp>
            <p:nvSpPr>
              <p:cNvPr id="16" name="矩形 15">
                <a:extLst>
                  <a:ext uri="{FF2B5EF4-FFF2-40B4-BE49-F238E27FC236}">
                    <a16:creationId xmlns="" xmlns:a16="http://schemas.microsoft.com/office/drawing/2014/main" id="{25D7009B-C91F-44FB-887D-C568AD7D6A2C}"/>
                  </a:ext>
                </a:extLst>
              </p:cNvPr>
              <p:cNvSpPr/>
              <p:nvPr/>
            </p:nvSpPr>
            <p:spPr>
              <a:xfrm>
                <a:off x="6678647" y="219732"/>
                <a:ext cx="965535" cy="285904"/>
              </a:xfrm>
              <a:prstGeom prst="rect">
                <a:avLst/>
              </a:prstGeom>
              <a:noFill/>
            </p:spPr>
            <p:txBody>
              <a:bodyPr wrap="square" lIns="60953" tIns="30476" rIns="60953" bIns="30476">
                <a:spAutoFit/>
              </a:bodyPr>
              <a:lstStyle/>
              <a:p>
                <a:pPr>
                  <a:lnSpc>
                    <a:spcPts val="933"/>
                  </a:lnSpc>
                </a:pPr>
                <a:r>
                  <a:rPr lang="en-US" altLang="zh-CN" sz="733" b="1" spc="33" dirty="0">
                    <a:latin typeface="冬青黑体简体中文 W6"/>
                    <a:ea typeface="冬青黑体简体中文 W6" panose="020B0600000000000000" pitchFamily="34" charset="-122"/>
                    <a:cs typeface="Times New Roman" panose="02020603050405020304" pitchFamily="18" charset="0"/>
                  </a:rPr>
                  <a:t>Photoelectric</a:t>
                </a:r>
              </a:p>
              <a:p>
                <a:pPr>
                  <a:lnSpc>
                    <a:spcPts val="933"/>
                  </a:lnSpc>
                </a:pPr>
                <a:r>
                  <a:rPr lang="en-US" altLang="zh-CN" sz="733" b="1" spc="33" dirty="0">
                    <a:latin typeface="冬青黑体简体中文 W6"/>
                    <a:ea typeface="冬青黑体简体中文 W6" panose="020B0600000000000000" pitchFamily="34" charset="-122"/>
                    <a:cs typeface="Times New Roman" panose="02020603050405020304" pitchFamily="18" charset="0"/>
                  </a:rPr>
                  <a:t>Technology</a:t>
                </a:r>
                <a:endParaRPr lang="zh-CN" altLang="en-US" sz="733" b="1" spc="33" dirty="0">
                  <a:ln w="22225">
                    <a:solidFill>
                      <a:schemeClr val="accent2"/>
                    </a:solidFill>
                    <a:prstDash val="solid"/>
                  </a:ln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="" xmlns:a16="http://schemas.microsoft.com/office/drawing/2014/main" id="{A1DC87F3-B54F-4726-8203-B003F9556F60}"/>
                  </a:ext>
                </a:extLst>
              </p:cNvPr>
              <p:cNvSpPr/>
              <p:nvPr/>
            </p:nvSpPr>
            <p:spPr>
              <a:xfrm>
                <a:off x="8661480" y="241570"/>
                <a:ext cx="111669" cy="275067"/>
              </a:xfrm>
              <a:prstGeom prst="rect">
                <a:avLst/>
              </a:prstGeom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: 圆角 17">
                <a:extLst>
                  <a:ext uri="{FF2B5EF4-FFF2-40B4-BE49-F238E27FC236}">
                    <a16:creationId xmlns="" xmlns:a16="http://schemas.microsoft.com/office/drawing/2014/main" id="{43300A91-F6DD-41F9-84DA-0574B742BD56}"/>
                  </a:ext>
                </a:extLst>
              </p:cNvPr>
              <p:cNvSpPr/>
              <p:nvPr/>
            </p:nvSpPr>
            <p:spPr>
              <a:xfrm>
                <a:off x="107504" y="195797"/>
                <a:ext cx="748813" cy="320841"/>
              </a:xfrm>
              <a:prstGeom prst="roundRect">
                <a:avLst/>
              </a:prstGeom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533"/>
                  </a:spcBef>
                </a:pPr>
                <a:r>
                  <a:rPr kumimoji="1" lang="en-US" altLang="zh-CN" sz="1866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6.4.3</a:t>
                </a:r>
                <a:endParaRPr kumimoji="1" lang="zh-CN" altLang="en-US" sz="1866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="" xmlns:a16="http://schemas.microsoft.com/office/drawing/2014/main" id="{A37382DE-345A-48DD-8434-EA476D1DD39B}"/>
                  </a:ext>
                </a:extLst>
              </p:cNvPr>
              <p:cNvSpPr/>
              <p:nvPr/>
            </p:nvSpPr>
            <p:spPr>
              <a:xfrm>
                <a:off x="7500411" y="195797"/>
                <a:ext cx="1161069" cy="348677"/>
              </a:xfrm>
              <a:prstGeom prst="rect">
                <a:avLst/>
              </a:prstGeom>
              <a:noFill/>
            </p:spPr>
            <p:txBody>
              <a:bodyPr wrap="square" lIns="60953" tIns="30476" rIns="60953" bIns="30476">
                <a:spAutoFit/>
              </a:bodyPr>
              <a:lstStyle/>
              <a:p>
                <a:pPr algn="r"/>
                <a:r>
                  <a:rPr lang="zh-CN" altLang="en-US" sz="1866" spc="13" dirty="0">
                    <a:latin typeface="冬青黑体简体中文 W6" panose="020B0600000000000000" pitchFamily="34" charset="-122"/>
                    <a:ea typeface="冬青黑体简体中文 W6" panose="020B0600000000000000" pitchFamily="34" charset="-122"/>
                    <a:cs typeface="阿里巴巴普惠体 R" panose="00020600040101010101" pitchFamily="18" charset="-122"/>
                  </a:rPr>
                  <a:t>光电技术</a:t>
                </a: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="" xmlns:a16="http://schemas.microsoft.com/office/drawing/2014/main" id="{7DE625BB-83C2-40F0-B43A-6E46625AB622}"/>
                  </a:ext>
                </a:extLst>
              </p:cNvPr>
              <p:cNvSpPr/>
              <p:nvPr/>
            </p:nvSpPr>
            <p:spPr>
              <a:xfrm flipV="1">
                <a:off x="0" y="5059383"/>
                <a:ext cx="6760050" cy="83820"/>
              </a:xfrm>
              <a:prstGeom prst="rect">
                <a:avLst/>
              </a:prstGeom>
              <a:gradFill flip="none" rotWithShape="1">
                <a:gsLst>
                  <a:gs pos="0">
                    <a:srgbClr val="1271FE"/>
                  </a:gs>
                  <a:gs pos="45000">
                    <a:srgbClr val="6895F3"/>
                  </a:gs>
                  <a:gs pos="9000">
                    <a:srgbClr val="3366FF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/>
              </a:p>
            </p:txBody>
          </p:sp>
        </p:grpSp>
      </p:grpSp>
      <p:sp>
        <p:nvSpPr>
          <p:cNvPr id="22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917244" y="205920"/>
            <a:ext cx="2294099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热释电探测器应用举例</a:t>
            </a:r>
          </a:p>
        </p:txBody>
      </p:sp>
      <p:cxnSp>
        <p:nvCxnSpPr>
          <p:cNvPr id="23" name="直接连接符 58">
            <a:extLst>
              <a:ext uri="{FF2B5EF4-FFF2-40B4-BE49-F238E27FC236}">
                <a16:creationId xmlns="" xmlns:a16="http://schemas.microsoft.com/office/drawing/2014/main" id="{3D9B817F-8426-4149-B233-43E3E527B1AF}"/>
              </a:ext>
            </a:extLst>
          </p:cNvPr>
          <p:cNvCxnSpPr>
            <a:cxnSpLocks/>
          </p:cNvCxnSpPr>
          <p:nvPr/>
        </p:nvCxnSpPr>
        <p:spPr>
          <a:xfrm flipV="1">
            <a:off x="966891" y="545049"/>
            <a:ext cx="2088000" cy="1047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419225"/>
            <a:ext cx="4244975" cy="310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20"/>
          <p:cNvSpPr>
            <a:spLocks noChangeArrowheads="1"/>
          </p:cNvSpPr>
          <p:nvPr/>
        </p:nvSpPr>
        <p:spPr bwMode="auto">
          <a:xfrm>
            <a:off x="539750" y="642938"/>
            <a:ext cx="2952750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铁电聚合物材料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1635125"/>
            <a:ext cx="2809875" cy="196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6048375" y="3621088"/>
            <a:ext cx="2016125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热电纳米材料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="" xmlns:a16="http://schemas.microsoft.com/office/drawing/2014/main" id="{BF6B6D16-05E5-44CE-96A6-8E5ADBCC4472}"/>
              </a:ext>
            </a:extLst>
          </p:cNvPr>
          <p:cNvGrpSpPr/>
          <p:nvPr/>
        </p:nvGrpSpPr>
        <p:grpSpPr>
          <a:xfrm>
            <a:off x="0" y="195797"/>
            <a:ext cx="8773149" cy="4947406"/>
            <a:chOff x="0" y="195797"/>
            <a:chExt cx="8773149" cy="4947406"/>
          </a:xfrm>
        </p:grpSpPr>
        <p:sp>
          <p:nvSpPr>
            <p:cNvPr id="11" name="矩形 10">
              <a:extLst>
                <a:ext uri="{FF2B5EF4-FFF2-40B4-BE49-F238E27FC236}">
                  <a16:creationId xmlns="" xmlns:a16="http://schemas.microsoft.com/office/drawing/2014/main" id="{FCF6BDD9-1881-4713-A246-34903B536CFD}"/>
                </a:ext>
              </a:extLst>
            </p:cNvPr>
            <p:cNvSpPr/>
            <p:nvPr/>
          </p:nvSpPr>
          <p:spPr>
            <a:xfrm>
              <a:off x="6678647" y="219732"/>
              <a:ext cx="965535" cy="285904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733" b="1" spc="33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="" xmlns:a16="http://schemas.microsoft.com/office/drawing/2014/main" id="{5E44C528-C3F5-47F1-875A-FFD0F5FCCF7B}"/>
                </a:ext>
              </a:extLst>
            </p:cNvPr>
            <p:cNvSpPr/>
            <p:nvPr/>
          </p:nvSpPr>
          <p:spPr>
            <a:xfrm>
              <a:off x="8661480" y="241570"/>
              <a:ext cx="111669" cy="275067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="" xmlns:a16="http://schemas.microsoft.com/office/drawing/2014/main" id="{3BB90661-1B8F-43B0-8172-F7A503AD881E}"/>
                </a:ext>
              </a:extLst>
            </p:cNvPr>
            <p:cNvSpPr/>
            <p:nvPr/>
          </p:nvSpPr>
          <p:spPr>
            <a:xfrm>
              <a:off x="107504" y="195797"/>
              <a:ext cx="748813" cy="320841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533"/>
                </a:spcBef>
              </a:pPr>
              <a:r>
                <a:rPr kumimoji="1" lang="en-US" altLang="zh-CN" sz="1866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6.4.2</a:t>
              </a:r>
              <a:endParaRPr kumimoji="1" lang="zh-CN" altLang="en-US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="" xmlns:a16="http://schemas.microsoft.com/office/drawing/2014/main" id="{5D8FADDF-278D-4D7A-9DF8-C9ED0E473A8E}"/>
                </a:ext>
              </a:extLst>
            </p:cNvPr>
            <p:cNvSpPr/>
            <p:nvPr/>
          </p:nvSpPr>
          <p:spPr>
            <a:xfrm>
              <a:off x="7500411" y="195797"/>
              <a:ext cx="1161069" cy="348677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 algn="r"/>
              <a:r>
                <a:rPr lang="zh-CN" altLang="en-US" sz="1866" spc="13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="" xmlns:a16="http://schemas.microsoft.com/office/drawing/2014/main" id="{04520DF1-680B-4465-8CA1-E0FDDE3BF8AD}"/>
                </a:ext>
              </a:extLst>
            </p:cNvPr>
            <p:cNvSpPr/>
            <p:nvPr/>
          </p:nvSpPr>
          <p:spPr>
            <a:xfrm flipV="1">
              <a:off x="0" y="5059383"/>
              <a:ext cx="6760050" cy="83820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="" xmlns:a16="http://schemas.microsoft.com/office/drawing/2014/main" id="{17F88B4F-A16C-4E5B-A8A7-EB18A8591AEA}"/>
                </a:ext>
              </a:extLst>
            </p:cNvPr>
            <p:cNvGrpSpPr/>
            <p:nvPr/>
          </p:nvGrpSpPr>
          <p:grpSpPr>
            <a:xfrm>
              <a:off x="0" y="195797"/>
              <a:ext cx="8773149" cy="4947406"/>
              <a:chOff x="0" y="195797"/>
              <a:chExt cx="8773149" cy="4947406"/>
            </a:xfrm>
          </p:grpSpPr>
          <p:sp>
            <p:nvSpPr>
              <p:cNvPr id="18" name="矩形 17">
                <a:extLst>
                  <a:ext uri="{FF2B5EF4-FFF2-40B4-BE49-F238E27FC236}">
                    <a16:creationId xmlns="" xmlns:a16="http://schemas.microsoft.com/office/drawing/2014/main" id="{04A6F265-E94E-4EF0-BA32-B168F8BC88D1}"/>
                  </a:ext>
                </a:extLst>
              </p:cNvPr>
              <p:cNvSpPr/>
              <p:nvPr/>
            </p:nvSpPr>
            <p:spPr>
              <a:xfrm>
                <a:off x="6678647" y="219732"/>
                <a:ext cx="965535" cy="285904"/>
              </a:xfrm>
              <a:prstGeom prst="rect">
                <a:avLst/>
              </a:prstGeom>
              <a:noFill/>
            </p:spPr>
            <p:txBody>
              <a:bodyPr wrap="square" lIns="60953" tIns="30476" rIns="60953" bIns="30476">
                <a:spAutoFit/>
              </a:bodyPr>
              <a:lstStyle/>
              <a:p>
                <a:pPr>
                  <a:lnSpc>
                    <a:spcPts val="933"/>
                  </a:lnSpc>
                </a:pPr>
                <a:r>
                  <a:rPr lang="en-US" altLang="zh-CN" sz="733" b="1" spc="33" dirty="0">
                    <a:latin typeface="冬青黑体简体中文 W6"/>
                    <a:ea typeface="冬青黑体简体中文 W6" panose="020B0600000000000000" pitchFamily="34" charset="-122"/>
                    <a:cs typeface="Times New Roman" panose="02020603050405020304" pitchFamily="18" charset="0"/>
                  </a:rPr>
                  <a:t>Photoelectric</a:t>
                </a:r>
              </a:p>
              <a:p>
                <a:pPr>
                  <a:lnSpc>
                    <a:spcPts val="933"/>
                  </a:lnSpc>
                </a:pPr>
                <a:r>
                  <a:rPr lang="en-US" altLang="zh-CN" sz="733" b="1" spc="33" dirty="0">
                    <a:latin typeface="冬青黑体简体中文 W6"/>
                    <a:ea typeface="冬青黑体简体中文 W6" panose="020B0600000000000000" pitchFamily="34" charset="-122"/>
                    <a:cs typeface="Times New Roman" panose="02020603050405020304" pitchFamily="18" charset="0"/>
                  </a:rPr>
                  <a:t>Technology</a:t>
                </a:r>
                <a:endParaRPr lang="zh-CN" altLang="en-US" sz="733" b="1" spc="33" dirty="0">
                  <a:ln w="22225">
                    <a:solidFill>
                      <a:schemeClr val="accent2"/>
                    </a:solidFill>
                    <a:prstDash val="solid"/>
                  </a:ln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="" xmlns:a16="http://schemas.microsoft.com/office/drawing/2014/main" id="{8F7823CB-29C9-4B74-990A-649463EBF84F}"/>
                  </a:ext>
                </a:extLst>
              </p:cNvPr>
              <p:cNvSpPr/>
              <p:nvPr/>
            </p:nvSpPr>
            <p:spPr>
              <a:xfrm>
                <a:off x="8661480" y="241570"/>
                <a:ext cx="111669" cy="275067"/>
              </a:xfrm>
              <a:prstGeom prst="rect">
                <a:avLst/>
              </a:prstGeom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: 圆角 19">
                <a:extLst>
                  <a:ext uri="{FF2B5EF4-FFF2-40B4-BE49-F238E27FC236}">
                    <a16:creationId xmlns="" xmlns:a16="http://schemas.microsoft.com/office/drawing/2014/main" id="{5AD24A4C-6145-4A77-8711-C58BC946FA98}"/>
                  </a:ext>
                </a:extLst>
              </p:cNvPr>
              <p:cNvSpPr/>
              <p:nvPr/>
            </p:nvSpPr>
            <p:spPr>
              <a:xfrm>
                <a:off x="107504" y="195797"/>
                <a:ext cx="748813" cy="320841"/>
              </a:xfrm>
              <a:prstGeom prst="roundRect">
                <a:avLst/>
              </a:prstGeom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533"/>
                  </a:spcBef>
                </a:pPr>
                <a:r>
                  <a:rPr kumimoji="1" lang="en-US" altLang="zh-CN" sz="1866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6.4.3</a:t>
                </a:r>
                <a:endParaRPr kumimoji="1" lang="zh-CN" altLang="en-US" sz="1866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="" xmlns:a16="http://schemas.microsoft.com/office/drawing/2014/main" id="{01E36C5F-D070-45EA-92F7-6B5297547C8E}"/>
                  </a:ext>
                </a:extLst>
              </p:cNvPr>
              <p:cNvSpPr/>
              <p:nvPr/>
            </p:nvSpPr>
            <p:spPr>
              <a:xfrm>
                <a:off x="7500411" y="195797"/>
                <a:ext cx="1161069" cy="348677"/>
              </a:xfrm>
              <a:prstGeom prst="rect">
                <a:avLst/>
              </a:prstGeom>
              <a:noFill/>
            </p:spPr>
            <p:txBody>
              <a:bodyPr wrap="square" lIns="60953" tIns="30476" rIns="60953" bIns="30476">
                <a:spAutoFit/>
              </a:bodyPr>
              <a:lstStyle/>
              <a:p>
                <a:pPr algn="r"/>
                <a:r>
                  <a:rPr lang="zh-CN" altLang="en-US" sz="1866" spc="13" dirty="0">
                    <a:latin typeface="冬青黑体简体中文 W6" panose="020B0600000000000000" pitchFamily="34" charset="-122"/>
                    <a:ea typeface="冬青黑体简体中文 W6" panose="020B0600000000000000" pitchFamily="34" charset="-122"/>
                    <a:cs typeface="阿里巴巴普惠体 R" panose="00020600040101010101" pitchFamily="18" charset="-122"/>
                  </a:rPr>
                  <a:t>光电技术</a:t>
                </a: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="" xmlns:a16="http://schemas.microsoft.com/office/drawing/2014/main" id="{497FA77F-269A-4CA9-A365-93B8439CA20C}"/>
                  </a:ext>
                </a:extLst>
              </p:cNvPr>
              <p:cNvSpPr/>
              <p:nvPr/>
            </p:nvSpPr>
            <p:spPr>
              <a:xfrm flipV="1">
                <a:off x="0" y="5059383"/>
                <a:ext cx="6760050" cy="83820"/>
              </a:xfrm>
              <a:prstGeom prst="rect">
                <a:avLst/>
              </a:prstGeom>
              <a:gradFill flip="none" rotWithShape="1">
                <a:gsLst>
                  <a:gs pos="0">
                    <a:srgbClr val="1271FE"/>
                  </a:gs>
                  <a:gs pos="45000">
                    <a:srgbClr val="6895F3"/>
                  </a:gs>
                  <a:gs pos="9000">
                    <a:srgbClr val="3366FF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/>
              </a:p>
            </p:txBody>
          </p:sp>
        </p:grpSp>
      </p:grpSp>
      <p:sp>
        <p:nvSpPr>
          <p:cNvPr id="24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917244" y="205920"/>
            <a:ext cx="2294099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热释电探测器应用举例</a:t>
            </a:r>
          </a:p>
        </p:txBody>
      </p:sp>
      <p:cxnSp>
        <p:nvCxnSpPr>
          <p:cNvPr id="25" name="直接连接符 58">
            <a:extLst>
              <a:ext uri="{FF2B5EF4-FFF2-40B4-BE49-F238E27FC236}">
                <a16:creationId xmlns="" xmlns:a16="http://schemas.microsoft.com/office/drawing/2014/main" id="{3D9B817F-8426-4149-B233-43E3E527B1AF}"/>
              </a:ext>
            </a:extLst>
          </p:cNvPr>
          <p:cNvCxnSpPr>
            <a:cxnSpLocks/>
          </p:cNvCxnSpPr>
          <p:nvPr/>
        </p:nvCxnSpPr>
        <p:spPr>
          <a:xfrm flipV="1">
            <a:off x="966891" y="545049"/>
            <a:ext cx="2088000" cy="1047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4_光电技术模板-课堂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4_光电技术模板-课堂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光电技术模板 20151009</Template>
  <TotalTime>1246</TotalTime>
  <Words>766</Words>
  <Application>Microsoft Office PowerPoint</Application>
  <PresentationFormat>全屏显示(16:9)</PresentationFormat>
  <Paragraphs>236</Paragraphs>
  <Slides>20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41" baseType="lpstr">
      <vt:lpstr>HY견고딕</vt:lpstr>
      <vt:lpstr>Yu Gothic UI</vt:lpstr>
      <vt:lpstr>阿里巴巴普惠体 M</vt:lpstr>
      <vt:lpstr>阿里巴巴普惠体 R</vt:lpstr>
      <vt:lpstr>等线</vt:lpstr>
      <vt:lpstr>冬青黑体简体中文 W3</vt:lpstr>
      <vt:lpstr>冬青黑体简体中文 W6</vt:lpstr>
      <vt:lpstr>黑体</vt:lpstr>
      <vt:lpstr>楷体_GB2312</vt:lpstr>
      <vt:lpstr>宋体</vt:lpstr>
      <vt:lpstr>微软雅黑</vt:lpstr>
      <vt:lpstr>微软雅黑</vt:lpstr>
      <vt:lpstr>微软雅黑 Light</vt:lpstr>
      <vt:lpstr>Arial</vt:lpstr>
      <vt:lpstr>Calibri</vt:lpstr>
      <vt:lpstr>Microsoft Yi Baiti</vt:lpstr>
      <vt:lpstr>Times New Roman</vt:lpstr>
      <vt:lpstr>Wingdings</vt:lpstr>
      <vt:lpstr>4_光电技术模板-课堂</vt:lpstr>
      <vt:lpstr>Equation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WWW.SDWMBBS.COM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深度完美</dc:creator>
  <cp:lastModifiedBy>user</cp:lastModifiedBy>
  <cp:revision>68</cp:revision>
  <dcterms:created xsi:type="dcterms:W3CDTF">2015-10-09T05:54:58Z</dcterms:created>
  <dcterms:modified xsi:type="dcterms:W3CDTF">2023-02-23T09:37:20Z</dcterms:modified>
</cp:coreProperties>
</file>