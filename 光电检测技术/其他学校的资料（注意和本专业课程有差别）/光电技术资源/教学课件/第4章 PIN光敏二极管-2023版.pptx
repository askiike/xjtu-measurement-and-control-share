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vsd" ContentType="application/vnd.visio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376" r:id="rId3"/>
    <p:sldId id="284" r:id="rId4"/>
    <p:sldId id="273" r:id="rId5"/>
    <p:sldId id="377" r:id="rId6"/>
    <p:sldId id="275" r:id="rId7"/>
    <p:sldId id="276" r:id="rId8"/>
    <p:sldId id="277" r:id="rId9"/>
    <p:sldId id="280" r:id="rId10"/>
    <p:sldId id="281" r:id="rId11"/>
    <p:sldId id="285" r:id="rId12"/>
    <p:sldId id="378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379" r:id="rId23"/>
    <p:sldId id="297" r:id="rId24"/>
    <p:sldId id="298" r:id="rId25"/>
    <p:sldId id="299" r:id="rId26"/>
    <p:sldId id="300" r:id="rId27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448" y="9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9BB39E-583B-4A3B-B48E-6A8A9C8FA03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7D78014-C1A9-4096-8438-6ECB5C7750F7}">
      <dgm:prSet phldrT="[文本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反向偏置优缺点</a:t>
          </a:r>
        </a:p>
      </dgm:t>
    </dgm:pt>
    <dgm:pt modelId="{9B73D2F3-AE15-4925-9014-3D4B78A98BC6}" type="parTrans" cxnId="{ECF67857-DFD9-4043-9DA4-2092720CC1AC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4EFCCE-8110-4FBF-98D5-A24DA15821CF}" type="sibTrans" cxnId="{ECF67857-DFD9-4043-9DA4-2092720CC1AC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835CC47-4DDF-48C6-AE9E-B947878B165B}">
      <dgm:prSet phldrT="[文本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优点：</a:t>
          </a:r>
          <a:r>
            <a:rPr lang="zh-CN" altLang="en-US" sz="2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有效提高</a:t>
          </a:r>
          <a:r>
            <a: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频率响应</a:t>
          </a:r>
          <a:r>
            <a:rPr lang="zh-CN" altLang="en-US" sz="2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和</a:t>
          </a:r>
          <a:r>
            <a: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线性度</a:t>
          </a:r>
          <a:r>
            <a:rPr lang="zh-CN" altLang="en-US" sz="2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。</a:t>
          </a:r>
          <a:endParaRPr lang="zh-CN" altLang="en-US" sz="24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7077F68-EC1E-45A4-9A40-985ECFEE40DD}" type="parTrans" cxnId="{AD18D6FE-3800-430C-B446-75F8A1FB520A}">
      <dgm:prSet custT="1"/>
      <dgm:spPr>
        <a:ln w="31750">
          <a:solidFill>
            <a:srgbClr val="0000FF"/>
          </a:solidFill>
          <a:tailEnd type="stealth"/>
        </a:ln>
      </dgm:spPr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A03787-CD96-461A-8DAF-8206D8B4BBDA}" type="sibTrans" cxnId="{AD18D6FE-3800-430C-B446-75F8A1FB520A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65BD6C0-A7DB-4D01-B2A8-05E9AD933C97}">
      <dgm:prSet phldrT="[文本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20000"/>
              <a:lumOff val="80000"/>
            </a:schemeClr>
          </a:solidFill>
        </a:ln>
      </dgm:spPr>
      <dgm:t>
        <a:bodyPr/>
        <a:lstStyle/>
        <a:p>
          <a:pPr marL="895350" indent="-895350" algn="l"/>
          <a:r>
            <a: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缺点：</a:t>
          </a:r>
          <a:r>
            <a:rPr lang="zh-CN" altLang="en-US" sz="2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暗电流和噪声的增加；可能对器件的损坏。</a:t>
          </a:r>
          <a:endParaRPr lang="zh-CN" altLang="en-US" sz="24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6DF3C6-E485-452F-9CBA-1055213B30F1}" type="parTrans" cxnId="{534B391B-778D-406F-AB3D-6DB245CAA496}">
      <dgm:prSet custT="1"/>
      <dgm:spPr>
        <a:ln w="31750">
          <a:solidFill>
            <a:srgbClr val="0000FF"/>
          </a:solidFill>
          <a:tailEnd type="stealth"/>
        </a:ln>
      </dgm:spPr>
      <dgm:t>
        <a:bodyPr/>
        <a:lstStyle/>
        <a:p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6909999-C748-4055-86AB-BDFEFF648E5E}" type="sibTrans" cxnId="{534B391B-778D-406F-AB3D-6DB245CAA49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1B7701D-5319-4842-B292-5A1942681A1B}" type="pres">
      <dgm:prSet presAssocID="{4E9BB39E-583B-4A3B-B48E-6A8A9C8FA03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9965310-AB55-4B99-AA21-87AB1E120B06}" type="pres">
      <dgm:prSet presAssocID="{47D78014-C1A9-4096-8438-6ECB5C7750F7}" presName="root1" presStyleCnt="0"/>
      <dgm:spPr/>
    </dgm:pt>
    <dgm:pt modelId="{7161C47C-6809-4030-AE6C-CA6862D602FF}" type="pres">
      <dgm:prSet presAssocID="{47D78014-C1A9-4096-8438-6ECB5C7750F7}" presName="LevelOneTextNode" presStyleLbl="node0" presStyleIdx="0" presStyleCnt="1" custScaleX="101038" custScaleY="51431" custLinFactX="-28168" custLinFactNeighborX="-100000" custLinFactNeighborY="-145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5E9C5EB-A4C7-4A93-B735-57E42F5B750C}" type="pres">
      <dgm:prSet presAssocID="{47D78014-C1A9-4096-8438-6ECB5C7750F7}" presName="level2hierChild" presStyleCnt="0"/>
      <dgm:spPr/>
    </dgm:pt>
    <dgm:pt modelId="{CBA6F4F8-B8F7-406D-BFA5-173C1A4BCFB7}" type="pres">
      <dgm:prSet presAssocID="{E7077F68-EC1E-45A4-9A40-985ECFEE40DD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94940DDD-34A4-49E1-A8CC-8A3152C9544A}" type="pres">
      <dgm:prSet presAssocID="{E7077F68-EC1E-45A4-9A40-985ECFEE40DD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AEFE1F4C-A7F8-4DF3-BC38-11A34B0C2CA2}" type="pres">
      <dgm:prSet presAssocID="{3835CC47-4DDF-48C6-AE9E-B947878B165B}" presName="root2" presStyleCnt="0"/>
      <dgm:spPr/>
    </dgm:pt>
    <dgm:pt modelId="{0F20B387-1F1F-4E5F-80B1-E261E771ED3B}" type="pres">
      <dgm:prSet presAssocID="{3835CC47-4DDF-48C6-AE9E-B947878B165B}" presName="LevelTwoTextNode" presStyleLbl="node2" presStyleIdx="0" presStyleCnt="2" custScaleX="176797" custLinFactNeighborX="-5791" custLinFactNeighborY="-5570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7C6BCE9-5822-4068-A445-884575EFBB8E}" type="pres">
      <dgm:prSet presAssocID="{3835CC47-4DDF-48C6-AE9E-B947878B165B}" presName="level3hierChild" presStyleCnt="0"/>
      <dgm:spPr/>
    </dgm:pt>
    <dgm:pt modelId="{C29E8BF5-FDEC-4665-91FF-5B520BC5DA0E}" type="pres">
      <dgm:prSet presAssocID="{EB6DF3C6-E485-452F-9CBA-1055213B30F1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BCF25785-BA5E-47E5-AFB4-00CFBADED1C7}" type="pres">
      <dgm:prSet presAssocID="{EB6DF3C6-E485-452F-9CBA-1055213B30F1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C81A9E4B-C54B-4F84-A135-B715ECF03727}" type="pres">
      <dgm:prSet presAssocID="{065BD6C0-A7DB-4D01-B2A8-05E9AD933C97}" presName="root2" presStyleCnt="0"/>
      <dgm:spPr/>
    </dgm:pt>
    <dgm:pt modelId="{418964ED-FD5B-442B-8251-32DF2F0964FF}" type="pres">
      <dgm:prSet presAssocID="{065BD6C0-A7DB-4D01-B2A8-05E9AD933C97}" presName="LevelTwoTextNode" presStyleLbl="node2" presStyleIdx="1" presStyleCnt="2" custScaleX="175693" custLinFactNeighborX="-6087" custLinFactNeighborY="3522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5035CB9-5EE8-495B-974E-1C36329C186C}" type="pres">
      <dgm:prSet presAssocID="{065BD6C0-A7DB-4D01-B2A8-05E9AD933C97}" presName="level3hierChild" presStyleCnt="0"/>
      <dgm:spPr/>
    </dgm:pt>
  </dgm:ptLst>
  <dgm:cxnLst>
    <dgm:cxn modelId="{AD18D6FE-3800-430C-B446-75F8A1FB520A}" srcId="{47D78014-C1A9-4096-8438-6ECB5C7750F7}" destId="{3835CC47-4DDF-48C6-AE9E-B947878B165B}" srcOrd="0" destOrd="0" parTransId="{E7077F68-EC1E-45A4-9A40-985ECFEE40DD}" sibTransId="{EAA03787-CD96-461A-8DAF-8206D8B4BBDA}"/>
    <dgm:cxn modelId="{5BBAEAEE-A901-4E0D-A74D-9D9D3DCC2F28}" type="presOf" srcId="{4E9BB39E-583B-4A3B-B48E-6A8A9C8FA03C}" destId="{81B7701D-5319-4842-B292-5A1942681A1B}" srcOrd="0" destOrd="0" presId="urn:microsoft.com/office/officeart/2008/layout/HorizontalMultiLevelHierarchy"/>
    <dgm:cxn modelId="{8D816631-4559-475B-A407-E20C957DDF07}" type="presOf" srcId="{3835CC47-4DDF-48C6-AE9E-B947878B165B}" destId="{0F20B387-1F1F-4E5F-80B1-E261E771ED3B}" srcOrd="0" destOrd="0" presId="urn:microsoft.com/office/officeart/2008/layout/HorizontalMultiLevelHierarchy"/>
    <dgm:cxn modelId="{9E163253-BA48-4BE6-91DE-EAF828E18188}" type="presOf" srcId="{47D78014-C1A9-4096-8438-6ECB5C7750F7}" destId="{7161C47C-6809-4030-AE6C-CA6862D602FF}" srcOrd="0" destOrd="0" presId="urn:microsoft.com/office/officeart/2008/layout/HorizontalMultiLevelHierarchy"/>
    <dgm:cxn modelId="{64FF8DF8-0955-44D2-BD44-061DE3F66A90}" type="presOf" srcId="{065BD6C0-A7DB-4D01-B2A8-05E9AD933C97}" destId="{418964ED-FD5B-442B-8251-32DF2F0964FF}" srcOrd="0" destOrd="0" presId="urn:microsoft.com/office/officeart/2008/layout/HorizontalMultiLevelHierarchy"/>
    <dgm:cxn modelId="{ECF67857-DFD9-4043-9DA4-2092720CC1AC}" srcId="{4E9BB39E-583B-4A3B-B48E-6A8A9C8FA03C}" destId="{47D78014-C1A9-4096-8438-6ECB5C7750F7}" srcOrd="0" destOrd="0" parTransId="{9B73D2F3-AE15-4925-9014-3D4B78A98BC6}" sibTransId="{C64EFCCE-8110-4FBF-98D5-A24DA15821CF}"/>
    <dgm:cxn modelId="{534B391B-778D-406F-AB3D-6DB245CAA496}" srcId="{47D78014-C1A9-4096-8438-6ECB5C7750F7}" destId="{065BD6C0-A7DB-4D01-B2A8-05E9AD933C97}" srcOrd="1" destOrd="0" parTransId="{EB6DF3C6-E485-452F-9CBA-1055213B30F1}" sibTransId="{B6909999-C748-4055-86AB-BDFEFF648E5E}"/>
    <dgm:cxn modelId="{1F130246-C385-4A17-8FF8-432E9CA773BD}" type="presOf" srcId="{EB6DF3C6-E485-452F-9CBA-1055213B30F1}" destId="{BCF25785-BA5E-47E5-AFB4-00CFBADED1C7}" srcOrd="1" destOrd="0" presId="urn:microsoft.com/office/officeart/2008/layout/HorizontalMultiLevelHierarchy"/>
    <dgm:cxn modelId="{C0CC1663-1EE2-4F6D-8E12-B6B8951EAD57}" type="presOf" srcId="{EB6DF3C6-E485-452F-9CBA-1055213B30F1}" destId="{C29E8BF5-FDEC-4665-91FF-5B520BC5DA0E}" srcOrd="0" destOrd="0" presId="urn:microsoft.com/office/officeart/2008/layout/HorizontalMultiLevelHierarchy"/>
    <dgm:cxn modelId="{490BB4F1-C0B1-4EF8-8716-A7F6C427827D}" type="presOf" srcId="{E7077F68-EC1E-45A4-9A40-985ECFEE40DD}" destId="{94940DDD-34A4-49E1-A8CC-8A3152C9544A}" srcOrd="1" destOrd="0" presId="urn:microsoft.com/office/officeart/2008/layout/HorizontalMultiLevelHierarchy"/>
    <dgm:cxn modelId="{B30575AC-62F3-4D31-A117-BA2513AD28DD}" type="presOf" srcId="{E7077F68-EC1E-45A4-9A40-985ECFEE40DD}" destId="{CBA6F4F8-B8F7-406D-BFA5-173C1A4BCFB7}" srcOrd="0" destOrd="0" presId="urn:microsoft.com/office/officeart/2008/layout/HorizontalMultiLevelHierarchy"/>
    <dgm:cxn modelId="{20430AD5-56B3-4028-982E-657A6EB258F0}" type="presParOf" srcId="{81B7701D-5319-4842-B292-5A1942681A1B}" destId="{E9965310-AB55-4B99-AA21-87AB1E120B06}" srcOrd="0" destOrd="0" presId="urn:microsoft.com/office/officeart/2008/layout/HorizontalMultiLevelHierarchy"/>
    <dgm:cxn modelId="{C939F765-86B1-491A-A851-B1E1A31BF4B7}" type="presParOf" srcId="{E9965310-AB55-4B99-AA21-87AB1E120B06}" destId="{7161C47C-6809-4030-AE6C-CA6862D602FF}" srcOrd="0" destOrd="0" presId="urn:microsoft.com/office/officeart/2008/layout/HorizontalMultiLevelHierarchy"/>
    <dgm:cxn modelId="{6B9E5B64-0323-4F03-A202-629C01D0E79F}" type="presParOf" srcId="{E9965310-AB55-4B99-AA21-87AB1E120B06}" destId="{B5E9C5EB-A4C7-4A93-B735-57E42F5B750C}" srcOrd="1" destOrd="0" presId="urn:microsoft.com/office/officeart/2008/layout/HorizontalMultiLevelHierarchy"/>
    <dgm:cxn modelId="{7B7E4FB4-671B-4FE0-A06B-FAD79A12C7C6}" type="presParOf" srcId="{B5E9C5EB-A4C7-4A93-B735-57E42F5B750C}" destId="{CBA6F4F8-B8F7-406D-BFA5-173C1A4BCFB7}" srcOrd="0" destOrd="0" presId="urn:microsoft.com/office/officeart/2008/layout/HorizontalMultiLevelHierarchy"/>
    <dgm:cxn modelId="{FE2E2026-ECE8-4E86-B907-E59EDB924788}" type="presParOf" srcId="{CBA6F4F8-B8F7-406D-BFA5-173C1A4BCFB7}" destId="{94940DDD-34A4-49E1-A8CC-8A3152C9544A}" srcOrd="0" destOrd="0" presId="urn:microsoft.com/office/officeart/2008/layout/HorizontalMultiLevelHierarchy"/>
    <dgm:cxn modelId="{E0A850F9-43AC-44CB-AB07-3F4CA67ECBFA}" type="presParOf" srcId="{B5E9C5EB-A4C7-4A93-B735-57E42F5B750C}" destId="{AEFE1F4C-A7F8-4DF3-BC38-11A34B0C2CA2}" srcOrd="1" destOrd="0" presId="urn:microsoft.com/office/officeart/2008/layout/HorizontalMultiLevelHierarchy"/>
    <dgm:cxn modelId="{D29BCB7C-1269-4EBC-BCA0-AA9E4738E38D}" type="presParOf" srcId="{AEFE1F4C-A7F8-4DF3-BC38-11A34B0C2CA2}" destId="{0F20B387-1F1F-4E5F-80B1-E261E771ED3B}" srcOrd="0" destOrd="0" presId="urn:microsoft.com/office/officeart/2008/layout/HorizontalMultiLevelHierarchy"/>
    <dgm:cxn modelId="{249DA293-6723-41DD-9ED0-64FC7FC29A64}" type="presParOf" srcId="{AEFE1F4C-A7F8-4DF3-BC38-11A34B0C2CA2}" destId="{57C6BCE9-5822-4068-A445-884575EFBB8E}" srcOrd="1" destOrd="0" presId="urn:microsoft.com/office/officeart/2008/layout/HorizontalMultiLevelHierarchy"/>
    <dgm:cxn modelId="{F06FE984-3B39-4752-BB2E-49A2B1132FBA}" type="presParOf" srcId="{B5E9C5EB-A4C7-4A93-B735-57E42F5B750C}" destId="{C29E8BF5-FDEC-4665-91FF-5B520BC5DA0E}" srcOrd="2" destOrd="0" presId="urn:microsoft.com/office/officeart/2008/layout/HorizontalMultiLevelHierarchy"/>
    <dgm:cxn modelId="{4F0151B3-CE29-430D-B7D1-33CD2715FA8A}" type="presParOf" srcId="{C29E8BF5-FDEC-4665-91FF-5B520BC5DA0E}" destId="{BCF25785-BA5E-47E5-AFB4-00CFBADED1C7}" srcOrd="0" destOrd="0" presId="urn:microsoft.com/office/officeart/2008/layout/HorizontalMultiLevelHierarchy"/>
    <dgm:cxn modelId="{7E93B1CB-16AC-4F72-843B-93F70F1807D4}" type="presParOf" srcId="{B5E9C5EB-A4C7-4A93-B735-57E42F5B750C}" destId="{C81A9E4B-C54B-4F84-A135-B715ECF03727}" srcOrd="3" destOrd="0" presId="urn:microsoft.com/office/officeart/2008/layout/HorizontalMultiLevelHierarchy"/>
    <dgm:cxn modelId="{77FCE3FB-0ADF-42CB-8869-538C324EB65B}" type="presParOf" srcId="{C81A9E4B-C54B-4F84-A135-B715ECF03727}" destId="{418964ED-FD5B-442B-8251-32DF2F0964FF}" srcOrd="0" destOrd="0" presId="urn:microsoft.com/office/officeart/2008/layout/HorizontalMultiLevelHierarchy"/>
    <dgm:cxn modelId="{D24A7E39-D921-40A3-97D7-F9231B83106A}" type="presParOf" srcId="{C81A9E4B-C54B-4F84-A135-B715ECF03727}" destId="{55035CB9-5EE8-495B-974E-1C36329C186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E8BF5-FDEC-4665-91FF-5B520BC5DA0E}">
      <dsp:nvSpPr>
        <dsp:cNvPr id="0" name=""/>
        <dsp:cNvSpPr/>
      </dsp:nvSpPr>
      <dsp:spPr>
        <a:xfrm>
          <a:off x="850324" y="2154769"/>
          <a:ext cx="715802" cy="886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7901" y="0"/>
              </a:lnTo>
              <a:lnTo>
                <a:pt x="357901" y="886680"/>
              </a:lnTo>
              <a:lnTo>
                <a:pt x="715802" y="886680"/>
              </a:lnTo>
            </a:path>
          </a:pathLst>
        </a:custGeom>
        <a:noFill/>
        <a:ln w="31750" cap="flat" cmpd="sng" algn="ctr">
          <a:solidFill>
            <a:srgbClr val="0000FF"/>
          </a:solidFill>
          <a:prstDash val="solid"/>
          <a:miter lim="800000"/>
          <a:tailEnd type="stealt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79737" y="2569620"/>
        <a:ext cx="56977" cy="56977"/>
      </dsp:txXfrm>
    </dsp:sp>
    <dsp:sp modelId="{CBA6F4F8-B8F7-406D-BFA5-173C1A4BCFB7}">
      <dsp:nvSpPr>
        <dsp:cNvPr id="0" name=""/>
        <dsp:cNvSpPr/>
      </dsp:nvSpPr>
      <dsp:spPr>
        <a:xfrm>
          <a:off x="850324" y="1224273"/>
          <a:ext cx="723973" cy="930495"/>
        </a:xfrm>
        <a:custGeom>
          <a:avLst/>
          <a:gdLst/>
          <a:ahLst/>
          <a:cxnLst/>
          <a:rect l="0" t="0" r="0" b="0"/>
          <a:pathLst>
            <a:path>
              <a:moveTo>
                <a:pt x="0" y="930495"/>
              </a:moveTo>
              <a:lnTo>
                <a:pt x="361986" y="930495"/>
              </a:lnTo>
              <a:lnTo>
                <a:pt x="361986" y="0"/>
              </a:lnTo>
              <a:lnTo>
                <a:pt x="723973" y="0"/>
              </a:lnTo>
            </a:path>
          </a:pathLst>
        </a:custGeom>
        <a:noFill/>
        <a:ln w="31750" cap="flat" cmpd="sng" algn="ctr">
          <a:solidFill>
            <a:srgbClr val="0000FF"/>
          </a:solidFill>
          <a:prstDash val="solid"/>
          <a:miter lim="800000"/>
          <a:tailEnd type="stealt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82837" y="1660047"/>
        <a:ext cx="58948" cy="58948"/>
      </dsp:txXfrm>
    </dsp:sp>
    <dsp:sp modelId="{7161C47C-6809-4030-AE6C-CA6862D602FF}">
      <dsp:nvSpPr>
        <dsp:cNvPr id="0" name=""/>
        <dsp:cNvSpPr/>
      </dsp:nvSpPr>
      <dsp:spPr>
        <a:xfrm rot="16200000">
          <a:off x="-713884" y="1729606"/>
          <a:ext cx="2278092" cy="850324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反向偏置优缺点</a:t>
          </a:r>
        </a:p>
      </dsp:txBody>
      <dsp:txXfrm>
        <a:off x="-713884" y="1729606"/>
        <a:ext cx="2278092" cy="850324"/>
      </dsp:txXfrm>
    </dsp:sp>
    <dsp:sp modelId="{0F20B387-1F1F-4E5F-80B1-E261E771ED3B}">
      <dsp:nvSpPr>
        <dsp:cNvPr id="0" name=""/>
        <dsp:cNvSpPr/>
      </dsp:nvSpPr>
      <dsp:spPr>
        <a:xfrm>
          <a:off x="1574298" y="803478"/>
          <a:ext cx="4880325" cy="841589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优点：</a:t>
          </a:r>
          <a:r>
            <a:rPr lang="zh-CN" altLang="en-US" sz="24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有效提高</a:t>
          </a:r>
          <a:r>
            <a:rPr lang="zh-CN" altLang="en-US" sz="2400" b="1" kern="12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频率响应</a:t>
          </a:r>
          <a:r>
            <a:rPr lang="zh-CN" altLang="en-US" sz="24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和</a:t>
          </a:r>
          <a:r>
            <a:rPr lang="zh-CN" altLang="en-US" sz="2400" b="1" kern="12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线性度</a:t>
          </a:r>
          <a:r>
            <a:rPr lang="zh-CN" altLang="en-US" sz="24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。</a:t>
          </a:r>
          <a:endParaRPr lang="zh-CN" altLang="en-US" sz="2400" b="1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74298" y="803478"/>
        <a:ext cx="4880325" cy="841589"/>
      </dsp:txXfrm>
    </dsp:sp>
    <dsp:sp modelId="{418964ED-FD5B-442B-8251-32DF2F0964FF}">
      <dsp:nvSpPr>
        <dsp:cNvPr id="0" name=""/>
        <dsp:cNvSpPr/>
      </dsp:nvSpPr>
      <dsp:spPr>
        <a:xfrm>
          <a:off x="1566127" y="2620654"/>
          <a:ext cx="4849850" cy="841589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accent2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895350" lvl="0" indent="-89535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缺点：</a:t>
          </a:r>
          <a:r>
            <a:rPr lang="zh-CN" altLang="en-US" sz="24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暗电流和噪声的增加；可能对器件的损坏。</a:t>
          </a:r>
          <a:endParaRPr lang="zh-CN" altLang="en-US" sz="2400" b="1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66127" y="2620654"/>
        <a:ext cx="4849850" cy="841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83A87-5677-4E0C-B96F-CE693EA32E41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913E8-4C7B-4905-BB0A-7AB545352A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599E1-0F05-4A18-BF79-87EC1BE51DC7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B2420-DD1B-404C-8BA0-E5A9736EE4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D8B3C-EA81-4CE6-97E4-8A90D3FCBD62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FB0DF-617F-4B6E-81AC-55037B3555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7295E-E596-42F0-85D1-828286CC0550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D7D61-4847-4F77-BA7B-AF56311130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F643D-0195-4A1F-B02D-92517884F643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0D257-8C58-4E82-BC9C-C91D449E43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32849-B25B-49EC-A8B7-5944A2019894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4FDBC-1B85-4A55-8C4D-637C2EB124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0522A-0324-4782-B3C8-823A5BD8D58C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7CCDC-336B-4641-9168-18BF1CDF65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E7016-13C6-4A5F-BFAC-9A9AEF161B30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4117E-8058-479A-ADCD-5478A7A937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83945-EF51-4261-8436-C59BFD2724B9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FCC04-EB28-4E34-BFC8-BB4860607A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FED01-EA73-4A42-AD3E-C1996DBF34CF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FC1A3-ED67-4CC4-B6CD-C0E7BBF1D3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5F67B-0C58-41D8-9756-58DBC5276B95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5F65A-2FAF-4A42-B967-47FC0DB6E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B6DBFF-D78B-4FBB-B6D0-5735AE7FCE09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51410C-5C91-40C3-BF94-6041660548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PIN-s6801.PDF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1.vsd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光伏探测器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Photovoltaic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光敏二极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(P-Intrinsic-N)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PIN </a:t>
            </a: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光敏二极</a:t>
            </a:r>
            <a:r>
              <a:rPr kumimoji="1" lang="en-US" altLang="zh-CN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(P-Intrinsic-N) 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247618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46472" y="3208543"/>
            <a:ext cx="1664915" cy="1376819"/>
            <a:chOff x="538" y="2835369"/>
            <a:chExt cx="1433792" cy="1376819"/>
          </a:xfrm>
        </p:grpSpPr>
        <p:sp>
          <p:nvSpPr>
            <p:cNvPr id="3" name="圆角矩形 2"/>
            <p:cNvSpPr/>
            <p:nvPr/>
          </p:nvSpPr>
          <p:spPr>
            <a:xfrm>
              <a:off x="538" y="2835369"/>
              <a:ext cx="1433792" cy="1376819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ts val="3400"/>
                </a:lnSpc>
              </a:pPr>
              <a:endParaRPr lang="zh-CN" altLang="en-US"/>
            </a:p>
          </p:txBody>
        </p:sp>
        <p:sp>
          <p:nvSpPr>
            <p:cNvPr id="4" name="圆角矩形 4"/>
            <p:cNvSpPr/>
            <p:nvPr/>
          </p:nvSpPr>
          <p:spPr>
            <a:xfrm>
              <a:off x="40864" y="2875695"/>
              <a:ext cx="1353140" cy="12961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ts val="34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2800" b="1" kern="1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</a:t>
              </a:r>
              <a:endParaRPr lang="en-US" altLang="zh-CN" sz="28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44550">
                <a:lnSpc>
                  <a:spcPts val="34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2800" b="1" kern="1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光敏二极管缺点</a:t>
              </a:r>
            </a:p>
          </p:txBody>
        </p:sp>
      </p:grpSp>
      <p:sp>
        <p:nvSpPr>
          <p:cNvPr id="12" name="左大括号 11"/>
          <p:cNvSpPr/>
          <p:nvPr/>
        </p:nvSpPr>
        <p:spPr>
          <a:xfrm>
            <a:off x="2341733" y="2095345"/>
            <a:ext cx="717755" cy="3510117"/>
          </a:xfrm>
          <a:prstGeom prst="lef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064945" y="1385585"/>
            <a:ext cx="1893824" cy="1429982"/>
            <a:chOff x="2535786" y="1727452"/>
            <a:chExt cx="1367402" cy="105845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4" name="圆角矩形 13"/>
            <p:cNvSpPr/>
            <p:nvPr/>
          </p:nvSpPr>
          <p:spPr>
            <a:xfrm>
              <a:off x="2535786" y="1727452"/>
              <a:ext cx="1367402" cy="1058457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圆角矩形 4"/>
            <p:cNvSpPr/>
            <p:nvPr/>
          </p:nvSpPr>
          <p:spPr>
            <a:xfrm>
              <a:off x="2566787" y="1758453"/>
              <a:ext cx="1305400" cy="99645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marL="342900" lvl="0" indent="-34290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l"/>
              </a:pPr>
              <a:r>
                <a:rPr lang="en-US" altLang="zh-CN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RC</a:t>
              </a:r>
            </a:p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时间常数</a:t>
              </a:r>
              <a:endParaRPr lang="en-US" altLang="zh-CN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限制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061821" y="4798643"/>
            <a:ext cx="1986310" cy="1524345"/>
            <a:chOff x="2989231" y="4418790"/>
            <a:chExt cx="1505081" cy="990678"/>
          </a:xfrm>
          <a:solidFill>
            <a:schemeClr val="accent6"/>
          </a:solidFill>
        </p:grpSpPr>
        <p:sp>
          <p:nvSpPr>
            <p:cNvPr id="17" name="圆角矩形 16"/>
            <p:cNvSpPr/>
            <p:nvPr/>
          </p:nvSpPr>
          <p:spPr>
            <a:xfrm>
              <a:off x="2989231" y="4418790"/>
              <a:ext cx="1505081" cy="99067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圆角矩形 4"/>
            <p:cNvSpPr/>
            <p:nvPr/>
          </p:nvSpPr>
          <p:spPr>
            <a:xfrm>
              <a:off x="3018247" y="4447806"/>
              <a:ext cx="1447049" cy="93264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342900" lvl="0" indent="-34290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l"/>
              </a:pPr>
              <a:r>
                <a:rPr lang="en-US" altLang="zh-CN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PN</a:t>
              </a:r>
              <a:r>
                <a:rPr lang="zh-CN" altLang="en-US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</a:t>
              </a:r>
              <a:endParaRPr lang="en-US" altLang="zh-CN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耗尽层宽度</a:t>
              </a:r>
              <a:endParaRPr lang="en-US" altLang="zh-CN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限制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577806" y="1404172"/>
            <a:ext cx="1893824" cy="1429982"/>
            <a:chOff x="2535786" y="1727452"/>
            <a:chExt cx="1367402" cy="1058457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3" name="圆角矩形 22"/>
            <p:cNvSpPr/>
            <p:nvPr/>
          </p:nvSpPr>
          <p:spPr>
            <a:xfrm>
              <a:off x="2535786" y="1727452"/>
              <a:ext cx="1367402" cy="1058457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圆角矩形 4"/>
            <p:cNvSpPr/>
            <p:nvPr/>
          </p:nvSpPr>
          <p:spPr>
            <a:xfrm>
              <a:off x="2566787" y="1758453"/>
              <a:ext cx="1305400" cy="99645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algn="ctr">
                <a:lnSpc>
                  <a:spcPts val="3400"/>
                </a:lnSpc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无法对高频调制信号进行光电检测</a:t>
              </a:r>
              <a:endPara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420847" y="4798642"/>
            <a:ext cx="1986310" cy="1524345"/>
            <a:chOff x="2989231" y="4418790"/>
            <a:chExt cx="1505081" cy="99067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6" name="圆角矩形 25"/>
            <p:cNvSpPr/>
            <p:nvPr/>
          </p:nvSpPr>
          <p:spPr>
            <a:xfrm>
              <a:off x="2989231" y="4418790"/>
              <a:ext cx="1505081" cy="99067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ts val="3400"/>
                </a:lnSpc>
                <a:spcAft>
                  <a:spcPts val="0"/>
                </a:spcAft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4"/>
            <p:cNvSpPr/>
            <p:nvPr/>
          </p:nvSpPr>
          <p:spPr>
            <a:xfrm>
              <a:off x="3018247" y="4447806"/>
              <a:ext cx="1447049" cy="93264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lvl="0" algn="ctr" defTabSz="933450">
                <a:lnSpc>
                  <a:spcPts val="3400"/>
                </a:lnSpc>
                <a:spcAft>
                  <a:spcPts val="0"/>
                </a:spcAft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耗尽层最大厚度几个微米</a:t>
              </a:r>
              <a:endParaRPr lang="zh-CN" altLang="en-US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834354" y="4753996"/>
            <a:ext cx="2408902" cy="1524345"/>
            <a:chOff x="2989231" y="4418790"/>
            <a:chExt cx="1505081" cy="99067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9" name="圆角矩形 28"/>
            <p:cNvSpPr/>
            <p:nvPr/>
          </p:nvSpPr>
          <p:spPr>
            <a:xfrm>
              <a:off x="2989231" y="4418790"/>
              <a:ext cx="1505081" cy="99067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ts val="3400"/>
                </a:lnSpc>
                <a:spcAft>
                  <a:spcPts val="0"/>
                </a:spcAft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圆角矩形 4"/>
            <p:cNvSpPr/>
            <p:nvPr/>
          </p:nvSpPr>
          <p:spPr>
            <a:xfrm>
              <a:off x="3018247" y="4447806"/>
              <a:ext cx="1447049" cy="93264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algn="ctr" defTabSz="933450">
                <a:lnSpc>
                  <a:spcPts val="3400"/>
                </a:lnSpc>
                <a:spcAft>
                  <a:spcPts val="0"/>
                </a:spcAft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光子</a:t>
              </a: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穿透深度</a:t>
              </a:r>
              <a:endPara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33450">
                <a:lnSpc>
                  <a:spcPts val="3400"/>
                </a:lnSpc>
                <a:spcAft>
                  <a:spcPts val="0"/>
                </a:spcAft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大于耗尽层宽度</a:t>
              </a:r>
              <a:endParaRPr lang="zh-CN" altLang="en-US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759431" y="4551544"/>
            <a:ext cx="2408902" cy="1817068"/>
            <a:chOff x="2989231" y="4418790"/>
            <a:chExt cx="1505081" cy="99067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2" name="圆角矩形 31"/>
            <p:cNvSpPr/>
            <p:nvPr/>
          </p:nvSpPr>
          <p:spPr>
            <a:xfrm>
              <a:off x="2989231" y="4418790"/>
              <a:ext cx="1505081" cy="99067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ts val="3400"/>
                </a:lnSpc>
                <a:spcAft>
                  <a:spcPts val="0"/>
                </a:spcAft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3018247" y="4447806"/>
              <a:ext cx="1447049" cy="93264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algn="ctr" defTabSz="933450">
                <a:lnSpc>
                  <a:spcPts val="3400"/>
                </a:lnSpc>
                <a:spcAft>
                  <a:spcPts val="0"/>
                </a:spcAft>
              </a:pPr>
              <a:r>
                <a:rPr lang="zh-CN" altLang="zh-CN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大多数光子被耗尽层外的中性区域吸收而产生光电子</a:t>
              </a:r>
              <a:r>
                <a:rPr lang="en-US" altLang="zh-CN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zh-CN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空穴对</a:t>
              </a:r>
              <a:endParaRPr lang="zh-CN" altLang="en-US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418385" y="1378216"/>
            <a:ext cx="1893824" cy="1429982"/>
            <a:chOff x="2535786" y="1727452"/>
            <a:chExt cx="1367402" cy="1058457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5" name="圆角矩形 34"/>
            <p:cNvSpPr/>
            <p:nvPr/>
          </p:nvSpPr>
          <p:spPr>
            <a:xfrm>
              <a:off x="2535786" y="1727452"/>
              <a:ext cx="1367402" cy="1058457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圆角矩形 4"/>
            <p:cNvSpPr/>
            <p:nvPr/>
          </p:nvSpPr>
          <p:spPr>
            <a:xfrm>
              <a:off x="2566787" y="1758453"/>
              <a:ext cx="1305400" cy="99645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耗尽层电容不够小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920073" y="1385585"/>
            <a:ext cx="1893824" cy="1429982"/>
            <a:chOff x="2535786" y="1727452"/>
            <a:chExt cx="1367402" cy="1058457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535786" y="1727452"/>
              <a:ext cx="1367402" cy="1058457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ts val="34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圆角矩形 4"/>
            <p:cNvSpPr/>
            <p:nvPr/>
          </p:nvSpPr>
          <p:spPr>
            <a:xfrm>
              <a:off x="2566787" y="1758453"/>
              <a:ext cx="1305400" cy="99645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algn="ctr">
                <a:lnSpc>
                  <a:spcPts val="3400"/>
                </a:lnSpc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频率</a:t>
              </a:r>
              <a:endPara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endParaRPr>
            </a:p>
            <a:p>
              <a:pPr algn="ctr">
                <a:lnSpc>
                  <a:spcPts val="3400"/>
                </a:lnSpc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特性</a:t>
              </a:r>
              <a:endPara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右箭头 43"/>
          <p:cNvSpPr/>
          <p:nvPr/>
        </p:nvSpPr>
        <p:spPr>
          <a:xfrm>
            <a:off x="10328668" y="5181871"/>
            <a:ext cx="383422" cy="668594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右箭头 44"/>
          <p:cNvSpPr/>
          <p:nvPr/>
        </p:nvSpPr>
        <p:spPr>
          <a:xfrm>
            <a:off x="5013495" y="1800149"/>
            <a:ext cx="383422" cy="668594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右箭头 45"/>
          <p:cNvSpPr/>
          <p:nvPr/>
        </p:nvSpPr>
        <p:spPr>
          <a:xfrm>
            <a:off x="7424430" y="1784866"/>
            <a:ext cx="383422" cy="668594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右箭头 46"/>
          <p:cNvSpPr/>
          <p:nvPr/>
        </p:nvSpPr>
        <p:spPr>
          <a:xfrm>
            <a:off x="10051545" y="1800149"/>
            <a:ext cx="383422" cy="668594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5107706" y="5226517"/>
            <a:ext cx="253305" cy="668594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右箭头 48"/>
          <p:cNvSpPr/>
          <p:nvPr/>
        </p:nvSpPr>
        <p:spPr>
          <a:xfrm>
            <a:off x="7497184" y="5271165"/>
            <a:ext cx="271210" cy="668594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C9101F78-BDB3-4C2C-A3F3-02BC7752EEF6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43" name="文本框 60">
              <a:extLst>
                <a:ext uri="{FF2B5EF4-FFF2-40B4-BE49-F238E27FC236}">
                  <a16:creationId xmlns:a16="http://schemas.microsoft.com/office/drawing/2014/main" xmlns="" id="{E8696FFB-3AAF-4C1C-927C-DC632DD10BF0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PIN 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光敏二极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(P-Intrinsic-N)</a:t>
              </a:r>
              <a:endPara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xmlns="" id="{2E6C3F84-73A0-4D0F-8908-7BA48EDD3F87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xmlns="" id="{3A698D6E-D296-4DC1-A3E0-2DD957406EE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xmlns="" id="{5803E961-1DCE-4B7B-8452-879CE5C563DB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连接符 58">
              <a:extLst>
                <a:ext uri="{FF2B5EF4-FFF2-40B4-BE49-F238E27FC236}">
                  <a16:creationId xmlns:a16="http://schemas.microsoft.com/office/drawing/2014/main" xmlns="" id="{CF4B75B9-5528-4667-99A0-76667F4F0F7B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247618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xmlns="" id="{4B3C3D1B-53C9-4017-90D1-4E99DED4D2E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xmlns="" id="{7077C370-4A9C-49D8-A879-95F393EF1CD8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8440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3"/>
          <p:cNvSpPr>
            <a:spLocks noChangeArrowheads="1"/>
          </p:cNvSpPr>
          <p:nvPr/>
        </p:nvSpPr>
        <p:spPr bwMode="auto">
          <a:xfrm>
            <a:off x="0" y="533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1800"/>
          </a:p>
        </p:txBody>
      </p:sp>
      <p:graphicFrame>
        <p:nvGraphicFramePr>
          <p:cNvPr id="4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745900"/>
              </p:ext>
            </p:extLst>
          </p:nvPr>
        </p:nvGraphicFramePr>
        <p:xfrm>
          <a:off x="2992603" y="1203258"/>
          <a:ext cx="6900862" cy="470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Visio" r:id="rId3" imgW="4933474" imgH="3363420" progId="Visio.Drawing.11">
                  <p:embed/>
                </p:oleObj>
              </mc:Choice>
              <mc:Fallback>
                <p:oleObj name="Visio" r:id="rId3" imgW="4933474" imgH="336342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603" y="1203258"/>
                        <a:ext cx="6900862" cy="4702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TextBox 5"/>
          <p:cNvSpPr txBox="1">
            <a:spLocks noChangeArrowheads="1"/>
          </p:cNvSpPr>
          <p:nvPr/>
        </p:nvSpPr>
        <p:spPr bwMode="auto">
          <a:xfrm>
            <a:off x="3102140" y="6196602"/>
            <a:ext cx="67913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光子入射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材料穿透深度与波长关系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A97FD251-722D-4B2A-A1F6-E36F64D274BB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9D10E961-B50E-4714-9606-6672E6E1101C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PIN 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光敏二极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(P-Intrinsic-N)</a:t>
              </a:r>
              <a:endPara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1EBD7754-9029-4946-A8A1-C407D122B979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E88FBB7A-8064-4724-B3B2-437E0CE08FE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9DE1DA69-2D19-4079-A4E8-98FBC4567732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3D25A5F1-6692-4A6B-BD23-7AD0ED1163F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247618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E9531D2A-E478-4F9C-ADC3-D7AC9A56548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F6A9CA1E-9CE7-45BD-B683-219267772864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4925660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原理与结构（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Principle and Structure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196308" y="3397018"/>
            <a:ext cx="963156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原理与结构（</a:t>
            </a:r>
            <a:r>
              <a:rPr kumimoji="1" lang="en-US" altLang="zh-CN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Principle and Structure</a:t>
            </a: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9994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288142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622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 descr="宽上对角线"/>
          <p:cNvSpPr>
            <a:spLocks noChangeAspect="1" noChangeArrowheads="1"/>
          </p:cNvSpPr>
          <p:nvPr/>
        </p:nvSpPr>
        <p:spPr bwMode="auto">
          <a:xfrm>
            <a:off x="903287" y="4715795"/>
            <a:ext cx="5038725" cy="388938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Rectangle 3"/>
          <p:cNvSpPr>
            <a:spLocks noChangeAspect="1" noChangeArrowheads="1"/>
          </p:cNvSpPr>
          <p:nvPr/>
        </p:nvSpPr>
        <p:spPr bwMode="auto">
          <a:xfrm>
            <a:off x="903287" y="2312320"/>
            <a:ext cx="5038725" cy="1985963"/>
          </a:xfrm>
          <a:prstGeom prst="rect">
            <a:avLst/>
          </a:prstGeom>
          <a:solidFill>
            <a:srgbClr val="FFC000"/>
          </a:solid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4"/>
          <p:cNvSpPr>
            <a:spLocks noChangeAspect="1" noChangeArrowheads="1"/>
          </p:cNvSpPr>
          <p:nvPr/>
        </p:nvSpPr>
        <p:spPr bwMode="auto">
          <a:xfrm>
            <a:off x="903287" y="4298283"/>
            <a:ext cx="5038725" cy="417512"/>
          </a:xfrm>
          <a:prstGeom prst="rect">
            <a:avLst/>
          </a:prstGeom>
          <a:solidFill>
            <a:srgbClr val="FF33CC"/>
          </a:solid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AutoShape 5"/>
          <p:cNvSpPr>
            <a:spLocks noChangeAspect="1" noChangeArrowheads="1"/>
          </p:cNvSpPr>
          <p:nvPr/>
        </p:nvSpPr>
        <p:spPr bwMode="auto">
          <a:xfrm rot="5400000">
            <a:off x="3217862" y="612108"/>
            <a:ext cx="511175" cy="3911600"/>
          </a:xfrm>
          <a:prstGeom prst="flowChartDelay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 rot="10800000" vert="eaVer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Rectangle 6" descr="10%"/>
          <p:cNvSpPr>
            <a:spLocks noChangeAspect="1" noChangeArrowheads="1"/>
          </p:cNvSpPr>
          <p:nvPr/>
        </p:nvSpPr>
        <p:spPr bwMode="auto">
          <a:xfrm>
            <a:off x="903287" y="2110708"/>
            <a:ext cx="1103313" cy="187325"/>
          </a:xfrm>
          <a:prstGeom prst="rect">
            <a:avLst/>
          </a:prstGeom>
          <a:pattFill prst="pct10">
            <a:fgClr>
              <a:srgbClr val="000000"/>
            </a:fgClr>
            <a:bgClr>
              <a:srgbClr val="FFFFFF"/>
            </a:bgClr>
          </a:patt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Rectangle 7" descr="10%"/>
          <p:cNvSpPr>
            <a:spLocks noChangeAspect="1" noChangeArrowheads="1"/>
          </p:cNvSpPr>
          <p:nvPr/>
        </p:nvSpPr>
        <p:spPr bwMode="auto">
          <a:xfrm>
            <a:off x="4845050" y="2110708"/>
            <a:ext cx="1096962" cy="201612"/>
          </a:xfrm>
          <a:prstGeom prst="rect">
            <a:avLst/>
          </a:prstGeom>
          <a:pattFill prst="pct10">
            <a:fgClr>
              <a:srgbClr val="000000"/>
            </a:fgClr>
            <a:bgClr>
              <a:srgbClr val="FFFFFF"/>
            </a:bgClr>
          </a:patt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Rectangle 8" descr="宽下对角线"/>
          <p:cNvSpPr>
            <a:spLocks noChangeAspect="1" noChangeArrowheads="1"/>
          </p:cNvSpPr>
          <p:nvPr/>
        </p:nvSpPr>
        <p:spPr bwMode="auto">
          <a:xfrm>
            <a:off x="4967287" y="2110708"/>
            <a:ext cx="339725" cy="187325"/>
          </a:xfrm>
          <a:prstGeom prst="rect">
            <a:avLst/>
          </a:prstGeom>
          <a:pattFill prst="wdDnDiag">
            <a:fgClr>
              <a:srgbClr val="000000"/>
            </a:fgClr>
            <a:bgClr>
              <a:srgbClr val="FFFFFF"/>
            </a:bgClr>
          </a:patt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3240087" y="2329783"/>
            <a:ext cx="657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800" b="1" baseline="30000">
                <a:latin typeface="Times New Roman" pitchFamily="18" charset="0"/>
                <a:cs typeface="Times New Roman" pitchFamily="18" charset="0"/>
              </a:rPr>
              <a:t>+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436812" y="3206083"/>
            <a:ext cx="24098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Times New Roman" pitchFamily="18" charset="0"/>
                <a:cs typeface="Times New Roman" pitchFamily="18" charset="0"/>
              </a:rPr>
              <a:t>I-Intrinsic</a:t>
            </a:r>
            <a:endParaRPr lang="zh-CN" altLang="en-US" sz="36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349625" y="4264945"/>
            <a:ext cx="65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b="1" baseline="30000">
                <a:latin typeface="Times New Roman" pitchFamily="18" charset="0"/>
                <a:cs typeface="Times New Roman" pitchFamily="18" charset="0"/>
              </a:rPr>
              <a:t>+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4518025" y="1270920"/>
            <a:ext cx="178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Electrode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498974" y="5461394"/>
            <a:ext cx="1789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Electrode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124575" y="1964658"/>
            <a:ext cx="94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SiO</a:t>
            </a:r>
            <a:r>
              <a:rPr lang="en-US" altLang="zh-CN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上箭头 34"/>
          <p:cNvSpPr>
            <a:spLocks noChangeArrowheads="1"/>
          </p:cNvSpPr>
          <p:nvPr/>
        </p:nvSpPr>
        <p:spPr bwMode="auto">
          <a:xfrm>
            <a:off x="5307012" y="5220211"/>
            <a:ext cx="345870" cy="38591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" name="TextBox 18"/>
          <p:cNvSpPr txBox="1">
            <a:spLocks noChangeArrowheads="1"/>
          </p:cNvSpPr>
          <p:nvPr/>
        </p:nvSpPr>
        <p:spPr bwMode="auto">
          <a:xfrm>
            <a:off x="1290124" y="6171691"/>
            <a:ext cx="42650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600" b="1" dirty="0">
                <a:solidFill>
                  <a:srgbClr val="0000CC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PIN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光敏二极管结构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292975" y="1622605"/>
            <a:ext cx="5750989" cy="4827920"/>
            <a:chOff x="7305368" y="1602659"/>
            <a:chExt cx="5750989" cy="4827920"/>
          </a:xfrm>
        </p:grpSpPr>
        <p:sp>
          <p:nvSpPr>
            <p:cNvPr id="2" name="文本框 1"/>
            <p:cNvSpPr txBox="1"/>
            <p:nvPr/>
          </p:nvSpPr>
          <p:spPr>
            <a:xfrm>
              <a:off x="7403343" y="1730124"/>
              <a:ext cx="5653014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理想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PIN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光敏二极管的结构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-Intrinsic-N</a:t>
              </a:r>
              <a:r>
                <a:rPr lang="en-US" altLang="zh-CN" sz="24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：表示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重摻杂空穴型半导体材料区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；</a:t>
              </a:r>
              <a:endPara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表示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本征半导体材料区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；</a:t>
              </a:r>
              <a:endPara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表示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重摻杂电子半导体材料区。</a:t>
              </a:r>
              <a:endPara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本征半导体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层摻杂的浓度比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层和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层要少很多，宽度比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层和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层要宽，一般为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5~50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，视具体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器件</a:t>
              </a:r>
              <a:r>
                <a:rPr lang="zh-CN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会有所不同。</a:t>
              </a:r>
              <a:endPara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7305368" y="1602659"/>
              <a:ext cx="5750989" cy="4827920"/>
            </a:xfrm>
            <a:prstGeom prst="roundRect">
              <a:avLst/>
            </a:prstGeom>
            <a:noFill/>
            <a:ln w="317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BDEBB9AE-3E3E-4676-BEF1-E8460D5EDF2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44" name="文本框 60">
              <a:extLst>
                <a:ext uri="{FF2B5EF4-FFF2-40B4-BE49-F238E27FC236}">
                  <a16:creationId xmlns:a16="http://schemas.microsoft.com/office/drawing/2014/main" xmlns="" id="{5B5C3FF5-1BBB-4A21-8FF8-E0073CD77F8F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原理与结构（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 and Structure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xmlns="" id="{DA876472-4AEB-4C7F-9D51-5ED53B41F45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xmlns="" id="{055A8C8C-DAC1-4875-8784-90CF31232889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xmlns="" id="{2C8DA98D-ADC9-4CFC-A72A-2116FC3EF9C4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连接符 58">
              <a:extLst>
                <a:ext uri="{FF2B5EF4-FFF2-40B4-BE49-F238E27FC236}">
                  <a16:creationId xmlns:a16="http://schemas.microsoft.com/office/drawing/2014/main" xmlns="" id="{8C3D9F1D-8991-436C-99C3-88823F7669E7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xmlns="" id="{A1DDBC23-CC88-4568-BF97-27E22B29040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xmlns="" id="{699A7BF4-5D0D-4035-A51A-C6AAF0FE22D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895188"/>
              </p:ext>
            </p:extLst>
          </p:nvPr>
        </p:nvGraphicFramePr>
        <p:xfrm>
          <a:off x="6759422" y="1081088"/>
          <a:ext cx="3590925" cy="566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Visio" r:id="rId3" imgW="2343040" imgH="3705075" progId="Visio.Drawing.11">
                  <p:embed/>
                </p:oleObj>
              </mc:Choice>
              <mc:Fallback>
                <p:oleObj name="Visio" r:id="rId3" imgW="2343040" imgH="370507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9422" y="1081088"/>
                        <a:ext cx="3590925" cy="566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7843455" y="1301750"/>
            <a:ext cx="1460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2400" b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5~50um</a:t>
            </a:r>
            <a:endParaRPr lang="zh-CN" altLang="en-US" sz="2400" b="1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rot="5400000">
            <a:off x="8300655" y="1939925"/>
            <a:ext cx="401638" cy="1588"/>
          </a:xfrm>
          <a:prstGeom prst="straightConnector1">
            <a:avLst/>
          </a:prstGeom>
          <a:ln w="41275">
            <a:solidFill>
              <a:srgbClr val="0000CC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39801" y="1793488"/>
            <a:ext cx="4271962" cy="6771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txBody>
          <a:bodyPr lIns="0" tIns="0" rIns="0" bIns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latin typeface="Times New Roman" pitchFamily="18" charset="0"/>
                <a:cs typeface="Times New Roman" pitchFamily="18" charset="0"/>
              </a:rPr>
              <a:t>Intrinsic layer</a:t>
            </a:r>
            <a:endParaRPr lang="zh-CN" alt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4" name="TextBox 5"/>
          <p:cNvSpPr txBox="1">
            <a:spLocks noChangeArrowheads="1"/>
          </p:cNvSpPr>
          <p:nvPr/>
        </p:nvSpPr>
        <p:spPr bwMode="auto">
          <a:xfrm>
            <a:off x="574260" y="4597400"/>
            <a:ext cx="5580736" cy="461665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层与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交界面显露出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很薄的一负电荷层</a:t>
            </a:r>
            <a:endParaRPr lang="zh-CN" altLang="en-US" sz="2400" dirty="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55" name="TextBox 6"/>
          <p:cNvSpPr txBox="1">
            <a:spLocks noChangeArrowheads="1"/>
          </p:cNvSpPr>
          <p:nvPr/>
        </p:nvSpPr>
        <p:spPr bwMode="auto">
          <a:xfrm>
            <a:off x="574260" y="3717398"/>
            <a:ext cx="5580736" cy="461665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/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层与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交界面显露出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很薄的一正电荷层</a:t>
            </a:r>
            <a:endParaRPr lang="zh-CN" altLang="en-US" sz="2400" dirty="0"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5711763" y="2136279"/>
            <a:ext cx="2510717" cy="2774"/>
          </a:xfrm>
          <a:prstGeom prst="straightConnector1">
            <a:avLst/>
          </a:prstGeom>
          <a:ln w="1016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2055" idx="3"/>
          </p:cNvCxnSpPr>
          <p:nvPr/>
        </p:nvCxnSpPr>
        <p:spPr>
          <a:xfrm>
            <a:off x="6154996" y="3948231"/>
            <a:ext cx="2979601" cy="17958"/>
          </a:xfrm>
          <a:prstGeom prst="straightConnector1">
            <a:avLst/>
          </a:prstGeom>
          <a:ln w="444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257308" y="4795822"/>
            <a:ext cx="1367072" cy="5077"/>
          </a:xfrm>
          <a:prstGeom prst="straightConnector1">
            <a:avLst/>
          </a:prstGeom>
          <a:ln w="44450">
            <a:solidFill>
              <a:srgbClr val="0000CC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TextBox 14"/>
          <p:cNvSpPr txBox="1">
            <a:spLocks noChangeArrowheads="1"/>
          </p:cNvSpPr>
          <p:nvPr/>
        </p:nvSpPr>
        <p:spPr bwMode="auto">
          <a:xfrm>
            <a:off x="2423576" y="2648150"/>
            <a:ext cx="2373313" cy="495300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多子的扩散运动</a:t>
            </a:r>
          </a:p>
        </p:txBody>
      </p:sp>
      <p:sp>
        <p:nvSpPr>
          <p:cNvPr id="16" name="TextBox 7"/>
          <p:cNvSpPr txBox="1">
            <a:spLocks noChangeArrowheads="1"/>
          </p:cNvSpPr>
          <p:nvPr/>
        </p:nvSpPr>
        <p:spPr bwMode="auto">
          <a:xfrm>
            <a:off x="4613980" y="6542626"/>
            <a:ext cx="47831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Principle-Intrinsic</a:t>
            </a:r>
            <a:endParaRPr lang="zh-CN" altLang="en-US" sz="3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3172082" y="3228705"/>
            <a:ext cx="876300" cy="438150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2062" name="TextBox 23"/>
          <p:cNvSpPr txBox="1">
            <a:spLocks noChangeArrowheads="1"/>
          </p:cNvSpPr>
          <p:nvPr/>
        </p:nvSpPr>
        <p:spPr bwMode="auto">
          <a:xfrm>
            <a:off x="2044752" y="5828391"/>
            <a:ext cx="3359150" cy="495300"/>
          </a:xfrm>
          <a:prstGeom prst="rect">
            <a:avLst/>
          </a:prstGeom>
          <a:noFill/>
          <a:ln w="31750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内建均匀电场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endParaRPr lang="zh-CN" altLang="en-US" sz="2400"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5486400" y="6084888"/>
            <a:ext cx="2137980" cy="14902"/>
          </a:xfrm>
          <a:prstGeom prst="straightConnector1">
            <a:avLst/>
          </a:prstGeom>
          <a:ln w="444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下箭头 25"/>
          <p:cNvSpPr/>
          <p:nvPr/>
        </p:nvSpPr>
        <p:spPr>
          <a:xfrm>
            <a:off x="3134546" y="5280843"/>
            <a:ext cx="876300" cy="328613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grpSp>
        <p:nvGrpSpPr>
          <p:cNvPr id="40" name="组合 39"/>
          <p:cNvGrpSpPr/>
          <p:nvPr/>
        </p:nvGrpSpPr>
        <p:grpSpPr>
          <a:xfrm>
            <a:off x="10332859" y="1462628"/>
            <a:ext cx="2766064" cy="1338828"/>
            <a:chOff x="6184489" y="1493683"/>
            <a:chExt cx="2766064" cy="1338828"/>
          </a:xfrm>
        </p:grpSpPr>
        <p:sp>
          <p:nvSpPr>
            <p:cNvPr id="41" name="TextBox 1"/>
            <p:cNvSpPr txBox="1">
              <a:spLocks noChangeArrowheads="1"/>
            </p:cNvSpPr>
            <p:nvPr/>
          </p:nvSpPr>
          <p:spPr bwMode="auto">
            <a:xfrm>
              <a:off x="6267016" y="1493683"/>
              <a:ext cx="2683537" cy="1338828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50000"/>
                </a:lnSpc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P-Intrinsic-N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结构设计</a:t>
              </a:r>
              <a:endParaRPr lang="en-US" altLang="zh-CN" sz="1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 algn="ctr" defTabSz="914400">
                <a:lnSpc>
                  <a:spcPct val="150000"/>
                </a:lnSpc>
              </a:pP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入射光子主要</a:t>
              </a:r>
              <a:r>
                <a:rPr lang="zh-CN" altLang="en-US" sz="18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在</a:t>
              </a:r>
              <a:r>
                <a:rPr lang="en-US" altLang="zh-CN" sz="18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zh-CN" altLang="en-US" sz="18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层吸收产生电子</a:t>
              </a:r>
              <a:r>
                <a:rPr lang="en-US" altLang="zh-CN" sz="18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-</a:t>
              </a:r>
              <a:r>
                <a:rPr lang="zh-CN" altLang="en-US" sz="18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空穴对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。</a:t>
              </a:r>
              <a:endParaRPr lang="zh-CN" altLang="en-US" sz="1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6184489" y="1493683"/>
              <a:ext cx="2766063" cy="1338828"/>
            </a:xfrm>
            <a:prstGeom prst="roundRect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365352" y="3329583"/>
            <a:ext cx="2766063" cy="1350015"/>
            <a:chOff x="10013629" y="2887975"/>
            <a:chExt cx="2766063" cy="1350015"/>
          </a:xfrm>
        </p:grpSpPr>
        <p:sp>
          <p:nvSpPr>
            <p:cNvPr id="44" name="TextBox 2"/>
            <p:cNvSpPr txBox="1">
              <a:spLocks noChangeArrowheads="1"/>
            </p:cNvSpPr>
            <p:nvPr/>
          </p:nvSpPr>
          <p:spPr bwMode="auto">
            <a:xfrm>
              <a:off x="10080214" y="2899162"/>
              <a:ext cx="2613231" cy="133882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50000"/>
                </a:lnSpc>
              </a:pP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层中的光生电子</a:t>
              </a: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-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空穴对被电场</a:t>
              </a:r>
              <a:r>
                <a:rPr lang="en-US" altLang="zh-CN" sz="18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E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0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分开，并各自漂移向</a:t>
              </a: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r>
                <a:rPr lang="en-US" altLang="zh-CN" sz="1800" b="1" baseline="300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+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层和</a:t>
              </a: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</a:t>
              </a:r>
              <a:r>
                <a:rPr lang="en-US" altLang="zh-CN" sz="1800" b="1" baseline="300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+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层。</a:t>
              </a:r>
              <a:endParaRPr lang="zh-CN" altLang="en-US" sz="1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10013629" y="2887975"/>
              <a:ext cx="2766063" cy="1338828"/>
            </a:xfrm>
            <a:prstGeom prst="roundRect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308601" y="5168397"/>
            <a:ext cx="2766063" cy="1754326"/>
            <a:chOff x="10140926" y="4738008"/>
            <a:chExt cx="2766063" cy="1754326"/>
          </a:xfrm>
        </p:grpSpPr>
        <p:sp>
          <p:nvSpPr>
            <p:cNvPr id="47" name="TextBox 3"/>
            <p:cNvSpPr txBox="1">
              <a:spLocks noChangeArrowheads="1"/>
            </p:cNvSpPr>
            <p:nvPr/>
          </p:nvSpPr>
          <p:spPr bwMode="auto">
            <a:xfrm>
              <a:off x="10140926" y="4738008"/>
              <a:ext cx="2755442" cy="175432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400">
                <a:lnSpc>
                  <a:spcPct val="150000"/>
                </a:lnSpc>
              </a:pP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当</a:t>
              </a: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PIN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外接负载电阻形成回路时，就会在回路产生电流，其电流的大小近似等于光电流。</a:t>
              </a:r>
              <a:endParaRPr lang="zh-CN" altLang="en-US" sz="1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10140926" y="4738008"/>
              <a:ext cx="2766063" cy="1754326"/>
            </a:xfrm>
            <a:prstGeom prst="roundRect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4EFCD167-CBEC-451A-9D9F-145AB248F01C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33" name="文本框 60">
              <a:extLst>
                <a:ext uri="{FF2B5EF4-FFF2-40B4-BE49-F238E27FC236}">
                  <a16:creationId xmlns:a16="http://schemas.microsoft.com/office/drawing/2014/main" xmlns="" id="{CDFABDEF-16DD-4C22-BE2E-1BE9D9C7FE20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原理与结构（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 and Structure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xmlns="" id="{01E43395-0EB2-4B41-A7C3-1AB14B8D66E0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xmlns="" id="{31A9C90B-273A-4D4D-8CE6-935CE560D81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xmlns="" id="{4CB52D85-1DB7-43F2-9B37-5E00B6335D3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连接符 58">
              <a:extLst>
                <a:ext uri="{FF2B5EF4-FFF2-40B4-BE49-F238E27FC236}">
                  <a16:creationId xmlns:a16="http://schemas.microsoft.com/office/drawing/2014/main" xmlns="" id="{7B0ADF8D-2A75-47BD-8A30-63E7895AE48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xmlns="" id="{0373AFF1-3346-41F2-9892-577A92599F62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xmlns="" id="{9C8012E8-A0C8-4660-8BCC-8FC1E696B49C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054" grpId="0" animBg="1"/>
      <p:bldP spid="2055" grpId="0" animBg="1"/>
      <p:bldP spid="2059" grpId="0" animBg="1"/>
      <p:bldP spid="16" grpId="0"/>
      <p:bldP spid="17" grpId="0" animBg="1"/>
      <p:bldP spid="2062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360757" y="1051602"/>
            <a:ext cx="5194199" cy="1338828"/>
            <a:chOff x="947290" y="892280"/>
            <a:chExt cx="5241961" cy="1338828"/>
          </a:xfrm>
        </p:grpSpPr>
        <p:sp>
          <p:nvSpPr>
            <p:cNvPr id="17" name="圆角矩形 16"/>
            <p:cNvSpPr/>
            <p:nvPr/>
          </p:nvSpPr>
          <p:spPr>
            <a:xfrm>
              <a:off x="947290" y="892280"/>
              <a:ext cx="5078456" cy="1338828"/>
            </a:xfrm>
            <a:prstGeom prst="roundRect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TextBox 3"/>
            <p:cNvSpPr txBox="1">
              <a:spLocks noChangeArrowheads="1"/>
            </p:cNvSpPr>
            <p:nvPr/>
          </p:nvSpPr>
          <p:spPr bwMode="auto">
            <a:xfrm>
              <a:off x="988976" y="904280"/>
              <a:ext cx="520027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*PIN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的响应时间</a:t>
              </a:r>
              <a:endPara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光生载流子穿过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消耗的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漂移时间</a:t>
              </a:r>
              <a:endPara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448771" y="1089954"/>
            <a:ext cx="4759114" cy="1300476"/>
            <a:chOff x="7398070" y="1070290"/>
            <a:chExt cx="4695608" cy="1300476"/>
          </a:xfrm>
        </p:grpSpPr>
        <p:sp>
          <p:nvSpPr>
            <p:cNvPr id="24" name="TextBox 3"/>
            <p:cNvSpPr txBox="1">
              <a:spLocks noChangeArrowheads="1"/>
            </p:cNvSpPr>
            <p:nvPr/>
          </p:nvSpPr>
          <p:spPr bwMode="auto">
            <a:xfrm>
              <a:off x="7473261" y="1070290"/>
              <a:ext cx="4620417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增加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 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  <a:sym typeface="Wingdings" pitchFamily="2" charset="2"/>
                </a:rPr>
                <a:t></a:t>
              </a:r>
              <a:r>
                <a:rPr 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使更多的光子被吸收，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量子效率提高，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响应速度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降低。</a:t>
              </a: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7398070" y="1073710"/>
              <a:ext cx="4695608" cy="1297056"/>
            </a:xfrm>
            <a:prstGeom prst="roundRect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TextBox 9"/>
          <p:cNvSpPr txBox="1">
            <a:spLocks noChangeArrowheads="1"/>
          </p:cNvSpPr>
          <p:nvPr/>
        </p:nvSpPr>
        <p:spPr bwMode="auto">
          <a:xfrm>
            <a:off x="1937476" y="3097834"/>
            <a:ext cx="234156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理想情况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耗尽层电容</a:t>
            </a:r>
            <a:endParaRPr lang="zh-CN" altLang="en-US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798047"/>
              </p:ext>
            </p:extLst>
          </p:nvPr>
        </p:nvGraphicFramePr>
        <p:xfrm>
          <a:off x="5205286" y="3066661"/>
          <a:ext cx="184467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0" name="公式" r:id="rId3" imgW="685800" imgH="393700" progId="Equation.3">
                  <p:embed/>
                </p:oleObj>
              </mc:Choice>
              <mc:Fallback>
                <p:oleObj name="公式" r:id="rId3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286" y="3066661"/>
                        <a:ext cx="1844675" cy="1058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8115624" y="3004278"/>
            <a:ext cx="3050806" cy="1338828"/>
            <a:chOff x="8115624" y="3004278"/>
            <a:chExt cx="3050806" cy="1338828"/>
          </a:xfrm>
        </p:grpSpPr>
        <p:sp>
          <p:nvSpPr>
            <p:cNvPr id="23" name="圆角矩形 22"/>
            <p:cNvSpPr/>
            <p:nvPr/>
          </p:nvSpPr>
          <p:spPr>
            <a:xfrm>
              <a:off x="8115624" y="3004278"/>
              <a:ext cx="2766063" cy="1338828"/>
            </a:xfrm>
            <a:prstGeom prst="roundRect">
              <a:avLst/>
            </a:pr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TextBox 11"/>
            <p:cNvSpPr txBox="1">
              <a:spLocks noChangeArrowheads="1"/>
            </p:cNvSpPr>
            <p:nvPr/>
          </p:nvSpPr>
          <p:spPr bwMode="auto">
            <a:xfrm>
              <a:off x="8115624" y="3022824"/>
              <a:ext cx="305080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C=1pf,R=50</a:t>
              </a:r>
              <a:r>
                <a:rPr lang="el-GR" altLang="zh-CN" sz="2400" b="1" dirty="0"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Ω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，</a:t>
              </a:r>
              <a:endPara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RC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时间常数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~50ps</a:t>
              </a:r>
            </a:p>
          </p:txBody>
        </p:sp>
      </p:grpSp>
      <p:sp>
        <p:nvSpPr>
          <p:cNvPr id="31" name="TextBox 2"/>
          <p:cNvSpPr txBox="1">
            <a:spLocks noChangeArrowheads="1"/>
          </p:cNvSpPr>
          <p:nvPr/>
        </p:nvSpPr>
        <p:spPr bwMode="auto">
          <a:xfrm>
            <a:off x="1360757" y="4396277"/>
            <a:ext cx="4016593" cy="85408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itchFamily="2" charset="-122"/>
                <a:ea typeface="华文隶书" pitchFamily="2" charset="-122"/>
                <a:cs typeface="Times New Roman" pitchFamily="18" charset="0"/>
              </a:rPr>
              <a:t>工作条件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itchFamily="2" charset="-122"/>
                <a:ea typeface="华文隶书" pitchFamily="2" charset="-122"/>
                <a:cs typeface="Times New Roman" pitchFamily="18" charset="0"/>
              </a:rPr>
              <a:t>—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itchFamily="2" charset="-122"/>
                <a:ea typeface="华文隶书" pitchFamily="2" charset="-122"/>
                <a:cs typeface="Times New Roman" pitchFamily="18" charset="0"/>
              </a:rPr>
              <a:t>反向偏压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itchFamily="2" charset="-122"/>
                <a:ea typeface="华文隶书" pitchFamily="2" charset="-122"/>
                <a:cs typeface="Times New Roman" pitchFamily="18" charset="0"/>
              </a:rPr>
              <a:t> </a:t>
            </a:r>
            <a:endParaRPr lang="zh-CN" altLang="en-US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itchFamily="2" charset="-122"/>
              <a:ea typeface="华文隶书" pitchFamily="2" charset="-122"/>
              <a:cs typeface="Times New Roman" pitchFamily="18" charset="0"/>
            </a:endParaRPr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2820988" y="5514959"/>
            <a:ext cx="7707938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光伏效应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产生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能量转换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，因此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无需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外部电源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加外部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反向偏压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提升频率响应与线性</a:t>
            </a:r>
            <a:endParaRPr lang="zh-CN" altLang="en-US" sz="36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5195C8C5-F24B-4678-8FAC-22CA8786F2F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5" name="文本框 60">
              <a:extLst>
                <a:ext uri="{FF2B5EF4-FFF2-40B4-BE49-F238E27FC236}">
                  <a16:creationId xmlns:a16="http://schemas.microsoft.com/office/drawing/2014/main" xmlns="" id="{F5E15DC4-F15B-40EB-8F89-292E549BCEAE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原理与结构（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 and Structure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98106CDB-86A6-495F-B00A-3CFB3F550F4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xmlns="" id="{05829737-FA58-4C4F-B12D-F8845A88844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xmlns="" id="{451E1FF0-19B8-4B10-BB3B-3CF290C3F883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连接符 58">
              <a:extLst>
                <a:ext uri="{FF2B5EF4-FFF2-40B4-BE49-F238E27FC236}">
                  <a16:creationId xmlns:a16="http://schemas.microsoft.com/office/drawing/2014/main" xmlns="" id="{E1D3D98A-516F-47D1-9B95-2AC7B47232F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xmlns="" id="{6E01EF06-D4C9-49E4-86E1-EF58AE912A0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xmlns="" id="{7EC7597F-83C5-47A7-8F90-5356798E72F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816090" y="1871325"/>
            <a:ext cx="6251979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PIN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光敏二极管回路中的</a:t>
            </a:r>
            <a:r>
              <a:rPr lang="zh-CN" alt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信号电流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由光伏效应所产生的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电子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空穴对的数量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决定。</a:t>
            </a: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750939" y="4647203"/>
            <a:ext cx="6014437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反向偏置电压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影响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电转换的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线性度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471659"/>
              </p:ext>
            </p:extLst>
          </p:nvPr>
        </p:nvGraphicFramePr>
        <p:xfrm>
          <a:off x="7370763" y="2022194"/>
          <a:ext cx="4913312" cy="394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7" name="Visio" r:id="rId3" imgW="1838277" imgH="1476342" progId="Visio.Drawing.11">
                  <p:embed/>
                </p:oleObj>
              </mc:Choice>
              <mc:Fallback>
                <p:oleObj name="Visio" r:id="rId3" imgW="1838277" imgH="147634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0763" y="2022194"/>
                        <a:ext cx="4913312" cy="394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D41AF27D-98F3-4961-B63B-6A335318E7BB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B8115A43-CF71-41F4-942B-896733A26B82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原理与结构（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 and Structure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AB85CA24-6D1D-411B-8130-50748653C064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BF4A37FC-334A-4A24-8799-AB926E3C797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xmlns="" id="{46ACF58E-D0B8-4C79-B3D9-D49EAD0CA0BE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58">
              <a:extLst>
                <a:ext uri="{FF2B5EF4-FFF2-40B4-BE49-F238E27FC236}">
                  <a16:creationId xmlns:a16="http://schemas.microsoft.com/office/drawing/2014/main" xmlns="" id="{EC487C41-7878-49CD-9B3D-59301613426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6DDB41C5-A608-4CB2-8CAC-6E863BED85F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7A06EB50-9316-4639-A554-69EFADBD82D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pin光管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65" y="1452638"/>
            <a:ext cx="4100512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pin光管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347" y="1379613"/>
            <a:ext cx="423545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7143140" y="5513986"/>
            <a:ext cx="621060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反向偏置电压对线性范围的影响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1186095" y="5513986"/>
            <a:ext cx="58343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反向偏置电压对截止频率的影响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86BF7853-0904-48BA-80BE-9CC6C1EA56DC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5A84C4FC-2333-4FA2-89C9-BACB4D281C30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原理与结构（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 and Structure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DAAAA7A8-DDF7-4CAA-8BC2-CD7922606CD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F75F4577-BE25-481E-B19A-61FD4C4F5CD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xmlns="" id="{6A92B155-93EB-482A-922D-F7D7B50C9C1E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xmlns="" id="{95B91315-BA58-4D14-9A1E-D3186C1584FF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2217A747-3C87-4F7C-A5B1-C28ED290560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449A78FD-4E04-4013-93DE-876919E372C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677891340"/>
              </p:ext>
            </p:extLst>
          </p:nvPr>
        </p:nvGraphicFramePr>
        <p:xfrm>
          <a:off x="1000125" y="125204"/>
          <a:ext cx="6946226" cy="4438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8523699" y="1436734"/>
            <a:ext cx="400259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工作条件：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低于最大反向偏压工作；</a:t>
            </a:r>
            <a:endParaRPr lang="en-US" altLang="zh-CN" sz="2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负极接电源正极。</a:t>
            </a:r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2448232" y="4133209"/>
            <a:ext cx="4610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反向偏置电压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时电场强度：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636818"/>
              </p:ext>
            </p:extLst>
          </p:nvPr>
        </p:nvGraphicFramePr>
        <p:xfrm>
          <a:off x="7467407" y="3797443"/>
          <a:ext cx="26987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1" name="Equation" r:id="rId8" imgW="1002960" imgH="393480" progId="Equation.DSMT4">
                  <p:embed/>
                </p:oleObj>
              </mc:Choice>
              <mc:Fallback>
                <p:oleObj name="Equation" r:id="rId8" imgW="1002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407" y="3797443"/>
                        <a:ext cx="2698750" cy="10572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3063817" y="4802176"/>
            <a:ext cx="826182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层的设计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目的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扩展吸收区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提高量子效率和灵敏度；</a:t>
            </a:r>
            <a:endParaRPr lang="en-US" altLang="zh-CN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响应时间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 I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层厚度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成反比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降低响应速度。</a:t>
            </a:r>
            <a:endParaRPr lang="en-US" altLang="zh-CN" sz="2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结论：折中考虑！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EBEB1246-6178-4A69-8309-5215DA6EF2A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AF74A574-3BB1-498D-9308-1926E0535883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原理与结构（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 and Structure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BB57517F-9381-4CD5-984A-74F7A2C887E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315E6E5A-E0D2-4F1E-9758-C686C648E0F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xmlns="" id="{3CCEA678-B3D9-4EC2-B92B-79AD1DB3DEB9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xmlns="" id="{38463AA3-D8D7-4FC6-B48E-C8F3E72CA4A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B14BD023-DB12-4AA9-A8D8-9248E21FA18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967CD90C-416E-47AC-89F6-DECA674C428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2263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4925660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特性参数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196308" y="3397018"/>
            <a:ext cx="963156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kumimoji="1" lang="en-US" altLang="zh-CN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特性参数 </a:t>
            </a:r>
            <a:r>
              <a:rPr kumimoji="1" lang="en-US" altLang="zh-CN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Characteristic Parameter </a:t>
            </a:r>
          </a:p>
          <a:p>
            <a:pPr algn="ctr">
              <a:spcBef>
                <a:spcPts val="800"/>
              </a:spcBef>
            </a:pP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9994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288142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78096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889364" y="970101"/>
            <a:ext cx="5005387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kumimoji="1"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量子效率和光谱特性</a:t>
            </a:r>
            <a:endParaRPr kumimoji="1" lang="en-US" altLang="zh-CN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211387" y="2030102"/>
            <a:ext cx="87471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量子效率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ɳ</a:t>
            </a:r>
          </a:p>
          <a:p>
            <a:pPr marL="457200" indent="-457200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光照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产生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电子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-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空穴对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与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入射光子数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之比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820988" y="3702602"/>
          <a:ext cx="6726105" cy="948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公式" r:id="rId3" imgW="3060360" imgH="431640" progId="Equation.3">
                  <p:embed/>
                </p:oleObj>
              </mc:Choice>
              <mc:Fallback>
                <p:oleObj name="公式" r:id="rId3" imgW="306036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0988" y="3702602"/>
                        <a:ext cx="6726105" cy="94891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427012" y="5129798"/>
            <a:ext cx="8747125" cy="130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由材料特性、器件结构决定。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光谱特性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—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半导体材料的吸收光谱。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81D49497-DF30-49DE-9213-A41EDE73D28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3AA5E4EB-97EE-4127-A585-438CA7F6BD47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983CC871-E8F8-497A-83B9-17D5EAD720D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69CA33BD-EB05-4E42-AE18-6457D4F17A99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89FF5261-C17D-4B78-9A89-F45017D56598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9421196D-C05D-42EA-A433-57ADDF2B58C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7B66E0A7-C03A-41E5-8D32-583E440014D6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F9A438D8-71A9-45FE-8E7C-7339A720EF4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42434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870326" y="926479"/>
            <a:ext cx="5005387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</a:t>
            </a:r>
            <a:r>
              <a:rPr kumimoji="1"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响应速度与频率特性</a:t>
            </a:r>
            <a:endParaRPr kumimoji="1" lang="en-US" altLang="zh-CN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126628" y="2041525"/>
            <a:ext cx="87471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PD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的响应速度 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电荷积累成为外部电流所需时间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通常表示为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上升时间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或者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介质频率</a:t>
            </a:r>
            <a:endParaRPr lang="en-US" altLang="zh-CN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564102" y="4274792"/>
            <a:ext cx="9309652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上升时间：输出信号从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10% to 90%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稳定信号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所需时间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影响因素：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12DCFCAD-6AEB-4890-A188-EFE16128160B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7AE81F34-B9E6-41A9-9454-F42E71A17129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30520F0E-8E6B-4359-89FB-09A19E0A3C51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68091DC2-A7D3-4F57-B097-9AC80F14753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E36718F6-CF2A-40B2-9B12-88373654AB7A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6668B43E-5A52-40FB-9CB9-3BB6B7C400EC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B5FC075E-D93C-4A74-B412-ED071F7A380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927ECC9C-FE4A-4FA4-9EA3-535CA1EA794C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6742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169477" y="1190966"/>
            <a:ext cx="353895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(1)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时间常数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932912" y="2009717"/>
            <a:ext cx="525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影响因素：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97195"/>
              </p:ext>
            </p:extLst>
          </p:nvPr>
        </p:nvGraphicFramePr>
        <p:xfrm>
          <a:off x="7327393" y="4140652"/>
          <a:ext cx="34813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Equation" r:id="rId3" imgW="990360" imgH="228600" progId="Equation.DSMT4">
                  <p:embed/>
                </p:oleObj>
              </mc:Choice>
              <mc:Fallback>
                <p:oleObj name="Equation" r:id="rId3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393" y="4140652"/>
                        <a:ext cx="3481388" cy="815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7032126" y="2729546"/>
            <a:ext cx="443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封装电容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+PD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结电容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805222" y="2703456"/>
            <a:ext cx="322690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的极电容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3848463" y="3415622"/>
            <a:ext cx="4235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负载电阻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932912" y="4286677"/>
            <a:ext cx="2316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表达式：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3738546" y="5737651"/>
            <a:ext cx="2592387" cy="646113"/>
          </a:xfrm>
          <a:prstGeom prst="rect">
            <a:avLst/>
          </a:prstGeom>
          <a:solidFill>
            <a:srgbClr val="9BBB59">
              <a:lumMod val="60000"/>
              <a:lumOff val="40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缩短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7207649" y="5737651"/>
            <a:ext cx="4259952" cy="584775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设计的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C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或</a:t>
            </a:r>
            <a:r>
              <a:rPr lang="en-US" altLang="zh-CN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要小</a:t>
            </a:r>
            <a:r>
              <a:rPr lang="en-US" altLang="zh-CN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4CB03C11-76EC-4D1B-A24B-E30F1427B68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2" name="文本框 60">
              <a:extLst>
                <a:ext uri="{FF2B5EF4-FFF2-40B4-BE49-F238E27FC236}">
                  <a16:creationId xmlns:a16="http://schemas.microsoft.com/office/drawing/2014/main" xmlns="" id="{82427E98-AC40-47B2-8A19-C8B070ABE939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7A701E42-E295-44B1-A8F3-32CB8BBBAE1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67299074-A6DE-4FA9-AF79-B9212DB423F3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xmlns="" id="{882D1626-919C-468B-8DBC-5BC52E5C5BC9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58">
              <a:extLst>
                <a:ext uri="{FF2B5EF4-FFF2-40B4-BE49-F238E27FC236}">
                  <a16:creationId xmlns:a16="http://schemas.microsoft.com/office/drawing/2014/main" xmlns="" id="{A2722B16-F3C4-4025-89E8-53200959FC19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8A03E684-5CAC-42FB-BE77-E3DBA0C0A91F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xmlns="" id="{7642AA40-C33B-449E-A044-D0C227E6A6CB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1603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5" grpId="0"/>
      <p:bldP spid="16" grpId="0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76742" y="1050996"/>
            <a:ext cx="5508625" cy="152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j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近似正比于有源区面积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反比于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耗尽层宽度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的方根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531854"/>
              </p:ext>
            </p:extLst>
          </p:nvPr>
        </p:nvGraphicFramePr>
        <p:xfrm>
          <a:off x="8631238" y="2667000"/>
          <a:ext cx="344963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Equation" r:id="rId3" imgW="1460160" imgH="431640" progId="Equation.DSMT4">
                  <p:embed/>
                </p:oleObj>
              </mc:Choice>
              <mc:Fallback>
                <p:oleObj name="Equation" r:id="rId3" imgW="1460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1238" y="2667000"/>
                        <a:ext cx="3449637" cy="10207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40109" y="2848734"/>
            <a:ext cx="77628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耗尽层宽度 ∝ 基底材料的灵敏度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×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反向偏压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282530" y="4618380"/>
            <a:ext cx="3561669" cy="73866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为缩短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相应地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6214605" y="4105411"/>
            <a:ext cx="48926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PD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的有源区面积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较小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6223128" y="5251449"/>
            <a:ext cx="47275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加大反偏电压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6224544" y="4710456"/>
            <a:ext cx="376078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增加本征层 厚度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2149949" y="6078469"/>
            <a:ext cx="8288337" cy="738187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反向偏压：增加暗电流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注意：在低光通量下使用</a:t>
            </a:r>
            <a:endParaRPr lang="en-US" altLang="zh-CN" sz="28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647D4C39-597A-46AF-A511-052025D97FF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4" name="文本框 60">
              <a:extLst>
                <a:ext uri="{FF2B5EF4-FFF2-40B4-BE49-F238E27FC236}">
                  <a16:creationId xmlns:a16="http://schemas.microsoft.com/office/drawing/2014/main" xmlns="" id="{A00FD4E4-0EAC-4AF7-BE72-5B4BF000D720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39DF8DB5-E57B-4EF3-848F-4035A62D3B71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1BF431B7-2F26-453D-B56B-4A5F979F7C1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xmlns="" id="{4D1EF769-55E3-4996-BE3E-2E63830DEA6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58">
              <a:extLst>
                <a:ext uri="{FF2B5EF4-FFF2-40B4-BE49-F238E27FC236}">
                  <a16:creationId xmlns:a16="http://schemas.microsoft.com/office/drawing/2014/main" xmlns="" id="{FC3ABBC0-CC98-4C74-AE67-0D91977E8BBA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2F9331CE-B477-4E9B-AC78-7F12BFFD0BBE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46289D5E-C31F-4341-A05E-61E3C1F62E6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87818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 animBg="1"/>
      <p:bldP spid="17" grpId="0"/>
      <p:bldP spid="18" grpId="0"/>
      <p:bldP spid="19" grpId="0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641280" y="1656613"/>
            <a:ext cx="793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(2)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扩散时间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3200" b="1" i="1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耗尽层外产生的载流子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716756" y="3059802"/>
            <a:ext cx="1193848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当入射光没有照在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PN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结而被周围材料吸收时，即在耗尽层外产生载流子，如耗尽层下面的基底区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载流子所需扩散时间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几个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ms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42EBFE8C-55B0-4DA7-8793-571A9482A66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D2B1C9D9-8AD1-46DA-92D5-8DD1E7EC0302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88FF224E-A42A-4752-BE1F-766DD2507D0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4D16E350-88E0-4994-AB12-33FBE6A8300B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8D90C3C6-2817-4DDD-85AA-3FA0AF8FA026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FE4281D6-A2A7-4488-B61A-5E721DBA468E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7EFDB1FC-61E8-4EC5-9DF2-691CE80A0337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CA8080A6-F6F3-4FEE-9415-A0A082E787F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15335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82967" y="1398118"/>
            <a:ext cx="82423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marR="0" lvl="0" indent="-45720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(3)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耗尽层的载流子渡越时间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717184" y="2340453"/>
            <a:ext cx="842486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耗尽层中载流子的漂移速度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	——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迁移率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μ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和电场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表示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8631988" y="2925446"/>
          <a:ext cx="1241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name="Equation" r:id="rId3" imgW="545863" imgH="228501" progId="Equation.DSMT4">
                  <p:embed/>
                </p:oleObj>
              </mc:Choice>
              <mc:Fallback>
                <p:oleObj name="Equation" r:id="rId3" imgW="545863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1988" y="2925446"/>
                        <a:ext cx="1241425" cy="5143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717184" y="4099056"/>
            <a:ext cx="7078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耗尽层宽度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，外加电压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则平均电场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29698"/>
              </p:ext>
            </p:extLst>
          </p:nvPr>
        </p:nvGraphicFramePr>
        <p:xfrm>
          <a:off x="8824913" y="3789363"/>
          <a:ext cx="10969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Equation" r:id="rId5" imgW="482400" imgH="393480" progId="Equation.DSMT4">
                  <p:embed/>
                </p:oleObj>
              </mc:Choice>
              <mc:Fallback>
                <p:oleObj name="Equation" r:id="rId5" imgW="482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4913" y="3789363"/>
                        <a:ext cx="1096962" cy="885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002600" y="5214289"/>
            <a:ext cx="203653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近似为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: 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591711"/>
              </p:ext>
            </p:extLst>
          </p:nvPr>
        </p:nvGraphicFramePr>
        <p:xfrm>
          <a:off x="5622925" y="5214938"/>
          <a:ext cx="31321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Equation" r:id="rId7" imgW="1473120" imgH="241200" progId="Equation.DSMT4">
                  <p:embed/>
                </p:oleObj>
              </mc:Choice>
              <mc:Fallback>
                <p:oleObj name="Equation" r:id="rId7" imgW="1473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5214938"/>
                        <a:ext cx="3132138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7C6FF9B6-7FBC-4B25-9B0D-6542212E2D4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:a16="http://schemas.microsoft.com/office/drawing/2014/main" xmlns="" id="{403BF59C-E79A-47E0-A631-4B1117618176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3DAD2881-1790-47A9-90F9-D21C2C851F5F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EE0F0845-2FF5-4370-BF4E-7E550067B0D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xmlns="" id="{7973F539-1EA8-4D79-89A4-E57087E3290D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xmlns="" id="{AD385E22-8077-4414-9163-D7A2A26DCF5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B65CB7EE-F471-4F84-B781-0F53EF03F0E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9904C08B-D84A-4753-9F66-C7655BE516C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57855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2653886" y="1595512"/>
            <a:ext cx="6731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以上三个参数确定了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的上升时间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  <a:p>
            <a:pPr eaLnBrk="1" hangingPunct="1"/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近似表达式：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5685227" y="2405926"/>
          <a:ext cx="2425147" cy="67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6" name="公式" r:id="rId3" imgW="914400" imgH="241300" progId="Equation.3">
                  <p:embed/>
                </p:oleObj>
              </mc:Choice>
              <mc:Fallback>
                <p:oleObj name="公式" r:id="rId3" imgW="9144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5227" y="2405926"/>
                        <a:ext cx="2425147" cy="6734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2739611" y="3620849"/>
            <a:ext cx="8007885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设计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在耗尽层之外只产生少数载流子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很小、且载流子在耗尽层的渡越时间很短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理想应用：高速光探测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9BE7F9ED-AE3D-4581-B379-BC21BDC2DA7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xmlns="" id="{C1410271-6539-47B8-9DD0-35C5F9F03802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86A0B96F-3BED-40B5-B424-8947900DE52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C8FCF0DD-210E-4CF5-970B-58F0349169B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49BF568D-8C6B-4A77-BD68-EE9733778CF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9C9EE085-7D71-4578-BD7D-99558E14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C4BB3679-2975-4D9E-92E2-07495D5EE34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81A9CEC7-638B-4FA2-B2EF-841F419BDC8B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95412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188887" y="1165225"/>
          <a:ext cx="2738438" cy="527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0" name="Visio" r:id="rId3" imgW="1793367" imgH="3447431" progId="Visio.Drawing.11">
                  <p:embed/>
                </p:oleObj>
              </mc:Choice>
              <mc:Fallback>
                <p:oleObj name="Visio" r:id="rId3" imgW="1793367" imgH="344743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887" y="1165225"/>
                        <a:ext cx="2738438" cy="527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821550" y="2041525"/>
            <a:ext cx="2154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输入光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675500" y="3648075"/>
            <a:ext cx="4718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输出波形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&gt;&gt;t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675500" y="5218113"/>
            <a:ext cx="471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输出波形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&gt;&gt;t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,t</a:t>
            </a:r>
            <a:r>
              <a:rPr lang="en-US" altLang="zh-CN" sz="28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右箭头 5"/>
          <p:cNvSpPr>
            <a:spLocks noChangeArrowheads="1"/>
          </p:cNvSpPr>
          <p:nvPr/>
        </p:nvSpPr>
        <p:spPr bwMode="auto">
          <a:xfrm>
            <a:off x="6174192" y="2114550"/>
            <a:ext cx="1022350" cy="438150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4F81BD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右箭头 6"/>
          <p:cNvSpPr>
            <a:spLocks noChangeArrowheads="1"/>
          </p:cNvSpPr>
          <p:nvPr/>
        </p:nvSpPr>
        <p:spPr bwMode="auto">
          <a:xfrm>
            <a:off x="6174192" y="3729038"/>
            <a:ext cx="1022350" cy="438150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4F81BD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右箭头 7"/>
          <p:cNvSpPr>
            <a:spLocks noChangeArrowheads="1"/>
          </p:cNvSpPr>
          <p:nvPr/>
        </p:nvSpPr>
        <p:spPr bwMode="auto">
          <a:xfrm>
            <a:off x="6174192" y="5358158"/>
            <a:ext cx="1022350" cy="438150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4F81BD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A635FD1B-5103-4A49-B6DC-7E1D9F15405E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7" name="文本框 60">
              <a:extLst>
                <a:ext uri="{FF2B5EF4-FFF2-40B4-BE49-F238E27FC236}">
                  <a16:creationId xmlns:a16="http://schemas.microsoft.com/office/drawing/2014/main" xmlns="" id="{2E63663D-CC6A-4C97-95BC-F9CC297A7B7E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8756B5EB-FD1F-44E0-956F-C2CBC862826A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053FA234-1D12-4B79-A091-C9BF5E4686B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xmlns="" id="{384AB0D4-1F72-49B3-8817-252FF04CA072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连接符 58">
              <a:extLst>
                <a:ext uri="{FF2B5EF4-FFF2-40B4-BE49-F238E27FC236}">
                  <a16:creationId xmlns:a16="http://schemas.microsoft.com/office/drawing/2014/main" xmlns="" id="{E04A02CF-0EDA-4F9D-809C-D542092AC117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4C21EDB6-88F6-4FBC-866D-7DE093B812C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728B69ED-457C-4DB8-942A-DCA730417CB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2269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4946" y="2304499"/>
          <a:ext cx="11499575" cy="3480074"/>
        </p:xfrm>
        <a:graphic>
          <a:graphicData uri="http://schemas.openxmlformats.org/drawingml/2006/table">
            <a:tbl>
              <a:tblPr/>
              <a:tblGrid>
                <a:gridCol w="13605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82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823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082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51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072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1026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0517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00720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27931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13057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型号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光敏面直径（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mm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峰值波长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nm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灵敏度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(A/W)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电容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(pF)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暗电流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nA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噪声等效功率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最大反偏电压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上升时间（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ns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工作温度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℃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5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PIN-HR005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0.127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0.03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5.0e-15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0.60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-25~+85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33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PIN-HR008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0.203 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0.03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5.0e-15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0.60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-25~+85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5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PIN-HR020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0.508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1.8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0.06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7.1e-15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-25~+85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5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PIN-HR026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0.660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2.6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1.0e-14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-25~+85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5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PIN-HR040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0.991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4.9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1.9e-14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-25~+85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7976" name="TextBox 4"/>
          <p:cNvSpPr txBox="1">
            <a:spLocks noChangeArrowheads="1"/>
          </p:cNvSpPr>
          <p:nvPr/>
        </p:nvSpPr>
        <p:spPr bwMode="auto">
          <a:xfrm>
            <a:off x="4062204" y="1317383"/>
            <a:ext cx="51482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高速硅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光电二极管特性</a:t>
            </a:r>
          </a:p>
        </p:txBody>
      </p:sp>
      <p:sp>
        <p:nvSpPr>
          <p:cNvPr id="10" name="TextBox 4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4562475" y="6021905"/>
            <a:ext cx="30509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光电二极管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E41EC224-D39B-447F-8500-7543C0B01F2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F59A809A-5D55-46B6-A2E9-A8E2DC74A950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特性参数 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Characteristic Parameter 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6B0D1398-0922-4CFF-AAA8-E0FDAF16F937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B9FAF65D-12A6-4DBE-AFDF-67BC7DBBBC0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xmlns="" id="{06D44CDE-5112-4D36-9CE8-B7C75A2556FD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xmlns="" id="{B9286F53-26ED-4ABB-B0D1-DF6FBDEA83D3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4288142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DF6B4C57-4798-4F7F-9957-330095C7E75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98D39E5D-CA93-4212-8003-6ADD733915D2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70086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4925660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290901" y="3333750"/>
            <a:ext cx="8386092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PIN</a:t>
            </a: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9994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4.4.3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2112501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98228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506756" y="2061505"/>
            <a:ext cx="7901953" cy="295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光纤通信、激光技术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可见和近红外接收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测距、测温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微光功率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微电流测量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2B87CE8C-9C98-4059-A48C-9CC98F746D0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1" name="文本框 60">
              <a:extLst>
                <a:ext uri="{FF2B5EF4-FFF2-40B4-BE49-F238E27FC236}">
                  <a16:creationId xmlns:a16="http://schemas.microsoft.com/office/drawing/2014/main" xmlns="" id="{D2C7C1CE-D136-4163-AC30-5CAFAE0A527B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PIN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BCFAD47E-B7E7-4DFA-AA50-668F1193F9B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417379F0-8378-485B-AB58-44AD40436BB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03A6DBFC-16D7-4EAD-8256-8086ED90001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B34C4483-5009-4EF6-846A-F3D076C3654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2112501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23E0C89F-DEA4-419E-9660-D9AC4A7525BE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5A7D3EB5-DB00-46E2-9ECF-AF81ED98F22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8540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3801027" y="836613"/>
            <a:ext cx="5032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zh-CN" altLang="en-US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光纤通信中的光接收机</a:t>
            </a: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611981" y="3447015"/>
            <a:ext cx="441801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sz="2800" b="1" dirty="0">
                <a:latin typeface="微软雅黑" pitchFamily="34" charset="-122"/>
                <a:ea typeface="微软雅黑" pitchFamily="34" charset="-122"/>
              </a:rPr>
              <a:t>解调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sz="2800" b="1" dirty="0">
                <a:latin typeface="微软雅黑" pitchFamily="34" charset="-122"/>
                <a:ea typeface="微软雅黑" pitchFamily="34" charset="-122"/>
              </a:rPr>
              <a:t>光电变换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光接收机</a:t>
            </a:r>
            <a:endParaRPr lang="en-US" altLang="zh-CN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光电检测器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放大电路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均衡滤波电路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自动增益控制电路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其他电路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716756" y="1513509"/>
            <a:ext cx="8361363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光电检测器</a:t>
            </a:r>
            <a:endParaRPr lang="en-US" altLang="zh-CN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光纤通信系统的一个核心器件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zh-CN" sz="2400" b="1" dirty="0">
                <a:latin typeface="微软雅黑" pitchFamily="34" charset="-122"/>
                <a:ea typeface="微软雅黑" pitchFamily="34" charset="-122"/>
              </a:rPr>
              <a:t>光信号到电信号的变换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270051"/>
              </p:ext>
            </p:extLst>
          </p:nvPr>
        </p:nvGraphicFramePr>
        <p:xfrm>
          <a:off x="5563359" y="2544624"/>
          <a:ext cx="7493000" cy="386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8" name="Visio" r:id="rId3" imgW="3714702" imgH="1924039" progId="Visio.Drawing.11">
                  <p:embed/>
                </p:oleObj>
              </mc:Choice>
              <mc:Fallback>
                <p:oleObj name="Visio" r:id="rId3" imgW="3714702" imgH="192403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359" y="2544624"/>
                        <a:ext cx="7493000" cy="3867150"/>
                      </a:xfrm>
                      <a:prstGeom prst="rect">
                        <a:avLst/>
                      </a:prstGeom>
                      <a:solidFill>
                        <a:srgbClr val="B3A2C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F2F49B20-505A-4CBC-864C-4A236BCBF3A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:a16="http://schemas.microsoft.com/office/drawing/2014/main" xmlns="" id="{95E2499A-9EAC-4CED-8C1E-88532E8676E3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PIN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94A7D7AE-5011-4013-A4E6-A3F929C4655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455BD21E-8949-4788-86F4-A17B190E7C6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xmlns="" id="{85FBDC1A-B953-4D19-8B99-BD814C4D3DB4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:a16="http://schemas.microsoft.com/office/drawing/2014/main" xmlns="" id="{7E0942DD-9999-45DC-AB00-BEB56C2CF650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2112501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605C2DEE-8D95-4F0B-BE14-D790041C5DC2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C5813AE7-1B7B-4276-B58D-EE00D4BBC93C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28043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8" name="TextBox 1"/>
          <p:cNvSpPr txBox="1">
            <a:spLocks noChangeArrowheads="1"/>
          </p:cNvSpPr>
          <p:nvPr/>
        </p:nvSpPr>
        <p:spPr bwMode="auto">
          <a:xfrm>
            <a:off x="3718409" y="934348"/>
            <a:ext cx="4600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脉冲式激光峰值功率计</a:t>
            </a:r>
            <a:endParaRPr lang="zh-CN" altLang="en-US" sz="28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969" name="TextBox 2"/>
          <p:cNvSpPr txBox="1">
            <a:spLocks noChangeArrowheads="1"/>
          </p:cNvSpPr>
          <p:nvPr/>
        </p:nvSpPr>
        <p:spPr bwMode="auto">
          <a:xfrm>
            <a:off x="600075" y="1602895"/>
            <a:ext cx="7460560" cy="2242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测量脉冲式激光器峰值功率值的仪器。基本原理与一般功率计相同，但测量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对象是脉冲光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。激光脉冲信号的特点主要是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脉冲信号宽度很窄，在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ns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量级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，且存在单脉冲或低重复率脉冲以及高重复率信号等多种形式</a:t>
            </a:r>
          </a:p>
        </p:txBody>
      </p:sp>
      <p:sp>
        <p:nvSpPr>
          <p:cNvPr id="40970" name="TextBox 3"/>
          <p:cNvSpPr txBox="1">
            <a:spLocks noChangeArrowheads="1"/>
          </p:cNvSpPr>
          <p:nvPr/>
        </p:nvSpPr>
        <p:spPr bwMode="auto">
          <a:xfrm>
            <a:off x="716756" y="4992487"/>
            <a:ext cx="11870083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在保证光电探测器工作在线性范围的条件下，选用响应速度极快、且使用方便的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光敏二极管作为探测器，以保证其高的响应速度和可靠性，同时选用高速宽带运算放大器，以保证其信号完整真实的输出。</a:t>
            </a:r>
          </a:p>
        </p:txBody>
      </p:sp>
      <p:graphicFrame>
        <p:nvGraphicFramePr>
          <p:cNvPr id="40971" name="Object 2"/>
          <p:cNvGraphicFramePr>
            <a:graphicFrameLocks noChangeAspect="1"/>
          </p:cNvGraphicFramePr>
          <p:nvPr/>
        </p:nvGraphicFramePr>
        <p:xfrm>
          <a:off x="7892222" y="1717951"/>
          <a:ext cx="454025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2" name="Visio" r:id="rId3" imgW="2895840" imgH="1303200" progId="Visio.Drawing.11">
                  <p:embed/>
                </p:oleObj>
              </mc:Choice>
              <mc:Fallback>
                <p:oleObj name="Visio" r:id="rId3" imgW="2895840" imgH="13032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222" y="1717951"/>
                        <a:ext cx="4540250" cy="204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TextBox 5"/>
          <p:cNvSpPr txBox="1">
            <a:spLocks noChangeArrowheads="1"/>
          </p:cNvSpPr>
          <p:nvPr/>
        </p:nvSpPr>
        <p:spPr bwMode="auto">
          <a:xfrm>
            <a:off x="600075" y="3857625"/>
            <a:ext cx="11886716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激光信号远视场情况下的综合测试，主要解决对脉冲激光的响应灵敏度、响应速度、高速宽带信号的采集处理、及重复频率、峰值功率标定的问题。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CEA3555F-2F04-42B7-8C8F-7E7E205D42BD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xmlns="" id="{5BA6DB00-0D32-4F66-B8EE-CC9930B3706B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PIN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2CE5A20A-3FB1-471E-9961-23E65218BCF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D1939C5D-644D-4500-94D0-B5BB51A0F74B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E9D400E6-073C-4999-9F9B-FC482683386B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F99C1D9D-0A3A-401F-9EFD-C840F4E7F3A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2112501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1CECDD03-CC10-4468-84D3-AC57D920738F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22974BC9-7E15-4DA1-842F-F03C6A82173F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8900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884584" y="822187"/>
            <a:ext cx="12487286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542925" indent="-542925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 pin PD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的有源光接收区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 =0.4mm,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光源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700nm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，强度密度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0.1mW/cm</a:t>
            </a:r>
            <a:r>
              <a:rPr lang="en-US" altLang="zh-CN" sz="28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~ 56.6nA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问：响应度和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光电二极管的量子效率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874645" y="3142181"/>
            <a:ext cx="88566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解：入射光强度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0.1mW/cm</a:t>
            </a:r>
            <a:r>
              <a:rPr lang="en-US" altLang="zh-CN" sz="28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~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注入可转换功率：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1547121" y="3940072"/>
          <a:ext cx="71088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2" name="公式" r:id="rId3" imgW="2578100" imgH="228600" progId="Equation.3">
                  <p:embed/>
                </p:oleObj>
              </mc:Choice>
              <mc:Fallback>
                <p:oleObj name="公式" r:id="rId3" imgW="2578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121" y="3940072"/>
                        <a:ext cx="710882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3422650" y="4745073"/>
          <a:ext cx="46847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3" name="公式" r:id="rId5" imgW="1663560" imgH="253800" progId="Equation.3">
                  <p:embed/>
                </p:oleObj>
              </mc:Choice>
              <mc:Fallback>
                <p:oleObj name="公式" r:id="rId5" imgW="16635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4745073"/>
                        <a:ext cx="46847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586879" y="4842705"/>
            <a:ext cx="154180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响应度：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586879" y="5898116"/>
            <a:ext cx="196353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量子效率：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4061999" y="5692534"/>
          <a:ext cx="37496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4" name="公式" r:id="rId7" imgW="1586811" imgH="393529" progId="Equation.3">
                  <p:embed/>
                </p:oleObj>
              </mc:Choice>
              <mc:Fallback>
                <p:oleObj name="公式" r:id="rId7" imgW="158681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999" y="5692534"/>
                        <a:ext cx="37496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89EE9D30-CBD2-45E0-89AC-FD16B826E66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0" name="文本框 60">
              <a:extLst>
                <a:ext uri="{FF2B5EF4-FFF2-40B4-BE49-F238E27FC236}">
                  <a16:creationId xmlns:a16="http://schemas.microsoft.com/office/drawing/2014/main" xmlns="" id="{FD816D51-5F5F-4946-8768-9FA8AC6E9281}"/>
                </a:ext>
              </a:extLst>
            </p:cNvPr>
            <p:cNvSpPr txBox="1"/>
            <p:nvPr/>
          </p:nvSpPr>
          <p:spPr>
            <a:xfrm>
              <a:off x="1364781" y="293282"/>
              <a:ext cx="4925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PIN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CF87F900-5955-4377-8E1C-7FE2A3580DCB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1A730E8C-225F-497E-AC70-9E300703E8F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xmlns="" id="{42DFCE71-8655-4E9F-A057-F0C8582EF4E8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4.4.3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xmlns="" id="{6B19B8E2-39E2-42F3-A0D5-13D36080F7D7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2112501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95FA69E9-1189-437E-8A82-F70549AB9B7F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6D1E295C-4151-40A6-BCD3-EC31C1C50D20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329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620</TotalTime>
  <Words>1443</Words>
  <Application>Microsoft Office PowerPoint</Application>
  <PresentationFormat>自定义</PresentationFormat>
  <Paragraphs>339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8" baseType="lpstr">
      <vt:lpstr>Yu Gothic UI</vt:lpstr>
      <vt:lpstr>阿里巴巴普惠体 M</vt:lpstr>
      <vt:lpstr>阿里巴巴普惠体 R</vt:lpstr>
      <vt:lpstr>冬青黑体简体中文 W3</vt:lpstr>
      <vt:lpstr>冬青黑体简体中文 W6</vt:lpstr>
      <vt:lpstr>华文隶书</vt:lpstr>
      <vt:lpstr>楷体_GB2312</vt:lpstr>
      <vt:lpstr>宋体</vt:lpstr>
      <vt:lpstr>Microsoft YaHei</vt:lpstr>
      <vt:lpstr>Microsoft YaHei</vt:lpstr>
      <vt:lpstr>Arial</vt:lpstr>
      <vt:lpstr>Calibri</vt:lpstr>
      <vt:lpstr>Calibri Light</vt:lpstr>
      <vt:lpstr>Microsoft Yi Baiti</vt:lpstr>
      <vt:lpstr>Symbol</vt:lpstr>
      <vt:lpstr>Times New Roman</vt:lpstr>
      <vt:lpstr>Wingdings</vt:lpstr>
      <vt:lpstr>光电技术模板-2015-6-18</vt:lpstr>
      <vt:lpstr>Visio</vt:lpstr>
      <vt:lpstr>公式</vt:lpstr>
      <vt:lpstr>Equation</vt:lpstr>
      <vt:lpstr>Microsoft Visio 2003-2010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user</cp:lastModifiedBy>
  <cp:revision>59</cp:revision>
  <dcterms:created xsi:type="dcterms:W3CDTF">2015-06-18T01:42:52Z</dcterms:created>
  <dcterms:modified xsi:type="dcterms:W3CDTF">2022-09-29T00:29:24Z</dcterms:modified>
</cp:coreProperties>
</file>