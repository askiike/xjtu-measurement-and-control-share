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73" r:id="rId2"/>
    <p:sldId id="376" r:id="rId3"/>
    <p:sldId id="377" r:id="rId4"/>
    <p:sldId id="293" r:id="rId5"/>
    <p:sldId id="273" r:id="rId6"/>
    <p:sldId id="274" r:id="rId7"/>
    <p:sldId id="276" r:id="rId8"/>
    <p:sldId id="277" r:id="rId9"/>
    <p:sldId id="278" r:id="rId10"/>
    <p:sldId id="279" r:id="rId11"/>
    <p:sldId id="378" r:id="rId12"/>
    <p:sldId id="296" r:id="rId13"/>
    <p:sldId id="297" r:id="rId14"/>
    <p:sldId id="379" r:id="rId15"/>
    <p:sldId id="299" r:id="rId16"/>
    <p:sldId id="300" r:id="rId17"/>
    <p:sldId id="301" r:id="rId18"/>
    <p:sldId id="302" r:id="rId19"/>
    <p:sldId id="303" r:id="rId20"/>
    <p:sldId id="380" r:id="rId21"/>
    <p:sldId id="304" r:id="rId22"/>
    <p:sldId id="305" r:id="rId23"/>
  </p:sldIdLst>
  <p:sldSz cx="13717588" cy="7715250"/>
  <p:notesSz cx="6858000" cy="9144000"/>
  <p:defaultTextStyle>
    <a:defPPr>
      <a:defRPr lang="zh-CN"/>
    </a:defPPr>
    <a:lvl1pPr algn="l" defTabSz="1028700" rtl="0" fontAlgn="base">
      <a:spcBef>
        <a:spcPct val="0"/>
      </a:spcBef>
      <a:spcAft>
        <a:spcPct val="0"/>
      </a:spcAft>
      <a:defRPr sz="2000" kern="1200">
        <a:solidFill>
          <a:schemeClr val="tx1"/>
        </a:solidFill>
        <a:latin typeface="Arial" pitchFamily="34" charset="0"/>
        <a:ea typeface="宋体" pitchFamily="2" charset="-122"/>
        <a:cs typeface="+mn-cs"/>
      </a:defRPr>
    </a:lvl1pPr>
    <a:lvl2pPr marL="514350" indent="-57150" algn="l" defTabSz="1028700" rtl="0" fontAlgn="base">
      <a:spcBef>
        <a:spcPct val="0"/>
      </a:spcBef>
      <a:spcAft>
        <a:spcPct val="0"/>
      </a:spcAft>
      <a:defRPr sz="2000" kern="1200">
        <a:solidFill>
          <a:schemeClr val="tx1"/>
        </a:solidFill>
        <a:latin typeface="Arial" pitchFamily="34" charset="0"/>
        <a:ea typeface="宋体" pitchFamily="2" charset="-122"/>
        <a:cs typeface="+mn-cs"/>
      </a:defRPr>
    </a:lvl2pPr>
    <a:lvl3pPr marL="1028700" indent="-114300" algn="l" defTabSz="1028700" rtl="0" fontAlgn="base">
      <a:spcBef>
        <a:spcPct val="0"/>
      </a:spcBef>
      <a:spcAft>
        <a:spcPct val="0"/>
      </a:spcAft>
      <a:defRPr sz="2000" kern="1200">
        <a:solidFill>
          <a:schemeClr val="tx1"/>
        </a:solidFill>
        <a:latin typeface="Arial" pitchFamily="34" charset="0"/>
        <a:ea typeface="宋体" pitchFamily="2" charset="-122"/>
        <a:cs typeface="+mn-cs"/>
      </a:defRPr>
    </a:lvl3pPr>
    <a:lvl4pPr marL="1543050" indent="-171450" algn="l" defTabSz="1028700" rtl="0" fontAlgn="base">
      <a:spcBef>
        <a:spcPct val="0"/>
      </a:spcBef>
      <a:spcAft>
        <a:spcPct val="0"/>
      </a:spcAft>
      <a:defRPr sz="2000" kern="1200">
        <a:solidFill>
          <a:schemeClr val="tx1"/>
        </a:solidFill>
        <a:latin typeface="Arial" pitchFamily="34" charset="0"/>
        <a:ea typeface="宋体" pitchFamily="2" charset="-122"/>
        <a:cs typeface="+mn-cs"/>
      </a:defRPr>
    </a:lvl4pPr>
    <a:lvl5pPr marL="2057400" indent="-228600" algn="l" defTabSz="1028700" rtl="0" fontAlgn="base">
      <a:spcBef>
        <a:spcPct val="0"/>
      </a:spcBef>
      <a:spcAft>
        <a:spcPct val="0"/>
      </a:spcAft>
      <a:defRPr sz="2000" kern="1200">
        <a:solidFill>
          <a:schemeClr val="tx1"/>
        </a:solidFill>
        <a:latin typeface="Arial" pitchFamily="34" charset="0"/>
        <a:ea typeface="宋体" pitchFamily="2" charset="-122"/>
        <a:cs typeface="+mn-cs"/>
      </a:defRPr>
    </a:lvl5pPr>
    <a:lvl6pPr marL="2286000" algn="l" defTabSz="914400" rtl="0" eaLnBrk="1" latinLnBrk="0" hangingPunct="1">
      <a:defRPr sz="2000" kern="1200">
        <a:solidFill>
          <a:schemeClr val="tx1"/>
        </a:solidFill>
        <a:latin typeface="Arial" pitchFamily="34" charset="0"/>
        <a:ea typeface="宋体" pitchFamily="2" charset="-122"/>
        <a:cs typeface="+mn-cs"/>
      </a:defRPr>
    </a:lvl6pPr>
    <a:lvl7pPr marL="2743200" algn="l" defTabSz="914400" rtl="0" eaLnBrk="1" latinLnBrk="0" hangingPunct="1">
      <a:defRPr sz="2000" kern="1200">
        <a:solidFill>
          <a:schemeClr val="tx1"/>
        </a:solidFill>
        <a:latin typeface="Arial" pitchFamily="34" charset="0"/>
        <a:ea typeface="宋体" pitchFamily="2" charset="-122"/>
        <a:cs typeface="+mn-cs"/>
      </a:defRPr>
    </a:lvl7pPr>
    <a:lvl8pPr marL="3200400" algn="l" defTabSz="914400" rtl="0" eaLnBrk="1" latinLnBrk="0" hangingPunct="1">
      <a:defRPr sz="2000" kern="1200">
        <a:solidFill>
          <a:schemeClr val="tx1"/>
        </a:solidFill>
        <a:latin typeface="Arial" pitchFamily="34" charset="0"/>
        <a:ea typeface="宋体" pitchFamily="2" charset="-122"/>
        <a:cs typeface="+mn-cs"/>
      </a:defRPr>
    </a:lvl8pPr>
    <a:lvl9pPr marL="3657600" algn="l" defTabSz="914400" rtl="0" eaLnBrk="1" latinLnBrk="0" hangingPunct="1">
      <a:defRPr sz="2000" kern="12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p15:guide id="1" orient="horz" pos="2430">
          <p15:clr>
            <a:srgbClr val="A4A3A4"/>
          </p15:clr>
        </p15:guide>
        <p15:guide id="2" pos="43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283" autoAdjust="0"/>
    <p:restoredTop sz="94660"/>
  </p:normalViewPr>
  <p:slideViewPr>
    <p:cSldViewPr snapToGrid="0">
      <p:cViewPr varScale="1">
        <p:scale>
          <a:sx n="91" d="100"/>
          <a:sy n="91" d="100"/>
        </p:scale>
        <p:origin x="63" y="132"/>
      </p:cViewPr>
      <p:guideLst>
        <p:guide orient="horz" pos="2430"/>
        <p:guide pos="432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569084A-526A-4470-AA35-7ED4AA65A0E9}" type="doc">
      <dgm:prSet loTypeId="urn:microsoft.com/office/officeart/2005/8/layout/radial5" loCatId="relationship" qsTypeId="urn:microsoft.com/office/officeart/2005/8/quickstyle/simple1" qsCatId="simple" csTypeId="urn:microsoft.com/office/officeart/2005/8/colors/accent1_2" csCatId="accent1" phldr="1"/>
      <dgm:spPr/>
      <dgm:t>
        <a:bodyPr/>
        <a:lstStyle/>
        <a:p>
          <a:endParaRPr lang="zh-CN" altLang="en-US"/>
        </a:p>
      </dgm:t>
    </dgm:pt>
    <dgm:pt modelId="{7779A588-270A-487C-88D2-F0163ABBD6E0}">
      <dgm:prSet phldrT="[文本]" custT="1"/>
      <dgm:spPr>
        <a:solidFill>
          <a:srgbClr val="FF99FF"/>
        </a:solidFill>
      </dgm:spPr>
      <dgm:t>
        <a:bodyPr/>
        <a:lstStyle/>
        <a:p>
          <a:r>
            <a:rPr lang="zh-CN" altLang="en-US" sz="2400" b="1" dirty="0">
              <a:solidFill>
                <a:srgbClr val="FF0000"/>
              </a:solidFill>
              <a:latin typeface="微软雅黑" pitchFamily="34" charset="-122"/>
              <a:ea typeface="微软雅黑" pitchFamily="34" charset="-122"/>
              <a:cs typeface="Times New Roman" pitchFamily="18" charset="0"/>
            </a:rPr>
            <a:t>优点</a:t>
          </a:r>
        </a:p>
      </dgm:t>
    </dgm:pt>
    <dgm:pt modelId="{ECA4527F-2527-41FA-B5E4-526CBFDAE6B1}" type="parTrans" cxnId="{454B6B12-128E-49B4-9875-98347E43557B}">
      <dgm:prSet/>
      <dgm:spPr/>
      <dgm:t>
        <a:bodyPr/>
        <a:lstStyle/>
        <a:p>
          <a:endParaRPr lang="zh-CN" altLang="en-US" sz="1800" b="1">
            <a:solidFill>
              <a:schemeClr val="tx1"/>
            </a:solidFill>
            <a:latin typeface="微软雅黑" pitchFamily="34" charset="-122"/>
            <a:ea typeface="微软雅黑" pitchFamily="34" charset="-122"/>
            <a:cs typeface="Times New Roman" pitchFamily="18" charset="0"/>
          </a:endParaRPr>
        </a:p>
      </dgm:t>
    </dgm:pt>
    <dgm:pt modelId="{0E405C3D-2114-4F21-99DB-CFE3B4797D8B}" type="sibTrans" cxnId="{454B6B12-128E-49B4-9875-98347E43557B}">
      <dgm:prSet/>
      <dgm:spPr/>
      <dgm:t>
        <a:bodyPr/>
        <a:lstStyle/>
        <a:p>
          <a:endParaRPr lang="zh-CN" altLang="en-US" sz="1800" b="1">
            <a:solidFill>
              <a:schemeClr val="tx1"/>
            </a:solidFill>
            <a:latin typeface="微软雅黑" pitchFamily="34" charset="-122"/>
            <a:ea typeface="微软雅黑" pitchFamily="34" charset="-122"/>
            <a:cs typeface="Times New Roman" pitchFamily="18" charset="0"/>
          </a:endParaRPr>
        </a:p>
      </dgm:t>
    </dgm:pt>
    <dgm:pt modelId="{CF54486E-E8B5-4C02-AE33-F8365F6969EB}">
      <dgm:prSet phldrT="[文本]" custT="1"/>
      <dgm:spPr>
        <a:solidFill>
          <a:srgbClr val="FFFF00"/>
        </a:solidFill>
      </dgm:spPr>
      <dgm:t>
        <a:bodyPr/>
        <a:lstStyle/>
        <a:p>
          <a:r>
            <a:rPr lang="zh-CN" altLang="en-US" sz="2000" b="1" dirty="0">
              <a:solidFill>
                <a:srgbClr val="0000CC"/>
              </a:solidFill>
              <a:latin typeface="微软雅黑" pitchFamily="34" charset="-122"/>
              <a:ea typeface="微软雅黑" pitchFamily="34" charset="-122"/>
            </a:rPr>
            <a:t>位置分辨率高</a:t>
          </a:r>
          <a:endParaRPr lang="zh-CN" altLang="en-US" sz="2000" b="1" dirty="0">
            <a:solidFill>
              <a:srgbClr val="FF0000"/>
            </a:solidFill>
            <a:latin typeface="微软雅黑" pitchFamily="34" charset="-122"/>
            <a:ea typeface="微软雅黑" pitchFamily="34" charset="-122"/>
            <a:cs typeface="Times New Roman" pitchFamily="18" charset="0"/>
          </a:endParaRPr>
        </a:p>
      </dgm:t>
    </dgm:pt>
    <dgm:pt modelId="{C44C2029-BEB8-47B5-B2EA-720BF125AAFB}" type="parTrans" cxnId="{62FB6D7C-585C-472B-B900-8046510366A0}">
      <dgm:prSet custT="1"/>
      <dgm:spPr>
        <a:solidFill>
          <a:schemeClr val="tx2"/>
        </a:solidFill>
      </dgm:spPr>
      <dgm:t>
        <a:bodyPr/>
        <a:lstStyle/>
        <a:p>
          <a:endParaRPr lang="zh-CN" altLang="en-US" sz="1800" b="1">
            <a:solidFill>
              <a:schemeClr val="tx1"/>
            </a:solidFill>
            <a:latin typeface="微软雅黑" pitchFamily="34" charset="-122"/>
            <a:ea typeface="微软雅黑" pitchFamily="34" charset="-122"/>
            <a:cs typeface="Times New Roman" pitchFamily="18" charset="0"/>
          </a:endParaRPr>
        </a:p>
      </dgm:t>
    </dgm:pt>
    <dgm:pt modelId="{29601C67-09F1-4BE6-965F-13C06E795D56}" type="sibTrans" cxnId="{62FB6D7C-585C-472B-B900-8046510366A0}">
      <dgm:prSet/>
      <dgm:spPr/>
      <dgm:t>
        <a:bodyPr/>
        <a:lstStyle/>
        <a:p>
          <a:endParaRPr lang="zh-CN" altLang="en-US" sz="1800" b="1">
            <a:solidFill>
              <a:schemeClr val="tx1"/>
            </a:solidFill>
            <a:latin typeface="微软雅黑" pitchFamily="34" charset="-122"/>
            <a:ea typeface="微软雅黑" pitchFamily="34" charset="-122"/>
            <a:cs typeface="Times New Roman" pitchFamily="18" charset="0"/>
          </a:endParaRPr>
        </a:p>
      </dgm:t>
    </dgm:pt>
    <dgm:pt modelId="{F155EF20-C8CC-450D-8369-03F526B51DB9}">
      <dgm:prSet phldrT="[文本]" custT="1"/>
      <dgm:spPr>
        <a:solidFill>
          <a:srgbClr val="FFC000"/>
        </a:solidFill>
      </dgm:spPr>
      <dgm:t>
        <a:bodyPr/>
        <a:lstStyle/>
        <a:p>
          <a:r>
            <a:rPr lang="zh-CN" altLang="en-US" sz="2000" b="1" dirty="0">
              <a:solidFill>
                <a:schemeClr val="tx1"/>
              </a:solidFill>
              <a:latin typeface="微软雅黑" pitchFamily="34" charset="-122"/>
              <a:ea typeface="微软雅黑" pitchFamily="34" charset="-122"/>
              <a:cs typeface="Times New Roman" pitchFamily="18" charset="0"/>
            </a:rPr>
            <a:t>响应速度快</a:t>
          </a:r>
        </a:p>
      </dgm:t>
    </dgm:pt>
    <dgm:pt modelId="{5DB30950-4637-4405-B6B0-6BD05234472C}" type="parTrans" cxnId="{62522632-7519-40CD-B754-4F3AB16436BF}">
      <dgm:prSet custT="1"/>
      <dgm:spPr>
        <a:solidFill>
          <a:schemeClr val="tx2"/>
        </a:solidFill>
      </dgm:spPr>
      <dgm:t>
        <a:bodyPr/>
        <a:lstStyle/>
        <a:p>
          <a:endParaRPr lang="zh-CN" altLang="en-US" sz="1800" b="1">
            <a:solidFill>
              <a:schemeClr val="tx1"/>
            </a:solidFill>
            <a:latin typeface="微软雅黑" pitchFamily="34" charset="-122"/>
            <a:ea typeface="微软雅黑" pitchFamily="34" charset="-122"/>
            <a:cs typeface="Times New Roman" pitchFamily="18" charset="0"/>
          </a:endParaRPr>
        </a:p>
      </dgm:t>
    </dgm:pt>
    <dgm:pt modelId="{EA1E1860-14F6-474C-80ED-AE353E6C7834}" type="sibTrans" cxnId="{62522632-7519-40CD-B754-4F3AB16436BF}">
      <dgm:prSet/>
      <dgm:spPr/>
      <dgm:t>
        <a:bodyPr/>
        <a:lstStyle/>
        <a:p>
          <a:endParaRPr lang="zh-CN" altLang="en-US" sz="1800" b="1">
            <a:solidFill>
              <a:schemeClr val="tx1"/>
            </a:solidFill>
            <a:latin typeface="微软雅黑" pitchFamily="34" charset="-122"/>
            <a:ea typeface="微软雅黑" pitchFamily="34" charset="-122"/>
            <a:cs typeface="Times New Roman" pitchFamily="18" charset="0"/>
          </a:endParaRPr>
        </a:p>
      </dgm:t>
    </dgm:pt>
    <dgm:pt modelId="{9D4CFAB3-AE99-4314-90A8-B1F2119568E6}">
      <dgm:prSet phldrT="[文本]" custT="1"/>
      <dgm:spPr>
        <a:solidFill>
          <a:srgbClr val="92D050"/>
        </a:solidFill>
      </dgm:spPr>
      <dgm:t>
        <a:bodyPr/>
        <a:lstStyle/>
        <a:p>
          <a:r>
            <a:rPr lang="zh-CN" altLang="en-US" sz="2000" b="1" dirty="0">
              <a:solidFill>
                <a:srgbClr val="0000CC"/>
              </a:solidFill>
              <a:latin typeface="微软雅黑" pitchFamily="34" charset="-122"/>
              <a:ea typeface="微软雅黑" pitchFamily="34" charset="-122"/>
            </a:rPr>
            <a:t>工作电路简单</a:t>
          </a:r>
          <a:endParaRPr lang="zh-CN" altLang="en-US" sz="2000" b="1" dirty="0">
            <a:solidFill>
              <a:schemeClr val="tx1"/>
            </a:solidFill>
            <a:latin typeface="微软雅黑" pitchFamily="34" charset="-122"/>
            <a:ea typeface="微软雅黑" pitchFamily="34" charset="-122"/>
            <a:cs typeface="Times New Roman" pitchFamily="18" charset="0"/>
          </a:endParaRPr>
        </a:p>
      </dgm:t>
    </dgm:pt>
    <dgm:pt modelId="{61940A9D-11EA-4918-A213-E3E01AD35B36}" type="parTrans" cxnId="{7ACD8C74-8F2C-4E08-B834-A71FD22788DD}">
      <dgm:prSet custT="1"/>
      <dgm:spPr>
        <a:solidFill>
          <a:schemeClr val="tx2"/>
        </a:solidFill>
      </dgm:spPr>
      <dgm:t>
        <a:bodyPr/>
        <a:lstStyle/>
        <a:p>
          <a:endParaRPr lang="zh-CN" altLang="en-US" sz="1800" b="1">
            <a:solidFill>
              <a:schemeClr val="tx1"/>
            </a:solidFill>
            <a:latin typeface="微软雅黑" pitchFamily="34" charset="-122"/>
            <a:ea typeface="微软雅黑" pitchFamily="34" charset="-122"/>
            <a:cs typeface="Times New Roman" pitchFamily="18" charset="0"/>
          </a:endParaRPr>
        </a:p>
      </dgm:t>
    </dgm:pt>
    <dgm:pt modelId="{0DDAD213-4C59-48EC-9D89-01E6C9D62BA8}" type="sibTrans" cxnId="{7ACD8C74-8F2C-4E08-B834-A71FD22788DD}">
      <dgm:prSet/>
      <dgm:spPr/>
      <dgm:t>
        <a:bodyPr/>
        <a:lstStyle/>
        <a:p>
          <a:endParaRPr lang="zh-CN" altLang="en-US" sz="1800" b="1">
            <a:solidFill>
              <a:schemeClr val="tx1"/>
            </a:solidFill>
            <a:latin typeface="微软雅黑" pitchFamily="34" charset="-122"/>
            <a:ea typeface="微软雅黑" pitchFamily="34" charset="-122"/>
            <a:cs typeface="Times New Roman" pitchFamily="18" charset="0"/>
          </a:endParaRPr>
        </a:p>
      </dgm:t>
    </dgm:pt>
    <dgm:pt modelId="{7F299951-24AD-42A6-B09A-993ABF0E0878}">
      <dgm:prSet phldrT="[文本]" custT="1"/>
      <dgm:spPr>
        <a:solidFill>
          <a:schemeClr val="accent4">
            <a:lumMod val="60000"/>
            <a:lumOff val="40000"/>
          </a:schemeClr>
        </a:solidFill>
      </dgm:spPr>
      <dgm:t>
        <a:bodyPr/>
        <a:lstStyle/>
        <a:p>
          <a:r>
            <a:rPr lang="zh-CN" altLang="en-US" sz="2000" b="1" dirty="0">
              <a:solidFill>
                <a:srgbClr val="0000CC"/>
              </a:solidFill>
              <a:latin typeface="微软雅黑" pitchFamily="34" charset="-122"/>
              <a:ea typeface="微软雅黑" pitchFamily="34" charset="-122"/>
            </a:rPr>
            <a:t>位置与光斑尺寸无关</a:t>
          </a:r>
          <a:endParaRPr lang="zh-CN" altLang="en-US" sz="2000" b="1" dirty="0">
            <a:solidFill>
              <a:srgbClr val="0000CC"/>
            </a:solidFill>
            <a:latin typeface="微软雅黑" pitchFamily="34" charset="-122"/>
            <a:ea typeface="微软雅黑" pitchFamily="34" charset="-122"/>
            <a:cs typeface="Times New Roman" pitchFamily="18" charset="0"/>
          </a:endParaRPr>
        </a:p>
      </dgm:t>
    </dgm:pt>
    <dgm:pt modelId="{37E82F80-421F-4D49-98F0-26E4350CBE6C}" type="parTrans" cxnId="{DC92F541-0997-44AA-98FA-7FABF90244A5}">
      <dgm:prSet custT="1"/>
      <dgm:spPr>
        <a:solidFill>
          <a:schemeClr val="tx2"/>
        </a:solidFill>
      </dgm:spPr>
      <dgm:t>
        <a:bodyPr/>
        <a:lstStyle/>
        <a:p>
          <a:endParaRPr lang="zh-CN" altLang="en-US" sz="1800" b="1">
            <a:solidFill>
              <a:schemeClr val="tx1"/>
            </a:solidFill>
            <a:latin typeface="微软雅黑" pitchFamily="34" charset="-122"/>
            <a:ea typeface="微软雅黑" pitchFamily="34" charset="-122"/>
            <a:cs typeface="Times New Roman" pitchFamily="18" charset="0"/>
          </a:endParaRPr>
        </a:p>
      </dgm:t>
    </dgm:pt>
    <dgm:pt modelId="{93206731-1023-4000-8A59-7FC9EFA6532A}" type="sibTrans" cxnId="{DC92F541-0997-44AA-98FA-7FABF90244A5}">
      <dgm:prSet/>
      <dgm:spPr/>
      <dgm:t>
        <a:bodyPr/>
        <a:lstStyle/>
        <a:p>
          <a:endParaRPr lang="zh-CN" altLang="en-US" sz="1800" b="1">
            <a:solidFill>
              <a:schemeClr val="tx1"/>
            </a:solidFill>
            <a:latin typeface="微软雅黑" pitchFamily="34" charset="-122"/>
            <a:ea typeface="微软雅黑" pitchFamily="34" charset="-122"/>
            <a:cs typeface="Times New Roman" pitchFamily="18" charset="0"/>
          </a:endParaRPr>
        </a:p>
      </dgm:t>
    </dgm:pt>
    <dgm:pt modelId="{4677DDB3-AC4C-464C-B0A6-CA5E153C97F6}" type="pres">
      <dgm:prSet presAssocID="{9569084A-526A-4470-AA35-7ED4AA65A0E9}" presName="Name0" presStyleCnt="0">
        <dgm:presLayoutVars>
          <dgm:chMax val="1"/>
          <dgm:dir/>
          <dgm:animLvl val="ctr"/>
          <dgm:resizeHandles val="exact"/>
        </dgm:presLayoutVars>
      </dgm:prSet>
      <dgm:spPr/>
    </dgm:pt>
    <dgm:pt modelId="{F462DF8B-6B03-41BE-B43E-800A56A5B3F1}" type="pres">
      <dgm:prSet presAssocID="{7779A588-270A-487C-88D2-F0163ABBD6E0}" presName="centerShape" presStyleLbl="node0" presStyleIdx="0" presStyleCnt="1" custScaleX="144937" custScaleY="142677" custLinFactNeighborX="-1338" custLinFactNeighborY="1337"/>
      <dgm:spPr/>
    </dgm:pt>
    <dgm:pt modelId="{504D47E8-5648-46B9-9373-7181EC5380C9}" type="pres">
      <dgm:prSet presAssocID="{C44C2029-BEB8-47B5-B2EA-720BF125AAFB}" presName="parTrans" presStyleLbl="sibTrans2D1" presStyleIdx="0" presStyleCnt="4"/>
      <dgm:spPr/>
    </dgm:pt>
    <dgm:pt modelId="{DBEA04CF-9B7C-4988-998A-B06DA225C023}" type="pres">
      <dgm:prSet presAssocID="{C44C2029-BEB8-47B5-B2EA-720BF125AAFB}" presName="connectorText" presStyleLbl="sibTrans2D1" presStyleIdx="0" presStyleCnt="4"/>
      <dgm:spPr/>
    </dgm:pt>
    <dgm:pt modelId="{437BBCD7-3628-4CC9-8B89-F493762A0A9F}" type="pres">
      <dgm:prSet presAssocID="{CF54486E-E8B5-4C02-AE33-F8365F6969EB}" presName="node" presStyleLbl="node1" presStyleIdx="0" presStyleCnt="4" custScaleX="124027" custScaleY="117093" custRadScaleRad="98110" custRadScaleInc="-1858">
        <dgm:presLayoutVars>
          <dgm:bulletEnabled val="1"/>
        </dgm:presLayoutVars>
      </dgm:prSet>
      <dgm:spPr/>
    </dgm:pt>
    <dgm:pt modelId="{18AE9004-8FE6-4F5B-8CBF-20FA174B5975}" type="pres">
      <dgm:prSet presAssocID="{5DB30950-4637-4405-B6B0-6BD05234472C}" presName="parTrans" presStyleLbl="sibTrans2D1" presStyleIdx="1" presStyleCnt="4"/>
      <dgm:spPr/>
    </dgm:pt>
    <dgm:pt modelId="{7739EB58-CE34-401B-8C51-48860D7A1660}" type="pres">
      <dgm:prSet presAssocID="{5DB30950-4637-4405-B6B0-6BD05234472C}" presName="connectorText" presStyleLbl="sibTrans2D1" presStyleIdx="1" presStyleCnt="4"/>
      <dgm:spPr/>
    </dgm:pt>
    <dgm:pt modelId="{06D8C5A0-E7E5-4A3B-84E2-156D853A274C}" type="pres">
      <dgm:prSet presAssocID="{F155EF20-C8CC-450D-8369-03F526B51DB9}" presName="node" presStyleLbl="node1" presStyleIdx="1" presStyleCnt="4" custScaleX="120499" custScaleY="120218">
        <dgm:presLayoutVars>
          <dgm:bulletEnabled val="1"/>
        </dgm:presLayoutVars>
      </dgm:prSet>
      <dgm:spPr/>
    </dgm:pt>
    <dgm:pt modelId="{4F567D5A-F649-416C-9F4F-F1666CD6DAED}" type="pres">
      <dgm:prSet presAssocID="{61940A9D-11EA-4918-A213-E3E01AD35B36}" presName="parTrans" presStyleLbl="sibTrans2D1" presStyleIdx="2" presStyleCnt="4"/>
      <dgm:spPr/>
    </dgm:pt>
    <dgm:pt modelId="{0EA3E284-A71B-442F-B37F-E21AA5E53820}" type="pres">
      <dgm:prSet presAssocID="{61940A9D-11EA-4918-A213-E3E01AD35B36}" presName="connectorText" presStyleLbl="sibTrans2D1" presStyleIdx="2" presStyleCnt="4"/>
      <dgm:spPr/>
    </dgm:pt>
    <dgm:pt modelId="{9277782A-FB05-4363-8DE0-0FE55906615C}" type="pres">
      <dgm:prSet presAssocID="{9D4CFAB3-AE99-4314-90A8-B1F2119568E6}" presName="node" presStyleLbl="node1" presStyleIdx="2" presStyleCnt="4" custScaleX="128288" custScaleY="134283">
        <dgm:presLayoutVars>
          <dgm:bulletEnabled val="1"/>
        </dgm:presLayoutVars>
      </dgm:prSet>
      <dgm:spPr/>
    </dgm:pt>
    <dgm:pt modelId="{A27BC216-87A0-47A1-981F-4A0CB9139A8A}" type="pres">
      <dgm:prSet presAssocID="{37E82F80-421F-4D49-98F0-26E4350CBE6C}" presName="parTrans" presStyleLbl="sibTrans2D1" presStyleIdx="3" presStyleCnt="4"/>
      <dgm:spPr/>
    </dgm:pt>
    <dgm:pt modelId="{26D73599-A61F-4E37-BD91-04DB091874F8}" type="pres">
      <dgm:prSet presAssocID="{37E82F80-421F-4D49-98F0-26E4350CBE6C}" presName="connectorText" presStyleLbl="sibTrans2D1" presStyleIdx="3" presStyleCnt="4"/>
      <dgm:spPr/>
    </dgm:pt>
    <dgm:pt modelId="{E3DC612F-97DF-4A0B-97A7-EFAC550D3D41}" type="pres">
      <dgm:prSet presAssocID="{7F299951-24AD-42A6-B09A-993ABF0E0878}" presName="node" presStyleLbl="node1" presStyleIdx="3" presStyleCnt="4" custScaleX="126446" custScaleY="118031">
        <dgm:presLayoutVars>
          <dgm:bulletEnabled val="1"/>
        </dgm:presLayoutVars>
      </dgm:prSet>
      <dgm:spPr/>
    </dgm:pt>
  </dgm:ptLst>
  <dgm:cxnLst>
    <dgm:cxn modelId="{454B6B12-128E-49B4-9875-98347E43557B}" srcId="{9569084A-526A-4470-AA35-7ED4AA65A0E9}" destId="{7779A588-270A-487C-88D2-F0163ABBD6E0}" srcOrd="0" destOrd="0" parTransId="{ECA4527F-2527-41FA-B5E4-526CBFDAE6B1}" sibTransId="{0E405C3D-2114-4F21-99DB-CFE3B4797D8B}"/>
    <dgm:cxn modelId="{3422FC1C-2D77-4768-8A29-615161391F56}" type="presOf" srcId="{C44C2029-BEB8-47B5-B2EA-720BF125AAFB}" destId="{504D47E8-5648-46B9-9373-7181EC5380C9}" srcOrd="0" destOrd="0" presId="urn:microsoft.com/office/officeart/2005/8/layout/radial5"/>
    <dgm:cxn modelId="{62522632-7519-40CD-B754-4F3AB16436BF}" srcId="{7779A588-270A-487C-88D2-F0163ABBD6E0}" destId="{F155EF20-C8CC-450D-8369-03F526B51DB9}" srcOrd="1" destOrd="0" parTransId="{5DB30950-4637-4405-B6B0-6BD05234472C}" sibTransId="{EA1E1860-14F6-474C-80ED-AE353E6C7834}"/>
    <dgm:cxn modelId="{DC92F541-0997-44AA-98FA-7FABF90244A5}" srcId="{7779A588-270A-487C-88D2-F0163ABBD6E0}" destId="{7F299951-24AD-42A6-B09A-993ABF0E0878}" srcOrd="3" destOrd="0" parTransId="{37E82F80-421F-4D49-98F0-26E4350CBE6C}" sibTransId="{93206731-1023-4000-8A59-7FC9EFA6532A}"/>
    <dgm:cxn modelId="{83C29F63-EF46-4859-B021-69BDFCE6BE10}" type="presOf" srcId="{C44C2029-BEB8-47B5-B2EA-720BF125AAFB}" destId="{DBEA04CF-9B7C-4988-998A-B06DA225C023}" srcOrd="1" destOrd="0" presId="urn:microsoft.com/office/officeart/2005/8/layout/radial5"/>
    <dgm:cxn modelId="{A9DD754F-1EAE-43A7-B066-B2035F143BF3}" type="presOf" srcId="{5DB30950-4637-4405-B6B0-6BD05234472C}" destId="{18AE9004-8FE6-4F5B-8CBF-20FA174B5975}" srcOrd="0" destOrd="0" presId="urn:microsoft.com/office/officeart/2005/8/layout/radial5"/>
    <dgm:cxn modelId="{7ACD8C74-8F2C-4E08-B834-A71FD22788DD}" srcId="{7779A588-270A-487C-88D2-F0163ABBD6E0}" destId="{9D4CFAB3-AE99-4314-90A8-B1F2119568E6}" srcOrd="2" destOrd="0" parTransId="{61940A9D-11EA-4918-A213-E3E01AD35B36}" sibTransId="{0DDAD213-4C59-48EC-9D89-01E6C9D62BA8}"/>
    <dgm:cxn modelId="{62FB6D7C-585C-472B-B900-8046510366A0}" srcId="{7779A588-270A-487C-88D2-F0163ABBD6E0}" destId="{CF54486E-E8B5-4C02-AE33-F8365F6969EB}" srcOrd="0" destOrd="0" parTransId="{C44C2029-BEB8-47B5-B2EA-720BF125AAFB}" sibTransId="{29601C67-09F1-4BE6-965F-13C06E795D56}"/>
    <dgm:cxn modelId="{DD3BD888-7685-4B72-A415-49555D92E83B}" type="presOf" srcId="{61940A9D-11EA-4918-A213-E3E01AD35B36}" destId="{4F567D5A-F649-416C-9F4F-F1666CD6DAED}" srcOrd="0" destOrd="0" presId="urn:microsoft.com/office/officeart/2005/8/layout/radial5"/>
    <dgm:cxn modelId="{6C111BA7-23AE-4E09-8F51-11E48F9EA666}" type="presOf" srcId="{61940A9D-11EA-4918-A213-E3E01AD35B36}" destId="{0EA3E284-A71B-442F-B37F-E21AA5E53820}" srcOrd="1" destOrd="0" presId="urn:microsoft.com/office/officeart/2005/8/layout/radial5"/>
    <dgm:cxn modelId="{DBA22FB4-20F0-498C-A87F-E05B42089151}" type="presOf" srcId="{9569084A-526A-4470-AA35-7ED4AA65A0E9}" destId="{4677DDB3-AC4C-464C-B0A6-CA5E153C97F6}" srcOrd="0" destOrd="0" presId="urn:microsoft.com/office/officeart/2005/8/layout/radial5"/>
    <dgm:cxn modelId="{4326FFB7-D154-4D81-ADE7-CF0B98042D42}" type="presOf" srcId="{37E82F80-421F-4D49-98F0-26E4350CBE6C}" destId="{26D73599-A61F-4E37-BD91-04DB091874F8}" srcOrd="1" destOrd="0" presId="urn:microsoft.com/office/officeart/2005/8/layout/radial5"/>
    <dgm:cxn modelId="{924E42BB-45E7-40EB-8D1D-51F5730C8506}" type="presOf" srcId="{5DB30950-4637-4405-B6B0-6BD05234472C}" destId="{7739EB58-CE34-401B-8C51-48860D7A1660}" srcOrd="1" destOrd="0" presId="urn:microsoft.com/office/officeart/2005/8/layout/radial5"/>
    <dgm:cxn modelId="{87415CC8-D2C3-41F1-95B5-E8E9572BE099}" type="presOf" srcId="{CF54486E-E8B5-4C02-AE33-F8365F6969EB}" destId="{437BBCD7-3628-4CC9-8B89-F493762A0A9F}" srcOrd="0" destOrd="0" presId="urn:microsoft.com/office/officeart/2005/8/layout/radial5"/>
    <dgm:cxn modelId="{CEC95FC9-7328-4460-AC2B-A46A509A4628}" type="presOf" srcId="{37E82F80-421F-4D49-98F0-26E4350CBE6C}" destId="{A27BC216-87A0-47A1-981F-4A0CB9139A8A}" srcOrd="0" destOrd="0" presId="urn:microsoft.com/office/officeart/2005/8/layout/radial5"/>
    <dgm:cxn modelId="{471B78CA-254E-4085-8396-35B75579D608}" type="presOf" srcId="{F155EF20-C8CC-450D-8369-03F526B51DB9}" destId="{06D8C5A0-E7E5-4A3B-84E2-156D853A274C}" srcOrd="0" destOrd="0" presId="urn:microsoft.com/office/officeart/2005/8/layout/radial5"/>
    <dgm:cxn modelId="{4A347BCB-7DAE-40D2-A644-3278AAC19DC3}" type="presOf" srcId="{7F299951-24AD-42A6-B09A-993ABF0E0878}" destId="{E3DC612F-97DF-4A0B-97A7-EFAC550D3D41}" srcOrd="0" destOrd="0" presId="urn:microsoft.com/office/officeart/2005/8/layout/radial5"/>
    <dgm:cxn modelId="{6D468DE4-B4C5-48E1-989D-6B0FD407BEE6}" type="presOf" srcId="{9D4CFAB3-AE99-4314-90A8-B1F2119568E6}" destId="{9277782A-FB05-4363-8DE0-0FE55906615C}" srcOrd="0" destOrd="0" presId="urn:microsoft.com/office/officeart/2005/8/layout/radial5"/>
    <dgm:cxn modelId="{71E8C3F4-8D37-4F84-A246-08F550EC203A}" type="presOf" srcId="{7779A588-270A-487C-88D2-F0163ABBD6E0}" destId="{F462DF8B-6B03-41BE-B43E-800A56A5B3F1}" srcOrd="0" destOrd="0" presId="urn:microsoft.com/office/officeart/2005/8/layout/radial5"/>
    <dgm:cxn modelId="{AE6890CB-6E50-4663-89C3-258C9CF129B6}" type="presParOf" srcId="{4677DDB3-AC4C-464C-B0A6-CA5E153C97F6}" destId="{F462DF8B-6B03-41BE-B43E-800A56A5B3F1}" srcOrd="0" destOrd="0" presId="urn:microsoft.com/office/officeart/2005/8/layout/radial5"/>
    <dgm:cxn modelId="{0B0AE54C-277F-4420-ACC6-F901F9B1BB16}" type="presParOf" srcId="{4677DDB3-AC4C-464C-B0A6-CA5E153C97F6}" destId="{504D47E8-5648-46B9-9373-7181EC5380C9}" srcOrd="1" destOrd="0" presId="urn:microsoft.com/office/officeart/2005/8/layout/radial5"/>
    <dgm:cxn modelId="{4C37643D-60F0-4554-94A2-35CFD439E023}" type="presParOf" srcId="{504D47E8-5648-46B9-9373-7181EC5380C9}" destId="{DBEA04CF-9B7C-4988-998A-B06DA225C023}" srcOrd="0" destOrd="0" presId="urn:microsoft.com/office/officeart/2005/8/layout/radial5"/>
    <dgm:cxn modelId="{7F1A7994-5685-4E67-B5E4-2C99392DA012}" type="presParOf" srcId="{4677DDB3-AC4C-464C-B0A6-CA5E153C97F6}" destId="{437BBCD7-3628-4CC9-8B89-F493762A0A9F}" srcOrd="2" destOrd="0" presId="urn:microsoft.com/office/officeart/2005/8/layout/radial5"/>
    <dgm:cxn modelId="{C9FEB39D-20A4-4B0C-96CB-B3E11AB6C94C}" type="presParOf" srcId="{4677DDB3-AC4C-464C-B0A6-CA5E153C97F6}" destId="{18AE9004-8FE6-4F5B-8CBF-20FA174B5975}" srcOrd="3" destOrd="0" presId="urn:microsoft.com/office/officeart/2005/8/layout/radial5"/>
    <dgm:cxn modelId="{567DC60F-4809-4A3E-ACA6-8182F9992606}" type="presParOf" srcId="{18AE9004-8FE6-4F5B-8CBF-20FA174B5975}" destId="{7739EB58-CE34-401B-8C51-48860D7A1660}" srcOrd="0" destOrd="0" presId="urn:microsoft.com/office/officeart/2005/8/layout/radial5"/>
    <dgm:cxn modelId="{61053511-287B-4DEC-B66C-ED9DD57DD624}" type="presParOf" srcId="{4677DDB3-AC4C-464C-B0A6-CA5E153C97F6}" destId="{06D8C5A0-E7E5-4A3B-84E2-156D853A274C}" srcOrd="4" destOrd="0" presId="urn:microsoft.com/office/officeart/2005/8/layout/radial5"/>
    <dgm:cxn modelId="{0653AB16-F0CC-4E48-BB96-32C7E74DAB85}" type="presParOf" srcId="{4677DDB3-AC4C-464C-B0A6-CA5E153C97F6}" destId="{4F567D5A-F649-416C-9F4F-F1666CD6DAED}" srcOrd="5" destOrd="0" presId="urn:microsoft.com/office/officeart/2005/8/layout/radial5"/>
    <dgm:cxn modelId="{0A39E4F7-9C1B-45F2-8B2E-2824BCB3B0E3}" type="presParOf" srcId="{4F567D5A-F649-416C-9F4F-F1666CD6DAED}" destId="{0EA3E284-A71B-442F-B37F-E21AA5E53820}" srcOrd="0" destOrd="0" presId="urn:microsoft.com/office/officeart/2005/8/layout/radial5"/>
    <dgm:cxn modelId="{D1F9DDAE-0039-4936-882E-281B03AD9E08}" type="presParOf" srcId="{4677DDB3-AC4C-464C-B0A6-CA5E153C97F6}" destId="{9277782A-FB05-4363-8DE0-0FE55906615C}" srcOrd="6" destOrd="0" presId="urn:microsoft.com/office/officeart/2005/8/layout/radial5"/>
    <dgm:cxn modelId="{4C8E0F35-ADC2-49F1-A98B-E63254BA41EE}" type="presParOf" srcId="{4677DDB3-AC4C-464C-B0A6-CA5E153C97F6}" destId="{A27BC216-87A0-47A1-981F-4A0CB9139A8A}" srcOrd="7" destOrd="0" presId="urn:microsoft.com/office/officeart/2005/8/layout/radial5"/>
    <dgm:cxn modelId="{7CB1F1D3-D234-44F2-BA07-5A0420ACC1D7}" type="presParOf" srcId="{A27BC216-87A0-47A1-981F-4A0CB9139A8A}" destId="{26D73599-A61F-4E37-BD91-04DB091874F8}" srcOrd="0" destOrd="0" presId="urn:microsoft.com/office/officeart/2005/8/layout/radial5"/>
    <dgm:cxn modelId="{0528E445-457B-4B81-8589-7600B72CDD76}" type="presParOf" srcId="{4677DDB3-AC4C-464C-B0A6-CA5E153C97F6}" destId="{E3DC612F-97DF-4A0B-97A7-EFAC550D3D41}" srcOrd="8" destOrd="0" presId="urn:microsoft.com/office/officeart/2005/8/layout/radial5"/>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569084A-526A-4470-AA35-7ED4AA65A0E9}" type="doc">
      <dgm:prSet loTypeId="urn:microsoft.com/office/officeart/2005/8/layout/radial5" loCatId="relationship" qsTypeId="urn:microsoft.com/office/officeart/2005/8/quickstyle/simple1" qsCatId="simple" csTypeId="urn:microsoft.com/office/officeart/2005/8/colors/accent1_2" csCatId="accent1" phldr="1"/>
      <dgm:spPr/>
      <dgm:t>
        <a:bodyPr/>
        <a:lstStyle/>
        <a:p>
          <a:endParaRPr lang="zh-CN" altLang="en-US"/>
        </a:p>
      </dgm:t>
    </dgm:pt>
    <dgm:pt modelId="{7779A588-270A-487C-88D2-F0163ABBD6E0}">
      <dgm:prSet phldrT="[文本]" custT="1"/>
      <dgm:spPr>
        <a:solidFill>
          <a:srgbClr val="FF99FF"/>
        </a:solidFill>
      </dgm:spPr>
      <dgm:t>
        <a:bodyPr/>
        <a:lstStyle/>
        <a:p>
          <a:r>
            <a:rPr lang="zh-CN" altLang="en-US" sz="2400" b="1" dirty="0">
              <a:solidFill>
                <a:srgbClr val="FF0000"/>
              </a:solidFill>
              <a:latin typeface="微软雅黑" pitchFamily="34" charset="-122"/>
              <a:ea typeface="微软雅黑" pitchFamily="34" charset="-122"/>
              <a:cs typeface="Times New Roman" pitchFamily="18" charset="0"/>
            </a:rPr>
            <a:t>应用</a:t>
          </a:r>
        </a:p>
      </dgm:t>
    </dgm:pt>
    <dgm:pt modelId="{ECA4527F-2527-41FA-B5E4-526CBFDAE6B1}" type="parTrans" cxnId="{454B6B12-128E-49B4-9875-98347E43557B}">
      <dgm:prSet/>
      <dgm:spPr/>
      <dgm:t>
        <a:bodyPr/>
        <a:lstStyle/>
        <a:p>
          <a:endParaRPr lang="zh-CN" altLang="en-US" sz="1800" b="1">
            <a:solidFill>
              <a:schemeClr val="tx1"/>
            </a:solidFill>
            <a:latin typeface="微软雅黑" pitchFamily="34" charset="-122"/>
            <a:ea typeface="微软雅黑" pitchFamily="34" charset="-122"/>
            <a:cs typeface="Times New Roman" pitchFamily="18" charset="0"/>
          </a:endParaRPr>
        </a:p>
      </dgm:t>
    </dgm:pt>
    <dgm:pt modelId="{0E405C3D-2114-4F21-99DB-CFE3B4797D8B}" type="sibTrans" cxnId="{454B6B12-128E-49B4-9875-98347E43557B}">
      <dgm:prSet/>
      <dgm:spPr/>
      <dgm:t>
        <a:bodyPr/>
        <a:lstStyle/>
        <a:p>
          <a:endParaRPr lang="zh-CN" altLang="en-US" sz="1800" b="1">
            <a:solidFill>
              <a:schemeClr val="tx1"/>
            </a:solidFill>
            <a:latin typeface="微软雅黑" pitchFamily="34" charset="-122"/>
            <a:ea typeface="微软雅黑" pitchFamily="34" charset="-122"/>
            <a:cs typeface="Times New Roman" pitchFamily="18" charset="0"/>
          </a:endParaRPr>
        </a:p>
      </dgm:t>
    </dgm:pt>
    <dgm:pt modelId="{CF54486E-E8B5-4C02-AE33-F8365F6969EB}">
      <dgm:prSet phldrT="[文本]" custT="1"/>
      <dgm:spPr>
        <a:solidFill>
          <a:srgbClr val="FFFF00"/>
        </a:solidFill>
      </dgm:spPr>
      <dgm:t>
        <a:bodyPr/>
        <a:lstStyle/>
        <a:p>
          <a:r>
            <a:rPr lang="zh-CN" altLang="en-US" sz="2000" b="1" dirty="0">
              <a:solidFill>
                <a:srgbClr val="0000CC"/>
              </a:solidFill>
              <a:latin typeface="微软雅黑" pitchFamily="34" charset="-122"/>
              <a:ea typeface="微软雅黑" pitchFamily="34" charset="-122"/>
            </a:rPr>
            <a:t>非接触测量</a:t>
          </a:r>
          <a:endParaRPr lang="zh-CN" altLang="en-US" sz="2000" b="1" dirty="0">
            <a:solidFill>
              <a:srgbClr val="0000CC"/>
            </a:solidFill>
            <a:latin typeface="微软雅黑" pitchFamily="34" charset="-122"/>
            <a:ea typeface="微软雅黑" pitchFamily="34" charset="-122"/>
            <a:cs typeface="Times New Roman" pitchFamily="18" charset="0"/>
          </a:endParaRPr>
        </a:p>
      </dgm:t>
    </dgm:pt>
    <dgm:pt modelId="{C44C2029-BEB8-47B5-B2EA-720BF125AAFB}" type="parTrans" cxnId="{62FB6D7C-585C-472B-B900-8046510366A0}">
      <dgm:prSet custT="1"/>
      <dgm:spPr>
        <a:solidFill>
          <a:schemeClr val="tx2"/>
        </a:solidFill>
      </dgm:spPr>
      <dgm:t>
        <a:bodyPr/>
        <a:lstStyle/>
        <a:p>
          <a:endParaRPr lang="zh-CN" altLang="en-US" sz="1800" b="1">
            <a:solidFill>
              <a:schemeClr val="tx1"/>
            </a:solidFill>
            <a:latin typeface="微软雅黑" pitchFamily="34" charset="-122"/>
            <a:ea typeface="微软雅黑" pitchFamily="34" charset="-122"/>
            <a:cs typeface="Times New Roman" pitchFamily="18" charset="0"/>
          </a:endParaRPr>
        </a:p>
      </dgm:t>
    </dgm:pt>
    <dgm:pt modelId="{29601C67-09F1-4BE6-965F-13C06E795D56}" type="sibTrans" cxnId="{62FB6D7C-585C-472B-B900-8046510366A0}">
      <dgm:prSet/>
      <dgm:spPr/>
      <dgm:t>
        <a:bodyPr/>
        <a:lstStyle/>
        <a:p>
          <a:endParaRPr lang="zh-CN" altLang="en-US" sz="1800" b="1">
            <a:solidFill>
              <a:schemeClr val="tx1"/>
            </a:solidFill>
            <a:latin typeface="微软雅黑" pitchFamily="34" charset="-122"/>
            <a:ea typeface="微软雅黑" pitchFamily="34" charset="-122"/>
            <a:cs typeface="Times New Roman" pitchFamily="18" charset="0"/>
          </a:endParaRPr>
        </a:p>
      </dgm:t>
    </dgm:pt>
    <dgm:pt modelId="{F155EF20-C8CC-450D-8369-03F526B51DB9}">
      <dgm:prSet phldrT="[文本]" custT="1"/>
      <dgm:spPr>
        <a:solidFill>
          <a:srgbClr val="FFC000"/>
        </a:solidFill>
      </dgm:spPr>
      <dgm:t>
        <a:bodyPr/>
        <a:lstStyle/>
        <a:p>
          <a:r>
            <a:rPr lang="zh-CN" altLang="en-US" sz="2000" b="1" dirty="0">
              <a:solidFill>
                <a:srgbClr val="FF0066"/>
              </a:solidFill>
              <a:latin typeface="微软雅黑" pitchFamily="34" charset="-122"/>
              <a:ea typeface="微软雅黑" pitchFamily="34" charset="-122"/>
            </a:rPr>
            <a:t>激光束准直</a:t>
          </a:r>
          <a:endParaRPr lang="zh-CN" altLang="en-US" sz="2000" b="1" dirty="0">
            <a:solidFill>
              <a:schemeClr val="tx1"/>
            </a:solidFill>
            <a:latin typeface="微软雅黑" pitchFamily="34" charset="-122"/>
            <a:ea typeface="微软雅黑" pitchFamily="34" charset="-122"/>
            <a:cs typeface="Times New Roman" pitchFamily="18" charset="0"/>
          </a:endParaRPr>
        </a:p>
      </dgm:t>
    </dgm:pt>
    <dgm:pt modelId="{5DB30950-4637-4405-B6B0-6BD05234472C}" type="parTrans" cxnId="{62522632-7519-40CD-B754-4F3AB16436BF}">
      <dgm:prSet custT="1"/>
      <dgm:spPr>
        <a:solidFill>
          <a:schemeClr val="tx2"/>
        </a:solidFill>
      </dgm:spPr>
      <dgm:t>
        <a:bodyPr/>
        <a:lstStyle/>
        <a:p>
          <a:endParaRPr lang="zh-CN" altLang="en-US" sz="1800" b="1">
            <a:solidFill>
              <a:schemeClr val="tx1"/>
            </a:solidFill>
            <a:latin typeface="微软雅黑" pitchFamily="34" charset="-122"/>
            <a:ea typeface="微软雅黑" pitchFamily="34" charset="-122"/>
            <a:cs typeface="Times New Roman" pitchFamily="18" charset="0"/>
          </a:endParaRPr>
        </a:p>
      </dgm:t>
    </dgm:pt>
    <dgm:pt modelId="{EA1E1860-14F6-474C-80ED-AE353E6C7834}" type="sibTrans" cxnId="{62522632-7519-40CD-B754-4F3AB16436BF}">
      <dgm:prSet/>
      <dgm:spPr/>
      <dgm:t>
        <a:bodyPr/>
        <a:lstStyle/>
        <a:p>
          <a:endParaRPr lang="zh-CN" altLang="en-US" sz="1800" b="1">
            <a:solidFill>
              <a:schemeClr val="tx1"/>
            </a:solidFill>
            <a:latin typeface="微软雅黑" pitchFamily="34" charset="-122"/>
            <a:ea typeface="微软雅黑" pitchFamily="34" charset="-122"/>
            <a:cs typeface="Times New Roman" pitchFamily="18" charset="0"/>
          </a:endParaRPr>
        </a:p>
      </dgm:t>
    </dgm:pt>
    <dgm:pt modelId="{9D4CFAB3-AE99-4314-90A8-B1F2119568E6}">
      <dgm:prSet phldrT="[文本]" custT="1"/>
      <dgm:spPr>
        <a:solidFill>
          <a:srgbClr val="92D050"/>
        </a:solidFill>
      </dgm:spPr>
      <dgm:t>
        <a:bodyPr/>
        <a:lstStyle/>
        <a:p>
          <a:r>
            <a:rPr lang="zh-CN" altLang="en-US" sz="2000" b="1" dirty="0">
              <a:solidFill>
                <a:srgbClr val="0000CC"/>
              </a:solidFill>
              <a:latin typeface="微软雅黑" pitchFamily="34" charset="-122"/>
              <a:ea typeface="微软雅黑" pitchFamily="34" charset="-122"/>
            </a:rPr>
            <a:t>光学追迹</a:t>
          </a:r>
          <a:endParaRPr lang="zh-CN" altLang="en-US" sz="2000" b="1" dirty="0">
            <a:solidFill>
              <a:srgbClr val="0000CC"/>
            </a:solidFill>
            <a:latin typeface="微软雅黑" pitchFamily="34" charset="-122"/>
            <a:ea typeface="微软雅黑" pitchFamily="34" charset="-122"/>
            <a:cs typeface="Times New Roman" pitchFamily="18" charset="0"/>
          </a:endParaRPr>
        </a:p>
      </dgm:t>
    </dgm:pt>
    <dgm:pt modelId="{61940A9D-11EA-4918-A213-E3E01AD35B36}" type="parTrans" cxnId="{7ACD8C74-8F2C-4E08-B834-A71FD22788DD}">
      <dgm:prSet custT="1"/>
      <dgm:spPr>
        <a:solidFill>
          <a:schemeClr val="tx2"/>
        </a:solidFill>
      </dgm:spPr>
      <dgm:t>
        <a:bodyPr/>
        <a:lstStyle/>
        <a:p>
          <a:endParaRPr lang="zh-CN" altLang="en-US" sz="1800" b="1">
            <a:solidFill>
              <a:schemeClr val="tx1"/>
            </a:solidFill>
            <a:latin typeface="微软雅黑" pitchFamily="34" charset="-122"/>
            <a:ea typeface="微软雅黑" pitchFamily="34" charset="-122"/>
            <a:cs typeface="Times New Roman" pitchFamily="18" charset="0"/>
          </a:endParaRPr>
        </a:p>
      </dgm:t>
    </dgm:pt>
    <dgm:pt modelId="{0DDAD213-4C59-48EC-9D89-01E6C9D62BA8}" type="sibTrans" cxnId="{7ACD8C74-8F2C-4E08-B834-A71FD22788DD}">
      <dgm:prSet/>
      <dgm:spPr/>
      <dgm:t>
        <a:bodyPr/>
        <a:lstStyle/>
        <a:p>
          <a:endParaRPr lang="zh-CN" altLang="en-US" sz="1800" b="1">
            <a:solidFill>
              <a:schemeClr val="tx1"/>
            </a:solidFill>
            <a:latin typeface="微软雅黑" pitchFamily="34" charset="-122"/>
            <a:ea typeface="微软雅黑" pitchFamily="34" charset="-122"/>
            <a:cs typeface="Times New Roman" pitchFamily="18" charset="0"/>
          </a:endParaRPr>
        </a:p>
      </dgm:t>
    </dgm:pt>
    <dgm:pt modelId="{7F299951-24AD-42A6-B09A-993ABF0E0878}">
      <dgm:prSet phldrT="[文本]" custT="1"/>
      <dgm:spPr>
        <a:solidFill>
          <a:schemeClr val="accent4">
            <a:lumMod val="60000"/>
            <a:lumOff val="40000"/>
          </a:schemeClr>
        </a:solidFill>
      </dgm:spPr>
      <dgm:t>
        <a:bodyPr/>
        <a:lstStyle/>
        <a:p>
          <a:r>
            <a:rPr lang="zh-CN" altLang="en-US" sz="2000" b="1" dirty="0">
              <a:solidFill>
                <a:schemeClr val="tx1"/>
              </a:solidFill>
              <a:latin typeface="微软雅黑" pitchFamily="34" charset="-122"/>
              <a:ea typeface="微软雅黑" pitchFamily="34" charset="-122"/>
              <a:cs typeface="Times New Roman" pitchFamily="18" charset="0"/>
            </a:rPr>
            <a:t>生物医疗</a:t>
          </a:r>
        </a:p>
      </dgm:t>
    </dgm:pt>
    <dgm:pt modelId="{37E82F80-421F-4D49-98F0-26E4350CBE6C}" type="parTrans" cxnId="{DC92F541-0997-44AA-98FA-7FABF90244A5}">
      <dgm:prSet custT="1"/>
      <dgm:spPr>
        <a:solidFill>
          <a:schemeClr val="tx2"/>
        </a:solidFill>
      </dgm:spPr>
      <dgm:t>
        <a:bodyPr/>
        <a:lstStyle/>
        <a:p>
          <a:endParaRPr lang="zh-CN" altLang="en-US" sz="1800" b="1">
            <a:solidFill>
              <a:schemeClr val="tx1"/>
            </a:solidFill>
            <a:latin typeface="微软雅黑" pitchFamily="34" charset="-122"/>
            <a:ea typeface="微软雅黑" pitchFamily="34" charset="-122"/>
            <a:cs typeface="Times New Roman" pitchFamily="18" charset="0"/>
          </a:endParaRPr>
        </a:p>
      </dgm:t>
    </dgm:pt>
    <dgm:pt modelId="{93206731-1023-4000-8A59-7FC9EFA6532A}" type="sibTrans" cxnId="{DC92F541-0997-44AA-98FA-7FABF90244A5}">
      <dgm:prSet/>
      <dgm:spPr/>
      <dgm:t>
        <a:bodyPr/>
        <a:lstStyle/>
        <a:p>
          <a:endParaRPr lang="zh-CN" altLang="en-US" sz="1800" b="1">
            <a:solidFill>
              <a:schemeClr val="tx1"/>
            </a:solidFill>
            <a:latin typeface="微软雅黑" pitchFamily="34" charset="-122"/>
            <a:ea typeface="微软雅黑" pitchFamily="34" charset="-122"/>
            <a:cs typeface="Times New Roman" pitchFamily="18" charset="0"/>
          </a:endParaRPr>
        </a:p>
      </dgm:t>
    </dgm:pt>
    <dgm:pt modelId="{F480385E-6FD4-444B-909D-70CCE22315BC}">
      <dgm:prSet phldrT="[文本]" custT="1"/>
      <dgm:spPr>
        <a:solidFill>
          <a:schemeClr val="accent1">
            <a:lumMod val="40000"/>
            <a:lumOff val="60000"/>
          </a:schemeClr>
        </a:solidFill>
      </dgm:spPr>
      <dgm:t>
        <a:bodyPr/>
        <a:lstStyle/>
        <a:p>
          <a:r>
            <a:rPr lang="zh-CN" altLang="en-US" sz="2000" b="1" dirty="0">
              <a:solidFill>
                <a:srgbClr val="0000CC"/>
              </a:solidFill>
              <a:latin typeface="微软雅黑" pitchFamily="34" charset="-122"/>
              <a:ea typeface="微软雅黑" pitchFamily="34" charset="-122"/>
              <a:cs typeface="Times New Roman" pitchFamily="18" charset="0"/>
            </a:rPr>
            <a:t>位置信息系统</a:t>
          </a:r>
        </a:p>
      </dgm:t>
    </dgm:pt>
    <dgm:pt modelId="{0C1C9D96-3234-4334-BB4D-8E62BE7C7607}" type="parTrans" cxnId="{54589FBA-72A6-47B8-A250-5EABD376DE1C}">
      <dgm:prSet custT="1"/>
      <dgm:spPr>
        <a:solidFill>
          <a:schemeClr val="tx2"/>
        </a:solidFill>
      </dgm:spPr>
      <dgm:t>
        <a:bodyPr/>
        <a:lstStyle/>
        <a:p>
          <a:endParaRPr lang="zh-CN" altLang="en-US" sz="1800" b="1">
            <a:solidFill>
              <a:schemeClr val="tx1"/>
            </a:solidFill>
            <a:latin typeface="微软雅黑" pitchFamily="34" charset="-122"/>
            <a:ea typeface="微软雅黑" pitchFamily="34" charset="-122"/>
            <a:cs typeface="Times New Roman" pitchFamily="18" charset="0"/>
          </a:endParaRPr>
        </a:p>
      </dgm:t>
    </dgm:pt>
    <dgm:pt modelId="{71A9B32E-8768-4AFC-B3FC-AD7DD2A4E49A}" type="sibTrans" cxnId="{54589FBA-72A6-47B8-A250-5EABD376DE1C}">
      <dgm:prSet/>
      <dgm:spPr/>
      <dgm:t>
        <a:bodyPr/>
        <a:lstStyle/>
        <a:p>
          <a:endParaRPr lang="zh-CN" altLang="en-US" sz="1800" b="1">
            <a:solidFill>
              <a:schemeClr val="tx1"/>
            </a:solidFill>
            <a:latin typeface="微软雅黑" pitchFamily="34" charset="-122"/>
            <a:ea typeface="微软雅黑" pitchFamily="34" charset="-122"/>
            <a:cs typeface="Times New Roman" pitchFamily="18" charset="0"/>
          </a:endParaRPr>
        </a:p>
      </dgm:t>
    </dgm:pt>
    <dgm:pt modelId="{4677DDB3-AC4C-464C-B0A6-CA5E153C97F6}" type="pres">
      <dgm:prSet presAssocID="{9569084A-526A-4470-AA35-7ED4AA65A0E9}" presName="Name0" presStyleCnt="0">
        <dgm:presLayoutVars>
          <dgm:chMax val="1"/>
          <dgm:dir/>
          <dgm:animLvl val="ctr"/>
          <dgm:resizeHandles val="exact"/>
        </dgm:presLayoutVars>
      </dgm:prSet>
      <dgm:spPr/>
    </dgm:pt>
    <dgm:pt modelId="{F462DF8B-6B03-41BE-B43E-800A56A5B3F1}" type="pres">
      <dgm:prSet presAssocID="{7779A588-270A-487C-88D2-F0163ABBD6E0}" presName="centerShape" presStyleLbl="node0" presStyleIdx="0" presStyleCnt="1" custScaleX="144937" custScaleY="142677"/>
      <dgm:spPr/>
    </dgm:pt>
    <dgm:pt modelId="{504D47E8-5648-46B9-9373-7181EC5380C9}" type="pres">
      <dgm:prSet presAssocID="{C44C2029-BEB8-47B5-B2EA-720BF125AAFB}" presName="parTrans" presStyleLbl="sibTrans2D1" presStyleIdx="0" presStyleCnt="5"/>
      <dgm:spPr/>
    </dgm:pt>
    <dgm:pt modelId="{DBEA04CF-9B7C-4988-998A-B06DA225C023}" type="pres">
      <dgm:prSet presAssocID="{C44C2029-BEB8-47B5-B2EA-720BF125AAFB}" presName="connectorText" presStyleLbl="sibTrans2D1" presStyleIdx="0" presStyleCnt="5"/>
      <dgm:spPr/>
    </dgm:pt>
    <dgm:pt modelId="{437BBCD7-3628-4CC9-8B89-F493762A0A9F}" type="pres">
      <dgm:prSet presAssocID="{CF54486E-E8B5-4C02-AE33-F8365F6969EB}" presName="node" presStyleLbl="node1" presStyleIdx="0" presStyleCnt="5" custScaleX="124027" custScaleY="117093" custRadScaleRad="98110" custRadScaleInc="-1858">
        <dgm:presLayoutVars>
          <dgm:bulletEnabled val="1"/>
        </dgm:presLayoutVars>
      </dgm:prSet>
      <dgm:spPr/>
    </dgm:pt>
    <dgm:pt modelId="{18AE9004-8FE6-4F5B-8CBF-20FA174B5975}" type="pres">
      <dgm:prSet presAssocID="{5DB30950-4637-4405-B6B0-6BD05234472C}" presName="parTrans" presStyleLbl="sibTrans2D1" presStyleIdx="1" presStyleCnt="5"/>
      <dgm:spPr/>
    </dgm:pt>
    <dgm:pt modelId="{7739EB58-CE34-401B-8C51-48860D7A1660}" type="pres">
      <dgm:prSet presAssocID="{5DB30950-4637-4405-B6B0-6BD05234472C}" presName="connectorText" presStyleLbl="sibTrans2D1" presStyleIdx="1" presStyleCnt="5"/>
      <dgm:spPr/>
    </dgm:pt>
    <dgm:pt modelId="{06D8C5A0-E7E5-4A3B-84E2-156D853A274C}" type="pres">
      <dgm:prSet presAssocID="{F155EF20-C8CC-450D-8369-03F526B51DB9}" presName="node" presStyleLbl="node1" presStyleIdx="1" presStyleCnt="5" custScaleX="120499" custScaleY="120218">
        <dgm:presLayoutVars>
          <dgm:bulletEnabled val="1"/>
        </dgm:presLayoutVars>
      </dgm:prSet>
      <dgm:spPr/>
    </dgm:pt>
    <dgm:pt modelId="{4F567D5A-F649-416C-9F4F-F1666CD6DAED}" type="pres">
      <dgm:prSet presAssocID="{61940A9D-11EA-4918-A213-E3E01AD35B36}" presName="parTrans" presStyleLbl="sibTrans2D1" presStyleIdx="2" presStyleCnt="5"/>
      <dgm:spPr/>
    </dgm:pt>
    <dgm:pt modelId="{0EA3E284-A71B-442F-B37F-E21AA5E53820}" type="pres">
      <dgm:prSet presAssocID="{61940A9D-11EA-4918-A213-E3E01AD35B36}" presName="connectorText" presStyleLbl="sibTrans2D1" presStyleIdx="2" presStyleCnt="5"/>
      <dgm:spPr/>
    </dgm:pt>
    <dgm:pt modelId="{9277782A-FB05-4363-8DE0-0FE55906615C}" type="pres">
      <dgm:prSet presAssocID="{9D4CFAB3-AE99-4314-90A8-B1F2119568E6}" presName="node" presStyleLbl="node1" presStyleIdx="2" presStyleCnt="5" custScaleX="137465" custScaleY="134283">
        <dgm:presLayoutVars>
          <dgm:bulletEnabled val="1"/>
        </dgm:presLayoutVars>
      </dgm:prSet>
      <dgm:spPr/>
    </dgm:pt>
    <dgm:pt modelId="{A27BC216-87A0-47A1-981F-4A0CB9139A8A}" type="pres">
      <dgm:prSet presAssocID="{37E82F80-421F-4D49-98F0-26E4350CBE6C}" presName="parTrans" presStyleLbl="sibTrans2D1" presStyleIdx="3" presStyleCnt="5"/>
      <dgm:spPr/>
    </dgm:pt>
    <dgm:pt modelId="{26D73599-A61F-4E37-BD91-04DB091874F8}" type="pres">
      <dgm:prSet presAssocID="{37E82F80-421F-4D49-98F0-26E4350CBE6C}" presName="connectorText" presStyleLbl="sibTrans2D1" presStyleIdx="3" presStyleCnt="5"/>
      <dgm:spPr/>
    </dgm:pt>
    <dgm:pt modelId="{E3DC612F-97DF-4A0B-97A7-EFAC550D3D41}" type="pres">
      <dgm:prSet presAssocID="{7F299951-24AD-42A6-B09A-993ABF0E0878}" presName="node" presStyleLbl="node1" presStyleIdx="3" presStyleCnt="5" custScaleX="126446" custScaleY="118031">
        <dgm:presLayoutVars>
          <dgm:bulletEnabled val="1"/>
        </dgm:presLayoutVars>
      </dgm:prSet>
      <dgm:spPr/>
    </dgm:pt>
    <dgm:pt modelId="{A3070811-D8DA-409E-818E-79E3E82F4E6E}" type="pres">
      <dgm:prSet presAssocID="{0C1C9D96-3234-4334-BB4D-8E62BE7C7607}" presName="parTrans" presStyleLbl="sibTrans2D1" presStyleIdx="4" presStyleCnt="5"/>
      <dgm:spPr/>
    </dgm:pt>
    <dgm:pt modelId="{AD1D95DF-6869-4A52-876D-58C83FF68064}" type="pres">
      <dgm:prSet presAssocID="{0C1C9D96-3234-4334-BB4D-8E62BE7C7607}" presName="connectorText" presStyleLbl="sibTrans2D1" presStyleIdx="4" presStyleCnt="5"/>
      <dgm:spPr/>
    </dgm:pt>
    <dgm:pt modelId="{A33B6F7C-77D6-414E-AF80-560A30F5FD63}" type="pres">
      <dgm:prSet presAssocID="{F480385E-6FD4-444B-909D-70CCE22315BC}" presName="node" presStyleLbl="node1" presStyleIdx="4" presStyleCnt="5" custScaleX="127864" custScaleY="126576">
        <dgm:presLayoutVars>
          <dgm:bulletEnabled val="1"/>
        </dgm:presLayoutVars>
      </dgm:prSet>
      <dgm:spPr/>
    </dgm:pt>
  </dgm:ptLst>
  <dgm:cxnLst>
    <dgm:cxn modelId="{454B6B12-128E-49B4-9875-98347E43557B}" srcId="{9569084A-526A-4470-AA35-7ED4AA65A0E9}" destId="{7779A588-270A-487C-88D2-F0163ABBD6E0}" srcOrd="0" destOrd="0" parTransId="{ECA4527F-2527-41FA-B5E4-526CBFDAE6B1}" sibTransId="{0E405C3D-2114-4F21-99DB-CFE3B4797D8B}"/>
    <dgm:cxn modelId="{8B132821-DF74-4EAA-B9DE-4F16FF956FFA}" type="presOf" srcId="{0C1C9D96-3234-4334-BB4D-8E62BE7C7607}" destId="{A3070811-D8DA-409E-818E-79E3E82F4E6E}" srcOrd="0" destOrd="0" presId="urn:microsoft.com/office/officeart/2005/8/layout/radial5"/>
    <dgm:cxn modelId="{F4598C2C-FC96-4824-B86F-227904BDB686}" type="presOf" srcId="{F480385E-6FD4-444B-909D-70CCE22315BC}" destId="{A33B6F7C-77D6-414E-AF80-560A30F5FD63}" srcOrd="0" destOrd="0" presId="urn:microsoft.com/office/officeart/2005/8/layout/radial5"/>
    <dgm:cxn modelId="{37BD912D-7048-495C-A771-169C6C305E3D}" type="presOf" srcId="{C44C2029-BEB8-47B5-B2EA-720BF125AAFB}" destId="{DBEA04CF-9B7C-4988-998A-B06DA225C023}" srcOrd="1" destOrd="0" presId="urn:microsoft.com/office/officeart/2005/8/layout/radial5"/>
    <dgm:cxn modelId="{62522632-7519-40CD-B754-4F3AB16436BF}" srcId="{7779A588-270A-487C-88D2-F0163ABBD6E0}" destId="{F155EF20-C8CC-450D-8369-03F526B51DB9}" srcOrd="1" destOrd="0" parTransId="{5DB30950-4637-4405-B6B0-6BD05234472C}" sibTransId="{EA1E1860-14F6-474C-80ED-AE353E6C7834}"/>
    <dgm:cxn modelId="{57377A3B-0D21-427D-B9ED-D9B5ECFF024D}" type="presOf" srcId="{7779A588-270A-487C-88D2-F0163ABBD6E0}" destId="{F462DF8B-6B03-41BE-B43E-800A56A5B3F1}" srcOrd="0" destOrd="0" presId="urn:microsoft.com/office/officeart/2005/8/layout/radial5"/>
    <dgm:cxn modelId="{3DDF3540-2E72-4CEC-962E-F7B92EA2F85A}" type="presOf" srcId="{9D4CFAB3-AE99-4314-90A8-B1F2119568E6}" destId="{9277782A-FB05-4363-8DE0-0FE55906615C}" srcOrd="0" destOrd="0" presId="urn:microsoft.com/office/officeart/2005/8/layout/radial5"/>
    <dgm:cxn modelId="{DC92F541-0997-44AA-98FA-7FABF90244A5}" srcId="{7779A588-270A-487C-88D2-F0163ABBD6E0}" destId="{7F299951-24AD-42A6-B09A-993ABF0E0878}" srcOrd="3" destOrd="0" parTransId="{37E82F80-421F-4D49-98F0-26E4350CBE6C}" sibTransId="{93206731-1023-4000-8A59-7FC9EFA6532A}"/>
    <dgm:cxn modelId="{0640DF48-B532-41BC-BEE0-3A657A32F869}" type="presOf" srcId="{9569084A-526A-4470-AA35-7ED4AA65A0E9}" destId="{4677DDB3-AC4C-464C-B0A6-CA5E153C97F6}" srcOrd="0" destOrd="0" presId="urn:microsoft.com/office/officeart/2005/8/layout/radial5"/>
    <dgm:cxn modelId="{AD4CD353-66D6-4157-BC6B-EACCAB79565E}" type="presOf" srcId="{61940A9D-11EA-4918-A213-E3E01AD35B36}" destId="{0EA3E284-A71B-442F-B37F-E21AA5E53820}" srcOrd="1" destOrd="0" presId="urn:microsoft.com/office/officeart/2005/8/layout/radial5"/>
    <dgm:cxn modelId="{7ACD8C74-8F2C-4E08-B834-A71FD22788DD}" srcId="{7779A588-270A-487C-88D2-F0163ABBD6E0}" destId="{9D4CFAB3-AE99-4314-90A8-B1F2119568E6}" srcOrd="2" destOrd="0" parTransId="{61940A9D-11EA-4918-A213-E3E01AD35B36}" sibTransId="{0DDAD213-4C59-48EC-9D89-01E6C9D62BA8}"/>
    <dgm:cxn modelId="{EAC17556-C102-4B81-AB40-109D5BB1C2BE}" type="presOf" srcId="{37E82F80-421F-4D49-98F0-26E4350CBE6C}" destId="{A27BC216-87A0-47A1-981F-4A0CB9139A8A}" srcOrd="0" destOrd="0" presId="urn:microsoft.com/office/officeart/2005/8/layout/radial5"/>
    <dgm:cxn modelId="{62FB6D7C-585C-472B-B900-8046510366A0}" srcId="{7779A588-270A-487C-88D2-F0163ABBD6E0}" destId="{CF54486E-E8B5-4C02-AE33-F8365F6969EB}" srcOrd="0" destOrd="0" parTransId="{C44C2029-BEB8-47B5-B2EA-720BF125AAFB}" sibTransId="{29601C67-09F1-4BE6-965F-13C06E795D56}"/>
    <dgm:cxn modelId="{9625908A-E0DE-470E-9CC1-90FB9C52DCF1}" type="presOf" srcId="{37E82F80-421F-4D49-98F0-26E4350CBE6C}" destId="{26D73599-A61F-4E37-BD91-04DB091874F8}" srcOrd="1" destOrd="0" presId="urn:microsoft.com/office/officeart/2005/8/layout/radial5"/>
    <dgm:cxn modelId="{2646798C-477E-466D-9CC3-3FEE5CFF651A}" type="presOf" srcId="{5DB30950-4637-4405-B6B0-6BD05234472C}" destId="{7739EB58-CE34-401B-8C51-48860D7A1660}" srcOrd="1" destOrd="0" presId="urn:microsoft.com/office/officeart/2005/8/layout/radial5"/>
    <dgm:cxn modelId="{C07D0494-1E06-4201-B8E7-11C67ED230C7}" type="presOf" srcId="{CF54486E-E8B5-4C02-AE33-F8365F6969EB}" destId="{437BBCD7-3628-4CC9-8B89-F493762A0A9F}" srcOrd="0" destOrd="0" presId="urn:microsoft.com/office/officeart/2005/8/layout/radial5"/>
    <dgm:cxn modelId="{39DC5B94-C174-48D0-BCDB-E04BF2F57F08}" type="presOf" srcId="{0C1C9D96-3234-4334-BB4D-8E62BE7C7607}" destId="{AD1D95DF-6869-4A52-876D-58C83FF68064}" srcOrd="1" destOrd="0" presId="urn:microsoft.com/office/officeart/2005/8/layout/radial5"/>
    <dgm:cxn modelId="{4DA22898-A86D-4A4E-B562-DEE67217AF1A}" type="presOf" srcId="{5DB30950-4637-4405-B6B0-6BD05234472C}" destId="{18AE9004-8FE6-4F5B-8CBF-20FA174B5975}" srcOrd="0" destOrd="0" presId="urn:microsoft.com/office/officeart/2005/8/layout/radial5"/>
    <dgm:cxn modelId="{54589FBA-72A6-47B8-A250-5EABD376DE1C}" srcId="{7779A588-270A-487C-88D2-F0163ABBD6E0}" destId="{F480385E-6FD4-444B-909D-70CCE22315BC}" srcOrd="4" destOrd="0" parTransId="{0C1C9D96-3234-4334-BB4D-8E62BE7C7607}" sibTransId="{71A9B32E-8768-4AFC-B3FC-AD7DD2A4E49A}"/>
    <dgm:cxn modelId="{99D499BD-69EE-4067-8231-A9EA6AFEB226}" type="presOf" srcId="{F155EF20-C8CC-450D-8369-03F526B51DB9}" destId="{06D8C5A0-E7E5-4A3B-84E2-156D853A274C}" srcOrd="0" destOrd="0" presId="urn:microsoft.com/office/officeart/2005/8/layout/radial5"/>
    <dgm:cxn modelId="{A05383CC-5CD6-4F58-8F32-41ECD3A3C953}" type="presOf" srcId="{7F299951-24AD-42A6-B09A-993ABF0E0878}" destId="{E3DC612F-97DF-4A0B-97A7-EFAC550D3D41}" srcOrd="0" destOrd="0" presId="urn:microsoft.com/office/officeart/2005/8/layout/radial5"/>
    <dgm:cxn modelId="{545214CF-059F-40CE-8704-6E88D519B98D}" type="presOf" srcId="{61940A9D-11EA-4918-A213-E3E01AD35B36}" destId="{4F567D5A-F649-416C-9F4F-F1666CD6DAED}" srcOrd="0" destOrd="0" presId="urn:microsoft.com/office/officeart/2005/8/layout/radial5"/>
    <dgm:cxn modelId="{58D5D5F2-4CDB-4E6D-B8DC-06A77CA82404}" type="presOf" srcId="{C44C2029-BEB8-47B5-B2EA-720BF125AAFB}" destId="{504D47E8-5648-46B9-9373-7181EC5380C9}" srcOrd="0" destOrd="0" presId="urn:microsoft.com/office/officeart/2005/8/layout/radial5"/>
    <dgm:cxn modelId="{901EB4C0-F148-4E5D-91DE-68745F8BA58F}" type="presParOf" srcId="{4677DDB3-AC4C-464C-B0A6-CA5E153C97F6}" destId="{F462DF8B-6B03-41BE-B43E-800A56A5B3F1}" srcOrd="0" destOrd="0" presId="urn:microsoft.com/office/officeart/2005/8/layout/radial5"/>
    <dgm:cxn modelId="{B061F8B2-D2A1-4E40-A6FA-6001991C4152}" type="presParOf" srcId="{4677DDB3-AC4C-464C-B0A6-CA5E153C97F6}" destId="{504D47E8-5648-46B9-9373-7181EC5380C9}" srcOrd="1" destOrd="0" presId="urn:microsoft.com/office/officeart/2005/8/layout/radial5"/>
    <dgm:cxn modelId="{3268F9C7-305A-4E63-A4B5-6DC0520032CA}" type="presParOf" srcId="{504D47E8-5648-46B9-9373-7181EC5380C9}" destId="{DBEA04CF-9B7C-4988-998A-B06DA225C023}" srcOrd="0" destOrd="0" presId="urn:microsoft.com/office/officeart/2005/8/layout/radial5"/>
    <dgm:cxn modelId="{A2DC32D2-F12C-4CDD-BB67-AFCDA22EBD6F}" type="presParOf" srcId="{4677DDB3-AC4C-464C-B0A6-CA5E153C97F6}" destId="{437BBCD7-3628-4CC9-8B89-F493762A0A9F}" srcOrd="2" destOrd="0" presId="urn:microsoft.com/office/officeart/2005/8/layout/radial5"/>
    <dgm:cxn modelId="{C539C3FF-1A59-4F4E-9C7B-02670A5FD6BD}" type="presParOf" srcId="{4677DDB3-AC4C-464C-B0A6-CA5E153C97F6}" destId="{18AE9004-8FE6-4F5B-8CBF-20FA174B5975}" srcOrd="3" destOrd="0" presId="urn:microsoft.com/office/officeart/2005/8/layout/radial5"/>
    <dgm:cxn modelId="{BA5ED3B3-7027-4C56-8030-014E69768C7B}" type="presParOf" srcId="{18AE9004-8FE6-4F5B-8CBF-20FA174B5975}" destId="{7739EB58-CE34-401B-8C51-48860D7A1660}" srcOrd="0" destOrd="0" presId="urn:microsoft.com/office/officeart/2005/8/layout/radial5"/>
    <dgm:cxn modelId="{0CA7E2EA-EC47-45CE-AC6F-13F74E4586F0}" type="presParOf" srcId="{4677DDB3-AC4C-464C-B0A6-CA5E153C97F6}" destId="{06D8C5A0-E7E5-4A3B-84E2-156D853A274C}" srcOrd="4" destOrd="0" presId="urn:microsoft.com/office/officeart/2005/8/layout/radial5"/>
    <dgm:cxn modelId="{C0DCE627-AF53-4277-9094-02F59B9BD71E}" type="presParOf" srcId="{4677DDB3-AC4C-464C-B0A6-CA5E153C97F6}" destId="{4F567D5A-F649-416C-9F4F-F1666CD6DAED}" srcOrd="5" destOrd="0" presId="urn:microsoft.com/office/officeart/2005/8/layout/radial5"/>
    <dgm:cxn modelId="{950925C5-BF7E-4257-8C6E-EDD675EA71B0}" type="presParOf" srcId="{4F567D5A-F649-416C-9F4F-F1666CD6DAED}" destId="{0EA3E284-A71B-442F-B37F-E21AA5E53820}" srcOrd="0" destOrd="0" presId="urn:microsoft.com/office/officeart/2005/8/layout/radial5"/>
    <dgm:cxn modelId="{06916296-C42C-4537-B2C4-B143F84365B4}" type="presParOf" srcId="{4677DDB3-AC4C-464C-B0A6-CA5E153C97F6}" destId="{9277782A-FB05-4363-8DE0-0FE55906615C}" srcOrd="6" destOrd="0" presId="urn:microsoft.com/office/officeart/2005/8/layout/radial5"/>
    <dgm:cxn modelId="{9B4FC135-8D26-48C0-8493-D8DAFDFBA23E}" type="presParOf" srcId="{4677DDB3-AC4C-464C-B0A6-CA5E153C97F6}" destId="{A27BC216-87A0-47A1-981F-4A0CB9139A8A}" srcOrd="7" destOrd="0" presId="urn:microsoft.com/office/officeart/2005/8/layout/radial5"/>
    <dgm:cxn modelId="{EF861B03-028F-43A3-9374-F6EB4D21DE8D}" type="presParOf" srcId="{A27BC216-87A0-47A1-981F-4A0CB9139A8A}" destId="{26D73599-A61F-4E37-BD91-04DB091874F8}" srcOrd="0" destOrd="0" presId="urn:microsoft.com/office/officeart/2005/8/layout/radial5"/>
    <dgm:cxn modelId="{487B482F-D1CE-42CD-ABB9-3976094A50CC}" type="presParOf" srcId="{4677DDB3-AC4C-464C-B0A6-CA5E153C97F6}" destId="{E3DC612F-97DF-4A0B-97A7-EFAC550D3D41}" srcOrd="8" destOrd="0" presId="urn:microsoft.com/office/officeart/2005/8/layout/radial5"/>
    <dgm:cxn modelId="{199D89F3-FBE2-45D5-9C2C-2D46F898FE83}" type="presParOf" srcId="{4677DDB3-AC4C-464C-B0A6-CA5E153C97F6}" destId="{A3070811-D8DA-409E-818E-79E3E82F4E6E}" srcOrd="9" destOrd="0" presId="urn:microsoft.com/office/officeart/2005/8/layout/radial5"/>
    <dgm:cxn modelId="{8CCD0F4B-69ED-4037-A001-B2DB99624454}" type="presParOf" srcId="{A3070811-D8DA-409E-818E-79E3E82F4E6E}" destId="{AD1D95DF-6869-4A52-876D-58C83FF68064}" srcOrd="0" destOrd="0" presId="urn:microsoft.com/office/officeart/2005/8/layout/radial5"/>
    <dgm:cxn modelId="{F0F435F6-F65A-4D21-89D3-5E6AF655CBC5}" type="presParOf" srcId="{4677DDB3-AC4C-464C-B0A6-CA5E153C97F6}" destId="{A33B6F7C-77D6-414E-AF80-560A30F5FD63}" srcOrd="10" destOrd="0" presId="urn:microsoft.com/office/officeart/2005/8/layout/radial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62DF8B-6B03-41BE-B43E-800A56A5B3F1}">
      <dsp:nvSpPr>
        <dsp:cNvPr id="0" name=""/>
        <dsp:cNvSpPr/>
      </dsp:nvSpPr>
      <dsp:spPr>
        <a:xfrm>
          <a:off x="1468124" y="1320841"/>
          <a:ext cx="1617942" cy="1592714"/>
        </a:xfrm>
        <a:prstGeom prst="ellipse">
          <a:avLst/>
        </a:prstGeom>
        <a:solidFill>
          <a:srgbClr val="FF99F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zh-CN" altLang="en-US" sz="2400" b="1" kern="1200" dirty="0">
              <a:solidFill>
                <a:srgbClr val="FF0000"/>
              </a:solidFill>
              <a:latin typeface="微软雅黑" pitchFamily="34" charset="-122"/>
              <a:ea typeface="微软雅黑" pitchFamily="34" charset="-122"/>
              <a:cs typeface="Times New Roman" pitchFamily="18" charset="0"/>
            </a:rPr>
            <a:t>优点</a:t>
          </a:r>
        </a:p>
      </dsp:txBody>
      <dsp:txXfrm>
        <a:off x="1705066" y="1554089"/>
        <a:ext cx="1144058" cy="1126218"/>
      </dsp:txXfrm>
    </dsp:sp>
    <dsp:sp modelId="{504D47E8-5648-46B9-9373-7181EC5380C9}">
      <dsp:nvSpPr>
        <dsp:cNvPr id="0" name=""/>
        <dsp:cNvSpPr/>
      </dsp:nvSpPr>
      <dsp:spPr>
        <a:xfrm rot="16242447">
          <a:off x="2254581" y="1070562"/>
          <a:ext cx="66189" cy="379544"/>
        </a:xfrm>
        <a:prstGeom prst="rightArrow">
          <a:avLst>
            <a:gd name="adj1" fmla="val 60000"/>
            <a:gd name="adj2" fmla="val 50000"/>
          </a:avLst>
        </a:prstGeom>
        <a:solidFill>
          <a:schemeClr val="tx2"/>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b="1" kern="1200">
            <a:solidFill>
              <a:schemeClr val="tx1"/>
            </a:solidFill>
            <a:latin typeface="微软雅黑" pitchFamily="34" charset="-122"/>
            <a:ea typeface="微软雅黑" pitchFamily="34" charset="-122"/>
            <a:cs typeface="Times New Roman" pitchFamily="18" charset="0"/>
          </a:endParaRPr>
        </a:p>
      </dsp:txBody>
      <dsp:txXfrm>
        <a:off x="2264387" y="1156399"/>
        <a:ext cx="46332" cy="227726"/>
      </dsp:txXfrm>
    </dsp:sp>
    <dsp:sp modelId="{437BBCD7-3628-4CC9-8B89-F493762A0A9F}">
      <dsp:nvSpPr>
        <dsp:cNvPr id="0" name=""/>
        <dsp:cNvSpPr/>
      </dsp:nvSpPr>
      <dsp:spPr>
        <a:xfrm>
          <a:off x="1604278" y="-111050"/>
          <a:ext cx="1384523" cy="1307118"/>
        </a:xfrm>
        <a:prstGeom prst="ellipse">
          <a:avLst/>
        </a:prstGeom>
        <a:solidFill>
          <a:srgbClr val="FFFF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rgbClr val="0000CC"/>
              </a:solidFill>
              <a:latin typeface="微软雅黑" pitchFamily="34" charset="-122"/>
              <a:ea typeface="微软雅黑" pitchFamily="34" charset="-122"/>
            </a:rPr>
            <a:t>位置分辨率高</a:t>
          </a:r>
          <a:endParaRPr lang="zh-CN" altLang="en-US" sz="2000" b="1" kern="1200" dirty="0">
            <a:solidFill>
              <a:srgbClr val="FF0000"/>
            </a:solidFill>
            <a:latin typeface="微软雅黑" pitchFamily="34" charset="-122"/>
            <a:ea typeface="微软雅黑" pitchFamily="34" charset="-122"/>
            <a:cs typeface="Times New Roman" pitchFamily="18" charset="0"/>
          </a:endParaRPr>
        </a:p>
      </dsp:txBody>
      <dsp:txXfrm>
        <a:off x="1807037" y="80373"/>
        <a:ext cx="979005" cy="924272"/>
      </dsp:txXfrm>
    </dsp:sp>
    <dsp:sp modelId="{18AE9004-8FE6-4F5B-8CBF-20FA174B5975}">
      <dsp:nvSpPr>
        <dsp:cNvPr id="0" name=""/>
        <dsp:cNvSpPr/>
      </dsp:nvSpPr>
      <dsp:spPr>
        <a:xfrm rot="21510491">
          <a:off x="3112918" y="1904807"/>
          <a:ext cx="65417" cy="379544"/>
        </a:xfrm>
        <a:prstGeom prst="rightArrow">
          <a:avLst>
            <a:gd name="adj1" fmla="val 60000"/>
            <a:gd name="adj2" fmla="val 50000"/>
          </a:avLst>
        </a:prstGeom>
        <a:solidFill>
          <a:schemeClr val="tx2"/>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b="1" kern="1200">
            <a:solidFill>
              <a:schemeClr val="tx1"/>
            </a:solidFill>
            <a:latin typeface="微软雅黑" pitchFamily="34" charset="-122"/>
            <a:ea typeface="微软雅黑" pitchFamily="34" charset="-122"/>
            <a:cs typeface="Times New Roman" pitchFamily="18" charset="0"/>
          </a:endParaRPr>
        </a:p>
      </dsp:txBody>
      <dsp:txXfrm>
        <a:off x="3112921" y="1980971"/>
        <a:ext cx="45792" cy="227726"/>
      </dsp:txXfrm>
    </dsp:sp>
    <dsp:sp modelId="{06D8C5A0-E7E5-4A3B-84E2-156D853A274C}">
      <dsp:nvSpPr>
        <dsp:cNvPr id="0" name=""/>
        <dsp:cNvSpPr/>
      </dsp:nvSpPr>
      <dsp:spPr>
        <a:xfrm>
          <a:off x="3208943" y="1404413"/>
          <a:ext cx="1345139" cy="1342002"/>
        </a:xfrm>
        <a:prstGeom prst="ellipse">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chemeClr val="tx1"/>
              </a:solidFill>
              <a:latin typeface="微软雅黑" pitchFamily="34" charset="-122"/>
              <a:ea typeface="微软雅黑" pitchFamily="34" charset="-122"/>
              <a:cs typeface="Times New Roman" pitchFamily="18" charset="0"/>
            </a:rPr>
            <a:t>响应速度快</a:t>
          </a:r>
        </a:p>
      </dsp:txBody>
      <dsp:txXfrm>
        <a:off x="3405934" y="1600945"/>
        <a:ext cx="951157" cy="948938"/>
      </dsp:txXfrm>
    </dsp:sp>
    <dsp:sp modelId="{4F567D5A-F649-416C-9F4F-F1666CD6DAED}">
      <dsp:nvSpPr>
        <dsp:cNvPr id="0" name=""/>
        <dsp:cNvSpPr/>
      </dsp:nvSpPr>
      <dsp:spPr>
        <a:xfrm rot="16105502">
          <a:off x="2292178" y="2711637"/>
          <a:ext cx="12959" cy="379544"/>
        </a:xfrm>
        <a:prstGeom prst="rightArrow">
          <a:avLst>
            <a:gd name="adj1" fmla="val 60000"/>
            <a:gd name="adj2" fmla="val 50000"/>
          </a:avLst>
        </a:prstGeom>
        <a:solidFill>
          <a:schemeClr val="tx2"/>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b="1" kern="1200">
            <a:solidFill>
              <a:schemeClr val="tx1"/>
            </a:solidFill>
            <a:latin typeface="微软雅黑" pitchFamily="34" charset="-122"/>
            <a:ea typeface="微软雅黑" pitchFamily="34" charset="-122"/>
            <a:cs typeface="Times New Roman" pitchFamily="18" charset="0"/>
          </a:endParaRPr>
        </a:p>
      </dsp:txBody>
      <dsp:txXfrm rot="10800000">
        <a:off x="2294175" y="2789489"/>
        <a:ext cx="9071" cy="227726"/>
      </dsp:txXfrm>
    </dsp:sp>
    <dsp:sp modelId="{9277782A-FB05-4363-8DE0-0FE55906615C}">
      <dsp:nvSpPr>
        <dsp:cNvPr id="0" name=""/>
        <dsp:cNvSpPr/>
      </dsp:nvSpPr>
      <dsp:spPr>
        <a:xfrm>
          <a:off x="1602866" y="2888511"/>
          <a:ext cx="1432088" cy="1499011"/>
        </a:xfrm>
        <a:prstGeom prst="ellipse">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rgbClr val="0000CC"/>
              </a:solidFill>
              <a:latin typeface="微软雅黑" pitchFamily="34" charset="-122"/>
              <a:ea typeface="微软雅黑" pitchFamily="34" charset="-122"/>
            </a:rPr>
            <a:t>工作电路简单</a:t>
          </a:r>
          <a:endParaRPr lang="zh-CN" altLang="en-US" sz="2000" b="1" kern="1200" dirty="0">
            <a:solidFill>
              <a:schemeClr val="tx1"/>
            </a:solidFill>
            <a:latin typeface="微软雅黑" pitchFamily="34" charset="-122"/>
            <a:ea typeface="微软雅黑" pitchFamily="34" charset="-122"/>
            <a:cs typeface="Times New Roman" pitchFamily="18" charset="0"/>
          </a:endParaRPr>
        </a:p>
      </dsp:txBody>
      <dsp:txXfrm>
        <a:off x="1812590" y="3108036"/>
        <a:ext cx="1012640" cy="1059961"/>
      </dsp:txXfrm>
    </dsp:sp>
    <dsp:sp modelId="{A27BC216-87A0-47A1-981F-4A0CB9139A8A}">
      <dsp:nvSpPr>
        <dsp:cNvPr id="0" name=""/>
        <dsp:cNvSpPr/>
      </dsp:nvSpPr>
      <dsp:spPr>
        <a:xfrm rot="10894429">
          <a:off x="1463434" y="1905119"/>
          <a:ext cx="3537" cy="379544"/>
        </a:xfrm>
        <a:prstGeom prst="rightArrow">
          <a:avLst>
            <a:gd name="adj1" fmla="val 60000"/>
            <a:gd name="adj2" fmla="val 50000"/>
          </a:avLst>
        </a:prstGeom>
        <a:solidFill>
          <a:schemeClr val="tx2"/>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b="1" kern="1200">
            <a:solidFill>
              <a:schemeClr val="tx1"/>
            </a:solidFill>
            <a:latin typeface="微软雅黑" pitchFamily="34" charset="-122"/>
            <a:ea typeface="微软雅黑" pitchFamily="34" charset="-122"/>
            <a:cs typeface="Times New Roman" pitchFamily="18" charset="0"/>
          </a:endParaRPr>
        </a:p>
      </dsp:txBody>
      <dsp:txXfrm rot="10800000">
        <a:off x="1464495" y="1981043"/>
        <a:ext cx="2476" cy="227726"/>
      </dsp:txXfrm>
    </dsp:sp>
    <dsp:sp modelId="{E3DC612F-97DF-4A0B-97A7-EFAC550D3D41}">
      <dsp:nvSpPr>
        <dsp:cNvPr id="0" name=""/>
        <dsp:cNvSpPr/>
      </dsp:nvSpPr>
      <dsp:spPr>
        <a:xfrm>
          <a:off x="50545" y="1416620"/>
          <a:ext cx="1411526" cy="1317589"/>
        </a:xfrm>
        <a:prstGeom prst="ellipse">
          <a:avLst/>
        </a:prstGeom>
        <a:solidFill>
          <a:schemeClr val="accent4">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rgbClr val="0000CC"/>
              </a:solidFill>
              <a:latin typeface="微软雅黑" pitchFamily="34" charset="-122"/>
              <a:ea typeface="微软雅黑" pitchFamily="34" charset="-122"/>
            </a:rPr>
            <a:t>位置与光斑尺寸无关</a:t>
          </a:r>
          <a:endParaRPr lang="zh-CN" altLang="en-US" sz="2000" b="1" kern="1200" dirty="0">
            <a:solidFill>
              <a:srgbClr val="0000CC"/>
            </a:solidFill>
            <a:latin typeface="微软雅黑" pitchFamily="34" charset="-122"/>
            <a:ea typeface="微软雅黑" pitchFamily="34" charset="-122"/>
            <a:cs typeface="Times New Roman" pitchFamily="18" charset="0"/>
          </a:endParaRPr>
        </a:p>
      </dsp:txBody>
      <dsp:txXfrm>
        <a:off x="257258" y="1609576"/>
        <a:ext cx="998100" cy="93167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62DF8B-6B03-41BE-B43E-800A56A5B3F1}">
      <dsp:nvSpPr>
        <dsp:cNvPr id="0" name=""/>
        <dsp:cNvSpPr/>
      </dsp:nvSpPr>
      <dsp:spPr>
        <a:xfrm>
          <a:off x="1499125" y="1410595"/>
          <a:ext cx="1783107" cy="1755303"/>
        </a:xfrm>
        <a:prstGeom prst="ellipse">
          <a:avLst/>
        </a:prstGeom>
        <a:solidFill>
          <a:srgbClr val="FF99F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zh-CN" altLang="en-US" sz="2400" b="1" kern="1200" dirty="0">
              <a:solidFill>
                <a:srgbClr val="FF0000"/>
              </a:solidFill>
              <a:latin typeface="微软雅黑" pitchFamily="34" charset="-122"/>
              <a:ea typeface="微软雅黑" pitchFamily="34" charset="-122"/>
              <a:cs typeface="Times New Roman" pitchFamily="18" charset="0"/>
            </a:rPr>
            <a:t>应用</a:t>
          </a:r>
        </a:p>
      </dsp:txBody>
      <dsp:txXfrm>
        <a:off x="1760255" y="1667653"/>
        <a:ext cx="1260847" cy="1241187"/>
      </dsp:txXfrm>
    </dsp:sp>
    <dsp:sp modelId="{504D47E8-5648-46B9-9373-7181EC5380C9}">
      <dsp:nvSpPr>
        <dsp:cNvPr id="0" name=""/>
        <dsp:cNvSpPr/>
      </dsp:nvSpPr>
      <dsp:spPr>
        <a:xfrm rot="16159867">
          <a:off x="2355103" y="1156122"/>
          <a:ext cx="49600" cy="418289"/>
        </a:xfrm>
        <a:prstGeom prst="rightArrow">
          <a:avLst>
            <a:gd name="adj1" fmla="val 60000"/>
            <a:gd name="adj2" fmla="val 50000"/>
          </a:avLst>
        </a:prstGeom>
        <a:solidFill>
          <a:schemeClr val="tx2"/>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b="1" kern="1200">
            <a:solidFill>
              <a:schemeClr val="tx1"/>
            </a:solidFill>
            <a:latin typeface="微软雅黑" pitchFamily="34" charset="-122"/>
            <a:ea typeface="微软雅黑" pitchFamily="34" charset="-122"/>
            <a:cs typeface="Times New Roman" pitchFamily="18" charset="0"/>
          </a:endParaRPr>
        </a:p>
      </dsp:txBody>
      <dsp:txXfrm rot="10800000">
        <a:off x="2362630" y="1247219"/>
        <a:ext cx="34720" cy="250973"/>
      </dsp:txXfrm>
    </dsp:sp>
    <dsp:sp modelId="{437BBCD7-3628-4CC9-8B89-F493762A0A9F}">
      <dsp:nvSpPr>
        <dsp:cNvPr id="0" name=""/>
        <dsp:cNvSpPr/>
      </dsp:nvSpPr>
      <dsp:spPr>
        <a:xfrm>
          <a:off x="1608002" y="-123434"/>
          <a:ext cx="1525859" cy="1440552"/>
        </a:xfrm>
        <a:prstGeom prst="ellipse">
          <a:avLst/>
        </a:prstGeom>
        <a:solidFill>
          <a:srgbClr val="FFFF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rgbClr val="0000CC"/>
              </a:solidFill>
              <a:latin typeface="微软雅黑" pitchFamily="34" charset="-122"/>
              <a:ea typeface="微软雅黑" pitchFamily="34" charset="-122"/>
            </a:rPr>
            <a:t>非接触测量</a:t>
          </a:r>
          <a:endParaRPr lang="zh-CN" altLang="en-US" sz="2000" b="1" kern="1200" dirty="0">
            <a:solidFill>
              <a:srgbClr val="0000CC"/>
            </a:solidFill>
            <a:latin typeface="微软雅黑" pitchFamily="34" charset="-122"/>
            <a:ea typeface="微软雅黑" pitchFamily="34" charset="-122"/>
            <a:cs typeface="Times New Roman" pitchFamily="18" charset="0"/>
          </a:endParaRPr>
        </a:p>
      </dsp:txBody>
      <dsp:txXfrm>
        <a:off x="1831459" y="87530"/>
        <a:ext cx="1078945" cy="1018624"/>
      </dsp:txXfrm>
    </dsp:sp>
    <dsp:sp modelId="{18AE9004-8FE6-4F5B-8CBF-20FA174B5975}">
      <dsp:nvSpPr>
        <dsp:cNvPr id="0" name=""/>
        <dsp:cNvSpPr/>
      </dsp:nvSpPr>
      <dsp:spPr>
        <a:xfrm rot="20520000">
          <a:off x="3255529" y="1790100"/>
          <a:ext cx="49208" cy="418289"/>
        </a:xfrm>
        <a:prstGeom prst="rightArrow">
          <a:avLst>
            <a:gd name="adj1" fmla="val 60000"/>
            <a:gd name="adj2" fmla="val 50000"/>
          </a:avLst>
        </a:prstGeom>
        <a:solidFill>
          <a:schemeClr val="tx2"/>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b="1" kern="1200">
            <a:solidFill>
              <a:schemeClr val="tx1"/>
            </a:solidFill>
            <a:latin typeface="微软雅黑" pitchFamily="34" charset="-122"/>
            <a:ea typeface="微软雅黑" pitchFamily="34" charset="-122"/>
            <a:cs typeface="Times New Roman" pitchFamily="18" charset="0"/>
          </a:endParaRPr>
        </a:p>
      </dsp:txBody>
      <dsp:txXfrm>
        <a:off x="3255890" y="1876039"/>
        <a:ext cx="34446" cy="250973"/>
      </dsp:txXfrm>
    </dsp:sp>
    <dsp:sp modelId="{06D8C5A0-E7E5-4A3B-84E2-156D853A274C}">
      <dsp:nvSpPr>
        <dsp:cNvPr id="0" name=""/>
        <dsp:cNvSpPr/>
      </dsp:nvSpPr>
      <dsp:spPr>
        <a:xfrm>
          <a:off x="3289173" y="1015969"/>
          <a:ext cx="1482455" cy="1478998"/>
        </a:xfrm>
        <a:prstGeom prst="ellipse">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rgbClr val="FF0066"/>
              </a:solidFill>
              <a:latin typeface="微软雅黑" pitchFamily="34" charset="-122"/>
              <a:ea typeface="微软雅黑" pitchFamily="34" charset="-122"/>
            </a:rPr>
            <a:t>激光束准直</a:t>
          </a:r>
          <a:endParaRPr lang="zh-CN" altLang="en-US" sz="2000" b="1" kern="1200" dirty="0">
            <a:solidFill>
              <a:schemeClr val="tx1"/>
            </a:solidFill>
            <a:latin typeface="微软雅黑" pitchFamily="34" charset="-122"/>
            <a:ea typeface="微软雅黑" pitchFamily="34" charset="-122"/>
            <a:cs typeface="Times New Roman" pitchFamily="18" charset="0"/>
          </a:endParaRPr>
        </a:p>
      </dsp:txBody>
      <dsp:txXfrm>
        <a:off x="3506274" y="1232563"/>
        <a:ext cx="1048253" cy="1045810"/>
      </dsp:txXfrm>
    </dsp:sp>
    <dsp:sp modelId="{4F567D5A-F649-416C-9F4F-F1666CD6DAED}">
      <dsp:nvSpPr>
        <dsp:cNvPr id="0" name=""/>
        <dsp:cNvSpPr/>
      </dsp:nvSpPr>
      <dsp:spPr>
        <a:xfrm rot="3240000">
          <a:off x="2909511" y="2796533"/>
          <a:ext cx="4822" cy="418289"/>
        </a:xfrm>
        <a:prstGeom prst="rightArrow">
          <a:avLst>
            <a:gd name="adj1" fmla="val 60000"/>
            <a:gd name="adj2" fmla="val 50000"/>
          </a:avLst>
        </a:prstGeom>
        <a:solidFill>
          <a:schemeClr val="tx2"/>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b="1" kern="1200">
            <a:solidFill>
              <a:schemeClr val="tx1"/>
            </a:solidFill>
            <a:latin typeface="微软雅黑" pitchFamily="34" charset="-122"/>
            <a:ea typeface="微软雅黑" pitchFamily="34" charset="-122"/>
            <a:cs typeface="Times New Roman" pitchFamily="18" charset="0"/>
          </a:endParaRPr>
        </a:p>
      </dsp:txBody>
      <dsp:txXfrm>
        <a:off x="2909809" y="2879606"/>
        <a:ext cx="3375" cy="250973"/>
      </dsp:txXfrm>
    </dsp:sp>
    <dsp:sp modelId="{9277782A-FB05-4363-8DE0-0FE55906615C}">
      <dsp:nvSpPr>
        <dsp:cNvPr id="0" name=""/>
        <dsp:cNvSpPr/>
      </dsp:nvSpPr>
      <dsp:spPr>
        <a:xfrm>
          <a:off x="2558491" y="2857060"/>
          <a:ext cx="1691182" cy="1652035"/>
        </a:xfrm>
        <a:prstGeom prst="ellipse">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rgbClr val="0000CC"/>
              </a:solidFill>
              <a:latin typeface="微软雅黑" pitchFamily="34" charset="-122"/>
              <a:ea typeface="微软雅黑" pitchFamily="34" charset="-122"/>
            </a:rPr>
            <a:t>光学追迹</a:t>
          </a:r>
          <a:endParaRPr lang="zh-CN" altLang="en-US" sz="2000" b="1" kern="1200" dirty="0">
            <a:solidFill>
              <a:srgbClr val="0000CC"/>
            </a:solidFill>
            <a:latin typeface="微软雅黑" pitchFamily="34" charset="-122"/>
            <a:ea typeface="微软雅黑" pitchFamily="34" charset="-122"/>
            <a:cs typeface="Times New Roman" pitchFamily="18" charset="0"/>
          </a:endParaRPr>
        </a:p>
      </dsp:txBody>
      <dsp:txXfrm>
        <a:off x="2806159" y="3098995"/>
        <a:ext cx="1195846" cy="1168165"/>
      </dsp:txXfrm>
    </dsp:sp>
    <dsp:sp modelId="{A27BC216-87A0-47A1-981F-4A0CB9139A8A}">
      <dsp:nvSpPr>
        <dsp:cNvPr id="0" name=""/>
        <dsp:cNvSpPr/>
      </dsp:nvSpPr>
      <dsp:spPr>
        <a:xfrm rot="7560000">
          <a:off x="1817580" y="2831801"/>
          <a:ext cx="52460" cy="418289"/>
        </a:xfrm>
        <a:prstGeom prst="rightArrow">
          <a:avLst>
            <a:gd name="adj1" fmla="val 60000"/>
            <a:gd name="adj2" fmla="val 50000"/>
          </a:avLst>
        </a:prstGeom>
        <a:solidFill>
          <a:schemeClr val="tx2"/>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b="1" kern="1200">
            <a:solidFill>
              <a:schemeClr val="tx1"/>
            </a:solidFill>
            <a:latin typeface="微软雅黑" pitchFamily="34" charset="-122"/>
            <a:ea typeface="微软雅黑" pitchFamily="34" charset="-122"/>
            <a:cs typeface="Times New Roman" pitchFamily="18" charset="0"/>
          </a:endParaRPr>
        </a:p>
      </dsp:txBody>
      <dsp:txXfrm rot="10800000">
        <a:off x="1830074" y="2909093"/>
        <a:ext cx="36722" cy="250973"/>
      </dsp:txXfrm>
    </dsp:sp>
    <dsp:sp modelId="{E3DC612F-97DF-4A0B-97A7-EFAC550D3D41}">
      <dsp:nvSpPr>
        <dsp:cNvPr id="0" name=""/>
        <dsp:cNvSpPr/>
      </dsp:nvSpPr>
      <dsp:spPr>
        <a:xfrm>
          <a:off x="599465" y="2957031"/>
          <a:ext cx="1555619" cy="1452092"/>
        </a:xfrm>
        <a:prstGeom prst="ellipse">
          <a:avLst/>
        </a:prstGeom>
        <a:solidFill>
          <a:schemeClr val="accent4">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chemeClr val="tx1"/>
              </a:solidFill>
              <a:latin typeface="微软雅黑" pitchFamily="34" charset="-122"/>
              <a:ea typeface="微软雅黑" pitchFamily="34" charset="-122"/>
              <a:cs typeface="Times New Roman" pitchFamily="18" charset="0"/>
            </a:rPr>
            <a:t>生物医疗</a:t>
          </a:r>
        </a:p>
      </dsp:txBody>
      <dsp:txXfrm>
        <a:off x="827280" y="3169685"/>
        <a:ext cx="1099989" cy="1026784"/>
      </dsp:txXfrm>
    </dsp:sp>
    <dsp:sp modelId="{A3070811-D8DA-409E-818E-79E3E82F4E6E}">
      <dsp:nvSpPr>
        <dsp:cNvPr id="0" name=""/>
        <dsp:cNvSpPr/>
      </dsp:nvSpPr>
      <dsp:spPr>
        <a:xfrm rot="11880000">
          <a:off x="1509085" y="1796800"/>
          <a:ext cx="25515" cy="418289"/>
        </a:xfrm>
        <a:prstGeom prst="rightArrow">
          <a:avLst>
            <a:gd name="adj1" fmla="val 60000"/>
            <a:gd name="adj2" fmla="val 50000"/>
          </a:avLst>
        </a:prstGeom>
        <a:solidFill>
          <a:schemeClr val="tx2"/>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b="1" kern="1200">
            <a:solidFill>
              <a:schemeClr val="tx1"/>
            </a:solidFill>
            <a:latin typeface="微软雅黑" pitchFamily="34" charset="-122"/>
            <a:ea typeface="微软雅黑" pitchFamily="34" charset="-122"/>
            <a:cs typeface="Times New Roman" pitchFamily="18" charset="0"/>
          </a:endParaRPr>
        </a:p>
      </dsp:txBody>
      <dsp:txXfrm rot="10800000">
        <a:off x="1516552" y="1881641"/>
        <a:ext cx="17861" cy="250973"/>
      </dsp:txXfrm>
    </dsp:sp>
    <dsp:sp modelId="{A33B6F7C-77D6-414E-AF80-560A30F5FD63}">
      <dsp:nvSpPr>
        <dsp:cNvPr id="0" name=""/>
        <dsp:cNvSpPr/>
      </dsp:nvSpPr>
      <dsp:spPr>
        <a:xfrm>
          <a:off x="-35575" y="976859"/>
          <a:ext cx="1573064" cy="1557218"/>
        </a:xfrm>
        <a:prstGeom prst="ellipse">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rgbClr val="0000CC"/>
              </a:solidFill>
              <a:latin typeface="微软雅黑" pitchFamily="34" charset="-122"/>
              <a:ea typeface="微软雅黑" pitchFamily="34" charset="-122"/>
              <a:cs typeface="Times New Roman" pitchFamily="18" charset="0"/>
            </a:rPr>
            <a:t>位置信息系统</a:t>
          </a:r>
        </a:p>
      </dsp:txBody>
      <dsp:txXfrm>
        <a:off x="194795" y="1204908"/>
        <a:ext cx="1112324" cy="1101120"/>
      </dsp:txXfrm>
    </dsp:sp>
  </dsp:spTree>
</dsp:drawing>
</file>

<file path=ppt/diagrams/layout1.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image" Target="../media/image4.emf"/><Relationship Id="rId5" Type="http://schemas.openxmlformats.org/officeDocument/2006/relationships/image" Target="../media/image8.wmf"/><Relationship Id="rId4"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emf"/><Relationship Id="rId6" Type="http://schemas.openxmlformats.org/officeDocument/2006/relationships/image" Target="../media/image8.wmf"/><Relationship Id="rId5" Type="http://schemas.openxmlformats.org/officeDocument/2006/relationships/image" Target="../media/image7.wmf"/><Relationship Id="rId4"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emf"/><Relationship Id="rId1"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3.wmf"/><Relationship Id="rId1" Type="http://schemas.openxmlformats.org/officeDocument/2006/relationships/image" Target="../media/image16.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17.e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3.wmf"/><Relationship Id="rId1" Type="http://schemas.openxmlformats.org/officeDocument/2006/relationships/image" Target="../media/image18.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image" Target="../media/image23.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5.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714699" y="1262658"/>
            <a:ext cx="10288191" cy="2686050"/>
          </a:xfrm>
        </p:spPr>
        <p:txBody>
          <a:bodyPr anchor="b"/>
          <a:lstStyle>
            <a:lvl1pPr algn="ctr">
              <a:defRPr sz="6800"/>
            </a:lvl1pPr>
          </a:lstStyle>
          <a:p>
            <a:r>
              <a:rPr lang="zh-CN" altLang="en-US"/>
              <a:t>单击此处编辑母版标题样式</a:t>
            </a:r>
          </a:p>
        </p:txBody>
      </p:sp>
      <p:sp>
        <p:nvSpPr>
          <p:cNvPr id="3" name="副标题 2"/>
          <p:cNvSpPr>
            <a:spLocks noGrp="1"/>
          </p:cNvSpPr>
          <p:nvPr>
            <p:ph type="subTitle" idx="1"/>
          </p:nvPr>
        </p:nvSpPr>
        <p:spPr>
          <a:xfrm>
            <a:off x="1714699" y="4052293"/>
            <a:ext cx="10288191" cy="1862732"/>
          </a:xfrm>
        </p:spPr>
        <p:txBody>
          <a:bodyPr/>
          <a:lstStyle>
            <a:lvl1pPr marL="0" indent="0" algn="ctr">
              <a:buNone/>
              <a:defRPr sz="2700"/>
            </a:lvl1pPr>
            <a:lvl2pPr marL="514350" indent="0" algn="ctr">
              <a:buNone/>
              <a:defRPr sz="2300"/>
            </a:lvl2pPr>
            <a:lvl3pPr marL="1028700" indent="0" algn="ctr">
              <a:buNone/>
              <a:defRPr sz="2000"/>
            </a:lvl3pPr>
            <a:lvl4pPr marL="1543050" indent="0" algn="ctr">
              <a:buNone/>
              <a:defRPr sz="1800"/>
            </a:lvl4pPr>
            <a:lvl5pPr marL="2057400" indent="0" algn="ctr">
              <a:buNone/>
              <a:defRPr sz="1800"/>
            </a:lvl5pPr>
            <a:lvl6pPr marL="2571750" indent="0" algn="ctr">
              <a:buNone/>
              <a:defRPr sz="1800"/>
            </a:lvl6pPr>
            <a:lvl7pPr marL="3086100" indent="0" algn="ctr">
              <a:buNone/>
              <a:defRPr sz="1800"/>
            </a:lvl7pPr>
            <a:lvl8pPr marL="3600450" indent="0" algn="ctr">
              <a:buNone/>
              <a:defRPr sz="1800"/>
            </a:lvl8pPr>
            <a:lvl9pPr marL="4114800" indent="0" algn="ctr">
              <a:buNone/>
              <a:defRPr sz="18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541E8A86-479E-4030-A0CC-E1EA0DE8950C}" type="datetimeFigureOut">
              <a:rPr lang="zh-CN" altLang="en-US"/>
              <a:pPr>
                <a:defRPr/>
              </a:pPr>
              <a:t>2022/5/2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69C5FD85-CA04-457A-8D75-DB9AC19E3FC9}" type="slidenum">
              <a:rPr lang="zh-CN" altLang="en-US"/>
              <a:pPr>
                <a:defRPr/>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6E9A90BE-D3C5-46B8-B156-5F707934EDC3}" type="datetimeFigureOut">
              <a:rPr lang="zh-CN" altLang="en-US"/>
              <a:pPr>
                <a:defRPr/>
              </a:pPr>
              <a:t>2022/5/2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E7A6D729-0350-4F97-9EB5-63A95957CBA3}" type="slidenum">
              <a:rPr lang="zh-CN" altLang="en-US"/>
              <a:pPr>
                <a:defRPr/>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35939" y="1923456"/>
            <a:ext cx="11831420" cy="3209329"/>
          </a:xfrm>
        </p:spPr>
        <p:txBody>
          <a:bodyPr anchor="b"/>
          <a:lstStyle>
            <a:lvl1pPr>
              <a:defRPr sz="6800"/>
            </a:lvl1pPr>
          </a:lstStyle>
          <a:p>
            <a:r>
              <a:rPr lang="zh-CN" altLang="en-US"/>
              <a:t>单击此处编辑母版标题样式</a:t>
            </a:r>
          </a:p>
        </p:txBody>
      </p:sp>
      <p:sp>
        <p:nvSpPr>
          <p:cNvPr id="3" name="文本占位符 2"/>
          <p:cNvSpPr>
            <a:spLocks noGrp="1"/>
          </p:cNvSpPr>
          <p:nvPr>
            <p:ph type="body" idx="1"/>
          </p:nvPr>
        </p:nvSpPr>
        <p:spPr>
          <a:xfrm>
            <a:off x="935939" y="5163147"/>
            <a:ext cx="11831420" cy="1687710"/>
          </a:xfrm>
        </p:spPr>
        <p:txBody>
          <a:bodyPr/>
          <a:lstStyle>
            <a:lvl1pPr marL="0" indent="0">
              <a:buNone/>
              <a:defRPr sz="2700">
                <a:solidFill>
                  <a:schemeClr val="tx1">
                    <a:tint val="75000"/>
                  </a:schemeClr>
                </a:solidFill>
              </a:defRPr>
            </a:lvl1pPr>
            <a:lvl2pPr marL="514350" indent="0">
              <a:buNone/>
              <a:defRPr sz="2300">
                <a:solidFill>
                  <a:schemeClr val="tx1">
                    <a:tint val="75000"/>
                  </a:schemeClr>
                </a:solidFill>
              </a:defRPr>
            </a:lvl2pPr>
            <a:lvl3pPr marL="1028700" indent="0">
              <a:buNone/>
              <a:defRPr sz="2000">
                <a:solidFill>
                  <a:schemeClr val="tx1">
                    <a:tint val="75000"/>
                  </a:schemeClr>
                </a:solidFill>
              </a:defRPr>
            </a:lvl3pPr>
            <a:lvl4pPr marL="1543050" indent="0">
              <a:buNone/>
              <a:defRPr sz="1800">
                <a:solidFill>
                  <a:schemeClr val="tx1">
                    <a:tint val="75000"/>
                  </a:schemeClr>
                </a:solidFill>
              </a:defRPr>
            </a:lvl4pPr>
            <a:lvl5pPr marL="2057400" indent="0">
              <a:buNone/>
              <a:defRPr sz="1800">
                <a:solidFill>
                  <a:schemeClr val="tx1">
                    <a:tint val="75000"/>
                  </a:schemeClr>
                </a:solidFill>
              </a:defRPr>
            </a:lvl5pPr>
            <a:lvl6pPr marL="2571750" indent="0">
              <a:buNone/>
              <a:defRPr sz="1800">
                <a:solidFill>
                  <a:schemeClr val="tx1">
                    <a:tint val="75000"/>
                  </a:schemeClr>
                </a:solidFill>
              </a:defRPr>
            </a:lvl6pPr>
            <a:lvl7pPr marL="3086100" indent="0">
              <a:buNone/>
              <a:defRPr sz="1800">
                <a:solidFill>
                  <a:schemeClr val="tx1">
                    <a:tint val="75000"/>
                  </a:schemeClr>
                </a:solidFill>
              </a:defRPr>
            </a:lvl7pPr>
            <a:lvl8pPr marL="3600450" indent="0">
              <a:buNone/>
              <a:defRPr sz="1800">
                <a:solidFill>
                  <a:schemeClr val="tx1">
                    <a:tint val="75000"/>
                  </a:schemeClr>
                </a:solidFill>
              </a:defRPr>
            </a:lvl8pPr>
            <a:lvl9pPr marL="4114800" indent="0">
              <a:buNone/>
              <a:defRPr sz="18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43E80C14-5AAC-4C37-963D-0479EFB63A61}" type="datetimeFigureOut">
              <a:rPr lang="zh-CN" altLang="en-US"/>
              <a:pPr>
                <a:defRPr/>
              </a:pPr>
              <a:t>2022/5/2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7991F351-5392-4178-BB88-63F4CA0CF730}" type="slidenum">
              <a:rPr lang="zh-CN" altLang="en-US"/>
              <a:pPr>
                <a:defRPr/>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43084" y="2053828"/>
            <a:ext cx="5829975" cy="489525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944529" y="2053828"/>
            <a:ext cx="5829975" cy="489525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DB7A5703-0D82-471C-BFBB-276330455C4D}" type="datetimeFigureOut">
              <a:rPr lang="zh-CN" altLang="en-US"/>
              <a:pPr>
                <a:defRPr/>
              </a:pPr>
              <a:t>2022/5/2</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F4BAD06D-1AA0-4A51-8BA7-94D6B72E0AE8}" type="slidenum">
              <a:rPr lang="zh-CN" altLang="en-US"/>
              <a:pPr>
                <a:defRPr/>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944871" y="410766"/>
            <a:ext cx="11831420" cy="1491258"/>
          </a:xfrm>
        </p:spPr>
        <p:txBody>
          <a:bodyPr/>
          <a:lstStyle/>
          <a:p>
            <a:r>
              <a:rPr lang="zh-CN" altLang="en-US"/>
              <a:t>单击此处编辑母版标题样式</a:t>
            </a:r>
          </a:p>
        </p:txBody>
      </p:sp>
      <p:sp>
        <p:nvSpPr>
          <p:cNvPr id="3" name="文本占位符 2"/>
          <p:cNvSpPr>
            <a:spLocks noGrp="1"/>
          </p:cNvSpPr>
          <p:nvPr>
            <p:ph type="body" idx="1"/>
          </p:nvPr>
        </p:nvSpPr>
        <p:spPr>
          <a:xfrm>
            <a:off x="944872" y="1891308"/>
            <a:ext cx="5803182" cy="926901"/>
          </a:xfrm>
        </p:spPr>
        <p:txBody>
          <a:bodyPr anchor="b"/>
          <a:lstStyle>
            <a:lvl1pPr marL="0" indent="0">
              <a:buNone/>
              <a:defRPr sz="2700" b="1"/>
            </a:lvl1pPr>
            <a:lvl2pPr marL="514350" indent="0">
              <a:buNone/>
              <a:defRPr sz="2300" b="1"/>
            </a:lvl2pPr>
            <a:lvl3pPr marL="1028700" indent="0">
              <a:buNone/>
              <a:defRPr sz="2000"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zh-CN" altLang="en-US"/>
              <a:t>单击此处编辑母版文本样式</a:t>
            </a:r>
          </a:p>
        </p:txBody>
      </p:sp>
      <p:sp>
        <p:nvSpPr>
          <p:cNvPr id="4" name="内容占位符 3"/>
          <p:cNvSpPr>
            <a:spLocks noGrp="1"/>
          </p:cNvSpPr>
          <p:nvPr>
            <p:ph sz="half" idx="2"/>
          </p:nvPr>
        </p:nvSpPr>
        <p:spPr>
          <a:xfrm>
            <a:off x="944872" y="2818209"/>
            <a:ext cx="5803182" cy="4145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944529" y="1891308"/>
            <a:ext cx="5831762" cy="926901"/>
          </a:xfrm>
        </p:spPr>
        <p:txBody>
          <a:bodyPr anchor="b"/>
          <a:lstStyle>
            <a:lvl1pPr marL="0" indent="0">
              <a:buNone/>
              <a:defRPr sz="2700" b="1"/>
            </a:lvl1pPr>
            <a:lvl2pPr marL="514350" indent="0">
              <a:buNone/>
              <a:defRPr sz="2300" b="1"/>
            </a:lvl2pPr>
            <a:lvl3pPr marL="1028700" indent="0">
              <a:buNone/>
              <a:defRPr sz="2000"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zh-CN" altLang="en-US"/>
              <a:t>单击此处编辑母版文本样式</a:t>
            </a:r>
          </a:p>
        </p:txBody>
      </p:sp>
      <p:sp>
        <p:nvSpPr>
          <p:cNvPr id="6" name="内容占位符 5"/>
          <p:cNvSpPr>
            <a:spLocks noGrp="1"/>
          </p:cNvSpPr>
          <p:nvPr>
            <p:ph sz="quarter" idx="4"/>
          </p:nvPr>
        </p:nvSpPr>
        <p:spPr>
          <a:xfrm>
            <a:off x="6944529" y="2818209"/>
            <a:ext cx="5831762" cy="4145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B8C0195F-8FEF-4889-BEC7-6EFCD2B0D899}" type="datetimeFigureOut">
              <a:rPr lang="zh-CN" altLang="en-US"/>
              <a:pPr>
                <a:defRPr/>
              </a:pPr>
              <a:t>2022/5/2</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BC9912A8-4364-4215-9F25-58FD692F778C}" type="slidenum">
              <a:rPr lang="zh-CN" altLang="en-US"/>
              <a:pPr>
                <a:defRPr/>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41A802F2-BAF1-443F-A0A8-F98AEC26163B}" type="datetimeFigureOut">
              <a:rPr lang="zh-CN" altLang="en-US"/>
              <a:pPr>
                <a:defRPr/>
              </a:pPr>
              <a:t>2022/5/2</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24C0147C-FD0A-4FFC-BB91-203016FD5DBC}" type="slidenum">
              <a:rPr lang="zh-CN" altLang="en-US"/>
              <a:pPr>
                <a:defRPr/>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1C284823-9E80-4957-8635-CE7834CA2B5C}" type="datetimeFigureOut">
              <a:rPr lang="zh-CN" altLang="en-US"/>
              <a:pPr>
                <a:defRPr/>
              </a:pPr>
              <a:t>2022/5/2</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21FA9B26-9EED-4510-98EC-7884BA556257}" type="slidenum">
              <a:rPr lang="zh-CN" altLang="en-US"/>
              <a:pPr>
                <a:defRPr/>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944871" y="514350"/>
            <a:ext cx="4424279" cy="1800225"/>
          </a:xfrm>
        </p:spPr>
        <p:txBody>
          <a:bodyPr anchor="b"/>
          <a:lstStyle>
            <a:lvl1pPr>
              <a:defRPr sz="3600"/>
            </a:lvl1pPr>
          </a:lstStyle>
          <a:p>
            <a:r>
              <a:rPr lang="zh-CN" altLang="en-US"/>
              <a:t>单击此处编辑母版标题样式</a:t>
            </a:r>
          </a:p>
        </p:txBody>
      </p:sp>
      <p:sp>
        <p:nvSpPr>
          <p:cNvPr id="3" name="内容占位符 2"/>
          <p:cNvSpPr>
            <a:spLocks noGrp="1"/>
          </p:cNvSpPr>
          <p:nvPr>
            <p:ph idx="1"/>
          </p:nvPr>
        </p:nvSpPr>
        <p:spPr>
          <a:xfrm>
            <a:off x="5831762" y="1110854"/>
            <a:ext cx="6944529" cy="5482828"/>
          </a:xfrm>
        </p:spPr>
        <p:txBody>
          <a:bodyPr/>
          <a:lstStyle>
            <a:lvl1pPr>
              <a:defRPr sz="3600"/>
            </a:lvl1pPr>
            <a:lvl2pPr>
              <a:defRPr sz="3200"/>
            </a:lvl2pPr>
            <a:lvl3pPr>
              <a:defRPr sz="2700"/>
            </a:lvl3pPr>
            <a:lvl4pPr>
              <a:defRPr sz="2300"/>
            </a:lvl4pPr>
            <a:lvl5pPr>
              <a:defRPr sz="2300"/>
            </a:lvl5pPr>
            <a:lvl6pPr>
              <a:defRPr sz="2300"/>
            </a:lvl6pPr>
            <a:lvl7pPr>
              <a:defRPr sz="2300"/>
            </a:lvl7pPr>
            <a:lvl8pPr>
              <a:defRPr sz="2300"/>
            </a:lvl8pPr>
            <a:lvl9pPr>
              <a:defRPr sz="23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944871" y="2314575"/>
            <a:ext cx="4424279" cy="4288037"/>
          </a:xfrm>
        </p:spPr>
        <p:txBody>
          <a:bodyPr/>
          <a:lstStyle>
            <a:lvl1pPr marL="0" indent="0">
              <a:buNone/>
              <a:defRPr sz="1800"/>
            </a:lvl1pPr>
            <a:lvl2pPr marL="514350" indent="0">
              <a:buNone/>
              <a:defRPr sz="1600"/>
            </a:lvl2pPr>
            <a:lvl3pPr marL="1028700" indent="0">
              <a:buNone/>
              <a:defRPr sz="1400"/>
            </a:lvl3pPr>
            <a:lvl4pPr marL="1543050" indent="0">
              <a:buNone/>
              <a:defRPr sz="1100"/>
            </a:lvl4pPr>
            <a:lvl5pPr marL="2057400" indent="0">
              <a:buNone/>
              <a:defRPr sz="1100"/>
            </a:lvl5pPr>
            <a:lvl6pPr marL="2571750" indent="0">
              <a:buNone/>
              <a:defRPr sz="1100"/>
            </a:lvl6pPr>
            <a:lvl7pPr marL="3086100" indent="0">
              <a:buNone/>
              <a:defRPr sz="1100"/>
            </a:lvl7pPr>
            <a:lvl8pPr marL="3600450" indent="0">
              <a:buNone/>
              <a:defRPr sz="1100"/>
            </a:lvl8pPr>
            <a:lvl9pPr marL="4114800" indent="0">
              <a:buNone/>
              <a:defRPr sz="11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F36E6BE7-3FA8-48D0-9453-E00D7E440085}" type="datetimeFigureOut">
              <a:rPr lang="zh-CN" altLang="en-US"/>
              <a:pPr>
                <a:defRPr/>
              </a:pPr>
              <a:t>2022/5/2</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1DC6AC3D-2EDE-4E79-9AA0-F5CA03A47E77}" type="slidenum">
              <a:rPr lang="zh-CN" altLang="en-US"/>
              <a:pPr>
                <a:defRPr/>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944871" y="514350"/>
            <a:ext cx="4424279" cy="1800225"/>
          </a:xfrm>
        </p:spPr>
        <p:txBody>
          <a:bodyPr anchor="b"/>
          <a:lstStyle>
            <a:lvl1pPr>
              <a:defRPr sz="3600"/>
            </a:lvl1pPr>
          </a:lstStyle>
          <a:p>
            <a:r>
              <a:rPr lang="zh-CN" altLang="en-US"/>
              <a:t>单击此处编辑母版标题样式</a:t>
            </a:r>
          </a:p>
        </p:txBody>
      </p:sp>
      <p:sp>
        <p:nvSpPr>
          <p:cNvPr id="3" name="图片占位符 2"/>
          <p:cNvSpPr>
            <a:spLocks noGrp="1"/>
          </p:cNvSpPr>
          <p:nvPr>
            <p:ph type="pic" idx="1"/>
          </p:nvPr>
        </p:nvSpPr>
        <p:spPr>
          <a:xfrm>
            <a:off x="5831762" y="1110854"/>
            <a:ext cx="6944529" cy="5482828"/>
          </a:xfrm>
        </p:spPr>
        <p:txBody>
          <a:bodyPr rtlCol="0">
            <a:normAutofit/>
          </a:bodyPr>
          <a:lstStyle>
            <a:lvl1pPr marL="0" indent="0">
              <a:buNone/>
              <a:defRPr sz="3600"/>
            </a:lvl1pPr>
            <a:lvl2pPr marL="514350" indent="0">
              <a:buNone/>
              <a:defRPr sz="3200"/>
            </a:lvl2pPr>
            <a:lvl3pPr marL="1028700" indent="0">
              <a:buNone/>
              <a:defRPr sz="2700"/>
            </a:lvl3pPr>
            <a:lvl4pPr marL="1543050" indent="0">
              <a:buNone/>
              <a:defRPr sz="2300"/>
            </a:lvl4pPr>
            <a:lvl5pPr marL="2057400" indent="0">
              <a:buNone/>
              <a:defRPr sz="2300"/>
            </a:lvl5pPr>
            <a:lvl6pPr marL="2571750" indent="0">
              <a:buNone/>
              <a:defRPr sz="2300"/>
            </a:lvl6pPr>
            <a:lvl7pPr marL="3086100" indent="0">
              <a:buNone/>
              <a:defRPr sz="2300"/>
            </a:lvl7pPr>
            <a:lvl8pPr marL="3600450" indent="0">
              <a:buNone/>
              <a:defRPr sz="2300"/>
            </a:lvl8pPr>
            <a:lvl9pPr marL="4114800" indent="0">
              <a:buNone/>
              <a:defRPr sz="2300"/>
            </a:lvl9pPr>
          </a:lstStyle>
          <a:p>
            <a:pPr lvl="0"/>
            <a:r>
              <a:rPr lang="zh-CN" altLang="en-US" noProof="0"/>
              <a:t>单击图标添加图片</a:t>
            </a:r>
          </a:p>
        </p:txBody>
      </p:sp>
      <p:sp>
        <p:nvSpPr>
          <p:cNvPr id="4" name="文本占位符 3"/>
          <p:cNvSpPr>
            <a:spLocks noGrp="1"/>
          </p:cNvSpPr>
          <p:nvPr>
            <p:ph type="body" sz="half" idx="2"/>
          </p:nvPr>
        </p:nvSpPr>
        <p:spPr>
          <a:xfrm>
            <a:off x="944871" y="2314575"/>
            <a:ext cx="4424279" cy="4288037"/>
          </a:xfrm>
        </p:spPr>
        <p:txBody>
          <a:bodyPr/>
          <a:lstStyle>
            <a:lvl1pPr marL="0" indent="0">
              <a:buNone/>
              <a:defRPr sz="1800"/>
            </a:lvl1pPr>
            <a:lvl2pPr marL="514350" indent="0">
              <a:buNone/>
              <a:defRPr sz="1600"/>
            </a:lvl2pPr>
            <a:lvl3pPr marL="1028700" indent="0">
              <a:buNone/>
              <a:defRPr sz="1400"/>
            </a:lvl3pPr>
            <a:lvl4pPr marL="1543050" indent="0">
              <a:buNone/>
              <a:defRPr sz="1100"/>
            </a:lvl4pPr>
            <a:lvl5pPr marL="2057400" indent="0">
              <a:buNone/>
              <a:defRPr sz="1100"/>
            </a:lvl5pPr>
            <a:lvl6pPr marL="2571750" indent="0">
              <a:buNone/>
              <a:defRPr sz="1100"/>
            </a:lvl6pPr>
            <a:lvl7pPr marL="3086100" indent="0">
              <a:buNone/>
              <a:defRPr sz="1100"/>
            </a:lvl7pPr>
            <a:lvl8pPr marL="3600450" indent="0">
              <a:buNone/>
              <a:defRPr sz="1100"/>
            </a:lvl8pPr>
            <a:lvl9pPr marL="4114800" indent="0">
              <a:buNone/>
              <a:defRPr sz="11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B89561C1-9857-40D8-AE33-879E8AA31112}" type="datetimeFigureOut">
              <a:rPr lang="zh-CN" altLang="en-US"/>
              <a:pPr>
                <a:defRPr/>
              </a:pPr>
              <a:t>2022/5/2</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F7646075-D531-4475-ABFE-89A5D6F42C59}" type="slidenum">
              <a:rPr lang="zh-CN" altLang="en-US"/>
              <a:pPr>
                <a:defRPr/>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A4F48790-7109-4973-82BF-0173E3FF90BD}" type="datetimeFigureOut">
              <a:rPr lang="zh-CN" altLang="en-US"/>
              <a:pPr>
                <a:defRPr/>
              </a:pPr>
              <a:t>2022/5/2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E6A54CBB-4255-4CA8-895E-77CC15C82861}" type="slidenum">
              <a:rPr lang="zh-CN" altLang="en-US"/>
              <a:pPr>
                <a:defRPr/>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16649" y="410766"/>
            <a:ext cx="2957855" cy="653831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43084" y="410766"/>
            <a:ext cx="8702095" cy="653831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F199D8D5-9FB9-459C-9EC6-3A91D8BB0BDE}" type="datetimeFigureOut">
              <a:rPr lang="zh-CN" altLang="en-US"/>
              <a:pPr>
                <a:defRPr/>
              </a:pPr>
              <a:t>2022/5/2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0DCB772B-C552-4168-BC73-230F3A26C446}" type="slidenum">
              <a:rPr lang="zh-CN" altLang="en-US"/>
              <a:pPr>
                <a:defRPr/>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942975" y="411163"/>
            <a:ext cx="11831638" cy="1490662"/>
          </a:xfrm>
          <a:prstGeom prst="rect">
            <a:avLst/>
          </a:prstGeom>
          <a:noFill/>
          <a:ln w="9525">
            <a:noFill/>
            <a:miter lim="800000"/>
            <a:headEnd/>
            <a:tailEnd/>
          </a:ln>
        </p:spPr>
        <p:txBody>
          <a:bodyPr vert="horz" wrap="square" lIns="102870" tIns="51435" rIns="102870" bIns="51435" numCol="1" anchor="ctr" anchorCtr="0" compatLnSpc="1">
            <a:prstTxWarp prst="textNoShape">
              <a:avLst/>
            </a:prstTxWarp>
          </a:bodyPr>
          <a:lstStyle/>
          <a:p>
            <a:pPr lvl="0"/>
            <a:r>
              <a:rPr lang="zh-CN" altLang="en-US"/>
              <a:t>单击此处编辑母版标题样式</a:t>
            </a:r>
          </a:p>
        </p:txBody>
      </p:sp>
      <p:sp>
        <p:nvSpPr>
          <p:cNvPr id="1027" name="文本占位符 2"/>
          <p:cNvSpPr>
            <a:spLocks noGrp="1"/>
          </p:cNvSpPr>
          <p:nvPr>
            <p:ph type="body" idx="1"/>
          </p:nvPr>
        </p:nvSpPr>
        <p:spPr bwMode="auto">
          <a:xfrm>
            <a:off x="942975" y="2054225"/>
            <a:ext cx="11831638" cy="4894263"/>
          </a:xfrm>
          <a:prstGeom prst="rect">
            <a:avLst/>
          </a:prstGeom>
          <a:noFill/>
          <a:ln w="9525">
            <a:noFill/>
            <a:miter lim="800000"/>
            <a:headEnd/>
            <a:tailEnd/>
          </a:ln>
        </p:spPr>
        <p:txBody>
          <a:bodyPr vert="horz" wrap="square" lIns="102870" tIns="51435" rIns="102870" bIns="51435"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942975" y="7151688"/>
            <a:ext cx="3086100" cy="409575"/>
          </a:xfrm>
          <a:prstGeom prst="rect">
            <a:avLst/>
          </a:prstGeom>
        </p:spPr>
        <p:txBody>
          <a:bodyPr vert="horz" lIns="102870" tIns="51435" rIns="102870" bIns="51435" rtlCol="0" anchor="ctr"/>
          <a:lstStyle>
            <a:lvl1pPr algn="l" fontAlgn="auto">
              <a:spcBef>
                <a:spcPts val="0"/>
              </a:spcBef>
              <a:spcAft>
                <a:spcPts val="0"/>
              </a:spcAft>
              <a:defRPr sz="1400">
                <a:solidFill>
                  <a:schemeClr val="tx1">
                    <a:tint val="75000"/>
                  </a:schemeClr>
                </a:solidFill>
                <a:latin typeface="+mn-lt"/>
                <a:ea typeface="+mn-ea"/>
              </a:defRPr>
            </a:lvl1pPr>
          </a:lstStyle>
          <a:p>
            <a:pPr>
              <a:defRPr/>
            </a:pPr>
            <a:fld id="{94EF524B-FBC7-4E4F-A33C-0282EB4B8D70}" type="datetimeFigureOut">
              <a:rPr lang="zh-CN" altLang="en-US"/>
              <a:pPr>
                <a:defRPr/>
              </a:pPr>
              <a:t>2022/5/2</a:t>
            </a:fld>
            <a:endParaRPr lang="zh-CN" altLang="en-US"/>
          </a:p>
        </p:txBody>
      </p:sp>
      <p:sp>
        <p:nvSpPr>
          <p:cNvPr id="5" name="页脚占位符 4"/>
          <p:cNvSpPr>
            <a:spLocks noGrp="1"/>
          </p:cNvSpPr>
          <p:nvPr>
            <p:ph type="ftr" sz="quarter" idx="3"/>
          </p:nvPr>
        </p:nvSpPr>
        <p:spPr>
          <a:xfrm>
            <a:off x="4543425" y="7151688"/>
            <a:ext cx="4630738" cy="409575"/>
          </a:xfrm>
          <a:prstGeom prst="rect">
            <a:avLst/>
          </a:prstGeom>
        </p:spPr>
        <p:txBody>
          <a:bodyPr vert="horz" lIns="102870" tIns="51435" rIns="102870" bIns="51435" rtlCol="0" anchor="ctr"/>
          <a:lstStyle>
            <a:lvl1pPr algn="ctr" fontAlgn="auto">
              <a:spcBef>
                <a:spcPts val="0"/>
              </a:spcBef>
              <a:spcAft>
                <a:spcPts val="0"/>
              </a:spcAft>
              <a:defRPr sz="14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9688513" y="7151688"/>
            <a:ext cx="3086100" cy="409575"/>
          </a:xfrm>
          <a:prstGeom prst="rect">
            <a:avLst/>
          </a:prstGeom>
        </p:spPr>
        <p:txBody>
          <a:bodyPr vert="horz" lIns="102870" tIns="51435" rIns="102870" bIns="51435" rtlCol="0" anchor="ctr"/>
          <a:lstStyle>
            <a:lvl1pPr algn="r" fontAlgn="auto">
              <a:spcBef>
                <a:spcPts val="0"/>
              </a:spcBef>
              <a:spcAft>
                <a:spcPts val="0"/>
              </a:spcAft>
              <a:defRPr sz="1400">
                <a:solidFill>
                  <a:schemeClr val="tx1">
                    <a:tint val="75000"/>
                  </a:schemeClr>
                </a:solidFill>
                <a:latin typeface="+mn-lt"/>
                <a:ea typeface="+mn-ea"/>
              </a:defRPr>
            </a:lvl1pPr>
          </a:lstStyle>
          <a:p>
            <a:pPr>
              <a:defRPr/>
            </a:pPr>
            <a:fld id="{30368951-AE96-4445-B3B9-E2DDD2A2F6D1}"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1028700" rtl="0" fontAlgn="base">
        <a:lnSpc>
          <a:spcPct val="90000"/>
        </a:lnSpc>
        <a:spcBef>
          <a:spcPct val="0"/>
        </a:spcBef>
        <a:spcAft>
          <a:spcPct val="0"/>
        </a:spcAft>
        <a:defRPr sz="5000" kern="1200">
          <a:solidFill>
            <a:schemeClr val="tx1"/>
          </a:solidFill>
          <a:latin typeface="+mj-lt"/>
          <a:ea typeface="+mj-ea"/>
          <a:cs typeface="+mj-cs"/>
        </a:defRPr>
      </a:lvl1pPr>
      <a:lvl2pPr algn="l" defTabSz="1028700" rtl="0" fontAlgn="base">
        <a:lnSpc>
          <a:spcPct val="90000"/>
        </a:lnSpc>
        <a:spcBef>
          <a:spcPct val="0"/>
        </a:spcBef>
        <a:spcAft>
          <a:spcPct val="0"/>
        </a:spcAft>
        <a:defRPr sz="5000">
          <a:solidFill>
            <a:schemeClr val="tx1"/>
          </a:solidFill>
          <a:latin typeface="Calibri Light"/>
          <a:ea typeface="宋体" pitchFamily="2" charset="-122"/>
        </a:defRPr>
      </a:lvl2pPr>
      <a:lvl3pPr algn="l" defTabSz="1028700" rtl="0" fontAlgn="base">
        <a:lnSpc>
          <a:spcPct val="90000"/>
        </a:lnSpc>
        <a:spcBef>
          <a:spcPct val="0"/>
        </a:spcBef>
        <a:spcAft>
          <a:spcPct val="0"/>
        </a:spcAft>
        <a:defRPr sz="5000">
          <a:solidFill>
            <a:schemeClr val="tx1"/>
          </a:solidFill>
          <a:latin typeface="Calibri Light"/>
          <a:ea typeface="宋体" pitchFamily="2" charset="-122"/>
        </a:defRPr>
      </a:lvl3pPr>
      <a:lvl4pPr algn="l" defTabSz="1028700" rtl="0" fontAlgn="base">
        <a:lnSpc>
          <a:spcPct val="90000"/>
        </a:lnSpc>
        <a:spcBef>
          <a:spcPct val="0"/>
        </a:spcBef>
        <a:spcAft>
          <a:spcPct val="0"/>
        </a:spcAft>
        <a:defRPr sz="5000">
          <a:solidFill>
            <a:schemeClr val="tx1"/>
          </a:solidFill>
          <a:latin typeface="Calibri Light"/>
          <a:ea typeface="宋体" pitchFamily="2" charset="-122"/>
        </a:defRPr>
      </a:lvl4pPr>
      <a:lvl5pPr algn="l" defTabSz="1028700" rtl="0" fontAlgn="base">
        <a:lnSpc>
          <a:spcPct val="90000"/>
        </a:lnSpc>
        <a:spcBef>
          <a:spcPct val="0"/>
        </a:spcBef>
        <a:spcAft>
          <a:spcPct val="0"/>
        </a:spcAft>
        <a:defRPr sz="5000">
          <a:solidFill>
            <a:schemeClr val="tx1"/>
          </a:solidFill>
          <a:latin typeface="Calibri Light"/>
          <a:ea typeface="宋体" pitchFamily="2" charset="-122"/>
        </a:defRPr>
      </a:lvl5pPr>
      <a:lvl6pPr marL="4572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6pPr>
      <a:lvl7pPr marL="9144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7pPr>
      <a:lvl8pPr marL="13716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8pPr>
      <a:lvl9pPr marL="18288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9pPr>
    </p:titleStyle>
    <p:bodyStyle>
      <a:lvl1pPr marL="257175" indent="-257175" algn="l" defTabSz="1028700" rtl="0" fontAlgn="base">
        <a:lnSpc>
          <a:spcPct val="90000"/>
        </a:lnSpc>
        <a:spcBef>
          <a:spcPts val="1125"/>
        </a:spcBef>
        <a:spcAft>
          <a:spcPct val="0"/>
        </a:spcAft>
        <a:buFont typeface="Arial" pitchFamily="34" charset="0"/>
        <a:buChar char="•"/>
        <a:defRPr sz="3200" kern="1200">
          <a:solidFill>
            <a:schemeClr val="tx1"/>
          </a:solidFill>
          <a:latin typeface="+mn-lt"/>
          <a:ea typeface="+mn-ea"/>
          <a:cs typeface="+mn-cs"/>
        </a:defRPr>
      </a:lvl1pPr>
      <a:lvl2pPr marL="771525" indent="-257175" algn="l" defTabSz="1028700" rtl="0" fontAlgn="base">
        <a:lnSpc>
          <a:spcPct val="90000"/>
        </a:lnSpc>
        <a:spcBef>
          <a:spcPts val="563"/>
        </a:spcBef>
        <a:spcAft>
          <a:spcPct val="0"/>
        </a:spcAft>
        <a:buFont typeface="Arial" pitchFamily="34" charset="0"/>
        <a:buChar char="•"/>
        <a:defRPr sz="2700" kern="1200">
          <a:solidFill>
            <a:schemeClr val="tx1"/>
          </a:solidFill>
          <a:latin typeface="+mn-lt"/>
          <a:ea typeface="+mn-ea"/>
          <a:cs typeface="+mn-cs"/>
        </a:defRPr>
      </a:lvl2pPr>
      <a:lvl3pPr marL="1285875" indent="-257175" algn="l" defTabSz="1028700" rtl="0" fontAlgn="base">
        <a:lnSpc>
          <a:spcPct val="90000"/>
        </a:lnSpc>
        <a:spcBef>
          <a:spcPts val="563"/>
        </a:spcBef>
        <a:spcAft>
          <a:spcPct val="0"/>
        </a:spcAft>
        <a:buFont typeface="Arial" pitchFamily="34" charset="0"/>
        <a:buChar char="•"/>
        <a:defRPr sz="2300" kern="1200">
          <a:solidFill>
            <a:schemeClr val="tx1"/>
          </a:solidFill>
          <a:latin typeface="+mn-lt"/>
          <a:ea typeface="+mn-ea"/>
          <a:cs typeface="+mn-cs"/>
        </a:defRPr>
      </a:lvl3pPr>
      <a:lvl4pPr marL="1800225" indent="-257175" algn="l" defTabSz="1028700" rtl="0" fontAlgn="base">
        <a:lnSpc>
          <a:spcPct val="90000"/>
        </a:lnSpc>
        <a:spcBef>
          <a:spcPts val="563"/>
        </a:spcBef>
        <a:spcAft>
          <a:spcPct val="0"/>
        </a:spcAft>
        <a:buFont typeface="Arial" pitchFamily="34" charset="0"/>
        <a:buChar char="•"/>
        <a:defRPr sz="2000" kern="1200">
          <a:solidFill>
            <a:schemeClr val="tx1"/>
          </a:solidFill>
          <a:latin typeface="+mn-lt"/>
          <a:ea typeface="+mn-ea"/>
          <a:cs typeface="+mn-cs"/>
        </a:defRPr>
      </a:lvl4pPr>
      <a:lvl5pPr marL="2314575" indent="-257175" algn="l" defTabSz="1028700" rtl="0" fontAlgn="base">
        <a:lnSpc>
          <a:spcPct val="90000"/>
        </a:lnSpc>
        <a:spcBef>
          <a:spcPts val="563"/>
        </a:spcBef>
        <a:spcAft>
          <a:spcPct val="0"/>
        </a:spcAft>
        <a:buFont typeface="Arial" pitchFamily="34" charset="0"/>
        <a:buChar char="•"/>
        <a:defRPr sz="2000" kern="1200">
          <a:solidFill>
            <a:schemeClr val="tx1"/>
          </a:solidFill>
          <a:latin typeface="+mn-lt"/>
          <a:ea typeface="+mn-ea"/>
          <a:cs typeface="+mn-cs"/>
        </a:defRPr>
      </a:lvl5pPr>
      <a:lvl6pPr marL="282892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6pPr>
      <a:lvl7pPr marL="334327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7pPr>
      <a:lvl8pPr marL="385762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8pPr>
      <a:lvl9pPr marL="437197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1028700" rtl="0" eaLnBrk="1" latinLnBrk="0" hangingPunct="1">
        <a:defRPr sz="2000" kern="1200">
          <a:solidFill>
            <a:schemeClr val="tx1"/>
          </a:solidFill>
          <a:latin typeface="+mn-lt"/>
          <a:ea typeface="+mn-ea"/>
          <a:cs typeface="+mn-cs"/>
        </a:defRPr>
      </a:lvl1pPr>
      <a:lvl2pPr marL="514350" algn="l" defTabSz="1028700" rtl="0" eaLnBrk="1" latinLnBrk="0" hangingPunct="1">
        <a:defRPr sz="2000" kern="1200">
          <a:solidFill>
            <a:schemeClr val="tx1"/>
          </a:solidFill>
          <a:latin typeface="+mn-lt"/>
          <a:ea typeface="+mn-ea"/>
          <a:cs typeface="+mn-cs"/>
        </a:defRPr>
      </a:lvl2pPr>
      <a:lvl3pPr marL="1028700" algn="l" defTabSz="1028700" rtl="0" eaLnBrk="1" latinLnBrk="0" hangingPunct="1">
        <a:defRPr sz="2000" kern="1200">
          <a:solidFill>
            <a:schemeClr val="tx1"/>
          </a:solidFill>
          <a:latin typeface="+mn-lt"/>
          <a:ea typeface="+mn-ea"/>
          <a:cs typeface="+mn-cs"/>
        </a:defRPr>
      </a:lvl3pPr>
      <a:lvl4pPr marL="1543050" algn="l" defTabSz="1028700" rtl="0" eaLnBrk="1" latinLnBrk="0" hangingPunct="1">
        <a:defRPr sz="2000" kern="1200">
          <a:solidFill>
            <a:schemeClr val="tx1"/>
          </a:solidFill>
          <a:latin typeface="+mn-lt"/>
          <a:ea typeface="+mn-ea"/>
          <a:cs typeface="+mn-cs"/>
        </a:defRPr>
      </a:lvl4pPr>
      <a:lvl5pPr marL="2057400" algn="l" defTabSz="1028700" rtl="0" eaLnBrk="1" latinLnBrk="0" hangingPunct="1">
        <a:defRPr sz="2000" kern="1200">
          <a:solidFill>
            <a:schemeClr val="tx1"/>
          </a:solidFill>
          <a:latin typeface="+mn-lt"/>
          <a:ea typeface="+mn-ea"/>
          <a:cs typeface="+mn-cs"/>
        </a:defRPr>
      </a:lvl5pPr>
      <a:lvl6pPr marL="2571750" algn="l" defTabSz="1028700" rtl="0" eaLnBrk="1" latinLnBrk="0" hangingPunct="1">
        <a:defRPr sz="2000" kern="1200">
          <a:solidFill>
            <a:schemeClr val="tx1"/>
          </a:solidFill>
          <a:latin typeface="+mn-lt"/>
          <a:ea typeface="+mn-ea"/>
          <a:cs typeface="+mn-cs"/>
        </a:defRPr>
      </a:lvl6pPr>
      <a:lvl7pPr marL="3086100" algn="l" defTabSz="1028700" rtl="0" eaLnBrk="1" latinLnBrk="0" hangingPunct="1">
        <a:defRPr sz="2000" kern="1200">
          <a:solidFill>
            <a:schemeClr val="tx1"/>
          </a:solidFill>
          <a:latin typeface="+mn-lt"/>
          <a:ea typeface="+mn-ea"/>
          <a:cs typeface="+mn-cs"/>
        </a:defRPr>
      </a:lvl7pPr>
      <a:lvl8pPr marL="3600450" algn="l" defTabSz="1028700" rtl="0" eaLnBrk="1" latinLnBrk="0" hangingPunct="1">
        <a:defRPr sz="2000" kern="1200">
          <a:solidFill>
            <a:schemeClr val="tx1"/>
          </a:solidFill>
          <a:latin typeface="+mn-lt"/>
          <a:ea typeface="+mn-ea"/>
          <a:cs typeface="+mn-cs"/>
        </a:defRPr>
      </a:lvl8pPr>
      <a:lvl9pPr marL="4114800" algn="l" defTabSz="1028700"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2.png"/><Relationship Id="rId7" Type="http://schemas.openxmlformats.org/officeDocument/2006/relationships/diagramQuickStyle" Target="../diagrams/quickStyle1.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3.png"/><Relationship Id="rId9" Type="http://schemas.microsoft.com/office/2007/relationships/diagramDrawing" Target="../diagrams/drawing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8.wmf"/><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5.emf"/><Relationship Id="rId11" Type="http://schemas.openxmlformats.org/officeDocument/2006/relationships/oleObject" Target="../embeddings/oleObject5.bin"/><Relationship Id="rId5" Type="http://schemas.openxmlformats.org/officeDocument/2006/relationships/oleObject" Target="../embeddings/oleObject2.bin"/><Relationship Id="rId10" Type="http://schemas.openxmlformats.org/officeDocument/2006/relationships/image" Target="../media/image7.wmf"/><Relationship Id="rId4" Type="http://schemas.openxmlformats.org/officeDocument/2006/relationships/image" Target="../media/image4.emf"/><Relationship Id="rId9" Type="http://schemas.openxmlformats.org/officeDocument/2006/relationships/oleObject" Target="../embeddings/oleObject4.bin"/></Relationships>
</file>

<file path=ppt/slides/_rels/slide8.xml.rels><?xml version="1.0" encoding="UTF-8" standalone="yes"?>
<Relationships xmlns="http://schemas.openxmlformats.org/package/2006/relationships"><Relationship Id="rId8" Type="http://schemas.openxmlformats.org/officeDocument/2006/relationships/image" Target="../media/image11.wmf"/><Relationship Id="rId13" Type="http://schemas.openxmlformats.org/officeDocument/2006/relationships/oleObject" Target="../embeddings/oleObject11.bin"/><Relationship Id="rId3" Type="http://schemas.openxmlformats.org/officeDocument/2006/relationships/oleObject" Target="../embeddings/oleObject6.bin"/><Relationship Id="rId7" Type="http://schemas.openxmlformats.org/officeDocument/2006/relationships/oleObject" Target="../embeddings/oleObject8.bin"/><Relationship Id="rId12" Type="http://schemas.openxmlformats.org/officeDocument/2006/relationships/image" Target="../media/image7.wmf"/><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10.wmf"/><Relationship Id="rId11" Type="http://schemas.openxmlformats.org/officeDocument/2006/relationships/oleObject" Target="../embeddings/oleObject10.bin"/><Relationship Id="rId5" Type="http://schemas.openxmlformats.org/officeDocument/2006/relationships/oleObject" Target="../embeddings/oleObject7.bin"/><Relationship Id="rId10" Type="http://schemas.openxmlformats.org/officeDocument/2006/relationships/image" Target="../media/image12.wmf"/><Relationship Id="rId4" Type="http://schemas.openxmlformats.org/officeDocument/2006/relationships/image" Target="../media/image9.emf"/><Relationship Id="rId9" Type="http://schemas.openxmlformats.org/officeDocument/2006/relationships/oleObject" Target="../embeddings/oleObject9.bin"/><Relationship Id="rId14" Type="http://schemas.openxmlformats.org/officeDocument/2006/relationships/image" Target="../media/image8.wmf"/></Relationships>
</file>

<file path=ppt/slides/_rels/slide9.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oleObject" Target="../embeddings/oleObject12.bin"/><Relationship Id="rId7" Type="http://schemas.openxmlformats.org/officeDocument/2006/relationships/oleObject" Target="../embeddings/oleObject14.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14.emf"/><Relationship Id="rId5" Type="http://schemas.openxmlformats.org/officeDocument/2006/relationships/oleObject" Target="../embeddings/oleObject13.bin"/><Relationship Id="rId4" Type="http://schemas.openxmlformats.org/officeDocument/2006/relationships/image" Target="../media/image13.wmf"/></Relationships>
</file>

<file path=ppt/slides/_rels/slide10.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oleObject" Target="../embeddings/oleObject15.bin"/><Relationship Id="rId7" Type="http://schemas.openxmlformats.org/officeDocument/2006/relationships/oleObject" Target="../embeddings/oleObject17.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13.wmf"/><Relationship Id="rId5" Type="http://schemas.openxmlformats.org/officeDocument/2006/relationships/oleObject" Target="../embeddings/oleObject16.bin"/><Relationship Id="rId4" Type="http://schemas.openxmlformats.org/officeDocument/2006/relationships/image" Target="../media/image16.e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10.wmf"/><Relationship Id="rId5" Type="http://schemas.openxmlformats.org/officeDocument/2006/relationships/oleObject" Target="../embeddings/oleObject19.bin"/><Relationship Id="rId4" Type="http://schemas.openxmlformats.org/officeDocument/2006/relationships/image" Target="../media/image17.emf"/></Relationships>
</file>

<file path=ppt/slides/_rels/slide13.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oleObject" Target="../embeddings/oleObject20.bin"/><Relationship Id="rId7" Type="http://schemas.openxmlformats.org/officeDocument/2006/relationships/oleObject" Target="../embeddings/oleObject22.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13.wmf"/><Relationship Id="rId5" Type="http://schemas.openxmlformats.org/officeDocument/2006/relationships/oleObject" Target="../embeddings/oleObject21.bin"/><Relationship Id="rId4" Type="http://schemas.openxmlformats.org/officeDocument/2006/relationships/image" Target="../media/image18.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oleObject" Target="../embeddings/oleObject23.bin"/><Relationship Id="rId7" Type="http://schemas.openxmlformats.org/officeDocument/2006/relationships/oleObject" Target="../embeddings/oleObject25.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20.wmf"/><Relationship Id="rId5" Type="http://schemas.openxmlformats.org/officeDocument/2006/relationships/oleObject" Target="../embeddings/oleObject24.bin"/><Relationship Id="rId4" Type="http://schemas.openxmlformats.org/officeDocument/2006/relationships/image" Target="../media/image19.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7.xml"/><Relationship Id="rId1" Type="http://schemas.openxmlformats.org/officeDocument/2006/relationships/vmlDrawing" Target="../drawings/vmlDrawing8.vml"/><Relationship Id="rId4" Type="http://schemas.openxmlformats.org/officeDocument/2006/relationships/image" Target="../media/image22.emf"/></Relationships>
</file>

<file path=ppt/slides/_rels/slide18.xml.rels><?xml version="1.0" encoding="UTF-8" standalone="yes"?>
<Relationships xmlns="http://schemas.openxmlformats.org/package/2006/relationships"><Relationship Id="rId2" Type="http://schemas.openxmlformats.org/officeDocument/2006/relationships/hyperlink" Target="PSD-sl3-2.pdf"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24.emf"/><Relationship Id="rId5" Type="http://schemas.openxmlformats.org/officeDocument/2006/relationships/oleObject" Target="../embeddings/oleObject28.bin"/><Relationship Id="rId4" Type="http://schemas.openxmlformats.org/officeDocument/2006/relationships/image" Target="../media/image23.w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7.xml"/><Relationship Id="rId1" Type="http://schemas.openxmlformats.org/officeDocument/2006/relationships/vmlDrawing" Target="../drawings/vmlDrawing10.vml"/><Relationship Id="rId4" Type="http://schemas.openxmlformats.org/officeDocument/2006/relationships/image" Target="../media/image25.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71B2A563-AC54-5347-B843-4478DF223CDE}"/>
              </a:ext>
            </a:extLst>
          </p:cNvPr>
          <p:cNvSpPr/>
          <p:nvPr/>
        </p:nvSpPr>
        <p:spPr>
          <a:xfrm>
            <a:off x="1053348" y="2672562"/>
            <a:ext cx="2686050" cy="11781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7200" b="1" dirty="0">
                <a:solidFill>
                  <a:srgbClr val="0066FF"/>
                </a:solidFill>
                <a:latin typeface="Microsoft YaHei" panose="020B0503020204020204" pitchFamily="34" charset="-122"/>
                <a:ea typeface="Microsoft YaHei" panose="020B0503020204020204" pitchFamily="34" charset="-122"/>
              </a:rPr>
              <a:t>第</a:t>
            </a:r>
            <a:r>
              <a:rPr kumimoji="1" lang="en-US" altLang="zh-CN" sz="7200" b="1" dirty="0">
                <a:solidFill>
                  <a:srgbClr val="0066FF"/>
                </a:solidFill>
                <a:latin typeface="Microsoft YaHei" panose="020B0503020204020204" pitchFamily="34" charset="-122"/>
                <a:ea typeface="Microsoft YaHei" panose="020B0503020204020204" pitchFamily="34" charset="-122"/>
              </a:rPr>
              <a:t>4</a:t>
            </a:r>
            <a:r>
              <a:rPr kumimoji="1" lang="zh-CN" altLang="en-US" sz="7200" b="1" dirty="0">
                <a:solidFill>
                  <a:srgbClr val="0066FF"/>
                </a:solidFill>
                <a:latin typeface="Microsoft YaHei" panose="020B0503020204020204" pitchFamily="34" charset="-122"/>
                <a:ea typeface="Microsoft YaHei" panose="020B0503020204020204" pitchFamily="34" charset="-122"/>
              </a:rPr>
              <a:t>章</a:t>
            </a:r>
          </a:p>
        </p:txBody>
      </p:sp>
      <p:sp>
        <p:nvSpPr>
          <p:cNvPr id="3" name="矩形 2"/>
          <p:cNvSpPr/>
          <p:nvPr/>
        </p:nvSpPr>
        <p:spPr>
          <a:xfrm>
            <a:off x="1460180" y="1793603"/>
            <a:ext cx="1723550" cy="553998"/>
          </a:xfrm>
          <a:prstGeom prst="rect">
            <a:avLst/>
          </a:prstGeom>
          <a:noFill/>
        </p:spPr>
        <p:txBody>
          <a:bodyPr wrap="none" lIns="91440" tIns="45720" rIns="91440" bIns="45720">
            <a:spAutoFit/>
          </a:bodyPr>
          <a:lstStyle/>
          <a:p>
            <a:pPr algn="ctr"/>
            <a:r>
              <a:rPr lang="zh-CN" altLang="en-US" sz="3000" dirty="0">
                <a:latin typeface="Microsoft Yi Baiti" panose="03000500000000000000" pitchFamily="66" charset="0"/>
                <a:ea typeface="冬青黑体简体中文 W6" panose="020B0600000000000000" pitchFamily="34" charset="-122"/>
                <a:cs typeface="阿里巴巴普惠体 M" panose="00020600040101010101" pitchFamily="18" charset="-122"/>
              </a:rPr>
              <a:t>光电技术</a:t>
            </a:r>
            <a:endParaRPr lang="en-US" altLang="zh-CN" sz="3000" dirty="0">
              <a:latin typeface="Microsoft Yi Baiti" panose="03000500000000000000" pitchFamily="66" charset="0"/>
              <a:ea typeface="Microsoft Yi Baiti" panose="03000500000000000000" pitchFamily="66" charset="0"/>
              <a:cs typeface="阿里巴巴普惠体 M" panose="00020600040101010101" pitchFamily="18" charset="-122"/>
            </a:endParaRPr>
          </a:p>
        </p:txBody>
      </p:sp>
      <p:sp>
        <p:nvSpPr>
          <p:cNvPr id="4" name="矩形 3">
            <a:extLst>
              <a:ext uri="{FF2B5EF4-FFF2-40B4-BE49-F238E27FC236}">
                <a16:creationId xmlns:a16="http://schemas.microsoft.com/office/drawing/2014/main" id="{5441AE38-A11D-4793-BDA3-DCA36976B496}"/>
              </a:ext>
            </a:extLst>
          </p:cNvPr>
          <p:cNvSpPr/>
          <p:nvPr/>
        </p:nvSpPr>
        <p:spPr>
          <a:xfrm>
            <a:off x="3936558" y="2705900"/>
            <a:ext cx="9588706" cy="11226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7200" b="1" dirty="0">
                <a:gradFill>
                  <a:gsLst>
                    <a:gs pos="0">
                      <a:srgbClr val="0066FF"/>
                    </a:gs>
                    <a:gs pos="100000">
                      <a:schemeClr val="accent1">
                        <a:lumMod val="100000"/>
                      </a:schemeClr>
                    </a:gs>
                  </a:gsLst>
                  <a:lin ang="0" scaled="0"/>
                </a:gradFill>
                <a:latin typeface="Microsoft YaHei" panose="020B0503020204020204" pitchFamily="34" charset="-122"/>
                <a:ea typeface="Microsoft YaHei" panose="020B0503020204020204" pitchFamily="34" charset="-122"/>
              </a:rPr>
              <a:t>光伏探测器</a:t>
            </a:r>
          </a:p>
        </p:txBody>
      </p:sp>
      <p:sp>
        <p:nvSpPr>
          <p:cNvPr id="5" name="矩形 4">
            <a:extLst>
              <a:ext uri="{FF2B5EF4-FFF2-40B4-BE49-F238E27FC236}">
                <a16:creationId xmlns:a16="http://schemas.microsoft.com/office/drawing/2014/main" id="{B4AF438E-361B-42EE-9E70-DDB98227F7D7}"/>
              </a:ext>
            </a:extLst>
          </p:cNvPr>
          <p:cNvSpPr/>
          <p:nvPr/>
        </p:nvSpPr>
        <p:spPr>
          <a:xfrm>
            <a:off x="3190512" y="1836129"/>
            <a:ext cx="1238613" cy="477054"/>
          </a:xfrm>
          <a:prstGeom prst="rect">
            <a:avLst/>
          </a:prstGeom>
          <a:noFill/>
        </p:spPr>
        <p:txBody>
          <a:bodyPr wrap="square" lIns="91440" tIns="45720" rIns="91440" bIns="45720">
            <a:spAutoFit/>
          </a:bodyPr>
          <a:lstStyle/>
          <a:p>
            <a:pPr>
              <a:lnSpc>
                <a:spcPts val="1500"/>
              </a:lnSpc>
            </a:pPr>
            <a:r>
              <a:rPr lang="en-US" altLang="zh-CN" sz="1200" b="1" spc="40" dirty="0">
                <a:latin typeface="Times New Roman" panose="02020603050405020304" pitchFamily="18" charset="0"/>
                <a:ea typeface="Yu Gothic UI" panose="020B0500000000000000" pitchFamily="34" charset="-128"/>
                <a:cs typeface="Times New Roman" panose="02020603050405020304" pitchFamily="18" charset="0"/>
              </a:rPr>
              <a:t>Photoelectric</a:t>
            </a:r>
          </a:p>
          <a:p>
            <a:pPr>
              <a:lnSpc>
                <a:spcPts val="1500"/>
              </a:lnSpc>
            </a:pPr>
            <a:r>
              <a:rPr lang="en-US" altLang="zh-CN" sz="1200" b="1" spc="40" dirty="0">
                <a:latin typeface="Times New Roman" panose="02020603050405020304" pitchFamily="18" charset="0"/>
                <a:ea typeface="Yu Gothic UI" panose="020B0500000000000000" pitchFamily="34" charset="-128"/>
                <a:cs typeface="Times New Roman" panose="02020603050405020304" pitchFamily="18" charset="0"/>
              </a:rPr>
              <a:t>Technology</a:t>
            </a:r>
            <a:endParaRPr lang="zh-CN" altLang="en-US" sz="1200" b="1" spc="40" dirty="0">
              <a:ln w="22225">
                <a:solidFill>
                  <a:schemeClr val="accent2"/>
                </a:solidFill>
                <a:prstDash val="solid"/>
              </a:ln>
              <a:latin typeface="Times New Roman" panose="02020603050405020304" pitchFamily="18" charset="0"/>
              <a:ea typeface="Yu Gothic UI" panose="020B0500000000000000" pitchFamily="34" charset="-128"/>
              <a:cs typeface="Times New Roman" panose="02020603050405020304" pitchFamily="18" charset="0"/>
            </a:endParaRPr>
          </a:p>
        </p:txBody>
      </p:sp>
      <p:cxnSp>
        <p:nvCxnSpPr>
          <p:cNvPr id="6" name="直接连接符 58">
            <a:extLst>
              <a:ext uri="{FF2B5EF4-FFF2-40B4-BE49-F238E27FC236}">
                <a16:creationId xmlns:a16="http://schemas.microsoft.com/office/drawing/2014/main" id="{19E605B0-7A69-4DF3-BD2D-6C50DF5A8F84}"/>
              </a:ext>
            </a:extLst>
          </p:cNvPr>
          <p:cNvCxnSpPr>
            <a:cxnSpLocks/>
          </p:cNvCxnSpPr>
          <p:nvPr/>
        </p:nvCxnSpPr>
        <p:spPr>
          <a:xfrm>
            <a:off x="1209675" y="4175630"/>
            <a:ext cx="4795114" cy="11690"/>
          </a:xfrm>
          <a:prstGeom prst="line">
            <a:avLst/>
          </a:prstGeom>
          <a:ln w="9525">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1C44C9C7-7166-4DA9-8A1A-D2BB836F3F54}"/>
              </a:ext>
            </a:extLst>
          </p:cNvPr>
          <p:cNvSpPr/>
          <p:nvPr/>
        </p:nvSpPr>
        <p:spPr>
          <a:xfrm>
            <a:off x="1143000" y="4512279"/>
            <a:ext cx="7159528" cy="461665"/>
          </a:xfrm>
          <a:prstGeom prst="rect">
            <a:avLst/>
          </a:prstGeom>
          <a:noFill/>
        </p:spPr>
        <p:txBody>
          <a:bodyPr wrap="square" lIns="91440" tIns="45720" rIns="91440" bIns="45720">
            <a:spAutoFit/>
          </a:bodyPr>
          <a:lstStyle/>
          <a:p>
            <a:r>
              <a:rPr lang="en-US" altLang="zh-CN" sz="2400" dirty="0">
                <a:solidFill>
                  <a:srgbClr val="1271FE"/>
                </a:solidFill>
                <a:latin typeface="冬青黑体简体中文 W3" panose="020B0300000000000000" pitchFamily="34" charset="-122"/>
                <a:ea typeface="冬青黑体简体中文 W3" panose="020B0300000000000000" pitchFamily="34" charset="-122"/>
                <a:cs typeface="Times New Roman" panose="02020603050405020304" pitchFamily="18" charset="0"/>
              </a:rPr>
              <a:t>Photovoltaic detector</a:t>
            </a:r>
            <a:endParaRPr lang="zh-CN" altLang="en-US" sz="2400" dirty="0">
              <a:ln w="22225">
                <a:solidFill>
                  <a:schemeClr val="accent2"/>
                </a:solidFill>
                <a:prstDash val="solid"/>
              </a:ln>
              <a:solidFill>
                <a:srgbClr val="1271FE"/>
              </a:solidFill>
              <a:latin typeface="冬青黑体简体中文 W3" panose="020B0300000000000000" pitchFamily="34" charset="-122"/>
              <a:ea typeface="冬青黑体简体中文 W3" panose="020B0300000000000000" pitchFamily="34" charset="-122"/>
              <a:cs typeface="Times New Roman" panose="02020603050405020304" pitchFamily="18" charset="0"/>
            </a:endParaRPr>
          </a:p>
        </p:txBody>
      </p:sp>
      <p:sp>
        <p:nvSpPr>
          <p:cNvPr id="8" name="矩形 7">
            <a:extLst>
              <a:ext uri="{FF2B5EF4-FFF2-40B4-BE49-F238E27FC236}">
                <a16:creationId xmlns:a16="http://schemas.microsoft.com/office/drawing/2014/main" id="{AE184DEE-FEA5-431F-856D-B2DD56F698B6}"/>
              </a:ext>
            </a:extLst>
          </p:cNvPr>
          <p:cNvSpPr/>
          <p:nvPr/>
        </p:nvSpPr>
        <p:spPr>
          <a:xfrm>
            <a:off x="1209675" y="1869039"/>
            <a:ext cx="167523" cy="403125"/>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位置敏感探测器</a:t>
            </a:r>
          </a:p>
        </p:txBody>
      </p:sp>
      <p:sp>
        <p:nvSpPr>
          <p:cNvPr id="19" name="矩形: 圆角 18">
            <a:extLst>
              <a:ext uri="{FF2B5EF4-FFF2-40B4-BE49-F238E27FC236}">
                <a16:creationId xmlns:a16="http://schemas.microsoft.com/office/drawing/2014/main" id="{71B2A563-AC54-5347-B843-4478DF223CDE}"/>
              </a:ext>
            </a:extLst>
          </p:cNvPr>
          <p:cNvSpPr/>
          <p:nvPr/>
        </p:nvSpPr>
        <p:spPr>
          <a:xfrm>
            <a:off x="3642999" y="3397018"/>
            <a:ext cx="7991475" cy="1110985"/>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4400" b="1" dirty="0">
                <a:solidFill>
                  <a:schemeClr val="bg1"/>
                </a:solidFill>
                <a:latin typeface="Microsoft YaHei" panose="020B0503020204020204" pitchFamily="34" charset="-122"/>
                <a:ea typeface="Microsoft YaHei" panose="020B0503020204020204" pitchFamily="34" charset="-122"/>
              </a:rPr>
              <a:t>位置敏感探测器</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4" name="矩形 23">
            <a:extLst>
              <a:ext uri="{FF2B5EF4-FFF2-40B4-BE49-F238E27FC236}">
                <a16:creationId xmlns:a16="http://schemas.microsoft.com/office/drawing/2014/main" id="{045D4FB5-3BA7-4366-9C2A-762F1105D91A}"/>
              </a:ext>
            </a:extLst>
          </p:cNvPr>
          <p:cNvSpPr/>
          <p:nvPr/>
        </p:nvSpPr>
        <p:spPr>
          <a:xfrm>
            <a:off x="1546631" y="3333750"/>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6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4.7</a:t>
            </a:r>
            <a:endParaRPr kumimoji="1" lang="zh-CN" altLang="en-US" sz="66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4.7</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a16="http://schemas.microsoft.com/office/drawing/2014/main" id="{8C5F82EF-52B4-4531-96F0-44689EA112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id="{791D85D7-F412-9C48-9F2B-E33F5B7B4F3C}"/>
              </a:ext>
            </a:extLst>
          </p:cNvPr>
          <p:cNvSpPr txBox="1"/>
          <p:nvPr/>
        </p:nvSpPr>
        <p:spPr>
          <a:xfrm>
            <a:off x="1364781" y="293282"/>
            <a:ext cx="3569826"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位置敏感探测器结构与工作原理</a:t>
            </a:r>
          </a:p>
        </p:txBody>
      </p:sp>
      <p:sp>
        <p:nvSpPr>
          <p:cNvPr id="19" name="矩形: 圆角 18">
            <a:extLst>
              <a:ext uri="{FF2B5EF4-FFF2-40B4-BE49-F238E27FC236}">
                <a16:creationId xmlns:a16="http://schemas.microsoft.com/office/drawing/2014/main" id="{71B2A563-AC54-5347-B843-4478DF223CDE}"/>
              </a:ext>
            </a:extLst>
          </p:cNvPr>
          <p:cNvSpPr/>
          <p:nvPr/>
        </p:nvSpPr>
        <p:spPr>
          <a:xfrm>
            <a:off x="3642999" y="3397018"/>
            <a:ext cx="8443898" cy="1110985"/>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4000" b="1" dirty="0">
                <a:solidFill>
                  <a:schemeClr val="bg1"/>
                </a:solidFill>
                <a:latin typeface="Microsoft YaHei" panose="020B0503020204020204" pitchFamily="34" charset="-122"/>
                <a:ea typeface="Microsoft YaHei" panose="020B0503020204020204" pitchFamily="34" charset="-122"/>
              </a:rPr>
              <a:t>位置敏感探测器结构与工作原理</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4" name="矩形 23">
            <a:extLst>
              <a:ext uri="{FF2B5EF4-FFF2-40B4-BE49-F238E27FC236}">
                <a16:creationId xmlns:a16="http://schemas.microsoft.com/office/drawing/2014/main" id="{045D4FB5-3BA7-4366-9C2A-762F1105D91A}"/>
              </a:ext>
            </a:extLst>
          </p:cNvPr>
          <p:cNvSpPr/>
          <p:nvPr/>
        </p:nvSpPr>
        <p:spPr>
          <a:xfrm>
            <a:off x="1546631" y="3333750"/>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0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4.7.1</a:t>
            </a:r>
            <a:endParaRPr kumimoji="1" lang="zh-CN" altLang="en-US" sz="60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D7400AB1-4BEC-40E5-A53B-E3CB1F48EB8A}"/>
              </a:ext>
            </a:extLst>
          </p:cNvPr>
          <p:cNvSpPr/>
          <p:nvPr/>
        </p:nvSpPr>
        <p:spPr>
          <a:xfrm>
            <a:off x="304801" y="293282"/>
            <a:ext cx="979824"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4.7.1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a16="http://schemas.microsoft.com/office/drawing/2014/main" id="{8C5F82EF-52B4-4531-96F0-44689EA1125E}"/>
              </a:ext>
            </a:extLst>
          </p:cNvPr>
          <p:cNvCxnSpPr>
            <a:cxnSpLocks/>
          </p:cNvCxnSpPr>
          <p:nvPr/>
        </p:nvCxnSpPr>
        <p:spPr>
          <a:xfrm>
            <a:off x="1450506" y="710998"/>
            <a:ext cx="3336956"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18562239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 descr="C:\Documents and Settings\Administrator\Application Data\Tencent\Users\729963870\QQ\WinTemp\RichOle\9FIA](%BK{8VS4JDC7YQ@B9.png"/>
          <p:cNvPicPr>
            <a:picLocks noChangeAspect="1" noChangeArrowheads="1"/>
          </p:cNvPicPr>
          <p:nvPr/>
        </p:nvPicPr>
        <p:blipFill>
          <a:blip r:embed="rId2" cstate="print"/>
          <a:srcRect/>
          <a:stretch>
            <a:fillRect/>
          </a:stretch>
        </p:blipFill>
        <p:spPr bwMode="auto">
          <a:xfrm>
            <a:off x="7993662" y="4703465"/>
            <a:ext cx="2476500" cy="2354263"/>
          </a:xfrm>
          <a:prstGeom prst="rect">
            <a:avLst/>
          </a:prstGeom>
          <a:noFill/>
          <a:ln w="9525">
            <a:noFill/>
            <a:miter lim="800000"/>
            <a:headEnd/>
            <a:tailEnd/>
          </a:ln>
        </p:spPr>
      </p:pic>
      <p:pic>
        <p:nvPicPr>
          <p:cNvPr id="7" name="Picture 7" descr="C:\Documents and Settings\Administrator\Application Data\Tencent\Users\729963870\QQ\WinTemp\RichOle\H_V3[0E95CRYBI6M~VC{XWN.png"/>
          <p:cNvPicPr>
            <a:picLocks noChangeAspect="1" noChangeArrowheads="1"/>
          </p:cNvPicPr>
          <p:nvPr/>
        </p:nvPicPr>
        <p:blipFill>
          <a:blip r:embed="rId3" cstate="print"/>
          <a:srcRect/>
          <a:stretch>
            <a:fillRect/>
          </a:stretch>
        </p:blipFill>
        <p:spPr bwMode="auto">
          <a:xfrm>
            <a:off x="11344172" y="5039966"/>
            <a:ext cx="1533525" cy="1447800"/>
          </a:xfrm>
          <a:prstGeom prst="rect">
            <a:avLst/>
          </a:prstGeom>
          <a:noFill/>
          <a:ln w="9525">
            <a:noFill/>
            <a:miter lim="800000"/>
            <a:headEnd/>
            <a:tailEnd/>
          </a:ln>
        </p:spPr>
      </p:pic>
      <p:pic>
        <p:nvPicPr>
          <p:cNvPr id="8" name="Picture 8" descr="C:\Documents and Settings\Administrator\Application Data\Tencent\Users\729963870\QQ\WinTemp\RichOle\UII)Z``Q1IHGTQM_LVXOEGH.png"/>
          <p:cNvPicPr>
            <a:picLocks noChangeAspect="1" noChangeArrowheads="1"/>
          </p:cNvPicPr>
          <p:nvPr/>
        </p:nvPicPr>
        <p:blipFill>
          <a:blip r:embed="rId4" cstate="print"/>
          <a:srcRect/>
          <a:stretch>
            <a:fillRect/>
          </a:stretch>
        </p:blipFill>
        <p:spPr bwMode="auto">
          <a:xfrm>
            <a:off x="10166247" y="1938675"/>
            <a:ext cx="2711450" cy="2579688"/>
          </a:xfrm>
          <a:prstGeom prst="rect">
            <a:avLst/>
          </a:prstGeom>
          <a:noFill/>
          <a:ln w="9525">
            <a:noFill/>
            <a:miter lim="800000"/>
            <a:headEnd/>
            <a:tailEnd/>
          </a:ln>
        </p:spPr>
      </p:pic>
      <p:sp>
        <p:nvSpPr>
          <p:cNvPr id="12" name="矩形 11"/>
          <p:cNvSpPr/>
          <p:nvPr/>
        </p:nvSpPr>
        <p:spPr>
          <a:xfrm>
            <a:off x="2681825" y="1111015"/>
            <a:ext cx="8066632" cy="523220"/>
          </a:xfrm>
          <a:prstGeom prst="rect">
            <a:avLst/>
          </a:prstGeom>
        </p:spPr>
        <p:txBody>
          <a:bodyPr wrap="none">
            <a:spAutoFit/>
          </a:bodyPr>
          <a:lstStyle/>
          <a:p>
            <a:pPr algn="ctr"/>
            <a:r>
              <a:rPr lang="zh-CN" altLang="en-US" sz="2800" b="1" dirty="0">
                <a:solidFill>
                  <a:srgbClr val="0000CC"/>
                </a:solidFill>
                <a:latin typeface="微软雅黑" pitchFamily="34" charset="-122"/>
                <a:ea typeface="微软雅黑" pitchFamily="34" charset="-122"/>
              </a:rPr>
              <a:t>位置敏感探测器</a:t>
            </a:r>
            <a:r>
              <a:rPr lang="en-US" altLang="zh-CN" sz="2800" b="1" dirty="0">
                <a:solidFill>
                  <a:srgbClr val="0000CC"/>
                </a:solidFill>
                <a:latin typeface="Times New Roman" pitchFamily="18" charset="0"/>
              </a:rPr>
              <a:t>(Position Sensitive Detector</a:t>
            </a:r>
            <a:r>
              <a:rPr lang="zh-CN" altLang="en-US" sz="2800" b="1" dirty="0">
                <a:solidFill>
                  <a:srgbClr val="0000CC"/>
                </a:solidFill>
                <a:latin typeface="Times New Roman" pitchFamily="18" charset="0"/>
              </a:rPr>
              <a:t>，</a:t>
            </a:r>
            <a:r>
              <a:rPr lang="en-US" altLang="zh-CN" sz="2800" b="1" dirty="0">
                <a:solidFill>
                  <a:srgbClr val="0000CC"/>
                </a:solidFill>
                <a:latin typeface="Times New Roman" pitchFamily="18" charset="0"/>
              </a:rPr>
              <a:t>PSD)</a:t>
            </a:r>
            <a:endParaRPr lang="zh-CN" altLang="en-US" sz="2800" b="1" dirty="0">
              <a:solidFill>
                <a:srgbClr val="0000CC"/>
              </a:solidFill>
              <a:latin typeface="微软雅黑" pitchFamily="34" charset="-122"/>
              <a:ea typeface="微软雅黑" pitchFamily="34" charset="-122"/>
            </a:endParaRPr>
          </a:p>
        </p:txBody>
      </p:sp>
      <p:sp>
        <p:nvSpPr>
          <p:cNvPr id="13" name="Text Box 4"/>
          <p:cNvSpPr txBox="1">
            <a:spLocks noChangeArrowheads="1"/>
          </p:cNvSpPr>
          <p:nvPr/>
        </p:nvSpPr>
        <p:spPr bwMode="auto">
          <a:xfrm>
            <a:off x="429747" y="1624495"/>
            <a:ext cx="1031871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eaLnBrk="1" hangingPunct="1">
              <a:lnSpc>
                <a:spcPct val="150000"/>
              </a:lnSpc>
              <a:spcBef>
                <a:spcPts val="0"/>
              </a:spcBef>
            </a:pPr>
            <a:r>
              <a:rPr lang="zh-CN" altLang="en-US" dirty="0">
                <a:latin typeface="Times New Roman" panose="02020603050405020304" pitchFamily="18" charset="0"/>
                <a:ea typeface="微软雅黑" pitchFamily="34" charset="-122"/>
                <a:cs typeface="Times New Roman" panose="02020603050405020304" pitchFamily="18" charset="0"/>
              </a:rPr>
              <a:t>      由一大片电阻均匀分布的</a:t>
            </a:r>
            <a:r>
              <a:rPr lang="en-US" altLang="zh-CN" dirty="0">
                <a:latin typeface="Times New Roman" panose="02020603050405020304" pitchFamily="18" charset="0"/>
                <a:ea typeface="微软雅黑" pitchFamily="34" charset="-122"/>
                <a:cs typeface="Times New Roman" panose="02020603050405020304" pitchFamily="18" charset="0"/>
              </a:rPr>
              <a:t>PIN</a:t>
            </a:r>
            <a:r>
              <a:rPr lang="zh-CN" altLang="en-US" dirty="0">
                <a:latin typeface="Times New Roman" panose="02020603050405020304" pitchFamily="18" charset="0"/>
                <a:ea typeface="微软雅黑" pitchFamily="34" charset="-122"/>
                <a:cs typeface="Times New Roman" panose="02020603050405020304" pitchFamily="18" charset="0"/>
              </a:rPr>
              <a:t>光电二极管构成</a:t>
            </a:r>
            <a:r>
              <a:rPr lang="en-US" altLang="zh-CN" dirty="0">
                <a:latin typeface="Times New Roman" panose="02020603050405020304" pitchFamily="18" charset="0"/>
                <a:ea typeface="微软雅黑" pitchFamily="34" charset="-122"/>
                <a:cs typeface="Times New Roman" panose="02020603050405020304" pitchFamily="18" charset="0"/>
              </a:rPr>
              <a:t>(</a:t>
            </a:r>
            <a:r>
              <a:rPr lang="zh-CN" altLang="en-US" dirty="0">
                <a:latin typeface="Times New Roman" panose="02020603050405020304" pitchFamily="18" charset="0"/>
                <a:ea typeface="微软雅黑" pitchFamily="34" charset="-122"/>
                <a:cs typeface="Times New Roman" panose="02020603050405020304" pitchFamily="18" charset="0"/>
              </a:rPr>
              <a:t>连续</a:t>
            </a:r>
            <a:r>
              <a:rPr lang="en-US" altLang="zh-CN" dirty="0">
                <a:latin typeface="Times New Roman" panose="02020603050405020304" pitchFamily="18" charset="0"/>
                <a:ea typeface="微软雅黑" pitchFamily="34" charset="-122"/>
                <a:cs typeface="Times New Roman" panose="02020603050405020304" pitchFamily="18" charset="0"/>
              </a:rPr>
              <a:t>)</a:t>
            </a:r>
            <a:r>
              <a:rPr lang="zh-CN" altLang="en-US" dirty="0">
                <a:latin typeface="Times New Roman" panose="02020603050405020304" pitchFamily="18" charset="0"/>
                <a:ea typeface="微软雅黑" pitchFamily="34" charset="-122"/>
                <a:cs typeface="Times New Roman" panose="02020603050405020304" pitchFamily="18" charset="0"/>
              </a:rPr>
              <a:t>。</a:t>
            </a:r>
            <a:endParaRPr lang="en-US" altLang="zh-CN" dirty="0">
              <a:latin typeface="Times New Roman" panose="02020603050405020304" pitchFamily="18" charset="0"/>
              <a:ea typeface="微软雅黑" pitchFamily="34" charset="-122"/>
              <a:cs typeface="Times New Roman" panose="02020603050405020304" pitchFamily="18" charset="0"/>
            </a:endParaRPr>
          </a:p>
          <a:p>
            <a:pPr eaLnBrk="1" hangingPunct="1">
              <a:lnSpc>
                <a:spcPct val="150000"/>
              </a:lnSpc>
              <a:spcBef>
                <a:spcPts val="0"/>
              </a:spcBef>
            </a:pPr>
            <a:r>
              <a:rPr lang="zh-CN" altLang="en-US" dirty="0">
                <a:solidFill>
                  <a:srgbClr val="FF0000"/>
                </a:solidFill>
                <a:latin typeface="Times New Roman" panose="02020603050405020304" pitchFamily="18" charset="0"/>
                <a:ea typeface="微软雅黑" pitchFamily="34" charset="-122"/>
                <a:cs typeface="Times New Roman" panose="02020603050405020304" pitchFamily="18" charset="0"/>
              </a:rPr>
              <a:t>横向光电效应</a:t>
            </a:r>
            <a:r>
              <a:rPr lang="zh-CN" altLang="en-US" dirty="0">
                <a:latin typeface="Times New Roman" panose="02020603050405020304" pitchFamily="18" charset="0"/>
                <a:ea typeface="微软雅黑" pitchFamily="34" charset="-122"/>
                <a:cs typeface="Times New Roman" panose="02020603050405020304" pitchFamily="18" charset="0"/>
              </a:rPr>
              <a:t>：光生电流</a:t>
            </a:r>
            <a:r>
              <a:rPr lang="en-US" altLang="zh-CN" dirty="0">
                <a:latin typeface="Times New Roman" panose="02020603050405020304" pitchFamily="18" charset="0"/>
                <a:ea typeface="微软雅黑" pitchFamily="34" charset="-122"/>
                <a:cs typeface="Times New Roman" panose="02020603050405020304" pitchFamily="18" charset="0"/>
              </a:rPr>
              <a:t>/</a:t>
            </a:r>
            <a:r>
              <a:rPr lang="zh-CN" altLang="en-US" dirty="0">
                <a:latin typeface="Times New Roman" panose="02020603050405020304" pitchFamily="18" charset="0"/>
                <a:ea typeface="微软雅黑" pitchFamily="34" charset="-122"/>
                <a:cs typeface="Times New Roman" panose="02020603050405020304" pitchFamily="18" charset="0"/>
              </a:rPr>
              <a:t>电压平行于结。</a:t>
            </a:r>
            <a:endParaRPr lang="en-US" altLang="zh-CN" dirty="0">
              <a:latin typeface="Times New Roman" panose="02020603050405020304" pitchFamily="18" charset="0"/>
              <a:ea typeface="微软雅黑" pitchFamily="34" charset="-122"/>
              <a:cs typeface="Times New Roman" panose="02020603050405020304" pitchFamily="18" charset="0"/>
            </a:endParaRPr>
          </a:p>
        </p:txBody>
      </p:sp>
      <p:graphicFrame>
        <p:nvGraphicFramePr>
          <p:cNvPr id="14" name="图示 13"/>
          <p:cNvGraphicFramePr/>
          <p:nvPr>
            <p:extLst>
              <p:ext uri="{D42A27DB-BD31-4B8C-83A1-F6EECF244321}">
                <p14:modId xmlns:p14="http://schemas.microsoft.com/office/powerpoint/2010/main" val="805678297"/>
              </p:ext>
            </p:extLst>
          </p:nvPr>
        </p:nvGraphicFramePr>
        <p:xfrm>
          <a:off x="3008491" y="3009490"/>
          <a:ext cx="4604629" cy="4246776"/>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5" name="Text Box 5"/>
          <p:cNvSpPr txBox="1">
            <a:spLocks noChangeArrowheads="1"/>
          </p:cNvSpPr>
          <p:nvPr/>
        </p:nvSpPr>
        <p:spPr bwMode="auto">
          <a:xfrm>
            <a:off x="604287" y="4347468"/>
            <a:ext cx="2039522"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eaLnBrk="1" hangingPunct="1">
              <a:lnSpc>
                <a:spcPct val="150000"/>
              </a:lnSpc>
              <a:spcBef>
                <a:spcPts val="0"/>
              </a:spcBef>
            </a:pPr>
            <a:r>
              <a:rPr lang="zh-CN" altLang="en-US" dirty="0">
                <a:solidFill>
                  <a:srgbClr val="0000CC"/>
                </a:solidFill>
                <a:latin typeface="微软雅黑" pitchFamily="34" charset="-122"/>
                <a:ea typeface="微软雅黑" pitchFamily="34" charset="-122"/>
              </a:rPr>
              <a:t>与离散单元探测器相比</a:t>
            </a:r>
            <a:endParaRPr lang="en-US" altLang="zh-CN" dirty="0">
              <a:solidFill>
                <a:srgbClr val="0000CC"/>
              </a:solidFill>
              <a:latin typeface="微软雅黑" pitchFamily="34" charset="-122"/>
              <a:ea typeface="微软雅黑" pitchFamily="34" charset="-122"/>
            </a:endParaRPr>
          </a:p>
        </p:txBody>
      </p:sp>
      <p:grpSp>
        <p:nvGrpSpPr>
          <p:cNvPr id="16" name="组合 15">
            <a:extLst>
              <a:ext uri="{FF2B5EF4-FFF2-40B4-BE49-F238E27FC236}">
                <a16:creationId xmlns:a16="http://schemas.microsoft.com/office/drawing/2014/main" id="{6BCF4CDC-A62F-44BD-9632-4CCCF48B3E48}"/>
              </a:ext>
            </a:extLst>
          </p:cNvPr>
          <p:cNvGrpSpPr/>
          <p:nvPr/>
        </p:nvGrpSpPr>
        <p:grpSpPr>
          <a:xfrm>
            <a:off x="0" y="293282"/>
            <a:ext cx="13161246" cy="7421968"/>
            <a:chOff x="0" y="293282"/>
            <a:chExt cx="13161246" cy="7421968"/>
          </a:xfrm>
        </p:grpSpPr>
        <p:sp>
          <p:nvSpPr>
            <p:cNvPr id="23" name="文本框 60">
              <a:extLst>
                <a:ext uri="{FF2B5EF4-FFF2-40B4-BE49-F238E27FC236}">
                  <a16:creationId xmlns:a16="http://schemas.microsoft.com/office/drawing/2014/main" id="{DC0D0DFE-AFB3-454A-B18C-5CE9BD7E1177}"/>
                </a:ext>
              </a:extLst>
            </p:cNvPr>
            <p:cNvSpPr txBox="1"/>
            <p:nvPr/>
          </p:nvSpPr>
          <p:spPr>
            <a:xfrm>
              <a:off x="1364781" y="293282"/>
              <a:ext cx="3569826"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位置敏感探测器结构与工作原理</a:t>
              </a:r>
            </a:p>
          </p:txBody>
        </p:sp>
        <p:sp>
          <p:nvSpPr>
            <p:cNvPr id="24" name="矩形 23">
              <a:extLst>
                <a:ext uri="{FF2B5EF4-FFF2-40B4-BE49-F238E27FC236}">
                  <a16:creationId xmlns:a16="http://schemas.microsoft.com/office/drawing/2014/main" id="{497B0035-AB3F-4B25-963E-4C7A2B0EB3E9}"/>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id="{CD256797-CC27-4793-9941-1CACB675EE5A}"/>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02DA4C10-9BF2-4A6F-AEE5-7178F5A50AEC}"/>
                </a:ext>
              </a:extLst>
            </p:cNvPr>
            <p:cNvSpPr/>
            <p:nvPr/>
          </p:nvSpPr>
          <p:spPr>
            <a:xfrm>
              <a:off x="304801" y="293282"/>
              <a:ext cx="979824"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4.7.1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7" name="直接连接符 58">
              <a:extLst>
                <a:ext uri="{FF2B5EF4-FFF2-40B4-BE49-F238E27FC236}">
                  <a16:creationId xmlns:a16="http://schemas.microsoft.com/office/drawing/2014/main" id="{E679F3D0-5E7F-45C5-8BFB-BEBA00484F64}"/>
                </a:ext>
              </a:extLst>
            </p:cNvPr>
            <p:cNvCxnSpPr>
              <a:cxnSpLocks/>
            </p:cNvCxnSpPr>
            <p:nvPr/>
          </p:nvCxnSpPr>
          <p:spPr>
            <a:xfrm>
              <a:off x="1450506" y="710998"/>
              <a:ext cx="3336956"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a16="http://schemas.microsoft.com/office/drawing/2014/main" id="{825413AA-E93E-40DA-B1A0-96CD43A7928B}"/>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9" name="矩形 28">
              <a:extLst>
                <a:ext uri="{FF2B5EF4-FFF2-40B4-BE49-F238E27FC236}">
                  <a16:creationId xmlns:a16="http://schemas.microsoft.com/office/drawing/2014/main" id="{3CA81039-04D9-4942-8F45-8FE274003927}"/>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extLst>
      <p:ext uri="{BB962C8B-B14F-4D97-AF65-F5344CB8AC3E}">
        <p14:creationId xmlns:p14="http://schemas.microsoft.com/office/powerpoint/2010/main" val="602969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par>
                                <p:cTn id="10" presetID="53" presetClass="entr" presetSubtype="16"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4" presetClass="entr" presetSubtype="16"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box(in)">
                                      <p:cBhvr>
                                        <p:cTn id="24" dur="5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4" presetClass="entr" presetSubtype="16"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box(in)">
                                      <p:cBhvr>
                                        <p:cTn id="29" dur="500"/>
                                        <p:tgtEl>
                                          <p:spTgt spid="15"/>
                                        </p:tgtEl>
                                      </p:cBhvr>
                                    </p:animEffect>
                                  </p:childTnLst>
                                </p:cTn>
                              </p:par>
                            </p:childTnLst>
                          </p:cTn>
                        </p:par>
                      </p:childTnLst>
                    </p:cTn>
                  </p:par>
                  <p:par>
                    <p:cTn id="30" fill="hold">
                      <p:stCondLst>
                        <p:cond delay="indefinite"/>
                      </p:stCondLst>
                      <p:childTnLst>
                        <p:par>
                          <p:cTn id="31" fill="hold">
                            <p:stCondLst>
                              <p:cond delay="0"/>
                            </p:stCondLst>
                            <p:childTnLst>
                              <p:par>
                                <p:cTn id="32" presetID="53" presetClass="entr" presetSubtype="16" fill="hold" grpId="0" nodeType="clickEffect">
                                  <p:stCondLst>
                                    <p:cond delay="0"/>
                                  </p:stCondLst>
                                  <p:childTnLst>
                                    <p:set>
                                      <p:cBhvr>
                                        <p:cTn id="33" dur="1" fill="hold">
                                          <p:stCondLst>
                                            <p:cond delay="0"/>
                                          </p:stCondLst>
                                        </p:cTn>
                                        <p:tgtEl>
                                          <p:spTgt spid="14"/>
                                        </p:tgtEl>
                                        <p:attrNameLst>
                                          <p:attrName>style.visibility</p:attrName>
                                        </p:attrNameLst>
                                      </p:cBhvr>
                                      <p:to>
                                        <p:strVal val="visible"/>
                                      </p:to>
                                    </p:set>
                                    <p:anim calcmode="lin" valueType="num">
                                      <p:cBhvr>
                                        <p:cTn id="34" dur="500" fill="hold"/>
                                        <p:tgtEl>
                                          <p:spTgt spid="14"/>
                                        </p:tgtEl>
                                        <p:attrNameLst>
                                          <p:attrName>ppt_w</p:attrName>
                                        </p:attrNameLst>
                                      </p:cBhvr>
                                      <p:tavLst>
                                        <p:tav tm="0">
                                          <p:val>
                                            <p:fltVal val="0"/>
                                          </p:val>
                                        </p:tav>
                                        <p:tav tm="100000">
                                          <p:val>
                                            <p:strVal val="#ppt_w"/>
                                          </p:val>
                                        </p:tav>
                                      </p:tavLst>
                                    </p:anim>
                                    <p:anim calcmode="lin" valueType="num">
                                      <p:cBhvr>
                                        <p:cTn id="35" dur="500" fill="hold"/>
                                        <p:tgtEl>
                                          <p:spTgt spid="14"/>
                                        </p:tgtEl>
                                        <p:attrNameLst>
                                          <p:attrName>ppt_h</p:attrName>
                                        </p:attrNameLst>
                                      </p:cBhvr>
                                      <p:tavLst>
                                        <p:tav tm="0">
                                          <p:val>
                                            <p:fltVal val="0"/>
                                          </p:val>
                                        </p:tav>
                                        <p:tav tm="100000">
                                          <p:val>
                                            <p:strVal val="#ppt_h"/>
                                          </p:val>
                                        </p:tav>
                                      </p:tavLst>
                                    </p:anim>
                                    <p:animEffect transition="in" filter="fade">
                                      <p:cBhvr>
                                        <p:cTn id="3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Graphic spid="14" grpId="0">
        <p:bldAsOne/>
      </p:bldGraphic>
      <p:bldP spid="1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TextBox 2"/>
          <p:cNvSpPr txBox="1">
            <a:spLocks noChangeArrowheads="1"/>
          </p:cNvSpPr>
          <p:nvPr/>
        </p:nvSpPr>
        <p:spPr bwMode="auto">
          <a:xfrm>
            <a:off x="3560324" y="1144459"/>
            <a:ext cx="5729591" cy="523220"/>
          </a:xfrm>
          <a:prstGeom prst="rect">
            <a:avLst/>
          </a:prstGeom>
          <a:noFill/>
          <a:ln w="25400">
            <a:noFill/>
            <a:miter lim="800000"/>
            <a:headEnd/>
            <a:tailEnd/>
          </a:ln>
        </p:spPr>
        <p:txBody>
          <a:bodyPr wrap="square">
            <a:spAutoFit/>
          </a:bodyPr>
          <a:lstStyle/>
          <a:p>
            <a:pPr defTabSz="914400"/>
            <a:r>
              <a:rPr lang="en-US" altLang="zh-CN" sz="2800" b="1" dirty="0">
                <a:solidFill>
                  <a:srgbClr val="FF0066"/>
                </a:solidFill>
                <a:latin typeface="Times New Roman" pitchFamily="18" charset="0"/>
              </a:rPr>
              <a:t>non-contact distance </a:t>
            </a:r>
            <a:r>
              <a:rPr lang="en-US" altLang="zh-CN" sz="2800" b="1" dirty="0">
                <a:latin typeface="Times New Roman" pitchFamily="18" charset="0"/>
              </a:rPr>
              <a:t>measurement</a:t>
            </a:r>
            <a:endParaRPr lang="zh-CN" altLang="en-US" sz="2800" b="1" dirty="0">
              <a:latin typeface="楷体_GB2312" pitchFamily="49" charset="-122"/>
              <a:ea typeface="楷体_GB2312" pitchFamily="49" charset="-122"/>
            </a:endParaRPr>
          </a:p>
        </p:txBody>
      </p:sp>
      <p:sp>
        <p:nvSpPr>
          <p:cNvPr id="45060" name="TextBox 3"/>
          <p:cNvSpPr txBox="1">
            <a:spLocks noChangeArrowheads="1"/>
          </p:cNvSpPr>
          <p:nvPr/>
        </p:nvSpPr>
        <p:spPr bwMode="auto">
          <a:xfrm>
            <a:off x="8853114" y="3401277"/>
            <a:ext cx="3867150" cy="544512"/>
          </a:xfrm>
          <a:prstGeom prst="rect">
            <a:avLst/>
          </a:prstGeom>
          <a:noFill/>
          <a:ln w="25400">
            <a:noFill/>
            <a:miter lim="800000"/>
            <a:headEnd/>
            <a:tailEnd/>
          </a:ln>
        </p:spPr>
        <p:txBody>
          <a:bodyPr>
            <a:spAutoFit/>
          </a:bodyPr>
          <a:lstStyle/>
          <a:p>
            <a:pPr defTabSz="914400"/>
            <a:r>
              <a:rPr lang="en-US" altLang="zh-CN" sz="2800" b="1">
                <a:solidFill>
                  <a:srgbClr val="FF0066"/>
                </a:solidFill>
                <a:latin typeface="Times New Roman" pitchFamily="18" charset="0"/>
              </a:rPr>
              <a:t>Laser beam alignment</a:t>
            </a:r>
            <a:endParaRPr lang="zh-CN" altLang="en-US" sz="2800" b="1">
              <a:latin typeface="楷体_GB2312" pitchFamily="49" charset="-122"/>
              <a:ea typeface="楷体_GB2312" pitchFamily="49" charset="-122"/>
            </a:endParaRPr>
          </a:p>
        </p:txBody>
      </p:sp>
      <p:sp>
        <p:nvSpPr>
          <p:cNvPr id="45061" name="TextBox 4"/>
          <p:cNvSpPr txBox="1">
            <a:spLocks noChangeArrowheads="1"/>
          </p:cNvSpPr>
          <p:nvPr/>
        </p:nvSpPr>
        <p:spPr bwMode="auto">
          <a:xfrm>
            <a:off x="5097260" y="6596790"/>
            <a:ext cx="4800600" cy="544512"/>
          </a:xfrm>
          <a:prstGeom prst="rect">
            <a:avLst/>
          </a:prstGeom>
          <a:noFill/>
          <a:ln w="25400">
            <a:noFill/>
            <a:miter lim="800000"/>
            <a:headEnd/>
            <a:tailEnd/>
          </a:ln>
        </p:spPr>
        <p:txBody>
          <a:bodyPr>
            <a:spAutoFit/>
          </a:bodyPr>
          <a:lstStyle/>
          <a:p>
            <a:pPr defTabSz="914400"/>
            <a:r>
              <a:rPr lang="en-US" altLang="zh-CN" sz="2800" b="1">
                <a:solidFill>
                  <a:srgbClr val="FF0066"/>
                </a:solidFill>
                <a:latin typeface="Times New Roman" pitchFamily="18" charset="0"/>
              </a:rPr>
              <a:t>Optical tracking of an object</a:t>
            </a:r>
            <a:endParaRPr lang="zh-CN" altLang="en-US" sz="2800" b="1">
              <a:latin typeface="楷体_GB2312" pitchFamily="49" charset="-122"/>
              <a:ea typeface="楷体_GB2312" pitchFamily="49" charset="-122"/>
            </a:endParaRPr>
          </a:p>
        </p:txBody>
      </p:sp>
      <p:graphicFrame>
        <p:nvGraphicFramePr>
          <p:cNvPr id="11" name="图示 10"/>
          <p:cNvGraphicFramePr/>
          <p:nvPr>
            <p:extLst>
              <p:ext uri="{D42A27DB-BD31-4B8C-83A1-F6EECF244321}">
                <p14:modId xmlns:p14="http://schemas.microsoft.com/office/powerpoint/2010/main" val="800103222"/>
              </p:ext>
            </p:extLst>
          </p:nvPr>
        </p:nvGraphicFramePr>
        <p:xfrm>
          <a:off x="3941017" y="1901869"/>
          <a:ext cx="4736053" cy="43529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12" name="组合 11">
            <a:extLst>
              <a:ext uri="{FF2B5EF4-FFF2-40B4-BE49-F238E27FC236}">
                <a16:creationId xmlns:a16="http://schemas.microsoft.com/office/drawing/2014/main" id="{053F7513-6445-4040-8B62-CA05DC73CD8C}"/>
              </a:ext>
            </a:extLst>
          </p:cNvPr>
          <p:cNvGrpSpPr/>
          <p:nvPr/>
        </p:nvGrpSpPr>
        <p:grpSpPr>
          <a:xfrm>
            <a:off x="0" y="293282"/>
            <a:ext cx="13161246" cy="7421968"/>
            <a:chOff x="0" y="293282"/>
            <a:chExt cx="13161246" cy="7421968"/>
          </a:xfrm>
        </p:grpSpPr>
        <p:sp>
          <p:nvSpPr>
            <p:cNvPr id="13" name="文本框 60">
              <a:extLst>
                <a:ext uri="{FF2B5EF4-FFF2-40B4-BE49-F238E27FC236}">
                  <a16:creationId xmlns:a16="http://schemas.microsoft.com/office/drawing/2014/main" id="{E91FD907-FE2B-4F3A-9BED-55238319878E}"/>
                </a:ext>
              </a:extLst>
            </p:cNvPr>
            <p:cNvSpPr txBox="1"/>
            <p:nvPr/>
          </p:nvSpPr>
          <p:spPr>
            <a:xfrm>
              <a:off x="1364781" y="293282"/>
              <a:ext cx="3569826"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位置敏感探测器结构与工作原理</a:t>
              </a:r>
            </a:p>
          </p:txBody>
        </p:sp>
        <p:sp>
          <p:nvSpPr>
            <p:cNvPr id="20" name="矩形 19">
              <a:extLst>
                <a:ext uri="{FF2B5EF4-FFF2-40B4-BE49-F238E27FC236}">
                  <a16:creationId xmlns:a16="http://schemas.microsoft.com/office/drawing/2014/main" id="{EA57CA9A-A5EB-48DB-8510-614E35EAC42A}"/>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1" name="矩形 20">
              <a:extLst>
                <a:ext uri="{FF2B5EF4-FFF2-40B4-BE49-F238E27FC236}">
                  <a16:creationId xmlns:a16="http://schemas.microsoft.com/office/drawing/2014/main" id="{E9923D61-E480-420D-B3C4-F09D001FE000}"/>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圆角 21">
              <a:extLst>
                <a:ext uri="{FF2B5EF4-FFF2-40B4-BE49-F238E27FC236}">
                  <a16:creationId xmlns:a16="http://schemas.microsoft.com/office/drawing/2014/main" id="{413883B8-CFC7-41D3-B866-9B07A3DD18C1}"/>
                </a:ext>
              </a:extLst>
            </p:cNvPr>
            <p:cNvSpPr/>
            <p:nvPr/>
          </p:nvSpPr>
          <p:spPr>
            <a:xfrm>
              <a:off x="304801" y="293282"/>
              <a:ext cx="979824"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4.7.1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3" name="直接连接符 58">
              <a:extLst>
                <a:ext uri="{FF2B5EF4-FFF2-40B4-BE49-F238E27FC236}">
                  <a16:creationId xmlns:a16="http://schemas.microsoft.com/office/drawing/2014/main" id="{B84B90EE-E0B3-4DFF-AC9A-6403F230F984}"/>
                </a:ext>
              </a:extLst>
            </p:cNvPr>
            <p:cNvCxnSpPr>
              <a:cxnSpLocks/>
            </p:cNvCxnSpPr>
            <p:nvPr/>
          </p:nvCxnSpPr>
          <p:spPr>
            <a:xfrm>
              <a:off x="1450506" y="710998"/>
              <a:ext cx="3336956"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4" name="矩形 23">
              <a:extLst>
                <a:ext uri="{FF2B5EF4-FFF2-40B4-BE49-F238E27FC236}">
                  <a16:creationId xmlns:a16="http://schemas.microsoft.com/office/drawing/2014/main" id="{14886606-3A70-4114-8850-FE08B05484F6}"/>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5" name="矩形 24">
              <a:extLst>
                <a:ext uri="{FF2B5EF4-FFF2-40B4-BE49-F238E27FC236}">
                  <a16:creationId xmlns:a16="http://schemas.microsoft.com/office/drawing/2014/main" id="{7297757C-E69B-40E2-9915-19F13F48C6AF}"/>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childTnLst>
                    </p:cTn>
                  </p:par>
                  <p:par>
                    <p:cTn id="10" fill="hold">
                      <p:stCondLst>
                        <p:cond delay="indefinite"/>
                      </p:stCondLst>
                      <p:childTnLst>
                        <p:par>
                          <p:cTn id="11" fill="hold">
                            <p:stCondLst>
                              <p:cond delay="0"/>
                            </p:stCondLst>
                            <p:childTnLst>
                              <p:par>
                                <p:cTn id="12" presetID="4" presetClass="entr" presetSubtype="16" fill="hold" grpId="0" nodeType="clickEffect">
                                  <p:stCondLst>
                                    <p:cond delay="0"/>
                                  </p:stCondLst>
                                  <p:childTnLst>
                                    <p:set>
                                      <p:cBhvr>
                                        <p:cTn id="13" dur="1" fill="hold">
                                          <p:stCondLst>
                                            <p:cond delay="0"/>
                                          </p:stCondLst>
                                        </p:cTn>
                                        <p:tgtEl>
                                          <p:spTgt spid="45059"/>
                                        </p:tgtEl>
                                        <p:attrNameLst>
                                          <p:attrName>style.visibility</p:attrName>
                                        </p:attrNameLst>
                                      </p:cBhvr>
                                      <p:to>
                                        <p:strVal val="visible"/>
                                      </p:to>
                                    </p:set>
                                    <p:animEffect transition="in" filter="box(in)">
                                      <p:cBhvr>
                                        <p:cTn id="14" dur="500"/>
                                        <p:tgtEl>
                                          <p:spTgt spid="45059"/>
                                        </p:tgtEl>
                                      </p:cBhvr>
                                    </p:animEffect>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grpId="0" nodeType="clickEffect">
                                  <p:stCondLst>
                                    <p:cond delay="0"/>
                                  </p:stCondLst>
                                  <p:childTnLst>
                                    <p:set>
                                      <p:cBhvr>
                                        <p:cTn id="18" dur="1" fill="hold">
                                          <p:stCondLst>
                                            <p:cond delay="0"/>
                                          </p:stCondLst>
                                        </p:cTn>
                                        <p:tgtEl>
                                          <p:spTgt spid="45060"/>
                                        </p:tgtEl>
                                        <p:attrNameLst>
                                          <p:attrName>style.visibility</p:attrName>
                                        </p:attrNameLst>
                                      </p:cBhvr>
                                      <p:to>
                                        <p:strVal val="visible"/>
                                      </p:to>
                                    </p:set>
                                    <p:animEffect transition="in" filter="box(in)">
                                      <p:cBhvr>
                                        <p:cTn id="19" dur="500"/>
                                        <p:tgtEl>
                                          <p:spTgt spid="45060"/>
                                        </p:tgtEl>
                                      </p:cBhvr>
                                    </p:animEffect>
                                  </p:childTnLst>
                                </p:cTn>
                              </p:par>
                            </p:childTnLst>
                          </p:cTn>
                        </p:par>
                      </p:childTnLst>
                    </p:cTn>
                  </p:par>
                  <p:par>
                    <p:cTn id="20" fill="hold">
                      <p:stCondLst>
                        <p:cond delay="indefinite"/>
                      </p:stCondLst>
                      <p:childTnLst>
                        <p:par>
                          <p:cTn id="21" fill="hold">
                            <p:stCondLst>
                              <p:cond delay="0"/>
                            </p:stCondLst>
                            <p:childTnLst>
                              <p:par>
                                <p:cTn id="22" presetID="4" presetClass="entr" presetSubtype="16" fill="hold" grpId="0" nodeType="clickEffect">
                                  <p:stCondLst>
                                    <p:cond delay="0"/>
                                  </p:stCondLst>
                                  <p:childTnLst>
                                    <p:set>
                                      <p:cBhvr>
                                        <p:cTn id="23" dur="1" fill="hold">
                                          <p:stCondLst>
                                            <p:cond delay="0"/>
                                          </p:stCondLst>
                                        </p:cTn>
                                        <p:tgtEl>
                                          <p:spTgt spid="45061"/>
                                        </p:tgtEl>
                                        <p:attrNameLst>
                                          <p:attrName>style.visibility</p:attrName>
                                        </p:attrNameLst>
                                      </p:cBhvr>
                                      <p:to>
                                        <p:strVal val="visible"/>
                                      </p:to>
                                    </p:set>
                                    <p:animEffect transition="in" filter="box(in)">
                                      <p:cBhvr>
                                        <p:cTn id="24" dur="500"/>
                                        <p:tgtEl>
                                          <p:spTgt spid="450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p:bldP spid="45060" grpId="0"/>
      <p:bldP spid="45061" grpId="0"/>
      <p:bldGraphic spid="11" grpId="0">
        <p:bldAsOne/>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40" name="Rectangle 3"/>
          <p:cNvSpPr>
            <a:spLocks noChangeArrowheads="1"/>
          </p:cNvSpPr>
          <p:nvPr/>
        </p:nvSpPr>
        <p:spPr bwMode="auto">
          <a:xfrm>
            <a:off x="252413" y="3252788"/>
            <a:ext cx="184150" cy="641350"/>
          </a:xfrm>
          <a:prstGeom prst="rect">
            <a:avLst/>
          </a:prstGeom>
          <a:noFill/>
          <a:ln w="9525">
            <a:noFill/>
            <a:miter lim="800000"/>
            <a:headEnd/>
            <a:tailEnd/>
          </a:ln>
        </p:spPr>
        <p:txBody>
          <a:bodyPr wrap="none" anchor="ctr">
            <a:spAutoFit/>
          </a:bodyPr>
          <a:lstStyle/>
          <a:p>
            <a:pPr defTabSz="914400"/>
            <a:endParaRPr lang="zh-CN" altLang="en-US" sz="3600" b="1">
              <a:latin typeface="Times New Roman" pitchFamily="18" charset="0"/>
              <a:ea typeface="微软雅黑" pitchFamily="34" charset="-122"/>
              <a:cs typeface="Times New Roman" pitchFamily="18" charset="0"/>
            </a:endParaRPr>
          </a:p>
        </p:txBody>
      </p:sp>
      <p:sp>
        <p:nvSpPr>
          <p:cNvPr id="18441" name="Rectangle 4"/>
          <p:cNvSpPr>
            <a:spLocks noChangeArrowheads="1"/>
          </p:cNvSpPr>
          <p:nvPr/>
        </p:nvSpPr>
        <p:spPr bwMode="auto">
          <a:xfrm>
            <a:off x="252413" y="3241675"/>
            <a:ext cx="184150" cy="641350"/>
          </a:xfrm>
          <a:prstGeom prst="rect">
            <a:avLst/>
          </a:prstGeom>
          <a:noFill/>
          <a:ln w="9525">
            <a:noFill/>
            <a:miter lim="800000"/>
            <a:headEnd/>
            <a:tailEnd/>
          </a:ln>
        </p:spPr>
        <p:txBody>
          <a:bodyPr wrap="none" anchor="ctr">
            <a:spAutoFit/>
          </a:bodyPr>
          <a:lstStyle/>
          <a:p>
            <a:pPr defTabSz="914400"/>
            <a:endParaRPr lang="zh-CN" altLang="en-US" sz="3600" b="1">
              <a:latin typeface="Times New Roman" pitchFamily="18" charset="0"/>
              <a:ea typeface="微软雅黑" pitchFamily="34" charset="-122"/>
              <a:cs typeface="Times New Roman" pitchFamily="18" charset="0"/>
            </a:endParaRPr>
          </a:p>
        </p:txBody>
      </p:sp>
      <p:sp>
        <p:nvSpPr>
          <p:cNvPr id="33797" name="Rectangle 8"/>
          <p:cNvSpPr>
            <a:spLocks noChangeArrowheads="1"/>
          </p:cNvSpPr>
          <p:nvPr/>
        </p:nvSpPr>
        <p:spPr bwMode="auto">
          <a:xfrm>
            <a:off x="4320005" y="6500813"/>
            <a:ext cx="5022850" cy="579437"/>
          </a:xfrm>
          <a:prstGeom prst="rect">
            <a:avLst/>
          </a:prstGeom>
          <a:noFill/>
          <a:ln w="9525">
            <a:noFill/>
            <a:miter lim="800000"/>
            <a:headEnd/>
            <a:tailEnd/>
          </a:ln>
        </p:spPr>
        <p:txBody>
          <a:bodyPr anchor="ctr">
            <a:spAutoFit/>
          </a:bodyPr>
          <a:lstStyle/>
          <a:p>
            <a:pPr algn="ctr" defTabSz="914400">
              <a:defRPr/>
            </a:pPr>
            <a:r>
              <a:rPr lang="zh-CN" altLang="en-US" sz="3200" b="1" dirty="0">
                <a:solidFill>
                  <a:srgbClr val="0000CC"/>
                </a:solidFill>
                <a:latin typeface="Times New Roman" pitchFamily="18" charset="0"/>
                <a:ea typeface="微软雅黑" pitchFamily="34" charset="-122"/>
                <a:cs typeface="Times New Roman" pitchFamily="18" charset="0"/>
              </a:rPr>
              <a:t>一维</a:t>
            </a:r>
            <a:r>
              <a:rPr lang="en-US" altLang="zh-CN" sz="3200" b="1" dirty="0">
                <a:solidFill>
                  <a:srgbClr val="0000CC"/>
                </a:solidFill>
                <a:latin typeface="Times New Roman" pitchFamily="18" charset="0"/>
                <a:ea typeface="微软雅黑" pitchFamily="34" charset="-122"/>
                <a:cs typeface="Times New Roman" pitchFamily="18" charset="0"/>
              </a:rPr>
              <a:t>PSD </a:t>
            </a:r>
            <a:r>
              <a:rPr lang="zh-CN" altLang="en-US" sz="3200" b="1" dirty="0">
                <a:solidFill>
                  <a:srgbClr val="0000CC"/>
                </a:solidFill>
                <a:latin typeface="Times New Roman" pitchFamily="18" charset="0"/>
                <a:ea typeface="微软雅黑" pitchFamily="34" charset="-122"/>
                <a:cs typeface="Times New Roman" pitchFamily="18" charset="0"/>
              </a:rPr>
              <a:t>结构</a:t>
            </a:r>
          </a:p>
        </p:txBody>
      </p:sp>
      <p:sp>
        <p:nvSpPr>
          <p:cNvPr id="11" name="矩形 2"/>
          <p:cNvSpPr>
            <a:spLocks noChangeArrowheads="1"/>
          </p:cNvSpPr>
          <p:nvPr/>
        </p:nvSpPr>
        <p:spPr bwMode="auto">
          <a:xfrm>
            <a:off x="3853280" y="4398963"/>
            <a:ext cx="6311900" cy="574675"/>
          </a:xfrm>
          <a:prstGeom prst="rect">
            <a:avLst/>
          </a:prstGeom>
          <a:solidFill>
            <a:srgbClr val="00CC00"/>
          </a:solidFill>
          <a:ln w="31750" algn="ctr">
            <a:solidFill>
              <a:srgbClr val="000000"/>
            </a:solidFill>
            <a:round/>
            <a:headEnd/>
            <a:tailEnd/>
          </a:ln>
        </p:spPr>
        <p:txBody>
          <a:bodyPr/>
          <a:lstStyle/>
          <a:p>
            <a:pPr defTabSz="914400"/>
            <a:endParaRPr lang="zh-CN" altLang="en-US" sz="2400" b="1">
              <a:latin typeface="楷体_GB2312" pitchFamily="49" charset="-122"/>
              <a:ea typeface="楷体_GB2312" pitchFamily="49" charset="-122"/>
            </a:endParaRPr>
          </a:p>
        </p:txBody>
      </p:sp>
      <p:sp>
        <p:nvSpPr>
          <p:cNvPr id="13" name="矩形 3"/>
          <p:cNvSpPr>
            <a:spLocks noChangeArrowheads="1"/>
          </p:cNvSpPr>
          <p:nvPr/>
        </p:nvSpPr>
        <p:spPr bwMode="auto">
          <a:xfrm>
            <a:off x="3853280" y="2603500"/>
            <a:ext cx="6311900" cy="574675"/>
          </a:xfrm>
          <a:prstGeom prst="rect">
            <a:avLst/>
          </a:prstGeom>
          <a:solidFill>
            <a:srgbClr val="FFC000"/>
          </a:solidFill>
          <a:ln w="31750" algn="ctr">
            <a:solidFill>
              <a:srgbClr val="000000"/>
            </a:solidFill>
            <a:round/>
            <a:headEnd/>
            <a:tailEnd/>
          </a:ln>
        </p:spPr>
        <p:txBody>
          <a:bodyPr/>
          <a:lstStyle/>
          <a:p>
            <a:pPr defTabSz="914400"/>
            <a:endParaRPr lang="zh-CN" altLang="en-US" sz="2400" b="1">
              <a:latin typeface="楷体_GB2312" pitchFamily="49" charset="-122"/>
              <a:ea typeface="楷体_GB2312" pitchFamily="49" charset="-122"/>
            </a:endParaRPr>
          </a:p>
        </p:txBody>
      </p:sp>
      <p:sp>
        <p:nvSpPr>
          <p:cNvPr id="14" name="矩形 13"/>
          <p:cNvSpPr/>
          <p:nvPr/>
        </p:nvSpPr>
        <p:spPr bwMode="auto">
          <a:xfrm>
            <a:off x="3853280" y="3178175"/>
            <a:ext cx="6311900" cy="1220788"/>
          </a:xfrm>
          <a:prstGeom prst="rect">
            <a:avLst/>
          </a:prstGeom>
          <a:solidFill>
            <a:schemeClr val="accent1">
              <a:lumMod val="60000"/>
              <a:lumOff val="40000"/>
            </a:schemeClr>
          </a:solidFill>
          <a:ln w="31750" cap="flat" cmpd="sng" algn="ctr">
            <a:solidFill>
              <a:srgbClr val="000000"/>
            </a:solidFill>
            <a:prstDash val="solid"/>
            <a:round/>
            <a:headEnd type="none" w="med" len="med"/>
            <a:tailEnd type="none" w="med" len="med"/>
          </a:ln>
          <a:effectLst/>
        </p:spPr>
        <p:txBody>
          <a:bodyPr/>
          <a:lstStyle/>
          <a:p>
            <a:pPr defTabSz="914400">
              <a:defRPr/>
            </a:pPr>
            <a:endParaRPr lang="zh-CN" altLang="en-US" sz="2400" b="1">
              <a:latin typeface="楷体_GB2312" pitchFamily="49" charset="-122"/>
              <a:ea typeface="楷体_GB2312" pitchFamily="49" charset="-122"/>
            </a:endParaRPr>
          </a:p>
        </p:txBody>
      </p:sp>
      <p:sp>
        <p:nvSpPr>
          <p:cNvPr id="15" name="Rectangle 2" descr="宽下对角线"/>
          <p:cNvSpPr>
            <a:spLocks noChangeArrowheads="1"/>
          </p:cNvSpPr>
          <p:nvPr/>
        </p:nvSpPr>
        <p:spPr bwMode="auto">
          <a:xfrm>
            <a:off x="9457155" y="2244725"/>
            <a:ext cx="708025" cy="358775"/>
          </a:xfrm>
          <a:prstGeom prst="rect">
            <a:avLst/>
          </a:prstGeom>
          <a:pattFill prst="wdDnDiag">
            <a:fgClr>
              <a:srgbClr val="000000"/>
            </a:fgClr>
            <a:bgClr>
              <a:srgbClr val="FFFFFF"/>
            </a:bgClr>
          </a:pattFill>
          <a:ln w="31750">
            <a:solidFill>
              <a:srgbClr val="000000"/>
            </a:solidFill>
            <a:miter lim="800000"/>
            <a:headEnd/>
            <a:tailEnd/>
          </a:ln>
        </p:spPr>
        <p:txBody>
          <a:bodyPr/>
          <a:lstStyle/>
          <a:p>
            <a:pPr defTabSz="914400"/>
            <a:endParaRPr lang="zh-CN" altLang="en-US" sz="2800" b="1">
              <a:latin typeface="楷体_GB2312" pitchFamily="49" charset="-122"/>
              <a:ea typeface="楷体_GB2312" pitchFamily="49" charset="-122"/>
            </a:endParaRPr>
          </a:p>
        </p:txBody>
      </p:sp>
      <p:sp>
        <p:nvSpPr>
          <p:cNvPr id="16" name="Rectangle 2" descr="宽下对角线"/>
          <p:cNvSpPr>
            <a:spLocks noChangeArrowheads="1"/>
          </p:cNvSpPr>
          <p:nvPr/>
        </p:nvSpPr>
        <p:spPr bwMode="auto">
          <a:xfrm>
            <a:off x="3853280" y="4986338"/>
            <a:ext cx="6311900" cy="177800"/>
          </a:xfrm>
          <a:prstGeom prst="rect">
            <a:avLst/>
          </a:prstGeom>
          <a:pattFill prst="wdDnDiag">
            <a:fgClr>
              <a:srgbClr val="000000"/>
            </a:fgClr>
            <a:bgClr>
              <a:srgbClr val="FFFFFF"/>
            </a:bgClr>
          </a:pattFill>
          <a:ln w="31750">
            <a:solidFill>
              <a:srgbClr val="000000"/>
            </a:solidFill>
            <a:miter lim="800000"/>
            <a:headEnd/>
            <a:tailEnd/>
          </a:ln>
        </p:spPr>
        <p:txBody>
          <a:bodyPr/>
          <a:lstStyle/>
          <a:p>
            <a:pPr defTabSz="914400"/>
            <a:endParaRPr lang="zh-CN" altLang="en-US" sz="2800" b="1">
              <a:latin typeface="楷体_GB2312" pitchFamily="49" charset="-122"/>
              <a:ea typeface="楷体_GB2312" pitchFamily="49" charset="-122"/>
            </a:endParaRPr>
          </a:p>
        </p:txBody>
      </p:sp>
      <p:cxnSp>
        <p:nvCxnSpPr>
          <p:cNvPr id="17" name="直接连接符 12"/>
          <p:cNvCxnSpPr>
            <a:cxnSpLocks noChangeShapeType="1"/>
          </p:cNvCxnSpPr>
          <p:nvPr/>
        </p:nvCxnSpPr>
        <p:spPr bwMode="auto">
          <a:xfrm rot="16200000" flipH="1">
            <a:off x="5075655" y="3852863"/>
            <a:ext cx="3822700" cy="44450"/>
          </a:xfrm>
          <a:prstGeom prst="line">
            <a:avLst/>
          </a:prstGeom>
          <a:noFill/>
          <a:ln w="38100" algn="ctr">
            <a:solidFill>
              <a:schemeClr val="tx1"/>
            </a:solidFill>
            <a:prstDash val="lgDash"/>
            <a:round/>
            <a:headEnd/>
            <a:tailEnd/>
          </a:ln>
        </p:spPr>
      </p:cxnSp>
      <p:sp>
        <p:nvSpPr>
          <p:cNvPr id="18" name="Rectangle 2" descr="宽下对角线"/>
          <p:cNvSpPr>
            <a:spLocks noChangeArrowheads="1"/>
          </p:cNvSpPr>
          <p:nvPr/>
        </p:nvSpPr>
        <p:spPr bwMode="auto">
          <a:xfrm>
            <a:off x="3856455" y="2244725"/>
            <a:ext cx="708025" cy="358775"/>
          </a:xfrm>
          <a:prstGeom prst="rect">
            <a:avLst/>
          </a:prstGeom>
          <a:pattFill prst="wdDnDiag">
            <a:fgClr>
              <a:srgbClr val="000000"/>
            </a:fgClr>
            <a:bgClr>
              <a:srgbClr val="FFFFFF"/>
            </a:bgClr>
          </a:pattFill>
          <a:ln w="31750">
            <a:solidFill>
              <a:srgbClr val="000000"/>
            </a:solidFill>
            <a:miter lim="800000"/>
            <a:headEnd/>
            <a:tailEnd/>
          </a:ln>
        </p:spPr>
        <p:txBody>
          <a:bodyPr/>
          <a:lstStyle/>
          <a:p>
            <a:pPr defTabSz="914400"/>
            <a:endParaRPr lang="zh-CN" altLang="en-US" sz="2800" b="1">
              <a:latin typeface="楷体_GB2312" pitchFamily="49" charset="-122"/>
              <a:ea typeface="楷体_GB2312" pitchFamily="49" charset="-122"/>
            </a:endParaRPr>
          </a:p>
        </p:txBody>
      </p:sp>
      <p:cxnSp>
        <p:nvCxnSpPr>
          <p:cNvPr id="19" name="直接连接符 15"/>
          <p:cNvCxnSpPr>
            <a:cxnSpLocks noChangeShapeType="1"/>
          </p:cNvCxnSpPr>
          <p:nvPr/>
        </p:nvCxnSpPr>
        <p:spPr bwMode="auto">
          <a:xfrm rot="16200000" flipH="1">
            <a:off x="2630112" y="3896519"/>
            <a:ext cx="3911600" cy="46037"/>
          </a:xfrm>
          <a:prstGeom prst="line">
            <a:avLst/>
          </a:prstGeom>
          <a:noFill/>
          <a:ln w="38100" algn="ctr">
            <a:solidFill>
              <a:schemeClr val="tx1"/>
            </a:solidFill>
            <a:prstDash val="lgDash"/>
            <a:round/>
            <a:headEnd/>
            <a:tailEnd/>
          </a:ln>
        </p:spPr>
      </p:cxnSp>
      <p:cxnSp>
        <p:nvCxnSpPr>
          <p:cNvPr id="20" name="直接连接符 16"/>
          <p:cNvCxnSpPr>
            <a:cxnSpLocks noChangeShapeType="1"/>
          </p:cNvCxnSpPr>
          <p:nvPr/>
        </p:nvCxnSpPr>
        <p:spPr bwMode="auto">
          <a:xfrm rot="16200000" flipH="1">
            <a:off x="7631530" y="3786188"/>
            <a:ext cx="3689350" cy="44450"/>
          </a:xfrm>
          <a:prstGeom prst="line">
            <a:avLst/>
          </a:prstGeom>
          <a:noFill/>
          <a:ln w="38100" algn="ctr">
            <a:solidFill>
              <a:schemeClr val="tx1"/>
            </a:solidFill>
            <a:prstDash val="lgDash"/>
            <a:round/>
            <a:headEnd/>
            <a:tailEnd/>
          </a:ln>
        </p:spPr>
      </p:cxnSp>
      <p:sp>
        <p:nvSpPr>
          <p:cNvPr id="21" name="TextBox 18"/>
          <p:cNvSpPr txBox="1">
            <a:spLocks noChangeArrowheads="1"/>
          </p:cNvSpPr>
          <p:nvPr/>
        </p:nvSpPr>
        <p:spPr bwMode="auto">
          <a:xfrm>
            <a:off x="5542380" y="5253038"/>
            <a:ext cx="400050" cy="519112"/>
          </a:xfrm>
          <a:prstGeom prst="rect">
            <a:avLst/>
          </a:prstGeom>
          <a:noFill/>
          <a:ln w="9525">
            <a:noFill/>
            <a:miter lim="800000"/>
            <a:headEnd/>
            <a:tailEnd/>
          </a:ln>
        </p:spPr>
        <p:txBody>
          <a:bodyPr>
            <a:spAutoFit/>
          </a:bodyPr>
          <a:lstStyle/>
          <a:p>
            <a:pPr defTabSz="914400"/>
            <a:r>
              <a:rPr lang="en-US" altLang="zh-CN" sz="2800" b="1">
                <a:latin typeface="Times New Roman" pitchFamily="18" charset="0"/>
                <a:ea typeface="楷体_GB2312" pitchFamily="49" charset="-122"/>
                <a:cs typeface="Times New Roman" pitchFamily="18" charset="0"/>
              </a:rPr>
              <a:t>L</a:t>
            </a:r>
            <a:endParaRPr lang="zh-CN" altLang="en-US" sz="2800" b="1">
              <a:latin typeface="Times New Roman" pitchFamily="18" charset="0"/>
              <a:ea typeface="楷体_GB2312" pitchFamily="49" charset="-122"/>
              <a:cs typeface="Times New Roman" pitchFamily="18" charset="0"/>
            </a:endParaRPr>
          </a:p>
        </p:txBody>
      </p:sp>
      <p:sp>
        <p:nvSpPr>
          <p:cNvPr id="22" name="TextBox 19"/>
          <p:cNvSpPr txBox="1">
            <a:spLocks noChangeArrowheads="1"/>
          </p:cNvSpPr>
          <p:nvPr/>
        </p:nvSpPr>
        <p:spPr bwMode="auto">
          <a:xfrm>
            <a:off x="3986630" y="2586038"/>
            <a:ext cx="400050" cy="519112"/>
          </a:xfrm>
          <a:prstGeom prst="rect">
            <a:avLst/>
          </a:prstGeom>
          <a:noFill/>
          <a:ln w="9525">
            <a:noFill/>
            <a:miter lim="800000"/>
            <a:headEnd/>
            <a:tailEnd/>
          </a:ln>
        </p:spPr>
        <p:txBody>
          <a:bodyPr>
            <a:spAutoFit/>
          </a:bodyPr>
          <a:lstStyle/>
          <a:p>
            <a:pPr defTabSz="914400"/>
            <a:r>
              <a:rPr lang="en-US" altLang="zh-CN" sz="2800" b="1">
                <a:solidFill>
                  <a:srgbClr val="FF00FF"/>
                </a:solidFill>
                <a:latin typeface="Times New Roman" pitchFamily="18" charset="0"/>
                <a:ea typeface="楷体_GB2312" pitchFamily="49" charset="-122"/>
                <a:cs typeface="Times New Roman" pitchFamily="18" charset="0"/>
              </a:rPr>
              <a:t>P</a:t>
            </a:r>
            <a:endParaRPr lang="zh-CN" altLang="en-US" sz="2800" b="1">
              <a:solidFill>
                <a:srgbClr val="FF00FF"/>
              </a:solidFill>
              <a:latin typeface="Times New Roman" pitchFamily="18" charset="0"/>
              <a:ea typeface="楷体_GB2312" pitchFamily="49" charset="-122"/>
              <a:cs typeface="Times New Roman" pitchFamily="18" charset="0"/>
            </a:endParaRPr>
          </a:p>
        </p:txBody>
      </p:sp>
      <p:sp>
        <p:nvSpPr>
          <p:cNvPr id="23" name="TextBox 20"/>
          <p:cNvSpPr txBox="1">
            <a:spLocks noChangeArrowheads="1"/>
          </p:cNvSpPr>
          <p:nvPr/>
        </p:nvSpPr>
        <p:spPr bwMode="auto">
          <a:xfrm>
            <a:off x="4031080" y="3430588"/>
            <a:ext cx="400050" cy="519112"/>
          </a:xfrm>
          <a:prstGeom prst="rect">
            <a:avLst/>
          </a:prstGeom>
          <a:noFill/>
          <a:ln w="9525">
            <a:noFill/>
            <a:miter lim="800000"/>
            <a:headEnd/>
            <a:tailEnd/>
          </a:ln>
        </p:spPr>
        <p:txBody>
          <a:bodyPr>
            <a:spAutoFit/>
          </a:bodyPr>
          <a:lstStyle/>
          <a:p>
            <a:pPr defTabSz="914400"/>
            <a:r>
              <a:rPr lang="en-US" altLang="zh-CN" sz="2800" b="1">
                <a:solidFill>
                  <a:srgbClr val="FF00FF"/>
                </a:solidFill>
                <a:latin typeface="Times New Roman" pitchFamily="18" charset="0"/>
                <a:ea typeface="楷体_GB2312" pitchFamily="49" charset="-122"/>
                <a:cs typeface="Times New Roman" pitchFamily="18" charset="0"/>
              </a:rPr>
              <a:t>I</a:t>
            </a:r>
            <a:endParaRPr lang="zh-CN" altLang="en-US" sz="2800" b="1">
              <a:solidFill>
                <a:srgbClr val="FF00FF"/>
              </a:solidFill>
              <a:latin typeface="Times New Roman" pitchFamily="18" charset="0"/>
              <a:ea typeface="楷体_GB2312" pitchFamily="49" charset="-122"/>
              <a:cs typeface="Times New Roman" pitchFamily="18" charset="0"/>
            </a:endParaRPr>
          </a:p>
        </p:txBody>
      </p:sp>
      <p:sp>
        <p:nvSpPr>
          <p:cNvPr id="24" name="TextBox 21"/>
          <p:cNvSpPr txBox="1">
            <a:spLocks noChangeArrowheads="1"/>
          </p:cNvSpPr>
          <p:nvPr/>
        </p:nvSpPr>
        <p:spPr bwMode="auto">
          <a:xfrm>
            <a:off x="4031080" y="4418013"/>
            <a:ext cx="577850" cy="946150"/>
          </a:xfrm>
          <a:prstGeom prst="rect">
            <a:avLst/>
          </a:prstGeom>
          <a:noFill/>
          <a:ln w="9525">
            <a:noFill/>
            <a:miter lim="800000"/>
            <a:headEnd/>
            <a:tailEnd/>
          </a:ln>
        </p:spPr>
        <p:txBody>
          <a:bodyPr>
            <a:spAutoFit/>
          </a:bodyPr>
          <a:lstStyle/>
          <a:p>
            <a:pPr defTabSz="914400"/>
            <a:r>
              <a:rPr lang="en-US" altLang="zh-CN" sz="2800" b="1">
                <a:solidFill>
                  <a:srgbClr val="FF00FF"/>
                </a:solidFill>
                <a:latin typeface="Times New Roman" pitchFamily="18" charset="0"/>
                <a:ea typeface="楷体_GB2312" pitchFamily="49" charset="-122"/>
                <a:cs typeface="Times New Roman" pitchFamily="18" charset="0"/>
              </a:rPr>
              <a:t>N</a:t>
            </a:r>
            <a:r>
              <a:rPr lang="en-US" altLang="zh-CN" sz="2800" b="1" baseline="30000">
                <a:solidFill>
                  <a:srgbClr val="FF00FF"/>
                </a:solidFill>
                <a:latin typeface="Times New Roman" pitchFamily="18" charset="0"/>
                <a:ea typeface="楷体_GB2312" pitchFamily="49" charset="-122"/>
                <a:cs typeface="Times New Roman" pitchFamily="18" charset="0"/>
              </a:rPr>
              <a:t>+</a:t>
            </a:r>
            <a:endParaRPr lang="zh-CN" altLang="en-US" sz="2800" b="1">
              <a:solidFill>
                <a:srgbClr val="FF00FF"/>
              </a:solidFill>
              <a:latin typeface="Times New Roman" pitchFamily="18" charset="0"/>
              <a:ea typeface="楷体_GB2312" pitchFamily="49" charset="-122"/>
              <a:cs typeface="Times New Roman" pitchFamily="18" charset="0"/>
            </a:endParaRPr>
          </a:p>
        </p:txBody>
      </p:sp>
      <p:sp>
        <p:nvSpPr>
          <p:cNvPr id="25" name="TextBox 17"/>
          <p:cNvSpPr txBox="1">
            <a:spLocks noChangeArrowheads="1"/>
          </p:cNvSpPr>
          <p:nvPr/>
        </p:nvSpPr>
        <p:spPr bwMode="auto">
          <a:xfrm>
            <a:off x="8164930" y="5164138"/>
            <a:ext cx="444500" cy="519112"/>
          </a:xfrm>
          <a:prstGeom prst="rect">
            <a:avLst/>
          </a:prstGeom>
          <a:noFill/>
          <a:ln w="9525">
            <a:noFill/>
            <a:miter lim="800000"/>
            <a:headEnd/>
            <a:tailEnd/>
          </a:ln>
        </p:spPr>
        <p:txBody>
          <a:bodyPr>
            <a:spAutoFit/>
          </a:bodyPr>
          <a:lstStyle/>
          <a:p>
            <a:pPr defTabSz="914400"/>
            <a:r>
              <a:rPr lang="en-US" altLang="zh-CN" sz="2800" b="1">
                <a:latin typeface="Times New Roman" pitchFamily="18" charset="0"/>
                <a:ea typeface="楷体_GB2312" pitchFamily="49" charset="-122"/>
                <a:cs typeface="Times New Roman" pitchFamily="18" charset="0"/>
              </a:rPr>
              <a:t>L</a:t>
            </a:r>
            <a:endParaRPr lang="zh-CN" altLang="en-US" sz="2800" b="1">
              <a:latin typeface="Times New Roman" pitchFamily="18" charset="0"/>
              <a:ea typeface="楷体_GB2312" pitchFamily="49" charset="-122"/>
              <a:cs typeface="Times New Roman" pitchFamily="18" charset="0"/>
            </a:endParaRPr>
          </a:p>
        </p:txBody>
      </p:sp>
      <p:cxnSp>
        <p:nvCxnSpPr>
          <p:cNvPr id="26" name="直接连接符 25"/>
          <p:cNvCxnSpPr>
            <a:cxnSpLocks noChangeShapeType="1"/>
          </p:cNvCxnSpPr>
          <p:nvPr/>
        </p:nvCxnSpPr>
        <p:spPr bwMode="auto">
          <a:xfrm rot="16200000" flipH="1">
            <a:off x="6564730" y="3030538"/>
            <a:ext cx="2622550" cy="44450"/>
          </a:xfrm>
          <a:prstGeom prst="line">
            <a:avLst/>
          </a:prstGeom>
          <a:noFill/>
          <a:ln w="50800" algn="ctr">
            <a:solidFill>
              <a:srgbClr val="FF0000"/>
            </a:solidFill>
            <a:prstDash val="lgDash"/>
            <a:round/>
            <a:headEnd/>
            <a:tailEnd/>
          </a:ln>
        </p:spPr>
      </p:cxnSp>
      <p:sp>
        <p:nvSpPr>
          <p:cNvPr id="27" name="TextBox 27"/>
          <p:cNvSpPr txBox="1">
            <a:spLocks noChangeArrowheads="1"/>
          </p:cNvSpPr>
          <p:nvPr/>
        </p:nvSpPr>
        <p:spPr bwMode="auto">
          <a:xfrm>
            <a:off x="7231480" y="1741488"/>
            <a:ext cx="400050" cy="579437"/>
          </a:xfrm>
          <a:prstGeom prst="rect">
            <a:avLst/>
          </a:prstGeom>
          <a:noFill/>
          <a:ln w="9525">
            <a:noFill/>
            <a:miter lim="800000"/>
            <a:headEnd/>
            <a:tailEnd/>
          </a:ln>
        </p:spPr>
        <p:txBody>
          <a:bodyPr>
            <a:spAutoFit/>
          </a:bodyPr>
          <a:lstStyle/>
          <a:p>
            <a:pPr defTabSz="914400"/>
            <a:r>
              <a:rPr lang="en-US" altLang="zh-CN" sz="3200" b="1" i="1">
                <a:latin typeface="Times New Roman" pitchFamily="18" charset="0"/>
                <a:ea typeface="楷体_GB2312" pitchFamily="49" charset="-122"/>
                <a:cs typeface="Times New Roman" pitchFamily="18" charset="0"/>
              </a:rPr>
              <a:t>x</a:t>
            </a:r>
            <a:endParaRPr lang="zh-CN" altLang="en-US" sz="3200" b="1" i="1">
              <a:latin typeface="Times New Roman" pitchFamily="18" charset="0"/>
              <a:ea typeface="楷体_GB2312" pitchFamily="49" charset="-122"/>
              <a:cs typeface="Times New Roman" pitchFamily="18" charset="0"/>
            </a:endParaRPr>
          </a:p>
        </p:txBody>
      </p:sp>
      <p:sp>
        <p:nvSpPr>
          <p:cNvPr id="28" name="TextBox 51"/>
          <p:cNvSpPr txBox="1">
            <a:spLocks noChangeArrowheads="1"/>
          </p:cNvSpPr>
          <p:nvPr/>
        </p:nvSpPr>
        <p:spPr bwMode="auto">
          <a:xfrm>
            <a:off x="3764380" y="1430338"/>
            <a:ext cx="666750" cy="579437"/>
          </a:xfrm>
          <a:prstGeom prst="rect">
            <a:avLst/>
          </a:prstGeom>
          <a:noFill/>
          <a:ln w="9525">
            <a:noFill/>
            <a:miter lim="800000"/>
            <a:headEnd/>
            <a:tailEnd/>
          </a:ln>
        </p:spPr>
        <p:txBody>
          <a:bodyPr>
            <a:spAutoFit/>
          </a:bodyPr>
          <a:lstStyle/>
          <a:p>
            <a:pPr defTabSz="914400"/>
            <a:r>
              <a:rPr lang="en-US" altLang="zh-CN" sz="3200" b="1">
                <a:solidFill>
                  <a:srgbClr val="0000CC"/>
                </a:solidFill>
                <a:latin typeface="Times New Roman" pitchFamily="18" charset="0"/>
                <a:ea typeface="楷体_GB2312" pitchFamily="49" charset="-122"/>
                <a:cs typeface="Times New Roman" pitchFamily="18" charset="0"/>
              </a:rPr>
              <a:t>I</a:t>
            </a:r>
            <a:r>
              <a:rPr lang="en-US" altLang="zh-CN" sz="3200" b="1" baseline="-25000">
                <a:solidFill>
                  <a:srgbClr val="0000CC"/>
                </a:solidFill>
                <a:latin typeface="Times New Roman" pitchFamily="18" charset="0"/>
                <a:ea typeface="楷体_GB2312" pitchFamily="49" charset="-122"/>
                <a:cs typeface="Times New Roman" pitchFamily="18" charset="0"/>
              </a:rPr>
              <a:t>1</a:t>
            </a:r>
            <a:endParaRPr lang="zh-CN" altLang="en-US" sz="3200" b="1" baseline="-25000">
              <a:solidFill>
                <a:srgbClr val="0000CC"/>
              </a:solidFill>
              <a:latin typeface="Times New Roman" pitchFamily="18" charset="0"/>
              <a:ea typeface="楷体_GB2312" pitchFamily="49" charset="-122"/>
              <a:cs typeface="Times New Roman" pitchFamily="18" charset="0"/>
            </a:endParaRPr>
          </a:p>
        </p:txBody>
      </p:sp>
      <p:sp>
        <p:nvSpPr>
          <p:cNvPr id="29" name="TextBox 52"/>
          <p:cNvSpPr txBox="1">
            <a:spLocks noChangeArrowheads="1"/>
          </p:cNvSpPr>
          <p:nvPr/>
        </p:nvSpPr>
        <p:spPr bwMode="auto">
          <a:xfrm>
            <a:off x="9587330" y="1519238"/>
            <a:ext cx="666750" cy="641350"/>
          </a:xfrm>
          <a:prstGeom prst="rect">
            <a:avLst/>
          </a:prstGeom>
          <a:noFill/>
          <a:ln w="9525">
            <a:noFill/>
            <a:miter lim="800000"/>
            <a:headEnd/>
            <a:tailEnd/>
          </a:ln>
        </p:spPr>
        <p:txBody>
          <a:bodyPr>
            <a:spAutoFit/>
          </a:bodyPr>
          <a:lstStyle/>
          <a:p>
            <a:pPr defTabSz="914400"/>
            <a:r>
              <a:rPr lang="en-US" altLang="zh-CN" sz="3600" b="1">
                <a:solidFill>
                  <a:srgbClr val="0000CC"/>
                </a:solidFill>
                <a:latin typeface="Times New Roman" pitchFamily="18" charset="0"/>
                <a:ea typeface="楷体_GB2312" pitchFamily="49" charset="-122"/>
                <a:cs typeface="Times New Roman" pitchFamily="18" charset="0"/>
              </a:rPr>
              <a:t>I</a:t>
            </a:r>
            <a:r>
              <a:rPr lang="en-US" altLang="zh-CN" sz="3600" b="1" baseline="-25000">
                <a:solidFill>
                  <a:srgbClr val="0000CC"/>
                </a:solidFill>
                <a:latin typeface="Times New Roman" pitchFamily="18" charset="0"/>
                <a:ea typeface="楷体_GB2312" pitchFamily="49" charset="-122"/>
                <a:cs typeface="Times New Roman" pitchFamily="18" charset="0"/>
              </a:rPr>
              <a:t>2</a:t>
            </a:r>
            <a:endParaRPr lang="zh-CN" altLang="en-US" sz="3600" b="1" baseline="-25000">
              <a:solidFill>
                <a:srgbClr val="0000CC"/>
              </a:solidFill>
              <a:latin typeface="Times New Roman" pitchFamily="18" charset="0"/>
              <a:ea typeface="楷体_GB2312" pitchFamily="49" charset="-122"/>
              <a:cs typeface="Times New Roman" pitchFamily="18" charset="0"/>
            </a:endParaRPr>
          </a:p>
        </p:txBody>
      </p:sp>
      <p:cxnSp>
        <p:nvCxnSpPr>
          <p:cNvPr id="30" name="直接连接符 66"/>
          <p:cNvCxnSpPr>
            <a:cxnSpLocks noChangeShapeType="1"/>
          </p:cNvCxnSpPr>
          <p:nvPr/>
        </p:nvCxnSpPr>
        <p:spPr bwMode="auto">
          <a:xfrm rot="5400000">
            <a:off x="6786187" y="5385594"/>
            <a:ext cx="444500" cy="1587"/>
          </a:xfrm>
          <a:prstGeom prst="line">
            <a:avLst/>
          </a:prstGeom>
          <a:noFill/>
          <a:ln w="38100" algn="ctr">
            <a:solidFill>
              <a:schemeClr val="tx1"/>
            </a:solidFill>
            <a:round/>
            <a:headEnd/>
            <a:tailEnd/>
          </a:ln>
        </p:spPr>
      </p:cxnSp>
      <p:sp>
        <p:nvSpPr>
          <p:cNvPr id="31" name="TextBox 67"/>
          <p:cNvSpPr txBox="1">
            <a:spLocks noChangeArrowheads="1"/>
          </p:cNvSpPr>
          <p:nvPr/>
        </p:nvSpPr>
        <p:spPr bwMode="auto">
          <a:xfrm>
            <a:off x="6831430" y="5741988"/>
            <a:ext cx="666750" cy="641350"/>
          </a:xfrm>
          <a:prstGeom prst="rect">
            <a:avLst/>
          </a:prstGeom>
          <a:noFill/>
          <a:ln w="9525">
            <a:noFill/>
            <a:miter lim="800000"/>
            <a:headEnd/>
            <a:tailEnd/>
          </a:ln>
        </p:spPr>
        <p:txBody>
          <a:bodyPr>
            <a:spAutoFit/>
          </a:bodyPr>
          <a:lstStyle/>
          <a:p>
            <a:pPr defTabSz="914400"/>
            <a:r>
              <a:rPr lang="en-US" altLang="zh-CN" sz="3600" b="1">
                <a:solidFill>
                  <a:srgbClr val="FF0000"/>
                </a:solidFill>
                <a:latin typeface="Times New Roman" pitchFamily="18" charset="0"/>
                <a:ea typeface="楷体_GB2312" pitchFamily="49" charset="-122"/>
                <a:cs typeface="Times New Roman" pitchFamily="18" charset="0"/>
              </a:rPr>
              <a:t>I</a:t>
            </a:r>
            <a:endParaRPr lang="zh-CN" altLang="en-US" sz="3600" b="1" baseline="-25000">
              <a:solidFill>
                <a:srgbClr val="FF0000"/>
              </a:solidFill>
              <a:latin typeface="Times New Roman" pitchFamily="18" charset="0"/>
              <a:ea typeface="楷体_GB2312" pitchFamily="49" charset="-122"/>
              <a:cs typeface="Times New Roman" pitchFamily="18" charset="0"/>
            </a:endParaRPr>
          </a:p>
        </p:txBody>
      </p:sp>
      <p:cxnSp>
        <p:nvCxnSpPr>
          <p:cNvPr id="32" name="直接连接符 69"/>
          <p:cNvCxnSpPr>
            <a:cxnSpLocks noChangeShapeType="1"/>
          </p:cNvCxnSpPr>
          <p:nvPr/>
        </p:nvCxnSpPr>
        <p:spPr bwMode="auto">
          <a:xfrm flipV="1">
            <a:off x="4608930" y="5519738"/>
            <a:ext cx="2355850" cy="44450"/>
          </a:xfrm>
          <a:prstGeom prst="line">
            <a:avLst/>
          </a:prstGeom>
          <a:noFill/>
          <a:ln w="25400" algn="ctr">
            <a:solidFill>
              <a:schemeClr val="tx1"/>
            </a:solidFill>
            <a:round/>
            <a:headEnd type="stealth" w="lg" len="lg"/>
            <a:tailEnd type="stealth" w="lg" len="lg"/>
          </a:ln>
        </p:spPr>
      </p:cxnSp>
      <p:cxnSp>
        <p:nvCxnSpPr>
          <p:cNvPr id="33" name="直接连接符 70"/>
          <p:cNvCxnSpPr>
            <a:cxnSpLocks noChangeShapeType="1"/>
          </p:cNvCxnSpPr>
          <p:nvPr/>
        </p:nvCxnSpPr>
        <p:spPr bwMode="auto">
          <a:xfrm flipV="1">
            <a:off x="7098130" y="5475288"/>
            <a:ext cx="2355850" cy="44450"/>
          </a:xfrm>
          <a:prstGeom prst="line">
            <a:avLst/>
          </a:prstGeom>
          <a:noFill/>
          <a:ln w="25400" algn="ctr">
            <a:solidFill>
              <a:schemeClr val="tx1"/>
            </a:solidFill>
            <a:round/>
            <a:headEnd type="stealth" w="lg" len="lg"/>
            <a:tailEnd type="stealth" w="lg" len="lg"/>
          </a:ln>
        </p:spPr>
      </p:cxnSp>
      <p:cxnSp>
        <p:nvCxnSpPr>
          <p:cNvPr id="34" name="直接连接符 71"/>
          <p:cNvCxnSpPr>
            <a:cxnSpLocks noChangeShapeType="1"/>
          </p:cNvCxnSpPr>
          <p:nvPr/>
        </p:nvCxnSpPr>
        <p:spPr bwMode="auto">
          <a:xfrm>
            <a:off x="6964780" y="2230438"/>
            <a:ext cx="889000" cy="1587"/>
          </a:xfrm>
          <a:prstGeom prst="line">
            <a:avLst/>
          </a:prstGeom>
          <a:noFill/>
          <a:ln w="25400" algn="ctr">
            <a:solidFill>
              <a:schemeClr val="tx1"/>
            </a:solidFill>
            <a:round/>
            <a:headEnd type="stealth" w="lg" len="lg"/>
            <a:tailEnd type="stealth" w="lg" len="lg"/>
          </a:ln>
        </p:spPr>
      </p:cxnSp>
      <p:sp>
        <p:nvSpPr>
          <p:cNvPr id="35" name="Rectangle 9"/>
          <p:cNvSpPr>
            <a:spLocks noChangeArrowheads="1"/>
          </p:cNvSpPr>
          <p:nvPr/>
        </p:nvSpPr>
        <p:spPr bwMode="auto">
          <a:xfrm>
            <a:off x="1853030" y="2173288"/>
            <a:ext cx="1333500" cy="1411287"/>
          </a:xfrm>
          <a:prstGeom prst="rect">
            <a:avLst/>
          </a:prstGeom>
          <a:noFill/>
          <a:ln w="38100">
            <a:solidFill>
              <a:srgbClr val="FFC000"/>
            </a:solidFill>
            <a:miter lim="800000"/>
            <a:headEnd/>
            <a:tailEnd/>
          </a:ln>
        </p:spPr>
        <p:txBody>
          <a:bodyPr anchor="ctr">
            <a:spAutoFit/>
          </a:bodyPr>
          <a:lstStyle/>
          <a:p>
            <a:pPr algn="ctr" defTabSz="914400"/>
            <a:r>
              <a:rPr lang="en-US" altLang="zh-CN" sz="2800" b="1">
                <a:solidFill>
                  <a:srgbClr val="0000CC"/>
                </a:solidFill>
                <a:latin typeface="Times New Roman" pitchFamily="18" charset="0"/>
                <a:ea typeface="微软雅黑" pitchFamily="34" charset="-122"/>
                <a:cs typeface="Times New Roman" pitchFamily="18" charset="0"/>
              </a:rPr>
              <a:t>P</a:t>
            </a:r>
            <a:r>
              <a:rPr lang="zh-CN" altLang="en-US" sz="2800" b="1">
                <a:solidFill>
                  <a:srgbClr val="0000CC"/>
                </a:solidFill>
                <a:latin typeface="Times New Roman" pitchFamily="18" charset="0"/>
                <a:ea typeface="微软雅黑" pitchFamily="34" charset="-122"/>
                <a:cs typeface="Times New Roman" pitchFamily="18" charset="0"/>
              </a:rPr>
              <a:t>型</a:t>
            </a:r>
            <a:endParaRPr lang="en-US" altLang="zh-CN" sz="2800" b="1">
              <a:solidFill>
                <a:srgbClr val="0000CC"/>
              </a:solidFill>
              <a:latin typeface="Times New Roman" pitchFamily="18" charset="0"/>
              <a:ea typeface="微软雅黑" pitchFamily="34" charset="-122"/>
              <a:cs typeface="Times New Roman" pitchFamily="18" charset="0"/>
            </a:endParaRPr>
          </a:p>
          <a:p>
            <a:pPr algn="ctr" defTabSz="914400"/>
            <a:r>
              <a:rPr lang="zh-CN" altLang="en-US" sz="2800" b="1">
                <a:solidFill>
                  <a:srgbClr val="0000CC"/>
                </a:solidFill>
                <a:latin typeface="Times New Roman" pitchFamily="18" charset="0"/>
                <a:ea typeface="微软雅黑" pitchFamily="34" charset="-122"/>
                <a:cs typeface="Times New Roman" pitchFamily="18" charset="0"/>
              </a:rPr>
              <a:t>电阻</a:t>
            </a:r>
            <a:endParaRPr lang="en-US" altLang="zh-CN" sz="2800" b="1">
              <a:solidFill>
                <a:srgbClr val="0000CC"/>
              </a:solidFill>
              <a:latin typeface="Times New Roman" pitchFamily="18" charset="0"/>
              <a:ea typeface="微软雅黑" pitchFamily="34" charset="-122"/>
              <a:cs typeface="Times New Roman" pitchFamily="18" charset="0"/>
            </a:endParaRPr>
          </a:p>
          <a:p>
            <a:pPr algn="ctr" defTabSz="914400"/>
            <a:r>
              <a:rPr lang="zh-CN" altLang="en-US" sz="2800" b="1">
                <a:solidFill>
                  <a:srgbClr val="0000CC"/>
                </a:solidFill>
                <a:latin typeface="Times New Roman" pitchFamily="18" charset="0"/>
                <a:ea typeface="微软雅黑" pitchFamily="34" charset="-122"/>
                <a:cs typeface="Times New Roman" pitchFamily="18" charset="0"/>
              </a:rPr>
              <a:t>均匀层</a:t>
            </a:r>
          </a:p>
        </p:txBody>
      </p:sp>
      <p:sp>
        <p:nvSpPr>
          <p:cNvPr id="36" name="右箭头 35"/>
          <p:cNvSpPr/>
          <p:nvPr/>
        </p:nvSpPr>
        <p:spPr>
          <a:xfrm>
            <a:off x="3275430" y="2586038"/>
            <a:ext cx="533400" cy="577850"/>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sz="2800" b="1"/>
          </a:p>
        </p:txBody>
      </p:sp>
      <p:grpSp>
        <p:nvGrpSpPr>
          <p:cNvPr id="43" name="组合 42">
            <a:extLst>
              <a:ext uri="{FF2B5EF4-FFF2-40B4-BE49-F238E27FC236}">
                <a16:creationId xmlns:a16="http://schemas.microsoft.com/office/drawing/2014/main" id="{05AD6F02-4B67-44D8-AE52-37345E1BCCA0}"/>
              </a:ext>
            </a:extLst>
          </p:cNvPr>
          <p:cNvGrpSpPr/>
          <p:nvPr/>
        </p:nvGrpSpPr>
        <p:grpSpPr>
          <a:xfrm>
            <a:off x="0" y="293282"/>
            <a:ext cx="13161246" cy="7421968"/>
            <a:chOff x="0" y="293282"/>
            <a:chExt cx="13161246" cy="7421968"/>
          </a:xfrm>
        </p:grpSpPr>
        <p:sp>
          <p:nvSpPr>
            <p:cNvPr id="44" name="文本框 60">
              <a:extLst>
                <a:ext uri="{FF2B5EF4-FFF2-40B4-BE49-F238E27FC236}">
                  <a16:creationId xmlns:a16="http://schemas.microsoft.com/office/drawing/2014/main" id="{B5944089-7DB5-4186-80CC-AA537F100780}"/>
                </a:ext>
              </a:extLst>
            </p:cNvPr>
            <p:cNvSpPr txBox="1"/>
            <p:nvPr/>
          </p:nvSpPr>
          <p:spPr>
            <a:xfrm>
              <a:off x="1364781" y="293282"/>
              <a:ext cx="3569826"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位置敏感探测器结构与工作原理</a:t>
              </a:r>
            </a:p>
          </p:txBody>
        </p:sp>
        <p:sp>
          <p:nvSpPr>
            <p:cNvPr id="45" name="矩形 44">
              <a:extLst>
                <a:ext uri="{FF2B5EF4-FFF2-40B4-BE49-F238E27FC236}">
                  <a16:creationId xmlns:a16="http://schemas.microsoft.com/office/drawing/2014/main" id="{830A5AA3-3C42-4094-BD3E-F2A27942B519}"/>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46" name="矩形 45">
              <a:extLst>
                <a:ext uri="{FF2B5EF4-FFF2-40B4-BE49-F238E27FC236}">
                  <a16:creationId xmlns:a16="http://schemas.microsoft.com/office/drawing/2014/main" id="{C9772B35-00D9-4EA2-881A-BC724FE14EA0}"/>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圆角 46">
              <a:extLst>
                <a:ext uri="{FF2B5EF4-FFF2-40B4-BE49-F238E27FC236}">
                  <a16:creationId xmlns:a16="http://schemas.microsoft.com/office/drawing/2014/main" id="{F95F0220-603E-4BB3-9A1C-838C27461501}"/>
                </a:ext>
              </a:extLst>
            </p:cNvPr>
            <p:cNvSpPr/>
            <p:nvPr/>
          </p:nvSpPr>
          <p:spPr>
            <a:xfrm>
              <a:off x="304801" y="293282"/>
              <a:ext cx="979824"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4.7.1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48" name="直接连接符 58">
              <a:extLst>
                <a:ext uri="{FF2B5EF4-FFF2-40B4-BE49-F238E27FC236}">
                  <a16:creationId xmlns:a16="http://schemas.microsoft.com/office/drawing/2014/main" id="{44708DE5-6B80-46B2-80A8-8D5ECCAD917F}"/>
                </a:ext>
              </a:extLst>
            </p:cNvPr>
            <p:cNvCxnSpPr>
              <a:cxnSpLocks/>
            </p:cNvCxnSpPr>
            <p:nvPr/>
          </p:nvCxnSpPr>
          <p:spPr>
            <a:xfrm>
              <a:off x="1450506" y="710998"/>
              <a:ext cx="3336956"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9" name="矩形 48">
              <a:extLst>
                <a:ext uri="{FF2B5EF4-FFF2-40B4-BE49-F238E27FC236}">
                  <a16:creationId xmlns:a16="http://schemas.microsoft.com/office/drawing/2014/main" id="{A4C1CECB-FC9D-4208-909A-B7D88FFB4789}"/>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50" name="矩形 49">
              <a:extLst>
                <a:ext uri="{FF2B5EF4-FFF2-40B4-BE49-F238E27FC236}">
                  <a16:creationId xmlns:a16="http://schemas.microsoft.com/office/drawing/2014/main" id="{D8E421F4-F9AE-4135-B9C2-E0C5B015D8E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3797"/>
                                        </p:tgtEl>
                                        <p:attrNameLst>
                                          <p:attrName>style.visibility</p:attrName>
                                        </p:attrNameLst>
                                      </p:cBhvr>
                                      <p:to>
                                        <p:strVal val="visible"/>
                                      </p:to>
                                    </p:set>
                                    <p:animEffect transition="in" filter="box(in)">
                                      <p:cBhvr>
                                        <p:cTn id="7" dur="500"/>
                                        <p:tgtEl>
                                          <p:spTgt spid="3379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barn(inHorizontal)">
                                      <p:cBhvr>
                                        <p:cTn id="12" dur="500"/>
                                        <p:tgtEl>
                                          <p:spTgt spid="24"/>
                                        </p:tgtEl>
                                      </p:cBhvr>
                                    </p:animEffect>
                                  </p:childTnLst>
                                </p:cTn>
                              </p:par>
                              <p:par>
                                <p:cTn id="13" presetID="16" presetClass="entr" presetSubtype="26"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barn(inHorizontal)">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6" fill="hold" grpId="0" nodeType="click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barn(inHorizontal)">
                                      <p:cBhvr>
                                        <p:cTn id="20" dur="500"/>
                                        <p:tgtEl>
                                          <p:spTgt spid="23"/>
                                        </p:tgtEl>
                                      </p:cBhvr>
                                    </p:animEffect>
                                  </p:childTnLst>
                                </p:cTn>
                              </p:par>
                              <p:par>
                                <p:cTn id="21" presetID="16" presetClass="entr" presetSubtype="26"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barn(inHorizontal)">
                                      <p:cBhvr>
                                        <p:cTn id="23" dur="5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6"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barn(inHorizontal)">
                                      <p:cBhvr>
                                        <p:cTn id="28" dur="500"/>
                                        <p:tgtEl>
                                          <p:spTgt spid="13"/>
                                        </p:tgtEl>
                                      </p:cBhvr>
                                    </p:animEffect>
                                  </p:childTnLst>
                                </p:cTn>
                              </p:par>
                              <p:par>
                                <p:cTn id="29" presetID="16" presetClass="entr" presetSubtype="26"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barn(inHorizontal)">
                                      <p:cBhvr>
                                        <p:cTn id="31" dur="500"/>
                                        <p:tgtEl>
                                          <p:spTgt spid="22"/>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grpId="0" nodeType="clickEffect">
                                  <p:stCondLst>
                                    <p:cond delay="0"/>
                                  </p:stCondLst>
                                  <p:childTnLst>
                                    <p:set>
                                      <p:cBhvr>
                                        <p:cTn id="35" dur="1" fill="hold">
                                          <p:stCondLst>
                                            <p:cond delay="0"/>
                                          </p:stCondLst>
                                        </p:cTn>
                                        <p:tgtEl>
                                          <p:spTgt spid="35"/>
                                        </p:tgtEl>
                                        <p:attrNameLst>
                                          <p:attrName>style.visibility</p:attrName>
                                        </p:attrNameLst>
                                      </p:cBhvr>
                                      <p:to>
                                        <p:strVal val="visible"/>
                                      </p:to>
                                    </p:set>
                                    <p:anim calcmode="lin" valueType="num">
                                      <p:cBhvr additive="base">
                                        <p:cTn id="36" dur="500" fill="hold"/>
                                        <p:tgtEl>
                                          <p:spTgt spid="35"/>
                                        </p:tgtEl>
                                        <p:attrNameLst>
                                          <p:attrName>ppt_x</p:attrName>
                                        </p:attrNameLst>
                                      </p:cBhvr>
                                      <p:tavLst>
                                        <p:tav tm="0">
                                          <p:val>
                                            <p:strVal val="0-#ppt_w/2"/>
                                          </p:val>
                                        </p:tav>
                                        <p:tav tm="100000">
                                          <p:val>
                                            <p:strVal val="#ppt_x"/>
                                          </p:val>
                                        </p:tav>
                                      </p:tavLst>
                                    </p:anim>
                                    <p:anim calcmode="lin" valueType="num">
                                      <p:cBhvr additive="base">
                                        <p:cTn id="37" dur="500" fill="hold"/>
                                        <p:tgtEl>
                                          <p:spTgt spid="35"/>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36"/>
                                        </p:tgtEl>
                                        <p:attrNameLst>
                                          <p:attrName>style.visibility</p:attrName>
                                        </p:attrNameLst>
                                      </p:cBhvr>
                                      <p:to>
                                        <p:strVal val="visible"/>
                                      </p:to>
                                    </p:set>
                                    <p:animEffect transition="in" filter="box(in)">
                                      <p:cBhvr>
                                        <p:cTn id="42" dur="500"/>
                                        <p:tgtEl>
                                          <p:spTgt spid="36"/>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box(in)">
                                      <p:cBhvr>
                                        <p:cTn id="47" dur="500"/>
                                        <p:tgtEl>
                                          <p:spTgt spid="16"/>
                                        </p:tgtEl>
                                      </p:cBhvr>
                                    </p:animEffect>
                                  </p:childTnLst>
                                </p:cTn>
                              </p:par>
                              <p:par>
                                <p:cTn id="48" presetID="4" presetClass="entr" presetSubtype="16"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box(in)">
                                      <p:cBhvr>
                                        <p:cTn id="50" dur="500"/>
                                        <p:tgtEl>
                                          <p:spTgt spid="18"/>
                                        </p:tgtEl>
                                      </p:cBhvr>
                                    </p:animEffect>
                                  </p:childTnLst>
                                </p:cTn>
                              </p:par>
                              <p:par>
                                <p:cTn id="51" presetID="4" presetClass="entr" presetSubtype="16" fill="hold" grpId="0" nodeType="with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box(in)">
                                      <p:cBhvr>
                                        <p:cTn id="53" dur="500"/>
                                        <p:tgtEl>
                                          <p:spTgt spid="15"/>
                                        </p:tgtEl>
                                      </p:cBhvr>
                                    </p:animEffect>
                                  </p:childTnLst>
                                </p:cTn>
                              </p:par>
                            </p:childTnLst>
                          </p:cTn>
                        </p:par>
                      </p:childTnLst>
                    </p:cTn>
                  </p:par>
                  <p:par>
                    <p:cTn id="54" fill="hold">
                      <p:stCondLst>
                        <p:cond delay="indefinite"/>
                      </p:stCondLst>
                      <p:childTnLst>
                        <p:par>
                          <p:cTn id="55" fill="hold">
                            <p:stCondLst>
                              <p:cond delay="0"/>
                            </p:stCondLst>
                            <p:childTnLst>
                              <p:par>
                                <p:cTn id="56" presetID="16" presetClass="entr" presetSubtype="26" fill="hold" nodeType="click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barn(inHorizontal)">
                                      <p:cBhvr>
                                        <p:cTn id="58" dur="500"/>
                                        <p:tgtEl>
                                          <p:spTgt spid="17"/>
                                        </p:tgtEl>
                                      </p:cBhvr>
                                    </p:animEffect>
                                  </p:childTnLst>
                                </p:cTn>
                              </p:par>
                              <p:par>
                                <p:cTn id="59" presetID="16" presetClass="entr" presetSubtype="26" fill="hold" nodeType="with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barn(inHorizontal)">
                                      <p:cBhvr>
                                        <p:cTn id="61" dur="500"/>
                                        <p:tgtEl>
                                          <p:spTgt spid="19"/>
                                        </p:tgtEl>
                                      </p:cBhvr>
                                    </p:animEffect>
                                  </p:childTnLst>
                                </p:cTn>
                              </p:par>
                              <p:par>
                                <p:cTn id="62" presetID="16" presetClass="entr" presetSubtype="26" fill="hold" nodeType="with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barn(inHorizontal)">
                                      <p:cBhvr>
                                        <p:cTn id="64" dur="500"/>
                                        <p:tgtEl>
                                          <p:spTgt spid="20"/>
                                        </p:tgtEl>
                                      </p:cBhvr>
                                    </p:animEffect>
                                  </p:childTnLst>
                                </p:cTn>
                              </p:par>
                            </p:childTnLst>
                          </p:cTn>
                        </p:par>
                      </p:childTnLst>
                    </p:cTn>
                  </p:par>
                  <p:par>
                    <p:cTn id="65" fill="hold">
                      <p:stCondLst>
                        <p:cond delay="indefinite"/>
                      </p:stCondLst>
                      <p:childTnLst>
                        <p:par>
                          <p:cTn id="66" fill="hold">
                            <p:stCondLst>
                              <p:cond delay="0"/>
                            </p:stCondLst>
                            <p:childTnLst>
                              <p:par>
                                <p:cTn id="67" presetID="4" presetClass="entr" presetSubtype="16" fill="hold" nodeType="clickEffect">
                                  <p:stCondLst>
                                    <p:cond delay="0"/>
                                  </p:stCondLst>
                                  <p:childTnLst>
                                    <p:set>
                                      <p:cBhvr>
                                        <p:cTn id="68" dur="1" fill="hold">
                                          <p:stCondLst>
                                            <p:cond delay="0"/>
                                          </p:stCondLst>
                                        </p:cTn>
                                        <p:tgtEl>
                                          <p:spTgt spid="32"/>
                                        </p:tgtEl>
                                        <p:attrNameLst>
                                          <p:attrName>style.visibility</p:attrName>
                                        </p:attrNameLst>
                                      </p:cBhvr>
                                      <p:to>
                                        <p:strVal val="visible"/>
                                      </p:to>
                                    </p:set>
                                    <p:animEffect transition="in" filter="box(in)">
                                      <p:cBhvr>
                                        <p:cTn id="69" dur="500"/>
                                        <p:tgtEl>
                                          <p:spTgt spid="32"/>
                                        </p:tgtEl>
                                      </p:cBhvr>
                                    </p:animEffect>
                                  </p:childTnLst>
                                </p:cTn>
                              </p:par>
                              <p:par>
                                <p:cTn id="70" presetID="4" presetClass="entr" presetSubtype="16" fill="hold" nodeType="withEffect">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box(in)">
                                      <p:cBhvr>
                                        <p:cTn id="72" dur="500"/>
                                        <p:tgtEl>
                                          <p:spTgt spid="33"/>
                                        </p:tgtEl>
                                      </p:cBhvr>
                                    </p:animEffect>
                                  </p:childTnLst>
                                </p:cTn>
                              </p:par>
                            </p:childTnLst>
                          </p:cTn>
                        </p:par>
                      </p:childTnLst>
                    </p:cTn>
                  </p:par>
                  <p:par>
                    <p:cTn id="73" fill="hold">
                      <p:stCondLst>
                        <p:cond delay="indefinite"/>
                      </p:stCondLst>
                      <p:childTnLst>
                        <p:par>
                          <p:cTn id="74" fill="hold">
                            <p:stCondLst>
                              <p:cond delay="0"/>
                            </p:stCondLst>
                            <p:childTnLst>
                              <p:par>
                                <p:cTn id="75" presetID="4" presetClass="entr" presetSubtype="16" fill="hold" grpId="0" nodeType="click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box(in)">
                                      <p:cBhvr>
                                        <p:cTn id="77" dur="500"/>
                                        <p:tgtEl>
                                          <p:spTgt spid="25"/>
                                        </p:tgtEl>
                                      </p:cBhvr>
                                    </p:animEffect>
                                  </p:childTnLst>
                                </p:cTn>
                              </p:par>
                              <p:par>
                                <p:cTn id="78" presetID="4" presetClass="entr" presetSubtype="16" fill="hold" grpId="0" nodeType="withEffect">
                                  <p:stCondLst>
                                    <p:cond delay="0"/>
                                  </p:stCondLst>
                                  <p:childTnLst>
                                    <p:set>
                                      <p:cBhvr>
                                        <p:cTn id="79" dur="1" fill="hold">
                                          <p:stCondLst>
                                            <p:cond delay="0"/>
                                          </p:stCondLst>
                                        </p:cTn>
                                        <p:tgtEl>
                                          <p:spTgt spid="21"/>
                                        </p:tgtEl>
                                        <p:attrNameLst>
                                          <p:attrName>style.visibility</p:attrName>
                                        </p:attrNameLst>
                                      </p:cBhvr>
                                      <p:to>
                                        <p:strVal val="visible"/>
                                      </p:to>
                                    </p:set>
                                    <p:animEffect transition="in" filter="box(in)">
                                      <p:cBhvr>
                                        <p:cTn id="80" dur="500"/>
                                        <p:tgtEl>
                                          <p:spTgt spid="21"/>
                                        </p:tgtEl>
                                      </p:cBhvr>
                                    </p:animEffect>
                                  </p:childTnLst>
                                </p:cTn>
                              </p:par>
                            </p:childTnLst>
                          </p:cTn>
                        </p:par>
                      </p:childTnLst>
                    </p:cTn>
                  </p:par>
                  <p:par>
                    <p:cTn id="81" fill="hold">
                      <p:stCondLst>
                        <p:cond delay="indefinite"/>
                      </p:stCondLst>
                      <p:childTnLst>
                        <p:par>
                          <p:cTn id="82" fill="hold">
                            <p:stCondLst>
                              <p:cond delay="0"/>
                            </p:stCondLst>
                            <p:childTnLst>
                              <p:par>
                                <p:cTn id="83" presetID="2" presetClass="entr" presetSubtype="1" fill="hold" nodeType="clickEffect">
                                  <p:stCondLst>
                                    <p:cond delay="0"/>
                                  </p:stCondLst>
                                  <p:childTnLst>
                                    <p:set>
                                      <p:cBhvr>
                                        <p:cTn id="84" dur="1" fill="hold">
                                          <p:stCondLst>
                                            <p:cond delay="0"/>
                                          </p:stCondLst>
                                        </p:cTn>
                                        <p:tgtEl>
                                          <p:spTgt spid="26"/>
                                        </p:tgtEl>
                                        <p:attrNameLst>
                                          <p:attrName>style.visibility</p:attrName>
                                        </p:attrNameLst>
                                      </p:cBhvr>
                                      <p:to>
                                        <p:strVal val="visible"/>
                                      </p:to>
                                    </p:set>
                                    <p:anim calcmode="lin" valueType="num">
                                      <p:cBhvr additive="base">
                                        <p:cTn id="85" dur="500" fill="hold"/>
                                        <p:tgtEl>
                                          <p:spTgt spid="26"/>
                                        </p:tgtEl>
                                        <p:attrNameLst>
                                          <p:attrName>ppt_x</p:attrName>
                                        </p:attrNameLst>
                                      </p:cBhvr>
                                      <p:tavLst>
                                        <p:tav tm="0">
                                          <p:val>
                                            <p:strVal val="#ppt_x"/>
                                          </p:val>
                                        </p:tav>
                                        <p:tav tm="100000">
                                          <p:val>
                                            <p:strVal val="#ppt_x"/>
                                          </p:val>
                                        </p:tav>
                                      </p:tavLst>
                                    </p:anim>
                                    <p:anim calcmode="lin" valueType="num">
                                      <p:cBhvr additive="base">
                                        <p:cTn id="86" dur="500" fill="hold"/>
                                        <p:tgtEl>
                                          <p:spTgt spid="26"/>
                                        </p:tgtEl>
                                        <p:attrNameLst>
                                          <p:attrName>ppt_y</p:attrName>
                                        </p:attrNameLst>
                                      </p:cBhvr>
                                      <p:tavLst>
                                        <p:tav tm="0">
                                          <p:val>
                                            <p:strVal val="0-#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8" presetClass="entr" presetSubtype="16" fill="hold" nodeType="click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diamond(in)">
                                      <p:cBhvr>
                                        <p:cTn id="91" dur="2000"/>
                                        <p:tgtEl>
                                          <p:spTgt spid="34"/>
                                        </p:tgtEl>
                                      </p:cBhvr>
                                    </p:animEffect>
                                  </p:childTnLst>
                                </p:cTn>
                              </p:par>
                              <p:par>
                                <p:cTn id="92" presetID="8" presetClass="entr" presetSubtype="16" fill="hold" grpId="0" nodeType="withEffect">
                                  <p:stCondLst>
                                    <p:cond delay="0"/>
                                  </p:stCondLst>
                                  <p:childTnLst>
                                    <p:set>
                                      <p:cBhvr>
                                        <p:cTn id="93" dur="1" fill="hold">
                                          <p:stCondLst>
                                            <p:cond delay="0"/>
                                          </p:stCondLst>
                                        </p:cTn>
                                        <p:tgtEl>
                                          <p:spTgt spid="27"/>
                                        </p:tgtEl>
                                        <p:attrNameLst>
                                          <p:attrName>style.visibility</p:attrName>
                                        </p:attrNameLst>
                                      </p:cBhvr>
                                      <p:to>
                                        <p:strVal val="visible"/>
                                      </p:to>
                                    </p:set>
                                    <p:animEffect transition="in" filter="diamond(in)">
                                      <p:cBhvr>
                                        <p:cTn id="94" dur="2000"/>
                                        <p:tgtEl>
                                          <p:spTgt spid="27"/>
                                        </p:tgtEl>
                                      </p:cBhvr>
                                    </p:animEffect>
                                  </p:childTnLst>
                                </p:cTn>
                              </p:par>
                            </p:childTnLst>
                          </p:cTn>
                        </p:par>
                      </p:childTnLst>
                    </p:cTn>
                  </p:par>
                  <p:par>
                    <p:cTn id="95" fill="hold">
                      <p:stCondLst>
                        <p:cond delay="indefinite"/>
                      </p:stCondLst>
                      <p:childTnLst>
                        <p:par>
                          <p:cTn id="96" fill="hold">
                            <p:stCondLst>
                              <p:cond delay="0"/>
                            </p:stCondLst>
                            <p:childTnLst>
                              <p:par>
                                <p:cTn id="97" presetID="4" presetClass="entr" presetSubtype="16" fill="hold" grpId="0" nodeType="clickEffect">
                                  <p:stCondLst>
                                    <p:cond delay="0"/>
                                  </p:stCondLst>
                                  <p:childTnLst>
                                    <p:set>
                                      <p:cBhvr>
                                        <p:cTn id="98" dur="1" fill="hold">
                                          <p:stCondLst>
                                            <p:cond delay="0"/>
                                          </p:stCondLst>
                                        </p:cTn>
                                        <p:tgtEl>
                                          <p:spTgt spid="28"/>
                                        </p:tgtEl>
                                        <p:attrNameLst>
                                          <p:attrName>style.visibility</p:attrName>
                                        </p:attrNameLst>
                                      </p:cBhvr>
                                      <p:to>
                                        <p:strVal val="visible"/>
                                      </p:to>
                                    </p:set>
                                    <p:animEffect transition="in" filter="box(in)">
                                      <p:cBhvr>
                                        <p:cTn id="99" dur="500"/>
                                        <p:tgtEl>
                                          <p:spTgt spid="28"/>
                                        </p:tgtEl>
                                      </p:cBhvr>
                                    </p:animEffect>
                                  </p:childTnLst>
                                </p:cTn>
                              </p:par>
                              <p:par>
                                <p:cTn id="100" presetID="4" presetClass="entr" presetSubtype="16" fill="hold" grpId="0" nodeType="withEffect">
                                  <p:stCondLst>
                                    <p:cond delay="0"/>
                                  </p:stCondLst>
                                  <p:childTnLst>
                                    <p:set>
                                      <p:cBhvr>
                                        <p:cTn id="101" dur="1" fill="hold">
                                          <p:stCondLst>
                                            <p:cond delay="0"/>
                                          </p:stCondLst>
                                        </p:cTn>
                                        <p:tgtEl>
                                          <p:spTgt spid="29"/>
                                        </p:tgtEl>
                                        <p:attrNameLst>
                                          <p:attrName>style.visibility</p:attrName>
                                        </p:attrNameLst>
                                      </p:cBhvr>
                                      <p:to>
                                        <p:strVal val="visible"/>
                                      </p:to>
                                    </p:set>
                                    <p:animEffect transition="in" filter="box(in)">
                                      <p:cBhvr>
                                        <p:cTn id="102" dur="500"/>
                                        <p:tgtEl>
                                          <p:spTgt spid="29"/>
                                        </p:tgtEl>
                                      </p:cBhvr>
                                    </p:animEffect>
                                  </p:childTnLst>
                                </p:cTn>
                              </p:par>
                              <p:par>
                                <p:cTn id="103" presetID="4" presetClass="entr" presetSubtype="16" fill="hold" grpId="0" nodeType="withEffect">
                                  <p:stCondLst>
                                    <p:cond delay="0"/>
                                  </p:stCondLst>
                                  <p:childTnLst>
                                    <p:set>
                                      <p:cBhvr>
                                        <p:cTn id="104" dur="1" fill="hold">
                                          <p:stCondLst>
                                            <p:cond delay="0"/>
                                          </p:stCondLst>
                                        </p:cTn>
                                        <p:tgtEl>
                                          <p:spTgt spid="31"/>
                                        </p:tgtEl>
                                        <p:attrNameLst>
                                          <p:attrName>style.visibility</p:attrName>
                                        </p:attrNameLst>
                                      </p:cBhvr>
                                      <p:to>
                                        <p:strVal val="visible"/>
                                      </p:to>
                                    </p:set>
                                    <p:animEffect transition="in" filter="box(in)">
                                      <p:cBhvr>
                                        <p:cTn id="105" dur="500"/>
                                        <p:tgtEl>
                                          <p:spTgt spid="31"/>
                                        </p:tgtEl>
                                      </p:cBhvr>
                                    </p:animEffect>
                                  </p:childTnLst>
                                </p:cTn>
                              </p:par>
                              <p:par>
                                <p:cTn id="106" presetID="4" presetClass="entr" presetSubtype="16" fill="hold" nodeType="withEffect">
                                  <p:stCondLst>
                                    <p:cond delay="0"/>
                                  </p:stCondLst>
                                  <p:childTnLst>
                                    <p:set>
                                      <p:cBhvr>
                                        <p:cTn id="107" dur="1" fill="hold">
                                          <p:stCondLst>
                                            <p:cond delay="0"/>
                                          </p:stCondLst>
                                        </p:cTn>
                                        <p:tgtEl>
                                          <p:spTgt spid="30"/>
                                        </p:tgtEl>
                                        <p:attrNameLst>
                                          <p:attrName>style.visibility</p:attrName>
                                        </p:attrNameLst>
                                      </p:cBhvr>
                                      <p:to>
                                        <p:strVal val="visible"/>
                                      </p:to>
                                    </p:set>
                                    <p:animEffect transition="in" filter="box(in)">
                                      <p:cBhvr>
                                        <p:cTn id="108"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7" grpId="0"/>
      <p:bldP spid="11" grpId="0" animBg="1"/>
      <p:bldP spid="13" grpId="0" animBg="1"/>
      <p:bldP spid="14" grpId="0" animBg="1"/>
      <p:bldP spid="15" grpId="0" animBg="1"/>
      <p:bldP spid="16" grpId="0" animBg="1"/>
      <p:bldP spid="18" grpId="0" animBg="1"/>
      <p:bldP spid="21" grpId="0"/>
      <p:bldP spid="22" grpId="0"/>
      <p:bldP spid="23" grpId="0"/>
      <p:bldP spid="24" grpId="0"/>
      <p:bldP spid="25" grpId="0"/>
      <p:bldP spid="27" grpId="0"/>
      <p:bldP spid="28" grpId="0"/>
      <p:bldP spid="29" grpId="0"/>
      <p:bldP spid="31" grpId="0"/>
      <p:bldP spid="35" grpId="0" animBg="1"/>
      <p:bldP spid="3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8" name="矩形 2"/>
          <p:cNvSpPr>
            <a:spLocks noChangeArrowheads="1"/>
          </p:cNvSpPr>
          <p:nvPr/>
        </p:nvSpPr>
        <p:spPr bwMode="auto">
          <a:xfrm>
            <a:off x="3370774" y="4525963"/>
            <a:ext cx="6311900" cy="574675"/>
          </a:xfrm>
          <a:prstGeom prst="rect">
            <a:avLst/>
          </a:prstGeom>
          <a:solidFill>
            <a:srgbClr val="00CC00"/>
          </a:solidFill>
          <a:ln w="31750" algn="ctr">
            <a:solidFill>
              <a:srgbClr val="000000"/>
            </a:solidFill>
            <a:round/>
            <a:headEnd/>
            <a:tailEnd/>
          </a:ln>
        </p:spPr>
        <p:txBody>
          <a:bodyPr/>
          <a:lstStyle/>
          <a:p>
            <a:pPr defTabSz="914400"/>
            <a:endParaRPr lang="zh-CN" altLang="en-US" sz="2400" b="1">
              <a:latin typeface="楷体_GB2312" pitchFamily="49" charset="-122"/>
              <a:ea typeface="楷体_GB2312" pitchFamily="49" charset="-122"/>
            </a:endParaRPr>
          </a:p>
        </p:txBody>
      </p:sp>
      <p:sp>
        <p:nvSpPr>
          <p:cNvPr id="20489" name="矩形 3"/>
          <p:cNvSpPr>
            <a:spLocks noChangeArrowheads="1"/>
          </p:cNvSpPr>
          <p:nvPr/>
        </p:nvSpPr>
        <p:spPr bwMode="auto">
          <a:xfrm>
            <a:off x="3370774" y="2730500"/>
            <a:ext cx="6311900" cy="574675"/>
          </a:xfrm>
          <a:prstGeom prst="rect">
            <a:avLst/>
          </a:prstGeom>
          <a:solidFill>
            <a:srgbClr val="FFC000"/>
          </a:solidFill>
          <a:ln w="31750" algn="ctr">
            <a:solidFill>
              <a:srgbClr val="000000"/>
            </a:solidFill>
            <a:round/>
            <a:headEnd/>
            <a:tailEnd/>
          </a:ln>
        </p:spPr>
        <p:txBody>
          <a:bodyPr/>
          <a:lstStyle/>
          <a:p>
            <a:pPr defTabSz="914400"/>
            <a:endParaRPr lang="zh-CN" altLang="en-US" sz="2400" b="1">
              <a:latin typeface="楷体_GB2312" pitchFamily="49" charset="-122"/>
              <a:ea typeface="楷体_GB2312" pitchFamily="49" charset="-122"/>
            </a:endParaRPr>
          </a:p>
        </p:txBody>
      </p:sp>
      <p:sp>
        <p:nvSpPr>
          <p:cNvPr id="4" name="矩形 3"/>
          <p:cNvSpPr/>
          <p:nvPr/>
        </p:nvSpPr>
        <p:spPr bwMode="auto">
          <a:xfrm>
            <a:off x="3370774" y="3305175"/>
            <a:ext cx="6311900" cy="1220788"/>
          </a:xfrm>
          <a:prstGeom prst="rect">
            <a:avLst/>
          </a:prstGeom>
          <a:solidFill>
            <a:schemeClr val="accent1">
              <a:lumMod val="60000"/>
              <a:lumOff val="40000"/>
            </a:schemeClr>
          </a:solidFill>
          <a:ln w="31750" cap="flat" cmpd="sng" algn="ctr">
            <a:solidFill>
              <a:srgbClr val="000000"/>
            </a:solidFill>
            <a:prstDash val="solid"/>
            <a:round/>
            <a:headEnd type="none" w="med" len="med"/>
            <a:tailEnd type="none" w="med" len="med"/>
          </a:ln>
          <a:effectLst/>
        </p:spPr>
        <p:txBody>
          <a:bodyPr/>
          <a:lstStyle/>
          <a:p>
            <a:pPr defTabSz="914400">
              <a:defRPr/>
            </a:pPr>
            <a:endParaRPr lang="zh-CN" altLang="en-US" sz="2400" b="1">
              <a:latin typeface="楷体_GB2312" pitchFamily="49" charset="-122"/>
              <a:ea typeface="楷体_GB2312" pitchFamily="49" charset="-122"/>
            </a:endParaRPr>
          </a:p>
        </p:txBody>
      </p:sp>
      <p:sp>
        <p:nvSpPr>
          <p:cNvPr id="20491" name="Rectangle 2" descr="宽下对角线"/>
          <p:cNvSpPr>
            <a:spLocks noChangeArrowheads="1"/>
          </p:cNvSpPr>
          <p:nvPr/>
        </p:nvSpPr>
        <p:spPr bwMode="auto">
          <a:xfrm>
            <a:off x="8974649" y="2371725"/>
            <a:ext cx="708025" cy="358775"/>
          </a:xfrm>
          <a:prstGeom prst="rect">
            <a:avLst/>
          </a:prstGeom>
          <a:pattFill prst="wdDnDiag">
            <a:fgClr>
              <a:srgbClr val="000000"/>
            </a:fgClr>
            <a:bgClr>
              <a:srgbClr val="FFFFFF"/>
            </a:bgClr>
          </a:pattFill>
          <a:ln w="31750">
            <a:solidFill>
              <a:srgbClr val="000000"/>
            </a:solidFill>
            <a:miter lim="800000"/>
            <a:headEnd/>
            <a:tailEnd/>
          </a:ln>
        </p:spPr>
        <p:txBody>
          <a:bodyPr/>
          <a:lstStyle/>
          <a:p>
            <a:pPr defTabSz="914400"/>
            <a:endParaRPr lang="zh-CN" altLang="en-US" sz="2800" b="1">
              <a:latin typeface="楷体_GB2312" pitchFamily="49" charset="-122"/>
              <a:ea typeface="楷体_GB2312" pitchFamily="49" charset="-122"/>
            </a:endParaRPr>
          </a:p>
        </p:txBody>
      </p:sp>
      <p:sp>
        <p:nvSpPr>
          <p:cNvPr id="20492" name="Rectangle 2" descr="宽下对角线"/>
          <p:cNvSpPr>
            <a:spLocks noChangeArrowheads="1"/>
          </p:cNvSpPr>
          <p:nvPr/>
        </p:nvSpPr>
        <p:spPr bwMode="auto">
          <a:xfrm>
            <a:off x="3370774" y="5113338"/>
            <a:ext cx="6311900" cy="177800"/>
          </a:xfrm>
          <a:prstGeom prst="rect">
            <a:avLst/>
          </a:prstGeom>
          <a:pattFill prst="wdDnDiag">
            <a:fgClr>
              <a:srgbClr val="000000"/>
            </a:fgClr>
            <a:bgClr>
              <a:srgbClr val="FFFFFF"/>
            </a:bgClr>
          </a:pattFill>
          <a:ln w="31750">
            <a:solidFill>
              <a:srgbClr val="000000"/>
            </a:solidFill>
            <a:miter lim="800000"/>
            <a:headEnd/>
            <a:tailEnd/>
          </a:ln>
        </p:spPr>
        <p:txBody>
          <a:bodyPr/>
          <a:lstStyle/>
          <a:p>
            <a:pPr defTabSz="914400"/>
            <a:endParaRPr lang="zh-CN" altLang="en-US" sz="2800" b="1">
              <a:latin typeface="楷体_GB2312" pitchFamily="49" charset="-122"/>
              <a:ea typeface="楷体_GB2312" pitchFamily="49" charset="-122"/>
            </a:endParaRPr>
          </a:p>
        </p:txBody>
      </p:sp>
      <p:cxnSp>
        <p:nvCxnSpPr>
          <p:cNvPr id="20493" name="直接连接符 12"/>
          <p:cNvCxnSpPr>
            <a:cxnSpLocks noChangeShapeType="1"/>
          </p:cNvCxnSpPr>
          <p:nvPr/>
        </p:nvCxnSpPr>
        <p:spPr bwMode="auto">
          <a:xfrm rot="16200000" flipH="1">
            <a:off x="4593149" y="3979863"/>
            <a:ext cx="3822700" cy="44450"/>
          </a:xfrm>
          <a:prstGeom prst="line">
            <a:avLst/>
          </a:prstGeom>
          <a:noFill/>
          <a:ln w="38100" algn="ctr">
            <a:solidFill>
              <a:schemeClr val="tx1"/>
            </a:solidFill>
            <a:prstDash val="lgDash"/>
            <a:round/>
            <a:headEnd/>
            <a:tailEnd/>
          </a:ln>
        </p:spPr>
      </p:cxnSp>
      <p:sp>
        <p:nvSpPr>
          <p:cNvPr id="20494" name="Rectangle 2" descr="宽下对角线"/>
          <p:cNvSpPr>
            <a:spLocks noChangeArrowheads="1"/>
          </p:cNvSpPr>
          <p:nvPr/>
        </p:nvSpPr>
        <p:spPr bwMode="auto">
          <a:xfrm>
            <a:off x="3373949" y="2371725"/>
            <a:ext cx="708025" cy="358775"/>
          </a:xfrm>
          <a:prstGeom prst="rect">
            <a:avLst/>
          </a:prstGeom>
          <a:pattFill prst="wdDnDiag">
            <a:fgClr>
              <a:srgbClr val="000000"/>
            </a:fgClr>
            <a:bgClr>
              <a:srgbClr val="FFFFFF"/>
            </a:bgClr>
          </a:pattFill>
          <a:ln w="31750">
            <a:solidFill>
              <a:srgbClr val="000000"/>
            </a:solidFill>
            <a:miter lim="800000"/>
            <a:headEnd/>
            <a:tailEnd/>
          </a:ln>
        </p:spPr>
        <p:txBody>
          <a:bodyPr/>
          <a:lstStyle/>
          <a:p>
            <a:pPr defTabSz="914400"/>
            <a:endParaRPr lang="zh-CN" altLang="en-US" sz="2800" b="1">
              <a:latin typeface="楷体_GB2312" pitchFamily="49" charset="-122"/>
              <a:ea typeface="楷体_GB2312" pitchFamily="49" charset="-122"/>
            </a:endParaRPr>
          </a:p>
        </p:txBody>
      </p:sp>
      <p:cxnSp>
        <p:nvCxnSpPr>
          <p:cNvPr id="20495" name="直接连接符 15"/>
          <p:cNvCxnSpPr>
            <a:cxnSpLocks noChangeShapeType="1"/>
          </p:cNvCxnSpPr>
          <p:nvPr/>
        </p:nvCxnSpPr>
        <p:spPr bwMode="auto">
          <a:xfrm rot="16200000" flipH="1">
            <a:off x="2147605" y="4023519"/>
            <a:ext cx="3911600" cy="46038"/>
          </a:xfrm>
          <a:prstGeom prst="line">
            <a:avLst/>
          </a:prstGeom>
          <a:noFill/>
          <a:ln w="38100" algn="ctr">
            <a:solidFill>
              <a:schemeClr val="tx1"/>
            </a:solidFill>
            <a:prstDash val="lgDash"/>
            <a:round/>
            <a:headEnd/>
            <a:tailEnd/>
          </a:ln>
        </p:spPr>
      </p:cxnSp>
      <p:cxnSp>
        <p:nvCxnSpPr>
          <p:cNvPr id="20496" name="直接连接符 16"/>
          <p:cNvCxnSpPr>
            <a:cxnSpLocks noChangeShapeType="1"/>
          </p:cNvCxnSpPr>
          <p:nvPr/>
        </p:nvCxnSpPr>
        <p:spPr bwMode="auto">
          <a:xfrm rot="16200000" flipH="1">
            <a:off x="7149024" y="3913188"/>
            <a:ext cx="3689350" cy="44450"/>
          </a:xfrm>
          <a:prstGeom prst="line">
            <a:avLst/>
          </a:prstGeom>
          <a:noFill/>
          <a:ln w="38100" algn="ctr">
            <a:solidFill>
              <a:schemeClr val="tx1"/>
            </a:solidFill>
            <a:prstDash val="lgDash"/>
            <a:round/>
            <a:headEnd/>
            <a:tailEnd/>
          </a:ln>
        </p:spPr>
      </p:cxnSp>
      <p:sp>
        <p:nvSpPr>
          <p:cNvPr id="20497" name="TextBox 18"/>
          <p:cNvSpPr txBox="1">
            <a:spLocks noChangeArrowheads="1"/>
          </p:cNvSpPr>
          <p:nvPr/>
        </p:nvSpPr>
        <p:spPr bwMode="auto">
          <a:xfrm>
            <a:off x="5059874" y="5380038"/>
            <a:ext cx="400050" cy="519112"/>
          </a:xfrm>
          <a:prstGeom prst="rect">
            <a:avLst/>
          </a:prstGeom>
          <a:noFill/>
          <a:ln w="9525">
            <a:noFill/>
            <a:miter lim="800000"/>
            <a:headEnd/>
            <a:tailEnd/>
          </a:ln>
        </p:spPr>
        <p:txBody>
          <a:bodyPr>
            <a:spAutoFit/>
          </a:bodyPr>
          <a:lstStyle/>
          <a:p>
            <a:pPr defTabSz="914400"/>
            <a:r>
              <a:rPr lang="en-US" altLang="zh-CN" sz="2800" b="1">
                <a:latin typeface="Times New Roman" pitchFamily="18" charset="0"/>
                <a:ea typeface="楷体_GB2312" pitchFamily="49" charset="-122"/>
                <a:cs typeface="Times New Roman" pitchFamily="18" charset="0"/>
              </a:rPr>
              <a:t>L</a:t>
            </a:r>
            <a:endParaRPr lang="zh-CN" altLang="en-US" sz="2800" b="1">
              <a:latin typeface="Times New Roman" pitchFamily="18" charset="0"/>
              <a:ea typeface="楷体_GB2312" pitchFamily="49" charset="-122"/>
              <a:cs typeface="Times New Roman" pitchFamily="18" charset="0"/>
            </a:endParaRPr>
          </a:p>
        </p:txBody>
      </p:sp>
      <p:sp>
        <p:nvSpPr>
          <p:cNvPr id="20498" name="TextBox 19"/>
          <p:cNvSpPr txBox="1">
            <a:spLocks noChangeArrowheads="1"/>
          </p:cNvSpPr>
          <p:nvPr/>
        </p:nvSpPr>
        <p:spPr bwMode="auto">
          <a:xfrm>
            <a:off x="3504124" y="2713038"/>
            <a:ext cx="400050" cy="519112"/>
          </a:xfrm>
          <a:prstGeom prst="rect">
            <a:avLst/>
          </a:prstGeom>
          <a:noFill/>
          <a:ln w="9525">
            <a:noFill/>
            <a:miter lim="800000"/>
            <a:headEnd/>
            <a:tailEnd/>
          </a:ln>
        </p:spPr>
        <p:txBody>
          <a:bodyPr>
            <a:spAutoFit/>
          </a:bodyPr>
          <a:lstStyle/>
          <a:p>
            <a:pPr defTabSz="914400"/>
            <a:r>
              <a:rPr lang="en-US" altLang="zh-CN" sz="2800" b="1">
                <a:solidFill>
                  <a:srgbClr val="FF00FF"/>
                </a:solidFill>
                <a:latin typeface="Times New Roman" pitchFamily="18" charset="0"/>
                <a:ea typeface="楷体_GB2312" pitchFamily="49" charset="-122"/>
                <a:cs typeface="Times New Roman" pitchFamily="18" charset="0"/>
              </a:rPr>
              <a:t>P</a:t>
            </a:r>
            <a:endParaRPr lang="zh-CN" altLang="en-US" sz="2800" b="1">
              <a:solidFill>
                <a:srgbClr val="FF00FF"/>
              </a:solidFill>
              <a:latin typeface="Times New Roman" pitchFamily="18" charset="0"/>
              <a:ea typeface="楷体_GB2312" pitchFamily="49" charset="-122"/>
              <a:cs typeface="Times New Roman" pitchFamily="18" charset="0"/>
            </a:endParaRPr>
          </a:p>
        </p:txBody>
      </p:sp>
      <p:sp>
        <p:nvSpPr>
          <p:cNvPr id="20499" name="TextBox 20"/>
          <p:cNvSpPr txBox="1">
            <a:spLocks noChangeArrowheads="1"/>
          </p:cNvSpPr>
          <p:nvPr/>
        </p:nvSpPr>
        <p:spPr bwMode="auto">
          <a:xfrm>
            <a:off x="3548574" y="3557588"/>
            <a:ext cx="400050" cy="519112"/>
          </a:xfrm>
          <a:prstGeom prst="rect">
            <a:avLst/>
          </a:prstGeom>
          <a:noFill/>
          <a:ln w="9525">
            <a:noFill/>
            <a:miter lim="800000"/>
            <a:headEnd/>
            <a:tailEnd/>
          </a:ln>
        </p:spPr>
        <p:txBody>
          <a:bodyPr>
            <a:spAutoFit/>
          </a:bodyPr>
          <a:lstStyle/>
          <a:p>
            <a:pPr defTabSz="914400"/>
            <a:r>
              <a:rPr lang="en-US" altLang="zh-CN" sz="2800" b="1">
                <a:solidFill>
                  <a:srgbClr val="FF00FF"/>
                </a:solidFill>
                <a:latin typeface="Times New Roman" pitchFamily="18" charset="0"/>
                <a:ea typeface="楷体_GB2312" pitchFamily="49" charset="-122"/>
                <a:cs typeface="Times New Roman" pitchFamily="18" charset="0"/>
              </a:rPr>
              <a:t>I</a:t>
            </a:r>
            <a:endParaRPr lang="zh-CN" altLang="en-US" sz="2800" b="1">
              <a:solidFill>
                <a:srgbClr val="FF00FF"/>
              </a:solidFill>
              <a:latin typeface="Times New Roman" pitchFamily="18" charset="0"/>
              <a:ea typeface="楷体_GB2312" pitchFamily="49" charset="-122"/>
              <a:cs typeface="Times New Roman" pitchFamily="18" charset="0"/>
            </a:endParaRPr>
          </a:p>
        </p:txBody>
      </p:sp>
      <p:sp>
        <p:nvSpPr>
          <p:cNvPr id="20500" name="TextBox 21"/>
          <p:cNvSpPr txBox="1">
            <a:spLocks noChangeArrowheads="1"/>
          </p:cNvSpPr>
          <p:nvPr/>
        </p:nvSpPr>
        <p:spPr bwMode="auto">
          <a:xfrm>
            <a:off x="3548574" y="4545013"/>
            <a:ext cx="577850" cy="946150"/>
          </a:xfrm>
          <a:prstGeom prst="rect">
            <a:avLst/>
          </a:prstGeom>
          <a:noFill/>
          <a:ln w="9525">
            <a:noFill/>
            <a:miter lim="800000"/>
            <a:headEnd/>
            <a:tailEnd/>
          </a:ln>
        </p:spPr>
        <p:txBody>
          <a:bodyPr>
            <a:spAutoFit/>
          </a:bodyPr>
          <a:lstStyle/>
          <a:p>
            <a:pPr defTabSz="914400"/>
            <a:r>
              <a:rPr lang="en-US" altLang="zh-CN" sz="2800" b="1">
                <a:solidFill>
                  <a:srgbClr val="FF00FF"/>
                </a:solidFill>
                <a:latin typeface="Times New Roman" pitchFamily="18" charset="0"/>
                <a:ea typeface="楷体_GB2312" pitchFamily="49" charset="-122"/>
                <a:cs typeface="Times New Roman" pitchFamily="18" charset="0"/>
              </a:rPr>
              <a:t>N</a:t>
            </a:r>
            <a:r>
              <a:rPr lang="en-US" altLang="zh-CN" sz="2800" b="1" baseline="30000">
                <a:solidFill>
                  <a:srgbClr val="FF00FF"/>
                </a:solidFill>
                <a:latin typeface="Times New Roman" pitchFamily="18" charset="0"/>
                <a:ea typeface="楷体_GB2312" pitchFamily="49" charset="-122"/>
                <a:cs typeface="Times New Roman" pitchFamily="18" charset="0"/>
              </a:rPr>
              <a:t>+</a:t>
            </a:r>
            <a:endParaRPr lang="zh-CN" altLang="en-US" sz="2800" b="1">
              <a:solidFill>
                <a:srgbClr val="FF00FF"/>
              </a:solidFill>
              <a:latin typeface="Times New Roman" pitchFamily="18" charset="0"/>
              <a:ea typeface="楷体_GB2312" pitchFamily="49" charset="-122"/>
              <a:cs typeface="Times New Roman" pitchFamily="18" charset="0"/>
            </a:endParaRPr>
          </a:p>
        </p:txBody>
      </p:sp>
      <p:graphicFrame>
        <p:nvGraphicFramePr>
          <p:cNvPr id="15" name="Object 12"/>
          <p:cNvGraphicFramePr>
            <a:graphicFrameLocks noChangeAspect="1"/>
          </p:cNvGraphicFramePr>
          <p:nvPr>
            <p:extLst>
              <p:ext uri="{D42A27DB-BD31-4B8C-83A1-F6EECF244321}">
                <p14:modId xmlns:p14="http://schemas.microsoft.com/office/powerpoint/2010/main" val="2624939216"/>
              </p:ext>
            </p:extLst>
          </p:nvPr>
        </p:nvGraphicFramePr>
        <p:xfrm>
          <a:off x="7149024" y="1290638"/>
          <a:ext cx="400050" cy="3384550"/>
        </p:xfrm>
        <a:graphic>
          <a:graphicData uri="http://schemas.openxmlformats.org/presentationml/2006/ole">
            <mc:AlternateContent xmlns:mc="http://schemas.openxmlformats.org/markup-compatibility/2006">
              <mc:Choice xmlns:v="urn:schemas-microsoft-com:vml" Requires="v">
                <p:oleObj spid="_x0000_s20612" name="Visio" r:id="rId3" imgW="1311592" imgH="3661743" progId="Visio.Drawing.11">
                  <p:embed/>
                </p:oleObj>
              </mc:Choice>
              <mc:Fallback>
                <p:oleObj name="Visio" r:id="rId3" imgW="1311592" imgH="3661743" progId="Visio.Drawing.11">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9024" y="1290638"/>
                        <a:ext cx="400050" cy="3384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02" name="TextBox 17"/>
          <p:cNvSpPr txBox="1">
            <a:spLocks noChangeArrowheads="1"/>
          </p:cNvSpPr>
          <p:nvPr/>
        </p:nvSpPr>
        <p:spPr bwMode="auto">
          <a:xfrm>
            <a:off x="7682424" y="5291138"/>
            <a:ext cx="444500" cy="519112"/>
          </a:xfrm>
          <a:prstGeom prst="rect">
            <a:avLst/>
          </a:prstGeom>
          <a:noFill/>
          <a:ln w="9525">
            <a:noFill/>
            <a:miter lim="800000"/>
            <a:headEnd/>
            <a:tailEnd/>
          </a:ln>
        </p:spPr>
        <p:txBody>
          <a:bodyPr>
            <a:spAutoFit/>
          </a:bodyPr>
          <a:lstStyle/>
          <a:p>
            <a:pPr defTabSz="914400"/>
            <a:r>
              <a:rPr lang="en-US" altLang="zh-CN" sz="2800" b="1">
                <a:latin typeface="Times New Roman" pitchFamily="18" charset="0"/>
                <a:ea typeface="楷体_GB2312" pitchFamily="49" charset="-122"/>
                <a:cs typeface="Times New Roman" pitchFamily="18" charset="0"/>
              </a:rPr>
              <a:t>L</a:t>
            </a:r>
            <a:endParaRPr lang="zh-CN" altLang="en-US" sz="2800" b="1">
              <a:latin typeface="Times New Roman" pitchFamily="18" charset="0"/>
              <a:ea typeface="楷体_GB2312" pitchFamily="49" charset="-122"/>
              <a:cs typeface="Times New Roman" pitchFamily="18" charset="0"/>
            </a:endParaRPr>
          </a:p>
        </p:txBody>
      </p:sp>
      <p:cxnSp>
        <p:nvCxnSpPr>
          <p:cNvPr id="20503" name="直接连接符 25"/>
          <p:cNvCxnSpPr>
            <a:cxnSpLocks noChangeShapeType="1"/>
          </p:cNvCxnSpPr>
          <p:nvPr/>
        </p:nvCxnSpPr>
        <p:spPr bwMode="auto">
          <a:xfrm rot="16200000" flipH="1">
            <a:off x="6082224" y="3157538"/>
            <a:ext cx="2622550" cy="44450"/>
          </a:xfrm>
          <a:prstGeom prst="line">
            <a:avLst/>
          </a:prstGeom>
          <a:noFill/>
          <a:ln w="50800" algn="ctr">
            <a:solidFill>
              <a:srgbClr val="FF0000"/>
            </a:solidFill>
            <a:prstDash val="lgDash"/>
            <a:round/>
            <a:headEnd/>
            <a:tailEnd/>
          </a:ln>
        </p:spPr>
      </p:cxnSp>
      <p:sp>
        <p:nvSpPr>
          <p:cNvPr id="20504" name="TextBox 27"/>
          <p:cNvSpPr txBox="1">
            <a:spLocks noChangeArrowheads="1"/>
          </p:cNvSpPr>
          <p:nvPr/>
        </p:nvSpPr>
        <p:spPr bwMode="auto">
          <a:xfrm>
            <a:off x="6748974" y="1868488"/>
            <a:ext cx="400050" cy="579437"/>
          </a:xfrm>
          <a:prstGeom prst="rect">
            <a:avLst/>
          </a:prstGeom>
          <a:noFill/>
          <a:ln w="9525">
            <a:noFill/>
            <a:miter lim="800000"/>
            <a:headEnd/>
            <a:tailEnd/>
          </a:ln>
        </p:spPr>
        <p:txBody>
          <a:bodyPr>
            <a:spAutoFit/>
          </a:bodyPr>
          <a:lstStyle/>
          <a:p>
            <a:pPr defTabSz="914400"/>
            <a:r>
              <a:rPr lang="en-US" altLang="zh-CN" sz="3200" b="1" i="1">
                <a:latin typeface="Times New Roman" pitchFamily="18" charset="0"/>
                <a:ea typeface="楷体_GB2312" pitchFamily="49" charset="-122"/>
                <a:cs typeface="Times New Roman" pitchFamily="18" charset="0"/>
              </a:rPr>
              <a:t>x</a:t>
            </a:r>
            <a:endParaRPr lang="zh-CN" altLang="en-US" sz="3200" b="1" i="1">
              <a:latin typeface="Times New Roman" pitchFamily="18" charset="0"/>
              <a:ea typeface="楷体_GB2312" pitchFamily="49" charset="-122"/>
              <a:cs typeface="Times New Roman" pitchFamily="18" charset="0"/>
            </a:endParaRPr>
          </a:p>
        </p:txBody>
      </p:sp>
      <p:grpSp>
        <p:nvGrpSpPr>
          <p:cNvPr id="2" name="组合 48"/>
          <p:cNvGrpSpPr>
            <a:grpSpLocks/>
          </p:cNvGrpSpPr>
          <p:nvPr/>
        </p:nvGrpSpPr>
        <p:grpSpPr bwMode="auto">
          <a:xfrm>
            <a:off x="7418899" y="3779838"/>
            <a:ext cx="219075" cy="223837"/>
            <a:chOff x="6572250" y="2362200"/>
            <a:chExt cx="155575" cy="160337"/>
          </a:xfrm>
        </p:grpSpPr>
        <p:sp>
          <p:nvSpPr>
            <p:cNvPr id="20506" name="Oval 22"/>
            <p:cNvSpPr>
              <a:spLocks noChangeAspect="1" noChangeArrowheads="1"/>
            </p:cNvSpPr>
            <p:nvPr/>
          </p:nvSpPr>
          <p:spPr bwMode="auto">
            <a:xfrm>
              <a:off x="6572250" y="2362200"/>
              <a:ext cx="155575" cy="160337"/>
            </a:xfrm>
            <a:prstGeom prst="ellipse">
              <a:avLst/>
            </a:prstGeom>
            <a:solidFill>
              <a:srgbClr val="0000CC"/>
            </a:solidFill>
            <a:ln w="9525">
              <a:solidFill>
                <a:srgbClr val="FFFFFF"/>
              </a:solidFill>
              <a:round/>
              <a:headEnd/>
              <a:tailEnd/>
            </a:ln>
          </p:spPr>
          <p:txBody>
            <a:bodyPr/>
            <a:lstStyle/>
            <a:p>
              <a:pPr defTabSz="914400"/>
              <a:endParaRPr lang="zh-CN" altLang="en-US" sz="2800" b="1">
                <a:latin typeface="楷体_GB2312" pitchFamily="49" charset="-122"/>
                <a:ea typeface="楷体_GB2312" pitchFamily="49" charset="-122"/>
              </a:endParaRPr>
            </a:p>
          </p:txBody>
        </p:sp>
        <p:cxnSp>
          <p:nvCxnSpPr>
            <p:cNvPr id="20507" name="AutoShape 23"/>
            <p:cNvCxnSpPr>
              <a:cxnSpLocks noChangeAspect="1" noChangeShapeType="1"/>
            </p:cNvCxnSpPr>
            <p:nvPr/>
          </p:nvCxnSpPr>
          <p:spPr bwMode="auto">
            <a:xfrm rot="10800000" flipH="1">
              <a:off x="6599546" y="2450374"/>
              <a:ext cx="106054" cy="726"/>
            </a:xfrm>
            <a:prstGeom prst="straightConnector1">
              <a:avLst/>
            </a:prstGeom>
            <a:noFill/>
            <a:ln w="25400">
              <a:solidFill>
                <a:srgbClr val="FFFF66"/>
              </a:solidFill>
              <a:round/>
              <a:headEnd/>
              <a:tailEnd/>
            </a:ln>
          </p:spPr>
        </p:cxnSp>
      </p:grpSp>
      <p:grpSp>
        <p:nvGrpSpPr>
          <p:cNvPr id="3" name="Group 7"/>
          <p:cNvGrpSpPr>
            <a:grpSpLocks noChangeAspect="1"/>
          </p:cNvGrpSpPr>
          <p:nvPr/>
        </p:nvGrpSpPr>
        <p:grpSpPr bwMode="auto">
          <a:xfrm>
            <a:off x="7647499" y="3602038"/>
            <a:ext cx="212725" cy="219075"/>
            <a:chOff x="8563" y="3812"/>
            <a:chExt cx="244" cy="253"/>
          </a:xfrm>
        </p:grpSpPr>
        <p:sp>
          <p:nvSpPr>
            <p:cNvPr id="20509" name="Oval 8"/>
            <p:cNvSpPr>
              <a:spLocks noChangeAspect="1" noChangeArrowheads="1"/>
            </p:cNvSpPr>
            <p:nvPr/>
          </p:nvSpPr>
          <p:spPr bwMode="auto">
            <a:xfrm>
              <a:off x="8563" y="3812"/>
              <a:ext cx="244" cy="253"/>
            </a:xfrm>
            <a:prstGeom prst="ellipse">
              <a:avLst/>
            </a:prstGeom>
            <a:solidFill>
              <a:srgbClr val="FF0000"/>
            </a:solidFill>
            <a:ln w="9525">
              <a:solidFill>
                <a:srgbClr val="FFFFFF"/>
              </a:solidFill>
              <a:round/>
              <a:headEnd/>
              <a:tailEnd/>
            </a:ln>
          </p:spPr>
          <p:txBody>
            <a:bodyPr/>
            <a:lstStyle/>
            <a:p>
              <a:pPr defTabSz="914400"/>
              <a:endParaRPr lang="zh-CN" altLang="en-US" sz="2800" b="1">
                <a:latin typeface="楷体_GB2312" pitchFamily="49" charset="-122"/>
                <a:ea typeface="楷体_GB2312" pitchFamily="49" charset="-122"/>
              </a:endParaRPr>
            </a:p>
          </p:txBody>
        </p:sp>
        <p:cxnSp>
          <p:nvCxnSpPr>
            <p:cNvPr id="20510" name="AutoShape 9"/>
            <p:cNvCxnSpPr>
              <a:cxnSpLocks noChangeAspect="1" noChangeShapeType="1"/>
            </p:cNvCxnSpPr>
            <p:nvPr/>
          </p:nvCxnSpPr>
          <p:spPr bwMode="auto">
            <a:xfrm>
              <a:off x="8599" y="3937"/>
              <a:ext cx="184" cy="1"/>
            </a:xfrm>
            <a:prstGeom prst="straightConnector1">
              <a:avLst/>
            </a:prstGeom>
            <a:noFill/>
            <a:ln w="25400">
              <a:solidFill>
                <a:srgbClr val="000000"/>
              </a:solidFill>
              <a:round/>
              <a:headEnd/>
              <a:tailEnd/>
            </a:ln>
          </p:spPr>
        </p:cxnSp>
        <p:cxnSp>
          <p:nvCxnSpPr>
            <p:cNvPr id="20511" name="AutoShape 10"/>
            <p:cNvCxnSpPr>
              <a:cxnSpLocks noChangeAspect="1" noChangeShapeType="1"/>
            </p:cNvCxnSpPr>
            <p:nvPr/>
          </p:nvCxnSpPr>
          <p:spPr bwMode="auto">
            <a:xfrm>
              <a:off x="8691" y="3843"/>
              <a:ext cx="0" cy="184"/>
            </a:xfrm>
            <a:prstGeom prst="straightConnector1">
              <a:avLst/>
            </a:prstGeom>
            <a:noFill/>
            <a:ln w="25400">
              <a:solidFill>
                <a:srgbClr val="000000"/>
              </a:solidFill>
              <a:round/>
              <a:headEnd/>
              <a:tailEnd/>
            </a:ln>
          </p:spPr>
        </p:cxnSp>
      </p:grpSp>
      <p:grpSp>
        <p:nvGrpSpPr>
          <p:cNvPr id="5" name="组合 48"/>
          <p:cNvGrpSpPr>
            <a:grpSpLocks/>
          </p:cNvGrpSpPr>
          <p:nvPr/>
        </p:nvGrpSpPr>
        <p:grpSpPr bwMode="auto">
          <a:xfrm>
            <a:off x="7063299" y="3911600"/>
            <a:ext cx="219075" cy="223838"/>
            <a:chOff x="6572250" y="2362200"/>
            <a:chExt cx="155575" cy="160337"/>
          </a:xfrm>
        </p:grpSpPr>
        <p:sp>
          <p:nvSpPr>
            <p:cNvPr id="20513" name="Oval 22"/>
            <p:cNvSpPr>
              <a:spLocks noChangeAspect="1" noChangeArrowheads="1"/>
            </p:cNvSpPr>
            <p:nvPr/>
          </p:nvSpPr>
          <p:spPr bwMode="auto">
            <a:xfrm>
              <a:off x="6572250" y="2362200"/>
              <a:ext cx="155575" cy="160337"/>
            </a:xfrm>
            <a:prstGeom prst="ellipse">
              <a:avLst/>
            </a:prstGeom>
            <a:solidFill>
              <a:srgbClr val="0000CC"/>
            </a:solidFill>
            <a:ln w="9525">
              <a:solidFill>
                <a:srgbClr val="FFFFFF"/>
              </a:solidFill>
              <a:round/>
              <a:headEnd/>
              <a:tailEnd/>
            </a:ln>
          </p:spPr>
          <p:txBody>
            <a:bodyPr/>
            <a:lstStyle/>
            <a:p>
              <a:pPr defTabSz="914400"/>
              <a:endParaRPr lang="zh-CN" altLang="en-US" sz="2800" b="1">
                <a:latin typeface="楷体_GB2312" pitchFamily="49" charset="-122"/>
                <a:ea typeface="楷体_GB2312" pitchFamily="49" charset="-122"/>
              </a:endParaRPr>
            </a:p>
          </p:txBody>
        </p:sp>
        <p:cxnSp>
          <p:nvCxnSpPr>
            <p:cNvPr id="20514" name="AutoShape 23"/>
            <p:cNvCxnSpPr>
              <a:cxnSpLocks noChangeAspect="1" noChangeShapeType="1"/>
            </p:cNvCxnSpPr>
            <p:nvPr/>
          </p:nvCxnSpPr>
          <p:spPr bwMode="auto">
            <a:xfrm rot="10800000" flipH="1">
              <a:off x="6599546" y="2450374"/>
              <a:ext cx="106054" cy="726"/>
            </a:xfrm>
            <a:prstGeom prst="straightConnector1">
              <a:avLst/>
            </a:prstGeom>
            <a:noFill/>
            <a:ln w="25400">
              <a:solidFill>
                <a:srgbClr val="FFFF66"/>
              </a:solidFill>
              <a:round/>
              <a:headEnd/>
              <a:tailEnd/>
            </a:ln>
          </p:spPr>
        </p:cxnSp>
      </p:grpSp>
      <p:grpSp>
        <p:nvGrpSpPr>
          <p:cNvPr id="6" name="Group 7"/>
          <p:cNvGrpSpPr>
            <a:grpSpLocks noChangeAspect="1"/>
          </p:cNvGrpSpPr>
          <p:nvPr/>
        </p:nvGrpSpPr>
        <p:grpSpPr bwMode="auto">
          <a:xfrm>
            <a:off x="7015674" y="3513138"/>
            <a:ext cx="212725" cy="219075"/>
            <a:chOff x="8563" y="3812"/>
            <a:chExt cx="244" cy="253"/>
          </a:xfrm>
        </p:grpSpPr>
        <p:sp>
          <p:nvSpPr>
            <p:cNvPr id="20516" name="Oval 8"/>
            <p:cNvSpPr>
              <a:spLocks noChangeAspect="1" noChangeArrowheads="1"/>
            </p:cNvSpPr>
            <p:nvPr/>
          </p:nvSpPr>
          <p:spPr bwMode="auto">
            <a:xfrm>
              <a:off x="8563" y="3812"/>
              <a:ext cx="244" cy="253"/>
            </a:xfrm>
            <a:prstGeom prst="ellipse">
              <a:avLst/>
            </a:prstGeom>
            <a:solidFill>
              <a:srgbClr val="FF0000"/>
            </a:solidFill>
            <a:ln w="9525">
              <a:solidFill>
                <a:srgbClr val="FFFFFF"/>
              </a:solidFill>
              <a:round/>
              <a:headEnd/>
              <a:tailEnd/>
            </a:ln>
          </p:spPr>
          <p:txBody>
            <a:bodyPr/>
            <a:lstStyle/>
            <a:p>
              <a:pPr defTabSz="914400"/>
              <a:endParaRPr lang="zh-CN" altLang="en-US" sz="2800" b="1">
                <a:latin typeface="楷体_GB2312" pitchFamily="49" charset="-122"/>
                <a:ea typeface="楷体_GB2312" pitchFamily="49" charset="-122"/>
              </a:endParaRPr>
            </a:p>
          </p:txBody>
        </p:sp>
        <p:cxnSp>
          <p:nvCxnSpPr>
            <p:cNvPr id="20517" name="AutoShape 9"/>
            <p:cNvCxnSpPr>
              <a:cxnSpLocks noChangeAspect="1" noChangeShapeType="1"/>
            </p:cNvCxnSpPr>
            <p:nvPr/>
          </p:nvCxnSpPr>
          <p:spPr bwMode="auto">
            <a:xfrm>
              <a:off x="8599" y="3937"/>
              <a:ext cx="184" cy="1"/>
            </a:xfrm>
            <a:prstGeom prst="straightConnector1">
              <a:avLst/>
            </a:prstGeom>
            <a:noFill/>
            <a:ln w="25400">
              <a:solidFill>
                <a:srgbClr val="000000"/>
              </a:solidFill>
              <a:round/>
              <a:headEnd/>
              <a:tailEnd/>
            </a:ln>
          </p:spPr>
        </p:cxnSp>
        <p:cxnSp>
          <p:nvCxnSpPr>
            <p:cNvPr id="20518" name="AutoShape 10"/>
            <p:cNvCxnSpPr>
              <a:cxnSpLocks noChangeAspect="1" noChangeShapeType="1"/>
            </p:cNvCxnSpPr>
            <p:nvPr/>
          </p:nvCxnSpPr>
          <p:spPr bwMode="auto">
            <a:xfrm>
              <a:off x="8691" y="3843"/>
              <a:ext cx="0" cy="184"/>
            </a:xfrm>
            <a:prstGeom prst="straightConnector1">
              <a:avLst/>
            </a:prstGeom>
            <a:noFill/>
            <a:ln w="25400">
              <a:solidFill>
                <a:srgbClr val="000000"/>
              </a:solidFill>
              <a:round/>
              <a:headEnd/>
              <a:tailEnd/>
            </a:ln>
          </p:spPr>
        </p:cxnSp>
      </p:grpSp>
      <p:grpSp>
        <p:nvGrpSpPr>
          <p:cNvPr id="9" name="组合 48"/>
          <p:cNvGrpSpPr>
            <a:grpSpLocks/>
          </p:cNvGrpSpPr>
          <p:nvPr/>
        </p:nvGrpSpPr>
        <p:grpSpPr bwMode="auto">
          <a:xfrm>
            <a:off x="6793424" y="3557588"/>
            <a:ext cx="219075" cy="223837"/>
            <a:chOff x="6572250" y="2362200"/>
            <a:chExt cx="155575" cy="160337"/>
          </a:xfrm>
        </p:grpSpPr>
        <p:sp>
          <p:nvSpPr>
            <p:cNvPr id="20520" name="Oval 22"/>
            <p:cNvSpPr>
              <a:spLocks noChangeAspect="1" noChangeArrowheads="1"/>
            </p:cNvSpPr>
            <p:nvPr/>
          </p:nvSpPr>
          <p:spPr bwMode="auto">
            <a:xfrm>
              <a:off x="6572250" y="2362200"/>
              <a:ext cx="155575" cy="160337"/>
            </a:xfrm>
            <a:prstGeom prst="ellipse">
              <a:avLst/>
            </a:prstGeom>
            <a:solidFill>
              <a:srgbClr val="0000CC"/>
            </a:solidFill>
            <a:ln w="9525">
              <a:solidFill>
                <a:srgbClr val="FFFFFF"/>
              </a:solidFill>
              <a:round/>
              <a:headEnd/>
              <a:tailEnd/>
            </a:ln>
          </p:spPr>
          <p:txBody>
            <a:bodyPr/>
            <a:lstStyle/>
            <a:p>
              <a:pPr defTabSz="914400"/>
              <a:endParaRPr lang="zh-CN" altLang="en-US" sz="2800" b="1">
                <a:latin typeface="楷体_GB2312" pitchFamily="49" charset="-122"/>
                <a:ea typeface="楷体_GB2312" pitchFamily="49" charset="-122"/>
              </a:endParaRPr>
            </a:p>
          </p:txBody>
        </p:sp>
        <p:cxnSp>
          <p:nvCxnSpPr>
            <p:cNvPr id="20521" name="AutoShape 23"/>
            <p:cNvCxnSpPr>
              <a:cxnSpLocks noChangeAspect="1" noChangeShapeType="1"/>
            </p:cNvCxnSpPr>
            <p:nvPr/>
          </p:nvCxnSpPr>
          <p:spPr bwMode="auto">
            <a:xfrm rot="10800000" flipH="1">
              <a:off x="6599546" y="2450374"/>
              <a:ext cx="106054" cy="726"/>
            </a:xfrm>
            <a:prstGeom prst="straightConnector1">
              <a:avLst/>
            </a:prstGeom>
            <a:noFill/>
            <a:ln w="25400">
              <a:solidFill>
                <a:srgbClr val="FFFF66"/>
              </a:solidFill>
              <a:round/>
              <a:headEnd/>
              <a:tailEnd/>
            </a:ln>
          </p:spPr>
        </p:cxnSp>
      </p:grpSp>
      <p:grpSp>
        <p:nvGrpSpPr>
          <p:cNvPr id="8" name="Group 7"/>
          <p:cNvGrpSpPr>
            <a:grpSpLocks noChangeAspect="1"/>
          </p:cNvGrpSpPr>
          <p:nvPr/>
        </p:nvGrpSpPr>
        <p:grpSpPr bwMode="auto">
          <a:xfrm>
            <a:off x="7237924" y="4138613"/>
            <a:ext cx="212725" cy="219075"/>
            <a:chOff x="8563" y="3812"/>
            <a:chExt cx="244" cy="253"/>
          </a:xfrm>
        </p:grpSpPr>
        <p:sp>
          <p:nvSpPr>
            <p:cNvPr id="20523" name="Oval 8"/>
            <p:cNvSpPr>
              <a:spLocks noChangeAspect="1" noChangeArrowheads="1"/>
            </p:cNvSpPr>
            <p:nvPr/>
          </p:nvSpPr>
          <p:spPr bwMode="auto">
            <a:xfrm>
              <a:off x="8563" y="3812"/>
              <a:ext cx="244" cy="253"/>
            </a:xfrm>
            <a:prstGeom prst="ellipse">
              <a:avLst/>
            </a:prstGeom>
            <a:solidFill>
              <a:srgbClr val="FF0000"/>
            </a:solidFill>
            <a:ln w="9525">
              <a:solidFill>
                <a:srgbClr val="FFFFFF"/>
              </a:solidFill>
              <a:round/>
              <a:headEnd/>
              <a:tailEnd/>
            </a:ln>
          </p:spPr>
          <p:txBody>
            <a:bodyPr/>
            <a:lstStyle/>
            <a:p>
              <a:pPr defTabSz="914400"/>
              <a:endParaRPr lang="zh-CN" altLang="en-US" sz="2800" b="1">
                <a:latin typeface="楷体_GB2312" pitchFamily="49" charset="-122"/>
                <a:ea typeface="楷体_GB2312" pitchFamily="49" charset="-122"/>
              </a:endParaRPr>
            </a:p>
          </p:txBody>
        </p:sp>
        <p:cxnSp>
          <p:nvCxnSpPr>
            <p:cNvPr id="20524" name="AutoShape 9"/>
            <p:cNvCxnSpPr>
              <a:cxnSpLocks noChangeAspect="1" noChangeShapeType="1"/>
            </p:cNvCxnSpPr>
            <p:nvPr/>
          </p:nvCxnSpPr>
          <p:spPr bwMode="auto">
            <a:xfrm>
              <a:off x="8599" y="3937"/>
              <a:ext cx="184" cy="1"/>
            </a:xfrm>
            <a:prstGeom prst="straightConnector1">
              <a:avLst/>
            </a:prstGeom>
            <a:noFill/>
            <a:ln w="25400">
              <a:solidFill>
                <a:srgbClr val="000000"/>
              </a:solidFill>
              <a:round/>
              <a:headEnd/>
              <a:tailEnd/>
            </a:ln>
          </p:spPr>
        </p:cxnSp>
        <p:cxnSp>
          <p:nvCxnSpPr>
            <p:cNvPr id="20525" name="AutoShape 10"/>
            <p:cNvCxnSpPr>
              <a:cxnSpLocks noChangeAspect="1" noChangeShapeType="1"/>
            </p:cNvCxnSpPr>
            <p:nvPr/>
          </p:nvCxnSpPr>
          <p:spPr bwMode="auto">
            <a:xfrm>
              <a:off x="8691" y="3843"/>
              <a:ext cx="0" cy="184"/>
            </a:xfrm>
            <a:prstGeom prst="straightConnector1">
              <a:avLst/>
            </a:prstGeom>
            <a:noFill/>
            <a:ln w="25400">
              <a:solidFill>
                <a:srgbClr val="000000"/>
              </a:solidFill>
              <a:round/>
              <a:headEnd/>
              <a:tailEnd/>
            </a:ln>
          </p:spPr>
        </p:cxnSp>
      </p:grpSp>
      <p:sp>
        <p:nvSpPr>
          <p:cNvPr id="40" name="TextBox 51"/>
          <p:cNvSpPr txBox="1">
            <a:spLocks noChangeArrowheads="1"/>
          </p:cNvSpPr>
          <p:nvPr/>
        </p:nvSpPr>
        <p:spPr bwMode="auto">
          <a:xfrm>
            <a:off x="3281874" y="1557338"/>
            <a:ext cx="666750" cy="641350"/>
          </a:xfrm>
          <a:prstGeom prst="rect">
            <a:avLst/>
          </a:prstGeom>
          <a:noFill/>
          <a:ln w="9525">
            <a:noFill/>
            <a:miter lim="800000"/>
            <a:headEnd/>
            <a:tailEnd/>
          </a:ln>
        </p:spPr>
        <p:txBody>
          <a:bodyPr>
            <a:spAutoFit/>
          </a:bodyPr>
          <a:lstStyle/>
          <a:p>
            <a:pPr defTabSz="914400"/>
            <a:r>
              <a:rPr lang="en-US" altLang="zh-CN" sz="3600" b="1">
                <a:solidFill>
                  <a:srgbClr val="0000CC"/>
                </a:solidFill>
                <a:latin typeface="Times New Roman" pitchFamily="18" charset="0"/>
                <a:ea typeface="楷体_GB2312" pitchFamily="49" charset="-122"/>
                <a:cs typeface="Times New Roman" pitchFamily="18" charset="0"/>
              </a:rPr>
              <a:t>I</a:t>
            </a:r>
            <a:r>
              <a:rPr lang="en-US" altLang="zh-CN" sz="3600" b="1" baseline="-25000">
                <a:solidFill>
                  <a:srgbClr val="0000CC"/>
                </a:solidFill>
                <a:latin typeface="Times New Roman" pitchFamily="18" charset="0"/>
                <a:ea typeface="楷体_GB2312" pitchFamily="49" charset="-122"/>
                <a:cs typeface="Times New Roman" pitchFamily="18" charset="0"/>
              </a:rPr>
              <a:t>1</a:t>
            </a:r>
            <a:endParaRPr lang="zh-CN" altLang="en-US" sz="3600" b="1" baseline="-25000">
              <a:solidFill>
                <a:srgbClr val="0000CC"/>
              </a:solidFill>
              <a:latin typeface="Times New Roman" pitchFamily="18" charset="0"/>
              <a:ea typeface="楷体_GB2312" pitchFamily="49" charset="-122"/>
              <a:cs typeface="Times New Roman" pitchFamily="18" charset="0"/>
            </a:endParaRPr>
          </a:p>
        </p:txBody>
      </p:sp>
      <p:sp>
        <p:nvSpPr>
          <p:cNvPr id="41" name="TextBox 52"/>
          <p:cNvSpPr txBox="1">
            <a:spLocks noChangeArrowheads="1"/>
          </p:cNvSpPr>
          <p:nvPr/>
        </p:nvSpPr>
        <p:spPr bwMode="auto">
          <a:xfrm>
            <a:off x="9104824" y="1646238"/>
            <a:ext cx="666750" cy="579437"/>
          </a:xfrm>
          <a:prstGeom prst="rect">
            <a:avLst/>
          </a:prstGeom>
          <a:noFill/>
          <a:ln w="9525">
            <a:noFill/>
            <a:miter lim="800000"/>
            <a:headEnd/>
            <a:tailEnd/>
          </a:ln>
        </p:spPr>
        <p:txBody>
          <a:bodyPr>
            <a:spAutoFit/>
          </a:bodyPr>
          <a:lstStyle/>
          <a:p>
            <a:pPr defTabSz="914400"/>
            <a:r>
              <a:rPr lang="en-US" altLang="zh-CN" sz="3200" b="1">
                <a:solidFill>
                  <a:srgbClr val="0000CC"/>
                </a:solidFill>
                <a:latin typeface="Times New Roman" pitchFamily="18" charset="0"/>
                <a:ea typeface="楷体_GB2312" pitchFamily="49" charset="-122"/>
                <a:cs typeface="Times New Roman" pitchFamily="18" charset="0"/>
              </a:rPr>
              <a:t>I</a:t>
            </a:r>
            <a:r>
              <a:rPr lang="en-US" altLang="zh-CN" sz="3200" b="1" baseline="-25000">
                <a:solidFill>
                  <a:srgbClr val="0000CC"/>
                </a:solidFill>
                <a:latin typeface="Times New Roman" pitchFamily="18" charset="0"/>
                <a:ea typeface="楷体_GB2312" pitchFamily="49" charset="-122"/>
                <a:cs typeface="Times New Roman" pitchFamily="18" charset="0"/>
              </a:rPr>
              <a:t>2</a:t>
            </a:r>
            <a:endParaRPr lang="zh-CN" altLang="en-US" sz="3200" b="1" baseline="-25000">
              <a:solidFill>
                <a:srgbClr val="0000CC"/>
              </a:solidFill>
              <a:latin typeface="Times New Roman" pitchFamily="18" charset="0"/>
              <a:ea typeface="楷体_GB2312" pitchFamily="49" charset="-122"/>
              <a:cs typeface="Times New Roman" pitchFamily="18" charset="0"/>
            </a:endParaRPr>
          </a:p>
        </p:txBody>
      </p:sp>
      <p:sp>
        <p:nvSpPr>
          <p:cNvPr id="42" name="右箭头 53"/>
          <p:cNvSpPr>
            <a:spLocks noChangeArrowheads="1"/>
          </p:cNvSpPr>
          <p:nvPr/>
        </p:nvSpPr>
        <p:spPr bwMode="auto">
          <a:xfrm>
            <a:off x="7726874" y="2935288"/>
            <a:ext cx="1022350" cy="266700"/>
          </a:xfrm>
          <a:prstGeom prst="rightArrow">
            <a:avLst>
              <a:gd name="adj1" fmla="val 50000"/>
              <a:gd name="adj2" fmla="val 49993"/>
            </a:avLst>
          </a:prstGeom>
          <a:solidFill>
            <a:srgbClr val="0000CC"/>
          </a:solidFill>
          <a:ln w="38100" algn="ctr">
            <a:solidFill>
              <a:srgbClr val="FF0000"/>
            </a:solidFill>
            <a:round/>
            <a:headEnd/>
            <a:tailEnd/>
          </a:ln>
        </p:spPr>
        <p:txBody>
          <a:bodyPr/>
          <a:lstStyle/>
          <a:p>
            <a:pPr defTabSz="914400"/>
            <a:endParaRPr lang="zh-CN" altLang="en-US" sz="2400" b="1">
              <a:latin typeface="楷体_GB2312" pitchFamily="49" charset="-122"/>
              <a:ea typeface="楷体_GB2312" pitchFamily="49" charset="-122"/>
            </a:endParaRPr>
          </a:p>
        </p:txBody>
      </p:sp>
      <p:sp>
        <p:nvSpPr>
          <p:cNvPr id="43" name="TextBox 50"/>
          <p:cNvSpPr txBox="1">
            <a:spLocks noChangeArrowheads="1"/>
          </p:cNvSpPr>
          <p:nvPr/>
        </p:nvSpPr>
        <p:spPr bwMode="auto">
          <a:xfrm>
            <a:off x="7726874" y="2767013"/>
            <a:ext cx="666750" cy="519112"/>
          </a:xfrm>
          <a:prstGeom prst="rect">
            <a:avLst/>
          </a:prstGeom>
          <a:noFill/>
          <a:ln w="9525">
            <a:noFill/>
            <a:miter lim="800000"/>
            <a:headEnd/>
            <a:tailEnd/>
          </a:ln>
        </p:spPr>
        <p:txBody>
          <a:bodyPr>
            <a:spAutoFit/>
          </a:bodyPr>
          <a:lstStyle/>
          <a:p>
            <a:pPr defTabSz="914400"/>
            <a:r>
              <a:rPr lang="en-US" altLang="zh-CN" sz="2800" b="1">
                <a:latin typeface="Times New Roman" pitchFamily="18" charset="0"/>
                <a:ea typeface="楷体_GB2312" pitchFamily="49" charset="-122"/>
                <a:cs typeface="Times New Roman" pitchFamily="18" charset="0"/>
              </a:rPr>
              <a:t>I</a:t>
            </a:r>
            <a:r>
              <a:rPr lang="en-US" altLang="zh-CN" sz="2800" b="1" baseline="-25000">
                <a:latin typeface="Times New Roman" pitchFamily="18" charset="0"/>
                <a:ea typeface="楷体_GB2312" pitchFamily="49" charset="-122"/>
                <a:cs typeface="Times New Roman" pitchFamily="18" charset="0"/>
              </a:rPr>
              <a:t>P2</a:t>
            </a:r>
            <a:endParaRPr lang="zh-CN" altLang="en-US" sz="2800" b="1" baseline="-25000">
              <a:latin typeface="Times New Roman" pitchFamily="18" charset="0"/>
              <a:ea typeface="楷体_GB2312" pitchFamily="49" charset="-122"/>
              <a:cs typeface="Times New Roman" pitchFamily="18" charset="0"/>
            </a:endParaRPr>
          </a:p>
        </p:txBody>
      </p:sp>
      <p:sp>
        <p:nvSpPr>
          <p:cNvPr id="44" name="左箭头 54"/>
          <p:cNvSpPr>
            <a:spLocks noChangeArrowheads="1"/>
          </p:cNvSpPr>
          <p:nvPr/>
        </p:nvSpPr>
        <p:spPr bwMode="auto">
          <a:xfrm>
            <a:off x="5726624" y="2935288"/>
            <a:ext cx="1111250" cy="177800"/>
          </a:xfrm>
          <a:prstGeom prst="leftArrow">
            <a:avLst>
              <a:gd name="adj1" fmla="val 50000"/>
              <a:gd name="adj2" fmla="val 50000"/>
            </a:avLst>
          </a:prstGeom>
          <a:solidFill>
            <a:srgbClr val="FF0000"/>
          </a:solidFill>
          <a:ln w="38100" algn="ctr">
            <a:solidFill>
              <a:srgbClr val="0000CC"/>
            </a:solidFill>
            <a:round/>
            <a:headEnd/>
            <a:tailEnd/>
          </a:ln>
        </p:spPr>
        <p:txBody>
          <a:bodyPr/>
          <a:lstStyle/>
          <a:p>
            <a:pPr defTabSz="914400"/>
            <a:endParaRPr lang="zh-CN" altLang="en-US" sz="2400" b="1">
              <a:latin typeface="楷体_GB2312" pitchFamily="49" charset="-122"/>
              <a:ea typeface="楷体_GB2312" pitchFamily="49" charset="-122"/>
            </a:endParaRPr>
          </a:p>
        </p:txBody>
      </p:sp>
      <p:sp>
        <p:nvSpPr>
          <p:cNvPr id="45" name="TextBox 49"/>
          <p:cNvSpPr txBox="1">
            <a:spLocks noChangeArrowheads="1"/>
          </p:cNvSpPr>
          <p:nvPr/>
        </p:nvSpPr>
        <p:spPr bwMode="auto">
          <a:xfrm>
            <a:off x="6482274" y="2757488"/>
            <a:ext cx="666750" cy="519112"/>
          </a:xfrm>
          <a:prstGeom prst="rect">
            <a:avLst/>
          </a:prstGeom>
          <a:noFill/>
          <a:ln w="9525">
            <a:noFill/>
            <a:miter lim="800000"/>
            <a:headEnd/>
            <a:tailEnd/>
          </a:ln>
        </p:spPr>
        <p:txBody>
          <a:bodyPr>
            <a:spAutoFit/>
          </a:bodyPr>
          <a:lstStyle/>
          <a:p>
            <a:pPr defTabSz="914400"/>
            <a:r>
              <a:rPr lang="en-US" altLang="zh-CN" sz="2800" b="1">
                <a:latin typeface="Times New Roman" pitchFamily="18" charset="0"/>
                <a:ea typeface="楷体_GB2312" pitchFamily="49" charset="-122"/>
                <a:cs typeface="Times New Roman" pitchFamily="18" charset="0"/>
              </a:rPr>
              <a:t>I</a:t>
            </a:r>
            <a:r>
              <a:rPr lang="en-US" altLang="zh-CN" sz="2800" b="1" baseline="-25000">
                <a:latin typeface="Times New Roman" pitchFamily="18" charset="0"/>
                <a:ea typeface="楷体_GB2312" pitchFamily="49" charset="-122"/>
                <a:cs typeface="Times New Roman" pitchFamily="18" charset="0"/>
              </a:rPr>
              <a:t>P1</a:t>
            </a:r>
            <a:endParaRPr lang="zh-CN" altLang="en-US" sz="2800" b="1" baseline="-25000">
              <a:latin typeface="Times New Roman" pitchFamily="18" charset="0"/>
              <a:ea typeface="楷体_GB2312" pitchFamily="49" charset="-122"/>
              <a:cs typeface="Times New Roman" pitchFamily="18" charset="0"/>
            </a:endParaRPr>
          </a:p>
        </p:txBody>
      </p:sp>
      <p:cxnSp>
        <p:nvCxnSpPr>
          <p:cNvPr id="46" name="直接连接符 66"/>
          <p:cNvCxnSpPr>
            <a:cxnSpLocks noChangeShapeType="1"/>
          </p:cNvCxnSpPr>
          <p:nvPr/>
        </p:nvCxnSpPr>
        <p:spPr bwMode="auto">
          <a:xfrm rot="5400000">
            <a:off x="6303680" y="5512594"/>
            <a:ext cx="444500" cy="1588"/>
          </a:xfrm>
          <a:prstGeom prst="line">
            <a:avLst/>
          </a:prstGeom>
          <a:noFill/>
          <a:ln w="38100" algn="ctr">
            <a:solidFill>
              <a:schemeClr val="tx1"/>
            </a:solidFill>
            <a:round/>
            <a:headEnd/>
            <a:tailEnd/>
          </a:ln>
        </p:spPr>
      </p:cxnSp>
      <p:sp>
        <p:nvSpPr>
          <p:cNvPr id="47" name="TextBox 67"/>
          <p:cNvSpPr txBox="1">
            <a:spLocks noChangeArrowheads="1"/>
          </p:cNvSpPr>
          <p:nvPr/>
        </p:nvSpPr>
        <p:spPr bwMode="auto">
          <a:xfrm>
            <a:off x="6348924" y="5868988"/>
            <a:ext cx="666750" cy="641350"/>
          </a:xfrm>
          <a:prstGeom prst="rect">
            <a:avLst/>
          </a:prstGeom>
          <a:noFill/>
          <a:ln w="9525">
            <a:noFill/>
            <a:miter lim="800000"/>
            <a:headEnd/>
            <a:tailEnd/>
          </a:ln>
        </p:spPr>
        <p:txBody>
          <a:bodyPr>
            <a:spAutoFit/>
          </a:bodyPr>
          <a:lstStyle/>
          <a:p>
            <a:pPr defTabSz="914400"/>
            <a:r>
              <a:rPr lang="en-US" altLang="zh-CN" sz="3600" b="1">
                <a:solidFill>
                  <a:srgbClr val="FF0000"/>
                </a:solidFill>
                <a:latin typeface="Times New Roman" pitchFamily="18" charset="0"/>
                <a:ea typeface="楷体_GB2312" pitchFamily="49" charset="-122"/>
                <a:cs typeface="Times New Roman" pitchFamily="18" charset="0"/>
              </a:rPr>
              <a:t>I</a:t>
            </a:r>
            <a:endParaRPr lang="zh-CN" altLang="en-US" sz="3600" b="1" baseline="-25000">
              <a:solidFill>
                <a:srgbClr val="FF0000"/>
              </a:solidFill>
              <a:latin typeface="Times New Roman" pitchFamily="18" charset="0"/>
              <a:ea typeface="楷体_GB2312" pitchFamily="49" charset="-122"/>
              <a:cs typeface="Times New Roman" pitchFamily="18" charset="0"/>
            </a:endParaRPr>
          </a:p>
        </p:txBody>
      </p:sp>
      <p:cxnSp>
        <p:nvCxnSpPr>
          <p:cNvPr id="20534" name="直接连接符 69"/>
          <p:cNvCxnSpPr>
            <a:cxnSpLocks noChangeShapeType="1"/>
          </p:cNvCxnSpPr>
          <p:nvPr/>
        </p:nvCxnSpPr>
        <p:spPr bwMode="auto">
          <a:xfrm flipV="1">
            <a:off x="4126424" y="5646738"/>
            <a:ext cx="2355850" cy="44450"/>
          </a:xfrm>
          <a:prstGeom prst="line">
            <a:avLst/>
          </a:prstGeom>
          <a:noFill/>
          <a:ln w="25400" algn="ctr">
            <a:solidFill>
              <a:schemeClr val="tx1"/>
            </a:solidFill>
            <a:round/>
            <a:headEnd type="stealth" w="lg" len="lg"/>
            <a:tailEnd type="stealth" w="lg" len="lg"/>
          </a:ln>
        </p:spPr>
      </p:cxnSp>
      <p:cxnSp>
        <p:nvCxnSpPr>
          <p:cNvPr id="20535" name="直接连接符 70"/>
          <p:cNvCxnSpPr>
            <a:cxnSpLocks noChangeShapeType="1"/>
          </p:cNvCxnSpPr>
          <p:nvPr/>
        </p:nvCxnSpPr>
        <p:spPr bwMode="auto">
          <a:xfrm flipV="1">
            <a:off x="6615624" y="5602288"/>
            <a:ext cx="2355850" cy="44450"/>
          </a:xfrm>
          <a:prstGeom prst="line">
            <a:avLst/>
          </a:prstGeom>
          <a:noFill/>
          <a:ln w="25400" algn="ctr">
            <a:solidFill>
              <a:schemeClr val="tx1"/>
            </a:solidFill>
            <a:round/>
            <a:headEnd type="stealth" w="lg" len="lg"/>
            <a:tailEnd type="stealth" w="lg" len="lg"/>
          </a:ln>
        </p:spPr>
      </p:cxnSp>
      <p:cxnSp>
        <p:nvCxnSpPr>
          <p:cNvPr id="20536" name="直接连接符 71"/>
          <p:cNvCxnSpPr>
            <a:cxnSpLocks noChangeShapeType="1"/>
          </p:cNvCxnSpPr>
          <p:nvPr/>
        </p:nvCxnSpPr>
        <p:spPr bwMode="auto">
          <a:xfrm>
            <a:off x="6482274" y="2357438"/>
            <a:ext cx="889000" cy="1587"/>
          </a:xfrm>
          <a:prstGeom prst="line">
            <a:avLst/>
          </a:prstGeom>
          <a:noFill/>
          <a:ln w="25400" algn="ctr">
            <a:solidFill>
              <a:schemeClr val="tx1"/>
            </a:solidFill>
            <a:round/>
            <a:headEnd type="stealth" w="lg" len="lg"/>
            <a:tailEnd type="stealth" w="lg" len="lg"/>
          </a:ln>
        </p:spPr>
      </p:cxnSp>
      <p:graphicFrame>
        <p:nvGraphicFramePr>
          <p:cNvPr id="51" name="Object 14"/>
          <p:cNvGraphicFramePr>
            <a:graphicFrameLocks noChangeAspect="1"/>
          </p:cNvGraphicFramePr>
          <p:nvPr>
            <p:extLst>
              <p:ext uri="{D42A27DB-BD31-4B8C-83A1-F6EECF244321}">
                <p14:modId xmlns:p14="http://schemas.microsoft.com/office/powerpoint/2010/main" val="3531140519"/>
              </p:ext>
            </p:extLst>
          </p:nvPr>
        </p:nvGraphicFramePr>
        <p:xfrm>
          <a:off x="7460174" y="1335088"/>
          <a:ext cx="355600" cy="2889250"/>
        </p:xfrm>
        <a:graphic>
          <a:graphicData uri="http://schemas.openxmlformats.org/presentationml/2006/ole">
            <mc:AlternateContent xmlns:mc="http://schemas.openxmlformats.org/markup-compatibility/2006">
              <mc:Choice xmlns:v="urn:schemas-microsoft-com:vml" Requires="v">
                <p:oleObj spid="_x0000_s20613" name="Visio" r:id="rId5" imgW="1311592" imgH="3661743" progId="Visio.Drawing.11">
                  <p:embed/>
                </p:oleObj>
              </mc:Choice>
              <mc:Fallback>
                <p:oleObj name="Visio" r:id="rId5" imgW="1311592" imgH="3661743" progId="Visio.Drawing.11">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60174" y="1335088"/>
                        <a:ext cx="355600" cy="2889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 name="Object 15"/>
          <p:cNvGraphicFramePr>
            <a:graphicFrameLocks noChangeAspect="1"/>
          </p:cNvGraphicFramePr>
          <p:nvPr>
            <p:extLst>
              <p:ext uri="{D42A27DB-BD31-4B8C-83A1-F6EECF244321}">
                <p14:modId xmlns:p14="http://schemas.microsoft.com/office/powerpoint/2010/main" val="1654358924"/>
              </p:ext>
            </p:extLst>
          </p:nvPr>
        </p:nvGraphicFramePr>
        <p:xfrm>
          <a:off x="6926774" y="1290638"/>
          <a:ext cx="355600" cy="2673350"/>
        </p:xfrm>
        <a:graphic>
          <a:graphicData uri="http://schemas.openxmlformats.org/presentationml/2006/ole">
            <mc:AlternateContent xmlns:mc="http://schemas.openxmlformats.org/markup-compatibility/2006">
              <mc:Choice xmlns:v="urn:schemas-microsoft-com:vml" Requires="v">
                <p:oleObj spid="_x0000_s20614" name="Visio" r:id="rId7" imgW="1311592" imgH="3661743" progId="Visio.Drawing.11">
                  <p:embed/>
                </p:oleObj>
              </mc:Choice>
              <mc:Fallback>
                <p:oleObj name="Visio" r:id="rId7" imgW="1311592" imgH="3661743" progId="Visio.Drawing.11">
                  <p:embed/>
                  <p:pic>
                    <p:nvPicPr>
                      <p:cNvPr id="0"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26774" y="1290638"/>
                        <a:ext cx="355600" cy="2673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39" name="Rectangle 9"/>
          <p:cNvSpPr>
            <a:spLocks noChangeArrowheads="1"/>
          </p:cNvSpPr>
          <p:nvPr/>
        </p:nvSpPr>
        <p:spPr bwMode="auto">
          <a:xfrm>
            <a:off x="1770574" y="2570163"/>
            <a:ext cx="1193800" cy="1219200"/>
          </a:xfrm>
          <a:prstGeom prst="rect">
            <a:avLst/>
          </a:prstGeom>
          <a:noFill/>
          <a:ln w="31750">
            <a:solidFill>
              <a:srgbClr val="FF0000"/>
            </a:solidFill>
            <a:miter lim="800000"/>
            <a:headEnd/>
            <a:tailEnd/>
          </a:ln>
        </p:spPr>
        <p:txBody>
          <a:bodyPr anchor="ctr">
            <a:spAutoFit/>
          </a:bodyPr>
          <a:lstStyle/>
          <a:p>
            <a:pPr algn="ctr" defTabSz="914400"/>
            <a:r>
              <a:rPr lang="en-US" altLang="zh-CN" sz="2400" b="1">
                <a:latin typeface="Times New Roman" pitchFamily="18" charset="0"/>
                <a:ea typeface="微软雅黑" pitchFamily="34" charset="-122"/>
                <a:cs typeface="Times New Roman" pitchFamily="18" charset="0"/>
              </a:rPr>
              <a:t>P</a:t>
            </a:r>
            <a:r>
              <a:rPr lang="zh-CN" altLang="en-US" sz="2400" b="1">
                <a:latin typeface="Times New Roman" pitchFamily="18" charset="0"/>
                <a:ea typeface="微软雅黑" pitchFamily="34" charset="-122"/>
                <a:cs typeface="Times New Roman" pitchFamily="18" charset="0"/>
              </a:rPr>
              <a:t>型</a:t>
            </a:r>
            <a:endParaRPr lang="en-US" altLang="zh-CN" sz="2400" b="1">
              <a:latin typeface="Times New Roman" pitchFamily="18" charset="0"/>
              <a:ea typeface="微软雅黑" pitchFamily="34" charset="-122"/>
              <a:cs typeface="Times New Roman" pitchFamily="18" charset="0"/>
            </a:endParaRPr>
          </a:p>
          <a:p>
            <a:pPr algn="ctr" defTabSz="914400"/>
            <a:r>
              <a:rPr lang="zh-CN" altLang="en-US" sz="2400" b="1">
                <a:latin typeface="Times New Roman" pitchFamily="18" charset="0"/>
                <a:ea typeface="微软雅黑" pitchFamily="34" charset="-122"/>
                <a:cs typeface="Times New Roman" pitchFamily="18" charset="0"/>
              </a:rPr>
              <a:t>电阻</a:t>
            </a:r>
            <a:endParaRPr lang="en-US" altLang="zh-CN" sz="2400" b="1">
              <a:latin typeface="Times New Roman" pitchFamily="18" charset="0"/>
              <a:ea typeface="微软雅黑" pitchFamily="34" charset="-122"/>
              <a:cs typeface="Times New Roman" pitchFamily="18" charset="0"/>
            </a:endParaRPr>
          </a:p>
          <a:p>
            <a:pPr algn="ctr" defTabSz="914400"/>
            <a:r>
              <a:rPr lang="zh-CN" altLang="en-US" sz="2400" b="1">
                <a:latin typeface="Times New Roman" pitchFamily="18" charset="0"/>
                <a:ea typeface="微软雅黑" pitchFamily="34" charset="-122"/>
                <a:cs typeface="Times New Roman" pitchFamily="18" charset="0"/>
              </a:rPr>
              <a:t>均匀层</a:t>
            </a:r>
          </a:p>
        </p:txBody>
      </p:sp>
      <p:graphicFrame>
        <p:nvGraphicFramePr>
          <p:cNvPr id="54" name="Object 56"/>
          <p:cNvGraphicFramePr>
            <a:graphicFrameLocks noChangeAspect="1"/>
          </p:cNvGraphicFramePr>
          <p:nvPr>
            <p:extLst>
              <p:ext uri="{D42A27DB-BD31-4B8C-83A1-F6EECF244321}">
                <p14:modId xmlns:p14="http://schemas.microsoft.com/office/powerpoint/2010/main" val="1215148878"/>
              </p:ext>
            </p:extLst>
          </p:nvPr>
        </p:nvGraphicFramePr>
        <p:xfrm>
          <a:off x="5107571" y="1512887"/>
          <a:ext cx="1174750" cy="577850"/>
        </p:xfrm>
        <a:graphic>
          <a:graphicData uri="http://schemas.openxmlformats.org/presentationml/2006/ole">
            <mc:AlternateContent xmlns:mc="http://schemas.openxmlformats.org/markup-compatibility/2006">
              <mc:Choice xmlns:v="urn:schemas-microsoft-com:vml" Requires="v">
                <p:oleObj spid="_x0000_s20615" name="公式" r:id="rId9" imgW="799920" imgH="393480" progId="Equation.3">
                  <p:embed/>
                </p:oleObj>
              </mc:Choice>
              <mc:Fallback>
                <p:oleObj name="公式" r:id="rId9" imgW="799920" imgH="393480" progId="Equation.3">
                  <p:embed/>
                  <p:pic>
                    <p:nvPicPr>
                      <p:cNvPr id="0" name="Object 5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07571" y="1512887"/>
                        <a:ext cx="1174750" cy="577850"/>
                      </a:xfrm>
                      <a:prstGeom prst="rect">
                        <a:avLst/>
                      </a:prstGeom>
                      <a:solidFill>
                        <a:srgbClr val="FF00FF"/>
                      </a:solidFill>
                    </p:spPr>
                  </p:pic>
                </p:oleObj>
              </mc:Fallback>
            </mc:AlternateContent>
          </a:graphicData>
        </a:graphic>
      </p:graphicFrame>
      <p:graphicFrame>
        <p:nvGraphicFramePr>
          <p:cNvPr id="55" name="Object 57"/>
          <p:cNvGraphicFramePr>
            <a:graphicFrameLocks noChangeAspect="1"/>
          </p:cNvGraphicFramePr>
          <p:nvPr>
            <p:extLst>
              <p:ext uri="{D42A27DB-BD31-4B8C-83A1-F6EECF244321}">
                <p14:modId xmlns:p14="http://schemas.microsoft.com/office/powerpoint/2010/main" val="2800750514"/>
              </p:ext>
            </p:extLst>
          </p:nvPr>
        </p:nvGraphicFramePr>
        <p:xfrm>
          <a:off x="7538164" y="1493431"/>
          <a:ext cx="1193800" cy="577850"/>
        </p:xfrm>
        <a:graphic>
          <a:graphicData uri="http://schemas.openxmlformats.org/presentationml/2006/ole">
            <mc:AlternateContent xmlns:mc="http://schemas.openxmlformats.org/markup-compatibility/2006">
              <mc:Choice xmlns:v="urn:schemas-microsoft-com:vml" Requires="v">
                <p:oleObj spid="_x0000_s20616" name="公式" r:id="rId11" imgW="812520" imgH="393480" progId="Equation.3">
                  <p:embed/>
                </p:oleObj>
              </mc:Choice>
              <mc:Fallback>
                <p:oleObj name="公式" r:id="rId11" imgW="812520" imgH="393480" progId="Equation.3">
                  <p:embed/>
                  <p:pic>
                    <p:nvPicPr>
                      <p:cNvPr id="0" name="Object 5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538164" y="1493431"/>
                        <a:ext cx="1193800" cy="577850"/>
                      </a:xfrm>
                      <a:prstGeom prst="rect">
                        <a:avLst/>
                      </a:prstGeom>
                      <a:solidFill>
                        <a:schemeClr val="accent1">
                          <a:lumMod val="60000"/>
                          <a:lumOff val="40000"/>
                        </a:schemeClr>
                      </a:solidFill>
                    </p:spPr>
                  </p:pic>
                </p:oleObj>
              </mc:Fallback>
            </mc:AlternateContent>
          </a:graphicData>
        </a:graphic>
      </p:graphicFrame>
      <p:sp>
        <p:nvSpPr>
          <p:cNvPr id="61" name="Rectangle 8"/>
          <p:cNvSpPr>
            <a:spLocks noChangeArrowheads="1"/>
          </p:cNvSpPr>
          <p:nvPr/>
        </p:nvSpPr>
        <p:spPr bwMode="auto">
          <a:xfrm>
            <a:off x="4320005" y="6500813"/>
            <a:ext cx="5022850" cy="579437"/>
          </a:xfrm>
          <a:prstGeom prst="rect">
            <a:avLst/>
          </a:prstGeom>
          <a:noFill/>
          <a:ln w="9525">
            <a:noFill/>
            <a:miter lim="800000"/>
            <a:headEnd/>
            <a:tailEnd/>
          </a:ln>
        </p:spPr>
        <p:txBody>
          <a:bodyPr anchor="ctr">
            <a:spAutoFit/>
          </a:bodyPr>
          <a:lstStyle/>
          <a:p>
            <a:pPr algn="ctr" defTabSz="914400">
              <a:defRPr/>
            </a:pPr>
            <a:r>
              <a:rPr lang="zh-CN" altLang="en-US" sz="3200" b="1" dirty="0">
                <a:solidFill>
                  <a:srgbClr val="0000CC"/>
                </a:solidFill>
                <a:latin typeface="Times New Roman" pitchFamily="18" charset="0"/>
                <a:ea typeface="微软雅黑" pitchFamily="34" charset="-122"/>
                <a:cs typeface="Times New Roman" pitchFamily="18" charset="0"/>
              </a:rPr>
              <a:t>一维</a:t>
            </a:r>
            <a:r>
              <a:rPr lang="en-US" altLang="zh-CN" sz="3200" b="1" dirty="0">
                <a:solidFill>
                  <a:srgbClr val="0000CC"/>
                </a:solidFill>
                <a:latin typeface="Times New Roman" pitchFamily="18" charset="0"/>
                <a:ea typeface="微软雅黑" pitchFamily="34" charset="-122"/>
                <a:cs typeface="Times New Roman" pitchFamily="18" charset="0"/>
              </a:rPr>
              <a:t>PSD </a:t>
            </a:r>
            <a:r>
              <a:rPr lang="zh-CN" altLang="en-US" sz="3200" b="1" dirty="0">
                <a:solidFill>
                  <a:srgbClr val="0000CC"/>
                </a:solidFill>
                <a:latin typeface="Times New Roman" pitchFamily="18" charset="0"/>
                <a:ea typeface="微软雅黑" pitchFamily="34" charset="-122"/>
                <a:cs typeface="Times New Roman" pitchFamily="18" charset="0"/>
              </a:rPr>
              <a:t>工作原理</a:t>
            </a:r>
          </a:p>
        </p:txBody>
      </p:sp>
      <p:cxnSp>
        <p:nvCxnSpPr>
          <p:cNvPr id="64" name="直接连接符 70"/>
          <p:cNvCxnSpPr>
            <a:cxnSpLocks noChangeShapeType="1"/>
          </p:cNvCxnSpPr>
          <p:nvPr/>
        </p:nvCxnSpPr>
        <p:spPr bwMode="auto">
          <a:xfrm flipV="1">
            <a:off x="4126424" y="2174677"/>
            <a:ext cx="3217862" cy="24011"/>
          </a:xfrm>
          <a:prstGeom prst="line">
            <a:avLst/>
          </a:prstGeom>
          <a:noFill/>
          <a:ln w="31750" algn="ctr">
            <a:solidFill>
              <a:srgbClr val="FF00FF"/>
            </a:solidFill>
            <a:prstDash val="lgDash"/>
            <a:round/>
            <a:headEnd type="stealth" w="lg" len="lg"/>
            <a:tailEnd type="stealth" w="lg" len="lg"/>
          </a:ln>
        </p:spPr>
      </p:cxnSp>
      <p:cxnSp>
        <p:nvCxnSpPr>
          <p:cNvPr id="69" name="直接连接符 70"/>
          <p:cNvCxnSpPr>
            <a:cxnSpLocks noChangeShapeType="1"/>
          </p:cNvCxnSpPr>
          <p:nvPr/>
        </p:nvCxnSpPr>
        <p:spPr bwMode="auto">
          <a:xfrm>
            <a:off x="7429726" y="2186572"/>
            <a:ext cx="1541748" cy="110"/>
          </a:xfrm>
          <a:prstGeom prst="line">
            <a:avLst/>
          </a:prstGeom>
          <a:noFill/>
          <a:ln w="31750" algn="ctr">
            <a:solidFill>
              <a:srgbClr val="0000CC"/>
            </a:solidFill>
            <a:prstDash val="lgDash"/>
            <a:round/>
            <a:headEnd type="stealth" w="lg" len="lg"/>
            <a:tailEnd type="stealth" w="lg" len="lg"/>
          </a:ln>
        </p:spPr>
      </p:cxnSp>
      <p:grpSp>
        <p:nvGrpSpPr>
          <p:cNvPr id="72" name="组合 71">
            <a:extLst>
              <a:ext uri="{FF2B5EF4-FFF2-40B4-BE49-F238E27FC236}">
                <a16:creationId xmlns:a16="http://schemas.microsoft.com/office/drawing/2014/main" id="{67333BCE-8D3B-461A-ABC8-3D06EAC79BA9}"/>
              </a:ext>
            </a:extLst>
          </p:cNvPr>
          <p:cNvGrpSpPr/>
          <p:nvPr/>
        </p:nvGrpSpPr>
        <p:grpSpPr>
          <a:xfrm>
            <a:off x="0" y="293282"/>
            <a:ext cx="13161246" cy="7421968"/>
            <a:chOff x="0" y="293282"/>
            <a:chExt cx="13161246" cy="7421968"/>
          </a:xfrm>
        </p:grpSpPr>
        <p:sp>
          <p:nvSpPr>
            <p:cNvPr id="73" name="文本框 60">
              <a:extLst>
                <a:ext uri="{FF2B5EF4-FFF2-40B4-BE49-F238E27FC236}">
                  <a16:creationId xmlns:a16="http://schemas.microsoft.com/office/drawing/2014/main" id="{DB6994AF-F69F-48A0-B47F-41A6564EECF6}"/>
                </a:ext>
              </a:extLst>
            </p:cNvPr>
            <p:cNvSpPr txBox="1"/>
            <p:nvPr/>
          </p:nvSpPr>
          <p:spPr>
            <a:xfrm>
              <a:off x="1364781" y="293282"/>
              <a:ext cx="3569826"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位置敏感探测器结构与工作原理</a:t>
              </a:r>
            </a:p>
          </p:txBody>
        </p:sp>
        <p:sp>
          <p:nvSpPr>
            <p:cNvPr id="74" name="矩形 73">
              <a:extLst>
                <a:ext uri="{FF2B5EF4-FFF2-40B4-BE49-F238E27FC236}">
                  <a16:creationId xmlns:a16="http://schemas.microsoft.com/office/drawing/2014/main" id="{05AB5CE7-CC84-4757-A76D-C7F31D84FC26}"/>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75" name="矩形 74">
              <a:extLst>
                <a:ext uri="{FF2B5EF4-FFF2-40B4-BE49-F238E27FC236}">
                  <a16:creationId xmlns:a16="http://schemas.microsoft.com/office/drawing/2014/main" id="{4B6FDA72-935B-4322-9DF2-30D64FE07853}"/>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矩形: 圆角 75">
              <a:extLst>
                <a:ext uri="{FF2B5EF4-FFF2-40B4-BE49-F238E27FC236}">
                  <a16:creationId xmlns:a16="http://schemas.microsoft.com/office/drawing/2014/main" id="{68DD28E7-F85B-4CE4-8F1A-AFB25FF5BEC5}"/>
                </a:ext>
              </a:extLst>
            </p:cNvPr>
            <p:cNvSpPr/>
            <p:nvPr/>
          </p:nvSpPr>
          <p:spPr>
            <a:xfrm>
              <a:off x="304801" y="293282"/>
              <a:ext cx="979824"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4.7.1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77" name="直接连接符 58">
              <a:extLst>
                <a:ext uri="{FF2B5EF4-FFF2-40B4-BE49-F238E27FC236}">
                  <a16:creationId xmlns:a16="http://schemas.microsoft.com/office/drawing/2014/main" id="{A44A00D3-92AB-4268-B8E7-EE1B3F663772}"/>
                </a:ext>
              </a:extLst>
            </p:cNvPr>
            <p:cNvCxnSpPr>
              <a:cxnSpLocks/>
            </p:cNvCxnSpPr>
            <p:nvPr/>
          </p:nvCxnSpPr>
          <p:spPr>
            <a:xfrm>
              <a:off x="1450506" y="710998"/>
              <a:ext cx="3336956"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78" name="矩形 77">
              <a:extLst>
                <a:ext uri="{FF2B5EF4-FFF2-40B4-BE49-F238E27FC236}">
                  <a16:creationId xmlns:a16="http://schemas.microsoft.com/office/drawing/2014/main" id="{81AD299D-60A4-4420-9974-BAB77DB307FD}"/>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79" name="矩形 78">
              <a:extLst>
                <a:ext uri="{FF2B5EF4-FFF2-40B4-BE49-F238E27FC236}">
                  <a16:creationId xmlns:a16="http://schemas.microsoft.com/office/drawing/2014/main" id="{75E675E5-1EEC-48E5-A4F0-32760AC98020}"/>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box(in)">
                                      <p:cBhvr>
                                        <p:cTn id="7" dur="500"/>
                                        <p:tgtEl>
                                          <p:spTgt spid="61"/>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64"/>
                                        </p:tgtEl>
                                        <p:attrNameLst>
                                          <p:attrName>style.visibility</p:attrName>
                                        </p:attrNameLst>
                                      </p:cBhvr>
                                      <p:to>
                                        <p:strVal val="visible"/>
                                      </p:to>
                                    </p:set>
                                    <p:anim calcmode="lin" valueType="num">
                                      <p:cBhvr>
                                        <p:cTn id="12" dur="500" fill="hold"/>
                                        <p:tgtEl>
                                          <p:spTgt spid="64"/>
                                        </p:tgtEl>
                                        <p:attrNameLst>
                                          <p:attrName>ppt_w</p:attrName>
                                        </p:attrNameLst>
                                      </p:cBhvr>
                                      <p:tavLst>
                                        <p:tav tm="0">
                                          <p:val>
                                            <p:fltVal val="0"/>
                                          </p:val>
                                        </p:tav>
                                        <p:tav tm="100000">
                                          <p:val>
                                            <p:strVal val="#ppt_w"/>
                                          </p:val>
                                        </p:tav>
                                      </p:tavLst>
                                    </p:anim>
                                    <p:anim calcmode="lin" valueType="num">
                                      <p:cBhvr>
                                        <p:cTn id="13" dur="500" fill="hold"/>
                                        <p:tgtEl>
                                          <p:spTgt spid="64"/>
                                        </p:tgtEl>
                                        <p:attrNameLst>
                                          <p:attrName>ppt_h</p:attrName>
                                        </p:attrNameLst>
                                      </p:cBhvr>
                                      <p:tavLst>
                                        <p:tav tm="0">
                                          <p:val>
                                            <p:fltVal val="0"/>
                                          </p:val>
                                        </p:tav>
                                        <p:tav tm="100000">
                                          <p:val>
                                            <p:strVal val="#ppt_h"/>
                                          </p:val>
                                        </p:tav>
                                      </p:tavLst>
                                    </p:anim>
                                    <p:animEffect transition="in" filter="fade">
                                      <p:cBhvr>
                                        <p:cTn id="14" dur="500"/>
                                        <p:tgtEl>
                                          <p:spTgt spid="64"/>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1" fill="hold" nodeType="clickEffect">
                                  <p:stCondLst>
                                    <p:cond delay="0"/>
                                  </p:stCondLst>
                                  <p:childTnLst>
                                    <p:set>
                                      <p:cBhvr>
                                        <p:cTn id="18" dur="1" fill="hold">
                                          <p:stCondLst>
                                            <p:cond delay="0"/>
                                          </p:stCondLst>
                                        </p:cTn>
                                        <p:tgtEl>
                                          <p:spTgt spid="54"/>
                                        </p:tgtEl>
                                        <p:attrNameLst>
                                          <p:attrName>style.visibility</p:attrName>
                                        </p:attrNameLst>
                                      </p:cBhvr>
                                      <p:to>
                                        <p:strVal val="visible"/>
                                      </p:to>
                                    </p:set>
                                    <p:anim calcmode="lin" valueType="num">
                                      <p:cBhvr additive="base">
                                        <p:cTn id="19" dur="500" fill="hold"/>
                                        <p:tgtEl>
                                          <p:spTgt spid="54"/>
                                        </p:tgtEl>
                                        <p:attrNameLst>
                                          <p:attrName>ppt_x</p:attrName>
                                        </p:attrNameLst>
                                      </p:cBhvr>
                                      <p:tavLst>
                                        <p:tav tm="0">
                                          <p:val>
                                            <p:strVal val="#ppt_x"/>
                                          </p:val>
                                        </p:tav>
                                        <p:tav tm="100000">
                                          <p:val>
                                            <p:strVal val="#ppt_x"/>
                                          </p:val>
                                        </p:tav>
                                      </p:tavLst>
                                    </p:anim>
                                    <p:anim calcmode="lin" valueType="num">
                                      <p:cBhvr additive="base">
                                        <p:cTn id="20" dur="500" fill="hold"/>
                                        <p:tgtEl>
                                          <p:spTgt spid="54"/>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nodeType="clickEffect">
                                  <p:stCondLst>
                                    <p:cond delay="0"/>
                                  </p:stCondLst>
                                  <p:childTnLst>
                                    <p:set>
                                      <p:cBhvr>
                                        <p:cTn id="24" dur="1" fill="hold">
                                          <p:stCondLst>
                                            <p:cond delay="0"/>
                                          </p:stCondLst>
                                        </p:cTn>
                                        <p:tgtEl>
                                          <p:spTgt spid="69"/>
                                        </p:tgtEl>
                                        <p:attrNameLst>
                                          <p:attrName>style.visibility</p:attrName>
                                        </p:attrNameLst>
                                      </p:cBhvr>
                                      <p:to>
                                        <p:strVal val="visible"/>
                                      </p:to>
                                    </p:set>
                                    <p:anim calcmode="lin" valueType="num">
                                      <p:cBhvr>
                                        <p:cTn id="25" dur="500" fill="hold"/>
                                        <p:tgtEl>
                                          <p:spTgt spid="69"/>
                                        </p:tgtEl>
                                        <p:attrNameLst>
                                          <p:attrName>ppt_w</p:attrName>
                                        </p:attrNameLst>
                                      </p:cBhvr>
                                      <p:tavLst>
                                        <p:tav tm="0">
                                          <p:val>
                                            <p:fltVal val="0"/>
                                          </p:val>
                                        </p:tav>
                                        <p:tav tm="100000">
                                          <p:val>
                                            <p:strVal val="#ppt_w"/>
                                          </p:val>
                                        </p:tav>
                                      </p:tavLst>
                                    </p:anim>
                                    <p:anim calcmode="lin" valueType="num">
                                      <p:cBhvr>
                                        <p:cTn id="26" dur="500" fill="hold"/>
                                        <p:tgtEl>
                                          <p:spTgt spid="69"/>
                                        </p:tgtEl>
                                        <p:attrNameLst>
                                          <p:attrName>ppt_h</p:attrName>
                                        </p:attrNameLst>
                                      </p:cBhvr>
                                      <p:tavLst>
                                        <p:tav tm="0">
                                          <p:val>
                                            <p:fltVal val="0"/>
                                          </p:val>
                                        </p:tav>
                                        <p:tav tm="100000">
                                          <p:val>
                                            <p:strVal val="#ppt_h"/>
                                          </p:val>
                                        </p:tav>
                                      </p:tavLst>
                                    </p:anim>
                                    <p:animEffect transition="in" filter="fade">
                                      <p:cBhvr>
                                        <p:cTn id="27" dur="500"/>
                                        <p:tgtEl>
                                          <p:spTgt spid="69"/>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1" fill="hold" nodeType="clickEffect">
                                  <p:stCondLst>
                                    <p:cond delay="0"/>
                                  </p:stCondLst>
                                  <p:childTnLst>
                                    <p:set>
                                      <p:cBhvr>
                                        <p:cTn id="31" dur="1" fill="hold">
                                          <p:stCondLst>
                                            <p:cond delay="0"/>
                                          </p:stCondLst>
                                        </p:cTn>
                                        <p:tgtEl>
                                          <p:spTgt spid="55"/>
                                        </p:tgtEl>
                                        <p:attrNameLst>
                                          <p:attrName>style.visibility</p:attrName>
                                        </p:attrNameLst>
                                      </p:cBhvr>
                                      <p:to>
                                        <p:strVal val="visible"/>
                                      </p:to>
                                    </p:set>
                                    <p:anim calcmode="lin" valueType="num">
                                      <p:cBhvr additive="base">
                                        <p:cTn id="32" dur="500" fill="hold"/>
                                        <p:tgtEl>
                                          <p:spTgt spid="55"/>
                                        </p:tgtEl>
                                        <p:attrNameLst>
                                          <p:attrName>ppt_x</p:attrName>
                                        </p:attrNameLst>
                                      </p:cBhvr>
                                      <p:tavLst>
                                        <p:tav tm="0">
                                          <p:val>
                                            <p:strVal val="#ppt_x"/>
                                          </p:val>
                                        </p:tav>
                                        <p:tav tm="100000">
                                          <p:val>
                                            <p:strVal val="#ppt_x"/>
                                          </p:val>
                                        </p:tav>
                                      </p:tavLst>
                                    </p:anim>
                                    <p:anim calcmode="lin" valueType="num">
                                      <p:cBhvr additive="base">
                                        <p:cTn id="33" dur="500" fill="hold"/>
                                        <p:tgtEl>
                                          <p:spTgt spid="55"/>
                                        </p:tgtEl>
                                        <p:attrNameLst>
                                          <p:attrName>ppt_y</p:attrName>
                                        </p:attrNameLst>
                                      </p:cBhvr>
                                      <p:tavLst>
                                        <p:tav tm="0">
                                          <p:val>
                                            <p:strVal val="0-#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1" fill="hold" nodeType="clickEffect">
                                  <p:stCondLst>
                                    <p:cond delay="0"/>
                                  </p:stCondLst>
                                  <p:childTnLst>
                                    <p:set>
                                      <p:cBhvr>
                                        <p:cTn id="37" dur="1" fill="hold">
                                          <p:stCondLst>
                                            <p:cond delay="0"/>
                                          </p:stCondLst>
                                        </p:cTn>
                                        <p:tgtEl>
                                          <p:spTgt spid="52"/>
                                        </p:tgtEl>
                                        <p:attrNameLst>
                                          <p:attrName>style.visibility</p:attrName>
                                        </p:attrNameLst>
                                      </p:cBhvr>
                                      <p:to>
                                        <p:strVal val="visible"/>
                                      </p:to>
                                    </p:set>
                                    <p:anim calcmode="lin" valueType="num">
                                      <p:cBhvr additive="base">
                                        <p:cTn id="38" dur="500" fill="hold"/>
                                        <p:tgtEl>
                                          <p:spTgt spid="52"/>
                                        </p:tgtEl>
                                        <p:attrNameLst>
                                          <p:attrName>ppt_x</p:attrName>
                                        </p:attrNameLst>
                                      </p:cBhvr>
                                      <p:tavLst>
                                        <p:tav tm="0">
                                          <p:val>
                                            <p:strVal val="#ppt_x"/>
                                          </p:val>
                                        </p:tav>
                                        <p:tav tm="100000">
                                          <p:val>
                                            <p:strVal val="#ppt_x"/>
                                          </p:val>
                                        </p:tav>
                                      </p:tavLst>
                                    </p:anim>
                                    <p:anim calcmode="lin" valueType="num">
                                      <p:cBhvr additive="base">
                                        <p:cTn id="39" dur="500" fill="hold"/>
                                        <p:tgtEl>
                                          <p:spTgt spid="52"/>
                                        </p:tgtEl>
                                        <p:attrNameLst>
                                          <p:attrName>ppt_y</p:attrName>
                                        </p:attrNameLst>
                                      </p:cBhvr>
                                      <p:tavLst>
                                        <p:tav tm="0">
                                          <p:val>
                                            <p:strVal val="0-#ppt_h/2"/>
                                          </p:val>
                                        </p:tav>
                                        <p:tav tm="100000">
                                          <p:val>
                                            <p:strVal val="#ppt_y"/>
                                          </p:val>
                                        </p:tav>
                                      </p:tavLst>
                                    </p:anim>
                                  </p:childTnLst>
                                </p:cTn>
                              </p:par>
                              <p:par>
                                <p:cTn id="40" presetID="2" presetClass="entr" presetSubtype="1" fill="hold" nodeType="withEffect">
                                  <p:stCondLst>
                                    <p:cond delay="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fill="hold"/>
                                        <p:tgtEl>
                                          <p:spTgt spid="15"/>
                                        </p:tgtEl>
                                        <p:attrNameLst>
                                          <p:attrName>ppt_x</p:attrName>
                                        </p:attrNameLst>
                                      </p:cBhvr>
                                      <p:tavLst>
                                        <p:tav tm="0">
                                          <p:val>
                                            <p:strVal val="#ppt_x"/>
                                          </p:val>
                                        </p:tav>
                                        <p:tav tm="100000">
                                          <p:val>
                                            <p:strVal val="#ppt_x"/>
                                          </p:val>
                                        </p:tav>
                                      </p:tavLst>
                                    </p:anim>
                                    <p:anim calcmode="lin" valueType="num">
                                      <p:cBhvr additive="base">
                                        <p:cTn id="43" dur="500" fill="hold"/>
                                        <p:tgtEl>
                                          <p:spTgt spid="15"/>
                                        </p:tgtEl>
                                        <p:attrNameLst>
                                          <p:attrName>ppt_y</p:attrName>
                                        </p:attrNameLst>
                                      </p:cBhvr>
                                      <p:tavLst>
                                        <p:tav tm="0">
                                          <p:val>
                                            <p:strVal val="0-#ppt_h/2"/>
                                          </p:val>
                                        </p:tav>
                                        <p:tav tm="100000">
                                          <p:val>
                                            <p:strVal val="#ppt_y"/>
                                          </p:val>
                                        </p:tav>
                                      </p:tavLst>
                                    </p:anim>
                                  </p:childTnLst>
                                </p:cTn>
                              </p:par>
                              <p:par>
                                <p:cTn id="44" presetID="2" presetClass="entr" presetSubtype="1" fill="hold" nodeType="withEffect">
                                  <p:stCondLst>
                                    <p:cond delay="0"/>
                                  </p:stCondLst>
                                  <p:childTnLst>
                                    <p:set>
                                      <p:cBhvr>
                                        <p:cTn id="45" dur="1" fill="hold">
                                          <p:stCondLst>
                                            <p:cond delay="0"/>
                                          </p:stCondLst>
                                        </p:cTn>
                                        <p:tgtEl>
                                          <p:spTgt spid="51"/>
                                        </p:tgtEl>
                                        <p:attrNameLst>
                                          <p:attrName>style.visibility</p:attrName>
                                        </p:attrNameLst>
                                      </p:cBhvr>
                                      <p:to>
                                        <p:strVal val="visible"/>
                                      </p:to>
                                    </p:set>
                                    <p:anim calcmode="lin" valueType="num">
                                      <p:cBhvr additive="base">
                                        <p:cTn id="46" dur="500" fill="hold"/>
                                        <p:tgtEl>
                                          <p:spTgt spid="51"/>
                                        </p:tgtEl>
                                        <p:attrNameLst>
                                          <p:attrName>ppt_x</p:attrName>
                                        </p:attrNameLst>
                                      </p:cBhvr>
                                      <p:tavLst>
                                        <p:tav tm="0">
                                          <p:val>
                                            <p:strVal val="#ppt_x"/>
                                          </p:val>
                                        </p:tav>
                                        <p:tav tm="100000">
                                          <p:val>
                                            <p:strVal val="#ppt_x"/>
                                          </p:val>
                                        </p:tav>
                                      </p:tavLst>
                                    </p:anim>
                                    <p:anim calcmode="lin" valueType="num">
                                      <p:cBhvr additive="base">
                                        <p:cTn id="47" dur="500" fill="hold"/>
                                        <p:tgtEl>
                                          <p:spTgt spid="51"/>
                                        </p:tgtEl>
                                        <p:attrNameLst>
                                          <p:attrName>ppt_y</p:attrName>
                                        </p:attrNameLst>
                                      </p:cBhvr>
                                      <p:tavLst>
                                        <p:tav tm="0">
                                          <p:val>
                                            <p:strVal val="0-#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16" presetClass="entr" presetSubtype="26" fill="hold"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barn(inHorizontal)">
                                      <p:cBhvr>
                                        <p:cTn id="52" dur="500"/>
                                        <p:tgtEl>
                                          <p:spTgt spid="9"/>
                                        </p:tgtEl>
                                      </p:cBhvr>
                                    </p:animEffect>
                                  </p:childTnLst>
                                </p:cTn>
                              </p:par>
                              <p:par>
                                <p:cTn id="53" presetID="16" presetClass="entr" presetSubtype="26" fill="hold" nodeType="withEffect">
                                  <p:stCondLst>
                                    <p:cond delay="0"/>
                                  </p:stCondLst>
                                  <p:childTnLst>
                                    <p:set>
                                      <p:cBhvr>
                                        <p:cTn id="54" dur="1" fill="hold">
                                          <p:stCondLst>
                                            <p:cond delay="0"/>
                                          </p:stCondLst>
                                        </p:cTn>
                                        <p:tgtEl>
                                          <p:spTgt spid="6"/>
                                        </p:tgtEl>
                                        <p:attrNameLst>
                                          <p:attrName>style.visibility</p:attrName>
                                        </p:attrNameLst>
                                      </p:cBhvr>
                                      <p:to>
                                        <p:strVal val="visible"/>
                                      </p:to>
                                    </p:set>
                                    <p:animEffect transition="in" filter="barn(inHorizontal)">
                                      <p:cBhvr>
                                        <p:cTn id="55" dur="500"/>
                                        <p:tgtEl>
                                          <p:spTgt spid="6"/>
                                        </p:tgtEl>
                                      </p:cBhvr>
                                    </p:animEffect>
                                  </p:childTnLst>
                                </p:cTn>
                              </p:par>
                              <p:par>
                                <p:cTn id="56" presetID="16" presetClass="entr" presetSubtype="26" fill="hold" nodeType="withEffect">
                                  <p:stCondLst>
                                    <p:cond delay="0"/>
                                  </p:stCondLst>
                                  <p:childTnLst>
                                    <p:set>
                                      <p:cBhvr>
                                        <p:cTn id="57" dur="1" fill="hold">
                                          <p:stCondLst>
                                            <p:cond delay="0"/>
                                          </p:stCondLst>
                                        </p:cTn>
                                        <p:tgtEl>
                                          <p:spTgt spid="2"/>
                                        </p:tgtEl>
                                        <p:attrNameLst>
                                          <p:attrName>style.visibility</p:attrName>
                                        </p:attrNameLst>
                                      </p:cBhvr>
                                      <p:to>
                                        <p:strVal val="visible"/>
                                      </p:to>
                                    </p:set>
                                    <p:animEffect transition="in" filter="barn(inHorizontal)">
                                      <p:cBhvr>
                                        <p:cTn id="58" dur="500"/>
                                        <p:tgtEl>
                                          <p:spTgt spid="2"/>
                                        </p:tgtEl>
                                      </p:cBhvr>
                                    </p:animEffect>
                                  </p:childTnLst>
                                </p:cTn>
                              </p:par>
                              <p:par>
                                <p:cTn id="59" presetID="16" presetClass="entr" presetSubtype="26" fill="hold" nodeType="withEffect">
                                  <p:stCondLst>
                                    <p:cond delay="0"/>
                                  </p:stCondLst>
                                  <p:childTnLst>
                                    <p:set>
                                      <p:cBhvr>
                                        <p:cTn id="60" dur="1" fill="hold">
                                          <p:stCondLst>
                                            <p:cond delay="0"/>
                                          </p:stCondLst>
                                        </p:cTn>
                                        <p:tgtEl>
                                          <p:spTgt spid="3"/>
                                        </p:tgtEl>
                                        <p:attrNameLst>
                                          <p:attrName>style.visibility</p:attrName>
                                        </p:attrNameLst>
                                      </p:cBhvr>
                                      <p:to>
                                        <p:strVal val="visible"/>
                                      </p:to>
                                    </p:set>
                                    <p:animEffect transition="in" filter="barn(inHorizontal)">
                                      <p:cBhvr>
                                        <p:cTn id="61" dur="500"/>
                                        <p:tgtEl>
                                          <p:spTgt spid="3"/>
                                        </p:tgtEl>
                                      </p:cBhvr>
                                    </p:animEffect>
                                  </p:childTnLst>
                                </p:cTn>
                              </p:par>
                              <p:par>
                                <p:cTn id="62" presetID="16" presetClass="entr" presetSubtype="26" fill="hold" nodeType="withEffect">
                                  <p:stCondLst>
                                    <p:cond delay="0"/>
                                  </p:stCondLst>
                                  <p:childTnLst>
                                    <p:set>
                                      <p:cBhvr>
                                        <p:cTn id="63" dur="1" fill="hold">
                                          <p:stCondLst>
                                            <p:cond delay="0"/>
                                          </p:stCondLst>
                                        </p:cTn>
                                        <p:tgtEl>
                                          <p:spTgt spid="5"/>
                                        </p:tgtEl>
                                        <p:attrNameLst>
                                          <p:attrName>style.visibility</p:attrName>
                                        </p:attrNameLst>
                                      </p:cBhvr>
                                      <p:to>
                                        <p:strVal val="visible"/>
                                      </p:to>
                                    </p:set>
                                    <p:animEffect transition="in" filter="barn(inHorizontal)">
                                      <p:cBhvr>
                                        <p:cTn id="64" dur="500"/>
                                        <p:tgtEl>
                                          <p:spTgt spid="5"/>
                                        </p:tgtEl>
                                      </p:cBhvr>
                                    </p:animEffect>
                                  </p:childTnLst>
                                </p:cTn>
                              </p:par>
                              <p:par>
                                <p:cTn id="65" presetID="16" presetClass="entr" presetSubtype="26" fill="hold" nodeType="withEffect">
                                  <p:stCondLst>
                                    <p:cond delay="0"/>
                                  </p:stCondLst>
                                  <p:childTnLst>
                                    <p:set>
                                      <p:cBhvr>
                                        <p:cTn id="66" dur="1" fill="hold">
                                          <p:stCondLst>
                                            <p:cond delay="0"/>
                                          </p:stCondLst>
                                        </p:cTn>
                                        <p:tgtEl>
                                          <p:spTgt spid="8"/>
                                        </p:tgtEl>
                                        <p:attrNameLst>
                                          <p:attrName>style.visibility</p:attrName>
                                        </p:attrNameLst>
                                      </p:cBhvr>
                                      <p:to>
                                        <p:strVal val="visible"/>
                                      </p:to>
                                    </p:set>
                                    <p:animEffect transition="in" filter="barn(inHorizontal)">
                                      <p:cBhvr>
                                        <p:cTn id="67" dur="500"/>
                                        <p:tgtEl>
                                          <p:spTgt spid="8"/>
                                        </p:tgtEl>
                                      </p:cBhvr>
                                    </p:animEffect>
                                  </p:childTnLst>
                                </p:cTn>
                              </p:par>
                            </p:childTnLst>
                          </p:cTn>
                        </p:par>
                      </p:childTnLst>
                    </p:cTn>
                  </p:par>
                  <p:par>
                    <p:cTn id="68" fill="hold">
                      <p:stCondLst>
                        <p:cond delay="indefinite"/>
                      </p:stCondLst>
                      <p:childTnLst>
                        <p:par>
                          <p:cTn id="69" fill="hold">
                            <p:stCondLst>
                              <p:cond delay="0"/>
                            </p:stCondLst>
                            <p:childTnLst>
                              <p:par>
                                <p:cTn id="70" presetID="64" presetClass="path" presetSubtype="0" accel="50000" decel="50000" fill="hold" nodeType="clickEffect">
                                  <p:stCondLst>
                                    <p:cond delay="0"/>
                                  </p:stCondLst>
                                  <p:childTnLst>
                                    <p:animMotion origin="layout" path="M -2.77778E-7 4.81481E-6 L 0.00347 -0.08149 " pathEditMode="relative" rAng="0" ptsTypes="AA">
                                      <p:cBhvr>
                                        <p:cTn id="71" dur="2000" fill="hold"/>
                                        <p:tgtEl>
                                          <p:spTgt spid="3"/>
                                        </p:tgtEl>
                                        <p:attrNameLst>
                                          <p:attrName>ppt_x</p:attrName>
                                          <p:attrName>ppt_y</p:attrName>
                                        </p:attrNameLst>
                                      </p:cBhvr>
                                      <p:rCtr x="200" y="-4100"/>
                                    </p:animMotion>
                                  </p:childTnLst>
                                </p:cTn>
                              </p:par>
                              <p:par>
                                <p:cTn id="72" presetID="64" presetClass="path" presetSubtype="0" accel="50000" decel="50000" fill="hold" nodeType="withEffect">
                                  <p:stCondLst>
                                    <p:cond delay="0"/>
                                  </p:stCondLst>
                                  <p:childTnLst>
                                    <p:animMotion origin="layout" path="M 1.38889E-6 4.07407E-6 L 0.01875 -0.16621 " pathEditMode="relative" rAng="0" ptsTypes="AA">
                                      <p:cBhvr>
                                        <p:cTn id="73" dur="2000" fill="hold"/>
                                        <p:tgtEl>
                                          <p:spTgt spid="8"/>
                                        </p:tgtEl>
                                        <p:attrNameLst>
                                          <p:attrName>ppt_x</p:attrName>
                                          <p:attrName>ppt_y</p:attrName>
                                        </p:attrNameLst>
                                      </p:cBhvr>
                                      <p:rCtr x="900" y="-8300"/>
                                    </p:animMotion>
                                  </p:childTnLst>
                                </p:cTn>
                              </p:par>
                              <p:par>
                                <p:cTn id="74" presetID="64" presetClass="path" presetSubtype="0" accel="50000" decel="50000" fill="hold" nodeType="withEffect">
                                  <p:stCondLst>
                                    <p:cond delay="0"/>
                                  </p:stCondLst>
                                  <p:childTnLst>
                                    <p:animMotion origin="layout" path="M -3.05556E-6 -2.22222E-6 L 0.00382 -0.075 " pathEditMode="relative" rAng="0" ptsTypes="AA">
                                      <p:cBhvr>
                                        <p:cTn id="75" dur="2000" fill="hold"/>
                                        <p:tgtEl>
                                          <p:spTgt spid="6"/>
                                        </p:tgtEl>
                                        <p:attrNameLst>
                                          <p:attrName>ppt_x</p:attrName>
                                          <p:attrName>ppt_y</p:attrName>
                                        </p:attrNameLst>
                                      </p:cBhvr>
                                      <p:rCtr x="200" y="-3800"/>
                                    </p:animMotion>
                                  </p:childTnLst>
                                </p:cTn>
                              </p:par>
                              <p:par>
                                <p:cTn id="76" presetID="42" presetClass="path" presetSubtype="0" accel="50000" decel="50000" fill="hold" nodeType="withEffect">
                                  <p:stCondLst>
                                    <p:cond delay="0"/>
                                  </p:stCondLst>
                                  <p:childTnLst>
                                    <p:animMotion origin="layout" path="M 2.5E-6 -2.59259E-6 L 0.00364 0.13519 " pathEditMode="relative" rAng="0" ptsTypes="AA">
                                      <p:cBhvr>
                                        <p:cTn id="77" dur="2000" fill="hold"/>
                                        <p:tgtEl>
                                          <p:spTgt spid="2"/>
                                        </p:tgtEl>
                                        <p:attrNameLst>
                                          <p:attrName>ppt_x</p:attrName>
                                          <p:attrName>ppt_y</p:attrName>
                                        </p:attrNameLst>
                                      </p:cBhvr>
                                      <p:rCtr x="200" y="6800"/>
                                    </p:animMotion>
                                  </p:childTnLst>
                                </p:cTn>
                              </p:par>
                              <p:par>
                                <p:cTn id="78" presetID="42" presetClass="path" presetSubtype="0" accel="50000" decel="50000" fill="hold" nodeType="withEffect">
                                  <p:stCondLst>
                                    <p:cond delay="0"/>
                                  </p:stCondLst>
                                  <p:childTnLst>
                                    <p:animMotion origin="layout" path="M 1.38889E-6 4.44444E-6 L -0.00174 0.12245 " pathEditMode="relative" rAng="0" ptsTypes="AA">
                                      <p:cBhvr>
                                        <p:cTn id="79" dur="2000" fill="hold"/>
                                        <p:tgtEl>
                                          <p:spTgt spid="5"/>
                                        </p:tgtEl>
                                        <p:attrNameLst>
                                          <p:attrName>ppt_x</p:attrName>
                                          <p:attrName>ppt_y</p:attrName>
                                        </p:attrNameLst>
                                      </p:cBhvr>
                                      <p:rCtr x="-100" y="6100"/>
                                    </p:animMotion>
                                  </p:childTnLst>
                                </p:cTn>
                              </p:par>
                              <p:par>
                                <p:cTn id="80" presetID="42" presetClass="path" presetSubtype="0" accel="50000" decel="50000" fill="hold" nodeType="withEffect">
                                  <p:stCondLst>
                                    <p:cond delay="0"/>
                                  </p:stCondLst>
                                  <p:childTnLst>
                                    <p:animMotion origin="layout" path="M -4.72222E-6 4.81481E-6 L -0.0019 0.16759 " pathEditMode="relative" rAng="0" ptsTypes="AA">
                                      <p:cBhvr>
                                        <p:cTn id="81" dur="2000" fill="hold"/>
                                        <p:tgtEl>
                                          <p:spTgt spid="9"/>
                                        </p:tgtEl>
                                        <p:attrNameLst>
                                          <p:attrName>ppt_x</p:attrName>
                                          <p:attrName>ppt_y</p:attrName>
                                        </p:attrNameLst>
                                      </p:cBhvr>
                                      <p:rCtr x="-100" y="8400"/>
                                    </p:animMotion>
                                  </p:childTnLst>
                                </p:cTn>
                              </p:par>
                            </p:childTnLst>
                          </p:cTn>
                        </p:par>
                      </p:childTnLst>
                    </p:cTn>
                  </p:par>
                  <p:par>
                    <p:cTn id="82" fill="hold">
                      <p:stCondLst>
                        <p:cond delay="indefinite"/>
                      </p:stCondLst>
                      <p:childTnLst>
                        <p:par>
                          <p:cTn id="83" fill="hold">
                            <p:stCondLst>
                              <p:cond delay="0"/>
                            </p:stCondLst>
                            <p:childTnLst>
                              <p:par>
                                <p:cTn id="84" presetID="4" presetClass="entr" presetSubtype="16" fill="hold" grpId="0" nodeType="clickEffect">
                                  <p:stCondLst>
                                    <p:cond delay="0"/>
                                  </p:stCondLst>
                                  <p:childTnLst>
                                    <p:set>
                                      <p:cBhvr>
                                        <p:cTn id="85" dur="1" fill="hold">
                                          <p:stCondLst>
                                            <p:cond delay="0"/>
                                          </p:stCondLst>
                                        </p:cTn>
                                        <p:tgtEl>
                                          <p:spTgt spid="45"/>
                                        </p:tgtEl>
                                        <p:attrNameLst>
                                          <p:attrName>style.visibility</p:attrName>
                                        </p:attrNameLst>
                                      </p:cBhvr>
                                      <p:to>
                                        <p:strVal val="visible"/>
                                      </p:to>
                                    </p:set>
                                    <p:animEffect transition="in" filter="box(in)">
                                      <p:cBhvr>
                                        <p:cTn id="86" dur="500"/>
                                        <p:tgtEl>
                                          <p:spTgt spid="45"/>
                                        </p:tgtEl>
                                      </p:cBhvr>
                                    </p:animEffect>
                                  </p:childTnLst>
                                </p:cTn>
                              </p:par>
                              <p:par>
                                <p:cTn id="87" presetID="4" presetClass="entr" presetSubtype="16" fill="hold" grpId="0" nodeType="withEffect">
                                  <p:stCondLst>
                                    <p:cond delay="0"/>
                                  </p:stCondLst>
                                  <p:childTnLst>
                                    <p:set>
                                      <p:cBhvr>
                                        <p:cTn id="88" dur="1" fill="hold">
                                          <p:stCondLst>
                                            <p:cond delay="0"/>
                                          </p:stCondLst>
                                        </p:cTn>
                                        <p:tgtEl>
                                          <p:spTgt spid="44"/>
                                        </p:tgtEl>
                                        <p:attrNameLst>
                                          <p:attrName>style.visibility</p:attrName>
                                        </p:attrNameLst>
                                      </p:cBhvr>
                                      <p:to>
                                        <p:strVal val="visible"/>
                                      </p:to>
                                    </p:set>
                                    <p:animEffect transition="in" filter="box(in)">
                                      <p:cBhvr>
                                        <p:cTn id="89" dur="500"/>
                                        <p:tgtEl>
                                          <p:spTgt spid="44"/>
                                        </p:tgtEl>
                                      </p:cBhvr>
                                    </p:animEffect>
                                  </p:childTnLst>
                                </p:cTn>
                              </p:par>
                              <p:par>
                                <p:cTn id="90" presetID="4" presetClass="entr" presetSubtype="16" fill="hold" grpId="0" nodeType="withEffect">
                                  <p:stCondLst>
                                    <p:cond delay="0"/>
                                  </p:stCondLst>
                                  <p:childTnLst>
                                    <p:set>
                                      <p:cBhvr>
                                        <p:cTn id="91" dur="1" fill="hold">
                                          <p:stCondLst>
                                            <p:cond delay="0"/>
                                          </p:stCondLst>
                                        </p:cTn>
                                        <p:tgtEl>
                                          <p:spTgt spid="42"/>
                                        </p:tgtEl>
                                        <p:attrNameLst>
                                          <p:attrName>style.visibility</p:attrName>
                                        </p:attrNameLst>
                                      </p:cBhvr>
                                      <p:to>
                                        <p:strVal val="visible"/>
                                      </p:to>
                                    </p:set>
                                    <p:animEffect transition="in" filter="box(in)">
                                      <p:cBhvr>
                                        <p:cTn id="92" dur="500"/>
                                        <p:tgtEl>
                                          <p:spTgt spid="42"/>
                                        </p:tgtEl>
                                      </p:cBhvr>
                                    </p:animEffect>
                                  </p:childTnLst>
                                </p:cTn>
                              </p:par>
                              <p:par>
                                <p:cTn id="93" presetID="4" presetClass="entr" presetSubtype="16" fill="hold" grpId="0" nodeType="withEffect">
                                  <p:stCondLst>
                                    <p:cond delay="0"/>
                                  </p:stCondLst>
                                  <p:childTnLst>
                                    <p:set>
                                      <p:cBhvr>
                                        <p:cTn id="94" dur="1" fill="hold">
                                          <p:stCondLst>
                                            <p:cond delay="0"/>
                                          </p:stCondLst>
                                        </p:cTn>
                                        <p:tgtEl>
                                          <p:spTgt spid="43"/>
                                        </p:tgtEl>
                                        <p:attrNameLst>
                                          <p:attrName>style.visibility</p:attrName>
                                        </p:attrNameLst>
                                      </p:cBhvr>
                                      <p:to>
                                        <p:strVal val="visible"/>
                                      </p:to>
                                    </p:set>
                                    <p:animEffect transition="in" filter="box(in)">
                                      <p:cBhvr>
                                        <p:cTn id="95" dur="500"/>
                                        <p:tgtEl>
                                          <p:spTgt spid="43"/>
                                        </p:tgtEl>
                                      </p:cBhvr>
                                    </p:animEffect>
                                  </p:childTnLst>
                                </p:cTn>
                              </p:par>
                            </p:childTnLst>
                          </p:cTn>
                        </p:par>
                      </p:childTnLst>
                    </p:cTn>
                  </p:par>
                  <p:par>
                    <p:cTn id="96" fill="hold">
                      <p:stCondLst>
                        <p:cond delay="indefinite"/>
                      </p:stCondLst>
                      <p:childTnLst>
                        <p:par>
                          <p:cTn id="97" fill="hold">
                            <p:stCondLst>
                              <p:cond delay="0"/>
                            </p:stCondLst>
                            <p:childTnLst>
                              <p:par>
                                <p:cTn id="98" presetID="4" presetClass="entr" presetSubtype="16" fill="hold" grpId="0" nodeType="clickEffect">
                                  <p:stCondLst>
                                    <p:cond delay="0"/>
                                  </p:stCondLst>
                                  <p:childTnLst>
                                    <p:set>
                                      <p:cBhvr>
                                        <p:cTn id="99" dur="1" fill="hold">
                                          <p:stCondLst>
                                            <p:cond delay="0"/>
                                          </p:stCondLst>
                                        </p:cTn>
                                        <p:tgtEl>
                                          <p:spTgt spid="40"/>
                                        </p:tgtEl>
                                        <p:attrNameLst>
                                          <p:attrName>style.visibility</p:attrName>
                                        </p:attrNameLst>
                                      </p:cBhvr>
                                      <p:to>
                                        <p:strVal val="visible"/>
                                      </p:to>
                                    </p:set>
                                    <p:animEffect transition="in" filter="box(in)">
                                      <p:cBhvr>
                                        <p:cTn id="100" dur="500"/>
                                        <p:tgtEl>
                                          <p:spTgt spid="40"/>
                                        </p:tgtEl>
                                      </p:cBhvr>
                                    </p:animEffect>
                                  </p:childTnLst>
                                </p:cTn>
                              </p:par>
                              <p:par>
                                <p:cTn id="101" presetID="4" presetClass="entr" presetSubtype="16" fill="hold" grpId="0" nodeType="withEffect">
                                  <p:stCondLst>
                                    <p:cond delay="0"/>
                                  </p:stCondLst>
                                  <p:childTnLst>
                                    <p:set>
                                      <p:cBhvr>
                                        <p:cTn id="102" dur="1" fill="hold">
                                          <p:stCondLst>
                                            <p:cond delay="0"/>
                                          </p:stCondLst>
                                        </p:cTn>
                                        <p:tgtEl>
                                          <p:spTgt spid="41"/>
                                        </p:tgtEl>
                                        <p:attrNameLst>
                                          <p:attrName>style.visibility</p:attrName>
                                        </p:attrNameLst>
                                      </p:cBhvr>
                                      <p:to>
                                        <p:strVal val="visible"/>
                                      </p:to>
                                    </p:set>
                                    <p:animEffect transition="in" filter="box(in)">
                                      <p:cBhvr>
                                        <p:cTn id="103" dur="500"/>
                                        <p:tgtEl>
                                          <p:spTgt spid="41"/>
                                        </p:tgtEl>
                                      </p:cBhvr>
                                    </p:animEffect>
                                  </p:childTnLst>
                                </p:cTn>
                              </p:par>
                              <p:par>
                                <p:cTn id="104" presetID="4" presetClass="entr" presetSubtype="16" fill="hold" grpId="0" nodeType="withEffect">
                                  <p:stCondLst>
                                    <p:cond delay="0"/>
                                  </p:stCondLst>
                                  <p:childTnLst>
                                    <p:set>
                                      <p:cBhvr>
                                        <p:cTn id="105" dur="1" fill="hold">
                                          <p:stCondLst>
                                            <p:cond delay="0"/>
                                          </p:stCondLst>
                                        </p:cTn>
                                        <p:tgtEl>
                                          <p:spTgt spid="47"/>
                                        </p:tgtEl>
                                        <p:attrNameLst>
                                          <p:attrName>style.visibility</p:attrName>
                                        </p:attrNameLst>
                                      </p:cBhvr>
                                      <p:to>
                                        <p:strVal val="visible"/>
                                      </p:to>
                                    </p:set>
                                    <p:animEffect transition="in" filter="box(in)">
                                      <p:cBhvr>
                                        <p:cTn id="106" dur="500"/>
                                        <p:tgtEl>
                                          <p:spTgt spid="47"/>
                                        </p:tgtEl>
                                      </p:cBhvr>
                                    </p:animEffect>
                                  </p:childTnLst>
                                </p:cTn>
                              </p:par>
                              <p:par>
                                <p:cTn id="107" presetID="4" presetClass="entr" presetSubtype="16" fill="hold" nodeType="withEffect">
                                  <p:stCondLst>
                                    <p:cond delay="0"/>
                                  </p:stCondLst>
                                  <p:childTnLst>
                                    <p:set>
                                      <p:cBhvr>
                                        <p:cTn id="108" dur="1" fill="hold">
                                          <p:stCondLst>
                                            <p:cond delay="0"/>
                                          </p:stCondLst>
                                        </p:cTn>
                                        <p:tgtEl>
                                          <p:spTgt spid="46"/>
                                        </p:tgtEl>
                                        <p:attrNameLst>
                                          <p:attrName>style.visibility</p:attrName>
                                        </p:attrNameLst>
                                      </p:cBhvr>
                                      <p:to>
                                        <p:strVal val="visible"/>
                                      </p:to>
                                    </p:set>
                                    <p:animEffect transition="in" filter="box(in)">
                                      <p:cBhvr>
                                        <p:cTn id="109"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1" grpId="0"/>
      <p:bldP spid="42" grpId="0" animBg="1"/>
      <p:bldP spid="43" grpId="0"/>
      <p:bldP spid="44" grpId="0" animBg="1"/>
      <p:bldP spid="45" grpId="0"/>
      <p:bldP spid="47" grpId="0"/>
      <p:bldP spid="6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266" name="Object 1"/>
          <p:cNvGraphicFramePr>
            <a:graphicFrameLocks noChangeAspect="1"/>
          </p:cNvGraphicFramePr>
          <p:nvPr>
            <p:extLst>
              <p:ext uri="{D42A27DB-BD31-4B8C-83A1-F6EECF244321}">
                <p14:modId xmlns:p14="http://schemas.microsoft.com/office/powerpoint/2010/main" val="2061074236"/>
              </p:ext>
            </p:extLst>
          </p:nvPr>
        </p:nvGraphicFramePr>
        <p:xfrm>
          <a:off x="7424770" y="1342417"/>
          <a:ext cx="5501635" cy="4891235"/>
        </p:xfrm>
        <a:graphic>
          <a:graphicData uri="http://schemas.openxmlformats.org/presentationml/2006/ole">
            <mc:AlternateContent xmlns:mc="http://schemas.openxmlformats.org/markup-compatibility/2006">
              <mc:Choice xmlns:v="urn:schemas-microsoft-com:vml" Requires="v">
                <p:oleObj spid="_x0000_s21604" name="Visio" r:id="rId3" imgW="2583323" imgH="2297859" progId="Visio.Drawing.11">
                  <p:embed/>
                </p:oleObj>
              </mc:Choice>
              <mc:Fallback>
                <p:oleObj name="Visio" r:id="rId3" imgW="2583323" imgH="2297859"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24770" y="1342417"/>
                        <a:ext cx="5501635" cy="4891235"/>
                      </a:xfrm>
                      <a:prstGeom prst="rect">
                        <a:avLst/>
                      </a:prstGeom>
                      <a:noFill/>
                    </p:spPr>
                  </p:pic>
                </p:oleObj>
              </mc:Fallback>
            </mc:AlternateContent>
          </a:graphicData>
        </a:graphic>
      </p:graphicFrame>
      <p:graphicFrame>
        <p:nvGraphicFramePr>
          <p:cNvPr id="11267" name="Object 8"/>
          <p:cNvGraphicFramePr>
            <a:graphicFrameLocks noChangeAspect="1"/>
          </p:cNvGraphicFramePr>
          <p:nvPr>
            <p:extLst>
              <p:ext uri="{D42A27DB-BD31-4B8C-83A1-F6EECF244321}">
                <p14:modId xmlns:p14="http://schemas.microsoft.com/office/powerpoint/2010/main" val="3962630328"/>
              </p:ext>
            </p:extLst>
          </p:nvPr>
        </p:nvGraphicFramePr>
        <p:xfrm>
          <a:off x="2486463" y="4783104"/>
          <a:ext cx="2682875" cy="1401763"/>
        </p:xfrm>
        <a:graphic>
          <a:graphicData uri="http://schemas.openxmlformats.org/presentationml/2006/ole">
            <mc:AlternateContent xmlns:mc="http://schemas.openxmlformats.org/markup-compatibility/2006">
              <mc:Choice xmlns:v="urn:schemas-microsoft-com:vml" Requires="v">
                <p:oleObj spid="_x0000_s21605" name="公式" r:id="rId5" imgW="787320" imgH="431640" progId="Equation.3">
                  <p:embed/>
                </p:oleObj>
              </mc:Choice>
              <mc:Fallback>
                <p:oleObj name="公式" r:id="rId5" imgW="787320" imgH="43164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86463" y="4783104"/>
                        <a:ext cx="2682875" cy="1401763"/>
                      </a:xfrm>
                      <a:prstGeom prst="rect">
                        <a:avLst/>
                      </a:prstGeom>
                      <a:solidFill>
                        <a:srgbClr val="FFFF00"/>
                      </a:solidFill>
                    </p:spPr>
                  </p:pic>
                </p:oleObj>
              </mc:Fallback>
            </mc:AlternateContent>
          </a:graphicData>
        </a:graphic>
      </p:graphicFrame>
      <p:graphicFrame>
        <p:nvGraphicFramePr>
          <p:cNvPr id="11268" name="Object 4"/>
          <p:cNvGraphicFramePr>
            <a:graphicFrameLocks noChangeAspect="1"/>
          </p:cNvGraphicFramePr>
          <p:nvPr>
            <p:extLst>
              <p:ext uri="{D42A27DB-BD31-4B8C-83A1-F6EECF244321}">
                <p14:modId xmlns:p14="http://schemas.microsoft.com/office/powerpoint/2010/main" val="3195356900"/>
              </p:ext>
            </p:extLst>
          </p:nvPr>
        </p:nvGraphicFramePr>
        <p:xfrm>
          <a:off x="1569361" y="3045630"/>
          <a:ext cx="1733550" cy="882650"/>
        </p:xfrm>
        <a:graphic>
          <a:graphicData uri="http://schemas.openxmlformats.org/presentationml/2006/ole">
            <mc:AlternateContent xmlns:mc="http://schemas.openxmlformats.org/markup-compatibility/2006">
              <mc:Choice xmlns:v="urn:schemas-microsoft-com:vml" Requires="v">
                <p:oleObj spid="_x0000_s21606" name="公式" r:id="rId7" imgW="736560" imgH="393480" progId="Equation.3">
                  <p:embed/>
                </p:oleObj>
              </mc:Choice>
              <mc:Fallback>
                <p:oleObj name="公式" r:id="rId7" imgW="736560" imgH="39348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69361" y="3045630"/>
                        <a:ext cx="1733550" cy="882650"/>
                      </a:xfrm>
                      <a:prstGeom prst="rect">
                        <a:avLst/>
                      </a:prstGeom>
                      <a:solidFill>
                        <a:srgbClr val="FFCC00"/>
                      </a:solidFill>
                    </p:spPr>
                  </p:pic>
                </p:oleObj>
              </mc:Fallback>
            </mc:AlternateContent>
          </a:graphicData>
        </a:graphic>
      </p:graphicFrame>
      <p:graphicFrame>
        <p:nvGraphicFramePr>
          <p:cNvPr id="11269" name="Object 5"/>
          <p:cNvGraphicFramePr>
            <a:graphicFrameLocks noChangeAspect="1"/>
          </p:cNvGraphicFramePr>
          <p:nvPr>
            <p:extLst>
              <p:ext uri="{D42A27DB-BD31-4B8C-83A1-F6EECF244321}">
                <p14:modId xmlns:p14="http://schemas.microsoft.com/office/powerpoint/2010/main" val="1513546318"/>
              </p:ext>
            </p:extLst>
          </p:nvPr>
        </p:nvGraphicFramePr>
        <p:xfrm>
          <a:off x="4450641" y="3085115"/>
          <a:ext cx="1733550" cy="866775"/>
        </p:xfrm>
        <a:graphic>
          <a:graphicData uri="http://schemas.openxmlformats.org/presentationml/2006/ole">
            <mc:AlternateContent xmlns:mc="http://schemas.openxmlformats.org/markup-compatibility/2006">
              <mc:Choice xmlns:v="urn:schemas-microsoft-com:vml" Requires="v">
                <p:oleObj spid="_x0000_s21607" name="公式" r:id="rId9" imgW="749160" imgH="393480" progId="Equation.3">
                  <p:embed/>
                </p:oleObj>
              </mc:Choice>
              <mc:Fallback>
                <p:oleObj name="公式" r:id="rId9" imgW="749160" imgH="39348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50641" y="3085115"/>
                        <a:ext cx="1733550" cy="866775"/>
                      </a:xfrm>
                      <a:prstGeom prst="rect">
                        <a:avLst/>
                      </a:prstGeom>
                      <a:solidFill>
                        <a:srgbClr val="FFCC00"/>
                      </a:solidFill>
                    </p:spPr>
                  </p:pic>
                </p:oleObj>
              </mc:Fallback>
            </mc:AlternateContent>
          </a:graphicData>
        </a:graphic>
      </p:graphicFrame>
      <p:sp>
        <p:nvSpPr>
          <p:cNvPr id="2" name="TextBox 6"/>
          <p:cNvSpPr txBox="1">
            <a:spLocks noChangeArrowheads="1"/>
          </p:cNvSpPr>
          <p:nvPr/>
        </p:nvSpPr>
        <p:spPr bwMode="auto">
          <a:xfrm>
            <a:off x="8894188" y="6245344"/>
            <a:ext cx="2355850" cy="579438"/>
          </a:xfrm>
          <a:prstGeom prst="rect">
            <a:avLst/>
          </a:prstGeom>
          <a:noFill/>
          <a:ln w="9525">
            <a:noFill/>
            <a:miter lim="800000"/>
            <a:headEnd/>
            <a:tailEnd/>
          </a:ln>
        </p:spPr>
        <p:txBody>
          <a:bodyPr>
            <a:spAutoFit/>
          </a:bodyPr>
          <a:lstStyle/>
          <a:p>
            <a:pPr defTabSz="914400"/>
            <a:r>
              <a:rPr lang="zh-CN" altLang="en-US" sz="3200" b="1" dirty="0">
                <a:solidFill>
                  <a:srgbClr val="0000CC"/>
                </a:solidFill>
                <a:latin typeface="微软雅黑" pitchFamily="34" charset="-122"/>
                <a:ea typeface="微软雅黑" pitchFamily="34" charset="-122"/>
              </a:rPr>
              <a:t>等效电路图</a:t>
            </a:r>
          </a:p>
        </p:txBody>
      </p:sp>
      <p:graphicFrame>
        <p:nvGraphicFramePr>
          <p:cNvPr id="57" name="Object 56"/>
          <p:cNvGraphicFramePr>
            <a:graphicFrameLocks noChangeAspect="1"/>
          </p:cNvGraphicFramePr>
          <p:nvPr>
            <p:extLst>
              <p:ext uri="{D42A27DB-BD31-4B8C-83A1-F6EECF244321}">
                <p14:modId xmlns:p14="http://schemas.microsoft.com/office/powerpoint/2010/main" val="320294816"/>
              </p:ext>
            </p:extLst>
          </p:nvPr>
        </p:nvGraphicFramePr>
        <p:xfrm>
          <a:off x="1644345" y="1744724"/>
          <a:ext cx="1600200" cy="787400"/>
        </p:xfrm>
        <a:graphic>
          <a:graphicData uri="http://schemas.openxmlformats.org/presentationml/2006/ole">
            <mc:AlternateContent xmlns:mc="http://schemas.openxmlformats.org/markup-compatibility/2006">
              <mc:Choice xmlns:v="urn:schemas-microsoft-com:vml" Requires="v">
                <p:oleObj spid="_x0000_s21608" name="公式" r:id="rId11" imgW="799920" imgH="393480" progId="Equation.3">
                  <p:embed/>
                </p:oleObj>
              </mc:Choice>
              <mc:Fallback>
                <p:oleObj name="公式" r:id="rId11" imgW="799920" imgH="393480" progId="Equation.3">
                  <p:embed/>
                  <p:pic>
                    <p:nvPicPr>
                      <p:cNvPr id="0" name="Object 5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44345" y="1744724"/>
                        <a:ext cx="1600200" cy="787400"/>
                      </a:xfrm>
                      <a:prstGeom prst="rect">
                        <a:avLst/>
                      </a:prstGeom>
                      <a:solidFill>
                        <a:srgbClr val="FFFF00"/>
                      </a:solidFill>
                    </p:spPr>
                  </p:pic>
                </p:oleObj>
              </mc:Fallback>
            </mc:AlternateContent>
          </a:graphicData>
        </a:graphic>
      </p:graphicFrame>
      <p:graphicFrame>
        <p:nvGraphicFramePr>
          <p:cNvPr id="10297" name="Object 57"/>
          <p:cNvGraphicFramePr>
            <a:graphicFrameLocks noChangeAspect="1"/>
          </p:cNvGraphicFramePr>
          <p:nvPr>
            <p:extLst>
              <p:ext uri="{D42A27DB-BD31-4B8C-83A1-F6EECF244321}">
                <p14:modId xmlns:p14="http://schemas.microsoft.com/office/powerpoint/2010/main" val="895642480"/>
              </p:ext>
            </p:extLst>
          </p:nvPr>
        </p:nvGraphicFramePr>
        <p:xfrm>
          <a:off x="4554807" y="1701625"/>
          <a:ext cx="1652588" cy="800100"/>
        </p:xfrm>
        <a:graphic>
          <a:graphicData uri="http://schemas.openxmlformats.org/presentationml/2006/ole">
            <mc:AlternateContent xmlns:mc="http://schemas.openxmlformats.org/markup-compatibility/2006">
              <mc:Choice xmlns:v="urn:schemas-microsoft-com:vml" Requires="v">
                <p:oleObj spid="_x0000_s21609" name="公式" r:id="rId13" imgW="812520" imgH="393480" progId="Equation.3">
                  <p:embed/>
                </p:oleObj>
              </mc:Choice>
              <mc:Fallback>
                <p:oleObj name="公式" r:id="rId13" imgW="812520" imgH="393480" progId="Equation.3">
                  <p:embed/>
                  <p:pic>
                    <p:nvPicPr>
                      <p:cNvPr id="0" name="Object 5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554807" y="1701625"/>
                        <a:ext cx="1652588" cy="800100"/>
                      </a:xfrm>
                      <a:prstGeom prst="rect">
                        <a:avLst/>
                      </a:prstGeom>
                      <a:solidFill>
                        <a:srgbClr val="FFFF00"/>
                      </a:solidFill>
                    </p:spPr>
                  </p:pic>
                </p:oleObj>
              </mc:Fallback>
            </mc:AlternateContent>
          </a:graphicData>
        </a:graphic>
      </p:graphicFrame>
      <p:grpSp>
        <p:nvGrpSpPr>
          <p:cNvPr id="16" name="组合 15">
            <a:extLst>
              <a:ext uri="{FF2B5EF4-FFF2-40B4-BE49-F238E27FC236}">
                <a16:creationId xmlns:a16="http://schemas.microsoft.com/office/drawing/2014/main" id="{D6D8B3FC-6869-430A-B56A-040F7FCF452B}"/>
              </a:ext>
            </a:extLst>
          </p:cNvPr>
          <p:cNvGrpSpPr/>
          <p:nvPr/>
        </p:nvGrpSpPr>
        <p:grpSpPr>
          <a:xfrm>
            <a:off x="0" y="293282"/>
            <a:ext cx="13161246" cy="7421968"/>
            <a:chOff x="0" y="293282"/>
            <a:chExt cx="13161246" cy="7421968"/>
          </a:xfrm>
        </p:grpSpPr>
        <p:sp>
          <p:nvSpPr>
            <p:cNvPr id="22" name="文本框 60">
              <a:extLst>
                <a:ext uri="{FF2B5EF4-FFF2-40B4-BE49-F238E27FC236}">
                  <a16:creationId xmlns:a16="http://schemas.microsoft.com/office/drawing/2014/main" id="{6B80E928-45E4-44B1-A75E-E89E7B8A0833}"/>
                </a:ext>
              </a:extLst>
            </p:cNvPr>
            <p:cNvSpPr txBox="1"/>
            <p:nvPr/>
          </p:nvSpPr>
          <p:spPr>
            <a:xfrm>
              <a:off x="1364781" y="293282"/>
              <a:ext cx="3569826"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位置敏感探测器结构与工作原理</a:t>
              </a:r>
            </a:p>
          </p:txBody>
        </p:sp>
        <p:sp>
          <p:nvSpPr>
            <p:cNvPr id="23" name="矩形 22">
              <a:extLst>
                <a:ext uri="{FF2B5EF4-FFF2-40B4-BE49-F238E27FC236}">
                  <a16:creationId xmlns:a16="http://schemas.microsoft.com/office/drawing/2014/main" id="{58A3A164-BCC5-40D3-82F3-D342D9450C77}"/>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4" name="矩形 23">
              <a:extLst>
                <a:ext uri="{FF2B5EF4-FFF2-40B4-BE49-F238E27FC236}">
                  <a16:creationId xmlns:a16="http://schemas.microsoft.com/office/drawing/2014/main" id="{11B22E2B-73C3-485E-8585-EA1AA678EACA}"/>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a:extLst>
                <a:ext uri="{FF2B5EF4-FFF2-40B4-BE49-F238E27FC236}">
                  <a16:creationId xmlns:a16="http://schemas.microsoft.com/office/drawing/2014/main" id="{39118509-ED4C-4F32-BEC2-DA37CBBBF0DC}"/>
                </a:ext>
              </a:extLst>
            </p:cNvPr>
            <p:cNvSpPr/>
            <p:nvPr/>
          </p:nvSpPr>
          <p:spPr>
            <a:xfrm>
              <a:off x="304801" y="293282"/>
              <a:ext cx="979824"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4.7.1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6" name="直接连接符 58">
              <a:extLst>
                <a:ext uri="{FF2B5EF4-FFF2-40B4-BE49-F238E27FC236}">
                  <a16:creationId xmlns:a16="http://schemas.microsoft.com/office/drawing/2014/main" id="{A5B635DD-2BB8-4B25-BA4D-A653CACE1954}"/>
                </a:ext>
              </a:extLst>
            </p:cNvPr>
            <p:cNvCxnSpPr>
              <a:cxnSpLocks/>
            </p:cNvCxnSpPr>
            <p:nvPr/>
          </p:nvCxnSpPr>
          <p:spPr>
            <a:xfrm>
              <a:off x="1450506" y="710998"/>
              <a:ext cx="3336956"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7" name="矩形 26">
              <a:extLst>
                <a:ext uri="{FF2B5EF4-FFF2-40B4-BE49-F238E27FC236}">
                  <a16:creationId xmlns:a16="http://schemas.microsoft.com/office/drawing/2014/main" id="{F4AC104D-27B5-4FAE-BC91-75BFF97E8B8A}"/>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8" name="矩形 27">
              <a:extLst>
                <a:ext uri="{FF2B5EF4-FFF2-40B4-BE49-F238E27FC236}">
                  <a16:creationId xmlns:a16="http://schemas.microsoft.com/office/drawing/2014/main" id="{A9792603-DF8E-4828-996E-EE140DE16A81}"/>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1266"/>
                                        </p:tgtEl>
                                        <p:attrNameLst>
                                          <p:attrName>style.visibility</p:attrName>
                                        </p:attrNameLst>
                                      </p:cBhvr>
                                      <p:to>
                                        <p:strVal val="visible"/>
                                      </p:to>
                                    </p:set>
                                    <p:animEffect transition="in" filter="box(in)">
                                      <p:cBhvr>
                                        <p:cTn id="12" dur="500"/>
                                        <p:tgtEl>
                                          <p:spTgt spid="11266"/>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1" fill="hold" nodeType="clickEffect">
                                  <p:stCondLst>
                                    <p:cond delay="0"/>
                                  </p:stCondLst>
                                  <p:childTnLst>
                                    <p:set>
                                      <p:cBhvr>
                                        <p:cTn id="16" dur="1" fill="hold">
                                          <p:stCondLst>
                                            <p:cond delay="0"/>
                                          </p:stCondLst>
                                        </p:cTn>
                                        <p:tgtEl>
                                          <p:spTgt spid="57"/>
                                        </p:tgtEl>
                                        <p:attrNameLst>
                                          <p:attrName>style.visibility</p:attrName>
                                        </p:attrNameLst>
                                      </p:cBhvr>
                                      <p:to>
                                        <p:strVal val="visible"/>
                                      </p:to>
                                    </p:set>
                                    <p:anim calcmode="lin" valueType="num">
                                      <p:cBhvr additive="base">
                                        <p:cTn id="17" dur="500" fill="hold"/>
                                        <p:tgtEl>
                                          <p:spTgt spid="57"/>
                                        </p:tgtEl>
                                        <p:attrNameLst>
                                          <p:attrName>ppt_x</p:attrName>
                                        </p:attrNameLst>
                                      </p:cBhvr>
                                      <p:tavLst>
                                        <p:tav tm="0">
                                          <p:val>
                                            <p:strVal val="#ppt_x"/>
                                          </p:val>
                                        </p:tav>
                                        <p:tav tm="100000">
                                          <p:val>
                                            <p:strVal val="#ppt_x"/>
                                          </p:val>
                                        </p:tav>
                                      </p:tavLst>
                                    </p:anim>
                                    <p:anim calcmode="lin" valueType="num">
                                      <p:cBhvr additive="base">
                                        <p:cTn id="18" dur="500" fill="hold"/>
                                        <p:tgtEl>
                                          <p:spTgt spid="57"/>
                                        </p:tgtEl>
                                        <p:attrNameLst>
                                          <p:attrName>ppt_y</p:attrName>
                                        </p:attrNameLst>
                                      </p:cBhvr>
                                      <p:tavLst>
                                        <p:tav tm="0">
                                          <p:val>
                                            <p:strVal val="0-#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1" fill="hold" nodeType="clickEffect">
                                  <p:stCondLst>
                                    <p:cond delay="0"/>
                                  </p:stCondLst>
                                  <p:childTnLst>
                                    <p:set>
                                      <p:cBhvr>
                                        <p:cTn id="22" dur="1" fill="hold">
                                          <p:stCondLst>
                                            <p:cond delay="0"/>
                                          </p:stCondLst>
                                        </p:cTn>
                                        <p:tgtEl>
                                          <p:spTgt spid="10297"/>
                                        </p:tgtEl>
                                        <p:attrNameLst>
                                          <p:attrName>style.visibility</p:attrName>
                                        </p:attrNameLst>
                                      </p:cBhvr>
                                      <p:to>
                                        <p:strVal val="visible"/>
                                      </p:to>
                                    </p:set>
                                    <p:anim calcmode="lin" valueType="num">
                                      <p:cBhvr additive="base">
                                        <p:cTn id="23" dur="500" fill="hold"/>
                                        <p:tgtEl>
                                          <p:spTgt spid="10297"/>
                                        </p:tgtEl>
                                        <p:attrNameLst>
                                          <p:attrName>ppt_x</p:attrName>
                                        </p:attrNameLst>
                                      </p:cBhvr>
                                      <p:tavLst>
                                        <p:tav tm="0">
                                          <p:val>
                                            <p:strVal val="#ppt_x"/>
                                          </p:val>
                                        </p:tav>
                                        <p:tav tm="100000">
                                          <p:val>
                                            <p:strVal val="#ppt_x"/>
                                          </p:val>
                                        </p:tav>
                                      </p:tavLst>
                                    </p:anim>
                                    <p:anim calcmode="lin" valueType="num">
                                      <p:cBhvr additive="base">
                                        <p:cTn id="24" dur="500" fill="hold"/>
                                        <p:tgtEl>
                                          <p:spTgt spid="10297"/>
                                        </p:tgtEl>
                                        <p:attrNameLst>
                                          <p:attrName>ppt_y</p:attrName>
                                        </p:attrNameLst>
                                      </p:cBhvr>
                                      <p:tavLst>
                                        <p:tav tm="0">
                                          <p:val>
                                            <p:strVal val="0-#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 presetClass="entr" presetSubtype="16" fill="hold" nodeType="clickEffect">
                                  <p:stCondLst>
                                    <p:cond delay="0"/>
                                  </p:stCondLst>
                                  <p:childTnLst>
                                    <p:set>
                                      <p:cBhvr>
                                        <p:cTn id="28" dur="1" fill="hold">
                                          <p:stCondLst>
                                            <p:cond delay="0"/>
                                          </p:stCondLst>
                                        </p:cTn>
                                        <p:tgtEl>
                                          <p:spTgt spid="11268"/>
                                        </p:tgtEl>
                                        <p:attrNameLst>
                                          <p:attrName>style.visibility</p:attrName>
                                        </p:attrNameLst>
                                      </p:cBhvr>
                                      <p:to>
                                        <p:strVal val="visible"/>
                                      </p:to>
                                    </p:set>
                                    <p:animEffect transition="in" filter="box(in)">
                                      <p:cBhvr>
                                        <p:cTn id="29" dur="500"/>
                                        <p:tgtEl>
                                          <p:spTgt spid="11268"/>
                                        </p:tgtEl>
                                      </p:cBhvr>
                                    </p:animEffect>
                                  </p:childTnLst>
                                </p:cTn>
                              </p:par>
                            </p:childTnLst>
                          </p:cTn>
                        </p:par>
                      </p:childTnLst>
                    </p:cTn>
                  </p:par>
                  <p:par>
                    <p:cTn id="30" fill="hold">
                      <p:stCondLst>
                        <p:cond delay="indefinite"/>
                      </p:stCondLst>
                      <p:childTnLst>
                        <p:par>
                          <p:cTn id="31" fill="hold">
                            <p:stCondLst>
                              <p:cond delay="0"/>
                            </p:stCondLst>
                            <p:childTnLst>
                              <p:par>
                                <p:cTn id="32" presetID="4" presetClass="entr" presetSubtype="16" fill="hold" nodeType="clickEffect">
                                  <p:stCondLst>
                                    <p:cond delay="0"/>
                                  </p:stCondLst>
                                  <p:childTnLst>
                                    <p:set>
                                      <p:cBhvr>
                                        <p:cTn id="33" dur="1" fill="hold">
                                          <p:stCondLst>
                                            <p:cond delay="0"/>
                                          </p:stCondLst>
                                        </p:cTn>
                                        <p:tgtEl>
                                          <p:spTgt spid="11269"/>
                                        </p:tgtEl>
                                        <p:attrNameLst>
                                          <p:attrName>style.visibility</p:attrName>
                                        </p:attrNameLst>
                                      </p:cBhvr>
                                      <p:to>
                                        <p:strVal val="visible"/>
                                      </p:to>
                                    </p:set>
                                    <p:animEffect transition="in" filter="box(in)">
                                      <p:cBhvr>
                                        <p:cTn id="34" dur="500"/>
                                        <p:tgtEl>
                                          <p:spTgt spid="11269"/>
                                        </p:tgtEl>
                                      </p:cBhvr>
                                    </p:animEffect>
                                  </p:childTnLst>
                                </p:cTn>
                              </p:par>
                            </p:childTnLst>
                          </p:cTn>
                        </p:par>
                      </p:childTnLst>
                    </p:cTn>
                  </p:par>
                  <p:par>
                    <p:cTn id="35" fill="hold">
                      <p:stCondLst>
                        <p:cond delay="indefinite"/>
                      </p:stCondLst>
                      <p:childTnLst>
                        <p:par>
                          <p:cTn id="36" fill="hold">
                            <p:stCondLst>
                              <p:cond delay="0"/>
                            </p:stCondLst>
                            <p:childTnLst>
                              <p:par>
                                <p:cTn id="37" presetID="4" presetClass="entr" presetSubtype="16" fill="hold" nodeType="clickEffect">
                                  <p:stCondLst>
                                    <p:cond delay="0"/>
                                  </p:stCondLst>
                                  <p:childTnLst>
                                    <p:set>
                                      <p:cBhvr>
                                        <p:cTn id="38" dur="1" fill="hold">
                                          <p:stCondLst>
                                            <p:cond delay="0"/>
                                          </p:stCondLst>
                                        </p:cTn>
                                        <p:tgtEl>
                                          <p:spTgt spid="11267"/>
                                        </p:tgtEl>
                                        <p:attrNameLst>
                                          <p:attrName>style.visibility</p:attrName>
                                        </p:attrNameLst>
                                      </p:cBhvr>
                                      <p:to>
                                        <p:strVal val="visible"/>
                                      </p:to>
                                    </p:set>
                                    <p:animEffect transition="in" filter="box(in)">
                                      <p:cBhvr>
                                        <p:cTn id="39" dur="500"/>
                                        <p:tgtEl>
                                          <p:spTgt spid="112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8"/>
          <p:cNvSpPr>
            <a:spLocks noChangeArrowheads="1"/>
          </p:cNvSpPr>
          <p:nvPr/>
        </p:nvSpPr>
        <p:spPr bwMode="auto">
          <a:xfrm>
            <a:off x="3122140" y="1147474"/>
            <a:ext cx="6712524" cy="584775"/>
          </a:xfrm>
          <a:prstGeom prst="rect">
            <a:avLst/>
          </a:prstGeom>
          <a:noFill/>
          <a:ln w="9525">
            <a:noFill/>
            <a:miter lim="800000"/>
            <a:headEnd/>
            <a:tailEnd/>
          </a:ln>
        </p:spPr>
        <p:txBody>
          <a:bodyPr wrap="square" anchor="ctr">
            <a:spAutoFit/>
          </a:bodyPr>
          <a:lstStyle/>
          <a:p>
            <a:pPr algn="ctr" defTabSz="914400">
              <a:defRPr/>
            </a:pPr>
            <a:r>
              <a:rPr lang="zh-CN" altLang="en-US" sz="3200" b="1" dirty="0">
                <a:solidFill>
                  <a:srgbClr val="0000CC"/>
                </a:solidFill>
                <a:latin typeface="Times New Roman" pitchFamily="18" charset="0"/>
                <a:ea typeface="微软雅黑" pitchFamily="34" charset="-122"/>
                <a:cs typeface="Times New Roman" pitchFamily="18" charset="0"/>
              </a:rPr>
              <a:t>二维</a:t>
            </a:r>
            <a:r>
              <a:rPr lang="en-US" altLang="zh-CN" sz="3200" b="1" dirty="0">
                <a:solidFill>
                  <a:srgbClr val="0000CC"/>
                </a:solidFill>
                <a:latin typeface="Times New Roman" pitchFamily="18" charset="0"/>
                <a:ea typeface="微软雅黑" pitchFamily="34" charset="-122"/>
                <a:cs typeface="Times New Roman" pitchFamily="18" charset="0"/>
              </a:rPr>
              <a:t>PSD</a:t>
            </a:r>
            <a:r>
              <a:rPr lang="zh-CN" altLang="en-US" sz="3200" b="1" dirty="0">
                <a:solidFill>
                  <a:srgbClr val="0000CC"/>
                </a:solidFill>
                <a:latin typeface="Times New Roman" pitchFamily="18" charset="0"/>
                <a:ea typeface="微软雅黑" pitchFamily="34" charset="-122"/>
                <a:cs typeface="Times New Roman" pitchFamily="18" charset="0"/>
              </a:rPr>
              <a:t>结构与原理</a:t>
            </a:r>
          </a:p>
        </p:txBody>
      </p:sp>
      <p:graphicFrame>
        <p:nvGraphicFramePr>
          <p:cNvPr id="8194" name="Object 3"/>
          <p:cNvGraphicFramePr>
            <a:graphicFrameLocks noChangeAspect="1"/>
          </p:cNvGraphicFramePr>
          <p:nvPr>
            <p:extLst>
              <p:ext uri="{D42A27DB-BD31-4B8C-83A1-F6EECF244321}">
                <p14:modId xmlns:p14="http://schemas.microsoft.com/office/powerpoint/2010/main" val="1912304773"/>
              </p:ext>
            </p:extLst>
          </p:nvPr>
        </p:nvGraphicFramePr>
        <p:xfrm>
          <a:off x="3663782" y="5834874"/>
          <a:ext cx="1687512" cy="979487"/>
        </p:xfrm>
        <a:graphic>
          <a:graphicData uri="http://schemas.openxmlformats.org/presentationml/2006/ole">
            <mc:AlternateContent xmlns:mc="http://schemas.openxmlformats.org/markup-compatibility/2006">
              <mc:Choice xmlns:v="urn:schemas-microsoft-com:vml" Requires="v">
                <p:oleObj spid="_x0000_s22587" name="Equation" r:id="rId3" imgW="736560" imgH="431640" progId="Equation.DSMT4">
                  <p:embed/>
                </p:oleObj>
              </mc:Choice>
              <mc:Fallback>
                <p:oleObj name="Equation" r:id="rId3" imgW="736560" imgH="43164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63782" y="5834874"/>
                        <a:ext cx="1687512" cy="979487"/>
                      </a:xfrm>
                      <a:prstGeom prst="rect">
                        <a:avLst/>
                      </a:prstGeom>
                      <a:solidFill>
                        <a:srgbClr val="FFFF00"/>
                      </a:solidFill>
                    </p:spPr>
                  </p:pic>
                </p:oleObj>
              </mc:Fallback>
            </mc:AlternateContent>
          </a:graphicData>
        </a:graphic>
      </p:graphicFrame>
      <p:sp>
        <p:nvSpPr>
          <p:cNvPr id="14342" name="TextBox 5"/>
          <p:cNvSpPr txBox="1">
            <a:spLocks noChangeArrowheads="1"/>
          </p:cNvSpPr>
          <p:nvPr/>
        </p:nvSpPr>
        <p:spPr bwMode="auto">
          <a:xfrm>
            <a:off x="903288" y="1854201"/>
            <a:ext cx="6667500" cy="519112"/>
          </a:xfrm>
          <a:prstGeom prst="rect">
            <a:avLst/>
          </a:prstGeom>
          <a:noFill/>
          <a:ln w="9525">
            <a:noFill/>
            <a:miter lim="800000"/>
            <a:headEnd/>
            <a:tailEnd/>
          </a:ln>
        </p:spPr>
        <p:txBody>
          <a:bodyPr>
            <a:spAutoFit/>
          </a:bodyPr>
          <a:lstStyle/>
          <a:p>
            <a:pPr defTabSz="914400"/>
            <a:r>
              <a:rPr lang="en-US" altLang="zh-CN" sz="2800" b="1" dirty="0">
                <a:solidFill>
                  <a:srgbClr val="0000CC"/>
                </a:solidFill>
                <a:latin typeface="Times New Roman" pitchFamily="18" charset="0"/>
                <a:ea typeface="微软雅黑" pitchFamily="34" charset="-122"/>
                <a:cs typeface="Times New Roman" pitchFamily="18" charset="0"/>
              </a:rPr>
              <a:t>(1) </a:t>
            </a:r>
            <a:r>
              <a:rPr lang="zh-CN" altLang="en-US" sz="2800" b="1" dirty="0">
                <a:solidFill>
                  <a:srgbClr val="0000CC"/>
                </a:solidFill>
                <a:latin typeface="Times New Roman" pitchFamily="18" charset="0"/>
                <a:ea typeface="微软雅黑" pitchFamily="34" charset="-122"/>
                <a:cs typeface="Times New Roman" pitchFamily="18" charset="0"/>
              </a:rPr>
              <a:t>四边型</a:t>
            </a:r>
            <a:r>
              <a:rPr lang="en-US" altLang="zh-CN" sz="2800" b="1" dirty="0">
                <a:solidFill>
                  <a:srgbClr val="0000CC"/>
                </a:solidFill>
                <a:latin typeface="Times New Roman" pitchFamily="18" charset="0"/>
                <a:ea typeface="微软雅黑" pitchFamily="34" charset="-122"/>
                <a:cs typeface="Times New Roman" pitchFamily="18" charset="0"/>
              </a:rPr>
              <a:t>(Tetra-lateral)PSD</a:t>
            </a:r>
            <a:r>
              <a:rPr lang="zh-CN" altLang="en-US" sz="2800" b="1" dirty="0">
                <a:solidFill>
                  <a:srgbClr val="0000CC"/>
                </a:solidFill>
                <a:latin typeface="Times New Roman" pitchFamily="18" charset="0"/>
                <a:ea typeface="微软雅黑" pitchFamily="34" charset="-122"/>
                <a:cs typeface="Times New Roman" pitchFamily="18" charset="0"/>
              </a:rPr>
              <a:t>原理与结构</a:t>
            </a:r>
          </a:p>
        </p:txBody>
      </p:sp>
      <p:graphicFrame>
        <p:nvGraphicFramePr>
          <p:cNvPr id="14339" name="Object 6"/>
          <p:cNvGraphicFramePr>
            <a:graphicFrameLocks noChangeAspect="1"/>
          </p:cNvGraphicFramePr>
          <p:nvPr>
            <p:extLst>
              <p:ext uri="{D42A27DB-BD31-4B8C-83A1-F6EECF244321}">
                <p14:modId xmlns:p14="http://schemas.microsoft.com/office/powerpoint/2010/main" val="3450992581"/>
              </p:ext>
            </p:extLst>
          </p:nvPr>
        </p:nvGraphicFramePr>
        <p:xfrm>
          <a:off x="3422650" y="2373312"/>
          <a:ext cx="6412014" cy="3292297"/>
        </p:xfrm>
        <a:graphic>
          <a:graphicData uri="http://schemas.openxmlformats.org/presentationml/2006/ole">
            <mc:AlternateContent xmlns:mc="http://schemas.openxmlformats.org/markup-compatibility/2006">
              <mc:Choice xmlns:v="urn:schemas-microsoft-com:vml" Requires="v">
                <p:oleObj spid="_x0000_s22588" name="Visio" r:id="rId5" imgW="4246388" imgH="2178272" progId="Visio.Drawing.11">
                  <p:embed/>
                </p:oleObj>
              </mc:Choice>
              <mc:Fallback>
                <p:oleObj name="Visio" r:id="rId5" imgW="4246388" imgH="2178272" progId="Visio.Drawing.11">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2650" y="2373312"/>
                        <a:ext cx="6412014" cy="3292297"/>
                      </a:xfrm>
                      <a:prstGeom prst="rect">
                        <a:avLst/>
                      </a:prstGeom>
                      <a:noFill/>
                    </p:spPr>
                  </p:pic>
                </p:oleObj>
              </mc:Fallback>
            </mc:AlternateContent>
          </a:graphicData>
        </a:graphic>
      </p:graphicFrame>
      <p:graphicFrame>
        <p:nvGraphicFramePr>
          <p:cNvPr id="3" name="Object 9"/>
          <p:cNvGraphicFramePr>
            <a:graphicFrameLocks noChangeAspect="1"/>
          </p:cNvGraphicFramePr>
          <p:nvPr>
            <p:extLst>
              <p:ext uri="{D42A27DB-BD31-4B8C-83A1-F6EECF244321}">
                <p14:modId xmlns:p14="http://schemas.microsoft.com/office/powerpoint/2010/main" val="1249228239"/>
              </p:ext>
            </p:extLst>
          </p:nvPr>
        </p:nvGraphicFramePr>
        <p:xfrm>
          <a:off x="6970105" y="5864056"/>
          <a:ext cx="1571625" cy="979487"/>
        </p:xfrm>
        <a:graphic>
          <a:graphicData uri="http://schemas.openxmlformats.org/presentationml/2006/ole">
            <mc:AlternateContent xmlns:mc="http://schemas.openxmlformats.org/markup-compatibility/2006">
              <mc:Choice xmlns:v="urn:schemas-microsoft-com:vml" Requires="v">
                <p:oleObj spid="_x0000_s22589" name="Equation" r:id="rId7" imgW="685800" imgH="431640" progId="Equation.DSMT4">
                  <p:embed/>
                </p:oleObj>
              </mc:Choice>
              <mc:Fallback>
                <p:oleObj name="Equation" r:id="rId7" imgW="685800" imgH="431640" progId="Equation.DSMT4">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70105" y="5864056"/>
                        <a:ext cx="1571625" cy="979487"/>
                      </a:xfrm>
                      <a:prstGeom prst="rect">
                        <a:avLst/>
                      </a:prstGeom>
                      <a:solidFill>
                        <a:srgbClr val="FFFF00"/>
                      </a:solidFill>
                    </p:spPr>
                  </p:pic>
                </p:oleObj>
              </mc:Fallback>
            </mc:AlternateContent>
          </a:graphicData>
        </a:graphic>
      </p:graphicFrame>
      <p:grpSp>
        <p:nvGrpSpPr>
          <p:cNvPr id="13" name="组合 12">
            <a:extLst>
              <a:ext uri="{FF2B5EF4-FFF2-40B4-BE49-F238E27FC236}">
                <a16:creationId xmlns:a16="http://schemas.microsoft.com/office/drawing/2014/main" id="{AF10ECB8-50E4-4F1C-9181-E85082BBA8B0}"/>
              </a:ext>
            </a:extLst>
          </p:cNvPr>
          <p:cNvGrpSpPr/>
          <p:nvPr/>
        </p:nvGrpSpPr>
        <p:grpSpPr>
          <a:xfrm>
            <a:off x="0" y="293282"/>
            <a:ext cx="13161246" cy="7421968"/>
            <a:chOff x="0" y="293282"/>
            <a:chExt cx="13161246" cy="7421968"/>
          </a:xfrm>
        </p:grpSpPr>
        <p:sp>
          <p:nvSpPr>
            <p:cNvPr id="15" name="文本框 60">
              <a:extLst>
                <a:ext uri="{FF2B5EF4-FFF2-40B4-BE49-F238E27FC236}">
                  <a16:creationId xmlns:a16="http://schemas.microsoft.com/office/drawing/2014/main" id="{D413A1E1-DC2C-45E6-9416-9913A2B2AB40}"/>
                </a:ext>
              </a:extLst>
            </p:cNvPr>
            <p:cNvSpPr txBox="1"/>
            <p:nvPr/>
          </p:nvSpPr>
          <p:spPr>
            <a:xfrm>
              <a:off x="1364781" y="293282"/>
              <a:ext cx="3569826"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位置敏感探测器结构与工作原理</a:t>
              </a:r>
            </a:p>
          </p:txBody>
        </p:sp>
        <p:sp>
          <p:nvSpPr>
            <p:cNvPr id="21" name="矩形 20">
              <a:extLst>
                <a:ext uri="{FF2B5EF4-FFF2-40B4-BE49-F238E27FC236}">
                  <a16:creationId xmlns:a16="http://schemas.microsoft.com/office/drawing/2014/main" id="{104870E6-B463-4857-9022-4D94F84E4561}"/>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2" name="矩形 21">
              <a:extLst>
                <a:ext uri="{FF2B5EF4-FFF2-40B4-BE49-F238E27FC236}">
                  <a16:creationId xmlns:a16="http://schemas.microsoft.com/office/drawing/2014/main" id="{44C9FE6F-730A-4618-A370-0A9BC78E8D18}"/>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圆角 22">
              <a:extLst>
                <a:ext uri="{FF2B5EF4-FFF2-40B4-BE49-F238E27FC236}">
                  <a16:creationId xmlns:a16="http://schemas.microsoft.com/office/drawing/2014/main" id="{6F082A4B-8C0E-4287-BE8E-E1B2675CDDCF}"/>
                </a:ext>
              </a:extLst>
            </p:cNvPr>
            <p:cNvSpPr/>
            <p:nvPr/>
          </p:nvSpPr>
          <p:spPr>
            <a:xfrm>
              <a:off x="304801" y="293282"/>
              <a:ext cx="979824"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4.7.1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4" name="直接连接符 58">
              <a:extLst>
                <a:ext uri="{FF2B5EF4-FFF2-40B4-BE49-F238E27FC236}">
                  <a16:creationId xmlns:a16="http://schemas.microsoft.com/office/drawing/2014/main" id="{11B396C0-AACB-424F-802F-F498AA5C72EA}"/>
                </a:ext>
              </a:extLst>
            </p:cNvPr>
            <p:cNvCxnSpPr>
              <a:cxnSpLocks/>
            </p:cNvCxnSpPr>
            <p:nvPr/>
          </p:nvCxnSpPr>
          <p:spPr>
            <a:xfrm>
              <a:off x="1450506" y="710998"/>
              <a:ext cx="3336956"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5" name="矩形 24">
              <a:extLst>
                <a:ext uri="{FF2B5EF4-FFF2-40B4-BE49-F238E27FC236}">
                  <a16:creationId xmlns:a16="http://schemas.microsoft.com/office/drawing/2014/main" id="{3524355B-53F7-4354-AEEA-0DBDE6C2026F}"/>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6" name="矩形 25">
              <a:extLst>
                <a:ext uri="{FF2B5EF4-FFF2-40B4-BE49-F238E27FC236}">
                  <a16:creationId xmlns:a16="http://schemas.microsoft.com/office/drawing/2014/main" id="{9F0059E2-4B18-42B8-87B2-1F16B663FAB0}"/>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4342"/>
                                        </p:tgtEl>
                                        <p:attrNameLst>
                                          <p:attrName>style.visibility</p:attrName>
                                        </p:attrNameLst>
                                      </p:cBhvr>
                                      <p:to>
                                        <p:strVal val="visible"/>
                                      </p:to>
                                    </p:set>
                                    <p:animEffect transition="in" filter="box(in)">
                                      <p:cBhvr>
                                        <p:cTn id="12" dur="500"/>
                                        <p:tgtEl>
                                          <p:spTgt spid="1434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4339"/>
                                        </p:tgtEl>
                                        <p:attrNameLst>
                                          <p:attrName>style.visibility</p:attrName>
                                        </p:attrNameLst>
                                      </p:cBhvr>
                                      <p:to>
                                        <p:strVal val="visible"/>
                                      </p:to>
                                    </p:set>
                                    <p:animEffect transition="in" filter="box(in)">
                                      <p:cBhvr>
                                        <p:cTn id="17" dur="500"/>
                                        <p:tgtEl>
                                          <p:spTgt spid="14339"/>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8194"/>
                                        </p:tgtEl>
                                        <p:attrNameLst>
                                          <p:attrName>style.visibility</p:attrName>
                                        </p:attrNameLst>
                                      </p:cBhvr>
                                      <p:to>
                                        <p:strVal val="visible"/>
                                      </p:to>
                                    </p:set>
                                    <p:animEffect transition="in" filter="box(in)">
                                      <p:cBhvr>
                                        <p:cTn id="22" dur="500"/>
                                        <p:tgtEl>
                                          <p:spTgt spid="8194"/>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box(in)">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34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60" name="TextBox 1"/>
          <p:cNvSpPr txBox="1">
            <a:spLocks noChangeArrowheads="1"/>
          </p:cNvSpPr>
          <p:nvPr/>
        </p:nvSpPr>
        <p:spPr bwMode="auto">
          <a:xfrm>
            <a:off x="2655651" y="1189747"/>
            <a:ext cx="6400800" cy="519113"/>
          </a:xfrm>
          <a:prstGeom prst="rect">
            <a:avLst/>
          </a:prstGeom>
          <a:noFill/>
          <a:ln w="9525">
            <a:noFill/>
            <a:miter lim="800000"/>
            <a:headEnd/>
            <a:tailEnd/>
          </a:ln>
        </p:spPr>
        <p:txBody>
          <a:bodyPr>
            <a:spAutoFit/>
          </a:bodyPr>
          <a:lstStyle/>
          <a:p>
            <a:pPr defTabSz="914400"/>
            <a:r>
              <a:rPr lang="en-US" altLang="zh-CN" sz="2800" b="1" dirty="0">
                <a:solidFill>
                  <a:srgbClr val="0000CC"/>
                </a:solidFill>
                <a:latin typeface="Times New Roman" pitchFamily="18" charset="0"/>
                <a:ea typeface="微软雅黑" pitchFamily="34" charset="-122"/>
                <a:cs typeface="Times New Roman" pitchFamily="18" charset="0"/>
              </a:rPr>
              <a:t>(2)</a:t>
            </a:r>
            <a:r>
              <a:rPr lang="zh-CN" altLang="en-US" sz="2800" b="1" dirty="0">
                <a:solidFill>
                  <a:srgbClr val="0000CC"/>
                </a:solidFill>
                <a:latin typeface="Times New Roman" pitchFamily="18" charset="0"/>
                <a:ea typeface="微软雅黑" pitchFamily="34" charset="-122"/>
                <a:cs typeface="Times New Roman" pitchFamily="18" charset="0"/>
              </a:rPr>
              <a:t>双面 型</a:t>
            </a:r>
            <a:r>
              <a:rPr lang="en-US" altLang="zh-CN" sz="2800" b="1" dirty="0">
                <a:solidFill>
                  <a:srgbClr val="0000CC"/>
                </a:solidFill>
                <a:latin typeface="Times New Roman" pitchFamily="18" charset="0"/>
                <a:ea typeface="微软雅黑" pitchFamily="34" charset="-122"/>
                <a:cs typeface="Times New Roman" pitchFamily="18" charset="0"/>
              </a:rPr>
              <a:t>(Duo-lateral)PSD</a:t>
            </a:r>
            <a:r>
              <a:rPr lang="zh-CN" altLang="en-US" sz="2800" b="1" dirty="0">
                <a:solidFill>
                  <a:srgbClr val="0000CC"/>
                </a:solidFill>
                <a:latin typeface="Times New Roman" pitchFamily="18" charset="0"/>
                <a:ea typeface="微软雅黑" pitchFamily="34" charset="-122"/>
                <a:cs typeface="Times New Roman" pitchFamily="18" charset="0"/>
              </a:rPr>
              <a:t>原理与结构</a:t>
            </a:r>
          </a:p>
        </p:txBody>
      </p:sp>
      <p:graphicFrame>
        <p:nvGraphicFramePr>
          <p:cNvPr id="23562" name="Object 3"/>
          <p:cNvGraphicFramePr>
            <a:graphicFrameLocks noChangeAspect="1"/>
          </p:cNvGraphicFramePr>
          <p:nvPr>
            <p:extLst>
              <p:ext uri="{D42A27DB-BD31-4B8C-83A1-F6EECF244321}">
                <p14:modId xmlns:p14="http://schemas.microsoft.com/office/powerpoint/2010/main" val="266611256"/>
              </p:ext>
            </p:extLst>
          </p:nvPr>
        </p:nvGraphicFramePr>
        <p:xfrm>
          <a:off x="2655651" y="2321804"/>
          <a:ext cx="7023100" cy="3143250"/>
        </p:xfrm>
        <a:graphic>
          <a:graphicData uri="http://schemas.openxmlformats.org/presentationml/2006/ole">
            <mc:AlternateContent xmlns:mc="http://schemas.openxmlformats.org/markup-compatibility/2006">
              <mc:Choice xmlns:v="urn:schemas-microsoft-com:vml" Requires="v">
                <p:oleObj spid="_x0000_s23593" name="Visio" r:id="rId3" imgW="4366832" imgH="1954959" progId="Visio.Drawing.11">
                  <p:embed/>
                </p:oleObj>
              </mc:Choice>
              <mc:Fallback>
                <p:oleObj name="Visio" r:id="rId3" imgW="4366832" imgH="1954959" progId="Visio.Drawing.11">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55651" y="2321804"/>
                        <a:ext cx="7023100" cy="3143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对象 1"/>
          <p:cNvGraphicFramePr>
            <a:graphicFrameLocks noChangeAspect="1"/>
          </p:cNvGraphicFramePr>
          <p:nvPr>
            <p:extLst>
              <p:ext uri="{D42A27DB-BD31-4B8C-83A1-F6EECF244321}">
                <p14:modId xmlns:p14="http://schemas.microsoft.com/office/powerpoint/2010/main" val="1912304773"/>
              </p:ext>
            </p:extLst>
          </p:nvPr>
        </p:nvGraphicFramePr>
        <p:xfrm>
          <a:off x="3663950" y="5835650"/>
          <a:ext cx="1687513" cy="979488"/>
        </p:xfrm>
        <a:graphic>
          <a:graphicData uri="http://schemas.openxmlformats.org/presentationml/2006/ole">
            <mc:AlternateContent xmlns:mc="http://schemas.openxmlformats.org/markup-compatibility/2006">
              <mc:Choice xmlns:v="urn:schemas-microsoft-com:vml" Requires="v">
                <p:oleObj spid="_x0000_s23594" name="Equation" r:id="rId5" imgW="736600" imgH="431800" progId="Equation.DSMT4">
                  <p:embed/>
                </p:oleObj>
              </mc:Choice>
              <mc:Fallback>
                <p:oleObj name="Equation" r:id="rId5" imgW="736600" imgH="43180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63950" y="5835650"/>
                        <a:ext cx="1687513" cy="97948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1249228239"/>
              </p:ext>
            </p:extLst>
          </p:nvPr>
        </p:nvGraphicFramePr>
        <p:xfrm>
          <a:off x="6970713" y="5864225"/>
          <a:ext cx="1571625" cy="979488"/>
        </p:xfrm>
        <a:graphic>
          <a:graphicData uri="http://schemas.openxmlformats.org/presentationml/2006/ole">
            <mc:AlternateContent xmlns:mc="http://schemas.openxmlformats.org/markup-compatibility/2006">
              <mc:Choice xmlns:v="urn:schemas-microsoft-com:vml" Requires="v">
                <p:oleObj spid="_x0000_s23595" name="Equation" r:id="rId7" imgW="685800" imgH="431800" progId="Equation.DSMT4">
                  <p:embed/>
                </p:oleObj>
              </mc:Choice>
              <mc:Fallback>
                <p:oleObj name="Equation" r:id="rId7" imgW="685800" imgH="431800" progId="Equation.DSMT4">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70713" y="5864225"/>
                        <a:ext cx="1571625" cy="97948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8" name="组合 17">
            <a:extLst>
              <a:ext uri="{FF2B5EF4-FFF2-40B4-BE49-F238E27FC236}">
                <a16:creationId xmlns:a16="http://schemas.microsoft.com/office/drawing/2014/main" id="{6F73DCD8-AE76-4915-903D-B0FE00772527}"/>
              </a:ext>
            </a:extLst>
          </p:cNvPr>
          <p:cNvGrpSpPr/>
          <p:nvPr/>
        </p:nvGrpSpPr>
        <p:grpSpPr>
          <a:xfrm>
            <a:off x="0" y="293282"/>
            <a:ext cx="13161246" cy="7421968"/>
            <a:chOff x="0" y="293282"/>
            <a:chExt cx="13161246" cy="7421968"/>
          </a:xfrm>
        </p:grpSpPr>
        <p:sp>
          <p:nvSpPr>
            <p:cNvPr id="19" name="文本框 60">
              <a:extLst>
                <a:ext uri="{FF2B5EF4-FFF2-40B4-BE49-F238E27FC236}">
                  <a16:creationId xmlns:a16="http://schemas.microsoft.com/office/drawing/2014/main" id="{BB3B37B8-0E31-4799-91F5-9E8B10F987C3}"/>
                </a:ext>
              </a:extLst>
            </p:cNvPr>
            <p:cNvSpPr txBox="1"/>
            <p:nvPr/>
          </p:nvSpPr>
          <p:spPr>
            <a:xfrm>
              <a:off x="1364781" y="293282"/>
              <a:ext cx="3569826"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位置敏感探测器结构与工作原理</a:t>
              </a:r>
            </a:p>
          </p:txBody>
        </p:sp>
        <p:sp>
          <p:nvSpPr>
            <p:cNvPr id="20" name="矩形 19">
              <a:extLst>
                <a:ext uri="{FF2B5EF4-FFF2-40B4-BE49-F238E27FC236}">
                  <a16:creationId xmlns:a16="http://schemas.microsoft.com/office/drawing/2014/main" id="{7C02F560-08EE-495D-836D-AF8F763D7311}"/>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1" name="矩形 20">
              <a:extLst>
                <a:ext uri="{FF2B5EF4-FFF2-40B4-BE49-F238E27FC236}">
                  <a16:creationId xmlns:a16="http://schemas.microsoft.com/office/drawing/2014/main" id="{9D1DF3C5-30F6-4A91-8505-3B6FD2D22EDA}"/>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圆角 21">
              <a:extLst>
                <a:ext uri="{FF2B5EF4-FFF2-40B4-BE49-F238E27FC236}">
                  <a16:creationId xmlns:a16="http://schemas.microsoft.com/office/drawing/2014/main" id="{C23B2905-EEAF-4FFC-8CF6-2E92B62551C3}"/>
                </a:ext>
              </a:extLst>
            </p:cNvPr>
            <p:cNvSpPr/>
            <p:nvPr/>
          </p:nvSpPr>
          <p:spPr>
            <a:xfrm>
              <a:off x="304801" y="293282"/>
              <a:ext cx="979824"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4.7.1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3" name="直接连接符 58">
              <a:extLst>
                <a:ext uri="{FF2B5EF4-FFF2-40B4-BE49-F238E27FC236}">
                  <a16:creationId xmlns:a16="http://schemas.microsoft.com/office/drawing/2014/main" id="{7182AF36-5960-4B2C-9D47-210CB932DA38}"/>
                </a:ext>
              </a:extLst>
            </p:cNvPr>
            <p:cNvCxnSpPr>
              <a:cxnSpLocks/>
            </p:cNvCxnSpPr>
            <p:nvPr/>
          </p:nvCxnSpPr>
          <p:spPr>
            <a:xfrm>
              <a:off x="1450506" y="710998"/>
              <a:ext cx="3336956"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4" name="矩形 23">
              <a:extLst>
                <a:ext uri="{FF2B5EF4-FFF2-40B4-BE49-F238E27FC236}">
                  <a16:creationId xmlns:a16="http://schemas.microsoft.com/office/drawing/2014/main" id="{10B71239-B26D-4FA6-9A1C-566457380C71}"/>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5" name="矩形 24">
              <a:extLst>
                <a:ext uri="{FF2B5EF4-FFF2-40B4-BE49-F238E27FC236}">
                  <a16:creationId xmlns:a16="http://schemas.microsoft.com/office/drawing/2014/main" id="{AB2A778B-2C1F-496C-A482-99D1B5C545EA}"/>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ox(in)">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id="{791D85D7-F412-9C48-9F2B-E33F5B7B4F3C}"/>
              </a:ext>
            </a:extLst>
          </p:cNvPr>
          <p:cNvSpPr txBox="1"/>
          <p:nvPr/>
        </p:nvSpPr>
        <p:spPr>
          <a:xfrm>
            <a:off x="1364781" y="293282"/>
            <a:ext cx="3569826"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位置敏感探测器检测电路</a:t>
            </a:r>
          </a:p>
        </p:txBody>
      </p:sp>
      <p:sp>
        <p:nvSpPr>
          <p:cNvPr id="19" name="矩形: 圆角 18">
            <a:extLst>
              <a:ext uri="{FF2B5EF4-FFF2-40B4-BE49-F238E27FC236}">
                <a16:creationId xmlns:a16="http://schemas.microsoft.com/office/drawing/2014/main" id="{71B2A563-AC54-5347-B843-4478DF223CDE}"/>
              </a:ext>
            </a:extLst>
          </p:cNvPr>
          <p:cNvSpPr/>
          <p:nvPr/>
        </p:nvSpPr>
        <p:spPr>
          <a:xfrm>
            <a:off x="3642999" y="3397018"/>
            <a:ext cx="8443898" cy="1110985"/>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4000" b="1" dirty="0">
                <a:solidFill>
                  <a:schemeClr val="bg1"/>
                </a:solidFill>
                <a:latin typeface="Microsoft YaHei" panose="020B0503020204020204" pitchFamily="34" charset="-122"/>
                <a:ea typeface="Microsoft YaHei" panose="020B0503020204020204" pitchFamily="34" charset="-122"/>
              </a:rPr>
              <a:t>位置敏感探测器检测电路</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4" name="矩形 23">
            <a:extLst>
              <a:ext uri="{FF2B5EF4-FFF2-40B4-BE49-F238E27FC236}">
                <a16:creationId xmlns:a16="http://schemas.microsoft.com/office/drawing/2014/main" id="{045D4FB5-3BA7-4366-9C2A-762F1105D91A}"/>
              </a:ext>
            </a:extLst>
          </p:cNvPr>
          <p:cNvSpPr/>
          <p:nvPr/>
        </p:nvSpPr>
        <p:spPr>
          <a:xfrm>
            <a:off x="1546631" y="3333750"/>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0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4.7.2</a:t>
            </a:r>
            <a:endParaRPr kumimoji="1" lang="zh-CN" altLang="en-US" sz="60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D7400AB1-4BEC-40E5-A53B-E3CB1F48EB8A}"/>
              </a:ext>
            </a:extLst>
          </p:cNvPr>
          <p:cNvSpPr/>
          <p:nvPr/>
        </p:nvSpPr>
        <p:spPr>
          <a:xfrm>
            <a:off x="304801" y="293282"/>
            <a:ext cx="979824"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4.7.2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a16="http://schemas.microsoft.com/office/drawing/2014/main" id="{8C5F82EF-52B4-4531-96F0-44689EA1125E}"/>
              </a:ext>
            </a:extLst>
          </p:cNvPr>
          <p:cNvCxnSpPr>
            <a:cxnSpLocks/>
          </p:cNvCxnSpPr>
          <p:nvPr/>
        </p:nvCxnSpPr>
        <p:spPr>
          <a:xfrm>
            <a:off x="1450506" y="710998"/>
            <a:ext cx="3336956"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17380151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609" name="Object 4"/>
          <p:cNvGraphicFramePr>
            <a:graphicFrameLocks noChangeAspect="1"/>
          </p:cNvGraphicFramePr>
          <p:nvPr/>
        </p:nvGraphicFramePr>
        <p:xfrm>
          <a:off x="1342789" y="2349426"/>
          <a:ext cx="8513762" cy="3749675"/>
        </p:xfrm>
        <a:graphic>
          <a:graphicData uri="http://schemas.openxmlformats.org/presentationml/2006/ole">
            <mc:AlternateContent xmlns:mc="http://schemas.openxmlformats.org/markup-compatibility/2006">
              <mc:Choice xmlns:v="urn:schemas-microsoft-com:vml" Requires="v">
                <p:oleObj spid="_x0000_s24588" name="Visio" r:id="rId3" imgW="5310664" imgH="2335578" progId="Visio.Drawing.11">
                  <p:embed/>
                </p:oleObj>
              </mc:Choice>
              <mc:Fallback>
                <p:oleObj name="Visio" r:id="rId3" imgW="5310664" imgH="2335578"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2789" y="2349426"/>
                        <a:ext cx="8513762" cy="3749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610" name="TextBox 6"/>
          <p:cNvSpPr txBox="1">
            <a:spLocks noChangeArrowheads="1"/>
          </p:cNvSpPr>
          <p:nvPr/>
        </p:nvSpPr>
        <p:spPr bwMode="auto">
          <a:xfrm>
            <a:off x="3422650" y="1281146"/>
            <a:ext cx="5200650" cy="579438"/>
          </a:xfrm>
          <a:prstGeom prst="rect">
            <a:avLst/>
          </a:prstGeom>
          <a:noFill/>
          <a:ln w="9525">
            <a:noFill/>
            <a:miter lim="800000"/>
            <a:headEnd/>
            <a:tailEnd/>
          </a:ln>
        </p:spPr>
        <p:txBody>
          <a:bodyPr>
            <a:spAutoFit/>
          </a:bodyPr>
          <a:lstStyle/>
          <a:p>
            <a:pPr algn="ctr" defTabSz="914400"/>
            <a:r>
              <a:rPr lang="en-US" altLang="zh-CN" sz="3200" b="1" dirty="0">
                <a:solidFill>
                  <a:srgbClr val="0000CC"/>
                </a:solidFill>
                <a:latin typeface="Times New Roman" pitchFamily="18" charset="0"/>
                <a:ea typeface="微软雅黑" pitchFamily="34" charset="-122"/>
                <a:cs typeface="Times New Roman" pitchFamily="18" charset="0"/>
              </a:rPr>
              <a:t>(1)</a:t>
            </a:r>
            <a:r>
              <a:rPr lang="zh-CN" altLang="en-US" sz="3200" b="1" dirty="0">
                <a:solidFill>
                  <a:srgbClr val="0000CC"/>
                </a:solidFill>
                <a:latin typeface="Times New Roman" pitchFamily="18" charset="0"/>
                <a:ea typeface="微软雅黑" pitchFamily="34" charset="-122"/>
                <a:cs typeface="Times New Roman" pitchFamily="18" charset="0"/>
              </a:rPr>
              <a:t>一维</a:t>
            </a:r>
            <a:r>
              <a:rPr lang="en-US" altLang="zh-CN" sz="3200" b="1" dirty="0">
                <a:solidFill>
                  <a:srgbClr val="0000CC"/>
                </a:solidFill>
                <a:latin typeface="Times New Roman" pitchFamily="18" charset="0"/>
                <a:ea typeface="微软雅黑" pitchFamily="34" charset="-122"/>
                <a:cs typeface="Times New Roman" pitchFamily="18" charset="0"/>
              </a:rPr>
              <a:t>PSD</a:t>
            </a:r>
            <a:r>
              <a:rPr lang="zh-CN" altLang="en-US" sz="3200" b="1" dirty="0">
                <a:solidFill>
                  <a:srgbClr val="0000CC"/>
                </a:solidFill>
                <a:latin typeface="Times New Roman" pitchFamily="18" charset="0"/>
                <a:ea typeface="微软雅黑" pitchFamily="34" charset="-122"/>
                <a:cs typeface="Times New Roman" pitchFamily="18" charset="0"/>
              </a:rPr>
              <a:t>信号处理电路</a:t>
            </a:r>
          </a:p>
        </p:txBody>
      </p:sp>
      <p:graphicFrame>
        <p:nvGraphicFramePr>
          <p:cNvPr id="2" name="对象 1"/>
          <p:cNvGraphicFramePr>
            <a:graphicFrameLocks noChangeAspect="1"/>
          </p:cNvGraphicFramePr>
          <p:nvPr/>
        </p:nvGraphicFramePr>
        <p:xfrm>
          <a:off x="10093054" y="3547726"/>
          <a:ext cx="2682875" cy="1401762"/>
        </p:xfrm>
        <a:graphic>
          <a:graphicData uri="http://schemas.openxmlformats.org/presentationml/2006/ole">
            <mc:AlternateContent xmlns:mc="http://schemas.openxmlformats.org/markup-compatibility/2006">
              <mc:Choice xmlns:v="urn:schemas-microsoft-com:vml" Requires="v">
                <p:oleObj spid="_x0000_s24589" name="公式" r:id="rId5" imgW="787400" imgH="431800" progId="Equation.3">
                  <p:embed/>
                </p:oleObj>
              </mc:Choice>
              <mc:Fallback>
                <p:oleObj name="公式" r:id="rId5" imgW="787400" imgH="4318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093054" y="3547726"/>
                        <a:ext cx="2682875" cy="140176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1" name="组合 10">
            <a:extLst>
              <a:ext uri="{FF2B5EF4-FFF2-40B4-BE49-F238E27FC236}">
                <a16:creationId xmlns:a16="http://schemas.microsoft.com/office/drawing/2014/main" id="{B9897C3F-1D33-4EFC-B30C-DEB098C0AA10}"/>
              </a:ext>
            </a:extLst>
          </p:cNvPr>
          <p:cNvGrpSpPr/>
          <p:nvPr/>
        </p:nvGrpSpPr>
        <p:grpSpPr>
          <a:xfrm>
            <a:off x="0" y="293282"/>
            <a:ext cx="13161246" cy="7421968"/>
            <a:chOff x="0" y="293282"/>
            <a:chExt cx="13161246" cy="7421968"/>
          </a:xfrm>
        </p:grpSpPr>
        <p:sp>
          <p:nvSpPr>
            <p:cNvPr id="18" name="文本框 60">
              <a:extLst>
                <a:ext uri="{FF2B5EF4-FFF2-40B4-BE49-F238E27FC236}">
                  <a16:creationId xmlns:a16="http://schemas.microsoft.com/office/drawing/2014/main" id="{E59F7957-1253-4C4B-A551-D36006233A55}"/>
                </a:ext>
              </a:extLst>
            </p:cNvPr>
            <p:cNvSpPr txBox="1"/>
            <p:nvPr/>
          </p:nvSpPr>
          <p:spPr>
            <a:xfrm>
              <a:off x="1364781" y="293282"/>
              <a:ext cx="3569826"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位置敏感探测器检测电路</a:t>
              </a:r>
            </a:p>
          </p:txBody>
        </p:sp>
        <p:sp>
          <p:nvSpPr>
            <p:cNvPr id="19" name="矩形 18">
              <a:extLst>
                <a:ext uri="{FF2B5EF4-FFF2-40B4-BE49-F238E27FC236}">
                  <a16:creationId xmlns:a16="http://schemas.microsoft.com/office/drawing/2014/main" id="{29EBC2F6-D416-4069-91E7-5CA7318CAA11}"/>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0" name="矩形 19">
              <a:extLst>
                <a:ext uri="{FF2B5EF4-FFF2-40B4-BE49-F238E27FC236}">
                  <a16:creationId xmlns:a16="http://schemas.microsoft.com/office/drawing/2014/main" id="{9E8312F3-15AD-4E30-A342-3036A95783EC}"/>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圆角 20">
              <a:extLst>
                <a:ext uri="{FF2B5EF4-FFF2-40B4-BE49-F238E27FC236}">
                  <a16:creationId xmlns:a16="http://schemas.microsoft.com/office/drawing/2014/main" id="{C20DAA3D-CA8F-49BD-8F09-1EE87DFF193A}"/>
                </a:ext>
              </a:extLst>
            </p:cNvPr>
            <p:cNvSpPr/>
            <p:nvPr/>
          </p:nvSpPr>
          <p:spPr>
            <a:xfrm>
              <a:off x="304801" y="293282"/>
              <a:ext cx="979824"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4.7.2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2" name="直接连接符 58">
              <a:extLst>
                <a:ext uri="{FF2B5EF4-FFF2-40B4-BE49-F238E27FC236}">
                  <a16:creationId xmlns:a16="http://schemas.microsoft.com/office/drawing/2014/main" id="{32058058-4646-4FFE-99E2-AA3D6CCFA7D8}"/>
                </a:ext>
              </a:extLst>
            </p:cNvPr>
            <p:cNvCxnSpPr>
              <a:cxnSpLocks/>
            </p:cNvCxnSpPr>
            <p:nvPr/>
          </p:nvCxnSpPr>
          <p:spPr>
            <a:xfrm>
              <a:off x="1450506" y="710998"/>
              <a:ext cx="3336956"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81F4480C-2A09-4F3F-AC9E-22CB4CA0A8F2}"/>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4" name="矩形 23">
              <a:extLst>
                <a:ext uri="{FF2B5EF4-FFF2-40B4-BE49-F238E27FC236}">
                  <a16:creationId xmlns:a16="http://schemas.microsoft.com/office/drawing/2014/main" id="{B5E4F6A5-B981-481A-9775-7D8380ED78D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extLst>
      <p:ext uri="{BB962C8B-B14F-4D97-AF65-F5344CB8AC3E}">
        <p14:creationId xmlns:p14="http://schemas.microsoft.com/office/powerpoint/2010/main" val="19970614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2" name="TextBox 1"/>
          <p:cNvSpPr txBox="1">
            <a:spLocks noChangeArrowheads="1"/>
          </p:cNvSpPr>
          <p:nvPr/>
        </p:nvSpPr>
        <p:spPr bwMode="auto">
          <a:xfrm>
            <a:off x="3492906" y="1162288"/>
            <a:ext cx="5111750" cy="579437"/>
          </a:xfrm>
          <a:prstGeom prst="rect">
            <a:avLst/>
          </a:prstGeom>
          <a:noFill/>
          <a:ln w="9525">
            <a:noFill/>
            <a:miter lim="800000"/>
            <a:headEnd/>
            <a:tailEnd/>
          </a:ln>
        </p:spPr>
        <p:txBody>
          <a:bodyPr>
            <a:spAutoFit/>
          </a:bodyPr>
          <a:lstStyle/>
          <a:p>
            <a:pPr algn="ctr" defTabSz="914400"/>
            <a:r>
              <a:rPr lang="en-US" altLang="zh-CN" sz="3200" b="1">
                <a:solidFill>
                  <a:srgbClr val="0000CC"/>
                </a:solidFill>
                <a:latin typeface="Times New Roman" pitchFamily="18" charset="0"/>
                <a:ea typeface="微软雅黑" pitchFamily="34" charset="-122"/>
                <a:cs typeface="Times New Roman" pitchFamily="18" charset="0"/>
              </a:rPr>
              <a:t>(2)</a:t>
            </a:r>
            <a:r>
              <a:rPr lang="zh-CN" altLang="en-US" sz="3200" b="1">
                <a:solidFill>
                  <a:srgbClr val="0000CC"/>
                </a:solidFill>
                <a:latin typeface="Times New Roman" pitchFamily="18" charset="0"/>
                <a:ea typeface="微软雅黑" pitchFamily="34" charset="-122"/>
                <a:cs typeface="Times New Roman" pitchFamily="18" charset="0"/>
              </a:rPr>
              <a:t>二维</a:t>
            </a:r>
            <a:r>
              <a:rPr lang="en-US" altLang="zh-CN" sz="3200" b="1">
                <a:solidFill>
                  <a:srgbClr val="0000CC"/>
                </a:solidFill>
                <a:latin typeface="Times New Roman" pitchFamily="18" charset="0"/>
                <a:ea typeface="微软雅黑" pitchFamily="34" charset="-122"/>
                <a:cs typeface="Times New Roman" pitchFamily="18" charset="0"/>
              </a:rPr>
              <a:t>PSD</a:t>
            </a:r>
            <a:r>
              <a:rPr lang="zh-CN" altLang="en-US" sz="3200" b="1">
                <a:solidFill>
                  <a:srgbClr val="0000CC"/>
                </a:solidFill>
                <a:latin typeface="Times New Roman" pitchFamily="18" charset="0"/>
                <a:ea typeface="微软雅黑" pitchFamily="34" charset="-122"/>
                <a:cs typeface="Times New Roman" pitchFamily="18" charset="0"/>
              </a:rPr>
              <a:t>信号处理电路</a:t>
            </a:r>
          </a:p>
        </p:txBody>
      </p:sp>
      <p:graphicFrame>
        <p:nvGraphicFramePr>
          <p:cNvPr id="26633" name="Object 5"/>
          <p:cNvGraphicFramePr>
            <a:graphicFrameLocks noChangeAspect="1"/>
          </p:cNvGraphicFramePr>
          <p:nvPr>
            <p:extLst>
              <p:ext uri="{D42A27DB-BD31-4B8C-83A1-F6EECF244321}">
                <p14:modId xmlns:p14="http://schemas.microsoft.com/office/powerpoint/2010/main" val="3826603949"/>
              </p:ext>
            </p:extLst>
          </p:nvPr>
        </p:nvGraphicFramePr>
        <p:xfrm>
          <a:off x="716756" y="2469879"/>
          <a:ext cx="9249370" cy="3738700"/>
        </p:xfrm>
        <a:graphic>
          <a:graphicData uri="http://schemas.openxmlformats.org/presentationml/2006/ole">
            <mc:AlternateContent xmlns:mc="http://schemas.openxmlformats.org/markup-compatibility/2006">
              <mc:Choice xmlns:v="urn:schemas-microsoft-com:vml" Requires="v">
                <p:oleObj spid="_x0000_s25617" name="Visio" r:id="rId3" imgW="6381845" imgH="2581229" progId="Visio.Drawing.11">
                  <p:embed/>
                </p:oleObj>
              </mc:Choice>
              <mc:Fallback>
                <p:oleObj name="Visio" r:id="rId3" imgW="6381845" imgH="2581229" progId="Visio.Drawing.11">
                  <p:embed/>
                  <p:pic>
                    <p:nvPicPr>
                      <p:cNvPr id="0" name=""/>
                      <p:cNvPicPr>
                        <a:picLocks noChangeAspect="1" noChangeArrowheads="1"/>
                      </p:cNvPicPr>
                      <p:nvPr/>
                    </p:nvPicPr>
                    <p:blipFill>
                      <a:blip r:embed="rId4"/>
                      <a:srcRect/>
                      <a:stretch>
                        <a:fillRect/>
                      </a:stretch>
                    </p:blipFill>
                    <p:spPr bwMode="auto">
                      <a:xfrm>
                        <a:off x="716756" y="2469879"/>
                        <a:ext cx="9249370" cy="3738700"/>
                      </a:xfrm>
                      <a:prstGeom prst="rect">
                        <a:avLst/>
                      </a:prstGeom>
                      <a:noFill/>
                    </p:spPr>
                  </p:pic>
                </p:oleObj>
              </mc:Fallback>
            </mc:AlternateContent>
          </a:graphicData>
        </a:graphic>
      </p:graphicFrame>
      <p:graphicFrame>
        <p:nvGraphicFramePr>
          <p:cNvPr id="2" name="对象 1"/>
          <p:cNvGraphicFramePr>
            <a:graphicFrameLocks noChangeAspect="1"/>
          </p:cNvGraphicFramePr>
          <p:nvPr/>
        </p:nvGraphicFramePr>
        <p:xfrm>
          <a:off x="10025840" y="2469879"/>
          <a:ext cx="1687513" cy="979488"/>
        </p:xfrm>
        <a:graphic>
          <a:graphicData uri="http://schemas.openxmlformats.org/presentationml/2006/ole">
            <mc:AlternateContent xmlns:mc="http://schemas.openxmlformats.org/markup-compatibility/2006">
              <mc:Choice xmlns:v="urn:schemas-microsoft-com:vml" Requires="v">
                <p:oleObj spid="_x0000_s25618" name="Equation" r:id="rId5" imgW="736600" imgH="431800" progId="Equation.DSMT4">
                  <p:embed/>
                </p:oleObj>
              </mc:Choice>
              <mc:Fallback>
                <p:oleObj name="Equation" r:id="rId5" imgW="736600" imgH="4318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025840" y="2469879"/>
                        <a:ext cx="1687513" cy="97948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对象 2"/>
          <p:cNvGraphicFramePr>
            <a:graphicFrameLocks noChangeAspect="1"/>
          </p:cNvGraphicFramePr>
          <p:nvPr/>
        </p:nvGraphicFramePr>
        <p:xfrm>
          <a:off x="10268391" y="4774727"/>
          <a:ext cx="1571625" cy="979488"/>
        </p:xfrm>
        <a:graphic>
          <a:graphicData uri="http://schemas.openxmlformats.org/presentationml/2006/ole">
            <mc:AlternateContent xmlns:mc="http://schemas.openxmlformats.org/markup-compatibility/2006">
              <mc:Choice xmlns:v="urn:schemas-microsoft-com:vml" Requires="v">
                <p:oleObj spid="_x0000_s25619" name="Equation" r:id="rId7" imgW="685800" imgH="431800" progId="Equation.DSMT4">
                  <p:embed/>
                </p:oleObj>
              </mc:Choice>
              <mc:Fallback>
                <p:oleObj name="Equation" r:id="rId7" imgW="685800" imgH="4318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268391" y="4774727"/>
                        <a:ext cx="1571625" cy="97948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7" name="组合 16">
            <a:extLst>
              <a:ext uri="{FF2B5EF4-FFF2-40B4-BE49-F238E27FC236}">
                <a16:creationId xmlns:a16="http://schemas.microsoft.com/office/drawing/2014/main" id="{EC9DBB8C-D737-485E-B1BC-E6408D8CE037}"/>
              </a:ext>
            </a:extLst>
          </p:cNvPr>
          <p:cNvGrpSpPr/>
          <p:nvPr/>
        </p:nvGrpSpPr>
        <p:grpSpPr>
          <a:xfrm>
            <a:off x="0" y="293282"/>
            <a:ext cx="13161246" cy="7421968"/>
            <a:chOff x="0" y="293282"/>
            <a:chExt cx="13161246" cy="7421968"/>
          </a:xfrm>
        </p:grpSpPr>
        <p:sp>
          <p:nvSpPr>
            <p:cNvPr id="18" name="文本框 60">
              <a:extLst>
                <a:ext uri="{FF2B5EF4-FFF2-40B4-BE49-F238E27FC236}">
                  <a16:creationId xmlns:a16="http://schemas.microsoft.com/office/drawing/2014/main" id="{AA643640-AB0B-4F2F-A604-BA8AB6F6A128}"/>
                </a:ext>
              </a:extLst>
            </p:cNvPr>
            <p:cNvSpPr txBox="1"/>
            <p:nvPr/>
          </p:nvSpPr>
          <p:spPr>
            <a:xfrm>
              <a:off x="1364781" y="293282"/>
              <a:ext cx="3569826"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位置敏感探测器检测电路</a:t>
              </a:r>
            </a:p>
          </p:txBody>
        </p:sp>
        <p:sp>
          <p:nvSpPr>
            <p:cNvPr id="19" name="矩形 18">
              <a:extLst>
                <a:ext uri="{FF2B5EF4-FFF2-40B4-BE49-F238E27FC236}">
                  <a16:creationId xmlns:a16="http://schemas.microsoft.com/office/drawing/2014/main" id="{22727C72-5241-41C4-9FCA-CA3E159E5402}"/>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0" name="矩形 19">
              <a:extLst>
                <a:ext uri="{FF2B5EF4-FFF2-40B4-BE49-F238E27FC236}">
                  <a16:creationId xmlns:a16="http://schemas.microsoft.com/office/drawing/2014/main" id="{B09C8ECC-F389-42D8-8DED-FE6B24B91483}"/>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圆角 20">
              <a:extLst>
                <a:ext uri="{FF2B5EF4-FFF2-40B4-BE49-F238E27FC236}">
                  <a16:creationId xmlns:a16="http://schemas.microsoft.com/office/drawing/2014/main" id="{A18C3B18-5F46-4822-BAA3-413FD74A860A}"/>
                </a:ext>
              </a:extLst>
            </p:cNvPr>
            <p:cNvSpPr/>
            <p:nvPr/>
          </p:nvSpPr>
          <p:spPr>
            <a:xfrm>
              <a:off x="304801" y="293282"/>
              <a:ext cx="979824"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4.7.2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2" name="直接连接符 58">
              <a:extLst>
                <a:ext uri="{FF2B5EF4-FFF2-40B4-BE49-F238E27FC236}">
                  <a16:creationId xmlns:a16="http://schemas.microsoft.com/office/drawing/2014/main" id="{365977D4-DAC3-4675-9BE1-3D2DE7A5F944}"/>
                </a:ext>
              </a:extLst>
            </p:cNvPr>
            <p:cNvCxnSpPr>
              <a:cxnSpLocks/>
            </p:cNvCxnSpPr>
            <p:nvPr/>
          </p:nvCxnSpPr>
          <p:spPr>
            <a:xfrm>
              <a:off x="1450506" y="710998"/>
              <a:ext cx="3336956"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976C5390-52E7-40CC-B084-15F90F58CBF0}"/>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4" name="矩形 23">
              <a:extLst>
                <a:ext uri="{FF2B5EF4-FFF2-40B4-BE49-F238E27FC236}">
                  <a16:creationId xmlns:a16="http://schemas.microsoft.com/office/drawing/2014/main" id="{70EAC398-15A6-4EC4-AD47-E22DF43FEEAF}"/>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extLst>
      <p:ext uri="{BB962C8B-B14F-4D97-AF65-F5344CB8AC3E}">
        <p14:creationId xmlns:p14="http://schemas.microsoft.com/office/powerpoint/2010/main" val="15962473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id="{791D85D7-F412-9C48-9F2B-E33F5B7B4F3C}"/>
              </a:ext>
            </a:extLst>
          </p:cNvPr>
          <p:cNvSpPr txBox="1"/>
          <p:nvPr/>
        </p:nvSpPr>
        <p:spPr>
          <a:xfrm>
            <a:off x="1364781" y="293282"/>
            <a:ext cx="3569826"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主要特性参数</a:t>
            </a:r>
          </a:p>
        </p:txBody>
      </p:sp>
      <p:sp>
        <p:nvSpPr>
          <p:cNvPr id="19" name="矩形: 圆角 18">
            <a:extLst>
              <a:ext uri="{FF2B5EF4-FFF2-40B4-BE49-F238E27FC236}">
                <a16:creationId xmlns:a16="http://schemas.microsoft.com/office/drawing/2014/main" id="{71B2A563-AC54-5347-B843-4478DF223CDE}"/>
              </a:ext>
            </a:extLst>
          </p:cNvPr>
          <p:cNvSpPr/>
          <p:nvPr/>
        </p:nvSpPr>
        <p:spPr>
          <a:xfrm>
            <a:off x="3642999" y="3397018"/>
            <a:ext cx="8443898" cy="1110985"/>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4000" b="1" dirty="0">
                <a:solidFill>
                  <a:schemeClr val="bg1"/>
                </a:solidFill>
                <a:latin typeface="Microsoft YaHei" panose="020B0503020204020204" pitchFamily="34" charset="-122"/>
                <a:ea typeface="Microsoft YaHei" panose="020B0503020204020204" pitchFamily="34" charset="-122"/>
              </a:rPr>
              <a:t>主要特性参数</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4" name="矩形 23">
            <a:extLst>
              <a:ext uri="{FF2B5EF4-FFF2-40B4-BE49-F238E27FC236}">
                <a16:creationId xmlns:a16="http://schemas.microsoft.com/office/drawing/2014/main" id="{045D4FB5-3BA7-4366-9C2A-762F1105D91A}"/>
              </a:ext>
            </a:extLst>
          </p:cNvPr>
          <p:cNvSpPr/>
          <p:nvPr/>
        </p:nvSpPr>
        <p:spPr>
          <a:xfrm>
            <a:off x="1546631" y="3333750"/>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0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4.7.3</a:t>
            </a:r>
            <a:endParaRPr kumimoji="1" lang="zh-CN" altLang="en-US" sz="60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D7400AB1-4BEC-40E5-A53B-E3CB1F48EB8A}"/>
              </a:ext>
            </a:extLst>
          </p:cNvPr>
          <p:cNvSpPr/>
          <p:nvPr/>
        </p:nvSpPr>
        <p:spPr>
          <a:xfrm>
            <a:off x="304801" y="293282"/>
            <a:ext cx="979824"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4.7.3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a16="http://schemas.microsoft.com/office/drawing/2014/main" id="{8C5F82EF-52B4-4531-96F0-44689EA1125E}"/>
              </a:ext>
            </a:extLst>
          </p:cNvPr>
          <p:cNvCxnSpPr>
            <a:cxnSpLocks/>
          </p:cNvCxnSpPr>
          <p:nvPr/>
        </p:nvCxnSpPr>
        <p:spPr>
          <a:xfrm>
            <a:off x="1450506" y="710998"/>
            <a:ext cx="3336956"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30543727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a:spLocks noChangeArrowheads="1"/>
          </p:cNvSpPr>
          <p:nvPr/>
        </p:nvSpPr>
        <p:spPr bwMode="auto">
          <a:xfrm>
            <a:off x="541337" y="1739900"/>
            <a:ext cx="12104619" cy="1374775"/>
          </a:xfrm>
          <a:prstGeom prst="rect">
            <a:avLst/>
          </a:prstGeom>
          <a:noFill/>
          <a:ln w="9525">
            <a:noFill/>
            <a:miter lim="800000"/>
            <a:headEnd/>
            <a:tailEnd/>
          </a:ln>
        </p:spPr>
        <p:txBody>
          <a:bodyPr wrap="square">
            <a:spAutoFit/>
          </a:bodyPr>
          <a:lstStyle/>
          <a:p>
            <a:pPr defTabSz="914400">
              <a:lnSpc>
                <a:spcPct val="150000"/>
              </a:lnSpc>
            </a:pPr>
            <a:r>
              <a:rPr lang="en-US" altLang="zh-CN" sz="2800" b="1" dirty="0">
                <a:latin typeface="微软雅黑" pitchFamily="34" charset="-122"/>
                <a:ea typeface="微软雅黑" pitchFamily="34" charset="-122"/>
              </a:rPr>
              <a:t>	</a:t>
            </a:r>
            <a:r>
              <a:rPr lang="zh-CN" altLang="en-US" sz="2800" b="1" dirty="0">
                <a:latin typeface="微软雅黑" pitchFamily="34" charset="-122"/>
                <a:ea typeface="微软雅黑" pitchFamily="34" charset="-122"/>
              </a:rPr>
              <a:t>位置线性度是指入射光斑沿直线移动时</a:t>
            </a:r>
            <a:r>
              <a:rPr lang="en-US" altLang="zh-CN" sz="2800" b="1" dirty="0">
                <a:latin typeface="微软雅黑" pitchFamily="34" charset="-122"/>
                <a:ea typeface="微软雅黑" pitchFamily="34" charset="-122"/>
              </a:rPr>
              <a:t>PSD</a:t>
            </a:r>
            <a:r>
              <a:rPr lang="zh-CN" altLang="en-US" sz="2800" b="1" dirty="0">
                <a:latin typeface="微软雅黑" pitchFamily="34" charset="-122"/>
                <a:ea typeface="微软雅黑" pitchFamily="34" charset="-122"/>
              </a:rPr>
              <a:t>的位置输出偏离该直线的程度。</a:t>
            </a:r>
          </a:p>
        </p:txBody>
      </p:sp>
      <p:sp>
        <p:nvSpPr>
          <p:cNvPr id="4" name="TextBox 3"/>
          <p:cNvSpPr txBox="1">
            <a:spLocks noChangeArrowheads="1"/>
          </p:cNvSpPr>
          <p:nvPr/>
        </p:nvSpPr>
        <p:spPr bwMode="auto">
          <a:xfrm>
            <a:off x="5060122" y="1160462"/>
            <a:ext cx="3244850" cy="579438"/>
          </a:xfrm>
          <a:prstGeom prst="rect">
            <a:avLst/>
          </a:prstGeom>
          <a:noFill/>
          <a:ln w="9525">
            <a:noFill/>
            <a:miter lim="800000"/>
            <a:headEnd/>
            <a:tailEnd/>
          </a:ln>
        </p:spPr>
        <p:txBody>
          <a:bodyPr>
            <a:spAutoFit/>
          </a:bodyPr>
          <a:lstStyle/>
          <a:p>
            <a:pPr defTabSz="914400"/>
            <a:r>
              <a:rPr lang="en-US" altLang="zh-CN" sz="3200" b="1" dirty="0">
                <a:solidFill>
                  <a:srgbClr val="0000CC"/>
                </a:solidFill>
                <a:latin typeface="微软雅黑" pitchFamily="34" charset="-122"/>
                <a:ea typeface="微软雅黑" pitchFamily="34" charset="-122"/>
              </a:rPr>
              <a:t>1 </a:t>
            </a:r>
            <a:r>
              <a:rPr lang="zh-CN" altLang="en-US" sz="3200" b="1" dirty="0">
                <a:solidFill>
                  <a:srgbClr val="0000CC"/>
                </a:solidFill>
                <a:latin typeface="微软雅黑" pitchFamily="34" charset="-122"/>
                <a:ea typeface="微软雅黑" pitchFamily="34" charset="-122"/>
              </a:rPr>
              <a:t>位置线性度</a:t>
            </a:r>
          </a:p>
        </p:txBody>
      </p:sp>
      <p:sp>
        <p:nvSpPr>
          <p:cNvPr id="5" name="TextBox 4"/>
          <p:cNvSpPr txBox="1">
            <a:spLocks noChangeArrowheads="1"/>
          </p:cNvSpPr>
          <p:nvPr/>
        </p:nvSpPr>
        <p:spPr bwMode="auto">
          <a:xfrm>
            <a:off x="585788" y="2984500"/>
            <a:ext cx="12060168" cy="1200329"/>
          </a:xfrm>
          <a:prstGeom prst="rect">
            <a:avLst/>
          </a:prstGeom>
          <a:noFill/>
          <a:ln w="9525">
            <a:noFill/>
            <a:miter lim="800000"/>
            <a:headEnd/>
            <a:tailEnd/>
          </a:ln>
        </p:spPr>
        <p:txBody>
          <a:bodyPr wrap="square">
            <a:spAutoFit/>
          </a:bodyPr>
          <a:lstStyle/>
          <a:p>
            <a:pPr defTabSz="914400">
              <a:lnSpc>
                <a:spcPct val="150000"/>
              </a:lnSpc>
            </a:pPr>
            <a:r>
              <a:rPr lang="en-US" altLang="zh-CN" sz="2400" b="1" dirty="0">
                <a:latin typeface="Times New Roman" pitchFamily="18" charset="0"/>
                <a:ea typeface="微软雅黑" pitchFamily="34" charset="-122"/>
                <a:cs typeface="Times New Roman" pitchFamily="18" charset="0"/>
              </a:rPr>
              <a:t> 	PSD</a:t>
            </a:r>
            <a:r>
              <a:rPr lang="zh-CN" altLang="en-US" sz="2400" b="1" dirty="0">
                <a:latin typeface="Times New Roman" pitchFamily="18" charset="0"/>
                <a:ea typeface="微软雅黑" pitchFamily="34" charset="-122"/>
                <a:cs typeface="Times New Roman" pitchFamily="18" charset="0"/>
              </a:rPr>
              <a:t>的位置检测特性近似于线性，但由于器件的固有特性决定其存在非线性，而且越接近于边缘位置，误差越大。</a:t>
            </a:r>
          </a:p>
        </p:txBody>
      </p:sp>
      <p:sp>
        <p:nvSpPr>
          <p:cNvPr id="6" name="TextBox 5"/>
          <p:cNvSpPr txBox="1">
            <a:spLocks noChangeArrowheads="1"/>
          </p:cNvSpPr>
          <p:nvPr/>
        </p:nvSpPr>
        <p:spPr bwMode="auto">
          <a:xfrm>
            <a:off x="719138" y="4095750"/>
            <a:ext cx="11926818" cy="1200329"/>
          </a:xfrm>
          <a:prstGeom prst="rect">
            <a:avLst/>
          </a:prstGeom>
          <a:noFill/>
          <a:ln w="9525">
            <a:noFill/>
            <a:miter lim="800000"/>
            <a:headEnd/>
            <a:tailEnd/>
          </a:ln>
        </p:spPr>
        <p:txBody>
          <a:bodyPr wrap="square">
            <a:spAutoFit/>
          </a:bodyPr>
          <a:lstStyle/>
          <a:p>
            <a:pPr defTabSz="914400">
              <a:lnSpc>
                <a:spcPct val="150000"/>
              </a:lnSpc>
            </a:pPr>
            <a:r>
              <a:rPr lang="en-US" altLang="zh-CN" sz="2400" b="1" dirty="0">
                <a:latin typeface="微软雅黑" pitchFamily="34" charset="-122"/>
                <a:ea typeface="微软雅黑" pitchFamily="34" charset="-122"/>
              </a:rPr>
              <a:t>	</a:t>
            </a:r>
            <a:r>
              <a:rPr lang="zh-CN" altLang="en-US" sz="2400" b="1" dirty="0">
                <a:latin typeface="微软雅黑" pitchFamily="34" charset="-122"/>
                <a:ea typeface="微软雅黑" pitchFamily="34" charset="-122"/>
              </a:rPr>
              <a:t>线性度主要取决于制造过程中表面扩散层和底层材料电阻率的均匀性，以及有效感光面积等因素。</a:t>
            </a:r>
          </a:p>
        </p:txBody>
      </p:sp>
      <p:sp>
        <p:nvSpPr>
          <p:cNvPr id="3" name="TextBox 6"/>
          <p:cNvSpPr txBox="1">
            <a:spLocks noChangeArrowheads="1"/>
          </p:cNvSpPr>
          <p:nvPr/>
        </p:nvSpPr>
        <p:spPr bwMode="auto">
          <a:xfrm>
            <a:off x="630238" y="5400202"/>
            <a:ext cx="11937898" cy="1200329"/>
          </a:xfrm>
          <a:prstGeom prst="rect">
            <a:avLst/>
          </a:prstGeom>
          <a:noFill/>
          <a:ln w="9525">
            <a:noFill/>
            <a:miter lim="800000"/>
            <a:headEnd/>
            <a:tailEnd/>
          </a:ln>
        </p:spPr>
        <p:txBody>
          <a:bodyPr wrap="square">
            <a:spAutoFit/>
          </a:bodyPr>
          <a:lstStyle/>
          <a:p>
            <a:pPr defTabSz="914400">
              <a:lnSpc>
                <a:spcPct val="150000"/>
              </a:lnSpc>
            </a:pPr>
            <a:r>
              <a:rPr lang="en-US" altLang="zh-CN" sz="2400" b="1" dirty="0">
                <a:latin typeface="微软雅黑" pitchFamily="34" charset="-122"/>
                <a:ea typeface="微软雅黑" pitchFamily="34" charset="-122"/>
              </a:rPr>
              <a:t>	</a:t>
            </a:r>
            <a:r>
              <a:rPr lang="zh-CN" altLang="en-US" sz="2400" b="1" dirty="0">
                <a:latin typeface="微软雅黑" pitchFamily="34" charset="-122"/>
                <a:ea typeface="微软雅黑" pitchFamily="34" charset="-122"/>
              </a:rPr>
              <a:t>通常，距离器件中心</a:t>
            </a:r>
            <a:r>
              <a:rPr lang="en-US" altLang="zh-CN" sz="2400" b="1" dirty="0">
                <a:latin typeface="微软雅黑" pitchFamily="34" charset="-122"/>
                <a:ea typeface="微软雅黑" pitchFamily="34" charset="-122"/>
              </a:rPr>
              <a:t>2/3</a:t>
            </a:r>
            <a:r>
              <a:rPr lang="zh-CN" altLang="en-US" sz="2400" b="1" dirty="0">
                <a:latin typeface="微软雅黑" pitchFamily="34" charset="-122"/>
                <a:ea typeface="微软雅黑" pitchFamily="34" charset="-122"/>
              </a:rPr>
              <a:t>的范围内线性度较好，越靠近边缘线性度越差。因此，实际应用中需要尽量选用线性度较好的区域，使系统误差限制在最小。</a:t>
            </a:r>
          </a:p>
        </p:txBody>
      </p:sp>
      <p:grpSp>
        <p:nvGrpSpPr>
          <p:cNvPr id="13" name="组合 12">
            <a:extLst>
              <a:ext uri="{FF2B5EF4-FFF2-40B4-BE49-F238E27FC236}">
                <a16:creationId xmlns:a16="http://schemas.microsoft.com/office/drawing/2014/main" id="{2CD65F0A-7145-4C67-9AB6-A9AD07599DCF}"/>
              </a:ext>
            </a:extLst>
          </p:cNvPr>
          <p:cNvGrpSpPr/>
          <p:nvPr/>
        </p:nvGrpSpPr>
        <p:grpSpPr>
          <a:xfrm>
            <a:off x="0" y="293282"/>
            <a:ext cx="13161246" cy="7421968"/>
            <a:chOff x="0" y="293282"/>
            <a:chExt cx="13161246" cy="7421968"/>
          </a:xfrm>
        </p:grpSpPr>
        <p:sp>
          <p:nvSpPr>
            <p:cNvPr id="19" name="文本框 60">
              <a:extLst>
                <a:ext uri="{FF2B5EF4-FFF2-40B4-BE49-F238E27FC236}">
                  <a16:creationId xmlns:a16="http://schemas.microsoft.com/office/drawing/2014/main" id="{3D3A6AEF-DDC0-46E1-B75E-A6F893D29E26}"/>
                </a:ext>
              </a:extLst>
            </p:cNvPr>
            <p:cNvSpPr txBox="1"/>
            <p:nvPr/>
          </p:nvSpPr>
          <p:spPr>
            <a:xfrm>
              <a:off x="1364781" y="293282"/>
              <a:ext cx="3569826"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主要特性参数</a:t>
              </a:r>
            </a:p>
          </p:txBody>
        </p:sp>
        <p:sp>
          <p:nvSpPr>
            <p:cNvPr id="20" name="矩形 19">
              <a:extLst>
                <a:ext uri="{FF2B5EF4-FFF2-40B4-BE49-F238E27FC236}">
                  <a16:creationId xmlns:a16="http://schemas.microsoft.com/office/drawing/2014/main" id="{542D0C3E-5B7B-4582-8142-EFE6926342FD}"/>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1" name="矩形 20">
              <a:extLst>
                <a:ext uri="{FF2B5EF4-FFF2-40B4-BE49-F238E27FC236}">
                  <a16:creationId xmlns:a16="http://schemas.microsoft.com/office/drawing/2014/main" id="{7D92CB92-F5D7-4D43-BE88-F20000A8713A}"/>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圆角 21">
              <a:extLst>
                <a:ext uri="{FF2B5EF4-FFF2-40B4-BE49-F238E27FC236}">
                  <a16:creationId xmlns:a16="http://schemas.microsoft.com/office/drawing/2014/main" id="{52DAAF9C-1721-4424-9733-5F30ECC52C63}"/>
                </a:ext>
              </a:extLst>
            </p:cNvPr>
            <p:cNvSpPr/>
            <p:nvPr/>
          </p:nvSpPr>
          <p:spPr>
            <a:xfrm>
              <a:off x="304801" y="293282"/>
              <a:ext cx="979824"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4.7.3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3" name="直接连接符 58">
              <a:extLst>
                <a:ext uri="{FF2B5EF4-FFF2-40B4-BE49-F238E27FC236}">
                  <a16:creationId xmlns:a16="http://schemas.microsoft.com/office/drawing/2014/main" id="{D2B81888-E2E5-414A-9C58-68659E9E2927}"/>
                </a:ext>
              </a:extLst>
            </p:cNvPr>
            <p:cNvCxnSpPr>
              <a:cxnSpLocks/>
            </p:cNvCxnSpPr>
            <p:nvPr/>
          </p:nvCxnSpPr>
          <p:spPr>
            <a:xfrm>
              <a:off x="1450506" y="710998"/>
              <a:ext cx="3336956"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4" name="矩形 23">
              <a:extLst>
                <a:ext uri="{FF2B5EF4-FFF2-40B4-BE49-F238E27FC236}">
                  <a16:creationId xmlns:a16="http://schemas.microsoft.com/office/drawing/2014/main" id="{94DCA801-6FD3-42FE-873B-3368058B5DF0}"/>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5" name="矩形 24">
              <a:extLst>
                <a:ext uri="{FF2B5EF4-FFF2-40B4-BE49-F238E27FC236}">
                  <a16:creationId xmlns:a16="http://schemas.microsoft.com/office/drawing/2014/main" id="{225E1573-EB96-4DE5-A612-5CD53138719A}"/>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extLst>
      <p:ext uri="{BB962C8B-B14F-4D97-AF65-F5344CB8AC3E}">
        <p14:creationId xmlns:p14="http://schemas.microsoft.com/office/powerpoint/2010/main" val="3823946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i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ox(in)">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ox(in)">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box(in)">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a:spLocks noChangeArrowheads="1"/>
          </p:cNvSpPr>
          <p:nvPr/>
        </p:nvSpPr>
        <p:spPr bwMode="auto">
          <a:xfrm>
            <a:off x="5208284" y="1151563"/>
            <a:ext cx="2800350" cy="579437"/>
          </a:xfrm>
          <a:prstGeom prst="rect">
            <a:avLst/>
          </a:prstGeom>
          <a:noFill/>
          <a:ln w="9525">
            <a:noFill/>
            <a:miter lim="800000"/>
            <a:headEnd/>
            <a:tailEnd/>
          </a:ln>
        </p:spPr>
        <p:txBody>
          <a:bodyPr>
            <a:spAutoFit/>
          </a:bodyPr>
          <a:lstStyle/>
          <a:p>
            <a:pPr algn="ctr" defTabSz="914400"/>
            <a:r>
              <a:rPr lang="en-US" altLang="zh-CN" sz="3200" b="1" dirty="0">
                <a:solidFill>
                  <a:srgbClr val="0000CC"/>
                </a:solidFill>
                <a:latin typeface="微软雅黑" pitchFamily="34" charset="-122"/>
                <a:ea typeface="微软雅黑" pitchFamily="34" charset="-122"/>
              </a:rPr>
              <a:t>2 </a:t>
            </a:r>
            <a:r>
              <a:rPr lang="zh-CN" altLang="en-US" sz="3200" b="1" dirty="0">
                <a:solidFill>
                  <a:srgbClr val="0000CC"/>
                </a:solidFill>
                <a:latin typeface="微软雅黑" pitchFamily="34" charset="-122"/>
                <a:ea typeface="微软雅黑" pitchFamily="34" charset="-122"/>
              </a:rPr>
              <a:t>位置分辨率</a:t>
            </a:r>
          </a:p>
        </p:txBody>
      </p:sp>
      <p:sp>
        <p:nvSpPr>
          <p:cNvPr id="3" name="TextBox 2"/>
          <p:cNvSpPr txBox="1">
            <a:spLocks noChangeArrowheads="1"/>
          </p:cNvSpPr>
          <p:nvPr/>
        </p:nvSpPr>
        <p:spPr bwMode="auto">
          <a:xfrm>
            <a:off x="688974" y="1862138"/>
            <a:ext cx="12005621" cy="1374775"/>
          </a:xfrm>
          <a:prstGeom prst="rect">
            <a:avLst/>
          </a:prstGeom>
          <a:noFill/>
          <a:ln w="9525">
            <a:noFill/>
            <a:miter lim="800000"/>
            <a:headEnd/>
            <a:tailEnd/>
          </a:ln>
        </p:spPr>
        <p:txBody>
          <a:bodyPr wrap="square">
            <a:spAutoFit/>
          </a:bodyPr>
          <a:lstStyle/>
          <a:p>
            <a:pPr defTabSz="914400">
              <a:lnSpc>
                <a:spcPct val="150000"/>
              </a:lnSpc>
            </a:pPr>
            <a:r>
              <a:rPr lang="en-US" altLang="zh-CN" sz="2800" b="1" dirty="0">
                <a:solidFill>
                  <a:srgbClr val="0000CC"/>
                </a:solidFill>
                <a:latin typeface="Times New Roman" pitchFamily="18" charset="0"/>
                <a:ea typeface="微软雅黑" pitchFamily="34" charset="-122"/>
                <a:cs typeface="Times New Roman" pitchFamily="18" charset="0"/>
              </a:rPr>
              <a:t>	</a:t>
            </a:r>
            <a:r>
              <a:rPr lang="zh-CN" altLang="en-US" sz="2800" b="1" dirty="0">
                <a:solidFill>
                  <a:srgbClr val="0000CC"/>
                </a:solidFill>
                <a:latin typeface="Times New Roman" pitchFamily="18" charset="0"/>
                <a:ea typeface="微软雅黑" pitchFamily="34" charset="-122"/>
                <a:cs typeface="Times New Roman" pitchFamily="18" charset="0"/>
              </a:rPr>
              <a:t>位置分辨率</a:t>
            </a:r>
            <a:r>
              <a:rPr lang="zh-CN" altLang="en-US" sz="2800" b="1" dirty="0">
                <a:latin typeface="Times New Roman" pitchFamily="18" charset="0"/>
                <a:ea typeface="微软雅黑" pitchFamily="34" charset="-122"/>
                <a:cs typeface="Times New Roman" pitchFamily="18" charset="0"/>
              </a:rPr>
              <a:t>是指</a:t>
            </a:r>
            <a:r>
              <a:rPr lang="en-US" altLang="zh-CN" sz="2800" b="1" dirty="0">
                <a:latin typeface="Times New Roman" pitchFamily="18" charset="0"/>
                <a:ea typeface="微软雅黑" pitchFamily="34" charset="-122"/>
                <a:cs typeface="Times New Roman" pitchFamily="18" charset="0"/>
              </a:rPr>
              <a:t>PSD</a:t>
            </a:r>
            <a:r>
              <a:rPr lang="zh-CN" altLang="en-US" sz="2800" b="1" dirty="0">
                <a:latin typeface="Times New Roman" pitchFamily="18" charset="0"/>
                <a:ea typeface="微软雅黑" pitchFamily="34" charset="-122"/>
                <a:cs typeface="Times New Roman" pitchFamily="18" charset="0"/>
              </a:rPr>
              <a:t>最小可探测的光斑移动距离，主要受器件尺寸、信噪比等因素的影响。</a:t>
            </a:r>
          </a:p>
        </p:txBody>
      </p:sp>
      <p:graphicFrame>
        <p:nvGraphicFramePr>
          <p:cNvPr id="11269" name="Object 5"/>
          <p:cNvGraphicFramePr>
            <a:graphicFrameLocks noChangeAspect="1"/>
          </p:cNvGraphicFramePr>
          <p:nvPr/>
        </p:nvGraphicFramePr>
        <p:xfrm>
          <a:off x="2306637" y="3663124"/>
          <a:ext cx="2232025" cy="893762"/>
        </p:xfrm>
        <a:graphic>
          <a:graphicData uri="http://schemas.openxmlformats.org/presentationml/2006/ole">
            <mc:AlternateContent xmlns:mc="http://schemas.openxmlformats.org/markup-compatibility/2006">
              <mc:Choice xmlns:v="urn:schemas-microsoft-com:vml" Requires="v">
                <p:oleObj spid="_x0000_s26641" name="公式" r:id="rId3" imgW="965160" imgH="406080" progId="Equation.3">
                  <p:embed/>
                </p:oleObj>
              </mc:Choice>
              <mc:Fallback>
                <p:oleObj name="公式" r:id="rId3" imgW="965160" imgH="406080" progId="Equation.3">
                  <p:embed/>
                  <p:pic>
                    <p:nvPicPr>
                      <p:cNvPr id="0" name=""/>
                      <p:cNvPicPr>
                        <a:picLocks noChangeAspect="1" noChangeArrowheads="1"/>
                      </p:cNvPicPr>
                      <p:nvPr/>
                    </p:nvPicPr>
                    <p:blipFill>
                      <a:blip r:embed="rId4"/>
                      <a:srcRect/>
                      <a:stretch>
                        <a:fillRect/>
                      </a:stretch>
                    </p:blipFill>
                    <p:spPr bwMode="auto">
                      <a:xfrm>
                        <a:off x="2306637" y="3663124"/>
                        <a:ext cx="2232025" cy="893762"/>
                      </a:xfrm>
                      <a:prstGeom prst="rect">
                        <a:avLst/>
                      </a:prstGeom>
                      <a:solidFill>
                        <a:srgbClr val="FFCC00"/>
                      </a:solidFill>
                    </p:spPr>
                  </p:pic>
                </p:oleObj>
              </mc:Fallback>
            </mc:AlternateContent>
          </a:graphicData>
        </a:graphic>
      </p:graphicFrame>
      <p:sp>
        <p:nvSpPr>
          <p:cNvPr id="6" name="右箭头 5"/>
          <p:cNvSpPr/>
          <p:nvPr/>
        </p:nvSpPr>
        <p:spPr>
          <a:xfrm>
            <a:off x="5208284" y="3976655"/>
            <a:ext cx="1822450" cy="266700"/>
          </a:xfrm>
          <a:prstGeom prst="rightArrow">
            <a:avLst/>
          </a:prstGeom>
          <a:solidFill>
            <a:srgbClr val="0000CC"/>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sz="2800" b="1"/>
          </a:p>
        </p:txBody>
      </p:sp>
      <p:sp>
        <p:nvSpPr>
          <p:cNvPr id="9" name="TextBox 6"/>
          <p:cNvSpPr txBox="1">
            <a:spLocks noChangeArrowheads="1"/>
          </p:cNvSpPr>
          <p:nvPr/>
        </p:nvSpPr>
        <p:spPr bwMode="auto">
          <a:xfrm>
            <a:off x="5515245" y="3457543"/>
            <a:ext cx="1022350" cy="519112"/>
          </a:xfrm>
          <a:prstGeom prst="rect">
            <a:avLst/>
          </a:prstGeom>
          <a:noFill/>
          <a:ln w="9525">
            <a:noFill/>
            <a:miter lim="800000"/>
            <a:headEnd/>
            <a:tailEnd/>
          </a:ln>
        </p:spPr>
        <p:txBody>
          <a:bodyPr>
            <a:spAutoFit/>
          </a:bodyPr>
          <a:lstStyle/>
          <a:p>
            <a:pPr algn="ctr" defTabSz="914400"/>
            <a:r>
              <a:rPr lang="zh-CN" altLang="en-US" sz="2800" b="1" dirty="0">
                <a:solidFill>
                  <a:srgbClr val="0000CC"/>
                </a:solidFill>
                <a:latin typeface="微软雅黑" pitchFamily="34" charset="-122"/>
                <a:ea typeface="微软雅黑" pitchFamily="34" charset="-122"/>
              </a:rPr>
              <a:t>微分</a:t>
            </a:r>
          </a:p>
        </p:txBody>
      </p:sp>
      <p:sp>
        <p:nvSpPr>
          <p:cNvPr id="8" name="TextBox 7"/>
          <p:cNvSpPr txBox="1">
            <a:spLocks noChangeArrowheads="1"/>
          </p:cNvSpPr>
          <p:nvPr/>
        </p:nvSpPr>
        <p:spPr bwMode="auto">
          <a:xfrm>
            <a:off x="777875" y="4866769"/>
            <a:ext cx="12169640" cy="1200329"/>
          </a:xfrm>
          <a:prstGeom prst="rect">
            <a:avLst/>
          </a:prstGeom>
          <a:noFill/>
          <a:ln w="9525">
            <a:noFill/>
            <a:miter lim="800000"/>
            <a:headEnd/>
            <a:tailEnd/>
          </a:ln>
        </p:spPr>
        <p:txBody>
          <a:bodyPr wrap="square">
            <a:spAutoFit/>
          </a:bodyPr>
          <a:lstStyle/>
          <a:p>
            <a:pPr defTabSz="914400">
              <a:lnSpc>
                <a:spcPct val="150000"/>
              </a:lnSpc>
            </a:pPr>
            <a:r>
              <a:rPr lang="zh-CN" altLang="en-US" sz="2400" b="1" dirty="0">
                <a:latin typeface="Times New Roman" pitchFamily="18" charset="0"/>
                <a:ea typeface="微软雅黑" pitchFamily="34" charset="-122"/>
                <a:cs typeface="Times New Roman" pitchFamily="18" charset="0"/>
              </a:rPr>
              <a:t>位置分辨率取决于此时输出电流所包含的噪声成分。因此，如果</a:t>
            </a:r>
            <a:r>
              <a:rPr lang="en-US" altLang="zh-CN" sz="2400" b="1" dirty="0">
                <a:latin typeface="Times New Roman" pitchFamily="18" charset="0"/>
                <a:ea typeface="微软雅黑" pitchFamily="34" charset="-122"/>
                <a:cs typeface="Times New Roman" pitchFamily="18" charset="0"/>
              </a:rPr>
              <a:t>PSD</a:t>
            </a:r>
            <a:r>
              <a:rPr lang="zh-CN" altLang="en-US" sz="2400" b="1" dirty="0">
                <a:latin typeface="Times New Roman" pitchFamily="18" charset="0"/>
                <a:ea typeface="微软雅黑" pitchFamily="34" charset="-122"/>
                <a:cs typeface="Times New Roman" pitchFamily="18" charset="0"/>
              </a:rPr>
              <a:t>的噪声电流为</a:t>
            </a:r>
            <a:r>
              <a:rPr lang="en-US" altLang="zh-CN" sz="2400" b="1" i="1" dirty="0">
                <a:latin typeface="Times New Roman" pitchFamily="18" charset="0"/>
                <a:ea typeface="微软雅黑" pitchFamily="34" charset="-122"/>
                <a:cs typeface="Times New Roman" pitchFamily="18" charset="0"/>
              </a:rPr>
              <a:t>i</a:t>
            </a:r>
            <a:r>
              <a:rPr lang="en-US" altLang="zh-CN" sz="2400" b="1" i="1" baseline="-25000" dirty="0">
                <a:latin typeface="Times New Roman" pitchFamily="18" charset="0"/>
                <a:ea typeface="微软雅黑" pitchFamily="34" charset="-122"/>
                <a:cs typeface="Times New Roman" pitchFamily="18" charset="0"/>
              </a:rPr>
              <a:t>n</a:t>
            </a:r>
            <a:r>
              <a:rPr lang="en-US" altLang="zh-CN" sz="2400" b="1" dirty="0">
                <a:latin typeface="Times New Roman" pitchFamily="18" charset="0"/>
                <a:ea typeface="微软雅黑" pitchFamily="34" charset="-122"/>
                <a:cs typeface="Times New Roman" pitchFamily="18" charset="0"/>
              </a:rPr>
              <a:t> </a:t>
            </a:r>
            <a:r>
              <a:rPr lang="zh-CN" altLang="en-US" sz="2400" b="1" dirty="0">
                <a:latin typeface="Times New Roman" pitchFamily="18" charset="0"/>
                <a:ea typeface="微软雅黑" pitchFamily="34" charset="-122"/>
                <a:cs typeface="Times New Roman" pitchFamily="18" charset="0"/>
              </a:rPr>
              <a:t>，则位置分辨率</a:t>
            </a:r>
            <a:r>
              <a:rPr lang="en-US" sz="2400" b="1" dirty="0">
                <a:latin typeface="Times New Roman" pitchFamily="18" charset="0"/>
                <a:ea typeface="微软雅黑" pitchFamily="34" charset="-122"/>
                <a:cs typeface="Times New Roman" pitchFamily="18" charset="0"/>
              </a:rPr>
              <a:t> </a:t>
            </a:r>
            <a:r>
              <a:rPr lang="zh-CN" altLang="en-US" sz="2400" b="1" dirty="0">
                <a:latin typeface="Times New Roman" pitchFamily="18" charset="0"/>
                <a:ea typeface="微软雅黑" pitchFamily="34" charset="-122"/>
                <a:cs typeface="Times New Roman" pitchFamily="18" charset="0"/>
              </a:rPr>
              <a:t>为：</a:t>
            </a:r>
          </a:p>
        </p:txBody>
      </p:sp>
      <p:graphicFrame>
        <p:nvGraphicFramePr>
          <p:cNvPr id="5" name="Object 4"/>
          <p:cNvGraphicFramePr>
            <a:graphicFrameLocks noChangeAspect="1"/>
          </p:cNvGraphicFramePr>
          <p:nvPr/>
        </p:nvGraphicFramePr>
        <p:xfrm>
          <a:off x="6061332" y="5987612"/>
          <a:ext cx="1704975" cy="866775"/>
        </p:xfrm>
        <a:graphic>
          <a:graphicData uri="http://schemas.openxmlformats.org/presentationml/2006/ole">
            <mc:AlternateContent xmlns:mc="http://schemas.openxmlformats.org/markup-compatibility/2006">
              <mc:Choice xmlns:v="urn:schemas-microsoft-com:vml" Requires="v">
                <p:oleObj spid="_x0000_s26642" name="Equation" r:id="rId5" imgW="736560" imgH="393480" progId="Equation.DSMT4">
                  <p:embed/>
                </p:oleObj>
              </mc:Choice>
              <mc:Fallback>
                <p:oleObj name="Equation" r:id="rId5" imgW="736560" imgH="39348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61332" y="5987612"/>
                        <a:ext cx="1704975" cy="866775"/>
                      </a:xfrm>
                      <a:prstGeom prst="rect">
                        <a:avLst/>
                      </a:prstGeom>
                      <a:solidFill>
                        <a:srgbClr val="FFCC00"/>
                      </a:solidFill>
                    </p:spPr>
                  </p:pic>
                </p:oleObj>
              </mc:Fallback>
            </mc:AlternateContent>
          </a:graphicData>
        </a:graphic>
      </p:graphicFrame>
      <p:graphicFrame>
        <p:nvGraphicFramePr>
          <p:cNvPr id="10" name="对象 9"/>
          <p:cNvGraphicFramePr>
            <a:graphicFrameLocks noChangeAspect="1"/>
          </p:cNvGraphicFramePr>
          <p:nvPr/>
        </p:nvGraphicFramePr>
        <p:xfrm>
          <a:off x="7553394" y="3638550"/>
          <a:ext cx="2114550" cy="892175"/>
        </p:xfrm>
        <a:graphic>
          <a:graphicData uri="http://schemas.openxmlformats.org/presentationml/2006/ole">
            <mc:AlternateContent xmlns:mc="http://schemas.openxmlformats.org/markup-compatibility/2006">
              <mc:Choice xmlns:v="urn:schemas-microsoft-com:vml" Requires="v">
                <p:oleObj spid="_x0000_s26643" name="公式" r:id="rId7" imgW="914400" imgH="406080" progId="Equation.3">
                  <p:embed/>
                </p:oleObj>
              </mc:Choice>
              <mc:Fallback>
                <p:oleObj name="公式" r:id="rId7" imgW="914400" imgH="406080" progId="Equation.3">
                  <p:embed/>
                  <p:pic>
                    <p:nvPicPr>
                      <p:cNvPr id="0" name=""/>
                      <p:cNvPicPr>
                        <a:picLocks noChangeAspect="1" noChangeArrowheads="1"/>
                      </p:cNvPicPr>
                      <p:nvPr/>
                    </p:nvPicPr>
                    <p:blipFill>
                      <a:blip r:embed="rId8"/>
                      <a:srcRect/>
                      <a:stretch>
                        <a:fillRect/>
                      </a:stretch>
                    </p:blipFill>
                    <p:spPr bwMode="auto">
                      <a:xfrm>
                        <a:off x="7553394" y="3638550"/>
                        <a:ext cx="2114550" cy="892175"/>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6" name="组合 15">
            <a:extLst>
              <a:ext uri="{FF2B5EF4-FFF2-40B4-BE49-F238E27FC236}">
                <a16:creationId xmlns:a16="http://schemas.microsoft.com/office/drawing/2014/main" id="{F26838BA-C82F-4CD5-A5DF-1DD7F97CFB70}"/>
              </a:ext>
            </a:extLst>
          </p:cNvPr>
          <p:cNvGrpSpPr/>
          <p:nvPr/>
        </p:nvGrpSpPr>
        <p:grpSpPr>
          <a:xfrm>
            <a:off x="0" y="293282"/>
            <a:ext cx="13161246" cy="7421968"/>
            <a:chOff x="0" y="293282"/>
            <a:chExt cx="13161246" cy="7421968"/>
          </a:xfrm>
        </p:grpSpPr>
        <p:sp>
          <p:nvSpPr>
            <p:cNvPr id="22" name="文本框 60">
              <a:extLst>
                <a:ext uri="{FF2B5EF4-FFF2-40B4-BE49-F238E27FC236}">
                  <a16:creationId xmlns:a16="http://schemas.microsoft.com/office/drawing/2014/main" id="{83FBE77A-A9D7-42CA-817C-28206246DB43}"/>
                </a:ext>
              </a:extLst>
            </p:cNvPr>
            <p:cNvSpPr txBox="1"/>
            <p:nvPr/>
          </p:nvSpPr>
          <p:spPr>
            <a:xfrm>
              <a:off x="1364781" y="293282"/>
              <a:ext cx="3569826"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主要特性参数</a:t>
              </a:r>
            </a:p>
          </p:txBody>
        </p:sp>
        <p:sp>
          <p:nvSpPr>
            <p:cNvPr id="23" name="矩形 22">
              <a:extLst>
                <a:ext uri="{FF2B5EF4-FFF2-40B4-BE49-F238E27FC236}">
                  <a16:creationId xmlns:a16="http://schemas.microsoft.com/office/drawing/2014/main" id="{1B3B15D0-7609-4855-9782-F47296176908}"/>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4" name="矩形 23">
              <a:extLst>
                <a:ext uri="{FF2B5EF4-FFF2-40B4-BE49-F238E27FC236}">
                  <a16:creationId xmlns:a16="http://schemas.microsoft.com/office/drawing/2014/main" id="{546C6EDA-8258-451C-8922-63F97EE1D94A}"/>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a:extLst>
                <a:ext uri="{FF2B5EF4-FFF2-40B4-BE49-F238E27FC236}">
                  <a16:creationId xmlns:a16="http://schemas.microsoft.com/office/drawing/2014/main" id="{D31E13B4-293C-4158-B00B-E3F8CEE9A8EB}"/>
                </a:ext>
              </a:extLst>
            </p:cNvPr>
            <p:cNvSpPr/>
            <p:nvPr/>
          </p:nvSpPr>
          <p:spPr>
            <a:xfrm>
              <a:off x="304801" y="293282"/>
              <a:ext cx="979824"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4.7.3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6" name="直接连接符 58">
              <a:extLst>
                <a:ext uri="{FF2B5EF4-FFF2-40B4-BE49-F238E27FC236}">
                  <a16:creationId xmlns:a16="http://schemas.microsoft.com/office/drawing/2014/main" id="{86FAF7AA-96F2-4CB6-B9D1-062D3FDE377B}"/>
                </a:ext>
              </a:extLst>
            </p:cNvPr>
            <p:cNvCxnSpPr>
              <a:cxnSpLocks/>
            </p:cNvCxnSpPr>
            <p:nvPr/>
          </p:nvCxnSpPr>
          <p:spPr>
            <a:xfrm>
              <a:off x="1450506" y="710998"/>
              <a:ext cx="3336956"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7" name="矩形 26">
              <a:extLst>
                <a:ext uri="{FF2B5EF4-FFF2-40B4-BE49-F238E27FC236}">
                  <a16:creationId xmlns:a16="http://schemas.microsoft.com/office/drawing/2014/main" id="{FA577A3A-CD56-450D-A1E0-A0F07806F285}"/>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8" name="矩形 27">
              <a:extLst>
                <a:ext uri="{FF2B5EF4-FFF2-40B4-BE49-F238E27FC236}">
                  <a16:creationId xmlns:a16="http://schemas.microsoft.com/office/drawing/2014/main" id="{F59D0872-4544-498B-AA32-1EAD0F486E3E}"/>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extLst>
      <p:ext uri="{BB962C8B-B14F-4D97-AF65-F5344CB8AC3E}">
        <p14:creationId xmlns:p14="http://schemas.microsoft.com/office/powerpoint/2010/main" val="988376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ox(i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1269"/>
                                        </p:tgtEl>
                                        <p:attrNameLst>
                                          <p:attrName>style.visibility</p:attrName>
                                        </p:attrNameLst>
                                      </p:cBhvr>
                                      <p:to>
                                        <p:strVal val="visible"/>
                                      </p:to>
                                    </p:set>
                                    <p:animEffect transition="in" filter="box(in)">
                                      <p:cBhvr>
                                        <p:cTn id="17" dur="500"/>
                                        <p:tgtEl>
                                          <p:spTgt spid="11269"/>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ox(in)">
                                      <p:cBhvr>
                                        <p:cTn id="22" dur="500"/>
                                        <p:tgtEl>
                                          <p:spTgt spid="6"/>
                                        </p:tgtEl>
                                      </p:cBhvr>
                                    </p:animEffect>
                                  </p:childTnLst>
                                </p:cTn>
                              </p:par>
                              <p:par>
                                <p:cTn id="23" presetID="4" presetClass="entr" presetSubtype="16"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box(in)">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4" presetClass="entr" presetSubtype="16"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box(in)">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4" presetClass="entr" presetSubtype="16"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box(in)">
                                      <p:cBhvr>
                                        <p:cTn id="35" dur="500"/>
                                        <p:tgtEl>
                                          <p:spTgt spid="8"/>
                                        </p:tgtEl>
                                      </p:cBhvr>
                                    </p:animEffect>
                                  </p:childTnLst>
                                </p:cTn>
                              </p:par>
                            </p:childTnLst>
                          </p:cTn>
                        </p:par>
                      </p:childTnLst>
                    </p:cTn>
                  </p:par>
                  <p:par>
                    <p:cTn id="36" fill="hold">
                      <p:stCondLst>
                        <p:cond delay="indefinite"/>
                      </p:stCondLst>
                      <p:childTnLst>
                        <p:par>
                          <p:cTn id="37" fill="hold">
                            <p:stCondLst>
                              <p:cond delay="0"/>
                            </p:stCondLst>
                            <p:childTnLst>
                              <p:par>
                                <p:cTn id="38" presetID="4" presetClass="entr" presetSubtype="16" fill="hold" nodeType="click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box(in)">
                                      <p:cBhvr>
                                        <p:cTn id="4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6" grpId="0" animBg="1"/>
      <p:bldP spid="9"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a:spLocks noChangeArrowheads="1"/>
          </p:cNvSpPr>
          <p:nvPr/>
        </p:nvSpPr>
        <p:spPr bwMode="auto">
          <a:xfrm>
            <a:off x="4891356" y="1170865"/>
            <a:ext cx="3155950" cy="579437"/>
          </a:xfrm>
          <a:prstGeom prst="rect">
            <a:avLst/>
          </a:prstGeom>
          <a:noFill/>
          <a:ln w="9525">
            <a:noFill/>
            <a:miter lim="800000"/>
            <a:headEnd/>
            <a:tailEnd/>
          </a:ln>
        </p:spPr>
        <p:txBody>
          <a:bodyPr>
            <a:spAutoFit/>
          </a:bodyPr>
          <a:lstStyle/>
          <a:p>
            <a:pPr algn="ctr" defTabSz="914400"/>
            <a:r>
              <a:rPr lang="en-US" altLang="zh-CN" sz="3200" b="1" dirty="0">
                <a:solidFill>
                  <a:srgbClr val="0000CC"/>
                </a:solidFill>
                <a:latin typeface="微软雅黑" pitchFamily="34" charset="-122"/>
                <a:ea typeface="微软雅黑" pitchFamily="34" charset="-122"/>
              </a:rPr>
              <a:t>3 </a:t>
            </a:r>
            <a:r>
              <a:rPr lang="zh-CN" altLang="en-US" sz="3200" b="1" dirty="0">
                <a:solidFill>
                  <a:srgbClr val="0000CC"/>
                </a:solidFill>
                <a:latin typeface="微软雅黑" pitchFamily="34" charset="-122"/>
                <a:ea typeface="微软雅黑" pitchFamily="34" charset="-122"/>
              </a:rPr>
              <a:t>位置检测特性</a:t>
            </a:r>
          </a:p>
        </p:txBody>
      </p:sp>
      <p:graphicFrame>
        <p:nvGraphicFramePr>
          <p:cNvPr id="131074" name="Object 2"/>
          <p:cNvGraphicFramePr>
            <a:graphicFrameLocks noChangeAspect="1"/>
          </p:cNvGraphicFramePr>
          <p:nvPr>
            <p:extLst>
              <p:ext uri="{D42A27DB-BD31-4B8C-83A1-F6EECF244321}">
                <p14:modId xmlns:p14="http://schemas.microsoft.com/office/powerpoint/2010/main" val="4175919268"/>
              </p:ext>
            </p:extLst>
          </p:nvPr>
        </p:nvGraphicFramePr>
        <p:xfrm>
          <a:off x="4243388" y="1952625"/>
          <a:ext cx="5006975" cy="3354388"/>
        </p:xfrm>
        <a:graphic>
          <a:graphicData uri="http://schemas.openxmlformats.org/presentationml/2006/ole">
            <mc:AlternateContent xmlns:mc="http://schemas.openxmlformats.org/markup-compatibility/2006">
              <mc:Choice xmlns:v="urn:schemas-microsoft-com:vml" Requires="v">
                <p:oleObj spid="_x0000_s27655" name="Visio" r:id="rId3" imgW="3238485" imgH="2171856" progId="Visio.Drawing.11">
                  <p:embed/>
                </p:oleObj>
              </mc:Choice>
              <mc:Fallback>
                <p:oleObj name="Visio" r:id="rId3" imgW="3238485" imgH="2171856" progId="Visio.Drawing.11">
                  <p:embed/>
                  <p:pic>
                    <p:nvPicPr>
                      <p:cNvPr id="0" name=""/>
                      <p:cNvPicPr>
                        <a:picLocks noChangeAspect="1" noChangeArrowheads="1"/>
                      </p:cNvPicPr>
                      <p:nvPr/>
                    </p:nvPicPr>
                    <p:blipFill>
                      <a:blip r:embed="rId4"/>
                      <a:srcRect/>
                      <a:stretch>
                        <a:fillRect/>
                      </a:stretch>
                    </p:blipFill>
                    <p:spPr bwMode="auto">
                      <a:xfrm>
                        <a:off x="4243388" y="1952625"/>
                        <a:ext cx="5006975" cy="3354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TextBox 3"/>
          <p:cNvSpPr txBox="1">
            <a:spLocks noChangeArrowheads="1"/>
          </p:cNvSpPr>
          <p:nvPr/>
        </p:nvSpPr>
        <p:spPr bwMode="auto">
          <a:xfrm>
            <a:off x="720724" y="5304514"/>
            <a:ext cx="11497215" cy="1676400"/>
          </a:xfrm>
          <a:prstGeom prst="rect">
            <a:avLst/>
          </a:prstGeom>
          <a:noFill/>
          <a:ln w="9525">
            <a:noFill/>
            <a:miter lim="800000"/>
            <a:headEnd/>
            <a:tailEnd/>
          </a:ln>
        </p:spPr>
        <p:txBody>
          <a:bodyPr wrap="square">
            <a:spAutoFit/>
          </a:bodyPr>
          <a:lstStyle/>
          <a:p>
            <a:pPr defTabSz="914400">
              <a:lnSpc>
                <a:spcPct val="200000"/>
              </a:lnSpc>
            </a:pPr>
            <a:r>
              <a:rPr lang="zh-CN" altLang="en-US" sz="2800" b="1" dirty="0">
                <a:latin typeface="Times New Roman" pitchFamily="18" charset="0"/>
                <a:ea typeface="微软雅黑" pitchFamily="34" charset="-122"/>
                <a:cs typeface="Times New Roman" pitchFamily="18" charset="0"/>
              </a:rPr>
              <a:t>        </a:t>
            </a:r>
            <a:r>
              <a:rPr lang="zh-CN" altLang="en-US" sz="2400" b="1" dirty="0">
                <a:latin typeface="Times New Roman" pitchFamily="18" charset="0"/>
                <a:ea typeface="微软雅黑" pitchFamily="34" charset="-122"/>
                <a:cs typeface="Times New Roman" pitchFamily="18" charset="0"/>
              </a:rPr>
              <a:t>越接近中心位置的测量误差越小。因此，利用</a:t>
            </a:r>
            <a:r>
              <a:rPr lang="en-US" altLang="zh-CN" sz="2400" b="1" dirty="0">
                <a:latin typeface="Times New Roman" pitchFamily="18" charset="0"/>
                <a:ea typeface="微软雅黑" pitchFamily="34" charset="-122"/>
                <a:cs typeface="Times New Roman" pitchFamily="18" charset="0"/>
              </a:rPr>
              <a:t>PSD</a:t>
            </a:r>
            <a:r>
              <a:rPr lang="zh-CN" altLang="en-US" sz="2400" b="1" dirty="0">
                <a:latin typeface="Times New Roman" pitchFamily="18" charset="0"/>
                <a:ea typeface="微软雅黑" pitchFamily="34" charset="-122"/>
                <a:cs typeface="Times New Roman" pitchFamily="18" charset="0"/>
              </a:rPr>
              <a:t>来检测光斑位置时，应尽量使光点靠近器件中心。</a:t>
            </a:r>
          </a:p>
        </p:txBody>
      </p:sp>
      <p:grpSp>
        <p:nvGrpSpPr>
          <p:cNvPr id="11" name="组合 10">
            <a:extLst>
              <a:ext uri="{FF2B5EF4-FFF2-40B4-BE49-F238E27FC236}">
                <a16:creationId xmlns:a16="http://schemas.microsoft.com/office/drawing/2014/main" id="{4D8830A0-4982-46D6-91E9-8185477DEF3B}"/>
              </a:ext>
            </a:extLst>
          </p:cNvPr>
          <p:cNvGrpSpPr/>
          <p:nvPr/>
        </p:nvGrpSpPr>
        <p:grpSpPr>
          <a:xfrm>
            <a:off x="0" y="293282"/>
            <a:ext cx="13161246" cy="7421968"/>
            <a:chOff x="0" y="293282"/>
            <a:chExt cx="13161246" cy="7421968"/>
          </a:xfrm>
        </p:grpSpPr>
        <p:sp>
          <p:nvSpPr>
            <p:cNvPr id="17" name="文本框 60">
              <a:extLst>
                <a:ext uri="{FF2B5EF4-FFF2-40B4-BE49-F238E27FC236}">
                  <a16:creationId xmlns:a16="http://schemas.microsoft.com/office/drawing/2014/main" id="{A41F9208-2FC4-436A-861F-06A29C778908}"/>
                </a:ext>
              </a:extLst>
            </p:cNvPr>
            <p:cNvSpPr txBox="1"/>
            <p:nvPr/>
          </p:nvSpPr>
          <p:spPr>
            <a:xfrm>
              <a:off x="1364781" y="293282"/>
              <a:ext cx="3569826"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主要特性参数</a:t>
              </a:r>
            </a:p>
          </p:txBody>
        </p:sp>
        <p:sp>
          <p:nvSpPr>
            <p:cNvPr id="18" name="矩形 17">
              <a:extLst>
                <a:ext uri="{FF2B5EF4-FFF2-40B4-BE49-F238E27FC236}">
                  <a16:creationId xmlns:a16="http://schemas.microsoft.com/office/drawing/2014/main" id="{2FC66671-0E73-4449-AD81-BF6D3937433D}"/>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9" name="矩形 18">
              <a:extLst>
                <a:ext uri="{FF2B5EF4-FFF2-40B4-BE49-F238E27FC236}">
                  <a16:creationId xmlns:a16="http://schemas.microsoft.com/office/drawing/2014/main" id="{F0FCEAF3-7A55-411C-8541-A90983129290}"/>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a:extLst>
                <a:ext uri="{FF2B5EF4-FFF2-40B4-BE49-F238E27FC236}">
                  <a16:creationId xmlns:a16="http://schemas.microsoft.com/office/drawing/2014/main" id="{EFE98059-AF89-49C1-9259-1AE23351B3AF}"/>
                </a:ext>
              </a:extLst>
            </p:cNvPr>
            <p:cNvSpPr/>
            <p:nvPr/>
          </p:nvSpPr>
          <p:spPr>
            <a:xfrm>
              <a:off x="304801" y="293282"/>
              <a:ext cx="979824"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4.7.3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1" name="直接连接符 58">
              <a:extLst>
                <a:ext uri="{FF2B5EF4-FFF2-40B4-BE49-F238E27FC236}">
                  <a16:creationId xmlns:a16="http://schemas.microsoft.com/office/drawing/2014/main" id="{7720DD33-1822-4108-893C-A1FD3731C33E}"/>
                </a:ext>
              </a:extLst>
            </p:cNvPr>
            <p:cNvCxnSpPr>
              <a:cxnSpLocks/>
            </p:cNvCxnSpPr>
            <p:nvPr/>
          </p:nvCxnSpPr>
          <p:spPr>
            <a:xfrm>
              <a:off x="1450506" y="710998"/>
              <a:ext cx="3336956"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2" name="矩形 21">
              <a:extLst>
                <a:ext uri="{FF2B5EF4-FFF2-40B4-BE49-F238E27FC236}">
                  <a16:creationId xmlns:a16="http://schemas.microsoft.com/office/drawing/2014/main" id="{4D34C1E8-1D64-43E6-9EDE-571216546690}"/>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3" name="矩形 22">
              <a:extLst>
                <a:ext uri="{FF2B5EF4-FFF2-40B4-BE49-F238E27FC236}">
                  <a16:creationId xmlns:a16="http://schemas.microsoft.com/office/drawing/2014/main" id="{594FF439-F55D-49C7-9B1A-96D325EDF9E2}"/>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extLst>
      <p:ext uri="{BB962C8B-B14F-4D97-AF65-F5344CB8AC3E}">
        <p14:creationId xmlns:p14="http://schemas.microsoft.com/office/powerpoint/2010/main" val="660656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31074"/>
                                        </p:tgtEl>
                                        <p:attrNameLst>
                                          <p:attrName>style.visibility</p:attrName>
                                        </p:attrNameLst>
                                      </p:cBhvr>
                                      <p:to>
                                        <p:strVal val="visible"/>
                                      </p:to>
                                    </p:set>
                                    <p:animEffect transition="in" filter="box(in)">
                                      <p:cBhvr>
                                        <p:cTn id="12" dur="500"/>
                                        <p:tgtEl>
                                          <p:spTgt spid="131074"/>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ox(in)">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498010" y="2212975"/>
          <a:ext cx="12313330" cy="3375026"/>
        </p:xfrm>
        <a:graphic>
          <a:graphicData uri="http://schemas.openxmlformats.org/drawingml/2006/table">
            <a:tbl>
              <a:tblPr/>
              <a:tblGrid>
                <a:gridCol w="1051764">
                  <a:extLst>
                    <a:ext uri="{9D8B030D-6E8A-4147-A177-3AD203B41FA5}">
                      <a16:colId xmlns:a16="http://schemas.microsoft.com/office/drawing/2014/main" val="20000"/>
                    </a:ext>
                  </a:extLst>
                </a:gridCol>
                <a:gridCol w="1021835">
                  <a:extLst>
                    <a:ext uri="{9D8B030D-6E8A-4147-A177-3AD203B41FA5}">
                      <a16:colId xmlns:a16="http://schemas.microsoft.com/office/drawing/2014/main" val="20001"/>
                    </a:ext>
                  </a:extLst>
                </a:gridCol>
                <a:gridCol w="716141">
                  <a:extLst>
                    <a:ext uri="{9D8B030D-6E8A-4147-A177-3AD203B41FA5}">
                      <a16:colId xmlns:a16="http://schemas.microsoft.com/office/drawing/2014/main" val="20002"/>
                    </a:ext>
                  </a:extLst>
                </a:gridCol>
                <a:gridCol w="991907">
                  <a:extLst>
                    <a:ext uri="{9D8B030D-6E8A-4147-A177-3AD203B41FA5}">
                      <a16:colId xmlns:a16="http://schemas.microsoft.com/office/drawing/2014/main" val="20003"/>
                    </a:ext>
                  </a:extLst>
                </a:gridCol>
                <a:gridCol w="991907">
                  <a:extLst>
                    <a:ext uri="{9D8B030D-6E8A-4147-A177-3AD203B41FA5}">
                      <a16:colId xmlns:a16="http://schemas.microsoft.com/office/drawing/2014/main" val="20004"/>
                    </a:ext>
                  </a:extLst>
                </a:gridCol>
                <a:gridCol w="878607">
                  <a:extLst>
                    <a:ext uri="{9D8B030D-6E8A-4147-A177-3AD203B41FA5}">
                      <a16:colId xmlns:a16="http://schemas.microsoft.com/office/drawing/2014/main" val="20005"/>
                    </a:ext>
                  </a:extLst>
                </a:gridCol>
                <a:gridCol w="880745">
                  <a:extLst>
                    <a:ext uri="{9D8B030D-6E8A-4147-A177-3AD203B41FA5}">
                      <a16:colId xmlns:a16="http://schemas.microsoft.com/office/drawing/2014/main" val="20006"/>
                    </a:ext>
                  </a:extLst>
                </a:gridCol>
                <a:gridCol w="938464">
                  <a:extLst>
                    <a:ext uri="{9D8B030D-6E8A-4147-A177-3AD203B41FA5}">
                      <a16:colId xmlns:a16="http://schemas.microsoft.com/office/drawing/2014/main" val="20007"/>
                    </a:ext>
                  </a:extLst>
                </a:gridCol>
                <a:gridCol w="961978">
                  <a:extLst>
                    <a:ext uri="{9D8B030D-6E8A-4147-A177-3AD203B41FA5}">
                      <a16:colId xmlns:a16="http://schemas.microsoft.com/office/drawing/2014/main" val="20008"/>
                    </a:ext>
                  </a:extLst>
                </a:gridCol>
                <a:gridCol w="1030386">
                  <a:extLst>
                    <a:ext uri="{9D8B030D-6E8A-4147-A177-3AD203B41FA5}">
                      <a16:colId xmlns:a16="http://schemas.microsoft.com/office/drawing/2014/main" val="20009"/>
                    </a:ext>
                  </a:extLst>
                </a:gridCol>
                <a:gridCol w="1028248">
                  <a:extLst>
                    <a:ext uri="{9D8B030D-6E8A-4147-A177-3AD203B41FA5}">
                      <a16:colId xmlns:a16="http://schemas.microsoft.com/office/drawing/2014/main" val="20010"/>
                    </a:ext>
                  </a:extLst>
                </a:gridCol>
                <a:gridCol w="910674">
                  <a:extLst>
                    <a:ext uri="{9D8B030D-6E8A-4147-A177-3AD203B41FA5}">
                      <a16:colId xmlns:a16="http://schemas.microsoft.com/office/drawing/2014/main" val="20011"/>
                    </a:ext>
                  </a:extLst>
                </a:gridCol>
                <a:gridCol w="910674">
                  <a:extLst>
                    <a:ext uri="{9D8B030D-6E8A-4147-A177-3AD203B41FA5}">
                      <a16:colId xmlns:a16="http://schemas.microsoft.com/office/drawing/2014/main" val="20012"/>
                    </a:ext>
                  </a:extLst>
                </a:gridCol>
              </a:tblGrid>
              <a:tr h="974725">
                <a:tc rowSpan="2">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600" b="1" i="0" u="none" strike="noStrike" cap="none" normalizeH="0" baseline="0" dirty="0">
                          <a:ln>
                            <a:noFill/>
                          </a:ln>
                          <a:solidFill>
                            <a:srgbClr val="000000"/>
                          </a:solidFill>
                          <a:effectLst/>
                          <a:latin typeface="Times New Roman" pitchFamily="18" charset="0"/>
                          <a:ea typeface="黑体" pitchFamily="49" charset="-122"/>
                          <a:cs typeface="Times New Roman" pitchFamily="18" charset="0"/>
                        </a:rPr>
                        <a:t>型号</a:t>
                      </a:r>
                      <a:endParaRPr kumimoji="0" lang="zh-CN" altLang="en-US" sz="16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600" b="1" i="0" u="none" strike="noStrike" cap="none" normalizeH="0" baseline="0" dirty="0">
                          <a:ln>
                            <a:noFill/>
                          </a:ln>
                          <a:solidFill>
                            <a:srgbClr val="000000"/>
                          </a:solidFill>
                          <a:effectLst/>
                          <a:latin typeface="Times New Roman" pitchFamily="18" charset="0"/>
                          <a:ea typeface="黑体" pitchFamily="49" charset="-122"/>
                          <a:cs typeface="Times New Roman" pitchFamily="18" charset="0"/>
                        </a:rPr>
                        <a:t>位置感应区</a:t>
                      </a:r>
                      <a:r>
                        <a:rPr kumimoji="0" lang="en-US" altLang="zh-CN" sz="1600" b="1" i="0" u="none" strike="noStrike" cap="none" normalizeH="0" baseline="0" dirty="0">
                          <a:ln>
                            <a:noFill/>
                          </a:ln>
                          <a:solidFill>
                            <a:srgbClr val="000000"/>
                          </a:solidFill>
                          <a:effectLst/>
                          <a:latin typeface="Times New Roman" pitchFamily="18" charset="0"/>
                          <a:ea typeface="黑体" pitchFamily="49" charset="-122"/>
                          <a:cs typeface="Times New Roman" pitchFamily="18" charset="0"/>
                        </a:rPr>
                        <a:t>(mm)</a:t>
                      </a:r>
                      <a:endParaRPr kumimoji="0" lang="zh-CN" altLang="zh-CN" sz="16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gridSpan="2">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响应度</a:t>
                      </a:r>
                      <a:endParaRPr kumimoji="0" lang="zh-CN" altLang="en-US"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a:t>
                      </a: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A/ W</a:t>
                      </a:r>
                      <a:r>
                        <a:rPr kumimoji="0" lang="zh-CN" altLang="en-US"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a:t>
                      </a:r>
                      <a:endParaRPr kumimoji="0" lang="zh-CN" altLang="en-US"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600" b="1" i="0" u="none" strike="noStrike" cap="none" normalizeH="0" baseline="0" dirty="0">
                          <a:ln>
                            <a:noFill/>
                          </a:ln>
                          <a:solidFill>
                            <a:srgbClr val="000000"/>
                          </a:solidFill>
                          <a:effectLst/>
                          <a:latin typeface="Times New Roman" pitchFamily="18" charset="0"/>
                          <a:ea typeface="黑体" pitchFamily="49" charset="-122"/>
                          <a:cs typeface="Times New Roman" pitchFamily="18" charset="0"/>
                        </a:rPr>
                        <a:t>位置检测误差</a:t>
                      </a:r>
                      <a:endParaRPr kumimoji="0" lang="zh-CN" altLang="en-US" sz="16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600" b="1" i="0" u="none" strike="noStrike" cap="none" normalizeH="0" baseline="0" dirty="0">
                          <a:ln>
                            <a:noFill/>
                          </a:ln>
                          <a:solidFill>
                            <a:srgbClr val="000000"/>
                          </a:solidFill>
                          <a:effectLst/>
                          <a:latin typeface="Times New Roman" pitchFamily="18" charset="0"/>
                          <a:ea typeface="黑体" pitchFamily="49" charset="-122"/>
                          <a:cs typeface="Times New Roman" pitchFamily="18" charset="0"/>
                        </a:rPr>
                        <a:t>（</a:t>
                      </a:r>
                      <a:r>
                        <a:rPr kumimoji="0" lang="en-US" altLang="zh-CN" sz="1600" b="1" i="0" u="none" strike="noStrike" cap="none" normalizeH="0" baseline="0" dirty="0">
                          <a:ln>
                            <a:noFill/>
                          </a:ln>
                          <a:solidFill>
                            <a:srgbClr val="000000"/>
                          </a:solidFill>
                          <a:effectLst/>
                          <a:latin typeface="Times New Roman" pitchFamily="18" charset="0"/>
                          <a:ea typeface="黑体" pitchFamily="49" charset="-122"/>
                          <a:cs typeface="Times New Roman" pitchFamily="18" charset="0"/>
                        </a:rPr>
                        <a:t>um</a:t>
                      </a:r>
                      <a:r>
                        <a:rPr kumimoji="0" lang="zh-CN" altLang="en-US" sz="1600" b="1" i="0" u="none" strike="noStrike" cap="none" normalizeH="0" baseline="0" dirty="0">
                          <a:ln>
                            <a:noFill/>
                          </a:ln>
                          <a:solidFill>
                            <a:srgbClr val="000000"/>
                          </a:solidFill>
                          <a:effectLst/>
                          <a:latin typeface="Times New Roman" pitchFamily="18" charset="0"/>
                          <a:ea typeface="黑体" pitchFamily="49" charset="-122"/>
                          <a:cs typeface="Times New Roman" pitchFamily="18" charset="0"/>
                        </a:rPr>
                        <a:t>）</a:t>
                      </a:r>
                      <a:endParaRPr kumimoji="0" lang="zh-CN" altLang="en-US" sz="16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gridSpan="2">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600" b="1" i="0" u="none" strike="noStrike" cap="none" normalizeH="0" baseline="0" dirty="0">
                          <a:ln>
                            <a:noFill/>
                          </a:ln>
                          <a:solidFill>
                            <a:srgbClr val="000000"/>
                          </a:solidFill>
                          <a:effectLst/>
                          <a:latin typeface="Times New Roman" pitchFamily="18" charset="0"/>
                          <a:ea typeface="黑体" pitchFamily="49" charset="-122"/>
                          <a:cs typeface="Times New Roman" pitchFamily="18" charset="0"/>
                        </a:rPr>
                        <a:t>暗电流</a:t>
                      </a:r>
                      <a:endParaRPr kumimoji="0" lang="zh-CN" altLang="en-US" sz="16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600" b="1" i="0" u="none" strike="noStrike" cap="none" normalizeH="0" baseline="0" dirty="0">
                          <a:ln>
                            <a:noFill/>
                          </a:ln>
                          <a:solidFill>
                            <a:srgbClr val="000000"/>
                          </a:solidFill>
                          <a:effectLst/>
                          <a:latin typeface="Times New Roman" pitchFamily="18" charset="0"/>
                          <a:ea typeface="黑体" pitchFamily="49" charset="-122"/>
                          <a:cs typeface="Times New Roman" pitchFamily="18" charset="0"/>
                        </a:rPr>
                        <a:t>（</a:t>
                      </a:r>
                      <a:r>
                        <a:rPr kumimoji="0" lang="en-US" altLang="zh-CN" sz="1600" b="1" i="0" u="none" strike="noStrike" cap="none" normalizeH="0" baseline="0" dirty="0" err="1">
                          <a:ln>
                            <a:noFill/>
                          </a:ln>
                          <a:solidFill>
                            <a:srgbClr val="000000"/>
                          </a:solidFill>
                          <a:effectLst/>
                          <a:latin typeface="Times New Roman" pitchFamily="18" charset="0"/>
                          <a:ea typeface="黑体" pitchFamily="49" charset="-122"/>
                          <a:cs typeface="Times New Roman" pitchFamily="18" charset="0"/>
                        </a:rPr>
                        <a:t>nA</a:t>
                      </a:r>
                      <a:r>
                        <a:rPr kumimoji="0" lang="zh-CN" altLang="en-US" sz="1600" b="1" i="0" u="none" strike="noStrike" cap="none" normalizeH="0" baseline="0" dirty="0">
                          <a:ln>
                            <a:noFill/>
                          </a:ln>
                          <a:solidFill>
                            <a:srgbClr val="000000"/>
                          </a:solidFill>
                          <a:effectLst/>
                          <a:latin typeface="Times New Roman" pitchFamily="18" charset="0"/>
                          <a:ea typeface="黑体" pitchFamily="49" charset="-122"/>
                          <a:cs typeface="Times New Roman" pitchFamily="18" charset="0"/>
                        </a:rPr>
                        <a:t>）</a:t>
                      </a:r>
                      <a:endParaRPr kumimoji="0" lang="zh-CN" altLang="en-US" sz="16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hMerge="1">
                  <a:txBody>
                    <a:bodyPr/>
                    <a:lstStyle/>
                    <a:p>
                      <a:endParaRPr lang="zh-CN" altLang="en-US"/>
                    </a:p>
                  </a:txBody>
                  <a:tcPr/>
                </a:tc>
                <a:tc gridSpan="2">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600" b="1" i="0" u="none" strike="noStrike" cap="none" normalizeH="0" baseline="0" dirty="0">
                          <a:ln>
                            <a:noFill/>
                          </a:ln>
                          <a:solidFill>
                            <a:srgbClr val="000000"/>
                          </a:solidFill>
                          <a:effectLst/>
                          <a:latin typeface="Times New Roman" pitchFamily="18" charset="0"/>
                          <a:ea typeface="黑体" pitchFamily="49" charset="-122"/>
                          <a:cs typeface="Times New Roman" pitchFamily="18" charset="0"/>
                        </a:rPr>
                        <a:t>电容（</a:t>
                      </a:r>
                      <a:r>
                        <a:rPr kumimoji="0" lang="en-US" altLang="zh-CN" sz="1600" b="1" i="0" u="none" strike="noStrike" cap="none" normalizeH="0" baseline="0" dirty="0">
                          <a:ln>
                            <a:noFill/>
                          </a:ln>
                          <a:solidFill>
                            <a:srgbClr val="000000"/>
                          </a:solidFill>
                          <a:effectLst/>
                          <a:latin typeface="Times New Roman" pitchFamily="18" charset="0"/>
                          <a:ea typeface="黑体" pitchFamily="49" charset="-122"/>
                          <a:cs typeface="Times New Roman" pitchFamily="18" charset="0"/>
                        </a:rPr>
                        <a:t>pF</a:t>
                      </a:r>
                      <a:r>
                        <a:rPr kumimoji="0" lang="zh-CN" altLang="en-US" sz="1600" b="1" i="0" u="none" strike="noStrike" cap="none" normalizeH="0" baseline="0" dirty="0">
                          <a:ln>
                            <a:noFill/>
                          </a:ln>
                          <a:solidFill>
                            <a:srgbClr val="000000"/>
                          </a:solidFill>
                          <a:effectLst/>
                          <a:latin typeface="Times New Roman" pitchFamily="18" charset="0"/>
                          <a:ea typeface="黑体" pitchFamily="49" charset="-122"/>
                          <a:cs typeface="Times New Roman" pitchFamily="18" charset="0"/>
                        </a:rPr>
                        <a:t>）</a:t>
                      </a:r>
                      <a:endParaRPr kumimoji="0" lang="zh-CN" altLang="en-US" sz="16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60000"/>
                        <a:lumOff val="40000"/>
                      </a:schemeClr>
                    </a:solidFill>
                  </a:tcPr>
                </a:tc>
                <a:tc hMerge="1">
                  <a:txBody>
                    <a:bodyPr/>
                    <a:lstStyle/>
                    <a:p>
                      <a:endParaRPr lang="zh-CN" altLang="en-US"/>
                    </a:p>
                  </a:txBody>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600" b="1" i="0" u="none" strike="noStrike" cap="none" normalizeH="0" baseline="0" dirty="0">
                          <a:ln>
                            <a:noFill/>
                          </a:ln>
                          <a:solidFill>
                            <a:srgbClr val="000000"/>
                          </a:solidFill>
                          <a:effectLst/>
                          <a:latin typeface="Times New Roman" pitchFamily="18" charset="0"/>
                          <a:ea typeface="黑体" pitchFamily="49" charset="-122"/>
                          <a:cs typeface="Times New Roman" pitchFamily="18" charset="0"/>
                        </a:rPr>
                        <a:t>上升</a:t>
                      </a:r>
                      <a:endParaRPr kumimoji="0" lang="zh-CN" altLang="en-US" sz="16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600" b="1" i="0" u="none" strike="noStrike" cap="none" normalizeH="0" baseline="0" dirty="0">
                          <a:ln>
                            <a:noFill/>
                          </a:ln>
                          <a:solidFill>
                            <a:srgbClr val="000000"/>
                          </a:solidFill>
                          <a:effectLst/>
                          <a:latin typeface="Times New Roman" pitchFamily="18" charset="0"/>
                          <a:ea typeface="黑体" pitchFamily="49" charset="-122"/>
                          <a:cs typeface="Times New Roman" pitchFamily="18" charset="0"/>
                        </a:rPr>
                        <a:t>时间</a:t>
                      </a:r>
                      <a:endParaRPr kumimoji="0" lang="zh-CN" altLang="en-US" sz="16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600" b="1" i="0" u="none" strike="noStrike" cap="none" normalizeH="0" baseline="0" dirty="0">
                          <a:ln>
                            <a:noFill/>
                          </a:ln>
                          <a:solidFill>
                            <a:srgbClr val="000000"/>
                          </a:solidFill>
                          <a:effectLst/>
                          <a:latin typeface="Times New Roman" pitchFamily="18" charset="0"/>
                          <a:ea typeface="黑体" pitchFamily="49" charset="-122"/>
                          <a:cs typeface="Times New Roman" pitchFamily="18" charset="0"/>
                        </a:rPr>
                        <a:t>（</a:t>
                      </a:r>
                      <a:r>
                        <a:rPr kumimoji="0" lang="en-US" altLang="zh-CN" sz="1600" b="1" i="0" u="none" strike="noStrike" cap="none" normalizeH="0" baseline="0" dirty="0" err="1">
                          <a:ln>
                            <a:noFill/>
                          </a:ln>
                          <a:solidFill>
                            <a:srgbClr val="000000"/>
                          </a:solidFill>
                          <a:effectLst/>
                          <a:latin typeface="Times New Roman" pitchFamily="18" charset="0"/>
                          <a:ea typeface="黑体" pitchFamily="49" charset="-122"/>
                          <a:cs typeface="Times New Roman" pitchFamily="18" charset="0"/>
                        </a:rPr>
                        <a:t>μs</a:t>
                      </a:r>
                      <a:r>
                        <a:rPr kumimoji="0" lang="zh-CN" altLang="en-US" sz="1600" b="1" i="0" u="none" strike="noStrike" cap="none" normalizeH="0" baseline="0" dirty="0">
                          <a:ln>
                            <a:noFill/>
                          </a:ln>
                          <a:solidFill>
                            <a:srgbClr val="000000"/>
                          </a:solidFill>
                          <a:effectLst/>
                          <a:latin typeface="Times New Roman" pitchFamily="18" charset="0"/>
                          <a:ea typeface="黑体" pitchFamily="49" charset="-122"/>
                          <a:cs typeface="Times New Roman" pitchFamily="18" charset="0"/>
                        </a:rPr>
                        <a:t>）</a:t>
                      </a:r>
                      <a:endParaRPr kumimoji="0" lang="zh-CN" altLang="en-US" sz="16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B0F0"/>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600" b="1" i="0" u="none" strike="noStrike" cap="none" normalizeH="0" baseline="0" dirty="0">
                          <a:ln>
                            <a:noFill/>
                          </a:ln>
                          <a:solidFill>
                            <a:srgbClr val="000000"/>
                          </a:solidFill>
                          <a:effectLst/>
                          <a:latin typeface="Times New Roman" pitchFamily="18" charset="0"/>
                          <a:ea typeface="黑体" pitchFamily="49" charset="-122"/>
                          <a:cs typeface="Times New Roman" pitchFamily="18" charset="0"/>
                        </a:rPr>
                        <a:t>位置</a:t>
                      </a:r>
                      <a:endParaRPr kumimoji="0" lang="zh-CN" altLang="en-US" sz="16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600" b="1" i="0" u="none" strike="noStrike" cap="none" normalizeH="0" baseline="0" dirty="0">
                          <a:ln>
                            <a:noFill/>
                          </a:ln>
                          <a:solidFill>
                            <a:srgbClr val="000000"/>
                          </a:solidFill>
                          <a:effectLst/>
                          <a:latin typeface="Times New Roman" pitchFamily="18" charset="0"/>
                          <a:ea typeface="黑体" pitchFamily="49" charset="-122"/>
                          <a:cs typeface="Times New Roman" pitchFamily="18" charset="0"/>
                        </a:rPr>
                        <a:t>检测</a:t>
                      </a:r>
                      <a:endParaRPr kumimoji="0" lang="zh-CN" altLang="en-US" sz="16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600" b="1" i="0" u="none" strike="noStrike" cap="none" normalizeH="0" baseline="0" dirty="0">
                          <a:ln>
                            <a:noFill/>
                          </a:ln>
                          <a:solidFill>
                            <a:srgbClr val="000000"/>
                          </a:solidFill>
                          <a:effectLst/>
                          <a:latin typeface="Times New Roman" pitchFamily="18" charset="0"/>
                          <a:ea typeface="黑体" pitchFamily="49" charset="-122"/>
                          <a:cs typeface="Times New Roman" pitchFamily="18" charset="0"/>
                        </a:rPr>
                        <a:t>漂移</a:t>
                      </a:r>
                      <a:r>
                        <a:rPr kumimoji="0" lang="en-US" altLang="zh-CN" sz="1600" b="1" i="0" u="none" strike="noStrike" cap="none" normalizeH="0" baseline="0" dirty="0">
                          <a:ln>
                            <a:noFill/>
                          </a:ln>
                          <a:solidFill>
                            <a:srgbClr val="000000"/>
                          </a:solidFill>
                          <a:effectLst/>
                          <a:latin typeface="Times New Roman" pitchFamily="18" charset="0"/>
                          <a:ea typeface="黑体" pitchFamily="49" charset="-122"/>
                          <a:cs typeface="Times New Roman" pitchFamily="18" charset="0"/>
                        </a:rPr>
                        <a:t>um/℃</a:t>
                      </a:r>
                      <a:endParaRPr kumimoji="0" lang="zh-CN" altLang="zh-CN" sz="16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gridSpan="2">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电极间阻值（</a:t>
                      </a: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kΩ</a:t>
                      </a:r>
                      <a:r>
                        <a:rPr kumimoji="0" lang="zh-CN" altLang="en-US"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a:t>
                      </a:r>
                      <a:endParaRPr kumimoji="0" lang="zh-CN" altLang="en-US"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0"/>
                  </a:ext>
                </a:extLst>
              </a:tr>
              <a:tr h="488950">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Min.</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dirty="0">
                          <a:ln>
                            <a:noFill/>
                          </a:ln>
                          <a:solidFill>
                            <a:srgbClr val="000000"/>
                          </a:solidFill>
                          <a:effectLst/>
                          <a:latin typeface="Times New Roman" pitchFamily="18" charset="0"/>
                          <a:ea typeface="黑体" pitchFamily="49" charset="-122"/>
                          <a:cs typeface="Times New Roman" pitchFamily="18" charset="0"/>
                        </a:rPr>
                        <a:t>Typ.</a:t>
                      </a:r>
                      <a:endParaRPr kumimoji="0" lang="zh-CN" altLang="zh-CN" sz="16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dirty="0">
                          <a:ln>
                            <a:noFill/>
                          </a:ln>
                          <a:solidFill>
                            <a:srgbClr val="000000"/>
                          </a:solidFill>
                          <a:effectLst/>
                          <a:latin typeface="Times New Roman" pitchFamily="18" charset="0"/>
                          <a:ea typeface="黑体" pitchFamily="49" charset="-122"/>
                          <a:cs typeface="Times New Roman" pitchFamily="18" charset="0"/>
                        </a:rPr>
                        <a:t>Typ.</a:t>
                      </a:r>
                      <a:endParaRPr kumimoji="0" lang="zh-CN" altLang="zh-CN" sz="16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dirty="0">
                          <a:ln>
                            <a:noFill/>
                          </a:ln>
                          <a:solidFill>
                            <a:srgbClr val="000000"/>
                          </a:solidFill>
                          <a:effectLst/>
                          <a:latin typeface="Times New Roman" pitchFamily="18" charset="0"/>
                          <a:ea typeface="黑体" pitchFamily="49" charset="-122"/>
                          <a:cs typeface="Times New Roman" pitchFamily="18" charset="0"/>
                        </a:rPr>
                        <a:t>Typ.</a:t>
                      </a:r>
                      <a:endParaRPr kumimoji="0" lang="zh-CN" altLang="zh-CN" sz="16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dirty="0">
                          <a:ln>
                            <a:noFill/>
                          </a:ln>
                          <a:solidFill>
                            <a:srgbClr val="000000"/>
                          </a:solidFill>
                          <a:effectLst/>
                          <a:latin typeface="Times New Roman" pitchFamily="18" charset="0"/>
                          <a:ea typeface="黑体" pitchFamily="49" charset="-122"/>
                          <a:cs typeface="Times New Roman" pitchFamily="18" charset="0"/>
                        </a:rPr>
                        <a:t>Max.</a:t>
                      </a:r>
                      <a:endParaRPr kumimoji="0" lang="zh-CN" altLang="zh-CN" sz="16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dirty="0">
                          <a:ln>
                            <a:noFill/>
                          </a:ln>
                          <a:solidFill>
                            <a:srgbClr val="000000"/>
                          </a:solidFill>
                          <a:effectLst/>
                          <a:latin typeface="Times New Roman" pitchFamily="18" charset="0"/>
                          <a:ea typeface="黑体" pitchFamily="49" charset="-122"/>
                          <a:cs typeface="Times New Roman" pitchFamily="18" charset="0"/>
                        </a:rPr>
                        <a:t>Typ.</a:t>
                      </a:r>
                      <a:endParaRPr kumimoji="0" lang="zh-CN" altLang="zh-CN" sz="16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dirty="0">
                          <a:ln>
                            <a:noFill/>
                          </a:ln>
                          <a:solidFill>
                            <a:srgbClr val="000000"/>
                          </a:solidFill>
                          <a:effectLst/>
                          <a:latin typeface="Times New Roman" pitchFamily="18" charset="0"/>
                          <a:ea typeface="黑体" pitchFamily="49" charset="-122"/>
                          <a:cs typeface="Times New Roman" pitchFamily="18" charset="0"/>
                        </a:rPr>
                        <a:t>Max.</a:t>
                      </a:r>
                      <a:endParaRPr kumimoji="0" lang="zh-CN" altLang="zh-CN" sz="16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dirty="0">
                          <a:ln>
                            <a:noFill/>
                          </a:ln>
                          <a:solidFill>
                            <a:srgbClr val="000000"/>
                          </a:solidFill>
                          <a:effectLst/>
                          <a:latin typeface="Times New Roman" pitchFamily="18" charset="0"/>
                          <a:ea typeface="黑体" pitchFamily="49" charset="-122"/>
                          <a:cs typeface="Times New Roman" pitchFamily="18" charset="0"/>
                        </a:rPr>
                        <a:t>Typ.</a:t>
                      </a:r>
                      <a:endParaRPr kumimoji="0" lang="zh-CN" altLang="zh-CN" sz="16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B0F0"/>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dirty="0">
                          <a:ln>
                            <a:noFill/>
                          </a:ln>
                          <a:solidFill>
                            <a:srgbClr val="000000"/>
                          </a:solidFill>
                          <a:effectLst/>
                          <a:latin typeface="Times New Roman" pitchFamily="18" charset="0"/>
                          <a:ea typeface="黑体" pitchFamily="49" charset="-122"/>
                          <a:cs typeface="Times New Roman" pitchFamily="18" charset="0"/>
                        </a:rPr>
                        <a:t>Typ.</a:t>
                      </a:r>
                      <a:endParaRPr kumimoji="0" lang="zh-CN" altLang="zh-CN" sz="16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dirty="0">
                          <a:ln>
                            <a:noFill/>
                          </a:ln>
                          <a:solidFill>
                            <a:srgbClr val="000000"/>
                          </a:solidFill>
                          <a:effectLst/>
                          <a:latin typeface="Times New Roman" pitchFamily="18" charset="0"/>
                          <a:ea typeface="黑体" pitchFamily="49" charset="-122"/>
                          <a:cs typeface="Times New Roman" pitchFamily="18" charset="0"/>
                        </a:rPr>
                        <a:t>Min.</a:t>
                      </a:r>
                      <a:endParaRPr kumimoji="0" lang="zh-CN" altLang="zh-CN" sz="16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Max.</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42888">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SL3-2</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dirty="0">
                          <a:ln>
                            <a:noFill/>
                          </a:ln>
                          <a:solidFill>
                            <a:srgbClr val="000000"/>
                          </a:solidFill>
                          <a:effectLst/>
                          <a:latin typeface="Times New Roman" pitchFamily="18" charset="0"/>
                          <a:ea typeface="黑体" pitchFamily="49" charset="-122"/>
                          <a:cs typeface="Times New Roman" pitchFamily="18" charset="0"/>
                        </a:rPr>
                        <a:t>3</a:t>
                      </a:r>
                      <a:r>
                        <a:rPr kumimoji="0" lang="zh-CN" altLang="zh-CN" sz="1600" b="1" i="0" u="none" strike="noStrike" cap="none" normalizeH="0" baseline="0" dirty="0">
                          <a:ln>
                            <a:noFill/>
                          </a:ln>
                          <a:solidFill>
                            <a:srgbClr val="000000"/>
                          </a:solidFill>
                          <a:effectLst/>
                          <a:latin typeface="Times New Roman" pitchFamily="18" charset="0"/>
                          <a:ea typeface="黑体" pitchFamily="49" charset="-122"/>
                          <a:cs typeface="Times New Roman" pitchFamily="18" charset="0"/>
                        </a:rPr>
                        <a:t>×</a:t>
                      </a:r>
                      <a:r>
                        <a:rPr kumimoji="0" lang="en-US" altLang="zh-CN" sz="1600" b="1" i="0" u="none" strike="noStrike" cap="none" normalizeH="0" baseline="0" dirty="0">
                          <a:ln>
                            <a:noFill/>
                          </a:ln>
                          <a:solidFill>
                            <a:srgbClr val="000000"/>
                          </a:solidFill>
                          <a:effectLst/>
                          <a:latin typeface="Times New Roman" pitchFamily="18" charset="0"/>
                          <a:ea typeface="黑体" pitchFamily="49" charset="-122"/>
                          <a:cs typeface="Times New Roman" pitchFamily="18" charset="0"/>
                        </a:rPr>
                        <a:t>1</a:t>
                      </a:r>
                      <a:endParaRPr kumimoji="0" lang="zh-CN" altLang="zh-CN" sz="16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0.3</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0.4</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dirty="0">
                          <a:ln>
                            <a:noFill/>
                          </a:ln>
                          <a:solidFill>
                            <a:srgbClr val="000000"/>
                          </a:solidFill>
                          <a:effectLst/>
                          <a:latin typeface="Times New Roman" pitchFamily="18" charset="0"/>
                          <a:ea typeface="黑体" pitchFamily="49" charset="-122"/>
                          <a:cs typeface="Times New Roman" pitchFamily="18" charset="0"/>
                        </a:rPr>
                        <a:t>3</a:t>
                      </a:r>
                      <a:endParaRPr kumimoji="0" lang="zh-CN" altLang="zh-CN" sz="16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dirty="0">
                          <a:ln>
                            <a:noFill/>
                          </a:ln>
                          <a:solidFill>
                            <a:srgbClr val="000000"/>
                          </a:solidFill>
                          <a:effectLst/>
                          <a:latin typeface="Times New Roman" pitchFamily="18" charset="0"/>
                          <a:ea typeface="黑体" pitchFamily="49" charset="-122"/>
                          <a:cs typeface="Times New Roman" pitchFamily="18" charset="0"/>
                        </a:rPr>
                        <a:t>5</a:t>
                      </a:r>
                      <a:endParaRPr kumimoji="0" lang="zh-CN" altLang="zh-CN" sz="16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50</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3</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7</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dirty="0">
                          <a:ln>
                            <a:noFill/>
                          </a:ln>
                          <a:solidFill>
                            <a:srgbClr val="000000"/>
                          </a:solidFill>
                          <a:effectLst/>
                          <a:latin typeface="Times New Roman" pitchFamily="18" charset="0"/>
                          <a:ea typeface="黑体" pitchFamily="49" charset="-122"/>
                          <a:cs typeface="Times New Roman" pitchFamily="18" charset="0"/>
                        </a:rPr>
                        <a:t>0.04</a:t>
                      </a:r>
                      <a:endParaRPr kumimoji="0" lang="zh-CN" altLang="zh-CN" sz="16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B0F0"/>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0.06</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15</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80</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44475">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SL5-2</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5</a:t>
                      </a:r>
                      <a:r>
                        <a:rPr kumimoji="0" lang="zh-CN"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a:t>
                      </a: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1</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0.3</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0.4</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5</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10</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100</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5</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9</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0.10</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0.10</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20</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dirty="0">
                          <a:ln>
                            <a:noFill/>
                          </a:ln>
                          <a:solidFill>
                            <a:srgbClr val="000000"/>
                          </a:solidFill>
                          <a:effectLst/>
                          <a:latin typeface="Times New Roman" pitchFamily="18" charset="0"/>
                          <a:ea typeface="黑体" pitchFamily="49" charset="-122"/>
                          <a:cs typeface="Times New Roman" pitchFamily="18" charset="0"/>
                        </a:rPr>
                        <a:t>100</a:t>
                      </a:r>
                      <a:endParaRPr kumimoji="0" lang="zh-CN" altLang="zh-CN" sz="16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8625">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SL10-1</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10</a:t>
                      </a:r>
                      <a:r>
                        <a:rPr kumimoji="0" lang="zh-CN"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a:t>
                      </a: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2</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0.3</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0.4</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10</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200</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500</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20</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30</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0.40</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0.10</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40</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250</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2263">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SL15</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15</a:t>
                      </a:r>
                      <a:r>
                        <a:rPr kumimoji="0" lang="zh-CN"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a:t>
                      </a: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1</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0.3</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0.4</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15</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150</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300</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15</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25</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0.60</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0.1</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60</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300</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44475">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SL30</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30</a:t>
                      </a:r>
                      <a:r>
                        <a:rPr kumimoji="0" lang="zh-CN"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a:t>
                      </a: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4</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0.3</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0.4</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30</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150</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1000</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125</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150</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1.0</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0.6</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40</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80</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28625">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SL76-1</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762</a:t>
                      </a:r>
                      <a:r>
                        <a:rPr kumimoji="0" lang="zh-CN"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a:t>
                      </a: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5</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0.3</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0.4</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76</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100</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1000</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190</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250</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14.0</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1.4</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120</a:t>
                      </a:r>
                      <a:endParaRPr kumimoji="0" lang="zh-CN" altLang="zh-CN" sz="16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600" b="1" i="0" u="none" strike="noStrike" cap="none" normalizeH="0" baseline="0" dirty="0">
                          <a:ln>
                            <a:noFill/>
                          </a:ln>
                          <a:solidFill>
                            <a:srgbClr val="000000"/>
                          </a:solidFill>
                          <a:effectLst/>
                          <a:latin typeface="Times New Roman" pitchFamily="18" charset="0"/>
                          <a:ea typeface="黑体" pitchFamily="49" charset="-122"/>
                          <a:cs typeface="Times New Roman" pitchFamily="18" charset="0"/>
                        </a:rPr>
                        <a:t>600</a:t>
                      </a:r>
                      <a:endParaRPr kumimoji="0" lang="zh-CN" altLang="zh-CN" sz="16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31874" name="TextBox 4">
            <a:hlinkClick r:id="rId2"/>
          </p:cNvPr>
          <p:cNvSpPr txBox="1">
            <a:spLocks noChangeArrowheads="1"/>
          </p:cNvSpPr>
          <p:nvPr/>
        </p:nvSpPr>
        <p:spPr bwMode="auto">
          <a:xfrm>
            <a:off x="3766901" y="1260291"/>
            <a:ext cx="5289550" cy="579438"/>
          </a:xfrm>
          <a:prstGeom prst="rect">
            <a:avLst/>
          </a:prstGeom>
          <a:noFill/>
          <a:ln w="9525">
            <a:noFill/>
            <a:miter lim="800000"/>
            <a:headEnd/>
            <a:tailEnd/>
          </a:ln>
        </p:spPr>
        <p:txBody>
          <a:bodyPr>
            <a:spAutoFit/>
          </a:bodyPr>
          <a:lstStyle/>
          <a:p>
            <a:pPr algn="ctr" defTabSz="914400"/>
            <a:r>
              <a:rPr lang="zh-CN" altLang="en-US" sz="3200" b="1" dirty="0">
                <a:solidFill>
                  <a:srgbClr val="0000CC"/>
                </a:solidFill>
                <a:latin typeface="Times New Roman" pitchFamily="18" charset="0"/>
                <a:ea typeface="微软雅黑" pitchFamily="34" charset="-122"/>
                <a:cs typeface="Times New Roman" pitchFamily="18" charset="0"/>
              </a:rPr>
              <a:t>例：一维</a:t>
            </a:r>
            <a:r>
              <a:rPr lang="en-US" altLang="zh-CN" sz="3200" b="1" dirty="0">
                <a:solidFill>
                  <a:srgbClr val="0000CC"/>
                </a:solidFill>
                <a:latin typeface="Times New Roman" pitchFamily="18" charset="0"/>
                <a:ea typeface="微软雅黑" pitchFamily="34" charset="-122"/>
                <a:cs typeface="Times New Roman" pitchFamily="18" charset="0"/>
              </a:rPr>
              <a:t>PSD</a:t>
            </a:r>
            <a:r>
              <a:rPr lang="zh-CN" altLang="en-US" sz="3200" b="1" dirty="0">
                <a:solidFill>
                  <a:srgbClr val="0000CC"/>
                </a:solidFill>
                <a:latin typeface="Times New Roman" pitchFamily="18" charset="0"/>
                <a:ea typeface="微软雅黑" pitchFamily="34" charset="-122"/>
                <a:cs typeface="Times New Roman" pitchFamily="18" charset="0"/>
              </a:rPr>
              <a:t>特性参数</a:t>
            </a:r>
          </a:p>
        </p:txBody>
      </p:sp>
      <p:sp>
        <p:nvSpPr>
          <p:cNvPr id="31875" name="TextBox 6"/>
          <p:cNvSpPr txBox="1">
            <a:spLocks noChangeArrowheads="1"/>
          </p:cNvSpPr>
          <p:nvPr/>
        </p:nvSpPr>
        <p:spPr bwMode="auto">
          <a:xfrm>
            <a:off x="609599" y="5910702"/>
            <a:ext cx="11540247" cy="946150"/>
          </a:xfrm>
          <a:prstGeom prst="rect">
            <a:avLst/>
          </a:prstGeom>
          <a:noFill/>
          <a:ln w="9525">
            <a:noFill/>
            <a:miter lim="800000"/>
            <a:headEnd/>
            <a:tailEnd/>
          </a:ln>
        </p:spPr>
        <p:txBody>
          <a:bodyPr wrap="square">
            <a:spAutoFit/>
          </a:bodyPr>
          <a:lstStyle/>
          <a:p>
            <a:pPr defTabSz="914400"/>
            <a:r>
              <a:rPr lang="zh-CN" altLang="en-US" sz="2800" b="1" dirty="0">
                <a:latin typeface="Times New Roman" pitchFamily="18" charset="0"/>
                <a:ea typeface="黑体" pitchFamily="49" charset="-122"/>
                <a:cs typeface="Times New Roman" pitchFamily="18" charset="0"/>
              </a:rPr>
              <a:t>注：测试条件</a:t>
            </a:r>
            <a:r>
              <a:rPr lang="en-US" altLang="zh-CN" sz="2800" b="1" dirty="0">
                <a:latin typeface="Times New Roman" pitchFamily="18" charset="0"/>
                <a:ea typeface="黑体" pitchFamily="49" charset="-122"/>
                <a:cs typeface="Times New Roman" pitchFamily="18" charset="0"/>
              </a:rPr>
              <a:t>T=25</a:t>
            </a:r>
            <a:r>
              <a:rPr lang="zh-CN" altLang="en-US" sz="2800" b="1" dirty="0">
                <a:latin typeface="Times New Roman" pitchFamily="18" charset="0"/>
                <a:ea typeface="黑体" pitchFamily="49" charset="-122"/>
                <a:cs typeface="Times New Roman" pitchFamily="18" charset="0"/>
              </a:rPr>
              <a:t>℃，</a:t>
            </a:r>
            <a:r>
              <a:rPr lang="en-US" altLang="zh-CN" sz="2800" b="1" dirty="0">
                <a:latin typeface="Times New Roman" pitchFamily="18" charset="0"/>
                <a:ea typeface="黑体" pitchFamily="49" charset="-122"/>
                <a:cs typeface="Times New Roman" pitchFamily="18" charset="0"/>
              </a:rPr>
              <a:t>V</a:t>
            </a:r>
            <a:r>
              <a:rPr lang="en-US" altLang="zh-CN" sz="2800" b="1" baseline="-25000" dirty="0">
                <a:latin typeface="Times New Roman" pitchFamily="18" charset="0"/>
                <a:ea typeface="黑体" pitchFamily="49" charset="-122"/>
                <a:cs typeface="Times New Roman" pitchFamily="18" charset="0"/>
              </a:rPr>
              <a:t>BIAS</a:t>
            </a:r>
            <a:r>
              <a:rPr lang="en-US" altLang="zh-CN" sz="2800" b="1" dirty="0">
                <a:latin typeface="Times New Roman" pitchFamily="18" charset="0"/>
                <a:ea typeface="黑体" pitchFamily="49" charset="-122"/>
                <a:cs typeface="Times New Roman" pitchFamily="18" charset="0"/>
              </a:rPr>
              <a:t>=-15V</a:t>
            </a:r>
            <a:r>
              <a:rPr lang="zh-CN" altLang="en-US" sz="2800" b="1" dirty="0">
                <a:latin typeface="Times New Roman" pitchFamily="18" charset="0"/>
                <a:ea typeface="黑体" pitchFamily="49" charset="-122"/>
                <a:cs typeface="Times New Roman" pitchFamily="18" charset="0"/>
              </a:rPr>
              <a:t>，波长</a:t>
            </a:r>
            <a:r>
              <a:rPr lang="en-US" altLang="zh-CN" sz="2800" b="1" dirty="0">
                <a:latin typeface="Times New Roman" pitchFamily="18" charset="0"/>
                <a:ea typeface="黑体" pitchFamily="49" charset="-122"/>
                <a:cs typeface="Times New Roman" pitchFamily="18" charset="0"/>
              </a:rPr>
              <a:t>670nm</a:t>
            </a:r>
            <a:r>
              <a:rPr lang="zh-CN" altLang="en-US" sz="2800" b="1" dirty="0">
                <a:latin typeface="Times New Roman" pitchFamily="18" charset="0"/>
                <a:ea typeface="黑体" pitchFamily="49" charset="-122"/>
                <a:cs typeface="Times New Roman" pitchFamily="18" charset="0"/>
              </a:rPr>
              <a:t>，误差在长度</a:t>
            </a:r>
            <a:r>
              <a:rPr lang="en-US" altLang="zh-CN" sz="2800" b="1" dirty="0">
                <a:latin typeface="Times New Roman" pitchFamily="18" charset="0"/>
                <a:ea typeface="黑体" pitchFamily="49" charset="-122"/>
                <a:cs typeface="Times New Roman" pitchFamily="18" charset="0"/>
              </a:rPr>
              <a:t>64%~80%</a:t>
            </a:r>
            <a:r>
              <a:rPr lang="zh-CN" altLang="en-US" sz="2800" b="1" dirty="0">
                <a:latin typeface="Times New Roman" pitchFamily="18" charset="0"/>
                <a:ea typeface="黑体" pitchFamily="49" charset="-122"/>
                <a:cs typeface="Times New Roman" pitchFamily="18" charset="0"/>
              </a:rPr>
              <a:t>的感应区测量</a:t>
            </a:r>
          </a:p>
        </p:txBody>
      </p:sp>
      <p:grpSp>
        <p:nvGrpSpPr>
          <p:cNvPr id="11" name="组合 10">
            <a:extLst>
              <a:ext uri="{FF2B5EF4-FFF2-40B4-BE49-F238E27FC236}">
                <a16:creationId xmlns:a16="http://schemas.microsoft.com/office/drawing/2014/main" id="{79623807-3AFA-4675-B3EE-81647D6DC62B}"/>
              </a:ext>
            </a:extLst>
          </p:cNvPr>
          <p:cNvGrpSpPr/>
          <p:nvPr/>
        </p:nvGrpSpPr>
        <p:grpSpPr>
          <a:xfrm>
            <a:off x="0" y="293282"/>
            <a:ext cx="13161246" cy="7421968"/>
            <a:chOff x="0" y="293282"/>
            <a:chExt cx="13161246" cy="7421968"/>
          </a:xfrm>
        </p:grpSpPr>
        <p:sp>
          <p:nvSpPr>
            <p:cNvPr id="17" name="文本框 60">
              <a:extLst>
                <a:ext uri="{FF2B5EF4-FFF2-40B4-BE49-F238E27FC236}">
                  <a16:creationId xmlns:a16="http://schemas.microsoft.com/office/drawing/2014/main" id="{CCA0F892-931F-4771-87DC-5DEEEC0C3FED}"/>
                </a:ext>
              </a:extLst>
            </p:cNvPr>
            <p:cNvSpPr txBox="1"/>
            <p:nvPr/>
          </p:nvSpPr>
          <p:spPr>
            <a:xfrm>
              <a:off x="1364781" y="293282"/>
              <a:ext cx="3569826"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主要特性参数</a:t>
              </a:r>
            </a:p>
          </p:txBody>
        </p:sp>
        <p:sp>
          <p:nvSpPr>
            <p:cNvPr id="18" name="矩形 17">
              <a:extLst>
                <a:ext uri="{FF2B5EF4-FFF2-40B4-BE49-F238E27FC236}">
                  <a16:creationId xmlns:a16="http://schemas.microsoft.com/office/drawing/2014/main" id="{665643D4-9D14-43B5-96F4-B9902F0FD459}"/>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9" name="矩形 18">
              <a:extLst>
                <a:ext uri="{FF2B5EF4-FFF2-40B4-BE49-F238E27FC236}">
                  <a16:creationId xmlns:a16="http://schemas.microsoft.com/office/drawing/2014/main" id="{264879CE-2103-48E4-BD9F-F97DB9645FA4}"/>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a:extLst>
                <a:ext uri="{FF2B5EF4-FFF2-40B4-BE49-F238E27FC236}">
                  <a16:creationId xmlns:a16="http://schemas.microsoft.com/office/drawing/2014/main" id="{8A953E9E-319F-4682-A15B-CF770A172A47}"/>
                </a:ext>
              </a:extLst>
            </p:cNvPr>
            <p:cNvSpPr/>
            <p:nvPr/>
          </p:nvSpPr>
          <p:spPr>
            <a:xfrm>
              <a:off x="304801" y="293282"/>
              <a:ext cx="979824"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4.7.3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1" name="直接连接符 58">
              <a:extLst>
                <a:ext uri="{FF2B5EF4-FFF2-40B4-BE49-F238E27FC236}">
                  <a16:creationId xmlns:a16="http://schemas.microsoft.com/office/drawing/2014/main" id="{BACF3011-1603-4FC1-9B6E-9F35061F0E59}"/>
                </a:ext>
              </a:extLst>
            </p:cNvPr>
            <p:cNvCxnSpPr>
              <a:cxnSpLocks/>
            </p:cNvCxnSpPr>
            <p:nvPr/>
          </p:nvCxnSpPr>
          <p:spPr>
            <a:xfrm>
              <a:off x="1450506" y="710998"/>
              <a:ext cx="3336956"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2" name="矩形 21">
              <a:extLst>
                <a:ext uri="{FF2B5EF4-FFF2-40B4-BE49-F238E27FC236}">
                  <a16:creationId xmlns:a16="http://schemas.microsoft.com/office/drawing/2014/main" id="{1BBD5DA2-8F16-4338-9B0A-E1F98FFFCC2A}"/>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3" name="矩形 22">
              <a:extLst>
                <a:ext uri="{FF2B5EF4-FFF2-40B4-BE49-F238E27FC236}">
                  <a16:creationId xmlns:a16="http://schemas.microsoft.com/office/drawing/2014/main" id="{D7C6A889-DC03-4908-A3A9-ED4154E3D16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extLst>
      <p:ext uri="{BB962C8B-B14F-4D97-AF65-F5344CB8AC3E}">
        <p14:creationId xmlns:p14="http://schemas.microsoft.com/office/powerpoint/2010/main" val="4494534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6448" name="Group 128"/>
          <p:cNvGraphicFramePr>
            <a:graphicFrameLocks noGrp="1"/>
          </p:cNvGraphicFramePr>
          <p:nvPr/>
        </p:nvGraphicFramePr>
        <p:xfrm>
          <a:off x="721145" y="2225675"/>
          <a:ext cx="11827552" cy="3422653"/>
        </p:xfrm>
        <a:graphic>
          <a:graphicData uri="http://schemas.openxmlformats.org/drawingml/2006/table">
            <a:tbl>
              <a:tblPr/>
              <a:tblGrid>
                <a:gridCol w="1018484">
                  <a:extLst>
                    <a:ext uri="{9D8B030D-6E8A-4147-A177-3AD203B41FA5}">
                      <a16:colId xmlns:a16="http://schemas.microsoft.com/office/drawing/2014/main" val="20000"/>
                    </a:ext>
                  </a:extLst>
                </a:gridCol>
                <a:gridCol w="825464">
                  <a:extLst>
                    <a:ext uri="{9D8B030D-6E8A-4147-A177-3AD203B41FA5}">
                      <a16:colId xmlns:a16="http://schemas.microsoft.com/office/drawing/2014/main" val="20001"/>
                    </a:ext>
                  </a:extLst>
                </a:gridCol>
                <a:gridCol w="798771">
                  <a:extLst>
                    <a:ext uri="{9D8B030D-6E8A-4147-A177-3AD203B41FA5}">
                      <a16:colId xmlns:a16="http://schemas.microsoft.com/office/drawing/2014/main" val="20002"/>
                    </a:ext>
                  </a:extLst>
                </a:gridCol>
                <a:gridCol w="960989">
                  <a:extLst>
                    <a:ext uri="{9D8B030D-6E8A-4147-A177-3AD203B41FA5}">
                      <a16:colId xmlns:a16="http://schemas.microsoft.com/office/drawing/2014/main" val="20003"/>
                    </a:ext>
                  </a:extLst>
                </a:gridCol>
                <a:gridCol w="960989">
                  <a:extLst>
                    <a:ext uri="{9D8B030D-6E8A-4147-A177-3AD203B41FA5}">
                      <a16:colId xmlns:a16="http://schemas.microsoft.com/office/drawing/2014/main" val="20004"/>
                    </a:ext>
                  </a:extLst>
                </a:gridCol>
                <a:gridCol w="870639">
                  <a:extLst>
                    <a:ext uri="{9D8B030D-6E8A-4147-A177-3AD203B41FA5}">
                      <a16:colId xmlns:a16="http://schemas.microsoft.com/office/drawing/2014/main" val="20005"/>
                    </a:ext>
                  </a:extLst>
                </a:gridCol>
                <a:gridCol w="868585">
                  <a:extLst>
                    <a:ext uri="{9D8B030D-6E8A-4147-A177-3AD203B41FA5}">
                      <a16:colId xmlns:a16="http://schemas.microsoft.com/office/drawing/2014/main" val="20006"/>
                    </a:ext>
                  </a:extLst>
                </a:gridCol>
                <a:gridCol w="831625">
                  <a:extLst>
                    <a:ext uri="{9D8B030D-6E8A-4147-A177-3AD203B41FA5}">
                      <a16:colId xmlns:a16="http://schemas.microsoft.com/office/drawing/2014/main" val="20007"/>
                    </a:ext>
                  </a:extLst>
                </a:gridCol>
                <a:gridCol w="930187">
                  <a:extLst>
                    <a:ext uri="{9D8B030D-6E8A-4147-A177-3AD203B41FA5}">
                      <a16:colId xmlns:a16="http://schemas.microsoft.com/office/drawing/2014/main" val="20008"/>
                    </a:ext>
                  </a:extLst>
                </a:gridCol>
                <a:gridCol w="1000004">
                  <a:extLst>
                    <a:ext uri="{9D8B030D-6E8A-4147-A177-3AD203B41FA5}">
                      <a16:colId xmlns:a16="http://schemas.microsoft.com/office/drawing/2014/main" val="20009"/>
                    </a:ext>
                  </a:extLst>
                </a:gridCol>
                <a:gridCol w="997950">
                  <a:extLst>
                    <a:ext uri="{9D8B030D-6E8A-4147-A177-3AD203B41FA5}">
                      <a16:colId xmlns:a16="http://schemas.microsoft.com/office/drawing/2014/main" val="20010"/>
                    </a:ext>
                  </a:extLst>
                </a:gridCol>
                <a:gridCol w="880905">
                  <a:extLst>
                    <a:ext uri="{9D8B030D-6E8A-4147-A177-3AD203B41FA5}">
                      <a16:colId xmlns:a16="http://schemas.microsoft.com/office/drawing/2014/main" val="20011"/>
                    </a:ext>
                  </a:extLst>
                </a:gridCol>
                <a:gridCol w="882960">
                  <a:extLst>
                    <a:ext uri="{9D8B030D-6E8A-4147-A177-3AD203B41FA5}">
                      <a16:colId xmlns:a16="http://schemas.microsoft.com/office/drawing/2014/main" val="20012"/>
                    </a:ext>
                  </a:extLst>
                </a:gridCol>
              </a:tblGrid>
              <a:tr h="1096963">
                <a:tc rowSpan="2">
                  <a:txBody>
                    <a:bodyPr/>
                    <a:lstStyle/>
                    <a:p>
                      <a:pPr marL="0" marR="0" lvl="0" indent="0" algn="l"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dirty="0">
                          <a:ln>
                            <a:noFill/>
                          </a:ln>
                          <a:solidFill>
                            <a:srgbClr val="000000"/>
                          </a:solidFill>
                          <a:effectLst/>
                          <a:latin typeface="Times New Roman" pitchFamily="18" charset="0"/>
                          <a:ea typeface="黑体" pitchFamily="49" charset="-122"/>
                          <a:cs typeface="Times New Roman" pitchFamily="18" charset="0"/>
                        </a:rPr>
                        <a:t>型号</a:t>
                      </a:r>
                      <a:endParaRPr kumimoji="0" lang="zh-CN" altLang="en-US" sz="18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位置感应区</a:t>
                      </a:r>
                      <a:endParaRPr kumimoji="0" lang="zh-CN" altLang="en-US"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响应度</a:t>
                      </a:r>
                      <a:endParaRPr kumimoji="0" lang="zh-CN" altLang="en-US"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a:t>
                      </a: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A/ W</a:t>
                      </a:r>
                      <a:r>
                        <a:rPr kumimoji="0" lang="zh-CN" altLang="en-US"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a:t>
                      </a:r>
                      <a:endParaRPr kumimoji="0" lang="zh-CN" altLang="en-US"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位置检测误差</a:t>
                      </a:r>
                      <a:endParaRPr kumimoji="0" lang="zh-CN" altLang="en-US"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a:t>
                      </a: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um</a:t>
                      </a:r>
                      <a:r>
                        <a:rPr kumimoji="0" lang="zh-CN" altLang="en-US"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a:t>
                      </a:r>
                      <a:endParaRPr kumimoji="0" lang="zh-CN" altLang="en-US"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暗电流（</a:t>
                      </a: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nA</a:t>
                      </a:r>
                      <a:r>
                        <a:rPr kumimoji="0" lang="zh-CN" altLang="en-US"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a:t>
                      </a:r>
                      <a:endParaRPr kumimoji="0" lang="zh-CN" altLang="en-US"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电容（</a:t>
                      </a: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pF</a:t>
                      </a:r>
                      <a:r>
                        <a:rPr kumimoji="0" lang="zh-CN" altLang="en-US"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a:t>
                      </a:r>
                      <a:endParaRPr kumimoji="0" lang="zh-CN" altLang="en-US"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上升时间（</a:t>
                      </a:r>
                      <a:r>
                        <a:rPr kumimoji="0" lang="zh-CN"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μ</a:t>
                      </a: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s</a:t>
                      </a:r>
                      <a:r>
                        <a:rPr kumimoji="0" lang="zh-CN" altLang="en-US"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a:t>
                      </a:r>
                      <a:endParaRPr kumimoji="0" lang="zh-CN" altLang="en-US"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位置检测漂移</a:t>
                      </a: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um/</a:t>
                      </a:r>
                      <a:r>
                        <a:rPr kumimoji="0" lang="zh-CN"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1800" b="1" i="0" u="none" strike="noStrike" cap="none" normalizeH="0" baseline="0" dirty="0">
                          <a:ln>
                            <a:noFill/>
                          </a:ln>
                          <a:solidFill>
                            <a:srgbClr val="000000"/>
                          </a:solidFill>
                          <a:effectLst/>
                          <a:latin typeface="Times New Roman" pitchFamily="18" charset="0"/>
                          <a:ea typeface="黑体" pitchFamily="49" charset="-122"/>
                          <a:cs typeface="Times New Roman" pitchFamily="18" charset="0"/>
                        </a:rPr>
                        <a:t>电极间阻值（</a:t>
                      </a:r>
                      <a:r>
                        <a:rPr kumimoji="0" lang="en-US" altLang="zh-CN" sz="1800" b="1" i="0" u="none" strike="noStrike" cap="none" normalizeH="0" baseline="0" dirty="0">
                          <a:ln>
                            <a:noFill/>
                          </a:ln>
                          <a:solidFill>
                            <a:srgbClr val="000000"/>
                          </a:solidFill>
                          <a:effectLst/>
                          <a:latin typeface="Times New Roman" pitchFamily="18" charset="0"/>
                          <a:ea typeface="黑体" pitchFamily="49" charset="-122"/>
                          <a:cs typeface="Times New Roman" pitchFamily="18" charset="0"/>
                        </a:rPr>
                        <a:t>k</a:t>
                      </a:r>
                      <a:r>
                        <a:rPr kumimoji="0" lang="zh-CN" altLang="zh-CN" sz="1800" b="1" i="0" u="none" strike="noStrike" cap="none" normalizeH="0" baseline="0" dirty="0">
                          <a:ln>
                            <a:noFill/>
                          </a:ln>
                          <a:solidFill>
                            <a:srgbClr val="000000"/>
                          </a:solidFill>
                          <a:effectLst/>
                          <a:latin typeface="Times New Roman" pitchFamily="18" charset="0"/>
                          <a:ea typeface="黑体" pitchFamily="49" charset="-122"/>
                          <a:cs typeface="Times New Roman" pitchFamily="18" charset="0"/>
                        </a:rPr>
                        <a:t>Ω</a:t>
                      </a:r>
                      <a:r>
                        <a:rPr kumimoji="0" lang="zh-CN" altLang="en-US" sz="1800" b="1" i="0" u="none" strike="noStrike" cap="none" normalizeH="0" baseline="0" dirty="0">
                          <a:ln>
                            <a:noFill/>
                          </a:ln>
                          <a:solidFill>
                            <a:srgbClr val="000000"/>
                          </a:solidFill>
                          <a:effectLst/>
                          <a:latin typeface="Times New Roman" pitchFamily="18" charset="0"/>
                          <a:ea typeface="黑体" pitchFamily="49" charset="-122"/>
                          <a:cs typeface="Times New Roman" pitchFamily="18" charset="0"/>
                        </a:rPr>
                        <a:t>）</a:t>
                      </a:r>
                      <a:endParaRPr kumimoji="0" lang="zh-CN" altLang="en-US" sz="18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0"/>
                  </a:ext>
                </a:extLst>
              </a:tr>
              <a:tr h="333375">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Min.</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Typ.</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Typ.</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Typ.</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Max.</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Typ.</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Max.</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Typ.</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Typ.</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Min.</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Max.</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638">
                <a:tc>
                  <a:txBody>
                    <a:bodyPr/>
                    <a:lstStyle/>
                    <a:p>
                      <a:pPr marL="0" marR="0" lvl="0" indent="0" algn="just"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DL-2</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2 sq</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0.3</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0.4</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30</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30</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600</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10</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30</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0.025</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0.20</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5</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25</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9725">
                <a:tc>
                  <a:txBody>
                    <a:bodyPr/>
                    <a:lstStyle/>
                    <a:p>
                      <a:pPr marL="0" marR="0" lvl="0" indent="0" algn="just"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DLS-2</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2 sq</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0.3</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0.4</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30</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10</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175</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8</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14</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0.025</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0.40</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5</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itchFamily="18" charset="0"/>
                          <a:ea typeface="黑体" pitchFamily="49" charset="-122"/>
                          <a:cs typeface="Times New Roman" pitchFamily="18" charset="0"/>
                        </a:rPr>
                        <a:t>25</a:t>
                      </a:r>
                      <a:endParaRPr kumimoji="0" lang="zh-CN" altLang="zh-CN" sz="18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638">
                <a:tc>
                  <a:txBody>
                    <a:bodyPr/>
                    <a:lstStyle/>
                    <a:p>
                      <a:pPr marL="0" marR="0" lvl="0" indent="0" algn="just"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DL-4</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4 sq</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0.3</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0.4</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50</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50</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1000</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35</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60</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0.08</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0.25</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5</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25</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80988">
                <a:tc>
                  <a:txBody>
                    <a:bodyPr/>
                    <a:lstStyle/>
                    <a:p>
                      <a:pPr marL="0" marR="0" lvl="0" indent="0" algn="just"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DLS-4</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4 sq</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0.3</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0.4</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50</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25</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300</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30</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40</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0.08</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0.30</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5</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25</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4638">
                <a:tc>
                  <a:txBody>
                    <a:bodyPr/>
                    <a:lstStyle/>
                    <a:p>
                      <a:pPr marL="0" marR="0" lvl="0" indent="0" algn="just"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DL-10</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10 sq</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0.3</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0.4</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100</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500</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5000</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175</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375</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0.20</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0.60</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5</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25</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47688">
                <a:tc>
                  <a:txBody>
                    <a:bodyPr/>
                    <a:lstStyle/>
                    <a:p>
                      <a:pPr marL="0" marR="0" lvl="0" indent="0" algn="just"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DL-20</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20 sq</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0.3</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0.4</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200</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2000</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12000</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600</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1500</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1.00</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1.0</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Times New Roman" pitchFamily="18" charset="0"/>
                          <a:ea typeface="黑体" pitchFamily="49" charset="-122"/>
                          <a:cs typeface="Times New Roman" pitchFamily="18" charset="0"/>
                        </a:rPr>
                        <a:t>5</a:t>
                      </a:r>
                      <a:endParaRPr kumimoji="0" lang="zh-CN" altLang="zh-CN" sz="18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dirty="0">
                          <a:ln>
                            <a:noFill/>
                          </a:ln>
                          <a:solidFill>
                            <a:srgbClr val="000000"/>
                          </a:solidFill>
                          <a:effectLst/>
                          <a:latin typeface="Times New Roman" pitchFamily="18" charset="0"/>
                          <a:ea typeface="黑体" pitchFamily="49" charset="-122"/>
                          <a:cs typeface="Times New Roman" pitchFamily="18" charset="0"/>
                        </a:rPr>
                        <a:t>25</a:t>
                      </a:r>
                      <a:endParaRPr kumimoji="0" lang="zh-CN" altLang="zh-CN" sz="18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67943" marR="6794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32898" name="TextBox 2"/>
          <p:cNvSpPr txBox="1">
            <a:spLocks noChangeArrowheads="1"/>
          </p:cNvSpPr>
          <p:nvPr/>
        </p:nvSpPr>
        <p:spPr bwMode="auto">
          <a:xfrm>
            <a:off x="3837764" y="1276687"/>
            <a:ext cx="4756150" cy="519113"/>
          </a:xfrm>
          <a:prstGeom prst="rect">
            <a:avLst/>
          </a:prstGeom>
          <a:noFill/>
          <a:ln w="9525">
            <a:noFill/>
            <a:miter lim="800000"/>
            <a:headEnd/>
            <a:tailEnd/>
          </a:ln>
        </p:spPr>
        <p:txBody>
          <a:bodyPr>
            <a:spAutoFit/>
          </a:bodyPr>
          <a:lstStyle/>
          <a:p>
            <a:pPr algn="ctr" defTabSz="914400"/>
            <a:r>
              <a:rPr lang="en-US" altLang="zh-CN" sz="2800" b="1" dirty="0">
                <a:solidFill>
                  <a:srgbClr val="0000CC"/>
                </a:solidFill>
                <a:latin typeface="微软雅黑" pitchFamily="34" charset="-122"/>
                <a:ea typeface="微软雅黑" pitchFamily="34" charset="-122"/>
              </a:rPr>
              <a:t>(2)</a:t>
            </a:r>
            <a:r>
              <a:rPr lang="zh-CN" altLang="en-US" sz="2800" b="1" dirty="0">
                <a:solidFill>
                  <a:srgbClr val="0000CC"/>
                </a:solidFill>
                <a:latin typeface="微软雅黑" pitchFamily="34" charset="-122"/>
                <a:ea typeface="微软雅黑" pitchFamily="34" charset="-122"/>
              </a:rPr>
              <a:t>典型二维</a:t>
            </a:r>
            <a:r>
              <a:rPr lang="en-US" altLang="zh-CN" sz="2800" b="1" dirty="0">
                <a:solidFill>
                  <a:srgbClr val="0000CC"/>
                </a:solidFill>
                <a:latin typeface="微软雅黑" pitchFamily="34" charset="-122"/>
                <a:ea typeface="微软雅黑" pitchFamily="34" charset="-122"/>
              </a:rPr>
              <a:t>PSD</a:t>
            </a:r>
            <a:r>
              <a:rPr lang="zh-CN" altLang="en-US" sz="2800" b="1" dirty="0">
                <a:solidFill>
                  <a:srgbClr val="0000CC"/>
                </a:solidFill>
                <a:latin typeface="微软雅黑" pitchFamily="34" charset="-122"/>
                <a:ea typeface="微软雅黑" pitchFamily="34" charset="-122"/>
              </a:rPr>
              <a:t>特性参数</a:t>
            </a:r>
          </a:p>
        </p:txBody>
      </p:sp>
      <p:sp>
        <p:nvSpPr>
          <p:cNvPr id="32899" name="TextBox 3"/>
          <p:cNvSpPr txBox="1">
            <a:spLocks noChangeArrowheads="1"/>
          </p:cNvSpPr>
          <p:nvPr/>
        </p:nvSpPr>
        <p:spPr bwMode="auto">
          <a:xfrm>
            <a:off x="468348" y="6044257"/>
            <a:ext cx="11866461" cy="461665"/>
          </a:xfrm>
          <a:prstGeom prst="rect">
            <a:avLst/>
          </a:prstGeom>
          <a:noFill/>
          <a:ln w="9525">
            <a:noFill/>
            <a:miter lim="800000"/>
            <a:headEnd/>
            <a:tailEnd/>
          </a:ln>
        </p:spPr>
        <p:txBody>
          <a:bodyPr wrap="square">
            <a:spAutoFit/>
          </a:bodyPr>
          <a:lstStyle/>
          <a:p>
            <a:pPr defTabSz="914400"/>
            <a:r>
              <a:rPr lang="zh-CN" altLang="en-US" sz="2400" b="1" dirty="0">
                <a:latin typeface="Times New Roman" pitchFamily="18" charset="0"/>
                <a:ea typeface="微软雅黑" pitchFamily="34" charset="-122"/>
                <a:cs typeface="Times New Roman" pitchFamily="18" charset="0"/>
              </a:rPr>
              <a:t>注：测试条件</a:t>
            </a:r>
            <a:r>
              <a:rPr lang="en-US" altLang="zh-CN" sz="2400" b="1" dirty="0">
                <a:latin typeface="Times New Roman" pitchFamily="18" charset="0"/>
                <a:ea typeface="微软雅黑" pitchFamily="34" charset="-122"/>
                <a:cs typeface="Times New Roman" pitchFamily="18" charset="0"/>
              </a:rPr>
              <a:t>T=25</a:t>
            </a:r>
            <a:r>
              <a:rPr lang="zh-CN" altLang="en-US" sz="2400" b="1" dirty="0">
                <a:latin typeface="Times New Roman" pitchFamily="18" charset="0"/>
                <a:ea typeface="微软雅黑" pitchFamily="34" charset="-122"/>
                <a:cs typeface="Times New Roman" pitchFamily="18" charset="0"/>
              </a:rPr>
              <a:t>℃，</a:t>
            </a:r>
            <a:r>
              <a:rPr lang="en-US" altLang="zh-CN" sz="2400" b="1" dirty="0">
                <a:latin typeface="Times New Roman" pitchFamily="18" charset="0"/>
                <a:ea typeface="微软雅黑" pitchFamily="34" charset="-122"/>
                <a:cs typeface="Times New Roman" pitchFamily="18" charset="0"/>
              </a:rPr>
              <a:t>V</a:t>
            </a:r>
            <a:r>
              <a:rPr lang="en-US" altLang="zh-CN" sz="2400" b="1" baseline="-25000" dirty="0">
                <a:latin typeface="Times New Roman" pitchFamily="18" charset="0"/>
                <a:ea typeface="微软雅黑" pitchFamily="34" charset="-122"/>
                <a:cs typeface="Times New Roman" pitchFamily="18" charset="0"/>
              </a:rPr>
              <a:t>BIAS</a:t>
            </a:r>
            <a:r>
              <a:rPr lang="en-US" altLang="zh-CN" sz="2400" b="1" dirty="0">
                <a:latin typeface="Times New Roman" pitchFamily="18" charset="0"/>
                <a:ea typeface="微软雅黑" pitchFamily="34" charset="-122"/>
                <a:cs typeface="Times New Roman" pitchFamily="18" charset="0"/>
              </a:rPr>
              <a:t>=-15V</a:t>
            </a:r>
            <a:r>
              <a:rPr lang="zh-CN" altLang="en-US" sz="2400" b="1" dirty="0">
                <a:latin typeface="Times New Roman" pitchFamily="18" charset="0"/>
                <a:ea typeface="微软雅黑" pitchFamily="34" charset="-122"/>
                <a:cs typeface="Times New Roman" pitchFamily="18" charset="0"/>
              </a:rPr>
              <a:t>，波长</a:t>
            </a:r>
            <a:r>
              <a:rPr lang="en-US" altLang="zh-CN" sz="2400" b="1" dirty="0">
                <a:latin typeface="Times New Roman" pitchFamily="18" charset="0"/>
                <a:ea typeface="微软雅黑" pitchFamily="34" charset="-122"/>
                <a:cs typeface="Times New Roman" pitchFamily="18" charset="0"/>
              </a:rPr>
              <a:t>670nm</a:t>
            </a:r>
            <a:r>
              <a:rPr lang="zh-CN" altLang="en-US" sz="2400" b="1" dirty="0">
                <a:latin typeface="Times New Roman" pitchFamily="18" charset="0"/>
                <a:ea typeface="微软雅黑" pitchFamily="34" charset="-122"/>
                <a:cs typeface="Times New Roman" pitchFamily="18" charset="0"/>
              </a:rPr>
              <a:t>，误差在长度</a:t>
            </a:r>
            <a:r>
              <a:rPr lang="en-US" altLang="zh-CN" sz="2400" b="1" dirty="0">
                <a:latin typeface="Times New Roman" pitchFamily="18" charset="0"/>
                <a:ea typeface="微软雅黑" pitchFamily="34" charset="-122"/>
                <a:cs typeface="Times New Roman" pitchFamily="18" charset="0"/>
              </a:rPr>
              <a:t>64%~80%</a:t>
            </a:r>
            <a:r>
              <a:rPr lang="zh-CN" altLang="en-US" sz="2400" b="1" dirty="0">
                <a:latin typeface="Times New Roman" pitchFamily="18" charset="0"/>
                <a:ea typeface="微软雅黑" pitchFamily="34" charset="-122"/>
                <a:cs typeface="Times New Roman" pitchFamily="18" charset="0"/>
              </a:rPr>
              <a:t>的感应区测量</a:t>
            </a:r>
          </a:p>
        </p:txBody>
      </p:sp>
      <p:grpSp>
        <p:nvGrpSpPr>
          <p:cNvPr id="11" name="组合 10">
            <a:extLst>
              <a:ext uri="{FF2B5EF4-FFF2-40B4-BE49-F238E27FC236}">
                <a16:creationId xmlns:a16="http://schemas.microsoft.com/office/drawing/2014/main" id="{15756768-C2E5-4CEB-8141-CB7A226159DA}"/>
              </a:ext>
            </a:extLst>
          </p:cNvPr>
          <p:cNvGrpSpPr/>
          <p:nvPr/>
        </p:nvGrpSpPr>
        <p:grpSpPr>
          <a:xfrm>
            <a:off x="0" y="293282"/>
            <a:ext cx="13161246" cy="7421968"/>
            <a:chOff x="0" y="293282"/>
            <a:chExt cx="13161246" cy="7421968"/>
          </a:xfrm>
        </p:grpSpPr>
        <p:sp>
          <p:nvSpPr>
            <p:cNvPr id="17" name="文本框 60">
              <a:extLst>
                <a:ext uri="{FF2B5EF4-FFF2-40B4-BE49-F238E27FC236}">
                  <a16:creationId xmlns:a16="http://schemas.microsoft.com/office/drawing/2014/main" id="{9E0E4B8D-9C06-4FB3-B3B1-48E7A1981C44}"/>
                </a:ext>
              </a:extLst>
            </p:cNvPr>
            <p:cNvSpPr txBox="1"/>
            <p:nvPr/>
          </p:nvSpPr>
          <p:spPr>
            <a:xfrm>
              <a:off x="1364781" y="293282"/>
              <a:ext cx="3569826"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主要特性参数</a:t>
              </a:r>
            </a:p>
          </p:txBody>
        </p:sp>
        <p:sp>
          <p:nvSpPr>
            <p:cNvPr id="18" name="矩形 17">
              <a:extLst>
                <a:ext uri="{FF2B5EF4-FFF2-40B4-BE49-F238E27FC236}">
                  <a16:creationId xmlns:a16="http://schemas.microsoft.com/office/drawing/2014/main" id="{8A155770-7D6B-43C7-8174-D9B039A5DD99}"/>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9" name="矩形 18">
              <a:extLst>
                <a:ext uri="{FF2B5EF4-FFF2-40B4-BE49-F238E27FC236}">
                  <a16:creationId xmlns:a16="http://schemas.microsoft.com/office/drawing/2014/main" id="{6B0579B9-9CCE-4AA6-8C10-1E8B15DD3140}"/>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a:extLst>
                <a:ext uri="{FF2B5EF4-FFF2-40B4-BE49-F238E27FC236}">
                  <a16:creationId xmlns:a16="http://schemas.microsoft.com/office/drawing/2014/main" id="{9156AD40-0A9D-47AD-9E46-CD0EEC15AA5B}"/>
                </a:ext>
              </a:extLst>
            </p:cNvPr>
            <p:cNvSpPr/>
            <p:nvPr/>
          </p:nvSpPr>
          <p:spPr>
            <a:xfrm>
              <a:off x="304801" y="293282"/>
              <a:ext cx="979824"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4.7.3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1" name="直接连接符 58">
              <a:extLst>
                <a:ext uri="{FF2B5EF4-FFF2-40B4-BE49-F238E27FC236}">
                  <a16:creationId xmlns:a16="http://schemas.microsoft.com/office/drawing/2014/main" id="{DD9FB482-17CC-4FA3-9D4C-93D7FEB1DAE1}"/>
                </a:ext>
              </a:extLst>
            </p:cNvPr>
            <p:cNvCxnSpPr>
              <a:cxnSpLocks/>
            </p:cNvCxnSpPr>
            <p:nvPr/>
          </p:nvCxnSpPr>
          <p:spPr>
            <a:xfrm>
              <a:off x="1450506" y="710998"/>
              <a:ext cx="3336956"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2" name="矩形 21">
              <a:extLst>
                <a:ext uri="{FF2B5EF4-FFF2-40B4-BE49-F238E27FC236}">
                  <a16:creationId xmlns:a16="http://schemas.microsoft.com/office/drawing/2014/main" id="{993493EC-2861-4802-BBCF-54BEE40AFA7A}"/>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3" name="矩形 22">
              <a:extLst>
                <a:ext uri="{FF2B5EF4-FFF2-40B4-BE49-F238E27FC236}">
                  <a16:creationId xmlns:a16="http://schemas.microsoft.com/office/drawing/2014/main" id="{7F8F79B3-C52D-4514-B122-49F2A26EA835}"/>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extLst>
      <p:ext uri="{BB962C8B-B14F-4D97-AF65-F5344CB8AC3E}">
        <p14:creationId xmlns:p14="http://schemas.microsoft.com/office/powerpoint/2010/main" val="41191992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id="{791D85D7-F412-9C48-9F2B-E33F5B7B4F3C}"/>
              </a:ext>
            </a:extLst>
          </p:cNvPr>
          <p:cNvSpPr txBox="1"/>
          <p:nvPr/>
        </p:nvSpPr>
        <p:spPr>
          <a:xfrm>
            <a:off x="1364781" y="293282"/>
            <a:ext cx="3569826" cy="369332"/>
          </a:xfrm>
          <a:prstGeom prst="rect">
            <a:avLst/>
          </a:prstGeom>
          <a:noFill/>
          <a:ln w="9525">
            <a:noFill/>
          </a:ln>
        </p:spPr>
        <p:txBody>
          <a:bodyPr wrap="square">
            <a:spAutoFit/>
          </a:bodyPr>
          <a:lstStyle/>
          <a:p>
            <a:r>
              <a:rPr lang="en-US" altLang="zh-CN" sz="1800" b="1" dirty="0">
                <a:latin typeface="微软雅黑" panose="020B0503020204020204" pitchFamily="34" charset="-122"/>
                <a:ea typeface="微软雅黑" panose="020B0503020204020204" pitchFamily="34" charset="-122"/>
              </a:rPr>
              <a:t>PSD</a:t>
            </a:r>
            <a:r>
              <a:rPr lang="zh-CN" altLang="en-US" sz="1800" b="1" dirty="0">
                <a:latin typeface="微软雅黑" panose="020B0503020204020204" pitchFamily="34" charset="-122"/>
                <a:ea typeface="微软雅黑" panose="020B0503020204020204" pitchFamily="34" charset="-122"/>
              </a:rPr>
              <a:t>主要应用</a:t>
            </a:r>
          </a:p>
        </p:txBody>
      </p:sp>
      <p:sp>
        <p:nvSpPr>
          <p:cNvPr id="19" name="矩形: 圆角 18">
            <a:extLst>
              <a:ext uri="{FF2B5EF4-FFF2-40B4-BE49-F238E27FC236}">
                <a16:creationId xmlns:a16="http://schemas.microsoft.com/office/drawing/2014/main" id="{71B2A563-AC54-5347-B843-4478DF223CDE}"/>
              </a:ext>
            </a:extLst>
          </p:cNvPr>
          <p:cNvSpPr/>
          <p:nvPr/>
        </p:nvSpPr>
        <p:spPr>
          <a:xfrm>
            <a:off x="3642999" y="3397018"/>
            <a:ext cx="8443898" cy="1110985"/>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4000" b="1" dirty="0">
                <a:solidFill>
                  <a:schemeClr val="bg1"/>
                </a:solidFill>
                <a:latin typeface="Microsoft YaHei" panose="020B0503020204020204" pitchFamily="34" charset="-122"/>
                <a:ea typeface="Microsoft YaHei" panose="020B0503020204020204" pitchFamily="34" charset="-122"/>
              </a:rPr>
              <a:t>PSD</a:t>
            </a:r>
            <a:r>
              <a:rPr kumimoji="1" lang="zh-CN" altLang="en-US" sz="4000" b="1" dirty="0">
                <a:solidFill>
                  <a:schemeClr val="bg1"/>
                </a:solidFill>
                <a:latin typeface="Microsoft YaHei" panose="020B0503020204020204" pitchFamily="34" charset="-122"/>
                <a:ea typeface="Microsoft YaHei" panose="020B0503020204020204" pitchFamily="34" charset="-122"/>
              </a:rPr>
              <a:t>主要应用</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4" name="矩形 23">
            <a:extLst>
              <a:ext uri="{FF2B5EF4-FFF2-40B4-BE49-F238E27FC236}">
                <a16:creationId xmlns:a16="http://schemas.microsoft.com/office/drawing/2014/main" id="{045D4FB5-3BA7-4366-9C2A-762F1105D91A}"/>
              </a:ext>
            </a:extLst>
          </p:cNvPr>
          <p:cNvSpPr/>
          <p:nvPr/>
        </p:nvSpPr>
        <p:spPr>
          <a:xfrm>
            <a:off x="1546631" y="3333750"/>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0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4.7.4</a:t>
            </a:r>
            <a:endParaRPr kumimoji="1" lang="zh-CN" altLang="en-US" sz="60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D7400AB1-4BEC-40E5-A53B-E3CB1F48EB8A}"/>
              </a:ext>
            </a:extLst>
          </p:cNvPr>
          <p:cNvSpPr/>
          <p:nvPr/>
        </p:nvSpPr>
        <p:spPr>
          <a:xfrm>
            <a:off x="304801" y="293282"/>
            <a:ext cx="979824"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4.7.4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a16="http://schemas.microsoft.com/office/drawing/2014/main" id="{8C5F82EF-52B4-4531-96F0-44689EA1125E}"/>
              </a:ext>
            </a:extLst>
          </p:cNvPr>
          <p:cNvCxnSpPr>
            <a:cxnSpLocks/>
          </p:cNvCxnSpPr>
          <p:nvPr/>
        </p:nvCxnSpPr>
        <p:spPr>
          <a:xfrm>
            <a:off x="1450506" y="710998"/>
            <a:ext cx="3336956"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25886584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TextBox 2"/>
          <p:cNvSpPr txBox="1">
            <a:spLocks noChangeArrowheads="1"/>
          </p:cNvSpPr>
          <p:nvPr/>
        </p:nvSpPr>
        <p:spPr bwMode="auto">
          <a:xfrm>
            <a:off x="3853800" y="1206771"/>
            <a:ext cx="5245100" cy="579438"/>
          </a:xfrm>
          <a:prstGeom prst="rect">
            <a:avLst/>
          </a:prstGeom>
          <a:noFill/>
          <a:ln w="9525">
            <a:noFill/>
            <a:miter lim="800000"/>
            <a:headEnd/>
            <a:tailEnd/>
          </a:ln>
        </p:spPr>
        <p:txBody>
          <a:bodyPr>
            <a:spAutoFit/>
          </a:bodyPr>
          <a:lstStyle/>
          <a:p>
            <a:pPr algn="ctr" defTabSz="914400"/>
            <a:r>
              <a:rPr lang="en-US" altLang="zh-CN" sz="3200" b="1" dirty="0">
                <a:solidFill>
                  <a:srgbClr val="0000CC"/>
                </a:solidFill>
                <a:latin typeface="Times New Roman" pitchFamily="18" charset="0"/>
                <a:ea typeface="微软雅黑" pitchFamily="34" charset="-122"/>
                <a:cs typeface="Times New Roman" pitchFamily="18" charset="0"/>
              </a:rPr>
              <a:t>1 PSD</a:t>
            </a:r>
            <a:r>
              <a:rPr lang="zh-CN" altLang="en-US" sz="3200" b="1" dirty="0">
                <a:solidFill>
                  <a:srgbClr val="0000CC"/>
                </a:solidFill>
                <a:latin typeface="Times New Roman" pitchFamily="18" charset="0"/>
                <a:ea typeface="微软雅黑" pitchFamily="34" charset="-122"/>
                <a:cs typeface="Times New Roman" pitchFamily="18" charset="0"/>
              </a:rPr>
              <a:t>微小厚度变化量测量</a:t>
            </a:r>
          </a:p>
        </p:txBody>
      </p:sp>
      <p:sp>
        <p:nvSpPr>
          <p:cNvPr id="9222" name="TextBox 4"/>
          <p:cNvSpPr txBox="1">
            <a:spLocks noChangeArrowheads="1"/>
          </p:cNvSpPr>
          <p:nvPr/>
        </p:nvSpPr>
        <p:spPr bwMode="auto">
          <a:xfrm>
            <a:off x="556314" y="2089507"/>
            <a:ext cx="7409369" cy="3323987"/>
          </a:xfrm>
          <a:prstGeom prst="rect">
            <a:avLst/>
          </a:prstGeom>
          <a:noFill/>
          <a:ln w="9525">
            <a:noFill/>
            <a:miter lim="800000"/>
            <a:headEnd/>
            <a:tailEnd/>
          </a:ln>
        </p:spPr>
        <p:txBody>
          <a:bodyPr wrap="square">
            <a:spAutoFit/>
          </a:bodyPr>
          <a:lstStyle/>
          <a:p>
            <a:pPr defTabSz="914400">
              <a:lnSpc>
                <a:spcPct val="150000"/>
              </a:lnSpc>
            </a:pPr>
            <a:r>
              <a:rPr lang="en-US" altLang="zh-CN" sz="2800" b="1" dirty="0">
                <a:latin typeface="Times New Roman" pitchFamily="18" charset="0"/>
                <a:ea typeface="微软雅黑" pitchFamily="34" charset="-122"/>
                <a:cs typeface="Times New Roman" pitchFamily="18" charset="0"/>
              </a:rPr>
              <a:t>	</a:t>
            </a:r>
            <a:r>
              <a:rPr lang="zh-CN" altLang="en-US" sz="2800" b="1" dirty="0">
                <a:latin typeface="Times New Roman" pitchFamily="18" charset="0"/>
                <a:ea typeface="微软雅黑" pitchFamily="34" charset="-122"/>
                <a:cs typeface="Times New Roman" pitchFamily="18" charset="0"/>
              </a:rPr>
              <a:t>激光以入射角入射到被测物体表面点</a:t>
            </a:r>
            <a:r>
              <a:rPr lang="en-US" altLang="zh-CN" sz="2800" b="1" i="1" dirty="0">
                <a:latin typeface="Times New Roman" pitchFamily="18" charset="0"/>
                <a:ea typeface="微软雅黑" pitchFamily="34" charset="-122"/>
                <a:cs typeface="Times New Roman" pitchFamily="18" charset="0"/>
              </a:rPr>
              <a:t>A</a:t>
            </a:r>
            <a:r>
              <a:rPr lang="zh-CN" altLang="en-US" sz="2800" b="1" dirty="0">
                <a:latin typeface="Times New Roman" pitchFamily="18" charset="0"/>
                <a:ea typeface="微软雅黑" pitchFamily="34" charset="-122"/>
                <a:cs typeface="Times New Roman" pitchFamily="18" charset="0"/>
              </a:rPr>
              <a:t>，由成像透镜把点成像在</a:t>
            </a:r>
            <a:r>
              <a:rPr lang="en-US" altLang="zh-CN" sz="2800" b="1" dirty="0">
                <a:latin typeface="Times New Roman" pitchFamily="18" charset="0"/>
                <a:ea typeface="微软雅黑" pitchFamily="34" charset="-122"/>
                <a:cs typeface="Times New Roman" pitchFamily="18" charset="0"/>
              </a:rPr>
              <a:t>PSD</a:t>
            </a:r>
            <a:r>
              <a:rPr lang="zh-CN" altLang="en-US" sz="2800" b="1" dirty="0">
                <a:latin typeface="Times New Roman" pitchFamily="18" charset="0"/>
                <a:ea typeface="微软雅黑" pitchFamily="34" charset="-122"/>
                <a:cs typeface="Times New Roman" pitchFamily="18" charset="0"/>
              </a:rPr>
              <a:t>上</a:t>
            </a:r>
            <a:r>
              <a:rPr lang="en-US" altLang="zh-CN" sz="2800" b="1" i="1" dirty="0">
                <a:latin typeface="Times New Roman" pitchFamily="18" charset="0"/>
                <a:ea typeface="微软雅黑" pitchFamily="34" charset="-122"/>
                <a:cs typeface="Times New Roman" pitchFamily="18" charset="0"/>
              </a:rPr>
              <a:t>O</a:t>
            </a:r>
            <a:r>
              <a:rPr lang="zh-CN" altLang="en-US" sz="2800" b="1" dirty="0">
                <a:latin typeface="Times New Roman" pitchFamily="18" charset="0"/>
                <a:ea typeface="微软雅黑" pitchFamily="34" charset="-122"/>
                <a:cs typeface="Times New Roman" pitchFamily="18" charset="0"/>
              </a:rPr>
              <a:t>处，若物体厚度变化为</a:t>
            </a:r>
            <a:r>
              <a:rPr lang="en-US" sz="2800" b="1" dirty="0">
                <a:latin typeface="Times New Roman" pitchFamily="18" charset="0"/>
                <a:ea typeface="微软雅黑" pitchFamily="34" charset="-122"/>
                <a:cs typeface="Times New Roman" pitchFamily="18" charset="0"/>
              </a:rPr>
              <a:t> </a:t>
            </a:r>
            <a:r>
              <a:rPr lang="zh-CN" altLang="en-US" sz="2800" b="1" dirty="0">
                <a:latin typeface="Times New Roman" pitchFamily="18" charset="0"/>
                <a:ea typeface="微软雅黑" pitchFamily="34" charset="-122"/>
                <a:cs typeface="Times New Roman" pitchFamily="18" charset="0"/>
              </a:rPr>
              <a:t>，则入射光射到表面点</a:t>
            </a:r>
            <a:r>
              <a:rPr lang="en-US" sz="2800" b="1" dirty="0">
                <a:latin typeface="Times New Roman" pitchFamily="18" charset="0"/>
                <a:ea typeface="微软雅黑" pitchFamily="34" charset="-122"/>
                <a:cs typeface="Times New Roman" pitchFamily="18" charset="0"/>
              </a:rPr>
              <a:t> </a:t>
            </a:r>
            <a:r>
              <a:rPr lang="zh-CN" altLang="en-US" sz="2800" b="1" dirty="0">
                <a:latin typeface="Times New Roman" pitchFamily="18" charset="0"/>
                <a:ea typeface="微软雅黑" pitchFamily="34" charset="-122"/>
                <a:cs typeface="Times New Roman" pitchFamily="18" charset="0"/>
              </a:rPr>
              <a:t>，并成像于</a:t>
            </a:r>
            <a:r>
              <a:rPr lang="en-US" altLang="zh-CN" sz="2800" b="1" dirty="0">
                <a:latin typeface="Times New Roman" pitchFamily="18" charset="0"/>
                <a:ea typeface="微软雅黑" pitchFamily="34" charset="-122"/>
                <a:cs typeface="Times New Roman" pitchFamily="18" charset="0"/>
              </a:rPr>
              <a:t>PSD</a:t>
            </a:r>
            <a:r>
              <a:rPr lang="zh-CN" altLang="en-US" sz="2800" b="1" dirty="0">
                <a:latin typeface="Times New Roman" pitchFamily="18" charset="0"/>
                <a:ea typeface="微软雅黑" pitchFamily="34" charset="-122"/>
                <a:cs typeface="Times New Roman" pitchFamily="18" charset="0"/>
              </a:rPr>
              <a:t>上的</a:t>
            </a:r>
            <a:r>
              <a:rPr lang="en-US" sz="2800" b="1" dirty="0">
                <a:latin typeface="Times New Roman" pitchFamily="18" charset="0"/>
                <a:ea typeface="微软雅黑" pitchFamily="34" charset="-122"/>
                <a:cs typeface="Times New Roman" pitchFamily="18" charset="0"/>
              </a:rPr>
              <a:t> </a:t>
            </a:r>
            <a:r>
              <a:rPr lang="zh-CN" altLang="en-US" sz="2800" b="1" dirty="0">
                <a:latin typeface="Times New Roman" pitchFamily="18" charset="0"/>
                <a:ea typeface="微软雅黑" pitchFamily="34" charset="-122"/>
                <a:cs typeface="Times New Roman" pitchFamily="18" charset="0"/>
              </a:rPr>
              <a:t>点，</a:t>
            </a:r>
            <a:r>
              <a:rPr lang="en-US" sz="2800" b="1" dirty="0">
                <a:latin typeface="Times New Roman" pitchFamily="18" charset="0"/>
                <a:ea typeface="微软雅黑" pitchFamily="34" charset="-122"/>
                <a:cs typeface="Times New Roman" pitchFamily="18" charset="0"/>
              </a:rPr>
              <a:t> </a:t>
            </a:r>
            <a:r>
              <a:rPr lang="zh-CN" altLang="en-US" sz="2800" b="1" dirty="0">
                <a:latin typeface="Times New Roman" pitchFamily="18" charset="0"/>
                <a:ea typeface="微软雅黑" pitchFamily="34" charset="-122"/>
                <a:cs typeface="Times New Roman" pitchFamily="18" charset="0"/>
              </a:rPr>
              <a:t>点偏离</a:t>
            </a:r>
            <a:r>
              <a:rPr lang="en-US" altLang="zh-CN" sz="2800" b="1" i="1" dirty="0">
                <a:latin typeface="Times New Roman" pitchFamily="18" charset="0"/>
                <a:ea typeface="微软雅黑" pitchFamily="34" charset="-122"/>
                <a:cs typeface="Times New Roman" pitchFamily="18" charset="0"/>
              </a:rPr>
              <a:t>O</a:t>
            </a:r>
            <a:r>
              <a:rPr lang="zh-CN" altLang="en-US" sz="2800" b="1" dirty="0">
                <a:latin typeface="Times New Roman" pitchFamily="18" charset="0"/>
                <a:ea typeface="微软雅黑" pitchFamily="34" charset="-122"/>
                <a:cs typeface="Times New Roman" pitchFamily="18" charset="0"/>
              </a:rPr>
              <a:t>点的位移为</a:t>
            </a:r>
            <a:r>
              <a:rPr lang="en-US" altLang="zh-CN" sz="2800" b="1" dirty="0">
                <a:latin typeface="Times New Roman" pitchFamily="18" charset="0"/>
                <a:ea typeface="微软雅黑" pitchFamily="34" charset="-122"/>
                <a:cs typeface="Times New Roman" pitchFamily="18" charset="0"/>
              </a:rPr>
              <a:t>X</a:t>
            </a:r>
            <a:r>
              <a:rPr lang="zh-CN" altLang="en-US" sz="2800" b="1" dirty="0">
                <a:latin typeface="Times New Roman" pitchFamily="18" charset="0"/>
                <a:ea typeface="微软雅黑" pitchFamily="34" charset="-122"/>
                <a:cs typeface="Times New Roman" pitchFamily="18" charset="0"/>
              </a:rPr>
              <a:t>，则可以推出：</a:t>
            </a:r>
          </a:p>
        </p:txBody>
      </p:sp>
      <p:graphicFrame>
        <p:nvGraphicFramePr>
          <p:cNvPr id="9218" name="Object 3"/>
          <p:cNvGraphicFramePr>
            <a:graphicFrameLocks noChangeAspect="1"/>
          </p:cNvGraphicFramePr>
          <p:nvPr>
            <p:extLst>
              <p:ext uri="{D42A27DB-BD31-4B8C-83A1-F6EECF244321}">
                <p14:modId xmlns:p14="http://schemas.microsoft.com/office/powerpoint/2010/main" val="2303183252"/>
              </p:ext>
            </p:extLst>
          </p:nvPr>
        </p:nvGraphicFramePr>
        <p:xfrm>
          <a:off x="3422650" y="5820656"/>
          <a:ext cx="2205038" cy="869950"/>
        </p:xfrm>
        <a:graphic>
          <a:graphicData uri="http://schemas.openxmlformats.org/presentationml/2006/ole">
            <mc:AlternateContent xmlns:mc="http://schemas.openxmlformats.org/markup-compatibility/2006">
              <mc:Choice xmlns:v="urn:schemas-microsoft-com:vml" Requires="v">
                <p:oleObj spid="_x0000_s28684" r:id="rId3" imgW="990170" imgH="393529" progId="Equation.DSMT4">
                  <p:embed/>
                </p:oleObj>
              </mc:Choice>
              <mc:Fallback>
                <p:oleObj r:id="rId3" imgW="990170" imgH="393529"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2650" y="5820656"/>
                        <a:ext cx="2205038" cy="869950"/>
                      </a:xfrm>
                      <a:prstGeom prst="rect">
                        <a:avLst/>
                      </a:prstGeom>
                      <a:solidFill>
                        <a:srgbClr val="FFFF00"/>
                      </a:solidFill>
                    </p:spPr>
                  </p:pic>
                </p:oleObj>
              </mc:Fallback>
            </mc:AlternateContent>
          </a:graphicData>
        </a:graphic>
      </p:graphicFrame>
      <p:graphicFrame>
        <p:nvGraphicFramePr>
          <p:cNvPr id="17417" name="Object 9"/>
          <p:cNvGraphicFramePr>
            <a:graphicFrameLocks noChangeAspect="1"/>
          </p:cNvGraphicFramePr>
          <p:nvPr>
            <p:extLst>
              <p:ext uri="{D42A27DB-BD31-4B8C-83A1-F6EECF244321}">
                <p14:modId xmlns:p14="http://schemas.microsoft.com/office/powerpoint/2010/main" val="783783445"/>
              </p:ext>
            </p:extLst>
          </p:nvPr>
        </p:nvGraphicFramePr>
        <p:xfrm>
          <a:off x="7635875" y="2271713"/>
          <a:ext cx="5343525" cy="3859212"/>
        </p:xfrm>
        <a:graphic>
          <a:graphicData uri="http://schemas.openxmlformats.org/presentationml/2006/ole">
            <mc:AlternateContent xmlns:mc="http://schemas.openxmlformats.org/markup-compatibility/2006">
              <mc:Choice xmlns:v="urn:schemas-microsoft-com:vml" Requires="v">
                <p:oleObj spid="_x0000_s28685" name="Visio" r:id="rId5" imgW="2676507" imgH="1933464" progId="Visio.Drawing.11">
                  <p:embed/>
                </p:oleObj>
              </mc:Choice>
              <mc:Fallback>
                <p:oleObj name="Visio" r:id="rId5" imgW="2676507" imgH="1933464" progId="Visio.Drawing.11">
                  <p:embed/>
                  <p:pic>
                    <p:nvPicPr>
                      <p:cNvPr id="0" name=""/>
                      <p:cNvPicPr>
                        <a:picLocks noChangeAspect="1" noChangeArrowheads="1"/>
                      </p:cNvPicPr>
                      <p:nvPr/>
                    </p:nvPicPr>
                    <p:blipFill>
                      <a:blip r:embed="rId6"/>
                      <a:srcRect/>
                      <a:stretch>
                        <a:fillRect/>
                      </a:stretch>
                    </p:blipFill>
                    <p:spPr bwMode="auto">
                      <a:xfrm>
                        <a:off x="7635875" y="2271713"/>
                        <a:ext cx="5343525" cy="3859212"/>
                      </a:xfrm>
                      <a:prstGeom prst="rect">
                        <a:avLst/>
                      </a:prstGeom>
                      <a:noFill/>
                    </p:spPr>
                  </p:pic>
                </p:oleObj>
              </mc:Fallback>
            </mc:AlternateContent>
          </a:graphicData>
        </a:graphic>
      </p:graphicFrame>
      <p:grpSp>
        <p:nvGrpSpPr>
          <p:cNvPr id="12" name="组合 11">
            <a:extLst>
              <a:ext uri="{FF2B5EF4-FFF2-40B4-BE49-F238E27FC236}">
                <a16:creationId xmlns:a16="http://schemas.microsoft.com/office/drawing/2014/main" id="{78787578-E266-472B-A11E-A20F62CC6345}"/>
              </a:ext>
            </a:extLst>
          </p:cNvPr>
          <p:cNvGrpSpPr/>
          <p:nvPr/>
        </p:nvGrpSpPr>
        <p:grpSpPr>
          <a:xfrm>
            <a:off x="0" y="293282"/>
            <a:ext cx="13161246" cy="7421968"/>
            <a:chOff x="0" y="293282"/>
            <a:chExt cx="13161246" cy="7421968"/>
          </a:xfrm>
        </p:grpSpPr>
        <p:sp>
          <p:nvSpPr>
            <p:cNvPr id="13" name="文本框 60">
              <a:extLst>
                <a:ext uri="{FF2B5EF4-FFF2-40B4-BE49-F238E27FC236}">
                  <a16:creationId xmlns:a16="http://schemas.microsoft.com/office/drawing/2014/main" id="{5BEB40B0-C6CB-4A15-AC66-E85725C0EEA0}"/>
                </a:ext>
              </a:extLst>
            </p:cNvPr>
            <p:cNvSpPr txBox="1"/>
            <p:nvPr/>
          </p:nvSpPr>
          <p:spPr>
            <a:xfrm>
              <a:off x="1364781" y="293282"/>
              <a:ext cx="3569826" cy="369332"/>
            </a:xfrm>
            <a:prstGeom prst="rect">
              <a:avLst/>
            </a:prstGeom>
            <a:noFill/>
            <a:ln w="9525">
              <a:noFill/>
            </a:ln>
          </p:spPr>
          <p:txBody>
            <a:bodyPr wrap="square">
              <a:spAutoFit/>
            </a:bodyPr>
            <a:lstStyle/>
            <a:p>
              <a:r>
                <a:rPr lang="en-US" altLang="zh-CN" sz="1800" b="1" dirty="0">
                  <a:latin typeface="微软雅黑" panose="020B0503020204020204" pitchFamily="34" charset="-122"/>
                  <a:ea typeface="微软雅黑" panose="020B0503020204020204" pitchFamily="34" charset="-122"/>
                </a:rPr>
                <a:t>PSD</a:t>
              </a:r>
              <a:r>
                <a:rPr lang="zh-CN" altLang="en-US" sz="1800" b="1" dirty="0">
                  <a:latin typeface="微软雅黑" panose="020B0503020204020204" pitchFamily="34" charset="-122"/>
                  <a:ea typeface="微软雅黑" panose="020B0503020204020204" pitchFamily="34" charset="-122"/>
                </a:rPr>
                <a:t>主要应用</a:t>
              </a:r>
            </a:p>
          </p:txBody>
        </p:sp>
        <p:sp>
          <p:nvSpPr>
            <p:cNvPr id="20" name="矩形 19">
              <a:extLst>
                <a:ext uri="{FF2B5EF4-FFF2-40B4-BE49-F238E27FC236}">
                  <a16:creationId xmlns:a16="http://schemas.microsoft.com/office/drawing/2014/main" id="{B18A9CDF-CEC3-4546-9CB8-47FD9B179906}"/>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1" name="矩形 20">
              <a:extLst>
                <a:ext uri="{FF2B5EF4-FFF2-40B4-BE49-F238E27FC236}">
                  <a16:creationId xmlns:a16="http://schemas.microsoft.com/office/drawing/2014/main" id="{53CCC304-AE8D-435A-B7AF-A0E1582B2932}"/>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圆角 21">
              <a:extLst>
                <a:ext uri="{FF2B5EF4-FFF2-40B4-BE49-F238E27FC236}">
                  <a16:creationId xmlns:a16="http://schemas.microsoft.com/office/drawing/2014/main" id="{F670295F-DA38-4358-8C75-699B631CE52B}"/>
                </a:ext>
              </a:extLst>
            </p:cNvPr>
            <p:cNvSpPr/>
            <p:nvPr/>
          </p:nvSpPr>
          <p:spPr>
            <a:xfrm>
              <a:off x="304801" y="293282"/>
              <a:ext cx="979824"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4.7.4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3" name="直接连接符 58">
              <a:extLst>
                <a:ext uri="{FF2B5EF4-FFF2-40B4-BE49-F238E27FC236}">
                  <a16:creationId xmlns:a16="http://schemas.microsoft.com/office/drawing/2014/main" id="{BCEC02AE-C947-4F09-8F1B-DC4A85CD8EB4}"/>
                </a:ext>
              </a:extLst>
            </p:cNvPr>
            <p:cNvCxnSpPr>
              <a:cxnSpLocks/>
            </p:cNvCxnSpPr>
            <p:nvPr/>
          </p:nvCxnSpPr>
          <p:spPr>
            <a:xfrm>
              <a:off x="1450506" y="710998"/>
              <a:ext cx="3336956"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4" name="矩形 23">
              <a:extLst>
                <a:ext uri="{FF2B5EF4-FFF2-40B4-BE49-F238E27FC236}">
                  <a16:creationId xmlns:a16="http://schemas.microsoft.com/office/drawing/2014/main" id="{B2C2ED6A-D9F2-4B96-828E-1E78D6CC86C1}"/>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5" name="矩形 24">
              <a:extLst>
                <a:ext uri="{FF2B5EF4-FFF2-40B4-BE49-F238E27FC236}">
                  <a16:creationId xmlns:a16="http://schemas.microsoft.com/office/drawing/2014/main" id="{DEF98232-DE03-4B79-BB3F-46BC4FE746DF}"/>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extLst>
      <p:ext uri="{BB962C8B-B14F-4D97-AF65-F5344CB8AC3E}">
        <p14:creationId xmlns:p14="http://schemas.microsoft.com/office/powerpoint/2010/main" val="1094423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220"/>
                                        </p:tgtEl>
                                        <p:attrNameLst>
                                          <p:attrName>style.visibility</p:attrName>
                                        </p:attrNameLst>
                                      </p:cBhvr>
                                      <p:to>
                                        <p:strVal val="visible"/>
                                      </p:to>
                                    </p:set>
                                    <p:animEffect transition="in" filter="box(in)">
                                      <p:cBhvr>
                                        <p:cTn id="7" dur="500"/>
                                        <p:tgtEl>
                                          <p:spTgt spid="922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7417"/>
                                        </p:tgtEl>
                                        <p:attrNameLst>
                                          <p:attrName>style.visibility</p:attrName>
                                        </p:attrNameLst>
                                      </p:cBhvr>
                                      <p:to>
                                        <p:strVal val="visible"/>
                                      </p:to>
                                    </p:set>
                                    <p:animEffect transition="in" filter="box(in)">
                                      <p:cBhvr>
                                        <p:cTn id="12" dur="500"/>
                                        <p:tgtEl>
                                          <p:spTgt spid="17417"/>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9222"/>
                                        </p:tgtEl>
                                        <p:attrNameLst>
                                          <p:attrName>style.visibility</p:attrName>
                                        </p:attrNameLst>
                                      </p:cBhvr>
                                      <p:to>
                                        <p:strVal val="visible"/>
                                      </p:to>
                                    </p:set>
                                    <p:animEffect transition="in" filter="box(in)">
                                      <p:cBhvr>
                                        <p:cTn id="17" dur="500"/>
                                        <p:tgtEl>
                                          <p:spTgt spid="9222"/>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9218"/>
                                        </p:tgtEl>
                                        <p:attrNameLst>
                                          <p:attrName>style.visibility</p:attrName>
                                        </p:attrNameLst>
                                      </p:cBhvr>
                                      <p:to>
                                        <p:strVal val="visible"/>
                                      </p:to>
                                    </p:set>
                                    <p:animEffect transition="in" filter="box(in)">
                                      <p:cBhvr>
                                        <p:cTn id="22" dur="500"/>
                                        <p:tgtEl>
                                          <p:spTgt spid="92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0" grpId="0"/>
      <p:bldP spid="922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8" name="TextBox 2"/>
          <p:cNvSpPr txBox="1">
            <a:spLocks noChangeArrowheads="1"/>
          </p:cNvSpPr>
          <p:nvPr/>
        </p:nvSpPr>
        <p:spPr bwMode="auto">
          <a:xfrm>
            <a:off x="4609365" y="1069984"/>
            <a:ext cx="3733800" cy="579437"/>
          </a:xfrm>
          <a:prstGeom prst="rect">
            <a:avLst/>
          </a:prstGeom>
          <a:noFill/>
          <a:ln w="9525">
            <a:noFill/>
            <a:miter lim="800000"/>
            <a:headEnd/>
            <a:tailEnd/>
          </a:ln>
        </p:spPr>
        <p:txBody>
          <a:bodyPr>
            <a:spAutoFit/>
          </a:bodyPr>
          <a:lstStyle/>
          <a:p>
            <a:pPr algn="ctr" defTabSz="914400"/>
            <a:r>
              <a:rPr lang="en-US" altLang="zh-CN" sz="3200" b="1" dirty="0">
                <a:solidFill>
                  <a:srgbClr val="0000CC"/>
                </a:solidFill>
                <a:latin typeface="Times New Roman" pitchFamily="18" charset="0"/>
                <a:ea typeface="微软雅黑" pitchFamily="34" charset="-122"/>
                <a:cs typeface="Times New Roman" pitchFamily="18" charset="0"/>
              </a:rPr>
              <a:t>2 PSD</a:t>
            </a:r>
            <a:r>
              <a:rPr lang="zh-CN" altLang="en-US" sz="3200" b="1" dirty="0">
                <a:solidFill>
                  <a:srgbClr val="0000CC"/>
                </a:solidFill>
                <a:latin typeface="Times New Roman" pitchFamily="18" charset="0"/>
                <a:ea typeface="微软雅黑" pitchFamily="34" charset="-122"/>
                <a:cs typeface="Times New Roman" pitchFamily="18" charset="0"/>
              </a:rPr>
              <a:t>精密定位</a:t>
            </a:r>
          </a:p>
        </p:txBody>
      </p:sp>
      <p:sp>
        <p:nvSpPr>
          <p:cNvPr id="35849" name="TextBox 3"/>
          <p:cNvSpPr txBox="1">
            <a:spLocks noChangeArrowheads="1"/>
          </p:cNvSpPr>
          <p:nvPr/>
        </p:nvSpPr>
        <p:spPr bwMode="auto">
          <a:xfrm>
            <a:off x="716756" y="2329473"/>
            <a:ext cx="7021996" cy="1200329"/>
          </a:xfrm>
          <a:prstGeom prst="rect">
            <a:avLst/>
          </a:prstGeom>
          <a:noFill/>
          <a:ln w="9525">
            <a:noFill/>
            <a:miter lim="800000"/>
            <a:headEnd/>
            <a:tailEnd/>
          </a:ln>
        </p:spPr>
        <p:txBody>
          <a:bodyPr wrap="square">
            <a:spAutoFit/>
          </a:bodyPr>
          <a:lstStyle/>
          <a:p>
            <a:pPr defTabSz="914400">
              <a:lnSpc>
                <a:spcPct val="150000"/>
              </a:lnSpc>
            </a:pPr>
            <a:r>
              <a:rPr lang="zh-CN" altLang="en-US" sz="2400" b="1" dirty="0">
                <a:latin typeface="Times New Roman" pitchFamily="18" charset="0"/>
                <a:ea typeface="微软雅黑" pitchFamily="34" charset="-122"/>
                <a:cs typeface="Times New Roman" pitchFamily="18" charset="0"/>
              </a:rPr>
              <a:t>        在需定位的移动部件的适当位置上装一光源，将一维</a:t>
            </a:r>
            <a:r>
              <a:rPr lang="en-US" altLang="zh-CN" sz="2400" b="1" dirty="0">
                <a:latin typeface="Times New Roman" pitchFamily="18" charset="0"/>
                <a:ea typeface="微软雅黑" pitchFamily="34" charset="-122"/>
                <a:cs typeface="Times New Roman" pitchFamily="18" charset="0"/>
              </a:rPr>
              <a:t>PSD</a:t>
            </a:r>
            <a:r>
              <a:rPr lang="zh-CN" altLang="en-US" sz="2400" b="1" dirty="0">
                <a:latin typeface="Times New Roman" pitchFamily="18" charset="0"/>
                <a:ea typeface="微软雅黑" pitchFamily="34" charset="-122"/>
                <a:cs typeface="Times New Roman" pitchFamily="18" charset="0"/>
              </a:rPr>
              <a:t>固定在移动部件下方的基座上。</a:t>
            </a:r>
          </a:p>
        </p:txBody>
      </p:sp>
      <p:graphicFrame>
        <p:nvGraphicFramePr>
          <p:cNvPr id="35851" name="Object 7"/>
          <p:cNvGraphicFramePr>
            <a:graphicFrameLocks noChangeAspect="1"/>
          </p:cNvGraphicFramePr>
          <p:nvPr>
            <p:extLst>
              <p:ext uri="{D42A27DB-BD31-4B8C-83A1-F6EECF244321}">
                <p14:modId xmlns:p14="http://schemas.microsoft.com/office/powerpoint/2010/main" val="2096731558"/>
              </p:ext>
            </p:extLst>
          </p:nvPr>
        </p:nvGraphicFramePr>
        <p:xfrm>
          <a:off x="8025761" y="2405063"/>
          <a:ext cx="5001264" cy="4023918"/>
        </p:xfrm>
        <a:graphic>
          <a:graphicData uri="http://schemas.openxmlformats.org/presentationml/2006/ole">
            <mc:AlternateContent xmlns:mc="http://schemas.openxmlformats.org/markup-compatibility/2006">
              <mc:Choice xmlns:v="urn:schemas-microsoft-com:vml" Requires="v">
                <p:oleObj spid="_x0000_s29703" name="Visio" r:id="rId3" imgW="3762203" imgH="3028872" progId="Visio.Drawing.11">
                  <p:embed/>
                </p:oleObj>
              </mc:Choice>
              <mc:Fallback>
                <p:oleObj name="Visio" r:id="rId3" imgW="3762203" imgH="3028872" progId="Visio.Drawing.11">
                  <p:embed/>
                  <p:pic>
                    <p:nvPicPr>
                      <p:cNvPr id="0" name=""/>
                      <p:cNvPicPr>
                        <a:picLocks noChangeAspect="1" noChangeArrowheads="1"/>
                      </p:cNvPicPr>
                      <p:nvPr/>
                    </p:nvPicPr>
                    <p:blipFill>
                      <a:blip r:embed="rId4"/>
                      <a:srcRect/>
                      <a:stretch>
                        <a:fillRect/>
                      </a:stretch>
                    </p:blipFill>
                    <p:spPr bwMode="auto">
                      <a:xfrm>
                        <a:off x="8025761" y="2405063"/>
                        <a:ext cx="5001264" cy="4023918"/>
                      </a:xfrm>
                      <a:prstGeom prst="rect">
                        <a:avLst/>
                      </a:prstGeom>
                      <a:noFill/>
                    </p:spPr>
                  </p:pic>
                </p:oleObj>
              </mc:Fallback>
            </mc:AlternateContent>
          </a:graphicData>
        </a:graphic>
      </p:graphicFrame>
      <p:sp>
        <p:nvSpPr>
          <p:cNvPr id="35852" name="TextBox 3"/>
          <p:cNvSpPr txBox="1">
            <a:spLocks noChangeArrowheads="1"/>
          </p:cNvSpPr>
          <p:nvPr/>
        </p:nvSpPr>
        <p:spPr bwMode="auto">
          <a:xfrm>
            <a:off x="716756" y="4078288"/>
            <a:ext cx="7021996" cy="2862322"/>
          </a:xfrm>
          <a:prstGeom prst="rect">
            <a:avLst/>
          </a:prstGeom>
          <a:noFill/>
          <a:ln w="9525">
            <a:noFill/>
            <a:miter lim="800000"/>
            <a:headEnd/>
            <a:tailEnd/>
          </a:ln>
        </p:spPr>
        <p:txBody>
          <a:bodyPr wrap="square">
            <a:spAutoFit/>
          </a:bodyPr>
          <a:lstStyle/>
          <a:p>
            <a:pPr defTabSz="914400">
              <a:lnSpc>
                <a:spcPct val="150000"/>
              </a:lnSpc>
            </a:pPr>
            <a:r>
              <a:rPr lang="en-US" altLang="zh-CN" sz="2400" b="1" dirty="0">
                <a:latin typeface="Times New Roman" pitchFamily="18" charset="0"/>
                <a:ea typeface="微软雅黑" pitchFamily="34" charset="-122"/>
                <a:cs typeface="Times New Roman" pitchFamily="18" charset="0"/>
              </a:rPr>
              <a:t>       </a:t>
            </a:r>
            <a:r>
              <a:rPr lang="zh-CN" altLang="en-US" sz="2400" b="1" dirty="0">
                <a:latin typeface="Times New Roman" pitchFamily="18" charset="0"/>
                <a:ea typeface="微软雅黑" pitchFamily="34" charset="-122"/>
                <a:cs typeface="Times New Roman" pitchFamily="18" charset="0"/>
              </a:rPr>
              <a:t>当移动部件上的光源偏离</a:t>
            </a:r>
            <a:r>
              <a:rPr lang="en-US" altLang="zh-CN" sz="2400" b="1" dirty="0">
                <a:latin typeface="Times New Roman" pitchFamily="18" charset="0"/>
                <a:ea typeface="微软雅黑" pitchFamily="34" charset="-122"/>
                <a:cs typeface="Times New Roman" pitchFamily="18" charset="0"/>
              </a:rPr>
              <a:t>PSD</a:t>
            </a:r>
            <a:r>
              <a:rPr lang="zh-CN" altLang="en-US" sz="2400" b="1" dirty="0">
                <a:latin typeface="Times New Roman" pitchFamily="18" charset="0"/>
                <a:ea typeface="微软雅黑" pitchFamily="34" charset="-122"/>
                <a:cs typeface="Times New Roman" pitchFamily="18" charset="0"/>
              </a:rPr>
              <a:t>中心位置时，由透镜成像在</a:t>
            </a:r>
            <a:r>
              <a:rPr lang="en-US" altLang="zh-CN" sz="2400" b="1" dirty="0">
                <a:latin typeface="Times New Roman" pitchFamily="18" charset="0"/>
                <a:ea typeface="微软雅黑" pitchFamily="34" charset="-122"/>
                <a:cs typeface="Times New Roman" pitchFamily="18" charset="0"/>
              </a:rPr>
              <a:t>PSD</a:t>
            </a:r>
            <a:r>
              <a:rPr lang="zh-CN" altLang="en-US" sz="2400" b="1" dirty="0">
                <a:latin typeface="Times New Roman" pitchFamily="18" charset="0"/>
                <a:ea typeface="微软雅黑" pitchFamily="34" charset="-122"/>
                <a:cs typeface="Times New Roman" pitchFamily="18" charset="0"/>
              </a:rPr>
              <a:t>上的光点将偏离其中心，两电极输出有差，差动放大输出作为误差信号去控制电机传动机构，使部件水平移动，直到光源位置对准</a:t>
            </a:r>
            <a:r>
              <a:rPr lang="en-US" altLang="zh-CN" sz="2400" b="1" dirty="0">
                <a:latin typeface="Times New Roman" pitchFamily="18" charset="0"/>
                <a:ea typeface="微软雅黑" pitchFamily="34" charset="-122"/>
                <a:cs typeface="Times New Roman" pitchFamily="18" charset="0"/>
              </a:rPr>
              <a:t>PSD</a:t>
            </a:r>
            <a:r>
              <a:rPr lang="zh-CN" altLang="en-US" sz="2400" b="1" dirty="0">
                <a:latin typeface="Times New Roman" pitchFamily="18" charset="0"/>
                <a:ea typeface="微软雅黑" pitchFamily="34" charset="-122"/>
                <a:cs typeface="Times New Roman" pitchFamily="18" charset="0"/>
              </a:rPr>
              <a:t>中心为止。</a:t>
            </a:r>
            <a:endParaRPr lang="zh-CN" altLang="en-US" sz="2800" b="1" dirty="0">
              <a:latin typeface="Times New Roman" pitchFamily="18" charset="0"/>
              <a:ea typeface="微软雅黑" pitchFamily="34" charset="-122"/>
              <a:cs typeface="Times New Roman" pitchFamily="18" charset="0"/>
            </a:endParaRPr>
          </a:p>
        </p:txBody>
      </p:sp>
      <p:grpSp>
        <p:nvGrpSpPr>
          <p:cNvPr id="13" name="组合 12">
            <a:extLst>
              <a:ext uri="{FF2B5EF4-FFF2-40B4-BE49-F238E27FC236}">
                <a16:creationId xmlns:a16="http://schemas.microsoft.com/office/drawing/2014/main" id="{3B8BEE0B-C381-4E43-920C-3B2B3D4CEE02}"/>
              </a:ext>
            </a:extLst>
          </p:cNvPr>
          <p:cNvGrpSpPr/>
          <p:nvPr/>
        </p:nvGrpSpPr>
        <p:grpSpPr>
          <a:xfrm>
            <a:off x="0" y="293282"/>
            <a:ext cx="13161246" cy="7421968"/>
            <a:chOff x="0" y="293282"/>
            <a:chExt cx="13161246" cy="7421968"/>
          </a:xfrm>
        </p:grpSpPr>
        <p:sp>
          <p:nvSpPr>
            <p:cNvPr id="19" name="文本框 60">
              <a:extLst>
                <a:ext uri="{FF2B5EF4-FFF2-40B4-BE49-F238E27FC236}">
                  <a16:creationId xmlns:a16="http://schemas.microsoft.com/office/drawing/2014/main" id="{DA5A1F06-7087-4F5B-846E-8F2FF2442DE2}"/>
                </a:ext>
              </a:extLst>
            </p:cNvPr>
            <p:cNvSpPr txBox="1"/>
            <p:nvPr/>
          </p:nvSpPr>
          <p:spPr>
            <a:xfrm>
              <a:off x="1364781" y="293282"/>
              <a:ext cx="3569826" cy="369332"/>
            </a:xfrm>
            <a:prstGeom prst="rect">
              <a:avLst/>
            </a:prstGeom>
            <a:noFill/>
            <a:ln w="9525">
              <a:noFill/>
            </a:ln>
          </p:spPr>
          <p:txBody>
            <a:bodyPr wrap="square">
              <a:spAutoFit/>
            </a:bodyPr>
            <a:lstStyle/>
            <a:p>
              <a:r>
                <a:rPr lang="en-US" altLang="zh-CN" sz="1800" b="1" dirty="0">
                  <a:latin typeface="微软雅黑" panose="020B0503020204020204" pitchFamily="34" charset="-122"/>
                  <a:ea typeface="微软雅黑" panose="020B0503020204020204" pitchFamily="34" charset="-122"/>
                </a:rPr>
                <a:t>PSD</a:t>
              </a:r>
              <a:r>
                <a:rPr lang="zh-CN" altLang="en-US" sz="1800" b="1" dirty="0">
                  <a:latin typeface="微软雅黑" panose="020B0503020204020204" pitchFamily="34" charset="-122"/>
                  <a:ea typeface="微软雅黑" panose="020B0503020204020204" pitchFamily="34" charset="-122"/>
                </a:rPr>
                <a:t>主要应用</a:t>
              </a:r>
            </a:p>
          </p:txBody>
        </p:sp>
        <p:sp>
          <p:nvSpPr>
            <p:cNvPr id="20" name="矩形 19">
              <a:extLst>
                <a:ext uri="{FF2B5EF4-FFF2-40B4-BE49-F238E27FC236}">
                  <a16:creationId xmlns:a16="http://schemas.microsoft.com/office/drawing/2014/main" id="{41D9E04F-7613-4068-B969-30B42F0996B5}"/>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1" name="矩形 20">
              <a:extLst>
                <a:ext uri="{FF2B5EF4-FFF2-40B4-BE49-F238E27FC236}">
                  <a16:creationId xmlns:a16="http://schemas.microsoft.com/office/drawing/2014/main" id="{C2AB3E03-819B-4EB8-B430-3DD4CCC54473}"/>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圆角 21">
              <a:extLst>
                <a:ext uri="{FF2B5EF4-FFF2-40B4-BE49-F238E27FC236}">
                  <a16:creationId xmlns:a16="http://schemas.microsoft.com/office/drawing/2014/main" id="{8ADD737C-E7EA-4E5E-A46F-93002F3DC5EF}"/>
                </a:ext>
              </a:extLst>
            </p:cNvPr>
            <p:cNvSpPr/>
            <p:nvPr/>
          </p:nvSpPr>
          <p:spPr>
            <a:xfrm>
              <a:off x="304801" y="293282"/>
              <a:ext cx="979824"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4.7.4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3" name="直接连接符 58">
              <a:extLst>
                <a:ext uri="{FF2B5EF4-FFF2-40B4-BE49-F238E27FC236}">
                  <a16:creationId xmlns:a16="http://schemas.microsoft.com/office/drawing/2014/main" id="{6C345895-4D0F-410F-8B76-3A3D40483098}"/>
                </a:ext>
              </a:extLst>
            </p:cNvPr>
            <p:cNvCxnSpPr>
              <a:cxnSpLocks/>
            </p:cNvCxnSpPr>
            <p:nvPr/>
          </p:nvCxnSpPr>
          <p:spPr>
            <a:xfrm>
              <a:off x="1450506" y="710998"/>
              <a:ext cx="3336956"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4" name="矩形 23">
              <a:extLst>
                <a:ext uri="{FF2B5EF4-FFF2-40B4-BE49-F238E27FC236}">
                  <a16:creationId xmlns:a16="http://schemas.microsoft.com/office/drawing/2014/main" id="{B6710FFF-3A4B-47CE-81C7-965C0449D9E4}"/>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5" name="矩形 24">
              <a:extLst>
                <a:ext uri="{FF2B5EF4-FFF2-40B4-BE49-F238E27FC236}">
                  <a16:creationId xmlns:a16="http://schemas.microsoft.com/office/drawing/2014/main" id="{14251890-A874-4974-9548-6C6A913521FA}"/>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spTree>
    <p:extLst>
      <p:ext uri="{BB962C8B-B14F-4D97-AF65-F5344CB8AC3E}">
        <p14:creationId xmlns:p14="http://schemas.microsoft.com/office/powerpoint/2010/main" val="1989498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5848"/>
                                        </p:tgtEl>
                                        <p:attrNameLst>
                                          <p:attrName>style.visibility</p:attrName>
                                        </p:attrNameLst>
                                      </p:cBhvr>
                                      <p:to>
                                        <p:strVal val="visible"/>
                                      </p:to>
                                    </p:set>
                                    <p:anim calcmode="lin" valueType="num">
                                      <p:cBhvr>
                                        <p:cTn id="7" dur="500" fill="hold"/>
                                        <p:tgtEl>
                                          <p:spTgt spid="35848"/>
                                        </p:tgtEl>
                                        <p:attrNameLst>
                                          <p:attrName>ppt_w</p:attrName>
                                        </p:attrNameLst>
                                      </p:cBhvr>
                                      <p:tavLst>
                                        <p:tav tm="0">
                                          <p:val>
                                            <p:fltVal val="0"/>
                                          </p:val>
                                        </p:tav>
                                        <p:tav tm="100000">
                                          <p:val>
                                            <p:strVal val="#ppt_w"/>
                                          </p:val>
                                        </p:tav>
                                      </p:tavLst>
                                    </p:anim>
                                    <p:anim calcmode="lin" valueType="num">
                                      <p:cBhvr>
                                        <p:cTn id="8" dur="500" fill="hold"/>
                                        <p:tgtEl>
                                          <p:spTgt spid="35848"/>
                                        </p:tgtEl>
                                        <p:attrNameLst>
                                          <p:attrName>ppt_h</p:attrName>
                                        </p:attrNameLst>
                                      </p:cBhvr>
                                      <p:tavLst>
                                        <p:tav tm="0">
                                          <p:val>
                                            <p:fltVal val="0"/>
                                          </p:val>
                                        </p:tav>
                                        <p:tav tm="100000">
                                          <p:val>
                                            <p:strVal val="#ppt_h"/>
                                          </p:val>
                                        </p:tav>
                                      </p:tavLst>
                                    </p:anim>
                                    <p:animEffect transition="in" filter="fade">
                                      <p:cBhvr>
                                        <p:cTn id="9" dur="500"/>
                                        <p:tgtEl>
                                          <p:spTgt spid="35848"/>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5849"/>
                                        </p:tgtEl>
                                        <p:attrNameLst>
                                          <p:attrName>style.visibility</p:attrName>
                                        </p:attrNameLst>
                                      </p:cBhvr>
                                      <p:to>
                                        <p:strVal val="visible"/>
                                      </p:to>
                                    </p:set>
                                    <p:anim calcmode="lin" valueType="num">
                                      <p:cBhvr>
                                        <p:cTn id="14" dur="500" fill="hold"/>
                                        <p:tgtEl>
                                          <p:spTgt spid="35849"/>
                                        </p:tgtEl>
                                        <p:attrNameLst>
                                          <p:attrName>ppt_w</p:attrName>
                                        </p:attrNameLst>
                                      </p:cBhvr>
                                      <p:tavLst>
                                        <p:tav tm="0">
                                          <p:val>
                                            <p:fltVal val="0"/>
                                          </p:val>
                                        </p:tav>
                                        <p:tav tm="100000">
                                          <p:val>
                                            <p:strVal val="#ppt_w"/>
                                          </p:val>
                                        </p:tav>
                                      </p:tavLst>
                                    </p:anim>
                                    <p:anim calcmode="lin" valueType="num">
                                      <p:cBhvr>
                                        <p:cTn id="15" dur="500" fill="hold"/>
                                        <p:tgtEl>
                                          <p:spTgt spid="35849"/>
                                        </p:tgtEl>
                                        <p:attrNameLst>
                                          <p:attrName>ppt_h</p:attrName>
                                        </p:attrNameLst>
                                      </p:cBhvr>
                                      <p:tavLst>
                                        <p:tav tm="0">
                                          <p:val>
                                            <p:fltVal val="0"/>
                                          </p:val>
                                        </p:tav>
                                        <p:tav tm="100000">
                                          <p:val>
                                            <p:strVal val="#ppt_h"/>
                                          </p:val>
                                        </p:tav>
                                      </p:tavLst>
                                    </p:anim>
                                    <p:animEffect transition="in" filter="fade">
                                      <p:cBhvr>
                                        <p:cTn id="16" dur="500"/>
                                        <p:tgtEl>
                                          <p:spTgt spid="35849"/>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35851"/>
                                        </p:tgtEl>
                                        <p:attrNameLst>
                                          <p:attrName>style.visibility</p:attrName>
                                        </p:attrNameLst>
                                      </p:cBhvr>
                                      <p:to>
                                        <p:strVal val="visible"/>
                                      </p:to>
                                    </p:set>
                                    <p:anim calcmode="lin" valueType="num">
                                      <p:cBhvr>
                                        <p:cTn id="21" dur="500" fill="hold"/>
                                        <p:tgtEl>
                                          <p:spTgt spid="35851"/>
                                        </p:tgtEl>
                                        <p:attrNameLst>
                                          <p:attrName>ppt_w</p:attrName>
                                        </p:attrNameLst>
                                      </p:cBhvr>
                                      <p:tavLst>
                                        <p:tav tm="0">
                                          <p:val>
                                            <p:fltVal val="0"/>
                                          </p:val>
                                        </p:tav>
                                        <p:tav tm="100000">
                                          <p:val>
                                            <p:strVal val="#ppt_w"/>
                                          </p:val>
                                        </p:tav>
                                      </p:tavLst>
                                    </p:anim>
                                    <p:anim calcmode="lin" valueType="num">
                                      <p:cBhvr>
                                        <p:cTn id="22" dur="500" fill="hold"/>
                                        <p:tgtEl>
                                          <p:spTgt spid="35851"/>
                                        </p:tgtEl>
                                        <p:attrNameLst>
                                          <p:attrName>ppt_h</p:attrName>
                                        </p:attrNameLst>
                                      </p:cBhvr>
                                      <p:tavLst>
                                        <p:tav tm="0">
                                          <p:val>
                                            <p:fltVal val="0"/>
                                          </p:val>
                                        </p:tav>
                                        <p:tav tm="100000">
                                          <p:val>
                                            <p:strVal val="#ppt_h"/>
                                          </p:val>
                                        </p:tav>
                                      </p:tavLst>
                                    </p:anim>
                                    <p:animEffect transition="in" filter="fade">
                                      <p:cBhvr>
                                        <p:cTn id="23" dur="500"/>
                                        <p:tgtEl>
                                          <p:spTgt spid="35851"/>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35852"/>
                                        </p:tgtEl>
                                        <p:attrNameLst>
                                          <p:attrName>style.visibility</p:attrName>
                                        </p:attrNameLst>
                                      </p:cBhvr>
                                      <p:to>
                                        <p:strVal val="visible"/>
                                      </p:to>
                                    </p:set>
                                    <p:anim calcmode="lin" valueType="num">
                                      <p:cBhvr>
                                        <p:cTn id="28" dur="500" fill="hold"/>
                                        <p:tgtEl>
                                          <p:spTgt spid="35852"/>
                                        </p:tgtEl>
                                        <p:attrNameLst>
                                          <p:attrName>ppt_w</p:attrName>
                                        </p:attrNameLst>
                                      </p:cBhvr>
                                      <p:tavLst>
                                        <p:tav tm="0">
                                          <p:val>
                                            <p:fltVal val="0"/>
                                          </p:val>
                                        </p:tav>
                                        <p:tav tm="100000">
                                          <p:val>
                                            <p:strVal val="#ppt_w"/>
                                          </p:val>
                                        </p:tav>
                                      </p:tavLst>
                                    </p:anim>
                                    <p:anim calcmode="lin" valueType="num">
                                      <p:cBhvr>
                                        <p:cTn id="29" dur="500" fill="hold"/>
                                        <p:tgtEl>
                                          <p:spTgt spid="35852"/>
                                        </p:tgtEl>
                                        <p:attrNameLst>
                                          <p:attrName>ppt_h</p:attrName>
                                        </p:attrNameLst>
                                      </p:cBhvr>
                                      <p:tavLst>
                                        <p:tav tm="0">
                                          <p:val>
                                            <p:fltVal val="0"/>
                                          </p:val>
                                        </p:tav>
                                        <p:tav tm="100000">
                                          <p:val>
                                            <p:strVal val="#ppt_h"/>
                                          </p:val>
                                        </p:tav>
                                      </p:tavLst>
                                    </p:anim>
                                    <p:animEffect transition="in" filter="fade">
                                      <p:cBhvr>
                                        <p:cTn id="30" dur="500"/>
                                        <p:tgtEl>
                                          <p:spTgt spid="358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8" grpId="0"/>
      <p:bldP spid="35849" grpId="0"/>
      <p:bldP spid="35852" grpId="0"/>
    </p:bldLst>
  </p:timing>
</p:sld>
</file>

<file path=ppt/theme/theme1.xml><?xml version="1.0" encoding="utf-8"?>
<a:theme xmlns:a="http://schemas.openxmlformats.org/drawingml/2006/main" name="光电技术模板-2015-6-18">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Phoenix</Template>
  <TotalTime>92</TotalTime>
  <Words>1152</Words>
  <Application>Microsoft Office PowerPoint</Application>
  <PresentationFormat>自定义</PresentationFormat>
  <Paragraphs>398</Paragraphs>
  <Slides>22</Slides>
  <Notes>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4</vt:i4>
      </vt:variant>
      <vt:variant>
        <vt:lpstr>幻灯片标题</vt:lpstr>
      </vt:variant>
      <vt:variant>
        <vt:i4>22</vt:i4>
      </vt:variant>
    </vt:vector>
  </HeadingPairs>
  <TitlesOfParts>
    <vt:vector size="37" baseType="lpstr">
      <vt:lpstr>冬青黑体简体中文 W3</vt:lpstr>
      <vt:lpstr>冬青黑体简体中文 W6</vt:lpstr>
      <vt:lpstr>楷体_GB2312</vt:lpstr>
      <vt:lpstr>微软雅黑</vt:lpstr>
      <vt:lpstr>微软雅黑</vt:lpstr>
      <vt:lpstr>Arial</vt:lpstr>
      <vt:lpstr>Calibri</vt:lpstr>
      <vt:lpstr>Calibri Light</vt:lpstr>
      <vt:lpstr>Microsoft Yi Baiti</vt:lpstr>
      <vt:lpstr>Times New Roman</vt:lpstr>
      <vt:lpstr>光电技术模板-2015-6-18</vt:lpstr>
      <vt:lpstr>Visio</vt:lpstr>
      <vt:lpstr>公式</vt:lpstr>
      <vt:lpstr>Equation</vt:lpstr>
      <vt:lpstr>MathType 6.0 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微软用户</dc:creator>
  <cp:lastModifiedBy>yp yang</cp:lastModifiedBy>
  <cp:revision>19</cp:revision>
  <dcterms:created xsi:type="dcterms:W3CDTF">2015-06-18T01:42:52Z</dcterms:created>
  <dcterms:modified xsi:type="dcterms:W3CDTF">2022-05-02T05:28:34Z</dcterms:modified>
</cp:coreProperties>
</file>