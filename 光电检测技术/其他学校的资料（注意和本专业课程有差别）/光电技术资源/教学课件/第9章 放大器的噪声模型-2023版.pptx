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7"/>
  </p:notesMasterIdLst>
  <p:handoutMasterIdLst>
    <p:handoutMasterId r:id="rId8"/>
  </p:handoutMasterIdLst>
  <p:sldIdLst>
    <p:sldId id="329" r:id="rId2"/>
    <p:sldId id="309" r:id="rId3"/>
    <p:sldId id="348" r:id="rId4"/>
    <p:sldId id="349" r:id="rId5"/>
    <p:sldId id="350" r:id="rId6"/>
  </p:sldIdLst>
  <p:sldSz cx="13717588" cy="771525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1pPr>
    <a:lvl2pPr marL="57061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2pPr>
    <a:lvl3pPr marL="1141224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3pPr>
    <a:lvl4pPr marL="17118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4pPr>
    <a:lvl5pPr marL="22824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5pPr>
    <a:lvl6pPr marL="2853062" algn="l" defTabSz="1141224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6pPr>
    <a:lvl7pPr marL="3423673" algn="l" defTabSz="1141224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7pPr>
    <a:lvl8pPr marL="3994286" algn="l" defTabSz="1141224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8pPr>
    <a:lvl9pPr marL="4564898" algn="l" defTabSz="1141224" rtl="0" eaLnBrk="1" latinLnBrk="0" hangingPunct="1">
      <a:defRPr kern="1200">
        <a:solidFill>
          <a:schemeClr val="tx1"/>
        </a:solidFill>
        <a:latin typeface="Tahoma" pitchFamily="34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430">
          <p15:clr>
            <a:srgbClr val="A4A3A4"/>
          </p15:clr>
        </p15:guide>
        <p15:guide id="4" pos="4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FFFF66"/>
    <a:srgbClr val="000000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37" autoAdjust="0"/>
  </p:normalViewPr>
  <p:slideViewPr>
    <p:cSldViewPr>
      <p:cViewPr varScale="1">
        <p:scale>
          <a:sx n="95" d="100"/>
          <a:sy n="95" d="100"/>
        </p:scale>
        <p:origin x="2238" y="78"/>
      </p:cViewPr>
      <p:guideLst>
        <p:guide orient="horz" pos="1620"/>
        <p:guide pos="2880"/>
        <p:guide orient="horz" pos="2430"/>
        <p:guide pos="43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362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6ACBF184-DB0A-4333-BB2D-59222810A47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26577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79F7CB0A-316D-4F8F-A784-7DC75E23CB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1738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570613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1141224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711837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2282449" algn="l" rtl="0" eaLnBrk="0" fontAlgn="base" hangingPunct="0">
      <a:spcBef>
        <a:spcPct val="30000"/>
      </a:spcBef>
      <a:spcAft>
        <a:spcPct val="0"/>
      </a:spcAft>
      <a:defRPr sz="15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853062" algn="l" defTabSz="114122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23673" algn="l" defTabSz="114122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3994286" algn="l" defTabSz="114122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64898" algn="l" defTabSz="1141224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9F7CB0A-316D-4F8F-A784-7DC75E23CBF4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0666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2093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80" y="309564"/>
            <a:ext cx="12345829" cy="1285875"/>
          </a:xfrm>
          <a:prstGeom prst="rect">
            <a:avLst/>
          </a:prstGeom>
        </p:spPr>
        <p:txBody>
          <a:bodyPr lIns="114126" tIns="57063" rIns="114126" bIns="57063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80" y="1800227"/>
            <a:ext cx="12345829" cy="5091113"/>
          </a:xfrm>
          <a:prstGeom prst="rect">
            <a:avLst/>
          </a:prstGeom>
        </p:spPr>
        <p:txBody>
          <a:bodyPr lIns="114126" tIns="57063" rIns="114126" bIns="57063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85880" y="7150895"/>
            <a:ext cx="3200771" cy="411956"/>
          </a:xfrm>
          <a:prstGeom prst="rect">
            <a:avLst/>
          </a:prstGeom>
        </p:spPr>
        <p:txBody>
          <a:bodyPr lIns="114126" tIns="57063" rIns="114126" bIns="57063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6843" y="7150895"/>
            <a:ext cx="4343902" cy="411956"/>
          </a:xfrm>
          <a:prstGeom prst="rect">
            <a:avLst/>
          </a:prstGeom>
        </p:spPr>
        <p:txBody>
          <a:bodyPr lIns="114126" tIns="57063" rIns="114126" bIns="57063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30937" y="7150895"/>
            <a:ext cx="3200771" cy="411956"/>
          </a:xfrm>
          <a:prstGeom prst="rect">
            <a:avLst/>
          </a:prstGeom>
        </p:spPr>
        <p:txBody>
          <a:bodyPr lIns="114126" tIns="57063" rIns="114126" bIns="57063"/>
          <a:lstStyle>
            <a:lvl1pPr>
              <a:defRPr/>
            </a:lvl1pPr>
          </a:lstStyle>
          <a:p>
            <a:pPr>
              <a:defRPr/>
            </a:pPr>
            <a:fld id="{82B07DAA-8C11-4806-9372-AD2DBEF0D57E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3617998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685880" y="7150895"/>
            <a:ext cx="3200771" cy="411956"/>
          </a:xfrm>
          <a:prstGeom prst="rect">
            <a:avLst/>
          </a:prstGeom>
        </p:spPr>
        <p:txBody>
          <a:bodyPr lIns="114126" tIns="57063" rIns="114126" bIns="57063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686843" y="7150895"/>
            <a:ext cx="4343902" cy="411956"/>
          </a:xfrm>
          <a:prstGeom prst="rect">
            <a:avLst/>
          </a:prstGeom>
        </p:spPr>
        <p:txBody>
          <a:bodyPr lIns="114126" tIns="57063" rIns="114126" bIns="57063"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30937" y="7150895"/>
            <a:ext cx="3200771" cy="411956"/>
          </a:xfrm>
          <a:prstGeom prst="rect">
            <a:avLst/>
          </a:prstGeom>
        </p:spPr>
        <p:txBody>
          <a:bodyPr lIns="114126" tIns="57063" rIns="114126" bIns="57063"/>
          <a:lstStyle>
            <a:lvl1pPr>
              <a:defRPr/>
            </a:lvl1pPr>
          </a:lstStyle>
          <a:p>
            <a:pPr>
              <a:defRPr/>
            </a:pPr>
            <a:fld id="{E26A6670-7B05-461F-9D42-A1DD78F5826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640470"/>
      </p:ext>
    </p:extLst>
  </p:cSld>
  <p:clrMapOvr>
    <a:masterClrMapping/>
  </p:clrMapOvr>
  <p:transition spd="slow">
    <p:blinds dir="vert"/>
    <p:sndAc>
      <p:stSnd>
        <p:snd r:embed="rId1" name="projctor.wav"/>
      </p:stSnd>
    </p:sndAc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0" y="1"/>
            <a:ext cx="230546" cy="392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126" tIns="57063" rIns="114126" bIns="57063" anchor="ctr">
            <a:spAutoFit/>
          </a:bodyPr>
          <a:lstStyle/>
          <a:p>
            <a:endParaRPr lang="zh-CN" altLang="en-US"/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0" y="2200276"/>
            <a:ext cx="13717588" cy="392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126" tIns="57063" rIns="114126" bIns="57063" anchor="ctr">
            <a:spAutoFit/>
          </a:bodyPr>
          <a:lstStyle/>
          <a:p>
            <a:endParaRPr lang="zh-CN" altLang="en-US"/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3429001"/>
            <a:ext cx="230546" cy="392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126" tIns="57063" rIns="114126" bIns="57063" anchor="ctr">
            <a:spAutoFit/>
          </a:bodyPr>
          <a:lstStyle/>
          <a:p>
            <a:endParaRPr lang="zh-CN" altLang="en-US"/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0" y="4471989"/>
            <a:ext cx="230546" cy="392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126" tIns="57063" rIns="114126" bIns="57063" anchor="ctr">
            <a:spAutoFit/>
          </a:bodyPr>
          <a:lstStyle/>
          <a:p>
            <a:endParaRPr lang="zh-CN" altLang="zh-CN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</p:sldLayoutIdLst>
  <p:transition spd="slow">
    <p:blinds dir="vert"/>
    <p:sndAc>
      <p:stSnd>
        <p:snd r:embed="rId5" name="projctor.wav"/>
      </p:stSnd>
    </p:sndAc>
  </p:transition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570631"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1141263"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711894"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2282525" algn="ctr" rtl="0" eaLnBrk="1" fontAlgn="base" hangingPunct="1">
        <a:spcBef>
          <a:spcPct val="0"/>
        </a:spcBef>
        <a:spcAft>
          <a:spcPct val="0"/>
        </a:spcAft>
        <a:defRPr sz="55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427973" indent="-42797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27276" indent="-35664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26578" indent="-28531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997210" indent="-28531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7841" indent="-28531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38472" indent="-285316" algn="l" defTabSz="1141263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09104" indent="-285316" algn="l" defTabSz="1141263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279735" indent="-285316" algn="l" defTabSz="1141263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50366" indent="-285316" algn="l" defTabSz="1141263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70631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263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11894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82525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853157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423788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994419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565051" algn="l" defTabSz="1141263" rtl="0" eaLnBrk="1" latinLnBrk="0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放大器的噪声模型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放大器的噪声模型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9.3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673618" y="1763282"/>
            <a:ext cx="3672833" cy="1731410"/>
          </a:xfrm>
          <a:noFill/>
          <a:ln>
            <a:miter lim="800000"/>
            <a:headEnd/>
            <a:tailEnd/>
          </a:ln>
        </p:spPr>
        <p:txBody>
          <a:bodyPr vert="horz" wrap="square" lIns="114123" tIns="57062" rIns="114123" bIns="57062" numCol="1" anchor="t" anchorCtr="0" compatLnSpc="1">
            <a:prstTxWarp prst="textNoShape">
              <a:avLst/>
            </a:prstTxWarp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设计高质量的低噪声前置放大器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874324" y="4509989"/>
            <a:ext cx="7706863" cy="810090"/>
          </a:xfrm>
          <a:prstGeom prst="rect">
            <a:avLst/>
          </a:prstGeom>
        </p:spPr>
        <p:txBody>
          <a:bodyPr lIns="114123" tIns="57062" rIns="114123" bIns="57062"/>
          <a:lstStyle/>
          <a:p>
            <a:pPr marL="427959" indent="-427959">
              <a:lnSpc>
                <a:spcPct val="90000"/>
              </a:lnSpc>
              <a:spcBef>
                <a:spcPct val="20000"/>
              </a:spcBef>
              <a:defRPr/>
            </a:pPr>
            <a:r>
              <a:rPr lang="zh-CN" altLang="en-US" sz="3000" b="1" dirty="0">
                <a:latin typeface="微软雅黑" pitchFamily="34" charset="-122"/>
                <a:ea typeface="微软雅黑" pitchFamily="34" charset="-122"/>
              </a:rPr>
              <a:t>目的：更好地抑制噪声、放大信号。 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7304673" y="1049314"/>
            <a:ext cx="2553028" cy="89109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信号的特性</a:t>
            </a:r>
            <a:endParaRPr lang="zh-CN" altLang="en-US" sz="25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359076" y="2021421"/>
            <a:ext cx="2594566" cy="86409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噪声的特性</a:t>
            </a:r>
            <a:endParaRPr lang="zh-CN" altLang="en-US" sz="25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436031" y="3147653"/>
            <a:ext cx="3132710" cy="81009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噪声分析方法</a:t>
            </a:r>
            <a:endParaRPr lang="zh-CN" altLang="en-US" sz="25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133497" y="5320079"/>
            <a:ext cx="11609284" cy="1782198"/>
          </a:xfrm>
          <a:prstGeom prst="rect">
            <a:avLst/>
          </a:prstGeom>
        </p:spPr>
        <p:txBody>
          <a:bodyPr lIns="114123" tIns="57062" rIns="114123" bIns="57062"/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3000" b="1" dirty="0" smtClean="0">
                <a:latin typeface="微软雅黑" pitchFamily="34" charset="-122"/>
                <a:ea typeface="微软雅黑" pitchFamily="34" charset="-122"/>
              </a:rPr>
              <a:t>       学习</a:t>
            </a:r>
            <a:r>
              <a:rPr lang="zh-CN" altLang="en-US" sz="3000" b="1" dirty="0">
                <a:latin typeface="微软雅黑" pitchFamily="34" charset="-122"/>
                <a:ea typeface="微软雅黑" pitchFamily="34" charset="-122"/>
              </a:rPr>
              <a:t>一些关于</a:t>
            </a:r>
            <a:r>
              <a:rPr lang="zh-CN" altLang="en-US" sz="30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放大器的噪声</a:t>
            </a:r>
            <a:r>
              <a:rPr lang="zh-CN" altLang="en-US" sz="3000" b="1" dirty="0">
                <a:latin typeface="微软雅黑" pitchFamily="34" charset="-122"/>
                <a:ea typeface="微软雅黑" pitchFamily="34" charset="-122"/>
              </a:rPr>
              <a:t>及描述放大器噪声特性的一些有关参数和模型。</a:t>
            </a:r>
          </a:p>
        </p:txBody>
      </p:sp>
      <p:sp>
        <p:nvSpPr>
          <p:cNvPr id="2" name="左大括号 1"/>
          <p:cNvSpPr/>
          <p:nvPr/>
        </p:nvSpPr>
        <p:spPr>
          <a:xfrm>
            <a:off x="5929546" y="1366599"/>
            <a:ext cx="674475" cy="2524781"/>
          </a:xfrm>
          <a:prstGeom prst="lef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114126" tIns="57063" rIns="114126" bIns="57063"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放大器的噪声模型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" fill="hold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"/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8" grpId="0" uiExpand="1" build="p"/>
      <p:bldP spid="3" grpId="0"/>
      <p:bldP spid="4" grpId="0" animBg="1"/>
      <p:bldP spid="5" grpId="0" animBg="1"/>
      <p:bldP spid="6" grpId="0" animBg="1"/>
      <p:bldP spid="7" grpId="0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3322230" y="941302"/>
            <a:ext cx="6108612" cy="964407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en-US" altLang="zh-CN" sz="3000" b="1" dirty="0" smtClean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en-US" sz="3000" b="1" dirty="0" smtClean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放大器的噪声模型</a:t>
            </a:r>
            <a:endParaRPr lang="zh-CN" altLang="en-US" sz="2000" b="1" dirty="0" smtClean="0">
              <a:solidFill>
                <a:srgbClr val="0033CC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7290894" y="1669622"/>
            <a:ext cx="5259052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427973" indent="-427973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电压</a:t>
            </a:r>
            <a:r>
              <a:rPr lang="en-US" altLang="zh-CN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zh-CN" alt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噪声电流（</a:t>
            </a:r>
            <a:r>
              <a:rPr lang="en-US" altLang="zh-CN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b="1" i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b="1" i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）模型</a:t>
            </a:r>
          </a:p>
        </p:txBody>
      </p:sp>
      <p:sp>
        <p:nvSpPr>
          <p:cNvPr id="4" name="TextBox 9"/>
          <p:cNvSpPr txBox="1">
            <a:spLocks noChangeArrowheads="1"/>
          </p:cNvSpPr>
          <p:nvPr/>
        </p:nvSpPr>
        <p:spPr bwMode="auto">
          <a:xfrm>
            <a:off x="1078256" y="2265193"/>
            <a:ext cx="6644457" cy="4999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>
            <a:spAutoFit/>
          </a:bodyPr>
          <a:lstStyle/>
          <a:p>
            <a:r>
              <a:rPr lang="zh-CN" altLang="en-US" sz="2500" b="1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放大器内部的噪声是很复杂的。</a:t>
            </a:r>
            <a:endParaRPr lang="zh-CN" altLang="en-US" sz="25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78255" y="3158753"/>
            <a:ext cx="958802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427973" indent="-427973">
              <a:lnSpc>
                <a:spcPct val="120000"/>
              </a:lnSpc>
            </a:pP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采用</a:t>
            </a:r>
            <a:r>
              <a:rPr lang="en-US" altLang="zh-CN" sz="2500" b="1" i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500" b="1" i="1" baseline="-30000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2500" b="1" i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500" b="1" i="1" baseline="-30000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模型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来描述放大器的总的噪声特性。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05056" y="4016004"/>
            <a:ext cx="12110058" cy="221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>
              <a:lnSpc>
                <a:spcPct val="150000"/>
              </a:lnSpc>
            </a:pP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       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内部噪声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可以用</a:t>
            </a:r>
            <a:r>
              <a:rPr lang="zh-CN" altLang="en-US" sz="2500" b="1" dirty="0">
                <a:latin typeface="华文琥珀" pitchFamily="2" charset="-122"/>
                <a:ea typeface="华文琥珀" pitchFamily="2" charset="-122"/>
                <a:cs typeface="Times New Roman" pitchFamily="18" charset="0"/>
              </a:rPr>
              <a:t>串联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en-US" sz="2500" b="1" dirty="0">
                <a:solidFill>
                  <a:schemeClr val="folHlink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输入端的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具有</a:t>
            </a:r>
            <a:r>
              <a:rPr lang="zh-CN" altLang="en-US" sz="25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零阻抗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电压发生器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500" b="1" i="1" baseline="-30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和一个</a:t>
            </a:r>
            <a:r>
              <a:rPr lang="zh-CN" altLang="en-US" sz="2500" b="1" dirty="0">
                <a:latin typeface="华文琥珀" pitchFamily="2" charset="-122"/>
                <a:ea typeface="华文琥珀" pitchFamily="2" charset="-122"/>
                <a:cs typeface="Times New Roman" pitchFamily="18" charset="0"/>
              </a:rPr>
              <a:t>并联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在输入端具有</a:t>
            </a:r>
            <a:r>
              <a:rPr lang="zh-CN" altLang="en-US" sz="25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  <a:cs typeface="Times New Roman" pitchFamily="18" charset="0"/>
              </a:rPr>
              <a:t>无穷大阻抗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电流发生器</a:t>
            </a:r>
            <a:r>
              <a:rPr lang="en-US" altLang="zh-CN" sz="2500" b="1" i="1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2500" b="1" i="1" baseline="-30000" dirty="0">
                <a:solidFill>
                  <a:srgbClr val="FF0000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来表示，两者相关系数为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61888" y="6233890"/>
            <a:ext cx="9538011" cy="964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427973" indent="-427973" algn="ctr">
              <a:lnSpc>
                <a:spcPct val="150000"/>
              </a:lnSpc>
            </a:pP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这个模型称为</a:t>
            </a:r>
            <a:r>
              <a:rPr lang="zh-CN" altLang="en-US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放大器的</a:t>
            </a:r>
            <a:r>
              <a:rPr lang="en-US" altLang="zh-CN" sz="3000" b="1" i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i="1" baseline="-30000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3000" b="1" i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000" b="1" i="1" baseline="-30000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噪声模型</a:t>
            </a:r>
            <a:endParaRPr lang="zh-CN" altLang="en-US" sz="3000" b="1" dirty="0"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668215" y="116838"/>
            <a:ext cx="5996122" cy="330684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 lIns="114126" tIns="57063" rIns="114126" bIns="57063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4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4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微弱光电信号的探测与处理</a:t>
            </a:r>
            <a:r>
              <a:rPr lang="en-US" altLang="zh-CN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放大器噪声模型</a:t>
            </a:r>
            <a:endParaRPr lang="zh-CN" altLang="en-US" sz="14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1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放大器的噪声模型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92512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 bwMode="auto">
          <a:xfrm>
            <a:off x="4217682" y="6665937"/>
            <a:ext cx="5607599" cy="68658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5400000"/>
          </a:gradFill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algn="ctr"/>
            <a:r>
              <a:rPr lang="zh-CN" altLang="en-US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放大器的</a:t>
            </a:r>
            <a:r>
              <a:rPr lang="en-US" altLang="zh-CN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baseline="-30000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-I</a:t>
            </a:r>
            <a:r>
              <a:rPr lang="en-US" altLang="zh-CN" sz="3000" b="1" baseline="-30000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噪声模型</a:t>
            </a:r>
          </a:p>
        </p:txBody>
      </p:sp>
      <p:sp>
        <p:nvSpPr>
          <p:cNvPr id="3" name="Text Box 37"/>
          <p:cNvSpPr txBox="1">
            <a:spLocks noChangeArrowheads="1"/>
          </p:cNvSpPr>
          <p:nvPr/>
        </p:nvSpPr>
        <p:spPr bwMode="auto">
          <a:xfrm>
            <a:off x="2786386" y="1046747"/>
            <a:ext cx="750182" cy="57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>
            <a:spAutoFit/>
          </a:bodyPr>
          <a:lstStyle/>
          <a:p>
            <a:r>
              <a:rPr kumimoji="1" lang="en-US" altLang="zh-CN" sz="3000" b="1" dirty="0">
                <a:solidFill>
                  <a:srgbClr val="0033CC"/>
                </a:solidFill>
                <a:latin typeface="Times New Roman" pitchFamily="18" charset="0"/>
              </a:rPr>
              <a:t>E</a:t>
            </a:r>
            <a:r>
              <a:rPr kumimoji="1" lang="en-US" altLang="zh-CN" sz="3000" b="1" baseline="-25000" dirty="0">
                <a:solidFill>
                  <a:srgbClr val="0033CC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4" name="Text Box 40"/>
          <p:cNvSpPr txBox="1">
            <a:spLocks noChangeArrowheads="1"/>
          </p:cNvSpPr>
          <p:nvPr/>
        </p:nvSpPr>
        <p:spPr bwMode="auto">
          <a:xfrm>
            <a:off x="1071688" y="2313573"/>
            <a:ext cx="6430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1" lang="en-US" altLang="zh-CN" sz="3000" b="1" dirty="0">
                <a:solidFill>
                  <a:schemeClr val="hlink"/>
                </a:solidFill>
                <a:latin typeface="Times New Roman" pitchFamily="18" charset="0"/>
              </a:rPr>
              <a:t>R</a:t>
            </a:r>
            <a:r>
              <a:rPr kumimoji="1" lang="en-US" altLang="zh-CN" sz="3000" b="1" baseline="-25000" dirty="0">
                <a:solidFill>
                  <a:schemeClr val="hlink"/>
                </a:solidFill>
                <a:latin typeface="Times New Roman" pitchFamily="18" charset="0"/>
              </a:rPr>
              <a:t>s</a:t>
            </a:r>
          </a:p>
        </p:txBody>
      </p:sp>
      <p:sp>
        <p:nvSpPr>
          <p:cNvPr id="5" name="Text Box 42"/>
          <p:cNvSpPr txBox="1">
            <a:spLocks noChangeArrowheads="1"/>
          </p:cNvSpPr>
          <p:nvPr/>
        </p:nvSpPr>
        <p:spPr bwMode="auto">
          <a:xfrm>
            <a:off x="840681" y="3277978"/>
            <a:ext cx="6430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1" lang="en-US" altLang="zh-CN" sz="3000" b="1" dirty="0" err="1">
                <a:solidFill>
                  <a:srgbClr val="FF0000"/>
                </a:solidFill>
                <a:latin typeface="Times New Roman" pitchFamily="18" charset="0"/>
              </a:rPr>
              <a:t>E</a:t>
            </a:r>
            <a:r>
              <a:rPr kumimoji="1" lang="en-US" altLang="zh-CN" sz="3000" b="1" baseline="-25000" dirty="0" err="1">
                <a:solidFill>
                  <a:srgbClr val="FF0000"/>
                </a:solidFill>
                <a:latin typeface="Times New Roman" pitchFamily="18" charset="0"/>
              </a:rPr>
              <a:t>ns</a:t>
            </a:r>
            <a:endParaRPr kumimoji="1" lang="en-US" altLang="zh-CN" sz="30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4179834" y="2010973"/>
            <a:ext cx="4393407" cy="3107891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126" tIns="57063" rIns="114126" bIns="57063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7" name="Text Box 29"/>
          <p:cNvSpPr txBox="1">
            <a:spLocks noChangeArrowheads="1"/>
          </p:cNvSpPr>
          <p:nvPr/>
        </p:nvSpPr>
        <p:spPr bwMode="auto">
          <a:xfrm>
            <a:off x="5572772" y="3082716"/>
            <a:ext cx="969282" cy="750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0" rIns="114126" bIns="57063"/>
          <a:lstStyle/>
          <a:p>
            <a:pPr algn="just" eaLnBrk="0" hangingPunct="0"/>
            <a:r>
              <a:rPr lang="en-US" altLang="zh-CN" sz="3500" b="1" dirty="0" err="1">
                <a:latin typeface="Times New Roman" pitchFamily="18" charset="0"/>
              </a:rPr>
              <a:t>Z</a:t>
            </a:r>
            <a:r>
              <a:rPr lang="en-US" altLang="zh-CN" sz="3500" b="1" baseline="-25000" dirty="0" err="1">
                <a:latin typeface="Times New Roman" pitchFamily="18" charset="0"/>
              </a:rPr>
              <a:t>i</a:t>
            </a:r>
            <a:endParaRPr lang="en-US" altLang="zh-CN" sz="3500" b="1" dirty="0">
              <a:latin typeface="Times New Roman" pitchFamily="18" charset="0"/>
            </a:endParaRPr>
          </a:p>
        </p:txBody>
      </p:sp>
      <p:grpSp>
        <p:nvGrpSpPr>
          <p:cNvPr id="8" name="组合 51"/>
          <p:cNvGrpSpPr>
            <a:grpSpLocks/>
          </p:cNvGrpSpPr>
          <p:nvPr/>
        </p:nvGrpSpPr>
        <p:grpSpPr bwMode="auto">
          <a:xfrm>
            <a:off x="1490835" y="3358941"/>
            <a:ext cx="535844" cy="576786"/>
            <a:chOff x="4438648" y="1758267"/>
            <a:chExt cx="357190" cy="383756"/>
          </a:xfrm>
        </p:grpSpPr>
        <p:sp>
          <p:nvSpPr>
            <p:cNvPr id="9" name="椭圆 8"/>
            <p:cNvSpPr/>
            <p:nvPr/>
          </p:nvSpPr>
          <p:spPr>
            <a:xfrm>
              <a:off x="4438648" y="1758267"/>
              <a:ext cx="357190" cy="356475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0" name="TextBox 47"/>
            <p:cNvSpPr txBox="1">
              <a:spLocks noChangeArrowheads="1"/>
            </p:cNvSpPr>
            <p:nvPr/>
          </p:nvSpPr>
          <p:spPr bwMode="auto">
            <a:xfrm>
              <a:off x="4510086" y="1783667"/>
              <a:ext cx="214314" cy="3583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zh-CN" altLang="en-US" sz="3500" b="1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11" name="组合 54"/>
          <p:cNvGrpSpPr>
            <a:grpSpLocks/>
          </p:cNvGrpSpPr>
          <p:nvPr/>
        </p:nvGrpSpPr>
        <p:grpSpPr bwMode="auto">
          <a:xfrm>
            <a:off x="3681839" y="3297028"/>
            <a:ext cx="535844" cy="550070"/>
            <a:chOff x="5072066" y="857232"/>
            <a:chExt cx="357190" cy="366714"/>
          </a:xfrm>
        </p:grpSpPr>
        <p:sp>
          <p:nvSpPr>
            <p:cNvPr id="12" name="椭圆 11"/>
            <p:cNvSpPr/>
            <p:nvPr/>
          </p:nvSpPr>
          <p:spPr>
            <a:xfrm>
              <a:off x="5072066" y="866757"/>
              <a:ext cx="357190" cy="357189"/>
            </a:xfrm>
            <a:prstGeom prst="ellipse">
              <a:avLst/>
            </a:prstGeom>
            <a:noFill/>
            <a:ln w="38100"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3" name="直接箭头连接符 12"/>
            <p:cNvCxnSpPr/>
            <p:nvPr/>
          </p:nvCxnSpPr>
          <p:spPr>
            <a:xfrm rot="5400000" flipH="1" flipV="1">
              <a:off x="5075242" y="1035032"/>
              <a:ext cx="357189" cy="1588"/>
            </a:xfrm>
            <a:prstGeom prst="straightConnector1">
              <a:avLst/>
            </a:prstGeom>
            <a:ln w="31750">
              <a:solidFill>
                <a:srgbClr val="0033CC"/>
              </a:solidFill>
              <a:tailEnd type="stealth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57"/>
          <p:cNvGrpSpPr>
            <a:grpSpLocks/>
          </p:cNvGrpSpPr>
          <p:nvPr/>
        </p:nvGrpSpPr>
        <p:grpSpPr bwMode="auto">
          <a:xfrm>
            <a:off x="1500362" y="4078079"/>
            <a:ext cx="535844" cy="614363"/>
            <a:chOff x="4286248" y="663556"/>
            <a:chExt cx="357190" cy="408709"/>
          </a:xfrm>
        </p:grpSpPr>
        <p:sp>
          <p:nvSpPr>
            <p:cNvPr id="15" name="椭圆 14"/>
            <p:cNvSpPr/>
            <p:nvPr/>
          </p:nvSpPr>
          <p:spPr>
            <a:xfrm>
              <a:off x="4286248" y="714249"/>
              <a:ext cx="357190" cy="358016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TextBox 56"/>
            <p:cNvSpPr txBox="1">
              <a:spLocks noChangeArrowheads="1"/>
            </p:cNvSpPr>
            <p:nvPr/>
          </p:nvSpPr>
          <p:spPr bwMode="auto">
            <a:xfrm>
              <a:off x="4319586" y="663556"/>
              <a:ext cx="214314" cy="358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 sz="3500" b="1" dirty="0">
                  <a:solidFill>
                    <a:srgbClr val="FF0000"/>
                  </a:solidFill>
                </a:rPr>
                <a:t>~</a:t>
              </a:r>
              <a:endParaRPr lang="zh-CN" altLang="en-US" sz="35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7" name="组合 63"/>
          <p:cNvGrpSpPr>
            <a:grpSpLocks/>
          </p:cNvGrpSpPr>
          <p:nvPr/>
        </p:nvGrpSpPr>
        <p:grpSpPr bwMode="auto">
          <a:xfrm>
            <a:off x="5251266" y="2118311"/>
            <a:ext cx="214337" cy="2767013"/>
            <a:chOff x="5786446" y="1785926"/>
            <a:chExt cx="142876" cy="1843894"/>
          </a:xfrm>
        </p:grpSpPr>
        <p:sp>
          <p:nvSpPr>
            <p:cNvPr id="18" name="Rectangle 28"/>
            <p:cNvSpPr>
              <a:spLocks noChangeArrowheads="1"/>
            </p:cNvSpPr>
            <p:nvPr/>
          </p:nvSpPr>
          <p:spPr bwMode="auto">
            <a:xfrm>
              <a:off x="5786446" y="2428868"/>
              <a:ext cx="142876" cy="5585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/>
            <a:lstStyle/>
            <a:p>
              <a:endParaRPr lang="zh-CN" altLang="en-US"/>
            </a:p>
          </p:txBody>
        </p:sp>
        <p:cxnSp>
          <p:nvCxnSpPr>
            <p:cNvPr id="19" name="直接连接符 18"/>
            <p:cNvCxnSpPr/>
            <p:nvPr/>
          </p:nvCxnSpPr>
          <p:spPr>
            <a:xfrm rot="5400000">
              <a:off x="5537345" y="2106465"/>
              <a:ext cx="642665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rot="5400000">
              <a:off x="5537345" y="3307693"/>
              <a:ext cx="642666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1" name="直接连接符 20"/>
          <p:cNvCxnSpPr/>
          <p:nvPr/>
        </p:nvCxnSpPr>
        <p:spPr>
          <a:xfrm rot="16200000" flipH="1">
            <a:off x="3371117" y="2700525"/>
            <a:ext cx="11644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rot="5400000">
            <a:off x="3417553" y="4368590"/>
            <a:ext cx="1073943" cy="238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88"/>
          <p:cNvGrpSpPr>
            <a:grpSpLocks/>
          </p:cNvGrpSpPr>
          <p:nvPr/>
        </p:nvGrpSpPr>
        <p:grpSpPr bwMode="auto">
          <a:xfrm>
            <a:off x="1769475" y="1849227"/>
            <a:ext cx="3610394" cy="576653"/>
            <a:chOff x="893762" y="1606512"/>
            <a:chExt cx="2406314" cy="385004"/>
          </a:xfrm>
        </p:grpSpPr>
        <p:grpSp>
          <p:nvGrpSpPr>
            <p:cNvPr id="24" name="组合 48"/>
            <p:cNvGrpSpPr>
              <a:grpSpLocks/>
            </p:cNvGrpSpPr>
            <p:nvPr/>
          </p:nvGrpSpPr>
          <p:grpSpPr bwMode="auto">
            <a:xfrm>
              <a:off x="1628671" y="1606512"/>
              <a:ext cx="357138" cy="385004"/>
              <a:chOff x="4285837" y="714356"/>
              <a:chExt cx="357138" cy="385004"/>
            </a:xfrm>
          </p:grpSpPr>
          <p:sp>
            <p:nvSpPr>
              <p:cNvPr id="27" name="椭圆 26"/>
              <p:cNvSpPr/>
              <p:nvPr/>
            </p:nvSpPr>
            <p:spPr>
              <a:xfrm>
                <a:off x="4285837" y="714356"/>
                <a:ext cx="357138" cy="357716"/>
              </a:xfrm>
              <a:prstGeom prst="ellipse">
                <a:avLst/>
              </a:prstGeom>
              <a:noFill/>
              <a:ln w="38100"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28" name="TextBox 45"/>
              <p:cNvSpPr txBox="1">
                <a:spLocks noChangeArrowheads="1"/>
              </p:cNvSpPr>
              <p:nvPr/>
            </p:nvSpPr>
            <p:spPr bwMode="auto">
              <a:xfrm>
                <a:off x="4357686" y="739756"/>
                <a:ext cx="214314" cy="3596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r>
                  <a:rPr lang="zh-CN" altLang="en-US" sz="3500" b="1" dirty="0">
                    <a:solidFill>
                      <a:srgbClr val="0033CC"/>
                    </a:solidFill>
                  </a:rPr>
                  <a:t>*</a:t>
                </a: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>
              <a:off x="2006444" y="1792525"/>
              <a:ext cx="1293632" cy="15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rot="10800000">
              <a:off x="893762" y="1786165"/>
              <a:ext cx="714275" cy="158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89"/>
          <p:cNvGrpSpPr>
            <a:grpSpLocks/>
          </p:cNvGrpSpPr>
          <p:nvPr/>
        </p:nvGrpSpPr>
        <p:grpSpPr bwMode="auto">
          <a:xfrm>
            <a:off x="1662306" y="2087352"/>
            <a:ext cx="3717562" cy="2840832"/>
            <a:chOff x="822324" y="1765780"/>
            <a:chExt cx="2477752" cy="1893132"/>
          </a:xfrm>
        </p:grpSpPr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822324" y="1900882"/>
              <a:ext cx="142876" cy="55851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/>
            <a:lstStyle/>
            <a:p>
              <a:endParaRPr lang="zh-CN" altLang="en-US"/>
            </a:p>
          </p:txBody>
        </p:sp>
        <p:cxnSp>
          <p:nvCxnSpPr>
            <p:cNvPr id="31" name="直接连接符 30"/>
            <p:cNvCxnSpPr/>
            <p:nvPr/>
          </p:nvCxnSpPr>
          <p:spPr>
            <a:xfrm flipV="1">
              <a:off x="857244" y="3639870"/>
              <a:ext cx="2442832" cy="3174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 rot="5400000">
              <a:off x="819962" y="1836396"/>
              <a:ext cx="142818" cy="158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 rot="5400000">
              <a:off x="818374" y="2521922"/>
              <a:ext cx="142818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rot="5400000">
              <a:off x="818374" y="3056696"/>
              <a:ext cx="142818" cy="158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/>
          </p:nvCxnSpPr>
          <p:spPr>
            <a:xfrm rot="5400000">
              <a:off x="807264" y="3586710"/>
              <a:ext cx="142818" cy="158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 Box 37"/>
          <p:cNvSpPr txBox="1">
            <a:spLocks noChangeArrowheads="1"/>
          </p:cNvSpPr>
          <p:nvPr/>
        </p:nvSpPr>
        <p:spPr bwMode="auto">
          <a:xfrm>
            <a:off x="3000723" y="3189872"/>
            <a:ext cx="643012" cy="57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>
            <a:spAutoFit/>
          </a:bodyPr>
          <a:lstStyle/>
          <a:p>
            <a:r>
              <a:rPr kumimoji="1" lang="en-US" altLang="zh-CN" sz="3000" b="1" dirty="0">
                <a:solidFill>
                  <a:srgbClr val="0033CC"/>
                </a:solidFill>
                <a:latin typeface="Times New Roman" pitchFamily="18" charset="0"/>
              </a:rPr>
              <a:t>I</a:t>
            </a:r>
            <a:r>
              <a:rPr kumimoji="1" lang="en-US" altLang="zh-CN" sz="3000" b="1" baseline="-25000" dirty="0">
                <a:solidFill>
                  <a:srgbClr val="0033CC"/>
                </a:solidFill>
                <a:latin typeface="Times New Roman" pitchFamily="18" charset="0"/>
              </a:rPr>
              <a:t>n</a:t>
            </a:r>
          </a:p>
        </p:txBody>
      </p:sp>
      <p:sp>
        <p:nvSpPr>
          <p:cNvPr id="37" name="Text Box 42"/>
          <p:cNvSpPr txBox="1">
            <a:spLocks noChangeArrowheads="1"/>
          </p:cNvSpPr>
          <p:nvPr/>
        </p:nvSpPr>
        <p:spPr bwMode="auto">
          <a:xfrm>
            <a:off x="895455" y="4063791"/>
            <a:ext cx="6430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1" lang="en-US" altLang="zh-CN" sz="3000" b="1" dirty="0" smtClean="0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kumimoji="1" lang="en-US" altLang="zh-CN" sz="3000" b="1" baseline="-25000" dirty="0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endParaRPr kumimoji="1" lang="en-US" altLang="zh-CN" sz="30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38" name="Text Box 41"/>
          <p:cNvSpPr txBox="1">
            <a:spLocks noChangeArrowheads="1"/>
          </p:cNvSpPr>
          <p:nvPr/>
        </p:nvSpPr>
        <p:spPr bwMode="auto">
          <a:xfrm>
            <a:off x="6430121" y="3082715"/>
            <a:ext cx="857349" cy="653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>
            <a:spAutoFit/>
          </a:bodyPr>
          <a:lstStyle/>
          <a:p>
            <a:r>
              <a:rPr kumimoji="1" lang="en-US" altLang="zh-CN" sz="3500" b="1" i="1" dirty="0">
                <a:solidFill>
                  <a:schemeClr val="hlink"/>
                </a:solidFill>
                <a:latin typeface="Times New Roman" pitchFamily="18" charset="0"/>
              </a:rPr>
              <a:t>A</a:t>
            </a:r>
            <a:r>
              <a:rPr kumimoji="1" lang="en-US" altLang="zh-CN" sz="3500" i="1" baseline="-25000" dirty="0">
                <a:solidFill>
                  <a:schemeClr val="hlink"/>
                </a:solidFill>
                <a:latin typeface="Times New Roman" pitchFamily="18" charset="0"/>
              </a:rPr>
              <a:t>V</a:t>
            </a:r>
            <a:endParaRPr kumimoji="1" lang="en-US" altLang="zh-CN" sz="3500" i="1" dirty="0">
              <a:solidFill>
                <a:schemeClr val="hlink"/>
              </a:solidFill>
              <a:latin typeface="Times New Roman" pitchFamily="18" charset="0"/>
            </a:endParaRPr>
          </a:p>
        </p:txBody>
      </p:sp>
      <p:sp>
        <p:nvSpPr>
          <p:cNvPr id="39" name="Text Box 42"/>
          <p:cNvSpPr txBox="1">
            <a:spLocks noChangeArrowheads="1"/>
          </p:cNvSpPr>
          <p:nvPr/>
        </p:nvSpPr>
        <p:spPr bwMode="auto">
          <a:xfrm>
            <a:off x="8144819" y="3725653"/>
            <a:ext cx="6430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kumimoji="1" lang="en-US" altLang="zh-CN" sz="3000" b="1" dirty="0" smtClean="0">
                <a:solidFill>
                  <a:srgbClr val="FF0000"/>
                </a:solidFill>
                <a:latin typeface="Times New Roman" pitchFamily="18" charset="0"/>
              </a:rPr>
              <a:t>V</a:t>
            </a:r>
            <a:r>
              <a:rPr kumimoji="1" lang="en-US" altLang="zh-CN" sz="3000" b="1" baseline="-25000" dirty="0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endParaRPr kumimoji="1" lang="en-US" altLang="zh-CN" sz="3000" b="1" baseline="-25000" dirty="0">
              <a:solidFill>
                <a:srgbClr val="FF0000"/>
              </a:solidFill>
              <a:latin typeface="Times New Roman" pitchFamily="18" charset="0"/>
            </a:endParaRPr>
          </a:p>
        </p:txBody>
      </p:sp>
      <p:grpSp>
        <p:nvGrpSpPr>
          <p:cNvPr id="40" name="组合 90"/>
          <p:cNvGrpSpPr>
            <a:grpSpLocks/>
          </p:cNvGrpSpPr>
          <p:nvPr/>
        </p:nvGrpSpPr>
        <p:grpSpPr bwMode="auto">
          <a:xfrm>
            <a:off x="7930481" y="3456573"/>
            <a:ext cx="857349" cy="214313"/>
            <a:chOff x="5000628" y="2678044"/>
            <a:chExt cx="571504" cy="142876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5000628" y="2754245"/>
              <a:ext cx="428628" cy="158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椭圆 41"/>
            <p:cNvSpPr/>
            <p:nvPr/>
          </p:nvSpPr>
          <p:spPr>
            <a:xfrm>
              <a:off x="5429256" y="2678044"/>
              <a:ext cx="142876" cy="14287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3" name="Rectangle 3"/>
          <p:cNvSpPr txBox="1">
            <a:spLocks noChangeArrowheads="1"/>
          </p:cNvSpPr>
          <p:nvPr/>
        </p:nvSpPr>
        <p:spPr bwMode="auto">
          <a:xfrm>
            <a:off x="8787830" y="832436"/>
            <a:ext cx="4501084" cy="5679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427973" indent="-427973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b="1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500" b="1" baseline="-30000" dirty="0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为信号源电压；</a:t>
            </a:r>
          </a:p>
          <a:p>
            <a:pPr marL="427973" indent="-427973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R</a:t>
            </a:r>
            <a:r>
              <a:rPr lang="en-US" altLang="zh-CN" sz="25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为信号源内阻；</a:t>
            </a:r>
          </a:p>
          <a:p>
            <a:pPr marL="427973" indent="-427973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5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ns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为热噪声电压；</a:t>
            </a:r>
          </a:p>
          <a:p>
            <a:pPr marL="427973" indent="-427973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Z</a:t>
            </a:r>
            <a:r>
              <a:rPr lang="en-US" altLang="zh-CN" sz="25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为放大器输入电阻；</a:t>
            </a:r>
          </a:p>
          <a:p>
            <a:pPr marL="427973" indent="-427973" algn="just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A</a:t>
            </a:r>
            <a:r>
              <a:rPr lang="en-US" altLang="zh-CN" sz="2500" b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为放大器电压增益；</a:t>
            </a:r>
          </a:p>
          <a:p>
            <a:pPr marL="427973" indent="-427973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b="1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V</a:t>
            </a:r>
            <a:r>
              <a:rPr lang="en-US" altLang="zh-CN" sz="2500" b="1" baseline="-30000" dirty="0" err="1" smtClean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so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总的输出信号；</a:t>
            </a:r>
          </a:p>
          <a:p>
            <a:pPr marL="427973" indent="-427973">
              <a:lnSpc>
                <a:spcPct val="150000"/>
              </a:lnSpc>
              <a:spcBef>
                <a:spcPct val="20000"/>
              </a:spcBef>
            </a:pPr>
            <a:r>
              <a:rPr lang="en-US" altLang="zh-CN" sz="2500" b="1" dirty="0">
                <a:solidFill>
                  <a:schemeClr val="hlin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•</a:t>
            </a:r>
            <a:r>
              <a:rPr lang="en-US" altLang="zh-CN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en-US" altLang="zh-CN" sz="2500" b="1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2500" b="1" baseline="-30000" dirty="0" err="1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no</a:t>
            </a:r>
            <a:r>
              <a:rPr lang="zh-CN" altLang="en-US" sz="25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总的输出噪声。 </a:t>
            </a:r>
          </a:p>
        </p:txBody>
      </p:sp>
      <p:sp>
        <p:nvSpPr>
          <p:cNvPr id="44" name="Text Box 37"/>
          <p:cNvSpPr txBox="1">
            <a:spLocks noChangeArrowheads="1"/>
          </p:cNvSpPr>
          <p:nvPr/>
        </p:nvSpPr>
        <p:spPr bwMode="auto">
          <a:xfrm>
            <a:off x="7930480" y="4368590"/>
            <a:ext cx="964519" cy="576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>
            <a:spAutoFit/>
          </a:bodyPr>
          <a:lstStyle/>
          <a:p>
            <a:r>
              <a:rPr kumimoji="1" lang="en-US" altLang="zh-CN" sz="3000" b="1" dirty="0">
                <a:solidFill>
                  <a:srgbClr val="0033CC"/>
                </a:solidFill>
                <a:latin typeface="Times New Roman" pitchFamily="18" charset="0"/>
              </a:rPr>
              <a:t>E</a:t>
            </a:r>
            <a:r>
              <a:rPr kumimoji="1" lang="en-US" altLang="zh-CN" sz="3000" b="1" baseline="-25000" dirty="0">
                <a:solidFill>
                  <a:srgbClr val="0033CC"/>
                </a:solidFill>
                <a:latin typeface="Times New Roman" pitchFamily="18" charset="0"/>
              </a:rPr>
              <a:t>n0</a:t>
            </a:r>
          </a:p>
        </p:txBody>
      </p:sp>
      <p:sp>
        <p:nvSpPr>
          <p:cNvPr id="45" name="Text Box 31"/>
          <p:cNvSpPr txBox="1">
            <a:spLocks noChangeArrowheads="1"/>
          </p:cNvSpPr>
          <p:nvPr/>
        </p:nvSpPr>
        <p:spPr bwMode="auto">
          <a:xfrm>
            <a:off x="5572770" y="888581"/>
            <a:ext cx="1821868" cy="1007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0" rIns="114126" bIns="57063"/>
          <a:lstStyle/>
          <a:p>
            <a:pPr algn="ctr" eaLnBrk="0" hangingPunct="0"/>
            <a:r>
              <a:rPr lang="zh-CN" altLang="en-US" sz="25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无噪声</a:t>
            </a:r>
          </a:p>
          <a:p>
            <a:pPr algn="ctr" eaLnBrk="0" hangingPunct="0"/>
            <a:r>
              <a:rPr lang="zh-CN" altLang="en-US" sz="25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放大器</a:t>
            </a:r>
          </a:p>
        </p:txBody>
      </p:sp>
      <p:sp>
        <p:nvSpPr>
          <p:cNvPr id="46" name="下箭头 45"/>
          <p:cNvSpPr/>
          <p:nvPr/>
        </p:nvSpPr>
        <p:spPr>
          <a:xfrm>
            <a:off x="6108615" y="1903998"/>
            <a:ext cx="750179" cy="1071563"/>
          </a:xfrm>
          <a:prstGeom prst="down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126" tIns="57063" rIns="114126" bIns="57063"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7668215" y="116838"/>
            <a:ext cx="5996122" cy="330684"/>
          </a:xfrm>
          <a:prstGeom prst="rect">
            <a:avLst/>
          </a:prstGeom>
          <a:solidFill>
            <a:srgbClr val="FFFFCC">
              <a:alpha val="50196"/>
            </a:srgbClr>
          </a:solidFill>
          <a:ln w="9525">
            <a:noFill/>
            <a:miter lim="800000"/>
            <a:headEnd/>
            <a:tailEnd/>
          </a:ln>
        </p:spPr>
        <p:txBody>
          <a:bodyPr wrap="square" lIns="114126" tIns="57063" rIns="114126" bIns="57063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《</a:t>
            </a:r>
            <a:r>
              <a:rPr lang="zh-CN" altLang="en-US" sz="1400" b="1" dirty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光电技术</a:t>
            </a:r>
            <a:r>
              <a:rPr lang="en-US" altLang="zh-CN" sz="1400" b="1" dirty="0" smtClean="0">
                <a:solidFill>
                  <a:srgbClr val="FF0000"/>
                </a:solidFill>
                <a:latin typeface="华文彩云" pitchFamily="2" charset="-122"/>
                <a:ea typeface="华文彩云" pitchFamily="2" charset="-122"/>
              </a:rPr>
              <a:t>》</a:t>
            </a:r>
            <a:r>
              <a:rPr lang="en-US" altLang="zh-CN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微弱光电信号的探测与处理</a:t>
            </a:r>
            <a:r>
              <a:rPr lang="en-US" altLang="zh-CN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—</a:t>
            </a:r>
            <a:r>
              <a:rPr lang="zh-CN" altLang="en-US" sz="1400" b="1" dirty="0" smtClean="0">
                <a:solidFill>
                  <a:srgbClr val="FF0000"/>
                </a:solidFill>
                <a:latin typeface="华文行楷" pitchFamily="2" charset="-122"/>
                <a:ea typeface="华文行楷" pitchFamily="2" charset="-122"/>
              </a:rPr>
              <a:t>放大器噪声模型</a:t>
            </a:r>
            <a:endParaRPr lang="zh-CN" altLang="en-US" sz="1400" b="1" dirty="0">
              <a:solidFill>
                <a:srgbClr val="7030A0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4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放大器的噪声模型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70219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 animBg="1"/>
      <p:bldP spid="7" grpId="0"/>
      <p:bldP spid="36" grpId="0"/>
      <p:bldP spid="37" grpId="0"/>
      <p:bldP spid="38" grpId="0"/>
      <p:bldP spid="39" grpId="0"/>
      <p:bldP spid="43" grpId="0" animBg="1"/>
      <p:bldP spid="44" grpId="0"/>
      <p:bldP spid="45" grpId="0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4467272" y="1049314"/>
            <a:ext cx="4393915" cy="75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427973" indent="-427973">
              <a:spcBef>
                <a:spcPct val="20000"/>
              </a:spcBef>
            </a:pPr>
            <a:r>
              <a:rPr lang="en-US" altLang="zh-CN" sz="3500" b="1" i="1" dirty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500" b="1" i="1" baseline="-30000" dirty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500" b="1" dirty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-</a:t>
            </a:r>
            <a:r>
              <a:rPr lang="en-US" altLang="zh-CN" sz="3500" b="1" i="1" dirty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500" b="1" i="1" baseline="-30000" dirty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500" b="1" dirty="0">
                <a:solidFill>
                  <a:srgbClr val="0033CC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模型的优点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917447" y="2216946"/>
            <a:ext cx="12431564" cy="1969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562706" indent="-562706">
              <a:lnSpc>
                <a:spcPct val="150000"/>
              </a:lnSpc>
              <a:spcBef>
                <a:spcPct val="20000"/>
              </a:spcBef>
              <a:buFont typeface="Wingdings" pitchFamily="2" charset="2"/>
              <a:buChar char="l"/>
            </a:pP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理论：放大器看成是无噪声的， 对放大器噪声的研究归结为只要分析</a:t>
            </a:r>
            <a:r>
              <a:rPr lang="en-US" altLang="zh-CN" sz="30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i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0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000" b="1" i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在整个电路中所起的作用。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024617" y="6226970"/>
            <a:ext cx="11681383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427973" indent="-427973">
              <a:spcBef>
                <a:spcPct val="20000"/>
              </a:spcBef>
              <a:buFont typeface="Wingdings" pitchFamily="2" charset="2"/>
              <a:buChar char="l"/>
            </a:pP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实验：能够通过实验测量得出</a:t>
            </a:r>
            <a:r>
              <a:rPr lang="en-US" altLang="zh-CN" sz="30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E</a:t>
            </a:r>
            <a:r>
              <a:rPr lang="en-US" altLang="zh-CN" sz="3000" b="1" i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3000" b="1" i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I</a:t>
            </a:r>
            <a:r>
              <a:rPr lang="en-US" altLang="zh-CN" sz="3000" b="1" i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n</a:t>
            </a:r>
            <a:r>
              <a:rPr lang="en-US" altLang="zh-CN" sz="3000" b="1" baseline="-30000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 </a:t>
            </a: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的大小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679535" y="4445796"/>
            <a:ext cx="8640176" cy="10739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14126" tIns="57063" rIns="114126" bIns="57063"/>
          <a:lstStyle/>
          <a:p>
            <a:pPr marL="562706" indent="-562706">
              <a:lnSpc>
                <a:spcPct val="150000"/>
              </a:lnSpc>
              <a:spcBef>
                <a:spcPct val="20000"/>
              </a:spcBef>
            </a:pPr>
            <a:r>
              <a:rPr lang="zh-CN" altLang="en-US" sz="3000" b="1" dirty="0">
                <a:latin typeface="Times New Roman" pitchFamily="18" charset="0"/>
                <a:ea typeface="微软雅黑" pitchFamily="34" charset="-122"/>
                <a:cs typeface="Times New Roman" pitchFamily="18" charset="0"/>
              </a:rPr>
              <a:t>简化了电路系统的噪声的计算。</a:t>
            </a:r>
          </a:p>
        </p:txBody>
      </p:sp>
      <p:sp>
        <p:nvSpPr>
          <p:cNvPr id="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319613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放大器的噪声模型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256520" y="329189"/>
            <a:ext cx="121108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336177" y="293282"/>
            <a:ext cx="948448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9.3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 flipV="1">
            <a:off x="1450506" y="695281"/>
            <a:ext cx="2999293" cy="15717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68728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光电系统与信号处理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2875</TotalTime>
  <Words>324</Words>
  <Application>Microsoft Office PowerPoint</Application>
  <PresentationFormat>自定义</PresentationFormat>
  <Paragraphs>68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阿里巴巴普惠体 R</vt:lpstr>
      <vt:lpstr>冬青黑体简体中文 W6</vt:lpstr>
      <vt:lpstr>华文彩云</vt:lpstr>
      <vt:lpstr>华文行楷</vt:lpstr>
      <vt:lpstr>华文琥珀</vt:lpstr>
      <vt:lpstr>宋体</vt:lpstr>
      <vt:lpstr>微软雅黑</vt:lpstr>
      <vt:lpstr>微软雅黑</vt:lpstr>
      <vt:lpstr>Arial</vt:lpstr>
      <vt:lpstr>Calibri</vt:lpstr>
      <vt:lpstr>Tahoma</vt:lpstr>
      <vt:lpstr>Times New Roman</vt:lpstr>
      <vt:lpstr>Wingdings</vt:lpstr>
      <vt:lpstr>光电系统与信号处理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hust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本节主要介绍8051单片机的存贮器结构</dc:title>
  <dc:creator>zy</dc:creator>
  <cp:lastModifiedBy>user</cp:lastModifiedBy>
  <cp:revision>137</cp:revision>
  <cp:lastPrinted>1601-01-01T00:00:00Z</cp:lastPrinted>
  <dcterms:created xsi:type="dcterms:W3CDTF">2002-10-11T11:07:31Z</dcterms:created>
  <dcterms:modified xsi:type="dcterms:W3CDTF">2022-05-03T06:52:30Z</dcterms:modified>
</cp:coreProperties>
</file>