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73" r:id="rId2"/>
    <p:sldId id="376" r:id="rId3"/>
    <p:sldId id="273" r:id="rId4"/>
    <p:sldId id="336" r:id="rId5"/>
    <p:sldId id="337" r:id="rId6"/>
    <p:sldId id="339" r:id="rId7"/>
    <p:sldId id="340"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Lst>
  <p:sldSz cx="13717588" cy="7715250"/>
  <p:notesSz cx="6858000" cy="9144000"/>
  <p:defaultTextStyle>
    <a:defPPr>
      <a:defRPr lang="zh-CN"/>
    </a:defPPr>
    <a:lvl1pPr algn="l" defTabSz="1028700"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1pPr>
    <a:lvl2pPr marL="514350" indent="-57150" algn="l" defTabSz="1028700"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2pPr>
    <a:lvl3pPr marL="1028700" indent="-114300" algn="l" defTabSz="1028700"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3pPr>
    <a:lvl4pPr marL="1543050" indent="-171450" algn="l" defTabSz="1028700"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defTabSz="1028700"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430">
          <p15:clr>
            <a:srgbClr val="A4A3A4"/>
          </p15:clr>
        </p15:guide>
        <p15:guide id="2" pos="4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5" d="100"/>
          <a:sy n="85" d="100"/>
        </p:scale>
        <p:origin x="54" y="270"/>
      </p:cViewPr>
      <p:guideLst>
        <p:guide orient="horz" pos="2430"/>
        <p:guide pos="43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wmf"/><Relationship Id="rId4"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emf"/><Relationship Id="rId1" Type="http://schemas.openxmlformats.org/officeDocument/2006/relationships/image" Target="../media/image20.wmf"/><Relationship Id="rId4" Type="http://schemas.openxmlformats.org/officeDocument/2006/relationships/image" Target="../media/image23.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wmf"/><Relationship Id="rId1" Type="http://schemas.openxmlformats.org/officeDocument/2006/relationships/image" Target="../media/image2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14699" y="1262658"/>
            <a:ext cx="10288191" cy="2686050"/>
          </a:xfrm>
        </p:spPr>
        <p:txBody>
          <a:bodyPr anchor="b"/>
          <a:lstStyle>
            <a:lvl1pPr algn="ctr">
              <a:defRPr sz="6800"/>
            </a:lvl1pPr>
          </a:lstStyle>
          <a:p>
            <a:r>
              <a:rPr lang="zh-CN" altLang="en-US"/>
              <a:t>单击此处编辑母版标题样式</a:t>
            </a:r>
          </a:p>
        </p:txBody>
      </p:sp>
      <p:sp>
        <p:nvSpPr>
          <p:cNvPr id="3" name="副标题 2"/>
          <p:cNvSpPr>
            <a:spLocks noGrp="1"/>
          </p:cNvSpPr>
          <p:nvPr>
            <p:ph type="subTitle" idx="1"/>
          </p:nvPr>
        </p:nvSpPr>
        <p:spPr>
          <a:xfrm>
            <a:off x="1714699" y="4052293"/>
            <a:ext cx="10288191" cy="1862732"/>
          </a:xfrm>
        </p:spPr>
        <p:txBody>
          <a:bodyPr/>
          <a:lstStyle>
            <a:lvl1pPr marL="0" indent="0" algn="ctr">
              <a:buNone/>
              <a:defRPr sz="2700"/>
            </a:lvl1pPr>
            <a:lvl2pPr marL="514350" indent="0" algn="ctr">
              <a:buNone/>
              <a:defRPr sz="2300"/>
            </a:lvl2pPr>
            <a:lvl3pPr marL="1028700" indent="0" algn="ctr">
              <a:buNone/>
              <a:defRPr sz="2000"/>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367A1B5-20CA-474D-9BD0-1BE4FD3268EA}"/>
              </a:ext>
            </a:extLst>
          </p:cNvPr>
          <p:cNvSpPr>
            <a:spLocks noGrp="1"/>
          </p:cNvSpPr>
          <p:nvPr>
            <p:ph type="dt" sz="half" idx="10"/>
          </p:nvPr>
        </p:nvSpPr>
        <p:spPr/>
        <p:txBody>
          <a:bodyPr/>
          <a:lstStyle>
            <a:lvl1pPr>
              <a:defRPr/>
            </a:lvl1pPr>
          </a:lstStyle>
          <a:p>
            <a:pPr>
              <a:defRPr/>
            </a:pPr>
            <a:fld id="{9CC44C26-72F7-4CEA-9D24-E5B443E65F2B}" type="datetimeFigureOut">
              <a:rPr lang="zh-CN" altLang="en-US"/>
              <a:pPr>
                <a:defRPr/>
              </a:pPr>
              <a:t>2022/5/2</a:t>
            </a:fld>
            <a:endParaRPr lang="zh-CN" altLang="en-US"/>
          </a:p>
        </p:txBody>
      </p:sp>
      <p:sp>
        <p:nvSpPr>
          <p:cNvPr id="5" name="页脚占位符 4">
            <a:extLst>
              <a:ext uri="{FF2B5EF4-FFF2-40B4-BE49-F238E27FC236}">
                <a16:creationId xmlns:a16="http://schemas.microsoft.com/office/drawing/2014/main" id="{BA507ACA-3FF5-4049-96B3-0EA488FB6EAA}"/>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59B8F82-A012-45F3-8F28-CF7D6E871093}"/>
              </a:ext>
            </a:extLst>
          </p:cNvPr>
          <p:cNvSpPr>
            <a:spLocks noGrp="1"/>
          </p:cNvSpPr>
          <p:nvPr>
            <p:ph type="sldNum" sz="quarter" idx="12"/>
          </p:nvPr>
        </p:nvSpPr>
        <p:spPr/>
        <p:txBody>
          <a:bodyPr/>
          <a:lstStyle>
            <a:lvl1pPr>
              <a:defRPr/>
            </a:lvl1pPr>
          </a:lstStyle>
          <a:p>
            <a:fld id="{8C569D5E-752D-41B4-9C66-6FBDFEF2DF6B}" type="slidenum">
              <a:rPr lang="zh-CN" altLang="en-US"/>
              <a:pPr/>
              <a:t>‹#›</a:t>
            </a:fld>
            <a:endParaRPr lang="zh-CN" altLang="en-US"/>
          </a:p>
        </p:txBody>
      </p:sp>
    </p:spTree>
    <p:extLst>
      <p:ext uri="{BB962C8B-B14F-4D97-AF65-F5344CB8AC3E}">
        <p14:creationId xmlns:p14="http://schemas.microsoft.com/office/powerpoint/2010/main" val="2000142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FE3F97A-C1DC-4563-BE2C-559E2AAA7FF7}"/>
              </a:ext>
            </a:extLst>
          </p:cNvPr>
          <p:cNvSpPr>
            <a:spLocks noGrp="1"/>
          </p:cNvSpPr>
          <p:nvPr>
            <p:ph type="dt" sz="half" idx="10"/>
          </p:nvPr>
        </p:nvSpPr>
        <p:spPr/>
        <p:txBody>
          <a:bodyPr/>
          <a:lstStyle>
            <a:lvl1pPr>
              <a:defRPr/>
            </a:lvl1pPr>
          </a:lstStyle>
          <a:p>
            <a:pPr>
              <a:defRPr/>
            </a:pPr>
            <a:fld id="{824F839E-75E1-4092-8D45-0D665D2E5126}" type="datetimeFigureOut">
              <a:rPr lang="zh-CN" altLang="en-US"/>
              <a:pPr>
                <a:defRPr/>
              </a:pPr>
              <a:t>2022/5/2</a:t>
            </a:fld>
            <a:endParaRPr lang="zh-CN" altLang="en-US"/>
          </a:p>
        </p:txBody>
      </p:sp>
      <p:sp>
        <p:nvSpPr>
          <p:cNvPr id="5" name="页脚占位符 4">
            <a:extLst>
              <a:ext uri="{FF2B5EF4-FFF2-40B4-BE49-F238E27FC236}">
                <a16:creationId xmlns:a16="http://schemas.microsoft.com/office/drawing/2014/main" id="{01FCF290-7A67-484B-9904-771F32C5899A}"/>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F5FD572D-2D29-43E0-990A-8862B911A08A}"/>
              </a:ext>
            </a:extLst>
          </p:cNvPr>
          <p:cNvSpPr>
            <a:spLocks noGrp="1"/>
          </p:cNvSpPr>
          <p:nvPr>
            <p:ph type="sldNum" sz="quarter" idx="12"/>
          </p:nvPr>
        </p:nvSpPr>
        <p:spPr/>
        <p:txBody>
          <a:bodyPr/>
          <a:lstStyle>
            <a:lvl1pPr>
              <a:defRPr/>
            </a:lvl1pPr>
          </a:lstStyle>
          <a:p>
            <a:fld id="{D7CD5F3A-B594-4BDF-AD69-782B2E3D5E1E}" type="slidenum">
              <a:rPr lang="zh-CN" altLang="en-US"/>
              <a:pPr/>
              <a:t>‹#›</a:t>
            </a:fld>
            <a:endParaRPr lang="zh-CN" altLang="en-US"/>
          </a:p>
        </p:txBody>
      </p:sp>
    </p:spTree>
    <p:extLst>
      <p:ext uri="{BB962C8B-B14F-4D97-AF65-F5344CB8AC3E}">
        <p14:creationId xmlns:p14="http://schemas.microsoft.com/office/powerpoint/2010/main" val="2485133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35939" y="1923456"/>
            <a:ext cx="11831420" cy="3209329"/>
          </a:xfrm>
        </p:spPr>
        <p:txBody>
          <a:bodyPr anchor="b"/>
          <a:lstStyle>
            <a:lvl1pPr>
              <a:defRPr sz="6800"/>
            </a:lvl1pPr>
          </a:lstStyle>
          <a:p>
            <a:r>
              <a:rPr lang="zh-CN" altLang="en-US"/>
              <a:t>单击此处编辑母版标题样式</a:t>
            </a:r>
          </a:p>
        </p:txBody>
      </p:sp>
      <p:sp>
        <p:nvSpPr>
          <p:cNvPr id="3" name="文本占位符 2"/>
          <p:cNvSpPr>
            <a:spLocks noGrp="1"/>
          </p:cNvSpPr>
          <p:nvPr>
            <p:ph type="body" idx="1"/>
          </p:nvPr>
        </p:nvSpPr>
        <p:spPr>
          <a:xfrm>
            <a:off x="935939" y="5163147"/>
            <a:ext cx="11831420" cy="1687710"/>
          </a:xfrm>
        </p:spPr>
        <p:txBody>
          <a:bodyPr/>
          <a:lstStyle>
            <a:lvl1pPr marL="0" indent="0">
              <a:buNone/>
              <a:defRPr sz="2700">
                <a:solidFill>
                  <a:schemeClr val="tx1">
                    <a:tint val="75000"/>
                  </a:schemeClr>
                </a:solidFill>
              </a:defRPr>
            </a:lvl1pPr>
            <a:lvl2pPr marL="514350" indent="0">
              <a:buNone/>
              <a:defRPr sz="2300">
                <a:solidFill>
                  <a:schemeClr val="tx1">
                    <a:tint val="75000"/>
                  </a:schemeClr>
                </a:solidFill>
              </a:defRPr>
            </a:lvl2pPr>
            <a:lvl3pPr marL="1028700" indent="0">
              <a:buNone/>
              <a:defRPr sz="2000">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B1821F1-8480-4C1B-9E12-66515AD59813}"/>
              </a:ext>
            </a:extLst>
          </p:cNvPr>
          <p:cNvSpPr>
            <a:spLocks noGrp="1"/>
          </p:cNvSpPr>
          <p:nvPr>
            <p:ph type="dt" sz="half" idx="10"/>
          </p:nvPr>
        </p:nvSpPr>
        <p:spPr/>
        <p:txBody>
          <a:bodyPr/>
          <a:lstStyle>
            <a:lvl1pPr>
              <a:defRPr/>
            </a:lvl1pPr>
          </a:lstStyle>
          <a:p>
            <a:pPr>
              <a:defRPr/>
            </a:pPr>
            <a:fld id="{9B72C01D-64FB-49C9-8AAE-E7C6FECE5E15}" type="datetimeFigureOut">
              <a:rPr lang="zh-CN" altLang="en-US"/>
              <a:pPr>
                <a:defRPr/>
              </a:pPr>
              <a:t>2022/5/2</a:t>
            </a:fld>
            <a:endParaRPr lang="zh-CN" altLang="en-US"/>
          </a:p>
        </p:txBody>
      </p:sp>
      <p:sp>
        <p:nvSpPr>
          <p:cNvPr id="5" name="页脚占位符 4">
            <a:extLst>
              <a:ext uri="{FF2B5EF4-FFF2-40B4-BE49-F238E27FC236}">
                <a16:creationId xmlns:a16="http://schemas.microsoft.com/office/drawing/2014/main" id="{EDE0BF0E-3348-4DF2-82FF-BC897CA0EBA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757BC4FE-3429-4ADE-8EF6-BB8C65E699FE}"/>
              </a:ext>
            </a:extLst>
          </p:cNvPr>
          <p:cNvSpPr>
            <a:spLocks noGrp="1"/>
          </p:cNvSpPr>
          <p:nvPr>
            <p:ph type="sldNum" sz="quarter" idx="12"/>
          </p:nvPr>
        </p:nvSpPr>
        <p:spPr/>
        <p:txBody>
          <a:bodyPr/>
          <a:lstStyle>
            <a:lvl1pPr>
              <a:defRPr/>
            </a:lvl1pPr>
          </a:lstStyle>
          <a:p>
            <a:fld id="{1AD1E889-A3EA-4309-8A1F-C50D51C704D5}" type="slidenum">
              <a:rPr lang="zh-CN" altLang="en-US"/>
              <a:pPr/>
              <a:t>‹#›</a:t>
            </a:fld>
            <a:endParaRPr lang="zh-CN" altLang="en-US"/>
          </a:p>
        </p:txBody>
      </p:sp>
    </p:spTree>
    <p:extLst>
      <p:ext uri="{BB962C8B-B14F-4D97-AF65-F5344CB8AC3E}">
        <p14:creationId xmlns:p14="http://schemas.microsoft.com/office/powerpoint/2010/main" val="469351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43084"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944529"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330B4253-DBDE-40BD-9828-EA94DE1091AC}"/>
              </a:ext>
            </a:extLst>
          </p:cNvPr>
          <p:cNvSpPr>
            <a:spLocks noGrp="1"/>
          </p:cNvSpPr>
          <p:nvPr>
            <p:ph type="dt" sz="half" idx="10"/>
          </p:nvPr>
        </p:nvSpPr>
        <p:spPr/>
        <p:txBody>
          <a:bodyPr/>
          <a:lstStyle>
            <a:lvl1pPr>
              <a:defRPr/>
            </a:lvl1pPr>
          </a:lstStyle>
          <a:p>
            <a:pPr>
              <a:defRPr/>
            </a:pPr>
            <a:fld id="{377EA21D-459B-4624-BE4D-4CE9DC8B5B18}" type="datetimeFigureOut">
              <a:rPr lang="zh-CN" altLang="en-US"/>
              <a:pPr>
                <a:defRPr/>
              </a:pPr>
              <a:t>2022/5/2</a:t>
            </a:fld>
            <a:endParaRPr lang="zh-CN" altLang="en-US"/>
          </a:p>
        </p:txBody>
      </p:sp>
      <p:sp>
        <p:nvSpPr>
          <p:cNvPr id="6" name="页脚占位符 4">
            <a:extLst>
              <a:ext uri="{FF2B5EF4-FFF2-40B4-BE49-F238E27FC236}">
                <a16:creationId xmlns:a16="http://schemas.microsoft.com/office/drawing/2014/main" id="{D836814F-4528-4065-8602-48DDB2948BC2}"/>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8E776BF4-7114-4E87-A7E2-970F3A08D310}"/>
              </a:ext>
            </a:extLst>
          </p:cNvPr>
          <p:cNvSpPr>
            <a:spLocks noGrp="1"/>
          </p:cNvSpPr>
          <p:nvPr>
            <p:ph type="sldNum" sz="quarter" idx="12"/>
          </p:nvPr>
        </p:nvSpPr>
        <p:spPr/>
        <p:txBody>
          <a:bodyPr/>
          <a:lstStyle>
            <a:lvl1pPr>
              <a:defRPr/>
            </a:lvl1pPr>
          </a:lstStyle>
          <a:p>
            <a:fld id="{BE39195F-BD78-41B1-84BA-A20B82DFEDFA}" type="slidenum">
              <a:rPr lang="zh-CN" altLang="en-US"/>
              <a:pPr/>
              <a:t>‹#›</a:t>
            </a:fld>
            <a:endParaRPr lang="zh-CN" altLang="en-US"/>
          </a:p>
        </p:txBody>
      </p:sp>
    </p:spTree>
    <p:extLst>
      <p:ext uri="{BB962C8B-B14F-4D97-AF65-F5344CB8AC3E}">
        <p14:creationId xmlns:p14="http://schemas.microsoft.com/office/powerpoint/2010/main" val="940896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4871" y="410766"/>
            <a:ext cx="11831420" cy="1491258"/>
          </a:xfrm>
        </p:spPr>
        <p:txBody>
          <a:bodyPr/>
          <a:lstStyle/>
          <a:p>
            <a:r>
              <a:rPr lang="zh-CN" altLang="en-US"/>
              <a:t>单击此处编辑母版标题样式</a:t>
            </a:r>
          </a:p>
        </p:txBody>
      </p:sp>
      <p:sp>
        <p:nvSpPr>
          <p:cNvPr id="3" name="文本占位符 2"/>
          <p:cNvSpPr>
            <a:spLocks noGrp="1"/>
          </p:cNvSpPr>
          <p:nvPr>
            <p:ph type="body" idx="1"/>
          </p:nvPr>
        </p:nvSpPr>
        <p:spPr>
          <a:xfrm>
            <a:off x="944872" y="1891308"/>
            <a:ext cx="580318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4" name="内容占位符 3"/>
          <p:cNvSpPr>
            <a:spLocks noGrp="1"/>
          </p:cNvSpPr>
          <p:nvPr>
            <p:ph sz="half" idx="2"/>
          </p:nvPr>
        </p:nvSpPr>
        <p:spPr>
          <a:xfrm>
            <a:off x="944872" y="2818209"/>
            <a:ext cx="580318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944529" y="1891308"/>
            <a:ext cx="583176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6" name="内容占位符 5"/>
          <p:cNvSpPr>
            <a:spLocks noGrp="1"/>
          </p:cNvSpPr>
          <p:nvPr>
            <p:ph sz="quarter" idx="4"/>
          </p:nvPr>
        </p:nvSpPr>
        <p:spPr>
          <a:xfrm>
            <a:off x="6944529" y="2818209"/>
            <a:ext cx="583176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5DBDF5CC-F079-47D2-AD93-EE721FC1C85C}"/>
              </a:ext>
            </a:extLst>
          </p:cNvPr>
          <p:cNvSpPr>
            <a:spLocks noGrp="1"/>
          </p:cNvSpPr>
          <p:nvPr>
            <p:ph type="dt" sz="half" idx="10"/>
          </p:nvPr>
        </p:nvSpPr>
        <p:spPr/>
        <p:txBody>
          <a:bodyPr/>
          <a:lstStyle>
            <a:lvl1pPr>
              <a:defRPr/>
            </a:lvl1pPr>
          </a:lstStyle>
          <a:p>
            <a:pPr>
              <a:defRPr/>
            </a:pPr>
            <a:fld id="{03B9B808-8A9D-4EDF-A303-F03BF950F641}" type="datetimeFigureOut">
              <a:rPr lang="zh-CN" altLang="en-US"/>
              <a:pPr>
                <a:defRPr/>
              </a:pPr>
              <a:t>2022/5/2</a:t>
            </a:fld>
            <a:endParaRPr lang="zh-CN" altLang="en-US"/>
          </a:p>
        </p:txBody>
      </p:sp>
      <p:sp>
        <p:nvSpPr>
          <p:cNvPr id="8" name="页脚占位符 4">
            <a:extLst>
              <a:ext uri="{FF2B5EF4-FFF2-40B4-BE49-F238E27FC236}">
                <a16:creationId xmlns:a16="http://schemas.microsoft.com/office/drawing/2014/main" id="{AD265567-A587-420B-9187-DD5686CA07AC}"/>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47EEC055-8BD4-41F5-A231-442E1D731F65}"/>
              </a:ext>
            </a:extLst>
          </p:cNvPr>
          <p:cNvSpPr>
            <a:spLocks noGrp="1"/>
          </p:cNvSpPr>
          <p:nvPr>
            <p:ph type="sldNum" sz="quarter" idx="12"/>
          </p:nvPr>
        </p:nvSpPr>
        <p:spPr/>
        <p:txBody>
          <a:bodyPr/>
          <a:lstStyle>
            <a:lvl1pPr>
              <a:defRPr/>
            </a:lvl1pPr>
          </a:lstStyle>
          <a:p>
            <a:fld id="{C5FE7FEC-339E-483B-BB8D-D530C6F45065}" type="slidenum">
              <a:rPr lang="zh-CN" altLang="en-US"/>
              <a:pPr/>
              <a:t>‹#›</a:t>
            </a:fld>
            <a:endParaRPr lang="zh-CN" altLang="en-US"/>
          </a:p>
        </p:txBody>
      </p:sp>
    </p:spTree>
    <p:extLst>
      <p:ext uri="{BB962C8B-B14F-4D97-AF65-F5344CB8AC3E}">
        <p14:creationId xmlns:p14="http://schemas.microsoft.com/office/powerpoint/2010/main" val="2137708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6A6B7E0B-52EB-4C39-883B-FE56E1BAC2D5}"/>
              </a:ext>
            </a:extLst>
          </p:cNvPr>
          <p:cNvSpPr>
            <a:spLocks noGrp="1"/>
          </p:cNvSpPr>
          <p:nvPr>
            <p:ph type="dt" sz="half" idx="10"/>
          </p:nvPr>
        </p:nvSpPr>
        <p:spPr/>
        <p:txBody>
          <a:bodyPr/>
          <a:lstStyle>
            <a:lvl1pPr>
              <a:defRPr/>
            </a:lvl1pPr>
          </a:lstStyle>
          <a:p>
            <a:pPr>
              <a:defRPr/>
            </a:pPr>
            <a:fld id="{CDFB97EF-6B3F-416E-842C-AEEF0EE3D7DF}" type="datetimeFigureOut">
              <a:rPr lang="zh-CN" altLang="en-US"/>
              <a:pPr>
                <a:defRPr/>
              </a:pPr>
              <a:t>2022/5/2</a:t>
            </a:fld>
            <a:endParaRPr lang="zh-CN" altLang="en-US"/>
          </a:p>
        </p:txBody>
      </p:sp>
      <p:sp>
        <p:nvSpPr>
          <p:cNvPr id="4" name="页脚占位符 4">
            <a:extLst>
              <a:ext uri="{FF2B5EF4-FFF2-40B4-BE49-F238E27FC236}">
                <a16:creationId xmlns:a16="http://schemas.microsoft.com/office/drawing/2014/main" id="{77ABA7C9-C23C-45FD-8EE6-D49532BCE642}"/>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75047FD2-BB40-47A1-8B2E-6E0D71940D50}"/>
              </a:ext>
            </a:extLst>
          </p:cNvPr>
          <p:cNvSpPr>
            <a:spLocks noGrp="1"/>
          </p:cNvSpPr>
          <p:nvPr>
            <p:ph type="sldNum" sz="quarter" idx="12"/>
          </p:nvPr>
        </p:nvSpPr>
        <p:spPr/>
        <p:txBody>
          <a:bodyPr/>
          <a:lstStyle>
            <a:lvl1pPr>
              <a:defRPr/>
            </a:lvl1pPr>
          </a:lstStyle>
          <a:p>
            <a:fld id="{9C3AE22A-0A56-410E-A969-401A54733408}" type="slidenum">
              <a:rPr lang="zh-CN" altLang="en-US"/>
              <a:pPr/>
              <a:t>‹#›</a:t>
            </a:fld>
            <a:endParaRPr lang="zh-CN" altLang="en-US"/>
          </a:p>
        </p:txBody>
      </p:sp>
    </p:spTree>
    <p:extLst>
      <p:ext uri="{BB962C8B-B14F-4D97-AF65-F5344CB8AC3E}">
        <p14:creationId xmlns:p14="http://schemas.microsoft.com/office/powerpoint/2010/main" val="4276806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146A7130-D081-48FB-BA4F-8162EC8FD1CC}"/>
              </a:ext>
            </a:extLst>
          </p:cNvPr>
          <p:cNvSpPr>
            <a:spLocks noGrp="1"/>
          </p:cNvSpPr>
          <p:nvPr>
            <p:ph type="dt" sz="half" idx="10"/>
          </p:nvPr>
        </p:nvSpPr>
        <p:spPr/>
        <p:txBody>
          <a:bodyPr/>
          <a:lstStyle>
            <a:lvl1pPr>
              <a:defRPr/>
            </a:lvl1pPr>
          </a:lstStyle>
          <a:p>
            <a:pPr>
              <a:defRPr/>
            </a:pPr>
            <a:fld id="{B04D9DD7-585C-433D-BDA1-27F5447199A2}" type="datetimeFigureOut">
              <a:rPr lang="zh-CN" altLang="en-US"/>
              <a:pPr>
                <a:defRPr/>
              </a:pPr>
              <a:t>2022/5/2</a:t>
            </a:fld>
            <a:endParaRPr lang="zh-CN" altLang="en-US"/>
          </a:p>
        </p:txBody>
      </p:sp>
      <p:sp>
        <p:nvSpPr>
          <p:cNvPr id="3" name="页脚占位符 4">
            <a:extLst>
              <a:ext uri="{FF2B5EF4-FFF2-40B4-BE49-F238E27FC236}">
                <a16:creationId xmlns:a16="http://schemas.microsoft.com/office/drawing/2014/main" id="{86F981E9-BAC5-4FF7-9AFA-04330AA3B92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ACDF60D1-E5AE-448E-B0FE-C82C0EB820B6}"/>
              </a:ext>
            </a:extLst>
          </p:cNvPr>
          <p:cNvSpPr>
            <a:spLocks noGrp="1"/>
          </p:cNvSpPr>
          <p:nvPr>
            <p:ph type="sldNum" sz="quarter" idx="12"/>
          </p:nvPr>
        </p:nvSpPr>
        <p:spPr/>
        <p:txBody>
          <a:bodyPr/>
          <a:lstStyle>
            <a:lvl1pPr>
              <a:defRPr/>
            </a:lvl1pPr>
          </a:lstStyle>
          <a:p>
            <a:fld id="{53289EE3-D3D3-467D-8B7F-4425E67A7C53}" type="slidenum">
              <a:rPr lang="zh-CN" altLang="en-US"/>
              <a:pPr/>
              <a:t>‹#›</a:t>
            </a:fld>
            <a:endParaRPr lang="zh-CN" altLang="en-US"/>
          </a:p>
        </p:txBody>
      </p:sp>
    </p:spTree>
    <p:extLst>
      <p:ext uri="{BB962C8B-B14F-4D97-AF65-F5344CB8AC3E}">
        <p14:creationId xmlns:p14="http://schemas.microsoft.com/office/powerpoint/2010/main" val="550434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内容占位符 2"/>
          <p:cNvSpPr>
            <a:spLocks noGrp="1"/>
          </p:cNvSpPr>
          <p:nvPr>
            <p:ph idx="1"/>
          </p:nvPr>
        </p:nvSpPr>
        <p:spPr>
          <a:xfrm>
            <a:off x="5831762" y="1110854"/>
            <a:ext cx="6944529" cy="5482828"/>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FD0681EF-A50E-4C1C-8D88-0446F2A84C0C}"/>
              </a:ext>
            </a:extLst>
          </p:cNvPr>
          <p:cNvSpPr>
            <a:spLocks noGrp="1"/>
          </p:cNvSpPr>
          <p:nvPr>
            <p:ph type="dt" sz="half" idx="10"/>
          </p:nvPr>
        </p:nvSpPr>
        <p:spPr/>
        <p:txBody>
          <a:bodyPr/>
          <a:lstStyle>
            <a:lvl1pPr>
              <a:defRPr/>
            </a:lvl1pPr>
          </a:lstStyle>
          <a:p>
            <a:pPr>
              <a:defRPr/>
            </a:pPr>
            <a:fld id="{1A22B5F9-7C68-439F-90FC-73C1083F93D2}" type="datetimeFigureOut">
              <a:rPr lang="zh-CN" altLang="en-US"/>
              <a:pPr>
                <a:defRPr/>
              </a:pPr>
              <a:t>2022/5/2</a:t>
            </a:fld>
            <a:endParaRPr lang="zh-CN" altLang="en-US"/>
          </a:p>
        </p:txBody>
      </p:sp>
      <p:sp>
        <p:nvSpPr>
          <p:cNvPr id="6" name="页脚占位符 4">
            <a:extLst>
              <a:ext uri="{FF2B5EF4-FFF2-40B4-BE49-F238E27FC236}">
                <a16:creationId xmlns:a16="http://schemas.microsoft.com/office/drawing/2014/main" id="{F37D5664-BBC5-493C-85C0-2E4A147BEFF7}"/>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322D5FF5-7F95-4496-8390-D0390E30D398}"/>
              </a:ext>
            </a:extLst>
          </p:cNvPr>
          <p:cNvSpPr>
            <a:spLocks noGrp="1"/>
          </p:cNvSpPr>
          <p:nvPr>
            <p:ph type="sldNum" sz="quarter" idx="12"/>
          </p:nvPr>
        </p:nvSpPr>
        <p:spPr/>
        <p:txBody>
          <a:bodyPr/>
          <a:lstStyle>
            <a:lvl1pPr>
              <a:defRPr/>
            </a:lvl1pPr>
          </a:lstStyle>
          <a:p>
            <a:fld id="{F36BFB5B-F5A0-4D9E-BB27-6DC981B21A0B}" type="slidenum">
              <a:rPr lang="zh-CN" altLang="en-US"/>
              <a:pPr/>
              <a:t>‹#›</a:t>
            </a:fld>
            <a:endParaRPr lang="zh-CN" altLang="en-US"/>
          </a:p>
        </p:txBody>
      </p:sp>
    </p:spTree>
    <p:extLst>
      <p:ext uri="{BB962C8B-B14F-4D97-AF65-F5344CB8AC3E}">
        <p14:creationId xmlns:p14="http://schemas.microsoft.com/office/powerpoint/2010/main" val="3290970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图片占位符 2"/>
          <p:cNvSpPr>
            <a:spLocks noGrp="1"/>
          </p:cNvSpPr>
          <p:nvPr>
            <p:ph type="pic" idx="1"/>
          </p:nvPr>
        </p:nvSpPr>
        <p:spPr>
          <a:xfrm>
            <a:off x="5831762" y="1110854"/>
            <a:ext cx="6944529" cy="5482828"/>
          </a:xfrm>
        </p:spPr>
        <p:txBody>
          <a:bodyPr rtlCol="0">
            <a:normAutofit/>
          </a:bodyPr>
          <a:lstStyle>
            <a:lvl1pPr marL="0" indent="0">
              <a:buNone/>
              <a:defRPr sz="3600"/>
            </a:lvl1pPr>
            <a:lvl2pPr marL="514350" indent="0">
              <a:buNone/>
              <a:defRPr sz="3200"/>
            </a:lvl2pPr>
            <a:lvl3pPr marL="1028700" indent="0">
              <a:buNone/>
              <a:defRPr sz="2700"/>
            </a:lvl3pPr>
            <a:lvl4pPr marL="1543050" indent="0">
              <a:buNone/>
              <a:defRPr sz="2300"/>
            </a:lvl4pPr>
            <a:lvl5pPr marL="2057400" indent="0">
              <a:buNone/>
              <a:defRPr sz="2300"/>
            </a:lvl5pPr>
            <a:lvl6pPr marL="2571750" indent="0">
              <a:buNone/>
              <a:defRPr sz="2300"/>
            </a:lvl6pPr>
            <a:lvl7pPr marL="3086100" indent="0">
              <a:buNone/>
              <a:defRPr sz="2300"/>
            </a:lvl7pPr>
            <a:lvl8pPr marL="3600450" indent="0">
              <a:buNone/>
              <a:defRPr sz="2300"/>
            </a:lvl8pPr>
            <a:lvl9pPr marL="4114800" indent="0">
              <a:buNone/>
              <a:defRPr sz="2300"/>
            </a:lvl9pPr>
          </a:lstStyle>
          <a:p>
            <a:pPr lvl="0"/>
            <a:r>
              <a:rPr lang="zh-CN" altLang="en-US" noProof="0"/>
              <a:t>单击图标添加图片</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97C1233-52BC-4E0B-BFC0-A33FE64C5528}"/>
              </a:ext>
            </a:extLst>
          </p:cNvPr>
          <p:cNvSpPr>
            <a:spLocks noGrp="1"/>
          </p:cNvSpPr>
          <p:nvPr>
            <p:ph type="dt" sz="half" idx="10"/>
          </p:nvPr>
        </p:nvSpPr>
        <p:spPr/>
        <p:txBody>
          <a:bodyPr/>
          <a:lstStyle>
            <a:lvl1pPr>
              <a:defRPr/>
            </a:lvl1pPr>
          </a:lstStyle>
          <a:p>
            <a:pPr>
              <a:defRPr/>
            </a:pPr>
            <a:fld id="{16B70649-7F50-4265-A226-950940EA9A3E}" type="datetimeFigureOut">
              <a:rPr lang="zh-CN" altLang="en-US"/>
              <a:pPr>
                <a:defRPr/>
              </a:pPr>
              <a:t>2022/5/2</a:t>
            </a:fld>
            <a:endParaRPr lang="zh-CN" altLang="en-US"/>
          </a:p>
        </p:txBody>
      </p:sp>
      <p:sp>
        <p:nvSpPr>
          <p:cNvPr id="6" name="页脚占位符 4">
            <a:extLst>
              <a:ext uri="{FF2B5EF4-FFF2-40B4-BE49-F238E27FC236}">
                <a16:creationId xmlns:a16="http://schemas.microsoft.com/office/drawing/2014/main" id="{F9C73421-A0AF-449B-B93E-F78DC3DDFEC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70D84EC8-C590-406E-BCE7-DB03EB8322D7}"/>
              </a:ext>
            </a:extLst>
          </p:cNvPr>
          <p:cNvSpPr>
            <a:spLocks noGrp="1"/>
          </p:cNvSpPr>
          <p:nvPr>
            <p:ph type="sldNum" sz="quarter" idx="12"/>
          </p:nvPr>
        </p:nvSpPr>
        <p:spPr/>
        <p:txBody>
          <a:bodyPr/>
          <a:lstStyle>
            <a:lvl1pPr>
              <a:defRPr/>
            </a:lvl1pPr>
          </a:lstStyle>
          <a:p>
            <a:fld id="{15EF7707-50BA-4C56-A9D3-A11ADDC19612}" type="slidenum">
              <a:rPr lang="zh-CN" altLang="en-US"/>
              <a:pPr/>
              <a:t>‹#›</a:t>
            </a:fld>
            <a:endParaRPr lang="zh-CN" altLang="en-US"/>
          </a:p>
        </p:txBody>
      </p:sp>
    </p:spTree>
    <p:extLst>
      <p:ext uri="{BB962C8B-B14F-4D97-AF65-F5344CB8AC3E}">
        <p14:creationId xmlns:p14="http://schemas.microsoft.com/office/powerpoint/2010/main" val="202894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58E274C-BE06-4690-B6A8-6928A5E665B5}"/>
              </a:ext>
            </a:extLst>
          </p:cNvPr>
          <p:cNvSpPr>
            <a:spLocks noGrp="1"/>
          </p:cNvSpPr>
          <p:nvPr>
            <p:ph type="dt" sz="half" idx="10"/>
          </p:nvPr>
        </p:nvSpPr>
        <p:spPr/>
        <p:txBody>
          <a:bodyPr/>
          <a:lstStyle>
            <a:lvl1pPr>
              <a:defRPr/>
            </a:lvl1pPr>
          </a:lstStyle>
          <a:p>
            <a:pPr>
              <a:defRPr/>
            </a:pPr>
            <a:fld id="{63DF75B6-0A4B-424A-87C2-CDEBE32574BE}" type="datetimeFigureOut">
              <a:rPr lang="zh-CN" altLang="en-US"/>
              <a:pPr>
                <a:defRPr/>
              </a:pPr>
              <a:t>2022/5/2</a:t>
            </a:fld>
            <a:endParaRPr lang="zh-CN" altLang="en-US"/>
          </a:p>
        </p:txBody>
      </p:sp>
      <p:sp>
        <p:nvSpPr>
          <p:cNvPr id="5" name="页脚占位符 4">
            <a:extLst>
              <a:ext uri="{FF2B5EF4-FFF2-40B4-BE49-F238E27FC236}">
                <a16:creationId xmlns:a16="http://schemas.microsoft.com/office/drawing/2014/main" id="{2E31984D-A9DF-472E-B4D8-A30FEE4DDFE5}"/>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A45705B2-C7E7-432E-AB5B-FBDC847A66E8}"/>
              </a:ext>
            </a:extLst>
          </p:cNvPr>
          <p:cNvSpPr>
            <a:spLocks noGrp="1"/>
          </p:cNvSpPr>
          <p:nvPr>
            <p:ph type="sldNum" sz="quarter" idx="12"/>
          </p:nvPr>
        </p:nvSpPr>
        <p:spPr/>
        <p:txBody>
          <a:bodyPr/>
          <a:lstStyle>
            <a:lvl1pPr>
              <a:defRPr/>
            </a:lvl1pPr>
          </a:lstStyle>
          <a:p>
            <a:fld id="{A5E69281-EC93-4E75-A32B-64802EEF61AA}" type="slidenum">
              <a:rPr lang="zh-CN" altLang="en-US"/>
              <a:pPr/>
              <a:t>‹#›</a:t>
            </a:fld>
            <a:endParaRPr lang="zh-CN" altLang="en-US"/>
          </a:p>
        </p:txBody>
      </p:sp>
    </p:spTree>
    <p:extLst>
      <p:ext uri="{BB962C8B-B14F-4D97-AF65-F5344CB8AC3E}">
        <p14:creationId xmlns:p14="http://schemas.microsoft.com/office/powerpoint/2010/main" val="3042192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16649" y="410766"/>
            <a:ext cx="2957855" cy="653831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43084" y="410766"/>
            <a:ext cx="8702095" cy="653831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81613A0-FB7C-4BFB-9D38-8158D3DD16AE}"/>
              </a:ext>
            </a:extLst>
          </p:cNvPr>
          <p:cNvSpPr>
            <a:spLocks noGrp="1"/>
          </p:cNvSpPr>
          <p:nvPr>
            <p:ph type="dt" sz="half" idx="10"/>
          </p:nvPr>
        </p:nvSpPr>
        <p:spPr/>
        <p:txBody>
          <a:bodyPr/>
          <a:lstStyle>
            <a:lvl1pPr>
              <a:defRPr/>
            </a:lvl1pPr>
          </a:lstStyle>
          <a:p>
            <a:pPr>
              <a:defRPr/>
            </a:pPr>
            <a:fld id="{81B977EF-8548-47BA-8E44-F669E98F51D8}" type="datetimeFigureOut">
              <a:rPr lang="zh-CN" altLang="en-US"/>
              <a:pPr>
                <a:defRPr/>
              </a:pPr>
              <a:t>2022/5/2</a:t>
            </a:fld>
            <a:endParaRPr lang="zh-CN" altLang="en-US"/>
          </a:p>
        </p:txBody>
      </p:sp>
      <p:sp>
        <p:nvSpPr>
          <p:cNvPr id="5" name="页脚占位符 4">
            <a:extLst>
              <a:ext uri="{FF2B5EF4-FFF2-40B4-BE49-F238E27FC236}">
                <a16:creationId xmlns:a16="http://schemas.microsoft.com/office/drawing/2014/main" id="{F6CBF8D6-7ABA-431B-AA57-B14EA487F20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00ED4D6F-0F66-4E76-B1E1-22390EB2E2E6}"/>
              </a:ext>
            </a:extLst>
          </p:cNvPr>
          <p:cNvSpPr>
            <a:spLocks noGrp="1"/>
          </p:cNvSpPr>
          <p:nvPr>
            <p:ph type="sldNum" sz="quarter" idx="12"/>
          </p:nvPr>
        </p:nvSpPr>
        <p:spPr/>
        <p:txBody>
          <a:bodyPr/>
          <a:lstStyle>
            <a:lvl1pPr>
              <a:defRPr/>
            </a:lvl1pPr>
          </a:lstStyle>
          <a:p>
            <a:fld id="{E64D7086-C3BE-4A9E-8C52-DF3EA39DDCE6}" type="slidenum">
              <a:rPr lang="zh-CN" altLang="en-US"/>
              <a:pPr/>
              <a:t>‹#›</a:t>
            </a:fld>
            <a:endParaRPr lang="zh-CN" altLang="en-US"/>
          </a:p>
        </p:txBody>
      </p:sp>
    </p:spTree>
    <p:extLst>
      <p:ext uri="{BB962C8B-B14F-4D97-AF65-F5344CB8AC3E}">
        <p14:creationId xmlns:p14="http://schemas.microsoft.com/office/powerpoint/2010/main" val="4098069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1083C3D1-DE60-4B68-AF67-812802304323}"/>
              </a:ext>
            </a:extLst>
          </p:cNvPr>
          <p:cNvSpPr>
            <a:spLocks noGrp="1"/>
          </p:cNvSpPr>
          <p:nvPr>
            <p:ph type="title"/>
          </p:nvPr>
        </p:nvSpPr>
        <p:spPr bwMode="auto">
          <a:xfrm>
            <a:off x="942975" y="411163"/>
            <a:ext cx="11831638" cy="149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870" tIns="51435" rIns="102870" bIns="51435"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FC78B913-F036-413F-B23B-07983D9C2C3A}"/>
              </a:ext>
            </a:extLst>
          </p:cNvPr>
          <p:cNvSpPr>
            <a:spLocks noGrp="1"/>
          </p:cNvSpPr>
          <p:nvPr>
            <p:ph type="body" idx="1"/>
          </p:nvPr>
        </p:nvSpPr>
        <p:spPr bwMode="auto">
          <a:xfrm>
            <a:off x="942975" y="2054225"/>
            <a:ext cx="11831638"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870" tIns="51435" rIns="102870" bIns="51435"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267F1C-54F4-4AC6-97F5-97EA09BF084A}"/>
              </a:ext>
            </a:extLst>
          </p:cNvPr>
          <p:cNvSpPr>
            <a:spLocks noGrp="1"/>
          </p:cNvSpPr>
          <p:nvPr>
            <p:ph type="dt" sz="half" idx="2"/>
          </p:nvPr>
        </p:nvSpPr>
        <p:spPr>
          <a:xfrm>
            <a:off x="942975" y="7151688"/>
            <a:ext cx="3086100" cy="409575"/>
          </a:xfrm>
          <a:prstGeom prst="rect">
            <a:avLst/>
          </a:prstGeom>
        </p:spPr>
        <p:txBody>
          <a:bodyPr vert="horz" lIns="102870" tIns="51435" rIns="102870" bIns="51435" rtlCol="0" anchor="ctr"/>
          <a:lstStyle>
            <a:lvl1pPr algn="l" eaLnBrk="1" fontAlgn="auto" hangingPunct="1">
              <a:spcBef>
                <a:spcPts val="0"/>
              </a:spcBef>
              <a:spcAft>
                <a:spcPts val="0"/>
              </a:spcAft>
              <a:defRPr sz="1400">
                <a:solidFill>
                  <a:schemeClr val="tx1">
                    <a:tint val="75000"/>
                  </a:schemeClr>
                </a:solidFill>
                <a:latin typeface="+mn-lt"/>
                <a:ea typeface="+mn-ea"/>
              </a:defRPr>
            </a:lvl1pPr>
          </a:lstStyle>
          <a:p>
            <a:pPr>
              <a:defRPr/>
            </a:pPr>
            <a:fld id="{96EF6029-6E14-4819-8532-969276EBFA20}" type="datetimeFigureOut">
              <a:rPr lang="zh-CN" altLang="en-US"/>
              <a:pPr>
                <a:defRPr/>
              </a:pPr>
              <a:t>2022/5/2</a:t>
            </a:fld>
            <a:endParaRPr lang="zh-CN" altLang="en-US"/>
          </a:p>
        </p:txBody>
      </p:sp>
      <p:sp>
        <p:nvSpPr>
          <p:cNvPr id="5" name="页脚占位符 4">
            <a:extLst>
              <a:ext uri="{FF2B5EF4-FFF2-40B4-BE49-F238E27FC236}">
                <a16:creationId xmlns:a16="http://schemas.microsoft.com/office/drawing/2014/main" id="{C3EB15BC-7273-4384-A867-972362CA4E50}"/>
              </a:ext>
            </a:extLst>
          </p:cNvPr>
          <p:cNvSpPr>
            <a:spLocks noGrp="1"/>
          </p:cNvSpPr>
          <p:nvPr>
            <p:ph type="ftr" sz="quarter" idx="3"/>
          </p:nvPr>
        </p:nvSpPr>
        <p:spPr>
          <a:xfrm>
            <a:off x="4543425" y="7151688"/>
            <a:ext cx="4630738" cy="409575"/>
          </a:xfrm>
          <a:prstGeom prst="rect">
            <a:avLst/>
          </a:prstGeom>
        </p:spPr>
        <p:txBody>
          <a:bodyPr vert="horz" lIns="102870" tIns="51435" rIns="102870" bIns="51435" rtlCol="0" anchor="ctr"/>
          <a:lstStyle>
            <a:lvl1pPr algn="ctr" eaLnBrk="1" fontAlgn="auto" hangingPunct="1">
              <a:spcBef>
                <a:spcPts val="0"/>
              </a:spcBef>
              <a:spcAft>
                <a:spcPts val="0"/>
              </a:spcAft>
              <a:defRPr sz="14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89C9EC49-50B8-48E0-8996-3296571416C8}"/>
              </a:ext>
            </a:extLst>
          </p:cNvPr>
          <p:cNvSpPr>
            <a:spLocks noGrp="1"/>
          </p:cNvSpPr>
          <p:nvPr>
            <p:ph type="sldNum" sz="quarter" idx="4"/>
          </p:nvPr>
        </p:nvSpPr>
        <p:spPr>
          <a:xfrm>
            <a:off x="9688513" y="7151688"/>
            <a:ext cx="3086100" cy="409575"/>
          </a:xfrm>
          <a:prstGeom prst="rect">
            <a:avLst/>
          </a:prstGeom>
        </p:spPr>
        <p:txBody>
          <a:bodyPr vert="horz" wrap="square" lIns="102870" tIns="51435" rIns="102870" bIns="51435" numCol="1" anchor="ctr" anchorCtr="0" compatLnSpc="1">
            <a:prstTxWarp prst="textNoShape">
              <a:avLst/>
            </a:prstTxWarp>
          </a:bodyPr>
          <a:lstStyle>
            <a:lvl1pPr algn="r" eaLnBrk="1" hangingPunct="1">
              <a:defRPr sz="1400">
                <a:solidFill>
                  <a:srgbClr val="898989"/>
                </a:solidFill>
                <a:latin typeface="Calibri" panose="020F0502020204030204" pitchFamily="34" charset="0"/>
              </a:defRPr>
            </a:lvl1pPr>
          </a:lstStyle>
          <a:p>
            <a:fld id="{C99F51BE-DB5B-4497-9A9C-E9C4C4F86E83}"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028700" rtl="0" eaLnBrk="0" fontAlgn="base" hangingPunct="0">
        <a:lnSpc>
          <a:spcPct val="90000"/>
        </a:lnSpc>
        <a:spcBef>
          <a:spcPct val="0"/>
        </a:spcBef>
        <a:spcAft>
          <a:spcPct val="0"/>
        </a:spcAft>
        <a:defRPr sz="5000" kern="1200">
          <a:solidFill>
            <a:schemeClr val="tx1"/>
          </a:solidFill>
          <a:latin typeface="+mj-lt"/>
          <a:ea typeface="+mj-ea"/>
          <a:cs typeface="+mj-cs"/>
        </a:defRPr>
      </a:lvl1pPr>
      <a:lvl2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2pPr>
      <a:lvl3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3pPr>
      <a:lvl4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4pPr>
      <a:lvl5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p:titleStyle>
    <p:bodyStyle>
      <a:lvl1pPr marL="257175" indent="-257175" algn="l" defTabSz="1028700" rtl="0" eaLnBrk="0" fontAlgn="base" hangingPunct="0">
        <a:lnSpc>
          <a:spcPct val="90000"/>
        </a:lnSpc>
        <a:spcBef>
          <a:spcPts val="1125"/>
        </a:spcBef>
        <a:spcAft>
          <a:spcPct val="0"/>
        </a:spcAft>
        <a:buFont typeface="Arial" panose="020B0604020202020204" pitchFamily="34" charset="0"/>
        <a:buChar char="•"/>
        <a:defRPr sz="3200" kern="1200">
          <a:solidFill>
            <a:schemeClr val="tx1"/>
          </a:solidFill>
          <a:latin typeface="+mn-lt"/>
          <a:ea typeface="+mn-ea"/>
          <a:cs typeface="+mn-cs"/>
        </a:defRPr>
      </a:lvl1pPr>
      <a:lvl2pPr marL="771525" indent="-257175" algn="l" defTabSz="1028700" rtl="0" eaLnBrk="0" fontAlgn="base" hangingPunct="0">
        <a:lnSpc>
          <a:spcPct val="90000"/>
        </a:lnSpc>
        <a:spcBef>
          <a:spcPts val="563"/>
        </a:spcBef>
        <a:spcAft>
          <a:spcPct val="0"/>
        </a:spcAft>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0" fontAlgn="base" hangingPunct="0">
        <a:lnSpc>
          <a:spcPct val="90000"/>
        </a:lnSpc>
        <a:spcBef>
          <a:spcPts val="563"/>
        </a:spcBef>
        <a:spcAft>
          <a:spcPct val="0"/>
        </a:spcAft>
        <a:buFont typeface="Arial" panose="020B0604020202020204" pitchFamily="34" charset="0"/>
        <a:buChar char="•"/>
        <a:defRPr sz="2300" kern="1200">
          <a:solidFill>
            <a:schemeClr val="tx1"/>
          </a:solidFill>
          <a:latin typeface="+mn-lt"/>
          <a:ea typeface="+mn-ea"/>
          <a:cs typeface="+mn-cs"/>
        </a:defRPr>
      </a:lvl3pPr>
      <a:lvl4pPr marL="1800225" indent="-257175" algn="l" defTabSz="1028700" rtl="0" eaLnBrk="0" fontAlgn="base" hangingPunct="0">
        <a:lnSpc>
          <a:spcPct val="90000"/>
        </a:lnSpc>
        <a:spcBef>
          <a:spcPts val="563"/>
        </a:spcBef>
        <a:spcAft>
          <a:spcPct val="0"/>
        </a:spcAft>
        <a:buFont typeface="Arial" panose="020B0604020202020204" pitchFamily="34" charset="0"/>
        <a:buChar char="•"/>
        <a:defRPr sz="2000" kern="1200">
          <a:solidFill>
            <a:schemeClr val="tx1"/>
          </a:solidFill>
          <a:latin typeface="+mn-lt"/>
          <a:ea typeface="+mn-ea"/>
          <a:cs typeface="+mn-cs"/>
        </a:defRPr>
      </a:lvl4pPr>
      <a:lvl5pPr marL="2314575" indent="-257175" algn="l" defTabSz="1028700" rtl="0" eaLnBrk="0" fontAlgn="base" hangingPunct="0">
        <a:lnSpc>
          <a:spcPct val="90000"/>
        </a:lnSpc>
        <a:spcBef>
          <a:spcPts val="563"/>
        </a:spcBef>
        <a:spcAft>
          <a:spcPct val="0"/>
        </a:spcAft>
        <a:buFont typeface="Arial" panose="020B0604020202020204" pitchFamily="34" charset="0"/>
        <a:buChar char="•"/>
        <a:defRPr sz="2000"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1028700" rtl="0" eaLnBrk="1" latinLnBrk="0" hangingPunct="1">
        <a:defRPr sz="2000" kern="1200">
          <a:solidFill>
            <a:schemeClr val="tx1"/>
          </a:solidFill>
          <a:latin typeface="+mn-lt"/>
          <a:ea typeface="+mn-ea"/>
          <a:cs typeface="+mn-cs"/>
        </a:defRPr>
      </a:lvl1pPr>
      <a:lvl2pPr marL="514350" algn="l" defTabSz="1028700" rtl="0" eaLnBrk="1" latinLnBrk="0" hangingPunct="1">
        <a:defRPr sz="2000" kern="1200">
          <a:solidFill>
            <a:schemeClr val="tx1"/>
          </a:solidFill>
          <a:latin typeface="+mn-lt"/>
          <a:ea typeface="+mn-ea"/>
          <a:cs typeface="+mn-cs"/>
        </a:defRPr>
      </a:lvl2pPr>
      <a:lvl3pPr marL="1028700" algn="l" defTabSz="1028700" rtl="0" eaLnBrk="1" latinLnBrk="0" hangingPunct="1">
        <a:defRPr sz="2000" kern="1200">
          <a:solidFill>
            <a:schemeClr val="tx1"/>
          </a:solidFill>
          <a:latin typeface="+mn-lt"/>
          <a:ea typeface="+mn-ea"/>
          <a:cs typeface="+mn-cs"/>
        </a:defRPr>
      </a:lvl3pPr>
      <a:lvl4pPr marL="1543050" algn="l" defTabSz="1028700" rtl="0" eaLnBrk="1" latinLnBrk="0" hangingPunct="1">
        <a:defRPr sz="2000" kern="1200">
          <a:solidFill>
            <a:schemeClr val="tx1"/>
          </a:solidFill>
          <a:latin typeface="+mn-lt"/>
          <a:ea typeface="+mn-ea"/>
          <a:cs typeface="+mn-cs"/>
        </a:defRPr>
      </a:lvl4pPr>
      <a:lvl5pPr marL="2057400" algn="l" defTabSz="1028700" rtl="0" eaLnBrk="1" latinLnBrk="0" hangingPunct="1">
        <a:defRPr sz="2000" kern="1200">
          <a:solidFill>
            <a:schemeClr val="tx1"/>
          </a:solidFill>
          <a:latin typeface="+mn-lt"/>
          <a:ea typeface="+mn-ea"/>
          <a:cs typeface="+mn-cs"/>
        </a:defRPr>
      </a:lvl5pPr>
      <a:lvl6pPr marL="2571750" algn="l" defTabSz="1028700" rtl="0" eaLnBrk="1" latinLnBrk="0" hangingPunct="1">
        <a:defRPr sz="2000" kern="1200">
          <a:solidFill>
            <a:schemeClr val="tx1"/>
          </a:solidFill>
          <a:latin typeface="+mn-lt"/>
          <a:ea typeface="+mn-ea"/>
          <a:cs typeface="+mn-cs"/>
        </a:defRPr>
      </a:lvl6pPr>
      <a:lvl7pPr marL="3086100" algn="l" defTabSz="1028700" rtl="0" eaLnBrk="1" latinLnBrk="0" hangingPunct="1">
        <a:defRPr sz="2000" kern="1200">
          <a:solidFill>
            <a:schemeClr val="tx1"/>
          </a:solidFill>
          <a:latin typeface="+mn-lt"/>
          <a:ea typeface="+mn-ea"/>
          <a:cs typeface="+mn-cs"/>
        </a:defRPr>
      </a:lvl7pPr>
      <a:lvl8pPr marL="3600450" algn="l" defTabSz="1028700" rtl="0" eaLnBrk="1" latinLnBrk="0" hangingPunct="1">
        <a:defRPr sz="2000" kern="1200">
          <a:solidFill>
            <a:schemeClr val="tx1"/>
          </a:solidFill>
          <a:latin typeface="+mn-lt"/>
          <a:ea typeface="+mn-ea"/>
          <a:cs typeface="+mn-cs"/>
        </a:defRPr>
      </a:lvl8pPr>
      <a:lvl9pPr marL="4114800" algn="l" defTabSz="102870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4.emf"/><Relationship Id="rId5" Type="http://schemas.openxmlformats.org/officeDocument/2006/relationships/oleObject" Target="../embeddings/oleObject4.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8.wmf"/><Relationship Id="rId5" Type="http://schemas.openxmlformats.org/officeDocument/2006/relationships/oleObject" Target="../embeddings/oleObject8.bin"/><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11.emf"/><Relationship Id="rId5" Type="http://schemas.openxmlformats.org/officeDocument/2006/relationships/oleObject" Target="../embeddings/oleObject11.bin"/><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xml"/><Relationship Id="rId1" Type="http://schemas.openxmlformats.org/officeDocument/2006/relationships/vmlDrawing" Target="../drawings/vmlDrawing6.vml"/><Relationship Id="rId4" Type="http://schemas.openxmlformats.org/officeDocument/2006/relationships/image" Target="../media/image12.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14.emf"/><Relationship Id="rId5" Type="http://schemas.openxmlformats.org/officeDocument/2006/relationships/oleObject" Target="../embeddings/oleObject14.bin"/><Relationship Id="rId4" Type="http://schemas.openxmlformats.org/officeDocument/2006/relationships/image" Target="../media/image13.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16.wmf"/><Relationship Id="rId5" Type="http://schemas.openxmlformats.org/officeDocument/2006/relationships/oleObject" Target="../embeddings/oleObject16.bin"/><Relationship Id="rId4" Type="http://schemas.openxmlformats.org/officeDocument/2006/relationships/image" Target="../media/image15.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xml"/><Relationship Id="rId1" Type="http://schemas.openxmlformats.org/officeDocument/2006/relationships/vmlDrawing" Target="../drawings/vmlDrawing9.vml"/><Relationship Id="rId4" Type="http://schemas.openxmlformats.org/officeDocument/2006/relationships/image" Target="../media/image17.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xml"/><Relationship Id="rId1" Type="http://schemas.openxmlformats.org/officeDocument/2006/relationships/vmlDrawing" Target="../drawings/vmlDrawing10.vml"/><Relationship Id="rId4" Type="http://schemas.openxmlformats.org/officeDocument/2006/relationships/image" Target="../media/image18.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xml"/><Relationship Id="rId1" Type="http://schemas.openxmlformats.org/officeDocument/2006/relationships/vmlDrawing" Target="../drawings/vmlDrawing11.vml"/><Relationship Id="rId4" Type="http://schemas.openxmlformats.org/officeDocument/2006/relationships/image" Target="../media/image19.emf"/></Relationships>
</file>

<file path=ppt/slides/_rels/slide15.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1.xml"/><Relationship Id="rId1" Type="http://schemas.openxmlformats.org/officeDocument/2006/relationships/vmlDrawing" Target="../drawings/vmlDrawing12.vml"/><Relationship Id="rId6" Type="http://schemas.openxmlformats.org/officeDocument/2006/relationships/image" Target="../media/image21.emf"/><Relationship Id="rId5" Type="http://schemas.openxmlformats.org/officeDocument/2006/relationships/oleObject" Target="../embeddings/oleObject21.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23.bin"/></Relationships>
</file>

<file path=ppt/slides/_rels/slide16.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25.wmf"/><Relationship Id="rId5" Type="http://schemas.openxmlformats.org/officeDocument/2006/relationships/oleObject" Target="../embeddings/oleObject25.bin"/><Relationship Id="rId4" Type="http://schemas.openxmlformats.org/officeDocument/2006/relationships/image" Target="../media/image24.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xml"/><Relationship Id="rId1" Type="http://schemas.openxmlformats.org/officeDocument/2006/relationships/vmlDrawing" Target="../drawings/vmlDrawing14.vml"/><Relationship Id="rId4" Type="http://schemas.openxmlformats.org/officeDocument/2006/relationships/image" Target="../media/image27.emf"/></Relationships>
</file>

<file path=ppt/slides/_rels/slide19.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1.xml"/><Relationship Id="rId1" Type="http://schemas.openxmlformats.org/officeDocument/2006/relationships/vmlDrawing" Target="../drawings/vmlDrawing15.vml"/><Relationship Id="rId6" Type="http://schemas.openxmlformats.org/officeDocument/2006/relationships/image" Target="../media/image29.wmf"/><Relationship Id="rId5" Type="http://schemas.openxmlformats.org/officeDocument/2006/relationships/oleObject" Target="../embeddings/oleObject29.bin"/><Relationship Id="rId4" Type="http://schemas.openxmlformats.org/officeDocument/2006/relationships/image" Target="../media/image28.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xml"/><Relationship Id="rId1" Type="http://schemas.openxmlformats.org/officeDocument/2006/relationships/vmlDrawing" Target="../drawings/vmlDrawing16.vml"/><Relationship Id="rId4" Type="http://schemas.openxmlformats.org/officeDocument/2006/relationships/image" Target="../media/image3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71B2A563-AC54-5347-B843-4478DF223CDE}"/>
              </a:ext>
            </a:extLst>
          </p:cNvPr>
          <p:cNvSpPr/>
          <p:nvPr/>
        </p:nvSpPr>
        <p:spPr>
          <a:xfrm>
            <a:off x="1053348" y="2672562"/>
            <a:ext cx="2686050" cy="11781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solidFill>
                  <a:srgbClr val="0066FF"/>
                </a:solidFill>
                <a:latin typeface="Microsoft YaHei" panose="020B0503020204020204" pitchFamily="34" charset="-122"/>
                <a:ea typeface="Microsoft YaHei" panose="020B0503020204020204" pitchFamily="34" charset="-122"/>
              </a:rPr>
              <a:t>第</a:t>
            </a:r>
            <a:r>
              <a:rPr kumimoji="1" lang="en-US" altLang="zh-CN" sz="7200" b="1" dirty="0">
                <a:solidFill>
                  <a:srgbClr val="0066FF"/>
                </a:solidFill>
                <a:latin typeface="Microsoft YaHei" panose="020B0503020204020204" pitchFamily="34" charset="-122"/>
                <a:ea typeface="Microsoft YaHei" panose="020B0503020204020204" pitchFamily="34" charset="-122"/>
              </a:rPr>
              <a:t>5</a:t>
            </a:r>
            <a:r>
              <a:rPr kumimoji="1" lang="zh-CN" altLang="en-US" sz="7200" b="1" dirty="0">
                <a:solidFill>
                  <a:srgbClr val="0066FF"/>
                </a:solidFill>
                <a:latin typeface="Microsoft YaHei" panose="020B0503020204020204" pitchFamily="34" charset="-122"/>
                <a:ea typeface="Microsoft YaHei" panose="020B0503020204020204" pitchFamily="34" charset="-122"/>
              </a:rPr>
              <a:t>章</a:t>
            </a:r>
          </a:p>
        </p:txBody>
      </p:sp>
      <p:sp>
        <p:nvSpPr>
          <p:cNvPr id="3" name="矩形 2"/>
          <p:cNvSpPr/>
          <p:nvPr/>
        </p:nvSpPr>
        <p:spPr>
          <a:xfrm>
            <a:off x="1460180" y="1793603"/>
            <a:ext cx="1723550" cy="553998"/>
          </a:xfrm>
          <a:prstGeom prst="rect">
            <a:avLst/>
          </a:prstGeom>
          <a:noFill/>
        </p:spPr>
        <p:txBody>
          <a:bodyPr wrap="none" lIns="91440" tIns="45720" rIns="91440" bIns="45720">
            <a:spAutoFit/>
          </a:bodyPr>
          <a:lstStyle/>
          <a:p>
            <a:pPr algn="ctr"/>
            <a:r>
              <a:rPr lang="zh-CN" altLang="en-US" sz="3000" dirty="0">
                <a:latin typeface="Microsoft Yi Baiti" panose="03000500000000000000" pitchFamily="66" charset="0"/>
                <a:ea typeface="冬青黑体简体中文 W6" panose="020B0600000000000000" pitchFamily="34" charset="-122"/>
                <a:cs typeface="阿里巴巴普惠体 M" panose="00020600040101010101" pitchFamily="18" charset="-122"/>
              </a:rPr>
              <a:t>光电技术</a:t>
            </a:r>
            <a:endParaRPr lang="en-US" altLang="zh-CN" sz="3000" dirty="0">
              <a:latin typeface="Microsoft Yi Baiti" panose="03000500000000000000" pitchFamily="66" charset="0"/>
              <a:ea typeface="Microsoft Yi Baiti" panose="03000500000000000000" pitchFamily="66" charset="0"/>
              <a:cs typeface="阿里巴巴普惠体 M" panose="00020600040101010101" pitchFamily="18" charset="-122"/>
            </a:endParaRPr>
          </a:p>
        </p:txBody>
      </p:sp>
      <p:sp>
        <p:nvSpPr>
          <p:cNvPr id="4" name="矩形 3">
            <a:extLst>
              <a:ext uri="{FF2B5EF4-FFF2-40B4-BE49-F238E27FC236}">
                <a16:creationId xmlns:a16="http://schemas.microsoft.com/office/drawing/2014/main" id="{5441AE38-A11D-4793-BDA3-DCA36976B496}"/>
              </a:ext>
            </a:extLst>
          </p:cNvPr>
          <p:cNvSpPr/>
          <p:nvPr/>
        </p:nvSpPr>
        <p:spPr>
          <a:xfrm>
            <a:off x="3936558" y="2705900"/>
            <a:ext cx="9588706" cy="1122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gradFill>
                  <a:gsLst>
                    <a:gs pos="0">
                      <a:srgbClr val="0066FF"/>
                    </a:gs>
                    <a:gs pos="100000">
                      <a:schemeClr val="accent1">
                        <a:lumMod val="100000"/>
                      </a:schemeClr>
                    </a:gs>
                  </a:gsLst>
                  <a:lin ang="0" scaled="0"/>
                </a:gradFill>
                <a:latin typeface="Microsoft YaHei" panose="020B0503020204020204" pitchFamily="34" charset="-122"/>
                <a:ea typeface="Microsoft YaHei" panose="020B0503020204020204" pitchFamily="34" charset="-122"/>
              </a:rPr>
              <a:t>光电子发射探测器</a:t>
            </a:r>
          </a:p>
        </p:txBody>
      </p:sp>
      <p:sp>
        <p:nvSpPr>
          <p:cNvPr id="5" name="矩形 4">
            <a:extLst>
              <a:ext uri="{FF2B5EF4-FFF2-40B4-BE49-F238E27FC236}">
                <a16:creationId xmlns:a16="http://schemas.microsoft.com/office/drawing/2014/main" id="{B4AF438E-361B-42EE-9E70-DDB98227F7D7}"/>
              </a:ext>
            </a:extLst>
          </p:cNvPr>
          <p:cNvSpPr/>
          <p:nvPr/>
        </p:nvSpPr>
        <p:spPr>
          <a:xfrm>
            <a:off x="3190512" y="1836129"/>
            <a:ext cx="1238613" cy="477054"/>
          </a:xfrm>
          <a:prstGeom prst="rect">
            <a:avLst/>
          </a:prstGeom>
          <a:noFill/>
        </p:spPr>
        <p:txBody>
          <a:bodyPr wrap="square" lIns="91440" tIns="45720" rIns="91440" bIns="45720">
            <a:spAutoFit/>
          </a:bodyPr>
          <a:lstStyle/>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Photoelectric</a:t>
            </a:r>
          </a:p>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Technology</a:t>
            </a:r>
            <a:endParaRPr lang="zh-CN" altLang="en-US" sz="1200" b="1" spc="40" dirty="0">
              <a:ln w="22225">
                <a:solidFill>
                  <a:schemeClr val="accent2"/>
                </a:solidFill>
                <a:prstDash val="solid"/>
              </a:ln>
              <a:latin typeface="Times New Roman" panose="02020603050405020304" pitchFamily="18" charset="0"/>
              <a:ea typeface="Yu Gothic UI" panose="020B0500000000000000" pitchFamily="34" charset="-128"/>
              <a:cs typeface="Times New Roman" panose="02020603050405020304" pitchFamily="18" charset="0"/>
            </a:endParaRPr>
          </a:p>
        </p:txBody>
      </p:sp>
      <p:cxnSp>
        <p:nvCxnSpPr>
          <p:cNvPr id="6" name="直接连接符 58">
            <a:extLst>
              <a:ext uri="{FF2B5EF4-FFF2-40B4-BE49-F238E27FC236}">
                <a16:creationId xmlns:a16="http://schemas.microsoft.com/office/drawing/2014/main" id="{19E605B0-7A69-4DF3-BD2D-6C50DF5A8F84}"/>
              </a:ext>
            </a:extLst>
          </p:cNvPr>
          <p:cNvCxnSpPr>
            <a:cxnSpLocks/>
          </p:cNvCxnSpPr>
          <p:nvPr/>
        </p:nvCxnSpPr>
        <p:spPr>
          <a:xfrm>
            <a:off x="1209675" y="4175630"/>
            <a:ext cx="4795114" cy="11690"/>
          </a:xfrm>
          <a:prstGeom prst="line">
            <a:avLst/>
          </a:prstGeom>
          <a:ln w="95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1C44C9C7-7166-4DA9-8A1A-D2BB836F3F54}"/>
              </a:ext>
            </a:extLst>
          </p:cNvPr>
          <p:cNvSpPr/>
          <p:nvPr/>
        </p:nvSpPr>
        <p:spPr>
          <a:xfrm>
            <a:off x="1143000" y="4512279"/>
            <a:ext cx="7159528" cy="461665"/>
          </a:xfrm>
          <a:prstGeom prst="rect">
            <a:avLst/>
          </a:prstGeom>
          <a:noFill/>
        </p:spPr>
        <p:txBody>
          <a:bodyPr wrap="square" lIns="91440" tIns="45720" rIns="91440" bIns="45720">
            <a:spAutoFit/>
          </a:bodyPr>
          <a:lstStyle/>
          <a:p>
            <a:r>
              <a:rPr lang="en-US" altLang="zh-CN" sz="2400" dirty="0">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rPr>
              <a:t>Photoelectron emission detector</a:t>
            </a:r>
            <a:endParaRPr lang="zh-CN" altLang="en-US" sz="2400" dirty="0">
              <a:ln w="22225">
                <a:solidFill>
                  <a:schemeClr val="accent2"/>
                </a:solidFill>
                <a:prstDash val="solid"/>
              </a:ln>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endParaRPr>
          </a:p>
        </p:txBody>
      </p:sp>
      <p:sp>
        <p:nvSpPr>
          <p:cNvPr id="8" name="矩形 7">
            <a:extLst>
              <a:ext uri="{FF2B5EF4-FFF2-40B4-BE49-F238E27FC236}">
                <a16:creationId xmlns:a16="http://schemas.microsoft.com/office/drawing/2014/main" id="{AE184DEE-FEA5-431F-856D-B2DD56F698B6}"/>
              </a:ext>
            </a:extLst>
          </p:cNvPr>
          <p:cNvSpPr/>
          <p:nvPr/>
        </p:nvSpPr>
        <p:spPr>
          <a:xfrm>
            <a:off x="1209675" y="1869039"/>
            <a:ext cx="167523" cy="403125"/>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9" name="矩形: 圆角 18">
            <a:extLst>
              <a:ext uri="{FF2B5EF4-FFF2-40B4-BE49-F238E27FC236}">
                <a16:creationId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光电倍增管工作电路</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9">
            <a:extLst>
              <a:ext uri="{FF2B5EF4-FFF2-40B4-BE49-F238E27FC236}">
                <a16:creationId xmlns:a16="http://schemas.microsoft.com/office/drawing/2014/main" id="{32FA5944-F1B6-4CE3-8C9A-3E49E6B2880A}"/>
              </a:ext>
            </a:extLst>
          </p:cNvPr>
          <p:cNvSpPr txBox="1">
            <a:spLocks noChangeArrowheads="1"/>
          </p:cNvSpPr>
          <p:nvPr/>
        </p:nvSpPr>
        <p:spPr bwMode="auto">
          <a:xfrm>
            <a:off x="715963" y="1882775"/>
            <a:ext cx="4400550" cy="584200"/>
          </a:xfrm>
          <a:prstGeom prst="rect">
            <a:avLst/>
          </a:prstGeom>
          <a:solidFill>
            <a:schemeClr val="accent1">
              <a:lumMod val="20000"/>
              <a:lumOff val="80000"/>
            </a:schemeClr>
          </a:solidFill>
          <a:ln w="38100">
            <a:noFill/>
            <a:miter lim="800000"/>
            <a:headEnd/>
            <a:tailEnd/>
          </a:ln>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r>
              <a:rPr kumimoji="1" lang="en-US" altLang="zh-CN" sz="3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 </a:t>
            </a:r>
            <a:r>
              <a:rPr kumimoji="1" lang="zh-CN" altLang="en-US" sz="3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阳极接地和阴极接地</a:t>
            </a:r>
          </a:p>
        </p:txBody>
      </p:sp>
      <p:sp>
        <p:nvSpPr>
          <p:cNvPr id="9" name="Rectangle 11">
            <a:extLst>
              <a:ext uri="{FF2B5EF4-FFF2-40B4-BE49-F238E27FC236}">
                <a16:creationId xmlns:a16="http://schemas.microsoft.com/office/drawing/2014/main" id="{8054395B-D1AD-4EB4-8FD0-0A914331372D}"/>
              </a:ext>
            </a:extLst>
          </p:cNvPr>
          <p:cNvSpPr>
            <a:spLocks noChangeArrowheads="1"/>
          </p:cNvSpPr>
          <p:nvPr/>
        </p:nvSpPr>
        <p:spPr bwMode="auto">
          <a:xfrm>
            <a:off x="847725" y="6403975"/>
            <a:ext cx="8070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CC"/>
                </a:solidFill>
                <a:latin typeface="微软雅黑" panose="020B0503020204020204" pitchFamily="34" charset="-122"/>
                <a:ea typeface="微软雅黑" panose="020B0503020204020204" pitchFamily="34" charset="-122"/>
              </a:rPr>
              <a:t>缺点：</a:t>
            </a:r>
            <a:r>
              <a:rPr lang="zh-CN" altLang="en-US" sz="2800" b="1">
                <a:latin typeface="微软雅黑" panose="020B0503020204020204" pitchFamily="34" charset="-122"/>
                <a:ea typeface="微软雅黑" panose="020B0503020204020204" pitchFamily="34" charset="-122"/>
              </a:rPr>
              <a:t>阴极负高压，屏蔽困难，暗电流和噪声大。</a:t>
            </a:r>
          </a:p>
        </p:txBody>
      </p:sp>
      <p:sp>
        <p:nvSpPr>
          <p:cNvPr id="10" name="Rectangle 17">
            <a:extLst>
              <a:ext uri="{FF2B5EF4-FFF2-40B4-BE49-F238E27FC236}">
                <a16:creationId xmlns:a16="http://schemas.microsoft.com/office/drawing/2014/main" id="{A4B1D971-2BDF-4237-A30D-E0AC1D36E281}"/>
              </a:ext>
            </a:extLst>
          </p:cNvPr>
          <p:cNvSpPr>
            <a:spLocks noChangeArrowheads="1"/>
          </p:cNvSpPr>
          <p:nvPr/>
        </p:nvSpPr>
        <p:spPr bwMode="auto">
          <a:xfrm>
            <a:off x="806450" y="4789488"/>
            <a:ext cx="12057063"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990600" indent="-9906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b="1">
                <a:solidFill>
                  <a:srgbClr val="0000CC"/>
                </a:solidFill>
                <a:latin typeface="微软雅黑" panose="020B0503020204020204" pitchFamily="34" charset="-122"/>
                <a:ea typeface="微软雅黑" panose="020B0503020204020204" pitchFamily="34" charset="-122"/>
              </a:rPr>
              <a:t>优点：</a:t>
            </a:r>
            <a:r>
              <a:rPr lang="zh-CN" altLang="en-US" sz="2800" b="1">
                <a:latin typeface="微软雅黑" panose="020B0503020204020204" pitchFamily="34" charset="-122"/>
                <a:ea typeface="微软雅黑" panose="020B0503020204020204" pitchFamily="34" charset="-122"/>
              </a:rPr>
              <a:t>优点是消除了外部电路与阳极的电势差，便于电路连接，比如电流表、电流电压转换、放大电路与光电倍增管的连接。</a:t>
            </a:r>
          </a:p>
        </p:txBody>
      </p:sp>
      <p:sp>
        <p:nvSpPr>
          <p:cNvPr id="11" name="TextBox 7">
            <a:extLst>
              <a:ext uri="{FF2B5EF4-FFF2-40B4-BE49-F238E27FC236}">
                <a16:creationId xmlns:a16="http://schemas.microsoft.com/office/drawing/2014/main" id="{3D4C89B4-B863-430C-988B-B78430C055CD}"/>
              </a:ext>
            </a:extLst>
          </p:cNvPr>
          <p:cNvSpPr txBox="1">
            <a:spLocks noChangeArrowheads="1"/>
          </p:cNvSpPr>
          <p:nvPr/>
        </p:nvSpPr>
        <p:spPr bwMode="auto">
          <a:xfrm>
            <a:off x="574675" y="3228975"/>
            <a:ext cx="2667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altLang="zh-CN" sz="2800" b="1">
                <a:solidFill>
                  <a:srgbClr val="0000CC"/>
                </a:solidFill>
                <a:latin typeface="微软雅黑" panose="020B0503020204020204" pitchFamily="34" charset="-122"/>
                <a:ea typeface="微软雅黑" panose="020B0503020204020204" pitchFamily="34" charset="-122"/>
              </a:rPr>
              <a:t>(1) </a:t>
            </a:r>
            <a:r>
              <a:rPr lang="zh-CN" altLang="en-US" sz="2800" b="1">
                <a:solidFill>
                  <a:srgbClr val="0000CC"/>
                </a:solidFill>
                <a:latin typeface="微软雅黑" panose="020B0503020204020204" pitchFamily="34" charset="-122"/>
                <a:ea typeface="微软雅黑" panose="020B0503020204020204" pitchFamily="34" charset="-122"/>
              </a:rPr>
              <a:t>阳极接地</a:t>
            </a:r>
          </a:p>
        </p:txBody>
      </p:sp>
      <p:sp>
        <p:nvSpPr>
          <p:cNvPr id="12" name="Rectangle 5">
            <a:extLst>
              <a:ext uri="{FF2B5EF4-FFF2-40B4-BE49-F238E27FC236}">
                <a16:creationId xmlns:a16="http://schemas.microsoft.com/office/drawing/2014/main" id="{2E90AB25-973F-465F-A4C3-1858BEE7FECE}"/>
              </a:ext>
            </a:extLst>
          </p:cNvPr>
          <p:cNvSpPr>
            <a:spLocks noChangeArrowheads="1"/>
          </p:cNvSpPr>
          <p:nvPr/>
        </p:nvSpPr>
        <p:spPr bwMode="auto">
          <a:xfrm>
            <a:off x="3971925" y="960438"/>
            <a:ext cx="475615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folHlink"/>
              </a:buClr>
              <a:buSzPct val="60000"/>
              <a:buFont typeface="Wingdings" panose="05000000000000000000" pitchFamily="2" charset="2"/>
              <a:buNone/>
            </a:pPr>
            <a:r>
              <a:rPr lang="zh-CN" altLang="en-US" sz="40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一、高压供电电路 </a:t>
            </a:r>
          </a:p>
        </p:txBody>
      </p:sp>
      <p:graphicFrame>
        <p:nvGraphicFramePr>
          <p:cNvPr id="13" name="Object 2">
            <a:extLst>
              <a:ext uri="{FF2B5EF4-FFF2-40B4-BE49-F238E27FC236}">
                <a16:creationId xmlns:a16="http://schemas.microsoft.com/office/drawing/2014/main" id="{7A1C1E2A-0983-4EAF-BA93-CDBE7DE7213F}"/>
              </a:ext>
            </a:extLst>
          </p:cNvPr>
          <p:cNvGraphicFramePr>
            <a:graphicFrameLocks noChangeAspect="1"/>
          </p:cNvGraphicFramePr>
          <p:nvPr/>
        </p:nvGraphicFramePr>
        <p:xfrm>
          <a:off x="6732588" y="1882775"/>
          <a:ext cx="5426075" cy="2424113"/>
        </p:xfrm>
        <a:graphic>
          <a:graphicData uri="http://schemas.openxmlformats.org/presentationml/2006/ole">
            <mc:AlternateContent xmlns:mc="http://schemas.openxmlformats.org/markup-compatibility/2006">
              <mc:Choice xmlns:v="urn:schemas-microsoft-com:vml" Requires="v">
                <p:oleObj spid="_x0000_s4111" name="Visio" r:id="rId3" imgW="2590859" imgH="1152636" progId="Visio.Drawing.11">
                  <p:embed/>
                </p:oleObj>
              </mc:Choice>
              <mc:Fallback>
                <p:oleObj name="Visio" r:id="rId3" imgW="2590859" imgH="1152636"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2588" y="1882775"/>
                        <a:ext cx="5426075" cy="2424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椭圆 2">
            <a:extLst>
              <a:ext uri="{FF2B5EF4-FFF2-40B4-BE49-F238E27FC236}">
                <a16:creationId xmlns:a16="http://schemas.microsoft.com/office/drawing/2014/main" id="{16AC1E28-A23B-4206-BE33-91289B5F6CEC}"/>
              </a:ext>
            </a:extLst>
          </p:cNvPr>
          <p:cNvSpPr/>
          <p:nvPr/>
        </p:nvSpPr>
        <p:spPr>
          <a:xfrm>
            <a:off x="11233150" y="3581400"/>
            <a:ext cx="925513" cy="796925"/>
          </a:xfrm>
          <a:prstGeom prst="ellipse">
            <a:avLst/>
          </a:prstGeom>
          <a:noFill/>
          <a:ln w="31750">
            <a:solidFill>
              <a:srgbClr val="0000CC"/>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5" name="组合 14">
            <a:extLst>
              <a:ext uri="{FF2B5EF4-FFF2-40B4-BE49-F238E27FC236}">
                <a16:creationId xmlns:a16="http://schemas.microsoft.com/office/drawing/2014/main" id="{3F3FB37C-995D-472D-A42C-47DFDE43CF57}"/>
              </a:ext>
            </a:extLst>
          </p:cNvPr>
          <p:cNvGrpSpPr/>
          <p:nvPr/>
        </p:nvGrpSpPr>
        <p:grpSpPr>
          <a:xfrm>
            <a:off x="0" y="293282"/>
            <a:ext cx="13161246" cy="7421968"/>
            <a:chOff x="0" y="293282"/>
            <a:chExt cx="13161246" cy="7421968"/>
          </a:xfrm>
        </p:grpSpPr>
        <p:sp>
          <p:nvSpPr>
            <p:cNvPr id="16" name="文本框 60">
              <a:extLst>
                <a:ext uri="{FF2B5EF4-FFF2-40B4-BE49-F238E27FC236}">
                  <a16:creationId xmlns:a16="http://schemas.microsoft.com/office/drawing/2014/main" id="{61E9260F-EFCB-4C4E-BA26-40C3BD767F3A}"/>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8" name="矩形 17">
              <a:extLst>
                <a:ext uri="{FF2B5EF4-FFF2-40B4-BE49-F238E27FC236}">
                  <a16:creationId xmlns:a16="http://schemas.microsoft.com/office/drawing/2014/main" id="{601E9C8C-C72D-4E88-8746-3A24DF1DCB58}"/>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83078DB2-9FFA-4F75-93E3-0DDE8A9A060D}"/>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CBD38165-C784-4255-8B06-446F3CA4BA72}"/>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1" name="直接连接符 58">
              <a:extLst>
                <a:ext uri="{FF2B5EF4-FFF2-40B4-BE49-F238E27FC236}">
                  <a16:creationId xmlns:a16="http://schemas.microsoft.com/office/drawing/2014/main" id="{79DD2488-5015-4020-87BB-0DC22316CF8C}"/>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DE478F2C-83C9-4496-8881-940E0371E627}"/>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3" name="矩形 22">
              <a:extLst>
                <a:ext uri="{FF2B5EF4-FFF2-40B4-BE49-F238E27FC236}">
                  <a16:creationId xmlns:a16="http://schemas.microsoft.com/office/drawing/2014/main" id="{9ED9F4CD-1712-4CBB-AF8D-AB32C02214A3}"/>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ox(in)">
                                      <p:cBhvr>
                                        <p:cTn id="17" dur="500"/>
                                        <p:tgtEl>
                                          <p:spTgt spid="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ox(in)">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heel(1)">
                                      <p:cBhvr>
                                        <p:cTn id="27" dur="20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ox(in)">
                                      <p:cBhvr>
                                        <p:cTn id="32" dur="500"/>
                                        <p:tgtEl>
                                          <p:spTgt spid="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ox(in)">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1" grpId="0"/>
      <p:bldP spid="12" grpId="0"/>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3">
            <a:extLst>
              <a:ext uri="{FF2B5EF4-FFF2-40B4-BE49-F238E27FC236}">
                <a16:creationId xmlns:a16="http://schemas.microsoft.com/office/drawing/2014/main" id="{AD081960-BF5D-413A-B5ED-3824EEF29FF0}"/>
              </a:ext>
            </a:extLst>
          </p:cNvPr>
          <p:cNvSpPr>
            <a:spLocks noChangeArrowheads="1"/>
          </p:cNvSpPr>
          <p:nvPr/>
        </p:nvSpPr>
        <p:spPr bwMode="auto">
          <a:xfrm>
            <a:off x="1000125" y="3911600"/>
            <a:ext cx="119380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1076325" indent="-1076325">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defRPr/>
            </a:pPr>
            <a:r>
              <a:rPr lang="zh-CN" altLang="en-US" sz="2800" b="1" dirty="0">
                <a:solidFill>
                  <a:srgbClr val="0000CC"/>
                </a:solidFill>
                <a:latin typeface="微软雅黑" panose="020B0503020204020204" pitchFamily="34" charset="-122"/>
                <a:ea typeface="微软雅黑" panose="020B0503020204020204" pitchFamily="34" charset="-122"/>
              </a:rPr>
              <a:t>优点：</a:t>
            </a:r>
            <a:r>
              <a:rPr lang="zh-CN" altLang="en-US" sz="2800" b="1" dirty="0">
                <a:latin typeface="微软雅黑" panose="020B0503020204020204" pitchFamily="34" charset="-122"/>
                <a:ea typeface="微软雅黑" panose="020B0503020204020204" pitchFamily="34" charset="-122"/>
              </a:rPr>
              <a:t>便于屏蔽，屏蔽罩可以跟阴极靠的近些，屏蔽效果好；</a:t>
            </a:r>
            <a:endParaRPr lang="en-US" altLang="zh-CN" sz="2800" b="1" dirty="0">
              <a:latin typeface="微软雅黑" panose="020B0503020204020204" pitchFamily="34" charset="-122"/>
              <a:ea typeface="微软雅黑" panose="020B0503020204020204" pitchFamily="34" charset="-122"/>
            </a:endParaRPr>
          </a:p>
          <a:p>
            <a:pPr indent="-3175" eaLnBrk="1" hangingPunct="1">
              <a:lnSpc>
                <a:spcPct val="150000"/>
              </a:lnSpc>
              <a:defRPr/>
            </a:pPr>
            <a:r>
              <a:rPr lang="zh-CN" altLang="en-US" sz="2800" b="1" dirty="0">
                <a:latin typeface="微软雅黑" panose="020B0503020204020204" pitchFamily="34" charset="-122"/>
                <a:ea typeface="微软雅黑" panose="020B0503020204020204" pitchFamily="34" charset="-122"/>
              </a:rPr>
              <a:t>暗电流小，噪声低。</a:t>
            </a:r>
          </a:p>
        </p:txBody>
      </p:sp>
      <p:sp>
        <p:nvSpPr>
          <p:cNvPr id="9" name="Rectangle 18">
            <a:extLst>
              <a:ext uri="{FF2B5EF4-FFF2-40B4-BE49-F238E27FC236}">
                <a16:creationId xmlns:a16="http://schemas.microsoft.com/office/drawing/2014/main" id="{47D5EC1B-721C-4E61-B50D-ACBFF097B51F}"/>
              </a:ext>
            </a:extLst>
          </p:cNvPr>
          <p:cNvSpPr>
            <a:spLocks noChangeArrowheads="1"/>
          </p:cNvSpPr>
          <p:nvPr/>
        </p:nvSpPr>
        <p:spPr bwMode="auto">
          <a:xfrm>
            <a:off x="1000125" y="5399088"/>
            <a:ext cx="118967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1076325" indent="-1076325">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b="1">
                <a:solidFill>
                  <a:srgbClr val="0000CC"/>
                </a:solidFill>
                <a:latin typeface="微软雅黑" panose="020B0503020204020204" pitchFamily="34" charset="-122"/>
                <a:ea typeface="微软雅黑" panose="020B0503020204020204" pitchFamily="34" charset="-122"/>
              </a:rPr>
              <a:t>缺点：</a:t>
            </a:r>
            <a:r>
              <a:rPr lang="zh-CN" altLang="en-US" sz="2800" b="1">
                <a:latin typeface="微软雅黑" panose="020B0503020204020204" pitchFamily="34" charset="-122"/>
                <a:ea typeface="微软雅黑" panose="020B0503020204020204" pitchFamily="34" charset="-122"/>
              </a:rPr>
              <a:t>阳极处于正高压，导致寄生电容大，匹配电缆连接复杂，特别是后面接直流放大器，整个放大器都处于高压，不利于安全操作。</a:t>
            </a:r>
          </a:p>
        </p:txBody>
      </p:sp>
      <p:sp>
        <p:nvSpPr>
          <p:cNvPr id="10" name="TextBox 6">
            <a:extLst>
              <a:ext uri="{FF2B5EF4-FFF2-40B4-BE49-F238E27FC236}">
                <a16:creationId xmlns:a16="http://schemas.microsoft.com/office/drawing/2014/main" id="{1E3CD0FA-D776-4488-82D1-4857A6B89AE1}"/>
              </a:ext>
            </a:extLst>
          </p:cNvPr>
          <p:cNvSpPr txBox="1">
            <a:spLocks noChangeArrowheads="1"/>
          </p:cNvSpPr>
          <p:nvPr/>
        </p:nvSpPr>
        <p:spPr bwMode="auto">
          <a:xfrm>
            <a:off x="822325" y="1858963"/>
            <a:ext cx="2489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altLang="zh-CN" sz="3200" b="1">
                <a:solidFill>
                  <a:srgbClr val="0000CC"/>
                </a:solidFill>
                <a:latin typeface="微软雅黑" panose="020B0503020204020204" pitchFamily="34" charset="-122"/>
                <a:ea typeface="微软雅黑" panose="020B0503020204020204" pitchFamily="34" charset="-122"/>
              </a:rPr>
              <a:t>(2)</a:t>
            </a:r>
            <a:r>
              <a:rPr lang="zh-CN" altLang="en-US" sz="3200" b="1">
                <a:solidFill>
                  <a:srgbClr val="0000CC"/>
                </a:solidFill>
                <a:latin typeface="微软雅黑" panose="020B0503020204020204" pitchFamily="34" charset="-122"/>
                <a:ea typeface="微软雅黑" panose="020B0503020204020204" pitchFamily="34" charset="-122"/>
              </a:rPr>
              <a:t>阴极接地</a:t>
            </a:r>
          </a:p>
        </p:txBody>
      </p:sp>
      <p:graphicFrame>
        <p:nvGraphicFramePr>
          <p:cNvPr id="4105" name="Object 2">
            <a:extLst>
              <a:ext uri="{FF2B5EF4-FFF2-40B4-BE49-F238E27FC236}">
                <a16:creationId xmlns:a16="http://schemas.microsoft.com/office/drawing/2014/main" id="{32F4CF2E-61E7-40D9-80A5-7F321A9DFCF4}"/>
              </a:ext>
            </a:extLst>
          </p:cNvPr>
          <p:cNvGraphicFramePr>
            <a:graphicFrameLocks noChangeAspect="1"/>
          </p:cNvGraphicFramePr>
          <p:nvPr/>
        </p:nvGraphicFramePr>
        <p:xfrm>
          <a:off x="5732463" y="1025525"/>
          <a:ext cx="7394575" cy="2851150"/>
        </p:xfrm>
        <a:graphic>
          <a:graphicData uri="http://schemas.openxmlformats.org/presentationml/2006/ole">
            <mc:AlternateContent xmlns:mc="http://schemas.openxmlformats.org/markup-compatibility/2006">
              <mc:Choice xmlns:v="urn:schemas-microsoft-com:vml" Requires="v">
                <p:oleObj spid="_x0000_s5133" name="Visio" r:id="rId3" imgW="3505259" imgH="1352407" progId="Visio.Drawing.11">
                  <p:embed/>
                </p:oleObj>
              </mc:Choice>
              <mc:Fallback>
                <p:oleObj name="Visio" r:id="rId3" imgW="3505259" imgH="1352407"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2463" y="1025525"/>
                        <a:ext cx="7394575" cy="285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椭圆 10">
            <a:extLst>
              <a:ext uri="{FF2B5EF4-FFF2-40B4-BE49-F238E27FC236}">
                <a16:creationId xmlns:a16="http://schemas.microsoft.com/office/drawing/2014/main" id="{11156626-EFEC-4BF1-81CD-A17518620D9A}"/>
              </a:ext>
            </a:extLst>
          </p:cNvPr>
          <p:cNvSpPr/>
          <p:nvPr/>
        </p:nvSpPr>
        <p:spPr>
          <a:xfrm>
            <a:off x="5459413" y="3157538"/>
            <a:ext cx="925512" cy="798512"/>
          </a:xfrm>
          <a:prstGeom prst="ellipse">
            <a:avLst/>
          </a:prstGeom>
          <a:noFill/>
          <a:ln w="31750">
            <a:solidFill>
              <a:srgbClr val="0000CC"/>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a:extLst>
              <a:ext uri="{FF2B5EF4-FFF2-40B4-BE49-F238E27FC236}">
                <a16:creationId xmlns:a16="http://schemas.microsoft.com/office/drawing/2014/main" id="{BE73D04D-D031-4C22-A8D3-366FAF1725E9}"/>
              </a:ext>
            </a:extLst>
          </p:cNvPr>
          <p:cNvGrpSpPr/>
          <p:nvPr/>
        </p:nvGrpSpPr>
        <p:grpSpPr>
          <a:xfrm>
            <a:off x="0" y="293282"/>
            <a:ext cx="13161246" cy="7421968"/>
            <a:chOff x="0" y="293282"/>
            <a:chExt cx="13161246" cy="7421968"/>
          </a:xfrm>
        </p:grpSpPr>
        <p:sp>
          <p:nvSpPr>
            <p:cNvPr id="14" name="文本框 60">
              <a:extLst>
                <a:ext uri="{FF2B5EF4-FFF2-40B4-BE49-F238E27FC236}">
                  <a16:creationId xmlns:a16="http://schemas.microsoft.com/office/drawing/2014/main" id="{7E20FA23-4D9D-4103-97C0-40218A1CB28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6" name="矩形 15">
              <a:extLst>
                <a:ext uri="{FF2B5EF4-FFF2-40B4-BE49-F238E27FC236}">
                  <a16:creationId xmlns:a16="http://schemas.microsoft.com/office/drawing/2014/main" id="{5091BDB7-B50D-4C43-A0A0-20D2919BF5EF}"/>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7" name="矩形 16">
              <a:extLst>
                <a:ext uri="{FF2B5EF4-FFF2-40B4-BE49-F238E27FC236}">
                  <a16:creationId xmlns:a16="http://schemas.microsoft.com/office/drawing/2014/main" id="{004CF116-7D95-445D-8208-5A45623076AF}"/>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C6064580-0776-4A38-90A7-A624C88A7AE0}"/>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9" name="直接连接符 58">
              <a:extLst>
                <a:ext uri="{FF2B5EF4-FFF2-40B4-BE49-F238E27FC236}">
                  <a16:creationId xmlns:a16="http://schemas.microsoft.com/office/drawing/2014/main" id="{82043FE9-30DC-4EC8-82D9-0EEBCC18A69B}"/>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1765B969-A2D5-4743-8825-770CBA8F41D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20">
              <a:extLst>
                <a:ext uri="{FF2B5EF4-FFF2-40B4-BE49-F238E27FC236}">
                  <a16:creationId xmlns:a16="http://schemas.microsoft.com/office/drawing/2014/main" id="{26389795-FB2A-4D99-9DDC-E7C719BA63FE}"/>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0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heel(1)">
                                      <p:cBhvr>
                                        <p:cTn id="15" dur="2000"/>
                                        <p:tgtEl>
                                          <p:spTgt spid="1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strVal val="#ppt_w*0.70"/>
                                          </p:val>
                                        </p:tav>
                                        <p:tav tm="100000">
                                          <p:val>
                                            <p:strVal val="#ppt_w"/>
                                          </p:val>
                                        </p:tav>
                                      </p:tavLst>
                                    </p:anim>
                                    <p:anim calcmode="lin" valueType="num">
                                      <p:cBhvr>
                                        <p:cTn id="21" dur="1000" fill="hold"/>
                                        <p:tgtEl>
                                          <p:spTgt spid="8"/>
                                        </p:tgtEl>
                                        <p:attrNameLst>
                                          <p:attrName>ppt_h</p:attrName>
                                        </p:attrNameLst>
                                      </p:cBhvr>
                                      <p:tavLst>
                                        <p:tav tm="0">
                                          <p:val>
                                            <p:strVal val="#ppt_h"/>
                                          </p:val>
                                        </p:tav>
                                        <p:tav tm="100000">
                                          <p:val>
                                            <p:strVal val="#ppt_h"/>
                                          </p:val>
                                        </p:tav>
                                      </p:tavLst>
                                    </p:anim>
                                    <p:animEffect transition="in" filter="fade">
                                      <p:cBhvr>
                                        <p:cTn id="22" dur="10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3">
            <a:extLst>
              <a:ext uri="{FF2B5EF4-FFF2-40B4-BE49-F238E27FC236}">
                <a16:creationId xmlns:a16="http://schemas.microsoft.com/office/drawing/2014/main" id="{AFE7B7A6-CD1F-4F5F-AE3D-B479E444D6CB}"/>
              </a:ext>
            </a:extLst>
          </p:cNvPr>
          <p:cNvGraphicFramePr>
            <a:graphicFrameLocks noChangeAspect="1"/>
          </p:cNvGraphicFramePr>
          <p:nvPr/>
        </p:nvGraphicFramePr>
        <p:xfrm>
          <a:off x="327025" y="4595813"/>
          <a:ext cx="5837238" cy="1100137"/>
        </p:xfrm>
        <a:graphic>
          <a:graphicData uri="http://schemas.openxmlformats.org/presentationml/2006/ole">
            <mc:AlternateContent xmlns:mc="http://schemas.openxmlformats.org/markup-compatibility/2006">
              <mc:Choice xmlns:v="urn:schemas-microsoft-com:vml" Requires="v">
                <p:oleObj spid="_x0000_s6160" name="Equation" r:id="rId3" imgW="1727200" imgH="431800" progId="Equation.DSMT4">
                  <p:embed/>
                </p:oleObj>
              </mc:Choice>
              <mc:Fallback>
                <p:oleObj name="Equation" r:id="rId3" imgW="1727200" imgH="431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025" y="4595813"/>
                        <a:ext cx="5837238" cy="110013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7">
            <a:extLst>
              <a:ext uri="{FF2B5EF4-FFF2-40B4-BE49-F238E27FC236}">
                <a16:creationId xmlns:a16="http://schemas.microsoft.com/office/drawing/2014/main" id="{D2692F17-A4EA-4D6B-9BC1-1A9C091CE88C}"/>
              </a:ext>
            </a:extLst>
          </p:cNvPr>
          <p:cNvSpPr txBox="1">
            <a:spLocks noChangeArrowheads="1"/>
          </p:cNvSpPr>
          <p:nvPr/>
        </p:nvSpPr>
        <p:spPr bwMode="auto">
          <a:xfrm>
            <a:off x="5500688" y="962025"/>
            <a:ext cx="2667000" cy="633413"/>
          </a:xfrm>
          <a:prstGeom prst="rect">
            <a:avLst/>
          </a:prstGeom>
          <a:solidFill>
            <a:schemeClr val="accent4">
              <a:lumMod val="40000"/>
              <a:lumOff val="60000"/>
            </a:schemeClr>
          </a:solidFill>
          <a:ln w="38100">
            <a:noFill/>
            <a:miter lim="800000"/>
            <a:headEnd/>
            <a:tailEnd/>
          </a:ln>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Bef>
                <a:spcPct val="50000"/>
              </a:spcBef>
              <a:defRPr/>
            </a:pPr>
            <a:r>
              <a:rPr kumimoji="1" lang="en-US" altLang="zh-CN" sz="3200" b="1" dirty="0">
                <a:solidFill>
                  <a:srgbClr val="FF0000"/>
                </a:solidFill>
                <a:latin typeface="微软雅黑" panose="020B0503020204020204" pitchFamily="34" charset="-122"/>
                <a:ea typeface="微软雅黑" panose="020B0503020204020204" pitchFamily="34" charset="-122"/>
              </a:rPr>
              <a:t> 2.</a:t>
            </a:r>
            <a:r>
              <a:rPr kumimoji="1" lang="zh-CN" altLang="en-US" sz="3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分压电路</a:t>
            </a:r>
          </a:p>
        </p:txBody>
      </p:sp>
      <p:graphicFrame>
        <p:nvGraphicFramePr>
          <p:cNvPr id="10" name="Object 2">
            <a:extLst>
              <a:ext uri="{FF2B5EF4-FFF2-40B4-BE49-F238E27FC236}">
                <a16:creationId xmlns:a16="http://schemas.microsoft.com/office/drawing/2014/main" id="{6DAE905B-FA30-4B95-B486-3029CED6BCDE}"/>
              </a:ext>
            </a:extLst>
          </p:cNvPr>
          <p:cNvGraphicFramePr>
            <a:graphicFrameLocks noChangeAspect="1"/>
          </p:cNvGraphicFramePr>
          <p:nvPr/>
        </p:nvGraphicFramePr>
        <p:xfrm>
          <a:off x="627063" y="1928813"/>
          <a:ext cx="5680075" cy="2551112"/>
        </p:xfrm>
        <a:graphic>
          <a:graphicData uri="http://schemas.openxmlformats.org/presentationml/2006/ole">
            <mc:AlternateContent xmlns:mc="http://schemas.openxmlformats.org/markup-compatibility/2006">
              <mc:Choice xmlns:v="urn:schemas-microsoft-com:vml" Requires="v">
                <p:oleObj spid="_x0000_s6161" name="Visio" r:id="rId5" imgW="2609469" imgH="1167574" progId="Visio.Drawing.11">
                  <p:embed/>
                </p:oleObj>
              </mc:Choice>
              <mc:Fallback>
                <p:oleObj name="Visio" r:id="rId5" imgW="2609469" imgH="1167574" progId="Visio.Drawing.11">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7063" y="1928813"/>
                        <a:ext cx="5680075" cy="25511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7">
            <a:extLst>
              <a:ext uri="{FF2B5EF4-FFF2-40B4-BE49-F238E27FC236}">
                <a16:creationId xmlns:a16="http://schemas.microsoft.com/office/drawing/2014/main" id="{E521223B-3DED-40E7-99FB-4C85A7467F7F}"/>
              </a:ext>
            </a:extLst>
          </p:cNvPr>
          <p:cNvGraphicFramePr>
            <a:graphicFrameLocks noChangeAspect="1"/>
          </p:cNvGraphicFramePr>
          <p:nvPr/>
        </p:nvGraphicFramePr>
        <p:xfrm>
          <a:off x="7543800" y="1928813"/>
          <a:ext cx="4406900" cy="2581275"/>
        </p:xfrm>
        <a:graphic>
          <a:graphicData uri="http://schemas.openxmlformats.org/presentationml/2006/ole">
            <mc:AlternateContent xmlns:mc="http://schemas.openxmlformats.org/markup-compatibility/2006">
              <mc:Choice xmlns:v="urn:schemas-microsoft-com:vml" Requires="v">
                <p:oleObj spid="_x0000_s6162" name="Visio" r:id="rId7" imgW="2620185" imgH="1535763" progId="Visio.Drawing.11">
                  <p:embed/>
                </p:oleObj>
              </mc:Choice>
              <mc:Fallback>
                <p:oleObj name="Visio" r:id="rId7" imgW="2620185" imgH="1535763" progId="Visio.Drawing.11">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43800" y="1928813"/>
                        <a:ext cx="4406900" cy="25812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4">
            <a:extLst>
              <a:ext uri="{FF2B5EF4-FFF2-40B4-BE49-F238E27FC236}">
                <a16:creationId xmlns:a16="http://schemas.microsoft.com/office/drawing/2014/main" id="{671A0F72-CA03-4779-8B58-26B4FB34F81E}"/>
              </a:ext>
            </a:extLst>
          </p:cNvPr>
          <p:cNvGraphicFramePr>
            <a:graphicFrameLocks noChangeAspect="1"/>
          </p:cNvGraphicFramePr>
          <p:nvPr/>
        </p:nvGraphicFramePr>
        <p:xfrm>
          <a:off x="8342313" y="4616450"/>
          <a:ext cx="3073400" cy="1223963"/>
        </p:xfrm>
        <a:graphic>
          <a:graphicData uri="http://schemas.openxmlformats.org/presentationml/2006/ole">
            <mc:AlternateContent xmlns:mc="http://schemas.openxmlformats.org/markup-compatibility/2006">
              <mc:Choice xmlns:v="urn:schemas-microsoft-com:vml" Requires="v">
                <p:oleObj spid="_x0000_s6163" name="Equation" r:id="rId9" imgW="1143000" imgH="457200" progId="Equation.DSMT4">
                  <p:embed/>
                </p:oleObj>
              </mc:Choice>
              <mc:Fallback>
                <p:oleObj name="Equation" r:id="rId9" imgW="1143000" imgH="4572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42313" y="4616450"/>
                        <a:ext cx="3073400" cy="122396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6">
            <a:extLst>
              <a:ext uri="{FF2B5EF4-FFF2-40B4-BE49-F238E27FC236}">
                <a16:creationId xmlns:a16="http://schemas.microsoft.com/office/drawing/2014/main" id="{610CFF3F-DA61-493D-94A1-1E6665A3FFDA}"/>
              </a:ext>
            </a:extLst>
          </p:cNvPr>
          <p:cNvSpPr txBox="1">
            <a:spLocks noChangeArrowheads="1"/>
          </p:cNvSpPr>
          <p:nvPr/>
        </p:nvSpPr>
        <p:spPr bwMode="auto">
          <a:xfrm>
            <a:off x="1371600" y="5811838"/>
            <a:ext cx="105791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800" b="1">
                <a:latin typeface="微软雅黑" panose="020B0503020204020204" pitchFamily="34" charset="-122"/>
                <a:ea typeface="微软雅黑" panose="020B0503020204020204" pitchFamily="34" charset="-122"/>
              </a:rPr>
              <a:t>       </a:t>
            </a:r>
            <a:r>
              <a:rPr lang="zh-CN" altLang="en-US" sz="2800" b="1">
                <a:latin typeface="微软雅黑" panose="020B0503020204020204" pitchFamily="34" charset="-122"/>
                <a:ea typeface="微软雅黑" panose="020B0503020204020204" pitchFamily="34" charset="-122"/>
              </a:rPr>
              <a:t>稳压二极管来保持级间电压的一致和光电倍增管工作的稳定性，让其不受光电倍增管阴极到阳极的高压影响。</a:t>
            </a:r>
          </a:p>
        </p:txBody>
      </p:sp>
      <p:sp>
        <p:nvSpPr>
          <p:cNvPr id="14" name="椭圆 13">
            <a:extLst>
              <a:ext uri="{FF2B5EF4-FFF2-40B4-BE49-F238E27FC236}">
                <a16:creationId xmlns:a16="http://schemas.microsoft.com/office/drawing/2014/main" id="{D270035C-2B77-4A68-9B59-627BF4530462}"/>
              </a:ext>
            </a:extLst>
          </p:cNvPr>
          <p:cNvSpPr/>
          <p:nvPr/>
        </p:nvSpPr>
        <p:spPr>
          <a:xfrm>
            <a:off x="7716838" y="3170238"/>
            <a:ext cx="1108075" cy="796925"/>
          </a:xfrm>
          <a:prstGeom prst="ellipse">
            <a:avLst/>
          </a:prstGeom>
          <a:noFill/>
          <a:ln w="31750">
            <a:solidFill>
              <a:srgbClr val="0000CC"/>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椭圆 14">
            <a:extLst>
              <a:ext uri="{FF2B5EF4-FFF2-40B4-BE49-F238E27FC236}">
                <a16:creationId xmlns:a16="http://schemas.microsoft.com/office/drawing/2014/main" id="{CE69CF59-3B03-4506-8F07-833CD0428A51}"/>
              </a:ext>
            </a:extLst>
          </p:cNvPr>
          <p:cNvSpPr/>
          <p:nvPr/>
        </p:nvSpPr>
        <p:spPr>
          <a:xfrm>
            <a:off x="10542588" y="3140075"/>
            <a:ext cx="925512" cy="796925"/>
          </a:xfrm>
          <a:prstGeom prst="ellipse">
            <a:avLst/>
          </a:prstGeom>
          <a:noFill/>
          <a:ln w="31750">
            <a:solidFill>
              <a:srgbClr val="0000CC"/>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6" name="组合 15">
            <a:extLst>
              <a:ext uri="{FF2B5EF4-FFF2-40B4-BE49-F238E27FC236}">
                <a16:creationId xmlns:a16="http://schemas.microsoft.com/office/drawing/2014/main" id="{E942A10E-9C57-4A61-8516-21D3CB2E9EFA}"/>
              </a:ext>
            </a:extLst>
          </p:cNvPr>
          <p:cNvGrpSpPr/>
          <p:nvPr/>
        </p:nvGrpSpPr>
        <p:grpSpPr>
          <a:xfrm>
            <a:off x="0" y="293282"/>
            <a:ext cx="13161246" cy="7421968"/>
            <a:chOff x="0" y="293282"/>
            <a:chExt cx="13161246" cy="7421968"/>
          </a:xfrm>
        </p:grpSpPr>
        <p:sp>
          <p:nvSpPr>
            <p:cNvPr id="17" name="文本框 60">
              <a:extLst>
                <a:ext uri="{FF2B5EF4-FFF2-40B4-BE49-F238E27FC236}">
                  <a16:creationId xmlns:a16="http://schemas.microsoft.com/office/drawing/2014/main" id="{6828ADAC-BB37-4DFA-A401-CBDC78224C6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8" name="矩形 17">
              <a:extLst>
                <a:ext uri="{FF2B5EF4-FFF2-40B4-BE49-F238E27FC236}">
                  <a16:creationId xmlns:a16="http://schemas.microsoft.com/office/drawing/2014/main" id="{DAF6DBA0-137B-45C8-B835-7BDCF34B4E01}"/>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id="{42E113AB-4517-42EC-938C-379330BE602D}"/>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03BBF0A4-440B-4763-8667-0863B6321BA1}"/>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a16="http://schemas.microsoft.com/office/drawing/2014/main" id="{AEE38190-FD9E-4EF6-88FF-E8AFE69CF77B}"/>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EFBD7300-ADAE-47A4-AE20-8FDAD46EDCA6}"/>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a16="http://schemas.microsoft.com/office/drawing/2014/main" id="{F37465DA-7540-4A44-8433-189683937F8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Horizontal)">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heel(1)">
                                      <p:cBhvr>
                                        <p:cTn id="25" dur="2000"/>
                                        <p:tgtEl>
                                          <p:spTgt spid="1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heel(1)">
                                      <p:cBhvr>
                                        <p:cTn id="30" dur="2000"/>
                                        <p:tgtEl>
                                          <p:spTgt spid="1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2">
            <a:extLst>
              <a:ext uri="{FF2B5EF4-FFF2-40B4-BE49-F238E27FC236}">
                <a16:creationId xmlns:a16="http://schemas.microsoft.com/office/drawing/2014/main" id="{298DAD72-D511-427F-A1C8-38B764920F38}"/>
              </a:ext>
            </a:extLst>
          </p:cNvPr>
          <p:cNvSpPr txBox="1">
            <a:spLocks noChangeArrowheads="1"/>
          </p:cNvSpPr>
          <p:nvPr/>
        </p:nvSpPr>
        <p:spPr bwMode="auto">
          <a:xfrm>
            <a:off x="715963" y="1943100"/>
            <a:ext cx="52593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b="1">
                <a:solidFill>
                  <a:srgbClr val="0000CC"/>
                </a:solidFill>
                <a:latin typeface="微软雅黑" panose="020B0503020204020204" pitchFamily="34" charset="-122"/>
                <a:ea typeface="微软雅黑" panose="020B0503020204020204" pitchFamily="34" charset="-122"/>
              </a:rPr>
              <a:t>(1) </a:t>
            </a:r>
            <a:r>
              <a:rPr lang="zh-CN" altLang="en-US" sz="3200" b="1">
                <a:solidFill>
                  <a:srgbClr val="0000CC"/>
                </a:solidFill>
                <a:latin typeface="微软雅黑" panose="020B0503020204020204" pitchFamily="34" charset="-122"/>
                <a:ea typeface="微软雅黑" panose="020B0503020204020204" pitchFamily="34" charset="-122"/>
              </a:rPr>
              <a:t>直流模式线性输出方法</a:t>
            </a:r>
          </a:p>
        </p:txBody>
      </p:sp>
      <p:sp>
        <p:nvSpPr>
          <p:cNvPr id="11" name="TextBox 10">
            <a:extLst>
              <a:ext uri="{FF2B5EF4-FFF2-40B4-BE49-F238E27FC236}">
                <a16:creationId xmlns:a16="http://schemas.microsoft.com/office/drawing/2014/main" id="{09F2B122-636E-48B6-93E0-4AB20A3CC907}"/>
              </a:ext>
            </a:extLst>
          </p:cNvPr>
          <p:cNvSpPr txBox="1">
            <a:spLocks noChangeArrowheads="1"/>
          </p:cNvSpPr>
          <p:nvPr/>
        </p:nvSpPr>
        <p:spPr bwMode="auto">
          <a:xfrm>
            <a:off x="587375" y="6126163"/>
            <a:ext cx="12406313"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800" b="1">
                <a:latin typeface="微软雅黑" panose="020B0503020204020204" pitchFamily="34" charset="-122"/>
                <a:ea typeface="微软雅黑" panose="020B0503020204020204" pitchFamily="34" charset="-122"/>
              </a:rPr>
              <a:t>    </a:t>
            </a:r>
            <a:r>
              <a:rPr lang="zh-CN" altLang="en-US" sz="2800" b="1">
                <a:latin typeface="微软雅黑" panose="020B0503020204020204" pitchFamily="34" charset="-122"/>
                <a:ea typeface="微软雅黑" panose="020B0503020204020204" pitchFamily="34" charset="-122"/>
              </a:rPr>
              <a:t>分压电阻上的分压由于阳极和倍增极电流导致了各电极间电压分布的不均匀。</a:t>
            </a:r>
          </a:p>
        </p:txBody>
      </p:sp>
      <p:graphicFrame>
        <p:nvGraphicFramePr>
          <p:cNvPr id="12" name="Object 8">
            <a:extLst>
              <a:ext uri="{FF2B5EF4-FFF2-40B4-BE49-F238E27FC236}">
                <a16:creationId xmlns:a16="http://schemas.microsoft.com/office/drawing/2014/main" id="{9613A03E-7E0D-46A5-BCEB-2A215B3D43C1}"/>
              </a:ext>
            </a:extLst>
          </p:cNvPr>
          <p:cNvGraphicFramePr>
            <a:graphicFrameLocks noChangeAspect="1"/>
          </p:cNvGraphicFramePr>
          <p:nvPr/>
        </p:nvGraphicFramePr>
        <p:xfrm>
          <a:off x="1811338" y="2681288"/>
          <a:ext cx="6229350" cy="3290887"/>
        </p:xfrm>
        <a:graphic>
          <a:graphicData uri="http://schemas.openxmlformats.org/presentationml/2006/ole">
            <mc:AlternateContent xmlns:mc="http://schemas.openxmlformats.org/markup-compatibility/2006">
              <mc:Choice xmlns:v="urn:schemas-microsoft-com:vml" Requires="v">
                <p:oleObj spid="_x0000_s7186" name="Visio" r:id="rId3" imgW="2590859" imgH="1371717" progId="Visio.Drawing.11">
                  <p:embed/>
                </p:oleObj>
              </mc:Choice>
              <mc:Fallback>
                <p:oleObj name="Visio" r:id="rId3" imgW="2590859" imgH="1371717" progId="Visio.Drawing.11">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1338" y="2681288"/>
                        <a:ext cx="6229350" cy="3290887"/>
                      </a:xfrm>
                      <a:prstGeom prst="rect">
                        <a:avLst/>
                      </a:prstGeom>
                      <a:solidFill>
                        <a:srgbClr val="FFF2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9">
            <a:extLst>
              <a:ext uri="{FF2B5EF4-FFF2-40B4-BE49-F238E27FC236}">
                <a16:creationId xmlns:a16="http://schemas.microsoft.com/office/drawing/2014/main" id="{F958D026-8E97-4DD5-B322-1D14CDD7FED3}"/>
              </a:ext>
            </a:extLst>
          </p:cNvPr>
          <p:cNvGraphicFramePr>
            <a:graphicFrameLocks noChangeAspect="1"/>
          </p:cNvGraphicFramePr>
          <p:nvPr/>
        </p:nvGraphicFramePr>
        <p:xfrm>
          <a:off x="8885238" y="3181350"/>
          <a:ext cx="2676525" cy="790575"/>
        </p:xfrm>
        <a:graphic>
          <a:graphicData uri="http://schemas.openxmlformats.org/presentationml/2006/ole">
            <mc:AlternateContent xmlns:mc="http://schemas.openxmlformats.org/markup-compatibility/2006">
              <mc:Choice xmlns:v="urn:schemas-microsoft-com:vml" Requires="v">
                <p:oleObj spid="_x0000_s7187" name="公式" r:id="rId5" imgW="774364" imgH="228501" progId="Equation.3">
                  <p:embed/>
                </p:oleObj>
              </mc:Choice>
              <mc:Fallback>
                <p:oleObj name="公式" r:id="rId5" imgW="774364" imgH="228501"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85238" y="3181350"/>
                        <a:ext cx="2676525" cy="79057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0">
            <a:extLst>
              <a:ext uri="{FF2B5EF4-FFF2-40B4-BE49-F238E27FC236}">
                <a16:creationId xmlns:a16="http://schemas.microsoft.com/office/drawing/2014/main" id="{7D7966A0-2458-40F4-88B4-EB63DF7CC81D}"/>
              </a:ext>
            </a:extLst>
          </p:cNvPr>
          <p:cNvGraphicFramePr>
            <a:graphicFrameLocks noChangeAspect="1"/>
          </p:cNvGraphicFramePr>
          <p:nvPr/>
        </p:nvGraphicFramePr>
        <p:xfrm>
          <a:off x="8885238" y="5019675"/>
          <a:ext cx="1889125" cy="914400"/>
        </p:xfrm>
        <a:graphic>
          <a:graphicData uri="http://schemas.openxmlformats.org/presentationml/2006/ole">
            <mc:AlternateContent xmlns:mc="http://schemas.openxmlformats.org/markup-compatibility/2006">
              <mc:Choice xmlns:v="urn:schemas-microsoft-com:vml" Requires="v">
                <p:oleObj spid="_x0000_s7188" name="公式" r:id="rId7" imgW="812447" imgH="393529" progId="Equation.3">
                  <p:embed/>
                </p:oleObj>
              </mc:Choice>
              <mc:Fallback>
                <p:oleObj name="公式" r:id="rId7" imgW="812447" imgH="393529"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85238" y="5019675"/>
                        <a:ext cx="1889125" cy="914400"/>
                      </a:xfrm>
                      <a:prstGeom prst="rect">
                        <a:avLst/>
                      </a:prstGeom>
                      <a:solidFill>
                        <a:srgbClr val="99CC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Text Box 7">
            <a:extLst>
              <a:ext uri="{FF2B5EF4-FFF2-40B4-BE49-F238E27FC236}">
                <a16:creationId xmlns:a16="http://schemas.microsoft.com/office/drawing/2014/main" id="{4A97A460-19DC-4286-85BF-B1185160FC6C}"/>
              </a:ext>
            </a:extLst>
          </p:cNvPr>
          <p:cNvSpPr txBox="1">
            <a:spLocks noChangeArrowheads="1"/>
          </p:cNvSpPr>
          <p:nvPr/>
        </p:nvSpPr>
        <p:spPr bwMode="auto">
          <a:xfrm>
            <a:off x="4208463" y="1014413"/>
            <a:ext cx="4551362" cy="682625"/>
          </a:xfrm>
          <a:prstGeom prst="rect">
            <a:avLst/>
          </a:prstGeom>
          <a:solidFill>
            <a:schemeClr val="accent1">
              <a:lumMod val="20000"/>
              <a:lumOff val="80000"/>
            </a:schemeClr>
          </a:solidFill>
          <a:ln w="38100">
            <a:noFill/>
            <a:miter lim="800000"/>
            <a:headEnd/>
            <a:tailEnd/>
          </a:ln>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defRPr/>
            </a:pPr>
            <a:r>
              <a:rPr kumimoji="1" lang="en-US" altLang="zh-CN" sz="2800" b="1" dirty="0">
                <a:solidFill>
                  <a:srgbClr val="FF0000"/>
                </a:solidFill>
                <a:latin typeface="微软雅黑" panose="020B0503020204020204" pitchFamily="34" charset="-122"/>
                <a:ea typeface="微软雅黑" panose="020B0503020204020204" pitchFamily="34" charset="-122"/>
              </a:rPr>
              <a:t> 3. </a:t>
            </a:r>
            <a:r>
              <a:rPr kumimoji="1" lang="zh-CN" altLang="en-US" sz="3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分压电流和线性输出</a:t>
            </a:r>
          </a:p>
        </p:txBody>
      </p:sp>
      <p:sp>
        <p:nvSpPr>
          <p:cNvPr id="16" name="椭圆 15">
            <a:extLst>
              <a:ext uri="{FF2B5EF4-FFF2-40B4-BE49-F238E27FC236}">
                <a16:creationId xmlns:a16="http://schemas.microsoft.com/office/drawing/2014/main" id="{69CED257-CEBA-4C8C-9EBF-3E6643A3A725}"/>
              </a:ext>
            </a:extLst>
          </p:cNvPr>
          <p:cNvSpPr/>
          <p:nvPr/>
        </p:nvSpPr>
        <p:spPr>
          <a:xfrm>
            <a:off x="6707188" y="4695825"/>
            <a:ext cx="788987" cy="447675"/>
          </a:xfrm>
          <a:prstGeom prst="ellipse">
            <a:avLst/>
          </a:prstGeom>
          <a:noFill/>
          <a:ln w="317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椭圆 16">
            <a:extLst>
              <a:ext uri="{FF2B5EF4-FFF2-40B4-BE49-F238E27FC236}">
                <a16:creationId xmlns:a16="http://schemas.microsoft.com/office/drawing/2014/main" id="{DE3355B4-C8B0-4C24-B97A-B63B09EB3A5E}"/>
              </a:ext>
            </a:extLst>
          </p:cNvPr>
          <p:cNvSpPr/>
          <p:nvPr/>
        </p:nvSpPr>
        <p:spPr>
          <a:xfrm>
            <a:off x="5975350" y="4668838"/>
            <a:ext cx="788988" cy="460375"/>
          </a:xfrm>
          <a:prstGeom prst="ellipse">
            <a:avLst/>
          </a:prstGeom>
          <a:noFill/>
          <a:ln w="38100">
            <a:solidFill>
              <a:srgbClr val="008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3" name="直接箭头连接符 2">
            <a:extLst>
              <a:ext uri="{FF2B5EF4-FFF2-40B4-BE49-F238E27FC236}">
                <a16:creationId xmlns:a16="http://schemas.microsoft.com/office/drawing/2014/main" id="{4748B065-D357-447F-BD6C-E35B106EB0C5}"/>
              </a:ext>
            </a:extLst>
          </p:cNvPr>
          <p:cNvCxnSpPr/>
          <p:nvPr/>
        </p:nvCxnSpPr>
        <p:spPr>
          <a:xfrm flipH="1">
            <a:off x="7240588" y="3576638"/>
            <a:ext cx="1644650" cy="1228725"/>
          </a:xfrm>
          <a:prstGeom prst="straightConnector1">
            <a:avLst/>
          </a:prstGeom>
          <a:ln w="38100">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C126BC2D-0AC7-48EC-8485-AF082557A92B}"/>
              </a:ext>
            </a:extLst>
          </p:cNvPr>
          <p:cNvCxnSpPr/>
          <p:nvPr/>
        </p:nvCxnSpPr>
        <p:spPr>
          <a:xfrm flipH="1" flipV="1">
            <a:off x="6613525" y="4956175"/>
            <a:ext cx="2271713" cy="5207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8" name="组合 17">
            <a:extLst>
              <a:ext uri="{FF2B5EF4-FFF2-40B4-BE49-F238E27FC236}">
                <a16:creationId xmlns:a16="http://schemas.microsoft.com/office/drawing/2014/main" id="{CBE619F7-6115-4BD6-BBC3-24E76DBDE699}"/>
              </a:ext>
            </a:extLst>
          </p:cNvPr>
          <p:cNvGrpSpPr/>
          <p:nvPr/>
        </p:nvGrpSpPr>
        <p:grpSpPr>
          <a:xfrm>
            <a:off x="0" y="293282"/>
            <a:ext cx="13161246" cy="7421968"/>
            <a:chOff x="0" y="293282"/>
            <a:chExt cx="13161246" cy="7421968"/>
          </a:xfrm>
        </p:grpSpPr>
        <p:sp>
          <p:nvSpPr>
            <p:cNvPr id="19" name="文本框 60">
              <a:extLst>
                <a:ext uri="{FF2B5EF4-FFF2-40B4-BE49-F238E27FC236}">
                  <a16:creationId xmlns:a16="http://schemas.microsoft.com/office/drawing/2014/main" id="{CCE14929-888A-4C29-8F70-4E8D6F236C47}"/>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20" name="矩形 19">
              <a:extLst>
                <a:ext uri="{FF2B5EF4-FFF2-40B4-BE49-F238E27FC236}">
                  <a16:creationId xmlns:a16="http://schemas.microsoft.com/office/drawing/2014/main" id="{3DBD2184-0ED3-4B62-A2BE-A9BDEEF45126}"/>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2" name="矩形 21">
              <a:extLst>
                <a:ext uri="{FF2B5EF4-FFF2-40B4-BE49-F238E27FC236}">
                  <a16:creationId xmlns:a16="http://schemas.microsoft.com/office/drawing/2014/main" id="{383667CC-948F-4FF1-BFE3-49569267496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0CAF03B7-5A48-49A8-AC6C-34C1152C070E}"/>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4" name="直接连接符 58">
              <a:extLst>
                <a:ext uri="{FF2B5EF4-FFF2-40B4-BE49-F238E27FC236}">
                  <a16:creationId xmlns:a16="http://schemas.microsoft.com/office/drawing/2014/main" id="{D91B54E9-9AF8-4468-A73E-7E27D2761952}"/>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D13D4632-901D-46F1-9BDC-F2255D0B5062}"/>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6" name="矩形 25">
              <a:extLst>
                <a:ext uri="{FF2B5EF4-FFF2-40B4-BE49-F238E27FC236}">
                  <a16:creationId xmlns:a16="http://schemas.microsoft.com/office/drawing/2014/main" id="{4097E936-7815-4489-A827-6BDC8AE67C4B}"/>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in)">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inHorizontal)">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heel(1)">
                                      <p:cBhvr>
                                        <p:cTn id="22" dur="2000"/>
                                        <p:tgtEl>
                                          <p:spTgt spid="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6"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arn(inHorizontal)">
                                      <p:cBhvr>
                                        <p:cTn id="27" dur="500"/>
                                        <p:tgtEl>
                                          <p:spTgt spid="1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1" presetClass="entr" presetSubtype="1"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heel(1)">
                                      <p:cBhvr>
                                        <p:cTn id="32" dur="20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heel(1)">
                                      <p:cBhvr>
                                        <p:cTn id="37" dur="2000"/>
                                        <p:tgtEl>
                                          <p:spTgt spid="1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26"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arn(inHorizontal)">
                                      <p:cBhvr>
                                        <p:cTn id="42" dur="500"/>
                                        <p:tgtEl>
                                          <p:spTgt spid="1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1" presetClass="entr" presetSubtype="1"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heel(1)">
                                      <p:cBhvr>
                                        <p:cTn id="47" dur="2000"/>
                                        <p:tgtEl>
                                          <p:spTgt spid="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5" grpId="0" animBg="1"/>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3">
            <a:extLst>
              <a:ext uri="{FF2B5EF4-FFF2-40B4-BE49-F238E27FC236}">
                <a16:creationId xmlns:a16="http://schemas.microsoft.com/office/drawing/2014/main" id="{A8DBC339-5FE8-42D4-8213-DB2351E51525}"/>
              </a:ext>
            </a:extLst>
          </p:cNvPr>
          <p:cNvGraphicFramePr>
            <a:graphicFrameLocks noChangeAspect="1"/>
          </p:cNvGraphicFramePr>
          <p:nvPr/>
        </p:nvGraphicFramePr>
        <p:xfrm>
          <a:off x="1409700" y="768350"/>
          <a:ext cx="4303713" cy="4089400"/>
        </p:xfrm>
        <a:graphic>
          <a:graphicData uri="http://schemas.openxmlformats.org/presentationml/2006/ole">
            <mc:AlternateContent xmlns:mc="http://schemas.openxmlformats.org/markup-compatibility/2006">
              <mc:Choice xmlns:v="urn:schemas-microsoft-com:vml" Requires="v">
                <p:oleObj spid="_x0000_s8206" name="Visio" r:id="rId3" imgW="2235708" imgH="2119551" progId="Visio.Drawing.11">
                  <p:embed/>
                </p:oleObj>
              </mc:Choice>
              <mc:Fallback>
                <p:oleObj name="Visio" r:id="rId3" imgW="2235708" imgH="2119551"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9700" y="768350"/>
                        <a:ext cx="4303713" cy="408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7">
            <a:extLst>
              <a:ext uri="{FF2B5EF4-FFF2-40B4-BE49-F238E27FC236}">
                <a16:creationId xmlns:a16="http://schemas.microsoft.com/office/drawing/2014/main" id="{B9645481-AF00-4733-A7E5-990099AE3F52}"/>
              </a:ext>
            </a:extLst>
          </p:cNvPr>
          <p:cNvSpPr txBox="1">
            <a:spLocks noChangeArrowheads="1"/>
          </p:cNvSpPr>
          <p:nvPr/>
        </p:nvSpPr>
        <p:spPr bwMode="auto">
          <a:xfrm>
            <a:off x="612775" y="5091113"/>
            <a:ext cx="609917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457200" indent="-4572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Wingdings" panose="05000000000000000000" pitchFamily="2" charset="2"/>
              <a:buChar char="l"/>
            </a:pPr>
            <a:r>
              <a:rPr lang="zh-CN" altLang="en-US" sz="2800" b="1">
                <a:latin typeface="微软雅黑" panose="020B0503020204020204" pitchFamily="34" charset="-122"/>
                <a:ea typeface="微软雅黑" panose="020B0503020204020204" pitchFamily="34" charset="-122"/>
              </a:rPr>
              <a:t>阳极和后几级倍增极间的电压减小</a:t>
            </a:r>
          </a:p>
        </p:txBody>
      </p:sp>
      <p:sp>
        <p:nvSpPr>
          <p:cNvPr id="10" name="TextBox 8">
            <a:extLst>
              <a:ext uri="{FF2B5EF4-FFF2-40B4-BE49-F238E27FC236}">
                <a16:creationId xmlns:a16="http://schemas.microsoft.com/office/drawing/2014/main" id="{BFB95CA1-7FA6-4029-A454-EFDB02DC4282}"/>
              </a:ext>
            </a:extLst>
          </p:cNvPr>
          <p:cNvSpPr txBox="1">
            <a:spLocks noChangeArrowheads="1"/>
          </p:cNvSpPr>
          <p:nvPr/>
        </p:nvSpPr>
        <p:spPr bwMode="auto">
          <a:xfrm>
            <a:off x="612775" y="6032500"/>
            <a:ext cx="61722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457200" indent="-4572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Wingdings" panose="05000000000000000000" pitchFamily="2" charset="2"/>
              <a:buChar char="l"/>
            </a:pPr>
            <a:r>
              <a:rPr lang="zh-CN" altLang="en-US" sz="2800" b="1">
                <a:latin typeface="微软雅黑" panose="020B0503020204020204" pitchFamily="34" charset="-122"/>
                <a:ea typeface="微软雅黑" panose="020B0503020204020204" pitchFamily="34" charset="-122"/>
              </a:rPr>
              <a:t>阴极和前几级倍增极间的电压增加</a:t>
            </a:r>
          </a:p>
        </p:txBody>
      </p:sp>
      <p:graphicFrame>
        <p:nvGraphicFramePr>
          <p:cNvPr id="11" name="Object 2">
            <a:extLst>
              <a:ext uri="{FF2B5EF4-FFF2-40B4-BE49-F238E27FC236}">
                <a16:creationId xmlns:a16="http://schemas.microsoft.com/office/drawing/2014/main" id="{28EDC585-EA66-4FA3-964E-AE9105CADB1D}"/>
              </a:ext>
            </a:extLst>
          </p:cNvPr>
          <p:cNvGraphicFramePr>
            <a:graphicFrameLocks noChangeAspect="1"/>
          </p:cNvGraphicFramePr>
          <p:nvPr/>
        </p:nvGraphicFramePr>
        <p:xfrm>
          <a:off x="7434263" y="768350"/>
          <a:ext cx="4359275" cy="4143375"/>
        </p:xfrm>
        <a:graphic>
          <a:graphicData uri="http://schemas.openxmlformats.org/presentationml/2006/ole">
            <mc:AlternateContent xmlns:mc="http://schemas.openxmlformats.org/markup-compatibility/2006">
              <mc:Choice xmlns:v="urn:schemas-microsoft-com:vml" Requires="v">
                <p:oleObj spid="_x0000_s8207" name="Visio" r:id="rId5" imgW="2247915" imgH="2133587" progId="Visio.Drawing.11">
                  <p:embed/>
                </p:oleObj>
              </mc:Choice>
              <mc:Fallback>
                <p:oleObj name="Visio" r:id="rId5" imgW="2247915" imgH="2133587" progId="Visio.Drawing.11">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34263" y="768350"/>
                        <a:ext cx="4359275"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Box 8">
            <a:extLst>
              <a:ext uri="{FF2B5EF4-FFF2-40B4-BE49-F238E27FC236}">
                <a16:creationId xmlns:a16="http://schemas.microsoft.com/office/drawing/2014/main" id="{44A7BCBD-A373-426F-9C9E-F203171A39F6}"/>
              </a:ext>
            </a:extLst>
          </p:cNvPr>
          <p:cNvSpPr txBox="1">
            <a:spLocks noChangeArrowheads="1"/>
          </p:cNvSpPr>
          <p:nvPr/>
        </p:nvSpPr>
        <p:spPr bwMode="auto">
          <a:xfrm>
            <a:off x="7191375" y="4648200"/>
            <a:ext cx="49371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457200" indent="-4572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Wingdings" panose="05000000000000000000" pitchFamily="2" charset="2"/>
              <a:buChar char="u"/>
            </a:pP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前几极电压的增加导致阳极电流的整体增加</a:t>
            </a:r>
            <a:r>
              <a:rPr lang="en-US" altLang="zh-CN" sz="28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8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段</a:t>
            </a:r>
            <a:r>
              <a:rPr lang="en-US" altLang="zh-CN" sz="28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8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TextBox 9">
            <a:extLst>
              <a:ext uri="{FF2B5EF4-FFF2-40B4-BE49-F238E27FC236}">
                <a16:creationId xmlns:a16="http://schemas.microsoft.com/office/drawing/2014/main" id="{4C0D8C76-C741-4EFD-9732-6D47989BEDB0}"/>
              </a:ext>
            </a:extLst>
          </p:cNvPr>
          <p:cNvSpPr txBox="1">
            <a:spLocks noChangeArrowheads="1"/>
          </p:cNvSpPr>
          <p:nvPr/>
        </p:nvSpPr>
        <p:spPr bwMode="auto">
          <a:xfrm>
            <a:off x="7191375" y="5922963"/>
            <a:ext cx="56737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457200" indent="-4572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Wingdings" panose="05000000000000000000" pitchFamily="2" charset="2"/>
              <a:buChar char="u"/>
            </a:pP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阳极电流接近分压电流时，阳极输出电流出现饱和现象。</a:t>
            </a:r>
            <a:r>
              <a:rPr lang="en-US" altLang="zh-CN" sz="28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8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段</a:t>
            </a:r>
            <a:r>
              <a:rPr lang="en-US" altLang="zh-CN" sz="28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8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4" name="组合 13">
            <a:extLst>
              <a:ext uri="{FF2B5EF4-FFF2-40B4-BE49-F238E27FC236}">
                <a16:creationId xmlns:a16="http://schemas.microsoft.com/office/drawing/2014/main" id="{11B8E285-6560-49A0-A062-C6DAD31DA8F8}"/>
              </a:ext>
            </a:extLst>
          </p:cNvPr>
          <p:cNvGrpSpPr/>
          <p:nvPr/>
        </p:nvGrpSpPr>
        <p:grpSpPr>
          <a:xfrm>
            <a:off x="0" y="293282"/>
            <a:ext cx="13161246" cy="7421968"/>
            <a:chOff x="0" y="293282"/>
            <a:chExt cx="13161246" cy="7421968"/>
          </a:xfrm>
        </p:grpSpPr>
        <p:sp>
          <p:nvSpPr>
            <p:cNvPr id="15" name="文本框 60">
              <a:extLst>
                <a:ext uri="{FF2B5EF4-FFF2-40B4-BE49-F238E27FC236}">
                  <a16:creationId xmlns:a16="http://schemas.microsoft.com/office/drawing/2014/main" id="{7E09167A-55C3-4F73-88FD-9A4BAEFA57A8}"/>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6" name="矩形 15">
              <a:extLst>
                <a:ext uri="{FF2B5EF4-FFF2-40B4-BE49-F238E27FC236}">
                  <a16:creationId xmlns:a16="http://schemas.microsoft.com/office/drawing/2014/main" id="{52F3FEA1-E45D-42BB-A6E3-1BFAF4E98D2A}"/>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id="{37D0BF8D-E5F7-4F3F-ACF2-076304C38A9B}"/>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C0767C5F-634F-4CD8-9AA2-BF3A2552F093}"/>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0" name="直接连接符 58">
              <a:extLst>
                <a:ext uri="{FF2B5EF4-FFF2-40B4-BE49-F238E27FC236}">
                  <a16:creationId xmlns:a16="http://schemas.microsoft.com/office/drawing/2014/main" id="{CE1D26E2-FB2A-4FC5-B2CA-20896772FECD}"/>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B38B438A-E4C4-42D4-96F8-E80E3DBB968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2" name="矩形 21">
              <a:extLst>
                <a:ext uri="{FF2B5EF4-FFF2-40B4-BE49-F238E27FC236}">
                  <a16:creationId xmlns:a16="http://schemas.microsoft.com/office/drawing/2014/main" id="{D690D309-3862-4346-987F-FE35DB8FA89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in)">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ox(in)">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ox(in)">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ox(in)">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4">
            <a:extLst>
              <a:ext uri="{FF2B5EF4-FFF2-40B4-BE49-F238E27FC236}">
                <a16:creationId xmlns:a16="http://schemas.microsoft.com/office/drawing/2014/main" id="{AE4865BE-DC38-47FA-B906-72A92294F577}"/>
              </a:ext>
            </a:extLst>
          </p:cNvPr>
          <p:cNvSpPr txBox="1">
            <a:spLocks noChangeArrowheads="1"/>
          </p:cNvSpPr>
          <p:nvPr/>
        </p:nvSpPr>
        <p:spPr bwMode="auto">
          <a:xfrm>
            <a:off x="1630363" y="1751013"/>
            <a:ext cx="10169525"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通常要求流过电阻链的电流最少要比阳极最大电流大</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20</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倍以上</a:t>
            </a:r>
          </a:p>
        </p:txBody>
      </p:sp>
      <p:graphicFrame>
        <p:nvGraphicFramePr>
          <p:cNvPr id="9" name="Object 2">
            <a:extLst>
              <a:ext uri="{FF2B5EF4-FFF2-40B4-BE49-F238E27FC236}">
                <a16:creationId xmlns:a16="http://schemas.microsoft.com/office/drawing/2014/main" id="{DD7AF53F-2DC3-42C0-BD6F-994C4D97D983}"/>
              </a:ext>
            </a:extLst>
          </p:cNvPr>
          <p:cNvGraphicFramePr>
            <a:graphicFrameLocks noChangeAspect="1"/>
          </p:cNvGraphicFramePr>
          <p:nvPr/>
        </p:nvGraphicFramePr>
        <p:xfrm>
          <a:off x="4008438" y="3063875"/>
          <a:ext cx="5162550" cy="939800"/>
        </p:xfrm>
        <a:graphic>
          <a:graphicData uri="http://schemas.openxmlformats.org/presentationml/2006/ole">
            <mc:AlternateContent xmlns:mc="http://schemas.openxmlformats.org/markup-compatibility/2006">
              <mc:Choice xmlns:v="urn:schemas-microsoft-com:vml" Requires="v">
                <p:oleObj spid="_x0000_s9227" name="公式" r:id="rId3" imgW="1257300" imgH="228600" progId="Equation.3">
                  <p:embed/>
                </p:oleObj>
              </mc:Choice>
              <mc:Fallback>
                <p:oleObj name="公式" r:id="rId3" imgW="12573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8438" y="3063875"/>
                        <a:ext cx="5162550" cy="9398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Box 4">
            <a:extLst>
              <a:ext uri="{FF2B5EF4-FFF2-40B4-BE49-F238E27FC236}">
                <a16:creationId xmlns:a16="http://schemas.microsoft.com/office/drawing/2014/main" id="{ACFCAAF6-93C7-4D59-BD25-88AA67C936D7}"/>
              </a:ext>
            </a:extLst>
          </p:cNvPr>
          <p:cNvSpPr txBox="1">
            <a:spLocks noChangeArrowheads="1"/>
          </p:cNvSpPr>
          <p:nvPr/>
        </p:nvSpPr>
        <p:spPr bwMode="auto">
          <a:xfrm>
            <a:off x="1630363" y="4579938"/>
            <a:ext cx="101695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在精密光测量中，为保证输出线性度高于</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，分压电流常为阳极最大电流的</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倍以上。</a:t>
            </a:r>
          </a:p>
        </p:txBody>
      </p:sp>
      <p:grpSp>
        <p:nvGrpSpPr>
          <p:cNvPr id="11" name="组合 10">
            <a:extLst>
              <a:ext uri="{FF2B5EF4-FFF2-40B4-BE49-F238E27FC236}">
                <a16:creationId xmlns:a16="http://schemas.microsoft.com/office/drawing/2014/main" id="{1DD40B95-FFCA-4BF6-8EA5-561AF5CEF195}"/>
              </a:ext>
            </a:extLst>
          </p:cNvPr>
          <p:cNvGrpSpPr/>
          <p:nvPr/>
        </p:nvGrpSpPr>
        <p:grpSpPr>
          <a:xfrm>
            <a:off x="0" y="293282"/>
            <a:ext cx="13161246" cy="7421968"/>
            <a:chOff x="0" y="293282"/>
            <a:chExt cx="13161246" cy="7421968"/>
          </a:xfrm>
        </p:grpSpPr>
        <p:sp>
          <p:nvSpPr>
            <p:cNvPr id="12" name="文本框 60">
              <a:extLst>
                <a:ext uri="{FF2B5EF4-FFF2-40B4-BE49-F238E27FC236}">
                  <a16:creationId xmlns:a16="http://schemas.microsoft.com/office/drawing/2014/main" id="{22F29EC9-9A98-4C40-8CE1-5F6C388A29B2}"/>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3" name="矩形 12">
              <a:extLst>
                <a:ext uri="{FF2B5EF4-FFF2-40B4-BE49-F238E27FC236}">
                  <a16:creationId xmlns:a16="http://schemas.microsoft.com/office/drawing/2014/main" id="{BFD8AF5E-E61B-4E00-916A-0D09E63D11B1}"/>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20597BF5-CAA4-4351-9C82-96FE30D23A4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9A487A07-A442-4406-B2C9-BEEAD2D96FF3}"/>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a16="http://schemas.microsoft.com/office/drawing/2014/main" id="{7D02A96F-EB72-41FB-95B4-931C4171C865}"/>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141FEAB0-D899-48F1-A04E-DE1726C02DDD}"/>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id="{62425D2C-60C5-43DF-B686-F0F4F959F3AB}"/>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in)">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9">
            <a:extLst>
              <a:ext uri="{FF2B5EF4-FFF2-40B4-BE49-F238E27FC236}">
                <a16:creationId xmlns:a16="http://schemas.microsoft.com/office/drawing/2014/main" id="{80B6AF44-C43E-4C5E-9614-32BFC3082A6C}"/>
              </a:ext>
            </a:extLst>
          </p:cNvPr>
          <p:cNvSpPr txBox="1">
            <a:spLocks noChangeArrowheads="1"/>
          </p:cNvSpPr>
          <p:nvPr/>
        </p:nvSpPr>
        <p:spPr bwMode="auto">
          <a:xfrm>
            <a:off x="1789113" y="2147888"/>
            <a:ext cx="3956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增加输出线性度方法：</a:t>
            </a:r>
          </a:p>
        </p:txBody>
      </p:sp>
      <p:sp>
        <p:nvSpPr>
          <p:cNvPr id="9" name="TextBox 10">
            <a:extLst>
              <a:ext uri="{FF2B5EF4-FFF2-40B4-BE49-F238E27FC236}">
                <a16:creationId xmlns:a16="http://schemas.microsoft.com/office/drawing/2014/main" id="{EAD1C5BB-E685-4D58-A1E1-325DDA66FE35}"/>
              </a:ext>
            </a:extLst>
          </p:cNvPr>
          <p:cNvSpPr txBox="1">
            <a:spLocks noChangeArrowheads="1"/>
          </p:cNvSpPr>
          <p:nvPr/>
        </p:nvSpPr>
        <p:spPr bwMode="auto">
          <a:xfrm>
            <a:off x="1735138" y="3214688"/>
            <a:ext cx="496887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Wingdings" panose="05000000000000000000" pitchFamily="2" charset="2"/>
              <a:buChar char="l"/>
            </a:pP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最后几级中增加齐纳二极管</a:t>
            </a:r>
          </a:p>
        </p:txBody>
      </p:sp>
      <p:graphicFrame>
        <p:nvGraphicFramePr>
          <p:cNvPr id="10" name="Object 7">
            <a:extLst>
              <a:ext uri="{FF2B5EF4-FFF2-40B4-BE49-F238E27FC236}">
                <a16:creationId xmlns:a16="http://schemas.microsoft.com/office/drawing/2014/main" id="{C8E1B4E1-399E-4FBF-8AF4-7C2CF0C3CEED}"/>
              </a:ext>
            </a:extLst>
          </p:cNvPr>
          <p:cNvGraphicFramePr>
            <a:graphicFrameLocks noChangeAspect="1"/>
          </p:cNvGraphicFramePr>
          <p:nvPr/>
        </p:nvGraphicFramePr>
        <p:xfrm>
          <a:off x="7288213" y="1563688"/>
          <a:ext cx="3786187" cy="2216150"/>
        </p:xfrm>
        <a:graphic>
          <a:graphicData uri="http://schemas.openxmlformats.org/presentationml/2006/ole">
            <mc:AlternateContent xmlns:mc="http://schemas.openxmlformats.org/markup-compatibility/2006">
              <mc:Choice xmlns:v="urn:schemas-microsoft-com:vml" Requires="v">
                <p:oleObj spid="_x0000_s10253" name="Visio" r:id="rId3" imgW="2620185" imgH="1535763" progId="Visio.Drawing.11">
                  <p:embed/>
                </p:oleObj>
              </mc:Choice>
              <mc:Fallback>
                <p:oleObj name="Visio" r:id="rId3" imgW="2620185" imgH="1535763"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8213" y="1563688"/>
                        <a:ext cx="3786187" cy="22161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Box 12">
            <a:extLst>
              <a:ext uri="{FF2B5EF4-FFF2-40B4-BE49-F238E27FC236}">
                <a16:creationId xmlns:a16="http://schemas.microsoft.com/office/drawing/2014/main" id="{D7026389-F985-4A13-8C46-8D967A7B3C96}"/>
              </a:ext>
            </a:extLst>
          </p:cNvPr>
          <p:cNvSpPr txBox="1">
            <a:spLocks noChangeArrowheads="1"/>
          </p:cNvSpPr>
          <p:nvPr/>
        </p:nvSpPr>
        <p:spPr bwMode="auto">
          <a:xfrm>
            <a:off x="1789113" y="4637088"/>
            <a:ext cx="33337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减小分压电阻</a:t>
            </a:r>
          </a:p>
        </p:txBody>
      </p:sp>
      <p:graphicFrame>
        <p:nvGraphicFramePr>
          <p:cNvPr id="12" name="Object 3">
            <a:extLst>
              <a:ext uri="{FF2B5EF4-FFF2-40B4-BE49-F238E27FC236}">
                <a16:creationId xmlns:a16="http://schemas.microsoft.com/office/drawing/2014/main" id="{0E1EBCD0-48BB-4A2A-B284-AD348497A0E9}"/>
              </a:ext>
            </a:extLst>
          </p:cNvPr>
          <p:cNvGraphicFramePr>
            <a:graphicFrameLocks noChangeAspect="1"/>
          </p:cNvGraphicFramePr>
          <p:nvPr/>
        </p:nvGraphicFramePr>
        <p:xfrm>
          <a:off x="7205663" y="4156075"/>
          <a:ext cx="3951287" cy="2555875"/>
        </p:xfrm>
        <a:graphic>
          <a:graphicData uri="http://schemas.openxmlformats.org/presentationml/2006/ole">
            <mc:AlternateContent xmlns:mc="http://schemas.openxmlformats.org/markup-compatibility/2006">
              <mc:Choice xmlns:v="urn:schemas-microsoft-com:vml" Requires="v">
                <p:oleObj spid="_x0000_s10254" name="Visio" r:id="rId5" imgW="2622756" imgH="1691783" progId="Visio.Drawing.11">
                  <p:embed/>
                </p:oleObj>
              </mc:Choice>
              <mc:Fallback>
                <p:oleObj name="Visio" r:id="rId5" imgW="2622756" imgH="1691783" progId="Visio.Drawing.11">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5663" y="4156075"/>
                        <a:ext cx="3951287" cy="25558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3" name="组合 12">
            <a:extLst>
              <a:ext uri="{FF2B5EF4-FFF2-40B4-BE49-F238E27FC236}">
                <a16:creationId xmlns:a16="http://schemas.microsoft.com/office/drawing/2014/main" id="{83B0E813-2CE4-4B6B-A987-EF03412E3673}"/>
              </a:ext>
            </a:extLst>
          </p:cNvPr>
          <p:cNvGrpSpPr/>
          <p:nvPr/>
        </p:nvGrpSpPr>
        <p:grpSpPr>
          <a:xfrm>
            <a:off x="0" y="293282"/>
            <a:ext cx="13161246" cy="7421968"/>
            <a:chOff x="0" y="293282"/>
            <a:chExt cx="13161246" cy="7421968"/>
          </a:xfrm>
        </p:grpSpPr>
        <p:sp>
          <p:nvSpPr>
            <p:cNvPr id="14" name="文本框 60">
              <a:extLst>
                <a:ext uri="{FF2B5EF4-FFF2-40B4-BE49-F238E27FC236}">
                  <a16:creationId xmlns:a16="http://schemas.microsoft.com/office/drawing/2014/main" id="{5755E06F-9617-407D-969C-1C7A9E6758C3}"/>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5" name="矩形 14">
              <a:extLst>
                <a:ext uri="{FF2B5EF4-FFF2-40B4-BE49-F238E27FC236}">
                  <a16:creationId xmlns:a16="http://schemas.microsoft.com/office/drawing/2014/main" id="{A4504F0D-17A0-41A2-8032-9F82BC3BF010}"/>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7" name="矩形 16">
              <a:extLst>
                <a:ext uri="{FF2B5EF4-FFF2-40B4-BE49-F238E27FC236}">
                  <a16:creationId xmlns:a16="http://schemas.microsoft.com/office/drawing/2014/main" id="{84A36888-AD05-4403-B69C-6D5EE4F88EC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476B1D54-AEA7-4562-A08B-D291D3ADA649}"/>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9" name="直接连接符 58">
              <a:extLst>
                <a:ext uri="{FF2B5EF4-FFF2-40B4-BE49-F238E27FC236}">
                  <a16:creationId xmlns:a16="http://schemas.microsoft.com/office/drawing/2014/main" id="{5BB3C6F1-C847-4EF5-8BB2-C077053F5969}"/>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42B65E00-207C-4102-9F60-4067D8641EED}"/>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20">
              <a:extLst>
                <a:ext uri="{FF2B5EF4-FFF2-40B4-BE49-F238E27FC236}">
                  <a16:creationId xmlns:a16="http://schemas.microsoft.com/office/drawing/2014/main" id="{96B07356-1AF5-4FA3-BCD2-7DCD54DA26A2}"/>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Horizontal)">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ox(in)">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6"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arn(inHorizontal)">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2">
            <a:extLst>
              <a:ext uri="{FF2B5EF4-FFF2-40B4-BE49-F238E27FC236}">
                <a16:creationId xmlns:a16="http://schemas.microsoft.com/office/drawing/2014/main" id="{C51DA171-E804-4ECD-A486-422D198F1850}"/>
              </a:ext>
            </a:extLst>
          </p:cNvPr>
          <p:cNvSpPr txBox="1">
            <a:spLocks noChangeArrowheads="1"/>
          </p:cNvSpPr>
          <p:nvPr/>
        </p:nvSpPr>
        <p:spPr bwMode="auto">
          <a:xfrm>
            <a:off x="4184650" y="1135063"/>
            <a:ext cx="44005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32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脉冲线性输出方法</a:t>
            </a:r>
          </a:p>
        </p:txBody>
      </p:sp>
      <p:graphicFrame>
        <p:nvGraphicFramePr>
          <p:cNvPr id="11" name="Object 4">
            <a:extLst>
              <a:ext uri="{FF2B5EF4-FFF2-40B4-BE49-F238E27FC236}">
                <a16:creationId xmlns:a16="http://schemas.microsoft.com/office/drawing/2014/main" id="{B683F67D-C421-4C13-A01F-982EA7C90353}"/>
              </a:ext>
            </a:extLst>
          </p:cNvPr>
          <p:cNvGraphicFramePr>
            <a:graphicFrameLocks noChangeAspect="1"/>
          </p:cNvGraphicFramePr>
          <p:nvPr/>
        </p:nvGraphicFramePr>
        <p:xfrm>
          <a:off x="7970838" y="1719263"/>
          <a:ext cx="4597400" cy="2132012"/>
        </p:xfrm>
        <a:graphic>
          <a:graphicData uri="http://schemas.openxmlformats.org/presentationml/2006/ole">
            <mc:AlternateContent xmlns:mc="http://schemas.openxmlformats.org/markup-compatibility/2006">
              <mc:Choice xmlns:v="urn:schemas-microsoft-com:vml" Requires="v">
                <p:oleObj spid="_x0000_s11278" name="Visio" r:id="rId3" imgW="3311752" imgH="1534044" progId="Visio.Drawing.11">
                  <p:embed/>
                </p:oleObj>
              </mc:Choice>
              <mc:Fallback>
                <p:oleObj name="Visio" r:id="rId3" imgW="3311752" imgH="1534044"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0838" y="1719263"/>
                        <a:ext cx="4597400" cy="2132012"/>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5">
            <a:extLst>
              <a:ext uri="{FF2B5EF4-FFF2-40B4-BE49-F238E27FC236}">
                <a16:creationId xmlns:a16="http://schemas.microsoft.com/office/drawing/2014/main" id="{8BD1472C-B02C-4FDF-A8AF-5DF11FA96B53}"/>
              </a:ext>
            </a:extLst>
          </p:cNvPr>
          <p:cNvGraphicFramePr>
            <a:graphicFrameLocks noChangeAspect="1"/>
          </p:cNvGraphicFramePr>
          <p:nvPr/>
        </p:nvGraphicFramePr>
        <p:xfrm>
          <a:off x="7970838" y="4446588"/>
          <a:ext cx="4597400" cy="2371725"/>
        </p:xfrm>
        <a:graphic>
          <a:graphicData uri="http://schemas.openxmlformats.org/presentationml/2006/ole">
            <mc:AlternateContent xmlns:mc="http://schemas.openxmlformats.org/markup-compatibility/2006">
              <mc:Choice xmlns:v="urn:schemas-microsoft-com:vml" Requires="v">
                <p:oleObj spid="_x0000_s11279" name="Visio" r:id="rId5" imgW="2709600" imgH="1285600" progId="Visio.Drawing.11">
                  <p:embed/>
                </p:oleObj>
              </mc:Choice>
              <mc:Fallback>
                <p:oleObj name="Visio" r:id="rId5" imgW="2709600" imgH="1285600" progId="Visio.Drawing.11">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70838" y="4446588"/>
                        <a:ext cx="4597400" cy="237172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5">
            <a:extLst>
              <a:ext uri="{FF2B5EF4-FFF2-40B4-BE49-F238E27FC236}">
                <a16:creationId xmlns:a16="http://schemas.microsoft.com/office/drawing/2014/main" id="{08C14882-602B-4DA9-B64F-C1C030A1005F}"/>
              </a:ext>
            </a:extLst>
          </p:cNvPr>
          <p:cNvSpPr txBox="1">
            <a:spLocks noChangeArrowheads="1"/>
          </p:cNvSpPr>
          <p:nvPr/>
        </p:nvSpPr>
        <p:spPr bwMode="auto">
          <a:xfrm>
            <a:off x="8907463" y="3851275"/>
            <a:ext cx="27225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latin typeface="微软雅黑" panose="020B0503020204020204" pitchFamily="34" charset="-122"/>
                <a:ea typeface="微软雅黑" panose="020B0503020204020204" pitchFamily="34" charset="-122"/>
              </a:rPr>
              <a:t>电容串联接法</a:t>
            </a:r>
          </a:p>
        </p:txBody>
      </p:sp>
      <p:sp>
        <p:nvSpPr>
          <p:cNvPr id="14" name="TextBox 6">
            <a:extLst>
              <a:ext uri="{FF2B5EF4-FFF2-40B4-BE49-F238E27FC236}">
                <a16:creationId xmlns:a16="http://schemas.microsoft.com/office/drawing/2014/main" id="{1B0BC91F-71ED-4F18-AE32-21AEFC1AE5F9}"/>
              </a:ext>
            </a:extLst>
          </p:cNvPr>
          <p:cNvSpPr txBox="1">
            <a:spLocks noChangeArrowheads="1"/>
          </p:cNvSpPr>
          <p:nvPr/>
        </p:nvSpPr>
        <p:spPr bwMode="auto">
          <a:xfrm>
            <a:off x="9266238" y="6800850"/>
            <a:ext cx="3098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微软雅黑" panose="020B0503020204020204" pitchFamily="34" charset="-122"/>
                <a:ea typeface="微软雅黑" panose="020B0503020204020204" pitchFamily="34" charset="-122"/>
              </a:rPr>
              <a:t>电容并联接法</a:t>
            </a:r>
          </a:p>
        </p:txBody>
      </p:sp>
      <p:sp>
        <p:nvSpPr>
          <p:cNvPr id="15" name="TextBox 7">
            <a:extLst>
              <a:ext uri="{FF2B5EF4-FFF2-40B4-BE49-F238E27FC236}">
                <a16:creationId xmlns:a16="http://schemas.microsoft.com/office/drawing/2014/main" id="{2D0BFB81-282C-41DA-8D65-7EF75B838D96}"/>
              </a:ext>
            </a:extLst>
          </p:cNvPr>
          <p:cNvSpPr txBox="1">
            <a:spLocks noChangeArrowheads="1"/>
          </p:cNvSpPr>
          <p:nvPr/>
        </p:nvSpPr>
        <p:spPr bwMode="auto">
          <a:xfrm>
            <a:off x="715963" y="2687638"/>
            <a:ext cx="6581775"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en-US" altLang="zh-CN" sz="2800" b="1">
                <a:latin typeface="微软雅黑" panose="020B0503020204020204" pitchFamily="34" charset="-122"/>
                <a:ea typeface="微软雅黑" panose="020B0503020204020204" pitchFamily="34" charset="-122"/>
              </a:rPr>
              <a:t>       </a:t>
            </a:r>
            <a:r>
              <a:rPr lang="zh-CN" altLang="en-US" sz="2800" b="1">
                <a:latin typeface="微软雅黑" panose="020B0503020204020204" pitchFamily="34" charset="-122"/>
                <a:ea typeface="微软雅黑" panose="020B0503020204020204" pitchFamily="34" charset="-122"/>
              </a:rPr>
              <a:t>在脉冲信号持续过程中因</a:t>
            </a:r>
            <a:r>
              <a:rPr lang="zh-CN" altLang="en-US" sz="2800" b="1">
                <a:solidFill>
                  <a:srgbClr val="FF0000"/>
                </a:solidFill>
                <a:latin typeface="微软雅黑" panose="020B0503020204020204" pitchFamily="34" charset="-122"/>
                <a:ea typeface="微软雅黑" panose="020B0503020204020204" pitchFamily="34" charset="-122"/>
              </a:rPr>
              <a:t>电容放电</a:t>
            </a:r>
            <a:r>
              <a:rPr lang="zh-CN" altLang="en-US" sz="2800" b="1">
                <a:latin typeface="微软雅黑" panose="020B0503020204020204" pitchFamily="34" charset="-122"/>
                <a:ea typeface="微软雅黑" panose="020B0503020204020204" pitchFamily="34" charset="-122"/>
              </a:rPr>
              <a:t>而抑制最后一个倍增极和阳极之间电压的减小，以显著改进脉冲输出线性。如果</a:t>
            </a:r>
            <a:r>
              <a:rPr lang="zh-CN" altLang="en-US" sz="2800" b="1">
                <a:solidFill>
                  <a:srgbClr val="FF0000"/>
                </a:solidFill>
                <a:latin typeface="微软雅黑" panose="020B0503020204020204" pitchFamily="34" charset="-122"/>
                <a:ea typeface="微软雅黑" panose="020B0503020204020204" pitchFamily="34" charset="-122"/>
              </a:rPr>
              <a:t>脉冲宽度足够窄</a:t>
            </a:r>
            <a:r>
              <a:rPr lang="zh-CN" altLang="en-US" sz="2800" b="1">
                <a:latin typeface="微软雅黑" panose="020B0503020204020204" pitchFamily="34" charset="-122"/>
                <a:ea typeface="微软雅黑" panose="020B0503020204020204" pitchFamily="34" charset="-122"/>
              </a:rPr>
              <a:t>，以至</a:t>
            </a:r>
            <a:r>
              <a:rPr lang="zh-CN" altLang="en-US" sz="2800" b="1">
                <a:solidFill>
                  <a:srgbClr val="0000CC"/>
                </a:solidFill>
                <a:latin typeface="微软雅黑" panose="020B0503020204020204" pitchFamily="34" charset="-122"/>
                <a:ea typeface="微软雅黑" panose="020B0503020204020204" pitchFamily="34" charset="-122"/>
              </a:rPr>
              <a:t>占空比</a:t>
            </a:r>
            <a:r>
              <a:rPr lang="zh-CN" altLang="en-US" sz="2800" b="1">
                <a:latin typeface="微软雅黑" panose="020B0503020204020204" pitchFamily="34" charset="-122"/>
                <a:ea typeface="微软雅黑" panose="020B0503020204020204" pitchFamily="34" charset="-122"/>
              </a:rPr>
              <a:t>非常小，这个方法可以使输出电流达到饱和水平。</a:t>
            </a:r>
          </a:p>
        </p:txBody>
      </p:sp>
      <p:grpSp>
        <p:nvGrpSpPr>
          <p:cNvPr id="16" name="组合 15">
            <a:extLst>
              <a:ext uri="{FF2B5EF4-FFF2-40B4-BE49-F238E27FC236}">
                <a16:creationId xmlns:a16="http://schemas.microsoft.com/office/drawing/2014/main" id="{5288E05C-506E-4B27-A870-015862A79FC6}"/>
              </a:ext>
            </a:extLst>
          </p:cNvPr>
          <p:cNvGrpSpPr/>
          <p:nvPr/>
        </p:nvGrpSpPr>
        <p:grpSpPr>
          <a:xfrm>
            <a:off x="0" y="293282"/>
            <a:ext cx="13161246" cy="7421968"/>
            <a:chOff x="0" y="293282"/>
            <a:chExt cx="13161246" cy="7421968"/>
          </a:xfrm>
        </p:grpSpPr>
        <p:sp>
          <p:nvSpPr>
            <p:cNvPr id="17" name="文本框 60">
              <a:extLst>
                <a:ext uri="{FF2B5EF4-FFF2-40B4-BE49-F238E27FC236}">
                  <a16:creationId xmlns:a16="http://schemas.microsoft.com/office/drawing/2014/main" id="{5158C65A-A6D3-44EE-AFF7-121F0B74DC06}"/>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8" name="矩形 17">
              <a:extLst>
                <a:ext uri="{FF2B5EF4-FFF2-40B4-BE49-F238E27FC236}">
                  <a16:creationId xmlns:a16="http://schemas.microsoft.com/office/drawing/2014/main" id="{E69FA5EF-C119-4D60-B40A-6AE5F777576B}"/>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id="{22BA5A12-751E-4F63-8B8D-E6A4A3FC5DA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2944838F-3C33-4713-B8BB-2E35468617E1}"/>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a16="http://schemas.microsoft.com/office/drawing/2014/main" id="{3630615E-69DC-4343-A609-94B452F4B4E9}"/>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773B3374-D839-4D97-975F-9A42CCDAB896}"/>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a16="http://schemas.microsoft.com/office/drawing/2014/main" id="{F925247C-E9F9-415D-905E-05570F9ED908}"/>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ox(in)">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ox(in)">
                                      <p:cBhvr>
                                        <p:cTn id="17" dur="500"/>
                                        <p:tgtEl>
                                          <p:spTgt spid="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ox(in)">
                                      <p:cBhvr>
                                        <p:cTn id="22" dur="500"/>
                                        <p:tgtEl>
                                          <p:spTgt spid="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ox(in)">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ox(in)">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2">
            <a:extLst>
              <a:ext uri="{FF2B5EF4-FFF2-40B4-BE49-F238E27FC236}">
                <a16:creationId xmlns:a16="http://schemas.microsoft.com/office/drawing/2014/main" id="{DBD23205-B34B-4DE6-B5DD-616BA374907B}"/>
              </a:ext>
            </a:extLst>
          </p:cNvPr>
          <p:cNvSpPr txBox="1">
            <a:spLocks noChangeArrowheads="1"/>
          </p:cNvSpPr>
          <p:nvPr/>
        </p:nvSpPr>
        <p:spPr bwMode="auto">
          <a:xfrm>
            <a:off x="782638" y="1471613"/>
            <a:ext cx="11707812"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线性调节</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≤±0.1%</a:t>
            </a:r>
          </a:p>
          <a:p>
            <a:pPr eaLnBrk="1" hangingPunct="1">
              <a:lnSpc>
                <a:spcPct val="150000"/>
              </a:lnSpc>
            </a:pP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这是由输入改变引起的输出电压变化百分比。</a:t>
            </a:r>
          </a:p>
        </p:txBody>
      </p:sp>
      <p:sp>
        <p:nvSpPr>
          <p:cNvPr id="10" name="TextBox 4">
            <a:extLst>
              <a:ext uri="{FF2B5EF4-FFF2-40B4-BE49-F238E27FC236}">
                <a16:creationId xmlns:a16="http://schemas.microsoft.com/office/drawing/2014/main" id="{919247EC-E749-47F9-A9D9-C5F97B536BDB}"/>
              </a:ext>
            </a:extLst>
          </p:cNvPr>
          <p:cNvSpPr txBox="1">
            <a:spLocks noChangeArrowheads="1"/>
          </p:cNvSpPr>
          <p:nvPr/>
        </p:nvSpPr>
        <p:spPr bwMode="auto">
          <a:xfrm>
            <a:off x="795338" y="2784475"/>
            <a:ext cx="12079287"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负载调节</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≤±0.2%</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50000"/>
              </a:lnSpc>
            </a:pP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         这是有负载时的最大输出和无负载时的输出之间的不同，表示了输出电压的百分比。</a:t>
            </a:r>
            <a:endParaRPr lang="en-US" altLang="zh-CN" sz="2800"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TextBox 5">
            <a:extLst>
              <a:ext uri="{FF2B5EF4-FFF2-40B4-BE49-F238E27FC236}">
                <a16:creationId xmlns:a16="http://schemas.microsoft.com/office/drawing/2014/main" id="{2714CFC6-418D-433D-B2AB-367564FFBA84}"/>
              </a:ext>
            </a:extLst>
          </p:cNvPr>
          <p:cNvSpPr txBox="1">
            <a:spLocks noChangeArrowheads="1"/>
          </p:cNvSpPr>
          <p:nvPr/>
        </p:nvSpPr>
        <p:spPr bwMode="auto">
          <a:xfrm>
            <a:off x="715963" y="4718050"/>
            <a:ext cx="11360150"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波动噪声</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≤0.05%</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50000"/>
              </a:lnSpc>
            </a:pP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震荡是由高压产生电路的震荡频率所引起的输出震荡（峰值）。</a:t>
            </a:r>
          </a:p>
        </p:txBody>
      </p:sp>
      <p:sp>
        <p:nvSpPr>
          <p:cNvPr id="12" name="TextBox 6">
            <a:extLst>
              <a:ext uri="{FF2B5EF4-FFF2-40B4-BE49-F238E27FC236}">
                <a16:creationId xmlns:a16="http://schemas.microsoft.com/office/drawing/2014/main" id="{8F345381-1672-4CE1-9810-3DE98AFF5ED4}"/>
              </a:ext>
            </a:extLst>
          </p:cNvPr>
          <p:cNvSpPr txBox="1">
            <a:spLocks noChangeArrowheads="1"/>
          </p:cNvSpPr>
          <p:nvPr/>
        </p:nvSpPr>
        <p:spPr bwMode="auto">
          <a:xfrm>
            <a:off x="579438" y="5949950"/>
            <a:ext cx="12511087"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温度特性</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≤±0.01%</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b="1">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50000"/>
              </a:lnSpc>
            </a:pP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这是在最大输出的时候由于工作温度的变化所带来的输出改变（</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 name="Text Box 7">
            <a:extLst>
              <a:ext uri="{FF2B5EF4-FFF2-40B4-BE49-F238E27FC236}">
                <a16:creationId xmlns:a16="http://schemas.microsoft.com/office/drawing/2014/main" id="{A8A04E1E-CE0C-4930-859A-DF009B1340FD}"/>
              </a:ext>
            </a:extLst>
          </p:cNvPr>
          <p:cNvSpPr txBox="1">
            <a:spLocks noChangeArrowheads="1"/>
          </p:cNvSpPr>
          <p:nvPr/>
        </p:nvSpPr>
        <p:spPr bwMode="auto">
          <a:xfrm>
            <a:off x="4997450" y="927100"/>
            <a:ext cx="3201988" cy="633413"/>
          </a:xfrm>
          <a:prstGeom prst="rect">
            <a:avLst/>
          </a:prstGeom>
          <a:solidFill>
            <a:schemeClr val="accent1">
              <a:lumMod val="20000"/>
              <a:lumOff val="80000"/>
            </a:schemeClr>
          </a:solidFill>
          <a:ln w="38100">
            <a:noFill/>
            <a:miter lim="800000"/>
            <a:headEnd/>
            <a:tailEnd/>
          </a:ln>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defRPr/>
            </a:pPr>
            <a:r>
              <a:rPr kumimoji="1" lang="en-US" altLang="zh-CN" sz="2800" b="1" dirty="0">
                <a:solidFill>
                  <a:srgbClr val="FF0000"/>
                </a:solidFill>
                <a:latin typeface="微软雅黑" panose="020B0503020204020204" pitchFamily="34" charset="-122"/>
                <a:ea typeface="微软雅黑" panose="020B0503020204020204" pitchFamily="34" charset="-122"/>
              </a:rPr>
              <a:t> </a:t>
            </a:r>
            <a:r>
              <a:rPr kumimoji="1" lang="en-US" altLang="zh-CN" sz="3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a:t>
            </a:r>
            <a:r>
              <a:rPr kumimoji="1" lang="zh-CN" altLang="en-US" sz="3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高压供电电源</a:t>
            </a:r>
          </a:p>
        </p:txBody>
      </p:sp>
      <p:grpSp>
        <p:nvGrpSpPr>
          <p:cNvPr id="14" name="组合 13">
            <a:extLst>
              <a:ext uri="{FF2B5EF4-FFF2-40B4-BE49-F238E27FC236}">
                <a16:creationId xmlns:a16="http://schemas.microsoft.com/office/drawing/2014/main" id="{1B760378-1765-475E-9BE0-11BE1B3A25BE}"/>
              </a:ext>
            </a:extLst>
          </p:cNvPr>
          <p:cNvGrpSpPr/>
          <p:nvPr/>
        </p:nvGrpSpPr>
        <p:grpSpPr>
          <a:xfrm>
            <a:off x="0" y="293282"/>
            <a:ext cx="13161246" cy="7421968"/>
            <a:chOff x="0" y="293282"/>
            <a:chExt cx="13161246" cy="7421968"/>
          </a:xfrm>
        </p:grpSpPr>
        <p:sp>
          <p:nvSpPr>
            <p:cNvPr id="15" name="文本框 60">
              <a:extLst>
                <a:ext uri="{FF2B5EF4-FFF2-40B4-BE49-F238E27FC236}">
                  <a16:creationId xmlns:a16="http://schemas.microsoft.com/office/drawing/2014/main" id="{A049AAE0-D278-4E76-997F-75C0376725BF}"/>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6" name="矩形 15">
              <a:extLst>
                <a:ext uri="{FF2B5EF4-FFF2-40B4-BE49-F238E27FC236}">
                  <a16:creationId xmlns:a16="http://schemas.microsoft.com/office/drawing/2014/main" id="{E06281E0-9CDB-420E-AF8F-E6A86D8E1EA1}"/>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id="{604B1A43-B224-4190-981D-66B2B43DB7E4}"/>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4F7C8A81-FAF3-4B43-AD05-845B661E175C}"/>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0" name="直接连接符 58">
              <a:extLst>
                <a:ext uri="{FF2B5EF4-FFF2-40B4-BE49-F238E27FC236}">
                  <a16:creationId xmlns:a16="http://schemas.microsoft.com/office/drawing/2014/main" id="{BA329ED8-8F0A-46FC-BC8F-FFE3AE547B54}"/>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944CD3C4-166D-4F07-9880-6691E3ED7FA7}"/>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2" name="矩形 21">
              <a:extLst>
                <a:ext uri="{FF2B5EF4-FFF2-40B4-BE49-F238E27FC236}">
                  <a16:creationId xmlns:a16="http://schemas.microsoft.com/office/drawing/2014/main" id="{45DFBA59-A033-4706-AB32-00A7A4D4D9D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in)">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in)">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ox(in)">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ox(in)">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5D0A65D-0BC2-40F2-A8D6-226FE99BC69D}"/>
              </a:ext>
            </a:extLst>
          </p:cNvPr>
          <p:cNvSpPr txBox="1">
            <a:spLocks noChangeArrowheads="1"/>
          </p:cNvSpPr>
          <p:nvPr/>
        </p:nvSpPr>
        <p:spPr bwMode="auto">
          <a:xfrm>
            <a:off x="4662488" y="996950"/>
            <a:ext cx="45339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40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二、信号输出电路</a:t>
            </a:r>
          </a:p>
        </p:txBody>
      </p:sp>
      <p:sp>
        <p:nvSpPr>
          <p:cNvPr id="9" name="TextBox 8">
            <a:extLst>
              <a:ext uri="{FF2B5EF4-FFF2-40B4-BE49-F238E27FC236}">
                <a16:creationId xmlns:a16="http://schemas.microsoft.com/office/drawing/2014/main" id="{C87A50EF-C60A-469F-A6F7-98BC3A6482DC}"/>
              </a:ext>
            </a:extLst>
          </p:cNvPr>
          <p:cNvSpPr txBox="1">
            <a:spLocks noChangeArrowheads="1"/>
          </p:cNvSpPr>
          <p:nvPr/>
        </p:nvSpPr>
        <p:spPr bwMode="auto">
          <a:xfrm>
            <a:off x="965200" y="1951038"/>
            <a:ext cx="2178050" cy="584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3200"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3200"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输出信号</a:t>
            </a:r>
          </a:p>
        </p:txBody>
      </p:sp>
      <p:sp>
        <p:nvSpPr>
          <p:cNvPr id="10" name="Text Box 6">
            <a:extLst>
              <a:ext uri="{FF2B5EF4-FFF2-40B4-BE49-F238E27FC236}">
                <a16:creationId xmlns:a16="http://schemas.microsoft.com/office/drawing/2014/main" id="{F84322ED-515E-4199-995A-68DC2B463CA8}"/>
              </a:ext>
            </a:extLst>
          </p:cNvPr>
          <p:cNvSpPr txBox="1">
            <a:spLocks noChangeAspect="1" noChangeArrowheads="1"/>
          </p:cNvSpPr>
          <p:nvPr/>
        </p:nvSpPr>
        <p:spPr bwMode="auto">
          <a:xfrm>
            <a:off x="3700463" y="5953125"/>
            <a:ext cx="6810375"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60000"/>
              </a:lnSpc>
            </a:pPr>
            <a:r>
              <a:rPr lang="zh-CN" altLang="en-US" sz="3200" b="1">
                <a:solidFill>
                  <a:srgbClr val="0000CC"/>
                </a:solidFill>
                <a:latin typeface="微软雅黑" panose="020B0503020204020204" pitchFamily="34" charset="-122"/>
                <a:ea typeface="微软雅黑" panose="020B0503020204020204" pitchFamily="34" charset="-122"/>
              </a:rPr>
              <a:t>直流工作环境下</a:t>
            </a:r>
            <a:r>
              <a:rPr lang="zh-CN" altLang="en-US" sz="3200" b="1">
                <a:solidFill>
                  <a:srgbClr val="002060"/>
                </a:solidFill>
                <a:latin typeface="微软雅黑" panose="020B0503020204020204" pitchFamily="34" charset="-122"/>
                <a:ea typeface="微软雅黑" panose="020B0503020204020204" pitchFamily="34" charset="-122"/>
              </a:rPr>
              <a:t>的阳极接地输出电路</a:t>
            </a:r>
            <a:endParaRPr lang="zh-CN" altLang="en-US" sz="3200">
              <a:solidFill>
                <a:srgbClr val="002060"/>
              </a:solidFill>
              <a:latin typeface="微软雅黑" panose="020B0503020204020204" pitchFamily="34" charset="-122"/>
              <a:ea typeface="微软雅黑" panose="020B0503020204020204" pitchFamily="34" charset="-122"/>
            </a:endParaRPr>
          </a:p>
          <a:p>
            <a:pPr eaLnBrk="1" hangingPunct="1"/>
            <a:endParaRPr lang="zh-CN" altLang="zh-CN" sz="3200" b="1">
              <a:solidFill>
                <a:srgbClr val="002060"/>
              </a:solidFill>
              <a:latin typeface="微软雅黑" panose="020B0503020204020204" pitchFamily="34" charset="-122"/>
              <a:ea typeface="微软雅黑" panose="020B0503020204020204" pitchFamily="34" charset="-122"/>
            </a:endParaRPr>
          </a:p>
        </p:txBody>
      </p:sp>
      <p:graphicFrame>
        <p:nvGraphicFramePr>
          <p:cNvPr id="11" name="Object 5">
            <a:extLst>
              <a:ext uri="{FF2B5EF4-FFF2-40B4-BE49-F238E27FC236}">
                <a16:creationId xmlns:a16="http://schemas.microsoft.com/office/drawing/2014/main" id="{D7E2E680-917C-41B4-B39C-27E7416DA635}"/>
              </a:ext>
            </a:extLst>
          </p:cNvPr>
          <p:cNvGraphicFramePr>
            <a:graphicFrameLocks noChangeAspect="1"/>
          </p:cNvGraphicFramePr>
          <p:nvPr/>
        </p:nvGraphicFramePr>
        <p:xfrm>
          <a:off x="3143250" y="2606675"/>
          <a:ext cx="8201025" cy="3286125"/>
        </p:xfrm>
        <a:graphic>
          <a:graphicData uri="http://schemas.openxmlformats.org/presentationml/2006/ole">
            <mc:AlternateContent xmlns:mc="http://schemas.openxmlformats.org/markup-compatibility/2006">
              <mc:Choice xmlns:v="urn:schemas-microsoft-com:vml" Requires="v">
                <p:oleObj spid="_x0000_s13324" name="Visio" r:id="rId3" imgW="3641600" imgH="1519200" progId="Visio.Drawing.11">
                  <p:embed/>
                </p:oleObj>
              </mc:Choice>
              <mc:Fallback>
                <p:oleObj name="Visio" r:id="rId3" imgW="3641600" imgH="1519200"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250" y="2606675"/>
                        <a:ext cx="8201025"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 name="组合 11">
            <a:extLst>
              <a:ext uri="{FF2B5EF4-FFF2-40B4-BE49-F238E27FC236}">
                <a16:creationId xmlns:a16="http://schemas.microsoft.com/office/drawing/2014/main" id="{E66D77CD-ED58-4CD7-A464-D927D54966D8}"/>
              </a:ext>
            </a:extLst>
          </p:cNvPr>
          <p:cNvGrpSpPr/>
          <p:nvPr/>
        </p:nvGrpSpPr>
        <p:grpSpPr>
          <a:xfrm>
            <a:off x="0" y="293282"/>
            <a:ext cx="13161246" cy="7421968"/>
            <a:chOff x="0" y="293282"/>
            <a:chExt cx="13161246" cy="7421968"/>
          </a:xfrm>
        </p:grpSpPr>
        <p:sp>
          <p:nvSpPr>
            <p:cNvPr id="13" name="文本框 60">
              <a:extLst>
                <a:ext uri="{FF2B5EF4-FFF2-40B4-BE49-F238E27FC236}">
                  <a16:creationId xmlns:a16="http://schemas.microsoft.com/office/drawing/2014/main" id="{C22058E1-BF22-4A6B-8947-EFB3FF974ACB}"/>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4" name="矩形 13">
              <a:extLst>
                <a:ext uri="{FF2B5EF4-FFF2-40B4-BE49-F238E27FC236}">
                  <a16:creationId xmlns:a16="http://schemas.microsoft.com/office/drawing/2014/main" id="{ADE952CC-337D-4728-B789-9045A423B9A7}"/>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6" name="矩形 15">
              <a:extLst>
                <a:ext uri="{FF2B5EF4-FFF2-40B4-BE49-F238E27FC236}">
                  <a16:creationId xmlns:a16="http://schemas.microsoft.com/office/drawing/2014/main" id="{90C4F995-8AE7-4BCC-BC92-DE57BFDDDD49}"/>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4F143C16-33F8-4C81-B822-DA1E4A14DDDB}"/>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8" name="直接连接符 58">
              <a:extLst>
                <a:ext uri="{FF2B5EF4-FFF2-40B4-BE49-F238E27FC236}">
                  <a16:creationId xmlns:a16="http://schemas.microsoft.com/office/drawing/2014/main" id="{2892F56F-8DCB-429A-8850-52A7DFC42166}"/>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DC1B873E-FBC8-412D-B167-803470FE2D57}"/>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0" name="矩形 19">
              <a:extLst>
                <a:ext uri="{FF2B5EF4-FFF2-40B4-BE49-F238E27FC236}">
                  <a16:creationId xmlns:a16="http://schemas.microsoft.com/office/drawing/2014/main" id="{93E10DD2-6CB4-46B2-B4B5-D8FCDF34B651}"/>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in)">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ox(in)">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6">
            <a:extLst>
              <a:ext uri="{FF2B5EF4-FFF2-40B4-BE49-F238E27FC236}">
                <a16:creationId xmlns:a16="http://schemas.microsoft.com/office/drawing/2014/main" id="{D8AE3652-9C04-4658-B9DB-0993541BD06A}"/>
              </a:ext>
            </a:extLst>
          </p:cNvPr>
          <p:cNvSpPr txBox="1">
            <a:spLocks noChangeAspect="1" noChangeArrowheads="1"/>
          </p:cNvSpPr>
          <p:nvPr/>
        </p:nvSpPr>
        <p:spPr bwMode="auto">
          <a:xfrm>
            <a:off x="3611563" y="5816600"/>
            <a:ext cx="644525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60000"/>
              </a:lnSpc>
            </a:pPr>
            <a:r>
              <a:rPr lang="zh-CN" altLang="en-US" sz="2800" b="1">
                <a:solidFill>
                  <a:srgbClr val="0000CC"/>
                </a:solidFill>
                <a:latin typeface="微软雅黑" panose="020B0503020204020204" pitchFamily="34" charset="-122"/>
                <a:ea typeface="微软雅黑" panose="020B0503020204020204" pitchFamily="34" charset="-122"/>
              </a:rPr>
              <a:t>脉冲工作环境下</a:t>
            </a:r>
            <a:r>
              <a:rPr lang="zh-CN" altLang="en-US" sz="2800" b="1">
                <a:solidFill>
                  <a:srgbClr val="000066"/>
                </a:solidFill>
                <a:latin typeface="微软雅黑" panose="020B0503020204020204" pitchFamily="34" charset="-122"/>
                <a:ea typeface="微软雅黑" panose="020B0503020204020204" pitchFamily="34" charset="-122"/>
              </a:rPr>
              <a:t>的阳极接地输出电路</a:t>
            </a:r>
            <a:endParaRPr lang="zh-CN" altLang="zh-CN" sz="2800" b="1">
              <a:solidFill>
                <a:srgbClr val="000066"/>
              </a:solidFill>
              <a:latin typeface="微软雅黑" panose="020B0503020204020204" pitchFamily="34" charset="-122"/>
              <a:ea typeface="微软雅黑" panose="020B0503020204020204" pitchFamily="34" charset="-122"/>
            </a:endParaRPr>
          </a:p>
        </p:txBody>
      </p:sp>
      <p:graphicFrame>
        <p:nvGraphicFramePr>
          <p:cNvPr id="9" name="Object 2">
            <a:extLst>
              <a:ext uri="{FF2B5EF4-FFF2-40B4-BE49-F238E27FC236}">
                <a16:creationId xmlns:a16="http://schemas.microsoft.com/office/drawing/2014/main" id="{38699FC4-1BB2-42C4-BE69-E4476C377451}"/>
              </a:ext>
            </a:extLst>
          </p:cNvPr>
          <p:cNvGraphicFramePr>
            <a:graphicFrameLocks noChangeAspect="1"/>
          </p:cNvGraphicFramePr>
          <p:nvPr/>
        </p:nvGraphicFramePr>
        <p:xfrm>
          <a:off x="2454275" y="1693863"/>
          <a:ext cx="8688388" cy="3781425"/>
        </p:xfrm>
        <a:graphic>
          <a:graphicData uri="http://schemas.openxmlformats.org/presentationml/2006/ole">
            <mc:AlternateContent xmlns:mc="http://schemas.openxmlformats.org/markup-compatibility/2006">
              <mc:Choice xmlns:v="urn:schemas-microsoft-com:vml" Requires="v">
                <p:oleObj spid="_x0000_s14346" name="Visio" r:id="rId3" imgW="3715200" imgH="1818400" progId="Visio.Drawing.11">
                  <p:embed/>
                </p:oleObj>
              </mc:Choice>
              <mc:Fallback>
                <p:oleObj name="Visio" r:id="rId3" imgW="3715200" imgH="1818400"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4275" y="1693863"/>
                        <a:ext cx="8688388" cy="37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 name="组合 9">
            <a:extLst>
              <a:ext uri="{FF2B5EF4-FFF2-40B4-BE49-F238E27FC236}">
                <a16:creationId xmlns:a16="http://schemas.microsoft.com/office/drawing/2014/main" id="{EEB51741-D4F3-4651-A574-0DDEA74562F7}"/>
              </a:ext>
            </a:extLst>
          </p:cNvPr>
          <p:cNvGrpSpPr/>
          <p:nvPr/>
        </p:nvGrpSpPr>
        <p:grpSpPr>
          <a:xfrm>
            <a:off x="0" y="293282"/>
            <a:ext cx="13161246" cy="7421968"/>
            <a:chOff x="0" y="293282"/>
            <a:chExt cx="13161246" cy="7421968"/>
          </a:xfrm>
        </p:grpSpPr>
        <p:sp>
          <p:nvSpPr>
            <p:cNvPr id="11" name="文本框 60">
              <a:extLst>
                <a:ext uri="{FF2B5EF4-FFF2-40B4-BE49-F238E27FC236}">
                  <a16:creationId xmlns:a16="http://schemas.microsoft.com/office/drawing/2014/main" id="{77E729C8-F81A-4AB0-8013-0A32DD4570AA}"/>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2" name="矩形 11">
              <a:extLst>
                <a:ext uri="{FF2B5EF4-FFF2-40B4-BE49-F238E27FC236}">
                  <a16:creationId xmlns:a16="http://schemas.microsoft.com/office/drawing/2014/main" id="{66C777E6-231D-469F-93BD-97BE1E9E7B5F}"/>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id="{561108F4-71A4-4749-9717-46B9106EA7F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5638ABC9-2015-417B-A9DA-4F47A2330FF9}"/>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6" name="直接连接符 58">
              <a:extLst>
                <a:ext uri="{FF2B5EF4-FFF2-40B4-BE49-F238E27FC236}">
                  <a16:creationId xmlns:a16="http://schemas.microsoft.com/office/drawing/2014/main" id="{651B009F-C593-4D10-8FC1-372204BC2248}"/>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1907BCB2-9798-4F0E-B630-AC86A61740A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8" name="矩形 17">
              <a:extLst>
                <a:ext uri="{FF2B5EF4-FFF2-40B4-BE49-F238E27FC236}">
                  <a16:creationId xmlns:a16="http://schemas.microsoft.com/office/drawing/2014/main" id="{84625115-C871-4022-A4B6-CAEE7214CF39}"/>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6">
            <a:extLst>
              <a:ext uri="{FF2B5EF4-FFF2-40B4-BE49-F238E27FC236}">
                <a16:creationId xmlns:a16="http://schemas.microsoft.com/office/drawing/2014/main" id="{898FC0C9-699D-4CFC-B42B-67CAD6A5235B}"/>
              </a:ext>
            </a:extLst>
          </p:cNvPr>
          <p:cNvSpPr txBox="1">
            <a:spLocks noChangeAspect="1" noChangeArrowheads="1"/>
          </p:cNvSpPr>
          <p:nvPr/>
        </p:nvSpPr>
        <p:spPr bwMode="auto">
          <a:xfrm>
            <a:off x="3422650" y="5681663"/>
            <a:ext cx="64452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60000"/>
              </a:lnSpc>
            </a:pPr>
            <a:r>
              <a:rPr lang="zh-CN" altLang="en-US" sz="2800" b="1">
                <a:solidFill>
                  <a:srgbClr val="000066"/>
                </a:solidFill>
                <a:latin typeface="微软雅黑" panose="020B0503020204020204" pitchFamily="34" charset="-122"/>
                <a:ea typeface="微软雅黑" panose="020B0503020204020204" pitchFamily="34" charset="-122"/>
              </a:rPr>
              <a:t>脉冲工作环境下的阴极接地输出电路</a:t>
            </a:r>
            <a:endParaRPr lang="zh-CN" altLang="zh-CN" sz="2800" b="1">
              <a:solidFill>
                <a:srgbClr val="000066"/>
              </a:solidFill>
              <a:latin typeface="微软雅黑" panose="020B0503020204020204" pitchFamily="34" charset="-122"/>
              <a:ea typeface="微软雅黑" panose="020B0503020204020204" pitchFamily="34" charset="-122"/>
            </a:endParaRPr>
          </a:p>
        </p:txBody>
      </p:sp>
      <p:graphicFrame>
        <p:nvGraphicFramePr>
          <p:cNvPr id="9" name="Object 2">
            <a:extLst>
              <a:ext uri="{FF2B5EF4-FFF2-40B4-BE49-F238E27FC236}">
                <a16:creationId xmlns:a16="http://schemas.microsoft.com/office/drawing/2014/main" id="{5141ED67-514B-400E-ADA3-BA05E7FD3F68}"/>
              </a:ext>
            </a:extLst>
          </p:cNvPr>
          <p:cNvGraphicFramePr>
            <a:graphicFrameLocks noChangeAspect="1"/>
          </p:cNvGraphicFramePr>
          <p:nvPr/>
        </p:nvGraphicFramePr>
        <p:xfrm>
          <a:off x="2613025" y="1939925"/>
          <a:ext cx="8267700" cy="3338513"/>
        </p:xfrm>
        <a:graphic>
          <a:graphicData uri="http://schemas.openxmlformats.org/presentationml/2006/ole">
            <mc:AlternateContent xmlns:mc="http://schemas.openxmlformats.org/markup-compatibility/2006">
              <mc:Choice xmlns:v="urn:schemas-microsoft-com:vml" Requires="v">
                <p:oleObj spid="_x0000_s15370" name="Visio" r:id="rId3" imgW="4844748" imgH="1718786" progId="Visio.Drawing.11">
                  <p:embed/>
                </p:oleObj>
              </mc:Choice>
              <mc:Fallback>
                <p:oleObj name="Visio" r:id="rId3" imgW="4844748" imgH="1718786"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3025" y="1939925"/>
                        <a:ext cx="8267700" cy="33385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 name="组合 9">
            <a:extLst>
              <a:ext uri="{FF2B5EF4-FFF2-40B4-BE49-F238E27FC236}">
                <a16:creationId xmlns:a16="http://schemas.microsoft.com/office/drawing/2014/main" id="{BD4C6554-4705-4D55-9089-59518FF0D07D}"/>
              </a:ext>
            </a:extLst>
          </p:cNvPr>
          <p:cNvGrpSpPr/>
          <p:nvPr/>
        </p:nvGrpSpPr>
        <p:grpSpPr>
          <a:xfrm>
            <a:off x="0" y="293282"/>
            <a:ext cx="13161246" cy="7421968"/>
            <a:chOff x="0" y="293282"/>
            <a:chExt cx="13161246" cy="7421968"/>
          </a:xfrm>
        </p:grpSpPr>
        <p:sp>
          <p:nvSpPr>
            <p:cNvPr id="11" name="文本框 60">
              <a:extLst>
                <a:ext uri="{FF2B5EF4-FFF2-40B4-BE49-F238E27FC236}">
                  <a16:creationId xmlns:a16="http://schemas.microsoft.com/office/drawing/2014/main" id="{8FEDD98A-08BD-495F-BD24-6BA920382C85}"/>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2" name="矩形 11">
              <a:extLst>
                <a:ext uri="{FF2B5EF4-FFF2-40B4-BE49-F238E27FC236}">
                  <a16:creationId xmlns:a16="http://schemas.microsoft.com/office/drawing/2014/main" id="{CA0D040B-9F47-4657-8FEE-15E1CEA162F9}"/>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id="{A586D745-F7FA-4A46-A7C1-593DA564914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DDDAA8C-BD04-4084-BC6F-3CF5AF881229}"/>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6" name="直接连接符 58">
              <a:extLst>
                <a:ext uri="{FF2B5EF4-FFF2-40B4-BE49-F238E27FC236}">
                  <a16:creationId xmlns:a16="http://schemas.microsoft.com/office/drawing/2014/main" id="{3009DE09-E9FE-4445-A734-7AF3BACC3091}"/>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50737A55-2D25-419E-B922-A724F95F91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8" name="矩形 17">
              <a:extLst>
                <a:ext uri="{FF2B5EF4-FFF2-40B4-BE49-F238E27FC236}">
                  <a16:creationId xmlns:a16="http://schemas.microsoft.com/office/drawing/2014/main" id="{C0D1C1EA-73DB-43B7-B7EE-194524629BFE}"/>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TextBox 1">
            <a:extLst>
              <a:ext uri="{FF2B5EF4-FFF2-40B4-BE49-F238E27FC236}">
                <a16:creationId xmlns:a16="http://schemas.microsoft.com/office/drawing/2014/main" id="{57A6D455-A343-409A-A810-CFF0E069CA2B}"/>
              </a:ext>
            </a:extLst>
          </p:cNvPr>
          <p:cNvSpPr txBox="1">
            <a:spLocks noChangeArrowheads="1"/>
          </p:cNvSpPr>
          <p:nvPr/>
        </p:nvSpPr>
        <p:spPr bwMode="auto">
          <a:xfrm>
            <a:off x="3422650" y="1016000"/>
            <a:ext cx="6534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b="1">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3200" b="1">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光电倍增管输出电流</a:t>
            </a:r>
            <a:r>
              <a:rPr lang="en-US" altLang="zh-CN" sz="3200" b="1">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3200" b="1">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电压转换</a:t>
            </a:r>
          </a:p>
        </p:txBody>
      </p:sp>
      <p:sp>
        <p:nvSpPr>
          <p:cNvPr id="9" name="TextBox 2">
            <a:extLst>
              <a:ext uri="{FF2B5EF4-FFF2-40B4-BE49-F238E27FC236}">
                <a16:creationId xmlns:a16="http://schemas.microsoft.com/office/drawing/2014/main" id="{568CD57B-3F1D-4675-B005-66F621C46F53}"/>
              </a:ext>
            </a:extLst>
          </p:cNvPr>
          <p:cNvSpPr txBox="1">
            <a:spLocks noChangeArrowheads="1"/>
          </p:cNvSpPr>
          <p:nvPr/>
        </p:nvSpPr>
        <p:spPr bwMode="auto">
          <a:xfrm>
            <a:off x="887413" y="2017713"/>
            <a:ext cx="6810375" cy="585787"/>
          </a:xfrm>
          <a:prstGeom prst="rect">
            <a:avLst/>
          </a:prstGeom>
          <a:solidFill>
            <a:schemeClr val="accent1">
              <a:lumMod val="40000"/>
              <a:lumOff val="60000"/>
            </a:schemeClr>
          </a:solidFill>
          <a:ln w="38100">
            <a:noFill/>
            <a:miter lim="800000"/>
            <a:headEnd/>
            <a:tailEnd/>
          </a:ln>
        </p:spPr>
        <p:txBody>
          <a:bodyPr>
            <a:spAutoFit/>
          </a:bodyPr>
          <a:lstStyle/>
          <a:p>
            <a:pPr eaLnBrk="1" hangingPunct="1">
              <a:defRPr/>
            </a:pPr>
            <a:r>
              <a:rPr lang="zh-CN" altLang="en-US" sz="3200" b="1" dirty="0">
                <a:solidFill>
                  <a:srgbClr val="FF0000"/>
                </a:solidFill>
                <a:latin typeface="微软雅黑" pitchFamily="34" charset="-122"/>
                <a:ea typeface="微软雅黑" pitchFamily="34" charset="-122"/>
                <a:cs typeface="Times New Roman" pitchFamily="18" charset="0"/>
              </a:rPr>
              <a:t>（</a:t>
            </a:r>
            <a:r>
              <a:rPr lang="en-US" altLang="zh-CN" sz="3200" b="1" dirty="0">
                <a:solidFill>
                  <a:srgbClr val="FF0000"/>
                </a:solidFill>
                <a:latin typeface="微软雅黑" pitchFamily="34" charset="-122"/>
                <a:ea typeface="微软雅黑" pitchFamily="34" charset="-122"/>
                <a:cs typeface="Times New Roman" pitchFamily="18" charset="0"/>
              </a:rPr>
              <a:t>1</a:t>
            </a:r>
            <a:r>
              <a:rPr lang="zh-CN" altLang="en-US" sz="3200" b="1" dirty="0">
                <a:solidFill>
                  <a:srgbClr val="FF0000"/>
                </a:solidFill>
                <a:latin typeface="微软雅黑" pitchFamily="34" charset="-122"/>
                <a:ea typeface="微软雅黑" pitchFamily="34" charset="-122"/>
                <a:cs typeface="Times New Roman" pitchFamily="18" charset="0"/>
              </a:rPr>
              <a:t>）电流</a:t>
            </a:r>
            <a:r>
              <a:rPr lang="en-US" altLang="zh-CN" sz="3200" b="1" dirty="0">
                <a:solidFill>
                  <a:srgbClr val="FF0000"/>
                </a:solidFill>
                <a:latin typeface="微软雅黑" pitchFamily="34" charset="-122"/>
                <a:ea typeface="微软雅黑" pitchFamily="34" charset="-122"/>
                <a:cs typeface="Times New Roman" pitchFamily="18" charset="0"/>
              </a:rPr>
              <a:t>/</a:t>
            </a:r>
            <a:r>
              <a:rPr lang="zh-CN" altLang="en-US" sz="3200" b="1" dirty="0">
                <a:solidFill>
                  <a:srgbClr val="FF0000"/>
                </a:solidFill>
                <a:latin typeface="微软雅黑" pitchFamily="34" charset="-122"/>
                <a:ea typeface="微软雅黑" pitchFamily="34" charset="-122"/>
                <a:cs typeface="Times New Roman" pitchFamily="18" charset="0"/>
              </a:rPr>
              <a:t>电压转换电路</a:t>
            </a:r>
            <a:r>
              <a:rPr lang="en-US" altLang="zh-CN" sz="3200" b="1" dirty="0">
                <a:solidFill>
                  <a:srgbClr val="FF0000"/>
                </a:solidFill>
                <a:latin typeface="微软雅黑" pitchFamily="34" charset="-122"/>
                <a:ea typeface="微软雅黑" pitchFamily="34" charset="-122"/>
                <a:cs typeface="Times New Roman" pitchFamily="18" charset="0"/>
              </a:rPr>
              <a:t>-</a:t>
            </a:r>
            <a:r>
              <a:rPr lang="zh-CN" altLang="en-US" sz="3200" b="1" u="sng" dirty="0">
                <a:solidFill>
                  <a:srgbClr val="FF0000"/>
                </a:solidFill>
                <a:latin typeface="微软雅黑" pitchFamily="34" charset="-122"/>
                <a:ea typeface="微软雅黑" pitchFamily="34" charset="-122"/>
                <a:cs typeface="Times New Roman" pitchFamily="18" charset="0"/>
              </a:rPr>
              <a:t>负载电阻</a:t>
            </a:r>
          </a:p>
        </p:txBody>
      </p:sp>
      <p:graphicFrame>
        <p:nvGraphicFramePr>
          <p:cNvPr id="17417" name="Object 9">
            <a:extLst>
              <a:ext uri="{FF2B5EF4-FFF2-40B4-BE49-F238E27FC236}">
                <a16:creationId xmlns:a16="http://schemas.microsoft.com/office/drawing/2014/main" id="{789970F4-5D52-4D58-AC84-15028EA0B1CF}"/>
              </a:ext>
            </a:extLst>
          </p:cNvPr>
          <p:cNvGraphicFramePr>
            <a:graphicFrameLocks noChangeAspect="1"/>
          </p:cNvGraphicFramePr>
          <p:nvPr/>
        </p:nvGraphicFramePr>
        <p:xfrm>
          <a:off x="10688638" y="3619500"/>
          <a:ext cx="2292350" cy="868363"/>
        </p:xfrm>
        <a:graphic>
          <a:graphicData uri="http://schemas.openxmlformats.org/presentationml/2006/ole">
            <mc:AlternateContent xmlns:mc="http://schemas.openxmlformats.org/markup-compatibility/2006">
              <mc:Choice xmlns:v="urn:schemas-microsoft-com:vml" Requires="v">
                <p:oleObj spid="_x0000_s16410" name="Equation" r:id="rId3" imgW="850531" imgH="431613" progId="Equation.DSMT4">
                  <p:embed/>
                </p:oleObj>
              </mc:Choice>
              <mc:Fallback>
                <p:oleObj name="Equation" r:id="rId3" imgW="850531" imgH="431613"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88638" y="3619500"/>
                        <a:ext cx="2292350" cy="8683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8" name="TextBox 10">
            <a:extLst>
              <a:ext uri="{FF2B5EF4-FFF2-40B4-BE49-F238E27FC236}">
                <a16:creationId xmlns:a16="http://schemas.microsoft.com/office/drawing/2014/main" id="{DA2E8EE8-760A-4ED6-8554-F219615F1710}"/>
              </a:ext>
            </a:extLst>
          </p:cNvPr>
          <p:cNvSpPr txBox="1">
            <a:spLocks noChangeArrowheads="1"/>
          </p:cNvSpPr>
          <p:nvPr/>
        </p:nvSpPr>
        <p:spPr bwMode="auto">
          <a:xfrm>
            <a:off x="10691813" y="4559300"/>
            <a:ext cx="25479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微软雅黑" panose="020B0503020204020204" pitchFamily="34" charset="-122"/>
                <a:ea typeface="微软雅黑" panose="020B0503020204020204" pitchFamily="34" charset="-122"/>
              </a:rPr>
              <a:t>最高截止频率</a:t>
            </a:r>
          </a:p>
        </p:txBody>
      </p:sp>
      <p:sp>
        <p:nvSpPr>
          <p:cNvPr id="17419" name="TextBox 11">
            <a:extLst>
              <a:ext uri="{FF2B5EF4-FFF2-40B4-BE49-F238E27FC236}">
                <a16:creationId xmlns:a16="http://schemas.microsoft.com/office/drawing/2014/main" id="{09E0613B-5A03-4484-BB59-CFC25A6AC901}"/>
              </a:ext>
            </a:extLst>
          </p:cNvPr>
          <p:cNvSpPr txBox="1">
            <a:spLocks noChangeArrowheads="1"/>
          </p:cNvSpPr>
          <p:nvPr/>
        </p:nvSpPr>
        <p:spPr bwMode="auto">
          <a:xfrm>
            <a:off x="979488" y="5437188"/>
            <a:ext cx="11710987"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b="1">
                <a:latin typeface="微软雅黑" panose="020B0503020204020204" pitchFamily="34" charset="-122"/>
                <a:ea typeface="微软雅黑" panose="020B0503020204020204" pitchFamily="34" charset="-122"/>
              </a:rPr>
              <a:t>尽管光电倍增管和放大器具有快速响应，截止频率是由输出电路来决定的。</a:t>
            </a:r>
          </a:p>
        </p:txBody>
      </p:sp>
      <p:graphicFrame>
        <p:nvGraphicFramePr>
          <p:cNvPr id="17420" name="Object 8">
            <a:extLst>
              <a:ext uri="{FF2B5EF4-FFF2-40B4-BE49-F238E27FC236}">
                <a16:creationId xmlns:a16="http://schemas.microsoft.com/office/drawing/2014/main" id="{10F0786D-289B-4F2A-BBC9-5FF9DA6DC49D}"/>
              </a:ext>
            </a:extLst>
          </p:cNvPr>
          <p:cNvGraphicFramePr>
            <a:graphicFrameLocks noChangeAspect="1"/>
          </p:cNvGraphicFramePr>
          <p:nvPr/>
        </p:nvGraphicFramePr>
        <p:xfrm>
          <a:off x="1176338" y="2792413"/>
          <a:ext cx="7631112" cy="2827337"/>
        </p:xfrm>
        <a:graphic>
          <a:graphicData uri="http://schemas.openxmlformats.org/presentationml/2006/ole">
            <mc:AlternateContent xmlns:mc="http://schemas.openxmlformats.org/markup-compatibility/2006">
              <mc:Choice xmlns:v="urn:schemas-microsoft-com:vml" Requires="v">
                <p:oleObj spid="_x0000_s16411" name="Visio" r:id="rId5" imgW="3838725" imgH="1419114" progId="Visio.Drawing.11">
                  <p:embed/>
                </p:oleObj>
              </mc:Choice>
              <mc:Fallback>
                <p:oleObj name="Visio" r:id="rId5" imgW="3838725" imgH="1419114" progId="Visio.Drawing.11">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6338" y="2792413"/>
                        <a:ext cx="7631112"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椭圆 1">
            <a:extLst>
              <a:ext uri="{FF2B5EF4-FFF2-40B4-BE49-F238E27FC236}">
                <a16:creationId xmlns:a16="http://schemas.microsoft.com/office/drawing/2014/main" id="{826F318E-E27D-4213-BF8F-AB2889EFBC9B}"/>
              </a:ext>
            </a:extLst>
          </p:cNvPr>
          <p:cNvSpPr/>
          <p:nvPr/>
        </p:nvSpPr>
        <p:spPr>
          <a:xfrm>
            <a:off x="5961063" y="3265488"/>
            <a:ext cx="396875" cy="1196975"/>
          </a:xfrm>
          <a:prstGeom prst="ellipse">
            <a:avLst/>
          </a:prstGeom>
          <a:noFill/>
          <a:ln w="31750">
            <a:solidFill>
              <a:srgbClr val="0000C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椭圆 14">
            <a:extLst>
              <a:ext uri="{FF2B5EF4-FFF2-40B4-BE49-F238E27FC236}">
                <a16:creationId xmlns:a16="http://schemas.microsoft.com/office/drawing/2014/main" id="{7D7A8697-7ABD-4A6C-BC79-7AA3CDDE6950}"/>
              </a:ext>
            </a:extLst>
          </p:cNvPr>
          <p:cNvSpPr/>
          <p:nvPr/>
        </p:nvSpPr>
        <p:spPr>
          <a:xfrm>
            <a:off x="6442075" y="3289300"/>
            <a:ext cx="398463" cy="1198563"/>
          </a:xfrm>
          <a:prstGeom prst="ellipse">
            <a:avLst/>
          </a:prstGeom>
          <a:noFill/>
          <a:ln w="317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5" name="组合 4">
            <a:extLst>
              <a:ext uri="{FF2B5EF4-FFF2-40B4-BE49-F238E27FC236}">
                <a16:creationId xmlns:a16="http://schemas.microsoft.com/office/drawing/2014/main" id="{8B70360D-D23F-4EE4-A5ED-8C404A53CE8C}"/>
              </a:ext>
            </a:extLst>
          </p:cNvPr>
          <p:cNvGrpSpPr>
            <a:grpSpLocks/>
          </p:cNvGrpSpPr>
          <p:nvPr/>
        </p:nvGrpSpPr>
        <p:grpSpPr bwMode="auto">
          <a:xfrm>
            <a:off x="8240713" y="2914650"/>
            <a:ext cx="2019300" cy="523875"/>
            <a:chOff x="9165266" y="2390883"/>
            <a:chExt cx="2020186" cy="523220"/>
          </a:xfrm>
        </p:grpSpPr>
        <p:sp>
          <p:nvSpPr>
            <p:cNvPr id="16408" name="文本框 2">
              <a:extLst>
                <a:ext uri="{FF2B5EF4-FFF2-40B4-BE49-F238E27FC236}">
                  <a16:creationId xmlns:a16="http://schemas.microsoft.com/office/drawing/2014/main" id="{046E10D0-00CE-4521-818D-1F2BA7FE469C}"/>
                </a:ext>
              </a:extLst>
            </p:cNvPr>
            <p:cNvSpPr txBox="1">
              <a:spLocks noChangeArrowheads="1"/>
            </p:cNvSpPr>
            <p:nvPr/>
          </p:nvSpPr>
          <p:spPr bwMode="auto">
            <a:xfrm>
              <a:off x="9165266" y="2390883"/>
              <a:ext cx="202018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微软雅黑" panose="020B0503020204020204" pitchFamily="34" charset="-122"/>
                  <a:ea typeface="微软雅黑" panose="020B0503020204020204" pitchFamily="34" charset="-122"/>
                </a:rPr>
                <a:t>负载电阻</a:t>
              </a:r>
            </a:p>
          </p:txBody>
        </p:sp>
        <p:graphicFrame>
          <p:nvGraphicFramePr>
            <p:cNvPr id="16409" name="对象 3">
              <a:extLst>
                <a:ext uri="{FF2B5EF4-FFF2-40B4-BE49-F238E27FC236}">
                  <a16:creationId xmlns:a16="http://schemas.microsoft.com/office/drawing/2014/main" id="{728D1796-278E-45EF-9053-1B1EFB227B1B}"/>
                </a:ext>
              </a:extLst>
            </p:cNvPr>
            <p:cNvGraphicFramePr>
              <a:graphicFrameLocks noChangeAspect="1"/>
            </p:cNvGraphicFramePr>
            <p:nvPr/>
          </p:nvGraphicFramePr>
          <p:xfrm>
            <a:off x="10689431" y="2437430"/>
            <a:ext cx="421592" cy="446392"/>
          </p:xfrm>
          <a:graphic>
            <a:graphicData uri="http://schemas.openxmlformats.org/presentationml/2006/ole">
              <mc:AlternateContent xmlns:mc="http://schemas.openxmlformats.org/markup-compatibility/2006">
                <mc:Choice xmlns:v="urn:schemas-microsoft-com:vml" Requires="v">
                  <p:oleObj spid="_x0000_s16412" name="Equation" r:id="rId7" imgW="215806" imgH="228501" progId="Equation.DSMT4">
                    <p:embed/>
                  </p:oleObj>
                </mc:Choice>
                <mc:Fallback>
                  <p:oleObj name="Equation" r:id="rId7" imgW="215806" imgH="228501" progId="Equation.DSMT4">
                    <p:embed/>
                    <p:pic>
                      <p:nvPicPr>
                        <p:cNvPr id="0" name="对象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89431" y="2437430"/>
                          <a:ext cx="421592" cy="446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9" name="组合 18">
            <a:extLst>
              <a:ext uri="{FF2B5EF4-FFF2-40B4-BE49-F238E27FC236}">
                <a16:creationId xmlns:a16="http://schemas.microsoft.com/office/drawing/2014/main" id="{08D75147-96C3-49DC-9E67-5F4A75D8CF29}"/>
              </a:ext>
            </a:extLst>
          </p:cNvPr>
          <p:cNvGrpSpPr>
            <a:grpSpLocks/>
          </p:cNvGrpSpPr>
          <p:nvPr/>
        </p:nvGrpSpPr>
        <p:grpSpPr bwMode="auto">
          <a:xfrm>
            <a:off x="8275638" y="4659313"/>
            <a:ext cx="2020887" cy="523875"/>
            <a:chOff x="9165266" y="2390883"/>
            <a:chExt cx="2020186" cy="523220"/>
          </a:xfrm>
        </p:grpSpPr>
        <p:sp>
          <p:nvSpPr>
            <p:cNvPr id="16406" name="文本框 19">
              <a:extLst>
                <a:ext uri="{FF2B5EF4-FFF2-40B4-BE49-F238E27FC236}">
                  <a16:creationId xmlns:a16="http://schemas.microsoft.com/office/drawing/2014/main" id="{8E346AFF-9B7D-43DC-A104-16BD53A3B448}"/>
                </a:ext>
              </a:extLst>
            </p:cNvPr>
            <p:cNvSpPr txBox="1">
              <a:spLocks noChangeArrowheads="1"/>
            </p:cNvSpPr>
            <p:nvPr/>
          </p:nvSpPr>
          <p:spPr bwMode="auto">
            <a:xfrm>
              <a:off x="9165266" y="2390883"/>
              <a:ext cx="202018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微软雅黑" panose="020B0503020204020204" pitchFamily="34" charset="-122"/>
                  <a:ea typeface="微软雅黑" panose="020B0503020204020204" pitchFamily="34" charset="-122"/>
                </a:rPr>
                <a:t>等效电容</a:t>
              </a:r>
            </a:p>
          </p:txBody>
        </p:sp>
        <p:graphicFrame>
          <p:nvGraphicFramePr>
            <p:cNvPr id="16407" name="对象 20">
              <a:extLst>
                <a:ext uri="{FF2B5EF4-FFF2-40B4-BE49-F238E27FC236}">
                  <a16:creationId xmlns:a16="http://schemas.microsoft.com/office/drawing/2014/main" id="{37E8D707-2089-43C0-8DA8-9F017ED0522D}"/>
                </a:ext>
              </a:extLst>
            </p:cNvPr>
            <p:cNvGraphicFramePr>
              <a:graphicFrameLocks noChangeAspect="1"/>
            </p:cNvGraphicFramePr>
            <p:nvPr/>
          </p:nvGraphicFramePr>
          <p:xfrm>
            <a:off x="10713779" y="2436746"/>
            <a:ext cx="371475" cy="447675"/>
          </p:xfrm>
          <a:graphic>
            <a:graphicData uri="http://schemas.openxmlformats.org/presentationml/2006/ole">
              <mc:AlternateContent xmlns:mc="http://schemas.openxmlformats.org/markup-compatibility/2006">
                <mc:Choice xmlns:v="urn:schemas-microsoft-com:vml" Requires="v">
                  <p:oleObj spid="_x0000_s16413" name="Equation" r:id="rId9" imgW="190500" imgH="228600" progId="Equation.DSMT4">
                    <p:embed/>
                  </p:oleObj>
                </mc:Choice>
                <mc:Fallback>
                  <p:oleObj name="Equation" r:id="rId9" imgW="190500" imgH="228600" progId="Equation.DSMT4">
                    <p:embed/>
                    <p:pic>
                      <p:nvPicPr>
                        <p:cNvPr id="0" name="对象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13779" y="2436746"/>
                          <a:ext cx="3714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cxnSp>
        <p:nvCxnSpPr>
          <p:cNvPr id="8" name="直接箭头连接符 7">
            <a:extLst>
              <a:ext uri="{FF2B5EF4-FFF2-40B4-BE49-F238E27FC236}">
                <a16:creationId xmlns:a16="http://schemas.microsoft.com/office/drawing/2014/main" id="{D59F26D3-B1E1-4969-AC35-CD06EEB586A7}"/>
              </a:ext>
            </a:extLst>
          </p:cNvPr>
          <p:cNvCxnSpPr>
            <a:stCxn id="16408" idx="1"/>
          </p:cNvCxnSpPr>
          <p:nvPr/>
        </p:nvCxnSpPr>
        <p:spPr>
          <a:xfrm flipH="1">
            <a:off x="6242050" y="3176588"/>
            <a:ext cx="1998663" cy="687387"/>
          </a:xfrm>
          <a:prstGeom prst="straightConnector1">
            <a:avLst/>
          </a:prstGeom>
          <a:ln w="31750">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C207BE9C-D2BE-4986-BC75-795A965CA409}"/>
              </a:ext>
            </a:extLst>
          </p:cNvPr>
          <p:cNvCxnSpPr/>
          <p:nvPr/>
        </p:nvCxnSpPr>
        <p:spPr>
          <a:xfrm flipH="1" flipV="1">
            <a:off x="6689725" y="4043363"/>
            <a:ext cx="1616075" cy="766762"/>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下箭头 15">
            <a:extLst>
              <a:ext uri="{FF2B5EF4-FFF2-40B4-BE49-F238E27FC236}">
                <a16:creationId xmlns:a16="http://schemas.microsoft.com/office/drawing/2014/main" id="{2E75F979-B9A0-46EA-AA66-D25D109FE4AB}"/>
              </a:ext>
            </a:extLst>
          </p:cNvPr>
          <p:cNvSpPr/>
          <p:nvPr/>
        </p:nvSpPr>
        <p:spPr>
          <a:xfrm rot="16200000">
            <a:off x="9800431" y="3909219"/>
            <a:ext cx="1063625" cy="420688"/>
          </a:xfrm>
          <a:prstGeom prst="downArrow">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 name="TextBox 10">
            <a:extLst>
              <a:ext uri="{FF2B5EF4-FFF2-40B4-BE49-F238E27FC236}">
                <a16:creationId xmlns:a16="http://schemas.microsoft.com/office/drawing/2014/main" id="{2711785F-394D-4EF7-AF6F-BC810CB11D82}"/>
              </a:ext>
            </a:extLst>
          </p:cNvPr>
          <p:cNvSpPr txBox="1">
            <a:spLocks noChangeArrowheads="1"/>
          </p:cNvSpPr>
          <p:nvPr/>
        </p:nvSpPr>
        <p:spPr bwMode="auto">
          <a:xfrm>
            <a:off x="3976688" y="6494463"/>
            <a:ext cx="59801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微软雅黑" panose="020B0503020204020204" pitchFamily="34" charset="-122"/>
                <a:ea typeface="微软雅黑" panose="020B0503020204020204" pitchFamily="34" charset="-122"/>
              </a:rPr>
              <a:t>负载电阻提供的输出电压不大于</a:t>
            </a:r>
            <a:r>
              <a:rPr lang="en-US" altLang="zh-CN" sz="2800" b="1">
                <a:latin typeface="微软雅黑" panose="020B0503020204020204" pitchFamily="34" charset="-122"/>
                <a:ea typeface="微软雅黑" panose="020B0503020204020204" pitchFamily="34" charset="-122"/>
              </a:rPr>
              <a:t>1V</a:t>
            </a:r>
            <a:endParaRPr lang="zh-CN" altLang="en-US" sz="2800" b="1">
              <a:latin typeface="微软雅黑" panose="020B0503020204020204" pitchFamily="34" charset="-122"/>
              <a:ea typeface="微软雅黑" panose="020B0503020204020204" pitchFamily="34" charset="-122"/>
            </a:endParaRPr>
          </a:p>
        </p:txBody>
      </p:sp>
      <p:grpSp>
        <p:nvGrpSpPr>
          <p:cNvPr id="26" name="组合 25">
            <a:extLst>
              <a:ext uri="{FF2B5EF4-FFF2-40B4-BE49-F238E27FC236}">
                <a16:creationId xmlns:a16="http://schemas.microsoft.com/office/drawing/2014/main" id="{1DCC4141-DD08-4C85-90B4-194336171E4B}"/>
              </a:ext>
            </a:extLst>
          </p:cNvPr>
          <p:cNvGrpSpPr/>
          <p:nvPr/>
        </p:nvGrpSpPr>
        <p:grpSpPr>
          <a:xfrm>
            <a:off x="0" y="293282"/>
            <a:ext cx="13161246" cy="7421968"/>
            <a:chOff x="0" y="293282"/>
            <a:chExt cx="13161246" cy="7421968"/>
          </a:xfrm>
        </p:grpSpPr>
        <p:sp>
          <p:nvSpPr>
            <p:cNvPr id="27" name="文本框 60">
              <a:extLst>
                <a:ext uri="{FF2B5EF4-FFF2-40B4-BE49-F238E27FC236}">
                  <a16:creationId xmlns:a16="http://schemas.microsoft.com/office/drawing/2014/main" id="{E40F0EB2-FF53-48BE-91BD-E0281DCC755E}"/>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28" name="矩形 27">
              <a:extLst>
                <a:ext uri="{FF2B5EF4-FFF2-40B4-BE49-F238E27FC236}">
                  <a16:creationId xmlns:a16="http://schemas.microsoft.com/office/drawing/2014/main" id="{773F52AA-DFC3-49ED-AD8A-F47E99170986}"/>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31" name="矩形 30">
              <a:extLst>
                <a:ext uri="{FF2B5EF4-FFF2-40B4-BE49-F238E27FC236}">
                  <a16:creationId xmlns:a16="http://schemas.microsoft.com/office/drawing/2014/main" id="{36193A2E-8AB2-4CA4-AC78-17E7284D8EEA}"/>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圆角 31">
              <a:extLst>
                <a:ext uri="{FF2B5EF4-FFF2-40B4-BE49-F238E27FC236}">
                  <a16:creationId xmlns:a16="http://schemas.microsoft.com/office/drawing/2014/main" id="{C84F0111-693D-4EB8-8358-91CFB5415F04}"/>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15208DB8-BCE5-465C-998A-9DD9F694959F}"/>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2FF81B33-8507-430E-AC27-839638DA3C48}"/>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5" name="矩形 34">
              <a:extLst>
                <a:ext uri="{FF2B5EF4-FFF2-40B4-BE49-F238E27FC236}">
                  <a16:creationId xmlns:a16="http://schemas.microsoft.com/office/drawing/2014/main" id="{52A5ABFB-6703-4A91-A961-8925E8FBB62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42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wheel(1)">
                                      <p:cBhvr>
                                        <p:cTn id="43" dur="2000"/>
                                        <p:tgtEl>
                                          <p:spTgt spid="1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17417"/>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7418"/>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7419"/>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4" grpId="0"/>
      <p:bldP spid="9" grpId="0" animBg="1"/>
      <p:bldP spid="17418" grpId="0"/>
      <p:bldP spid="17419" grpId="0"/>
      <p:bldP spid="2" grpId="0" animBg="1"/>
      <p:bldP spid="15" grpId="0" animBg="1"/>
      <p:bldP spid="16" grpId="0" animBg="1"/>
      <p:bldP spid="3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TextBox 1">
            <a:extLst>
              <a:ext uri="{FF2B5EF4-FFF2-40B4-BE49-F238E27FC236}">
                <a16:creationId xmlns:a16="http://schemas.microsoft.com/office/drawing/2014/main" id="{21F7A7CC-2579-489B-BBEC-D4D7C2A7C799}"/>
              </a:ext>
            </a:extLst>
          </p:cNvPr>
          <p:cNvSpPr txBox="1">
            <a:spLocks noChangeArrowheads="1"/>
          </p:cNvSpPr>
          <p:nvPr/>
        </p:nvSpPr>
        <p:spPr bwMode="auto">
          <a:xfrm>
            <a:off x="885825" y="923925"/>
            <a:ext cx="11372850"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       当选择</a:t>
            </a:r>
            <a:r>
              <a:rPr lang="zh-CN" altLang="en-US" sz="28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最优负载电阻</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时，要考虑连接到光电倍增管的放大器内部的输入电阻，如图。</a:t>
            </a:r>
          </a:p>
        </p:txBody>
      </p:sp>
      <p:graphicFrame>
        <p:nvGraphicFramePr>
          <p:cNvPr id="16393" name="Object 6">
            <a:extLst>
              <a:ext uri="{FF2B5EF4-FFF2-40B4-BE49-F238E27FC236}">
                <a16:creationId xmlns:a16="http://schemas.microsoft.com/office/drawing/2014/main" id="{C8012A52-C505-4FF9-82D7-BA2330C68B02}"/>
              </a:ext>
            </a:extLst>
          </p:cNvPr>
          <p:cNvGraphicFramePr>
            <a:graphicFrameLocks noChangeAspect="1"/>
          </p:cNvGraphicFramePr>
          <p:nvPr/>
        </p:nvGraphicFramePr>
        <p:xfrm>
          <a:off x="2686050" y="3722688"/>
          <a:ext cx="2622550" cy="1008062"/>
        </p:xfrm>
        <a:graphic>
          <a:graphicData uri="http://schemas.openxmlformats.org/presentationml/2006/ole">
            <mc:AlternateContent xmlns:mc="http://schemas.openxmlformats.org/markup-compatibility/2006">
              <mc:Choice xmlns:v="urn:schemas-microsoft-com:vml" Requires="v">
                <p:oleObj spid="_x0000_s17424" name="Equation" r:id="rId3" imgW="761669" imgH="393529" progId="Equation.DSMT4">
                  <p:embed/>
                </p:oleObj>
              </mc:Choice>
              <mc:Fallback>
                <p:oleObj name="Equation" r:id="rId3" imgW="761669" imgH="393529"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6050" y="3722688"/>
                        <a:ext cx="2622550" cy="100806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4" name="TextBox 9">
            <a:extLst>
              <a:ext uri="{FF2B5EF4-FFF2-40B4-BE49-F238E27FC236}">
                <a16:creationId xmlns:a16="http://schemas.microsoft.com/office/drawing/2014/main" id="{A699D290-162A-4EAF-8C91-222A51503712}"/>
              </a:ext>
            </a:extLst>
          </p:cNvPr>
          <p:cNvSpPr txBox="1">
            <a:spLocks noChangeArrowheads="1"/>
          </p:cNvSpPr>
          <p:nvPr/>
        </p:nvSpPr>
        <p:spPr bwMode="auto">
          <a:xfrm>
            <a:off x="715963" y="4878388"/>
            <a:ext cx="8353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电阻</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800" b="1" baseline="-2500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是光电倍增管的实际负载电阻，阻值小于</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800" b="1" baseline="-2500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800" b="1">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6396" name="Object 8">
            <a:extLst>
              <a:ext uri="{FF2B5EF4-FFF2-40B4-BE49-F238E27FC236}">
                <a16:creationId xmlns:a16="http://schemas.microsoft.com/office/drawing/2014/main" id="{D3A0A2EC-6816-40C6-94F5-4E809EED6DCE}"/>
              </a:ext>
            </a:extLst>
          </p:cNvPr>
          <p:cNvGraphicFramePr>
            <a:graphicFrameLocks noChangeAspect="1"/>
          </p:cNvGraphicFramePr>
          <p:nvPr/>
        </p:nvGraphicFramePr>
        <p:xfrm>
          <a:off x="5375275" y="5597525"/>
          <a:ext cx="2967038" cy="874713"/>
        </p:xfrm>
        <a:graphic>
          <a:graphicData uri="http://schemas.openxmlformats.org/presentationml/2006/ole">
            <mc:AlternateContent xmlns:mc="http://schemas.openxmlformats.org/markup-compatibility/2006">
              <mc:Choice xmlns:v="urn:schemas-microsoft-com:vml" Requires="v">
                <p:oleObj spid="_x0000_s17425" name="Equation" r:id="rId5" imgW="1091726" imgH="431613" progId="Equation.DSMT4">
                  <p:embed/>
                </p:oleObj>
              </mc:Choice>
              <mc:Fallback>
                <p:oleObj name="Equation" r:id="rId5" imgW="1091726" imgH="431613"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5275" y="5597525"/>
                        <a:ext cx="2967038" cy="87471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7" name="TextBox 12">
            <a:extLst>
              <a:ext uri="{FF2B5EF4-FFF2-40B4-BE49-F238E27FC236}">
                <a16:creationId xmlns:a16="http://schemas.microsoft.com/office/drawing/2014/main" id="{697967FE-A6B0-4005-987C-E530DD7A4092}"/>
              </a:ext>
            </a:extLst>
          </p:cNvPr>
          <p:cNvSpPr txBox="1">
            <a:spLocks noChangeArrowheads="1"/>
          </p:cNvSpPr>
          <p:nvPr/>
        </p:nvSpPr>
        <p:spPr bwMode="auto">
          <a:xfrm>
            <a:off x="1524000" y="5681663"/>
            <a:ext cx="3827463"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由于</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800" b="1" baseline="-25000">
                <a:latin typeface="Times New Roman" panose="02020603050405020304" pitchFamily="18" charset="0"/>
                <a:ea typeface="微软雅黑" panose="020B0503020204020204" pitchFamily="34" charset="-122"/>
                <a:cs typeface="Times New Roman" panose="02020603050405020304" pitchFamily="18" charset="0"/>
              </a:rPr>
              <a:t>in</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，输出电压为</a:t>
            </a:r>
          </a:p>
        </p:txBody>
      </p:sp>
      <p:sp>
        <p:nvSpPr>
          <p:cNvPr id="16398" name="TextBox 13">
            <a:extLst>
              <a:ext uri="{FF2B5EF4-FFF2-40B4-BE49-F238E27FC236}">
                <a16:creationId xmlns:a16="http://schemas.microsoft.com/office/drawing/2014/main" id="{D0B2769C-FBA2-4034-9A84-30674D510C49}"/>
              </a:ext>
            </a:extLst>
          </p:cNvPr>
          <p:cNvSpPr txBox="1">
            <a:spLocks noChangeArrowheads="1"/>
          </p:cNvSpPr>
          <p:nvPr/>
        </p:nvSpPr>
        <p:spPr bwMode="auto">
          <a:xfrm>
            <a:off x="1524000" y="6534150"/>
            <a:ext cx="58547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800" b="1" i="1">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800" b="1" baseline="-2500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为</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800" b="1" baseline="-25000">
                <a:latin typeface="Times New Roman" panose="02020603050405020304" pitchFamily="18" charset="0"/>
                <a:ea typeface="微软雅黑" panose="020B0503020204020204" pitchFamily="34" charset="-122"/>
                <a:cs typeface="Times New Roman" panose="02020603050405020304" pitchFamily="18" charset="0"/>
              </a:rPr>
              <a:t>in</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为无穷大时的输出电压</a:t>
            </a:r>
          </a:p>
        </p:txBody>
      </p:sp>
      <p:graphicFrame>
        <p:nvGraphicFramePr>
          <p:cNvPr id="18447" name="Object 4">
            <a:extLst>
              <a:ext uri="{FF2B5EF4-FFF2-40B4-BE49-F238E27FC236}">
                <a16:creationId xmlns:a16="http://schemas.microsoft.com/office/drawing/2014/main" id="{64E1C29E-FFCC-40CF-9EC4-D3E53A03CBCF}"/>
              </a:ext>
            </a:extLst>
          </p:cNvPr>
          <p:cNvGraphicFramePr>
            <a:graphicFrameLocks noChangeAspect="1"/>
          </p:cNvGraphicFramePr>
          <p:nvPr/>
        </p:nvGraphicFramePr>
        <p:xfrm>
          <a:off x="7796213" y="2390775"/>
          <a:ext cx="5108575" cy="1852613"/>
        </p:xfrm>
        <a:graphic>
          <a:graphicData uri="http://schemas.openxmlformats.org/presentationml/2006/ole">
            <mc:AlternateContent xmlns:mc="http://schemas.openxmlformats.org/markup-compatibility/2006">
              <mc:Choice xmlns:v="urn:schemas-microsoft-com:vml" Requires="v">
                <p:oleObj spid="_x0000_s17426" name="Visio" r:id="rId7" imgW="2812209" imgH="1022699" progId="Visio.Drawing.11">
                  <p:embed/>
                </p:oleObj>
              </mc:Choice>
              <mc:Fallback>
                <p:oleObj name="Visio" r:id="rId7" imgW="2812209" imgH="1022699" progId="Visio.Drawing.11">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96213" y="2390775"/>
                        <a:ext cx="5108575" cy="185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TextBox 1">
            <a:extLst>
              <a:ext uri="{FF2B5EF4-FFF2-40B4-BE49-F238E27FC236}">
                <a16:creationId xmlns:a16="http://schemas.microsoft.com/office/drawing/2014/main" id="{280DF1FB-ED6C-4C5D-924F-BE9B4B10D068}"/>
              </a:ext>
            </a:extLst>
          </p:cNvPr>
          <p:cNvSpPr txBox="1">
            <a:spLocks noChangeArrowheads="1"/>
          </p:cNvSpPr>
          <p:nvPr/>
        </p:nvSpPr>
        <p:spPr bwMode="auto">
          <a:xfrm>
            <a:off x="885825" y="2263775"/>
            <a:ext cx="597217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      如果负载电阻是</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800" b="1" baseline="-2500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，输入电阻是</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800" b="1" baseline="-25000">
                <a:latin typeface="Times New Roman" panose="02020603050405020304" pitchFamily="18" charset="0"/>
                <a:ea typeface="微软雅黑" panose="020B0503020204020204" pitchFamily="34" charset="-122"/>
                <a:cs typeface="Times New Roman" panose="02020603050405020304" pitchFamily="18" charset="0"/>
              </a:rPr>
              <a:t>in</a:t>
            </a:r>
            <a:r>
              <a:rPr lang="en-US" altLang="zh-CN" sz="2800" b="1">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，最后的并联输出负载电阻为：</a:t>
            </a:r>
          </a:p>
        </p:txBody>
      </p:sp>
      <p:grpSp>
        <p:nvGrpSpPr>
          <p:cNvPr id="16" name="组合 15">
            <a:extLst>
              <a:ext uri="{FF2B5EF4-FFF2-40B4-BE49-F238E27FC236}">
                <a16:creationId xmlns:a16="http://schemas.microsoft.com/office/drawing/2014/main" id="{34975782-D34A-4291-8FF7-6C45135D7C32}"/>
              </a:ext>
            </a:extLst>
          </p:cNvPr>
          <p:cNvGrpSpPr/>
          <p:nvPr/>
        </p:nvGrpSpPr>
        <p:grpSpPr>
          <a:xfrm>
            <a:off x="0" y="293282"/>
            <a:ext cx="13161246" cy="7421968"/>
            <a:chOff x="0" y="293282"/>
            <a:chExt cx="13161246" cy="7421968"/>
          </a:xfrm>
        </p:grpSpPr>
        <p:sp>
          <p:nvSpPr>
            <p:cNvPr id="18" name="文本框 60">
              <a:extLst>
                <a:ext uri="{FF2B5EF4-FFF2-40B4-BE49-F238E27FC236}">
                  <a16:creationId xmlns:a16="http://schemas.microsoft.com/office/drawing/2014/main" id="{63B860C0-6E94-4E9C-A2E2-6A25292FE7C9}"/>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9" name="矩形 18">
              <a:extLst>
                <a:ext uri="{FF2B5EF4-FFF2-40B4-BE49-F238E27FC236}">
                  <a16:creationId xmlns:a16="http://schemas.microsoft.com/office/drawing/2014/main" id="{DAE07D28-6C7E-4F53-ACE9-10C210706D5E}"/>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id="{43D1FFB5-2D36-4724-8823-95FAB412E6D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1491FB79-0180-4998-B204-6AB3CA831A03}"/>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3" name="直接连接符 58">
              <a:extLst>
                <a:ext uri="{FF2B5EF4-FFF2-40B4-BE49-F238E27FC236}">
                  <a16:creationId xmlns:a16="http://schemas.microsoft.com/office/drawing/2014/main" id="{BD1ACF1A-C3E5-4529-B847-6EA69010907F}"/>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80FBD753-CDAB-449F-98CC-A083B4BA6DE4}"/>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5" name="矩形 24">
              <a:extLst>
                <a:ext uri="{FF2B5EF4-FFF2-40B4-BE49-F238E27FC236}">
                  <a16:creationId xmlns:a16="http://schemas.microsoft.com/office/drawing/2014/main" id="{3CD9C245-AB71-418C-9089-EDD5A5C0CED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844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639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39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39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639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3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 grpId="0"/>
      <p:bldP spid="16394" grpId="0"/>
      <p:bldP spid="16397" grpId="0"/>
      <p:bldP spid="16398" grpId="0"/>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1">
            <a:extLst>
              <a:ext uri="{FF2B5EF4-FFF2-40B4-BE49-F238E27FC236}">
                <a16:creationId xmlns:a16="http://schemas.microsoft.com/office/drawing/2014/main" id="{E747D391-8E9F-471A-A268-AB67B1CDAAB5}"/>
              </a:ext>
            </a:extLst>
          </p:cNvPr>
          <p:cNvSpPr txBox="1">
            <a:spLocks noChangeArrowheads="1"/>
          </p:cNvSpPr>
          <p:nvPr/>
        </p:nvSpPr>
        <p:spPr bwMode="auto">
          <a:xfrm>
            <a:off x="3519488" y="1308100"/>
            <a:ext cx="7064375"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3200" b="1">
                <a:solidFill>
                  <a:srgbClr val="0000CC"/>
                </a:solidFill>
                <a:latin typeface="微软雅黑" panose="020B0503020204020204" pitchFamily="34" charset="-122"/>
                <a:ea typeface="微软雅黑" panose="020B0503020204020204" pitchFamily="34" charset="-122"/>
              </a:rPr>
              <a:t>选择负载电阻的时候的一些指导原则</a:t>
            </a:r>
            <a:endParaRPr lang="zh-CN" altLang="en-US" sz="3200" b="1">
              <a:solidFill>
                <a:srgbClr val="0000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435" name="TextBox 2">
            <a:extLst>
              <a:ext uri="{FF2B5EF4-FFF2-40B4-BE49-F238E27FC236}">
                <a16:creationId xmlns:a16="http://schemas.microsoft.com/office/drawing/2014/main" id="{5729E7E0-2D4C-40DC-84A5-E0FE7AFC1D2A}"/>
              </a:ext>
            </a:extLst>
          </p:cNvPr>
          <p:cNvSpPr txBox="1">
            <a:spLocks noChangeArrowheads="1"/>
          </p:cNvSpPr>
          <p:nvPr/>
        </p:nvSpPr>
        <p:spPr bwMode="auto">
          <a:xfrm>
            <a:off x="1185863" y="2297113"/>
            <a:ext cx="116824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Font typeface="Wingdings" panose="05000000000000000000" pitchFamily="2" charset="2"/>
              <a:buChar char="l"/>
            </a:pPr>
            <a:r>
              <a:rPr lang="zh-CN" altLang="en-US" sz="2800" b="1">
                <a:latin typeface="微软雅黑" panose="020B0503020204020204" pitchFamily="34" charset="-122"/>
                <a:ea typeface="微软雅黑" panose="020B0503020204020204" pitchFamily="34" charset="-122"/>
              </a:rPr>
              <a:t>当频率和放大特性很重要的时候，尽量选择小的负载电阻（如</a:t>
            </a:r>
            <a:r>
              <a:rPr lang="en-US" altLang="zh-CN" sz="2800" b="1">
                <a:latin typeface="微软雅黑" panose="020B0503020204020204" pitchFamily="34" charset="-122"/>
                <a:ea typeface="微软雅黑" panose="020B0503020204020204" pitchFamily="34" charset="-122"/>
              </a:rPr>
              <a:t>50</a:t>
            </a:r>
            <a:r>
              <a:rPr lang="el-GR" altLang="zh-CN" sz="2800" b="1">
                <a:latin typeface="微软雅黑" panose="020B0503020204020204" pitchFamily="34" charset="-122"/>
                <a:ea typeface="微软雅黑" panose="020B0503020204020204" pitchFamily="34" charset="-122"/>
              </a:rPr>
              <a:t>Ω</a:t>
            </a:r>
            <a:r>
              <a:rPr lang="zh-CN" altLang="en-US" sz="2800" b="1">
                <a:latin typeface="微软雅黑" panose="020B0503020204020204" pitchFamily="34" charset="-122"/>
                <a:ea typeface="微软雅黑" panose="020B0503020204020204" pitchFamily="34" charset="-122"/>
              </a:rPr>
              <a:t>）。最小化杂散电容，比如与负载电阻并联的线缆电容。</a:t>
            </a:r>
          </a:p>
        </p:txBody>
      </p:sp>
      <p:sp>
        <p:nvSpPr>
          <p:cNvPr id="18436" name="TextBox 3">
            <a:extLst>
              <a:ext uri="{FF2B5EF4-FFF2-40B4-BE49-F238E27FC236}">
                <a16:creationId xmlns:a16="http://schemas.microsoft.com/office/drawing/2014/main" id="{DC61349B-F672-4AAD-A345-962CB90F893F}"/>
              </a:ext>
            </a:extLst>
          </p:cNvPr>
          <p:cNvSpPr txBox="1">
            <a:spLocks noChangeArrowheads="1"/>
          </p:cNvSpPr>
          <p:nvPr/>
        </p:nvSpPr>
        <p:spPr bwMode="auto">
          <a:xfrm>
            <a:off x="1185863" y="3892550"/>
            <a:ext cx="11682412"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indent="-358775">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Font typeface="Wingdings" panose="05000000000000000000" pitchFamily="2" charset="2"/>
              <a:buChar char="l"/>
            </a:pPr>
            <a:r>
              <a:rPr lang="zh-CN" altLang="en-US" sz="2800" b="1">
                <a:latin typeface="微软雅黑" panose="020B0503020204020204" pitchFamily="34" charset="-122"/>
                <a:ea typeface="微软雅黑" panose="020B0503020204020204" pitchFamily="34" charset="-122"/>
              </a:rPr>
              <a:t>当线性放大输出很重要的时候，选择的负载电阻的输出电压应为最后一级到阳极电压的百分之几。</a:t>
            </a:r>
          </a:p>
        </p:txBody>
      </p:sp>
      <p:sp>
        <p:nvSpPr>
          <p:cNvPr id="18437" name="TextBox 4">
            <a:extLst>
              <a:ext uri="{FF2B5EF4-FFF2-40B4-BE49-F238E27FC236}">
                <a16:creationId xmlns:a16="http://schemas.microsoft.com/office/drawing/2014/main" id="{93F725CB-A38A-4994-B010-50B7DE7BC3E7}"/>
              </a:ext>
            </a:extLst>
          </p:cNvPr>
          <p:cNvSpPr txBox="1">
            <a:spLocks noChangeArrowheads="1"/>
          </p:cNvSpPr>
          <p:nvPr/>
        </p:nvSpPr>
        <p:spPr bwMode="auto">
          <a:xfrm>
            <a:off x="1185863" y="5673725"/>
            <a:ext cx="11682412"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indent="-358775">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Font typeface="Wingdings" panose="05000000000000000000" pitchFamily="2" charset="2"/>
              <a:buChar char="l"/>
            </a:pPr>
            <a:r>
              <a:rPr lang="zh-CN" altLang="en-US" sz="2800" b="1">
                <a:latin typeface="微软雅黑" panose="020B0503020204020204" pitchFamily="34" charset="-122"/>
                <a:ea typeface="微软雅黑" panose="020B0503020204020204" pitchFamily="34" charset="-122"/>
              </a:rPr>
              <a:t>使用一个等于或者小于与光电倍增管相连的放大器内部电阻的负载电阻。</a:t>
            </a:r>
          </a:p>
        </p:txBody>
      </p:sp>
      <p:grpSp>
        <p:nvGrpSpPr>
          <p:cNvPr id="12" name="组合 11">
            <a:extLst>
              <a:ext uri="{FF2B5EF4-FFF2-40B4-BE49-F238E27FC236}">
                <a16:creationId xmlns:a16="http://schemas.microsoft.com/office/drawing/2014/main" id="{4DE3424A-3FBC-459E-8B01-03FD2FB26FFC}"/>
              </a:ext>
            </a:extLst>
          </p:cNvPr>
          <p:cNvGrpSpPr/>
          <p:nvPr/>
        </p:nvGrpSpPr>
        <p:grpSpPr>
          <a:xfrm>
            <a:off x="0" y="293282"/>
            <a:ext cx="13161246" cy="7421968"/>
            <a:chOff x="0" y="293282"/>
            <a:chExt cx="13161246" cy="7421968"/>
          </a:xfrm>
        </p:grpSpPr>
        <p:sp>
          <p:nvSpPr>
            <p:cNvPr id="13" name="文本框 60">
              <a:extLst>
                <a:ext uri="{FF2B5EF4-FFF2-40B4-BE49-F238E27FC236}">
                  <a16:creationId xmlns:a16="http://schemas.microsoft.com/office/drawing/2014/main" id="{A9A3D40E-0E18-4F57-8228-40F50C942BE4}"/>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5" name="矩形 14">
              <a:extLst>
                <a:ext uri="{FF2B5EF4-FFF2-40B4-BE49-F238E27FC236}">
                  <a16:creationId xmlns:a16="http://schemas.microsoft.com/office/drawing/2014/main" id="{7454824F-544C-4CD8-95A1-F3206479D84E}"/>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6" name="矩形 15">
              <a:extLst>
                <a:ext uri="{FF2B5EF4-FFF2-40B4-BE49-F238E27FC236}">
                  <a16:creationId xmlns:a16="http://schemas.microsoft.com/office/drawing/2014/main" id="{B1A520BA-AE69-4D9F-9253-4ADA4412EC32}"/>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6951C224-A778-46B6-98AF-5BD5C50CC62C}"/>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8" name="直接连接符 58">
              <a:extLst>
                <a:ext uri="{FF2B5EF4-FFF2-40B4-BE49-F238E27FC236}">
                  <a16:creationId xmlns:a16="http://schemas.microsoft.com/office/drawing/2014/main" id="{549EAEA7-5DC0-4133-BCC5-978F05177241}"/>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8E98E9A5-0566-4825-B2AB-1F7732116F62}"/>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0" name="矩形 19">
              <a:extLst>
                <a:ext uri="{FF2B5EF4-FFF2-40B4-BE49-F238E27FC236}">
                  <a16:creationId xmlns:a16="http://schemas.microsoft.com/office/drawing/2014/main" id="{419498DF-C978-49EA-A624-AA375EFD4036}"/>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Box 1">
            <a:extLst>
              <a:ext uri="{FF2B5EF4-FFF2-40B4-BE49-F238E27FC236}">
                <a16:creationId xmlns:a16="http://schemas.microsoft.com/office/drawing/2014/main" id="{539021A4-ABA5-4813-BC37-AEDB2B5EE019}"/>
              </a:ext>
            </a:extLst>
          </p:cNvPr>
          <p:cNvSpPr txBox="1">
            <a:spLocks noChangeArrowheads="1"/>
          </p:cNvSpPr>
          <p:nvPr/>
        </p:nvSpPr>
        <p:spPr bwMode="auto">
          <a:xfrm>
            <a:off x="3278188" y="977900"/>
            <a:ext cx="711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eaLnBrk="1" hangingPunct="1"/>
            <a:r>
              <a:rPr lang="zh-CN" altLang="en-US" sz="3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3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）电流</a:t>
            </a:r>
            <a:r>
              <a:rPr lang="en-US" altLang="zh-CN" sz="3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3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电压转换电路</a:t>
            </a:r>
            <a:r>
              <a:rPr lang="en-US" altLang="zh-CN" sz="3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3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运算放大器</a:t>
            </a:r>
          </a:p>
        </p:txBody>
      </p:sp>
      <p:sp>
        <p:nvSpPr>
          <p:cNvPr id="19459" name="TextBox 5">
            <a:extLst>
              <a:ext uri="{FF2B5EF4-FFF2-40B4-BE49-F238E27FC236}">
                <a16:creationId xmlns:a16="http://schemas.microsoft.com/office/drawing/2014/main" id="{D6101621-CE32-442B-AD77-49558EB03937}"/>
              </a:ext>
            </a:extLst>
          </p:cNvPr>
          <p:cNvSpPr txBox="1">
            <a:spLocks noChangeArrowheads="1"/>
          </p:cNvSpPr>
          <p:nvPr/>
        </p:nvSpPr>
        <p:spPr bwMode="auto">
          <a:xfrm>
            <a:off x="871538" y="4572000"/>
            <a:ext cx="121539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        运算放大器的输入阻抗很大，光电倍增管的输出电流在</a:t>
            </a:r>
            <a:r>
              <a:rPr lang="en-US" altLang="zh-CN" sz="24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点</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被阻止进入运算放大器的反向输入端</a:t>
            </a:r>
            <a:r>
              <a:rPr lang="en-US" altLang="zh-CN" sz="2400" b="1">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。大部分</a:t>
            </a:r>
            <a:r>
              <a:rPr lang="zh-CN" altLang="en-US" sz="24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电流进入反馈电阻</a:t>
            </a:r>
            <a:r>
              <a:rPr lang="en-US" altLang="zh-CN" sz="24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，并在</a:t>
            </a:r>
            <a:r>
              <a:rPr lang="en-US" altLang="zh-CN" sz="2400" b="1" i="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200" b="1" i="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f</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上形成了大小为</a:t>
            </a:r>
            <a:r>
              <a:rPr lang="en-US" altLang="zh-CN" sz="2400" b="1" i="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400" b="1" i="1" baseline="-250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1" i="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b="1" i="1" baseline="-250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b="1" i="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的电压。同时，运算放大器的增益（开环增益）达到</a:t>
            </a:r>
            <a:r>
              <a:rPr lang="en-US" altLang="zh-CN" sz="2400" b="1">
                <a:latin typeface="Times New Roman" panose="02020603050405020304" pitchFamily="18" charset="0"/>
                <a:ea typeface="微软雅黑" panose="020B0503020204020204" pitchFamily="34" charset="-122"/>
                <a:cs typeface="Times New Roman" panose="02020603050405020304" pitchFamily="18" charset="0"/>
              </a:rPr>
              <a:t>10</a:t>
            </a:r>
            <a:r>
              <a:rPr lang="en-US" altLang="zh-CN" sz="2400" b="1" baseline="3000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，它总是维持反向输入端（</a:t>
            </a:r>
            <a:r>
              <a:rPr lang="en-US" altLang="zh-CN" sz="2400" b="1">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点）的电位等于非反向输入端</a:t>
            </a:r>
            <a:r>
              <a:rPr lang="en-US" altLang="zh-CN" sz="24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点</a:t>
            </a:r>
            <a:r>
              <a:rPr lang="en-US" altLang="zh-CN" sz="24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的电位（接地电位</a:t>
            </a:r>
            <a:r>
              <a:rPr lang="zh-CN" altLang="en-US" sz="24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）（称为虚短或虚地）。</a:t>
            </a:r>
          </a:p>
        </p:txBody>
      </p:sp>
      <p:graphicFrame>
        <p:nvGraphicFramePr>
          <p:cNvPr id="19460" name="Object 4">
            <a:extLst>
              <a:ext uri="{FF2B5EF4-FFF2-40B4-BE49-F238E27FC236}">
                <a16:creationId xmlns:a16="http://schemas.microsoft.com/office/drawing/2014/main" id="{9863F692-4D2A-4468-94B7-8E2725E2DC19}"/>
              </a:ext>
            </a:extLst>
          </p:cNvPr>
          <p:cNvGraphicFramePr>
            <a:graphicFrameLocks noChangeAspect="1"/>
          </p:cNvGraphicFramePr>
          <p:nvPr/>
        </p:nvGraphicFramePr>
        <p:xfrm>
          <a:off x="3438525" y="1727200"/>
          <a:ext cx="6315075" cy="2273300"/>
        </p:xfrm>
        <a:graphic>
          <a:graphicData uri="http://schemas.openxmlformats.org/presentationml/2006/ole">
            <mc:AlternateContent xmlns:mc="http://schemas.openxmlformats.org/markup-compatibility/2006">
              <mc:Choice xmlns:v="urn:schemas-microsoft-com:vml" Requires="v">
                <p:oleObj spid="_x0000_s19467" name="Visio" r:id="rId3" imgW="3381446" imgH="1219258" progId="Visio.Drawing.11">
                  <p:embed/>
                </p:oleObj>
              </mc:Choice>
              <mc:Fallback>
                <p:oleObj name="Visio" r:id="rId3" imgW="3381446" imgH="1219258"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8525" y="1727200"/>
                        <a:ext cx="6315075"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 name="组合 10">
            <a:extLst>
              <a:ext uri="{FF2B5EF4-FFF2-40B4-BE49-F238E27FC236}">
                <a16:creationId xmlns:a16="http://schemas.microsoft.com/office/drawing/2014/main" id="{02F34117-5115-4D5A-BA51-E131FBE36396}"/>
              </a:ext>
            </a:extLst>
          </p:cNvPr>
          <p:cNvGrpSpPr/>
          <p:nvPr/>
        </p:nvGrpSpPr>
        <p:grpSpPr>
          <a:xfrm>
            <a:off x="0" y="293282"/>
            <a:ext cx="13161246" cy="7421968"/>
            <a:chOff x="0" y="293282"/>
            <a:chExt cx="13161246" cy="7421968"/>
          </a:xfrm>
        </p:grpSpPr>
        <p:sp>
          <p:nvSpPr>
            <p:cNvPr id="12" name="文本框 60">
              <a:extLst>
                <a:ext uri="{FF2B5EF4-FFF2-40B4-BE49-F238E27FC236}">
                  <a16:creationId xmlns:a16="http://schemas.microsoft.com/office/drawing/2014/main" id="{658F2335-3771-4526-ABBD-FEA30C7A60CB}"/>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3" name="矩形 12">
              <a:extLst>
                <a:ext uri="{FF2B5EF4-FFF2-40B4-BE49-F238E27FC236}">
                  <a16:creationId xmlns:a16="http://schemas.microsoft.com/office/drawing/2014/main" id="{81B1A8B0-5649-47A7-AA0B-899ACD0237A4}"/>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8AA6E442-07E0-4CBC-B5C9-87D49921A824}"/>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66F3006A-7031-4686-9E67-52DA80EBA4B4}"/>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a16="http://schemas.microsoft.com/office/drawing/2014/main" id="{F380DECA-C8E7-4C96-A0CD-0C49EDA8A423}"/>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13409D13-71A4-4FD6-8E03-B96D152670E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id="{3445991B-E912-4E04-AFE0-0BD62F7FE0A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8">
            <a:extLst>
              <a:ext uri="{FF2B5EF4-FFF2-40B4-BE49-F238E27FC236}">
                <a16:creationId xmlns:a16="http://schemas.microsoft.com/office/drawing/2014/main" id="{A274F260-90C1-4CBD-BE4B-F0D23F1E741F}"/>
              </a:ext>
            </a:extLst>
          </p:cNvPr>
          <p:cNvGraphicFramePr>
            <a:graphicFrameLocks noChangeAspect="1"/>
          </p:cNvGraphicFramePr>
          <p:nvPr/>
        </p:nvGraphicFramePr>
        <p:xfrm>
          <a:off x="2641600" y="1879600"/>
          <a:ext cx="8701088" cy="3751263"/>
        </p:xfrm>
        <a:graphic>
          <a:graphicData uri="http://schemas.openxmlformats.org/presentationml/2006/ole">
            <mc:AlternateContent xmlns:mc="http://schemas.openxmlformats.org/markup-compatibility/2006">
              <mc:Choice xmlns:v="urn:schemas-microsoft-com:vml" Requires="v">
                <p:oleObj spid="_x0000_s20492" name="Visio" r:id="rId3" imgW="4055279" imgH="1742462" progId="Visio.Drawing.11">
                  <p:embed/>
                </p:oleObj>
              </mc:Choice>
              <mc:Fallback>
                <p:oleObj name="Visio" r:id="rId3" imgW="4055279" imgH="1742462" progId="Visio.Drawing.11">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1600" y="1879600"/>
                        <a:ext cx="8701088" cy="375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3">
            <a:extLst>
              <a:ext uri="{FF2B5EF4-FFF2-40B4-BE49-F238E27FC236}">
                <a16:creationId xmlns:a16="http://schemas.microsoft.com/office/drawing/2014/main" id="{9B665151-BDFE-4D3E-9BA6-0496BA5CDE0E}"/>
              </a:ext>
            </a:extLst>
          </p:cNvPr>
          <p:cNvGraphicFramePr>
            <a:graphicFrameLocks noChangeAspect="1"/>
          </p:cNvGraphicFramePr>
          <p:nvPr/>
        </p:nvGraphicFramePr>
        <p:xfrm>
          <a:off x="3262313" y="5832475"/>
          <a:ext cx="2555875" cy="603250"/>
        </p:xfrm>
        <a:graphic>
          <a:graphicData uri="http://schemas.openxmlformats.org/presentationml/2006/ole">
            <mc:AlternateContent xmlns:mc="http://schemas.openxmlformats.org/markup-compatibility/2006">
              <mc:Choice xmlns:v="urn:schemas-microsoft-com:vml" Requires="v">
                <p:oleObj spid="_x0000_s20493" name="Equation" r:id="rId5" imgW="774364" imgH="241195" progId="Equation.DSMT4">
                  <p:embed/>
                </p:oleObj>
              </mc:Choice>
              <mc:Fallback>
                <p:oleObj name="Equation" r:id="rId5" imgW="774364" imgH="241195"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2313" y="5832475"/>
                        <a:ext cx="2555875"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5">
            <a:extLst>
              <a:ext uri="{FF2B5EF4-FFF2-40B4-BE49-F238E27FC236}">
                <a16:creationId xmlns:a16="http://schemas.microsoft.com/office/drawing/2014/main" id="{25B390EA-F3E2-423F-8C4D-37E493519694}"/>
              </a:ext>
            </a:extLst>
          </p:cNvPr>
          <p:cNvGraphicFramePr>
            <a:graphicFrameLocks noChangeAspect="1"/>
          </p:cNvGraphicFramePr>
          <p:nvPr/>
        </p:nvGraphicFramePr>
        <p:xfrm>
          <a:off x="7569200" y="5618163"/>
          <a:ext cx="3098800" cy="914400"/>
        </p:xfrm>
        <a:graphic>
          <a:graphicData uri="http://schemas.openxmlformats.org/presentationml/2006/ole">
            <mc:AlternateContent xmlns:mc="http://schemas.openxmlformats.org/markup-compatibility/2006">
              <mc:Choice xmlns:v="urn:schemas-microsoft-com:vml" Requires="v">
                <p:oleObj spid="_x0000_s20494" name="Equation" r:id="rId7" imgW="1143000" imgH="444500" progId="Equation.DSMT4">
                  <p:embed/>
                </p:oleObj>
              </mc:Choice>
              <mc:Fallback>
                <p:oleObj name="Equation" r:id="rId7" imgW="1143000" imgH="4445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69200" y="5618163"/>
                        <a:ext cx="3098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5" name="TextBox 1">
            <a:extLst>
              <a:ext uri="{FF2B5EF4-FFF2-40B4-BE49-F238E27FC236}">
                <a16:creationId xmlns:a16="http://schemas.microsoft.com/office/drawing/2014/main" id="{2B220A6C-9218-4197-9277-400FF6DCD045}"/>
              </a:ext>
            </a:extLst>
          </p:cNvPr>
          <p:cNvSpPr txBox="1">
            <a:spLocks noChangeArrowheads="1"/>
          </p:cNvSpPr>
          <p:nvPr/>
        </p:nvSpPr>
        <p:spPr bwMode="auto">
          <a:xfrm>
            <a:off x="2835275" y="1133475"/>
            <a:ext cx="83105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eaLnBrk="1" hangingPunct="1"/>
            <a:r>
              <a:rPr lang="zh-CN" altLang="en-US" sz="3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3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）电流</a:t>
            </a:r>
            <a:r>
              <a:rPr lang="en-US" altLang="zh-CN" sz="3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3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电压转换电路</a:t>
            </a:r>
            <a:r>
              <a:rPr lang="en-US" altLang="zh-CN" sz="3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3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电荷灵敏放大器</a:t>
            </a:r>
          </a:p>
        </p:txBody>
      </p:sp>
      <p:grpSp>
        <p:nvGrpSpPr>
          <p:cNvPr id="14" name="组合 13">
            <a:extLst>
              <a:ext uri="{FF2B5EF4-FFF2-40B4-BE49-F238E27FC236}">
                <a16:creationId xmlns:a16="http://schemas.microsoft.com/office/drawing/2014/main" id="{9404BC6D-F843-485B-B6F8-9C2DEDE30720}"/>
              </a:ext>
            </a:extLst>
          </p:cNvPr>
          <p:cNvGrpSpPr/>
          <p:nvPr/>
        </p:nvGrpSpPr>
        <p:grpSpPr>
          <a:xfrm>
            <a:off x="0" y="293282"/>
            <a:ext cx="13161246" cy="7421968"/>
            <a:chOff x="0" y="293282"/>
            <a:chExt cx="13161246" cy="7421968"/>
          </a:xfrm>
        </p:grpSpPr>
        <p:sp>
          <p:nvSpPr>
            <p:cNvPr id="15" name="文本框 60">
              <a:extLst>
                <a:ext uri="{FF2B5EF4-FFF2-40B4-BE49-F238E27FC236}">
                  <a16:creationId xmlns:a16="http://schemas.microsoft.com/office/drawing/2014/main" id="{E46AD859-04EE-43D5-AD99-556480FCB433}"/>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6" name="矩形 15">
              <a:extLst>
                <a:ext uri="{FF2B5EF4-FFF2-40B4-BE49-F238E27FC236}">
                  <a16:creationId xmlns:a16="http://schemas.microsoft.com/office/drawing/2014/main" id="{5E7EDAFB-3949-46C4-B90D-B09520F7118A}"/>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id="{545B7EF3-3180-47C2-A0F9-577F1E9FFD9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F1CF2BF9-693C-4E43-9748-52FEBF0424C4}"/>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0" name="直接连接符 58">
              <a:extLst>
                <a:ext uri="{FF2B5EF4-FFF2-40B4-BE49-F238E27FC236}">
                  <a16:creationId xmlns:a16="http://schemas.microsoft.com/office/drawing/2014/main" id="{F492F3DF-BC51-47EC-92DE-ACD0D715136F}"/>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4AB17199-7333-4BC0-8DD5-30BB7EE79597}"/>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2" name="矩形 21">
              <a:extLst>
                <a:ext uri="{FF2B5EF4-FFF2-40B4-BE49-F238E27FC236}">
                  <a16:creationId xmlns:a16="http://schemas.microsoft.com/office/drawing/2014/main" id="{BD8BB11C-F928-4C71-AC10-40BFD17EB2D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ox(in)">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a:extLst>
              <a:ext uri="{FF2B5EF4-FFF2-40B4-BE49-F238E27FC236}">
                <a16:creationId xmlns:a16="http://schemas.microsoft.com/office/drawing/2014/main" id="{5FE4F2B1-2348-4B76-8DA1-5AF3D1EC544B}"/>
              </a:ext>
            </a:extLst>
          </p:cNvPr>
          <p:cNvSpPr>
            <a:spLocks noChangeArrowheads="1"/>
          </p:cNvSpPr>
          <p:nvPr/>
        </p:nvSpPr>
        <p:spPr bwMode="auto">
          <a:xfrm>
            <a:off x="2813050" y="1114425"/>
            <a:ext cx="804386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a:r>
              <a:rPr lang="en-US" altLang="zh-CN" sz="40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40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快速响应光电倍增管的输出电路</a:t>
            </a:r>
          </a:p>
        </p:txBody>
      </p:sp>
      <p:sp>
        <p:nvSpPr>
          <p:cNvPr id="21507" name="Text Box 6">
            <a:extLst>
              <a:ext uri="{FF2B5EF4-FFF2-40B4-BE49-F238E27FC236}">
                <a16:creationId xmlns:a16="http://schemas.microsoft.com/office/drawing/2014/main" id="{935C857F-6E2C-4753-835B-8CC1991BD15D}"/>
              </a:ext>
            </a:extLst>
          </p:cNvPr>
          <p:cNvSpPr txBox="1">
            <a:spLocks noChangeArrowheads="1"/>
          </p:cNvSpPr>
          <p:nvPr/>
        </p:nvSpPr>
        <p:spPr bwMode="auto">
          <a:xfrm>
            <a:off x="4598988" y="5876925"/>
            <a:ext cx="3956050" cy="466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60000"/>
              </a:lnSpc>
            </a:pPr>
            <a:r>
              <a:rPr lang="zh-CN" altLang="en-US" sz="2800" b="1">
                <a:latin typeface="Times New Roman" panose="02020603050405020304" pitchFamily="18" charset="0"/>
                <a:ea typeface="微软雅黑" panose="020B0503020204020204" pitchFamily="34" charset="-122"/>
                <a:cs typeface="Times New Roman" panose="02020603050405020304" pitchFamily="18" charset="0"/>
              </a:rPr>
              <a:t>输出阻抗匹配</a:t>
            </a:r>
          </a:p>
          <a:p>
            <a:pPr eaLnBrk="1" hangingPunct="1"/>
            <a:endParaRPr lang="zh-CN" altLang="zh-CN" sz="2800" b="1">
              <a:latin typeface="楷体_GB2312" pitchFamily="49" charset="-122"/>
              <a:ea typeface="微软雅黑" panose="020B0503020204020204" pitchFamily="34" charset="-122"/>
              <a:cs typeface="Times New Roman" panose="02020603050405020304" pitchFamily="18" charset="0"/>
            </a:endParaRPr>
          </a:p>
        </p:txBody>
      </p:sp>
      <p:graphicFrame>
        <p:nvGraphicFramePr>
          <p:cNvPr id="21508" name="Object 7">
            <a:extLst>
              <a:ext uri="{FF2B5EF4-FFF2-40B4-BE49-F238E27FC236}">
                <a16:creationId xmlns:a16="http://schemas.microsoft.com/office/drawing/2014/main" id="{92809D63-D368-4892-9E66-F225236F2081}"/>
              </a:ext>
            </a:extLst>
          </p:cNvPr>
          <p:cNvGraphicFramePr>
            <a:graphicFrameLocks noChangeAspect="1"/>
          </p:cNvGraphicFramePr>
          <p:nvPr/>
        </p:nvGraphicFramePr>
        <p:xfrm>
          <a:off x="2979738" y="2143125"/>
          <a:ext cx="8607425" cy="3738563"/>
        </p:xfrm>
        <a:graphic>
          <a:graphicData uri="http://schemas.openxmlformats.org/presentationml/2006/ole">
            <mc:AlternateContent xmlns:mc="http://schemas.openxmlformats.org/markup-compatibility/2006">
              <mc:Choice xmlns:v="urn:schemas-microsoft-com:vml" Requires="v">
                <p:oleObj spid="_x0000_s21515" name="Visio" r:id="rId3" imgW="2711053" imgH="1177004" progId="Visio.Drawing.11">
                  <p:embed/>
                </p:oleObj>
              </mc:Choice>
              <mc:Fallback>
                <p:oleObj name="Visio" r:id="rId3" imgW="2711053" imgH="1177004"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9738" y="2143125"/>
                        <a:ext cx="8607425" cy="373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 name="组合 10">
            <a:extLst>
              <a:ext uri="{FF2B5EF4-FFF2-40B4-BE49-F238E27FC236}">
                <a16:creationId xmlns:a16="http://schemas.microsoft.com/office/drawing/2014/main" id="{92BC7F72-B9E2-436D-9662-485A3419C294}"/>
              </a:ext>
            </a:extLst>
          </p:cNvPr>
          <p:cNvGrpSpPr/>
          <p:nvPr/>
        </p:nvGrpSpPr>
        <p:grpSpPr>
          <a:xfrm>
            <a:off x="0" y="293282"/>
            <a:ext cx="13161246" cy="7421968"/>
            <a:chOff x="0" y="293282"/>
            <a:chExt cx="13161246" cy="7421968"/>
          </a:xfrm>
        </p:grpSpPr>
        <p:sp>
          <p:nvSpPr>
            <p:cNvPr id="12" name="文本框 60">
              <a:extLst>
                <a:ext uri="{FF2B5EF4-FFF2-40B4-BE49-F238E27FC236}">
                  <a16:creationId xmlns:a16="http://schemas.microsoft.com/office/drawing/2014/main" id="{E07D34D8-D311-43FE-B350-D6B81DEE48D7}"/>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光电倍增管工作电路</a:t>
              </a:r>
            </a:p>
          </p:txBody>
        </p:sp>
        <p:sp>
          <p:nvSpPr>
            <p:cNvPr id="14" name="矩形 13">
              <a:extLst>
                <a:ext uri="{FF2B5EF4-FFF2-40B4-BE49-F238E27FC236}">
                  <a16:creationId xmlns:a16="http://schemas.microsoft.com/office/drawing/2014/main" id="{B8A0E2E9-3F34-4115-8E86-5952D271B105}"/>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9BE985E7-80F0-436D-A555-C650BFCB1FEA}"/>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B89F9D83-54F2-4B49-85EB-4F8D72BD8ADB}"/>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a16="http://schemas.microsoft.com/office/drawing/2014/main" id="{92AE8AFB-B569-4D8A-9B88-FB2C584AF658}"/>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12C44C1F-728D-4B77-8F94-AF292ED72AD2}"/>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id="{BDD7273F-CEC0-4749-8AA4-657FBF846972}"/>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sld>
</file>

<file path=ppt/theme/theme1.xml><?xml version="1.0" encoding="utf-8"?>
<a:theme xmlns:a="http://schemas.openxmlformats.org/drawingml/2006/main" name="光电技术模板-2015-6-18">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Phoenix</Template>
  <TotalTime>567</TotalTime>
  <Words>1033</Words>
  <Application>Microsoft Office PowerPoint</Application>
  <PresentationFormat>自定义</PresentationFormat>
  <Paragraphs>165</Paragraphs>
  <Slides>20</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20</vt:i4>
      </vt:variant>
    </vt:vector>
  </HeadingPairs>
  <TitlesOfParts>
    <vt:vector size="36" baseType="lpstr">
      <vt:lpstr>Arial</vt:lpstr>
      <vt:lpstr>宋体</vt:lpstr>
      <vt:lpstr>Calibri Light</vt:lpstr>
      <vt:lpstr>Calibri</vt:lpstr>
      <vt:lpstr>华文彩云</vt:lpstr>
      <vt:lpstr>Times New Roman</vt:lpstr>
      <vt:lpstr>微软雅黑</vt:lpstr>
      <vt:lpstr>Tahoma</vt:lpstr>
      <vt:lpstr>华文行楷</vt:lpstr>
      <vt:lpstr>Wingdings</vt:lpstr>
      <vt:lpstr>楷体_GB2312</vt:lpstr>
      <vt:lpstr>光电技术模板-2015-6-18</vt:lpstr>
      <vt:lpstr>Microsoft Visio 2003-2010 绘图</vt:lpstr>
      <vt:lpstr>MathType 6.0 Equation</vt:lpstr>
      <vt:lpstr>Microsoft Visio 绘图</vt:lpstr>
      <vt:lpstr>Microsoft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yp yang</cp:lastModifiedBy>
  <cp:revision>62</cp:revision>
  <dcterms:created xsi:type="dcterms:W3CDTF">2015-06-18T01:42:52Z</dcterms:created>
  <dcterms:modified xsi:type="dcterms:W3CDTF">2022-05-02T05:51:25Z</dcterms:modified>
</cp:coreProperties>
</file>