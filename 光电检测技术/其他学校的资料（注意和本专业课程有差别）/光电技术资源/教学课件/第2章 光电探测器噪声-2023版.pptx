
<file path=[Content_Types].xml><?xml version="1.0" encoding="utf-8"?>
<Types xmlns="http://schemas.openxmlformats.org/package/2006/content-types">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73" r:id="rId2"/>
    <p:sldId id="334" r:id="rId3"/>
    <p:sldId id="376" r:id="rId4"/>
    <p:sldId id="314" r:id="rId5"/>
    <p:sldId id="315" r:id="rId6"/>
    <p:sldId id="316" r:id="rId7"/>
    <p:sldId id="328" r:id="rId8"/>
    <p:sldId id="377" r:id="rId9"/>
    <p:sldId id="318" r:id="rId10"/>
    <p:sldId id="319" r:id="rId11"/>
    <p:sldId id="320" r:id="rId12"/>
    <p:sldId id="321" r:id="rId13"/>
    <p:sldId id="323" r:id="rId14"/>
    <p:sldId id="324" r:id="rId15"/>
    <p:sldId id="325" r:id="rId16"/>
    <p:sldId id="326" r:id="rId17"/>
    <p:sldId id="327" r:id="rId18"/>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charset="0"/>
        <a:ea typeface="宋体" charset="-122"/>
        <a:cs typeface="+mn-cs"/>
      </a:defRPr>
    </a:lvl1pPr>
    <a:lvl2pPr marL="514350" indent="-57150" algn="l" defTabSz="1028700" rtl="0" fontAlgn="base">
      <a:spcBef>
        <a:spcPct val="0"/>
      </a:spcBef>
      <a:spcAft>
        <a:spcPct val="0"/>
      </a:spcAft>
      <a:defRPr sz="2000" kern="1200">
        <a:solidFill>
          <a:schemeClr val="tx1"/>
        </a:solidFill>
        <a:latin typeface="Arial" charset="0"/>
        <a:ea typeface="宋体" charset="-122"/>
        <a:cs typeface="+mn-cs"/>
      </a:defRPr>
    </a:lvl2pPr>
    <a:lvl3pPr marL="1028700" indent="-114300" algn="l" defTabSz="1028700" rtl="0" fontAlgn="base">
      <a:spcBef>
        <a:spcPct val="0"/>
      </a:spcBef>
      <a:spcAft>
        <a:spcPct val="0"/>
      </a:spcAft>
      <a:defRPr sz="2000" kern="1200">
        <a:solidFill>
          <a:schemeClr val="tx1"/>
        </a:solidFill>
        <a:latin typeface="Arial" charset="0"/>
        <a:ea typeface="宋体" charset="-122"/>
        <a:cs typeface="+mn-cs"/>
      </a:defRPr>
    </a:lvl3pPr>
    <a:lvl4pPr marL="1543050" indent="-171450" algn="l" defTabSz="1028700" rtl="0" fontAlgn="base">
      <a:spcBef>
        <a:spcPct val="0"/>
      </a:spcBef>
      <a:spcAft>
        <a:spcPct val="0"/>
      </a:spcAft>
      <a:defRPr sz="2000" kern="1200">
        <a:solidFill>
          <a:schemeClr val="tx1"/>
        </a:solidFill>
        <a:latin typeface="Arial" charset="0"/>
        <a:ea typeface="宋体" charset="-122"/>
        <a:cs typeface="+mn-cs"/>
      </a:defRPr>
    </a:lvl4pPr>
    <a:lvl5pPr marL="2057400" indent="-228600" algn="l" defTabSz="1028700" rtl="0" fontAlgn="base">
      <a:spcBef>
        <a:spcPct val="0"/>
      </a:spcBef>
      <a:spcAft>
        <a:spcPct val="0"/>
      </a:spcAft>
      <a:defRPr sz="2000" kern="1200">
        <a:solidFill>
          <a:schemeClr val="tx1"/>
        </a:solidFill>
        <a:latin typeface="Arial" charset="0"/>
        <a:ea typeface="宋体" charset="-122"/>
        <a:cs typeface="+mn-cs"/>
      </a:defRPr>
    </a:lvl5pPr>
    <a:lvl6pPr marL="2286000" algn="l" defTabSz="914400" rtl="0" eaLnBrk="1" latinLnBrk="0" hangingPunct="1">
      <a:defRPr sz="2000" kern="1200">
        <a:solidFill>
          <a:schemeClr val="tx1"/>
        </a:solidFill>
        <a:latin typeface="Arial" charset="0"/>
        <a:ea typeface="宋体" charset="-122"/>
        <a:cs typeface="+mn-cs"/>
      </a:defRPr>
    </a:lvl6pPr>
    <a:lvl7pPr marL="2743200" algn="l" defTabSz="914400" rtl="0" eaLnBrk="1" latinLnBrk="0" hangingPunct="1">
      <a:defRPr sz="2000" kern="1200">
        <a:solidFill>
          <a:schemeClr val="tx1"/>
        </a:solidFill>
        <a:latin typeface="Arial" charset="0"/>
        <a:ea typeface="宋体" charset="-122"/>
        <a:cs typeface="+mn-cs"/>
      </a:defRPr>
    </a:lvl7pPr>
    <a:lvl8pPr marL="3200400" algn="l" defTabSz="914400" rtl="0" eaLnBrk="1" latinLnBrk="0" hangingPunct="1">
      <a:defRPr sz="2000" kern="1200">
        <a:solidFill>
          <a:schemeClr val="tx1"/>
        </a:solidFill>
        <a:latin typeface="Arial" charset="0"/>
        <a:ea typeface="宋体" charset="-122"/>
        <a:cs typeface="+mn-cs"/>
      </a:defRPr>
    </a:lvl8pPr>
    <a:lvl9pPr marL="3657600" algn="l" defTabSz="914400" rtl="0" eaLnBrk="1" latinLnBrk="0" hangingPunct="1">
      <a:defRPr sz="2000"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89" autoAdjust="0"/>
    <p:restoredTop sz="94660"/>
  </p:normalViewPr>
  <p:slideViewPr>
    <p:cSldViewPr snapToGrid="0">
      <p:cViewPr varScale="1">
        <p:scale>
          <a:sx n="100" d="100"/>
          <a:sy n="100" d="100"/>
        </p:scale>
        <p:origin x="2370" y="90"/>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2.wmf"/><Relationship Id="rId1" Type="http://schemas.openxmlformats.org/officeDocument/2006/relationships/image" Target="../media/image11.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3E13AA51-F9B9-4EA8-9758-06D3ECEF6B33}"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635356F-FADE-4FFA-B1BD-4927C9B2CD53}"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D885EE5-86AB-429A-8B8F-8C71FBA4F242}"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C090825-6BCC-490A-B2CB-9B4382F1399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5EC05A15-1F6F-47AD-B682-75F81A8CB4BE}"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1D25FE1-9F37-47DD-9280-E403C215974D}"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DFF0002-D4B4-4C5A-9698-0DE3A72751B9}"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7856263-D7A5-4E60-B63D-812A177631AD}"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F4EF2171-E258-4AC0-930A-60722CB19116}" type="datetimeFigureOut">
              <a:rPr lang="zh-CN" altLang="en-US"/>
              <a:pPr>
                <a:defRPr/>
              </a:pPr>
              <a:t>2023/2/23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4F5CEFB-3A25-4487-B77A-1CEF045437AF}"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4C7EF0FF-E390-4EC6-B4E1-0FC60FE3D7A1}" type="datetimeFigureOut">
              <a:rPr lang="zh-CN" altLang="en-US"/>
              <a:pPr>
                <a:defRPr/>
              </a:pPr>
              <a:t>2023/2/23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DA70E042-9076-41DD-A40D-45E533E82FE3}"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BDA3816-BE0F-40D6-88CA-43BF0CF364BA}" type="datetimeFigureOut">
              <a:rPr lang="zh-CN" altLang="en-US"/>
              <a:pPr>
                <a:defRPr/>
              </a:pPr>
              <a:t>2023/2/23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26712776-5904-4E10-81D5-01D2491B1DE1}"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728B6A4-D129-425D-A994-6D02272476CD}"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55157DC-E273-478C-9CB4-D9FCD9210671}"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EC79B0D-D526-4DC6-83EB-82DC73EB8836}"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F2C8312-849B-4DCD-8DB2-E1F1F4B4920E}"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24A6A06-EE18-43CF-A2CE-D143A044F464}"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5E56682-B59B-4C9B-AE6F-D54130FB801B}"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073686E-56FF-47DC-9693-C2A6BF603DA5}"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2798290-F745-4AC9-83A2-61205BB3E22A}"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8604FDAE-71D5-41A3-BBC9-AFD07615D3FF}" type="datetimeFigureOut">
              <a:rPr lang="zh-CN" altLang="en-US"/>
              <a:pPr>
                <a:defRPr/>
              </a:pPr>
              <a:t>2023/2/23</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25620DF6-2B2E-46BB-8030-204B3749B490}"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28700" rtl="0" eaLnBrk="0" fontAlgn="base" hangingPunct="0">
        <a:lnSpc>
          <a:spcPct val="90000"/>
        </a:lnSpc>
        <a:spcBef>
          <a:spcPct val="0"/>
        </a:spcBef>
        <a:spcAft>
          <a:spcPct val="0"/>
        </a:spcAft>
        <a:defRPr sz="5000" kern="1200">
          <a:solidFill>
            <a:schemeClr val="tx1"/>
          </a:solidFill>
          <a:latin typeface="+mj-lt"/>
          <a:ea typeface="+mj-ea"/>
          <a:cs typeface="+mj-cs"/>
        </a:defRPr>
      </a:lvl1pPr>
      <a:lvl2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2pPr>
      <a:lvl3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3pPr>
      <a:lvl4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4pPr>
      <a:lvl5pPr algn="l" defTabSz="1028700" rtl="0" eaLnBrk="0" fontAlgn="base" hangingPunct="0">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eaLnBrk="0" fontAlgn="base" hangingPunct="0">
        <a:lnSpc>
          <a:spcPct val="90000"/>
        </a:lnSpc>
        <a:spcBef>
          <a:spcPts val="1125"/>
        </a:spcBef>
        <a:spcAft>
          <a:spcPct val="0"/>
        </a:spcAft>
        <a:buFont typeface="Arial" charset="0"/>
        <a:buChar char="•"/>
        <a:defRPr sz="3200" kern="1200">
          <a:solidFill>
            <a:schemeClr val="tx1"/>
          </a:solidFill>
          <a:latin typeface="+mn-lt"/>
          <a:ea typeface="+mn-ea"/>
          <a:cs typeface="+mn-cs"/>
        </a:defRPr>
      </a:lvl1pPr>
      <a:lvl2pPr marL="771525" indent="-257175" algn="l" defTabSz="1028700" rtl="0" eaLnBrk="0" fontAlgn="base" hangingPunct="0">
        <a:lnSpc>
          <a:spcPct val="90000"/>
        </a:lnSpc>
        <a:spcBef>
          <a:spcPts val="563"/>
        </a:spcBef>
        <a:spcAft>
          <a:spcPct val="0"/>
        </a:spcAft>
        <a:buFont typeface="Arial" charset="0"/>
        <a:buChar char="•"/>
        <a:defRPr sz="2700" kern="1200">
          <a:solidFill>
            <a:schemeClr val="tx1"/>
          </a:solidFill>
          <a:latin typeface="+mn-lt"/>
          <a:ea typeface="+mn-ea"/>
          <a:cs typeface="+mn-cs"/>
        </a:defRPr>
      </a:lvl2pPr>
      <a:lvl3pPr marL="1285875" indent="-257175" algn="l" defTabSz="1028700" rtl="0" eaLnBrk="0" fontAlgn="base" hangingPunct="0">
        <a:lnSpc>
          <a:spcPct val="90000"/>
        </a:lnSpc>
        <a:spcBef>
          <a:spcPts val="563"/>
        </a:spcBef>
        <a:spcAft>
          <a:spcPct val="0"/>
        </a:spcAft>
        <a:buFont typeface="Arial" charset="0"/>
        <a:buChar char="•"/>
        <a:defRPr sz="2300" kern="1200">
          <a:solidFill>
            <a:schemeClr val="tx1"/>
          </a:solidFill>
          <a:latin typeface="+mn-lt"/>
          <a:ea typeface="+mn-ea"/>
          <a:cs typeface="+mn-cs"/>
        </a:defRPr>
      </a:lvl3pPr>
      <a:lvl4pPr marL="1800225" indent="-257175" algn="l" defTabSz="1028700" rtl="0" eaLnBrk="0" fontAlgn="base" hangingPunct="0">
        <a:lnSpc>
          <a:spcPct val="90000"/>
        </a:lnSpc>
        <a:spcBef>
          <a:spcPts val="563"/>
        </a:spcBef>
        <a:spcAft>
          <a:spcPct val="0"/>
        </a:spcAft>
        <a:buFont typeface="Arial" charset="0"/>
        <a:buChar char="•"/>
        <a:defRPr sz="2000" kern="1200">
          <a:solidFill>
            <a:schemeClr val="tx1"/>
          </a:solidFill>
          <a:latin typeface="+mn-lt"/>
          <a:ea typeface="+mn-ea"/>
          <a:cs typeface="+mn-cs"/>
        </a:defRPr>
      </a:lvl4pPr>
      <a:lvl5pPr marL="2314575" indent="-257175" algn="l" defTabSz="1028700" rtl="0" eaLnBrk="0" fontAlgn="base" hangingPunct="0">
        <a:lnSpc>
          <a:spcPct val="90000"/>
        </a:lnSpc>
        <a:spcBef>
          <a:spcPts val="563"/>
        </a:spcBef>
        <a:spcAft>
          <a:spcPct val="0"/>
        </a:spcAft>
        <a:buFont typeface="Arial"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10" Type="http://schemas.openxmlformats.org/officeDocument/2006/relationships/image" Target="../media/image4.wmf"/><Relationship Id="rId4" Type="http://schemas.openxmlformats.org/officeDocument/2006/relationships/image" Target="../media/image1.wmf"/><Relationship Id="rId9"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9.bin"/><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6.bin"/><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5.wmf"/><Relationship Id="rId2" Type="http://schemas.openxmlformats.org/officeDocument/2006/relationships/slideLayout" Target="../slideLayouts/slideLayout1.xml"/><Relationship Id="rId16" Type="http://schemas.openxmlformats.org/officeDocument/2006/relationships/image" Target="../media/image17.wmf"/><Relationship Id="rId1" Type="http://schemas.openxmlformats.org/officeDocument/2006/relationships/vmlDrawing" Target="../drawings/vmlDrawing4.vml"/><Relationship Id="rId6" Type="http://schemas.openxmlformats.org/officeDocument/2006/relationships/image" Target="../media/image12.wmf"/><Relationship Id="rId11" Type="http://schemas.openxmlformats.org/officeDocument/2006/relationships/oleObject" Target="../embeddings/oleObject15.bin"/><Relationship Id="rId5" Type="http://schemas.openxmlformats.org/officeDocument/2006/relationships/oleObject" Target="../embeddings/oleObject12.bin"/><Relationship Id="rId15" Type="http://schemas.openxmlformats.org/officeDocument/2006/relationships/oleObject" Target="../embeddings/oleObject17.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4.bin"/><Relationship Id="rId14" Type="http://schemas.openxmlformats.org/officeDocument/2006/relationships/image" Target="../media/image1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18.wmf"/></Relationships>
</file>

<file path=ppt/slides/_rels/slide13.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20.wmf"/><Relationship Id="rId5" Type="http://schemas.openxmlformats.org/officeDocument/2006/relationships/oleObject" Target="../embeddings/oleObject20.bin"/><Relationship Id="rId4" Type="http://schemas.openxmlformats.org/officeDocument/2006/relationships/image" Target="../media/image19.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vmlDrawing" Target="../drawings/vmlDrawing7.vml"/><Relationship Id="rId4" Type="http://schemas.openxmlformats.org/officeDocument/2006/relationships/image" Target="../media/image22.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23.wmf"/></Relationships>
</file>

<file path=ppt/slides/_rels/slide16.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25.wmf"/><Relationship Id="rId5" Type="http://schemas.openxmlformats.org/officeDocument/2006/relationships/oleObject" Target="../embeddings/oleObject25.bin"/><Relationship Id="rId4" Type="http://schemas.openxmlformats.org/officeDocument/2006/relationships/image" Target="../media/image2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2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 xmlns:a16="http://schemas.microsoft.com/office/drawing/2014/main"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2</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 xmlns:a16="http://schemas.microsoft.com/office/drawing/2014/main" id="{5441AE38-A11D-4793-BDA3-DCA36976B496}"/>
              </a:ext>
            </a:extLst>
          </p:cNvPr>
          <p:cNvSpPr/>
          <p:nvPr/>
        </p:nvSpPr>
        <p:spPr>
          <a:xfrm>
            <a:off x="3936558" y="2705900"/>
            <a:ext cx="9588706"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光电探测器理论基础</a:t>
            </a:r>
          </a:p>
        </p:txBody>
      </p:sp>
      <p:sp>
        <p:nvSpPr>
          <p:cNvPr id="5" name="矩形 4">
            <a:extLst>
              <a:ext uri="{FF2B5EF4-FFF2-40B4-BE49-F238E27FC236}">
                <a16:creationId xmlns="" xmlns:a16="http://schemas.microsoft.com/office/drawing/2014/main"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 xmlns:a16="http://schemas.microsoft.com/office/drawing/2014/main"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 xmlns:a16="http://schemas.microsoft.com/office/drawing/2014/main" id="{1C44C9C7-7166-4DA9-8A1A-D2BB836F3F54}"/>
              </a:ext>
            </a:extLst>
          </p:cNvPr>
          <p:cNvSpPr/>
          <p:nvPr/>
        </p:nvSpPr>
        <p:spPr>
          <a:xfrm>
            <a:off x="1143000" y="4512279"/>
            <a:ext cx="7159528"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Theoretical Basis of Photodetectors</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 xmlns:a16="http://schemas.microsoft.com/office/drawing/2014/main"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364781" y="293282"/>
            <a:ext cx="3196132" cy="400110"/>
          </a:xfrm>
          <a:prstGeom prst="rect">
            <a:avLst/>
          </a:prstGeom>
          <a:noFill/>
          <a:ln w="9525">
            <a:noFill/>
          </a:ln>
        </p:spPr>
        <p:txBody>
          <a:bodyPr wrap="square">
            <a:spAutoFit/>
          </a:bodyPr>
          <a:lstStyle/>
          <a:p>
            <a:r>
              <a:rPr lang="zh-CN" altLang="en-US" b="1" dirty="0">
                <a:latin typeface="微软雅黑" panose="020B0503020204020204" pitchFamily="34" charset="-122"/>
                <a:ea typeface="微软雅黑" panose="020B0503020204020204" pitchFamily="34" charset="-122"/>
              </a:rPr>
              <a:t>光电探测器的噪声</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光电探测器的噪声</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2.3</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393356" y="693392"/>
            <a:ext cx="2192493" cy="1760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 xmlns:a16="http://schemas.microsoft.com/office/drawing/2014/main" id="{791D85D7-F412-9C48-9F2B-E33F5B7B4F3C}"/>
              </a:ext>
            </a:extLst>
          </p:cNvPr>
          <p:cNvSpPr txBox="1"/>
          <p:nvPr/>
        </p:nvSpPr>
        <p:spPr>
          <a:xfrm>
            <a:off x="1484844" y="293282"/>
            <a:ext cx="2069646"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噪声的基本概念</a:t>
            </a:r>
          </a:p>
        </p:txBody>
      </p:sp>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噪声的基本概念</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2.3.1</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1943970"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7626153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11"/>
          <p:cNvSpPr>
            <a:spLocks/>
          </p:cNvSpPr>
          <p:nvPr/>
        </p:nvSpPr>
        <p:spPr bwMode="auto">
          <a:xfrm>
            <a:off x="9375839" y="3428673"/>
            <a:ext cx="3390900" cy="2440782"/>
          </a:xfrm>
          <a:custGeom>
            <a:avLst/>
            <a:gdLst>
              <a:gd name="T0" fmla="*/ 2147483646 w 1424"/>
              <a:gd name="T1" fmla="*/ 2147483646 h 1025"/>
              <a:gd name="T2" fmla="*/ 2147483646 w 1424"/>
              <a:gd name="T3" fmla="*/ 2147483646 h 1025"/>
              <a:gd name="T4" fmla="*/ 2147483646 w 1424"/>
              <a:gd name="T5" fmla="*/ 2147483646 h 1025"/>
              <a:gd name="T6" fmla="*/ 2147483646 w 1424"/>
              <a:gd name="T7" fmla="*/ 2147483646 h 1025"/>
              <a:gd name="T8" fmla="*/ 2147483646 w 1424"/>
              <a:gd name="T9" fmla="*/ 2147483646 h 1025"/>
              <a:gd name="T10" fmla="*/ 2147483646 w 1424"/>
              <a:gd name="T11" fmla="*/ 2147483646 h 1025"/>
              <a:gd name="T12" fmla="*/ 2147483646 w 1424"/>
              <a:gd name="T13" fmla="*/ 2147483646 h 1025"/>
              <a:gd name="T14" fmla="*/ 2147483646 w 1424"/>
              <a:gd name="T15" fmla="*/ 2147483646 h 1025"/>
              <a:gd name="T16" fmla="*/ 2147483646 w 1424"/>
              <a:gd name="T17" fmla="*/ 2147483646 h 1025"/>
              <a:gd name="T18" fmla="*/ 2147483646 w 1424"/>
              <a:gd name="T19" fmla="*/ 2147483646 h 1025"/>
              <a:gd name="T20" fmla="*/ 2147483646 w 1424"/>
              <a:gd name="T21" fmla="*/ 2147483646 h 1025"/>
              <a:gd name="T22" fmla="*/ 2147483646 w 1424"/>
              <a:gd name="T23" fmla="*/ 2147483646 h 1025"/>
              <a:gd name="T24" fmla="*/ 2147483646 w 1424"/>
              <a:gd name="T25" fmla="*/ 2147483646 h 1025"/>
              <a:gd name="T26" fmla="*/ 2147483646 w 1424"/>
              <a:gd name="T27" fmla="*/ 2147483646 h 1025"/>
              <a:gd name="T28" fmla="*/ 2147483646 w 1424"/>
              <a:gd name="T29" fmla="*/ 2147483646 h 1025"/>
              <a:gd name="T30" fmla="*/ 2147483646 w 1424"/>
              <a:gd name="T31" fmla="*/ 2147483646 h 1025"/>
              <a:gd name="T32" fmla="*/ 2147483646 w 1424"/>
              <a:gd name="T33" fmla="*/ 2147483646 h 1025"/>
              <a:gd name="T34" fmla="*/ 2147483646 w 1424"/>
              <a:gd name="T35" fmla="*/ 2147483646 h 1025"/>
              <a:gd name="T36" fmla="*/ 2147483646 w 1424"/>
              <a:gd name="T37" fmla="*/ 2147483646 h 1025"/>
              <a:gd name="T38" fmla="*/ 2147483646 w 1424"/>
              <a:gd name="T39" fmla="*/ 2147483646 h 1025"/>
              <a:gd name="T40" fmla="*/ 2147483646 w 1424"/>
              <a:gd name="T41" fmla="*/ 2147483646 h 1025"/>
              <a:gd name="T42" fmla="*/ 2147483646 w 1424"/>
              <a:gd name="T43" fmla="*/ 2147483646 h 1025"/>
              <a:gd name="T44" fmla="*/ 2147483646 w 1424"/>
              <a:gd name="T45" fmla="*/ 2147483646 h 1025"/>
              <a:gd name="T46" fmla="*/ 2147483646 w 1424"/>
              <a:gd name="T47" fmla="*/ 2147483646 h 1025"/>
              <a:gd name="T48" fmla="*/ 2147483646 w 1424"/>
              <a:gd name="T49" fmla="*/ 2147483646 h 1025"/>
              <a:gd name="T50" fmla="*/ 2147483646 w 1424"/>
              <a:gd name="T51" fmla="*/ 2147483646 h 1025"/>
              <a:gd name="T52" fmla="*/ 2147483646 w 1424"/>
              <a:gd name="T53" fmla="*/ 2147483646 h 1025"/>
              <a:gd name="T54" fmla="*/ 2147483646 w 1424"/>
              <a:gd name="T55" fmla="*/ 2147483646 h 1025"/>
              <a:gd name="T56" fmla="*/ 2147483646 w 1424"/>
              <a:gd name="T57" fmla="*/ 2147483646 h 1025"/>
              <a:gd name="T58" fmla="*/ 2147483646 w 1424"/>
              <a:gd name="T59" fmla="*/ 2147483646 h 1025"/>
              <a:gd name="T60" fmla="*/ 2147483646 w 1424"/>
              <a:gd name="T61" fmla="*/ 2147483646 h 1025"/>
              <a:gd name="T62" fmla="*/ 2147483646 w 1424"/>
              <a:gd name="T63" fmla="*/ 2147483646 h 10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24"/>
              <a:gd name="T97" fmla="*/ 0 h 1025"/>
              <a:gd name="T98" fmla="*/ 1424 w 1424"/>
              <a:gd name="T99" fmla="*/ 1025 h 10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24" h="1025">
                <a:moveTo>
                  <a:pt x="0" y="472"/>
                </a:moveTo>
                <a:cubicBezTo>
                  <a:pt x="2" y="412"/>
                  <a:pt x="1" y="353"/>
                  <a:pt x="6" y="293"/>
                </a:cubicBezTo>
                <a:cubicBezTo>
                  <a:pt x="7" y="279"/>
                  <a:pt x="9" y="320"/>
                  <a:pt x="11" y="334"/>
                </a:cubicBezTo>
                <a:cubicBezTo>
                  <a:pt x="19" y="402"/>
                  <a:pt x="12" y="371"/>
                  <a:pt x="23" y="414"/>
                </a:cubicBezTo>
                <a:cubicBezTo>
                  <a:pt x="53" y="407"/>
                  <a:pt x="49" y="402"/>
                  <a:pt x="57" y="374"/>
                </a:cubicBezTo>
                <a:cubicBezTo>
                  <a:pt x="59" y="353"/>
                  <a:pt x="60" y="332"/>
                  <a:pt x="63" y="311"/>
                </a:cubicBezTo>
                <a:cubicBezTo>
                  <a:pt x="66" y="288"/>
                  <a:pt x="115" y="217"/>
                  <a:pt x="132" y="190"/>
                </a:cubicBezTo>
                <a:cubicBezTo>
                  <a:pt x="134" y="175"/>
                  <a:pt x="132" y="158"/>
                  <a:pt x="138" y="144"/>
                </a:cubicBezTo>
                <a:cubicBezTo>
                  <a:pt x="141" y="138"/>
                  <a:pt x="149" y="136"/>
                  <a:pt x="155" y="132"/>
                </a:cubicBezTo>
                <a:cubicBezTo>
                  <a:pt x="178" y="117"/>
                  <a:pt x="198" y="101"/>
                  <a:pt x="224" y="92"/>
                </a:cubicBezTo>
                <a:cubicBezTo>
                  <a:pt x="250" y="166"/>
                  <a:pt x="235" y="114"/>
                  <a:pt x="242" y="253"/>
                </a:cubicBezTo>
                <a:cubicBezTo>
                  <a:pt x="274" y="232"/>
                  <a:pt x="272" y="204"/>
                  <a:pt x="294" y="247"/>
                </a:cubicBezTo>
                <a:cubicBezTo>
                  <a:pt x="296" y="270"/>
                  <a:pt x="294" y="294"/>
                  <a:pt x="299" y="317"/>
                </a:cubicBezTo>
                <a:cubicBezTo>
                  <a:pt x="300" y="323"/>
                  <a:pt x="302" y="304"/>
                  <a:pt x="305" y="299"/>
                </a:cubicBezTo>
                <a:cubicBezTo>
                  <a:pt x="313" y="287"/>
                  <a:pt x="325" y="277"/>
                  <a:pt x="334" y="265"/>
                </a:cubicBezTo>
                <a:cubicBezTo>
                  <a:pt x="362" y="180"/>
                  <a:pt x="305" y="423"/>
                  <a:pt x="357" y="345"/>
                </a:cubicBezTo>
                <a:cubicBezTo>
                  <a:pt x="384" y="241"/>
                  <a:pt x="335" y="420"/>
                  <a:pt x="368" y="535"/>
                </a:cubicBezTo>
                <a:cubicBezTo>
                  <a:pt x="375" y="561"/>
                  <a:pt x="400" y="487"/>
                  <a:pt x="426" y="478"/>
                </a:cubicBezTo>
                <a:cubicBezTo>
                  <a:pt x="432" y="470"/>
                  <a:pt x="434" y="457"/>
                  <a:pt x="443" y="455"/>
                </a:cubicBezTo>
                <a:cubicBezTo>
                  <a:pt x="449" y="453"/>
                  <a:pt x="449" y="466"/>
                  <a:pt x="449" y="472"/>
                </a:cubicBezTo>
                <a:cubicBezTo>
                  <a:pt x="453" y="537"/>
                  <a:pt x="453" y="603"/>
                  <a:pt x="455" y="668"/>
                </a:cubicBezTo>
                <a:cubicBezTo>
                  <a:pt x="466" y="650"/>
                  <a:pt x="472" y="633"/>
                  <a:pt x="484" y="616"/>
                </a:cubicBezTo>
                <a:cubicBezTo>
                  <a:pt x="486" y="610"/>
                  <a:pt x="488" y="593"/>
                  <a:pt x="489" y="599"/>
                </a:cubicBezTo>
                <a:cubicBezTo>
                  <a:pt x="503" y="665"/>
                  <a:pt x="493" y="735"/>
                  <a:pt x="512" y="800"/>
                </a:cubicBezTo>
                <a:cubicBezTo>
                  <a:pt x="523" y="768"/>
                  <a:pt x="549" y="730"/>
                  <a:pt x="570" y="702"/>
                </a:cubicBezTo>
                <a:cubicBezTo>
                  <a:pt x="572" y="696"/>
                  <a:pt x="570" y="685"/>
                  <a:pt x="576" y="685"/>
                </a:cubicBezTo>
                <a:cubicBezTo>
                  <a:pt x="582" y="685"/>
                  <a:pt x="581" y="696"/>
                  <a:pt x="582" y="702"/>
                </a:cubicBezTo>
                <a:cubicBezTo>
                  <a:pt x="585" y="716"/>
                  <a:pt x="585" y="729"/>
                  <a:pt x="587" y="743"/>
                </a:cubicBezTo>
                <a:cubicBezTo>
                  <a:pt x="591" y="766"/>
                  <a:pt x="595" y="789"/>
                  <a:pt x="599" y="812"/>
                </a:cubicBezTo>
                <a:cubicBezTo>
                  <a:pt x="600" y="808"/>
                  <a:pt x="610" y="777"/>
                  <a:pt x="616" y="777"/>
                </a:cubicBezTo>
                <a:cubicBezTo>
                  <a:pt x="622" y="777"/>
                  <a:pt x="620" y="789"/>
                  <a:pt x="622" y="795"/>
                </a:cubicBezTo>
                <a:cubicBezTo>
                  <a:pt x="624" y="803"/>
                  <a:pt x="626" y="810"/>
                  <a:pt x="628" y="818"/>
                </a:cubicBezTo>
                <a:cubicBezTo>
                  <a:pt x="630" y="841"/>
                  <a:pt x="626" y="865"/>
                  <a:pt x="633" y="887"/>
                </a:cubicBezTo>
                <a:cubicBezTo>
                  <a:pt x="635" y="894"/>
                  <a:pt x="639" y="865"/>
                  <a:pt x="645" y="869"/>
                </a:cubicBezTo>
                <a:cubicBezTo>
                  <a:pt x="653" y="874"/>
                  <a:pt x="647" y="889"/>
                  <a:pt x="651" y="898"/>
                </a:cubicBezTo>
                <a:cubicBezTo>
                  <a:pt x="662" y="924"/>
                  <a:pt x="680" y="947"/>
                  <a:pt x="703" y="962"/>
                </a:cubicBezTo>
                <a:cubicBezTo>
                  <a:pt x="724" y="993"/>
                  <a:pt x="735" y="1000"/>
                  <a:pt x="760" y="1025"/>
                </a:cubicBezTo>
                <a:cubicBezTo>
                  <a:pt x="812" y="951"/>
                  <a:pt x="782" y="838"/>
                  <a:pt x="754" y="754"/>
                </a:cubicBezTo>
                <a:cubicBezTo>
                  <a:pt x="794" y="729"/>
                  <a:pt x="805" y="672"/>
                  <a:pt x="829" y="633"/>
                </a:cubicBezTo>
                <a:cubicBezTo>
                  <a:pt x="843" y="578"/>
                  <a:pt x="832" y="600"/>
                  <a:pt x="858" y="564"/>
                </a:cubicBezTo>
                <a:cubicBezTo>
                  <a:pt x="875" y="629"/>
                  <a:pt x="866" y="744"/>
                  <a:pt x="875" y="547"/>
                </a:cubicBezTo>
                <a:cubicBezTo>
                  <a:pt x="880" y="589"/>
                  <a:pt x="892" y="612"/>
                  <a:pt x="904" y="651"/>
                </a:cubicBezTo>
                <a:cubicBezTo>
                  <a:pt x="911" y="562"/>
                  <a:pt x="904" y="420"/>
                  <a:pt x="950" y="345"/>
                </a:cubicBezTo>
                <a:cubicBezTo>
                  <a:pt x="952" y="334"/>
                  <a:pt x="955" y="322"/>
                  <a:pt x="956" y="311"/>
                </a:cubicBezTo>
                <a:cubicBezTo>
                  <a:pt x="962" y="185"/>
                  <a:pt x="946" y="0"/>
                  <a:pt x="985" y="149"/>
                </a:cubicBezTo>
                <a:cubicBezTo>
                  <a:pt x="996" y="190"/>
                  <a:pt x="983" y="166"/>
                  <a:pt x="1002" y="196"/>
                </a:cubicBezTo>
                <a:cubicBezTo>
                  <a:pt x="1004" y="205"/>
                  <a:pt x="999" y="225"/>
                  <a:pt x="1008" y="224"/>
                </a:cubicBezTo>
                <a:cubicBezTo>
                  <a:pt x="1024" y="222"/>
                  <a:pt x="1028" y="197"/>
                  <a:pt x="1042" y="190"/>
                </a:cubicBezTo>
                <a:cubicBezTo>
                  <a:pt x="1050" y="186"/>
                  <a:pt x="1057" y="182"/>
                  <a:pt x="1065" y="178"/>
                </a:cubicBezTo>
                <a:cubicBezTo>
                  <a:pt x="1073" y="157"/>
                  <a:pt x="1101" y="127"/>
                  <a:pt x="1123" y="121"/>
                </a:cubicBezTo>
                <a:cubicBezTo>
                  <a:pt x="1145" y="98"/>
                  <a:pt x="1147" y="61"/>
                  <a:pt x="1169" y="98"/>
                </a:cubicBezTo>
                <a:cubicBezTo>
                  <a:pt x="1158" y="214"/>
                  <a:pt x="1159" y="152"/>
                  <a:pt x="1181" y="121"/>
                </a:cubicBezTo>
                <a:cubicBezTo>
                  <a:pt x="1185" y="129"/>
                  <a:pt x="1191" y="136"/>
                  <a:pt x="1192" y="144"/>
                </a:cubicBezTo>
                <a:cubicBezTo>
                  <a:pt x="1213" y="414"/>
                  <a:pt x="1160" y="377"/>
                  <a:pt x="1221" y="305"/>
                </a:cubicBezTo>
                <a:cubicBezTo>
                  <a:pt x="1246" y="276"/>
                  <a:pt x="1226" y="286"/>
                  <a:pt x="1255" y="276"/>
                </a:cubicBezTo>
                <a:cubicBezTo>
                  <a:pt x="1268" y="345"/>
                  <a:pt x="1267" y="364"/>
                  <a:pt x="1284" y="305"/>
                </a:cubicBezTo>
                <a:cubicBezTo>
                  <a:pt x="1286" y="313"/>
                  <a:pt x="1289" y="320"/>
                  <a:pt x="1290" y="328"/>
                </a:cubicBezTo>
                <a:cubicBezTo>
                  <a:pt x="1293" y="374"/>
                  <a:pt x="1287" y="421"/>
                  <a:pt x="1296" y="466"/>
                </a:cubicBezTo>
                <a:cubicBezTo>
                  <a:pt x="1298" y="475"/>
                  <a:pt x="1306" y="449"/>
                  <a:pt x="1313" y="443"/>
                </a:cubicBezTo>
                <a:cubicBezTo>
                  <a:pt x="1319" y="437"/>
                  <a:pt x="1328" y="436"/>
                  <a:pt x="1336" y="432"/>
                </a:cubicBezTo>
                <a:cubicBezTo>
                  <a:pt x="1340" y="482"/>
                  <a:pt x="1339" y="532"/>
                  <a:pt x="1348" y="581"/>
                </a:cubicBezTo>
                <a:cubicBezTo>
                  <a:pt x="1349" y="588"/>
                  <a:pt x="1354" y="569"/>
                  <a:pt x="1359" y="564"/>
                </a:cubicBezTo>
                <a:cubicBezTo>
                  <a:pt x="1366" y="557"/>
                  <a:pt x="1392" y="545"/>
                  <a:pt x="1399" y="541"/>
                </a:cubicBezTo>
                <a:cubicBezTo>
                  <a:pt x="1405" y="538"/>
                  <a:pt x="1416" y="523"/>
                  <a:pt x="1417" y="530"/>
                </a:cubicBezTo>
                <a:cubicBezTo>
                  <a:pt x="1424" y="562"/>
                  <a:pt x="1417" y="595"/>
                  <a:pt x="1417" y="628"/>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3000"/>
          </a:p>
        </p:txBody>
      </p:sp>
      <p:sp>
        <p:nvSpPr>
          <p:cNvPr id="23" name="Rectangle 12"/>
          <p:cNvSpPr>
            <a:spLocks noChangeArrowheads="1"/>
          </p:cNvSpPr>
          <p:nvPr/>
        </p:nvSpPr>
        <p:spPr bwMode="auto">
          <a:xfrm>
            <a:off x="615954" y="3015334"/>
            <a:ext cx="7121523" cy="743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例如：检查某光电探测器输出电压信号时</a:t>
            </a:r>
          </a:p>
        </p:txBody>
      </p:sp>
      <p:sp>
        <p:nvSpPr>
          <p:cNvPr id="26" name="Rectangle 15"/>
          <p:cNvSpPr>
            <a:spLocks noChangeArrowheads="1"/>
          </p:cNvSpPr>
          <p:nvPr/>
        </p:nvSpPr>
        <p:spPr bwMode="auto">
          <a:xfrm>
            <a:off x="910432" y="6355558"/>
            <a:ext cx="9855995"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dirty="0">
                <a:solidFill>
                  <a:srgbClr val="FF0000"/>
                </a:solidFill>
                <a:latin typeface="微软雅黑" panose="020B0503020204020204" pitchFamily="34" charset="-122"/>
                <a:ea typeface="微软雅黑" panose="020B0503020204020204" pitchFamily="34" charset="-122"/>
              </a:rPr>
              <a:t>噪声</a:t>
            </a:r>
            <a:r>
              <a:rPr lang="zh-CN" altLang="en-US" dirty="0">
                <a:latin typeface="微软雅黑" panose="020B0503020204020204" pitchFamily="34" charset="-122"/>
                <a:ea typeface="微软雅黑" panose="020B0503020204020204" pitchFamily="34" charset="-122"/>
              </a:rPr>
              <a:t>影响信号（特别是</a:t>
            </a:r>
            <a:r>
              <a:rPr lang="zh-CN" altLang="en-US" dirty="0">
                <a:solidFill>
                  <a:srgbClr val="FF0000"/>
                </a:solidFill>
                <a:latin typeface="微软雅黑" panose="020B0503020204020204" pitchFamily="34" charset="-122"/>
                <a:ea typeface="微软雅黑" panose="020B0503020204020204" pitchFamily="34" charset="-122"/>
              </a:rPr>
              <a:t>弱信号</a:t>
            </a:r>
            <a:r>
              <a:rPr lang="zh-CN" altLang="en-US" dirty="0">
                <a:latin typeface="微软雅黑" panose="020B0503020204020204" pitchFamily="34" charset="-122"/>
                <a:ea typeface="微软雅黑" panose="020B0503020204020204" pitchFamily="34" charset="-122"/>
              </a:rPr>
              <a:t>）的测量和处理</a:t>
            </a:r>
          </a:p>
        </p:txBody>
      </p:sp>
      <p:sp>
        <p:nvSpPr>
          <p:cNvPr id="27" name="Text Box 16"/>
          <p:cNvSpPr txBox="1">
            <a:spLocks noChangeArrowheads="1"/>
          </p:cNvSpPr>
          <p:nvPr/>
        </p:nvSpPr>
        <p:spPr bwMode="auto">
          <a:xfrm>
            <a:off x="572294" y="2224070"/>
            <a:ext cx="95623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kumimoji="1" lang="zh-CN" altLang="en-US" dirty="0">
                <a:solidFill>
                  <a:srgbClr val="FF0000"/>
                </a:solidFill>
                <a:latin typeface="微软雅黑" panose="020B0503020204020204" pitchFamily="34" charset="-122"/>
                <a:ea typeface="微软雅黑" panose="020B0503020204020204" pitchFamily="34" charset="-122"/>
              </a:rPr>
              <a:t>噪声</a:t>
            </a:r>
            <a:r>
              <a:rPr kumimoji="1" lang="zh-CN" altLang="en-US" dirty="0">
                <a:latin typeface="微软雅黑" panose="020B0503020204020204" pitchFamily="34" charset="-122"/>
                <a:ea typeface="微软雅黑" panose="020B0503020204020204" pitchFamily="34" charset="-122"/>
              </a:rPr>
              <a:t>是指随机的、瞬间的、幅度不能预先知道的起伏。</a:t>
            </a:r>
          </a:p>
        </p:txBody>
      </p:sp>
      <p:grpSp>
        <p:nvGrpSpPr>
          <p:cNvPr id="12300" name="组合 1"/>
          <p:cNvGrpSpPr>
            <a:grpSpLocks/>
          </p:cNvGrpSpPr>
          <p:nvPr/>
        </p:nvGrpSpPr>
        <p:grpSpPr bwMode="auto">
          <a:xfrm>
            <a:off x="9319862" y="3732059"/>
            <a:ext cx="3238840" cy="1953731"/>
            <a:chOff x="6057900" y="2346735"/>
            <a:chExt cx="2159000" cy="1302922"/>
          </a:xfrm>
        </p:grpSpPr>
        <p:sp>
          <p:nvSpPr>
            <p:cNvPr id="12307" name="Freeform 6"/>
            <p:cNvSpPr>
              <a:spLocks/>
            </p:cNvSpPr>
            <p:nvPr/>
          </p:nvSpPr>
          <p:spPr bwMode="auto">
            <a:xfrm>
              <a:off x="6057900" y="2346735"/>
              <a:ext cx="719138" cy="647700"/>
            </a:xfrm>
            <a:custGeom>
              <a:avLst/>
              <a:gdLst>
                <a:gd name="T0" fmla="*/ 0 w 453"/>
                <a:gd name="T1" fmla="*/ 2147483646 h 408"/>
                <a:gd name="T2" fmla="*/ 2147483646 w 453"/>
                <a:gd name="T3" fmla="*/ 0 h 408"/>
                <a:gd name="T4" fmla="*/ 2147483646 w 453"/>
                <a:gd name="T5" fmla="*/ 2147483646 h 408"/>
                <a:gd name="T6" fmla="*/ 0 60000 65536"/>
                <a:gd name="T7" fmla="*/ 0 60000 65536"/>
                <a:gd name="T8" fmla="*/ 0 60000 65536"/>
                <a:gd name="T9" fmla="*/ 0 w 453"/>
                <a:gd name="T10" fmla="*/ 0 h 408"/>
                <a:gd name="T11" fmla="*/ 453 w 453"/>
                <a:gd name="T12" fmla="*/ 408 h 408"/>
              </a:gdLst>
              <a:ahLst/>
              <a:cxnLst>
                <a:cxn ang="T6">
                  <a:pos x="T0" y="T1"/>
                </a:cxn>
                <a:cxn ang="T7">
                  <a:pos x="T2" y="T3"/>
                </a:cxn>
                <a:cxn ang="T8">
                  <a:pos x="T4" y="T5"/>
                </a:cxn>
              </a:cxnLst>
              <a:rect l="T9" t="T10" r="T11" b="T12"/>
              <a:pathLst>
                <a:path w="453" h="408">
                  <a:moveTo>
                    <a:pt x="0" y="408"/>
                  </a:moveTo>
                  <a:cubicBezTo>
                    <a:pt x="76" y="204"/>
                    <a:pt x="152" y="0"/>
                    <a:pt x="227" y="0"/>
                  </a:cubicBezTo>
                  <a:cubicBezTo>
                    <a:pt x="302" y="0"/>
                    <a:pt x="415" y="340"/>
                    <a:pt x="453" y="408"/>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3000"/>
            </a:p>
          </p:txBody>
        </p:sp>
        <p:sp>
          <p:nvSpPr>
            <p:cNvPr id="12308" name="Freeform 7"/>
            <p:cNvSpPr>
              <a:spLocks/>
            </p:cNvSpPr>
            <p:nvPr/>
          </p:nvSpPr>
          <p:spPr bwMode="auto">
            <a:xfrm rot="10800000">
              <a:off x="6777038" y="3001957"/>
              <a:ext cx="719137" cy="647700"/>
            </a:xfrm>
            <a:custGeom>
              <a:avLst/>
              <a:gdLst>
                <a:gd name="T0" fmla="*/ 0 w 453"/>
                <a:gd name="T1" fmla="*/ 2147483646 h 408"/>
                <a:gd name="T2" fmla="*/ 2147483646 w 453"/>
                <a:gd name="T3" fmla="*/ 0 h 408"/>
                <a:gd name="T4" fmla="*/ 2147483646 w 453"/>
                <a:gd name="T5" fmla="*/ 2147483646 h 408"/>
                <a:gd name="T6" fmla="*/ 0 60000 65536"/>
                <a:gd name="T7" fmla="*/ 0 60000 65536"/>
                <a:gd name="T8" fmla="*/ 0 60000 65536"/>
                <a:gd name="T9" fmla="*/ 0 w 453"/>
                <a:gd name="T10" fmla="*/ 0 h 408"/>
                <a:gd name="T11" fmla="*/ 453 w 453"/>
                <a:gd name="T12" fmla="*/ 408 h 408"/>
              </a:gdLst>
              <a:ahLst/>
              <a:cxnLst>
                <a:cxn ang="T6">
                  <a:pos x="T0" y="T1"/>
                </a:cxn>
                <a:cxn ang="T7">
                  <a:pos x="T2" y="T3"/>
                </a:cxn>
                <a:cxn ang="T8">
                  <a:pos x="T4" y="T5"/>
                </a:cxn>
              </a:cxnLst>
              <a:rect l="T9" t="T10" r="T11" b="T12"/>
              <a:pathLst>
                <a:path w="453" h="408">
                  <a:moveTo>
                    <a:pt x="0" y="408"/>
                  </a:moveTo>
                  <a:cubicBezTo>
                    <a:pt x="76" y="204"/>
                    <a:pt x="152" y="0"/>
                    <a:pt x="227" y="0"/>
                  </a:cubicBezTo>
                  <a:cubicBezTo>
                    <a:pt x="302" y="0"/>
                    <a:pt x="415" y="340"/>
                    <a:pt x="453" y="408"/>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rot="10800000"/>
            <a:lstStyle/>
            <a:p>
              <a:endParaRPr lang="zh-CN" altLang="en-US" sz="3000"/>
            </a:p>
          </p:txBody>
        </p:sp>
        <p:sp>
          <p:nvSpPr>
            <p:cNvPr id="12309" name="Freeform 10"/>
            <p:cNvSpPr>
              <a:spLocks/>
            </p:cNvSpPr>
            <p:nvPr/>
          </p:nvSpPr>
          <p:spPr bwMode="auto">
            <a:xfrm>
              <a:off x="7497763" y="2373313"/>
              <a:ext cx="719137" cy="647700"/>
            </a:xfrm>
            <a:custGeom>
              <a:avLst/>
              <a:gdLst>
                <a:gd name="T0" fmla="*/ 0 w 453"/>
                <a:gd name="T1" fmla="*/ 2147483646 h 408"/>
                <a:gd name="T2" fmla="*/ 2147483646 w 453"/>
                <a:gd name="T3" fmla="*/ 0 h 408"/>
                <a:gd name="T4" fmla="*/ 2147483646 w 453"/>
                <a:gd name="T5" fmla="*/ 2147483646 h 408"/>
                <a:gd name="T6" fmla="*/ 0 60000 65536"/>
                <a:gd name="T7" fmla="*/ 0 60000 65536"/>
                <a:gd name="T8" fmla="*/ 0 60000 65536"/>
                <a:gd name="T9" fmla="*/ 0 w 453"/>
                <a:gd name="T10" fmla="*/ 0 h 408"/>
                <a:gd name="T11" fmla="*/ 453 w 453"/>
                <a:gd name="T12" fmla="*/ 408 h 408"/>
              </a:gdLst>
              <a:ahLst/>
              <a:cxnLst>
                <a:cxn ang="T6">
                  <a:pos x="T0" y="T1"/>
                </a:cxn>
                <a:cxn ang="T7">
                  <a:pos x="T2" y="T3"/>
                </a:cxn>
                <a:cxn ang="T8">
                  <a:pos x="T4" y="T5"/>
                </a:cxn>
              </a:cxnLst>
              <a:rect l="T9" t="T10" r="T11" b="T12"/>
              <a:pathLst>
                <a:path w="453" h="408">
                  <a:moveTo>
                    <a:pt x="0" y="408"/>
                  </a:moveTo>
                  <a:cubicBezTo>
                    <a:pt x="76" y="204"/>
                    <a:pt x="152" y="0"/>
                    <a:pt x="227" y="0"/>
                  </a:cubicBezTo>
                  <a:cubicBezTo>
                    <a:pt x="302" y="0"/>
                    <a:pt x="415" y="340"/>
                    <a:pt x="453" y="408"/>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3000"/>
            </a:p>
          </p:txBody>
        </p:sp>
      </p:grpSp>
      <p:grpSp>
        <p:nvGrpSpPr>
          <p:cNvPr id="2" name="组合 1"/>
          <p:cNvGrpSpPr/>
          <p:nvPr/>
        </p:nvGrpSpPr>
        <p:grpSpPr>
          <a:xfrm>
            <a:off x="8780464" y="2867025"/>
            <a:ext cx="4491038" cy="3021807"/>
            <a:chOff x="8780464" y="2867025"/>
            <a:chExt cx="4491038" cy="3021807"/>
          </a:xfrm>
        </p:grpSpPr>
        <p:sp>
          <p:nvSpPr>
            <p:cNvPr id="12302" name="Line 8"/>
            <p:cNvSpPr>
              <a:spLocks noChangeShapeType="1"/>
            </p:cNvSpPr>
            <p:nvPr/>
          </p:nvSpPr>
          <p:spPr bwMode="auto">
            <a:xfrm>
              <a:off x="8780464" y="4700985"/>
              <a:ext cx="442959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3000"/>
            </a:p>
          </p:txBody>
        </p:sp>
        <p:sp>
          <p:nvSpPr>
            <p:cNvPr id="12303" name="Line 9"/>
            <p:cNvSpPr>
              <a:spLocks noChangeShapeType="1"/>
            </p:cNvSpPr>
            <p:nvPr/>
          </p:nvSpPr>
          <p:spPr bwMode="auto">
            <a:xfrm flipV="1">
              <a:off x="9321064" y="3082275"/>
              <a:ext cx="0" cy="2806557"/>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sz="3000"/>
            </a:p>
          </p:txBody>
        </p:sp>
        <p:sp>
          <p:nvSpPr>
            <p:cNvPr id="12304" name="文本框 2"/>
            <p:cNvSpPr txBox="1">
              <a:spLocks noChangeArrowheads="1"/>
            </p:cNvSpPr>
            <p:nvPr/>
          </p:nvSpPr>
          <p:spPr bwMode="auto">
            <a:xfrm>
              <a:off x="8929427" y="2867025"/>
              <a:ext cx="3368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sz="4200" i="1" dirty="0" smtClean="0">
                  <a:latin typeface="Times New Roman" panose="02020603050405020304" pitchFamily="18" charset="0"/>
                  <a:cs typeface="Times New Roman" panose="02020603050405020304" pitchFamily="18" charset="0"/>
                </a:rPr>
                <a:t>v</a:t>
              </a:r>
              <a:endParaRPr lang="zh-CN" altLang="en-US" sz="4200" i="1" dirty="0">
                <a:latin typeface="Times New Roman" panose="02020603050405020304" pitchFamily="18" charset="0"/>
                <a:cs typeface="Times New Roman" panose="02020603050405020304" pitchFamily="18" charset="0"/>
              </a:endParaRPr>
            </a:p>
          </p:txBody>
        </p:sp>
        <p:sp>
          <p:nvSpPr>
            <p:cNvPr id="12305" name="文本框 27"/>
            <p:cNvSpPr txBox="1">
              <a:spLocks noChangeArrowheads="1"/>
            </p:cNvSpPr>
            <p:nvPr/>
          </p:nvSpPr>
          <p:spPr bwMode="auto">
            <a:xfrm>
              <a:off x="12934639" y="4633748"/>
              <a:ext cx="3368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sz="4200" i="1">
                  <a:latin typeface="Times New Roman" panose="02020603050405020304" pitchFamily="18" charset="0"/>
                  <a:cs typeface="Times New Roman" panose="02020603050405020304" pitchFamily="18" charset="0"/>
                </a:rPr>
                <a:t>t</a:t>
              </a:r>
              <a:endParaRPr lang="zh-CN" altLang="en-US" sz="4200" i="1">
                <a:latin typeface="Times New Roman" panose="02020603050405020304" pitchFamily="18" charset="0"/>
                <a:cs typeface="Times New Roman" panose="02020603050405020304" pitchFamily="18" charset="0"/>
              </a:endParaRPr>
            </a:p>
          </p:txBody>
        </p:sp>
        <p:sp>
          <p:nvSpPr>
            <p:cNvPr id="12306" name="文本框 28"/>
            <p:cNvSpPr txBox="1">
              <a:spLocks noChangeArrowheads="1"/>
            </p:cNvSpPr>
            <p:nvPr/>
          </p:nvSpPr>
          <p:spPr bwMode="auto">
            <a:xfrm>
              <a:off x="9050510" y="4620696"/>
              <a:ext cx="33686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sz="3600" b="0">
                  <a:latin typeface="Times New Roman" panose="02020603050405020304" pitchFamily="18" charset="0"/>
                  <a:cs typeface="Times New Roman" panose="02020603050405020304" pitchFamily="18" charset="0"/>
                </a:rPr>
                <a:t>0</a:t>
              </a:r>
              <a:endParaRPr lang="zh-CN" altLang="en-US" sz="3600" b="0">
                <a:latin typeface="Times New Roman" panose="02020603050405020304" pitchFamily="18" charset="0"/>
                <a:cs typeface="Times New Roman" panose="02020603050405020304" pitchFamily="18" charset="0"/>
              </a:endParaRPr>
            </a:p>
          </p:txBody>
        </p:sp>
      </p:grpSp>
      <p:sp>
        <p:nvSpPr>
          <p:cNvPr id="30" name="Rectangle 12"/>
          <p:cNvSpPr>
            <a:spLocks noChangeArrowheads="1"/>
          </p:cNvSpPr>
          <p:nvPr/>
        </p:nvSpPr>
        <p:spPr bwMode="auto">
          <a:xfrm>
            <a:off x="1636714" y="5114925"/>
            <a:ext cx="610076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marL="457200" indent="-457200" eaLnBrk="1" hangingPunct="1">
              <a:lnSpc>
                <a:spcPct val="150000"/>
              </a:lnSpc>
              <a:buFont typeface="Wingdings" panose="05000000000000000000" pitchFamily="2" charset="2"/>
              <a:buChar char="Ø"/>
            </a:pPr>
            <a:r>
              <a:rPr lang="zh-CN" altLang="en-US" dirty="0">
                <a:solidFill>
                  <a:srgbClr val="FF0000"/>
                </a:solidFill>
                <a:latin typeface="微软雅黑" panose="020B0503020204020204" pitchFamily="34" charset="-122"/>
                <a:ea typeface="微软雅黑" panose="020B0503020204020204" pitchFamily="34" charset="-122"/>
              </a:rPr>
              <a:t>实际</a:t>
            </a:r>
            <a:r>
              <a:rPr lang="zh-CN" altLang="en-US" dirty="0">
                <a:latin typeface="微软雅黑" panose="020B0503020204020204" pitchFamily="34" charset="-122"/>
                <a:ea typeface="微软雅黑" panose="020B0503020204020204" pitchFamily="34" charset="-122"/>
              </a:rPr>
              <a:t>输出为图中红色曲线</a:t>
            </a:r>
          </a:p>
        </p:txBody>
      </p:sp>
      <p:sp>
        <p:nvSpPr>
          <p:cNvPr id="31" name="Rectangle 12"/>
          <p:cNvSpPr>
            <a:spLocks noChangeArrowheads="1"/>
          </p:cNvSpPr>
          <p:nvPr/>
        </p:nvSpPr>
        <p:spPr bwMode="auto">
          <a:xfrm>
            <a:off x="1593852" y="4102895"/>
            <a:ext cx="6860381" cy="743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marL="457200" indent="-457200" eaLnBrk="1" hangingPunct="1">
              <a:lnSpc>
                <a:spcPct val="150000"/>
              </a:lnSpc>
              <a:buFont typeface="Wingdings" panose="05000000000000000000" pitchFamily="2" charset="2"/>
              <a:buChar char="Ø"/>
            </a:pPr>
            <a:r>
              <a:rPr lang="zh-CN" altLang="en-US" dirty="0">
                <a:solidFill>
                  <a:srgbClr val="0000FF"/>
                </a:solidFill>
                <a:latin typeface="微软雅黑" panose="020B0503020204020204" pitchFamily="34" charset="-122"/>
                <a:ea typeface="微软雅黑" panose="020B0503020204020204" pitchFamily="34" charset="-122"/>
              </a:rPr>
              <a:t>理想</a:t>
            </a:r>
            <a:r>
              <a:rPr lang="zh-CN" altLang="en-US" dirty="0">
                <a:latin typeface="微软雅黑" panose="020B0503020204020204" pitchFamily="34" charset="-122"/>
                <a:ea typeface="微软雅黑" panose="020B0503020204020204" pitchFamily="34" charset="-122"/>
              </a:rPr>
              <a:t>输出是图中蓝色正弦信号</a:t>
            </a:r>
          </a:p>
        </p:txBody>
      </p:sp>
      <p:sp>
        <p:nvSpPr>
          <p:cNvPr id="32" name="矩形 31">
            <a:extLst>
              <a:ext uri="{FF2B5EF4-FFF2-40B4-BE49-F238E27FC236}">
                <a16:creationId xmlns="" xmlns:a16="http://schemas.microsoft.com/office/drawing/2014/main" id="{5AD4F068-3795-47FC-8719-DCBCE61D2DC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3" name="矩形 32">
            <a:extLst>
              <a:ext uri="{FF2B5EF4-FFF2-40B4-BE49-F238E27FC236}">
                <a16:creationId xmlns="" xmlns:a16="http://schemas.microsoft.com/office/drawing/2014/main" id="{8E665CC2-FC73-47E9-A5B7-54C6476A7D29}"/>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 xmlns:a16="http://schemas.microsoft.com/office/drawing/2014/main" id="{261EDDAC-CB90-413F-A8FF-E910D36ACC46}"/>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36" name="矩形 35">
            <a:extLst>
              <a:ext uri="{FF2B5EF4-FFF2-40B4-BE49-F238E27FC236}">
                <a16:creationId xmlns="" xmlns:a16="http://schemas.microsoft.com/office/drawing/2014/main" id="{46262721-7174-4A33-A8C5-65F792F69C7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7" name="矩形 36">
            <a:extLst>
              <a:ext uri="{FF2B5EF4-FFF2-40B4-BE49-F238E27FC236}">
                <a16:creationId xmlns="" xmlns:a16="http://schemas.microsoft.com/office/drawing/2014/main" id="{014B8ADE-0903-4056-88B8-9278AE3AD36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5" name="文本框 60">
            <a:extLst>
              <a:ext uri="{FF2B5EF4-FFF2-40B4-BE49-F238E27FC236}">
                <a16:creationId xmlns="" xmlns:a16="http://schemas.microsoft.com/office/drawing/2014/main" id="{791D85D7-F412-9C48-9F2B-E33F5B7B4F3C}"/>
              </a:ext>
            </a:extLst>
          </p:cNvPr>
          <p:cNvSpPr txBox="1"/>
          <p:nvPr/>
        </p:nvSpPr>
        <p:spPr>
          <a:xfrm>
            <a:off x="1484844" y="293282"/>
            <a:ext cx="2069646"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噪声的基本概念</a:t>
            </a:r>
          </a:p>
        </p:txBody>
      </p:sp>
      <p:cxnSp>
        <p:nvCxnSpPr>
          <p:cNvPr id="28"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1943970"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5058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ox(in)">
                                      <p:cBhvr>
                                        <p:cTn id="12" dur="5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box(in)">
                                      <p:cBhvr>
                                        <p:cTn id="21" dur="5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230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ox(in)">
                                      <p:cBhvr>
                                        <p:cTn id="30" dur="5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box(in)">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box(in)">
                                      <p:cBhvr>
                                        <p:cTn id="4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P spid="26" grpId="0" animBg="1"/>
      <p:bldP spid="27"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14"/>
          <p:cNvGraphicFramePr>
            <a:graphicFrameLocks noChangeAspect="1"/>
          </p:cNvGraphicFramePr>
          <p:nvPr>
            <p:extLst>
              <p:ext uri="{D42A27DB-BD31-4B8C-83A1-F6EECF244321}">
                <p14:modId xmlns:p14="http://schemas.microsoft.com/office/powerpoint/2010/main" val="548537638"/>
              </p:ext>
            </p:extLst>
          </p:nvPr>
        </p:nvGraphicFramePr>
        <p:xfrm>
          <a:off x="1681957" y="2066272"/>
          <a:ext cx="3567113" cy="1200150"/>
        </p:xfrm>
        <a:graphic>
          <a:graphicData uri="http://schemas.openxmlformats.org/presentationml/2006/ole">
            <mc:AlternateContent xmlns:mc="http://schemas.openxmlformats.org/markup-compatibility/2006">
              <mc:Choice xmlns:v="urn:schemas-microsoft-com:vml" Requires="v">
                <p:oleObj spid="_x0000_s51422" r:id="rId3" imgW="876300" imgH="393700" progId="Equation.3">
                  <p:embed/>
                </p:oleObj>
              </mc:Choice>
              <mc:Fallback>
                <p:oleObj r:id="rId3" imgW="876300" imgH="393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1957" y="2066272"/>
                        <a:ext cx="3567113" cy="1200150"/>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30" name="Text Box 15"/>
          <p:cNvSpPr txBox="1">
            <a:spLocks noChangeArrowheads="1"/>
          </p:cNvSpPr>
          <p:nvPr/>
        </p:nvSpPr>
        <p:spPr bwMode="auto">
          <a:xfrm>
            <a:off x="529432" y="3667126"/>
            <a:ext cx="50458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均方噪声电流表示为</a:t>
            </a:r>
          </a:p>
        </p:txBody>
      </p:sp>
      <p:graphicFrame>
        <p:nvGraphicFramePr>
          <p:cNvPr id="1027" name="Object 16"/>
          <p:cNvGraphicFramePr>
            <a:graphicFrameLocks noChangeAspect="1"/>
          </p:cNvGraphicFramePr>
          <p:nvPr/>
        </p:nvGraphicFramePr>
        <p:xfrm>
          <a:off x="1586707" y="4591050"/>
          <a:ext cx="7660482" cy="1126332"/>
        </p:xfrm>
        <a:graphic>
          <a:graphicData uri="http://schemas.openxmlformats.org/presentationml/2006/ole">
            <mc:AlternateContent xmlns:mc="http://schemas.openxmlformats.org/markup-compatibility/2006">
              <mc:Choice xmlns:v="urn:schemas-microsoft-com:vml" Requires="v">
                <p:oleObj spid="_x0000_s51423" r:id="rId5" imgW="2198054" imgH="431987" progId="Equation.DSMT4">
                  <p:embed/>
                </p:oleObj>
              </mc:Choice>
              <mc:Fallback>
                <p:oleObj r:id="rId5" imgW="2198054" imgH="431987"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6707" y="4591050"/>
                        <a:ext cx="7660482" cy="11263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8" name="Object 17"/>
          <p:cNvGraphicFramePr>
            <a:graphicFrameLocks noChangeAspect="1"/>
          </p:cNvGraphicFramePr>
          <p:nvPr/>
        </p:nvGraphicFramePr>
        <p:xfrm>
          <a:off x="5741989" y="6138863"/>
          <a:ext cx="6417468" cy="840582"/>
        </p:xfrm>
        <a:graphic>
          <a:graphicData uri="http://schemas.openxmlformats.org/presentationml/2006/ole">
            <mc:AlternateContent xmlns:mc="http://schemas.openxmlformats.org/markup-compatibility/2006">
              <mc:Choice xmlns:v="urn:schemas-microsoft-com:vml" Requires="v">
                <p:oleObj spid="_x0000_s51424" r:id="rId7" imgW="1524000" imgH="266700" progId="Equation.DSMT4">
                  <p:embed/>
                </p:oleObj>
              </mc:Choice>
              <mc:Fallback>
                <p:oleObj r:id="rId7" imgW="1524000" imgH="2667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41989" y="6138863"/>
                        <a:ext cx="6417468" cy="84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31" name="Rectangle 18"/>
          <p:cNvSpPr>
            <a:spLocks noChangeArrowheads="1"/>
          </p:cNvSpPr>
          <p:nvPr/>
        </p:nvSpPr>
        <p:spPr bwMode="auto">
          <a:xfrm>
            <a:off x="786607" y="6229112"/>
            <a:ext cx="41854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个噪声源</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互不相关）</a:t>
            </a:r>
            <a:r>
              <a:rPr lang="zh-CN" altLang="en-US"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13326" name="Freeform 8"/>
          <p:cNvSpPr>
            <a:spLocks noChangeArrowheads="1"/>
          </p:cNvSpPr>
          <p:nvPr/>
        </p:nvSpPr>
        <p:spPr bwMode="auto">
          <a:xfrm>
            <a:off x="7998330" y="2151185"/>
            <a:ext cx="4156364" cy="395654"/>
          </a:xfrm>
          <a:custGeom>
            <a:avLst/>
            <a:gdLst>
              <a:gd name="T0" fmla="*/ 0 w 2400"/>
              <a:gd name="T1" fmla="*/ 104 h 216"/>
              <a:gd name="T2" fmla="*/ 96 w 2400"/>
              <a:gd name="T3" fmla="*/ 200 h 216"/>
              <a:gd name="T4" fmla="*/ 144 w 2400"/>
              <a:gd name="T5" fmla="*/ 56 h 216"/>
              <a:gd name="T6" fmla="*/ 288 w 2400"/>
              <a:gd name="T7" fmla="*/ 200 h 216"/>
              <a:gd name="T8" fmla="*/ 288 w 2400"/>
              <a:gd name="T9" fmla="*/ 56 h 216"/>
              <a:gd name="T10" fmla="*/ 432 w 2400"/>
              <a:gd name="T11" fmla="*/ 152 h 216"/>
              <a:gd name="T12" fmla="*/ 576 w 2400"/>
              <a:gd name="T13" fmla="*/ 56 h 216"/>
              <a:gd name="T14" fmla="*/ 768 w 2400"/>
              <a:gd name="T15" fmla="*/ 200 h 216"/>
              <a:gd name="T16" fmla="*/ 960 w 2400"/>
              <a:gd name="T17" fmla="*/ 56 h 216"/>
              <a:gd name="T18" fmla="*/ 1008 w 2400"/>
              <a:gd name="T19" fmla="*/ 200 h 216"/>
              <a:gd name="T20" fmla="*/ 1200 w 2400"/>
              <a:gd name="T21" fmla="*/ 104 h 216"/>
              <a:gd name="T22" fmla="*/ 1296 w 2400"/>
              <a:gd name="T23" fmla="*/ 200 h 216"/>
              <a:gd name="T24" fmla="*/ 1488 w 2400"/>
              <a:gd name="T25" fmla="*/ 8 h 216"/>
              <a:gd name="T26" fmla="*/ 1680 w 2400"/>
              <a:gd name="T27" fmla="*/ 200 h 216"/>
              <a:gd name="T28" fmla="*/ 1824 w 2400"/>
              <a:gd name="T29" fmla="*/ 104 h 216"/>
              <a:gd name="T30" fmla="*/ 1968 w 2400"/>
              <a:gd name="T31" fmla="*/ 200 h 216"/>
              <a:gd name="T32" fmla="*/ 2160 w 2400"/>
              <a:gd name="T33" fmla="*/ 8 h 216"/>
              <a:gd name="T34" fmla="*/ 2304 w 2400"/>
              <a:gd name="T35" fmla="*/ 152 h 216"/>
              <a:gd name="T36" fmla="*/ 2400 w 2400"/>
              <a:gd name="T37" fmla="*/ 200 h 2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00"/>
              <a:gd name="T58" fmla="*/ 0 h 216"/>
              <a:gd name="T59" fmla="*/ 2400 w 2400"/>
              <a:gd name="T60" fmla="*/ 216 h 2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00" h="216">
                <a:moveTo>
                  <a:pt x="0" y="104"/>
                </a:moveTo>
                <a:cubicBezTo>
                  <a:pt x="36" y="156"/>
                  <a:pt x="72" y="208"/>
                  <a:pt x="96" y="200"/>
                </a:cubicBezTo>
                <a:cubicBezTo>
                  <a:pt x="120" y="192"/>
                  <a:pt x="112" y="56"/>
                  <a:pt x="144" y="56"/>
                </a:cubicBezTo>
                <a:cubicBezTo>
                  <a:pt x="176" y="56"/>
                  <a:pt x="264" y="200"/>
                  <a:pt x="288" y="200"/>
                </a:cubicBezTo>
                <a:cubicBezTo>
                  <a:pt x="312" y="200"/>
                  <a:pt x="264" y="64"/>
                  <a:pt x="288" y="56"/>
                </a:cubicBezTo>
                <a:cubicBezTo>
                  <a:pt x="312" y="48"/>
                  <a:pt x="384" y="152"/>
                  <a:pt x="432" y="152"/>
                </a:cubicBezTo>
                <a:cubicBezTo>
                  <a:pt x="480" y="152"/>
                  <a:pt x="520" y="48"/>
                  <a:pt x="576" y="56"/>
                </a:cubicBezTo>
                <a:cubicBezTo>
                  <a:pt x="632" y="64"/>
                  <a:pt x="704" y="200"/>
                  <a:pt x="768" y="200"/>
                </a:cubicBezTo>
                <a:cubicBezTo>
                  <a:pt x="832" y="200"/>
                  <a:pt x="920" y="56"/>
                  <a:pt x="960" y="56"/>
                </a:cubicBezTo>
                <a:cubicBezTo>
                  <a:pt x="1000" y="56"/>
                  <a:pt x="968" y="192"/>
                  <a:pt x="1008" y="200"/>
                </a:cubicBezTo>
                <a:cubicBezTo>
                  <a:pt x="1048" y="208"/>
                  <a:pt x="1152" y="104"/>
                  <a:pt x="1200" y="104"/>
                </a:cubicBezTo>
                <a:cubicBezTo>
                  <a:pt x="1248" y="104"/>
                  <a:pt x="1248" y="216"/>
                  <a:pt x="1296" y="200"/>
                </a:cubicBezTo>
                <a:cubicBezTo>
                  <a:pt x="1344" y="184"/>
                  <a:pt x="1424" y="8"/>
                  <a:pt x="1488" y="8"/>
                </a:cubicBezTo>
                <a:cubicBezTo>
                  <a:pt x="1552" y="8"/>
                  <a:pt x="1624" y="184"/>
                  <a:pt x="1680" y="200"/>
                </a:cubicBezTo>
                <a:cubicBezTo>
                  <a:pt x="1736" y="216"/>
                  <a:pt x="1776" y="104"/>
                  <a:pt x="1824" y="104"/>
                </a:cubicBezTo>
                <a:cubicBezTo>
                  <a:pt x="1872" y="104"/>
                  <a:pt x="1912" y="216"/>
                  <a:pt x="1968" y="200"/>
                </a:cubicBezTo>
                <a:cubicBezTo>
                  <a:pt x="2024" y="184"/>
                  <a:pt x="2104" y="16"/>
                  <a:pt x="2160" y="8"/>
                </a:cubicBezTo>
                <a:cubicBezTo>
                  <a:pt x="2216" y="0"/>
                  <a:pt x="2264" y="120"/>
                  <a:pt x="2304" y="152"/>
                </a:cubicBezTo>
                <a:cubicBezTo>
                  <a:pt x="2344" y="184"/>
                  <a:pt x="2384" y="192"/>
                  <a:pt x="2400" y="20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3000"/>
          </a:p>
        </p:txBody>
      </p:sp>
      <p:sp>
        <p:nvSpPr>
          <p:cNvPr id="13327" name="Line 9"/>
          <p:cNvSpPr>
            <a:spLocks noChangeShapeType="1"/>
          </p:cNvSpPr>
          <p:nvPr/>
        </p:nvSpPr>
        <p:spPr bwMode="auto">
          <a:xfrm>
            <a:off x="7998330" y="2429609"/>
            <a:ext cx="5070764"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3328" name="Line 10"/>
          <p:cNvSpPr>
            <a:spLocks noChangeShapeType="1"/>
          </p:cNvSpPr>
          <p:nvPr/>
        </p:nvSpPr>
        <p:spPr bwMode="auto">
          <a:xfrm>
            <a:off x="10575276" y="2429609"/>
            <a:ext cx="0" cy="1318847"/>
          </a:xfrm>
          <a:prstGeom prst="line">
            <a:avLst/>
          </a:prstGeom>
          <a:noFill/>
          <a:ln w="31750">
            <a:solidFill>
              <a:schemeClr val="tx1"/>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sz="3000"/>
          </a:p>
        </p:txBody>
      </p:sp>
      <p:grpSp>
        <p:nvGrpSpPr>
          <p:cNvPr id="3" name="组合 2"/>
          <p:cNvGrpSpPr/>
          <p:nvPr/>
        </p:nvGrpSpPr>
        <p:grpSpPr>
          <a:xfrm>
            <a:off x="7716044" y="1090613"/>
            <a:ext cx="5318342" cy="3392183"/>
            <a:chOff x="7716044" y="1090613"/>
            <a:chExt cx="5318342" cy="3392183"/>
          </a:xfrm>
        </p:grpSpPr>
        <p:sp>
          <p:nvSpPr>
            <p:cNvPr id="13324" name="Line 6"/>
            <p:cNvSpPr>
              <a:spLocks noChangeShapeType="1"/>
            </p:cNvSpPr>
            <p:nvPr/>
          </p:nvSpPr>
          <p:spPr bwMode="auto">
            <a:xfrm>
              <a:off x="7998330" y="3748455"/>
              <a:ext cx="4987636" cy="0"/>
            </a:xfrm>
            <a:prstGeom prst="line">
              <a:avLst/>
            </a:prstGeom>
            <a:noFill/>
            <a:ln w="317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3000"/>
            </a:p>
          </p:txBody>
        </p:sp>
        <p:sp>
          <p:nvSpPr>
            <p:cNvPr id="13325" name="Line 7"/>
            <p:cNvSpPr>
              <a:spLocks noChangeShapeType="1"/>
            </p:cNvSpPr>
            <p:nvPr/>
          </p:nvSpPr>
          <p:spPr bwMode="auto">
            <a:xfrm flipV="1">
              <a:off x="7998330" y="1374531"/>
              <a:ext cx="0" cy="2373924"/>
            </a:xfrm>
            <a:prstGeom prst="line">
              <a:avLst/>
            </a:prstGeom>
            <a:noFill/>
            <a:ln w="3175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3000"/>
            </a:p>
          </p:txBody>
        </p:sp>
        <p:sp>
          <p:nvSpPr>
            <p:cNvPr id="13329" name="Text Box 11"/>
            <p:cNvSpPr txBox="1">
              <a:spLocks noChangeArrowheads="1"/>
            </p:cNvSpPr>
            <p:nvPr/>
          </p:nvSpPr>
          <p:spPr bwMode="auto">
            <a:xfrm>
              <a:off x="7716044" y="1090613"/>
              <a:ext cx="491836"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4800" b="0" i="1" dirty="0" err="1">
                  <a:latin typeface="Times New Roman" panose="02020603050405020304" pitchFamily="18" charset="0"/>
                </a:rPr>
                <a:t>i</a:t>
              </a:r>
              <a:endParaRPr lang="en-US" altLang="zh-CN" sz="4800" b="0" i="1" dirty="0">
                <a:latin typeface="Times New Roman" panose="02020603050405020304" pitchFamily="18" charset="0"/>
              </a:endParaRPr>
            </a:p>
          </p:txBody>
        </p:sp>
        <p:sp>
          <p:nvSpPr>
            <p:cNvPr id="13330" name="Text Box 12"/>
            <p:cNvSpPr txBox="1">
              <a:spLocks noChangeArrowheads="1"/>
            </p:cNvSpPr>
            <p:nvPr/>
          </p:nvSpPr>
          <p:spPr bwMode="auto">
            <a:xfrm>
              <a:off x="12653386" y="3651190"/>
              <a:ext cx="381000" cy="831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4800" b="0" i="1" dirty="0">
                  <a:latin typeface="Times New Roman" panose="02020603050405020304" pitchFamily="18" charset="0"/>
                </a:rPr>
                <a:t>t</a:t>
              </a:r>
            </a:p>
          </p:txBody>
        </p:sp>
      </p:grpSp>
      <p:graphicFrame>
        <p:nvGraphicFramePr>
          <p:cNvPr id="4" name="对象 3"/>
          <p:cNvGraphicFramePr>
            <a:graphicFrameLocks noChangeAspect="1"/>
          </p:cNvGraphicFramePr>
          <p:nvPr>
            <p:extLst>
              <p:ext uri="{D42A27DB-BD31-4B8C-83A1-F6EECF244321}">
                <p14:modId xmlns:p14="http://schemas.microsoft.com/office/powerpoint/2010/main" val="266304708"/>
              </p:ext>
            </p:extLst>
          </p:nvPr>
        </p:nvGraphicFramePr>
        <p:xfrm>
          <a:off x="10749757" y="2836070"/>
          <a:ext cx="404813" cy="607218"/>
        </p:xfrm>
        <a:graphic>
          <a:graphicData uri="http://schemas.openxmlformats.org/presentationml/2006/ole">
            <mc:AlternateContent xmlns:mc="http://schemas.openxmlformats.org/markup-compatibility/2006">
              <mc:Choice xmlns:v="urn:schemas-microsoft-com:vml" Requires="v">
                <p:oleObj spid="_x0000_s51425" r:id="rId9" imgW="127166" imgH="190748" progId="Equation.DSMT4">
                  <p:embed/>
                </p:oleObj>
              </mc:Choice>
              <mc:Fallback>
                <p:oleObj r:id="rId9" imgW="127166" imgH="190748"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749757" y="2836070"/>
                        <a:ext cx="404813" cy="607218"/>
                      </a:xfrm>
                      <a:prstGeom prst="rect">
                        <a:avLst/>
                      </a:prstGeom>
                      <a:solidFill>
                        <a:srgbClr val="FFFF00"/>
                      </a:solidFill>
                      <a:ln>
                        <a:noFill/>
                      </a:ln>
                    </p:spPr>
                  </p:pic>
                </p:oleObj>
              </mc:Fallback>
            </mc:AlternateContent>
          </a:graphicData>
        </a:graphic>
      </p:graphicFrame>
      <p:sp>
        <p:nvSpPr>
          <p:cNvPr id="18" name="Text Box 15"/>
          <p:cNvSpPr txBox="1">
            <a:spLocks noChangeArrowheads="1"/>
          </p:cNvSpPr>
          <p:nvPr/>
        </p:nvSpPr>
        <p:spPr bwMode="auto">
          <a:xfrm>
            <a:off x="648494" y="1383508"/>
            <a:ext cx="66508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如图光电器件输出电流的平均值表示为</a:t>
            </a:r>
          </a:p>
        </p:txBody>
      </p:sp>
      <p:sp>
        <p:nvSpPr>
          <p:cNvPr id="24" name="矩形 23">
            <a:extLst>
              <a:ext uri="{FF2B5EF4-FFF2-40B4-BE49-F238E27FC236}">
                <a16:creationId xmlns="" xmlns:a16="http://schemas.microsoft.com/office/drawing/2014/main" id="{02BC28F6-8FC6-4A8D-9259-99FD0579614F}"/>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6D412931-606E-44F9-A0CE-24ECB4726FC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B6B20F74-4707-4255-9659-B546FED1860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8" name="矩形 27">
            <a:extLst>
              <a:ext uri="{FF2B5EF4-FFF2-40B4-BE49-F238E27FC236}">
                <a16:creationId xmlns="" xmlns:a16="http://schemas.microsoft.com/office/drawing/2014/main" id="{0B8FAA7F-2701-453E-A01D-C16060176BD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9" name="矩形 28">
            <a:extLst>
              <a:ext uri="{FF2B5EF4-FFF2-40B4-BE49-F238E27FC236}">
                <a16:creationId xmlns="" xmlns:a16="http://schemas.microsoft.com/office/drawing/2014/main" id="{BACFBF74-6728-4634-96BC-C805106C3EA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30" name="文本框 60">
            <a:extLst>
              <a:ext uri="{FF2B5EF4-FFF2-40B4-BE49-F238E27FC236}">
                <a16:creationId xmlns="" xmlns:a16="http://schemas.microsoft.com/office/drawing/2014/main" id="{791D85D7-F412-9C48-9F2B-E33F5B7B4F3C}"/>
              </a:ext>
            </a:extLst>
          </p:cNvPr>
          <p:cNvSpPr txBox="1"/>
          <p:nvPr/>
        </p:nvSpPr>
        <p:spPr>
          <a:xfrm>
            <a:off x="1484844" y="293282"/>
            <a:ext cx="2069646"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噪声的基本概念</a:t>
            </a:r>
          </a:p>
        </p:txBody>
      </p:sp>
      <p:cxnSp>
        <p:nvCxnSpPr>
          <p:cNvPr id="31"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1943970"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1011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ircle(in)">
                                      <p:cBhvr>
                                        <p:cTn id="7" dur="10"/>
                                        <p:tgtEl>
                                          <p:spTgt spid="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32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circle(in)">
                                      <p:cBhvr>
                                        <p:cTn id="20" dur="2000"/>
                                        <p:tgtEl>
                                          <p:spTgt spid="102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3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3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circle(in)">
                                      <p:cBhvr>
                                        <p:cTn id="33" dur="1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1030"/>
                                        </p:tgtEl>
                                        <p:attrNameLst>
                                          <p:attrName>style.visibility</p:attrName>
                                        </p:attrNameLst>
                                      </p:cBhvr>
                                      <p:to>
                                        <p:strVal val="visible"/>
                                      </p:to>
                                    </p:set>
                                    <p:animEffect transition="in" filter="circle(in)">
                                      <p:cBhvr>
                                        <p:cTn id="38" dur="10"/>
                                        <p:tgtEl>
                                          <p:spTgt spid="1030"/>
                                        </p:tgtEl>
                                      </p:cBhvr>
                                    </p:animEffect>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nodeType="clickEffect">
                                  <p:stCondLst>
                                    <p:cond delay="0"/>
                                  </p:stCondLst>
                                  <p:childTnLst>
                                    <p:set>
                                      <p:cBhvr>
                                        <p:cTn id="42" dur="1" fill="hold">
                                          <p:stCondLst>
                                            <p:cond delay="0"/>
                                          </p:stCondLst>
                                        </p:cTn>
                                        <p:tgtEl>
                                          <p:spTgt spid="1027"/>
                                        </p:tgtEl>
                                        <p:attrNameLst>
                                          <p:attrName>style.visibility</p:attrName>
                                        </p:attrNameLst>
                                      </p:cBhvr>
                                      <p:to>
                                        <p:strVal val="visible"/>
                                      </p:to>
                                    </p:set>
                                    <p:animEffect transition="in" filter="circle(in)">
                                      <p:cBhvr>
                                        <p:cTn id="43" dur="10"/>
                                        <p:tgtEl>
                                          <p:spTgt spid="1027"/>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1031"/>
                                        </p:tgtEl>
                                        <p:attrNameLst>
                                          <p:attrName>style.visibility</p:attrName>
                                        </p:attrNameLst>
                                      </p:cBhvr>
                                      <p:to>
                                        <p:strVal val="visible"/>
                                      </p:to>
                                    </p:set>
                                    <p:animEffect transition="in" filter="circle(in)">
                                      <p:cBhvr>
                                        <p:cTn id="48" dur="10"/>
                                        <p:tgtEl>
                                          <p:spTgt spid="1031"/>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1028"/>
                                        </p:tgtEl>
                                        <p:attrNameLst>
                                          <p:attrName>style.visibility</p:attrName>
                                        </p:attrNameLst>
                                      </p:cBhvr>
                                      <p:to>
                                        <p:strVal val="visible"/>
                                      </p:to>
                                    </p:set>
                                    <p:animEffect transition="in" filter="circle(in)">
                                      <p:cBhvr>
                                        <p:cTn id="53" dur="1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p:bldP spid="1031" grpId="0"/>
      <p:bldP spid="13326" grpId="0" animBg="1"/>
      <p:bldP spid="13327" grpId="0" animBg="1"/>
      <p:bldP spid="13328"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12"/>
          <p:cNvGraphicFramePr>
            <a:graphicFrameLocks noChangeAspect="1"/>
          </p:cNvGraphicFramePr>
          <p:nvPr>
            <p:extLst>
              <p:ext uri="{D42A27DB-BD31-4B8C-83A1-F6EECF244321}">
                <p14:modId xmlns:p14="http://schemas.microsoft.com/office/powerpoint/2010/main" val="3575171319"/>
              </p:ext>
            </p:extLst>
          </p:nvPr>
        </p:nvGraphicFramePr>
        <p:xfrm>
          <a:off x="1305720" y="3375125"/>
          <a:ext cx="3881438" cy="971550"/>
        </p:xfrm>
        <a:graphic>
          <a:graphicData uri="http://schemas.openxmlformats.org/presentationml/2006/ole">
            <mc:AlternateContent xmlns:mc="http://schemas.openxmlformats.org/markup-compatibility/2006">
              <mc:Choice xmlns:v="urn:schemas-microsoft-com:vml" Requires="v">
                <p:oleObj spid="_x0000_s52394" name="Equation" r:id="rId3" imgW="1447560" imgH="482400" progId="Equation.DSMT4">
                  <p:embed/>
                </p:oleObj>
              </mc:Choice>
              <mc:Fallback>
                <p:oleObj name="Equation" r:id="rId3" imgW="1447560" imgH="482400" progId="Equation.DSMT4">
                  <p:embed/>
                  <p:pic>
                    <p:nvPicPr>
                      <p:cNvPr id="0" name=""/>
                      <p:cNvPicPr>
                        <a:picLocks noChangeAspect="1" noChangeArrowheads="1"/>
                      </p:cNvPicPr>
                      <p:nvPr/>
                    </p:nvPicPr>
                    <p:blipFill>
                      <a:blip r:embed="rId4"/>
                      <a:srcRect/>
                      <a:stretch>
                        <a:fillRect/>
                      </a:stretch>
                    </p:blipFill>
                    <p:spPr bwMode="auto">
                      <a:xfrm>
                        <a:off x="1305720" y="3375125"/>
                        <a:ext cx="3881438" cy="971550"/>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1" name="Object 13"/>
          <p:cNvGraphicFramePr>
            <a:graphicFrameLocks noChangeAspect="1"/>
          </p:cNvGraphicFramePr>
          <p:nvPr>
            <p:extLst>
              <p:ext uri="{D42A27DB-BD31-4B8C-83A1-F6EECF244321}">
                <p14:modId xmlns:p14="http://schemas.microsoft.com/office/powerpoint/2010/main" val="902827890"/>
              </p:ext>
            </p:extLst>
          </p:nvPr>
        </p:nvGraphicFramePr>
        <p:xfrm>
          <a:off x="1305720" y="4596051"/>
          <a:ext cx="3988595" cy="962025"/>
        </p:xfrm>
        <a:graphic>
          <a:graphicData uri="http://schemas.openxmlformats.org/presentationml/2006/ole">
            <mc:AlternateContent xmlns:mc="http://schemas.openxmlformats.org/markup-compatibility/2006">
              <mc:Choice xmlns:v="urn:schemas-microsoft-com:vml" Requires="v">
                <p:oleObj spid="_x0000_s52395" r:id="rId5" imgW="1029147" imgH="330343" progId="Equation.DSMT4">
                  <p:embed/>
                </p:oleObj>
              </mc:Choice>
              <mc:Fallback>
                <p:oleObj r:id="rId5" imgW="1029147" imgH="330343"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5720" y="4596051"/>
                        <a:ext cx="3988595" cy="962025"/>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文本框 1"/>
          <p:cNvSpPr txBox="1">
            <a:spLocks noChangeArrowheads="1"/>
          </p:cNvSpPr>
          <p:nvPr/>
        </p:nvSpPr>
        <p:spPr bwMode="auto">
          <a:xfrm>
            <a:off x="568921" y="5752597"/>
            <a:ext cx="771445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功率谱密度与频率无关称为</a:t>
            </a:r>
            <a:r>
              <a:rPr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白噪声</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，与频率有关的，如：</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1/f</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噪声。</a:t>
            </a:r>
          </a:p>
        </p:txBody>
      </p:sp>
      <p:sp>
        <p:nvSpPr>
          <p:cNvPr id="11" name="TextBox 9"/>
          <p:cNvSpPr txBox="1">
            <a:spLocks noChangeArrowheads="1"/>
          </p:cNvSpPr>
          <p:nvPr/>
        </p:nvSpPr>
        <p:spPr bwMode="auto">
          <a:xfrm>
            <a:off x="715170" y="1253550"/>
            <a:ext cx="12531725"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通常对噪声这个随机的时间函数进行傅里叶频谱分析，得到噪声功率随频率的变化关系，即</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噪声的功率谱密度</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(Spectral  noise power density)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baseline="-25000"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表示，定义为：</a:t>
            </a:r>
          </a:p>
        </p:txBody>
      </p:sp>
      <p:graphicFrame>
        <p:nvGraphicFramePr>
          <p:cNvPr id="12" name="对象 11"/>
          <p:cNvGraphicFramePr>
            <a:graphicFrameLocks noChangeAspect="1"/>
          </p:cNvGraphicFramePr>
          <p:nvPr>
            <p:extLst>
              <p:ext uri="{D42A27DB-BD31-4B8C-83A1-F6EECF244321}">
                <p14:modId xmlns:p14="http://schemas.microsoft.com/office/powerpoint/2010/main" val="3627759881"/>
              </p:ext>
            </p:extLst>
          </p:nvPr>
        </p:nvGraphicFramePr>
        <p:xfrm>
          <a:off x="8226227" y="2819357"/>
          <a:ext cx="4909193" cy="4182038"/>
        </p:xfrm>
        <a:graphic>
          <a:graphicData uri="http://schemas.openxmlformats.org/presentationml/2006/ole">
            <mc:AlternateContent xmlns:mc="http://schemas.openxmlformats.org/markup-compatibility/2006">
              <mc:Choice xmlns:v="urn:schemas-microsoft-com:vml" Requires="v">
                <p:oleObj spid="_x0000_s52396" name="Visio" r:id="rId7" imgW="2543120" imgH="2171856" progId="Visio.Drawing.11">
                  <p:embed/>
                </p:oleObj>
              </mc:Choice>
              <mc:Fallback>
                <p:oleObj name="Visio" r:id="rId7" imgW="2543120" imgH="2171856" progId="Visio.Drawing.11">
                  <p:embed/>
                  <p:pic>
                    <p:nvPicPr>
                      <p:cNvPr id="0" name=""/>
                      <p:cNvPicPr>
                        <a:picLocks noChangeAspect="1" noChangeArrowheads="1"/>
                      </p:cNvPicPr>
                      <p:nvPr/>
                    </p:nvPicPr>
                    <p:blipFill>
                      <a:blip r:embed="rId8"/>
                      <a:srcRect/>
                      <a:stretch>
                        <a:fillRect/>
                      </a:stretch>
                    </p:blipFill>
                    <p:spPr bwMode="auto">
                      <a:xfrm>
                        <a:off x="8226227" y="2819357"/>
                        <a:ext cx="4909193" cy="4182038"/>
                      </a:xfrm>
                      <a:prstGeom prst="rect">
                        <a:avLst/>
                      </a:prstGeom>
                      <a:noFill/>
                    </p:spPr>
                  </p:pic>
                </p:oleObj>
              </mc:Fallback>
            </mc:AlternateContent>
          </a:graphicData>
        </a:graphic>
      </p:graphicFrame>
      <p:sp>
        <p:nvSpPr>
          <p:cNvPr id="17" name="矩形 16">
            <a:extLst>
              <a:ext uri="{FF2B5EF4-FFF2-40B4-BE49-F238E27FC236}">
                <a16:creationId xmlns="" xmlns:a16="http://schemas.microsoft.com/office/drawing/2014/main" id="{BD4C6E62-DB90-4BB5-A4FB-CB15CC8230D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 xmlns:a16="http://schemas.microsoft.com/office/drawing/2014/main" id="{3C8271F8-EC53-45F3-A7D7-B5E48F8A4E5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 xmlns:a16="http://schemas.microsoft.com/office/drawing/2014/main" id="{D1155216-D6FF-4F53-B272-C6F1D10ACC94}"/>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1" name="矩形 20">
            <a:extLst>
              <a:ext uri="{FF2B5EF4-FFF2-40B4-BE49-F238E27FC236}">
                <a16:creationId xmlns="" xmlns:a16="http://schemas.microsoft.com/office/drawing/2014/main" id="{1313976A-4E9E-41F0-8C7B-9DEDB3EDB1B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 xmlns:a16="http://schemas.microsoft.com/office/drawing/2014/main" id="{362DCCA6-51B5-4DE1-BF09-0CD94F338AA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文本框 60">
            <a:extLst>
              <a:ext uri="{FF2B5EF4-FFF2-40B4-BE49-F238E27FC236}">
                <a16:creationId xmlns="" xmlns:a16="http://schemas.microsoft.com/office/drawing/2014/main" id="{791D85D7-F412-9C48-9F2B-E33F5B7B4F3C}"/>
              </a:ext>
            </a:extLst>
          </p:cNvPr>
          <p:cNvSpPr txBox="1"/>
          <p:nvPr/>
        </p:nvSpPr>
        <p:spPr>
          <a:xfrm>
            <a:off x="1484844" y="293282"/>
            <a:ext cx="2069646"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噪声的基本概念</a:t>
            </a:r>
          </a:p>
        </p:txBody>
      </p:sp>
      <p:cxnSp>
        <p:nvCxnSpPr>
          <p:cNvPr id="15"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1943970"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67599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box(in)">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051"/>
                                        </p:tgtEl>
                                        <p:attrNameLst>
                                          <p:attrName>style.visibility</p:attrName>
                                        </p:attrNameLst>
                                      </p:cBhvr>
                                      <p:to>
                                        <p:strVal val="visible"/>
                                      </p:to>
                                    </p:set>
                                    <p:animEffect transition="in" filter="box(in)">
                                      <p:cBhvr>
                                        <p:cTn id="17" dur="500"/>
                                        <p:tgtEl>
                                          <p:spTgt spid="205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heel(1)">
                                      <p:cBhvr>
                                        <p:cTn id="26" dur="1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爆炸形 2 2"/>
          <p:cNvSpPr/>
          <p:nvPr/>
        </p:nvSpPr>
        <p:spPr>
          <a:xfrm>
            <a:off x="2049068" y="2178845"/>
            <a:ext cx="1543050" cy="2066925"/>
          </a:xfrm>
          <a:prstGeom prst="irregularSeal2">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1" name="组合 70"/>
          <p:cNvGrpSpPr/>
          <p:nvPr/>
        </p:nvGrpSpPr>
        <p:grpSpPr>
          <a:xfrm>
            <a:off x="4234794" y="2471737"/>
            <a:ext cx="410097" cy="1724025"/>
            <a:chOff x="4034769" y="2471737"/>
            <a:chExt cx="410097" cy="1724025"/>
          </a:xfrm>
        </p:grpSpPr>
        <p:sp>
          <p:nvSpPr>
            <p:cNvPr id="5" name="椭圆 4"/>
            <p:cNvSpPr/>
            <p:nvPr/>
          </p:nvSpPr>
          <p:spPr>
            <a:xfrm>
              <a:off x="4082059" y="2471737"/>
              <a:ext cx="285750" cy="1724025"/>
            </a:xfrm>
            <a:prstGeom prst="ellipse">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4034769" y="2674023"/>
              <a:ext cx="410097" cy="1200329"/>
            </a:xfrm>
            <a:prstGeom prst="rect">
              <a:avLst/>
            </a:prstGeom>
            <a:noFill/>
          </p:spPr>
          <p:txBody>
            <a:bodyPr wrap="square" rtlCol="0">
              <a:spAutoFit/>
            </a:bodyPr>
            <a:lstStyle/>
            <a:p>
              <a:r>
                <a:rPr lang="zh-CN" altLang="en-US" sz="1800" b="1" dirty="0">
                  <a:latin typeface="微软雅黑" panose="020B0503020204020204" pitchFamily="34" charset="-122"/>
                  <a:ea typeface="微软雅黑" panose="020B0503020204020204" pitchFamily="34" charset="-122"/>
                </a:rPr>
                <a:t>光学系统</a:t>
              </a:r>
            </a:p>
          </p:txBody>
        </p:sp>
      </p:grpSp>
      <p:grpSp>
        <p:nvGrpSpPr>
          <p:cNvPr id="72" name="组合 71"/>
          <p:cNvGrpSpPr/>
          <p:nvPr/>
        </p:nvGrpSpPr>
        <p:grpSpPr>
          <a:xfrm>
            <a:off x="5516460" y="2855117"/>
            <a:ext cx="905775" cy="869157"/>
            <a:chOff x="5316435" y="2855117"/>
            <a:chExt cx="905775" cy="869157"/>
          </a:xfrm>
        </p:grpSpPr>
        <p:sp>
          <p:nvSpPr>
            <p:cNvPr id="6" name="矩形 5"/>
            <p:cNvSpPr/>
            <p:nvPr/>
          </p:nvSpPr>
          <p:spPr>
            <a:xfrm>
              <a:off x="5413619" y="2855117"/>
              <a:ext cx="741848" cy="869157"/>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316435" y="2913519"/>
              <a:ext cx="905775" cy="646331"/>
            </a:xfrm>
            <a:prstGeom prst="rect">
              <a:avLst/>
            </a:prstGeom>
            <a:noFill/>
          </p:spPr>
          <p:txBody>
            <a:bodyPr wrap="square" rtlCol="0">
              <a:spAutoFit/>
            </a:bodyPr>
            <a:lstStyle/>
            <a:p>
              <a:pPr algn="ctr"/>
              <a:r>
                <a:rPr lang="zh-CN" altLang="en-US" sz="1800" b="1" dirty="0">
                  <a:latin typeface="微软雅黑" panose="020B0503020204020204" pitchFamily="34" charset="-122"/>
                  <a:ea typeface="微软雅黑" panose="020B0503020204020204" pitchFamily="34" charset="-122"/>
                </a:rPr>
                <a:t>光电</a:t>
              </a:r>
              <a:endParaRPr lang="en-US" altLang="zh-CN" sz="1800" b="1" dirty="0">
                <a:latin typeface="微软雅黑" panose="020B0503020204020204" pitchFamily="34" charset="-122"/>
                <a:ea typeface="微软雅黑" panose="020B0503020204020204" pitchFamily="34" charset="-122"/>
              </a:endParaRPr>
            </a:p>
            <a:p>
              <a:pPr algn="ctr"/>
              <a:r>
                <a:rPr lang="zh-CN" altLang="en-US" sz="1800" b="1" dirty="0">
                  <a:latin typeface="微软雅黑" panose="020B0503020204020204" pitchFamily="34" charset="-122"/>
                  <a:ea typeface="微软雅黑" panose="020B0503020204020204" pitchFamily="34" charset="-122"/>
                </a:rPr>
                <a:t>探测器</a:t>
              </a:r>
            </a:p>
          </p:txBody>
        </p:sp>
      </p:grpSp>
      <p:grpSp>
        <p:nvGrpSpPr>
          <p:cNvPr id="73" name="组合 72"/>
          <p:cNvGrpSpPr/>
          <p:nvPr/>
        </p:nvGrpSpPr>
        <p:grpSpPr>
          <a:xfrm>
            <a:off x="7010332" y="2681288"/>
            <a:ext cx="1304993" cy="1233490"/>
            <a:chOff x="6810307" y="2681288"/>
            <a:chExt cx="1304993" cy="1233490"/>
          </a:xfrm>
        </p:grpSpPr>
        <p:sp>
          <p:nvSpPr>
            <p:cNvPr id="7" name="等腰三角形 6"/>
            <p:cNvSpPr/>
            <p:nvPr/>
          </p:nvSpPr>
          <p:spPr>
            <a:xfrm rot="5400000">
              <a:off x="6879430" y="2678908"/>
              <a:ext cx="1233490" cy="1238250"/>
            </a:xfrm>
            <a:prstGeom prst="triangle">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6810307" y="2968076"/>
              <a:ext cx="958296" cy="646331"/>
            </a:xfrm>
            <a:prstGeom prst="rect">
              <a:avLst/>
            </a:prstGeom>
            <a:noFill/>
          </p:spPr>
          <p:txBody>
            <a:bodyPr wrap="square" rtlCol="0">
              <a:spAutoFit/>
            </a:bodyPr>
            <a:lstStyle/>
            <a:p>
              <a:pPr algn="ctr"/>
              <a:r>
                <a:rPr lang="zh-CN" altLang="en-US" sz="1800" b="1" dirty="0">
                  <a:latin typeface="微软雅黑" panose="020B0503020204020204" pitchFamily="34" charset="-122"/>
                  <a:ea typeface="微软雅黑" panose="020B0503020204020204" pitchFamily="34" charset="-122"/>
                </a:rPr>
                <a:t>前置</a:t>
              </a:r>
              <a:endParaRPr lang="en-US" altLang="zh-CN" sz="1800" b="1" dirty="0">
                <a:latin typeface="微软雅黑" panose="020B0503020204020204" pitchFamily="34" charset="-122"/>
                <a:ea typeface="微软雅黑" panose="020B0503020204020204" pitchFamily="34" charset="-122"/>
              </a:endParaRPr>
            </a:p>
            <a:p>
              <a:pPr algn="ctr"/>
              <a:r>
                <a:rPr lang="zh-CN" altLang="en-US" sz="1800" b="1" dirty="0">
                  <a:latin typeface="微软雅黑" panose="020B0503020204020204" pitchFamily="34" charset="-122"/>
                  <a:ea typeface="微软雅黑" panose="020B0503020204020204" pitchFamily="34" charset="-122"/>
                </a:rPr>
                <a:t>放大器</a:t>
              </a:r>
            </a:p>
          </p:txBody>
        </p:sp>
      </p:grpSp>
      <p:grpSp>
        <p:nvGrpSpPr>
          <p:cNvPr id="74" name="组合 73"/>
          <p:cNvGrpSpPr/>
          <p:nvPr/>
        </p:nvGrpSpPr>
        <p:grpSpPr>
          <a:xfrm>
            <a:off x="9042938" y="2681288"/>
            <a:ext cx="917827" cy="1304924"/>
            <a:chOff x="8842913" y="2681288"/>
            <a:chExt cx="917827" cy="1304924"/>
          </a:xfrm>
        </p:grpSpPr>
        <p:sp>
          <p:nvSpPr>
            <p:cNvPr id="8" name="矩形 7"/>
            <p:cNvSpPr/>
            <p:nvPr/>
          </p:nvSpPr>
          <p:spPr>
            <a:xfrm>
              <a:off x="8860744" y="2681288"/>
              <a:ext cx="899996" cy="1304924"/>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842913" y="2935753"/>
              <a:ext cx="845054" cy="707886"/>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信号</a:t>
              </a:r>
              <a:endParaRPr lang="en-US" altLang="zh-CN" b="1" dirty="0">
                <a:latin typeface="微软雅黑" panose="020B0503020204020204" pitchFamily="34" charset="-122"/>
                <a:ea typeface="微软雅黑" panose="020B0503020204020204" pitchFamily="34" charset="-122"/>
              </a:endParaRPr>
            </a:p>
            <a:p>
              <a:pPr algn="ctr"/>
              <a:r>
                <a:rPr lang="zh-CN" altLang="en-US" b="1" dirty="0">
                  <a:latin typeface="微软雅黑" panose="020B0503020204020204" pitchFamily="34" charset="-122"/>
                  <a:ea typeface="微软雅黑" panose="020B0503020204020204" pitchFamily="34" charset="-122"/>
                </a:rPr>
                <a:t>处理</a:t>
              </a:r>
            </a:p>
          </p:txBody>
        </p:sp>
      </p:grpSp>
      <p:grpSp>
        <p:nvGrpSpPr>
          <p:cNvPr id="75" name="组合 74"/>
          <p:cNvGrpSpPr/>
          <p:nvPr/>
        </p:nvGrpSpPr>
        <p:grpSpPr>
          <a:xfrm>
            <a:off x="10644325" y="2700337"/>
            <a:ext cx="818677" cy="1304924"/>
            <a:chOff x="10503690" y="2700335"/>
            <a:chExt cx="990600" cy="1304924"/>
          </a:xfrm>
        </p:grpSpPr>
        <p:sp>
          <p:nvSpPr>
            <p:cNvPr id="9" name="矩形 8"/>
            <p:cNvSpPr/>
            <p:nvPr/>
          </p:nvSpPr>
          <p:spPr>
            <a:xfrm>
              <a:off x="10503690" y="2700335"/>
              <a:ext cx="990600" cy="1304924"/>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0602659" y="3097978"/>
              <a:ext cx="792661" cy="400110"/>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显示</a:t>
              </a:r>
            </a:p>
          </p:txBody>
        </p:sp>
      </p:grpSp>
      <p:sp>
        <p:nvSpPr>
          <p:cNvPr id="17" name="文本框 16"/>
          <p:cNvSpPr txBox="1"/>
          <p:nvPr/>
        </p:nvSpPr>
        <p:spPr>
          <a:xfrm>
            <a:off x="2478370" y="2572406"/>
            <a:ext cx="684310" cy="369332"/>
          </a:xfrm>
          <a:prstGeom prst="rect">
            <a:avLst/>
          </a:prstGeom>
          <a:noFill/>
        </p:spPr>
        <p:txBody>
          <a:bodyPr wrap="square" rtlCol="0">
            <a:spAutoFit/>
          </a:bodyPr>
          <a:lstStyle/>
          <a:p>
            <a:pPr algn="ctr"/>
            <a:r>
              <a:rPr lang="zh-CN" altLang="en-US" sz="1800" b="1" dirty="0">
                <a:latin typeface="微软雅黑" panose="020B0503020204020204" pitchFamily="34" charset="-122"/>
                <a:ea typeface="微软雅黑" panose="020B0503020204020204" pitchFamily="34" charset="-122"/>
              </a:rPr>
              <a:t>背景</a:t>
            </a:r>
          </a:p>
        </p:txBody>
      </p:sp>
      <p:sp>
        <p:nvSpPr>
          <p:cNvPr id="18" name="文本框 17"/>
          <p:cNvSpPr txBox="1"/>
          <p:nvPr/>
        </p:nvSpPr>
        <p:spPr>
          <a:xfrm>
            <a:off x="1460971" y="3501361"/>
            <a:ext cx="658600" cy="369332"/>
          </a:xfrm>
          <a:prstGeom prst="rect">
            <a:avLst/>
          </a:prstGeom>
          <a:noFill/>
        </p:spPr>
        <p:txBody>
          <a:bodyPr wrap="square" rtlCol="0">
            <a:spAutoFit/>
          </a:bodyPr>
          <a:lstStyle/>
          <a:p>
            <a:pPr algn="ctr"/>
            <a:r>
              <a:rPr lang="zh-CN" altLang="en-US" sz="1800" b="1" dirty="0">
                <a:solidFill>
                  <a:srgbClr val="FF00FF"/>
                </a:solidFill>
                <a:latin typeface="微软雅黑" panose="020B0503020204020204" pitchFamily="34" charset="-122"/>
                <a:ea typeface="微软雅黑" panose="020B0503020204020204" pitchFamily="34" charset="-122"/>
              </a:rPr>
              <a:t>目标</a:t>
            </a:r>
          </a:p>
        </p:txBody>
      </p:sp>
      <p:sp>
        <p:nvSpPr>
          <p:cNvPr id="19" name="左大括号 18"/>
          <p:cNvSpPr/>
          <p:nvPr/>
        </p:nvSpPr>
        <p:spPr>
          <a:xfrm rot="16200000">
            <a:off x="3861983" y="2851338"/>
            <a:ext cx="498871" cy="3060562"/>
          </a:xfrm>
          <a:prstGeom prst="lef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左大括号 19"/>
          <p:cNvSpPr/>
          <p:nvPr/>
        </p:nvSpPr>
        <p:spPr>
          <a:xfrm rot="16200000">
            <a:off x="6203755" y="3691055"/>
            <a:ext cx="498871" cy="1381126"/>
          </a:xfrm>
          <a:prstGeom prst="leftBrace">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左大括号 20"/>
          <p:cNvSpPr/>
          <p:nvPr/>
        </p:nvSpPr>
        <p:spPr>
          <a:xfrm rot="16200000">
            <a:off x="9073020" y="2311436"/>
            <a:ext cx="498871" cy="4117506"/>
          </a:xfrm>
          <a:prstGeom prst="leftBrace">
            <a:avLst/>
          </a:prstGeom>
          <a:ln w="317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3703666" y="4748538"/>
            <a:ext cx="966491" cy="830997"/>
          </a:xfrm>
          <a:prstGeom prst="rect">
            <a:avLst/>
          </a:prstGeom>
          <a:noFill/>
        </p:spPr>
        <p:txBody>
          <a:bodyPr wrap="squar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光子</a:t>
            </a:r>
            <a:endParaRPr lang="en-US" altLang="zh-CN" sz="2400" b="1" dirty="0">
              <a:solidFill>
                <a:srgbClr val="FF0000"/>
              </a:solidFill>
              <a:latin typeface="微软雅黑" panose="020B0503020204020204" pitchFamily="34" charset="-122"/>
              <a:ea typeface="微软雅黑" panose="020B0503020204020204" pitchFamily="34" charset="-122"/>
            </a:endParaRPr>
          </a:p>
          <a:p>
            <a:r>
              <a:rPr lang="zh-CN" altLang="en-US" sz="2400" b="1" dirty="0">
                <a:solidFill>
                  <a:srgbClr val="FF0000"/>
                </a:solidFill>
                <a:latin typeface="微软雅黑" panose="020B0503020204020204" pitchFamily="34" charset="-122"/>
                <a:ea typeface="微软雅黑" panose="020B0503020204020204" pitchFamily="34" charset="-122"/>
              </a:rPr>
              <a:t>噪声</a:t>
            </a:r>
          </a:p>
        </p:txBody>
      </p:sp>
      <p:sp>
        <p:nvSpPr>
          <p:cNvPr id="23" name="文本框 22"/>
          <p:cNvSpPr txBox="1"/>
          <p:nvPr/>
        </p:nvSpPr>
        <p:spPr>
          <a:xfrm>
            <a:off x="5505452" y="4766901"/>
            <a:ext cx="1895475" cy="830997"/>
          </a:xfrm>
          <a:prstGeom prst="rect">
            <a:avLst/>
          </a:prstGeom>
          <a:noFill/>
        </p:spPr>
        <p:txBody>
          <a:bodyPr wrap="square" rtlCol="0">
            <a:spAutoFit/>
          </a:bodyPr>
          <a:lstStyle/>
          <a:p>
            <a:pPr algn="ctr"/>
            <a:r>
              <a:rPr lang="zh-CN" altLang="en-US" sz="2400" b="1" dirty="0">
                <a:solidFill>
                  <a:srgbClr val="0000FF"/>
                </a:solidFill>
                <a:latin typeface="微软雅黑" panose="020B0503020204020204" pitchFamily="34" charset="-122"/>
                <a:ea typeface="微软雅黑" panose="020B0503020204020204" pitchFamily="34" charset="-122"/>
              </a:rPr>
              <a:t>光电探测器</a:t>
            </a:r>
            <a:endParaRPr lang="en-US" altLang="zh-CN" sz="2400" b="1" dirty="0">
              <a:solidFill>
                <a:srgbClr val="0000FF"/>
              </a:solidFill>
              <a:latin typeface="微软雅黑" panose="020B0503020204020204" pitchFamily="34" charset="-122"/>
              <a:ea typeface="微软雅黑" panose="020B0503020204020204" pitchFamily="34" charset="-122"/>
            </a:endParaRPr>
          </a:p>
          <a:p>
            <a:pPr algn="ctr"/>
            <a:r>
              <a:rPr lang="zh-CN" altLang="en-US" sz="2400" b="1" dirty="0">
                <a:solidFill>
                  <a:srgbClr val="0000FF"/>
                </a:solidFill>
                <a:latin typeface="微软雅黑" panose="020B0503020204020204" pitchFamily="34" charset="-122"/>
                <a:ea typeface="微软雅黑" panose="020B0503020204020204" pitchFamily="34" charset="-122"/>
              </a:rPr>
              <a:t>噪声</a:t>
            </a:r>
          </a:p>
        </p:txBody>
      </p:sp>
      <p:sp>
        <p:nvSpPr>
          <p:cNvPr id="24" name="文本框 23"/>
          <p:cNvSpPr txBox="1"/>
          <p:nvPr/>
        </p:nvSpPr>
        <p:spPr>
          <a:xfrm>
            <a:off x="7640542" y="4877593"/>
            <a:ext cx="3567710" cy="461665"/>
          </a:xfrm>
          <a:prstGeom prst="rect">
            <a:avLst/>
          </a:prstGeom>
          <a:noFill/>
        </p:spPr>
        <p:txBody>
          <a:bodyPr wrap="square" rtlCol="0">
            <a:spAutoFit/>
          </a:bodyPr>
          <a:lstStyle/>
          <a:p>
            <a:r>
              <a:rPr lang="zh-CN" altLang="en-US" sz="2400" b="1" dirty="0">
                <a:solidFill>
                  <a:srgbClr val="FF00FF"/>
                </a:solidFill>
                <a:latin typeface="微软雅黑" panose="020B0503020204020204" pitchFamily="34" charset="-122"/>
                <a:ea typeface="微软雅黑" panose="020B0503020204020204" pitchFamily="34" charset="-122"/>
              </a:rPr>
              <a:t>信号放大及处理电路噪声</a:t>
            </a:r>
          </a:p>
        </p:txBody>
      </p:sp>
      <p:cxnSp>
        <p:nvCxnSpPr>
          <p:cNvPr id="26" name="直接箭头连接符 25"/>
          <p:cNvCxnSpPr/>
          <p:nvPr/>
        </p:nvCxnSpPr>
        <p:spPr>
          <a:xfrm flipV="1">
            <a:off x="2002933" y="3381375"/>
            <a:ext cx="684310" cy="296676"/>
          </a:xfrm>
          <a:prstGeom prst="straightConnector1">
            <a:avLst/>
          </a:prstGeom>
          <a:ln w="31750">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a:endCxn id="5" idx="0"/>
          </p:cNvCxnSpPr>
          <p:nvPr/>
        </p:nvCxnSpPr>
        <p:spPr>
          <a:xfrm flipV="1">
            <a:off x="2772232" y="2471737"/>
            <a:ext cx="1652727" cy="881062"/>
          </a:xfrm>
          <a:prstGeom prst="line">
            <a:avLst/>
          </a:prstGeom>
          <a:ln w="31750">
            <a:solidFill>
              <a:schemeClr val="tx1"/>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5" idx="4"/>
          </p:cNvCxnSpPr>
          <p:nvPr/>
        </p:nvCxnSpPr>
        <p:spPr>
          <a:xfrm>
            <a:off x="2772232" y="3352799"/>
            <a:ext cx="1652727" cy="842963"/>
          </a:xfrm>
          <a:prstGeom prst="line">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4439842" y="2478226"/>
            <a:ext cx="1173802" cy="855523"/>
          </a:xfrm>
          <a:prstGeom prst="line">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4430318" y="3340238"/>
            <a:ext cx="1183326" cy="855526"/>
          </a:xfrm>
          <a:prstGeom prst="line">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6362748" y="3324224"/>
            <a:ext cx="721583" cy="9525"/>
          </a:xfrm>
          <a:prstGeom prst="line">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9988849" y="3284932"/>
            <a:ext cx="655985" cy="9525"/>
          </a:xfrm>
          <a:prstGeom prst="line">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8324850" y="3294459"/>
            <a:ext cx="730451" cy="3574"/>
          </a:xfrm>
          <a:prstGeom prst="line">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68" name="五角星 67"/>
          <p:cNvSpPr/>
          <p:nvPr/>
        </p:nvSpPr>
        <p:spPr>
          <a:xfrm>
            <a:off x="2581136" y="3148044"/>
            <a:ext cx="352425" cy="342900"/>
          </a:xfrm>
          <a:prstGeom prst="star5">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Rectangle 2"/>
          <p:cNvSpPr>
            <a:spLocks noChangeArrowheads="1"/>
          </p:cNvSpPr>
          <p:nvPr/>
        </p:nvSpPr>
        <p:spPr bwMode="auto">
          <a:xfrm>
            <a:off x="5015585" y="1271829"/>
            <a:ext cx="358944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sz="3200" dirty="0">
                <a:solidFill>
                  <a:srgbClr val="0000FF"/>
                </a:solidFill>
                <a:latin typeface="微软雅黑" panose="020B0503020204020204" pitchFamily="34" charset="-122"/>
                <a:ea typeface="微软雅黑" panose="020B0503020204020204" pitchFamily="34" charset="-122"/>
              </a:rPr>
              <a:t>光电信息系统噪声 </a:t>
            </a:r>
          </a:p>
        </p:txBody>
      </p:sp>
      <p:sp>
        <p:nvSpPr>
          <p:cNvPr id="70" name="Rectangle 5"/>
          <p:cNvSpPr>
            <a:spLocks noChangeArrowheads="1"/>
          </p:cNvSpPr>
          <p:nvPr/>
        </p:nvSpPr>
        <p:spPr bwMode="auto">
          <a:xfrm>
            <a:off x="3422650" y="6239131"/>
            <a:ext cx="7623312"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dirty="0">
                <a:solidFill>
                  <a:srgbClr val="0000CC"/>
                </a:solidFill>
                <a:latin typeface="微软雅黑" panose="020B0503020204020204" pitchFamily="34" charset="-122"/>
                <a:ea typeface="微软雅黑" panose="020B0503020204020204" pitchFamily="34" charset="-122"/>
              </a:rPr>
              <a:t>噪声影响信号（特别是弱信号）的测量和处理</a:t>
            </a:r>
          </a:p>
        </p:txBody>
      </p:sp>
      <p:sp>
        <p:nvSpPr>
          <p:cNvPr id="44" name="矩形 43">
            <a:extLst>
              <a:ext uri="{FF2B5EF4-FFF2-40B4-BE49-F238E27FC236}">
                <a16:creationId xmlns="" xmlns:a16="http://schemas.microsoft.com/office/drawing/2014/main" id="{8FD77B70-C065-4074-923A-60589BEB189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5" name="矩形 44">
            <a:extLst>
              <a:ext uri="{FF2B5EF4-FFF2-40B4-BE49-F238E27FC236}">
                <a16:creationId xmlns="" xmlns:a16="http://schemas.microsoft.com/office/drawing/2014/main" id="{7C56DFBE-2CF2-4AF1-BA65-0478ECBA0C0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 xmlns:a16="http://schemas.microsoft.com/office/drawing/2014/main" id="{9A236772-36C4-47B6-B4F1-19E9258FBA16}"/>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8" name="矩形 47">
            <a:extLst>
              <a:ext uri="{FF2B5EF4-FFF2-40B4-BE49-F238E27FC236}">
                <a16:creationId xmlns="" xmlns:a16="http://schemas.microsoft.com/office/drawing/2014/main" id="{36D766E4-E10C-4D4B-95A2-22F92401517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9" name="矩形 48">
            <a:extLst>
              <a:ext uri="{FF2B5EF4-FFF2-40B4-BE49-F238E27FC236}">
                <a16:creationId xmlns="" xmlns:a16="http://schemas.microsoft.com/office/drawing/2014/main" id="{D23F68DE-970D-44A6-9694-A7DB10A4BAD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50" name="文本框 60">
            <a:extLst>
              <a:ext uri="{FF2B5EF4-FFF2-40B4-BE49-F238E27FC236}">
                <a16:creationId xmlns="" xmlns:a16="http://schemas.microsoft.com/office/drawing/2014/main" id="{791D85D7-F412-9C48-9F2B-E33F5B7B4F3C}"/>
              </a:ext>
            </a:extLst>
          </p:cNvPr>
          <p:cNvSpPr txBox="1"/>
          <p:nvPr/>
        </p:nvSpPr>
        <p:spPr>
          <a:xfrm>
            <a:off x="1484844" y="293282"/>
            <a:ext cx="2069646"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噪声的基本概念</a:t>
            </a:r>
          </a:p>
        </p:txBody>
      </p:sp>
      <p:cxnSp>
        <p:nvCxnSpPr>
          <p:cNvPr id="51"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1943970"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797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barn(inVertical)">
                                      <p:cBhvr>
                                        <p:cTn id="19" dur="500"/>
                                        <p:tgtEl>
                                          <p:spTgt spid="6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7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7"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1000"/>
                                        <p:tgtEl>
                                          <p:spTgt spid="19"/>
                                        </p:tgtEl>
                                      </p:cBhvr>
                                    </p:animEffect>
                                    <p:anim calcmode="lin" valueType="num">
                                      <p:cBhvr>
                                        <p:cTn id="47" dur="1000" fill="hold"/>
                                        <p:tgtEl>
                                          <p:spTgt spid="19"/>
                                        </p:tgtEl>
                                        <p:attrNameLst>
                                          <p:attrName>ppt_x</p:attrName>
                                        </p:attrNameLst>
                                      </p:cBhvr>
                                      <p:tavLst>
                                        <p:tav tm="0">
                                          <p:val>
                                            <p:strVal val="#ppt_x"/>
                                          </p:val>
                                        </p:tav>
                                        <p:tav tm="100000">
                                          <p:val>
                                            <p:strVal val="#ppt_x"/>
                                          </p:val>
                                        </p:tav>
                                      </p:tavLst>
                                    </p:anim>
                                    <p:anim calcmode="lin" valueType="num">
                                      <p:cBhvr>
                                        <p:cTn id="4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7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7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47" presetClass="entr" presetSubtype="0"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1000"/>
                                        <p:tgtEl>
                                          <p:spTgt spid="20"/>
                                        </p:tgtEl>
                                      </p:cBhvr>
                                    </p:animEffect>
                                    <p:anim calcmode="lin" valueType="num">
                                      <p:cBhvr>
                                        <p:cTn id="70" dur="1000" fill="hold"/>
                                        <p:tgtEl>
                                          <p:spTgt spid="20"/>
                                        </p:tgtEl>
                                        <p:attrNameLst>
                                          <p:attrName>ppt_x</p:attrName>
                                        </p:attrNameLst>
                                      </p:cBhvr>
                                      <p:tavLst>
                                        <p:tav tm="0">
                                          <p:val>
                                            <p:strVal val="#ppt_x"/>
                                          </p:val>
                                        </p:tav>
                                        <p:tav tm="100000">
                                          <p:val>
                                            <p:strVal val="#ppt_x"/>
                                          </p:val>
                                        </p:tav>
                                      </p:tavLst>
                                    </p:anim>
                                    <p:anim calcmode="lin" valueType="num">
                                      <p:cBhvr>
                                        <p:cTn id="7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62"/>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74"/>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59"/>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75"/>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47" presetClass="entr" presetSubtype="0" fill="hold" grpId="0" nodeType="clickEffect">
                                  <p:stCondLst>
                                    <p:cond delay="0"/>
                                  </p:stCondLst>
                                  <p:childTnLst>
                                    <p:set>
                                      <p:cBhvr>
                                        <p:cTn id="95" dur="1" fill="hold">
                                          <p:stCondLst>
                                            <p:cond delay="0"/>
                                          </p:stCondLst>
                                        </p:cTn>
                                        <p:tgtEl>
                                          <p:spTgt spid="21"/>
                                        </p:tgtEl>
                                        <p:attrNameLst>
                                          <p:attrName>style.visibility</p:attrName>
                                        </p:attrNameLst>
                                      </p:cBhvr>
                                      <p:to>
                                        <p:strVal val="visible"/>
                                      </p:to>
                                    </p:set>
                                    <p:animEffect transition="in" filter="fade">
                                      <p:cBhvr>
                                        <p:cTn id="96" dur="1000"/>
                                        <p:tgtEl>
                                          <p:spTgt spid="21"/>
                                        </p:tgtEl>
                                      </p:cBhvr>
                                    </p:animEffect>
                                    <p:anim calcmode="lin" valueType="num">
                                      <p:cBhvr>
                                        <p:cTn id="97" dur="1000" fill="hold"/>
                                        <p:tgtEl>
                                          <p:spTgt spid="21"/>
                                        </p:tgtEl>
                                        <p:attrNameLst>
                                          <p:attrName>ppt_x</p:attrName>
                                        </p:attrNameLst>
                                      </p:cBhvr>
                                      <p:tavLst>
                                        <p:tav tm="0">
                                          <p:val>
                                            <p:strVal val="#ppt_x"/>
                                          </p:val>
                                        </p:tav>
                                        <p:tav tm="100000">
                                          <p:val>
                                            <p:strVal val="#ppt_x"/>
                                          </p:val>
                                        </p:tav>
                                      </p:tavLst>
                                    </p:anim>
                                    <p:anim calcmode="lin" valueType="num">
                                      <p:cBhvr>
                                        <p:cTn id="9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8" grpId="0"/>
      <p:bldP spid="19" grpId="0" animBg="1"/>
      <p:bldP spid="20" grpId="0" animBg="1"/>
      <p:bldP spid="21" grpId="0" animBg="1"/>
      <p:bldP spid="22" grpId="0"/>
      <p:bldP spid="23" grpId="0"/>
      <p:bldP spid="24" grpId="0"/>
      <p:bldP spid="68" grpId="0" animBg="1"/>
      <p:bldP spid="69" grpId="0"/>
      <p:bldP spid="7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a:extLst>
              <a:ext uri="{FF2B5EF4-FFF2-40B4-BE49-F238E27FC236}">
                <a16:creationId xmlns="" xmlns:a16="http://schemas.microsoft.com/office/drawing/2014/main"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光电探测器的噪声</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 xmlns:a16="http://schemas.microsoft.com/office/drawing/2014/main"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 xmlns:a16="http://schemas.microsoft.com/office/drawing/2014/main"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 xmlns:a16="http://schemas.microsoft.com/office/drawing/2014/main"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文本框 60">
            <a:extLst>
              <a:ext uri="{FF2B5EF4-FFF2-40B4-BE49-F238E27FC236}">
                <a16:creationId xmlns="" xmlns:a16="http://schemas.microsoft.com/office/drawing/2014/main" id="{791D85D7-F412-9C48-9F2B-E33F5B7B4F3C}"/>
              </a:ext>
            </a:extLst>
          </p:cNvPr>
          <p:cNvSpPr txBox="1"/>
          <p:nvPr/>
        </p:nvSpPr>
        <p:spPr>
          <a:xfrm>
            <a:off x="1484844" y="293282"/>
            <a:ext cx="2069646" cy="400110"/>
          </a:xfrm>
          <a:prstGeom prst="rect">
            <a:avLst/>
          </a:prstGeom>
          <a:noFill/>
          <a:ln w="9525">
            <a:noFill/>
          </a:ln>
        </p:spPr>
        <p:txBody>
          <a:bodyPr wrap="square">
            <a:spAutoFit/>
          </a:bodyPr>
          <a:lstStyle/>
          <a:p>
            <a:pPr algn="ctr"/>
            <a:r>
              <a:rPr lang="zh-CN" altLang="en-US" b="1" dirty="0">
                <a:latin typeface="微软雅黑" panose="020B0503020204020204" pitchFamily="34" charset="-122"/>
                <a:ea typeface="微软雅黑" panose="020B0503020204020204" pitchFamily="34" charset="-122"/>
              </a:rPr>
              <a:t>噪声的基本概念</a:t>
            </a:r>
          </a:p>
        </p:txBody>
      </p:sp>
      <p:cxnSp>
        <p:nvCxnSpPr>
          <p:cNvPr id="14"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1943970"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1420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6"/>
          <p:cNvSpPr>
            <a:spLocks noChangeArrowheads="1"/>
          </p:cNvSpPr>
          <p:nvPr/>
        </p:nvSpPr>
        <p:spPr bwMode="auto">
          <a:xfrm>
            <a:off x="5098386" y="1823816"/>
            <a:ext cx="22621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sz="360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3600">
                <a:latin typeface="Times New Roman" panose="02020603050405020304" pitchFamily="18" charset="0"/>
                <a:ea typeface="微软雅黑" panose="020B0503020204020204" pitchFamily="34" charset="-122"/>
                <a:cs typeface="Times New Roman" panose="02020603050405020304" pitchFamily="18" charset="0"/>
              </a:rPr>
              <a:t>．热噪声</a:t>
            </a:r>
            <a:endParaRPr lang="en-US" altLang="zh-CN" sz="36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388" name="Rectangle 7"/>
          <p:cNvSpPr>
            <a:spLocks noChangeArrowheads="1"/>
          </p:cNvSpPr>
          <p:nvPr/>
        </p:nvSpPr>
        <p:spPr bwMode="auto">
          <a:xfrm>
            <a:off x="5098387" y="2683448"/>
            <a:ext cx="45267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sz="3600" dirty="0">
                <a:latin typeface="Times New Roman" panose="02020603050405020304" pitchFamily="18" charset="0"/>
                <a:ea typeface="微软雅黑" panose="020B0503020204020204" pitchFamily="34" charset="-122"/>
                <a:cs typeface="Times New Roman" panose="02020603050405020304" pitchFamily="18" charset="0"/>
              </a:rPr>
              <a:t>2 .  </a:t>
            </a:r>
            <a:r>
              <a:rPr lang="zh-CN" altLang="en-US" sz="3600" dirty="0">
                <a:latin typeface="Times New Roman" panose="02020603050405020304" pitchFamily="18" charset="0"/>
                <a:ea typeface="微软雅黑" panose="020B0503020204020204" pitchFamily="34" charset="-122"/>
                <a:cs typeface="Times New Roman" panose="02020603050405020304" pitchFamily="18" charset="0"/>
              </a:rPr>
              <a:t>散粒噪声</a:t>
            </a:r>
          </a:p>
        </p:txBody>
      </p:sp>
      <p:sp>
        <p:nvSpPr>
          <p:cNvPr id="16389" name="Rectangle 8"/>
          <p:cNvSpPr>
            <a:spLocks noChangeArrowheads="1"/>
          </p:cNvSpPr>
          <p:nvPr/>
        </p:nvSpPr>
        <p:spPr bwMode="auto">
          <a:xfrm>
            <a:off x="5098387" y="3694973"/>
            <a:ext cx="422423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sz="360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3600">
                <a:latin typeface="Times New Roman" panose="02020603050405020304" pitchFamily="18" charset="0"/>
                <a:ea typeface="微软雅黑" panose="020B0503020204020204" pitchFamily="34" charset="-122"/>
                <a:cs typeface="Times New Roman" panose="02020603050405020304" pitchFamily="18" charset="0"/>
              </a:rPr>
              <a:t>．产生－复合噪声</a:t>
            </a:r>
            <a:r>
              <a:rPr lang="zh-CN" altLang="en-US" sz="36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16390" name="Rectangle 9"/>
          <p:cNvSpPr>
            <a:spLocks noChangeArrowheads="1"/>
          </p:cNvSpPr>
          <p:nvPr/>
        </p:nvSpPr>
        <p:spPr bwMode="auto">
          <a:xfrm>
            <a:off x="5098386" y="4666523"/>
            <a:ext cx="25442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sz="360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36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600">
                <a:latin typeface="Times New Roman" panose="02020603050405020304" pitchFamily="18" charset="0"/>
                <a:ea typeface="微软雅黑" panose="020B0503020204020204" pitchFamily="34" charset="-122"/>
                <a:cs typeface="Times New Roman" panose="02020603050405020304" pitchFamily="18" charset="0"/>
              </a:rPr>
              <a:t>1/f </a:t>
            </a:r>
            <a:r>
              <a:rPr lang="zh-CN" altLang="en-US" sz="3600">
                <a:latin typeface="Times New Roman" panose="02020603050405020304" pitchFamily="18" charset="0"/>
                <a:ea typeface="微软雅黑" panose="020B0503020204020204" pitchFamily="34" charset="-122"/>
                <a:cs typeface="Times New Roman" panose="02020603050405020304" pitchFamily="18" charset="0"/>
              </a:rPr>
              <a:t>噪声 </a:t>
            </a:r>
          </a:p>
        </p:txBody>
      </p:sp>
      <p:sp>
        <p:nvSpPr>
          <p:cNvPr id="16391" name="Rectangle 10"/>
          <p:cNvSpPr>
            <a:spLocks noChangeArrowheads="1"/>
          </p:cNvSpPr>
          <p:nvPr/>
        </p:nvSpPr>
        <p:spPr bwMode="auto">
          <a:xfrm>
            <a:off x="5098387" y="5557111"/>
            <a:ext cx="28392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sz="360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3600">
                <a:latin typeface="Times New Roman" panose="02020603050405020304" pitchFamily="18" charset="0"/>
                <a:ea typeface="微软雅黑" panose="020B0503020204020204" pitchFamily="34" charset="-122"/>
                <a:cs typeface="Times New Roman" panose="02020603050405020304" pitchFamily="18" charset="0"/>
              </a:rPr>
              <a:t>．温度噪声 </a:t>
            </a:r>
          </a:p>
        </p:txBody>
      </p:sp>
      <p:sp>
        <p:nvSpPr>
          <p:cNvPr id="17" name="矩形 16">
            <a:extLst>
              <a:ext uri="{FF2B5EF4-FFF2-40B4-BE49-F238E27FC236}">
                <a16:creationId xmlns="" xmlns:a16="http://schemas.microsoft.com/office/drawing/2014/main" id="{B6730A93-D60A-476F-B988-27303251564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 xmlns:a16="http://schemas.microsoft.com/office/drawing/2014/main" id="{86A23777-4D1B-4095-A357-5571A9F173C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 xmlns:a16="http://schemas.microsoft.com/office/drawing/2014/main" id="{B5D56D81-4EFA-470C-BEE6-722875FC4F8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1" name="矩形 20">
            <a:extLst>
              <a:ext uri="{FF2B5EF4-FFF2-40B4-BE49-F238E27FC236}">
                <a16:creationId xmlns="" xmlns:a16="http://schemas.microsoft.com/office/drawing/2014/main" id="{F22CEAD7-F4CA-4771-9FD6-F9CCE862AFC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 xmlns:a16="http://schemas.microsoft.com/office/drawing/2014/main" id="{2CD9F847-3C15-4E6E-A04D-B7ED9FAA921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4"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15"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0225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ctrTitle"/>
          </p:nvPr>
        </p:nvSpPr>
        <p:spPr bwMode="auto">
          <a:xfrm>
            <a:off x="4166396" y="1005852"/>
            <a:ext cx="5137943" cy="8215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37160" tIns="68580" rIns="137160" bIns="68580" numCol="1" anchor="t" anchorCtr="0" compatLnSpc="1">
            <a:prstTxWarp prst="textNoShape">
              <a:avLst/>
            </a:prstTxWarp>
          </a:bodyPr>
          <a:lstStyle/>
          <a:p>
            <a:pPr eaLnBrk="1" hangingPunct="1"/>
            <a:r>
              <a:rPr lang="en-US" altLang="zh-CN" sz="3200" b="1" dirty="0">
                <a:solidFill>
                  <a:srgbClr val="0000FF"/>
                </a:solidFill>
                <a:latin typeface="Times New Roman" panose="02020603050405020304" pitchFamily="18" charset="0"/>
                <a:ea typeface="微软雅黑" panose="020B0503020204020204" pitchFamily="34" charset="-122"/>
              </a:rPr>
              <a:t>1. </a:t>
            </a:r>
            <a:r>
              <a:rPr lang="zh-CN" altLang="en-US" sz="3200" b="1" dirty="0">
                <a:solidFill>
                  <a:srgbClr val="0000FF"/>
                </a:solidFill>
                <a:latin typeface="Times New Roman" panose="02020603050405020304" pitchFamily="18" charset="0"/>
                <a:ea typeface="微软雅黑" panose="020B0503020204020204" pitchFamily="34" charset="-122"/>
              </a:rPr>
              <a:t>热噪声</a:t>
            </a:r>
            <a:r>
              <a:rPr lang="en-US" altLang="zh-CN" sz="3200" b="1" dirty="0">
                <a:solidFill>
                  <a:srgbClr val="0000FF"/>
                </a:solidFill>
                <a:latin typeface="Times New Roman" panose="02020603050405020304" pitchFamily="18" charset="0"/>
                <a:ea typeface="微软雅黑" panose="020B0503020204020204" pitchFamily="34" charset="-122"/>
              </a:rPr>
              <a:t>(Thermal noise)</a:t>
            </a:r>
          </a:p>
        </p:txBody>
      </p:sp>
      <p:sp>
        <p:nvSpPr>
          <p:cNvPr id="3077" name="Rectangle 4"/>
          <p:cNvSpPr>
            <a:spLocks noChangeArrowheads="1"/>
          </p:cNvSpPr>
          <p:nvPr/>
        </p:nvSpPr>
        <p:spPr bwMode="auto">
          <a:xfrm>
            <a:off x="534195" y="2075179"/>
            <a:ext cx="12734925" cy="130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热噪声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(Johnson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噪声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是由于载流子的热运动而引起电流或电压的随机起伏。 均方噪声电流和均方噪声电压表达式为：</a:t>
            </a:r>
          </a:p>
        </p:txBody>
      </p:sp>
      <p:grpSp>
        <p:nvGrpSpPr>
          <p:cNvPr id="3" name="组合 9"/>
          <p:cNvGrpSpPr>
            <a:grpSpLocks/>
          </p:cNvGrpSpPr>
          <p:nvPr/>
        </p:nvGrpSpPr>
        <p:grpSpPr bwMode="auto">
          <a:xfrm>
            <a:off x="1323082" y="5847281"/>
            <a:ext cx="4892083" cy="753973"/>
            <a:chOff x="882650" y="4978400"/>
            <a:chExt cx="3261117" cy="671999"/>
          </a:xfrm>
        </p:grpSpPr>
        <p:graphicFrame>
          <p:nvGraphicFramePr>
            <p:cNvPr id="17418" name="Object 9"/>
            <p:cNvGraphicFramePr>
              <a:graphicFrameLocks noChangeAspect="1"/>
            </p:cNvGraphicFramePr>
            <p:nvPr/>
          </p:nvGraphicFramePr>
          <p:xfrm>
            <a:off x="882650" y="4978400"/>
            <a:ext cx="672000" cy="671999"/>
          </p:xfrm>
          <a:graphic>
            <a:graphicData uri="http://schemas.openxmlformats.org/presentationml/2006/ole">
              <mc:AlternateContent xmlns:mc="http://schemas.openxmlformats.org/markup-compatibility/2006">
                <mc:Choice xmlns:v="urn:schemas-microsoft-com:vml" Requires="v">
                  <p:oleObj spid="_x0000_s53415" r:id="rId3" imgW="190748" imgH="190748" progId="">
                    <p:embed/>
                  </p:oleObj>
                </mc:Choice>
                <mc:Fallback>
                  <p:oleObj r:id="rId3" imgW="190748" imgH="190748"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650" y="4978400"/>
                          <a:ext cx="672000" cy="671999"/>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19" name="Rectangle 10"/>
            <p:cNvSpPr>
              <a:spLocks noChangeArrowheads="1"/>
            </p:cNvSpPr>
            <p:nvPr/>
          </p:nvSpPr>
          <p:spPr bwMode="auto">
            <a:xfrm>
              <a:off x="1466761" y="4995236"/>
              <a:ext cx="2677006" cy="5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sz="3600" dirty="0">
                  <a:latin typeface="微软雅黑" panose="020B0503020204020204" pitchFamily="34" charset="-122"/>
                  <a:ea typeface="微软雅黑" panose="020B0503020204020204" pitchFamily="34" charset="-122"/>
                </a:rPr>
                <a:t>为测量的频带宽度</a:t>
              </a:r>
              <a:r>
                <a:rPr lang="zh-CN" altLang="en-US" sz="3600" dirty="0">
                  <a:solidFill>
                    <a:schemeClr val="bg1"/>
                  </a:solidFill>
                  <a:latin typeface="微软雅黑" panose="020B0503020204020204" pitchFamily="34" charset="-122"/>
                  <a:ea typeface="微软雅黑" panose="020B0503020204020204" pitchFamily="34" charset="-122"/>
                </a:rPr>
                <a:t> </a:t>
              </a:r>
            </a:p>
          </p:txBody>
        </p:sp>
      </p:grpSp>
      <p:sp>
        <p:nvSpPr>
          <p:cNvPr id="3081" name="Rectangle 11"/>
          <p:cNvSpPr>
            <a:spLocks noChangeArrowheads="1"/>
          </p:cNvSpPr>
          <p:nvPr/>
        </p:nvSpPr>
        <p:spPr bwMode="auto">
          <a:xfrm>
            <a:off x="7227889" y="5815013"/>
            <a:ext cx="41529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sz="3600">
                <a:solidFill>
                  <a:srgbClr val="FF0000"/>
                </a:solidFill>
                <a:latin typeface="微软雅黑" panose="020B0503020204020204" pitchFamily="34" charset="-122"/>
                <a:ea typeface="微软雅黑" panose="020B0503020204020204" pitchFamily="34" charset="-122"/>
              </a:rPr>
              <a:t>热噪声是白噪声</a:t>
            </a:r>
          </a:p>
        </p:txBody>
      </p:sp>
      <p:graphicFrame>
        <p:nvGraphicFramePr>
          <p:cNvPr id="3075" name="Object 11"/>
          <p:cNvGraphicFramePr>
            <a:graphicFrameLocks noChangeAspect="1"/>
          </p:cNvGraphicFramePr>
          <p:nvPr>
            <p:extLst>
              <p:ext uri="{D42A27DB-BD31-4B8C-83A1-F6EECF244321}">
                <p14:modId xmlns:p14="http://schemas.microsoft.com/office/powerpoint/2010/main" val="2292657745"/>
              </p:ext>
            </p:extLst>
          </p:nvPr>
        </p:nvGraphicFramePr>
        <p:xfrm>
          <a:off x="2332853" y="4018910"/>
          <a:ext cx="3124200" cy="1133475"/>
        </p:xfrm>
        <a:graphic>
          <a:graphicData uri="http://schemas.openxmlformats.org/presentationml/2006/ole">
            <mc:AlternateContent xmlns:mc="http://schemas.openxmlformats.org/markup-compatibility/2006">
              <mc:Choice xmlns:v="urn:schemas-microsoft-com:vml" Requires="v">
                <p:oleObj spid="_x0000_s53416" name="Equation" r:id="rId5" imgW="812520" imgH="393480" progId="Equation.DSMT4">
                  <p:embed/>
                </p:oleObj>
              </mc:Choice>
              <mc:Fallback>
                <p:oleObj name="Equation" r:id="rId5" imgW="812520" imgH="393480" progId="Equation.DSMT4">
                  <p:embed/>
                  <p:pic>
                    <p:nvPicPr>
                      <p:cNvPr id="0" name=""/>
                      <p:cNvPicPr>
                        <a:picLocks noChangeAspect="1" noChangeArrowheads="1"/>
                      </p:cNvPicPr>
                      <p:nvPr/>
                    </p:nvPicPr>
                    <p:blipFill>
                      <a:blip r:embed="rId6"/>
                      <a:srcRect/>
                      <a:stretch>
                        <a:fillRect/>
                      </a:stretch>
                    </p:blipFill>
                    <p:spPr bwMode="auto">
                      <a:xfrm>
                        <a:off x="2332853" y="4018910"/>
                        <a:ext cx="3124200" cy="1133475"/>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 name="Object 4"/>
          <p:cNvGraphicFramePr>
            <a:graphicFrameLocks noChangeAspect="1"/>
          </p:cNvGraphicFramePr>
          <p:nvPr>
            <p:extLst>
              <p:ext uri="{D42A27DB-BD31-4B8C-83A1-F6EECF244321}">
                <p14:modId xmlns:p14="http://schemas.microsoft.com/office/powerpoint/2010/main" val="1044225766"/>
              </p:ext>
            </p:extLst>
          </p:nvPr>
        </p:nvGraphicFramePr>
        <p:xfrm>
          <a:off x="6961188" y="4170363"/>
          <a:ext cx="3476625" cy="828675"/>
        </p:xfrm>
        <a:graphic>
          <a:graphicData uri="http://schemas.openxmlformats.org/presentationml/2006/ole">
            <mc:AlternateContent xmlns:mc="http://schemas.openxmlformats.org/markup-compatibility/2006">
              <mc:Choice xmlns:v="urn:schemas-microsoft-com:vml" Requires="v">
                <p:oleObj spid="_x0000_s53417" name="Equation" r:id="rId7" imgW="876240" imgH="279360" progId="Equation.DSMT4">
                  <p:embed/>
                </p:oleObj>
              </mc:Choice>
              <mc:Fallback>
                <p:oleObj name="Equation" r:id="rId7" imgW="876240" imgH="279360" progId="Equation.DSMT4">
                  <p:embed/>
                  <p:pic>
                    <p:nvPicPr>
                      <p:cNvPr id="0" name=""/>
                      <p:cNvPicPr>
                        <a:picLocks noChangeAspect="1" noChangeArrowheads="1"/>
                      </p:cNvPicPr>
                      <p:nvPr/>
                    </p:nvPicPr>
                    <p:blipFill>
                      <a:blip r:embed="rId8"/>
                      <a:srcRect/>
                      <a:stretch>
                        <a:fillRect/>
                      </a:stretch>
                    </p:blipFill>
                    <p:spPr bwMode="auto">
                      <a:xfrm>
                        <a:off x="6961188" y="4170363"/>
                        <a:ext cx="3476625" cy="828675"/>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 name="矩形 18">
            <a:extLst>
              <a:ext uri="{FF2B5EF4-FFF2-40B4-BE49-F238E27FC236}">
                <a16:creationId xmlns="" xmlns:a16="http://schemas.microsoft.com/office/drawing/2014/main" id="{0EC6266F-66EF-4AA9-A07B-46CB91774C8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 xmlns:a16="http://schemas.microsoft.com/office/drawing/2014/main" id="{E4A575CD-8A64-40FC-84D8-DD7263C7F71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7C5BC27F-9522-44CA-B15F-98616E1B34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85E0698C-B364-4648-B32A-BD18F5C187E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 xmlns:a16="http://schemas.microsoft.com/office/drawing/2014/main" id="{BA500B40-F157-4E72-A75A-6B016887D6D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6"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27"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481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box(in)">
                                      <p:cBhvr>
                                        <p:cTn id="7" dur="500"/>
                                        <p:tgtEl>
                                          <p:spTgt spid="30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77"/>
                                        </p:tgtEl>
                                        <p:attrNameLst>
                                          <p:attrName>style.visibility</p:attrName>
                                        </p:attrNameLst>
                                      </p:cBhvr>
                                      <p:to>
                                        <p:strVal val="visible"/>
                                      </p:to>
                                    </p:set>
                                    <p:animEffect transition="in" filter="box(in)">
                                      <p:cBhvr>
                                        <p:cTn id="12" dur="500"/>
                                        <p:tgtEl>
                                          <p:spTgt spid="30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075"/>
                                        </p:tgtEl>
                                        <p:attrNameLst>
                                          <p:attrName>style.visibility</p:attrName>
                                        </p:attrNameLst>
                                      </p:cBhvr>
                                      <p:to>
                                        <p:strVal val="visible"/>
                                      </p:to>
                                    </p:set>
                                    <p:animEffect transition="in" filter="box(in)">
                                      <p:cBhvr>
                                        <p:cTn id="17" dur="500"/>
                                        <p:tgtEl>
                                          <p:spTgt spid="30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in)">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circle(in)">
                                      <p:cBhvr>
                                        <p:cTn id="27" dur="20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3081"/>
                                        </p:tgtEl>
                                        <p:attrNameLst>
                                          <p:attrName>style.visibility</p:attrName>
                                        </p:attrNameLst>
                                      </p:cBhvr>
                                      <p:to>
                                        <p:strVal val="visible"/>
                                      </p:to>
                                    </p:set>
                                    <p:animEffect transition="in" filter="circle(in)">
                                      <p:cBhvr>
                                        <p:cTn id="32" dur="2000"/>
                                        <p:tgtEl>
                                          <p:spTgt spid="3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P spid="3077" grpId="0"/>
      <p:bldP spid="308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15"/>
          <p:cNvGraphicFramePr>
            <a:graphicFrameLocks noChangeAspect="1"/>
          </p:cNvGraphicFramePr>
          <p:nvPr>
            <p:extLst>
              <p:ext uri="{D42A27DB-BD31-4B8C-83A1-F6EECF244321}">
                <p14:modId xmlns:p14="http://schemas.microsoft.com/office/powerpoint/2010/main" val="4240561560"/>
              </p:ext>
            </p:extLst>
          </p:nvPr>
        </p:nvGraphicFramePr>
        <p:xfrm>
          <a:off x="7478713" y="2476500"/>
          <a:ext cx="2765425" cy="623888"/>
        </p:xfrm>
        <a:graphic>
          <a:graphicData uri="http://schemas.openxmlformats.org/presentationml/2006/ole">
            <mc:AlternateContent xmlns:mc="http://schemas.openxmlformats.org/markup-compatibility/2006">
              <mc:Choice xmlns:v="urn:schemas-microsoft-com:vml" Requires="v">
                <p:oleObj spid="_x0000_s54649" name="Equation" r:id="rId3" imgW="927000" imgH="279360" progId="Equation.DSMT4">
                  <p:embed/>
                </p:oleObj>
              </mc:Choice>
              <mc:Fallback>
                <p:oleObj name="Equation" r:id="rId3" imgW="927000" imgH="279360" progId="Equation.DSMT4">
                  <p:embed/>
                  <p:pic>
                    <p:nvPicPr>
                      <p:cNvPr id="0" name=""/>
                      <p:cNvPicPr>
                        <a:picLocks noChangeAspect="1" noChangeArrowheads="1"/>
                      </p:cNvPicPr>
                      <p:nvPr/>
                    </p:nvPicPr>
                    <p:blipFill>
                      <a:blip r:embed="rId4"/>
                      <a:srcRect/>
                      <a:stretch>
                        <a:fillRect/>
                      </a:stretch>
                    </p:blipFill>
                    <p:spPr bwMode="auto">
                      <a:xfrm>
                        <a:off x="7478713" y="2476500"/>
                        <a:ext cx="2765425" cy="623888"/>
                      </a:xfrm>
                      <a:prstGeom prst="rect">
                        <a:avLst/>
                      </a:prstGeom>
                      <a:solidFill>
                        <a:srgbClr val="FFFF00"/>
                      </a:solidFill>
                      <a:ln>
                        <a:noFill/>
                      </a:ln>
                    </p:spPr>
                  </p:pic>
                </p:oleObj>
              </mc:Fallback>
            </mc:AlternateContent>
          </a:graphicData>
        </a:graphic>
      </p:graphicFrame>
      <p:graphicFrame>
        <p:nvGraphicFramePr>
          <p:cNvPr id="4099" name="Object 27"/>
          <p:cNvGraphicFramePr>
            <a:graphicFrameLocks noChangeAspect="1"/>
          </p:cNvGraphicFramePr>
          <p:nvPr>
            <p:extLst>
              <p:ext uri="{D42A27DB-BD31-4B8C-83A1-F6EECF244321}">
                <p14:modId xmlns:p14="http://schemas.microsoft.com/office/powerpoint/2010/main" val="3381938955"/>
              </p:ext>
            </p:extLst>
          </p:nvPr>
        </p:nvGraphicFramePr>
        <p:xfrm>
          <a:off x="1290638" y="2443163"/>
          <a:ext cx="2595562" cy="576262"/>
        </p:xfrm>
        <a:graphic>
          <a:graphicData uri="http://schemas.openxmlformats.org/presentationml/2006/ole">
            <mc:AlternateContent xmlns:mc="http://schemas.openxmlformats.org/markup-compatibility/2006">
              <mc:Choice xmlns:v="urn:schemas-microsoft-com:vml" Requires="v">
                <p:oleObj spid="_x0000_s54650" name="Equation" r:id="rId5" imgW="939600" imgH="279360" progId="Equation.DSMT4">
                  <p:embed/>
                </p:oleObj>
              </mc:Choice>
              <mc:Fallback>
                <p:oleObj name="Equation" r:id="rId5" imgW="939600" imgH="279360" progId="Equation.DSMT4">
                  <p:embed/>
                  <p:pic>
                    <p:nvPicPr>
                      <p:cNvPr id="0" name=""/>
                      <p:cNvPicPr>
                        <a:picLocks noChangeAspect="1" noChangeArrowheads="1"/>
                      </p:cNvPicPr>
                      <p:nvPr/>
                    </p:nvPicPr>
                    <p:blipFill>
                      <a:blip r:embed="rId6"/>
                      <a:srcRect/>
                      <a:stretch>
                        <a:fillRect/>
                      </a:stretch>
                    </p:blipFill>
                    <p:spPr bwMode="auto">
                      <a:xfrm>
                        <a:off x="1290638" y="2443163"/>
                        <a:ext cx="2595562" cy="576262"/>
                      </a:xfrm>
                      <a:prstGeom prst="rect">
                        <a:avLst/>
                      </a:prstGeom>
                      <a:solidFill>
                        <a:srgbClr val="FFFF00"/>
                      </a:solidFill>
                      <a:ln>
                        <a:noFill/>
                      </a:ln>
                    </p:spPr>
                  </p:pic>
                </p:oleObj>
              </mc:Fallback>
            </mc:AlternateContent>
          </a:graphicData>
        </a:graphic>
      </p:graphicFrame>
      <p:sp>
        <p:nvSpPr>
          <p:cNvPr id="4121" name="Text Box 29"/>
          <p:cNvSpPr txBox="1">
            <a:spLocks noChangeArrowheads="1"/>
          </p:cNvSpPr>
          <p:nvPr/>
        </p:nvSpPr>
        <p:spPr bwMode="auto">
          <a:xfrm>
            <a:off x="4320382" y="904876"/>
            <a:ext cx="492680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3200" dirty="0">
                <a:solidFill>
                  <a:srgbClr val="0000FF"/>
                </a:solidFill>
                <a:latin typeface="微软雅黑" panose="020B0503020204020204" pitchFamily="34" charset="-122"/>
                <a:ea typeface="微软雅黑" panose="020B0503020204020204" pitchFamily="34" charset="-122"/>
              </a:rPr>
              <a:t>热噪声等效电路如下</a:t>
            </a:r>
          </a:p>
        </p:txBody>
      </p:sp>
      <p:sp>
        <p:nvSpPr>
          <p:cNvPr id="4122" name="Text Box 30"/>
          <p:cNvSpPr txBox="1">
            <a:spLocks noChangeArrowheads="1"/>
          </p:cNvSpPr>
          <p:nvPr/>
        </p:nvSpPr>
        <p:spPr bwMode="auto">
          <a:xfrm>
            <a:off x="1061326" y="4235444"/>
            <a:ext cx="32615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zh-CN" altLang="en-US" dirty="0">
                <a:solidFill>
                  <a:srgbClr val="0000CC"/>
                </a:solidFill>
                <a:latin typeface="Times New Roman" panose="02020603050405020304" pitchFamily="18" charset="0"/>
                <a:ea typeface="微软雅黑" panose="020B0503020204020204" pitchFamily="34" charset="-122"/>
              </a:rPr>
              <a:t>在室温下</a:t>
            </a:r>
            <a:r>
              <a:rPr lang="en-US" altLang="zh-CN" dirty="0">
                <a:solidFill>
                  <a:srgbClr val="0000CC"/>
                </a:solidFill>
                <a:latin typeface="Times New Roman" panose="02020603050405020304" pitchFamily="18" charset="0"/>
                <a:ea typeface="微软雅黑" panose="020B0503020204020204" pitchFamily="34" charset="-122"/>
              </a:rPr>
              <a:t>(295K)</a:t>
            </a:r>
          </a:p>
        </p:txBody>
      </p:sp>
      <p:graphicFrame>
        <p:nvGraphicFramePr>
          <p:cNvPr id="4100" name="Object 31"/>
          <p:cNvGraphicFramePr>
            <a:graphicFrameLocks noChangeAspect="1"/>
          </p:cNvGraphicFramePr>
          <p:nvPr>
            <p:extLst>
              <p:ext uri="{D42A27DB-BD31-4B8C-83A1-F6EECF244321}">
                <p14:modId xmlns:p14="http://schemas.microsoft.com/office/powerpoint/2010/main" val="3236389862"/>
              </p:ext>
            </p:extLst>
          </p:nvPr>
        </p:nvGraphicFramePr>
        <p:xfrm>
          <a:off x="4002171" y="4255724"/>
          <a:ext cx="3790155" cy="490517"/>
        </p:xfrm>
        <a:graphic>
          <a:graphicData uri="http://schemas.openxmlformats.org/presentationml/2006/ole">
            <mc:AlternateContent xmlns:mc="http://schemas.openxmlformats.org/markup-compatibility/2006">
              <mc:Choice xmlns:v="urn:schemas-microsoft-com:vml" Requires="v">
                <p:oleObj spid="_x0000_s54651" r:id="rId7" imgW="1181100" imgH="203200" progId="Equation.DSMT4">
                  <p:embed/>
                </p:oleObj>
              </mc:Choice>
              <mc:Fallback>
                <p:oleObj r:id="rId7" imgW="1181100" imgH="203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2171" y="4255724"/>
                        <a:ext cx="3790155" cy="490517"/>
                      </a:xfrm>
                      <a:prstGeom prst="rect">
                        <a:avLst/>
                      </a:prstGeom>
                      <a:solidFill>
                        <a:srgbClr val="FFFF00"/>
                      </a:solidFill>
                      <a:ln>
                        <a:noFill/>
                      </a:ln>
                    </p:spPr>
                  </p:pic>
                </p:oleObj>
              </mc:Fallback>
            </mc:AlternateContent>
          </a:graphicData>
        </a:graphic>
      </p:graphicFrame>
      <p:sp>
        <p:nvSpPr>
          <p:cNvPr id="4123" name="Text Box 32"/>
          <p:cNvSpPr txBox="1">
            <a:spLocks noChangeArrowheads="1"/>
          </p:cNvSpPr>
          <p:nvPr/>
        </p:nvSpPr>
        <p:spPr bwMode="auto">
          <a:xfrm>
            <a:off x="930359" y="5050361"/>
            <a:ext cx="79859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b="0" dirty="0">
                <a:latin typeface="Times New Roman" panose="02020603050405020304" pitchFamily="18" charset="0"/>
              </a:rPr>
              <a:t>1</a:t>
            </a:r>
            <a:r>
              <a:rPr lang="zh-CN" altLang="en-US" dirty="0">
                <a:latin typeface="微软雅黑" panose="020B0503020204020204" pitchFamily="34" charset="-122"/>
                <a:ea typeface="微软雅黑" panose="020B0503020204020204" pitchFamily="34" charset="-122"/>
              </a:rPr>
              <a:t>欧姆电阻在单位赫兹带宽内产生的热噪声功率为</a:t>
            </a:r>
          </a:p>
        </p:txBody>
      </p:sp>
      <p:graphicFrame>
        <p:nvGraphicFramePr>
          <p:cNvPr id="4101" name="Object 33"/>
          <p:cNvGraphicFramePr>
            <a:graphicFrameLocks noChangeAspect="1"/>
          </p:cNvGraphicFramePr>
          <p:nvPr>
            <p:extLst>
              <p:ext uri="{D42A27DB-BD31-4B8C-83A1-F6EECF244321}">
                <p14:modId xmlns:p14="http://schemas.microsoft.com/office/powerpoint/2010/main" val="1937440772"/>
              </p:ext>
            </p:extLst>
          </p:nvPr>
        </p:nvGraphicFramePr>
        <p:xfrm>
          <a:off x="8849602" y="5004200"/>
          <a:ext cx="2807495" cy="504825"/>
        </p:xfrm>
        <a:graphic>
          <a:graphicData uri="http://schemas.openxmlformats.org/presentationml/2006/ole">
            <mc:AlternateContent xmlns:mc="http://schemas.openxmlformats.org/markup-compatibility/2006">
              <mc:Choice xmlns:v="urn:schemas-microsoft-com:vml" Requires="v">
                <p:oleObj spid="_x0000_s54652" r:id="rId9" imgW="850900" imgH="203200" progId="Equation.3">
                  <p:embed/>
                </p:oleObj>
              </mc:Choice>
              <mc:Fallback>
                <p:oleObj r:id="rId9" imgW="850900" imgH="2032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49602" y="5004200"/>
                        <a:ext cx="2807495" cy="504825"/>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102" name="Object 34"/>
          <p:cNvGraphicFramePr>
            <a:graphicFrameLocks noChangeAspect="1"/>
          </p:cNvGraphicFramePr>
          <p:nvPr>
            <p:extLst>
              <p:ext uri="{D42A27DB-BD31-4B8C-83A1-F6EECF244321}">
                <p14:modId xmlns:p14="http://schemas.microsoft.com/office/powerpoint/2010/main" val="881190917"/>
              </p:ext>
            </p:extLst>
          </p:nvPr>
        </p:nvGraphicFramePr>
        <p:xfrm>
          <a:off x="1123950" y="5767388"/>
          <a:ext cx="3603625" cy="547687"/>
        </p:xfrm>
        <a:graphic>
          <a:graphicData uri="http://schemas.openxmlformats.org/presentationml/2006/ole">
            <mc:AlternateContent xmlns:mc="http://schemas.openxmlformats.org/markup-compatibility/2006">
              <mc:Choice xmlns:v="urn:schemas-microsoft-com:vml" Requires="v">
                <p:oleObj spid="_x0000_s54653" name="Equation" r:id="rId11" imgW="1371600" imgH="279360" progId="Equation.DSMT4">
                  <p:embed/>
                </p:oleObj>
              </mc:Choice>
              <mc:Fallback>
                <p:oleObj name="Equation" r:id="rId11" imgW="1371600" imgH="279360" progId="Equation.DSMT4">
                  <p:embed/>
                  <p:pic>
                    <p:nvPicPr>
                      <p:cNvPr id="0" name=""/>
                      <p:cNvPicPr>
                        <a:picLocks noChangeAspect="1" noChangeArrowheads="1"/>
                      </p:cNvPicPr>
                      <p:nvPr/>
                    </p:nvPicPr>
                    <p:blipFill>
                      <a:blip r:embed="rId12"/>
                      <a:srcRect/>
                      <a:stretch>
                        <a:fillRect/>
                      </a:stretch>
                    </p:blipFill>
                    <p:spPr bwMode="auto">
                      <a:xfrm>
                        <a:off x="1123950" y="5767388"/>
                        <a:ext cx="3603625" cy="547687"/>
                      </a:xfrm>
                      <a:prstGeom prst="rect">
                        <a:avLst/>
                      </a:prstGeom>
                      <a:noFill/>
                      <a:ln>
                        <a:noFill/>
                      </a:ln>
                    </p:spPr>
                  </p:pic>
                </p:oleObj>
              </mc:Fallback>
            </mc:AlternateContent>
          </a:graphicData>
        </a:graphic>
      </p:graphicFrame>
      <p:graphicFrame>
        <p:nvGraphicFramePr>
          <p:cNvPr id="4103" name="Object 35"/>
          <p:cNvGraphicFramePr>
            <a:graphicFrameLocks noChangeAspect="1"/>
          </p:cNvGraphicFramePr>
          <p:nvPr>
            <p:extLst>
              <p:ext uri="{D42A27DB-BD31-4B8C-83A1-F6EECF244321}">
                <p14:modId xmlns:p14="http://schemas.microsoft.com/office/powerpoint/2010/main" val="2923990371"/>
              </p:ext>
            </p:extLst>
          </p:nvPr>
        </p:nvGraphicFramePr>
        <p:xfrm>
          <a:off x="1125538" y="6507163"/>
          <a:ext cx="3848100" cy="588962"/>
        </p:xfrm>
        <a:graphic>
          <a:graphicData uri="http://schemas.openxmlformats.org/presentationml/2006/ole">
            <mc:AlternateContent xmlns:mc="http://schemas.openxmlformats.org/markup-compatibility/2006">
              <mc:Choice xmlns:v="urn:schemas-microsoft-com:vml" Requires="v">
                <p:oleObj spid="_x0000_s54654" name="Equation" r:id="rId13" imgW="1358640" imgH="279360" progId="Equation.DSMT4">
                  <p:embed/>
                </p:oleObj>
              </mc:Choice>
              <mc:Fallback>
                <p:oleObj name="Equation" r:id="rId13" imgW="1358640" imgH="279360" progId="Equation.DSMT4">
                  <p:embed/>
                  <p:pic>
                    <p:nvPicPr>
                      <p:cNvPr id="0" name=""/>
                      <p:cNvPicPr>
                        <a:picLocks noChangeAspect="1" noChangeArrowheads="1"/>
                      </p:cNvPicPr>
                      <p:nvPr/>
                    </p:nvPicPr>
                    <p:blipFill>
                      <a:blip r:embed="rId14"/>
                      <a:srcRect/>
                      <a:stretch>
                        <a:fillRect/>
                      </a:stretch>
                    </p:blipFill>
                    <p:spPr bwMode="auto">
                      <a:xfrm>
                        <a:off x="1125538" y="6507163"/>
                        <a:ext cx="3848100" cy="588962"/>
                      </a:xfrm>
                      <a:prstGeom prst="rect">
                        <a:avLst/>
                      </a:prstGeom>
                      <a:noFill/>
                      <a:ln>
                        <a:noFill/>
                      </a:ln>
                    </p:spPr>
                  </p:pic>
                </p:oleObj>
              </mc:Fallback>
            </mc:AlternateContent>
          </a:graphicData>
        </a:graphic>
      </p:graphicFrame>
      <p:grpSp>
        <p:nvGrpSpPr>
          <p:cNvPr id="4" name="组合 31"/>
          <p:cNvGrpSpPr>
            <a:grpSpLocks/>
          </p:cNvGrpSpPr>
          <p:nvPr/>
        </p:nvGrpSpPr>
        <p:grpSpPr bwMode="auto">
          <a:xfrm>
            <a:off x="10996923" y="1589327"/>
            <a:ext cx="1239158" cy="2293145"/>
            <a:chOff x="5665788" y="788988"/>
            <a:chExt cx="1219200" cy="2133600"/>
          </a:xfrm>
        </p:grpSpPr>
        <p:sp>
          <p:nvSpPr>
            <p:cNvPr id="18447" name="Rectangle 5"/>
            <p:cNvSpPr>
              <a:spLocks noChangeArrowheads="1"/>
            </p:cNvSpPr>
            <p:nvPr/>
          </p:nvSpPr>
          <p:spPr bwMode="auto">
            <a:xfrm>
              <a:off x="5741988" y="1246188"/>
              <a:ext cx="152400" cy="381000"/>
            </a:xfrm>
            <a:prstGeom prst="rect">
              <a:avLst/>
            </a:prstGeom>
            <a:solidFill>
              <a:srgbClr val="FF0000"/>
            </a:solidFill>
            <a:ln w="9525">
              <a:solidFill>
                <a:schemeClr val="tx1"/>
              </a:solidFill>
              <a:miter lim="800000"/>
              <a:headEnd/>
              <a:tailEnd/>
            </a:ln>
          </p:spPr>
          <p:txBody>
            <a:bodyPr wrap="none" anchor="ct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grpSp>
          <p:nvGrpSpPr>
            <p:cNvPr id="18448" name="Group 6"/>
            <p:cNvGrpSpPr>
              <a:grpSpLocks/>
            </p:cNvGrpSpPr>
            <p:nvPr/>
          </p:nvGrpSpPr>
          <p:grpSpPr bwMode="auto">
            <a:xfrm>
              <a:off x="5665788" y="2160588"/>
              <a:ext cx="304800" cy="304800"/>
              <a:chOff x="960" y="2256"/>
              <a:chExt cx="192" cy="192"/>
            </a:xfrm>
          </p:grpSpPr>
          <p:sp>
            <p:nvSpPr>
              <p:cNvPr id="18455" name="Oval 7"/>
              <p:cNvSpPr>
                <a:spLocks noChangeArrowheads="1"/>
              </p:cNvSpPr>
              <p:nvPr/>
            </p:nvSpPr>
            <p:spPr bwMode="auto">
              <a:xfrm>
                <a:off x="960" y="2256"/>
                <a:ext cx="192" cy="192"/>
              </a:xfrm>
              <a:prstGeom prst="ellipse">
                <a:avLst/>
              </a:pr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sp>
            <p:nvSpPr>
              <p:cNvPr id="18456" name="Freeform 8"/>
              <p:cNvSpPr>
                <a:spLocks noChangeAspect="1" noChangeArrowheads="1"/>
              </p:cNvSpPr>
              <p:nvPr/>
            </p:nvSpPr>
            <p:spPr bwMode="auto">
              <a:xfrm>
                <a:off x="982" y="2304"/>
                <a:ext cx="134" cy="115"/>
              </a:xfrm>
              <a:custGeom>
                <a:avLst/>
                <a:gdLst>
                  <a:gd name="T0" fmla="*/ 0 w 288"/>
                  <a:gd name="T1" fmla="*/ 1 h 248"/>
                  <a:gd name="T2" fmla="*/ 1 w 288"/>
                  <a:gd name="T3" fmla="*/ 0 h 248"/>
                  <a:gd name="T4" fmla="*/ 1 w 288"/>
                  <a:gd name="T5" fmla="*/ 1 h 248"/>
                  <a:gd name="T6" fmla="*/ 2 w 288"/>
                  <a:gd name="T7" fmla="*/ 2 h 248"/>
                  <a:gd name="T8" fmla="*/ 3 w 288"/>
                  <a:gd name="T9" fmla="*/ 1 h 248"/>
                  <a:gd name="T10" fmla="*/ 0 60000 65536"/>
                  <a:gd name="T11" fmla="*/ 0 60000 65536"/>
                  <a:gd name="T12" fmla="*/ 0 60000 65536"/>
                  <a:gd name="T13" fmla="*/ 0 60000 65536"/>
                  <a:gd name="T14" fmla="*/ 0 60000 65536"/>
                  <a:gd name="T15" fmla="*/ 0 w 288"/>
                  <a:gd name="T16" fmla="*/ 0 h 248"/>
                  <a:gd name="T17" fmla="*/ 288 w 288"/>
                  <a:gd name="T18" fmla="*/ 248 h 248"/>
                </a:gdLst>
                <a:ahLst/>
                <a:cxnLst>
                  <a:cxn ang="T10">
                    <a:pos x="T0" y="T1"/>
                  </a:cxn>
                  <a:cxn ang="T11">
                    <a:pos x="T2" y="T3"/>
                  </a:cxn>
                  <a:cxn ang="T12">
                    <a:pos x="T4" y="T5"/>
                  </a:cxn>
                  <a:cxn ang="T13">
                    <a:pos x="T6" y="T7"/>
                  </a:cxn>
                  <a:cxn ang="T14">
                    <a:pos x="T8" y="T9"/>
                  </a:cxn>
                </a:cxnLst>
                <a:rect l="T15" t="T16" r="T17" b="T18"/>
                <a:pathLst>
                  <a:path w="288" h="248">
                    <a:moveTo>
                      <a:pt x="0" y="96"/>
                    </a:moveTo>
                    <a:cubicBezTo>
                      <a:pt x="36" y="48"/>
                      <a:pt x="72" y="0"/>
                      <a:pt x="96" y="0"/>
                    </a:cubicBezTo>
                    <a:cubicBezTo>
                      <a:pt x="120" y="0"/>
                      <a:pt x="128" y="56"/>
                      <a:pt x="144" y="96"/>
                    </a:cubicBezTo>
                    <a:cubicBezTo>
                      <a:pt x="160" y="136"/>
                      <a:pt x="168" y="232"/>
                      <a:pt x="192" y="240"/>
                    </a:cubicBezTo>
                    <a:cubicBezTo>
                      <a:pt x="216" y="248"/>
                      <a:pt x="252" y="196"/>
                      <a:pt x="288" y="144"/>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3000"/>
              </a:p>
            </p:txBody>
          </p:sp>
        </p:grpSp>
        <p:sp>
          <p:nvSpPr>
            <p:cNvPr id="18449" name="Line 9"/>
            <p:cNvSpPr>
              <a:spLocks noChangeShapeType="1"/>
            </p:cNvSpPr>
            <p:nvPr/>
          </p:nvSpPr>
          <p:spPr bwMode="auto">
            <a:xfrm>
              <a:off x="5818188" y="788988"/>
              <a:ext cx="0" cy="457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50" name="Line 10"/>
            <p:cNvSpPr>
              <a:spLocks noChangeShapeType="1"/>
            </p:cNvSpPr>
            <p:nvPr/>
          </p:nvSpPr>
          <p:spPr bwMode="auto">
            <a:xfrm>
              <a:off x="5818188" y="788988"/>
              <a:ext cx="106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51" name="Line 11"/>
            <p:cNvSpPr>
              <a:spLocks noChangeShapeType="1"/>
            </p:cNvSpPr>
            <p:nvPr/>
          </p:nvSpPr>
          <p:spPr bwMode="auto">
            <a:xfrm>
              <a:off x="5818188" y="1627188"/>
              <a:ext cx="0" cy="533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52" name="Line 12"/>
            <p:cNvSpPr>
              <a:spLocks noChangeShapeType="1"/>
            </p:cNvSpPr>
            <p:nvPr/>
          </p:nvSpPr>
          <p:spPr bwMode="auto">
            <a:xfrm>
              <a:off x="5818188" y="2465388"/>
              <a:ext cx="0" cy="457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53" name="Line 13"/>
            <p:cNvSpPr>
              <a:spLocks noChangeShapeType="1"/>
            </p:cNvSpPr>
            <p:nvPr/>
          </p:nvSpPr>
          <p:spPr bwMode="auto">
            <a:xfrm>
              <a:off x="5818188" y="2922588"/>
              <a:ext cx="1066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54" name="Text Box 14"/>
            <p:cNvSpPr txBox="1">
              <a:spLocks noChangeArrowheads="1"/>
            </p:cNvSpPr>
            <p:nvPr/>
          </p:nvSpPr>
          <p:spPr bwMode="auto">
            <a:xfrm>
              <a:off x="5858129" y="1205437"/>
              <a:ext cx="457200" cy="472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700" b="0" dirty="0">
                  <a:solidFill>
                    <a:srgbClr val="FF0000"/>
                  </a:solidFill>
                  <a:latin typeface="Times New Roman" panose="02020603050405020304" pitchFamily="18" charset="0"/>
                </a:rPr>
                <a:t>R</a:t>
              </a:r>
            </a:p>
          </p:txBody>
        </p:sp>
      </p:grpSp>
      <p:grpSp>
        <p:nvGrpSpPr>
          <p:cNvPr id="8" name="组合 7"/>
          <p:cNvGrpSpPr/>
          <p:nvPr/>
        </p:nvGrpSpPr>
        <p:grpSpPr>
          <a:xfrm>
            <a:off x="4517830" y="1591737"/>
            <a:ext cx="1838325" cy="2293145"/>
            <a:chOff x="1284289" y="1866901"/>
            <a:chExt cx="1838325" cy="2293145"/>
          </a:xfrm>
        </p:grpSpPr>
        <p:grpSp>
          <p:nvGrpSpPr>
            <p:cNvPr id="2" name="组合 32"/>
            <p:cNvGrpSpPr>
              <a:grpSpLocks/>
            </p:cNvGrpSpPr>
            <p:nvPr/>
          </p:nvGrpSpPr>
          <p:grpSpPr bwMode="auto">
            <a:xfrm>
              <a:off x="1284289" y="1866901"/>
              <a:ext cx="1838325" cy="2293145"/>
              <a:chOff x="2092325" y="1200150"/>
              <a:chExt cx="1600200" cy="2209800"/>
            </a:xfrm>
          </p:grpSpPr>
          <p:sp>
            <p:nvSpPr>
              <p:cNvPr id="18457" name="Rectangle 17"/>
              <p:cNvSpPr>
                <a:spLocks noChangeArrowheads="1"/>
              </p:cNvSpPr>
              <p:nvPr/>
            </p:nvSpPr>
            <p:spPr bwMode="auto">
              <a:xfrm>
                <a:off x="2930525" y="2038350"/>
                <a:ext cx="152400" cy="381000"/>
              </a:xfrm>
              <a:prstGeom prst="rect">
                <a:avLst/>
              </a:prstGeom>
              <a:solidFill>
                <a:srgbClr val="FF0000"/>
              </a:solidFill>
              <a:ln w="9525">
                <a:solidFill>
                  <a:schemeClr val="tx1"/>
                </a:solidFill>
                <a:miter lim="800000"/>
                <a:headEnd/>
                <a:tailEnd/>
              </a:ln>
            </p:spPr>
            <p:txBody>
              <a:bodyPr wrap="none" anchor="ct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sp>
            <p:nvSpPr>
              <p:cNvPr id="18466" name="Oval 19"/>
              <p:cNvSpPr>
                <a:spLocks noChangeArrowheads="1"/>
              </p:cNvSpPr>
              <p:nvPr/>
            </p:nvSpPr>
            <p:spPr bwMode="auto">
              <a:xfrm>
                <a:off x="2092325" y="2114550"/>
                <a:ext cx="304800" cy="358393"/>
              </a:xfrm>
              <a:prstGeom prst="ellipse">
                <a:avLst/>
              </a:prstGeom>
              <a:noFill/>
              <a:ln w="317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sp>
            <p:nvSpPr>
              <p:cNvPr id="18459" name="Line 21"/>
              <p:cNvSpPr>
                <a:spLocks noChangeShapeType="1"/>
              </p:cNvSpPr>
              <p:nvPr/>
            </p:nvSpPr>
            <p:spPr bwMode="auto">
              <a:xfrm>
                <a:off x="3006725" y="1200150"/>
                <a:ext cx="0" cy="838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60" name="Line 22"/>
              <p:cNvSpPr>
                <a:spLocks noChangeShapeType="1"/>
              </p:cNvSpPr>
              <p:nvPr/>
            </p:nvSpPr>
            <p:spPr bwMode="auto">
              <a:xfrm>
                <a:off x="2244725" y="1200150"/>
                <a:ext cx="1447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61" name="Line 23"/>
              <p:cNvSpPr>
                <a:spLocks noChangeShapeType="1"/>
              </p:cNvSpPr>
              <p:nvPr/>
            </p:nvSpPr>
            <p:spPr bwMode="auto">
              <a:xfrm>
                <a:off x="3006725" y="2419350"/>
                <a:ext cx="0" cy="990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62" name="Line 24"/>
              <p:cNvSpPr>
                <a:spLocks noChangeShapeType="1"/>
              </p:cNvSpPr>
              <p:nvPr/>
            </p:nvSpPr>
            <p:spPr bwMode="auto">
              <a:xfrm>
                <a:off x="2244725" y="2472942"/>
                <a:ext cx="1" cy="93700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63" name="Line 25"/>
              <p:cNvSpPr>
                <a:spLocks noChangeShapeType="1"/>
              </p:cNvSpPr>
              <p:nvPr/>
            </p:nvSpPr>
            <p:spPr bwMode="auto">
              <a:xfrm>
                <a:off x="2244725" y="3409950"/>
                <a:ext cx="12954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64" name="Line 26"/>
              <p:cNvSpPr>
                <a:spLocks noChangeShapeType="1"/>
              </p:cNvSpPr>
              <p:nvPr/>
            </p:nvSpPr>
            <p:spPr bwMode="auto">
              <a:xfrm flipH="1">
                <a:off x="2244725" y="1218508"/>
                <a:ext cx="1" cy="88222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3000"/>
              </a:p>
            </p:txBody>
          </p:sp>
          <p:sp>
            <p:nvSpPr>
              <p:cNvPr id="18465" name="Text Box 28"/>
              <p:cNvSpPr txBox="1">
                <a:spLocks noChangeArrowheads="1"/>
              </p:cNvSpPr>
              <p:nvPr/>
            </p:nvSpPr>
            <p:spPr bwMode="auto">
              <a:xfrm>
                <a:off x="3109378" y="1992458"/>
                <a:ext cx="381000" cy="489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spcBef>
                    <a:spcPct val="50000"/>
                  </a:spcBef>
                  <a:buFont typeface="Arial" panose="020B0604020202020204" pitchFamily="34" charset="0"/>
                  <a:buNone/>
                </a:pPr>
                <a:r>
                  <a:rPr lang="en-US" altLang="zh-CN" sz="2700" b="0" dirty="0">
                    <a:solidFill>
                      <a:srgbClr val="FF0000"/>
                    </a:solidFill>
                    <a:latin typeface="Times New Roman" panose="02020603050405020304" pitchFamily="18" charset="0"/>
                  </a:rPr>
                  <a:t>R</a:t>
                </a:r>
              </a:p>
            </p:txBody>
          </p:sp>
        </p:grpSp>
        <p:cxnSp>
          <p:nvCxnSpPr>
            <p:cNvPr id="5" name="直接箭头连接符 4"/>
            <p:cNvCxnSpPr/>
            <p:nvPr/>
          </p:nvCxnSpPr>
          <p:spPr>
            <a:xfrm flipV="1">
              <a:off x="1459366" y="2839135"/>
              <a:ext cx="1" cy="325217"/>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sp>
        <p:nvSpPr>
          <p:cNvPr id="9" name="右箭头 8"/>
          <p:cNvSpPr/>
          <p:nvPr/>
        </p:nvSpPr>
        <p:spPr>
          <a:xfrm>
            <a:off x="4027473" y="2439819"/>
            <a:ext cx="376294" cy="57352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右箭头 47"/>
          <p:cNvSpPr/>
          <p:nvPr/>
        </p:nvSpPr>
        <p:spPr>
          <a:xfrm>
            <a:off x="10465735" y="2526287"/>
            <a:ext cx="376294" cy="573520"/>
          </a:xfrm>
          <a:prstGeom prst="rightArrow">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314755" y="6178027"/>
            <a:ext cx="4829099" cy="461665"/>
          </a:xfrm>
          <a:prstGeom prst="rect">
            <a:avLst/>
          </a:prstGeom>
          <a:solidFill>
            <a:srgbClr val="00B0F0"/>
          </a:solidFill>
        </p:spPr>
        <p:txBody>
          <a:bodyPr wrap="square" rtlCol="0">
            <a:spAutoFit/>
          </a:bodyPr>
          <a:lstStyle/>
          <a:p>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例如：常温下，</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R=1K</a:t>
            </a:r>
            <a:r>
              <a:rPr lang="el-GR" altLang="zh-CN" sz="2400" b="1" dirty="0">
                <a:latin typeface="Times New Roman" panose="02020603050405020304" pitchFamily="18" charset="0"/>
                <a:ea typeface="微软雅黑" panose="020B0503020204020204" pitchFamily="34" charset="-122"/>
                <a:cs typeface="Times New Roman" panose="02020603050405020304" pitchFamily="18" charset="0"/>
              </a:rPr>
              <a:t>Ω</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l-GR" altLang="zh-CN" sz="2400" b="1" dirty="0">
                <a:latin typeface="Times New Roman" panose="02020603050405020304" pitchFamily="18" charset="0"/>
                <a:ea typeface="微软雅黑" panose="020B0503020204020204" pitchFamily="34" charset="-122"/>
                <a:cs typeface="Times New Roman" panose="02020603050405020304" pitchFamily="18" charset="0"/>
              </a:rPr>
              <a:t>Δ</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=1Hz</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0" name="Object 15"/>
          <p:cNvGraphicFramePr>
            <a:graphicFrameLocks noChangeAspect="1"/>
          </p:cNvGraphicFramePr>
          <p:nvPr>
            <p:extLst>
              <p:ext uri="{D42A27DB-BD31-4B8C-83A1-F6EECF244321}">
                <p14:modId xmlns:p14="http://schemas.microsoft.com/office/powerpoint/2010/main" val="3144282723"/>
              </p:ext>
            </p:extLst>
          </p:nvPr>
        </p:nvGraphicFramePr>
        <p:xfrm>
          <a:off x="10750550" y="5961063"/>
          <a:ext cx="2195513" cy="736600"/>
        </p:xfrm>
        <a:graphic>
          <a:graphicData uri="http://schemas.openxmlformats.org/presentationml/2006/ole">
            <mc:AlternateContent xmlns:mc="http://schemas.openxmlformats.org/markup-compatibility/2006">
              <mc:Choice xmlns:v="urn:schemas-microsoft-com:vml" Requires="v">
                <p:oleObj spid="_x0000_s54655" name="Equation" r:id="rId15" imgW="736560" imgH="330120" progId="Equation.DSMT4">
                  <p:embed/>
                </p:oleObj>
              </mc:Choice>
              <mc:Fallback>
                <p:oleObj name="Equation" r:id="rId15" imgW="736560" imgH="330120" progId="Equation.DSMT4">
                  <p:embed/>
                  <p:pic>
                    <p:nvPicPr>
                      <p:cNvPr id="0" name=""/>
                      <p:cNvPicPr>
                        <a:picLocks noChangeAspect="1" noChangeArrowheads="1"/>
                      </p:cNvPicPr>
                      <p:nvPr/>
                    </p:nvPicPr>
                    <p:blipFill>
                      <a:blip r:embed="rId16"/>
                      <a:srcRect/>
                      <a:stretch>
                        <a:fillRect/>
                      </a:stretch>
                    </p:blipFill>
                    <p:spPr bwMode="auto">
                      <a:xfrm>
                        <a:off x="10750550" y="5961063"/>
                        <a:ext cx="2195513" cy="736600"/>
                      </a:xfrm>
                      <a:prstGeom prst="rect">
                        <a:avLst/>
                      </a:prstGeom>
                      <a:solidFill>
                        <a:srgbClr val="00B0F0"/>
                      </a:solidFill>
                      <a:ln>
                        <a:noFill/>
                      </a:ln>
                    </p:spPr>
                  </p:pic>
                </p:oleObj>
              </mc:Fallback>
            </mc:AlternateContent>
          </a:graphicData>
        </a:graphic>
      </p:graphicFrame>
      <p:sp>
        <p:nvSpPr>
          <p:cNvPr id="51" name="右箭头 50"/>
          <p:cNvSpPr/>
          <p:nvPr/>
        </p:nvSpPr>
        <p:spPr>
          <a:xfrm>
            <a:off x="10240406" y="6107007"/>
            <a:ext cx="376294" cy="573520"/>
          </a:xfrm>
          <a:prstGeom prst="rightArrow">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 xmlns:a16="http://schemas.microsoft.com/office/drawing/2014/main" id="{EAE2D331-0633-4737-A5CE-77556AFF57E9}"/>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7" name="矩形 46">
            <a:extLst>
              <a:ext uri="{FF2B5EF4-FFF2-40B4-BE49-F238E27FC236}">
                <a16:creationId xmlns="" xmlns:a16="http://schemas.microsoft.com/office/drawing/2014/main" id="{A6C7805D-684C-4A3A-9D94-4328730F35D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 xmlns:a16="http://schemas.microsoft.com/office/drawing/2014/main" id="{E010C8C1-7247-47FA-9F63-FE8109FADC78}"/>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53" name="矩形 52">
            <a:extLst>
              <a:ext uri="{FF2B5EF4-FFF2-40B4-BE49-F238E27FC236}">
                <a16:creationId xmlns="" xmlns:a16="http://schemas.microsoft.com/office/drawing/2014/main" id="{B64DFFA5-4DFC-4BE3-9BE4-AED40959089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4" name="矩形 53">
            <a:extLst>
              <a:ext uri="{FF2B5EF4-FFF2-40B4-BE49-F238E27FC236}">
                <a16:creationId xmlns="" xmlns:a16="http://schemas.microsoft.com/office/drawing/2014/main" id="{422A0CF3-3148-4807-AA34-8D10DD4723D5}"/>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55"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56"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176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121"/>
                                        </p:tgtEl>
                                        <p:attrNameLst>
                                          <p:attrName>style.visibility</p:attrName>
                                        </p:attrNameLst>
                                      </p:cBhvr>
                                      <p:to>
                                        <p:strVal val="visible"/>
                                      </p:to>
                                    </p:set>
                                    <p:animEffect transition="in" filter="circle(in)">
                                      <p:cBhvr>
                                        <p:cTn id="7" dur="2000"/>
                                        <p:tgtEl>
                                          <p:spTgt spid="412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099"/>
                                        </p:tgtEl>
                                        <p:attrNameLst>
                                          <p:attrName>style.visibility</p:attrName>
                                        </p:attrNameLst>
                                      </p:cBhvr>
                                      <p:to>
                                        <p:strVal val="visible"/>
                                      </p:to>
                                    </p:set>
                                    <p:animEffect transition="in" filter="circle(in)">
                                      <p:cBhvr>
                                        <p:cTn id="12" dur="2000"/>
                                        <p:tgtEl>
                                          <p:spTgt spid="409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4098"/>
                                        </p:tgtEl>
                                        <p:attrNameLst>
                                          <p:attrName>style.visibility</p:attrName>
                                        </p:attrNameLst>
                                      </p:cBhvr>
                                      <p:to>
                                        <p:strVal val="visible"/>
                                      </p:to>
                                    </p:set>
                                    <p:animEffect transition="in" filter="circle(in)">
                                      <p:cBhvr>
                                        <p:cTn id="25" dur="2000"/>
                                        <p:tgtEl>
                                          <p:spTgt spid="409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circle(in)">
                                      <p:cBhvr>
                                        <p:cTn id="34" dur="20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4122"/>
                                        </p:tgtEl>
                                        <p:attrNameLst>
                                          <p:attrName>style.visibility</p:attrName>
                                        </p:attrNameLst>
                                      </p:cBhvr>
                                      <p:to>
                                        <p:strVal val="visible"/>
                                      </p:to>
                                    </p:set>
                                    <p:animEffect transition="in" filter="circle(in)">
                                      <p:cBhvr>
                                        <p:cTn id="39" dur="2000"/>
                                        <p:tgtEl>
                                          <p:spTgt spid="4122"/>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4100"/>
                                        </p:tgtEl>
                                        <p:attrNameLst>
                                          <p:attrName>style.visibility</p:attrName>
                                        </p:attrNameLst>
                                      </p:cBhvr>
                                      <p:to>
                                        <p:strVal val="visible"/>
                                      </p:to>
                                    </p:set>
                                    <p:animEffect transition="in" filter="circle(in)">
                                      <p:cBhvr>
                                        <p:cTn id="44" dur="2000"/>
                                        <p:tgtEl>
                                          <p:spTgt spid="4100"/>
                                        </p:tgtEl>
                                      </p:cBhvr>
                                    </p:animEffect>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4123"/>
                                        </p:tgtEl>
                                        <p:attrNameLst>
                                          <p:attrName>style.visibility</p:attrName>
                                        </p:attrNameLst>
                                      </p:cBhvr>
                                      <p:to>
                                        <p:strVal val="visible"/>
                                      </p:to>
                                    </p:set>
                                    <p:animEffect transition="in" filter="circle(in)">
                                      <p:cBhvr>
                                        <p:cTn id="49" dur="2000"/>
                                        <p:tgtEl>
                                          <p:spTgt spid="4123"/>
                                        </p:tgtEl>
                                      </p:cBhvr>
                                    </p:animEffect>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nodeType="clickEffect">
                                  <p:stCondLst>
                                    <p:cond delay="0"/>
                                  </p:stCondLst>
                                  <p:childTnLst>
                                    <p:set>
                                      <p:cBhvr>
                                        <p:cTn id="53" dur="1" fill="hold">
                                          <p:stCondLst>
                                            <p:cond delay="0"/>
                                          </p:stCondLst>
                                        </p:cTn>
                                        <p:tgtEl>
                                          <p:spTgt spid="4101"/>
                                        </p:tgtEl>
                                        <p:attrNameLst>
                                          <p:attrName>style.visibility</p:attrName>
                                        </p:attrNameLst>
                                      </p:cBhvr>
                                      <p:to>
                                        <p:strVal val="visible"/>
                                      </p:to>
                                    </p:set>
                                    <p:animEffect transition="in" filter="circle(in)">
                                      <p:cBhvr>
                                        <p:cTn id="54" dur="2000"/>
                                        <p:tgtEl>
                                          <p:spTgt spid="4101"/>
                                        </p:tgtEl>
                                      </p:cBhvr>
                                    </p:animEffect>
                                  </p:childTnLst>
                                </p:cTn>
                              </p:par>
                            </p:childTnLst>
                          </p:cTn>
                        </p:par>
                      </p:childTnLst>
                    </p:cTn>
                  </p:par>
                  <p:par>
                    <p:cTn id="55" fill="hold">
                      <p:stCondLst>
                        <p:cond delay="indefinite"/>
                      </p:stCondLst>
                      <p:childTnLst>
                        <p:par>
                          <p:cTn id="56" fill="hold">
                            <p:stCondLst>
                              <p:cond delay="0"/>
                            </p:stCondLst>
                            <p:childTnLst>
                              <p:par>
                                <p:cTn id="57" presetID="6" presetClass="entr" presetSubtype="16" fill="hold" nodeType="clickEffect">
                                  <p:stCondLst>
                                    <p:cond delay="0"/>
                                  </p:stCondLst>
                                  <p:childTnLst>
                                    <p:set>
                                      <p:cBhvr>
                                        <p:cTn id="58" dur="1" fill="hold">
                                          <p:stCondLst>
                                            <p:cond delay="0"/>
                                          </p:stCondLst>
                                        </p:cTn>
                                        <p:tgtEl>
                                          <p:spTgt spid="4102"/>
                                        </p:tgtEl>
                                        <p:attrNameLst>
                                          <p:attrName>style.visibility</p:attrName>
                                        </p:attrNameLst>
                                      </p:cBhvr>
                                      <p:to>
                                        <p:strVal val="visible"/>
                                      </p:to>
                                    </p:set>
                                    <p:animEffect transition="in" filter="circle(in)">
                                      <p:cBhvr>
                                        <p:cTn id="59" dur="2000"/>
                                        <p:tgtEl>
                                          <p:spTgt spid="4102"/>
                                        </p:tgtEl>
                                      </p:cBhvr>
                                    </p:animEffect>
                                  </p:childTnLst>
                                </p:cTn>
                              </p:par>
                            </p:childTnLst>
                          </p:cTn>
                        </p:par>
                      </p:childTnLst>
                    </p:cTn>
                  </p:par>
                  <p:par>
                    <p:cTn id="60" fill="hold">
                      <p:stCondLst>
                        <p:cond delay="indefinite"/>
                      </p:stCondLst>
                      <p:childTnLst>
                        <p:par>
                          <p:cTn id="61" fill="hold">
                            <p:stCondLst>
                              <p:cond delay="0"/>
                            </p:stCondLst>
                            <p:childTnLst>
                              <p:par>
                                <p:cTn id="62" presetID="6" presetClass="entr" presetSubtype="16" fill="hold" nodeType="clickEffect">
                                  <p:stCondLst>
                                    <p:cond delay="0"/>
                                  </p:stCondLst>
                                  <p:childTnLst>
                                    <p:set>
                                      <p:cBhvr>
                                        <p:cTn id="63" dur="1" fill="hold">
                                          <p:stCondLst>
                                            <p:cond delay="0"/>
                                          </p:stCondLst>
                                        </p:cTn>
                                        <p:tgtEl>
                                          <p:spTgt spid="4103"/>
                                        </p:tgtEl>
                                        <p:attrNameLst>
                                          <p:attrName>style.visibility</p:attrName>
                                        </p:attrNameLst>
                                      </p:cBhvr>
                                      <p:to>
                                        <p:strVal val="visible"/>
                                      </p:to>
                                    </p:set>
                                    <p:animEffect transition="in" filter="circle(in)">
                                      <p:cBhvr>
                                        <p:cTn id="64" dur="2000"/>
                                        <p:tgtEl>
                                          <p:spTgt spid="4103"/>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6" presetClass="entr" presetSubtype="16" fill="hold" nodeType="clickEffect">
                                  <p:stCondLst>
                                    <p:cond delay="0"/>
                                  </p:stCondLst>
                                  <p:childTnLst>
                                    <p:set>
                                      <p:cBhvr>
                                        <p:cTn id="76" dur="1" fill="hold">
                                          <p:stCondLst>
                                            <p:cond delay="0"/>
                                          </p:stCondLst>
                                        </p:cTn>
                                        <p:tgtEl>
                                          <p:spTgt spid="50"/>
                                        </p:tgtEl>
                                        <p:attrNameLst>
                                          <p:attrName>style.visibility</p:attrName>
                                        </p:attrNameLst>
                                      </p:cBhvr>
                                      <p:to>
                                        <p:strVal val="visible"/>
                                      </p:to>
                                    </p:set>
                                    <p:animEffect transition="in" filter="circle(in)">
                                      <p:cBhvr>
                                        <p:cTn id="77" dur="2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1" grpId="0"/>
      <p:bldP spid="4122" grpId="0"/>
      <p:bldP spid="4123" grpId="0"/>
      <p:bldP spid="9" grpId="0" animBg="1"/>
      <p:bldP spid="48" grpId="0" animBg="1"/>
      <p:bldP spid="10" grpId="0" animBg="1"/>
      <p:bldP spid="5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bwMode="auto">
          <a:xfrm>
            <a:off x="4768057" y="979116"/>
            <a:ext cx="5679282" cy="538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37160" tIns="68580" rIns="137160" bIns="68580" numCol="1" anchor="t" anchorCtr="0" compatLnSpc="1">
            <a:prstTxWarp prst="textNoShape">
              <a:avLst/>
            </a:prstTxWarp>
          </a:bodyPr>
          <a:lstStyle/>
          <a:p>
            <a:pPr eaLnBrk="1" hangingPunct="1"/>
            <a:r>
              <a:rPr lang="en-US" altLang="zh-CN" sz="3200" b="1" dirty="0">
                <a:solidFill>
                  <a:srgbClr val="0000FF"/>
                </a:solidFill>
                <a:latin typeface="Times New Roman" panose="02020603050405020304" pitchFamily="18" charset="0"/>
                <a:ea typeface="微软雅黑" panose="020B0503020204020204" pitchFamily="34" charset="-122"/>
              </a:rPr>
              <a:t>2.  </a:t>
            </a:r>
            <a:r>
              <a:rPr lang="zh-CN" altLang="en-US" sz="3200" b="1" dirty="0">
                <a:solidFill>
                  <a:srgbClr val="0000FF"/>
                </a:solidFill>
                <a:latin typeface="Times New Roman" panose="02020603050405020304" pitchFamily="18" charset="0"/>
                <a:ea typeface="微软雅黑" panose="020B0503020204020204" pitchFamily="34" charset="-122"/>
              </a:rPr>
              <a:t>散粒噪声（</a:t>
            </a:r>
            <a:r>
              <a:rPr lang="en-US" altLang="zh-CN" sz="3200" b="1" dirty="0">
                <a:solidFill>
                  <a:srgbClr val="0000FF"/>
                </a:solidFill>
                <a:latin typeface="Times New Roman" panose="02020603050405020304" pitchFamily="18" charset="0"/>
                <a:ea typeface="微软雅黑" panose="020B0503020204020204" pitchFamily="34" charset="-122"/>
              </a:rPr>
              <a:t>Shot noise </a:t>
            </a:r>
            <a:r>
              <a:rPr lang="zh-CN" altLang="en-US" sz="3200" b="1" dirty="0">
                <a:solidFill>
                  <a:srgbClr val="0000FF"/>
                </a:solidFill>
                <a:latin typeface="Times New Roman" panose="02020603050405020304" pitchFamily="18" charset="0"/>
                <a:ea typeface="微软雅黑" panose="020B0503020204020204" pitchFamily="34" charset="-122"/>
              </a:rPr>
              <a:t>）</a:t>
            </a:r>
          </a:p>
        </p:txBody>
      </p:sp>
      <p:sp>
        <p:nvSpPr>
          <p:cNvPr id="19459" name="Rectangle 4"/>
          <p:cNvSpPr>
            <a:spLocks noChangeArrowheads="1"/>
          </p:cNvSpPr>
          <p:nvPr/>
        </p:nvSpPr>
        <p:spPr bwMode="auto">
          <a:xfrm>
            <a:off x="716756" y="1532986"/>
            <a:ext cx="1183878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zh-CN" altLang="en-US" dirty="0">
                <a:latin typeface="微软雅黑" panose="020B0503020204020204" pitchFamily="34" charset="-122"/>
                <a:ea typeface="微软雅黑" panose="020B0503020204020204" pitchFamily="34" charset="-122"/>
              </a:rPr>
              <a:t>光电探测器的散粒噪声是由于探测器在光辐射作用或热激发下引起光电子或载流子的随机起伏 。均方噪声电流表示为：</a:t>
            </a:r>
          </a:p>
        </p:txBody>
      </p:sp>
      <p:sp>
        <p:nvSpPr>
          <p:cNvPr id="19460" name="Rectangle 8"/>
          <p:cNvSpPr>
            <a:spLocks noChangeArrowheads="1"/>
          </p:cNvSpPr>
          <p:nvPr/>
        </p:nvSpPr>
        <p:spPr bwMode="auto">
          <a:xfrm>
            <a:off x="716756" y="3894396"/>
            <a:ext cx="111309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式中，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为电子电荷； </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为器件输出平均电流； </a:t>
            </a:r>
            <a:r>
              <a:rPr lang="el-GR" altLang="zh-CN" dirty="0">
                <a:latin typeface="Times New Roman" panose="02020603050405020304" pitchFamily="18" charset="0"/>
                <a:ea typeface="微软雅黑" panose="020B0503020204020204" pitchFamily="34" charset="-122"/>
                <a:cs typeface="Times New Roman" panose="02020603050405020304" pitchFamily="18" charset="0"/>
              </a:rPr>
              <a:t>Δ</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f</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为测量的频带宽度。</a:t>
            </a:r>
            <a:endPar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9462" name="Object 8"/>
          <p:cNvGraphicFramePr>
            <a:graphicFrameLocks noChangeAspect="1"/>
          </p:cNvGraphicFramePr>
          <p:nvPr>
            <p:extLst>
              <p:ext uri="{D42A27DB-BD31-4B8C-83A1-F6EECF244321}">
                <p14:modId xmlns:p14="http://schemas.microsoft.com/office/powerpoint/2010/main" val="785239157"/>
              </p:ext>
            </p:extLst>
          </p:nvPr>
        </p:nvGraphicFramePr>
        <p:xfrm>
          <a:off x="5443138" y="2917981"/>
          <a:ext cx="2782095" cy="782586"/>
        </p:xfrm>
        <a:graphic>
          <a:graphicData uri="http://schemas.openxmlformats.org/presentationml/2006/ole">
            <mc:AlternateContent xmlns:mc="http://schemas.openxmlformats.org/markup-compatibility/2006">
              <mc:Choice xmlns:v="urn:schemas-microsoft-com:vml" Requires="v">
                <p:oleObj spid="_x0000_s55360" r:id="rId3" imgW="711200" imgH="266700" progId="Equation.DSMT4">
                  <p:embed/>
                </p:oleObj>
              </mc:Choice>
              <mc:Fallback>
                <p:oleObj r:id="rId3" imgW="711200" imgH="266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3138" y="2917981"/>
                        <a:ext cx="2782095" cy="782586"/>
                      </a:xfrm>
                      <a:prstGeom prst="rect">
                        <a:avLst/>
                      </a:prstGeom>
                      <a:solidFill>
                        <a:srgbClr val="FFFF00"/>
                      </a:solidFill>
                      <a:ln>
                        <a:noFill/>
                      </a:ln>
                    </p:spPr>
                  </p:pic>
                </p:oleObj>
              </mc:Fallback>
            </mc:AlternateContent>
          </a:graphicData>
        </a:graphic>
      </p:graphicFrame>
      <p:sp>
        <p:nvSpPr>
          <p:cNvPr id="10" name="文本框 9"/>
          <p:cNvSpPr txBox="1"/>
          <p:nvPr/>
        </p:nvSpPr>
        <p:spPr>
          <a:xfrm>
            <a:off x="716756" y="4571103"/>
            <a:ext cx="8227219" cy="2031325"/>
          </a:xfrm>
          <a:prstGeom prst="rect">
            <a:avLst/>
          </a:prstGeom>
          <a:noFill/>
        </p:spPr>
        <p:txBody>
          <a:bodyPr wrap="square" rtlCol="0">
            <a:spAutoFit/>
          </a:bodyPr>
          <a:lstStyle/>
          <a:p>
            <a:pPr>
              <a:lnSpc>
                <a:spcPct val="150000"/>
              </a:lnSpc>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散粒噪声存在于所有</a:t>
            </a:r>
            <a:r>
              <a:rPr lang="zh-CN" altLang="en-US" sz="2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真空光电器件</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28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半导体器件</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中</a:t>
            </a: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Wingdings" panose="05000000000000000000" pitchFamily="2" charset="2"/>
              <a:buChar char="u"/>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低频时，属于白噪声。</a:t>
            </a:r>
            <a:endPar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endParaRPr>
          </a:p>
          <a:p>
            <a:pPr marL="457200" indent="-457200">
              <a:lnSpc>
                <a:spcPct val="150000"/>
              </a:lnSpc>
              <a:buFont typeface="Wingdings" panose="05000000000000000000" pitchFamily="2" charset="2"/>
              <a:buChar char="u"/>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高频时，散粒噪声变得与频率有关。</a:t>
            </a:r>
          </a:p>
        </p:txBody>
      </p:sp>
      <p:sp>
        <p:nvSpPr>
          <p:cNvPr id="22" name="TextBox 3"/>
          <p:cNvSpPr txBox="1">
            <a:spLocks noChangeArrowheads="1"/>
          </p:cNvSpPr>
          <p:nvPr/>
        </p:nvSpPr>
        <p:spPr bwMode="auto">
          <a:xfrm>
            <a:off x="8225233" y="5304270"/>
            <a:ext cx="4659310" cy="1754326"/>
          </a:xfrm>
          <a:prstGeom prst="rect">
            <a:avLst/>
          </a:prstGeom>
          <a:noFill/>
          <a:ln w="31750">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2400" dirty="0">
                <a:solidFill>
                  <a:srgbClr val="FF00FF"/>
                </a:solidFill>
                <a:latin typeface="Times New Roman" panose="02020603050405020304" pitchFamily="18" charset="0"/>
                <a:ea typeface="微软雅黑" panose="020B0503020204020204" pitchFamily="34" charset="-122"/>
              </a:rPr>
              <a:t>散粒噪声是</a:t>
            </a:r>
            <a:r>
              <a:rPr lang="zh-CN" altLang="en-US" sz="2400" dirty="0">
                <a:latin typeface="Times New Roman" panose="02020603050405020304" pitchFamily="18" charset="0"/>
                <a:ea typeface="微软雅黑" panose="020B0503020204020204" pitchFamily="34" charset="-122"/>
              </a:rPr>
              <a:t>由形成电流的载流子的分散性造成的，在大多数半导体器件中，它是主要的噪声来源。</a:t>
            </a:r>
          </a:p>
        </p:txBody>
      </p:sp>
      <p:sp>
        <p:nvSpPr>
          <p:cNvPr id="15" name="矩形 14">
            <a:extLst>
              <a:ext uri="{FF2B5EF4-FFF2-40B4-BE49-F238E27FC236}">
                <a16:creationId xmlns="" xmlns:a16="http://schemas.microsoft.com/office/drawing/2014/main" id="{F08069A6-B176-46C6-9F31-CF85C51508BC}"/>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B094BCCD-6846-4A61-AD1D-03B0AF5CE5F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 xmlns:a16="http://schemas.microsoft.com/office/drawing/2014/main" id="{EC7A2C40-B465-4127-8EB1-EF37301A3F4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6" name="矩形 25">
            <a:extLst>
              <a:ext uri="{FF2B5EF4-FFF2-40B4-BE49-F238E27FC236}">
                <a16:creationId xmlns="" xmlns:a16="http://schemas.microsoft.com/office/drawing/2014/main" id="{F014403F-EEB8-4120-BA99-62428836712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7" name="矩形 26">
            <a:extLst>
              <a:ext uri="{FF2B5EF4-FFF2-40B4-BE49-F238E27FC236}">
                <a16:creationId xmlns="" xmlns:a16="http://schemas.microsoft.com/office/drawing/2014/main" id="{8FA73C19-C9C4-4599-876B-8B956C44271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6"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17"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525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46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459" grpId="0"/>
      <p:bldP spid="19460" grpId="0"/>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ctrTitle"/>
          </p:nvPr>
        </p:nvSpPr>
        <p:spPr bwMode="auto">
          <a:xfrm>
            <a:off x="3222683" y="779949"/>
            <a:ext cx="6569868" cy="7000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37160" tIns="68580" rIns="137160" bIns="68580" numCol="1" anchor="t" anchorCtr="0" compatLnSpc="1">
            <a:prstTxWarp prst="textNoShape">
              <a:avLst/>
            </a:prstTxWarp>
          </a:bodyPr>
          <a:lstStyle/>
          <a:p>
            <a:pPr eaLnBrk="1" hangingPunct="1"/>
            <a:r>
              <a:rPr lang="en-US" altLang="zh-CN" sz="3200" b="1" dirty="0">
                <a:solidFill>
                  <a:srgbClr val="0000FF"/>
                </a:solidFill>
                <a:latin typeface="Times New Roman" panose="02020603050405020304" pitchFamily="18" charset="0"/>
                <a:ea typeface="微软雅黑" panose="020B0503020204020204" pitchFamily="34" charset="-122"/>
              </a:rPr>
              <a:t>3</a:t>
            </a:r>
            <a:r>
              <a:rPr lang="zh-CN" altLang="en-US" sz="3200" b="1" dirty="0">
                <a:solidFill>
                  <a:srgbClr val="0000FF"/>
                </a:solidFill>
                <a:latin typeface="Times New Roman" panose="02020603050405020304" pitchFamily="18" charset="0"/>
                <a:ea typeface="微软雅黑" panose="020B0503020204020204" pitchFamily="34" charset="-122"/>
              </a:rPr>
              <a:t>．产生－复合噪声</a:t>
            </a:r>
          </a:p>
        </p:txBody>
      </p:sp>
      <p:sp>
        <p:nvSpPr>
          <p:cNvPr id="6149" name="Text Box 4"/>
          <p:cNvSpPr txBox="1">
            <a:spLocks noChangeArrowheads="1"/>
          </p:cNvSpPr>
          <p:nvPr/>
        </p:nvSpPr>
        <p:spPr bwMode="auto">
          <a:xfrm>
            <a:off x="3729518" y="1267433"/>
            <a:ext cx="57598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lang="zh-CN" altLang="en-US" sz="2400" dirty="0">
                <a:solidFill>
                  <a:srgbClr val="0000FF"/>
                </a:solidFill>
                <a:latin typeface="Times New Roman" panose="02020603050405020304" pitchFamily="18" charset="0"/>
                <a:ea typeface="黑体" panose="02010609060101010101" pitchFamily="49" charset="-122"/>
              </a:rPr>
              <a:t>（</a:t>
            </a:r>
            <a:r>
              <a:rPr lang="en-US" altLang="zh-CN" sz="2400" dirty="0">
                <a:solidFill>
                  <a:srgbClr val="0000FF"/>
                </a:solidFill>
                <a:latin typeface="Times New Roman" panose="02020603050405020304" pitchFamily="18" charset="0"/>
                <a:ea typeface="黑体" panose="02010609060101010101" pitchFamily="49" charset="-122"/>
              </a:rPr>
              <a:t>Generation Recombination noise, GR</a:t>
            </a:r>
            <a:r>
              <a:rPr lang="zh-CN" altLang="en-US" sz="2400" dirty="0">
                <a:solidFill>
                  <a:srgbClr val="0000FF"/>
                </a:solidFill>
                <a:latin typeface="Times New Roman" panose="02020603050405020304" pitchFamily="18" charset="0"/>
                <a:ea typeface="黑体" panose="02010609060101010101" pitchFamily="49" charset="-122"/>
              </a:rPr>
              <a:t>）</a:t>
            </a:r>
          </a:p>
        </p:txBody>
      </p:sp>
      <p:sp>
        <p:nvSpPr>
          <p:cNvPr id="256005" name="Rectangle 5"/>
          <p:cNvSpPr>
            <a:spLocks noChangeArrowheads="1"/>
          </p:cNvSpPr>
          <p:nvPr/>
        </p:nvSpPr>
        <p:spPr bwMode="auto">
          <a:xfrm>
            <a:off x="746211" y="1728671"/>
            <a:ext cx="1212929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       产生</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复合噪声是半导体器件中由于光生载流子的产生与复合而引起的平均载流子浓度的随机起伏。均方噪声电流表达式为：</a:t>
            </a:r>
          </a:p>
        </p:txBody>
      </p:sp>
      <p:sp>
        <p:nvSpPr>
          <p:cNvPr id="21509" name="Rectangle 6"/>
          <p:cNvSpPr>
            <a:spLocks noChangeArrowheads="1"/>
          </p:cNvSpPr>
          <p:nvPr/>
        </p:nvSpPr>
        <p:spPr bwMode="auto">
          <a:xfrm>
            <a:off x="794" y="3367967"/>
            <a:ext cx="1847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sp>
        <p:nvSpPr>
          <p:cNvPr id="21510" name="Rectangle 7"/>
          <p:cNvSpPr>
            <a:spLocks noChangeArrowheads="1"/>
          </p:cNvSpPr>
          <p:nvPr/>
        </p:nvSpPr>
        <p:spPr bwMode="auto">
          <a:xfrm>
            <a:off x="794" y="3470361"/>
            <a:ext cx="1847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sp>
        <p:nvSpPr>
          <p:cNvPr id="3" name="Rectangle 9"/>
          <p:cNvSpPr>
            <a:spLocks noChangeArrowheads="1"/>
          </p:cNvSpPr>
          <p:nvPr/>
        </p:nvSpPr>
        <p:spPr bwMode="auto">
          <a:xfrm>
            <a:off x="3785734" y="3209949"/>
            <a:ext cx="17942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sz="2400" dirty="0" smtClean="0">
                <a:latin typeface="Times New Roman" panose="02020603050405020304" pitchFamily="18" charset="0"/>
                <a:ea typeface="微软雅黑" panose="020B0503020204020204" pitchFamily="34" charset="-122"/>
              </a:rPr>
              <a:t>光电导增益</a:t>
            </a:r>
            <a:endParaRPr lang="zh-CN" altLang="en-US" sz="2400" dirty="0">
              <a:solidFill>
                <a:schemeClr val="bg1"/>
              </a:solidFill>
              <a:latin typeface="Times New Roman" panose="02020603050405020304" pitchFamily="18" charset="0"/>
              <a:ea typeface="微软雅黑" panose="020B0503020204020204" pitchFamily="34" charset="-122"/>
            </a:endParaRPr>
          </a:p>
        </p:txBody>
      </p:sp>
      <p:sp>
        <p:nvSpPr>
          <p:cNvPr id="21512" name="Rectangle 11"/>
          <p:cNvSpPr>
            <a:spLocks noChangeArrowheads="1"/>
          </p:cNvSpPr>
          <p:nvPr/>
        </p:nvSpPr>
        <p:spPr bwMode="auto">
          <a:xfrm>
            <a:off x="794" y="3379874"/>
            <a:ext cx="1847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sp>
        <p:nvSpPr>
          <p:cNvPr id="4" name="AutoShape 13"/>
          <p:cNvSpPr>
            <a:spLocks noChangeArrowheads="1"/>
          </p:cNvSpPr>
          <p:nvPr/>
        </p:nvSpPr>
        <p:spPr bwMode="auto">
          <a:xfrm>
            <a:off x="5483251" y="6516090"/>
            <a:ext cx="904876" cy="789243"/>
          </a:xfrm>
          <a:prstGeom prst="rightArrow">
            <a:avLst>
              <a:gd name="adj1" fmla="val 50000"/>
              <a:gd name="adj2" fmla="val 38605"/>
            </a:avLst>
          </a:prstGeom>
          <a:solidFill>
            <a:schemeClr val="accent6">
              <a:lumMod val="75000"/>
            </a:schemeClr>
          </a:solidFill>
          <a:ln w="9525">
            <a:solidFill>
              <a:schemeClr val="tx1"/>
            </a:solidFill>
            <a:miter lim="800000"/>
            <a:headEnd/>
            <a:tailEnd/>
          </a:ln>
        </p:spPr>
        <p:txBody>
          <a:bodyPr wrap="none" anchor="ctr"/>
          <a:lstStyle>
            <a:lvl1pPr>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1pPr>
            <a:lvl2pPr marL="742950" indent="-285750">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2pPr>
            <a:lvl3pPr marL="1143000" indent="-228600">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3pPr>
            <a:lvl4pPr marL="1600200" indent="-228600">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4pPr>
            <a:lvl5pPr marL="2057400" indent="-228600">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b="1">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sz="2700">
              <a:latin typeface="楷体_GB2312" pitchFamily="49" charset="-122"/>
              <a:ea typeface="楷体_GB2312" pitchFamily="49" charset="-122"/>
            </a:endParaRPr>
          </a:p>
        </p:txBody>
      </p:sp>
      <p:sp>
        <p:nvSpPr>
          <p:cNvPr id="6156" name="Rectangle 14"/>
          <p:cNvSpPr>
            <a:spLocks noChangeArrowheads="1"/>
          </p:cNvSpPr>
          <p:nvPr/>
        </p:nvSpPr>
        <p:spPr bwMode="auto">
          <a:xfrm>
            <a:off x="1848162" y="5917616"/>
            <a:ext cx="4899820" cy="52322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dirty="0">
                <a:solidFill>
                  <a:schemeClr val="bg1"/>
                </a:solidFill>
                <a:latin typeface="微软雅黑" panose="020B0503020204020204" pitchFamily="34" charset="-122"/>
                <a:ea typeface="微软雅黑" panose="020B0503020204020204" pitchFamily="34" charset="-122"/>
              </a:rPr>
              <a:t>产生－复合噪声不是白噪声</a:t>
            </a:r>
          </a:p>
        </p:txBody>
      </p:sp>
      <p:graphicFrame>
        <p:nvGraphicFramePr>
          <p:cNvPr id="6146" name="Object 13"/>
          <p:cNvGraphicFramePr>
            <a:graphicFrameLocks noChangeAspect="1"/>
          </p:cNvGraphicFramePr>
          <p:nvPr>
            <p:extLst>
              <p:ext uri="{D42A27DB-BD31-4B8C-83A1-F6EECF244321}">
                <p14:modId xmlns:p14="http://schemas.microsoft.com/office/powerpoint/2010/main" val="465507151"/>
              </p:ext>
            </p:extLst>
          </p:nvPr>
        </p:nvGraphicFramePr>
        <p:xfrm>
          <a:off x="4682879" y="3955787"/>
          <a:ext cx="2735881" cy="968917"/>
        </p:xfrm>
        <a:graphic>
          <a:graphicData uri="http://schemas.openxmlformats.org/presentationml/2006/ole">
            <mc:AlternateContent xmlns:mc="http://schemas.openxmlformats.org/markup-compatibility/2006">
              <mc:Choice xmlns:v="urn:schemas-microsoft-com:vml" Requires="v">
                <p:oleObj spid="_x0000_s56494" r:id="rId3" imgW="914797" imgH="431987" progId="Equation.DSMT4">
                  <p:embed/>
                </p:oleObj>
              </mc:Choice>
              <mc:Fallback>
                <p:oleObj r:id="rId3" imgW="914797" imgH="43198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2879" y="3955787"/>
                        <a:ext cx="2735881" cy="968917"/>
                      </a:xfrm>
                      <a:prstGeom prst="rect">
                        <a:avLst/>
                      </a:prstGeom>
                      <a:solidFill>
                        <a:srgbClr val="FFFF00"/>
                      </a:solidFill>
                      <a:ln>
                        <a:noFill/>
                      </a:ln>
                    </p:spPr>
                  </p:pic>
                </p:oleObj>
              </mc:Fallback>
            </mc:AlternateContent>
          </a:graphicData>
        </a:graphic>
      </p:graphicFrame>
      <p:graphicFrame>
        <p:nvGraphicFramePr>
          <p:cNvPr id="6147" name="Object 14"/>
          <p:cNvGraphicFramePr>
            <a:graphicFrameLocks noChangeAspect="1"/>
          </p:cNvGraphicFramePr>
          <p:nvPr>
            <p:extLst>
              <p:ext uri="{D42A27DB-BD31-4B8C-83A1-F6EECF244321}">
                <p14:modId xmlns:p14="http://schemas.microsoft.com/office/powerpoint/2010/main" val="2307235391"/>
              </p:ext>
            </p:extLst>
          </p:nvPr>
        </p:nvGraphicFramePr>
        <p:xfrm>
          <a:off x="7121155" y="6572093"/>
          <a:ext cx="3207545" cy="757238"/>
        </p:xfrm>
        <a:graphic>
          <a:graphicData uri="http://schemas.openxmlformats.org/presentationml/2006/ole">
            <mc:AlternateContent xmlns:mc="http://schemas.openxmlformats.org/markup-compatibility/2006">
              <mc:Choice xmlns:v="urn:schemas-microsoft-com:vml" Requires="v">
                <p:oleObj spid="_x0000_s56495" r:id="rId5" imgW="889386" imgH="279521" progId="Equation.DSMT4">
                  <p:embed/>
                </p:oleObj>
              </mc:Choice>
              <mc:Fallback>
                <p:oleObj r:id="rId5" imgW="889386" imgH="279521"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1155" y="6572093"/>
                        <a:ext cx="3207545" cy="757238"/>
                      </a:xfrm>
                      <a:prstGeom prst="rect">
                        <a:avLst/>
                      </a:prstGeom>
                      <a:solidFill>
                        <a:srgbClr val="FFFF00"/>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3117294554"/>
              </p:ext>
            </p:extLst>
          </p:nvPr>
        </p:nvGraphicFramePr>
        <p:xfrm>
          <a:off x="3298826" y="6594646"/>
          <a:ext cx="1438058" cy="632129"/>
        </p:xfrm>
        <a:graphic>
          <a:graphicData uri="http://schemas.openxmlformats.org/presentationml/2006/ole">
            <mc:AlternateContent xmlns:mc="http://schemas.openxmlformats.org/markup-compatibility/2006">
              <mc:Choice xmlns:v="urn:schemas-microsoft-com:vml" Requires="v">
                <p:oleObj spid="_x0000_s56496" name="Equation" r:id="rId7" imgW="520560" imgH="228600" progId="Equation.DSMT4">
                  <p:embed/>
                </p:oleObj>
              </mc:Choice>
              <mc:Fallback>
                <p:oleObj name="Equation" r:id="rId7" imgW="520560" imgH="228600" progId="Equation.DSMT4">
                  <p:embed/>
                  <p:pic>
                    <p:nvPicPr>
                      <p:cNvPr id="0" name=""/>
                      <p:cNvPicPr>
                        <a:picLocks noChangeAspect="1" noChangeArrowheads="1"/>
                      </p:cNvPicPr>
                      <p:nvPr/>
                    </p:nvPicPr>
                    <p:blipFill>
                      <a:blip r:embed="rId8"/>
                      <a:srcRect/>
                      <a:stretch>
                        <a:fillRect/>
                      </a:stretch>
                    </p:blipFill>
                    <p:spPr bwMode="auto">
                      <a:xfrm>
                        <a:off x="3298826" y="6594646"/>
                        <a:ext cx="1438058" cy="632129"/>
                      </a:xfrm>
                      <a:prstGeom prst="rect">
                        <a:avLst/>
                      </a:prstGeom>
                      <a:solidFill>
                        <a:srgbClr val="FFFF00"/>
                      </a:solidFill>
                      <a:ln>
                        <a:noFill/>
                      </a:ln>
                    </p:spPr>
                  </p:pic>
                </p:oleObj>
              </mc:Fallback>
            </mc:AlternateContent>
          </a:graphicData>
        </a:graphic>
      </p:graphicFrame>
      <p:sp>
        <p:nvSpPr>
          <p:cNvPr id="2" name="五角星 1"/>
          <p:cNvSpPr/>
          <p:nvPr/>
        </p:nvSpPr>
        <p:spPr>
          <a:xfrm>
            <a:off x="1233000" y="5887499"/>
            <a:ext cx="495304" cy="526875"/>
          </a:xfrm>
          <a:prstGeom prst="star5">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 xmlns:a16="http://schemas.microsoft.com/office/drawing/2014/main" id="{66ABABCF-138A-4CE8-AC2B-F183F847BEA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7" name="矩形 26">
            <a:extLst>
              <a:ext uri="{FF2B5EF4-FFF2-40B4-BE49-F238E27FC236}">
                <a16:creationId xmlns="" xmlns:a16="http://schemas.microsoft.com/office/drawing/2014/main" id="{6663548D-4728-4560-B85E-1593D8180A0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 xmlns:a16="http://schemas.microsoft.com/office/drawing/2014/main" id="{8E23B9BE-E195-4C85-A9E2-2E7933AE5FB5}"/>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30" name="矩形 29">
            <a:extLst>
              <a:ext uri="{FF2B5EF4-FFF2-40B4-BE49-F238E27FC236}">
                <a16:creationId xmlns="" xmlns:a16="http://schemas.microsoft.com/office/drawing/2014/main" id="{FDF08F56-0B93-43C2-B18F-112741D174AA}"/>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1" name="矩形 30">
            <a:extLst>
              <a:ext uri="{FF2B5EF4-FFF2-40B4-BE49-F238E27FC236}">
                <a16:creationId xmlns="" xmlns:a16="http://schemas.microsoft.com/office/drawing/2014/main" id="{C7C65D64-0A24-43F8-A470-DE127AC4A07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22"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23"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2" name="Rectangle 9"/>
          <p:cNvSpPr>
            <a:spLocks noChangeArrowheads="1"/>
          </p:cNvSpPr>
          <p:nvPr/>
        </p:nvSpPr>
        <p:spPr bwMode="auto">
          <a:xfrm>
            <a:off x="5935689" y="3239528"/>
            <a:ext cx="14330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zh-CN" altLang="en-US" sz="2400" dirty="0" smtClean="0">
                <a:latin typeface="Times New Roman" panose="02020603050405020304" pitchFamily="18" charset="0"/>
                <a:ea typeface="微软雅黑" panose="020B0503020204020204" pitchFamily="34" charset="-122"/>
              </a:rPr>
              <a:t>平均电流</a:t>
            </a:r>
            <a:endParaRPr lang="zh-CN" altLang="en-US" sz="2400" dirty="0">
              <a:solidFill>
                <a:schemeClr val="bg1"/>
              </a:solidFill>
              <a:latin typeface="Times New Roman" panose="02020603050405020304" pitchFamily="18" charset="0"/>
              <a:ea typeface="微软雅黑" panose="020B0503020204020204" pitchFamily="34" charset="-122"/>
            </a:endParaRPr>
          </a:p>
        </p:txBody>
      </p:sp>
      <p:sp>
        <p:nvSpPr>
          <p:cNvPr id="33" name="Rectangle 9"/>
          <p:cNvSpPr>
            <a:spLocks noChangeArrowheads="1"/>
          </p:cNvSpPr>
          <p:nvPr/>
        </p:nvSpPr>
        <p:spPr bwMode="auto">
          <a:xfrm>
            <a:off x="7878766" y="4998560"/>
            <a:ext cx="24499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dirty="0" smtClean="0">
                <a:latin typeface="Times New Roman" panose="02020603050405020304" pitchFamily="18" charset="0"/>
                <a:ea typeface="微软雅黑" panose="020B0503020204020204" pitchFamily="34" charset="-122"/>
              </a:rPr>
              <a:t>载流子平均寿命</a:t>
            </a:r>
            <a:endParaRPr lang="zh-CN" altLang="en-US" sz="2400" dirty="0">
              <a:solidFill>
                <a:schemeClr val="bg1"/>
              </a:solidFill>
              <a:latin typeface="Times New Roman" panose="02020603050405020304" pitchFamily="18" charset="0"/>
              <a:ea typeface="微软雅黑" panose="020B0503020204020204" pitchFamily="34" charset="-122"/>
            </a:endParaRPr>
          </a:p>
        </p:txBody>
      </p:sp>
      <p:sp>
        <p:nvSpPr>
          <p:cNvPr id="34" name="Rectangle 9"/>
          <p:cNvSpPr>
            <a:spLocks noChangeArrowheads="1"/>
          </p:cNvSpPr>
          <p:nvPr/>
        </p:nvSpPr>
        <p:spPr bwMode="auto">
          <a:xfrm>
            <a:off x="7933256" y="3239527"/>
            <a:ext cx="20858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dirty="0" smtClean="0">
                <a:latin typeface="Times New Roman" panose="02020603050405020304" pitchFamily="18" charset="0"/>
                <a:ea typeface="微软雅黑" panose="020B0503020204020204" pitchFamily="34" charset="-122"/>
              </a:rPr>
              <a:t>测量频带宽度</a:t>
            </a:r>
            <a:endParaRPr lang="zh-CN" altLang="en-US" sz="2400" dirty="0">
              <a:solidFill>
                <a:schemeClr val="bg1"/>
              </a:solidFill>
              <a:latin typeface="Times New Roman" panose="02020603050405020304" pitchFamily="18" charset="0"/>
              <a:ea typeface="微软雅黑" panose="020B0503020204020204" pitchFamily="34" charset="-122"/>
            </a:endParaRPr>
          </a:p>
        </p:txBody>
      </p:sp>
      <p:sp>
        <p:nvSpPr>
          <p:cNvPr id="35" name="Rectangle 9"/>
          <p:cNvSpPr>
            <a:spLocks noChangeArrowheads="1"/>
          </p:cNvSpPr>
          <p:nvPr/>
        </p:nvSpPr>
        <p:spPr bwMode="auto">
          <a:xfrm>
            <a:off x="4438033" y="4953778"/>
            <a:ext cx="11419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l-GR" altLang="zh-CN" sz="2400" dirty="0" smtClean="0">
                <a:latin typeface="Times New Roman" panose="02020603050405020304" pitchFamily="18" charset="0"/>
                <a:ea typeface="微软雅黑" panose="020B0503020204020204" pitchFamily="34" charset="-122"/>
              </a:rPr>
              <a:t>ω</a:t>
            </a:r>
            <a:r>
              <a:rPr lang="en-US" altLang="zh-CN" sz="2400" dirty="0">
                <a:latin typeface="Times New Roman" panose="02020603050405020304" pitchFamily="18" charset="0"/>
                <a:ea typeface="微软雅黑" panose="020B0503020204020204" pitchFamily="34" charset="-122"/>
              </a:rPr>
              <a:t>=2</a:t>
            </a:r>
            <a:r>
              <a:rPr lang="el-GR" altLang="zh-CN" sz="2400" dirty="0">
                <a:latin typeface="Times New Roman" panose="02020603050405020304" pitchFamily="18" charset="0"/>
                <a:ea typeface="微软雅黑" panose="020B0503020204020204" pitchFamily="34" charset="-122"/>
              </a:rPr>
              <a:t>π</a:t>
            </a:r>
            <a:r>
              <a:rPr lang="en-US" altLang="zh-CN" sz="2400" i="1" dirty="0" smtClean="0">
                <a:latin typeface="Times New Roman" panose="02020603050405020304" pitchFamily="18" charset="0"/>
                <a:ea typeface="微软雅黑" panose="020B0503020204020204" pitchFamily="34" charset="-122"/>
              </a:rPr>
              <a:t>f</a:t>
            </a:r>
            <a:r>
              <a:rPr lang="zh-CN" altLang="en-US" sz="2400" dirty="0" smtClean="0">
                <a:solidFill>
                  <a:schemeClr val="bg1"/>
                </a:solidFill>
                <a:latin typeface="Times New Roman" panose="02020603050405020304" pitchFamily="18" charset="0"/>
                <a:ea typeface="微软雅黑" panose="020B0503020204020204" pitchFamily="34" charset="-122"/>
              </a:rPr>
              <a:t> </a:t>
            </a:r>
            <a:endParaRPr lang="zh-CN" altLang="en-US" sz="2400" dirty="0">
              <a:solidFill>
                <a:schemeClr val="bg1"/>
              </a:solidFill>
              <a:latin typeface="Times New Roman" panose="02020603050405020304" pitchFamily="18" charset="0"/>
              <a:ea typeface="微软雅黑" panose="020B0503020204020204" pitchFamily="34" charset="-122"/>
            </a:endParaRPr>
          </a:p>
        </p:txBody>
      </p:sp>
      <p:sp>
        <p:nvSpPr>
          <p:cNvPr id="5" name="椭圆形标注 4"/>
          <p:cNvSpPr/>
          <p:nvPr/>
        </p:nvSpPr>
        <p:spPr>
          <a:xfrm>
            <a:off x="6747982" y="4492699"/>
            <a:ext cx="393053" cy="441789"/>
          </a:xfrm>
          <a:prstGeom prst="wedgeEllipseCallout">
            <a:avLst>
              <a:gd name="adj1" fmla="val 230106"/>
              <a:gd name="adj2" fmla="val 9505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形标注 35"/>
          <p:cNvSpPr/>
          <p:nvPr/>
        </p:nvSpPr>
        <p:spPr>
          <a:xfrm>
            <a:off x="6810858" y="3932318"/>
            <a:ext cx="432423" cy="441789"/>
          </a:xfrm>
          <a:prstGeom prst="wedgeEllipseCallout">
            <a:avLst>
              <a:gd name="adj1" fmla="val 196467"/>
              <a:gd name="adj2" fmla="val -128198"/>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形标注 36"/>
          <p:cNvSpPr/>
          <p:nvPr/>
        </p:nvSpPr>
        <p:spPr>
          <a:xfrm>
            <a:off x="6199999" y="3950254"/>
            <a:ext cx="350726" cy="441789"/>
          </a:xfrm>
          <a:prstGeom prst="wedgeEllipseCallout">
            <a:avLst>
              <a:gd name="adj1" fmla="val -250859"/>
              <a:gd name="adj2" fmla="val -95640"/>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形标注 37"/>
          <p:cNvSpPr/>
          <p:nvPr/>
        </p:nvSpPr>
        <p:spPr>
          <a:xfrm>
            <a:off x="6273730" y="4455321"/>
            <a:ext cx="393053" cy="441789"/>
          </a:xfrm>
          <a:prstGeom prst="wedgeEllipseCallout">
            <a:avLst>
              <a:gd name="adj1" fmla="val -250859"/>
              <a:gd name="adj2" fmla="val 106685"/>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形标注 38"/>
          <p:cNvSpPr/>
          <p:nvPr/>
        </p:nvSpPr>
        <p:spPr>
          <a:xfrm>
            <a:off x="6550724" y="4009645"/>
            <a:ext cx="260134" cy="302124"/>
          </a:xfrm>
          <a:prstGeom prst="wedgeEllipseCallout">
            <a:avLst>
              <a:gd name="adj1" fmla="val -7762"/>
              <a:gd name="adj2" fmla="val -144477"/>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083705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box(in)">
                                      <p:cBhvr>
                                        <p:cTn id="7" dur="500"/>
                                        <p:tgtEl>
                                          <p:spTgt spid="614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box(in)">
                                      <p:cBhvr>
                                        <p:cTn id="12" dur="500"/>
                                        <p:tgtEl>
                                          <p:spTgt spid="614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256005"/>
                                        </p:tgtEl>
                                        <p:attrNameLst>
                                          <p:attrName>style.visibility</p:attrName>
                                        </p:attrNameLst>
                                      </p:cBhvr>
                                      <p:to>
                                        <p:strVal val="visible"/>
                                      </p:to>
                                    </p:set>
                                    <p:animEffect transition="in" filter="circle(in)">
                                      <p:cBhvr>
                                        <p:cTn id="17" dur="2000"/>
                                        <p:tgtEl>
                                          <p:spTgt spid="256005"/>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6146"/>
                                        </p:tgtEl>
                                        <p:attrNameLst>
                                          <p:attrName>style.visibility</p:attrName>
                                        </p:attrNameLst>
                                      </p:cBhvr>
                                      <p:to>
                                        <p:strVal val="visible"/>
                                      </p:to>
                                    </p:set>
                                    <p:animEffect transition="in" filter="circle(in)">
                                      <p:cBhvr>
                                        <p:cTn id="22" dur="2000"/>
                                        <p:tgtEl>
                                          <p:spTgt spid="614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circle(in)">
                                      <p:cBhvr>
                                        <p:cTn id="31" dur="20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circle(in)">
                                      <p:cBhvr>
                                        <p:cTn id="48" dur="200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circle(in)">
                                      <p:cBhvr>
                                        <p:cTn id="57" dur="2000"/>
                                        <p:tgtEl>
                                          <p:spTgt spid="3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6" presetClass="entr" presetSubtype="16" fill="hold" grpId="0" nodeType="click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circle(in)">
                                      <p:cBhvr>
                                        <p:cTn id="66" dur="2000"/>
                                        <p:tgtEl>
                                          <p:spTgt spid="33"/>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6" presetClass="entr" presetSubtype="16" fill="hold" grpId="0" nodeType="clickEffect">
                                  <p:stCondLst>
                                    <p:cond delay="0"/>
                                  </p:stCondLst>
                                  <p:childTnLst>
                                    <p:set>
                                      <p:cBhvr>
                                        <p:cTn id="74" dur="1" fill="hold">
                                          <p:stCondLst>
                                            <p:cond delay="0"/>
                                          </p:stCondLst>
                                        </p:cTn>
                                        <p:tgtEl>
                                          <p:spTgt spid="6156"/>
                                        </p:tgtEl>
                                        <p:attrNameLst>
                                          <p:attrName>style.visibility</p:attrName>
                                        </p:attrNameLst>
                                      </p:cBhvr>
                                      <p:to>
                                        <p:strVal val="visible"/>
                                      </p:to>
                                    </p:set>
                                    <p:animEffect transition="in" filter="circle(in)">
                                      <p:cBhvr>
                                        <p:cTn id="75" dur="2000"/>
                                        <p:tgtEl>
                                          <p:spTgt spid="6156"/>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24"/>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6" presetClass="entr" presetSubtype="16" fill="hold" grpId="0" nodeType="clickEffect">
                                  <p:stCondLst>
                                    <p:cond delay="0"/>
                                  </p:stCondLst>
                                  <p:childTnLst>
                                    <p:set>
                                      <p:cBhvr>
                                        <p:cTn id="83" dur="1" fill="hold">
                                          <p:stCondLst>
                                            <p:cond delay="0"/>
                                          </p:stCondLst>
                                        </p:cTn>
                                        <p:tgtEl>
                                          <p:spTgt spid="4"/>
                                        </p:tgtEl>
                                        <p:attrNameLst>
                                          <p:attrName>style.visibility</p:attrName>
                                        </p:attrNameLst>
                                      </p:cBhvr>
                                      <p:to>
                                        <p:strVal val="visible"/>
                                      </p:to>
                                    </p:set>
                                    <p:animEffect transition="in" filter="circle(in)">
                                      <p:cBhvr>
                                        <p:cTn id="84" dur="2000"/>
                                        <p:tgtEl>
                                          <p:spTgt spid="4"/>
                                        </p:tgtEl>
                                      </p:cBhvr>
                                    </p:animEffect>
                                  </p:childTnLst>
                                </p:cTn>
                              </p:par>
                            </p:childTnLst>
                          </p:cTn>
                        </p:par>
                      </p:childTnLst>
                    </p:cTn>
                  </p:par>
                  <p:par>
                    <p:cTn id="85" fill="hold">
                      <p:stCondLst>
                        <p:cond delay="indefinite"/>
                      </p:stCondLst>
                      <p:childTnLst>
                        <p:par>
                          <p:cTn id="86" fill="hold">
                            <p:stCondLst>
                              <p:cond delay="0"/>
                            </p:stCondLst>
                            <p:childTnLst>
                              <p:par>
                                <p:cTn id="87" presetID="6" presetClass="entr" presetSubtype="16" fill="hold" nodeType="clickEffect">
                                  <p:stCondLst>
                                    <p:cond delay="0"/>
                                  </p:stCondLst>
                                  <p:childTnLst>
                                    <p:set>
                                      <p:cBhvr>
                                        <p:cTn id="88" dur="1" fill="hold">
                                          <p:stCondLst>
                                            <p:cond delay="0"/>
                                          </p:stCondLst>
                                        </p:cTn>
                                        <p:tgtEl>
                                          <p:spTgt spid="6147"/>
                                        </p:tgtEl>
                                        <p:attrNameLst>
                                          <p:attrName>style.visibility</p:attrName>
                                        </p:attrNameLst>
                                      </p:cBhvr>
                                      <p:to>
                                        <p:strVal val="visible"/>
                                      </p:to>
                                    </p:set>
                                    <p:animEffect transition="in" filter="circle(in)">
                                      <p:cBhvr>
                                        <p:cTn id="89" dur="20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P spid="256005" grpId="0"/>
      <p:bldP spid="3" grpId="0"/>
      <p:bldP spid="4" grpId="0" animBg="1"/>
      <p:bldP spid="6156" grpId="0" animBg="1"/>
      <p:bldP spid="2" grpId="0" animBg="1"/>
      <p:bldP spid="32" grpId="0"/>
      <p:bldP spid="33" grpId="0"/>
      <p:bldP spid="34" grpId="0"/>
      <p:bldP spid="35" grpId="0"/>
      <p:bldP spid="5" grpId="0" animBg="1"/>
      <p:bldP spid="36" grpId="0" animBg="1"/>
      <p:bldP spid="37" grpId="0" animBg="1"/>
      <p:bldP spid="38" grpId="0" animBg="1"/>
      <p:bldP spid="3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bwMode="auto">
          <a:xfrm>
            <a:off x="4710180" y="1099313"/>
            <a:ext cx="3645693" cy="66793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37160" tIns="68580" rIns="137160" bIns="68580" numCol="1" anchor="t" anchorCtr="0" compatLnSpc="1">
            <a:prstTxWarp prst="textNoShape">
              <a:avLst/>
            </a:prstTxWarp>
          </a:bodyPr>
          <a:lstStyle/>
          <a:p>
            <a:pPr eaLnBrk="1" hangingPunct="1"/>
            <a:r>
              <a:rPr lang="en-US" altLang="zh-CN" sz="3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3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36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sz="3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噪声</a:t>
            </a:r>
          </a:p>
        </p:txBody>
      </p:sp>
      <p:sp>
        <p:nvSpPr>
          <p:cNvPr id="22531" name="Rectangle 4"/>
          <p:cNvSpPr>
            <a:spLocks noChangeArrowheads="1"/>
          </p:cNvSpPr>
          <p:nvPr/>
        </p:nvSpPr>
        <p:spPr bwMode="auto">
          <a:xfrm>
            <a:off x="1021100" y="1891708"/>
            <a:ext cx="117538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rPr>
              <a:t>        1/</a:t>
            </a:r>
            <a:r>
              <a:rPr lang="en-US" altLang="zh-CN" sz="2400" i="1" dirty="0">
                <a:latin typeface="Times New Roman" panose="02020603050405020304" pitchFamily="18" charset="0"/>
                <a:ea typeface="微软雅黑" panose="020B0503020204020204" pitchFamily="34" charset="-122"/>
              </a:rPr>
              <a:t>f </a:t>
            </a:r>
            <a:r>
              <a:rPr lang="zh-CN" altLang="en-US" sz="2400" dirty="0">
                <a:latin typeface="Times New Roman" panose="02020603050405020304" pitchFamily="18" charset="0"/>
                <a:ea typeface="微软雅黑" panose="020B0503020204020204" pitchFamily="34" charset="-122"/>
              </a:rPr>
              <a:t>噪声通常又称为电流噪声。也称为</a:t>
            </a:r>
            <a:r>
              <a:rPr lang="zh-CN" altLang="en-US" sz="2400" dirty="0">
                <a:solidFill>
                  <a:srgbClr val="FF00FF"/>
                </a:solidFill>
                <a:latin typeface="Times New Roman" panose="02020603050405020304" pitchFamily="18" charset="0"/>
                <a:ea typeface="微软雅黑" panose="020B0503020204020204" pitchFamily="34" charset="-122"/>
              </a:rPr>
              <a:t>闪烁噪声</a:t>
            </a:r>
            <a:r>
              <a:rPr lang="zh-CN" altLang="en-US" sz="2400" dirty="0">
                <a:latin typeface="Times New Roman" panose="02020603050405020304" pitchFamily="18" charset="0"/>
                <a:ea typeface="微软雅黑" panose="020B0503020204020204" pitchFamily="34" charset="-122"/>
              </a:rPr>
              <a:t>或</a:t>
            </a:r>
            <a:r>
              <a:rPr lang="zh-CN" altLang="en-US" sz="2400" dirty="0">
                <a:solidFill>
                  <a:srgbClr val="FF00FF"/>
                </a:solidFill>
                <a:latin typeface="Times New Roman" panose="02020603050405020304" pitchFamily="18" charset="0"/>
                <a:ea typeface="微软雅黑" panose="020B0503020204020204" pitchFamily="34" charset="-122"/>
              </a:rPr>
              <a:t>过剩噪声</a:t>
            </a:r>
            <a:r>
              <a:rPr lang="zh-CN" altLang="en-US" sz="2400" dirty="0">
                <a:latin typeface="Times New Roman" panose="02020603050405020304" pitchFamily="18" charset="0"/>
                <a:ea typeface="微软雅黑" panose="020B0503020204020204" pitchFamily="34" charset="-122"/>
              </a:rPr>
              <a:t>。它是一种低频噪声，几乎所有探测器中都存在。均方噪声电流表达式为</a:t>
            </a:r>
          </a:p>
        </p:txBody>
      </p:sp>
      <p:sp>
        <p:nvSpPr>
          <p:cNvPr id="22532" name="Rectangle 5"/>
          <p:cNvSpPr>
            <a:spLocks noChangeArrowheads="1"/>
          </p:cNvSpPr>
          <p:nvPr/>
        </p:nvSpPr>
        <p:spPr bwMode="auto">
          <a:xfrm>
            <a:off x="794" y="3996617"/>
            <a:ext cx="1847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sp>
        <p:nvSpPr>
          <p:cNvPr id="22533" name="Rectangle 7"/>
          <p:cNvSpPr>
            <a:spLocks noChangeArrowheads="1"/>
          </p:cNvSpPr>
          <p:nvPr/>
        </p:nvSpPr>
        <p:spPr bwMode="auto">
          <a:xfrm>
            <a:off x="439813" y="6505532"/>
            <a:ext cx="12721433" cy="580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a:lnSpc>
                <a:spcPct val="150000"/>
              </a:lnSpc>
            </a:pPr>
            <a:r>
              <a:rPr lang="en-US" altLang="zh-CN" sz="2400" dirty="0">
                <a:latin typeface="Times New Roman" panose="02020603050405020304" pitchFamily="18" charset="0"/>
                <a:ea typeface="微软雅黑" panose="020B0503020204020204" pitchFamily="34" charset="-122"/>
              </a:rPr>
              <a:t>       1/</a:t>
            </a:r>
            <a:r>
              <a:rPr lang="en-US" altLang="zh-CN" sz="2400" i="1" dirty="0">
                <a:latin typeface="Times New Roman" panose="02020603050405020304" pitchFamily="18" charset="0"/>
                <a:ea typeface="微软雅黑" panose="020B0503020204020204" pitchFamily="34" charset="-122"/>
              </a:rPr>
              <a:t>f </a:t>
            </a:r>
            <a:r>
              <a:rPr lang="zh-CN" altLang="en-US" sz="2400" dirty="0">
                <a:latin typeface="Times New Roman" panose="02020603050405020304" pitchFamily="18" charset="0"/>
                <a:ea typeface="微软雅黑" panose="020B0503020204020204" pitchFamily="34" charset="-122"/>
              </a:rPr>
              <a:t>噪声主要出现在</a:t>
            </a:r>
            <a:r>
              <a:rPr lang="en-US" altLang="zh-CN" sz="2400" dirty="0">
                <a:latin typeface="Times New Roman" panose="02020603050405020304" pitchFamily="18" charset="0"/>
                <a:ea typeface="微软雅黑" panose="020B0503020204020204" pitchFamily="34" charset="-122"/>
              </a:rPr>
              <a:t>1kHz</a:t>
            </a:r>
            <a:r>
              <a:rPr lang="zh-CN" altLang="en-US" sz="2400" dirty="0">
                <a:latin typeface="Times New Roman" panose="02020603050405020304" pitchFamily="18" charset="0"/>
                <a:ea typeface="微软雅黑" panose="020B0503020204020204" pitchFamily="34" charset="-122"/>
              </a:rPr>
              <a:t>以下的低频区，大于</a:t>
            </a:r>
            <a:r>
              <a:rPr lang="en-US" altLang="zh-CN" sz="2400" dirty="0">
                <a:latin typeface="Times New Roman" panose="02020603050405020304" pitchFamily="18" charset="0"/>
                <a:ea typeface="微软雅黑" panose="020B0503020204020204" pitchFamily="34" charset="-122"/>
              </a:rPr>
              <a:t>1kHz</a:t>
            </a:r>
            <a:r>
              <a:rPr lang="zh-CN" altLang="en-US" sz="2400" dirty="0">
                <a:latin typeface="Times New Roman" panose="02020603050405020304" pitchFamily="18" charset="0"/>
                <a:ea typeface="微软雅黑" panose="020B0503020204020204" pitchFamily="34" charset="-122"/>
              </a:rPr>
              <a:t>时，与其他噪声比较可以忽略不计。</a:t>
            </a:r>
          </a:p>
        </p:txBody>
      </p:sp>
      <p:sp>
        <p:nvSpPr>
          <p:cNvPr id="22536" name="TextBox 7"/>
          <p:cNvSpPr txBox="1">
            <a:spLocks noChangeArrowheads="1"/>
          </p:cNvSpPr>
          <p:nvPr/>
        </p:nvSpPr>
        <p:spPr bwMode="auto">
          <a:xfrm>
            <a:off x="4931347" y="3516614"/>
            <a:ext cx="275866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2400" dirty="0" smtClean="0">
                <a:latin typeface="Times New Roman" panose="02020603050405020304" pitchFamily="18" charset="0"/>
                <a:ea typeface="微软雅黑" panose="020B0503020204020204" pitchFamily="34" charset="-122"/>
              </a:rPr>
              <a:t>器件</a:t>
            </a:r>
            <a:r>
              <a:rPr lang="zh-CN" altLang="en-US" sz="2400" dirty="0">
                <a:latin typeface="Times New Roman" panose="02020603050405020304" pitchFamily="18" charset="0"/>
                <a:ea typeface="微软雅黑" panose="020B0503020204020204" pitchFamily="34" charset="-122"/>
              </a:rPr>
              <a:t>输出平均</a:t>
            </a:r>
            <a:r>
              <a:rPr lang="zh-CN" altLang="en-US" sz="2400" dirty="0" smtClean="0">
                <a:latin typeface="Times New Roman" panose="02020603050405020304" pitchFamily="18" charset="0"/>
                <a:ea typeface="微软雅黑" panose="020B0503020204020204" pitchFamily="34" charset="-122"/>
              </a:rPr>
              <a:t>电流</a:t>
            </a:r>
            <a:endParaRPr lang="zh-CN" altLang="en-US" sz="2400" dirty="0">
              <a:latin typeface="Times New Roman" panose="02020603050405020304" pitchFamily="18" charset="0"/>
              <a:ea typeface="微软雅黑" panose="020B0503020204020204" pitchFamily="34"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110468689"/>
              </p:ext>
            </p:extLst>
          </p:nvPr>
        </p:nvGraphicFramePr>
        <p:xfrm>
          <a:off x="5210298" y="4326974"/>
          <a:ext cx="1989138" cy="1143000"/>
        </p:xfrm>
        <a:graphic>
          <a:graphicData uri="http://schemas.openxmlformats.org/presentationml/2006/ole">
            <mc:AlternateContent xmlns:mc="http://schemas.openxmlformats.org/markup-compatibility/2006">
              <mc:Choice xmlns:v="urn:schemas-microsoft-com:vml" Requires="v">
                <p:oleObj spid="_x0000_s57402" name="Equation" r:id="rId3" imgW="774360" imgH="444240" progId="Equation.DSMT4">
                  <p:embed/>
                </p:oleObj>
              </mc:Choice>
              <mc:Fallback>
                <p:oleObj name="Equation" r:id="rId3" imgW="774360" imgH="444240" progId="Equation.DSMT4">
                  <p:embed/>
                  <p:pic>
                    <p:nvPicPr>
                      <p:cNvPr id="0" name=""/>
                      <p:cNvPicPr>
                        <a:picLocks noChangeAspect="1" noChangeArrowheads="1"/>
                      </p:cNvPicPr>
                      <p:nvPr/>
                    </p:nvPicPr>
                    <p:blipFill>
                      <a:blip r:embed="rId4"/>
                      <a:srcRect/>
                      <a:stretch>
                        <a:fillRect/>
                      </a:stretch>
                    </p:blipFill>
                    <p:spPr bwMode="auto">
                      <a:xfrm>
                        <a:off x="5210298" y="4326974"/>
                        <a:ext cx="1989138" cy="11430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16">
            <a:extLst>
              <a:ext uri="{FF2B5EF4-FFF2-40B4-BE49-F238E27FC236}">
                <a16:creationId xmlns="" xmlns:a16="http://schemas.microsoft.com/office/drawing/2014/main" id="{B4CC5AFB-CD0A-402B-84BE-6EC69694DB1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 xmlns:a16="http://schemas.microsoft.com/office/drawing/2014/main" id="{298FB736-6218-48C8-B166-F50E86D2426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 xmlns:a16="http://schemas.microsoft.com/office/drawing/2014/main" id="{94F08906-BA5B-48AA-BAB0-399BF01408CB}"/>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1" name="矩形 20">
            <a:extLst>
              <a:ext uri="{FF2B5EF4-FFF2-40B4-BE49-F238E27FC236}">
                <a16:creationId xmlns="" xmlns:a16="http://schemas.microsoft.com/office/drawing/2014/main" id="{58A5F94C-EF24-44A7-80B3-F80CAA1083F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 xmlns:a16="http://schemas.microsoft.com/office/drawing/2014/main" id="{A3BEA2AD-8607-48DC-9E3B-20F13DF59D4B}"/>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23"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椭圆形标注 23"/>
          <p:cNvSpPr/>
          <p:nvPr/>
        </p:nvSpPr>
        <p:spPr>
          <a:xfrm>
            <a:off x="6690320" y="4677579"/>
            <a:ext cx="432423" cy="441789"/>
          </a:xfrm>
          <a:prstGeom prst="wedgeEllipseCallout">
            <a:avLst>
              <a:gd name="adj1" fmla="val 243986"/>
              <a:gd name="adj2" fmla="val -291"/>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p:cNvSpPr txBox="1">
            <a:spLocks noChangeArrowheads="1"/>
          </p:cNvSpPr>
          <p:nvPr/>
        </p:nvSpPr>
        <p:spPr bwMode="auto">
          <a:xfrm>
            <a:off x="7479663" y="3857257"/>
            <a:ext cx="13307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2400" dirty="0" smtClean="0">
                <a:latin typeface="Times New Roman" panose="02020603050405020304" pitchFamily="18" charset="0"/>
                <a:ea typeface="微软雅黑" panose="020B0503020204020204" pitchFamily="34" charset="-122"/>
              </a:rPr>
              <a:t>接近</a:t>
            </a:r>
            <a:r>
              <a:rPr lang="zh-CN" altLang="en-US" sz="2400" dirty="0">
                <a:latin typeface="Times New Roman" panose="02020603050405020304" pitchFamily="18" charset="0"/>
                <a:ea typeface="微软雅黑" panose="020B0503020204020204" pitchFamily="34" charset="-122"/>
              </a:rPr>
              <a:t>于</a:t>
            </a:r>
            <a:r>
              <a:rPr lang="en-US" altLang="zh-CN" sz="2400" dirty="0" smtClean="0">
                <a:latin typeface="Times New Roman" panose="02020603050405020304" pitchFamily="18" charset="0"/>
                <a:ea typeface="微软雅黑" panose="020B0503020204020204" pitchFamily="34" charset="-122"/>
              </a:rPr>
              <a:t>2</a:t>
            </a:r>
            <a:endParaRPr lang="zh-CN" altLang="en-US" sz="2400" dirty="0">
              <a:latin typeface="Times New Roman" panose="02020603050405020304" pitchFamily="18" charset="0"/>
              <a:ea typeface="微软雅黑" panose="020B0503020204020204" pitchFamily="34" charset="-122"/>
            </a:endParaRPr>
          </a:p>
        </p:txBody>
      </p:sp>
      <p:sp>
        <p:nvSpPr>
          <p:cNvPr id="26" name="TextBox 7"/>
          <p:cNvSpPr txBox="1">
            <a:spLocks noChangeArrowheads="1"/>
          </p:cNvSpPr>
          <p:nvPr/>
        </p:nvSpPr>
        <p:spPr bwMode="auto">
          <a:xfrm>
            <a:off x="8109906" y="4578517"/>
            <a:ext cx="22174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2400" dirty="0" smtClean="0">
                <a:latin typeface="Times New Roman" panose="02020603050405020304" pitchFamily="18" charset="0"/>
                <a:ea typeface="微软雅黑" panose="020B0503020204020204" pitchFamily="34" charset="-122"/>
              </a:rPr>
              <a:t>器件工作带宽</a:t>
            </a:r>
            <a:endParaRPr lang="zh-CN" altLang="en-US" sz="2400" dirty="0">
              <a:latin typeface="Times New Roman" panose="02020603050405020304" pitchFamily="18" charset="0"/>
              <a:ea typeface="微软雅黑" panose="020B0503020204020204" pitchFamily="34" charset="-122"/>
            </a:endParaRPr>
          </a:p>
        </p:txBody>
      </p:sp>
      <p:sp>
        <p:nvSpPr>
          <p:cNvPr id="27" name="TextBox 7"/>
          <p:cNvSpPr txBox="1">
            <a:spLocks noChangeArrowheads="1"/>
          </p:cNvSpPr>
          <p:nvPr/>
        </p:nvSpPr>
        <p:spPr bwMode="auto">
          <a:xfrm>
            <a:off x="3062128" y="3940481"/>
            <a:ext cx="20074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en-US" altLang="zh-CN" sz="2400" dirty="0" smtClean="0">
                <a:latin typeface="Times New Roman" panose="02020603050405020304" pitchFamily="18" charset="0"/>
                <a:ea typeface="微软雅黑" panose="020B0503020204020204" pitchFamily="34" charset="-122"/>
              </a:rPr>
              <a:t>c</a:t>
            </a:r>
            <a:r>
              <a:rPr lang="zh-CN" altLang="en-US" sz="2400" dirty="0">
                <a:latin typeface="Times New Roman" panose="02020603050405020304" pitchFamily="18" charset="0"/>
                <a:ea typeface="微软雅黑" panose="020B0503020204020204" pitchFamily="34" charset="-122"/>
              </a:rPr>
              <a:t>是</a:t>
            </a:r>
            <a:r>
              <a:rPr lang="zh-CN" altLang="en-US" sz="2400" dirty="0" smtClean="0">
                <a:latin typeface="Times New Roman" panose="02020603050405020304" pitchFamily="18" charset="0"/>
                <a:ea typeface="微软雅黑" panose="020B0503020204020204" pitchFamily="34" charset="-122"/>
              </a:rPr>
              <a:t>比例常数</a:t>
            </a:r>
            <a:endParaRPr lang="zh-CN" altLang="en-US" sz="2400" dirty="0">
              <a:latin typeface="Times New Roman" panose="02020603050405020304" pitchFamily="18" charset="0"/>
              <a:ea typeface="微软雅黑" panose="020B0503020204020204" pitchFamily="34" charset="-122"/>
            </a:endParaRPr>
          </a:p>
        </p:txBody>
      </p:sp>
      <p:sp>
        <p:nvSpPr>
          <p:cNvPr id="28" name="TextBox 7"/>
          <p:cNvSpPr txBox="1">
            <a:spLocks noChangeArrowheads="1"/>
          </p:cNvSpPr>
          <p:nvPr/>
        </p:nvSpPr>
        <p:spPr bwMode="auto">
          <a:xfrm>
            <a:off x="5618644" y="5409778"/>
            <a:ext cx="172149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el-GR" altLang="zh-CN" sz="2400" dirty="0" smtClean="0">
                <a:latin typeface="Times New Roman" panose="02020603050405020304" pitchFamily="18" charset="0"/>
                <a:ea typeface="微软雅黑" panose="020B0503020204020204" pitchFamily="34" charset="-122"/>
              </a:rPr>
              <a:t>β</a:t>
            </a:r>
            <a:r>
              <a:rPr lang="en-US" altLang="zh-CN" sz="2400" dirty="0" smtClean="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取</a:t>
            </a:r>
            <a:r>
              <a:rPr lang="en-US" altLang="zh-CN" sz="2400" dirty="0" smtClean="0">
                <a:latin typeface="Times New Roman" panose="02020603050405020304" pitchFamily="18" charset="0"/>
                <a:ea typeface="微软雅黑" panose="020B0503020204020204" pitchFamily="34" charset="-122"/>
              </a:rPr>
              <a:t>0.8~1.5</a:t>
            </a:r>
            <a:endParaRPr lang="zh-CN" altLang="en-US" sz="2400" dirty="0">
              <a:latin typeface="Times New Roman" panose="02020603050405020304" pitchFamily="18" charset="0"/>
              <a:ea typeface="微软雅黑" panose="020B0503020204020204" pitchFamily="34" charset="-122"/>
            </a:endParaRPr>
          </a:p>
        </p:txBody>
      </p:sp>
      <p:sp>
        <p:nvSpPr>
          <p:cNvPr id="29" name="椭圆形标注 28"/>
          <p:cNvSpPr/>
          <p:nvPr/>
        </p:nvSpPr>
        <p:spPr>
          <a:xfrm>
            <a:off x="6330742" y="4412533"/>
            <a:ext cx="282885" cy="265046"/>
          </a:xfrm>
          <a:prstGeom prst="wedgeEllipseCallout">
            <a:avLst>
              <a:gd name="adj1" fmla="val 344744"/>
              <a:gd name="adj2" fmla="val -121391"/>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形标注 29"/>
          <p:cNvSpPr/>
          <p:nvPr/>
        </p:nvSpPr>
        <p:spPr>
          <a:xfrm>
            <a:off x="6157499" y="4484155"/>
            <a:ext cx="306364" cy="275060"/>
          </a:xfrm>
          <a:prstGeom prst="wedgeEllipseCallout">
            <a:avLst>
              <a:gd name="adj1" fmla="val 2479"/>
              <a:gd name="adj2" fmla="val -164205"/>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形标注 30"/>
          <p:cNvSpPr/>
          <p:nvPr/>
        </p:nvSpPr>
        <p:spPr>
          <a:xfrm>
            <a:off x="5919400" y="4488567"/>
            <a:ext cx="329228" cy="308757"/>
          </a:xfrm>
          <a:prstGeom prst="wedgeEllipseCallout">
            <a:avLst>
              <a:gd name="adj1" fmla="val -345990"/>
              <a:gd name="adj2" fmla="val -105263"/>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形标注 31"/>
          <p:cNvSpPr/>
          <p:nvPr/>
        </p:nvSpPr>
        <p:spPr>
          <a:xfrm>
            <a:off x="6283336" y="4923244"/>
            <a:ext cx="293755" cy="311655"/>
          </a:xfrm>
          <a:prstGeom prst="wedgeEllipseCallout">
            <a:avLst>
              <a:gd name="adj1" fmla="val 6391"/>
              <a:gd name="adj2" fmla="val 148546"/>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448973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31" grpId="0"/>
      <p:bldP spid="22533" grpId="0"/>
      <p:bldP spid="22536" grpId="0"/>
      <p:bldP spid="24" grpId="0" animBg="1"/>
      <p:bldP spid="25" grpId="0"/>
      <p:bldP spid="26" grpId="0"/>
      <p:bldP spid="27" grpId="0"/>
      <p:bldP spid="28" grpId="0"/>
      <p:bldP spid="29" grpId="0" animBg="1"/>
      <p:bldP spid="30" grpId="0" animBg="1"/>
      <p:bldP spid="31" grpId="0" animBg="1"/>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bwMode="auto">
          <a:xfrm>
            <a:off x="4431985" y="934522"/>
            <a:ext cx="4221956" cy="5072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eaLnBrk="1" hangingPunct="1"/>
            <a:r>
              <a:rPr lang="en-US" altLang="zh-CN" sz="3200" b="1" dirty="0">
                <a:solidFill>
                  <a:srgbClr val="0000FF"/>
                </a:solidFill>
                <a:latin typeface="Times New Roman" panose="02020603050405020304" pitchFamily="18" charset="0"/>
                <a:ea typeface="微软雅黑" panose="020B0503020204020204" pitchFamily="34" charset="-122"/>
              </a:rPr>
              <a:t>5</a:t>
            </a:r>
            <a:r>
              <a:rPr lang="zh-CN" altLang="en-US" sz="3200" b="1" dirty="0">
                <a:solidFill>
                  <a:srgbClr val="0000FF"/>
                </a:solidFill>
                <a:latin typeface="Times New Roman" panose="02020603050405020304" pitchFamily="18" charset="0"/>
                <a:ea typeface="微软雅黑" panose="020B0503020204020204" pitchFamily="34" charset="-122"/>
              </a:rPr>
              <a:t>．温度噪声</a:t>
            </a:r>
          </a:p>
        </p:txBody>
      </p:sp>
      <p:sp>
        <p:nvSpPr>
          <p:cNvPr id="23555" name="Rectangle 4"/>
          <p:cNvSpPr>
            <a:spLocks noChangeArrowheads="1"/>
          </p:cNvSpPr>
          <p:nvPr/>
        </p:nvSpPr>
        <p:spPr bwMode="auto">
          <a:xfrm>
            <a:off x="524670" y="1836892"/>
            <a:ext cx="12448380"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       温度噪声是由热探测器吸收和传导等热交换引起的温度起伏。其均方噪声温度表达式为： </a:t>
            </a:r>
          </a:p>
        </p:txBody>
      </p:sp>
      <p:sp>
        <p:nvSpPr>
          <p:cNvPr id="23557" name="Rectangle 7"/>
          <p:cNvSpPr>
            <a:spLocks noChangeArrowheads="1"/>
          </p:cNvSpPr>
          <p:nvPr/>
        </p:nvSpPr>
        <p:spPr bwMode="auto">
          <a:xfrm>
            <a:off x="-66006" y="3973263"/>
            <a:ext cx="18473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2700">
              <a:latin typeface="楷体_GB2312" pitchFamily="49" charset="-122"/>
              <a:ea typeface="楷体_GB2312" pitchFamily="49"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280693525"/>
              </p:ext>
            </p:extLst>
          </p:nvPr>
        </p:nvGraphicFramePr>
        <p:xfrm>
          <a:off x="4365185" y="4227177"/>
          <a:ext cx="4311323" cy="1273111"/>
        </p:xfrm>
        <a:graphic>
          <a:graphicData uri="http://schemas.openxmlformats.org/presentationml/2006/ole">
            <mc:AlternateContent xmlns:mc="http://schemas.openxmlformats.org/markup-compatibility/2006">
              <mc:Choice xmlns:v="urn:schemas-microsoft-com:vml" Requires="v">
                <p:oleObj spid="_x0000_s58428" name="公式" r:id="rId3" imgW="1549080" imgH="457200" progId="Equation.3">
                  <p:embed/>
                </p:oleObj>
              </mc:Choice>
              <mc:Fallback>
                <p:oleObj name="公式" r:id="rId3" imgW="154908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5185" y="4227177"/>
                        <a:ext cx="4311323" cy="1273111"/>
                      </a:xfrm>
                      <a:prstGeom prst="rect">
                        <a:avLst/>
                      </a:prstGeom>
                      <a:solidFill>
                        <a:srgbClr val="FFFF00"/>
                      </a:solidFill>
                      <a:ln>
                        <a:noFill/>
                      </a:ln>
                    </p:spPr>
                  </p:pic>
                </p:oleObj>
              </mc:Fallback>
            </mc:AlternateContent>
          </a:graphicData>
        </a:graphic>
      </p:graphicFrame>
      <p:sp>
        <p:nvSpPr>
          <p:cNvPr id="3" name="文本框 2"/>
          <p:cNvSpPr txBox="1"/>
          <p:nvPr/>
        </p:nvSpPr>
        <p:spPr>
          <a:xfrm>
            <a:off x="1497852" y="5576443"/>
            <a:ext cx="3422138" cy="662297"/>
          </a:xfrm>
          <a:prstGeom prst="rect">
            <a:avLst/>
          </a:prstGeom>
          <a:noFill/>
        </p:spPr>
        <p:txBody>
          <a:bodyPr wrap="square" rtlCol="0">
            <a:spAutoFit/>
          </a:bodyPr>
          <a:lstStyle/>
          <a:p>
            <a:pPr>
              <a:lnSpc>
                <a:spcPct val="150000"/>
              </a:lnSpc>
            </a:pPr>
            <a:r>
              <a:rPr lang="en-US"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为器件的热传导</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系数</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7C42C0B7-7077-458E-AED4-AD69B1B8167B}"/>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 xmlns:a16="http://schemas.microsoft.com/office/drawing/2014/main" id="{D773ED9A-9A99-401C-8C52-9993E496C5B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 xmlns:a16="http://schemas.microsoft.com/office/drawing/2014/main" id="{862B4D0B-9A76-483E-B0A7-5BC86512474F}"/>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3" name="矩形 22">
            <a:extLst>
              <a:ext uri="{FF2B5EF4-FFF2-40B4-BE49-F238E27FC236}">
                <a16:creationId xmlns="" xmlns:a16="http://schemas.microsoft.com/office/drawing/2014/main" id="{4265BBFD-2A28-4730-9029-8798CC8D1B5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 xmlns:a16="http://schemas.microsoft.com/office/drawing/2014/main" id="{D72FE9D2-5939-4CAC-838A-98467B3C45A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16"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4271674" y="3370703"/>
            <a:ext cx="5747457" cy="646331"/>
          </a:xfrm>
          <a:prstGeom prst="rect">
            <a:avLst/>
          </a:prstGeom>
          <a:noFill/>
        </p:spPr>
        <p:txBody>
          <a:bodyPr wrap="square" rtlCol="0">
            <a:spAutoFit/>
          </a:bodyPr>
          <a:lstStyle/>
          <a:p>
            <a:pPr>
              <a:lnSpc>
                <a:spcPct val="150000"/>
              </a:lnSpc>
            </a:pPr>
            <a:r>
              <a:rPr lang="en-US"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为玻尔兹曼常量；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为热力学温度</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(K)</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文本框 24"/>
          <p:cNvSpPr txBox="1"/>
          <p:nvPr/>
        </p:nvSpPr>
        <p:spPr>
          <a:xfrm>
            <a:off x="9047283" y="5576443"/>
            <a:ext cx="3963401" cy="646331"/>
          </a:xfrm>
          <a:prstGeom prst="rect">
            <a:avLst/>
          </a:prstGeom>
          <a:noFill/>
        </p:spPr>
        <p:txBody>
          <a:bodyPr wrap="square" rtlCol="0">
            <a:spAutoFit/>
          </a:bodyPr>
          <a:lstStyle/>
          <a:p>
            <a:pPr>
              <a:lnSpc>
                <a:spcPct val="150000"/>
              </a:lnSpc>
            </a:pPr>
            <a:r>
              <a:rPr lang="el-GR" altLang="zh-CN" sz="2400" b="1" i="1" dirty="0" smtClean="0">
                <a:latin typeface="Times New Roman" panose="02020603050405020304" pitchFamily="18" charset="0"/>
                <a:ea typeface="微软雅黑" panose="020B0503020204020204" pitchFamily="34" charset="-122"/>
                <a:cs typeface="Times New Roman" panose="02020603050405020304" pitchFamily="18" charset="0"/>
              </a:rPr>
              <a:t>τ</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=C/G</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为器件的热时间</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常量</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文本框 25"/>
          <p:cNvSpPr txBox="1"/>
          <p:nvPr/>
        </p:nvSpPr>
        <p:spPr>
          <a:xfrm>
            <a:off x="5634318" y="5651590"/>
            <a:ext cx="2630184" cy="646331"/>
          </a:xfrm>
          <a:prstGeom prst="rect">
            <a:avLst/>
          </a:prstGeom>
          <a:noFill/>
        </p:spPr>
        <p:txBody>
          <a:bodyPr wrap="square" rtlCol="0">
            <a:spAutoFit/>
          </a:bodyPr>
          <a:lstStyle/>
          <a:p>
            <a:pPr>
              <a:lnSpc>
                <a:spcPct val="150000"/>
              </a:lnSpc>
            </a:pPr>
            <a:r>
              <a:rPr lang="en-US" altLang="zh-CN" sz="2400" b="1" i="1" dirty="0" smtClean="0">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为器件工作</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频率</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文本框 26"/>
          <p:cNvSpPr txBox="1"/>
          <p:nvPr/>
        </p:nvSpPr>
        <p:spPr>
          <a:xfrm>
            <a:off x="9464234" y="6479115"/>
            <a:ext cx="2558264" cy="646331"/>
          </a:xfrm>
          <a:prstGeom prst="rect">
            <a:avLst/>
          </a:prstGeom>
          <a:noFill/>
        </p:spPr>
        <p:txBody>
          <a:bodyPr wrap="square" rtlCol="0">
            <a:spAutoFit/>
          </a:bodyPr>
          <a:lstStyle/>
          <a:p>
            <a:pPr>
              <a:lnSpc>
                <a:spcPct val="150000"/>
              </a:lnSpc>
            </a:pPr>
            <a:r>
              <a:rPr lang="en-US" altLang="zh-CN" sz="2400" b="1" dirty="0" smtClean="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为器件的</a:t>
            </a:r>
            <a:r>
              <a:rPr lang="zh-CN" altLang="en-US" sz="2400" b="1" dirty="0" smtClean="0">
                <a:latin typeface="Times New Roman" panose="02020603050405020304" pitchFamily="18" charset="0"/>
                <a:ea typeface="微软雅黑" panose="020B0503020204020204" pitchFamily="34" charset="-122"/>
                <a:cs typeface="Times New Roman" panose="02020603050405020304" pitchFamily="18" charset="0"/>
              </a:rPr>
              <a:t>热容</a:t>
            </a:r>
            <a:endPar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椭圆形标注 27"/>
          <p:cNvSpPr/>
          <p:nvPr/>
        </p:nvSpPr>
        <p:spPr>
          <a:xfrm>
            <a:off x="7722855" y="5058499"/>
            <a:ext cx="432423" cy="479973"/>
          </a:xfrm>
          <a:prstGeom prst="wedgeEllipseCallout">
            <a:avLst>
              <a:gd name="adj1" fmla="val 246362"/>
              <a:gd name="adj2" fmla="val 115300"/>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形标注 28"/>
          <p:cNvSpPr/>
          <p:nvPr/>
        </p:nvSpPr>
        <p:spPr>
          <a:xfrm>
            <a:off x="5782847" y="4985992"/>
            <a:ext cx="432423" cy="441789"/>
          </a:xfrm>
          <a:prstGeom prst="wedgeEllipseCallout">
            <a:avLst>
              <a:gd name="adj1" fmla="val -297731"/>
              <a:gd name="adj2" fmla="val 111337"/>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形标注 29"/>
          <p:cNvSpPr/>
          <p:nvPr/>
        </p:nvSpPr>
        <p:spPr>
          <a:xfrm>
            <a:off x="6698751" y="4360005"/>
            <a:ext cx="626723" cy="441789"/>
          </a:xfrm>
          <a:prstGeom prst="wedgeEllipseCallout">
            <a:avLst>
              <a:gd name="adj1" fmla="val -3113"/>
              <a:gd name="adj2" fmla="val -135175"/>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形标注 30"/>
          <p:cNvSpPr/>
          <p:nvPr/>
        </p:nvSpPr>
        <p:spPr>
          <a:xfrm>
            <a:off x="7446932" y="4945381"/>
            <a:ext cx="372000" cy="441789"/>
          </a:xfrm>
          <a:prstGeom prst="wedgeEllipseCallout">
            <a:avLst>
              <a:gd name="adj1" fmla="val -167282"/>
              <a:gd name="adj2" fmla="val 141570"/>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下箭头 3"/>
          <p:cNvSpPr/>
          <p:nvPr/>
        </p:nvSpPr>
        <p:spPr>
          <a:xfrm>
            <a:off x="9637159" y="6130050"/>
            <a:ext cx="195209" cy="4417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362612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P spid="23555" grpId="0"/>
      <p:bldP spid="3" grpId="0"/>
      <p:bldP spid="17" grpId="0"/>
      <p:bldP spid="25" grpId="0"/>
      <p:bldP spid="26" grpId="0"/>
      <p:bldP spid="27" grpId="0"/>
      <p:bldP spid="28" grpId="0" animBg="1"/>
      <p:bldP spid="29" grpId="0" animBg="1"/>
      <p:bldP spid="30" grpId="0" animBg="1"/>
      <p:bldP spid="31"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1861741" y="1537256"/>
            <a:ext cx="2228850" cy="662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dirty="0">
                <a:latin typeface="Times New Roman" panose="02020603050405020304" pitchFamily="18" charset="0"/>
                <a:ea typeface="微软雅黑" panose="020B0503020204020204" pitchFamily="34" charset="-122"/>
              </a:rPr>
              <a:t>低频率时</a:t>
            </a:r>
            <a:endParaRPr lang="zh-CN" altLang="en-US" dirty="0">
              <a:solidFill>
                <a:schemeClr val="bg1"/>
              </a:solidFill>
              <a:latin typeface="Times New Roman" panose="02020603050405020304" pitchFamily="18" charset="0"/>
              <a:ea typeface="微软雅黑" panose="020B0503020204020204" pitchFamily="34"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823766476"/>
              </p:ext>
            </p:extLst>
          </p:nvPr>
        </p:nvGraphicFramePr>
        <p:xfrm>
          <a:off x="4621610" y="1532334"/>
          <a:ext cx="2924175" cy="771525"/>
        </p:xfrm>
        <a:graphic>
          <a:graphicData uri="http://schemas.openxmlformats.org/presentationml/2006/ole">
            <mc:AlternateContent xmlns:mc="http://schemas.openxmlformats.org/markup-compatibility/2006">
              <mc:Choice xmlns:v="urn:schemas-microsoft-com:vml" Requires="v">
                <p:oleObj spid="_x0000_s59565" name="Equation" r:id="rId3" imgW="914400" imgH="241200" progId="Equation.DSMT4">
                  <p:embed/>
                </p:oleObj>
              </mc:Choice>
              <mc:Fallback>
                <p:oleObj name="Equation" r:id="rId3" imgW="914400" imgH="241200" progId="Equation.DSMT4">
                  <p:embed/>
                  <p:pic>
                    <p:nvPicPr>
                      <p:cNvPr id="0" name=""/>
                      <p:cNvPicPr>
                        <a:picLocks noChangeAspect="1" noChangeArrowheads="1"/>
                      </p:cNvPicPr>
                      <p:nvPr/>
                    </p:nvPicPr>
                    <p:blipFill>
                      <a:blip r:embed="rId4"/>
                      <a:srcRect/>
                      <a:stretch>
                        <a:fillRect/>
                      </a:stretch>
                    </p:blipFill>
                    <p:spPr bwMode="auto">
                      <a:xfrm>
                        <a:off x="4621610" y="1532334"/>
                        <a:ext cx="2924175" cy="7715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680964749"/>
              </p:ext>
            </p:extLst>
          </p:nvPr>
        </p:nvGraphicFramePr>
        <p:xfrm>
          <a:off x="5343525" y="2852738"/>
          <a:ext cx="2741613" cy="1190625"/>
        </p:xfrm>
        <a:graphic>
          <a:graphicData uri="http://schemas.openxmlformats.org/presentationml/2006/ole">
            <mc:AlternateContent xmlns:mc="http://schemas.openxmlformats.org/markup-compatibility/2006">
              <mc:Choice xmlns:v="urn:schemas-microsoft-com:vml" Requires="v">
                <p:oleObj spid="_x0000_s59566" name="Equation" r:id="rId5" imgW="965160" imgH="419040" progId="Equation.DSMT4">
                  <p:embed/>
                </p:oleObj>
              </mc:Choice>
              <mc:Fallback>
                <p:oleObj name="Equation" r:id="rId5" imgW="965160" imgH="419040" progId="Equation.DSMT4">
                  <p:embed/>
                  <p:pic>
                    <p:nvPicPr>
                      <p:cNvPr id="0" name=""/>
                      <p:cNvPicPr>
                        <a:picLocks noChangeAspect="1" noChangeArrowheads="1"/>
                      </p:cNvPicPr>
                      <p:nvPr/>
                    </p:nvPicPr>
                    <p:blipFill>
                      <a:blip r:embed="rId6"/>
                      <a:srcRect/>
                      <a:stretch>
                        <a:fillRect/>
                      </a:stretch>
                    </p:blipFill>
                    <p:spPr bwMode="auto">
                      <a:xfrm>
                        <a:off x="5343525" y="2852738"/>
                        <a:ext cx="2741613" cy="11906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8"/>
          <p:cNvSpPr>
            <a:spLocks noChangeArrowheads="1"/>
          </p:cNvSpPr>
          <p:nvPr/>
        </p:nvSpPr>
        <p:spPr bwMode="auto">
          <a:xfrm>
            <a:off x="1760539" y="4526915"/>
            <a:ext cx="917971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dirty="0">
                <a:latin typeface="Times New Roman" panose="02020603050405020304" pitchFamily="18" charset="0"/>
                <a:ea typeface="微软雅黑" panose="020B0503020204020204" pitchFamily="34" charset="-122"/>
              </a:rPr>
              <a:t>则低频下，热探测器温度噪声功率为</a:t>
            </a:r>
            <a:endParaRPr lang="zh-CN" altLang="en-US" dirty="0">
              <a:solidFill>
                <a:schemeClr val="bg1"/>
              </a:solidFill>
              <a:latin typeface="Times New Roman" panose="02020603050405020304" pitchFamily="18" charset="0"/>
              <a:ea typeface="微软雅黑" panose="020B0503020204020204" pitchFamily="34" charset="-122"/>
            </a:endParaRPr>
          </a:p>
        </p:txBody>
      </p:sp>
      <p:sp>
        <p:nvSpPr>
          <p:cNvPr id="8" name="Rectangle 8"/>
          <p:cNvSpPr>
            <a:spLocks noChangeArrowheads="1"/>
          </p:cNvSpPr>
          <p:nvPr/>
        </p:nvSpPr>
        <p:spPr bwMode="auto">
          <a:xfrm>
            <a:off x="1760539" y="3078718"/>
            <a:ext cx="304482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dirty="0">
                <a:latin typeface="Times New Roman" panose="02020603050405020304" pitchFamily="18" charset="0"/>
                <a:ea typeface="微软雅黑" panose="020B0503020204020204" pitchFamily="34" charset="-122"/>
              </a:rPr>
              <a:t>均方温度噪声为</a:t>
            </a:r>
            <a:endParaRPr lang="zh-CN" altLang="en-US" dirty="0">
              <a:solidFill>
                <a:schemeClr val="bg1"/>
              </a:solidFill>
              <a:latin typeface="Times New Roman" panose="02020603050405020304" pitchFamily="18" charset="0"/>
              <a:ea typeface="微软雅黑" panose="020B0503020204020204" pitchFamily="34" charset="-122"/>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1081672539"/>
              </p:ext>
            </p:extLst>
          </p:nvPr>
        </p:nvGraphicFramePr>
        <p:xfrm>
          <a:off x="1861741" y="5749131"/>
          <a:ext cx="5519738" cy="757238"/>
        </p:xfrm>
        <a:graphic>
          <a:graphicData uri="http://schemas.openxmlformats.org/presentationml/2006/ole">
            <mc:AlternateContent xmlns:mc="http://schemas.openxmlformats.org/markup-compatibility/2006">
              <mc:Choice xmlns:v="urn:schemas-microsoft-com:vml" Requires="v">
                <p:oleObj spid="_x0000_s59567" name="公式" r:id="rId7" imgW="1942920" imgH="266400" progId="Equation.3">
                  <p:embed/>
                </p:oleObj>
              </mc:Choice>
              <mc:Fallback>
                <p:oleObj name="公式" r:id="rId7" imgW="1942920" imgH="266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1741" y="5749131"/>
                        <a:ext cx="5519738" cy="75723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矩形 23">
            <a:extLst>
              <a:ext uri="{FF2B5EF4-FFF2-40B4-BE49-F238E27FC236}">
                <a16:creationId xmlns="" xmlns:a16="http://schemas.microsoft.com/office/drawing/2014/main" id="{2210FD57-EB30-47D7-8D3A-E2C6AE0E334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 xmlns:a16="http://schemas.microsoft.com/office/drawing/2014/main" id="{0CF2EE6E-A33E-481B-8CD7-DA75D4586F8C}"/>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3BED1C70-5F5E-4A45-803B-F07A1330F96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8" name="矩形 27">
            <a:extLst>
              <a:ext uri="{FF2B5EF4-FFF2-40B4-BE49-F238E27FC236}">
                <a16:creationId xmlns="" xmlns:a16="http://schemas.microsoft.com/office/drawing/2014/main" id="{3AB6069B-71CA-4E64-9EA7-9818CEB3B4B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9" name="矩形 28">
            <a:extLst>
              <a:ext uri="{FF2B5EF4-FFF2-40B4-BE49-F238E27FC236}">
                <a16:creationId xmlns="" xmlns:a16="http://schemas.microsoft.com/office/drawing/2014/main" id="{A217A079-C35A-4A3F-BA99-C6B6E52F498E}"/>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5"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16"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93931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1993901" y="2197895"/>
            <a:ext cx="18421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．热噪声</a:t>
            </a:r>
            <a:endParaRPr lang="en-US" altLang="zh-CN" dirty="0">
              <a:latin typeface="微软雅黑" panose="020B0503020204020204" pitchFamily="34" charset="-122"/>
              <a:ea typeface="微软雅黑" panose="020B0503020204020204" pitchFamily="34" charset="-122"/>
            </a:endParaRPr>
          </a:p>
        </p:txBody>
      </p:sp>
      <p:sp>
        <p:nvSpPr>
          <p:cNvPr id="25603" name="Rectangle 5"/>
          <p:cNvSpPr>
            <a:spLocks noChangeArrowheads="1"/>
          </p:cNvSpPr>
          <p:nvPr/>
        </p:nvSpPr>
        <p:spPr bwMode="auto">
          <a:xfrm>
            <a:off x="1993901" y="2997995"/>
            <a:ext cx="40005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a:latin typeface="微软雅黑" panose="020B0503020204020204" pitchFamily="34" charset="-122"/>
                <a:ea typeface="微软雅黑" panose="020B0503020204020204" pitchFamily="34" charset="-122"/>
              </a:rPr>
              <a:t>2.   </a:t>
            </a:r>
            <a:r>
              <a:rPr lang="zh-CN" altLang="en-US">
                <a:latin typeface="微软雅黑" panose="020B0503020204020204" pitchFamily="34" charset="-122"/>
                <a:ea typeface="微软雅黑" panose="020B0503020204020204" pitchFamily="34" charset="-122"/>
              </a:rPr>
              <a:t>散粒噪声</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5604" name="Rectangle 6"/>
          <p:cNvSpPr>
            <a:spLocks noChangeArrowheads="1"/>
          </p:cNvSpPr>
          <p:nvPr/>
        </p:nvSpPr>
        <p:spPr bwMode="auto">
          <a:xfrm>
            <a:off x="1993902" y="3874622"/>
            <a:ext cx="33842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．产生－复合噪声</a:t>
            </a:r>
            <a:r>
              <a:rPr lang="zh-CN" altLang="en-US" b="0" dirty="0">
                <a:solidFill>
                  <a:schemeClr val="bg1"/>
                </a:solidFill>
                <a:latin typeface="微软雅黑" panose="020B0503020204020204" pitchFamily="34" charset="-122"/>
                <a:ea typeface="微软雅黑" panose="020B0503020204020204" pitchFamily="34" charset="-122"/>
              </a:rPr>
              <a:t> </a:t>
            </a:r>
          </a:p>
        </p:txBody>
      </p:sp>
      <p:sp>
        <p:nvSpPr>
          <p:cNvPr id="25605" name="Rectangle 7"/>
          <p:cNvSpPr>
            <a:spLocks noChangeArrowheads="1"/>
          </p:cNvSpPr>
          <p:nvPr/>
        </p:nvSpPr>
        <p:spPr bwMode="auto">
          <a:xfrm>
            <a:off x="1984377" y="4635432"/>
            <a:ext cx="202010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i="1" dirty="0">
                <a:latin typeface="Times New Roman" panose="02020603050405020304" pitchFamily="18" charset="0"/>
                <a:ea typeface="微软雅黑" panose="020B0503020204020204" pitchFamily="34" charset="-122"/>
                <a:cs typeface="Times New Roman" panose="02020603050405020304" pitchFamily="18" charset="0"/>
              </a:rPr>
              <a:t>f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噪声</a:t>
            </a:r>
            <a:r>
              <a:rPr lang="zh-CN" altLang="en-US" b="0"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25606" name="Rectangle 8"/>
          <p:cNvSpPr>
            <a:spLocks noChangeArrowheads="1"/>
          </p:cNvSpPr>
          <p:nvPr/>
        </p:nvSpPr>
        <p:spPr bwMode="auto">
          <a:xfrm>
            <a:off x="1998664" y="5495063"/>
            <a:ext cx="23070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r>
              <a:rPr lang="en-US" altLang="zh-CN">
                <a:latin typeface="微软雅黑" panose="020B0503020204020204" pitchFamily="34" charset="-122"/>
                <a:ea typeface="微软雅黑" panose="020B0503020204020204" pitchFamily="34" charset="-122"/>
              </a:rPr>
              <a:t>5</a:t>
            </a:r>
            <a:r>
              <a:rPr lang="zh-CN" altLang="en-US">
                <a:latin typeface="微软雅黑" panose="020B0503020204020204" pitchFamily="34" charset="-122"/>
                <a:ea typeface="微软雅黑" panose="020B0503020204020204" pitchFamily="34" charset="-122"/>
              </a:rPr>
              <a:t>．温度噪声</a:t>
            </a:r>
            <a:r>
              <a:rPr lang="zh-CN" altLang="en-US" b="0">
                <a:solidFill>
                  <a:schemeClr val="bg1"/>
                </a:solidFill>
                <a:latin typeface="微软雅黑" panose="020B0503020204020204" pitchFamily="34" charset="-122"/>
                <a:ea typeface="微软雅黑" panose="020B0503020204020204" pitchFamily="34" charset="-122"/>
              </a:rPr>
              <a:t> </a:t>
            </a:r>
          </a:p>
        </p:txBody>
      </p:sp>
      <p:sp>
        <p:nvSpPr>
          <p:cNvPr id="25607" name="Rectangle 10"/>
          <p:cNvSpPr>
            <a:spLocks noChangeArrowheads="1"/>
          </p:cNvSpPr>
          <p:nvPr/>
        </p:nvSpPr>
        <p:spPr bwMode="auto">
          <a:xfrm>
            <a:off x="795" y="2609345"/>
            <a:ext cx="18473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chemeClr val="tx1"/>
                </a:solidFill>
                <a:latin typeface="Verdana" panose="020B0604030504040204" pitchFamily="34" charset="0"/>
                <a:ea typeface="宋体" panose="02010600030101010101" pitchFamily="2" charset="-122"/>
              </a:defRPr>
            </a:lvl1pPr>
            <a:lvl2pPr marL="742950" indent="-285750">
              <a:defRPr sz="2800" b="1">
                <a:solidFill>
                  <a:schemeClr val="tx1"/>
                </a:solidFill>
                <a:latin typeface="Verdana" panose="020B0604030504040204" pitchFamily="34" charset="0"/>
                <a:ea typeface="宋体" panose="02010600030101010101" pitchFamily="2" charset="-122"/>
              </a:defRPr>
            </a:lvl2pPr>
            <a:lvl3pPr marL="1143000" indent="-228600">
              <a:defRPr sz="2800" b="1">
                <a:solidFill>
                  <a:schemeClr val="tx1"/>
                </a:solidFill>
                <a:latin typeface="Verdana" panose="020B0604030504040204" pitchFamily="34" charset="0"/>
                <a:ea typeface="宋体" panose="02010600030101010101" pitchFamily="2" charset="-122"/>
              </a:defRPr>
            </a:lvl3pPr>
            <a:lvl4pPr marL="1600200" indent="-228600">
              <a:defRPr sz="2800" b="1">
                <a:solidFill>
                  <a:schemeClr val="tx1"/>
                </a:solidFill>
                <a:latin typeface="Verdana" panose="020B0604030504040204" pitchFamily="34" charset="0"/>
                <a:ea typeface="宋体" panose="02010600030101010101" pitchFamily="2" charset="-122"/>
              </a:defRPr>
            </a:lvl4pPr>
            <a:lvl5pPr marL="2057400" indent="-228600">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Verdana" panose="020B0604030504040204" pitchFamily="34" charset="0"/>
                <a:ea typeface="宋体" panose="02010600030101010101" pitchFamily="2" charset="-122"/>
              </a:defRPr>
            </a:lvl9pPr>
          </a:lstStyle>
          <a:p>
            <a:pPr eaLnBrk="1" hangingPunct="1">
              <a:buFont typeface="Arial" panose="020B0604020202020204" pitchFamily="34" charset="0"/>
              <a:buNone/>
            </a:pPr>
            <a:endParaRPr lang="zh-CN" altLang="en-US" sz="3600">
              <a:latin typeface="微软雅黑" panose="020B0503020204020204" pitchFamily="34" charset="-122"/>
              <a:ea typeface="微软雅黑" panose="020B0503020204020204" pitchFamily="34" charset="-122"/>
            </a:endParaRPr>
          </a:p>
        </p:txBody>
      </p:sp>
      <p:graphicFrame>
        <p:nvGraphicFramePr>
          <p:cNvPr id="25609" name="对象 1"/>
          <p:cNvGraphicFramePr>
            <a:graphicFrameLocks noChangeAspect="1"/>
          </p:cNvGraphicFramePr>
          <p:nvPr>
            <p:extLst>
              <p:ext uri="{D42A27DB-BD31-4B8C-83A1-F6EECF244321}">
                <p14:modId xmlns:p14="http://schemas.microsoft.com/office/powerpoint/2010/main" val="1663294844"/>
              </p:ext>
            </p:extLst>
          </p:nvPr>
        </p:nvGraphicFramePr>
        <p:xfrm>
          <a:off x="5826935" y="1377224"/>
          <a:ext cx="7153878" cy="5423625"/>
        </p:xfrm>
        <a:graphic>
          <a:graphicData uri="http://schemas.openxmlformats.org/presentationml/2006/ole">
            <mc:AlternateContent xmlns:mc="http://schemas.openxmlformats.org/markup-compatibility/2006">
              <mc:Choice xmlns:v="urn:schemas-microsoft-com:vml" Requires="v">
                <p:oleObj spid="_x0000_s60473" name="Visio" r:id="rId3" imgW="3219530" imgH="2076359" progId="Visio.Drawing.11">
                  <p:embed/>
                </p:oleObj>
              </mc:Choice>
              <mc:Fallback>
                <p:oleObj name="Visio" r:id="rId3" imgW="3219530" imgH="2076359" progId="Visio.Drawing.11">
                  <p:embed/>
                  <p:pic>
                    <p:nvPicPr>
                      <p:cNvPr id="0" name=""/>
                      <p:cNvPicPr>
                        <a:picLocks noChangeAspect="1" noChangeArrowheads="1"/>
                      </p:cNvPicPr>
                      <p:nvPr/>
                    </p:nvPicPr>
                    <p:blipFill>
                      <a:blip r:embed="rId4"/>
                      <a:srcRect/>
                      <a:stretch>
                        <a:fillRect/>
                      </a:stretch>
                    </p:blipFill>
                    <p:spPr bwMode="auto">
                      <a:xfrm>
                        <a:off x="5826935" y="1377224"/>
                        <a:ext cx="7153878" cy="5423625"/>
                      </a:xfrm>
                      <a:prstGeom prst="rect">
                        <a:avLst/>
                      </a:prstGeom>
                      <a:noFill/>
                      <a:ln>
                        <a:noFill/>
                      </a:ln>
                    </p:spPr>
                  </p:pic>
                </p:oleObj>
              </mc:Fallback>
            </mc:AlternateContent>
          </a:graphicData>
        </a:graphic>
      </p:graphicFrame>
      <p:sp>
        <p:nvSpPr>
          <p:cNvPr id="18" name="矩形 17">
            <a:extLst>
              <a:ext uri="{FF2B5EF4-FFF2-40B4-BE49-F238E27FC236}">
                <a16:creationId xmlns="" xmlns:a16="http://schemas.microsoft.com/office/drawing/2014/main" id="{A8664A98-AC57-4955-9C8E-21222220B7F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 xmlns:a16="http://schemas.microsoft.com/office/drawing/2014/main" id="{36E3FB59-C5E9-40F7-9AC4-DBEA0A065E3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 xmlns:a16="http://schemas.microsoft.com/office/drawing/2014/main" id="{B4CBE1CF-3C33-4916-9719-8D0329EADB90}"/>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2.3.2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2" name="矩形 21">
            <a:extLst>
              <a:ext uri="{FF2B5EF4-FFF2-40B4-BE49-F238E27FC236}">
                <a16:creationId xmlns="" xmlns:a16="http://schemas.microsoft.com/office/drawing/2014/main" id="{9C5762C0-BCD9-47AC-B939-8F1E270F1B07}"/>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 xmlns:a16="http://schemas.microsoft.com/office/drawing/2014/main" id="{6AD88147-C72B-47FC-AD70-C768D90964D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6" name="文本框 60">
            <a:extLst>
              <a:ext uri="{FF2B5EF4-FFF2-40B4-BE49-F238E27FC236}">
                <a16:creationId xmlns="" xmlns:a16="http://schemas.microsoft.com/office/drawing/2014/main" id="{791D85D7-F412-9C48-9F2B-E33F5B7B4F3C}"/>
              </a:ext>
            </a:extLst>
          </p:cNvPr>
          <p:cNvSpPr txBox="1"/>
          <p:nvPr/>
        </p:nvSpPr>
        <p:spPr>
          <a:xfrm>
            <a:off x="1505391" y="293282"/>
            <a:ext cx="2244675" cy="400110"/>
          </a:xfrm>
          <a:prstGeom prst="rect">
            <a:avLst/>
          </a:prstGeom>
          <a:noFill/>
          <a:ln w="9525">
            <a:noFill/>
          </a:ln>
        </p:spPr>
        <p:txBody>
          <a:bodyPr wrap="square">
            <a:spAutoFit/>
          </a:bodyPr>
          <a:lstStyle/>
          <a:p>
            <a:pPr algn="ctr"/>
            <a:r>
              <a:rPr lang="zh-CN" altLang="en-US" b="1" dirty="0" smtClean="0">
                <a:latin typeface="微软雅黑" panose="020B0503020204020204" pitchFamily="34" charset="-122"/>
                <a:ea typeface="微软雅黑" panose="020B0503020204020204" pitchFamily="34" charset="-122"/>
              </a:rPr>
              <a:t>光电探测器的噪声</a:t>
            </a:r>
            <a:endParaRPr lang="zh-CN" altLang="en-US" b="1" dirty="0">
              <a:latin typeface="微软雅黑" panose="020B0503020204020204" pitchFamily="34" charset="-122"/>
              <a:ea typeface="微软雅黑" panose="020B0503020204020204" pitchFamily="34" charset="-122"/>
            </a:endParaRPr>
          </a:p>
        </p:txBody>
      </p:sp>
      <p:cxnSp>
        <p:nvCxnSpPr>
          <p:cNvPr id="24" name="直接连接符 58">
            <a:extLst>
              <a:ext uri="{FF2B5EF4-FFF2-40B4-BE49-F238E27FC236}">
                <a16:creationId xmlns="" xmlns:a16="http://schemas.microsoft.com/office/drawing/2014/main" id="{8C5F82EF-52B4-4531-96F0-44689EA1125E}"/>
              </a:ext>
            </a:extLst>
          </p:cNvPr>
          <p:cNvCxnSpPr>
            <a:cxnSpLocks/>
          </p:cNvCxnSpPr>
          <p:nvPr/>
        </p:nvCxnSpPr>
        <p:spPr>
          <a:xfrm flipV="1">
            <a:off x="1540280" y="693392"/>
            <a:ext cx="2189238" cy="1760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8216630"/>
      </p:ext>
    </p:extLst>
  </p:cSld>
  <p:clrMapOvr>
    <a:masterClrMapping/>
  </p:clrMapOvr>
  <p:timing>
    <p:tnLst>
      <p:par>
        <p:cTn id="1" dur="indefinite" restart="never" nodeType="tmRoot"/>
      </p:par>
    </p:tn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2980</TotalTime>
  <Words>792</Words>
  <Application>Microsoft Office PowerPoint</Application>
  <PresentationFormat>自定义</PresentationFormat>
  <Paragraphs>178</Paragraphs>
  <Slides>17</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5</vt:i4>
      </vt:variant>
      <vt:variant>
        <vt:lpstr>幻灯片标题</vt:lpstr>
      </vt:variant>
      <vt:variant>
        <vt:i4>17</vt:i4>
      </vt:variant>
    </vt:vector>
  </HeadingPairs>
  <TitlesOfParts>
    <vt:vector size="39" baseType="lpstr">
      <vt:lpstr>Yu Gothic UI</vt:lpstr>
      <vt:lpstr>阿里巴巴普惠体 M</vt:lpstr>
      <vt:lpstr>阿里巴巴普惠体 R</vt:lpstr>
      <vt:lpstr>冬青黑体简体中文 W3</vt:lpstr>
      <vt:lpstr>冬青黑体简体中文 W6</vt:lpstr>
      <vt:lpstr>黑体</vt:lpstr>
      <vt:lpstr>楷体_GB2312</vt:lpstr>
      <vt:lpstr>宋体</vt:lpstr>
      <vt:lpstr>微软雅黑</vt:lpstr>
      <vt:lpstr>微软雅黑</vt:lpstr>
      <vt:lpstr>Arial</vt:lpstr>
      <vt:lpstr>Calibri</vt:lpstr>
      <vt:lpstr>Calibri Light</vt:lpstr>
      <vt:lpstr>Microsoft Yi Baiti</vt:lpstr>
      <vt:lpstr>Times New Roman</vt:lpstr>
      <vt:lpstr>Wingdings</vt:lpstr>
      <vt:lpstr>光电技术模板-2015-6-18</vt:lpstr>
      <vt:lpstr>Microsoft 公式 3.0</vt:lpstr>
      <vt:lpstr>MathType 6.0 Equation</vt:lpstr>
      <vt:lpstr>Equation</vt:lpstr>
      <vt:lpstr>Visio</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热噪声(Thermal noise)</vt:lpstr>
      <vt:lpstr>PowerPoint 演示文稿</vt:lpstr>
      <vt:lpstr>2.  散粒噪声（Shot noise ）</vt:lpstr>
      <vt:lpstr>3．产生－复合噪声</vt:lpstr>
      <vt:lpstr>4．1/f 噪声</vt:lpstr>
      <vt:lpstr>5．温度噪声</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user</cp:lastModifiedBy>
  <cp:revision>95</cp:revision>
  <dcterms:created xsi:type="dcterms:W3CDTF">2015-06-18T01:42:52Z</dcterms:created>
  <dcterms:modified xsi:type="dcterms:W3CDTF">2023-02-23T08:57:48Z</dcterms:modified>
</cp:coreProperties>
</file>