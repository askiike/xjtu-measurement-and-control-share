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vsd" ContentType="application/vnd.visio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35" r:id="rId2"/>
    <p:sldId id="356" r:id="rId3"/>
    <p:sldId id="357" r:id="rId4"/>
    <p:sldId id="358" r:id="rId5"/>
    <p:sldId id="359" r:id="rId6"/>
    <p:sldId id="339" r:id="rId7"/>
    <p:sldId id="340" r:id="rId8"/>
    <p:sldId id="341" r:id="rId9"/>
    <p:sldId id="343" r:id="rId10"/>
    <p:sldId id="342" r:id="rId11"/>
    <p:sldId id="346" r:id="rId12"/>
    <p:sldId id="345" r:id="rId13"/>
    <p:sldId id="347" r:id="rId14"/>
    <p:sldId id="348" r:id="rId15"/>
    <p:sldId id="349" r:id="rId16"/>
    <p:sldId id="350" r:id="rId17"/>
    <p:sldId id="351" r:id="rId18"/>
    <p:sldId id="352" r:id="rId19"/>
    <p:sldId id="355" r:id="rId20"/>
    <p:sldId id="353" r:id="rId21"/>
    <p:sldId id="354" r:id="rId22"/>
  </p:sldIdLst>
  <p:sldSz cx="13717588" cy="7715250"/>
  <p:notesSz cx="6858000" cy="9144000"/>
  <p:defaultTextStyle>
    <a:defPPr>
      <a:defRPr lang="zh-CN"/>
    </a:defPPr>
    <a:lvl1pPr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514350" indent="-5715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1028700" indent="-11430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543050" indent="-17145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2057400" indent="-228600" algn="l" defTabSz="1028700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30">
          <p15:clr>
            <a:srgbClr val="A4A3A4"/>
          </p15:clr>
        </p15:guide>
        <p15:guide id="2" pos="43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1986" y="90"/>
      </p:cViewPr>
      <p:guideLst>
        <p:guide orient="horz" pos="2430"/>
        <p:guide pos="432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image" Target="../media/image16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20.wmf"/><Relationship Id="rId2" Type="http://schemas.openxmlformats.org/officeDocument/2006/relationships/image" Target="../media/image19.wmf"/><Relationship Id="rId1" Type="http://schemas.openxmlformats.org/officeDocument/2006/relationships/image" Target="../media/image18.wmf"/><Relationship Id="rId4" Type="http://schemas.openxmlformats.org/officeDocument/2006/relationships/image" Target="../media/image2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714699" y="1262658"/>
            <a:ext cx="10288191" cy="2686050"/>
          </a:xfrm>
        </p:spPr>
        <p:txBody>
          <a:bodyPr anchor="b"/>
          <a:lstStyle>
            <a:lvl1pPr algn="ctr"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714699" y="4052293"/>
            <a:ext cx="10288191" cy="1862732"/>
          </a:xfrm>
        </p:spPr>
        <p:txBody>
          <a:bodyPr/>
          <a:lstStyle>
            <a:lvl1pPr marL="0" indent="0" algn="ctr">
              <a:buNone/>
              <a:defRPr sz="2700"/>
            </a:lvl1pPr>
            <a:lvl2pPr marL="514350" indent="0" algn="ctr">
              <a:buNone/>
              <a:defRPr sz="2300"/>
            </a:lvl2pPr>
            <a:lvl3pPr marL="1028700" indent="0" algn="ctr">
              <a:buNone/>
              <a:defRPr sz="2000"/>
            </a:lvl3pPr>
            <a:lvl4pPr marL="1543050" indent="0" algn="ctr">
              <a:buNone/>
              <a:defRPr sz="1800"/>
            </a:lvl4pPr>
            <a:lvl5pPr marL="2057400" indent="0" algn="ctr">
              <a:buNone/>
              <a:defRPr sz="1800"/>
            </a:lvl5pPr>
            <a:lvl6pPr marL="2571750" indent="0" algn="ctr">
              <a:buNone/>
              <a:defRPr sz="1800"/>
            </a:lvl6pPr>
            <a:lvl7pPr marL="3086100" indent="0" algn="ctr">
              <a:buNone/>
              <a:defRPr sz="1800"/>
            </a:lvl7pPr>
            <a:lvl8pPr marL="3600450" indent="0" algn="ctr">
              <a:buNone/>
              <a:defRPr sz="1800"/>
            </a:lvl8pPr>
            <a:lvl9pPr marL="4114800" indent="0" algn="ctr">
              <a:buNone/>
              <a:defRPr sz="18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8D9C20-549C-4A1B-B0BE-0E776FAB046D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246571-5083-4487-81A6-3C5FB67427B1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8165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C9808D1-9788-4DB5-8C59-E551598B0C7C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492E4-8E6E-4919-AB1E-6829B54712D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9272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35939" y="1923456"/>
            <a:ext cx="11831420" cy="3209329"/>
          </a:xfrm>
        </p:spPr>
        <p:txBody>
          <a:bodyPr anchor="b"/>
          <a:lstStyle>
            <a:lvl1pPr>
              <a:defRPr sz="68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35939" y="5163147"/>
            <a:ext cx="11831420" cy="1687710"/>
          </a:xfrm>
        </p:spPr>
        <p:txBody>
          <a:bodyPr/>
          <a:lstStyle>
            <a:lvl1pPr marL="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1pPr>
            <a:lvl2pPr marL="51435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2pPr>
            <a:lvl3pPr marL="10287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3pPr>
            <a:lvl4pPr marL="15430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4pPr>
            <a:lvl5pPr marL="2057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5pPr>
            <a:lvl6pPr marL="25717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6pPr>
            <a:lvl7pPr marL="30861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7pPr>
            <a:lvl8pPr marL="360045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8pPr>
            <a:lvl9pPr marL="41148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2C0DE1-04A1-4581-9F40-BCBC5B2EBB7C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4AA0609-03E8-4547-A1DD-76581C55AE4A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20697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43084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944529" y="2053828"/>
            <a:ext cx="5829975" cy="4895255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087729-3CCB-4C75-987C-4F1E972C5891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CCAA2A-A016-48CA-9A83-F7FB75872D2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20768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410766"/>
            <a:ext cx="11831420" cy="1491258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44872" y="1891308"/>
            <a:ext cx="580318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944872" y="2818209"/>
            <a:ext cx="580318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944529" y="1891308"/>
            <a:ext cx="5831762" cy="926901"/>
          </a:xfrm>
        </p:spPr>
        <p:txBody>
          <a:bodyPr anchor="b"/>
          <a:lstStyle>
            <a:lvl1pPr marL="0" indent="0">
              <a:buNone/>
              <a:defRPr sz="2700" b="1"/>
            </a:lvl1pPr>
            <a:lvl2pPr marL="514350" indent="0">
              <a:buNone/>
              <a:defRPr sz="2300" b="1"/>
            </a:lvl2pPr>
            <a:lvl3pPr marL="1028700" indent="0">
              <a:buNone/>
              <a:defRPr sz="2000" b="1"/>
            </a:lvl3pPr>
            <a:lvl4pPr marL="1543050" indent="0">
              <a:buNone/>
              <a:defRPr sz="1800" b="1"/>
            </a:lvl4pPr>
            <a:lvl5pPr marL="2057400" indent="0">
              <a:buNone/>
              <a:defRPr sz="1800" b="1"/>
            </a:lvl5pPr>
            <a:lvl6pPr marL="2571750" indent="0">
              <a:buNone/>
              <a:defRPr sz="1800" b="1"/>
            </a:lvl6pPr>
            <a:lvl7pPr marL="3086100" indent="0">
              <a:buNone/>
              <a:defRPr sz="1800" b="1"/>
            </a:lvl7pPr>
            <a:lvl8pPr marL="3600450" indent="0">
              <a:buNone/>
              <a:defRPr sz="1800" b="1"/>
            </a:lvl8pPr>
            <a:lvl9pPr marL="4114800" indent="0">
              <a:buNone/>
              <a:defRPr sz="18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944529" y="2818209"/>
            <a:ext cx="5831762" cy="414516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CD20D5D-103E-4871-BA12-8B48EEF40816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A97195-7326-4E6B-B4EA-573636804A0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57033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1A9F4D-A277-4FE1-8E1F-CDDC50B747D5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2BBE6C0-4F3E-4531-83C5-B5A1BDF8A1B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0804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FADD3-7C72-44D7-A038-58FE00BFE0AB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03B5AE-561A-4260-A760-9155B7814E8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2646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831762" y="1110854"/>
            <a:ext cx="6944529" cy="5482828"/>
          </a:xfrm>
        </p:spPr>
        <p:txBody>
          <a:bodyPr/>
          <a:lstStyle>
            <a:lvl1pPr>
              <a:defRPr sz="3600"/>
            </a:lvl1pPr>
            <a:lvl2pPr>
              <a:defRPr sz="3200"/>
            </a:lvl2pPr>
            <a:lvl3pPr>
              <a:defRPr sz="27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396361-1589-46DD-A583-2984992B629E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465B4-63BB-4A67-8855-20074C6A2F4D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289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44871" y="514350"/>
            <a:ext cx="4424279" cy="1800225"/>
          </a:xfrm>
        </p:spPr>
        <p:txBody>
          <a:bodyPr anchor="b"/>
          <a:lstStyle>
            <a:lvl1pPr>
              <a:defRPr sz="36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831762" y="1110854"/>
            <a:ext cx="6944529" cy="5482828"/>
          </a:xfrm>
        </p:spPr>
        <p:txBody>
          <a:bodyPr rtlCol="0">
            <a:normAutofit/>
          </a:bodyPr>
          <a:lstStyle>
            <a:lvl1pPr marL="0" indent="0">
              <a:buNone/>
              <a:defRPr sz="3600"/>
            </a:lvl1pPr>
            <a:lvl2pPr marL="514350" indent="0">
              <a:buNone/>
              <a:defRPr sz="3200"/>
            </a:lvl2pPr>
            <a:lvl3pPr marL="1028700" indent="0">
              <a:buNone/>
              <a:defRPr sz="2700"/>
            </a:lvl3pPr>
            <a:lvl4pPr marL="1543050" indent="0">
              <a:buNone/>
              <a:defRPr sz="2300"/>
            </a:lvl4pPr>
            <a:lvl5pPr marL="2057400" indent="0">
              <a:buNone/>
              <a:defRPr sz="2300"/>
            </a:lvl5pPr>
            <a:lvl6pPr marL="2571750" indent="0">
              <a:buNone/>
              <a:defRPr sz="2300"/>
            </a:lvl6pPr>
            <a:lvl7pPr marL="3086100" indent="0">
              <a:buNone/>
              <a:defRPr sz="2300"/>
            </a:lvl7pPr>
            <a:lvl8pPr marL="3600450" indent="0">
              <a:buNone/>
              <a:defRPr sz="2300"/>
            </a:lvl8pPr>
            <a:lvl9pPr marL="4114800" indent="0">
              <a:buNone/>
              <a:defRPr sz="23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944871" y="2314575"/>
            <a:ext cx="4424279" cy="4288037"/>
          </a:xfrm>
        </p:spPr>
        <p:txBody>
          <a:bodyPr/>
          <a:lstStyle>
            <a:lvl1pPr marL="0" indent="0">
              <a:buNone/>
              <a:defRPr sz="1800"/>
            </a:lvl1pPr>
            <a:lvl2pPr marL="514350" indent="0">
              <a:buNone/>
              <a:defRPr sz="1600"/>
            </a:lvl2pPr>
            <a:lvl3pPr marL="1028700" indent="0">
              <a:buNone/>
              <a:defRPr sz="1400"/>
            </a:lvl3pPr>
            <a:lvl4pPr marL="1543050" indent="0">
              <a:buNone/>
              <a:defRPr sz="1100"/>
            </a:lvl4pPr>
            <a:lvl5pPr marL="2057400" indent="0">
              <a:buNone/>
              <a:defRPr sz="1100"/>
            </a:lvl5pPr>
            <a:lvl6pPr marL="2571750" indent="0">
              <a:buNone/>
              <a:defRPr sz="1100"/>
            </a:lvl6pPr>
            <a:lvl7pPr marL="3086100" indent="0">
              <a:buNone/>
              <a:defRPr sz="1100"/>
            </a:lvl7pPr>
            <a:lvl8pPr marL="3600450" indent="0">
              <a:buNone/>
              <a:defRPr sz="1100"/>
            </a:lvl8pPr>
            <a:lvl9pPr marL="4114800" indent="0">
              <a:buNone/>
              <a:defRPr sz="11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344F966-B6BF-4FAF-9AC8-D85716BF8019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053885-1561-4245-978E-72A4E35364F3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2447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42C838-C20E-4A86-9153-FA3882D9F6E1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0859D8-5850-401C-8386-1E3D1BFDCDA9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67927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16649" y="410766"/>
            <a:ext cx="2957855" cy="653831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943084" y="410766"/>
            <a:ext cx="8702095" cy="653831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17396B5-6502-4197-AC09-B0AFF079383F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E59E02-9210-4366-86A1-5E8D5FC72606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9753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942975" y="411163"/>
            <a:ext cx="11831638" cy="1490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942975" y="2054225"/>
            <a:ext cx="11831638" cy="4894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2870" tIns="51435" rIns="102870" bIns="5143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942975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459B74D6-BF7C-4DD9-96CA-8C76993D1D9D}" type="datetimeFigureOut">
              <a:rPr lang="zh-CN" altLang="en-US"/>
              <a:pPr>
                <a:defRPr/>
              </a:pPr>
              <a:t>2022/10/20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543425" y="7151688"/>
            <a:ext cx="4630738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9688513" y="7151688"/>
            <a:ext cx="3086100" cy="409575"/>
          </a:xfrm>
          <a:prstGeom prst="rect">
            <a:avLst/>
          </a:prstGeom>
        </p:spPr>
        <p:txBody>
          <a:bodyPr vert="horz" lIns="102870" tIns="51435" rIns="102870" bIns="51435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4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C6CD1922-8C09-4D64-B92F-7D33E3315CEE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 kern="1200">
          <a:solidFill>
            <a:schemeClr val="tx1"/>
          </a:solidFill>
          <a:latin typeface="+mj-lt"/>
          <a:ea typeface="+mj-ea"/>
          <a:cs typeface="+mj-cs"/>
        </a:defRPr>
      </a:lvl1pPr>
      <a:lvl2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2pPr>
      <a:lvl3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3pPr>
      <a:lvl4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4pPr>
      <a:lvl5pPr algn="l" defTabSz="1028700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5pPr>
      <a:lvl6pPr marL="4572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6pPr>
      <a:lvl7pPr marL="9144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7pPr>
      <a:lvl8pPr marL="13716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8pPr>
      <a:lvl9pPr marL="1828800" algn="l" defTabSz="10287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5000">
          <a:solidFill>
            <a:schemeClr val="tx1"/>
          </a:solidFill>
          <a:latin typeface="Calibri Light"/>
          <a:ea typeface="宋体" pitchFamily="2" charset="-122"/>
        </a:defRPr>
      </a:lvl9pPr>
    </p:titleStyle>
    <p:bodyStyle>
      <a:lvl1pPr marL="257175" indent="-257175" algn="l" defTabSz="1028700" rtl="0" eaLnBrk="0" fontAlgn="base" hangingPunct="0">
        <a:lnSpc>
          <a:spcPct val="90000"/>
        </a:lnSpc>
        <a:spcBef>
          <a:spcPts val="1125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715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2858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80022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314575" indent="-257175" algn="l" defTabSz="1028700" rtl="0" eaLnBrk="0" fontAlgn="base" hangingPunct="0">
        <a:lnSpc>
          <a:spcPct val="90000"/>
        </a:lnSpc>
        <a:spcBef>
          <a:spcPts val="563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8289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3432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85762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371975" indent="-257175" algn="l" defTabSz="1028700" rtl="0" eaLnBrk="1" latinLnBrk="0" hangingPunct="1">
        <a:lnSpc>
          <a:spcPct val="90000"/>
        </a:lnSpc>
        <a:spcBef>
          <a:spcPts val="563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430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717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861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114800" algn="l" defTabSz="1028700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3" Type="http://schemas.openxmlformats.org/officeDocument/2006/relationships/image" Target="../media/image4.jpe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7.emf"/><Relationship Id="rId5" Type="http://schemas.openxmlformats.org/officeDocument/2006/relationships/oleObject" Target="../embeddings/Microsoft_Visio_2003-2010___1.vsd"/><Relationship Id="rId4" Type="http://schemas.openxmlformats.org/officeDocument/2006/relationships/image" Target="../media/image16.w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w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19.wmf"/><Relationship Id="rId5" Type="http://schemas.openxmlformats.org/officeDocument/2006/relationships/oleObject" Target="../embeddings/oleObject3.bin"/><Relationship Id="rId10" Type="http://schemas.openxmlformats.org/officeDocument/2006/relationships/image" Target="../media/image21.emf"/><Relationship Id="rId4" Type="http://schemas.openxmlformats.org/officeDocument/2006/relationships/image" Target="../media/image18.wmf"/><Relationship Id="rId9" Type="http://schemas.openxmlformats.org/officeDocument/2006/relationships/oleObject" Target="../embeddings/Microsoft_Visio_2003-2010___2.vsd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1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4.jpe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4355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真空摄像管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: 圆角 18">
            <a:extLst>
              <a:ext uri="{FF2B5EF4-FFF2-40B4-BE49-F238E27FC236}">
                <a16:creationId xmlns:a16="http://schemas.microsoft.com/office/drawing/2014/main" xmlns="" id="{71B2A563-AC54-5347-B843-4478DF223CDE}"/>
              </a:ext>
            </a:extLst>
          </p:cNvPr>
          <p:cNvSpPr/>
          <p:nvPr/>
        </p:nvSpPr>
        <p:spPr>
          <a:xfrm>
            <a:off x="3642999" y="3397018"/>
            <a:ext cx="7991475" cy="1110985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4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真空摄像管</a:t>
            </a:r>
            <a:endParaRPr kumimoji="1" lang="zh-CN" altLang="en-US" sz="44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xmlns="" id="{045D4FB5-3BA7-4366-9C2A-762F1105D91A}"/>
              </a:ext>
            </a:extLst>
          </p:cNvPr>
          <p:cNvSpPr/>
          <p:nvPr/>
        </p:nvSpPr>
        <p:spPr>
          <a:xfrm>
            <a:off x="1546631" y="3333750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6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</a:t>
            </a:r>
            <a:endParaRPr kumimoji="1" lang="zh-CN" altLang="en-US" sz="66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374306" y="662614"/>
            <a:ext cx="1435569" cy="1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6" name="Text Box 3"/>
          <p:cNvSpPr txBox="1">
            <a:spLocks noChangeArrowheads="1"/>
          </p:cNvSpPr>
          <p:nvPr/>
        </p:nvSpPr>
        <p:spPr bwMode="auto">
          <a:xfrm>
            <a:off x="2460625" y="1765300"/>
            <a:ext cx="88582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摄像管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是能够输出视频信号的一类真空光电图像器件。 </a:t>
            </a:r>
          </a:p>
        </p:txBody>
      </p:sp>
      <p:sp>
        <p:nvSpPr>
          <p:cNvPr id="27" name="Text Box 7"/>
          <p:cNvSpPr txBox="1">
            <a:spLocks noChangeArrowheads="1"/>
          </p:cNvSpPr>
          <p:nvPr/>
        </p:nvSpPr>
        <p:spPr bwMode="auto">
          <a:xfrm>
            <a:off x="6751638" y="4848225"/>
            <a:ext cx="306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光电发射式摄像管</a:t>
            </a:r>
          </a:p>
        </p:txBody>
      </p:sp>
      <p:sp>
        <p:nvSpPr>
          <p:cNvPr id="28" name="Text Box 8"/>
          <p:cNvSpPr txBox="1">
            <a:spLocks noChangeArrowheads="1"/>
          </p:cNvSpPr>
          <p:nvPr/>
        </p:nvSpPr>
        <p:spPr bwMode="auto">
          <a:xfrm>
            <a:off x="6721475" y="5648325"/>
            <a:ext cx="299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光电导式摄像管</a:t>
            </a:r>
          </a:p>
        </p:txBody>
      </p:sp>
      <p:sp>
        <p:nvSpPr>
          <p:cNvPr id="29" name="AutoShape 9"/>
          <p:cNvSpPr>
            <a:spLocks/>
          </p:cNvSpPr>
          <p:nvPr/>
        </p:nvSpPr>
        <p:spPr bwMode="auto">
          <a:xfrm>
            <a:off x="6537325" y="5062538"/>
            <a:ext cx="352425" cy="946150"/>
          </a:xfrm>
          <a:prstGeom prst="leftBrace">
            <a:avLst>
              <a:gd name="adj1" fmla="val 45031"/>
              <a:gd name="adj2" fmla="val 50000"/>
            </a:avLst>
          </a:prstGeom>
          <a:noFill/>
          <a:ln w="38100">
            <a:solidFill>
              <a:sysClr val="windowText" lastClr="000000"/>
            </a:solidFill>
            <a:round/>
            <a:headEnd/>
            <a:tailEnd/>
          </a:ln>
        </p:spPr>
        <p:txBody>
          <a:bodyPr wrap="none" anchor="ctr"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kern="0">
              <a:solidFill>
                <a:prstClr val="black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sp>
        <p:nvSpPr>
          <p:cNvPr id="30" name="TextBox 8"/>
          <p:cNvSpPr txBox="1">
            <a:spLocks noChangeArrowheads="1"/>
          </p:cNvSpPr>
          <p:nvPr/>
        </p:nvSpPr>
        <p:spPr bwMode="auto">
          <a:xfrm>
            <a:off x="5121275" y="2470150"/>
            <a:ext cx="5214938" cy="201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(1)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光电变换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</a:p>
          <a:p>
            <a:pPr defTabSz="914400" eaLnBrk="1" hangingPunct="1">
              <a:lnSpc>
                <a:spcPct val="150000"/>
              </a:lnSpc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(2)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光电信息的累积、存储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; </a:t>
            </a:r>
          </a:p>
          <a:p>
            <a:pPr defTabSz="914400" eaLnBrk="1" hangingPunct="1">
              <a:lnSpc>
                <a:spcPct val="150000"/>
              </a:lnSpc>
            </a:pP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(3)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扫描输出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31" name="TextBox 9"/>
          <p:cNvSpPr txBox="1">
            <a:spLocks noChangeArrowheads="1"/>
          </p:cNvSpPr>
          <p:nvPr/>
        </p:nvSpPr>
        <p:spPr bwMode="auto">
          <a:xfrm>
            <a:off x="3103563" y="2489200"/>
            <a:ext cx="1785937" cy="7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基本功能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  <a:sym typeface="Wingdings" panose="05000000000000000000" pitchFamily="2" charset="2"/>
              </a:rPr>
              <a:t>: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3119438" y="5241925"/>
            <a:ext cx="17700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摄像管</a:t>
            </a:r>
          </a:p>
        </p:txBody>
      </p:sp>
      <p:sp>
        <p:nvSpPr>
          <p:cNvPr id="33" name="Line 11"/>
          <p:cNvSpPr>
            <a:spLocks noChangeShapeType="1"/>
          </p:cNvSpPr>
          <p:nvPr/>
        </p:nvSpPr>
        <p:spPr bwMode="auto">
          <a:xfrm>
            <a:off x="4559300" y="5529263"/>
            <a:ext cx="1873250" cy="0"/>
          </a:xfrm>
          <a:prstGeom prst="line">
            <a:avLst/>
          </a:prstGeom>
          <a:noFill/>
          <a:ln w="38100">
            <a:solidFill>
              <a:sysClr val="windowText" lastClr="000000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black"/>
              </a:solidFill>
              <a:latin typeface="Arial" charset="0"/>
              <a:ea typeface="宋体" charset="-122"/>
            </a:endParaRPr>
          </a:p>
        </p:txBody>
      </p:sp>
      <p:sp>
        <p:nvSpPr>
          <p:cNvPr id="34" name="Text Box 7"/>
          <p:cNvSpPr txBox="1">
            <a:spLocks noChangeArrowheads="1"/>
          </p:cNvSpPr>
          <p:nvPr/>
        </p:nvSpPr>
        <p:spPr bwMode="auto">
          <a:xfrm>
            <a:off x="4559300" y="5097463"/>
            <a:ext cx="177006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光电变换形式</a:t>
            </a:r>
          </a:p>
        </p:txBody>
      </p:sp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4355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真空摄像管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374306" y="662614"/>
            <a:ext cx="1435569" cy="1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3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28" grpId="0"/>
      <p:bldP spid="29" grpId="0" animBg="1"/>
      <p:bldP spid="32" grpId="0"/>
      <p:bldP spid="3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432517" y="293282"/>
            <a:ext cx="852107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grpSp>
        <p:nvGrpSpPr>
          <p:cNvPr id="20" name="组合 66"/>
          <p:cNvGrpSpPr>
            <a:grpSpLocks/>
          </p:cNvGrpSpPr>
          <p:nvPr/>
        </p:nvGrpSpPr>
        <p:grpSpPr bwMode="auto">
          <a:xfrm>
            <a:off x="2735263" y="2024063"/>
            <a:ext cx="3357562" cy="2519362"/>
            <a:chOff x="714348" y="1071546"/>
            <a:chExt cx="3357590" cy="3357586"/>
          </a:xfrm>
        </p:grpSpPr>
        <p:cxnSp>
          <p:nvCxnSpPr>
            <p:cNvPr id="21" name="直接连接符 69"/>
            <p:cNvCxnSpPr>
              <a:cxnSpLocks noChangeShapeType="1"/>
            </p:cNvCxnSpPr>
            <p:nvPr/>
          </p:nvCxnSpPr>
          <p:spPr bwMode="auto">
            <a:xfrm rot="5400000">
              <a:off x="2405348" y="3728047"/>
              <a:ext cx="143866" cy="1588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2" name="直接连接符 70"/>
            <p:cNvCxnSpPr>
              <a:cxnSpLocks noChangeShapeType="1"/>
            </p:cNvCxnSpPr>
            <p:nvPr/>
          </p:nvCxnSpPr>
          <p:spPr bwMode="auto">
            <a:xfrm rot="5400000">
              <a:off x="2245078" y="4169167"/>
              <a:ext cx="429483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pic>
          <p:nvPicPr>
            <p:cNvPr id="23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593850" y="2000250"/>
              <a:ext cx="2214563" cy="12858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24" name="直接连接符 72"/>
            <p:cNvCxnSpPr>
              <a:cxnSpLocks noChangeShapeType="1"/>
            </p:cNvCxnSpPr>
            <p:nvPr/>
          </p:nvCxnSpPr>
          <p:spPr bwMode="auto">
            <a:xfrm rot="5400000">
              <a:off x="1428565" y="1713920"/>
              <a:ext cx="427368" cy="1588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5" name="直接连接符 73"/>
            <p:cNvCxnSpPr>
              <a:cxnSpLocks noChangeShapeType="1"/>
            </p:cNvCxnSpPr>
            <p:nvPr/>
          </p:nvCxnSpPr>
          <p:spPr bwMode="auto">
            <a:xfrm>
              <a:off x="1595418" y="2000331"/>
              <a:ext cx="833444" cy="2115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" name="直接连接符 74"/>
            <p:cNvCxnSpPr>
              <a:cxnSpLocks noChangeShapeType="1"/>
            </p:cNvCxnSpPr>
            <p:nvPr/>
          </p:nvCxnSpPr>
          <p:spPr bwMode="auto">
            <a:xfrm rot="16200000" flipH="1">
              <a:off x="2424414" y="2006362"/>
              <a:ext cx="213684" cy="214314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" name="直接连接符 75"/>
            <p:cNvCxnSpPr>
              <a:cxnSpLocks noChangeShapeType="1"/>
            </p:cNvCxnSpPr>
            <p:nvPr/>
          </p:nvCxnSpPr>
          <p:spPr bwMode="auto">
            <a:xfrm flipV="1">
              <a:off x="2625713" y="2214014"/>
              <a:ext cx="1160472" cy="6348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" name="直接连接符 76"/>
            <p:cNvCxnSpPr>
              <a:cxnSpLocks noChangeShapeType="1"/>
            </p:cNvCxnSpPr>
            <p:nvPr/>
          </p:nvCxnSpPr>
          <p:spPr bwMode="auto">
            <a:xfrm rot="5400000">
              <a:off x="3366491" y="2637414"/>
              <a:ext cx="856851" cy="1588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8" name="直接连接符 77"/>
            <p:cNvCxnSpPr>
              <a:cxnSpLocks noChangeShapeType="1"/>
            </p:cNvCxnSpPr>
            <p:nvPr/>
          </p:nvCxnSpPr>
          <p:spPr bwMode="auto">
            <a:xfrm>
              <a:off x="2571738" y="3070865"/>
              <a:ext cx="1233498" cy="2115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9" name="直接连接符 78"/>
            <p:cNvCxnSpPr>
              <a:cxnSpLocks noChangeShapeType="1"/>
            </p:cNvCxnSpPr>
            <p:nvPr/>
          </p:nvCxnSpPr>
          <p:spPr bwMode="auto">
            <a:xfrm>
              <a:off x="1597005" y="3286664"/>
              <a:ext cx="760419" cy="0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0" name="直接连接符 79"/>
            <p:cNvCxnSpPr>
              <a:cxnSpLocks noChangeShapeType="1"/>
            </p:cNvCxnSpPr>
            <p:nvPr/>
          </p:nvCxnSpPr>
          <p:spPr bwMode="auto">
            <a:xfrm rot="5400000" flipH="1" flipV="1">
              <a:off x="2357475" y="3072401"/>
              <a:ext cx="215799" cy="212727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1" name="直接连接符 80"/>
            <p:cNvCxnSpPr>
              <a:cxnSpLocks noChangeShapeType="1"/>
            </p:cNvCxnSpPr>
            <p:nvPr/>
          </p:nvCxnSpPr>
          <p:spPr bwMode="auto">
            <a:xfrm rot="5400000">
              <a:off x="2287410" y="1713920"/>
              <a:ext cx="427368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2" name="直接连接符 81"/>
            <p:cNvCxnSpPr>
              <a:cxnSpLocks noChangeShapeType="1"/>
            </p:cNvCxnSpPr>
            <p:nvPr/>
          </p:nvCxnSpPr>
          <p:spPr bwMode="auto">
            <a:xfrm rot="5400000">
              <a:off x="3573295" y="1713920"/>
              <a:ext cx="427368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3" name="直接连接符 82"/>
            <p:cNvCxnSpPr>
              <a:cxnSpLocks noChangeShapeType="1"/>
            </p:cNvCxnSpPr>
            <p:nvPr/>
          </p:nvCxnSpPr>
          <p:spPr bwMode="auto">
            <a:xfrm rot="10800000">
              <a:off x="3714747" y="2715431"/>
              <a:ext cx="330203" cy="423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4" name="直接连接符 85"/>
            <p:cNvCxnSpPr>
              <a:cxnSpLocks noChangeShapeType="1"/>
            </p:cNvCxnSpPr>
            <p:nvPr/>
          </p:nvCxnSpPr>
          <p:spPr bwMode="auto">
            <a:xfrm rot="16200000" flipH="1">
              <a:off x="3385131" y="3384774"/>
              <a:ext cx="1356151" cy="17463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5" name="直接连接符 86"/>
            <p:cNvCxnSpPr>
              <a:cxnSpLocks noChangeShapeType="1"/>
            </p:cNvCxnSpPr>
            <p:nvPr/>
          </p:nvCxnSpPr>
          <p:spPr bwMode="auto">
            <a:xfrm>
              <a:off x="2452675" y="4071581"/>
              <a:ext cx="1619263" cy="2116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46" name="矩形 45"/>
            <p:cNvSpPr/>
            <p:nvPr/>
          </p:nvSpPr>
          <p:spPr>
            <a:xfrm>
              <a:off x="2285984" y="4286256"/>
              <a:ext cx="357190" cy="142876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47" name="矩形 46"/>
            <p:cNvSpPr/>
            <p:nvPr/>
          </p:nvSpPr>
          <p:spPr>
            <a:xfrm>
              <a:off x="2400282" y="3357562"/>
              <a:ext cx="142876" cy="285752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48" name="直接连接符 89"/>
            <p:cNvCxnSpPr>
              <a:cxnSpLocks noChangeShapeType="1"/>
            </p:cNvCxnSpPr>
            <p:nvPr/>
          </p:nvCxnSpPr>
          <p:spPr bwMode="auto">
            <a:xfrm>
              <a:off x="2357424" y="3929831"/>
              <a:ext cx="214314" cy="0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49" name="直接连接符 90"/>
            <p:cNvCxnSpPr>
              <a:cxnSpLocks noChangeShapeType="1"/>
            </p:cNvCxnSpPr>
            <p:nvPr/>
          </p:nvCxnSpPr>
          <p:spPr bwMode="auto">
            <a:xfrm>
              <a:off x="2214548" y="3785965"/>
              <a:ext cx="500066" cy="2115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0" name="直接连接符 91"/>
            <p:cNvCxnSpPr>
              <a:cxnSpLocks noChangeShapeType="1"/>
            </p:cNvCxnSpPr>
            <p:nvPr/>
          </p:nvCxnSpPr>
          <p:spPr bwMode="auto">
            <a:xfrm rot="16200000" flipH="1">
              <a:off x="1925080" y="2813542"/>
              <a:ext cx="1072651" cy="17462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1" name="直接连接符 92"/>
            <p:cNvCxnSpPr>
              <a:cxnSpLocks noChangeShapeType="1"/>
            </p:cNvCxnSpPr>
            <p:nvPr/>
          </p:nvCxnSpPr>
          <p:spPr bwMode="auto">
            <a:xfrm rot="5400000">
              <a:off x="1177857" y="2605679"/>
              <a:ext cx="928785" cy="1588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2" name="直接箭头连接符 93"/>
            <p:cNvCxnSpPr>
              <a:cxnSpLocks noChangeShapeType="1"/>
            </p:cNvCxnSpPr>
            <p:nvPr/>
          </p:nvCxnSpPr>
          <p:spPr bwMode="auto">
            <a:xfrm rot="10800000">
              <a:off x="2571738" y="2404425"/>
              <a:ext cx="1000133" cy="215799"/>
            </a:xfrm>
            <a:prstGeom prst="straightConnector1">
              <a:avLst/>
            </a:prstGeom>
            <a:noFill/>
            <a:ln w="2857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3" name="弧形 52"/>
            <p:cNvSpPr/>
            <p:nvPr/>
          </p:nvSpPr>
          <p:spPr>
            <a:xfrm rot="12908658">
              <a:off x="3733798" y="2366343"/>
              <a:ext cx="142876" cy="355435"/>
            </a:xfrm>
            <a:prstGeom prst="arc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54" name="直接箭头连接符 95"/>
            <p:cNvCxnSpPr>
              <a:cxnSpLocks noChangeShapeType="1"/>
            </p:cNvCxnSpPr>
            <p:nvPr/>
          </p:nvCxnSpPr>
          <p:spPr bwMode="auto">
            <a:xfrm rot="16200000" flipV="1">
              <a:off x="2500367" y="2929047"/>
              <a:ext cx="285618" cy="285752"/>
            </a:xfrm>
            <a:prstGeom prst="straightConnector1">
              <a:avLst/>
            </a:prstGeom>
            <a:noFill/>
            <a:ln w="19050" algn="ctr">
              <a:solidFill>
                <a:srgbClr val="7030A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5" name="直接连接符 96"/>
            <p:cNvCxnSpPr>
              <a:cxnSpLocks noChangeShapeType="1"/>
            </p:cNvCxnSpPr>
            <p:nvPr/>
          </p:nvCxnSpPr>
          <p:spPr bwMode="auto">
            <a:xfrm rot="5400000" flipH="1" flipV="1">
              <a:off x="1214550" y="2786239"/>
              <a:ext cx="571234" cy="285752"/>
            </a:xfrm>
            <a:prstGeom prst="line">
              <a:avLst/>
            </a:prstGeom>
            <a:noFill/>
            <a:ln w="190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6" name="直接箭头连接符 97"/>
            <p:cNvCxnSpPr>
              <a:cxnSpLocks noChangeShapeType="1"/>
            </p:cNvCxnSpPr>
            <p:nvPr/>
          </p:nvCxnSpPr>
          <p:spPr bwMode="auto">
            <a:xfrm>
              <a:off x="1714481" y="1714713"/>
              <a:ext cx="714381" cy="2116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57" name="直接箭头连接符 98"/>
            <p:cNvCxnSpPr>
              <a:cxnSpLocks noChangeShapeType="1"/>
            </p:cNvCxnSpPr>
            <p:nvPr/>
          </p:nvCxnSpPr>
          <p:spPr bwMode="auto">
            <a:xfrm>
              <a:off x="2590788" y="1714713"/>
              <a:ext cx="1143009" cy="2116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58" name="TextBox 32"/>
            <p:cNvSpPr txBox="1">
              <a:spLocks noChangeArrowheads="1"/>
            </p:cNvSpPr>
            <p:nvPr/>
          </p:nvSpPr>
          <p:spPr bwMode="auto">
            <a:xfrm>
              <a:off x="2571738" y="2571564"/>
              <a:ext cx="1071571" cy="533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电子束</a:t>
              </a:r>
            </a:p>
          </p:txBody>
        </p:sp>
        <p:sp>
          <p:nvSpPr>
            <p:cNvPr id="59" name="TextBox 33"/>
            <p:cNvSpPr txBox="1">
              <a:spLocks noChangeArrowheads="1"/>
            </p:cNvSpPr>
            <p:nvPr/>
          </p:nvSpPr>
          <p:spPr bwMode="auto">
            <a:xfrm>
              <a:off x="714348" y="3286664"/>
              <a:ext cx="857257" cy="94359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光电阴极</a:t>
              </a:r>
            </a:p>
          </p:txBody>
        </p:sp>
        <p:sp>
          <p:nvSpPr>
            <p:cNvPr id="60" name="TextBox 34"/>
            <p:cNvSpPr txBox="1">
              <a:spLocks noChangeArrowheads="1"/>
            </p:cNvSpPr>
            <p:nvPr/>
          </p:nvSpPr>
          <p:spPr bwMode="auto">
            <a:xfrm>
              <a:off x="2857491" y="3214731"/>
              <a:ext cx="428629" cy="533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靶</a:t>
              </a:r>
            </a:p>
          </p:txBody>
        </p:sp>
        <p:sp>
          <p:nvSpPr>
            <p:cNvPr id="61" name="TextBox 35"/>
            <p:cNvSpPr txBox="1">
              <a:spLocks noChangeArrowheads="1"/>
            </p:cNvSpPr>
            <p:nvPr/>
          </p:nvSpPr>
          <p:spPr bwMode="auto">
            <a:xfrm>
              <a:off x="1500167" y="1071546"/>
              <a:ext cx="1071572" cy="533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移像区</a:t>
              </a:r>
            </a:p>
          </p:txBody>
        </p:sp>
        <p:sp>
          <p:nvSpPr>
            <p:cNvPr id="62" name="TextBox 36"/>
            <p:cNvSpPr txBox="1">
              <a:spLocks noChangeArrowheads="1"/>
            </p:cNvSpPr>
            <p:nvPr/>
          </p:nvSpPr>
          <p:spPr bwMode="auto">
            <a:xfrm>
              <a:off x="2643176" y="1071546"/>
              <a:ext cx="1071572" cy="5331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电子枪</a:t>
              </a:r>
            </a:p>
          </p:txBody>
        </p:sp>
      </p:grpSp>
      <p:grpSp>
        <p:nvGrpSpPr>
          <p:cNvPr id="63" name="组合 67"/>
          <p:cNvGrpSpPr>
            <a:grpSpLocks/>
          </p:cNvGrpSpPr>
          <p:nvPr/>
        </p:nvGrpSpPr>
        <p:grpSpPr bwMode="auto">
          <a:xfrm>
            <a:off x="7751763" y="2333625"/>
            <a:ext cx="1857375" cy="2124075"/>
            <a:chOff x="5730886" y="1484320"/>
            <a:chExt cx="1857375" cy="2830518"/>
          </a:xfrm>
        </p:grpSpPr>
        <p:pic>
          <p:nvPicPr>
            <p:cNvPr id="64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927736" y="2116145"/>
              <a:ext cx="1385888" cy="8286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cxnSp>
          <p:nvCxnSpPr>
            <p:cNvPr id="65" name="直接连接符 106"/>
            <p:cNvCxnSpPr>
              <a:cxnSpLocks noChangeShapeType="1"/>
            </p:cNvCxnSpPr>
            <p:nvPr/>
          </p:nvCxnSpPr>
          <p:spPr bwMode="auto">
            <a:xfrm rot="5400000">
              <a:off x="5921692" y="3613818"/>
              <a:ext cx="143853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6" name="直接连接符 107"/>
            <p:cNvCxnSpPr>
              <a:cxnSpLocks noChangeShapeType="1"/>
            </p:cNvCxnSpPr>
            <p:nvPr/>
          </p:nvCxnSpPr>
          <p:spPr bwMode="auto">
            <a:xfrm rot="5400000">
              <a:off x="5761434" y="4054897"/>
              <a:ext cx="429443" cy="1588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7" name="直接连接符 108"/>
            <p:cNvCxnSpPr>
              <a:cxnSpLocks noChangeShapeType="1"/>
            </p:cNvCxnSpPr>
            <p:nvPr/>
          </p:nvCxnSpPr>
          <p:spPr bwMode="auto">
            <a:xfrm>
              <a:off x="5927736" y="2099925"/>
              <a:ext cx="1374775" cy="2116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8" name="直接连接符 109"/>
            <p:cNvCxnSpPr>
              <a:cxnSpLocks noChangeShapeType="1"/>
            </p:cNvCxnSpPr>
            <p:nvPr/>
          </p:nvCxnSpPr>
          <p:spPr bwMode="auto">
            <a:xfrm rot="5400000">
              <a:off x="6884444" y="2523286"/>
              <a:ext cx="856772" cy="1588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69" name="直接连接符 110"/>
            <p:cNvCxnSpPr>
              <a:cxnSpLocks noChangeShapeType="1"/>
            </p:cNvCxnSpPr>
            <p:nvPr/>
          </p:nvCxnSpPr>
          <p:spPr bwMode="auto">
            <a:xfrm>
              <a:off x="5927736" y="2956697"/>
              <a:ext cx="1393825" cy="2115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0" name="直接连接符 111"/>
            <p:cNvCxnSpPr>
              <a:cxnSpLocks noChangeShapeType="1"/>
            </p:cNvCxnSpPr>
            <p:nvPr/>
          </p:nvCxnSpPr>
          <p:spPr bwMode="auto">
            <a:xfrm rot="10800000">
              <a:off x="7231074" y="2601296"/>
              <a:ext cx="330200" cy="4231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1" name="直接连接符 112"/>
            <p:cNvCxnSpPr>
              <a:cxnSpLocks noChangeShapeType="1"/>
            </p:cNvCxnSpPr>
            <p:nvPr/>
          </p:nvCxnSpPr>
          <p:spPr bwMode="auto">
            <a:xfrm rot="16200000" flipH="1">
              <a:off x="6901517" y="3270578"/>
              <a:ext cx="1356025" cy="17462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2" name="直接连接符 113"/>
            <p:cNvCxnSpPr>
              <a:cxnSpLocks noChangeShapeType="1"/>
            </p:cNvCxnSpPr>
            <p:nvPr/>
          </p:nvCxnSpPr>
          <p:spPr bwMode="auto">
            <a:xfrm>
              <a:off x="5969011" y="3957320"/>
              <a:ext cx="1619250" cy="2116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3" name="矩形 72"/>
            <p:cNvSpPr/>
            <p:nvPr/>
          </p:nvSpPr>
          <p:spPr>
            <a:xfrm>
              <a:off x="5802329" y="4171962"/>
              <a:ext cx="357190" cy="142876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5916627" y="3243268"/>
              <a:ext cx="142876" cy="285752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75" name="直接连接符 116"/>
            <p:cNvCxnSpPr>
              <a:cxnSpLocks noChangeShapeType="1"/>
            </p:cNvCxnSpPr>
            <p:nvPr/>
          </p:nvCxnSpPr>
          <p:spPr bwMode="auto">
            <a:xfrm>
              <a:off x="5873761" y="3815584"/>
              <a:ext cx="214313" cy="0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6" name="直接连接符 117"/>
            <p:cNvCxnSpPr>
              <a:cxnSpLocks noChangeShapeType="1"/>
            </p:cNvCxnSpPr>
            <p:nvPr/>
          </p:nvCxnSpPr>
          <p:spPr bwMode="auto">
            <a:xfrm>
              <a:off x="5730886" y="3671731"/>
              <a:ext cx="500063" cy="2115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7" name="直接连接符 118"/>
            <p:cNvCxnSpPr>
              <a:cxnSpLocks noChangeShapeType="1"/>
            </p:cNvCxnSpPr>
            <p:nvPr/>
          </p:nvCxnSpPr>
          <p:spPr bwMode="auto">
            <a:xfrm rot="16200000" flipH="1">
              <a:off x="5442525" y="2698338"/>
              <a:ext cx="1070435" cy="17463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78" name="直接箭头连接符 119"/>
            <p:cNvCxnSpPr>
              <a:cxnSpLocks noChangeShapeType="1"/>
            </p:cNvCxnSpPr>
            <p:nvPr/>
          </p:nvCxnSpPr>
          <p:spPr bwMode="auto">
            <a:xfrm rot="10800000">
              <a:off x="6088074" y="2290319"/>
              <a:ext cx="1000125" cy="215779"/>
            </a:xfrm>
            <a:prstGeom prst="straightConnector1">
              <a:avLst/>
            </a:prstGeom>
            <a:noFill/>
            <a:ln w="28575" algn="ctr">
              <a:solidFill>
                <a:srgbClr val="00B05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9" name="弧形 78"/>
            <p:cNvSpPr/>
            <p:nvPr/>
          </p:nvSpPr>
          <p:spPr>
            <a:xfrm rot="12908658">
              <a:off x="7250123" y="2250125"/>
              <a:ext cx="142875" cy="357518"/>
            </a:xfrm>
            <a:prstGeom prst="arc">
              <a:avLst/>
            </a:prstGeom>
            <a:noFill/>
            <a:ln w="381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black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cxnSp>
          <p:nvCxnSpPr>
            <p:cNvPr id="80" name="直接箭头连接符 121"/>
            <p:cNvCxnSpPr>
              <a:cxnSpLocks noChangeShapeType="1"/>
            </p:cNvCxnSpPr>
            <p:nvPr/>
          </p:nvCxnSpPr>
          <p:spPr bwMode="auto">
            <a:xfrm rot="16200000" flipV="1">
              <a:off x="6016715" y="2814880"/>
              <a:ext cx="285591" cy="285750"/>
            </a:xfrm>
            <a:prstGeom prst="straightConnector1">
              <a:avLst/>
            </a:prstGeom>
            <a:noFill/>
            <a:ln w="19050" algn="ctr">
              <a:solidFill>
                <a:srgbClr val="7030A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1" name="TextBox 55"/>
            <p:cNvSpPr txBox="1">
              <a:spLocks noChangeArrowheads="1"/>
            </p:cNvSpPr>
            <p:nvPr/>
          </p:nvSpPr>
          <p:spPr bwMode="auto">
            <a:xfrm>
              <a:off x="6088073" y="2457443"/>
              <a:ext cx="1071563" cy="533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电子束</a:t>
              </a:r>
            </a:p>
          </p:txBody>
        </p:sp>
        <p:sp>
          <p:nvSpPr>
            <p:cNvPr id="82" name="TextBox 56"/>
            <p:cNvSpPr txBox="1">
              <a:spLocks noChangeArrowheads="1"/>
            </p:cNvSpPr>
            <p:nvPr/>
          </p:nvSpPr>
          <p:spPr bwMode="auto">
            <a:xfrm>
              <a:off x="6357948" y="3142860"/>
              <a:ext cx="428625" cy="533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靶</a:t>
              </a:r>
            </a:p>
          </p:txBody>
        </p:sp>
        <p:cxnSp>
          <p:nvCxnSpPr>
            <p:cNvPr id="83" name="直接连接符 124"/>
            <p:cNvCxnSpPr>
              <a:cxnSpLocks noChangeShapeType="1"/>
            </p:cNvCxnSpPr>
            <p:nvPr/>
          </p:nvCxnSpPr>
          <p:spPr bwMode="auto">
            <a:xfrm rot="5400000">
              <a:off x="5499086" y="2520113"/>
              <a:ext cx="858887" cy="1588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4" name="直接连接符 125"/>
            <p:cNvCxnSpPr>
              <a:cxnSpLocks noChangeShapeType="1"/>
            </p:cNvCxnSpPr>
            <p:nvPr/>
          </p:nvCxnSpPr>
          <p:spPr bwMode="auto">
            <a:xfrm rot="5400000">
              <a:off x="5767254" y="1841043"/>
              <a:ext cx="427328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5" name="直接连接符 126"/>
            <p:cNvCxnSpPr>
              <a:cxnSpLocks noChangeShapeType="1"/>
            </p:cNvCxnSpPr>
            <p:nvPr/>
          </p:nvCxnSpPr>
          <p:spPr bwMode="auto">
            <a:xfrm rot="5400000">
              <a:off x="7053129" y="1841043"/>
              <a:ext cx="427328" cy="1587"/>
            </a:xfrm>
            <a:prstGeom prst="line">
              <a:avLst/>
            </a:prstGeom>
            <a:noFill/>
            <a:ln w="1905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86" name="直接箭头连接符 127"/>
            <p:cNvCxnSpPr>
              <a:cxnSpLocks noChangeShapeType="1"/>
            </p:cNvCxnSpPr>
            <p:nvPr/>
          </p:nvCxnSpPr>
          <p:spPr bwMode="auto">
            <a:xfrm>
              <a:off x="6051561" y="1841836"/>
              <a:ext cx="1143000" cy="2116"/>
            </a:xfrm>
            <a:prstGeom prst="straightConnector1">
              <a:avLst/>
            </a:prstGeom>
            <a:noFill/>
            <a:ln w="19050" algn="ctr">
              <a:solidFill>
                <a:srgbClr val="FF0000"/>
              </a:solidFill>
              <a:round/>
              <a:headEnd type="arrow" w="med" len="med"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87" name="TextBox 61"/>
            <p:cNvSpPr txBox="1">
              <a:spLocks noChangeArrowheads="1"/>
            </p:cNvSpPr>
            <p:nvPr/>
          </p:nvSpPr>
          <p:spPr bwMode="auto">
            <a:xfrm>
              <a:off x="6194436" y="1484320"/>
              <a:ext cx="1071562" cy="53310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电子枪</a:t>
              </a:r>
            </a:p>
          </p:txBody>
        </p:sp>
      </p:grpSp>
      <p:sp>
        <p:nvSpPr>
          <p:cNvPr id="88" name="Text Box 4"/>
          <p:cNvSpPr txBox="1">
            <a:spLocks noChangeArrowheads="1"/>
          </p:cNvSpPr>
          <p:nvPr/>
        </p:nvSpPr>
        <p:spPr bwMode="auto">
          <a:xfrm>
            <a:off x="3092450" y="5100638"/>
            <a:ext cx="34290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光电发射式摄像管 </a:t>
            </a:r>
          </a:p>
        </p:txBody>
      </p:sp>
      <p:sp>
        <p:nvSpPr>
          <p:cNvPr id="89" name="Text Box 4"/>
          <p:cNvSpPr txBox="1">
            <a:spLocks noChangeArrowheads="1"/>
          </p:cNvSpPr>
          <p:nvPr/>
        </p:nvSpPr>
        <p:spPr bwMode="auto">
          <a:xfrm>
            <a:off x="7378700" y="5048250"/>
            <a:ext cx="28575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光电导式摄像管 </a:t>
            </a:r>
          </a:p>
        </p:txBody>
      </p:sp>
      <p:sp>
        <p:nvSpPr>
          <p:cNvPr id="9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4355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真空摄像管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9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374306" y="662614"/>
            <a:ext cx="1435569" cy="1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/>
      <p:bldP spid="8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0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5070623" y="3476625"/>
            <a:ext cx="5401136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光电导摄像管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2860247" y="32830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4355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真空摄像管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374306" y="662614"/>
            <a:ext cx="1435569" cy="1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1"/>
          <p:cNvGrpSpPr>
            <a:grpSpLocks/>
          </p:cNvGrpSpPr>
          <p:nvPr/>
        </p:nvGrpSpPr>
        <p:grpSpPr bwMode="auto">
          <a:xfrm>
            <a:off x="7780338" y="3325813"/>
            <a:ext cx="438150" cy="1943100"/>
            <a:chOff x="5603875" y="2133600"/>
            <a:chExt cx="438150" cy="2590800"/>
          </a:xfrm>
        </p:grpSpPr>
        <p:pic>
          <p:nvPicPr>
            <p:cNvPr id="11" name="Picture 24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03875" y="2133600"/>
              <a:ext cx="438150" cy="259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矩形 11"/>
            <p:cNvSpPr/>
            <p:nvPr/>
          </p:nvSpPr>
          <p:spPr>
            <a:xfrm>
              <a:off x="5603875" y="2137833"/>
              <a:ext cx="434975" cy="207433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5603875" y="4506383"/>
              <a:ext cx="434975" cy="207433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0" name="组合 5"/>
          <p:cNvGrpSpPr>
            <a:grpSpLocks/>
          </p:cNvGrpSpPr>
          <p:nvPr/>
        </p:nvGrpSpPr>
        <p:grpSpPr bwMode="auto">
          <a:xfrm>
            <a:off x="5053013" y="3321050"/>
            <a:ext cx="2590800" cy="1943100"/>
            <a:chOff x="2876550" y="2127250"/>
            <a:chExt cx="2590800" cy="2590800"/>
          </a:xfrm>
        </p:grpSpPr>
        <p:pic>
          <p:nvPicPr>
            <p:cNvPr id="21" name="Picture 25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76550" y="2127250"/>
              <a:ext cx="2590800" cy="2590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2" name="矩形 21"/>
            <p:cNvSpPr/>
            <p:nvPr/>
          </p:nvSpPr>
          <p:spPr>
            <a:xfrm>
              <a:off x="2895600" y="2133601"/>
              <a:ext cx="2560637" cy="207433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3" name="矩形 22"/>
            <p:cNvSpPr/>
            <p:nvPr/>
          </p:nvSpPr>
          <p:spPr>
            <a:xfrm>
              <a:off x="2895600" y="4504267"/>
              <a:ext cx="2560637" cy="205316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grpSp>
        <p:nvGrpSpPr>
          <p:cNvPr id="24" name="组合 9"/>
          <p:cNvGrpSpPr>
            <a:grpSpLocks/>
          </p:cNvGrpSpPr>
          <p:nvPr/>
        </p:nvGrpSpPr>
        <p:grpSpPr bwMode="auto">
          <a:xfrm>
            <a:off x="5443538" y="3536950"/>
            <a:ext cx="1809750" cy="1520825"/>
            <a:chOff x="3267075" y="2414588"/>
            <a:chExt cx="1809750" cy="2028825"/>
          </a:xfrm>
        </p:grpSpPr>
        <p:pic>
          <p:nvPicPr>
            <p:cNvPr id="25" name="Picture 26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267075" y="2414588"/>
              <a:ext cx="1809750" cy="20288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6" name="矩形 25"/>
            <p:cNvSpPr/>
            <p:nvPr/>
          </p:nvSpPr>
          <p:spPr>
            <a:xfrm>
              <a:off x="3278187" y="2418824"/>
              <a:ext cx="1789113" cy="218131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3281362" y="4227400"/>
              <a:ext cx="1785938" cy="205424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微软雅黑" pitchFamily="34" charset="-122"/>
                <a:ea typeface="微软雅黑" pitchFamily="34" charset="-122"/>
              </a:endParaRPr>
            </a:p>
          </p:txBody>
        </p:sp>
      </p:grpSp>
      <p:pic>
        <p:nvPicPr>
          <p:cNvPr id="28" name="Picture 17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9210488" y="3883387"/>
            <a:ext cx="676275" cy="71438"/>
          </a:xfrm>
          <a:prstGeom prst="rect">
            <a:avLst/>
          </a:prstGeom>
          <a:gradFill flip="none" rotWithShape="1">
            <a:gsLst>
              <a:gs pos="0">
                <a:srgbClr val="4F81BD">
                  <a:tint val="66000"/>
                  <a:satMod val="160000"/>
                </a:srgbClr>
              </a:gs>
              <a:gs pos="50000">
                <a:srgbClr val="4F81BD">
                  <a:tint val="44500"/>
                  <a:satMod val="160000"/>
                </a:srgbClr>
              </a:gs>
              <a:gs pos="100000">
                <a:srgbClr val="4F81BD">
                  <a:tint val="23500"/>
                  <a:satMod val="160000"/>
                </a:srgbClr>
              </a:gs>
            </a:gsLst>
            <a:path path="circle">
              <a:fillToRect l="50000" t="50000" r="50000" b="50000"/>
            </a:path>
            <a:tileRect/>
          </a:gradFill>
          <a:ln w="9525">
            <a:noFill/>
            <a:miter lim="800000"/>
            <a:headEnd/>
            <a:tailEnd/>
          </a:ln>
          <a:effectLst/>
        </p:spPr>
      </p:pic>
      <p:pic>
        <p:nvPicPr>
          <p:cNvPr id="29" name="Picture 18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4027488"/>
            <a:ext cx="676275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" name="Picture 1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4165600"/>
            <a:ext cx="676275" cy="7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1" name="Picture 2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4294188"/>
            <a:ext cx="676275" cy="71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2" name="Picture 21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4325" y="4432300"/>
            <a:ext cx="676275" cy="7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3" name="Picture 2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4565650"/>
            <a:ext cx="676275" cy="7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4" name="Picture 23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10675" y="4708525"/>
            <a:ext cx="676275" cy="71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5" name="Picture 8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90963" y="4014788"/>
            <a:ext cx="171450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6" name="Picture 6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6788" y="3743325"/>
            <a:ext cx="4457700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7" name="Picture 7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57713" y="3917950"/>
            <a:ext cx="114300" cy="742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38" name="直接箭头连接符 91"/>
          <p:cNvCxnSpPr>
            <a:cxnSpLocks noChangeShapeType="1"/>
          </p:cNvCxnSpPr>
          <p:nvPr/>
        </p:nvCxnSpPr>
        <p:spPr bwMode="auto">
          <a:xfrm flipV="1">
            <a:off x="3662363" y="3959225"/>
            <a:ext cx="857250" cy="528638"/>
          </a:xfrm>
          <a:prstGeom prst="straightConnector1">
            <a:avLst/>
          </a:prstGeom>
          <a:noFill/>
          <a:ln w="19050" algn="ctr">
            <a:solidFill>
              <a:srgbClr val="9933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92"/>
          <p:cNvCxnSpPr>
            <a:cxnSpLocks noChangeShapeType="1"/>
          </p:cNvCxnSpPr>
          <p:nvPr/>
        </p:nvCxnSpPr>
        <p:spPr bwMode="auto">
          <a:xfrm>
            <a:off x="3624263" y="4073525"/>
            <a:ext cx="895350" cy="533400"/>
          </a:xfrm>
          <a:prstGeom prst="straightConnector1">
            <a:avLst/>
          </a:prstGeom>
          <a:noFill/>
          <a:ln w="19050" algn="ctr">
            <a:solidFill>
              <a:srgbClr val="993366"/>
            </a:solidFill>
            <a:round/>
            <a:headEnd/>
            <a:tailEnd type="arrow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40" name="Picture 9"/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2525" y="3813175"/>
            <a:ext cx="142875" cy="957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1" name="Picture 12"/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1438" y="3854450"/>
            <a:ext cx="247650" cy="885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2" name="任意多边形 41"/>
          <p:cNvSpPr/>
          <p:nvPr/>
        </p:nvSpPr>
        <p:spPr>
          <a:xfrm>
            <a:off x="5580063" y="3863975"/>
            <a:ext cx="2381250" cy="866775"/>
          </a:xfrm>
          <a:custGeom>
            <a:avLst/>
            <a:gdLst>
              <a:gd name="connsiteX0" fmla="*/ 6350 w 2381250"/>
              <a:gd name="connsiteY0" fmla="*/ 0 h 1155700"/>
              <a:gd name="connsiteX1" fmla="*/ 977900 w 2381250"/>
              <a:gd name="connsiteY1" fmla="*/ 0 h 1155700"/>
              <a:gd name="connsiteX2" fmla="*/ 1733550 w 2381250"/>
              <a:gd name="connsiteY2" fmla="*/ 215900 h 1155700"/>
              <a:gd name="connsiteX3" fmla="*/ 2374900 w 2381250"/>
              <a:gd name="connsiteY3" fmla="*/ 215900 h 1155700"/>
              <a:gd name="connsiteX4" fmla="*/ 2381250 w 2381250"/>
              <a:gd name="connsiteY4" fmla="*/ 920750 h 1155700"/>
              <a:gd name="connsiteX5" fmla="*/ 1727200 w 2381250"/>
              <a:gd name="connsiteY5" fmla="*/ 927100 h 1155700"/>
              <a:gd name="connsiteX6" fmla="*/ 965200 w 2381250"/>
              <a:gd name="connsiteY6" fmla="*/ 1155700 h 1155700"/>
              <a:gd name="connsiteX7" fmla="*/ 0 w 2381250"/>
              <a:gd name="connsiteY7" fmla="*/ 1155700 h 1155700"/>
              <a:gd name="connsiteX8" fmla="*/ 6350 w 2381250"/>
              <a:gd name="connsiteY8" fmla="*/ 0 h 1155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381250" h="1155700">
                <a:moveTo>
                  <a:pt x="6350" y="0"/>
                </a:moveTo>
                <a:lnTo>
                  <a:pt x="977900" y="0"/>
                </a:lnTo>
                <a:lnTo>
                  <a:pt x="1733550" y="215900"/>
                </a:lnTo>
                <a:lnTo>
                  <a:pt x="2374900" y="215900"/>
                </a:lnTo>
                <a:cubicBezTo>
                  <a:pt x="2377017" y="450850"/>
                  <a:pt x="2379133" y="685800"/>
                  <a:pt x="2381250" y="920750"/>
                </a:cubicBezTo>
                <a:lnTo>
                  <a:pt x="1727200" y="927100"/>
                </a:lnTo>
                <a:lnTo>
                  <a:pt x="965200" y="1155700"/>
                </a:lnTo>
                <a:lnTo>
                  <a:pt x="0" y="1155700"/>
                </a:lnTo>
                <a:cubicBezTo>
                  <a:pt x="2117" y="770467"/>
                  <a:pt x="4233" y="385233"/>
                  <a:pt x="6350" y="0"/>
                </a:cubicBezTo>
                <a:close/>
              </a:path>
            </a:pathLst>
          </a:custGeom>
          <a:solidFill>
            <a:srgbClr val="94B8E8"/>
          </a:soli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43" name="Picture 14"/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6400" y="4022725"/>
            <a:ext cx="238125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4" name="Picture 15"/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42313" y="4011613"/>
            <a:ext cx="762000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" name="Picture 1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9625" y="4108450"/>
            <a:ext cx="666750" cy="357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Box 31"/>
          <p:cNvSpPr txBox="1">
            <a:spLocks noChangeArrowheads="1"/>
          </p:cNvSpPr>
          <p:nvPr/>
        </p:nvSpPr>
        <p:spPr bwMode="auto">
          <a:xfrm>
            <a:off x="3275013" y="5240338"/>
            <a:ext cx="696912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光窗</a:t>
            </a:r>
          </a:p>
        </p:txBody>
      </p:sp>
      <p:cxnSp>
        <p:nvCxnSpPr>
          <p:cNvPr id="47" name="直接连接符 100"/>
          <p:cNvCxnSpPr>
            <a:cxnSpLocks noChangeShapeType="1"/>
          </p:cNvCxnSpPr>
          <p:nvPr/>
        </p:nvCxnSpPr>
        <p:spPr bwMode="auto">
          <a:xfrm flipH="1">
            <a:off x="3906838" y="4775200"/>
            <a:ext cx="860425" cy="519113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8" name="直接连接符 101"/>
          <p:cNvCxnSpPr>
            <a:cxnSpLocks noChangeShapeType="1"/>
          </p:cNvCxnSpPr>
          <p:nvPr/>
        </p:nvCxnSpPr>
        <p:spPr bwMode="auto">
          <a:xfrm rot="5400000">
            <a:off x="4485481" y="4299744"/>
            <a:ext cx="919163" cy="3175"/>
          </a:xfrm>
          <a:prstGeom prst="line">
            <a:avLst/>
          </a:prstGeom>
          <a:noFill/>
          <a:ln w="38100" algn="ctr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9" name="直接连接符 102"/>
          <p:cNvCxnSpPr>
            <a:cxnSpLocks noChangeShapeType="1"/>
          </p:cNvCxnSpPr>
          <p:nvPr/>
        </p:nvCxnSpPr>
        <p:spPr bwMode="auto">
          <a:xfrm rot="10800000">
            <a:off x="4283075" y="3617913"/>
            <a:ext cx="655638" cy="350837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0" name="直接连接符 103"/>
          <p:cNvCxnSpPr>
            <a:cxnSpLocks noChangeShapeType="1"/>
          </p:cNvCxnSpPr>
          <p:nvPr/>
        </p:nvCxnSpPr>
        <p:spPr bwMode="auto">
          <a:xfrm rot="16200000" flipH="1">
            <a:off x="4454526" y="3330575"/>
            <a:ext cx="501650" cy="663575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1" name="TextBox 36"/>
          <p:cNvSpPr txBox="1">
            <a:spLocks noChangeArrowheads="1"/>
          </p:cNvSpPr>
          <p:nvPr/>
        </p:nvSpPr>
        <p:spPr bwMode="auto">
          <a:xfrm>
            <a:off x="3427413" y="3497263"/>
            <a:ext cx="954087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信号极</a:t>
            </a:r>
          </a:p>
        </p:txBody>
      </p:sp>
      <p:sp>
        <p:nvSpPr>
          <p:cNvPr id="52" name="TextBox 37"/>
          <p:cNvSpPr txBox="1">
            <a:spLocks noChangeArrowheads="1"/>
          </p:cNvSpPr>
          <p:nvPr/>
        </p:nvSpPr>
        <p:spPr bwMode="auto">
          <a:xfrm>
            <a:off x="3981450" y="3198813"/>
            <a:ext cx="4413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靶</a:t>
            </a:r>
          </a:p>
        </p:txBody>
      </p:sp>
      <p:cxnSp>
        <p:nvCxnSpPr>
          <p:cNvPr id="53" name="直接连接符 106"/>
          <p:cNvCxnSpPr>
            <a:cxnSpLocks noChangeShapeType="1"/>
          </p:cNvCxnSpPr>
          <p:nvPr/>
        </p:nvCxnSpPr>
        <p:spPr bwMode="auto">
          <a:xfrm rot="16200000" flipH="1">
            <a:off x="4688682" y="3429794"/>
            <a:ext cx="604837" cy="358775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4" name="TextBox 39"/>
          <p:cNvSpPr txBox="1">
            <a:spLocks noChangeArrowheads="1"/>
          </p:cNvSpPr>
          <p:nvPr/>
        </p:nvSpPr>
        <p:spPr bwMode="auto">
          <a:xfrm>
            <a:off x="4337050" y="3040063"/>
            <a:ext cx="696913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靶网</a:t>
            </a:r>
          </a:p>
        </p:txBody>
      </p:sp>
      <p:cxnSp>
        <p:nvCxnSpPr>
          <p:cNvPr id="55" name="直接连接符 108"/>
          <p:cNvCxnSpPr>
            <a:cxnSpLocks noChangeShapeType="1"/>
          </p:cNvCxnSpPr>
          <p:nvPr/>
        </p:nvCxnSpPr>
        <p:spPr bwMode="auto">
          <a:xfrm rot="5400000">
            <a:off x="6119812" y="3282951"/>
            <a:ext cx="239713" cy="17462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6" name="直接连接符 109"/>
          <p:cNvCxnSpPr>
            <a:cxnSpLocks noChangeShapeType="1"/>
          </p:cNvCxnSpPr>
          <p:nvPr/>
        </p:nvCxnSpPr>
        <p:spPr bwMode="auto">
          <a:xfrm rot="16200000" flipH="1">
            <a:off x="6696869" y="3405982"/>
            <a:ext cx="382587" cy="635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57" name="直接连接符 110"/>
          <p:cNvCxnSpPr>
            <a:cxnSpLocks noChangeShapeType="1"/>
          </p:cNvCxnSpPr>
          <p:nvPr/>
        </p:nvCxnSpPr>
        <p:spPr bwMode="auto">
          <a:xfrm rot="16200000" flipH="1">
            <a:off x="7993856" y="3283744"/>
            <a:ext cx="258763" cy="34925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58" name="TextBox 43"/>
          <p:cNvSpPr txBox="1">
            <a:spLocks noChangeArrowheads="1"/>
          </p:cNvSpPr>
          <p:nvPr/>
        </p:nvSpPr>
        <p:spPr bwMode="auto">
          <a:xfrm>
            <a:off x="5462588" y="2828925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聚焦线圈</a:t>
            </a:r>
          </a:p>
        </p:txBody>
      </p:sp>
      <p:sp>
        <p:nvSpPr>
          <p:cNvPr id="59" name="TextBox 44"/>
          <p:cNvSpPr txBox="1">
            <a:spLocks noChangeArrowheads="1"/>
          </p:cNvSpPr>
          <p:nvPr/>
        </p:nvSpPr>
        <p:spPr bwMode="auto">
          <a:xfrm>
            <a:off x="6605588" y="2828925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偏转线圈</a:t>
            </a:r>
          </a:p>
        </p:txBody>
      </p:sp>
      <p:sp>
        <p:nvSpPr>
          <p:cNvPr id="60" name="TextBox 45"/>
          <p:cNvSpPr txBox="1">
            <a:spLocks noChangeArrowheads="1"/>
          </p:cNvSpPr>
          <p:nvPr/>
        </p:nvSpPr>
        <p:spPr bwMode="auto">
          <a:xfrm>
            <a:off x="7820025" y="2828925"/>
            <a:ext cx="12112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校正线圈</a:t>
            </a:r>
          </a:p>
        </p:txBody>
      </p:sp>
      <p:cxnSp>
        <p:nvCxnSpPr>
          <p:cNvPr id="61" name="直接连接符 114"/>
          <p:cNvCxnSpPr>
            <a:cxnSpLocks noChangeShapeType="1"/>
          </p:cNvCxnSpPr>
          <p:nvPr/>
        </p:nvCxnSpPr>
        <p:spPr bwMode="auto">
          <a:xfrm rot="16200000" flipH="1">
            <a:off x="5941219" y="5104607"/>
            <a:ext cx="790575" cy="33337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2" name="TextBox 47"/>
          <p:cNvSpPr txBox="1">
            <a:spLocks noChangeArrowheads="1"/>
          </p:cNvSpPr>
          <p:nvPr/>
        </p:nvSpPr>
        <p:spPr bwMode="auto">
          <a:xfrm>
            <a:off x="5402263" y="544988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聚焦电极</a:t>
            </a:r>
          </a:p>
        </p:txBody>
      </p:sp>
      <p:cxnSp>
        <p:nvCxnSpPr>
          <p:cNvPr id="63" name="直接连接符 116"/>
          <p:cNvCxnSpPr>
            <a:cxnSpLocks noChangeShapeType="1"/>
          </p:cNvCxnSpPr>
          <p:nvPr/>
        </p:nvCxnSpPr>
        <p:spPr bwMode="auto">
          <a:xfrm rot="5400000">
            <a:off x="7359650" y="4667251"/>
            <a:ext cx="873125" cy="64770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4" name="TextBox 49"/>
          <p:cNvSpPr txBox="1">
            <a:spLocks noChangeArrowheads="1"/>
          </p:cNvSpPr>
          <p:nvPr/>
        </p:nvSpPr>
        <p:spPr bwMode="auto">
          <a:xfrm>
            <a:off x="6697663" y="5368925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加速电极</a:t>
            </a:r>
          </a:p>
        </p:txBody>
      </p:sp>
      <p:cxnSp>
        <p:nvCxnSpPr>
          <p:cNvPr id="65" name="直接连接符 118"/>
          <p:cNvCxnSpPr>
            <a:cxnSpLocks noChangeShapeType="1"/>
          </p:cNvCxnSpPr>
          <p:nvPr/>
        </p:nvCxnSpPr>
        <p:spPr bwMode="auto">
          <a:xfrm rot="5400000">
            <a:off x="7946231" y="4964907"/>
            <a:ext cx="949325" cy="128588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6" name="TextBox 51"/>
          <p:cNvSpPr txBox="1">
            <a:spLocks noChangeArrowheads="1"/>
          </p:cNvSpPr>
          <p:nvPr/>
        </p:nvSpPr>
        <p:spPr bwMode="auto">
          <a:xfrm>
            <a:off x="7900988" y="5475288"/>
            <a:ext cx="12112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控制栅极</a:t>
            </a:r>
          </a:p>
        </p:txBody>
      </p:sp>
      <p:cxnSp>
        <p:nvCxnSpPr>
          <p:cNvPr id="67" name="直接连接符 120"/>
          <p:cNvCxnSpPr>
            <a:cxnSpLocks noChangeShapeType="1"/>
          </p:cNvCxnSpPr>
          <p:nvPr/>
        </p:nvCxnSpPr>
        <p:spPr bwMode="auto">
          <a:xfrm rot="16200000" flipH="1">
            <a:off x="8389938" y="4806950"/>
            <a:ext cx="771525" cy="60325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8" name="直接连接符 121"/>
          <p:cNvCxnSpPr>
            <a:cxnSpLocks noChangeShapeType="1"/>
          </p:cNvCxnSpPr>
          <p:nvPr/>
        </p:nvCxnSpPr>
        <p:spPr bwMode="auto">
          <a:xfrm rot="16200000" flipH="1">
            <a:off x="8724106" y="4520407"/>
            <a:ext cx="696913" cy="273050"/>
          </a:xfrm>
          <a:prstGeom prst="line">
            <a:avLst/>
          </a:prstGeom>
          <a:noFill/>
          <a:ln w="25400" algn="ctr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69" name="TextBox 54"/>
          <p:cNvSpPr txBox="1">
            <a:spLocks noChangeArrowheads="1"/>
          </p:cNvSpPr>
          <p:nvPr/>
        </p:nvSpPr>
        <p:spPr bwMode="auto">
          <a:xfrm>
            <a:off x="9013825" y="4967288"/>
            <a:ext cx="69691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灯丝</a:t>
            </a:r>
          </a:p>
        </p:txBody>
      </p:sp>
      <p:sp>
        <p:nvSpPr>
          <p:cNvPr id="70" name="TextBox 55"/>
          <p:cNvSpPr txBox="1">
            <a:spLocks noChangeArrowheads="1"/>
          </p:cNvSpPr>
          <p:nvPr/>
        </p:nvSpPr>
        <p:spPr bwMode="auto">
          <a:xfrm>
            <a:off x="8548688" y="5224463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热阴极</a:t>
            </a:r>
          </a:p>
        </p:txBody>
      </p:sp>
      <p:sp>
        <p:nvSpPr>
          <p:cNvPr id="71" name="圆角矩形 70"/>
          <p:cNvSpPr/>
          <p:nvPr/>
        </p:nvSpPr>
        <p:spPr>
          <a:xfrm>
            <a:off x="5319713" y="2689225"/>
            <a:ext cx="4719637" cy="3233738"/>
          </a:xfrm>
          <a:prstGeom prst="roundRect">
            <a:avLst/>
          </a:prstGeom>
          <a:noFill/>
          <a:ln w="31750" cap="flat" cmpd="sng" algn="ctr">
            <a:solidFill>
              <a:srgbClr val="0000CC"/>
            </a:solidFill>
            <a:prstDash val="dash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4676775" y="2689225"/>
            <a:ext cx="571500" cy="3108325"/>
          </a:xfrm>
          <a:prstGeom prst="rect">
            <a:avLst/>
          </a:prstGeom>
          <a:noFill/>
          <a:ln w="38100" cap="flat" cmpd="sng" algn="ctr">
            <a:solidFill>
              <a:srgbClr val="FF0000"/>
            </a:solidFill>
            <a:prstDash val="dash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3" name="TextBox 45"/>
          <p:cNvSpPr txBox="1">
            <a:spLocks noChangeArrowheads="1"/>
          </p:cNvSpPr>
          <p:nvPr/>
        </p:nvSpPr>
        <p:spPr bwMode="auto">
          <a:xfrm>
            <a:off x="7104063" y="5870575"/>
            <a:ext cx="1262062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电子枪</a:t>
            </a:r>
          </a:p>
        </p:txBody>
      </p:sp>
      <p:sp>
        <p:nvSpPr>
          <p:cNvPr id="74" name="TextBox 45"/>
          <p:cNvSpPr txBox="1">
            <a:spLocks noChangeArrowheads="1"/>
          </p:cNvSpPr>
          <p:nvPr/>
        </p:nvSpPr>
        <p:spPr bwMode="auto">
          <a:xfrm>
            <a:off x="4340225" y="5854700"/>
            <a:ext cx="12620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光电靶</a:t>
            </a:r>
          </a:p>
        </p:txBody>
      </p:sp>
      <p:sp>
        <p:nvSpPr>
          <p:cNvPr id="75" name="Text Box 4"/>
          <p:cNvSpPr txBox="1">
            <a:spLocks noChangeArrowheads="1"/>
          </p:cNvSpPr>
          <p:nvPr/>
        </p:nvSpPr>
        <p:spPr bwMode="auto">
          <a:xfrm>
            <a:off x="4090988" y="1400175"/>
            <a:ext cx="5429250" cy="585788"/>
          </a:xfrm>
          <a:prstGeom prst="rect">
            <a:avLst/>
          </a:prstGeom>
          <a:gradFill>
            <a:gsLst>
              <a:gs pos="0">
                <a:srgbClr val="F79646"/>
              </a:gs>
              <a:gs pos="50000">
                <a:srgbClr val="4F81BD">
                  <a:tint val="44500"/>
                  <a:satMod val="160000"/>
                </a:srgbClr>
              </a:gs>
              <a:gs pos="100000">
                <a:srgbClr val="4F81BD">
                  <a:tint val="23500"/>
                  <a:satMod val="160000"/>
                </a:srgb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32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1.</a:t>
            </a:r>
            <a:r>
              <a:rPr kumimoji="1" lang="zh-CN" altLang="en-US" sz="3200" b="1" kern="0" dirty="0">
                <a:solidFill>
                  <a:srgbClr val="0000CC"/>
                </a:solidFill>
                <a:latin typeface="微软雅黑" pitchFamily="34" charset="-122"/>
                <a:ea typeface="微软雅黑" pitchFamily="34" charset="-122"/>
                <a:cs typeface="Times New Roman" pitchFamily="18" charset="0"/>
              </a:rPr>
              <a:t>光电导摄像管的基本结构</a:t>
            </a:r>
          </a:p>
        </p:txBody>
      </p:sp>
      <p:sp>
        <p:nvSpPr>
          <p:cNvPr id="7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7" name="矩形 76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8" name="矩形 7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8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矩形 8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82" name="矩形 8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14"/>
          <p:cNvSpPr txBox="1">
            <a:spLocks noChangeArrowheads="1"/>
          </p:cNvSpPr>
          <p:nvPr/>
        </p:nvSpPr>
        <p:spPr bwMode="auto">
          <a:xfrm>
            <a:off x="1857375" y="4754563"/>
            <a:ext cx="15652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62050" indent="-11620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电子枪：</a:t>
            </a:r>
            <a:endParaRPr kumimoji="1"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Text Box 14"/>
          <p:cNvSpPr txBox="1">
            <a:spLocks noChangeArrowheads="1"/>
          </p:cNvSpPr>
          <p:nvPr/>
        </p:nvSpPr>
        <p:spPr bwMode="auto">
          <a:xfrm>
            <a:off x="1797050" y="2220913"/>
            <a:ext cx="1565275" cy="739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162050" indent="-1162050"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光电靶：</a:t>
            </a:r>
            <a:endParaRPr kumimoji="1" lang="zh-CN" altLang="en-US" sz="28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76" name="矩形 1"/>
          <p:cNvSpPr>
            <a:spLocks noChangeArrowheads="1"/>
          </p:cNvSpPr>
          <p:nvPr/>
        </p:nvSpPr>
        <p:spPr bwMode="auto">
          <a:xfrm>
            <a:off x="3692525" y="1654175"/>
            <a:ext cx="7662863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靶面的光敏层可进行光电转换，它的轴向电阻小， 横向电阻大，有利于保持光电转换形成的电量潜象，并在扫描周期内实现积分存储。</a:t>
            </a:r>
          </a:p>
        </p:txBody>
      </p:sp>
      <p:sp>
        <p:nvSpPr>
          <p:cNvPr id="7177" name="矩形 2"/>
          <p:cNvSpPr>
            <a:spLocks noChangeArrowheads="1"/>
          </p:cNvSpPr>
          <p:nvPr/>
        </p:nvSpPr>
        <p:spPr bwMode="auto">
          <a:xfrm>
            <a:off x="3692525" y="4530725"/>
            <a:ext cx="7891463" cy="138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latin typeface="微软雅黑" panose="020B0503020204020204" pitchFamily="34" charset="-122"/>
                <a:ea typeface="微软雅黑" panose="020B0503020204020204" pitchFamily="34" charset="-122"/>
              </a:rPr>
              <a:t>产生热电子，并使它聚焦成很细的电子射线，按着一定的轨迹扫描靶面。</a:t>
            </a:r>
          </a:p>
        </p:txBody>
      </p:sp>
      <p:sp>
        <p:nvSpPr>
          <p:cNvPr id="21" name="矩形 20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3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7176" grpId="0"/>
      <p:bldP spid="717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 bwMode="auto">
          <a:xfrm>
            <a:off x="9980613" y="3363913"/>
            <a:ext cx="571500" cy="2249487"/>
          </a:xfrm>
          <a:prstGeom prst="rect">
            <a:avLst/>
          </a:prstGeom>
          <a:solidFill>
            <a:srgbClr val="0000CC"/>
          </a:solidFill>
          <a:ln w="9525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 kern="0">
              <a:solidFill>
                <a:prstClr val="black"/>
              </a:solidFill>
              <a:latin typeface="Calibri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28" name="矩形 27"/>
          <p:cNvSpPr>
            <a:spLocks noChangeArrowheads="1"/>
          </p:cNvSpPr>
          <p:nvPr/>
        </p:nvSpPr>
        <p:spPr bwMode="auto">
          <a:xfrm>
            <a:off x="9266238" y="3363913"/>
            <a:ext cx="428625" cy="2249487"/>
          </a:xfrm>
          <a:prstGeom prst="rect">
            <a:avLst/>
          </a:prstGeom>
          <a:solidFill>
            <a:srgbClr val="00FFFF"/>
          </a:solidFill>
          <a:ln w="9525" algn="ctr">
            <a:solidFill>
              <a:srgbClr val="00FFFF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endParaRPr lang="zh-CN" altLang="en-US" sz="2800" b="1">
              <a:solidFill>
                <a:srgbClr val="000000"/>
              </a:solidFill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/>
          <p:cNvSpPr/>
          <p:nvPr/>
        </p:nvSpPr>
        <p:spPr bwMode="auto">
          <a:xfrm>
            <a:off x="9694863" y="3363913"/>
            <a:ext cx="142875" cy="2249487"/>
          </a:xfrm>
          <a:prstGeom prst="rect">
            <a:avLst/>
          </a:prstGeom>
          <a:solidFill>
            <a:srgbClr val="F79646">
              <a:lumMod val="75000"/>
            </a:srgbClr>
          </a:solidFill>
          <a:ln w="9525" cap="flat" cmpd="sng" algn="ctr">
            <a:solidFill>
              <a:srgbClr val="8064A2">
                <a:lumMod val="50000"/>
                <a:lumOff val="5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 kern="0">
              <a:solidFill>
                <a:prstClr val="black"/>
              </a:solidFill>
              <a:latin typeface="Calibri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0" name="矩形 29"/>
          <p:cNvSpPr/>
          <p:nvPr/>
        </p:nvSpPr>
        <p:spPr bwMode="auto">
          <a:xfrm>
            <a:off x="9837738" y="3363913"/>
            <a:ext cx="142875" cy="2249487"/>
          </a:xfrm>
          <a:prstGeom prst="rect">
            <a:avLst/>
          </a:prstGeom>
          <a:solidFill>
            <a:srgbClr val="006600"/>
          </a:solidFill>
          <a:ln w="9525" cap="flat" cmpd="sng" algn="ctr">
            <a:solidFill>
              <a:srgbClr val="1F497D">
                <a:lumMod val="40000"/>
                <a:lumOff val="60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800" b="1" kern="0">
              <a:solidFill>
                <a:prstClr val="black"/>
              </a:solidFill>
              <a:latin typeface="Calibri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1" name="矩形 30"/>
          <p:cNvSpPr>
            <a:spLocks noChangeArrowheads="1"/>
          </p:cNvSpPr>
          <p:nvPr/>
        </p:nvSpPr>
        <p:spPr bwMode="auto">
          <a:xfrm>
            <a:off x="10552113" y="3363913"/>
            <a:ext cx="285750" cy="2249487"/>
          </a:xfrm>
          <a:prstGeom prst="rect">
            <a:avLst/>
          </a:prstGeom>
          <a:solidFill>
            <a:srgbClr val="FFFF00"/>
          </a:solidFill>
          <a:ln w="9525" algn="ctr">
            <a:solidFill>
              <a:srgbClr val="FFFF00"/>
            </a:solidFill>
            <a:round/>
            <a:headEnd/>
            <a:tailEnd/>
          </a:ln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endParaRPr lang="zh-CN" altLang="en-US" sz="2800" b="1">
              <a:solidFill>
                <a:srgbClr val="000000"/>
              </a:solidFill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6"/>
          <p:cNvSpPr txBox="1">
            <a:spLocks noChangeArrowheads="1"/>
          </p:cNvSpPr>
          <p:nvPr/>
        </p:nvSpPr>
        <p:spPr bwMode="auto">
          <a:xfrm>
            <a:off x="9069388" y="2355850"/>
            <a:ext cx="857250" cy="730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玻璃面板</a:t>
            </a:r>
          </a:p>
        </p:txBody>
      </p:sp>
      <p:sp>
        <p:nvSpPr>
          <p:cNvPr id="33" name="TextBox 37"/>
          <p:cNvSpPr txBox="1">
            <a:spLocks noChangeArrowheads="1"/>
          </p:cNvSpPr>
          <p:nvPr/>
        </p:nvSpPr>
        <p:spPr bwMode="auto">
          <a:xfrm>
            <a:off x="8694738" y="5980113"/>
            <a:ext cx="128587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信号板</a:t>
            </a:r>
          </a:p>
        </p:txBody>
      </p:sp>
      <p:sp>
        <p:nvSpPr>
          <p:cNvPr id="34" name="TextBox 38"/>
          <p:cNvSpPr txBox="1">
            <a:spLocks noChangeArrowheads="1"/>
          </p:cNvSpPr>
          <p:nvPr/>
        </p:nvSpPr>
        <p:spPr bwMode="auto">
          <a:xfrm>
            <a:off x="9909175" y="5935663"/>
            <a:ext cx="10001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800" b="1" baseline="3000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+</a:t>
            </a:r>
            <a:r>
              <a:rPr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-Si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TextBox 39"/>
          <p:cNvSpPr txBox="1">
            <a:spLocks noChangeArrowheads="1"/>
          </p:cNvSpPr>
          <p:nvPr/>
        </p:nvSpPr>
        <p:spPr bwMode="auto">
          <a:xfrm>
            <a:off x="9980613" y="2581275"/>
            <a:ext cx="1000125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N-Si</a:t>
            </a:r>
            <a:endParaRPr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6" name="TextBox 40"/>
          <p:cNvSpPr txBox="1">
            <a:spLocks noChangeArrowheads="1"/>
          </p:cNvSpPr>
          <p:nvPr/>
        </p:nvSpPr>
        <p:spPr bwMode="auto">
          <a:xfrm>
            <a:off x="10837863" y="5935663"/>
            <a:ext cx="1000125" cy="430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SiO</a:t>
            </a:r>
            <a:r>
              <a:rPr lang="en-US" altLang="zh-CN" sz="2800" b="1" baseline="-25000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endParaRPr lang="zh-CN" altLang="en-US" sz="2800" b="1">
              <a:solidFill>
                <a:srgbClr val="0000CC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7" name="直接箭头连接符 36"/>
          <p:cNvCxnSpPr>
            <a:cxnSpLocks noChangeShapeType="1"/>
            <a:endCxn id="28" idx="0"/>
          </p:cNvCxnSpPr>
          <p:nvPr/>
        </p:nvCxnSpPr>
        <p:spPr bwMode="auto">
          <a:xfrm rot="5400000">
            <a:off x="9347200" y="3228975"/>
            <a:ext cx="268288" cy="1588"/>
          </a:xfrm>
          <a:prstGeom prst="straightConnector1">
            <a:avLst/>
          </a:prstGeom>
          <a:noFill/>
          <a:ln w="50800" algn="ctr">
            <a:solidFill>
              <a:srgbClr val="00FF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8" name="直接箭头连接符 37"/>
          <p:cNvCxnSpPr>
            <a:cxnSpLocks noChangeShapeType="1"/>
          </p:cNvCxnSpPr>
          <p:nvPr/>
        </p:nvCxnSpPr>
        <p:spPr bwMode="auto">
          <a:xfrm rot="5400000">
            <a:off x="10124281" y="3148807"/>
            <a:ext cx="428625" cy="1588"/>
          </a:xfrm>
          <a:prstGeom prst="straightConnector1">
            <a:avLst/>
          </a:prstGeom>
          <a:noFill/>
          <a:ln w="50800" algn="ctr">
            <a:solidFill>
              <a:srgbClr val="0066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9" name="直接箭头连接符 38"/>
          <p:cNvCxnSpPr>
            <a:cxnSpLocks noChangeShapeType="1"/>
          </p:cNvCxnSpPr>
          <p:nvPr/>
        </p:nvCxnSpPr>
        <p:spPr bwMode="auto">
          <a:xfrm rot="5400000" flipH="1" flipV="1">
            <a:off x="9534525" y="5702300"/>
            <a:ext cx="322263" cy="144463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0" name="直接箭头连接符 39"/>
          <p:cNvCxnSpPr>
            <a:cxnSpLocks noChangeShapeType="1"/>
          </p:cNvCxnSpPr>
          <p:nvPr/>
        </p:nvCxnSpPr>
        <p:spPr bwMode="auto">
          <a:xfrm rot="16200000" flipV="1">
            <a:off x="9898857" y="5623718"/>
            <a:ext cx="368300" cy="347663"/>
          </a:xfrm>
          <a:prstGeom prst="straightConnector1">
            <a:avLst/>
          </a:prstGeom>
          <a:noFill/>
          <a:ln w="50800" algn="ctr">
            <a:solidFill>
              <a:srgbClr val="0066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1" name="直接箭头连接符 40"/>
          <p:cNvCxnSpPr>
            <a:cxnSpLocks noChangeShapeType="1"/>
          </p:cNvCxnSpPr>
          <p:nvPr/>
        </p:nvCxnSpPr>
        <p:spPr bwMode="auto">
          <a:xfrm rot="16200000" flipV="1">
            <a:off x="10756107" y="5623718"/>
            <a:ext cx="368300" cy="347663"/>
          </a:xfrm>
          <a:prstGeom prst="straightConnector1">
            <a:avLst/>
          </a:prstGeom>
          <a:noFill/>
          <a:ln w="50800" algn="ctr">
            <a:solidFill>
              <a:srgbClr val="0066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2" name="Text Box 5"/>
          <p:cNvSpPr txBox="1">
            <a:spLocks noChangeArrowheads="1"/>
          </p:cNvSpPr>
          <p:nvPr/>
        </p:nvSpPr>
        <p:spPr bwMode="auto">
          <a:xfrm>
            <a:off x="1628775" y="2038350"/>
            <a:ext cx="33305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(1) </a:t>
            </a:r>
            <a:r>
              <a:rPr kumimoji="1" lang="zh-CN" altLang="en-US" sz="2800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硅靶结构图</a:t>
            </a:r>
          </a:p>
        </p:txBody>
      </p:sp>
      <p:sp>
        <p:nvSpPr>
          <p:cNvPr id="43" name="TextBox 57"/>
          <p:cNvSpPr txBox="1">
            <a:spLocks noChangeArrowheads="1"/>
          </p:cNvSpPr>
          <p:nvPr/>
        </p:nvSpPr>
        <p:spPr bwMode="auto">
          <a:xfrm>
            <a:off x="1369221" y="3016864"/>
            <a:ext cx="6684962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eaLnBrk="1" hangingPunct="1">
              <a:lnSpc>
                <a:spcPct val="15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窗口玻璃内表面涂有一层很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薄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的既可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透光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又可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导电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的金属膜，在它上面接有引线可</a:t>
            </a:r>
            <a:r>
              <a:rPr kumimoji="1" lang="zh-CN" altLang="en-US" sz="24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同负载相连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44" name="Text Box 4"/>
          <p:cNvSpPr txBox="1">
            <a:spLocks noChangeArrowheads="1"/>
          </p:cNvSpPr>
          <p:nvPr/>
        </p:nvSpPr>
        <p:spPr bwMode="auto">
          <a:xfrm>
            <a:off x="4970463" y="1243013"/>
            <a:ext cx="3143250" cy="585787"/>
          </a:xfrm>
          <a:prstGeom prst="rect">
            <a:avLst/>
          </a:prstGeom>
          <a:gradFill>
            <a:gsLst>
              <a:gs pos="0">
                <a:srgbClr val="F79646"/>
              </a:gs>
              <a:gs pos="50000">
                <a:srgbClr val="4F81BD">
                  <a:tint val="44500"/>
                  <a:satMod val="160000"/>
                </a:srgbClr>
              </a:gs>
              <a:gs pos="100000">
                <a:srgbClr val="4F81BD">
                  <a:tint val="23500"/>
                  <a:satMod val="160000"/>
                </a:srgbClr>
              </a:gs>
            </a:gsLst>
            <a:lin ang="5400000" scaled="0"/>
          </a:gra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eaLnBrk="1" fontAlgn="auto" hangingPunct="1">
              <a:spcBef>
                <a:spcPct val="50000"/>
              </a:spcBef>
              <a:spcAft>
                <a:spcPts val="0"/>
              </a:spcAft>
              <a:defRPr/>
            </a:pPr>
            <a:r>
              <a:rPr kumimoji="1" lang="en-US" altLang="zh-CN" sz="3200" b="1" kern="0" dirty="0">
                <a:solidFill>
                  <a:srgbClr val="0000CC"/>
                </a:solidFill>
                <a:latin typeface="Calibri" pitchFamily="34" charset="0"/>
                <a:ea typeface="微软雅黑" pitchFamily="34" charset="-122"/>
                <a:cs typeface="Times New Roman" pitchFamily="18" charset="0"/>
              </a:rPr>
              <a:t>2.</a:t>
            </a:r>
            <a:r>
              <a:rPr kumimoji="1" lang="zh-CN" altLang="en-US" sz="3200" b="1" kern="0" dirty="0">
                <a:solidFill>
                  <a:srgbClr val="0000CC"/>
                </a:solidFill>
                <a:latin typeface="Calibri" pitchFamily="34" charset="0"/>
                <a:ea typeface="微软雅黑" pitchFamily="34" charset="-122"/>
                <a:cs typeface="Times New Roman" pitchFamily="18" charset="0"/>
              </a:rPr>
              <a:t>硅靶摄像管 </a:t>
            </a:r>
          </a:p>
        </p:txBody>
      </p:sp>
      <p:sp>
        <p:nvSpPr>
          <p:cNvPr id="45" name="TextBox 61"/>
          <p:cNvSpPr txBox="1">
            <a:spLocks noChangeArrowheads="1"/>
          </p:cNvSpPr>
          <p:nvPr/>
        </p:nvSpPr>
        <p:spPr bwMode="auto">
          <a:xfrm>
            <a:off x="1370014" y="5045968"/>
            <a:ext cx="6684169" cy="1200329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just" defTabSz="914400" eaLnBrk="1" hangingPunct="1">
              <a:lnSpc>
                <a:spcPct val="150000"/>
              </a:lnSpc>
            </a:pP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硅片朝着电子枪一边的表面，先生成一层氧化层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(SiO</a:t>
            </a:r>
            <a:r>
              <a:rPr kumimoji="1" lang="en-US" altLang="zh-CN" sz="24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2400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6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1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9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  <p:bldP spid="30" grpId="0" animBg="1"/>
      <p:bldP spid="31" grpId="0" animBg="1"/>
      <p:bldP spid="32" grpId="0"/>
      <p:bldP spid="33" grpId="0"/>
      <p:bldP spid="34" grpId="0"/>
      <p:bldP spid="35" grpId="0"/>
      <p:bldP spid="36" grpId="0"/>
      <p:bldP spid="42" grpId="0"/>
      <p:bldP spid="43" grpId="0" animBg="1"/>
      <p:bldP spid="44" grpId="0" animBg="1"/>
      <p:bldP spid="4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26"/>
          <p:cNvGrpSpPr>
            <a:grpSpLocks/>
          </p:cNvGrpSpPr>
          <p:nvPr/>
        </p:nvGrpSpPr>
        <p:grpSpPr bwMode="auto">
          <a:xfrm>
            <a:off x="2011363" y="2163763"/>
            <a:ext cx="1928812" cy="3375025"/>
            <a:chOff x="2143109" y="1357298"/>
            <a:chExt cx="1928827" cy="4500594"/>
          </a:xfrm>
        </p:grpSpPr>
        <p:sp>
          <p:nvSpPr>
            <p:cNvPr id="9" name="矩形 8"/>
            <p:cNvSpPr>
              <a:spLocks noChangeAspect="1"/>
            </p:cNvSpPr>
            <p:nvPr/>
          </p:nvSpPr>
          <p:spPr bwMode="auto">
            <a:xfrm>
              <a:off x="2857490" y="1357298"/>
              <a:ext cx="857257" cy="4500594"/>
            </a:xfrm>
            <a:prstGeom prst="rect">
              <a:avLst/>
            </a:prstGeom>
            <a:solidFill>
              <a:srgbClr val="0000CC"/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>
                <a:latin typeface="+mn-lt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9253" name="矩形 2"/>
            <p:cNvSpPr>
              <a:spLocks noChangeAspect="1"/>
            </p:cNvSpPr>
            <p:nvPr/>
          </p:nvSpPr>
          <p:spPr bwMode="auto">
            <a:xfrm>
              <a:off x="2143109" y="1357298"/>
              <a:ext cx="642939" cy="4500594"/>
            </a:xfrm>
            <a:prstGeom prst="rect">
              <a:avLst/>
            </a:prstGeom>
            <a:solidFill>
              <a:srgbClr val="00FFFF"/>
            </a:solidFill>
            <a:ln w="9525" algn="ctr">
              <a:solidFill>
                <a:srgbClr val="00FFFF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1" name="矩形 10"/>
            <p:cNvSpPr>
              <a:spLocks noChangeAspect="1"/>
            </p:cNvSpPr>
            <p:nvPr/>
          </p:nvSpPr>
          <p:spPr bwMode="auto">
            <a:xfrm>
              <a:off x="2571737" y="1357298"/>
              <a:ext cx="214314" cy="4500594"/>
            </a:xfrm>
            <a:prstGeom prst="rect">
              <a:avLst/>
            </a:prstGeom>
            <a:solidFill>
              <a:srgbClr val="FFC000"/>
            </a:solidFill>
            <a:ln w="9525" cap="flat" cmpd="sng" algn="ctr">
              <a:solidFill>
                <a:schemeClr val="accent4">
                  <a:lumMod val="50000"/>
                  <a:lumOff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>
                <a:latin typeface="+mn-lt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2" name="矩形 11"/>
            <p:cNvSpPr>
              <a:spLocks noChangeAspect="1"/>
            </p:cNvSpPr>
            <p:nvPr/>
          </p:nvSpPr>
          <p:spPr bwMode="auto">
            <a:xfrm>
              <a:off x="2714613" y="1357298"/>
              <a:ext cx="214314" cy="4500594"/>
            </a:xfrm>
            <a:prstGeom prst="rect">
              <a:avLst/>
            </a:prstGeom>
            <a:solidFill>
              <a:srgbClr val="006600"/>
            </a:solidFill>
            <a:ln w="9525" cap="flat" cmpd="sng" algn="ctr">
              <a:solidFill>
                <a:schemeClr val="tx2">
                  <a:lumMod val="40000"/>
                  <a:lumOff val="60000"/>
                </a:scheme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800" b="1">
                <a:latin typeface="+mn-lt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9256" name="矩形 5"/>
            <p:cNvSpPr>
              <a:spLocks noChangeAspect="1"/>
            </p:cNvSpPr>
            <p:nvPr/>
          </p:nvSpPr>
          <p:spPr bwMode="auto">
            <a:xfrm>
              <a:off x="3643306" y="1357298"/>
              <a:ext cx="428630" cy="4500594"/>
            </a:xfrm>
            <a:prstGeom prst="rect">
              <a:avLst/>
            </a:prstGeom>
            <a:solidFill>
              <a:srgbClr val="FFFF00"/>
            </a:solidFill>
            <a:ln w="9525" algn="ctr">
              <a:solidFill>
                <a:srgbClr val="FF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4" name="组合 28"/>
          <p:cNvGrpSpPr>
            <a:grpSpLocks/>
          </p:cNvGrpSpPr>
          <p:nvPr/>
        </p:nvGrpSpPr>
        <p:grpSpPr bwMode="auto">
          <a:xfrm>
            <a:off x="3087688" y="2538413"/>
            <a:ext cx="863600" cy="2892425"/>
            <a:chOff x="5429256" y="1643050"/>
            <a:chExt cx="864323" cy="3857653"/>
          </a:xfrm>
        </p:grpSpPr>
        <p:sp>
          <p:nvSpPr>
            <p:cNvPr id="9247" name="矩形 7"/>
            <p:cNvSpPr>
              <a:spLocks noChangeArrowheads="1"/>
            </p:cNvSpPr>
            <p:nvPr/>
          </p:nvSpPr>
          <p:spPr bwMode="auto">
            <a:xfrm>
              <a:off x="5429256" y="1643050"/>
              <a:ext cx="857254" cy="4286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8" name="矩形 8"/>
            <p:cNvSpPr>
              <a:spLocks noChangeArrowheads="1"/>
            </p:cNvSpPr>
            <p:nvPr/>
          </p:nvSpPr>
          <p:spPr bwMode="auto">
            <a:xfrm>
              <a:off x="5429256" y="2500306"/>
              <a:ext cx="857254" cy="4286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9" name="矩形 9"/>
            <p:cNvSpPr>
              <a:spLocks noChangeArrowheads="1"/>
            </p:cNvSpPr>
            <p:nvPr/>
          </p:nvSpPr>
          <p:spPr bwMode="auto">
            <a:xfrm>
              <a:off x="5429256" y="3357562"/>
              <a:ext cx="857254" cy="4286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50" name="矩形 10"/>
            <p:cNvSpPr>
              <a:spLocks noChangeArrowheads="1"/>
            </p:cNvSpPr>
            <p:nvPr/>
          </p:nvSpPr>
          <p:spPr bwMode="auto">
            <a:xfrm>
              <a:off x="5436325" y="4214819"/>
              <a:ext cx="857254" cy="4286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51" name="矩形 11"/>
            <p:cNvSpPr>
              <a:spLocks noChangeArrowheads="1"/>
            </p:cNvSpPr>
            <p:nvPr/>
          </p:nvSpPr>
          <p:spPr bwMode="auto">
            <a:xfrm>
              <a:off x="5429256" y="5072075"/>
              <a:ext cx="857254" cy="428628"/>
            </a:xfrm>
            <a:prstGeom prst="rect">
              <a:avLst/>
            </a:prstGeom>
            <a:solidFill>
              <a:schemeClr val="bg1"/>
            </a:solidFill>
            <a:ln w="9525" algn="ctr">
              <a:solidFill>
                <a:schemeClr val="bg1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0" name="组合 12"/>
          <p:cNvGrpSpPr>
            <a:grpSpLocks noChangeAspect="1"/>
          </p:cNvGrpSpPr>
          <p:nvPr/>
        </p:nvGrpSpPr>
        <p:grpSpPr bwMode="auto">
          <a:xfrm>
            <a:off x="3079750" y="2538413"/>
            <a:ext cx="428625" cy="2892425"/>
            <a:chOff x="4286248" y="2357430"/>
            <a:chExt cx="285752" cy="2571768"/>
          </a:xfrm>
        </p:grpSpPr>
        <p:sp>
          <p:nvSpPr>
            <p:cNvPr id="9242" name="矩形 13"/>
            <p:cNvSpPr>
              <a:spLocks noChangeArrowheads="1"/>
            </p:cNvSpPr>
            <p:nvPr/>
          </p:nvSpPr>
          <p:spPr bwMode="auto">
            <a:xfrm>
              <a:off x="4286248" y="2357430"/>
              <a:ext cx="285752" cy="28575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3" name="矩形 14"/>
            <p:cNvSpPr>
              <a:spLocks noChangeArrowheads="1"/>
            </p:cNvSpPr>
            <p:nvPr/>
          </p:nvSpPr>
          <p:spPr bwMode="auto">
            <a:xfrm>
              <a:off x="4286248" y="2928934"/>
              <a:ext cx="285752" cy="28575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4" name="矩形 15"/>
            <p:cNvSpPr>
              <a:spLocks noChangeArrowheads="1"/>
            </p:cNvSpPr>
            <p:nvPr/>
          </p:nvSpPr>
          <p:spPr bwMode="auto">
            <a:xfrm>
              <a:off x="4286248" y="4071942"/>
              <a:ext cx="285752" cy="28575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5" name="矩形 16"/>
            <p:cNvSpPr>
              <a:spLocks noChangeArrowheads="1"/>
            </p:cNvSpPr>
            <p:nvPr/>
          </p:nvSpPr>
          <p:spPr bwMode="auto">
            <a:xfrm>
              <a:off x="4286248" y="3500438"/>
              <a:ext cx="285752" cy="28575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6" name="矩形 17"/>
            <p:cNvSpPr>
              <a:spLocks noChangeArrowheads="1"/>
            </p:cNvSpPr>
            <p:nvPr/>
          </p:nvSpPr>
          <p:spPr bwMode="auto">
            <a:xfrm>
              <a:off x="4286248" y="4643446"/>
              <a:ext cx="285752" cy="285752"/>
            </a:xfrm>
            <a:prstGeom prst="rect">
              <a:avLst/>
            </a:prstGeom>
            <a:solidFill>
              <a:srgbClr val="FF0000"/>
            </a:solidFill>
            <a:ln w="9525" algn="ctr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grpSp>
        <p:nvGrpSpPr>
          <p:cNvPr id="26" name="组合 18"/>
          <p:cNvGrpSpPr>
            <a:grpSpLocks noChangeAspect="1"/>
          </p:cNvGrpSpPr>
          <p:nvPr/>
        </p:nvGrpSpPr>
        <p:grpSpPr bwMode="auto">
          <a:xfrm>
            <a:off x="3522663" y="2538413"/>
            <a:ext cx="428625" cy="2892425"/>
            <a:chOff x="7215206" y="3500438"/>
            <a:chExt cx="285752" cy="2571768"/>
          </a:xfrm>
        </p:grpSpPr>
        <p:sp>
          <p:nvSpPr>
            <p:cNvPr id="9237" name="矩形 19"/>
            <p:cNvSpPr>
              <a:spLocks noChangeArrowheads="1"/>
            </p:cNvSpPr>
            <p:nvPr/>
          </p:nvSpPr>
          <p:spPr bwMode="auto">
            <a:xfrm>
              <a:off x="7215206" y="3500438"/>
              <a:ext cx="285752" cy="285752"/>
            </a:xfrm>
            <a:prstGeom prst="rect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38" name="矩形 20"/>
            <p:cNvSpPr>
              <a:spLocks noChangeArrowheads="1"/>
            </p:cNvSpPr>
            <p:nvPr/>
          </p:nvSpPr>
          <p:spPr bwMode="auto">
            <a:xfrm>
              <a:off x="7215206" y="4071942"/>
              <a:ext cx="285752" cy="285752"/>
            </a:xfrm>
            <a:prstGeom prst="rect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39" name="矩形 21"/>
            <p:cNvSpPr>
              <a:spLocks noChangeArrowheads="1"/>
            </p:cNvSpPr>
            <p:nvPr/>
          </p:nvSpPr>
          <p:spPr bwMode="auto">
            <a:xfrm>
              <a:off x="7215206" y="5214950"/>
              <a:ext cx="285752" cy="285752"/>
            </a:xfrm>
            <a:prstGeom prst="rect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0" name="矩形 22"/>
            <p:cNvSpPr>
              <a:spLocks noChangeArrowheads="1"/>
            </p:cNvSpPr>
            <p:nvPr/>
          </p:nvSpPr>
          <p:spPr bwMode="auto">
            <a:xfrm>
              <a:off x="7215206" y="4643446"/>
              <a:ext cx="285752" cy="285752"/>
            </a:xfrm>
            <a:prstGeom prst="rect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9241" name="矩形 23"/>
            <p:cNvSpPr>
              <a:spLocks noChangeArrowheads="1"/>
            </p:cNvSpPr>
            <p:nvPr/>
          </p:nvSpPr>
          <p:spPr bwMode="auto">
            <a:xfrm>
              <a:off x="7215206" y="5786454"/>
              <a:ext cx="285752" cy="285752"/>
            </a:xfrm>
            <a:prstGeom prst="rect">
              <a:avLst/>
            </a:prstGeom>
            <a:solidFill>
              <a:srgbClr val="00FF00"/>
            </a:solidFill>
            <a:ln w="9525" algn="ctr">
              <a:solidFill>
                <a:srgbClr val="00FF00"/>
              </a:solidFill>
              <a:round/>
              <a:headEnd/>
              <a:tailEnd/>
            </a:ln>
          </p:spPr>
          <p:txBody>
            <a:bodyPr/>
            <a:lstStyle/>
            <a:p>
              <a:pPr eaLnBrk="1" hangingPunct="1"/>
              <a:endParaRPr lang="zh-CN" altLang="en-US" sz="2800" b="1"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</p:grpSp>
      <p:sp>
        <p:nvSpPr>
          <p:cNvPr id="32" name="TextBox 27"/>
          <p:cNvSpPr txBox="1">
            <a:spLocks noChangeArrowheads="1"/>
          </p:cNvSpPr>
          <p:nvPr/>
        </p:nvSpPr>
        <p:spPr bwMode="auto">
          <a:xfrm>
            <a:off x="2735263" y="1624013"/>
            <a:ext cx="10715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光刻</a:t>
            </a:r>
          </a:p>
        </p:txBody>
      </p:sp>
      <p:cxnSp>
        <p:nvCxnSpPr>
          <p:cNvPr id="33" name="直接箭头连接符 32"/>
          <p:cNvCxnSpPr>
            <a:cxnSpLocks noChangeShapeType="1"/>
          </p:cNvCxnSpPr>
          <p:nvPr/>
        </p:nvCxnSpPr>
        <p:spPr bwMode="auto">
          <a:xfrm rot="5400000">
            <a:off x="3086101" y="2349500"/>
            <a:ext cx="588962" cy="1587"/>
          </a:xfrm>
          <a:prstGeom prst="straightConnector1">
            <a:avLst/>
          </a:prstGeom>
          <a:noFill/>
          <a:ln w="50800" algn="ctr">
            <a:solidFill>
              <a:schemeClr val="tx1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" name="TextBox 33"/>
          <p:cNvSpPr txBox="1">
            <a:spLocks noChangeArrowheads="1"/>
          </p:cNvSpPr>
          <p:nvPr/>
        </p:nvSpPr>
        <p:spPr bwMode="auto">
          <a:xfrm>
            <a:off x="2522538" y="5802313"/>
            <a:ext cx="1714500" cy="492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/>
          <a:p>
            <a:pPr algn="ctr" eaLnBrk="1" hangingPunct="1"/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P-Si(</a:t>
            </a:r>
            <a:r>
              <a:rPr lang="zh-CN" altLang="en-US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岛</a:t>
            </a:r>
            <a:r>
              <a:rPr lang="en-US" altLang="zh-CN" sz="32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lang="zh-CN" altLang="en-US" sz="32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35" name="直接箭头连接符 34"/>
          <p:cNvCxnSpPr>
            <a:cxnSpLocks noChangeShapeType="1"/>
          </p:cNvCxnSpPr>
          <p:nvPr/>
        </p:nvCxnSpPr>
        <p:spPr bwMode="auto">
          <a:xfrm rot="5400000" flipH="1" flipV="1">
            <a:off x="3094831" y="5591969"/>
            <a:ext cx="427038" cy="0"/>
          </a:xfrm>
          <a:prstGeom prst="straightConnector1">
            <a:avLst/>
          </a:prstGeom>
          <a:noFill/>
          <a:ln w="5080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6" name="TextBox 38"/>
          <p:cNvSpPr txBox="1">
            <a:spLocks noChangeArrowheads="1"/>
          </p:cNvSpPr>
          <p:nvPr/>
        </p:nvSpPr>
        <p:spPr bwMode="auto">
          <a:xfrm>
            <a:off x="4395788" y="1604963"/>
            <a:ext cx="3313112" cy="170815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25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利用光刻技术在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SiO</a:t>
            </a:r>
            <a:r>
              <a:rPr kumimoji="1" lang="en-US" altLang="zh-CN" sz="2800" b="1" baseline="-25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上光刻成几十万个小孔</a:t>
            </a:r>
            <a:endParaRPr lang="zh-CN" altLang="en-US" sz="2800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TextBox 39"/>
          <p:cNvSpPr txBox="1">
            <a:spLocks noChangeArrowheads="1"/>
          </p:cNvSpPr>
          <p:nvPr/>
        </p:nvSpPr>
        <p:spPr bwMode="auto">
          <a:xfrm>
            <a:off x="4395788" y="3557588"/>
            <a:ext cx="3313112" cy="1384995"/>
          </a:xfrm>
          <a:prstGeom prst="rect">
            <a:avLst/>
          </a:prstGeom>
          <a:solidFill>
            <a:schemeClr val="bg2">
              <a:lumMod val="90000"/>
            </a:schemeClr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</a:pP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再通过掺杂使每个小孔都变成</a:t>
            </a:r>
            <a:r>
              <a:rPr kumimoji="1"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P-Si</a:t>
            </a:r>
            <a:endParaRPr lang="zh-CN" altLang="en-US" sz="2800" dirty="0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8" name="TextBox 40"/>
          <p:cNvSpPr txBox="1">
            <a:spLocks noChangeArrowheads="1"/>
          </p:cNvSpPr>
          <p:nvPr/>
        </p:nvSpPr>
        <p:spPr bwMode="auto">
          <a:xfrm>
            <a:off x="4402138" y="5110163"/>
            <a:ext cx="3306762" cy="1384300"/>
          </a:xfrm>
          <a:prstGeom prst="rect">
            <a:avLst/>
          </a:prstGeom>
          <a:solidFill>
            <a:srgbClr val="FFFF00"/>
          </a:solidFill>
          <a:ln w="381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许多个小的</a:t>
            </a:r>
            <a:r>
              <a:rPr kumimoji="1"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P-Si</a:t>
            </a:r>
            <a:r>
              <a:rPr kumimoji="1"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</a:t>
            </a:r>
            <a:r>
              <a:rPr kumimoji="1"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SiO</a:t>
            </a:r>
            <a:r>
              <a:rPr kumimoji="1" lang="en-US" altLang="zh-CN" sz="28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隔离</a:t>
            </a:r>
            <a:r>
              <a:rPr kumimoji="1"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(P</a:t>
            </a:r>
            <a:r>
              <a:rPr kumimoji="1" lang="zh-CN" altLang="en-US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</a:t>
            </a:r>
            <a:r>
              <a:rPr kumimoji="1" lang="en-US" altLang="zh-CN" sz="28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TextBox 41"/>
          <p:cNvSpPr txBox="1">
            <a:spLocks noChangeArrowheads="1"/>
          </p:cNvSpPr>
          <p:nvPr/>
        </p:nvSpPr>
        <p:spPr bwMode="auto">
          <a:xfrm>
            <a:off x="8521700" y="4595813"/>
            <a:ext cx="4162942" cy="2032000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每个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型岛与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型衬底之间即形成一个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PN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结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光电二极管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)</a:t>
            </a:r>
            <a:endParaRPr lang="zh-CN" altLang="en-US" sz="28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40" name="TextBox 42"/>
          <p:cNvSpPr txBox="1">
            <a:spLocks noChangeArrowheads="1"/>
          </p:cNvSpPr>
          <p:nvPr/>
        </p:nvSpPr>
        <p:spPr bwMode="auto">
          <a:xfrm>
            <a:off x="8521700" y="1473200"/>
            <a:ext cx="4162942" cy="267652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 w="381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 eaLnBrk="1" hangingPunct="1">
              <a:lnSpc>
                <a:spcPct val="150000"/>
              </a:lnSpc>
              <a:defRPr/>
            </a:pP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SiO</a:t>
            </a:r>
            <a:r>
              <a:rPr kumimoji="1" lang="en-US" altLang="zh-CN" sz="2800" b="1" baseline="-30000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和</a:t>
            </a:r>
            <a:r>
              <a:rPr kumimoji="1" lang="en-US" altLang="zh-CN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型岛表面上蒸涂上一层电阻率适当的半绝缘性质电阻层称为</a:t>
            </a:r>
            <a:r>
              <a:rPr kumimoji="1"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电阻海</a:t>
            </a:r>
            <a:r>
              <a:rPr kumimoji="1" lang="zh-CN" altLang="en-US" sz="2800" b="1" dirty="0"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，即成为硅靶。</a:t>
            </a:r>
            <a:endParaRPr lang="zh-CN" altLang="en-US" sz="2800" b="1" dirty="0"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矩形 49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42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3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1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2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3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6" presetClass="entr" presetSubtype="2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48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5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  <p:bldP spid="34" grpId="0"/>
      <p:bldP spid="36" grpId="0" animBg="1"/>
      <p:bldP spid="37" grpId="0" animBg="1"/>
      <p:bldP spid="38" grpId="0" animBg="1"/>
      <p:bldP spid="39" grpId="0" animBg="1"/>
      <p:bldP spid="40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Text Box 5"/>
          <p:cNvSpPr txBox="1">
            <a:spLocks noChangeArrowheads="1"/>
          </p:cNvSpPr>
          <p:nvPr/>
        </p:nvSpPr>
        <p:spPr bwMode="auto">
          <a:xfrm>
            <a:off x="1398588" y="1341438"/>
            <a:ext cx="38576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00"/>
                </a:solidFill>
                <a:latin typeface="Times New Roman" panose="02020603050405020304" pitchFamily="18" charset="0"/>
                <a:ea typeface="华文琥珀" panose="02010800040101010101" pitchFamily="2" charset="-122"/>
                <a:cs typeface="Times New Roman" panose="02020603050405020304" pitchFamily="18" charset="0"/>
              </a:rPr>
              <a:t>(2)</a:t>
            </a:r>
            <a:r>
              <a:rPr kumimoji="1" lang="en-US" altLang="zh-CN" sz="3200">
                <a:solidFill>
                  <a:srgbClr val="000000"/>
                </a:solidFill>
                <a:latin typeface="Times New Roman" panose="02020603050405020304" pitchFamily="18" charset="0"/>
                <a:ea typeface="华文琥珀" panose="02010800040101010101" pitchFamily="2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3200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硅靶的光电变换</a:t>
            </a:r>
          </a:p>
        </p:txBody>
      </p:sp>
      <p:sp>
        <p:nvSpPr>
          <p:cNvPr id="59" name="Text Box 6"/>
          <p:cNvSpPr txBox="1">
            <a:spLocks noChangeArrowheads="1"/>
          </p:cNvSpPr>
          <p:nvPr/>
        </p:nvSpPr>
        <p:spPr bwMode="auto">
          <a:xfrm>
            <a:off x="7375525" y="4875213"/>
            <a:ext cx="85725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电源</a:t>
            </a:r>
          </a:p>
        </p:txBody>
      </p:sp>
      <p:sp>
        <p:nvSpPr>
          <p:cNvPr id="60" name="Text Box 6"/>
          <p:cNvSpPr txBox="1">
            <a:spLocks noChangeArrowheads="1"/>
          </p:cNvSpPr>
          <p:nvPr/>
        </p:nvSpPr>
        <p:spPr bwMode="auto">
          <a:xfrm>
            <a:off x="9880600" y="4340225"/>
            <a:ext cx="1500188" cy="739775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电子枪的阴极接地</a:t>
            </a:r>
          </a:p>
        </p:txBody>
      </p:sp>
      <p:sp>
        <p:nvSpPr>
          <p:cNvPr id="61" name="Text Box 6"/>
          <p:cNvSpPr txBox="1">
            <a:spLocks noChangeArrowheads="1"/>
          </p:cNvSpPr>
          <p:nvPr/>
        </p:nvSpPr>
        <p:spPr bwMode="auto">
          <a:xfrm>
            <a:off x="10023475" y="3160713"/>
            <a:ext cx="1143000" cy="739775"/>
          </a:xfrm>
          <a:prstGeom prst="rect">
            <a:avLst/>
          </a:prstGeom>
          <a:noFill/>
          <a:ln w="38100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扫描</a:t>
            </a:r>
            <a:endParaRPr kumimoji="1" lang="en-US" altLang="zh-CN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algn="ctr" defTabSz="914400" eaLnBrk="1" hangingPunct="1"/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电子束</a:t>
            </a:r>
          </a:p>
        </p:txBody>
      </p:sp>
      <p:sp>
        <p:nvSpPr>
          <p:cNvPr id="62" name="Text Box 6"/>
          <p:cNvSpPr txBox="1">
            <a:spLocks noChangeArrowheads="1"/>
          </p:cNvSpPr>
          <p:nvPr/>
        </p:nvSpPr>
        <p:spPr bwMode="auto">
          <a:xfrm>
            <a:off x="1531938" y="2493963"/>
            <a:ext cx="3421062" cy="3324225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当电子束扫描到每个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型岛时，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型岛的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结即被</a:t>
            </a:r>
            <a:r>
              <a:rPr kumimoji="1" lang="zh-CN" altLang="en-US" sz="2800" b="1" u="sng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反向偏置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，结电容被充电到靶电源电压。</a:t>
            </a:r>
          </a:p>
        </p:txBody>
      </p:sp>
      <p:grpSp>
        <p:nvGrpSpPr>
          <p:cNvPr id="63" name="组合 20"/>
          <p:cNvGrpSpPr>
            <a:grpSpLocks/>
          </p:cNvGrpSpPr>
          <p:nvPr/>
        </p:nvGrpSpPr>
        <p:grpSpPr bwMode="auto">
          <a:xfrm>
            <a:off x="7054850" y="3022600"/>
            <a:ext cx="2233613" cy="947738"/>
            <a:chOff x="1857375" y="1995488"/>
            <a:chExt cx="1530005" cy="863600"/>
          </a:xfrm>
        </p:grpSpPr>
        <p:grpSp>
          <p:nvGrpSpPr>
            <p:cNvPr id="10289" name="组合 52"/>
            <p:cNvGrpSpPr>
              <a:grpSpLocks/>
            </p:cNvGrpSpPr>
            <p:nvPr/>
          </p:nvGrpSpPr>
          <p:grpSpPr bwMode="auto">
            <a:xfrm>
              <a:off x="1857375" y="1995488"/>
              <a:ext cx="1530005" cy="863600"/>
              <a:chOff x="1857375" y="1995488"/>
              <a:chExt cx="1530005" cy="863600"/>
            </a:xfrm>
          </p:grpSpPr>
          <p:pic>
            <p:nvPicPr>
              <p:cNvPr id="10291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57375" y="2016125"/>
                <a:ext cx="1511300" cy="8286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0292" name="直接连接符 66"/>
              <p:cNvCxnSpPr>
                <a:cxnSpLocks noChangeShapeType="1"/>
              </p:cNvCxnSpPr>
              <p:nvPr/>
            </p:nvCxnSpPr>
            <p:spPr bwMode="auto">
              <a:xfrm>
                <a:off x="2012877" y="1999828"/>
                <a:ext cx="1374503" cy="2893"/>
              </a:xfrm>
              <a:prstGeom prst="line">
                <a:avLst/>
              </a:prstGeom>
              <a:noFill/>
              <a:ln w="31750" algn="ctr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93" name="直接连接符 67"/>
              <p:cNvCxnSpPr>
                <a:cxnSpLocks noChangeShapeType="1"/>
              </p:cNvCxnSpPr>
              <p:nvPr/>
            </p:nvCxnSpPr>
            <p:spPr bwMode="auto">
              <a:xfrm rot="5400000">
                <a:off x="2937992" y="2423127"/>
                <a:ext cx="856367" cy="1087"/>
              </a:xfrm>
              <a:prstGeom prst="line">
                <a:avLst/>
              </a:prstGeom>
              <a:noFill/>
              <a:ln w="31750" algn="ctr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94" name="直接连接符 6"/>
              <p:cNvCxnSpPr>
                <a:cxnSpLocks noChangeShapeType="1"/>
              </p:cNvCxnSpPr>
              <p:nvPr/>
            </p:nvCxnSpPr>
            <p:spPr bwMode="auto">
              <a:xfrm>
                <a:off x="1992215" y="2857641"/>
                <a:ext cx="1394077" cy="1447"/>
              </a:xfrm>
              <a:prstGeom prst="line">
                <a:avLst/>
              </a:prstGeom>
              <a:noFill/>
              <a:ln w="31750" algn="ctr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70" name="矩形 69"/>
              <p:cNvSpPr/>
              <p:nvPr/>
            </p:nvSpPr>
            <p:spPr>
              <a:xfrm>
                <a:off x="2023751" y="2040332"/>
                <a:ext cx="46759" cy="714603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solidFill>
                  <a:srgbClr val="FFC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sp>
            <p:nvSpPr>
              <p:cNvPr id="71" name="矩形 70"/>
              <p:cNvSpPr/>
              <p:nvPr/>
            </p:nvSpPr>
            <p:spPr>
              <a:xfrm>
                <a:off x="1953068" y="2047564"/>
                <a:ext cx="45672" cy="714603"/>
              </a:xfrm>
              <a:prstGeom prst="rect">
                <a:avLst/>
              </a:prstGeom>
              <a:solidFill>
                <a:srgbClr val="0070C0"/>
              </a:solidFill>
              <a:ln w="25400" cap="flat" cmpd="sng" algn="ctr">
                <a:solidFill>
                  <a:srgbClr val="0070C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Calibri"/>
                </a:endParaRPr>
              </a:p>
            </p:txBody>
          </p:sp>
          <p:cxnSp>
            <p:nvCxnSpPr>
              <p:cNvPr id="10297" name="直接连接符 71"/>
              <p:cNvCxnSpPr>
                <a:cxnSpLocks noChangeShapeType="1"/>
              </p:cNvCxnSpPr>
              <p:nvPr/>
            </p:nvCxnSpPr>
            <p:spPr bwMode="auto">
              <a:xfrm rot="5400000">
                <a:off x="1429012" y="2428191"/>
                <a:ext cx="857813" cy="1088"/>
              </a:xfrm>
              <a:prstGeom prst="line">
                <a:avLst/>
              </a:prstGeom>
              <a:noFill/>
              <a:ln w="2857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0290" name="直接连接符 64"/>
            <p:cNvCxnSpPr>
              <a:cxnSpLocks noChangeShapeType="1"/>
            </p:cNvCxnSpPr>
            <p:nvPr/>
          </p:nvCxnSpPr>
          <p:spPr bwMode="auto">
            <a:xfrm rot="5400000">
              <a:off x="1548085" y="2427647"/>
              <a:ext cx="857813" cy="2175"/>
            </a:xfrm>
            <a:prstGeom prst="line">
              <a:avLst/>
            </a:prstGeom>
            <a:noFill/>
            <a:ln w="28575" algn="ctr">
              <a:solidFill>
                <a:srgbClr val="4A7EBB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73" name="矩形 72"/>
          <p:cNvSpPr/>
          <p:nvPr/>
        </p:nvSpPr>
        <p:spPr>
          <a:xfrm>
            <a:off x="7043738" y="4270375"/>
            <a:ext cx="147637" cy="428625"/>
          </a:xfrm>
          <a:prstGeom prst="rect">
            <a:avLst/>
          </a:prstGeom>
          <a:solidFill>
            <a:sysClr val="windowText" lastClr="00000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Calibri"/>
            </a:endParaRPr>
          </a:p>
        </p:txBody>
      </p:sp>
      <p:grpSp>
        <p:nvGrpSpPr>
          <p:cNvPr id="74" name="组合 35"/>
          <p:cNvGrpSpPr>
            <a:grpSpLocks/>
          </p:cNvGrpSpPr>
          <p:nvPr/>
        </p:nvGrpSpPr>
        <p:grpSpPr bwMode="auto">
          <a:xfrm>
            <a:off x="6742113" y="4956175"/>
            <a:ext cx="730250" cy="157163"/>
            <a:chOff x="1643062" y="3571875"/>
            <a:chExt cx="500062" cy="144463"/>
          </a:xfrm>
        </p:grpSpPr>
        <p:cxnSp>
          <p:nvCxnSpPr>
            <p:cNvPr id="10287" name="直接连接符 74"/>
            <p:cNvCxnSpPr>
              <a:cxnSpLocks noChangeShapeType="1"/>
            </p:cNvCxnSpPr>
            <p:nvPr/>
          </p:nvCxnSpPr>
          <p:spPr bwMode="auto">
            <a:xfrm>
              <a:off x="1785471" y="3714878"/>
              <a:ext cx="215244" cy="1460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88" name="直接连接符 75"/>
            <p:cNvCxnSpPr>
              <a:cxnSpLocks noChangeShapeType="1"/>
            </p:cNvCxnSpPr>
            <p:nvPr/>
          </p:nvCxnSpPr>
          <p:spPr bwMode="auto">
            <a:xfrm>
              <a:off x="1643062" y="3571875"/>
              <a:ext cx="500062" cy="1460"/>
            </a:xfrm>
            <a:prstGeom prst="line">
              <a:avLst/>
            </a:prstGeom>
            <a:noFill/>
            <a:ln w="76200" algn="ctr">
              <a:solidFill>
                <a:srgbClr val="2243E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cxnSp>
        <p:nvCxnSpPr>
          <p:cNvPr id="77" name="直接箭头连接符 76"/>
          <p:cNvCxnSpPr>
            <a:cxnSpLocks noChangeShapeType="1"/>
          </p:cNvCxnSpPr>
          <p:nvPr/>
        </p:nvCxnSpPr>
        <p:spPr bwMode="auto">
          <a:xfrm rot="10800000">
            <a:off x="7472363" y="3236913"/>
            <a:ext cx="1460500" cy="339725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prstDash val="sysDash"/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78" name="直接连接符 77"/>
          <p:cNvCxnSpPr>
            <a:cxnSpLocks noChangeShapeType="1"/>
          </p:cNvCxnSpPr>
          <p:nvPr/>
        </p:nvCxnSpPr>
        <p:spPr bwMode="auto">
          <a:xfrm rot="5400000">
            <a:off x="6954044" y="4093369"/>
            <a:ext cx="344488" cy="12700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79" name="组合 43"/>
          <p:cNvGrpSpPr>
            <a:grpSpLocks/>
          </p:cNvGrpSpPr>
          <p:nvPr/>
        </p:nvGrpSpPr>
        <p:grpSpPr bwMode="auto">
          <a:xfrm>
            <a:off x="5946775" y="3967163"/>
            <a:ext cx="1173163" cy="314325"/>
            <a:chOff x="2214546" y="2615830"/>
            <a:chExt cx="1172776" cy="418357"/>
          </a:xfrm>
        </p:grpSpPr>
        <p:cxnSp>
          <p:nvCxnSpPr>
            <p:cNvPr id="10282" name="直接连接符 79"/>
            <p:cNvCxnSpPr>
              <a:cxnSpLocks noChangeShapeType="1"/>
            </p:cNvCxnSpPr>
            <p:nvPr/>
          </p:nvCxnSpPr>
          <p:spPr bwMode="auto">
            <a:xfrm rot="10800000">
              <a:off x="2904881" y="2825008"/>
              <a:ext cx="482441" cy="633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0283" name="组合 49"/>
            <p:cNvGrpSpPr>
              <a:grpSpLocks/>
            </p:cNvGrpSpPr>
            <p:nvPr/>
          </p:nvGrpSpPr>
          <p:grpSpPr bwMode="auto">
            <a:xfrm>
              <a:off x="2724275" y="2615830"/>
              <a:ext cx="166744" cy="418357"/>
              <a:chOff x="4642644" y="1571612"/>
              <a:chExt cx="114232" cy="286546"/>
            </a:xfrm>
          </p:grpSpPr>
          <p:cxnSp>
            <p:nvCxnSpPr>
              <p:cNvPr id="10285" name="直接连接符 82"/>
              <p:cNvCxnSpPr>
                <a:cxnSpLocks noChangeShapeType="1"/>
              </p:cNvCxnSpPr>
              <p:nvPr/>
            </p:nvCxnSpPr>
            <p:spPr bwMode="auto">
              <a:xfrm rot="5400000">
                <a:off x="4500427" y="1715064"/>
                <a:ext cx="285099" cy="1087"/>
              </a:xfrm>
              <a:prstGeom prst="line">
                <a:avLst/>
              </a:prstGeom>
              <a:noFill/>
              <a:ln w="38100" algn="ctr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86" name="直接连接符 85"/>
              <p:cNvCxnSpPr>
                <a:cxnSpLocks noChangeShapeType="1"/>
              </p:cNvCxnSpPr>
              <p:nvPr/>
            </p:nvCxnSpPr>
            <p:spPr bwMode="auto">
              <a:xfrm rot="5400000">
                <a:off x="4613495" y="1713618"/>
                <a:ext cx="285098" cy="1087"/>
              </a:xfrm>
              <a:prstGeom prst="line">
                <a:avLst/>
              </a:prstGeom>
              <a:noFill/>
              <a:ln w="38100" algn="ctr">
                <a:solidFill>
                  <a:srgbClr val="0000CC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0284" name="直接连接符 81"/>
            <p:cNvCxnSpPr>
              <a:cxnSpLocks noChangeShapeType="1"/>
            </p:cNvCxnSpPr>
            <p:nvPr/>
          </p:nvCxnSpPr>
          <p:spPr bwMode="auto">
            <a:xfrm rot="10800000">
              <a:off x="2214546" y="2825008"/>
              <a:ext cx="482441" cy="6339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87" name="组合 60"/>
          <p:cNvGrpSpPr>
            <a:grpSpLocks/>
          </p:cNvGrpSpPr>
          <p:nvPr/>
        </p:nvGrpSpPr>
        <p:grpSpPr bwMode="auto">
          <a:xfrm>
            <a:off x="5594350" y="3060700"/>
            <a:ext cx="1593850" cy="871538"/>
            <a:chOff x="1861472" y="1264893"/>
            <a:chExt cx="1594277" cy="1162041"/>
          </a:xfrm>
        </p:grpSpPr>
        <p:sp>
          <p:nvSpPr>
            <p:cNvPr id="88" name="Text Box 6"/>
            <p:cNvSpPr txBox="1">
              <a:spLocks noChangeArrowheads="1"/>
            </p:cNvSpPr>
            <p:nvPr/>
          </p:nvSpPr>
          <p:spPr bwMode="auto">
            <a:xfrm>
              <a:off x="1861472" y="1897772"/>
              <a:ext cx="1075026" cy="5291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zh-CN" altLang="en-US" sz="1800" b="1" kern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信号板</a:t>
              </a:r>
            </a:p>
          </p:txBody>
        </p:sp>
        <p:cxnSp>
          <p:nvCxnSpPr>
            <p:cNvPr id="10280" name="直接连接符 88"/>
            <p:cNvCxnSpPr>
              <a:cxnSpLocks noChangeShapeType="1"/>
            </p:cNvCxnSpPr>
            <p:nvPr/>
          </p:nvCxnSpPr>
          <p:spPr bwMode="auto">
            <a:xfrm flipV="1">
              <a:off x="2785645" y="2071337"/>
              <a:ext cx="574829" cy="10583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0" name="矩形 89"/>
            <p:cNvSpPr/>
            <p:nvPr/>
          </p:nvSpPr>
          <p:spPr>
            <a:xfrm>
              <a:off x="3350946" y="1264893"/>
              <a:ext cx="104803" cy="114722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Calibri"/>
              </a:endParaRPr>
            </a:p>
          </p:txBody>
        </p:sp>
      </p:grpSp>
      <p:grpSp>
        <p:nvGrpSpPr>
          <p:cNvPr id="91" name="组合 57"/>
          <p:cNvGrpSpPr>
            <a:grpSpLocks/>
          </p:cNvGrpSpPr>
          <p:nvPr/>
        </p:nvGrpSpPr>
        <p:grpSpPr bwMode="auto">
          <a:xfrm>
            <a:off x="6946900" y="3314700"/>
            <a:ext cx="2719388" cy="2417763"/>
            <a:chOff x="3214678" y="1601881"/>
            <a:chExt cx="2718760" cy="3224982"/>
          </a:xfrm>
        </p:grpSpPr>
        <p:cxnSp>
          <p:nvCxnSpPr>
            <p:cNvPr id="10271" name="直接连接符 91"/>
            <p:cNvCxnSpPr>
              <a:cxnSpLocks noChangeShapeType="1"/>
            </p:cNvCxnSpPr>
            <p:nvPr/>
          </p:nvCxnSpPr>
          <p:spPr bwMode="auto">
            <a:xfrm rot="16200000" flipH="1">
              <a:off x="3146279" y="4314423"/>
              <a:ext cx="482794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2" name="直接连接符 92"/>
            <p:cNvCxnSpPr>
              <a:cxnSpLocks noChangeShapeType="1"/>
            </p:cNvCxnSpPr>
            <p:nvPr/>
          </p:nvCxnSpPr>
          <p:spPr bwMode="auto">
            <a:xfrm rot="10800000">
              <a:off x="5449362" y="1966094"/>
              <a:ext cx="482489" cy="6353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3" name="直接连接符 93"/>
            <p:cNvCxnSpPr>
              <a:cxnSpLocks noChangeShapeType="1"/>
            </p:cNvCxnSpPr>
            <p:nvPr/>
          </p:nvCxnSpPr>
          <p:spPr bwMode="auto">
            <a:xfrm rot="5400000">
              <a:off x="4763246" y="3116702"/>
              <a:ext cx="2335623" cy="4762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0274" name="直接连接符 94"/>
            <p:cNvCxnSpPr>
              <a:cxnSpLocks noChangeShapeType="1"/>
            </p:cNvCxnSpPr>
            <p:nvPr/>
          </p:nvCxnSpPr>
          <p:spPr bwMode="auto">
            <a:xfrm>
              <a:off x="3405134" y="4284778"/>
              <a:ext cx="2523542" cy="2117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96" name="弧形 95"/>
            <p:cNvSpPr/>
            <p:nvPr/>
          </p:nvSpPr>
          <p:spPr>
            <a:xfrm rot="12908658">
              <a:off x="5371593" y="1601881"/>
              <a:ext cx="214263" cy="546320"/>
            </a:xfrm>
            <a:prstGeom prst="arc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black"/>
                </a:solidFill>
                <a:latin typeface="Calibri"/>
              </a:endParaRPr>
            </a:p>
          </p:txBody>
        </p:sp>
        <p:grpSp>
          <p:nvGrpSpPr>
            <p:cNvPr id="10276" name="组合 50"/>
            <p:cNvGrpSpPr>
              <a:grpSpLocks/>
            </p:cNvGrpSpPr>
            <p:nvPr/>
          </p:nvGrpSpPr>
          <p:grpSpPr bwMode="auto">
            <a:xfrm>
              <a:off x="3214678" y="4572008"/>
              <a:ext cx="312897" cy="254855"/>
              <a:chOff x="1785918" y="4143380"/>
              <a:chExt cx="214314" cy="174558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1785918" y="4139544"/>
                <a:ext cx="214156" cy="75419"/>
              </a:xfrm>
              <a:prstGeom prst="rect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99" name="矩形 98"/>
              <p:cNvSpPr>
                <a:spLocks noChangeArrowheads="1"/>
              </p:cNvSpPr>
              <p:nvPr/>
            </p:nvSpPr>
            <p:spPr bwMode="auto">
              <a:xfrm flipV="1">
                <a:off x="1815270" y="4246870"/>
                <a:ext cx="143495" cy="71068"/>
              </a:xfrm>
              <a:prstGeom prst="rect">
                <a:avLst/>
              </a:prstGeom>
              <a:solidFill>
                <a:sysClr val="windowText" lastClr="000000"/>
              </a:solidFill>
              <a:ln w="25400" algn="ctr">
                <a:noFill/>
                <a:miter lim="800000"/>
                <a:headEnd/>
                <a:tailEnd/>
              </a:ln>
            </p:spPr>
            <p:txBody>
              <a:bodyPr rot="10800000"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</p:grpSp>
      <p:cxnSp>
        <p:nvCxnSpPr>
          <p:cNvPr id="100" name="直接连接符 99"/>
          <p:cNvCxnSpPr>
            <a:cxnSpLocks noChangeShapeType="1"/>
          </p:cNvCxnSpPr>
          <p:nvPr/>
        </p:nvCxnSpPr>
        <p:spPr bwMode="auto">
          <a:xfrm rot="5400000">
            <a:off x="7013575" y="4821238"/>
            <a:ext cx="214313" cy="1587"/>
          </a:xfrm>
          <a:prstGeom prst="line">
            <a:avLst/>
          </a:prstGeom>
          <a:noFill/>
          <a:ln w="38100" algn="ctr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01" name="TextBox 54"/>
          <p:cNvSpPr txBox="1">
            <a:spLocks noChangeArrowheads="1"/>
          </p:cNvSpPr>
          <p:nvPr/>
        </p:nvSpPr>
        <p:spPr bwMode="auto">
          <a:xfrm>
            <a:off x="7304088" y="4362450"/>
            <a:ext cx="357187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en-US" altLang="zh-CN" sz="2400" b="1" i="1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400" b="1" i="1" baseline="-25000" dirty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2" name="TextBox 55"/>
          <p:cNvSpPr txBox="1">
            <a:spLocks noChangeArrowheads="1"/>
          </p:cNvSpPr>
          <p:nvPr/>
        </p:nvSpPr>
        <p:spPr bwMode="auto">
          <a:xfrm>
            <a:off x="5946775" y="4148138"/>
            <a:ext cx="35718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en-US" altLang="zh-CN" sz="2400" b="1" i="1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V</a:t>
            </a:r>
            <a:r>
              <a:rPr lang="en-US" altLang="zh-CN" sz="2400" b="1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</a:rPr>
              <a:t>L</a:t>
            </a:r>
            <a:endParaRPr lang="zh-CN" altLang="en-US" sz="2400" b="1" i="1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03" name="Text Box 6"/>
          <p:cNvSpPr txBox="1">
            <a:spLocks noChangeArrowheads="1"/>
          </p:cNvSpPr>
          <p:nvPr/>
        </p:nvSpPr>
        <p:spPr bwMode="auto">
          <a:xfrm>
            <a:off x="7661275" y="4362450"/>
            <a:ext cx="13573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kumimoji="1" lang="zh-CN" altLang="en-US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负载电阻</a:t>
            </a:r>
          </a:p>
        </p:txBody>
      </p:sp>
      <p:grpSp>
        <p:nvGrpSpPr>
          <p:cNvPr id="104" name="组合 61"/>
          <p:cNvGrpSpPr>
            <a:grpSpLocks/>
          </p:cNvGrpSpPr>
          <p:nvPr/>
        </p:nvGrpSpPr>
        <p:grpSpPr bwMode="auto">
          <a:xfrm>
            <a:off x="7089775" y="2700338"/>
            <a:ext cx="2428875" cy="396875"/>
            <a:chOff x="3357554" y="783415"/>
            <a:chExt cx="2428892" cy="529323"/>
          </a:xfrm>
        </p:grpSpPr>
        <p:grpSp>
          <p:nvGrpSpPr>
            <p:cNvPr id="10266" name="组合 16"/>
            <p:cNvGrpSpPr>
              <a:grpSpLocks/>
            </p:cNvGrpSpPr>
            <p:nvPr/>
          </p:nvGrpSpPr>
          <p:grpSpPr bwMode="auto">
            <a:xfrm>
              <a:off x="3357554" y="857232"/>
              <a:ext cx="642942" cy="285752"/>
              <a:chOff x="1946260" y="1000108"/>
              <a:chExt cx="1428750" cy="454025"/>
            </a:xfrm>
          </p:grpSpPr>
          <p:cxnSp>
            <p:nvCxnSpPr>
              <p:cNvPr id="10268" name="直接连接符 106"/>
              <p:cNvCxnSpPr>
                <a:cxnSpLocks noChangeShapeType="1"/>
              </p:cNvCxnSpPr>
              <p:nvPr/>
            </p:nvCxnSpPr>
            <p:spPr bwMode="auto">
              <a:xfrm rot="5400000">
                <a:off x="2284734" y="1219152"/>
                <a:ext cx="427243" cy="3529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0269" name="直接连接符 107"/>
              <p:cNvCxnSpPr>
                <a:cxnSpLocks noChangeShapeType="1"/>
              </p:cNvCxnSpPr>
              <p:nvPr/>
            </p:nvCxnSpPr>
            <p:spPr bwMode="auto">
              <a:xfrm>
                <a:off x="1946260" y="1229325"/>
                <a:ext cx="1428750" cy="0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9" name="等腰三角形 108"/>
              <p:cNvSpPr>
                <a:spLocks noChangeArrowheads="1"/>
              </p:cNvSpPr>
              <p:nvPr/>
            </p:nvSpPr>
            <p:spPr bwMode="auto">
              <a:xfrm rot="-5400000">
                <a:off x="2488238" y="1012450"/>
                <a:ext cx="454156" cy="430389"/>
              </a:xfrm>
              <a:prstGeom prst="triangle">
                <a:avLst>
                  <a:gd name="adj" fmla="val 50000"/>
                </a:avLst>
              </a:prstGeom>
              <a:noFill/>
              <a:ln w="25400" algn="ctr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 vert="eaVert"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sp>
          <p:nvSpPr>
            <p:cNvPr id="106" name="Text Box 6"/>
            <p:cNvSpPr txBox="1">
              <a:spLocks noChangeArrowheads="1"/>
            </p:cNvSpPr>
            <p:nvPr/>
          </p:nvSpPr>
          <p:spPr bwMode="auto">
            <a:xfrm>
              <a:off x="3929058" y="783415"/>
              <a:ext cx="1857388" cy="5293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1800" b="1" kern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 </a:t>
              </a:r>
              <a:r>
                <a:rPr kumimoji="1" lang="zh-CN" altLang="en-US" sz="1800" b="1" kern="0">
                  <a:solidFill>
                    <a:srgbClr val="0000CC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光敏二极管</a:t>
              </a:r>
            </a:p>
          </p:txBody>
        </p:sp>
      </p:grpSp>
      <p:sp>
        <p:nvSpPr>
          <p:cNvPr id="80" name="矩形 79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81" name="矩形 80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84" name="矩形 83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85" name="矩形 84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6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5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9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5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0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8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3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3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8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59" grpId="0"/>
      <p:bldP spid="60" grpId="0" animBg="1"/>
      <p:bldP spid="61" grpId="0" animBg="1"/>
      <p:bldP spid="62" grpId="0" animBg="1"/>
      <p:bldP spid="73" grpId="0" animBg="1"/>
      <p:bldP spid="101" grpId="0"/>
      <p:bldP spid="102" grpId="0"/>
      <p:bldP spid="10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ext Box 13"/>
          <p:cNvSpPr txBox="1">
            <a:spLocks noChangeArrowheads="1"/>
          </p:cNvSpPr>
          <p:nvPr/>
        </p:nvSpPr>
        <p:spPr bwMode="auto">
          <a:xfrm>
            <a:off x="1635125" y="2732088"/>
            <a:ext cx="5230813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由于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结有反向漏电流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暗电流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endParaRPr kumimoji="1" lang="zh-CN" altLang="en-US" sz="2800" b="1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54" name="Text Box 14"/>
          <p:cNvSpPr txBox="1">
            <a:spLocks noChangeArrowheads="1"/>
          </p:cNvSpPr>
          <p:nvPr/>
        </p:nvSpPr>
        <p:spPr bwMode="auto">
          <a:xfrm>
            <a:off x="3406775" y="1844675"/>
            <a:ext cx="2428875" cy="64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zh-CN" altLang="en-US" sz="3600" b="1" dirty="0">
                <a:solidFill>
                  <a:srgbClr val="FF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无图像时</a:t>
            </a:r>
          </a:p>
        </p:txBody>
      </p:sp>
      <p:sp>
        <p:nvSpPr>
          <p:cNvPr id="55" name="Text Box 13"/>
          <p:cNvSpPr txBox="1">
            <a:spLocks noChangeArrowheads="1"/>
          </p:cNvSpPr>
          <p:nvPr/>
        </p:nvSpPr>
        <p:spPr bwMode="auto">
          <a:xfrm>
            <a:off x="1635125" y="4741863"/>
            <a:ext cx="10096500" cy="1385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靶的两边</a:t>
            </a: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——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成像面</a:t>
            </a: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信号板一边的靶面</a:t>
            </a: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和扫描面</a:t>
            </a: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朝着电子枪一边的靶面</a:t>
            </a: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之间的电压略低于靶电源电压。</a:t>
            </a:r>
          </a:p>
        </p:txBody>
      </p:sp>
      <p:sp>
        <p:nvSpPr>
          <p:cNvPr id="56" name="Text Box 13"/>
          <p:cNvSpPr txBox="1">
            <a:spLocks noChangeArrowheads="1"/>
          </p:cNvSpPr>
          <p:nvPr/>
        </p:nvSpPr>
        <p:spPr bwMode="auto">
          <a:xfrm>
            <a:off x="1639888" y="3725863"/>
            <a:ext cx="5475287" cy="738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负载电阻上要产生少量的电压降</a:t>
            </a:r>
          </a:p>
        </p:txBody>
      </p:sp>
      <p:grpSp>
        <p:nvGrpSpPr>
          <p:cNvPr id="57" name="组合 13"/>
          <p:cNvGrpSpPr>
            <a:grpSpLocks noChangeAspect="1"/>
          </p:cNvGrpSpPr>
          <p:nvPr/>
        </p:nvGrpSpPr>
        <p:grpSpPr bwMode="auto">
          <a:xfrm>
            <a:off x="7723188" y="1997075"/>
            <a:ext cx="3198812" cy="2606675"/>
            <a:chOff x="2214546" y="928670"/>
            <a:chExt cx="3718891" cy="4041094"/>
          </a:xfrm>
        </p:grpSpPr>
        <p:grpSp>
          <p:nvGrpSpPr>
            <p:cNvPr id="11277" name="组合 44"/>
            <p:cNvGrpSpPr>
              <a:grpSpLocks/>
            </p:cNvGrpSpPr>
            <p:nvPr/>
          </p:nvGrpSpPr>
          <p:grpSpPr bwMode="auto">
            <a:xfrm>
              <a:off x="3286050" y="928670"/>
              <a:ext cx="482552" cy="214314"/>
              <a:chOff x="1946260" y="1000108"/>
              <a:chExt cx="1428750" cy="454025"/>
            </a:xfrm>
          </p:grpSpPr>
          <p:cxnSp>
            <p:nvCxnSpPr>
              <p:cNvPr id="11314" name="直接连接符 19"/>
              <p:cNvCxnSpPr>
                <a:cxnSpLocks noChangeShapeType="1"/>
              </p:cNvCxnSpPr>
              <p:nvPr/>
            </p:nvCxnSpPr>
            <p:spPr bwMode="auto">
              <a:xfrm rot="5400000">
                <a:off x="2286754" y="1219087"/>
                <a:ext cx="427531" cy="0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15" name="直接连接符 97"/>
              <p:cNvCxnSpPr>
                <a:cxnSpLocks noChangeShapeType="1"/>
              </p:cNvCxnSpPr>
              <p:nvPr/>
            </p:nvCxnSpPr>
            <p:spPr bwMode="auto">
              <a:xfrm>
                <a:off x="1948604" y="1224299"/>
                <a:ext cx="1426237" cy="5215"/>
              </a:xfrm>
              <a:prstGeom prst="line">
                <a:avLst/>
              </a:prstGeom>
              <a:noFill/>
              <a:ln w="28575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99" name="等腰三角形 98"/>
              <p:cNvSpPr/>
              <p:nvPr/>
            </p:nvSpPr>
            <p:spPr>
              <a:xfrm rot="16200000">
                <a:off x="2489565" y="1011063"/>
                <a:ext cx="453601" cy="431694"/>
              </a:xfrm>
              <a:prstGeom prst="triangle">
                <a:avLst/>
              </a:prstGeom>
              <a:noFill/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Calibri"/>
                </a:endParaRPr>
              </a:p>
            </p:txBody>
          </p:sp>
        </p:grpSp>
        <p:grpSp>
          <p:nvGrpSpPr>
            <p:cNvPr id="11278" name="组合 53"/>
            <p:cNvGrpSpPr>
              <a:grpSpLocks/>
            </p:cNvGrpSpPr>
            <p:nvPr/>
          </p:nvGrpSpPr>
          <p:grpSpPr bwMode="auto">
            <a:xfrm>
              <a:off x="3322456" y="1357300"/>
              <a:ext cx="2233795" cy="1260856"/>
              <a:chOff x="1857375" y="1995488"/>
              <a:chExt cx="1530005" cy="863600"/>
            </a:xfrm>
          </p:grpSpPr>
          <p:grpSp>
            <p:nvGrpSpPr>
              <p:cNvPr id="11305" name="组合 52"/>
              <p:cNvGrpSpPr>
                <a:grpSpLocks/>
              </p:cNvGrpSpPr>
              <p:nvPr/>
            </p:nvGrpSpPr>
            <p:grpSpPr bwMode="auto">
              <a:xfrm>
                <a:off x="1857375" y="1995488"/>
                <a:ext cx="1530005" cy="863600"/>
                <a:chOff x="1857375" y="1995488"/>
                <a:chExt cx="1530005" cy="863600"/>
              </a:xfrm>
            </p:grpSpPr>
            <p:pic>
              <p:nvPicPr>
                <p:cNvPr id="11307" name="Picture 3"/>
                <p:cNvPicPr>
                  <a:picLocks noChangeAspect="1" noChangeArrowheads="1"/>
                </p:cNvPicPr>
                <p:nvPr/>
              </p:nvPicPr>
              <p:blipFill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1857375" y="2016125"/>
                  <a:ext cx="1511300" cy="82867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cxnSp>
              <p:nvCxnSpPr>
                <p:cNvPr id="11308" name="直接连接符 4"/>
                <p:cNvCxnSpPr>
                  <a:cxnSpLocks noChangeShapeType="1"/>
                </p:cNvCxnSpPr>
                <p:nvPr/>
              </p:nvCxnSpPr>
              <p:spPr bwMode="auto">
                <a:xfrm>
                  <a:off x="2012486" y="2000269"/>
                  <a:ext cx="1375361" cy="1686"/>
                </a:xfrm>
                <a:prstGeom prst="line">
                  <a:avLst/>
                </a:prstGeom>
                <a:noFill/>
                <a:ln w="31750" algn="ctr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309" name="直接连接符 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2938830" y="2422741"/>
                  <a:ext cx="856321" cy="1264"/>
                </a:xfrm>
                <a:prstGeom prst="line">
                  <a:avLst/>
                </a:prstGeom>
                <a:noFill/>
                <a:ln w="31750" algn="ctr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310" name="直接连接符 6"/>
                <p:cNvCxnSpPr>
                  <a:cxnSpLocks noChangeShapeType="1"/>
                </p:cNvCxnSpPr>
                <p:nvPr/>
              </p:nvCxnSpPr>
              <p:spPr bwMode="auto">
                <a:xfrm>
                  <a:off x="1992260" y="2856591"/>
                  <a:ext cx="1394323" cy="1686"/>
                </a:xfrm>
                <a:prstGeom prst="line">
                  <a:avLst/>
                </a:prstGeom>
                <a:noFill/>
                <a:ln w="31750" algn="ctr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sp>
              <p:nvSpPr>
                <p:cNvPr id="94" name="矩形 93"/>
                <p:cNvSpPr/>
                <p:nvPr/>
              </p:nvSpPr>
              <p:spPr>
                <a:xfrm>
                  <a:off x="2023864" y="2039040"/>
                  <a:ext cx="45508" cy="714725"/>
                </a:xfrm>
                <a:prstGeom prst="rect">
                  <a:avLst/>
                </a:prstGeom>
                <a:solidFill>
                  <a:srgbClr val="FFC000"/>
                </a:solidFill>
                <a:ln w="25400" cap="flat" cmpd="sng" algn="ctr">
                  <a:solidFill>
                    <a:srgbClr val="FFC00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kern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sp>
              <p:nvSpPr>
                <p:cNvPr id="95" name="矩形 94"/>
                <p:cNvSpPr/>
                <p:nvPr/>
              </p:nvSpPr>
              <p:spPr>
                <a:xfrm>
                  <a:off x="1951808" y="2047469"/>
                  <a:ext cx="46773" cy="713038"/>
                </a:xfrm>
                <a:prstGeom prst="rect">
                  <a:avLst/>
                </a:prstGeom>
                <a:solidFill>
                  <a:srgbClr val="0070C0"/>
                </a:solidFill>
                <a:ln w="25400" cap="flat" cmpd="sng" algn="ctr">
                  <a:solidFill>
                    <a:srgbClr val="0070C0"/>
                  </a:solidFill>
                  <a:prstDash val="solid"/>
                </a:ln>
                <a:effectLst/>
              </p:spPr>
              <p:txBody>
                <a:bodyPr anchor="ctr"/>
                <a:lstStyle/>
                <a:p>
                  <a:pPr algn="ctr" defTabSz="914400" eaLnBrk="1" fontAlgn="auto" hangingPunct="1">
                    <a:spcBef>
                      <a:spcPts val="0"/>
                    </a:spcBef>
                    <a:spcAft>
                      <a:spcPts val="0"/>
                    </a:spcAft>
                    <a:defRPr/>
                  </a:pPr>
                  <a:endParaRPr lang="zh-CN" altLang="en-US" sz="1800" kern="0">
                    <a:solidFill>
                      <a:prstClr val="white"/>
                    </a:solidFill>
                    <a:latin typeface="Calibri"/>
                  </a:endParaRPr>
                </a:p>
              </p:txBody>
            </p:sp>
            <p:cxnSp>
              <p:nvCxnSpPr>
                <p:cNvPr id="11313" name="直接连接符 95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1429472" y="2427798"/>
                  <a:ext cx="856321" cy="1264"/>
                </a:xfrm>
                <a:prstGeom prst="line">
                  <a:avLst/>
                </a:prstGeom>
                <a:noFill/>
                <a:ln w="28575" algn="ctr">
                  <a:solidFill>
                    <a:srgbClr val="4A7EBB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1306" name="直接连接符 18"/>
              <p:cNvCxnSpPr>
                <a:cxnSpLocks noChangeShapeType="1"/>
              </p:cNvCxnSpPr>
              <p:nvPr/>
            </p:nvCxnSpPr>
            <p:spPr bwMode="auto">
              <a:xfrm rot="5400000">
                <a:off x="1548299" y="2427798"/>
                <a:ext cx="856321" cy="1264"/>
              </a:xfrm>
              <a:prstGeom prst="line">
                <a:avLst/>
              </a:prstGeom>
              <a:noFill/>
              <a:ln w="2857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279" name="直接连接符 3"/>
            <p:cNvCxnSpPr>
              <a:cxnSpLocks noChangeShapeType="1"/>
            </p:cNvCxnSpPr>
            <p:nvPr/>
          </p:nvCxnSpPr>
          <p:spPr bwMode="auto">
            <a:xfrm rot="16200000" flipH="1">
              <a:off x="3144087" y="4456628"/>
              <a:ext cx="484834" cy="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0" name="直接连接符 60"/>
            <p:cNvCxnSpPr>
              <a:cxnSpLocks noChangeShapeType="1"/>
            </p:cNvCxnSpPr>
            <p:nvPr/>
          </p:nvCxnSpPr>
          <p:spPr bwMode="auto">
            <a:xfrm rot="10800000">
              <a:off x="5449889" y="2107527"/>
              <a:ext cx="481703" cy="7384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1" name="直接连接符 61"/>
            <p:cNvCxnSpPr>
              <a:cxnSpLocks noChangeShapeType="1"/>
            </p:cNvCxnSpPr>
            <p:nvPr/>
          </p:nvCxnSpPr>
          <p:spPr bwMode="auto">
            <a:xfrm rot="5400000">
              <a:off x="4763809" y="3258697"/>
              <a:ext cx="2335566" cy="3691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2" name="直接连接符 62"/>
            <p:cNvCxnSpPr>
              <a:cxnSpLocks noChangeShapeType="1"/>
            </p:cNvCxnSpPr>
            <p:nvPr/>
          </p:nvCxnSpPr>
          <p:spPr bwMode="auto">
            <a:xfrm>
              <a:off x="3404960" y="4425864"/>
              <a:ext cx="2524786" cy="2462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4" name="矩形 63"/>
            <p:cNvSpPr/>
            <p:nvPr/>
          </p:nvSpPr>
          <p:spPr>
            <a:xfrm>
              <a:off x="3310835" y="3020588"/>
              <a:ext cx="147648" cy="570971"/>
            </a:xfrm>
            <a:prstGeom prst="rect">
              <a:avLst/>
            </a:prstGeom>
            <a:solidFill>
              <a:sysClr val="windowText" lastClr="000000"/>
            </a:solidFill>
            <a:ln w="2540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1284" name="组合 58"/>
            <p:cNvGrpSpPr>
              <a:grpSpLocks/>
            </p:cNvGrpSpPr>
            <p:nvPr/>
          </p:nvGrpSpPr>
          <p:grpSpPr bwMode="auto">
            <a:xfrm>
              <a:off x="3009565" y="3931376"/>
              <a:ext cx="730087" cy="210872"/>
              <a:chOff x="1643062" y="3571875"/>
              <a:chExt cx="500062" cy="144463"/>
            </a:xfrm>
          </p:grpSpPr>
          <p:cxnSp>
            <p:nvCxnSpPr>
              <p:cNvPr id="11303" name="直接连接符 85"/>
              <p:cNvCxnSpPr>
                <a:cxnSpLocks noChangeShapeType="1"/>
              </p:cNvCxnSpPr>
              <p:nvPr/>
            </p:nvCxnSpPr>
            <p:spPr bwMode="auto">
              <a:xfrm>
                <a:off x="1786206" y="3715058"/>
                <a:ext cx="213636" cy="1687"/>
              </a:xfrm>
              <a:prstGeom prst="line">
                <a:avLst/>
              </a:prstGeom>
              <a:noFill/>
              <a:ln w="76200" algn="ctr">
                <a:solidFill>
                  <a:srgbClr val="2243E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1304" name="直接连接符 86"/>
              <p:cNvCxnSpPr>
                <a:cxnSpLocks noChangeShapeType="1"/>
              </p:cNvCxnSpPr>
              <p:nvPr/>
            </p:nvCxnSpPr>
            <p:spPr bwMode="auto">
              <a:xfrm>
                <a:off x="1643361" y="3571746"/>
                <a:ext cx="499327" cy="1685"/>
              </a:xfrm>
              <a:prstGeom prst="line">
                <a:avLst/>
              </a:prstGeom>
              <a:noFill/>
              <a:ln w="76200" algn="ctr">
                <a:solidFill>
                  <a:srgbClr val="2243EA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cxnSp>
          <p:nvCxnSpPr>
            <p:cNvPr id="11285" name="直接箭头连接符 65"/>
            <p:cNvCxnSpPr>
              <a:cxnSpLocks noChangeShapeType="1"/>
            </p:cNvCxnSpPr>
            <p:nvPr/>
          </p:nvCxnSpPr>
          <p:spPr bwMode="auto">
            <a:xfrm rot="10800000">
              <a:off x="3739015" y="1642383"/>
              <a:ext cx="1459872" cy="450377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prstDash val="sysDash"/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67" name="弧形 66"/>
            <p:cNvSpPr/>
            <p:nvPr/>
          </p:nvSpPr>
          <p:spPr>
            <a:xfrm rot="12908658">
              <a:off x="5372373" y="1745749"/>
              <a:ext cx="212245" cy="546360"/>
            </a:xfrm>
            <a:prstGeom prst="arc">
              <a:avLst/>
            </a:prstGeom>
            <a:noFill/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black"/>
                </a:solidFill>
                <a:latin typeface="Calibri"/>
              </a:endParaRPr>
            </a:p>
          </p:txBody>
        </p:sp>
        <p:cxnSp>
          <p:nvCxnSpPr>
            <p:cNvPr id="11287" name="直接连接符 67"/>
            <p:cNvCxnSpPr>
              <a:cxnSpLocks noChangeShapeType="1"/>
            </p:cNvCxnSpPr>
            <p:nvPr/>
          </p:nvCxnSpPr>
          <p:spPr bwMode="auto">
            <a:xfrm>
              <a:off x="2487695" y="1676838"/>
              <a:ext cx="730859" cy="211653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8" name="直接连接符 68"/>
            <p:cNvCxnSpPr>
              <a:cxnSpLocks noChangeShapeType="1"/>
            </p:cNvCxnSpPr>
            <p:nvPr/>
          </p:nvCxnSpPr>
          <p:spPr bwMode="auto">
            <a:xfrm flipV="1">
              <a:off x="2487695" y="1989395"/>
              <a:ext cx="730859" cy="209193"/>
            </a:xfrm>
            <a:prstGeom prst="line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1289" name="直接连接符 69"/>
            <p:cNvCxnSpPr>
              <a:cxnSpLocks noChangeShapeType="1"/>
            </p:cNvCxnSpPr>
            <p:nvPr/>
          </p:nvCxnSpPr>
          <p:spPr bwMode="auto">
            <a:xfrm rot="5400000">
              <a:off x="3162854" y="2786477"/>
              <a:ext cx="460221" cy="12920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1290" name="组合 68"/>
            <p:cNvGrpSpPr>
              <a:grpSpLocks/>
            </p:cNvGrpSpPr>
            <p:nvPr/>
          </p:nvGrpSpPr>
          <p:grpSpPr bwMode="auto">
            <a:xfrm>
              <a:off x="2214546" y="2615830"/>
              <a:ext cx="1172776" cy="418357"/>
              <a:chOff x="2214546" y="2615830"/>
              <a:chExt cx="1172776" cy="418357"/>
            </a:xfrm>
          </p:grpSpPr>
          <p:cxnSp>
            <p:nvCxnSpPr>
              <p:cNvPr id="11298" name="直接连接符 78"/>
              <p:cNvCxnSpPr>
                <a:cxnSpLocks noChangeShapeType="1"/>
              </p:cNvCxnSpPr>
              <p:nvPr/>
            </p:nvCxnSpPr>
            <p:spPr bwMode="auto">
              <a:xfrm rot="10800000">
                <a:off x="2904802" y="2826162"/>
                <a:ext cx="481702" cy="7384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11299" name="组合 49"/>
              <p:cNvGrpSpPr>
                <a:grpSpLocks/>
              </p:cNvGrpSpPr>
              <p:nvPr/>
            </p:nvGrpSpPr>
            <p:grpSpPr bwMode="auto">
              <a:xfrm>
                <a:off x="2724275" y="2615830"/>
                <a:ext cx="166744" cy="418357"/>
                <a:chOff x="4642644" y="1571612"/>
                <a:chExt cx="114232" cy="286546"/>
              </a:xfrm>
            </p:grpSpPr>
            <p:cxnSp>
              <p:nvCxnSpPr>
                <p:cNvPr id="11301" name="直接连接符 81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500602" y="1715886"/>
                  <a:ext cx="284879" cy="1264"/>
                </a:xfrm>
                <a:prstGeom prst="line">
                  <a:avLst/>
                </a:prstGeom>
                <a:noFill/>
                <a:ln w="38100" algn="ctr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  <p:cxnSp>
              <p:nvCxnSpPr>
                <p:cNvPr id="11302" name="直接连接符 82"/>
                <p:cNvCxnSpPr>
                  <a:cxnSpLocks noChangeShapeType="1"/>
                </p:cNvCxnSpPr>
                <p:nvPr/>
              </p:nvCxnSpPr>
              <p:spPr bwMode="auto">
                <a:xfrm rot="5400000">
                  <a:off x="4605967" y="1715044"/>
                  <a:ext cx="286564" cy="1264"/>
                </a:xfrm>
                <a:prstGeom prst="line">
                  <a:avLst/>
                </a:prstGeom>
                <a:noFill/>
                <a:ln w="38100" algn="ctr">
                  <a:solidFill>
                    <a:srgbClr val="0000CC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</p:cxnSp>
          </p:grpSp>
          <p:cxnSp>
            <p:nvCxnSpPr>
              <p:cNvPr id="11300" name="直接连接符 80"/>
              <p:cNvCxnSpPr>
                <a:cxnSpLocks noChangeShapeType="1"/>
              </p:cNvCxnSpPr>
              <p:nvPr/>
            </p:nvCxnSpPr>
            <p:spPr bwMode="auto">
              <a:xfrm rot="10800000">
                <a:off x="2214546" y="2826162"/>
                <a:ext cx="481702" cy="7384"/>
              </a:xfrm>
              <a:prstGeom prst="line">
                <a:avLst/>
              </a:prstGeom>
              <a:noFill/>
              <a:ln w="3810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</p:grpSp>
        <p:sp>
          <p:nvSpPr>
            <p:cNvPr id="72" name="矩形 71"/>
            <p:cNvSpPr/>
            <p:nvPr/>
          </p:nvSpPr>
          <p:spPr>
            <a:xfrm>
              <a:off x="3351438" y="1408581"/>
              <a:ext cx="105199" cy="1146863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noFill/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kern="0">
                <a:solidFill>
                  <a:prstClr val="white"/>
                </a:solidFill>
                <a:latin typeface="Calibri"/>
              </a:endParaRPr>
            </a:p>
          </p:txBody>
        </p:sp>
        <p:grpSp>
          <p:nvGrpSpPr>
            <p:cNvPr id="11292" name="组合 55"/>
            <p:cNvGrpSpPr>
              <a:grpSpLocks/>
            </p:cNvGrpSpPr>
            <p:nvPr/>
          </p:nvGrpSpPr>
          <p:grpSpPr bwMode="auto">
            <a:xfrm>
              <a:off x="3214678" y="4714908"/>
              <a:ext cx="312897" cy="254856"/>
              <a:chOff x="1785918" y="4143380"/>
              <a:chExt cx="214314" cy="174558"/>
            </a:xfrm>
          </p:grpSpPr>
          <p:sp>
            <p:nvSpPr>
              <p:cNvPr id="77" name="矩形 10"/>
              <p:cNvSpPr/>
              <p:nvPr/>
            </p:nvSpPr>
            <p:spPr>
              <a:xfrm>
                <a:off x="1786045" y="4142629"/>
                <a:ext cx="213636" cy="70798"/>
              </a:xfrm>
              <a:prstGeom prst="rect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black"/>
                  </a:solidFill>
                  <a:latin typeface="Calibri"/>
                </a:endParaRPr>
              </a:p>
            </p:txBody>
          </p:sp>
          <p:sp>
            <p:nvSpPr>
              <p:cNvPr id="78" name="矩形 77"/>
              <p:cNvSpPr/>
              <p:nvPr/>
            </p:nvSpPr>
            <p:spPr>
              <a:xfrm flipV="1">
                <a:off x="1816383" y="4247140"/>
                <a:ext cx="141581" cy="70798"/>
              </a:xfrm>
              <a:prstGeom prst="rect">
                <a:avLst/>
              </a:prstGeom>
              <a:solidFill>
                <a:sysClr val="windowText" lastClr="000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cxnSp>
          <p:nvCxnSpPr>
            <p:cNvPr id="11293" name="直接连接符 73"/>
            <p:cNvCxnSpPr>
              <a:cxnSpLocks noChangeShapeType="1"/>
            </p:cNvCxnSpPr>
            <p:nvPr/>
          </p:nvCxnSpPr>
          <p:spPr bwMode="auto">
            <a:xfrm rot="5400000">
              <a:off x="3244684" y="3753067"/>
              <a:ext cx="285485" cy="1846"/>
            </a:xfrm>
            <a:prstGeom prst="line">
              <a:avLst/>
            </a:prstGeom>
            <a:noFill/>
            <a:ln w="38100" algn="ctr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75" name="TextBox 32"/>
            <p:cNvSpPr txBox="1">
              <a:spLocks noChangeArrowheads="1"/>
            </p:cNvSpPr>
            <p:nvPr/>
          </p:nvSpPr>
          <p:spPr bwMode="auto">
            <a:xfrm>
              <a:off x="3571064" y="3143642"/>
              <a:ext cx="358047" cy="428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i="1" kern="0" dirty="0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R</a:t>
              </a:r>
              <a:r>
                <a:rPr lang="en-US" altLang="zh-CN" sz="1800" b="1" i="1" kern="0" baseline="-25000" dirty="0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lang="zh-CN" altLang="en-US" sz="1800" b="1" i="1" kern="0" dirty="0">
                <a:solidFill>
                  <a:prstClr val="black"/>
                </a:solidFill>
                <a:latin typeface="Times New Roman" pitchFamily="18" charset="0"/>
                <a:ea typeface="宋体" charset="-122"/>
              </a:endParaRPr>
            </a:p>
          </p:txBody>
        </p:sp>
        <p:sp>
          <p:nvSpPr>
            <p:cNvPr id="76" name="TextBox 33"/>
            <p:cNvSpPr txBox="1">
              <a:spLocks noChangeArrowheads="1"/>
            </p:cNvSpPr>
            <p:nvPr/>
          </p:nvSpPr>
          <p:spPr bwMode="auto">
            <a:xfrm>
              <a:off x="2214546" y="2858157"/>
              <a:ext cx="358047" cy="42822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lIns="0" tIns="0" rIns="0" bIns="0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i="1" kern="0" dirty="0" smtClean="0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V</a:t>
              </a:r>
              <a:r>
                <a:rPr lang="en-US" altLang="zh-CN" sz="1800" b="1" i="1" kern="0" baseline="-25000" dirty="0" smtClean="0">
                  <a:solidFill>
                    <a:prstClr val="black"/>
                  </a:solidFill>
                  <a:latin typeface="Times New Roman" pitchFamily="18" charset="0"/>
                  <a:ea typeface="宋体" charset="-122"/>
                </a:rPr>
                <a:t>L</a:t>
              </a:r>
              <a:endParaRPr lang="zh-CN" altLang="en-US" sz="1800" b="1" i="1" kern="0" dirty="0">
                <a:solidFill>
                  <a:prstClr val="black"/>
                </a:solidFill>
                <a:latin typeface="Times New Roman" pitchFamily="18" charset="0"/>
                <a:ea typeface="宋体" charset="-122"/>
              </a:endParaRPr>
            </a:p>
          </p:txBody>
        </p:sp>
      </p:grpSp>
      <p:sp>
        <p:nvSpPr>
          <p:cNvPr id="69" name="矩形 68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1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4" name="矩形 73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/>
      <p:bldP spid="54" grpId="0"/>
      <p:bldP spid="55" grpId="0"/>
      <p:bldP spid="5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组合 8"/>
          <p:cNvGrpSpPr>
            <a:grpSpLocks/>
          </p:cNvGrpSpPr>
          <p:nvPr/>
        </p:nvGrpSpPr>
        <p:grpSpPr bwMode="auto">
          <a:xfrm>
            <a:off x="1552575" y="2851150"/>
            <a:ext cx="10901363" cy="2270125"/>
            <a:chOff x="214282" y="2286000"/>
            <a:chExt cx="8643998" cy="2339291"/>
          </a:xfrm>
        </p:grpSpPr>
        <p:sp>
          <p:nvSpPr>
            <p:cNvPr id="17" name="圆角矩形 16"/>
            <p:cNvSpPr/>
            <p:nvPr/>
          </p:nvSpPr>
          <p:spPr>
            <a:xfrm>
              <a:off x="214282" y="2357978"/>
              <a:ext cx="8500498" cy="1714389"/>
            </a:xfrm>
            <a:prstGeom prst="roundRect">
              <a:avLst/>
            </a:prstGeom>
            <a:solidFill>
              <a:srgbClr val="F79646">
                <a:lumMod val="40000"/>
                <a:lumOff val="60000"/>
                <a:alpha val="55000"/>
              </a:srgbClr>
            </a:solidFill>
            <a:ln w="381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2400" kern="0">
                <a:solidFill>
                  <a:prstClr val="white"/>
                </a:solidFill>
                <a:latin typeface="Calibri"/>
              </a:endParaRPr>
            </a:p>
          </p:txBody>
        </p:sp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214282" y="2286000"/>
              <a:ext cx="8643998" cy="233929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lnSpc>
                  <a:spcPct val="1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kumimoji="1" lang="en-US" altLang="zh-CN" sz="2400" b="1" kern="0" dirty="0">
                  <a:solidFill>
                    <a:prstClr val="black"/>
                  </a:solidFill>
                  <a:latin typeface="微软雅黑" pitchFamily="34" charset="-122"/>
                  <a:ea typeface="微软雅黑" pitchFamily="34" charset="-122"/>
                </a:rPr>
                <a:t>        </a:t>
              </a:r>
              <a:r>
                <a:rPr kumimoji="1" lang="zh-CN" altLang="en-US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例如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:PAL</a:t>
              </a:r>
              <a:r>
                <a:rPr kumimoji="1" lang="zh-CN" altLang="en-US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制式，先从左上角开始，从左向右扫，然后再一行挨着一行地从上向下扫，当扫到最右下角时，再返回到左上角，接着扫下一帧，场周期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kumimoji="1" lang="en-US" altLang="zh-CN" sz="2400" b="1" kern="0" baseline="-2500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=40ms</a:t>
              </a:r>
              <a:r>
                <a:rPr kumimoji="1" lang="zh-CN" altLang="en-US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，行周期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T</a:t>
              </a:r>
              <a:r>
                <a:rPr kumimoji="1" lang="en-US" altLang="zh-CN" sz="2400" b="1" kern="0" baseline="-2500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2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=64</a:t>
              </a:r>
              <a:r>
                <a:rPr kumimoji="1" lang="el-GR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μ</a:t>
              </a:r>
              <a:r>
                <a:rPr kumimoji="1" lang="en-US" altLang="zh-CN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s</a:t>
              </a:r>
              <a:r>
                <a:rPr kumimoji="1" lang="zh-CN" altLang="en-US" sz="24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。</a:t>
              </a:r>
            </a:p>
          </p:txBody>
        </p:sp>
      </p:grpSp>
      <p:sp>
        <p:nvSpPr>
          <p:cNvPr id="19" name="Text Box 4"/>
          <p:cNvSpPr txBox="1">
            <a:spLocks noChangeArrowheads="1"/>
          </p:cNvSpPr>
          <p:nvPr/>
        </p:nvSpPr>
        <p:spPr bwMode="auto">
          <a:xfrm>
            <a:off x="1374775" y="1349375"/>
            <a:ext cx="5929313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>
              <a:spcBef>
                <a:spcPct val="50000"/>
              </a:spcBef>
            </a:pPr>
            <a:r>
              <a:rPr kumimoji="1" lang="en-US" altLang="zh-CN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(3) </a:t>
            </a:r>
            <a:r>
              <a:rPr kumimoji="1" lang="zh-CN" altLang="en-US" sz="2800" b="1">
                <a:solidFill>
                  <a:srgbClr val="00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硅靶摄像管产生视频信号的过程 </a:t>
            </a:r>
          </a:p>
        </p:txBody>
      </p:sp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2301875" y="2016125"/>
            <a:ext cx="6434138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扫描电子束按一定的制式去扫描靶面。</a:t>
            </a:r>
          </a:p>
        </p:txBody>
      </p:sp>
      <p:sp>
        <p:nvSpPr>
          <p:cNvPr id="21" name="Text Box 6"/>
          <p:cNvSpPr txBox="1">
            <a:spLocks noChangeArrowheads="1"/>
          </p:cNvSpPr>
          <p:nvPr/>
        </p:nvSpPr>
        <p:spPr bwMode="auto">
          <a:xfrm>
            <a:off x="1576388" y="4856163"/>
            <a:ext cx="4344987" cy="1754187"/>
          </a:xfrm>
          <a:prstGeom prst="rect">
            <a:avLst/>
          </a:prstGeom>
          <a:noFill/>
          <a:ln w="317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扫描过程</a:t>
            </a: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相当于用一条软导线，按着一定的次序去接通每个</a:t>
            </a:r>
            <a:r>
              <a:rPr kumimoji="1"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型岛。</a:t>
            </a:r>
          </a:p>
        </p:txBody>
      </p:sp>
      <p:sp>
        <p:nvSpPr>
          <p:cNvPr id="22" name="Text Box 6"/>
          <p:cNvSpPr txBox="1">
            <a:spLocks noChangeArrowheads="1"/>
          </p:cNvSpPr>
          <p:nvPr/>
        </p:nvSpPr>
        <p:spPr bwMode="auto">
          <a:xfrm>
            <a:off x="7146925" y="4810125"/>
            <a:ext cx="5160963" cy="1754188"/>
          </a:xfrm>
          <a:prstGeom prst="rect">
            <a:avLst/>
          </a:prstGeom>
          <a:noFill/>
          <a:ln w="381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当电子束与每个</a:t>
            </a:r>
            <a:r>
              <a:rPr kumimoji="1"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型岛接触时，靶上电子数的多少，正比于各</a:t>
            </a:r>
            <a:r>
              <a:rPr kumimoji="1"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型岛电势的高低。</a:t>
            </a:r>
          </a:p>
        </p:txBody>
      </p:sp>
      <p:sp>
        <p:nvSpPr>
          <p:cNvPr id="23" name="右箭头 22"/>
          <p:cNvSpPr/>
          <p:nvPr/>
        </p:nvSpPr>
        <p:spPr>
          <a:xfrm>
            <a:off x="6215063" y="5532438"/>
            <a:ext cx="814387" cy="482600"/>
          </a:xfrm>
          <a:prstGeom prst="right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10800000" scaled="1"/>
            <a:tileRect/>
          </a:gra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24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1" grpId="0" animBg="1"/>
      <p:bldP spid="22" grpId="0" animBg="1"/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Box 4"/>
          <p:cNvSpPr txBox="1">
            <a:spLocks noChangeArrowheads="1"/>
          </p:cNvSpPr>
          <p:nvPr/>
        </p:nvSpPr>
        <p:spPr bwMode="auto">
          <a:xfrm>
            <a:off x="1704975" y="4168775"/>
            <a:ext cx="978376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eaLnBrk="1" hangingPunct="1"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如果光照是</a:t>
            </a:r>
            <a:r>
              <a:rPr kumimoji="1" lang="zh-CN" altLang="en-US" sz="2800" b="1" dirty="0">
                <a:latin typeface="华文琥珀" panose="02010800040101010101" pitchFamily="2" charset="-122"/>
                <a:ea typeface="华文琥珀" panose="02010800040101010101" pitchFamily="2" charset="-122"/>
              </a:rPr>
              <a:t>均匀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的，靶的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扫描面电位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只是均匀地升高。</a:t>
            </a:r>
          </a:p>
        </p:txBody>
      </p:sp>
      <p:sp>
        <p:nvSpPr>
          <p:cNvPr id="9" name="Text Box 5"/>
          <p:cNvSpPr txBox="1">
            <a:spLocks noChangeArrowheads="1"/>
          </p:cNvSpPr>
          <p:nvPr/>
        </p:nvSpPr>
        <p:spPr bwMode="auto">
          <a:xfrm>
            <a:off x="3140075" y="2976563"/>
            <a:ext cx="3286125" cy="831850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光生</a:t>
            </a:r>
            <a:r>
              <a:rPr kumimoji="1" lang="zh-CN" altLang="en-US" sz="2400" b="1"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电子</a:t>
            </a: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通过信号板等外电路中和</a:t>
            </a: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5411788" y="1123950"/>
            <a:ext cx="272415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kumimoji="1" lang="zh-CN" altLang="en-US" sz="3200" b="1">
                <a:solidFill>
                  <a:srgbClr val="FF0000"/>
                </a:solidFill>
                <a:latin typeface="华文彩云" panose="02010800040101010101" pitchFamily="2" charset="-122"/>
                <a:ea typeface="华文彩云" panose="02010800040101010101" pitchFamily="2" charset="-122"/>
              </a:rPr>
              <a:t>有光图像时</a:t>
            </a:r>
          </a:p>
        </p:txBody>
      </p:sp>
      <p:sp>
        <p:nvSpPr>
          <p:cNvPr id="11" name="Text Box 5"/>
          <p:cNvSpPr txBox="1">
            <a:spLocks noChangeArrowheads="1"/>
          </p:cNvSpPr>
          <p:nvPr/>
        </p:nvSpPr>
        <p:spPr bwMode="auto">
          <a:xfrm>
            <a:off x="3178175" y="1851025"/>
            <a:ext cx="2214563" cy="46196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8100">
            <a:noFill/>
            <a:miter lim="800000"/>
            <a:headEnd/>
            <a:tailEnd/>
          </a:ln>
          <a:ex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光图像进入</a:t>
            </a:r>
          </a:p>
        </p:txBody>
      </p:sp>
      <p:sp>
        <p:nvSpPr>
          <p:cNvPr id="12" name="Text Box 5"/>
          <p:cNvSpPr txBox="1">
            <a:spLocks noChangeArrowheads="1"/>
          </p:cNvSpPr>
          <p:nvPr/>
        </p:nvSpPr>
        <p:spPr bwMode="auto">
          <a:xfrm>
            <a:off x="5964238" y="1851025"/>
            <a:ext cx="1428750" cy="461963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38100">
            <a:noFill/>
            <a:miter lim="800000"/>
            <a:headEnd/>
            <a:tailEnd/>
          </a:ln>
          <a:ex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PN</a:t>
            </a: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结</a:t>
            </a:r>
          </a:p>
        </p:txBody>
      </p:sp>
      <p:sp>
        <p:nvSpPr>
          <p:cNvPr id="13" name="Text Box 5"/>
          <p:cNvSpPr txBox="1">
            <a:spLocks noChangeArrowheads="1"/>
          </p:cNvSpPr>
          <p:nvPr/>
        </p:nvSpPr>
        <p:spPr bwMode="auto">
          <a:xfrm>
            <a:off x="7964488" y="1851025"/>
            <a:ext cx="2286000" cy="46196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38100">
            <a:noFill/>
            <a:miter lim="800000"/>
            <a:headEnd/>
            <a:tailEnd/>
          </a:ln>
          <a:ex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电子</a:t>
            </a:r>
            <a:r>
              <a:rPr kumimoji="1" lang="en-US" altLang="zh-CN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400" b="1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空穴对</a:t>
            </a:r>
          </a:p>
        </p:txBody>
      </p:sp>
      <p:sp>
        <p:nvSpPr>
          <p:cNvPr id="14" name="Text Box 5"/>
          <p:cNvSpPr txBox="1">
            <a:spLocks noChangeArrowheads="1"/>
          </p:cNvSpPr>
          <p:nvPr/>
        </p:nvSpPr>
        <p:spPr bwMode="auto">
          <a:xfrm>
            <a:off x="5178425" y="2387600"/>
            <a:ext cx="3000375" cy="46196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8100">
            <a:noFill/>
            <a:miter lim="800000"/>
            <a:headEnd/>
            <a:tailEnd/>
          </a:ln>
          <a:extLst/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被内建电场分离</a:t>
            </a:r>
          </a:p>
        </p:txBody>
      </p:sp>
      <p:sp>
        <p:nvSpPr>
          <p:cNvPr id="15" name="Text Box 5"/>
          <p:cNvSpPr txBox="1">
            <a:spLocks noChangeArrowheads="1"/>
          </p:cNvSpPr>
          <p:nvPr/>
        </p:nvSpPr>
        <p:spPr bwMode="auto">
          <a:xfrm>
            <a:off x="7321550" y="2976563"/>
            <a:ext cx="2786063" cy="831850"/>
          </a:xfrm>
          <a:prstGeom prst="rect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eaLnBrk="1" hangingPunct="1">
              <a:spcBef>
                <a:spcPct val="50000"/>
              </a:spcBef>
            </a:pP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光生</a:t>
            </a:r>
            <a:r>
              <a:rPr kumimoji="1" lang="zh-CN" altLang="en-US" sz="2400" b="1">
                <a:solidFill>
                  <a:schemeClr val="bg1"/>
                </a:solidFill>
                <a:latin typeface="华文琥珀" panose="02010800040101010101" pitchFamily="2" charset="-122"/>
                <a:ea typeface="华文琥珀" panose="02010800040101010101" pitchFamily="2" charset="-122"/>
                <a:cs typeface="Times New Roman" panose="02020603050405020304" pitchFamily="18" charset="0"/>
              </a:rPr>
              <a:t>空穴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则被积累于</a:t>
            </a:r>
            <a:r>
              <a:rPr kumimoji="1"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400" b="1">
                <a:solidFill>
                  <a:schemeClr val="bg1"/>
                </a:solidFill>
                <a:latin typeface="Times New Roman" panose="02020603050405020304" pitchFamily="18" charset="0"/>
                <a:ea typeface="黑体" panose="02010609060101010101" pitchFamily="49" charset="-122"/>
                <a:cs typeface="Times New Roman" panose="02020603050405020304" pitchFamily="18" charset="0"/>
              </a:rPr>
              <a:t>型岛上</a:t>
            </a:r>
          </a:p>
        </p:txBody>
      </p:sp>
      <p:sp>
        <p:nvSpPr>
          <p:cNvPr id="16" name="Text Box 4"/>
          <p:cNvSpPr txBox="1">
            <a:spLocks noChangeArrowheads="1"/>
          </p:cNvSpPr>
          <p:nvPr/>
        </p:nvSpPr>
        <p:spPr bwMode="auto">
          <a:xfrm>
            <a:off x="1704975" y="4927600"/>
            <a:ext cx="10139363" cy="1890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457200" indent="-457200" algn="just" eaLnBrk="1" hangingPunct="1">
              <a:lnSpc>
                <a:spcPct val="145000"/>
              </a:lnSpc>
              <a:spcBef>
                <a:spcPct val="50000"/>
              </a:spcBef>
              <a:buFont typeface="Wingdings" panose="05000000000000000000" pitchFamily="2" charset="2"/>
              <a:buChar char="l"/>
            </a:pP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如果光照</a:t>
            </a:r>
            <a:r>
              <a:rPr kumimoji="1" lang="zh-CN" altLang="en-US" sz="2800" b="1" dirty="0">
                <a:latin typeface="华文琥珀" panose="02010800040101010101" pitchFamily="2" charset="-122"/>
                <a:ea typeface="华文琥珀" panose="02010800040101010101" pitchFamily="2" charset="-122"/>
              </a:rPr>
              <a:t>不均匀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，是一幅光学图像，则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扫描面上各</a:t>
            </a:r>
            <a:r>
              <a:rPr kumimoji="1" lang="en-US" altLang="zh-CN" sz="28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P</a:t>
            </a:r>
            <a:r>
              <a:rPr kumimoji="1" lang="zh-CN" altLang="en-US" sz="2800" b="1" dirty="0">
                <a:solidFill>
                  <a:srgbClr val="FF0000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型岛的电势分布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，将</a:t>
            </a:r>
            <a:r>
              <a:rPr kumimoji="1" lang="zh-CN" altLang="en-US" sz="2800" b="1" dirty="0">
                <a:solidFill>
                  <a:srgbClr val="0000CC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正比于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入射</a:t>
            </a:r>
            <a:r>
              <a:rPr kumimoji="1" lang="zh-CN" altLang="en-US" sz="2800" b="1" dirty="0">
                <a:solidFill>
                  <a:srgbClr val="0000CC"/>
                </a:solidFill>
                <a:latin typeface="华文琥珀" panose="02010800040101010101" pitchFamily="2" charset="-122"/>
                <a:ea typeface="华文琥珀" panose="02010800040101010101" pitchFamily="2" charset="-122"/>
              </a:rPr>
              <a:t>光学图像的亮度分布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，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亮度高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的点，所对应的</a:t>
            </a:r>
            <a:r>
              <a:rPr kumimoji="1" lang="en-US" altLang="zh-CN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P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型岛的</a:t>
            </a:r>
            <a:r>
              <a:rPr kumimoji="1"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电势也高</a:t>
            </a:r>
            <a:r>
              <a:rPr kumimoji="1" lang="zh-CN" altLang="en-US" sz="2800" b="1" dirty="0">
                <a:latin typeface="黑体" panose="02010609060101010101" pitchFamily="49" charset="-122"/>
                <a:ea typeface="黑体" panose="02010609060101010101" pitchFamily="49" charset="-122"/>
              </a:rPr>
              <a:t>。 </a:t>
            </a:r>
          </a:p>
        </p:txBody>
      </p:sp>
      <p:sp>
        <p:nvSpPr>
          <p:cNvPr id="26" name="矩形 25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4"/>
          <p:cNvSpPr txBox="1">
            <a:spLocks noChangeArrowheads="1"/>
          </p:cNvSpPr>
          <p:nvPr/>
        </p:nvSpPr>
        <p:spPr bwMode="auto">
          <a:xfrm>
            <a:off x="2646363" y="1884363"/>
            <a:ext cx="4000500" cy="1773237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与此同时，被扫到的</a:t>
            </a:r>
            <a:r>
              <a:rPr kumimoji="1" lang="en-US" altLang="zh-CN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型岛，即被拉回到地的电位，为下一帧光积分作准备。</a:t>
            </a:r>
          </a:p>
        </p:txBody>
      </p:sp>
      <p:sp>
        <p:nvSpPr>
          <p:cNvPr id="14" name="Text Box 4"/>
          <p:cNvSpPr txBox="1">
            <a:spLocks noChangeArrowheads="1"/>
          </p:cNvSpPr>
          <p:nvPr/>
        </p:nvSpPr>
        <p:spPr bwMode="auto">
          <a:xfrm>
            <a:off x="6967538" y="2965450"/>
            <a:ext cx="4357687" cy="1773238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当下一帧再扫到它时，它就可以把一个帧周期时间内积累起的信息电荷，瞬时地放出来。</a:t>
            </a:r>
          </a:p>
        </p:txBody>
      </p:sp>
      <p:sp>
        <p:nvSpPr>
          <p:cNvPr id="15" name="Text Box 4"/>
          <p:cNvSpPr txBox="1">
            <a:spLocks noChangeArrowheads="1"/>
          </p:cNvSpPr>
          <p:nvPr/>
        </p:nvSpPr>
        <p:spPr bwMode="auto">
          <a:xfrm>
            <a:off x="2719388" y="4981575"/>
            <a:ext cx="5214937" cy="1225550"/>
          </a:xfrm>
          <a:prstGeom prst="rect">
            <a:avLst/>
          </a:prstGeom>
          <a:noFill/>
          <a:ln w="38100">
            <a:solidFill>
              <a:srgbClr val="0000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400" b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就这样反复下去，即可得到与光学图象亮度分布相对应的时序视频信号。</a:t>
            </a:r>
          </a:p>
        </p:txBody>
      </p:sp>
      <p:sp>
        <p:nvSpPr>
          <p:cNvPr id="16" name="右弧形箭头 15"/>
          <p:cNvSpPr/>
          <p:nvPr/>
        </p:nvSpPr>
        <p:spPr>
          <a:xfrm rot="19181228">
            <a:off x="6967538" y="1741488"/>
            <a:ext cx="792162" cy="1106487"/>
          </a:xfrm>
          <a:prstGeom prst="curvedLeftArrow">
            <a:avLst>
              <a:gd name="adj1" fmla="val 25000"/>
              <a:gd name="adj2" fmla="val 63060"/>
              <a:gd name="adj3" fmla="val 25000"/>
            </a:avLst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16200000" scaled="1"/>
            <a:tileRect/>
          </a:gra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7" name="左弧形箭头 16"/>
          <p:cNvSpPr/>
          <p:nvPr/>
        </p:nvSpPr>
        <p:spPr>
          <a:xfrm rot="2285169">
            <a:off x="5607050" y="3706813"/>
            <a:ext cx="928688" cy="1177925"/>
          </a:xfrm>
          <a:prstGeom prst="curvedRightArrow">
            <a:avLst/>
          </a:prstGeom>
          <a:gradFill flip="none" rotWithShape="1">
            <a:gsLst>
              <a:gs pos="0">
                <a:srgbClr val="FFF200"/>
              </a:gs>
              <a:gs pos="45000">
                <a:srgbClr val="FF7A00"/>
              </a:gs>
              <a:gs pos="70000">
                <a:srgbClr val="FF0300"/>
              </a:gs>
              <a:gs pos="100000">
                <a:srgbClr val="4D0808"/>
              </a:gs>
            </a:gsLst>
            <a:lin ang="13500000" scaled="1"/>
            <a:tileRect/>
          </a:gradFill>
          <a:ln w="2540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8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9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8" presetClass="entr" presetSubtype="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Box 6"/>
          <p:cNvSpPr txBox="1">
            <a:spLocks noChangeArrowheads="1"/>
          </p:cNvSpPr>
          <p:nvPr/>
        </p:nvSpPr>
        <p:spPr bwMode="auto">
          <a:xfrm>
            <a:off x="1128713" y="1724025"/>
            <a:ext cx="6523037" cy="6622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如图：如果第</a:t>
            </a:r>
            <a:r>
              <a:rPr kumimoji="1" lang="en-US" altLang="zh-CN" sz="2800" b="1" dirty="0" err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 dirty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型岛电势的变化</a:t>
            </a:r>
            <a:r>
              <a:rPr kumimoji="1" lang="zh-CN" altLang="en-US" sz="280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</a:t>
            </a:r>
            <a:r>
              <a:rPr kumimoji="1" lang="en-US" altLang="zh-CN" sz="2800" b="1" i="1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V</a:t>
            </a:r>
            <a:r>
              <a:rPr kumimoji="1" lang="en-US" altLang="zh-CN" sz="2800" b="1" i="1" baseline="-25000" dirty="0" smtClean="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endParaRPr kumimoji="1" lang="zh-CN" altLang="en-US" sz="2800" b="1" i="1" dirty="0">
              <a:solidFill>
                <a:srgbClr val="000000"/>
              </a:solidFill>
              <a:latin typeface="Times New Roman" panose="02020603050405020304" pitchFamily="18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" name="Text Box 6"/>
          <p:cNvSpPr txBox="1">
            <a:spLocks noChangeArrowheads="1"/>
          </p:cNvSpPr>
          <p:nvPr/>
        </p:nvSpPr>
        <p:spPr bwMode="auto">
          <a:xfrm>
            <a:off x="1128713" y="2616200"/>
            <a:ext cx="5578475" cy="738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型岛电子束软导线接通时</a:t>
            </a:r>
          </a:p>
        </p:txBody>
      </p:sp>
      <p:graphicFrame>
        <p:nvGraphicFramePr>
          <p:cNvPr id="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0059709"/>
              </p:ext>
            </p:extLst>
          </p:nvPr>
        </p:nvGraphicFramePr>
        <p:xfrm>
          <a:off x="3252788" y="5732463"/>
          <a:ext cx="252253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4" name="Equation" r:id="rId3" imgW="888840" imgH="431640" progId="">
                  <p:embed/>
                </p:oleObj>
              </mc:Choice>
              <mc:Fallback>
                <p:oleObj name="Equation" r:id="rId3" imgW="888840" imgH="431640" progId="">
                  <p:embed/>
                  <p:pic>
                    <p:nvPicPr>
                      <p:cNvPr id="0" name="Picture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52788" y="5732463"/>
                        <a:ext cx="2522537" cy="917575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Text Box 3"/>
          <p:cNvSpPr txBox="1">
            <a:spLocks noChangeArrowheads="1"/>
          </p:cNvSpPr>
          <p:nvPr/>
        </p:nvSpPr>
        <p:spPr bwMode="auto">
          <a:xfrm>
            <a:off x="1147763" y="3508375"/>
            <a:ext cx="6180137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输出回路（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负载电阻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电源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电子束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热阴极</a:t>
            </a:r>
            <a:r>
              <a:rPr kumimoji="1" lang="en-US" altLang="zh-CN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kumimoji="1"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</a:t>
            </a:r>
            <a:r>
              <a:rPr kumimoji="1"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）中即产生与之对应的电子流，电流的大小为</a:t>
            </a:r>
          </a:p>
        </p:txBody>
      </p:sp>
      <p:graphicFrame>
        <p:nvGraphicFramePr>
          <p:cNvPr id="1536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16800628"/>
              </p:ext>
            </p:extLst>
          </p:nvPr>
        </p:nvGraphicFramePr>
        <p:xfrm>
          <a:off x="7789863" y="2370138"/>
          <a:ext cx="4700587" cy="3257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405" name="Visio" r:id="rId5" imgW="2066775" imgH="1819321" progId="">
                  <p:embed/>
                </p:oleObj>
              </mc:Choice>
              <mc:Fallback>
                <p:oleObj name="Visio" r:id="rId5" imgW="2066775" imgH="1819321" progId="">
                  <p:embed/>
                  <p:pic>
                    <p:nvPicPr>
                      <p:cNvPr id="0" name="Picture 3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9863" y="2370138"/>
                        <a:ext cx="4700587" cy="32575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367" name="矩形 2"/>
          <p:cNvSpPr>
            <a:spLocks noChangeArrowheads="1"/>
          </p:cNvSpPr>
          <p:nvPr/>
        </p:nvSpPr>
        <p:spPr bwMode="auto">
          <a:xfrm>
            <a:off x="9345613" y="5262563"/>
            <a:ext cx="24923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摄像管输出等效电路</a:t>
            </a:r>
          </a:p>
        </p:txBody>
      </p:sp>
      <p:sp>
        <p:nvSpPr>
          <p:cNvPr id="26" name="矩形 25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8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  <p:bldP spid="16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8624885"/>
              </p:ext>
            </p:extLst>
          </p:nvPr>
        </p:nvGraphicFramePr>
        <p:xfrm>
          <a:off x="3511550" y="5822950"/>
          <a:ext cx="2312988" cy="7651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6" name="Equation" r:id="rId3" imgW="977760" imgH="431640" progId="">
                  <p:embed/>
                </p:oleObj>
              </mc:Choice>
              <mc:Fallback>
                <p:oleObj name="Equation" r:id="rId3" imgW="977760" imgH="431640" progId="">
                  <p:embed/>
                  <p:pic>
                    <p:nvPicPr>
                      <p:cNvPr id="0" name="Picture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1550" y="5822950"/>
                        <a:ext cx="2312988" cy="765175"/>
                      </a:xfrm>
                      <a:prstGeom prst="rect">
                        <a:avLst/>
                      </a:prstGeom>
                      <a:solidFill>
                        <a:srgbClr val="00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" name="TextBox 3"/>
          <p:cNvSpPr txBox="1">
            <a:spLocks noChangeArrowheads="1"/>
          </p:cNvSpPr>
          <p:nvPr/>
        </p:nvSpPr>
        <p:spPr bwMode="auto">
          <a:xfrm>
            <a:off x="1719263" y="1465263"/>
            <a:ext cx="935355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第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型岛在光存储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期间，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靶右边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电势最大值为</a:t>
            </a:r>
          </a:p>
        </p:txBody>
      </p:sp>
      <p:graphicFrame>
        <p:nvGraphicFramePr>
          <p:cNvPr id="20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83829645"/>
              </p:ext>
            </p:extLst>
          </p:nvPr>
        </p:nvGraphicFramePr>
        <p:xfrm>
          <a:off x="3473450" y="2114550"/>
          <a:ext cx="4140200" cy="7413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7" name="Equation" r:id="rId5" imgW="1549080" imgH="368280" progId="">
                  <p:embed/>
                </p:oleObj>
              </mc:Choice>
              <mc:Fallback>
                <p:oleObj name="Equation" r:id="rId5" imgW="1549080" imgH="368280" progId="">
                  <p:embed/>
                  <p:pic>
                    <p:nvPicPr>
                      <p:cNvPr id="0" name="Picture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3450" y="2114550"/>
                        <a:ext cx="4140200" cy="741363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Box 6"/>
          <p:cNvSpPr txBox="1">
            <a:spLocks noChangeArrowheads="1"/>
          </p:cNvSpPr>
          <p:nvPr/>
        </p:nvSpPr>
        <p:spPr bwMode="auto">
          <a:xfrm>
            <a:off x="1719263" y="3159125"/>
            <a:ext cx="6357937" cy="1119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在读出时间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T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内，第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型岛电荷的变化量为</a:t>
            </a:r>
          </a:p>
        </p:txBody>
      </p:sp>
      <p:graphicFrame>
        <p:nvGraphicFramePr>
          <p:cNvPr id="23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29567319"/>
              </p:ext>
            </p:extLst>
          </p:nvPr>
        </p:nvGraphicFramePr>
        <p:xfrm>
          <a:off x="3486150" y="3911600"/>
          <a:ext cx="2128838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8" name="Equation" r:id="rId7" imgW="634680" imgH="228600" progId="">
                  <p:embed/>
                </p:oleObj>
              </mc:Choice>
              <mc:Fallback>
                <p:oleObj name="Equation" r:id="rId7" imgW="634680" imgH="228600" progId="">
                  <p:embed/>
                  <p:pic>
                    <p:nvPicPr>
                      <p:cNvPr id="0" name="Picture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86150" y="3911600"/>
                        <a:ext cx="2128838" cy="571500"/>
                      </a:xfrm>
                      <a:prstGeom prst="rect">
                        <a:avLst/>
                      </a:prstGeom>
                      <a:solidFill>
                        <a:srgbClr val="FFFF00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9"/>
          <p:cNvSpPr txBox="1">
            <a:spLocks noChangeArrowheads="1"/>
          </p:cNvSpPr>
          <p:nvPr/>
        </p:nvSpPr>
        <p:spPr bwMode="auto">
          <a:xfrm>
            <a:off x="1719263" y="4614863"/>
            <a:ext cx="4938712" cy="1120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25000"/>
              </a:lnSpc>
            </a:pP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输出图像信号在负载电阻</a:t>
            </a:r>
            <a:r>
              <a:rPr lang="en-US" altLang="zh-CN" sz="2800" b="1" i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zh-CN" sz="2800" b="1" baseline="-25000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L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上的电压为</a:t>
            </a:r>
          </a:p>
        </p:txBody>
      </p:sp>
      <p:graphicFrame>
        <p:nvGraphicFramePr>
          <p:cNvPr id="16392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292383329"/>
              </p:ext>
            </p:extLst>
          </p:nvPr>
        </p:nvGraphicFramePr>
        <p:xfrm>
          <a:off x="7874000" y="3159125"/>
          <a:ext cx="5194300" cy="2852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9" name="Visio" r:id="rId9" imgW="4086326" imgH="2657372" progId="">
                  <p:embed/>
                </p:oleObj>
              </mc:Choice>
              <mc:Fallback>
                <p:oleObj name="Visio" r:id="rId9" imgW="4086326" imgH="2657372" progId="">
                  <p:embed/>
                  <p:pic>
                    <p:nvPicPr>
                      <p:cNvPr id="0" name="Picture 6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74000" y="3159125"/>
                        <a:ext cx="5194300" cy="28527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3" name="矩形 18"/>
          <p:cNvSpPr>
            <a:spLocks noChangeArrowheads="1"/>
          </p:cNvSpPr>
          <p:nvPr/>
        </p:nvSpPr>
        <p:spPr bwMode="auto">
          <a:xfrm>
            <a:off x="8624888" y="5919788"/>
            <a:ext cx="3775075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lnSpc>
                <a:spcPct val="150000"/>
              </a:lnSpc>
              <a:spcBef>
                <a:spcPct val="50000"/>
              </a:spcBef>
            </a:pPr>
            <a:r>
              <a:rPr kumimoji="1"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光照积累的电势与输出耦合电流</a:t>
            </a:r>
          </a:p>
        </p:txBody>
      </p:sp>
      <p:sp>
        <p:nvSpPr>
          <p:cNvPr id="31" name="矩形 30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矩形 31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1" grpId="0"/>
      <p:bldP spid="2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波形 36"/>
          <p:cNvSpPr/>
          <p:nvPr/>
        </p:nvSpPr>
        <p:spPr>
          <a:xfrm>
            <a:off x="4673600" y="3773488"/>
            <a:ext cx="571500" cy="1489075"/>
          </a:xfrm>
          <a:prstGeom prst="wave">
            <a:avLst>
              <a:gd name="adj1" fmla="val 2350"/>
              <a:gd name="adj2" fmla="val 0"/>
            </a:avLst>
          </a:prstGeom>
          <a:solidFill>
            <a:srgbClr val="00B0F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8" name="波形 37"/>
          <p:cNvSpPr/>
          <p:nvPr/>
        </p:nvSpPr>
        <p:spPr>
          <a:xfrm>
            <a:off x="5240338" y="3794125"/>
            <a:ext cx="257175" cy="1446213"/>
          </a:xfrm>
          <a:prstGeom prst="wave">
            <a:avLst>
              <a:gd name="adj1" fmla="val 1762"/>
              <a:gd name="adj2" fmla="val 1383"/>
            </a:avLst>
          </a:prstGeom>
          <a:solidFill>
            <a:srgbClr val="8064A2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39" name="波形 38"/>
          <p:cNvSpPr/>
          <p:nvPr/>
        </p:nvSpPr>
        <p:spPr>
          <a:xfrm>
            <a:off x="5489575" y="3798888"/>
            <a:ext cx="257175" cy="1446212"/>
          </a:xfrm>
          <a:prstGeom prst="wave">
            <a:avLst>
              <a:gd name="adj1" fmla="val 1762"/>
              <a:gd name="adj2" fmla="val 1383"/>
            </a:avLst>
          </a:prstGeom>
          <a:solidFill>
            <a:srgbClr val="C0504D">
              <a:lumMod val="60000"/>
              <a:lumOff val="40000"/>
            </a:srgbClr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0" name="波形 39"/>
          <p:cNvSpPr/>
          <p:nvPr/>
        </p:nvSpPr>
        <p:spPr>
          <a:xfrm>
            <a:off x="5730875" y="3798888"/>
            <a:ext cx="642938" cy="1446212"/>
          </a:xfrm>
          <a:prstGeom prst="wave">
            <a:avLst>
              <a:gd name="adj1" fmla="val 1762"/>
              <a:gd name="adj2" fmla="val 1383"/>
            </a:avLst>
          </a:prstGeom>
          <a:solidFill>
            <a:srgbClr val="00B05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41" name="波形 40"/>
          <p:cNvSpPr/>
          <p:nvPr/>
        </p:nvSpPr>
        <p:spPr>
          <a:xfrm>
            <a:off x="6354763" y="3813175"/>
            <a:ext cx="357187" cy="1446213"/>
          </a:xfrm>
          <a:prstGeom prst="wave">
            <a:avLst>
              <a:gd name="adj1" fmla="val 1762"/>
              <a:gd name="adj2" fmla="val 1383"/>
            </a:avLst>
          </a:prstGeom>
          <a:solidFill>
            <a:srgbClr val="7030A0"/>
          </a:solidFill>
          <a:ln w="2540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42" name="直接箭头连接符 41"/>
          <p:cNvCxnSpPr>
            <a:cxnSpLocks noChangeShapeType="1"/>
          </p:cNvCxnSpPr>
          <p:nvPr/>
        </p:nvCxnSpPr>
        <p:spPr bwMode="auto">
          <a:xfrm flipV="1">
            <a:off x="4035425" y="4243388"/>
            <a:ext cx="714375" cy="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3" name="直接箭头连接符 42"/>
          <p:cNvCxnSpPr>
            <a:cxnSpLocks noChangeShapeType="1"/>
          </p:cNvCxnSpPr>
          <p:nvPr/>
        </p:nvCxnSpPr>
        <p:spPr bwMode="auto">
          <a:xfrm>
            <a:off x="4392613" y="3760788"/>
            <a:ext cx="928687" cy="214312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4" name="直接箭头连接符 43"/>
          <p:cNvCxnSpPr>
            <a:cxnSpLocks noChangeShapeType="1"/>
          </p:cNvCxnSpPr>
          <p:nvPr/>
        </p:nvCxnSpPr>
        <p:spPr bwMode="auto">
          <a:xfrm rot="16200000" flipH="1">
            <a:off x="5172075" y="3500438"/>
            <a:ext cx="439737" cy="427038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5" name="直接箭头连接符 44"/>
          <p:cNvCxnSpPr>
            <a:cxnSpLocks noChangeShapeType="1"/>
          </p:cNvCxnSpPr>
          <p:nvPr/>
        </p:nvCxnSpPr>
        <p:spPr bwMode="auto">
          <a:xfrm rot="5400000">
            <a:off x="5847556" y="3682207"/>
            <a:ext cx="376237" cy="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46" name="直接箭头连接符 45"/>
          <p:cNvCxnSpPr>
            <a:cxnSpLocks noChangeShapeType="1"/>
          </p:cNvCxnSpPr>
          <p:nvPr/>
        </p:nvCxnSpPr>
        <p:spPr bwMode="auto">
          <a:xfrm flipH="1">
            <a:off x="6535738" y="3482975"/>
            <a:ext cx="681037" cy="504825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47" name="TextBox 12"/>
          <p:cNvSpPr txBox="1">
            <a:spLocks noChangeArrowheads="1"/>
          </p:cNvSpPr>
          <p:nvPr/>
        </p:nvSpPr>
        <p:spPr bwMode="auto">
          <a:xfrm>
            <a:off x="2820988" y="4081463"/>
            <a:ext cx="121443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玻璃面板</a:t>
            </a:r>
          </a:p>
        </p:txBody>
      </p:sp>
      <p:sp>
        <p:nvSpPr>
          <p:cNvPr id="48" name="TextBox 13"/>
          <p:cNvSpPr txBox="1">
            <a:spLocks noChangeArrowheads="1"/>
          </p:cNvSpPr>
          <p:nvPr/>
        </p:nvSpPr>
        <p:spPr bwMode="auto">
          <a:xfrm>
            <a:off x="3535363" y="3546475"/>
            <a:ext cx="10001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信号板</a:t>
            </a:r>
          </a:p>
        </p:txBody>
      </p:sp>
      <p:sp>
        <p:nvSpPr>
          <p:cNvPr id="49" name="TextBox 14"/>
          <p:cNvSpPr txBox="1">
            <a:spLocks noChangeArrowheads="1"/>
          </p:cNvSpPr>
          <p:nvPr/>
        </p:nvSpPr>
        <p:spPr bwMode="auto">
          <a:xfrm>
            <a:off x="4160838" y="3017838"/>
            <a:ext cx="1160462" cy="461962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N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PbO</a:t>
            </a:r>
            <a:endParaRPr lang="zh-CN" altLang="en-US" sz="24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50" name="TextBox 15"/>
          <p:cNvSpPr txBox="1">
            <a:spLocks noChangeArrowheads="1"/>
          </p:cNvSpPr>
          <p:nvPr/>
        </p:nvSpPr>
        <p:spPr bwMode="auto">
          <a:xfrm>
            <a:off x="5535613" y="3006725"/>
            <a:ext cx="1042987" cy="461963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PbO</a:t>
            </a:r>
            <a:endParaRPr lang="zh-CN" altLang="en-US" sz="24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sp>
        <p:nvSpPr>
          <p:cNvPr id="51" name="TextBox 16"/>
          <p:cNvSpPr txBox="1">
            <a:spLocks noChangeArrowheads="1"/>
          </p:cNvSpPr>
          <p:nvPr/>
        </p:nvSpPr>
        <p:spPr bwMode="auto">
          <a:xfrm>
            <a:off x="6789738" y="2998788"/>
            <a:ext cx="1071562" cy="461962"/>
          </a:xfrm>
          <a:prstGeom prst="rect">
            <a:avLst/>
          </a:prstGeom>
          <a:solidFill>
            <a:srgbClr val="F79646">
              <a:lumMod val="60000"/>
              <a:lumOff val="40000"/>
            </a:srgb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zh-CN" sz="2400" b="1" kern="0" dirty="0">
                <a:solidFill>
                  <a:srgbClr val="0000CC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</a:t>
            </a:r>
            <a:r>
              <a:rPr lang="en-US" altLang="zh-CN" sz="24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-</a:t>
            </a:r>
            <a:r>
              <a:rPr lang="en-US" altLang="zh-CN" sz="2400" b="1" kern="0" dirty="0" err="1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rPr>
              <a:t>PbO</a:t>
            </a:r>
            <a:endParaRPr lang="zh-CN" altLang="en-US" sz="2400" b="1" kern="0" dirty="0">
              <a:solidFill>
                <a:prstClr val="black"/>
              </a:solidFill>
              <a:latin typeface="Times New Roman" panose="02020603050405020304" pitchFamily="18" charset="0"/>
              <a:ea typeface="微软雅黑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52" name="组合 45"/>
          <p:cNvGrpSpPr>
            <a:grpSpLocks/>
          </p:cNvGrpSpPr>
          <p:nvPr/>
        </p:nvGrpSpPr>
        <p:grpSpPr bwMode="auto">
          <a:xfrm>
            <a:off x="7035800" y="3867150"/>
            <a:ext cx="3571875" cy="1233488"/>
            <a:chOff x="4714876" y="2925779"/>
            <a:chExt cx="3571900" cy="1643062"/>
          </a:xfrm>
        </p:grpSpPr>
        <p:sp>
          <p:nvSpPr>
            <p:cNvPr id="53" name="TextBox 23"/>
            <p:cNvSpPr txBox="1">
              <a:spLocks noChangeArrowheads="1"/>
            </p:cNvSpPr>
            <p:nvPr/>
          </p:nvSpPr>
          <p:spPr bwMode="auto">
            <a:xfrm>
              <a:off x="7715272" y="3283151"/>
              <a:ext cx="571504" cy="53288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E</a:t>
              </a:r>
              <a:r>
                <a:rPr lang="en-US" altLang="zh-CN" sz="1800" b="1" kern="0" baseline="-2500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FP</a:t>
              </a:r>
              <a:endParaRPr lang="zh-CN" altLang="en-US" sz="1800" b="1" kern="0" baseline="-25000" dirty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7436" name="组合 44"/>
            <p:cNvGrpSpPr>
              <a:grpSpLocks/>
            </p:cNvGrpSpPr>
            <p:nvPr/>
          </p:nvGrpSpPr>
          <p:grpSpPr bwMode="auto">
            <a:xfrm>
              <a:off x="4714876" y="2925779"/>
              <a:ext cx="3071834" cy="1643062"/>
              <a:chOff x="4714876" y="2925779"/>
              <a:chExt cx="3071834" cy="1643062"/>
            </a:xfrm>
          </p:grpSpPr>
          <p:pic>
            <p:nvPicPr>
              <p:cNvPr id="17437" name="Picture 3"/>
              <p:cNvPicPr>
                <a:picLocks noChangeAspect="1" noChangeArrowheads="1"/>
              </p:cNvPicPr>
              <p:nvPr/>
            </p:nvPicPr>
            <p:blipFill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572132" y="2925779"/>
                <a:ext cx="1971675" cy="164306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cxnSp>
            <p:nvCxnSpPr>
              <p:cNvPr id="17438" name="直接连接符 55"/>
              <p:cNvCxnSpPr>
                <a:cxnSpLocks noChangeShapeType="1"/>
              </p:cNvCxnSpPr>
              <p:nvPr/>
            </p:nvCxnSpPr>
            <p:spPr bwMode="auto">
              <a:xfrm>
                <a:off x="5643570" y="3942913"/>
                <a:ext cx="571504" cy="2114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39" name="直接连接符 56"/>
              <p:cNvCxnSpPr>
                <a:cxnSpLocks noChangeShapeType="1"/>
              </p:cNvCxnSpPr>
              <p:nvPr/>
            </p:nvCxnSpPr>
            <p:spPr bwMode="auto">
              <a:xfrm rot="5400000" flipH="1" flipV="1">
                <a:off x="6214893" y="3228352"/>
                <a:ext cx="714742" cy="714380"/>
              </a:xfrm>
              <a:prstGeom prst="line">
                <a:avLst/>
              </a:prstGeom>
              <a:noFill/>
              <a:ln w="9525" algn="ctr">
                <a:solidFill>
                  <a:srgbClr val="4A7EBB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40" name="直接连接符 57"/>
              <p:cNvCxnSpPr>
                <a:cxnSpLocks noChangeShapeType="1"/>
              </p:cNvCxnSpPr>
              <p:nvPr/>
            </p:nvCxnSpPr>
            <p:spPr bwMode="auto">
              <a:xfrm>
                <a:off x="5214942" y="4086707"/>
                <a:ext cx="928693" cy="2114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41" name="直接连接符 58"/>
              <p:cNvCxnSpPr>
                <a:cxnSpLocks noChangeShapeType="1"/>
              </p:cNvCxnSpPr>
              <p:nvPr/>
            </p:nvCxnSpPr>
            <p:spPr bwMode="auto">
              <a:xfrm>
                <a:off x="6929454" y="3585541"/>
                <a:ext cx="857256" cy="2115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42" name="直接连接符 59"/>
              <p:cNvCxnSpPr>
                <a:cxnSpLocks noChangeShapeType="1"/>
              </p:cNvCxnSpPr>
              <p:nvPr/>
            </p:nvCxnSpPr>
            <p:spPr bwMode="auto">
              <a:xfrm>
                <a:off x="6143636" y="4086707"/>
                <a:ext cx="285752" cy="2114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17443" name="直接连接符 60"/>
              <p:cNvCxnSpPr>
                <a:cxnSpLocks noChangeShapeType="1"/>
              </p:cNvCxnSpPr>
              <p:nvPr/>
            </p:nvCxnSpPr>
            <p:spPr bwMode="auto">
              <a:xfrm>
                <a:off x="6643702" y="3585541"/>
                <a:ext cx="285752" cy="2115"/>
              </a:xfrm>
              <a:prstGeom prst="line">
                <a:avLst/>
              </a:prstGeom>
              <a:noFill/>
              <a:ln w="19050" algn="ctr">
                <a:solidFill>
                  <a:srgbClr val="FF0000"/>
                </a:solidFill>
                <a:prstDash val="sys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62" name="TextBox 24"/>
              <p:cNvSpPr txBox="1">
                <a:spLocks noChangeArrowheads="1"/>
              </p:cNvSpPr>
              <p:nvPr/>
            </p:nvSpPr>
            <p:spPr bwMode="auto">
              <a:xfrm>
                <a:off x="4714876" y="3854099"/>
                <a:ext cx="642942" cy="53288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r>
                  <a:rPr lang="en-US" altLang="zh-CN" sz="1800" b="1" kern="0">
                    <a:solidFill>
                      <a:prstClr val="black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E</a:t>
                </a:r>
                <a:r>
                  <a:rPr lang="en-US" altLang="zh-CN" sz="1800" b="1" kern="0" baseline="-25000">
                    <a:solidFill>
                      <a:prstClr val="black"/>
                    </a:solidFill>
                    <a:latin typeface="Times New Roman" pitchFamily="18" charset="0"/>
                    <a:ea typeface="微软雅黑" pitchFamily="34" charset="-122"/>
                    <a:cs typeface="Times New Roman" pitchFamily="18" charset="0"/>
                  </a:rPr>
                  <a:t>FN</a:t>
                </a:r>
                <a:endParaRPr lang="zh-CN" altLang="en-US" sz="1800" b="1" kern="0" baseline="-2500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</p:grpSp>
      <p:sp>
        <p:nvSpPr>
          <p:cNvPr id="63" name="圆角矩形 62"/>
          <p:cNvSpPr/>
          <p:nvPr/>
        </p:nvSpPr>
        <p:spPr>
          <a:xfrm>
            <a:off x="4927600" y="1778000"/>
            <a:ext cx="3214688" cy="649288"/>
          </a:xfrm>
          <a:prstGeom prst="roundRect">
            <a:avLst/>
          </a:prstGeom>
          <a:solidFill>
            <a:srgbClr val="00FF00"/>
          </a:solidFill>
          <a:ln w="38100" cap="flat" cmpd="sng" algn="ctr">
            <a:solidFill>
              <a:srgbClr val="0000CC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7427" name="Text Box 3"/>
          <p:cNvSpPr txBox="1">
            <a:spLocks noChangeArrowheads="1"/>
          </p:cNvSpPr>
          <p:nvPr/>
        </p:nvSpPr>
        <p:spPr bwMode="auto">
          <a:xfrm>
            <a:off x="5035550" y="1793875"/>
            <a:ext cx="29368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kumimoji="1" lang="zh-CN" altLang="en-US" sz="28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氧化铅靶</a:t>
            </a:r>
            <a:r>
              <a:rPr kumimoji="1" lang="zh-CN" altLang="en-US" sz="28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摄像管 </a:t>
            </a:r>
          </a:p>
        </p:txBody>
      </p:sp>
      <p:sp>
        <p:nvSpPr>
          <p:cNvPr id="65" name="Text Box 7"/>
          <p:cNvSpPr txBox="1">
            <a:spLocks noChangeArrowheads="1"/>
          </p:cNvSpPr>
          <p:nvPr/>
        </p:nvSpPr>
        <p:spPr bwMode="auto">
          <a:xfrm>
            <a:off x="5240338" y="5568950"/>
            <a:ext cx="35004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PbO</a:t>
            </a:r>
            <a:r>
              <a:rPr kumimoji="1" lang="zh-CN" altLang="en-US" sz="24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靶结构及能带图 </a:t>
            </a:r>
          </a:p>
        </p:txBody>
      </p:sp>
      <p:sp>
        <p:nvSpPr>
          <p:cNvPr id="66" name="矩形 65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67" name="矩形 66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7.2.1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70" name="矩形 69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71" name="矩形 70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5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66416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光电导摄像管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55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38275" y="662614"/>
            <a:ext cx="1524000" cy="0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8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9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1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8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4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5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7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4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6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0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8" grpId="0" animBg="1"/>
      <p:bldP spid="39" grpId="0" animBg="1"/>
      <p:bldP spid="40" grpId="0" animBg="1"/>
      <p:bldP spid="41" grpId="0" animBg="1"/>
      <p:bldP spid="47" grpId="0"/>
      <p:bldP spid="48" grpId="0"/>
      <p:bldP spid="49" grpId="0" animBg="1"/>
      <p:bldP spid="50" grpId="0" animBg="1"/>
      <p:bldP spid="51" grpId="0" animBg="1"/>
      <p:bldP spid="6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91181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光电发射摄像管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47800" y="662614"/>
            <a:ext cx="1796783" cy="24809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7" name="矩形: 圆角 18">
            <a:extLst>
              <a:ext uri="{FF2B5EF4-FFF2-40B4-BE49-F238E27FC236}">
                <a16:creationId xmlns="" xmlns:a16="http://schemas.microsoft.com/office/drawing/2014/main" id="{71B2A563-AC54-5347-B843-4478DF223CDE}"/>
              </a:ext>
            </a:extLst>
          </p:cNvPr>
          <p:cNvSpPr/>
          <p:nvPr/>
        </p:nvSpPr>
        <p:spPr>
          <a:xfrm>
            <a:off x="5070623" y="3476625"/>
            <a:ext cx="5401136" cy="850403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zh-CN" altLang="en-US" sz="4000" b="1" dirty="0" smtClean="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光电发射摄像管</a:t>
            </a:r>
            <a:endParaRPr kumimoji="1" lang="zh-CN" altLang="en-US" sz="4000" b="1" dirty="0">
              <a:solidFill>
                <a:schemeClr val="bg1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="" xmlns:a16="http://schemas.microsoft.com/office/drawing/2014/main" id="{045D4FB5-3BA7-4366-9C2A-762F1105D91A}"/>
              </a:ext>
            </a:extLst>
          </p:cNvPr>
          <p:cNvSpPr/>
          <p:nvPr/>
        </p:nvSpPr>
        <p:spPr>
          <a:xfrm>
            <a:off x="2860247" y="3283064"/>
            <a:ext cx="2294402" cy="123752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6000" b="1" dirty="0" smtClean="0">
                <a:gradFill>
                  <a:gsLst>
                    <a:gs pos="0">
                      <a:srgbClr val="0066FF"/>
                    </a:gs>
                    <a:gs pos="100000">
                      <a:schemeClr val="accent1">
                        <a:lumMod val="100000"/>
                      </a:schemeClr>
                    </a:gs>
                  </a:gsLst>
                  <a:lin ang="0" scaled="0"/>
                </a:gra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6000" b="1" dirty="0">
              <a:gradFill>
                <a:gsLst>
                  <a:gs pos="0">
                    <a:srgbClr val="0066FF"/>
                  </a:gs>
                  <a:gs pos="100000">
                    <a:schemeClr val="accent1">
                      <a:lumMod val="100000"/>
                    </a:schemeClr>
                  </a:gs>
                </a:gsLst>
                <a:lin ang="0" scaled="0"/>
              </a:gra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任意多边形 87"/>
          <p:cNvSpPr/>
          <p:nvPr/>
        </p:nvSpPr>
        <p:spPr>
          <a:xfrm>
            <a:off x="4421188" y="3825875"/>
            <a:ext cx="3187700" cy="923925"/>
          </a:xfrm>
          <a:custGeom>
            <a:avLst/>
            <a:gdLst>
              <a:gd name="connsiteX0" fmla="*/ 6350 w 3187700"/>
              <a:gd name="connsiteY0" fmla="*/ 6350 h 1231900"/>
              <a:gd name="connsiteX1" fmla="*/ 920750 w 3187700"/>
              <a:gd name="connsiteY1" fmla="*/ 0 h 1231900"/>
              <a:gd name="connsiteX2" fmla="*/ 1339850 w 3187700"/>
              <a:gd name="connsiteY2" fmla="*/ 190500 h 1231900"/>
              <a:gd name="connsiteX3" fmla="*/ 3181350 w 3187700"/>
              <a:gd name="connsiteY3" fmla="*/ 177800 h 1231900"/>
              <a:gd name="connsiteX4" fmla="*/ 3187700 w 3187700"/>
              <a:gd name="connsiteY4" fmla="*/ 1022350 h 1231900"/>
              <a:gd name="connsiteX5" fmla="*/ 1333500 w 3187700"/>
              <a:gd name="connsiteY5" fmla="*/ 1022350 h 1231900"/>
              <a:gd name="connsiteX6" fmla="*/ 933450 w 3187700"/>
              <a:gd name="connsiteY6" fmla="*/ 1231900 h 1231900"/>
              <a:gd name="connsiteX7" fmla="*/ 0 w 3187700"/>
              <a:gd name="connsiteY7" fmla="*/ 1231900 h 1231900"/>
              <a:gd name="connsiteX8" fmla="*/ 6350 w 3187700"/>
              <a:gd name="connsiteY8" fmla="*/ 635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87700" h="1231900">
                <a:moveTo>
                  <a:pt x="6350" y="6350"/>
                </a:moveTo>
                <a:lnTo>
                  <a:pt x="920750" y="0"/>
                </a:lnTo>
                <a:lnTo>
                  <a:pt x="1339850" y="190500"/>
                </a:lnTo>
                <a:lnTo>
                  <a:pt x="3181350" y="177800"/>
                </a:lnTo>
                <a:cubicBezTo>
                  <a:pt x="3183467" y="459317"/>
                  <a:pt x="3185583" y="740833"/>
                  <a:pt x="3187700" y="1022350"/>
                </a:cubicBezTo>
                <a:lnTo>
                  <a:pt x="1333500" y="1022350"/>
                </a:lnTo>
                <a:lnTo>
                  <a:pt x="933450" y="1231900"/>
                </a:lnTo>
                <a:lnTo>
                  <a:pt x="0" y="1231900"/>
                </a:lnTo>
                <a:cubicBezTo>
                  <a:pt x="2117" y="823383"/>
                  <a:pt x="4233" y="414867"/>
                  <a:pt x="6350" y="6350"/>
                </a:cubicBezTo>
                <a:close/>
              </a:path>
            </a:pathLst>
          </a:custGeom>
          <a:solidFill>
            <a:srgbClr val="5BDDFE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89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71913" y="3959225"/>
            <a:ext cx="161925" cy="550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90" name="直接箭头连接符 89"/>
          <p:cNvCxnSpPr>
            <a:cxnSpLocks noChangeShapeType="1"/>
          </p:cNvCxnSpPr>
          <p:nvPr/>
        </p:nvCxnSpPr>
        <p:spPr bwMode="auto">
          <a:xfrm flipV="1">
            <a:off x="3457575" y="3959225"/>
            <a:ext cx="1000125" cy="536575"/>
          </a:xfrm>
          <a:prstGeom prst="straightConnector1">
            <a:avLst/>
          </a:prstGeom>
          <a:noFill/>
          <a:ln w="25400" algn="ctr">
            <a:solidFill>
              <a:srgbClr val="FF00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91" name="直接箭头连接符 90"/>
          <p:cNvCxnSpPr>
            <a:cxnSpLocks noChangeShapeType="1"/>
          </p:cNvCxnSpPr>
          <p:nvPr/>
        </p:nvCxnSpPr>
        <p:spPr bwMode="auto">
          <a:xfrm>
            <a:off x="3475038" y="3925888"/>
            <a:ext cx="962025" cy="601662"/>
          </a:xfrm>
          <a:prstGeom prst="straightConnector1">
            <a:avLst/>
          </a:prstGeom>
          <a:noFill/>
          <a:ln w="25400" algn="ctr">
            <a:solidFill>
              <a:srgbClr val="FF00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2" name="下箭头 91"/>
          <p:cNvSpPr/>
          <p:nvPr/>
        </p:nvSpPr>
        <p:spPr>
          <a:xfrm>
            <a:off x="4445000" y="3970338"/>
            <a:ext cx="71438" cy="600075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93" name="组合 80"/>
          <p:cNvGrpSpPr>
            <a:grpSpLocks/>
          </p:cNvGrpSpPr>
          <p:nvPr/>
        </p:nvGrpSpPr>
        <p:grpSpPr bwMode="auto">
          <a:xfrm>
            <a:off x="5635625" y="4032250"/>
            <a:ext cx="158750" cy="1143000"/>
            <a:chOff x="3946525" y="2643182"/>
            <a:chExt cx="158750" cy="1524006"/>
          </a:xfrm>
        </p:grpSpPr>
        <p:cxnSp>
          <p:nvCxnSpPr>
            <p:cNvPr id="19534" name="直接连接符 93"/>
            <p:cNvCxnSpPr>
              <a:cxnSpLocks noChangeShapeType="1"/>
              <a:endCxn id="96" idx="1"/>
            </p:cNvCxnSpPr>
            <p:nvPr/>
          </p:nvCxnSpPr>
          <p:spPr bwMode="auto">
            <a:xfrm rot="16200000" flipH="1">
              <a:off x="3767930" y="3570550"/>
              <a:ext cx="514353" cy="1587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19535" name="组合 79"/>
            <p:cNvGrpSpPr>
              <a:grpSpLocks/>
            </p:cNvGrpSpPr>
            <p:nvPr/>
          </p:nvGrpSpPr>
          <p:grpSpPr bwMode="auto">
            <a:xfrm>
              <a:off x="3954463" y="2643182"/>
              <a:ext cx="138112" cy="1524006"/>
              <a:chOff x="3954463" y="2643182"/>
              <a:chExt cx="138112" cy="1524006"/>
            </a:xfrm>
          </p:grpSpPr>
          <p:sp>
            <p:nvSpPr>
              <p:cNvPr id="98" name="矩形 97"/>
              <p:cNvSpPr/>
              <p:nvPr/>
            </p:nvSpPr>
            <p:spPr>
              <a:xfrm>
                <a:off x="3986213" y="2643182"/>
                <a:ext cx="71437" cy="664636"/>
              </a:xfrm>
              <a:prstGeom prst="rect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99" name="矩形 98"/>
              <p:cNvSpPr/>
              <p:nvPr/>
            </p:nvSpPr>
            <p:spPr>
              <a:xfrm>
                <a:off x="3954463" y="4114272"/>
                <a:ext cx="138112" cy="52916"/>
              </a:xfrm>
              <a:prstGeom prst="rect">
                <a:avLst/>
              </a:prstGeom>
              <a:solidFill>
                <a:srgbClr val="00B050"/>
              </a:solidFill>
              <a:ln w="25400" cap="flat" cmpd="sng" algn="ctr">
                <a:solidFill>
                  <a:srgbClr val="00B05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cxnSp>
            <p:nvCxnSpPr>
              <p:cNvPr id="19540" name="直接连接符 99"/>
              <p:cNvCxnSpPr>
                <a:cxnSpLocks noChangeShapeType="1"/>
                <a:stCxn id="97" idx="3"/>
              </p:cNvCxnSpPr>
              <p:nvPr/>
            </p:nvCxnSpPr>
            <p:spPr bwMode="auto">
              <a:xfrm rot="-5400000" flipH="1" flipV="1">
                <a:off x="3911600" y="3988858"/>
                <a:ext cx="222250" cy="3175"/>
              </a:xfrm>
              <a:prstGeom prst="line">
                <a:avLst/>
              </a:prstGeom>
              <a:noFill/>
              <a:ln w="19050" algn="ctr">
                <a:solidFill>
                  <a:srgbClr val="CB9D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01" name="矩形 100"/>
              <p:cNvSpPr/>
              <p:nvPr/>
            </p:nvSpPr>
            <p:spPr>
              <a:xfrm rot="5400000">
                <a:off x="3948113" y="3605739"/>
                <a:ext cx="152401" cy="47625"/>
              </a:xfrm>
              <a:prstGeom prst="rect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96" name="减号 95"/>
            <p:cNvSpPr/>
            <p:nvPr/>
          </p:nvSpPr>
          <p:spPr>
            <a:xfrm>
              <a:off x="3946525" y="3801004"/>
              <a:ext cx="158750" cy="46567"/>
            </a:xfrm>
            <a:prstGeom prst="mathMinus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97" name="减号 96"/>
            <p:cNvSpPr/>
            <p:nvPr/>
          </p:nvSpPr>
          <p:spPr>
            <a:xfrm>
              <a:off x="3984625" y="3862387"/>
              <a:ext cx="80963" cy="44451"/>
            </a:xfrm>
            <a:prstGeom prst="mathMinus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02" name="组合 86"/>
          <p:cNvGrpSpPr>
            <a:grpSpLocks/>
          </p:cNvGrpSpPr>
          <p:nvPr/>
        </p:nvGrpSpPr>
        <p:grpSpPr bwMode="auto">
          <a:xfrm>
            <a:off x="3314700" y="4354513"/>
            <a:ext cx="1212850" cy="1149350"/>
            <a:chOff x="1643042" y="3071811"/>
            <a:chExt cx="1212850" cy="1533613"/>
          </a:xfrm>
        </p:grpSpPr>
        <p:sp>
          <p:nvSpPr>
            <p:cNvPr id="103" name="TextBox 45"/>
            <p:cNvSpPr txBox="1">
              <a:spLocks noChangeArrowheads="1"/>
            </p:cNvSpPr>
            <p:nvPr/>
          </p:nvSpPr>
          <p:spPr bwMode="auto">
            <a:xfrm>
              <a:off x="1643042" y="4071625"/>
              <a:ext cx="1211263" cy="533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光电阴极</a:t>
              </a:r>
            </a:p>
          </p:txBody>
        </p:sp>
        <p:cxnSp>
          <p:nvCxnSpPr>
            <p:cNvPr id="19533" name="直接连接符 103"/>
            <p:cNvCxnSpPr>
              <a:cxnSpLocks noChangeShapeType="1"/>
            </p:cNvCxnSpPr>
            <p:nvPr/>
          </p:nvCxnSpPr>
          <p:spPr bwMode="auto">
            <a:xfrm rot="5400000">
              <a:off x="2190383" y="3334095"/>
              <a:ext cx="927794" cy="403225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组合 83"/>
          <p:cNvGrpSpPr>
            <a:grpSpLocks/>
          </p:cNvGrpSpPr>
          <p:nvPr/>
        </p:nvGrpSpPr>
        <p:grpSpPr bwMode="auto">
          <a:xfrm>
            <a:off x="4386263" y="3889375"/>
            <a:ext cx="1281112" cy="1743075"/>
            <a:chOff x="2714612" y="2452688"/>
            <a:chExt cx="1281126" cy="2324131"/>
          </a:xfrm>
        </p:grpSpPr>
        <p:sp>
          <p:nvSpPr>
            <p:cNvPr id="106" name="矩形 105"/>
            <p:cNvSpPr/>
            <p:nvPr/>
          </p:nvSpPr>
          <p:spPr>
            <a:xfrm>
              <a:off x="3725860" y="3978826"/>
              <a:ext cx="138115" cy="52917"/>
            </a:xfrm>
            <a:prstGeom prst="rect">
              <a:avLst/>
            </a:prstGeom>
            <a:solidFill>
              <a:srgbClr val="00B050"/>
            </a:solidFill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07" name="椭圆 106"/>
            <p:cNvSpPr/>
            <p:nvPr/>
          </p:nvSpPr>
          <p:spPr>
            <a:xfrm>
              <a:off x="2981315" y="3915325"/>
              <a:ext cx="128588" cy="12700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 dirty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19517" name="组合 16"/>
            <p:cNvGrpSpPr>
              <a:grpSpLocks/>
            </p:cNvGrpSpPr>
            <p:nvPr/>
          </p:nvGrpSpPr>
          <p:grpSpPr bwMode="auto">
            <a:xfrm>
              <a:off x="2854325" y="2452688"/>
              <a:ext cx="1141413" cy="1028700"/>
              <a:chOff x="2844800" y="2452688"/>
              <a:chExt cx="1141413" cy="1028700"/>
            </a:xfrm>
          </p:grpSpPr>
          <p:sp>
            <p:nvSpPr>
              <p:cNvPr id="117" name="矩形 116"/>
              <p:cNvSpPr/>
              <p:nvPr/>
            </p:nvSpPr>
            <p:spPr>
              <a:xfrm>
                <a:off x="2933690" y="2452688"/>
                <a:ext cx="233364" cy="1028713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18" name="椭圆 117"/>
              <p:cNvSpPr/>
              <p:nvPr/>
            </p:nvSpPr>
            <p:spPr>
              <a:xfrm>
                <a:off x="2844789" y="2463272"/>
                <a:ext cx="171452" cy="1013896"/>
              </a:xfrm>
              <a:prstGeom prst="ellipse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3148004" y="2562756"/>
                <a:ext cx="133351" cy="823395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0" name="矩形 119"/>
              <p:cNvSpPr/>
              <p:nvPr/>
            </p:nvSpPr>
            <p:spPr>
              <a:xfrm>
                <a:off x="3262305" y="2681291"/>
                <a:ext cx="128589" cy="628659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1" name="矩形 120"/>
              <p:cNvSpPr/>
              <p:nvPr/>
            </p:nvSpPr>
            <p:spPr>
              <a:xfrm>
                <a:off x="2919402" y="2467506"/>
                <a:ext cx="128589" cy="1003313"/>
              </a:xfrm>
              <a:prstGeom prst="rect">
                <a:avLst/>
              </a:prstGeom>
              <a:solidFill>
                <a:srgbClr val="FFCBA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22" name="任意多边形 121"/>
              <p:cNvSpPr/>
              <p:nvPr/>
            </p:nvSpPr>
            <p:spPr>
              <a:xfrm>
                <a:off x="3376607" y="2615674"/>
                <a:ext cx="609606" cy="709092"/>
              </a:xfrm>
              <a:custGeom>
                <a:avLst/>
                <a:gdLst>
                  <a:gd name="connsiteX0" fmla="*/ 0 w 609600"/>
                  <a:gd name="connsiteY0" fmla="*/ 361950 h 709612"/>
                  <a:gd name="connsiteX1" fmla="*/ 0 w 609600"/>
                  <a:gd name="connsiteY1" fmla="*/ 590550 h 709612"/>
                  <a:gd name="connsiteX2" fmla="*/ 604837 w 609600"/>
                  <a:gd name="connsiteY2" fmla="*/ 709612 h 709612"/>
                  <a:gd name="connsiteX3" fmla="*/ 609600 w 609600"/>
                  <a:gd name="connsiteY3" fmla="*/ 0 h 709612"/>
                  <a:gd name="connsiteX4" fmla="*/ 0 w 609600"/>
                  <a:gd name="connsiteY4" fmla="*/ 133350 h 709612"/>
                  <a:gd name="connsiteX5" fmla="*/ 0 w 609600"/>
                  <a:gd name="connsiteY5" fmla="*/ 361950 h 709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600" h="709612">
                    <a:moveTo>
                      <a:pt x="0" y="361950"/>
                    </a:moveTo>
                    <a:lnTo>
                      <a:pt x="0" y="590550"/>
                    </a:lnTo>
                    <a:lnTo>
                      <a:pt x="604837" y="709612"/>
                    </a:lnTo>
                    <a:cubicBezTo>
                      <a:pt x="606425" y="473075"/>
                      <a:pt x="608012" y="236537"/>
                      <a:pt x="609600" y="0"/>
                    </a:cubicBezTo>
                    <a:lnTo>
                      <a:pt x="0" y="133350"/>
                    </a:lnTo>
                    <a:lnTo>
                      <a:pt x="0" y="361950"/>
                    </a:lnTo>
                    <a:close/>
                  </a:path>
                </a:pathLst>
              </a:cu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cxnSp>
          <p:nvCxnSpPr>
            <p:cNvPr id="19518" name="直接连接符 108"/>
            <p:cNvCxnSpPr>
              <a:cxnSpLocks noChangeShapeType="1"/>
              <a:endCxn id="107" idx="0"/>
            </p:cNvCxnSpPr>
            <p:nvPr/>
          </p:nvCxnSpPr>
          <p:spPr bwMode="auto">
            <a:xfrm rot="5400000">
              <a:off x="2830501" y="3697832"/>
              <a:ext cx="431806" cy="3175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9" name="直接连接符 109"/>
            <p:cNvCxnSpPr>
              <a:cxnSpLocks noChangeShapeType="1"/>
            </p:cNvCxnSpPr>
            <p:nvPr/>
          </p:nvCxnSpPr>
          <p:spPr bwMode="auto">
            <a:xfrm flipV="1">
              <a:off x="3041641" y="3760805"/>
              <a:ext cx="747720" cy="0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0" name="直接连接符 110"/>
            <p:cNvCxnSpPr>
              <a:cxnSpLocks noChangeShapeType="1"/>
            </p:cNvCxnSpPr>
            <p:nvPr/>
          </p:nvCxnSpPr>
          <p:spPr bwMode="auto">
            <a:xfrm rot="5400000">
              <a:off x="3460480" y="3626129"/>
              <a:ext cx="675225" cy="4763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2" name="矩形 111"/>
            <p:cNvSpPr/>
            <p:nvPr/>
          </p:nvSpPr>
          <p:spPr>
            <a:xfrm>
              <a:off x="3500433" y="3735405"/>
              <a:ext cx="138115" cy="52918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13" name="矩形 112"/>
            <p:cNvSpPr/>
            <p:nvPr/>
          </p:nvSpPr>
          <p:spPr>
            <a:xfrm>
              <a:off x="3148004" y="3737522"/>
              <a:ext cx="280991" cy="5503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19523" name="直接箭头连接符 113"/>
            <p:cNvCxnSpPr>
              <a:cxnSpLocks noChangeShapeType="1"/>
              <a:stCxn id="120" idx="2"/>
            </p:cNvCxnSpPr>
            <p:nvPr/>
          </p:nvCxnSpPr>
          <p:spPr bwMode="auto">
            <a:xfrm rot="16200000" flipH="1">
              <a:off x="3132129" y="3514739"/>
              <a:ext cx="419106" cy="9525"/>
            </a:xfrm>
            <a:prstGeom prst="straightConnector1">
              <a:avLst/>
            </a:prstGeom>
            <a:noFill/>
            <a:ln w="19050" algn="ctr">
              <a:solidFill>
                <a:srgbClr val="FF99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24" name="直接箭头连接符 114"/>
            <p:cNvCxnSpPr>
              <a:cxnSpLocks noChangeShapeType="1"/>
            </p:cNvCxnSpPr>
            <p:nvPr/>
          </p:nvCxnSpPr>
          <p:spPr bwMode="auto">
            <a:xfrm rot="5400000">
              <a:off x="3046667" y="3557867"/>
              <a:ext cx="353489" cy="1587"/>
            </a:xfrm>
            <a:prstGeom prst="straightConnector1">
              <a:avLst/>
            </a:prstGeom>
            <a:noFill/>
            <a:ln w="19050" algn="ctr">
              <a:solidFill>
                <a:srgbClr val="FF99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16" name="TextBox 47"/>
            <p:cNvSpPr txBox="1">
              <a:spLocks noChangeArrowheads="1"/>
            </p:cNvSpPr>
            <p:nvPr/>
          </p:nvSpPr>
          <p:spPr bwMode="auto">
            <a:xfrm>
              <a:off x="2714612" y="4243412"/>
              <a:ext cx="1257314" cy="533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-3~-15KV</a:t>
              </a:r>
              <a:endParaRPr lang="zh-CN" altLang="en-US" sz="1800" b="1" kern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23" name="组合 84"/>
          <p:cNvGrpSpPr>
            <a:grpSpLocks/>
          </p:cNvGrpSpPr>
          <p:nvPr/>
        </p:nvGrpSpPr>
        <p:grpSpPr bwMode="auto">
          <a:xfrm>
            <a:off x="4386263" y="3549650"/>
            <a:ext cx="1289050" cy="206375"/>
            <a:chOff x="636561" y="1854187"/>
            <a:chExt cx="1289059" cy="274638"/>
          </a:xfrm>
        </p:grpSpPr>
        <p:cxnSp>
          <p:nvCxnSpPr>
            <p:cNvPr id="19512" name="直接连接符 123"/>
            <p:cNvCxnSpPr>
              <a:cxnSpLocks noChangeShapeType="1"/>
            </p:cNvCxnSpPr>
            <p:nvPr/>
          </p:nvCxnSpPr>
          <p:spPr bwMode="auto">
            <a:xfrm rot="5400000" flipH="1" flipV="1">
              <a:off x="500036" y="1990712"/>
              <a:ext cx="274638" cy="1587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3" name="直接连接符 124"/>
            <p:cNvCxnSpPr>
              <a:cxnSpLocks noChangeShapeType="1"/>
            </p:cNvCxnSpPr>
            <p:nvPr/>
          </p:nvCxnSpPr>
          <p:spPr bwMode="auto">
            <a:xfrm rot="5400000" flipH="1" flipV="1">
              <a:off x="1786713" y="1989918"/>
              <a:ext cx="274638" cy="3175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14" name="直接箭头连接符 125"/>
            <p:cNvCxnSpPr>
              <a:cxnSpLocks noChangeShapeType="1"/>
            </p:cNvCxnSpPr>
            <p:nvPr/>
          </p:nvCxnSpPr>
          <p:spPr bwMode="auto">
            <a:xfrm flipV="1">
              <a:off x="636561" y="1997844"/>
              <a:ext cx="1265246" cy="845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7" name="TextBox 53"/>
          <p:cNvSpPr txBox="1">
            <a:spLocks noChangeArrowheads="1"/>
          </p:cNvSpPr>
          <p:nvPr/>
        </p:nvSpPr>
        <p:spPr bwMode="auto">
          <a:xfrm>
            <a:off x="4529138" y="3228975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移像区</a:t>
            </a:r>
          </a:p>
        </p:txBody>
      </p:sp>
      <p:sp>
        <p:nvSpPr>
          <p:cNvPr id="128" name="TextBox 54"/>
          <p:cNvSpPr txBox="1">
            <a:spLocks noChangeArrowheads="1"/>
          </p:cNvSpPr>
          <p:nvPr/>
        </p:nvSpPr>
        <p:spPr bwMode="auto">
          <a:xfrm>
            <a:off x="5886450" y="3282950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电子枪</a:t>
            </a:r>
          </a:p>
        </p:txBody>
      </p:sp>
      <p:sp>
        <p:nvSpPr>
          <p:cNvPr id="129" name="矩形 59"/>
          <p:cNvSpPr>
            <a:spLocks noChangeArrowheads="1"/>
          </p:cNvSpPr>
          <p:nvPr/>
        </p:nvSpPr>
        <p:spPr bwMode="auto">
          <a:xfrm>
            <a:off x="9172575" y="3502025"/>
            <a:ext cx="20002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支撑层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(Al</a:t>
            </a:r>
            <a:r>
              <a:rPr lang="en-US" altLang="zh-CN" b="1" baseline="-25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b="1" baseline="-2500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，厚度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50~70nm</a:t>
            </a:r>
            <a:endParaRPr lang="zh-CN" altLang="en-US" b="1">
              <a:solidFill>
                <a:srgbClr val="000000"/>
              </a:solidFill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0" name="矩形 60"/>
          <p:cNvSpPr>
            <a:spLocks noChangeArrowheads="1"/>
          </p:cNvSpPr>
          <p:nvPr/>
        </p:nvSpPr>
        <p:spPr bwMode="auto">
          <a:xfrm>
            <a:off x="9172575" y="2746375"/>
            <a:ext cx="232092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信号板</a:t>
            </a:r>
          </a:p>
          <a:p>
            <a:pPr defTabSz="914400" eaLnBrk="1" hangingPunct="1"/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(Al</a:t>
            </a:r>
            <a:r>
              <a:rPr lang="zh-CN" altLang="en-US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膜，厚</a:t>
            </a:r>
            <a:r>
              <a:rPr lang="en-US" altLang="zh-CN" b="1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Times New Roman" panose="02020603050405020304" pitchFamily="18" charset="0"/>
              </a:rPr>
              <a:t>50nm)</a:t>
            </a:r>
            <a:endParaRPr lang="zh-CN" altLang="en-US" b="1">
              <a:solidFill>
                <a:srgbClr val="000000"/>
              </a:solidFill>
              <a:latin typeface="Calibri" panose="020F0502020204030204" pitchFamily="34" charset="0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pSp>
        <p:nvGrpSpPr>
          <p:cNvPr id="131" name="组合 78"/>
          <p:cNvGrpSpPr>
            <a:grpSpLocks/>
          </p:cNvGrpSpPr>
          <p:nvPr/>
        </p:nvGrpSpPr>
        <p:grpSpPr bwMode="auto">
          <a:xfrm>
            <a:off x="5765800" y="3817938"/>
            <a:ext cx="2536825" cy="914400"/>
            <a:chOff x="5107644" y="2366963"/>
            <a:chExt cx="2536190" cy="1219200"/>
          </a:xfrm>
        </p:grpSpPr>
        <p:pic>
          <p:nvPicPr>
            <p:cNvPr id="132" name="Picture 1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67559" y="2803525"/>
              <a:ext cx="676275" cy="95250"/>
            </a:xfrm>
            <a:prstGeom prst="rect">
              <a:avLst/>
            </a:prstGeom>
            <a:gradFill flip="none" rotWithShape="1">
              <a:gsLst>
                <a:gs pos="0">
                  <a:srgbClr val="4F81BD">
                    <a:tint val="66000"/>
                    <a:satMod val="160000"/>
                  </a:srgbClr>
                </a:gs>
                <a:gs pos="50000">
                  <a:srgbClr val="4F81BD">
                    <a:tint val="44500"/>
                    <a:satMod val="160000"/>
                  </a:srgbClr>
                </a:gs>
                <a:gs pos="10000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33" name="Picture 1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67559" y="3009265"/>
              <a:ext cx="676275" cy="95250"/>
            </a:xfrm>
            <a:prstGeom prst="rect">
              <a:avLst/>
            </a:prstGeom>
            <a:gradFill flip="none" rotWithShape="1">
              <a:gsLst>
                <a:gs pos="0">
                  <a:srgbClr val="4F81BD">
                    <a:tint val="66000"/>
                    <a:satMod val="160000"/>
                  </a:srgbClr>
                </a:gs>
                <a:gs pos="50000">
                  <a:srgbClr val="4F81BD">
                    <a:tint val="44500"/>
                    <a:satMod val="160000"/>
                  </a:srgbClr>
                </a:gs>
                <a:gs pos="10000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19503" name="组合 3"/>
            <p:cNvGrpSpPr>
              <a:grpSpLocks/>
            </p:cNvGrpSpPr>
            <p:nvPr/>
          </p:nvGrpSpPr>
          <p:grpSpPr bwMode="auto">
            <a:xfrm>
              <a:off x="5142569" y="2366963"/>
              <a:ext cx="1223962" cy="1219200"/>
              <a:chOff x="3267075" y="2414588"/>
              <a:chExt cx="1809750" cy="2028825"/>
            </a:xfrm>
          </p:grpSpPr>
          <p:pic>
            <p:nvPicPr>
              <p:cNvPr id="19509" name="Picture 26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7075" y="2414588"/>
                <a:ext cx="1809750" cy="2028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41" name="矩形 140"/>
              <p:cNvSpPr/>
              <p:nvPr/>
            </p:nvSpPr>
            <p:spPr>
              <a:xfrm>
                <a:off x="3278796" y="2418109"/>
                <a:ext cx="1788178" cy="21838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42" name="矩形 141"/>
              <p:cNvSpPr/>
              <p:nvPr/>
            </p:nvSpPr>
            <p:spPr>
              <a:xfrm>
                <a:off x="3281142" y="4228554"/>
                <a:ext cx="1785832" cy="204291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35" name="任意多边形 134"/>
            <p:cNvSpPr/>
            <p:nvPr/>
          </p:nvSpPr>
          <p:spPr>
            <a:xfrm>
              <a:off x="5107644" y="2642130"/>
              <a:ext cx="1196675" cy="654049"/>
            </a:xfrm>
            <a:custGeom>
              <a:avLst/>
              <a:gdLst>
                <a:gd name="connsiteX0" fmla="*/ 6350 w 2381250"/>
                <a:gd name="connsiteY0" fmla="*/ 0 h 1155700"/>
                <a:gd name="connsiteX1" fmla="*/ 977900 w 2381250"/>
                <a:gd name="connsiteY1" fmla="*/ 0 h 1155700"/>
                <a:gd name="connsiteX2" fmla="*/ 1733550 w 2381250"/>
                <a:gd name="connsiteY2" fmla="*/ 215900 h 1155700"/>
                <a:gd name="connsiteX3" fmla="*/ 2374900 w 2381250"/>
                <a:gd name="connsiteY3" fmla="*/ 215900 h 1155700"/>
                <a:gd name="connsiteX4" fmla="*/ 2381250 w 2381250"/>
                <a:gd name="connsiteY4" fmla="*/ 920750 h 1155700"/>
                <a:gd name="connsiteX5" fmla="*/ 1727200 w 2381250"/>
                <a:gd name="connsiteY5" fmla="*/ 927100 h 1155700"/>
                <a:gd name="connsiteX6" fmla="*/ 965200 w 2381250"/>
                <a:gd name="connsiteY6" fmla="*/ 1155700 h 1155700"/>
                <a:gd name="connsiteX7" fmla="*/ 0 w 2381250"/>
                <a:gd name="connsiteY7" fmla="*/ 1155700 h 1155700"/>
                <a:gd name="connsiteX8" fmla="*/ 6350 w 2381250"/>
                <a:gd name="connsiteY8" fmla="*/ 0 h 115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1250" h="1155700">
                  <a:moveTo>
                    <a:pt x="6350" y="0"/>
                  </a:moveTo>
                  <a:lnTo>
                    <a:pt x="977900" y="0"/>
                  </a:lnTo>
                  <a:lnTo>
                    <a:pt x="1733550" y="215900"/>
                  </a:lnTo>
                  <a:lnTo>
                    <a:pt x="2374900" y="215900"/>
                  </a:lnTo>
                  <a:cubicBezTo>
                    <a:pt x="2377017" y="450850"/>
                    <a:pt x="2379133" y="685800"/>
                    <a:pt x="2381250" y="920750"/>
                  </a:cubicBezTo>
                  <a:lnTo>
                    <a:pt x="1727200" y="927100"/>
                  </a:lnTo>
                  <a:lnTo>
                    <a:pt x="965200" y="1155700"/>
                  </a:lnTo>
                  <a:lnTo>
                    <a:pt x="0" y="1155700"/>
                  </a:lnTo>
                  <a:cubicBezTo>
                    <a:pt x="2117" y="770467"/>
                    <a:pt x="4233" y="385233"/>
                    <a:pt x="6350" y="0"/>
                  </a:cubicBezTo>
                  <a:close/>
                </a:path>
              </a:pathLst>
            </a:custGeom>
            <a:solidFill>
              <a:srgbClr val="94B8E8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pic>
          <p:nvPicPr>
            <p:cNvPr id="19505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9069" y="2747963"/>
              <a:ext cx="141287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506" name="Picture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8931" y="2751138"/>
              <a:ext cx="390525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507" name="Picture 1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1319" y="2835275"/>
              <a:ext cx="338137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矩形 138"/>
            <p:cNvSpPr/>
            <p:nvPr/>
          </p:nvSpPr>
          <p:spPr>
            <a:xfrm>
              <a:off x="6902658" y="2551112"/>
              <a:ext cx="46025" cy="840317"/>
            </a:xfrm>
            <a:prstGeom prst="rect">
              <a:avLst/>
            </a:prstGeom>
            <a:solidFill>
              <a:srgbClr val="5BDDFE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43" name="Text Box 3"/>
          <p:cNvSpPr txBox="1">
            <a:spLocks noChangeArrowheads="1"/>
          </p:cNvSpPr>
          <p:nvPr/>
        </p:nvSpPr>
        <p:spPr bwMode="auto">
          <a:xfrm>
            <a:off x="2725738" y="1311275"/>
            <a:ext cx="471487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1. </a:t>
            </a:r>
            <a:r>
              <a:rPr kumimoji="1" lang="zh-CN" altLang="en-US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二次电子导电摄像管 </a:t>
            </a:r>
          </a:p>
        </p:txBody>
      </p:sp>
      <p:grpSp>
        <p:nvGrpSpPr>
          <p:cNvPr id="144" name="组合 87"/>
          <p:cNvGrpSpPr>
            <a:grpSpLocks/>
          </p:cNvGrpSpPr>
          <p:nvPr/>
        </p:nvGrpSpPr>
        <p:grpSpPr bwMode="auto">
          <a:xfrm>
            <a:off x="4600575" y="3978275"/>
            <a:ext cx="1022350" cy="652463"/>
            <a:chOff x="2571736" y="5000636"/>
            <a:chExt cx="1022350" cy="869448"/>
          </a:xfrm>
        </p:grpSpPr>
        <p:cxnSp>
          <p:nvCxnSpPr>
            <p:cNvPr id="19497" name="直接箭头连接符 144"/>
            <p:cNvCxnSpPr>
              <a:cxnSpLocks noChangeShapeType="1"/>
            </p:cNvCxnSpPr>
            <p:nvPr/>
          </p:nvCxnSpPr>
          <p:spPr bwMode="auto">
            <a:xfrm>
              <a:off x="2586024" y="5000636"/>
              <a:ext cx="1008062" cy="592325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8" name="直接箭头连接符 145"/>
            <p:cNvCxnSpPr>
              <a:cxnSpLocks noChangeShapeType="1"/>
            </p:cNvCxnSpPr>
            <p:nvPr/>
          </p:nvCxnSpPr>
          <p:spPr bwMode="auto">
            <a:xfrm>
              <a:off x="2571736" y="5081023"/>
              <a:ext cx="955675" cy="526746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9" name="直接箭头连接符 146"/>
            <p:cNvCxnSpPr>
              <a:cxnSpLocks noChangeShapeType="1"/>
            </p:cNvCxnSpPr>
            <p:nvPr/>
          </p:nvCxnSpPr>
          <p:spPr bwMode="auto">
            <a:xfrm rot="5400000" flipH="1" flipV="1">
              <a:off x="2788858" y="5003523"/>
              <a:ext cx="569056" cy="990600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500" name="直接箭头连接符 147"/>
            <p:cNvCxnSpPr>
              <a:cxnSpLocks noChangeShapeType="1"/>
            </p:cNvCxnSpPr>
            <p:nvPr/>
          </p:nvCxnSpPr>
          <p:spPr bwMode="auto">
            <a:xfrm rot="5400000" flipH="1" flipV="1">
              <a:off x="2766891" y="5146075"/>
              <a:ext cx="541554" cy="906463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9" name="上箭头 148"/>
          <p:cNvSpPr/>
          <p:nvPr/>
        </p:nvSpPr>
        <p:spPr>
          <a:xfrm>
            <a:off x="5588000" y="4076700"/>
            <a:ext cx="71438" cy="428625"/>
          </a:xfrm>
          <a:prstGeom prst="upArrow">
            <a:avLst/>
          </a:prstGeom>
          <a:solidFill>
            <a:srgbClr val="0000CC"/>
          </a:solidFill>
          <a:ln w="25400" cap="flat" cmpd="sng" algn="ctr">
            <a:solidFill>
              <a:srgbClr val="0000CC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50" name="组合 88"/>
          <p:cNvGrpSpPr>
            <a:grpSpLocks/>
          </p:cNvGrpSpPr>
          <p:nvPr/>
        </p:nvGrpSpPr>
        <p:grpSpPr bwMode="auto">
          <a:xfrm>
            <a:off x="5743575" y="3549650"/>
            <a:ext cx="1289050" cy="206375"/>
            <a:chOff x="636561" y="1854187"/>
            <a:chExt cx="1289059" cy="274638"/>
          </a:xfrm>
        </p:grpSpPr>
        <p:cxnSp>
          <p:nvCxnSpPr>
            <p:cNvPr id="19494" name="直接连接符 150"/>
            <p:cNvCxnSpPr>
              <a:cxnSpLocks noChangeShapeType="1"/>
            </p:cNvCxnSpPr>
            <p:nvPr/>
          </p:nvCxnSpPr>
          <p:spPr bwMode="auto">
            <a:xfrm rot="5400000" flipH="1" flipV="1">
              <a:off x="500036" y="1990713"/>
              <a:ext cx="274638" cy="1588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5" name="直接连接符 151"/>
            <p:cNvCxnSpPr>
              <a:cxnSpLocks noChangeShapeType="1"/>
            </p:cNvCxnSpPr>
            <p:nvPr/>
          </p:nvCxnSpPr>
          <p:spPr bwMode="auto">
            <a:xfrm rot="5400000" flipH="1" flipV="1">
              <a:off x="1786713" y="1989918"/>
              <a:ext cx="274638" cy="3175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19496" name="直接箭头连接符 152"/>
            <p:cNvCxnSpPr>
              <a:cxnSpLocks noChangeShapeType="1"/>
            </p:cNvCxnSpPr>
            <p:nvPr/>
          </p:nvCxnSpPr>
          <p:spPr bwMode="auto">
            <a:xfrm flipV="1">
              <a:off x="636561" y="1997844"/>
              <a:ext cx="1265247" cy="845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54" name="椭圆形标注 153"/>
          <p:cNvSpPr/>
          <p:nvPr/>
        </p:nvSpPr>
        <p:spPr>
          <a:xfrm>
            <a:off x="7886700" y="2586038"/>
            <a:ext cx="928688" cy="1554162"/>
          </a:xfrm>
          <a:prstGeom prst="wedgeEllipseCallout">
            <a:avLst>
              <a:gd name="adj1" fmla="val -278087"/>
              <a:gd name="adj2" fmla="val 47821"/>
            </a:avLst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8100000" scaled="0"/>
          </a:gradFill>
          <a:ln w="31750" cap="flat" cmpd="sng" algn="ctr">
            <a:solidFill>
              <a:srgbClr val="0000CC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Calibri"/>
            </a:endParaRPr>
          </a:p>
        </p:txBody>
      </p:sp>
      <p:sp>
        <p:nvSpPr>
          <p:cNvPr id="155" name="矩形 154"/>
          <p:cNvSpPr/>
          <p:nvPr/>
        </p:nvSpPr>
        <p:spPr>
          <a:xfrm>
            <a:off x="8094663" y="2801938"/>
            <a:ext cx="68262" cy="1154112"/>
          </a:xfrm>
          <a:prstGeom prst="rect">
            <a:avLst/>
          </a:prstGeom>
          <a:solidFill>
            <a:srgbClr val="0000CC"/>
          </a:solidFill>
          <a:ln w="127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6" name="矩形 155"/>
          <p:cNvSpPr/>
          <p:nvPr/>
        </p:nvSpPr>
        <p:spPr>
          <a:xfrm>
            <a:off x="8162925" y="2800350"/>
            <a:ext cx="441325" cy="1155700"/>
          </a:xfrm>
          <a:prstGeom prst="rect">
            <a:avLst/>
          </a:prstGeom>
          <a:solidFill>
            <a:srgbClr val="FFFF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sp>
        <p:nvSpPr>
          <p:cNvPr id="157" name="矩形 156"/>
          <p:cNvSpPr/>
          <p:nvPr/>
        </p:nvSpPr>
        <p:spPr>
          <a:xfrm>
            <a:off x="8023225" y="2792413"/>
            <a:ext cx="68263" cy="1155700"/>
          </a:xfrm>
          <a:prstGeom prst="rect">
            <a:avLst/>
          </a:prstGeom>
          <a:solidFill>
            <a:srgbClr val="FF0000"/>
          </a:solidFill>
          <a:ln w="25400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cxnSp>
        <p:nvCxnSpPr>
          <p:cNvPr id="158" name="直接箭头连接符 157"/>
          <p:cNvCxnSpPr>
            <a:cxnSpLocks noChangeShapeType="1"/>
          </p:cNvCxnSpPr>
          <p:nvPr/>
        </p:nvCxnSpPr>
        <p:spPr bwMode="auto">
          <a:xfrm rot="10800000">
            <a:off x="8029575" y="3711575"/>
            <a:ext cx="1143000" cy="0"/>
          </a:xfrm>
          <a:prstGeom prst="straightConnector1">
            <a:avLst/>
          </a:prstGeom>
          <a:noFill/>
          <a:ln w="31750" algn="ctr">
            <a:solidFill>
              <a:srgbClr val="FF0000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59" name="直接箭头连接符 158"/>
          <p:cNvCxnSpPr>
            <a:cxnSpLocks noChangeShapeType="1"/>
          </p:cNvCxnSpPr>
          <p:nvPr/>
        </p:nvCxnSpPr>
        <p:spPr bwMode="auto">
          <a:xfrm rot="10800000" flipV="1">
            <a:off x="8094663" y="3121025"/>
            <a:ext cx="935037" cy="22225"/>
          </a:xfrm>
          <a:prstGeom prst="straightConnector1">
            <a:avLst/>
          </a:prstGeom>
          <a:noFill/>
          <a:ln w="31750" algn="ctr">
            <a:solidFill>
              <a:srgbClr val="0000CC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grpSp>
        <p:nvGrpSpPr>
          <p:cNvPr id="160" name="组合 105"/>
          <p:cNvGrpSpPr>
            <a:grpSpLocks/>
          </p:cNvGrpSpPr>
          <p:nvPr/>
        </p:nvGrpSpPr>
        <p:grpSpPr bwMode="auto">
          <a:xfrm>
            <a:off x="7662863" y="4129088"/>
            <a:ext cx="3571875" cy="1487487"/>
            <a:chOff x="5348302" y="2500307"/>
            <a:chExt cx="3571900" cy="1984099"/>
          </a:xfrm>
        </p:grpSpPr>
        <p:cxnSp>
          <p:nvCxnSpPr>
            <p:cNvPr id="19492" name="直接箭头连接符 160"/>
            <p:cNvCxnSpPr>
              <a:cxnSpLocks noChangeShapeType="1"/>
            </p:cNvCxnSpPr>
            <p:nvPr/>
          </p:nvCxnSpPr>
          <p:spPr bwMode="auto">
            <a:xfrm rot="5400000" flipH="1" flipV="1">
              <a:off x="5751763" y="2892179"/>
              <a:ext cx="785332" cy="1588"/>
            </a:xfrm>
            <a:prstGeom prst="straightConnector1">
              <a:avLst/>
            </a:prstGeom>
            <a:noFill/>
            <a:ln w="31750" algn="ctr">
              <a:solidFill>
                <a:srgbClr val="FFC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62" name="TextBox 101"/>
            <p:cNvSpPr txBox="1">
              <a:spLocks noChangeArrowheads="1"/>
            </p:cNvSpPr>
            <p:nvPr/>
          </p:nvSpPr>
          <p:spPr bwMode="auto">
            <a:xfrm>
              <a:off x="5348302" y="3254138"/>
              <a:ext cx="3571900" cy="12302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 dirty="0" err="1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KCl</a:t>
              </a:r>
              <a:r>
                <a:rPr lang="zh-CN" altLang="en-US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膜，厚</a:t>
              </a: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15~20</a:t>
              </a: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  <a:sym typeface="Symbol" pitchFamily="18" charset="2"/>
                </a:rPr>
                <a:t></a:t>
              </a: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m,</a:t>
              </a:r>
              <a:r>
                <a:rPr lang="zh-CN" altLang="en-US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呈疏松组织，</a:t>
              </a: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98~99%</a:t>
              </a:r>
              <a:r>
                <a:rPr lang="zh-CN" altLang="en-US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是气隙</a:t>
              </a:r>
              <a:r>
                <a:rPr lang="en-US" altLang="zh-CN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,</a:t>
              </a:r>
              <a:r>
                <a:rPr lang="zh-CN" altLang="en-US" sz="1800" b="1" kern="0" dirty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在高速光电子作用下产生二次电子传导。</a:t>
              </a:r>
            </a:p>
          </p:txBody>
        </p:sp>
      </p:grpSp>
      <p:sp>
        <p:nvSpPr>
          <p:cNvPr id="163" name="TextBox 44"/>
          <p:cNvSpPr txBox="1">
            <a:spLocks noChangeArrowheads="1"/>
          </p:cNvSpPr>
          <p:nvPr/>
        </p:nvSpPr>
        <p:spPr bwMode="auto">
          <a:xfrm>
            <a:off x="7615238" y="3333750"/>
            <a:ext cx="441325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</a:t>
            </a:r>
          </a:p>
        </p:txBody>
      </p:sp>
      <p:sp>
        <p:nvSpPr>
          <p:cNvPr id="164" name="TextBox 4"/>
          <p:cNvSpPr txBox="1">
            <a:spLocks noChangeArrowheads="1"/>
          </p:cNvSpPr>
          <p:nvPr/>
        </p:nvSpPr>
        <p:spPr bwMode="auto">
          <a:xfrm>
            <a:off x="3076575" y="1814513"/>
            <a:ext cx="70723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Secondary electron conductive tube 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SEC)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5" name="TextBox 107"/>
          <p:cNvSpPr txBox="1">
            <a:spLocks noChangeArrowheads="1"/>
          </p:cNvSpPr>
          <p:nvPr/>
        </p:nvSpPr>
        <p:spPr bwMode="auto">
          <a:xfrm>
            <a:off x="5810250" y="5895975"/>
            <a:ext cx="350202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SEC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管结构及</a:t>
            </a:r>
            <a:r>
              <a:rPr lang="en-US" altLang="zh-CN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SEC</a:t>
            </a:r>
            <a:r>
              <a:rPr lang="zh-CN" altLang="en-US" sz="28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</a:t>
            </a:r>
          </a:p>
        </p:txBody>
      </p:sp>
      <p:sp>
        <p:nvSpPr>
          <p:cNvPr id="87" name="矩形 86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95" name="矩形 9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0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08" name="矩形 10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94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91181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光电发射摄像管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0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47800" y="662614"/>
            <a:ext cx="1796783" cy="24809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87" dur="500"/>
                                        <p:tgtEl>
                                          <p:spTgt spid="1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1" dur="5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5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4" dur="500"/>
                                        <p:tgtEl>
                                          <p:spTgt spid="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6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3" dur="500"/>
                                        <p:tgtEl>
                                          <p:spTgt spid="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7" dur="5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2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" grpId="0" animBg="1"/>
      <p:bldP spid="127" grpId="0"/>
      <p:bldP spid="128" grpId="0"/>
      <p:bldP spid="129" grpId="0"/>
      <p:bldP spid="130" grpId="0"/>
      <p:bldP spid="143" grpId="0"/>
      <p:bldP spid="149" grpId="0" animBg="1"/>
      <p:bldP spid="154" grpId="0" animBg="1"/>
      <p:bldP spid="155" grpId="0" animBg="1"/>
      <p:bldP spid="156" grpId="0" animBg="1"/>
      <p:bldP spid="157" grpId="0" animBg="1"/>
      <p:bldP spid="163" grpId="0"/>
      <p:bldP spid="164" grpId="0"/>
      <p:bldP spid="16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>
            <a:spLocks noChangeArrowheads="1"/>
          </p:cNvSpPr>
          <p:nvPr/>
        </p:nvSpPr>
        <p:spPr bwMode="auto">
          <a:xfrm>
            <a:off x="890588" y="1843088"/>
            <a:ext cx="12274550" cy="143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工作原理：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当一个加速的光电子打到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SEC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靶上时，其中的一部分能量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约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2keV)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在穿过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</a:t>
            </a:r>
            <a:r>
              <a:rPr lang="en-US" altLang="zh-CN" sz="24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O</a:t>
            </a:r>
            <a:r>
              <a:rPr lang="en-US" altLang="zh-CN" sz="2400" b="1" baseline="-2500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及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Al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膜时损耗掉，另一部分能量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约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2keV)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被电子穿透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SEC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膜时带走不能发挥作用，其余的能量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实验证明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4keV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为最佳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)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能被靶吸收。</a:t>
            </a:r>
          </a:p>
        </p:txBody>
      </p:sp>
      <p:sp>
        <p:nvSpPr>
          <p:cNvPr id="3" name="Text Box 6"/>
          <p:cNvSpPr txBox="1">
            <a:spLocks noChangeArrowheads="1"/>
          </p:cNvSpPr>
          <p:nvPr/>
        </p:nvSpPr>
        <p:spPr bwMode="auto">
          <a:xfrm>
            <a:off x="1185863" y="1277938"/>
            <a:ext cx="1040288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50000"/>
              </a:spcBef>
              <a:buFontTx/>
              <a:buNone/>
            </a:pPr>
            <a:r>
              <a:rPr kumimoji="1"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SEC</a:t>
            </a:r>
            <a:r>
              <a:rPr kumimoji="1"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管是</a:t>
            </a:r>
            <a:r>
              <a:rPr kumimoji="1"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60</a:t>
            </a:r>
            <a:r>
              <a:rPr kumimoji="1"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年代初出现的一种高灵敏度摄象管，适于微光摄象。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890588" y="3370263"/>
            <a:ext cx="1202690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对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KCl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膜来说，每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30eV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激发一个二次电子，因此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4keV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的电子能激发</a:t>
            </a: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120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个左右的二次电子，其中仅有一小部分被复合掉。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735013" y="4540250"/>
            <a:ext cx="12341225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二次电子在靶电场的作用下流向信号版，而在靶上留下一个正电荷图像，被扫描时经电子束补充恢复到阴极电位，而在外电路上产生脉冲电流，形成图像的视频信号。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715963" y="5707063"/>
            <a:ext cx="12084050" cy="990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35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	SEC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管主要利用高能光电子激发二次电子，再由二次电子在电场作用下传导电流，称为二次电子传导。</a:t>
            </a:r>
          </a:p>
        </p:txBody>
      </p:sp>
      <p:sp>
        <p:nvSpPr>
          <p:cNvPr id="14" name="矩形 13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20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91181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光电发射摄像管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1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47800" y="662614"/>
            <a:ext cx="1796783" cy="24809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7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任意多边形 107"/>
          <p:cNvSpPr/>
          <p:nvPr/>
        </p:nvSpPr>
        <p:spPr>
          <a:xfrm>
            <a:off x="4097338" y="4189413"/>
            <a:ext cx="3187700" cy="923925"/>
          </a:xfrm>
          <a:custGeom>
            <a:avLst/>
            <a:gdLst>
              <a:gd name="connsiteX0" fmla="*/ 6350 w 3187700"/>
              <a:gd name="connsiteY0" fmla="*/ 6350 h 1231900"/>
              <a:gd name="connsiteX1" fmla="*/ 920750 w 3187700"/>
              <a:gd name="connsiteY1" fmla="*/ 0 h 1231900"/>
              <a:gd name="connsiteX2" fmla="*/ 1339850 w 3187700"/>
              <a:gd name="connsiteY2" fmla="*/ 190500 h 1231900"/>
              <a:gd name="connsiteX3" fmla="*/ 3181350 w 3187700"/>
              <a:gd name="connsiteY3" fmla="*/ 177800 h 1231900"/>
              <a:gd name="connsiteX4" fmla="*/ 3187700 w 3187700"/>
              <a:gd name="connsiteY4" fmla="*/ 1022350 h 1231900"/>
              <a:gd name="connsiteX5" fmla="*/ 1333500 w 3187700"/>
              <a:gd name="connsiteY5" fmla="*/ 1022350 h 1231900"/>
              <a:gd name="connsiteX6" fmla="*/ 933450 w 3187700"/>
              <a:gd name="connsiteY6" fmla="*/ 1231900 h 1231900"/>
              <a:gd name="connsiteX7" fmla="*/ 0 w 3187700"/>
              <a:gd name="connsiteY7" fmla="*/ 1231900 h 1231900"/>
              <a:gd name="connsiteX8" fmla="*/ 6350 w 3187700"/>
              <a:gd name="connsiteY8" fmla="*/ 6350 h 1231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187700" h="1231900">
                <a:moveTo>
                  <a:pt x="6350" y="6350"/>
                </a:moveTo>
                <a:lnTo>
                  <a:pt x="920750" y="0"/>
                </a:lnTo>
                <a:lnTo>
                  <a:pt x="1339850" y="190500"/>
                </a:lnTo>
                <a:lnTo>
                  <a:pt x="3181350" y="177800"/>
                </a:lnTo>
                <a:cubicBezTo>
                  <a:pt x="3183467" y="459317"/>
                  <a:pt x="3185583" y="740833"/>
                  <a:pt x="3187700" y="1022350"/>
                </a:cubicBezTo>
                <a:lnTo>
                  <a:pt x="1333500" y="1022350"/>
                </a:lnTo>
                <a:lnTo>
                  <a:pt x="933450" y="1231900"/>
                </a:lnTo>
                <a:lnTo>
                  <a:pt x="0" y="1231900"/>
                </a:lnTo>
                <a:cubicBezTo>
                  <a:pt x="2117" y="823383"/>
                  <a:pt x="4233" y="414867"/>
                  <a:pt x="6350" y="6350"/>
                </a:cubicBezTo>
                <a:close/>
              </a:path>
            </a:pathLst>
          </a:custGeom>
          <a:solidFill>
            <a:srgbClr val="5BDDFE"/>
          </a:solidFill>
          <a:ln w="19050" cap="flat" cmpd="sng" algn="ctr">
            <a:solidFill>
              <a:sysClr val="windowText" lastClr="00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pic>
        <p:nvPicPr>
          <p:cNvPr id="109" name="Picture 19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48063" y="4322763"/>
            <a:ext cx="161925" cy="550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110" name="直接箭头连接符 109"/>
          <p:cNvCxnSpPr>
            <a:cxnSpLocks noChangeShapeType="1"/>
          </p:cNvCxnSpPr>
          <p:nvPr/>
        </p:nvCxnSpPr>
        <p:spPr bwMode="auto">
          <a:xfrm flipV="1">
            <a:off x="3133725" y="4322763"/>
            <a:ext cx="1000125" cy="536575"/>
          </a:xfrm>
          <a:prstGeom prst="straightConnector1">
            <a:avLst/>
          </a:prstGeom>
          <a:noFill/>
          <a:ln w="25400" algn="ctr">
            <a:solidFill>
              <a:srgbClr val="FF00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1" name="直接箭头连接符 110"/>
          <p:cNvCxnSpPr>
            <a:cxnSpLocks noChangeShapeType="1"/>
          </p:cNvCxnSpPr>
          <p:nvPr/>
        </p:nvCxnSpPr>
        <p:spPr bwMode="auto">
          <a:xfrm>
            <a:off x="3151188" y="4289425"/>
            <a:ext cx="962025" cy="601663"/>
          </a:xfrm>
          <a:prstGeom prst="straightConnector1">
            <a:avLst/>
          </a:prstGeom>
          <a:noFill/>
          <a:ln w="25400" algn="ctr">
            <a:solidFill>
              <a:srgbClr val="FF00FF"/>
            </a:solidFill>
            <a:round/>
            <a:headEnd/>
            <a:tailEnd type="stealth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12" name="下箭头 111"/>
          <p:cNvSpPr/>
          <p:nvPr/>
        </p:nvSpPr>
        <p:spPr>
          <a:xfrm>
            <a:off x="4121150" y="4333875"/>
            <a:ext cx="71438" cy="600075"/>
          </a:xfrm>
          <a:prstGeom prst="downArrow">
            <a:avLst/>
          </a:prstGeom>
          <a:solidFill>
            <a:srgbClr val="FF0000"/>
          </a:solidFill>
          <a:ln w="25400" cap="flat" cmpd="sng" algn="ctr">
            <a:solidFill>
              <a:srgbClr val="FF0000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13" name="组合 112"/>
          <p:cNvGrpSpPr>
            <a:grpSpLocks/>
          </p:cNvGrpSpPr>
          <p:nvPr/>
        </p:nvGrpSpPr>
        <p:grpSpPr bwMode="auto">
          <a:xfrm>
            <a:off x="5311775" y="4395788"/>
            <a:ext cx="158750" cy="1143000"/>
            <a:chOff x="3946525" y="2643182"/>
            <a:chExt cx="158750" cy="1524006"/>
          </a:xfrm>
        </p:grpSpPr>
        <p:cxnSp>
          <p:nvCxnSpPr>
            <p:cNvPr id="21602" name="直接连接符 113"/>
            <p:cNvCxnSpPr>
              <a:cxnSpLocks noChangeShapeType="1"/>
              <a:endCxn id="116" idx="1"/>
            </p:cNvCxnSpPr>
            <p:nvPr/>
          </p:nvCxnSpPr>
          <p:spPr bwMode="auto">
            <a:xfrm rot="16200000" flipH="1">
              <a:off x="3767930" y="3570550"/>
              <a:ext cx="514353" cy="1587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603" name="组合 79"/>
            <p:cNvGrpSpPr>
              <a:grpSpLocks/>
            </p:cNvGrpSpPr>
            <p:nvPr/>
          </p:nvGrpSpPr>
          <p:grpSpPr bwMode="auto">
            <a:xfrm>
              <a:off x="3954463" y="2643182"/>
              <a:ext cx="138112" cy="1524006"/>
              <a:chOff x="3954463" y="2643182"/>
              <a:chExt cx="138112" cy="1524006"/>
            </a:xfrm>
          </p:grpSpPr>
          <p:sp>
            <p:nvSpPr>
              <p:cNvPr id="118" name="矩形 117"/>
              <p:cNvSpPr/>
              <p:nvPr/>
            </p:nvSpPr>
            <p:spPr>
              <a:xfrm>
                <a:off x="3986213" y="2643182"/>
                <a:ext cx="71437" cy="664636"/>
              </a:xfrm>
              <a:prstGeom prst="rect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19" name="矩形 118"/>
              <p:cNvSpPr/>
              <p:nvPr/>
            </p:nvSpPr>
            <p:spPr>
              <a:xfrm>
                <a:off x="3954463" y="4114270"/>
                <a:ext cx="138112" cy="52918"/>
              </a:xfrm>
              <a:prstGeom prst="rect">
                <a:avLst/>
              </a:prstGeom>
              <a:solidFill>
                <a:srgbClr val="00B050"/>
              </a:solidFill>
              <a:ln w="25400" cap="flat" cmpd="sng" algn="ctr">
                <a:solidFill>
                  <a:srgbClr val="00B05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cxnSp>
            <p:nvCxnSpPr>
              <p:cNvPr id="21608" name="直接连接符 119"/>
              <p:cNvCxnSpPr>
                <a:cxnSpLocks noChangeShapeType="1"/>
                <a:stCxn id="117" idx="3"/>
              </p:cNvCxnSpPr>
              <p:nvPr/>
            </p:nvCxnSpPr>
            <p:spPr bwMode="auto">
              <a:xfrm rot="-5400000" flipH="1" flipV="1">
                <a:off x="3911600" y="3988858"/>
                <a:ext cx="222250" cy="3175"/>
              </a:xfrm>
              <a:prstGeom prst="line">
                <a:avLst/>
              </a:prstGeom>
              <a:noFill/>
              <a:ln w="19050" algn="ctr">
                <a:solidFill>
                  <a:srgbClr val="CB9D33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sp>
            <p:nvSpPr>
              <p:cNvPr id="121" name="矩形 120"/>
              <p:cNvSpPr/>
              <p:nvPr/>
            </p:nvSpPr>
            <p:spPr>
              <a:xfrm rot="5400000">
                <a:off x="3948113" y="3605739"/>
                <a:ext cx="152401" cy="47625"/>
              </a:xfrm>
              <a:prstGeom prst="rect">
                <a:avLst/>
              </a:prstGeom>
              <a:solidFill>
                <a:srgbClr val="FF0000"/>
              </a:solidFill>
              <a:ln w="25400" cap="flat" cmpd="sng" algn="ctr">
                <a:solidFill>
                  <a:srgbClr val="FF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16" name="减号 115"/>
            <p:cNvSpPr/>
            <p:nvPr/>
          </p:nvSpPr>
          <p:spPr>
            <a:xfrm>
              <a:off x="3946525" y="3801003"/>
              <a:ext cx="158750" cy="46567"/>
            </a:xfrm>
            <a:prstGeom prst="mathMinus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17" name="减号 116"/>
            <p:cNvSpPr/>
            <p:nvPr/>
          </p:nvSpPr>
          <p:spPr>
            <a:xfrm>
              <a:off x="3984625" y="3862387"/>
              <a:ext cx="80963" cy="44450"/>
            </a:xfrm>
            <a:prstGeom prst="mathMinus">
              <a:avLst/>
            </a:prstGeom>
            <a:solidFill>
              <a:srgbClr val="4F81BD"/>
            </a:solidFill>
            <a:ln w="25400" cap="flat" cmpd="sng" algn="ctr">
              <a:solidFill>
                <a:srgbClr val="4F81BD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22" name="组合 121"/>
          <p:cNvGrpSpPr>
            <a:grpSpLocks/>
          </p:cNvGrpSpPr>
          <p:nvPr/>
        </p:nvGrpSpPr>
        <p:grpSpPr bwMode="auto">
          <a:xfrm>
            <a:off x="2990850" y="4718050"/>
            <a:ext cx="1212850" cy="1149350"/>
            <a:chOff x="1643042" y="3071811"/>
            <a:chExt cx="1212850" cy="1533613"/>
          </a:xfrm>
        </p:grpSpPr>
        <p:sp>
          <p:nvSpPr>
            <p:cNvPr id="123" name="TextBox 45"/>
            <p:cNvSpPr txBox="1">
              <a:spLocks noChangeArrowheads="1"/>
            </p:cNvSpPr>
            <p:nvPr/>
          </p:nvSpPr>
          <p:spPr bwMode="auto">
            <a:xfrm>
              <a:off x="1643042" y="4071625"/>
              <a:ext cx="1211263" cy="5337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光电阴极</a:t>
              </a:r>
            </a:p>
          </p:txBody>
        </p:sp>
        <p:cxnSp>
          <p:nvCxnSpPr>
            <p:cNvPr id="21601" name="直接连接符 123"/>
            <p:cNvCxnSpPr>
              <a:cxnSpLocks noChangeShapeType="1"/>
            </p:cNvCxnSpPr>
            <p:nvPr/>
          </p:nvCxnSpPr>
          <p:spPr bwMode="auto">
            <a:xfrm rot="5400000">
              <a:off x="2190383" y="3334095"/>
              <a:ext cx="927794" cy="403225"/>
            </a:xfrm>
            <a:prstGeom prst="line">
              <a:avLst/>
            </a:prstGeom>
            <a:noFill/>
            <a:ln w="31750" algn="ctr">
              <a:solidFill>
                <a:srgbClr val="C00000"/>
              </a:solidFill>
              <a:round/>
              <a:headEnd type="stealth" w="med" len="lg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25" name="组合 18"/>
          <p:cNvGrpSpPr>
            <a:grpSpLocks/>
          </p:cNvGrpSpPr>
          <p:nvPr/>
        </p:nvGrpSpPr>
        <p:grpSpPr bwMode="auto">
          <a:xfrm>
            <a:off x="4062413" y="4252913"/>
            <a:ext cx="1281112" cy="1743075"/>
            <a:chOff x="2714612" y="2452688"/>
            <a:chExt cx="1281126" cy="2324131"/>
          </a:xfrm>
        </p:grpSpPr>
        <p:sp>
          <p:nvSpPr>
            <p:cNvPr id="126" name="矩形 125"/>
            <p:cNvSpPr/>
            <p:nvPr/>
          </p:nvSpPr>
          <p:spPr>
            <a:xfrm>
              <a:off x="3725860" y="3978824"/>
              <a:ext cx="138115" cy="52918"/>
            </a:xfrm>
            <a:prstGeom prst="rect">
              <a:avLst/>
            </a:prstGeom>
            <a:solidFill>
              <a:srgbClr val="00B050"/>
            </a:solidFill>
            <a:ln w="25400" cap="flat" cmpd="sng" algn="ctr">
              <a:solidFill>
                <a:srgbClr val="00B05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27" name="椭圆 126"/>
            <p:cNvSpPr/>
            <p:nvPr/>
          </p:nvSpPr>
          <p:spPr>
            <a:xfrm>
              <a:off x="2981315" y="3915324"/>
              <a:ext cx="128588" cy="127002"/>
            </a:xfrm>
            <a:prstGeom prst="ellipse">
              <a:avLst/>
            </a:prstGeom>
            <a:solidFill>
              <a:srgbClr val="FF0000"/>
            </a:solidFill>
            <a:ln w="127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 dirty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grpSp>
          <p:nvGrpSpPr>
            <p:cNvPr id="21585" name="组合 16"/>
            <p:cNvGrpSpPr>
              <a:grpSpLocks/>
            </p:cNvGrpSpPr>
            <p:nvPr/>
          </p:nvGrpSpPr>
          <p:grpSpPr bwMode="auto">
            <a:xfrm>
              <a:off x="2854325" y="2452688"/>
              <a:ext cx="1141413" cy="1028700"/>
              <a:chOff x="2844800" y="2452688"/>
              <a:chExt cx="1141413" cy="1028700"/>
            </a:xfrm>
          </p:grpSpPr>
          <p:sp>
            <p:nvSpPr>
              <p:cNvPr id="137" name="矩形 136"/>
              <p:cNvSpPr/>
              <p:nvPr/>
            </p:nvSpPr>
            <p:spPr>
              <a:xfrm>
                <a:off x="2933690" y="2452688"/>
                <a:ext cx="233364" cy="1028713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38" name="椭圆 137"/>
              <p:cNvSpPr/>
              <p:nvPr/>
            </p:nvSpPr>
            <p:spPr>
              <a:xfrm>
                <a:off x="2844789" y="2463271"/>
                <a:ext cx="171452" cy="1013897"/>
              </a:xfrm>
              <a:prstGeom prst="ellipse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39" name="矩形 138"/>
              <p:cNvSpPr/>
              <p:nvPr/>
            </p:nvSpPr>
            <p:spPr>
              <a:xfrm>
                <a:off x="3148004" y="2562756"/>
                <a:ext cx="133351" cy="823393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40" name="矩形 139"/>
              <p:cNvSpPr/>
              <p:nvPr/>
            </p:nvSpPr>
            <p:spPr>
              <a:xfrm>
                <a:off x="3262305" y="2681291"/>
                <a:ext cx="128589" cy="628657"/>
              </a:xfrm>
              <a:prstGeom prst="rect">
                <a:avLst/>
              </a:pr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41" name="矩形 21"/>
              <p:cNvSpPr/>
              <p:nvPr/>
            </p:nvSpPr>
            <p:spPr>
              <a:xfrm>
                <a:off x="2919402" y="2467504"/>
                <a:ext cx="128589" cy="1003313"/>
              </a:xfrm>
              <a:prstGeom prst="rect">
                <a:avLst/>
              </a:prstGeom>
              <a:solidFill>
                <a:srgbClr val="FFCBA6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42" name="任意多边形 141"/>
              <p:cNvSpPr/>
              <p:nvPr/>
            </p:nvSpPr>
            <p:spPr>
              <a:xfrm>
                <a:off x="3376607" y="2615673"/>
                <a:ext cx="609606" cy="709093"/>
              </a:xfrm>
              <a:custGeom>
                <a:avLst/>
                <a:gdLst>
                  <a:gd name="connsiteX0" fmla="*/ 0 w 609600"/>
                  <a:gd name="connsiteY0" fmla="*/ 361950 h 709612"/>
                  <a:gd name="connsiteX1" fmla="*/ 0 w 609600"/>
                  <a:gd name="connsiteY1" fmla="*/ 590550 h 709612"/>
                  <a:gd name="connsiteX2" fmla="*/ 604837 w 609600"/>
                  <a:gd name="connsiteY2" fmla="*/ 709612 h 709612"/>
                  <a:gd name="connsiteX3" fmla="*/ 609600 w 609600"/>
                  <a:gd name="connsiteY3" fmla="*/ 0 h 709612"/>
                  <a:gd name="connsiteX4" fmla="*/ 0 w 609600"/>
                  <a:gd name="connsiteY4" fmla="*/ 133350 h 709612"/>
                  <a:gd name="connsiteX5" fmla="*/ 0 w 609600"/>
                  <a:gd name="connsiteY5" fmla="*/ 361950 h 7096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609600" h="709612">
                    <a:moveTo>
                      <a:pt x="0" y="361950"/>
                    </a:moveTo>
                    <a:lnTo>
                      <a:pt x="0" y="590550"/>
                    </a:lnTo>
                    <a:lnTo>
                      <a:pt x="604837" y="709612"/>
                    </a:lnTo>
                    <a:cubicBezTo>
                      <a:pt x="606425" y="473075"/>
                      <a:pt x="608012" y="236537"/>
                      <a:pt x="609600" y="0"/>
                    </a:cubicBezTo>
                    <a:lnTo>
                      <a:pt x="0" y="133350"/>
                    </a:lnTo>
                    <a:lnTo>
                      <a:pt x="0" y="361950"/>
                    </a:lnTo>
                    <a:close/>
                  </a:path>
                </a:pathLst>
              </a:custGeom>
              <a:solidFill>
                <a:srgbClr val="FFCBA6"/>
              </a:solidFill>
              <a:ln w="19050" cap="flat" cmpd="sng" algn="ctr">
                <a:solidFill>
                  <a:sysClr val="windowText" lastClr="000000"/>
                </a:solidFill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cxnSp>
          <p:nvCxnSpPr>
            <p:cNvPr id="21586" name="直接连接符 128"/>
            <p:cNvCxnSpPr>
              <a:cxnSpLocks noChangeShapeType="1"/>
              <a:endCxn id="127" idx="0"/>
            </p:cNvCxnSpPr>
            <p:nvPr/>
          </p:nvCxnSpPr>
          <p:spPr bwMode="auto">
            <a:xfrm rot="5400000">
              <a:off x="2830501" y="3697832"/>
              <a:ext cx="431806" cy="3175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7" name="直接连接符 129"/>
            <p:cNvCxnSpPr>
              <a:cxnSpLocks noChangeShapeType="1"/>
            </p:cNvCxnSpPr>
            <p:nvPr/>
          </p:nvCxnSpPr>
          <p:spPr bwMode="auto">
            <a:xfrm flipV="1">
              <a:off x="3041641" y="3760805"/>
              <a:ext cx="747720" cy="0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8" name="直接连接符 130"/>
            <p:cNvCxnSpPr>
              <a:cxnSpLocks noChangeShapeType="1"/>
            </p:cNvCxnSpPr>
            <p:nvPr/>
          </p:nvCxnSpPr>
          <p:spPr bwMode="auto">
            <a:xfrm rot="5400000">
              <a:off x="3460480" y="3626129"/>
              <a:ext cx="675225" cy="4763"/>
            </a:xfrm>
            <a:prstGeom prst="line">
              <a:avLst/>
            </a:prstGeom>
            <a:noFill/>
            <a:ln w="19050" algn="ctr">
              <a:solidFill>
                <a:srgbClr val="CB9D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2" name="矩形 131"/>
            <p:cNvSpPr/>
            <p:nvPr/>
          </p:nvSpPr>
          <p:spPr>
            <a:xfrm>
              <a:off x="3500433" y="3735405"/>
              <a:ext cx="138115" cy="52917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sp>
          <p:nvSpPr>
            <p:cNvPr id="133" name="矩形 132"/>
            <p:cNvSpPr/>
            <p:nvPr/>
          </p:nvSpPr>
          <p:spPr>
            <a:xfrm>
              <a:off x="3148004" y="3737521"/>
              <a:ext cx="280991" cy="55034"/>
            </a:xfrm>
            <a:prstGeom prst="rect">
              <a:avLst/>
            </a:prstGeom>
            <a:solidFill>
              <a:srgbClr val="FF0000"/>
            </a:solidFill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cxnSp>
          <p:nvCxnSpPr>
            <p:cNvPr id="21591" name="直接箭头连接符 133"/>
            <p:cNvCxnSpPr>
              <a:cxnSpLocks noChangeShapeType="1"/>
              <a:stCxn id="140" idx="2"/>
            </p:cNvCxnSpPr>
            <p:nvPr/>
          </p:nvCxnSpPr>
          <p:spPr bwMode="auto">
            <a:xfrm rot="16200000" flipH="1">
              <a:off x="3132129" y="3514739"/>
              <a:ext cx="419106" cy="9525"/>
            </a:xfrm>
            <a:prstGeom prst="straightConnector1">
              <a:avLst/>
            </a:prstGeom>
            <a:noFill/>
            <a:ln w="19050" algn="ctr">
              <a:solidFill>
                <a:srgbClr val="FF99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92" name="直接箭头连接符 134"/>
            <p:cNvCxnSpPr>
              <a:cxnSpLocks noChangeShapeType="1"/>
            </p:cNvCxnSpPr>
            <p:nvPr/>
          </p:nvCxnSpPr>
          <p:spPr bwMode="auto">
            <a:xfrm rot="5400000">
              <a:off x="3046667" y="3557867"/>
              <a:ext cx="353489" cy="1587"/>
            </a:xfrm>
            <a:prstGeom prst="straightConnector1">
              <a:avLst/>
            </a:prstGeom>
            <a:noFill/>
            <a:ln w="19050" algn="ctr">
              <a:solidFill>
                <a:srgbClr val="FF9900"/>
              </a:solidFill>
              <a:round/>
              <a:headEnd/>
              <a:tailEnd type="arrow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36" name="TextBox 47"/>
            <p:cNvSpPr txBox="1">
              <a:spLocks noChangeArrowheads="1"/>
            </p:cNvSpPr>
            <p:nvPr/>
          </p:nvSpPr>
          <p:spPr bwMode="auto">
            <a:xfrm>
              <a:off x="2714612" y="4243412"/>
              <a:ext cx="1257314" cy="5334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prstClr val="black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rPr>
                <a:t>-3~-15KV</a:t>
              </a:r>
              <a:endParaRPr lang="zh-CN" altLang="en-US" sz="1800" b="1" kern="0">
                <a:solidFill>
                  <a:prstClr val="black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grpSp>
        <p:nvGrpSpPr>
          <p:cNvPr id="143" name="组合 36"/>
          <p:cNvGrpSpPr>
            <a:grpSpLocks/>
          </p:cNvGrpSpPr>
          <p:nvPr/>
        </p:nvGrpSpPr>
        <p:grpSpPr bwMode="auto">
          <a:xfrm>
            <a:off x="4062413" y="3913188"/>
            <a:ext cx="1289050" cy="206375"/>
            <a:chOff x="636561" y="1854187"/>
            <a:chExt cx="1289059" cy="274638"/>
          </a:xfrm>
        </p:grpSpPr>
        <p:cxnSp>
          <p:nvCxnSpPr>
            <p:cNvPr id="21580" name="直接连接符 143"/>
            <p:cNvCxnSpPr>
              <a:cxnSpLocks noChangeShapeType="1"/>
            </p:cNvCxnSpPr>
            <p:nvPr/>
          </p:nvCxnSpPr>
          <p:spPr bwMode="auto">
            <a:xfrm rot="5400000" flipH="1" flipV="1">
              <a:off x="500036" y="1990712"/>
              <a:ext cx="274638" cy="1587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1" name="直接连接符 144"/>
            <p:cNvCxnSpPr>
              <a:cxnSpLocks noChangeShapeType="1"/>
            </p:cNvCxnSpPr>
            <p:nvPr/>
          </p:nvCxnSpPr>
          <p:spPr bwMode="auto">
            <a:xfrm rot="5400000" flipH="1" flipV="1">
              <a:off x="1786713" y="1989918"/>
              <a:ext cx="274638" cy="3175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82" name="直接箭头连接符 145"/>
            <p:cNvCxnSpPr>
              <a:cxnSpLocks noChangeShapeType="1"/>
            </p:cNvCxnSpPr>
            <p:nvPr/>
          </p:nvCxnSpPr>
          <p:spPr bwMode="auto">
            <a:xfrm flipV="1">
              <a:off x="636561" y="1997844"/>
              <a:ext cx="1265246" cy="845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47" name="TextBox 53"/>
          <p:cNvSpPr txBox="1">
            <a:spLocks noChangeArrowheads="1"/>
          </p:cNvSpPr>
          <p:nvPr/>
        </p:nvSpPr>
        <p:spPr bwMode="auto">
          <a:xfrm>
            <a:off x="4205288" y="3592513"/>
            <a:ext cx="954087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移像区</a:t>
            </a:r>
          </a:p>
        </p:txBody>
      </p:sp>
      <p:sp>
        <p:nvSpPr>
          <p:cNvPr id="148" name="TextBox 54"/>
          <p:cNvSpPr txBox="1">
            <a:spLocks noChangeArrowheads="1"/>
          </p:cNvSpPr>
          <p:nvPr/>
        </p:nvSpPr>
        <p:spPr bwMode="auto">
          <a:xfrm>
            <a:off x="5562600" y="3646488"/>
            <a:ext cx="9540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电子枪</a:t>
            </a:r>
          </a:p>
        </p:txBody>
      </p:sp>
      <p:grpSp>
        <p:nvGrpSpPr>
          <p:cNvPr id="149" name="组合 44"/>
          <p:cNvGrpSpPr>
            <a:grpSpLocks/>
          </p:cNvGrpSpPr>
          <p:nvPr/>
        </p:nvGrpSpPr>
        <p:grpSpPr bwMode="auto">
          <a:xfrm>
            <a:off x="5441950" y="4181475"/>
            <a:ext cx="2536825" cy="914400"/>
            <a:chOff x="5107644" y="2366963"/>
            <a:chExt cx="2536190" cy="1219200"/>
          </a:xfrm>
        </p:grpSpPr>
        <p:pic>
          <p:nvPicPr>
            <p:cNvPr id="150" name="Picture 1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67559" y="2803525"/>
              <a:ext cx="676275" cy="95250"/>
            </a:xfrm>
            <a:prstGeom prst="rect">
              <a:avLst/>
            </a:prstGeom>
            <a:gradFill flip="none" rotWithShape="1">
              <a:gsLst>
                <a:gs pos="0">
                  <a:srgbClr val="4F81BD">
                    <a:tint val="66000"/>
                    <a:satMod val="160000"/>
                  </a:srgbClr>
                </a:gs>
                <a:gs pos="50000">
                  <a:srgbClr val="4F81BD">
                    <a:tint val="44500"/>
                    <a:satMod val="160000"/>
                  </a:srgbClr>
                </a:gs>
                <a:gs pos="10000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</p:pic>
        <p:pic>
          <p:nvPicPr>
            <p:cNvPr id="151" name="Picture 17"/>
            <p:cNvPicPr>
              <a:picLocks noChangeAspect="1" noChangeArrowheads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 bwMode="auto">
            <a:xfrm>
              <a:off x="6967559" y="3009265"/>
              <a:ext cx="676275" cy="95250"/>
            </a:xfrm>
            <a:prstGeom prst="rect">
              <a:avLst/>
            </a:prstGeom>
            <a:gradFill flip="none" rotWithShape="1">
              <a:gsLst>
                <a:gs pos="0">
                  <a:srgbClr val="4F81BD">
                    <a:tint val="66000"/>
                    <a:satMod val="160000"/>
                  </a:srgbClr>
                </a:gs>
                <a:gs pos="50000">
                  <a:srgbClr val="4F81BD">
                    <a:tint val="44500"/>
                    <a:satMod val="160000"/>
                  </a:srgbClr>
                </a:gs>
                <a:gs pos="100000">
                  <a:srgbClr val="4F81BD">
                    <a:tint val="23500"/>
                    <a:satMod val="160000"/>
                  </a:srgbClr>
                </a:gs>
              </a:gsLst>
              <a:path path="circle">
                <a:fillToRect l="50000" t="50000" r="50000" b="50000"/>
              </a:path>
              <a:tileRect/>
            </a:gradFill>
            <a:ln w="9525">
              <a:noFill/>
              <a:miter lim="800000"/>
              <a:headEnd/>
              <a:tailEnd/>
            </a:ln>
            <a:effectLst/>
          </p:spPr>
        </p:pic>
        <p:grpSp>
          <p:nvGrpSpPr>
            <p:cNvPr id="21571" name="组合 3"/>
            <p:cNvGrpSpPr>
              <a:grpSpLocks/>
            </p:cNvGrpSpPr>
            <p:nvPr/>
          </p:nvGrpSpPr>
          <p:grpSpPr bwMode="auto">
            <a:xfrm>
              <a:off x="5142569" y="2366963"/>
              <a:ext cx="1223962" cy="1219200"/>
              <a:chOff x="3267075" y="2414588"/>
              <a:chExt cx="1809750" cy="2028825"/>
            </a:xfrm>
          </p:grpSpPr>
          <p:pic>
            <p:nvPicPr>
              <p:cNvPr id="21577" name="Picture 26"/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67075" y="2414588"/>
                <a:ext cx="1809750" cy="20288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59" name="矩形 158"/>
              <p:cNvSpPr/>
              <p:nvPr/>
            </p:nvSpPr>
            <p:spPr>
              <a:xfrm>
                <a:off x="3278796" y="2418111"/>
                <a:ext cx="1788178" cy="21838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60" name="矩形 159"/>
              <p:cNvSpPr/>
              <p:nvPr/>
            </p:nvSpPr>
            <p:spPr>
              <a:xfrm>
                <a:off x="3281142" y="4228556"/>
                <a:ext cx="1785832" cy="204291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b="1" kern="0">
                  <a:solidFill>
                    <a:prstClr val="white"/>
                  </a:solidFill>
                  <a:latin typeface="Times New Roman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sp>
          <p:nvSpPr>
            <p:cNvPr id="153" name="任意多边形 8"/>
            <p:cNvSpPr/>
            <p:nvPr/>
          </p:nvSpPr>
          <p:spPr>
            <a:xfrm>
              <a:off x="5107644" y="2642130"/>
              <a:ext cx="1196675" cy="654051"/>
            </a:xfrm>
            <a:custGeom>
              <a:avLst/>
              <a:gdLst>
                <a:gd name="connsiteX0" fmla="*/ 6350 w 2381250"/>
                <a:gd name="connsiteY0" fmla="*/ 0 h 1155700"/>
                <a:gd name="connsiteX1" fmla="*/ 977900 w 2381250"/>
                <a:gd name="connsiteY1" fmla="*/ 0 h 1155700"/>
                <a:gd name="connsiteX2" fmla="*/ 1733550 w 2381250"/>
                <a:gd name="connsiteY2" fmla="*/ 215900 h 1155700"/>
                <a:gd name="connsiteX3" fmla="*/ 2374900 w 2381250"/>
                <a:gd name="connsiteY3" fmla="*/ 215900 h 1155700"/>
                <a:gd name="connsiteX4" fmla="*/ 2381250 w 2381250"/>
                <a:gd name="connsiteY4" fmla="*/ 920750 h 1155700"/>
                <a:gd name="connsiteX5" fmla="*/ 1727200 w 2381250"/>
                <a:gd name="connsiteY5" fmla="*/ 927100 h 1155700"/>
                <a:gd name="connsiteX6" fmla="*/ 965200 w 2381250"/>
                <a:gd name="connsiteY6" fmla="*/ 1155700 h 1155700"/>
                <a:gd name="connsiteX7" fmla="*/ 0 w 2381250"/>
                <a:gd name="connsiteY7" fmla="*/ 1155700 h 1155700"/>
                <a:gd name="connsiteX8" fmla="*/ 6350 w 2381250"/>
                <a:gd name="connsiteY8" fmla="*/ 0 h 11557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2381250" h="1155700">
                  <a:moveTo>
                    <a:pt x="6350" y="0"/>
                  </a:moveTo>
                  <a:lnTo>
                    <a:pt x="977900" y="0"/>
                  </a:lnTo>
                  <a:lnTo>
                    <a:pt x="1733550" y="215900"/>
                  </a:lnTo>
                  <a:lnTo>
                    <a:pt x="2374900" y="215900"/>
                  </a:lnTo>
                  <a:cubicBezTo>
                    <a:pt x="2377017" y="450850"/>
                    <a:pt x="2379133" y="685800"/>
                    <a:pt x="2381250" y="920750"/>
                  </a:cubicBezTo>
                  <a:lnTo>
                    <a:pt x="1727200" y="927100"/>
                  </a:lnTo>
                  <a:lnTo>
                    <a:pt x="965200" y="1155700"/>
                  </a:lnTo>
                  <a:lnTo>
                    <a:pt x="0" y="1155700"/>
                  </a:lnTo>
                  <a:cubicBezTo>
                    <a:pt x="2117" y="770467"/>
                    <a:pt x="4233" y="385233"/>
                    <a:pt x="6350" y="0"/>
                  </a:cubicBezTo>
                  <a:close/>
                </a:path>
              </a:pathLst>
            </a:custGeom>
            <a:solidFill>
              <a:srgbClr val="94B8E8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  <p:pic>
          <p:nvPicPr>
            <p:cNvPr id="21573" name="Picture 14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9069" y="2747963"/>
              <a:ext cx="141287" cy="4349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4" name="Picture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18931" y="2751138"/>
              <a:ext cx="390525" cy="4286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575" name="Picture 1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571319" y="2835275"/>
              <a:ext cx="338137" cy="2571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7" name="矩形 156"/>
            <p:cNvSpPr/>
            <p:nvPr/>
          </p:nvSpPr>
          <p:spPr>
            <a:xfrm>
              <a:off x="6902658" y="2551114"/>
              <a:ext cx="46025" cy="840316"/>
            </a:xfrm>
            <a:prstGeom prst="rect">
              <a:avLst/>
            </a:prstGeom>
            <a:solidFill>
              <a:srgbClr val="5BDDFE"/>
            </a:solidFill>
            <a:ln w="19050" cap="flat" cmpd="sng" algn="ctr">
              <a:solidFill>
                <a:sysClr val="windowText" lastClr="000000"/>
              </a:solidFill>
              <a:prstDash val="solid"/>
            </a:ln>
            <a:effectLst/>
          </p:spPr>
          <p:txBody>
            <a:bodyPr anchor="ctr"/>
            <a:lstStyle/>
            <a:p>
              <a:pPr algn="ctr"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zh-CN" altLang="en-US" sz="1800" b="1" kern="0">
                <a:solidFill>
                  <a:prstClr val="white"/>
                </a:solidFill>
                <a:latin typeface="Times New Roman" pitchFamily="18" charset="0"/>
                <a:ea typeface="微软雅黑" pitchFamily="34" charset="-122"/>
                <a:cs typeface="Times New Roman" pitchFamily="18" charset="0"/>
              </a:endParaRPr>
            </a:p>
          </p:txBody>
        </p:sp>
      </p:grpSp>
      <p:sp>
        <p:nvSpPr>
          <p:cNvPr id="161" name="Text Box 3"/>
          <p:cNvSpPr txBox="1">
            <a:spLocks noChangeArrowheads="1"/>
          </p:cNvSpPr>
          <p:nvPr/>
        </p:nvSpPr>
        <p:spPr bwMode="auto">
          <a:xfrm>
            <a:off x="2120900" y="1400175"/>
            <a:ext cx="4071938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>
              <a:spcBef>
                <a:spcPct val="50000"/>
              </a:spcBef>
            </a:pPr>
            <a:r>
              <a:rPr kumimoji="1" lang="en-US" altLang="zh-CN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2. </a:t>
            </a:r>
            <a:r>
              <a:rPr kumimoji="1" lang="zh-CN" altLang="en-US" sz="3200" b="1">
                <a:solidFill>
                  <a:srgbClr val="0000CC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硅增强靶摄像管 </a:t>
            </a:r>
          </a:p>
        </p:txBody>
      </p:sp>
      <p:grpSp>
        <p:nvGrpSpPr>
          <p:cNvPr id="162" name="组合 57"/>
          <p:cNvGrpSpPr>
            <a:grpSpLocks/>
          </p:cNvGrpSpPr>
          <p:nvPr/>
        </p:nvGrpSpPr>
        <p:grpSpPr bwMode="auto">
          <a:xfrm>
            <a:off x="4276725" y="4341813"/>
            <a:ext cx="1022350" cy="652462"/>
            <a:chOff x="2571736" y="5000636"/>
            <a:chExt cx="1022350" cy="869448"/>
          </a:xfrm>
        </p:grpSpPr>
        <p:cxnSp>
          <p:nvCxnSpPr>
            <p:cNvPr id="21565" name="直接箭头连接符 162"/>
            <p:cNvCxnSpPr>
              <a:cxnSpLocks noChangeShapeType="1"/>
            </p:cNvCxnSpPr>
            <p:nvPr/>
          </p:nvCxnSpPr>
          <p:spPr bwMode="auto">
            <a:xfrm>
              <a:off x="2586024" y="5000636"/>
              <a:ext cx="1008062" cy="592325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6" name="直接箭头连接符 163"/>
            <p:cNvCxnSpPr>
              <a:cxnSpLocks noChangeShapeType="1"/>
            </p:cNvCxnSpPr>
            <p:nvPr/>
          </p:nvCxnSpPr>
          <p:spPr bwMode="auto">
            <a:xfrm>
              <a:off x="2571736" y="5081023"/>
              <a:ext cx="955675" cy="526746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7" name="直接箭头连接符 164"/>
            <p:cNvCxnSpPr>
              <a:cxnSpLocks noChangeShapeType="1"/>
            </p:cNvCxnSpPr>
            <p:nvPr/>
          </p:nvCxnSpPr>
          <p:spPr bwMode="auto">
            <a:xfrm rot="5400000" flipH="1" flipV="1">
              <a:off x="2788858" y="5003523"/>
              <a:ext cx="569056" cy="990600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8" name="直接箭头连接符 165"/>
            <p:cNvCxnSpPr>
              <a:cxnSpLocks noChangeShapeType="1"/>
            </p:cNvCxnSpPr>
            <p:nvPr/>
          </p:nvCxnSpPr>
          <p:spPr bwMode="auto">
            <a:xfrm rot="5400000" flipH="1" flipV="1">
              <a:off x="2766891" y="5146075"/>
              <a:ext cx="541554" cy="906463"/>
            </a:xfrm>
            <a:prstGeom prst="straightConnector1">
              <a:avLst/>
            </a:prstGeom>
            <a:noFill/>
            <a:ln w="28575" algn="ctr">
              <a:solidFill>
                <a:srgbClr val="FF00FF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67" name="上箭头 166"/>
          <p:cNvSpPr/>
          <p:nvPr/>
        </p:nvSpPr>
        <p:spPr>
          <a:xfrm>
            <a:off x="5264150" y="4440238"/>
            <a:ext cx="71438" cy="428625"/>
          </a:xfrm>
          <a:prstGeom prst="upArrow">
            <a:avLst/>
          </a:prstGeom>
          <a:solidFill>
            <a:srgbClr val="0000CC"/>
          </a:solidFill>
          <a:ln w="25400" cap="flat" cmpd="sng" algn="ctr">
            <a:solidFill>
              <a:srgbClr val="0000CC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b="1" kern="0">
              <a:solidFill>
                <a:prstClr val="white"/>
              </a:solidFill>
              <a:latin typeface="Times New Roman" pitchFamily="18" charset="0"/>
              <a:ea typeface="微软雅黑" pitchFamily="34" charset="-122"/>
              <a:cs typeface="Times New Roman" pitchFamily="18" charset="0"/>
            </a:endParaRPr>
          </a:p>
        </p:txBody>
      </p:sp>
      <p:grpSp>
        <p:nvGrpSpPr>
          <p:cNvPr id="168" name="组合 63"/>
          <p:cNvGrpSpPr>
            <a:grpSpLocks/>
          </p:cNvGrpSpPr>
          <p:nvPr/>
        </p:nvGrpSpPr>
        <p:grpSpPr bwMode="auto">
          <a:xfrm>
            <a:off x="5419725" y="3913188"/>
            <a:ext cx="1289050" cy="206375"/>
            <a:chOff x="636561" y="1854187"/>
            <a:chExt cx="1289059" cy="274638"/>
          </a:xfrm>
        </p:grpSpPr>
        <p:cxnSp>
          <p:nvCxnSpPr>
            <p:cNvPr id="21562" name="直接连接符 168"/>
            <p:cNvCxnSpPr>
              <a:cxnSpLocks noChangeShapeType="1"/>
            </p:cNvCxnSpPr>
            <p:nvPr/>
          </p:nvCxnSpPr>
          <p:spPr bwMode="auto">
            <a:xfrm rot="5400000" flipH="1" flipV="1">
              <a:off x="500036" y="1990713"/>
              <a:ext cx="274638" cy="1588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3" name="直接连接符 169"/>
            <p:cNvCxnSpPr>
              <a:cxnSpLocks noChangeShapeType="1"/>
            </p:cNvCxnSpPr>
            <p:nvPr/>
          </p:nvCxnSpPr>
          <p:spPr bwMode="auto">
            <a:xfrm rot="5400000" flipH="1" flipV="1">
              <a:off x="1786713" y="1989918"/>
              <a:ext cx="274638" cy="3175"/>
            </a:xfrm>
            <a:prstGeom prst="line">
              <a:avLst/>
            </a:prstGeom>
            <a:noFill/>
            <a:ln w="31750" algn="ctr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64" name="直接箭头连接符 170"/>
            <p:cNvCxnSpPr>
              <a:cxnSpLocks noChangeShapeType="1"/>
            </p:cNvCxnSpPr>
            <p:nvPr/>
          </p:nvCxnSpPr>
          <p:spPr bwMode="auto">
            <a:xfrm flipV="1">
              <a:off x="636561" y="1997844"/>
              <a:ext cx="1265247" cy="8450"/>
            </a:xfrm>
            <a:prstGeom prst="straightConnector1">
              <a:avLst/>
            </a:prstGeom>
            <a:noFill/>
            <a:ln w="31750" algn="ctr">
              <a:solidFill>
                <a:srgbClr val="000000"/>
              </a:solidFill>
              <a:round/>
              <a:headEnd type="stealth" w="med" len="lg"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72" name="椭圆形标注 171"/>
          <p:cNvSpPr/>
          <p:nvPr/>
        </p:nvSpPr>
        <p:spPr>
          <a:xfrm>
            <a:off x="8277225" y="2681288"/>
            <a:ext cx="2786063" cy="2571750"/>
          </a:xfrm>
          <a:prstGeom prst="wedgeEllipseCallout">
            <a:avLst>
              <a:gd name="adj1" fmla="val -153408"/>
              <a:gd name="adj2" fmla="val 20749"/>
            </a:avLst>
          </a:prstGeom>
          <a:gradFill>
            <a:gsLst>
              <a:gs pos="0">
                <a:srgbClr val="FBEAC7"/>
              </a:gs>
              <a:gs pos="17999">
                <a:srgbClr val="FEE7F2"/>
              </a:gs>
              <a:gs pos="36000">
                <a:srgbClr val="FAC77D"/>
              </a:gs>
              <a:gs pos="61000">
                <a:srgbClr val="FBA97D"/>
              </a:gs>
              <a:gs pos="82001">
                <a:srgbClr val="FBD49C"/>
              </a:gs>
              <a:gs pos="100000">
                <a:srgbClr val="FEE7F2"/>
              </a:gs>
            </a:gsLst>
            <a:lin ang="8100000" scaled="0"/>
          </a:gradFill>
          <a:ln w="31750" cap="flat" cmpd="sng" algn="ctr">
            <a:solidFill>
              <a:srgbClr val="0000CC"/>
            </a:solidFill>
            <a:prstDash val="solid"/>
          </a:ln>
          <a:effectLst/>
        </p:spPr>
        <p:txBody>
          <a:bodyPr anchor="ctr"/>
          <a:lstStyle/>
          <a:p>
            <a:pPr algn="ctr" defTabSz="914400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zh-CN" altLang="en-US" sz="1800" kern="0">
              <a:solidFill>
                <a:prstClr val="white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3" name="TextBox 44"/>
          <p:cNvSpPr txBox="1">
            <a:spLocks noChangeArrowheads="1"/>
          </p:cNvSpPr>
          <p:nvPr/>
        </p:nvSpPr>
        <p:spPr bwMode="auto">
          <a:xfrm>
            <a:off x="7705725" y="3935413"/>
            <a:ext cx="544513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靶</a:t>
            </a:r>
          </a:p>
        </p:txBody>
      </p:sp>
      <p:sp>
        <p:nvSpPr>
          <p:cNvPr id="174" name="TextBox 4"/>
          <p:cNvSpPr txBox="1">
            <a:spLocks noChangeArrowheads="1"/>
          </p:cNvSpPr>
          <p:nvPr/>
        </p:nvSpPr>
        <p:spPr bwMode="auto">
          <a:xfrm>
            <a:off x="2517775" y="2044700"/>
            <a:ext cx="5357813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defTabSz="914400" eaLnBrk="1" hangingPunct="1"/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altLang="zh-CN" sz="2800" b="1">
                <a:solidFill>
                  <a:srgbClr val="000000"/>
                </a:solidFill>
                <a:latin typeface="Times New Roman" panose="02020603050405020304" pitchFamily="18" charset="0"/>
              </a:rPr>
              <a:t>Silicon Intensified Target</a:t>
            </a:r>
            <a:r>
              <a:rPr lang="zh-CN" altLang="en-US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kumimoji="1" lang="en-US" altLang="zh-CN" sz="28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SIT)</a:t>
            </a:r>
            <a:endParaRPr lang="zh-CN" altLang="en-US" sz="2800" b="1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5" name="TextBox 78"/>
          <p:cNvSpPr txBox="1">
            <a:spLocks noChangeArrowheads="1"/>
          </p:cNvSpPr>
          <p:nvPr/>
        </p:nvSpPr>
        <p:spPr bwMode="auto">
          <a:xfrm>
            <a:off x="5919788" y="5895975"/>
            <a:ext cx="2143125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defTabSz="914400" eaLnBrk="1" hangingPunct="1"/>
            <a:r>
              <a:rPr lang="en-US" altLang="zh-CN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SIT</a:t>
            </a:r>
            <a:r>
              <a:rPr lang="zh-CN" altLang="en-US" sz="3200" b="1">
                <a:solidFill>
                  <a:srgbClr val="0000CC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管结构</a:t>
            </a:r>
          </a:p>
        </p:txBody>
      </p:sp>
      <p:grpSp>
        <p:nvGrpSpPr>
          <p:cNvPr id="176" name="组合 80"/>
          <p:cNvGrpSpPr>
            <a:grpSpLocks/>
          </p:cNvGrpSpPr>
          <p:nvPr/>
        </p:nvGrpSpPr>
        <p:grpSpPr bwMode="auto">
          <a:xfrm>
            <a:off x="8491538" y="3109913"/>
            <a:ext cx="2240825" cy="1720353"/>
            <a:chOff x="2993314" y="1428736"/>
            <a:chExt cx="2241812" cy="2293203"/>
          </a:xfrm>
        </p:grpSpPr>
        <p:grpSp>
          <p:nvGrpSpPr>
            <p:cNvPr id="21533" name="组合 96"/>
            <p:cNvGrpSpPr>
              <a:grpSpLocks noChangeAspect="1"/>
            </p:cNvGrpSpPr>
            <p:nvPr/>
          </p:nvGrpSpPr>
          <p:grpSpPr bwMode="auto">
            <a:xfrm>
              <a:off x="3900483" y="2063732"/>
              <a:ext cx="1066133" cy="1658207"/>
              <a:chOff x="3900485" y="2063737"/>
              <a:chExt cx="846138" cy="1316037"/>
            </a:xfrm>
          </p:grpSpPr>
          <p:sp>
            <p:nvSpPr>
              <p:cNvPr id="190" name="矩形 189"/>
              <p:cNvSpPr/>
              <p:nvPr/>
            </p:nvSpPr>
            <p:spPr>
              <a:xfrm>
                <a:off x="4030070" y="2068646"/>
                <a:ext cx="359235" cy="1311654"/>
              </a:xfrm>
              <a:prstGeom prst="rect">
                <a:avLst/>
              </a:prstGeom>
              <a:solidFill>
                <a:srgbClr val="9682BC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1" name="矩形 190"/>
              <p:cNvSpPr/>
              <p:nvPr/>
            </p:nvSpPr>
            <p:spPr>
              <a:xfrm>
                <a:off x="4386784" y="2068646"/>
                <a:ext cx="357975" cy="1311654"/>
              </a:xfrm>
              <a:prstGeom prst="rect">
                <a:avLst/>
              </a:prstGeom>
              <a:solidFill>
                <a:srgbClr val="00B05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2" name="矩形 191"/>
              <p:cNvSpPr/>
              <p:nvPr/>
            </p:nvSpPr>
            <p:spPr>
              <a:xfrm>
                <a:off x="3962004" y="2068646"/>
                <a:ext cx="68066" cy="1311654"/>
              </a:xfrm>
              <a:prstGeom prst="rect">
                <a:avLst/>
              </a:prstGeom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3" name="矩形 192"/>
              <p:cNvSpPr/>
              <p:nvPr/>
            </p:nvSpPr>
            <p:spPr>
              <a:xfrm>
                <a:off x="3900240" y="2068646"/>
                <a:ext cx="68066" cy="1309974"/>
              </a:xfrm>
              <a:prstGeom prst="rect">
                <a:avLst/>
              </a:prstGeom>
              <a:solidFill>
                <a:sysClr val="windowText" lastClr="000000">
                  <a:lumMod val="50000"/>
                  <a:lumOff val="50000"/>
                </a:sysClr>
              </a:solidFill>
              <a:ln w="127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4" name="矩形 193"/>
              <p:cNvSpPr/>
              <p:nvPr/>
            </p:nvSpPr>
            <p:spPr>
              <a:xfrm>
                <a:off x="4388045" y="2391101"/>
                <a:ext cx="207978" cy="146113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5" name="矩形 194"/>
              <p:cNvSpPr/>
              <p:nvPr/>
            </p:nvSpPr>
            <p:spPr>
              <a:xfrm>
                <a:off x="4388045" y="2711877"/>
                <a:ext cx="207978" cy="14611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6" name="矩形 195"/>
              <p:cNvSpPr/>
              <p:nvPr/>
            </p:nvSpPr>
            <p:spPr>
              <a:xfrm>
                <a:off x="4385524" y="2063608"/>
                <a:ext cx="207978" cy="14611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7" name="矩形 196"/>
              <p:cNvSpPr/>
              <p:nvPr/>
            </p:nvSpPr>
            <p:spPr>
              <a:xfrm>
                <a:off x="4388045" y="3034332"/>
                <a:ext cx="207978" cy="146112"/>
              </a:xfrm>
              <a:prstGeom prst="rect">
                <a:avLst/>
              </a:prstGeom>
              <a:solidFill>
                <a:srgbClr val="FFC000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8" name="矩形 197"/>
              <p:cNvSpPr/>
              <p:nvPr/>
            </p:nvSpPr>
            <p:spPr>
              <a:xfrm>
                <a:off x="4536781" y="2251707"/>
                <a:ext cx="209239" cy="90691"/>
              </a:xfrm>
              <a:prstGeom prst="rect">
                <a:avLst/>
              </a:prstGeom>
              <a:solidFill>
                <a:srgbClr val="F5BDBE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199" name="矩形 198"/>
              <p:cNvSpPr/>
              <p:nvPr/>
            </p:nvSpPr>
            <p:spPr>
              <a:xfrm>
                <a:off x="4536781" y="2575841"/>
                <a:ext cx="209239" cy="90691"/>
              </a:xfrm>
              <a:prstGeom prst="rect">
                <a:avLst/>
              </a:prstGeom>
              <a:solidFill>
                <a:srgbClr val="F5BDBE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0" name="矩形 199"/>
              <p:cNvSpPr/>
              <p:nvPr/>
            </p:nvSpPr>
            <p:spPr>
              <a:xfrm>
                <a:off x="4536781" y="2903335"/>
                <a:ext cx="209239" cy="90691"/>
              </a:xfrm>
              <a:prstGeom prst="rect">
                <a:avLst/>
              </a:prstGeom>
              <a:solidFill>
                <a:srgbClr val="F5BDBE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1" name="矩形 200"/>
              <p:cNvSpPr/>
              <p:nvPr/>
            </p:nvSpPr>
            <p:spPr>
              <a:xfrm>
                <a:off x="4536781" y="3222431"/>
                <a:ext cx="209239" cy="92369"/>
              </a:xfrm>
              <a:prstGeom prst="rect">
                <a:avLst/>
              </a:prstGeom>
              <a:solidFill>
                <a:srgbClr val="F5BDBE"/>
              </a:soli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2" name="矩形 16"/>
              <p:cNvSpPr>
                <a:spLocks noChangeArrowheads="1"/>
              </p:cNvSpPr>
              <p:nvPr/>
            </p:nvSpPr>
            <p:spPr bwMode="auto">
              <a:xfrm>
                <a:off x="4260737" y="2211400"/>
                <a:ext cx="124788" cy="181381"/>
              </a:xfrm>
              <a:prstGeom prst="rect">
                <a:avLst/>
              </a:prstGeom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3" name="矩形 16"/>
              <p:cNvSpPr>
                <a:spLocks noChangeArrowheads="1"/>
              </p:cNvSpPr>
              <p:nvPr/>
            </p:nvSpPr>
            <p:spPr bwMode="auto">
              <a:xfrm>
                <a:off x="4264518" y="2533855"/>
                <a:ext cx="123527" cy="181381"/>
              </a:xfrm>
              <a:prstGeom prst="rect">
                <a:avLst/>
              </a:prstGeom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4" name="矩形 16"/>
              <p:cNvSpPr>
                <a:spLocks noChangeArrowheads="1"/>
              </p:cNvSpPr>
              <p:nvPr/>
            </p:nvSpPr>
            <p:spPr bwMode="auto">
              <a:xfrm>
                <a:off x="4264518" y="2857989"/>
                <a:ext cx="123527" cy="181381"/>
              </a:xfrm>
              <a:prstGeom prst="rect">
                <a:avLst/>
              </a:prstGeom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  <p:sp>
            <p:nvSpPr>
              <p:cNvPr id="205" name="矩形 16"/>
              <p:cNvSpPr>
                <a:spLocks noChangeArrowheads="1"/>
              </p:cNvSpPr>
              <p:nvPr/>
            </p:nvSpPr>
            <p:spPr bwMode="auto">
              <a:xfrm>
                <a:off x="4264518" y="3180444"/>
                <a:ext cx="123527" cy="181381"/>
              </a:xfrm>
              <a:prstGeom prst="rect">
                <a:avLst/>
              </a:prstGeom>
              <a:gradFill flip="none" rotWithShape="1">
                <a:gsLst>
                  <a:gs pos="0">
                    <a:srgbClr val="7030A0">
                      <a:shade val="30000"/>
                      <a:satMod val="115000"/>
                    </a:srgbClr>
                  </a:gs>
                  <a:gs pos="50000">
                    <a:srgbClr val="7030A0">
                      <a:shade val="67500"/>
                      <a:satMod val="115000"/>
                    </a:srgbClr>
                  </a:gs>
                  <a:gs pos="100000">
                    <a:srgbClr val="7030A0">
                      <a:shade val="100000"/>
                      <a:satMod val="115000"/>
                    </a:srgbClr>
                  </a:gs>
                </a:gsLst>
                <a:lin ang="10800000" scaled="1"/>
                <a:tileRect/>
              </a:gradFill>
              <a:ln w="25400" cap="flat" cmpd="sng" algn="ctr">
                <a:noFill/>
                <a:prstDash val="solid"/>
              </a:ln>
              <a:effectLst/>
            </p:spPr>
            <p:txBody>
              <a:bodyPr anchor="ctr"/>
              <a:lstStyle/>
              <a:p>
                <a:pPr algn="ctr" defTabSz="914400" eaLnBrk="1" fontAlgn="auto" hangingPunct="1">
                  <a:spcBef>
                    <a:spcPts val="0"/>
                  </a:spcBef>
                  <a:spcAft>
                    <a:spcPts val="0"/>
                  </a:spcAft>
                  <a:defRPr/>
                </a:pPr>
                <a:endParaRPr lang="zh-CN" altLang="en-US" sz="1800" kern="0">
                  <a:solidFill>
                    <a:prstClr val="white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endParaRPr>
              </a:p>
            </p:txBody>
          </p:sp>
        </p:grpSp>
        <p:cxnSp>
          <p:nvCxnSpPr>
            <p:cNvPr id="21534" name="直接箭头连接符 177"/>
            <p:cNvCxnSpPr>
              <a:cxnSpLocks noChangeShapeType="1"/>
            </p:cNvCxnSpPr>
            <p:nvPr/>
          </p:nvCxnSpPr>
          <p:spPr bwMode="auto">
            <a:xfrm rot="5400000">
              <a:off x="3799424" y="1941099"/>
              <a:ext cx="285676" cy="1589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35" name="直接箭头连接符 178"/>
            <p:cNvCxnSpPr>
              <a:cxnSpLocks noChangeShapeType="1"/>
            </p:cNvCxnSpPr>
            <p:nvPr/>
          </p:nvCxnSpPr>
          <p:spPr bwMode="auto">
            <a:xfrm rot="5400000">
              <a:off x="4643868" y="2000350"/>
              <a:ext cx="429571" cy="1588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80" name="TextBox 78"/>
            <p:cNvSpPr txBox="1">
              <a:spLocks noChangeArrowheads="1"/>
            </p:cNvSpPr>
            <p:nvPr/>
          </p:nvSpPr>
          <p:spPr bwMode="auto">
            <a:xfrm>
              <a:off x="3428481" y="1428736"/>
              <a:ext cx="877549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rPr>
                <a:t>信号板</a:t>
              </a:r>
            </a:p>
          </p:txBody>
        </p:sp>
        <p:sp>
          <p:nvSpPr>
            <p:cNvPr id="181" name="TextBox 79"/>
            <p:cNvSpPr txBox="1">
              <a:spLocks noChangeArrowheads="1"/>
            </p:cNvSpPr>
            <p:nvPr/>
          </p:nvSpPr>
          <p:spPr bwMode="auto">
            <a:xfrm>
              <a:off x="4357577" y="1428736"/>
              <a:ext cx="877549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zh-CN" altLang="en-US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itchFamily="18" charset="0"/>
                </a:rPr>
                <a:t>电阻海</a:t>
              </a:r>
            </a:p>
          </p:txBody>
        </p:sp>
        <p:sp>
          <p:nvSpPr>
            <p:cNvPr id="182" name="矩形 80"/>
            <p:cNvSpPr>
              <a:spLocks noChangeArrowheads="1"/>
            </p:cNvSpPr>
            <p:nvPr/>
          </p:nvSpPr>
          <p:spPr bwMode="auto">
            <a:xfrm>
              <a:off x="2993314" y="2000086"/>
              <a:ext cx="786158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N</a:t>
              </a:r>
              <a:r>
                <a:rPr lang="en-US" altLang="zh-CN" sz="1800" b="1" kern="0" baseline="3000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+</a:t>
              </a:r>
              <a:r>
                <a:rPr lang="en-US" altLang="zh-CN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-Si</a:t>
              </a:r>
              <a:endParaRPr lang="zh-CN" altLang="en-US" sz="1800" b="1" kern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3" name="矩形 81"/>
            <p:cNvSpPr>
              <a:spLocks noChangeArrowheads="1"/>
            </p:cNvSpPr>
            <p:nvPr/>
          </p:nvSpPr>
          <p:spPr bwMode="auto">
            <a:xfrm>
              <a:off x="3004431" y="2368290"/>
              <a:ext cx="784570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 dirty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N-Si</a:t>
              </a:r>
              <a:endParaRPr lang="zh-CN" altLang="en-US" sz="1800" b="1" kern="0" dirty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4" name="矩形 82"/>
            <p:cNvSpPr>
              <a:spLocks noChangeArrowheads="1"/>
            </p:cNvSpPr>
            <p:nvPr/>
          </p:nvSpPr>
          <p:spPr bwMode="auto">
            <a:xfrm>
              <a:off x="3013960" y="2929059"/>
              <a:ext cx="711513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P-Si</a:t>
              </a:r>
              <a:endParaRPr lang="zh-CN" altLang="en-US" sz="1800" b="1" kern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85" name="矩形 84"/>
            <p:cNvSpPr>
              <a:spLocks noChangeArrowheads="1"/>
            </p:cNvSpPr>
            <p:nvPr/>
          </p:nvSpPr>
          <p:spPr bwMode="auto">
            <a:xfrm>
              <a:off x="3002843" y="3214735"/>
              <a:ext cx="784570" cy="49231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defTabSz="91440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zh-CN" sz="1800" b="1" kern="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SiO</a:t>
              </a:r>
              <a:r>
                <a:rPr lang="en-US" altLang="zh-CN" sz="1800" b="1" kern="0" baseline="-25000">
                  <a:solidFill>
                    <a:prstClr val="black"/>
                  </a:solidFill>
                  <a:latin typeface="Times New Roman" panose="02020603050405020304" pitchFamily="18" charset="0"/>
                  <a:ea typeface="微软雅黑" pitchFamily="34" charset="-122"/>
                  <a:cs typeface="Times New Roman" panose="02020603050405020304" pitchFamily="18" charset="0"/>
                </a:rPr>
                <a:t>2</a:t>
              </a:r>
              <a:endParaRPr lang="zh-CN" altLang="en-US" sz="1800" b="1" kern="0">
                <a:solidFill>
                  <a:prstClr val="black"/>
                </a:solidFill>
                <a:latin typeface="Times New Roman" panose="02020603050405020304" pitchFamily="18" charset="0"/>
                <a:ea typeface="微软雅黑" pitchFamily="34" charset="-122"/>
                <a:cs typeface="Times New Roman" panose="02020603050405020304" pitchFamily="18" charset="0"/>
              </a:endParaRPr>
            </a:p>
          </p:txBody>
        </p:sp>
        <p:cxnSp>
          <p:nvCxnSpPr>
            <p:cNvPr id="21542" name="直接箭头连接符 185"/>
            <p:cNvCxnSpPr>
              <a:cxnSpLocks noChangeShapeType="1"/>
            </p:cNvCxnSpPr>
            <p:nvPr/>
          </p:nvCxnSpPr>
          <p:spPr bwMode="auto">
            <a:xfrm>
              <a:off x="3642887" y="2213813"/>
              <a:ext cx="357345" cy="2117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3" name="直接箭头连接符 186"/>
            <p:cNvCxnSpPr>
              <a:cxnSpLocks noChangeShapeType="1"/>
            </p:cNvCxnSpPr>
            <p:nvPr/>
          </p:nvCxnSpPr>
          <p:spPr bwMode="auto">
            <a:xfrm>
              <a:off x="3499949" y="2571437"/>
              <a:ext cx="714690" cy="2115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4" name="直接箭头连接符 187"/>
            <p:cNvCxnSpPr>
              <a:cxnSpLocks noChangeShapeType="1"/>
            </p:cNvCxnSpPr>
            <p:nvPr/>
          </p:nvCxnSpPr>
          <p:spPr bwMode="auto">
            <a:xfrm>
              <a:off x="3642887" y="3142787"/>
              <a:ext cx="786159" cy="2115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545" name="直接箭头连接符 188"/>
            <p:cNvCxnSpPr>
              <a:cxnSpLocks noChangeShapeType="1"/>
            </p:cNvCxnSpPr>
            <p:nvPr/>
          </p:nvCxnSpPr>
          <p:spPr bwMode="auto">
            <a:xfrm>
              <a:off x="3571419" y="3426346"/>
              <a:ext cx="1000566" cy="2115"/>
            </a:xfrm>
            <a:prstGeom prst="straightConnector1">
              <a:avLst/>
            </a:prstGeom>
            <a:noFill/>
            <a:ln w="31750" algn="ctr">
              <a:solidFill>
                <a:srgbClr val="FF0000"/>
              </a:solidFill>
              <a:round/>
              <a:headEnd/>
              <a:tailEnd type="stealth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31" name="矩形 130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134" name="矩形 133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5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146" name="矩形 145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07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91181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光电发射摄像管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14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47800" y="662614"/>
            <a:ext cx="1796783" cy="24809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2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4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9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4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9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5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5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62"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8" presetClass="entr" presetSubtype="1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67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7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2" dur="500"/>
                                        <p:tgtEl>
                                          <p:spTgt spid="1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7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2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4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96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8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0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" grpId="0" animBg="1"/>
      <p:bldP spid="147" grpId="0"/>
      <p:bldP spid="148" grpId="0"/>
      <p:bldP spid="161" grpId="0"/>
      <p:bldP spid="167" grpId="0" animBg="1"/>
      <p:bldP spid="172" grpId="0" animBg="1"/>
      <p:bldP spid="173" grpId="0"/>
      <p:bldP spid="174" grpId="0"/>
      <p:bldP spid="175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1" name="TextBox 3"/>
          <p:cNvSpPr txBox="1">
            <a:spLocks noChangeArrowheads="1"/>
          </p:cNvSpPr>
          <p:nvPr/>
        </p:nvSpPr>
        <p:spPr bwMode="auto">
          <a:xfrm>
            <a:off x="811213" y="1379538"/>
            <a:ext cx="12185650" cy="286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产生电子增益的机理：从聚焦场中获得加速的电子以高能量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(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约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10keV)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轰击硅靶，激发出大量电子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空穴对，则每个高能电子可激发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2800~2900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电子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-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空穴对，空穴在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PN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结自建电场作用下进入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区，即扫描面，使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区的电位提高，并在电子束扫描时输出视频信号，由于表面和体内复合等因素，实际增益为理论值的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70~80%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，即</a:t>
            </a:r>
            <a:r>
              <a:rPr lang="en-US" altLang="zh-CN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2000</a:t>
            </a:r>
            <a:r>
              <a:rPr lang="zh-CN" altLang="en-US" sz="2400" b="1" dirty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倍左右，改变电子光学系统中电极的电压，可改变增益大小。</a:t>
            </a:r>
          </a:p>
        </p:txBody>
      </p:sp>
      <p:sp>
        <p:nvSpPr>
          <p:cNvPr id="22532" name="TextBox 3"/>
          <p:cNvSpPr txBox="1">
            <a:spLocks noChangeArrowheads="1"/>
          </p:cNvSpPr>
          <p:nvPr/>
        </p:nvSpPr>
        <p:spPr bwMode="auto">
          <a:xfrm>
            <a:off x="811213" y="4789488"/>
            <a:ext cx="12185650" cy="168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lnSpc>
                <a:spcPct val="90000"/>
              </a:lnSpc>
              <a:spcBef>
                <a:spcPts val="1125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7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3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>
              <a:lnSpc>
                <a:spcPct val="90000"/>
              </a:lnSpc>
              <a:spcBef>
                <a:spcPts val="563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defTabSz="1028700" eaLnBrk="0" fontAlgn="base" hangingPunct="0">
              <a:lnSpc>
                <a:spcPct val="90000"/>
              </a:lnSpc>
              <a:spcBef>
                <a:spcPts val="563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en-US" altLang="zh-CN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     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增强硅靶管具有高响应率，一般比硅靶管大二个数量级</a:t>
            </a:r>
            <a:r>
              <a:rPr 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2400" b="1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。硅靶不易烧伤，但光电阴极不能受强光照射，因此要注意使用条件，正确使用时寿命可达数千小时。其缺点是暗电流较大，斑点不易彻底消除。</a:t>
            </a:r>
          </a:p>
        </p:txBody>
      </p:sp>
      <p:sp>
        <p:nvSpPr>
          <p:cNvPr id="25" name="矩形 24"/>
          <p:cNvSpPr/>
          <p:nvPr/>
        </p:nvSpPr>
        <p:spPr>
          <a:xfrm>
            <a:off x="10246290" y="329189"/>
            <a:ext cx="1221311" cy="45140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Photoelectric</a:t>
            </a:r>
          </a:p>
          <a:p>
            <a:pPr>
              <a:lnSpc>
                <a:spcPts val="1400"/>
              </a:lnSpc>
            </a:pPr>
            <a:r>
              <a:rPr lang="en-US" altLang="zh-CN" sz="1100" b="1" spc="50" dirty="0">
                <a:latin typeface="冬青黑体简体中文 W6"/>
                <a:ea typeface="冬青黑体简体中文 W6" panose="020B0600000000000000" pitchFamily="34" charset="-122"/>
                <a:cs typeface="Times New Roman" panose="02020603050405020304" pitchFamily="18" charset="0"/>
              </a:rPr>
              <a:t>Technology</a:t>
            </a:r>
            <a:endParaRPr lang="zh-CN" altLang="en-US" sz="1100" b="1" spc="50" dirty="0">
              <a:ln w="22225">
                <a:solidFill>
                  <a:schemeClr val="accent2"/>
                </a:solidFill>
                <a:prstDash val="solid"/>
              </a:ln>
              <a:latin typeface="冬青黑体简体中文 W6"/>
              <a:ea typeface="冬青黑体简体中文 W6" panose="020B0600000000000000" pitchFamily="34" charset="-122"/>
              <a:cs typeface="Times New Roman" panose="02020603050405020304" pitchFamily="18" charset="0"/>
            </a:endParaRP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xmlns="" id="{B0EA110F-2BA5-44F1-BDF2-A8AD51CC83F5}"/>
              </a:ext>
            </a:extLst>
          </p:cNvPr>
          <p:cNvSpPr/>
          <p:nvPr/>
        </p:nvSpPr>
        <p:spPr>
          <a:xfrm>
            <a:off x="12993723" y="361950"/>
            <a:ext cx="167523" cy="412649"/>
          </a:xfrm>
          <a:prstGeom prst="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矩形: 圆角 25">
            <a:extLst>
              <a:ext uri="{FF2B5EF4-FFF2-40B4-BE49-F238E27FC236}">
                <a16:creationId xmlns:a16="http://schemas.microsoft.com/office/drawing/2014/main" xmlns="" id="{D7400AB1-4BEC-40E5-A53B-E3CB1F48EB8A}"/>
              </a:ext>
            </a:extLst>
          </p:cNvPr>
          <p:cNvSpPr/>
          <p:nvPr/>
        </p:nvSpPr>
        <p:spPr>
          <a:xfrm>
            <a:off x="250521" y="293282"/>
            <a:ext cx="1034103" cy="481317"/>
          </a:xfrm>
          <a:prstGeom prst="roundRect">
            <a:avLst/>
          </a:prstGeom>
          <a:gradFill>
            <a:gsLst>
              <a:gs pos="0">
                <a:srgbClr val="0066FF"/>
              </a:gs>
              <a:gs pos="100000">
                <a:schemeClr val="accent1">
                  <a:lumMod val="10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800"/>
              </a:spcBef>
            </a:pPr>
            <a:r>
              <a:rPr kumimoji="1" lang="en-US" altLang="zh-CN" sz="28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7.2.2</a:t>
            </a:r>
            <a:endParaRPr kumimoji="1" lang="zh-CN" altLang="en-US" sz="2800" b="1" dirty="0">
              <a:solidFill>
                <a:schemeClr val="bg1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xmlns="" id="{82FE0EE3-DD34-4ECD-AB99-E9089285A34C}"/>
              </a:ext>
            </a:extLst>
          </p:cNvPr>
          <p:cNvSpPr/>
          <p:nvPr/>
        </p:nvSpPr>
        <p:spPr>
          <a:xfrm>
            <a:off x="11251918" y="293282"/>
            <a:ext cx="1741805" cy="523220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r"/>
            <a:r>
              <a:rPr lang="zh-CN" altLang="en-US" sz="2800" spc="20" dirty="0">
                <a:latin typeface="冬青黑体简体中文 W6" panose="020B0600000000000000" pitchFamily="34" charset="-122"/>
                <a:ea typeface="冬青黑体简体中文 W6" panose="020B0600000000000000" pitchFamily="34" charset="-122"/>
                <a:cs typeface="阿里巴巴普惠体 R" panose="00020600040101010101" pitchFamily="18" charset="-122"/>
              </a:rPr>
              <a:t>光电技术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xmlns="" id="{942CFC6A-A6DB-0F43-9829-C9244014588C}"/>
              </a:ext>
            </a:extLst>
          </p:cNvPr>
          <p:cNvSpPr/>
          <p:nvPr/>
        </p:nvSpPr>
        <p:spPr>
          <a:xfrm flipV="1">
            <a:off x="0" y="7589506"/>
            <a:ext cx="10141249" cy="125744"/>
          </a:xfrm>
          <a:prstGeom prst="rect">
            <a:avLst/>
          </a:prstGeom>
          <a:gradFill flip="none" rotWithShape="1">
            <a:gsLst>
              <a:gs pos="0">
                <a:srgbClr val="1271FE"/>
              </a:gs>
              <a:gs pos="45000">
                <a:srgbClr val="6895F3"/>
              </a:gs>
              <a:gs pos="9000">
                <a:srgbClr val="3366FF"/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2400"/>
          </a:p>
        </p:txBody>
      </p:sp>
      <p:sp>
        <p:nvSpPr>
          <p:cNvPr id="11" name="文本框 60">
            <a:extLst>
              <a:ext uri="{FF2B5EF4-FFF2-40B4-BE49-F238E27FC236}">
                <a16:creationId xmlns:a16="http://schemas.microsoft.com/office/drawing/2014/main" xmlns="" id="{791D85D7-F412-9C48-9F2B-E33F5B7B4F3C}"/>
              </a:ext>
            </a:extLst>
          </p:cNvPr>
          <p:cNvSpPr txBox="1"/>
          <p:nvPr/>
        </p:nvSpPr>
        <p:spPr>
          <a:xfrm>
            <a:off x="1364781" y="293282"/>
            <a:ext cx="1911819" cy="369332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zh-CN" altLang="en-US" sz="1800" b="1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光电发射摄像管</a:t>
            </a:r>
            <a:endParaRPr lang="zh-CN" altLang="en-US" sz="18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2" name="直接连接符 58">
            <a:extLst>
              <a:ext uri="{FF2B5EF4-FFF2-40B4-BE49-F238E27FC236}">
                <a16:creationId xmlns:a16="http://schemas.microsoft.com/office/drawing/2014/main" xmlns="" id="{8C5F82EF-52B4-4531-96F0-44689EA1125E}"/>
              </a:ext>
            </a:extLst>
          </p:cNvPr>
          <p:cNvCxnSpPr>
            <a:cxnSpLocks/>
          </p:cNvCxnSpPr>
          <p:nvPr/>
        </p:nvCxnSpPr>
        <p:spPr>
          <a:xfrm>
            <a:off x="1447800" y="662614"/>
            <a:ext cx="1796783" cy="24809"/>
          </a:xfrm>
          <a:prstGeom prst="line">
            <a:avLst/>
          </a:prstGeom>
          <a:ln w="19050" cmpd="dbl">
            <a:solidFill>
              <a:srgbClr val="3366FF">
                <a:alpha val="7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光电技术模板-2015-6-18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Phoenix</Template>
  <TotalTime>446</TotalTime>
  <Words>1371</Words>
  <Application>Microsoft Office PowerPoint</Application>
  <PresentationFormat>自定义</PresentationFormat>
  <Paragraphs>249</Paragraphs>
  <Slides>21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8" baseType="lpstr">
      <vt:lpstr>阿里巴巴普惠体 R</vt:lpstr>
      <vt:lpstr>冬青黑体简体中文 W6</vt:lpstr>
      <vt:lpstr>黑体</vt:lpstr>
      <vt:lpstr>华文彩云</vt:lpstr>
      <vt:lpstr>华文琥珀</vt:lpstr>
      <vt:lpstr>宋体</vt:lpstr>
      <vt:lpstr>Microsoft YaHei</vt:lpstr>
      <vt:lpstr>Microsoft YaHei</vt:lpstr>
      <vt:lpstr>Arial</vt:lpstr>
      <vt:lpstr>Calibri</vt:lpstr>
      <vt:lpstr>Calibri Light</vt:lpstr>
      <vt:lpstr>Symbol</vt:lpstr>
      <vt:lpstr>Times New Roman</vt:lpstr>
      <vt:lpstr>Wingdings</vt:lpstr>
      <vt:lpstr>光电技术模板-2015-6-18</vt:lpstr>
      <vt:lpstr>Equation</vt:lpstr>
      <vt:lpstr>Visio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微软用户</dc:creator>
  <cp:lastModifiedBy>user</cp:lastModifiedBy>
  <cp:revision>51</cp:revision>
  <dcterms:created xsi:type="dcterms:W3CDTF">2015-06-18T01:42:52Z</dcterms:created>
  <dcterms:modified xsi:type="dcterms:W3CDTF">2022-10-20T00:05:04Z</dcterms:modified>
</cp:coreProperties>
</file>