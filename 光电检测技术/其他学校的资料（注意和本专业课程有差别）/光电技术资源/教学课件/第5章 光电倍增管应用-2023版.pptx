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3" r:id="rId2"/>
    <p:sldId id="376" r:id="rId3"/>
    <p:sldId id="273" r:id="rId4"/>
    <p:sldId id="336" r:id="rId5"/>
    <p:sldId id="337" r:id="rId6"/>
    <p:sldId id="338" r:id="rId7"/>
    <p:sldId id="339" r:id="rId8"/>
    <p:sldId id="340" r:id="rId9"/>
  </p:sldIdLst>
  <p:sldSz cx="13717588" cy="7715250"/>
  <p:notesSz cx="6858000" cy="9144000"/>
  <p:defaultTextStyle>
    <a:defPPr>
      <a:defRPr lang="zh-CN"/>
    </a:defPPr>
    <a:lvl1pPr algn="l" defTabSz="1028700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514350" indent="-57150" algn="l" defTabSz="1028700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1028700" indent="-114300" algn="l" defTabSz="1028700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543050" indent="-171450" algn="l" defTabSz="1028700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2057400" indent="-228600" algn="l" defTabSz="1028700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30">
          <p15:clr>
            <a:srgbClr val="A4A3A4"/>
          </p15:clr>
        </p15:guide>
        <p15:guide id="2" pos="43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5" d="100"/>
          <a:sy n="85" d="100"/>
        </p:scale>
        <p:origin x="54" y="270"/>
      </p:cViewPr>
      <p:guideLst>
        <p:guide orient="horz" pos="2430"/>
        <p:guide pos="43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image" Target="../media/image3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714699" y="1262658"/>
            <a:ext cx="10288191" cy="2686050"/>
          </a:xfrm>
        </p:spPr>
        <p:txBody>
          <a:bodyPr anchor="b"/>
          <a:lstStyle>
            <a:lvl1pPr algn="ctr">
              <a:defRPr sz="68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14699" y="4052293"/>
            <a:ext cx="10288191" cy="1862732"/>
          </a:xfrm>
        </p:spPr>
        <p:txBody>
          <a:bodyPr/>
          <a:lstStyle>
            <a:lvl1pPr marL="0" indent="0" algn="ctr">
              <a:buNone/>
              <a:defRPr sz="2700"/>
            </a:lvl1pPr>
            <a:lvl2pPr marL="514350" indent="0" algn="ctr">
              <a:buNone/>
              <a:defRPr sz="2300"/>
            </a:lvl2pPr>
            <a:lvl3pPr marL="1028700" indent="0" algn="ctr">
              <a:buNone/>
              <a:defRPr sz="2000"/>
            </a:lvl3pPr>
            <a:lvl4pPr marL="1543050" indent="0" algn="ctr">
              <a:buNone/>
              <a:defRPr sz="1800"/>
            </a:lvl4pPr>
            <a:lvl5pPr marL="2057400" indent="0" algn="ctr">
              <a:buNone/>
              <a:defRPr sz="1800"/>
            </a:lvl5pPr>
            <a:lvl6pPr marL="2571750" indent="0" algn="ctr">
              <a:buNone/>
              <a:defRPr sz="1800"/>
            </a:lvl6pPr>
            <a:lvl7pPr marL="3086100" indent="0" algn="ctr">
              <a:buNone/>
              <a:defRPr sz="1800"/>
            </a:lvl7pPr>
            <a:lvl8pPr marL="3600450" indent="0" algn="ctr">
              <a:buNone/>
              <a:defRPr sz="1800"/>
            </a:lvl8pPr>
            <a:lvl9pPr marL="4114800" indent="0" algn="ctr">
              <a:buNone/>
              <a:defRPr sz="18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4BB541-FC8E-4762-9181-11F265174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B8EAA3-B7C3-4553-BF5A-09BA53E33286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368F90-6155-4CB2-8594-C0BF48718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0C4C98-3EAB-41A6-94A2-4FA384DD8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4F1E20-980D-4C6C-AC9C-0CDC28D0E9E8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3143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5463EF-E2CD-4010-9A09-9124E2826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01B44C-A029-48C4-9816-48F5B36E8B39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01764E-D7AB-495E-9D51-6B2D4727F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DF6E45-3A0C-4D0E-8CB8-5FBC6D07C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0607B5-DBC1-4BE3-B7B3-0C5C1014CA9D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9708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5939" y="1923456"/>
            <a:ext cx="11831420" cy="3209329"/>
          </a:xfrm>
        </p:spPr>
        <p:txBody>
          <a:bodyPr anchor="b"/>
          <a:lstStyle>
            <a:lvl1pPr>
              <a:defRPr sz="68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35939" y="5163147"/>
            <a:ext cx="11831420" cy="1687710"/>
          </a:xfrm>
        </p:spPr>
        <p:txBody>
          <a:bodyPr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51435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2pPr>
            <a:lvl3pPr marL="10287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3pPr>
            <a:lvl4pPr marL="15430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057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5717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0861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36004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1148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5132AE-A109-4196-85D7-9F6FC08BE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720424-9B12-47EF-9699-8F9DC9DB0C24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621F2E-8CFB-4503-AD6E-1C784EB13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87C969-203A-4C0C-8222-8237D99C0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18E0FA-7501-4B60-9675-D6D415714802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9271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43084" y="2053828"/>
            <a:ext cx="5829975" cy="489525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944529" y="2053828"/>
            <a:ext cx="5829975" cy="489525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FEF3A8DD-31CC-4A72-A6C1-96FD67CDA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53EE40-C25E-4C98-8658-8C7AE57DF42D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F5B176E9-3A24-473C-93BE-E16DAE02B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A3AFA41E-960A-4282-AB69-12BE037F5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E19617-1191-4595-81DC-8F869FA273DD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0661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44871" y="410766"/>
            <a:ext cx="11831420" cy="149125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44872" y="1891308"/>
            <a:ext cx="5803182" cy="926901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350" indent="0">
              <a:buNone/>
              <a:defRPr sz="2300" b="1"/>
            </a:lvl2pPr>
            <a:lvl3pPr marL="1028700" indent="0">
              <a:buNone/>
              <a:defRPr sz="2000" b="1"/>
            </a:lvl3pPr>
            <a:lvl4pPr marL="1543050" indent="0">
              <a:buNone/>
              <a:defRPr sz="1800" b="1"/>
            </a:lvl4pPr>
            <a:lvl5pPr marL="2057400" indent="0">
              <a:buNone/>
              <a:defRPr sz="1800" b="1"/>
            </a:lvl5pPr>
            <a:lvl6pPr marL="2571750" indent="0">
              <a:buNone/>
              <a:defRPr sz="1800" b="1"/>
            </a:lvl6pPr>
            <a:lvl7pPr marL="3086100" indent="0">
              <a:buNone/>
              <a:defRPr sz="1800" b="1"/>
            </a:lvl7pPr>
            <a:lvl8pPr marL="3600450" indent="0">
              <a:buNone/>
              <a:defRPr sz="1800" b="1"/>
            </a:lvl8pPr>
            <a:lvl9pPr marL="4114800" indent="0">
              <a:buNone/>
              <a:defRPr sz="18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944872" y="2818209"/>
            <a:ext cx="5803182" cy="41451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944529" y="1891308"/>
            <a:ext cx="5831762" cy="926901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350" indent="0">
              <a:buNone/>
              <a:defRPr sz="2300" b="1"/>
            </a:lvl2pPr>
            <a:lvl3pPr marL="1028700" indent="0">
              <a:buNone/>
              <a:defRPr sz="2000" b="1"/>
            </a:lvl3pPr>
            <a:lvl4pPr marL="1543050" indent="0">
              <a:buNone/>
              <a:defRPr sz="1800" b="1"/>
            </a:lvl4pPr>
            <a:lvl5pPr marL="2057400" indent="0">
              <a:buNone/>
              <a:defRPr sz="1800" b="1"/>
            </a:lvl5pPr>
            <a:lvl6pPr marL="2571750" indent="0">
              <a:buNone/>
              <a:defRPr sz="1800" b="1"/>
            </a:lvl6pPr>
            <a:lvl7pPr marL="3086100" indent="0">
              <a:buNone/>
              <a:defRPr sz="1800" b="1"/>
            </a:lvl7pPr>
            <a:lvl8pPr marL="3600450" indent="0">
              <a:buNone/>
              <a:defRPr sz="1800" b="1"/>
            </a:lvl8pPr>
            <a:lvl9pPr marL="4114800" indent="0">
              <a:buNone/>
              <a:defRPr sz="18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944529" y="2818209"/>
            <a:ext cx="5831762" cy="41451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9977706E-F0E7-4DDF-B793-A978106E8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9F299E-8644-4C60-9C8A-DACCF21E7FC4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4AF96A24-ECBE-4461-A611-0E6FB1996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87B5B2A5-8720-4280-9B92-C5E6584A7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1C18D3-BF55-4E0B-932D-BCAB4C7809B8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0344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B47DB956-8B74-45FB-94A8-C6D5D0B9F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F41FA5-7C33-4707-BC62-42B83F7C60C0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17CB3DC9-5F47-4423-8E4B-6CBC2EA7D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7D9E93D2-1C76-4CC2-89E4-79D05A7F4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B848CF-A727-4871-9B97-570EB0C322A8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292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90FE3178-FF4C-4D1E-AB66-5E50FA5C3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A672FF-EAB9-42D4-BEE6-B4F15E307403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013BCC67-81C6-4B73-A055-AADC95F78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F8657634-9114-4D39-B4C9-324A01DDA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70BD0A-DFF9-4268-99B6-0A6B8D27476F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6436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44871" y="514350"/>
            <a:ext cx="4424279" cy="1800225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31762" y="1110854"/>
            <a:ext cx="6944529" cy="5482828"/>
          </a:xfrm>
        </p:spPr>
        <p:txBody>
          <a:bodyPr/>
          <a:lstStyle>
            <a:lvl1pPr>
              <a:defRPr sz="3600"/>
            </a:lvl1pPr>
            <a:lvl2pPr>
              <a:defRPr sz="3200"/>
            </a:lvl2pPr>
            <a:lvl3pPr>
              <a:defRPr sz="27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44871" y="2314575"/>
            <a:ext cx="4424279" cy="4288037"/>
          </a:xfrm>
        </p:spPr>
        <p:txBody>
          <a:bodyPr/>
          <a:lstStyle>
            <a:lvl1pPr marL="0" indent="0">
              <a:buNone/>
              <a:defRPr sz="1800"/>
            </a:lvl1pPr>
            <a:lvl2pPr marL="514350" indent="0">
              <a:buNone/>
              <a:defRPr sz="1600"/>
            </a:lvl2pPr>
            <a:lvl3pPr marL="1028700" indent="0">
              <a:buNone/>
              <a:defRPr sz="1400"/>
            </a:lvl3pPr>
            <a:lvl4pPr marL="1543050" indent="0">
              <a:buNone/>
              <a:defRPr sz="1100"/>
            </a:lvl4pPr>
            <a:lvl5pPr marL="2057400" indent="0">
              <a:buNone/>
              <a:defRPr sz="1100"/>
            </a:lvl5pPr>
            <a:lvl6pPr marL="2571750" indent="0">
              <a:buNone/>
              <a:defRPr sz="1100"/>
            </a:lvl6pPr>
            <a:lvl7pPr marL="3086100" indent="0">
              <a:buNone/>
              <a:defRPr sz="1100"/>
            </a:lvl7pPr>
            <a:lvl8pPr marL="3600450" indent="0">
              <a:buNone/>
              <a:defRPr sz="1100"/>
            </a:lvl8pPr>
            <a:lvl9pPr marL="411480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9ACF7D37-9125-46A3-AD8A-73B49FFEF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2BBDA9-219A-47BA-A131-651A7D9D2A88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9AFC6372-13A7-441B-BF6C-17268DC33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4F150B56-5795-4877-9FD8-FBBCD280E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B8481B-33AD-4FC3-9698-FB10CD3A317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8433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44871" y="514350"/>
            <a:ext cx="4424279" cy="1800225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831762" y="1110854"/>
            <a:ext cx="6944529" cy="5482828"/>
          </a:xfrm>
        </p:spPr>
        <p:txBody>
          <a:bodyPr rtlCol="0">
            <a:normAutofit/>
          </a:bodyPr>
          <a:lstStyle>
            <a:lvl1pPr marL="0" indent="0">
              <a:buNone/>
              <a:defRPr sz="3600"/>
            </a:lvl1pPr>
            <a:lvl2pPr marL="514350" indent="0">
              <a:buNone/>
              <a:defRPr sz="3200"/>
            </a:lvl2pPr>
            <a:lvl3pPr marL="1028700" indent="0">
              <a:buNone/>
              <a:defRPr sz="2700"/>
            </a:lvl3pPr>
            <a:lvl4pPr marL="1543050" indent="0">
              <a:buNone/>
              <a:defRPr sz="2300"/>
            </a:lvl4pPr>
            <a:lvl5pPr marL="2057400" indent="0">
              <a:buNone/>
              <a:defRPr sz="2300"/>
            </a:lvl5pPr>
            <a:lvl6pPr marL="2571750" indent="0">
              <a:buNone/>
              <a:defRPr sz="2300"/>
            </a:lvl6pPr>
            <a:lvl7pPr marL="3086100" indent="0">
              <a:buNone/>
              <a:defRPr sz="2300"/>
            </a:lvl7pPr>
            <a:lvl8pPr marL="3600450" indent="0">
              <a:buNone/>
              <a:defRPr sz="2300"/>
            </a:lvl8pPr>
            <a:lvl9pPr marL="4114800" indent="0">
              <a:buNone/>
              <a:defRPr sz="23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44871" y="2314575"/>
            <a:ext cx="4424279" cy="4288037"/>
          </a:xfrm>
        </p:spPr>
        <p:txBody>
          <a:bodyPr/>
          <a:lstStyle>
            <a:lvl1pPr marL="0" indent="0">
              <a:buNone/>
              <a:defRPr sz="1800"/>
            </a:lvl1pPr>
            <a:lvl2pPr marL="514350" indent="0">
              <a:buNone/>
              <a:defRPr sz="1600"/>
            </a:lvl2pPr>
            <a:lvl3pPr marL="1028700" indent="0">
              <a:buNone/>
              <a:defRPr sz="1400"/>
            </a:lvl3pPr>
            <a:lvl4pPr marL="1543050" indent="0">
              <a:buNone/>
              <a:defRPr sz="1100"/>
            </a:lvl4pPr>
            <a:lvl5pPr marL="2057400" indent="0">
              <a:buNone/>
              <a:defRPr sz="1100"/>
            </a:lvl5pPr>
            <a:lvl6pPr marL="2571750" indent="0">
              <a:buNone/>
              <a:defRPr sz="1100"/>
            </a:lvl6pPr>
            <a:lvl7pPr marL="3086100" indent="0">
              <a:buNone/>
              <a:defRPr sz="1100"/>
            </a:lvl7pPr>
            <a:lvl8pPr marL="3600450" indent="0">
              <a:buNone/>
              <a:defRPr sz="1100"/>
            </a:lvl8pPr>
            <a:lvl9pPr marL="411480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0A2D0C46-4679-47F9-B05B-567D9547E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AB50DF-ACF2-4ECE-96C6-B55D890EC34A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C465A670-0AD6-44CD-BB4D-9478BA0C0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454277C4-9A7D-40F7-8987-FD9C5E117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167384-C320-4ABC-8374-F81DD86AACE5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5204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537493-BF49-4426-98C5-1DF1AF290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E4EC4D-47E9-4872-BF69-CD750DF68B9E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3B202B-1B79-4E07-9EA4-75BC5895A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FA54B5-E432-4E68-A28C-52E571200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E9B552-5964-4927-9F13-9442C10B30F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8606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16649" y="410766"/>
            <a:ext cx="2957855" cy="653831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43084" y="410766"/>
            <a:ext cx="8702095" cy="653831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FA748D-3467-47D5-9398-73FEE9EB4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09A8AE-EBAE-4FCC-BAED-FEC322E956AA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A4D487-32BC-4A4C-B0F7-3CDD3F581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215790-51A0-49DE-A574-4A23E06C1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CBF71F-A7CE-401E-A2C5-291C31AF7B89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6806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064CBB84-91FE-49B9-9423-AF6A4398627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42975" y="411163"/>
            <a:ext cx="11831638" cy="149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2870" tIns="51435" rIns="102870" bIns="5143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7BDD85DE-395D-4ED4-8BFD-E6E10F3A4CE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942975" y="2054225"/>
            <a:ext cx="11831638" cy="489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BD55A9-2A7A-48AB-8D13-45FCE3BDE1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2975" y="7151688"/>
            <a:ext cx="3086100" cy="409575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D24E09E5-D07B-4175-8FA2-3F6299115230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2340CE-5DDF-44A9-A719-C61482A13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43425" y="7151688"/>
            <a:ext cx="4630738" cy="409575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A09251-5F51-41C5-80D2-437B82EAFB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688513" y="7151688"/>
            <a:ext cx="3086100" cy="409575"/>
          </a:xfrm>
          <a:prstGeom prst="rect">
            <a:avLst/>
          </a:prstGeom>
        </p:spPr>
        <p:txBody>
          <a:bodyPr vert="horz" wrap="square" lIns="102870" tIns="51435" rIns="102870" bIns="51435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8EF8F414-BC06-475C-8AC4-8714C9228551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0287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50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10287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2pPr>
      <a:lvl3pPr algn="l" defTabSz="10287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3pPr>
      <a:lvl4pPr algn="l" defTabSz="10287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4pPr>
      <a:lvl5pPr algn="l" defTabSz="10287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5pPr>
      <a:lvl6pPr marL="457200" algn="l" defTabSz="10287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6pPr>
      <a:lvl7pPr marL="914400" algn="l" defTabSz="10287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7pPr>
      <a:lvl8pPr marL="1371600" algn="l" defTabSz="10287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8pPr>
      <a:lvl9pPr marL="1828800" algn="l" defTabSz="10287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9pPr>
    </p:titleStyle>
    <p:bodyStyle>
      <a:lvl1pPr marL="257175" indent="-257175" algn="l" defTabSz="1028700" rtl="0" eaLnBrk="0" fontAlgn="base" hangingPunct="0">
        <a:lnSpc>
          <a:spcPct val="90000"/>
        </a:lnSpc>
        <a:spcBef>
          <a:spcPts val="1125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71525" indent="-257175" algn="l" defTabSz="1028700" rtl="0" eaLnBrk="0" fontAlgn="base" hangingPunct="0">
        <a:lnSpc>
          <a:spcPct val="90000"/>
        </a:lnSpc>
        <a:spcBef>
          <a:spcPts val="563"/>
        </a:spcBef>
        <a:spcAft>
          <a:spcPct val="0"/>
        </a:spcAft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285875" indent="-257175" algn="l" defTabSz="1028700" rtl="0" eaLnBrk="0" fontAlgn="base" hangingPunct="0">
        <a:lnSpc>
          <a:spcPct val="90000"/>
        </a:lnSpc>
        <a:spcBef>
          <a:spcPts val="563"/>
        </a:spcBef>
        <a:spcAft>
          <a:spcPct val="0"/>
        </a:spcAft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800225" indent="-257175" algn="l" defTabSz="1028700" rtl="0" eaLnBrk="0" fontAlgn="base" hangingPunct="0">
        <a:lnSpc>
          <a:spcPct val="90000"/>
        </a:lnSpc>
        <a:spcBef>
          <a:spcPts val="563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314575" indent="-257175" algn="l" defTabSz="1028700" rtl="0" eaLnBrk="0" fontAlgn="base" hangingPunct="0">
        <a:lnSpc>
          <a:spcPct val="90000"/>
        </a:lnSpc>
        <a:spcBef>
          <a:spcPts val="563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8289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3432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8576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3719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4305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7175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8610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11480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2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3.bin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71B2A563-AC54-5347-B843-4478DF223CDE}"/>
              </a:ext>
            </a:extLst>
          </p:cNvPr>
          <p:cNvSpPr/>
          <p:nvPr/>
        </p:nvSpPr>
        <p:spPr>
          <a:xfrm>
            <a:off x="1053348" y="2672562"/>
            <a:ext cx="2686050" cy="1178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zh-CN" altLang="en-US" sz="7200" b="1" dirty="0">
                <a:solidFill>
                  <a:srgbClr val="006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kumimoji="1" lang="en-US" altLang="zh-CN" sz="7200" b="1" dirty="0">
                <a:solidFill>
                  <a:srgbClr val="006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r>
              <a:rPr kumimoji="1" lang="zh-CN" altLang="en-US" sz="7200" b="1" dirty="0">
                <a:solidFill>
                  <a:srgbClr val="006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章</a:t>
            </a:r>
          </a:p>
        </p:txBody>
      </p:sp>
      <p:sp>
        <p:nvSpPr>
          <p:cNvPr id="3" name="矩形 2"/>
          <p:cNvSpPr/>
          <p:nvPr/>
        </p:nvSpPr>
        <p:spPr>
          <a:xfrm>
            <a:off x="1460180" y="1793603"/>
            <a:ext cx="1723550" cy="55399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000" dirty="0">
                <a:latin typeface="Microsoft Yi Baiti" panose="03000500000000000000" pitchFamily="66" charset="0"/>
                <a:ea typeface="冬青黑体简体中文 W6" panose="020B0600000000000000" pitchFamily="34" charset="-122"/>
                <a:cs typeface="阿里巴巴普惠体 M" panose="00020600040101010101" pitchFamily="18" charset="-122"/>
              </a:rPr>
              <a:t>光电技术</a:t>
            </a:r>
            <a:endParaRPr lang="en-US" altLang="zh-CN" sz="3000" dirty="0">
              <a:latin typeface="Microsoft Yi Baiti" panose="03000500000000000000" pitchFamily="66" charset="0"/>
              <a:ea typeface="Microsoft Yi Baiti" panose="03000500000000000000" pitchFamily="66" charset="0"/>
              <a:cs typeface="阿里巴巴普惠体 M" panose="00020600040101010101" pitchFamily="18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441AE38-A11D-4793-BDA3-DCA36976B496}"/>
              </a:ext>
            </a:extLst>
          </p:cNvPr>
          <p:cNvSpPr/>
          <p:nvPr/>
        </p:nvSpPr>
        <p:spPr>
          <a:xfrm>
            <a:off x="3936558" y="2705900"/>
            <a:ext cx="9588706" cy="11226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zh-CN" altLang="en-US" sz="7200" b="1" dirty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光电子发射探测器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4AF438E-361B-42EE-9E70-DDB98227F7D7}"/>
              </a:ext>
            </a:extLst>
          </p:cNvPr>
          <p:cNvSpPr/>
          <p:nvPr/>
        </p:nvSpPr>
        <p:spPr>
          <a:xfrm>
            <a:off x="3190512" y="1836129"/>
            <a:ext cx="1238613" cy="4770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500"/>
              </a:lnSpc>
            </a:pPr>
            <a:r>
              <a:rPr lang="en-US" altLang="zh-CN" sz="1200" b="1" spc="40" dirty="0">
                <a:latin typeface="Times New Roman" panose="02020603050405020304" pitchFamily="18" charset="0"/>
                <a:ea typeface="Yu Gothic UI" panose="020B0500000000000000" pitchFamily="34" charset="-128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500"/>
              </a:lnSpc>
            </a:pPr>
            <a:r>
              <a:rPr lang="en-US" altLang="zh-CN" sz="1200" b="1" spc="40" dirty="0">
                <a:latin typeface="Times New Roman" panose="02020603050405020304" pitchFamily="18" charset="0"/>
                <a:ea typeface="Yu Gothic UI" panose="020B0500000000000000" pitchFamily="34" charset="-128"/>
                <a:cs typeface="Times New Roman" panose="02020603050405020304" pitchFamily="18" charset="0"/>
              </a:rPr>
              <a:t>Technology</a:t>
            </a:r>
            <a:endParaRPr lang="zh-CN" altLang="en-US" sz="1200" b="1" spc="40" dirty="0">
              <a:ln w="22225">
                <a:solidFill>
                  <a:schemeClr val="accent2"/>
                </a:solidFill>
                <a:prstDash val="solid"/>
              </a:ln>
              <a:latin typeface="Times New Roman" panose="02020603050405020304" pitchFamily="18" charset="0"/>
              <a:ea typeface="Yu Gothic UI" panose="020B0500000000000000" pitchFamily="34" charset="-128"/>
              <a:cs typeface="Times New Roman" panose="02020603050405020304" pitchFamily="18" charset="0"/>
            </a:endParaRPr>
          </a:p>
        </p:txBody>
      </p:sp>
      <p:cxnSp>
        <p:nvCxnSpPr>
          <p:cNvPr id="6" name="直接连接符 58">
            <a:extLst>
              <a:ext uri="{FF2B5EF4-FFF2-40B4-BE49-F238E27FC236}">
                <a16:creationId xmlns:a16="http://schemas.microsoft.com/office/drawing/2014/main" id="{19E605B0-7A69-4DF3-BD2D-6C50DF5A8F84}"/>
              </a:ext>
            </a:extLst>
          </p:cNvPr>
          <p:cNvCxnSpPr>
            <a:cxnSpLocks/>
          </p:cNvCxnSpPr>
          <p:nvPr/>
        </p:nvCxnSpPr>
        <p:spPr>
          <a:xfrm>
            <a:off x="1209675" y="4175630"/>
            <a:ext cx="4795114" cy="11690"/>
          </a:xfrm>
          <a:prstGeom prst="line">
            <a:avLst/>
          </a:prstGeom>
          <a:ln w="952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1C44C9C7-7166-4DA9-8A1A-D2BB836F3F54}"/>
              </a:ext>
            </a:extLst>
          </p:cNvPr>
          <p:cNvSpPr/>
          <p:nvPr/>
        </p:nvSpPr>
        <p:spPr>
          <a:xfrm>
            <a:off x="1143000" y="4512279"/>
            <a:ext cx="7159528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CN" sz="2400" dirty="0">
                <a:solidFill>
                  <a:srgbClr val="1271FE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  <a:cs typeface="Times New Roman" panose="02020603050405020304" pitchFamily="18" charset="0"/>
              </a:rPr>
              <a:t>Photoelectron emission detector</a:t>
            </a:r>
            <a:endParaRPr lang="zh-CN" altLang="en-US" sz="2400" dirty="0">
              <a:ln w="22225">
                <a:solidFill>
                  <a:schemeClr val="accent2"/>
                </a:solidFill>
                <a:prstDash val="solid"/>
              </a:ln>
              <a:solidFill>
                <a:srgbClr val="1271FE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E184DEE-FEA5-431F-856D-B2DD56F698B6}"/>
              </a:ext>
            </a:extLst>
          </p:cNvPr>
          <p:cNvSpPr/>
          <p:nvPr/>
        </p:nvSpPr>
        <p:spPr>
          <a:xfrm>
            <a:off x="1209675" y="1869039"/>
            <a:ext cx="167523" cy="403125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60">
            <a:extLst>
              <a:ext uri="{FF2B5EF4-FFF2-40B4-BE49-F238E27FC236}">
                <a16:creationId xmlns:a16="http://schemas.microsoft.com/office/drawing/2014/main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19613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光电倍增管应用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71B2A563-AC54-5347-B843-4478DF223CDE}"/>
              </a:ext>
            </a:extLst>
          </p:cNvPr>
          <p:cNvSpPr/>
          <p:nvPr/>
        </p:nvSpPr>
        <p:spPr>
          <a:xfrm>
            <a:off x="3642999" y="3397018"/>
            <a:ext cx="7991475" cy="1110985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zh-CN" altLang="en-US" sz="4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光电倍增管应用</a:t>
            </a:r>
          </a:p>
        </p:txBody>
      </p:sp>
      <p:sp>
        <p:nvSpPr>
          <p:cNvPr id="20" name="矩形 19"/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45D4FB5-3BA7-4366-9C2A-762F1105D91A}"/>
              </a:ext>
            </a:extLst>
          </p:cNvPr>
          <p:cNvSpPr/>
          <p:nvPr/>
        </p:nvSpPr>
        <p:spPr>
          <a:xfrm>
            <a:off x="1546631" y="3333750"/>
            <a:ext cx="2294402" cy="1237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6600" b="1" dirty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5.5</a:t>
            </a:r>
            <a:endParaRPr kumimoji="1" lang="zh-CN" altLang="en-US" sz="6600" b="1" dirty="0">
              <a:gradFill>
                <a:gsLst>
                  <a:gs pos="0">
                    <a:srgbClr val="0066FF"/>
                  </a:gs>
                  <a:gs pos="100000">
                    <a:schemeClr val="accent1">
                      <a:lumMod val="100000"/>
                    </a:schemeClr>
                  </a:gs>
                </a:gsLst>
                <a:lin ang="0" scaled="0"/>
              </a:gra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D7400AB1-4BEC-40E5-A53B-E3CB1F48EB8A}"/>
              </a:ext>
            </a:extLst>
          </p:cNvPr>
          <p:cNvSpPr/>
          <p:nvPr/>
        </p:nvSpPr>
        <p:spPr>
          <a:xfrm>
            <a:off x="432517" y="293282"/>
            <a:ext cx="852107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5.5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3" name="直接连接符 58">
            <a:extLst>
              <a:ext uri="{FF2B5EF4-FFF2-40B4-BE49-F238E27FC236}">
                <a16:creationId xmlns:a16="http://schemas.microsoft.com/office/drawing/2014/main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TextBox 1">
            <a:extLst>
              <a:ext uri="{FF2B5EF4-FFF2-40B4-BE49-F238E27FC236}">
                <a16:creationId xmlns:a16="http://schemas.microsoft.com/office/drawing/2014/main" id="{D6182992-0184-4F0F-9C9D-4D8281AA2F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9363" y="996950"/>
            <a:ext cx="208915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US" altLang="zh-CN" sz="3200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3200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光谱学</a:t>
            </a:r>
          </a:p>
        </p:txBody>
      </p:sp>
      <p:sp>
        <p:nvSpPr>
          <p:cNvPr id="3079" name="TextBox 2">
            <a:extLst>
              <a:ext uri="{FF2B5EF4-FFF2-40B4-BE49-F238E27FC236}">
                <a16:creationId xmlns:a16="http://schemas.microsoft.com/office/drawing/2014/main" id="{CDE367C0-A496-4EB9-8456-C06BD89C89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950" y="1898650"/>
            <a:ext cx="12001500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紫外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可见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近红外分光光度计，原子吸收分光光度计，发光分光光度计，荧光分光光度计，拉曼分光光度计，其它液相或气相色谱如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光衍射仪、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光荧光分析和电子显微镜等。</a:t>
            </a:r>
          </a:p>
        </p:txBody>
      </p:sp>
      <p:sp>
        <p:nvSpPr>
          <p:cNvPr id="3080" name="TextBox 3">
            <a:extLst>
              <a:ext uri="{FF2B5EF4-FFF2-40B4-BE49-F238E27FC236}">
                <a16:creationId xmlns:a16="http://schemas.microsoft.com/office/drawing/2014/main" id="{FD5DEE99-F465-4E67-AC2B-74E73B0CCC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4865688"/>
            <a:ext cx="11906250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en-US" altLang="zh-CN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8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固体表面分析，这种技术在半导体工业领域被用于半导体的检查中，如缺陷、表面分析、吸附等。电子、离子、</a:t>
            </a:r>
            <a:r>
              <a:rPr lang="en-US" altLang="zh-CN" sz="28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28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射线一般采用电子倍增器或</a:t>
            </a:r>
            <a:r>
              <a:rPr lang="en-US" altLang="zh-CN" sz="28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MCP</a:t>
            </a:r>
            <a:r>
              <a:rPr lang="zh-CN" altLang="en-US" sz="28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来测定。</a:t>
            </a:r>
          </a:p>
        </p:txBody>
      </p:sp>
      <p:sp>
        <p:nvSpPr>
          <p:cNvPr id="3081" name="TextBox 4">
            <a:extLst>
              <a:ext uri="{FF2B5EF4-FFF2-40B4-BE49-F238E27FC236}">
                <a16:creationId xmlns:a16="http://schemas.microsoft.com/office/drawing/2014/main" id="{47441E9A-E083-4775-B2FD-DBFFE1BE2C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9363" y="4035425"/>
            <a:ext cx="58674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US" altLang="zh-CN" sz="3200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3200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质量光谱学与固体表面分析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98697C9F-3F00-4976-A6B4-E698FEAAAD47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3" name="文本框 60">
              <a:extLst>
                <a:ext uri="{FF2B5EF4-FFF2-40B4-BE49-F238E27FC236}">
                  <a16:creationId xmlns:a16="http://schemas.microsoft.com/office/drawing/2014/main" id="{D789E029-BDE2-4642-A26C-F431E8F986F4}"/>
                </a:ext>
              </a:extLst>
            </p:cNvPr>
            <p:cNvSpPr txBox="1"/>
            <p:nvPr/>
          </p:nvSpPr>
          <p:spPr>
            <a:xfrm>
              <a:off x="1364781" y="293282"/>
              <a:ext cx="3196132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光电倍增管应用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B1B0C866-AE1E-4EEE-945A-A9E882FA55BC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6997ECBF-001D-476F-AAE9-6928F804A4F5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52A7BF30-6102-4874-8BF5-D2640764DBCD}"/>
                </a:ext>
              </a:extLst>
            </p:cNvPr>
            <p:cNvSpPr/>
            <p:nvPr/>
          </p:nvSpPr>
          <p:spPr>
            <a:xfrm>
              <a:off x="432517" y="293282"/>
              <a:ext cx="852107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5.5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8" name="直接连接符 58">
              <a:extLst>
                <a:ext uri="{FF2B5EF4-FFF2-40B4-BE49-F238E27FC236}">
                  <a16:creationId xmlns:a16="http://schemas.microsoft.com/office/drawing/2014/main" id="{DF18B058-2403-4783-BD16-006252DBA7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50506" y="695281"/>
              <a:ext cx="2999293" cy="15717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739E7E03-2456-4AD5-9A72-3E3F78973DBA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78BF464E-1D62-427C-BEDA-116311FC16E0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8" grpId="0"/>
      <p:bldP spid="3079" grpId="0"/>
      <p:bldP spid="3080" grpId="0"/>
      <p:bldP spid="308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2" name="TextBox 1">
            <a:extLst>
              <a:ext uri="{FF2B5EF4-FFF2-40B4-BE49-F238E27FC236}">
                <a16:creationId xmlns:a16="http://schemas.microsoft.com/office/drawing/2014/main" id="{F67C1386-9361-4A25-8A86-DCB124973B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5925" y="1166813"/>
            <a:ext cx="22669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</a:t>
            </a:r>
            <a:r>
              <a:rPr lang="zh-CN" altLang="en-US" sz="3200" b="1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环境监测</a:t>
            </a:r>
          </a:p>
        </p:txBody>
      </p:sp>
      <p:sp>
        <p:nvSpPr>
          <p:cNvPr id="4103" name="TextBox 11">
            <a:extLst>
              <a:ext uri="{FF2B5EF4-FFF2-40B4-BE49-F238E27FC236}">
                <a16:creationId xmlns:a16="http://schemas.microsoft.com/office/drawing/2014/main" id="{0AF5B648-6C6F-4E63-8F89-FDF87E2D4E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5925" y="2178050"/>
            <a:ext cx="86391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尘埃粒子计数器，浊度计，</a:t>
            </a:r>
            <a:r>
              <a:rPr lang="en-US" altLang="zh-CN" sz="28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NO</a:t>
            </a:r>
            <a:r>
              <a:rPr lang="en-US" altLang="zh-CN" sz="2800" b="1" i="1" baseline="-25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28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8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SO</a:t>
            </a:r>
            <a:r>
              <a:rPr lang="en-US" altLang="zh-CN" sz="2800" b="1" i="1" baseline="-25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28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检测。</a:t>
            </a:r>
          </a:p>
        </p:txBody>
      </p:sp>
      <p:sp>
        <p:nvSpPr>
          <p:cNvPr id="4104" name="TextBox 12">
            <a:extLst>
              <a:ext uri="{FF2B5EF4-FFF2-40B4-BE49-F238E27FC236}">
                <a16:creationId xmlns:a16="http://schemas.microsoft.com/office/drawing/2014/main" id="{536DDA68-4790-4737-9F93-75DB5FB498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0513" y="2976563"/>
            <a:ext cx="4445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4.</a:t>
            </a:r>
            <a:r>
              <a:rPr lang="zh-CN" altLang="en-US" sz="3200" b="1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医疗器械与生物技术</a:t>
            </a:r>
          </a:p>
        </p:txBody>
      </p:sp>
      <p:sp>
        <p:nvSpPr>
          <p:cNvPr id="4105" name="TextBox 13">
            <a:extLst>
              <a:ext uri="{FF2B5EF4-FFF2-40B4-BE49-F238E27FC236}">
                <a16:creationId xmlns:a16="http://schemas.microsoft.com/office/drawing/2014/main" id="{9981E399-9D6C-4C06-A8EB-4F0E07D137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2075" y="3662363"/>
            <a:ext cx="11376025" cy="138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28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</a:t>
            </a:r>
            <a:r>
              <a:rPr lang="el-GR" altLang="zh-CN" sz="28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γ</a:t>
            </a:r>
            <a:r>
              <a:rPr lang="zh-CN" altLang="en-US" sz="28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相机，正电子</a:t>
            </a:r>
            <a:r>
              <a:rPr lang="en-US" altLang="zh-CN" sz="28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CT</a:t>
            </a:r>
            <a:r>
              <a:rPr lang="zh-CN" altLang="en-US" sz="28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，液体闪烁技术，血液、尿液检查，用同位素、酶、 荧光、化学发光、生物发光物质、细胞分类与荧光计等。</a:t>
            </a:r>
          </a:p>
        </p:txBody>
      </p:sp>
      <p:sp>
        <p:nvSpPr>
          <p:cNvPr id="4106" name="TextBox 14">
            <a:extLst>
              <a:ext uri="{FF2B5EF4-FFF2-40B4-BE49-F238E27FC236}">
                <a16:creationId xmlns:a16="http://schemas.microsoft.com/office/drawing/2014/main" id="{AC3C6189-E2A0-4827-9D44-6A5FA97450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5925" y="5170488"/>
            <a:ext cx="2311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5.</a:t>
            </a:r>
            <a:r>
              <a:rPr lang="zh-CN" altLang="en-US" sz="3200" b="1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射线测定</a:t>
            </a:r>
          </a:p>
        </p:txBody>
      </p:sp>
      <p:sp>
        <p:nvSpPr>
          <p:cNvPr id="4107" name="TextBox 15">
            <a:extLst>
              <a:ext uri="{FF2B5EF4-FFF2-40B4-BE49-F238E27FC236}">
                <a16:creationId xmlns:a16="http://schemas.microsoft.com/office/drawing/2014/main" id="{28369DA2-FE3E-4BC8-B282-44E6D6AD6A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4838" y="6169025"/>
            <a:ext cx="78406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低水平的</a:t>
            </a:r>
            <a:r>
              <a:rPr lang="el-GR" altLang="zh-CN" sz="28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α</a:t>
            </a:r>
            <a:r>
              <a:rPr lang="zh-CN" altLang="en-US" sz="28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射线，</a:t>
            </a:r>
            <a:r>
              <a:rPr lang="en-US" altLang="zh-CN" sz="28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l-GR" altLang="zh-CN" sz="28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β</a:t>
            </a:r>
            <a:r>
              <a:rPr lang="zh-CN" altLang="en-US" sz="28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射线和</a:t>
            </a:r>
            <a:r>
              <a:rPr lang="el-GR" altLang="zh-CN" sz="28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γ</a:t>
            </a:r>
            <a:r>
              <a:rPr lang="zh-CN" altLang="en-US" sz="28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射线的检测。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9F0504F1-6075-4DC6-A761-55DB15338F55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5" name="文本框 60">
              <a:extLst>
                <a:ext uri="{FF2B5EF4-FFF2-40B4-BE49-F238E27FC236}">
                  <a16:creationId xmlns:a16="http://schemas.microsoft.com/office/drawing/2014/main" id="{B6512478-73E3-4C3A-8089-E8EABA9A2E4C}"/>
                </a:ext>
              </a:extLst>
            </p:cNvPr>
            <p:cNvSpPr txBox="1"/>
            <p:nvPr/>
          </p:nvSpPr>
          <p:spPr>
            <a:xfrm>
              <a:off x="1364781" y="293282"/>
              <a:ext cx="3196132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光电倍增管应用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75570935-9E96-4B90-B37E-F813167C54B5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8743E883-65BD-4ADB-AF66-B616951E46A9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63C9F314-D528-414E-B4FA-D84F1C3D2E35}"/>
                </a:ext>
              </a:extLst>
            </p:cNvPr>
            <p:cNvSpPr/>
            <p:nvPr/>
          </p:nvSpPr>
          <p:spPr>
            <a:xfrm>
              <a:off x="432517" y="293282"/>
              <a:ext cx="852107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5.5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0" name="直接连接符 58">
              <a:extLst>
                <a:ext uri="{FF2B5EF4-FFF2-40B4-BE49-F238E27FC236}">
                  <a16:creationId xmlns:a16="http://schemas.microsoft.com/office/drawing/2014/main" id="{6AF6ED50-D22E-4E94-B4CF-8F008CF22C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50506" y="695281"/>
              <a:ext cx="2999293" cy="15717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9219285E-5990-4CAE-B8DB-1DAD189BBF99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7972CF23-9C42-409A-B585-6B1ACB1A1596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2" grpId="0"/>
      <p:bldP spid="4103" grpId="0"/>
      <p:bldP spid="4104" grpId="0"/>
      <p:bldP spid="4105" grpId="0"/>
      <p:bldP spid="4106" grpId="0"/>
      <p:bldP spid="410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TextBox 1">
            <a:extLst>
              <a:ext uri="{FF2B5EF4-FFF2-40B4-BE49-F238E27FC236}">
                <a16:creationId xmlns:a16="http://schemas.microsoft.com/office/drawing/2014/main" id="{BEE61D49-9053-4B27-9F91-30785EBF63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425" y="1304925"/>
            <a:ext cx="217805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3200" b="1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6.</a:t>
            </a:r>
            <a:r>
              <a:rPr lang="zh-CN" altLang="en-US" sz="3200" b="1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资源调查</a:t>
            </a:r>
          </a:p>
        </p:txBody>
      </p:sp>
      <p:sp>
        <p:nvSpPr>
          <p:cNvPr id="5127" name="TextBox 2">
            <a:extLst>
              <a:ext uri="{FF2B5EF4-FFF2-40B4-BE49-F238E27FC236}">
                <a16:creationId xmlns:a16="http://schemas.microsoft.com/office/drawing/2014/main" id="{78E89732-6CFC-421C-86A2-811F5B9586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425" y="2228850"/>
            <a:ext cx="9420225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8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石油测井，用于判断油井周围的地层类型及密度。</a:t>
            </a:r>
          </a:p>
        </p:txBody>
      </p:sp>
      <p:sp>
        <p:nvSpPr>
          <p:cNvPr id="5128" name="TextBox 3">
            <a:extLst>
              <a:ext uri="{FF2B5EF4-FFF2-40B4-BE49-F238E27FC236}">
                <a16:creationId xmlns:a16="http://schemas.microsoft.com/office/drawing/2014/main" id="{48FBE27A-60C8-44E6-B9CF-2C7056F37D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425" y="2992438"/>
            <a:ext cx="30226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3200" b="1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7.</a:t>
            </a:r>
            <a:r>
              <a:rPr lang="zh-CN" altLang="en-US" sz="3200" b="1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工业计测</a:t>
            </a:r>
          </a:p>
        </p:txBody>
      </p:sp>
      <p:sp>
        <p:nvSpPr>
          <p:cNvPr id="5129" name="TextBox 4">
            <a:extLst>
              <a:ext uri="{FF2B5EF4-FFF2-40B4-BE49-F238E27FC236}">
                <a16:creationId xmlns:a16="http://schemas.microsoft.com/office/drawing/2014/main" id="{EE27FA92-4F3F-40EB-9A70-7D532FC1CB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425" y="4692650"/>
            <a:ext cx="235585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3200" b="1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8.</a:t>
            </a:r>
            <a:r>
              <a:rPr lang="zh-CN" altLang="en-US" sz="3200" b="1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摄影印刷</a:t>
            </a:r>
          </a:p>
        </p:txBody>
      </p:sp>
      <p:sp>
        <p:nvSpPr>
          <p:cNvPr id="5130" name="TextBox 5">
            <a:extLst>
              <a:ext uri="{FF2B5EF4-FFF2-40B4-BE49-F238E27FC236}">
                <a16:creationId xmlns:a16="http://schemas.microsoft.com/office/drawing/2014/main" id="{2226F7A6-F25E-47D5-8FEC-5F04ECBBFE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7700" y="3870325"/>
            <a:ext cx="5434013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8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厚度计，半导体检测系统。</a:t>
            </a:r>
          </a:p>
        </p:txBody>
      </p:sp>
      <p:sp>
        <p:nvSpPr>
          <p:cNvPr id="5131" name="TextBox 6">
            <a:extLst>
              <a:ext uri="{FF2B5EF4-FFF2-40B4-BE49-F238E27FC236}">
                <a16:creationId xmlns:a16="http://schemas.microsoft.com/office/drawing/2014/main" id="{87293D7E-937E-4545-BA0F-6C7F3DE748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4288" y="5526088"/>
            <a:ext cx="10566400" cy="138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28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zh-CN" altLang="en-US" sz="28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彩色扫描，把彩色分解成三原色（红、绿、兰）和黑色，作为图像数据读出。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23E30841-F6DE-4C5F-8D6B-0B963D4B1353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5" name="文本框 60">
              <a:extLst>
                <a:ext uri="{FF2B5EF4-FFF2-40B4-BE49-F238E27FC236}">
                  <a16:creationId xmlns:a16="http://schemas.microsoft.com/office/drawing/2014/main" id="{8554F3EE-A6C8-4A60-9BA0-51B79A5EB7A7}"/>
                </a:ext>
              </a:extLst>
            </p:cNvPr>
            <p:cNvSpPr txBox="1"/>
            <p:nvPr/>
          </p:nvSpPr>
          <p:spPr>
            <a:xfrm>
              <a:off x="1364781" y="293282"/>
              <a:ext cx="3196132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光电倍增管应用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2EA2572C-23BB-4F9C-932B-4BC0C150287D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93169CBA-F9DF-4E96-89E1-78F21D7EE632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F52F6F62-C805-41E2-859B-5A63723B80D6}"/>
                </a:ext>
              </a:extLst>
            </p:cNvPr>
            <p:cNvSpPr/>
            <p:nvPr/>
          </p:nvSpPr>
          <p:spPr>
            <a:xfrm>
              <a:off x="432517" y="293282"/>
              <a:ext cx="852107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5.5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0" name="直接连接符 58">
              <a:extLst>
                <a:ext uri="{FF2B5EF4-FFF2-40B4-BE49-F238E27FC236}">
                  <a16:creationId xmlns:a16="http://schemas.microsoft.com/office/drawing/2014/main" id="{3177C2CE-178F-45A7-8D34-CE92C26281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50506" y="695281"/>
              <a:ext cx="2999293" cy="15717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8FD4DF66-4AC8-45EF-81D6-0AEE8606CA3C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FE1F6678-0371-4F4A-BAE5-B37B3DF6EA85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6" grpId="0"/>
      <p:bldP spid="5127" grpId="0"/>
      <p:bldP spid="5128" grpId="0"/>
      <p:bldP spid="5129" grpId="0"/>
      <p:bldP spid="5130" grpId="0"/>
      <p:bldP spid="513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0" name="TextBox 1">
            <a:extLst>
              <a:ext uri="{FF2B5EF4-FFF2-40B4-BE49-F238E27FC236}">
                <a16:creationId xmlns:a16="http://schemas.microsoft.com/office/drawing/2014/main" id="{37AD021B-6034-41A5-9A8E-D09C8B18E3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4513" y="1155700"/>
            <a:ext cx="45339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3200" b="1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9.</a:t>
            </a:r>
            <a:r>
              <a:rPr lang="zh-CN" altLang="en-US" sz="3200" b="1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高能物理</a:t>
            </a:r>
            <a:r>
              <a:rPr lang="en-US" altLang="zh-CN" sz="3200" b="1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3200" b="1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加速器实验</a:t>
            </a:r>
          </a:p>
        </p:txBody>
      </p:sp>
      <p:sp>
        <p:nvSpPr>
          <p:cNvPr id="6151" name="TextBox 2">
            <a:extLst>
              <a:ext uri="{FF2B5EF4-FFF2-40B4-BE49-F238E27FC236}">
                <a16:creationId xmlns:a16="http://schemas.microsoft.com/office/drawing/2014/main" id="{0701916E-8E3A-46F4-976D-7FB137F2AB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4513" y="3008313"/>
            <a:ext cx="795655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3200" b="1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10.</a:t>
            </a:r>
            <a:r>
              <a:rPr lang="zh-CN" altLang="en-US" sz="3200" b="1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中微子、正电子衰变实验，宇宙线检测</a:t>
            </a:r>
          </a:p>
        </p:txBody>
      </p:sp>
      <p:sp>
        <p:nvSpPr>
          <p:cNvPr id="6152" name="TextBox 3">
            <a:extLst>
              <a:ext uri="{FF2B5EF4-FFF2-40B4-BE49-F238E27FC236}">
                <a16:creationId xmlns:a16="http://schemas.microsoft.com/office/drawing/2014/main" id="{5D75FEDB-466C-4CA9-BE11-1D0F70166B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9925" y="5300663"/>
            <a:ext cx="25781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3200" b="1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11.</a:t>
            </a:r>
            <a:r>
              <a:rPr lang="zh-CN" altLang="en-US" sz="3200" b="1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激光</a:t>
            </a:r>
          </a:p>
        </p:txBody>
      </p:sp>
      <p:sp>
        <p:nvSpPr>
          <p:cNvPr id="6153" name="TextBox 4">
            <a:extLst>
              <a:ext uri="{FF2B5EF4-FFF2-40B4-BE49-F238E27FC236}">
                <a16:creationId xmlns:a16="http://schemas.microsoft.com/office/drawing/2014/main" id="{6323F781-DE0B-4299-9AF5-19AA808AAC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8300" y="6130925"/>
            <a:ext cx="8905875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28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r>
              <a:rPr lang="zh-CN" altLang="en-US" sz="28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激光雷达用于高精度测距、大气观察等。</a:t>
            </a:r>
          </a:p>
        </p:txBody>
      </p:sp>
      <p:sp>
        <p:nvSpPr>
          <p:cNvPr id="6154" name="TextBox 5">
            <a:extLst>
              <a:ext uri="{FF2B5EF4-FFF2-40B4-BE49-F238E27FC236}">
                <a16:creationId xmlns:a16="http://schemas.microsoft.com/office/drawing/2014/main" id="{7CED03A0-E2DE-4751-B960-4F07D85829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5863" y="3819525"/>
            <a:ext cx="10777537" cy="1385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28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zh-CN" altLang="en-US" sz="28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中微子实验，空气浴计数器，天体</a:t>
            </a:r>
            <a:r>
              <a:rPr lang="en-US" altLang="zh-CN" sz="28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28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射线探测，恒星及星际尘埃  散乱光的测定。</a:t>
            </a:r>
          </a:p>
        </p:txBody>
      </p:sp>
      <p:sp>
        <p:nvSpPr>
          <p:cNvPr id="6155" name="TextBox 6">
            <a:extLst>
              <a:ext uri="{FF2B5EF4-FFF2-40B4-BE49-F238E27FC236}">
                <a16:creationId xmlns:a16="http://schemas.microsoft.com/office/drawing/2014/main" id="{2FD43300-128A-4CBF-A371-CF47A67C23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8300" y="2205038"/>
            <a:ext cx="10587038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8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辐射计数器，</a:t>
            </a:r>
            <a:r>
              <a:rPr lang="en-US" altLang="zh-CN" sz="28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TOF</a:t>
            </a:r>
            <a:r>
              <a:rPr lang="zh-CN" altLang="en-US" sz="28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计数器，契伦柯夫计数器，热量计。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2E6C5B48-5C69-4258-A082-87C5976FB8F5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5" name="文本框 60">
              <a:extLst>
                <a:ext uri="{FF2B5EF4-FFF2-40B4-BE49-F238E27FC236}">
                  <a16:creationId xmlns:a16="http://schemas.microsoft.com/office/drawing/2014/main" id="{68DCA66B-E7FA-4E09-BF26-23E0320D1AB5}"/>
                </a:ext>
              </a:extLst>
            </p:cNvPr>
            <p:cNvSpPr txBox="1"/>
            <p:nvPr/>
          </p:nvSpPr>
          <p:spPr>
            <a:xfrm>
              <a:off x="1364781" y="293282"/>
              <a:ext cx="3196132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光电倍增管应用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378DEDA9-12EC-4C68-86D8-2C740A96A27C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6641D9A6-AF9F-40DF-B86F-A90AD78531B8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DCD891FB-B131-4A88-A1E2-190A1B66ED81}"/>
                </a:ext>
              </a:extLst>
            </p:cNvPr>
            <p:cNvSpPr/>
            <p:nvPr/>
          </p:nvSpPr>
          <p:spPr>
            <a:xfrm>
              <a:off x="432517" y="293282"/>
              <a:ext cx="852107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5.5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0" name="直接连接符 58">
              <a:extLst>
                <a:ext uri="{FF2B5EF4-FFF2-40B4-BE49-F238E27FC236}">
                  <a16:creationId xmlns:a16="http://schemas.microsoft.com/office/drawing/2014/main" id="{10C66E52-2EF4-486E-A8FE-E65411BE1E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50506" y="695281"/>
              <a:ext cx="2999293" cy="15717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2ADFD47F-8FAD-49BD-88B2-59EACC3306FA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4A81697B-8B3D-4AFB-B392-8BAD3CC5A7F2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0" grpId="0"/>
      <p:bldP spid="6151" grpId="0"/>
      <p:bldP spid="6152" grpId="0"/>
      <p:bldP spid="6153" grpId="0"/>
      <p:bldP spid="6154" grpId="0"/>
      <p:bldP spid="615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F1D3C79F-0286-4DCD-8740-E6B97E329377}"/>
              </a:ext>
            </a:extLst>
          </p:cNvPr>
          <p:cNvGrpSpPr>
            <a:grpSpLocks/>
          </p:cNvGrpSpPr>
          <p:nvPr/>
        </p:nvGrpSpPr>
        <p:grpSpPr bwMode="auto">
          <a:xfrm>
            <a:off x="7059613" y="3052763"/>
            <a:ext cx="266700" cy="566737"/>
            <a:chOff x="1593850" y="2317750"/>
            <a:chExt cx="266700" cy="755650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71968859-9EC7-46D5-91E0-5A4F0C91AEB2}"/>
                </a:ext>
              </a:extLst>
            </p:cNvPr>
            <p:cNvSpPr/>
            <p:nvPr/>
          </p:nvSpPr>
          <p:spPr>
            <a:xfrm>
              <a:off x="1593850" y="2317750"/>
              <a:ext cx="266700" cy="75565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581BB849-4681-4D01-9B0F-50874366AD9B}"/>
                </a:ext>
              </a:extLst>
            </p:cNvPr>
            <p:cNvSpPr/>
            <p:nvPr/>
          </p:nvSpPr>
          <p:spPr>
            <a:xfrm>
              <a:off x="1671637" y="2717800"/>
              <a:ext cx="111125" cy="3556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EA192B7E-B5B8-4BD3-A680-67BB418B302D}"/>
              </a:ext>
            </a:extLst>
          </p:cNvPr>
          <p:cNvGrpSpPr>
            <a:grpSpLocks/>
          </p:cNvGrpSpPr>
          <p:nvPr/>
        </p:nvGrpSpPr>
        <p:grpSpPr bwMode="auto">
          <a:xfrm>
            <a:off x="7726363" y="3052763"/>
            <a:ext cx="266700" cy="566737"/>
            <a:chOff x="1593850" y="2317750"/>
            <a:chExt cx="266700" cy="755650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8BEC97D3-8AD8-4CC6-98B6-89F62A8CF196}"/>
                </a:ext>
              </a:extLst>
            </p:cNvPr>
            <p:cNvSpPr/>
            <p:nvPr/>
          </p:nvSpPr>
          <p:spPr>
            <a:xfrm>
              <a:off x="1593850" y="2317750"/>
              <a:ext cx="266700" cy="75565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4F8F4B8-058F-4734-B380-216A0607FC0C}"/>
                </a:ext>
              </a:extLst>
            </p:cNvPr>
            <p:cNvSpPr/>
            <p:nvPr/>
          </p:nvSpPr>
          <p:spPr>
            <a:xfrm>
              <a:off x="1671637" y="2717800"/>
              <a:ext cx="111125" cy="3556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</p:grp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2FD26237-FAD7-4E3C-B658-16747F11482E}"/>
              </a:ext>
            </a:extLst>
          </p:cNvPr>
          <p:cNvCxnSpPr/>
          <p:nvPr/>
        </p:nvCxnSpPr>
        <p:spPr>
          <a:xfrm rot="16200000" flipH="1">
            <a:off x="7037388" y="4030663"/>
            <a:ext cx="266700" cy="31115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86B88969-67B9-4585-A499-406BA026E8EF}"/>
              </a:ext>
            </a:extLst>
          </p:cNvPr>
          <p:cNvCxnSpPr/>
          <p:nvPr/>
        </p:nvCxnSpPr>
        <p:spPr>
          <a:xfrm rot="5400000">
            <a:off x="6927851" y="3884612"/>
            <a:ext cx="533400" cy="3175"/>
          </a:xfrm>
          <a:prstGeom prst="straightConnector1">
            <a:avLst/>
          </a:prstGeom>
          <a:ln w="31750">
            <a:solidFill>
              <a:srgbClr val="FF000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68FF0F22-E942-4A61-9E18-BC43A38BC94F}"/>
              </a:ext>
            </a:extLst>
          </p:cNvPr>
          <p:cNvCxnSpPr/>
          <p:nvPr/>
        </p:nvCxnSpPr>
        <p:spPr>
          <a:xfrm rot="16200000" flipH="1">
            <a:off x="7694613" y="4044950"/>
            <a:ext cx="266700" cy="31115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E39372CA-9A18-4D74-B4A1-60321E1E8FA2}"/>
              </a:ext>
            </a:extLst>
          </p:cNvPr>
          <p:cNvCxnSpPr>
            <a:stCxn id="13" idx="2"/>
          </p:cNvCxnSpPr>
          <p:nvPr/>
        </p:nvCxnSpPr>
        <p:spPr>
          <a:xfrm rot="5400000">
            <a:off x="7579519" y="3886994"/>
            <a:ext cx="547688" cy="12700"/>
          </a:xfrm>
          <a:prstGeom prst="straightConnector1">
            <a:avLst/>
          </a:prstGeom>
          <a:ln w="31750">
            <a:solidFill>
              <a:srgbClr val="0000CC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EF95C1B6-7218-4A29-B318-22ADF8075D9A}"/>
              </a:ext>
            </a:extLst>
          </p:cNvPr>
          <p:cNvCxnSpPr/>
          <p:nvPr/>
        </p:nvCxnSpPr>
        <p:spPr>
          <a:xfrm rot="16200000" flipH="1">
            <a:off x="8520906" y="3913982"/>
            <a:ext cx="366713" cy="4445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A18FC7A5-A7EA-4974-BC07-39FFF9A4DDF8}"/>
              </a:ext>
            </a:extLst>
          </p:cNvPr>
          <p:cNvCxnSpPr/>
          <p:nvPr/>
        </p:nvCxnSpPr>
        <p:spPr>
          <a:xfrm>
            <a:off x="7148513" y="4152900"/>
            <a:ext cx="1555750" cy="0"/>
          </a:xfrm>
          <a:prstGeom prst="line">
            <a:avLst/>
          </a:prstGeom>
          <a:ln w="3175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52767ABC-8BE7-444E-9532-3B1B21E20960}"/>
              </a:ext>
            </a:extLst>
          </p:cNvPr>
          <p:cNvCxnSpPr>
            <a:endCxn id="31" idx="0"/>
          </p:cNvCxnSpPr>
          <p:nvPr/>
        </p:nvCxnSpPr>
        <p:spPr>
          <a:xfrm rot="16200000" flipH="1">
            <a:off x="7281863" y="3797300"/>
            <a:ext cx="2800350" cy="44450"/>
          </a:xfrm>
          <a:prstGeom prst="line">
            <a:avLst/>
          </a:prstGeom>
          <a:ln w="31750">
            <a:solidFill>
              <a:schemeClr val="accent6">
                <a:lumMod val="75000"/>
              </a:schemeClr>
            </a:solidFill>
            <a:headEnd type="stealth" w="med" len="lg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F2A11592-28C2-48B7-AD97-7B2F629CABF0}"/>
              </a:ext>
            </a:extLst>
          </p:cNvPr>
          <p:cNvCxnSpPr/>
          <p:nvPr/>
        </p:nvCxnSpPr>
        <p:spPr>
          <a:xfrm rot="16200000" flipH="1">
            <a:off x="8548688" y="2830513"/>
            <a:ext cx="266700" cy="31115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64BB89AC-F976-4444-A87B-7CD5F74C21E4}"/>
              </a:ext>
            </a:extLst>
          </p:cNvPr>
          <p:cNvCxnSpPr/>
          <p:nvPr/>
        </p:nvCxnSpPr>
        <p:spPr>
          <a:xfrm rot="16200000" flipH="1">
            <a:off x="8548688" y="2230438"/>
            <a:ext cx="266700" cy="31115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B6555F06-0220-46DD-B68C-3D54B525EC3B}"/>
              </a:ext>
            </a:extLst>
          </p:cNvPr>
          <p:cNvCxnSpPr/>
          <p:nvPr/>
        </p:nvCxnSpPr>
        <p:spPr>
          <a:xfrm rot="5400000">
            <a:off x="9811545" y="2367756"/>
            <a:ext cx="366712" cy="3175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82EDFCF4-54DA-4C60-B87C-7BDCF4CDD7BE}"/>
              </a:ext>
            </a:extLst>
          </p:cNvPr>
          <p:cNvCxnSpPr/>
          <p:nvPr/>
        </p:nvCxnSpPr>
        <p:spPr>
          <a:xfrm rot="5400000">
            <a:off x="9811544" y="2959894"/>
            <a:ext cx="366713" cy="3175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椭圆 24">
            <a:extLst>
              <a:ext uri="{FF2B5EF4-FFF2-40B4-BE49-F238E27FC236}">
                <a16:creationId xmlns:a16="http://schemas.microsoft.com/office/drawing/2014/main" id="{1D942628-DF77-4CC1-9ADC-76DEE8098D4B}"/>
              </a:ext>
            </a:extLst>
          </p:cNvPr>
          <p:cNvSpPr/>
          <p:nvPr/>
        </p:nvSpPr>
        <p:spPr>
          <a:xfrm>
            <a:off x="10660063" y="2185988"/>
            <a:ext cx="133350" cy="400050"/>
          </a:xfrm>
          <a:prstGeom prst="ellipse">
            <a:avLst/>
          </a:prstGeom>
          <a:solidFill>
            <a:srgbClr val="0000CC"/>
          </a:solidFill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8928FFB8-8A78-47FF-AA78-55FF376189D1}"/>
              </a:ext>
            </a:extLst>
          </p:cNvPr>
          <p:cNvSpPr/>
          <p:nvPr/>
        </p:nvSpPr>
        <p:spPr>
          <a:xfrm>
            <a:off x="10660063" y="2778125"/>
            <a:ext cx="133350" cy="40005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C13EF6E4-65A8-4927-86B9-2671E739EC75}"/>
              </a:ext>
            </a:extLst>
          </p:cNvPr>
          <p:cNvCxnSpPr/>
          <p:nvPr/>
        </p:nvCxnSpPr>
        <p:spPr>
          <a:xfrm>
            <a:off x="8659813" y="2370138"/>
            <a:ext cx="2800350" cy="1587"/>
          </a:xfrm>
          <a:prstGeom prst="line">
            <a:avLst/>
          </a:prstGeom>
          <a:ln w="31750">
            <a:solidFill>
              <a:srgbClr val="0000CC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A6129120-2E9D-4B54-956D-C4656B6CA928}"/>
              </a:ext>
            </a:extLst>
          </p:cNvPr>
          <p:cNvCxnSpPr/>
          <p:nvPr/>
        </p:nvCxnSpPr>
        <p:spPr>
          <a:xfrm>
            <a:off x="8704263" y="2952750"/>
            <a:ext cx="2755900" cy="0"/>
          </a:xfrm>
          <a:prstGeom prst="line">
            <a:avLst/>
          </a:prstGeom>
          <a:ln w="31750">
            <a:solidFill>
              <a:srgbClr val="FF000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12CC3BF1-30E4-40B8-8182-CEC7D232FD1C}"/>
              </a:ext>
            </a:extLst>
          </p:cNvPr>
          <p:cNvCxnSpPr/>
          <p:nvPr/>
        </p:nvCxnSpPr>
        <p:spPr>
          <a:xfrm rot="16200000" flipH="1">
            <a:off x="8404225" y="4452938"/>
            <a:ext cx="600075" cy="0"/>
          </a:xfrm>
          <a:prstGeom prst="line">
            <a:avLst/>
          </a:prstGeom>
          <a:ln w="3175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流程图: 手动操作 29">
            <a:extLst>
              <a:ext uri="{FF2B5EF4-FFF2-40B4-BE49-F238E27FC236}">
                <a16:creationId xmlns:a16="http://schemas.microsoft.com/office/drawing/2014/main" id="{039439D2-183C-4BF1-9826-55CCC56DBA07}"/>
              </a:ext>
            </a:extLst>
          </p:cNvPr>
          <p:cNvSpPr/>
          <p:nvPr/>
        </p:nvSpPr>
        <p:spPr>
          <a:xfrm>
            <a:off x="8570913" y="4752975"/>
            <a:ext cx="266700" cy="333375"/>
          </a:xfrm>
          <a:prstGeom prst="flowChartManualOperati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31" name="流程图: 过程 30">
            <a:extLst>
              <a:ext uri="{FF2B5EF4-FFF2-40B4-BE49-F238E27FC236}">
                <a16:creationId xmlns:a16="http://schemas.microsoft.com/office/drawing/2014/main" id="{24063E5B-8822-4847-8678-FF9B3B6290F8}"/>
              </a:ext>
            </a:extLst>
          </p:cNvPr>
          <p:cNvSpPr/>
          <p:nvPr/>
        </p:nvSpPr>
        <p:spPr>
          <a:xfrm>
            <a:off x="8437563" y="5219700"/>
            <a:ext cx="533400" cy="66675"/>
          </a:xfrm>
          <a:prstGeom prst="flowChartProcess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8214" name="Rectangle 2">
            <a:extLst>
              <a:ext uri="{FF2B5EF4-FFF2-40B4-BE49-F238E27FC236}">
                <a16:creationId xmlns:a16="http://schemas.microsoft.com/office/drawing/2014/main" id="{A2801BF3-7310-46B6-8200-9588124293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2963" y="1311275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33" name="Object 1">
            <a:extLst>
              <a:ext uri="{FF2B5EF4-FFF2-40B4-BE49-F238E27FC236}">
                <a16:creationId xmlns:a16="http://schemas.microsoft.com/office/drawing/2014/main" id="{E22012EB-4A2A-4596-B3A5-D376810685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15713" y="2119313"/>
          <a:ext cx="39052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0" name="Visio" r:id="rId3" imgW="163306" imgH="299609" progId="Visio.Drawing.11">
                  <p:embed/>
                </p:oleObj>
              </mc:Choice>
              <mc:Fallback>
                <p:oleObj name="Visio" r:id="rId3" imgW="163306" imgH="299609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15713" y="2119313"/>
                        <a:ext cx="390525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3">
            <a:extLst>
              <a:ext uri="{FF2B5EF4-FFF2-40B4-BE49-F238E27FC236}">
                <a16:creationId xmlns:a16="http://schemas.microsoft.com/office/drawing/2014/main" id="{1F252427-8342-4F61-A396-8AF4D9D9C6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25238" y="2652713"/>
          <a:ext cx="39052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1" name="Visio" r:id="rId5" imgW="163306" imgH="299609" progId="Visio.Drawing.11">
                  <p:embed/>
                </p:oleObj>
              </mc:Choice>
              <mc:Fallback>
                <p:oleObj name="Visio" r:id="rId5" imgW="163306" imgH="299609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25238" y="2652713"/>
                        <a:ext cx="390525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7" name="Rectangle 5">
            <a:extLst>
              <a:ext uri="{FF2B5EF4-FFF2-40B4-BE49-F238E27FC236}">
                <a16:creationId xmlns:a16="http://schemas.microsoft.com/office/drawing/2014/main" id="{22B27013-4154-4392-AD11-5CD576988E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2963" y="1311275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36" name="Object 4">
            <a:extLst>
              <a:ext uri="{FF2B5EF4-FFF2-40B4-BE49-F238E27FC236}">
                <a16:creationId xmlns:a16="http://schemas.microsoft.com/office/drawing/2014/main" id="{E49EE5E5-6A6D-453B-83B1-311F7FBD22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59963" y="4052888"/>
          <a:ext cx="2000250" cy="1287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2" name="Visio" r:id="rId6" imgW="809244" imgH="692229" progId="Visio.Drawing.11">
                  <p:embed/>
                </p:oleObj>
              </mc:Choice>
              <mc:Fallback>
                <p:oleObj name="Visio" r:id="rId6" imgW="809244" imgH="692229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59963" y="4052888"/>
                        <a:ext cx="2000250" cy="1287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TextBox 51">
            <a:extLst>
              <a:ext uri="{FF2B5EF4-FFF2-40B4-BE49-F238E27FC236}">
                <a16:creationId xmlns:a16="http://schemas.microsoft.com/office/drawing/2014/main" id="{B33E0C71-5FC9-4C01-B3E2-F718C2ABE6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4838" y="5359400"/>
            <a:ext cx="120015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DNA</a:t>
            </a:r>
            <a:r>
              <a:rPr lang="zh-CN" altLang="en-US" sz="16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芯片</a:t>
            </a:r>
          </a:p>
        </p:txBody>
      </p:sp>
      <p:sp>
        <p:nvSpPr>
          <p:cNvPr id="38" name="右箭头 37">
            <a:extLst>
              <a:ext uri="{FF2B5EF4-FFF2-40B4-BE49-F238E27FC236}">
                <a16:creationId xmlns:a16="http://schemas.microsoft.com/office/drawing/2014/main" id="{D0776DCC-E5DF-4211-815C-033EBE3141B6}"/>
              </a:ext>
            </a:extLst>
          </p:cNvPr>
          <p:cNvSpPr/>
          <p:nvPr/>
        </p:nvSpPr>
        <p:spPr>
          <a:xfrm>
            <a:off x="9193213" y="5186363"/>
            <a:ext cx="577850" cy="133350"/>
          </a:xfrm>
          <a:prstGeom prst="rightArrow">
            <a:avLst/>
          </a:prstGeom>
          <a:noFill/>
          <a:ln w="38100"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39" name="TextBox 53">
            <a:extLst>
              <a:ext uri="{FF2B5EF4-FFF2-40B4-BE49-F238E27FC236}">
                <a16:creationId xmlns:a16="http://schemas.microsoft.com/office/drawing/2014/main" id="{EB8A70BF-50DD-4793-9ABF-CC917662BA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5263" y="4786313"/>
            <a:ext cx="5778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物镜</a:t>
            </a:r>
          </a:p>
        </p:txBody>
      </p:sp>
      <p:sp>
        <p:nvSpPr>
          <p:cNvPr id="40" name="TextBox 54">
            <a:extLst>
              <a:ext uri="{FF2B5EF4-FFF2-40B4-BE49-F238E27FC236}">
                <a16:creationId xmlns:a16="http://schemas.microsoft.com/office/drawing/2014/main" id="{FA411852-FED7-4A4D-8FD6-13477CDC7D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4188" y="2478088"/>
            <a:ext cx="676275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He-Ne</a:t>
            </a:r>
          </a:p>
          <a:p>
            <a:pPr eaLnBrk="1" hangingPunct="1"/>
            <a:r>
              <a:rPr lang="zh-CN" altLang="en-US" sz="16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激光器</a:t>
            </a:r>
          </a:p>
        </p:txBody>
      </p:sp>
      <p:sp>
        <p:nvSpPr>
          <p:cNvPr id="41" name="TextBox 55">
            <a:extLst>
              <a:ext uri="{FF2B5EF4-FFF2-40B4-BE49-F238E27FC236}">
                <a16:creationId xmlns:a16="http://schemas.microsoft.com/office/drawing/2014/main" id="{A304E882-5932-4AEF-9620-9E54A6A136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3013" y="2486025"/>
            <a:ext cx="80010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6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YAG</a:t>
            </a:r>
          </a:p>
          <a:p>
            <a:pPr eaLnBrk="1" hangingPunct="1"/>
            <a:r>
              <a:rPr lang="zh-CN" altLang="en-US" sz="16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激光器</a:t>
            </a:r>
          </a:p>
        </p:txBody>
      </p:sp>
      <p:sp>
        <p:nvSpPr>
          <p:cNvPr id="42" name="TextBox 56">
            <a:extLst>
              <a:ext uri="{FF2B5EF4-FFF2-40B4-BE49-F238E27FC236}">
                <a16:creationId xmlns:a16="http://schemas.microsoft.com/office/drawing/2014/main" id="{8ED474C9-1BB6-4D10-9594-19C54A81BB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82263" y="3319463"/>
            <a:ext cx="5778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透镜</a:t>
            </a:r>
          </a:p>
        </p:txBody>
      </p:sp>
      <p:sp>
        <p:nvSpPr>
          <p:cNvPr id="43" name="TextBox 57">
            <a:extLst>
              <a:ext uri="{FF2B5EF4-FFF2-40B4-BE49-F238E27FC236}">
                <a16:creationId xmlns:a16="http://schemas.microsoft.com/office/drawing/2014/main" id="{DA312B8C-19C3-4785-998F-845938C603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93263" y="3252788"/>
            <a:ext cx="80010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6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干涉</a:t>
            </a:r>
            <a:endParaRPr lang="en-US" altLang="zh-CN" sz="1600" b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 eaLnBrk="1" hangingPunct="1"/>
            <a:r>
              <a:rPr lang="zh-CN" altLang="en-US" sz="16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滤光片</a:t>
            </a:r>
          </a:p>
        </p:txBody>
      </p:sp>
      <p:sp>
        <p:nvSpPr>
          <p:cNvPr id="44" name="TextBox 58">
            <a:extLst>
              <a:ext uri="{FF2B5EF4-FFF2-40B4-BE49-F238E27FC236}">
                <a16:creationId xmlns:a16="http://schemas.microsoft.com/office/drawing/2014/main" id="{F97964EB-20C8-42C8-9653-5E7EDF8050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49013" y="3286125"/>
            <a:ext cx="711200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PMT</a:t>
            </a:r>
            <a:endParaRPr lang="zh-CN" altLang="en-US" b="1">
              <a:solidFill>
                <a:srgbClr val="0000CC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5" name="TextBox 56">
            <a:extLst>
              <a:ext uri="{FF2B5EF4-FFF2-40B4-BE49-F238E27FC236}">
                <a16:creationId xmlns:a16="http://schemas.microsoft.com/office/drawing/2014/main" id="{C9CCE72D-0F3F-4026-A182-91E6EB1CD6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8563" y="5991225"/>
            <a:ext cx="4445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000" b="1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3000" b="1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 </a:t>
            </a:r>
            <a:r>
              <a:rPr lang="zh-CN" altLang="en-US" sz="3000" b="1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基因</a:t>
            </a:r>
            <a:r>
              <a:rPr lang="en-US" altLang="zh-CN" sz="3000" b="1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DNA</a:t>
            </a:r>
            <a:r>
              <a:rPr lang="zh-CN" altLang="en-US" sz="3000" b="1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芯片扫描仪</a:t>
            </a:r>
          </a:p>
        </p:txBody>
      </p:sp>
      <p:sp>
        <p:nvSpPr>
          <p:cNvPr id="46" name="TextBox 61">
            <a:extLst>
              <a:ext uri="{FF2B5EF4-FFF2-40B4-BE49-F238E27FC236}">
                <a16:creationId xmlns:a16="http://schemas.microsoft.com/office/drawing/2014/main" id="{405B6D75-ADD1-4A97-9354-C61AE42986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9650" y="1497013"/>
            <a:ext cx="5148263" cy="260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ts val="4000"/>
              </a:lnSpc>
            </a:pPr>
            <a:r>
              <a:rPr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通过微加工技术，将数以万乃至百万计的特定序列的</a:t>
            </a:r>
            <a:r>
              <a:rPr lang="en-US" altLang="zh-CN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DNA</a:t>
            </a:r>
            <a:r>
              <a:rPr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片段</a:t>
            </a:r>
            <a:r>
              <a:rPr lang="en-US" altLang="zh-CN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基因探针</a:t>
            </a:r>
            <a:r>
              <a:rPr lang="en-US" altLang="zh-CN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，有规律地排列固定于</a:t>
            </a:r>
            <a:r>
              <a:rPr lang="en-US" altLang="zh-CN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2cm</a:t>
            </a:r>
            <a:r>
              <a:rPr lang="en-US" altLang="zh-CN" sz="2400" b="1" baseline="30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的硅片、玻片等支持物上，构成的一个二维</a:t>
            </a:r>
            <a:r>
              <a:rPr lang="en-US" altLang="zh-CN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DNA</a:t>
            </a:r>
            <a:r>
              <a:rPr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探针阵列称为基因芯片。</a:t>
            </a:r>
          </a:p>
        </p:txBody>
      </p:sp>
      <p:sp>
        <p:nvSpPr>
          <p:cNvPr id="47" name="TextBox 62">
            <a:extLst>
              <a:ext uri="{FF2B5EF4-FFF2-40B4-BE49-F238E27FC236}">
                <a16:creationId xmlns:a16="http://schemas.microsoft.com/office/drawing/2014/main" id="{E4267773-0E62-41D4-883D-BFA4981F25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9650" y="4591050"/>
            <a:ext cx="5146675" cy="265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ts val="4000"/>
              </a:lnSpc>
            </a:pPr>
            <a:r>
              <a:rPr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核酸探针</a:t>
            </a:r>
            <a:r>
              <a:rPr lang="en-US" altLang="zh-CN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排列已知</a:t>
            </a:r>
            <a:r>
              <a:rPr lang="en-US" altLang="zh-CN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粘结在玻璃片上，与荧光染料标记的样本片段杂交。用激光束扫描</a:t>
            </a:r>
            <a:r>
              <a:rPr lang="en-US" altLang="zh-CN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DNA</a:t>
            </a:r>
            <a:r>
              <a:rPr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芯片，通过测量杂交核酸发出的荧光强度来获取样品</a:t>
            </a:r>
            <a:r>
              <a:rPr lang="en-US" altLang="zh-CN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DNA</a:t>
            </a:r>
            <a:r>
              <a:rPr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的遗传信息。</a:t>
            </a:r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41804B55-031F-42D9-A177-15171077B435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49" name="文本框 60">
              <a:extLst>
                <a:ext uri="{FF2B5EF4-FFF2-40B4-BE49-F238E27FC236}">
                  <a16:creationId xmlns:a16="http://schemas.microsoft.com/office/drawing/2014/main" id="{6A502647-D237-49FE-AEB5-7D9ABCA8AE92}"/>
                </a:ext>
              </a:extLst>
            </p:cNvPr>
            <p:cNvSpPr txBox="1"/>
            <p:nvPr/>
          </p:nvSpPr>
          <p:spPr>
            <a:xfrm>
              <a:off x="1364781" y="293282"/>
              <a:ext cx="3196132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光电倍增管应用</a:t>
              </a:r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5AC981FE-E820-40B1-BB87-21C9AC3D9A22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4FBC184D-5300-4013-B2AB-5A823B6BDEB7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C6F9BCF8-D2DF-4B54-845C-F622DC35DAE0}"/>
                </a:ext>
              </a:extLst>
            </p:cNvPr>
            <p:cNvSpPr/>
            <p:nvPr/>
          </p:nvSpPr>
          <p:spPr>
            <a:xfrm>
              <a:off x="432517" y="293282"/>
              <a:ext cx="852107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5.5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54" name="直接连接符 58">
              <a:extLst>
                <a:ext uri="{FF2B5EF4-FFF2-40B4-BE49-F238E27FC236}">
                  <a16:creationId xmlns:a16="http://schemas.microsoft.com/office/drawing/2014/main" id="{93A428D0-DAD5-4699-9833-B2D3027E1E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50506" y="695281"/>
              <a:ext cx="2999293" cy="15717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D2F7A087-FEEF-43DC-B49B-754BD38F8866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3202C0B1-75F5-447B-89B8-2EF68B9A1311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6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9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30" grpId="0" animBg="1"/>
      <p:bldP spid="31" grpId="0" animBg="1"/>
      <p:bldP spid="37" grpId="0"/>
      <p:bldP spid="38" grpId="0" animBg="1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5">
            <a:extLst>
              <a:ext uri="{FF2B5EF4-FFF2-40B4-BE49-F238E27FC236}">
                <a16:creationId xmlns:a16="http://schemas.microsoft.com/office/drawing/2014/main" id="{C5A2200D-A3D6-49E9-A57E-08B29D7E0B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32450" y="2881313"/>
          <a:ext cx="1974850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3" name="Visio" r:id="rId3" imgW="946683" imgH="602492" progId="Visio.Drawing.11">
                  <p:embed/>
                </p:oleObj>
              </mc:Choice>
              <mc:Fallback>
                <p:oleObj name="Visio" r:id="rId3" imgW="946683" imgH="602492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2450" y="2881313"/>
                        <a:ext cx="1974850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7">
            <a:extLst>
              <a:ext uri="{FF2B5EF4-FFF2-40B4-BE49-F238E27FC236}">
                <a16:creationId xmlns:a16="http://schemas.microsoft.com/office/drawing/2014/main" id="{53F4991E-7B73-4B62-AD80-615A60B074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54700" y="2593975"/>
          <a:ext cx="1377950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4" name="Visio" r:id="rId5" imgW="652367" imgH="354902" progId="Visio.Drawing.11">
                  <p:embed/>
                </p:oleObj>
              </mc:Choice>
              <mc:Fallback>
                <p:oleObj name="Visio" r:id="rId5" imgW="652367" imgH="354902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4700" y="2593975"/>
                        <a:ext cx="1377950" cy="55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梯形 13">
            <a:extLst>
              <a:ext uri="{FF2B5EF4-FFF2-40B4-BE49-F238E27FC236}">
                <a16:creationId xmlns:a16="http://schemas.microsoft.com/office/drawing/2014/main" id="{FC3DF596-3B98-4977-90BE-5272E1044A08}"/>
              </a:ext>
            </a:extLst>
          </p:cNvPr>
          <p:cNvSpPr/>
          <p:nvPr/>
        </p:nvSpPr>
        <p:spPr>
          <a:xfrm>
            <a:off x="6610350" y="3548063"/>
            <a:ext cx="577850" cy="866775"/>
          </a:xfrm>
          <a:prstGeom prst="trapezoid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0D1E938E-6F19-4A7D-9754-CA60760163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4700" y="2411413"/>
            <a:ext cx="10668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</a:rPr>
              <a:t>激光器</a:t>
            </a:r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F5B07A85-E887-4E56-9922-15A4C32DC8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5650" y="3348038"/>
            <a:ext cx="711200" cy="307975"/>
          </a:xfrm>
          <a:prstGeom prst="rect">
            <a:avLst/>
          </a:prstGeom>
          <a:solidFill>
            <a:srgbClr val="FFFF00"/>
          </a:solidFill>
          <a:ln w="25400">
            <a:solidFill>
              <a:srgbClr val="C00000"/>
            </a:solidFill>
            <a:miter lim="800000"/>
            <a:headEnd/>
            <a:tailEnd/>
          </a:ln>
        </p:spPr>
        <p:txBody>
          <a:bodyPr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PMT</a:t>
            </a:r>
            <a:endParaRPr lang="zh-CN" altLang="en-US" b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TextBox 15">
            <a:extLst>
              <a:ext uri="{FF2B5EF4-FFF2-40B4-BE49-F238E27FC236}">
                <a16:creationId xmlns:a16="http://schemas.microsoft.com/office/drawing/2014/main" id="{93C4788C-B526-44C4-96E3-0C9DFAF4B0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1350" y="3914775"/>
            <a:ext cx="8890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</a:rPr>
              <a:t>滤光片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71980B-54B3-4573-B519-09FC98338D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7050" y="4738688"/>
            <a:ext cx="1244600" cy="514350"/>
          </a:xfrm>
          <a:prstGeom prst="rect">
            <a:avLst/>
          </a:prstGeom>
          <a:noFill/>
          <a:ln w="38100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2000" tIns="72000" rIns="72000" bIns="7200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计算机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7256F6-04CB-4233-B5CC-4DECB4D2F3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3450" y="4514850"/>
            <a:ext cx="1689100" cy="514350"/>
          </a:xfrm>
          <a:prstGeom prst="rect">
            <a:avLst/>
          </a:prstGeom>
          <a:noFill/>
          <a:ln w="38100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2000" tIns="72000" rIns="72000" bIns="7200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信号处理</a:t>
            </a: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BF1BD3A4-B462-4548-B5A3-5F80390FC155}"/>
              </a:ext>
            </a:extLst>
          </p:cNvPr>
          <p:cNvCxnSpPr>
            <a:endCxn id="34" idx="2"/>
          </p:cNvCxnSpPr>
          <p:nvPr/>
        </p:nvCxnSpPr>
        <p:spPr>
          <a:xfrm flipV="1">
            <a:off x="7143750" y="2305050"/>
            <a:ext cx="1960563" cy="442913"/>
          </a:xfrm>
          <a:prstGeom prst="straightConnector1">
            <a:avLst/>
          </a:prstGeom>
          <a:ln w="31750">
            <a:solidFill>
              <a:srgbClr val="FF000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94F6D7CD-0AB5-4E01-AA9E-266F828FE1DD}"/>
              </a:ext>
            </a:extLst>
          </p:cNvPr>
          <p:cNvCxnSpPr/>
          <p:nvPr/>
        </p:nvCxnSpPr>
        <p:spPr>
          <a:xfrm flipH="1">
            <a:off x="7410450" y="2417763"/>
            <a:ext cx="1676400" cy="763587"/>
          </a:xfrm>
          <a:prstGeom prst="straightConnector1">
            <a:avLst/>
          </a:prstGeom>
          <a:ln w="31750">
            <a:solidFill>
              <a:srgbClr val="FF000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4AE1C3A4-CF6D-47C2-96C5-15774E28DE0B}"/>
              </a:ext>
            </a:extLst>
          </p:cNvPr>
          <p:cNvCxnSpPr/>
          <p:nvPr/>
        </p:nvCxnSpPr>
        <p:spPr>
          <a:xfrm>
            <a:off x="6432550" y="4814888"/>
            <a:ext cx="444500" cy="1587"/>
          </a:xfrm>
          <a:prstGeom prst="line">
            <a:avLst/>
          </a:prstGeom>
          <a:ln w="38100">
            <a:solidFill>
              <a:srgbClr val="0000CC"/>
            </a:solidFill>
            <a:headEnd type="stealth" w="med" len="lg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组合 57">
            <a:extLst>
              <a:ext uri="{FF2B5EF4-FFF2-40B4-BE49-F238E27FC236}">
                <a16:creationId xmlns:a16="http://schemas.microsoft.com/office/drawing/2014/main" id="{2397964E-155A-4DF8-A209-BC4AB6203F24}"/>
              </a:ext>
            </a:extLst>
          </p:cNvPr>
          <p:cNvGrpSpPr>
            <a:grpSpLocks/>
          </p:cNvGrpSpPr>
          <p:nvPr/>
        </p:nvGrpSpPr>
        <p:grpSpPr bwMode="auto">
          <a:xfrm>
            <a:off x="4367213" y="2981325"/>
            <a:ext cx="2493962" cy="2101850"/>
            <a:chOff x="2374072" y="2139950"/>
            <a:chExt cx="2493037" cy="2801938"/>
          </a:xfrm>
        </p:grpSpPr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00699B07-E4FE-45B7-BE6D-3CF6D3CBCFCB}"/>
                </a:ext>
              </a:extLst>
            </p:cNvPr>
            <p:cNvCxnSpPr/>
            <p:nvPr/>
          </p:nvCxnSpPr>
          <p:spPr>
            <a:xfrm rot="10800000">
              <a:off x="2421679" y="4939772"/>
              <a:ext cx="2445430" cy="211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B3FEA7BC-9E80-4746-9414-A6448D63F20A}"/>
                </a:ext>
              </a:extLst>
            </p:cNvPr>
            <p:cNvCxnSpPr/>
            <p:nvPr/>
          </p:nvCxnSpPr>
          <p:spPr>
            <a:xfrm rot="10800000" flipV="1">
              <a:off x="2382006" y="2139950"/>
              <a:ext cx="1563108" cy="48885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81211ABD-868D-414D-8AC0-69E9A2BCE382}"/>
                </a:ext>
              </a:extLst>
            </p:cNvPr>
            <p:cNvCxnSpPr/>
            <p:nvPr/>
          </p:nvCxnSpPr>
          <p:spPr>
            <a:xfrm rot="16200000" flipV="1">
              <a:off x="1240807" y="3762074"/>
              <a:ext cx="2310964" cy="44434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组合 58">
            <a:extLst>
              <a:ext uri="{FF2B5EF4-FFF2-40B4-BE49-F238E27FC236}">
                <a16:creationId xmlns:a16="http://schemas.microsoft.com/office/drawing/2014/main" id="{CF2141C0-4EDC-426E-9DD4-9CEDD9537739}"/>
              </a:ext>
            </a:extLst>
          </p:cNvPr>
          <p:cNvGrpSpPr>
            <a:grpSpLocks/>
          </p:cNvGrpSpPr>
          <p:nvPr/>
        </p:nvGrpSpPr>
        <p:grpSpPr bwMode="auto">
          <a:xfrm>
            <a:off x="5186363" y="3548063"/>
            <a:ext cx="668337" cy="935037"/>
            <a:chOff x="3193256" y="2895600"/>
            <a:chExt cx="667544" cy="1245394"/>
          </a:xfrm>
        </p:grpSpPr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5795BBBD-FED2-4777-AF82-2D62508BFF60}"/>
                </a:ext>
              </a:extLst>
            </p:cNvPr>
            <p:cNvCxnSpPr/>
            <p:nvPr/>
          </p:nvCxnSpPr>
          <p:spPr>
            <a:xfrm rot="10800000" flipV="1">
              <a:off x="3194841" y="2895600"/>
              <a:ext cx="665959" cy="177611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3194750C-C1CE-4E90-BF6E-16649AA5CDCF}"/>
                </a:ext>
              </a:extLst>
            </p:cNvPr>
            <p:cNvCxnSpPr/>
            <p:nvPr/>
          </p:nvCxnSpPr>
          <p:spPr>
            <a:xfrm rot="5400000">
              <a:off x="2661215" y="3607366"/>
              <a:ext cx="1065669" cy="1585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0BCFC36F-3BCA-4DFB-A42E-28C3B5DBE5E6}"/>
              </a:ext>
            </a:extLst>
          </p:cNvPr>
          <p:cNvCxnSpPr/>
          <p:nvPr/>
        </p:nvCxnSpPr>
        <p:spPr>
          <a:xfrm rot="5400000" flipH="1" flipV="1">
            <a:off x="6861175" y="4565650"/>
            <a:ext cx="300038" cy="1588"/>
          </a:xfrm>
          <a:prstGeom prst="straightConnector1">
            <a:avLst/>
          </a:prstGeom>
          <a:ln w="31750">
            <a:solidFill>
              <a:srgbClr val="C00000"/>
            </a:solidFill>
            <a:headEnd type="none" w="med" len="lg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BB288987-11AB-4AD5-889F-881978B3935C}"/>
              </a:ext>
            </a:extLst>
          </p:cNvPr>
          <p:cNvCxnSpPr>
            <a:stCxn id="16" idx="3"/>
          </p:cNvCxnSpPr>
          <p:nvPr/>
        </p:nvCxnSpPr>
        <p:spPr>
          <a:xfrm flipV="1">
            <a:off x="5276850" y="3481388"/>
            <a:ext cx="622300" cy="20637"/>
          </a:xfrm>
          <a:prstGeom prst="straightConnector1">
            <a:avLst/>
          </a:prstGeom>
          <a:ln w="31750">
            <a:solidFill>
              <a:srgbClr val="C0000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50">
            <a:extLst>
              <a:ext uri="{FF2B5EF4-FFF2-40B4-BE49-F238E27FC236}">
                <a16:creationId xmlns:a16="http://schemas.microsoft.com/office/drawing/2014/main" id="{0AB9FD5A-F1E4-4B04-9F1B-397A4E85C6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6138" y="3914775"/>
            <a:ext cx="8890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</a:rPr>
              <a:t>旋转</a:t>
            </a:r>
            <a:endParaRPr lang="en-US" altLang="zh-CN" sz="1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/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</a:rPr>
              <a:t>支撑座</a:t>
            </a:r>
          </a:p>
        </p:txBody>
      </p:sp>
      <p:grpSp>
        <p:nvGrpSpPr>
          <p:cNvPr id="33" name="组合 52">
            <a:extLst>
              <a:ext uri="{FF2B5EF4-FFF2-40B4-BE49-F238E27FC236}">
                <a16:creationId xmlns:a16="http://schemas.microsoft.com/office/drawing/2014/main" id="{85609C52-0EA7-482D-888F-F03CF1FEB5B6}"/>
              </a:ext>
            </a:extLst>
          </p:cNvPr>
          <p:cNvGrpSpPr>
            <a:grpSpLocks/>
          </p:cNvGrpSpPr>
          <p:nvPr/>
        </p:nvGrpSpPr>
        <p:grpSpPr bwMode="auto">
          <a:xfrm>
            <a:off x="9099550" y="2012950"/>
            <a:ext cx="1511300" cy="585788"/>
            <a:chOff x="6794500" y="584200"/>
            <a:chExt cx="1778000" cy="914400"/>
          </a:xfrm>
        </p:grpSpPr>
        <p:sp>
          <p:nvSpPr>
            <p:cNvPr id="34" name="云形 33">
              <a:extLst>
                <a:ext uri="{FF2B5EF4-FFF2-40B4-BE49-F238E27FC236}">
                  <a16:creationId xmlns:a16="http://schemas.microsoft.com/office/drawing/2014/main" id="{E9A4D90B-4C08-478D-8393-D613831D221D}"/>
                </a:ext>
              </a:extLst>
            </p:cNvPr>
            <p:cNvSpPr/>
            <p:nvPr/>
          </p:nvSpPr>
          <p:spPr>
            <a:xfrm>
              <a:off x="6794500" y="584200"/>
              <a:ext cx="1778000" cy="914400"/>
            </a:xfrm>
            <a:prstGeom prst="cloud">
              <a:avLst/>
            </a:prstGeom>
            <a:gradFill flip="none" rotWithShape="1">
              <a:gsLst>
                <a:gs pos="0">
                  <a:srgbClr val="03D4A8"/>
                </a:gs>
                <a:gs pos="25000">
                  <a:srgbClr val="21D6E0"/>
                </a:gs>
                <a:gs pos="75000">
                  <a:srgbClr val="0087E6"/>
                </a:gs>
                <a:gs pos="100000">
                  <a:srgbClr val="005CBF"/>
                </a:gs>
              </a:gsLst>
              <a:lin ang="54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9247" name="TextBox 51">
              <a:extLst>
                <a:ext uri="{FF2B5EF4-FFF2-40B4-BE49-F238E27FC236}">
                  <a16:creationId xmlns:a16="http://schemas.microsoft.com/office/drawing/2014/main" id="{3E0ED575-FAF5-4E3F-AC3B-D21E0BD846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94551" y="850900"/>
              <a:ext cx="889000" cy="4804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10287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10287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10287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10287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b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云层</a:t>
              </a:r>
            </a:p>
          </p:txBody>
        </p:sp>
      </p:grpSp>
      <p:sp>
        <p:nvSpPr>
          <p:cNvPr id="36" name="TextBox 56">
            <a:extLst>
              <a:ext uri="{FF2B5EF4-FFF2-40B4-BE49-F238E27FC236}">
                <a16:creationId xmlns:a16="http://schemas.microsoft.com/office/drawing/2014/main" id="{AFA168A1-6231-4E27-8566-958572991C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4600" y="5726113"/>
            <a:ext cx="2667000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 </a:t>
            </a:r>
            <a:r>
              <a:rPr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激光雷达</a:t>
            </a:r>
          </a:p>
        </p:txBody>
      </p:sp>
      <p:sp>
        <p:nvSpPr>
          <p:cNvPr id="37" name="TextBox 54">
            <a:extLst>
              <a:ext uri="{FF2B5EF4-FFF2-40B4-BE49-F238E27FC236}">
                <a16:creationId xmlns:a16="http://schemas.microsoft.com/office/drawing/2014/main" id="{3BF024AB-F891-470B-8C20-AE04705943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125" y="2547938"/>
            <a:ext cx="3432175" cy="184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500"/>
              </a:lnSpc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由激光发射机、光学接收机、转台、光电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信息处理系统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和计算机等组成。</a:t>
            </a:r>
          </a:p>
        </p:txBody>
      </p:sp>
      <p:sp>
        <p:nvSpPr>
          <p:cNvPr id="38" name="TextBox 55">
            <a:extLst>
              <a:ext uri="{FF2B5EF4-FFF2-40B4-BE49-F238E27FC236}">
                <a16:creationId xmlns:a16="http://schemas.microsoft.com/office/drawing/2014/main" id="{56593269-F382-4791-B8EB-7A33A48F22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1563" y="2992438"/>
            <a:ext cx="4384675" cy="319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500"/>
              </a:lnSpc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激光器将电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脉冲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变成光脉冲发射出去，光接收机再把从目标（大气分子，气溶胶，云等）反射回来的光脉冲还原成电脉冲，并转换成数字信号，由计算机处理，以测量散射体的距离、浓度、速度和形状。</a:t>
            </a:r>
          </a:p>
        </p:txBody>
      </p:sp>
      <p:sp>
        <p:nvSpPr>
          <p:cNvPr id="39" name="TextBox 56">
            <a:extLst>
              <a:ext uri="{FF2B5EF4-FFF2-40B4-BE49-F238E27FC236}">
                <a16:creationId xmlns:a16="http://schemas.microsoft.com/office/drawing/2014/main" id="{68FFE194-8BCC-46BC-97B5-1E88D78B01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125" y="4760913"/>
            <a:ext cx="3292475" cy="950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500"/>
              </a:lnSpc>
            </a:pPr>
            <a:r>
              <a:rPr lang="zh-CN" altLang="en-US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激光束扫描目标区以获得一个三维空间分布。</a:t>
            </a:r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B266D898-103E-4BA7-AD0E-29A0269958D6}"/>
              </a:ext>
            </a:extLst>
          </p:cNvPr>
          <p:cNvCxnSpPr>
            <a:stCxn id="17" idx="0"/>
          </p:cNvCxnSpPr>
          <p:nvPr/>
        </p:nvCxnSpPr>
        <p:spPr>
          <a:xfrm flipV="1">
            <a:off x="6165850" y="3616325"/>
            <a:ext cx="1588" cy="298450"/>
          </a:xfrm>
          <a:prstGeom prst="straightConnector1">
            <a:avLst/>
          </a:prstGeom>
          <a:ln w="3175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DD1B6262-FBD7-4FB9-8F54-F44E3A75E611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42" name="文本框 60">
              <a:extLst>
                <a:ext uri="{FF2B5EF4-FFF2-40B4-BE49-F238E27FC236}">
                  <a16:creationId xmlns:a16="http://schemas.microsoft.com/office/drawing/2014/main" id="{07BB611A-C589-4002-AA52-0280A97F75A9}"/>
                </a:ext>
              </a:extLst>
            </p:cNvPr>
            <p:cNvSpPr txBox="1"/>
            <p:nvPr/>
          </p:nvSpPr>
          <p:spPr>
            <a:xfrm>
              <a:off x="1364781" y="293282"/>
              <a:ext cx="3196132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光电倍增管应用</a:t>
              </a: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4F8A376B-B7BE-406C-B38B-A8C0C6F06975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B109969E-EE31-4214-924F-CA89145A0CCF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: 圆角 45">
              <a:extLst>
                <a:ext uri="{FF2B5EF4-FFF2-40B4-BE49-F238E27FC236}">
                  <a16:creationId xmlns:a16="http://schemas.microsoft.com/office/drawing/2014/main" id="{AB6C330C-CD51-43E0-9493-C849C9CF91DB}"/>
                </a:ext>
              </a:extLst>
            </p:cNvPr>
            <p:cNvSpPr/>
            <p:nvPr/>
          </p:nvSpPr>
          <p:spPr>
            <a:xfrm>
              <a:off x="432517" y="293282"/>
              <a:ext cx="852107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5.5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47" name="直接连接符 58">
              <a:extLst>
                <a:ext uri="{FF2B5EF4-FFF2-40B4-BE49-F238E27FC236}">
                  <a16:creationId xmlns:a16="http://schemas.microsoft.com/office/drawing/2014/main" id="{FA6EE12E-CC9B-44C1-B093-F2919DB760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50506" y="695281"/>
              <a:ext cx="2999293" cy="15717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4D5F16BC-BB67-43CC-B23B-AF591531C010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CAC3D004-FE37-4920-8B13-F6F7B50250D5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animBg="1"/>
      <p:bldP spid="17" grpId="0"/>
      <p:bldP spid="18" grpId="0" animBg="1"/>
      <p:bldP spid="19" grpId="0" animBg="1"/>
      <p:bldP spid="32" grpId="0"/>
      <p:bldP spid="36" grpId="0"/>
      <p:bldP spid="37" grpId="0"/>
      <p:bldP spid="38" grpId="0"/>
      <p:bldP spid="39" grpId="0"/>
    </p:bldLst>
  </p:timing>
</p:sld>
</file>

<file path=ppt/theme/theme1.xml><?xml version="1.0" encoding="utf-8"?>
<a:theme xmlns:a="http://schemas.openxmlformats.org/drawingml/2006/main" name="光电技术模板-2015-6-18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Phoenix</Template>
  <TotalTime>158</TotalTime>
  <Words>556</Words>
  <Application>Microsoft Office PowerPoint</Application>
  <PresentationFormat>自定义</PresentationFormat>
  <Paragraphs>90</Paragraphs>
  <Slides>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宋体</vt:lpstr>
      <vt:lpstr>Calibri Light</vt:lpstr>
      <vt:lpstr>Calibri</vt:lpstr>
      <vt:lpstr>华文彩云</vt:lpstr>
      <vt:lpstr>Times New Roman</vt:lpstr>
      <vt:lpstr>微软雅黑</vt:lpstr>
      <vt:lpstr>Tahoma</vt:lpstr>
      <vt:lpstr>华文行楷</vt:lpstr>
      <vt:lpstr>楷体_GB2312</vt:lpstr>
      <vt:lpstr>光电技术模板-2015-6-18</vt:lpstr>
      <vt:lpstr>Microsoft Visio 绘图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微软用户</dc:creator>
  <cp:lastModifiedBy>yp yang</cp:lastModifiedBy>
  <cp:revision>31</cp:revision>
  <dcterms:created xsi:type="dcterms:W3CDTF">2015-06-18T01:42:52Z</dcterms:created>
  <dcterms:modified xsi:type="dcterms:W3CDTF">2022-05-02T05:53:24Z</dcterms:modified>
</cp:coreProperties>
</file>