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27"/>
  </p:notesMasterIdLst>
  <p:handoutMasterIdLst>
    <p:handoutMasterId r:id="rId28"/>
  </p:handoutMasterIdLst>
  <p:sldIdLst>
    <p:sldId id="410" r:id="rId2"/>
    <p:sldId id="312" r:id="rId3"/>
    <p:sldId id="419" r:id="rId4"/>
    <p:sldId id="313" r:id="rId5"/>
    <p:sldId id="414" r:id="rId6"/>
    <p:sldId id="315" r:id="rId7"/>
    <p:sldId id="316" r:id="rId8"/>
    <p:sldId id="317" r:id="rId9"/>
    <p:sldId id="385" r:id="rId10"/>
    <p:sldId id="416" r:id="rId11"/>
    <p:sldId id="386" r:id="rId12"/>
    <p:sldId id="319" r:id="rId13"/>
    <p:sldId id="320" r:id="rId14"/>
    <p:sldId id="417" r:id="rId15"/>
    <p:sldId id="418" r:id="rId16"/>
    <p:sldId id="413" r:id="rId17"/>
    <p:sldId id="350" r:id="rId18"/>
    <p:sldId id="415" r:id="rId19"/>
    <p:sldId id="353" r:id="rId20"/>
    <p:sldId id="354" r:id="rId21"/>
    <p:sldId id="364" r:id="rId22"/>
    <p:sldId id="355" r:id="rId23"/>
    <p:sldId id="365" r:id="rId24"/>
    <p:sldId id="356" r:id="rId25"/>
    <p:sldId id="358" r:id="rId26"/>
  </p:sldIdLst>
  <p:sldSz cx="13717588" cy="77152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68584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137169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20575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27433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3429229" algn="l" defTabSz="1371691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4115074" algn="l" defTabSz="1371691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4800920" algn="l" defTabSz="1371691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5486766" algn="l" defTabSz="1371691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66"/>
    <a:srgbClr val="66FFCC"/>
    <a:srgbClr val="FFFFCC"/>
    <a:srgbClr val="FF33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0" autoAdjust="0"/>
  </p:normalViewPr>
  <p:slideViewPr>
    <p:cSldViewPr>
      <p:cViewPr varScale="1">
        <p:scale>
          <a:sx n="95" d="100"/>
          <a:sy n="95" d="100"/>
        </p:scale>
        <p:origin x="2238" y="78"/>
      </p:cViewPr>
      <p:guideLst>
        <p:guide orient="horz" pos="2430"/>
        <p:guide pos="43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E6A7F577-EE39-480A-B0F1-CA34551667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9722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5AE8CE42-DC69-43B2-A50E-F6FEC7365C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4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685846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1371691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2057537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2743383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3429229" algn="l" defTabSz="13716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5074" algn="l" defTabSz="13716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920" algn="l" defTabSz="13716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766" algn="l" defTabSz="13716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E8CE42-DC69-43B2-A50E-F6FEC7365C5D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46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242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743277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487035" y="7024094"/>
            <a:ext cx="4343903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564448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fld id="{05ECD1A2-148D-4D53-8C7E-6BA075A387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blinds dir="vert"/>
    <p:sndAc>
      <p:stSnd>
        <p:snd r:embed="rId1" name="projctor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6609" y="241103"/>
            <a:ext cx="11690909" cy="1644848"/>
          </a:xfrm>
          <a:prstGeom prst="rect">
            <a:avLst/>
          </a:prstGeom>
        </p:spPr>
        <p:txBody>
          <a:bodyPr lIns="137169" tIns="68585" rIns="137169" bIns="6858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4237" y="2269928"/>
            <a:ext cx="11659950" cy="4629150"/>
          </a:xfrm>
          <a:prstGeom prst="rect">
            <a:avLst/>
          </a:prstGeom>
        </p:spPr>
        <p:txBody>
          <a:bodyPr lIns="137169" tIns="68585" rIns="137169" bIns="68585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743277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487035" y="7024094"/>
            <a:ext cx="4343903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564448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fld id="{59351ADD-3AF7-42CE-B9B6-276FE511CB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blinds dir="vert"/>
    <p:sndAc>
      <p:stSnd>
        <p:snd r:embed="rId1" name="projctor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6609" y="241103"/>
            <a:ext cx="11690909" cy="1644848"/>
          </a:xfrm>
          <a:prstGeom prst="rect">
            <a:avLst/>
          </a:prstGeom>
        </p:spPr>
        <p:txBody>
          <a:bodyPr lIns="137169" tIns="68585" rIns="137169" bIns="6858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774237" y="2269928"/>
            <a:ext cx="11659950" cy="4629150"/>
          </a:xfrm>
          <a:prstGeom prst="rect">
            <a:avLst/>
          </a:prstGeom>
        </p:spPr>
        <p:txBody>
          <a:bodyPr lIns="137169" tIns="68585" rIns="137169" bIns="68585"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743277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487035" y="7024094"/>
            <a:ext cx="4343903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564448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fld id="{FC4ADE62-DADA-45DE-A123-B5283E43CE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blinds dir="vert"/>
    <p:sndAc>
      <p:stSnd>
        <p:snd r:embed="rId1" name="projctor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6609" y="241103"/>
            <a:ext cx="11690909" cy="1644848"/>
          </a:xfrm>
          <a:prstGeom prst="rect">
            <a:avLst/>
          </a:prstGeom>
        </p:spPr>
        <p:txBody>
          <a:bodyPr lIns="137169" tIns="68585" rIns="137169" bIns="6858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74237" y="2269928"/>
            <a:ext cx="5715662" cy="4629150"/>
          </a:xfrm>
          <a:prstGeom prst="rect">
            <a:avLst/>
          </a:prstGeom>
        </p:spPr>
        <p:txBody>
          <a:bodyPr lIns="137169" tIns="68585" rIns="137169" bIns="68585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7718525" y="2269928"/>
            <a:ext cx="5715662" cy="4629150"/>
          </a:xfrm>
          <a:prstGeom prst="rect">
            <a:avLst/>
          </a:prstGeom>
        </p:spPr>
        <p:txBody>
          <a:bodyPr lIns="137169" tIns="68585" rIns="137169" bIns="68585"/>
          <a:lstStyle/>
          <a:p>
            <a:pPr lvl="0"/>
            <a:endParaRPr lang="zh-CN" altLang="en-US" noProof="0" smtClean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743277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487035" y="7024094"/>
            <a:ext cx="4343903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564448" y="7024094"/>
            <a:ext cx="2857831" cy="514350"/>
          </a:xfrm>
          <a:prstGeom prst="rect">
            <a:avLst/>
          </a:prstGeom>
          <a:ln/>
        </p:spPr>
        <p:txBody>
          <a:bodyPr lIns="137169" tIns="68585" rIns="137169" bIns="68585"/>
          <a:lstStyle>
            <a:lvl1pPr>
              <a:defRPr/>
            </a:lvl1pPr>
          </a:lstStyle>
          <a:p>
            <a:pPr>
              <a:defRPr/>
            </a:pPr>
            <a:fld id="{B1F64037-E5EE-4F61-A2EF-4983D16830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blinds dir="vert"/>
    <p:sndAc>
      <p:stSnd>
        <p:snd r:embed="rId1" name="projctor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0" y="0"/>
            <a:ext cx="277082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169" tIns="68585" rIns="137169" bIns="68585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2200275"/>
            <a:ext cx="13717588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69" tIns="68585" rIns="137169" bIns="68585" anchor="ctr">
            <a:spAutoFit/>
          </a:bodyPr>
          <a:lstStyle/>
          <a:p>
            <a:endParaRPr lang="zh-CN" altLang="en-US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3429000"/>
            <a:ext cx="277082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169" tIns="68585" rIns="137169" bIns="68585" anchor="ctr">
            <a:spAutoFit/>
          </a:bodyPr>
          <a:lstStyle/>
          <a:p>
            <a:endParaRPr lang="zh-CN" altLang="en-US"/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0" y="4471988"/>
            <a:ext cx="277082" cy="4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169" tIns="68585" rIns="137169" bIns="68585" anchor="ctr">
            <a:spAutoFit/>
          </a:bodyPr>
          <a:lstStyle/>
          <a:p>
            <a:endParaRPr lang="zh-CN" altLang="zh-CN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</p:sldLayoutIdLst>
  <p:transition spd="slow">
    <p:blinds dir="vert"/>
    <p:sndAc>
      <p:stSnd>
        <p:snd r:embed="rId7" name="projctor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685846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371691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2057537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743383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514384" indent="-51438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99" indent="-42865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614" indent="-3429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460" indent="-3429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306" indent="-3429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2151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997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843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689" indent="-342923" algn="l" defTabSz="1371691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6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91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537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383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229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5074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920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766" algn="l" defTabSz="137169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358332" y="3397018"/>
            <a:ext cx="871543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低噪声前置放大器选用与设计原则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358068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43445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701397" y="1697385"/>
            <a:ext cx="12422818" cy="432048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在光电系统中，紧接着</a:t>
            </a:r>
            <a:r>
              <a:rPr lang="zh-CN" altLang="en-US" sz="36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光电探测器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后面的就是</a:t>
            </a:r>
            <a:r>
              <a:rPr lang="zh-CN" altLang="en-US" sz="3600" b="1" dirty="0" smtClean="0">
                <a:solidFill>
                  <a:srgbClr val="FF0066"/>
                </a:solidFill>
                <a:latin typeface="华文彩云" pitchFamily="2" charset="-122"/>
                <a:ea typeface="华文彩云" pitchFamily="2" charset="-122"/>
              </a:rPr>
              <a:t>耦合网络</a:t>
            </a:r>
            <a:r>
              <a:rPr lang="zh-CN" altLang="en-US" sz="36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36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前置放大器</a:t>
            </a:r>
            <a:r>
              <a:rPr lang="zh-CN" altLang="en-US" sz="36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36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为了将探测器输出的微弱光电信号放大，必须合理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地</a:t>
            </a:r>
            <a:r>
              <a:rPr lang="zh-CN" altLang="en-US" sz="36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选用</a:t>
            </a:r>
            <a:r>
              <a:rPr lang="zh-CN" altLang="en-US" sz="3600" b="1" dirty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和</a:t>
            </a:r>
            <a:r>
              <a:rPr lang="zh-CN" altLang="en-US" sz="36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设计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低噪声前置放大器，</a:t>
            </a:r>
            <a:r>
              <a:rPr lang="zh-CN" altLang="en-US" sz="36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以保证放大器的输入端和输出端有足够大的</a:t>
            </a:r>
            <a:r>
              <a:rPr lang="zh-CN" altLang="en-US" sz="42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信噪比</a:t>
            </a:r>
            <a:r>
              <a:rPr lang="zh-CN" altLang="en-US" sz="3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36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781642" y="3101542"/>
            <a:ext cx="10586402" cy="1120325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低噪声前置运算放大器的选用方法</a:t>
            </a: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21315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1241521" y="1049313"/>
            <a:ext cx="5845326" cy="756084"/>
          </a:xfrm>
        </p:spPr>
        <p:txBody>
          <a:bodyPr lIns="0" tIns="0" rIns="0" bIns="0"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1  </a:t>
            </a:r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根据</a:t>
            </a:r>
            <a:r>
              <a:rPr lang="en-US" altLang="zh-CN" sz="3600" b="1" dirty="0" err="1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25000" dirty="0" err="1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3600" b="1" dirty="0" err="1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3600" b="1" baseline="-25000" dirty="0" err="1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</a:t>
            </a:r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来选用前放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701397" y="1913409"/>
            <a:ext cx="12059488" cy="4428492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噪声系数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是用来描述放大器（或一个器件）噪声性能的参数，如果一个放大器是理想的无噪声的放大器，那么，它的噪声系数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NF=1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NF=0dB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，一个实际的质量好的低噪声前置放大器其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值可以做到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0.05dB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，甚至更低。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生产厂商在出售低噪声前放时，都附有相关的技术资料，其中就包括提供各种测试条件下</a:t>
            </a:r>
            <a:r>
              <a:rPr lang="zh-CN" altLang="en-US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 </a:t>
            </a:r>
          </a:p>
        </p:txBody>
      </p:sp>
      <p:sp>
        <p:nvSpPr>
          <p:cNvPr id="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025471" y="1157325"/>
            <a:ext cx="9074058" cy="648072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根据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值来计算低噪声前放的</a:t>
            </a:r>
            <a:r>
              <a:rPr lang="zh-CN" altLang="en-US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等效输入噪声</a:t>
            </a:r>
            <a:r>
              <a:rPr lang="en-US" altLang="zh-CN" sz="3000" b="1" dirty="0" err="1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endParaRPr lang="zh-CN" altLang="en-US" sz="30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09422" y="3287412"/>
            <a:ext cx="5077152" cy="756084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采用分贝表示的噪声系数：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09422" y="5369794"/>
            <a:ext cx="12206769" cy="1493159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此式表明：如果已知前放的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值，信号源的源电阻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及带宽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3000" b="1" i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（在其中心频率</a:t>
            </a:r>
            <a:r>
              <a:rPr lang="en-US" altLang="zh-CN" sz="30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附近）则放大器的等效输入噪声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即可求出。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362488"/>
              </p:ext>
            </p:extLst>
          </p:nvPr>
        </p:nvGraphicFramePr>
        <p:xfrm>
          <a:off x="1800434" y="2043113"/>
          <a:ext cx="4713040" cy="86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1" name="公式" r:id="rId3" imgW="1511280" imgH="457200" progId="Equation.3">
                  <p:embed/>
                </p:oleObj>
              </mc:Choice>
              <mc:Fallback>
                <p:oleObj name="公式" r:id="rId3" imgW="1511280" imgH="45720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434" y="2043113"/>
                        <a:ext cx="4713040" cy="8643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06417"/>
              </p:ext>
            </p:extLst>
          </p:nvPr>
        </p:nvGraphicFramePr>
        <p:xfrm>
          <a:off x="5895897" y="3151250"/>
          <a:ext cx="3412727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2" name="公式" r:id="rId5" imgW="1434960" imgH="457200" progId="Equation.3">
                  <p:embed/>
                </p:oleObj>
              </mc:Choice>
              <mc:Fallback>
                <p:oleObj name="公式" r:id="rId5" imgW="1434960" imgH="45720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897" y="3151250"/>
                        <a:ext cx="3412727" cy="8143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754807"/>
              </p:ext>
            </p:extLst>
          </p:nvPr>
        </p:nvGraphicFramePr>
        <p:xfrm>
          <a:off x="2105716" y="4397686"/>
          <a:ext cx="5029782" cy="840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3" r:id="rId7" imgW="1422400" imgH="368300" progId="Equation.3">
                  <p:embed/>
                </p:oleObj>
              </mc:Choice>
              <mc:Fallback>
                <p:oleObj r:id="rId7" imgW="1422400" imgH="36830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716" y="4397686"/>
                        <a:ext cx="5029782" cy="840581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87796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377324" y="1481361"/>
            <a:ext cx="13019659" cy="4536504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0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●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已知放大器等效</a:t>
            </a:r>
            <a:r>
              <a:rPr lang="zh-CN" altLang="en-US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输入噪声</a:t>
            </a:r>
            <a:r>
              <a:rPr lang="en-US" altLang="zh-CN" sz="3000" b="1" dirty="0" err="1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的大小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，将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和放大器输入端的信号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进行比较，就可判定这个放大器是否符合要求；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一般是根据系统对（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）的比值的要求来选定放大器的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值。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30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●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要提请注意的是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值和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的大小都是和</a:t>
            </a:r>
            <a:r>
              <a:rPr lang="zh-CN" altLang="en-US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源电阻及带宽</a:t>
            </a:r>
            <a:r>
              <a:rPr lang="en-US" altLang="zh-CN" sz="3000" b="1" dirty="0" err="1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3000" b="1" i="1" dirty="0" err="1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3000" b="1" i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0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密切相关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其中带宽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3000" b="1" i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是由系统的需要所确定的，并且是由系统中的某一部件，例如带通滤波器或者前放本身所决定的。 </a:t>
            </a: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39"/>
          <p:cNvGrpSpPr>
            <a:grpSpLocks/>
          </p:cNvGrpSpPr>
          <p:nvPr/>
        </p:nvGrpSpPr>
        <p:grpSpPr bwMode="auto">
          <a:xfrm>
            <a:off x="1829012" y="2400300"/>
            <a:ext cx="10173878" cy="4536282"/>
            <a:chOff x="-3" y="-3"/>
            <a:chExt cx="1686" cy="1529"/>
          </a:xfrm>
        </p:grpSpPr>
        <p:grpSp>
          <p:nvGrpSpPr>
            <p:cNvPr id="50184" name="Group 37"/>
            <p:cNvGrpSpPr>
              <a:grpSpLocks/>
            </p:cNvGrpSpPr>
            <p:nvPr/>
          </p:nvGrpSpPr>
          <p:grpSpPr bwMode="auto">
            <a:xfrm>
              <a:off x="0" y="0"/>
              <a:ext cx="1680" cy="1523"/>
              <a:chOff x="0" y="0"/>
              <a:chExt cx="1680" cy="1523"/>
            </a:xfrm>
          </p:grpSpPr>
          <p:grpSp>
            <p:nvGrpSpPr>
              <p:cNvPr id="50186" name="Group 20"/>
              <p:cNvGrpSpPr>
                <a:grpSpLocks/>
              </p:cNvGrpSpPr>
              <p:nvPr/>
            </p:nvGrpSpPr>
            <p:grpSpPr bwMode="auto">
              <a:xfrm>
                <a:off x="0" y="0"/>
                <a:ext cx="624" cy="581"/>
                <a:chOff x="0" y="0"/>
                <a:chExt cx="624" cy="581"/>
              </a:xfrm>
            </p:grpSpPr>
            <p:sp>
              <p:nvSpPr>
                <p:cNvPr id="50211" name="Rectangle 9"/>
                <p:cNvSpPr>
                  <a:spLocks noChangeArrowheads="1"/>
                </p:cNvSpPr>
                <p:nvPr/>
              </p:nvSpPr>
              <p:spPr bwMode="auto">
                <a:xfrm>
                  <a:off x="25" y="61"/>
                  <a:ext cx="447" cy="5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indent="600115" algn="just"/>
                  <a:endParaRPr kumimoji="1" lang="en-US" altLang="zh-CN" sz="15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  <a:p>
                  <a:pPr indent="600115" algn="just"/>
                  <a:r>
                    <a:rPr kumimoji="1" lang="en-US" altLang="zh-CN" sz="1500" b="1" dirty="0" smtClean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     </a:t>
                  </a:r>
                  <a:r>
                    <a:rPr kumimoji="1" lang="en-US" altLang="zh-CN" b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E</a:t>
                  </a:r>
                  <a:r>
                    <a:rPr kumimoji="1" lang="en-US" altLang="zh-CN" b="1" baseline="-30000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ni</a:t>
                  </a:r>
                  <a:endParaRPr kumimoji="1" lang="en-US" altLang="zh-CN" b="1" baseline="-30000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  <a:p>
                  <a:pPr indent="600115" algn="just"/>
                  <a:endParaRPr kumimoji="1" lang="en-US" altLang="zh-CN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  <a:p>
                  <a:pPr indent="600115" algn="just" eaLnBrk="0" hangingPunct="0"/>
                  <a:r>
                    <a:rPr kumimoji="1" lang="en-US" altLang="zh-CN" sz="2400" b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Δ</a:t>
                  </a:r>
                  <a:r>
                    <a:rPr kumimoji="1" lang="en-US" altLang="zh-CN" sz="2400" b="1" i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f</a:t>
                  </a:r>
                  <a:r>
                    <a:rPr kumimoji="1" lang="zh-CN" altLang="en-US" sz="24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，</a:t>
                  </a:r>
                  <a:r>
                    <a:rPr kumimoji="1" lang="en-US" altLang="zh-CN" sz="2400" b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R</a:t>
                  </a:r>
                  <a:r>
                    <a:rPr kumimoji="1" lang="en-US" altLang="zh-CN" sz="2400" b="1" baseline="-30000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s</a:t>
                  </a:r>
                  <a:endParaRPr kumimoji="1" lang="en-US" altLang="zh-CN" sz="24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  <a:p>
                  <a:pPr indent="600115" algn="just" eaLnBrk="0" hangingPunct="0"/>
                  <a:endParaRPr kumimoji="1" lang="en-US" altLang="zh-CN" sz="24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212" name="Rectangle 1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58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87" name="Group 22"/>
              <p:cNvGrpSpPr>
                <a:grpSpLocks/>
              </p:cNvGrpSpPr>
              <p:nvPr/>
            </p:nvGrpSpPr>
            <p:grpSpPr bwMode="auto">
              <a:xfrm>
                <a:off x="624" y="0"/>
                <a:ext cx="528" cy="581"/>
                <a:chOff x="624" y="0"/>
                <a:chExt cx="528" cy="581"/>
              </a:xfrm>
            </p:grpSpPr>
            <p:sp>
              <p:nvSpPr>
                <p:cNvPr id="50209" name="Rectangle 11"/>
                <p:cNvSpPr>
                  <a:spLocks noChangeArrowheads="1"/>
                </p:cNvSpPr>
                <p:nvPr/>
              </p:nvSpPr>
              <p:spPr bwMode="auto">
                <a:xfrm>
                  <a:off x="667" y="0"/>
                  <a:ext cx="442" cy="5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r>
                    <a:rPr kumimoji="1" lang="zh-CN" altLang="en-US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放大器</a:t>
                  </a:r>
                  <a:r>
                    <a:rPr kumimoji="1" lang="en-US" altLang="zh-CN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1  N</a:t>
                  </a:r>
                  <a:r>
                    <a:rPr kumimoji="1" lang="en-US" altLang="zh-CN" b="1" baseline="-30000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F</a:t>
                  </a:r>
                  <a:r>
                    <a:rPr kumimoji="1" lang="en-US" altLang="zh-CN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=20dB</a:t>
                  </a:r>
                </a:p>
                <a:p>
                  <a:pPr algn="ctr" eaLnBrk="0" hangingPunct="0"/>
                  <a:endParaRPr kumimoji="1" lang="en-US" altLang="zh-CN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210" name="Rectangle 21"/>
                <p:cNvSpPr>
                  <a:spLocks noChangeArrowheads="1"/>
                </p:cNvSpPr>
                <p:nvPr/>
              </p:nvSpPr>
              <p:spPr bwMode="auto">
                <a:xfrm>
                  <a:off x="624" y="0"/>
                  <a:ext cx="528" cy="58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88" name="Group 24"/>
              <p:cNvGrpSpPr>
                <a:grpSpLocks/>
              </p:cNvGrpSpPr>
              <p:nvPr/>
            </p:nvGrpSpPr>
            <p:grpSpPr bwMode="auto">
              <a:xfrm>
                <a:off x="1152" y="0"/>
                <a:ext cx="528" cy="581"/>
                <a:chOff x="1152" y="0"/>
                <a:chExt cx="528" cy="581"/>
              </a:xfrm>
            </p:grpSpPr>
            <p:sp>
              <p:nvSpPr>
                <p:cNvPr id="50207" name="Rectangle 12"/>
                <p:cNvSpPr>
                  <a:spLocks noChangeArrowheads="1"/>
                </p:cNvSpPr>
                <p:nvPr/>
              </p:nvSpPr>
              <p:spPr bwMode="auto">
                <a:xfrm>
                  <a:off x="1195" y="0"/>
                  <a:ext cx="442" cy="5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r>
                    <a:rPr kumimoji="1" lang="zh-CN" altLang="en-US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放大器</a:t>
                  </a:r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2  N</a:t>
                  </a:r>
                  <a:r>
                    <a:rPr kumimoji="1" lang="en-US" altLang="zh-CN" sz="3000" b="1" baseline="-30000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F</a:t>
                  </a:r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=3dB</a:t>
                  </a:r>
                </a:p>
                <a:p>
                  <a:pPr algn="ctr" eaLnBrk="0" hangingPunct="0"/>
                  <a:endParaRPr kumimoji="1" lang="en-US" altLang="zh-CN" sz="30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208" name="Rectangle 23"/>
                <p:cNvSpPr>
                  <a:spLocks noChangeArrowheads="1"/>
                </p:cNvSpPr>
                <p:nvPr/>
              </p:nvSpPr>
              <p:spPr bwMode="auto">
                <a:xfrm>
                  <a:off x="1152" y="0"/>
                  <a:ext cx="528" cy="58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89" name="Group 26"/>
              <p:cNvGrpSpPr>
                <a:grpSpLocks/>
              </p:cNvGrpSpPr>
              <p:nvPr/>
            </p:nvGrpSpPr>
            <p:grpSpPr bwMode="auto">
              <a:xfrm>
                <a:off x="0" y="581"/>
                <a:ext cx="624" cy="561"/>
                <a:chOff x="0" y="581"/>
                <a:chExt cx="624" cy="561"/>
              </a:xfrm>
            </p:grpSpPr>
            <p:sp>
              <p:nvSpPr>
                <p:cNvPr id="50205" name="Rectangle 13"/>
                <p:cNvSpPr>
                  <a:spLocks noChangeArrowheads="1"/>
                </p:cNvSpPr>
                <p:nvPr/>
              </p:nvSpPr>
              <p:spPr bwMode="auto">
                <a:xfrm>
                  <a:off x="41" y="634"/>
                  <a:ext cx="538" cy="5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r>
                    <a:rPr kumimoji="1" lang="en-US" altLang="zh-CN" sz="3000" b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R</a:t>
                  </a:r>
                  <a:r>
                    <a:rPr kumimoji="1" lang="en-US" altLang="zh-CN" sz="3000" b="1" baseline="-30000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s</a:t>
                  </a:r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=100Ω</a:t>
                  </a:r>
                </a:p>
                <a:p>
                  <a:pPr algn="ctr" eaLnBrk="0" hangingPunct="0"/>
                  <a:r>
                    <a:rPr kumimoji="1" lang="en-US" altLang="zh-CN" sz="3000" b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Δ</a:t>
                  </a:r>
                  <a:r>
                    <a:rPr kumimoji="1" lang="en-US" altLang="zh-CN" sz="3000" b="1" i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f</a:t>
                  </a:r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 =100HZ</a:t>
                  </a:r>
                </a:p>
                <a:p>
                  <a:pPr algn="ctr" eaLnBrk="0" hangingPunct="0"/>
                  <a:endParaRPr kumimoji="1" lang="en-US" altLang="zh-CN" sz="30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206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581"/>
                  <a:ext cx="624" cy="50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90" name="Group 28"/>
              <p:cNvGrpSpPr>
                <a:grpSpLocks/>
              </p:cNvGrpSpPr>
              <p:nvPr/>
            </p:nvGrpSpPr>
            <p:grpSpPr bwMode="auto">
              <a:xfrm>
                <a:off x="624" y="581"/>
                <a:ext cx="528" cy="508"/>
                <a:chOff x="624" y="581"/>
                <a:chExt cx="528" cy="508"/>
              </a:xfrm>
            </p:grpSpPr>
            <p:sp>
              <p:nvSpPr>
                <p:cNvPr id="50203" name="Rectangle 14"/>
                <p:cNvSpPr>
                  <a:spLocks noChangeArrowheads="1"/>
                </p:cNvSpPr>
                <p:nvPr/>
              </p:nvSpPr>
              <p:spPr bwMode="auto">
                <a:xfrm>
                  <a:off x="667" y="581"/>
                  <a:ext cx="442" cy="5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130nV</a:t>
                  </a:r>
                </a:p>
                <a:p>
                  <a:pPr algn="ctr" eaLnBrk="0" hangingPunct="0"/>
                  <a:endParaRPr kumimoji="1" lang="en-US" altLang="zh-CN" sz="36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204" name="Rectangle 27"/>
                <p:cNvSpPr>
                  <a:spLocks noChangeArrowheads="1"/>
                </p:cNvSpPr>
                <p:nvPr/>
              </p:nvSpPr>
              <p:spPr bwMode="auto">
                <a:xfrm>
                  <a:off x="624" y="581"/>
                  <a:ext cx="528" cy="50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91" name="Group 30"/>
              <p:cNvGrpSpPr>
                <a:grpSpLocks/>
              </p:cNvGrpSpPr>
              <p:nvPr/>
            </p:nvGrpSpPr>
            <p:grpSpPr bwMode="auto">
              <a:xfrm>
                <a:off x="1152" y="581"/>
                <a:ext cx="528" cy="508"/>
                <a:chOff x="1152" y="581"/>
                <a:chExt cx="528" cy="508"/>
              </a:xfrm>
            </p:grpSpPr>
            <p:sp>
              <p:nvSpPr>
                <p:cNvPr id="50201" name="Rectangle 15"/>
                <p:cNvSpPr>
                  <a:spLocks noChangeArrowheads="1"/>
                </p:cNvSpPr>
                <p:nvPr/>
              </p:nvSpPr>
              <p:spPr bwMode="auto">
                <a:xfrm>
                  <a:off x="1195" y="581"/>
                  <a:ext cx="442" cy="5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18nV</a:t>
                  </a:r>
                </a:p>
                <a:p>
                  <a:pPr algn="ctr" eaLnBrk="0" hangingPunct="0"/>
                  <a:endParaRPr kumimoji="1" lang="en-US" altLang="zh-CN" sz="36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202" name="Rectangle 29"/>
                <p:cNvSpPr>
                  <a:spLocks noChangeArrowheads="1"/>
                </p:cNvSpPr>
                <p:nvPr/>
              </p:nvSpPr>
              <p:spPr bwMode="auto">
                <a:xfrm>
                  <a:off x="1152" y="581"/>
                  <a:ext cx="528" cy="50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92" name="Group 32"/>
              <p:cNvGrpSpPr>
                <a:grpSpLocks/>
              </p:cNvGrpSpPr>
              <p:nvPr/>
            </p:nvGrpSpPr>
            <p:grpSpPr bwMode="auto">
              <a:xfrm>
                <a:off x="0" y="1089"/>
                <a:ext cx="624" cy="434"/>
                <a:chOff x="0" y="1089"/>
                <a:chExt cx="624" cy="434"/>
              </a:xfrm>
            </p:grpSpPr>
            <p:sp>
              <p:nvSpPr>
                <p:cNvPr id="50199" name="Rectangle 16"/>
                <p:cNvSpPr>
                  <a:spLocks noChangeArrowheads="1"/>
                </p:cNvSpPr>
                <p:nvPr/>
              </p:nvSpPr>
              <p:spPr bwMode="auto">
                <a:xfrm>
                  <a:off x="43" y="1089"/>
                  <a:ext cx="538" cy="4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r>
                    <a:rPr kumimoji="1" lang="en-US" altLang="zh-CN" sz="3000" b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R</a:t>
                  </a:r>
                  <a:r>
                    <a:rPr kumimoji="1" lang="en-US" altLang="zh-CN" sz="3000" b="1" baseline="-30000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s</a:t>
                  </a:r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=100Ω</a:t>
                  </a:r>
                </a:p>
                <a:p>
                  <a:pPr algn="ctr" eaLnBrk="0" hangingPunct="0"/>
                  <a:r>
                    <a:rPr kumimoji="1" lang="en-US" altLang="zh-CN" sz="3000" b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Δ</a:t>
                  </a:r>
                  <a:r>
                    <a:rPr kumimoji="1" lang="en-US" altLang="zh-CN" sz="3000" b="1" i="1" dirty="0" err="1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f</a:t>
                  </a:r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 =1HZ</a:t>
                  </a:r>
                </a:p>
                <a:p>
                  <a:pPr algn="ctr" eaLnBrk="0" hangingPunct="0"/>
                  <a:endParaRPr kumimoji="1" lang="en-US" altLang="zh-CN" sz="36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200" name="Rectangle 31"/>
                <p:cNvSpPr>
                  <a:spLocks noChangeArrowheads="1"/>
                </p:cNvSpPr>
                <p:nvPr/>
              </p:nvSpPr>
              <p:spPr bwMode="auto">
                <a:xfrm>
                  <a:off x="0" y="1089"/>
                  <a:ext cx="624" cy="4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93" name="Group 34"/>
              <p:cNvGrpSpPr>
                <a:grpSpLocks/>
              </p:cNvGrpSpPr>
              <p:nvPr/>
            </p:nvGrpSpPr>
            <p:grpSpPr bwMode="auto">
              <a:xfrm>
                <a:off x="624" y="1089"/>
                <a:ext cx="528" cy="434"/>
                <a:chOff x="624" y="1089"/>
                <a:chExt cx="528" cy="434"/>
              </a:xfrm>
            </p:grpSpPr>
            <p:sp>
              <p:nvSpPr>
                <p:cNvPr id="50197" name="Rectangle 17"/>
                <p:cNvSpPr>
                  <a:spLocks noChangeArrowheads="1"/>
                </p:cNvSpPr>
                <p:nvPr/>
              </p:nvSpPr>
              <p:spPr bwMode="auto">
                <a:xfrm>
                  <a:off x="667" y="1089"/>
                  <a:ext cx="442" cy="4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13nV</a:t>
                  </a:r>
                </a:p>
                <a:p>
                  <a:pPr algn="ctr" eaLnBrk="0" hangingPunct="0"/>
                  <a:endParaRPr kumimoji="1" lang="en-US" altLang="zh-CN" sz="36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198" name="Rectangle 33"/>
                <p:cNvSpPr>
                  <a:spLocks noChangeArrowheads="1"/>
                </p:cNvSpPr>
                <p:nvPr/>
              </p:nvSpPr>
              <p:spPr bwMode="auto">
                <a:xfrm>
                  <a:off x="624" y="1089"/>
                  <a:ext cx="528" cy="4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0194" name="Group 36"/>
              <p:cNvGrpSpPr>
                <a:grpSpLocks/>
              </p:cNvGrpSpPr>
              <p:nvPr/>
            </p:nvGrpSpPr>
            <p:grpSpPr bwMode="auto">
              <a:xfrm>
                <a:off x="1152" y="1089"/>
                <a:ext cx="528" cy="434"/>
                <a:chOff x="1152" y="1089"/>
                <a:chExt cx="528" cy="434"/>
              </a:xfrm>
            </p:grpSpPr>
            <p:sp>
              <p:nvSpPr>
                <p:cNvPr id="50195" name="Rectangle 18"/>
                <p:cNvSpPr>
                  <a:spLocks noChangeArrowheads="1"/>
                </p:cNvSpPr>
                <p:nvPr/>
              </p:nvSpPr>
              <p:spPr bwMode="auto">
                <a:xfrm>
                  <a:off x="1195" y="1089"/>
                  <a:ext cx="442" cy="4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r>
                    <a:rPr kumimoji="1" lang="en-US" altLang="zh-CN" sz="3000" b="1" dirty="0"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rPr>
                    <a:t>1.8nV</a:t>
                  </a:r>
                </a:p>
                <a:p>
                  <a:pPr algn="ctr" eaLnBrk="0" hangingPunct="0"/>
                  <a:endParaRPr kumimoji="1" lang="en-US" altLang="zh-CN" sz="3600" b="1" dirty="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196" name="Rectangle 35"/>
                <p:cNvSpPr>
                  <a:spLocks noChangeArrowheads="1"/>
                </p:cNvSpPr>
                <p:nvPr/>
              </p:nvSpPr>
              <p:spPr bwMode="auto">
                <a:xfrm>
                  <a:off x="1152" y="1089"/>
                  <a:ext cx="528" cy="4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 b="1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50185" name="Rectangle 38"/>
            <p:cNvSpPr>
              <a:spLocks noChangeArrowheads="1"/>
            </p:cNvSpPr>
            <p:nvPr/>
          </p:nvSpPr>
          <p:spPr bwMode="auto">
            <a:xfrm>
              <a:off x="-3" y="-3"/>
              <a:ext cx="1686" cy="1529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b="1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0179" name="Text Box 41"/>
          <p:cNvSpPr txBox="1">
            <a:spLocks noChangeArrowheads="1"/>
          </p:cNvSpPr>
          <p:nvPr/>
        </p:nvSpPr>
        <p:spPr bwMode="auto">
          <a:xfrm>
            <a:off x="1264731" y="548285"/>
            <a:ext cx="831015" cy="651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lIns="137169" tIns="68585" rIns="137169" bIns="68585">
            <a:spAutoFit/>
          </a:bodyPr>
          <a:lstStyle/>
          <a:p>
            <a:endParaRPr kumimoji="1" lang="zh-CN" altLang="zh-CN" sz="3600" dirty="0">
              <a:latin typeface="Times New Roman" pitchFamily="18" charset="0"/>
            </a:endParaRPr>
          </a:p>
        </p:txBody>
      </p:sp>
      <p:sp>
        <p:nvSpPr>
          <p:cNvPr id="50180" name="Text Box 42"/>
          <p:cNvSpPr txBox="1">
            <a:spLocks noChangeArrowheads="1"/>
          </p:cNvSpPr>
          <p:nvPr/>
        </p:nvSpPr>
        <p:spPr bwMode="auto">
          <a:xfrm>
            <a:off x="685882" y="257176"/>
            <a:ext cx="824008" cy="692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9" tIns="68585" rIns="137169" bIns="68585">
            <a:spAutoFit/>
          </a:bodyPr>
          <a:lstStyle/>
          <a:p>
            <a:endParaRPr kumimoji="1" lang="zh-CN" altLang="zh-CN" sz="3600" dirty="0">
              <a:latin typeface="Times New Roman" pitchFamily="18" charset="0"/>
            </a:endParaRPr>
          </a:p>
        </p:txBody>
      </p:sp>
      <p:sp>
        <p:nvSpPr>
          <p:cNvPr id="50181" name="Text Box 44"/>
          <p:cNvSpPr txBox="1">
            <a:spLocks noChangeArrowheads="1"/>
          </p:cNvSpPr>
          <p:nvPr/>
        </p:nvSpPr>
        <p:spPr bwMode="auto">
          <a:xfrm>
            <a:off x="1436060" y="789685"/>
            <a:ext cx="10959781" cy="1523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9" tIns="68585" rIns="137169" bIns="68585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例：有两个标号分别为</a:t>
            </a:r>
            <a:r>
              <a:rPr kumimoji="1"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号、</a:t>
            </a:r>
            <a:r>
              <a:rPr kumimoji="1" lang="en-US" altLang="zh-CN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kumimoji="1"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号的前置放大器，它们的有关数据经计算列于下表： </a:t>
            </a:r>
          </a:p>
        </p:txBody>
      </p:sp>
      <p:sp>
        <p:nvSpPr>
          <p:cNvPr id="50182" name="Line 45"/>
          <p:cNvSpPr>
            <a:spLocks noChangeShapeType="1"/>
          </p:cNvSpPr>
          <p:nvPr/>
        </p:nvSpPr>
        <p:spPr bwMode="auto">
          <a:xfrm>
            <a:off x="1829012" y="2400300"/>
            <a:ext cx="3772337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lIns="137169" tIns="68585" rIns="137169" bIns="68585"/>
          <a:lstStyle/>
          <a:p>
            <a:endParaRPr lang="zh-CN" altLang="en-US" b="1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0183" name="Line 46"/>
          <p:cNvSpPr>
            <a:spLocks noChangeShapeType="1"/>
          </p:cNvSpPr>
          <p:nvPr/>
        </p:nvSpPr>
        <p:spPr bwMode="auto">
          <a:xfrm>
            <a:off x="1829012" y="2400300"/>
            <a:ext cx="2514891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lIns="137169" tIns="68585" rIns="137169" bIns="68585"/>
          <a:lstStyle/>
          <a:p>
            <a:endParaRPr lang="zh-CN" altLang="en-US" b="1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809422" y="833289"/>
            <a:ext cx="12574456" cy="61722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如果被测信号大小为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=1μV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 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3000" b="1" i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=100Hz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=100Ω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且系统要求：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如果选用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号放大器则：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不合要求；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如果选用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号放大器，则：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符合要求。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故在信号源内阻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Rs=100Ω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，系统带宽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3000" b="1" i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=100Hz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，且要求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&gt;10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的条件下，应该选择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号放大器作为低噪声前放使用。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816350"/>
              </p:ext>
            </p:extLst>
          </p:nvPr>
        </p:nvGraphicFramePr>
        <p:xfrm>
          <a:off x="3510035" y="1697386"/>
          <a:ext cx="114313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1" r:id="rId3" imgW="571252" imgH="444307" progId="Equation.3">
                  <p:embed/>
                </p:oleObj>
              </mc:Choice>
              <mc:Fallback>
                <p:oleObj r:id="rId3" imgW="571252" imgH="444307" progId="Equation.3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0035" y="1697386"/>
                        <a:ext cx="1143132" cy="6715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827329"/>
              </p:ext>
            </p:extLst>
          </p:nvPr>
        </p:nvGraphicFramePr>
        <p:xfrm>
          <a:off x="5130403" y="2453469"/>
          <a:ext cx="6158625" cy="764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" r:id="rId5" imgW="2260600" imgH="444500" progId="Equation.3">
                  <p:embed/>
                </p:oleObj>
              </mc:Choice>
              <mc:Fallback>
                <p:oleObj r:id="rId5" imgW="2260600" imgH="444500" progId="Equation.3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403" y="2453469"/>
                        <a:ext cx="6158625" cy="76438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664965"/>
              </p:ext>
            </p:extLst>
          </p:nvPr>
        </p:nvGraphicFramePr>
        <p:xfrm>
          <a:off x="5454475" y="4073650"/>
          <a:ext cx="5725188" cy="73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" r:id="rId7" imgW="2260600" imgH="444500" progId="Equation.3">
                  <p:embed/>
                </p:oleObj>
              </mc:Choice>
              <mc:Fallback>
                <p:oleObj r:id="rId7" imgW="2260600" imgH="444500" progId="Equation.3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475" y="4073650"/>
                        <a:ext cx="5725188" cy="73044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idx="1"/>
          </p:nvPr>
        </p:nvSpPr>
        <p:spPr>
          <a:xfrm>
            <a:off x="701397" y="1697385"/>
            <a:ext cx="11990720" cy="4428492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b="1" dirty="0" smtClean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若其它条件不变，采取压缩带宽的措施，使</a:t>
            </a:r>
            <a:r>
              <a:rPr lang="en-US" altLang="zh-CN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Δ </a:t>
            </a:r>
            <a:r>
              <a:rPr lang="en-US" altLang="zh-CN" sz="3600" b="1" i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=1Hz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 计算，可以知道，</a:t>
            </a:r>
            <a:r>
              <a:rPr lang="en-US" altLang="zh-CN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号放大器也可以适用。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en-US" altLang="zh-CN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故压缩带宽对克服噪声是非常有利的，但是压缩带宽在某些情况下可能损失信息量，所以压缩带宽有时要付出一定的代价。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2" name="projctor.wav"/>
          </p:stSnd>
        </p:sndAc>
      </p:transition>
    </mc:Choice>
    <mc:Fallback xmlns="">
      <p:transition>
        <p:sndAc>
          <p:stSnd>
            <p:snd r:embed="rId3" name="projcto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349544" y="942783"/>
            <a:ext cx="3888882" cy="972108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Font typeface="Arial" charset="0"/>
              <a:buNone/>
            </a:pPr>
            <a:r>
              <a:rPr lang="en-US" altLang="zh-CN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应用</a:t>
            </a:r>
            <a:r>
              <a:rPr lang="en-US" altLang="zh-CN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</a:t>
            </a:r>
            <a:endParaRPr lang="en-US" altLang="zh-CN" b="1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990145" y="2237445"/>
            <a:ext cx="4104931" cy="864096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Font typeface="Arial" charset="0"/>
              <a:buNone/>
            </a:pP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的表达式如下：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321219"/>
              </p:ext>
            </p:extLst>
          </p:nvPr>
        </p:nvGraphicFramePr>
        <p:xfrm>
          <a:off x="5238427" y="2174129"/>
          <a:ext cx="6537287" cy="878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7" name="公式" r:id="rId3" imgW="2323800" imgH="457200" progId="Equation.3">
                  <p:embed/>
                </p:oleObj>
              </mc:Choice>
              <mc:Fallback>
                <p:oleObj name="公式" r:id="rId3" imgW="23238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427" y="2174129"/>
                        <a:ext cx="6537287" cy="87868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58581" y="3209553"/>
            <a:ext cx="12206769" cy="864096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Arial" charset="0"/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选定不同的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 </a:t>
            </a:r>
            <a:r>
              <a:rPr lang="en-US" altLang="zh-CN" sz="30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  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测出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­ni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就可以得到一系列的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值。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84126" y="4277510"/>
            <a:ext cx="12206769" cy="2268252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生产厂家在测量中通常的做法是在放大器后面接一个中心频率</a:t>
            </a:r>
            <a:r>
              <a:rPr lang="en-US" altLang="zh-CN" sz="30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 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可调的带通滤波器，采用噪声发生器法，或正弦波法，测出不同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 </a:t>
            </a:r>
            <a:r>
              <a:rPr lang="en-US" altLang="zh-CN" sz="30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 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条件下的一系列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值，都标在坐标图上。</a:t>
            </a:r>
          </a:p>
        </p:txBody>
      </p:sp>
    </p:spTree>
    <p:extLst>
      <p:ext uri="{BB962C8B-B14F-4D97-AF65-F5344CB8AC3E}">
        <p14:creationId xmlns:p14="http://schemas.microsoft.com/office/powerpoint/2010/main" val="155543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idx="1"/>
          </p:nvPr>
        </p:nvSpPr>
        <p:spPr>
          <a:xfrm>
            <a:off x="701397" y="1589373"/>
            <a:ext cx="12370657" cy="4320480"/>
          </a:xfrm>
        </p:spPr>
        <p:txBody>
          <a:bodyPr/>
          <a:lstStyle/>
          <a:p>
            <a:pPr marL="135741" indent="-135741" algn="just">
              <a:lnSpc>
                <a:spcPct val="150000"/>
              </a:lnSpc>
              <a:buNone/>
            </a:pPr>
            <a:r>
              <a:rPr lang="en-US" altLang="zh-CN" sz="30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●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坐标图以 </a:t>
            </a:r>
            <a:r>
              <a:rPr lang="en-US" altLang="zh-CN" sz="30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 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为横坐标，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为纵坐标，且均以对数为标度。将所以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值相等的点连接起来，就得到一幅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等值图，</a:t>
            </a:r>
            <a:r>
              <a:rPr lang="zh-CN" altLang="en-US" sz="30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称为放大器的噪声因子图或</a:t>
            </a:r>
            <a:r>
              <a:rPr lang="en-US" altLang="zh-CN" sz="30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图。</a:t>
            </a:r>
          </a:p>
          <a:p>
            <a:pPr marL="135741" indent="-135741" algn="just">
              <a:lnSpc>
                <a:spcPct val="150000"/>
              </a:lnSpc>
              <a:buNone/>
            </a:pPr>
            <a:r>
              <a:rPr lang="zh-CN" altLang="en-US" sz="30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●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不同的放大器有不同的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图，放大器一经制成，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图的结果就是唯一的，生产厂家必须向用户提供低噪声前置放大器的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图，它充分反映了该放大器的噪声特性。   </a:t>
            </a: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09422" y="1049313"/>
            <a:ext cx="11659950" cy="771525"/>
          </a:xfrm>
        </p:spPr>
        <p:txBody>
          <a:bodyPr/>
          <a:lstStyle/>
          <a:p>
            <a:pPr eaLnBrk="1" hangingPunct="1"/>
            <a:r>
              <a:rPr lang="zh-CN" altLang="en-US" sz="36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如图是美国</a:t>
            </a:r>
            <a:r>
              <a:rPr lang="en-US" altLang="zh-CN" sz="36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PARC</a:t>
            </a:r>
            <a:r>
              <a:rPr lang="zh-CN" altLang="en-US" sz="36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公司</a:t>
            </a:r>
            <a:r>
              <a:rPr lang="en-US" altLang="zh-CN" sz="36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113</a:t>
            </a:r>
            <a:r>
              <a:rPr lang="zh-CN" altLang="en-US" sz="36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型低噪声前放的等值图：</a:t>
            </a:r>
            <a:endParaRPr lang="zh-CN" altLang="en-US" sz="6000" b="1" dirty="0" smtClean="0">
              <a:solidFill>
                <a:schemeClr val="hlink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3251" name="Picture 5" descr="讲义图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5100" y="1697384"/>
            <a:ext cx="6700479" cy="5557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701397" y="833289"/>
            <a:ext cx="12422818" cy="648072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7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利用</a:t>
            </a:r>
            <a:r>
              <a:rPr lang="en-US" altLang="zh-CN" sz="27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27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图，可以做到如下几点：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7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7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从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图中，可以选择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最小的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7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的范围。如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113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型低噪声前放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NF=0.05dB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等值线</a:t>
            </a:r>
            <a:r>
              <a:rPr lang="en-US" altLang="zh-CN" sz="27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的范围在几个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Hz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到几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KHz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，而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的范围从几百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KΩ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到十兆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10MΩ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7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7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在实际的微弱信号检测中，不同的检测对象可根据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图选择最适用的前放。</a:t>
            </a:r>
            <a:endParaRPr lang="en-US" altLang="zh-CN" sz="27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7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由于测量和放大的对象不同，源电阻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的差异是很大的。例如，光电信增管（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PMT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）为高阻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，热电偶的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却很低。同样，工作频率的选择也不一致。如声学或生物医学的使用常在低频范围，而某些电检测又常常避开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1/</a:t>
            </a:r>
            <a:r>
              <a:rPr lang="en-US" altLang="zh-CN" sz="27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 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噪声，需选择中频区，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图为我们正确选择前放提供了依据。</a:t>
            </a: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535799" y="964386"/>
            <a:ext cx="12645990" cy="2245167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）利用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图还可以计算出最小可检测信号的大小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最小可检测信号的定义为折合到放大器输入端的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algn="just">
              <a:lnSpc>
                <a:spcPct val="150000"/>
              </a:lnSpc>
              <a:buFont typeface="Arial" charset="0"/>
              <a:buNone/>
            </a:pP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由公式：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214149"/>
              </p:ext>
            </p:extLst>
          </p:nvPr>
        </p:nvGraphicFramePr>
        <p:xfrm>
          <a:off x="2969912" y="2526365"/>
          <a:ext cx="4105564" cy="7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1" r:id="rId3" imgW="1422400" imgH="368300" progId="Equation.3">
                  <p:embed/>
                </p:oleObj>
              </mc:Choice>
              <mc:Fallback>
                <p:oleObj r:id="rId3" imgW="1422400" imgH="3683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9912" y="2526365"/>
                        <a:ext cx="4105564" cy="7194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77324" y="3533589"/>
            <a:ext cx="12645990" cy="3649323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可以由等值图中最小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值即能计算出低噪声前放在一定条件下的最小的</a:t>
            </a:r>
            <a:r>
              <a:rPr lang="en-US" altLang="zh-CN" sz="30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，这就是最小可检测信号。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在科研和开发中，选购低噪声前放时，应注意利用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30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图及有关技术参数，其它参数还有如输入、输出阻抗、增益、带宽、</a:t>
            </a:r>
            <a:r>
              <a:rPr lang="en-US" altLang="zh-CN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NF</a:t>
            </a:r>
            <a:r>
              <a:rPr lang="zh-CN" altLang="en-US" sz="3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最小点，增益稳定度等。</a:t>
            </a:r>
          </a:p>
        </p:txBody>
      </p:sp>
      <p:sp>
        <p:nvSpPr>
          <p:cNvPr id="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23755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97691" y="3324266"/>
            <a:ext cx="10370353" cy="1296144"/>
          </a:xfrm>
          <a:prstGeom prst="rect">
            <a:avLst/>
          </a:prstGeom>
        </p:spPr>
        <p:txBody>
          <a:bodyPr lIns="137169" tIns="68585" rIns="137169" bIns="68585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sz="48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低噪声前置运算放大器的设计原则</a:t>
            </a:r>
            <a:endParaRPr lang="zh-CN" altLang="en-US" sz="4800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35968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726083" y="3162515"/>
            <a:ext cx="5430845" cy="540060"/>
          </a:xfrm>
          <a:prstGeom prst="rect">
            <a:avLst/>
          </a:prstGeom>
        </p:spPr>
        <p:txBody>
          <a:bodyPr lIns="137169" tIns="68585" rIns="137169" bIns="68585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sz="30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低噪声放大器的设计原则</a:t>
            </a:r>
            <a:endParaRPr lang="zh-CN" altLang="en-US" sz="3000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14543" y="1185876"/>
            <a:ext cx="12321061" cy="2239701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        低噪声放大器有如下一些指标：  </a:t>
            </a:r>
            <a:r>
              <a:rPr lang="zh-CN" altLang="en-US" sz="3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噪声要求、增益带宽、输入阻抗、输出阻抗、稳定性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等，除噪声要求一项外，其它指标已在电子技术课程中学过。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93373" y="3857625"/>
            <a:ext cx="12638866" cy="2268252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(1)</a:t>
            </a:r>
            <a:r>
              <a:rPr lang="zh-CN" altLang="en-US" sz="36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先按普通放大器那样进行设计，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即只考虑增益、带宽、输入、输出阻抗等指标，然后在设计过程中校核噪声是否符合指标。若不符合，修改某些参数重新计算，直到符合噪声指标，同时也满足其它指标为止。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349544" y="6449913"/>
            <a:ext cx="8089260" cy="756084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30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这种方法只适用于对噪声要求不高的场合。</a:t>
            </a:r>
            <a:endParaRPr lang="zh-CN" altLang="en-US" sz="3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6903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idx="1"/>
          </p:nvPr>
        </p:nvSpPr>
        <p:spPr>
          <a:xfrm>
            <a:off x="593373" y="1049313"/>
            <a:ext cx="12485297" cy="756084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700" b="1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30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首先考虑的是噪声特性并满足其要求，其次才是增益，带宽和阻抗。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76509" y="1792382"/>
            <a:ext cx="12485297" cy="2497292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●</a:t>
            </a:r>
            <a:r>
              <a:rPr lang="zh-CN" altLang="en-US" sz="27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满足了噪声指标不一定能满足增益、带宽和阻抗的要求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，为了获得足够的增益，一般采用多级放大器，但级数多了又会使得通带变窄，可以用负反馈或用组合电路来加宽通频带，不仅如此，负反馈还可以稳定电路增益、改变输入输出阻抗以及减少失真。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76509" y="4289673"/>
            <a:ext cx="12485297" cy="1404156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●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注意：引入负反馈后，又引入了新的噪声源，只可能使放大器的噪声性能变坏，如果按一定的原则引负反馈，则可使新引入的噪声减到最小，以至可以忽略不计。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730388" y="5724345"/>
            <a:ext cx="12485297" cy="1373640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经过了上述改造后，再回头检验一下噪声。这样反复计算能得到满意结果，多为人们采用。 </a:t>
            </a:r>
          </a:p>
        </p:txBody>
      </p:sp>
      <p:sp>
        <p:nvSpPr>
          <p:cNvPr id="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64552" y="1157325"/>
            <a:ext cx="12038175" cy="5616624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8025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36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（</a:t>
            </a:r>
            <a:r>
              <a:rPr lang="en-US" altLang="zh-CN" sz="36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1</a:t>
            </a:r>
            <a:r>
              <a:rPr lang="zh-CN" altLang="en-US" sz="36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）首先，根据噪声要求设计输入级。</a:t>
            </a:r>
          </a:p>
          <a:p>
            <a:pPr marL="378025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7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●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根据前面的分析，</a:t>
            </a:r>
            <a:r>
              <a:rPr lang="zh-CN" altLang="en-US" sz="2700" b="1" dirty="0" smtClean="0">
                <a:solidFill>
                  <a:srgbClr val="FF3399"/>
                </a:solidFill>
                <a:latin typeface="微软雅黑" pitchFamily="34" charset="-122"/>
                <a:ea typeface="微软雅黑" pitchFamily="34" charset="-122"/>
              </a:rPr>
              <a:t>系统的噪声性能，主要取决于第一级。</a:t>
            </a:r>
          </a:p>
          <a:p>
            <a:pPr marL="378025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700" b="1" dirty="0" smtClean="0">
                <a:solidFill>
                  <a:srgbClr val="FF3399"/>
                </a:solidFill>
                <a:latin typeface="微软雅黑" pitchFamily="34" charset="-122"/>
                <a:ea typeface="微软雅黑" pitchFamily="34" charset="-122"/>
              </a:rPr>
              <a:t>     第一级又称输入级，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应根据系统要求包括</a:t>
            </a:r>
            <a:r>
              <a:rPr lang="zh-CN" altLang="en-US" sz="2700" b="1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输入信噪比，</a:t>
            </a:r>
            <a:r>
              <a:rPr lang="en-US" altLang="zh-CN" sz="2700" b="1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2700" b="1" baseline="-30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2700" b="1" baseline="-30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700" b="1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源阻抗特性及频率范围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等指标来确定输入级的电路形式，确定直流工作点，进行噪声匹配的估算。</a:t>
            </a:r>
          </a:p>
          <a:p>
            <a:pPr marL="378025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700" b="1" dirty="0" smtClean="0">
                <a:solidFill>
                  <a:srgbClr val="FF0066"/>
                </a:solidFill>
                <a:latin typeface="微软雅黑" pitchFamily="34" charset="-122"/>
                <a:ea typeface="微软雅黑" pitchFamily="34" charset="-122"/>
              </a:rPr>
              <a:t> ●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一般地，当源阻抗是低阻抗时，可以采用共基共发电路，当源是高阻抗时，可采用共发一共集电路</a:t>
            </a:r>
            <a:r>
              <a:rPr lang="en-US" altLang="zh-CN" sz="27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如果源电阻相当高时，则应使用负反馈电路， 或者用场效应管来作为输入级。</a:t>
            </a: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49720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idx="1"/>
          </p:nvPr>
        </p:nvSpPr>
        <p:spPr>
          <a:xfrm>
            <a:off x="593373" y="941301"/>
            <a:ext cx="12530843" cy="5940660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42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（</a:t>
            </a:r>
            <a:r>
              <a:rPr lang="en-US" altLang="zh-CN" sz="42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2</a:t>
            </a:r>
            <a:r>
              <a:rPr lang="zh-CN" altLang="en-US" sz="42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）</a:t>
            </a:r>
            <a:r>
              <a:rPr lang="en-US" altLang="zh-CN" sz="42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  </a:t>
            </a:r>
            <a:r>
              <a:rPr lang="zh-CN" altLang="en-US" sz="42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噪声匹配的方法</a:t>
            </a:r>
          </a:p>
          <a:p>
            <a:pPr marL="135741" indent="-13574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         低噪声前放的设计，关键是第一级即输入级的设计，设计时要考虑的噪声指标：   噪声系数</a:t>
            </a:r>
            <a:r>
              <a:rPr lang="en-US" altLang="zh-CN" sz="2700" b="1" dirty="0" smtClean="0">
                <a:latin typeface="微软雅黑" pitchFamily="34" charset="-122"/>
                <a:ea typeface="微软雅黑" pitchFamily="34" charset="-122"/>
              </a:rPr>
              <a:t>NF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，为了获得最小的噪声系数，必须使得：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7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7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       探测器虽有一定的选择余地，一旦选定后，</a:t>
            </a:r>
            <a:r>
              <a:rPr lang="en-US" altLang="zh-CN" sz="2700" b="1" dirty="0" err="1" smtClean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700" b="1" baseline="-30000" dirty="0" err="1" smtClean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也就确定了，这时，只有选择前放，使其注意兼顾其它指标。</a:t>
            </a:r>
          </a:p>
        </p:txBody>
      </p:sp>
      <p:graphicFrame>
        <p:nvGraphicFramePr>
          <p:cNvPr id="21506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524489"/>
              </p:ext>
            </p:extLst>
          </p:nvPr>
        </p:nvGraphicFramePr>
        <p:xfrm>
          <a:off x="4914353" y="3209553"/>
          <a:ext cx="3429397" cy="1016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r:id="rId3" imgW="1129810" imgH="444307" progId="Equation.3">
                  <p:embed/>
                </p:oleObj>
              </mc:Choice>
              <mc:Fallback>
                <p:oleObj r:id="rId3" imgW="1129810" imgH="444307" progId="Equation.3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353" y="3209553"/>
                        <a:ext cx="3429397" cy="101619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959601"/>
              </p:ext>
            </p:extLst>
          </p:nvPr>
        </p:nvGraphicFramePr>
        <p:xfrm>
          <a:off x="5670525" y="5693830"/>
          <a:ext cx="2269593" cy="85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3" r:id="rId5" imgW="609336" imgH="444307" progId="Equation.3">
                  <p:embed/>
                </p:oleObj>
              </mc:Choice>
              <mc:Fallback>
                <p:oleObj r:id="rId5" imgW="609336" imgH="444307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0525" y="5693830"/>
                        <a:ext cx="2269593" cy="859037"/>
                      </a:xfrm>
                      <a:prstGeom prst="rect">
                        <a:avLst/>
                      </a:prstGeom>
                      <a:solidFill>
                        <a:srgbClr val="66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idx="1"/>
          </p:nvPr>
        </p:nvSpPr>
        <p:spPr>
          <a:xfrm>
            <a:off x="917446" y="1049313"/>
            <a:ext cx="12098745" cy="62150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噪声匹配的方法就是研究有哪些种方法可以调节               使其可以趋近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，现归纳如下：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7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调整晶体三极管工作点</a:t>
            </a:r>
            <a:r>
              <a:rPr lang="en-US" altLang="zh-CN" sz="27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700" b="1" baseline="-30000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7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700" b="1" baseline="-30000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7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）的方法 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700" b="1" dirty="0" smtClean="0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输入变压器耦合法 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7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输入放大器的并联法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这种方法在理论上具有一定意义，（在集成电路时代）实现起来也不是很困难，因此有一定的使用前景。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7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利用场效应管法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当源电阻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比较大时，利用普通晶体三极管来达到噪声匹配已不可能，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由于场效应管具有相当高的（</a:t>
            </a:r>
            <a:r>
              <a:rPr lang="en-US" altLang="zh-CN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7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opt</a:t>
            </a:r>
            <a:r>
              <a:rPr lang="zh-CN" altLang="en-US" sz="27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，故应选用场效应管来作为输入级。 </a:t>
            </a:r>
          </a:p>
        </p:txBody>
      </p:sp>
      <p:graphicFrame>
        <p:nvGraphicFramePr>
          <p:cNvPr id="2253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157830"/>
              </p:ext>
            </p:extLst>
          </p:nvPr>
        </p:nvGraphicFramePr>
        <p:xfrm>
          <a:off x="8587186" y="1049313"/>
          <a:ext cx="66920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4" r:id="rId3" imgW="241195" imgH="444307" progId="Equation.3">
                  <p:embed/>
                </p:oleObj>
              </mc:Choice>
              <mc:Fallback>
                <p:oleObj r:id="rId3" imgW="241195" imgH="444307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7186" y="1049313"/>
                        <a:ext cx="669209" cy="685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9544" y="1049313"/>
            <a:ext cx="6157397" cy="834033"/>
          </a:xfrm>
        </p:spPr>
        <p:txBody>
          <a:bodyPr/>
          <a:lstStyle/>
          <a:p>
            <a:pPr eaLnBrk="1" hangingPunct="1"/>
            <a:r>
              <a:rPr lang="zh-CN" altLang="en-US" sz="54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（</a:t>
            </a:r>
            <a:r>
              <a:rPr lang="en-US" altLang="zh-CN" sz="54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3</a:t>
            </a:r>
            <a:r>
              <a:rPr lang="zh-CN" altLang="en-US" sz="54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）</a:t>
            </a:r>
            <a:r>
              <a:rPr lang="en-US" altLang="zh-CN" sz="54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 </a:t>
            </a:r>
            <a:r>
              <a:rPr lang="zh-CN" altLang="en-US" sz="5400" b="1" dirty="0" smtClean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</a:rPr>
              <a:t>元件的挑选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593374" y="2330639"/>
            <a:ext cx="12309735" cy="371476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为了满足噪声指标，必须选用合适的有源器件与无源器件，在线路上作相应配合使用</a:t>
            </a:r>
          </a:p>
          <a:p>
            <a:pPr marL="128596" indent="-128596">
              <a:lnSpc>
                <a:spcPct val="150000"/>
              </a:lnSpc>
              <a:buNone/>
            </a:pP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例如：采用无噪声偏置电路，使用合理的负反馈，选用恰当的组态配合，确定适当的级联数等。 </a:t>
            </a:r>
          </a:p>
        </p:txBody>
      </p:sp>
      <p:sp>
        <p:nvSpPr>
          <p:cNvPr id="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idx="1"/>
          </p:nvPr>
        </p:nvSpPr>
        <p:spPr>
          <a:xfrm>
            <a:off x="1025471" y="833289"/>
            <a:ext cx="11659950" cy="17145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30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有源器件的选用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     选用有源器件主要从源电阻和频率范围来考虑，下图作为选择的指南。</a:t>
            </a:r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1614675" y="5852519"/>
            <a:ext cx="277129" cy="692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7169" tIns="68585" rIns="137169" bIns="68585">
            <a:spAutoFit/>
          </a:bodyPr>
          <a:lstStyle/>
          <a:p>
            <a:endParaRPr kumimoji="1" lang="zh-CN" altLang="zh-CN" sz="3600" dirty="0">
              <a:latin typeface="Times New Roman" pitchFamily="18" charset="0"/>
            </a:endParaRPr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809421" y="5261781"/>
            <a:ext cx="12098337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9" tIns="68585" rIns="137169" bIns="68585"/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kumimoji="1" lang="zh-CN" altLang="en-US" sz="3000" b="1" dirty="0" smtClean="0">
                <a:latin typeface="微软雅黑" pitchFamily="34" charset="-122"/>
                <a:ea typeface="微软雅黑" pitchFamily="34" charset="-122"/>
              </a:rPr>
              <a:t>    源</a:t>
            </a:r>
            <a:r>
              <a:rPr kumimoji="1" lang="zh-CN" altLang="en-US" sz="3000" b="1" dirty="0">
                <a:latin typeface="微软雅黑" pitchFamily="34" charset="-122"/>
                <a:ea typeface="微软雅黑" pitchFamily="34" charset="-122"/>
              </a:rPr>
              <a:t>电阻小于</a:t>
            </a:r>
            <a:r>
              <a:rPr kumimoji="1" lang="en-US" altLang="zh-CN" sz="3000" b="1" dirty="0">
                <a:latin typeface="微软雅黑" pitchFamily="34" charset="-122"/>
                <a:ea typeface="微软雅黑" pitchFamily="34" charset="-122"/>
              </a:rPr>
              <a:t>100Ω</a:t>
            </a:r>
            <a:r>
              <a:rPr kumimoji="1" lang="zh-CN" altLang="en-US" sz="3000" b="1" dirty="0">
                <a:latin typeface="微软雅黑" pitchFamily="34" charset="-122"/>
                <a:ea typeface="微软雅黑" pitchFamily="34" charset="-122"/>
              </a:rPr>
              <a:t>时，为了和放大器的</a:t>
            </a:r>
            <a:r>
              <a:rPr kumimoji="1" lang="en-US" altLang="zh-CN" sz="3000" b="1" dirty="0" err="1">
                <a:latin typeface="微软雅黑" pitchFamily="34" charset="-122"/>
                <a:ea typeface="微软雅黑" pitchFamily="34" charset="-122"/>
              </a:rPr>
              <a:t>R</a:t>
            </a:r>
            <a:r>
              <a:rPr kumimoji="1" lang="en-US" altLang="zh-CN" sz="3000" b="1" baseline="-30000" dirty="0" err="1">
                <a:latin typeface="微软雅黑" pitchFamily="34" charset="-122"/>
                <a:ea typeface="微软雅黑" pitchFamily="34" charset="-122"/>
              </a:rPr>
              <a:t>opt</a:t>
            </a:r>
            <a:r>
              <a:rPr kumimoji="1" lang="zh-CN" altLang="en-US" sz="3000" b="1" dirty="0">
                <a:latin typeface="微软雅黑" pitchFamily="34" charset="-122"/>
                <a:ea typeface="微软雅黑" pitchFamily="34" charset="-122"/>
              </a:rPr>
              <a:t>匹配，可以采用变压器耦合或者用几路相同的放大器并联。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kumimoji="1" lang="zh-CN" altLang="en-US" sz="3000" b="1" dirty="0" smtClean="0">
                <a:latin typeface="微软雅黑" pitchFamily="34" charset="-122"/>
                <a:ea typeface="微软雅黑" pitchFamily="34" charset="-122"/>
              </a:rPr>
              <a:t>     源</a:t>
            </a:r>
            <a:r>
              <a:rPr kumimoji="1" lang="zh-CN" altLang="en-US" sz="3000" b="1" dirty="0">
                <a:latin typeface="微软雅黑" pitchFamily="34" charset="-122"/>
                <a:ea typeface="微软雅黑" pitchFamily="34" charset="-122"/>
              </a:rPr>
              <a:t>电阻很大或者源电阻的工作范围很大时，可以选用场效应管。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355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630397"/>
              </p:ext>
            </p:extLst>
          </p:nvPr>
        </p:nvGraphicFramePr>
        <p:xfrm>
          <a:off x="1997691" y="2345457"/>
          <a:ext cx="9357051" cy="2703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位图图像" r:id="rId3" imgW="7095238" imgH="2734057" progId="PBrush">
                  <p:embed/>
                </p:oleObj>
              </mc:Choice>
              <mc:Fallback>
                <p:oleObj name="位图图像" r:id="rId3" imgW="7095238" imgH="2734057" progId="PBrush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691" y="2345457"/>
                        <a:ext cx="9357051" cy="27037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520" y="1049313"/>
            <a:ext cx="10046279" cy="610791"/>
          </a:xfrm>
        </p:spPr>
        <p:txBody>
          <a:bodyPr/>
          <a:lstStyle/>
          <a:p>
            <a:pPr eaLnBrk="1" hangingPunct="1"/>
            <a:r>
              <a:rPr lang="en-US" altLang="zh-CN" sz="36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36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各种典型探测器的内阻和响应时间</a:t>
            </a:r>
            <a:endParaRPr lang="zh-CN" altLang="en-US" sz="3000" dirty="0" smtClean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457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550961"/>
              </p:ext>
            </p:extLst>
          </p:nvPr>
        </p:nvGraphicFramePr>
        <p:xfrm>
          <a:off x="3402010" y="2021421"/>
          <a:ext cx="7518066" cy="4757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位图图像" r:id="rId3" imgW="4990476" imgH="4648849" progId="PBrush">
                  <p:embed/>
                </p:oleObj>
              </mc:Choice>
              <mc:Fallback>
                <p:oleObj name="位图图像" r:id="rId3" imgW="4990476" imgH="4648849" progId="PBrush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0" y="2021421"/>
                        <a:ext cx="7518066" cy="4757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idx="1"/>
          </p:nvPr>
        </p:nvSpPr>
        <p:spPr>
          <a:xfrm>
            <a:off x="620051" y="2021421"/>
            <a:ext cx="12072067" cy="3456384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en-US" sz="36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电阻的选用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        在低噪声电路中，用过剩噪声较小的金属膜电阻或线绕电阻。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与信号源并联的电阻，其阻值应当尽可能的大，以减小其噪声贡献。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因电感没有热噪声，有时用它来代替上述并联电阻</a:t>
            </a:r>
            <a:r>
              <a:rPr lang="zh-CN" altLang="en-US" sz="3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3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idx="1"/>
          </p:nvPr>
        </p:nvSpPr>
        <p:spPr>
          <a:xfrm>
            <a:off x="948308" y="833289"/>
            <a:ext cx="11659950" cy="1836204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30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电容的选用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      电容器按其介质性质可以分为许多种，不同类型的电容器其用途也不同，不能做到通用。</a:t>
            </a:r>
          </a:p>
        </p:txBody>
      </p:sp>
      <p:pic>
        <p:nvPicPr>
          <p:cNvPr id="25" name="Picture 3" descr="讲义图2-18-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21765" y="3425577"/>
            <a:ext cx="10173878" cy="3907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Rectangle 2"/>
          <p:cNvSpPr txBox="1">
            <a:spLocks noChangeArrowheads="1"/>
          </p:cNvSpPr>
          <p:nvPr/>
        </p:nvSpPr>
        <p:spPr>
          <a:xfrm>
            <a:off x="917446" y="2669493"/>
            <a:ext cx="11659950" cy="1188132"/>
          </a:xfrm>
          <a:prstGeom prst="rect">
            <a:avLst/>
          </a:prstGeom>
        </p:spPr>
        <p:txBody>
          <a:bodyPr lIns="137169" tIns="68585" rIns="137169" bIns="68585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2700" b="1" dirty="0" smtClean="0">
                <a:latin typeface="微软雅黑" pitchFamily="34" charset="-122"/>
                <a:ea typeface="微软雅黑" pitchFamily="34" charset="-122"/>
              </a:rPr>
              <a:t>      实际电容器的参数和工作频率有很大关系。下图是各类电容器大致适用的频率范围。</a:t>
            </a:r>
          </a:p>
        </p:txBody>
      </p:sp>
      <p:sp>
        <p:nvSpPr>
          <p:cNvPr id="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6366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低噪声前置放大器选用与设计原则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9.7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系统与信号处理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3216</TotalTime>
  <Words>1825</Words>
  <Application>Microsoft Office PowerPoint</Application>
  <PresentationFormat>自定义</PresentationFormat>
  <Paragraphs>201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阿里巴巴普惠体 R</vt:lpstr>
      <vt:lpstr>冬青黑体简体中文 W6</vt:lpstr>
      <vt:lpstr>华文彩云</vt:lpstr>
      <vt:lpstr>宋体</vt:lpstr>
      <vt:lpstr>Microsoft YaHei</vt:lpstr>
      <vt:lpstr>Microsoft YaHei</vt:lpstr>
      <vt:lpstr>Arial</vt:lpstr>
      <vt:lpstr>Calibri</vt:lpstr>
      <vt:lpstr>Tahoma</vt:lpstr>
      <vt:lpstr>Times New Roman</vt:lpstr>
      <vt:lpstr>Wingdings</vt:lpstr>
      <vt:lpstr>光电系统与信号处理</vt:lpstr>
      <vt:lpstr>公式</vt:lpstr>
      <vt:lpstr>Microsoft 公式 3.0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如图是美国PARC公司113型低噪声前放的等值图：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（3） 元件的挑选</vt:lpstr>
      <vt:lpstr>PowerPoint 演示文稿</vt:lpstr>
      <vt:lpstr>    各种典型探测器的内阻和响应时间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本节主要介绍8051单片机的存贮器结构</dc:title>
  <dc:creator>zy</dc:creator>
  <cp:lastModifiedBy>user</cp:lastModifiedBy>
  <cp:revision>159</cp:revision>
  <cp:lastPrinted>1601-01-01T00:00:00Z</cp:lastPrinted>
  <dcterms:created xsi:type="dcterms:W3CDTF">2002-10-11T11:07:31Z</dcterms:created>
  <dcterms:modified xsi:type="dcterms:W3CDTF">2022-05-03T06:54:08Z</dcterms:modified>
</cp:coreProperties>
</file>